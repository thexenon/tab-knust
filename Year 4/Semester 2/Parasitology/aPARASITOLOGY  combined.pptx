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42.xml" ContentType="application/vnd.openxmlformats-officedocument.presentationml.slide+xml"/>
  <Override PartName="/ppt/slides/slide343.xml" ContentType="application/vnd.openxmlformats-officedocument.presentationml.slide+xml"/>
  <Override PartName="/ppt/slides/slide344.xml" ContentType="application/vnd.openxmlformats-officedocument.presentationml.slide+xml"/>
  <Override PartName="/ppt/slides/slide345.xml" ContentType="application/vnd.openxmlformats-officedocument.presentationml.slide+xml"/>
  <Override PartName="/ppt/slides/slide346.xml" ContentType="application/vnd.openxmlformats-officedocument.presentationml.slide+xml"/>
  <Override PartName="/ppt/slides/slide347.xml" ContentType="application/vnd.openxmlformats-officedocument.presentationml.slide+xml"/>
  <Override PartName="/ppt/slides/slide348.xml" ContentType="application/vnd.openxmlformats-officedocument.presentationml.slide+xml"/>
  <Override PartName="/ppt/slides/slide349.xml" ContentType="application/vnd.openxmlformats-officedocument.presentationml.slide+xml"/>
  <Override PartName="/ppt/slides/slide350.xml" ContentType="application/vnd.openxmlformats-officedocument.presentationml.slide+xml"/>
  <Override PartName="/ppt/slides/slide351.xml" ContentType="application/vnd.openxmlformats-officedocument.presentationml.slide+xml"/>
  <Override PartName="/ppt/slides/slide352.xml" ContentType="application/vnd.openxmlformats-officedocument.presentationml.slide+xml"/>
  <Override PartName="/ppt/slides/slide353.xml" ContentType="application/vnd.openxmlformats-officedocument.presentationml.slide+xml"/>
  <Override PartName="/ppt/slides/slide354.xml" ContentType="application/vnd.openxmlformats-officedocument.presentationml.slide+xml"/>
  <Override PartName="/ppt/slides/slide355.xml" ContentType="application/vnd.openxmlformats-officedocument.presentationml.slide+xml"/>
  <Override PartName="/ppt/slides/slide356.xml" ContentType="application/vnd.openxmlformats-officedocument.presentationml.slide+xml"/>
  <Override PartName="/ppt/slides/slide357.xml" ContentType="application/vnd.openxmlformats-officedocument.presentationml.slide+xml"/>
  <Override PartName="/ppt/slides/slide358.xml" ContentType="application/vnd.openxmlformats-officedocument.presentationml.slide+xml"/>
  <Override PartName="/ppt/slides/slide359.xml" ContentType="application/vnd.openxmlformats-officedocument.presentationml.slide+xml"/>
  <Override PartName="/ppt/slides/slide360.xml" ContentType="application/vnd.openxmlformats-officedocument.presentationml.slide+xml"/>
  <Override PartName="/ppt/slides/slide361.xml" ContentType="application/vnd.openxmlformats-officedocument.presentationml.slide+xml"/>
  <Override PartName="/ppt/slides/slide362.xml" ContentType="application/vnd.openxmlformats-officedocument.presentationml.slide+xml"/>
  <Override PartName="/ppt/slides/slide363.xml" ContentType="application/vnd.openxmlformats-officedocument.presentationml.slide+xml"/>
  <Override PartName="/ppt/slides/slide364.xml" ContentType="application/vnd.openxmlformats-officedocument.presentationml.slide+xml"/>
  <Override PartName="/ppt/slides/slide365.xml" ContentType="application/vnd.openxmlformats-officedocument.presentationml.slide+xml"/>
  <Override PartName="/ppt/slides/slide366.xml" ContentType="application/vnd.openxmlformats-officedocument.presentationml.slide+xml"/>
  <Override PartName="/ppt/slides/slide367.xml" ContentType="application/vnd.openxmlformats-officedocument.presentationml.slide+xml"/>
  <Override PartName="/ppt/slides/slide368.xml" ContentType="application/vnd.openxmlformats-officedocument.presentationml.slide+xml"/>
  <Override PartName="/ppt/slides/slide369.xml" ContentType="application/vnd.openxmlformats-officedocument.presentationml.slide+xml"/>
  <Override PartName="/ppt/slides/slide370.xml" ContentType="application/vnd.openxmlformats-officedocument.presentationml.slide+xml"/>
  <Override PartName="/ppt/slides/slide371.xml" ContentType="application/vnd.openxmlformats-officedocument.presentationml.slide+xml"/>
  <Override PartName="/ppt/slides/slide372.xml" ContentType="application/vnd.openxmlformats-officedocument.presentationml.slide+xml"/>
  <Override PartName="/ppt/slides/slide373.xml" ContentType="application/vnd.openxmlformats-officedocument.presentationml.slide+xml"/>
  <Override PartName="/ppt/slides/slide374.xml" ContentType="application/vnd.openxmlformats-officedocument.presentationml.slide+xml"/>
  <Override PartName="/ppt/slides/slide375.xml" ContentType="application/vnd.openxmlformats-officedocument.presentationml.slide+xml"/>
  <Override PartName="/ppt/slides/slide376.xml" ContentType="application/vnd.openxmlformats-officedocument.presentationml.slide+xml"/>
  <Override PartName="/ppt/slides/slide377.xml" ContentType="application/vnd.openxmlformats-officedocument.presentationml.slide+xml"/>
  <Override PartName="/ppt/slides/slide378.xml" ContentType="application/vnd.openxmlformats-officedocument.presentationml.slide+xml"/>
  <Override PartName="/ppt/slides/slide379.xml" ContentType="application/vnd.openxmlformats-officedocument.presentationml.slide+xml"/>
  <Override PartName="/ppt/slides/slide380.xml" ContentType="application/vnd.openxmlformats-officedocument.presentationml.slide+xml"/>
  <Override PartName="/ppt/slides/slide381.xml" ContentType="application/vnd.openxmlformats-officedocument.presentationml.slide+xml"/>
  <Override PartName="/ppt/slides/slide382.xml" ContentType="application/vnd.openxmlformats-officedocument.presentationml.slide+xml"/>
  <Override PartName="/ppt/slides/slide383.xml" ContentType="application/vnd.openxmlformats-officedocument.presentationml.slide+xml"/>
  <Override PartName="/ppt/slides/slide384.xml" ContentType="application/vnd.openxmlformats-officedocument.presentationml.slide+xml"/>
  <Override PartName="/ppt/slides/slide385.xml" ContentType="application/vnd.openxmlformats-officedocument.presentationml.slide+xml"/>
  <Override PartName="/ppt/slides/slide386.xml" ContentType="application/vnd.openxmlformats-officedocument.presentationml.slide+xml"/>
  <Override PartName="/ppt/slides/slide387.xml" ContentType="application/vnd.openxmlformats-officedocument.presentationml.slide+xml"/>
  <Override PartName="/ppt/slides/slide388.xml" ContentType="application/vnd.openxmlformats-officedocument.presentationml.slide+xml"/>
  <Override PartName="/ppt/slides/slide389.xml" ContentType="application/vnd.openxmlformats-officedocument.presentationml.slide+xml"/>
  <Override PartName="/ppt/slides/slide390.xml" ContentType="application/vnd.openxmlformats-officedocument.presentationml.slide+xml"/>
  <Override PartName="/ppt/slides/slide391.xml" ContentType="application/vnd.openxmlformats-officedocument.presentationml.slide+xml"/>
  <Override PartName="/ppt/slides/slide392.xml" ContentType="application/vnd.openxmlformats-officedocument.presentationml.slide+xml"/>
  <Override PartName="/ppt/slides/slide393.xml" ContentType="application/vnd.openxmlformats-officedocument.presentationml.slide+xml"/>
  <Override PartName="/ppt/slides/slide394.xml" ContentType="application/vnd.openxmlformats-officedocument.presentationml.slide+xml"/>
  <Override PartName="/ppt/slides/slide395.xml" ContentType="application/vnd.openxmlformats-officedocument.presentationml.slide+xml"/>
  <Override PartName="/ppt/slides/slide396.xml" ContentType="application/vnd.openxmlformats-officedocument.presentationml.slide+xml"/>
  <Override PartName="/ppt/slides/slide397.xml" ContentType="application/vnd.openxmlformats-officedocument.presentationml.slide+xml"/>
  <Override PartName="/ppt/slides/slide398.xml" ContentType="application/vnd.openxmlformats-officedocument.presentationml.slide+xml"/>
  <Override PartName="/ppt/slides/slide399.xml" ContentType="application/vnd.openxmlformats-officedocument.presentationml.slide+xml"/>
  <Override PartName="/ppt/slides/slide400.xml" ContentType="application/vnd.openxmlformats-officedocument.presentationml.slide+xml"/>
  <Override PartName="/ppt/slides/slide401.xml" ContentType="application/vnd.openxmlformats-officedocument.presentationml.slide+xml"/>
  <Override PartName="/ppt/slides/slide402.xml" ContentType="application/vnd.openxmlformats-officedocument.presentationml.slide+xml"/>
  <Override PartName="/ppt/slides/slide403.xml" ContentType="application/vnd.openxmlformats-officedocument.presentationml.slide+xml"/>
  <Override PartName="/ppt/slides/slide404.xml" ContentType="application/vnd.openxmlformats-officedocument.presentationml.slide+xml"/>
  <Override PartName="/ppt/slides/slide405.xml" ContentType="application/vnd.openxmlformats-officedocument.presentationml.slide+xml"/>
  <Override PartName="/ppt/slides/slide406.xml" ContentType="application/vnd.openxmlformats-officedocument.presentationml.slide+xml"/>
  <Override PartName="/ppt/slides/slide407.xml" ContentType="application/vnd.openxmlformats-officedocument.presentationml.slide+xml"/>
  <Override PartName="/ppt/slides/slide408.xml" ContentType="application/vnd.openxmlformats-officedocument.presentationml.slide+xml"/>
  <Override PartName="/ppt/slides/slide409.xml" ContentType="application/vnd.openxmlformats-officedocument.presentationml.slide+xml"/>
  <Override PartName="/ppt/slides/slide410.xml" ContentType="application/vnd.openxmlformats-officedocument.presentationml.slide+xml"/>
  <Override PartName="/ppt/slides/slide411.xml" ContentType="application/vnd.openxmlformats-officedocument.presentationml.slide+xml"/>
  <Override PartName="/ppt/slides/slide412.xml" ContentType="application/vnd.openxmlformats-officedocument.presentationml.slide+xml"/>
  <Override PartName="/ppt/slides/slide413.xml" ContentType="application/vnd.openxmlformats-officedocument.presentationml.slide+xml"/>
  <Override PartName="/ppt/slides/slide414.xml" ContentType="application/vnd.openxmlformats-officedocument.presentationml.slide+xml"/>
  <Override PartName="/ppt/slides/slide415.xml" ContentType="application/vnd.openxmlformats-officedocument.presentationml.slide+xml"/>
  <Override PartName="/ppt/slides/slide416.xml" ContentType="application/vnd.openxmlformats-officedocument.presentationml.slide+xml"/>
  <Override PartName="/ppt/slides/slide417.xml" ContentType="application/vnd.openxmlformats-officedocument.presentationml.slide+xml"/>
  <Override PartName="/ppt/slides/slide418.xml" ContentType="application/vnd.openxmlformats-officedocument.presentationml.slide+xml"/>
  <Override PartName="/ppt/slides/slide419.xml" ContentType="application/vnd.openxmlformats-officedocument.presentationml.slide+xml"/>
  <Override PartName="/ppt/slides/slide420.xml" ContentType="application/vnd.openxmlformats-officedocument.presentationml.slide+xml"/>
  <Override PartName="/ppt/slides/slide421.xml" ContentType="application/vnd.openxmlformats-officedocument.presentationml.slide+xml"/>
  <Override PartName="/ppt/slides/slide422.xml" ContentType="application/vnd.openxmlformats-officedocument.presentationml.slide+xml"/>
  <Override PartName="/ppt/slides/slide423.xml" ContentType="application/vnd.openxmlformats-officedocument.presentationml.slide+xml"/>
  <Override PartName="/ppt/slides/slide424.xml" ContentType="application/vnd.openxmlformats-officedocument.presentationml.slide+xml"/>
  <Override PartName="/ppt/slides/slide425.xml" ContentType="application/vnd.openxmlformats-officedocument.presentationml.slide+xml"/>
  <Override PartName="/ppt/slides/slide426.xml" ContentType="application/vnd.openxmlformats-officedocument.presentationml.slide+xml"/>
  <Override PartName="/ppt/slides/slide427.xml" ContentType="application/vnd.openxmlformats-officedocument.presentationml.slide+xml"/>
  <Override PartName="/ppt/slides/slide428.xml" ContentType="application/vnd.openxmlformats-officedocument.presentationml.slide+xml"/>
  <Override PartName="/ppt/slides/slide429.xml" ContentType="application/vnd.openxmlformats-officedocument.presentationml.slide+xml"/>
  <Override PartName="/ppt/slides/slide430.xml" ContentType="application/vnd.openxmlformats-officedocument.presentationml.slide+xml"/>
  <Override PartName="/ppt/slides/slide431.xml" ContentType="application/vnd.openxmlformats-officedocument.presentationml.slide+xml"/>
  <Override PartName="/ppt/slides/slide432.xml" ContentType="application/vnd.openxmlformats-officedocument.presentationml.slide+xml"/>
  <Override PartName="/ppt/slides/slide433.xml" ContentType="application/vnd.openxmlformats-officedocument.presentationml.slide+xml"/>
  <Override PartName="/ppt/slides/slide434.xml" ContentType="application/vnd.openxmlformats-officedocument.presentationml.slide+xml"/>
  <Override PartName="/ppt/slides/slide435.xml" ContentType="application/vnd.openxmlformats-officedocument.presentationml.slide+xml"/>
  <Override PartName="/ppt/slides/slide436.xml" ContentType="application/vnd.openxmlformats-officedocument.presentationml.slide+xml"/>
  <Override PartName="/ppt/slides/slide437.xml" ContentType="application/vnd.openxmlformats-officedocument.presentationml.slide+xml"/>
  <Override PartName="/ppt/slides/slide438.xml" ContentType="application/vnd.openxmlformats-officedocument.presentationml.slide+xml"/>
  <Override PartName="/ppt/slides/slide439.xml" ContentType="application/vnd.openxmlformats-officedocument.presentationml.slide+xml"/>
  <Override PartName="/ppt/slides/slide440.xml" ContentType="application/vnd.openxmlformats-officedocument.presentationml.slide+xml"/>
  <Override PartName="/ppt/slides/slide441.xml" ContentType="application/vnd.openxmlformats-officedocument.presentationml.slide+xml"/>
  <Override PartName="/ppt/slides/slide442.xml" ContentType="application/vnd.openxmlformats-officedocument.presentationml.slide+xml"/>
  <Override PartName="/ppt/slides/slide443.xml" ContentType="application/vnd.openxmlformats-officedocument.presentationml.slide+xml"/>
  <Override PartName="/ppt/slides/slide444.xml" ContentType="application/vnd.openxmlformats-officedocument.presentationml.slide+xml"/>
  <Override PartName="/ppt/slides/slide445.xml" ContentType="application/vnd.openxmlformats-officedocument.presentationml.slide+xml"/>
  <Override PartName="/ppt/slides/slide446.xml" ContentType="application/vnd.openxmlformats-officedocument.presentationml.slide+xml"/>
  <Override PartName="/ppt/slides/slide447.xml" ContentType="application/vnd.openxmlformats-officedocument.presentationml.slide+xml"/>
  <Override PartName="/ppt/slides/slide448.xml" ContentType="application/vnd.openxmlformats-officedocument.presentationml.slide+xml"/>
  <Override PartName="/ppt/slides/slide449.xml" ContentType="application/vnd.openxmlformats-officedocument.presentationml.slide+xml"/>
  <Override PartName="/ppt/slides/slide450.xml" ContentType="application/vnd.openxmlformats-officedocument.presentationml.slide+xml"/>
  <Override PartName="/ppt/slides/slide451.xml" ContentType="application/vnd.openxmlformats-officedocument.presentationml.slide+xml"/>
  <Override PartName="/ppt/slides/slide452.xml" ContentType="application/vnd.openxmlformats-officedocument.presentationml.slide+xml"/>
  <Override PartName="/ppt/slides/slide453.xml" ContentType="application/vnd.openxmlformats-officedocument.presentationml.slide+xml"/>
  <Override PartName="/ppt/slides/slide454.xml" ContentType="application/vnd.openxmlformats-officedocument.presentationml.slide+xml"/>
  <Override PartName="/ppt/slides/slide455.xml" ContentType="application/vnd.openxmlformats-officedocument.presentationml.slide+xml"/>
  <Override PartName="/ppt/slides/slide456.xml" ContentType="application/vnd.openxmlformats-officedocument.presentationml.slide+xml"/>
  <Override PartName="/ppt/slides/slide457.xml" ContentType="application/vnd.openxmlformats-officedocument.presentationml.slide+xml"/>
  <Override PartName="/ppt/slides/slide458.xml" ContentType="application/vnd.openxmlformats-officedocument.presentationml.slide+xml"/>
  <Override PartName="/ppt/slides/slide459.xml" ContentType="application/vnd.openxmlformats-officedocument.presentationml.slide+xml"/>
  <Override PartName="/ppt/slides/slide460.xml" ContentType="application/vnd.openxmlformats-officedocument.presentationml.slide+xml"/>
  <Override PartName="/ppt/slides/slide461.xml" ContentType="application/vnd.openxmlformats-officedocument.presentationml.slide+xml"/>
  <Override PartName="/ppt/slides/slide462.xml" ContentType="application/vnd.openxmlformats-officedocument.presentationml.slide+xml"/>
  <Override PartName="/ppt/slides/slide463.xml" ContentType="application/vnd.openxmlformats-officedocument.presentationml.slide+xml"/>
  <Override PartName="/ppt/slides/slide464.xml" ContentType="application/vnd.openxmlformats-officedocument.presentationml.slide+xml"/>
  <Override PartName="/ppt/slides/slide465.xml" ContentType="application/vnd.openxmlformats-officedocument.presentationml.slide+xml"/>
  <Override PartName="/ppt/slides/slide466.xml" ContentType="application/vnd.openxmlformats-officedocument.presentationml.slide+xml"/>
  <Override PartName="/ppt/slides/slide467.xml" ContentType="application/vnd.openxmlformats-officedocument.presentationml.slide+xml"/>
  <Override PartName="/ppt/slides/slide468.xml" ContentType="application/vnd.openxmlformats-officedocument.presentationml.slide+xml"/>
  <Override PartName="/ppt/slides/slide469.xml" ContentType="application/vnd.openxmlformats-officedocument.presentationml.slide+xml"/>
  <Override PartName="/ppt/slides/slide470.xml" ContentType="application/vnd.openxmlformats-officedocument.presentationml.slide+xml"/>
  <Override PartName="/ppt/slides/slide471.xml" ContentType="application/vnd.openxmlformats-officedocument.presentationml.slide+xml"/>
  <Override PartName="/ppt/slides/slide472.xml" ContentType="application/vnd.openxmlformats-officedocument.presentationml.slide+xml"/>
  <Override PartName="/ppt/slides/slide473.xml" ContentType="application/vnd.openxmlformats-officedocument.presentationml.slide+xml"/>
  <Override PartName="/ppt/slides/slide474.xml" ContentType="application/vnd.openxmlformats-officedocument.presentationml.slide+xml"/>
  <Override PartName="/ppt/slides/slide475.xml" ContentType="application/vnd.openxmlformats-officedocument.presentationml.slide+xml"/>
  <Override PartName="/ppt/slides/slide476.xml" ContentType="application/vnd.openxmlformats-officedocument.presentationml.slide+xml"/>
  <Override PartName="/ppt/slides/slide477.xml" ContentType="application/vnd.openxmlformats-officedocument.presentationml.slide+xml"/>
  <Override PartName="/ppt/slides/slide478.xml" ContentType="application/vnd.openxmlformats-officedocument.presentationml.slide+xml"/>
  <Override PartName="/ppt/slides/slide479.xml" ContentType="application/vnd.openxmlformats-officedocument.presentationml.slide+xml"/>
  <Override PartName="/ppt/slides/slide480.xml" ContentType="application/vnd.openxmlformats-officedocument.presentationml.slide+xml"/>
  <Override PartName="/ppt/slides/slide481.xml" ContentType="application/vnd.openxmlformats-officedocument.presentationml.slide+xml"/>
  <Override PartName="/ppt/slides/slide482.xml" ContentType="application/vnd.openxmlformats-officedocument.presentationml.slide+xml"/>
  <Override PartName="/ppt/slides/slide483.xml" ContentType="application/vnd.openxmlformats-officedocument.presentationml.slide+xml"/>
  <Override PartName="/ppt/slides/slide484.xml" ContentType="application/vnd.openxmlformats-officedocument.presentationml.slide+xml"/>
  <Override PartName="/ppt/slides/slide485.xml" ContentType="application/vnd.openxmlformats-officedocument.presentationml.slide+xml"/>
  <Override PartName="/ppt/slides/slide486.xml" ContentType="application/vnd.openxmlformats-officedocument.presentationml.slide+xml"/>
  <Override PartName="/ppt/slides/slide487.xml" ContentType="application/vnd.openxmlformats-officedocument.presentationml.slide+xml"/>
  <Override PartName="/ppt/slides/slide488.xml" ContentType="application/vnd.openxmlformats-officedocument.presentationml.slide+xml"/>
  <Override PartName="/ppt/slides/slide489.xml" ContentType="application/vnd.openxmlformats-officedocument.presentationml.slide+xml"/>
  <Override PartName="/ppt/slides/slide490.xml" ContentType="application/vnd.openxmlformats-officedocument.presentationml.slide+xml"/>
  <Override PartName="/ppt/slides/slide491.xml" ContentType="application/vnd.openxmlformats-officedocument.presentationml.slide+xml"/>
  <Override PartName="/ppt/slides/slide492.xml" ContentType="application/vnd.openxmlformats-officedocument.presentationml.slide+xml"/>
  <Override PartName="/ppt/slides/slide493.xml" ContentType="application/vnd.openxmlformats-officedocument.presentationml.slide+xml"/>
  <Override PartName="/ppt/slides/slide494.xml" ContentType="application/vnd.openxmlformats-officedocument.presentationml.slide+xml"/>
  <Override PartName="/ppt/slides/slide495.xml" ContentType="application/vnd.openxmlformats-officedocument.presentationml.slide+xml"/>
  <Override PartName="/ppt/slides/slide496.xml" ContentType="application/vnd.openxmlformats-officedocument.presentationml.slide+xml"/>
  <Override PartName="/ppt/slides/slide497.xml" ContentType="application/vnd.openxmlformats-officedocument.presentationml.slide+xml"/>
  <Override PartName="/ppt/slides/slide498.xml" ContentType="application/vnd.openxmlformats-officedocument.presentationml.slide+xml"/>
  <Override PartName="/ppt/slides/slide499.xml" ContentType="application/vnd.openxmlformats-officedocument.presentationml.slide+xml"/>
  <Override PartName="/ppt/slides/slide500.xml" ContentType="application/vnd.openxmlformats-officedocument.presentationml.slide+xml"/>
  <Override PartName="/ppt/slides/slide501.xml" ContentType="application/vnd.openxmlformats-officedocument.presentationml.slide+xml"/>
  <Override PartName="/ppt/slides/slide502.xml" ContentType="application/vnd.openxmlformats-officedocument.presentationml.slide+xml"/>
  <Override PartName="/ppt/slides/slide503.xml" ContentType="application/vnd.openxmlformats-officedocument.presentationml.slide+xml"/>
  <Override PartName="/ppt/slides/slide504.xml" ContentType="application/vnd.openxmlformats-officedocument.presentationml.slide+xml"/>
  <Override PartName="/ppt/slides/slide505.xml" ContentType="application/vnd.openxmlformats-officedocument.presentationml.slide+xml"/>
  <Override PartName="/ppt/slides/slide506.xml" ContentType="application/vnd.openxmlformats-officedocument.presentationml.slide+xml"/>
  <Override PartName="/ppt/slides/slide507.xml" ContentType="application/vnd.openxmlformats-officedocument.presentationml.slide+xml"/>
  <Override PartName="/ppt/slides/slide508.xml" ContentType="application/vnd.openxmlformats-officedocument.presentationml.slide+xml"/>
  <Override PartName="/ppt/slides/slide509.xml" ContentType="application/vnd.openxmlformats-officedocument.presentationml.slide+xml"/>
  <Override PartName="/ppt/slides/slide510.xml" ContentType="application/vnd.openxmlformats-officedocument.presentationml.slide+xml"/>
  <Override PartName="/ppt/slides/slide511.xml" ContentType="application/vnd.openxmlformats-officedocument.presentationml.slide+xml"/>
  <Override PartName="/ppt/slides/slide512.xml" ContentType="application/vnd.openxmlformats-officedocument.presentationml.slide+xml"/>
  <Override PartName="/ppt/slides/slide513.xml" ContentType="application/vnd.openxmlformats-officedocument.presentationml.slide+xml"/>
  <Override PartName="/ppt/slides/slide514.xml" ContentType="application/vnd.openxmlformats-officedocument.presentationml.slide+xml"/>
  <Override PartName="/ppt/slides/slide515.xml" ContentType="application/vnd.openxmlformats-officedocument.presentationml.slide+xml"/>
  <Override PartName="/ppt/slides/slide516.xml" ContentType="application/vnd.openxmlformats-officedocument.presentationml.slide+xml"/>
  <Override PartName="/ppt/slides/slide517.xml" ContentType="application/vnd.openxmlformats-officedocument.presentationml.slide+xml"/>
  <Override PartName="/ppt/slides/slide518.xml" ContentType="application/vnd.openxmlformats-officedocument.presentationml.slide+xml"/>
  <Override PartName="/ppt/slides/slide519.xml" ContentType="application/vnd.openxmlformats-officedocument.presentationml.slide+xml"/>
  <Override PartName="/ppt/slides/slide520.xml" ContentType="application/vnd.openxmlformats-officedocument.presentationml.slide+xml"/>
  <Override PartName="/ppt/slides/slide521.xml" ContentType="application/vnd.openxmlformats-officedocument.presentationml.slide+xml"/>
  <Override PartName="/ppt/slides/slide522.xml" ContentType="application/vnd.openxmlformats-officedocument.presentationml.slide+xml"/>
  <Override PartName="/ppt/slides/slide523.xml" ContentType="application/vnd.openxmlformats-officedocument.presentationml.slide+xml"/>
  <Override PartName="/ppt/slides/slide524.xml" ContentType="application/vnd.openxmlformats-officedocument.presentationml.slide+xml"/>
  <Override PartName="/ppt/slides/slide525.xml" ContentType="application/vnd.openxmlformats-officedocument.presentationml.slide+xml"/>
  <Override PartName="/ppt/slides/slide526.xml" ContentType="application/vnd.openxmlformats-officedocument.presentationml.slide+xml"/>
  <Override PartName="/ppt/slides/slide527.xml" ContentType="application/vnd.openxmlformats-officedocument.presentationml.slide+xml"/>
  <Override PartName="/ppt/slides/slide528.xml" ContentType="application/vnd.openxmlformats-officedocument.presentationml.slide+xml"/>
  <Override PartName="/ppt/slides/slide529.xml" ContentType="application/vnd.openxmlformats-officedocument.presentationml.slide+xml"/>
  <Override PartName="/ppt/slides/slide530.xml" ContentType="application/vnd.openxmlformats-officedocument.presentationml.slide+xml"/>
  <Override PartName="/ppt/slides/slide531.xml" ContentType="application/vnd.openxmlformats-officedocument.presentationml.slide+xml"/>
  <Override PartName="/ppt/slides/slide532.xml" ContentType="application/vnd.openxmlformats-officedocument.presentationml.slide+xml"/>
  <Override PartName="/ppt/slides/slide533.xml" ContentType="application/vnd.openxmlformats-officedocument.presentationml.slide+xml"/>
  <Override PartName="/ppt/slides/slide534.xml" ContentType="application/vnd.openxmlformats-officedocument.presentationml.slide+xml"/>
  <Override PartName="/ppt/slides/slide535.xml" ContentType="application/vnd.openxmlformats-officedocument.presentationml.slide+xml"/>
  <Override PartName="/ppt/slides/slide536.xml" ContentType="application/vnd.openxmlformats-officedocument.presentationml.slide+xml"/>
  <Override PartName="/ppt/slides/slide537.xml" ContentType="application/vnd.openxmlformats-officedocument.presentationml.slide+xml"/>
  <Override PartName="/ppt/slides/slide538.xml" ContentType="application/vnd.openxmlformats-officedocument.presentationml.slide+xml"/>
  <Override PartName="/ppt/slides/slide539.xml" ContentType="application/vnd.openxmlformats-officedocument.presentationml.slide+xml"/>
  <Override PartName="/ppt/slides/slide540.xml" ContentType="application/vnd.openxmlformats-officedocument.presentationml.slide+xml"/>
  <Override PartName="/ppt/slides/slide541.xml" ContentType="application/vnd.openxmlformats-officedocument.presentationml.slide+xml"/>
  <Override PartName="/ppt/slides/slide542.xml" ContentType="application/vnd.openxmlformats-officedocument.presentationml.slide+xml"/>
  <Override PartName="/ppt/slides/slide543.xml" ContentType="application/vnd.openxmlformats-officedocument.presentationml.slide+xml"/>
  <Override PartName="/ppt/slides/slide544.xml" ContentType="application/vnd.openxmlformats-officedocument.presentationml.slide+xml"/>
  <Override PartName="/ppt/slides/slide545.xml" ContentType="application/vnd.openxmlformats-officedocument.presentationml.slide+xml"/>
  <Override PartName="/ppt/slides/slide546.xml" ContentType="application/vnd.openxmlformats-officedocument.presentationml.slide+xml"/>
  <Override PartName="/ppt/slides/slide547.xml" ContentType="application/vnd.openxmlformats-officedocument.presentationml.slide+xml"/>
  <Override PartName="/ppt/slides/slide548.xml" ContentType="application/vnd.openxmlformats-officedocument.presentationml.slide+xml"/>
  <Override PartName="/ppt/slides/slide549.xml" ContentType="application/vnd.openxmlformats-officedocument.presentationml.slide+xml"/>
  <Override PartName="/ppt/slides/slide550.xml" ContentType="application/vnd.openxmlformats-officedocument.presentationml.slide+xml"/>
  <Override PartName="/ppt/slides/slide551.xml" ContentType="application/vnd.openxmlformats-officedocument.presentationml.slide+xml"/>
  <Override PartName="/ppt/slides/slide552.xml" ContentType="application/vnd.openxmlformats-officedocument.presentationml.slide+xml"/>
  <Override PartName="/ppt/slides/slide553.xml" ContentType="application/vnd.openxmlformats-officedocument.presentationml.slide+xml"/>
  <Override PartName="/ppt/slides/slide554.xml" ContentType="application/vnd.openxmlformats-officedocument.presentationml.slide+xml"/>
  <Override PartName="/ppt/slides/slide555.xml" ContentType="application/vnd.openxmlformats-officedocument.presentationml.slide+xml"/>
  <Override PartName="/ppt/slides/slide556.xml" ContentType="application/vnd.openxmlformats-officedocument.presentationml.slide+xml"/>
  <Override PartName="/ppt/slides/slide557.xml" ContentType="application/vnd.openxmlformats-officedocument.presentationml.slide+xml"/>
  <Override PartName="/ppt/slides/slide558.xml" ContentType="application/vnd.openxmlformats-officedocument.presentationml.slide+xml"/>
  <Override PartName="/ppt/slides/slide559.xml" ContentType="application/vnd.openxmlformats-officedocument.presentationml.slide+xml"/>
  <Override PartName="/ppt/slides/slide560.xml" ContentType="application/vnd.openxmlformats-officedocument.presentationml.slide+xml"/>
  <Override PartName="/ppt/slides/slide561.xml" ContentType="application/vnd.openxmlformats-officedocument.presentationml.slide+xml"/>
  <Override PartName="/ppt/slides/slide562.xml" ContentType="application/vnd.openxmlformats-officedocument.presentationml.slide+xml"/>
  <Override PartName="/ppt/slides/slide563.xml" ContentType="application/vnd.openxmlformats-officedocument.presentationml.slide+xml"/>
  <Override PartName="/ppt/slides/slide564.xml" ContentType="application/vnd.openxmlformats-officedocument.presentationml.slide+xml"/>
  <Override PartName="/ppt/slides/slide565.xml" ContentType="application/vnd.openxmlformats-officedocument.presentationml.slide+xml"/>
  <Override PartName="/ppt/slides/slide566.xml" ContentType="application/vnd.openxmlformats-officedocument.presentationml.slide+xml"/>
  <Override PartName="/ppt/slides/slide567.xml" ContentType="application/vnd.openxmlformats-officedocument.presentationml.slide+xml"/>
  <Override PartName="/ppt/slides/slide568.xml" ContentType="application/vnd.openxmlformats-officedocument.presentationml.slide+xml"/>
  <Override PartName="/ppt/slides/slide569.xml" ContentType="application/vnd.openxmlformats-officedocument.presentationml.slide+xml"/>
  <Override PartName="/ppt/slides/slide570.xml" ContentType="application/vnd.openxmlformats-officedocument.presentationml.slide+xml"/>
  <Override PartName="/ppt/slides/slide571.xml" ContentType="application/vnd.openxmlformats-officedocument.presentationml.slide+xml"/>
  <Override PartName="/ppt/slides/slide572.xml" ContentType="application/vnd.openxmlformats-officedocument.presentationml.slide+xml"/>
  <Override PartName="/ppt/slides/slide573.xml" ContentType="application/vnd.openxmlformats-officedocument.presentationml.slide+xml"/>
  <Override PartName="/ppt/slides/slide574.xml" ContentType="application/vnd.openxmlformats-officedocument.presentationml.slide+xml"/>
  <Override PartName="/ppt/slides/slide575.xml" ContentType="application/vnd.openxmlformats-officedocument.presentationml.slide+xml"/>
  <Override PartName="/ppt/slides/slide576.xml" ContentType="application/vnd.openxmlformats-officedocument.presentationml.slide+xml"/>
  <Override PartName="/ppt/slides/slide577.xml" ContentType="application/vnd.openxmlformats-officedocument.presentationml.slide+xml"/>
  <Override PartName="/ppt/slides/slide578.xml" ContentType="application/vnd.openxmlformats-officedocument.presentationml.slide+xml"/>
  <Override PartName="/ppt/slides/slide579.xml" ContentType="application/vnd.openxmlformats-officedocument.presentationml.slide+xml"/>
  <Override PartName="/ppt/slides/slide580.xml" ContentType="application/vnd.openxmlformats-officedocument.presentationml.slide+xml"/>
  <Override PartName="/ppt/slides/slide581.xml" ContentType="application/vnd.openxmlformats-officedocument.presentationml.slide+xml"/>
  <Override PartName="/ppt/slides/slide582.xml" ContentType="application/vnd.openxmlformats-officedocument.presentationml.slide+xml"/>
  <Override PartName="/ppt/slides/slide583.xml" ContentType="application/vnd.openxmlformats-officedocument.presentationml.slide+xml"/>
  <Override PartName="/ppt/slides/slide584.xml" ContentType="application/vnd.openxmlformats-officedocument.presentationml.slide+xml"/>
  <Override PartName="/ppt/slides/slide585.xml" ContentType="application/vnd.openxmlformats-officedocument.presentationml.slide+xml"/>
  <Override PartName="/ppt/slides/slide586.xml" ContentType="application/vnd.openxmlformats-officedocument.presentationml.slide+xml"/>
  <Override PartName="/ppt/slides/slide587.xml" ContentType="application/vnd.openxmlformats-officedocument.presentationml.slide+xml"/>
  <Override PartName="/ppt/slides/slide588.xml" ContentType="application/vnd.openxmlformats-officedocument.presentationml.slide+xml"/>
  <Override PartName="/ppt/slides/slide589.xml" ContentType="application/vnd.openxmlformats-officedocument.presentationml.slide+xml"/>
  <Override PartName="/ppt/slides/slide590.xml" ContentType="application/vnd.openxmlformats-officedocument.presentationml.slide+xml"/>
  <Override PartName="/ppt/slides/slide591.xml" ContentType="application/vnd.openxmlformats-officedocument.presentationml.slide+xml"/>
  <Override PartName="/ppt/slides/slide592.xml" ContentType="application/vnd.openxmlformats-officedocument.presentationml.slide+xml"/>
  <Override PartName="/ppt/slides/slide593.xml" ContentType="application/vnd.openxmlformats-officedocument.presentationml.slide+xml"/>
  <Override PartName="/ppt/slides/slide594.xml" ContentType="application/vnd.openxmlformats-officedocument.presentationml.slide+xml"/>
  <Override PartName="/ppt/slides/slide595.xml" ContentType="application/vnd.openxmlformats-officedocument.presentationml.slide+xml"/>
  <Override PartName="/ppt/slides/slide596.xml" ContentType="application/vnd.openxmlformats-officedocument.presentationml.slide+xml"/>
  <Override PartName="/ppt/slides/slide597.xml" ContentType="application/vnd.openxmlformats-officedocument.presentationml.slide+xml"/>
  <Override PartName="/ppt/slides/slide598.xml" ContentType="application/vnd.openxmlformats-officedocument.presentationml.slide+xml"/>
  <Override PartName="/ppt/slides/slide599.xml" ContentType="application/vnd.openxmlformats-officedocument.presentationml.slide+xml"/>
  <Override PartName="/ppt/slides/slide600.xml" ContentType="application/vnd.openxmlformats-officedocument.presentationml.slide+xml"/>
  <Override PartName="/ppt/slides/slide601.xml" ContentType="application/vnd.openxmlformats-officedocument.presentationml.slide+xml"/>
  <Override PartName="/ppt/slides/slide602.xml" ContentType="application/vnd.openxmlformats-officedocument.presentationml.slide+xml"/>
  <Override PartName="/ppt/slides/slide603.xml" ContentType="application/vnd.openxmlformats-officedocument.presentationml.slide+xml"/>
  <Override PartName="/ppt/slides/slide604.xml" ContentType="application/vnd.openxmlformats-officedocument.presentationml.slide+xml"/>
  <Override PartName="/ppt/slides/slide605.xml" ContentType="application/vnd.openxmlformats-officedocument.presentationml.slide+xml"/>
  <Override PartName="/ppt/slides/slide606.xml" ContentType="application/vnd.openxmlformats-officedocument.presentationml.slide+xml"/>
  <Override PartName="/ppt/slides/slide607.xml" ContentType="application/vnd.openxmlformats-officedocument.presentationml.slide+xml"/>
  <Override PartName="/ppt/slides/slide608.xml" ContentType="application/vnd.openxmlformats-officedocument.presentationml.slide+xml"/>
  <Override PartName="/ppt/slides/slide609.xml" ContentType="application/vnd.openxmlformats-officedocument.presentationml.slide+xml"/>
  <Override PartName="/ppt/slides/slide610.xml" ContentType="application/vnd.openxmlformats-officedocument.presentationml.slide+xml"/>
  <Override PartName="/ppt/slides/slide611.xml" ContentType="application/vnd.openxmlformats-officedocument.presentationml.slide+xml"/>
  <Override PartName="/ppt/slides/slide612.xml" ContentType="application/vnd.openxmlformats-officedocument.presentationml.slide+xml"/>
  <Override PartName="/ppt/slides/slide613.xml" ContentType="application/vnd.openxmlformats-officedocument.presentationml.slide+xml"/>
  <Override PartName="/ppt/slides/slide614.xml" ContentType="application/vnd.openxmlformats-officedocument.presentationml.slide+xml"/>
  <Override PartName="/ppt/slides/slide615.xml" ContentType="application/vnd.openxmlformats-officedocument.presentationml.slide+xml"/>
  <Override PartName="/ppt/slides/slide616.xml" ContentType="application/vnd.openxmlformats-officedocument.presentationml.slide+xml"/>
  <Override PartName="/ppt/slides/slide617.xml" ContentType="application/vnd.openxmlformats-officedocument.presentationml.slide+xml"/>
  <Override PartName="/ppt/slides/slide618.xml" ContentType="application/vnd.openxmlformats-officedocument.presentationml.slide+xml"/>
  <Override PartName="/ppt/slides/slide619.xml" ContentType="application/vnd.openxmlformats-officedocument.presentationml.slide+xml"/>
  <Override PartName="/ppt/slides/slide620.xml" ContentType="application/vnd.openxmlformats-officedocument.presentationml.slide+xml"/>
  <Override PartName="/ppt/slides/slide621.xml" ContentType="application/vnd.openxmlformats-officedocument.presentationml.slide+xml"/>
  <Override PartName="/ppt/slides/slide622.xml" ContentType="application/vnd.openxmlformats-officedocument.presentationml.slide+xml"/>
  <Override PartName="/ppt/slides/slide623.xml" ContentType="application/vnd.openxmlformats-officedocument.presentationml.slide+xml"/>
  <Override PartName="/ppt/slides/slide624.xml" ContentType="application/vnd.openxmlformats-officedocument.presentationml.slide+xml"/>
  <Override PartName="/ppt/slides/slide625.xml" ContentType="application/vnd.openxmlformats-officedocument.presentationml.slide+xml"/>
  <Override PartName="/ppt/slides/slide626.xml" ContentType="application/vnd.openxmlformats-officedocument.presentationml.slide+xml"/>
  <Override PartName="/ppt/slides/slide627.xml" ContentType="application/vnd.openxmlformats-officedocument.presentationml.slide+xml"/>
  <Override PartName="/ppt/slides/slide628.xml" ContentType="application/vnd.openxmlformats-officedocument.presentationml.slide+xml"/>
  <Override PartName="/ppt/slides/slide629.xml" ContentType="application/vnd.openxmlformats-officedocument.presentationml.slide+xml"/>
  <Override PartName="/ppt/slides/slide630.xml" ContentType="application/vnd.openxmlformats-officedocument.presentationml.slide+xml"/>
  <Override PartName="/ppt/slides/slide631.xml" ContentType="application/vnd.openxmlformats-officedocument.presentationml.slide+xml"/>
  <Override PartName="/ppt/slides/slide632.xml" ContentType="application/vnd.openxmlformats-officedocument.presentationml.slide+xml"/>
  <Override PartName="/ppt/slides/slide633.xml" ContentType="application/vnd.openxmlformats-officedocument.presentationml.slide+xml"/>
  <Override PartName="/ppt/slides/slide634.xml" ContentType="application/vnd.openxmlformats-officedocument.presentationml.slide+xml"/>
  <Override PartName="/ppt/slides/slide635.xml" ContentType="application/vnd.openxmlformats-officedocument.presentationml.slide+xml"/>
  <Override PartName="/ppt/slides/slide636.xml" ContentType="application/vnd.openxmlformats-officedocument.presentationml.slide+xml"/>
  <Override PartName="/ppt/slides/slide637.xml" ContentType="application/vnd.openxmlformats-officedocument.presentationml.slide+xml"/>
  <Override PartName="/ppt/slides/slide638.xml" ContentType="application/vnd.openxmlformats-officedocument.presentationml.slide+xml"/>
  <Override PartName="/ppt/slides/slide639.xml" ContentType="application/vnd.openxmlformats-officedocument.presentationml.slide+xml"/>
  <Override PartName="/ppt/slides/slide640.xml" ContentType="application/vnd.openxmlformats-officedocument.presentationml.slide+xml"/>
  <Override PartName="/ppt/slides/slide641.xml" ContentType="application/vnd.openxmlformats-officedocument.presentationml.slide+xml"/>
  <Override PartName="/ppt/slides/slide642.xml" ContentType="application/vnd.openxmlformats-officedocument.presentationml.slide+xml"/>
  <Override PartName="/ppt/slides/slide643.xml" ContentType="application/vnd.openxmlformats-officedocument.presentationml.slide+xml"/>
  <Override PartName="/ppt/slides/slide644.xml" ContentType="application/vnd.openxmlformats-officedocument.presentationml.slide+xml"/>
  <Override PartName="/ppt/slides/slide645.xml" ContentType="application/vnd.openxmlformats-officedocument.presentationml.slide+xml"/>
  <Override PartName="/ppt/slides/slide646.xml" ContentType="application/vnd.openxmlformats-officedocument.presentationml.slide+xml"/>
  <Override PartName="/ppt/slides/slide647.xml" ContentType="application/vnd.openxmlformats-officedocument.presentationml.slide+xml"/>
  <Override PartName="/ppt/slides/slide648.xml" ContentType="application/vnd.openxmlformats-officedocument.presentationml.slide+xml"/>
  <Override PartName="/ppt/slides/slide649.xml" ContentType="application/vnd.openxmlformats-officedocument.presentationml.slide+xml"/>
  <Override PartName="/ppt/slides/slide650.xml" ContentType="application/vnd.openxmlformats-officedocument.presentationml.slide+xml"/>
  <Override PartName="/ppt/slides/slide651.xml" ContentType="application/vnd.openxmlformats-officedocument.presentationml.slide+xml"/>
  <Override PartName="/ppt/slides/slide652.xml" ContentType="application/vnd.openxmlformats-officedocument.presentationml.slide+xml"/>
  <Override PartName="/ppt/slides/slide653.xml" ContentType="application/vnd.openxmlformats-officedocument.presentationml.slide+xml"/>
  <Override PartName="/ppt/slides/slide654.xml" ContentType="application/vnd.openxmlformats-officedocument.presentationml.slide+xml"/>
  <Override PartName="/ppt/slides/slide655.xml" ContentType="application/vnd.openxmlformats-officedocument.presentationml.slide+xml"/>
  <Override PartName="/ppt/slides/slide656.xml" ContentType="application/vnd.openxmlformats-officedocument.presentationml.slide+xml"/>
  <Override PartName="/ppt/slides/slide657.xml" ContentType="application/vnd.openxmlformats-officedocument.presentationml.slide+xml"/>
  <Override PartName="/ppt/slides/slide658.xml" ContentType="application/vnd.openxmlformats-officedocument.presentationml.slide+xml"/>
  <Override PartName="/ppt/slides/slide659.xml" ContentType="application/vnd.openxmlformats-officedocument.presentationml.slide+xml"/>
  <Override PartName="/ppt/slides/slide660.xml" ContentType="application/vnd.openxmlformats-officedocument.presentationml.slide+xml"/>
  <Override PartName="/ppt/slides/slide661.xml" ContentType="application/vnd.openxmlformats-officedocument.presentationml.slide+xml"/>
  <Override PartName="/ppt/slides/slide662.xml" ContentType="application/vnd.openxmlformats-officedocument.presentationml.slide+xml"/>
  <Override PartName="/ppt/slides/slide663.xml" ContentType="application/vnd.openxmlformats-officedocument.presentationml.slide+xml"/>
  <Override PartName="/ppt/slides/slide664.xml" ContentType="application/vnd.openxmlformats-officedocument.presentationml.slide+xml"/>
  <Override PartName="/ppt/slides/slide665.xml" ContentType="application/vnd.openxmlformats-officedocument.presentationml.slide+xml"/>
  <Override PartName="/ppt/slides/slide666.xml" ContentType="application/vnd.openxmlformats-officedocument.presentationml.slide+xml"/>
  <Override PartName="/ppt/slides/slide667.xml" ContentType="application/vnd.openxmlformats-officedocument.presentationml.slide+xml"/>
  <Override PartName="/ppt/slides/slide668.xml" ContentType="application/vnd.openxmlformats-officedocument.presentationml.slide+xml"/>
  <Override PartName="/ppt/slides/slide669.xml" ContentType="application/vnd.openxmlformats-officedocument.presentationml.slide+xml"/>
  <Override PartName="/ppt/slides/slide670.xml" ContentType="application/vnd.openxmlformats-officedocument.presentationml.slide+xml"/>
  <Override PartName="/ppt/slides/slide671.xml" ContentType="application/vnd.openxmlformats-officedocument.presentationml.slide+xml"/>
  <Override PartName="/ppt/slides/slide672.xml" ContentType="application/vnd.openxmlformats-officedocument.presentationml.slide+xml"/>
  <Override PartName="/ppt/slides/slide673.xml" ContentType="application/vnd.openxmlformats-officedocument.presentationml.slide+xml"/>
  <Override PartName="/ppt/slides/slide674.xml" ContentType="application/vnd.openxmlformats-officedocument.presentationml.slide+xml"/>
  <Override PartName="/ppt/slides/slide675.xml" ContentType="application/vnd.openxmlformats-officedocument.presentationml.slide+xml"/>
  <Override PartName="/ppt/slides/slide676.xml" ContentType="application/vnd.openxmlformats-officedocument.presentationml.slide+xml"/>
  <Override PartName="/ppt/slides/slide677.xml" ContentType="application/vnd.openxmlformats-officedocument.presentationml.slide+xml"/>
  <Override PartName="/ppt/slides/slide678.xml" ContentType="application/vnd.openxmlformats-officedocument.presentationml.slide+xml"/>
  <Override PartName="/ppt/slides/slide679.xml" ContentType="application/vnd.openxmlformats-officedocument.presentationml.slide+xml"/>
  <Override PartName="/ppt/slides/slide680.xml" ContentType="application/vnd.openxmlformats-officedocument.presentationml.slide+xml"/>
  <Override PartName="/ppt/slides/slide681.xml" ContentType="application/vnd.openxmlformats-officedocument.presentationml.slide+xml"/>
  <Override PartName="/ppt/slides/slide682.xml" ContentType="application/vnd.openxmlformats-officedocument.presentationml.slide+xml"/>
  <Override PartName="/ppt/slides/slide683.xml" ContentType="application/vnd.openxmlformats-officedocument.presentationml.slide+xml"/>
  <Override PartName="/ppt/slides/slide684.xml" ContentType="application/vnd.openxmlformats-officedocument.presentationml.slide+xml"/>
  <Override PartName="/ppt/slides/slide685.xml" ContentType="application/vnd.openxmlformats-officedocument.presentationml.slide+xml"/>
  <Override PartName="/ppt/slides/slide686.xml" ContentType="application/vnd.openxmlformats-officedocument.presentationml.slide+xml"/>
  <Override PartName="/ppt/slides/slide687.xml" ContentType="application/vnd.openxmlformats-officedocument.presentationml.slide+xml"/>
  <Override PartName="/ppt/slides/slide688.xml" ContentType="application/vnd.openxmlformats-officedocument.presentationml.slide+xml"/>
  <Override PartName="/ppt/slides/slide689.xml" ContentType="application/vnd.openxmlformats-officedocument.presentationml.slide+xml"/>
  <Override PartName="/ppt/slides/slide690.xml" ContentType="application/vnd.openxmlformats-officedocument.presentationml.slide+xml"/>
  <Override PartName="/ppt/slides/slide691.xml" ContentType="application/vnd.openxmlformats-officedocument.presentationml.slide+xml"/>
  <Override PartName="/ppt/slides/slide692.xml" ContentType="application/vnd.openxmlformats-officedocument.presentationml.slide+xml"/>
  <Override PartName="/ppt/slides/slide693.xml" ContentType="application/vnd.openxmlformats-officedocument.presentationml.slide+xml"/>
  <Override PartName="/ppt/slides/slide694.xml" ContentType="application/vnd.openxmlformats-officedocument.presentationml.slide+xml"/>
  <Override PartName="/ppt/slides/slide695.xml" ContentType="application/vnd.openxmlformats-officedocument.presentationml.slide+xml"/>
  <Override PartName="/ppt/slides/slide696.xml" ContentType="application/vnd.openxmlformats-officedocument.presentationml.slide+xml"/>
  <Override PartName="/ppt/slides/slide697.xml" ContentType="application/vnd.openxmlformats-officedocument.presentationml.slide+xml"/>
  <Override PartName="/ppt/slides/slide698.xml" ContentType="application/vnd.openxmlformats-officedocument.presentationml.slide+xml"/>
  <Override PartName="/ppt/slides/slide699.xml" ContentType="application/vnd.openxmlformats-officedocument.presentationml.slide+xml"/>
  <Override PartName="/ppt/slides/slide700.xml" ContentType="application/vnd.openxmlformats-officedocument.presentationml.slide+xml"/>
  <Override PartName="/ppt/slides/slide701.xml" ContentType="application/vnd.openxmlformats-officedocument.presentationml.slide+xml"/>
  <Override PartName="/ppt/slides/slide702.xml" ContentType="application/vnd.openxmlformats-officedocument.presentationml.slide+xml"/>
  <Override PartName="/ppt/slides/slide703.xml" ContentType="application/vnd.openxmlformats-officedocument.presentationml.slide+xml"/>
  <Override PartName="/ppt/slides/slide704.xml" ContentType="application/vnd.openxmlformats-officedocument.presentationml.slide+xml"/>
  <Override PartName="/ppt/slides/slide705.xml" ContentType="application/vnd.openxmlformats-officedocument.presentationml.slide+xml"/>
  <Override PartName="/ppt/slides/slide706.xml" ContentType="application/vnd.openxmlformats-officedocument.presentationml.slide+xml"/>
  <Override PartName="/ppt/slides/slide707.xml" ContentType="application/vnd.openxmlformats-officedocument.presentationml.slide+xml"/>
  <Override PartName="/ppt/slides/slide708.xml" ContentType="application/vnd.openxmlformats-officedocument.presentationml.slide+xml"/>
  <Override PartName="/ppt/slides/slide709.xml" ContentType="application/vnd.openxmlformats-officedocument.presentationml.slide+xml"/>
  <Override PartName="/ppt/slides/slide710.xml" ContentType="application/vnd.openxmlformats-officedocument.presentationml.slide+xml"/>
  <Override PartName="/ppt/slides/slide711.xml" ContentType="application/vnd.openxmlformats-officedocument.presentationml.slide+xml"/>
  <Override PartName="/ppt/slides/slide712.xml" ContentType="application/vnd.openxmlformats-officedocument.presentationml.slide+xml"/>
  <Override PartName="/ppt/slides/slide713.xml" ContentType="application/vnd.openxmlformats-officedocument.presentationml.slide+xml"/>
  <Override PartName="/ppt/slides/slide714.xml" ContentType="application/vnd.openxmlformats-officedocument.presentationml.slide+xml"/>
  <Override PartName="/ppt/slides/slide715.xml" ContentType="application/vnd.openxmlformats-officedocument.presentationml.slide+xml"/>
  <Override PartName="/ppt/slides/slide716.xml" ContentType="application/vnd.openxmlformats-officedocument.presentationml.slide+xml"/>
  <Override PartName="/ppt/slides/slide717.xml" ContentType="application/vnd.openxmlformats-officedocument.presentationml.slide+xml"/>
  <Override PartName="/ppt/slides/slide718.xml" ContentType="application/vnd.openxmlformats-officedocument.presentationml.slide+xml"/>
  <Override PartName="/ppt/slides/slide719.xml" ContentType="application/vnd.openxmlformats-officedocument.presentationml.slide+xml"/>
  <Override PartName="/ppt/slides/slide720.xml" ContentType="application/vnd.openxmlformats-officedocument.presentationml.slide+xml"/>
  <Override PartName="/ppt/slides/slide721.xml" ContentType="application/vnd.openxmlformats-officedocument.presentationml.slide+xml"/>
  <Override PartName="/ppt/slides/slide722.xml" ContentType="application/vnd.openxmlformats-officedocument.presentationml.slide+xml"/>
  <Override PartName="/ppt/slides/slide723.xml" ContentType="application/vnd.openxmlformats-officedocument.presentationml.slide+xml"/>
  <Override PartName="/ppt/slides/slide724.xml" ContentType="application/vnd.openxmlformats-officedocument.presentationml.slide+xml"/>
  <Override PartName="/ppt/slides/slide725.xml" ContentType="application/vnd.openxmlformats-officedocument.presentationml.slide+xml"/>
  <Override PartName="/ppt/slides/slide726.xml" ContentType="application/vnd.openxmlformats-officedocument.presentationml.slide+xml"/>
  <Override PartName="/ppt/slides/slide727.xml" ContentType="application/vnd.openxmlformats-officedocument.presentationml.slide+xml"/>
  <Override PartName="/ppt/slides/slide728.xml" ContentType="application/vnd.openxmlformats-officedocument.presentationml.slide+xml"/>
  <Override PartName="/ppt/slides/slide729.xml" ContentType="application/vnd.openxmlformats-officedocument.presentationml.slide+xml"/>
  <Override PartName="/ppt/slides/slide730.xml" ContentType="application/vnd.openxmlformats-officedocument.presentationml.slide+xml"/>
  <Override PartName="/ppt/slides/slide731.xml" ContentType="application/vnd.openxmlformats-officedocument.presentationml.slide+xml"/>
  <Override PartName="/ppt/slides/slide732.xml" ContentType="application/vnd.openxmlformats-officedocument.presentationml.slide+xml"/>
  <Override PartName="/ppt/slides/slide733.xml" ContentType="application/vnd.openxmlformats-officedocument.presentationml.slide+xml"/>
  <Override PartName="/ppt/slides/slide734.xml" ContentType="application/vnd.openxmlformats-officedocument.presentationml.slide+xml"/>
  <Override PartName="/ppt/slides/slide735.xml" ContentType="application/vnd.openxmlformats-officedocument.presentationml.slide+xml"/>
  <Override PartName="/ppt/slides/slide736.xml" ContentType="application/vnd.openxmlformats-officedocument.presentationml.slide+xml"/>
  <Override PartName="/ppt/slides/slide737.xml" ContentType="application/vnd.openxmlformats-officedocument.presentationml.slide+xml"/>
  <Override PartName="/ppt/slides/slide738.xml" ContentType="application/vnd.openxmlformats-officedocument.presentationml.slide+xml"/>
  <Override PartName="/ppt/slides/slide739.xml" ContentType="application/vnd.openxmlformats-officedocument.presentationml.slide+xml"/>
  <Override PartName="/ppt/slides/slide740.xml" ContentType="application/vnd.openxmlformats-officedocument.presentationml.slide+xml"/>
  <Override PartName="/ppt/slides/slide741.xml" ContentType="application/vnd.openxmlformats-officedocument.presentationml.slide+xml"/>
  <Override PartName="/ppt/slides/slide742.xml" ContentType="application/vnd.openxmlformats-officedocument.presentationml.slide+xml"/>
  <Override PartName="/ppt/slides/slide743.xml" ContentType="application/vnd.openxmlformats-officedocument.presentationml.slide+xml"/>
  <Override PartName="/ppt/slides/slide744.xml" ContentType="application/vnd.openxmlformats-officedocument.presentationml.slide+xml"/>
  <Override PartName="/ppt/slides/slide745.xml" ContentType="application/vnd.openxmlformats-officedocument.presentationml.slide+xml"/>
  <Override PartName="/ppt/slides/slide746.xml" ContentType="application/vnd.openxmlformats-officedocument.presentationml.slide+xml"/>
  <Override PartName="/ppt/slides/slide747.xml" ContentType="application/vnd.openxmlformats-officedocument.presentationml.slide+xml"/>
  <Override PartName="/ppt/slides/slide748.xml" ContentType="application/vnd.openxmlformats-officedocument.presentationml.slide+xml"/>
  <Override PartName="/ppt/slides/slide749.xml" ContentType="application/vnd.openxmlformats-officedocument.presentationml.slide+xml"/>
  <Override PartName="/ppt/slides/slide750.xml" ContentType="application/vnd.openxmlformats-officedocument.presentationml.slide+xml"/>
  <Override PartName="/ppt/slides/slide751.xml" ContentType="application/vnd.openxmlformats-officedocument.presentationml.slide+xml"/>
  <Override PartName="/ppt/slides/slide752.xml" ContentType="application/vnd.openxmlformats-officedocument.presentationml.slide+xml"/>
  <Override PartName="/ppt/slides/slide753.xml" ContentType="application/vnd.openxmlformats-officedocument.presentationml.slide+xml"/>
  <Override PartName="/ppt/slides/slide754.xml" ContentType="application/vnd.openxmlformats-officedocument.presentationml.slide+xml"/>
  <Override PartName="/ppt/slides/slide755.xml" ContentType="application/vnd.openxmlformats-officedocument.presentationml.slide+xml"/>
  <Override PartName="/ppt/slides/slide756.xml" ContentType="application/vnd.openxmlformats-officedocument.presentationml.slide+xml"/>
  <Override PartName="/ppt/slides/slide757.xml" ContentType="application/vnd.openxmlformats-officedocument.presentationml.slide+xml"/>
  <Override PartName="/ppt/slides/slide758.xml" ContentType="application/vnd.openxmlformats-officedocument.presentationml.slide+xml"/>
  <Override PartName="/ppt/slides/slide759.xml" ContentType="application/vnd.openxmlformats-officedocument.presentationml.slide+xml"/>
  <Override PartName="/ppt/slides/slide760.xml" ContentType="application/vnd.openxmlformats-officedocument.presentationml.slide+xml"/>
  <Override PartName="/ppt/slides/slide761.xml" ContentType="application/vnd.openxmlformats-officedocument.presentationml.slide+xml"/>
  <Override PartName="/ppt/slides/slide762.xml" ContentType="application/vnd.openxmlformats-officedocument.presentationml.slide+xml"/>
  <Override PartName="/ppt/slides/slide763.xml" ContentType="application/vnd.openxmlformats-officedocument.presentationml.slide+xml"/>
  <Override PartName="/ppt/slides/slide764.xml" ContentType="application/vnd.openxmlformats-officedocument.presentationml.slide+xml"/>
  <Override PartName="/ppt/slides/slide765.xml" ContentType="application/vnd.openxmlformats-officedocument.presentationml.slide+xml"/>
  <Override PartName="/ppt/slides/slide766.xml" ContentType="application/vnd.openxmlformats-officedocument.presentationml.slide+xml"/>
  <Override PartName="/ppt/slides/slide767.xml" ContentType="application/vnd.openxmlformats-officedocument.presentationml.slide+xml"/>
  <Override PartName="/ppt/slides/slide768.xml" ContentType="application/vnd.openxmlformats-officedocument.presentationml.slide+xml"/>
  <Override PartName="/ppt/slides/slide769.xml" ContentType="application/vnd.openxmlformats-officedocument.presentationml.slide+xml"/>
  <Override PartName="/ppt/slides/slide770.xml" ContentType="application/vnd.openxmlformats-officedocument.presentationml.slide+xml"/>
  <Override PartName="/ppt/slides/slide771.xml" ContentType="application/vnd.openxmlformats-officedocument.presentationml.slide+xml"/>
  <Override PartName="/ppt/slides/slide772.xml" ContentType="application/vnd.openxmlformats-officedocument.presentationml.slide+xml"/>
  <Override PartName="/ppt/slides/slide773.xml" ContentType="application/vnd.openxmlformats-officedocument.presentationml.slide+xml"/>
  <Override PartName="/ppt/slides/slide774.xml" ContentType="application/vnd.openxmlformats-officedocument.presentationml.slide+xml"/>
  <Override PartName="/ppt/slides/slide775.xml" ContentType="application/vnd.openxmlformats-officedocument.presentationml.slide+xml"/>
  <Override PartName="/ppt/slides/slide776.xml" ContentType="application/vnd.openxmlformats-officedocument.presentationml.slide+xml"/>
  <Override PartName="/ppt/slides/slide777.xml" ContentType="application/vnd.openxmlformats-officedocument.presentationml.slide+xml"/>
  <Override PartName="/ppt/slides/slide778.xml" ContentType="application/vnd.openxmlformats-officedocument.presentationml.slide+xml"/>
  <Override PartName="/ppt/slides/slide779.xml" ContentType="application/vnd.openxmlformats-officedocument.presentationml.slide+xml"/>
  <Override PartName="/ppt/slides/slide780.xml" ContentType="application/vnd.openxmlformats-officedocument.presentationml.slide+xml"/>
  <Override PartName="/ppt/slides/slide781.xml" ContentType="application/vnd.openxmlformats-officedocument.presentationml.slide+xml"/>
  <Override PartName="/ppt/slides/slide782.xml" ContentType="application/vnd.openxmlformats-officedocument.presentationml.slide+xml"/>
  <Override PartName="/ppt/slides/slide783.xml" ContentType="application/vnd.openxmlformats-officedocument.presentationml.slide+xml"/>
  <Override PartName="/ppt/slides/slide784.xml" ContentType="application/vnd.openxmlformats-officedocument.presentationml.slide+xml"/>
  <Override PartName="/ppt/slides/slide785.xml" ContentType="application/vnd.openxmlformats-officedocument.presentationml.slide+xml"/>
  <Override PartName="/ppt/slides/slide786.xml" ContentType="application/vnd.openxmlformats-officedocument.presentationml.slide+xml"/>
  <Override PartName="/ppt/slides/slide787.xml" ContentType="application/vnd.openxmlformats-officedocument.presentationml.slide+xml"/>
  <Override PartName="/ppt/slides/slide788.xml" ContentType="application/vnd.openxmlformats-officedocument.presentationml.slide+xml"/>
  <Override PartName="/ppt/slides/slide789.xml" ContentType="application/vnd.openxmlformats-officedocument.presentationml.slide+xml"/>
  <Override PartName="/ppt/slides/slide790.xml" ContentType="application/vnd.openxmlformats-officedocument.presentationml.slide+xml"/>
  <Override PartName="/ppt/slides/slide791.xml" ContentType="application/vnd.openxmlformats-officedocument.presentationml.slide+xml"/>
  <Override PartName="/ppt/slides/slide792.xml" ContentType="application/vnd.openxmlformats-officedocument.presentationml.slide+xml"/>
  <Override PartName="/ppt/slides/slide793.xml" ContentType="application/vnd.openxmlformats-officedocument.presentationml.slide+xml"/>
  <Override PartName="/ppt/slides/slide794.xml" ContentType="application/vnd.openxmlformats-officedocument.presentationml.slide+xml"/>
  <Override PartName="/ppt/slides/slide795.xml" ContentType="application/vnd.openxmlformats-officedocument.presentationml.slide+xml"/>
  <Override PartName="/ppt/slides/slide796.xml" ContentType="application/vnd.openxmlformats-officedocument.presentationml.slide+xml"/>
  <Override PartName="/ppt/slides/slide797.xml" ContentType="application/vnd.openxmlformats-officedocument.presentationml.slide+xml"/>
  <Override PartName="/ppt/slides/slide798.xml" ContentType="application/vnd.openxmlformats-officedocument.presentationml.slide+xml"/>
  <Override PartName="/ppt/slides/slide799.xml" ContentType="application/vnd.openxmlformats-officedocument.presentationml.slide+xml"/>
  <Override PartName="/ppt/slides/slide800.xml" ContentType="application/vnd.openxmlformats-officedocument.presentationml.slide+xml"/>
  <Override PartName="/ppt/slides/slide801.xml" ContentType="application/vnd.openxmlformats-officedocument.presentationml.slide+xml"/>
  <Override PartName="/ppt/slides/slide802.xml" ContentType="application/vnd.openxmlformats-officedocument.presentationml.slide+xml"/>
  <Override PartName="/ppt/slides/slide803.xml" ContentType="application/vnd.openxmlformats-officedocument.presentationml.slide+xml"/>
  <Override PartName="/ppt/slides/slide804.xml" ContentType="application/vnd.openxmlformats-officedocument.presentationml.slide+xml"/>
  <Override PartName="/ppt/slides/slide805.xml" ContentType="application/vnd.openxmlformats-officedocument.presentationml.slide+xml"/>
  <Override PartName="/ppt/slides/slide806.xml" ContentType="application/vnd.openxmlformats-officedocument.presentationml.slide+xml"/>
  <Override PartName="/ppt/slides/slide807.xml" ContentType="application/vnd.openxmlformats-officedocument.presentationml.slide+xml"/>
  <Override PartName="/ppt/slides/slide808.xml" ContentType="application/vnd.openxmlformats-officedocument.presentationml.slide+xml"/>
  <Override PartName="/ppt/slides/slide809.xml" ContentType="application/vnd.openxmlformats-officedocument.presentationml.slide+xml"/>
  <Override PartName="/ppt/slides/slide810.xml" ContentType="application/vnd.openxmlformats-officedocument.presentationml.slide+xml"/>
  <Override PartName="/ppt/slides/slide811.xml" ContentType="application/vnd.openxmlformats-officedocument.presentationml.slide+xml"/>
  <Override PartName="/ppt/slides/slide812.xml" ContentType="application/vnd.openxmlformats-officedocument.presentationml.slide+xml"/>
  <Override PartName="/ppt/slides/slide813.xml" ContentType="application/vnd.openxmlformats-officedocument.presentationml.slide+xml"/>
  <Override PartName="/ppt/slides/slide814.xml" ContentType="application/vnd.openxmlformats-officedocument.presentationml.slide+xml"/>
  <Override PartName="/ppt/slides/slide815.xml" ContentType="application/vnd.openxmlformats-officedocument.presentationml.slide+xml"/>
  <Override PartName="/ppt/slides/slide816.xml" ContentType="application/vnd.openxmlformats-officedocument.presentationml.slide+xml"/>
  <Override PartName="/ppt/slides/slide817.xml" ContentType="application/vnd.openxmlformats-officedocument.presentationml.slide+xml"/>
  <Override PartName="/ppt/slides/slide818.xml" ContentType="application/vnd.openxmlformats-officedocument.presentationml.slide+xml"/>
  <Override PartName="/ppt/slides/slide819.xml" ContentType="application/vnd.openxmlformats-officedocument.presentationml.slide+xml"/>
  <Override PartName="/ppt/slides/slide820.xml" ContentType="application/vnd.openxmlformats-officedocument.presentationml.slide+xml"/>
  <Override PartName="/ppt/slides/slide821.xml" ContentType="application/vnd.openxmlformats-officedocument.presentationml.slide+xml"/>
  <Override PartName="/ppt/slides/slide822.xml" ContentType="application/vnd.openxmlformats-officedocument.presentationml.slide+xml"/>
  <Override PartName="/ppt/slides/slide823.xml" ContentType="application/vnd.openxmlformats-officedocument.presentationml.slide+xml"/>
  <Override PartName="/ppt/slides/slide824.xml" ContentType="application/vnd.openxmlformats-officedocument.presentationml.slide+xml"/>
  <Override PartName="/ppt/slides/slide825.xml" ContentType="application/vnd.openxmlformats-officedocument.presentationml.slide+xml"/>
  <Override PartName="/ppt/slides/slide826.xml" ContentType="application/vnd.openxmlformats-officedocument.presentationml.slide+xml"/>
  <Override PartName="/ppt/slides/slide827.xml" ContentType="application/vnd.openxmlformats-officedocument.presentationml.slide+xml"/>
  <Override PartName="/ppt/slides/slide828.xml" ContentType="application/vnd.openxmlformats-officedocument.presentationml.slide+xml"/>
  <Override PartName="/ppt/slides/slide829.xml" ContentType="application/vnd.openxmlformats-officedocument.presentationml.slide+xml"/>
  <Override PartName="/ppt/slides/slide830.xml" ContentType="application/vnd.openxmlformats-officedocument.presentationml.slide+xml"/>
  <Override PartName="/ppt/slides/slide831.xml" ContentType="application/vnd.openxmlformats-officedocument.presentationml.slide+xml"/>
  <Override PartName="/ppt/slides/slide832.xml" ContentType="application/vnd.openxmlformats-officedocument.presentationml.slide+xml"/>
  <Override PartName="/ppt/slides/slide833.xml" ContentType="application/vnd.openxmlformats-officedocument.presentationml.slide+xml"/>
  <Override PartName="/ppt/slides/slide834.xml" ContentType="application/vnd.openxmlformats-officedocument.presentationml.slide+xml"/>
  <Override PartName="/ppt/slides/slide835.xml" ContentType="application/vnd.openxmlformats-officedocument.presentationml.slide+xml"/>
  <Override PartName="/ppt/slides/slide836.xml" ContentType="application/vnd.openxmlformats-officedocument.presentationml.slide+xml"/>
  <Override PartName="/ppt/slides/slide837.xml" ContentType="application/vnd.openxmlformats-officedocument.presentationml.slide+xml"/>
  <Override PartName="/ppt/slides/slide838.xml" ContentType="application/vnd.openxmlformats-officedocument.presentationml.slide+xml"/>
  <Override PartName="/ppt/slides/slide839.xml" ContentType="application/vnd.openxmlformats-officedocument.presentationml.slide+xml"/>
  <Override PartName="/ppt/slides/slide840.xml" ContentType="application/vnd.openxmlformats-officedocument.presentationml.slide+xml"/>
  <Override PartName="/ppt/slides/slide841.xml" ContentType="application/vnd.openxmlformats-officedocument.presentationml.slide+xml"/>
  <Override PartName="/ppt/slides/slide842.xml" ContentType="application/vnd.openxmlformats-officedocument.presentationml.slide+xml"/>
  <Override PartName="/ppt/slides/slide843.xml" ContentType="application/vnd.openxmlformats-officedocument.presentationml.slide+xml"/>
  <Override PartName="/ppt/slides/slide844.xml" ContentType="application/vnd.openxmlformats-officedocument.presentationml.slide+xml"/>
  <Override PartName="/ppt/slides/slide845.xml" ContentType="application/vnd.openxmlformats-officedocument.presentationml.slide+xml"/>
  <Override PartName="/ppt/slides/slide846.xml" ContentType="application/vnd.openxmlformats-officedocument.presentationml.slide+xml"/>
  <Override PartName="/ppt/slides/slide847.xml" ContentType="application/vnd.openxmlformats-officedocument.presentationml.slide+xml"/>
  <Override PartName="/ppt/slides/slide848.xml" ContentType="application/vnd.openxmlformats-officedocument.presentationml.slide+xml"/>
  <Override PartName="/ppt/slides/slide849.xml" ContentType="application/vnd.openxmlformats-officedocument.presentationml.slide+xml"/>
  <Override PartName="/ppt/slides/slide850.xml" ContentType="application/vnd.openxmlformats-officedocument.presentationml.slide+xml"/>
  <Override PartName="/ppt/slides/slide851.xml" ContentType="application/vnd.openxmlformats-officedocument.presentationml.slide+xml"/>
  <Override PartName="/ppt/slides/slide852.xml" ContentType="application/vnd.openxmlformats-officedocument.presentationml.slide+xml"/>
  <Override PartName="/ppt/slides/slide853.xml" ContentType="application/vnd.openxmlformats-officedocument.presentationml.slide+xml"/>
  <Override PartName="/ppt/slides/slide854.xml" ContentType="application/vnd.openxmlformats-officedocument.presentationml.slide+xml"/>
  <Override PartName="/ppt/slides/slide8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5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 id="321" r:id="rId66"/>
    <p:sldId id="322" r:id="rId67"/>
    <p:sldId id="323" r:id="rId68"/>
    <p:sldId id="324" r:id="rId69"/>
    <p:sldId id="325" r:id="rId70"/>
    <p:sldId id="326" r:id="rId71"/>
    <p:sldId id="327" r:id="rId72"/>
    <p:sldId id="328" r:id="rId73"/>
    <p:sldId id="329" r:id="rId74"/>
    <p:sldId id="330" r:id="rId75"/>
    <p:sldId id="331" r:id="rId76"/>
    <p:sldId id="332" r:id="rId77"/>
    <p:sldId id="333" r:id="rId78"/>
    <p:sldId id="334" r:id="rId79"/>
    <p:sldId id="335" r:id="rId80"/>
    <p:sldId id="336" r:id="rId81"/>
    <p:sldId id="337" r:id="rId82"/>
    <p:sldId id="338" r:id="rId83"/>
    <p:sldId id="339" r:id="rId84"/>
    <p:sldId id="340" r:id="rId85"/>
    <p:sldId id="341" r:id="rId86"/>
    <p:sldId id="342" r:id="rId87"/>
    <p:sldId id="343" r:id="rId88"/>
    <p:sldId id="344" r:id="rId89"/>
    <p:sldId id="345" r:id="rId90"/>
    <p:sldId id="346" r:id="rId91"/>
    <p:sldId id="347" r:id="rId92"/>
    <p:sldId id="348" r:id="rId93"/>
    <p:sldId id="349" r:id="rId94"/>
    <p:sldId id="350" r:id="rId95"/>
    <p:sldId id="351" r:id="rId96"/>
    <p:sldId id="352" r:id="rId97"/>
    <p:sldId id="353" r:id="rId98"/>
    <p:sldId id="354" r:id="rId99"/>
    <p:sldId id="355" r:id="rId100"/>
    <p:sldId id="356" r:id="rId101"/>
    <p:sldId id="357" r:id="rId102"/>
    <p:sldId id="358" r:id="rId103"/>
    <p:sldId id="359" r:id="rId104"/>
    <p:sldId id="360" r:id="rId105"/>
    <p:sldId id="361" r:id="rId106"/>
    <p:sldId id="362" r:id="rId107"/>
    <p:sldId id="363" r:id="rId108"/>
    <p:sldId id="297"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 id="449" r:id="rId195"/>
    <p:sldId id="450" r:id="rId196"/>
    <p:sldId id="451" r:id="rId197"/>
    <p:sldId id="452" r:id="rId198"/>
    <p:sldId id="453" r:id="rId199"/>
    <p:sldId id="454" r:id="rId200"/>
    <p:sldId id="455" r:id="rId201"/>
    <p:sldId id="456" r:id="rId202"/>
    <p:sldId id="457" r:id="rId203"/>
    <p:sldId id="458" r:id="rId204"/>
    <p:sldId id="459" r:id="rId205"/>
    <p:sldId id="460" r:id="rId206"/>
    <p:sldId id="461" r:id="rId207"/>
    <p:sldId id="462" r:id="rId208"/>
    <p:sldId id="463" r:id="rId209"/>
    <p:sldId id="464" r:id="rId210"/>
    <p:sldId id="465" r:id="rId211"/>
    <p:sldId id="466" r:id="rId212"/>
    <p:sldId id="467" r:id="rId213"/>
    <p:sldId id="468" r:id="rId214"/>
    <p:sldId id="469" r:id="rId215"/>
    <p:sldId id="470" r:id="rId216"/>
    <p:sldId id="471" r:id="rId217"/>
    <p:sldId id="472" r:id="rId218"/>
    <p:sldId id="473" r:id="rId219"/>
    <p:sldId id="474" r:id="rId220"/>
    <p:sldId id="475" r:id="rId221"/>
    <p:sldId id="476" r:id="rId222"/>
    <p:sldId id="477" r:id="rId223"/>
    <p:sldId id="478" r:id="rId224"/>
    <p:sldId id="479" r:id="rId225"/>
    <p:sldId id="480" r:id="rId226"/>
    <p:sldId id="481" r:id="rId227"/>
    <p:sldId id="482" r:id="rId228"/>
    <p:sldId id="483" r:id="rId229"/>
    <p:sldId id="484" r:id="rId230"/>
    <p:sldId id="485" r:id="rId231"/>
    <p:sldId id="486" r:id="rId232"/>
    <p:sldId id="487" r:id="rId233"/>
    <p:sldId id="488" r:id="rId234"/>
    <p:sldId id="489" r:id="rId235"/>
    <p:sldId id="490" r:id="rId236"/>
    <p:sldId id="491" r:id="rId237"/>
    <p:sldId id="492" r:id="rId238"/>
    <p:sldId id="493" r:id="rId239"/>
    <p:sldId id="494" r:id="rId240"/>
    <p:sldId id="495" r:id="rId241"/>
    <p:sldId id="496" r:id="rId242"/>
    <p:sldId id="497" r:id="rId243"/>
    <p:sldId id="498" r:id="rId244"/>
    <p:sldId id="499" r:id="rId245"/>
    <p:sldId id="500" r:id="rId246"/>
    <p:sldId id="501" r:id="rId247"/>
    <p:sldId id="502" r:id="rId248"/>
    <p:sldId id="503" r:id="rId249"/>
    <p:sldId id="504" r:id="rId250"/>
    <p:sldId id="505" r:id="rId251"/>
    <p:sldId id="506" r:id="rId252"/>
    <p:sldId id="507" r:id="rId253"/>
    <p:sldId id="508" r:id="rId254"/>
    <p:sldId id="509" r:id="rId255"/>
    <p:sldId id="510" r:id="rId256"/>
    <p:sldId id="511" r:id="rId257"/>
    <p:sldId id="512" r:id="rId258"/>
    <p:sldId id="513" r:id="rId259"/>
    <p:sldId id="514" r:id="rId260"/>
    <p:sldId id="515" r:id="rId261"/>
    <p:sldId id="516" r:id="rId262"/>
    <p:sldId id="517" r:id="rId263"/>
    <p:sldId id="518" r:id="rId264"/>
    <p:sldId id="519" r:id="rId265"/>
    <p:sldId id="520" r:id="rId266"/>
    <p:sldId id="521" r:id="rId267"/>
    <p:sldId id="522" r:id="rId268"/>
    <p:sldId id="523" r:id="rId269"/>
    <p:sldId id="524" r:id="rId270"/>
    <p:sldId id="525" r:id="rId271"/>
    <p:sldId id="526" r:id="rId272"/>
    <p:sldId id="527" r:id="rId273"/>
    <p:sldId id="528" r:id="rId274"/>
    <p:sldId id="529" r:id="rId275"/>
    <p:sldId id="530" r:id="rId276"/>
    <p:sldId id="531" r:id="rId277"/>
    <p:sldId id="532" r:id="rId278"/>
    <p:sldId id="533" r:id="rId279"/>
    <p:sldId id="534" r:id="rId280"/>
    <p:sldId id="535" r:id="rId281"/>
    <p:sldId id="536" r:id="rId282"/>
    <p:sldId id="537" r:id="rId283"/>
    <p:sldId id="538" r:id="rId284"/>
    <p:sldId id="539" r:id="rId285"/>
    <p:sldId id="540" r:id="rId286"/>
    <p:sldId id="541" r:id="rId287"/>
    <p:sldId id="542" r:id="rId288"/>
    <p:sldId id="543" r:id="rId289"/>
    <p:sldId id="544" r:id="rId290"/>
    <p:sldId id="545" r:id="rId291"/>
    <p:sldId id="546" r:id="rId292"/>
    <p:sldId id="547" r:id="rId293"/>
    <p:sldId id="548" r:id="rId294"/>
    <p:sldId id="549" r:id="rId295"/>
    <p:sldId id="550" r:id="rId296"/>
    <p:sldId id="551" r:id="rId297"/>
    <p:sldId id="552" r:id="rId298"/>
    <p:sldId id="553" r:id="rId299"/>
    <p:sldId id="554" r:id="rId300"/>
    <p:sldId id="555" r:id="rId301"/>
    <p:sldId id="556" r:id="rId302"/>
    <p:sldId id="557" r:id="rId303"/>
    <p:sldId id="558" r:id="rId304"/>
    <p:sldId id="559" r:id="rId305"/>
    <p:sldId id="560" r:id="rId306"/>
    <p:sldId id="561" r:id="rId307"/>
    <p:sldId id="562" r:id="rId308"/>
    <p:sldId id="563" r:id="rId309"/>
    <p:sldId id="564" r:id="rId310"/>
    <p:sldId id="565" r:id="rId311"/>
    <p:sldId id="566" r:id="rId312"/>
    <p:sldId id="567" r:id="rId313"/>
    <p:sldId id="568" r:id="rId314"/>
    <p:sldId id="569" r:id="rId315"/>
    <p:sldId id="570" r:id="rId316"/>
    <p:sldId id="571" r:id="rId317"/>
    <p:sldId id="572" r:id="rId318"/>
    <p:sldId id="573" r:id="rId319"/>
    <p:sldId id="574" r:id="rId320"/>
    <p:sldId id="575" r:id="rId321"/>
    <p:sldId id="576" r:id="rId322"/>
    <p:sldId id="577" r:id="rId323"/>
    <p:sldId id="578" r:id="rId324"/>
    <p:sldId id="579" r:id="rId325"/>
    <p:sldId id="580" r:id="rId326"/>
    <p:sldId id="581" r:id="rId327"/>
    <p:sldId id="582" r:id="rId328"/>
    <p:sldId id="583" r:id="rId329"/>
    <p:sldId id="584" r:id="rId330"/>
    <p:sldId id="585" r:id="rId331"/>
    <p:sldId id="586" r:id="rId332"/>
    <p:sldId id="587" r:id="rId333"/>
    <p:sldId id="588" r:id="rId334"/>
    <p:sldId id="589" r:id="rId335"/>
    <p:sldId id="590" r:id="rId336"/>
    <p:sldId id="591" r:id="rId337"/>
    <p:sldId id="592" r:id="rId338"/>
    <p:sldId id="593" r:id="rId339"/>
    <p:sldId id="594" r:id="rId340"/>
    <p:sldId id="595" r:id="rId341"/>
    <p:sldId id="596" r:id="rId342"/>
    <p:sldId id="597" r:id="rId343"/>
    <p:sldId id="598" r:id="rId344"/>
    <p:sldId id="599" r:id="rId345"/>
    <p:sldId id="600" r:id="rId346"/>
    <p:sldId id="601" r:id="rId347"/>
    <p:sldId id="602" r:id="rId348"/>
    <p:sldId id="603" r:id="rId349"/>
    <p:sldId id="604" r:id="rId350"/>
    <p:sldId id="605" r:id="rId351"/>
    <p:sldId id="606" r:id="rId352"/>
    <p:sldId id="607" r:id="rId353"/>
    <p:sldId id="608" r:id="rId354"/>
    <p:sldId id="609" r:id="rId355"/>
    <p:sldId id="610" r:id="rId356"/>
    <p:sldId id="611" r:id="rId357"/>
    <p:sldId id="612" r:id="rId358"/>
    <p:sldId id="613" r:id="rId359"/>
    <p:sldId id="614" r:id="rId360"/>
    <p:sldId id="615" r:id="rId361"/>
    <p:sldId id="616" r:id="rId362"/>
    <p:sldId id="617" r:id="rId363"/>
    <p:sldId id="618" r:id="rId364"/>
    <p:sldId id="619" r:id="rId365"/>
    <p:sldId id="620" r:id="rId366"/>
    <p:sldId id="621" r:id="rId367"/>
    <p:sldId id="622" r:id="rId368"/>
    <p:sldId id="623" r:id="rId369"/>
    <p:sldId id="624" r:id="rId370"/>
    <p:sldId id="625" r:id="rId371"/>
    <p:sldId id="626" r:id="rId372"/>
    <p:sldId id="627" r:id="rId373"/>
    <p:sldId id="628" r:id="rId374"/>
    <p:sldId id="629" r:id="rId375"/>
    <p:sldId id="630" r:id="rId376"/>
    <p:sldId id="631" r:id="rId377"/>
    <p:sldId id="632" r:id="rId378"/>
    <p:sldId id="633" r:id="rId379"/>
    <p:sldId id="634" r:id="rId380"/>
    <p:sldId id="635" r:id="rId381"/>
    <p:sldId id="636" r:id="rId382"/>
    <p:sldId id="637" r:id="rId383"/>
    <p:sldId id="638" r:id="rId384"/>
    <p:sldId id="639" r:id="rId385"/>
    <p:sldId id="640" r:id="rId386"/>
    <p:sldId id="641" r:id="rId387"/>
    <p:sldId id="642" r:id="rId388"/>
    <p:sldId id="643" r:id="rId389"/>
    <p:sldId id="644" r:id="rId390"/>
    <p:sldId id="645" r:id="rId391"/>
    <p:sldId id="646" r:id="rId392"/>
    <p:sldId id="647" r:id="rId393"/>
    <p:sldId id="648" r:id="rId394"/>
    <p:sldId id="649" r:id="rId395"/>
    <p:sldId id="650" r:id="rId396"/>
    <p:sldId id="651" r:id="rId397"/>
    <p:sldId id="652" r:id="rId398"/>
    <p:sldId id="653" r:id="rId399"/>
    <p:sldId id="654" r:id="rId400"/>
    <p:sldId id="655" r:id="rId401"/>
    <p:sldId id="656" r:id="rId402"/>
    <p:sldId id="657" r:id="rId403"/>
    <p:sldId id="658" r:id="rId404"/>
    <p:sldId id="659" r:id="rId405"/>
    <p:sldId id="660" r:id="rId406"/>
    <p:sldId id="661" r:id="rId407"/>
    <p:sldId id="662" r:id="rId408"/>
    <p:sldId id="663" r:id="rId409"/>
    <p:sldId id="664" r:id="rId410"/>
    <p:sldId id="665" r:id="rId411"/>
    <p:sldId id="666" r:id="rId412"/>
    <p:sldId id="667" r:id="rId413"/>
    <p:sldId id="668" r:id="rId414"/>
    <p:sldId id="669" r:id="rId415"/>
    <p:sldId id="670" r:id="rId416"/>
    <p:sldId id="671" r:id="rId417"/>
    <p:sldId id="672" r:id="rId418"/>
    <p:sldId id="673" r:id="rId419"/>
    <p:sldId id="674" r:id="rId420"/>
    <p:sldId id="675" r:id="rId421"/>
    <p:sldId id="676" r:id="rId422"/>
    <p:sldId id="677" r:id="rId423"/>
    <p:sldId id="678" r:id="rId424"/>
    <p:sldId id="679" r:id="rId425"/>
    <p:sldId id="680" r:id="rId426"/>
    <p:sldId id="681" r:id="rId427"/>
    <p:sldId id="682" r:id="rId428"/>
    <p:sldId id="683" r:id="rId429"/>
    <p:sldId id="684" r:id="rId430"/>
    <p:sldId id="685" r:id="rId431"/>
    <p:sldId id="686" r:id="rId432"/>
    <p:sldId id="687" r:id="rId433"/>
    <p:sldId id="688" r:id="rId434"/>
    <p:sldId id="689" r:id="rId435"/>
    <p:sldId id="690" r:id="rId436"/>
    <p:sldId id="691" r:id="rId437"/>
    <p:sldId id="692" r:id="rId438"/>
    <p:sldId id="693" r:id="rId439"/>
    <p:sldId id="694" r:id="rId440"/>
    <p:sldId id="695" r:id="rId441"/>
    <p:sldId id="696" r:id="rId442"/>
    <p:sldId id="697" r:id="rId443"/>
    <p:sldId id="698" r:id="rId444"/>
    <p:sldId id="699" r:id="rId445"/>
    <p:sldId id="700" r:id="rId446"/>
    <p:sldId id="701" r:id="rId447"/>
    <p:sldId id="702" r:id="rId448"/>
    <p:sldId id="703" r:id="rId449"/>
    <p:sldId id="704" r:id="rId450"/>
    <p:sldId id="705" r:id="rId451"/>
    <p:sldId id="706" r:id="rId452"/>
    <p:sldId id="707" r:id="rId453"/>
    <p:sldId id="708" r:id="rId454"/>
    <p:sldId id="709" r:id="rId455"/>
    <p:sldId id="710" r:id="rId456"/>
    <p:sldId id="711" r:id="rId457"/>
    <p:sldId id="712" r:id="rId458"/>
    <p:sldId id="713" r:id="rId459"/>
    <p:sldId id="714" r:id="rId460"/>
    <p:sldId id="715" r:id="rId461"/>
    <p:sldId id="716" r:id="rId462"/>
    <p:sldId id="717" r:id="rId463"/>
    <p:sldId id="718" r:id="rId464"/>
    <p:sldId id="719" r:id="rId465"/>
    <p:sldId id="720" r:id="rId466"/>
    <p:sldId id="721" r:id="rId467"/>
    <p:sldId id="722" r:id="rId468"/>
    <p:sldId id="723" r:id="rId469"/>
    <p:sldId id="724" r:id="rId470"/>
    <p:sldId id="725" r:id="rId471"/>
    <p:sldId id="726" r:id="rId472"/>
    <p:sldId id="727" r:id="rId473"/>
    <p:sldId id="728" r:id="rId474"/>
    <p:sldId id="729" r:id="rId475"/>
    <p:sldId id="730" r:id="rId476"/>
    <p:sldId id="731" r:id="rId477"/>
    <p:sldId id="732" r:id="rId478"/>
    <p:sldId id="733" r:id="rId479"/>
    <p:sldId id="734" r:id="rId480"/>
    <p:sldId id="735" r:id="rId481"/>
    <p:sldId id="736" r:id="rId482"/>
    <p:sldId id="737" r:id="rId483"/>
    <p:sldId id="738" r:id="rId484"/>
    <p:sldId id="739" r:id="rId485"/>
    <p:sldId id="740" r:id="rId486"/>
    <p:sldId id="741" r:id="rId487"/>
    <p:sldId id="742" r:id="rId488"/>
    <p:sldId id="743" r:id="rId489"/>
    <p:sldId id="744" r:id="rId490"/>
    <p:sldId id="745" r:id="rId491"/>
    <p:sldId id="746" r:id="rId492"/>
    <p:sldId id="747" r:id="rId493"/>
    <p:sldId id="748" r:id="rId494"/>
    <p:sldId id="749" r:id="rId495"/>
    <p:sldId id="750" r:id="rId496"/>
    <p:sldId id="751" r:id="rId497"/>
    <p:sldId id="752" r:id="rId498"/>
    <p:sldId id="753" r:id="rId499"/>
    <p:sldId id="754" r:id="rId500"/>
    <p:sldId id="755" r:id="rId501"/>
    <p:sldId id="756" r:id="rId502"/>
    <p:sldId id="757" r:id="rId503"/>
    <p:sldId id="758" r:id="rId504"/>
    <p:sldId id="759" r:id="rId505"/>
    <p:sldId id="760" r:id="rId506"/>
    <p:sldId id="761" r:id="rId507"/>
    <p:sldId id="762" r:id="rId508"/>
    <p:sldId id="763" r:id="rId509"/>
    <p:sldId id="764" r:id="rId510"/>
    <p:sldId id="765" r:id="rId511"/>
    <p:sldId id="766" r:id="rId512"/>
    <p:sldId id="767" r:id="rId513"/>
    <p:sldId id="768" r:id="rId514"/>
    <p:sldId id="769" r:id="rId515"/>
    <p:sldId id="770" r:id="rId516"/>
    <p:sldId id="771" r:id="rId517"/>
    <p:sldId id="772" r:id="rId518"/>
    <p:sldId id="773" r:id="rId519"/>
    <p:sldId id="774" r:id="rId520"/>
    <p:sldId id="775" r:id="rId521"/>
    <p:sldId id="776" r:id="rId522"/>
    <p:sldId id="777" r:id="rId523"/>
    <p:sldId id="778" r:id="rId524"/>
    <p:sldId id="779" r:id="rId525"/>
    <p:sldId id="780" r:id="rId526"/>
    <p:sldId id="781" r:id="rId527"/>
    <p:sldId id="782" r:id="rId528"/>
    <p:sldId id="783" r:id="rId529"/>
    <p:sldId id="784" r:id="rId530"/>
    <p:sldId id="785" r:id="rId531"/>
    <p:sldId id="786" r:id="rId532"/>
    <p:sldId id="787" r:id="rId533"/>
    <p:sldId id="788" r:id="rId534"/>
    <p:sldId id="789" r:id="rId535"/>
    <p:sldId id="790" r:id="rId536"/>
    <p:sldId id="791" r:id="rId537"/>
    <p:sldId id="792" r:id="rId538"/>
    <p:sldId id="793" r:id="rId539"/>
    <p:sldId id="794" r:id="rId540"/>
    <p:sldId id="795" r:id="rId541"/>
    <p:sldId id="796" r:id="rId542"/>
    <p:sldId id="797" r:id="rId543"/>
    <p:sldId id="798" r:id="rId544"/>
    <p:sldId id="799" r:id="rId545"/>
    <p:sldId id="800" r:id="rId546"/>
    <p:sldId id="801" r:id="rId547"/>
    <p:sldId id="802" r:id="rId548"/>
    <p:sldId id="803" r:id="rId549"/>
    <p:sldId id="804" r:id="rId550"/>
    <p:sldId id="805" r:id="rId551"/>
    <p:sldId id="806" r:id="rId552"/>
    <p:sldId id="807" r:id="rId553"/>
    <p:sldId id="808" r:id="rId554"/>
    <p:sldId id="809" r:id="rId555"/>
    <p:sldId id="810" r:id="rId556"/>
    <p:sldId id="811" r:id="rId557"/>
    <p:sldId id="812" r:id="rId558"/>
    <p:sldId id="813" r:id="rId559"/>
    <p:sldId id="814" r:id="rId560"/>
    <p:sldId id="815" r:id="rId561"/>
    <p:sldId id="816" r:id="rId562"/>
    <p:sldId id="817" r:id="rId563"/>
    <p:sldId id="818" r:id="rId564"/>
    <p:sldId id="819" r:id="rId565"/>
    <p:sldId id="820" r:id="rId566"/>
    <p:sldId id="821" r:id="rId567"/>
    <p:sldId id="822" r:id="rId568"/>
    <p:sldId id="823" r:id="rId569"/>
    <p:sldId id="824" r:id="rId570"/>
    <p:sldId id="825" r:id="rId571"/>
    <p:sldId id="826" r:id="rId572"/>
    <p:sldId id="827" r:id="rId573"/>
    <p:sldId id="828" r:id="rId574"/>
    <p:sldId id="829" r:id="rId575"/>
    <p:sldId id="830" r:id="rId576"/>
    <p:sldId id="831" r:id="rId577"/>
    <p:sldId id="832" r:id="rId578"/>
    <p:sldId id="833" r:id="rId579"/>
    <p:sldId id="834" r:id="rId580"/>
    <p:sldId id="835" r:id="rId581"/>
    <p:sldId id="836" r:id="rId582"/>
    <p:sldId id="837" r:id="rId583"/>
    <p:sldId id="838" r:id="rId584"/>
    <p:sldId id="839" r:id="rId585"/>
    <p:sldId id="840" r:id="rId586"/>
    <p:sldId id="841" r:id="rId587"/>
    <p:sldId id="842" r:id="rId588"/>
    <p:sldId id="843" r:id="rId589"/>
    <p:sldId id="844" r:id="rId590"/>
    <p:sldId id="845" r:id="rId591"/>
    <p:sldId id="846" r:id="rId592"/>
    <p:sldId id="847" r:id="rId593"/>
    <p:sldId id="848" r:id="rId594"/>
    <p:sldId id="849" r:id="rId595"/>
    <p:sldId id="850" r:id="rId596"/>
    <p:sldId id="851" r:id="rId597"/>
    <p:sldId id="852" r:id="rId598"/>
    <p:sldId id="853" r:id="rId599"/>
    <p:sldId id="854" r:id="rId600"/>
    <p:sldId id="855" r:id="rId601"/>
    <p:sldId id="856" r:id="rId602"/>
    <p:sldId id="857" r:id="rId603"/>
    <p:sldId id="858" r:id="rId604"/>
    <p:sldId id="859" r:id="rId605"/>
    <p:sldId id="860" r:id="rId606"/>
    <p:sldId id="861" r:id="rId607"/>
    <p:sldId id="862" r:id="rId608"/>
    <p:sldId id="863" r:id="rId609"/>
    <p:sldId id="864" r:id="rId610"/>
    <p:sldId id="865" r:id="rId611"/>
    <p:sldId id="866" r:id="rId612"/>
    <p:sldId id="867" r:id="rId613"/>
    <p:sldId id="868" r:id="rId614"/>
    <p:sldId id="869" r:id="rId615"/>
    <p:sldId id="870" r:id="rId616"/>
    <p:sldId id="871" r:id="rId617"/>
    <p:sldId id="872" r:id="rId618"/>
    <p:sldId id="873" r:id="rId619"/>
    <p:sldId id="874" r:id="rId620"/>
    <p:sldId id="875" r:id="rId621"/>
    <p:sldId id="876" r:id="rId622"/>
    <p:sldId id="877" r:id="rId623"/>
    <p:sldId id="878" r:id="rId624"/>
    <p:sldId id="879" r:id="rId625"/>
    <p:sldId id="880" r:id="rId626"/>
    <p:sldId id="881" r:id="rId627"/>
    <p:sldId id="882" r:id="rId628"/>
    <p:sldId id="883" r:id="rId629"/>
    <p:sldId id="884" r:id="rId630"/>
    <p:sldId id="885" r:id="rId631"/>
    <p:sldId id="886" r:id="rId632"/>
    <p:sldId id="887" r:id="rId633"/>
    <p:sldId id="888" r:id="rId634"/>
    <p:sldId id="889" r:id="rId635"/>
    <p:sldId id="890" r:id="rId636"/>
    <p:sldId id="891" r:id="rId637"/>
    <p:sldId id="892" r:id="rId638"/>
    <p:sldId id="893" r:id="rId639"/>
    <p:sldId id="894" r:id="rId640"/>
    <p:sldId id="895" r:id="rId641"/>
    <p:sldId id="896" r:id="rId642"/>
    <p:sldId id="897" r:id="rId643"/>
    <p:sldId id="898" r:id="rId644"/>
    <p:sldId id="899" r:id="rId645"/>
    <p:sldId id="900" r:id="rId646"/>
    <p:sldId id="901" r:id="rId647"/>
    <p:sldId id="902" r:id="rId648"/>
    <p:sldId id="903" r:id="rId649"/>
    <p:sldId id="904" r:id="rId650"/>
    <p:sldId id="905" r:id="rId651"/>
    <p:sldId id="906" r:id="rId652"/>
    <p:sldId id="907" r:id="rId653"/>
    <p:sldId id="908" r:id="rId654"/>
    <p:sldId id="909" r:id="rId655"/>
    <p:sldId id="910" r:id="rId656"/>
    <p:sldId id="911" r:id="rId657"/>
    <p:sldId id="912" r:id="rId658"/>
    <p:sldId id="913" r:id="rId659"/>
    <p:sldId id="914" r:id="rId660"/>
    <p:sldId id="915" r:id="rId661"/>
    <p:sldId id="916" r:id="rId662"/>
    <p:sldId id="917" r:id="rId663"/>
    <p:sldId id="918" r:id="rId664"/>
    <p:sldId id="919" r:id="rId665"/>
    <p:sldId id="920" r:id="rId666"/>
    <p:sldId id="921" r:id="rId667"/>
    <p:sldId id="922" r:id="rId668"/>
    <p:sldId id="923" r:id="rId669"/>
    <p:sldId id="924" r:id="rId670"/>
    <p:sldId id="925" r:id="rId671"/>
    <p:sldId id="926" r:id="rId672"/>
    <p:sldId id="927" r:id="rId673"/>
    <p:sldId id="928" r:id="rId674"/>
    <p:sldId id="929" r:id="rId675"/>
    <p:sldId id="930" r:id="rId676"/>
    <p:sldId id="931" r:id="rId677"/>
    <p:sldId id="932" r:id="rId678"/>
    <p:sldId id="933" r:id="rId679"/>
    <p:sldId id="934" r:id="rId680"/>
    <p:sldId id="935" r:id="rId681"/>
    <p:sldId id="936" r:id="rId682"/>
    <p:sldId id="937" r:id="rId683"/>
    <p:sldId id="938" r:id="rId684"/>
    <p:sldId id="939" r:id="rId685"/>
    <p:sldId id="940" r:id="rId686"/>
    <p:sldId id="941" r:id="rId687"/>
    <p:sldId id="942" r:id="rId688"/>
    <p:sldId id="943" r:id="rId689"/>
    <p:sldId id="944" r:id="rId690"/>
    <p:sldId id="945" r:id="rId691"/>
    <p:sldId id="946" r:id="rId692"/>
    <p:sldId id="947" r:id="rId693"/>
    <p:sldId id="948" r:id="rId694"/>
    <p:sldId id="949" r:id="rId695"/>
    <p:sldId id="950" r:id="rId696"/>
    <p:sldId id="951" r:id="rId697"/>
    <p:sldId id="952" r:id="rId698"/>
    <p:sldId id="953" r:id="rId699"/>
    <p:sldId id="954" r:id="rId700"/>
    <p:sldId id="955" r:id="rId701"/>
    <p:sldId id="956" r:id="rId702"/>
    <p:sldId id="957" r:id="rId703"/>
    <p:sldId id="958" r:id="rId704"/>
    <p:sldId id="959" r:id="rId705"/>
    <p:sldId id="960" r:id="rId706"/>
    <p:sldId id="961" r:id="rId707"/>
    <p:sldId id="962" r:id="rId708"/>
    <p:sldId id="963" r:id="rId709"/>
    <p:sldId id="964" r:id="rId710"/>
    <p:sldId id="965" r:id="rId711"/>
    <p:sldId id="966" r:id="rId712"/>
    <p:sldId id="967" r:id="rId713"/>
    <p:sldId id="968" r:id="rId714"/>
    <p:sldId id="969" r:id="rId715"/>
    <p:sldId id="970" r:id="rId716"/>
    <p:sldId id="971" r:id="rId717"/>
    <p:sldId id="972" r:id="rId718"/>
    <p:sldId id="973" r:id="rId719"/>
    <p:sldId id="974" r:id="rId720"/>
    <p:sldId id="975" r:id="rId721"/>
    <p:sldId id="976" r:id="rId722"/>
    <p:sldId id="977" r:id="rId723"/>
    <p:sldId id="978" r:id="rId724"/>
    <p:sldId id="979" r:id="rId725"/>
    <p:sldId id="980" r:id="rId726"/>
    <p:sldId id="981" r:id="rId727"/>
    <p:sldId id="982" r:id="rId728"/>
    <p:sldId id="983" r:id="rId729"/>
    <p:sldId id="984" r:id="rId730"/>
    <p:sldId id="985" r:id="rId731"/>
    <p:sldId id="986" r:id="rId732"/>
    <p:sldId id="987" r:id="rId733"/>
    <p:sldId id="988" r:id="rId734"/>
    <p:sldId id="989" r:id="rId735"/>
    <p:sldId id="990" r:id="rId736"/>
    <p:sldId id="991" r:id="rId737"/>
    <p:sldId id="992" r:id="rId738"/>
    <p:sldId id="993" r:id="rId739"/>
    <p:sldId id="994" r:id="rId740"/>
    <p:sldId id="995" r:id="rId741"/>
    <p:sldId id="996" r:id="rId742"/>
    <p:sldId id="997" r:id="rId743"/>
    <p:sldId id="998" r:id="rId744"/>
    <p:sldId id="999" r:id="rId745"/>
    <p:sldId id="1000" r:id="rId746"/>
    <p:sldId id="1001" r:id="rId747"/>
    <p:sldId id="1002" r:id="rId748"/>
    <p:sldId id="1003" r:id="rId749"/>
    <p:sldId id="1004" r:id="rId750"/>
    <p:sldId id="1005" r:id="rId751"/>
    <p:sldId id="1006" r:id="rId752"/>
    <p:sldId id="1007" r:id="rId753"/>
    <p:sldId id="1008" r:id="rId754"/>
    <p:sldId id="1009" r:id="rId755"/>
    <p:sldId id="1010" r:id="rId756"/>
    <p:sldId id="1011" r:id="rId757"/>
    <p:sldId id="1012" r:id="rId758"/>
    <p:sldId id="1013" r:id="rId759"/>
    <p:sldId id="1014" r:id="rId760"/>
    <p:sldId id="1015" r:id="rId761"/>
    <p:sldId id="1016" r:id="rId762"/>
    <p:sldId id="1017" r:id="rId763"/>
    <p:sldId id="1018" r:id="rId764"/>
    <p:sldId id="1019" r:id="rId765"/>
    <p:sldId id="1020" r:id="rId766"/>
    <p:sldId id="1021" r:id="rId767"/>
    <p:sldId id="1022" r:id="rId768"/>
    <p:sldId id="1023" r:id="rId769"/>
    <p:sldId id="1024" r:id="rId770"/>
    <p:sldId id="1025" r:id="rId771"/>
    <p:sldId id="1026" r:id="rId772"/>
    <p:sldId id="1027" r:id="rId773"/>
    <p:sldId id="1028" r:id="rId774"/>
    <p:sldId id="1029" r:id="rId775"/>
    <p:sldId id="1030" r:id="rId776"/>
    <p:sldId id="1031" r:id="rId777"/>
    <p:sldId id="1032" r:id="rId778"/>
    <p:sldId id="1033" r:id="rId779"/>
    <p:sldId id="1034" r:id="rId780"/>
    <p:sldId id="1035" r:id="rId781"/>
    <p:sldId id="1036" r:id="rId782"/>
    <p:sldId id="1037" r:id="rId783"/>
    <p:sldId id="1038" r:id="rId784"/>
    <p:sldId id="1039" r:id="rId785"/>
    <p:sldId id="1040" r:id="rId786"/>
    <p:sldId id="1041" r:id="rId787"/>
    <p:sldId id="1042" r:id="rId788"/>
    <p:sldId id="1043" r:id="rId789"/>
    <p:sldId id="1044" r:id="rId790"/>
    <p:sldId id="1045" r:id="rId791"/>
    <p:sldId id="1046" r:id="rId792"/>
    <p:sldId id="1047" r:id="rId793"/>
    <p:sldId id="1048" r:id="rId794"/>
    <p:sldId id="1049" r:id="rId795"/>
    <p:sldId id="1050" r:id="rId796"/>
    <p:sldId id="1051" r:id="rId797"/>
    <p:sldId id="1052" r:id="rId798"/>
    <p:sldId id="1053" r:id="rId799"/>
    <p:sldId id="1054" r:id="rId800"/>
    <p:sldId id="1055" r:id="rId801"/>
    <p:sldId id="1056" r:id="rId802"/>
    <p:sldId id="1057" r:id="rId803"/>
    <p:sldId id="1058" r:id="rId804"/>
    <p:sldId id="1059" r:id="rId805"/>
    <p:sldId id="1060" r:id="rId806"/>
    <p:sldId id="1061" r:id="rId807"/>
    <p:sldId id="1062" r:id="rId808"/>
    <p:sldId id="1063" r:id="rId809"/>
    <p:sldId id="1064" r:id="rId810"/>
    <p:sldId id="1065" r:id="rId811"/>
    <p:sldId id="1066" r:id="rId812"/>
    <p:sldId id="1067" r:id="rId813"/>
    <p:sldId id="1068" r:id="rId814"/>
    <p:sldId id="1069" r:id="rId815"/>
    <p:sldId id="1070" r:id="rId816"/>
    <p:sldId id="1071" r:id="rId817"/>
    <p:sldId id="1072" r:id="rId818"/>
    <p:sldId id="1073" r:id="rId819"/>
    <p:sldId id="1074" r:id="rId820"/>
    <p:sldId id="1075" r:id="rId821"/>
    <p:sldId id="1076" r:id="rId822"/>
    <p:sldId id="1077" r:id="rId823"/>
    <p:sldId id="1078" r:id="rId824"/>
    <p:sldId id="1079" r:id="rId825"/>
    <p:sldId id="1080" r:id="rId826"/>
    <p:sldId id="1081" r:id="rId827"/>
    <p:sldId id="1082" r:id="rId828"/>
    <p:sldId id="1083" r:id="rId829"/>
    <p:sldId id="1084" r:id="rId830"/>
    <p:sldId id="1085" r:id="rId831"/>
    <p:sldId id="1086" r:id="rId832"/>
    <p:sldId id="1087" r:id="rId833"/>
    <p:sldId id="1088" r:id="rId834"/>
    <p:sldId id="1089" r:id="rId835"/>
    <p:sldId id="1090" r:id="rId836"/>
    <p:sldId id="1091" r:id="rId837"/>
    <p:sldId id="1092" r:id="rId838"/>
    <p:sldId id="1093" r:id="rId839"/>
    <p:sldId id="1094" r:id="rId840"/>
    <p:sldId id="1095" r:id="rId841"/>
    <p:sldId id="1096" r:id="rId842"/>
    <p:sldId id="1097" r:id="rId843"/>
    <p:sldId id="1098" r:id="rId844"/>
    <p:sldId id="1099" r:id="rId845"/>
    <p:sldId id="1100" r:id="rId846"/>
    <p:sldId id="1101" r:id="rId847"/>
    <p:sldId id="1102" r:id="rId848"/>
    <p:sldId id="1103" r:id="rId849"/>
    <p:sldId id="1104" r:id="rId850"/>
    <p:sldId id="1105" r:id="rId851"/>
    <p:sldId id="1106" r:id="rId852"/>
    <p:sldId id="1107" r:id="rId853"/>
    <p:sldId id="1108" r:id="rId854"/>
    <p:sldId id="1109" r:id="rId855"/>
    <p:sldId id="1110" r:id="rId85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78" autoAdjust="0"/>
    <p:restoredTop sz="94660"/>
  </p:normalViewPr>
  <p:slideViewPr>
    <p:cSldViewPr>
      <p:cViewPr varScale="1">
        <p:scale>
          <a:sx n="73" d="100"/>
          <a:sy n="73" d="100"/>
        </p:scale>
        <p:origin x="1152" y="6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671" Type="http://schemas.openxmlformats.org/officeDocument/2006/relationships/slide" Target="slides/slide670.xml"/><Relationship Id="rId769" Type="http://schemas.openxmlformats.org/officeDocument/2006/relationships/slide" Target="slides/slide768.xml"/><Relationship Id="rId21" Type="http://schemas.openxmlformats.org/officeDocument/2006/relationships/slide" Target="slides/slide20.xml"/><Relationship Id="rId324" Type="http://schemas.openxmlformats.org/officeDocument/2006/relationships/slide" Target="slides/slide323.xml"/><Relationship Id="rId531" Type="http://schemas.openxmlformats.org/officeDocument/2006/relationships/slide" Target="slides/slide530.xml"/><Relationship Id="rId629" Type="http://schemas.openxmlformats.org/officeDocument/2006/relationships/slide" Target="slides/slide628.xml"/><Relationship Id="rId170" Type="http://schemas.openxmlformats.org/officeDocument/2006/relationships/slide" Target="slides/slide169.xml"/><Relationship Id="rId836" Type="http://schemas.openxmlformats.org/officeDocument/2006/relationships/slide" Target="slides/slide835.xml"/><Relationship Id="rId268" Type="http://schemas.openxmlformats.org/officeDocument/2006/relationships/slide" Target="slides/slide267.xml"/><Relationship Id="rId475" Type="http://schemas.openxmlformats.org/officeDocument/2006/relationships/slide" Target="slides/slide474.xml"/><Relationship Id="rId682" Type="http://schemas.openxmlformats.org/officeDocument/2006/relationships/slide" Target="slides/slide681.xml"/><Relationship Id="rId32" Type="http://schemas.openxmlformats.org/officeDocument/2006/relationships/slide" Target="slides/slide31.xml"/><Relationship Id="rId128" Type="http://schemas.openxmlformats.org/officeDocument/2006/relationships/slide" Target="slides/slide127.xml"/><Relationship Id="rId335" Type="http://schemas.openxmlformats.org/officeDocument/2006/relationships/slide" Target="slides/slide334.xml"/><Relationship Id="rId542" Type="http://schemas.openxmlformats.org/officeDocument/2006/relationships/slide" Target="slides/slide541.xml"/><Relationship Id="rId181" Type="http://schemas.openxmlformats.org/officeDocument/2006/relationships/slide" Target="slides/slide180.xml"/><Relationship Id="rId402" Type="http://schemas.openxmlformats.org/officeDocument/2006/relationships/slide" Target="slides/slide401.xml"/><Relationship Id="rId847" Type="http://schemas.openxmlformats.org/officeDocument/2006/relationships/slide" Target="slides/slide846.xml"/><Relationship Id="rId279" Type="http://schemas.openxmlformats.org/officeDocument/2006/relationships/slide" Target="slides/slide278.xml"/><Relationship Id="rId486" Type="http://schemas.openxmlformats.org/officeDocument/2006/relationships/slide" Target="slides/slide485.xml"/><Relationship Id="rId693" Type="http://schemas.openxmlformats.org/officeDocument/2006/relationships/slide" Target="slides/slide692.xml"/><Relationship Id="rId707" Type="http://schemas.openxmlformats.org/officeDocument/2006/relationships/slide" Target="slides/slide706.xml"/><Relationship Id="rId43" Type="http://schemas.openxmlformats.org/officeDocument/2006/relationships/slide" Target="slides/slide42.xml"/><Relationship Id="rId139" Type="http://schemas.openxmlformats.org/officeDocument/2006/relationships/slide" Target="slides/slide138.xml"/><Relationship Id="rId346" Type="http://schemas.openxmlformats.org/officeDocument/2006/relationships/slide" Target="slides/slide345.xml"/><Relationship Id="rId553" Type="http://schemas.openxmlformats.org/officeDocument/2006/relationships/slide" Target="slides/slide552.xml"/><Relationship Id="rId760" Type="http://schemas.openxmlformats.org/officeDocument/2006/relationships/slide" Target="slides/slide759.xml"/><Relationship Id="rId192" Type="http://schemas.openxmlformats.org/officeDocument/2006/relationships/slide" Target="slides/slide191.xml"/><Relationship Id="rId206" Type="http://schemas.openxmlformats.org/officeDocument/2006/relationships/slide" Target="slides/slide205.xml"/><Relationship Id="rId413" Type="http://schemas.openxmlformats.org/officeDocument/2006/relationships/slide" Target="slides/slide412.xml"/><Relationship Id="rId858" Type="http://schemas.openxmlformats.org/officeDocument/2006/relationships/presProps" Target="presProps.xml"/><Relationship Id="rId497" Type="http://schemas.openxmlformats.org/officeDocument/2006/relationships/slide" Target="slides/slide496.xml"/><Relationship Id="rId620" Type="http://schemas.openxmlformats.org/officeDocument/2006/relationships/slide" Target="slides/slide619.xml"/><Relationship Id="rId718" Type="http://schemas.openxmlformats.org/officeDocument/2006/relationships/slide" Target="slides/slide717.xml"/><Relationship Id="rId357" Type="http://schemas.openxmlformats.org/officeDocument/2006/relationships/slide" Target="slides/slide356.xml"/><Relationship Id="rId54" Type="http://schemas.openxmlformats.org/officeDocument/2006/relationships/slide" Target="slides/slide53.xml"/><Relationship Id="rId217" Type="http://schemas.openxmlformats.org/officeDocument/2006/relationships/slide" Target="slides/slide216.xml"/><Relationship Id="rId564" Type="http://schemas.openxmlformats.org/officeDocument/2006/relationships/slide" Target="slides/slide563.xml"/><Relationship Id="rId771" Type="http://schemas.openxmlformats.org/officeDocument/2006/relationships/slide" Target="slides/slide770.xml"/><Relationship Id="rId424" Type="http://schemas.openxmlformats.org/officeDocument/2006/relationships/slide" Target="slides/slide423.xml"/><Relationship Id="rId631" Type="http://schemas.openxmlformats.org/officeDocument/2006/relationships/slide" Target="slides/slide630.xml"/><Relationship Id="rId729" Type="http://schemas.openxmlformats.org/officeDocument/2006/relationships/slide" Target="slides/slide728.xml"/><Relationship Id="rId270" Type="http://schemas.openxmlformats.org/officeDocument/2006/relationships/slide" Target="slides/slide269.xml"/><Relationship Id="rId65" Type="http://schemas.openxmlformats.org/officeDocument/2006/relationships/slide" Target="slides/slide64.xml"/><Relationship Id="rId130" Type="http://schemas.openxmlformats.org/officeDocument/2006/relationships/slide" Target="slides/slide129.xml"/><Relationship Id="rId368" Type="http://schemas.openxmlformats.org/officeDocument/2006/relationships/slide" Target="slides/slide367.xml"/><Relationship Id="rId575" Type="http://schemas.openxmlformats.org/officeDocument/2006/relationships/slide" Target="slides/slide574.xml"/><Relationship Id="rId782" Type="http://schemas.openxmlformats.org/officeDocument/2006/relationships/slide" Target="slides/slide781.xml"/><Relationship Id="rId228" Type="http://schemas.openxmlformats.org/officeDocument/2006/relationships/slide" Target="slides/slide227.xml"/><Relationship Id="rId435" Type="http://schemas.openxmlformats.org/officeDocument/2006/relationships/slide" Target="slides/slide434.xml"/><Relationship Id="rId642" Type="http://schemas.openxmlformats.org/officeDocument/2006/relationships/slide" Target="slides/slide641.xml"/><Relationship Id="rId281" Type="http://schemas.openxmlformats.org/officeDocument/2006/relationships/slide" Target="slides/slide280.xml"/><Relationship Id="rId337" Type="http://schemas.openxmlformats.org/officeDocument/2006/relationships/slide" Target="slides/slide336.xml"/><Relationship Id="rId502" Type="http://schemas.openxmlformats.org/officeDocument/2006/relationships/slide" Target="slides/slide501.xml"/><Relationship Id="rId34" Type="http://schemas.openxmlformats.org/officeDocument/2006/relationships/slide" Target="slides/slide33.xml"/><Relationship Id="rId76" Type="http://schemas.openxmlformats.org/officeDocument/2006/relationships/slide" Target="slides/slide75.xml"/><Relationship Id="rId141" Type="http://schemas.openxmlformats.org/officeDocument/2006/relationships/slide" Target="slides/slide140.xml"/><Relationship Id="rId379" Type="http://schemas.openxmlformats.org/officeDocument/2006/relationships/slide" Target="slides/slide378.xml"/><Relationship Id="rId544" Type="http://schemas.openxmlformats.org/officeDocument/2006/relationships/slide" Target="slides/slide543.xml"/><Relationship Id="rId586" Type="http://schemas.openxmlformats.org/officeDocument/2006/relationships/slide" Target="slides/slide585.xml"/><Relationship Id="rId751" Type="http://schemas.openxmlformats.org/officeDocument/2006/relationships/slide" Target="slides/slide750.xml"/><Relationship Id="rId793" Type="http://schemas.openxmlformats.org/officeDocument/2006/relationships/slide" Target="slides/slide792.xml"/><Relationship Id="rId807" Type="http://schemas.openxmlformats.org/officeDocument/2006/relationships/slide" Target="slides/slide806.xml"/><Relationship Id="rId849" Type="http://schemas.openxmlformats.org/officeDocument/2006/relationships/slide" Target="slides/slide848.xml"/><Relationship Id="rId7" Type="http://schemas.openxmlformats.org/officeDocument/2006/relationships/slide" Target="slides/slide6.xml"/><Relationship Id="rId183" Type="http://schemas.openxmlformats.org/officeDocument/2006/relationships/slide" Target="slides/slide182.xml"/><Relationship Id="rId239" Type="http://schemas.openxmlformats.org/officeDocument/2006/relationships/slide" Target="slides/slide238.xml"/><Relationship Id="rId390" Type="http://schemas.openxmlformats.org/officeDocument/2006/relationships/slide" Target="slides/slide389.xml"/><Relationship Id="rId404" Type="http://schemas.openxmlformats.org/officeDocument/2006/relationships/slide" Target="slides/slide403.xml"/><Relationship Id="rId446" Type="http://schemas.openxmlformats.org/officeDocument/2006/relationships/slide" Target="slides/slide445.xml"/><Relationship Id="rId611" Type="http://schemas.openxmlformats.org/officeDocument/2006/relationships/slide" Target="slides/slide610.xml"/><Relationship Id="rId653" Type="http://schemas.openxmlformats.org/officeDocument/2006/relationships/slide" Target="slides/slide652.xml"/><Relationship Id="rId250" Type="http://schemas.openxmlformats.org/officeDocument/2006/relationships/slide" Target="slides/slide249.xml"/><Relationship Id="rId292" Type="http://schemas.openxmlformats.org/officeDocument/2006/relationships/slide" Target="slides/slide291.xml"/><Relationship Id="rId306" Type="http://schemas.openxmlformats.org/officeDocument/2006/relationships/slide" Target="slides/slide305.xml"/><Relationship Id="rId488" Type="http://schemas.openxmlformats.org/officeDocument/2006/relationships/slide" Target="slides/slide487.xml"/><Relationship Id="rId695" Type="http://schemas.openxmlformats.org/officeDocument/2006/relationships/slide" Target="slides/slide694.xml"/><Relationship Id="rId709" Type="http://schemas.openxmlformats.org/officeDocument/2006/relationships/slide" Target="slides/slide708.xml"/><Relationship Id="rId860" Type="http://schemas.openxmlformats.org/officeDocument/2006/relationships/theme" Target="theme/theme1.xml"/><Relationship Id="rId45" Type="http://schemas.openxmlformats.org/officeDocument/2006/relationships/slide" Target="slides/slide44.xml"/><Relationship Id="rId87" Type="http://schemas.openxmlformats.org/officeDocument/2006/relationships/slide" Target="slides/slide86.xml"/><Relationship Id="rId110" Type="http://schemas.openxmlformats.org/officeDocument/2006/relationships/slide" Target="slides/slide109.xml"/><Relationship Id="rId348" Type="http://schemas.openxmlformats.org/officeDocument/2006/relationships/slide" Target="slides/slide347.xml"/><Relationship Id="rId513" Type="http://schemas.openxmlformats.org/officeDocument/2006/relationships/slide" Target="slides/slide512.xml"/><Relationship Id="rId555" Type="http://schemas.openxmlformats.org/officeDocument/2006/relationships/slide" Target="slides/slide554.xml"/><Relationship Id="rId597" Type="http://schemas.openxmlformats.org/officeDocument/2006/relationships/slide" Target="slides/slide596.xml"/><Relationship Id="rId720" Type="http://schemas.openxmlformats.org/officeDocument/2006/relationships/slide" Target="slides/slide719.xml"/><Relationship Id="rId762" Type="http://schemas.openxmlformats.org/officeDocument/2006/relationships/slide" Target="slides/slide761.xml"/><Relationship Id="rId818" Type="http://schemas.openxmlformats.org/officeDocument/2006/relationships/slide" Target="slides/slide817.xml"/><Relationship Id="rId152" Type="http://schemas.openxmlformats.org/officeDocument/2006/relationships/slide" Target="slides/slide151.xml"/><Relationship Id="rId194" Type="http://schemas.openxmlformats.org/officeDocument/2006/relationships/slide" Target="slides/slide193.xml"/><Relationship Id="rId208" Type="http://schemas.openxmlformats.org/officeDocument/2006/relationships/slide" Target="slides/slide207.xml"/><Relationship Id="rId415" Type="http://schemas.openxmlformats.org/officeDocument/2006/relationships/slide" Target="slides/slide414.xml"/><Relationship Id="rId457" Type="http://schemas.openxmlformats.org/officeDocument/2006/relationships/slide" Target="slides/slide456.xml"/><Relationship Id="rId622" Type="http://schemas.openxmlformats.org/officeDocument/2006/relationships/slide" Target="slides/slide621.xml"/><Relationship Id="rId261" Type="http://schemas.openxmlformats.org/officeDocument/2006/relationships/slide" Target="slides/slide260.xml"/><Relationship Id="rId499" Type="http://schemas.openxmlformats.org/officeDocument/2006/relationships/slide" Target="slides/slide498.xml"/><Relationship Id="rId664" Type="http://schemas.openxmlformats.org/officeDocument/2006/relationships/slide" Target="slides/slide663.xml"/><Relationship Id="rId14" Type="http://schemas.openxmlformats.org/officeDocument/2006/relationships/slide" Target="slides/slide13.xml"/><Relationship Id="rId56" Type="http://schemas.openxmlformats.org/officeDocument/2006/relationships/slide" Target="slides/slide55.xml"/><Relationship Id="rId317" Type="http://schemas.openxmlformats.org/officeDocument/2006/relationships/slide" Target="slides/slide316.xml"/><Relationship Id="rId359" Type="http://schemas.openxmlformats.org/officeDocument/2006/relationships/slide" Target="slides/slide358.xml"/><Relationship Id="rId524" Type="http://schemas.openxmlformats.org/officeDocument/2006/relationships/slide" Target="slides/slide523.xml"/><Relationship Id="rId566" Type="http://schemas.openxmlformats.org/officeDocument/2006/relationships/slide" Target="slides/slide565.xml"/><Relationship Id="rId731" Type="http://schemas.openxmlformats.org/officeDocument/2006/relationships/slide" Target="slides/slide730.xml"/><Relationship Id="rId773" Type="http://schemas.openxmlformats.org/officeDocument/2006/relationships/slide" Target="slides/slide772.xml"/><Relationship Id="rId98" Type="http://schemas.openxmlformats.org/officeDocument/2006/relationships/slide" Target="slides/slide97.xml"/><Relationship Id="rId121" Type="http://schemas.openxmlformats.org/officeDocument/2006/relationships/slide" Target="slides/slide120.xml"/><Relationship Id="rId163" Type="http://schemas.openxmlformats.org/officeDocument/2006/relationships/slide" Target="slides/slide162.xml"/><Relationship Id="rId219" Type="http://schemas.openxmlformats.org/officeDocument/2006/relationships/slide" Target="slides/slide218.xml"/><Relationship Id="rId370" Type="http://schemas.openxmlformats.org/officeDocument/2006/relationships/slide" Target="slides/slide369.xml"/><Relationship Id="rId426" Type="http://schemas.openxmlformats.org/officeDocument/2006/relationships/slide" Target="slides/slide425.xml"/><Relationship Id="rId633" Type="http://schemas.openxmlformats.org/officeDocument/2006/relationships/slide" Target="slides/slide632.xml"/><Relationship Id="rId829" Type="http://schemas.openxmlformats.org/officeDocument/2006/relationships/slide" Target="slides/slide828.xml"/><Relationship Id="rId230" Type="http://schemas.openxmlformats.org/officeDocument/2006/relationships/slide" Target="slides/slide229.xml"/><Relationship Id="rId468" Type="http://schemas.openxmlformats.org/officeDocument/2006/relationships/slide" Target="slides/slide467.xml"/><Relationship Id="rId675" Type="http://schemas.openxmlformats.org/officeDocument/2006/relationships/slide" Target="slides/slide674.xml"/><Relationship Id="rId840" Type="http://schemas.openxmlformats.org/officeDocument/2006/relationships/slide" Target="slides/slide839.xml"/><Relationship Id="rId25" Type="http://schemas.openxmlformats.org/officeDocument/2006/relationships/slide" Target="slides/slide24.xml"/><Relationship Id="rId67" Type="http://schemas.openxmlformats.org/officeDocument/2006/relationships/slide" Target="slides/slide66.xml"/><Relationship Id="rId272" Type="http://schemas.openxmlformats.org/officeDocument/2006/relationships/slide" Target="slides/slide271.xml"/><Relationship Id="rId328" Type="http://schemas.openxmlformats.org/officeDocument/2006/relationships/slide" Target="slides/slide327.xml"/><Relationship Id="rId535" Type="http://schemas.openxmlformats.org/officeDocument/2006/relationships/slide" Target="slides/slide534.xml"/><Relationship Id="rId577" Type="http://schemas.openxmlformats.org/officeDocument/2006/relationships/slide" Target="slides/slide576.xml"/><Relationship Id="rId700" Type="http://schemas.openxmlformats.org/officeDocument/2006/relationships/slide" Target="slides/slide699.xml"/><Relationship Id="rId742" Type="http://schemas.openxmlformats.org/officeDocument/2006/relationships/slide" Target="slides/slide741.xml"/><Relationship Id="rId132" Type="http://schemas.openxmlformats.org/officeDocument/2006/relationships/slide" Target="slides/slide131.xml"/><Relationship Id="rId174" Type="http://schemas.openxmlformats.org/officeDocument/2006/relationships/slide" Target="slides/slide173.xml"/><Relationship Id="rId381" Type="http://schemas.openxmlformats.org/officeDocument/2006/relationships/slide" Target="slides/slide380.xml"/><Relationship Id="rId602" Type="http://schemas.openxmlformats.org/officeDocument/2006/relationships/slide" Target="slides/slide601.xml"/><Relationship Id="rId784" Type="http://schemas.openxmlformats.org/officeDocument/2006/relationships/slide" Target="slides/slide783.xml"/><Relationship Id="rId241" Type="http://schemas.openxmlformats.org/officeDocument/2006/relationships/slide" Target="slides/slide240.xml"/><Relationship Id="rId437" Type="http://schemas.openxmlformats.org/officeDocument/2006/relationships/slide" Target="slides/slide436.xml"/><Relationship Id="rId479" Type="http://schemas.openxmlformats.org/officeDocument/2006/relationships/slide" Target="slides/slide478.xml"/><Relationship Id="rId644" Type="http://schemas.openxmlformats.org/officeDocument/2006/relationships/slide" Target="slides/slide643.xml"/><Relationship Id="rId686" Type="http://schemas.openxmlformats.org/officeDocument/2006/relationships/slide" Target="slides/slide685.xml"/><Relationship Id="rId851" Type="http://schemas.openxmlformats.org/officeDocument/2006/relationships/slide" Target="slides/slide850.xml"/><Relationship Id="rId36" Type="http://schemas.openxmlformats.org/officeDocument/2006/relationships/slide" Target="slides/slide35.xml"/><Relationship Id="rId283" Type="http://schemas.openxmlformats.org/officeDocument/2006/relationships/slide" Target="slides/slide282.xml"/><Relationship Id="rId339" Type="http://schemas.openxmlformats.org/officeDocument/2006/relationships/slide" Target="slides/slide338.xml"/><Relationship Id="rId490" Type="http://schemas.openxmlformats.org/officeDocument/2006/relationships/slide" Target="slides/slide489.xml"/><Relationship Id="rId504" Type="http://schemas.openxmlformats.org/officeDocument/2006/relationships/slide" Target="slides/slide503.xml"/><Relationship Id="rId546" Type="http://schemas.openxmlformats.org/officeDocument/2006/relationships/slide" Target="slides/slide545.xml"/><Relationship Id="rId711" Type="http://schemas.openxmlformats.org/officeDocument/2006/relationships/slide" Target="slides/slide710.xml"/><Relationship Id="rId753" Type="http://schemas.openxmlformats.org/officeDocument/2006/relationships/slide" Target="slides/slide752.xml"/><Relationship Id="rId78" Type="http://schemas.openxmlformats.org/officeDocument/2006/relationships/slide" Target="slides/slide77.xml"/><Relationship Id="rId101" Type="http://schemas.openxmlformats.org/officeDocument/2006/relationships/slide" Target="slides/slide100.xml"/><Relationship Id="rId143" Type="http://schemas.openxmlformats.org/officeDocument/2006/relationships/slide" Target="slides/slide142.xml"/><Relationship Id="rId185" Type="http://schemas.openxmlformats.org/officeDocument/2006/relationships/slide" Target="slides/slide184.xml"/><Relationship Id="rId350" Type="http://schemas.openxmlformats.org/officeDocument/2006/relationships/slide" Target="slides/slide349.xml"/><Relationship Id="rId406" Type="http://schemas.openxmlformats.org/officeDocument/2006/relationships/slide" Target="slides/slide405.xml"/><Relationship Id="rId588" Type="http://schemas.openxmlformats.org/officeDocument/2006/relationships/slide" Target="slides/slide587.xml"/><Relationship Id="rId795" Type="http://schemas.openxmlformats.org/officeDocument/2006/relationships/slide" Target="slides/slide794.xml"/><Relationship Id="rId809" Type="http://schemas.openxmlformats.org/officeDocument/2006/relationships/slide" Target="slides/slide808.xml"/><Relationship Id="rId9" Type="http://schemas.openxmlformats.org/officeDocument/2006/relationships/slide" Target="slides/slide8.xml"/><Relationship Id="rId210" Type="http://schemas.openxmlformats.org/officeDocument/2006/relationships/slide" Target="slides/slide209.xml"/><Relationship Id="rId392" Type="http://schemas.openxmlformats.org/officeDocument/2006/relationships/slide" Target="slides/slide391.xml"/><Relationship Id="rId448" Type="http://schemas.openxmlformats.org/officeDocument/2006/relationships/slide" Target="slides/slide447.xml"/><Relationship Id="rId613" Type="http://schemas.openxmlformats.org/officeDocument/2006/relationships/slide" Target="slides/slide612.xml"/><Relationship Id="rId655" Type="http://schemas.openxmlformats.org/officeDocument/2006/relationships/slide" Target="slides/slide654.xml"/><Relationship Id="rId697" Type="http://schemas.openxmlformats.org/officeDocument/2006/relationships/slide" Target="slides/slide696.xml"/><Relationship Id="rId820" Type="http://schemas.openxmlformats.org/officeDocument/2006/relationships/slide" Target="slides/slide819.xml"/><Relationship Id="rId252" Type="http://schemas.openxmlformats.org/officeDocument/2006/relationships/slide" Target="slides/slide251.xml"/><Relationship Id="rId294" Type="http://schemas.openxmlformats.org/officeDocument/2006/relationships/slide" Target="slides/slide293.xml"/><Relationship Id="rId308" Type="http://schemas.openxmlformats.org/officeDocument/2006/relationships/slide" Target="slides/slide307.xml"/><Relationship Id="rId515" Type="http://schemas.openxmlformats.org/officeDocument/2006/relationships/slide" Target="slides/slide514.xml"/><Relationship Id="rId722" Type="http://schemas.openxmlformats.org/officeDocument/2006/relationships/slide" Target="slides/slide721.xml"/><Relationship Id="rId47" Type="http://schemas.openxmlformats.org/officeDocument/2006/relationships/slide" Target="slides/slide46.xml"/><Relationship Id="rId89" Type="http://schemas.openxmlformats.org/officeDocument/2006/relationships/slide" Target="slides/slide88.xml"/><Relationship Id="rId112" Type="http://schemas.openxmlformats.org/officeDocument/2006/relationships/slide" Target="slides/slide111.xml"/><Relationship Id="rId154" Type="http://schemas.openxmlformats.org/officeDocument/2006/relationships/slide" Target="slides/slide153.xml"/><Relationship Id="rId361" Type="http://schemas.openxmlformats.org/officeDocument/2006/relationships/slide" Target="slides/slide360.xml"/><Relationship Id="rId557" Type="http://schemas.openxmlformats.org/officeDocument/2006/relationships/slide" Target="slides/slide556.xml"/><Relationship Id="rId599" Type="http://schemas.openxmlformats.org/officeDocument/2006/relationships/slide" Target="slides/slide598.xml"/><Relationship Id="rId764" Type="http://schemas.openxmlformats.org/officeDocument/2006/relationships/slide" Target="slides/slide763.xml"/><Relationship Id="rId196" Type="http://schemas.openxmlformats.org/officeDocument/2006/relationships/slide" Target="slides/slide195.xml"/><Relationship Id="rId417" Type="http://schemas.openxmlformats.org/officeDocument/2006/relationships/slide" Target="slides/slide416.xml"/><Relationship Id="rId459" Type="http://schemas.openxmlformats.org/officeDocument/2006/relationships/slide" Target="slides/slide458.xml"/><Relationship Id="rId624" Type="http://schemas.openxmlformats.org/officeDocument/2006/relationships/slide" Target="slides/slide623.xml"/><Relationship Id="rId666" Type="http://schemas.openxmlformats.org/officeDocument/2006/relationships/slide" Target="slides/slide665.xml"/><Relationship Id="rId831" Type="http://schemas.openxmlformats.org/officeDocument/2006/relationships/slide" Target="slides/slide830.xml"/><Relationship Id="rId16" Type="http://schemas.openxmlformats.org/officeDocument/2006/relationships/slide" Target="slides/slide15.xml"/><Relationship Id="rId221" Type="http://schemas.openxmlformats.org/officeDocument/2006/relationships/slide" Target="slides/slide220.xml"/><Relationship Id="rId263" Type="http://schemas.openxmlformats.org/officeDocument/2006/relationships/slide" Target="slides/slide262.xml"/><Relationship Id="rId319" Type="http://schemas.openxmlformats.org/officeDocument/2006/relationships/slide" Target="slides/slide318.xml"/><Relationship Id="rId470" Type="http://schemas.openxmlformats.org/officeDocument/2006/relationships/slide" Target="slides/slide469.xml"/><Relationship Id="rId526" Type="http://schemas.openxmlformats.org/officeDocument/2006/relationships/slide" Target="slides/slide525.xml"/><Relationship Id="rId58" Type="http://schemas.openxmlformats.org/officeDocument/2006/relationships/slide" Target="slides/slide57.xml"/><Relationship Id="rId123" Type="http://schemas.openxmlformats.org/officeDocument/2006/relationships/slide" Target="slides/slide122.xml"/><Relationship Id="rId330" Type="http://schemas.openxmlformats.org/officeDocument/2006/relationships/slide" Target="slides/slide329.xml"/><Relationship Id="rId568" Type="http://schemas.openxmlformats.org/officeDocument/2006/relationships/slide" Target="slides/slide567.xml"/><Relationship Id="rId733" Type="http://schemas.openxmlformats.org/officeDocument/2006/relationships/slide" Target="slides/slide732.xml"/><Relationship Id="rId775" Type="http://schemas.openxmlformats.org/officeDocument/2006/relationships/slide" Target="slides/slide774.xml"/><Relationship Id="rId165" Type="http://schemas.openxmlformats.org/officeDocument/2006/relationships/slide" Target="slides/slide164.xml"/><Relationship Id="rId372" Type="http://schemas.openxmlformats.org/officeDocument/2006/relationships/slide" Target="slides/slide371.xml"/><Relationship Id="rId428" Type="http://schemas.openxmlformats.org/officeDocument/2006/relationships/slide" Target="slides/slide427.xml"/><Relationship Id="rId635" Type="http://schemas.openxmlformats.org/officeDocument/2006/relationships/slide" Target="slides/slide634.xml"/><Relationship Id="rId677" Type="http://schemas.openxmlformats.org/officeDocument/2006/relationships/slide" Target="slides/slide676.xml"/><Relationship Id="rId800" Type="http://schemas.openxmlformats.org/officeDocument/2006/relationships/slide" Target="slides/slide799.xml"/><Relationship Id="rId842" Type="http://schemas.openxmlformats.org/officeDocument/2006/relationships/slide" Target="slides/slide841.xml"/><Relationship Id="rId232" Type="http://schemas.openxmlformats.org/officeDocument/2006/relationships/slide" Target="slides/slide231.xml"/><Relationship Id="rId274" Type="http://schemas.openxmlformats.org/officeDocument/2006/relationships/slide" Target="slides/slide273.xml"/><Relationship Id="rId481" Type="http://schemas.openxmlformats.org/officeDocument/2006/relationships/slide" Target="slides/slide480.xml"/><Relationship Id="rId702" Type="http://schemas.openxmlformats.org/officeDocument/2006/relationships/slide" Target="slides/slide701.xml"/><Relationship Id="rId27" Type="http://schemas.openxmlformats.org/officeDocument/2006/relationships/slide" Target="slides/slide26.xml"/><Relationship Id="rId69" Type="http://schemas.openxmlformats.org/officeDocument/2006/relationships/slide" Target="slides/slide68.xml"/><Relationship Id="rId134" Type="http://schemas.openxmlformats.org/officeDocument/2006/relationships/slide" Target="slides/slide133.xml"/><Relationship Id="rId537" Type="http://schemas.openxmlformats.org/officeDocument/2006/relationships/slide" Target="slides/slide536.xml"/><Relationship Id="rId579" Type="http://schemas.openxmlformats.org/officeDocument/2006/relationships/slide" Target="slides/slide578.xml"/><Relationship Id="rId744" Type="http://schemas.openxmlformats.org/officeDocument/2006/relationships/slide" Target="slides/slide743.xml"/><Relationship Id="rId786" Type="http://schemas.openxmlformats.org/officeDocument/2006/relationships/slide" Target="slides/slide785.xml"/><Relationship Id="rId80" Type="http://schemas.openxmlformats.org/officeDocument/2006/relationships/slide" Target="slides/slide79.xml"/><Relationship Id="rId176" Type="http://schemas.openxmlformats.org/officeDocument/2006/relationships/slide" Target="slides/slide175.xml"/><Relationship Id="rId341" Type="http://schemas.openxmlformats.org/officeDocument/2006/relationships/slide" Target="slides/slide340.xml"/><Relationship Id="rId383" Type="http://schemas.openxmlformats.org/officeDocument/2006/relationships/slide" Target="slides/slide382.xml"/><Relationship Id="rId439" Type="http://schemas.openxmlformats.org/officeDocument/2006/relationships/slide" Target="slides/slide438.xml"/><Relationship Id="rId590" Type="http://schemas.openxmlformats.org/officeDocument/2006/relationships/slide" Target="slides/slide589.xml"/><Relationship Id="rId604" Type="http://schemas.openxmlformats.org/officeDocument/2006/relationships/slide" Target="slides/slide603.xml"/><Relationship Id="rId646" Type="http://schemas.openxmlformats.org/officeDocument/2006/relationships/slide" Target="slides/slide645.xml"/><Relationship Id="rId811" Type="http://schemas.openxmlformats.org/officeDocument/2006/relationships/slide" Target="slides/slide810.xml"/><Relationship Id="rId201" Type="http://schemas.openxmlformats.org/officeDocument/2006/relationships/slide" Target="slides/slide200.xml"/><Relationship Id="rId243" Type="http://schemas.openxmlformats.org/officeDocument/2006/relationships/slide" Target="slides/slide242.xml"/><Relationship Id="rId285" Type="http://schemas.openxmlformats.org/officeDocument/2006/relationships/slide" Target="slides/slide284.xml"/><Relationship Id="rId450" Type="http://schemas.openxmlformats.org/officeDocument/2006/relationships/slide" Target="slides/slide449.xml"/><Relationship Id="rId506" Type="http://schemas.openxmlformats.org/officeDocument/2006/relationships/slide" Target="slides/slide505.xml"/><Relationship Id="rId688" Type="http://schemas.openxmlformats.org/officeDocument/2006/relationships/slide" Target="slides/slide687.xml"/><Relationship Id="rId853" Type="http://schemas.openxmlformats.org/officeDocument/2006/relationships/slide" Target="slides/slide852.xml"/><Relationship Id="rId38" Type="http://schemas.openxmlformats.org/officeDocument/2006/relationships/slide" Target="slides/slide37.xml"/><Relationship Id="rId103" Type="http://schemas.openxmlformats.org/officeDocument/2006/relationships/slide" Target="slides/slide102.xml"/><Relationship Id="rId310" Type="http://schemas.openxmlformats.org/officeDocument/2006/relationships/slide" Target="slides/slide309.xml"/><Relationship Id="rId492" Type="http://schemas.openxmlformats.org/officeDocument/2006/relationships/slide" Target="slides/slide491.xml"/><Relationship Id="rId548" Type="http://schemas.openxmlformats.org/officeDocument/2006/relationships/slide" Target="slides/slide547.xml"/><Relationship Id="rId713" Type="http://schemas.openxmlformats.org/officeDocument/2006/relationships/slide" Target="slides/slide712.xml"/><Relationship Id="rId755" Type="http://schemas.openxmlformats.org/officeDocument/2006/relationships/slide" Target="slides/slide754.xml"/><Relationship Id="rId797" Type="http://schemas.openxmlformats.org/officeDocument/2006/relationships/slide" Target="slides/slide796.xml"/><Relationship Id="rId91" Type="http://schemas.openxmlformats.org/officeDocument/2006/relationships/slide" Target="slides/slide90.xml"/><Relationship Id="rId145" Type="http://schemas.openxmlformats.org/officeDocument/2006/relationships/slide" Target="slides/slide144.xml"/><Relationship Id="rId187" Type="http://schemas.openxmlformats.org/officeDocument/2006/relationships/slide" Target="slides/slide186.xml"/><Relationship Id="rId352" Type="http://schemas.openxmlformats.org/officeDocument/2006/relationships/slide" Target="slides/slide351.xml"/><Relationship Id="rId394" Type="http://schemas.openxmlformats.org/officeDocument/2006/relationships/slide" Target="slides/slide393.xml"/><Relationship Id="rId408" Type="http://schemas.openxmlformats.org/officeDocument/2006/relationships/slide" Target="slides/slide407.xml"/><Relationship Id="rId615" Type="http://schemas.openxmlformats.org/officeDocument/2006/relationships/slide" Target="slides/slide614.xml"/><Relationship Id="rId822" Type="http://schemas.openxmlformats.org/officeDocument/2006/relationships/slide" Target="slides/slide821.xml"/><Relationship Id="rId212" Type="http://schemas.openxmlformats.org/officeDocument/2006/relationships/slide" Target="slides/slide211.xml"/><Relationship Id="rId254" Type="http://schemas.openxmlformats.org/officeDocument/2006/relationships/slide" Target="slides/slide253.xml"/><Relationship Id="rId657" Type="http://schemas.openxmlformats.org/officeDocument/2006/relationships/slide" Target="slides/slide656.xml"/><Relationship Id="rId699" Type="http://schemas.openxmlformats.org/officeDocument/2006/relationships/slide" Target="slides/slide698.xml"/><Relationship Id="rId49" Type="http://schemas.openxmlformats.org/officeDocument/2006/relationships/slide" Target="slides/slide48.xml"/><Relationship Id="rId114" Type="http://schemas.openxmlformats.org/officeDocument/2006/relationships/slide" Target="slides/slide113.xml"/><Relationship Id="rId296" Type="http://schemas.openxmlformats.org/officeDocument/2006/relationships/slide" Target="slides/slide295.xml"/><Relationship Id="rId461" Type="http://schemas.openxmlformats.org/officeDocument/2006/relationships/slide" Target="slides/slide460.xml"/><Relationship Id="rId517" Type="http://schemas.openxmlformats.org/officeDocument/2006/relationships/slide" Target="slides/slide516.xml"/><Relationship Id="rId559" Type="http://schemas.openxmlformats.org/officeDocument/2006/relationships/slide" Target="slides/slide558.xml"/><Relationship Id="rId724" Type="http://schemas.openxmlformats.org/officeDocument/2006/relationships/slide" Target="slides/slide723.xml"/><Relationship Id="rId766" Type="http://schemas.openxmlformats.org/officeDocument/2006/relationships/slide" Target="slides/slide765.xml"/><Relationship Id="rId60" Type="http://schemas.openxmlformats.org/officeDocument/2006/relationships/slide" Target="slides/slide59.xml"/><Relationship Id="rId156" Type="http://schemas.openxmlformats.org/officeDocument/2006/relationships/slide" Target="slides/slide155.xml"/><Relationship Id="rId198" Type="http://schemas.openxmlformats.org/officeDocument/2006/relationships/slide" Target="slides/slide197.xml"/><Relationship Id="rId321" Type="http://schemas.openxmlformats.org/officeDocument/2006/relationships/slide" Target="slides/slide320.xml"/><Relationship Id="rId363" Type="http://schemas.openxmlformats.org/officeDocument/2006/relationships/slide" Target="slides/slide362.xml"/><Relationship Id="rId419" Type="http://schemas.openxmlformats.org/officeDocument/2006/relationships/slide" Target="slides/slide418.xml"/><Relationship Id="rId570" Type="http://schemas.openxmlformats.org/officeDocument/2006/relationships/slide" Target="slides/slide569.xml"/><Relationship Id="rId626" Type="http://schemas.openxmlformats.org/officeDocument/2006/relationships/slide" Target="slides/slide625.xml"/><Relationship Id="rId223" Type="http://schemas.openxmlformats.org/officeDocument/2006/relationships/slide" Target="slides/slide222.xml"/><Relationship Id="rId430" Type="http://schemas.openxmlformats.org/officeDocument/2006/relationships/slide" Target="slides/slide429.xml"/><Relationship Id="rId668" Type="http://schemas.openxmlformats.org/officeDocument/2006/relationships/slide" Target="slides/slide667.xml"/><Relationship Id="rId833" Type="http://schemas.openxmlformats.org/officeDocument/2006/relationships/slide" Target="slides/slide832.xml"/><Relationship Id="rId18" Type="http://schemas.openxmlformats.org/officeDocument/2006/relationships/slide" Target="slides/slide17.xml"/><Relationship Id="rId265" Type="http://schemas.openxmlformats.org/officeDocument/2006/relationships/slide" Target="slides/slide264.xml"/><Relationship Id="rId472" Type="http://schemas.openxmlformats.org/officeDocument/2006/relationships/slide" Target="slides/slide471.xml"/><Relationship Id="rId528" Type="http://schemas.openxmlformats.org/officeDocument/2006/relationships/slide" Target="slides/slide527.xml"/><Relationship Id="rId735" Type="http://schemas.openxmlformats.org/officeDocument/2006/relationships/slide" Target="slides/slide734.xml"/><Relationship Id="rId125" Type="http://schemas.openxmlformats.org/officeDocument/2006/relationships/slide" Target="slides/slide124.xml"/><Relationship Id="rId167" Type="http://schemas.openxmlformats.org/officeDocument/2006/relationships/slide" Target="slides/slide166.xml"/><Relationship Id="rId332" Type="http://schemas.openxmlformats.org/officeDocument/2006/relationships/slide" Target="slides/slide331.xml"/><Relationship Id="rId374" Type="http://schemas.openxmlformats.org/officeDocument/2006/relationships/slide" Target="slides/slide373.xml"/><Relationship Id="rId581" Type="http://schemas.openxmlformats.org/officeDocument/2006/relationships/slide" Target="slides/slide580.xml"/><Relationship Id="rId777" Type="http://schemas.openxmlformats.org/officeDocument/2006/relationships/slide" Target="slides/slide776.xml"/><Relationship Id="rId71" Type="http://schemas.openxmlformats.org/officeDocument/2006/relationships/slide" Target="slides/slide70.xml"/><Relationship Id="rId234" Type="http://schemas.openxmlformats.org/officeDocument/2006/relationships/slide" Target="slides/slide233.xml"/><Relationship Id="rId637" Type="http://schemas.openxmlformats.org/officeDocument/2006/relationships/slide" Target="slides/slide636.xml"/><Relationship Id="rId679" Type="http://schemas.openxmlformats.org/officeDocument/2006/relationships/slide" Target="slides/slide678.xml"/><Relationship Id="rId802" Type="http://schemas.openxmlformats.org/officeDocument/2006/relationships/slide" Target="slides/slide801.xml"/><Relationship Id="rId844" Type="http://schemas.openxmlformats.org/officeDocument/2006/relationships/slide" Target="slides/slide843.xml"/><Relationship Id="rId2" Type="http://schemas.openxmlformats.org/officeDocument/2006/relationships/slide" Target="slides/slide1.xml"/><Relationship Id="rId29" Type="http://schemas.openxmlformats.org/officeDocument/2006/relationships/slide" Target="slides/slide28.xml"/><Relationship Id="rId276" Type="http://schemas.openxmlformats.org/officeDocument/2006/relationships/slide" Target="slides/slide275.xml"/><Relationship Id="rId441" Type="http://schemas.openxmlformats.org/officeDocument/2006/relationships/slide" Target="slides/slide440.xml"/><Relationship Id="rId483" Type="http://schemas.openxmlformats.org/officeDocument/2006/relationships/slide" Target="slides/slide482.xml"/><Relationship Id="rId539" Type="http://schemas.openxmlformats.org/officeDocument/2006/relationships/slide" Target="slides/slide538.xml"/><Relationship Id="rId690" Type="http://schemas.openxmlformats.org/officeDocument/2006/relationships/slide" Target="slides/slide689.xml"/><Relationship Id="rId704" Type="http://schemas.openxmlformats.org/officeDocument/2006/relationships/slide" Target="slides/slide703.xml"/><Relationship Id="rId746" Type="http://schemas.openxmlformats.org/officeDocument/2006/relationships/slide" Target="slides/slide745.xml"/><Relationship Id="rId40" Type="http://schemas.openxmlformats.org/officeDocument/2006/relationships/slide" Target="slides/slide39.xml"/><Relationship Id="rId136" Type="http://schemas.openxmlformats.org/officeDocument/2006/relationships/slide" Target="slides/slide135.xml"/><Relationship Id="rId178" Type="http://schemas.openxmlformats.org/officeDocument/2006/relationships/slide" Target="slides/slide177.xml"/><Relationship Id="rId301" Type="http://schemas.openxmlformats.org/officeDocument/2006/relationships/slide" Target="slides/slide300.xml"/><Relationship Id="rId343" Type="http://schemas.openxmlformats.org/officeDocument/2006/relationships/slide" Target="slides/slide342.xml"/><Relationship Id="rId550" Type="http://schemas.openxmlformats.org/officeDocument/2006/relationships/slide" Target="slides/slide549.xml"/><Relationship Id="rId788" Type="http://schemas.openxmlformats.org/officeDocument/2006/relationships/slide" Target="slides/slide787.xml"/><Relationship Id="rId82" Type="http://schemas.openxmlformats.org/officeDocument/2006/relationships/slide" Target="slides/slide81.xml"/><Relationship Id="rId203" Type="http://schemas.openxmlformats.org/officeDocument/2006/relationships/slide" Target="slides/slide202.xml"/><Relationship Id="rId385" Type="http://schemas.openxmlformats.org/officeDocument/2006/relationships/slide" Target="slides/slide384.xml"/><Relationship Id="rId592" Type="http://schemas.openxmlformats.org/officeDocument/2006/relationships/slide" Target="slides/slide591.xml"/><Relationship Id="rId606" Type="http://schemas.openxmlformats.org/officeDocument/2006/relationships/slide" Target="slides/slide605.xml"/><Relationship Id="rId648" Type="http://schemas.openxmlformats.org/officeDocument/2006/relationships/slide" Target="slides/slide647.xml"/><Relationship Id="rId813" Type="http://schemas.openxmlformats.org/officeDocument/2006/relationships/slide" Target="slides/slide812.xml"/><Relationship Id="rId855" Type="http://schemas.openxmlformats.org/officeDocument/2006/relationships/slide" Target="slides/slide854.xml"/><Relationship Id="rId245" Type="http://schemas.openxmlformats.org/officeDocument/2006/relationships/slide" Target="slides/slide244.xml"/><Relationship Id="rId287" Type="http://schemas.openxmlformats.org/officeDocument/2006/relationships/slide" Target="slides/slide286.xml"/><Relationship Id="rId410" Type="http://schemas.openxmlformats.org/officeDocument/2006/relationships/slide" Target="slides/slide409.xml"/><Relationship Id="rId452" Type="http://schemas.openxmlformats.org/officeDocument/2006/relationships/slide" Target="slides/slide451.xml"/><Relationship Id="rId494" Type="http://schemas.openxmlformats.org/officeDocument/2006/relationships/slide" Target="slides/slide493.xml"/><Relationship Id="rId508" Type="http://schemas.openxmlformats.org/officeDocument/2006/relationships/slide" Target="slides/slide507.xml"/><Relationship Id="rId715" Type="http://schemas.openxmlformats.org/officeDocument/2006/relationships/slide" Target="slides/slide714.xml"/><Relationship Id="rId105" Type="http://schemas.openxmlformats.org/officeDocument/2006/relationships/slide" Target="slides/slide104.xml"/><Relationship Id="rId147" Type="http://schemas.openxmlformats.org/officeDocument/2006/relationships/slide" Target="slides/slide146.xml"/><Relationship Id="rId312" Type="http://schemas.openxmlformats.org/officeDocument/2006/relationships/slide" Target="slides/slide311.xml"/><Relationship Id="rId354" Type="http://schemas.openxmlformats.org/officeDocument/2006/relationships/slide" Target="slides/slide353.xml"/><Relationship Id="rId757" Type="http://schemas.openxmlformats.org/officeDocument/2006/relationships/slide" Target="slides/slide756.xml"/><Relationship Id="rId799" Type="http://schemas.openxmlformats.org/officeDocument/2006/relationships/slide" Target="slides/slide798.xml"/><Relationship Id="rId51" Type="http://schemas.openxmlformats.org/officeDocument/2006/relationships/slide" Target="slides/slide50.xml"/><Relationship Id="rId93" Type="http://schemas.openxmlformats.org/officeDocument/2006/relationships/slide" Target="slides/slide92.xml"/><Relationship Id="rId189" Type="http://schemas.openxmlformats.org/officeDocument/2006/relationships/slide" Target="slides/slide188.xml"/><Relationship Id="rId396" Type="http://schemas.openxmlformats.org/officeDocument/2006/relationships/slide" Target="slides/slide395.xml"/><Relationship Id="rId561" Type="http://schemas.openxmlformats.org/officeDocument/2006/relationships/slide" Target="slides/slide560.xml"/><Relationship Id="rId617" Type="http://schemas.openxmlformats.org/officeDocument/2006/relationships/slide" Target="slides/slide616.xml"/><Relationship Id="rId659" Type="http://schemas.openxmlformats.org/officeDocument/2006/relationships/slide" Target="slides/slide658.xml"/><Relationship Id="rId824" Type="http://schemas.openxmlformats.org/officeDocument/2006/relationships/slide" Target="slides/slide823.xml"/><Relationship Id="rId214" Type="http://schemas.openxmlformats.org/officeDocument/2006/relationships/slide" Target="slides/slide213.xml"/><Relationship Id="rId256" Type="http://schemas.openxmlformats.org/officeDocument/2006/relationships/slide" Target="slides/slide255.xml"/><Relationship Id="rId298" Type="http://schemas.openxmlformats.org/officeDocument/2006/relationships/slide" Target="slides/slide297.xml"/><Relationship Id="rId421" Type="http://schemas.openxmlformats.org/officeDocument/2006/relationships/slide" Target="slides/slide420.xml"/><Relationship Id="rId463" Type="http://schemas.openxmlformats.org/officeDocument/2006/relationships/slide" Target="slides/slide462.xml"/><Relationship Id="rId519" Type="http://schemas.openxmlformats.org/officeDocument/2006/relationships/slide" Target="slides/slide518.xml"/><Relationship Id="rId670" Type="http://schemas.openxmlformats.org/officeDocument/2006/relationships/slide" Target="slides/slide669.xml"/><Relationship Id="rId116" Type="http://schemas.openxmlformats.org/officeDocument/2006/relationships/slide" Target="slides/slide115.xml"/><Relationship Id="rId158" Type="http://schemas.openxmlformats.org/officeDocument/2006/relationships/slide" Target="slides/slide157.xml"/><Relationship Id="rId323" Type="http://schemas.openxmlformats.org/officeDocument/2006/relationships/slide" Target="slides/slide322.xml"/><Relationship Id="rId530" Type="http://schemas.openxmlformats.org/officeDocument/2006/relationships/slide" Target="slides/slide529.xml"/><Relationship Id="rId726" Type="http://schemas.openxmlformats.org/officeDocument/2006/relationships/slide" Target="slides/slide725.xml"/><Relationship Id="rId768" Type="http://schemas.openxmlformats.org/officeDocument/2006/relationships/slide" Target="slides/slide767.xml"/><Relationship Id="rId20" Type="http://schemas.openxmlformats.org/officeDocument/2006/relationships/slide" Target="slides/slide19.xml"/><Relationship Id="rId62" Type="http://schemas.openxmlformats.org/officeDocument/2006/relationships/slide" Target="slides/slide61.xml"/><Relationship Id="rId365" Type="http://schemas.openxmlformats.org/officeDocument/2006/relationships/slide" Target="slides/slide364.xml"/><Relationship Id="rId572" Type="http://schemas.openxmlformats.org/officeDocument/2006/relationships/slide" Target="slides/slide571.xml"/><Relationship Id="rId628" Type="http://schemas.openxmlformats.org/officeDocument/2006/relationships/slide" Target="slides/slide627.xml"/><Relationship Id="rId835" Type="http://schemas.openxmlformats.org/officeDocument/2006/relationships/slide" Target="slides/slide834.xml"/><Relationship Id="rId225" Type="http://schemas.openxmlformats.org/officeDocument/2006/relationships/slide" Target="slides/slide224.xml"/><Relationship Id="rId267" Type="http://schemas.openxmlformats.org/officeDocument/2006/relationships/slide" Target="slides/slide266.xml"/><Relationship Id="rId432" Type="http://schemas.openxmlformats.org/officeDocument/2006/relationships/slide" Target="slides/slide431.xml"/><Relationship Id="rId474" Type="http://schemas.openxmlformats.org/officeDocument/2006/relationships/slide" Target="slides/slide473.xml"/><Relationship Id="rId127" Type="http://schemas.openxmlformats.org/officeDocument/2006/relationships/slide" Target="slides/slide126.xml"/><Relationship Id="rId681" Type="http://schemas.openxmlformats.org/officeDocument/2006/relationships/slide" Target="slides/slide680.xml"/><Relationship Id="rId737" Type="http://schemas.openxmlformats.org/officeDocument/2006/relationships/slide" Target="slides/slide736.xml"/><Relationship Id="rId779" Type="http://schemas.openxmlformats.org/officeDocument/2006/relationships/slide" Target="slides/slide778.xml"/><Relationship Id="rId31" Type="http://schemas.openxmlformats.org/officeDocument/2006/relationships/slide" Target="slides/slide30.xml"/><Relationship Id="rId73" Type="http://schemas.openxmlformats.org/officeDocument/2006/relationships/slide" Target="slides/slide72.xml"/><Relationship Id="rId169" Type="http://schemas.openxmlformats.org/officeDocument/2006/relationships/slide" Target="slides/slide168.xml"/><Relationship Id="rId334" Type="http://schemas.openxmlformats.org/officeDocument/2006/relationships/slide" Target="slides/slide333.xml"/><Relationship Id="rId376" Type="http://schemas.openxmlformats.org/officeDocument/2006/relationships/slide" Target="slides/slide375.xml"/><Relationship Id="rId541" Type="http://schemas.openxmlformats.org/officeDocument/2006/relationships/slide" Target="slides/slide540.xml"/><Relationship Id="rId583" Type="http://schemas.openxmlformats.org/officeDocument/2006/relationships/slide" Target="slides/slide582.xml"/><Relationship Id="rId639" Type="http://schemas.openxmlformats.org/officeDocument/2006/relationships/slide" Target="slides/slide638.xml"/><Relationship Id="rId790" Type="http://schemas.openxmlformats.org/officeDocument/2006/relationships/slide" Target="slides/slide789.xml"/><Relationship Id="rId804" Type="http://schemas.openxmlformats.org/officeDocument/2006/relationships/slide" Target="slides/slide803.xml"/><Relationship Id="rId4" Type="http://schemas.openxmlformats.org/officeDocument/2006/relationships/slide" Target="slides/slide3.xml"/><Relationship Id="rId180" Type="http://schemas.openxmlformats.org/officeDocument/2006/relationships/slide" Target="slides/slide179.xml"/><Relationship Id="rId236" Type="http://schemas.openxmlformats.org/officeDocument/2006/relationships/slide" Target="slides/slide235.xml"/><Relationship Id="rId278" Type="http://schemas.openxmlformats.org/officeDocument/2006/relationships/slide" Target="slides/slide277.xml"/><Relationship Id="rId401" Type="http://schemas.openxmlformats.org/officeDocument/2006/relationships/slide" Target="slides/slide400.xml"/><Relationship Id="rId443" Type="http://schemas.openxmlformats.org/officeDocument/2006/relationships/slide" Target="slides/slide442.xml"/><Relationship Id="rId650" Type="http://schemas.openxmlformats.org/officeDocument/2006/relationships/slide" Target="slides/slide649.xml"/><Relationship Id="rId846" Type="http://schemas.openxmlformats.org/officeDocument/2006/relationships/slide" Target="slides/slide845.xml"/><Relationship Id="rId303" Type="http://schemas.openxmlformats.org/officeDocument/2006/relationships/slide" Target="slides/slide302.xml"/><Relationship Id="rId485" Type="http://schemas.openxmlformats.org/officeDocument/2006/relationships/slide" Target="slides/slide484.xml"/><Relationship Id="rId692" Type="http://schemas.openxmlformats.org/officeDocument/2006/relationships/slide" Target="slides/slide691.xml"/><Relationship Id="rId706" Type="http://schemas.openxmlformats.org/officeDocument/2006/relationships/slide" Target="slides/slide705.xml"/><Relationship Id="rId748" Type="http://schemas.openxmlformats.org/officeDocument/2006/relationships/slide" Target="slides/slide74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345" Type="http://schemas.openxmlformats.org/officeDocument/2006/relationships/slide" Target="slides/slide344.xml"/><Relationship Id="rId387" Type="http://schemas.openxmlformats.org/officeDocument/2006/relationships/slide" Target="slides/slide386.xml"/><Relationship Id="rId510" Type="http://schemas.openxmlformats.org/officeDocument/2006/relationships/slide" Target="slides/slide509.xml"/><Relationship Id="rId552" Type="http://schemas.openxmlformats.org/officeDocument/2006/relationships/slide" Target="slides/slide551.xml"/><Relationship Id="rId594" Type="http://schemas.openxmlformats.org/officeDocument/2006/relationships/slide" Target="slides/slide593.xml"/><Relationship Id="rId608" Type="http://schemas.openxmlformats.org/officeDocument/2006/relationships/slide" Target="slides/slide607.xml"/><Relationship Id="rId815" Type="http://schemas.openxmlformats.org/officeDocument/2006/relationships/slide" Target="slides/slide814.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412" Type="http://schemas.openxmlformats.org/officeDocument/2006/relationships/slide" Target="slides/slide411.xml"/><Relationship Id="rId857" Type="http://schemas.openxmlformats.org/officeDocument/2006/relationships/notesMaster" Target="notesMasters/notesMaster1.xml"/><Relationship Id="rId107" Type="http://schemas.openxmlformats.org/officeDocument/2006/relationships/slide" Target="slides/slide106.xml"/><Relationship Id="rId289" Type="http://schemas.openxmlformats.org/officeDocument/2006/relationships/slide" Target="slides/slide288.xml"/><Relationship Id="rId454" Type="http://schemas.openxmlformats.org/officeDocument/2006/relationships/slide" Target="slides/slide453.xml"/><Relationship Id="rId496" Type="http://schemas.openxmlformats.org/officeDocument/2006/relationships/slide" Target="slides/slide495.xml"/><Relationship Id="rId661" Type="http://schemas.openxmlformats.org/officeDocument/2006/relationships/slide" Target="slides/slide660.xml"/><Relationship Id="rId717" Type="http://schemas.openxmlformats.org/officeDocument/2006/relationships/slide" Target="slides/slide716.xml"/><Relationship Id="rId759" Type="http://schemas.openxmlformats.org/officeDocument/2006/relationships/slide" Target="slides/slide758.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314" Type="http://schemas.openxmlformats.org/officeDocument/2006/relationships/slide" Target="slides/slide313.xml"/><Relationship Id="rId356" Type="http://schemas.openxmlformats.org/officeDocument/2006/relationships/slide" Target="slides/slide355.xml"/><Relationship Id="rId398" Type="http://schemas.openxmlformats.org/officeDocument/2006/relationships/slide" Target="slides/slide397.xml"/><Relationship Id="rId521" Type="http://schemas.openxmlformats.org/officeDocument/2006/relationships/slide" Target="slides/slide520.xml"/><Relationship Id="rId563" Type="http://schemas.openxmlformats.org/officeDocument/2006/relationships/slide" Target="slides/slide562.xml"/><Relationship Id="rId619" Type="http://schemas.openxmlformats.org/officeDocument/2006/relationships/slide" Target="slides/slide618.xml"/><Relationship Id="rId770" Type="http://schemas.openxmlformats.org/officeDocument/2006/relationships/slide" Target="slides/slide769.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423" Type="http://schemas.openxmlformats.org/officeDocument/2006/relationships/slide" Target="slides/slide422.xml"/><Relationship Id="rId826" Type="http://schemas.openxmlformats.org/officeDocument/2006/relationships/slide" Target="slides/slide825.xml"/><Relationship Id="rId258" Type="http://schemas.openxmlformats.org/officeDocument/2006/relationships/slide" Target="slides/slide257.xml"/><Relationship Id="rId465" Type="http://schemas.openxmlformats.org/officeDocument/2006/relationships/slide" Target="slides/slide464.xml"/><Relationship Id="rId630" Type="http://schemas.openxmlformats.org/officeDocument/2006/relationships/slide" Target="slides/slide629.xml"/><Relationship Id="rId672" Type="http://schemas.openxmlformats.org/officeDocument/2006/relationships/slide" Target="slides/slide671.xml"/><Relationship Id="rId728" Type="http://schemas.openxmlformats.org/officeDocument/2006/relationships/slide" Target="slides/slide72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325" Type="http://schemas.openxmlformats.org/officeDocument/2006/relationships/slide" Target="slides/slide324.xml"/><Relationship Id="rId367" Type="http://schemas.openxmlformats.org/officeDocument/2006/relationships/slide" Target="slides/slide366.xml"/><Relationship Id="rId532" Type="http://schemas.openxmlformats.org/officeDocument/2006/relationships/slide" Target="slides/slide531.xml"/><Relationship Id="rId574" Type="http://schemas.openxmlformats.org/officeDocument/2006/relationships/slide" Target="slides/slide573.xml"/><Relationship Id="rId171" Type="http://schemas.openxmlformats.org/officeDocument/2006/relationships/slide" Target="slides/slide170.xml"/><Relationship Id="rId227" Type="http://schemas.openxmlformats.org/officeDocument/2006/relationships/slide" Target="slides/slide226.xml"/><Relationship Id="rId781" Type="http://schemas.openxmlformats.org/officeDocument/2006/relationships/slide" Target="slides/slide780.xml"/><Relationship Id="rId837" Type="http://schemas.openxmlformats.org/officeDocument/2006/relationships/slide" Target="slides/slide836.xml"/><Relationship Id="rId269" Type="http://schemas.openxmlformats.org/officeDocument/2006/relationships/slide" Target="slides/slide268.xml"/><Relationship Id="rId434" Type="http://schemas.openxmlformats.org/officeDocument/2006/relationships/slide" Target="slides/slide433.xml"/><Relationship Id="rId476" Type="http://schemas.openxmlformats.org/officeDocument/2006/relationships/slide" Target="slides/slide475.xml"/><Relationship Id="rId641" Type="http://schemas.openxmlformats.org/officeDocument/2006/relationships/slide" Target="slides/slide640.xml"/><Relationship Id="rId683" Type="http://schemas.openxmlformats.org/officeDocument/2006/relationships/slide" Target="slides/slide682.xml"/><Relationship Id="rId739" Type="http://schemas.openxmlformats.org/officeDocument/2006/relationships/slide" Target="slides/slide738.xml"/><Relationship Id="rId33" Type="http://schemas.openxmlformats.org/officeDocument/2006/relationships/slide" Target="slides/slide32.xml"/><Relationship Id="rId129" Type="http://schemas.openxmlformats.org/officeDocument/2006/relationships/slide" Target="slides/slide128.xml"/><Relationship Id="rId280" Type="http://schemas.openxmlformats.org/officeDocument/2006/relationships/slide" Target="slides/slide279.xml"/><Relationship Id="rId336" Type="http://schemas.openxmlformats.org/officeDocument/2006/relationships/slide" Target="slides/slide335.xml"/><Relationship Id="rId501" Type="http://schemas.openxmlformats.org/officeDocument/2006/relationships/slide" Target="slides/slide500.xml"/><Relationship Id="rId543" Type="http://schemas.openxmlformats.org/officeDocument/2006/relationships/slide" Target="slides/slide542.xml"/><Relationship Id="rId75" Type="http://schemas.openxmlformats.org/officeDocument/2006/relationships/slide" Target="slides/slide74.xml"/><Relationship Id="rId140" Type="http://schemas.openxmlformats.org/officeDocument/2006/relationships/slide" Target="slides/slide139.xml"/><Relationship Id="rId182" Type="http://schemas.openxmlformats.org/officeDocument/2006/relationships/slide" Target="slides/slide181.xml"/><Relationship Id="rId378" Type="http://schemas.openxmlformats.org/officeDocument/2006/relationships/slide" Target="slides/slide377.xml"/><Relationship Id="rId403" Type="http://schemas.openxmlformats.org/officeDocument/2006/relationships/slide" Target="slides/slide402.xml"/><Relationship Id="rId585" Type="http://schemas.openxmlformats.org/officeDocument/2006/relationships/slide" Target="slides/slide584.xml"/><Relationship Id="rId750" Type="http://schemas.openxmlformats.org/officeDocument/2006/relationships/slide" Target="slides/slide749.xml"/><Relationship Id="rId792" Type="http://schemas.openxmlformats.org/officeDocument/2006/relationships/slide" Target="slides/slide791.xml"/><Relationship Id="rId806" Type="http://schemas.openxmlformats.org/officeDocument/2006/relationships/slide" Target="slides/slide805.xml"/><Relationship Id="rId848" Type="http://schemas.openxmlformats.org/officeDocument/2006/relationships/slide" Target="slides/slide847.xml"/><Relationship Id="rId6" Type="http://schemas.openxmlformats.org/officeDocument/2006/relationships/slide" Target="slides/slide5.xml"/><Relationship Id="rId238" Type="http://schemas.openxmlformats.org/officeDocument/2006/relationships/slide" Target="slides/slide237.xml"/><Relationship Id="rId445" Type="http://schemas.openxmlformats.org/officeDocument/2006/relationships/slide" Target="slides/slide444.xml"/><Relationship Id="rId487" Type="http://schemas.openxmlformats.org/officeDocument/2006/relationships/slide" Target="slides/slide486.xml"/><Relationship Id="rId610" Type="http://schemas.openxmlformats.org/officeDocument/2006/relationships/slide" Target="slides/slide609.xml"/><Relationship Id="rId652" Type="http://schemas.openxmlformats.org/officeDocument/2006/relationships/slide" Target="slides/slide651.xml"/><Relationship Id="rId694" Type="http://schemas.openxmlformats.org/officeDocument/2006/relationships/slide" Target="slides/slide693.xml"/><Relationship Id="rId708" Type="http://schemas.openxmlformats.org/officeDocument/2006/relationships/slide" Target="slides/slide707.xml"/><Relationship Id="rId291" Type="http://schemas.openxmlformats.org/officeDocument/2006/relationships/slide" Target="slides/slide290.xml"/><Relationship Id="rId305" Type="http://schemas.openxmlformats.org/officeDocument/2006/relationships/slide" Target="slides/slide304.xml"/><Relationship Id="rId347" Type="http://schemas.openxmlformats.org/officeDocument/2006/relationships/slide" Target="slides/slide346.xml"/><Relationship Id="rId512" Type="http://schemas.openxmlformats.org/officeDocument/2006/relationships/slide" Target="slides/slide511.xml"/><Relationship Id="rId44" Type="http://schemas.openxmlformats.org/officeDocument/2006/relationships/slide" Target="slides/slide43.xml"/><Relationship Id="rId86" Type="http://schemas.openxmlformats.org/officeDocument/2006/relationships/slide" Target="slides/slide85.xml"/><Relationship Id="rId151" Type="http://schemas.openxmlformats.org/officeDocument/2006/relationships/slide" Target="slides/slide150.xml"/><Relationship Id="rId389" Type="http://schemas.openxmlformats.org/officeDocument/2006/relationships/slide" Target="slides/slide388.xml"/><Relationship Id="rId554" Type="http://schemas.openxmlformats.org/officeDocument/2006/relationships/slide" Target="slides/slide553.xml"/><Relationship Id="rId596" Type="http://schemas.openxmlformats.org/officeDocument/2006/relationships/slide" Target="slides/slide595.xml"/><Relationship Id="rId761" Type="http://schemas.openxmlformats.org/officeDocument/2006/relationships/slide" Target="slides/slide760.xml"/><Relationship Id="rId817" Type="http://schemas.openxmlformats.org/officeDocument/2006/relationships/slide" Target="slides/slide816.xml"/><Relationship Id="rId859" Type="http://schemas.openxmlformats.org/officeDocument/2006/relationships/viewProps" Target="viewProps.xml"/><Relationship Id="rId193" Type="http://schemas.openxmlformats.org/officeDocument/2006/relationships/slide" Target="slides/slide192.xml"/><Relationship Id="rId207" Type="http://schemas.openxmlformats.org/officeDocument/2006/relationships/slide" Target="slides/slide206.xml"/><Relationship Id="rId249" Type="http://schemas.openxmlformats.org/officeDocument/2006/relationships/slide" Target="slides/slide248.xml"/><Relationship Id="rId414" Type="http://schemas.openxmlformats.org/officeDocument/2006/relationships/slide" Target="slides/slide413.xml"/><Relationship Id="rId456" Type="http://schemas.openxmlformats.org/officeDocument/2006/relationships/slide" Target="slides/slide455.xml"/><Relationship Id="rId498" Type="http://schemas.openxmlformats.org/officeDocument/2006/relationships/slide" Target="slides/slide497.xml"/><Relationship Id="rId621" Type="http://schemas.openxmlformats.org/officeDocument/2006/relationships/slide" Target="slides/slide620.xml"/><Relationship Id="rId663" Type="http://schemas.openxmlformats.org/officeDocument/2006/relationships/slide" Target="slides/slide662.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316" Type="http://schemas.openxmlformats.org/officeDocument/2006/relationships/slide" Target="slides/slide315.xml"/><Relationship Id="rId523" Type="http://schemas.openxmlformats.org/officeDocument/2006/relationships/slide" Target="slides/slide522.xml"/><Relationship Id="rId719" Type="http://schemas.openxmlformats.org/officeDocument/2006/relationships/slide" Target="slides/slide718.xml"/><Relationship Id="rId55" Type="http://schemas.openxmlformats.org/officeDocument/2006/relationships/slide" Target="slides/slide54.xml"/><Relationship Id="rId97" Type="http://schemas.openxmlformats.org/officeDocument/2006/relationships/slide" Target="slides/slide96.xml"/><Relationship Id="rId120" Type="http://schemas.openxmlformats.org/officeDocument/2006/relationships/slide" Target="slides/slide119.xml"/><Relationship Id="rId358" Type="http://schemas.openxmlformats.org/officeDocument/2006/relationships/slide" Target="slides/slide357.xml"/><Relationship Id="rId565" Type="http://schemas.openxmlformats.org/officeDocument/2006/relationships/slide" Target="slides/slide564.xml"/><Relationship Id="rId730" Type="http://schemas.openxmlformats.org/officeDocument/2006/relationships/slide" Target="slides/slide729.xml"/><Relationship Id="rId772" Type="http://schemas.openxmlformats.org/officeDocument/2006/relationships/slide" Target="slides/slide771.xml"/><Relationship Id="rId828" Type="http://schemas.openxmlformats.org/officeDocument/2006/relationships/slide" Target="slides/slide827.xml"/><Relationship Id="rId162" Type="http://schemas.openxmlformats.org/officeDocument/2006/relationships/slide" Target="slides/slide161.xml"/><Relationship Id="rId218" Type="http://schemas.openxmlformats.org/officeDocument/2006/relationships/slide" Target="slides/slide217.xml"/><Relationship Id="rId425" Type="http://schemas.openxmlformats.org/officeDocument/2006/relationships/slide" Target="slides/slide424.xml"/><Relationship Id="rId467" Type="http://schemas.openxmlformats.org/officeDocument/2006/relationships/slide" Target="slides/slide466.xml"/><Relationship Id="rId632" Type="http://schemas.openxmlformats.org/officeDocument/2006/relationships/slide" Target="slides/slide631.xml"/><Relationship Id="rId271" Type="http://schemas.openxmlformats.org/officeDocument/2006/relationships/slide" Target="slides/slide270.xml"/><Relationship Id="rId674" Type="http://schemas.openxmlformats.org/officeDocument/2006/relationships/slide" Target="slides/slide673.xml"/><Relationship Id="rId24" Type="http://schemas.openxmlformats.org/officeDocument/2006/relationships/slide" Target="slides/slide23.xml"/><Relationship Id="rId66" Type="http://schemas.openxmlformats.org/officeDocument/2006/relationships/slide" Target="slides/slide65.xml"/><Relationship Id="rId131" Type="http://schemas.openxmlformats.org/officeDocument/2006/relationships/slide" Target="slides/slide130.xml"/><Relationship Id="rId327" Type="http://schemas.openxmlformats.org/officeDocument/2006/relationships/slide" Target="slides/slide326.xml"/><Relationship Id="rId369" Type="http://schemas.openxmlformats.org/officeDocument/2006/relationships/slide" Target="slides/slide368.xml"/><Relationship Id="rId534" Type="http://schemas.openxmlformats.org/officeDocument/2006/relationships/slide" Target="slides/slide533.xml"/><Relationship Id="rId576" Type="http://schemas.openxmlformats.org/officeDocument/2006/relationships/slide" Target="slides/slide575.xml"/><Relationship Id="rId741" Type="http://schemas.openxmlformats.org/officeDocument/2006/relationships/slide" Target="slides/slide740.xml"/><Relationship Id="rId783" Type="http://schemas.openxmlformats.org/officeDocument/2006/relationships/slide" Target="slides/slide782.xml"/><Relationship Id="rId839" Type="http://schemas.openxmlformats.org/officeDocument/2006/relationships/slide" Target="slides/slide838.xml"/><Relationship Id="rId173" Type="http://schemas.openxmlformats.org/officeDocument/2006/relationships/slide" Target="slides/slide172.xml"/><Relationship Id="rId229" Type="http://schemas.openxmlformats.org/officeDocument/2006/relationships/slide" Target="slides/slide228.xml"/><Relationship Id="rId380" Type="http://schemas.openxmlformats.org/officeDocument/2006/relationships/slide" Target="slides/slide379.xml"/><Relationship Id="rId436" Type="http://schemas.openxmlformats.org/officeDocument/2006/relationships/slide" Target="slides/slide435.xml"/><Relationship Id="rId601" Type="http://schemas.openxmlformats.org/officeDocument/2006/relationships/slide" Target="slides/slide600.xml"/><Relationship Id="rId643" Type="http://schemas.openxmlformats.org/officeDocument/2006/relationships/slide" Target="slides/slide642.xml"/><Relationship Id="rId240" Type="http://schemas.openxmlformats.org/officeDocument/2006/relationships/slide" Target="slides/slide239.xml"/><Relationship Id="rId478" Type="http://schemas.openxmlformats.org/officeDocument/2006/relationships/slide" Target="slides/slide477.xml"/><Relationship Id="rId685" Type="http://schemas.openxmlformats.org/officeDocument/2006/relationships/slide" Target="slides/slide684.xml"/><Relationship Id="rId850" Type="http://schemas.openxmlformats.org/officeDocument/2006/relationships/slide" Target="slides/slide849.xml"/><Relationship Id="rId35" Type="http://schemas.openxmlformats.org/officeDocument/2006/relationships/slide" Target="slides/slide34.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338" Type="http://schemas.openxmlformats.org/officeDocument/2006/relationships/slide" Target="slides/slide337.xml"/><Relationship Id="rId503" Type="http://schemas.openxmlformats.org/officeDocument/2006/relationships/slide" Target="slides/slide502.xml"/><Relationship Id="rId545" Type="http://schemas.openxmlformats.org/officeDocument/2006/relationships/slide" Target="slides/slide544.xml"/><Relationship Id="rId587" Type="http://schemas.openxmlformats.org/officeDocument/2006/relationships/slide" Target="slides/slide586.xml"/><Relationship Id="rId710" Type="http://schemas.openxmlformats.org/officeDocument/2006/relationships/slide" Target="slides/slide709.xml"/><Relationship Id="rId752" Type="http://schemas.openxmlformats.org/officeDocument/2006/relationships/slide" Target="slides/slide751.xml"/><Relationship Id="rId808" Type="http://schemas.openxmlformats.org/officeDocument/2006/relationships/slide" Target="slides/slide807.xml"/><Relationship Id="rId8" Type="http://schemas.openxmlformats.org/officeDocument/2006/relationships/slide" Target="slides/slide7.xml"/><Relationship Id="rId142" Type="http://schemas.openxmlformats.org/officeDocument/2006/relationships/slide" Target="slides/slide141.xml"/><Relationship Id="rId184" Type="http://schemas.openxmlformats.org/officeDocument/2006/relationships/slide" Target="slides/slide183.xml"/><Relationship Id="rId391" Type="http://schemas.openxmlformats.org/officeDocument/2006/relationships/slide" Target="slides/slide390.xml"/><Relationship Id="rId405" Type="http://schemas.openxmlformats.org/officeDocument/2006/relationships/slide" Target="slides/slide404.xml"/><Relationship Id="rId447" Type="http://schemas.openxmlformats.org/officeDocument/2006/relationships/slide" Target="slides/slide446.xml"/><Relationship Id="rId612" Type="http://schemas.openxmlformats.org/officeDocument/2006/relationships/slide" Target="slides/slide611.xml"/><Relationship Id="rId794" Type="http://schemas.openxmlformats.org/officeDocument/2006/relationships/slide" Target="slides/slide793.xml"/><Relationship Id="rId251" Type="http://schemas.openxmlformats.org/officeDocument/2006/relationships/slide" Target="slides/slide250.xml"/><Relationship Id="rId489" Type="http://schemas.openxmlformats.org/officeDocument/2006/relationships/slide" Target="slides/slide488.xml"/><Relationship Id="rId654" Type="http://schemas.openxmlformats.org/officeDocument/2006/relationships/slide" Target="slides/slide653.xml"/><Relationship Id="rId696" Type="http://schemas.openxmlformats.org/officeDocument/2006/relationships/slide" Target="slides/slide695.xml"/><Relationship Id="rId861" Type="http://schemas.openxmlformats.org/officeDocument/2006/relationships/tableStyles" Target="tableStyles.xml"/><Relationship Id="rId46" Type="http://schemas.openxmlformats.org/officeDocument/2006/relationships/slide" Target="slides/slide45.xml"/><Relationship Id="rId293" Type="http://schemas.openxmlformats.org/officeDocument/2006/relationships/slide" Target="slides/slide292.xml"/><Relationship Id="rId307" Type="http://schemas.openxmlformats.org/officeDocument/2006/relationships/slide" Target="slides/slide306.xml"/><Relationship Id="rId349" Type="http://schemas.openxmlformats.org/officeDocument/2006/relationships/slide" Target="slides/slide348.xml"/><Relationship Id="rId514" Type="http://schemas.openxmlformats.org/officeDocument/2006/relationships/slide" Target="slides/slide513.xml"/><Relationship Id="rId556" Type="http://schemas.openxmlformats.org/officeDocument/2006/relationships/slide" Target="slides/slide555.xml"/><Relationship Id="rId721" Type="http://schemas.openxmlformats.org/officeDocument/2006/relationships/slide" Target="slides/slide720.xml"/><Relationship Id="rId763" Type="http://schemas.openxmlformats.org/officeDocument/2006/relationships/slide" Target="slides/slide762.xml"/><Relationship Id="rId88" Type="http://schemas.openxmlformats.org/officeDocument/2006/relationships/slide" Target="slides/slide87.xml"/><Relationship Id="rId111" Type="http://schemas.openxmlformats.org/officeDocument/2006/relationships/slide" Target="slides/slide110.xml"/><Relationship Id="rId153" Type="http://schemas.openxmlformats.org/officeDocument/2006/relationships/slide" Target="slides/slide152.xml"/><Relationship Id="rId195" Type="http://schemas.openxmlformats.org/officeDocument/2006/relationships/slide" Target="slides/slide194.xml"/><Relationship Id="rId209" Type="http://schemas.openxmlformats.org/officeDocument/2006/relationships/slide" Target="slides/slide208.xml"/><Relationship Id="rId360" Type="http://schemas.openxmlformats.org/officeDocument/2006/relationships/slide" Target="slides/slide359.xml"/><Relationship Id="rId416" Type="http://schemas.openxmlformats.org/officeDocument/2006/relationships/slide" Target="slides/slide415.xml"/><Relationship Id="rId598" Type="http://schemas.openxmlformats.org/officeDocument/2006/relationships/slide" Target="slides/slide597.xml"/><Relationship Id="rId819" Type="http://schemas.openxmlformats.org/officeDocument/2006/relationships/slide" Target="slides/slide818.xml"/><Relationship Id="rId220" Type="http://schemas.openxmlformats.org/officeDocument/2006/relationships/slide" Target="slides/slide219.xml"/><Relationship Id="rId458" Type="http://schemas.openxmlformats.org/officeDocument/2006/relationships/slide" Target="slides/slide457.xml"/><Relationship Id="rId623" Type="http://schemas.openxmlformats.org/officeDocument/2006/relationships/slide" Target="slides/slide622.xml"/><Relationship Id="rId665" Type="http://schemas.openxmlformats.org/officeDocument/2006/relationships/slide" Target="slides/slide664.xml"/><Relationship Id="rId830" Type="http://schemas.openxmlformats.org/officeDocument/2006/relationships/slide" Target="slides/slide829.xml"/><Relationship Id="rId15" Type="http://schemas.openxmlformats.org/officeDocument/2006/relationships/slide" Target="slides/slide14.xml"/><Relationship Id="rId57" Type="http://schemas.openxmlformats.org/officeDocument/2006/relationships/slide" Target="slides/slide56.xml"/><Relationship Id="rId262" Type="http://schemas.openxmlformats.org/officeDocument/2006/relationships/slide" Target="slides/slide261.xml"/><Relationship Id="rId318" Type="http://schemas.openxmlformats.org/officeDocument/2006/relationships/slide" Target="slides/slide317.xml"/><Relationship Id="rId525" Type="http://schemas.openxmlformats.org/officeDocument/2006/relationships/slide" Target="slides/slide524.xml"/><Relationship Id="rId567" Type="http://schemas.openxmlformats.org/officeDocument/2006/relationships/slide" Target="slides/slide566.xml"/><Relationship Id="rId732" Type="http://schemas.openxmlformats.org/officeDocument/2006/relationships/slide" Target="slides/slide731.xml"/><Relationship Id="rId99" Type="http://schemas.openxmlformats.org/officeDocument/2006/relationships/slide" Target="slides/slide98.xml"/><Relationship Id="rId122" Type="http://schemas.openxmlformats.org/officeDocument/2006/relationships/slide" Target="slides/slide121.xml"/><Relationship Id="rId164" Type="http://schemas.openxmlformats.org/officeDocument/2006/relationships/slide" Target="slides/slide163.xml"/><Relationship Id="rId371" Type="http://schemas.openxmlformats.org/officeDocument/2006/relationships/slide" Target="slides/slide370.xml"/><Relationship Id="rId774" Type="http://schemas.openxmlformats.org/officeDocument/2006/relationships/slide" Target="slides/slide773.xml"/><Relationship Id="rId427" Type="http://schemas.openxmlformats.org/officeDocument/2006/relationships/slide" Target="slides/slide426.xml"/><Relationship Id="rId469" Type="http://schemas.openxmlformats.org/officeDocument/2006/relationships/slide" Target="slides/slide468.xml"/><Relationship Id="rId634" Type="http://schemas.openxmlformats.org/officeDocument/2006/relationships/slide" Target="slides/slide633.xml"/><Relationship Id="rId676" Type="http://schemas.openxmlformats.org/officeDocument/2006/relationships/slide" Target="slides/slide675.xml"/><Relationship Id="rId841" Type="http://schemas.openxmlformats.org/officeDocument/2006/relationships/slide" Target="slides/slide840.xml"/><Relationship Id="rId26" Type="http://schemas.openxmlformats.org/officeDocument/2006/relationships/slide" Target="slides/slide25.xml"/><Relationship Id="rId231" Type="http://schemas.openxmlformats.org/officeDocument/2006/relationships/slide" Target="slides/slide230.xml"/><Relationship Id="rId273" Type="http://schemas.openxmlformats.org/officeDocument/2006/relationships/slide" Target="slides/slide272.xml"/><Relationship Id="rId329" Type="http://schemas.openxmlformats.org/officeDocument/2006/relationships/slide" Target="slides/slide328.xml"/><Relationship Id="rId480" Type="http://schemas.openxmlformats.org/officeDocument/2006/relationships/slide" Target="slides/slide479.xml"/><Relationship Id="rId536" Type="http://schemas.openxmlformats.org/officeDocument/2006/relationships/slide" Target="slides/slide535.xml"/><Relationship Id="rId701" Type="http://schemas.openxmlformats.org/officeDocument/2006/relationships/slide" Target="slides/slide700.xml"/><Relationship Id="rId68" Type="http://schemas.openxmlformats.org/officeDocument/2006/relationships/slide" Target="slides/slide67.xml"/><Relationship Id="rId133" Type="http://schemas.openxmlformats.org/officeDocument/2006/relationships/slide" Target="slides/slide132.xml"/><Relationship Id="rId175" Type="http://schemas.openxmlformats.org/officeDocument/2006/relationships/slide" Target="slides/slide174.xml"/><Relationship Id="rId340" Type="http://schemas.openxmlformats.org/officeDocument/2006/relationships/slide" Target="slides/slide339.xml"/><Relationship Id="rId578" Type="http://schemas.openxmlformats.org/officeDocument/2006/relationships/slide" Target="slides/slide577.xml"/><Relationship Id="rId743" Type="http://schemas.openxmlformats.org/officeDocument/2006/relationships/slide" Target="slides/slide742.xml"/><Relationship Id="rId785" Type="http://schemas.openxmlformats.org/officeDocument/2006/relationships/slide" Target="slides/slide784.xml"/><Relationship Id="rId200" Type="http://schemas.openxmlformats.org/officeDocument/2006/relationships/slide" Target="slides/slide199.xml"/><Relationship Id="rId382" Type="http://schemas.openxmlformats.org/officeDocument/2006/relationships/slide" Target="slides/slide381.xml"/><Relationship Id="rId438" Type="http://schemas.openxmlformats.org/officeDocument/2006/relationships/slide" Target="slides/slide437.xml"/><Relationship Id="rId603" Type="http://schemas.openxmlformats.org/officeDocument/2006/relationships/slide" Target="slides/slide602.xml"/><Relationship Id="rId645" Type="http://schemas.openxmlformats.org/officeDocument/2006/relationships/slide" Target="slides/slide644.xml"/><Relationship Id="rId687" Type="http://schemas.openxmlformats.org/officeDocument/2006/relationships/slide" Target="slides/slide686.xml"/><Relationship Id="rId810" Type="http://schemas.openxmlformats.org/officeDocument/2006/relationships/slide" Target="slides/slide809.xml"/><Relationship Id="rId852" Type="http://schemas.openxmlformats.org/officeDocument/2006/relationships/slide" Target="slides/slide851.xml"/><Relationship Id="rId242" Type="http://schemas.openxmlformats.org/officeDocument/2006/relationships/slide" Target="slides/slide241.xml"/><Relationship Id="rId284" Type="http://schemas.openxmlformats.org/officeDocument/2006/relationships/slide" Target="slides/slide283.xml"/><Relationship Id="rId491" Type="http://schemas.openxmlformats.org/officeDocument/2006/relationships/slide" Target="slides/slide490.xml"/><Relationship Id="rId505" Type="http://schemas.openxmlformats.org/officeDocument/2006/relationships/slide" Target="slides/slide504.xml"/><Relationship Id="rId712" Type="http://schemas.openxmlformats.org/officeDocument/2006/relationships/slide" Target="slides/slide711.xml"/><Relationship Id="rId37" Type="http://schemas.openxmlformats.org/officeDocument/2006/relationships/slide" Target="slides/slide36.xml"/><Relationship Id="rId79" Type="http://schemas.openxmlformats.org/officeDocument/2006/relationships/slide" Target="slides/slide78.xml"/><Relationship Id="rId102" Type="http://schemas.openxmlformats.org/officeDocument/2006/relationships/slide" Target="slides/slide101.xml"/><Relationship Id="rId144" Type="http://schemas.openxmlformats.org/officeDocument/2006/relationships/slide" Target="slides/slide143.xml"/><Relationship Id="rId547" Type="http://schemas.openxmlformats.org/officeDocument/2006/relationships/slide" Target="slides/slide546.xml"/><Relationship Id="rId589" Type="http://schemas.openxmlformats.org/officeDocument/2006/relationships/slide" Target="slides/slide588.xml"/><Relationship Id="rId754" Type="http://schemas.openxmlformats.org/officeDocument/2006/relationships/slide" Target="slides/slide753.xml"/><Relationship Id="rId796" Type="http://schemas.openxmlformats.org/officeDocument/2006/relationships/slide" Target="slides/slide795.xml"/><Relationship Id="rId90" Type="http://schemas.openxmlformats.org/officeDocument/2006/relationships/slide" Target="slides/slide89.xml"/><Relationship Id="rId186" Type="http://schemas.openxmlformats.org/officeDocument/2006/relationships/slide" Target="slides/slide185.xml"/><Relationship Id="rId351" Type="http://schemas.openxmlformats.org/officeDocument/2006/relationships/slide" Target="slides/slide350.xml"/><Relationship Id="rId393" Type="http://schemas.openxmlformats.org/officeDocument/2006/relationships/slide" Target="slides/slide392.xml"/><Relationship Id="rId407" Type="http://schemas.openxmlformats.org/officeDocument/2006/relationships/slide" Target="slides/slide406.xml"/><Relationship Id="rId449" Type="http://schemas.openxmlformats.org/officeDocument/2006/relationships/slide" Target="slides/slide448.xml"/><Relationship Id="rId614" Type="http://schemas.openxmlformats.org/officeDocument/2006/relationships/slide" Target="slides/slide613.xml"/><Relationship Id="rId656" Type="http://schemas.openxmlformats.org/officeDocument/2006/relationships/slide" Target="slides/slide655.xml"/><Relationship Id="rId821" Type="http://schemas.openxmlformats.org/officeDocument/2006/relationships/slide" Target="slides/slide820.xml"/><Relationship Id="rId211" Type="http://schemas.openxmlformats.org/officeDocument/2006/relationships/slide" Target="slides/slide210.xml"/><Relationship Id="rId253" Type="http://schemas.openxmlformats.org/officeDocument/2006/relationships/slide" Target="slides/slide252.xml"/><Relationship Id="rId295" Type="http://schemas.openxmlformats.org/officeDocument/2006/relationships/slide" Target="slides/slide294.xml"/><Relationship Id="rId309" Type="http://schemas.openxmlformats.org/officeDocument/2006/relationships/slide" Target="slides/slide308.xml"/><Relationship Id="rId460" Type="http://schemas.openxmlformats.org/officeDocument/2006/relationships/slide" Target="slides/slide459.xml"/><Relationship Id="rId516" Type="http://schemas.openxmlformats.org/officeDocument/2006/relationships/slide" Target="slides/slide515.xml"/><Relationship Id="rId698" Type="http://schemas.openxmlformats.org/officeDocument/2006/relationships/slide" Target="slides/slide697.xml"/><Relationship Id="rId48" Type="http://schemas.openxmlformats.org/officeDocument/2006/relationships/slide" Target="slides/slide47.xml"/><Relationship Id="rId113" Type="http://schemas.openxmlformats.org/officeDocument/2006/relationships/slide" Target="slides/slide112.xml"/><Relationship Id="rId320" Type="http://schemas.openxmlformats.org/officeDocument/2006/relationships/slide" Target="slides/slide319.xml"/><Relationship Id="rId558" Type="http://schemas.openxmlformats.org/officeDocument/2006/relationships/slide" Target="slides/slide557.xml"/><Relationship Id="rId723" Type="http://schemas.openxmlformats.org/officeDocument/2006/relationships/slide" Target="slides/slide722.xml"/><Relationship Id="rId765" Type="http://schemas.openxmlformats.org/officeDocument/2006/relationships/slide" Target="slides/slide764.xml"/><Relationship Id="rId155" Type="http://schemas.openxmlformats.org/officeDocument/2006/relationships/slide" Target="slides/slide154.xml"/><Relationship Id="rId197" Type="http://schemas.openxmlformats.org/officeDocument/2006/relationships/slide" Target="slides/slide196.xml"/><Relationship Id="rId362" Type="http://schemas.openxmlformats.org/officeDocument/2006/relationships/slide" Target="slides/slide361.xml"/><Relationship Id="rId418" Type="http://schemas.openxmlformats.org/officeDocument/2006/relationships/slide" Target="slides/slide417.xml"/><Relationship Id="rId625" Type="http://schemas.openxmlformats.org/officeDocument/2006/relationships/slide" Target="slides/slide624.xml"/><Relationship Id="rId832" Type="http://schemas.openxmlformats.org/officeDocument/2006/relationships/slide" Target="slides/slide831.xml"/><Relationship Id="rId222" Type="http://schemas.openxmlformats.org/officeDocument/2006/relationships/slide" Target="slides/slide221.xml"/><Relationship Id="rId264" Type="http://schemas.openxmlformats.org/officeDocument/2006/relationships/slide" Target="slides/slide263.xml"/><Relationship Id="rId471" Type="http://schemas.openxmlformats.org/officeDocument/2006/relationships/slide" Target="slides/slide470.xml"/><Relationship Id="rId667" Type="http://schemas.openxmlformats.org/officeDocument/2006/relationships/slide" Target="slides/slide666.xml"/><Relationship Id="rId17" Type="http://schemas.openxmlformats.org/officeDocument/2006/relationships/slide" Target="slides/slide16.xml"/><Relationship Id="rId59" Type="http://schemas.openxmlformats.org/officeDocument/2006/relationships/slide" Target="slides/slide58.xml"/><Relationship Id="rId124" Type="http://schemas.openxmlformats.org/officeDocument/2006/relationships/slide" Target="slides/slide123.xml"/><Relationship Id="rId527" Type="http://schemas.openxmlformats.org/officeDocument/2006/relationships/slide" Target="slides/slide526.xml"/><Relationship Id="rId569" Type="http://schemas.openxmlformats.org/officeDocument/2006/relationships/slide" Target="slides/slide568.xml"/><Relationship Id="rId734" Type="http://schemas.openxmlformats.org/officeDocument/2006/relationships/slide" Target="slides/slide733.xml"/><Relationship Id="rId776" Type="http://schemas.openxmlformats.org/officeDocument/2006/relationships/slide" Target="slides/slide775.xml"/><Relationship Id="rId70" Type="http://schemas.openxmlformats.org/officeDocument/2006/relationships/slide" Target="slides/slide69.xml"/><Relationship Id="rId166" Type="http://schemas.openxmlformats.org/officeDocument/2006/relationships/slide" Target="slides/slide165.xml"/><Relationship Id="rId331" Type="http://schemas.openxmlformats.org/officeDocument/2006/relationships/slide" Target="slides/slide330.xml"/><Relationship Id="rId373" Type="http://schemas.openxmlformats.org/officeDocument/2006/relationships/slide" Target="slides/slide372.xml"/><Relationship Id="rId429" Type="http://schemas.openxmlformats.org/officeDocument/2006/relationships/slide" Target="slides/slide428.xml"/><Relationship Id="rId580" Type="http://schemas.openxmlformats.org/officeDocument/2006/relationships/slide" Target="slides/slide579.xml"/><Relationship Id="rId636" Type="http://schemas.openxmlformats.org/officeDocument/2006/relationships/slide" Target="slides/slide635.xml"/><Relationship Id="rId801" Type="http://schemas.openxmlformats.org/officeDocument/2006/relationships/slide" Target="slides/slide800.xml"/><Relationship Id="rId1" Type="http://schemas.openxmlformats.org/officeDocument/2006/relationships/slideMaster" Target="slideMasters/slideMaster1.xml"/><Relationship Id="rId233" Type="http://schemas.openxmlformats.org/officeDocument/2006/relationships/slide" Target="slides/slide232.xml"/><Relationship Id="rId440" Type="http://schemas.openxmlformats.org/officeDocument/2006/relationships/slide" Target="slides/slide439.xml"/><Relationship Id="rId678" Type="http://schemas.openxmlformats.org/officeDocument/2006/relationships/slide" Target="slides/slide677.xml"/><Relationship Id="rId843" Type="http://schemas.openxmlformats.org/officeDocument/2006/relationships/slide" Target="slides/slide842.xml"/><Relationship Id="rId28" Type="http://schemas.openxmlformats.org/officeDocument/2006/relationships/slide" Target="slides/slide27.xml"/><Relationship Id="rId275" Type="http://schemas.openxmlformats.org/officeDocument/2006/relationships/slide" Target="slides/slide274.xml"/><Relationship Id="rId300" Type="http://schemas.openxmlformats.org/officeDocument/2006/relationships/slide" Target="slides/slide299.xml"/><Relationship Id="rId482" Type="http://schemas.openxmlformats.org/officeDocument/2006/relationships/slide" Target="slides/slide481.xml"/><Relationship Id="rId538" Type="http://schemas.openxmlformats.org/officeDocument/2006/relationships/slide" Target="slides/slide537.xml"/><Relationship Id="rId703" Type="http://schemas.openxmlformats.org/officeDocument/2006/relationships/slide" Target="slides/slide702.xml"/><Relationship Id="rId745" Type="http://schemas.openxmlformats.org/officeDocument/2006/relationships/slide" Target="slides/slide744.xml"/><Relationship Id="rId81" Type="http://schemas.openxmlformats.org/officeDocument/2006/relationships/slide" Target="slides/slide80.xml"/><Relationship Id="rId135" Type="http://schemas.openxmlformats.org/officeDocument/2006/relationships/slide" Target="slides/slide134.xml"/><Relationship Id="rId177" Type="http://schemas.openxmlformats.org/officeDocument/2006/relationships/slide" Target="slides/slide176.xml"/><Relationship Id="rId342" Type="http://schemas.openxmlformats.org/officeDocument/2006/relationships/slide" Target="slides/slide341.xml"/><Relationship Id="rId384" Type="http://schemas.openxmlformats.org/officeDocument/2006/relationships/slide" Target="slides/slide383.xml"/><Relationship Id="rId591" Type="http://schemas.openxmlformats.org/officeDocument/2006/relationships/slide" Target="slides/slide590.xml"/><Relationship Id="rId605" Type="http://schemas.openxmlformats.org/officeDocument/2006/relationships/slide" Target="slides/slide604.xml"/><Relationship Id="rId787" Type="http://schemas.openxmlformats.org/officeDocument/2006/relationships/slide" Target="slides/slide786.xml"/><Relationship Id="rId812" Type="http://schemas.openxmlformats.org/officeDocument/2006/relationships/slide" Target="slides/slide811.xml"/><Relationship Id="rId202" Type="http://schemas.openxmlformats.org/officeDocument/2006/relationships/slide" Target="slides/slide201.xml"/><Relationship Id="rId244" Type="http://schemas.openxmlformats.org/officeDocument/2006/relationships/slide" Target="slides/slide243.xml"/><Relationship Id="rId647" Type="http://schemas.openxmlformats.org/officeDocument/2006/relationships/slide" Target="slides/slide646.xml"/><Relationship Id="rId689" Type="http://schemas.openxmlformats.org/officeDocument/2006/relationships/slide" Target="slides/slide688.xml"/><Relationship Id="rId854" Type="http://schemas.openxmlformats.org/officeDocument/2006/relationships/slide" Target="slides/slide853.xml"/><Relationship Id="rId39" Type="http://schemas.openxmlformats.org/officeDocument/2006/relationships/slide" Target="slides/slide38.xml"/><Relationship Id="rId286" Type="http://schemas.openxmlformats.org/officeDocument/2006/relationships/slide" Target="slides/slide285.xml"/><Relationship Id="rId451" Type="http://schemas.openxmlformats.org/officeDocument/2006/relationships/slide" Target="slides/slide450.xml"/><Relationship Id="rId493" Type="http://schemas.openxmlformats.org/officeDocument/2006/relationships/slide" Target="slides/slide492.xml"/><Relationship Id="rId507" Type="http://schemas.openxmlformats.org/officeDocument/2006/relationships/slide" Target="slides/slide506.xml"/><Relationship Id="rId549" Type="http://schemas.openxmlformats.org/officeDocument/2006/relationships/slide" Target="slides/slide548.xml"/><Relationship Id="rId714" Type="http://schemas.openxmlformats.org/officeDocument/2006/relationships/slide" Target="slides/slide713.xml"/><Relationship Id="rId756" Type="http://schemas.openxmlformats.org/officeDocument/2006/relationships/slide" Target="slides/slide755.xml"/><Relationship Id="rId50" Type="http://schemas.openxmlformats.org/officeDocument/2006/relationships/slide" Target="slides/slide49.xml"/><Relationship Id="rId104" Type="http://schemas.openxmlformats.org/officeDocument/2006/relationships/slide" Target="slides/slide103.xml"/><Relationship Id="rId146" Type="http://schemas.openxmlformats.org/officeDocument/2006/relationships/slide" Target="slides/slide145.xml"/><Relationship Id="rId188" Type="http://schemas.openxmlformats.org/officeDocument/2006/relationships/slide" Target="slides/slide187.xml"/><Relationship Id="rId311" Type="http://schemas.openxmlformats.org/officeDocument/2006/relationships/slide" Target="slides/slide310.xml"/><Relationship Id="rId353" Type="http://schemas.openxmlformats.org/officeDocument/2006/relationships/slide" Target="slides/slide352.xml"/><Relationship Id="rId395" Type="http://schemas.openxmlformats.org/officeDocument/2006/relationships/slide" Target="slides/slide394.xml"/><Relationship Id="rId409" Type="http://schemas.openxmlformats.org/officeDocument/2006/relationships/slide" Target="slides/slide408.xml"/><Relationship Id="rId560" Type="http://schemas.openxmlformats.org/officeDocument/2006/relationships/slide" Target="slides/slide559.xml"/><Relationship Id="rId798" Type="http://schemas.openxmlformats.org/officeDocument/2006/relationships/slide" Target="slides/slide797.xml"/><Relationship Id="rId92" Type="http://schemas.openxmlformats.org/officeDocument/2006/relationships/slide" Target="slides/slide91.xml"/><Relationship Id="rId213" Type="http://schemas.openxmlformats.org/officeDocument/2006/relationships/slide" Target="slides/slide212.xml"/><Relationship Id="rId420" Type="http://schemas.openxmlformats.org/officeDocument/2006/relationships/slide" Target="slides/slide419.xml"/><Relationship Id="rId616" Type="http://schemas.openxmlformats.org/officeDocument/2006/relationships/slide" Target="slides/slide615.xml"/><Relationship Id="rId658" Type="http://schemas.openxmlformats.org/officeDocument/2006/relationships/slide" Target="slides/slide657.xml"/><Relationship Id="rId823" Type="http://schemas.openxmlformats.org/officeDocument/2006/relationships/slide" Target="slides/slide822.xml"/><Relationship Id="rId255" Type="http://schemas.openxmlformats.org/officeDocument/2006/relationships/slide" Target="slides/slide254.xml"/><Relationship Id="rId297" Type="http://schemas.openxmlformats.org/officeDocument/2006/relationships/slide" Target="slides/slide296.xml"/><Relationship Id="rId462" Type="http://schemas.openxmlformats.org/officeDocument/2006/relationships/slide" Target="slides/slide461.xml"/><Relationship Id="rId518" Type="http://schemas.openxmlformats.org/officeDocument/2006/relationships/slide" Target="slides/slide517.xml"/><Relationship Id="rId725" Type="http://schemas.openxmlformats.org/officeDocument/2006/relationships/slide" Target="slides/slide724.xml"/><Relationship Id="rId115" Type="http://schemas.openxmlformats.org/officeDocument/2006/relationships/slide" Target="slides/slide114.xml"/><Relationship Id="rId157" Type="http://schemas.openxmlformats.org/officeDocument/2006/relationships/slide" Target="slides/slide156.xml"/><Relationship Id="rId322" Type="http://schemas.openxmlformats.org/officeDocument/2006/relationships/slide" Target="slides/slide321.xml"/><Relationship Id="rId364" Type="http://schemas.openxmlformats.org/officeDocument/2006/relationships/slide" Target="slides/slide363.xml"/><Relationship Id="rId767" Type="http://schemas.openxmlformats.org/officeDocument/2006/relationships/slide" Target="slides/slide766.xml"/><Relationship Id="rId61" Type="http://schemas.openxmlformats.org/officeDocument/2006/relationships/slide" Target="slides/slide60.xml"/><Relationship Id="rId199" Type="http://schemas.openxmlformats.org/officeDocument/2006/relationships/slide" Target="slides/slide198.xml"/><Relationship Id="rId571" Type="http://schemas.openxmlformats.org/officeDocument/2006/relationships/slide" Target="slides/slide570.xml"/><Relationship Id="rId627" Type="http://schemas.openxmlformats.org/officeDocument/2006/relationships/slide" Target="slides/slide626.xml"/><Relationship Id="rId669" Type="http://schemas.openxmlformats.org/officeDocument/2006/relationships/slide" Target="slides/slide668.xml"/><Relationship Id="rId834" Type="http://schemas.openxmlformats.org/officeDocument/2006/relationships/slide" Target="slides/slide833.xml"/><Relationship Id="rId19" Type="http://schemas.openxmlformats.org/officeDocument/2006/relationships/slide" Target="slides/slide18.xml"/><Relationship Id="rId224" Type="http://schemas.openxmlformats.org/officeDocument/2006/relationships/slide" Target="slides/slide223.xml"/><Relationship Id="rId266" Type="http://schemas.openxmlformats.org/officeDocument/2006/relationships/slide" Target="slides/slide265.xml"/><Relationship Id="rId431" Type="http://schemas.openxmlformats.org/officeDocument/2006/relationships/slide" Target="slides/slide430.xml"/><Relationship Id="rId473" Type="http://schemas.openxmlformats.org/officeDocument/2006/relationships/slide" Target="slides/slide472.xml"/><Relationship Id="rId529" Type="http://schemas.openxmlformats.org/officeDocument/2006/relationships/slide" Target="slides/slide528.xml"/><Relationship Id="rId680" Type="http://schemas.openxmlformats.org/officeDocument/2006/relationships/slide" Target="slides/slide679.xml"/><Relationship Id="rId736" Type="http://schemas.openxmlformats.org/officeDocument/2006/relationships/slide" Target="slides/slide735.xml"/><Relationship Id="rId30" Type="http://schemas.openxmlformats.org/officeDocument/2006/relationships/slide" Target="slides/slide29.xml"/><Relationship Id="rId126" Type="http://schemas.openxmlformats.org/officeDocument/2006/relationships/slide" Target="slides/slide125.xml"/><Relationship Id="rId168" Type="http://schemas.openxmlformats.org/officeDocument/2006/relationships/slide" Target="slides/slide167.xml"/><Relationship Id="rId333" Type="http://schemas.openxmlformats.org/officeDocument/2006/relationships/slide" Target="slides/slide332.xml"/><Relationship Id="rId540" Type="http://schemas.openxmlformats.org/officeDocument/2006/relationships/slide" Target="slides/slide539.xml"/><Relationship Id="rId778" Type="http://schemas.openxmlformats.org/officeDocument/2006/relationships/slide" Target="slides/slide777.xml"/><Relationship Id="rId72" Type="http://schemas.openxmlformats.org/officeDocument/2006/relationships/slide" Target="slides/slide71.xml"/><Relationship Id="rId375" Type="http://schemas.openxmlformats.org/officeDocument/2006/relationships/slide" Target="slides/slide374.xml"/><Relationship Id="rId582" Type="http://schemas.openxmlformats.org/officeDocument/2006/relationships/slide" Target="slides/slide581.xml"/><Relationship Id="rId638" Type="http://schemas.openxmlformats.org/officeDocument/2006/relationships/slide" Target="slides/slide637.xml"/><Relationship Id="rId803" Type="http://schemas.openxmlformats.org/officeDocument/2006/relationships/slide" Target="slides/slide802.xml"/><Relationship Id="rId845" Type="http://schemas.openxmlformats.org/officeDocument/2006/relationships/slide" Target="slides/slide844.xml"/><Relationship Id="rId3" Type="http://schemas.openxmlformats.org/officeDocument/2006/relationships/slide" Target="slides/slide2.xml"/><Relationship Id="rId235" Type="http://schemas.openxmlformats.org/officeDocument/2006/relationships/slide" Target="slides/slide234.xml"/><Relationship Id="rId277" Type="http://schemas.openxmlformats.org/officeDocument/2006/relationships/slide" Target="slides/slide276.xml"/><Relationship Id="rId400" Type="http://schemas.openxmlformats.org/officeDocument/2006/relationships/slide" Target="slides/slide399.xml"/><Relationship Id="rId442" Type="http://schemas.openxmlformats.org/officeDocument/2006/relationships/slide" Target="slides/slide441.xml"/><Relationship Id="rId484" Type="http://schemas.openxmlformats.org/officeDocument/2006/relationships/slide" Target="slides/slide483.xml"/><Relationship Id="rId705" Type="http://schemas.openxmlformats.org/officeDocument/2006/relationships/slide" Target="slides/slide704.xml"/><Relationship Id="rId137" Type="http://schemas.openxmlformats.org/officeDocument/2006/relationships/slide" Target="slides/slide136.xml"/><Relationship Id="rId302" Type="http://schemas.openxmlformats.org/officeDocument/2006/relationships/slide" Target="slides/slide301.xml"/><Relationship Id="rId344" Type="http://schemas.openxmlformats.org/officeDocument/2006/relationships/slide" Target="slides/slide343.xml"/><Relationship Id="rId691" Type="http://schemas.openxmlformats.org/officeDocument/2006/relationships/slide" Target="slides/slide690.xml"/><Relationship Id="rId747" Type="http://schemas.openxmlformats.org/officeDocument/2006/relationships/slide" Target="slides/slide746.xml"/><Relationship Id="rId789" Type="http://schemas.openxmlformats.org/officeDocument/2006/relationships/slide" Target="slides/slide788.xml"/><Relationship Id="rId41" Type="http://schemas.openxmlformats.org/officeDocument/2006/relationships/slide" Target="slides/slide40.xml"/><Relationship Id="rId83" Type="http://schemas.openxmlformats.org/officeDocument/2006/relationships/slide" Target="slides/slide82.xml"/><Relationship Id="rId179" Type="http://schemas.openxmlformats.org/officeDocument/2006/relationships/slide" Target="slides/slide178.xml"/><Relationship Id="rId386" Type="http://schemas.openxmlformats.org/officeDocument/2006/relationships/slide" Target="slides/slide385.xml"/><Relationship Id="rId551" Type="http://schemas.openxmlformats.org/officeDocument/2006/relationships/slide" Target="slides/slide550.xml"/><Relationship Id="rId593" Type="http://schemas.openxmlformats.org/officeDocument/2006/relationships/slide" Target="slides/slide592.xml"/><Relationship Id="rId607" Type="http://schemas.openxmlformats.org/officeDocument/2006/relationships/slide" Target="slides/slide606.xml"/><Relationship Id="rId649" Type="http://schemas.openxmlformats.org/officeDocument/2006/relationships/slide" Target="slides/slide648.xml"/><Relationship Id="rId814" Type="http://schemas.openxmlformats.org/officeDocument/2006/relationships/slide" Target="slides/slide813.xml"/><Relationship Id="rId856" Type="http://schemas.openxmlformats.org/officeDocument/2006/relationships/slide" Target="slides/slide855.xml"/><Relationship Id="rId190" Type="http://schemas.openxmlformats.org/officeDocument/2006/relationships/slide" Target="slides/slide189.xml"/><Relationship Id="rId204" Type="http://schemas.openxmlformats.org/officeDocument/2006/relationships/slide" Target="slides/slide203.xml"/><Relationship Id="rId246" Type="http://schemas.openxmlformats.org/officeDocument/2006/relationships/slide" Target="slides/slide245.xml"/><Relationship Id="rId288" Type="http://schemas.openxmlformats.org/officeDocument/2006/relationships/slide" Target="slides/slide287.xml"/><Relationship Id="rId411" Type="http://schemas.openxmlformats.org/officeDocument/2006/relationships/slide" Target="slides/slide410.xml"/><Relationship Id="rId453" Type="http://schemas.openxmlformats.org/officeDocument/2006/relationships/slide" Target="slides/slide452.xml"/><Relationship Id="rId509" Type="http://schemas.openxmlformats.org/officeDocument/2006/relationships/slide" Target="slides/slide508.xml"/><Relationship Id="rId660" Type="http://schemas.openxmlformats.org/officeDocument/2006/relationships/slide" Target="slides/slide659.xml"/><Relationship Id="rId106" Type="http://schemas.openxmlformats.org/officeDocument/2006/relationships/slide" Target="slides/slide105.xml"/><Relationship Id="rId313" Type="http://schemas.openxmlformats.org/officeDocument/2006/relationships/slide" Target="slides/slide312.xml"/><Relationship Id="rId495" Type="http://schemas.openxmlformats.org/officeDocument/2006/relationships/slide" Target="slides/slide494.xml"/><Relationship Id="rId716" Type="http://schemas.openxmlformats.org/officeDocument/2006/relationships/slide" Target="slides/slide715.xml"/><Relationship Id="rId758" Type="http://schemas.openxmlformats.org/officeDocument/2006/relationships/slide" Target="slides/slide757.xml"/><Relationship Id="rId10" Type="http://schemas.openxmlformats.org/officeDocument/2006/relationships/slide" Target="slides/slide9.xml"/><Relationship Id="rId52" Type="http://schemas.openxmlformats.org/officeDocument/2006/relationships/slide" Target="slides/slide51.xml"/><Relationship Id="rId94" Type="http://schemas.openxmlformats.org/officeDocument/2006/relationships/slide" Target="slides/slide93.xml"/><Relationship Id="rId148" Type="http://schemas.openxmlformats.org/officeDocument/2006/relationships/slide" Target="slides/slide147.xml"/><Relationship Id="rId355" Type="http://schemas.openxmlformats.org/officeDocument/2006/relationships/slide" Target="slides/slide354.xml"/><Relationship Id="rId397" Type="http://schemas.openxmlformats.org/officeDocument/2006/relationships/slide" Target="slides/slide396.xml"/><Relationship Id="rId520" Type="http://schemas.openxmlformats.org/officeDocument/2006/relationships/slide" Target="slides/slide519.xml"/><Relationship Id="rId562" Type="http://schemas.openxmlformats.org/officeDocument/2006/relationships/slide" Target="slides/slide561.xml"/><Relationship Id="rId618" Type="http://schemas.openxmlformats.org/officeDocument/2006/relationships/slide" Target="slides/slide617.xml"/><Relationship Id="rId825" Type="http://schemas.openxmlformats.org/officeDocument/2006/relationships/slide" Target="slides/slide824.xml"/><Relationship Id="rId215" Type="http://schemas.openxmlformats.org/officeDocument/2006/relationships/slide" Target="slides/slide214.xml"/><Relationship Id="rId257" Type="http://schemas.openxmlformats.org/officeDocument/2006/relationships/slide" Target="slides/slide256.xml"/><Relationship Id="rId422" Type="http://schemas.openxmlformats.org/officeDocument/2006/relationships/slide" Target="slides/slide421.xml"/><Relationship Id="rId464" Type="http://schemas.openxmlformats.org/officeDocument/2006/relationships/slide" Target="slides/slide463.xml"/><Relationship Id="rId299" Type="http://schemas.openxmlformats.org/officeDocument/2006/relationships/slide" Target="slides/slide298.xml"/><Relationship Id="rId727" Type="http://schemas.openxmlformats.org/officeDocument/2006/relationships/slide" Target="slides/slide726.xml"/><Relationship Id="rId63" Type="http://schemas.openxmlformats.org/officeDocument/2006/relationships/slide" Target="slides/slide62.xml"/><Relationship Id="rId159" Type="http://schemas.openxmlformats.org/officeDocument/2006/relationships/slide" Target="slides/slide158.xml"/><Relationship Id="rId366" Type="http://schemas.openxmlformats.org/officeDocument/2006/relationships/slide" Target="slides/slide365.xml"/><Relationship Id="rId573" Type="http://schemas.openxmlformats.org/officeDocument/2006/relationships/slide" Target="slides/slide572.xml"/><Relationship Id="rId780" Type="http://schemas.openxmlformats.org/officeDocument/2006/relationships/slide" Target="slides/slide779.xml"/><Relationship Id="rId226" Type="http://schemas.openxmlformats.org/officeDocument/2006/relationships/slide" Target="slides/slide225.xml"/><Relationship Id="rId433" Type="http://schemas.openxmlformats.org/officeDocument/2006/relationships/slide" Target="slides/slide432.xml"/><Relationship Id="rId640" Type="http://schemas.openxmlformats.org/officeDocument/2006/relationships/slide" Target="slides/slide639.xml"/><Relationship Id="rId738" Type="http://schemas.openxmlformats.org/officeDocument/2006/relationships/slide" Target="slides/slide737.xml"/><Relationship Id="rId74" Type="http://schemas.openxmlformats.org/officeDocument/2006/relationships/slide" Target="slides/slide73.xml"/><Relationship Id="rId377" Type="http://schemas.openxmlformats.org/officeDocument/2006/relationships/slide" Target="slides/slide376.xml"/><Relationship Id="rId500" Type="http://schemas.openxmlformats.org/officeDocument/2006/relationships/slide" Target="slides/slide499.xml"/><Relationship Id="rId584" Type="http://schemas.openxmlformats.org/officeDocument/2006/relationships/slide" Target="slides/slide583.xml"/><Relationship Id="rId805" Type="http://schemas.openxmlformats.org/officeDocument/2006/relationships/slide" Target="slides/slide804.xml"/><Relationship Id="rId5" Type="http://schemas.openxmlformats.org/officeDocument/2006/relationships/slide" Target="slides/slide4.xml"/><Relationship Id="rId237" Type="http://schemas.openxmlformats.org/officeDocument/2006/relationships/slide" Target="slides/slide236.xml"/><Relationship Id="rId791" Type="http://schemas.openxmlformats.org/officeDocument/2006/relationships/slide" Target="slides/slide790.xml"/><Relationship Id="rId444" Type="http://schemas.openxmlformats.org/officeDocument/2006/relationships/slide" Target="slides/slide443.xml"/><Relationship Id="rId651" Type="http://schemas.openxmlformats.org/officeDocument/2006/relationships/slide" Target="slides/slide650.xml"/><Relationship Id="rId749" Type="http://schemas.openxmlformats.org/officeDocument/2006/relationships/slide" Target="slides/slide748.xml"/><Relationship Id="rId290" Type="http://schemas.openxmlformats.org/officeDocument/2006/relationships/slide" Target="slides/slide289.xml"/><Relationship Id="rId304" Type="http://schemas.openxmlformats.org/officeDocument/2006/relationships/slide" Target="slides/slide303.xml"/><Relationship Id="rId388" Type="http://schemas.openxmlformats.org/officeDocument/2006/relationships/slide" Target="slides/slide387.xml"/><Relationship Id="rId511" Type="http://schemas.openxmlformats.org/officeDocument/2006/relationships/slide" Target="slides/slide510.xml"/><Relationship Id="rId609" Type="http://schemas.openxmlformats.org/officeDocument/2006/relationships/slide" Target="slides/slide608.xml"/><Relationship Id="rId85" Type="http://schemas.openxmlformats.org/officeDocument/2006/relationships/slide" Target="slides/slide84.xml"/><Relationship Id="rId150" Type="http://schemas.openxmlformats.org/officeDocument/2006/relationships/slide" Target="slides/slide149.xml"/><Relationship Id="rId595" Type="http://schemas.openxmlformats.org/officeDocument/2006/relationships/slide" Target="slides/slide594.xml"/><Relationship Id="rId816" Type="http://schemas.openxmlformats.org/officeDocument/2006/relationships/slide" Target="slides/slide815.xml"/><Relationship Id="rId248" Type="http://schemas.openxmlformats.org/officeDocument/2006/relationships/slide" Target="slides/slide247.xml"/><Relationship Id="rId455" Type="http://schemas.openxmlformats.org/officeDocument/2006/relationships/slide" Target="slides/slide454.xml"/><Relationship Id="rId662" Type="http://schemas.openxmlformats.org/officeDocument/2006/relationships/slide" Target="slides/slide661.xml"/><Relationship Id="rId12" Type="http://schemas.openxmlformats.org/officeDocument/2006/relationships/slide" Target="slides/slide11.xml"/><Relationship Id="rId108" Type="http://schemas.openxmlformats.org/officeDocument/2006/relationships/slide" Target="slides/slide107.xml"/><Relationship Id="rId315" Type="http://schemas.openxmlformats.org/officeDocument/2006/relationships/slide" Target="slides/slide314.xml"/><Relationship Id="rId522" Type="http://schemas.openxmlformats.org/officeDocument/2006/relationships/slide" Target="slides/slide521.xml"/><Relationship Id="rId96" Type="http://schemas.openxmlformats.org/officeDocument/2006/relationships/slide" Target="slides/slide95.xml"/><Relationship Id="rId161" Type="http://schemas.openxmlformats.org/officeDocument/2006/relationships/slide" Target="slides/slide160.xml"/><Relationship Id="rId399" Type="http://schemas.openxmlformats.org/officeDocument/2006/relationships/slide" Target="slides/slide398.xml"/><Relationship Id="rId827" Type="http://schemas.openxmlformats.org/officeDocument/2006/relationships/slide" Target="slides/slide826.xml"/><Relationship Id="rId259" Type="http://schemas.openxmlformats.org/officeDocument/2006/relationships/slide" Target="slides/slide258.xml"/><Relationship Id="rId466" Type="http://schemas.openxmlformats.org/officeDocument/2006/relationships/slide" Target="slides/slide465.xml"/><Relationship Id="rId673" Type="http://schemas.openxmlformats.org/officeDocument/2006/relationships/slide" Target="slides/slide672.xml"/><Relationship Id="rId23" Type="http://schemas.openxmlformats.org/officeDocument/2006/relationships/slide" Target="slides/slide22.xml"/><Relationship Id="rId119" Type="http://schemas.openxmlformats.org/officeDocument/2006/relationships/slide" Target="slides/slide118.xml"/><Relationship Id="rId326" Type="http://schemas.openxmlformats.org/officeDocument/2006/relationships/slide" Target="slides/slide325.xml"/><Relationship Id="rId533" Type="http://schemas.openxmlformats.org/officeDocument/2006/relationships/slide" Target="slides/slide532.xml"/><Relationship Id="rId740" Type="http://schemas.openxmlformats.org/officeDocument/2006/relationships/slide" Target="slides/slide739.xml"/><Relationship Id="rId838" Type="http://schemas.openxmlformats.org/officeDocument/2006/relationships/slide" Target="slides/slide837.xml"/><Relationship Id="rId172" Type="http://schemas.openxmlformats.org/officeDocument/2006/relationships/slide" Target="slides/slide171.xml"/><Relationship Id="rId477" Type="http://schemas.openxmlformats.org/officeDocument/2006/relationships/slide" Target="slides/slide476.xml"/><Relationship Id="rId600" Type="http://schemas.openxmlformats.org/officeDocument/2006/relationships/slide" Target="slides/slide599.xml"/><Relationship Id="rId684" Type="http://schemas.openxmlformats.org/officeDocument/2006/relationships/slide" Target="slides/slide6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2BECF6-A62D-4032-8BE1-25966D98925B}" type="datetimeFigureOut">
              <a:rPr lang="en-US" smtClean="0"/>
              <a:t>20-May-23</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6C6B96-4643-449B-AFC2-899123E408F7}" type="slidenum">
              <a:rPr lang="en-US" smtClean="0"/>
              <a:t>‹#›</a:t>
            </a:fld>
            <a:endParaRPr lang="en-US"/>
          </a:p>
        </p:txBody>
      </p:sp>
    </p:spTree>
    <p:extLst>
      <p:ext uri="{BB962C8B-B14F-4D97-AF65-F5344CB8AC3E}">
        <p14:creationId xmlns:p14="http://schemas.microsoft.com/office/powerpoint/2010/main" val="35028723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96C6B96-4643-449B-AFC2-899123E408F7}" type="slidenum">
              <a:rPr lang="en-US" smtClean="0"/>
              <a:t>40</a:t>
            </a:fld>
            <a:endParaRPr lang="en-US"/>
          </a:p>
        </p:txBody>
      </p:sp>
    </p:spTree>
    <p:extLst>
      <p:ext uri="{BB962C8B-B14F-4D97-AF65-F5344CB8AC3E}">
        <p14:creationId xmlns:p14="http://schemas.microsoft.com/office/powerpoint/2010/main" val="24348677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7B3B95B0-BC85-4B58-B100-9DF2C4DFFF04}" type="datetimeFigureOut">
              <a:rPr lang="en-US" smtClean="0"/>
              <a:t>20-May-23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2983609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3B95B0-BC85-4B58-B100-9DF2C4DFFF04}" type="datetimeFigureOut">
              <a:rPr lang="en-US" smtClean="0"/>
              <a:t>20-May-23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2481767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B3B95B0-BC85-4B58-B100-9DF2C4DFFF04}" type="datetimeFigureOut">
              <a:rPr lang="en-US" smtClean="0"/>
              <a:t>20-May-23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24735065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3B95B0-BC85-4B58-B100-9DF2C4DFFF04}" type="datetimeFigureOut">
              <a:rPr lang="en-US" smtClean="0"/>
              <a:t>20-May-23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2468940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7B3B95B0-BC85-4B58-B100-9DF2C4DFFF04}" type="datetimeFigureOut">
              <a:rPr lang="en-US" smtClean="0"/>
              <a:t>20-May-23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350956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B3B95B0-BC85-4B58-B100-9DF2C4DFFF04}" type="datetimeFigureOut">
              <a:rPr lang="en-US" smtClean="0"/>
              <a:t>20-May-23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2964881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3B95B0-BC85-4B58-B100-9DF2C4DFFF04}" type="datetimeFigureOut">
              <a:rPr lang="en-US" smtClean="0"/>
              <a:t>20-May-23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3352911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3B95B0-BC85-4B58-B100-9DF2C4DFFF04}" type="datetimeFigureOut">
              <a:rPr lang="en-US" smtClean="0"/>
              <a:t>20-May-23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3543404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B3B95B0-BC85-4B58-B100-9DF2C4DFFF04}" type="datetimeFigureOut">
              <a:rPr lang="en-US" smtClean="0"/>
              <a:t>20-May-23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19126958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3B95B0-BC85-4B58-B100-9DF2C4DFFF04}" type="datetimeFigureOut">
              <a:rPr lang="en-US" smtClean="0"/>
              <a:t>20-May-23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3827448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3B95B0-BC85-4B58-B100-9DF2C4DFFF04}" type="datetimeFigureOut">
              <a:rPr lang="en-US" smtClean="0"/>
              <a:t>20-May-23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6040F4-B282-4ADC-A81C-61263EC0118E}" type="slidenum">
              <a:rPr lang="en-US" smtClean="0"/>
              <a:t>‹#›</a:t>
            </a:fld>
            <a:endParaRPr lang="en-US"/>
          </a:p>
        </p:txBody>
      </p:sp>
    </p:spTree>
    <p:extLst>
      <p:ext uri="{BB962C8B-B14F-4D97-AF65-F5344CB8AC3E}">
        <p14:creationId xmlns:p14="http://schemas.microsoft.com/office/powerpoint/2010/main" val="36772161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519808" y="1265301"/>
            <a:ext cx="6104382" cy="696594"/>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2762631" y="3797274"/>
            <a:ext cx="3618737" cy="1196339"/>
          </a:xfrm>
          <a:prstGeom prst="rect">
            <a:avLst/>
          </a:prstGeom>
        </p:spPr>
        <p:txBody>
          <a:bodyPr wrap="square" lIns="0" tIns="0" rIns="0" bIns="0">
            <a:spAutoFit/>
          </a:bodyPr>
          <a:lstStyle>
            <a:lvl1pPr>
              <a:defRPr sz="3200" b="0" i="0">
                <a:solidFill>
                  <a:srgbClr val="888888"/>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20-May-23</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24052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3B95B0-BC85-4B58-B100-9DF2C4DFFF04}" type="datetimeFigureOut">
              <a:rPr lang="en-US" smtClean="0"/>
              <a:t>20-May-23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6040F4-B282-4ADC-A81C-61263EC0118E}" type="slidenum">
              <a:rPr lang="en-US" smtClean="0"/>
              <a:t>‹#›</a:t>
            </a:fld>
            <a:endParaRPr lang="en-US"/>
          </a:p>
        </p:txBody>
      </p:sp>
    </p:spTree>
    <p:extLst>
      <p:ext uri="{BB962C8B-B14F-4D97-AF65-F5344CB8AC3E}">
        <p14:creationId xmlns:p14="http://schemas.microsoft.com/office/powerpoint/2010/main" val="3043253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3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3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1.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3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4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6.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4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5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5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3.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3.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7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6.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7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8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6.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Layout" Target="../slideLayouts/slideLayout2.xml"/></Relationships>
</file>

<file path=ppt/slides/_rels/slide8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85801"/>
            <a:ext cx="7772400" cy="2914650"/>
          </a:xfrm>
        </p:spPr>
        <p:txBody>
          <a:bodyPr>
            <a:normAutofit/>
          </a:bodyPr>
          <a:lstStyle/>
          <a:p>
            <a:r>
              <a:rPr lang="en-US" sz="6000" dirty="0"/>
              <a:t>PARASITOLOGY</a:t>
            </a:r>
            <a:br>
              <a:rPr lang="en-US" sz="6000" dirty="0"/>
            </a:br>
            <a:br>
              <a:rPr lang="en-US" sz="6000" dirty="0"/>
            </a:br>
            <a:r>
              <a:rPr lang="en-US" sz="6000" dirty="0"/>
              <a:t>BIOL 460</a:t>
            </a:r>
          </a:p>
        </p:txBody>
      </p:sp>
    </p:spTree>
    <p:extLst>
      <p:ext uri="{BB962C8B-B14F-4D97-AF65-F5344CB8AC3E}">
        <p14:creationId xmlns:p14="http://schemas.microsoft.com/office/powerpoint/2010/main" val="6911970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GENERAL LECTURE TOPICS</a:t>
            </a:r>
            <a:br>
              <a:rPr lang="en-US" dirty="0"/>
            </a:br>
            <a:r>
              <a:rPr lang="en-US" dirty="0"/>
              <a:t> (General Overview)</a:t>
            </a:r>
          </a:p>
        </p:txBody>
      </p:sp>
      <p:sp>
        <p:nvSpPr>
          <p:cNvPr id="3" name="Content Placeholder 2"/>
          <p:cNvSpPr>
            <a:spLocks noGrp="1"/>
          </p:cNvSpPr>
          <p:nvPr>
            <p:ph idx="1"/>
          </p:nvPr>
        </p:nvSpPr>
        <p:spPr/>
        <p:txBody>
          <a:bodyPr>
            <a:normAutofit lnSpcReduction="10000"/>
          </a:bodyPr>
          <a:lstStyle/>
          <a:p>
            <a:pPr marL="0" indent="0" algn="ctr">
              <a:buNone/>
            </a:pPr>
            <a:r>
              <a:rPr lang="en-US" b="1" dirty="0"/>
              <a:t>UNIT I</a:t>
            </a:r>
          </a:p>
          <a:p>
            <a:pPr marL="0" lvl="0" indent="0">
              <a:buNone/>
            </a:pPr>
            <a:r>
              <a:rPr lang="en-US" dirty="0"/>
              <a:t>1. Introduction to Animal Parasitology </a:t>
            </a:r>
          </a:p>
          <a:p>
            <a:pPr marL="0" lvl="0" indent="0">
              <a:buNone/>
            </a:pPr>
            <a:r>
              <a:rPr lang="en-US" dirty="0"/>
              <a:t>2. Definition of Terms</a:t>
            </a:r>
          </a:p>
          <a:p>
            <a:pPr marL="0" indent="0">
              <a:buNone/>
            </a:pPr>
            <a:r>
              <a:rPr lang="en-US" dirty="0"/>
              <a:t>3. Parasitism as a mode of Life</a:t>
            </a:r>
          </a:p>
          <a:p>
            <a:pPr lvl="0">
              <a:buFont typeface="Wingdings" pitchFamily="2" charset="2"/>
              <a:buChar char="v"/>
            </a:pPr>
            <a:r>
              <a:rPr lang="en-US" dirty="0"/>
              <a:t>Niches, habitats and environments of parasites</a:t>
            </a:r>
          </a:p>
          <a:p>
            <a:pPr lvl="0">
              <a:buFont typeface="Wingdings" pitchFamily="2" charset="2"/>
              <a:buChar char="v"/>
            </a:pPr>
            <a:r>
              <a:rPr lang="en-US" dirty="0"/>
              <a:t>Reproductive potential of parasites</a:t>
            </a:r>
          </a:p>
          <a:p>
            <a:pPr>
              <a:buFont typeface="Wingdings" pitchFamily="2" charset="2"/>
              <a:buChar char="v"/>
            </a:pPr>
            <a:r>
              <a:rPr lang="en-US" dirty="0"/>
              <a:t>Modes of transmission of parasites</a:t>
            </a:r>
          </a:p>
          <a:p>
            <a:pPr marL="0" indent="0">
              <a:buNone/>
            </a:pPr>
            <a:endParaRPr lang="en-US" dirty="0"/>
          </a:p>
          <a:p>
            <a:pPr marL="0" lvl="0" indent="0">
              <a:buNone/>
            </a:pPr>
            <a:endParaRPr lang="en-US" dirty="0"/>
          </a:p>
          <a:p>
            <a:pPr marL="0" indent="0">
              <a:buNone/>
            </a:pPr>
            <a:endParaRPr lang="en-US" dirty="0"/>
          </a:p>
          <a:p>
            <a:pPr>
              <a:buFont typeface="Wingdings" pitchFamily="2" charset="2"/>
              <a:buChar char="v"/>
            </a:pPr>
            <a:endParaRPr lang="en-US" dirty="0"/>
          </a:p>
          <a:p>
            <a:endParaRPr lang="en-US" dirty="0"/>
          </a:p>
        </p:txBody>
      </p:sp>
    </p:spTree>
    <p:extLst>
      <p:ext uri="{BB962C8B-B14F-4D97-AF65-F5344CB8AC3E}">
        <p14:creationId xmlns:p14="http://schemas.microsoft.com/office/powerpoint/2010/main" val="5093192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Overview)</a:t>
            </a:r>
          </a:p>
        </p:txBody>
      </p:sp>
      <p:sp>
        <p:nvSpPr>
          <p:cNvPr id="3" name="Content Placeholder 2"/>
          <p:cNvSpPr>
            <a:spLocks noGrp="1"/>
          </p:cNvSpPr>
          <p:nvPr>
            <p:ph idx="1"/>
          </p:nvPr>
        </p:nvSpPr>
        <p:spPr/>
        <p:txBody>
          <a:bodyPr/>
          <a:lstStyle/>
          <a:p>
            <a:pPr marL="0" indent="0" algn="ctr">
              <a:buNone/>
            </a:pPr>
            <a:r>
              <a:rPr lang="en-US" dirty="0"/>
              <a:t>UNIT. II</a:t>
            </a:r>
          </a:p>
          <a:p>
            <a:pPr marL="0" lvl="0" indent="0" algn="ctr">
              <a:buNone/>
            </a:pPr>
            <a:r>
              <a:rPr lang="en-US" b="1" dirty="0"/>
              <a:t>Classes/Groupings of Parasitic animals</a:t>
            </a:r>
            <a:endParaRPr lang="en-US" dirty="0"/>
          </a:p>
          <a:p>
            <a:pPr marL="514350" lvl="0" indent="-514350">
              <a:buFont typeface="+mj-lt"/>
              <a:buAutoNum type="alphaLcParenR"/>
            </a:pPr>
            <a:r>
              <a:rPr lang="en-US" dirty="0"/>
              <a:t>Protozoa</a:t>
            </a:r>
          </a:p>
          <a:p>
            <a:pPr marL="514350" lvl="0" indent="-514350">
              <a:buFont typeface="+mj-lt"/>
              <a:buAutoNum type="alphaLcParenR"/>
            </a:pPr>
            <a:r>
              <a:rPr lang="en-US" dirty="0"/>
              <a:t>Helminthes</a:t>
            </a:r>
          </a:p>
          <a:p>
            <a:pPr marL="514350" indent="-514350">
              <a:buFont typeface="+mj-lt"/>
              <a:buAutoNum type="alphaLcParenR"/>
            </a:pPr>
            <a:r>
              <a:rPr lang="en-US" dirty="0"/>
              <a:t>Arthropods</a:t>
            </a:r>
          </a:p>
          <a:p>
            <a:pPr marL="0" indent="0">
              <a:buNone/>
            </a:pPr>
            <a:endParaRPr lang="en-US" dirty="0"/>
          </a:p>
        </p:txBody>
      </p:sp>
    </p:spTree>
    <p:extLst>
      <p:ext uri="{BB962C8B-B14F-4D97-AF65-F5344CB8AC3E}">
        <p14:creationId xmlns:p14="http://schemas.microsoft.com/office/powerpoint/2010/main" val="12875077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Overview)</a:t>
            </a:r>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UNIT. III</a:t>
            </a:r>
          </a:p>
          <a:p>
            <a:pPr marL="0" lvl="0" indent="0">
              <a:buNone/>
            </a:pPr>
            <a:r>
              <a:rPr lang="en-US" b="1" dirty="0"/>
              <a:t>Diagnosis of Parasitic Protozoan infections</a:t>
            </a:r>
          </a:p>
          <a:p>
            <a:pPr marL="0" indent="0" algn="ctr">
              <a:buNone/>
            </a:pPr>
            <a:r>
              <a:rPr lang="en-US" b="1" dirty="0"/>
              <a:t>UNIT IV A</a:t>
            </a:r>
          </a:p>
          <a:p>
            <a:pPr marL="0" indent="0">
              <a:buNone/>
            </a:pPr>
            <a:r>
              <a:rPr lang="en-US" b="1" dirty="0"/>
              <a:t>Parasitic Protozoa</a:t>
            </a:r>
          </a:p>
          <a:p>
            <a:pPr marL="514350" indent="-514350">
              <a:buAutoNum type="alphaLcParenR"/>
            </a:pPr>
            <a:r>
              <a:rPr lang="en-US" b="1" dirty="0"/>
              <a:t>Intestinal and Reproductive tract parasites</a:t>
            </a:r>
          </a:p>
          <a:p>
            <a:pPr>
              <a:buFont typeface="Wingdings" pitchFamily="2" charset="2"/>
              <a:buChar char="v"/>
            </a:pPr>
            <a:r>
              <a:rPr lang="en-US" b="1" dirty="0"/>
              <a:t>Amoebae</a:t>
            </a:r>
          </a:p>
          <a:p>
            <a:pPr>
              <a:buFont typeface="Wingdings" pitchFamily="2" charset="2"/>
              <a:buChar char="v"/>
            </a:pPr>
            <a:r>
              <a:rPr lang="en-US" b="1" dirty="0"/>
              <a:t>Flagellates</a:t>
            </a:r>
          </a:p>
          <a:p>
            <a:pPr>
              <a:buFont typeface="Wingdings" pitchFamily="2" charset="2"/>
              <a:buChar char="v"/>
            </a:pPr>
            <a:r>
              <a:rPr lang="en-US" b="1" dirty="0"/>
              <a:t>Ciliates </a:t>
            </a:r>
          </a:p>
          <a:p>
            <a:pPr>
              <a:buFont typeface="Wingdings" pitchFamily="2" charset="2"/>
              <a:buChar char="v"/>
            </a:pPr>
            <a:r>
              <a:rPr lang="en-US" b="1" dirty="0"/>
              <a:t>Coccidia</a:t>
            </a:r>
          </a:p>
          <a:p>
            <a:pPr marL="0" indent="0">
              <a:buNone/>
            </a:pPr>
            <a:endParaRPr lang="en-US" b="1" dirty="0"/>
          </a:p>
        </p:txBody>
      </p:sp>
    </p:spTree>
    <p:extLst>
      <p:ext uri="{BB962C8B-B14F-4D97-AF65-F5344CB8AC3E}">
        <p14:creationId xmlns:p14="http://schemas.microsoft.com/office/powerpoint/2010/main" val="3330825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r>
              <a:rPr lang="en-US" dirty="0"/>
              <a:t>(General Overview)</a:t>
            </a:r>
          </a:p>
        </p:txBody>
      </p:sp>
      <p:sp>
        <p:nvSpPr>
          <p:cNvPr id="3" name="Content Placeholder 2"/>
          <p:cNvSpPr>
            <a:spLocks noGrp="1"/>
          </p:cNvSpPr>
          <p:nvPr>
            <p:ph idx="1"/>
          </p:nvPr>
        </p:nvSpPr>
        <p:spPr/>
        <p:txBody>
          <a:bodyPr/>
          <a:lstStyle/>
          <a:p>
            <a:pPr marL="0" indent="0" algn="ctr">
              <a:buNone/>
            </a:pPr>
            <a:r>
              <a:rPr lang="en-US" dirty="0"/>
              <a:t>UNIT IV B</a:t>
            </a:r>
          </a:p>
          <a:p>
            <a:pPr marL="0" indent="0">
              <a:buNone/>
            </a:pPr>
            <a:r>
              <a:rPr lang="en-US" dirty="0"/>
              <a:t>Tissue (including Blood)Protozoan Parasites</a:t>
            </a:r>
          </a:p>
          <a:p>
            <a:pPr>
              <a:buFont typeface="Wingdings" pitchFamily="2" charset="2"/>
              <a:buChar char="v"/>
            </a:pPr>
            <a:r>
              <a:rPr lang="en-US" dirty="0"/>
              <a:t>Trypanosomes</a:t>
            </a:r>
          </a:p>
          <a:p>
            <a:pPr>
              <a:buFont typeface="Wingdings" pitchFamily="2" charset="2"/>
              <a:buChar char="v"/>
            </a:pPr>
            <a:r>
              <a:rPr lang="en-US" dirty="0" err="1"/>
              <a:t>Leishmanias</a:t>
            </a:r>
            <a:endParaRPr lang="en-US" dirty="0"/>
          </a:p>
        </p:txBody>
      </p:sp>
    </p:spTree>
    <p:extLst>
      <p:ext uri="{BB962C8B-B14F-4D97-AF65-F5344CB8AC3E}">
        <p14:creationId xmlns:p14="http://schemas.microsoft.com/office/powerpoint/2010/main" val="3767907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Overview)</a:t>
            </a:r>
          </a:p>
        </p:txBody>
      </p:sp>
      <p:sp>
        <p:nvSpPr>
          <p:cNvPr id="3" name="Content Placeholder 2"/>
          <p:cNvSpPr>
            <a:spLocks noGrp="1"/>
          </p:cNvSpPr>
          <p:nvPr>
            <p:ph idx="1"/>
          </p:nvPr>
        </p:nvSpPr>
        <p:spPr/>
        <p:txBody>
          <a:bodyPr>
            <a:normAutofit lnSpcReduction="10000"/>
          </a:bodyPr>
          <a:lstStyle/>
          <a:p>
            <a:pPr marL="0" lvl="0" indent="0" algn="ctr">
              <a:buNone/>
            </a:pPr>
            <a:r>
              <a:rPr lang="en-US" b="1" dirty="0"/>
              <a:t>UNIT V</a:t>
            </a:r>
          </a:p>
          <a:p>
            <a:pPr marL="0" lvl="0" indent="0">
              <a:buNone/>
            </a:pPr>
            <a:r>
              <a:rPr lang="en-US" b="1" dirty="0"/>
              <a:t>Parasitic Helminthes</a:t>
            </a:r>
            <a:endParaRPr lang="en-US" dirty="0"/>
          </a:p>
          <a:p>
            <a:pPr marL="0" lvl="0" indent="0">
              <a:buNone/>
            </a:pPr>
            <a:r>
              <a:rPr lang="en-US" dirty="0"/>
              <a:t>a) Tapeworms (Cestodes)</a:t>
            </a:r>
          </a:p>
          <a:p>
            <a:pPr marL="0" lvl="0" indent="0">
              <a:buNone/>
            </a:pPr>
            <a:r>
              <a:rPr lang="en-US" dirty="0"/>
              <a:t>b) Flukes (Trematodes)</a:t>
            </a:r>
          </a:p>
          <a:p>
            <a:pPr lvl="0">
              <a:buFont typeface="Wingdings" pitchFamily="2" charset="2"/>
              <a:buChar char="v"/>
            </a:pPr>
            <a:r>
              <a:rPr lang="en-US" dirty="0"/>
              <a:t>Liver</a:t>
            </a:r>
          </a:p>
          <a:p>
            <a:pPr lvl="0">
              <a:buFont typeface="Wingdings" pitchFamily="2" charset="2"/>
              <a:buChar char="v"/>
            </a:pPr>
            <a:r>
              <a:rPr lang="en-US" dirty="0"/>
              <a:t>Intestinal</a:t>
            </a:r>
          </a:p>
          <a:p>
            <a:pPr lvl="0">
              <a:buFont typeface="Wingdings" pitchFamily="2" charset="2"/>
              <a:buChar char="v"/>
            </a:pPr>
            <a:r>
              <a:rPr lang="en-US" dirty="0"/>
              <a:t>Lung</a:t>
            </a:r>
          </a:p>
          <a:p>
            <a:pPr lvl="0">
              <a:buFont typeface="Wingdings" pitchFamily="2" charset="2"/>
              <a:buChar char="v"/>
            </a:pPr>
            <a:r>
              <a:rPr lang="en-US" dirty="0"/>
              <a:t>Blood</a:t>
            </a:r>
          </a:p>
          <a:p>
            <a:pPr lvl="0"/>
            <a:endParaRPr lang="en-US" dirty="0"/>
          </a:p>
        </p:txBody>
      </p:sp>
    </p:spTree>
    <p:extLst>
      <p:ext uri="{BB962C8B-B14F-4D97-AF65-F5344CB8AC3E}">
        <p14:creationId xmlns:p14="http://schemas.microsoft.com/office/powerpoint/2010/main" val="35347583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Overview</a:t>
            </a:r>
          </a:p>
        </p:txBody>
      </p:sp>
      <p:sp>
        <p:nvSpPr>
          <p:cNvPr id="3" name="Content Placeholder 2"/>
          <p:cNvSpPr>
            <a:spLocks noGrp="1"/>
          </p:cNvSpPr>
          <p:nvPr>
            <p:ph idx="1"/>
          </p:nvPr>
        </p:nvSpPr>
        <p:spPr/>
        <p:txBody>
          <a:bodyPr>
            <a:normAutofit/>
          </a:bodyPr>
          <a:lstStyle/>
          <a:p>
            <a:pPr marL="0" lvl="0" indent="0" algn="ctr">
              <a:buNone/>
            </a:pPr>
            <a:r>
              <a:rPr lang="en-US" dirty="0"/>
              <a:t>UNIT V (c)</a:t>
            </a:r>
          </a:p>
          <a:p>
            <a:pPr marL="0" lvl="0" indent="0">
              <a:buNone/>
            </a:pPr>
            <a:r>
              <a:rPr lang="en-US" dirty="0"/>
              <a:t>c)</a:t>
            </a:r>
            <a:r>
              <a:rPr lang="en-US" b="1" dirty="0"/>
              <a:t> </a:t>
            </a:r>
            <a:r>
              <a:rPr lang="en-US" dirty="0"/>
              <a:t>Nematodes </a:t>
            </a:r>
          </a:p>
          <a:p>
            <a:pPr lvl="0">
              <a:buFont typeface="Wingdings" pitchFamily="2" charset="2"/>
              <a:buChar char="v"/>
            </a:pPr>
            <a:r>
              <a:rPr lang="en-US" dirty="0"/>
              <a:t>Intestinal</a:t>
            </a:r>
          </a:p>
          <a:p>
            <a:pPr lvl="0">
              <a:buFont typeface="Wingdings" pitchFamily="2" charset="2"/>
              <a:buChar char="v"/>
            </a:pPr>
            <a:r>
              <a:rPr lang="en-US" dirty="0"/>
              <a:t>Blood/Tissue</a:t>
            </a:r>
          </a:p>
          <a:p>
            <a:pPr marL="0" indent="0">
              <a:buNone/>
            </a:pPr>
            <a:endParaRPr lang="en-US" dirty="0"/>
          </a:p>
        </p:txBody>
      </p:sp>
    </p:spTree>
    <p:extLst>
      <p:ext uri="{BB962C8B-B14F-4D97-AF65-F5344CB8AC3E}">
        <p14:creationId xmlns:p14="http://schemas.microsoft.com/office/powerpoint/2010/main" val="3499240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Overview</a:t>
            </a:r>
          </a:p>
        </p:txBody>
      </p:sp>
      <p:sp>
        <p:nvSpPr>
          <p:cNvPr id="3" name="Content Placeholder 2"/>
          <p:cNvSpPr>
            <a:spLocks noGrp="1"/>
          </p:cNvSpPr>
          <p:nvPr>
            <p:ph idx="1"/>
          </p:nvPr>
        </p:nvSpPr>
        <p:spPr/>
        <p:txBody>
          <a:bodyPr/>
          <a:lstStyle/>
          <a:p>
            <a:pPr marL="0" indent="0" algn="ctr">
              <a:buNone/>
            </a:pPr>
            <a:r>
              <a:rPr lang="en-US" dirty="0"/>
              <a:t>UNIT VI</a:t>
            </a:r>
          </a:p>
          <a:p>
            <a:pPr marL="0" indent="0">
              <a:buNone/>
            </a:pPr>
            <a:r>
              <a:rPr lang="en-US" dirty="0"/>
              <a:t>Parasitic Arthropods</a:t>
            </a:r>
          </a:p>
          <a:p>
            <a:pPr lvl="0">
              <a:buFont typeface="Wingdings" pitchFamily="2" charset="2"/>
              <a:buChar char="v"/>
            </a:pPr>
            <a:r>
              <a:rPr lang="en-US" dirty="0"/>
              <a:t>Insects</a:t>
            </a:r>
          </a:p>
          <a:p>
            <a:pPr lvl="0">
              <a:buFont typeface="Wingdings" pitchFamily="2" charset="2"/>
              <a:buChar char="v"/>
            </a:pPr>
            <a:r>
              <a:rPr lang="en-US" dirty="0"/>
              <a:t>Arachnids</a:t>
            </a:r>
          </a:p>
          <a:p>
            <a:pPr lvl="0">
              <a:buFont typeface="Wingdings" pitchFamily="2" charset="2"/>
              <a:buChar char="v"/>
            </a:pPr>
            <a:r>
              <a:rPr lang="en-US" dirty="0"/>
              <a:t>Crustacea</a:t>
            </a:r>
          </a:p>
          <a:p>
            <a:pPr>
              <a:buFont typeface="Wingdings" pitchFamily="2" charset="2"/>
              <a:buChar char="v"/>
            </a:pPr>
            <a:endParaRPr lang="en-US" dirty="0"/>
          </a:p>
        </p:txBody>
      </p:sp>
    </p:spTree>
    <p:extLst>
      <p:ext uri="{BB962C8B-B14F-4D97-AF65-F5344CB8AC3E}">
        <p14:creationId xmlns:p14="http://schemas.microsoft.com/office/powerpoint/2010/main" val="14324850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249362"/>
          </a:xfrm>
        </p:spPr>
        <p:txBody>
          <a:bodyPr>
            <a:normAutofit fontScale="90000"/>
          </a:bodyPr>
          <a:lstStyle/>
          <a:p>
            <a:br>
              <a:rPr lang="en-US" dirty="0"/>
            </a:br>
            <a:r>
              <a:rPr lang="en-US" sz="4000" b="1" dirty="0">
                <a:solidFill>
                  <a:srgbClr val="00B0F0"/>
                </a:solidFill>
              </a:rPr>
              <a:t>TERMINOLOGY IN </a:t>
            </a:r>
            <a:r>
              <a:rPr lang="en-US" sz="4000" b="1" dirty="0">
                <a:solidFill>
                  <a:srgbClr val="FF0000"/>
                </a:solidFill>
              </a:rPr>
              <a:t>PARASITOLOGY</a:t>
            </a:r>
            <a:r>
              <a:rPr lang="en-US" sz="4000" b="1" dirty="0"/>
              <a:t> (DEFINITION OF TERMS)</a:t>
            </a:r>
            <a:br>
              <a:rPr lang="en-US" sz="4000" dirty="0"/>
            </a:br>
            <a:endParaRPr lang="en-US" sz="4000" dirty="0"/>
          </a:p>
        </p:txBody>
      </p:sp>
      <p:sp>
        <p:nvSpPr>
          <p:cNvPr id="3" name="Content Placeholder 2"/>
          <p:cNvSpPr>
            <a:spLocks noGrp="1"/>
          </p:cNvSpPr>
          <p:nvPr>
            <p:ph idx="1"/>
          </p:nvPr>
        </p:nvSpPr>
        <p:spPr>
          <a:xfrm>
            <a:off x="457200" y="1828800"/>
            <a:ext cx="8229600" cy="4297363"/>
          </a:xfrm>
        </p:spPr>
        <p:txBody>
          <a:bodyPr>
            <a:normAutofit lnSpcReduction="10000"/>
          </a:bodyPr>
          <a:lstStyle/>
          <a:p>
            <a:r>
              <a:rPr lang="en-US" b="1" dirty="0">
                <a:solidFill>
                  <a:srgbClr val="FF0000"/>
                </a:solidFill>
              </a:rPr>
              <a:t>Parasitology</a:t>
            </a:r>
            <a:r>
              <a:rPr lang="en-US" b="1" dirty="0"/>
              <a:t> </a:t>
            </a:r>
            <a:r>
              <a:rPr lang="en-US" dirty="0"/>
              <a:t>is the </a:t>
            </a:r>
            <a:r>
              <a:rPr lang="en-US" u="sng" dirty="0"/>
              <a:t>science or study of parasites</a:t>
            </a:r>
            <a:r>
              <a:rPr lang="en-US" dirty="0"/>
              <a:t> and the </a:t>
            </a:r>
            <a:r>
              <a:rPr lang="en-US" u="sng" dirty="0"/>
              <a:t>phenomenon of parasitism</a:t>
            </a:r>
            <a:r>
              <a:rPr lang="en-US" dirty="0"/>
              <a:t>.</a:t>
            </a:r>
          </a:p>
          <a:p>
            <a:r>
              <a:rPr lang="en-US" b="1" dirty="0">
                <a:solidFill>
                  <a:srgbClr val="FF0000"/>
                </a:solidFill>
              </a:rPr>
              <a:t>Parasitism</a:t>
            </a:r>
            <a:r>
              <a:rPr lang="en-US" dirty="0"/>
              <a:t> is a </a:t>
            </a:r>
            <a:r>
              <a:rPr lang="en-US" dirty="0">
                <a:solidFill>
                  <a:srgbClr val="00B0F0"/>
                </a:solidFill>
              </a:rPr>
              <a:t>symbiotic relationship </a:t>
            </a:r>
            <a:r>
              <a:rPr lang="en-US" dirty="0"/>
              <a:t>in which </a:t>
            </a:r>
            <a:r>
              <a:rPr lang="en-US" dirty="0">
                <a:solidFill>
                  <a:srgbClr val="00B0F0"/>
                </a:solidFill>
              </a:rPr>
              <a:t>an organism </a:t>
            </a:r>
            <a:r>
              <a:rPr lang="en-US" dirty="0"/>
              <a:t>(termed the </a:t>
            </a:r>
            <a:r>
              <a:rPr lang="en-US" b="1" dirty="0">
                <a:solidFill>
                  <a:srgbClr val="FF0000"/>
                </a:solidFill>
              </a:rPr>
              <a:t>PARASITE</a:t>
            </a:r>
            <a:r>
              <a:rPr lang="en-US" dirty="0"/>
              <a:t>) </a:t>
            </a:r>
            <a:r>
              <a:rPr lang="en-US" u="sng" dirty="0"/>
              <a:t>or a population of the organism</a:t>
            </a:r>
            <a:r>
              <a:rPr lang="en-US" dirty="0"/>
              <a:t> depends on </a:t>
            </a:r>
            <a:r>
              <a:rPr lang="en-US" dirty="0">
                <a:solidFill>
                  <a:srgbClr val="00B0F0"/>
                </a:solidFill>
              </a:rPr>
              <a:t>another organism </a:t>
            </a:r>
            <a:r>
              <a:rPr lang="en-US" dirty="0"/>
              <a:t>(termed the </a:t>
            </a:r>
            <a:r>
              <a:rPr lang="en-US" b="1" dirty="0">
                <a:solidFill>
                  <a:srgbClr val="7030A0"/>
                </a:solidFill>
              </a:rPr>
              <a:t>HOST</a:t>
            </a:r>
            <a:r>
              <a:rPr lang="en-US" dirty="0"/>
              <a:t>, and which is </a:t>
            </a:r>
            <a:r>
              <a:rPr lang="en-US" u="sng" dirty="0"/>
              <a:t>usually of a different species</a:t>
            </a:r>
            <a:r>
              <a:rPr lang="en-US" dirty="0"/>
              <a:t>) and </a:t>
            </a:r>
            <a:r>
              <a:rPr lang="en-US" u="sng" dirty="0"/>
              <a:t>adversely affects that on which it depends</a:t>
            </a:r>
            <a:r>
              <a:rPr lang="en-US" dirty="0"/>
              <a:t>; </a:t>
            </a:r>
            <a:r>
              <a:rPr lang="en-US" dirty="0">
                <a:solidFill>
                  <a:srgbClr val="00B0F0"/>
                </a:solidFill>
              </a:rPr>
              <a:t>the parasite cannot live without the host.</a:t>
            </a:r>
          </a:p>
          <a:p>
            <a:pPr marL="0" indent="0">
              <a:buNone/>
            </a:pPr>
            <a:endParaRPr lang="en-US" dirty="0"/>
          </a:p>
        </p:txBody>
      </p:sp>
    </p:spTree>
    <p:extLst>
      <p:ext uri="{BB962C8B-B14F-4D97-AF65-F5344CB8AC3E}">
        <p14:creationId xmlns:p14="http://schemas.microsoft.com/office/powerpoint/2010/main" val="12573919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DEFINITION OF TERMS CONT’D</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solidFill>
                  <a:srgbClr val="00B0F0"/>
                </a:solidFill>
              </a:rPr>
              <a:t>Symbiosis</a:t>
            </a:r>
            <a:r>
              <a:rPr lang="en-US" dirty="0"/>
              <a:t> is a term that describes the </a:t>
            </a:r>
            <a:r>
              <a:rPr lang="en-US" dirty="0">
                <a:solidFill>
                  <a:srgbClr val="00B0F0"/>
                </a:solidFill>
              </a:rPr>
              <a:t>close association of two dissimilar organisms </a:t>
            </a:r>
            <a:r>
              <a:rPr lang="en-US" dirty="0"/>
              <a:t>(each of which is called a </a:t>
            </a:r>
            <a:r>
              <a:rPr lang="en-US" dirty="0">
                <a:solidFill>
                  <a:srgbClr val="00B0F0"/>
                </a:solidFill>
              </a:rPr>
              <a:t>symbiont</a:t>
            </a:r>
            <a:r>
              <a:rPr lang="en-US" dirty="0"/>
              <a:t>) </a:t>
            </a:r>
            <a:r>
              <a:rPr lang="en-US" u="sng" dirty="0"/>
              <a:t>with various outcomes</a:t>
            </a:r>
            <a:r>
              <a:rPr lang="en-US" dirty="0"/>
              <a:t>, depending on which there are the following types:</a:t>
            </a:r>
          </a:p>
          <a:p>
            <a:pPr marL="514350" lvl="0" indent="-514350">
              <a:buFont typeface="+mj-lt"/>
              <a:buAutoNum type="alphaLcParenR"/>
            </a:pPr>
            <a:r>
              <a:rPr lang="en-US" b="1" dirty="0">
                <a:solidFill>
                  <a:schemeClr val="accent6">
                    <a:lumMod val="75000"/>
                  </a:schemeClr>
                </a:solidFill>
              </a:rPr>
              <a:t>Mutualism</a:t>
            </a:r>
            <a:r>
              <a:rPr lang="en-US" dirty="0"/>
              <a:t> – the association is </a:t>
            </a:r>
            <a:r>
              <a:rPr lang="en-US" dirty="0">
                <a:solidFill>
                  <a:schemeClr val="accent6">
                    <a:lumMod val="75000"/>
                  </a:schemeClr>
                </a:solidFill>
              </a:rPr>
              <a:t>beneficial to both symbionts </a:t>
            </a:r>
            <a:r>
              <a:rPr lang="en-US" dirty="0">
                <a:solidFill>
                  <a:srgbClr val="C00000"/>
                </a:solidFill>
              </a:rPr>
              <a:t>(as opposed to </a:t>
            </a:r>
            <a:r>
              <a:rPr lang="en-US" b="1" dirty="0">
                <a:solidFill>
                  <a:srgbClr val="C00000"/>
                </a:solidFill>
              </a:rPr>
              <a:t>synnecrosis</a:t>
            </a:r>
            <a:r>
              <a:rPr lang="en-US" dirty="0">
                <a:solidFill>
                  <a:srgbClr val="C00000"/>
                </a:solidFill>
              </a:rPr>
              <a:t>)</a:t>
            </a:r>
          </a:p>
          <a:p>
            <a:pPr marL="514350" lvl="0" indent="-514350">
              <a:buFont typeface="+mj-lt"/>
              <a:buAutoNum type="alphaLcParenR"/>
            </a:pPr>
            <a:r>
              <a:rPr lang="en-US" b="1" dirty="0">
                <a:solidFill>
                  <a:srgbClr val="7030A0"/>
                </a:solidFill>
              </a:rPr>
              <a:t>Commensalism</a:t>
            </a:r>
            <a:r>
              <a:rPr lang="en-US" dirty="0"/>
              <a:t> – the association is </a:t>
            </a:r>
            <a:r>
              <a:rPr lang="en-US" dirty="0">
                <a:solidFill>
                  <a:srgbClr val="7030A0"/>
                </a:solidFill>
              </a:rPr>
              <a:t>beneficial to one and without effect on the other </a:t>
            </a:r>
            <a:r>
              <a:rPr lang="en-US" dirty="0">
                <a:solidFill>
                  <a:srgbClr val="0070C0"/>
                </a:solidFill>
              </a:rPr>
              <a:t>(as opposed to </a:t>
            </a:r>
            <a:r>
              <a:rPr lang="en-US" b="1" dirty="0" err="1">
                <a:solidFill>
                  <a:srgbClr val="0070C0"/>
                </a:solidFill>
              </a:rPr>
              <a:t>amensalism</a:t>
            </a:r>
            <a:r>
              <a:rPr lang="en-US" dirty="0">
                <a:solidFill>
                  <a:srgbClr val="0070C0"/>
                </a:solidFill>
              </a:rPr>
              <a:t>)</a:t>
            </a:r>
          </a:p>
          <a:p>
            <a:pPr marL="0" indent="0">
              <a:buNone/>
            </a:pPr>
            <a:endParaRPr lang="en-US" dirty="0"/>
          </a:p>
        </p:txBody>
      </p:sp>
    </p:spTree>
    <p:extLst>
      <p:ext uri="{BB962C8B-B14F-4D97-AF65-F5344CB8AC3E}">
        <p14:creationId xmlns:p14="http://schemas.microsoft.com/office/powerpoint/2010/main" val="3962818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 CONT’D</a:t>
            </a:r>
          </a:p>
        </p:txBody>
      </p:sp>
      <p:sp>
        <p:nvSpPr>
          <p:cNvPr id="3" name="Content Placeholder 2"/>
          <p:cNvSpPr>
            <a:spLocks noGrp="1"/>
          </p:cNvSpPr>
          <p:nvPr>
            <p:ph idx="1"/>
          </p:nvPr>
        </p:nvSpPr>
        <p:spPr/>
        <p:txBody>
          <a:bodyPr/>
          <a:lstStyle/>
          <a:p>
            <a:pPr marL="0" lvl="0" indent="0">
              <a:buNone/>
            </a:pPr>
            <a:r>
              <a:rPr lang="en-US" b="1" dirty="0"/>
              <a:t>c) </a:t>
            </a:r>
            <a:r>
              <a:rPr lang="en-US" b="1" dirty="0">
                <a:solidFill>
                  <a:srgbClr val="FF0000"/>
                </a:solidFill>
              </a:rPr>
              <a:t>Parasitism</a:t>
            </a:r>
            <a:r>
              <a:rPr lang="en-US" dirty="0"/>
              <a:t> – the association is </a:t>
            </a:r>
            <a:r>
              <a:rPr lang="en-US" dirty="0">
                <a:solidFill>
                  <a:srgbClr val="FF0000"/>
                </a:solidFill>
              </a:rPr>
              <a:t>beneficial to 	one but detrimental to the other</a:t>
            </a:r>
          </a:p>
          <a:p>
            <a:pPr marL="0" lvl="0" indent="0">
              <a:buNone/>
            </a:pPr>
            <a:r>
              <a:rPr lang="en-US" b="1" dirty="0"/>
              <a:t>d) </a:t>
            </a:r>
            <a:r>
              <a:rPr lang="en-US" b="1" dirty="0">
                <a:solidFill>
                  <a:srgbClr val="0070C0"/>
                </a:solidFill>
              </a:rPr>
              <a:t>Amensalism</a:t>
            </a:r>
            <a:r>
              <a:rPr lang="en-US" b="1" dirty="0"/>
              <a:t> –</a:t>
            </a:r>
            <a:r>
              <a:rPr lang="en-US" dirty="0"/>
              <a:t> the association is </a:t>
            </a:r>
            <a:r>
              <a:rPr lang="en-US" dirty="0">
                <a:solidFill>
                  <a:srgbClr val="0070C0"/>
                </a:solidFill>
              </a:rPr>
              <a:t>detrimental 	to one but without effect on the other </a:t>
            </a:r>
            <a:r>
              <a:rPr lang="en-US" dirty="0">
                <a:solidFill>
                  <a:srgbClr val="7030A0"/>
                </a:solidFill>
              </a:rPr>
              <a:t>(as opposed to </a:t>
            </a:r>
            <a:r>
              <a:rPr lang="en-US" b="1" dirty="0">
                <a:solidFill>
                  <a:srgbClr val="7030A0"/>
                </a:solidFill>
              </a:rPr>
              <a:t>commensalism</a:t>
            </a:r>
            <a:r>
              <a:rPr lang="en-US" dirty="0">
                <a:solidFill>
                  <a:srgbClr val="7030A0"/>
                </a:solidFill>
              </a:rPr>
              <a:t>)</a:t>
            </a:r>
          </a:p>
          <a:p>
            <a:pPr marL="0" lvl="0" indent="0">
              <a:buNone/>
            </a:pPr>
            <a:r>
              <a:rPr lang="en-US" b="1" dirty="0">
                <a:solidFill>
                  <a:srgbClr val="C00000"/>
                </a:solidFill>
              </a:rPr>
              <a:t>e)Synnecrosis</a:t>
            </a:r>
            <a:r>
              <a:rPr lang="en-US" b="1" dirty="0"/>
              <a:t> </a:t>
            </a:r>
            <a:r>
              <a:rPr lang="en-US" dirty="0"/>
              <a:t>– the association is </a:t>
            </a:r>
            <a:r>
              <a:rPr lang="en-US" dirty="0">
                <a:solidFill>
                  <a:srgbClr val="C00000"/>
                </a:solidFill>
              </a:rPr>
              <a:t>detrimental to 	both organisms </a:t>
            </a:r>
            <a:r>
              <a:rPr lang="en-US" dirty="0">
                <a:solidFill>
                  <a:schemeClr val="accent6">
                    <a:lumMod val="75000"/>
                  </a:schemeClr>
                </a:solidFill>
              </a:rPr>
              <a:t>(as opposed to </a:t>
            </a:r>
            <a:r>
              <a:rPr lang="en-US" b="1" dirty="0">
                <a:solidFill>
                  <a:schemeClr val="accent6">
                    <a:lumMod val="75000"/>
                  </a:schemeClr>
                </a:solidFill>
              </a:rPr>
              <a:t>mutualism</a:t>
            </a:r>
            <a:r>
              <a:rPr lang="en-US" dirty="0">
                <a:solidFill>
                  <a:schemeClr val="accent6">
                    <a:lumMod val="75000"/>
                  </a:schemeClr>
                </a:solidFill>
              </a:rPr>
              <a:t>)</a:t>
            </a:r>
          </a:p>
          <a:p>
            <a:endParaRPr lang="en-US" dirty="0"/>
          </a:p>
        </p:txBody>
      </p:sp>
    </p:spTree>
    <p:extLst>
      <p:ext uri="{BB962C8B-B14F-4D97-AF65-F5344CB8AC3E}">
        <p14:creationId xmlns:p14="http://schemas.microsoft.com/office/powerpoint/2010/main" val="2979988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 CONT’D</a:t>
            </a:r>
          </a:p>
        </p:txBody>
      </p:sp>
      <p:sp>
        <p:nvSpPr>
          <p:cNvPr id="3" name="Content Placeholder 2"/>
          <p:cNvSpPr>
            <a:spLocks noGrp="1"/>
          </p:cNvSpPr>
          <p:nvPr>
            <p:ph idx="1"/>
          </p:nvPr>
        </p:nvSpPr>
        <p:spPr/>
        <p:txBody>
          <a:bodyPr/>
          <a:lstStyle/>
          <a:p>
            <a:pPr marL="0" lvl="0" indent="0">
              <a:buNone/>
            </a:pPr>
            <a:r>
              <a:rPr lang="en-US" b="1" dirty="0"/>
              <a:t>f) </a:t>
            </a:r>
            <a:r>
              <a:rPr lang="en-US" b="1" dirty="0">
                <a:solidFill>
                  <a:schemeClr val="accent2">
                    <a:lumMod val="75000"/>
                  </a:schemeClr>
                </a:solidFill>
              </a:rPr>
              <a:t>Phoresis</a:t>
            </a:r>
            <a:r>
              <a:rPr lang="en-US" dirty="0"/>
              <a:t> (or </a:t>
            </a:r>
            <a:r>
              <a:rPr lang="en-US" b="1" dirty="0">
                <a:solidFill>
                  <a:schemeClr val="accent2">
                    <a:lumMod val="75000"/>
                  </a:schemeClr>
                </a:solidFill>
              </a:rPr>
              <a:t>Transport Commensalism</a:t>
            </a:r>
            <a:r>
              <a:rPr lang="en-US" dirty="0"/>
              <a:t>) – </a:t>
            </a:r>
            <a:r>
              <a:rPr lang="en-US" u="sng" dirty="0"/>
              <a:t>the association is based on transportation only, </a:t>
            </a:r>
            <a:r>
              <a:rPr lang="en-US" dirty="0"/>
              <a:t>i.e. </a:t>
            </a:r>
            <a:r>
              <a:rPr lang="en-US" dirty="0">
                <a:solidFill>
                  <a:schemeClr val="accent2">
                    <a:lumMod val="75000"/>
                  </a:schemeClr>
                </a:solidFill>
              </a:rPr>
              <a:t>one of the symbionts is dependent on the other to be transported from place to place</a:t>
            </a:r>
            <a:r>
              <a:rPr lang="en-US" dirty="0"/>
              <a:t>; </a:t>
            </a:r>
            <a:r>
              <a:rPr lang="en-US" u="sng" dirty="0"/>
              <a:t>neither symbiont is physiologically dependent on the other; usually one partner (the one carried is smaller than the other (the carrier which is larger)</a:t>
            </a:r>
            <a:r>
              <a:rPr lang="en-US" dirty="0"/>
              <a:t>.</a:t>
            </a:r>
          </a:p>
          <a:p>
            <a:endParaRPr lang="en-US" dirty="0"/>
          </a:p>
        </p:txBody>
      </p:sp>
    </p:spTree>
    <p:extLst>
      <p:ext uri="{BB962C8B-B14F-4D97-AF65-F5344CB8AC3E}">
        <p14:creationId xmlns:p14="http://schemas.microsoft.com/office/powerpoint/2010/main" val="2153055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 CONT’D</a:t>
            </a:r>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v"/>
            </a:pPr>
            <a:r>
              <a:rPr lang="en-US" dirty="0"/>
              <a:t>A </a:t>
            </a:r>
            <a:r>
              <a:rPr lang="en-US" b="1" dirty="0">
                <a:solidFill>
                  <a:srgbClr val="FF0000"/>
                </a:solidFill>
              </a:rPr>
              <a:t>parasite</a:t>
            </a:r>
            <a:r>
              <a:rPr lang="en-US" dirty="0"/>
              <a:t> is, thus, </a:t>
            </a:r>
            <a:r>
              <a:rPr lang="en-US" dirty="0">
                <a:solidFill>
                  <a:srgbClr val="00B0F0"/>
                </a:solidFill>
              </a:rPr>
              <a:t>an organism living </a:t>
            </a:r>
            <a:r>
              <a:rPr lang="en-US" b="1" dirty="0">
                <a:solidFill>
                  <a:srgbClr val="00B0F0"/>
                </a:solidFill>
              </a:rPr>
              <a:t>in</a:t>
            </a:r>
            <a:r>
              <a:rPr lang="en-US" dirty="0">
                <a:solidFill>
                  <a:srgbClr val="00B0F0"/>
                </a:solidFill>
              </a:rPr>
              <a:t> or </a:t>
            </a:r>
            <a:r>
              <a:rPr lang="en-US" b="1" dirty="0">
                <a:solidFill>
                  <a:srgbClr val="00B0F0"/>
                </a:solidFill>
              </a:rPr>
              <a:t>on</a:t>
            </a:r>
            <a:r>
              <a:rPr lang="en-US" dirty="0">
                <a:solidFill>
                  <a:srgbClr val="00B0F0"/>
                </a:solidFill>
              </a:rPr>
              <a:t> another organism (host) of a different species from which it obtains food and protection</a:t>
            </a:r>
            <a:r>
              <a:rPr lang="en-US" dirty="0"/>
              <a:t>; </a:t>
            </a:r>
            <a:r>
              <a:rPr lang="en-US" u="sng" dirty="0"/>
              <a:t>the relationship/dependence may or may not be harmful to the host</a:t>
            </a:r>
            <a:r>
              <a:rPr lang="en-US" dirty="0"/>
              <a:t>. </a:t>
            </a:r>
          </a:p>
          <a:p>
            <a:pPr>
              <a:buFont typeface="Wingdings" pitchFamily="2" charset="2"/>
              <a:buChar char="v"/>
            </a:pPr>
            <a:r>
              <a:rPr lang="en-US" u="sng" dirty="0"/>
              <a:t>An organism may become parasitic only under certain conditions</a:t>
            </a:r>
            <a:r>
              <a:rPr lang="en-US" dirty="0"/>
              <a:t>, in which case it is described as a </a:t>
            </a:r>
            <a:r>
              <a:rPr lang="en-US" b="1" dirty="0">
                <a:solidFill>
                  <a:srgbClr val="C00000"/>
                </a:solidFill>
              </a:rPr>
              <a:t>Facultative parasite</a:t>
            </a:r>
            <a:r>
              <a:rPr lang="en-US" dirty="0">
                <a:solidFill>
                  <a:srgbClr val="C00000"/>
                </a:solidFill>
              </a:rPr>
              <a:t> </a:t>
            </a:r>
            <a:r>
              <a:rPr lang="en-US" dirty="0"/>
              <a:t>or </a:t>
            </a:r>
            <a:r>
              <a:rPr lang="en-US" u="sng" dirty="0"/>
              <a:t>it always lives a parasitic mode of life</a:t>
            </a:r>
            <a:r>
              <a:rPr lang="en-US" dirty="0"/>
              <a:t>, in which case it described as an </a:t>
            </a:r>
            <a:r>
              <a:rPr lang="en-US" b="1" dirty="0">
                <a:solidFill>
                  <a:srgbClr val="C00000"/>
                </a:solidFill>
              </a:rPr>
              <a:t>Obligate parasite.</a:t>
            </a:r>
            <a:r>
              <a:rPr lang="en-US" dirty="0">
                <a:solidFill>
                  <a:srgbClr val="C00000"/>
                </a:solidFill>
              </a:rPr>
              <a:t>  </a:t>
            </a:r>
          </a:p>
        </p:txBody>
      </p:sp>
    </p:spTree>
    <p:extLst>
      <p:ext uri="{BB962C8B-B14F-4D97-AF65-F5344CB8AC3E}">
        <p14:creationId xmlns:p14="http://schemas.microsoft.com/office/powerpoint/2010/main" val="1147362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 CONT’D</a:t>
            </a:r>
          </a:p>
        </p:txBody>
      </p:sp>
      <p:sp>
        <p:nvSpPr>
          <p:cNvPr id="3" name="Content Placeholder 2"/>
          <p:cNvSpPr>
            <a:spLocks noGrp="1"/>
          </p:cNvSpPr>
          <p:nvPr>
            <p:ph idx="1"/>
          </p:nvPr>
        </p:nvSpPr>
        <p:spPr/>
        <p:txBody>
          <a:bodyPr/>
          <a:lstStyle/>
          <a:p>
            <a:pPr>
              <a:buFont typeface="Wingdings" pitchFamily="2" charset="2"/>
              <a:buChar char="v"/>
            </a:pPr>
            <a:r>
              <a:rPr lang="en-US" u="sng" dirty="0"/>
              <a:t>A parasite that lives on the surface or body of its host </a:t>
            </a:r>
            <a:r>
              <a:rPr lang="en-US" dirty="0"/>
              <a:t>is called an </a:t>
            </a:r>
            <a:r>
              <a:rPr lang="en-US" b="1" dirty="0">
                <a:solidFill>
                  <a:srgbClr val="C00000"/>
                </a:solidFill>
              </a:rPr>
              <a:t>Ectoparasite</a:t>
            </a:r>
            <a:r>
              <a:rPr lang="en-US" b="1" dirty="0"/>
              <a:t>;</a:t>
            </a:r>
            <a:r>
              <a:rPr lang="en-US" dirty="0"/>
              <a:t> </a:t>
            </a:r>
            <a:r>
              <a:rPr lang="en-US" u="sng" dirty="0"/>
              <a:t>one that lives in/within the body or organs of its host</a:t>
            </a:r>
            <a:r>
              <a:rPr lang="en-US" dirty="0"/>
              <a:t> is called an </a:t>
            </a:r>
            <a:r>
              <a:rPr lang="en-US" b="1" dirty="0">
                <a:solidFill>
                  <a:srgbClr val="C00000"/>
                </a:solidFill>
              </a:rPr>
              <a:t>Endoparasite</a:t>
            </a:r>
            <a:r>
              <a:rPr lang="en-US" b="1" dirty="0"/>
              <a:t>.</a:t>
            </a:r>
            <a:endParaRPr lang="en-US" dirty="0"/>
          </a:p>
          <a:p>
            <a:pPr marL="0" indent="0">
              <a:buNone/>
            </a:pPr>
            <a:endParaRPr lang="en-US" dirty="0"/>
          </a:p>
        </p:txBody>
      </p:sp>
    </p:spTree>
    <p:extLst>
      <p:ext uri="{BB962C8B-B14F-4D97-AF65-F5344CB8AC3E}">
        <p14:creationId xmlns:p14="http://schemas.microsoft.com/office/powerpoint/2010/main" val="6738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 CONT’D</a:t>
            </a:r>
          </a:p>
        </p:txBody>
      </p:sp>
      <p:sp>
        <p:nvSpPr>
          <p:cNvPr id="3" name="Content Placeholder 2"/>
          <p:cNvSpPr>
            <a:spLocks noGrp="1"/>
          </p:cNvSpPr>
          <p:nvPr>
            <p:ph idx="1"/>
          </p:nvPr>
        </p:nvSpPr>
        <p:spPr/>
        <p:txBody>
          <a:bodyPr/>
          <a:lstStyle/>
          <a:p>
            <a:pPr>
              <a:buFont typeface="Wingdings" pitchFamily="2" charset="2"/>
              <a:buChar char="v"/>
            </a:pPr>
            <a:r>
              <a:rPr lang="en-US" u="sng" dirty="0"/>
              <a:t>A parasite that lives in or attaches itself to the body of a </a:t>
            </a:r>
            <a:r>
              <a:rPr lang="en-US" b="1" u="sng" dirty="0"/>
              <a:t>species of host different from its normal one</a:t>
            </a:r>
            <a:r>
              <a:rPr lang="en-US" b="1" dirty="0"/>
              <a:t> </a:t>
            </a:r>
            <a:r>
              <a:rPr lang="en-US" dirty="0"/>
              <a:t>is referred to as an </a:t>
            </a:r>
            <a:r>
              <a:rPr lang="en-US" b="1" dirty="0">
                <a:solidFill>
                  <a:srgbClr val="C00000"/>
                </a:solidFill>
              </a:rPr>
              <a:t>Accidental</a:t>
            </a:r>
            <a:r>
              <a:rPr lang="en-US" b="1" dirty="0"/>
              <a:t> </a:t>
            </a:r>
            <a:r>
              <a:rPr lang="en-US" dirty="0"/>
              <a:t>or </a:t>
            </a:r>
            <a:r>
              <a:rPr lang="en-US" b="1" dirty="0">
                <a:solidFill>
                  <a:srgbClr val="C00000"/>
                </a:solidFill>
              </a:rPr>
              <a:t>Incidental parasite</a:t>
            </a:r>
            <a:r>
              <a:rPr lang="en-US" dirty="0"/>
              <a:t>. </a:t>
            </a:r>
          </a:p>
          <a:p>
            <a:pPr>
              <a:buFont typeface="Wingdings" pitchFamily="2" charset="2"/>
              <a:buChar char="v"/>
            </a:pPr>
            <a:r>
              <a:rPr lang="en-US" dirty="0"/>
              <a:t>e.g. </a:t>
            </a:r>
            <a:r>
              <a:rPr lang="en-US" u="sng" dirty="0">
                <a:solidFill>
                  <a:srgbClr val="00B0F0"/>
                </a:solidFill>
              </a:rPr>
              <a:t>nematodes</a:t>
            </a:r>
            <a:r>
              <a:rPr lang="en-US" u="sng" dirty="0"/>
              <a:t> that are normally parasitic in insects may live for a short time in the intestines of birds</a:t>
            </a:r>
            <a:r>
              <a:rPr lang="en-US" dirty="0"/>
              <a:t>, or a </a:t>
            </a:r>
            <a:r>
              <a:rPr lang="en-US" u="sng" dirty="0">
                <a:solidFill>
                  <a:srgbClr val="00B0F0"/>
                </a:solidFill>
              </a:rPr>
              <a:t>rodent flea </a:t>
            </a:r>
            <a:r>
              <a:rPr lang="en-US" u="sng" dirty="0"/>
              <a:t>may bite a dog or human</a:t>
            </a:r>
            <a:r>
              <a:rPr lang="en-US" dirty="0"/>
              <a:t>.</a:t>
            </a:r>
          </a:p>
        </p:txBody>
      </p:sp>
    </p:spTree>
    <p:extLst>
      <p:ext uri="{BB962C8B-B14F-4D97-AF65-F5344CB8AC3E}">
        <p14:creationId xmlns:p14="http://schemas.microsoft.com/office/powerpoint/2010/main" val="3841419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 CONT’D</a:t>
            </a:r>
          </a:p>
        </p:txBody>
      </p:sp>
      <p:sp>
        <p:nvSpPr>
          <p:cNvPr id="3" name="Content Placeholder 2"/>
          <p:cNvSpPr>
            <a:spLocks noGrp="1"/>
          </p:cNvSpPr>
          <p:nvPr>
            <p:ph idx="1"/>
          </p:nvPr>
        </p:nvSpPr>
        <p:spPr/>
        <p:txBody>
          <a:bodyPr/>
          <a:lstStyle/>
          <a:p>
            <a:pPr>
              <a:buFont typeface="Wingdings" pitchFamily="2" charset="2"/>
              <a:buChar char="v"/>
            </a:pPr>
            <a:r>
              <a:rPr lang="en-US" dirty="0">
                <a:solidFill>
                  <a:srgbClr val="C00000"/>
                </a:solidFill>
              </a:rPr>
              <a:t>Accidental parasites </a:t>
            </a:r>
            <a:r>
              <a:rPr lang="en-US" u="sng" dirty="0"/>
              <a:t>usually are unable to stay long on, or live long in the wrong host</a:t>
            </a:r>
            <a:r>
              <a:rPr lang="en-US" dirty="0"/>
              <a:t>. </a:t>
            </a:r>
          </a:p>
          <a:p>
            <a:pPr>
              <a:buFont typeface="Wingdings" pitchFamily="2" charset="2"/>
              <a:buChar char="v"/>
            </a:pPr>
            <a:endParaRPr lang="en-US" dirty="0"/>
          </a:p>
          <a:p>
            <a:pPr>
              <a:buFont typeface="Wingdings" pitchFamily="2" charset="2"/>
              <a:buChar char="v"/>
            </a:pPr>
            <a:r>
              <a:rPr lang="en-US" dirty="0"/>
              <a:t>However, some </a:t>
            </a:r>
            <a:r>
              <a:rPr lang="en-US" dirty="0">
                <a:solidFill>
                  <a:srgbClr val="C00000"/>
                </a:solidFill>
              </a:rPr>
              <a:t>accidental parasites </a:t>
            </a:r>
            <a:r>
              <a:rPr lang="en-US" u="sng" dirty="0"/>
              <a:t>may be extremely pathogenic to their unfamiliar hosts</a:t>
            </a:r>
            <a:r>
              <a:rPr lang="en-US" dirty="0"/>
              <a:t>.</a:t>
            </a:r>
          </a:p>
        </p:txBody>
      </p:sp>
    </p:spTree>
    <p:extLst>
      <p:ext uri="{BB962C8B-B14F-4D97-AF65-F5344CB8AC3E}">
        <p14:creationId xmlns:p14="http://schemas.microsoft.com/office/powerpoint/2010/main" val="32452714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 CONT’D</a:t>
            </a:r>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u="sng" dirty="0"/>
              <a:t>Some parasites live their entire adult lives within or on their hosts</a:t>
            </a:r>
            <a:r>
              <a:rPr lang="en-US" dirty="0"/>
              <a:t>; such may be called </a:t>
            </a:r>
            <a:r>
              <a:rPr lang="en-US" b="1" dirty="0">
                <a:solidFill>
                  <a:srgbClr val="C00000"/>
                </a:solidFill>
              </a:rPr>
              <a:t>Permanent parasites</a:t>
            </a:r>
            <a:r>
              <a:rPr lang="en-US" b="1" dirty="0"/>
              <a:t>,</a:t>
            </a:r>
            <a:r>
              <a:rPr lang="en-US" dirty="0"/>
              <a:t> whereas a </a:t>
            </a:r>
            <a:r>
              <a:rPr lang="en-US" b="1" dirty="0">
                <a:solidFill>
                  <a:srgbClr val="C00000"/>
                </a:solidFill>
              </a:rPr>
              <a:t>Temporary</a:t>
            </a:r>
            <a:r>
              <a:rPr lang="en-US" dirty="0"/>
              <a:t> or </a:t>
            </a:r>
            <a:r>
              <a:rPr lang="en-US" b="1" dirty="0">
                <a:solidFill>
                  <a:srgbClr val="C00000"/>
                </a:solidFill>
              </a:rPr>
              <a:t>Intermittent parasite </a:t>
            </a:r>
            <a:r>
              <a:rPr lang="en-US" dirty="0">
                <a:solidFill>
                  <a:srgbClr val="C00000"/>
                </a:solidFill>
              </a:rPr>
              <a:t> </a:t>
            </a:r>
            <a:r>
              <a:rPr lang="en-US" u="sng" dirty="0"/>
              <a:t>only  feeds on the host and then leaves</a:t>
            </a:r>
            <a:r>
              <a:rPr lang="en-US" dirty="0"/>
              <a:t>. </a:t>
            </a:r>
          </a:p>
          <a:p>
            <a:pPr>
              <a:buFont typeface="Wingdings" pitchFamily="2" charset="2"/>
              <a:buChar char="v"/>
            </a:pPr>
            <a:r>
              <a:rPr lang="en-US" dirty="0"/>
              <a:t>A </a:t>
            </a:r>
            <a:r>
              <a:rPr lang="en-US" dirty="0">
                <a:solidFill>
                  <a:srgbClr val="C00000"/>
                </a:solidFill>
              </a:rPr>
              <a:t>Temporary parasite </a:t>
            </a:r>
            <a:r>
              <a:rPr lang="en-US" dirty="0"/>
              <a:t>may also be referred to as a </a:t>
            </a:r>
            <a:r>
              <a:rPr lang="en-US" b="1" dirty="0">
                <a:solidFill>
                  <a:srgbClr val="C00000"/>
                </a:solidFill>
              </a:rPr>
              <a:t>Micropredator</a:t>
            </a:r>
            <a:r>
              <a:rPr lang="en-US" b="1" dirty="0"/>
              <a:t> </a:t>
            </a:r>
            <a:r>
              <a:rPr lang="en-US" u="sng" dirty="0"/>
              <a:t>in that it may prey on several different hosts (or the same host at several discrete times).</a:t>
            </a:r>
          </a:p>
          <a:p>
            <a:pPr>
              <a:buFont typeface="Wingdings" pitchFamily="2" charset="2"/>
              <a:buChar char="v"/>
            </a:pPr>
            <a:endParaRPr lang="en-US" dirty="0"/>
          </a:p>
        </p:txBody>
      </p:sp>
    </p:spTree>
    <p:extLst>
      <p:ext uri="{BB962C8B-B14F-4D97-AF65-F5344CB8AC3E}">
        <p14:creationId xmlns:p14="http://schemas.microsoft.com/office/powerpoint/2010/main" val="33094074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Parasitism</a:t>
            </a:r>
            <a:r>
              <a:rPr lang="en-US" b="1" dirty="0"/>
              <a:t> and </a:t>
            </a:r>
            <a:r>
              <a:rPr lang="en-US" b="1" dirty="0">
                <a:solidFill>
                  <a:srgbClr val="C00000"/>
                </a:solidFill>
              </a:rPr>
              <a:t>Predation</a:t>
            </a:r>
            <a:br>
              <a:rPr lang="en-US" dirty="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a:solidFill>
                  <a:srgbClr val="FF0000"/>
                </a:solidFill>
              </a:rPr>
              <a:t>Parasitism</a:t>
            </a:r>
            <a:r>
              <a:rPr lang="en-US" dirty="0"/>
              <a:t> and </a:t>
            </a:r>
            <a:r>
              <a:rPr lang="en-US" dirty="0">
                <a:solidFill>
                  <a:srgbClr val="C00000"/>
                </a:solidFill>
              </a:rPr>
              <a:t>Predation</a:t>
            </a:r>
            <a:r>
              <a:rPr lang="en-US" dirty="0"/>
              <a:t> are </a:t>
            </a:r>
            <a:r>
              <a:rPr lang="en-US" dirty="0">
                <a:solidFill>
                  <a:srgbClr val="0070C0"/>
                </a:solidFill>
              </a:rPr>
              <a:t>conceptually similar</a:t>
            </a:r>
            <a:r>
              <a:rPr lang="en-US" dirty="0"/>
              <a:t> </a:t>
            </a:r>
            <a:r>
              <a:rPr lang="en-US" u="sng" dirty="0"/>
              <a:t>in that both the parasite and the predator live at the expense of the host or prey. </a:t>
            </a:r>
          </a:p>
          <a:p>
            <a:pPr>
              <a:buFont typeface="Wingdings" pitchFamily="2" charset="2"/>
              <a:buChar char="v"/>
            </a:pPr>
            <a:r>
              <a:rPr lang="en-US" dirty="0"/>
              <a:t>The </a:t>
            </a:r>
            <a:r>
              <a:rPr lang="en-US" dirty="0">
                <a:solidFill>
                  <a:srgbClr val="FF0000"/>
                </a:solidFill>
              </a:rPr>
              <a:t>parasite</a:t>
            </a:r>
            <a:r>
              <a:rPr lang="en-US" dirty="0"/>
              <a:t>, however, </a:t>
            </a:r>
            <a:r>
              <a:rPr lang="en-US" dirty="0">
                <a:solidFill>
                  <a:srgbClr val="00B0F0"/>
                </a:solidFill>
              </a:rPr>
              <a:t>normally does not kill its host</a:t>
            </a:r>
            <a:r>
              <a:rPr lang="en-US" dirty="0"/>
              <a:t>, it is, </a:t>
            </a:r>
            <a:r>
              <a:rPr lang="en-US" dirty="0">
                <a:solidFill>
                  <a:srgbClr val="00B0F0"/>
                </a:solidFill>
              </a:rPr>
              <a:t>in size</a:t>
            </a:r>
            <a:r>
              <a:rPr lang="en-US" dirty="0"/>
              <a:t>, </a:t>
            </a:r>
            <a:r>
              <a:rPr lang="en-US" dirty="0">
                <a:solidFill>
                  <a:srgbClr val="00B0F0"/>
                </a:solidFill>
              </a:rPr>
              <a:t>relatively smaller than its host</a:t>
            </a:r>
            <a:r>
              <a:rPr lang="en-US" dirty="0"/>
              <a:t>, </a:t>
            </a:r>
            <a:r>
              <a:rPr lang="en-US" u="sng" dirty="0"/>
              <a:t>has only one host </a:t>
            </a:r>
            <a:r>
              <a:rPr lang="en-US" dirty="0"/>
              <a:t>(or </a:t>
            </a:r>
            <a:r>
              <a:rPr lang="en-US" dirty="0">
                <a:solidFill>
                  <a:srgbClr val="00B0F0"/>
                </a:solidFill>
              </a:rPr>
              <a:t>one host at each stage in its life cycle</a:t>
            </a:r>
            <a:r>
              <a:rPr lang="en-US" dirty="0"/>
              <a:t>) and is </a:t>
            </a:r>
            <a:r>
              <a:rPr lang="en-US" dirty="0">
                <a:solidFill>
                  <a:srgbClr val="00B0F0"/>
                </a:solidFill>
              </a:rPr>
              <a:t>symbiotic</a:t>
            </a:r>
            <a:r>
              <a:rPr lang="en-US" dirty="0"/>
              <a:t>. </a:t>
            </a:r>
          </a:p>
        </p:txBody>
      </p:sp>
    </p:spTree>
    <p:extLst>
      <p:ext uri="{BB962C8B-B14F-4D97-AF65-F5344CB8AC3E}">
        <p14:creationId xmlns:p14="http://schemas.microsoft.com/office/powerpoint/2010/main" val="1515907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On the other hand, the </a:t>
            </a:r>
            <a:r>
              <a:rPr lang="en-US" dirty="0">
                <a:solidFill>
                  <a:srgbClr val="C00000"/>
                </a:solidFill>
              </a:rPr>
              <a:t>predator</a:t>
            </a:r>
            <a:r>
              <a:rPr lang="en-US" dirty="0"/>
              <a:t> </a:t>
            </a:r>
            <a:r>
              <a:rPr lang="en-US" dirty="0">
                <a:solidFill>
                  <a:schemeClr val="accent6">
                    <a:lumMod val="75000"/>
                  </a:schemeClr>
                </a:solidFill>
              </a:rPr>
              <a:t>kills its prey</a:t>
            </a:r>
            <a:r>
              <a:rPr lang="en-US" dirty="0"/>
              <a:t>, is </a:t>
            </a:r>
            <a:r>
              <a:rPr lang="en-US" dirty="0">
                <a:solidFill>
                  <a:schemeClr val="accent6">
                    <a:lumMod val="75000"/>
                  </a:schemeClr>
                </a:solidFill>
              </a:rPr>
              <a:t>larger in size relative to its prey</a:t>
            </a:r>
            <a:r>
              <a:rPr lang="en-US" dirty="0"/>
              <a:t>, has </a:t>
            </a:r>
            <a:r>
              <a:rPr lang="en-US" dirty="0">
                <a:solidFill>
                  <a:schemeClr val="accent6">
                    <a:lumMod val="75000"/>
                  </a:schemeClr>
                </a:solidFill>
              </a:rPr>
              <a:t>numerous prey</a:t>
            </a:r>
            <a:r>
              <a:rPr lang="en-US" dirty="0"/>
              <a:t>, and is </a:t>
            </a:r>
            <a:r>
              <a:rPr lang="en-US" dirty="0">
                <a:solidFill>
                  <a:schemeClr val="accent6">
                    <a:lumMod val="75000"/>
                  </a:schemeClr>
                </a:solidFill>
              </a:rPr>
              <a:t>not symbiotic</a:t>
            </a:r>
            <a:r>
              <a:rPr lang="en-US" dirty="0"/>
              <a:t>.</a:t>
            </a:r>
          </a:p>
          <a:p>
            <a:pPr>
              <a:buFont typeface="Wingdings" pitchFamily="2" charset="2"/>
              <a:buChar char="v"/>
            </a:pPr>
            <a:endParaRPr lang="en-US" dirty="0"/>
          </a:p>
          <a:p>
            <a:pPr>
              <a:buFont typeface="Wingdings" pitchFamily="2" charset="2"/>
              <a:buChar char="v"/>
            </a:pPr>
            <a:r>
              <a:rPr lang="en-US" dirty="0"/>
              <a:t>A </a:t>
            </a:r>
            <a:r>
              <a:rPr lang="en-US" dirty="0">
                <a:solidFill>
                  <a:srgbClr val="FF0000"/>
                </a:solidFill>
              </a:rPr>
              <a:t>parasite</a:t>
            </a:r>
            <a:r>
              <a:rPr lang="en-US" dirty="0"/>
              <a:t> </a:t>
            </a:r>
            <a:r>
              <a:rPr lang="en-US" u="sng" dirty="0"/>
              <a:t>may sometimes, kill its host but this is not selectively advantageous since the life of the parasite is also, thereby, terminated</a:t>
            </a:r>
          </a:p>
          <a:p>
            <a:endParaRPr lang="en-US" dirty="0"/>
          </a:p>
        </p:txBody>
      </p:sp>
    </p:spTree>
    <p:extLst>
      <p:ext uri="{BB962C8B-B14F-4D97-AF65-F5344CB8AC3E}">
        <p14:creationId xmlns:p14="http://schemas.microsoft.com/office/powerpoint/2010/main" val="13682847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Thus, </a:t>
            </a:r>
            <a:r>
              <a:rPr lang="en-US" dirty="0">
                <a:solidFill>
                  <a:srgbClr val="FF0000"/>
                </a:solidFill>
              </a:rPr>
              <a:t>parasites</a:t>
            </a:r>
            <a:r>
              <a:rPr lang="en-US" dirty="0"/>
              <a:t> </a:t>
            </a:r>
            <a:r>
              <a:rPr lang="en-US" u="sng" dirty="0"/>
              <a:t>have evolved adaptive mechanisms that enable them to get what they need from the host without killing it</a:t>
            </a:r>
            <a:r>
              <a:rPr lang="en-US" dirty="0"/>
              <a:t>; indeed </a:t>
            </a:r>
            <a:r>
              <a:rPr lang="en-US" u="sng" dirty="0">
                <a:solidFill>
                  <a:srgbClr val="0070C0"/>
                </a:solidFill>
              </a:rPr>
              <a:t>to produce few pathological conditions in the host is often a mark of a well-adapted parasite</a:t>
            </a:r>
            <a:r>
              <a:rPr lang="en-US" u="sng" dirty="0"/>
              <a:t>. </a:t>
            </a:r>
          </a:p>
          <a:p>
            <a:pPr>
              <a:buFont typeface="Wingdings" pitchFamily="2" charset="2"/>
              <a:buChar char="v"/>
            </a:pPr>
            <a:r>
              <a:rPr lang="en-US" dirty="0"/>
              <a:t>Nevertheless, </a:t>
            </a:r>
            <a:r>
              <a:rPr lang="en-US" u="sng" dirty="0">
                <a:solidFill>
                  <a:srgbClr val="FF0000"/>
                </a:solidFill>
              </a:rPr>
              <a:t>some parasites require pathological changes in host tissue in order to complete their life cycles</a:t>
            </a:r>
            <a:r>
              <a:rPr lang="en-US" dirty="0"/>
              <a:t>.</a:t>
            </a:r>
          </a:p>
        </p:txBody>
      </p:sp>
    </p:spTree>
    <p:extLst>
      <p:ext uri="{BB962C8B-B14F-4D97-AF65-F5344CB8AC3E}">
        <p14:creationId xmlns:p14="http://schemas.microsoft.com/office/powerpoint/2010/main" val="24027403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The term </a:t>
            </a:r>
            <a:r>
              <a:rPr lang="en-US" b="1" u="sng" dirty="0">
                <a:solidFill>
                  <a:schemeClr val="accent6">
                    <a:lumMod val="75000"/>
                  </a:schemeClr>
                </a:solidFill>
              </a:rPr>
              <a:t>Parasitoid</a:t>
            </a:r>
            <a:r>
              <a:rPr lang="en-US" b="1" dirty="0"/>
              <a:t> </a:t>
            </a:r>
            <a:r>
              <a:rPr lang="en-US" dirty="0"/>
              <a:t>is given to a </a:t>
            </a:r>
            <a:r>
              <a:rPr lang="en-US" u="sng" dirty="0">
                <a:solidFill>
                  <a:schemeClr val="accent6">
                    <a:lumMod val="75000"/>
                  </a:schemeClr>
                </a:solidFill>
              </a:rPr>
              <a:t>large number of insects </a:t>
            </a:r>
            <a:r>
              <a:rPr lang="en-US" u="sng" dirty="0"/>
              <a:t>whose immature stages feed on their host’s body</a:t>
            </a:r>
            <a:r>
              <a:rPr lang="en-US" dirty="0"/>
              <a:t>, </a:t>
            </a:r>
            <a:r>
              <a:rPr lang="en-US" dirty="0">
                <a:solidFill>
                  <a:schemeClr val="accent6">
                    <a:lumMod val="75000"/>
                  </a:schemeClr>
                </a:solidFill>
              </a:rPr>
              <a:t>usually another arthropod</a:t>
            </a:r>
            <a:r>
              <a:rPr lang="en-US" dirty="0"/>
              <a:t>, but finally </a:t>
            </a:r>
            <a:r>
              <a:rPr lang="en-US" dirty="0">
                <a:solidFill>
                  <a:schemeClr val="accent6">
                    <a:lumMod val="75000"/>
                  </a:schemeClr>
                </a:solidFill>
              </a:rPr>
              <a:t>kill the host during or after completion of the development of the parasitoid</a:t>
            </a:r>
            <a:r>
              <a:rPr lang="en-US" dirty="0"/>
              <a:t>. </a:t>
            </a:r>
          </a:p>
          <a:p>
            <a:pPr>
              <a:buFont typeface="Wingdings" pitchFamily="2" charset="2"/>
              <a:buChar char="v"/>
            </a:pPr>
            <a:r>
              <a:rPr lang="en-US" dirty="0"/>
              <a:t>They resemble </a:t>
            </a:r>
            <a:r>
              <a:rPr lang="en-US" dirty="0">
                <a:solidFill>
                  <a:srgbClr val="C00000"/>
                </a:solidFill>
              </a:rPr>
              <a:t>predators</a:t>
            </a:r>
            <a:r>
              <a:rPr lang="en-US" dirty="0"/>
              <a:t> </a:t>
            </a:r>
            <a:r>
              <a:rPr lang="en-US" u="sng" dirty="0"/>
              <a:t>in that they kill their hosts (prey)</a:t>
            </a:r>
            <a:r>
              <a:rPr lang="en-US" dirty="0"/>
              <a:t> and </a:t>
            </a:r>
            <a:r>
              <a:rPr lang="en-US" dirty="0">
                <a:solidFill>
                  <a:srgbClr val="FF0000"/>
                </a:solidFill>
              </a:rPr>
              <a:t>parasites</a:t>
            </a:r>
            <a:r>
              <a:rPr lang="en-US" dirty="0"/>
              <a:t> </a:t>
            </a:r>
            <a:r>
              <a:rPr lang="en-US" u="sng" dirty="0"/>
              <a:t>in that they require only one host</a:t>
            </a:r>
            <a:r>
              <a:rPr lang="en-US" dirty="0"/>
              <a:t>.</a:t>
            </a:r>
          </a:p>
          <a:p>
            <a:endParaRPr lang="en-US" dirty="0"/>
          </a:p>
        </p:txBody>
      </p:sp>
    </p:spTree>
    <p:extLst>
      <p:ext uri="{BB962C8B-B14F-4D97-AF65-F5344CB8AC3E}">
        <p14:creationId xmlns:p14="http://schemas.microsoft.com/office/powerpoint/2010/main" val="22387752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A </a:t>
            </a:r>
            <a:r>
              <a:rPr lang="en-US" b="1" dirty="0">
                <a:solidFill>
                  <a:schemeClr val="tx2">
                    <a:lumMod val="60000"/>
                    <a:lumOff val="40000"/>
                  </a:schemeClr>
                </a:solidFill>
              </a:rPr>
              <a:t>Host</a:t>
            </a:r>
            <a:r>
              <a:rPr lang="en-US" b="1" dirty="0"/>
              <a:t> </a:t>
            </a:r>
            <a:r>
              <a:rPr lang="en-US" dirty="0"/>
              <a:t>is </a:t>
            </a:r>
            <a:r>
              <a:rPr lang="en-US" u="sng" dirty="0"/>
              <a:t>an </a:t>
            </a:r>
            <a:r>
              <a:rPr lang="en-US" u="sng" dirty="0">
                <a:solidFill>
                  <a:schemeClr val="tx2">
                    <a:lumMod val="60000"/>
                    <a:lumOff val="40000"/>
                  </a:schemeClr>
                </a:solidFill>
              </a:rPr>
              <a:t>organism</a:t>
            </a:r>
            <a:r>
              <a:rPr lang="en-US" u="sng" dirty="0"/>
              <a:t> usually of a </a:t>
            </a:r>
            <a:r>
              <a:rPr lang="en-US" u="sng" dirty="0">
                <a:solidFill>
                  <a:schemeClr val="tx2">
                    <a:lumMod val="60000"/>
                    <a:lumOff val="40000"/>
                  </a:schemeClr>
                </a:solidFill>
              </a:rPr>
              <a:t>different species from that of the parasite</a:t>
            </a:r>
            <a:r>
              <a:rPr lang="en-US" u="sng" dirty="0"/>
              <a:t> in or on which the </a:t>
            </a:r>
            <a:r>
              <a:rPr lang="en-US" u="sng" dirty="0">
                <a:solidFill>
                  <a:srgbClr val="FF0000"/>
                </a:solidFill>
              </a:rPr>
              <a:t>parasite</a:t>
            </a:r>
            <a:r>
              <a:rPr lang="en-US" u="sng" dirty="0"/>
              <a:t> depends for its survival or completion of its life cycle, or undergoes part of its developmental cycle</a:t>
            </a:r>
            <a:r>
              <a:rPr lang="en-US" dirty="0"/>
              <a:t>. </a:t>
            </a:r>
          </a:p>
          <a:p>
            <a:pPr>
              <a:buFont typeface="Wingdings" pitchFamily="2" charset="2"/>
              <a:buChar char="v"/>
            </a:pPr>
            <a:r>
              <a:rPr lang="en-US" dirty="0"/>
              <a:t>There are </a:t>
            </a:r>
            <a:r>
              <a:rPr lang="en-US" dirty="0">
                <a:solidFill>
                  <a:schemeClr val="tx2">
                    <a:lumMod val="60000"/>
                    <a:lumOff val="40000"/>
                  </a:schemeClr>
                </a:solidFill>
              </a:rPr>
              <a:t>different categories of hosts</a:t>
            </a:r>
            <a:r>
              <a:rPr lang="en-US" dirty="0"/>
              <a:t>, as follows:</a:t>
            </a:r>
          </a:p>
          <a:p>
            <a:endParaRPr lang="en-US" dirty="0"/>
          </a:p>
        </p:txBody>
      </p:sp>
    </p:spTree>
    <p:extLst>
      <p:ext uri="{BB962C8B-B14F-4D97-AF65-F5344CB8AC3E}">
        <p14:creationId xmlns:p14="http://schemas.microsoft.com/office/powerpoint/2010/main" val="9032442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p:txBody>
          <a:bodyPr>
            <a:normAutofit/>
          </a:bodyPr>
          <a:lstStyle/>
          <a:p>
            <a:pPr marL="0" lvl="0" indent="0">
              <a:buNone/>
            </a:pPr>
            <a:r>
              <a:rPr lang="en-US" b="1" i="1" dirty="0"/>
              <a:t>a) </a:t>
            </a:r>
            <a:r>
              <a:rPr lang="en-US" b="1" i="1" dirty="0">
                <a:solidFill>
                  <a:srgbClr val="00B0F0"/>
                </a:solidFill>
              </a:rPr>
              <a:t>Definitive Host</a:t>
            </a:r>
            <a:r>
              <a:rPr lang="en-US" dirty="0">
                <a:solidFill>
                  <a:srgbClr val="00B0F0"/>
                </a:solidFill>
              </a:rPr>
              <a:t> </a:t>
            </a:r>
            <a:r>
              <a:rPr lang="en-US" dirty="0"/>
              <a:t>– </a:t>
            </a:r>
            <a:r>
              <a:rPr lang="en-US" u="sng" dirty="0"/>
              <a:t>the host in which a </a:t>
            </a:r>
            <a:r>
              <a:rPr lang="en-US" u="sng" dirty="0">
                <a:solidFill>
                  <a:schemeClr val="accent6">
                    <a:lumMod val="75000"/>
                  </a:schemeClr>
                </a:solidFill>
              </a:rPr>
              <a:t>parasite reaches sexual maturity and reproduction</a:t>
            </a:r>
            <a:r>
              <a:rPr lang="en-US" dirty="0"/>
              <a:t>. If no sexual reproduction occurs in the life of the parasite, e.g. a parasitic amoeba or a </a:t>
            </a:r>
            <a:r>
              <a:rPr lang="en-US" i="1" dirty="0"/>
              <a:t>Trypanosome,</a:t>
            </a:r>
            <a:r>
              <a:rPr lang="en-US" dirty="0"/>
              <a:t> the host believed to be most important is arbitrarily referred to as the </a:t>
            </a:r>
            <a:r>
              <a:rPr lang="en-US" dirty="0">
                <a:solidFill>
                  <a:srgbClr val="00B0F0"/>
                </a:solidFill>
              </a:rPr>
              <a:t>Definitive host</a:t>
            </a:r>
            <a:r>
              <a:rPr lang="en-US" dirty="0"/>
              <a:t>.</a:t>
            </a:r>
          </a:p>
        </p:txBody>
      </p:sp>
    </p:spTree>
    <p:extLst>
      <p:ext uri="{BB962C8B-B14F-4D97-AF65-F5344CB8AC3E}">
        <p14:creationId xmlns:p14="http://schemas.microsoft.com/office/powerpoint/2010/main" val="42279186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p:txBody>
          <a:bodyPr/>
          <a:lstStyle/>
          <a:p>
            <a:pPr marL="0" lvl="0" indent="0">
              <a:buNone/>
            </a:pPr>
            <a:r>
              <a:rPr lang="en-US" b="1" dirty="0"/>
              <a:t>b) </a:t>
            </a:r>
            <a:r>
              <a:rPr lang="en-US" b="1" dirty="0">
                <a:solidFill>
                  <a:srgbClr val="00B0F0"/>
                </a:solidFill>
              </a:rPr>
              <a:t>An Intermediate Host </a:t>
            </a:r>
            <a:r>
              <a:rPr lang="en-US" b="1" dirty="0"/>
              <a:t>–</a:t>
            </a:r>
            <a:r>
              <a:rPr lang="en-US" dirty="0"/>
              <a:t> </a:t>
            </a:r>
            <a:r>
              <a:rPr lang="en-US" u="sng" dirty="0"/>
              <a:t>is one in which some development of the parasite occurs but in which the </a:t>
            </a:r>
            <a:r>
              <a:rPr lang="en-US" u="sng" dirty="0">
                <a:solidFill>
                  <a:schemeClr val="accent6">
                    <a:lumMod val="75000"/>
                  </a:schemeClr>
                </a:solidFill>
              </a:rPr>
              <a:t>parasite does not reach maturity</a:t>
            </a:r>
            <a:r>
              <a:rPr lang="en-US" dirty="0">
                <a:solidFill>
                  <a:schemeClr val="accent6">
                    <a:lumMod val="75000"/>
                  </a:schemeClr>
                </a:solidFill>
              </a:rPr>
              <a:t>.</a:t>
            </a:r>
          </a:p>
          <a:p>
            <a:endParaRPr lang="en-US" dirty="0"/>
          </a:p>
          <a:p>
            <a:pPr>
              <a:buFont typeface="Wingdings" pitchFamily="2" charset="2"/>
              <a:buChar char="v"/>
            </a:pPr>
            <a:r>
              <a:rPr lang="en-US" dirty="0"/>
              <a:t> In the case of the malaria parasite, </a:t>
            </a:r>
            <a:r>
              <a:rPr lang="en-US" i="1" dirty="0">
                <a:solidFill>
                  <a:srgbClr val="7030A0"/>
                </a:solidFill>
              </a:rPr>
              <a:t>Plasmodium spp</a:t>
            </a:r>
            <a:r>
              <a:rPr lang="en-US" dirty="0"/>
              <a:t>. the </a:t>
            </a:r>
            <a:r>
              <a:rPr lang="en-US" b="1" dirty="0"/>
              <a:t>mosquito</a:t>
            </a:r>
            <a:r>
              <a:rPr lang="en-US" dirty="0"/>
              <a:t> is the </a:t>
            </a:r>
            <a:r>
              <a:rPr lang="en-US" dirty="0">
                <a:solidFill>
                  <a:srgbClr val="00B0F0"/>
                </a:solidFill>
              </a:rPr>
              <a:t>Definitive host </a:t>
            </a:r>
            <a:r>
              <a:rPr lang="en-US" dirty="0"/>
              <a:t>and </a:t>
            </a:r>
            <a:r>
              <a:rPr lang="en-US" b="1" dirty="0"/>
              <a:t>humans</a:t>
            </a:r>
            <a:r>
              <a:rPr lang="en-US" dirty="0"/>
              <a:t> or other </a:t>
            </a:r>
            <a:r>
              <a:rPr lang="en-US" b="1" dirty="0"/>
              <a:t>vertebrates</a:t>
            </a:r>
            <a:r>
              <a:rPr lang="en-US" dirty="0"/>
              <a:t> are the </a:t>
            </a:r>
            <a:r>
              <a:rPr lang="en-US" dirty="0">
                <a:solidFill>
                  <a:srgbClr val="00B0F0"/>
                </a:solidFill>
              </a:rPr>
              <a:t>Intermediate hosts</a:t>
            </a:r>
            <a:r>
              <a:rPr lang="en-US" dirty="0"/>
              <a:t>.</a:t>
            </a:r>
          </a:p>
          <a:p>
            <a:endParaRPr lang="en-US" dirty="0"/>
          </a:p>
          <a:p>
            <a:endParaRPr lang="en-US" dirty="0"/>
          </a:p>
        </p:txBody>
      </p:sp>
    </p:spTree>
    <p:extLst>
      <p:ext uri="{BB962C8B-B14F-4D97-AF65-F5344CB8AC3E}">
        <p14:creationId xmlns:p14="http://schemas.microsoft.com/office/powerpoint/2010/main" val="23518596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a:xfrm>
            <a:off x="533400" y="1600200"/>
            <a:ext cx="8229600" cy="4830763"/>
          </a:xfrm>
        </p:spPr>
        <p:txBody>
          <a:bodyPr>
            <a:normAutofit fontScale="92500"/>
          </a:bodyPr>
          <a:lstStyle/>
          <a:p>
            <a:pPr marL="0" lvl="0" indent="0">
              <a:buNone/>
            </a:pPr>
            <a:r>
              <a:rPr lang="en-US" b="1" dirty="0">
                <a:solidFill>
                  <a:srgbClr val="00B0F0"/>
                </a:solidFill>
              </a:rPr>
              <a:t>c)A Paratenic Host</a:t>
            </a:r>
            <a:r>
              <a:rPr lang="en-US" dirty="0">
                <a:solidFill>
                  <a:srgbClr val="00B0F0"/>
                </a:solidFill>
              </a:rPr>
              <a:t>  </a:t>
            </a:r>
            <a:r>
              <a:rPr lang="en-US" dirty="0"/>
              <a:t>(also referred to as a </a:t>
            </a:r>
            <a:r>
              <a:rPr lang="en-US" b="1" dirty="0">
                <a:solidFill>
                  <a:srgbClr val="00B0F0"/>
                </a:solidFill>
              </a:rPr>
              <a:t>Transport Host) </a:t>
            </a:r>
            <a:r>
              <a:rPr lang="en-US" dirty="0"/>
              <a:t>– when a </a:t>
            </a:r>
            <a:r>
              <a:rPr lang="en-US" dirty="0">
                <a:solidFill>
                  <a:schemeClr val="accent6">
                    <a:lumMod val="75000"/>
                  </a:schemeClr>
                </a:solidFill>
              </a:rPr>
              <a:t>parasite in the body of a host does not undergo any development</a:t>
            </a:r>
            <a:r>
              <a:rPr lang="en-US" dirty="0"/>
              <a:t>, </a:t>
            </a:r>
            <a:r>
              <a:rPr lang="en-US" u="sng" dirty="0"/>
              <a:t>but only continues to stay alive and remains infective to a definitive host, that host (not the definitive host) is referred to as a </a:t>
            </a:r>
            <a:r>
              <a:rPr lang="en-US" u="sng" dirty="0">
                <a:solidFill>
                  <a:srgbClr val="00B0F0"/>
                </a:solidFill>
              </a:rPr>
              <a:t>paratenic or transport host</a:t>
            </a:r>
            <a:r>
              <a:rPr lang="en-US" dirty="0"/>
              <a:t>. Such hosts are often useful/necessary for the completion of the life-cycle of the parasite,</a:t>
            </a:r>
          </a:p>
          <a:p>
            <a:pPr lvl="0">
              <a:buFont typeface="Wingdings" pitchFamily="2" charset="2"/>
              <a:buChar char="v"/>
            </a:pPr>
            <a:r>
              <a:rPr lang="en-US" dirty="0"/>
              <a:t> since </a:t>
            </a:r>
            <a:r>
              <a:rPr lang="en-US" dirty="0">
                <a:solidFill>
                  <a:srgbClr val="7030A0"/>
                </a:solidFill>
              </a:rPr>
              <a:t>they may bridge an ecological gap between the intermediate and the definitive hosts</a:t>
            </a:r>
            <a:r>
              <a:rPr lang="en-US" dirty="0"/>
              <a:t>.</a:t>
            </a:r>
          </a:p>
        </p:txBody>
      </p:sp>
    </p:spTree>
    <p:extLst>
      <p:ext uri="{BB962C8B-B14F-4D97-AF65-F5344CB8AC3E}">
        <p14:creationId xmlns:p14="http://schemas.microsoft.com/office/powerpoint/2010/main" val="12397335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a:xfrm>
            <a:off x="457200" y="1600200"/>
            <a:ext cx="8229600" cy="4876800"/>
          </a:xfrm>
        </p:spPr>
        <p:txBody>
          <a:bodyPr>
            <a:normAutofit fontScale="92500"/>
          </a:bodyPr>
          <a:lstStyle/>
          <a:p>
            <a:pPr marL="0" lvl="0" indent="0">
              <a:buNone/>
            </a:pPr>
            <a:r>
              <a:rPr lang="en-US" b="1" dirty="0"/>
              <a:t>d) </a:t>
            </a:r>
            <a:r>
              <a:rPr lang="en-US" b="1" dirty="0">
                <a:solidFill>
                  <a:srgbClr val="00B0F0"/>
                </a:solidFill>
              </a:rPr>
              <a:t>Reservoir Host </a:t>
            </a:r>
            <a:r>
              <a:rPr lang="en-US" b="1" dirty="0"/>
              <a:t>– </a:t>
            </a:r>
            <a:r>
              <a:rPr lang="en-US" u="sng" dirty="0"/>
              <a:t>an animal,</a:t>
            </a:r>
            <a:r>
              <a:rPr lang="en-US" b="1" u="sng" dirty="0"/>
              <a:t> </a:t>
            </a:r>
            <a:r>
              <a:rPr lang="en-US" u="sng" dirty="0"/>
              <a:t>including humans, that harbours an infection or a pathogen that can be transmitted to people is a </a:t>
            </a:r>
            <a:r>
              <a:rPr lang="en-US" u="sng" dirty="0">
                <a:solidFill>
                  <a:srgbClr val="00B0F0"/>
                </a:solidFill>
              </a:rPr>
              <a:t>reservoir host</a:t>
            </a:r>
            <a:r>
              <a:rPr lang="en-US" dirty="0"/>
              <a:t>; the animal may even be a normal host of the parasite, it is a reservoir for a zoonotic infection of people.</a:t>
            </a:r>
          </a:p>
          <a:p>
            <a:pPr lvl="0">
              <a:buFont typeface="Wingdings" pitchFamily="2" charset="2"/>
              <a:buChar char="v"/>
            </a:pPr>
            <a:r>
              <a:rPr lang="en-US" dirty="0"/>
              <a:t> For example: the </a:t>
            </a:r>
            <a:r>
              <a:rPr lang="en-US" dirty="0">
                <a:solidFill>
                  <a:srgbClr val="00B050"/>
                </a:solidFill>
              </a:rPr>
              <a:t>dog</a:t>
            </a:r>
            <a:r>
              <a:rPr lang="en-US" dirty="0"/>
              <a:t>, </a:t>
            </a:r>
            <a:r>
              <a:rPr lang="en-US" dirty="0">
                <a:solidFill>
                  <a:srgbClr val="00B050"/>
                </a:solidFill>
              </a:rPr>
              <a:t>cat</a:t>
            </a:r>
            <a:r>
              <a:rPr lang="en-US" dirty="0"/>
              <a:t>, </a:t>
            </a:r>
            <a:r>
              <a:rPr lang="en-US" dirty="0">
                <a:solidFill>
                  <a:srgbClr val="00B050"/>
                </a:solidFill>
              </a:rPr>
              <a:t>armadillo</a:t>
            </a:r>
            <a:r>
              <a:rPr lang="en-US" dirty="0"/>
              <a:t> and </a:t>
            </a:r>
            <a:r>
              <a:rPr lang="en-US" dirty="0">
                <a:solidFill>
                  <a:srgbClr val="00B050"/>
                </a:solidFill>
              </a:rPr>
              <a:t>opossum</a:t>
            </a:r>
            <a:r>
              <a:rPr lang="en-US" dirty="0"/>
              <a:t> </a:t>
            </a:r>
            <a:r>
              <a:rPr lang="en-US" u="sng" dirty="0"/>
              <a:t>that harbours the trypanosome parasite (</a:t>
            </a:r>
            <a:r>
              <a:rPr lang="en-US" i="1" u="sng" dirty="0"/>
              <a:t>Trypanosoma </a:t>
            </a:r>
            <a:r>
              <a:rPr lang="en-US" i="1" u="sng" dirty="0" err="1"/>
              <a:t>cruzi</a:t>
            </a:r>
            <a:r>
              <a:rPr lang="en-US" u="sng" dirty="0"/>
              <a:t>) that causes Chagas’ disease (American trypanosomiasis) in humans </a:t>
            </a:r>
            <a:r>
              <a:rPr lang="en-US" dirty="0"/>
              <a:t>is a </a:t>
            </a:r>
            <a:r>
              <a:rPr lang="en-US" dirty="0">
                <a:solidFill>
                  <a:srgbClr val="00B0F0"/>
                </a:solidFill>
              </a:rPr>
              <a:t>reservoir host of the parasite</a:t>
            </a:r>
            <a:r>
              <a:rPr lang="en-US" dirty="0"/>
              <a:t>.</a:t>
            </a:r>
          </a:p>
        </p:txBody>
      </p:sp>
    </p:spTree>
    <p:extLst>
      <p:ext uri="{BB962C8B-B14F-4D97-AF65-F5344CB8AC3E}">
        <p14:creationId xmlns:p14="http://schemas.microsoft.com/office/powerpoint/2010/main" val="5034206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p:txBody>
          <a:bodyPr>
            <a:normAutofit lnSpcReduction="10000"/>
          </a:bodyPr>
          <a:lstStyle/>
          <a:p>
            <a:pPr marL="0" indent="0">
              <a:buNone/>
            </a:pPr>
            <a:r>
              <a:rPr lang="en-US" b="1" dirty="0"/>
              <a:t>e) </a:t>
            </a:r>
            <a:r>
              <a:rPr lang="en-US" b="1" dirty="0">
                <a:solidFill>
                  <a:srgbClr val="00B0F0"/>
                </a:solidFill>
              </a:rPr>
              <a:t>Host Specificity </a:t>
            </a:r>
            <a:r>
              <a:rPr lang="en-US" b="1" dirty="0"/>
              <a:t>–</a:t>
            </a:r>
            <a:r>
              <a:rPr lang="en-US" b="1" u="sng" dirty="0"/>
              <a:t> </a:t>
            </a:r>
            <a:r>
              <a:rPr lang="en-US" u="sng" dirty="0"/>
              <a:t>the </a:t>
            </a:r>
            <a:r>
              <a:rPr lang="en-US" u="sng" dirty="0">
                <a:solidFill>
                  <a:srgbClr val="00B0F0"/>
                </a:solidFill>
              </a:rPr>
              <a:t>condition</a:t>
            </a:r>
            <a:r>
              <a:rPr lang="en-US" u="sng" dirty="0"/>
              <a:t> where a </a:t>
            </a:r>
            <a:r>
              <a:rPr lang="en-US" u="sng" dirty="0">
                <a:solidFill>
                  <a:schemeClr val="accent6">
                    <a:lumMod val="75000"/>
                  </a:schemeClr>
                </a:solidFill>
              </a:rPr>
              <a:t>parasite</a:t>
            </a:r>
            <a:r>
              <a:rPr lang="en-US" u="sng" dirty="0"/>
              <a:t> </a:t>
            </a:r>
            <a:r>
              <a:rPr lang="en-US" u="sng" dirty="0">
                <a:solidFill>
                  <a:schemeClr val="accent6">
                    <a:lumMod val="75000"/>
                  </a:schemeClr>
                </a:solidFill>
              </a:rPr>
              <a:t>lives (or has adapted to live) in only one or two species of host and not in any other species</a:t>
            </a:r>
            <a:r>
              <a:rPr lang="en-US" u="sng" dirty="0"/>
              <a:t>. </a:t>
            </a:r>
          </a:p>
          <a:p>
            <a:pPr>
              <a:buFont typeface="Wingdings" pitchFamily="2" charset="2"/>
              <a:buChar char="v"/>
            </a:pPr>
            <a:r>
              <a:rPr lang="en-US" dirty="0"/>
              <a:t>Host specificity may be </a:t>
            </a:r>
            <a:r>
              <a:rPr lang="en-US" dirty="0">
                <a:solidFill>
                  <a:srgbClr val="FF33CC"/>
                </a:solidFill>
              </a:rPr>
              <a:t>absolute</a:t>
            </a:r>
            <a:r>
              <a:rPr lang="en-US" dirty="0"/>
              <a:t>  (e.g</a:t>
            </a:r>
            <a:r>
              <a:rPr lang="en-US" u="sng" dirty="0"/>
              <a:t>. the pork tapeworm, </a:t>
            </a:r>
            <a:r>
              <a:rPr lang="en-US" i="1" u="sng" dirty="0">
                <a:solidFill>
                  <a:srgbClr val="7030A0"/>
                </a:solidFill>
              </a:rPr>
              <a:t>Taenia solium</a:t>
            </a:r>
            <a:r>
              <a:rPr lang="en-US" u="sng" dirty="0">
                <a:solidFill>
                  <a:srgbClr val="7030A0"/>
                </a:solidFill>
              </a:rPr>
              <a:t> </a:t>
            </a:r>
            <a:r>
              <a:rPr lang="en-US" u="sng" dirty="0"/>
              <a:t>matures only in humans</a:t>
            </a:r>
            <a:r>
              <a:rPr lang="en-US" dirty="0"/>
              <a:t>) or </a:t>
            </a:r>
            <a:r>
              <a:rPr lang="en-US" dirty="0">
                <a:solidFill>
                  <a:srgbClr val="FF33CC"/>
                </a:solidFill>
              </a:rPr>
              <a:t>low</a:t>
            </a:r>
            <a:r>
              <a:rPr lang="en-US" dirty="0"/>
              <a:t>, e.g. the trichina worm, </a:t>
            </a:r>
            <a:r>
              <a:rPr lang="en-US" i="1" dirty="0">
                <a:solidFill>
                  <a:srgbClr val="7030A0"/>
                </a:solidFill>
              </a:rPr>
              <a:t>Trichinella spiralis</a:t>
            </a:r>
            <a:r>
              <a:rPr lang="en-US" dirty="0">
                <a:solidFill>
                  <a:srgbClr val="7030A0"/>
                </a:solidFill>
              </a:rPr>
              <a:t> </a:t>
            </a:r>
            <a:r>
              <a:rPr lang="en-US" u="sng" dirty="0"/>
              <a:t>is able to mature in almost any warm-blooded vertebrate</a:t>
            </a:r>
          </a:p>
        </p:txBody>
      </p:sp>
    </p:spTree>
    <p:extLst>
      <p:ext uri="{BB962C8B-B14F-4D97-AF65-F5344CB8AC3E}">
        <p14:creationId xmlns:p14="http://schemas.microsoft.com/office/powerpoint/2010/main" val="10028055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a:xfrm>
            <a:off x="457200" y="1600200"/>
            <a:ext cx="8229600" cy="4572000"/>
          </a:xfrm>
        </p:spPr>
        <p:txBody>
          <a:bodyPr>
            <a:normAutofit fontScale="92500" lnSpcReduction="10000"/>
          </a:bodyPr>
          <a:lstStyle/>
          <a:p>
            <a:pPr marL="0" lvl="0" indent="0">
              <a:buNone/>
            </a:pPr>
            <a:r>
              <a:rPr lang="en-US" b="1" dirty="0"/>
              <a:t>f) </a:t>
            </a:r>
            <a:r>
              <a:rPr lang="en-US" b="1" dirty="0">
                <a:solidFill>
                  <a:srgbClr val="00B0F0"/>
                </a:solidFill>
              </a:rPr>
              <a:t>Hyperparasitism</a:t>
            </a:r>
            <a:r>
              <a:rPr lang="en-US" b="1" dirty="0"/>
              <a:t> –</a:t>
            </a:r>
            <a:r>
              <a:rPr lang="en-US" dirty="0"/>
              <a:t> </a:t>
            </a:r>
            <a:r>
              <a:rPr lang="en-US" u="sng" dirty="0"/>
              <a:t>the </a:t>
            </a:r>
            <a:r>
              <a:rPr lang="en-US" u="sng" dirty="0">
                <a:solidFill>
                  <a:srgbClr val="00B0F0"/>
                </a:solidFill>
              </a:rPr>
              <a:t>situation</a:t>
            </a:r>
            <a:r>
              <a:rPr lang="en-US" u="sng" dirty="0"/>
              <a:t> where a </a:t>
            </a:r>
            <a:r>
              <a:rPr lang="en-US" u="sng" dirty="0">
                <a:solidFill>
                  <a:schemeClr val="accent6">
                    <a:lumMod val="75000"/>
                  </a:schemeClr>
                </a:solidFill>
              </a:rPr>
              <a:t>parasite serves as host to another parasite</a:t>
            </a:r>
            <a:r>
              <a:rPr lang="en-US" u="sng" dirty="0"/>
              <a:t>, i.e. </a:t>
            </a:r>
            <a:r>
              <a:rPr lang="en-US" u="sng" dirty="0">
                <a:solidFill>
                  <a:srgbClr val="00B0F0"/>
                </a:solidFill>
              </a:rPr>
              <a:t>a parasite parasitizes another parasite</a:t>
            </a:r>
            <a:r>
              <a:rPr lang="en-US" dirty="0"/>
              <a:t>, </a:t>
            </a:r>
          </a:p>
          <a:p>
            <a:pPr lvl="0">
              <a:buFont typeface="Wingdings" pitchFamily="2" charset="2"/>
              <a:buChar char="v"/>
            </a:pPr>
            <a:r>
              <a:rPr lang="en-US" dirty="0"/>
              <a:t>e.g. </a:t>
            </a:r>
            <a:r>
              <a:rPr lang="en-US" u="sng" dirty="0"/>
              <a:t>the malaria parasite in the mosquito (the female mosquito is parasitic on humans or other vertebrates in that it feeds on their blood to develop its eggs whilst the malaria parasite requires the mosquito for its sexual development stage of its life cycle and for its transmission to humans</a:t>
            </a:r>
            <a:r>
              <a:rPr lang="en-US" dirty="0"/>
              <a:t>.</a:t>
            </a:r>
          </a:p>
          <a:p>
            <a:endParaRPr lang="en-US" dirty="0"/>
          </a:p>
        </p:txBody>
      </p:sp>
    </p:spTree>
    <p:extLst>
      <p:ext uri="{BB962C8B-B14F-4D97-AF65-F5344CB8AC3E}">
        <p14:creationId xmlns:p14="http://schemas.microsoft.com/office/powerpoint/2010/main" val="41083584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p:txBody>
          <a:bodyPr/>
          <a:lstStyle/>
          <a:p>
            <a:pPr marL="0" lvl="0" indent="0">
              <a:buNone/>
            </a:pPr>
            <a:r>
              <a:rPr lang="en-US" b="1" dirty="0"/>
              <a:t>g) </a:t>
            </a:r>
            <a:r>
              <a:rPr lang="en-US" b="1" dirty="0">
                <a:solidFill>
                  <a:srgbClr val="00B0F0"/>
                </a:solidFill>
              </a:rPr>
              <a:t>Multiparasitism</a:t>
            </a:r>
            <a:r>
              <a:rPr lang="en-US" b="1" dirty="0"/>
              <a:t> –</a:t>
            </a:r>
            <a:r>
              <a:rPr lang="en-US" dirty="0"/>
              <a:t> </a:t>
            </a:r>
            <a:r>
              <a:rPr lang="en-US" u="sng" dirty="0"/>
              <a:t>a </a:t>
            </a:r>
            <a:r>
              <a:rPr lang="en-US" u="sng" dirty="0">
                <a:solidFill>
                  <a:srgbClr val="00B0F0"/>
                </a:solidFill>
              </a:rPr>
              <a:t>condition</a:t>
            </a:r>
            <a:r>
              <a:rPr lang="en-US" u="sng" dirty="0"/>
              <a:t> where an </a:t>
            </a:r>
            <a:r>
              <a:rPr lang="en-US" u="sng" dirty="0">
                <a:solidFill>
                  <a:schemeClr val="accent6">
                    <a:lumMod val="75000"/>
                  </a:schemeClr>
                </a:solidFill>
              </a:rPr>
              <a:t>animal or organism is host to more than one species of parasites at the same time</a:t>
            </a:r>
            <a:r>
              <a:rPr lang="en-US" dirty="0"/>
              <a:t>; </a:t>
            </a:r>
          </a:p>
          <a:p>
            <a:pPr lvl="0">
              <a:buFont typeface="Wingdings" pitchFamily="2" charset="2"/>
              <a:buChar char="v"/>
            </a:pPr>
            <a:r>
              <a:rPr lang="en-US" dirty="0"/>
              <a:t>e.g. </a:t>
            </a:r>
            <a:r>
              <a:rPr lang="en-US" u="sng" dirty="0"/>
              <a:t>a human child who has infection with Ascaris and also malaria parasites or infection with worms (different species or single), malaria and trypanosomiasis</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21630820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b="1" dirty="0">
                <a:solidFill>
                  <a:srgbClr val="7030A0"/>
                </a:solidFill>
              </a:rPr>
              <a:t>Susceptibility</a:t>
            </a:r>
            <a:r>
              <a:rPr lang="en-US" b="1" dirty="0"/>
              <a:t> and </a:t>
            </a:r>
            <a:r>
              <a:rPr lang="en-US" b="1" dirty="0">
                <a:solidFill>
                  <a:srgbClr val="00B050"/>
                </a:solidFill>
              </a:rPr>
              <a:t>Resistance</a:t>
            </a:r>
            <a:r>
              <a:rPr lang="en-US" b="1" dirty="0"/>
              <a:t> </a:t>
            </a:r>
            <a:endParaRPr lang="en-US" dirty="0"/>
          </a:p>
          <a:p>
            <a:pPr>
              <a:buFont typeface="Wingdings" pitchFamily="2" charset="2"/>
              <a:buChar char="v"/>
            </a:pPr>
            <a:endParaRPr lang="en-US" b="1" i="1" dirty="0"/>
          </a:p>
          <a:p>
            <a:pPr>
              <a:buFont typeface="Wingdings" pitchFamily="2" charset="2"/>
              <a:buChar char="v"/>
            </a:pPr>
            <a:r>
              <a:rPr lang="en-US" b="1" i="1" dirty="0">
                <a:solidFill>
                  <a:srgbClr val="7030A0"/>
                </a:solidFill>
              </a:rPr>
              <a:t>A host is susceptible</a:t>
            </a:r>
            <a:r>
              <a:rPr lang="en-US" dirty="0">
                <a:solidFill>
                  <a:srgbClr val="7030A0"/>
                </a:solidFill>
              </a:rPr>
              <a:t> </a:t>
            </a:r>
            <a:r>
              <a:rPr lang="en-US" u="sng" dirty="0"/>
              <a:t>to a parasitic infection if it (the host) is in a physiological state such that it will not eliminate the parasite before the parasite has become established in it (the host)</a:t>
            </a:r>
            <a:r>
              <a:rPr lang="en-US" dirty="0"/>
              <a:t>.</a:t>
            </a:r>
          </a:p>
          <a:p>
            <a:pPr marL="0" indent="0">
              <a:buNone/>
            </a:pPr>
            <a:endParaRPr lang="en-US" dirty="0"/>
          </a:p>
        </p:txBody>
      </p:sp>
    </p:spTree>
    <p:extLst>
      <p:ext uri="{BB962C8B-B14F-4D97-AF65-F5344CB8AC3E}">
        <p14:creationId xmlns:p14="http://schemas.microsoft.com/office/powerpoint/2010/main" val="40494660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Parasitism</a:t>
            </a:r>
            <a:r>
              <a:rPr lang="en-US" b="1" dirty="0"/>
              <a:t> and </a:t>
            </a:r>
            <a:r>
              <a:rPr lang="en-US" b="1" dirty="0">
                <a:solidFill>
                  <a:srgbClr val="C00000"/>
                </a:solidFill>
              </a:rPr>
              <a:t>Predation</a:t>
            </a:r>
            <a:r>
              <a:rPr lang="en-US" b="1" dirty="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b="1" i="1" dirty="0">
                <a:solidFill>
                  <a:srgbClr val="00B050"/>
                </a:solidFill>
              </a:rPr>
              <a:t>A host is resistant</a:t>
            </a:r>
            <a:r>
              <a:rPr lang="en-US" dirty="0">
                <a:solidFill>
                  <a:srgbClr val="00B050"/>
                </a:solidFill>
              </a:rPr>
              <a:t> </a:t>
            </a:r>
            <a:r>
              <a:rPr lang="en-US" u="sng" dirty="0"/>
              <a:t>if its physiological status prevents the establishment and survival of the parasite in it</a:t>
            </a:r>
            <a:r>
              <a:rPr lang="en-US" dirty="0"/>
              <a:t>.</a:t>
            </a:r>
          </a:p>
          <a:p>
            <a:pPr>
              <a:buFont typeface="Wingdings" pitchFamily="2" charset="2"/>
              <a:buChar char="v"/>
            </a:pPr>
            <a:r>
              <a:rPr lang="en-US" dirty="0"/>
              <a:t>Correspondingly, </a:t>
            </a:r>
            <a:r>
              <a:rPr lang="en-US" b="1" dirty="0"/>
              <a:t>the ability of a parasite to infect a host</a:t>
            </a:r>
            <a:r>
              <a:rPr lang="en-US" dirty="0"/>
              <a:t> is termed its </a:t>
            </a:r>
            <a:r>
              <a:rPr lang="en-US" b="1" dirty="0">
                <a:solidFill>
                  <a:srgbClr val="FF33CC"/>
                </a:solidFill>
              </a:rPr>
              <a:t>Infectivity</a:t>
            </a:r>
            <a:r>
              <a:rPr lang="en-US" b="1" dirty="0"/>
              <a:t> </a:t>
            </a:r>
            <a:r>
              <a:rPr lang="en-US" u="sng" dirty="0"/>
              <a:t>(i.e. the ease or difficulty of a host becoming infected with a particular parasite or with which a parasite is able to infect a host)</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2916680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82762"/>
          </a:xfrm>
        </p:spPr>
        <p:txBody>
          <a:bodyPr>
            <a:normAutofit fontScale="90000"/>
          </a:bodyPr>
          <a:lstStyle/>
          <a:p>
            <a:r>
              <a:rPr lang="en-US" b="1" dirty="0">
                <a:solidFill>
                  <a:srgbClr val="0070C0"/>
                </a:solidFill>
              </a:rPr>
              <a:t>SOME ECOLOGICAL AND EPIDEMIOLOGICAL TERMINOLOGY IN PARASITOLOGY</a:t>
            </a:r>
            <a:endParaRPr lang="en-US" dirty="0">
              <a:solidFill>
                <a:srgbClr val="0070C0"/>
              </a:solidFill>
            </a:endParaRPr>
          </a:p>
        </p:txBody>
      </p:sp>
      <p:sp>
        <p:nvSpPr>
          <p:cNvPr id="3" name="Content Placeholder 2"/>
          <p:cNvSpPr>
            <a:spLocks noGrp="1"/>
          </p:cNvSpPr>
          <p:nvPr>
            <p:ph idx="1"/>
          </p:nvPr>
        </p:nvSpPr>
        <p:spPr>
          <a:xfrm>
            <a:off x="457200" y="2057400"/>
            <a:ext cx="8229600" cy="4068763"/>
          </a:xfrm>
        </p:spPr>
        <p:txBody>
          <a:bodyPr/>
          <a:lstStyle/>
          <a:p>
            <a:r>
              <a:rPr lang="en-US" b="1" dirty="0">
                <a:solidFill>
                  <a:srgbClr val="0070C0"/>
                </a:solidFill>
              </a:rPr>
              <a:t>Prevalence</a:t>
            </a:r>
            <a:r>
              <a:rPr lang="en-US" b="1" dirty="0"/>
              <a:t> </a:t>
            </a:r>
            <a:r>
              <a:rPr lang="en-US" u="sng" dirty="0"/>
              <a:t>is </a:t>
            </a:r>
            <a:r>
              <a:rPr lang="en-US" i="1" u="sng" dirty="0"/>
              <a:t>the ratio</a:t>
            </a:r>
            <a:r>
              <a:rPr lang="en-US" u="sng" dirty="0"/>
              <a:t> of</a:t>
            </a:r>
            <a:r>
              <a:rPr lang="en-US" b="1" u="sng" dirty="0"/>
              <a:t> </a:t>
            </a:r>
            <a:r>
              <a:rPr lang="en-US" u="sng" dirty="0"/>
              <a:t>the # of individuals of a host species infected by a parasite</a:t>
            </a:r>
            <a:r>
              <a:rPr lang="en-US" dirty="0"/>
              <a:t> </a:t>
            </a:r>
            <a:r>
              <a:rPr lang="en-US" b="1" dirty="0"/>
              <a:t>to</a:t>
            </a:r>
            <a:r>
              <a:rPr lang="en-US" dirty="0"/>
              <a:t> </a:t>
            </a:r>
            <a:r>
              <a:rPr lang="en-US" u="sng" dirty="0"/>
              <a:t>the </a:t>
            </a:r>
          </a:p>
          <a:p>
            <a:pPr marL="0" indent="0">
              <a:buNone/>
            </a:pPr>
            <a:r>
              <a:rPr lang="en-US" b="1" u="sng" dirty="0"/>
              <a:t>     </a:t>
            </a:r>
            <a:r>
              <a:rPr lang="en-US" u="sng" dirty="0"/>
              <a:t>number of the host species examined</a:t>
            </a:r>
            <a:r>
              <a:rPr lang="en-US" dirty="0"/>
              <a:t>. </a:t>
            </a:r>
          </a:p>
          <a:p>
            <a:pPr lvl="0"/>
            <a:endParaRPr lang="en-US" b="1" dirty="0"/>
          </a:p>
          <a:p>
            <a:pPr lvl="0"/>
            <a:r>
              <a:rPr lang="en-US" b="1" dirty="0">
                <a:solidFill>
                  <a:srgbClr val="FF33CC"/>
                </a:solidFill>
              </a:rPr>
              <a:t>Usually expressed as a </a:t>
            </a:r>
            <a:r>
              <a:rPr lang="en-US" b="1" u="sng" dirty="0">
                <a:solidFill>
                  <a:srgbClr val="FF33CC"/>
                </a:solidFill>
              </a:rPr>
              <a:t>percentage</a:t>
            </a:r>
            <a:endParaRPr lang="en-US" u="sng" dirty="0">
              <a:solidFill>
                <a:srgbClr val="FF33CC"/>
              </a:solidFill>
            </a:endParaRPr>
          </a:p>
          <a:p>
            <a:endParaRPr lang="en-US" dirty="0"/>
          </a:p>
        </p:txBody>
      </p:sp>
    </p:spTree>
    <p:extLst>
      <p:ext uri="{BB962C8B-B14F-4D97-AF65-F5344CB8AC3E}">
        <p14:creationId xmlns:p14="http://schemas.microsoft.com/office/powerpoint/2010/main" val="33164346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Some Ecological and Epidemiological Terms in Parasitology </a:t>
            </a:r>
            <a:r>
              <a:rPr lang="en-US" b="1" dirty="0"/>
              <a:t>Cont’d</a:t>
            </a:r>
          </a:p>
        </p:txBody>
      </p:sp>
      <p:sp>
        <p:nvSpPr>
          <p:cNvPr id="3" name="Content Placeholder 2"/>
          <p:cNvSpPr>
            <a:spLocks noGrp="1"/>
          </p:cNvSpPr>
          <p:nvPr>
            <p:ph idx="1"/>
          </p:nvPr>
        </p:nvSpPr>
        <p:spPr/>
        <p:txBody>
          <a:bodyPr/>
          <a:lstStyle/>
          <a:p>
            <a:pPr>
              <a:buFont typeface="Wingdings" pitchFamily="2" charset="2"/>
              <a:buChar char="v"/>
            </a:pPr>
            <a:r>
              <a:rPr lang="en-US" b="1" dirty="0"/>
              <a:t> </a:t>
            </a:r>
            <a:r>
              <a:rPr lang="en-US" b="1" dirty="0">
                <a:solidFill>
                  <a:srgbClr val="0070C0"/>
                </a:solidFill>
              </a:rPr>
              <a:t>Incidence</a:t>
            </a:r>
            <a:r>
              <a:rPr lang="en-US" b="1" dirty="0"/>
              <a:t> </a:t>
            </a:r>
            <a:r>
              <a:rPr lang="en-US" u="sng" dirty="0"/>
              <a:t>is the ratio of the # of </a:t>
            </a:r>
            <a:r>
              <a:rPr lang="en-US" b="1" i="1" u="sng" dirty="0">
                <a:solidFill>
                  <a:srgbClr val="FF0000"/>
                </a:solidFill>
              </a:rPr>
              <a:t>new</a:t>
            </a:r>
            <a:r>
              <a:rPr lang="en-US" i="1" u="sng" dirty="0"/>
              <a:t> cases of a disease or an infection</a:t>
            </a:r>
            <a:r>
              <a:rPr lang="en-US" u="sng" dirty="0"/>
              <a:t> occurring in a population within a given period</a:t>
            </a:r>
            <a:r>
              <a:rPr lang="en-US" dirty="0"/>
              <a:t> </a:t>
            </a:r>
            <a:r>
              <a:rPr lang="en-US" b="1" dirty="0"/>
              <a:t>to</a:t>
            </a:r>
            <a:r>
              <a:rPr lang="en-US" dirty="0"/>
              <a:t> </a:t>
            </a:r>
            <a:r>
              <a:rPr lang="en-US" u="sng" dirty="0"/>
              <a:t>the # of </a:t>
            </a:r>
            <a:r>
              <a:rPr lang="en-US" i="1" u="sng" dirty="0"/>
              <a:t>uninfected individuals</a:t>
            </a:r>
            <a:r>
              <a:rPr lang="en-US" u="sng" dirty="0"/>
              <a:t> in the population at the beginning of the time period</a:t>
            </a:r>
            <a:r>
              <a:rPr lang="en-US" dirty="0"/>
              <a:t>.</a:t>
            </a:r>
          </a:p>
          <a:p>
            <a:pPr>
              <a:buFont typeface="Wingdings" pitchFamily="2" charset="2"/>
              <a:buChar char="v"/>
            </a:pPr>
            <a:r>
              <a:rPr lang="en-US" dirty="0"/>
              <a:t> </a:t>
            </a:r>
            <a:r>
              <a:rPr lang="en-US" b="1" dirty="0">
                <a:solidFill>
                  <a:srgbClr val="FF33CC"/>
                </a:solidFill>
              </a:rPr>
              <a:t>Usually expressed as a </a:t>
            </a:r>
            <a:r>
              <a:rPr lang="en-US" b="1" u="sng" dirty="0">
                <a:solidFill>
                  <a:srgbClr val="FF33CC"/>
                </a:solidFill>
              </a:rPr>
              <a:t>percentage</a:t>
            </a:r>
            <a:endParaRPr lang="en-US" u="sng" dirty="0">
              <a:solidFill>
                <a:srgbClr val="FF33CC"/>
              </a:solidFill>
            </a:endParaRPr>
          </a:p>
        </p:txBody>
      </p:sp>
    </p:spTree>
    <p:extLst>
      <p:ext uri="{BB962C8B-B14F-4D97-AF65-F5344CB8AC3E}">
        <p14:creationId xmlns:p14="http://schemas.microsoft.com/office/powerpoint/2010/main" val="32507450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Some Ecological and Epidemiological Terms in Parasitology </a:t>
            </a:r>
            <a:r>
              <a:rPr lang="en-US" b="1" dirty="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b="1" dirty="0">
                <a:solidFill>
                  <a:srgbClr val="0070C0"/>
                </a:solidFill>
              </a:rPr>
              <a:t>Intensity</a:t>
            </a:r>
            <a:r>
              <a:rPr lang="en-US" b="1" dirty="0"/>
              <a:t> </a:t>
            </a:r>
            <a:r>
              <a:rPr lang="en-US" u="sng" dirty="0"/>
              <a:t>is the # of individuals (determined directly or indirectly) of a parasite species in an Infected host in a sample</a:t>
            </a:r>
            <a:r>
              <a:rPr lang="en-US" dirty="0"/>
              <a:t>.</a:t>
            </a:r>
          </a:p>
          <a:p>
            <a:pPr lvl="0">
              <a:buFont typeface="Wingdings" pitchFamily="2" charset="2"/>
              <a:buChar char="v"/>
            </a:pPr>
            <a:endParaRPr lang="en-US" b="1" dirty="0"/>
          </a:p>
          <a:p>
            <a:pPr lvl="0">
              <a:buFont typeface="Wingdings" pitchFamily="2" charset="2"/>
              <a:buChar char="v"/>
            </a:pPr>
            <a:r>
              <a:rPr lang="en-US" b="1" dirty="0">
                <a:solidFill>
                  <a:srgbClr val="FF33CC"/>
                </a:solidFill>
              </a:rPr>
              <a:t>Usually expressed as a </a:t>
            </a:r>
            <a:r>
              <a:rPr lang="en-US" b="1" u="sng" dirty="0">
                <a:solidFill>
                  <a:srgbClr val="FF33CC"/>
                </a:solidFill>
              </a:rPr>
              <a:t>numerical range</a:t>
            </a:r>
            <a:endParaRPr lang="en-US" u="sng" dirty="0">
              <a:solidFill>
                <a:srgbClr val="FF33CC"/>
              </a:solidFill>
            </a:endParaRPr>
          </a:p>
          <a:p>
            <a:pPr>
              <a:buFont typeface="Wingdings" pitchFamily="2" charset="2"/>
              <a:buChar char="v"/>
            </a:pPr>
            <a:endParaRPr lang="en-US" dirty="0"/>
          </a:p>
        </p:txBody>
      </p:sp>
    </p:spTree>
    <p:extLst>
      <p:ext uri="{BB962C8B-B14F-4D97-AF65-F5344CB8AC3E}">
        <p14:creationId xmlns:p14="http://schemas.microsoft.com/office/powerpoint/2010/main" val="5225741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Some Ecological and Epidemiological Terms in Parasitology </a:t>
            </a:r>
            <a:r>
              <a:rPr lang="en-US" b="1" dirty="0"/>
              <a:t>Cont’d</a:t>
            </a: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b="1" dirty="0">
                <a:solidFill>
                  <a:srgbClr val="0070C0"/>
                </a:solidFill>
              </a:rPr>
              <a:t> Mean Intensity </a:t>
            </a:r>
            <a:r>
              <a:rPr lang="en-US" dirty="0"/>
              <a:t>is </a:t>
            </a:r>
            <a:r>
              <a:rPr lang="en-US" i="1" u="sng" dirty="0"/>
              <a:t>the</a:t>
            </a:r>
            <a:r>
              <a:rPr lang="en-US" b="1" i="1" u="sng" dirty="0"/>
              <a:t> </a:t>
            </a:r>
            <a:r>
              <a:rPr lang="en-US" i="1" u="sng" dirty="0"/>
              <a:t>ratio</a:t>
            </a:r>
            <a:r>
              <a:rPr lang="en-US" u="sng" dirty="0"/>
              <a:t> of the Total # of individuals of a particular parasite species in a sample of a host species</a:t>
            </a:r>
            <a:r>
              <a:rPr lang="en-US" dirty="0"/>
              <a:t> </a:t>
            </a:r>
            <a:r>
              <a:rPr lang="en-US" b="1" dirty="0"/>
              <a:t>to</a:t>
            </a:r>
            <a:r>
              <a:rPr lang="en-US" dirty="0"/>
              <a:t> </a:t>
            </a:r>
            <a:r>
              <a:rPr lang="en-US" u="sng" dirty="0"/>
              <a:t>the # of infected individuals of the host species in the sample</a:t>
            </a:r>
            <a:r>
              <a:rPr lang="en-US" dirty="0"/>
              <a:t>. </a:t>
            </a:r>
          </a:p>
          <a:p>
            <a:pPr marL="0" indent="0">
              <a:buNone/>
            </a:pPr>
            <a:r>
              <a:rPr lang="en-US" b="1" dirty="0"/>
              <a:t>                              OR</a:t>
            </a:r>
            <a:endParaRPr lang="en-US" dirty="0"/>
          </a:p>
          <a:p>
            <a:pPr>
              <a:buFont typeface="Wingdings" pitchFamily="2" charset="2"/>
              <a:buChar char="v"/>
            </a:pPr>
            <a:r>
              <a:rPr lang="en-US" u="sng" dirty="0">
                <a:solidFill>
                  <a:srgbClr val="FF0000"/>
                </a:solidFill>
              </a:rPr>
              <a:t>The Mean # of individuals of a particular parasite species per infected host in a sample</a:t>
            </a:r>
            <a:r>
              <a:rPr lang="en-US" u="sng" dirty="0"/>
              <a:t>.</a:t>
            </a:r>
          </a:p>
        </p:txBody>
      </p:sp>
    </p:spTree>
    <p:extLst>
      <p:ext uri="{BB962C8B-B14F-4D97-AF65-F5344CB8AC3E}">
        <p14:creationId xmlns:p14="http://schemas.microsoft.com/office/powerpoint/2010/main" val="27205256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Some Ecological and Epidemiological Terms in Parasitology Cont’d</a:t>
            </a:r>
            <a:endParaRPr lang="en-US" dirty="0">
              <a:solidFill>
                <a:srgbClr val="0070C0"/>
              </a:solidFill>
            </a:endParaRPr>
          </a:p>
        </p:txBody>
      </p:sp>
      <p:sp>
        <p:nvSpPr>
          <p:cNvPr id="3" name="Content Placeholder 2"/>
          <p:cNvSpPr>
            <a:spLocks noGrp="1"/>
          </p:cNvSpPr>
          <p:nvPr>
            <p:ph idx="1"/>
          </p:nvPr>
        </p:nvSpPr>
        <p:spPr/>
        <p:txBody>
          <a:bodyPr/>
          <a:lstStyle/>
          <a:p>
            <a:pPr>
              <a:buFont typeface="Wingdings" pitchFamily="2" charset="2"/>
              <a:buChar char="v"/>
            </a:pPr>
            <a:r>
              <a:rPr lang="en-US" b="1" dirty="0"/>
              <a:t> </a:t>
            </a:r>
            <a:r>
              <a:rPr lang="en-US" b="1" dirty="0">
                <a:solidFill>
                  <a:srgbClr val="0070C0"/>
                </a:solidFill>
              </a:rPr>
              <a:t>Density</a:t>
            </a:r>
            <a:r>
              <a:rPr lang="en-US" dirty="0"/>
              <a:t> is </a:t>
            </a:r>
            <a:r>
              <a:rPr lang="en-US" u="sng" dirty="0"/>
              <a:t>the # of individuals of a particular parasite species per unit area, volume or weight of infected host tissue or organ</a:t>
            </a:r>
            <a:r>
              <a:rPr lang="en-US" dirty="0"/>
              <a:t>.</a:t>
            </a:r>
          </a:p>
          <a:p>
            <a:pPr lvl="0">
              <a:buFont typeface="Wingdings" pitchFamily="2" charset="2"/>
              <a:buChar char="v"/>
            </a:pPr>
            <a:endParaRPr lang="en-US" b="1" dirty="0"/>
          </a:p>
          <a:p>
            <a:pPr lvl="0">
              <a:buFont typeface="Wingdings" pitchFamily="2" charset="2"/>
              <a:buChar char="v"/>
            </a:pPr>
            <a:r>
              <a:rPr lang="en-US" b="1" dirty="0"/>
              <a:t>The units should always be clearly specified (e.g. 10mps/</a:t>
            </a:r>
            <a:r>
              <a:rPr lang="en-US" b="1" dirty="0" err="1"/>
              <a:t>ul</a:t>
            </a:r>
            <a:r>
              <a:rPr lang="en-US" b="1" dirty="0"/>
              <a:t> of blood; 12mf/</a:t>
            </a:r>
            <a:r>
              <a:rPr lang="en-US" b="1" dirty="0" err="1"/>
              <a:t>gm</a:t>
            </a:r>
            <a:r>
              <a:rPr lang="en-US" b="1" dirty="0"/>
              <a:t> of tissue).</a:t>
            </a:r>
            <a:endParaRPr lang="en-US" dirty="0"/>
          </a:p>
        </p:txBody>
      </p:sp>
    </p:spTree>
    <p:extLst>
      <p:ext uri="{BB962C8B-B14F-4D97-AF65-F5344CB8AC3E}">
        <p14:creationId xmlns:p14="http://schemas.microsoft.com/office/powerpoint/2010/main" val="5463046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Some Ecological and Epidemiological Terms in Parasitology Cont’d</a:t>
            </a:r>
            <a:endParaRPr lang="en-US" dirty="0">
              <a:solidFill>
                <a:srgbClr val="0070C0"/>
              </a:solidFill>
            </a:endParaRPr>
          </a:p>
        </p:txBody>
      </p:sp>
      <p:sp>
        <p:nvSpPr>
          <p:cNvPr id="3" name="Content Placeholder 2"/>
          <p:cNvSpPr>
            <a:spLocks noGrp="1"/>
          </p:cNvSpPr>
          <p:nvPr>
            <p:ph idx="1"/>
          </p:nvPr>
        </p:nvSpPr>
        <p:spPr/>
        <p:txBody>
          <a:bodyPr>
            <a:normAutofit fontScale="92500"/>
          </a:bodyPr>
          <a:lstStyle/>
          <a:p>
            <a:pPr>
              <a:buFont typeface="Wingdings" pitchFamily="2" charset="2"/>
              <a:buChar char="v"/>
            </a:pPr>
            <a:r>
              <a:rPr lang="en-US" b="1" dirty="0"/>
              <a:t> </a:t>
            </a:r>
            <a:r>
              <a:rPr lang="en-US" b="1" dirty="0">
                <a:solidFill>
                  <a:srgbClr val="0070C0"/>
                </a:solidFill>
              </a:rPr>
              <a:t>Density</a:t>
            </a:r>
            <a:r>
              <a:rPr lang="en-US" dirty="0"/>
              <a:t> is </a:t>
            </a:r>
            <a:r>
              <a:rPr lang="en-US" u="sng" dirty="0"/>
              <a:t>the # of individuals of a particular parasite species per unit area, volume or weight of infected host tissue or organ</a:t>
            </a:r>
            <a:r>
              <a:rPr lang="en-US" dirty="0"/>
              <a:t>.</a:t>
            </a:r>
          </a:p>
          <a:p>
            <a:pPr>
              <a:buFont typeface="Wingdings" pitchFamily="2" charset="2"/>
              <a:buChar char="v"/>
            </a:pPr>
            <a:r>
              <a:rPr lang="en-US" b="1" dirty="0"/>
              <a:t>The units should always be clearly specified (e.g. 10mps/</a:t>
            </a:r>
            <a:r>
              <a:rPr lang="en-US" b="1" dirty="0" err="1"/>
              <a:t>ul</a:t>
            </a:r>
            <a:r>
              <a:rPr lang="en-US" b="1" dirty="0"/>
              <a:t> of blood; 12mf/</a:t>
            </a:r>
            <a:r>
              <a:rPr lang="en-US" b="1" dirty="0" err="1"/>
              <a:t>gm</a:t>
            </a:r>
            <a:r>
              <a:rPr lang="en-US" b="1" dirty="0"/>
              <a:t> of tissue).  OR</a:t>
            </a:r>
            <a:endParaRPr lang="en-US" dirty="0"/>
          </a:p>
          <a:p>
            <a:pPr>
              <a:buFont typeface="Wingdings" pitchFamily="2" charset="2"/>
              <a:buChar char="v"/>
            </a:pPr>
            <a:r>
              <a:rPr lang="en-US" dirty="0"/>
              <a:t> </a:t>
            </a:r>
            <a:r>
              <a:rPr lang="en-US" b="1" i="1" dirty="0"/>
              <a:t>The Mean # of individuals of a particular parasite species per host examined.   OR</a:t>
            </a:r>
          </a:p>
          <a:p>
            <a:pPr>
              <a:buFont typeface="Wingdings" pitchFamily="2" charset="2"/>
              <a:buChar char="v"/>
            </a:pPr>
            <a:r>
              <a:rPr lang="en-US" b="1" i="1" dirty="0"/>
              <a:t> The </a:t>
            </a:r>
            <a:r>
              <a:rPr lang="en-US" b="1" i="1" dirty="0">
                <a:solidFill>
                  <a:srgbClr val="0070C0"/>
                </a:solidFill>
              </a:rPr>
              <a:t>Mean intensity </a:t>
            </a:r>
            <a:r>
              <a:rPr lang="en-US" b="1" i="1" dirty="0"/>
              <a:t>(Definition # 4) </a:t>
            </a:r>
            <a:r>
              <a:rPr lang="en-US" b="1" i="1" dirty="0">
                <a:solidFill>
                  <a:srgbClr val="0070C0"/>
                </a:solidFill>
              </a:rPr>
              <a:t>X Prevalence </a:t>
            </a:r>
            <a:r>
              <a:rPr lang="en-US" b="1" i="1" dirty="0"/>
              <a:t>(Definition # 1)</a:t>
            </a:r>
          </a:p>
          <a:p>
            <a:pPr lvl="0">
              <a:buFont typeface="Wingdings" pitchFamily="2" charset="2"/>
              <a:buChar char="v"/>
            </a:pPr>
            <a:endParaRPr lang="en-US" b="1" i="1" dirty="0"/>
          </a:p>
        </p:txBody>
      </p:sp>
    </p:spTree>
    <p:extLst>
      <p:ext uri="{BB962C8B-B14F-4D97-AF65-F5344CB8AC3E}">
        <p14:creationId xmlns:p14="http://schemas.microsoft.com/office/powerpoint/2010/main" val="26295971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Some Ecological and Epidemiological Terms in Parasitology </a:t>
            </a:r>
            <a:r>
              <a:rPr lang="en-US" b="1" dirty="0"/>
              <a:t>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b="1" dirty="0"/>
              <a:t> </a:t>
            </a:r>
            <a:r>
              <a:rPr lang="en-US" b="1" dirty="0">
                <a:solidFill>
                  <a:srgbClr val="0070C0"/>
                </a:solidFill>
              </a:rPr>
              <a:t>Density - Dependent </a:t>
            </a:r>
            <a:endParaRPr lang="en-US" dirty="0">
              <a:solidFill>
                <a:srgbClr val="0070C0"/>
              </a:solidFill>
            </a:endParaRPr>
          </a:p>
          <a:p>
            <a:pPr lvl="0">
              <a:buFont typeface="Wingdings" pitchFamily="2" charset="2"/>
              <a:buChar char="v"/>
            </a:pPr>
            <a:r>
              <a:rPr lang="en-US" dirty="0">
                <a:solidFill>
                  <a:schemeClr val="accent6">
                    <a:lumMod val="75000"/>
                  </a:schemeClr>
                </a:solidFill>
              </a:rPr>
              <a:t>In general </a:t>
            </a:r>
            <a:r>
              <a:rPr lang="en-US" b="1" i="1" dirty="0">
                <a:solidFill>
                  <a:schemeClr val="accent6">
                    <a:lumMod val="75000"/>
                  </a:schemeClr>
                </a:solidFill>
              </a:rPr>
              <a:t>Ecology</a:t>
            </a:r>
            <a:r>
              <a:rPr lang="en-US" b="1" i="1" dirty="0"/>
              <a:t>,</a:t>
            </a:r>
            <a:r>
              <a:rPr lang="en-US" dirty="0"/>
              <a:t> </a:t>
            </a:r>
            <a:r>
              <a:rPr lang="en-US" dirty="0">
                <a:solidFill>
                  <a:srgbClr val="0070C0"/>
                </a:solidFill>
              </a:rPr>
              <a:t>this term </a:t>
            </a:r>
            <a:r>
              <a:rPr lang="en-US" dirty="0"/>
              <a:t>is used to describe </a:t>
            </a:r>
            <a:r>
              <a:rPr lang="en-US" u="sng" dirty="0"/>
              <a:t>factors or mechanisms whose effects on, or regulation of, populations are a function of the density of the population</a:t>
            </a:r>
            <a:r>
              <a:rPr lang="en-US" dirty="0"/>
              <a:t>.</a:t>
            </a:r>
          </a:p>
          <a:p>
            <a:pPr lvl="0">
              <a:buFont typeface="Wingdings" pitchFamily="2" charset="2"/>
              <a:buChar char="v"/>
            </a:pPr>
            <a:r>
              <a:rPr lang="en-US" dirty="0">
                <a:solidFill>
                  <a:schemeClr val="accent6">
                    <a:lumMod val="75000"/>
                  </a:schemeClr>
                </a:solidFill>
              </a:rPr>
              <a:t>In </a:t>
            </a:r>
            <a:r>
              <a:rPr lang="en-US" b="1" i="1" dirty="0">
                <a:solidFill>
                  <a:schemeClr val="accent6">
                    <a:lumMod val="75000"/>
                  </a:schemeClr>
                </a:solidFill>
              </a:rPr>
              <a:t>Parasitology</a:t>
            </a:r>
            <a:r>
              <a:rPr lang="en-US" b="1" i="1" dirty="0"/>
              <a:t>,</a:t>
            </a:r>
            <a:r>
              <a:rPr lang="en-US" dirty="0"/>
              <a:t> </a:t>
            </a:r>
            <a:r>
              <a:rPr lang="en-US" dirty="0">
                <a:solidFill>
                  <a:srgbClr val="0070C0"/>
                </a:solidFill>
              </a:rPr>
              <a:t>this term </a:t>
            </a:r>
            <a:r>
              <a:rPr lang="en-US" dirty="0"/>
              <a:t>has been used with reference to </a:t>
            </a:r>
            <a:r>
              <a:rPr lang="en-US" u="sng" dirty="0"/>
              <a:t>factors affecting all individuals of a species of parasite occurring in an individual host</a:t>
            </a:r>
            <a:r>
              <a:rPr lang="en-US" dirty="0"/>
              <a:t>.</a:t>
            </a:r>
          </a:p>
          <a:p>
            <a:pPr marL="0" indent="0">
              <a:buNone/>
            </a:pPr>
            <a:endParaRPr lang="en-US" dirty="0"/>
          </a:p>
          <a:p>
            <a:pPr lvl="0">
              <a:buFont typeface="Wingdings" pitchFamily="2" charset="2"/>
              <a:buChar char="v"/>
            </a:pPr>
            <a:endParaRPr lang="en-US" dirty="0"/>
          </a:p>
        </p:txBody>
      </p:sp>
    </p:spTree>
    <p:extLst>
      <p:ext uri="{BB962C8B-B14F-4D97-AF65-F5344CB8AC3E}">
        <p14:creationId xmlns:p14="http://schemas.microsoft.com/office/powerpoint/2010/main" val="12566334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Some Ecological and Epidemiological Terms in Parasitology </a:t>
            </a:r>
            <a:r>
              <a:rPr lang="en-US" b="1" dirty="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b="1" dirty="0">
                <a:solidFill>
                  <a:srgbClr val="0070C0"/>
                </a:solidFill>
              </a:rPr>
              <a:t>Epidemiology</a:t>
            </a:r>
            <a:r>
              <a:rPr lang="en-US" dirty="0"/>
              <a:t> – </a:t>
            </a:r>
            <a:r>
              <a:rPr lang="en-US" u="sng" dirty="0"/>
              <a:t>the science concerned with disease propagation </a:t>
            </a:r>
            <a:r>
              <a:rPr lang="en-US" dirty="0"/>
              <a:t>(incidence and spread or distribution); </a:t>
            </a:r>
            <a:r>
              <a:rPr lang="en-US" dirty="0">
                <a:solidFill>
                  <a:srgbClr val="FF33CC"/>
                </a:solidFill>
              </a:rPr>
              <a:t>it deals with the natural history of the disease </a:t>
            </a:r>
          </a:p>
          <a:p>
            <a:pPr>
              <a:buFont typeface="Wingdings" pitchFamily="2" charset="2"/>
              <a:buChar char="v"/>
            </a:pPr>
            <a:r>
              <a:rPr lang="en-US" dirty="0"/>
              <a:t>(</a:t>
            </a:r>
            <a:r>
              <a:rPr lang="en-US" dirty="0">
                <a:solidFill>
                  <a:srgbClr val="FF33CC"/>
                </a:solidFill>
              </a:rPr>
              <a:t>its infection in humans and other animals and </a:t>
            </a:r>
          </a:p>
          <a:p>
            <a:pPr>
              <a:buFont typeface="Wingdings" pitchFamily="2" charset="2"/>
              <a:buChar char="v"/>
            </a:pPr>
            <a:r>
              <a:rPr lang="en-US" dirty="0">
                <a:solidFill>
                  <a:srgbClr val="FF33CC"/>
                </a:solidFill>
              </a:rPr>
              <a:t>    the agents which serve as reservoirs and 	vectors</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4500558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Some Ecological and Epidemiological Terms in Parasitology </a:t>
            </a:r>
            <a:r>
              <a:rPr lang="en-US" b="1" dirty="0"/>
              <a:t>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b="1" dirty="0">
                <a:solidFill>
                  <a:srgbClr val="0070C0"/>
                </a:solidFill>
              </a:rPr>
              <a:t>Endemicity</a:t>
            </a:r>
            <a:r>
              <a:rPr lang="en-US" dirty="0"/>
              <a:t> – </a:t>
            </a:r>
            <a:r>
              <a:rPr lang="en-US" u="sng" dirty="0"/>
              <a:t>describes </a:t>
            </a:r>
            <a:r>
              <a:rPr lang="en-US" u="sng" dirty="0">
                <a:solidFill>
                  <a:srgbClr val="0070C0"/>
                </a:solidFill>
              </a:rPr>
              <a:t>the extent </a:t>
            </a:r>
            <a:r>
              <a:rPr lang="en-US" u="sng" dirty="0"/>
              <a:t>to which a disease is present in a community, area or region</a:t>
            </a:r>
            <a:r>
              <a:rPr lang="en-US" dirty="0"/>
              <a:t>. </a:t>
            </a:r>
          </a:p>
          <a:p>
            <a:pPr lvl="0">
              <a:buFont typeface="Wingdings" pitchFamily="2" charset="2"/>
              <a:buChar char="v"/>
            </a:pPr>
            <a:r>
              <a:rPr lang="en-US" dirty="0"/>
              <a:t>If a </a:t>
            </a:r>
            <a:r>
              <a:rPr lang="en-US" dirty="0">
                <a:solidFill>
                  <a:srgbClr val="FF33CC"/>
                </a:solidFill>
              </a:rPr>
              <a:t>disease </a:t>
            </a:r>
            <a:r>
              <a:rPr lang="en-US" u="sng" dirty="0">
                <a:solidFill>
                  <a:srgbClr val="FF33CC"/>
                </a:solidFill>
              </a:rPr>
              <a:t>maintains</a:t>
            </a:r>
            <a:r>
              <a:rPr lang="en-US" dirty="0">
                <a:solidFill>
                  <a:srgbClr val="FF33CC"/>
                </a:solidFill>
              </a:rPr>
              <a:t> itself in a human community</a:t>
            </a:r>
            <a:r>
              <a:rPr lang="en-US" dirty="0"/>
              <a:t>, it is said to be </a:t>
            </a:r>
            <a:r>
              <a:rPr lang="en-US" b="1" dirty="0">
                <a:solidFill>
                  <a:srgbClr val="0070C0"/>
                </a:solidFill>
              </a:rPr>
              <a:t>ENDEMIC</a:t>
            </a:r>
            <a:r>
              <a:rPr lang="en-US" b="1" dirty="0"/>
              <a:t> </a:t>
            </a:r>
            <a:endParaRPr lang="en-US" dirty="0"/>
          </a:p>
          <a:p>
            <a:pPr lvl="0">
              <a:buFont typeface="Wingdings" pitchFamily="2" charset="2"/>
              <a:buChar char="v"/>
            </a:pPr>
            <a:r>
              <a:rPr lang="en-US" dirty="0"/>
              <a:t>If there is </a:t>
            </a:r>
            <a:r>
              <a:rPr lang="en-US" dirty="0">
                <a:solidFill>
                  <a:srgbClr val="FF33CC"/>
                </a:solidFill>
              </a:rPr>
              <a:t>high prevalence</a:t>
            </a:r>
            <a:r>
              <a:rPr lang="en-US" dirty="0"/>
              <a:t>, it is said to be </a:t>
            </a:r>
            <a:r>
              <a:rPr lang="en-US" b="1" dirty="0">
                <a:solidFill>
                  <a:srgbClr val="0070C0"/>
                </a:solidFill>
              </a:rPr>
              <a:t>HYPERENDEMIC</a:t>
            </a:r>
            <a:r>
              <a:rPr lang="en-US" b="1" dirty="0"/>
              <a:t> </a:t>
            </a:r>
            <a:endParaRPr lang="en-US" dirty="0"/>
          </a:p>
          <a:p>
            <a:pPr lvl="0">
              <a:buFont typeface="Wingdings" pitchFamily="2" charset="2"/>
              <a:buChar char="v"/>
            </a:pPr>
            <a:r>
              <a:rPr lang="en-US" dirty="0"/>
              <a:t>If it is </a:t>
            </a:r>
            <a:r>
              <a:rPr lang="en-US" dirty="0">
                <a:solidFill>
                  <a:srgbClr val="FF33CC"/>
                </a:solidFill>
              </a:rPr>
              <a:t>present in unusually high prevalence </a:t>
            </a:r>
            <a:r>
              <a:rPr lang="en-US" dirty="0"/>
              <a:t>it is said to be </a:t>
            </a:r>
            <a:r>
              <a:rPr lang="en-US" b="1" dirty="0">
                <a:solidFill>
                  <a:srgbClr val="0070C0"/>
                </a:solidFill>
              </a:rPr>
              <a:t>HOLOENDEMIC</a:t>
            </a:r>
            <a:endParaRPr lang="en-US" dirty="0">
              <a:solidFill>
                <a:srgbClr val="0070C0"/>
              </a:solidFill>
            </a:endParaRPr>
          </a:p>
          <a:p>
            <a:pPr>
              <a:buFont typeface="Wingdings" pitchFamily="2" charset="2"/>
              <a:buChar char="v"/>
            </a:pPr>
            <a:endParaRPr lang="en-US" dirty="0"/>
          </a:p>
        </p:txBody>
      </p:sp>
    </p:spTree>
    <p:extLst>
      <p:ext uri="{BB962C8B-B14F-4D97-AF65-F5344CB8AC3E}">
        <p14:creationId xmlns:p14="http://schemas.microsoft.com/office/powerpoint/2010/main" val="6821581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Some Ecological and Epidemiological Terms in Parasitology </a:t>
            </a:r>
            <a:r>
              <a:rPr lang="en-US" b="1" dirty="0"/>
              <a:t>Cont’d</a:t>
            </a: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US" dirty="0"/>
              <a:t>If the disease appears </a:t>
            </a:r>
            <a:r>
              <a:rPr lang="en-US" dirty="0">
                <a:solidFill>
                  <a:srgbClr val="FF33CC"/>
                </a:solidFill>
              </a:rPr>
              <a:t>only occasionally</a:t>
            </a:r>
            <a:r>
              <a:rPr lang="en-US" dirty="0"/>
              <a:t>, it is said to be </a:t>
            </a:r>
            <a:r>
              <a:rPr lang="en-US" b="1" dirty="0">
                <a:solidFill>
                  <a:srgbClr val="0070C0"/>
                </a:solidFill>
              </a:rPr>
              <a:t>SPORADIC</a:t>
            </a:r>
            <a:r>
              <a:rPr lang="en-US" dirty="0"/>
              <a:t> </a:t>
            </a:r>
          </a:p>
          <a:p>
            <a:pPr lvl="0">
              <a:buFont typeface="Wingdings" pitchFamily="2" charset="2"/>
              <a:buChar char="v"/>
            </a:pPr>
            <a:r>
              <a:rPr lang="en-US" dirty="0"/>
              <a:t>If the disease develops a </a:t>
            </a:r>
            <a:r>
              <a:rPr lang="en-US" dirty="0">
                <a:solidFill>
                  <a:srgbClr val="FF33CC"/>
                </a:solidFill>
              </a:rPr>
              <a:t>high prevalence through unusually rapid transmission</a:t>
            </a:r>
            <a:r>
              <a:rPr lang="en-US" dirty="0"/>
              <a:t>, it is said to </a:t>
            </a:r>
            <a:r>
              <a:rPr lang="en-US" b="1" dirty="0">
                <a:solidFill>
                  <a:srgbClr val="0070C0"/>
                </a:solidFill>
              </a:rPr>
              <a:t>EPIDEMIC</a:t>
            </a:r>
            <a:r>
              <a:rPr lang="en-US" b="1" dirty="0"/>
              <a:t> </a:t>
            </a:r>
            <a:endParaRPr lang="en-US" dirty="0"/>
          </a:p>
          <a:p>
            <a:pPr>
              <a:buFont typeface="Wingdings" pitchFamily="2" charset="2"/>
              <a:buChar char="v"/>
            </a:pPr>
            <a:r>
              <a:rPr lang="en-US" b="1" dirty="0"/>
              <a:t>Corresponding terms for diseases in animals are: </a:t>
            </a:r>
            <a:r>
              <a:rPr lang="en-US" b="1" dirty="0">
                <a:solidFill>
                  <a:srgbClr val="0070C0"/>
                </a:solidFill>
              </a:rPr>
              <a:t>ENZOOTIC</a:t>
            </a:r>
            <a:r>
              <a:rPr lang="en-US" b="1" dirty="0"/>
              <a:t>, </a:t>
            </a:r>
            <a:r>
              <a:rPr lang="en-US" b="1" dirty="0">
                <a:solidFill>
                  <a:srgbClr val="0070C0"/>
                </a:solidFill>
              </a:rPr>
              <a:t>HYPERENZOOTIC</a:t>
            </a:r>
            <a:r>
              <a:rPr lang="en-US" b="1" dirty="0"/>
              <a:t>, </a:t>
            </a:r>
            <a:r>
              <a:rPr lang="en-US" b="1" dirty="0">
                <a:solidFill>
                  <a:srgbClr val="0070C0"/>
                </a:solidFill>
              </a:rPr>
              <a:t>HOLOENZOOTIC</a:t>
            </a:r>
            <a:r>
              <a:rPr lang="en-US" b="1" dirty="0"/>
              <a:t>, </a:t>
            </a:r>
            <a:r>
              <a:rPr lang="en-US" b="1" dirty="0">
                <a:solidFill>
                  <a:srgbClr val="0070C0"/>
                </a:solidFill>
              </a:rPr>
              <a:t>SPORADIC</a:t>
            </a:r>
            <a:r>
              <a:rPr lang="en-US" b="1" dirty="0"/>
              <a:t> and </a:t>
            </a:r>
            <a:r>
              <a:rPr lang="en-US" b="1" dirty="0">
                <a:solidFill>
                  <a:srgbClr val="0070C0"/>
                </a:solidFill>
              </a:rPr>
              <a:t>EPIZOOTIC</a:t>
            </a:r>
            <a:r>
              <a:rPr lang="en-US" b="1" dirty="0"/>
              <a:t>, respectively.</a:t>
            </a:r>
            <a:endParaRPr lang="en-US" dirty="0"/>
          </a:p>
          <a:p>
            <a:endParaRPr lang="en-US" dirty="0"/>
          </a:p>
          <a:p>
            <a:endParaRPr lang="en-US" dirty="0"/>
          </a:p>
        </p:txBody>
      </p:sp>
    </p:spTree>
    <p:extLst>
      <p:ext uri="{BB962C8B-B14F-4D97-AF65-F5344CB8AC3E}">
        <p14:creationId xmlns:p14="http://schemas.microsoft.com/office/powerpoint/2010/main" val="36061483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Some Ecological and Epidemiological Terms in Parasitology </a:t>
            </a:r>
            <a:r>
              <a:rPr lang="en-US" b="1" dirty="0"/>
              <a:t>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b="1" dirty="0">
                <a:solidFill>
                  <a:srgbClr val="0070C0"/>
                </a:solidFill>
              </a:rPr>
              <a:t>Outbreak</a:t>
            </a:r>
            <a:r>
              <a:rPr lang="en-US" b="1" dirty="0"/>
              <a:t> - </a:t>
            </a:r>
            <a:r>
              <a:rPr lang="en-US" u="sng" dirty="0"/>
              <a:t>When an unusual number of infections are acquired simultaneously from the same source and </a:t>
            </a:r>
            <a:r>
              <a:rPr lang="en-US" dirty="0">
                <a:solidFill>
                  <a:srgbClr val="FF0000"/>
                </a:solidFill>
              </a:rPr>
              <a:t>not transmitted from person to person</a:t>
            </a:r>
            <a:r>
              <a:rPr lang="en-US" dirty="0"/>
              <a:t> </a:t>
            </a:r>
          </a:p>
          <a:p>
            <a:pPr>
              <a:buFont typeface="Wingdings" pitchFamily="2" charset="2"/>
              <a:buChar char="v"/>
            </a:pPr>
            <a:r>
              <a:rPr lang="en-US" dirty="0"/>
              <a:t>(e.g. Trichinosis infection from  eating pork sausage, or  cholera from drinking water from a contaminated or sewage-polluted community  water source), there is said to be</a:t>
            </a:r>
            <a:r>
              <a:rPr lang="en-US" b="1" dirty="0"/>
              <a:t> </a:t>
            </a:r>
            <a:r>
              <a:rPr lang="en-US" dirty="0"/>
              <a:t>an </a:t>
            </a:r>
            <a:r>
              <a:rPr lang="en-US" b="1" dirty="0">
                <a:solidFill>
                  <a:srgbClr val="0070C0"/>
                </a:solidFill>
              </a:rPr>
              <a:t>OUTBREAK of the disease</a:t>
            </a:r>
            <a:r>
              <a:rPr lang="en-US" b="1" dirty="0"/>
              <a:t>.</a:t>
            </a:r>
            <a:endParaRPr lang="en-US" dirty="0"/>
          </a:p>
          <a:p>
            <a:pPr>
              <a:buFont typeface="Wingdings" pitchFamily="2" charset="2"/>
              <a:buChar char="v"/>
            </a:pPr>
            <a:endParaRPr lang="en-US" dirty="0"/>
          </a:p>
          <a:p>
            <a:endParaRPr lang="en-US" dirty="0"/>
          </a:p>
        </p:txBody>
      </p:sp>
    </p:spTree>
    <p:extLst>
      <p:ext uri="{BB962C8B-B14F-4D97-AF65-F5344CB8AC3E}">
        <p14:creationId xmlns:p14="http://schemas.microsoft.com/office/powerpoint/2010/main" val="106255797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C000"/>
                </a:solidFill>
              </a:rPr>
              <a:t>Means of transmission of Pathogens</a:t>
            </a:r>
            <a:endParaRPr lang="en-US" dirty="0">
              <a:solidFill>
                <a:srgbClr val="FFC000"/>
              </a:solidFill>
            </a:endParaRPr>
          </a:p>
        </p:txBody>
      </p:sp>
      <p:sp>
        <p:nvSpPr>
          <p:cNvPr id="3" name="Content Placeholder 2"/>
          <p:cNvSpPr>
            <a:spLocks noGrp="1"/>
          </p:cNvSpPr>
          <p:nvPr>
            <p:ph idx="1"/>
          </p:nvPr>
        </p:nvSpPr>
        <p:spPr/>
        <p:txBody>
          <a:bodyPr/>
          <a:lstStyle/>
          <a:p>
            <a:pPr>
              <a:buFont typeface="Wingdings" pitchFamily="2" charset="2"/>
              <a:buChar char="v"/>
            </a:pPr>
            <a:r>
              <a:rPr lang="en-US" b="1" dirty="0"/>
              <a:t> </a:t>
            </a:r>
            <a:r>
              <a:rPr lang="en-US" dirty="0"/>
              <a:t>Pathogens ( including parasites) may be transmitted by </a:t>
            </a:r>
          </a:p>
          <a:p>
            <a:pPr>
              <a:buFont typeface="Wingdings" pitchFamily="2" charset="2"/>
              <a:buChar char="v"/>
            </a:pPr>
            <a:endParaRPr lang="en-US" b="1" dirty="0"/>
          </a:p>
          <a:p>
            <a:pPr>
              <a:buFont typeface="Wingdings" pitchFamily="2" charset="2"/>
              <a:buChar char="v"/>
            </a:pPr>
            <a:r>
              <a:rPr lang="en-US" b="1" dirty="0">
                <a:solidFill>
                  <a:srgbClr val="7030A0"/>
                </a:solidFill>
              </a:rPr>
              <a:t>Direct contact</a:t>
            </a:r>
          </a:p>
          <a:p>
            <a:pPr marL="0" indent="0">
              <a:buNone/>
            </a:pPr>
            <a:r>
              <a:rPr lang="en-US" b="1" dirty="0"/>
              <a:t> or by </a:t>
            </a:r>
          </a:p>
          <a:p>
            <a:pPr>
              <a:buFont typeface="Wingdings" pitchFamily="2" charset="2"/>
              <a:buChar char="v"/>
            </a:pPr>
            <a:endParaRPr lang="en-US" b="1" dirty="0"/>
          </a:p>
          <a:p>
            <a:pPr>
              <a:buFont typeface="Wingdings" pitchFamily="2" charset="2"/>
              <a:buChar char="v"/>
            </a:pPr>
            <a:r>
              <a:rPr lang="en-US" b="1" dirty="0">
                <a:solidFill>
                  <a:srgbClr val="7030A0"/>
                </a:solidFill>
              </a:rPr>
              <a:t>Indirect</a:t>
            </a:r>
            <a:r>
              <a:rPr lang="en-US" dirty="0">
                <a:solidFill>
                  <a:srgbClr val="7030A0"/>
                </a:solidFill>
              </a:rPr>
              <a:t> </a:t>
            </a:r>
            <a:r>
              <a:rPr lang="en-US" b="1" dirty="0">
                <a:solidFill>
                  <a:srgbClr val="7030A0"/>
                </a:solidFill>
              </a:rPr>
              <a:t>Means</a:t>
            </a:r>
            <a:endParaRPr lang="en-US" dirty="0">
              <a:solidFill>
                <a:srgbClr val="7030A0"/>
              </a:solidFill>
            </a:endParaRPr>
          </a:p>
        </p:txBody>
      </p:sp>
    </p:spTree>
    <p:extLst>
      <p:ext uri="{BB962C8B-B14F-4D97-AF65-F5344CB8AC3E}">
        <p14:creationId xmlns:p14="http://schemas.microsoft.com/office/powerpoint/2010/main" val="31372866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C000"/>
                </a:solidFill>
              </a:rPr>
              <a:t>Means of transmission of Pathogens </a:t>
            </a:r>
            <a:r>
              <a:rPr lang="en-US" b="1" dirty="0"/>
              <a:t>Cont’d</a:t>
            </a: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US" b="1" i="1" dirty="0">
                <a:solidFill>
                  <a:srgbClr val="7030A0"/>
                </a:solidFill>
              </a:rPr>
              <a:t>Direct Transmission.</a:t>
            </a:r>
            <a:r>
              <a:rPr lang="en-US" dirty="0">
                <a:solidFill>
                  <a:srgbClr val="7030A0"/>
                </a:solidFill>
              </a:rPr>
              <a:t> </a:t>
            </a:r>
            <a:r>
              <a:rPr lang="en-US" b="1" dirty="0"/>
              <a:t>Diseases of </a:t>
            </a:r>
            <a:r>
              <a:rPr lang="en-US" b="1" u="sng" dirty="0"/>
              <a:t>humans</a:t>
            </a:r>
            <a:r>
              <a:rPr lang="en-US" u="sng" dirty="0"/>
              <a:t> </a:t>
            </a:r>
            <a:r>
              <a:rPr lang="en-US" dirty="0"/>
              <a:t>transmitted mainly by contact include </a:t>
            </a:r>
            <a:r>
              <a:rPr lang="en-US" dirty="0">
                <a:solidFill>
                  <a:srgbClr val="00B0F0"/>
                </a:solidFill>
              </a:rPr>
              <a:t>Syphilis</a:t>
            </a:r>
            <a:r>
              <a:rPr lang="en-US" dirty="0"/>
              <a:t> and </a:t>
            </a:r>
            <a:r>
              <a:rPr lang="en-US" dirty="0">
                <a:solidFill>
                  <a:srgbClr val="00B0F0"/>
                </a:solidFill>
              </a:rPr>
              <a:t>Gonorrhea</a:t>
            </a:r>
            <a:r>
              <a:rPr lang="en-US" dirty="0"/>
              <a:t>, </a:t>
            </a:r>
            <a:r>
              <a:rPr lang="en-US" dirty="0">
                <a:solidFill>
                  <a:srgbClr val="00B0F0"/>
                </a:solidFill>
              </a:rPr>
              <a:t>diseases of the respiratory tract</a:t>
            </a:r>
            <a:r>
              <a:rPr lang="en-US" dirty="0"/>
              <a:t> and other diseases caused by pathogens which may be present in the upper respiratory tract. </a:t>
            </a:r>
          </a:p>
        </p:txBody>
      </p:sp>
    </p:spTree>
    <p:extLst>
      <p:ext uri="{BB962C8B-B14F-4D97-AF65-F5344CB8AC3E}">
        <p14:creationId xmlns:p14="http://schemas.microsoft.com/office/powerpoint/2010/main" val="6132926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C000"/>
                </a:solidFill>
              </a:rPr>
              <a:t>Means of transmission of Pathogens </a:t>
            </a:r>
            <a:r>
              <a:rPr lang="en-US" b="1" dirty="0"/>
              <a:t>Cont’d</a:t>
            </a:r>
            <a:endParaRPr lang="en-US" dirty="0"/>
          </a:p>
        </p:txBody>
      </p:sp>
      <p:sp>
        <p:nvSpPr>
          <p:cNvPr id="3" name="Content Placeholder 2"/>
          <p:cNvSpPr>
            <a:spLocks noGrp="1"/>
          </p:cNvSpPr>
          <p:nvPr>
            <p:ph idx="1"/>
          </p:nvPr>
        </p:nvSpPr>
        <p:spPr/>
        <p:txBody>
          <a:bodyPr>
            <a:normAutofit fontScale="92500"/>
          </a:bodyPr>
          <a:lstStyle/>
          <a:p>
            <a:pPr lvl="0">
              <a:buFont typeface="Wingdings" pitchFamily="2" charset="2"/>
              <a:buChar char="v"/>
            </a:pPr>
            <a:r>
              <a:rPr lang="en-US" dirty="0"/>
              <a:t>Examples of </a:t>
            </a:r>
            <a:r>
              <a:rPr lang="en-US" b="1" u="sng" dirty="0"/>
              <a:t>diseases of animals </a:t>
            </a:r>
            <a:r>
              <a:rPr lang="en-US" dirty="0"/>
              <a:t>transmitted mainly by direct contact are </a:t>
            </a:r>
            <a:r>
              <a:rPr lang="en-US" dirty="0">
                <a:solidFill>
                  <a:srgbClr val="00B0F0"/>
                </a:solidFill>
              </a:rPr>
              <a:t>Brucellosis</a:t>
            </a:r>
            <a:r>
              <a:rPr lang="en-US" dirty="0"/>
              <a:t> and </a:t>
            </a:r>
            <a:r>
              <a:rPr lang="en-US" dirty="0">
                <a:solidFill>
                  <a:srgbClr val="00B0F0"/>
                </a:solidFill>
              </a:rPr>
              <a:t>Hog cholera</a:t>
            </a:r>
            <a:r>
              <a:rPr lang="en-US" dirty="0"/>
              <a:t>.</a:t>
            </a:r>
          </a:p>
          <a:p>
            <a:pPr lvl="0">
              <a:buFont typeface="Wingdings" pitchFamily="2" charset="2"/>
              <a:buChar char="v"/>
            </a:pPr>
            <a:r>
              <a:rPr lang="en-US" dirty="0"/>
              <a:t> </a:t>
            </a:r>
            <a:r>
              <a:rPr lang="en-US" u="sng" dirty="0"/>
              <a:t>The meat or milk of an infected animal may be used as food by a human being or other animal and thus transmit the pathogens directly</a:t>
            </a:r>
            <a:r>
              <a:rPr lang="en-US" dirty="0"/>
              <a:t>. </a:t>
            </a:r>
          </a:p>
          <a:p>
            <a:pPr lvl="0">
              <a:buFont typeface="Wingdings" pitchFamily="2" charset="2"/>
              <a:buChar char="v"/>
            </a:pPr>
            <a:r>
              <a:rPr lang="en-US" b="1" dirty="0"/>
              <a:t>Thus</a:t>
            </a:r>
            <a:r>
              <a:rPr lang="en-US" dirty="0"/>
              <a:t> </a:t>
            </a:r>
            <a:r>
              <a:rPr lang="en-US" u="sng" dirty="0"/>
              <a:t>diseases which may be transmitted by direct contact may also be spread by other means</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155848438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C000"/>
                </a:solidFill>
              </a:rPr>
              <a:t>Means of transmission of Pathogens </a:t>
            </a:r>
            <a:r>
              <a:rPr lang="en-US" b="1" dirty="0"/>
              <a:t>Cont’d</a:t>
            </a:r>
            <a:endParaRPr lang="en-US" dirty="0"/>
          </a:p>
        </p:txBody>
      </p:sp>
      <p:sp>
        <p:nvSpPr>
          <p:cNvPr id="3" name="Content Placeholder 2"/>
          <p:cNvSpPr>
            <a:spLocks noGrp="1"/>
          </p:cNvSpPr>
          <p:nvPr>
            <p:ph idx="1"/>
          </p:nvPr>
        </p:nvSpPr>
        <p:spPr/>
        <p:txBody>
          <a:bodyPr>
            <a:normAutofit lnSpcReduction="10000"/>
          </a:bodyPr>
          <a:lstStyle/>
          <a:p>
            <a:pPr marL="0" lvl="0" indent="0" algn="ctr">
              <a:buNone/>
            </a:pPr>
            <a:r>
              <a:rPr lang="en-US" b="1" i="1" dirty="0">
                <a:solidFill>
                  <a:srgbClr val="00B0F0"/>
                </a:solidFill>
              </a:rPr>
              <a:t>Indirect Transmission</a:t>
            </a:r>
            <a:r>
              <a:rPr lang="en-US" dirty="0"/>
              <a:t>. </a:t>
            </a:r>
          </a:p>
          <a:p>
            <a:pPr lvl="0">
              <a:buFont typeface="Wingdings" pitchFamily="2" charset="2"/>
              <a:buChar char="v"/>
            </a:pPr>
            <a:r>
              <a:rPr lang="en-US" u="sng" dirty="0"/>
              <a:t>This requires a </a:t>
            </a:r>
            <a:r>
              <a:rPr lang="en-US" b="1" u="sng" dirty="0">
                <a:solidFill>
                  <a:schemeClr val="accent6">
                    <a:lumMod val="75000"/>
                  </a:schemeClr>
                </a:solidFill>
              </a:rPr>
              <a:t>vehicle or carrier </a:t>
            </a:r>
            <a:r>
              <a:rPr lang="en-US" b="1" u="sng" dirty="0"/>
              <a:t>(</a:t>
            </a:r>
            <a:r>
              <a:rPr lang="en-US" b="1" u="sng" dirty="0">
                <a:solidFill>
                  <a:schemeClr val="accent6">
                    <a:lumMod val="75000"/>
                  </a:schemeClr>
                </a:solidFill>
              </a:rPr>
              <a:t>VECTOR</a:t>
            </a:r>
            <a:r>
              <a:rPr lang="en-US" b="1" u="sng" dirty="0"/>
              <a:t>)</a:t>
            </a:r>
            <a:r>
              <a:rPr lang="en-US" u="sng" dirty="0"/>
              <a:t> for the transmission of the pathogen</a:t>
            </a:r>
            <a:r>
              <a:rPr lang="en-US" dirty="0"/>
              <a:t>. </a:t>
            </a:r>
          </a:p>
          <a:p>
            <a:pPr lvl="0">
              <a:buFont typeface="Wingdings" pitchFamily="2" charset="2"/>
              <a:buChar char="v"/>
            </a:pPr>
            <a:r>
              <a:rPr lang="en-US" dirty="0"/>
              <a:t>The vehicle which carries the pathogen may serve only as a mechanical means of transmission or it may play an active part in the process. </a:t>
            </a:r>
          </a:p>
          <a:p>
            <a:pPr lvl="0">
              <a:buFont typeface="Wingdings" pitchFamily="2" charset="2"/>
              <a:buChar char="v"/>
            </a:pPr>
            <a:r>
              <a:rPr lang="en-US" dirty="0"/>
              <a:t>The </a:t>
            </a:r>
            <a:r>
              <a:rPr lang="en-US" dirty="0">
                <a:solidFill>
                  <a:schemeClr val="accent6">
                    <a:lumMod val="75000"/>
                  </a:schemeClr>
                </a:solidFill>
              </a:rPr>
              <a:t>vehicle</a:t>
            </a:r>
            <a:r>
              <a:rPr lang="en-US" dirty="0"/>
              <a:t> may be an </a:t>
            </a:r>
            <a:r>
              <a:rPr lang="en-US" dirty="0">
                <a:solidFill>
                  <a:srgbClr val="00B050"/>
                </a:solidFill>
              </a:rPr>
              <a:t>inanimate substance, </a:t>
            </a:r>
            <a:r>
              <a:rPr lang="en-US" dirty="0"/>
              <a:t>or it may be a </a:t>
            </a:r>
            <a:r>
              <a:rPr lang="en-US" dirty="0">
                <a:solidFill>
                  <a:srgbClr val="00B050"/>
                </a:solidFill>
              </a:rPr>
              <a:t>living organism. </a:t>
            </a:r>
          </a:p>
        </p:txBody>
      </p:sp>
    </p:spTree>
    <p:extLst>
      <p:ext uri="{BB962C8B-B14F-4D97-AF65-F5344CB8AC3E}">
        <p14:creationId xmlns:p14="http://schemas.microsoft.com/office/powerpoint/2010/main" val="30330373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C000"/>
                </a:solidFill>
              </a:rPr>
              <a:t>Means of transmission of Pathogens </a:t>
            </a:r>
            <a:r>
              <a:rPr lang="en-US" b="1" dirty="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rgbClr val="00B050"/>
                </a:solidFill>
              </a:rPr>
              <a:t>Air</a:t>
            </a:r>
            <a:r>
              <a:rPr lang="en-US" dirty="0"/>
              <a:t> is an important and temporary carrier of pathogens suspended in moisture droplets. </a:t>
            </a:r>
          </a:p>
          <a:p>
            <a:pPr lvl="0">
              <a:buFont typeface="Wingdings" pitchFamily="2" charset="2"/>
              <a:buChar char="v"/>
            </a:pPr>
            <a:r>
              <a:rPr lang="en-US" dirty="0"/>
              <a:t>It is also possible for pathogens to be transmitted by </a:t>
            </a:r>
            <a:r>
              <a:rPr lang="en-US" dirty="0">
                <a:solidFill>
                  <a:srgbClr val="00B050"/>
                </a:solidFill>
              </a:rPr>
              <a:t>FOMITES</a:t>
            </a:r>
            <a:r>
              <a:rPr lang="en-US" dirty="0"/>
              <a:t> </a:t>
            </a:r>
          </a:p>
          <a:p>
            <a:pPr lvl="0">
              <a:buFont typeface="Wingdings" pitchFamily="2" charset="2"/>
              <a:buChar char="v"/>
            </a:pPr>
            <a:r>
              <a:rPr lang="en-US" dirty="0"/>
              <a:t>(</a:t>
            </a:r>
            <a:r>
              <a:rPr lang="en-US" u="sng" dirty="0"/>
              <a:t>inanimate objects such as clothing, bedding, books, money, eating and drinking utensils, feed sacks, hair combs</a:t>
            </a:r>
            <a:r>
              <a:rPr lang="en-US" dirty="0"/>
              <a:t>, etc.</a:t>
            </a:r>
          </a:p>
          <a:p>
            <a:pPr>
              <a:buFont typeface="Wingdings" pitchFamily="2" charset="2"/>
              <a:buChar char="v"/>
            </a:pPr>
            <a:endParaRPr lang="en-US" dirty="0"/>
          </a:p>
        </p:txBody>
      </p:sp>
    </p:spTree>
    <p:extLst>
      <p:ext uri="{BB962C8B-B14F-4D97-AF65-F5344CB8AC3E}">
        <p14:creationId xmlns:p14="http://schemas.microsoft.com/office/powerpoint/2010/main" val="40723849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C000"/>
                </a:solidFill>
              </a:rPr>
              <a:t>Means of transmission of Pathogens </a:t>
            </a:r>
            <a:r>
              <a:rPr lang="en-US" b="1" dirty="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b="1" dirty="0">
                <a:solidFill>
                  <a:srgbClr val="00B050"/>
                </a:solidFill>
              </a:rPr>
              <a:t>Arthropods</a:t>
            </a:r>
            <a:r>
              <a:rPr lang="en-US" b="1" dirty="0"/>
              <a:t> </a:t>
            </a:r>
            <a:r>
              <a:rPr lang="en-US" dirty="0"/>
              <a:t>(such as </a:t>
            </a:r>
            <a:r>
              <a:rPr lang="en-US" u="sng" dirty="0"/>
              <a:t>lice</a:t>
            </a:r>
            <a:r>
              <a:rPr lang="en-US" dirty="0"/>
              <a:t>, </a:t>
            </a:r>
            <a:r>
              <a:rPr lang="en-US" u="sng" dirty="0"/>
              <a:t>ticks</a:t>
            </a:r>
            <a:r>
              <a:rPr lang="en-US" dirty="0"/>
              <a:t>, </a:t>
            </a:r>
            <a:r>
              <a:rPr lang="en-US" u="sng" dirty="0"/>
              <a:t>fleas</a:t>
            </a:r>
            <a:r>
              <a:rPr lang="en-US" dirty="0"/>
              <a:t>, </a:t>
            </a:r>
            <a:r>
              <a:rPr lang="en-US" u="sng" dirty="0"/>
              <a:t>flies</a:t>
            </a:r>
            <a:r>
              <a:rPr lang="en-US" dirty="0"/>
              <a:t>, and </a:t>
            </a:r>
            <a:r>
              <a:rPr lang="en-US" u="sng" dirty="0"/>
              <a:t>mosquitoes</a:t>
            </a:r>
            <a:r>
              <a:rPr lang="en-US" dirty="0"/>
              <a:t>) may serve as </a:t>
            </a:r>
            <a:r>
              <a:rPr lang="en-US" dirty="0">
                <a:solidFill>
                  <a:srgbClr val="00B0F0"/>
                </a:solidFill>
              </a:rPr>
              <a:t>accidental carriers </a:t>
            </a:r>
            <a:r>
              <a:rPr lang="en-US" dirty="0"/>
              <a:t>of pathogens, or in some cases as </a:t>
            </a:r>
            <a:r>
              <a:rPr lang="en-US" dirty="0">
                <a:solidFill>
                  <a:srgbClr val="00B0F0"/>
                </a:solidFill>
              </a:rPr>
              <a:t>active, intermediate hosts</a:t>
            </a:r>
            <a:r>
              <a:rPr lang="en-US" dirty="0"/>
              <a:t> for the organisms. </a:t>
            </a:r>
          </a:p>
          <a:p>
            <a:pPr>
              <a:buFont typeface="Wingdings" pitchFamily="2" charset="2"/>
              <a:buChar char="v"/>
            </a:pPr>
            <a:r>
              <a:rPr lang="en-US" dirty="0">
                <a:solidFill>
                  <a:srgbClr val="00B050"/>
                </a:solidFill>
              </a:rPr>
              <a:t>Flies</a:t>
            </a:r>
            <a:r>
              <a:rPr lang="en-US" dirty="0"/>
              <a:t>, </a:t>
            </a:r>
            <a:r>
              <a:rPr lang="en-US" u="sng" dirty="0"/>
              <a:t>for example, may carry pathogens on their legs or in their digestive tract, and thus serve as </a:t>
            </a:r>
            <a:r>
              <a:rPr lang="en-US" b="1" u="sng" dirty="0"/>
              <a:t>mechanical vectors </a:t>
            </a:r>
            <a:r>
              <a:rPr lang="en-US" u="sng" dirty="0"/>
              <a:t>without becoming infected. </a:t>
            </a:r>
          </a:p>
        </p:txBody>
      </p:sp>
    </p:spTree>
    <p:extLst>
      <p:ext uri="{BB962C8B-B14F-4D97-AF65-F5344CB8AC3E}">
        <p14:creationId xmlns:p14="http://schemas.microsoft.com/office/powerpoint/2010/main" val="41318566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C000"/>
                </a:solidFill>
              </a:rPr>
              <a:t>Means of transmission of Pathogens </a:t>
            </a:r>
            <a:r>
              <a:rPr lang="en-US" b="1" dirty="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 </a:t>
            </a:r>
            <a:r>
              <a:rPr lang="en-US" b="1" i="1" dirty="0">
                <a:solidFill>
                  <a:srgbClr val="00B050"/>
                </a:solidFill>
              </a:rPr>
              <a:t>Aedes</a:t>
            </a:r>
            <a:r>
              <a:rPr lang="en-US" dirty="0">
                <a:solidFill>
                  <a:srgbClr val="00B050"/>
                </a:solidFill>
              </a:rPr>
              <a:t> mosquito </a:t>
            </a:r>
            <a:r>
              <a:rPr lang="en-US" u="sng" dirty="0"/>
              <a:t>may suck blood from an individual infected with the yellow fever virus and transmit the virus to a healthy individual</a:t>
            </a:r>
            <a:r>
              <a:rPr lang="en-US" dirty="0"/>
              <a:t>. </a:t>
            </a:r>
          </a:p>
          <a:p>
            <a:pPr>
              <a:buFont typeface="Wingdings" pitchFamily="2" charset="2"/>
              <a:buChar char="v"/>
            </a:pPr>
            <a:r>
              <a:rPr lang="en-US" dirty="0"/>
              <a:t>Similarly, </a:t>
            </a:r>
            <a:r>
              <a:rPr lang="en-US" dirty="0">
                <a:solidFill>
                  <a:srgbClr val="00B050"/>
                </a:solidFill>
              </a:rPr>
              <a:t>lice</a:t>
            </a:r>
            <a:r>
              <a:rPr lang="en-US" dirty="0"/>
              <a:t>, </a:t>
            </a:r>
            <a:r>
              <a:rPr lang="en-US" dirty="0">
                <a:solidFill>
                  <a:srgbClr val="00B050"/>
                </a:solidFill>
              </a:rPr>
              <a:t>ticks</a:t>
            </a:r>
            <a:r>
              <a:rPr lang="en-US" dirty="0"/>
              <a:t> and </a:t>
            </a:r>
            <a:r>
              <a:rPr lang="en-US" dirty="0">
                <a:solidFill>
                  <a:srgbClr val="00B050"/>
                </a:solidFill>
              </a:rPr>
              <a:t>fleas</a:t>
            </a:r>
            <a:r>
              <a:rPr lang="en-US" dirty="0"/>
              <a:t> </a:t>
            </a:r>
            <a:r>
              <a:rPr lang="en-US" u="sng" dirty="0"/>
              <a:t>may transmit pathogens from one person to another or from an infected animal to a human being. </a:t>
            </a:r>
          </a:p>
        </p:txBody>
      </p:sp>
    </p:spTree>
    <p:extLst>
      <p:ext uri="{BB962C8B-B14F-4D97-AF65-F5344CB8AC3E}">
        <p14:creationId xmlns:p14="http://schemas.microsoft.com/office/powerpoint/2010/main" val="315947179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C000"/>
                </a:solidFill>
              </a:rPr>
              <a:t>Means of transmission of Pathogens </a:t>
            </a:r>
            <a:r>
              <a:rPr lang="en-US" b="1" dirty="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In the case of the malaria parasite, the </a:t>
            </a:r>
            <a:r>
              <a:rPr lang="en-US" b="1" i="1" dirty="0">
                <a:solidFill>
                  <a:srgbClr val="00B050"/>
                </a:solidFill>
              </a:rPr>
              <a:t>Anopheles</a:t>
            </a:r>
            <a:r>
              <a:rPr lang="en-US" b="1" dirty="0"/>
              <a:t> </a:t>
            </a:r>
            <a:r>
              <a:rPr lang="en-US" dirty="0"/>
              <a:t>and certain other mosquitoes serve as the </a:t>
            </a:r>
            <a:r>
              <a:rPr lang="en-US" b="1" dirty="0">
                <a:solidFill>
                  <a:schemeClr val="accent6">
                    <a:lumMod val="75000"/>
                  </a:schemeClr>
                </a:solidFill>
              </a:rPr>
              <a:t>vectors</a:t>
            </a:r>
            <a:r>
              <a:rPr lang="en-US" b="1" dirty="0"/>
              <a:t> </a:t>
            </a:r>
            <a:r>
              <a:rPr lang="en-US" dirty="0"/>
              <a:t>in which the parasite, </a:t>
            </a:r>
            <a:r>
              <a:rPr lang="en-US" b="1" i="1" dirty="0">
                <a:solidFill>
                  <a:srgbClr val="00B0F0"/>
                </a:solidFill>
              </a:rPr>
              <a:t>Plasmodium spp</a:t>
            </a:r>
            <a:r>
              <a:rPr lang="en-US" dirty="0">
                <a:solidFill>
                  <a:srgbClr val="00B0F0"/>
                </a:solidFill>
              </a:rPr>
              <a:t>.</a:t>
            </a:r>
          </a:p>
          <a:p>
            <a:pPr>
              <a:buFont typeface="Wingdings" pitchFamily="2" charset="2"/>
              <a:buChar char="v"/>
            </a:pPr>
            <a:r>
              <a:rPr lang="en-US" dirty="0"/>
              <a:t> undergo part of their life cycle.</a:t>
            </a:r>
          </a:p>
        </p:txBody>
      </p:sp>
    </p:spTree>
    <p:extLst>
      <p:ext uri="{BB962C8B-B14F-4D97-AF65-F5344CB8AC3E}">
        <p14:creationId xmlns:p14="http://schemas.microsoft.com/office/powerpoint/2010/main" val="30500350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C000"/>
                </a:solidFill>
              </a:rPr>
              <a:t>Means of transmission of Pathogens </a:t>
            </a:r>
            <a:r>
              <a:rPr lang="en-US" b="1" dirty="0"/>
              <a:t>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u="sng" dirty="0"/>
              <a:t>The first proof that </a:t>
            </a:r>
            <a:r>
              <a:rPr lang="en-US" u="sng" dirty="0">
                <a:solidFill>
                  <a:srgbClr val="00B050"/>
                </a:solidFill>
              </a:rPr>
              <a:t>arthropods</a:t>
            </a:r>
            <a:r>
              <a:rPr lang="en-US" u="sng" dirty="0"/>
              <a:t>  could serve as vectors of disease was presented by </a:t>
            </a:r>
          </a:p>
          <a:p>
            <a:pPr>
              <a:buFont typeface="Wingdings" pitchFamily="2" charset="2"/>
              <a:buChar char="v"/>
            </a:pPr>
            <a:r>
              <a:rPr lang="en-US" b="1" dirty="0">
                <a:solidFill>
                  <a:srgbClr val="FF0000"/>
                </a:solidFill>
              </a:rPr>
              <a:t>Smith and Kilborne </a:t>
            </a:r>
            <a:r>
              <a:rPr lang="en-US" dirty="0"/>
              <a:t>in the early </a:t>
            </a:r>
            <a:r>
              <a:rPr lang="en-US" dirty="0">
                <a:solidFill>
                  <a:srgbClr val="00B0F0"/>
                </a:solidFill>
              </a:rPr>
              <a:t>1890s</a:t>
            </a:r>
            <a:r>
              <a:rPr lang="en-US" dirty="0"/>
              <a:t> </a:t>
            </a:r>
            <a:r>
              <a:rPr lang="en-US" u="sng" dirty="0"/>
              <a:t>when they demonstrated that a </a:t>
            </a:r>
            <a:r>
              <a:rPr lang="en-US" u="sng" dirty="0">
                <a:solidFill>
                  <a:srgbClr val="00B050"/>
                </a:solidFill>
              </a:rPr>
              <a:t>tick</a:t>
            </a:r>
            <a:r>
              <a:rPr lang="en-US" u="sng" dirty="0"/>
              <a:t> served as the vector for the spreading of the protozoan parasite which causes </a:t>
            </a:r>
            <a:r>
              <a:rPr lang="en-US" u="sng" dirty="0">
                <a:solidFill>
                  <a:srgbClr val="7030A0"/>
                </a:solidFill>
              </a:rPr>
              <a:t>Texas fever in cattle</a:t>
            </a:r>
            <a:r>
              <a:rPr lang="en-US" u="sng" dirty="0"/>
              <a:t>.</a:t>
            </a:r>
          </a:p>
          <a:p>
            <a:pPr>
              <a:buFont typeface="Wingdings" pitchFamily="2" charset="2"/>
              <a:buChar char="v"/>
            </a:pPr>
            <a:endParaRPr lang="en-US" dirty="0"/>
          </a:p>
        </p:txBody>
      </p:sp>
    </p:spTree>
    <p:extLst>
      <p:ext uri="{BB962C8B-B14F-4D97-AF65-F5344CB8AC3E}">
        <p14:creationId xmlns:p14="http://schemas.microsoft.com/office/powerpoint/2010/main" val="20646298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7030A0"/>
                </a:solidFill>
              </a:rPr>
              <a:t>PARASITISM AS A MODE OF LIFE BY PARASITES</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Although the term suggests that the parasite is harmful to its host</a:t>
            </a:r>
          </a:p>
          <a:p>
            <a:pPr lvl="0">
              <a:buFont typeface="Wingdings" pitchFamily="2" charset="2"/>
              <a:buChar char="v"/>
            </a:pPr>
            <a:r>
              <a:rPr lang="en-US" u="sng" dirty="0"/>
              <a:t>A parasite seeks a delicate equilibrium with its host so that each tolerates the other</a:t>
            </a:r>
          </a:p>
          <a:p>
            <a:pPr lvl="0">
              <a:buFont typeface="Wingdings" pitchFamily="2" charset="2"/>
              <a:buChar char="v"/>
            </a:pPr>
            <a:r>
              <a:rPr lang="en-US" dirty="0"/>
              <a:t> (</a:t>
            </a:r>
            <a:r>
              <a:rPr lang="en-US" dirty="0">
                <a:solidFill>
                  <a:srgbClr val="FF0000"/>
                </a:solidFill>
              </a:rPr>
              <a:t>the death of the host is detrimental to the parasite</a:t>
            </a:r>
            <a:r>
              <a:rPr lang="en-US" dirty="0"/>
              <a:t>; however, compare with the mode of life of a </a:t>
            </a:r>
            <a:r>
              <a:rPr lang="en-US" dirty="0">
                <a:solidFill>
                  <a:srgbClr val="C00000"/>
                </a:solidFill>
              </a:rPr>
              <a:t>Parasitoid</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36286423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buFont typeface="Wingdings" pitchFamily="2" charset="2"/>
              <a:buChar char="v"/>
            </a:pPr>
            <a:r>
              <a:rPr lang="en-US" u="sng" dirty="0"/>
              <a:t>If the balance is upset the host may spontaneously expel or destroy the parasite, or the host may succumb to the infection</a:t>
            </a:r>
          </a:p>
          <a:p>
            <a:pPr lvl="0">
              <a:buFont typeface="Wingdings" pitchFamily="2" charset="2"/>
              <a:buChar char="v"/>
            </a:pPr>
            <a:endParaRPr lang="en-US" dirty="0"/>
          </a:p>
          <a:p>
            <a:pPr lvl="0">
              <a:buFont typeface="Wingdings" pitchFamily="2" charset="2"/>
              <a:buChar char="v"/>
            </a:pPr>
            <a:r>
              <a:rPr lang="en-US" dirty="0"/>
              <a:t>To achieve its objectives, </a:t>
            </a:r>
            <a:r>
              <a:rPr lang="en-US" u="sng" dirty="0">
                <a:solidFill>
                  <a:srgbClr val="FF0000"/>
                </a:solidFill>
              </a:rPr>
              <a:t>a parasite </a:t>
            </a:r>
            <a:r>
              <a:rPr lang="en-US" u="sng" dirty="0"/>
              <a:t>is adapted to live in/prefer specific niches, habitats or environments, on or within, its host.</a:t>
            </a:r>
          </a:p>
          <a:p>
            <a:pPr>
              <a:buFont typeface="Wingdings" pitchFamily="2" charset="2"/>
              <a:buChar char="v"/>
            </a:pPr>
            <a:endParaRPr lang="en-US" dirty="0"/>
          </a:p>
        </p:txBody>
      </p:sp>
    </p:spTree>
    <p:extLst>
      <p:ext uri="{BB962C8B-B14F-4D97-AF65-F5344CB8AC3E}">
        <p14:creationId xmlns:p14="http://schemas.microsoft.com/office/powerpoint/2010/main" val="10147298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70C0"/>
                </a:solidFill>
              </a:rPr>
              <a:t>Niches, Habitats and Environments of Parasites on or within the host</a:t>
            </a:r>
            <a:r>
              <a:rPr lang="en-US" dirty="0"/>
              <a:t>.</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chemeClr val="accent6">
                    <a:lumMod val="75000"/>
                  </a:schemeClr>
                </a:solidFill>
              </a:rPr>
              <a:t>Parasitology</a:t>
            </a:r>
            <a:r>
              <a:rPr lang="en-US" dirty="0"/>
              <a:t> </a:t>
            </a:r>
            <a:r>
              <a:rPr lang="en-US" u="sng" dirty="0"/>
              <a:t>is essentially a branch of Ecology in which the habitat and environment of an organism (the parasite) is provided by another organism (the host).</a:t>
            </a:r>
          </a:p>
          <a:p>
            <a:pPr>
              <a:buFont typeface="Wingdings" pitchFamily="2" charset="2"/>
              <a:buChar char="v"/>
            </a:pPr>
            <a:endParaRPr lang="en-US" dirty="0"/>
          </a:p>
        </p:txBody>
      </p:sp>
    </p:spTree>
    <p:extLst>
      <p:ext uri="{BB962C8B-B14F-4D97-AF65-F5344CB8AC3E}">
        <p14:creationId xmlns:p14="http://schemas.microsoft.com/office/powerpoint/2010/main" val="29182116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70C0"/>
                </a:solidFill>
              </a:rPr>
              <a:t>Niches, Habitats and Environments of Parasites on or within the host </a:t>
            </a:r>
            <a:r>
              <a:rPr lang="en-US" b="1" dirty="0" err="1"/>
              <a:t>cont’t</a:t>
            </a:r>
            <a:br>
              <a:rPr lang="en-US" b="1" dirty="0"/>
            </a:br>
            <a:endParaRPr lang="en-US" b="1"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chemeClr val="accent6">
                    <a:lumMod val="75000"/>
                  </a:schemeClr>
                </a:solidFill>
              </a:rPr>
              <a:t>Two different species of parasites </a:t>
            </a:r>
            <a:r>
              <a:rPr lang="en-US" dirty="0">
                <a:solidFill>
                  <a:srgbClr val="00B0F0"/>
                </a:solidFill>
              </a:rPr>
              <a:t>can occupy the same habitat </a:t>
            </a:r>
          </a:p>
          <a:p>
            <a:pPr lvl="0">
              <a:buFont typeface="Wingdings" pitchFamily="2" charset="2"/>
              <a:buChar char="v"/>
            </a:pPr>
            <a:r>
              <a:rPr lang="en-US" dirty="0"/>
              <a:t>(e.g. the intestines of an animal) </a:t>
            </a:r>
            <a:r>
              <a:rPr lang="en-US" dirty="0">
                <a:solidFill>
                  <a:srgbClr val="FF33CC"/>
                </a:solidFill>
              </a:rPr>
              <a:t>while occupying different niches</a:t>
            </a:r>
            <a:r>
              <a:rPr lang="en-US" dirty="0"/>
              <a:t> </a:t>
            </a:r>
            <a:r>
              <a:rPr lang="en-US" dirty="0">
                <a:solidFill>
                  <a:srgbClr val="92D050"/>
                </a:solidFill>
              </a:rPr>
              <a:t>because one may use glucose for nutrition</a:t>
            </a:r>
            <a:r>
              <a:rPr lang="en-US" dirty="0"/>
              <a:t>, </a:t>
            </a:r>
            <a:r>
              <a:rPr lang="en-US" dirty="0">
                <a:solidFill>
                  <a:srgbClr val="C00000"/>
                </a:solidFill>
              </a:rPr>
              <a:t>whereas the other uses fructose</a:t>
            </a:r>
            <a:r>
              <a:rPr lang="en-US" dirty="0"/>
              <a:t>-</a:t>
            </a:r>
            <a:r>
              <a:rPr lang="en-US" dirty="0">
                <a:solidFill>
                  <a:srgbClr val="FF33CC"/>
                </a:solidFill>
              </a:rPr>
              <a:t>the two organisms thus occupy different nutritional niches</a:t>
            </a:r>
          </a:p>
          <a:p>
            <a:pPr>
              <a:buFont typeface="Wingdings" pitchFamily="2" charset="2"/>
              <a:buChar char="v"/>
            </a:pPr>
            <a:endParaRPr lang="en-US" dirty="0"/>
          </a:p>
        </p:txBody>
      </p:sp>
    </p:spTree>
    <p:extLst>
      <p:ext uri="{BB962C8B-B14F-4D97-AF65-F5344CB8AC3E}">
        <p14:creationId xmlns:p14="http://schemas.microsoft.com/office/powerpoint/2010/main" val="263557792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70C0"/>
                </a:solidFill>
              </a:rPr>
              <a:t>Niches, Habitats and Environments of Parasites on or within the host </a:t>
            </a:r>
            <a:r>
              <a:rPr lang="en-US" b="1" dirty="0" err="1"/>
              <a:t>cont’t</a:t>
            </a:r>
            <a:br>
              <a:rPr lang="en-US" b="1"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A vast range of niches/ habitats/ environments are, therefore, available for occupation by parasites</a:t>
            </a:r>
          </a:p>
          <a:p>
            <a:pPr lvl="0">
              <a:buFont typeface="Wingdings" pitchFamily="2" charset="2"/>
              <a:buChar char="v"/>
            </a:pPr>
            <a:endParaRPr lang="en-US" dirty="0"/>
          </a:p>
          <a:p>
            <a:pPr lvl="0">
              <a:buFont typeface="Wingdings" pitchFamily="2" charset="2"/>
              <a:buChar char="v"/>
            </a:pPr>
            <a:r>
              <a:rPr lang="en-US" dirty="0">
                <a:solidFill>
                  <a:srgbClr val="00B050"/>
                </a:solidFill>
              </a:rPr>
              <a:t>In Invertebrates</a:t>
            </a:r>
            <a:r>
              <a:rPr lang="en-US" dirty="0"/>
              <a:t>, the possible habitats include:</a:t>
            </a:r>
          </a:p>
          <a:p>
            <a:pPr lvl="0">
              <a:buFont typeface="Wingdings" pitchFamily="2" charset="2"/>
              <a:buChar char="ü"/>
            </a:pPr>
            <a:r>
              <a:rPr lang="en-US" dirty="0">
                <a:solidFill>
                  <a:schemeClr val="accent6">
                    <a:lumMod val="75000"/>
                  </a:schemeClr>
                </a:solidFill>
              </a:rPr>
              <a:t>Most tissues</a:t>
            </a:r>
          </a:p>
          <a:p>
            <a:pPr lvl="0">
              <a:buFont typeface="Wingdings" pitchFamily="2" charset="2"/>
              <a:buChar char="ü"/>
            </a:pPr>
            <a:r>
              <a:rPr lang="en-US" dirty="0">
                <a:solidFill>
                  <a:schemeClr val="accent6">
                    <a:lumMod val="75000"/>
                  </a:schemeClr>
                </a:solidFill>
              </a:rPr>
              <a:t>Reproductive system</a:t>
            </a:r>
          </a:p>
          <a:p>
            <a:pPr>
              <a:buFont typeface="Wingdings" pitchFamily="2" charset="2"/>
              <a:buChar char="ü"/>
            </a:pPr>
            <a:endParaRPr lang="en-US" dirty="0"/>
          </a:p>
        </p:txBody>
      </p:sp>
    </p:spTree>
    <p:extLst>
      <p:ext uri="{BB962C8B-B14F-4D97-AF65-F5344CB8AC3E}">
        <p14:creationId xmlns:p14="http://schemas.microsoft.com/office/powerpoint/2010/main" val="822070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70C0"/>
                </a:solidFill>
              </a:rPr>
              <a:t>Niches, Habitats and Environments of Parasites on or within the host </a:t>
            </a:r>
            <a:r>
              <a:rPr lang="en-US" b="1" dirty="0"/>
              <a:t>con'td</a:t>
            </a:r>
            <a:br>
              <a:rPr lang="en-US" b="1" dirty="0"/>
            </a:br>
            <a:endParaRPr lang="en-US" dirty="0"/>
          </a:p>
        </p:txBody>
      </p:sp>
      <p:sp>
        <p:nvSpPr>
          <p:cNvPr id="3" name="Content Placeholder 2"/>
          <p:cNvSpPr>
            <a:spLocks noGrp="1"/>
          </p:cNvSpPr>
          <p:nvPr>
            <p:ph idx="1"/>
          </p:nvPr>
        </p:nvSpPr>
        <p:spPr/>
        <p:txBody>
          <a:bodyPr/>
          <a:lstStyle/>
          <a:p>
            <a:pPr marL="0" lvl="0" indent="0">
              <a:buNone/>
            </a:pPr>
            <a:r>
              <a:rPr lang="en-US" dirty="0">
                <a:solidFill>
                  <a:srgbClr val="00B050"/>
                </a:solidFill>
              </a:rPr>
              <a:t>In Vertebrates </a:t>
            </a:r>
            <a:r>
              <a:rPr lang="en-US" dirty="0"/>
              <a:t>the habitats include:</a:t>
            </a:r>
          </a:p>
          <a:p>
            <a:pPr lvl="0">
              <a:buFont typeface="Wingdings" pitchFamily="2" charset="2"/>
              <a:buChar char="v"/>
            </a:pPr>
            <a:r>
              <a:rPr lang="en-US" dirty="0">
                <a:solidFill>
                  <a:srgbClr val="FF0000"/>
                </a:solidFill>
              </a:rPr>
              <a:t>Alimentary Canal</a:t>
            </a:r>
          </a:p>
          <a:p>
            <a:pPr lvl="0">
              <a:buFont typeface="Wingdings" pitchFamily="2" charset="2"/>
              <a:buChar char="ü"/>
            </a:pPr>
            <a:r>
              <a:rPr lang="en-US" u="sng" dirty="0"/>
              <a:t>Though most hazardous</a:t>
            </a:r>
          </a:p>
          <a:p>
            <a:pPr lvl="0">
              <a:buFont typeface="Wingdings" pitchFamily="2" charset="2"/>
              <a:buChar char="ü"/>
            </a:pPr>
            <a:r>
              <a:rPr lang="en-US" u="sng" dirty="0"/>
              <a:t>Dark </a:t>
            </a:r>
          </a:p>
          <a:p>
            <a:pPr lvl="0">
              <a:buFont typeface="Wingdings" pitchFamily="2" charset="2"/>
              <a:buChar char="ü"/>
            </a:pPr>
            <a:r>
              <a:rPr lang="en-US" u="sng" dirty="0"/>
              <a:t>Undergoes regular physiological changes relative to the feeding habitats of the host</a:t>
            </a:r>
            <a:r>
              <a:rPr lang="en-US" dirty="0"/>
              <a:t>.</a:t>
            </a:r>
          </a:p>
          <a:p>
            <a:endParaRPr lang="en-US" dirty="0"/>
          </a:p>
        </p:txBody>
      </p:sp>
    </p:spTree>
    <p:extLst>
      <p:ext uri="{BB962C8B-B14F-4D97-AF65-F5344CB8AC3E}">
        <p14:creationId xmlns:p14="http://schemas.microsoft.com/office/powerpoint/2010/main" val="256445233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70C0"/>
                </a:solidFill>
              </a:rPr>
              <a:t>Niches, Habitats and Environments of Parasites on or within the host </a:t>
            </a:r>
            <a:r>
              <a:rPr lang="en-US" b="1" dirty="0"/>
              <a:t>con'td</a:t>
            </a:r>
            <a:br>
              <a:rPr lang="en-US" b="1"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u="sng" dirty="0"/>
              <a:t>Contains a battery of proteins, fats and carbohydrate-splitting enzymes</a:t>
            </a:r>
          </a:p>
          <a:p>
            <a:pPr lvl="0">
              <a:buFont typeface="Wingdings" pitchFamily="2" charset="2"/>
              <a:buChar char="v"/>
            </a:pPr>
            <a:r>
              <a:rPr lang="en-US" u="sng" dirty="0"/>
              <a:t>pH of wide range</a:t>
            </a:r>
          </a:p>
          <a:p>
            <a:pPr lvl="0">
              <a:buFont typeface="Wingdings" pitchFamily="2" charset="2"/>
              <a:buChar char="v"/>
            </a:pPr>
            <a:r>
              <a:rPr lang="en-US" u="sng" dirty="0"/>
              <a:t>almost oxygen-free</a:t>
            </a:r>
          </a:p>
          <a:p>
            <a:pPr lvl="0">
              <a:buFont typeface="Wingdings" pitchFamily="2" charset="2"/>
              <a:buChar char="v"/>
            </a:pPr>
            <a:r>
              <a:rPr lang="en-US" u="sng" dirty="0"/>
              <a:t>may undergo violent movements</a:t>
            </a:r>
          </a:p>
          <a:p>
            <a:pPr lvl="0">
              <a:buFont typeface="Wingdings" pitchFamily="2" charset="2"/>
              <a:buChar char="v"/>
            </a:pPr>
            <a:r>
              <a:rPr lang="en-US" u="sng" dirty="0"/>
              <a:t>varied topography </a:t>
            </a:r>
            <a:r>
              <a:rPr lang="en-US" dirty="0"/>
              <a:t>e.g. size of villi, width and depth of crypts</a:t>
            </a:r>
          </a:p>
          <a:p>
            <a:pPr>
              <a:buFont typeface="Wingdings" pitchFamily="2" charset="2"/>
              <a:buChar char="v"/>
            </a:pPr>
            <a:endParaRPr lang="en-US" dirty="0"/>
          </a:p>
        </p:txBody>
      </p:sp>
    </p:spTree>
    <p:extLst>
      <p:ext uri="{BB962C8B-B14F-4D97-AF65-F5344CB8AC3E}">
        <p14:creationId xmlns:p14="http://schemas.microsoft.com/office/powerpoint/2010/main" val="107521927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70C0"/>
                </a:solidFill>
              </a:rPr>
              <a:t>Niches, Habitats and Environments of Parasites on or within the host </a:t>
            </a:r>
            <a:r>
              <a:rPr lang="en-US" b="1" dirty="0"/>
              <a:t>con'td</a:t>
            </a:r>
            <a:br>
              <a:rPr lang="en-US" b="1"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the </a:t>
            </a:r>
            <a:r>
              <a:rPr lang="en-US" b="1" dirty="0"/>
              <a:t>most popular sites </a:t>
            </a:r>
            <a:r>
              <a:rPr lang="en-US" dirty="0"/>
              <a:t>for </a:t>
            </a:r>
            <a:r>
              <a:rPr lang="en-US" dirty="0">
                <a:solidFill>
                  <a:srgbClr val="FF0000"/>
                </a:solidFill>
              </a:rPr>
              <a:t>intestinal parasites </a:t>
            </a:r>
            <a:r>
              <a:rPr lang="en-US" dirty="0"/>
              <a:t>are the:</a:t>
            </a:r>
          </a:p>
          <a:p>
            <a:pPr marL="0" indent="0">
              <a:buNone/>
            </a:pPr>
            <a:r>
              <a:rPr lang="en-US" dirty="0"/>
              <a:t>    - </a:t>
            </a:r>
            <a:r>
              <a:rPr lang="en-US" dirty="0">
                <a:solidFill>
                  <a:srgbClr val="7030A0"/>
                </a:solidFill>
              </a:rPr>
              <a:t>duodenum</a:t>
            </a:r>
            <a:r>
              <a:rPr lang="en-US" dirty="0"/>
              <a:t>  </a:t>
            </a:r>
          </a:p>
          <a:p>
            <a:pPr marL="0" indent="0">
              <a:buNone/>
            </a:pPr>
            <a:r>
              <a:rPr lang="en-US" dirty="0"/>
              <a:t>   - </a:t>
            </a:r>
            <a:r>
              <a:rPr lang="en-US" dirty="0">
                <a:solidFill>
                  <a:srgbClr val="7030A0"/>
                </a:solidFill>
              </a:rPr>
              <a:t>ileum</a:t>
            </a:r>
            <a:r>
              <a:rPr lang="en-US" dirty="0"/>
              <a:t> </a:t>
            </a:r>
          </a:p>
          <a:p>
            <a:pPr marL="0" indent="0">
              <a:buNone/>
            </a:pPr>
            <a:r>
              <a:rPr lang="en-US" dirty="0"/>
              <a:t>   - </a:t>
            </a:r>
            <a:r>
              <a:rPr lang="en-US" dirty="0">
                <a:solidFill>
                  <a:srgbClr val="7030A0"/>
                </a:solidFill>
              </a:rPr>
              <a:t>large intestine</a:t>
            </a:r>
          </a:p>
          <a:p>
            <a:endParaRPr lang="en-US" dirty="0"/>
          </a:p>
        </p:txBody>
      </p:sp>
    </p:spTree>
    <p:extLst>
      <p:ext uri="{BB962C8B-B14F-4D97-AF65-F5344CB8AC3E}">
        <p14:creationId xmlns:p14="http://schemas.microsoft.com/office/powerpoint/2010/main" val="399605158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70C0"/>
                </a:solidFill>
              </a:rPr>
              <a:t>Niches, Habitats and Environments of Parasites on or within the host</a:t>
            </a:r>
            <a:r>
              <a:rPr lang="en-US" b="1" dirty="0"/>
              <a:t> </a:t>
            </a:r>
            <a:r>
              <a:rPr lang="en-US" b="1" dirty="0" err="1"/>
              <a:t>cont’t</a:t>
            </a:r>
            <a:br>
              <a:rPr lang="en-US" b="1" dirty="0"/>
            </a:br>
            <a:endParaRPr lang="en-US" dirty="0"/>
          </a:p>
        </p:txBody>
      </p:sp>
      <p:sp>
        <p:nvSpPr>
          <p:cNvPr id="3" name="Content Placeholder 2"/>
          <p:cNvSpPr>
            <a:spLocks noGrp="1"/>
          </p:cNvSpPr>
          <p:nvPr>
            <p:ph idx="1"/>
          </p:nvPr>
        </p:nvSpPr>
        <p:spPr/>
        <p:txBody>
          <a:bodyPr>
            <a:normAutofit lnSpcReduction="10000"/>
          </a:bodyPr>
          <a:lstStyle/>
          <a:p>
            <a:pPr marL="0" lvl="0" indent="0" algn="ctr">
              <a:buNone/>
            </a:pPr>
            <a:r>
              <a:rPr lang="en-US" b="1" dirty="0">
                <a:solidFill>
                  <a:srgbClr val="FF0000"/>
                </a:solidFill>
              </a:rPr>
              <a:t>Blood</a:t>
            </a:r>
          </a:p>
          <a:p>
            <a:pPr lvl="0">
              <a:buFont typeface="Wingdings" pitchFamily="2" charset="2"/>
              <a:buChar char="v"/>
            </a:pPr>
            <a:r>
              <a:rPr lang="en-US" dirty="0"/>
              <a:t>Quantity of soluble food varies with the feeding habitat of the host</a:t>
            </a:r>
          </a:p>
          <a:p>
            <a:pPr lvl="0">
              <a:buFont typeface="Wingdings" pitchFamily="2" charset="2"/>
              <a:buChar char="v"/>
            </a:pPr>
            <a:r>
              <a:rPr lang="en-US" dirty="0">
                <a:solidFill>
                  <a:srgbClr val="FF0000"/>
                </a:solidFill>
              </a:rPr>
              <a:t>Relatively poor medium for Cestodes </a:t>
            </a:r>
            <a:r>
              <a:rPr lang="en-US" dirty="0"/>
              <a:t>in search of absorbable molecules such as amino acids, glucose, etc. </a:t>
            </a:r>
            <a:r>
              <a:rPr lang="en-US" u="sng" dirty="0"/>
              <a:t>compared to the duodenum</a:t>
            </a:r>
          </a:p>
          <a:p>
            <a:pPr lvl="0">
              <a:buFont typeface="Wingdings" pitchFamily="2" charset="2"/>
              <a:buChar char="v"/>
            </a:pPr>
            <a:r>
              <a:rPr lang="en-US" dirty="0">
                <a:solidFill>
                  <a:srgbClr val="92D050"/>
                </a:solidFill>
              </a:rPr>
              <a:t>A trematode, e.g. </a:t>
            </a:r>
            <a:r>
              <a:rPr lang="en-US" i="1" dirty="0">
                <a:solidFill>
                  <a:srgbClr val="92D050"/>
                </a:solidFill>
              </a:rPr>
              <a:t>Schistosoma</a:t>
            </a:r>
            <a:r>
              <a:rPr lang="en-US" dirty="0">
                <a:solidFill>
                  <a:srgbClr val="92D050"/>
                </a:solidFill>
              </a:rPr>
              <a:t> </a:t>
            </a:r>
            <a:r>
              <a:rPr lang="en-US" u="sng" dirty="0"/>
              <a:t>with a gut and well-developed digestive enzymes is able to obtain its nutritional needs in the blood</a:t>
            </a:r>
          </a:p>
          <a:p>
            <a:endParaRPr lang="en-US" dirty="0"/>
          </a:p>
        </p:txBody>
      </p:sp>
    </p:spTree>
    <p:extLst>
      <p:ext uri="{BB962C8B-B14F-4D97-AF65-F5344CB8AC3E}">
        <p14:creationId xmlns:p14="http://schemas.microsoft.com/office/powerpoint/2010/main" val="20232629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solidFill>
                  <a:srgbClr val="0070C0"/>
                </a:solidFill>
              </a:rPr>
            </a:br>
            <a:r>
              <a:rPr lang="en-US" b="1" dirty="0">
                <a:solidFill>
                  <a:srgbClr val="0070C0"/>
                </a:solidFill>
              </a:rPr>
              <a:t>Niches, Habitats and Environments of Parasites on or within the host</a:t>
            </a:r>
            <a:r>
              <a:rPr lang="en-US" b="1" dirty="0"/>
              <a:t> con'td</a:t>
            </a:r>
            <a:br>
              <a:rPr lang="en-US" b="1" dirty="0"/>
            </a:br>
            <a:endParaRPr lang="en-US" dirty="0"/>
          </a:p>
        </p:txBody>
      </p:sp>
      <p:sp>
        <p:nvSpPr>
          <p:cNvPr id="3" name="Content Placeholder 2"/>
          <p:cNvSpPr>
            <a:spLocks noGrp="1"/>
          </p:cNvSpPr>
          <p:nvPr>
            <p:ph idx="1"/>
          </p:nvPr>
        </p:nvSpPr>
        <p:spPr/>
        <p:txBody>
          <a:bodyPr/>
          <a:lstStyle/>
          <a:p>
            <a:pPr marL="0" lvl="0" indent="0" algn="ctr">
              <a:buNone/>
            </a:pPr>
            <a:r>
              <a:rPr lang="en-US" b="1" dirty="0">
                <a:solidFill>
                  <a:srgbClr val="FF0000"/>
                </a:solidFill>
              </a:rPr>
              <a:t>Skin</a:t>
            </a:r>
            <a:r>
              <a:rPr lang="en-US" b="1" dirty="0"/>
              <a:t> </a:t>
            </a:r>
          </a:p>
          <a:p>
            <a:pPr lvl="0">
              <a:buFont typeface="Wingdings" pitchFamily="2" charset="2"/>
              <a:buChar char="v"/>
            </a:pPr>
            <a:r>
              <a:rPr lang="en-US" u="sng" dirty="0"/>
              <a:t>Habitat for mostly </a:t>
            </a:r>
            <a:r>
              <a:rPr lang="en-US" u="sng" dirty="0">
                <a:solidFill>
                  <a:srgbClr val="00B050"/>
                </a:solidFill>
              </a:rPr>
              <a:t>ectoparasites</a:t>
            </a:r>
            <a:r>
              <a:rPr lang="en-US" u="sng" dirty="0"/>
              <a:t> and some </a:t>
            </a:r>
            <a:r>
              <a:rPr lang="en-US" u="sng" dirty="0">
                <a:solidFill>
                  <a:srgbClr val="00B050"/>
                </a:solidFill>
              </a:rPr>
              <a:t>arthropod parasites</a:t>
            </a:r>
          </a:p>
          <a:p>
            <a:pPr>
              <a:buFont typeface="Wingdings" pitchFamily="2" charset="2"/>
              <a:buChar char="v"/>
            </a:pPr>
            <a:endParaRPr lang="en-US" dirty="0"/>
          </a:p>
        </p:txBody>
      </p:sp>
    </p:spTree>
    <p:extLst>
      <p:ext uri="{BB962C8B-B14F-4D97-AF65-F5344CB8AC3E}">
        <p14:creationId xmlns:p14="http://schemas.microsoft.com/office/powerpoint/2010/main" val="347023529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70C0"/>
                </a:solidFill>
              </a:rPr>
              <a:t>Niches, Habitats and Environments of Parasites on or within the host </a:t>
            </a:r>
            <a:r>
              <a:rPr lang="en-US" b="1" dirty="0"/>
              <a:t>con'td</a:t>
            </a:r>
            <a:br>
              <a:rPr lang="en-US" b="1" dirty="0"/>
            </a:br>
            <a:endParaRPr lang="en-US" dirty="0"/>
          </a:p>
        </p:txBody>
      </p:sp>
      <p:sp>
        <p:nvSpPr>
          <p:cNvPr id="3" name="Content Placeholder 2"/>
          <p:cNvSpPr>
            <a:spLocks noGrp="1"/>
          </p:cNvSpPr>
          <p:nvPr>
            <p:ph idx="1"/>
          </p:nvPr>
        </p:nvSpPr>
        <p:spPr/>
        <p:txBody>
          <a:bodyPr/>
          <a:lstStyle/>
          <a:p>
            <a:pPr marL="0" lvl="0" indent="0" algn="ctr">
              <a:buNone/>
            </a:pPr>
            <a:r>
              <a:rPr lang="en-US" b="1" dirty="0">
                <a:solidFill>
                  <a:srgbClr val="FF0000"/>
                </a:solidFill>
              </a:rPr>
              <a:t>Tissue / Organs</a:t>
            </a:r>
          </a:p>
          <a:p>
            <a:pPr lvl="0">
              <a:buFont typeface="Wingdings" pitchFamily="2" charset="2"/>
              <a:buChar char="v"/>
            </a:pPr>
            <a:r>
              <a:rPr lang="en-US" dirty="0">
                <a:solidFill>
                  <a:srgbClr val="92D050"/>
                </a:solidFill>
              </a:rPr>
              <a:t>Inhabited by some protozoans</a:t>
            </a:r>
            <a:r>
              <a:rPr lang="en-US" dirty="0"/>
              <a:t>, </a:t>
            </a:r>
            <a:r>
              <a:rPr lang="en-US" dirty="0">
                <a:solidFill>
                  <a:srgbClr val="92D050"/>
                </a:solidFill>
              </a:rPr>
              <a:t>helminths</a:t>
            </a:r>
            <a:r>
              <a:rPr lang="en-US" dirty="0"/>
              <a:t> (particularly </a:t>
            </a:r>
            <a:r>
              <a:rPr lang="en-US" dirty="0">
                <a:solidFill>
                  <a:srgbClr val="92D050"/>
                </a:solidFill>
              </a:rPr>
              <a:t>nematodes</a:t>
            </a:r>
            <a:r>
              <a:rPr lang="en-US" dirty="0"/>
              <a:t>)</a:t>
            </a:r>
          </a:p>
          <a:p>
            <a:pPr marL="0" indent="0">
              <a:buNone/>
            </a:pPr>
            <a:endParaRPr lang="en-US" dirty="0"/>
          </a:p>
        </p:txBody>
      </p:sp>
    </p:spTree>
    <p:extLst>
      <p:ext uri="{BB962C8B-B14F-4D97-AF65-F5344CB8AC3E}">
        <p14:creationId xmlns:p14="http://schemas.microsoft.com/office/powerpoint/2010/main" val="237846408"/>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chemeClr val="accent6">
                    <a:lumMod val="75000"/>
                  </a:schemeClr>
                </a:solidFill>
              </a:rPr>
              <a:t>Reproductive Potential of Parasites</a:t>
            </a:r>
            <a:br>
              <a:rPr lang="en-US" dirty="0"/>
            </a:br>
            <a:endParaRPr lang="en-US" dirty="0"/>
          </a:p>
        </p:txBody>
      </p:sp>
      <p:sp>
        <p:nvSpPr>
          <p:cNvPr id="3" name="Content Placeholder 2"/>
          <p:cNvSpPr>
            <a:spLocks noGrp="1"/>
          </p:cNvSpPr>
          <p:nvPr>
            <p:ph idx="1"/>
          </p:nvPr>
        </p:nvSpPr>
        <p:spPr/>
        <p:txBody>
          <a:bodyPr/>
          <a:lstStyle/>
          <a:p>
            <a:r>
              <a:rPr lang="en-US" b="1" dirty="0"/>
              <a:t>This is determined by the</a:t>
            </a:r>
            <a:endParaRPr lang="en-US" dirty="0"/>
          </a:p>
          <a:p>
            <a:pPr lvl="0">
              <a:buFont typeface="Wingdings" pitchFamily="2" charset="2"/>
              <a:buChar char="v"/>
            </a:pPr>
            <a:r>
              <a:rPr lang="en-US" dirty="0">
                <a:solidFill>
                  <a:srgbClr val="00B0F0"/>
                </a:solidFill>
              </a:rPr>
              <a:t>Need to produce offspring to infect the next host</a:t>
            </a:r>
          </a:p>
          <a:p>
            <a:pPr lvl="0">
              <a:buFont typeface="Wingdings" pitchFamily="2" charset="2"/>
              <a:buChar char="v"/>
            </a:pPr>
            <a:r>
              <a:rPr lang="en-US" dirty="0"/>
              <a:t>Hence complete life cycles evolved, involving </a:t>
            </a:r>
            <a:r>
              <a:rPr lang="en-US" dirty="0">
                <a:solidFill>
                  <a:srgbClr val="00B0F0"/>
                </a:solidFill>
              </a:rPr>
              <a:t>intermediate hosts </a:t>
            </a:r>
            <a:r>
              <a:rPr lang="en-US" dirty="0"/>
              <a:t>and a </a:t>
            </a:r>
            <a:r>
              <a:rPr lang="en-US" dirty="0">
                <a:solidFill>
                  <a:srgbClr val="00B0F0"/>
                </a:solidFill>
              </a:rPr>
              <a:t>definitive host</a:t>
            </a:r>
          </a:p>
          <a:p>
            <a:pPr>
              <a:buFont typeface="Wingdings" pitchFamily="2" charset="2"/>
              <a:buChar char="v"/>
            </a:pPr>
            <a:endParaRPr lang="en-US" dirty="0"/>
          </a:p>
        </p:txBody>
      </p:sp>
    </p:spTree>
    <p:extLst>
      <p:ext uri="{BB962C8B-B14F-4D97-AF65-F5344CB8AC3E}">
        <p14:creationId xmlns:p14="http://schemas.microsoft.com/office/powerpoint/2010/main" val="37704224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6">
                    <a:lumMod val="75000"/>
                  </a:schemeClr>
                </a:solidFill>
              </a:rPr>
              <a:t>Reproductive Potential of Parasites </a:t>
            </a:r>
            <a:r>
              <a:rPr lang="en-US" b="1" dirty="0"/>
              <a:t>cont’d</a:t>
            </a:r>
            <a:endParaRPr lang="en-US" dirty="0"/>
          </a:p>
        </p:txBody>
      </p:sp>
      <p:sp>
        <p:nvSpPr>
          <p:cNvPr id="3" name="Content Placeholder 2"/>
          <p:cNvSpPr>
            <a:spLocks noGrp="1"/>
          </p:cNvSpPr>
          <p:nvPr>
            <p:ph idx="1"/>
          </p:nvPr>
        </p:nvSpPr>
        <p:spPr/>
        <p:txBody>
          <a:bodyPr/>
          <a:lstStyle/>
          <a:p>
            <a:pPr lvl="0"/>
            <a:r>
              <a:rPr lang="en-US" u="sng" dirty="0"/>
              <a:t>Large numbers of offspring </a:t>
            </a:r>
            <a:r>
              <a:rPr lang="en-US" dirty="0"/>
              <a:t>(</a:t>
            </a:r>
            <a:r>
              <a:rPr lang="en-US" u="sng" dirty="0"/>
              <a:t>to make up for losses in hazardous environment</a:t>
            </a:r>
            <a:r>
              <a:rPr lang="en-US" dirty="0"/>
              <a:t>) </a:t>
            </a:r>
          </a:p>
          <a:p>
            <a:pPr lvl="0"/>
            <a:r>
              <a:rPr lang="en-US" dirty="0"/>
              <a:t>e.g.  reproduction by </a:t>
            </a:r>
            <a:r>
              <a:rPr lang="en-US" dirty="0">
                <a:solidFill>
                  <a:srgbClr val="00B0F0"/>
                </a:solidFill>
              </a:rPr>
              <a:t>multiple fission </a:t>
            </a:r>
            <a:r>
              <a:rPr lang="en-US" dirty="0"/>
              <a:t>or </a:t>
            </a:r>
            <a:r>
              <a:rPr lang="en-US" dirty="0">
                <a:solidFill>
                  <a:srgbClr val="00B0F0"/>
                </a:solidFill>
              </a:rPr>
              <a:t>schizogony</a:t>
            </a:r>
            <a:r>
              <a:rPr lang="en-US" dirty="0"/>
              <a:t> </a:t>
            </a:r>
            <a:r>
              <a:rPr lang="en-US" u="sng" dirty="0"/>
              <a:t>in parasitic protozoa</a:t>
            </a:r>
          </a:p>
          <a:p>
            <a:pPr lvl="0"/>
            <a:r>
              <a:rPr lang="en-US" u="sng" dirty="0"/>
              <a:t>a continuous replication of reproductive organs</a:t>
            </a:r>
            <a:r>
              <a:rPr lang="en-US" dirty="0"/>
              <a:t> (</a:t>
            </a:r>
            <a:r>
              <a:rPr lang="en-US" dirty="0">
                <a:solidFill>
                  <a:srgbClr val="00B0F0"/>
                </a:solidFill>
              </a:rPr>
              <a:t>strobilation</a:t>
            </a:r>
            <a:r>
              <a:rPr lang="en-US" dirty="0"/>
              <a:t>) in tapeworms</a:t>
            </a:r>
          </a:p>
          <a:p>
            <a:endParaRPr lang="en-US" dirty="0"/>
          </a:p>
        </p:txBody>
      </p:sp>
    </p:spTree>
    <p:extLst>
      <p:ext uri="{BB962C8B-B14F-4D97-AF65-F5344CB8AC3E}">
        <p14:creationId xmlns:p14="http://schemas.microsoft.com/office/powerpoint/2010/main" val="19796055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6">
                    <a:lumMod val="75000"/>
                  </a:schemeClr>
                </a:solidFill>
              </a:rPr>
              <a:t>Reproductive Potential of Parasites </a:t>
            </a:r>
            <a:r>
              <a:rPr lang="en-US" b="1" dirty="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u="sng" dirty="0"/>
              <a:t>solving the problem of mate-finding by possession of male and female reproductive systems </a:t>
            </a:r>
            <a:r>
              <a:rPr lang="en-US" dirty="0"/>
              <a:t>(</a:t>
            </a:r>
            <a:r>
              <a:rPr lang="en-US" dirty="0">
                <a:solidFill>
                  <a:srgbClr val="00B0F0"/>
                </a:solidFill>
              </a:rPr>
              <a:t>hermaphroditism</a:t>
            </a:r>
            <a:r>
              <a:rPr lang="en-US" dirty="0"/>
              <a:t>), e.g. in tapeworms</a:t>
            </a:r>
          </a:p>
          <a:p>
            <a:pPr lvl="0">
              <a:buFont typeface="Wingdings" pitchFamily="2" charset="2"/>
              <a:buChar char="v"/>
            </a:pPr>
            <a:r>
              <a:rPr lang="en-US" dirty="0">
                <a:solidFill>
                  <a:srgbClr val="00B0F0"/>
                </a:solidFill>
              </a:rPr>
              <a:t>production of numerous eggs</a:t>
            </a:r>
          </a:p>
          <a:p>
            <a:pPr lvl="0">
              <a:buFont typeface="Wingdings" pitchFamily="2" charset="2"/>
              <a:buChar char="ü"/>
            </a:pPr>
            <a:r>
              <a:rPr lang="en-US" dirty="0"/>
              <a:t>e.g.  the rat tapeworm, </a:t>
            </a:r>
            <a:r>
              <a:rPr lang="en-US" i="1" dirty="0"/>
              <a:t>Hymenolepis diminuta</a:t>
            </a:r>
            <a:endParaRPr lang="en-US" dirty="0"/>
          </a:p>
          <a:p>
            <a:pPr lvl="0">
              <a:buFont typeface="Wingdings" pitchFamily="2" charset="2"/>
              <a:buChar char="ü"/>
            </a:pPr>
            <a:r>
              <a:rPr lang="en-US" dirty="0"/>
              <a:t>the common roundworm,  </a:t>
            </a:r>
            <a:r>
              <a:rPr lang="en-US" i="1" dirty="0"/>
              <a:t>Ascaris</a:t>
            </a:r>
            <a:endParaRPr lang="en-US" dirty="0"/>
          </a:p>
          <a:p>
            <a:endParaRPr lang="en-US" dirty="0"/>
          </a:p>
        </p:txBody>
      </p:sp>
    </p:spTree>
    <p:extLst>
      <p:ext uri="{BB962C8B-B14F-4D97-AF65-F5344CB8AC3E}">
        <p14:creationId xmlns:p14="http://schemas.microsoft.com/office/powerpoint/2010/main" val="388631902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6">
                    <a:lumMod val="75000"/>
                  </a:schemeClr>
                </a:solidFill>
              </a:rPr>
              <a:t>Reproductive Potential of Parasites </a:t>
            </a:r>
            <a:r>
              <a:rPr lang="en-US" b="1" dirty="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rgbClr val="00B0F0"/>
                </a:solidFill>
              </a:rPr>
              <a:t>Asexual reproduction by simple mitotic fission</a:t>
            </a:r>
            <a:r>
              <a:rPr lang="en-US" dirty="0"/>
              <a:t>, e.g. in many protozoan parasites such as </a:t>
            </a:r>
            <a:r>
              <a:rPr lang="en-US" i="1" dirty="0"/>
              <a:t>Plasmodium sp.</a:t>
            </a:r>
            <a:r>
              <a:rPr lang="en-US" dirty="0"/>
              <a:t> (the cause of malaria).</a:t>
            </a:r>
          </a:p>
          <a:p>
            <a:pPr lvl="0">
              <a:buFont typeface="Wingdings" pitchFamily="2" charset="2"/>
              <a:buChar char="ü"/>
            </a:pPr>
            <a:r>
              <a:rPr lang="en-US" dirty="0"/>
              <a:t>Also, </a:t>
            </a:r>
            <a:r>
              <a:rPr lang="en-US" u="sng" dirty="0"/>
              <a:t>the digenetic trematodes (e.g. the flukes (</a:t>
            </a:r>
            <a:r>
              <a:rPr lang="en-US" i="1" u="sng" dirty="0"/>
              <a:t>Schistosoma, Fasciola)</a:t>
            </a:r>
            <a:r>
              <a:rPr lang="en-US" u="sng" dirty="0"/>
              <a:t> with a series of reproductive stages, each multiplying the generation</a:t>
            </a:r>
            <a:r>
              <a:rPr lang="en-US" dirty="0"/>
              <a:t>.</a:t>
            </a:r>
          </a:p>
          <a:p>
            <a:pPr marL="0" indent="0">
              <a:buNone/>
            </a:pPr>
            <a:endParaRPr lang="en-US" dirty="0"/>
          </a:p>
        </p:txBody>
      </p:sp>
    </p:spTree>
    <p:extLst>
      <p:ext uri="{BB962C8B-B14F-4D97-AF65-F5344CB8AC3E}">
        <p14:creationId xmlns:p14="http://schemas.microsoft.com/office/powerpoint/2010/main" val="9315230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6">
                    <a:lumMod val="75000"/>
                  </a:schemeClr>
                </a:solidFill>
              </a:rPr>
              <a:t>Reproductive Potential of Parasites </a:t>
            </a:r>
            <a:r>
              <a:rPr lang="en-US" b="1" dirty="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rgbClr val="00B0F0"/>
                </a:solidFill>
              </a:rPr>
              <a:t>Production of resistant stages </a:t>
            </a:r>
            <a:r>
              <a:rPr lang="en-US" dirty="0"/>
              <a:t>such as:</a:t>
            </a:r>
          </a:p>
          <a:p>
            <a:pPr lvl="0">
              <a:buFont typeface="Wingdings" pitchFamily="2" charset="2"/>
              <a:buChar char="ü"/>
            </a:pPr>
            <a:r>
              <a:rPr lang="en-US" u="sng" dirty="0"/>
              <a:t>Cysts</a:t>
            </a:r>
          </a:p>
          <a:p>
            <a:pPr lvl="0">
              <a:buFont typeface="Wingdings" pitchFamily="2" charset="2"/>
              <a:buChar char="ü"/>
            </a:pPr>
            <a:r>
              <a:rPr lang="en-US" u="sng" dirty="0"/>
              <a:t>Spores</a:t>
            </a:r>
          </a:p>
          <a:p>
            <a:endParaRPr lang="en-US" dirty="0"/>
          </a:p>
        </p:txBody>
      </p:sp>
    </p:spTree>
    <p:extLst>
      <p:ext uri="{BB962C8B-B14F-4D97-AF65-F5344CB8AC3E}">
        <p14:creationId xmlns:p14="http://schemas.microsoft.com/office/powerpoint/2010/main" val="245882859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600200"/>
          </a:xfrm>
        </p:spPr>
        <p:txBody>
          <a:bodyPr>
            <a:normAutofit fontScale="90000"/>
          </a:bodyPr>
          <a:lstStyle/>
          <a:p>
            <a:br>
              <a:rPr lang="en-US" b="1" dirty="0"/>
            </a:br>
            <a:r>
              <a:rPr lang="en-US" b="1" dirty="0">
                <a:solidFill>
                  <a:srgbClr val="FF0000"/>
                </a:solidFill>
              </a:rPr>
              <a:t>DIAGNOSIS OF PARASITIC INFECTIONS</a:t>
            </a:r>
            <a:br>
              <a:rPr lang="en-US" dirty="0"/>
            </a:br>
            <a:r>
              <a:rPr lang="en-US" b="1" dirty="0"/>
              <a:t>Unit 2</a:t>
            </a:r>
            <a:endParaRPr lang="en-US" dirty="0"/>
          </a:p>
        </p:txBody>
      </p:sp>
      <p:sp>
        <p:nvSpPr>
          <p:cNvPr id="3" name="Content Placeholder 2"/>
          <p:cNvSpPr>
            <a:spLocks noGrp="1"/>
          </p:cNvSpPr>
          <p:nvPr>
            <p:ph idx="1"/>
          </p:nvPr>
        </p:nvSpPr>
        <p:spPr>
          <a:xfrm>
            <a:off x="457200" y="1828800"/>
            <a:ext cx="8229600" cy="4297363"/>
          </a:xfrm>
        </p:spPr>
        <p:txBody>
          <a:bodyPr>
            <a:normAutofit fontScale="92500" lnSpcReduction="20000"/>
          </a:bodyPr>
          <a:lstStyle/>
          <a:p>
            <a:pPr marL="0" indent="0" algn="ctr">
              <a:buNone/>
            </a:pPr>
            <a:r>
              <a:rPr lang="en-US" b="1" dirty="0"/>
              <a:t>2.1  </a:t>
            </a:r>
            <a:r>
              <a:rPr lang="en-US" b="1" dirty="0">
                <a:solidFill>
                  <a:schemeClr val="accent6">
                    <a:lumMod val="75000"/>
                  </a:schemeClr>
                </a:solidFill>
              </a:rPr>
              <a:t>Specimen in which parasites are found</a:t>
            </a:r>
          </a:p>
          <a:p>
            <a:pPr marL="0" indent="0" algn="ctr">
              <a:buNone/>
            </a:pPr>
            <a:endParaRPr lang="en-US" b="1" dirty="0"/>
          </a:p>
          <a:p>
            <a:pPr marL="0" indent="0">
              <a:buNone/>
            </a:pPr>
            <a:r>
              <a:rPr lang="en-US" b="1" dirty="0"/>
              <a:t>                               1.  </a:t>
            </a:r>
            <a:r>
              <a:rPr lang="en-US" b="1" dirty="0">
                <a:solidFill>
                  <a:srgbClr val="00B0F0"/>
                </a:solidFill>
              </a:rPr>
              <a:t>Faeces/Stool</a:t>
            </a:r>
          </a:p>
          <a:p>
            <a:pPr marL="0" indent="0">
              <a:buNone/>
            </a:pPr>
            <a:r>
              <a:rPr lang="en-US" b="1" dirty="0"/>
              <a:t>Protozoan parasites</a:t>
            </a:r>
            <a:r>
              <a:rPr lang="en-US" dirty="0"/>
              <a:t>, depending on type of parasite</a:t>
            </a:r>
          </a:p>
          <a:p>
            <a:pPr>
              <a:buFont typeface="Wingdings" pitchFamily="2" charset="2"/>
              <a:buChar char="v"/>
            </a:pPr>
            <a:r>
              <a:rPr lang="en-US" dirty="0">
                <a:solidFill>
                  <a:srgbClr val="00B0F0"/>
                </a:solidFill>
              </a:rPr>
              <a:t>Cyst</a:t>
            </a:r>
            <a:r>
              <a:rPr lang="en-US" dirty="0"/>
              <a:t>      </a:t>
            </a:r>
          </a:p>
          <a:p>
            <a:pPr lvl="0">
              <a:buFont typeface="Wingdings" pitchFamily="2" charset="2"/>
              <a:buChar char="v"/>
            </a:pPr>
            <a:r>
              <a:rPr lang="en-US" dirty="0">
                <a:solidFill>
                  <a:srgbClr val="00B0F0"/>
                </a:solidFill>
              </a:rPr>
              <a:t>Amoeba</a:t>
            </a:r>
          </a:p>
          <a:p>
            <a:pPr lvl="0">
              <a:buFont typeface="Wingdings" pitchFamily="2" charset="2"/>
              <a:buChar char="v"/>
            </a:pPr>
            <a:r>
              <a:rPr lang="en-US" dirty="0">
                <a:solidFill>
                  <a:srgbClr val="00B0F0"/>
                </a:solidFill>
              </a:rPr>
              <a:t>Flagellate</a:t>
            </a:r>
            <a:r>
              <a:rPr lang="en-US" dirty="0"/>
              <a:t>         </a:t>
            </a:r>
          </a:p>
          <a:p>
            <a:pPr lvl="0">
              <a:buFont typeface="Wingdings" pitchFamily="2" charset="2"/>
              <a:buChar char="v"/>
            </a:pPr>
            <a:r>
              <a:rPr lang="en-US" dirty="0">
                <a:solidFill>
                  <a:srgbClr val="00B0F0"/>
                </a:solidFill>
              </a:rPr>
              <a:t>Ciliate</a:t>
            </a:r>
            <a:r>
              <a:rPr lang="en-US" dirty="0"/>
              <a:t> </a:t>
            </a:r>
          </a:p>
          <a:p>
            <a:pPr lvl="0">
              <a:buFont typeface="Wingdings" pitchFamily="2" charset="2"/>
              <a:buChar char="v"/>
            </a:pPr>
            <a:r>
              <a:rPr lang="en-US" dirty="0">
                <a:solidFill>
                  <a:srgbClr val="00B0F0"/>
                </a:solidFill>
              </a:rPr>
              <a:t>Oocyst</a:t>
            </a:r>
            <a:r>
              <a:rPr lang="en-US" dirty="0"/>
              <a:t> </a:t>
            </a:r>
          </a:p>
          <a:p>
            <a:pPr>
              <a:buFont typeface="Wingdings" pitchFamily="2" charset="2"/>
              <a:buChar char="v"/>
            </a:pPr>
            <a:endParaRPr lang="en-US" dirty="0"/>
          </a:p>
          <a:p>
            <a:pPr marL="0" indent="0">
              <a:buNone/>
            </a:pPr>
            <a:endParaRPr lang="en-US" dirty="0"/>
          </a:p>
        </p:txBody>
      </p:sp>
    </p:spTree>
    <p:extLst>
      <p:ext uri="{BB962C8B-B14F-4D97-AF65-F5344CB8AC3E}">
        <p14:creationId xmlns:p14="http://schemas.microsoft.com/office/powerpoint/2010/main" val="2046963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B0F0"/>
                </a:solidFill>
              </a:rPr>
              <a:t>Faeces/Stool</a:t>
            </a:r>
            <a:r>
              <a:rPr lang="en-US" b="1" dirty="0"/>
              <a:t> (Cont’d.)</a:t>
            </a:r>
            <a:br>
              <a:rPr lang="en-US" b="1" dirty="0"/>
            </a:br>
            <a:endParaRPr lang="en-US" dirty="0"/>
          </a:p>
        </p:txBody>
      </p:sp>
      <p:sp>
        <p:nvSpPr>
          <p:cNvPr id="3" name="Content Placeholder 2"/>
          <p:cNvSpPr>
            <a:spLocks noGrp="1"/>
          </p:cNvSpPr>
          <p:nvPr>
            <p:ph idx="1"/>
          </p:nvPr>
        </p:nvSpPr>
        <p:spPr/>
        <p:txBody>
          <a:bodyPr/>
          <a:lstStyle/>
          <a:p>
            <a:pPr>
              <a:buFont typeface="Wingdings" pitchFamily="2" charset="2"/>
              <a:buChar char="v"/>
            </a:pPr>
            <a:endParaRPr lang="en-US" dirty="0"/>
          </a:p>
          <a:p>
            <a:pPr>
              <a:buFont typeface="Wingdings" pitchFamily="2" charset="2"/>
              <a:buChar char="v"/>
            </a:pPr>
            <a:r>
              <a:rPr lang="en-US" dirty="0"/>
              <a:t>For some parasites both their </a:t>
            </a:r>
            <a:r>
              <a:rPr lang="en-US" dirty="0">
                <a:solidFill>
                  <a:srgbClr val="00B0F0"/>
                </a:solidFill>
              </a:rPr>
              <a:t>cyst and amoeba</a:t>
            </a:r>
            <a:r>
              <a:rPr lang="en-US" dirty="0"/>
              <a:t>, or </a:t>
            </a:r>
            <a:r>
              <a:rPr lang="en-US" dirty="0">
                <a:solidFill>
                  <a:srgbClr val="00B0F0"/>
                </a:solidFill>
              </a:rPr>
              <a:t>cyst and flagellate </a:t>
            </a:r>
            <a:r>
              <a:rPr lang="en-US" dirty="0"/>
              <a:t>or </a:t>
            </a:r>
            <a:r>
              <a:rPr lang="en-US" dirty="0">
                <a:solidFill>
                  <a:srgbClr val="00B0F0"/>
                </a:solidFill>
              </a:rPr>
              <a:t>cyst and ciliate </a:t>
            </a:r>
            <a:r>
              <a:rPr lang="en-US" dirty="0"/>
              <a:t>may be found</a:t>
            </a:r>
          </a:p>
        </p:txBody>
      </p:sp>
    </p:spTree>
    <p:extLst>
      <p:ext uri="{BB962C8B-B14F-4D97-AF65-F5344CB8AC3E}">
        <p14:creationId xmlns:p14="http://schemas.microsoft.com/office/powerpoint/2010/main" val="153446319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fontScale="90000"/>
          </a:bodyPr>
          <a:lstStyle/>
          <a:p>
            <a:r>
              <a:rPr lang="en-US" b="1" dirty="0">
                <a:solidFill>
                  <a:srgbClr val="00B0F0"/>
                </a:solidFill>
              </a:rPr>
              <a:t>Structures found in faeces that may be confused with parasites</a:t>
            </a: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1219200"/>
            <a:ext cx="64008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2137264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B0F0"/>
                </a:solidFill>
              </a:rPr>
              <a:t>Faeces/Stool</a:t>
            </a:r>
            <a:r>
              <a:rPr lang="en-US" b="1" dirty="0"/>
              <a:t> (Cont’d.)</a:t>
            </a:r>
            <a:br>
              <a:rPr lang="en-US" b="1" dirty="0"/>
            </a:br>
            <a:endParaRPr lang="en-US" dirty="0"/>
          </a:p>
        </p:txBody>
      </p:sp>
      <p:sp>
        <p:nvSpPr>
          <p:cNvPr id="3" name="Content Placeholder 2"/>
          <p:cNvSpPr>
            <a:spLocks noGrp="1"/>
          </p:cNvSpPr>
          <p:nvPr>
            <p:ph idx="1"/>
          </p:nvPr>
        </p:nvSpPr>
        <p:spPr>
          <a:xfrm>
            <a:off x="457200" y="1676400"/>
            <a:ext cx="8229600" cy="4525963"/>
          </a:xfrm>
        </p:spPr>
        <p:txBody>
          <a:bodyPr/>
          <a:lstStyle/>
          <a:p>
            <a:pPr marL="0" indent="0">
              <a:buNone/>
            </a:pPr>
            <a:r>
              <a:rPr lang="en-US" b="1" dirty="0"/>
              <a:t>Helminth parasites, </a:t>
            </a:r>
            <a:r>
              <a:rPr lang="en-US" dirty="0"/>
              <a:t>depending on the type of parasites</a:t>
            </a:r>
          </a:p>
          <a:p>
            <a:pPr lvl="0">
              <a:buFont typeface="Wingdings" pitchFamily="2" charset="2"/>
              <a:buChar char="v"/>
            </a:pPr>
            <a:r>
              <a:rPr lang="en-US" dirty="0">
                <a:solidFill>
                  <a:srgbClr val="00B050"/>
                </a:solidFill>
              </a:rPr>
              <a:t>Egg</a:t>
            </a:r>
          </a:p>
          <a:p>
            <a:pPr lvl="0">
              <a:buFont typeface="Wingdings" pitchFamily="2" charset="2"/>
              <a:buChar char="v"/>
            </a:pPr>
            <a:r>
              <a:rPr lang="en-US" dirty="0">
                <a:solidFill>
                  <a:srgbClr val="00B050"/>
                </a:solidFill>
              </a:rPr>
              <a:t>Segment</a:t>
            </a:r>
          </a:p>
          <a:p>
            <a:pPr lvl="0">
              <a:buFont typeface="Wingdings" pitchFamily="2" charset="2"/>
              <a:buChar char="v"/>
            </a:pPr>
            <a:r>
              <a:rPr lang="en-US" dirty="0">
                <a:solidFill>
                  <a:srgbClr val="00B050"/>
                </a:solidFill>
              </a:rPr>
              <a:t>Egg capsule</a:t>
            </a:r>
          </a:p>
          <a:p>
            <a:pPr lvl="0">
              <a:buFont typeface="Wingdings" pitchFamily="2" charset="2"/>
              <a:buChar char="v"/>
            </a:pPr>
            <a:r>
              <a:rPr lang="en-US" dirty="0">
                <a:solidFill>
                  <a:srgbClr val="00B050"/>
                </a:solidFill>
              </a:rPr>
              <a:t>Worm</a:t>
            </a:r>
            <a:r>
              <a:rPr lang="en-US" dirty="0"/>
              <a:t> </a:t>
            </a:r>
          </a:p>
          <a:p>
            <a:pPr lvl="0">
              <a:buFont typeface="Wingdings" pitchFamily="2" charset="2"/>
              <a:buChar char="v"/>
            </a:pPr>
            <a:r>
              <a:rPr lang="en-US" dirty="0">
                <a:solidFill>
                  <a:srgbClr val="00B050"/>
                </a:solidFill>
              </a:rPr>
              <a:t>Larva</a:t>
            </a:r>
            <a:r>
              <a:rPr lang="en-US" dirty="0"/>
              <a:t> </a:t>
            </a:r>
          </a:p>
          <a:p>
            <a:pPr>
              <a:buFont typeface="Wingdings" pitchFamily="2" charset="2"/>
              <a:buChar char="v"/>
            </a:pPr>
            <a:endParaRPr lang="en-US" dirty="0"/>
          </a:p>
        </p:txBody>
      </p:sp>
    </p:spTree>
    <p:extLst>
      <p:ext uri="{BB962C8B-B14F-4D97-AF65-F5344CB8AC3E}">
        <p14:creationId xmlns:p14="http://schemas.microsoft.com/office/powerpoint/2010/main" val="367265975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solidFill>
                  <a:srgbClr val="00B0F0"/>
                </a:solidFill>
              </a:rPr>
              <a:t>Faeces</a:t>
            </a:r>
            <a:r>
              <a:rPr lang="en-US" b="1" dirty="0">
                <a:solidFill>
                  <a:srgbClr val="00B0F0"/>
                </a:solidFill>
              </a:rPr>
              <a:t>/Stool</a:t>
            </a:r>
            <a:r>
              <a:rPr lang="en-US" b="1" dirty="0"/>
              <a:t> (Cont’d.)</a:t>
            </a:r>
            <a:endParaRPr lang="en-US" dirty="0"/>
          </a:p>
        </p:txBody>
      </p:sp>
      <p:sp>
        <p:nvSpPr>
          <p:cNvPr id="3" name="Content Placeholder 2"/>
          <p:cNvSpPr>
            <a:spLocks noGrp="1"/>
          </p:cNvSpPr>
          <p:nvPr>
            <p:ph idx="1"/>
          </p:nvPr>
        </p:nvSpPr>
        <p:spPr/>
        <p:txBody>
          <a:bodyPr/>
          <a:lstStyle/>
          <a:p>
            <a:pPr marL="0" indent="0">
              <a:buNone/>
            </a:pPr>
            <a:endParaRPr lang="en-US" dirty="0"/>
          </a:p>
          <a:p>
            <a:pPr>
              <a:buFont typeface="Wingdings" pitchFamily="2" charset="2"/>
              <a:buChar char="v"/>
            </a:pPr>
            <a:r>
              <a:rPr lang="en-US" dirty="0"/>
              <a:t>For some parasites both their </a:t>
            </a:r>
            <a:r>
              <a:rPr lang="en-US" dirty="0">
                <a:solidFill>
                  <a:srgbClr val="00B050"/>
                </a:solidFill>
              </a:rPr>
              <a:t>egg and segment </a:t>
            </a:r>
            <a:r>
              <a:rPr lang="en-US" dirty="0"/>
              <a:t>or </a:t>
            </a:r>
            <a:r>
              <a:rPr lang="en-US" dirty="0">
                <a:solidFill>
                  <a:srgbClr val="00B050"/>
                </a:solidFill>
              </a:rPr>
              <a:t>egg and capsule </a:t>
            </a:r>
            <a:r>
              <a:rPr lang="en-US" dirty="0"/>
              <a:t>or </a:t>
            </a:r>
            <a:r>
              <a:rPr lang="en-US" dirty="0">
                <a:solidFill>
                  <a:srgbClr val="00B050"/>
                </a:solidFill>
              </a:rPr>
              <a:t>egg and worm </a:t>
            </a:r>
            <a:r>
              <a:rPr lang="en-US" dirty="0"/>
              <a:t>may be found</a:t>
            </a:r>
          </a:p>
          <a:p>
            <a:pPr marL="0" indent="0">
              <a:buNone/>
            </a:pPr>
            <a:br>
              <a:rPr lang="en-US" dirty="0"/>
            </a:br>
            <a:endParaRPr lang="en-US" dirty="0"/>
          </a:p>
        </p:txBody>
      </p:sp>
    </p:spTree>
    <p:extLst>
      <p:ext uri="{BB962C8B-B14F-4D97-AF65-F5344CB8AC3E}">
        <p14:creationId xmlns:p14="http://schemas.microsoft.com/office/powerpoint/2010/main" val="79252994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1143000"/>
          </a:xfrm>
        </p:spPr>
        <p:txBody>
          <a:bodyPr>
            <a:normAutofit fontScale="90000"/>
          </a:bodyPr>
          <a:lstStyle/>
          <a:p>
            <a:br>
              <a:rPr lang="en-US" b="1" dirty="0"/>
            </a:br>
            <a:r>
              <a:rPr lang="en-US" b="1" dirty="0">
                <a:solidFill>
                  <a:srgbClr val="FF0000"/>
                </a:solidFill>
              </a:rPr>
              <a:t>Specimen in which parasites are found  </a:t>
            </a:r>
            <a:r>
              <a:rPr lang="en-US" b="1" dirty="0"/>
              <a:t>(Cont’d.)</a:t>
            </a:r>
            <a:br>
              <a:rPr lang="en-US" b="1"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2.  </a:t>
            </a:r>
            <a:r>
              <a:rPr lang="en-US" b="1" dirty="0">
                <a:solidFill>
                  <a:srgbClr val="C00000"/>
                </a:solidFill>
              </a:rPr>
              <a:t>Blood</a:t>
            </a:r>
            <a:endParaRPr lang="en-US" dirty="0">
              <a:solidFill>
                <a:srgbClr val="C00000"/>
              </a:solidFill>
            </a:endParaRPr>
          </a:p>
          <a:p>
            <a:pPr>
              <a:buFont typeface="Wingdings" pitchFamily="2" charset="2"/>
              <a:buChar char="v"/>
            </a:pPr>
            <a:r>
              <a:rPr lang="en-US" b="1" dirty="0"/>
              <a:t>Protozoan parasites</a:t>
            </a:r>
          </a:p>
          <a:p>
            <a:pPr lvl="0">
              <a:buFont typeface="Wingdings" pitchFamily="2" charset="2"/>
              <a:buChar char="v"/>
            </a:pPr>
            <a:r>
              <a:rPr lang="en-US" dirty="0">
                <a:solidFill>
                  <a:srgbClr val="00B0F0"/>
                </a:solidFill>
              </a:rPr>
              <a:t>Trophozoite</a:t>
            </a:r>
          </a:p>
          <a:p>
            <a:pPr lvl="0">
              <a:buFont typeface="Wingdings" pitchFamily="2" charset="2"/>
              <a:buChar char="v"/>
            </a:pPr>
            <a:r>
              <a:rPr lang="en-US" dirty="0">
                <a:solidFill>
                  <a:srgbClr val="00B0F0"/>
                </a:solidFill>
              </a:rPr>
              <a:t>Schizont</a:t>
            </a:r>
          </a:p>
          <a:p>
            <a:pPr lvl="0">
              <a:buFont typeface="Wingdings" pitchFamily="2" charset="2"/>
              <a:buChar char="v"/>
            </a:pPr>
            <a:r>
              <a:rPr lang="en-US" dirty="0">
                <a:solidFill>
                  <a:srgbClr val="00B0F0"/>
                </a:solidFill>
              </a:rPr>
              <a:t>Gametocyte</a:t>
            </a:r>
          </a:p>
          <a:p>
            <a:pPr lvl="0">
              <a:buFont typeface="Wingdings" pitchFamily="2" charset="2"/>
              <a:buChar char="v"/>
            </a:pPr>
            <a:r>
              <a:rPr lang="en-US" dirty="0">
                <a:solidFill>
                  <a:srgbClr val="00B0F0"/>
                </a:solidFill>
              </a:rPr>
              <a:t>Trypomastigote</a:t>
            </a:r>
          </a:p>
          <a:p>
            <a:pPr>
              <a:buFont typeface="Wingdings" pitchFamily="2" charset="2"/>
              <a:buChar char="v"/>
            </a:pPr>
            <a:r>
              <a:rPr lang="en-US" b="1" dirty="0"/>
              <a:t>Helminth parasites </a:t>
            </a:r>
            <a:r>
              <a:rPr lang="en-US" dirty="0"/>
              <a:t>(</a:t>
            </a:r>
            <a:r>
              <a:rPr lang="en-US" b="1" dirty="0"/>
              <a:t>Nematodes</a:t>
            </a:r>
            <a:r>
              <a:rPr lang="en-US" dirty="0"/>
              <a:t>)</a:t>
            </a:r>
          </a:p>
          <a:p>
            <a:pPr>
              <a:buFont typeface="Wingdings" pitchFamily="2" charset="2"/>
              <a:buChar char="v"/>
            </a:pPr>
            <a:r>
              <a:rPr lang="en-US" dirty="0">
                <a:solidFill>
                  <a:srgbClr val="00B0F0"/>
                </a:solidFill>
              </a:rPr>
              <a:t>Microfilaria</a:t>
            </a:r>
          </a:p>
        </p:txBody>
      </p:sp>
    </p:spTree>
    <p:extLst>
      <p:ext uri="{BB962C8B-B14F-4D97-AF65-F5344CB8AC3E}">
        <p14:creationId xmlns:p14="http://schemas.microsoft.com/office/powerpoint/2010/main" val="4472708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Specimen in which parasites are found </a:t>
            </a:r>
            <a:r>
              <a:rPr lang="en-US" b="1" dirty="0"/>
              <a:t>(Cont’d.)</a:t>
            </a:r>
            <a:br>
              <a:rPr lang="en-US" b="1" dirty="0"/>
            </a:br>
            <a:endParaRPr lang="en-US" dirty="0"/>
          </a:p>
        </p:txBody>
      </p:sp>
      <p:sp>
        <p:nvSpPr>
          <p:cNvPr id="3" name="Content Placeholder 2"/>
          <p:cNvSpPr>
            <a:spLocks noGrp="1"/>
          </p:cNvSpPr>
          <p:nvPr>
            <p:ph idx="1"/>
          </p:nvPr>
        </p:nvSpPr>
        <p:spPr/>
        <p:txBody>
          <a:bodyPr/>
          <a:lstStyle/>
          <a:p>
            <a:pPr marL="0" indent="0" algn="ctr">
              <a:buNone/>
            </a:pPr>
            <a:r>
              <a:rPr lang="en-US" b="1" dirty="0"/>
              <a:t>3. </a:t>
            </a:r>
            <a:r>
              <a:rPr lang="en-US" b="1" dirty="0">
                <a:solidFill>
                  <a:srgbClr val="7030A0"/>
                </a:solidFill>
              </a:rPr>
              <a:t>Urine</a:t>
            </a:r>
            <a:endParaRPr lang="en-US" dirty="0">
              <a:solidFill>
                <a:srgbClr val="7030A0"/>
              </a:solidFill>
            </a:endParaRPr>
          </a:p>
          <a:p>
            <a:pPr>
              <a:buFont typeface="Wingdings" pitchFamily="2" charset="2"/>
              <a:buChar char="v"/>
            </a:pPr>
            <a:r>
              <a:rPr lang="en-US" b="1" dirty="0"/>
              <a:t>Protozoan parasites</a:t>
            </a:r>
          </a:p>
          <a:p>
            <a:pPr lvl="0">
              <a:buFont typeface="Wingdings" pitchFamily="2" charset="2"/>
              <a:buChar char="v"/>
            </a:pPr>
            <a:r>
              <a:rPr lang="en-US" dirty="0">
                <a:solidFill>
                  <a:srgbClr val="00B0F0"/>
                </a:solidFill>
              </a:rPr>
              <a:t>Flagellate</a:t>
            </a:r>
            <a:r>
              <a:rPr lang="en-US" dirty="0"/>
              <a:t> (rarely)</a:t>
            </a:r>
          </a:p>
          <a:p>
            <a:pPr>
              <a:buFont typeface="Wingdings" pitchFamily="2" charset="2"/>
              <a:buChar char="v"/>
            </a:pPr>
            <a:r>
              <a:rPr lang="en-US" b="1" dirty="0"/>
              <a:t>Helminth parasites</a:t>
            </a:r>
          </a:p>
          <a:p>
            <a:pPr lvl="0">
              <a:buFont typeface="Wingdings" pitchFamily="2" charset="2"/>
              <a:buChar char="v"/>
            </a:pPr>
            <a:r>
              <a:rPr lang="en-US" dirty="0">
                <a:solidFill>
                  <a:srgbClr val="00B0F0"/>
                </a:solidFill>
              </a:rPr>
              <a:t>Egg</a:t>
            </a:r>
          </a:p>
          <a:p>
            <a:pPr lvl="0">
              <a:buFont typeface="Wingdings" pitchFamily="2" charset="2"/>
              <a:buChar char="v"/>
            </a:pPr>
            <a:r>
              <a:rPr lang="en-US" dirty="0">
                <a:solidFill>
                  <a:srgbClr val="00B0F0"/>
                </a:solidFill>
              </a:rPr>
              <a:t>Microfilaria</a:t>
            </a:r>
            <a:r>
              <a:rPr lang="en-US" dirty="0"/>
              <a:t> (rarely)</a:t>
            </a:r>
          </a:p>
          <a:p>
            <a:endParaRPr lang="en-US" dirty="0"/>
          </a:p>
        </p:txBody>
      </p:sp>
    </p:spTree>
    <p:extLst>
      <p:ext uri="{BB962C8B-B14F-4D97-AF65-F5344CB8AC3E}">
        <p14:creationId xmlns:p14="http://schemas.microsoft.com/office/powerpoint/2010/main" val="729853277"/>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Specimen in which parasites are found  </a:t>
            </a:r>
            <a:r>
              <a:rPr lang="en-US" b="1" dirty="0"/>
              <a:t>(Cont’d.)</a:t>
            </a:r>
            <a:br>
              <a:rPr lang="en-US" b="1" dirty="0"/>
            </a:br>
            <a:endParaRPr lang="en-US" dirty="0"/>
          </a:p>
        </p:txBody>
      </p:sp>
      <p:sp>
        <p:nvSpPr>
          <p:cNvPr id="3" name="Content Placeholder 2"/>
          <p:cNvSpPr>
            <a:spLocks noGrp="1"/>
          </p:cNvSpPr>
          <p:nvPr>
            <p:ph idx="1"/>
          </p:nvPr>
        </p:nvSpPr>
        <p:spPr/>
        <p:txBody>
          <a:bodyPr/>
          <a:lstStyle/>
          <a:p>
            <a:pPr marL="0" indent="0" algn="ctr">
              <a:buNone/>
            </a:pPr>
            <a:r>
              <a:rPr lang="en-US" b="1" dirty="0"/>
              <a:t>4. </a:t>
            </a:r>
            <a:r>
              <a:rPr lang="en-US" b="1" dirty="0">
                <a:solidFill>
                  <a:srgbClr val="92D050"/>
                </a:solidFill>
              </a:rPr>
              <a:t>Sputum</a:t>
            </a:r>
            <a:endParaRPr lang="en-US" dirty="0">
              <a:solidFill>
                <a:srgbClr val="92D050"/>
              </a:solidFill>
            </a:endParaRPr>
          </a:p>
          <a:p>
            <a:pPr>
              <a:buFont typeface="Wingdings" pitchFamily="2" charset="2"/>
              <a:buChar char="v"/>
            </a:pPr>
            <a:r>
              <a:rPr lang="en-US" b="1" dirty="0"/>
              <a:t>Helminth parasite</a:t>
            </a:r>
          </a:p>
          <a:p>
            <a:pPr lvl="0">
              <a:buFont typeface="Wingdings" pitchFamily="2" charset="2"/>
              <a:buChar char="v"/>
            </a:pPr>
            <a:r>
              <a:rPr lang="en-US" dirty="0">
                <a:solidFill>
                  <a:schemeClr val="accent6">
                    <a:lumMod val="75000"/>
                  </a:schemeClr>
                </a:solidFill>
              </a:rPr>
              <a:t>Egg</a:t>
            </a:r>
          </a:p>
          <a:p>
            <a:pPr lvl="0">
              <a:buFont typeface="Wingdings" pitchFamily="2" charset="2"/>
              <a:buChar char="v"/>
            </a:pPr>
            <a:r>
              <a:rPr lang="en-US" dirty="0">
                <a:solidFill>
                  <a:schemeClr val="accent6">
                    <a:lumMod val="75000"/>
                  </a:schemeClr>
                </a:solidFill>
              </a:rPr>
              <a:t>Flukes</a:t>
            </a:r>
            <a:r>
              <a:rPr lang="en-US" dirty="0"/>
              <a:t> (occasionally)</a:t>
            </a:r>
          </a:p>
          <a:p>
            <a:endParaRPr lang="en-US" dirty="0"/>
          </a:p>
        </p:txBody>
      </p:sp>
    </p:spTree>
    <p:extLst>
      <p:ext uri="{BB962C8B-B14F-4D97-AF65-F5344CB8AC3E}">
        <p14:creationId xmlns:p14="http://schemas.microsoft.com/office/powerpoint/2010/main" val="402729234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Specimen in which parasites are found  </a:t>
            </a:r>
            <a:r>
              <a:rPr lang="en-US" b="1" dirty="0"/>
              <a:t>(Cont’d.)</a:t>
            </a:r>
            <a:br>
              <a:rPr lang="en-US" b="1"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5. </a:t>
            </a:r>
            <a:r>
              <a:rPr lang="en-US" b="1" dirty="0">
                <a:solidFill>
                  <a:srgbClr val="FF3399"/>
                </a:solidFill>
              </a:rPr>
              <a:t>Cerebrospinal fluid</a:t>
            </a:r>
            <a:endParaRPr lang="en-US" dirty="0">
              <a:solidFill>
                <a:srgbClr val="FF3399"/>
              </a:solidFill>
            </a:endParaRPr>
          </a:p>
          <a:p>
            <a:endParaRPr lang="en-US" dirty="0"/>
          </a:p>
          <a:p>
            <a:pPr>
              <a:buFont typeface="Wingdings" pitchFamily="2" charset="2"/>
              <a:buChar char="v"/>
            </a:pPr>
            <a:r>
              <a:rPr lang="en-US" b="1" dirty="0"/>
              <a:t>Protozoan parasites</a:t>
            </a:r>
          </a:p>
          <a:p>
            <a:pPr lvl="0">
              <a:buFont typeface="Wingdings" pitchFamily="2" charset="2"/>
              <a:buChar char="v"/>
            </a:pPr>
            <a:endParaRPr lang="en-US" dirty="0"/>
          </a:p>
          <a:p>
            <a:pPr lvl="0">
              <a:buFont typeface="Wingdings" pitchFamily="2" charset="2"/>
              <a:buChar char="v"/>
            </a:pPr>
            <a:r>
              <a:rPr lang="en-US" dirty="0">
                <a:solidFill>
                  <a:schemeClr val="accent6">
                    <a:lumMod val="75000"/>
                  </a:schemeClr>
                </a:solidFill>
              </a:rPr>
              <a:t>Trypomastigote</a:t>
            </a:r>
          </a:p>
          <a:p>
            <a:pPr lvl="0">
              <a:buFont typeface="Wingdings" pitchFamily="2" charset="2"/>
              <a:buChar char="v"/>
            </a:pPr>
            <a:endParaRPr lang="en-US" dirty="0"/>
          </a:p>
          <a:p>
            <a:pPr lvl="0">
              <a:buFont typeface="Wingdings" pitchFamily="2" charset="2"/>
              <a:buChar char="v"/>
            </a:pPr>
            <a:r>
              <a:rPr lang="en-US" dirty="0">
                <a:solidFill>
                  <a:schemeClr val="accent6">
                    <a:lumMod val="75000"/>
                  </a:schemeClr>
                </a:solidFill>
              </a:rPr>
              <a:t>Amoeba</a:t>
            </a:r>
          </a:p>
        </p:txBody>
      </p:sp>
    </p:spTree>
    <p:extLst>
      <p:ext uri="{BB962C8B-B14F-4D97-AF65-F5344CB8AC3E}">
        <p14:creationId xmlns:p14="http://schemas.microsoft.com/office/powerpoint/2010/main" val="82849054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Specimen in which parasites are found  </a:t>
            </a:r>
            <a:r>
              <a:rPr lang="en-US" b="1" dirty="0"/>
              <a:t>(Cont’d.)</a:t>
            </a:r>
            <a:br>
              <a:rPr lang="en-US" b="1" dirty="0"/>
            </a:br>
            <a:endParaRPr lang="en-US" dirty="0"/>
          </a:p>
        </p:txBody>
      </p:sp>
      <p:sp>
        <p:nvSpPr>
          <p:cNvPr id="3" name="Content Placeholder 2"/>
          <p:cNvSpPr>
            <a:spLocks noGrp="1"/>
          </p:cNvSpPr>
          <p:nvPr>
            <p:ph idx="1"/>
          </p:nvPr>
        </p:nvSpPr>
        <p:spPr/>
        <p:txBody>
          <a:bodyPr/>
          <a:lstStyle/>
          <a:p>
            <a:pPr marL="0" indent="0" algn="ctr">
              <a:buNone/>
            </a:pPr>
            <a:r>
              <a:rPr lang="en-US" b="1" dirty="0"/>
              <a:t>6. </a:t>
            </a:r>
            <a:r>
              <a:rPr lang="en-US" b="1" dirty="0">
                <a:solidFill>
                  <a:srgbClr val="0070C0"/>
                </a:solidFill>
              </a:rPr>
              <a:t>Bone marrow</a:t>
            </a:r>
            <a:endParaRPr lang="en-US" dirty="0">
              <a:solidFill>
                <a:srgbClr val="0070C0"/>
              </a:solidFill>
            </a:endParaRPr>
          </a:p>
          <a:p>
            <a:endParaRPr lang="en-US" dirty="0"/>
          </a:p>
          <a:p>
            <a:pPr>
              <a:buFont typeface="Wingdings" pitchFamily="2" charset="2"/>
              <a:buChar char="v"/>
            </a:pPr>
            <a:r>
              <a:rPr lang="en-US" b="1" dirty="0"/>
              <a:t>Protozoan parasites</a:t>
            </a:r>
          </a:p>
          <a:p>
            <a:pPr lvl="0">
              <a:buFont typeface="Wingdings" pitchFamily="2" charset="2"/>
              <a:buChar char="v"/>
            </a:pPr>
            <a:r>
              <a:rPr lang="en-US" dirty="0">
                <a:solidFill>
                  <a:srgbClr val="FF3399"/>
                </a:solidFill>
              </a:rPr>
              <a:t>Amastigote</a:t>
            </a:r>
          </a:p>
          <a:p>
            <a:pPr>
              <a:buFont typeface="Wingdings" pitchFamily="2" charset="2"/>
              <a:buChar char="v"/>
            </a:pPr>
            <a:r>
              <a:rPr lang="en-US" dirty="0">
                <a:solidFill>
                  <a:srgbClr val="FF3399"/>
                </a:solidFill>
              </a:rPr>
              <a:t>Toxoplasm</a:t>
            </a:r>
          </a:p>
          <a:p>
            <a:endParaRPr lang="en-US" dirty="0"/>
          </a:p>
        </p:txBody>
      </p:sp>
    </p:spTree>
    <p:extLst>
      <p:ext uri="{BB962C8B-B14F-4D97-AF65-F5344CB8AC3E}">
        <p14:creationId xmlns:p14="http://schemas.microsoft.com/office/powerpoint/2010/main" val="126989068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Specimen in which parasites are found </a:t>
            </a:r>
            <a:r>
              <a:rPr lang="en-US" b="1" dirty="0"/>
              <a:t>(Cont’d.)</a:t>
            </a:r>
            <a:br>
              <a:rPr lang="en-US" b="1" dirty="0"/>
            </a:br>
            <a:endParaRPr lang="en-US" dirty="0"/>
          </a:p>
        </p:txBody>
      </p:sp>
      <p:sp>
        <p:nvSpPr>
          <p:cNvPr id="3" name="Content Placeholder 2"/>
          <p:cNvSpPr>
            <a:spLocks noGrp="1"/>
          </p:cNvSpPr>
          <p:nvPr>
            <p:ph idx="1"/>
          </p:nvPr>
        </p:nvSpPr>
        <p:spPr/>
        <p:txBody>
          <a:bodyPr/>
          <a:lstStyle/>
          <a:p>
            <a:pPr marL="0" indent="0" algn="ctr">
              <a:buNone/>
            </a:pPr>
            <a:r>
              <a:rPr lang="en-US" b="1" dirty="0"/>
              <a:t>7</a:t>
            </a:r>
            <a:r>
              <a:rPr lang="en-US" b="1" dirty="0">
                <a:solidFill>
                  <a:srgbClr val="92D050"/>
                </a:solidFill>
              </a:rPr>
              <a:t>. Lymph gland Aspirate</a:t>
            </a:r>
            <a:endParaRPr lang="en-US" dirty="0">
              <a:solidFill>
                <a:srgbClr val="92D050"/>
              </a:solidFill>
            </a:endParaRPr>
          </a:p>
          <a:p>
            <a:pPr>
              <a:buFont typeface="Wingdings" pitchFamily="2" charset="2"/>
              <a:buChar char="v"/>
            </a:pPr>
            <a:r>
              <a:rPr lang="en-US" b="1" dirty="0"/>
              <a:t>Protozoan parasites</a:t>
            </a:r>
          </a:p>
          <a:p>
            <a:pPr lvl="0">
              <a:buFont typeface="Wingdings" pitchFamily="2" charset="2"/>
              <a:buChar char="v"/>
            </a:pPr>
            <a:r>
              <a:rPr lang="en-US" dirty="0">
                <a:solidFill>
                  <a:srgbClr val="FF0000"/>
                </a:solidFill>
              </a:rPr>
              <a:t>Trypomastigote</a:t>
            </a:r>
          </a:p>
          <a:p>
            <a:pPr lvl="0">
              <a:buFont typeface="Wingdings" pitchFamily="2" charset="2"/>
              <a:buChar char="v"/>
            </a:pPr>
            <a:r>
              <a:rPr lang="en-US" dirty="0">
                <a:solidFill>
                  <a:srgbClr val="FF0000"/>
                </a:solidFill>
              </a:rPr>
              <a:t>Amastigote</a:t>
            </a:r>
          </a:p>
          <a:p>
            <a:pPr>
              <a:buFont typeface="Wingdings" pitchFamily="2" charset="2"/>
              <a:buChar char="v"/>
            </a:pPr>
            <a:r>
              <a:rPr lang="en-US" dirty="0">
                <a:solidFill>
                  <a:srgbClr val="FF0000"/>
                </a:solidFill>
              </a:rPr>
              <a:t>Toxoplasm</a:t>
            </a:r>
          </a:p>
        </p:txBody>
      </p:sp>
    </p:spTree>
    <p:extLst>
      <p:ext uri="{BB962C8B-B14F-4D97-AF65-F5344CB8AC3E}">
        <p14:creationId xmlns:p14="http://schemas.microsoft.com/office/powerpoint/2010/main" val="35867437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br>
              <a:rPr lang="en-US" b="1" dirty="0"/>
            </a:br>
            <a:r>
              <a:rPr lang="en-US" b="1" dirty="0">
                <a:solidFill>
                  <a:srgbClr val="FF0000"/>
                </a:solidFill>
              </a:rPr>
              <a:t>Specimen in which parasites are found </a:t>
            </a:r>
            <a:r>
              <a:rPr lang="en-US" b="1" dirty="0"/>
              <a:t>(Cont’d.)</a:t>
            </a:r>
            <a:br>
              <a:rPr lang="en-US" b="1" dirty="0"/>
            </a:br>
            <a:br>
              <a:rPr lang="en-US" b="1" dirty="0"/>
            </a:br>
            <a:endParaRPr lang="en-US" dirty="0"/>
          </a:p>
        </p:txBody>
      </p:sp>
      <p:sp>
        <p:nvSpPr>
          <p:cNvPr id="3" name="Content Placeholder 2"/>
          <p:cNvSpPr>
            <a:spLocks noGrp="1"/>
          </p:cNvSpPr>
          <p:nvPr>
            <p:ph idx="1"/>
          </p:nvPr>
        </p:nvSpPr>
        <p:spPr/>
        <p:txBody>
          <a:bodyPr/>
          <a:lstStyle/>
          <a:p>
            <a:pPr marL="0" indent="0" algn="ctr">
              <a:buNone/>
            </a:pPr>
            <a:r>
              <a:rPr lang="en-US" b="1" dirty="0"/>
              <a:t>8. </a:t>
            </a:r>
            <a:r>
              <a:rPr lang="en-US" b="1" dirty="0">
                <a:solidFill>
                  <a:schemeClr val="accent6">
                    <a:lumMod val="75000"/>
                  </a:schemeClr>
                </a:solidFill>
              </a:rPr>
              <a:t>Liver Aspirate</a:t>
            </a:r>
            <a:endParaRPr lang="en-US" dirty="0">
              <a:solidFill>
                <a:schemeClr val="accent6">
                  <a:lumMod val="75000"/>
                </a:schemeClr>
              </a:solidFill>
            </a:endParaRPr>
          </a:p>
          <a:p>
            <a:pPr>
              <a:buFont typeface="Wingdings" pitchFamily="2" charset="2"/>
              <a:buChar char="v"/>
            </a:pPr>
            <a:r>
              <a:rPr lang="en-US" b="1" dirty="0"/>
              <a:t>Protozoan parasites</a:t>
            </a:r>
          </a:p>
          <a:p>
            <a:pPr lvl="0">
              <a:buFont typeface="Wingdings" pitchFamily="2" charset="2"/>
              <a:buChar char="v"/>
            </a:pPr>
            <a:r>
              <a:rPr lang="en-US" dirty="0">
                <a:solidFill>
                  <a:schemeClr val="accent6">
                    <a:lumMod val="75000"/>
                  </a:schemeClr>
                </a:solidFill>
              </a:rPr>
              <a:t>Amoeba</a:t>
            </a:r>
          </a:p>
          <a:p>
            <a:pPr lvl="0">
              <a:buFont typeface="Wingdings" pitchFamily="2" charset="2"/>
              <a:buChar char="v"/>
            </a:pPr>
            <a:r>
              <a:rPr lang="en-US" dirty="0">
                <a:solidFill>
                  <a:schemeClr val="accent6">
                    <a:lumMod val="75000"/>
                  </a:schemeClr>
                </a:solidFill>
              </a:rPr>
              <a:t>Amastigote</a:t>
            </a:r>
          </a:p>
          <a:p>
            <a:pPr lvl="0">
              <a:buFont typeface="Wingdings" pitchFamily="2" charset="2"/>
              <a:buChar char="v"/>
            </a:pPr>
            <a:r>
              <a:rPr lang="en-US" dirty="0">
                <a:solidFill>
                  <a:schemeClr val="accent6">
                    <a:lumMod val="75000"/>
                  </a:schemeClr>
                </a:solidFill>
              </a:rPr>
              <a:t>Toxoplasm</a:t>
            </a:r>
          </a:p>
          <a:p>
            <a:endParaRPr lang="en-US" dirty="0"/>
          </a:p>
        </p:txBody>
      </p:sp>
    </p:spTree>
    <p:extLst>
      <p:ext uri="{BB962C8B-B14F-4D97-AF65-F5344CB8AC3E}">
        <p14:creationId xmlns:p14="http://schemas.microsoft.com/office/powerpoint/2010/main" val="241929714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Specimen in which parasites are found </a:t>
            </a:r>
            <a:r>
              <a:rPr lang="en-US" b="1" dirty="0"/>
              <a:t>(Cont’d.)</a:t>
            </a:r>
            <a:br>
              <a:rPr lang="en-US" b="1" dirty="0"/>
            </a:br>
            <a:endParaRPr lang="en-US" dirty="0"/>
          </a:p>
        </p:txBody>
      </p:sp>
      <p:sp>
        <p:nvSpPr>
          <p:cNvPr id="3" name="Content Placeholder 2"/>
          <p:cNvSpPr>
            <a:spLocks noGrp="1"/>
          </p:cNvSpPr>
          <p:nvPr>
            <p:ph idx="1"/>
          </p:nvPr>
        </p:nvSpPr>
        <p:spPr/>
        <p:txBody>
          <a:bodyPr/>
          <a:lstStyle/>
          <a:p>
            <a:pPr marL="0" indent="0" algn="ctr">
              <a:buNone/>
            </a:pPr>
            <a:r>
              <a:rPr lang="en-US" b="1" dirty="0"/>
              <a:t>9. </a:t>
            </a:r>
            <a:r>
              <a:rPr lang="en-US" b="1" dirty="0">
                <a:solidFill>
                  <a:srgbClr val="7030A0"/>
                </a:solidFill>
              </a:rPr>
              <a:t>Spleen aspirate</a:t>
            </a:r>
            <a:endParaRPr lang="en-US" dirty="0">
              <a:solidFill>
                <a:srgbClr val="7030A0"/>
              </a:solidFill>
            </a:endParaRPr>
          </a:p>
          <a:p>
            <a:pPr>
              <a:buFont typeface="Wingdings" pitchFamily="2" charset="2"/>
              <a:buChar char="v"/>
            </a:pPr>
            <a:r>
              <a:rPr lang="en-US" b="1" dirty="0"/>
              <a:t>Protozoan parasites</a:t>
            </a:r>
          </a:p>
          <a:p>
            <a:pPr lvl="0">
              <a:buFont typeface="Wingdings" pitchFamily="2" charset="2"/>
              <a:buChar char="v"/>
            </a:pPr>
            <a:endParaRPr lang="en-US" dirty="0"/>
          </a:p>
          <a:p>
            <a:pPr lvl="0">
              <a:buFont typeface="Wingdings" pitchFamily="2" charset="2"/>
              <a:buChar char="v"/>
            </a:pPr>
            <a:r>
              <a:rPr lang="en-US" dirty="0">
                <a:solidFill>
                  <a:srgbClr val="7030A0"/>
                </a:solidFill>
              </a:rPr>
              <a:t>Amastigote</a:t>
            </a:r>
          </a:p>
          <a:p>
            <a:pPr>
              <a:buFont typeface="Wingdings" pitchFamily="2" charset="2"/>
              <a:buChar char="v"/>
            </a:pPr>
            <a:endParaRPr lang="en-US" dirty="0"/>
          </a:p>
          <a:p>
            <a:pPr>
              <a:buFont typeface="Wingdings" pitchFamily="2" charset="2"/>
              <a:buChar char="v"/>
            </a:pPr>
            <a:r>
              <a:rPr lang="en-US" dirty="0">
                <a:solidFill>
                  <a:srgbClr val="7030A0"/>
                </a:solidFill>
              </a:rPr>
              <a:t>Toxoplasm</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24896625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Specimen in which parasites are found </a:t>
            </a:r>
            <a:r>
              <a:rPr lang="en-US" b="1" dirty="0"/>
              <a:t>(Cont’d.)</a:t>
            </a:r>
            <a:br>
              <a:rPr lang="en-US" b="1" dirty="0"/>
            </a:br>
            <a:endParaRPr lang="en-US" dirty="0"/>
          </a:p>
        </p:txBody>
      </p:sp>
      <p:sp>
        <p:nvSpPr>
          <p:cNvPr id="3" name="Content Placeholder 2"/>
          <p:cNvSpPr>
            <a:spLocks noGrp="1"/>
          </p:cNvSpPr>
          <p:nvPr>
            <p:ph idx="1"/>
          </p:nvPr>
        </p:nvSpPr>
        <p:spPr/>
        <p:txBody>
          <a:bodyPr/>
          <a:lstStyle/>
          <a:p>
            <a:pPr marL="0" indent="0" algn="ctr">
              <a:buNone/>
            </a:pPr>
            <a:r>
              <a:rPr lang="en-US" b="1" dirty="0"/>
              <a:t>10. </a:t>
            </a:r>
            <a:r>
              <a:rPr lang="en-US" b="1" dirty="0">
                <a:solidFill>
                  <a:srgbClr val="FF3399"/>
                </a:solidFill>
              </a:rPr>
              <a:t>Skin</a:t>
            </a:r>
            <a:endParaRPr lang="en-US" dirty="0">
              <a:solidFill>
                <a:srgbClr val="FF3399"/>
              </a:solidFill>
            </a:endParaRPr>
          </a:p>
          <a:p>
            <a:pPr>
              <a:buFont typeface="Wingdings" pitchFamily="2" charset="2"/>
              <a:buChar char="v"/>
            </a:pPr>
            <a:r>
              <a:rPr lang="en-US" b="1" dirty="0"/>
              <a:t>Protozoan parasites</a:t>
            </a:r>
          </a:p>
          <a:p>
            <a:pPr lvl="0">
              <a:buFont typeface="Wingdings" pitchFamily="2" charset="2"/>
              <a:buChar char="v"/>
            </a:pPr>
            <a:r>
              <a:rPr lang="en-US" dirty="0">
                <a:solidFill>
                  <a:srgbClr val="FF3399"/>
                </a:solidFill>
              </a:rPr>
              <a:t>Amastigote</a:t>
            </a:r>
          </a:p>
          <a:p>
            <a:pPr>
              <a:buFont typeface="Wingdings" pitchFamily="2" charset="2"/>
              <a:buChar char="v"/>
            </a:pPr>
            <a:r>
              <a:rPr lang="en-US" b="1" dirty="0"/>
              <a:t>Helminth parasites</a:t>
            </a:r>
          </a:p>
          <a:p>
            <a:pPr lvl="0">
              <a:buFont typeface="Wingdings" pitchFamily="2" charset="2"/>
              <a:buChar char="v"/>
            </a:pPr>
            <a:r>
              <a:rPr lang="en-US" dirty="0">
                <a:solidFill>
                  <a:srgbClr val="FF3399"/>
                </a:solidFill>
              </a:rPr>
              <a:t>Microfilaria</a:t>
            </a:r>
          </a:p>
          <a:p>
            <a:pPr lvl="0">
              <a:buFont typeface="Wingdings" pitchFamily="2" charset="2"/>
              <a:buChar char="v"/>
            </a:pPr>
            <a:r>
              <a:rPr lang="en-US" dirty="0">
                <a:solidFill>
                  <a:srgbClr val="FF3399"/>
                </a:solidFill>
              </a:rPr>
              <a:t>Larva in ulcer fluid</a:t>
            </a:r>
          </a:p>
          <a:p>
            <a:pPr lvl="0">
              <a:buFont typeface="Wingdings" pitchFamily="2" charset="2"/>
              <a:buChar char="v"/>
            </a:pPr>
            <a:r>
              <a:rPr lang="en-US" dirty="0">
                <a:solidFill>
                  <a:srgbClr val="FF3399"/>
                </a:solidFill>
              </a:rPr>
              <a:t>Egg on perianal skin</a:t>
            </a:r>
          </a:p>
          <a:p>
            <a:pPr>
              <a:buFont typeface="Wingdings" pitchFamily="2" charset="2"/>
              <a:buChar char="v"/>
            </a:pPr>
            <a:endParaRPr lang="en-US" dirty="0"/>
          </a:p>
        </p:txBody>
      </p:sp>
    </p:spTree>
    <p:extLst>
      <p:ext uri="{BB962C8B-B14F-4D97-AF65-F5344CB8AC3E}">
        <p14:creationId xmlns:p14="http://schemas.microsoft.com/office/powerpoint/2010/main" val="31249299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solidFill>
                  <a:srgbClr val="FF0000"/>
                </a:solidFill>
              </a:rPr>
            </a:br>
            <a:r>
              <a:rPr lang="en-US" b="1" dirty="0">
                <a:solidFill>
                  <a:srgbClr val="FF0000"/>
                </a:solidFill>
              </a:rPr>
              <a:t>Specimen in which parasites are found </a:t>
            </a:r>
            <a:r>
              <a:rPr lang="en-US" b="1" dirty="0"/>
              <a:t>(Cont’d.)</a:t>
            </a:r>
            <a:br>
              <a:rPr lang="en-US" b="1" dirty="0"/>
            </a:br>
            <a:endParaRPr lang="en-US" dirty="0"/>
          </a:p>
        </p:txBody>
      </p:sp>
      <p:sp>
        <p:nvSpPr>
          <p:cNvPr id="3" name="Content Placeholder 2"/>
          <p:cNvSpPr>
            <a:spLocks noGrp="1"/>
          </p:cNvSpPr>
          <p:nvPr>
            <p:ph idx="1"/>
          </p:nvPr>
        </p:nvSpPr>
        <p:spPr/>
        <p:txBody>
          <a:bodyPr/>
          <a:lstStyle/>
          <a:p>
            <a:pPr marL="0" indent="0" algn="ctr">
              <a:buNone/>
            </a:pPr>
            <a:r>
              <a:rPr lang="en-US" b="1" dirty="0"/>
              <a:t>11. </a:t>
            </a:r>
            <a:r>
              <a:rPr lang="en-US" b="1" dirty="0">
                <a:solidFill>
                  <a:srgbClr val="FFC000"/>
                </a:solidFill>
              </a:rPr>
              <a:t>Muscle</a:t>
            </a:r>
            <a:endParaRPr lang="en-US" dirty="0">
              <a:solidFill>
                <a:srgbClr val="FFC000"/>
              </a:solidFill>
            </a:endParaRPr>
          </a:p>
          <a:p>
            <a:pPr>
              <a:buFont typeface="Wingdings" pitchFamily="2" charset="2"/>
              <a:buChar char="v"/>
            </a:pPr>
            <a:r>
              <a:rPr lang="en-US" b="1" dirty="0"/>
              <a:t>Helminth parasites</a:t>
            </a:r>
          </a:p>
          <a:p>
            <a:pPr lvl="0">
              <a:buFont typeface="Wingdings" pitchFamily="2" charset="2"/>
              <a:buChar char="v"/>
            </a:pPr>
            <a:endParaRPr lang="en-US" dirty="0"/>
          </a:p>
          <a:p>
            <a:pPr lvl="0">
              <a:buFont typeface="Wingdings" pitchFamily="2" charset="2"/>
              <a:buChar char="v"/>
            </a:pPr>
            <a:r>
              <a:rPr lang="en-US" dirty="0">
                <a:solidFill>
                  <a:srgbClr val="FFC000"/>
                </a:solidFill>
              </a:rPr>
              <a:t>Larvae</a:t>
            </a:r>
          </a:p>
          <a:p>
            <a:endParaRPr lang="en-US" dirty="0"/>
          </a:p>
        </p:txBody>
      </p:sp>
    </p:spTree>
    <p:extLst>
      <p:ext uri="{BB962C8B-B14F-4D97-AF65-F5344CB8AC3E}">
        <p14:creationId xmlns:p14="http://schemas.microsoft.com/office/powerpoint/2010/main" val="21644166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Specimen in which parasites are found </a:t>
            </a:r>
            <a:r>
              <a:rPr lang="en-US" b="1" dirty="0"/>
              <a:t>(Cont’d.)</a:t>
            </a:r>
            <a:br>
              <a:rPr lang="en-US" b="1"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12. </a:t>
            </a:r>
            <a:r>
              <a:rPr lang="en-US" b="1" dirty="0">
                <a:solidFill>
                  <a:srgbClr val="0070C0"/>
                </a:solidFill>
              </a:rPr>
              <a:t>Rectal Scraping</a:t>
            </a:r>
            <a:endParaRPr lang="en-US" dirty="0">
              <a:solidFill>
                <a:srgbClr val="0070C0"/>
              </a:solidFill>
            </a:endParaRPr>
          </a:p>
          <a:p>
            <a:pPr marL="0" indent="0">
              <a:buNone/>
            </a:pPr>
            <a:r>
              <a:rPr lang="en-US" b="1" dirty="0"/>
              <a:t>Protozoan parasites</a:t>
            </a:r>
          </a:p>
          <a:p>
            <a:pPr lvl="0">
              <a:buFont typeface="Wingdings" pitchFamily="2" charset="2"/>
              <a:buChar char="v"/>
            </a:pPr>
            <a:endParaRPr lang="en-US" dirty="0"/>
          </a:p>
          <a:p>
            <a:pPr lvl="0">
              <a:buFont typeface="Wingdings" pitchFamily="2" charset="2"/>
              <a:buChar char="v"/>
            </a:pPr>
            <a:r>
              <a:rPr lang="en-US" dirty="0">
                <a:solidFill>
                  <a:srgbClr val="0070C0"/>
                </a:solidFill>
              </a:rPr>
              <a:t>Amoeba</a:t>
            </a:r>
          </a:p>
          <a:p>
            <a:pPr marL="0" lvl="0" indent="0">
              <a:buNone/>
            </a:pPr>
            <a:endParaRPr lang="en-US" dirty="0"/>
          </a:p>
          <a:p>
            <a:pPr marL="0" indent="0">
              <a:buNone/>
            </a:pPr>
            <a:r>
              <a:rPr lang="en-US" b="1" dirty="0"/>
              <a:t>Helminth parasites</a:t>
            </a:r>
          </a:p>
          <a:p>
            <a:pPr lvl="0">
              <a:buFont typeface="Wingdings" pitchFamily="2" charset="2"/>
              <a:buChar char="v"/>
            </a:pPr>
            <a:endParaRPr lang="en-US" dirty="0"/>
          </a:p>
          <a:p>
            <a:pPr lvl="0">
              <a:buFont typeface="Wingdings" pitchFamily="2" charset="2"/>
              <a:buChar char="v"/>
            </a:pPr>
            <a:r>
              <a:rPr lang="en-US" dirty="0">
                <a:solidFill>
                  <a:srgbClr val="0070C0"/>
                </a:solidFill>
              </a:rPr>
              <a:t>Egg</a:t>
            </a:r>
          </a:p>
          <a:p>
            <a:endParaRPr lang="en-US" dirty="0"/>
          </a:p>
        </p:txBody>
      </p:sp>
    </p:spTree>
    <p:extLst>
      <p:ext uri="{BB962C8B-B14F-4D97-AF65-F5344CB8AC3E}">
        <p14:creationId xmlns:p14="http://schemas.microsoft.com/office/powerpoint/2010/main" val="393130717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Specimen in which parasites are found </a:t>
            </a:r>
            <a:r>
              <a:rPr lang="en-US" b="1" dirty="0"/>
              <a:t>(Cont’d.)</a:t>
            </a:r>
            <a:br>
              <a:rPr lang="en-US" b="1" dirty="0"/>
            </a:br>
            <a:endParaRPr lang="en-GB" dirty="0"/>
          </a:p>
        </p:txBody>
      </p:sp>
      <p:sp>
        <p:nvSpPr>
          <p:cNvPr id="3" name="Content Placeholder 2"/>
          <p:cNvSpPr>
            <a:spLocks noGrp="1"/>
          </p:cNvSpPr>
          <p:nvPr>
            <p:ph idx="1"/>
          </p:nvPr>
        </p:nvSpPr>
        <p:spPr/>
        <p:txBody>
          <a:bodyPr/>
          <a:lstStyle/>
          <a:p>
            <a:pPr marL="0" indent="0" algn="ctr">
              <a:buNone/>
            </a:pPr>
            <a:r>
              <a:rPr lang="en-GB" dirty="0">
                <a:solidFill>
                  <a:srgbClr val="00B0F0"/>
                </a:solidFill>
              </a:rPr>
              <a:t>13.Duodenal Aspirate</a:t>
            </a:r>
          </a:p>
          <a:p>
            <a:pPr marL="0" indent="0">
              <a:buNone/>
            </a:pPr>
            <a:r>
              <a:rPr lang="en-GB" b="1" dirty="0"/>
              <a:t>Protozoan parasites</a:t>
            </a:r>
          </a:p>
          <a:p>
            <a:pPr>
              <a:buFont typeface="Wingdings" panose="05000000000000000000" pitchFamily="2" charset="2"/>
              <a:buChar char="v"/>
            </a:pPr>
            <a:r>
              <a:rPr lang="en-GB" dirty="0">
                <a:solidFill>
                  <a:srgbClr val="00B0F0"/>
                </a:solidFill>
              </a:rPr>
              <a:t>Flagellates</a:t>
            </a:r>
          </a:p>
          <a:p>
            <a:pPr marL="0" indent="0">
              <a:buNone/>
            </a:pPr>
            <a:r>
              <a:rPr lang="en-GB" b="1" dirty="0"/>
              <a:t>Helminth parasites</a:t>
            </a:r>
          </a:p>
          <a:p>
            <a:pPr>
              <a:buFont typeface="Wingdings" panose="05000000000000000000" pitchFamily="2" charset="2"/>
              <a:buChar char="v"/>
            </a:pPr>
            <a:r>
              <a:rPr lang="en-GB" dirty="0">
                <a:solidFill>
                  <a:srgbClr val="00B0F0"/>
                </a:solidFill>
              </a:rPr>
              <a:t>Egg</a:t>
            </a:r>
          </a:p>
          <a:p>
            <a:pPr>
              <a:buFont typeface="Wingdings" panose="05000000000000000000" pitchFamily="2" charset="2"/>
              <a:buChar char="v"/>
            </a:pPr>
            <a:r>
              <a:rPr lang="en-GB" dirty="0">
                <a:solidFill>
                  <a:srgbClr val="00B0F0"/>
                </a:solidFill>
              </a:rPr>
              <a:t>lava</a:t>
            </a:r>
          </a:p>
          <a:p>
            <a:pPr marL="0" indent="0">
              <a:buNone/>
            </a:pPr>
            <a:endParaRPr lang="en-GB" dirty="0"/>
          </a:p>
        </p:txBody>
      </p:sp>
    </p:spTree>
    <p:extLst>
      <p:ext uri="{BB962C8B-B14F-4D97-AF65-F5344CB8AC3E}">
        <p14:creationId xmlns:p14="http://schemas.microsoft.com/office/powerpoint/2010/main" val="24378496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 </a:t>
            </a:r>
            <a:r>
              <a:rPr lang="en-US" b="1" dirty="0">
                <a:solidFill>
                  <a:srgbClr val="FFC000"/>
                </a:solidFill>
              </a:rPr>
              <a:t>Methods used in diagnosis</a:t>
            </a:r>
            <a:endParaRPr lang="en-US" dirty="0">
              <a:solidFill>
                <a:srgbClr val="FFC000"/>
              </a:solidFill>
            </a:endParaRPr>
          </a:p>
        </p:txBody>
      </p:sp>
      <p:sp>
        <p:nvSpPr>
          <p:cNvPr id="3" name="Content Placeholder 2"/>
          <p:cNvSpPr>
            <a:spLocks noGrp="1"/>
          </p:cNvSpPr>
          <p:nvPr>
            <p:ph idx="1"/>
          </p:nvPr>
        </p:nvSpPr>
        <p:spPr/>
        <p:txBody>
          <a:bodyPr/>
          <a:lstStyle/>
          <a:p>
            <a:pPr marL="0" lvl="0" indent="0" algn="ctr">
              <a:buNone/>
            </a:pPr>
            <a:r>
              <a:rPr lang="en-US" b="1" dirty="0"/>
              <a:t>1.  </a:t>
            </a:r>
            <a:r>
              <a:rPr lang="en-US" b="1" dirty="0">
                <a:solidFill>
                  <a:schemeClr val="accent6">
                    <a:lumMod val="75000"/>
                  </a:schemeClr>
                </a:solidFill>
              </a:rPr>
              <a:t>Microscopic examination</a:t>
            </a:r>
            <a:endParaRPr lang="en-US" dirty="0">
              <a:solidFill>
                <a:schemeClr val="accent6">
                  <a:lumMod val="75000"/>
                </a:schemeClr>
              </a:solidFill>
            </a:endParaRPr>
          </a:p>
          <a:p>
            <a:pPr>
              <a:buFont typeface="Wingdings" pitchFamily="2" charset="2"/>
              <a:buChar char="v"/>
            </a:pPr>
            <a:r>
              <a:rPr lang="en-US" dirty="0"/>
              <a:t>For majority of </a:t>
            </a:r>
            <a:r>
              <a:rPr lang="en-US" dirty="0">
                <a:solidFill>
                  <a:srgbClr val="00B0F0"/>
                </a:solidFill>
              </a:rPr>
              <a:t>intestinal</a:t>
            </a:r>
            <a:r>
              <a:rPr lang="en-US" dirty="0"/>
              <a:t>, </a:t>
            </a:r>
            <a:r>
              <a:rPr lang="en-US" dirty="0">
                <a:solidFill>
                  <a:srgbClr val="00B0F0"/>
                </a:solidFill>
              </a:rPr>
              <a:t>urinary</a:t>
            </a:r>
            <a:r>
              <a:rPr lang="en-US" dirty="0"/>
              <a:t> and </a:t>
            </a:r>
            <a:r>
              <a:rPr lang="en-US" dirty="0">
                <a:solidFill>
                  <a:srgbClr val="00B0F0"/>
                </a:solidFill>
              </a:rPr>
              <a:t>blood</a:t>
            </a:r>
            <a:r>
              <a:rPr lang="en-US" dirty="0"/>
              <a:t> parasites in stained or unstained preparations</a:t>
            </a:r>
          </a:p>
          <a:p>
            <a:pPr>
              <a:buFont typeface="Wingdings" pitchFamily="2" charset="2"/>
              <a:buChar char="v"/>
            </a:pPr>
            <a:endParaRPr lang="en-US" dirty="0"/>
          </a:p>
          <a:p>
            <a:pPr>
              <a:buFont typeface="Wingdings" pitchFamily="2" charset="2"/>
              <a:buChar char="v"/>
            </a:pPr>
            <a:r>
              <a:rPr lang="en-US" u="sng" dirty="0"/>
              <a:t>The preparations may be viewed directly or following concentration (when the parasites are few)</a:t>
            </a:r>
          </a:p>
          <a:p>
            <a:endParaRPr lang="en-US" dirty="0"/>
          </a:p>
        </p:txBody>
      </p:sp>
    </p:spTree>
    <p:extLst>
      <p:ext uri="{BB962C8B-B14F-4D97-AF65-F5344CB8AC3E}">
        <p14:creationId xmlns:p14="http://schemas.microsoft.com/office/powerpoint/2010/main" val="4599450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marL="0" lvl="0" indent="0" algn="ctr">
              <a:buNone/>
            </a:pPr>
            <a:r>
              <a:rPr lang="en-US" b="1" dirty="0"/>
              <a:t>2.  </a:t>
            </a:r>
            <a:r>
              <a:rPr lang="en-US" b="1" dirty="0">
                <a:solidFill>
                  <a:schemeClr val="accent6">
                    <a:lumMod val="75000"/>
                  </a:schemeClr>
                </a:solidFill>
              </a:rPr>
              <a:t>Cultural techniques</a:t>
            </a:r>
            <a:endParaRPr lang="en-US" dirty="0">
              <a:solidFill>
                <a:schemeClr val="accent6">
                  <a:lumMod val="75000"/>
                </a:schemeClr>
              </a:solidFill>
            </a:endParaRPr>
          </a:p>
          <a:p>
            <a:pPr>
              <a:buFont typeface="Wingdings" pitchFamily="2" charset="2"/>
              <a:buChar char="v"/>
            </a:pPr>
            <a:r>
              <a:rPr lang="en-US" u="sng" dirty="0"/>
              <a:t>Few parasitic infections </a:t>
            </a:r>
            <a:r>
              <a:rPr lang="en-US" dirty="0"/>
              <a:t>are diagnosed routinely by </a:t>
            </a:r>
            <a:r>
              <a:rPr lang="en-US" dirty="0">
                <a:solidFill>
                  <a:schemeClr val="accent6">
                    <a:lumMod val="75000"/>
                  </a:schemeClr>
                </a:solidFill>
              </a:rPr>
              <a:t>cultural techniques</a:t>
            </a:r>
          </a:p>
          <a:p>
            <a:pPr>
              <a:buFont typeface="Wingdings" pitchFamily="2" charset="2"/>
              <a:buChar char="v"/>
            </a:pPr>
            <a:r>
              <a:rPr lang="en-US" dirty="0"/>
              <a:t>For example </a:t>
            </a:r>
            <a:r>
              <a:rPr lang="en-US" dirty="0">
                <a:solidFill>
                  <a:srgbClr val="00B0F0"/>
                </a:solidFill>
              </a:rPr>
              <a:t>stool or faecal culture </a:t>
            </a:r>
            <a:r>
              <a:rPr lang="en-US" dirty="0"/>
              <a:t>(</a:t>
            </a:r>
            <a:r>
              <a:rPr lang="en-US" dirty="0">
                <a:solidFill>
                  <a:srgbClr val="00B0F0"/>
                </a:solidFill>
              </a:rPr>
              <a:t>Coproculture</a:t>
            </a:r>
            <a:r>
              <a:rPr lang="en-US" dirty="0"/>
              <a:t>) </a:t>
            </a:r>
            <a:r>
              <a:rPr lang="en-US" u="sng" dirty="0"/>
              <a:t>to enable distinguishing of nematode specimens</a:t>
            </a:r>
            <a:r>
              <a:rPr lang="en-US" dirty="0"/>
              <a:t>; </a:t>
            </a:r>
          </a:p>
          <a:p>
            <a:pPr>
              <a:buFont typeface="Wingdings" pitchFamily="2" charset="2"/>
              <a:buChar char="v"/>
            </a:pPr>
            <a:r>
              <a:rPr lang="en-US" dirty="0"/>
              <a:t>the method is necessary for identifying e.g. hookworm specimens (</a:t>
            </a:r>
            <a:r>
              <a:rPr lang="en-US" i="1" dirty="0"/>
              <a:t>Ancylostoma </a:t>
            </a:r>
            <a:r>
              <a:rPr lang="en-US" i="1" dirty="0" err="1"/>
              <a:t>sp</a:t>
            </a:r>
            <a:r>
              <a:rPr lang="en-US" dirty="0"/>
              <a:t>; </a:t>
            </a:r>
            <a:r>
              <a:rPr lang="en-US" i="1" dirty="0"/>
              <a:t>Necator sp.</a:t>
            </a:r>
            <a:r>
              <a:rPr lang="en-US" dirty="0"/>
              <a:t>, </a:t>
            </a:r>
            <a:r>
              <a:rPr lang="en-US" i="1" dirty="0"/>
              <a:t>Oesophagostomum sp.</a:t>
            </a:r>
            <a:r>
              <a:rPr lang="en-US" dirty="0"/>
              <a:t>).</a:t>
            </a:r>
          </a:p>
        </p:txBody>
      </p:sp>
    </p:spTree>
    <p:extLst>
      <p:ext uri="{BB962C8B-B14F-4D97-AF65-F5344CB8AC3E}">
        <p14:creationId xmlns:p14="http://schemas.microsoft.com/office/powerpoint/2010/main" val="10649237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US" b="1" dirty="0"/>
            </a:br>
            <a:r>
              <a:rPr lang="en-US" b="1" dirty="0"/>
              <a:t>2. </a:t>
            </a:r>
            <a:r>
              <a:rPr lang="en-US" b="1" dirty="0">
                <a:solidFill>
                  <a:schemeClr val="accent6">
                    <a:lumMod val="75000"/>
                  </a:schemeClr>
                </a:solidFill>
              </a:rPr>
              <a:t>Cultural techniques </a:t>
            </a:r>
            <a:r>
              <a:rPr lang="en-US" b="1" dirty="0"/>
              <a:t>(Cont’d.)</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endParaRPr lang="en-US" dirty="0"/>
          </a:p>
          <a:p>
            <a:pPr>
              <a:buFont typeface="Wingdings" pitchFamily="2" charset="2"/>
              <a:buChar char="v"/>
            </a:pPr>
            <a:r>
              <a:rPr lang="en-US" u="sng" dirty="0"/>
              <a:t>Culture of the faecal specimen leads to hatching of the eggs which develop to the </a:t>
            </a:r>
            <a:r>
              <a:rPr lang="en-US" u="sng" dirty="0">
                <a:solidFill>
                  <a:srgbClr val="00B0F0"/>
                </a:solidFill>
              </a:rPr>
              <a:t>L</a:t>
            </a:r>
            <a:r>
              <a:rPr lang="en-US" u="sng" baseline="-25000" dirty="0">
                <a:solidFill>
                  <a:srgbClr val="00B0F0"/>
                </a:solidFill>
              </a:rPr>
              <a:t>3</a:t>
            </a:r>
            <a:r>
              <a:rPr lang="en-US" u="sng" dirty="0">
                <a:solidFill>
                  <a:srgbClr val="00B0F0"/>
                </a:solidFill>
              </a:rPr>
              <a:t> larval stage</a:t>
            </a:r>
            <a:r>
              <a:rPr lang="en-US" u="sng" dirty="0"/>
              <a:t> </a:t>
            </a:r>
            <a:r>
              <a:rPr lang="en-US" b="1" dirty="0"/>
              <a:t>when the worms can be identified on the basis of their unique larval features</a:t>
            </a:r>
            <a:r>
              <a:rPr lang="en-US" dirty="0"/>
              <a:t>.</a:t>
            </a:r>
          </a:p>
          <a:p>
            <a:endParaRPr lang="en-US" dirty="0"/>
          </a:p>
          <a:p>
            <a:pPr marL="0" indent="0">
              <a:buNone/>
            </a:pPr>
            <a:endParaRPr lang="en-US" dirty="0"/>
          </a:p>
        </p:txBody>
      </p:sp>
    </p:spTree>
    <p:extLst>
      <p:ext uri="{BB962C8B-B14F-4D97-AF65-F5344CB8AC3E}">
        <p14:creationId xmlns:p14="http://schemas.microsoft.com/office/powerpoint/2010/main" val="38952123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US" b="1" dirty="0"/>
            </a:br>
            <a:r>
              <a:rPr lang="en-US" b="1" dirty="0"/>
              <a:t>3. </a:t>
            </a:r>
            <a:r>
              <a:rPr lang="en-US" b="1" dirty="0">
                <a:solidFill>
                  <a:schemeClr val="accent6">
                    <a:lumMod val="75000"/>
                  </a:schemeClr>
                </a:solidFill>
              </a:rPr>
              <a:t>Immunodiagnostic techniques</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q"/>
            </a:pPr>
            <a:r>
              <a:rPr lang="en-US" dirty="0"/>
              <a:t>These are used when:</a:t>
            </a:r>
          </a:p>
          <a:p>
            <a:pPr lvl="0">
              <a:buFont typeface="Wingdings" pitchFamily="2" charset="2"/>
              <a:buChar char="Ø"/>
            </a:pPr>
            <a:r>
              <a:rPr lang="en-US" dirty="0">
                <a:solidFill>
                  <a:schemeClr val="accent6">
                    <a:lumMod val="75000"/>
                  </a:schemeClr>
                </a:solidFill>
              </a:rPr>
              <a:t>Parasites are in the tissues of internal organs and cannot be easily removed for examination</a:t>
            </a:r>
          </a:p>
          <a:p>
            <a:pPr lvl="0">
              <a:buFont typeface="Wingdings" pitchFamily="2" charset="2"/>
              <a:buChar char="Ø"/>
            </a:pPr>
            <a:r>
              <a:rPr lang="en-US" dirty="0">
                <a:solidFill>
                  <a:schemeClr val="accent6">
                    <a:lumMod val="75000"/>
                  </a:schemeClr>
                </a:solidFill>
              </a:rPr>
              <a:t>Parasites can be found in specimens only in certain stages of an infection </a:t>
            </a:r>
            <a:r>
              <a:rPr lang="en-US" dirty="0"/>
              <a:t>(e.g. in the acute, and not in the chronic stage)</a:t>
            </a:r>
          </a:p>
          <a:p>
            <a:pPr lvl="0">
              <a:buFont typeface="Wingdings" pitchFamily="2" charset="2"/>
              <a:buChar char="Ø"/>
            </a:pPr>
            <a:r>
              <a:rPr lang="en-US" dirty="0">
                <a:solidFill>
                  <a:schemeClr val="accent6">
                    <a:lumMod val="75000"/>
                  </a:schemeClr>
                </a:solidFill>
              </a:rPr>
              <a:t>Parasites are present only intermittently or in too few numbers to be easily detected in specimens</a:t>
            </a:r>
          </a:p>
          <a:p>
            <a:pPr>
              <a:buFont typeface="Wingdings" pitchFamily="2" charset="2"/>
              <a:buChar char="Ø"/>
            </a:pPr>
            <a:endParaRPr lang="en-US" dirty="0"/>
          </a:p>
        </p:txBody>
      </p:sp>
    </p:spTree>
    <p:extLst>
      <p:ext uri="{BB962C8B-B14F-4D97-AF65-F5344CB8AC3E}">
        <p14:creationId xmlns:p14="http://schemas.microsoft.com/office/powerpoint/2010/main" val="20046125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US" b="1" dirty="0"/>
            </a:br>
            <a:r>
              <a:rPr lang="en-US" b="1" dirty="0"/>
              <a:t>3. </a:t>
            </a:r>
            <a:r>
              <a:rPr lang="en-US" b="1" dirty="0">
                <a:solidFill>
                  <a:schemeClr val="accent6">
                    <a:lumMod val="75000"/>
                  </a:schemeClr>
                </a:solidFill>
              </a:rPr>
              <a:t>Immunodiagnostic techniques </a:t>
            </a:r>
            <a:r>
              <a:rPr lang="en-US" b="1" dirty="0"/>
              <a:t>(Cont’d.)</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US" dirty="0"/>
              <a:t>The techniques used are generally </a:t>
            </a:r>
            <a:r>
              <a:rPr lang="en-US" dirty="0">
                <a:solidFill>
                  <a:srgbClr val="FF0000"/>
                </a:solidFill>
              </a:rPr>
              <a:t>complex</a:t>
            </a:r>
            <a:r>
              <a:rPr lang="en-US" dirty="0"/>
              <a:t> or </a:t>
            </a:r>
            <a:r>
              <a:rPr lang="en-US" dirty="0">
                <a:solidFill>
                  <a:srgbClr val="FF0000"/>
                </a:solidFill>
              </a:rPr>
              <a:t>time-consuming</a:t>
            </a:r>
          </a:p>
          <a:p>
            <a:pPr lvl="0">
              <a:buFont typeface="Wingdings" pitchFamily="2" charset="2"/>
              <a:buChar char="v"/>
            </a:pPr>
            <a:endParaRPr lang="en-US" dirty="0"/>
          </a:p>
          <a:p>
            <a:pPr lvl="0">
              <a:buFont typeface="Wingdings" pitchFamily="2" charset="2"/>
              <a:buChar char="v"/>
            </a:pPr>
            <a:r>
              <a:rPr lang="en-US" u="sng" dirty="0"/>
              <a:t>Parasitic diseases for which immunodiagnosis is of particular value include</a:t>
            </a:r>
            <a:r>
              <a:rPr lang="en-US" dirty="0"/>
              <a:t>:</a:t>
            </a:r>
          </a:p>
          <a:p>
            <a:pPr>
              <a:buFont typeface="Wingdings" pitchFamily="2" charset="2"/>
              <a:buChar char="Ø"/>
            </a:pPr>
            <a:r>
              <a:rPr lang="en-US" dirty="0">
                <a:solidFill>
                  <a:srgbClr val="C00000"/>
                </a:solidFill>
              </a:rPr>
              <a:t>Trypanosomiasis</a:t>
            </a:r>
          </a:p>
          <a:p>
            <a:pPr>
              <a:buFont typeface="Wingdings" pitchFamily="2" charset="2"/>
              <a:buChar char="Ø"/>
            </a:pPr>
            <a:r>
              <a:rPr lang="en-US" dirty="0"/>
              <a:t> </a:t>
            </a:r>
            <a:r>
              <a:rPr lang="en-US" dirty="0">
                <a:solidFill>
                  <a:srgbClr val="C00000"/>
                </a:solidFill>
              </a:rPr>
              <a:t>Leishmaniasis</a:t>
            </a:r>
          </a:p>
          <a:p>
            <a:endParaRPr lang="en-US" dirty="0"/>
          </a:p>
        </p:txBody>
      </p:sp>
    </p:spTree>
    <p:extLst>
      <p:ext uri="{BB962C8B-B14F-4D97-AF65-F5344CB8AC3E}">
        <p14:creationId xmlns:p14="http://schemas.microsoft.com/office/powerpoint/2010/main" val="22949146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US" b="1" dirty="0"/>
            </a:br>
            <a:br>
              <a:rPr lang="en-US" b="1" dirty="0"/>
            </a:br>
            <a:r>
              <a:rPr lang="en-US" b="1" dirty="0"/>
              <a:t>3. </a:t>
            </a:r>
            <a:r>
              <a:rPr lang="en-US" b="1" dirty="0">
                <a:solidFill>
                  <a:schemeClr val="accent6">
                    <a:lumMod val="75000"/>
                  </a:schemeClr>
                </a:solidFill>
              </a:rPr>
              <a:t>Immunodiagnostic techniques </a:t>
            </a:r>
            <a:r>
              <a:rPr lang="en-US" b="1" dirty="0"/>
              <a:t>(Cont’d.)</a:t>
            </a:r>
            <a:br>
              <a:rPr lang="en-US" dirty="0"/>
            </a:b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Ø"/>
            </a:pPr>
            <a:r>
              <a:rPr lang="en-US" dirty="0">
                <a:solidFill>
                  <a:srgbClr val="C00000"/>
                </a:solidFill>
              </a:rPr>
              <a:t>Amoebic Liver abscess</a:t>
            </a:r>
          </a:p>
          <a:p>
            <a:pPr>
              <a:buFont typeface="Wingdings" pitchFamily="2" charset="2"/>
              <a:buChar char="Ø"/>
            </a:pPr>
            <a:endParaRPr lang="en-US" dirty="0"/>
          </a:p>
          <a:p>
            <a:pPr>
              <a:buFont typeface="Wingdings" pitchFamily="2" charset="2"/>
              <a:buChar char="Ø"/>
            </a:pPr>
            <a:r>
              <a:rPr lang="en-US" dirty="0">
                <a:solidFill>
                  <a:srgbClr val="C00000"/>
                </a:solidFill>
              </a:rPr>
              <a:t>Toxoplasmosis</a:t>
            </a:r>
          </a:p>
          <a:p>
            <a:pPr>
              <a:buFont typeface="Wingdings" pitchFamily="2" charset="2"/>
              <a:buChar char="Ø"/>
            </a:pPr>
            <a:endParaRPr lang="en-US" dirty="0"/>
          </a:p>
          <a:p>
            <a:pPr>
              <a:buFont typeface="Wingdings" pitchFamily="2" charset="2"/>
              <a:buChar char="Ø"/>
            </a:pPr>
            <a:r>
              <a:rPr lang="en-US" dirty="0">
                <a:solidFill>
                  <a:srgbClr val="C00000"/>
                </a:solidFill>
              </a:rPr>
              <a:t>Hydatid disease </a:t>
            </a:r>
          </a:p>
          <a:p>
            <a:pPr>
              <a:buFont typeface="Wingdings" pitchFamily="2" charset="2"/>
              <a:buChar char="Ø"/>
            </a:pPr>
            <a:endParaRPr lang="en-US" dirty="0"/>
          </a:p>
          <a:p>
            <a:pPr>
              <a:buFont typeface="Wingdings" pitchFamily="2" charset="2"/>
              <a:buChar char="Ø"/>
            </a:pPr>
            <a:r>
              <a:rPr lang="en-US" dirty="0">
                <a:solidFill>
                  <a:srgbClr val="C00000"/>
                </a:solidFill>
              </a:rPr>
              <a:t>Filariasis</a:t>
            </a:r>
            <a:r>
              <a:rPr lang="en-US" dirty="0"/>
              <a:t> (Occult and chronic infections)</a:t>
            </a:r>
          </a:p>
          <a:p>
            <a:endParaRPr lang="en-US" dirty="0"/>
          </a:p>
        </p:txBody>
      </p:sp>
    </p:spTree>
    <p:extLst>
      <p:ext uri="{BB962C8B-B14F-4D97-AF65-F5344CB8AC3E}">
        <p14:creationId xmlns:p14="http://schemas.microsoft.com/office/powerpoint/2010/main" val="419301724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3</a:t>
            </a:r>
            <a:r>
              <a:rPr lang="en-US" b="1" dirty="0">
                <a:solidFill>
                  <a:schemeClr val="accent6">
                    <a:lumMod val="75000"/>
                  </a:schemeClr>
                </a:solidFill>
              </a:rPr>
              <a:t>. Immunodiagnostic techniques </a:t>
            </a:r>
            <a:r>
              <a:rPr lang="en-US" b="1" dirty="0"/>
              <a:t>(Cont’d.)</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Ø"/>
            </a:pPr>
            <a:endParaRPr lang="en-US" dirty="0"/>
          </a:p>
          <a:p>
            <a:pPr>
              <a:buFont typeface="Wingdings" pitchFamily="2" charset="2"/>
              <a:buChar char="Ø"/>
            </a:pPr>
            <a:r>
              <a:rPr lang="en-US" dirty="0"/>
              <a:t> </a:t>
            </a:r>
            <a:r>
              <a:rPr lang="en-US" dirty="0">
                <a:solidFill>
                  <a:srgbClr val="C00000"/>
                </a:solidFill>
              </a:rPr>
              <a:t>Trichinellosis</a:t>
            </a:r>
          </a:p>
          <a:p>
            <a:pPr>
              <a:buFont typeface="Wingdings" pitchFamily="2" charset="2"/>
              <a:buChar char="Ø"/>
            </a:pPr>
            <a:endParaRPr lang="en-US" dirty="0"/>
          </a:p>
          <a:p>
            <a:pPr>
              <a:buFont typeface="Wingdings" pitchFamily="2" charset="2"/>
              <a:buChar char="Ø"/>
            </a:pPr>
            <a:r>
              <a:rPr lang="en-US" dirty="0">
                <a:solidFill>
                  <a:srgbClr val="C00000"/>
                </a:solidFill>
              </a:rPr>
              <a:t>Toxocariasis</a:t>
            </a:r>
          </a:p>
          <a:p>
            <a:pPr>
              <a:buFont typeface="Wingdings" pitchFamily="2" charset="2"/>
              <a:buChar char="Ø"/>
            </a:pPr>
            <a:endParaRPr lang="en-US" dirty="0"/>
          </a:p>
          <a:p>
            <a:pPr>
              <a:buFont typeface="Wingdings" pitchFamily="2" charset="2"/>
              <a:buChar char="Ø"/>
            </a:pPr>
            <a:r>
              <a:rPr lang="en-US" dirty="0"/>
              <a:t> </a:t>
            </a:r>
            <a:r>
              <a:rPr lang="en-US" dirty="0">
                <a:solidFill>
                  <a:srgbClr val="C00000"/>
                </a:solidFill>
              </a:rPr>
              <a:t>Schistosomiasis</a:t>
            </a:r>
            <a:r>
              <a:rPr lang="en-US" dirty="0"/>
              <a:t> (chronic stage)</a:t>
            </a:r>
          </a:p>
          <a:p>
            <a:pPr>
              <a:buFont typeface="Wingdings" pitchFamily="2" charset="2"/>
              <a:buChar char="Ø"/>
            </a:pPr>
            <a:endParaRPr lang="en-US" dirty="0"/>
          </a:p>
        </p:txBody>
      </p:sp>
    </p:spTree>
    <p:extLst>
      <p:ext uri="{BB962C8B-B14F-4D97-AF65-F5344CB8AC3E}">
        <p14:creationId xmlns:p14="http://schemas.microsoft.com/office/powerpoint/2010/main" val="303807128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3. </a:t>
            </a:r>
            <a:r>
              <a:rPr lang="en-US" b="1" dirty="0">
                <a:solidFill>
                  <a:schemeClr val="accent6">
                    <a:lumMod val="75000"/>
                  </a:schemeClr>
                </a:solidFill>
              </a:rPr>
              <a:t>Immunodiagnostic techniques </a:t>
            </a:r>
            <a:r>
              <a:rPr lang="en-US" b="1" dirty="0"/>
              <a:t>(Cont’d.)</a:t>
            </a:r>
            <a:br>
              <a:rPr lang="en-US" dirty="0"/>
            </a:br>
            <a:endParaRPr lang="en-US" dirty="0"/>
          </a:p>
        </p:txBody>
      </p:sp>
      <p:sp>
        <p:nvSpPr>
          <p:cNvPr id="3" name="Content Placeholder 2"/>
          <p:cNvSpPr>
            <a:spLocks noGrp="1"/>
          </p:cNvSpPr>
          <p:nvPr>
            <p:ph idx="1"/>
          </p:nvPr>
        </p:nvSpPr>
        <p:spPr>
          <a:xfrm>
            <a:off x="457200" y="1600200"/>
            <a:ext cx="8229600" cy="4800600"/>
          </a:xfrm>
        </p:spPr>
        <p:txBody>
          <a:bodyPr>
            <a:normAutofit lnSpcReduction="10000"/>
          </a:bodyPr>
          <a:lstStyle/>
          <a:p>
            <a:pPr marL="0" indent="0" algn="ctr">
              <a:buNone/>
            </a:pPr>
            <a:r>
              <a:rPr lang="en-US" b="1" i="1" dirty="0"/>
              <a:t>Immunodiagnostic techniques are based on the detection of: </a:t>
            </a:r>
          </a:p>
          <a:p>
            <a:pPr lvl="0">
              <a:buFont typeface="Wingdings" pitchFamily="2" charset="2"/>
              <a:buChar char="v"/>
            </a:pPr>
            <a:r>
              <a:rPr lang="en-US" dirty="0">
                <a:solidFill>
                  <a:srgbClr val="0070C0"/>
                </a:solidFill>
              </a:rPr>
              <a:t>Antibody in a person’s serum</a:t>
            </a:r>
            <a:r>
              <a:rPr lang="en-US" dirty="0"/>
              <a:t>, produced in response to a particular parasitic infection.</a:t>
            </a:r>
          </a:p>
          <a:p>
            <a:pPr lvl="0">
              <a:buFont typeface="Wingdings" pitchFamily="2" charset="2"/>
              <a:buChar char="v"/>
            </a:pPr>
            <a:r>
              <a:rPr lang="en-US" u="sng" dirty="0"/>
              <a:t>The antibody may persist for a long period in the serum after an infection has ended hence the tests do not indicate whether the infection is current or long ago</a:t>
            </a:r>
            <a:r>
              <a:rPr lang="en-US" dirty="0"/>
              <a:t>.</a:t>
            </a:r>
          </a:p>
          <a:p>
            <a:pPr lvl="0">
              <a:buFont typeface="Wingdings" pitchFamily="2" charset="2"/>
              <a:buChar char="v"/>
            </a:pPr>
            <a:r>
              <a:rPr lang="en-US" dirty="0"/>
              <a:t> </a:t>
            </a:r>
            <a:r>
              <a:rPr lang="en-US" dirty="0">
                <a:solidFill>
                  <a:srgbClr val="FF0000"/>
                </a:solidFill>
              </a:rPr>
              <a:t>Antibody tests need to be interpreted with care</a:t>
            </a:r>
            <a:r>
              <a:rPr lang="en-US" dirty="0"/>
              <a:t>.</a:t>
            </a:r>
          </a:p>
          <a:p>
            <a:pPr marL="0" indent="0">
              <a:buNone/>
            </a:pPr>
            <a:endParaRPr lang="en-US" dirty="0"/>
          </a:p>
        </p:txBody>
      </p:sp>
    </p:spTree>
    <p:extLst>
      <p:ext uri="{BB962C8B-B14F-4D97-AF65-F5344CB8AC3E}">
        <p14:creationId xmlns:p14="http://schemas.microsoft.com/office/powerpoint/2010/main" val="284810164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3. </a:t>
            </a:r>
            <a:r>
              <a:rPr lang="en-US" b="1" dirty="0">
                <a:solidFill>
                  <a:schemeClr val="accent6">
                    <a:lumMod val="75000"/>
                  </a:schemeClr>
                </a:solidFill>
              </a:rPr>
              <a:t>Immunodiagnostic techniques </a:t>
            </a:r>
            <a:r>
              <a:rPr lang="en-US" b="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rgbClr val="0070C0"/>
                </a:solidFill>
              </a:rPr>
              <a:t>Antigen, which is excreted by parasites and can be found in serum, urine, cerebrospinal fluid, faeces or other specimens</a:t>
            </a:r>
            <a:r>
              <a:rPr lang="en-US" dirty="0"/>
              <a:t>.</a:t>
            </a:r>
          </a:p>
          <a:p>
            <a:pPr lvl="0">
              <a:buFont typeface="Wingdings" pitchFamily="2" charset="2"/>
              <a:buChar char="v"/>
            </a:pPr>
            <a:endParaRPr lang="en-US" dirty="0"/>
          </a:p>
          <a:p>
            <a:pPr lvl="0">
              <a:buFont typeface="Wingdings" pitchFamily="2" charset="2"/>
              <a:buChar char="v"/>
            </a:pPr>
            <a:r>
              <a:rPr lang="en-US" dirty="0"/>
              <a:t> </a:t>
            </a:r>
            <a:r>
              <a:rPr lang="en-US" u="sng" dirty="0"/>
              <a:t>Antigen tests provide evidence of present infection </a:t>
            </a:r>
            <a:r>
              <a:rPr lang="en-US" dirty="0">
                <a:solidFill>
                  <a:srgbClr val="00B050"/>
                </a:solidFill>
              </a:rPr>
              <a:t>and are therefore of greater value than antibody tests </a:t>
            </a:r>
            <a:r>
              <a:rPr lang="en-US" dirty="0"/>
              <a:t>in clinical diagnosis of parasitic infections.</a:t>
            </a:r>
          </a:p>
          <a:p>
            <a:pPr>
              <a:buFont typeface="Wingdings" pitchFamily="2" charset="2"/>
              <a:buChar char="v"/>
            </a:pPr>
            <a:endParaRPr lang="en-US" dirty="0"/>
          </a:p>
        </p:txBody>
      </p:sp>
    </p:spTree>
    <p:extLst>
      <p:ext uri="{BB962C8B-B14F-4D97-AF65-F5344CB8AC3E}">
        <p14:creationId xmlns:p14="http://schemas.microsoft.com/office/powerpoint/2010/main" val="389042191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3</a:t>
            </a:r>
            <a:r>
              <a:rPr lang="en-US" b="1" dirty="0">
                <a:solidFill>
                  <a:schemeClr val="accent6">
                    <a:lumMod val="75000"/>
                  </a:schemeClr>
                </a:solidFill>
              </a:rPr>
              <a:t>. Immunodiagnostic techniques </a:t>
            </a:r>
            <a:r>
              <a:rPr lang="en-US" b="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endParaRPr lang="en-US" dirty="0"/>
          </a:p>
          <a:p>
            <a:pPr lvl="0">
              <a:buFont typeface="Wingdings" pitchFamily="2" charset="2"/>
              <a:buChar char="v"/>
            </a:pPr>
            <a:r>
              <a:rPr lang="en-US" dirty="0"/>
              <a:t>In a few parasitic infections the </a:t>
            </a:r>
            <a:r>
              <a:rPr lang="en-US" dirty="0">
                <a:solidFill>
                  <a:srgbClr val="00B050"/>
                </a:solidFill>
              </a:rPr>
              <a:t>demonstration of IgM antibody helps to indicate whether an infection is a recent one</a:t>
            </a:r>
            <a:r>
              <a:rPr lang="en-US" dirty="0"/>
              <a:t>, e.g. Toxoplasmosis.</a:t>
            </a:r>
          </a:p>
          <a:p>
            <a:pPr marL="0" indent="0">
              <a:buNone/>
            </a:pPr>
            <a:endParaRPr lang="en-US" dirty="0"/>
          </a:p>
        </p:txBody>
      </p:sp>
    </p:spTree>
    <p:extLst>
      <p:ext uri="{BB962C8B-B14F-4D97-AF65-F5344CB8AC3E}">
        <p14:creationId xmlns:p14="http://schemas.microsoft.com/office/powerpoint/2010/main" val="25439599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3. </a:t>
            </a:r>
            <a:r>
              <a:rPr lang="en-US" b="1" dirty="0">
                <a:solidFill>
                  <a:schemeClr val="accent6">
                    <a:lumMod val="75000"/>
                  </a:schemeClr>
                </a:solidFill>
              </a:rPr>
              <a:t>Immunodiagnostic techniques </a:t>
            </a:r>
            <a:r>
              <a:rPr lang="en-US" b="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endParaRPr lang="en-US" dirty="0"/>
          </a:p>
          <a:p>
            <a:pPr lvl="0">
              <a:buFont typeface="Wingdings" pitchFamily="2" charset="2"/>
              <a:buChar char="v"/>
            </a:pPr>
            <a:r>
              <a:rPr lang="en-US" dirty="0">
                <a:solidFill>
                  <a:srgbClr val="00B0F0"/>
                </a:solidFill>
              </a:rPr>
              <a:t>Testing for a rising antibody titre </a:t>
            </a:r>
            <a:r>
              <a:rPr lang="en-US" dirty="0"/>
              <a:t>can be of value in </a:t>
            </a:r>
            <a:r>
              <a:rPr lang="en-US" dirty="0">
                <a:solidFill>
                  <a:srgbClr val="FF3399"/>
                </a:solidFill>
              </a:rPr>
              <a:t>indicating whether an infection is an active one </a:t>
            </a:r>
            <a:r>
              <a:rPr lang="en-US" dirty="0"/>
              <a:t>and in some sensitive tests, </a:t>
            </a:r>
            <a:r>
              <a:rPr lang="en-US" dirty="0">
                <a:solidFill>
                  <a:srgbClr val="00B050"/>
                </a:solidFill>
              </a:rPr>
              <a:t>changes in antibody titre can indicate whether a patient is responding to treatment</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258731019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3. </a:t>
            </a:r>
            <a:r>
              <a:rPr lang="en-US" b="1" dirty="0">
                <a:solidFill>
                  <a:schemeClr val="accent6">
                    <a:lumMod val="75000"/>
                  </a:schemeClr>
                </a:solidFill>
              </a:rPr>
              <a:t>Immunodiagnostic techniques </a:t>
            </a:r>
            <a:r>
              <a:rPr lang="en-US" b="1" dirty="0"/>
              <a:t>(Cont’d.)</a:t>
            </a:r>
            <a:br>
              <a:rPr lang="en-US" dirty="0"/>
            </a:br>
            <a:endParaRPr lang="en-US" dirty="0"/>
          </a:p>
        </p:txBody>
      </p:sp>
      <p:sp>
        <p:nvSpPr>
          <p:cNvPr id="3" name="Content Placeholder 2"/>
          <p:cNvSpPr>
            <a:spLocks noGrp="1"/>
          </p:cNvSpPr>
          <p:nvPr>
            <p:ph idx="1"/>
          </p:nvPr>
        </p:nvSpPr>
        <p:spPr>
          <a:xfrm>
            <a:off x="457200" y="1600200"/>
            <a:ext cx="8229600" cy="4800600"/>
          </a:xfrm>
        </p:spPr>
        <p:txBody>
          <a:bodyPr>
            <a:normAutofit/>
          </a:bodyPr>
          <a:lstStyle/>
          <a:p>
            <a:pPr>
              <a:buFont typeface="Wingdings" pitchFamily="2" charset="2"/>
              <a:buChar char="v"/>
            </a:pPr>
            <a:r>
              <a:rPr lang="en-US" u="sng" dirty="0"/>
              <a:t>Interpretation of antibody test results needs care </a:t>
            </a:r>
            <a:r>
              <a:rPr lang="en-US" dirty="0"/>
              <a:t>because </a:t>
            </a:r>
            <a:r>
              <a:rPr lang="en-US" dirty="0">
                <a:solidFill>
                  <a:srgbClr val="C00000"/>
                </a:solidFill>
              </a:rPr>
              <a:t>false positive reactions </a:t>
            </a:r>
            <a:r>
              <a:rPr lang="en-US" dirty="0"/>
              <a:t>may occur </a:t>
            </a:r>
            <a:r>
              <a:rPr lang="en-US" u="sng" dirty="0"/>
              <a:t>due to cross-reactions with other human and animal parasitic antigens</a:t>
            </a:r>
            <a:r>
              <a:rPr lang="en-US" dirty="0"/>
              <a:t>.</a:t>
            </a:r>
          </a:p>
          <a:p>
            <a:pPr>
              <a:buFont typeface="Wingdings" pitchFamily="2" charset="2"/>
              <a:buChar char="v"/>
            </a:pPr>
            <a:endParaRPr lang="en-US" dirty="0"/>
          </a:p>
          <a:p>
            <a:pPr>
              <a:buFont typeface="Wingdings" pitchFamily="2" charset="2"/>
              <a:buChar char="v"/>
            </a:pPr>
            <a:r>
              <a:rPr lang="en-US" u="sng" dirty="0"/>
              <a:t>Different helminthes share many antigens and hence species-specific diagnosis is not always possible</a:t>
            </a:r>
            <a:r>
              <a:rPr lang="en-US" dirty="0"/>
              <a:t>. </a:t>
            </a:r>
            <a:r>
              <a:rPr lang="en-US" dirty="0">
                <a:solidFill>
                  <a:srgbClr val="0070C0"/>
                </a:solidFill>
              </a:rPr>
              <a:t>False negative results </a:t>
            </a:r>
            <a:r>
              <a:rPr lang="en-US" dirty="0"/>
              <a:t>may occur due to an excess of antigen removing the antibody</a:t>
            </a:r>
          </a:p>
        </p:txBody>
      </p:sp>
    </p:spTree>
    <p:extLst>
      <p:ext uri="{BB962C8B-B14F-4D97-AF65-F5344CB8AC3E}">
        <p14:creationId xmlns:p14="http://schemas.microsoft.com/office/powerpoint/2010/main" val="283023860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Antibody/Serological Tests</a:t>
            </a:r>
            <a:br>
              <a:rPr lang="en-US" dirty="0"/>
            </a:br>
            <a:endParaRPr lang="en-US" dirty="0"/>
          </a:p>
        </p:txBody>
      </p:sp>
      <p:sp>
        <p:nvSpPr>
          <p:cNvPr id="3" name="Content Placeholder 2"/>
          <p:cNvSpPr>
            <a:spLocks noGrp="1"/>
          </p:cNvSpPr>
          <p:nvPr>
            <p:ph idx="1"/>
          </p:nvPr>
        </p:nvSpPr>
        <p:spPr>
          <a:xfrm>
            <a:off x="457200" y="1600200"/>
            <a:ext cx="8229600" cy="4876800"/>
          </a:xfrm>
        </p:spPr>
        <p:txBody>
          <a:bodyPr>
            <a:normAutofit/>
          </a:bodyPr>
          <a:lstStyle/>
          <a:p>
            <a:pPr lvl="0">
              <a:buFont typeface="Wingdings" pitchFamily="2" charset="2"/>
              <a:buChar char="v"/>
            </a:pPr>
            <a:r>
              <a:rPr lang="en-US" dirty="0"/>
              <a:t>These include:</a:t>
            </a:r>
          </a:p>
          <a:p>
            <a:pPr lvl="0">
              <a:buFont typeface="Wingdings" pitchFamily="2" charset="2"/>
              <a:buChar char="v"/>
            </a:pPr>
            <a:r>
              <a:rPr lang="en-US" dirty="0">
                <a:solidFill>
                  <a:srgbClr val="7030A0"/>
                </a:solidFill>
              </a:rPr>
              <a:t>Rapid Slide Agglutination Test </a:t>
            </a:r>
            <a:r>
              <a:rPr lang="en-US" dirty="0"/>
              <a:t>(</a:t>
            </a:r>
            <a:r>
              <a:rPr lang="en-US" dirty="0">
                <a:solidFill>
                  <a:srgbClr val="7030A0"/>
                </a:solidFill>
              </a:rPr>
              <a:t>RSA test</a:t>
            </a:r>
            <a:r>
              <a:rPr lang="en-US" dirty="0"/>
              <a:t>)</a:t>
            </a:r>
          </a:p>
          <a:p>
            <a:pPr lvl="0">
              <a:buFont typeface="Wingdings" pitchFamily="2" charset="2"/>
              <a:buChar char="v"/>
            </a:pPr>
            <a:r>
              <a:rPr lang="en-US" dirty="0">
                <a:solidFill>
                  <a:srgbClr val="7030A0"/>
                </a:solidFill>
              </a:rPr>
              <a:t>Gel or Cellulose Acetate Precipitin Test </a:t>
            </a:r>
            <a:r>
              <a:rPr lang="en-US" dirty="0"/>
              <a:t>(</a:t>
            </a:r>
            <a:r>
              <a:rPr lang="en-US" dirty="0">
                <a:solidFill>
                  <a:srgbClr val="7030A0"/>
                </a:solidFill>
              </a:rPr>
              <a:t>GCAPT</a:t>
            </a:r>
            <a:r>
              <a:rPr lang="en-US" dirty="0"/>
              <a:t>)</a:t>
            </a:r>
          </a:p>
          <a:p>
            <a:pPr lvl="0">
              <a:buFont typeface="Wingdings" pitchFamily="2" charset="2"/>
              <a:buChar char="v"/>
            </a:pPr>
            <a:r>
              <a:rPr lang="en-US" dirty="0">
                <a:solidFill>
                  <a:srgbClr val="7030A0"/>
                </a:solidFill>
              </a:rPr>
              <a:t>Indirect Haemaglutination Test </a:t>
            </a:r>
            <a:r>
              <a:rPr lang="en-US" dirty="0"/>
              <a:t>(</a:t>
            </a:r>
            <a:r>
              <a:rPr lang="en-US" dirty="0">
                <a:solidFill>
                  <a:srgbClr val="7030A0"/>
                </a:solidFill>
              </a:rPr>
              <a:t>IHT</a:t>
            </a:r>
            <a:r>
              <a:rPr lang="en-US" dirty="0"/>
              <a:t>)</a:t>
            </a:r>
          </a:p>
          <a:p>
            <a:pPr lvl="0">
              <a:buFont typeface="Wingdings" pitchFamily="2" charset="2"/>
              <a:buChar char="v"/>
            </a:pPr>
            <a:r>
              <a:rPr lang="en-US" dirty="0">
                <a:solidFill>
                  <a:srgbClr val="7030A0"/>
                </a:solidFill>
              </a:rPr>
              <a:t>Complement Fixation Test </a:t>
            </a:r>
            <a:r>
              <a:rPr lang="en-US" dirty="0"/>
              <a:t>(</a:t>
            </a:r>
            <a:r>
              <a:rPr lang="en-US" dirty="0">
                <a:solidFill>
                  <a:srgbClr val="7030A0"/>
                </a:solidFill>
              </a:rPr>
              <a:t>CFT</a:t>
            </a:r>
            <a:r>
              <a:rPr lang="en-US" dirty="0"/>
              <a:t>)</a:t>
            </a:r>
          </a:p>
          <a:p>
            <a:pPr lvl="0">
              <a:buFont typeface="Wingdings" pitchFamily="2" charset="2"/>
              <a:buChar char="v"/>
            </a:pPr>
            <a:r>
              <a:rPr lang="en-US" dirty="0">
                <a:solidFill>
                  <a:srgbClr val="7030A0"/>
                </a:solidFill>
              </a:rPr>
              <a:t>Indirect Fluorescent Antibody Test </a:t>
            </a:r>
            <a:r>
              <a:rPr lang="en-US" dirty="0"/>
              <a:t>(</a:t>
            </a:r>
            <a:r>
              <a:rPr lang="en-US" dirty="0">
                <a:solidFill>
                  <a:srgbClr val="7030A0"/>
                </a:solidFill>
              </a:rPr>
              <a:t>IFAT</a:t>
            </a:r>
            <a:r>
              <a:rPr lang="en-US" dirty="0"/>
              <a:t>) and</a:t>
            </a:r>
          </a:p>
          <a:p>
            <a:pPr lvl="0">
              <a:buFont typeface="Wingdings" pitchFamily="2" charset="2"/>
              <a:buChar char="v"/>
            </a:pPr>
            <a:r>
              <a:rPr lang="en-US" dirty="0">
                <a:solidFill>
                  <a:srgbClr val="7030A0"/>
                </a:solidFill>
              </a:rPr>
              <a:t>Enzyme-linked Immunosorbent Assay </a:t>
            </a:r>
            <a:r>
              <a:rPr lang="en-US" dirty="0"/>
              <a:t>(</a:t>
            </a:r>
            <a:r>
              <a:rPr lang="en-US" dirty="0">
                <a:solidFill>
                  <a:srgbClr val="7030A0"/>
                </a:solidFill>
              </a:rPr>
              <a:t>ELISA</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16739806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Antibody/Serological Tests </a:t>
            </a:r>
            <a:r>
              <a:rPr lang="en-US" b="1" dirty="0"/>
              <a:t>(Cont’d.)</a:t>
            </a:r>
          </a:p>
        </p:txBody>
      </p:sp>
      <p:sp>
        <p:nvSpPr>
          <p:cNvPr id="3" name="Content Placeholder 2"/>
          <p:cNvSpPr>
            <a:spLocks noGrp="1"/>
          </p:cNvSpPr>
          <p:nvPr>
            <p:ph idx="1"/>
          </p:nvPr>
        </p:nvSpPr>
        <p:spPr/>
        <p:txBody>
          <a:bodyPr/>
          <a:lstStyle/>
          <a:p>
            <a:pPr lvl="0">
              <a:buFont typeface="Wingdings" pitchFamily="2" charset="2"/>
              <a:buChar char="v"/>
            </a:pPr>
            <a:r>
              <a:rPr lang="en-US" dirty="0"/>
              <a:t>The </a:t>
            </a:r>
            <a:r>
              <a:rPr lang="en-US" dirty="0">
                <a:solidFill>
                  <a:srgbClr val="FF0000"/>
                </a:solidFill>
              </a:rPr>
              <a:t>choice of technique depends on </a:t>
            </a:r>
            <a:r>
              <a:rPr lang="en-US" dirty="0"/>
              <a:t>a number of factors, including the </a:t>
            </a:r>
            <a:endParaRPr lang="en-US" sz="2800" dirty="0"/>
          </a:p>
          <a:p>
            <a:pPr lvl="1">
              <a:buFont typeface="Wingdings" pitchFamily="2" charset="2"/>
              <a:buChar char="Ø"/>
            </a:pPr>
            <a:endParaRPr lang="en-US" dirty="0"/>
          </a:p>
          <a:p>
            <a:pPr lvl="1">
              <a:buFont typeface="Wingdings" pitchFamily="2" charset="2"/>
              <a:buChar char="Ø"/>
            </a:pPr>
            <a:r>
              <a:rPr lang="en-US" dirty="0">
                <a:solidFill>
                  <a:srgbClr val="00B0F0"/>
                </a:solidFill>
              </a:rPr>
              <a:t>Parasitic infection under investigation</a:t>
            </a:r>
            <a:endParaRPr lang="en-US" sz="2400" dirty="0">
              <a:solidFill>
                <a:srgbClr val="00B0F0"/>
              </a:solidFill>
            </a:endParaRPr>
          </a:p>
          <a:p>
            <a:pPr lvl="1">
              <a:buFont typeface="Wingdings" pitchFamily="2" charset="2"/>
              <a:buChar char="Ø"/>
            </a:pPr>
            <a:r>
              <a:rPr lang="en-US" dirty="0">
                <a:solidFill>
                  <a:srgbClr val="00B0F0"/>
                </a:solidFill>
              </a:rPr>
              <a:t>The number of tests</a:t>
            </a:r>
            <a:endParaRPr lang="en-US" sz="2400" dirty="0">
              <a:solidFill>
                <a:srgbClr val="00B0F0"/>
              </a:solidFill>
            </a:endParaRPr>
          </a:p>
          <a:p>
            <a:pPr lvl="1">
              <a:buFont typeface="Wingdings" pitchFamily="2" charset="2"/>
              <a:buChar char="Ø"/>
            </a:pPr>
            <a:r>
              <a:rPr lang="en-US" dirty="0">
                <a:solidFill>
                  <a:srgbClr val="00B0F0"/>
                </a:solidFill>
              </a:rPr>
              <a:t>The availability of reagents</a:t>
            </a:r>
            <a:endParaRPr lang="en-US" sz="2400" dirty="0">
              <a:solidFill>
                <a:srgbClr val="00B0F0"/>
              </a:solidFill>
            </a:endParaRPr>
          </a:p>
          <a:p>
            <a:pPr lvl="1">
              <a:buFont typeface="Wingdings" pitchFamily="2" charset="2"/>
              <a:buChar char="Ø"/>
            </a:pPr>
            <a:r>
              <a:rPr lang="en-US" dirty="0">
                <a:solidFill>
                  <a:srgbClr val="00B0F0"/>
                </a:solidFill>
              </a:rPr>
              <a:t>Sensitivity and specificity of the test system </a:t>
            </a:r>
            <a:r>
              <a:rPr lang="en-US" dirty="0"/>
              <a:t>and </a:t>
            </a:r>
            <a:endParaRPr lang="en-US" sz="2400" dirty="0"/>
          </a:p>
          <a:p>
            <a:pPr lvl="1">
              <a:buFont typeface="Wingdings" pitchFamily="2" charset="2"/>
              <a:buChar char="Ø"/>
            </a:pPr>
            <a:r>
              <a:rPr lang="en-US" dirty="0">
                <a:solidFill>
                  <a:srgbClr val="00B0F0"/>
                </a:solidFill>
              </a:rPr>
              <a:t>The ability and facilities available in the laboratory</a:t>
            </a:r>
            <a:r>
              <a:rPr lang="en-US" dirty="0"/>
              <a:t>.</a:t>
            </a:r>
            <a:endParaRPr lang="en-US" sz="2400" dirty="0"/>
          </a:p>
          <a:p>
            <a:pPr>
              <a:buFont typeface="Wingdings" pitchFamily="2" charset="2"/>
              <a:buChar char="v"/>
            </a:pPr>
            <a:endParaRPr lang="en-US" dirty="0"/>
          </a:p>
        </p:txBody>
      </p:sp>
    </p:spTree>
    <p:extLst>
      <p:ext uri="{BB962C8B-B14F-4D97-AF65-F5344CB8AC3E}">
        <p14:creationId xmlns:p14="http://schemas.microsoft.com/office/powerpoint/2010/main" val="40191421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Antibody/Serological Tests </a:t>
            </a:r>
            <a:r>
              <a:rPr lang="en-US" b="1" dirty="0"/>
              <a:t>(Cont’d.)</a:t>
            </a: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US" dirty="0"/>
              <a:t>The </a:t>
            </a:r>
            <a:r>
              <a:rPr lang="en-US" dirty="0">
                <a:solidFill>
                  <a:srgbClr val="00B0F0"/>
                </a:solidFill>
              </a:rPr>
              <a:t>ELISA</a:t>
            </a:r>
            <a:r>
              <a:rPr lang="en-US" dirty="0"/>
              <a:t> </a:t>
            </a:r>
            <a:r>
              <a:rPr lang="en-US" u="sng" dirty="0"/>
              <a:t>has become a standard technique in the diagnosis and epidemiological studies of the important parasitic diseases</a:t>
            </a:r>
            <a:r>
              <a:rPr lang="en-US" dirty="0"/>
              <a:t>. </a:t>
            </a:r>
            <a:r>
              <a:rPr lang="en-US" dirty="0">
                <a:solidFill>
                  <a:srgbClr val="00B0F0"/>
                </a:solidFill>
              </a:rPr>
              <a:t>It can be used to detect antibody or antigen</a:t>
            </a:r>
            <a:r>
              <a:rPr lang="en-US" dirty="0"/>
              <a:t>.</a:t>
            </a:r>
          </a:p>
          <a:p>
            <a:pPr lvl="0">
              <a:buFont typeface="Wingdings" pitchFamily="2" charset="2"/>
              <a:buChar char="v"/>
            </a:pPr>
            <a:r>
              <a:rPr lang="en-US" dirty="0">
                <a:solidFill>
                  <a:srgbClr val="00B0F0"/>
                </a:solidFill>
              </a:rPr>
              <a:t>ELISA</a:t>
            </a:r>
            <a:r>
              <a:rPr lang="en-US" dirty="0"/>
              <a:t> can be used to diagnose </a:t>
            </a:r>
            <a:r>
              <a:rPr lang="en-US" dirty="0">
                <a:solidFill>
                  <a:srgbClr val="7030A0"/>
                </a:solidFill>
              </a:rPr>
              <a:t>malaria</a:t>
            </a:r>
            <a:r>
              <a:rPr lang="en-US" dirty="0"/>
              <a:t>, </a:t>
            </a:r>
            <a:r>
              <a:rPr lang="en-US" dirty="0">
                <a:solidFill>
                  <a:srgbClr val="7030A0"/>
                </a:solidFill>
              </a:rPr>
              <a:t>amoebiasis</a:t>
            </a:r>
            <a:r>
              <a:rPr lang="en-US" dirty="0"/>
              <a:t>, </a:t>
            </a:r>
            <a:r>
              <a:rPr lang="en-US" dirty="0">
                <a:solidFill>
                  <a:srgbClr val="7030A0"/>
                </a:solidFill>
              </a:rPr>
              <a:t>schistosomiasis</a:t>
            </a:r>
            <a:r>
              <a:rPr lang="en-US" dirty="0"/>
              <a:t>, </a:t>
            </a:r>
            <a:r>
              <a:rPr lang="en-US" dirty="0">
                <a:solidFill>
                  <a:srgbClr val="7030A0"/>
                </a:solidFill>
              </a:rPr>
              <a:t>onchocerciasis</a:t>
            </a:r>
            <a:r>
              <a:rPr lang="en-US" dirty="0"/>
              <a:t>, </a:t>
            </a:r>
            <a:r>
              <a:rPr lang="en-US" dirty="0">
                <a:solidFill>
                  <a:srgbClr val="7030A0"/>
                </a:solidFill>
              </a:rPr>
              <a:t>toxoplasmosis</a:t>
            </a:r>
            <a:r>
              <a:rPr lang="en-US" dirty="0"/>
              <a:t>, </a:t>
            </a:r>
            <a:r>
              <a:rPr lang="en-US" dirty="0">
                <a:solidFill>
                  <a:srgbClr val="7030A0"/>
                </a:solidFill>
              </a:rPr>
              <a:t>echinococcosis</a:t>
            </a:r>
            <a:r>
              <a:rPr lang="en-US" dirty="0"/>
              <a:t>, </a:t>
            </a:r>
            <a:r>
              <a:rPr lang="en-US" dirty="0">
                <a:solidFill>
                  <a:srgbClr val="7030A0"/>
                </a:solidFill>
              </a:rPr>
              <a:t>trypanosomiasis</a:t>
            </a:r>
            <a:r>
              <a:rPr lang="en-US" dirty="0"/>
              <a:t>, </a:t>
            </a:r>
            <a:r>
              <a:rPr lang="en-US" dirty="0">
                <a:solidFill>
                  <a:srgbClr val="7030A0"/>
                </a:solidFill>
              </a:rPr>
              <a:t>leishmaniasis</a:t>
            </a:r>
            <a:r>
              <a:rPr lang="en-US" dirty="0"/>
              <a:t> and </a:t>
            </a:r>
            <a:r>
              <a:rPr lang="en-US" dirty="0">
                <a:solidFill>
                  <a:srgbClr val="7030A0"/>
                </a:solidFill>
              </a:rPr>
              <a:t>trichinellosis</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412541561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Antibody/Serological Tests </a:t>
            </a:r>
            <a:r>
              <a:rPr lang="en-US" b="1" dirty="0"/>
              <a:t>(Cont’d.)</a:t>
            </a:r>
            <a:endParaRPr lang="en-US" dirty="0"/>
          </a:p>
        </p:txBody>
      </p:sp>
      <p:sp>
        <p:nvSpPr>
          <p:cNvPr id="3" name="Content Placeholder 2"/>
          <p:cNvSpPr>
            <a:spLocks noGrp="1"/>
          </p:cNvSpPr>
          <p:nvPr>
            <p:ph idx="1"/>
          </p:nvPr>
        </p:nvSpPr>
        <p:spPr/>
        <p:txBody>
          <a:bodyPr/>
          <a:lstStyle/>
          <a:p>
            <a:pPr lvl="0"/>
            <a:endParaRPr lang="en-US" dirty="0"/>
          </a:p>
          <a:p>
            <a:pPr lvl="0">
              <a:buFont typeface="Wingdings" pitchFamily="2" charset="2"/>
              <a:buChar char="v"/>
            </a:pPr>
            <a:r>
              <a:rPr lang="en-US" dirty="0">
                <a:solidFill>
                  <a:srgbClr val="00B0F0"/>
                </a:solidFill>
              </a:rPr>
              <a:t>ELISA</a:t>
            </a:r>
            <a:r>
              <a:rPr lang="en-US" dirty="0"/>
              <a:t> tends to be </a:t>
            </a:r>
            <a:r>
              <a:rPr lang="en-US" dirty="0">
                <a:solidFill>
                  <a:srgbClr val="FF0000"/>
                </a:solidFill>
              </a:rPr>
              <a:t>more sensitive and specific than other serological tests</a:t>
            </a:r>
            <a:r>
              <a:rPr lang="en-US" dirty="0"/>
              <a:t>,</a:t>
            </a:r>
            <a:r>
              <a:rPr lang="en-US" u="sng" dirty="0"/>
              <a:t> provides a quantitative result using a single serum dilution </a:t>
            </a:r>
            <a:r>
              <a:rPr lang="en-US" dirty="0"/>
              <a:t>and </a:t>
            </a:r>
            <a:r>
              <a:rPr lang="en-US" dirty="0">
                <a:solidFill>
                  <a:srgbClr val="FF0000"/>
                </a:solidFill>
              </a:rPr>
              <a:t>can be automated in a central immunodiagnostic laboratory</a:t>
            </a:r>
            <a:r>
              <a:rPr lang="en-US" dirty="0"/>
              <a:t>.</a:t>
            </a:r>
          </a:p>
          <a:p>
            <a:pPr marL="0" indent="0">
              <a:buNone/>
            </a:pPr>
            <a:endParaRPr lang="en-US" dirty="0"/>
          </a:p>
        </p:txBody>
      </p:sp>
    </p:spTree>
    <p:extLst>
      <p:ext uri="{BB962C8B-B14F-4D97-AF65-F5344CB8AC3E}">
        <p14:creationId xmlns:p14="http://schemas.microsoft.com/office/powerpoint/2010/main" val="258883279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70C0"/>
                </a:solidFill>
              </a:rPr>
              <a:t>Sources of Antigens for Serological Tests</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Usually, </a:t>
            </a:r>
            <a:r>
              <a:rPr lang="en-US" dirty="0">
                <a:solidFill>
                  <a:schemeClr val="accent6">
                    <a:lumMod val="75000"/>
                  </a:schemeClr>
                </a:solidFill>
              </a:rPr>
              <a:t>most laboratories prepare their own antigens from parasites grown in cultures or developed in laboratory animals</a:t>
            </a:r>
            <a:r>
              <a:rPr lang="en-US" dirty="0"/>
              <a:t>.</a:t>
            </a:r>
          </a:p>
          <a:p>
            <a:pPr>
              <a:buFont typeface="Wingdings" pitchFamily="2" charset="2"/>
              <a:buChar char="v"/>
            </a:pPr>
            <a:endParaRPr lang="en-US" dirty="0"/>
          </a:p>
          <a:p>
            <a:pPr>
              <a:buFont typeface="Wingdings" pitchFamily="2" charset="2"/>
              <a:buChar char="v"/>
            </a:pPr>
            <a:r>
              <a:rPr lang="en-US" dirty="0"/>
              <a:t> </a:t>
            </a:r>
            <a:r>
              <a:rPr lang="en-US" dirty="0">
                <a:solidFill>
                  <a:schemeClr val="accent6">
                    <a:lumMod val="75000"/>
                  </a:schemeClr>
                </a:solidFill>
              </a:rPr>
              <a:t>Only a few antigens are available from commercial sources </a:t>
            </a:r>
            <a:r>
              <a:rPr lang="en-US" u="sng" dirty="0"/>
              <a:t>but these may be very expensive and have only short shelf-lives</a:t>
            </a:r>
          </a:p>
          <a:p>
            <a:pPr marL="0" indent="0">
              <a:buNone/>
            </a:pPr>
            <a:endParaRPr lang="en-US" dirty="0"/>
          </a:p>
        </p:txBody>
      </p:sp>
    </p:spTree>
    <p:extLst>
      <p:ext uri="{BB962C8B-B14F-4D97-AF65-F5344CB8AC3E}">
        <p14:creationId xmlns:p14="http://schemas.microsoft.com/office/powerpoint/2010/main" val="364246937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70C0"/>
                </a:solidFill>
              </a:rPr>
              <a:t>Sources of Antigens for Serological Tests </a:t>
            </a:r>
            <a:r>
              <a:rPr lang="en-US" b="1" dirty="0"/>
              <a:t>(Cont’d.)</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solidFill>
                  <a:srgbClr val="FF0000"/>
                </a:solidFill>
              </a:rPr>
              <a:t>Two new techniques </a:t>
            </a:r>
            <a:r>
              <a:rPr lang="en-US" dirty="0"/>
              <a:t>which are developing rapidly and </a:t>
            </a:r>
            <a:r>
              <a:rPr lang="en-US" u="sng" dirty="0"/>
              <a:t>expected to provide specific antigens for serological tests are</a:t>
            </a:r>
          </a:p>
          <a:p>
            <a:pPr lvl="0">
              <a:buFont typeface="Wingdings" pitchFamily="2" charset="2"/>
              <a:buChar char="Ø"/>
            </a:pPr>
            <a:endParaRPr lang="en-US" dirty="0"/>
          </a:p>
          <a:p>
            <a:pPr lvl="0">
              <a:buFont typeface="Wingdings" pitchFamily="2" charset="2"/>
              <a:buChar char="Ø"/>
            </a:pPr>
            <a:r>
              <a:rPr lang="en-US" dirty="0">
                <a:solidFill>
                  <a:srgbClr val="FF0000"/>
                </a:solidFill>
              </a:rPr>
              <a:t>Monoclonal techniques </a:t>
            </a:r>
            <a:r>
              <a:rPr lang="en-US" dirty="0"/>
              <a:t>and</a:t>
            </a:r>
          </a:p>
          <a:p>
            <a:pPr lvl="0">
              <a:buFont typeface="Wingdings" pitchFamily="2" charset="2"/>
              <a:buChar char="Ø"/>
            </a:pPr>
            <a:endParaRPr lang="en-US" dirty="0"/>
          </a:p>
          <a:p>
            <a:pPr lvl="0">
              <a:buFont typeface="Wingdings" pitchFamily="2" charset="2"/>
              <a:buChar char="Ø"/>
            </a:pPr>
            <a:r>
              <a:rPr lang="en-US" dirty="0">
                <a:solidFill>
                  <a:srgbClr val="FF0000"/>
                </a:solidFill>
              </a:rPr>
              <a:t>Recombinant techniques</a:t>
            </a:r>
          </a:p>
          <a:p>
            <a:endParaRPr lang="en-US" dirty="0"/>
          </a:p>
        </p:txBody>
      </p:sp>
    </p:spTree>
    <p:extLst>
      <p:ext uri="{BB962C8B-B14F-4D97-AF65-F5344CB8AC3E}">
        <p14:creationId xmlns:p14="http://schemas.microsoft.com/office/powerpoint/2010/main" val="131569840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Monoclonal Antibodies</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US" u="sng" dirty="0"/>
              <a:t>These are made by fusing </a:t>
            </a:r>
            <a:r>
              <a:rPr lang="en-US" u="sng" dirty="0">
                <a:solidFill>
                  <a:srgbClr val="FF0000"/>
                </a:solidFill>
              </a:rPr>
              <a:t>antibody producing lymphocytes</a:t>
            </a:r>
            <a:r>
              <a:rPr lang="en-US" u="sng" dirty="0"/>
              <a:t> (</a:t>
            </a:r>
            <a:r>
              <a:rPr lang="en-US" u="sng" dirty="0">
                <a:solidFill>
                  <a:srgbClr val="FF0000"/>
                </a:solidFill>
              </a:rPr>
              <a:t>B lymphocytes</a:t>
            </a:r>
            <a:r>
              <a:rPr lang="en-US" u="sng" dirty="0"/>
              <a:t>) from an immunized mouse, with a mouse myeloma cell line</a:t>
            </a:r>
            <a:r>
              <a:rPr lang="en-US" dirty="0"/>
              <a:t>.</a:t>
            </a:r>
          </a:p>
          <a:p>
            <a:pPr lvl="0">
              <a:buFont typeface="Wingdings" pitchFamily="2" charset="2"/>
              <a:buChar char="v"/>
            </a:pPr>
            <a:r>
              <a:rPr lang="en-US" u="sng" dirty="0"/>
              <a:t>Clones of the resultant hybridomas retain both the capacity to produce the particular antibody made by the lymphocyte and also the capacity for indefinite growth </a:t>
            </a:r>
            <a:r>
              <a:rPr lang="en-US" i="1" u="sng" dirty="0"/>
              <a:t>in vitro</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339387931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Monoclonal Antibodies </a:t>
            </a:r>
            <a:r>
              <a:rPr lang="en-US" b="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u="sng" dirty="0"/>
              <a:t>This allows the production </a:t>
            </a:r>
            <a:r>
              <a:rPr lang="en-US" i="1" u="sng" dirty="0"/>
              <a:t>in vitro</a:t>
            </a:r>
            <a:r>
              <a:rPr lang="en-US" u="sng" dirty="0"/>
              <a:t> of large quantities of a range of antibodies, each being usually against a narrow range of antigens</a:t>
            </a:r>
            <a:r>
              <a:rPr lang="en-US" dirty="0"/>
              <a:t>.</a:t>
            </a:r>
          </a:p>
          <a:p>
            <a:pPr lvl="0">
              <a:buFont typeface="Wingdings" pitchFamily="2" charset="2"/>
              <a:buChar char="v"/>
            </a:pPr>
            <a:r>
              <a:rPr lang="en-US" dirty="0"/>
              <a:t>If the antigens which are useful in immuno-diagnosis can be identified, the appropriate monoclonal can be used to extract and purify it, e.g. by </a:t>
            </a:r>
            <a:r>
              <a:rPr lang="en-US" dirty="0">
                <a:solidFill>
                  <a:srgbClr val="0070C0"/>
                </a:solidFill>
              </a:rPr>
              <a:t>affinity chromatography</a:t>
            </a:r>
            <a:r>
              <a:rPr lang="en-US" dirty="0"/>
              <a:t>.</a:t>
            </a:r>
          </a:p>
          <a:p>
            <a:pPr>
              <a:buFont typeface="Wingdings" pitchFamily="2" charset="2"/>
              <a:buChar char="v"/>
            </a:pPr>
            <a:endParaRPr lang="en-US" dirty="0"/>
          </a:p>
        </p:txBody>
      </p:sp>
    </p:spTree>
    <p:extLst>
      <p:ext uri="{BB962C8B-B14F-4D97-AF65-F5344CB8AC3E}">
        <p14:creationId xmlns:p14="http://schemas.microsoft.com/office/powerpoint/2010/main" val="34103669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Recombinant DNA </a:t>
            </a:r>
            <a:r>
              <a:rPr lang="en-US" b="1" dirty="0"/>
              <a:t>(</a:t>
            </a:r>
            <a:r>
              <a:rPr lang="en-US" b="1" dirty="0">
                <a:solidFill>
                  <a:srgbClr val="FF0000"/>
                </a:solidFill>
              </a:rPr>
              <a:t>DNA probes</a:t>
            </a:r>
            <a:r>
              <a:rPr lang="en-US" b="1" dirty="0"/>
              <a:t>)</a:t>
            </a:r>
            <a:br>
              <a:rPr lang="en-US" dirty="0"/>
            </a:br>
            <a:endParaRPr lang="en-US" dirty="0"/>
          </a:p>
        </p:txBody>
      </p:sp>
      <p:sp>
        <p:nvSpPr>
          <p:cNvPr id="3" name="Content Placeholder 2"/>
          <p:cNvSpPr>
            <a:spLocks noGrp="1"/>
          </p:cNvSpPr>
          <p:nvPr>
            <p:ph idx="1"/>
          </p:nvPr>
        </p:nvSpPr>
        <p:spPr/>
        <p:txBody>
          <a:bodyPr>
            <a:normAutofit/>
          </a:bodyPr>
          <a:lstStyle/>
          <a:p>
            <a:pPr lvl="0"/>
            <a:endParaRPr lang="en-US" dirty="0"/>
          </a:p>
          <a:p>
            <a:pPr lvl="0">
              <a:buFont typeface="Wingdings" pitchFamily="2" charset="2"/>
              <a:buChar char="v"/>
            </a:pPr>
            <a:r>
              <a:rPr lang="en-US" dirty="0"/>
              <a:t>This technique involves, </a:t>
            </a:r>
            <a:r>
              <a:rPr lang="en-US" b="1" dirty="0"/>
              <a:t>firstly</a:t>
            </a:r>
            <a:r>
              <a:rPr lang="en-US" dirty="0"/>
              <a:t>, </a:t>
            </a:r>
            <a:r>
              <a:rPr lang="en-US" dirty="0">
                <a:solidFill>
                  <a:srgbClr val="FF0000"/>
                </a:solidFill>
              </a:rPr>
              <a:t>extracting and fragmenting the DNA from one organism </a:t>
            </a:r>
            <a:r>
              <a:rPr lang="en-US" b="1" dirty="0"/>
              <a:t>and hybridizing (incorporating) this </a:t>
            </a:r>
            <a:r>
              <a:rPr lang="en-US" dirty="0">
                <a:solidFill>
                  <a:srgbClr val="FF0000"/>
                </a:solidFill>
              </a:rPr>
              <a:t>with DNA fragments from another organism</a:t>
            </a:r>
            <a:r>
              <a:rPr lang="en-US" dirty="0"/>
              <a:t>.</a:t>
            </a:r>
          </a:p>
          <a:p>
            <a:endParaRPr lang="en-US" dirty="0"/>
          </a:p>
        </p:txBody>
      </p:sp>
    </p:spTree>
    <p:extLst>
      <p:ext uri="{BB962C8B-B14F-4D97-AF65-F5344CB8AC3E}">
        <p14:creationId xmlns:p14="http://schemas.microsoft.com/office/powerpoint/2010/main" val="237796229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lstStyle/>
          <a:p>
            <a:r>
              <a:rPr lang="en-US" b="1" dirty="0">
                <a:solidFill>
                  <a:srgbClr val="FF0000"/>
                </a:solidFill>
              </a:rPr>
              <a:t>Recombinant DNA </a:t>
            </a:r>
            <a:r>
              <a:rPr lang="en-US" b="1" dirty="0"/>
              <a:t>(Cont’d.)</a:t>
            </a:r>
            <a:endParaRPr lang="en-US" dirty="0"/>
          </a:p>
        </p:txBody>
      </p:sp>
      <p:sp>
        <p:nvSpPr>
          <p:cNvPr id="3" name="Content Placeholder 2"/>
          <p:cNvSpPr>
            <a:spLocks noGrp="1"/>
          </p:cNvSpPr>
          <p:nvPr>
            <p:ph idx="1"/>
          </p:nvPr>
        </p:nvSpPr>
        <p:spPr>
          <a:xfrm>
            <a:off x="457200" y="1219200"/>
            <a:ext cx="8229600" cy="5410200"/>
          </a:xfrm>
        </p:spPr>
        <p:txBody>
          <a:bodyPr>
            <a:normAutofit lnSpcReduction="10000"/>
          </a:bodyPr>
          <a:lstStyle/>
          <a:p>
            <a:pPr lvl="0">
              <a:buFont typeface="Wingdings" pitchFamily="2" charset="2"/>
              <a:buChar char="v"/>
            </a:pPr>
            <a:r>
              <a:rPr lang="en-US" u="sng" dirty="0"/>
              <a:t>The resulting hybrids are then reinserted into the latter organism </a:t>
            </a:r>
            <a:r>
              <a:rPr lang="en-US" dirty="0"/>
              <a:t>which is known as the </a:t>
            </a:r>
            <a:r>
              <a:rPr lang="en-US" dirty="0">
                <a:solidFill>
                  <a:srgbClr val="0070C0"/>
                </a:solidFill>
              </a:rPr>
              <a:t>vector</a:t>
            </a:r>
            <a:r>
              <a:rPr lang="en-US" dirty="0"/>
              <a:t>. </a:t>
            </a:r>
          </a:p>
          <a:p>
            <a:pPr lvl="0">
              <a:buFont typeface="Wingdings" pitchFamily="2" charset="2"/>
              <a:buChar char="v"/>
            </a:pPr>
            <a:r>
              <a:rPr lang="en-US" dirty="0"/>
              <a:t>This is usually a </a:t>
            </a:r>
            <a:r>
              <a:rPr lang="en-US" dirty="0">
                <a:solidFill>
                  <a:srgbClr val="0070C0"/>
                </a:solidFill>
              </a:rPr>
              <a:t>virus</a:t>
            </a:r>
            <a:r>
              <a:rPr lang="en-US" dirty="0"/>
              <a:t> or a </a:t>
            </a:r>
            <a:r>
              <a:rPr lang="en-US" dirty="0">
                <a:solidFill>
                  <a:srgbClr val="0070C0"/>
                </a:solidFill>
              </a:rPr>
              <a:t>bacterial plasmid</a:t>
            </a:r>
            <a:r>
              <a:rPr lang="en-US" dirty="0"/>
              <a:t>, nearly always from </a:t>
            </a:r>
            <a:r>
              <a:rPr lang="en-US" i="1" dirty="0">
                <a:solidFill>
                  <a:srgbClr val="00B050"/>
                </a:solidFill>
              </a:rPr>
              <a:t>E. coli</a:t>
            </a:r>
            <a:r>
              <a:rPr lang="en-US" dirty="0"/>
              <a:t>, which is able to replicate itself very rapidly, thereby producing large quantities of the proteins. </a:t>
            </a:r>
          </a:p>
          <a:p>
            <a:pPr lvl="0">
              <a:buFont typeface="Wingdings" pitchFamily="2" charset="2"/>
              <a:buChar char="v"/>
            </a:pPr>
            <a:r>
              <a:rPr lang="en-US" dirty="0"/>
              <a:t>For example, </a:t>
            </a:r>
            <a:r>
              <a:rPr lang="en-US" dirty="0">
                <a:solidFill>
                  <a:srgbClr val="FF0000"/>
                </a:solidFill>
              </a:rPr>
              <a:t>the DNA coding for an antigenic protein in a parasite could be inserted into </a:t>
            </a:r>
            <a:r>
              <a:rPr lang="en-US" i="1" dirty="0">
                <a:solidFill>
                  <a:srgbClr val="FF0000"/>
                </a:solidFill>
              </a:rPr>
              <a:t>E. coli</a:t>
            </a:r>
            <a:r>
              <a:rPr lang="en-US" dirty="0">
                <a:solidFill>
                  <a:srgbClr val="FF0000"/>
                </a:solidFill>
              </a:rPr>
              <a:t>, which, by its rapid replication, would yield large quantities of this protein</a:t>
            </a:r>
            <a:r>
              <a:rPr lang="en-US" dirty="0"/>
              <a:t>.</a:t>
            </a:r>
          </a:p>
          <a:p>
            <a:endParaRPr lang="en-US" dirty="0"/>
          </a:p>
        </p:txBody>
      </p:sp>
    </p:spTree>
    <p:extLst>
      <p:ext uri="{BB962C8B-B14F-4D97-AF65-F5344CB8AC3E}">
        <p14:creationId xmlns:p14="http://schemas.microsoft.com/office/powerpoint/2010/main" val="202501660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0070C0"/>
                </a:solidFill>
              </a:rPr>
              <a:t>Antigen Test</a:t>
            </a:r>
            <a:br>
              <a:rPr lang="en-US" dirty="0">
                <a:solidFill>
                  <a:srgbClr val="0070C0"/>
                </a:solidFill>
              </a:rPr>
            </a:br>
            <a:endParaRPr lang="en-US" dirty="0">
              <a:solidFill>
                <a:srgbClr val="0070C0"/>
              </a:solidFill>
            </a:endParaRPr>
          </a:p>
        </p:txBody>
      </p:sp>
      <p:sp>
        <p:nvSpPr>
          <p:cNvPr id="3" name="Content Placeholder 2"/>
          <p:cNvSpPr>
            <a:spLocks noGrp="1"/>
          </p:cNvSpPr>
          <p:nvPr>
            <p:ph idx="1"/>
          </p:nvPr>
        </p:nvSpPr>
        <p:spPr/>
        <p:txBody>
          <a:bodyPr/>
          <a:lstStyle/>
          <a:p>
            <a:pPr>
              <a:buFont typeface="Wingdings" pitchFamily="2" charset="2"/>
              <a:buChar char="v"/>
            </a:pPr>
            <a:endParaRPr lang="en-US" dirty="0"/>
          </a:p>
          <a:p>
            <a:pPr>
              <a:buFont typeface="Wingdings" pitchFamily="2" charset="2"/>
              <a:buChar char="v"/>
            </a:pPr>
            <a:r>
              <a:rPr lang="en-US" dirty="0">
                <a:solidFill>
                  <a:srgbClr val="FF0000"/>
                </a:solidFill>
              </a:rPr>
              <a:t>Monoclonal techniques</a:t>
            </a:r>
            <a:r>
              <a:rPr lang="en-US" u="sng" dirty="0">
                <a:solidFill>
                  <a:srgbClr val="FF0000"/>
                </a:solidFill>
              </a:rPr>
              <a:t> </a:t>
            </a:r>
            <a:r>
              <a:rPr lang="en-US" u="sng" dirty="0"/>
              <a:t>are also used to develop highly reactive and specific antibody reagents</a:t>
            </a:r>
            <a:r>
              <a:rPr lang="en-US" dirty="0"/>
              <a:t>, especially for </a:t>
            </a:r>
            <a:r>
              <a:rPr lang="en-US" dirty="0">
                <a:solidFill>
                  <a:srgbClr val="00B0F0"/>
                </a:solidFill>
              </a:rPr>
              <a:t>ELISA</a:t>
            </a:r>
            <a:r>
              <a:rPr lang="en-US" dirty="0"/>
              <a:t> (</a:t>
            </a:r>
            <a:r>
              <a:rPr lang="en-US" dirty="0">
                <a:solidFill>
                  <a:srgbClr val="00B0F0"/>
                </a:solidFill>
              </a:rPr>
              <a:t>Sandwich assay</a:t>
            </a:r>
            <a:r>
              <a:rPr lang="en-US" dirty="0"/>
              <a:t>).</a:t>
            </a:r>
          </a:p>
          <a:p>
            <a:endParaRPr lang="en-US" dirty="0"/>
          </a:p>
        </p:txBody>
      </p:sp>
    </p:spTree>
    <p:extLst>
      <p:ext uri="{BB962C8B-B14F-4D97-AF65-F5344CB8AC3E}">
        <p14:creationId xmlns:p14="http://schemas.microsoft.com/office/powerpoint/2010/main" val="2719515355"/>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C00000"/>
                </a:solidFill>
              </a:rPr>
              <a:t>Other Tests for identification of some parasites</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endParaRPr lang="en-US" dirty="0"/>
          </a:p>
          <a:p>
            <a:pPr lvl="0">
              <a:buFont typeface="Wingdings" pitchFamily="2" charset="2"/>
              <a:buChar char="v"/>
            </a:pPr>
            <a:r>
              <a:rPr lang="en-US" dirty="0">
                <a:solidFill>
                  <a:srgbClr val="C00000"/>
                </a:solidFill>
              </a:rPr>
              <a:t>Biochemical tests </a:t>
            </a:r>
            <a:r>
              <a:rPr lang="en-US" u="sng" dirty="0"/>
              <a:t>to detect isoenzyme and genetic characteristics</a:t>
            </a:r>
            <a:r>
              <a:rPr lang="en-US" dirty="0"/>
              <a:t>.</a:t>
            </a:r>
          </a:p>
          <a:p>
            <a:pPr lvl="0">
              <a:buFont typeface="Wingdings" pitchFamily="2" charset="2"/>
              <a:buChar char="v"/>
            </a:pPr>
            <a:endParaRPr lang="en-US" dirty="0"/>
          </a:p>
          <a:p>
            <a:pPr lvl="0">
              <a:buFont typeface="Wingdings" pitchFamily="2" charset="2"/>
              <a:buChar char="v"/>
            </a:pPr>
            <a:r>
              <a:rPr lang="en-US" dirty="0">
                <a:solidFill>
                  <a:srgbClr val="C00000"/>
                </a:solidFill>
              </a:rPr>
              <a:t>Enzyme electrophoresis</a:t>
            </a:r>
          </a:p>
          <a:p>
            <a:pPr>
              <a:buFont typeface="Wingdings" pitchFamily="2" charset="2"/>
              <a:buChar char="v"/>
            </a:pPr>
            <a:endParaRPr lang="en-US" dirty="0"/>
          </a:p>
        </p:txBody>
      </p:sp>
    </p:spTree>
    <p:extLst>
      <p:ext uri="{BB962C8B-B14F-4D97-AF65-F5344CB8AC3E}">
        <p14:creationId xmlns:p14="http://schemas.microsoft.com/office/powerpoint/2010/main" val="84366469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C00000"/>
                </a:solidFill>
              </a:rPr>
              <a:t>Definition of Terms for Diagnostic Stages</a:t>
            </a:r>
            <a:br>
              <a:rPr lang="en-US" dirty="0"/>
            </a:b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pPr>
              <a:buFont typeface="Wingdings" pitchFamily="2" charset="2"/>
              <a:buChar char="v"/>
            </a:pPr>
            <a:r>
              <a:rPr lang="en-US" b="1" dirty="0">
                <a:solidFill>
                  <a:srgbClr val="0070C0"/>
                </a:solidFill>
              </a:rPr>
              <a:t>Amastigote</a:t>
            </a:r>
            <a:r>
              <a:rPr lang="en-US" b="1" dirty="0"/>
              <a:t>:</a:t>
            </a:r>
            <a:r>
              <a:rPr lang="en-US" dirty="0"/>
              <a:t> the </a:t>
            </a:r>
            <a:r>
              <a:rPr lang="en-US" u="sng" dirty="0"/>
              <a:t>non-flagellate</a:t>
            </a:r>
            <a:r>
              <a:rPr lang="en-US" dirty="0"/>
              <a:t>, </a:t>
            </a:r>
            <a:r>
              <a:rPr lang="en-US" u="sng" dirty="0"/>
              <a:t>intracellular</a:t>
            </a:r>
            <a:r>
              <a:rPr lang="en-US" dirty="0"/>
              <a:t>, </a:t>
            </a:r>
            <a:r>
              <a:rPr lang="en-US" u="sng" dirty="0"/>
              <a:t>morphologic stage in the development of certain haemoflagellates</a:t>
            </a:r>
            <a:r>
              <a:rPr lang="en-US" dirty="0"/>
              <a:t>, </a:t>
            </a:r>
            <a:r>
              <a:rPr lang="en-US" u="sng" dirty="0">
                <a:solidFill>
                  <a:srgbClr val="0070C0"/>
                </a:solidFill>
              </a:rPr>
              <a:t>resembling the typical adult form of Leishmania</a:t>
            </a:r>
            <a:r>
              <a:rPr lang="en-US" dirty="0"/>
              <a:t>.</a:t>
            </a:r>
          </a:p>
          <a:p>
            <a:pPr>
              <a:buFont typeface="Wingdings" pitchFamily="2" charset="2"/>
              <a:buChar char="v"/>
            </a:pPr>
            <a:endParaRPr lang="en-US" b="1" dirty="0"/>
          </a:p>
          <a:p>
            <a:pPr>
              <a:buFont typeface="Wingdings" pitchFamily="2" charset="2"/>
              <a:buChar char="v"/>
            </a:pPr>
            <a:r>
              <a:rPr lang="en-US" b="1" dirty="0">
                <a:solidFill>
                  <a:srgbClr val="0070C0"/>
                </a:solidFill>
              </a:rPr>
              <a:t>Oocyst</a:t>
            </a:r>
            <a:r>
              <a:rPr lang="en-US" b="1" dirty="0"/>
              <a:t>:</a:t>
            </a:r>
            <a:r>
              <a:rPr lang="en-US" dirty="0"/>
              <a:t> the </a:t>
            </a:r>
            <a:r>
              <a:rPr lang="en-US" u="sng" dirty="0"/>
              <a:t>encysted</a:t>
            </a:r>
            <a:r>
              <a:rPr lang="en-US" dirty="0"/>
              <a:t> or </a:t>
            </a:r>
            <a:r>
              <a:rPr lang="en-US" u="sng" dirty="0"/>
              <a:t>encapsulated ookinete</a:t>
            </a:r>
            <a:r>
              <a:rPr lang="en-US" dirty="0"/>
              <a:t> (the</a:t>
            </a:r>
            <a:r>
              <a:rPr lang="en-US" u="sng" dirty="0"/>
              <a:t> fertilized form of the malarial parasite </a:t>
            </a:r>
            <a:r>
              <a:rPr lang="en-US" dirty="0"/>
              <a:t>in the body of a mosquito); </a:t>
            </a:r>
            <a:r>
              <a:rPr lang="en-US" u="sng" dirty="0">
                <a:solidFill>
                  <a:srgbClr val="0070C0"/>
                </a:solidFill>
              </a:rPr>
              <a:t>it is formed by fertilization of a macrogamete by a microgamete </a:t>
            </a:r>
            <a:r>
              <a:rPr lang="en-US" u="sng" dirty="0"/>
              <a:t>and develops into an </a:t>
            </a:r>
            <a:r>
              <a:rPr lang="en-US" dirty="0">
                <a:solidFill>
                  <a:srgbClr val="0070C0"/>
                </a:solidFill>
              </a:rPr>
              <a:t>oocyst</a:t>
            </a:r>
            <a:r>
              <a:rPr lang="en-US" dirty="0"/>
              <a:t>.</a:t>
            </a:r>
          </a:p>
          <a:p>
            <a:endParaRPr lang="en-US" dirty="0"/>
          </a:p>
        </p:txBody>
      </p:sp>
    </p:spTree>
    <p:extLst>
      <p:ext uri="{BB962C8B-B14F-4D97-AF65-F5344CB8AC3E}">
        <p14:creationId xmlns:p14="http://schemas.microsoft.com/office/powerpoint/2010/main" val="293008594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Definition of Terms for Diagnostic Stages </a:t>
            </a:r>
            <a:r>
              <a:rPr lang="en-US" b="1" dirty="0"/>
              <a:t>(Cont’d.)</a:t>
            </a:r>
            <a:endParaRPr lang="en-US" dirty="0"/>
          </a:p>
        </p:txBody>
      </p:sp>
      <p:sp>
        <p:nvSpPr>
          <p:cNvPr id="3" name="Content Placeholder 2"/>
          <p:cNvSpPr>
            <a:spLocks noGrp="1"/>
          </p:cNvSpPr>
          <p:nvPr>
            <p:ph idx="1"/>
          </p:nvPr>
        </p:nvSpPr>
        <p:spPr/>
        <p:txBody>
          <a:bodyPr/>
          <a:lstStyle/>
          <a:p>
            <a:r>
              <a:rPr lang="en-US" b="1" dirty="0">
                <a:solidFill>
                  <a:srgbClr val="0070C0"/>
                </a:solidFill>
              </a:rPr>
              <a:t>Trophozoite</a:t>
            </a:r>
            <a:r>
              <a:rPr lang="en-US" b="1" dirty="0"/>
              <a:t>:</a:t>
            </a:r>
            <a:r>
              <a:rPr lang="en-US" dirty="0"/>
              <a:t> the </a:t>
            </a:r>
            <a:r>
              <a:rPr lang="en-US" u="sng" dirty="0"/>
              <a:t>active</a:t>
            </a:r>
            <a:r>
              <a:rPr lang="en-US" dirty="0"/>
              <a:t>, </a:t>
            </a:r>
            <a:r>
              <a:rPr lang="en-US" u="sng" dirty="0"/>
              <a:t>motile</a:t>
            </a:r>
            <a:r>
              <a:rPr lang="en-US" dirty="0"/>
              <a:t>, </a:t>
            </a:r>
            <a:r>
              <a:rPr lang="en-US" u="sng" dirty="0"/>
              <a:t>feeding stage of a protozoan organism</a:t>
            </a:r>
            <a:r>
              <a:rPr lang="en-US" dirty="0"/>
              <a:t>.</a:t>
            </a:r>
          </a:p>
          <a:p>
            <a:endParaRPr lang="en-US" b="1" dirty="0"/>
          </a:p>
          <a:p>
            <a:r>
              <a:rPr lang="en-US" b="1" dirty="0">
                <a:solidFill>
                  <a:srgbClr val="0070C0"/>
                </a:solidFill>
              </a:rPr>
              <a:t>Trypomastigote</a:t>
            </a:r>
            <a:r>
              <a:rPr lang="en-US" dirty="0"/>
              <a:t>: a </a:t>
            </a:r>
            <a:r>
              <a:rPr lang="en-US" u="sng" dirty="0"/>
              <a:t>morphological stage in the development of certain haemoflagellates</a:t>
            </a:r>
            <a:r>
              <a:rPr lang="en-US" dirty="0"/>
              <a:t>, </a:t>
            </a:r>
            <a:r>
              <a:rPr lang="en-US" u="sng" dirty="0">
                <a:solidFill>
                  <a:srgbClr val="0070C0"/>
                </a:solidFill>
              </a:rPr>
              <a:t>resembling the typical adult form of </a:t>
            </a:r>
            <a:r>
              <a:rPr lang="en-US" i="1" u="sng" dirty="0">
                <a:solidFill>
                  <a:srgbClr val="0070C0"/>
                </a:solidFill>
              </a:rPr>
              <a:t>Trypanosoma</a:t>
            </a:r>
            <a:r>
              <a:rPr lang="en-US" u="sng" dirty="0">
                <a:solidFill>
                  <a:srgbClr val="0070C0"/>
                </a:solidFill>
              </a:rPr>
              <a:t> </a:t>
            </a:r>
            <a:r>
              <a:rPr lang="en-US" dirty="0"/>
              <a:t>and </a:t>
            </a:r>
            <a:r>
              <a:rPr lang="en-US" u="sng" dirty="0"/>
              <a:t>characterized by having a flagellum</a:t>
            </a:r>
          </a:p>
        </p:txBody>
      </p:sp>
    </p:spTree>
    <p:extLst>
      <p:ext uri="{BB962C8B-B14F-4D97-AF65-F5344CB8AC3E}">
        <p14:creationId xmlns:p14="http://schemas.microsoft.com/office/powerpoint/2010/main" val="425383498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Definition of Terms for Diagnostic Stages </a:t>
            </a:r>
            <a:r>
              <a:rPr lang="en-US" b="1" dirty="0"/>
              <a:t>(Cont’d.)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b="1" dirty="0">
                <a:solidFill>
                  <a:srgbClr val="0070C0"/>
                </a:solidFill>
              </a:rPr>
              <a:t>Schizonts</a:t>
            </a:r>
            <a:r>
              <a:rPr lang="en-US" b="1" dirty="0"/>
              <a:t>:</a:t>
            </a:r>
            <a:r>
              <a:rPr lang="en-US" dirty="0"/>
              <a:t> </a:t>
            </a:r>
            <a:r>
              <a:rPr lang="en-US" u="sng" dirty="0"/>
              <a:t>the stage in the development of the malarial parasite, </a:t>
            </a:r>
            <a:r>
              <a:rPr lang="en-US" i="1" u="sng" dirty="0"/>
              <a:t>Plasmodium</a:t>
            </a:r>
            <a:r>
              <a:rPr lang="en-US" dirty="0"/>
              <a:t>, </a:t>
            </a:r>
            <a:r>
              <a:rPr lang="en-US" dirty="0">
                <a:solidFill>
                  <a:srgbClr val="0070C0"/>
                </a:solidFill>
              </a:rPr>
              <a:t>following the trophozoite</a:t>
            </a:r>
            <a:r>
              <a:rPr lang="en-US" dirty="0"/>
              <a:t>, </a:t>
            </a:r>
            <a:r>
              <a:rPr lang="en-US" u="sng" dirty="0"/>
              <a:t>whose nucleus divides into many smaller nuclei, followed by the division of the cytoplasm to surround each nucleus</a:t>
            </a:r>
            <a:r>
              <a:rPr lang="en-US" dirty="0"/>
              <a:t>, </a:t>
            </a:r>
          </a:p>
          <a:p>
            <a:pPr>
              <a:buFont typeface="Wingdings" pitchFamily="2" charset="2"/>
              <a:buChar char="v"/>
            </a:pPr>
            <a:r>
              <a:rPr lang="en-US" dirty="0"/>
              <a:t>thus forming a </a:t>
            </a:r>
            <a:r>
              <a:rPr lang="en-US" dirty="0">
                <a:solidFill>
                  <a:srgbClr val="0070C0"/>
                </a:solidFill>
              </a:rPr>
              <a:t>merozoite (merozoites).</a:t>
            </a:r>
          </a:p>
          <a:p>
            <a:pPr>
              <a:buFont typeface="Wingdings" pitchFamily="2" charset="2"/>
              <a:buChar char="v"/>
            </a:pPr>
            <a:r>
              <a:rPr lang="en-US" b="1" dirty="0">
                <a:solidFill>
                  <a:srgbClr val="0070C0"/>
                </a:solidFill>
              </a:rPr>
              <a:t>Microfilaria</a:t>
            </a:r>
            <a:r>
              <a:rPr lang="en-US" b="1" dirty="0"/>
              <a:t>:</a:t>
            </a:r>
            <a:r>
              <a:rPr lang="en-US" dirty="0"/>
              <a:t> </a:t>
            </a:r>
            <a:r>
              <a:rPr lang="en-US" u="sng" dirty="0"/>
              <a:t>the prelarval stage of the Filarioidea in the blood of humans and in the tissues of the vector</a:t>
            </a:r>
            <a:r>
              <a:rPr lang="en-US" dirty="0"/>
              <a:t>.</a:t>
            </a:r>
          </a:p>
          <a:p>
            <a:pPr marL="0" indent="0">
              <a:buNone/>
            </a:pPr>
            <a:endParaRPr lang="en-US" dirty="0"/>
          </a:p>
        </p:txBody>
      </p:sp>
    </p:spTree>
    <p:extLst>
      <p:ext uri="{BB962C8B-B14F-4D97-AF65-F5344CB8AC3E}">
        <p14:creationId xmlns:p14="http://schemas.microsoft.com/office/powerpoint/2010/main" val="89937975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C00000"/>
                </a:solidFill>
              </a:rPr>
              <a:t>Definition of Terms for Diagnostic Stages </a:t>
            </a:r>
            <a:r>
              <a:rPr lang="en-US" b="1" dirty="0"/>
              <a:t>(Cont’d.)</a:t>
            </a:r>
            <a:endParaRPr lang="en-US" dirty="0"/>
          </a:p>
        </p:txBody>
      </p:sp>
      <p:sp>
        <p:nvSpPr>
          <p:cNvPr id="3" name="Content Placeholder 2"/>
          <p:cNvSpPr>
            <a:spLocks noGrp="1"/>
          </p:cNvSpPr>
          <p:nvPr>
            <p:ph idx="1"/>
          </p:nvPr>
        </p:nvSpPr>
        <p:spPr/>
        <p:txBody>
          <a:bodyPr/>
          <a:lstStyle/>
          <a:p>
            <a:endParaRPr lang="en-US" b="1" dirty="0"/>
          </a:p>
          <a:p>
            <a:pPr>
              <a:buFont typeface="Wingdings" pitchFamily="2" charset="2"/>
              <a:buChar char="v"/>
            </a:pPr>
            <a:r>
              <a:rPr lang="en-US" b="1" dirty="0">
                <a:solidFill>
                  <a:srgbClr val="0070C0"/>
                </a:solidFill>
              </a:rPr>
              <a:t>Toxoplasm</a:t>
            </a:r>
            <a:r>
              <a:rPr lang="en-US" b="1" dirty="0"/>
              <a:t>:</a:t>
            </a:r>
            <a:r>
              <a:rPr lang="en-US" dirty="0"/>
              <a:t> the </a:t>
            </a:r>
            <a:r>
              <a:rPr lang="en-US" dirty="0">
                <a:solidFill>
                  <a:srgbClr val="0070C0"/>
                </a:solidFill>
              </a:rPr>
              <a:t>immature stage of </a:t>
            </a:r>
            <a:r>
              <a:rPr lang="en-US" i="1" dirty="0">
                <a:solidFill>
                  <a:srgbClr val="0070C0"/>
                </a:solidFill>
              </a:rPr>
              <a:t>Toxoplasma sp.</a:t>
            </a:r>
            <a:r>
              <a:rPr lang="en-US" dirty="0">
                <a:solidFill>
                  <a:srgbClr val="0070C0"/>
                </a:solidFill>
              </a:rPr>
              <a:t> </a:t>
            </a:r>
            <a:r>
              <a:rPr lang="en-US" u="sng" dirty="0"/>
              <a:t>that may be found in stained preparations of body fluids such as lymph node/gland, liver or spleen aspirates or bone marrow.</a:t>
            </a:r>
          </a:p>
          <a:p>
            <a:pPr marL="0" indent="0">
              <a:buNone/>
            </a:pPr>
            <a:endParaRPr lang="en-US" dirty="0"/>
          </a:p>
        </p:txBody>
      </p:sp>
    </p:spTree>
    <p:extLst>
      <p:ext uri="{BB962C8B-B14F-4D97-AF65-F5344CB8AC3E}">
        <p14:creationId xmlns:p14="http://schemas.microsoft.com/office/powerpoint/2010/main" val="1363873329"/>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19808" y="1265301"/>
            <a:ext cx="5953125" cy="696595"/>
          </a:xfrm>
          <a:prstGeom prst="rect">
            <a:avLst/>
          </a:prstGeom>
        </p:spPr>
        <p:txBody>
          <a:bodyPr vert="horz" wrap="square" lIns="0" tIns="13335" rIns="0" bIns="0" rtlCol="0">
            <a:spAutoFit/>
          </a:bodyPr>
          <a:lstStyle/>
          <a:p>
            <a:pPr marL="12700">
              <a:lnSpc>
                <a:spcPct val="100000"/>
              </a:lnSpc>
              <a:spcBef>
                <a:spcPts val="105"/>
              </a:spcBef>
            </a:pPr>
            <a:r>
              <a:rPr sz="4400" spc="-55" dirty="0">
                <a:latin typeface="Calibri"/>
                <a:cs typeface="Calibri"/>
              </a:rPr>
              <a:t>PARASITOLOGY </a:t>
            </a:r>
            <a:r>
              <a:rPr sz="4400" spc="-5" dirty="0">
                <a:latin typeface="Calibri"/>
                <a:cs typeface="Calibri"/>
              </a:rPr>
              <a:t>(BIOL</a:t>
            </a:r>
            <a:r>
              <a:rPr sz="4400" spc="20" dirty="0">
                <a:latin typeface="Calibri"/>
                <a:cs typeface="Calibri"/>
              </a:rPr>
              <a:t> </a:t>
            </a:r>
            <a:r>
              <a:rPr sz="4400" dirty="0">
                <a:latin typeface="Calibri"/>
                <a:cs typeface="Calibri"/>
              </a:rPr>
              <a:t>460)</a:t>
            </a:r>
            <a:endParaRPr sz="4400">
              <a:latin typeface="Calibri"/>
              <a:cs typeface="Calibri"/>
            </a:endParaRPr>
          </a:p>
        </p:txBody>
      </p:sp>
      <p:sp>
        <p:nvSpPr>
          <p:cNvPr id="3" name="object 3"/>
          <p:cNvSpPr txBox="1">
            <a:spLocks noGrp="1"/>
          </p:cNvSpPr>
          <p:nvPr>
            <p:ph type="subTitle" idx="4"/>
          </p:nvPr>
        </p:nvSpPr>
        <p:spPr>
          <a:prstGeom prst="rect">
            <a:avLst/>
          </a:prstGeom>
        </p:spPr>
        <p:txBody>
          <a:bodyPr vert="horz" wrap="square" lIns="0" tIns="12700" rIns="0" bIns="0" rtlCol="0">
            <a:spAutoFit/>
          </a:bodyPr>
          <a:lstStyle/>
          <a:p>
            <a:pPr marL="13335" marR="5080" indent="1234440">
              <a:lnSpc>
                <a:spcPct val="120000"/>
              </a:lnSpc>
              <a:spcBef>
                <a:spcPts val="100"/>
              </a:spcBef>
            </a:pPr>
            <a:r>
              <a:rPr spc="-5" dirty="0"/>
              <a:t>UNIT </a:t>
            </a:r>
            <a:r>
              <a:rPr dirty="0"/>
              <a:t>3  </a:t>
            </a:r>
            <a:r>
              <a:rPr spc="-30" dirty="0"/>
              <a:t>PARASITIC</a:t>
            </a:r>
            <a:r>
              <a:rPr spc="-45" dirty="0"/>
              <a:t> PROTOZOA</a:t>
            </a:r>
          </a:p>
        </p:txBody>
      </p:sp>
    </p:spTree>
    <p:extLst>
      <p:ext uri="{BB962C8B-B14F-4D97-AF65-F5344CB8AC3E}">
        <p14:creationId xmlns:p14="http://schemas.microsoft.com/office/powerpoint/2010/main" val="756978071"/>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33041" y="496950"/>
            <a:ext cx="4681855" cy="635000"/>
          </a:xfrm>
          <a:prstGeom prst="rect">
            <a:avLst/>
          </a:prstGeom>
        </p:spPr>
        <p:txBody>
          <a:bodyPr vert="horz" wrap="square" lIns="0" tIns="12065" rIns="0" bIns="0" rtlCol="0">
            <a:spAutoFit/>
          </a:bodyPr>
          <a:lstStyle/>
          <a:p>
            <a:pPr marL="12700">
              <a:lnSpc>
                <a:spcPct val="100000"/>
              </a:lnSpc>
              <a:spcBef>
                <a:spcPts val="95"/>
              </a:spcBef>
            </a:pPr>
            <a:r>
              <a:rPr i="0" spc="-10" dirty="0">
                <a:latin typeface="Calibri"/>
                <a:cs typeface="Calibri"/>
              </a:rPr>
              <a:t>The </a:t>
            </a:r>
            <a:r>
              <a:rPr i="0" spc="-25" dirty="0">
                <a:latin typeface="Calibri"/>
                <a:cs typeface="Calibri"/>
              </a:rPr>
              <a:t>Parasitic</a:t>
            </a:r>
            <a:r>
              <a:rPr i="0" spc="-10" dirty="0">
                <a:latin typeface="Calibri"/>
                <a:cs typeface="Calibri"/>
              </a:rPr>
              <a:t> </a:t>
            </a:r>
            <a:r>
              <a:rPr i="0" spc="-30" dirty="0">
                <a:latin typeface="Calibri"/>
                <a:cs typeface="Calibri"/>
              </a:rPr>
              <a:t>Protozoa</a:t>
            </a:r>
          </a:p>
        </p:txBody>
      </p:sp>
      <p:sp>
        <p:nvSpPr>
          <p:cNvPr id="3" name="object 3"/>
          <p:cNvSpPr txBox="1"/>
          <p:nvPr/>
        </p:nvSpPr>
        <p:spPr>
          <a:xfrm>
            <a:off x="2692654" y="2778379"/>
            <a:ext cx="3756025" cy="513715"/>
          </a:xfrm>
          <a:prstGeom prst="rect">
            <a:avLst/>
          </a:prstGeom>
        </p:spPr>
        <p:txBody>
          <a:bodyPr vert="horz" wrap="square" lIns="0" tIns="13335" rIns="0" bIns="0" rtlCol="0">
            <a:spAutoFit/>
          </a:bodyPr>
          <a:lstStyle/>
          <a:p>
            <a:pPr marL="12700">
              <a:lnSpc>
                <a:spcPct val="100000"/>
              </a:lnSpc>
              <a:spcBef>
                <a:spcPts val="105"/>
              </a:spcBef>
            </a:pPr>
            <a:r>
              <a:rPr sz="3200" b="1" spc="-5" dirty="0">
                <a:latin typeface="Calibri"/>
                <a:cs typeface="Calibri"/>
              </a:rPr>
              <a:t>The </a:t>
            </a:r>
            <a:r>
              <a:rPr sz="3200" b="1" spc="-15" dirty="0">
                <a:latin typeface="Calibri"/>
                <a:cs typeface="Calibri"/>
              </a:rPr>
              <a:t>Parasitic</a:t>
            </a:r>
            <a:r>
              <a:rPr sz="3200" b="1" spc="-75" dirty="0">
                <a:latin typeface="Calibri"/>
                <a:cs typeface="Calibri"/>
              </a:rPr>
              <a:t> </a:t>
            </a:r>
            <a:r>
              <a:rPr sz="3200" b="1" spc="-20" dirty="0">
                <a:latin typeface="Calibri"/>
                <a:cs typeface="Calibri"/>
              </a:rPr>
              <a:t>Protozoa</a:t>
            </a:r>
            <a:endParaRPr sz="3200">
              <a:latin typeface="Calibri"/>
              <a:cs typeface="Calibri"/>
            </a:endParaRPr>
          </a:p>
        </p:txBody>
      </p:sp>
      <p:sp>
        <p:nvSpPr>
          <p:cNvPr id="4" name="object 4"/>
          <p:cNvSpPr txBox="1"/>
          <p:nvPr/>
        </p:nvSpPr>
        <p:spPr>
          <a:xfrm>
            <a:off x="811783" y="3272196"/>
            <a:ext cx="3945890" cy="1190625"/>
          </a:xfrm>
          <a:prstGeom prst="rect">
            <a:avLst/>
          </a:prstGeom>
        </p:spPr>
        <p:txBody>
          <a:bodyPr vert="horz" wrap="square" lIns="0" tIns="107314" rIns="0" bIns="0" rtlCol="0">
            <a:spAutoFit/>
          </a:bodyPr>
          <a:lstStyle/>
          <a:p>
            <a:pPr marR="280035" algn="ctr">
              <a:lnSpc>
                <a:spcPct val="100000"/>
              </a:lnSpc>
              <a:spcBef>
                <a:spcPts val="844"/>
              </a:spcBef>
            </a:pPr>
            <a:r>
              <a:rPr sz="3200" spc="5" dirty="0">
                <a:latin typeface="Wingdings"/>
                <a:cs typeface="Wingdings"/>
              </a:rPr>
              <a:t></a:t>
            </a:r>
            <a:endParaRPr sz="3200">
              <a:latin typeface="Wingdings"/>
              <a:cs typeface="Wingdings"/>
            </a:endParaRPr>
          </a:p>
          <a:p>
            <a:pPr marL="12700">
              <a:lnSpc>
                <a:spcPct val="100000"/>
              </a:lnSpc>
              <a:spcBef>
                <a:spcPts val="745"/>
              </a:spcBef>
              <a:tabLst>
                <a:tab pos="1778000" algn="l"/>
              </a:tabLst>
            </a:pPr>
            <a:r>
              <a:rPr sz="3200" b="1" spc="-10" dirty="0">
                <a:latin typeface="Calibri"/>
                <a:cs typeface="Calibri"/>
              </a:rPr>
              <a:t>Intestinal	</a:t>
            </a:r>
            <a:r>
              <a:rPr sz="3200" b="1" dirty="0">
                <a:latin typeface="Calibri"/>
                <a:cs typeface="Calibri"/>
              </a:rPr>
              <a:t>&amp;</a:t>
            </a:r>
            <a:r>
              <a:rPr sz="3200" b="1" spc="-80" dirty="0">
                <a:latin typeface="Calibri"/>
                <a:cs typeface="Calibri"/>
              </a:rPr>
              <a:t> </a:t>
            </a:r>
            <a:r>
              <a:rPr sz="3200" b="1" spc="-10" dirty="0">
                <a:latin typeface="Calibri"/>
                <a:cs typeface="Calibri"/>
              </a:rPr>
              <a:t>Urogenital</a:t>
            </a:r>
            <a:endParaRPr sz="3200">
              <a:latin typeface="Calibri"/>
              <a:cs typeface="Calibri"/>
            </a:endParaRPr>
          </a:p>
        </p:txBody>
      </p:sp>
      <p:sp>
        <p:nvSpPr>
          <p:cNvPr id="5" name="object 5"/>
          <p:cNvSpPr txBox="1"/>
          <p:nvPr/>
        </p:nvSpPr>
        <p:spPr>
          <a:xfrm>
            <a:off x="5925997" y="3272196"/>
            <a:ext cx="2237740" cy="1190625"/>
          </a:xfrm>
          <a:prstGeom prst="rect">
            <a:avLst/>
          </a:prstGeom>
        </p:spPr>
        <p:txBody>
          <a:bodyPr vert="horz" wrap="square" lIns="0" tIns="107314" rIns="0" bIns="0" rtlCol="0">
            <a:spAutoFit/>
          </a:bodyPr>
          <a:lstStyle/>
          <a:p>
            <a:pPr marL="462915">
              <a:lnSpc>
                <a:spcPct val="100000"/>
              </a:lnSpc>
              <a:spcBef>
                <a:spcPts val="844"/>
              </a:spcBef>
            </a:pPr>
            <a:r>
              <a:rPr sz="3200" spc="5" dirty="0">
                <a:latin typeface="Wingdings"/>
                <a:cs typeface="Wingdings"/>
              </a:rPr>
              <a:t></a:t>
            </a:r>
            <a:endParaRPr sz="3200">
              <a:latin typeface="Wingdings"/>
              <a:cs typeface="Wingdings"/>
            </a:endParaRPr>
          </a:p>
          <a:p>
            <a:pPr marL="12700">
              <a:lnSpc>
                <a:spcPct val="100000"/>
              </a:lnSpc>
              <a:spcBef>
                <a:spcPts val="745"/>
              </a:spcBef>
            </a:pPr>
            <a:r>
              <a:rPr sz="3200" b="1" dirty="0">
                <a:latin typeface="Calibri"/>
                <a:cs typeface="Calibri"/>
              </a:rPr>
              <a:t>Blood/Tissue</a:t>
            </a:r>
            <a:endParaRPr sz="3200">
              <a:latin typeface="Calibri"/>
              <a:cs typeface="Calibri"/>
            </a:endParaRPr>
          </a:p>
        </p:txBody>
      </p:sp>
    </p:spTree>
    <p:extLst>
      <p:ext uri="{BB962C8B-B14F-4D97-AF65-F5344CB8AC3E}">
        <p14:creationId xmlns:p14="http://schemas.microsoft.com/office/powerpoint/2010/main" val="344879323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5356555"/>
            <a:ext cx="7574915" cy="327025"/>
          </a:xfrm>
          <a:custGeom>
            <a:avLst/>
            <a:gdLst/>
            <a:ahLst/>
            <a:cxnLst/>
            <a:rect l="l" t="t" r="r" b="b"/>
            <a:pathLst>
              <a:path w="7574915" h="327025">
                <a:moveTo>
                  <a:pt x="0" y="0"/>
                </a:moveTo>
                <a:lnTo>
                  <a:pt x="7574660" y="0"/>
                </a:lnTo>
                <a:lnTo>
                  <a:pt x="7574660" y="326516"/>
                </a:lnTo>
                <a:lnTo>
                  <a:pt x="0" y="326516"/>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7114361" y="4943017"/>
            <a:ext cx="1238885" cy="314960"/>
          </a:xfrm>
          <a:custGeom>
            <a:avLst/>
            <a:gdLst/>
            <a:ahLst/>
            <a:cxnLst/>
            <a:rect l="l" t="t" r="r" b="b"/>
            <a:pathLst>
              <a:path w="1238884" h="314960">
                <a:moveTo>
                  <a:pt x="0" y="0"/>
                </a:moveTo>
                <a:lnTo>
                  <a:pt x="1238478" y="0"/>
                </a:lnTo>
                <a:lnTo>
                  <a:pt x="1238478" y="314566"/>
                </a:lnTo>
                <a:lnTo>
                  <a:pt x="0" y="314566"/>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891844" y="3526967"/>
            <a:ext cx="1914525" cy="263525"/>
          </a:xfrm>
          <a:custGeom>
            <a:avLst/>
            <a:gdLst/>
            <a:ahLst/>
            <a:cxnLst/>
            <a:rect l="l" t="t" r="r" b="b"/>
            <a:pathLst>
              <a:path w="1914525" h="263525">
                <a:moveTo>
                  <a:pt x="0" y="0"/>
                </a:moveTo>
                <a:lnTo>
                  <a:pt x="1914169" y="0"/>
                </a:lnTo>
                <a:lnTo>
                  <a:pt x="1914169" y="263093"/>
                </a:lnTo>
                <a:lnTo>
                  <a:pt x="0" y="263093"/>
                </a:lnTo>
                <a:lnTo>
                  <a:pt x="0" y="0"/>
                </a:lnTo>
                <a:close/>
              </a:path>
            </a:pathLst>
          </a:custGeom>
          <a:solidFill>
            <a:srgbClr val="FFED00"/>
          </a:solidFill>
        </p:spPr>
        <p:txBody>
          <a:bodyPr wrap="square" lIns="0" tIns="0" rIns="0" bIns="0" rtlCol="0"/>
          <a:lstStyle/>
          <a:p>
            <a:endParaRPr/>
          </a:p>
        </p:txBody>
      </p:sp>
      <p:sp>
        <p:nvSpPr>
          <p:cNvPr id="5" name="object 5"/>
          <p:cNvSpPr/>
          <p:nvPr/>
        </p:nvSpPr>
        <p:spPr>
          <a:xfrm>
            <a:off x="891844" y="2683636"/>
            <a:ext cx="7602220" cy="347345"/>
          </a:xfrm>
          <a:custGeom>
            <a:avLst/>
            <a:gdLst/>
            <a:ahLst/>
            <a:cxnLst/>
            <a:rect l="l" t="t" r="r" b="b"/>
            <a:pathLst>
              <a:path w="7602220" h="347344">
                <a:moveTo>
                  <a:pt x="0" y="0"/>
                </a:moveTo>
                <a:lnTo>
                  <a:pt x="7601711" y="0"/>
                </a:lnTo>
                <a:lnTo>
                  <a:pt x="7601711" y="347090"/>
                </a:lnTo>
                <a:lnTo>
                  <a:pt x="0" y="347090"/>
                </a:lnTo>
                <a:lnTo>
                  <a:pt x="0" y="0"/>
                </a:lnTo>
                <a:close/>
              </a:path>
            </a:pathLst>
          </a:custGeom>
          <a:solidFill>
            <a:srgbClr val="FFED00"/>
          </a:solidFill>
        </p:spPr>
        <p:txBody>
          <a:bodyPr wrap="square" lIns="0" tIns="0" rIns="0" bIns="0" rtlCol="0"/>
          <a:lstStyle/>
          <a:p>
            <a:endParaRPr/>
          </a:p>
        </p:txBody>
      </p:sp>
      <p:sp>
        <p:nvSpPr>
          <p:cNvPr id="6" name="object 6"/>
          <p:cNvSpPr txBox="1">
            <a:spLocks noGrp="1"/>
          </p:cNvSpPr>
          <p:nvPr>
            <p:ph type="title"/>
          </p:nvPr>
        </p:nvSpPr>
        <p:spPr>
          <a:xfrm>
            <a:off x="3172205" y="461899"/>
            <a:ext cx="2802890" cy="696595"/>
          </a:xfrm>
          <a:prstGeom prst="rect">
            <a:avLst/>
          </a:prstGeom>
        </p:spPr>
        <p:txBody>
          <a:bodyPr vert="horz" wrap="square" lIns="0" tIns="13335" rIns="0" bIns="0" rtlCol="0">
            <a:spAutoFit/>
          </a:bodyPr>
          <a:lstStyle/>
          <a:p>
            <a:pPr marL="12700">
              <a:lnSpc>
                <a:spcPct val="100000"/>
              </a:lnSpc>
              <a:spcBef>
                <a:spcPts val="105"/>
              </a:spcBef>
            </a:pPr>
            <a:r>
              <a:rPr sz="4400" b="0" i="0" spc="-5" dirty="0">
                <a:latin typeface="Calibri"/>
                <a:cs typeface="Calibri"/>
              </a:rPr>
              <a:t>A</a:t>
            </a:r>
            <a:r>
              <a:rPr sz="4400" i="0" spc="-5" dirty="0">
                <a:latin typeface="Calibri"/>
                <a:cs typeface="Calibri"/>
              </a:rPr>
              <a:t>.</a:t>
            </a:r>
            <a:r>
              <a:rPr sz="4400" i="0" spc="-65" dirty="0">
                <a:latin typeface="Calibri"/>
                <a:cs typeface="Calibri"/>
              </a:rPr>
              <a:t> </a:t>
            </a:r>
            <a:r>
              <a:rPr sz="4400" i="0" spc="-15" dirty="0">
                <a:latin typeface="Calibri"/>
                <a:cs typeface="Calibri"/>
              </a:rPr>
              <a:t>Intestinal</a:t>
            </a:r>
            <a:endParaRPr sz="4400">
              <a:latin typeface="Calibri"/>
              <a:cs typeface="Calibri"/>
            </a:endParaRPr>
          </a:p>
        </p:txBody>
      </p:sp>
      <p:sp>
        <p:nvSpPr>
          <p:cNvPr id="7" name="object 7"/>
          <p:cNvSpPr txBox="1"/>
          <p:nvPr/>
        </p:nvSpPr>
        <p:spPr>
          <a:xfrm>
            <a:off x="535940" y="1517269"/>
            <a:ext cx="8039100" cy="4187825"/>
          </a:xfrm>
          <a:prstGeom prst="rect">
            <a:avLst/>
          </a:prstGeom>
        </p:spPr>
        <p:txBody>
          <a:bodyPr vert="horz" wrap="square" lIns="0" tIns="58419" rIns="0" bIns="0" rtlCol="0">
            <a:spAutoFit/>
          </a:bodyPr>
          <a:lstStyle/>
          <a:p>
            <a:pPr marL="3131185">
              <a:lnSpc>
                <a:spcPct val="100000"/>
              </a:lnSpc>
              <a:spcBef>
                <a:spcPts val="459"/>
              </a:spcBef>
            </a:pPr>
            <a:r>
              <a:rPr sz="3000" b="1" dirty="0">
                <a:latin typeface="Calibri"/>
                <a:cs typeface="Calibri"/>
              </a:rPr>
              <a:t>a.</a:t>
            </a:r>
            <a:r>
              <a:rPr sz="3000" b="1" spc="-15" dirty="0">
                <a:latin typeface="Calibri"/>
                <a:cs typeface="Calibri"/>
              </a:rPr>
              <a:t> </a:t>
            </a:r>
            <a:r>
              <a:rPr sz="3000" b="1" spc="-5" dirty="0">
                <a:latin typeface="Calibri"/>
                <a:cs typeface="Calibri"/>
              </a:rPr>
              <a:t>Amoebae</a:t>
            </a:r>
            <a:endParaRPr sz="3000">
              <a:latin typeface="Calibri"/>
              <a:cs typeface="Calibri"/>
            </a:endParaRPr>
          </a:p>
          <a:p>
            <a:pPr marL="355600" indent="-343535">
              <a:lnSpc>
                <a:spcPct val="100000"/>
              </a:lnSpc>
              <a:spcBef>
                <a:spcPts val="365"/>
              </a:spcBef>
              <a:buSzPct val="96666"/>
              <a:buFont typeface="Wingdings"/>
              <a:buChar char=""/>
              <a:tabLst>
                <a:tab pos="356235" algn="l"/>
              </a:tabLst>
            </a:pPr>
            <a:r>
              <a:rPr sz="3000" b="1" i="1" spc="-10" dirty="0">
                <a:latin typeface="Calibri"/>
                <a:cs typeface="Calibri"/>
              </a:rPr>
              <a:t>Entamoeba</a:t>
            </a:r>
            <a:r>
              <a:rPr sz="3000" b="1" i="1" spc="5" dirty="0">
                <a:latin typeface="Calibri"/>
                <a:cs typeface="Calibri"/>
              </a:rPr>
              <a:t> </a:t>
            </a:r>
            <a:r>
              <a:rPr sz="3000" b="1" i="1" spc="-10" dirty="0">
                <a:latin typeface="Calibri"/>
                <a:cs typeface="Calibri"/>
              </a:rPr>
              <a:t>histolytica</a:t>
            </a:r>
            <a:endParaRPr sz="3000">
              <a:latin typeface="Calibri"/>
              <a:cs typeface="Calibri"/>
            </a:endParaRPr>
          </a:p>
          <a:p>
            <a:pPr marL="355600" marR="73660" indent="-343535">
              <a:lnSpc>
                <a:spcPts val="3240"/>
              </a:lnSpc>
              <a:spcBef>
                <a:spcPts val="765"/>
              </a:spcBef>
              <a:buSzPct val="96666"/>
              <a:buFont typeface="Wingdings"/>
              <a:buChar char=""/>
              <a:tabLst>
                <a:tab pos="356235" algn="l"/>
              </a:tabLst>
            </a:pPr>
            <a:r>
              <a:rPr sz="3000" spc="-5" dirty="0">
                <a:latin typeface="Calibri"/>
                <a:cs typeface="Calibri"/>
              </a:rPr>
              <a:t>Only </a:t>
            </a:r>
            <a:r>
              <a:rPr sz="3000" dirty="0">
                <a:latin typeface="Calibri"/>
                <a:cs typeface="Calibri"/>
              </a:rPr>
              <a:t>a </a:t>
            </a:r>
            <a:r>
              <a:rPr sz="3000" spc="-35" dirty="0">
                <a:latin typeface="Calibri"/>
                <a:cs typeface="Calibri"/>
              </a:rPr>
              <a:t>few </a:t>
            </a:r>
            <a:r>
              <a:rPr sz="3000" spc="-15" dirty="0">
                <a:latin typeface="Calibri"/>
                <a:cs typeface="Calibri"/>
              </a:rPr>
              <a:t>strains </a:t>
            </a:r>
            <a:r>
              <a:rPr sz="3000" spc="-5" dirty="0">
                <a:latin typeface="Calibri"/>
                <a:cs typeface="Calibri"/>
              </a:rPr>
              <a:t>of this </a:t>
            </a:r>
            <a:r>
              <a:rPr sz="3000" spc="-15" dirty="0">
                <a:latin typeface="Calibri"/>
                <a:cs typeface="Calibri"/>
              </a:rPr>
              <a:t>parasite are </a:t>
            </a:r>
            <a:r>
              <a:rPr sz="3000" spc="-10" dirty="0">
                <a:latin typeface="Calibri"/>
                <a:cs typeface="Calibri"/>
              </a:rPr>
              <a:t>pathogenic.  </a:t>
            </a:r>
            <a:r>
              <a:rPr sz="3000" spc="-5" dirty="0">
                <a:latin typeface="Calibri"/>
                <a:cs typeface="Calibri"/>
              </a:rPr>
              <a:t>The </a:t>
            </a:r>
            <a:r>
              <a:rPr sz="3000" spc="-15" dirty="0">
                <a:latin typeface="Calibri"/>
                <a:cs typeface="Calibri"/>
              </a:rPr>
              <a:t>infection </a:t>
            </a:r>
            <a:r>
              <a:rPr sz="3000" spc="-5" dirty="0">
                <a:latin typeface="Calibri"/>
                <a:cs typeface="Calibri"/>
              </a:rPr>
              <a:t>causes </a:t>
            </a:r>
            <a:r>
              <a:rPr sz="3000" dirty="0">
                <a:latin typeface="Calibri"/>
                <a:cs typeface="Calibri"/>
              </a:rPr>
              <a:t>the </a:t>
            </a:r>
            <a:r>
              <a:rPr sz="3000" spc="-10" dirty="0">
                <a:latin typeface="Calibri"/>
                <a:cs typeface="Calibri"/>
              </a:rPr>
              <a:t>disease </a:t>
            </a:r>
            <a:r>
              <a:rPr sz="3000" spc="-5" dirty="0">
                <a:latin typeface="Calibri"/>
                <a:cs typeface="Calibri"/>
              </a:rPr>
              <a:t>known </a:t>
            </a:r>
            <a:r>
              <a:rPr sz="3000" dirty="0">
                <a:latin typeface="Calibri"/>
                <a:cs typeface="Calibri"/>
              </a:rPr>
              <a:t>as  </a:t>
            </a:r>
            <a:r>
              <a:rPr sz="3000" b="1" spc="-5" dirty="0">
                <a:latin typeface="Calibri"/>
                <a:cs typeface="Calibri"/>
              </a:rPr>
              <a:t>Amoebiasis</a:t>
            </a:r>
            <a:r>
              <a:rPr sz="3000" spc="-5" dirty="0">
                <a:latin typeface="Calibri"/>
                <a:cs typeface="Calibri"/>
              </a:rPr>
              <a:t>.</a:t>
            </a:r>
            <a:endParaRPr sz="3000">
              <a:latin typeface="Calibri"/>
              <a:cs typeface="Calibri"/>
            </a:endParaRPr>
          </a:p>
          <a:p>
            <a:pPr marL="3093085">
              <a:lnSpc>
                <a:spcPct val="100000"/>
              </a:lnSpc>
              <a:spcBef>
                <a:spcPts val="315"/>
              </a:spcBef>
            </a:pPr>
            <a:r>
              <a:rPr sz="3000" b="1" spc="-5" dirty="0">
                <a:latin typeface="Calibri"/>
                <a:cs typeface="Calibri"/>
              </a:rPr>
              <a:t>Distribution</a:t>
            </a:r>
            <a:endParaRPr sz="3000">
              <a:latin typeface="Calibri"/>
              <a:cs typeface="Calibri"/>
            </a:endParaRPr>
          </a:p>
          <a:p>
            <a:pPr marL="355600" marR="5080" indent="-343535">
              <a:lnSpc>
                <a:spcPct val="90000"/>
              </a:lnSpc>
              <a:spcBef>
                <a:spcPts val="720"/>
              </a:spcBef>
              <a:buSzPct val="96666"/>
              <a:buFont typeface="Wingdings"/>
              <a:buChar char=""/>
              <a:tabLst>
                <a:tab pos="356235" algn="l"/>
              </a:tabLst>
            </a:pPr>
            <a:r>
              <a:rPr sz="3000" spc="-15" dirty="0">
                <a:latin typeface="Calibri"/>
                <a:cs typeface="Calibri"/>
              </a:rPr>
              <a:t>Many </a:t>
            </a:r>
            <a:r>
              <a:rPr sz="3000" spc="-5" dirty="0">
                <a:latin typeface="Calibri"/>
                <a:cs typeface="Calibri"/>
              </a:rPr>
              <a:t>parts of </a:t>
            </a:r>
            <a:r>
              <a:rPr sz="3000" spc="-15" dirty="0">
                <a:latin typeface="Calibri"/>
                <a:cs typeface="Calibri"/>
              </a:rPr>
              <a:t>tropical </a:t>
            </a:r>
            <a:r>
              <a:rPr sz="3000" dirty="0">
                <a:latin typeface="Calibri"/>
                <a:cs typeface="Calibri"/>
              </a:rPr>
              <a:t>and </a:t>
            </a:r>
            <a:r>
              <a:rPr sz="3000" spc="-15" dirty="0">
                <a:latin typeface="Calibri"/>
                <a:cs typeface="Calibri"/>
              </a:rPr>
              <a:t>subtropical </a:t>
            </a:r>
            <a:r>
              <a:rPr sz="3000" spc="-10" dirty="0">
                <a:latin typeface="Calibri"/>
                <a:cs typeface="Calibri"/>
              </a:rPr>
              <a:t>Africa,  </a:t>
            </a:r>
            <a:r>
              <a:rPr sz="3000" dirty="0">
                <a:latin typeface="Calibri"/>
                <a:cs typeface="Calibri"/>
              </a:rPr>
              <a:t>Asia, </a:t>
            </a:r>
            <a:r>
              <a:rPr sz="3000" spc="-25" dirty="0">
                <a:latin typeface="Calibri"/>
                <a:cs typeface="Calibri"/>
              </a:rPr>
              <a:t>Mexico, </a:t>
            </a:r>
            <a:r>
              <a:rPr sz="3000" spc="-5" dirty="0">
                <a:latin typeface="Calibri"/>
                <a:cs typeface="Calibri"/>
              </a:rPr>
              <a:t>S. </a:t>
            </a:r>
            <a:r>
              <a:rPr sz="3000" spc="-10" dirty="0">
                <a:latin typeface="Calibri"/>
                <a:cs typeface="Calibri"/>
              </a:rPr>
              <a:t>America </a:t>
            </a:r>
            <a:r>
              <a:rPr sz="3000" dirty="0">
                <a:latin typeface="Calibri"/>
                <a:cs typeface="Calibri"/>
              </a:rPr>
              <a:t>and </a:t>
            </a:r>
            <a:r>
              <a:rPr sz="3000" spc="-10" dirty="0">
                <a:latin typeface="Calibri"/>
                <a:cs typeface="Calibri"/>
              </a:rPr>
              <a:t>China, </a:t>
            </a:r>
            <a:r>
              <a:rPr sz="3000" dirty="0">
                <a:latin typeface="Calibri"/>
                <a:cs typeface="Calibri"/>
              </a:rPr>
              <a:t>and </a:t>
            </a:r>
            <a:r>
              <a:rPr sz="3000" spc="-10" dirty="0">
                <a:latin typeface="Calibri"/>
                <a:cs typeface="Calibri"/>
              </a:rPr>
              <a:t>areas </a:t>
            </a:r>
            <a:r>
              <a:rPr sz="3000" spc="-5" dirty="0">
                <a:latin typeface="Calibri"/>
                <a:cs typeface="Calibri"/>
              </a:rPr>
              <a:t>of  </a:t>
            </a:r>
            <a:r>
              <a:rPr sz="3000" spc="-10" dirty="0">
                <a:latin typeface="Calibri"/>
                <a:cs typeface="Calibri"/>
              </a:rPr>
              <a:t>inadequate sanitation </a:t>
            </a:r>
            <a:r>
              <a:rPr sz="3000" dirty="0">
                <a:latin typeface="Calibri"/>
                <a:cs typeface="Calibri"/>
              </a:rPr>
              <a:t>and </a:t>
            </a:r>
            <a:r>
              <a:rPr sz="3000" spc="-5" dirty="0">
                <a:latin typeface="Calibri"/>
                <a:cs typeface="Calibri"/>
              </a:rPr>
              <a:t>poor </a:t>
            </a:r>
            <a:r>
              <a:rPr sz="3000" spc="-15" dirty="0">
                <a:latin typeface="Calibri"/>
                <a:cs typeface="Calibri"/>
              </a:rPr>
              <a:t>personal</a:t>
            </a:r>
            <a:r>
              <a:rPr sz="3000" spc="-35" dirty="0">
                <a:latin typeface="Calibri"/>
                <a:cs typeface="Calibri"/>
              </a:rPr>
              <a:t> </a:t>
            </a:r>
            <a:r>
              <a:rPr sz="3000" spc="-15" dirty="0">
                <a:latin typeface="Calibri"/>
                <a:cs typeface="Calibri"/>
              </a:rPr>
              <a:t>hygiene.</a:t>
            </a:r>
            <a:endParaRPr sz="3000">
              <a:latin typeface="Calibri"/>
              <a:cs typeface="Calibri"/>
            </a:endParaRPr>
          </a:p>
        </p:txBody>
      </p:sp>
    </p:spTree>
    <p:extLst>
      <p:ext uri="{BB962C8B-B14F-4D97-AF65-F5344CB8AC3E}">
        <p14:creationId xmlns:p14="http://schemas.microsoft.com/office/powerpoint/2010/main" val="336318618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2605" y="461899"/>
            <a:ext cx="4017645" cy="696595"/>
          </a:xfrm>
          <a:prstGeom prst="rect">
            <a:avLst/>
          </a:prstGeom>
        </p:spPr>
        <p:txBody>
          <a:bodyPr vert="horz" wrap="square" lIns="0" tIns="13335" rIns="0" bIns="0" rtlCol="0">
            <a:spAutoFit/>
          </a:bodyPr>
          <a:lstStyle/>
          <a:p>
            <a:pPr marL="12700">
              <a:lnSpc>
                <a:spcPct val="100000"/>
              </a:lnSpc>
              <a:spcBef>
                <a:spcPts val="105"/>
              </a:spcBef>
            </a:pPr>
            <a:r>
              <a:rPr sz="4400" b="0" i="0" spc="-15" dirty="0">
                <a:latin typeface="Calibri"/>
                <a:cs typeface="Calibri"/>
              </a:rPr>
              <a:t>Intestinal</a:t>
            </a:r>
            <a:r>
              <a:rPr sz="4400" b="0" i="0" spc="-25" dirty="0">
                <a:latin typeface="Calibri"/>
                <a:cs typeface="Calibri"/>
              </a:rPr>
              <a:t> </a:t>
            </a:r>
            <a:r>
              <a:rPr sz="4400" b="0" i="0" spc="-35" dirty="0">
                <a:latin typeface="Calibri"/>
                <a:cs typeface="Calibri"/>
              </a:rPr>
              <a:t>(cont’d)</a:t>
            </a:r>
            <a:endParaRPr sz="4400">
              <a:latin typeface="Calibri"/>
              <a:cs typeface="Calibri"/>
            </a:endParaRPr>
          </a:p>
        </p:txBody>
      </p:sp>
      <p:sp>
        <p:nvSpPr>
          <p:cNvPr id="3" name="object 3"/>
          <p:cNvSpPr txBox="1"/>
          <p:nvPr/>
        </p:nvSpPr>
        <p:spPr>
          <a:xfrm>
            <a:off x="535940" y="1509941"/>
            <a:ext cx="7943215" cy="2757805"/>
          </a:xfrm>
          <a:prstGeom prst="rect">
            <a:avLst/>
          </a:prstGeom>
        </p:spPr>
        <p:txBody>
          <a:bodyPr vert="horz" wrap="square" lIns="0" tIns="110489" rIns="0" bIns="0" rtlCol="0">
            <a:spAutoFit/>
          </a:bodyPr>
          <a:lstStyle/>
          <a:p>
            <a:pPr marL="2939415">
              <a:lnSpc>
                <a:spcPct val="100000"/>
              </a:lnSpc>
              <a:spcBef>
                <a:spcPts val="869"/>
              </a:spcBef>
            </a:pPr>
            <a:r>
              <a:rPr sz="3200" b="1" spc="-20" dirty="0">
                <a:latin typeface="Calibri"/>
                <a:cs typeface="Calibri"/>
              </a:rPr>
              <a:t>Transmission</a:t>
            </a:r>
            <a:endParaRPr sz="3200">
              <a:latin typeface="Calibri"/>
              <a:cs typeface="Calibri"/>
            </a:endParaRPr>
          </a:p>
          <a:p>
            <a:pPr marL="355600" indent="-343535">
              <a:lnSpc>
                <a:spcPct val="100000"/>
              </a:lnSpc>
              <a:spcBef>
                <a:spcPts val="770"/>
              </a:spcBef>
              <a:buSzPct val="96875"/>
              <a:buFont typeface="Wingdings"/>
              <a:buChar char=""/>
              <a:tabLst>
                <a:tab pos="376555" algn="l"/>
              </a:tabLst>
            </a:pPr>
            <a:r>
              <a:rPr sz="3200" spc="-20" dirty="0">
                <a:latin typeface="Calibri"/>
                <a:cs typeface="Calibri"/>
              </a:rPr>
              <a:t>By </a:t>
            </a:r>
            <a:r>
              <a:rPr sz="3200" spc="-10" dirty="0">
                <a:latin typeface="Calibri"/>
                <a:cs typeface="Calibri"/>
              </a:rPr>
              <a:t>ingestion </a:t>
            </a:r>
            <a:r>
              <a:rPr sz="3200" spc="-5" dirty="0">
                <a:latin typeface="Calibri"/>
                <a:cs typeface="Calibri"/>
              </a:rPr>
              <a:t>of </a:t>
            </a:r>
            <a:r>
              <a:rPr sz="3200" spc="-20" dirty="0">
                <a:latin typeface="Calibri"/>
                <a:cs typeface="Calibri"/>
              </a:rPr>
              <a:t>infective </a:t>
            </a:r>
            <a:r>
              <a:rPr sz="3200" spc="-15" dirty="0">
                <a:latin typeface="Calibri"/>
                <a:cs typeface="Calibri"/>
              </a:rPr>
              <a:t>cysts </a:t>
            </a:r>
            <a:r>
              <a:rPr sz="3200" dirty="0">
                <a:latin typeface="Calibri"/>
                <a:cs typeface="Calibri"/>
              </a:rPr>
              <a:t>in </a:t>
            </a:r>
            <a:r>
              <a:rPr sz="3200" spc="-20" dirty="0">
                <a:latin typeface="Calibri"/>
                <a:cs typeface="Calibri"/>
              </a:rPr>
              <a:t>food </a:t>
            </a:r>
            <a:r>
              <a:rPr sz="3200" spc="-5" dirty="0">
                <a:latin typeface="Calibri"/>
                <a:cs typeface="Calibri"/>
              </a:rPr>
              <a:t>or </a:t>
            </a:r>
            <a:r>
              <a:rPr sz="3200" spc="-25" dirty="0">
                <a:latin typeface="Calibri"/>
                <a:cs typeface="Calibri"/>
              </a:rPr>
              <a:t>water  </a:t>
            </a:r>
            <a:r>
              <a:rPr sz="3200" spc="-15" dirty="0">
                <a:latin typeface="Calibri"/>
                <a:cs typeface="Calibri"/>
              </a:rPr>
              <a:t>contaminated </a:t>
            </a:r>
            <a:r>
              <a:rPr sz="3200" dirty="0">
                <a:latin typeface="Calibri"/>
                <a:cs typeface="Calibri"/>
              </a:rPr>
              <a:t>with </a:t>
            </a:r>
            <a:r>
              <a:rPr sz="3200" spc="-15" dirty="0">
                <a:latin typeface="Calibri"/>
                <a:cs typeface="Calibri"/>
              </a:rPr>
              <a:t>sewage </a:t>
            </a:r>
            <a:r>
              <a:rPr sz="3200" spc="-5" dirty="0">
                <a:latin typeface="Calibri"/>
                <a:cs typeface="Calibri"/>
              </a:rPr>
              <a:t>or hands  </a:t>
            </a:r>
            <a:r>
              <a:rPr sz="3200" spc="-15" dirty="0">
                <a:latin typeface="Calibri"/>
                <a:cs typeface="Calibri"/>
              </a:rPr>
              <a:t>contaminated </a:t>
            </a:r>
            <a:r>
              <a:rPr sz="3200" spc="-5" dirty="0">
                <a:latin typeface="Calibri"/>
                <a:cs typeface="Calibri"/>
              </a:rPr>
              <a:t>with</a:t>
            </a:r>
            <a:r>
              <a:rPr sz="3200" spc="45" dirty="0">
                <a:latin typeface="Calibri"/>
                <a:cs typeface="Calibri"/>
              </a:rPr>
              <a:t> </a:t>
            </a:r>
            <a:r>
              <a:rPr sz="3200" spc="-10" dirty="0">
                <a:latin typeface="Calibri"/>
                <a:cs typeface="Calibri"/>
              </a:rPr>
              <a:t>faeces.</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30" dirty="0">
                <a:latin typeface="Calibri"/>
                <a:cs typeface="Calibri"/>
              </a:rPr>
              <a:t>Transmission </a:t>
            </a:r>
            <a:r>
              <a:rPr sz="3200" spc="-20" dirty="0">
                <a:latin typeface="Calibri"/>
                <a:cs typeface="Calibri"/>
              </a:rPr>
              <a:t>may </a:t>
            </a:r>
            <a:r>
              <a:rPr sz="3200" dirty="0">
                <a:latin typeface="Calibri"/>
                <a:cs typeface="Calibri"/>
              </a:rPr>
              <a:t>also </a:t>
            </a:r>
            <a:r>
              <a:rPr sz="3200" spc="-5" dirty="0">
                <a:latin typeface="Calibri"/>
                <a:cs typeface="Calibri"/>
              </a:rPr>
              <a:t>occur </a:t>
            </a:r>
            <a:r>
              <a:rPr sz="3200" spc="-10" dirty="0">
                <a:latin typeface="Calibri"/>
                <a:cs typeface="Calibri"/>
              </a:rPr>
              <a:t>by </a:t>
            </a:r>
            <a:r>
              <a:rPr sz="3200" spc="-5" dirty="0">
                <a:latin typeface="Calibri"/>
                <a:cs typeface="Calibri"/>
              </a:rPr>
              <a:t>flies</a:t>
            </a:r>
            <a:r>
              <a:rPr sz="3200" spc="80" dirty="0">
                <a:latin typeface="Calibri"/>
                <a:cs typeface="Calibri"/>
              </a:rPr>
              <a:t> </a:t>
            </a:r>
            <a:r>
              <a:rPr sz="3200" spc="-15" dirty="0">
                <a:latin typeface="Calibri"/>
                <a:cs typeface="Calibri"/>
              </a:rPr>
              <a:t>feeding</a:t>
            </a:r>
            <a:endParaRPr sz="3200">
              <a:latin typeface="Calibri"/>
              <a:cs typeface="Calibri"/>
            </a:endParaRPr>
          </a:p>
        </p:txBody>
      </p:sp>
      <p:sp>
        <p:nvSpPr>
          <p:cNvPr id="4" name="object 4"/>
          <p:cNvSpPr txBox="1"/>
          <p:nvPr/>
        </p:nvSpPr>
        <p:spPr>
          <a:xfrm>
            <a:off x="891844" y="4382960"/>
            <a:ext cx="6303645" cy="350520"/>
          </a:xfrm>
          <a:prstGeom prst="rect">
            <a:avLst/>
          </a:prstGeom>
          <a:solidFill>
            <a:srgbClr val="FFED00">
              <a:alpha val="50000"/>
            </a:srgbClr>
          </a:solidFill>
        </p:spPr>
        <p:txBody>
          <a:bodyPr vert="horz" wrap="square" lIns="0" tIns="0" rIns="0" bIns="0" rtlCol="0">
            <a:spAutoFit/>
          </a:bodyPr>
          <a:lstStyle/>
          <a:p>
            <a:pPr>
              <a:lnSpc>
                <a:spcPts val="2760"/>
              </a:lnSpc>
            </a:pPr>
            <a:r>
              <a:rPr sz="3200" spc="-5" dirty="0">
                <a:latin typeface="Calibri"/>
                <a:cs typeface="Calibri"/>
              </a:rPr>
              <a:t>on </a:t>
            </a:r>
            <a:r>
              <a:rPr sz="3200" spc="-10" dirty="0">
                <a:latin typeface="Calibri"/>
                <a:cs typeface="Calibri"/>
              </a:rPr>
              <a:t>faeces </a:t>
            </a:r>
            <a:r>
              <a:rPr sz="3200" dirty="0">
                <a:latin typeface="Calibri"/>
                <a:cs typeface="Calibri"/>
              </a:rPr>
              <a:t>with </a:t>
            </a:r>
            <a:r>
              <a:rPr sz="3200" spc="-15" dirty="0">
                <a:latin typeface="Calibri"/>
                <a:cs typeface="Calibri"/>
              </a:rPr>
              <a:t>cysts </a:t>
            </a:r>
            <a:r>
              <a:rPr sz="3200" dirty="0">
                <a:latin typeface="Calibri"/>
                <a:cs typeface="Calibri"/>
              </a:rPr>
              <a:t>and</a:t>
            </a:r>
            <a:r>
              <a:rPr sz="3200" spc="-15" dirty="0">
                <a:latin typeface="Calibri"/>
                <a:cs typeface="Calibri"/>
              </a:rPr>
              <a:t> </a:t>
            </a:r>
            <a:r>
              <a:rPr sz="3200" spc="-10" dirty="0">
                <a:latin typeface="Calibri"/>
                <a:cs typeface="Calibri"/>
              </a:rPr>
              <a:t>subsequently</a:t>
            </a:r>
            <a:endParaRPr sz="3200">
              <a:latin typeface="Calibri"/>
              <a:cs typeface="Calibri"/>
            </a:endParaRPr>
          </a:p>
        </p:txBody>
      </p:sp>
      <p:sp>
        <p:nvSpPr>
          <p:cNvPr id="5" name="object 5"/>
          <p:cNvSpPr txBox="1"/>
          <p:nvPr/>
        </p:nvSpPr>
        <p:spPr>
          <a:xfrm>
            <a:off x="891844" y="4870424"/>
            <a:ext cx="3230245" cy="351155"/>
          </a:xfrm>
          <a:prstGeom prst="rect">
            <a:avLst/>
          </a:prstGeom>
          <a:solidFill>
            <a:srgbClr val="FFED00">
              <a:alpha val="50000"/>
            </a:srgbClr>
          </a:solidFill>
        </p:spPr>
        <p:txBody>
          <a:bodyPr vert="horz" wrap="square" lIns="0" tIns="0" rIns="0" bIns="0" rtlCol="0">
            <a:spAutoFit/>
          </a:bodyPr>
          <a:lstStyle/>
          <a:p>
            <a:pPr>
              <a:lnSpc>
                <a:spcPts val="2760"/>
              </a:lnSpc>
            </a:pPr>
            <a:r>
              <a:rPr sz="3200" spc="-15" dirty="0">
                <a:latin typeface="Calibri"/>
                <a:cs typeface="Calibri"/>
              </a:rPr>
              <a:t>contaminating</a:t>
            </a:r>
            <a:r>
              <a:rPr sz="3200" spc="-10" dirty="0">
                <a:latin typeface="Calibri"/>
                <a:cs typeface="Calibri"/>
              </a:rPr>
              <a:t> </a:t>
            </a:r>
            <a:r>
              <a:rPr sz="3200" spc="-25" dirty="0">
                <a:latin typeface="Calibri"/>
                <a:cs typeface="Calibri"/>
              </a:rPr>
              <a:t>food</a:t>
            </a:r>
            <a:endParaRPr sz="3200">
              <a:latin typeface="Calibri"/>
              <a:cs typeface="Calibri"/>
            </a:endParaRPr>
          </a:p>
        </p:txBody>
      </p:sp>
    </p:spTree>
    <p:extLst>
      <p:ext uri="{BB962C8B-B14F-4D97-AF65-F5344CB8AC3E}">
        <p14:creationId xmlns:p14="http://schemas.microsoft.com/office/powerpoint/2010/main" val="525971205"/>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5360276"/>
            <a:ext cx="2839085" cy="280035"/>
          </a:xfrm>
          <a:custGeom>
            <a:avLst/>
            <a:gdLst/>
            <a:ahLst/>
            <a:cxnLst/>
            <a:rect l="l" t="t" r="r" b="b"/>
            <a:pathLst>
              <a:path w="2839085" h="280035">
                <a:moveTo>
                  <a:pt x="0" y="0"/>
                </a:moveTo>
                <a:lnTo>
                  <a:pt x="2838996" y="0"/>
                </a:lnTo>
                <a:lnTo>
                  <a:pt x="2838996" y="279946"/>
                </a:lnTo>
                <a:lnTo>
                  <a:pt x="0" y="279946"/>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911656" y="4850066"/>
            <a:ext cx="7360284" cy="371475"/>
          </a:xfrm>
          <a:custGeom>
            <a:avLst/>
            <a:gdLst/>
            <a:ahLst/>
            <a:cxnLst/>
            <a:rect l="l" t="t" r="r" b="b"/>
            <a:pathLst>
              <a:path w="7360284" h="371475">
                <a:moveTo>
                  <a:pt x="0" y="0"/>
                </a:moveTo>
                <a:lnTo>
                  <a:pt x="7360069" y="0"/>
                </a:lnTo>
                <a:lnTo>
                  <a:pt x="7360069" y="370967"/>
                </a:lnTo>
                <a:lnTo>
                  <a:pt x="0" y="370967"/>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891844" y="4300067"/>
            <a:ext cx="1410335" cy="267335"/>
          </a:xfrm>
          <a:custGeom>
            <a:avLst/>
            <a:gdLst/>
            <a:ahLst/>
            <a:cxnLst/>
            <a:rect l="l" t="t" r="r" b="b"/>
            <a:pathLst>
              <a:path w="1410335" h="267335">
                <a:moveTo>
                  <a:pt x="0" y="0"/>
                </a:moveTo>
                <a:lnTo>
                  <a:pt x="1409941" y="0"/>
                </a:lnTo>
                <a:lnTo>
                  <a:pt x="1409941" y="266928"/>
                </a:lnTo>
                <a:lnTo>
                  <a:pt x="0" y="266928"/>
                </a:lnTo>
                <a:lnTo>
                  <a:pt x="0" y="0"/>
                </a:lnTo>
                <a:close/>
              </a:path>
            </a:pathLst>
          </a:custGeom>
          <a:solidFill>
            <a:srgbClr val="FFED00"/>
          </a:solidFill>
        </p:spPr>
        <p:txBody>
          <a:bodyPr wrap="square" lIns="0" tIns="0" rIns="0" bIns="0" rtlCol="0"/>
          <a:lstStyle/>
          <a:p>
            <a:endParaRPr/>
          </a:p>
        </p:txBody>
      </p:sp>
      <p:sp>
        <p:nvSpPr>
          <p:cNvPr id="5" name="object 5"/>
          <p:cNvSpPr/>
          <p:nvPr/>
        </p:nvSpPr>
        <p:spPr>
          <a:xfrm>
            <a:off x="2253360" y="3797744"/>
            <a:ext cx="5961380" cy="335915"/>
          </a:xfrm>
          <a:custGeom>
            <a:avLst/>
            <a:gdLst/>
            <a:ahLst/>
            <a:cxnLst/>
            <a:rect l="l" t="t" r="r" b="b"/>
            <a:pathLst>
              <a:path w="5961380" h="335914">
                <a:moveTo>
                  <a:pt x="0" y="0"/>
                </a:moveTo>
                <a:lnTo>
                  <a:pt x="5960795" y="0"/>
                </a:lnTo>
                <a:lnTo>
                  <a:pt x="5960795" y="335699"/>
                </a:lnTo>
                <a:lnTo>
                  <a:pt x="0" y="335699"/>
                </a:lnTo>
                <a:lnTo>
                  <a:pt x="0" y="0"/>
                </a:lnTo>
                <a:close/>
              </a:path>
            </a:pathLst>
          </a:custGeom>
          <a:solidFill>
            <a:srgbClr val="FFED00"/>
          </a:solidFill>
        </p:spPr>
        <p:txBody>
          <a:bodyPr wrap="square" lIns="0" tIns="0" rIns="0" bIns="0" rtlCol="0"/>
          <a:lstStyle/>
          <a:p>
            <a:endParaRPr/>
          </a:p>
        </p:txBody>
      </p:sp>
      <p:sp>
        <p:nvSpPr>
          <p:cNvPr id="6" name="object 6"/>
          <p:cNvSpPr/>
          <p:nvPr/>
        </p:nvSpPr>
        <p:spPr>
          <a:xfrm>
            <a:off x="891844" y="3797744"/>
            <a:ext cx="1362075" cy="335915"/>
          </a:xfrm>
          <a:custGeom>
            <a:avLst/>
            <a:gdLst/>
            <a:ahLst/>
            <a:cxnLst/>
            <a:rect l="l" t="t" r="r" b="b"/>
            <a:pathLst>
              <a:path w="1362075" h="335914">
                <a:moveTo>
                  <a:pt x="0" y="0"/>
                </a:moveTo>
                <a:lnTo>
                  <a:pt x="1361516" y="0"/>
                </a:lnTo>
                <a:lnTo>
                  <a:pt x="1361516" y="335699"/>
                </a:lnTo>
                <a:lnTo>
                  <a:pt x="0" y="335699"/>
                </a:lnTo>
                <a:lnTo>
                  <a:pt x="0" y="0"/>
                </a:lnTo>
                <a:close/>
              </a:path>
            </a:pathLst>
          </a:custGeom>
          <a:solidFill>
            <a:srgbClr val="FFED00"/>
          </a:solidFill>
        </p:spPr>
        <p:txBody>
          <a:bodyPr wrap="square" lIns="0" tIns="0" rIns="0" bIns="0" rtlCol="0"/>
          <a:lstStyle/>
          <a:p>
            <a:endParaRPr/>
          </a:p>
        </p:txBody>
      </p:sp>
      <p:sp>
        <p:nvSpPr>
          <p:cNvPr id="7" name="object 7"/>
          <p:cNvSpPr/>
          <p:nvPr/>
        </p:nvSpPr>
        <p:spPr>
          <a:xfrm>
            <a:off x="911656" y="2314105"/>
            <a:ext cx="7357109" cy="370840"/>
          </a:xfrm>
          <a:custGeom>
            <a:avLst/>
            <a:gdLst/>
            <a:ahLst/>
            <a:cxnLst/>
            <a:rect l="l" t="t" r="r" b="b"/>
            <a:pathLst>
              <a:path w="7357109" h="370839">
                <a:moveTo>
                  <a:pt x="0" y="0"/>
                </a:moveTo>
                <a:lnTo>
                  <a:pt x="7356881" y="0"/>
                </a:lnTo>
                <a:lnTo>
                  <a:pt x="7356881" y="370687"/>
                </a:lnTo>
                <a:lnTo>
                  <a:pt x="0" y="370687"/>
                </a:lnTo>
                <a:lnTo>
                  <a:pt x="0" y="0"/>
                </a:lnTo>
                <a:close/>
              </a:path>
            </a:pathLst>
          </a:custGeom>
          <a:solidFill>
            <a:srgbClr val="FFED00"/>
          </a:solidFill>
        </p:spPr>
        <p:txBody>
          <a:bodyPr wrap="square" lIns="0" tIns="0" rIns="0" bIns="0" rtlCol="0"/>
          <a:lstStyle/>
          <a:p>
            <a:endParaRPr/>
          </a:p>
        </p:txBody>
      </p:sp>
      <p:sp>
        <p:nvSpPr>
          <p:cNvPr id="8" name="object 8"/>
          <p:cNvSpPr txBox="1">
            <a:spLocks noGrp="1"/>
          </p:cNvSpPr>
          <p:nvPr>
            <p:ph type="title"/>
          </p:nvPr>
        </p:nvSpPr>
        <p:spPr>
          <a:xfrm>
            <a:off x="2562605" y="461899"/>
            <a:ext cx="4017645" cy="696595"/>
          </a:xfrm>
          <a:prstGeom prst="rect">
            <a:avLst/>
          </a:prstGeom>
        </p:spPr>
        <p:txBody>
          <a:bodyPr vert="horz" wrap="square" lIns="0" tIns="13335" rIns="0" bIns="0" rtlCol="0">
            <a:spAutoFit/>
          </a:bodyPr>
          <a:lstStyle/>
          <a:p>
            <a:pPr marL="12700">
              <a:lnSpc>
                <a:spcPct val="100000"/>
              </a:lnSpc>
              <a:spcBef>
                <a:spcPts val="105"/>
              </a:spcBef>
            </a:pPr>
            <a:r>
              <a:rPr sz="4400" b="0" i="0" spc="-15" dirty="0">
                <a:latin typeface="Calibri"/>
                <a:cs typeface="Calibri"/>
              </a:rPr>
              <a:t>Intestinal</a:t>
            </a:r>
            <a:r>
              <a:rPr sz="4400" b="0" i="0" spc="-30" dirty="0">
                <a:latin typeface="Calibri"/>
                <a:cs typeface="Calibri"/>
              </a:rPr>
              <a:t> </a:t>
            </a:r>
            <a:r>
              <a:rPr sz="4400" b="0" i="0" spc="-35" dirty="0">
                <a:latin typeface="Calibri"/>
                <a:cs typeface="Calibri"/>
              </a:rPr>
              <a:t>(cont’d)</a:t>
            </a:r>
            <a:endParaRPr sz="4400">
              <a:latin typeface="Calibri"/>
              <a:cs typeface="Calibri"/>
            </a:endParaRPr>
          </a:p>
        </p:txBody>
      </p:sp>
      <p:sp>
        <p:nvSpPr>
          <p:cNvPr id="9" name="object 9"/>
          <p:cNvSpPr txBox="1"/>
          <p:nvPr/>
        </p:nvSpPr>
        <p:spPr>
          <a:xfrm>
            <a:off x="535940" y="1509941"/>
            <a:ext cx="7747000" cy="1196975"/>
          </a:xfrm>
          <a:prstGeom prst="rect">
            <a:avLst/>
          </a:prstGeom>
        </p:spPr>
        <p:txBody>
          <a:bodyPr vert="horz" wrap="square" lIns="0" tIns="110489" rIns="0" bIns="0" rtlCol="0">
            <a:spAutoFit/>
          </a:bodyPr>
          <a:lstStyle/>
          <a:p>
            <a:pPr marL="3455035" indent="-363855">
              <a:lnSpc>
                <a:spcPct val="100000"/>
              </a:lnSpc>
              <a:spcBef>
                <a:spcPts val="869"/>
              </a:spcBef>
              <a:buSzPct val="96875"/>
              <a:buFont typeface="Wingdings"/>
              <a:buChar char=""/>
              <a:tabLst>
                <a:tab pos="3455670" algn="l"/>
              </a:tabLst>
            </a:pPr>
            <a:r>
              <a:rPr sz="3200" b="1" spc="-15" dirty="0">
                <a:latin typeface="Calibri"/>
                <a:cs typeface="Calibri"/>
              </a:rPr>
              <a:t>Life</a:t>
            </a:r>
            <a:r>
              <a:rPr sz="3200" b="1" spc="-10" dirty="0">
                <a:latin typeface="Calibri"/>
                <a:cs typeface="Calibri"/>
              </a:rPr>
              <a:t> cycle</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15" dirty="0">
                <a:latin typeface="Calibri"/>
                <a:cs typeface="Calibri"/>
              </a:rPr>
              <a:t>Cysts ingested </a:t>
            </a:r>
            <a:r>
              <a:rPr sz="3200" spc="-30" dirty="0">
                <a:latin typeface="Calibri"/>
                <a:cs typeface="Calibri"/>
              </a:rPr>
              <a:t>excyst </a:t>
            </a:r>
            <a:r>
              <a:rPr sz="3200" dirty="0">
                <a:latin typeface="Calibri"/>
                <a:cs typeface="Calibri"/>
              </a:rPr>
              <a:t>in the </a:t>
            </a:r>
            <a:r>
              <a:rPr sz="3200" spc="-15" dirty="0">
                <a:latin typeface="Calibri"/>
                <a:cs typeface="Calibri"/>
              </a:rPr>
              <a:t>large intestine</a:t>
            </a:r>
            <a:r>
              <a:rPr sz="3200" spc="35" dirty="0">
                <a:latin typeface="Calibri"/>
                <a:cs typeface="Calibri"/>
              </a:rPr>
              <a:t> </a:t>
            </a:r>
            <a:r>
              <a:rPr sz="3200" spc="-25" dirty="0">
                <a:latin typeface="Calibri"/>
                <a:cs typeface="Calibri"/>
              </a:rPr>
              <a:t>to</a:t>
            </a:r>
            <a:endParaRPr sz="3200">
              <a:latin typeface="Calibri"/>
              <a:cs typeface="Calibri"/>
            </a:endParaRPr>
          </a:p>
        </p:txBody>
      </p:sp>
      <p:sp>
        <p:nvSpPr>
          <p:cNvPr id="10" name="object 10"/>
          <p:cNvSpPr txBox="1"/>
          <p:nvPr/>
        </p:nvSpPr>
        <p:spPr>
          <a:xfrm>
            <a:off x="891844" y="2823756"/>
            <a:ext cx="7478395" cy="349250"/>
          </a:xfrm>
          <a:prstGeom prst="rect">
            <a:avLst/>
          </a:prstGeom>
          <a:solidFill>
            <a:srgbClr val="FFED00">
              <a:alpha val="50000"/>
            </a:srgbClr>
          </a:solidFill>
        </p:spPr>
        <p:txBody>
          <a:bodyPr vert="horz" wrap="square" lIns="0" tIns="0" rIns="0" bIns="0" rtlCol="0">
            <a:spAutoFit/>
          </a:bodyPr>
          <a:lstStyle/>
          <a:p>
            <a:pPr>
              <a:lnSpc>
                <a:spcPts val="2745"/>
              </a:lnSpc>
            </a:pPr>
            <a:r>
              <a:rPr sz="3200" spc="-10" dirty="0">
                <a:latin typeface="Calibri"/>
                <a:cs typeface="Calibri"/>
              </a:rPr>
              <a:t>produce </a:t>
            </a:r>
            <a:r>
              <a:rPr sz="3200" dirty="0">
                <a:latin typeface="Calibri"/>
                <a:cs typeface="Calibri"/>
              </a:rPr>
              <a:t>amoebae </a:t>
            </a:r>
            <a:r>
              <a:rPr sz="3200" spc="-5" dirty="0">
                <a:latin typeface="Calibri"/>
                <a:cs typeface="Calibri"/>
              </a:rPr>
              <a:t>which multiply</a:t>
            </a:r>
            <a:r>
              <a:rPr sz="3200" spc="20" dirty="0">
                <a:latin typeface="Calibri"/>
                <a:cs typeface="Calibri"/>
              </a:rPr>
              <a:t> </a:t>
            </a:r>
            <a:r>
              <a:rPr sz="3200" spc="-30" dirty="0">
                <a:latin typeface="Calibri"/>
                <a:cs typeface="Calibri"/>
              </a:rPr>
              <a:t>repeatedly,</a:t>
            </a:r>
            <a:endParaRPr sz="3200">
              <a:latin typeface="Calibri"/>
              <a:cs typeface="Calibri"/>
            </a:endParaRPr>
          </a:p>
        </p:txBody>
      </p:sp>
      <p:sp>
        <p:nvSpPr>
          <p:cNvPr id="11" name="object 11"/>
          <p:cNvSpPr txBox="1"/>
          <p:nvPr/>
        </p:nvSpPr>
        <p:spPr>
          <a:xfrm>
            <a:off x="891844" y="3309594"/>
            <a:ext cx="7711440" cy="351155"/>
          </a:xfrm>
          <a:prstGeom prst="rect">
            <a:avLst/>
          </a:prstGeom>
          <a:solidFill>
            <a:srgbClr val="FFED00">
              <a:alpha val="50000"/>
            </a:srgbClr>
          </a:solidFill>
        </p:spPr>
        <p:txBody>
          <a:bodyPr vert="horz" wrap="square" lIns="0" tIns="0" rIns="0" bIns="0" rtlCol="0">
            <a:spAutoFit/>
          </a:bodyPr>
          <a:lstStyle/>
          <a:p>
            <a:pPr>
              <a:lnSpc>
                <a:spcPts val="2760"/>
              </a:lnSpc>
            </a:pPr>
            <a:r>
              <a:rPr sz="3200" dirty="0">
                <a:latin typeface="Calibri"/>
                <a:cs typeface="Calibri"/>
              </a:rPr>
              <a:t>and </a:t>
            </a:r>
            <a:r>
              <a:rPr sz="3200" spc="-20" dirty="0">
                <a:latin typeface="Calibri"/>
                <a:cs typeface="Calibri"/>
              </a:rPr>
              <a:t>form </a:t>
            </a:r>
            <a:r>
              <a:rPr sz="3200" spc="-10" dirty="0">
                <a:latin typeface="Calibri"/>
                <a:cs typeface="Calibri"/>
              </a:rPr>
              <a:t>single-nucleated </a:t>
            </a:r>
            <a:r>
              <a:rPr sz="3200" spc="-15" dirty="0">
                <a:latin typeface="Calibri"/>
                <a:cs typeface="Calibri"/>
              </a:rPr>
              <a:t>cysts </a:t>
            </a:r>
            <a:r>
              <a:rPr sz="3200" dirty="0">
                <a:latin typeface="Calibri"/>
                <a:cs typeface="Calibri"/>
              </a:rPr>
              <a:t>which</a:t>
            </a:r>
            <a:r>
              <a:rPr sz="3200" spc="85" dirty="0">
                <a:latin typeface="Calibri"/>
                <a:cs typeface="Calibri"/>
              </a:rPr>
              <a:t> </a:t>
            </a:r>
            <a:r>
              <a:rPr sz="3200" spc="-10" dirty="0">
                <a:latin typeface="Calibri"/>
                <a:cs typeface="Calibri"/>
              </a:rPr>
              <a:t>develop</a:t>
            </a:r>
            <a:endParaRPr sz="3200">
              <a:latin typeface="Calibri"/>
              <a:cs typeface="Calibri"/>
            </a:endParaRPr>
          </a:p>
        </p:txBody>
      </p:sp>
      <p:sp>
        <p:nvSpPr>
          <p:cNvPr id="12" name="object 12"/>
          <p:cNvSpPr txBox="1"/>
          <p:nvPr/>
        </p:nvSpPr>
        <p:spPr>
          <a:xfrm>
            <a:off x="535940" y="3656457"/>
            <a:ext cx="7745095" cy="2075180"/>
          </a:xfrm>
          <a:prstGeom prst="rect">
            <a:avLst/>
          </a:prstGeom>
        </p:spPr>
        <p:txBody>
          <a:bodyPr vert="horz" wrap="square" lIns="0" tIns="12700" rIns="0" bIns="0" rtlCol="0">
            <a:spAutoFit/>
          </a:bodyPr>
          <a:lstStyle/>
          <a:p>
            <a:pPr marL="355600" marR="62230">
              <a:lnSpc>
                <a:spcPct val="100000"/>
              </a:lnSpc>
              <a:spcBef>
                <a:spcPts val="100"/>
              </a:spcBef>
            </a:pPr>
            <a:r>
              <a:rPr sz="3200" spc="-20" dirty="0">
                <a:latin typeface="Calibri"/>
                <a:cs typeface="Calibri"/>
              </a:rPr>
              <a:t>into infective forms </a:t>
            </a:r>
            <a:r>
              <a:rPr sz="3200" dirty="0">
                <a:latin typeface="Calibri"/>
                <a:cs typeface="Calibri"/>
              </a:rPr>
              <a:t>with </a:t>
            </a:r>
            <a:r>
              <a:rPr sz="3200" spc="-20" dirty="0">
                <a:latin typeface="Calibri"/>
                <a:cs typeface="Calibri"/>
              </a:rPr>
              <a:t>four </a:t>
            </a:r>
            <a:r>
              <a:rPr sz="3200" spc="-5" dirty="0">
                <a:latin typeface="Calibri"/>
                <a:cs typeface="Calibri"/>
              </a:rPr>
              <a:t>nuclei, </a:t>
            </a:r>
            <a:r>
              <a:rPr sz="3200" dirty="0">
                <a:latin typeface="Calibri"/>
                <a:cs typeface="Calibri"/>
              </a:rPr>
              <a:t>and </a:t>
            </a:r>
            <a:r>
              <a:rPr sz="3200" spc="-15" dirty="0">
                <a:latin typeface="Calibri"/>
                <a:cs typeface="Calibri"/>
              </a:rPr>
              <a:t>are  invasive.</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spc="-15" dirty="0">
                <a:latin typeface="Calibri"/>
                <a:cs typeface="Calibri"/>
              </a:rPr>
              <a:t>Cysts formed </a:t>
            </a:r>
            <a:r>
              <a:rPr sz="3200" dirty="0">
                <a:latin typeface="Calibri"/>
                <a:cs typeface="Calibri"/>
              </a:rPr>
              <a:t>do </a:t>
            </a:r>
            <a:r>
              <a:rPr sz="3200" spc="-5" dirty="0">
                <a:latin typeface="Calibri"/>
                <a:cs typeface="Calibri"/>
              </a:rPr>
              <a:t>not </a:t>
            </a:r>
            <a:r>
              <a:rPr sz="3200" spc="-10" dirty="0">
                <a:latin typeface="Calibri"/>
                <a:cs typeface="Calibri"/>
              </a:rPr>
              <a:t>become </a:t>
            </a:r>
            <a:r>
              <a:rPr sz="3200" dirty="0">
                <a:latin typeface="Calibri"/>
                <a:cs typeface="Calibri"/>
              </a:rPr>
              <a:t>amoebae </a:t>
            </a:r>
            <a:r>
              <a:rPr sz="3200" spc="-10" dirty="0">
                <a:latin typeface="Calibri"/>
                <a:cs typeface="Calibri"/>
              </a:rPr>
              <a:t>again  </a:t>
            </a:r>
            <a:r>
              <a:rPr sz="3200" dirty="0">
                <a:latin typeface="Calibri"/>
                <a:cs typeface="Calibri"/>
              </a:rPr>
              <a:t>in the </a:t>
            </a:r>
            <a:r>
              <a:rPr sz="3200" spc="-5" dirty="0">
                <a:latin typeface="Calibri"/>
                <a:cs typeface="Calibri"/>
              </a:rPr>
              <a:t>same </a:t>
            </a:r>
            <a:r>
              <a:rPr sz="3200" spc="-10" dirty="0">
                <a:latin typeface="Calibri"/>
                <a:cs typeface="Calibri"/>
              </a:rPr>
              <a:t>host.</a:t>
            </a:r>
            <a:endParaRPr sz="3200">
              <a:latin typeface="Calibri"/>
              <a:cs typeface="Calibri"/>
            </a:endParaRPr>
          </a:p>
        </p:txBody>
      </p:sp>
    </p:spTree>
    <p:extLst>
      <p:ext uri="{BB962C8B-B14F-4D97-AF65-F5344CB8AC3E}">
        <p14:creationId xmlns:p14="http://schemas.microsoft.com/office/powerpoint/2010/main" val="428501784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11656" y="2314105"/>
            <a:ext cx="6365240" cy="370840"/>
          </a:xfrm>
          <a:custGeom>
            <a:avLst/>
            <a:gdLst/>
            <a:ahLst/>
            <a:cxnLst/>
            <a:rect l="l" t="t" r="r" b="b"/>
            <a:pathLst>
              <a:path w="6365240" h="370839">
                <a:moveTo>
                  <a:pt x="0" y="0"/>
                </a:moveTo>
                <a:lnTo>
                  <a:pt x="6365201" y="0"/>
                </a:lnTo>
                <a:lnTo>
                  <a:pt x="6365201" y="370687"/>
                </a:lnTo>
                <a:lnTo>
                  <a:pt x="0" y="370687"/>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911656" y="3874935"/>
            <a:ext cx="7136130" cy="370840"/>
          </a:xfrm>
          <a:custGeom>
            <a:avLst/>
            <a:gdLst/>
            <a:ahLst/>
            <a:cxnLst/>
            <a:rect l="l" t="t" r="r" b="b"/>
            <a:pathLst>
              <a:path w="7136130" h="370839">
                <a:moveTo>
                  <a:pt x="0" y="0"/>
                </a:moveTo>
                <a:lnTo>
                  <a:pt x="7135749" y="0"/>
                </a:lnTo>
                <a:lnTo>
                  <a:pt x="7135749" y="370687"/>
                </a:lnTo>
                <a:lnTo>
                  <a:pt x="0" y="370687"/>
                </a:lnTo>
                <a:lnTo>
                  <a:pt x="0" y="0"/>
                </a:lnTo>
                <a:close/>
              </a:path>
            </a:pathLst>
          </a:custGeom>
          <a:solidFill>
            <a:srgbClr val="FFED00"/>
          </a:solidFill>
        </p:spPr>
        <p:txBody>
          <a:bodyPr wrap="square" lIns="0" tIns="0" rIns="0" bIns="0" rtlCol="0"/>
          <a:lstStyle/>
          <a:p>
            <a:endParaRPr/>
          </a:p>
        </p:txBody>
      </p:sp>
      <p:sp>
        <p:nvSpPr>
          <p:cNvPr id="4" name="object 4"/>
          <p:cNvSpPr txBox="1">
            <a:spLocks noGrp="1"/>
          </p:cNvSpPr>
          <p:nvPr>
            <p:ph type="title"/>
          </p:nvPr>
        </p:nvSpPr>
        <p:spPr>
          <a:xfrm>
            <a:off x="2281808" y="461899"/>
            <a:ext cx="4577715" cy="696595"/>
          </a:xfrm>
          <a:prstGeom prst="rect">
            <a:avLst/>
          </a:prstGeom>
        </p:spPr>
        <p:txBody>
          <a:bodyPr vert="horz" wrap="square" lIns="0" tIns="13335" rIns="0" bIns="0" rtlCol="0">
            <a:spAutoFit/>
          </a:bodyPr>
          <a:lstStyle/>
          <a:p>
            <a:pPr marL="12700">
              <a:lnSpc>
                <a:spcPct val="100000"/>
              </a:lnSpc>
              <a:spcBef>
                <a:spcPts val="105"/>
              </a:spcBef>
            </a:pPr>
            <a:r>
              <a:rPr sz="4400" b="0" i="0" spc="-10" dirty="0">
                <a:latin typeface="Calibri"/>
                <a:cs typeface="Calibri"/>
              </a:rPr>
              <a:t>INTESTINAL</a:t>
            </a:r>
            <a:r>
              <a:rPr sz="4400" b="0" i="0" spc="-45" dirty="0">
                <a:latin typeface="Calibri"/>
                <a:cs typeface="Calibri"/>
              </a:rPr>
              <a:t> </a:t>
            </a:r>
            <a:r>
              <a:rPr sz="4400" b="0" i="0" spc="10" dirty="0">
                <a:latin typeface="Calibri"/>
                <a:cs typeface="Calibri"/>
              </a:rPr>
              <a:t>CONT’D</a:t>
            </a:r>
            <a:endParaRPr sz="4400">
              <a:latin typeface="Calibri"/>
              <a:cs typeface="Calibri"/>
            </a:endParaRPr>
          </a:p>
        </p:txBody>
      </p:sp>
      <p:sp>
        <p:nvSpPr>
          <p:cNvPr id="5" name="object 5"/>
          <p:cNvSpPr txBox="1"/>
          <p:nvPr/>
        </p:nvSpPr>
        <p:spPr>
          <a:xfrm>
            <a:off x="535940" y="1509941"/>
            <a:ext cx="7964170" cy="3245485"/>
          </a:xfrm>
          <a:prstGeom prst="rect">
            <a:avLst/>
          </a:prstGeom>
        </p:spPr>
        <p:txBody>
          <a:bodyPr vert="horz" wrap="square" lIns="0" tIns="110489" rIns="0" bIns="0" rtlCol="0">
            <a:spAutoFit/>
          </a:bodyPr>
          <a:lstStyle/>
          <a:p>
            <a:pPr marL="2703195" algn="just">
              <a:lnSpc>
                <a:spcPct val="100000"/>
              </a:lnSpc>
              <a:spcBef>
                <a:spcPts val="869"/>
              </a:spcBef>
            </a:pPr>
            <a:r>
              <a:rPr sz="3200" b="1" spc="-15" dirty="0">
                <a:latin typeface="Calibri"/>
                <a:cs typeface="Calibri"/>
              </a:rPr>
              <a:t>Life </a:t>
            </a:r>
            <a:r>
              <a:rPr sz="3200" b="1" spc="-10" dirty="0">
                <a:latin typeface="Calibri"/>
                <a:cs typeface="Calibri"/>
              </a:rPr>
              <a:t>cycle</a:t>
            </a:r>
            <a:r>
              <a:rPr sz="3200" b="1" spc="-15" dirty="0">
                <a:latin typeface="Calibri"/>
                <a:cs typeface="Calibri"/>
              </a:rPr>
              <a:t> </a:t>
            </a:r>
            <a:r>
              <a:rPr sz="3200" b="1" spc="-30" dirty="0">
                <a:latin typeface="Calibri"/>
                <a:cs typeface="Calibri"/>
              </a:rPr>
              <a:t>cont’d</a:t>
            </a:r>
            <a:endParaRPr sz="3200">
              <a:latin typeface="Calibri"/>
              <a:cs typeface="Calibri"/>
            </a:endParaRPr>
          </a:p>
          <a:p>
            <a:pPr marL="355600" marR="462280" indent="-343535" algn="just">
              <a:lnSpc>
                <a:spcPct val="100000"/>
              </a:lnSpc>
              <a:spcBef>
                <a:spcPts val="770"/>
              </a:spcBef>
              <a:buSzPct val="96875"/>
              <a:buFont typeface="Wingdings"/>
              <a:buChar char=""/>
              <a:tabLst>
                <a:tab pos="376555" algn="l"/>
              </a:tabLst>
            </a:pPr>
            <a:r>
              <a:rPr sz="3200" spc="-20" dirty="0">
                <a:latin typeface="Calibri"/>
                <a:cs typeface="Calibri"/>
              </a:rPr>
              <a:t>Infective </a:t>
            </a:r>
            <a:r>
              <a:rPr sz="3200" spc="-15" dirty="0">
                <a:latin typeface="Calibri"/>
                <a:cs typeface="Calibri"/>
              </a:rPr>
              <a:t>cysts are </a:t>
            </a:r>
            <a:r>
              <a:rPr sz="3200" spc="-5" dirty="0">
                <a:latin typeface="Calibri"/>
                <a:cs typeface="Calibri"/>
              </a:rPr>
              <a:t>passed out </a:t>
            </a:r>
            <a:r>
              <a:rPr sz="3200" dirty="0">
                <a:latin typeface="Calibri"/>
                <a:cs typeface="Calibri"/>
              </a:rPr>
              <a:t>in </a:t>
            </a:r>
            <a:r>
              <a:rPr sz="3200" spc="-10" dirty="0">
                <a:latin typeface="Calibri"/>
                <a:cs typeface="Calibri"/>
              </a:rPr>
              <a:t>faeces </a:t>
            </a:r>
            <a:r>
              <a:rPr sz="3200" dirty="0">
                <a:latin typeface="Calibri"/>
                <a:cs typeface="Calibri"/>
              </a:rPr>
              <a:t>and  </a:t>
            </a:r>
            <a:r>
              <a:rPr sz="3200" spc="-10" dirty="0">
                <a:latin typeface="Calibri"/>
                <a:cs typeface="Calibri"/>
              </a:rPr>
              <a:t>can </a:t>
            </a:r>
            <a:r>
              <a:rPr sz="3200" spc="-5" dirty="0">
                <a:latin typeface="Calibri"/>
                <a:cs typeface="Calibri"/>
              </a:rPr>
              <a:t>survive </a:t>
            </a:r>
            <a:r>
              <a:rPr sz="3200" dirty="0">
                <a:latin typeface="Calibri"/>
                <a:cs typeface="Calibri"/>
              </a:rPr>
              <a:t>and </a:t>
            </a:r>
            <a:r>
              <a:rPr sz="3200" spc="-5" dirty="0">
                <a:latin typeface="Calibri"/>
                <a:cs typeface="Calibri"/>
              </a:rPr>
              <a:t>remain </a:t>
            </a:r>
            <a:r>
              <a:rPr sz="3200" spc="-20" dirty="0">
                <a:latin typeface="Calibri"/>
                <a:cs typeface="Calibri"/>
              </a:rPr>
              <a:t>infective </a:t>
            </a:r>
            <a:r>
              <a:rPr sz="3200" spc="-30" dirty="0">
                <a:latin typeface="Calibri"/>
                <a:cs typeface="Calibri"/>
              </a:rPr>
              <a:t>for </a:t>
            </a:r>
            <a:r>
              <a:rPr sz="3200" spc="-20" dirty="0">
                <a:latin typeface="Calibri"/>
                <a:cs typeface="Calibri"/>
              </a:rPr>
              <a:t>several  </a:t>
            </a:r>
            <a:r>
              <a:rPr sz="3200" spc="-10" dirty="0">
                <a:latin typeface="Calibri"/>
                <a:cs typeface="Calibri"/>
              </a:rPr>
              <a:t>weeks </a:t>
            </a:r>
            <a:r>
              <a:rPr sz="3200" dirty="0">
                <a:latin typeface="Calibri"/>
                <a:cs typeface="Calibri"/>
              </a:rPr>
              <a:t>in </a:t>
            </a:r>
            <a:r>
              <a:rPr sz="3200" spc="-15" dirty="0">
                <a:latin typeface="Calibri"/>
                <a:cs typeface="Calibri"/>
              </a:rPr>
              <a:t>sewage </a:t>
            </a:r>
            <a:r>
              <a:rPr sz="3200" dirty="0">
                <a:latin typeface="Calibri"/>
                <a:cs typeface="Calibri"/>
              </a:rPr>
              <a:t>and</a:t>
            </a:r>
            <a:r>
              <a:rPr sz="3200" spc="-25" dirty="0">
                <a:latin typeface="Calibri"/>
                <a:cs typeface="Calibri"/>
              </a:rPr>
              <a:t> </a:t>
            </a:r>
            <a:r>
              <a:rPr sz="3200" spc="-20" dirty="0">
                <a:latin typeface="Calibri"/>
                <a:cs typeface="Calibri"/>
              </a:rPr>
              <a:t>water</a:t>
            </a:r>
            <a:endParaRPr sz="3200">
              <a:latin typeface="Calibri"/>
              <a:cs typeface="Calibri"/>
            </a:endParaRPr>
          </a:p>
          <a:p>
            <a:pPr marL="355600" marR="5080" indent="-343535" algn="just">
              <a:lnSpc>
                <a:spcPct val="100000"/>
              </a:lnSpc>
              <a:spcBef>
                <a:spcPts val="770"/>
              </a:spcBef>
              <a:buSzPct val="96875"/>
              <a:buFont typeface="Wingdings"/>
              <a:buChar char=""/>
              <a:tabLst>
                <a:tab pos="376555" algn="l"/>
              </a:tabLst>
            </a:pPr>
            <a:r>
              <a:rPr sz="3200" spc="-5" dirty="0">
                <a:latin typeface="Calibri"/>
                <a:cs typeface="Calibri"/>
              </a:rPr>
              <a:t>Amoebae passed </a:t>
            </a:r>
            <a:r>
              <a:rPr sz="3200" dirty="0">
                <a:latin typeface="Calibri"/>
                <a:cs typeface="Calibri"/>
              </a:rPr>
              <a:t>in </a:t>
            </a:r>
            <a:r>
              <a:rPr sz="3200" spc="-10" dirty="0">
                <a:latin typeface="Calibri"/>
                <a:cs typeface="Calibri"/>
              </a:rPr>
              <a:t>faeces </a:t>
            </a:r>
            <a:r>
              <a:rPr sz="3200" spc="-15" dirty="0">
                <a:latin typeface="Calibri"/>
                <a:cs typeface="Calibri"/>
              </a:rPr>
              <a:t>are </a:t>
            </a:r>
            <a:r>
              <a:rPr sz="3200" spc="-5" dirty="0">
                <a:latin typeface="Calibri"/>
                <a:cs typeface="Calibri"/>
              </a:rPr>
              <a:t>not </a:t>
            </a:r>
            <a:r>
              <a:rPr sz="3200" spc="-20" dirty="0">
                <a:latin typeface="Calibri"/>
                <a:cs typeface="Calibri"/>
              </a:rPr>
              <a:t>infective </a:t>
            </a:r>
            <a:r>
              <a:rPr sz="3200" spc="-25" dirty="0">
                <a:latin typeface="Calibri"/>
                <a:cs typeface="Calibri"/>
              </a:rPr>
              <a:t>to  </a:t>
            </a:r>
            <a:r>
              <a:rPr sz="3200" spc="-5" dirty="0">
                <a:latin typeface="Calibri"/>
                <a:cs typeface="Calibri"/>
              </a:rPr>
              <a:t>other people </a:t>
            </a:r>
            <a:r>
              <a:rPr sz="3200" dirty="0">
                <a:latin typeface="Calibri"/>
                <a:cs typeface="Calibri"/>
              </a:rPr>
              <a:t>and </a:t>
            </a:r>
            <a:r>
              <a:rPr sz="3200" spc="-5" dirty="0">
                <a:latin typeface="Calibri"/>
                <a:cs typeface="Calibri"/>
              </a:rPr>
              <a:t>die</a:t>
            </a:r>
            <a:r>
              <a:rPr sz="3200" spc="-25" dirty="0">
                <a:latin typeface="Calibri"/>
                <a:cs typeface="Calibri"/>
              </a:rPr>
              <a:t> </a:t>
            </a:r>
            <a:r>
              <a:rPr sz="3200" spc="-35" dirty="0">
                <a:latin typeface="Calibri"/>
                <a:cs typeface="Calibri"/>
              </a:rPr>
              <a:t>rapidly.</a:t>
            </a:r>
            <a:endParaRPr sz="3200">
              <a:latin typeface="Calibri"/>
              <a:cs typeface="Calibri"/>
            </a:endParaRPr>
          </a:p>
        </p:txBody>
      </p:sp>
    </p:spTree>
    <p:extLst>
      <p:ext uri="{BB962C8B-B14F-4D97-AF65-F5344CB8AC3E}">
        <p14:creationId xmlns:p14="http://schemas.microsoft.com/office/powerpoint/2010/main" val="302991777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5470829"/>
            <a:ext cx="4211955" cy="335915"/>
          </a:xfrm>
          <a:custGeom>
            <a:avLst/>
            <a:gdLst/>
            <a:ahLst/>
            <a:cxnLst/>
            <a:rect l="l" t="t" r="r" b="b"/>
            <a:pathLst>
              <a:path w="4211955" h="335914">
                <a:moveTo>
                  <a:pt x="0" y="0"/>
                </a:moveTo>
                <a:lnTo>
                  <a:pt x="4211904" y="0"/>
                </a:lnTo>
                <a:lnTo>
                  <a:pt x="4211904" y="335699"/>
                </a:lnTo>
                <a:lnTo>
                  <a:pt x="0" y="335699"/>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891844" y="3909923"/>
            <a:ext cx="1435735" cy="267335"/>
          </a:xfrm>
          <a:custGeom>
            <a:avLst/>
            <a:gdLst/>
            <a:ahLst/>
            <a:cxnLst/>
            <a:rect l="l" t="t" r="r" b="b"/>
            <a:pathLst>
              <a:path w="1435735" h="267335">
                <a:moveTo>
                  <a:pt x="0" y="0"/>
                </a:moveTo>
                <a:lnTo>
                  <a:pt x="1435569" y="0"/>
                </a:lnTo>
                <a:lnTo>
                  <a:pt x="1435569" y="266928"/>
                </a:lnTo>
                <a:lnTo>
                  <a:pt x="0" y="266928"/>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911656" y="2314105"/>
            <a:ext cx="7645400" cy="370840"/>
          </a:xfrm>
          <a:custGeom>
            <a:avLst/>
            <a:gdLst/>
            <a:ahLst/>
            <a:cxnLst/>
            <a:rect l="l" t="t" r="r" b="b"/>
            <a:pathLst>
              <a:path w="7645400" h="370839">
                <a:moveTo>
                  <a:pt x="0" y="0"/>
                </a:moveTo>
                <a:lnTo>
                  <a:pt x="7645400" y="0"/>
                </a:lnTo>
                <a:lnTo>
                  <a:pt x="7645400" y="370687"/>
                </a:lnTo>
                <a:lnTo>
                  <a:pt x="0" y="370687"/>
                </a:lnTo>
                <a:lnTo>
                  <a:pt x="0" y="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xfrm>
            <a:off x="2281808" y="461899"/>
            <a:ext cx="4577715" cy="696595"/>
          </a:xfrm>
          <a:prstGeom prst="rect">
            <a:avLst/>
          </a:prstGeom>
        </p:spPr>
        <p:txBody>
          <a:bodyPr vert="horz" wrap="square" lIns="0" tIns="13335" rIns="0" bIns="0" rtlCol="0">
            <a:spAutoFit/>
          </a:bodyPr>
          <a:lstStyle/>
          <a:p>
            <a:pPr marL="12700">
              <a:lnSpc>
                <a:spcPct val="100000"/>
              </a:lnSpc>
              <a:spcBef>
                <a:spcPts val="105"/>
              </a:spcBef>
            </a:pPr>
            <a:r>
              <a:rPr sz="4400" b="0" i="0" spc="-10" dirty="0">
                <a:latin typeface="Calibri"/>
                <a:cs typeface="Calibri"/>
              </a:rPr>
              <a:t>INTESTINAL</a:t>
            </a:r>
            <a:r>
              <a:rPr sz="4400" b="0" i="0" spc="-45" dirty="0">
                <a:latin typeface="Calibri"/>
                <a:cs typeface="Calibri"/>
              </a:rPr>
              <a:t> </a:t>
            </a:r>
            <a:r>
              <a:rPr sz="4400" b="0" i="0" spc="10" dirty="0">
                <a:latin typeface="Calibri"/>
                <a:cs typeface="Calibri"/>
              </a:rPr>
              <a:t>CONT’D</a:t>
            </a:r>
            <a:endParaRPr sz="4400">
              <a:latin typeface="Calibri"/>
              <a:cs typeface="Calibri"/>
            </a:endParaRPr>
          </a:p>
        </p:txBody>
      </p:sp>
      <p:sp>
        <p:nvSpPr>
          <p:cNvPr id="6" name="object 6"/>
          <p:cNvSpPr txBox="1"/>
          <p:nvPr/>
        </p:nvSpPr>
        <p:spPr>
          <a:xfrm>
            <a:off x="535940" y="1509941"/>
            <a:ext cx="8035925" cy="1196975"/>
          </a:xfrm>
          <a:prstGeom prst="rect">
            <a:avLst/>
          </a:prstGeom>
        </p:spPr>
        <p:txBody>
          <a:bodyPr vert="horz" wrap="square" lIns="0" tIns="110489" rIns="0" bIns="0" rtlCol="0">
            <a:spAutoFit/>
          </a:bodyPr>
          <a:lstStyle/>
          <a:p>
            <a:pPr marL="1893570">
              <a:lnSpc>
                <a:spcPct val="100000"/>
              </a:lnSpc>
              <a:spcBef>
                <a:spcPts val="869"/>
              </a:spcBef>
            </a:pPr>
            <a:r>
              <a:rPr sz="3200" b="1" spc="-15" dirty="0">
                <a:latin typeface="Calibri"/>
                <a:cs typeface="Calibri"/>
              </a:rPr>
              <a:t>Symptoms </a:t>
            </a:r>
            <a:r>
              <a:rPr sz="3200" b="1" dirty="0">
                <a:latin typeface="Calibri"/>
                <a:cs typeface="Calibri"/>
              </a:rPr>
              <a:t>and</a:t>
            </a:r>
            <a:r>
              <a:rPr sz="3200" b="1" spc="-30" dirty="0">
                <a:latin typeface="Calibri"/>
                <a:cs typeface="Calibri"/>
              </a:rPr>
              <a:t> </a:t>
            </a:r>
            <a:r>
              <a:rPr sz="3200" b="1" spc="-10" dirty="0">
                <a:latin typeface="Calibri"/>
                <a:cs typeface="Calibri"/>
              </a:rPr>
              <a:t>Pathology</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dirty="0">
                <a:latin typeface="Calibri"/>
                <a:cs typeface="Calibri"/>
              </a:rPr>
              <a:t>About 90% </a:t>
            </a:r>
            <a:r>
              <a:rPr sz="3200" spc="-5" dirty="0">
                <a:latin typeface="Calibri"/>
                <a:cs typeface="Calibri"/>
              </a:rPr>
              <a:t>of those </a:t>
            </a:r>
            <a:r>
              <a:rPr sz="3200" spc="-20" dirty="0">
                <a:latin typeface="Calibri"/>
                <a:cs typeface="Calibri"/>
              </a:rPr>
              <a:t>infected </a:t>
            </a:r>
            <a:r>
              <a:rPr sz="3200" spc="-15" dirty="0">
                <a:latin typeface="Calibri"/>
                <a:cs typeface="Calibri"/>
              </a:rPr>
              <a:t>develop/show</a:t>
            </a:r>
            <a:r>
              <a:rPr sz="3200" spc="40" dirty="0">
                <a:latin typeface="Calibri"/>
                <a:cs typeface="Calibri"/>
              </a:rPr>
              <a:t> </a:t>
            </a:r>
            <a:r>
              <a:rPr sz="3200" spc="-5" dirty="0">
                <a:latin typeface="Calibri"/>
                <a:cs typeface="Calibri"/>
              </a:rPr>
              <a:t>no</a:t>
            </a:r>
            <a:endParaRPr sz="3200">
              <a:latin typeface="Calibri"/>
              <a:cs typeface="Calibri"/>
            </a:endParaRPr>
          </a:p>
        </p:txBody>
      </p:sp>
      <p:sp>
        <p:nvSpPr>
          <p:cNvPr id="7" name="object 7"/>
          <p:cNvSpPr txBox="1"/>
          <p:nvPr/>
        </p:nvSpPr>
        <p:spPr>
          <a:xfrm>
            <a:off x="891844" y="2808287"/>
            <a:ext cx="2679065" cy="364490"/>
          </a:xfrm>
          <a:prstGeom prst="rect">
            <a:avLst/>
          </a:prstGeom>
          <a:solidFill>
            <a:srgbClr val="FFED00">
              <a:alpha val="50000"/>
            </a:srgbClr>
          </a:solidFill>
        </p:spPr>
        <p:txBody>
          <a:bodyPr vert="horz" wrap="square" lIns="0" tIns="0" rIns="0" bIns="0" rtlCol="0">
            <a:spAutoFit/>
          </a:bodyPr>
          <a:lstStyle/>
          <a:p>
            <a:pPr>
              <a:lnSpc>
                <a:spcPts val="2870"/>
              </a:lnSpc>
            </a:pPr>
            <a:r>
              <a:rPr sz="3200" spc="-65" dirty="0">
                <a:latin typeface="Calibri"/>
                <a:cs typeface="Calibri"/>
              </a:rPr>
              <a:t>s</a:t>
            </a:r>
            <a:r>
              <a:rPr sz="3200" dirty="0">
                <a:latin typeface="Calibri"/>
                <a:cs typeface="Calibri"/>
              </a:rPr>
              <a:t>ym</a:t>
            </a:r>
            <a:r>
              <a:rPr sz="3200" spc="-15" dirty="0">
                <a:latin typeface="Calibri"/>
                <a:cs typeface="Calibri"/>
              </a:rPr>
              <a:t>p</a:t>
            </a:r>
            <a:r>
              <a:rPr sz="3200" spc="-45" dirty="0">
                <a:latin typeface="Calibri"/>
                <a:cs typeface="Calibri"/>
              </a:rPr>
              <a:t>t</a:t>
            </a:r>
            <a:r>
              <a:rPr sz="3200" spc="-5" dirty="0">
                <a:latin typeface="Calibri"/>
                <a:cs typeface="Calibri"/>
              </a:rPr>
              <a:t>oms</a:t>
            </a:r>
            <a:r>
              <a:rPr sz="3200" spc="-70" dirty="0">
                <a:latin typeface="Calibri"/>
                <a:cs typeface="Calibri"/>
              </a:rPr>
              <a:t>/</a:t>
            </a:r>
            <a:r>
              <a:rPr sz="3200" spc="-5" dirty="0">
                <a:latin typeface="Calibri"/>
                <a:cs typeface="Calibri"/>
              </a:rPr>
              <a:t>s</a:t>
            </a:r>
            <a:r>
              <a:rPr sz="3200" spc="-10" dirty="0">
                <a:latin typeface="Calibri"/>
                <a:cs typeface="Calibri"/>
              </a:rPr>
              <a:t>i</a:t>
            </a:r>
            <a:r>
              <a:rPr sz="3200" dirty="0">
                <a:latin typeface="Calibri"/>
                <a:cs typeface="Calibri"/>
              </a:rPr>
              <a:t>gns</a:t>
            </a:r>
            <a:endParaRPr sz="3200">
              <a:latin typeface="Calibri"/>
              <a:cs typeface="Calibri"/>
            </a:endParaRPr>
          </a:p>
        </p:txBody>
      </p:sp>
      <p:sp>
        <p:nvSpPr>
          <p:cNvPr id="8" name="object 8"/>
          <p:cNvSpPr txBox="1"/>
          <p:nvPr/>
        </p:nvSpPr>
        <p:spPr>
          <a:xfrm>
            <a:off x="535940" y="3265754"/>
            <a:ext cx="3393440" cy="514350"/>
          </a:xfrm>
          <a:prstGeom prst="rect">
            <a:avLst/>
          </a:prstGeom>
        </p:spPr>
        <p:txBody>
          <a:bodyPr vert="horz" wrap="square" lIns="0" tIns="13335" rIns="0" bIns="0" rtlCol="0">
            <a:spAutoFit/>
          </a:bodyPr>
          <a:lstStyle/>
          <a:p>
            <a:pPr marL="375920" indent="-363855">
              <a:lnSpc>
                <a:spcPct val="100000"/>
              </a:lnSpc>
              <a:spcBef>
                <a:spcPts val="105"/>
              </a:spcBef>
              <a:buSzPct val="96875"/>
              <a:buFont typeface="Wingdings"/>
              <a:buChar char=""/>
              <a:tabLst>
                <a:tab pos="376555" algn="l"/>
              </a:tabLst>
            </a:pPr>
            <a:r>
              <a:rPr sz="3200" spc="-15" dirty="0">
                <a:latin typeface="Calibri"/>
                <a:cs typeface="Calibri"/>
              </a:rPr>
              <a:t>Pathogenic</a:t>
            </a:r>
            <a:r>
              <a:rPr sz="3200" spc="-25" dirty="0">
                <a:latin typeface="Calibri"/>
                <a:cs typeface="Calibri"/>
              </a:rPr>
              <a:t> </a:t>
            </a:r>
            <a:r>
              <a:rPr sz="3200" spc="-20" dirty="0">
                <a:latin typeface="Calibri"/>
                <a:cs typeface="Calibri"/>
              </a:rPr>
              <a:t>strains</a:t>
            </a:r>
            <a:endParaRPr sz="3200">
              <a:latin typeface="Calibri"/>
              <a:cs typeface="Calibri"/>
            </a:endParaRPr>
          </a:p>
        </p:txBody>
      </p:sp>
      <p:sp>
        <p:nvSpPr>
          <p:cNvPr id="9" name="object 9"/>
          <p:cNvSpPr txBox="1"/>
          <p:nvPr/>
        </p:nvSpPr>
        <p:spPr>
          <a:xfrm>
            <a:off x="4008107" y="3386772"/>
            <a:ext cx="3584575" cy="371475"/>
          </a:xfrm>
          <a:prstGeom prst="rect">
            <a:avLst/>
          </a:prstGeom>
          <a:solidFill>
            <a:srgbClr val="FFED00">
              <a:alpha val="50000"/>
            </a:srgbClr>
          </a:solidFill>
        </p:spPr>
        <p:txBody>
          <a:bodyPr vert="horz" wrap="square" lIns="0" tIns="0" rIns="0" bIns="0" rtlCol="0">
            <a:spAutoFit/>
          </a:bodyPr>
          <a:lstStyle/>
          <a:p>
            <a:pPr>
              <a:lnSpc>
                <a:spcPts val="2920"/>
              </a:lnSpc>
            </a:pPr>
            <a:r>
              <a:rPr sz="3200" spc="-15" dirty="0">
                <a:latin typeface="Calibri"/>
                <a:cs typeface="Calibri"/>
              </a:rPr>
              <a:t>invade </a:t>
            </a:r>
            <a:r>
              <a:rPr sz="3200" dirty="0">
                <a:latin typeface="Calibri"/>
                <a:cs typeface="Calibri"/>
              </a:rPr>
              <a:t>the </a:t>
            </a:r>
            <a:r>
              <a:rPr sz="3200" spc="-10" dirty="0">
                <a:latin typeface="Calibri"/>
                <a:cs typeface="Calibri"/>
              </a:rPr>
              <a:t>wall </a:t>
            </a:r>
            <a:r>
              <a:rPr sz="3200" dirty="0">
                <a:latin typeface="Calibri"/>
                <a:cs typeface="Calibri"/>
              </a:rPr>
              <a:t>of</a:t>
            </a:r>
            <a:r>
              <a:rPr sz="3200" spc="-45" dirty="0">
                <a:latin typeface="Calibri"/>
                <a:cs typeface="Calibri"/>
              </a:rPr>
              <a:t> </a:t>
            </a:r>
            <a:r>
              <a:rPr sz="3200" dirty="0">
                <a:latin typeface="Calibri"/>
                <a:cs typeface="Calibri"/>
              </a:rPr>
              <a:t>the</a:t>
            </a:r>
            <a:endParaRPr sz="3200">
              <a:latin typeface="Calibri"/>
              <a:cs typeface="Calibri"/>
            </a:endParaRPr>
          </a:p>
        </p:txBody>
      </p:sp>
      <p:sp>
        <p:nvSpPr>
          <p:cNvPr id="10" name="object 10"/>
          <p:cNvSpPr txBox="1"/>
          <p:nvPr/>
        </p:nvSpPr>
        <p:spPr>
          <a:xfrm>
            <a:off x="879144" y="3753992"/>
            <a:ext cx="1564005" cy="513715"/>
          </a:xfrm>
          <a:prstGeom prst="rect">
            <a:avLst/>
          </a:prstGeom>
        </p:spPr>
        <p:txBody>
          <a:bodyPr vert="horz" wrap="square" lIns="0" tIns="12700" rIns="0" bIns="0" rtlCol="0">
            <a:spAutoFit/>
          </a:bodyPr>
          <a:lstStyle/>
          <a:p>
            <a:pPr marL="12700">
              <a:lnSpc>
                <a:spcPct val="100000"/>
              </a:lnSpc>
              <a:spcBef>
                <a:spcPts val="100"/>
              </a:spcBef>
            </a:pPr>
            <a:r>
              <a:rPr sz="3200" spc="-15" dirty="0">
                <a:latin typeface="Calibri"/>
                <a:cs typeface="Calibri"/>
              </a:rPr>
              <a:t>intestine.</a:t>
            </a:r>
            <a:endParaRPr sz="3200">
              <a:latin typeface="Calibri"/>
              <a:cs typeface="Calibri"/>
            </a:endParaRPr>
          </a:p>
        </p:txBody>
      </p:sp>
      <p:sp>
        <p:nvSpPr>
          <p:cNvPr id="11" name="object 11"/>
          <p:cNvSpPr txBox="1"/>
          <p:nvPr/>
        </p:nvSpPr>
        <p:spPr>
          <a:xfrm>
            <a:off x="535940" y="4339209"/>
            <a:ext cx="388620"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Wingdings"/>
                <a:cs typeface="Wingdings"/>
              </a:rPr>
              <a:t></a:t>
            </a:r>
            <a:endParaRPr sz="3200">
              <a:latin typeface="Wingdings"/>
              <a:cs typeface="Wingdings"/>
            </a:endParaRPr>
          </a:p>
        </p:txBody>
      </p:sp>
      <p:sp>
        <p:nvSpPr>
          <p:cNvPr id="12" name="object 12"/>
          <p:cNvSpPr txBox="1"/>
          <p:nvPr/>
        </p:nvSpPr>
        <p:spPr>
          <a:xfrm>
            <a:off x="1003096" y="4460151"/>
            <a:ext cx="6718934" cy="370840"/>
          </a:xfrm>
          <a:prstGeom prst="rect">
            <a:avLst/>
          </a:prstGeom>
          <a:solidFill>
            <a:srgbClr val="FFED00">
              <a:alpha val="50000"/>
            </a:srgbClr>
          </a:solidFill>
        </p:spPr>
        <p:txBody>
          <a:bodyPr vert="horz" wrap="square" lIns="0" tIns="0" rIns="0" bIns="0" rtlCol="0">
            <a:spAutoFit/>
          </a:bodyPr>
          <a:lstStyle/>
          <a:p>
            <a:pPr>
              <a:lnSpc>
                <a:spcPts val="2920"/>
              </a:lnSpc>
            </a:pPr>
            <a:r>
              <a:rPr sz="3200" spc="-5" dirty="0">
                <a:latin typeface="Calibri"/>
                <a:cs typeface="Calibri"/>
              </a:rPr>
              <a:t>The </a:t>
            </a:r>
            <a:r>
              <a:rPr sz="3200" dirty="0">
                <a:latin typeface="Calibri"/>
                <a:cs typeface="Calibri"/>
              </a:rPr>
              <a:t>amoebae </a:t>
            </a:r>
            <a:r>
              <a:rPr sz="3200" spc="-5" dirty="0">
                <a:latin typeface="Calibri"/>
                <a:cs typeface="Calibri"/>
              </a:rPr>
              <a:t>multiply </a:t>
            </a:r>
            <a:r>
              <a:rPr sz="3200" dirty="0">
                <a:latin typeface="Calibri"/>
                <a:cs typeface="Calibri"/>
              </a:rPr>
              <a:t>in the</a:t>
            </a:r>
            <a:r>
              <a:rPr sz="3200" spc="30" dirty="0">
                <a:latin typeface="Calibri"/>
                <a:cs typeface="Calibri"/>
              </a:rPr>
              <a:t> </a:t>
            </a:r>
            <a:r>
              <a:rPr sz="3200" spc="-10" dirty="0">
                <a:latin typeface="Calibri"/>
                <a:cs typeface="Calibri"/>
              </a:rPr>
              <a:t>submucous</a:t>
            </a:r>
            <a:endParaRPr sz="3200">
              <a:latin typeface="Calibri"/>
              <a:cs typeface="Calibri"/>
            </a:endParaRPr>
          </a:p>
        </p:txBody>
      </p:sp>
      <p:sp>
        <p:nvSpPr>
          <p:cNvPr id="13" name="object 13"/>
          <p:cNvSpPr txBox="1"/>
          <p:nvPr/>
        </p:nvSpPr>
        <p:spPr>
          <a:xfrm>
            <a:off x="891844" y="4967960"/>
            <a:ext cx="6434455" cy="351155"/>
          </a:xfrm>
          <a:prstGeom prst="rect">
            <a:avLst/>
          </a:prstGeom>
          <a:solidFill>
            <a:srgbClr val="FFED00">
              <a:alpha val="50000"/>
            </a:srgbClr>
          </a:solidFill>
        </p:spPr>
        <p:txBody>
          <a:bodyPr vert="horz" wrap="square" lIns="0" tIns="0" rIns="0" bIns="0" rtlCol="0">
            <a:spAutoFit/>
          </a:bodyPr>
          <a:lstStyle/>
          <a:p>
            <a:pPr>
              <a:lnSpc>
                <a:spcPts val="2760"/>
              </a:lnSpc>
            </a:pPr>
            <a:r>
              <a:rPr sz="3200" spc="-65" dirty="0">
                <a:latin typeface="Calibri"/>
                <a:cs typeface="Calibri"/>
              </a:rPr>
              <a:t>layer, </a:t>
            </a:r>
            <a:r>
              <a:rPr sz="3200" spc="-15" dirty="0">
                <a:latin typeface="Calibri"/>
                <a:cs typeface="Calibri"/>
              </a:rPr>
              <a:t>forming </a:t>
            </a:r>
            <a:r>
              <a:rPr sz="3200" spc="-10" dirty="0">
                <a:latin typeface="Calibri"/>
                <a:cs typeface="Calibri"/>
              </a:rPr>
              <a:t>large-flask-shaped</a:t>
            </a:r>
            <a:r>
              <a:rPr sz="3200" spc="110" dirty="0">
                <a:latin typeface="Calibri"/>
                <a:cs typeface="Calibri"/>
              </a:rPr>
              <a:t> </a:t>
            </a:r>
            <a:r>
              <a:rPr sz="3200" spc="-15" dirty="0">
                <a:latin typeface="Calibri"/>
                <a:cs typeface="Calibri"/>
              </a:rPr>
              <a:t>ulcers</a:t>
            </a:r>
            <a:endParaRPr sz="3200">
              <a:latin typeface="Calibri"/>
              <a:cs typeface="Calibri"/>
            </a:endParaRPr>
          </a:p>
        </p:txBody>
      </p:sp>
      <p:sp>
        <p:nvSpPr>
          <p:cNvPr id="14" name="object 14"/>
          <p:cNvSpPr txBox="1"/>
          <p:nvPr/>
        </p:nvSpPr>
        <p:spPr>
          <a:xfrm>
            <a:off x="879144" y="5314899"/>
            <a:ext cx="4341495" cy="513715"/>
          </a:xfrm>
          <a:prstGeom prst="rect">
            <a:avLst/>
          </a:prstGeom>
        </p:spPr>
        <p:txBody>
          <a:bodyPr vert="horz" wrap="square" lIns="0" tIns="12700" rIns="0" bIns="0" rtlCol="0">
            <a:spAutoFit/>
          </a:bodyPr>
          <a:lstStyle/>
          <a:p>
            <a:pPr marL="12700">
              <a:lnSpc>
                <a:spcPct val="100000"/>
              </a:lnSpc>
              <a:spcBef>
                <a:spcPts val="100"/>
              </a:spcBef>
            </a:pPr>
            <a:r>
              <a:rPr sz="3200" spc="-10" dirty="0">
                <a:latin typeface="Calibri"/>
                <a:cs typeface="Calibri"/>
              </a:rPr>
              <a:t>containing necrotic</a:t>
            </a:r>
            <a:r>
              <a:rPr sz="3200" spc="-75" dirty="0">
                <a:latin typeface="Calibri"/>
                <a:cs typeface="Calibri"/>
              </a:rPr>
              <a:t> </a:t>
            </a:r>
            <a:r>
              <a:rPr sz="3200" dirty="0">
                <a:latin typeface="Calibri"/>
                <a:cs typeface="Calibri"/>
              </a:rPr>
              <a:t>tissue.</a:t>
            </a:r>
            <a:endParaRPr sz="3200">
              <a:latin typeface="Calibri"/>
              <a:cs typeface="Calibri"/>
            </a:endParaRPr>
          </a:p>
        </p:txBody>
      </p:sp>
    </p:spTree>
    <p:extLst>
      <p:ext uri="{BB962C8B-B14F-4D97-AF65-F5344CB8AC3E}">
        <p14:creationId xmlns:p14="http://schemas.microsoft.com/office/powerpoint/2010/main" val="888390911"/>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48640" y="4658995"/>
            <a:ext cx="6266180" cy="283210"/>
          </a:xfrm>
          <a:custGeom>
            <a:avLst/>
            <a:gdLst/>
            <a:ahLst/>
            <a:cxnLst/>
            <a:rect l="l" t="t" r="r" b="b"/>
            <a:pathLst>
              <a:path w="6266180" h="283210">
                <a:moveTo>
                  <a:pt x="0" y="0"/>
                </a:moveTo>
                <a:lnTo>
                  <a:pt x="6265671" y="0"/>
                </a:lnTo>
                <a:lnTo>
                  <a:pt x="6265671" y="282701"/>
                </a:lnTo>
                <a:lnTo>
                  <a:pt x="0" y="282701"/>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548640" y="4201795"/>
            <a:ext cx="4338320" cy="333375"/>
          </a:xfrm>
          <a:custGeom>
            <a:avLst/>
            <a:gdLst/>
            <a:ahLst/>
            <a:cxnLst/>
            <a:rect l="l" t="t" r="r" b="b"/>
            <a:pathLst>
              <a:path w="4338320" h="333375">
                <a:moveTo>
                  <a:pt x="0" y="0"/>
                </a:moveTo>
                <a:lnTo>
                  <a:pt x="4337989" y="0"/>
                </a:lnTo>
                <a:lnTo>
                  <a:pt x="4337989" y="333374"/>
                </a:lnTo>
                <a:lnTo>
                  <a:pt x="0" y="333374"/>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548640" y="3744595"/>
            <a:ext cx="3695065" cy="347345"/>
          </a:xfrm>
          <a:custGeom>
            <a:avLst/>
            <a:gdLst/>
            <a:ahLst/>
            <a:cxnLst/>
            <a:rect l="l" t="t" r="r" b="b"/>
            <a:pathLst>
              <a:path w="3695065" h="347345">
                <a:moveTo>
                  <a:pt x="0" y="0"/>
                </a:moveTo>
                <a:lnTo>
                  <a:pt x="3694480" y="0"/>
                </a:lnTo>
                <a:lnTo>
                  <a:pt x="3694480" y="347090"/>
                </a:lnTo>
                <a:lnTo>
                  <a:pt x="0" y="347090"/>
                </a:lnTo>
                <a:lnTo>
                  <a:pt x="0" y="0"/>
                </a:lnTo>
                <a:close/>
              </a:path>
            </a:pathLst>
          </a:custGeom>
          <a:solidFill>
            <a:srgbClr val="FFED00"/>
          </a:solidFill>
        </p:spPr>
        <p:txBody>
          <a:bodyPr wrap="square" lIns="0" tIns="0" rIns="0" bIns="0" rtlCol="0"/>
          <a:lstStyle/>
          <a:p>
            <a:endParaRPr/>
          </a:p>
        </p:txBody>
      </p:sp>
      <p:sp>
        <p:nvSpPr>
          <p:cNvPr id="5" name="object 5"/>
          <p:cNvSpPr/>
          <p:nvPr/>
        </p:nvSpPr>
        <p:spPr>
          <a:xfrm>
            <a:off x="891844" y="3286912"/>
            <a:ext cx="7618730" cy="347980"/>
          </a:xfrm>
          <a:custGeom>
            <a:avLst/>
            <a:gdLst/>
            <a:ahLst/>
            <a:cxnLst/>
            <a:rect l="l" t="t" r="r" b="b"/>
            <a:pathLst>
              <a:path w="7618730" h="347979">
                <a:moveTo>
                  <a:pt x="0" y="0"/>
                </a:moveTo>
                <a:lnTo>
                  <a:pt x="7618310" y="0"/>
                </a:lnTo>
                <a:lnTo>
                  <a:pt x="7618310" y="347370"/>
                </a:lnTo>
                <a:lnTo>
                  <a:pt x="0" y="347370"/>
                </a:lnTo>
                <a:lnTo>
                  <a:pt x="0" y="0"/>
                </a:lnTo>
                <a:close/>
              </a:path>
            </a:pathLst>
          </a:custGeom>
          <a:solidFill>
            <a:srgbClr val="FFED00"/>
          </a:solidFill>
        </p:spPr>
        <p:txBody>
          <a:bodyPr wrap="square" lIns="0" tIns="0" rIns="0" bIns="0" rtlCol="0"/>
          <a:lstStyle/>
          <a:p>
            <a:endParaRPr/>
          </a:p>
        </p:txBody>
      </p:sp>
      <p:sp>
        <p:nvSpPr>
          <p:cNvPr id="6" name="object 6"/>
          <p:cNvSpPr txBox="1">
            <a:spLocks noGrp="1"/>
          </p:cNvSpPr>
          <p:nvPr>
            <p:ph type="title"/>
          </p:nvPr>
        </p:nvSpPr>
        <p:spPr>
          <a:xfrm>
            <a:off x="2562605" y="461899"/>
            <a:ext cx="4017645" cy="696595"/>
          </a:xfrm>
          <a:prstGeom prst="rect">
            <a:avLst/>
          </a:prstGeom>
        </p:spPr>
        <p:txBody>
          <a:bodyPr vert="horz" wrap="square" lIns="0" tIns="13335" rIns="0" bIns="0" rtlCol="0">
            <a:spAutoFit/>
          </a:bodyPr>
          <a:lstStyle/>
          <a:p>
            <a:pPr marL="12700">
              <a:lnSpc>
                <a:spcPct val="100000"/>
              </a:lnSpc>
              <a:spcBef>
                <a:spcPts val="105"/>
              </a:spcBef>
            </a:pPr>
            <a:r>
              <a:rPr sz="4400" b="0" i="0" spc="-15" dirty="0">
                <a:latin typeface="Calibri"/>
                <a:cs typeface="Calibri"/>
              </a:rPr>
              <a:t>Intestinal</a:t>
            </a:r>
            <a:r>
              <a:rPr sz="4400" b="0" i="0" spc="-30" dirty="0">
                <a:latin typeface="Calibri"/>
                <a:cs typeface="Calibri"/>
              </a:rPr>
              <a:t> </a:t>
            </a:r>
            <a:r>
              <a:rPr sz="4400" b="0" i="0" spc="-35" dirty="0">
                <a:latin typeface="Calibri"/>
                <a:cs typeface="Calibri"/>
              </a:rPr>
              <a:t>(cont’d)</a:t>
            </a:r>
            <a:endParaRPr sz="4400">
              <a:latin typeface="Calibri"/>
              <a:cs typeface="Calibri"/>
            </a:endParaRPr>
          </a:p>
        </p:txBody>
      </p:sp>
      <p:sp>
        <p:nvSpPr>
          <p:cNvPr id="7" name="object 7"/>
          <p:cNvSpPr txBox="1"/>
          <p:nvPr/>
        </p:nvSpPr>
        <p:spPr>
          <a:xfrm>
            <a:off x="578612" y="1526794"/>
            <a:ext cx="7973695" cy="940435"/>
          </a:xfrm>
          <a:prstGeom prst="rect">
            <a:avLst/>
          </a:prstGeom>
        </p:spPr>
        <p:txBody>
          <a:bodyPr vert="horz" wrap="square" lIns="0" tIns="12700" rIns="0" bIns="0" rtlCol="0">
            <a:spAutoFit/>
          </a:bodyPr>
          <a:lstStyle/>
          <a:p>
            <a:pPr marL="1987550">
              <a:lnSpc>
                <a:spcPct val="100000"/>
              </a:lnSpc>
              <a:spcBef>
                <a:spcPts val="100"/>
              </a:spcBef>
            </a:pPr>
            <a:r>
              <a:rPr sz="3000" b="1" spc="-15" dirty="0">
                <a:latin typeface="Calibri"/>
                <a:cs typeface="Calibri"/>
              </a:rPr>
              <a:t>Symptoms </a:t>
            </a:r>
            <a:r>
              <a:rPr sz="3000" b="1" dirty="0">
                <a:latin typeface="Calibri"/>
                <a:cs typeface="Calibri"/>
              </a:rPr>
              <a:t>and </a:t>
            </a:r>
            <a:r>
              <a:rPr sz="3000" b="1" spc="-15" dirty="0">
                <a:latin typeface="Calibri"/>
                <a:cs typeface="Calibri"/>
              </a:rPr>
              <a:t>Pathology</a:t>
            </a:r>
            <a:endParaRPr sz="3000">
              <a:latin typeface="Calibri"/>
              <a:cs typeface="Calibri"/>
            </a:endParaRPr>
          </a:p>
          <a:p>
            <a:pPr marL="355600" indent="-343535">
              <a:lnSpc>
                <a:spcPct val="100000"/>
              </a:lnSpc>
              <a:buSzPct val="96666"/>
              <a:buFont typeface="Wingdings"/>
              <a:buChar char=""/>
              <a:tabLst>
                <a:tab pos="356235" algn="l"/>
              </a:tabLst>
            </a:pPr>
            <a:r>
              <a:rPr sz="3000" spc="-35" dirty="0">
                <a:latin typeface="Calibri"/>
                <a:cs typeface="Calibri"/>
              </a:rPr>
              <a:t>At </a:t>
            </a:r>
            <a:r>
              <a:rPr sz="3000" dirty="0">
                <a:latin typeface="Calibri"/>
                <a:cs typeface="Calibri"/>
              </a:rPr>
              <a:t>this </a:t>
            </a:r>
            <a:r>
              <a:rPr sz="3000" spc="-15" dirty="0">
                <a:latin typeface="Calibri"/>
                <a:cs typeface="Calibri"/>
              </a:rPr>
              <a:t>stage, there </a:t>
            </a:r>
            <a:r>
              <a:rPr sz="3000" dirty="0">
                <a:latin typeface="Calibri"/>
                <a:cs typeface="Calibri"/>
              </a:rPr>
              <a:t>is </a:t>
            </a:r>
            <a:r>
              <a:rPr sz="3000" spc="-5" dirty="0">
                <a:latin typeface="Calibri"/>
                <a:cs typeface="Calibri"/>
              </a:rPr>
              <a:t>caused, </a:t>
            </a:r>
            <a:r>
              <a:rPr sz="3000" spc="-10" dirty="0">
                <a:latin typeface="Calibri"/>
                <a:cs typeface="Calibri"/>
              </a:rPr>
              <a:t>low </a:t>
            </a:r>
            <a:r>
              <a:rPr sz="3000" dirty="0">
                <a:latin typeface="Calibri"/>
                <a:cs typeface="Calibri"/>
              </a:rPr>
              <a:t>abdominal</a:t>
            </a:r>
            <a:r>
              <a:rPr sz="3000" spc="-50" dirty="0">
                <a:latin typeface="Calibri"/>
                <a:cs typeface="Calibri"/>
              </a:rPr>
              <a:t> </a:t>
            </a:r>
            <a:r>
              <a:rPr sz="3000" spc="-5" dirty="0">
                <a:latin typeface="Calibri"/>
                <a:cs typeface="Calibri"/>
              </a:rPr>
              <a:t>pain</a:t>
            </a:r>
            <a:endParaRPr sz="3000">
              <a:latin typeface="Calibri"/>
              <a:cs typeface="Calibri"/>
            </a:endParaRPr>
          </a:p>
        </p:txBody>
      </p:sp>
      <p:sp>
        <p:nvSpPr>
          <p:cNvPr id="8" name="object 8"/>
          <p:cNvSpPr txBox="1"/>
          <p:nvPr/>
        </p:nvSpPr>
        <p:spPr>
          <a:xfrm>
            <a:off x="1181404" y="2483230"/>
            <a:ext cx="7135495" cy="328295"/>
          </a:xfrm>
          <a:prstGeom prst="rect">
            <a:avLst/>
          </a:prstGeom>
          <a:solidFill>
            <a:srgbClr val="FFED00">
              <a:alpha val="50000"/>
            </a:srgbClr>
          </a:solidFill>
        </p:spPr>
        <p:txBody>
          <a:bodyPr vert="horz" wrap="square" lIns="0" tIns="0" rIns="0" bIns="0" rtlCol="0">
            <a:spAutoFit/>
          </a:bodyPr>
          <a:lstStyle/>
          <a:p>
            <a:pPr>
              <a:lnSpc>
                <a:spcPts val="2585"/>
              </a:lnSpc>
            </a:pPr>
            <a:r>
              <a:rPr sz="3000" dirty="0">
                <a:latin typeface="Calibri"/>
                <a:cs typeface="Calibri"/>
              </a:rPr>
              <a:t>and </a:t>
            </a:r>
            <a:r>
              <a:rPr sz="3000" spc="-10" dirty="0">
                <a:latin typeface="Calibri"/>
                <a:cs typeface="Calibri"/>
              </a:rPr>
              <a:t>acute </a:t>
            </a:r>
            <a:r>
              <a:rPr sz="3000" spc="-20" dirty="0">
                <a:latin typeface="Calibri"/>
                <a:cs typeface="Calibri"/>
              </a:rPr>
              <a:t>attacks </a:t>
            </a:r>
            <a:r>
              <a:rPr sz="3000" spc="-5" dirty="0">
                <a:latin typeface="Calibri"/>
                <a:cs typeface="Calibri"/>
              </a:rPr>
              <a:t>of </a:t>
            </a:r>
            <a:r>
              <a:rPr sz="3000" spc="-15" dirty="0">
                <a:latin typeface="Calibri"/>
                <a:cs typeface="Calibri"/>
              </a:rPr>
              <a:t>dysentery </a:t>
            </a:r>
            <a:r>
              <a:rPr sz="3000" dirty="0">
                <a:latin typeface="Calibri"/>
                <a:cs typeface="Calibri"/>
              </a:rPr>
              <a:t>with </a:t>
            </a:r>
            <a:r>
              <a:rPr sz="3000" spc="-10" dirty="0">
                <a:latin typeface="Calibri"/>
                <a:cs typeface="Calibri"/>
              </a:rPr>
              <a:t>blood</a:t>
            </a:r>
            <a:r>
              <a:rPr sz="3000" spc="-60" dirty="0">
                <a:latin typeface="Calibri"/>
                <a:cs typeface="Calibri"/>
              </a:rPr>
              <a:t> </a:t>
            </a:r>
            <a:r>
              <a:rPr sz="3000" dirty="0">
                <a:latin typeface="Calibri"/>
                <a:cs typeface="Calibri"/>
              </a:rPr>
              <a:t>and</a:t>
            </a:r>
            <a:endParaRPr sz="3000">
              <a:latin typeface="Calibri"/>
              <a:cs typeface="Calibri"/>
            </a:endParaRPr>
          </a:p>
        </p:txBody>
      </p:sp>
      <p:sp>
        <p:nvSpPr>
          <p:cNvPr id="9" name="object 9"/>
          <p:cNvSpPr txBox="1"/>
          <p:nvPr/>
        </p:nvSpPr>
        <p:spPr>
          <a:xfrm>
            <a:off x="3167507" y="2848991"/>
            <a:ext cx="3163570" cy="264160"/>
          </a:xfrm>
          <a:prstGeom prst="rect">
            <a:avLst/>
          </a:prstGeom>
          <a:solidFill>
            <a:srgbClr val="FFED00">
              <a:alpha val="50000"/>
            </a:srgbClr>
          </a:solidFill>
        </p:spPr>
        <p:txBody>
          <a:bodyPr vert="horz" wrap="square" lIns="0" tIns="0" rIns="0" bIns="0" rtlCol="0">
            <a:spAutoFit/>
          </a:bodyPr>
          <a:lstStyle/>
          <a:p>
            <a:pPr>
              <a:lnSpc>
                <a:spcPts val="2075"/>
              </a:lnSpc>
            </a:pPr>
            <a:r>
              <a:rPr sz="3000" dirty="0">
                <a:latin typeface="Calibri"/>
                <a:cs typeface="Calibri"/>
              </a:rPr>
              <a:t>mucus </a:t>
            </a:r>
            <a:r>
              <a:rPr sz="3000" spc="-5" dirty="0">
                <a:latin typeface="Calibri"/>
                <a:cs typeface="Calibri"/>
              </a:rPr>
              <a:t>in </a:t>
            </a:r>
            <a:r>
              <a:rPr sz="3000" dirty="0">
                <a:latin typeface="Calibri"/>
                <a:cs typeface="Calibri"/>
              </a:rPr>
              <a:t>the</a:t>
            </a:r>
            <a:r>
              <a:rPr sz="3000" spc="-130" dirty="0">
                <a:latin typeface="Calibri"/>
                <a:cs typeface="Calibri"/>
              </a:rPr>
              <a:t> </a:t>
            </a:r>
            <a:r>
              <a:rPr sz="3000" spc="-10" dirty="0">
                <a:latin typeface="Calibri"/>
                <a:cs typeface="Calibri"/>
              </a:rPr>
              <a:t>faeces.</a:t>
            </a:r>
            <a:endParaRPr sz="3000">
              <a:latin typeface="Calibri"/>
              <a:cs typeface="Calibri"/>
            </a:endParaRPr>
          </a:p>
        </p:txBody>
      </p:sp>
      <p:sp>
        <p:nvSpPr>
          <p:cNvPr id="10" name="object 10"/>
          <p:cNvSpPr txBox="1"/>
          <p:nvPr/>
        </p:nvSpPr>
        <p:spPr>
          <a:xfrm>
            <a:off x="535940" y="3172790"/>
            <a:ext cx="7985125" cy="1854835"/>
          </a:xfrm>
          <a:prstGeom prst="rect">
            <a:avLst/>
          </a:prstGeom>
        </p:spPr>
        <p:txBody>
          <a:bodyPr vert="horz" wrap="square" lIns="0" tIns="12700" rIns="0" bIns="0" rtlCol="0">
            <a:spAutoFit/>
          </a:bodyPr>
          <a:lstStyle/>
          <a:p>
            <a:pPr marL="355600" indent="-343535">
              <a:lnSpc>
                <a:spcPct val="100000"/>
              </a:lnSpc>
              <a:spcBef>
                <a:spcPts val="100"/>
              </a:spcBef>
              <a:buSzPct val="96666"/>
              <a:buFont typeface="Wingdings"/>
              <a:buChar char=""/>
              <a:tabLst>
                <a:tab pos="356235" algn="l"/>
              </a:tabLst>
            </a:pPr>
            <a:r>
              <a:rPr sz="3000" spc="-15" dirty="0">
                <a:latin typeface="Calibri"/>
                <a:cs typeface="Calibri"/>
              </a:rPr>
              <a:t>Development </a:t>
            </a:r>
            <a:r>
              <a:rPr sz="3000" spc="-5" dirty="0">
                <a:latin typeface="Calibri"/>
                <a:cs typeface="Calibri"/>
              </a:rPr>
              <a:t>of </a:t>
            </a:r>
            <a:r>
              <a:rPr sz="3000" spc="-20" dirty="0">
                <a:latin typeface="Calibri"/>
                <a:cs typeface="Calibri"/>
              </a:rPr>
              <a:t>invasive </a:t>
            </a:r>
            <a:r>
              <a:rPr sz="3000" spc="-5" dirty="0">
                <a:latin typeface="Calibri"/>
                <a:cs typeface="Calibri"/>
              </a:rPr>
              <a:t>amoebiasis </a:t>
            </a:r>
            <a:r>
              <a:rPr sz="3000" spc="-10" dirty="0">
                <a:latin typeface="Calibri"/>
                <a:cs typeface="Calibri"/>
              </a:rPr>
              <a:t>depends</a:t>
            </a:r>
            <a:r>
              <a:rPr sz="3000" spc="70" dirty="0">
                <a:latin typeface="Calibri"/>
                <a:cs typeface="Calibri"/>
              </a:rPr>
              <a:t> </a:t>
            </a:r>
            <a:r>
              <a:rPr sz="3000" spc="-5" dirty="0">
                <a:latin typeface="Calibri"/>
                <a:cs typeface="Calibri"/>
              </a:rPr>
              <a:t>on;</a:t>
            </a:r>
            <a:endParaRPr sz="3000">
              <a:latin typeface="Calibri"/>
              <a:cs typeface="Calibri"/>
            </a:endParaRPr>
          </a:p>
          <a:p>
            <a:pPr marL="355600" indent="-343535">
              <a:lnSpc>
                <a:spcPct val="100000"/>
              </a:lnSpc>
              <a:spcBef>
                <a:spcPts val="5"/>
              </a:spcBef>
              <a:buFont typeface="Wingdings"/>
              <a:buChar char=""/>
              <a:tabLst>
                <a:tab pos="356235" algn="l"/>
              </a:tabLst>
            </a:pPr>
            <a:r>
              <a:rPr sz="3000" spc="-5" dirty="0">
                <a:latin typeface="Calibri"/>
                <a:cs typeface="Calibri"/>
              </a:rPr>
              <a:t>The </a:t>
            </a:r>
            <a:r>
              <a:rPr sz="3000" spc="-10" dirty="0">
                <a:latin typeface="Calibri"/>
                <a:cs typeface="Calibri"/>
              </a:rPr>
              <a:t>level </a:t>
            </a:r>
            <a:r>
              <a:rPr sz="3000" spc="-5" dirty="0">
                <a:latin typeface="Calibri"/>
                <a:cs typeface="Calibri"/>
              </a:rPr>
              <a:t>of</a:t>
            </a:r>
            <a:r>
              <a:rPr sz="3000" spc="-25" dirty="0">
                <a:latin typeface="Calibri"/>
                <a:cs typeface="Calibri"/>
              </a:rPr>
              <a:t> </a:t>
            </a:r>
            <a:r>
              <a:rPr sz="3000" spc="-5" dirty="0">
                <a:latin typeface="Calibri"/>
                <a:cs typeface="Calibri"/>
              </a:rPr>
              <a:t>immunity</a:t>
            </a:r>
            <a:endParaRPr sz="3000">
              <a:latin typeface="Calibri"/>
              <a:cs typeface="Calibri"/>
            </a:endParaRPr>
          </a:p>
          <a:p>
            <a:pPr marL="355600" indent="-343535">
              <a:lnSpc>
                <a:spcPct val="100000"/>
              </a:lnSpc>
              <a:buFont typeface="Wingdings"/>
              <a:buChar char=""/>
              <a:tabLst>
                <a:tab pos="356235" algn="l"/>
              </a:tabLst>
            </a:pPr>
            <a:r>
              <a:rPr sz="3000" spc="-5" dirty="0">
                <a:latin typeface="Calibri"/>
                <a:cs typeface="Calibri"/>
              </a:rPr>
              <a:t>The </a:t>
            </a:r>
            <a:r>
              <a:rPr sz="3000" spc="-10" dirty="0">
                <a:latin typeface="Calibri"/>
                <a:cs typeface="Calibri"/>
              </a:rPr>
              <a:t>level </a:t>
            </a:r>
            <a:r>
              <a:rPr sz="3000" spc="-5" dirty="0">
                <a:latin typeface="Calibri"/>
                <a:cs typeface="Calibri"/>
              </a:rPr>
              <a:t>of nutrition,</a:t>
            </a:r>
            <a:r>
              <a:rPr sz="3000" spc="-35" dirty="0">
                <a:latin typeface="Calibri"/>
                <a:cs typeface="Calibri"/>
              </a:rPr>
              <a:t> </a:t>
            </a:r>
            <a:r>
              <a:rPr sz="3000" spc="-5" dirty="0">
                <a:latin typeface="Calibri"/>
                <a:cs typeface="Calibri"/>
              </a:rPr>
              <a:t>and</a:t>
            </a:r>
            <a:endParaRPr sz="3000">
              <a:latin typeface="Calibri"/>
              <a:cs typeface="Calibri"/>
            </a:endParaRPr>
          </a:p>
          <a:p>
            <a:pPr marL="355600" indent="-343535">
              <a:lnSpc>
                <a:spcPct val="100000"/>
              </a:lnSpc>
              <a:buFont typeface="Wingdings"/>
              <a:buChar char=""/>
              <a:tabLst>
                <a:tab pos="356235" algn="l"/>
              </a:tabLst>
            </a:pPr>
            <a:r>
              <a:rPr sz="3000" spc="-5" dirty="0">
                <a:latin typeface="Calibri"/>
                <a:cs typeface="Calibri"/>
              </a:rPr>
              <a:t>The </a:t>
            </a:r>
            <a:r>
              <a:rPr sz="3000" spc="-15" dirty="0">
                <a:latin typeface="Calibri"/>
                <a:cs typeface="Calibri"/>
              </a:rPr>
              <a:t>intestinal </a:t>
            </a:r>
            <a:r>
              <a:rPr sz="3000" spc="-20" dirty="0">
                <a:latin typeface="Calibri"/>
                <a:cs typeface="Calibri"/>
              </a:rPr>
              <a:t>environment </a:t>
            </a:r>
            <a:r>
              <a:rPr sz="3000" spc="-5" dirty="0">
                <a:latin typeface="Calibri"/>
                <a:cs typeface="Calibri"/>
              </a:rPr>
              <a:t>of </a:t>
            </a:r>
            <a:r>
              <a:rPr sz="3000" dirty="0">
                <a:latin typeface="Calibri"/>
                <a:cs typeface="Calibri"/>
              </a:rPr>
              <a:t>the</a:t>
            </a:r>
            <a:r>
              <a:rPr sz="3000" spc="10" dirty="0">
                <a:latin typeface="Calibri"/>
                <a:cs typeface="Calibri"/>
              </a:rPr>
              <a:t> </a:t>
            </a:r>
            <a:r>
              <a:rPr sz="3000" spc="-15" dirty="0">
                <a:latin typeface="Calibri"/>
                <a:cs typeface="Calibri"/>
              </a:rPr>
              <a:t>host</a:t>
            </a:r>
            <a:endParaRPr sz="3000">
              <a:latin typeface="Calibri"/>
              <a:cs typeface="Calibri"/>
            </a:endParaRPr>
          </a:p>
        </p:txBody>
      </p:sp>
      <p:sp>
        <p:nvSpPr>
          <p:cNvPr id="11" name="object 11"/>
          <p:cNvSpPr txBox="1"/>
          <p:nvPr/>
        </p:nvSpPr>
        <p:spPr>
          <a:xfrm>
            <a:off x="548640" y="5116576"/>
            <a:ext cx="7757795" cy="347345"/>
          </a:xfrm>
          <a:prstGeom prst="rect">
            <a:avLst/>
          </a:prstGeom>
          <a:solidFill>
            <a:srgbClr val="FFED00">
              <a:alpha val="50000"/>
            </a:srgbClr>
          </a:solidFill>
        </p:spPr>
        <p:txBody>
          <a:bodyPr vert="horz" wrap="square" lIns="0" tIns="0" rIns="0" bIns="0" rtlCol="0">
            <a:spAutoFit/>
          </a:bodyPr>
          <a:lstStyle/>
          <a:p>
            <a:pPr marL="342900" indent="-343535">
              <a:lnSpc>
                <a:spcPts val="2735"/>
              </a:lnSpc>
              <a:buFont typeface="Wingdings"/>
              <a:buChar char=""/>
              <a:tabLst>
                <a:tab pos="343535" algn="l"/>
              </a:tabLst>
            </a:pPr>
            <a:r>
              <a:rPr sz="3000" spc="-15" dirty="0">
                <a:latin typeface="Calibri"/>
                <a:cs typeface="Calibri"/>
              </a:rPr>
              <a:t>Dysenteric </a:t>
            </a:r>
            <a:r>
              <a:rPr sz="3000" spc="-20" dirty="0">
                <a:latin typeface="Calibri"/>
                <a:cs typeface="Calibri"/>
              </a:rPr>
              <a:t>attacks may </a:t>
            </a:r>
            <a:r>
              <a:rPr sz="3000" spc="-10" dirty="0">
                <a:latin typeface="Calibri"/>
                <a:cs typeface="Calibri"/>
              </a:rPr>
              <a:t>continue </a:t>
            </a:r>
            <a:r>
              <a:rPr sz="3000" spc="-25" dirty="0">
                <a:latin typeface="Calibri"/>
                <a:cs typeface="Calibri"/>
              </a:rPr>
              <a:t>for </a:t>
            </a:r>
            <a:r>
              <a:rPr sz="3000" spc="-20" dirty="0">
                <a:latin typeface="Calibri"/>
                <a:cs typeface="Calibri"/>
              </a:rPr>
              <a:t>years, </a:t>
            </a:r>
            <a:r>
              <a:rPr sz="3000" dirty="0">
                <a:latin typeface="Calibri"/>
                <a:cs typeface="Calibri"/>
              </a:rPr>
              <a:t>if</a:t>
            </a:r>
            <a:r>
              <a:rPr sz="3000" spc="35" dirty="0">
                <a:latin typeface="Calibri"/>
                <a:cs typeface="Calibri"/>
              </a:rPr>
              <a:t> </a:t>
            </a:r>
            <a:r>
              <a:rPr sz="3000" spc="-5" dirty="0">
                <a:latin typeface="Calibri"/>
                <a:cs typeface="Calibri"/>
              </a:rPr>
              <a:t>not</a:t>
            </a:r>
            <a:endParaRPr sz="3000">
              <a:latin typeface="Calibri"/>
              <a:cs typeface="Calibri"/>
            </a:endParaRPr>
          </a:p>
        </p:txBody>
      </p:sp>
      <p:sp>
        <p:nvSpPr>
          <p:cNvPr id="12" name="object 12"/>
          <p:cNvSpPr txBox="1"/>
          <p:nvPr/>
        </p:nvSpPr>
        <p:spPr>
          <a:xfrm>
            <a:off x="891844" y="5503621"/>
            <a:ext cx="1245870" cy="261620"/>
          </a:xfrm>
          <a:prstGeom prst="rect">
            <a:avLst/>
          </a:prstGeom>
          <a:solidFill>
            <a:srgbClr val="FFED00">
              <a:alpha val="50000"/>
            </a:srgbClr>
          </a:solidFill>
        </p:spPr>
        <p:txBody>
          <a:bodyPr vert="horz" wrap="square" lIns="0" tIns="0" rIns="0" bIns="0" rtlCol="0">
            <a:spAutoFit/>
          </a:bodyPr>
          <a:lstStyle/>
          <a:p>
            <a:pPr>
              <a:lnSpc>
                <a:spcPts val="2060"/>
              </a:lnSpc>
            </a:pPr>
            <a:r>
              <a:rPr sz="3000" dirty="0">
                <a:latin typeface="Calibri"/>
                <a:cs typeface="Calibri"/>
              </a:rPr>
              <a:t>t</a:t>
            </a:r>
            <a:r>
              <a:rPr sz="3000" spc="-40" dirty="0">
                <a:latin typeface="Calibri"/>
                <a:cs typeface="Calibri"/>
              </a:rPr>
              <a:t>r</a:t>
            </a:r>
            <a:r>
              <a:rPr sz="3000" dirty="0">
                <a:latin typeface="Calibri"/>
                <a:cs typeface="Calibri"/>
              </a:rPr>
              <a:t>e</a:t>
            </a:r>
            <a:r>
              <a:rPr sz="3000" spc="-30" dirty="0">
                <a:latin typeface="Calibri"/>
                <a:cs typeface="Calibri"/>
              </a:rPr>
              <a:t>a</a:t>
            </a:r>
            <a:r>
              <a:rPr sz="3000" spc="-35" dirty="0">
                <a:latin typeface="Calibri"/>
                <a:cs typeface="Calibri"/>
              </a:rPr>
              <a:t>t</a:t>
            </a:r>
            <a:r>
              <a:rPr sz="3000" dirty="0">
                <a:latin typeface="Calibri"/>
                <a:cs typeface="Calibri"/>
              </a:rPr>
              <a:t>e</a:t>
            </a:r>
            <a:r>
              <a:rPr sz="3000" spc="-10" dirty="0">
                <a:latin typeface="Calibri"/>
                <a:cs typeface="Calibri"/>
              </a:rPr>
              <a:t>d</a:t>
            </a:r>
            <a:r>
              <a:rPr sz="3000" dirty="0">
                <a:latin typeface="Calibri"/>
                <a:cs typeface="Calibri"/>
              </a:rPr>
              <a:t>.</a:t>
            </a:r>
            <a:endParaRPr sz="3000">
              <a:latin typeface="Calibri"/>
              <a:cs typeface="Calibri"/>
            </a:endParaRPr>
          </a:p>
        </p:txBody>
      </p:sp>
    </p:spTree>
    <p:extLst>
      <p:ext uri="{BB962C8B-B14F-4D97-AF65-F5344CB8AC3E}">
        <p14:creationId xmlns:p14="http://schemas.microsoft.com/office/powerpoint/2010/main" val="346609755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77188" y="4933086"/>
            <a:ext cx="3341370" cy="344170"/>
          </a:xfrm>
          <a:custGeom>
            <a:avLst/>
            <a:gdLst/>
            <a:ahLst/>
            <a:cxnLst/>
            <a:rect l="l" t="t" r="r" b="b"/>
            <a:pathLst>
              <a:path w="3341370" h="344170">
                <a:moveTo>
                  <a:pt x="0" y="0"/>
                </a:moveTo>
                <a:lnTo>
                  <a:pt x="3341369" y="0"/>
                </a:lnTo>
                <a:lnTo>
                  <a:pt x="3341369" y="343560"/>
                </a:lnTo>
                <a:lnTo>
                  <a:pt x="0" y="343560"/>
                </a:lnTo>
                <a:lnTo>
                  <a:pt x="0" y="0"/>
                </a:lnTo>
                <a:close/>
              </a:path>
            </a:pathLst>
          </a:custGeom>
          <a:solidFill>
            <a:srgbClr val="FFED00"/>
          </a:solidFill>
        </p:spPr>
        <p:txBody>
          <a:bodyPr wrap="square" lIns="0" tIns="0" rIns="0" bIns="0" rtlCol="0"/>
          <a:lstStyle/>
          <a:p>
            <a:endParaRPr/>
          </a:p>
        </p:txBody>
      </p:sp>
      <p:sp>
        <p:nvSpPr>
          <p:cNvPr id="3" name="object 3"/>
          <p:cNvSpPr txBox="1">
            <a:spLocks noGrp="1"/>
          </p:cNvSpPr>
          <p:nvPr>
            <p:ph type="title"/>
          </p:nvPr>
        </p:nvSpPr>
        <p:spPr>
          <a:xfrm>
            <a:off x="2562605" y="461899"/>
            <a:ext cx="4017645" cy="696595"/>
          </a:xfrm>
          <a:prstGeom prst="rect">
            <a:avLst/>
          </a:prstGeom>
        </p:spPr>
        <p:txBody>
          <a:bodyPr vert="horz" wrap="square" lIns="0" tIns="13335" rIns="0" bIns="0" rtlCol="0">
            <a:spAutoFit/>
          </a:bodyPr>
          <a:lstStyle/>
          <a:p>
            <a:pPr marL="12700">
              <a:lnSpc>
                <a:spcPct val="100000"/>
              </a:lnSpc>
              <a:spcBef>
                <a:spcPts val="105"/>
              </a:spcBef>
            </a:pPr>
            <a:r>
              <a:rPr sz="4400" b="0" i="0" spc="-15" dirty="0">
                <a:latin typeface="Calibri"/>
                <a:cs typeface="Calibri"/>
              </a:rPr>
              <a:t>Intestinal</a:t>
            </a:r>
            <a:r>
              <a:rPr sz="4400" b="0" i="0" spc="-25" dirty="0">
                <a:latin typeface="Calibri"/>
                <a:cs typeface="Calibri"/>
              </a:rPr>
              <a:t> </a:t>
            </a:r>
            <a:r>
              <a:rPr sz="4400" b="0" i="0" spc="-35" dirty="0">
                <a:latin typeface="Calibri"/>
                <a:cs typeface="Calibri"/>
              </a:rPr>
              <a:t>(cont’d)</a:t>
            </a:r>
            <a:endParaRPr sz="4400">
              <a:latin typeface="Calibri"/>
              <a:cs typeface="Calibri"/>
            </a:endParaRPr>
          </a:p>
        </p:txBody>
      </p:sp>
      <p:sp>
        <p:nvSpPr>
          <p:cNvPr id="4" name="object 4"/>
          <p:cNvSpPr txBox="1"/>
          <p:nvPr/>
        </p:nvSpPr>
        <p:spPr>
          <a:xfrm>
            <a:off x="1898650" y="1526794"/>
            <a:ext cx="5346700" cy="482600"/>
          </a:xfrm>
          <a:prstGeom prst="rect">
            <a:avLst/>
          </a:prstGeom>
        </p:spPr>
        <p:txBody>
          <a:bodyPr vert="horz" wrap="square" lIns="0" tIns="12700" rIns="0" bIns="0" rtlCol="0">
            <a:spAutoFit/>
          </a:bodyPr>
          <a:lstStyle/>
          <a:p>
            <a:pPr marL="12700">
              <a:lnSpc>
                <a:spcPct val="100000"/>
              </a:lnSpc>
              <a:spcBef>
                <a:spcPts val="100"/>
              </a:spcBef>
            </a:pPr>
            <a:r>
              <a:rPr sz="3000" b="1" spc="-15" dirty="0">
                <a:latin typeface="Calibri"/>
                <a:cs typeface="Calibri"/>
              </a:rPr>
              <a:t>Symptoms </a:t>
            </a:r>
            <a:r>
              <a:rPr sz="3000" b="1" spc="-5" dirty="0">
                <a:latin typeface="Calibri"/>
                <a:cs typeface="Calibri"/>
              </a:rPr>
              <a:t>and </a:t>
            </a:r>
            <a:r>
              <a:rPr sz="3000" b="1" spc="-15" dirty="0">
                <a:latin typeface="Calibri"/>
                <a:cs typeface="Calibri"/>
              </a:rPr>
              <a:t>Pathology </a:t>
            </a:r>
            <a:r>
              <a:rPr sz="3000" b="1" spc="-20" dirty="0">
                <a:latin typeface="Calibri"/>
                <a:cs typeface="Calibri"/>
              </a:rPr>
              <a:t>(cont’d)</a:t>
            </a:r>
            <a:endParaRPr sz="3000">
              <a:latin typeface="Calibri"/>
              <a:cs typeface="Calibri"/>
            </a:endParaRPr>
          </a:p>
        </p:txBody>
      </p:sp>
      <p:sp>
        <p:nvSpPr>
          <p:cNvPr id="5" name="object 5"/>
          <p:cNvSpPr txBox="1"/>
          <p:nvPr/>
        </p:nvSpPr>
        <p:spPr>
          <a:xfrm>
            <a:off x="535940" y="2441575"/>
            <a:ext cx="365125" cy="482600"/>
          </a:xfrm>
          <a:prstGeom prst="rect">
            <a:avLst/>
          </a:prstGeom>
        </p:spPr>
        <p:txBody>
          <a:bodyPr vert="horz" wrap="square" lIns="0" tIns="12700" rIns="0" bIns="0" rtlCol="0">
            <a:spAutoFit/>
          </a:bodyPr>
          <a:lstStyle/>
          <a:p>
            <a:pPr marL="12700">
              <a:lnSpc>
                <a:spcPct val="100000"/>
              </a:lnSpc>
              <a:spcBef>
                <a:spcPts val="100"/>
              </a:spcBef>
            </a:pPr>
            <a:r>
              <a:rPr sz="3000" dirty="0">
                <a:latin typeface="Wingdings"/>
                <a:cs typeface="Wingdings"/>
              </a:rPr>
              <a:t></a:t>
            </a:r>
            <a:endParaRPr sz="3000">
              <a:latin typeface="Wingdings"/>
              <a:cs typeface="Wingdings"/>
            </a:endParaRPr>
          </a:p>
        </p:txBody>
      </p:sp>
      <p:sp>
        <p:nvSpPr>
          <p:cNvPr id="6" name="object 6"/>
          <p:cNvSpPr txBox="1"/>
          <p:nvPr/>
        </p:nvSpPr>
        <p:spPr>
          <a:xfrm>
            <a:off x="891844" y="2555620"/>
            <a:ext cx="7199630" cy="347345"/>
          </a:xfrm>
          <a:prstGeom prst="rect">
            <a:avLst/>
          </a:prstGeom>
          <a:solidFill>
            <a:srgbClr val="FFED00">
              <a:alpha val="50000"/>
            </a:srgbClr>
          </a:solidFill>
        </p:spPr>
        <p:txBody>
          <a:bodyPr vert="horz" wrap="square" lIns="0" tIns="0" rIns="0" bIns="0" rtlCol="0">
            <a:spAutoFit/>
          </a:bodyPr>
          <a:lstStyle/>
          <a:p>
            <a:pPr>
              <a:lnSpc>
                <a:spcPts val="2735"/>
              </a:lnSpc>
            </a:pPr>
            <a:r>
              <a:rPr sz="3000" spc="-20" dirty="0">
                <a:latin typeface="Calibri"/>
                <a:cs typeface="Calibri"/>
              </a:rPr>
              <a:t>Occasionally, severe </a:t>
            </a:r>
            <a:r>
              <a:rPr sz="3000" spc="-15" dirty="0">
                <a:latin typeface="Calibri"/>
                <a:cs typeface="Calibri"/>
              </a:rPr>
              <a:t>intestinal </a:t>
            </a:r>
            <a:r>
              <a:rPr sz="3000" b="1" spc="-5" dirty="0">
                <a:latin typeface="Calibri"/>
                <a:cs typeface="Calibri"/>
              </a:rPr>
              <a:t>amoebiasis</a:t>
            </a:r>
            <a:r>
              <a:rPr sz="3000" b="1" spc="20" dirty="0">
                <a:latin typeface="Calibri"/>
                <a:cs typeface="Calibri"/>
              </a:rPr>
              <a:t> </a:t>
            </a:r>
            <a:r>
              <a:rPr sz="3000" spc="-20" dirty="0">
                <a:latin typeface="Calibri"/>
                <a:cs typeface="Calibri"/>
              </a:rPr>
              <a:t>may</a:t>
            </a:r>
            <a:endParaRPr sz="3000">
              <a:latin typeface="Calibri"/>
              <a:cs typeface="Calibri"/>
            </a:endParaRPr>
          </a:p>
        </p:txBody>
      </p:sp>
      <p:sp>
        <p:nvSpPr>
          <p:cNvPr id="7" name="object 7"/>
          <p:cNvSpPr txBox="1"/>
          <p:nvPr/>
        </p:nvSpPr>
        <p:spPr>
          <a:xfrm>
            <a:off x="891844" y="2941954"/>
            <a:ext cx="7689850" cy="327025"/>
          </a:xfrm>
          <a:prstGeom prst="rect">
            <a:avLst/>
          </a:prstGeom>
          <a:solidFill>
            <a:srgbClr val="FFED00">
              <a:alpha val="50000"/>
            </a:srgbClr>
          </a:solidFill>
        </p:spPr>
        <p:txBody>
          <a:bodyPr vert="horz" wrap="square" lIns="0" tIns="0" rIns="0" bIns="0" rtlCol="0">
            <a:spAutoFit/>
          </a:bodyPr>
          <a:lstStyle/>
          <a:p>
            <a:pPr>
              <a:lnSpc>
                <a:spcPts val="2570"/>
              </a:lnSpc>
            </a:pPr>
            <a:r>
              <a:rPr sz="3000" spc="-5" dirty="0">
                <a:latin typeface="Calibri"/>
                <a:cs typeface="Calibri"/>
              </a:rPr>
              <a:t>cause overwhelming </a:t>
            </a:r>
            <a:r>
              <a:rPr sz="3000" dirty="0">
                <a:latin typeface="Calibri"/>
                <a:cs typeface="Calibri"/>
              </a:rPr>
              <a:t>amoebic </a:t>
            </a:r>
            <a:r>
              <a:rPr sz="3000" spc="-10" dirty="0">
                <a:latin typeface="Calibri"/>
                <a:cs typeface="Calibri"/>
              </a:rPr>
              <a:t>colitis </a:t>
            </a:r>
            <a:r>
              <a:rPr sz="3000" dirty="0">
                <a:latin typeface="Calibri"/>
                <a:cs typeface="Calibri"/>
              </a:rPr>
              <a:t>which </a:t>
            </a:r>
            <a:r>
              <a:rPr sz="3000" spc="-10" dirty="0">
                <a:latin typeface="Calibri"/>
                <a:cs typeface="Calibri"/>
              </a:rPr>
              <a:t>can</a:t>
            </a:r>
            <a:r>
              <a:rPr sz="3000" spc="-100" dirty="0">
                <a:latin typeface="Calibri"/>
                <a:cs typeface="Calibri"/>
              </a:rPr>
              <a:t> </a:t>
            </a:r>
            <a:r>
              <a:rPr sz="3000" spc="-5" dirty="0">
                <a:latin typeface="Calibri"/>
                <a:cs typeface="Calibri"/>
              </a:rPr>
              <a:t>be</a:t>
            </a:r>
            <a:endParaRPr sz="3000">
              <a:latin typeface="Calibri"/>
              <a:cs typeface="Calibri"/>
            </a:endParaRPr>
          </a:p>
        </p:txBody>
      </p:sp>
      <p:sp>
        <p:nvSpPr>
          <p:cNvPr id="8" name="object 8"/>
          <p:cNvSpPr txBox="1"/>
          <p:nvPr/>
        </p:nvSpPr>
        <p:spPr>
          <a:xfrm>
            <a:off x="891844" y="3305987"/>
            <a:ext cx="778510" cy="264160"/>
          </a:xfrm>
          <a:prstGeom prst="rect">
            <a:avLst/>
          </a:prstGeom>
          <a:solidFill>
            <a:srgbClr val="FFED00">
              <a:alpha val="50000"/>
            </a:srgbClr>
          </a:solidFill>
        </p:spPr>
        <p:txBody>
          <a:bodyPr vert="horz" wrap="square" lIns="0" tIns="0" rIns="0" bIns="0" rtlCol="0">
            <a:spAutoFit/>
          </a:bodyPr>
          <a:lstStyle/>
          <a:p>
            <a:pPr>
              <a:lnSpc>
                <a:spcPts val="2080"/>
              </a:lnSpc>
            </a:pPr>
            <a:r>
              <a:rPr sz="3000" spc="-65" dirty="0">
                <a:latin typeface="Calibri"/>
                <a:cs typeface="Calibri"/>
              </a:rPr>
              <a:t>f</a:t>
            </a:r>
            <a:r>
              <a:rPr sz="3000" spc="-25" dirty="0">
                <a:latin typeface="Calibri"/>
                <a:cs typeface="Calibri"/>
              </a:rPr>
              <a:t>a</a:t>
            </a:r>
            <a:r>
              <a:rPr sz="3000" spc="-35" dirty="0">
                <a:latin typeface="Calibri"/>
                <a:cs typeface="Calibri"/>
              </a:rPr>
              <a:t>t</a:t>
            </a:r>
            <a:r>
              <a:rPr sz="3000" dirty="0">
                <a:latin typeface="Calibri"/>
                <a:cs typeface="Calibri"/>
              </a:rPr>
              <a:t>al.</a:t>
            </a:r>
            <a:endParaRPr sz="3000">
              <a:latin typeface="Calibri"/>
              <a:cs typeface="Calibri"/>
            </a:endParaRPr>
          </a:p>
        </p:txBody>
      </p:sp>
      <p:sp>
        <p:nvSpPr>
          <p:cNvPr id="9" name="object 9"/>
          <p:cNvSpPr txBox="1"/>
          <p:nvPr/>
        </p:nvSpPr>
        <p:spPr>
          <a:xfrm>
            <a:off x="535940" y="3630548"/>
            <a:ext cx="8040370" cy="482600"/>
          </a:xfrm>
          <a:prstGeom prst="rect">
            <a:avLst/>
          </a:prstGeom>
        </p:spPr>
        <p:txBody>
          <a:bodyPr vert="horz" wrap="square" lIns="0" tIns="12700" rIns="0" bIns="0" rtlCol="0">
            <a:spAutoFit/>
          </a:bodyPr>
          <a:lstStyle/>
          <a:p>
            <a:pPr marL="355600" indent="-343535">
              <a:lnSpc>
                <a:spcPct val="100000"/>
              </a:lnSpc>
              <a:spcBef>
                <a:spcPts val="100"/>
              </a:spcBef>
              <a:buSzPct val="96666"/>
              <a:buFont typeface="Wingdings"/>
              <a:buChar char=""/>
              <a:tabLst>
                <a:tab pos="356235" algn="l"/>
              </a:tabLst>
            </a:pPr>
            <a:r>
              <a:rPr sz="3000" spc="-5" dirty="0">
                <a:latin typeface="Calibri"/>
                <a:cs typeface="Calibri"/>
              </a:rPr>
              <a:t>Other </a:t>
            </a:r>
            <a:r>
              <a:rPr sz="3000" spc="-30" dirty="0">
                <a:latin typeface="Calibri"/>
                <a:cs typeface="Calibri"/>
              </a:rPr>
              <a:t>rare </a:t>
            </a:r>
            <a:r>
              <a:rPr sz="3000" spc="-10" dirty="0">
                <a:latin typeface="Calibri"/>
                <a:cs typeface="Calibri"/>
              </a:rPr>
              <a:t>complications </a:t>
            </a:r>
            <a:r>
              <a:rPr sz="3000" spc="-5" dirty="0">
                <a:latin typeface="Calibri"/>
                <a:cs typeface="Calibri"/>
              </a:rPr>
              <a:t>include appendicitis </a:t>
            </a:r>
            <a:r>
              <a:rPr sz="3000" dirty="0">
                <a:latin typeface="Calibri"/>
                <a:cs typeface="Calibri"/>
              </a:rPr>
              <a:t>and</a:t>
            </a:r>
            <a:endParaRPr sz="3000">
              <a:latin typeface="Calibri"/>
              <a:cs typeface="Calibri"/>
            </a:endParaRPr>
          </a:p>
        </p:txBody>
      </p:sp>
      <p:sp>
        <p:nvSpPr>
          <p:cNvPr id="10" name="object 10"/>
          <p:cNvSpPr txBox="1"/>
          <p:nvPr/>
        </p:nvSpPr>
        <p:spPr>
          <a:xfrm>
            <a:off x="891844" y="4125976"/>
            <a:ext cx="7609205" cy="331470"/>
          </a:xfrm>
          <a:prstGeom prst="rect">
            <a:avLst/>
          </a:prstGeom>
          <a:solidFill>
            <a:srgbClr val="FFED00">
              <a:alpha val="50000"/>
            </a:srgbClr>
          </a:solidFill>
        </p:spPr>
        <p:txBody>
          <a:bodyPr vert="horz" wrap="square" lIns="0" tIns="0" rIns="0" bIns="0" rtlCol="0">
            <a:spAutoFit/>
          </a:bodyPr>
          <a:lstStyle/>
          <a:p>
            <a:pPr>
              <a:lnSpc>
                <a:spcPts val="2610"/>
              </a:lnSpc>
            </a:pPr>
            <a:r>
              <a:rPr sz="3000" spc="-10" dirty="0">
                <a:latin typeface="Calibri"/>
                <a:cs typeface="Calibri"/>
              </a:rPr>
              <a:t>inflammatory </a:t>
            </a:r>
            <a:r>
              <a:rPr sz="3000" dirty="0">
                <a:latin typeface="Calibri"/>
                <a:cs typeface="Calibri"/>
              </a:rPr>
              <a:t>masses in the </a:t>
            </a:r>
            <a:r>
              <a:rPr sz="3000" spc="-10" dirty="0">
                <a:latin typeface="Calibri"/>
                <a:cs typeface="Calibri"/>
              </a:rPr>
              <a:t>bowel </a:t>
            </a:r>
            <a:r>
              <a:rPr sz="3000" spc="-25" dirty="0">
                <a:latin typeface="Calibri"/>
                <a:cs typeface="Calibri"/>
              </a:rPr>
              <a:t>(referred </a:t>
            </a:r>
            <a:r>
              <a:rPr sz="3000" spc="-10" dirty="0">
                <a:latin typeface="Calibri"/>
                <a:cs typeface="Calibri"/>
              </a:rPr>
              <a:t>to</a:t>
            </a:r>
            <a:r>
              <a:rPr sz="3000" spc="-60" dirty="0">
                <a:latin typeface="Calibri"/>
                <a:cs typeface="Calibri"/>
              </a:rPr>
              <a:t> </a:t>
            </a:r>
            <a:r>
              <a:rPr sz="3000" dirty="0">
                <a:latin typeface="Calibri"/>
                <a:cs typeface="Calibri"/>
              </a:rPr>
              <a:t>as</a:t>
            </a:r>
            <a:endParaRPr sz="3000">
              <a:latin typeface="Calibri"/>
              <a:cs typeface="Calibri"/>
            </a:endParaRPr>
          </a:p>
        </p:txBody>
      </p:sp>
      <p:sp>
        <p:nvSpPr>
          <p:cNvPr id="11" name="object 11"/>
          <p:cNvSpPr txBox="1"/>
          <p:nvPr/>
        </p:nvSpPr>
        <p:spPr>
          <a:xfrm>
            <a:off x="891844" y="4362069"/>
            <a:ext cx="3019425" cy="482600"/>
          </a:xfrm>
          <a:prstGeom prst="rect">
            <a:avLst/>
          </a:prstGeom>
          <a:solidFill>
            <a:srgbClr val="FFED00">
              <a:alpha val="50000"/>
            </a:srgbClr>
          </a:solidFill>
        </p:spPr>
        <p:txBody>
          <a:bodyPr vert="horz" wrap="square" lIns="0" tIns="12700" rIns="0" bIns="0" rtlCol="0">
            <a:spAutoFit/>
          </a:bodyPr>
          <a:lstStyle/>
          <a:p>
            <a:pPr>
              <a:lnSpc>
                <a:spcPct val="100000"/>
              </a:lnSpc>
              <a:spcBef>
                <a:spcPts val="100"/>
              </a:spcBef>
            </a:pPr>
            <a:r>
              <a:rPr sz="3000" b="1" spc="-5" dirty="0">
                <a:latin typeface="Calibri"/>
                <a:cs typeface="Calibri"/>
              </a:rPr>
              <a:t>AMOEBOMAS</a:t>
            </a:r>
            <a:r>
              <a:rPr sz="3000" spc="-5" dirty="0">
                <a:latin typeface="Calibri"/>
                <a:cs typeface="Calibri"/>
              </a:rPr>
              <a:t>)</a:t>
            </a:r>
            <a:r>
              <a:rPr sz="3000" spc="-55" dirty="0">
                <a:latin typeface="Calibri"/>
                <a:cs typeface="Calibri"/>
              </a:rPr>
              <a:t> </a:t>
            </a:r>
            <a:r>
              <a:rPr sz="3000" dirty="0">
                <a:latin typeface="Calibri"/>
                <a:cs typeface="Calibri"/>
              </a:rPr>
              <a:t>and</a:t>
            </a:r>
            <a:endParaRPr sz="3000">
              <a:latin typeface="Calibri"/>
              <a:cs typeface="Calibri"/>
            </a:endParaRPr>
          </a:p>
        </p:txBody>
      </p:sp>
      <p:sp>
        <p:nvSpPr>
          <p:cNvPr id="12" name="object 12"/>
          <p:cNvSpPr txBox="1"/>
          <p:nvPr/>
        </p:nvSpPr>
        <p:spPr>
          <a:xfrm>
            <a:off x="535940" y="4818964"/>
            <a:ext cx="7896225" cy="1580515"/>
          </a:xfrm>
          <a:prstGeom prst="rect">
            <a:avLst/>
          </a:prstGeom>
        </p:spPr>
        <p:txBody>
          <a:bodyPr vert="horz" wrap="square" lIns="0" tIns="104139" rIns="0" bIns="0" rtlCol="0">
            <a:spAutoFit/>
          </a:bodyPr>
          <a:lstStyle/>
          <a:p>
            <a:pPr marL="355600" marR="5080" indent="-343535">
              <a:lnSpc>
                <a:spcPct val="80000"/>
              </a:lnSpc>
              <a:spcBef>
                <a:spcPts val="819"/>
              </a:spcBef>
              <a:buFont typeface="Wingdings"/>
              <a:buChar char=""/>
              <a:tabLst>
                <a:tab pos="441325" algn="l"/>
              </a:tabLst>
            </a:pPr>
            <a:r>
              <a:rPr sz="3000" spc="-5" dirty="0">
                <a:latin typeface="Calibri"/>
                <a:cs typeface="Calibri"/>
              </a:rPr>
              <a:t>amoebic </a:t>
            </a:r>
            <a:r>
              <a:rPr sz="3000" spc="-10" dirty="0">
                <a:latin typeface="Calibri"/>
                <a:cs typeface="Calibri"/>
              </a:rPr>
              <a:t>liver </a:t>
            </a:r>
            <a:r>
              <a:rPr sz="3000" spc="-5" dirty="0">
                <a:latin typeface="Calibri"/>
                <a:cs typeface="Calibri"/>
              </a:rPr>
              <a:t>abscess (this </a:t>
            </a:r>
            <a:r>
              <a:rPr sz="3000" dirty="0">
                <a:latin typeface="Calibri"/>
                <a:cs typeface="Calibri"/>
              </a:rPr>
              <a:t>is </a:t>
            </a:r>
            <a:r>
              <a:rPr sz="3000" spc="-5" dirty="0">
                <a:latin typeface="Calibri"/>
                <a:cs typeface="Calibri"/>
              </a:rPr>
              <a:t>when </a:t>
            </a:r>
            <a:r>
              <a:rPr sz="3000" dirty="0">
                <a:latin typeface="Calibri"/>
                <a:cs typeface="Calibri"/>
              </a:rPr>
              <a:t>an </a:t>
            </a:r>
            <a:r>
              <a:rPr sz="3000" spc="-15" dirty="0">
                <a:latin typeface="Calibri"/>
                <a:cs typeface="Calibri"/>
              </a:rPr>
              <a:t>intestinal  </a:t>
            </a:r>
            <a:r>
              <a:rPr sz="3000" spc="-5" dirty="0">
                <a:latin typeface="Calibri"/>
                <a:cs typeface="Calibri"/>
              </a:rPr>
              <a:t>ulcer </a:t>
            </a:r>
            <a:r>
              <a:rPr sz="3000" spc="-15" dirty="0">
                <a:latin typeface="Calibri"/>
                <a:cs typeface="Calibri"/>
              </a:rPr>
              <a:t>extends </a:t>
            </a:r>
            <a:r>
              <a:rPr sz="3000" spc="-10" dirty="0">
                <a:latin typeface="Calibri"/>
                <a:cs typeface="Calibri"/>
              </a:rPr>
              <a:t>to reach </a:t>
            </a:r>
            <a:r>
              <a:rPr sz="3000" dirty="0">
                <a:latin typeface="Calibri"/>
                <a:cs typeface="Calibri"/>
              </a:rPr>
              <a:t>a </a:t>
            </a:r>
            <a:r>
              <a:rPr sz="3000" spc="-10" dirty="0">
                <a:latin typeface="Calibri"/>
                <a:cs typeface="Calibri"/>
              </a:rPr>
              <a:t>blood </a:t>
            </a:r>
            <a:r>
              <a:rPr sz="3000" spc="-5" dirty="0">
                <a:latin typeface="Calibri"/>
                <a:cs typeface="Calibri"/>
              </a:rPr>
              <a:t>vessel </a:t>
            </a:r>
            <a:r>
              <a:rPr sz="3000" dirty="0">
                <a:latin typeface="Calibri"/>
                <a:cs typeface="Calibri"/>
              </a:rPr>
              <a:t>and  amoebae </a:t>
            </a:r>
            <a:r>
              <a:rPr sz="3000" spc="-15" dirty="0">
                <a:latin typeface="Calibri"/>
                <a:cs typeface="Calibri"/>
              </a:rPr>
              <a:t>enter </a:t>
            </a:r>
            <a:r>
              <a:rPr sz="3000" dirty="0">
                <a:latin typeface="Calibri"/>
                <a:cs typeface="Calibri"/>
              </a:rPr>
              <a:t>the </a:t>
            </a:r>
            <a:r>
              <a:rPr sz="3000" spc="-10" dirty="0">
                <a:latin typeface="Calibri"/>
                <a:cs typeface="Calibri"/>
              </a:rPr>
              <a:t>blood </a:t>
            </a:r>
            <a:r>
              <a:rPr sz="3000" spc="-15" dirty="0">
                <a:latin typeface="Calibri"/>
                <a:cs typeface="Calibri"/>
              </a:rPr>
              <a:t>stream </a:t>
            </a:r>
            <a:r>
              <a:rPr sz="3000" dirty="0">
                <a:latin typeface="Calibri"/>
                <a:cs typeface="Calibri"/>
              </a:rPr>
              <a:t>and </a:t>
            </a:r>
            <a:r>
              <a:rPr sz="3000" spc="-15" dirty="0">
                <a:latin typeface="Calibri"/>
                <a:cs typeface="Calibri"/>
              </a:rPr>
              <a:t>are </a:t>
            </a:r>
            <a:r>
              <a:rPr sz="3000" spc="-5" dirty="0">
                <a:latin typeface="Calibri"/>
                <a:cs typeface="Calibri"/>
              </a:rPr>
              <a:t>carried  </a:t>
            </a:r>
            <a:r>
              <a:rPr sz="3000" spc="-15" dirty="0">
                <a:latin typeface="Calibri"/>
                <a:cs typeface="Calibri"/>
              </a:rPr>
              <a:t>to </a:t>
            </a:r>
            <a:r>
              <a:rPr sz="3000" dirty="0">
                <a:latin typeface="Calibri"/>
                <a:cs typeface="Calibri"/>
              </a:rPr>
              <a:t>the </a:t>
            </a:r>
            <a:r>
              <a:rPr sz="3000" spc="-10" dirty="0">
                <a:latin typeface="Calibri"/>
                <a:cs typeface="Calibri"/>
              </a:rPr>
              <a:t>liver </a:t>
            </a:r>
            <a:r>
              <a:rPr sz="3000" dirty="0">
                <a:latin typeface="Calibri"/>
                <a:cs typeface="Calibri"/>
              </a:rPr>
              <a:t>(and </a:t>
            </a:r>
            <a:r>
              <a:rPr sz="3000" spc="-5" dirty="0">
                <a:latin typeface="Calibri"/>
                <a:cs typeface="Calibri"/>
              </a:rPr>
              <a:t>other</a:t>
            </a:r>
            <a:r>
              <a:rPr sz="3000" spc="-45" dirty="0">
                <a:latin typeface="Calibri"/>
                <a:cs typeface="Calibri"/>
              </a:rPr>
              <a:t> </a:t>
            </a:r>
            <a:r>
              <a:rPr sz="3000" spc="-5" dirty="0">
                <a:latin typeface="Calibri"/>
                <a:cs typeface="Calibri"/>
              </a:rPr>
              <a:t>parts).</a:t>
            </a:r>
            <a:endParaRPr sz="3000">
              <a:latin typeface="Calibri"/>
              <a:cs typeface="Calibri"/>
            </a:endParaRPr>
          </a:p>
        </p:txBody>
      </p:sp>
    </p:spTree>
    <p:extLst>
      <p:ext uri="{BB962C8B-B14F-4D97-AF65-F5344CB8AC3E}">
        <p14:creationId xmlns:p14="http://schemas.microsoft.com/office/powerpoint/2010/main" val="275657768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2483230"/>
            <a:ext cx="2803525" cy="328295"/>
          </a:xfrm>
          <a:custGeom>
            <a:avLst/>
            <a:gdLst/>
            <a:ahLst/>
            <a:cxnLst/>
            <a:rect l="l" t="t" r="r" b="b"/>
            <a:pathLst>
              <a:path w="2803525" h="328294">
                <a:moveTo>
                  <a:pt x="0" y="0"/>
                </a:moveTo>
                <a:lnTo>
                  <a:pt x="2803398" y="0"/>
                </a:lnTo>
                <a:lnTo>
                  <a:pt x="2803398" y="328041"/>
                </a:lnTo>
                <a:lnTo>
                  <a:pt x="0" y="328041"/>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4445431" y="2098420"/>
            <a:ext cx="4121785" cy="347345"/>
          </a:xfrm>
          <a:custGeom>
            <a:avLst/>
            <a:gdLst/>
            <a:ahLst/>
            <a:cxnLst/>
            <a:rect l="l" t="t" r="r" b="b"/>
            <a:pathLst>
              <a:path w="4121784" h="347344">
                <a:moveTo>
                  <a:pt x="0" y="0"/>
                </a:moveTo>
                <a:lnTo>
                  <a:pt x="4121277" y="0"/>
                </a:lnTo>
                <a:lnTo>
                  <a:pt x="4121277" y="347090"/>
                </a:lnTo>
                <a:lnTo>
                  <a:pt x="0" y="347090"/>
                </a:lnTo>
                <a:lnTo>
                  <a:pt x="0" y="0"/>
                </a:lnTo>
                <a:close/>
              </a:path>
            </a:pathLst>
          </a:custGeom>
          <a:solidFill>
            <a:srgbClr val="FFED00"/>
          </a:solidFill>
        </p:spPr>
        <p:txBody>
          <a:bodyPr wrap="square" lIns="0" tIns="0" rIns="0" bIns="0" rtlCol="0"/>
          <a:lstStyle/>
          <a:p>
            <a:endParaRPr/>
          </a:p>
        </p:txBody>
      </p:sp>
      <p:sp>
        <p:nvSpPr>
          <p:cNvPr id="4" name="object 4"/>
          <p:cNvSpPr txBox="1">
            <a:spLocks noGrp="1"/>
          </p:cNvSpPr>
          <p:nvPr>
            <p:ph type="title"/>
          </p:nvPr>
        </p:nvSpPr>
        <p:spPr>
          <a:xfrm>
            <a:off x="2281808" y="461899"/>
            <a:ext cx="4577715" cy="696595"/>
          </a:xfrm>
          <a:prstGeom prst="rect">
            <a:avLst/>
          </a:prstGeom>
        </p:spPr>
        <p:txBody>
          <a:bodyPr vert="horz" wrap="square" lIns="0" tIns="13335" rIns="0" bIns="0" rtlCol="0">
            <a:spAutoFit/>
          </a:bodyPr>
          <a:lstStyle/>
          <a:p>
            <a:pPr marL="12700">
              <a:lnSpc>
                <a:spcPct val="100000"/>
              </a:lnSpc>
              <a:spcBef>
                <a:spcPts val="105"/>
              </a:spcBef>
            </a:pPr>
            <a:r>
              <a:rPr sz="4400" b="0" i="0" spc="-10" dirty="0">
                <a:latin typeface="Calibri"/>
                <a:cs typeface="Calibri"/>
              </a:rPr>
              <a:t>INTESTINAL</a:t>
            </a:r>
            <a:r>
              <a:rPr sz="4400" b="0" i="0" spc="-45" dirty="0">
                <a:latin typeface="Calibri"/>
                <a:cs typeface="Calibri"/>
              </a:rPr>
              <a:t> </a:t>
            </a:r>
            <a:r>
              <a:rPr sz="4400" b="0" i="0" spc="10" dirty="0">
                <a:latin typeface="Calibri"/>
                <a:cs typeface="Calibri"/>
              </a:rPr>
              <a:t>CONT’D</a:t>
            </a:r>
            <a:endParaRPr sz="4400">
              <a:latin typeface="Calibri"/>
              <a:cs typeface="Calibri"/>
            </a:endParaRPr>
          </a:p>
        </p:txBody>
      </p:sp>
      <p:sp>
        <p:nvSpPr>
          <p:cNvPr id="5" name="object 5"/>
          <p:cNvSpPr txBox="1"/>
          <p:nvPr/>
        </p:nvSpPr>
        <p:spPr>
          <a:xfrm>
            <a:off x="535940" y="1526794"/>
            <a:ext cx="8042275" cy="4415790"/>
          </a:xfrm>
          <a:prstGeom prst="rect">
            <a:avLst/>
          </a:prstGeom>
        </p:spPr>
        <p:txBody>
          <a:bodyPr vert="horz" wrap="square" lIns="0" tIns="12700" rIns="0" bIns="0" rtlCol="0">
            <a:spAutoFit/>
          </a:bodyPr>
          <a:lstStyle/>
          <a:p>
            <a:pPr marL="1494155" algn="just">
              <a:lnSpc>
                <a:spcPct val="100000"/>
              </a:lnSpc>
              <a:spcBef>
                <a:spcPts val="100"/>
              </a:spcBef>
            </a:pPr>
            <a:r>
              <a:rPr sz="3000" b="1" spc="-15" dirty="0">
                <a:latin typeface="Calibri"/>
                <a:cs typeface="Calibri"/>
              </a:rPr>
              <a:t>Symptoms </a:t>
            </a:r>
            <a:r>
              <a:rPr sz="3000" b="1" spc="-5" dirty="0">
                <a:latin typeface="Calibri"/>
                <a:cs typeface="Calibri"/>
              </a:rPr>
              <a:t>and </a:t>
            </a:r>
            <a:r>
              <a:rPr sz="3000" b="1" spc="-15" dirty="0">
                <a:latin typeface="Calibri"/>
                <a:cs typeface="Calibri"/>
              </a:rPr>
              <a:t>Pathology</a:t>
            </a:r>
            <a:r>
              <a:rPr sz="3000" b="1" spc="25" dirty="0">
                <a:latin typeface="Calibri"/>
                <a:cs typeface="Calibri"/>
              </a:rPr>
              <a:t> </a:t>
            </a:r>
            <a:r>
              <a:rPr sz="3000" b="1" spc="-30" dirty="0">
                <a:latin typeface="Calibri"/>
                <a:cs typeface="Calibri"/>
              </a:rPr>
              <a:t>cont’d</a:t>
            </a:r>
            <a:endParaRPr sz="3000">
              <a:latin typeface="Calibri"/>
              <a:cs typeface="Calibri"/>
            </a:endParaRPr>
          </a:p>
          <a:p>
            <a:pPr marL="355600" marR="5080" indent="-343535" algn="just">
              <a:lnSpc>
                <a:spcPts val="2880"/>
              </a:lnSpc>
              <a:spcBef>
                <a:spcPts val="695"/>
              </a:spcBef>
              <a:buSzPct val="96666"/>
              <a:buFont typeface="Wingdings"/>
              <a:buChar char=""/>
              <a:tabLst>
                <a:tab pos="356235" algn="l"/>
              </a:tabLst>
            </a:pPr>
            <a:r>
              <a:rPr sz="3000" spc="-5" dirty="0">
                <a:latin typeface="Calibri"/>
                <a:cs typeface="Calibri"/>
              </a:rPr>
              <a:t>The </a:t>
            </a:r>
            <a:r>
              <a:rPr sz="3000" spc="-15" dirty="0">
                <a:latin typeface="Calibri"/>
                <a:cs typeface="Calibri"/>
              </a:rPr>
              <a:t>symptoms </a:t>
            </a:r>
            <a:r>
              <a:rPr sz="3000" spc="-10" dirty="0">
                <a:latin typeface="Calibri"/>
                <a:cs typeface="Calibri"/>
              </a:rPr>
              <a:t>include </a:t>
            </a:r>
            <a:r>
              <a:rPr sz="3000" spc="-5" dirty="0">
                <a:latin typeface="Calibri"/>
                <a:cs typeface="Calibri"/>
              </a:rPr>
              <a:t>pain </a:t>
            </a:r>
            <a:r>
              <a:rPr sz="3000" dirty="0">
                <a:latin typeface="Calibri"/>
                <a:cs typeface="Calibri"/>
              </a:rPr>
              <a:t>and </a:t>
            </a:r>
            <a:r>
              <a:rPr sz="3000" spc="-10" dirty="0">
                <a:latin typeface="Calibri"/>
                <a:cs typeface="Calibri"/>
              </a:rPr>
              <a:t>tenderness </a:t>
            </a:r>
            <a:r>
              <a:rPr sz="3000" dirty="0">
                <a:latin typeface="Calibri"/>
                <a:cs typeface="Calibri"/>
              </a:rPr>
              <a:t>in </a:t>
            </a:r>
            <a:r>
              <a:rPr sz="3000" spc="-5" dirty="0">
                <a:latin typeface="Calibri"/>
                <a:cs typeface="Calibri"/>
              </a:rPr>
              <a:t>the  </a:t>
            </a:r>
            <a:r>
              <a:rPr sz="3000" spc="-10" dirty="0">
                <a:latin typeface="Calibri"/>
                <a:cs typeface="Calibri"/>
              </a:rPr>
              <a:t>region </a:t>
            </a:r>
            <a:r>
              <a:rPr sz="3000" spc="-5" dirty="0">
                <a:latin typeface="Calibri"/>
                <a:cs typeface="Calibri"/>
              </a:rPr>
              <a:t>of </a:t>
            </a:r>
            <a:r>
              <a:rPr sz="3000" dirty="0">
                <a:latin typeface="Calibri"/>
                <a:cs typeface="Calibri"/>
              </a:rPr>
              <a:t>the </a:t>
            </a:r>
            <a:r>
              <a:rPr sz="3000" spc="-50" dirty="0">
                <a:latin typeface="Calibri"/>
                <a:cs typeface="Calibri"/>
              </a:rPr>
              <a:t>liver, </a:t>
            </a:r>
            <a:r>
              <a:rPr sz="3000" spc="-10" dirty="0">
                <a:latin typeface="Calibri"/>
                <a:cs typeface="Calibri"/>
              </a:rPr>
              <a:t>wasting </a:t>
            </a:r>
            <a:r>
              <a:rPr sz="3000" spc="-5" dirty="0">
                <a:latin typeface="Calibri"/>
                <a:cs typeface="Calibri"/>
              </a:rPr>
              <a:t>and </a:t>
            </a:r>
            <a:r>
              <a:rPr sz="3000" dirty="0">
                <a:latin typeface="Calibri"/>
                <a:cs typeface="Calibri"/>
              </a:rPr>
              <a:t>a </a:t>
            </a:r>
            <a:r>
              <a:rPr sz="3000" spc="-25" dirty="0">
                <a:latin typeface="Calibri"/>
                <a:cs typeface="Calibri"/>
              </a:rPr>
              <a:t>fever </a:t>
            </a:r>
            <a:r>
              <a:rPr sz="3000" spc="-10" dirty="0">
                <a:latin typeface="Calibri"/>
                <a:cs typeface="Calibri"/>
              </a:rPr>
              <a:t>associated  </a:t>
            </a:r>
            <a:r>
              <a:rPr sz="3000" dirty="0">
                <a:latin typeface="Calibri"/>
                <a:cs typeface="Calibri"/>
              </a:rPr>
              <a:t>with </a:t>
            </a:r>
            <a:r>
              <a:rPr sz="3000" spc="-5" dirty="0">
                <a:latin typeface="Calibri"/>
                <a:cs typeface="Calibri"/>
              </a:rPr>
              <a:t>chills </a:t>
            </a:r>
            <a:r>
              <a:rPr sz="3000" dirty="0">
                <a:latin typeface="Calibri"/>
                <a:cs typeface="Calibri"/>
              </a:rPr>
              <a:t>and </a:t>
            </a:r>
            <a:r>
              <a:rPr sz="3000" spc="-10" dirty="0">
                <a:latin typeface="Calibri"/>
                <a:cs typeface="Calibri"/>
              </a:rPr>
              <a:t>night</a:t>
            </a:r>
            <a:r>
              <a:rPr sz="3000" spc="-20" dirty="0">
                <a:latin typeface="Calibri"/>
                <a:cs typeface="Calibri"/>
              </a:rPr>
              <a:t> </a:t>
            </a:r>
            <a:r>
              <a:rPr sz="3000" spc="-10" dirty="0">
                <a:latin typeface="Calibri"/>
                <a:cs typeface="Calibri"/>
              </a:rPr>
              <a:t>sweats.</a:t>
            </a:r>
            <a:endParaRPr sz="3000">
              <a:latin typeface="Calibri"/>
              <a:cs typeface="Calibri"/>
            </a:endParaRPr>
          </a:p>
          <a:p>
            <a:pPr marL="355600" marR="144780" indent="-343535" algn="just">
              <a:lnSpc>
                <a:spcPts val="2880"/>
              </a:lnSpc>
              <a:spcBef>
                <a:spcPts val="725"/>
              </a:spcBef>
              <a:buSzPct val="96666"/>
              <a:buFont typeface="Wingdings"/>
              <a:buChar char=""/>
              <a:tabLst>
                <a:tab pos="356235" algn="l"/>
              </a:tabLst>
            </a:pPr>
            <a:r>
              <a:rPr sz="3000" spc="-15" dirty="0">
                <a:latin typeface="Calibri"/>
                <a:cs typeface="Calibri"/>
              </a:rPr>
              <a:t>Large </a:t>
            </a:r>
            <a:r>
              <a:rPr sz="3000" spc="-10" dirty="0">
                <a:latin typeface="Calibri"/>
                <a:cs typeface="Calibri"/>
              </a:rPr>
              <a:t>and/or </a:t>
            </a:r>
            <a:r>
              <a:rPr sz="3000" spc="-5" dirty="0">
                <a:latin typeface="Calibri"/>
                <a:cs typeface="Calibri"/>
              </a:rPr>
              <a:t>multiple abscesses </a:t>
            </a:r>
            <a:r>
              <a:rPr sz="3000" spc="-20" dirty="0">
                <a:latin typeface="Calibri"/>
                <a:cs typeface="Calibri"/>
              </a:rPr>
              <a:t>may manifest </a:t>
            </a:r>
            <a:r>
              <a:rPr sz="3000" dirty="0">
                <a:latin typeface="Calibri"/>
                <a:cs typeface="Calibri"/>
              </a:rPr>
              <a:t>as  </a:t>
            </a:r>
            <a:r>
              <a:rPr sz="3000" spc="-5" dirty="0">
                <a:latin typeface="Calibri"/>
                <a:cs typeface="Calibri"/>
              </a:rPr>
              <a:t>jaundice </a:t>
            </a:r>
            <a:r>
              <a:rPr sz="3000" dirty="0">
                <a:latin typeface="Calibri"/>
                <a:cs typeface="Calibri"/>
              </a:rPr>
              <a:t>and</a:t>
            </a:r>
            <a:r>
              <a:rPr sz="3000" spc="-20" dirty="0">
                <a:latin typeface="Calibri"/>
                <a:cs typeface="Calibri"/>
              </a:rPr>
              <a:t> </a:t>
            </a:r>
            <a:r>
              <a:rPr sz="3000" spc="-5" dirty="0">
                <a:latin typeface="Calibri"/>
                <a:cs typeface="Calibri"/>
              </a:rPr>
              <a:t>anaemia.</a:t>
            </a:r>
            <a:endParaRPr sz="3000">
              <a:latin typeface="Calibri"/>
              <a:cs typeface="Calibri"/>
            </a:endParaRPr>
          </a:p>
          <a:p>
            <a:pPr marL="355600" marR="86360" indent="-343535">
              <a:lnSpc>
                <a:spcPct val="80000"/>
              </a:lnSpc>
              <a:spcBef>
                <a:spcPts val="745"/>
              </a:spcBef>
              <a:buSzPct val="96666"/>
              <a:buFont typeface="Wingdings"/>
              <a:buChar char=""/>
              <a:tabLst>
                <a:tab pos="356235" algn="l"/>
              </a:tabLst>
            </a:pPr>
            <a:r>
              <a:rPr sz="3000" spc="-10" dirty="0">
                <a:latin typeface="Calibri"/>
                <a:cs typeface="Calibri"/>
              </a:rPr>
              <a:t>Most </a:t>
            </a:r>
            <a:r>
              <a:rPr sz="3000" spc="-5" dirty="0">
                <a:latin typeface="Calibri"/>
                <a:cs typeface="Calibri"/>
              </a:rPr>
              <a:t>abscesses </a:t>
            </a:r>
            <a:r>
              <a:rPr sz="3000" spc="-20" dirty="0">
                <a:latin typeface="Calibri"/>
                <a:cs typeface="Calibri"/>
              </a:rPr>
              <a:t>form </a:t>
            </a:r>
            <a:r>
              <a:rPr sz="3000" dirty="0">
                <a:latin typeface="Calibri"/>
                <a:cs typeface="Calibri"/>
              </a:rPr>
              <a:t>in the </a:t>
            </a:r>
            <a:r>
              <a:rPr sz="3000" spc="-10" dirty="0">
                <a:latin typeface="Calibri"/>
                <a:cs typeface="Calibri"/>
              </a:rPr>
              <a:t>right </a:t>
            </a:r>
            <a:r>
              <a:rPr sz="3000" spc="-5" dirty="0">
                <a:latin typeface="Calibri"/>
                <a:cs typeface="Calibri"/>
              </a:rPr>
              <a:t>lobe of </a:t>
            </a:r>
            <a:r>
              <a:rPr sz="3000" dirty="0">
                <a:latin typeface="Calibri"/>
                <a:cs typeface="Calibri"/>
              </a:rPr>
              <a:t>the </a:t>
            </a:r>
            <a:r>
              <a:rPr sz="3000" spc="-60" dirty="0">
                <a:latin typeface="Calibri"/>
                <a:cs typeface="Calibri"/>
              </a:rPr>
              <a:t>liver.  </a:t>
            </a:r>
            <a:r>
              <a:rPr sz="3000" spc="-15" dirty="0">
                <a:latin typeface="Calibri"/>
                <a:cs typeface="Calibri"/>
              </a:rPr>
              <a:t>Prolonged contact </a:t>
            </a:r>
            <a:r>
              <a:rPr sz="3000" spc="-5" dirty="0">
                <a:latin typeface="Calibri"/>
                <a:cs typeface="Calibri"/>
              </a:rPr>
              <a:t>of </a:t>
            </a:r>
            <a:r>
              <a:rPr sz="3000" dirty="0">
                <a:latin typeface="Calibri"/>
                <a:cs typeface="Calibri"/>
              </a:rPr>
              <a:t>the </a:t>
            </a:r>
            <a:r>
              <a:rPr sz="3000" spc="-5" dirty="0">
                <a:latin typeface="Calibri"/>
                <a:cs typeface="Calibri"/>
              </a:rPr>
              <a:t>skin </a:t>
            </a:r>
            <a:r>
              <a:rPr sz="3000" dirty="0">
                <a:latin typeface="Calibri"/>
                <a:cs typeface="Calibri"/>
              </a:rPr>
              <a:t>with </a:t>
            </a:r>
            <a:r>
              <a:rPr sz="3000" spc="-10" dirty="0">
                <a:latin typeface="Calibri"/>
                <a:cs typeface="Calibri"/>
              </a:rPr>
              <a:t>pathogenic  </a:t>
            </a:r>
            <a:r>
              <a:rPr sz="3000" dirty="0">
                <a:latin typeface="Calibri"/>
                <a:cs typeface="Calibri"/>
              </a:rPr>
              <a:t>amoebae </a:t>
            </a:r>
            <a:r>
              <a:rPr sz="3000" spc="-5" dirty="0">
                <a:latin typeface="Calibri"/>
                <a:cs typeface="Calibri"/>
              </a:rPr>
              <a:t>or when </a:t>
            </a:r>
            <a:r>
              <a:rPr sz="3000" dirty="0">
                <a:latin typeface="Calibri"/>
                <a:cs typeface="Calibri"/>
              </a:rPr>
              <a:t>a </a:t>
            </a:r>
            <a:r>
              <a:rPr sz="3000" spc="-10" dirty="0">
                <a:latin typeface="Calibri"/>
                <a:cs typeface="Calibri"/>
              </a:rPr>
              <a:t>liver </a:t>
            </a:r>
            <a:r>
              <a:rPr sz="3000" spc="-5" dirty="0">
                <a:latin typeface="Calibri"/>
                <a:cs typeface="Calibri"/>
              </a:rPr>
              <a:t>abscess </a:t>
            </a:r>
            <a:r>
              <a:rPr sz="3000" spc="-15" dirty="0">
                <a:latin typeface="Calibri"/>
                <a:cs typeface="Calibri"/>
              </a:rPr>
              <a:t>drains </a:t>
            </a:r>
            <a:r>
              <a:rPr sz="3000" spc="-10" dirty="0">
                <a:latin typeface="Calibri"/>
                <a:cs typeface="Calibri"/>
              </a:rPr>
              <a:t>through  </a:t>
            </a:r>
            <a:r>
              <a:rPr sz="3000" dirty="0">
                <a:latin typeface="Calibri"/>
                <a:cs typeface="Calibri"/>
              </a:rPr>
              <a:t>the </a:t>
            </a:r>
            <a:r>
              <a:rPr sz="3000" spc="-5" dirty="0">
                <a:latin typeface="Calibri"/>
                <a:cs typeface="Calibri"/>
              </a:rPr>
              <a:t>skin </a:t>
            </a:r>
            <a:r>
              <a:rPr sz="3000" spc="-15" dirty="0">
                <a:latin typeface="Calibri"/>
                <a:cs typeface="Calibri"/>
              </a:rPr>
              <a:t>following </a:t>
            </a:r>
            <a:r>
              <a:rPr sz="3000" spc="-10" dirty="0">
                <a:latin typeface="Calibri"/>
                <a:cs typeface="Calibri"/>
              </a:rPr>
              <a:t>rupture, </a:t>
            </a:r>
            <a:r>
              <a:rPr sz="3000" dirty="0">
                <a:latin typeface="Calibri"/>
                <a:cs typeface="Calibri"/>
              </a:rPr>
              <a:t>a </a:t>
            </a:r>
            <a:r>
              <a:rPr sz="3000" spc="-10" dirty="0">
                <a:latin typeface="Calibri"/>
                <a:cs typeface="Calibri"/>
              </a:rPr>
              <a:t>destructive  </a:t>
            </a:r>
            <a:r>
              <a:rPr sz="3000" spc="-5" dirty="0">
                <a:latin typeface="Calibri"/>
                <a:cs typeface="Calibri"/>
              </a:rPr>
              <a:t>cutaneous </a:t>
            </a:r>
            <a:r>
              <a:rPr sz="3000" b="1" spc="-5" dirty="0">
                <a:latin typeface="Calibri"/>
                <a:cs typeface="Calibri"/>
              </a:rPr>
              <a:t>amoebiasis </a:t>
            </a:r>
            <a:r>
              <a:rPr sz="3000" spc="-20" dirty="0">
                <a:latin typeface="Calibri"/>
                <a:cs typeface="Calibri"/>
              </a:rPr>
              <a:t>may</a:t>
            </a:r>
            <a:r>
              <a:rPr sz="3000" spc="-10" dirty="0">
                <a:latin typeface="Calibri"/>
                <a:cs typeface="Calibri"/>
              </a:rPr>
              <a:t> develop.</a:t>
            </a:r>
            <a:endParaRPr sz="3000">
              <a:latin typeface="Calibri"/>
              <a:cs typeface="Calibri"/>
            </a:endParaRPr>
          </a:p>
        </p:txBody>
      </p:sp>
    </p:spTree>
    <p:extLst>
      <p:ext uri="{BB962C8B-B14F-4D97-AF65-F5344CB8AC3E}">
        <p14:creationId xmlns:p14="http://schemas.microsoft.com/office/powerpoint/2010/main" val="340863112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11656" y="4460151"/>
            <a:ext cx="7203440" cy="370840"/>
          </a:xfrm>
          <a:custGeom>
            <a:avLst/>
            <a:gdLst/>
            <a:ahLst/>
            <a:cxnLst/>
            <a:rect l="l" t="t" r="r" b="b"/>
            <a:pathLst>
              <a:path w="7203440" h="370839">
                <a:moveTo>
                  <a:pt x="0" y="0"/>
                </a:moveTo>
                <a:lnTo>
                  <a:pt x="7203084" y="0"/>
                </a:lnTo>
                <a:lnTo>
                  <a:pt x="7203084" y="370687"/>
                </a:lnTo>
                <a:lnTo>
                  <a:pt x="0" y="370687"/>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911656" y="3386772"/>
            <a:ext cx="5780405" cy="302260"/>
          </a:xfrm>
          <a:custGeom>
            <a:avLst/>
            <a:gdLst/>
            <a:ahLst/>
            <a:cxnLst/>
            <a:rect l="l" t="t" r="r" b="b"/>
            <a:pathLst>
              <a:path w="5780405" h="302260">
                <a:moveTo>
                  <a:pt x="0" y="0"/>
                </a:moveTo>
                <a:lnTo>
                  <a:pt x="5779985" y="0"/>
                </a:lnTo>
                <a:lnTo>
                  <a:pt x="5779985" y="302158"/>
                </a:lnTo>
                <a:lnTo>
                  <a:pt x="0" y="302158"/>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911656" y="2314105"/>
            <a:ext cx="2320925" cy="370840"/>
          </a:xfrm>
          <a:custGeom>
            <a:avLst/>
            <a:gdLst/>
            <a:ahLst/>
            <a:cxnLst/>
            <a:rect l="l" t="t" r="r" b="b"/>
            <a:pathLst>
              <a:path w="2320925" h="370839">
                <a:moveTo>
                  <a:pt x="0" y="0"/>
                </a:moveTo>
                <a:lnTo>
                  <a:pt x="2320594" y="0"/>
                </a:lnTo>
                <a:lnTo>
                  <a:pt x="2320594" y="370687"/>
                </a:lnTo>
                <a:lnTo>
                  <a:pt x="0" y="370687"/>
                </a:lnTo>
                <a:lnTo>
                  <a:pt x="0" y="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xfrm>
            <a:off x="2562605" y="461899"/>
            <a:ext cx="4017645" cy="696595"/>
          </a:xfrm>
          <a:prstGeom prst="rect">
            <a:avLst/>
          </a:prstGeom>
        </p:spPr>
        <p:txBody>
          <a:bodyPr vert="horz" wrap="square" lIns="0" tIns="13335" rIns="0" bIns="0" rtlCol="0">
            <a:spAutoFit/>
          </a:bodyPr>
          <a:lstStyle/>
          <a:p>
            <a:pPr marL="12700">
              <a:lnSpc>
                <a:spcPct val="100000"/>
              </a:lnSpc>
              <a:spcBef>
                <a:spcPts val="105"/>
              </a:spcBef>
            </a:pPr>
            <a:r>
              <a:rPr sz="4400" b="0" i="0" spc="-15" dirty="0">
                <a:latin typeface="Calibri"/>
                <a:cs typeface="Calibri"/>
              </a:rPr>
              <a:t>Intestinal</a:t>
            </a:r>
            <a:r>
              <a:rPr sz="4400" b="0" i="0" spc="-30" dirty="0">
                <a:latin typeface="Calibri"/>
                <a:cs typeface="Calibri"/>
              </a:rPr>
              <a:t> </a:t>
            </a:r>
            <a:r>
              <a:rPr sz="4400" b="0" i="0" spc="-35" dirty="0">
                <a:latin typeface="Calibri"/>
                <a:cs typeface="Calibri"/>
              </a:rPr>
              <a:t>(cont’d)</a:t>
            </a:r>
            <a:endParaRPr sz="4400">
              <a:latin typeface="Calibri"/>
              <a:cs typeface="Calibri"/>
            </a:endParaRPr>
          </a:p>
        </p:txBody>
      </p:sp>
      <p:sp>
        <p:nvSpPr>
          <p:cNvPr id="6" name="object 6"/>
          <p:cNvSpPr txBox="1"/>
          <p:nvPr/>
        </p:nvSpPr>
        <p:spPr>
          <a:xfrm>
            <a:off x="535940" y="1509941"/>
            <a:ext cx="7646670" cy="4319270"/>
          </a:xfrm>
          <a:prstGeom prst="rect">
            <a:avLst/>
          </a:prstGeom>
        </p:spPr>
        <p:txBody>
          <a:bodyPr vert="horz" wrap="square" lIns="0" tIns="110489" rIns="0" bIns="0" rtlCol="0">
            <a:spAutoFit/>
          </a:bodyPr>
          <a:lstStyle/>
          <a:p>
            <a:pPr marL="2100580" algn="just">
              <a:lnSpc>
                <a:spcPct val="100000"/>
              </a:lnSpc>
              <a:spcBef>
                <a:spcPts val="869"/>
              </a:spcBef>
            </a:pPr>
            <a:r>
              <a:rPr sz="3200" b="1" spc="-10" dirty="0">
                <a:latin typeface="Calibri"/>
                <a:cs typeface="Calibri"/>
              </a:rPr>
              <a:t>Prevention </a:t>
            </a:r>
            <a:r>
              <a:rPr sz="3200" b="1" dirty="0">
                <a:latin typeface="Calibri"/>
                <a:cs typeface="Calibri"/>
              </a:rPr>
              <a:t>and</a:t>
            </a:r>
            <a:r>
              <a:rPr sz="3200" b="1" spc="-50" dirty="0">
                <a:latin typeface="Calibri"/>
                <a:cs typeface="Calibri"/>
              </a:rPr>
              <a:t> </a:t>
            </a:r>
            <a:r>
              <a:rPr sz="3200" b="1" spc="-10" dirty="0">
                <a:latin typeface="Calibri"/>
                <a:cs typeface="Calibri"/>
              </a:rPr>
              <a:t>control</a:t>
            </a:r>
            <a:endParaRPr sz="3200">
              <a:latin typeface="Calibri"/>
              <a:cs typeface="Calibri"/>
            </a:endParaRPr>
          </a:p>
          <a:p>
            <a:pPr marL="355600" marR="129539" indent="-343535" algn="just">
              <a:lnSpc>
                <a:spcPct val="100000"/>
              </a:lnSpc>
              <a:spcBef>
                <a:spcPts val="770"/>
              </a:spcBef>
              <a:buSzPct val="96875"/>
              <a:buFont typeface="Wingdings"/>
              <a:buChar char=""/>
              <a:tabLst>
                <a:tab pos="376555" algn="l"/>
              </a:tabLst>
            </a:pPr>
            <a:r>
              <a:rPr sz="3200" spc="-5" dirty="0">
                <a:latin typeface="Calibri"/>
                <a:cs typeface="Calibri"/>
              </a:rPr>
              <a:t>Hand </a:t>
            </a:r>
            <a:r>
              <a:rPr sz="3200" spc="-10" dirty="0">
                <a:latin typeface="Calibri"/>
                <a:cs typeface="Calibri"/>
              </a:rPr>
              <a:t>washing </a:t>
            </a:r>
            <a:r>
              <a:rPr sz="3200" spc="-15" dirty="0">
                <a:latin typeface="Calibri"/>
                <a:cs typeface="Calibri"/>
              </a:rPr>
              <a:t>after defaecation </a:t>
            </a:r>
            <a:r>
              <a:rPr sz="3200" dirty="0">
                <a:latin typeface="Calibri"/>
                <a:cs typeface="Calibri"/>
              </a:rPr>
              <a:t>and </a:t>
            </a:r>
            <a:r>
              <a:rPr sz="3200" spc="-25" dirty="0">
                <a:latin typeface="Calibri"/>
                <a:cs typeface="Calibri"/>
              </a:rPr>
              <a:t>before  </a:t>
            </a:r>
            <a:r>
              <a:rPr sz="3200" spc="-10" dirty="0">
                <a:latin typeface="Calibri"/>
                <a:cs typeface="Calibri"/>
              </a:rPr>
              <a:t>eating.</a:t>
            </a:r>
            <a:endParaRPr sz="3200">
              <a:latin typeface="Calibri"/>
              <a:cs typeface="Calibri"/>
            </a:endParaRPr>
          </a:p>
          <a:p>
            <a:pPr marL="355600" marR="5080" indent="-343535" algn="just">
              <a:lnSpc>
                <a:spcPct val="100000"/>
              </a:lnSpc>
              <a:spcBef>
                <a:spcPts val="770"/>
              </a:spcBef>
              <a:buSzPct val="96875"/>
              <a:buFont typeface="Wingdings"/>
              <a:buChar char=""/>
              <a:tabLst>
                <a:tab pos="376555" algn="l"/>
              </a:tabLst>
            </a:pPr>
            <a:r>
              <a:rPr sz="3200" spc="-15" dirty="0">
                <a:latin typeface="Calibri"/>
                <a:cs typeface="Calibri"/>
              </a:rPr>
              <a:t>Prevention </a:t>
            </a:r>
            <a:r>
              <a:rPr sz="3200" dirty="0">
                <a:latin typeface="Calibri"/>
                <a:cs typeface="Calibri"/>
              </a:rPr>
              <a:t>of </a:t>
            </a:r>
            <a:r>
              <a:rPr sz="3200" spc="-15" dirty="0">
                <a:latin typeface="Calibri"/>
                <a:cs typeface="Calibri"/>
              </a:rPr>
              <a:t>faecal contamination </a:t>
            </a:r>
            <a:r>
              <a:rPr sz="3200" dirty="0">
                <a:latin typeface="Calibri"/>
                <a:cs typeface="Calibri"/>
              </a:rPr>
              <a:t>of </a:t>
            </a:r>
            <a:r>
              <a:rPr sz="3200" spc="-20" dirty="0">
                <a:latin typeface="Calibri"/>
                <a:cs typeface="Calibri"/>
              </a:rPr>
              <a:t>water  </a:t>
            </a:r>
            <a:r>
              <a:rPr sz="3200" spc="-5" dirty="0">
                <a:latin typeface="Calibri"/>
                <a:cs typeface="Calibri"/>
              </a:rPr>
              <a:t>supplies</a:t>
            </a:r>
            <a:endParaRPr sz="3200">
              <a:latin typeface="Calibri"/>
              <a:cs typeface="Calibri"/>
            </a:endParaRPr>
          </a:p>
          <a:p>
            <a:pPr marL="355600" marR="61594" indent="-343535" algn="just">
              <a:lnSpc>
                <a:spcPct val="100000"/>
              </a:lnSpc>
              <a:spcBef>
                <a:spcPts val="770"/>
              </a:spcBef>
              <a:buSzPct val="96875"/>
              <a:buFont typeface="Wingdings"/>
              <a:buChar char=""/>
              <a:tabLst>
                <a:tab pos="376555" algn="l"/>
              </a:tabLst>
            </a:pPr>
            <a:r>
              <a:rPr sz="3200" spc="-15" dirty="0">
                <a:latin typeface="Calibri"/>
                <a:cs typeface="Calibri"/>
              </a:rPr>
              <a:t>Prevention </a:t>
            </a:r>
            <a:r>
              <a:rPr sz="3200" spc="-5" dirty="0">
                <a:latin typeface="Calibri"/>
                <a:cs typeface="Calibri"/>
              </a:rPr>
              <a:t>of flies </a:t>
            </a:r>
            <a:r>
              <a:rPr sz="3200" spc="-15" dirty="0">
                <a:latin typeface="Calibri"/>
                <a:cs typeface="Calibri"/>
              </a:rPr>
              <a:t>from </a:t>
            </a:r>
            <a:r>
              <a:rPr sz="3200" spc="-10" dirty="0">
                <a:latin typeface="Calibri"/>
                <a:cs typeface="Calibri"/>
              </a:rPr>
              <a:t>contaminating </a:t>
            </a:r>
            <a:r>
              <a:rPr sz="3200" spc="-25" dirty="0">
                <a:latin typeface="Calibri"/>
                <a:cs typeface="Calibri"/>
              </a:rPr>
              <a:t>food  </a:t>
            </a:r>
            <a:r>
              <a:rPr sz="3200" dirty="0">
                <a:latin typeface="Calibri"/>
                <a:cs typeface="Calibri"/>
              </a:rPr>
              <a:t>and </a:t>
            </a:r>
            <a:r>
              <a:rPr sz="3200" spc="-20" dirty="0">
                <a:latin typeface="Calibri"/>
                <a:cs typeface="Calibri"/>
              </a:rPr>
              <a:t>water </a:t>
            </a:r>
            <a:r>
              <a:rPr sz="3200" spc="-10" dirty="0">
                <a:latin typeface="Calibri"/>
                <a:cs typeface="Calibri"/>
              </a:rPr>
              <a:t>by covering </a:t>
            </a:r>
            <a:r>
              <a:rPr sz="3200" spc="-5" dirty="0">
                <a:latin typeface="Calibri"/>
                <a:cs typeface="Calibri"/>
              </a:rPr>
              <a:t>these; </a:t>
            </a:r>
            <a:r>
              <a:rPr sz="3200" dirty="0">
                <a:latin typeface="Calibri"/>
                <a:cs typeface="Calibri"/>
              </a:rPr>
              <a:t>the </a:t>
            </a:r>
            <a:r>
              <a:rPr sz="3200" spc="-5" dirty="0">
                <a:latin typeface="Calibri"/>
                <a:cs typeface="Calibri"/>
              </a:rPr>
              <a:t>flies </a:t>
            </a:r>
            <a:r>
              <a:rPr sz="3200" dirty="0">
                <a:latin typeface="Calibri"/>
                <a:cs typeface="Calibri"/>
              </a:rPr>
              <a:t>act as  </a:t>
            </a:r>
            <a:r>
              <a:rPr sz="3200" spc="-20" dirty="0">
                <a:latin typeface="Calibri"/>
                <a:cs typeface="Calibri"/>
              </a:rPr>
              <a:t>cyst</a:t>
            </a:r>
            <a:r>
              <a:rPr sz="3200" spc="-5" dirty="0">
                <a:latin typeface="Calibri"/>
                <a:cs typeface="Calibri"/>
              </a:rPr>
              <a:t> </a:t>
            </a:r>
            <a:r>
              <a:rPr sz="3200" spc="-15" dirty="0">
                <a:latin typeface="Calibri"/>
                <a:cs typeface="Calibri"/>
              </a:rPr>
              <a:t>carriers.</a:t>
            </a:r>
            <a:endParaRPr sz="3200">
              <a:latin typeface="Calibri"/>
              <a:cs typeface="Calibri"/>
            </a:endParaRPr>
          </a:p>
        </p:txBody>
      </p:sp>
    </p:spTree>
    <p:extLst>
      <p:ext uri="{BB962C8B-B14F-4D97-AF65-F5344CB8AC3E}">
        <p14:creationId xmlns:p14="http://schemas.microsoft.com/office/powerpoint/2010/main" val="95833063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11656" y="3386772"/>
            <a:ext cx="6592570" cy="371475"/>
          </a:xfrm>
          <a:custGeom>
            <a:avLst/>
            <a:gdLst/>
            <a:ahLst/>
            <a:cxnLst/>
            <a:rect l="l" t="t" r="r" b="b"/>
            <a:pathLst>
              <a:path w="6592570" h="371475">
                <a:moveTo>
                  <a:pt x="0" y="0"/>
                </a:moveTo>
                <a:lnTo>
                  <a:pt x="6591947" y="0"/>
                </a:lnTo>
                <a:lnTo>
                  <a:pt x="6591947" y="370966"/>
                </a:lnTo>
                <a:lnTo>
                  <a:pt x="0" y="370966"/>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911656" y="4460151"/>
            <a:ext cx="187325" cy="370840"/>
          </a:xfrm>
          <a:custGeom>
            <a:avLst/>
            <a:gdLst/>
            <a:ahLst/>
            <a:cxnLst/>
            <a:rect l="l" t="t" r="r" b="b"/>
            <a:pathLst>
              <a:path w="187325" h="370839">
                <a:moveTo>
                  <a:pt x="0" y="0"/>
                </a:moveTo>
                <a:lnTo>
                  <a:pt x="186766" y="0"/>
                </a:lnTo>
                <a:lnTo>
                  <a:pt x="186766" y="370687"/>
                </a:lnTo>
                <a:lnTo>
                  <a:pt x="0" y="370687"/>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1098422" y="4460151"/>
            <a:ext cx="4658360" cy="370840"/>
          </a:xfrm>
          <a:custGeom>
            <a:avLst/>
            <a:gdLst/>
            <a:ahLst/>
            <a:cxnLst/>
            <a:rect l="l" t="t" r="r" b="b"/>
            <a:pathLst>
              <a:path w="4658360" h="370839">
                <a:moveTo>
                  <a:pt x="0" y="0"/>
                </a:moveTo>
                <a:lnTo>
                  <a:pt x="4657877" y="0"/>
                </a:lnTo>
                <a:lnTo>
                  <a:pt x="4657877" y="370687"/>
                </a:lnTo>
                <a:lnTo>
                  <a:pt x="0" y="370687"/>
                </a:lnTo>
                <a:lnTo>
                  <a:pt x="0" y="0"/>
                </a:lnTo>
                <a:close/>
              </a:path>
            </a:pathLst>
          </a:custGeom>
          <a:solidFill>
            <a:srgbClr val="FFED00"/>
          </a:solidFill>
        </p:spPr>
        <p:txBody>
          <a:bodyPr wrap="square" lIns="0" tIns="0" rIns="0" bIns="0" rtlCol="0"/>
          <a:lstStyle/>
          <a:p>
            <a:endParaRPr/>
          </a:p>
        </p:txBody>
      </p:sp>
      <p:sp>
        <p:nvSpPr>
          <p:cNvPr id="5" name="object 5"/>
          <p:cNvSpPr/>
          <p:nvPr/>
        </p:nvSpPr>
        <p:spPr>
          <a:xfrm>
            <a:off x="911656" y="5045138"/>
            <a:ext cx="5367655" cy="371475"/>
          </a:xfrm>
          <a:custGeom>
            <a:avLst/>
            <a:gdLst/>
            <a:ahLst/>
            <a:cxnLst/>
            <a:rect l="l" t="t" r="r" b="b"/>
            <a:pathLst>
              <a:path w="5367655" h="371475">
                <a:moveTo>
                  <a:pt x="0" y="0"/>
                </a:moveTo>
                <a:lnTo>
                  <a:pt x="5367070" y="0"/>
                </a:lnTo>
                <a:lnTo>
                  <a:pt x="5367070" y="370967"/>
                </a:lnTo>
                <a:lnTo>
                  <a:pt x="0" y="370967"/>
                </a:lnTo>
                <a:lnTo>
                  <a:pt x="0" y="0"/>
                </a:lnTo>
                <a:close/>
              </a:path>
            </a:pathLst>
          </a:custGeom>
          <a:solidFill>
            <a:srgbClr val="FFED00"/>
          </a:solidFill>
        </p:spPr>
        <p:txBody>
          <a:bodyPr wrap="square" lIns="0" tIns="0" rIns="0" bIns="0" rtlCol="0"/>
          <a:lstStyle/>
          <a:p>
            <a:endParaRPr/>
          </a:p>
        </p:txBody>
      </p:sp>
      <p:sp>
        <p:nvSpPr>
          <p:cNvPr id="6" name="object 6"/>
          <p:cNvSpPr txBox="1">
            <a:spLocks noGrp="1"/>
          </p:cNvSpPr>
          <p:nvPr>
            <p:ph type="title"/>
          </p:nvPr>
        </p:nvSpPr>
        <p:spPr>
          <a:xfrm>
            <a:off x="2562605" y="461899"/>
            <a:ext cx="4017645" cy="696595"/>
          </a:xfrm>
          <a:prstGeom prst="rect">
            <a:avLst/>
          </a:prstGeom>
        </p:spPr>
        <p:txBody>
          <a:bodyPr vert="horz" wrap="square" lIns="0" tIns="13335" rIns="0" bIns="0" rtlCol="0">
            <a:spAutoFit/>
          </a:bodyPr>
          <a:lstStyle/>
          <a:p>
            <a:pPr marL="12700">
              <a:lnSpc>
                <a:spcPct val="100000"/>
              </a:lnSpc>
              <a:spcBef>
                <a:spcPts val="105"/>
              </a:spcBef>
            </a:pPr>
            <a:r>
              <a:rPr sz="4400" b="0" i="0" spc="-15" dirty="0">
                <a:latin typeface="Calibri"/>
                <a:cs typeface="Calibri"/>
              </a:rPr>
              <a:t>Intestinal</a:t>
            </a:r>
            <a:r>
              <a:rPr sz="4400" b="0" i="0" spc="-30" dirty="0">
                <a:latin typeface="Calibri"/>
                <a:cs typeface="Calibri"/>
              </a:rPr>
              <a:t> </a:t>
            </a:r>
            <a:r>
              <a:rPr sz="4400" b="0" i="0" spc="-35" dirty="0">
                <a:latin typeface="Calibri"/>
                <a:cs typeface="Calibri"/>
              </a:rPr>
              <a:t>(cont’d)</a:t>
            </a:r>
            <a:endParaRPr sz="4400">
              <a:latin typeface="Calibri"/>
              <a:cs typeface="Calibri"/>
            </a:endParaRPr>
          </a:p>
        </p:txBody>
      </p:sp>
      <p:sp>
        <p:nvSpPr>
          <p:cNvPr id="7" name="object 7"/>
          <p:cNvSpPr txBox="1"/>
          <p:nvPr/>
        </p:nvSpPr>
        <p:spPr>
          <a:xfrm>
            <a:off x="535940" y="1509941"/>
            <a:ext cx="6980555" cy="2270125"/>
          </a:xfrm>
          <a:prstGeom prst="rect">
            <a:avLst/>
          </a:prstGeom>
        </p:spPr>
        <p:txBody>
          <a:bodyPr vert="horz" wrap="square" lIns="0" tIns="110489" rIns="0" bIns="0" rtlCol="0">
            <a:spAutoFit/>
          </a:bodyPr>
          <a:lstStyle/>
          <a:p>
            <a:pPr marL="1532255">
              <a:lnSpc>
                <a:spcPct val="100000"/>
              </a:lnSpc>
              <a:spcBef>
                <a:spcPts val="869"/>
              </a:spcBef>
            </a:pPr>
            <a:r>
              <a:rPr sz="3200" b="1" spc="-15" dirty="0">
                <a:latin typeface="Calibri"/>
                <a:cs typeface="Calibri"/>
              </a:rPr>
              <a:t>Prevention </a:t>
            </a:r>
            <a:r>
              <a:rPr sz="3200" b="1" dirty="0">
                <a:latin typeface="Calibri"/>
                <a:cs typeface="Calibri"/>
              </a:rPr>
              <a:t>and </a:t>
            </a:r>
            <a:r>
              <a:rPr sz="3200" b="1" spc="-10" dirty="0">
                <a:latin typeface="Calibri"/>
                <a:cs typeface="Calibri"/>
              </a:rPr>
              <a:t>control</a:t>
            </a:r>
            <a:r>
              <a:rPr sz="3200" b="1" spc="-85" dirty="0">
                <a:latin typeface="Calibri"/>
                <a:cs typeface="Calibri"/>
              </a:rPr>
              <a:t> </a:t>
            </a:r>
            <a:r>
              <a:rPr sz="3200" b="1" spc="-30" dirty="0">
                <a:latin typeface="Calibri"/>
                <a:cs typeface="Calibri"/>
              </a:rPr>
              <a:t>cont’d</a:t>
            </a:r>
            <a:endParaRPr sz="3200">
              <a:latin typeface="Calibri"/>
              <a:cs typeface="Calibri"/>
            </a:endParaRPr>
          </a:p>
          <a:p>
            <a:pPr marL="355600" marR="152400" indent="-343535">
              <a:lnSpc>
                <a:spcPct val="100000"/>
              </a:lnSpc>
              <a:spcBef>
                <a:spcPts val="770"/>
              </a:spcBef>
              <a:buSzPct val="96875"/>
              <a:buFont typeface="Wingdings"/>
              <a:buChar char=""/>
              <a:tabLst>
                <a:tab pos="376555" algn="l"/>
              </a:tabLst>
            </a:pPr>
            <a:r>
              <a:rPr sz="3200" spc="-5" dirty="0">
                <a:latin typeface="Calibri"/>
                <a:cs typeface="Calibri"/>
              </a:rPr>
              <a:t>Health </a:t>
            </a:r>
            <a:r>
              <a:rPr sz="3200" spc="-10" dirty="0">
                <a:latin typeface="Calibri"/>
                <a:cs typeface="Calibri"/>
              </a:rPr>
              <a:t>education </a:t>
            </a:r>
            <a:r>
              <a:rPr sz="3200" dirty="0">
                <a:latin typeface="Calibri"/>
                <a:cs typeface="Calibri"/>
              </a:rPr>
              <a:t>on </a:t>
            </a:r>
            <a:r>
              <a:rPr sz="3200" spc="-20" dirty="0">
                <a:latin typeface="Calibri"/>
                <a:cs typeface="Calibri"/>
              </a:rPr>
              <a:t>food </a:t>
            </a:r>
            <a:r>
              <a:rPr sz="3200" spc="-5" dirty="0">
                <a:latin typeface="Calibri"/>
                <a:cs typeface="Calibri"/>
              </a:rPr>
              <a:t>handling </a:t>
            </a:r>
            <a:r>
              <a:rPr sz="3200" dirty="0">
                <a:latin typeface="Calibri"/>
                <a:cs typeface="Calibri"/>
              </a:rPr>
              <a:t>and  </a:t>
            </a:r>
            <a:r>
              <a:rPr sz="3200" spc="-15" dirty="0">
                <a:latin typeface="Calibri"/>
                <a:cs typeface="Calibri"/>
              </a:rPr>
              <a:t>hygiene</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dirty="0">
                <a:latin typeface="Calibri"/>
                <a:cs typeface="Calibri"/>
              </a:rPr>
              <a:t>Not </a:t>
            </a:r>
            <a:r>
              <a:rPr sz="3200" spc="-5" dirty="0">
                <a:latin typeface="Calibri"/>
                <a:cs typeface="Calibri"/>
              </a:rPr>
              <a:t>using human </a:t>
            </a:r>
            <a:r>
              <a:rPr sz="3200" spc="-10" dirty="0">
                <a:latin typeface="Calibri"/>
                <a:cs typeface="Calibri"/>
              </a:rPr>
              <a:t>faeces </a:t>
            </a:r>
            <a:r>
              <a:rPr sz="3200" dirty="0">
                <a:latin typeface="Calibri"/>
                <a:cs typeface="Calibri"/>
              </a:rPr>
              <a:t>as </a:t>
            </a:r>
            <a:r>
              <a:rPr sz="3200" spc="-25" dirty="0">
                <a:latin typeface="Calibri"/>
                <a:cs typeface="Calibri"/>
              </a:rPr>
              <a:t>fertilizers</a:t>
            </a:r>
            <a:r>
              <a:rPr sz="3200" spc="35" dirty="0">
                <a:latin typeface="Calibri"/>
                <a:cs typeface="Calibri"/>
              </a:rPr>
              <a:t> </a:t>
            </a:r>
            <a:r>
              <a:rPr sz="3200" spc="-30" dirty="0">
                <a:latin typeface="Calibri"/>
                <a:cs typeface="Calibri"/>
              </a:rPr>
              <a:t>for</a:t>
            </a:r>
            <a:endParaRPr sz="3200">
              <a:latin typeface="Calibri"/>
              <a:cs typeface="Calibri"/>
            </a:endParaRPr>
          </a:p>
        </p:txBody>
      </p:sp>
      <p:sp>
        <p:nvSpPr>
          <p:cNvPr id="8" name="object 8"/>
          <p:cNvSpPr txBox="1"/>
          <p:nvPr/>
        </p:nvSpPr>
        <p:spPr>
          <a:xfrm>
            <a:off x="891844" y="3896905"/>
            <a:ext cx="3517900" cy="349250"/>
          </a:xfrm>
          <a:prstGeom prst="rect">
            <a:avLst/>
          </a:prstGeom>
          <a:solidFill>
            <a:srgbClr val="FFED00">
              <a:alpha val="50000"/>
            </a:srgbClr>
          </a:solidFill>
        </p:spPr>
        <p:txBody>
          <a:bodyPr vert="horz" wrap="square" lIns="0" tIns="0" rIns="0" bIns="0" rtlCol="0">
            <a:spAutoFit/>
          </a:bodyPr>
          <a:lstStyle/>
          <a:p>
            <a:pPr>
              <a:lnSpc>
                <a:spcPts val="2745"/>
              </a:lnSpc>
            </a:pPr>
            <a:r>
              <a:rPr sz="3200" spc="-15" dirty="0">
                <a:latin typeface="Calibri"/>
                <a:cs typeface="Calibri"/>
              </a:rPr>
              <a:t>vegetable</a:t>
            </a:r>
            <a:r>
              <a:rPr sz="3200" spc="-80" dirty="0">
                <a:latin typeface="Calibri"/>
                <a:cs typeface="Calibri"/>
              </a:rPr>
              <a:t> </a:t>
            </a:r>
            <a:r>
              <a:rPr sz="3200" spc="-10" dirty="0">
                <a:latin typeface="Calibri"/>
                <a:cs typeface="Calibri"/>
              </a:rPr>
              <a:t>production</a:t>
            </a:r>
            <a:endParaRPr sz="3200">
              <a:latin typeface="Calibri"/>
              <a:cs typeface="Calibri"/>
            </a:endParaRPr>
          </a:p>
        </p:txBody>
      </p:sp>
      <p:sp>
        <p:nvSpPr>
          <p:cNvPr id="9" name="object 9"/>
          <p:cNvSpPr txBox="1"/>
          <p:nvPr/>
        </p:nvSpPr>
        <p:spPr>
          <a:xfrm>
            <a:off x="523240" y="4242660"/>
            <a:ext cx="7755890" cy="1684020"/>
          </a:xfrm>
          <a:prstGeom prst="rect">
            <a:avLst/>
          </a:prstGeom>
        </p:spPr>
        <p:txBody>
          <a:bodyPr vert="horz" wrap="square" lIns="0" tIns="109855" rIns="0" bIns="0" rtlCol="0">
            <a:spAutoFit/>
          </a:bodyPr>
          <a:lstStyle/>
          <a:p>
            <a:pPr marL="388620" indent="-363855">
              <a:lnSpc>
                <a:spcPct val="100000"/>
              </a:lnSpc>
              <a:spcBef>
                <a:spcPts val="865"/>
              </a:spcBef>
              <a:buSzPct val="96875"/>
              <a:buFont typeface="Wingdings"/>
              <a:buChar char=""/>
              <a:tabLst>
                <a:tab pos="389255" algn="l"/>
              </a:tabLst>
            </a:pPr>
            <a:r>
              <a:rPr sz="3200" spc="-5" dirty="0">
                <a:latin typeface="Calibri"/>
                <a:cs typeface="Calibri"/>
              </a:rPr>
              <a:t>Soaking </a:t>
            </a:r>
            <a:r>
              <a:rPr sz="3200" spc="-10" dirty="0">
                <a:latin typeface="Calibri"/>
                <a:cs typeface="Calibri"/>
              </a:rPr>
              <a:t>vegetables </a:t>
            </a:r>
            <a:r>
              <a:rPr sz="3200" dirty="0">
                <a:latin typeface="Calibri"/>
                <a:cs typeface="Calibri"/>
              </a:rPr>
              <a:t>in </a:t>
            </a:r>
            <a:r>
              <a:rPr sz="3200" spc="-10" dirty="0">
                <a:latin typeface="Calibri"/>
                <a:cs typeface="Calibri"/>
              </a:rPr>
              <a:t>vinegar </a:t>
            </a:r>
            <a:r>
              <a:rPr sz="3200" spc="-30" dirty="0">
                <a:latin typeface="Calibri"/>
                <a:cs typeface="Calibri"/>
              </a:rPr>
              <a:t>for </a:t>
            </a:r>
            <a:r>
              <a:rPr sz="3200" dirty="0">
                <a:latin typeface="Calibri"/>
                <a:cs typeface="Calibri"/>
              </a:rPr>
              <a:t>30</a:t>
            </a:r>
            <a:r>
              <a:rPr sz="3200" spc="25" dirty="0">
                <a:latin typeface="Calibri"/>
                <a:cs typeface="Calibri"/>
              </a:rPr>
              <a:t> </a:t>
            </a:r>
            <a:r>
              <a:rPr sz="3200" spc="-10" dirty="0">
                <a:latin typeface="Calibri"/>
                <a:cs typeface="Calibri"/>
              </a:rPr>
              <a:t>minutes</a:t>
            </a:r>
            <a:endParaRPr sz="3200">
              <a:latin typeface="Calibri"/>
              <a:cs typeface="Calibri"/>
            </a:endParaRPr>
          </a:p>
          <a:p>
            <a:pPr marL="368300" marR="17780" indent="-343535">
              <a:lnSpc>
                <a:spcPct val="100000"/>
              </a:lnSpc>
              <a:spcBef>
                <a:spcPts val="765"/>
              </a:spcBef>
              <a:buSzPct val="96875"/>
              <a:buFont typeface="Wingdings"/>
              <a:buChar char=""/>
              <a:tabLst>
                <a:tab pos="389255" algn="l"/>
              </a:tabLst>
            </a:pPr>
            <a:r>
              <a:rPr sz="3200" dirty="0">
                <a:latin typeface="Calibri"/>
                <a:cs typeface="Calibri"/>
              </a:rPr>
              <a:t>Boiling </a:t>
            </a:r>
            <a:r>
              <a:rPr sz="3200" spc="-10" dirty="0">
                <a:latin typeface="Calibri"/>
                <a:cs typeface="Calibri"/>
              </a:rPr>
              <a:t>suspected </a:t>
            </a:r>
            <a:r>
              <a:rPr sz="3200" spc="-5" dirty="0">
                <a:latin typeface="Calibri"/>
                <a:cs typeface="Calibri"/>
              </a:rPr>
              <a:t>drinking </a:t>
            </a:r>
            <a:r>
              <a:rPr sz="3200" spc="-15" dirty="0">
                <a:latin typeface="Calibri"/>
                <a:cs typeface="Calibri"/>
              </a:rPr>
              <a:t>water; cysts </a:t>
            </a:r>
            <a:r>
              <a:rPr sz="3200" dirty="0">
                <a:latin typeface="Calibri"/>
                <a:cs typeface="Calibri"/>
              </a:rPr>
              <a:t>killed  </a:t>
            </a:r>
            <a:r>
              <a:rPr sz="3200" spc="-15" dirty="0">
                <a:latin typeface="Calibri"/>
                <a:cs typeface="Calibri"/>
              </a:rPr>
              <a:t>at</a:t>
            </a:r>
            <a:r>
              <a:rPr sz="3200" spc="-5" dirty="0">
                <a:latin typeface="Calibri"/>
                <a:cs typeface="Calibri"/>
              </a:rPr>
              <a:t> </a:t>
            </a:r>
            <a:r>
              <a:rPr sz="3200" dirty="0">
                <a:latin typeface="Calibri"/>
                <a:cs typeface="Calibri"/>
              </a:rPr>
              <a:t>55</a:t>
            </a:r>
            <a:r>
              <a:rPr sz="3150" baseline="25132" dirty="0">
                <a:latin typeface="Calibri"/>
                <a:cs typeface="Calibri"/>
              </a:rPr>
              <a:t>o</a:t>
            </a:r>
            <a:r>
              <a:rPr sz="3200" dirty="0">
                <a:latin typeface="Calibri"/>
                <a:cs typeface="Calibri"/>
              </a:rPr>
              <a:t>C</a:t>
            </a:r>
            <a:endParaRPr sz="3200">
              <a:latin typeface="Calibri"/>
              <a:cs typeface="Calibri"/>
            </a:endParaRPr>
          </a:p>
        </p:txBody>
      </p:sp>
    </p:spTree>
    <p:extLst>
      <p:ext uri="{BB962C8B-B14F-4D97-AF65-F5344CB8AC3E}">
        <p14:creationId xmlns:p14="http://schemas.microsoft.com/office/powerpoint/2010/main" val="17479071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11656" y="2314105"/>
            <a:ext cx="7609205" cy="370840"/>
          </a:xfrm>
          <a:custGeom>
            <a:avLst/>
            <a:gdLst/>
            <a:ahLst/>
            <a:cxnLst/>
            <a:rect l="l" t="t" r="r" b="b"/>
            <a:pathLst>
              <a:path w="7609205" h="370839">
                <a:moveTo>
                  <a:pt x="0" y="0"/>
                </a:moveTo>
                <a:lnTo>
                  <a:pt x="7609179" y="0"/>
                </a:lnTo>
                <a:lnTo>
                  <a:pt x="7609179" y="370687"/>
                </a:lnTo>
                <a:lnTo>
                  <a:pt x="0" y="370687"/>
                </a:lnTo>
                <a:lnTo>
                  <a:pt x="0" y="0"/>
                </a:lnTo>
                <a:close/>
              </a:path>
            </a:pathLst>
          </a:custGeom>
          <a:solidFill>
            <a:srgbClr val="FFED00"/>
          </a:solidFill>
        </p:spPr>
        <p:txBody>
          <a:bodyPr wrap="square" lIns="0" tIns="0" rIns="0" bIns="0" rtlCol="0"/>
          <a:lstStyle/>
          <a:p>
            <a:endParaRPr/>
          </a:p>
        </p:txBody>
      </p:sp>
      <p:sp>
        <p:nvSpPr>
          <p:cNvPr id="3" name="object 3"/>
          <p:cNvSpPr txBox="1">
            <a:spLocks noGrp="1"/>
          </p:cNvSpPr>
          <p:nvPr>
            <p:ph type="title"/>
          </p:nvPr>
        </p:nvSpPr>
        <p:spPr>
          <a:xfrm>
            <a:off x="2562605" y="461899"/>
            <a:ext cx="4017645" cy="696595"/>
          </a:xfrm>
          <a:prstGeom prst="rect">
            <a:avLst/>
          </a:prstGeom>
        </p:spPr>
        <p:txBody>
          <a:bodyPr vert="horz" wrap="square" lIns="0" tIns="13335" rIns="0" bIns="0" rtlCol="0">
            <a:spAutoFit/>
          </a:bodyPr>
          <a:lstStyle/>
          <a:p>
            <a:pPr marL="12700">
              <a:lnSpc>
                <a:spcPct val="100000"/>
              </a:lnSpc>
              <a:spcBef>
                <a:spcPts val="105"/>
              </a:spcBef>
            </a:pPr>
            <a:r>
              <a:rPr sz="4400" b="0" i="0" spc="-15" dirty="0">
                <a:latin typeface="Calibri"/>
                <a:cs typeface="Calibri"/>
              </a:rPr>
              <a:t>Intestinal</a:t>
            </a:r>
            <a:r>
              <a:rPr sz="4400" b="0" i="0" spc="-30" dirty="0">
                <a:latin typeface="Calibri"/>
                <a:cs typeface="Calibri"/>
              </a:rPr>
              <a:t> </a:t>
            </a:r>
            <a:r>
              <a:rPr sz="4400" b="0" i="0" spc="-35" dirty="0">
                <a:latin typeface="Calibri"/>
                <a:cs typeface="Calibri"/>
              </a:rPr>
              <a:t>(cont’d)</a:t>
            </a:r>
            <a:endParaRPr sz="4400">
              <a:latin typeface="Calibri"/>
              <a:cs typeface="Calibri"/>
            </a:endParaRPr>
          </a:p>
        </p:txBody>
      </p:sp>
      <p:sp>
        <p:nvSpPr>
          <p:cNvPr id="4" name="object 4"/>
          <p:cNvSpPr txBox="1"/>
          <p:nvPr/>
        </p:nvSpPr>
        <p:spPr>
          <a:xfrm>
            <a:off x="535940" y="1509941"/>
            <a:ext cx="7997190" cy="1196975"/>
          </a:xfrm>
          <a:prstGeom prst="rect">
            <a:avLst/>
          </a:prstGeom>
        </p:spPr>
        <p:txBody>
          <a:bodyPr vert="horz" wrap="square" lIns="0" tIns="110489" rIns="0" bIns="0" rtlCol="0">
            <a:spAutoFit/>
          </a:bodyPr>
          <a:lstStyle/>
          <a:p>
            <a:pPr marL="2265680">
              <a:lnSpc>
                <a:spcPct val="100000"/>
              </a:lnSpc>
              <a:spcBef>
                <a:spcPts val="869"/>
              </a:spcBef>
            </a:pPr>
            <a:r>
              <a:rPr sz="3200" b="1" spc="-10" dirty="0">
                <a:latin typeface="Calibri"/>
                <a:cs typeface="Calibri"/>
              </a:rPr>
              <a:t>Laboratory</a:t>
            </a:r>
            <a:r>
              <a:rPr sz="3200" b="1" spc="-50" dirty="0">
                <a:latin typeface="Calibri"/>
                <a:cs typeface="Calibri"/>
              </a:rPr>
              <a:t> </a:t>
            </a:r>
            <a:r>
              <a:rPr sz="3200" b="1" spc="-5" dirty="0">
                <a:latin typeface="Calibri"/>
                <a:cs typeface="Calibri"/>
              </a:rPr>
              <a:t>Diagnosis</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10" dirty="0">
                <a:latin typeface="Calibri"/>
                <a:cs typeface="Calibri"/>
              </a:rPr>
              <a:t>Examination </a:t>
            </a:r>
            <a:r>
              <a:rPr sz="3200" spc="-5" dirty="0">
                <a:latin typeface="Calibri"/>
                <a:cs typeface="Calibri"/>
              </a:rPr>
              <a:t>of </a:t>
            </a:r>
            <a:r>
              <a:rPr sz="3200" spc="-10" dirty="0">
                <a:latin typeface="Calibri"/>
                <a:cs typeface="Calibri"/>
              </a:rPr>
              <a:t>fresh </a:t>
            </a:r>
            <a:r>
              <a:rPr sz="3200" spc="-15" dirty="0">
                <a:latin typeface="Calibri"/>
                <a:cs typeface="Calibri"/>
              </a:rPr>
              <a:t>faecal </a:t>
            </a:r>
            <a:r>
              <a:rPr sz="3200" spc="-5" dirty="0">
                <a:latin typeface="Calibri"/>
                <a:cs typeface="Calibri"/>
              </a:rPr>
              <a:t>specimen </a:t>
            </a:r>
            <a:r>
              <a:rPr sz="3200" dirty="0">
                <a:latin typeface="Calibri"/>
                <a:cs typeface="Calibri"/>
              </a:rPr>
              <a:t>or</a:t>
            </a:r>
            <a:r>
              <a:rPr sz="3200" spc="15" dirty="0">
                <a:latin typeface="Calibri"/>
                <a:cs typeface="Calibri"/>
              </a:rPr>
              <a:t> </a:t>
            </a:r>
            <a:r>
              <a:rPr sz="3200" spc="-15" dirty="0">
                <a:latin typeface="Calibri"/>
                <a:cs typeface="Calibri"/>
              </a:rPr>
              <a:t>rectal</a:t>
            </a:r>
            <a:endParaRPr sz="3200">
              <a:latin typeface="Calibri"/>
              <a:cs typeface="Calibri"/>
            </a:endParaRPr>
          </a:p>
        </p:txBody>
      </p:sp>
      <p:sp>
        <p:nvSpPr>
          <p:cNvPr id="5" name="object 5"/>
          <p:cNvSpPr txBox="1"/>
          <p:nvPr/>
        </p:nvSpPr>
        <p:spPr>
          <a:xfrm>
            <a:off x="891844" y="2822130"/>
            <a:ext cx="6903084" cy="350520"/>
          </a:xfrm>
          <a:prstGeom prst="rect">
            <a:avLst/>
          </a:prstGeom>
          <a:solidFill>
            <a:srgbClr val="FFED00">
              <a:alpha val="50000"/>
            </a:srgbClr>
          </a:solidFill>
        </p:spPr>
        <p:txBody>
          <a:bodyPr vert="horz" wrap="square" lIns="0" tIns="0" rIns="0" bIns="0" rtlCol="0">
            <a:spAutoFit/>
          </a:bodyPr>
          <a:lstStyle/>
          <a:p>
            <a:pPr>
              <a:lnSpc>
                <a:spcPts val="2760"/>
              </a:lnSpc>
            </a:pPr>
            <a:r>
              <a:rPr sz="3200" spc="-10" dirty="0">
                <a:latin typeface="Calibri"/>
                <a:cs typeface="Calibri"/>
              </a:rPr>
              <a:t>scraping </a:t>
            </a:r>
            <a:r>
              <a:rPr sz="3200" spc="-30" dirty="0">
                <a:latin typeface="Calibri"/>
                <a:cs typeface="Calibri"/>
              </a:rPr>
              <a:t>for </a:t>
            </a:r>
            <a:r>
              <a:rPr sz="3200" dirty="0">
                <a:latin typeface="Calibri"/>
                <a:cs typeface="Calibri"/>
              </a:rPr>
              <a:t>motile </a:t>
            </a:r>
            <a:r>
              <a:rPr sz="3200" i="1" spc="-5" dirty="0">
                <a:latin typeface="Calibri"/>
                <a:cs typeface="Calibri"/>
              </a:rPr>
              <a:t>E. </a:t>
            </a:r>
            <a:r>
              <a:rPr sz="3200" i="1" spc="-15" dirty="0">
                <a:latin typeface="Calibri"/>
                <a:cs typeface="Calibri"/>
              </a:rPr>
              <a:t>histolytica</a:t>
            </a:r>
            <a:r>
              <a:rPr sz="3200" i="1" spc="95" dirty="0">
                <a:latin typeface="Calibri"/>
                <a:cs typeface="Calibri"/>
              </a:rPr>
              <a:t> </a:t>
            </a:r>
            <a:r>
              <a:rPr sz="3200" dirty="0">
                <a:latin typeface="Calibri"/>
                <a:cs typeface="Calibri"/>
              </a:rPr>
              <a:t>amoebae</a:t>
            </a:r>
            <a:endParaRPr sz="3200">
              <a:latin typeface="Calibri"/>
              <a:cs typeface="Calibri"/>
            </a:endParaRPr>
          </a:p>
        </p:txBody>
      </p:sp>
      <p:sp>
        <p:nvSpPr>
          <p:cNvPr id="6" name="object 6"/>
          <p:cNvSpPr txBox="1"/>
          <p:nvPr/>
        </p:nvSpPr>
        <p:spPr>
          <a:xfrm>
            <a:off x="535940" y="3265754"/>
            <a:ext cx="7277734" cy="514350"/>
          </a:xfrm>
          <a:prstGeom prst="rect">
            <a:avLst/>
          </a:prstGeom>
        </p:spPr>
        <p:txBody>
          <a:bodyPr vert="horz" wrap="square" lIns="0" tIns="13335" rIns="0" bIns="0" rtlCol="0">
            <a:spAutoFit/>
          </a:bodyPr>
          <a:lstStyle/>
          <a:p>
            <a:pPr marL="375920" indent="-363855">
              <a:lnSpc>
                <a:spcPct val="100000"/>
              </a:lnSpc>
              <a:spcBef>
                <a:spcPts val="105"/>
              </a:spcBef>
              <a:buSzPct val="96875"/>
              <a:buFont typeface="Wingdings"/>
              <a:buChar char=""/>
              <a:tabLst>
                <a:tab pos="376555" algn="l"/>
              </a:tabLst>
            </a:pPr>
            <a:r>
              <a:rPr sz="3200" spc="-5" dirty="0">
                <a:latin typeface="Calibri"/>
                <a:cs typeface="Calibri"/>
              </a:rPr>
              <a:t>Finding </a:t>
            </a:r>
            <a:r>
              <a:rPr sz="3200" dirty="0">
                <a:latin typeface="Calibri"/>
                <a:cs typeface="Calibri"/>
              </a:rPr>
              <a:t>of </a:t>
            </a:r>
            <a:r>
              <a:rPr sz="3200" spc="-10" dirty="0">
                <a:latin typeface="Calibri"/>
                <a:cs typeface="Calibri"/>
              </a:rPr>
              <a:t>motile </a:t>
            </a:r>
            <a:r>
              <a:rPr sz="3200" dirty="0">
                <a:latin typeface="Calibri"/>
                <a:cs typeface="Calibri"/>
              </a:rPr>
              <a:t>amoebae </a:t>
            </a:r>
            <a:r>
              <a:rPr sz="3200" spc="-15" dirty="0">
                <a:latin typeface="Calibri"/>
                <a:cs typeface="Calibri"/>
              </a:rPr>
              <a:t>containing</a:t>
            </a:r>
            <a:r>
              <a:rPr sz="3200" spc="70" dirty="0">
                <a:latin typeface="Calibri"/>
                <a:cs typeface="Calibri"/>
              </a:rPr>
              <a:t> </a:t>
            </a:r>
            <a:r>
              <a:rPr sz="3200" spc="-15" dirty="0">
                <a:latin typeface="Calibri"/>
                <a:cs typeface="Calibri"/>
              </a:rPr>
              <a:t>red</a:t>
            </a:r>
            <a:endParaRPr sz="3200">
              <a:latin typeface="Calibri"/>
              <a:cs typeface="Calibri"/>
            </a:endParaRPr>
          </a:p>
        </p:txBody>
      </p:sp>
      <p:sp>
        <p:nvSpPr>
          <p:cNvPr id="7" name="object 7"/>
          <p:cNvSpPr txBox="1"/>
          <p:nvPr/>
        </p:nvSpPr>
        <p:spPr>
          <a:xfrm>
            <a:off x="891844" y="3895280"/>
            <a:ext cx="6568440" cy="350520"/>
          </a:xfrm>
          <a:prstGeom prst="rect">
            <a:avLst/>
          </a:prstGeom>
          <a:solidFill>
            <a:srgbClr val="FFED00">
              <a:alpha val="50000"/>
            </a:srgbClr>
          </a:solidFill>
        </p:spPr>
        <p:txBody>
          <a:bodyPr vert="horz" wrap="square" lIns="0" tIns="0" rIns="0" bIns="0" rtlCol="0">
            <a:spAutoFit/>
          </a:bodyPr>
          <a:lstStyle/>
          <a:p>
            <a:pPr>
              <a:lnSpc>
                <a:spcPts val="2760"/>
              </a:lnSpc>
            </a:pPr>
            <a:r>
              <a:rPr sz="3200" dirty="0">
                <a:latin typeface="Calibri"/>
                <a:cs typeface="Calibri"/>
              </a:rPr>
              <a:t>cells is </a:t>
            </a:r>
            <a:r>
              <a:rPr sz="3200" spc="-10" dirty="0">
                <a:latin typeface="Calibri"/>
                <a:cs typeface="Calibri"/>
              </a:rPr>
              <a:t>diagnostic </a:t>
            </a:r>
            <a:r>
              <a:rPr sz="3200" spc="-5" dirty="0">
                <a:latin typeface="Calibri"/>
                <a:cs typeface="Calibri"/>
              </a:rPr>
              <a:t>of amoebic</a:t>
            </a:r>
            <a:r>
              <a:rPr sz="3200" spc="35" dirty="0">
                <a:latin typeface="Calibri"/>
                <a:cs typeface="Calibri"/>
              </a:rPr>
              <a:t> </a:t>
            </a:r>
            <a:r>
              <a:rPr sz="3200" spc="-35" dirty="0">
                <a:latin typeface="Calibri"/>
                <a:cs typeface="Calibri"/>
              </a:rPr>
              <a:t>dysentery.</a:t>
            </a:r>
            <a:endParaRPr sz="3200">
              <a:latin typeface="Calibri"/>
              <a:cs typeface="Calibri"/>
            </a:endParaRPr>
          </a:p>
        </p:txBody>
      </p:sp>
      <p:sp>
        <p:nvSpPr>
          <p:cNvPr id="8" name="object 8"/>
          <p:cNvSpPr txBox="1"/>
          <p:nvPr/>
        </p:nvSpPr>
        <p:spPr>
          <a:xfrm>
            <a:off x="535940" y="4339209"/>
            <a:ext cx="7965440" cy="1489710"/>
          </a:xfrm>
          <a:prstGeom prst="rect">
            <a:avLst/>
          </a:prstGeom>
        </p:spPr>
        <p:txBody>
          <a:bodyPr vert="horz" wrap="square" lIns="0" tIns="12700" rIns="0" bIns="0" rtlCol="0">
            <a:spAutoFit/>
          </a:bodyPr>
          <a:lstStyle/>
          <a:p>
            <a:pPr marL="355600" marR="5080" indent="-343535">
              <a:lnSpc>
                <a:spcPct val="100000"/>
              </a:lnSpc>
              <a:spcBef>
                <a:spcPts val="100"/>
              </a:spcBef>
              <a:buSzPct val="96875"/>
              <a:buFont typeface="Wingdings"/>
              <a:buChar char=""/>
              <a:tabLst>
                <a:tab pos="376555" algn="l"/>
              </a:tabLst>
            </a:pPr>
            <a:r>
              <a:rPr sz="3200" spc="-10" dirty="0">
                <a:latin typeface="Calibri"/>
                <a:cs typeface="Calibri"/>
              </a:rPr>
              <a:t>Examination </a:t>
            </a:r>
            <a:r>
              <a:rPr sz="3200" spc="-5" dirty="0">
                <a:latin typeface="Calibri"/>
                <a:cs typeface="Calibri"/>
              </a:rPr>
              <a:t>of </a:t>
            </a:r>
            <a:r>
              <a:rPr sz="3200" spc="-20" dirty="0">
                <a:latin typeface="Calibri"/>
                <a:cs typeface="Calibri"/>
              </a:rPr>
              <a:t>formed </a:t>
            </a:r>
            <a:r>
              <a:rPr sz="3200" spc="-5" dirty="0">
                <a:latin typeface="Calibri"/>
                <a:cs typeface="Calibri"/>
              </a:rPr>
              <a:t>or </a:t>
            </a:r>
            <a:r>
              <a:rPr sz="3200" spc="-10" dirty="0">
                <a:latin typeface="Calibri"/>
                <a:cs typeface="Calibri"/>
              </a:rPr>
              <a:t>semi-formed faeces  </a:t>
            </a:r>
            <a:r>
              <a:rPr sz="3200" spc="-30" dirty="0">
                <a:latin typeface="Calibri"/>
                <a:cs typeface="Calibri"/>
              </a:rPr>
              <a:t>for </a:t>
            </a:r>
            <a:r>
              <a:rPr sz="3200" spc="-15" dirty="0">
                <a:latin typeface="Calibri"/>
                <a:cs typeface="Calibri"/>
              </a:rPr>
              <a:t>cysts </a:t>
            </a:r>
            <a:r>
              <a:rPr sz="3200" dirty="0">
                <a:latin typeface="Calibri"/>
                <a:cs typeface="Calibri"/>
              </a:rPr>
              <a:t>which </a:t>
            </a:r>
            <a:r>
              <a:rPr sz="3200" spc="-20" dirty="0">
                <a:latin typeface="Calibri"/>
                <a:cs typeface="Calibri"/>
              </a:rPr>
              <a:t>may </a:t>
            </a:r>
            <a:r>
              <a:rPr sz="3200" spc="-15" dirty="0">
                <a:latin typeface="Calibri"/>
                <a:cs typeface="Calibri"/>
              </a:rPr>
              <a:t>indicate </a:t>
            </a:r>
            <a:r>
              <a:rPr sz="3200" spc="-5" dirty="0">
                <a:latin typeface="Calibri"/>
                <a:cs typeface="Calibri"/>
              </a:rPr>
              <a:t>pathogenic or  non-pathogenic </a:t>
            </a:r>
            <a:r>
              <a:rPr sz="3200" spc="-15" dirty="0">
                <a:latin typeface="Calibri"/>
                <a:cs typeface="Calibri"/>
              </a:rPr>
              <a:t>strain.</a:t>
            </a:r>
            <a:endParaRPr sz="3200">
              <a:latin typeface="Calibri"/>
              <a:cs typeface="Calibri"/>
            </a:endParaRPr>
          </a:p>
        </p:txBody>
      </p:sp>
    </p:spTree>
    <p:extLst>
      <p:ext uri="{BB962C8B-B14F-4D97-AF65-F5344CB8AC3E}">
        <p14:creationId xmlns:p14="http://schemas.microsoft.com/office/powerpoint/2010/main" val="107181667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62605" y="461899"/>
            <a:ext cx="4017645" cy="696595"/>
          </a:xfrm>
          <a:prstGeom prst="rect">
            <a:avLst/>
          </a:prstGeom>
        </p:spPr>
        <p:txBody>
          <a:bodyPr vert="horz" wrap="square" lIns="0" tIns="13335" rIns="0" bIns="0" rtlCol="0">
            <a:spAutoFit/>
          </a:bodyPr>
          <a:lstStyle/>
          <a:p>
            <a:pPr marL="12700">
              <a:lnSpc>
                <a:spcPct val="100000"/>
              </a:lnSpc>
              <a:spcBef>
                <a:spcPts val="105"/>
              </a:spcBef>
            </a:pPr>
            <a:r>
              <a:rPr sz="4400" b="0" i="0" spc="-15" dirty="0">
                <a:latin typeface="Calibri"/>
                <a:cs typeface="Calibri"/>
              </a:rPr>
              <a:t>Intestinal</a:t>
            </a:r>
            <a:r>
              <a:rPr sz="4400" b="0" i="0" spc="-30" dirty="0">
                <a:latin typeface="Calibri"/>
                <a:cs typeface="Calibri"/>
              </a:rPr>
              <a:t> </a:t>
            </a:r>
            <a:r>
              <a:rPr sz="4400" b="0" i="0" spc="-35" dirty="0">
                <a:latin typeface="Calibri"/>
                <a:cs typeface="Calibri"/>
              </a:rPr>
              <a:t>(cont’d)</a:t>
            </a:r>
            <a:endParaRPr sz="4400">
              <a:latin typeface="Calibri"/>
              <a:cs typeface="Calibri"/>
            </a:endParaRPr>
          </a:p>
        </p:txBody>
      </p:sp>
      <p:sp>
        <p:nvSpPr>
          <p:cNvPr id="3" name="object 3"/>
          <p:cNvSpPr txBox="1"/>
          <p:nvPr/>
        </p:nvSpPr>
        <p:spPr>
          <a:xfrm>
            <a:off x="535940" y="1607261"/>
            <a:ext cx="8004175" cy="3246120"/>
          </a:xfrm>
          <a:prstGeom prst="rect">
            <a:avLst/>
          </a:prstGeom>
        </p:spPr>
        <p:txBody>
          <a:bodyPr vert="horz" wrap="square" lIns="0" tIns="13335" rIns="0" bIns="0" rtlCol="0">
            <a:spAutoFit/>
          </a:bodyPr>
          <a:lstStyle/>
          <a:p>
            <a:pPr marL="355600" marR="5080" indent="-343535">
              <a:lnSpc>
                <a:spcPct val="100000"/>
              </a:lnSpc>
              <a:spcBef>
                <a:spcPts val="105"/>
              </a:spcBef>
              <a:buSzPct val="96875"/>
              <a:buFont typeface="Wingdings"/>
              <a:buChar char=""/>
              <a:tabLst>
                <a:tab pos="376555" algn="l"/>
              </a:tabLst>
            </a:pPr>
            <a:r>
              <a:rPr sz="3200" spc="-5" dirty="0">
                <a:latin typeface="Calibri"/>
                <a:cs typeface="Calibri"/>
              </a:rPr>
              <a:t>Other </a:t>
            </a:r>
            <a:r>
              <a:rPr sz="3200" spc="-15" dirty="0">
                <a:latin typeface="Calibri"/>
                <a:cs typeface="Calibri"/>
              </a:rPr>
              <a:t>tests </a:t>
            </a:r>
            <a:r>
              <a:rPr sz="3200" spc="-20" dirty="0">
                <a:latin typeface="Calibri"/>
                <a:cs typeface="Calibri"/>
              </a:rPr>
              <a:t>exist </a:t>
            </a:r>
            <a:r>
              <a:rPr sz="3200" spc="-30" dirty="0">
                <a:latin typeface="Calibri"/>
                <a:cs typeface="Calibri"/>
              </a:rPr>
              <a:t>for </a:t>
            </a:r>
            <a:r>
              <a:rPr sz="3200" spc="-5" dirty="0">
                <a:latin typeface="Calibri"/>
                <a:cs typeface="Calibri"/>
              </a:rPr>
              <a:t>diagnosis </a:t>
            </a:r>
            <a:r>
              <a:rPr sz="3200" dirty="0">
                <a:latin typeface="Calibri"/>
                <a:cs typeface="Calibri"/>
              </a:rPr>
              <a:t>of </a:t>
            </a:r>
            <a:r>
              <a:rPr sz="3200" spc="-5" dirty="0">
                <a:latin typeface="Calibri"/>
                <a:cs typeface="Calibri"/>
              </a:rPr>
              <a:t>amoebic </a:t>
            </a:r>
            <a:r>
              <a:rPr sz="3200" spc="-10" dirty="0">
                <a:latin typeface="Calibri"/>
                <a:cs typeface="Calibri"/>
              </a:rPr>
              <a:t>liver  </a:t>
            </a:r>
            <a:r>
              <a:rPr sz="3200" spc="-5" dirty="0">
                <a:latin typeface="Calibri"/>
                <a:cs typeface="Calibri"/>
              </a:rPr>
              <a:t>abscess.</a:t>
            </a:r>
            <a:endParaRPr sz="3200">
              <a:latin typeface="Calibri"/>
              <a:cs typeface="Calibri"/>
            </a:endParaRPr>
          </a:p>
          <a:p>
            <a:pPr marL="355600" marR="628650" indent="-343535">
              <a:lnSpc>
                <a:spcPct val="100000"/>
              </a:lnSpc>
              <a:spcBef>
                <a:spcPts val="770"/>
              </a:spcBef>
              <a:buSzPct val="96875"/>
              <a:buFont typeface="Wingdings"/>
              <a:buChar char=""/>
              <a:tabLst>
                <a:tab pos="467359" algn="l"/>
              </a:tabLst>
            </a:pPr>
            <a:r>
              <a:rPr sz="3200" spc="-5" dirty="0">
                <a:latin typeface="Calibri"/>
                <a:cs typeface="Calibri"/>
              </a:rPr>
              <a:t>Species of </a:t>
            </a:r>
            <a:r>
              <a:rPr sz="3200" i="1" dirty="0">
                <a:latin typeface="Calibri"/>
                <a:cs typeface="Calibri"/>
              </a:rPr>
              <a:t>Amoeba </a:t>
            </a:r>
            <a:r>
              <a:rPr sz="3200" spc="-10" dirty="0">
                <a:latin typeface="Calibri"/>
                <a:cs typeface="Calibri"/>
              </a:rPr>
              <a:t>that </a:t>
            </a:r>
            <a:r>
              <a:rPr sz="3200" spc="-15" dirty="0">
                <a:latin typeface="Calibri"/>
                <a:cs typeface="Calibri"/>
              </a:rPr>
              <a:t>are free </a:t>
            </a:r>
            <a:r>
              <a:rPr sz="3200" spc="-5" dirty="0">
                <a:latin typeface="Calibri"/>
                <a:cs typeface="Calibri"/>
              </a:rPr>
              <a:t>living but  cause disease </a:t>
            </a:r>
            <a:r>
              <a:rPr sz="3200" dirty="0">
                <a:latin typeface="Calibri"/>
                <a:cs typeface="Calibri"/>
              </a:rPr>
              <a:t>when in</a:t>
            </a:r>
            <a:r>
              <a:rPr sz="3200" spc="-15" dirty="0">
                <a:latin typeface="Calibri"/>
                <a:cs typeface="Calibri"/>
              </a:rPr>
              <a:t> </a:t>
            </a:r>
            <a:r>
              <a:rPr sz="3200" spc="-5" dirty="0">
                <a:latin typeface="Calibri"/>
                <a:cs typeface="Calibri"/>
              </a:rPr>
              <a:t>humans</a:t>
            </a:r>
            <a:endParaRPr sz="3200">
              <a:latin typeface="Calibri"/>
              <a:cs typeface="Calibri"/>
            </a:endParaRPr>
          </a:p>
          <a:p>
            <a:pPr marL="355600" indent="-343535">
              <a:lnSpc>
                <a:spcPct val="100000"/>
              </a:lnSpc>
              <a:spcBef>
                <a:spcPts val="770"/>
              </a:spcBef>
              <a:buFont typeface="Wingdings"/>
              <a:buChar char=""/>
              <a:tabLst>
                <a:tab pos="356235" algn="l"/>
              </a:tabLst>
            </a:pPr>
            <a:r>
              <a:rPr sz="3200" i="1" dirty="0">
                <a:latin typeface="Calibri"/>
                <a:cs typeface="Calibri"/>
              </a:rPr>
              <a:t>Naegleria sp </a:t>
            </a:r>
            <a:r>
              <a:rPr sz="3200" spc="-5" dirty="0">
                <a:latin typeface="Calibri"/>
                <a:cs typeface="Calibri"/>
              </a:rPr>
              <a:t>(see </a:t>
            </a:r>
            <a:r>
              <a:rPr sz="3200" dirty="0">
                <a:latin typeface="Calibri"/>
                <a:cs typeface="Calibri"/>
              </a:rPr>
              <a:t>appended</a:t>
            </a:r>
            <a:r>
              <a:rPr sz="3200" spc="-15" dirty="0">
                <a:latin typeface="Calibri"/>
                <a:cs typeface="Calibri"/>
              </a:rPr>
              <a:t> </a:t>
            </a:r>
            <a:r>
              <a:rPr sz="3200" spc="-5" dirty="0">
                <a:latin typeface="Calibri"/>
                <a:cs typeface="Calibri"/>
              </a:rPr>
              <a:t>sheets)</a:t>
            </a:r>
            <a:endParaRPr sz="3200">
              <a:latin typeface="Calibri"/>
              <a:cs typeface="Calibri"/>
            </a:endParaRPr>
          </a:p>
          <a:p>
            <a:pPr marL="355600" indent="-343535">
              <a:lnSpc>
                <a:spcPct val="100000"/>
              </a:lnSpc>
              <a:spcBef>
                <a:spcPts val="770"/>
              </a:spcBef>
              <a:buFont typeface="Wingdings"/>
              <a:buChar char=""/>
              <a:tabLst>
                <a:tab pos="356235" algn="l"/>
              </a:tabLst>
            </a:pPr>
            <a:r>
              <a:rPr sz="3200" i="1" spc="-10" dirty="0">
                <a:latin typeface="Calibri"/>
                <a:cs typeface="Calibri"/>
              </a:rPr>
              <a:t>Acanthamoeba </a:t>
            </a:r>
            <a:r>
              <a:rPr sz="3200" i="1" dirty="0">
                <a:latin typeface="Calibri"/>
                <a:cs typeface="Calibri"/>
              </a:rPr>
              <a:t>sp </a:t>
            </a:r>
            <a:r>
              <a:rPr sz="3200" spc="-5" dirty="0">
                <a:latin typeface="Calibri"/>
                <a:cs typeface="Calibri"/>
              </a:rPr>
              <a:t>(see </a:t>
            </a:r>
            <a:r>
              <a:rPr sz="3200" dirty="0">
                <a:latin typeface="Calibri"/>
                <a:cs typeface="Calibri"/>
              </a:rPr>
              <a:t>appended</a:t>
            </a:r>
            <a:r>
              <a:rPr sz="3200" spc="45" dirty="0">
                <a:latin typeface="Calibri"/>
                <a:cs typeface="Calibri"/>
              </a:rPr>
              <a:t> </a:t>
            </a:r>
            <a:r>
              <a:rPr sz="3200" spc="-5" dirty="0">
                <a:latin typeface="Calibri"/>
                <a:cs typeface="Calibri"/>
              </a:rPr>
              <a:t>sheets)</a:t>
            </a:r>
            <a:endParaRPr sz="3200">
              <a:latin typeface="Calibri"/>
              <a:cs typeface="Calibri"/>
            </a:endParaRPr>
          </a:p>
        </p:txBody>
      </p:sp>
    </p:spTree>
    <p:extLst>
      <p:ext uri="{BB962C8B-B14F-4D97-AF65-F5344CB8AC3E}">
        <p14:creationId xmlns:p14="http://schemas.microsoft.com/office/powerpoint/2010/main" val="169742019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683465" y="4460151"/>
            <a:ext cx="2129790" cy="370840"/>
          </a:xfrm>
          <a:custGeom>
            <a:avLst/>
            <a:gdLst/>
            <a:ahLst/>
            <a:cxnLst/>
            <a:rect l="l" t="t" r="r" b="b"/>
            <a:pathLst>
              <a:path w="2129790" h="370839">
                <a:moveTo>
                  <a:pt x="0" y="0"/>
                </a:moveTo>
                <a:lnTo>
                  <a:pt x="2129764" y="0"/>
                </a:lnTo>
                <a:lnTo>
                  <a:pt x="2129764" y="370687"/>
                </a:lnTo>
                <a:lnTo>
                  <a:pt x="0" y="370687"/>
                </a:lnTo>
                <a:lnTo>
                  <a:pt x="0" y="0"/>
                </a:lnTo>
                <a:close/>
              </a:path>
            </a:pathLst>
          </a:custGeom>
          <a:solidFill>
            <a:srgbClr val="FFED00"/>
          </a:solidFill>
        </p:spPr>
        <p:txBody>
          <a:bodyPr wrap="square" lIns="0" tIns="0" rIns="0" bIns="0" rtlCol="0"/>
          <a:lstStyle/>
          <a:p>
            <a:endParaRPr/>
          </a:p>
        </p:txBody>
      </p:sp>
      <p:sp>
        <p:nvSpPr>
          <p:cNvPr id="3" name="object 3"/>
          <p:cNvSpPr txBox="1">
            <a:spLocks noGrp="1"/>
          </p:cNvSpPr>
          <p:nvPr>
            <p:ph type="title"/>
          </p:nvPr>
        </p:nvSpPr>
        <p:spPr>
          <a:xfrm>
            <a:off x="3041142" y="461899"/>
            <a:ext cx="3061970"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B.</a:t>
            </a:r>
            <a:r>
              <a:rPr sz="4400" i="0" spc="-50" dirty="0">
                <a:latin typeface="Calibri"/>
                <a:cs typeface="Calibri"/>
              </a:rPr>
              <a:t> </a:t>
            </a:r>
            <a:r>
              <a:rPr sz="4400" i="0" spc="-20" dirty="0">
                <a:latin typeface="Calibri"/>
                <a:cs typeface="Calibri"/>
              </a:rPr>
              <a:t>Flagellates</a:t>
            </a:r>
            <a:endParaRPr sz="4400">
              <a:latin typeface="Calibri"/>
              <a:cs typeface="Calibri"/>
            </a:endParaRPr>
          </a:p>
        </p:txBody>
      </p:sp>
      <p:sp>
        <p:nvSpPr>
          <p:cNvPr id="4" name="object 4"/>
          <p:cNvSpPr txBox="1"/>
          <p:nvPr/>
        </p:nvSpPr>
        <p:spPr>
          <a:xfrm>
            <a:off x="1279905" y="1607261"/>
            <a:ext cx="433070" cy="514350"/>
          </a:xfrm>
          <a:prstGeom prst="rect">
            <a:avLst/>
          </a:prstGeom>
        </p:spPr>
        <p:txBody>
          <a:bodyPr vert="horz" wrap="square" lIns="0" tIns="13335" rIns="0" bIns="0" rtlCol="0">
            <a:spAutoFit/>
          </a:bodyPr>
          <a:lstStyle/>
          <a:p>
            <a:pPr marL="12700">
              <a:lnSpc>
                <a:spcPct val="100000"/>
              </a:lnSpc>
              <a:spcBef>
                <a:spcPts val="105"/>
              </a:spcBef>
            </a:pPr>
            <a:r>
              <a:rPr sz="3200" b="1" dirty="0">
                <a:latin typeface="Calibri"/>
                <a:cs typeface="Calibri"/>
              </a:rPr>
              <a:t>1</a:t>
            </a:r>
            <a:r>
              <a:rPr sz="3200" b="1" spc="-85" dirty="0">
                <a:latin typeface="Calibri"/>
                <a:cs typeface="Calibri"/>
              </a:rPr>
              <a:t> </a:t>
            </a:r>
            <a:r>
              <a:rPr sz="3200" b="1" dirty="0">
                <a:latin typeface="Calibri"/>
                <a:cs typeface="Calibri"/>
              </a:rPr>
              <a:t>.</a:t>
            </a:r>
            <a:endParaRPr sz="3200">
              <a:latin typeface="Calibri"/>
              <a:cs typeface="Calibri"/>
            </a:endParaRPr>
          </a:p>
        </p:txBody>
      </p:sp>
      <p:sp>
        <p:nvSpPr>
          <p:cNvPr id="5" name="object 5"/>
          <p:cNvSpPr txBox="1"/>
          <p:nvPr/>
        </p:nvSpPr>
        <p:spPr>
          <a:xfrm>
            <a:off x="1790954" y="1744167"/>
            <a:ext cx="6061075" cy="355600"/>
          </a:xfrm>
          <a:prstGeom prst="rect">
            <a:avLst/>
          </a:prstGeom>
          <a:solidFill>
            <a:srgbClr val="FFED00">
              <a:alpha val="50000"/>
            </a:srgbClr>
          </a:solidFill>
        </p:spPr>
        <p:txBody>
          <a:bodyPr vert="horz" wrap="square" lIns="0" tIns="0" rIns="0" bIns="0" rtlCol="0">
            <a:spAutoFit/>
          </a:bodyPr>
          <a:lstStyle/>
          <a:p>
            <a:pPr>
              <a:lnSpc>
                <a:spcPts val="2795"/>
              </a:lnSpc>
            </a:pPr>
            <a:r>
              <a:rPr sz="3200" b="1" i="1" spc="-5" dirty="0">
                <a:latin typeface="Calibri"/>
                <a:cs typeface="Calibri"/>
              </a:rPr>
              <a:t>Giardia </a:t>
            </a:r>
            <a:r>
              <a:rPr sz="3200" b="1" i="1" dirty="0">
                <a:latin typeface="Calibri"/>
                <a:cs typeface="Calibri"/>
              </a:rPr>
              <a:t>lamblia </a:t>
            </a:r>
            <a:r>
              <a:rPr sz="3200" b="1" spc="-10" dirty="0">
                <a:latin typeface="Calibri"/>
                <a:cs typeface="Calibri"/>
              </a:rPr>
              <a:t>(Intestinal</a:t>
            </a:r>
            <a:r>
              <a:rPr sz="3200" b="1" spc="-75" dirty="0">
                <a:latin typeface="Calibri"/>
                <a:cs typeface="Calibri"/>
              </a:rPr>
              <a:t> </a:t>
            </a:r>
            <a:r>
              <a:rPr sz="3200" b="1" spc="-15" dirty="0">
                <a:latin typeface="Calibri"/>
                <a:cs typeface="Calibri"/>
              </a:rPr>
              <a:t>flagellate</a:t>
            </a:r>
            <a:endParaRPr sz="3200">
              <a:latin typeface="Calibri"/>
              <a:cs typeface="Calibri"/>
            </a:endParaRPr>
          </a:p>
        </p:txBody>
      </p:sp>
      <p:sp>
        <p:nvSpPr>
          <p:cNvPr id="6" name="object 6"/>
          <p:cNvSpPr txBox="1"/>
          <p:nvPr/>
        </p:nvSpPr>
        <p:spPr>
          <a:xfrm>
            <a:off x="3828922" y="2232431"/>
            <a:ext cx="1499235" cy="354965"/>
          </a:xfrm>
          <a:prstGeom prst="rect">
            <a:avLst/>
          </a:prstGeom>
          <a:solidFill>
            <a:srgbClr val="FFED00">
              <a:alpha val="50000"/>
            </a:srgbClr>
          </a:solidFill>
        </p:spPr>
        <p:txBody>
          <a:bodyPr vert="horz" wrap="square" lIns="0" tIns="0" rIns="0" bIns="0" rtlCol="0">
            <a:spAutoFit/>
          </a:bodyPr>
          <a:lstStyle/>
          <a:p>
            <a:pPr>
              <a:lnSpc>
                <a:spcPts val="2790"/>
              </a:lnSpc>
            </a:pPr>
            <a:r>
              <a:rPr sz="3200" b="1" dirty="0">
                <a:latin typeface="Calibri"/>
                <a:cs typeface="Calibri"/>
              </a:rPr>
              <a:t>pa</a:t>
            </a:r>
            <a:r>
              <a:rPr sz="3200" b="1" spc="-75" dirty="0">
                <a:latin typeface="Calibri"/>
                <a:cs typeface="Calibri"/>
              </a:rPr>
              <a:t>r</a:t>
            </a:r>
            <a:r>
              <a:rPr sz="3200" b="1" dirty="0">
                <a:latin typeface="Calibri"/>
                <a:cs typeface="Calibri"/>
              </a:rPr>
              <a:t>as</a:t>
            </a:r>
            <a:r>
              <a:rPr sz="3200" b="1" spc="5" dirty="0">
                <a:latin typeface="Calibri"/>
                <a:cs typeface="Calibri"/>
              </a:rPr>
              <a:t>i</a:t>
            </a:r>
            <a:r>
              <a:rPr sz="3200" b="1" spc="-45" dirty="0">
                <a:latin typeface="Calibri"/>
                <a:cs typeface="Calibri"/>
              </a:rPr>
              <a:t>t</a:t>
            </a:r>
            <a:r>
              <a:rPr sz="3200" b="1" spc="-5" dirty="0">
                <a:latin typeface="Calibri"/>
                <a:cs typeface="Calibri"/>
              </a:rPr>
              <a:t>e)</a:t>
            </a:r>
            <a:endParaRPr sz="3200">
              <a:latin typeface="Calibri"/>
              <a:cs typeface="Calibri"/>
            </a:endParaRPr>
          </a:p>
        </p:txBody>
      </p:sp>
      <p:sp>
        <p:nvSpPr>
          <p:cNvPr id="7" name="object 7"/>
          <p:cNvSpPr txBox="1"/>
          <p:nvPr/>
        </p:nvSpPr>
        <p:spPr>
          <a:xfrm>
            <a:off x="535940" y="2680843"/>
            <a:ext cx="7913370" cy="2172335"/>
          </a:xfrm>
          <a:prstGeom prst="rect">
            <a:avLst/>
          </a:prstGeom>
        </p:spPr>
        <p:txBody>
          <a:bodyPr vert="horz" wrap="square" lIns="0" tIns="13335" rIns="0" bIns="0" rtlCol="0">
            <a:spAutoFit/>
          </a:bodyPr>
          <a:lstStyle/>
          <a:p>
            <a:pPr marL="355600" marR="5080" indent="-343535">
              <a:lnSpc>
                <a:spcPct val="100000"/>
              </a:lnSpc>
              <a:spcBef>
                <a:spcPts val="105"/>
              </a:spcBef>
              <a:buSzPct val="96875"/>
              <a:buFont typeface="Wingdings"/>
              <a:buChar char=""/>
              <a:tabLst>
                <a:tab pos="376555" algn="l"/>
              </a:tabLst>
            </a:pPr>
            <a:r>
              <a:rPr sz="3200" spc="-5" dirty="0">
                <a:latin typeface="Calibri"/>
                <a:cs typeface="Calibri"/>
              </a:rPr>
              <a:t>The </a:t>
            </a:r>
            <a:r>
              <a:rPr sz="3200" spc="-10" dirty="0">
                <a:latin typeface="Calibri"/>
                <a:cs typeface="Calibri"/>
              </a:rPr>
              <a:t>infection/disease </a:t>
            </a:r>
            <a:r>
              <a:rPr sz="3200" spc="-5" dirty="0">
                <a:latin typeface="Calibri"/>
                <a:cs typeface="Calibri"/>
              </a:rPr>
              <a:t>caused </a:t>
            </a:r>
            <a:r>
              <a:rPr sz="3200" spc="-10" dirty="0">
                <a:latin typeface="Calibri"/>
                <a:cs typeface="Calibri"/>
              </a:rPr>
              <a:t>by </a:t>
            </a:r>
            <a:r>
              <a:rPr sz="3200" dirty="0">
                <a:latin typeface="Calibri"/>
                <a:cs typeface="Calibri"/>
              </a:rPr>
              <a:t>the </a:t>
            </a:r>
            <a:r>
              <a:rPr sz="3200" spc="-15" dirty="0">
                <a:latin typeface="Calibri"/>
                <a:cs typeface="Calibri"/>
              </a:rPr>
              <a:t>flagellate  </a:t>
            </a:r>
            <a:r>
              <a:rPr sz="3200" spc="-25" dirty="0">
                <a:latin typeface="Calibri"/>
                <a:cs typeface="Calibri"/>
              </a:rPr>
              <a:t>protozoan </a:t>
            </a:r>
            <a:r>
              <a:rPr sz="3200" spc="-15" dirty="0">
                <a:latin typeface="Calibri"/>
                <a:cs typeface="Calibri"/>
              </a:rPr>
              <a:t>parasite </a:t>
            </a:r>
            <a:r>
              <a:rPr sz="3200" dirty="0">
                <a:latin typeface="Calibri"/>
                <a:cs typeface="Calibri"/>
              </a:rPr>
              <a:t>is known as</a:t>
            </a:r>
            <a:r>
              <a:rPr sz="3200" spc="15" dirty="0">
                <a:latin typeface="Calibri"/>
                <a:cs typeface="Calibri"/>
              </a:rPr>
              <a:t> </a:t>
            </a:r>
            <a:r>
              <a:rPr sz="3200" b="1" spc="-5" dirty="0">
                <a:latin typeface="Calibri"/>
                <a:cs typeface="Calibri"/>
              </a:rPr>
              <a:t>Giardiasis</a:t>
            </a:r>
            <a:endParaRPr sz="3200">
              <a:latin typeface="Calibri"/>
              <a:cs typeface="Calibri"/>
            </a:endParaRPr>
          </a:p>
          <a:p>
            <a:pPr marL="3027680">
              <a:lnSpc>
                <a:spcPct val="100000"/>
              </a:lnSpc>
              <a:spcBef>
                <a:spcPts val="770"/>
              </a:spcBef>
            </a:pPr>
            <a:r>
              <a:rPr sz="3200" b="1" spc="-5" dirty="0">
                <a:latin typeface="Calibri"/>
                <a:cs typeface="Calibri"/>
              </a:rPr>
              <a:t>Distribution</a:t>
            </a:r>
            <a:endParaRPr sz="3200">
              <a:latin typeface="Calibri"/>
              <a:cs typeface="Calibri"/>
            </a:endParaRPr>
          </a:p>
          <a:p>
            <a:pPr marL="375920" indent="-363855">
              <a:lnSpc>
                <a:spcPct val="100000"/>
              </a:lnSpc>
              <a:spcBef>
                <a:spcPts val="765"/>
              </a:spcBef>
              <a:buSzPct val="96875"/>
              <a:buFont typeface="Wingdings"/>
              <a:buChar char=""/>
              <a:tabLst>
                <a:tab pos="376555" algn="l"/>
              </a:tabLst>
            </a:pPr>
            <a:r>
              <a:rPr sz="3200" spc="-5" dirty="0">
                <a:latin typeface="Calibri"/>
                <a:cs typeface="Calibri"/>
              </a:rPr>
              <a:t>The </a:t>
            </a:r>
            <a:r>
              <a:rPr sz="3200" spc="-40" dirty="0">
                <a:latin typeface="Calibri"/>
                <a:cs typeface="Calibri"/>
              </a:rPr>
              <a:t>Tropics </a:t>
            </a:r>
            <a:r>
              <a:rPr sz="3200" dirty="0">
                <a:latin typeface="Calibri"/>
                <a:cs typeface="Calibri"/>
              </a:rPr>
              <a:t>and </a:t>
            </a:r>
            <a:r>
              <a:rPr sz="3200" spc="-10" dirty="0">
                <a:latin typeface="Calibri"/>
                <a:cs typeface="Calibri"/>
              </a:rPr>
              <a:t>subtropics, </a:t>
            </a:r>
            <a:r>
              <a:rPr sz="3200" dirty="0">
                <a:latin typeface="Calibri"/>
                <a:cs typeface="Calibri"/>
              </a:rPr>
              <a:t>and</a:t>
            </a:r>
            <a:r>
              <a:rPr sz="3200" spc="45" dirty="0">
                <a:latin typeface="Calibri"/>
                <a:cs typeface="Calibri"/>
              </a:rPr>
              <a:t> </a:t>
            </a:r>
            <a:r>
              <a:rPr sz="3200" dirty="0">
                <a:latin typeface="Calibri"/>
                <a:cs typeface="Calibri"/>
              </a:rPr>
              <a:t>especially</a:t>
            </a:r>
            <a:endParaRPr sz="3200">
              <a:latin typeface="Calibri"/>
              <a:cs typeface="Calibri"/>
            </a:endParaRPr>
          </a:p>
        </p:txBody>
      </p:sp>
      <p:sp>
        <p:nvSpPr>
          <p:cNvPr id="8" name="object 8"/>
          <p:cNvSpPr txBox="1"/>
          <p:nvPr/>
        </p:nvSpPr>
        <p:spPr>
          <a:xfrm>
            <a:off x="891844" y="4969586"/>
            <a:ext cx="7120255" cy="349250"/>
          </a:xfrm>
          <a:prstGeom prst="rect">
            <a:avLst/>
          </a:prstGeom>
          <a:solidFill>
            <a:srgbClr val="FFED00">
              <a:alpha val="50000"/>
            </a:srgbClr>
          </a:solidFill>
        </p:spPr>
        <p:txBody>
          <a:bodyPr vert="horz" wrap="square" lIns="0" tIns="0" rIns="0" bIns="0" rtlCol="0">
            <a:spAutoFit/>
          </a:bodyPr>
          <a:lstStyle/>
          <a:p>
            <a:pPr>
              <a:lnSpc>
                <a:spcPts val="2750"/>
              </a:lnSpc>
            </a:pPr>
            <a:r>
              <a:rPr sz="3200" spc="-10" dirty="0">
                <a:latin typeface="Calibri"/>
                <a:cs typeface="Calibri"/>
              </a:rPr>
              <a:t>where </a:t>
            </a:r>
            <a:r>
              <a:rPr sz="3200" spc="-20" dirty="0">
                <a:latin typeface="Calibri"/>
                <a:cs typeface="Calibri"/>
              </a:rPr>
              <a:t>water </a:t>
            </a:r>
            <a:r>
              <a:rPr sz="3200" spc="-5" dirty="0">
                <a:latin typeface="Calibri"/>
                <a:cs typeface="Calibri"/>
              </a:rPr>
              <a:t>supplies </a:t>
            </a:r>
            <a:r>
              <a:rPr sz="3200" dirty="0">
                <a:latin typeface="Calibri"/>
                <a:cs typeface="Calibri"/>
              </a:rPr>
              <a:t>and the</a:t>
            </a:r>
            <a:r>
              <a:rPr sz="3200" spc="20" dirty="0">
                <a:latin typeface="Calibri"/>
                <a:cs typeface="Calibri"/>
              </a:rPr>
              <a:t> </a:t>
            </a:r>
            <a:r>
              <a:rPr sz="3200" spc="-15" dirty="0">
                <a:latin typeface="Calibri"/>
                <a:cs typeface="Calibri"/>
              </a:rPr>
              <a:t>environment</a:t>
            </a:r>
            <a:endParaRPr sz="3200">
              <a:latin typeface="Calibri"/>
              <a:cs typeface="Calibri"/>
            </a:endParaRPr>
          </a:p>
        </p:txBody>
      </p:sp>
      <p:sp>
        <p:nvSpPr>
          <p:cNvPr id="9" name="object 9"/>
          <p:cNvSpPr txBox="1"/>
          <p:nvPr/>
        </p:nvSpPr>
        <p:spPr>
          <a:xfrm>
            <a:off x="891844" y="5442343"/>
            <a:ext cx="5895340" cy="364490"/>
          </a:xfrm>
          <a:prstGeom prst="rect">
            <a:avLst/>
          </a:prstGeom>
          <a:solidFill>
            <a:srgbClr val="FFED00">
              <a:alpha val="50000"/>
            </a:srgbClr>
          </a:solidFill>
        </p:spPr>
        <p:txBody>
          <a:bodyPr vert="horz" wrap="square" lIns="0" tIns="0" rIns="0" bIns="0" rtlCol="0">
            <a:spAutoFit/>
          </a:bodyPr>
          <a:lstStyle/>
          <a:p>
            <a:pPr>
              <a:lnSpc>
                <a:spcPts val="2870"/>
              </a:lnSpc>
            </a:pPr>
            <a:r>
              <a:rPr sz="3200" spc="-15" dirty="0">
                <a:latin typeface="Calibri"/>
                <a:cs typeface="Calibri"/>
              </a:rPr>
              <a:t>are </a:t>
            </a:r>
            <a:r>
              <a:rPr sz="3200" spc="-10" dirty="0">
                <a:latin typeface="Calibri"/>
                <a:cs typeface="Calibri"/>
              </a:rPr>
              <a:t>faecally</a:t>
            </a:r>
            <a:r>
              <a:rPr sz="3200" spc="-45" dirty="0">
                <a:latin typeface="Calibri"/>
                <a:cs typeface="Calibri"/>
              </a:rPr>
              <a:t> </a:t>
            </a:r>
            <a:r>
              <a:rPr sz="3200" spc="-15" dirty="0">
                <a:latin typeface="Calibri"/>
                <a:cs typeface="Calibri"/>
              </a:rPr>
              <a:t>polluted/contaminated.</a:t>
            </a:r>
            <a:endParaRPr sz="3200">
              <a:latin typeface="Calibri"/>
              <a:cs typeface="Calibri"/>
            </a:endParaRPr>
          </a:p>
        </p:txBody>
      </p:sp>
    </p:spTree>
    <p:extLst>
      <p:ext uri="{BB962C8B-B14F-4D97-AF65-F5344CB8AC3E}">
        <p14:creationId xmlns:p14="http://schemas.microsoft.com/office/powerpoint/2010/main" val="186604708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4870424"/>
            <a:ext cx="4134485" cy="351155"/>
          </a:xfrm>
          <a:custGeom>
            <a:avLst/>
            <a:gdLst/>
            <a:ahLst/>
            <a:cxnLst/>
            <a:rect l="l" t="t" r="r" b="b"/>
            <a:pathLst>
              <a:path w="4134485" h="351154">
                <a:moveTo>
                  <a:pt x="0" y="0"/>
                </a:moveTo>
                <a:lnTo>
                  <a:pt x="4134192" y="0"/>
                </a:lnTo>
                <a:lnTo>
                  <a:pt x="4134192" y="350608"/>
                </a:lnTo>
                <a:lnTo>
                  <a:pt x="0" y="350608"/>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1245311" y="3350323"/>
            <a:ext cx="551180" cy="309880"/>
          </a:xfrm>
          <a:custGeom>
            <a:avLst/>
            <a:gdLst/>
            <a:ahLst/>
            <a:cxnLst/>
            <a:rect l="l" t="t" r="r" b="b"/>
            <a:pathLst>
              <a:path w="551180" h="309879">
                <a:moveTo>
                  <a:pt x="0" y="0"/>
                </a:moveTo>
                <a:lnTo>
                  <a:pt x="550722" y="0"/>
                </a:lnTo>
                <a:lnTo>
                  <a:pt x="550722" y="309880"/>
                </a:lnTo>
                <a:lnTo>
                  <a:pt x="0" y="309880"/>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891844" y="3350323"/>
            <a:ext cx="356870" cy="309880"/>
          </a:xfrm>
          <a:custGeom>
            <a:avLst/>
            <a:gdLst/>
            <a:ahLst/>
            <a:cxnLst/>
            <a:rect l="l" t="t" r="r" b="b"/>
            <a:pathLst>
              <a:path w="356869" h="309879">
                <a:moveTo>
                  <a:pt x="0" y="0"/>
                </a:moveTo>
                <a:lnTo>
                  <a:pt x="356717" y="0"/>
                </a:lnTo>
                <a:lnTo>
                  <a:pt x="356717" y="309880"/>
                </a:lnTo>
                <a:lnTo>
                  <a:pt x="0" y="309880"/>
                </a:lnTo>
                <a:lnTo>
                  <a:pt x="0" y="0"/>
                </a:lnTo>
                <a:close/>
              </a:path>
            </a:pathLst>
          </a:custGeom>
          <a:solidFill>
            <a:srgbClr val="FFED00"/>
          </a:solidFill>
        </p:spPr>
        <p:txBody>
          <a:bodyPr wrap="square" lIns="0" tIns="0" rIns="0" bIns="0" rtlCol="0"/>
          <a:lstStyle/>
          <a:p>
            <a:endParaRPr/>
          </a:p>
        </p:txBody>
      </p:sp>
      <p:sp>
        <p:nvSpPr>
          <p:cNvPr id="5" name="object 5"/>
          <p:cNvSpPr/>
          <p:nvPr/>
        </p:nvSpPr>
        <p:spPr>
          <a:xfrm>
            <a:off x="911656" y="2314105"/>
            <a:ext cx="6068695" cy="370840"/>
          </a:xfrm>
          <a:custGeom>
            <a:avLst/>
            <a:gdLst/>
            <a:ahLst/>
            <a:cxnLst/>
            <a:rect l="l" t="t" r="r" b="b"/>
            <a:pathLst>
              <a:path w="6068695" h="370839">
                <a:moveTo>
                  <a:pt x="0" y="0"/>
                </a:moveTo>
                <a:lnTo>
                  <a:pt x="6068212" y="0"/>
                </a:lnTo>
                <a:lnTo>
                  <a:pt x="6068212" y="370687"/>
                </a:lnTo>
                <a:lnTo>
                  <a:pt x="0" y="370687"/>
                </a:lnTo>
                <a:lnTo>
                  <a:pt x="0" y="0"/>
                </a:lnTo>
                <a:close/>
              </a:path>
            </a:pathLst>
          </a:custGeom>
          <a:solidFill>
            <a:srgbClr val="FFED00"/>
          </a:solidFill>
        </p:spPr>
        <p:txBody>
          <a:bodyPr wrap="square" lIns="0" tIns="0" rIns="0" bIns="0" rtlCol="0"/>
          <a:lstStyle/>
          <a:p>
            <a:endParaRPr/>
          </a:p>
        </p:txBody>
      </p:sp>
      <p:sp>
        <p:nvSpPr>
          <p:cNvPr id="6" name="object 6"/>
          <p:cNvSpPr txBox="1">
            <a:spLocks noGrp="1"/>
          </p:cNvSpPr>
          <p:nvPr>
            <p:ph type="title"/>
          </p:nvPr>
        </p:nvSpPr>
        <p:spPr>
          <a:xfrm>
            <a:off x="1646301" y="461899"/>
            <a:ext cx="585025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1 . </a:t>
            </a:r>
            <a:r>
              <a:rPr sz="4400" spc="-5" dirty="0"/>
              <a:t>Giardia </a:t>
            </a:r>
            <a:r>
              <a:rPr sz="4400" dirty="0"/>
              <a:t>lamblia</a:t>
            </a:r>
            <a:r>
              <a:rPr sz="4400" spc="-85" dirty="0"/>
              <a:t> </a:t>
            </a:r>
            <a:r>
              <a:rPr sz="4400" spc="-35" dirty="0"/>
              <a:t>cont’d</a:t>
            </a:r>
            <a:endParaRPr sz="4400">
              <a:latin typeface="Calibri"/>
              <a:cs typeface="Calibri"/>
            </a:endParaRPr>
          </a:p>
        </p:txBody>
      </p:sp>
      <p:sp>
        <p:nvSpPr>
          <p:cNvPr id="7" name="object 7"/>
          <p:cNvSpPr txBox="1"/>
          <p:nvPr/>
        </p:nvSpPr>
        <p:spPr>
          <a:xfrm>
            <a:off x="535940" y="1509941"/>
            <a:ext cx="6456680" cy="1196975"/>
          </a:xfrm>
          <a:prstGeom prst="rect">
            <a:avLst/>
          </a:prstGeom>
        </p:spPr>
        <p:txBody>
          <a:bodyPr vert="horz" wrap="square" lIns="0" tIns="110489" rIns="0" bIns="0" rtlCol="0">
            <a:spAutoFit/>
          </a:bodyPr>
          <a:lstStyle/>
          <a:p>
            <a:pPr marL="2939415">
              <a:lnSpc>
                <a:spcPct val="100000"/>
              </a:lnSpc>
              <a:spcBef>
                <a:spcPts val="869"/>
              </a:spcBef>
            </a:pPr>
            <a:r>
              <a:rPr sz="3200" b="1" spc="-20" dirty="0">
                <a:latin typeface="Calibri"/>
                <a:cs typeface="Calibri"/>
              </a:rPr>
              <a:t>Transmission</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20" dirty="0">
                <a:latin typeface="Calibri"/>
                <a:cs typeface="Calibri"/>
              </a:rPr>
              <a:t>By </a:t>
            </a:r>
            <a:r>
              <a:rPr sz="3200" spc="-10" dirty="0">
                <a:latin typeface="Calibri"/>
                <a:cs typeface="Calibri"/>
              </a:rPr>
              <a:t>ingestion </a:t>
            </a:r>
            <a:r>
              <a:rPr sz="3200" spc="-5" dirty="0">
                <a:latin typeface="Calibri"/>
                <a:cs typeface="Calibri"/>
              </a:rPr>
              <a:t>of </a:t>
            </a:r>
            <a:r>
              <a:rPr sz="3200" spc="-15" dirty="0">
                <a:latin typeface="Calibri"/>
                <a:cs typeface="Calibri"/>
              </a:rPr>
              <a:t>cysts </a:t>
            </a:r>
            <a:r>
              <a:rPr sz="3200" dirty="0">
                <a:latin typeface="Calibri"/>
                <a:cs typeface="Calibri"/>
              </a:rPr>
              <a:t>in </a:t>
            </a:r>
            <a:r>
              <a:rPr sz="3200" spc="-20" dirty="0">
                <a:latin typeface="Calibri"/>
                <a:cs typeface="Calibri"/>
              </a:rPr>
              <a:t>water </a:t>
            </a:r>
            <a:r>
              <a:rPr sz="3200" spc="-5" dirty="0">
                <a:latin typeface="Calibri"/>
                <a:cs typeface="Calibri"/>
              </a:rPr>
              <a:t>or</a:t>
            </a:r>
            <a:r>
              <a:rPr sz="3200" spc="15" dirty="0">
                <a:latin typeface="Calibri"/>
                <a:cs typeface="Calibri"/>
              </a:rPr>
              <a:t> </a:t>
            </a:r>
            <a:r>
              <a:rPr sz="3200" spc="-25" dirty="0">
                <a:latin typeface="Calibri"/>
                <a:cs typeface="Calibri"/>
              </a:rPr>
              <a:t>food</a:t>
            </a:r>
            <a:endParaRPr sz="3200">
              <a:latin typeface="Calibri"/>
              <a:cs typeface="Calibri"/>
            </a:endParaRPr>
          </a:p>
        </p:txBody>
      </p:sp>
      <p:sp>
        <p:nvSpPr>
          <p:cNvPr id="8" name="object 8"/>
          <p:cNvSpPr txBox="1"/>
          <p:nvPr/>
        </p:nvSpPr>
        <p:spPr>
          <a:xfrm>
            <a:off x="891844" y="2822130"/>
            <a:ext cx="6722109" cy="350520"/>
          </a:xfrm>
          <a:prstGeom prst="rect">
            <a:avLst/>
          </a:prstGeom>
          <a:solidFill>
            <a:srgbClr val="FFED00">
              <a:alpha val="50000"/>
            </a:srgbClr>
          </a:solidFill>
        </p:spPr>
        <p:txBody>
          <a:bodyPr vert="horz" wrap="square" lIns="0" tIns="0" rIns="0" bIns="0" rtlCol="0">
            <a:spAutoFit/>
          </a:bodyPr>
          <a:lstStyle/>
          <a:p>
            <a:pPr>
              <a:lnSpc>
                <a:spcPts val="2760"/>
              </a:lnSpc>
            </a:pPr>
            <a:r>
              <a:rPr sz="3200" spc="-15" dirty="0">
                <a:latin typeface="Calibri"/>
                <a:cs typeface="Calibri"/>
              </a:rPr>
              <a:t>contaminated </a:t>
            </a:r>
            <a:r>
              <a:rPr sz="3200" dirty="0">
                <a:latin typeface="Calibri"/>
                <a:cs typeface="Calibri"/>
              </a:rPr>
              <a:t>with </a:t>
            </a:r>
            <a:r>
              <a:rPr sz="3200" spc="-10" dirty="0">
                <a:latin typeface="Calibri"/>
                <a:cs typeface="Calibri"/>
              </a:rPr>
              <a:t>faeces containing</a:t>
            </a:r>
            <a:r>
              <a:rPr sz="3200" spc="-20" dirty="0">
                <a:latin typeface="Calibri"/>
                <a:cs typeface="Calibri"/>
              </a:rPr>
              <a:t> </a:t>
            </a:r>
            <a:r>
              <a:rPr sz="3200" dirty="0">
                <a:latin typeface="Calibri"/>
                <a:cs typeface="Calibri"/>
              </a:rPr>
              <a:t>the</a:t>
            </a:r>
            <a:endParaRPr sz="3200">
              <a:latin typeface="Calibri"/>
              <a:cs typeface="Calibri"/>
            </a:endParaRPr>
          </a:p>
        </p:txBody>
      </p:sp>
      <p:sp>
        <p:nvSpPr>
          <p:cNvPr id="9" name="object 9"/>
          <p:cNvSpPr txBox="1"/>
          <p:nvPr/>
        </p:nvSpPr>
        <p:spPr>
          <a:xfrm>
            <a:off x="879144" y="3168218"/>
            <a:ext cx="930275" cy="514350"/>
          </a:xfrm>
          <a:prstGeom prst="rect">
            <a:avLst/>
          </a:prstGeom>
        </p:spPr>
        <p:txBody>
          <a:bodyPr vert="horz" wrap="square" lIns="0" tIns="13335" rIns="0" bIns="0" rtlCol="0">
            <a:spAutoFit/>
          </a:bodyPr>
          <a:lstStyle/>
          <a:p>
            <a:pPr marL="12700">
              <a:lnSpc>
                <a:spcPct val="100000"/>
              </a:lnSpc>
              <a:spcBef>
                <a:spcPts val="105"/>
              </a:spcBef>
            </a:pPr>
            <a:r>
              <a:rPr sz="3200" dirty="0">
                <a:latin typeface="Calibri"/>
                <a:cs typeface="Calibri"/>
              </a:rPr>
              <a:t>c</a:t>
            </a:r>
            <a:r>
              <a:rPr sz="3200" spc="-30" dirty="0">
                <a:latin typeface="Calibri"/>
                <a:cs typeface="Calibri"/>
              </a:rPr>
              <a:t>y</a:t>
            </a:r>
            <a:r>
              <a:rPr sz="3200" spc="-45" dirty="0">
                <a:latin typeface="Calibri"/>
                <a:cs typeface="Calibri"/>
              </a:rPr>
              <a:t>s</a:t>
            </a:r>
            <a:r>
              <a:rPr sz="3200" dirty="0">
                <a:latin typeface="Calibri"/>
                <a:cs typeface="Calibri"/>
              </a:rPr>
              <a:t>t</a:t>
            </a:r>
            <a:r>
              <a:rPr sz="3200" spc="-15" dirty="0">
                <a:latin typeface="Calibri"/>
                <a:cs typeface="Calibri"/>
              </a:rPr>
              <a:t>s</a:t>
            </a:r>
            <a:r>
              <a:rPr sz="3200" dirty="0">
                <a:latin typeface="Calibri"/>
                <a:cs typeface="Calibri"/>
              </a:rPr>
              <a:t>.</a:t>
            </a:r>
            <a:endParaRPr sz="3200">
              <a:latin typeface="Calibri"/>
              <a:cs typeface="Calibri"/>
            </a:endParaRPr>
          </a:p>
        </p:txBody>
      </p:sp>
      <p:sp>
        <p:nvSpPr>
          <p:cNvPr id="10" name="object 10"/>
          <p:cNvSpPr txBox="1"/>
          <p:nvPr/>
        </p:nvSpPr>
        <p:spPr>
          <a:xfrm>
            <a:off x="535940" y="3753992"/>
            <a:ext cx="388620"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Wingdings"/>
                <a:cs typeface="Wingdings"/>
              </a:rPr>
              <a:t></a:t>
            </a:r>
            <a:endParaRPr sz="3200">
              <a:latin typeface="Wingdings"/>
              <a:cs typeface="Wingdings"/>
            </a:endParaRPr>
          </a:p>
        </p:txBody>
      </p:sp>
      <p:sp>
        <p:nvSpPr>
          <p:cNvPr id="11" name="object 11"/>
          <p:cNvSpPr txBox="1"/>
          <p:nvPr/>
        </p:nvSpPr>
        <p:spPr>
          <a:xfrm>
            <a:off x="1003096" y="3874935"/>
            <a:ext cx="7220584" cy="370840"/>
          </a:xfrm>
          <a:prstGeom prst="rect">
            <a:avLst/>
          </a:prstGeom>
          <a:solidFill>
            <a:srgbClr val="FFED00">
              <a:alpha val="50000"/>
            </a:srgbClr>
          </a:solidFill>
        </p:spPr>
        <p:txBody>
          <a:bodyPr vert="horz" wrap="square" lIns="0" tIns="0" rIns="0" bIns="0" rtlCol="0">
            <a:spAutoFit/>
          </a:bodyPr>
          <a:lstStyle/>
          <a:p>
            <a:pPr>
              <a:lnSpc>
                <a:spcPts val="2920"/>
              </a:lnSpc>
            </a:pPr>
            <a:r>
              <a:rPr sz="3200" spc="-5" dirty="0">
                <a:latin typeface="Calibri"/>
                <a:cs typeface="Calibri"/>
              </a:rPr>
              <a:t>Humans </a:t>
            </a:r>
            <a:r>
              <a:rPr sz="3200" spc="-15" dirty="0">
                <a:latin typeface="Calibri"/>
                <a:cs typeface="Calibri"/>
              </a:rPr>
              <a:t>are </a:t>
            </a:r>
            <a:r>
              <a:rPr sz="3200" dirty="0">
                <a:latin typeface="Calibri"/>
                <a:cs typeface="Calibri"/>
              </a:rPr>
              <a:t>the </a:t>
            </a:r>
            <a:r>
              <a:rPr sz="3200" spc="-5" dirty="0">
                <a:latin typeface="Calibri"/>
                <a:cs typeface="Calibri"/>
              </a:rPr>
              <a:t>only </a:t>
            </a:r>
            <a:r>
              <a:rPr sz="3200" spc="-15" dirty="0">
                <a:latin typeface="Calibri"/>
                <a:cs typeface="Calibri"/>
              </a:rPr>
              <a:t>reservoirs </a:t>
            </a:r>
            <a:r>
              <a:rPr sz="3200" spc="-5" dirty="0">
                <a:latin typeface="Calibri"/>
                <a:cs typeface="Calibri"/>
              </a:rPr>
              <a:t>of</a:t>
            </a:r>
            <a:r>
              <a:rPr sz="3200" spc="50" dirty="0">
                <a:latin typeface="Calibri"/>
                <a:cs typeface="Calibri"/>
              </a:rPr>
              <a:t> </a:t>
            </a:r>
            <a:r>
              <a:rPr sz="3200" spc="-15" dirty="0">
                <a:latin typeface="Calibri"/>
                <a:cs typeface="Calibri"/>
              </a:rPr>
              <a:t>infection.</a:t>
            </a:r>
            <a:endParaRPr sz="3200">
              <a:latin typeface="Calibri"/>
              <a:cs typeface="Calibri"/>
            </a:endParaRPr>
          </a:p>
        </p:txBody>
      </p:sp>
      <p:sp>
        <p:nvSpPr>
          <p:cNvPr id="12" name="object 12"/>
          <p:cNvSpPr txBox="1"/>
          <p:nvPr/>
        </p:nvSpPr>
        <p:spPr>
          <a:xfrm>
            <a:off x="891844" y="4382960"/>
            <a:ext cx="6878955" cy="350520"/>
          </a:xfrm>
          <a:prstGeom prst="rect">
            <a:avLst/>
          </a:prstGeom>
          <a:solidFill>
            <a:srgbClr val="FFED00">
              <a:alpha val="50000"/>
            </a:srgbClr>
          </a:solidFill>
        </p:spPr>
        <p:txBody>
          <a:bodyPr vert="horz" wrap="square" lIns="0" tIns="0" rIns="0" bIns="0" rtlCol="0">
            <a:spAutoFit/>
          </a:bodyPr>
          <a:lstStyle/>
          <a:p>
            <a:pPr>
              <a:lnSpc>
                <a:spcPts val="2760"/>
              </a:lnSpc>
            </a:pPr>
            <a:r>
              <a:rPr sz="3200" spc="-5" dirty="0">
                <a:latin typeface="Calibri"/>
                <a:cs typeface="Calibri"/>
              </a:rPr>
              <a:t>The </a:t>
            </a:r>
            <a:r>
              <a:rPr sz="3200" spc="-15" dirty="0">
                <a:latin typeface="Calibri"/>
                <a:cs typeface="Calibri"/>
              </a:rPr>
              <a:t>cysts are </a:t>
            </a:r>
            <a:r>
              <a:rPr sz="3200" spc="-20" dirty="0">
                <a:latin typeface="Calibri"/>
                <a:cs typeface="Calibri"/>
              </a:rPr>
              <a:t>infective </a:t>
            </a:r>
            <a:r>
              <a:rPr sz="3200" spc="-5" dirty="0">
                <a:latin typeface="Calibri"/>
                <a:cs typeface="Calibri"/>
              </a:rPr>
              <a:t>right </a:t>
            </a:r>
            <a:r>
              <a:rPr sz="3200" spc="-15" dirty="0">
                <a:latin typeface="Calibri"/>
                <a:cs typeface="Calibri"/>
              </a:rPr>
              <a:t>from </a:t>
            </a:r>
            <a:r>
              <a:rPr sz="3200" spc="-5" dirty="0">
                <a:latin typeface="Calibri"/>
                <a:cs typeface="Calibri"/>
              </a:rPr>
              <a:t>the</a:t>
            </a:r>
            <a:r>
              <a:rPr sz="3200" spc="20" dirty="0">
                <a:latin typeface="Calibri"/>
                <a:cs typeface="Calibri"/>
              </a:rPr>
              <a:t> </a:t>
            </a:r>
            <a:r>
              <a:rPr sz="3200" dirty="0">
                <a:latin typeface="Calibri"/>
                <a:cs typeface="Calibri"/>
              </a:rPr>
              <a:t>time</a:t>
            </a:r>
            <a:endParaRPr sz="3200">
              <a:latin typeface="Calibri"/>
              <a:cs typeface="Calibri"/>
            </a:endParaRPr>
          </a:p>
        </p:txBody>
      </p:sp>
      <p:sp>
        <p:nvSpPr>
          <p:cNvPr id="13" name="object 13"/>
          <p:cNvSpPr txBox="1"/>
          <p:nvPr/>
        </p:nvSpPr>
        <p:spPr>
          <a:xfrm>
            <a:off x="879144" y="4729048"/>
            <a:ext cx="4262120" cy="514350"/>
          </a:xfrm>
          <a:prstGeom prst="rect">
            <a:avLst/>
          </a:prstGeom>
        </p:spPr>
        <p:txBody>
          <a:bodyPr vert="horz" wrap="square" lIns="0" tIns="13335" rIns="0" bIns="0" rtlCol="0">
            <a:spAutoFit/>
          </a:bodyPr>
          <a:lstStyle/>
          <a:p>
            <a:pPr marL="12700">
              <a:lnSpc>
                <a:spcPct val="100000"/>
              </a:lnSpc>
              <a:spcBef>
                <a:spcPts val="105"/>
              </a:spcBef>
            </a:pPr>
            <a:r>
              <a:rPr sz="3200" spc="-10" dirty="0">
                <a:latin typeface="Calibri"/>
                <a:cs typeface="Calibri"/>
              </a:rPr>
              <a:t>they are </a:t>
            </a:r>
            <a:r>
              <a:rPr sz="3200" spc="-5" dirty="0">
                <a:latin typeface="Calibri"/>
                <a:cs typeface="Calibri"/>
              </a:rPr>
              <a:t>passed </a:t>
            </a:r>
            <a:r>
              <a:rPr sz="3200" dirty="0">
                <a:latin typeface="Calibri"/>
                <a:cs typeface="Calibri"/>
              </a:rPr>
              <a:t>in</a:t>
            </a:r>
            <a:r>
              <a:rPr sz="3200" spc="-35" dirty="0">
                <a:latin typeface="Calibri"/>
                <a:cs typeface="Calibri"/>
              </a:rPr>
              <a:t> </a:t>
            </a:r>
            <a:r>
              <a:rPr sz="3200" spc="-10" dirty="0">
                <a:latin typeface="Calibri"/>
                <a:cs typeface="Calibri"/>
              </a:rPr>
              <a:t>faeces.</a:t>
            </a:r>
            <a:endParaRPr sz="3200">
              <a:latin typeface="Calibri"/>
              <a:cs typeface="Calibri"/>
            </a:endParaRPr>
          </a:p>
        </p:txBody>
      </p:sp>
    </p:spTree>
    <p:extLst>
      <p:ext uri="{BB962C8B-B14F-4D97-AF65-F5344CB8AC3E}">
        <p14:creationId xmlns:p14="http://schemas.microsoft.com/office/powerpoint/2010/main" val="1966257909"/>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4985308" y="3553434"/>
            <a:ext cx="967105" cy="351155"/>
          </a:xfrm>
          <a:custGeom>
            <a:avLst/>
            <a:gdLst/>
            <a:ahLst/>
            <a:cxnLst/>
            <a:rect l="l" t="t" r="r" b="b"/>
            <a:pathLst>
              <a:path w="967104" h="351154">
                <a:moveTo>
                  <a:pt x="0" y="0"/>
                </a:moveTo>
                <a:lnTo>
                  <a:pt x="966724" y="0"/>
                </a:lnTo>
                <a:lnTo>
                  <a:pt x="966724" y="350608"/>
                </a:lnTo>
                <a:lnTo>
                  <a:pt x="0" y="350608"/>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891844" y="3553434"/>
            <a:ext cx="4093845" cy="351155"/>
          </a:xfrm>
          <a:custGeom>
            <a:avLst/>
            <a:gdLst/>
            <a:ahLst/>
            <a:cxnLst/>
            <a:rect l="l" t="t" r="r" b="b"/>
            <a:pathLst>
              <a:path w="4093845" h="351154">
                <a:moveTo>
                  <a:pt x="0" y="0"/>
                </a:moveTo>
                <a:lnTo>
                  <a:pt x="4093464" y="0"/>
                </a:lnTo>
                <a:lnTo>
                  <a:pt x="4093464" y="350608"/>
                </a:lnTo>
                <a:lnTo>
                  <a:pt x="0" y="350608"/>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891844" y="3114738"/>
            <a:ext cx="7568565" cy="350520"/>
          </a:xfrm>
          <a:custGeom>
            <a:avLst/>
            <a:gdLst/>
            <a:ahLst/>
            <a:cxnLst/>
            <a:rect l="l" t="t" r="r" b="b"/>
            <a:pathLst>
              <a:path w="7568565" h="350520">
                <a:moveTo>
                  <a:pt x="0" y="0"/>
                </a:moveTo>
                <a:lnTo>
                  <a:pt x="7568082" y="0"/>
                </a:lnTo>
                <a:lnTo>
                  <a:pt x="7568082" y="350342"/>
                </a:lnTo>
                <a:lnTo>
                  <a:pt x="0" y="350342"/>
                </a:lnTo>
                <a:lnTo>
                  <a:pt x="0" y="0"/>
                </a:lnTo>
                <a:close/>
              </a:path>
            </a:pathLst>
          </a:custGeom>
          <a:solidFill>
            <a:srgbClr val="FFED00"/>
          </a:solidFill>
        </p:spPr>
        <p:txBody>
          <a:bodyPr wrap="square" lIns="0" tIns="0" rIns="0" bIns="0" rtlCol="0"/>
          <a:lstStyle/>
          <a:p>
            <a:endParaRPr/>
          </a:p>
        </p:txBody>
      </p:sp>
      <p:sp>
        <p:nvSpPr>
          <p:cNvPr id="5" name="object 5"/>
          <p:cNvSpPr/>
          <p:nvPr/>
        </p:nvSpPr>
        <p:spPr>
          <a:xfrm>
            <a:off x="891844" y="2672156"/>
            <a:ext cx="7693659" cy="354330"/>
          </a:xfrm>
          <a:custGeom>
            <a:avLst/>
            <a:gdLst/>
            <a:ahLst/>
            <a:cxnLst/>
            <a:rect l="l" t="t" r="r" b="b"/>
            <a:pathLst>
              <a:path w="7693659" h="354330">
                <a:moveTo>
                  <a:pt x="0" y="0"/>
                </a:moveTo>
                <a:lnTo>
                  <a:pt x="7693406" y="0"/>
                </a:lnTo>
                <a:lnTo>
                  <a:pt x="7693406" y="354012"/>
                </a:lnTo>
                <a:lnTo>
                  <a:pt x="0" y="354012"/>
                </a:lnTo>
                <a:lnTo>
                  <a:pt x="0" y="0"/>
                </a:lnTo>
                <a:close/>
              </a:path>
            </a:pathLst>
          </a:custGeom>
          <a:solidFill>
            <a:srgbClr val="FFED00"/>
          </a:solidFill>
        </p:spPr>
        <p:txBody>
          <a:bodyPr wrap="square" lIns="0" tIns="0" rIns="0" bIns="0" rtlCol="0"/>
          <a:lstStyle/>
          <a:p>
            <a:endParaRPr/>
          </a:p>
        </p:txBody>
      </p:sp>
      <p:sp>
        <p:nvSpPr>
          <p:cNvPr id="6" name="object 6"/>
          <p:cNvSpPr/>
          <p:nvPr/>
        </p:nvSpPr>
        <p:spPr>
          <a:xfrm>
            <a:off x="911656" y="2216569"/>
            <a:ext cx="7501255" cy="370840"/>
          </a:xfrm>
          <a:custGeom>
            <a:avLst/>
            <a:gdLst/>
            <a:ahLst/>
            <a:cxnLst/>
            <a:rect l="l" t="t" r="r" b="b"/>
            <a:pathLst>
              <a:path w="7501255" h="370839">
                <a:moveTo>
                  <a:pt x="0" y="0"/>
                </a:moveTo>
                <a:lnTo>
                  <a:pt x="7500975" y="0"/>
                </a:lnTo>
                <a:lnTo>
                  <a:pt x="7500975" y="370687"/>
                </a:lnTo>
                <a:lnTo>
                  <a:pt x="0" y="370687"/>
                </a:lnTo>
                <a:lnTo>
                  <a:pt x="0" y="0"/>
                </a:lnTo>
                <a:close/>
              </a:path>
            </a:pathLst>
          </a:custGeom>
          <a:solidFill>
            <a:srgbClr val="FFED00"/>
          </a:solidFill>
        </p:spPr>
        <p:txBody>
          <a:bodyPr wrap="square" lIns="0" tIns="0" rIns="0" bIns="0" rtlCol="0"/>
          <a:lstStyle/>
          <a:p>
            <a:endParaRPr/>
          </a:p>
        </p:txBody>
      </p:sp>
      <p:sp>
        <p:nvSpPr>
          <p:cNvPr id="7" name="object 7"/>
          <p:cNvSpPr txBox="1">
            <a:spLocks noGrp="1"/>
          </p:cNvSpPr>
          <p:nvPr>
            <p:ph type="title"/>
          </p:nvPr>
        </p:nvSpPr>
        <p:spPr>
          <a:xfrm>
            <a:off x="1472564" y="461899"/>
            <a:ext cx="619823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1 . </a:t>
            </a:r>
            <a:r>
              <a:rPr sz="4400" spc="-5" dirty="0"/>
              <a:t>Giardia </a:t>
            </a:r>
            <a:r>
              <a:rPr sz="4400" dirty="0"/>
              <a:t>lamblia</a:t>
            </a:r>
            <a:r>
              <a:rPr sz="4400" spc="-60" dirty="0"/>
              <a:t> </a:t>
            </a:r>
            <a:r>
              <a:rPr sz="4400" spc="-30" dirty="0"/>
              <a:t>(cont’d)</a:t>
            </a:r>
            <a:endParaRPr sz="4400">
              <a:latin typeface="Calibri"/>
              <a:cs typeface="Calibri"/>
            </a:endParaRPr>
          </a:p>
        </p:txBody>
      </p:sp>
      <p:sp>
        <p:nvSpPr>
          <p:cNvPr id="8" name="object 8"/>
          <p:cNvSpPr txBox="1"/>
          <p:nvPr/>
        </p:nvSpPr>
        <p:spPr>
          <a:xfrm>
            <a:off x="535940" y="1509978"/>
            <a:ext cx="8060690" cy="4367530"/>
          </a:xfrm>
          <a:prstGeom prst="rect">
            <a:avLst/>
          </a:prstGeom>
        </p:spPr>
        <p:txBody>
          <a:bodyPr vert="horz" wrap="square" lIns="0" tIns="61594" rIns="0" bIns="0" rtlCol="0">
            <a:spAutoFit/>
          </a:bodyPr>
          <a:lstStyle/>
          <a:p>
            <a:pPr marL="3272790">
              <a:lnSpc>
                <a:spcPct val="100000"/>
              </a:lnSpc>
              <a:spcBef>
                <a:spcPts val="484"/>
              </a:spcBef>
            </a:pPr>
            <a:r>
              <a:rPr sz="3200" b="1" spc="-15" dirty="0">
                <a:latin typeface="Calibri"/>
                <a:cs typeface="Calibri"/>
              </a:rPr>
              <a:t>Life</a:t>
            </a:r>
            <a:r>
              <a:rPr sz="3200" b="1" spc="-10" dirty="0">
                <a:latin typeface="Calibri"/>
                <a:cs typeface="Calibri"/>
              </a:rPr>
              <a:t> cycle</a:t>
            </a:r>
            <a:endParaRPr sz="3200">
              <a:latin typeface="Calibri"/>
              <a:cs typeface="Calibri"/>
            </a:endParaRPr>
          </a:p>
          <a:p>
            <a:pPr marL="355600" marR="5080" indent="-343535">
              <a:lnSpc>
                <a:spcPts val="3460"/>
              </a:lnSpc>
              <a:spcBef>
                <a:spcPts val="819"/>
              </a:spcBef>
              <a:buSzPct val="96875"/>
              <a:buFont typeface="Wingdings"/>
              <a:buChar char=""/>
              <a:tabLst>
                <a:tab pos="376555" algn="l"/>
              </a:tabLst>
            </a:pPr>
            <a:r>
              <a:rPr sz="3200" spc="-15" dirty="0">
                <a:latin typeface="Calibri"/>
                <a:cs typeface="Calibri"/>
              </a:rPr>
              <a:t>Ingested cysts </a:t>
            </a:r>
            <a:r>
              <a:rPr sz="3200" spc="-30" dirty="0">
                <a:latin typeface="Calibri"/>
                <a:cs typeface="Calibri"/>
              </a:rPr>
              <a:t>excyst </a:t>
            </a:r>
            <a:r>
              <a:rPr sz="3200" spc="-5" dirty="0">
                <a:latin typeface="Calibri"/>
                <a:cs typeface="Calibri"/>
              </a:rPr>
              <a:t>(in </a:t>
            </a:r>
            <a:r>
              <a:rPr sz="3200" dirty="0">
                <a:latin typeface="Calibri"/>
                <a:cs typeface="Calibri"/>
              </a:rPr>
              <a:t>the </a:t>
            </a:r>
            <a:r>
              <a:rPr sz="3200" spc="-5" dirty="0">
                <a:latin typeface="Calibri"/>
                <a:cs typeface="Calibri"/>
              </a:rPr>
              <a:t>upper part of </a:t>
            </a:r>
            <a:r>
              <a:rPr sz="3200" dirty="0">
                <a:latin typeface="Calibri"/>
                <a:cs typeface="Calibri"/>
              </a:rPr>
              <a:t>the  </a:t>
            </a:r>
            <a:r>
              <a:rPr sz="3200" spc="-5" dirty="0">
                <a:latin typeface="Calibri"/>
                <a:cs typeface="Calibri"/>
              </a:rPr>
              <a:t>small </a:t>
            </a:r>
            <a:r>
              <a:rPr sz="3200" spc="-15" dirty="0">
                <a:latin typeface="Calibri"/>
                <a:cs typeface="Calibri"/>
              </a:rPr>
              <a:t>intestine) </a:t>
            </a:r>
            <a:r>
              <a:rPr sz="3200" spc="-25" dirty="0">
                <a:latin typeface="Calibri"/>
                <a:cs typeface="Calibri"/>
              </a:rPr>
              <a:t>to form </a:t>
            </a:r>
            <a:r>
              <a:rPr sz="3200" spc="-10" dirty="0">
                <a:latin typeface="Calibri"/>
                <a:cs typeface="Calibri"/>
              </a:rPr>
              <a:t>flagellates </a:t>
            </a:r>
            <a:r>
              <a:rPr sz="3200" dirty="0">
                <a:latin typeface="Calibri"/>
                <a:cs typeface="Calibri"/>
              </a:rPr>
              <a:t>which </a:t>
            </a:r>
            <a:r>
              <a:rPr sz="3200" spc="-10" dirty="0">
                <a:latin typeface="Calibri"/>
                <a:cs typeface="Calibri"/>
              </a:rPr>
              <a:t>come  </a:t>
            </a:r>
            <a:r>
              <a:rPr sz="3200" spc="-25" dirty="0">
                <a:latin typeface="Calibri"/>
                <a:cs typeface="Calibri"/>
              </a:rPr>
              <a:t>to </a:t>
            </a:r>
            <a:r>
              <a:rPr sz="3200" spc="-5" dirty="0">
                <a:latin typeface="Calibri"/>
                <a:cs typeface="Calibri"/>
              </a:rPr>
              <a:t>lie </a:t>
            </a:r>
            <a:r>
              <a:rPr sz="3200" dirty="0">
                <a:latin typeface="Calibri"/>
                <a:cs typeface="Calibri"/>
              </a:rPr>
              <a:t>on </a:t>
            </a:r>
            <a:r>
              <a:rPr sz="3200" spc="-5" dirty="0">
                <a:latin typeface="Calibri"/>
                <a:cs typeface="Calibri"/>
              </a:rPr>
              <a:t>the </a:t>
            </a:r>
            <a:r>
              <a:rPr sz="3200" spc="-15" dirty="0">
                <a:latin typeface="Calibri"/>
                <a:cs typeface="Calibri"/>
              </a:rPr>
              <a:t>surface </a:t>
            </a:r>
            <a:r>
              <a:rPr sz="3200" spc="-5" dirty="0">
                <a:latin typeface="Calibri"/>
                <a:cs typeface="Calibri"/>
              </a:rPr>
              <a:t>of the </a:t>
            </a:r>
            <a:r>
              <a:rPr sz="3200" dirty="0">
                <a:latin typeface="Calibri"/>
                <a:cs typeface="Calibri"/>
              </a:rPr>
              <a:t>cells </a:t>
            </a:r>
            <a:r>
              <a:rPr sz="3200" spc="-5" dirty="0">
                <a:latin typeface="Calibri"/>
                <a:cs typeface="Calibri"/>
              </a:rPr>
              <a:t>lining </a:t>
            </a:r>
            <a:r>
              <a:rPr sz="3200" dirty="0">
                <a:latin typeface="Calibri"/>
                <a:cs typeface="Calibri"/>
              </a:rPr>
              <a:t>the </a:t>
            </a:r>
            <a:r>
              <a:rPr sz="3200" spc="-10" dirty="0">
                <a:latin typeface="Calibri"/>
                <a:cs typeface="Calibri"/>
              </a:rPr>
              <a:t>wall  </a:t>
            </a:r>
            <a:r>
              <a:rPr sz="3200" dirty="0">
                <a:latin typeface="Calibri"/>
                <a:cs typeface="Calibri"/>
              </a:rPr>
              <a:t>of </a:t>
            </a:r>
            <a:r>
              <a:rPr sz="3200" spc="-10" dirty="0">
                <a:latin typeface="Calibri"/>
                <a:cs typeface="Calibri"/>
              </a:rPr>
              <a:t>the </a:t>
            </a:r>
            <a:r>
              <a:rPr sz="3200" spc="-5" dirty="0">
                <a:latin typeface="Calibri"/>
                <a:cs typeface="Calibri"/>
              </a:rPr>
              <a:t>duodenum </a:t>
            </a:r>
            <a:r>
              <a:rPr sz="3200" dirty="0">
                <a:latin typeface="Calibri"/>
                <a:cs typeface="Calibri"/>
              </a:rPr>
              <a:t>and</a:t>
            </a:r>
            <a:r>
              <a:rPr sz="3200" spc="45" dirty="0">
                <a:latin typeface="Calibri"/>
                <a:cs typeface="Calibri"/>
              </a:rPr>
              <a:t> </a:t>
            </a:r>
            <a:r>
              <a:rPr sz="3200" spc="-5" dirty="0">
                <a:latin typeface="Calibri"/>
                <a:cs typeface="Calibri"/>
              </a:rPr>
              <a:t>jejunum</a:t>
            </a:r>
            <a:endParaRPr sz="3200">
              <a:latin typeface="Calibri"/>
              <a:cs typeface="Calibri"/>
            </a:endParaRPr>
          </a:p>
          <a:p>
            <a:pPr marL="355600" marR="1021080" indent="-343535">
              <a:lnSpc>
                <a:spcPts val="3460"/>
              </a:lnSpc>
              <a:spcBef>
                <a:spcPts val="755"/>
              </a:spcBef>
              <a:buSzPct val="96875"/>
              <a:buFont typeface="Wingdings"/>
              <a:buChar char=""/>
              <a:tabLst>
                <a:tab pos="467359" algn="l"/>
              </a:tabLst>
            </a:pPr>
            <a:r>
              <a:rPr sz="3200" spc="-5" dirty="0">
                <a:latin typeface="Calibri"/>
                <a:cs typeface="Calibri"/>
              </a:rPr>
              <a:t>(part of the small </a:t>
            </a:r>
            <a:r>
              <a:rPr sz="3200" spc="-15" dirty="0">
                <a:latin typeface="Calibri"/>
                <a:cs typeface="Calibri"/>
              </a:rPr>
              <a:t>intestine </a:t>
            </a:r>
            <a:r>
              <a:rPr sz="3200" spc="-10" dirty="0">
                <a:latin typeface="Calibri"/>
                <a:cs typeface="Calibri"/>
              </a:rPr>
              <a:t>between </a:t>
            </a:r>
            <a:r>
              <a:rPr sz="3200" dirty="0">
                <a:latin typeface="Calibri"/>
                <a:cs typeface="Calibri"/>
              </a:rPr>
              <a:t>the  </a:t>
            </a:r>
            <a:r>
              <a:rPr sz="3200" spc="-5" dirty="0">
                <a:latin typeface="Calibri"/>
                <a:cs typeface="Calibri"/>
              </a:rPr>
              <a:t>duodenum</a:t>
            </a:r>
            <a:r>
              <a:rPr sz="3200" spc="10" dirty="0">
                <a:latin typeface="Calibri"/>
                <a:cs typeface="Calibri"/>
              </a:rPr>
              <a:t> </a:t>
            </a:r>
            <a:r>
              <a:rPr sz="3200" dirty="0">
                <a:latin typeface="Calibri"/>
                <a:cs typeface="Calibri"/>
              </a:rPr>
              <a:t>and</a:t>
            </a:r>
            <a:endParaRPr sz="3200">
              <a:latin typeface="Calibri"/>
              <a:cs typeface="Calibri"/>
            </a:endParaRPr>
          </a:p>
          <a:p>
            <a:pPr marL="355600" marR="118110" indent="-343535">
              <a:lnSpc>
                <a:spcPts val="3460"/>
              </a:lnSpc>
              <a:spcBef>
                <a:spcPts val="760"/>
              </a:spcBef>
              <a:buSzPct val="96875"/>
              <a:buFont typeface="Wingdings"/>
              <a:buChar char=""/>
              <a:tabLst>
                <a:tab pos="376555" algn="l"/>
              </a:tabLst>
            </a:pPr>
            <a:r>
              <a:rPr sz="3200" dirty="0">
                <a:latin typeface="Calibri"/>
                <a:cs typeface="Calibri"/>
              </a:rPr>
              <a:t>the ileum </a:t>
            </a:r>
            <a:r>
              <a:rPr sz="3200" spc="-15" dirty="0">
                <a:latin typeface="Calibri"/>
                <a:cs typeface="Calibri"/>
              </a:rPr>
              <a:t>(distal </a:t>
            </a:r>
            <a:r>
              <a:rPr sz="3200" spc="-5" dirty="0">
                <a:latin typeface="Calibri"/>
                <a:cs typeface="Calibri"/>
              </a:rPr>
              <a:t>portion </a:t>
            </a:r>
            <a:r>
              <a:rPr sz="3200" dirty="0">
                <a:latin typeface="Calibri"/>
                <a:cs typeface="Calibri"/>
              </a:rPr>
              <a:t>of the small </a:t>
            </a:r>
            <a:r>
              <a:rPr sz="3200" spc="-15" dirty="0">
                <a:latin typeface="Calibri"/>
                <a:cs typeface="Calibri"/>
              </a:rPr>
              <a:t>intestine  </a:t>
            </a:r>
            <a:r>
              <a:rPr sz="3200" spc="-10" dirty="0">
                <a:latin typeface="Calibri"/>
                <a:cs typeface="Calibri"/>
              </a:rPr>
              <a:t>extending </a:t>
            </a:r>
            <a:r>
              <a:rPr sz="3200" spc="-15" dirty="0">
                <a:latin typeface="Calibri"/>
                <a:cs typeface="Calibri"/>
              </a:rPr>
              <a:t>from </a:t>
            </a:r>
            <a:r>
              <a:rPr sz="3200" dirty="0">
                <a:latin typeface="Calibri"/>
                <a:cs typeface="Calibri"/>
              </a:rPr>
              <a:t>the jejunum </a:t>
            </a:r>
            <a:r>
              <a:rPr sz="3200" spc="-25" dirty="0">
                <a:latin typeface="Calibri"/>
                <a:cs typeface="Calibri"/>
              </a:rPr>
              <a:t>to </a:t>
            </a:r>
            <a:r>
              <a:rPr sz="3200" dirty="0">
                <a:latin typeface="Calibri"/>
                <a:cs typeface="Calibri"/>
              </a:rPr>
              <a:t>the</a:t>
            </a:r>
            <a:r>
              <a:rPr sz="3200" spc="45" dirty="0">
                <a:latin typeface="Calibri"/>
                <a:cs typeface="Calibri"/>
              </a:rPr>
              <a:t> </a:t>
            </a:r>
            <a:r>
              <a:rPr sz="3200" spc="-5" dirty="0">
                <a:latin typeface="Calibri"/>
                <a:cs typeface="Calibri"/>
              </a:rPr>
              <a:t>caecum)).</a:t>
            </a:r>
            <a:endParaRPr sz="3200">
              <a:latin typeface="Calibri"/>
              <a:cs typeface="Calibri"/>
            </a:endParaRPr>
          </a:p>
        </p:txBody>
      </p:sp>
    </p:spTree>
    <p:extLst>
      <p:ext uri="{BB962C8B-B14F-4D97-AF65-F5344CB8AC3E}">
        <p14:creationId xmlns:p14="http://schemas.microsoft.com/office/powerpoint/2010/main" val="3708753256"/>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444544" y="5747461"/>
            <a:ext cx="4096385" cy="347345"/>
          </a:xfrm>
          <a:custGeom>
            <a:avLst/>
            <a:gdLst/>
            <a:ahLst/>
            <a:cxnLst/>
            <a:rect l="l" t="t" r="r" b="b"/>
            <a:pathLst>
              <a:path w="4096384" h="347345">
                <a:moveTo>
                  <a:pt x="0" y="0"/>
                </a:moveTo>
                <a:lnTo>
                  <a:pt x="4095953" y="0"/>
                </a:lnTo>
                <a:lnTo>
                  <a:pt x="4095953" y="347091"/>
                </a:lnTo>
                <a:lnTo>
                  <a:pt x="0" y="347091"/>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891844" y="5747461"/>
            <a:ext cx="2552700" cy="347345"/>
          </a:xfrm>
          <a:custGeom>
            <a:avLst/>
            <a:gdLst/>
            <a:ahLst/>
            <a:cxnLst/>
            <a:rect l="l" t="t" r="r" b="b"/>
            <a:pathLst>
              <a:path w="2552700" h="347345">
                <a:moveTo>
                  <a:pt x="0" y="347091"/>
                </a:moveTo>
                <a:lnTo>
                  <a:pt x="2552700" y="347091"/>
                </a:lnTo>
                <a:lnTo>
                  <a:pt x="2552700" y="0"/>
                </a:lnTo>
                <a:lnTo>
                  <a:pt x="0" y="0"/>
                </a:lnTo>
                <a:lnTo>
                  <a:pt x="0" y="347091"/>
                </a:lnTo>
                <a:close/>
              </a:path>
            </a:pathLst>
          </a:custGeom>
          <a:solidFill>
            <a:srgbClr val="FFED00"/>
          </a:solidFill>
        </p:spPr>
        <p:txBody>
          <a:bodyPr wrap="square" lIns="0" tIns="0" rIns="0" bIns="0" rtlCol="0"/>
          <a:lstStyle/>
          <a:p>
            <a:endParaRPr/>
          </a:p>
        </p:txBody>
      </p:sp>
      <p:sp>
        <p:nvSpPr>
          <p:cNvPr id="4" name="object 4"/>
          <p:cNvSpPr/>
          <p:nvPr/>
        </p:nvSpPr>
        <p:spPr>
          <a:xfrm>
            <a:off x="891844" y="3939666"/>
            <a:ext cx="688975" cy="261620"/>
          </a:xfrm>
          <a:custGeom>
            <a:avLst/>
            <a:gdLst/>
            <a:ahLst/>
            <a:cxnLst/>
            <a:rect l="l" t="t" r="r" b="b"/>
            <a:pathLst>
              <a:path w="688975" h="261620">
                <a:moveTo>
                  <a:pt x="0" y="0"/>
                </a:moveTo>
                <a:lnTo>
                  <a:pt x="688847" y="0"/>
                </a:lnTo>
                <a:lnTo>
                  <a:pt x="688847" y="261365"/>
                </a:lnTo>
                <a:lnTo>
                  <a:pt x="0" y="261365"/>
                </a:lnTo>
                <a:lnTo>
                  <a:pt x="0" y="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xfrm>
            <a:off x="1472564" y="461899"/>
            <a:ext cx="619823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1 . </a:t>
            </a:r>
            <a:r>
              <a:rPr sz="4400" spc="-5" dirty="0"/>
              <a:t>Giardia </a:t>
            </a:r>
            <a:r>
              <a:rPr sz="4400" dirty="0"/>
              <a:t>lamblia</a:t>
            </a:r>
            <a:r>
              <a:rPr sz="4400" spc="-60" dirty="0"/>
              <a:t> </a:t>
            </a:r>
            <a:r>
              <a:rPr sz="4400" spc="-30" dirty="0"/>
              <a:t>(cont’d)</a:t>
            </a:r>
            <a:endParaRPr sz="4400">
              <a:latin typeface="Calibri"/>
              <a:cs typeface="Calibri"/>
            </a:endParaRPr>
          </a:p>
        </p:txBody>
      </p:sp>
      <p:sp>
        <p:nvSpPr>
          <p:cNvPr id="6" name="object 6"/>
          <p:cNvSpPr txBox="1"/>
          <p:nvPr/>
        </p:nvSpPr>
        <p:spPr>
          <a:xfrm>
            <a:off x="535940" y="1517269"/>
            <a:ext cx="7601584" cy="1032510"/>
          </a:xfrm>
          <a:prstGeom prst="rect">
            <a:avLst/>
          </a:prstGeom>
        </p:spPr>
        <p:txBody>
          <a:bodyPr vert="horz" wrap="square" lIns="0" tIns="58419" rIns="0" bIns="0" rtlCol="0">
            <a:spAutoFit/>
          </a:bodyPr>
          <a:lstStyle/>
          <a:p>
            <a:pPr marL="2888615">
              <a:lnSpc>
                <a:spcPct val="100000"/>
              </a:lnSpc>
              <a:spcBef>
                <a:spcPts val="459"/>
              </a:spcBef>
            </a:pPr>
            <a:r>
              <a:rPr sz="3000" b="1" spc="-15" dirty="0">
                <a:latin typeface="Calibri"/>
                <a:cs typeface="Calibri"/>
              </a:rPr>
              <a:t>Life cycle</a:t>
            </a:r>
            <a:r>
              <a:rPr sz="3000" b="1" spc="-10" dirty="0">
                <a:latin typeface="Calibri"/>
                <a:cs typeface="Calibri"/>
              </a:rPr>
              <a:t> </a:t>
            </a:r>
            <a:r>
              <a:rPr sz="3000" b="1" spc="-30" dirty="0">
                <a:latin typeface="Calibri"/>
                <a:cs typeface="Calibri"/>
              </a:rPr>
              <a:t>cnt’d</a:t>
            </a:r>
            <a:endParaRPr sz="3000">
              <a:latin typeface="Calibri"/>
              <a:cs typeface="Calibri"/>
            </a:endParaRPr>
          </a:p>
          <a:p>
            <a:pPr marL="355600" indent="-343535">
              <a:lnSpc>
                <a:spcPct val="100000"/>
              </a:lnSpc>
              <a:spcBef>
                <a:spcPts val="365"/>
              </a:spcBef>
              <a:buSzPct val="96666"/>
              <a:buFont typeface="Wingdings"/>
              <a:buChar char=""/>
              <a:tabLst>
                <a:tab pos="356235" algn="l"/>
              </a:tabLst>
            </a:pPr>
            <a:r>
              <a:rPr sz="3000" spc="-15" dirty="0">
                <a:latin typeface="Calibri"/>
                <a:cs typeface="Calibri"/>
              </a:rPr>
              <a:t>They </a:t>
            </a:r>
            <a:r>
              <a:rPr sz="3000" spc="-10" dirty="0">
                <a:latin typeface="Calibri"/>
                <a:cs typeface="Calibri"/>
              </a:rPr>
              <a:t>become </a:t>
            </a:r>
            <a:r>
              <a:rPr sz="3000" spc="-15" dirty="0">
                <a:latin typeface="Calibri"/>
                <a:cs typeface="Calibri"/>
              </a:rPr>
              <a:t>attached to </a:t>
            </a:r>
            <a:r>
              <a:rPr sz="3000" dirty="0">
                <a:latin typeface="Calibri"/>
                <a:cs typeface="Calibri"/>
              </a:rPr>
              <a:t>the </a:t>
            </a:r>
            <a:r>
              <a:rPr sz="3000" spc="-5" dirty="0">
                <a:latin typeface="Calibri"/>
                <a:cs typeface="Calibri"/>
              </a:rPr>
              <a:t>cells </a:t>
            </a:r>
            <a:r>
              <a:rPr sz="3000" spc="-10" dirty="0">
                <a:latin typeface="Calibri"/>
                <a:cs typeface="Calibri"/>
              </a:rPr>
              <a:t>by </a:t>
            </a:r>
            <a:r>
              <a:rPr sz="3000" dirty="0">
                <a:latin typeface="Calibri"/>
                <a:cs typeface="Calibri"/>
              </a:rPr>
              <a:t>a</a:t>
            </a:r>
            <a:r>
              <a:rPr sz="3000" spc="-65" dirty="0">
                <a:latin typeface="Calibri"/>
                <a:cs typeface="Calibri"/>
              </a:rPr>
              <a:t> </a:t>
            </a:r>
            <a:r>
              <a:rPr sz="3000" spc="-5" dirty="0">
                <a:latin typeface="Calibri"/>
                <a:cs typeface="Calibri"/>
              </a:rPr>
              <a:t>sucking</a:t>
            </a:r>
            <a:endParaRPr sz="3000">
              <a:latin typeface="Calibri"/>
              <a:cs typeface="Calibri"/>
            </a:endParaRPr>
          </a:p>
        </p:txBody>
      </p:sp>
      <p:sp>
        <p:nvSpPr>
          <p:cNvPr id="7" name="object 7"/>
          <p:cNvSpPr txBox="1"/>
          <p:nvPr/>
        </p:nvSpPr>
        <p:spPr>
          <a:xfrm>
            <a:off x="891844" y="2612770"/>
            <a:ext cx="6912609" cy="327025"/>
          </a:xfrm>
          <a:prstGeom prst="rect">
            <a:avLst/>
          </a:prstGeom>
          <a:solidFill>
            <a:srgbClr val="FFED00">
              <a:alpha val="50000"/>
            </a:srgbClr>
          </a:solidFill>
        </p:spPr>
        <p:txBody>
          <a:bodyPr vert="horz" wrap="square" lIns="0" tIns="0" rIns="0" bIns="0" rtlCol="0">
            <a:spAutoFit/>
          </a:bodyPr>
          <a:lstStyle/>
          <a:p>
            <a:pPr>
              <a:lnSpc>
                <a:spcPts val="2570"/>
              </a:lnSpc>
            </a:pPr>
            <a:r>
              <a:rPr sz="3000" spc="-10" dirty="0">
                <a:latin typeface="Calibri"/>
                <a:cs typeface="Calibri"/>
              </a:rPr>
              <a:t>disc </a:t>
            </a:r>
            <a:r>
              <a:rPr sz="3000" dirty="0">
                <a:latin typeface="Calibri"/>
                <a:cs typeface="Calibri"/>
              </a:rPr>
              <a:t>and </a:t>
            </a:r>
            <a:r>
              <a:rPr sz="3000" spc="-5" dirty="0">
                <a:latin typeface="Calibri"/>
                <a:cs typeface="Calibri"/>
              </a:rPr>
              <a:t>absorb </a:t>
            </a:r>
            <a:r>
              <a:rPr sz="3000" spc="-10" dirty="0">
                <a:latin typeface="Calibri"/>
                <a:cs typeface="Calibri"/>
              </a:rPr>
              <a:t>nutrients through </a:t>
            </a:r>
            <a:r>
              <a:rPr sz="3000" spc="-5" dirty="0">
                <a:latin typeface="Calibri"/>
                <a:cs typeface="Calibri"/>
              </a:rPr>
              <a:t>their</a:t>
            </a:r>
            <a:r>
              <a:rPr sz="3000" spc="-40" dirty="0">
                <a:latin typeface="Calibri"/>
                <a:cs typeface="Calibri"/>
              </a:rPr>
              <a:t> </a:t>
            </a:r>
            <a:r>
              <a:rPr sz="3000" spc="-5" dirty="0">
                <a:latin typeface="Calibri"/>
                <a:cs typeface="Calibri"/>
              </a:rPr>
              <a:t>body</a:t>
            </a:r>
            <a:endParaRPr sz="3000">
              <a:latin typeface="Calibri"/>
              <a:cs typeface="Calibri"/>
            </a:endParaRPr>
          </a:p>
        </p:txBody>
      </p:sp>
      <p:sp>
        <p:nvSpPr>
          <p:cNvPr id="8" name="object 8"/>
          <p:cNvSpPr txBox="1"/>
          <p:nvPr/>
        </p:nvSpPr>
        <p:spPr>
          <a:xfrm>
            <a:off x="891844" y="3022726"/>
            <a:ext cx="1219200" cy="264160"/>
          </a:xfrm>
          <a:prstGeom prst="rect">
            <a:avLst/>
          </a:prstGeom>
          <a:solidFill>
            <a:srgbClr val="FFED00">
              <a:alpha val="50000"/>
            </a:srgbClr>
          </a:solidFill>
        </p:spPr>
        <p:txBody>
          <a:bodyPr vert="horz" wrap="square" lIns="0" tIns="0" rIns="0" bIns="0" rtlCol="0">
            <a:spAutoFit/>
          </a:bodyPr>
          <a:lstStyle/>
          <a:p>
            <a:pPr>
              <a:lnSpc>
                <a:spcPts val="2075"/>
              </a:lnSpc>
            </a:pPr>
            <a:r>
              <a:rPr sz="3000" spc="-5" dirty="0">
                <a:latin typeface="Calibri"/>
                <a:cs typeface="Calibri"/>
              </a:rPr>
              <a:t>sur</a:t>
            </a:r>
            <a:r>
              <a:rPr sz="3000" spc="-70" dirty="0">
                <a:latin typeface="Calibri"/>
                <a:cs typeface="Calibri"/>
              </a:rPr>
              <a:t>f</a:t>
            </a:r>
            <a:r>
              <a:rPr sz="3000" dirty="0">
                <a:latin typeface="Calibri"/>
                <a:cs typeface="Calibri"/>
              </a:rPr>
              <a:t>ace.</a:t>
            </a:r>
            <a:endParaRPr sz="3000">
              <a:latin typeface="Calibri"/>
              <a:cs typeface="Calibri"/>
            </a:endParaRPr>
          </a:p>
        </p:txBody>
      </p:sp>
      <p:sp>
        <p:nvSpPr>
          <p:cNvPr id="9" name="object 9"/>
          <p:cNvSpPr txBox="1"/>
          <p:nvPr/>
        </p:nvSpPr>
        <p:spPr>
          <a:xfrm>
            <a:off x="535940" y="3392246"/>
            <a:ext cx="7755255" cy="2724150"/>
          </a:xfrm>
          <a:prstGeom prst="rect">
            <a:avLst/>
          </a:prstGeom>
        </p:spPr>
        <p:txBody>
          <a:bodyPr vert="horz" wrap="square" lIns="0" tIns="64769" rIns="0" bIns="0" rtlCol="0">
            <a:spAutoFit/>
          </a:bodyPr>
          <a:lstStyle/>
          <a:p>
            <a:pPr marL="355600" marR="502920" indent="-343535">
              <a:lnSpc>
                <a:spcPts val="3240"/>
              </a:lnSpc>
              <a:spcBef>
                <a:spcPts val="509"/>
              </a:spcBef>
              <a:buSzPct val="96666"/>
              <a:buFont typeface="Wingdings"/>
              <a:buChar char=""/>
              <a:tabLst>
                <a:tab pos="356235" algn="l"/>
              </a:tabLst>
            </a:pPr>
            <a:r>
              <a:rPr sz="3000" spc="-15" dirty="0">
                <a:latin typeface="Calibri"/>
                <a:cs typeface="Calibri"/>
              </a:rPr>
              <a:t>They </a:t>
            </a:r>
            <a:r>
              <a:rPr sz="3000" spc="-5" dirty="0">
                <a:latin typeface="Calibri"/>
                <a:cs typeface="Calibri"/>
              </a:rPr>
              <a:t>multiply </a:t>
            </a:r>
            <a:r>
              <a:rPr sz="3000" spc="-15" dirty="0">
                <a:latin typeface="Calibri"/>
                <a:cs typeface="Calibri"/>
              </a:rPr>
              <a:t>rapidly </a:t>
            </a:r>
            <a:r>
              <a:rPr sz="3000" dirty="0">
                <a:latin typeface="Calibri"/>
                <a:cs typeface="Calibri"/>
              </a:rPr>
              <a:t>and </a:t>
            </a:r>
            <a:r>
              <a:rPr sz="3000" spc="-10" dirty="0">
                <a:latin typeface="Calibri"/>
                <a:cs typeface="Calibri"/>
              </a:rPr>
              <a:t>can </a:t>
            </a:r>
            <a:r>
              <a:rPr sz="3000" spc="-20" dirty="0">
                <a:latin typeface="Calibri"/>
                <a:cs typeface="Calibri"/>
              </a:rPr>
              <a:t>invade </a:t>
            </a:r>
            <a:r>
              <a:rPr sz="3000" dirty="0">
                <a:latin typeface="Calibri"/>
                <a:cs typeface="Calibri"/>
              </a:rPr>
              <a:t>the </a:t>
            </a:r>
            <a:r>
              <a:rPr sz="3000" spc="-10" dirty="0">
                <a:latin typeface="Calibri"/>
                <a:cs typeface="Calibri"/>
              </a:rPr>
              <a:t>bile  </a:t>
            </a:r>
            <a:r>
              <a:rPr sz="3000" spc="-5" dirty="0">
                <a:latin typeface="Calibri"/>
                <a:cs typeface="Calibri"/>
              </a:rPr>
              <a:t>duct.</a:t>
            </a:r>
            <a:endParaRPr sz="3000">
              <a:latin typeface="Calibri"/>
              <a:cs typeface="Calibri"/>
            </a:endParaRPr>
          </a:p>
          <a:p>
            <a:pPr marL="355600" marR="5080" indent="-343535">
              <a:lnSpc>
                <a:spcPct val="90000"/>
              </a:lnSpc>
              <a:spcBef>
                <a:spcPts val="675"/>
              </a:spcBef>
              <a:buSzPct val="96666"/>
              <a:buFont typeface="Wingdings"/>
              <a:buChar char=""/>
              <a:tabLst>
                <a:tab pos="356235" algn="l"/>
              </a:tabLst>
            </a:pPr>
            <a:r>
              <a:rPr sz="3000" spc="-15" dirty="0">
                <a:latin typeface="Calibri"/>
                <a:cs typeface="Calibri"/>
              </a:rPr>
              <a:t>They </a:t>
            </a:r>
            <a:r>
              <a:rPr sz="3000" spc="-10" dirty="0">
                <a:latin typeface="Calibri"/>
                <a:cs typeface="Calibri"/>
              </a:rPr>
              <a:t>become detached </a:t>
            </a:r>
            <a:r>
              <a:rPr sz="3000" spc="-20" dirty="0">
                <a:latin typeface="Calibri"/>
                <a:cs typeface="Calibri"/>
              </a:rPr>
              <a:t>from </a:t>
            </a:r>
            <a:r>
              <a:rPr sz="3000" dirty="0">
                <a:latin typeface="Calibri"/>
                <a:cs typeface="Calibri"/>
              </a:rPr>
              <a:t>the </a:t>
            </a:r>
            <a:r>
              <a:rPr sz="3000" spc="-5" dirty="0">
                <a:latin typeface="Calibri"/>
                <a:cs typeface="Calibri"/>
              </a:rPr>
              <a:t>cell </a:t>
            </a:r>
            <a:r>
              <a:rPr sz="3000" spc="-10" dirty="0">
                <a:latin typeface="Calibri"/>
                <a:cs typeface="Calibri"/>
              </a:rPr>
              <a:t>linings </a:t>
            </a:r>
            <a:r>
              <a:rPr sz="3000" dirty="0">
                <a:latin typeface="Calibri"/>
                <a:cs typeface="Calibri"/>
              </a:rPr>
              <a:t>and  </a:t>
            </a:r>
            <a:r>
              <a:rPr sz="3000" spc="-15" dirty="0">
                <a:latin typeface="Calibri"/>
                <a:cs typeface="Calibri"/>
              </a:rPr>
              <a:t>are </a:t>
            </a:r>
            <a:r>
              <a:rPr sz="3000" spc="-5" dirty="0">
                <a:latin typeface="Calibri"/>
                <a:cs typeface="Calibri"/>
              </a:rPr>
              <a:t>carried down </a:t>
            </a:r>
            <a:r>
              <a:rPr sz="3000" dirty="0">
                <a:latin typeface="Calibri"/>
                <a:cs typeface="Calibri"/>
              </a:rPr>
              <a:t>the </a:t>
            </a:r>
            <a:r>
              <a:rPr sz="3000" spc="-15" dirty="0">
                <a:latin typeface="Calibri"/>
                <a:cs typeface="Calibri"/>
              </a:rPr>
              <a:t>intestinal tract </a:t>
            </a:r>
            <a:r>
              <a:rPr sz="3000" spc="-10" dirty="0">
                <a:latin typeface="Calibri"/>
                <a:cs typeface="Calibri"/>
              </a:rPr>
              <a:t>whilst  encysting in </a:t>
            </a:r>
            <a:r>
              <a:rPr sz="3000" dirty="0">
                <a:latin typeface="Calibri"/>
                <a:cs typeface="Calibri"/>
              </a:rPr>
              <a:t>the</a:t>
            </a:r>
            <a:r>
              <a:rPr sz="3000" spc="-10" dirty="0">
                <a:latin typeface="Calibri"/>
                <a:cs typeface="Calibri"/>
              </a:rPr>
              <a:t> </a:t>
            </a:r>
            <a:r>
              <a:rPr sz="3000" spc="-15" dirty="0">
                <a:latin typeface="Calibri"/>
                <a:cs typeface="Calibri"/>
              </a:rPr>
              <a:t>process.</a:t>
            </a:r>
            <a:endParaRPr sz="3000">
              <a:latin typeface="Calibri"/>
              <a:cs typeface="Calibri"/>
            </a:endParaRPr>
          </a:p>
          <a:p>
            <a:pPr marL="355600" indent="-343535">
              <a:lnSpc>
                <a:spcPct val="100000"/>
              </a:lnSpc>
              <a:spcBef>
                <a:spcPts val="355"/>
              </a:spcBef>
              <a:buSzPct val="96666"/>
              <a:buFont typeface="Wingdings"/>
              <a:buChar char=""/>
              <a:tabLst>
                <a:tab pos="356235" algn="l"/>
              </a:tabLst>
            </a:pPr>
            <a:r>
              <a:rPr sz="3000" spc="-15" dirty="0">
                <a:latin typeface="Calibri"/>
                <a:cs typeface="Calibri"/>
              </a:rPr>
              <a:t>Infective cysts are </a:t>
            </a:r>
            <a:r>
              <a:rPr sz="3000" spc="-5" dirty="0">
                <a:latin typeface="Calibri"/>
                <a:cs typeface="Calibri"/>
              </a:rPr>
              <a:t>passed out </a:t>
            </a:r>
            <a:r>
              <a:rPr sz="3000" dirty="0">
                <a:latin typeface="Calibri"/>
                <a:cs typeface="Calibri"/>
              </a:rPr>
              <a:t>in the</a:t>
            </a:r>
            <a:r>
              <a:rPr sz="3000" spc="-75" dirty="0">
                <a:latin typeface="Calibri"/>
                <a:cs typeface="Calibri"/>
              </a:rPr>
              <a:t> </a:t>
            </a:r>
            <a:r>
              <a:rPr sz="3000" spc="-10" dirty="0">
                <a:latin typeface="Calibri"/>
                <a:cs typeface="Calibri"/>
              </a:rPr>
              <a:t>faeces.</a:t>
            </a:r>
            <a:endParaRPr sz="3000">
              <a:latin typeface="Calibri"/>
              <a:cs typeface="Calibri"/>
            </a:endParaRPr>
          </a:p>
        </p:txBody>
      </p:sp>
    </p:spTree>
    <p:extLst>
      <p:ext uri="{BB962C8B-B14F-4D97-AF65-F5344CB8AC3E}">
        <p14:creationId xmlns:p14="http://schemas.microsoft.com/office/powerpoint/2010/main" val="72938076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5506580"/>
            <a:ext cx="5663565" cy="349250"/>
          </a:xfrm>
          <a:custGeom>
            <a:avLst/>
            <a:gdLst/>
            <a:ahLst/>
            <a:cxnLst/>
            <a:rect l="l" t="t" r="r" b="b"/>
            <a:pathLst>
              <a:path w="5663565" h="349250">
                <a:moveTo>
                  <a:pt x="0" y="0"/>
                </a:moveTo>
                <a:lnTo>
                  <a:pt x="5663006" y="0"/>
                </a:lnTo>
                <a:lnTo>
                  <a:pt x="5663006" y="348716"/>
                </a:lnTo>
                <a:lnTo>
                  <a:pt x="0" y="348716"/>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911656" y="5045138"/>
            <a:ext cx="7022465" cy="371475"/>
          </a:xfrm>
          <a:custGeom>
            <a:avLst/>
            <a:gdLst/>
            <a:ahLst/>
            <a:cxnLst/>
            <a:rect l="l" t="t" r="r" b="b"/>
            <a:pathLst>
              <a:path w="7022465" h="371475">
                <a:moveTo>
                  <a:pt x="0" y="0"/>
                </a:moveTo>
                <a:lnTo>
                  <a:pt x="7021982" y="0"/>
                </a:lnTo>
                <a:lnTo>
                  <a:pt x="7021982" y="370967"/>
                </a:lnTo>
                <a:lnTo>
                  <a:pt x="0" y="370967"/>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891844" y="4530890"/>
            <a:ext cx="6449695" cy="349250"/>
          </a:xfrm>
          <a:custGeom>
            <a:avLst/>
            <a:gdLst/>
            <a:ahLst/>
            <a:cxnLst/>
            <a:rect l="l" t="t" r="r" b="b"/>
            <a:pathLst>
              <a:path w="6449695" h="349250">
                <a:moveTo>
                  <a:pt x="0" y="0"/>
                </a:moveTo>
                <a:lnTo>
                  <a:pt x="6449136" y="0"/>
                </a:lnTo>
                <a:lnTo>
                  <a:pt x="6449136" y="348716"/>
                </a:lnTo>
                <a:lnTo>
                  <a:pt x="0" y="348716"/>
                </a:lnTo>
                <a:lnTo>
                  <a:pt x="0" y="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xfrm>
            <a:off x="1472564" y="461899"/>
            <a:ext cx="619823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1 . </a:t>
            </a:r>
            <a:r>
              <a:rPr sz="4400" spc="-5" dirty="0"/>
              <a:t>Giardia </a:t>
            </a:r>
            <a:r>
              <a:rPr sz="4400" dirty="0"/>
              <a:t>lamblia</a:t>
            </a:r>
            <a:r>
              <a:rPr sz="4400" spc="-60" dirty="0"/>
              <a:t> </a:t>
            </a:r>
            <a:r>
              <a:rPr sz="4400" spc="-30" dirty="0"/>
              <a:t>(cont’d)</a:t>
            </a:r>
            <a:endParaRPr sz="4400">
              <a:latin typeface="Calibri"/>
              <a:cs typeface="Calibri"/>
            </a:endParaRPr>
          </a:p>
        </p:txBody>
      </p:sp>
      <p:sp>
        <p:nvSpPr>
          <p:cNvPr id="6" name="object 6"/>
          <p:cNvSpPr txBox="1"/>
          <p:nvPr/>
        </p:nvSpPr>
        <p:spPr>
          <a:xfrm>
            <a:off x="535940" y="1509978"/>
            <a:ext cx="7479030" cy="2075180"/>
          </a:xfrm>
          <a:prstGeom prst="rect">
            <a:avLst/>
          </a:prstGeom>
        </p:spPr>
        <p:txBody>
          <a:bodyPr vert="horz" wrap="square" lIns="0" tIns="61594" rIns="0" bIns="0" rtlCol="0">
            <a:spAutoFit/>
          </a:bodyPr>
          <a:lstStyle/>
          <a:p>
            <a:pPr marL="1893570">
              <a:lnSpc>
                <a:spcPct val="100000"/>
              </a:lnSpc>
              <a:spcBef>
                <a:spcPts val="484"/>
              </a:spcBef>
            </a:pPr>
            <a:r>
              <a:rPr sz="3200" b="1" spc="-15" dirty="0">
                <a:latin typeface="Calibri"/>
                <a:cs typeface="Calibri"/>
              </a:rPr>
              <a:t>Symptoms </a:t>
            </a:r>
            <a:r>
              <a:rPr sz="3200" b="1" dirty="0">
                <a:latin typeface="Calibri"/>
                <a:cs typeface="Calibri"/>
              </a:rPr>
              <a:t>and</a:t>
            </a:r>
            <a:r>
              <a:rPr sz="3200" b="1" spc="-30" dirty="0">
                <a:latin typeface="Calibri"/>
                <a:cs typeface="Calibri"/>
              </a:rPr>
              <a:t> </a:t>
            </a:r>
            <a:r>
              <a:rPr sz="3200" b="1" spc="-10" dirty="0">
                <a:latin typeface="Calibri"/>
                <a:cs typeface="Calibri"/>
              </a:rPr>
              <a:t>Pathology</a:t>
            </a:r>
            <a:endParaRPr sz="3200">
              <a:latin typeface="Calibri"/>
              <a:cs typeface="Calibri"/>
            </a:endParaRPr>
          </a:p>
          <a:p>
            <a:pPr marL="375920" indent="-363855">
              <a:lnSpc>
                <a:spcPct val="100000"/>
              </a:lnSpc>
              <a:spcBef>
                <a:spcPts val="390"/>
              </a:spcBef>
              <a:buSzPct val="96875"/>
              <a:buFont typeface="Wingdings"/>
              <a:buChar char=""/>
              <a:tabLst>
                <a:tab pos="376555" algn="l"/>
              </a:tabLst>
            </a:pPr>
            <a:r>
              <a:rPr sz="3200" spc="-15" dirty="0">
                <a:latin typeface="Calibri"/>
                <a:cs typeface="Calibri"/>
              </a:rPr>
              <a:t>Infections </a:t>
            </a:r>
            <a:r>
              <a:rPr sz="3200" spc="-20" dirty="0">
                <a:latin typeface="Calibri"/>
                <a:cs typeface="Calibri"/>
              </a:rPr>
              <a:t>may </a:t>
            </a:r>
            <a:r>
              <a:rPr sz="3200" spc="-5" dirty="0">
                <a:latin typeface="Calibri"/>
                <a:cs typeface="Calibri"/>
              </a:rPr>
              <a:t>be </a:t>
            </a:r>
            <a:r>
              <a:rPr sz="3200" dirty="0">
                <a:latin typeface="Calibri"/>
                <a:cs typeface="Calibri"/>
              </a:rPr>
              <a:t>without</a:t>
            </a:r>
            <a:r>
              <a:rPr sz="3200" spc="55" dirty="0">
                <a:latin typeface="Calibri"/>
                <a:cs typeface="Calibri"/>
              </a:rPr>
              <a:t> </a:t>
            </a:r>
            <a:r>
              <a:rPr sz="3200" spc="-15" dirty="0">
                <a:latin typeface="Calibri"/>
                <a:cs typeface="Calibri"/>
              </a:rPr>
              <a:t>symptoms,</a:t>
            </a:r>
            <a:endParaRPr sz="3200">
              <a:latin typeface="Calibri"/>
              <a:cs typeface="Calibri"/>
            </a:endParaRPr>
          </a:p>
          <a:p>
            <a:pPr marL="355600" indent="-343535">
              <a:lnSpc>
                <a:spcPts val="3460"/>
              </a:lnSpc>
              <a:spcBef>
                <a:spcPts val="815"/>
              </a:spcBef>
              <a:buSzPct val="96875"/>
              <a:buFont typeface="Wingdings"/>
              <a:buChar char=""/>
              <a:tabLst>
                <a:tab pos="376555" algn="l"/>
              </a:tabLst>
            </a:pPr>
            <a:r>
              <a:rPr sz="3200" spc="-45" dirty="0">
                <a:latin typeface="Calibri"/>
                <a:cs typeface="Calibri"/>
              </a:rPr>
              <a:t>however, </a:t>
            </a:r>
            <a:r>
              <a:rPr sz="3200" dirty="0">
                <a:latin typeface="Calibri"/>
                <a:cs typeface="Calibri"/>
              </a:rPr>
              <a:t>the </a:t>
            </a:r>
            <a:r>
              <a:rPr sz="3200" spc="-15" dirty="0">
                <a:latin typeface="Calibri"/>
                <a:cs typeface="Calibri"/>
              </a:rPr>
              <a:t>parasites </a:t>
            </a:r>
            <a:r>
              <a:rPr sz="3200" dirty="0">
                <a:latin typeface="Calibri"/>
                <a:cs typeface="Calibri"/>
              </a:rPr>
              <a:t>and the </a:t>
            </a:r>
            <a:r>
              <a:rPr sz="3200" spc="-20" dirty="0">
                <a:latin typeface="Calibri"/>
                <a:cs typeface="Calibri"/>
              </a:rPr>
              <a:t>toxins </a:t>
            </a:r>
            <a:r>
              <a:rPr sz="3200" spc="-10" dirty="0">
                <a:latin typeface="Calibri"/>
                <a:cs typeface="Calibri"/>
              </a:rPr>
              <a:t>they  produce </a:t>
            </a:r>
            <a:r>
              <a:rPr sz="3200" spc="-20" dirty="0">
                <a:latin typeface="Calibri"/>
                <a:cs typeface="Calibri"/>
              </a:rPr>
              <a:t>may </a:t>
            </a:r>
            <a:r>
              <a:rPr sz="3200" spc="-5" dirty="0">
                <a:latin typeface="Calibri"/>
                <a:cs typeface="Calibri"/>
              </a:rPr>
              <a:t>cause abdominal pain,</a:t>
            </a:r>
            <a:r>
              <a:rPr sz="3200" spc="40" dirty="0">
                <a:latin typeface="Calibri"/>
                <a:cs typeface="Calibri"/>
              </a:rPr>
              <a:t> </a:t>
            </a:r>
            <a:r>
              <a:rPr sz="3200" spc="-15" dirty="0">
                <a:latin typeface="Calibri"/>
                <a:cs typeface="Calibri"/>
              </a:rPr>
              <a:t>severe</a:t>
            </a:r>
            <a:endParaRPr sz="3200">
              <a:latin typeface="Calibri"/>
              <a:cs typeface="Calibri"/>
            </a:endParaRPr>
          </a:p>
        </p:txBody>
      </p:sp>
      <p:sp>
        <p:nvSpPr>
          <p:cNvPr id="7" name="object 7"/>
          <p:cNvSpPr txBox="1"/>
          <p:nvPr/>
        </p:nvSpPr>
        <p:spPr>
          <a:xfrm>
            <a:off x="891844" y="3647770"/>
            <a:ext cx="7122795" cy="354330"/>
          </a:xfrm>
          <a:prstGeom prst="rect">
            <a:avLst/>
          </a:prstGeom>
          <a:solidFill>
            <a:srgbClr val="FFED00">
              <a:alpha val="50000"/>
            </a:srgbClr>
          </a:solidFill>
        </p:spPr>
        <p:txBody>
          <a:bodyPr vert="horz" wrap="square" lIns="0" tIns="0" rIns="0" bIns="0" rtlCol="0">
            <a:spAutoFit/>
          </a:bodyPr>
          <a:lstStyle/>
          <a:p>
            <a:pPr>
              <a:lnSpc>
                <a:spcPts val="2790"/>
              </a:lnSpc>
            </a:pPr>
            <a:r>
              <a:rPr sz="3200" spc="-5" dirty="0">
                <a:latin typeface="Calibri"/>
                <a:cs typeface="Calibri"/>
              </a:rPr>
              <a:t>diarrhea, vomiting, </a:t>
            </a:r>
            <a:r>
              <a:rPr sz="3200" spc="-10" dirty="0">
                <a:latin typeface="Calibri"/>
                <a:cs typeface="Calibri"/>
              </a:rPr>
              <a:t>lethargy </a:t>
            </a:r>
            <a:r>
              <a:rPr sz="3200" spc="-5" dirty="0">
                <a:latin typeface="Calibri"/>
                <a:cs typeface="Calibri"/>
              </a:rPr>
              <a:t>(a </a:t>
            </a:r>
            <a:r>
              <a:rPr sz="3200" spc="-10" dirty="0">
                <a:latin typeface="Calibri"/>
                <a:cs typeface="Calibri"/>
              </a:rPr>
              <a:t>condition</a:t>
            </a:r>
            <a:r>
              <a:rPr sz="3200" spc="90" dirty="0">
                <a:latin typeface="Calibri"/>
                <a:cs typeface="Calibri"/>
              </a:rPr>
              <a:t> </a:t>
            </a:r>
            <a:r>
              <a:rPr sz="3200" spc="-5" dirty="0">
                <a:latin typeface="Calibri"/>
                <a:cs typeface="Calibri"/>
              </a:rPr>
              <a:t>of</a:t>
            </a:r>
            <a:endParaRPr sz="3200">
              <a:latin typeface="Calibri"/>
              <a:cs typeface="Calibri"/>
            </a:endParaRPr>
          </a:p>
        </p:txBody>
      </p:sp>
      <p:sp>
        <p:nvSpPr>
          <p:cNvPr id="8" name="object 8"/>
          <p:cNvSpPr txBox="1"/>
          <p:nvPr/>
        </p:nvSpPr>
        <p:spPr>
          <a:xfrm>
            <a:off x="891844" y="4086682"/>
            <a:ext cx="7220584" cy="354330"/>
          </a:xfrm>
          <a:prstGeom prst="rect">
            <a:avLst/>
          </a:prstGeom>
          <a:solidFill>
            <a:srgbClr val="FFED00">
              <a:alpha val="50000"/>
            </a:srgbClr>
          </a:solidFill>
        </p:spPr>
        <p:txBody>
          <a:bodyPr vert="horz" wrap="square" lIns="0" tIns="0" rIns="0" bIns="0" rtlCol="0">
            <a:spAutoFit/>
          </a:bodyPr>
          <a:lstStyle/>
          <a:p>
            <a:pPr>
              <a:lnSpc>
                <a:spcPts val="2790"/>
              </a:lnSpc>
            </a:pPr>
            <a:r>
              <a:rPr sz="3200" spc="-15" dirty="0">
                <a:latin typeface="Calibri"/>
                <a:cs typeface="Calibri"/>
              </a:rPr>
              <a:t>drowsiness </a:t>
            </a:r>
            <a:r>
              <a:rPr sz="3200" spc="-5" dirty="0">
                <a:latin typeface="Calibri"/>
                <a:cs typeface="Calibri"/>
              </a:rPr>
              <a:t>or </a:t>
            </a:r>
            <a:r>
              <a:rPr sz="3200" spc="-15" dirty="0">
                <a:latin typeface="Calibri"/>
                <a:cs typeface="Calibri"/>
              </a:rPr>
              <a:t>indifference), </a:t>
            </a:r>
            <a:r>
              <a:rPr sz="3200" spc="-10" dirty="0">
                <a:latin typeface="Calibri"/>
                <a:cs typeface="Calibri"/>
              </a:rPr>
              <a:t>weight </a:t>
            </a:r>
            <a:r>
              <a:rPr sz="3200" spc="-5" dirty="0">
                <a:latin typeface="Calibri"/>
                <a:cs typeface="Calibri"/>
              </a:rPr>
              <a:t>loss</a:t>
            </a:r>
            <a:r>
              <a:rPr sz="3200" spc="10" dirty="0">
                <a:latin typeface="Calibri"/>
                <a:cs typeface="Calibri"/>
              </a:rPr>
              <a:t> </a:t>
            </a:r>
            <a:r>
              <a:rPr sz="3200" dirty="0">
                <a:latin typeface="Calibri"/>
                <a:cs typeface="Calibri"/>
              </a:rPr>
              <a:t>and</a:t>
            </a:r>
            <a:endParaRPr sz="3200">
              <a:latin typeface="Calibri"/>
              <a:cs typeface="Calibri"/>
            </a:endParaRPr>
          </a:p>
        </p:txBody>
      </p:sp>
      <p:sp>
        <p:nvSpPr>
          <p:cNvPr id="9" name="object 9"/>
          <p:cNvSpPr txBox="1"/>
          <p:nvPr/>
        </p:nvSpPr>
        <p:spPr>
          <a:xfrm>
            <a:off x="535940" y="4340159"/>
            <a:ext cx="7411084" cy="1537335"/>
          </a:xfrm>
          <a:prstGeom prst="rect">
            <a:avLst/>
          </a:prstGeom>
        </p:spPr>
        <p:txBody>
          <a:bodyPr vert="horz" wrap="square" lIns="0" tIns="60960" rIns="0" bIns="0" rtlCol="0">
            <a:spAutoFit/>
          </a:bodyPr>
          <a:lstStyle/>
          <a:p>
            <a:pPr marL="355600">
              <a:lnSpc>
                <a:spcPct val="100000"/>
              </a:lnSpc>
              <a:spcBef>
                <a:spcPts val="480"/>
              </a:spcBef>
            </a:pPr>
            <a:r>
              <a:rPr sz="3200" spc="-5" dirty="0">
                <a:latin typeface="Calibri"/>
                <a:cs typeface="Calibri"/>
              </a:rPr>
              <a:t>malabsorption </a:t>
            </a:r>
            <a:r>
              <a:rPr sz="3200" dirty="0">
                <a:latin typeface="Calibri"/>
                <a:cs typeface="Calibri"/>
              </a:rPr>
              <a:t>with </a:t>
            </a:r>
            <a:r>
              <a:rPr sz="3200" spc="-10" dirty="0">
                <a:latin typeface="Calibri"/>
                <a:cs typeface="Calibri"/>
              </a:rPr>
              <a:t>lactose</a:t>
            </a:r>
            <a:r>
              <a:rPr sz="3200" spc="25" dirty="0">
                <a:latin typeface="Calibri"/>
                <a:cs typeface="Calibri"/>
              </a:rPr>
              <a:t> </a:t>
            </a:r>
            <a:r>
              <a:rPr sz="3200" spc="-15" dirty="0">
                <a:latin typeface="Calibri"/>
                <a:cs typeface="Calibri"/>
              </a:rPr>
              <a:t>intolerance.</a:t>
            </a:r>
            <a:endParaRPr sz="3200">
              <a:latin typeface="Calibri"/>
              <a:cs typeface="Calibri"/>
            </a:endParaRPr>
          </a:p>
          <a:p>
            <a:pPr marL="355600" marR="5080" indent="-343535">
              <a:lnSpc>
                <a:spcPts val="3460"/>
              </a:lnSpc>
              <a:spcBef>
                <a:spcPts val="815"/>
              </a:spcBef>
              <a:buSzPct val="96875"/>
              <a:buFont typeface="Wingdings"/>
              <a:buChar char=""/>
              <a:tabLst>
                <a:tab pos="376555" algn="l"/>
              </a:tabLst>
            </a:pPr>
            <a:r>
              <a:rPr sz="3200" spc="-20" dirty="0">
                <a:latin typeface="Calibri"/>
                <a:cs typeface="Calibri"/>
              </a:rPr>
              <a:t>Faecal </a:t>
            </a:r>
            <a:r>
              <a:rPr sz="3200" spc="-5" dirty="0">
                <a:latin typeface="Calibri"/>
                <a:cs typeface="Calibri"/>
              </a:rPr>
              <a:t>specimens </a:t>
            </a:r>
            <a:r>
              <a:rPr sz="3200" spc="-25" dirty="0">
                <a:latin typeface="Calibri"/>
                <a:cs typeface="Calibri"/>
              </a:rPr>
              <a:t>have </a:t>
            </a:r>
            <a:r>
              <a:rPr sz="3200" spc="-20" dirty="0">
                <a:latin typeface="Calibri"/>
                <a:cs typeface="Calibri"/>
              </a:rPr>
              <a:t>offensive </a:t>
            </a:r>
            <a:r>
              <a:rPr sz="3200" spc="-5" dirty="0">
                <a:latin typeface="Calibri"/>
                <a:cs typeface="Calibri"/>
              </a:rPr>
              <a:t>smell, </a:t>
            </a:r>
            <a:r>
              <a:rPr sz="3200" spc="-15" dirty="0">
                <a:latin typeface="Calibri"/>
                <a:cs typeface="Calibri"/>
              </a:rPr>
              <a:t>are  </a:t>
            </a:r>
            <a:r>
              <a:rPr sz="3200" spc="-10" dirty="0">
                <a:latin typeface="Calibri"/>
                <a:cs typeface="Calibri"/>
              </a:rPr>
              <a:t>bulky </a:t>
            </a:r>
            <a:r>
              <a:rPr sz="3200" dirty="0">
                <a:latin typeface="Calibri"/>
                <a:cs typeface="Calibri"/>
              </a:rPr>
              <a:t>and </a:t>
            </a:r>
            <a:r>
              <a:rPr sz="3200" spc="-10" dirty="0">
                <a:latin typeface="Calibri"/>
                <a:cs typeface="Calibri"/>
              </a:rPr>
              <a:t>pale-coloured </a:t>
            </a:r>
            <a:r>
              <a:rPr sz="3200" spc="-5" dirty="0">
                <a:latin typeface="Calibri"/>
                <a:cs typeface="Calibri"/>
              </a:rPr>
              <a:t>or</a:t>
            </a:r>
            <a:r>
              <a:rPr sz="3200" spc="10" dirty="0">
                <a:latin typeface="Calibri"/>
                <a:cs typeface="Calibri"/>
              </a:rPr>
              <a:t> </a:t>
            </a:r>
            <a:r>
              <a:rPr sz="3200" spc="-45" dirty="0">
                <a:latin typeface="Calibri"/>
                <a:cs typeface="Calibri"/>
              </a:rPr>
              <a:t>watery.</a:t>
            </a:r>
            <a:endParaRPr sz="3200">
              <a:latin typeface="Calibri"/>
              <a:cs typeface="Calibri"/>
            </a:endParaRPr>
          </a:p>
        </p:txBody>
      </p:sp>
    </p:spTree>
    <p:extLst>
      <p:ext uri="{BB962C8B-B14F-4D97-AF65-F5344CB8AC3E}">
        <p14:creationId xmlns:p14="http://schemas.microsoft.com/office/powerpoint/2010/main" val="1134647859"/>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4872875"/>
            <a:ext cx="7000875" cy="348615"/>
          </a:xfrm>
          <a:custGeom>
            <a:avLst/>
            <a:gdLst/>
            <a:ahLst/>
            <a:cxnLst/>
            <a:rect l="l" t="t" r="r" b="b"/>
            <a:pathLst>
              <a:path w="7000875" h="348614">
                <a:moveTo>
                  <a:pt x="0" y="0"/>
                </a:moveTo>
                <a:lnTo>
                  <a:pt x="7000798" y="0"/>
                </a:lnTo>
                <a:lnTo>
                  <a:pt x="7000798" y="348157"/>
                </a:lnTo>
                <a:lnTo>
                  <a:pt x="0" y="348157"/>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911656" y="3874935"/>
            <a:ext cx="5920740" cy="370840"/>
          </a:xfrm>
          <a:custGeom>
            <a:avLst/>
            <a:gdLst/>
            <a:ahLst/>
            <a:cxnLst/>
            <a:rect l="l" t="t" r="r" b="b"/>
            <a:pathLst>
              <a:path w="5920740" h="370839">
                <a:moveTo>
                  <a:pt x="0" y="0"/>
                </a:moveTo>
                <a:lnTo>
                  <a:pt x="5920549" y="0"/>
                </a:lnTo>
                <a:lnTo>
                  <a:pt x="5920549" y="370687"/>
                </a:lnTo>
                <a:lnTo>
                  <a:pt x="0" y="370687"/>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911656" y="2314105"/>
            <a:ext cx="7192009" cy="370840"/>
          </a:xfrm>
          <a:custGeom>
            <a:avLst/>
            <a:gdLst/>
            <a:ahLst/>
            <a:cxnLst/>
            <a:rect l="l" t="t" r="r" b="b"/>
            <a:pathLst>
              <a:path w="7192009" h="370839">
                <a:moveTo>
                  <a:pt x="0" y="0"/>
                </a:moveTo>
                <a:lnTo>
                  <a:pt x="7191895" y="0"/>
                </a:lnTo>
                <a:lnTo>
                  <a:pt x="7191895" y="370687"/>
                </a:lnTo>
                <a:lnTo>
                  <a:pt x="0" y="370687"/>
                </a:lnTo>
                <a:lnTo>
                  <a:pt x="0" y="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xfrm>
            <a:off x="1646301" y="461899"/>
            <a:ext cx="585025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1 . </a:t>
            </a:r>
            <a:r>
              <a:rPr sz="4400" spc="-5" dirty="0"/>
              <a:t>Giardia </a:t>
            </a:r>
            <a:r>
              <a:rPr sz="4400" dirty="0"/>
              <a:t>lamblia</a:t>
            </a:r>
            <a:r>
              <a:rPr sz="4400" spc="-85" dirty="0"/>
              <a:t> </a:t>
            </a:r>
            <a:r>
              <a:rPr sz="4400" spc="-35" dirty="0"/>
              <a:t>cont’d</a:t>
            </a:r>
            <a:endParaRPr sz="4400">
              <a:latin typeface="Calibri"/>
              <a:cs typeface="Calibri"/>
            </a:endParaRPr>
          </a:p>
        </p:txBody>
      </p:sp>
      <p:sp>
        <p:nvSpPr>
          <p:cNvPr id="6" name="object 6"/>
          <p:cNvSpPr txBox="1"/>
          <p:nvPr/>
        </p:nvSpPr>
        <p:spPr>
          <a:xfrm>
            <a:off x="535940" y="1509941"/>
            <a:ext cx="8028305" cy="2757805"/>
          </a:xfrm>
          <a:prstGeom prst="rect">
            <a:avLst/>
          </a:prstGeom>
        </p:spPr>
        <p:txBody>
          <a:bodyPr vert="horz" wrap="square" lIns="0" tIns="110489" rIns="0" bIns="0" rtlCol="0">
            <a:spAutoFit/>
          </a:bodyPr>
          <a:lstStyle/>
          <a:p>
            <a:pPr marL="1335405">
              <a:lnSpc>
                <a:spcPct val="100000"/>
              </a:lnSpc>
              <a:spcBef>
                <a:spcPts val="869"/>
              </a:spcBef>
            </a:pPr>
            <a:r>
              <a:rPr sz="3200" b="1" spc="-15" dirty="0">
                <a:latin typeface="Calibri"/>
                <a:cs typeface="Calibri"/>
              </a:rPr>
              <a:t>Symptoms </a:t>
            </a:r>
            <a:r>
              <a:rPr sz="3200" b="1" dirty="0">
                <a:latin typeface="Calibri"/>
                <a:cs typeface="Calibri"/>
              </a:rPr>
              <a:t>and </a:t>
            </a:r>
            <a:r>
              <a:rPr sz="3200" b="1" spc="-10" dirty="0">
                <a:latin typeface="Calibri"/>
                <a:cs typeface="Calibri"/>
              </a:rPr>
              <a:t>Pathology</a:t>
            </a:r>
            <a:r>
              <a:rPr sz="3200" b="1" spc="-90" dirty="0">
                <a:latin typeface="Calibri"/>
                <a:cs typeface="Calibri"/>
              </a:rPr>
              <a:t> </a:t>
            </a:r>
            <a:r>
              <a:rPr sz="3200" spc="-30" dirty="0">
                <a:latin typeface="Calibri"/>
                <a:cs typeface="Calibri"/>
              </a:rPr>
              <a:t>cont’d</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spc="-10" dirty="0">
                <a:latin typeface="Calibri"/>
                <a:cs typeface="Calibri"/>
              </a:rPr>
              <a:t>People </a:t>
            </a:r>
            <a:r>
              <a:rPr sz="3200" dirty="0">
                <a:latin typeface="Calibri"/>
                <a:cs typeface="Calibri"/>
              </a:rPr>
              <a:t>who </a:t>
            </a:r>
            <a:r>
              <a:rPr sz="3200" spc="-25" dirty="0">
                <a:latin typeface="Calibri"/>
                <a:cs typeface="Calibri"/>
              </a:rPr>
              <a:t>have </a:t>
            </a:r>
            <a:r>
              <a:rPr sz="3200" spc="-20" dirty="0">
                <a:latin typeface="Calibri"/>
                <a:cs typeface="Calibri"/>
              </a:rPr>
              <a:t>gastro-intestinal disorders </a:t>
            </a:r>
            <a:r>
              <a:rPr sz="3200" spc="-5" dirty="0">
                <a:latin typeface="Calibri"/>
                <a:cs typeface="Calibri"/>
              </a:rPr>
              <a:t>or  </a:t>
            </a:r>
            <a:r>
              <a:rPr sz="3200" spc="-10" dirty="0">
                <a:latin typeface="Calibri"/>
                <a:cs typeface="Calibri"/>
              </a:rPr>
              <a:t>bacterial </a:t>
            </a:r>
            <a:r>
              <a:rPr sz="3200" spc="-15" dirty="0">
                <a:latin typeface="Calibri"/>
                <a:cs typeface="Calibri"/>
              </a:rPr>
              <a:t>infection </a:t>
            </a:r>
            <a:r>
              <a:rPr sz="3200" spc="-5" dirty="0">
                <a:latin typeface="Calibri"/>
                <a:cs typeface="Calibri"/>
              </a:rPr>
              <a:t>of the </a:t>
            </a:r>
            <a:r>
              <a:rPr sz="3200" spc="-15" dirty="0">
                <a:latin typeface="Calibri"/>
                <a:cs typeface="Calibri"/>
              </a:rPr>
              <a:t>intestine </a:t>
            </a:r>
            <a:r>
              <a:rPr sz="3200" dirty="0">
                <a:latin typeface="Calibri"/>
                <a:cs typeface="Calibri"/>
              </a:rPr>
              <a:t>appear </a:t>
            </a:r>
            <a:r>
              <a:rPr sz="3200" spc="-20" dirty="0">
                <a:latin typeface="Calibri"/>
                <a:cs typeface="Calibri"/>
              </a:rPr>
              <a:t>to  </a:t>
            </a:r>
            <a:r>
              <a:rPr sz="3200" dirty="0">
                <a:latin typeface="Calibri"/>
                <a:cs typeface="Calibri"/>
              </a:rPr>
              <a:t>be </a:t>
            </a:r>
            <a:r>
              <a:rPr sz="3200" spc="-15" dirty="0">
                <a:latin typeface="Calibri"/>
                <a:cs typeface="Calibri"/>
              </a:rPr>
              <a:t>more </a:t>
            </a:r>
            <a:r>
              <a:rPr sz="3200" spc="-5" dirty="0">
                <a:latin typeface="Calibri"/>
                <a:cs typeface="Calibri"/>
              </a:rPr>
              <a:t>susceptible </a:t>
            </a:r>
            <a:r>
              <a:rPr sz="3200" spc="-20" dirty="0">
                <a:latin typeface="Calibri"/>
                <a:cs typeface="Calibri"/>
              </a:rPr>
              <a:t>to</a:t>
            </a:r>
            <a:r>
              <a:rPr sz="3200" spc="-10" dirty="0">
                <a:latin typeface="Calibri"/>
                <a:cs typeface="Calibri"/>
              </a:rPr>
              <a:t> </a:t>
            </a:r>
            <a:r>
              <a:rPr sz="3200" spc="-15" dirty="0">
                <a:latin typeface="Calibri"/>
                <a:cs typeface="Calibri"/>
              </a:rPr>
              <a:t>infection.</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dirty="0">
                <a:latin typeface="Calibri"/>
                <a:cs typeface="Calibri"/>
              </a:rPr>
              <a:t>Both </a:t>
            </a:r>
            <a:r>
              <a:rPr sz="3200" spc="-15" dirty="0">
                <a:latin typeface="Calibri"/>
                <a:cs typeface="Calibri"/>
              </a:rPr>
              <a:t>hypochlorhydria </a:t>
            </a:r>
            <a:r>
              <a:rPr sz="3200" spc="-5" dirty="0">
                <a:latin typeface="Calibri"/>
                <a:cs typeface="Calibri"/>
              </a:rPr>
              <a:t>(Deficiency</a:t>
            </a:r>
            <a:r>
              <a:rPr sz="3200" spc="5" dirty="0">
                <a:latin typeface="Calibri"/>
                <a:cs typeface="Calibri"/>
              </a:rPr>
              <a:t> </a:t>
            </a:r>
            <a:r>
              <a:rPr sz="3200" dirty="0">
                <a:latin typeface="Calibri"/>
                <a:cs typeface="Calibri"/>
              </a:rPr>
              <a:t>of</a:t>
            </a:r>
            <a:endParaRPr sz="3200">
              <a:latin typeface="Calibri"/>
              <a:cs typeface="Calibri"/>
            </a:endParaRPr>
          </a:p>
        </p:txBody>
      </p:sp>
      <p:sp>
        <p:nvSpPr>
          <p:cNvPr id="7" name="object 7"/>
          <p:cNvSpPr txBox="1"/>
          <p:nvPr/>
        </p:nvSpPr>
        <p:spPr>
          <a:xfrm>
            <a:off x="891844" y="4379290"/>
            <a:ext cx="6737350" cy="354330"/>
          </a:xfrm>
          <a:prstGeom prst="rect">
            <a:avLst/>
          </a:prstGeom>
          <a:solidFill>
            <a:srgbClr val="FFED00">
              <a:alpha val="50000"/>
            </a:srgbClr>
          </a:solidFill>
        </p:spPr>
        <p:txBody>
          <a:bodyPr vert="horz" wrap="square" lIns="0" tIns="0" rIns="0" bIns="0" rtlCol="0">
            <a:spAutoFit/>
          </a:bodyPr>
          <a:lstStyle/>
          <a:p>
            <a:pPr>
              <a:lnSpc>
                <a:spcPts val="2790"/>
              </a:lnSpc>
            </a:pPr>
            <a:r>
              <a:rPr sz="3200" spc="-15" dirty="0">
                <a:latin typeface="Calibri"/>
                <a:cs typeface="Calibri"/>
              </a:rPr>
              <a:t>hydrochloric </a:t>
            </a:r>
            <a:r>
              <a:rPr sz="3200" dirty="0">
                <a:latin typeface="Calibri"/>
                <a:cs typeface="Calibri"/>
              </a:rPr>
              <a:t>acid in the </a:t>
            </a:r>
            <a:r>
              <a:rPr sz="3200" spc="-15" dirty="0">
                <a:latin typeface="Calibri"/>
                <a:cs typeface="Calibri"/>
              </a:rPr>
              <a:t>gastric </a:t>
            </a:r>
            <a:r>
              <a:rPr sz="3200" spc="-5" dirty="0">
                <a:latin typeface="Calibri"/>
                <a:cs typeface="Calibri"/>
              </a:rPr>
              <a:t>juice)</a:t>
            </a:r>
            <a:r>
              <a:rPr sz="3200" spc="-20" dirty="0">
                <a:latin typeface="Calibri"/>
                <a:cs typeface="Calibri"/>
              </a:rPr>
              <a:t> </a:t>
            </a:r>
            <a:r>
              <a:rPr sz="3200" spc="-5" dirty="0">
                <a:latin typeface="Calibri"/>
                <a:cs typeface="Calibri"/>
              </a:rPr>
              <a:t>and</a:t>
            </a:r>
            <a:endParaRPr sz="3200">
              <a:latin typeface="Calibri"/>
              <a:cs typeface="Calibri"/>
            </a:endParaRPr>
          </a:p>
        </p:txBody>
      </p:sp>
      <p:sp>
        <p:nvSpPr>
          <p:cNvPr id="8" name="object 8"/>
          <p:cNvSpPr txBox="1"/>
          <p:nvPr/>
        </p:nvSpPr>
        <p:spPr>
          <a:xfrm>
            <a:off x="879144" y="4729048"/>
            <a:ext cx="7127240" cy="514350"/>
          </a:xfrm>
          <a:prstGeom prst="rect">
            <a:avLst/>
          </a:prstGeom>
        </p:spPr>
        <p:txBody>
          <a:bodyPr vert="horz" wrap="square" lIns="0" tIns="13335" rIns="0" bIns="0" rtlCol="0">
            <a:spAutoFit/>
          </a:bodyPr>
          <a:lstStyle/>
          <a:p>
            <a:pPr marL="12700">
              <a:lnSpc>
                <a:spcPct val="100000"/>
              </a:lnSpc>
              <a:spcBef>
                <a:spcPts val="105"/>
              </a:spcBef>
            </a:pPr>
            <a:r>
              <a:rPr sz="3200" spc="-10" dirty="0">
                <a:latin typeface="Calibri"/>
                <a:cs typeface="Calibri"/>
              </a:rPr>
              <a:t>pancreatic </a:t>
            </a:r>
            <a:r>
              <a:rPr sz="3200" spc="-5" dirty="0">
                <a:latin typeface="Calibri"/>
                <a:cs typeface="Calibri"/>
              </a:rPr>
              <a:t>disease </a:t>
            </a:r>
            <a:r>
              <a:rPr sz="3200" spc="-10" dirty="0">
                <a:latin typeface="Calibri"/>
                <a:cs typeface="Calibri"/>
              </a:rPr>
              <a:t>predispose </a:t>
            </a:r>
            <a:r>
              <a:rPr sz="3200" spc="-25" dirty="0">
                <a:latin typeface="Calibri"/>
                <a:cs typeface="Calibri"/>
              </a:rPr>
              <a:t>to</a:t>
            </a:r>
            <a:r>
              <a:rPr sz="3200" spc="35" dirty="0">
                <a:latin typeface="Calibri"/>
                <a:cs typeface="Calibri"/>
              </a:rPr>
              <a:t> </a:t>
            </a:r>
            <a:r>
              <a:rPr sz="3200" spc="-10" dirty="0">
                <a:latin typeface="Calibri"/>
                <a:cs typeface="Calibri"/>
              </a:rPr>
              <a:t>giardiasis.</a:t>
            </a:r>
            <a:endParaRPr sz="3200">
              <a:latin typeface="Calibri"/>
              <a:cs typeface="Calibri"/>
            </a:endParaRPr>
          </a:p>
        </p:txBody>
      </p:sp>
    </p:spTree>
    <p:extLst>
      <p:ext uri="{BB962C8B-B14F-4D97-AF65-F5344CB8AC3E}">
        <p14:creationId xmlns:p14="http://schemas.microsoft.com/office/powerpoint/2010/main" val="330643665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1560499" y="3938904"/>
            <a:ext cx="3343910" cy="262255"/>
          </a:xfrm>
          <a:custGeom>
            <a:avLst/>
            <a:gdLst/>
            <a:ahLst/>
            <a:cxnLst/>
            <a:rect l="l" t="t" r="r" b="b"/>
            <a:pathLst>
              <a:path w="3343910" h="262254">
                <a:moveTo>
                  <a:pt x="0" y="0"/>
                </a:moveTo>
                <a:lnTo>
                  <a:pt x="3343478" y="0"/>
                </a:lnTo>
                <a:lnTo>
                  <a:pt x="3343478" y="262128"/>
                </a:lnTo>
                <a:lnTo>
                  <a:pt x="0" y="262128"/>
                </a:lnTo>
                <a:lnTo>
                  <a:pt x="0" y="0"/>
                </a:lnTo>
                <a:close/>
              </a:path>
            </a:pathLst>
          </a:custGeom>
          <a:solidFill>
            <a:srgbClr val="FFED00"/>
          </a:solidFill>
        </p:spPr>
        <p:txBody>
          <a:bodyPr wrap="square" lIns="0" tIns="0" rIns="0" bIns="0" rtlCol="0"/>
          <a:lstStyle/>
          <a:p>
            <a:endParaRPr/>
          </a:p>
        </p:txBody>
      </p:sp>
      <p:sp>
        <p:nvSpPr>
          <p:cNvPr id="3" name="object 3"/>
          <p:cNvSpPr txBox="1">
            <a:spLocks noGrp="1"/>
          </p:cNvSpPr>
          <p:nvPr>
            <p:ph type="title"/>
          </p:nvPr>
        </p:nvSpPr>
        <p:spPr>
          <a:xfrm>
            <a:off x="1472564" y="461899"/>
            <a:ext cx="619823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1 . </a:t>
            </a:r>
            <a:r>
              <a:rPr sz="4400" spc="-5" dirty="0"/>
              <a:t>Giardia </a:t>
            </a:r>
            <a:r>
              <a:rPr sz="4400" dirty="0"/>
              <a:t>lamblia</a:t>
            </a:r>
            <a:r>
              <a:rPr sz="4400" spc="-60" dirty="0"/>
              <a:t> </a:t>
            </a:r>
            <a:r>
              <a:rPr sz="4400" spc="-30" dirty="0"/>
              <a:t>(cont’d)</a:t>
            </a:r>
            <a:endParaRPr sz="4400">
              <a:latin typeface="Calibri"/>
              <a:cs typeface="Calibri"/>
            </a:endParaRPr>
          </a:p>
        </p:txBody>
      </p:sp>
      <p:sp>
        <p:nvSpPr>
          <p:cNvPr id="4" name="object 4"/>
          <p:cNvSpPr txBox="1"/>
          <p:nvPr/>
        </p:nvSpPr>
        <p:spPr>
          <a:xfrm>
            <a:off x="2726182" y="1563370"/>
            <a:ext cx="3698240" cy="482600"/>
          </a:xfrm>
          <a:prstGeom prst="rect">
            <a:avLst/>
          </a:prstGeom>
        </p:spPr>
        <p:txBody>
          <a:bodyPr vert="horz" wrap="square" lIns="0" tIns="12700" rIns="0" bIns="0" rtlCol="0">
            <a:spAutoFit/>
          </a:bodyPr>
          <a:lstStyle/>
          <a:p>
            <a:pPr marL="12700">
              <a:lnSpc>
                <a:spcPct val="100000"/>
              </a:lnSpc>
              <a:spcBef>
                <a:spcPts val="100"/>
              </a:spcBef>
            </a:pPr>
            <a:r>
              <a:rPr sz="3000" b="1" spc="-10" dirty="0">
                <a:latin typeface="Calibri"/>
                <a:cs typeface="Calibri"/>
              </a:rPr>
              <a:t>Prevention </a:t>
            </a:r>
            <a:r>
              <a:rPr sz="3000" b="1" dirty="0">
                <a:latin typeface="Calibri"/>
                <a:cs typeface="Calibri"/>
              </a:rPr>
              <a:t>and</a:t>
            </a:r>
            <a:r>
              <a:rPr sz="3000" b="1" spc="-80" dirty="0">
                <a:latin typeface="Calibri"/>
                <a:cs typeface="Calibri"/>
              </a:rPr>
              <a:t> </a:t>
            </a:r>
            <a:r>
              <a:rPr sz="3000" b="1" spc="-10" dirty="0">
                <a:latin typeface="Calibri"/>
                <a:cs typeface="Calibri"/>
              </a:rPr>
              <a:t>Control</a:t>
            </a:r>
            <a:endParaRPr sz="3000">
              <a:latin typeface="Calibri"/>
              <a:cs typeface="Calibri"/>
            </a:endParaRPr>
          </a:p>
        </p:txBody>
      </p:sp>
      <p:sp>
        <p:nvSpPr>
          <p:cNvPr id="5" name="object 5"/>
          <p:cNvSpPr txBox="1"/>
          <p:nvPr/>
        </p:nvSpPr>
        <p:spPr>
          <a:xfrm>
            <a:off x="535940" y="2066671"/>
            <a:ext cx="365125" cy="482600"/>
          </a:xfrm>
          <a:prstGeom prst="rect">
            <a:avLst/>
          </a:prstGeom>
        </p:spPr>
        <p:txBody>
          <a:bodyPr vert="horz" wrap="square" lIns="0" tIns="12700" rIns="0" bIns="0" rtlCol="0">
            <a:spAutoFit/>
          </a:bodyPr>
          <a:lstStyle/>
          <a:p>
            <a:pPr marL="12700">
              <a:lnSpc>
                <a:spcPct val="100000"/>
              </a:lnSpc>
              <a:spcBef>
                <a:spcPts val="100"/>
              </a:spcBef>
            </a:pPr>
            <a:r>
              <a:rPr sz="3000" dirty="0">
                <a:latin typeface="Wingdings"/>
                <a:cs typeface="Wingdings"/>
              </a:rPr>
              <a:t></a:t>
            </a:r>
            <a:endParaRPr sz="3000">
              <a:latin typeface="Wingdings"/>
              <a:cs typeface="Wingdings"/>
            </a:endParaRPr>
          </a:p>
        </p:txBody>
      </p:sp>
      <p:sp>
        <p:nvSpPr>
          <p:cNvPr id="6" name="object 6"/>
          <p:cNvSpPr txBox="1"/>
          <p:nvPr/>
        </p:nvSpPr>
        <p:spPr>
          <a:xfrm>
            <a:off x="891844" y="2180717"/>
            <a:ext cx="7346315" cy="347345"/>
          </a:xfrm>
          <a:prstGeom prst="rect">
            <a:avLst/>
          </a:prstGeom>
          <a:solidFill>
            <a:srgbClr val="FFED00">
              <a:alpha val="50000"/>
            </a:srgbClr>
          </a:solidFill>
        </p:spPr>
        <p:txBody>
          <a:bodyPr vert="horz" wrap="square" lIns="0" tIns="0" rIns="0" bIns="0" rtlCol="0">
            <a:spAutoFit/>
          </a:bodyPr>
          <a:lstStyle/>
          <a:p>
            <a:pPr>
              <a:lnSpc>
                <a:spcPts val="2735"/>
              </a:lnSpc>
            </a:pPr>
            <a:r>
              <a:rPr sz="3000" spc="-10" dirty="0">
                <a:latin typeface="Calibri"/>
                <a:cs typeface="Calibri"/>
              </a:rPr>
              <a:t>Improving sanitation </a:t>
            </a:r>
            <a:r>
              <a:rPr sz="3000" dirty="0">
                <a:latin typeface="Calibri"/>
                <a:cs typeface="Calibri"/>
              </a:rPr>
              <a:t>and </a:t>
            </a:r>
            <a:r>
              <a:rPr sz="3000" spc="-15" dirty="0">
                <a:latin typeface="Calibri"/>
                <a:cs typeface="Calibri"/>
              </a:rPr>
              <a:t>personal hygiene, </a:t>
            </a:r>
            <a:r>
              <a:rPr sz="3000" dirty="0">
                <a:latin typeface="Calibri"/>
                <a:cs typeface="Calibri"/>
              </a:rPr>
              <a:t>and</a:t>
            </a:r>
            <a:endParaRPr sz="3000">
              <a:latin typeface="Calibri"/>
              <a:cs typeface="Calibri"/>
            </a:endParaRPr>
          </a:p>
        </p:txBody>
      </p:sp>
      <p:sp>
        <p:nvSpPr>
          <p:cNvPr id="7" name="object 7"/>
          <p:cNvSpPr txBox="1"/>
          <p:nvPr/>
        </p:nvSpPr>
        <p:spPr>
          <a:xfrm>
            <a:off x="891844" y="2611247"/>
            <a:ext cx="7333615" cy="328295"/>
          </a:xfrm>
          <a:prstGeom prst="rect">
            <a:avLst/>
          </a:prstGeom>
          <a:solidFill>
            <a:srgbClr val="FFED00">
              <a:alpha val="50000"/>
            </a:srgbClr>
          </a:solidFill>
        </p:spPr>
        <p:txBody>
          <a:bodyPr vert="horz" wrap="square" lIns="0" tIns="0" rIns="0" bIns="0" rtlCol="0">
            <a:spAutoFit/>
          </a:bodyPr>
          <a:lstStyle/>
          <a:p>
            <a:pPr>
              <a:lnSpc>
                <a:spcPts val="2585"/>
              </a:lnSpc>
            </a:pPr>
            <a:r>
              <a:rPr sz="3000" spc="-15" dirty="0">
                <a:latin typeface="Calibri"/>
                <a:cs typeface="Calibri"/>
              </a:rPr>
              <a:t>preventing </a:t>
            </a:r>
            <a:r>
              <a:rPr sz="3000" spc="-20" dirty="0">
                <a:latin typeface="Calibri"/>
                <a:cs typeface="Calibri"/>
              </a:rPr>
              <a:t>food </a:t>
            </a:r>
            <a:r>
              <a:rPr sz="3000" dirty="0">
                <a:latin typeface="Calibri"/>
                <a:cs typeface="Calibri"/>
              </a:rPr>
              <a:t>and </a:t>
            </a:r>
            <a:r>
              <a:rPr sz="3000" spc="-20" dirty="0">
                <a:latin typeface="Calibri"/>
                <a:cs typeface="Calibri"/>
              </a:rPr>
              <a:t>water </a:t>
            </a:r>
            <a:r>
              <a:rPr sz="3000" spc="-15" dirty="0">
                <a:latin typeface="Calibri"/>
                <a:cs typeface="Calibri"/>
              </a:rPr>
              <a:t>from</a:t>
            </a:r>
            <a:r>
              <a:rPr sz="3000" spc="-35" dirty="0">
                <a:latin typeface="Calibri"/>
                <a:cs typeface="Calibri"/>
              </a:rPr>
              <a:t> </a:t>
            </a:r>
            <a:r>
              <a:rPr sz="3000" spc="-10" dirty="0">
                <a:latin typeface="Calibri"/>
                <a:cs typeface="Calibri"/>
              </a:rPr>
              <a:t>contamination</a:t>
            </a:r>
            <a:endParaRPr sz="3000">
              <a:latin typeface="Calibri"/>
              <a:cs typeface="Calibri"/>
            </a:endParaRPr>
          </a:p>
        </p:txBody>
      </p:sp>
      <p:sp>
        <p:nvSpPr>
          <p:cNvPr id="8" name="object 8"/>
          <p:cNvSpPr txBox="1"/>
          <p:nvPr/>
        </p:nvSpPr>
        <p:spPr>
          <a:xfrm>
            <a:off x="891844" y="3022726"/>
            <a:ext cx="4993005" cy="328295"/>
          </a:xfrm>
          <a:prstGeom prst="rect">
            <a:avLst/>
          </a:prstGeom>
          <a:solidFill>
            <a:srgbClr val="FFED00">
              <a:alpha val="50000"/>
            </a:srgbClr>
          </a:solidFill>
        </p:spPr>
        <p:txBody>
          <a:bodyPr vert="horz" wrap="square" lIns="0" tIns="0" rIns="0" bIns="0" rtlCol="0">
            <a:spAutoFit/>
          </a:bodyPr>
          <a:lstStyle/>
          <a:p>
            <a:pPr>
              <a:lnSpc>
                <a:spcPts val="2585"/>
              </a:lnSpc>
            </a:pPr>
            <a:r>
              <a:rPr sz="3000" dirty="0">
                <a:latin typeface="Calibri"/>
                <a:cs typeface="Calibri"/>
              </a:rPr>
              <a:t>with </a:t>
            </a:r>
            <a:r>
              <a:rPr sz="3000" spc="-15" dirty="0">
                <a:latin typeface="Calibri"/>
                <a:cs typeface="Calibri"/>
              </a:rPr>
              <a:t>faeces </a:t>
            </a:r>
            <a:r>
              <a:rPr sz="3000" spc="-10" dirty="0">
                <a:latin typeface="Calibri"/>
                <a:cs typeface="Calibri"/>
              </a:rPr>
              <a:t>containing </a:t>
            </a:r>
            <a:r>
              <a:rPr sz="3000" dirty="0">
                <a:latin typeface="Calibri"/>
                <a:cs typeface="Calibri"/>
              </a:rPr>
              <a:t>the</a:t>
            </a:r>
            <a:r>
              <a:rPr sz="3000" spc="-70" dirty="0">
                <a:latin typeface="Calibri"/>
                <a:cs typeface="Calibri"/>
              </a:rPr>
              <a:t> </a:t>
            </a:r>
            <a:r>
              <a:rPr sz="3000" spc="-10" dirty="0">
                <a:latin typeface="Calibri"/>
                <a:cs typeface="Calibri"/>
              </a:rPr>
              <a:t>cysts.</a:t>
            </a:r>
            <a:endParaRPr sz="3000">
              <a:latin typeface="Calibri"/>
              <a:cs typeface="Calibri"/>
            </a:endParaRPr>
          </a:p>
        </p:txBody>
      </p:sp>
      <p:sp>
        <p:nvSpPr>
          <p:cNvPr id="9" name="object 9"/>
          <p:cNvSpPr txBox="1"/>
          <p:nvPr/>
        </p:nvSpPr>
        <p:spPr>
          <a:xfrm>
            <a:off x="510540" y="3392246"/>
            <a:ext cx="7896225" cy="1397635"/>
          </a:xfrm>
          <a:prstGeom prst="rect">
            <a:avLst/>
          </a:prstGeom>
        </p:spPr>
        <p:txBody>
          <a:bodyPr vert="horz" wrap="square" lIns="0" tIns="64769" rIns="0" bIns="0" rtlCol="0">
            <a:spAutoFit/>
          </a:bodyPr>
          <a:lstStyle/>
          <a:p>
            <a:pPr marL="381000" marR="30480" indent="-343535">
              <a:lnSpc>
                <a:spcPts val="3240"/>
              </a:lnSpc>
              <a:spcBef>
                <a:spcPts val="509"/>
              </a:spcBef>
              <a:buSzPct val="96666"/>
              <a:buFont typeface="Wingdings"/>
              <a:buChar char=""/>
              <a:tabLst>
                <a:tab pos="381635" algn="l"/>
              </a:tabLst>
            </a:pPr>
            <a:r>
              <a:rPr sz="3000" spc="-15" dirty="0">
                <a:latin typeface="Calibri"/>
                <a:cs typeface="Calibri"/>
              </a:rPr>
              <a:t>Cysts </a:t>
            </a:r>
            <a:r>
              <a:rPr sz="3000" spc="-10" dirty="0">
                <a:latin typeface="Calibri"/>
                <a:cs typeface="Calibri"/>
              </a:rPr>
              <a:t>remain </a:t>
            </a:r>
            <a:r>
              <a:rPr sz="3000" spc="-15" dirty="0">
                <a:latin typeface="Calibri"/>
                <a:cs typeface="Calibri"/>
              </a:rPr>
              <a:t>infective </a:t>
            </a:r>
            <a:r>
              <a:rPr sz="3000" spc="-25" dirty="0">
                <a:latin typeface="Calibri"/>
                <a:cs typeface="Calibri"/>
              </a:rPr>
              <a:t>for </a:t>
            </a:r>
            <a:r>
              <a:rPr sz="3000" spc="-20" dirty="0">
                <a:latin typeface="Calibri"/>
                <a:cs typeface="Calibri"/>
              </a:rPr>
              <a:t>several </a:t>
            </a:r>
            <a:r>
              <a:rPr sz="3000" spc="-15" dirty="0">
                <a:latin typeface="Calibri"/>
                <a:cs typeface="Calibri"/>
              </a:rPr>
              <a:t>weeks </a:t>
            </a:r>
            <a:r>
              <a:rPr sz="3000" dirty="0">
                <a:latin typeface="Calibri"/>
                <a:cs typeface="Calibri"/>
              </a:rPr>
              <a:t>in </a:t>
            </a:r>
            <a:r>
              <a:rPr sz="3000" spc="-20" dirty="0">
                <a:latin typeface="Calibri"/>
                <a:cs typeface="Calibri"/>
              </a:rPr>
              <a:t>water  </a:t>
            </a:r>
            <a:r>
              <a:rPr sz="3000" dirty="0">
                <a:latin typeface="Calibri"/>
                <a:cs typeface="Calibri"/>
              </a:rPr>
              <a:t>and </a:t>
            </a:r>
            <a:r>
              <a:rPr sz="3000" spc="-15" dirty="0">
                <a:latin typeface="Calibri"/>
                <a:cs typeface="Calibri"/>
              </a:rPr>
              <a:t>are </a:t>
            </a:r>
            <a:r>
              <a:rPr sz="3000" spc="-5" dirty="0">
                <a:latin typeface="Calibri"/>
                <a:cs typeface="Calibri"/>
              </a:rPr>
              <a:t>not killed </a:t>
            </a:r>
            <a:r>
              <a:rPr sz="3000" spc="-10" dirty="0">
                <a:latin typeface="Calibri"/>
                <a:cs typeface="Calibri"/>
              </a:rPr>
              <a:t>at</a:t>
            </a:r>
            <a:r>
              <a:rPr sz="3000" spc="-25" dirty="0">
                <a:latin typeface="Calibri"/>
                <a:cs typeface="Calibri"/>
              </a:rPr>
              <a:t> </a:t>
            </a:r>
            <a:r>
              <a:rPr sz="3000" dirty="0">
                <a:latin typeface="Calibri"/>
                <a:cs typeface="Calibri"/>
              </a:rPr>
              <a:t>4-6</a:t>
            </a:r>
            <a:r>
              <a:rPr sz="3000" baseline="25000" dirty="0">
                <a:latin typeface="Calibri"/>
                <a:cs typeface="Calibri"/>
              </a:rPr>
              <a:t>o</a:t>
            </a:r>
            <a:r>
              <a:rPr sz="3000" dirty="0">
                <a:latin typeface="Calibri"/>
                <a:cs typeface="Calibri"/>
              </a:rPr>
              <a:t>C</a:t>
            </a:r>
            <a:endParaRPr sz="3000">
              <a:latin typeface="Calibri"/>
              <a:cs typeface="Calibri"/>
            </a:endParaRPr>
          </a:p>
          <a:p>
            <a:pPr marL="381000" indent="-343535">
              <a:lnSpc>
                <a:spcPct val="100000"/>
              </a:lnSpc>
              <a:spcBef>
                <a:spcPts val="315"/>
              </a:spcBef>
              <a:buSzPct val="96666"/>
              <a:buFont typeface="Wingdings"/>
              <a:buChar char=""/>
              <a:tabLst>
                <a:tab pos="381635" algn="l"/>
              </a:tabLst>
            </a:pPr>
            <a:r>
              <a:rPr sz="3000" spc="-5" dirty="0">
                <a:latin typeface="Calibri"/>
                <a:cs typeface="Calibri"/>
              </a:rPr>
              <a:t>The </a:t>
            </a:r>
            <a:r>
              <a:rPr sz="3000" spc="-15" dirty="0">
                <a:latin typeface="Calibri"/>
                <a:cs typeface="Calibri"/>
              </a:rPr>
              <a:t>cysts are </a:t>
            </a:r>
            <a:r>
              <a:rPr sz="3000" spc="-20" dirty="0">
                <a:latin typeface="Calibri"/>
                <a:cs typeface="Calibri"/>
              </a:rPr>
              <a:t>resistant </a:t>
            </a:r>
            <a:r>
              <a:rPr sz="3000" spc="-15" dirty="0">
                <a:latin typeface="Calibri"/>
                <a:cs typeface="Calibri"/>
              </a:rPr>
              <a:t>to concentrations</a:t>
            </a:r>
            <a:r>
              <a:rPr sz="3000" spc="-25" dirty="0">
                <a:latin typeface="Calibri"/>
                <a:cs typeface="Calibri"/>
              </a:rPr>
              <a:t> </a:t>
            </a:r>
            <a:r>
              <a:rPr sz="3000" spc="-5" dirty="0">
                <a:latin typeface="Calibri"/>
                <a:cs typeface="Calibri"/>
              </a:rPr>
              <a:t>of</a:t>
            </a:r>
            <a:endParaRPr sz="3000">
              <a:latin typeface="Calibri"/>
              <a:cs typeface="Calibri"/>
            </a:endParaRPr>
          </a:p>
        </p:txBody>
      </p:sp>
      <p:sp>
        <p:nvSpPr>
          <p:cNvPr id="10" name="object 10"/>
          <p:cNvSpPr txBox="1"/>
          <p:nvPr/>
        </p:nvSpPr>
        <p:spPr>
          <a:xfrm>
            <a:off x="891844" y="4718380"/>
            <a:ext cx="6777355" cy="483234"/>
          </a:xfrm>
          <a:prstGeom prst="rect">
            <a:avLst/>
          </a:prstGeom>
          <a:solidFill>
            <a:srgbClr val="FFED00">
              <a:alpha val="50000"/>
            </a:srgbClr>
          </a:solidFill>
        </p:spPr>
        <p:txBody>
          <a:bodyPr vert="horz" wrap="square" lIns="0" tIns="12700" rIns="0" bIns="0" rtlCol="0">
            <a:spAutoFit/>
          </a:bodyPr>
          <a:lstStyle/>
          <a:p>
            <a:pPr>
              <a:lnSpc>
                <a:spcPct val="100000"/>
              </a:lnSpc>
              <a:spcBef>
                <a:spcPts val="100"/>
              </a:spcBef>
            </a:pPr>
            <a:r>
              <a:rPr sz="3000" spc="-10" dirty="0">
                <a:latin typeface="Calibri"/>
                <a:cs typeface="Calibri"/>
              </a:rPr>
              <a:t>Chlorine </a:t>
            </a:r>
            <a:r>
              <a:rPr sz="3000" spc="-5" dirty="0">
                <a:latin typeface="Calibri"/>
                <a:cs typeface="Calibri"/>
              </a:rPr>
              <a:t>normally </a:t>
            </a:r>
            <a:r>
              <a:rPr sz="3000" spc="-10" dirty="0">
                <a:latin typeface="Calibri"/>
                <a:cs typeface="Calibri"/>
              </a:rPr>
              <a:t>used </a:t>
            </a:r>
            <a:r>
              <a:rPr sz="3000" spc="-25" dirty="0">
                <a:latin typeface="Calibri"/>
                <a:cs typeface="Calibri"/>
              </a:rPr>
              <a:t>for </a:t>
            </a:r>
            <a:r>
              <a:rPr sz="3000" dirty="0">
                <a:latin typeface="Calibri"/>
                <a:cs typeface="Calibri"/>
              </a:rPr>
              <a:t>the </a:t>
            </a:r>
            <a:r>
              <a:rPr sz="3000" spc="-15" dirty="0">
                <a:latin typeface="Calibri"/>
                <a:cs typeface="Calibri"/>
              </a:rPr>
              <a:t>treatment</a:t>
            </a:r>
            <a:r>
              <a:rPr sz="3000" spc="10" dirty="0">
                <a:latin typeface="Calibri"/>
                <a:cs typeface="Calibri"/>
              </a:rPr>
              <a:t> </a:t>
            </a:r>
            <a:r>
              <a:rPr sz="3000" spc="-5" dirty="0">
                <a:latin typeface="Calibri"/>
                <a:cs typeface="Calibri"/>
              </a:rPr>
              <a:t>of</a:t>
            </a:r>
            <a:endParaRPr sz="3000">
              <a:latin typeface="Calibri"/>
              <a:cs typeface="Calibri"/>
            </a:endParaRPr>
          </a:p>
        </p:txBody>
      </p:sp>
      <p:sp>
        <p:nvSpPr>
          <p:cNvPr id="11" name="object 11"/>
          <p:cNvSpPr txBox="1"/>
          <p:nvPr/>
        </p:nvSpPr>
        <p:spPr>
          <a:xfrm>
            <a:off x="879144" y="5130546"/>
            <a:ext cx="6760845" cy="894080"/>
          </a:xfrm>
          <a:prstGeom prst="rect">
            <a:avLst/>
          </a:prstGeom>
        </p:spPr>
        <p:txBody>
          <a:bodyPr vert="horz" wrap="square" lIns="0" tIns="64135" rIns="0" bIns="0" rtlCol="0">
            <a:spAutoFit/>
          </a:bodyPr>
          <a:lstStyle/>
          <a:p>
            <a:pPr marL="12700" marR="5080">
              <a:lnSpc>
                <a:spcPts val="3240"/>
              </a:lnSpc>
              <a:spcBef>
                <a:spcPts val="505"/>
              </a:spcBef>
            </a:pPr>
            <a:r>
              <a:rPr sz="3000" spc="-10" dirty="0">
                <a:latin typeface="Calibri"/>
                <a:cs typeface="Calibri"/>
              </a:rPr>
              <a:t>domestic </a:t>
            </a:r>
            <a:r>
              <a:rPr sz="3000" spc="-20" dirty="0">
                <a:latin typeface="Calibri"/>
                <a:cs typeface="Calibri"/>
              </a:rPr>
              <a:t>water </a:t>
            </a:r>
            <a:r>
              <a:rPr sz="3000" spc="-10" dirty="0">
                <a:latin typeface="Calibri"/>
                <a:cs typeface="Calibri"/>
              </a:rPr>
              <a:t>supplies </a:t>
            </a:r>
            <a:r>
              <a:rPr sz="3000" spc="10" dirty="0">
                <a:latin typeface="Calibri"/>
                <a:cs typeface="Calibri"/>
              </a:rPr>
              <a:t>(just </a:t>
            </a:r>
            <a:r>
              <a:rPr sz="3000" spc="-30" dirty="0">
                <a:latin typeface="Calibri"/>
                <a:cs typeface="Calibri"/>
              </a:rPr>
              <a:t>like </a:t>
            </a:r>
            <a:r>
              <a:rPr sz="3000" spc="-15" dirty="0">
                <a:latin typeface="Calibri"/>
                <a:cs typeface="Calibri"/>
              </a:rPr>
              <a:t>cysts </a:t>
            </a:r>
            <a:r>
              <a:rPr sz="3000" spc="-5" dirty="0">
                <a:latin typeface="Calibri"/>
                <a:cs typeface="Calibri"/>
              </a:rPr>
              <a:t>of </a:t>
            </a:r>
            <a:r>
              <a:rPr sz="3000" i="1" spc="-5" dirty="0">
                <a:latin typeface="Calibri"/>
                <a:cs typeface="Calibri"/>
              </a:rPr>
              <a:t>E.  </a:t>
            </a:r>
            <a:r>
              <a:rPr sz="3000" i="1" spc="-10" dirty="0">
                <a:latin typeface="Calibri"/>
                <a:cs typeface="Calibri"/>
              </a:rPr>
              <a:t>histolytica</a:t>
            </a:r>
            <a:r>
              <a:rPr sz="3000" spc="-10" dirty="0">
                <a:latin typeface="Calibri"/>
                <a:cs typeface="Calibri"/>
              </a:rPr>
              <a:t>).</a:t>
            </a:r>
            <a:endParaRPr sz="3000">
              <a:latin typeface="Calibri"/>
              <a:cs typeface="Calibri"/>
            </a:endParaRPr>
          </a:p>
        </p:txBody>
      </p:sp>
    </p:spTree>
    <p:extLst>
      <p:ext uri="{BB962C8B-B14F-4D97-AF65-F5344CB8AC3E}">
        <p14:creationId xmlns:p14="http://schemas.microsoft.com/office/powerpoint/2010/main" val="142796944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686854" y="4495165"/>
            <a:ext cx="349250" cy="328295"/>
          </a:xfrm>
          <a:custGeom>
            <a:avLst/>
            <a:gdLst/>
            <a:ahLst/>
            <a:cxnLst/>
            <a:rect l="l" t="t" r="r" b="b"/>
            <a:pathLst>
              <a:path w="349250" h="328295">
                <a:moveTo>
                  <a:pt x="0" y="0"/>
                </a:moveTo>
                <a:lnTo>
                  <a:pt x="348996" y="0"/>
                </a:lnTo>
                <a:lnTo>
                  <a:pt x="348996" y="328041"/>
                </a:lnTo>
                <a:lnTo>
                  <a:pt x="0" y="328041"/>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891844" y="4495165"/>
            <a:ext cx="5795010" cy="328295"/>
          </a:xfrm>
          <a:custGeom>
            <a:avLst/>
            <a:gdLst/>
            <a:ahLst/>
            <a:cxnLst/>
            <a:rect l="l" t="t" r="r" b="b"/>
            <a:pathLst>
              <a:path w="5795009" h="328295">
                <a:moveTo>
                  <a:pt x="0" y="328041"/>
                </a:moveTo>
                <a:lnTo>
                  <a:pt x="5795010" y="328041"/>
                </a:lnTo>
                <a:lnTo>
                  <a:pt x="5795010" y="0"/>
                </a:lnTo>
                <a:lnTo>
                  <a:pt x="0" y="0"/>
                </a:lnTo>
                <a:lnTo>
                  <a:pt x="0" y="328041"/>
                </a:lnTo>
                <a:close/>
              </a:path>
            </a:pathLst>
          </a:custGeom>
          <a:solidFill>
            <a:srgbClr val="FFED00"/>
          </a:solidFill>
        </p:spPr>
        <p:txBody>
          <a:bodyPr wrap="square" lIns="0" tIns="0" rIns="0" bIns="0" rtlCol="0"/>
          <a:lstStyle/>
          <a:p>
            <a:endParaRPr/>
          </a:p>
        </p:txBody>
      </p:sp>
      <p:sp>
        <p:nvSpPr>
          <p:cNvPr id="4" name="object 4"/>
          <p:cNvSpPr/>
          <p:nvPr/>
        </p:nvSpPr>
        <p:spPr>
          <a:xfrm>
            <a:off x="891844" y="2937001"/>
            <a:ext cx="5224145" cy="331470"/>
          </a:xfrm>
          <a:custGeom>
            <a:avLst/>
            <a:gdLst/>
            <a:ahLst/>
            <a:cxnLst/>
            <a:rect l="l" t="t" r="r" b="b"/>
            <a:pathLst>
              <a:path w="5224145" h="331470">
                <a:moveTo>
                  <a:pt x="0" y="0"/>
                </a:moveTo>
                <a:lnTo>
                  <a:pt x="5223713" y="0"/>
                </a:lnTo>
                <a:lnTo>
                  <a:pt x="5223713" y="331470"/>
                </a:lnTo>
                <a:lnTo>
                  <a:pt x="0" y="331470"/>
                </a:lnTo>
                <a:lnTo>
                  <a:pt x="0" y="0"/>
                </a:lnTo>
                <a:close/>
              </a:path>
            </a:pathLst>
          </a:custGeom>
          <a:solidFill>
            <a:srgbClr val="FFED00"/>
          </a:solidFill>
        </p:spPr>
        <p:txBody>
          <a:bodyPr wrap="square" lIns="0" tIns="0" rIns="0" bIns="0" rtlCol="0"/>
          <a:lstStyle/>
          <a:p>
            <a:endParaRPr/>
          </a:p>
        </p:txBody>
      </p:sp>
      <p:sp>
        <p:nvSpPr>
          <p:cNvPr id="5" name="object 5"/>
          <p:cNvSpPr/>
          <p:nvPr/>
        </p:nvSpPr>
        <p:spPr>
          <a:xfrm>
            <a:off x="3942892" y="2555620"/>
            <a:ext cx="4023360" cy="347345"/>
          </a:xfrm>
          <a:custGeom>
            <a:avLst/>
            <a:gdLst/>
            <a:ahLst/>
            <a:cxnLst/>
            <a:rect l="l" t="t" r="r" b="b"/>
            <a:pathLst>
              <a:path w="4023359" h="347344">
                <a:moveTo>
                  <a:pt x="0" y="0"/>
                </a:moveTo>
                <a:lnTo>
                  <a:pt x="4023360" y="0"/>
                </a:lnTo>
                <a:lnTo>
                  <a:pt x="4023360" y="347090"/>
                </a:lnTo>
                <a:lnTo>
                  <a:pt x="0" y="347090"/>
                </a:lnTo>
                <a:lnTo>
                  <a:pt x="0" y="0"/>
                </a:lnTo>
                <a:close/>
              </a:path>
            </a:pathLst>
          </a:custGeom>
          <a:solidFill>
            <a:srgbClr val="FFED00"/>
          </a:solidFill>
        </p:spPr>
        <p:txBody>
          <a:bodyPr wrap="square" lIns="0" tIns="0" rIns="0" bIns="0" rtlCol="0"/>
          <a:lstStyle/>
          <a:p>
            <a:endParaRPr/>
          </a:p>
        </p:txBody>
      </p:sp>
      <p:sp>
        <p:nvSpPr>
          <p:cNvPr id="6" name="object 6"/>
          <p:cNvSpPr/>
          <p:nvPr/>
        </p:nvSpPr>
        <p:spPr>
          <a:xfrm>
            <a:off x="891844" y="2098420"/>
            <a:ext cx="3809365" cy="347345"/>
          </a:xfrm>
          <a:custGeom>
            <a:avLst/>
            <a:gdLst/>
            <a:ahLst/>
            <a:cxnLst/>
            <a:rect l="l" t="t" r="r" b="b"/>
            <a:pathLst>
              <a:path w="3809365" h="347344">
                <a:moveTo>
                  <a:pt x="0" y="0"/>
                </a:moveTo>
                <a:lnTo>
                  <a:pt x="3809187" y="0"/>
                </a:lnTo>
                <a:lnTo>
                  <a:pt x="3809187" y="347090"/>
                </a:lnTo>
                <a:lnTo>
                  <a:pt x="0" y="347090"/>
                </a:lnTo>
                <a:lnTo>
                  <a:pt x="0" y="0"/>
                </a:lnTo>
                <a:close/>
              </a:path>
            </a:pathLst>
          </a:custGeom>
          <a:solidFill>
            <a:srgbClr val="FFED00"/>
          </a:solidFill>
        </p:spPr>
        <p:txBody>
          <a:bodyPr wrap="square" lIns="0" tIns="0" rIns="0" bIns="0" rtlCol="0"/>
          <a:lstStyle/>
          <a:p>
            <a:endParaRPr/>
          </a:p>
        </p:txBody>
      </p:sp>
      <p:sp>
        <p:nvSpPr>
          <p:cNvPr id="7" name="object 7"/>
          <p:cNvSpPr txBox="1">
            <a:spLocks noGrp="1"/>
          </p:cNvSpPr>
          <p:nvPr>
            <p:ph type="title"/>
          </p:nvPr>
        </p:nvSpPr>
        <p:spPr>
          <a:xfrm>
            <a:off x="1472564" y="461899"/>
            <a:ext cx="619823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1 . </a:t>
            </a:r>
            <a:r>
              <a:rPr sz="4400" spc="-5" dirty="0"/>
              <a:t>Giardia </a:t>
            </a:r>
            <a:r>
              <a:rPr sz="4400" dirty="0"/>
              <a:t>lamblia</a:t>
            </a:r>
            <a:r>
              <a:rPr sz="4400" spc="-60" dirty="0"/>
              <a:t> </a:t>
            </a:r>
            <a:r>
              <a:rPr sz="4400" spc="-30" dirty="0"/>
              <a:t>(cont’d)</a:t>
            </a:r>
            <a:endParaRPr sz="4400">
              <a:latin typeface="Calibri"/>
              <a:cs typeface="Calibri"/>
            </a:endParaRPr>
          </a:p>
        </p:txBody>
      </p:sp>
      <p:sp>
        <p:nvSpPr>
          <p:cNvPr id="8" name="object 8"/>
          <p:cNvSpPr txBox="1"/>
          <p:nvPr/>
        </p:nvSpPr>
        <p:spPr>
          <a:xfrm>
            <a:off x="535940" y="1526794"/>
            <a:ext cx="7983220" cy="4141470"/>
          </a:xfrm>
          <a:prstGeom prst="rect">
            <a:avLst/>
          </a:prstGeom>
        </p:spPr>
        <p:txBody>
          <a:bodyPr vert="horz" wrap="square" lIns="0" tIns="12700" rIns="0" bIns="0" rtlCol="0">
            <a:spAutoFit/>
          </a:bodyPr>
          <a:lstStyle/>
          <a:p>
            <a:pPr marL="3280410">
              <a:lnSpc>
                <a:spcPct val="100000"/>
              </a:lnSpc>
              <a:spcBef>
                <a:spcPts val="100"/>
              </a:spcBef>
            </a:pPr>
            <a:r>
              <a:rPr sz="3000" b="1" spc="-5" dirty="0">
                <a:latin typeface="Calibri"/>
                <a:cs typeface="Calibri"/>
              </a:rPr>
              <a:t>Diagnosis</a:t>
            </a:r>
            <a:endParaRPr sz="3000">
              <a:latin typeface="Calibri"/>
              <a:cs typeface="Calibri"/>
            </a:endParaRPr>
          </a:p>
          <a:p>
            <a:pPr marL="355600" indent="-343535">
              <a:lnSpc>
                <a:spcPct val="100000"/>
              </a:lnSpc>
              <a:buSzPct val="96666"/>
              <a:buFont typeface="Wingdings"/>
              <a:buChar char=""/>
              <a:tabLst>
                <a:tab pos="356235" algn="l"/>
              </a:tabLst>
            </a:pPr>
            <a:r>
              <a:rPr sz="3000" spc="-15" dirty="0">
                <a:latin typeface="Calibri"/>
                <a:cs typeface="Calibri"/>
              </a:rPr>
              <a:t>By </a:t>
            </a:r>
            <a:r>
              <a:rPr sz="3000" spc="-10" dirty="0">
                <a:latin typeface="Calibri"/>
                <a:cs typeface="Calibri"/>
              </a:rPr>
              <a:t>finding </a:t>
            </a:r>
            <a:r>
              <a:rPr sz="3000" spc="-15" dirty="0">
                <a:latin typeface="Calibri"/>
                <a:cs typeface="Calibri"/>
              </a:rPr>
              <a:t>cysts </a:t>
            </a:r>
            <a:r>
              <a:rPr sz="3000" dirty="0">
                <a:latin typeface="Calibri"/>
                <a:cs typeface="Calibri"/>
              </a:rPr>
              <a:t>in</a:t>
            </a:r>
            <a:r>
              <a:rPr sz="3000" spc="20" dirty="0">
                <a:latin typeface="Calibri"/>
                <a:cs typeface="Calibri"/>
              </a:rPr>
              <a:t> </a:t>
            </a:r>
            <a:r>
              <a:rPr sz="3000" spc="-15" dirty="0">
                <a:latin typeface="Calibri"/>
                <a:cs typeface="Calibri"/>
              </a:rPr>
              <a:t>faeces</a:t>
            </a:r>
            <a:endParaRPr sz="3000">
              <a:latin typeface="Calibri"/>
              <a:cs typeface="Calibri"/>
            </a:endParaRPr>
          </a:p>
          <a:p>
            <a:pPr marL="355600" marR="5080" indent="-343535">
              <a:lnSpc>
                <a:spcPct val="80000"/>
              </a:lnSpc>
              <a:spcBef>
                <a:spcPts val="720"/>
              </a:spcBef>
              <a:buSzPct val="96666"/>
              <a:buFont typeface="Wingdings"/>
              <a:buChar char=""/>
              <a:tabLst>
                <a:tab pos="356235" algn="l"/>
              </a:tabLst>
            </a:pPr>
            <a:r>
              <a:rPr sz="3000" spc="-5" dirty="0">
                <a:latin typeface="Calibri"/>
                <a:cs typeface="Calibri"/>
              </a:rPr>
              <a:t>Less </a:t>
            </a:r>
            <a:r>
              <a:rPr sz="3000" spc="-10" dirty="0">
                <a:latin typeface="Calibri"/>
                <a:cs typeface="Calibri"/>
              </a:rPr>
              <a:t>commonly </a:t>
            </a:r>
            <a:r>
              <a:rPr sz="3000" dirty="0">
                <a:latin typeface="Calibri"/>
                <a:cs typeface="Calibri"/>
              </a:rPr>
              <a:t>the </a:t>
            </a:r>
            <a:r>
              <a:rPr sz="3000" spc="-5" dirty="0">
                <a:latin typeface="Calibri"/>
                <a:cs typeface="Calibri"/>
              </a:rPr>
              <a:t>motile </a:t>
            </a:r>
            <a:r>
              <a:rPr sz="3000" spc="-15" dirty="0">
                <a:latin typeface="Calibri"/>
                <a:cs typeface="Calibri"/>
              </a:rPr>
              <a:t>flagellated parasite  </a:t>
            </a:r>
            <a:r>
              <a:rPr sz="3000" spc="-20" dirty="0">
                <a:latin typeface="Calibri"/>
                <a:cs typeface="Calibri"/>
              </a:rPr>
              <a:t>may </a:t>
            </a:r>
            <a:r>
              <a:rPr sz="3000" spc="-5" dirty="0">
                <a:latin typeface="Calibri"/>
                <a:cs typeface="Calibri"/>
              </a:rPr>
              <a:t>be </a:t>
            </a:r>
            <a:r>
              <a:rPr sz="3000" spc="-20" dirty="0">
                <a:latin typeface="Calibri"/>
                <a:cs typeface="Calibri"/>
              </a:rPr>
              <a:t>found </a:t>
            </a:r>
            <a:r>
              <a:rPr sz="3000" dirty="0">
                <a:latin typeface="Calibri"/>
                <a:cs typeface="Calibri"/>
              </a:rPr>
              <a:t>in </a:t>
            </a:r>
            <a:r>
              <a:rPr sz="3000" spc="-5" dirty="0">
                <a:latin typeface="Calibri"/>
                <a:cs typeface="Calibri"/>
              </a:rPr>
              <a:t>diarrhoeic </a:t>
            </a:r>
            <a:r>
              <a:rPr sz="3000" spc="-15" dirty="0">
                <a:latin typeface="Calibri"/>
                <a:cs typeface="Calibri"/>
              </a:rPr>
              <a:t>faeces </a:t>
            </a:r>
            <a:r>
              <a:rPr sz="3000" spc="-5" dirty="0">
                <a:latin typeface="Calibri"/>
                <a:cs typeface="Calibri"/>
              </a:rPr>
              <a:t>(the </a:t>
            </a:r>
            <a:r>
              <a:rPr sz="3000" spc="-10" dirty="0">
                <a:latin typeface="Calibri"/>
                <a:cs typeface="Calibri"/>
              </a:rPr>
              <a:t>identity </a:t>
            </a:r>
            <a:r>
              <a:rPr sz="3000" spc="-5" dirty="0">
                <a:latin typeface="Calibri"/>
                <a:cs typeface="Calibri"/>
              </a:rPr>
              <a:t>of  </a:t>
            </a:r>
            <a:r>
              <a:rPr sz="3000" dirty="0">
                <a:latin typeface="Calibri"/>
                <a:cs typeface="Calibri"/>
              </a:rPr>
              <a:t>the </a:t>
            </a:r>
            <a:r>
              <a:rPr sz="3000" spc="-10" dirty="0">
                <a:latin typeface="Calibri"/>
                <a:cs typeface="Calibri"/>
              </a:rPr>
              <a:t>flagellates </a:t>
            </a:r>
            <a:r>
              <a:rPr sz="3000" spc="-5" dirty="0">
                <a:latin typeface="Calibri"/>
                <a:cs typeface="Calibri"/>
              </a:rPr>
              <a:t>should be </a:t>
            </a:r>
            <a:r>
              <a:rPr sz="3000" spc="-10" dirty="0">
                <a:latin typeface="Calibri"/>
                <a:cs typeface="Calibri"/>
              </a:rPr>
              <a:t>confirmed by </a:t>
            </a:r>
            <a:r>
              <a:rPr sz="3000" spc="-15" dirty="0">
                <a:latin typeface="Calibri"/>
                <a:cs typeface="Calibri"/>
              </a:rPr>
              <a:t>examining  stained </a:t>
            </a:r>
            <a:r>
              <a:rPr sz="3000" spc="-20" dirty="0">
                <a:latin typeface="Calibri"/>
                <a:cs typeface="Calibri"/>
              </a:rPr>
              <a:t>faecal</a:t>
            </a:r>
            <a:r>
              <a:rPr sz="3000" dirty="0">
                <a:latin typeface="Calibri"/>
                <a:cs typeface="Calibri"/>
              </a:rPr>
              <a:t> </a:t>
            </a:r>
            <a:r>
              <a:rPr sz="3000" spc="-15" dirty="0">
                <a:latin typeface="Calibri"/>
                <a:cs typeface="Calibri"/>
              </a:rPr>
              <a:t>preparation.</a:t>
            </a:r>
            <a:endParaRPr sz="3000">
              <a:latin typeface="Calibri"/>
              <a:cs typeface="Calibri"/>
            </a:endParaRPr>
          </a:p>
          <a:p>
            <a:pPr marL="355600" marR="11430" indent="-343535">
              <a:lnSpc>
                <a:spcPts val="2880"/>
              </a:lnSpc>
              <a:spcBef>
                <a:spcPts val="695"/>
              </a:spcBef>
              <a:buSzPct val="96666"/>
              <a:buFont typeface="Wingdings"/>
              <a:buChar char=""/>
              <a:tabLst>
                <a:tab pos="356235" algn="l"/>
              </a:tabLst>
            </a:pPr>
            <a:r>
              <a:rPr sz="3000" spc="-20" dirty="0">
                <a:latin typeface="Calibri"/>
                <a:cs typeface="Calibri"/>
              </a:rPr>
              <a:t>Faecal </a:t>
            </a:r>
            <a:r>
              <a:rPr sz="3000" spc="-5" dirty="0">
                <a:latin typeface="Calibri"/>
                <a:cs typeface="Calibri"/>
              </a:rPr>
              <a:t>specimens </a:t>
            </a:r>
            <a:r>
              <a:rPr sz="3000" spc="-20" dirty="0">
                <a:latin typeface="Calibri"/>
                <a:cs typeface="Calibri"/>
              </a:rPr>
              <a:t>have </a:t>
            </a:r>
            <a:r>
              <a:rPr sz="3000" dirty="0">
                <a:latin typeface="Calibri"/>
                <a:cs typeface="Calibri"/>
              </a:rPr>
              <a:t>an </a:t>
            </a:r>
            <a:r>
              <a:rPr sz="3000" spc="-20" dirty="0">
                <a:latin typeface="Calibri"/>
                <a:cs typeface="Calibri"/>
              </a:rPr>
              <a:t>offensive </a:t>
            </a:r>
            <a:r>
              <a:rPr sz="3000" spc="-5" dirty="0">
                <a:latin typeface="Calibri"/>
                <a:cs typeface="Calibri"/>
              </a:rPr>
              <a:t>smell </a:t>
            </a:r>
            <a:r>
              <a:rPr sz="3000" dirty="0">
                <a:latin typeface="Calibri"/>
                <a:cs typeface="Calibri"/>
              </a:rPr>
              <a:t>and </a:t>
            </a:r>
            <a:r>
              <a:rPr sz="3000" spc="-15" dirty="0">
                <a:latin typeface="Calibri"/>
                <a:cs typeface="Calibri"/>
              </a:rPr>
              <a:t>are  </a:t>
            </a:r>
            <a:r>
              <a:rPr sz="3000" spc="-10" dirty="0">
                <a:latin typeface="Calibri"/>
                <a:cs typeface="Calibri"/>
              </a:rPr>
              <a:t>usually </a:t>
            </a:r>
            <a:r>
              <a:rPr sz="3000" spc="-5" dirty="0">
                <a:latin typeface="Calibri"/>
                <a:cs typeface="Calibri"/>
              </a:rPr>
              <a:t>pale </a:t>
            </a:r>
            <a:r>
              <a:rPr sz="3000" dirty="0">
                <a:latin typeface="Calibri"/>
                <a:cs typeface="Calibri"/>
              </a:rPr>
              <a:t>and </a:t>
            </a:r>
            <a:r>
              <a:rPr sz="3000" spc="-60" dirty="0">
                <a:latin typeface="Calibri"/>
                <a:cs typeface="Calibri"/>
              </a:rPr>
              <a:t>fatty, </a:t>
            </a:r>
            <a:r>
              <a:rPr sz="3000" spc="-10" dirty="0">
                <a:latin typeface="Calibri"/>
                <a:cs typeface="Calibri"/>
              </a:rPr>
              <a:t>often </a:t>
            </a:r>
            <a:r>
              <a:rPr sz="3000" dirty="0">
                <a:latin typeface="Calibri"/>
                <a:cs typeface="Calibri"/>
              </a:rPr>
              <a:t>with</a:t>
            </a:r>
            <a:r>
              <a:rPr sz="3000" spc="25" dirty="0">
                <a:latin typeface="Calibri"/>
                <a:cs typeface="Calibri"/>
              </a:rPr>
              <a:t> </a:t>
            </a:r>
            <a:r>
              <a:rPr sz="3000" spc="-5" dirty="0">
                <a:latin typeface="Calibri"/>
                <a:cs typeface="Calibri"/>
              </a:rPr>
              <a:t>mucus.</a:t>
            </a:r>
            <a:endParaRPr sz="3000">
              <a:latin typeface="Calibri"/>
              <a:cs typeface="Calibri"/>
            </a:endParaRPr>
          </a:p>
          <a:p>
            <a:pPr marL="355600" marR="1264920" indent="-343535">
              <a:lnSpc>
                <a:spcPts val="2880"/>
              </a:lnSpc>
              <a:spcBef>
                <a:spcPts val="725"/>
              </a:spcBef>
              <a:buSzPct val="96666"/>
              <a:buFont typeface="Wingdings"/>
              <a:buChar char=""/>
              <a:tabLst>
                <a:tab pos="356235" algn="l"/>
              </a:tabLst>
            </a:pPr>
            <a:r>
              <a:rPr sz="3000" spc="-5" dirty="0">
                <a:latin typeface="Calibri"/>
                <a:cs typeface="Calibri"/>
              </a:rPr>
              <a:t>The </a:t>
            </a:r>
            <a:r>
              <a:rPr sz="3000" spc="-10" dirty="0">
                <a:latin typeface="Calibri"/>
                <a:cs typeface="Calibri"/>
              </a:rPr>
              <a:t>flagellates </a:t>
            </a:r>
            <a:r>
              <a:rPr sz="3000" spc="-20" dirty="0">
                <a:latin typeface="Calibri"/>
                <a:cs typeface="Calibri"/>
              </a:rPr>
              <a:t>may </a:t>
            </a:r>
            <a:r>
              <a:rPr sz="3000" spc="-5" dirty="0">
                <a:latin typeface="Calibri"/>
                <a:cs typeface="Calibri"/>
              </a:rPr>
              <a:t>be </a:t>
            </a:r>
            <a:r>
              <a:rPr sz="3000" spc="-20" dirty="0">
                <a:latin typeface="Calibri"/>
                <a:cs typeface="Calibri"/>
              </a:rPr>
              <a:t>found </a:t>
            </a:r>
            <a:r>
              <a:rPr sz="3000" dirty="0">
                <a:latin typeface="Calibri"/>
                <a:cs typeface="Calibri"/>
              </a:rPr>
              <a:t>in </a:t>
            </a:r>
            <a:r>
              <a:rPr sz="3000" spc="-5" dirty="0">
                <a:latin typeface="Calibri"/>
                <a:cs typeface="Calibri"/>
              </a:rPr>
              <a:t>duodenal  </a:t>
            </a:r>
            <a:r>
              <a:rPr sz="3000" spc="-15" dirty="0">
                <a:latin typeface="Calibri"/>
                <a:cs typeface="Calibri"/>
              </a:rPr>
              <a:t>aspirates</a:t>
            </a:r>
            <a:endParaRPr sz="3000">
              <a:latin typeface="Calibri"/>
              <a:cs typeface="Calibri"/>
            </a:endParaRPr>
          </a:p>
        </p:txBody>
      </p:sp>
    </p:spTree>
    <p:extLst>
      <p:ext uri="{BB962C8B-B14F-4D97-AF65-F5344CB8AC3E}">
        <p14:creationId xmlns:p14="http://schemas.microsoft.com/office/powerpoint/2010/main" val="50897152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5643181"/>
            <a:ext cx="871855" cy="309880"/>
          </a:xfrm>
          <a:custGeom>
            <a:avLst/>
            <a:gdLst/>
            <a:ahLst/>
            <a:cxnLst/>
            <a:rect l="l" t="t" r="r" b="b"/>
            <a:pathLst>
              <a:path w="871855" h="309879">
                <a:moveTo>
                  <a:pt x="0" y="0"/>
                </a:moveTo>
                <a:lnTo>
                  <a:pt x="871601" y="0"/>
                </a:lnTo>
                <a:lnTo>
                  <a:pt x="871601" y="309651"/>
                </a:lnTo>
                <a:lnTo>
                  <a:pt x="0" y="309651"/>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5355221" y="5163629"/>
            <a:ext cx="2372360" cy="350520"/>
          </a:xfrm>
          <a:custGeom>
            <a:avLst/>
            <a:gdLst/>
            <a:ahLst/>
            <a:cxnLst/>
            <a:rect l="l" t="t" r="r" b="b"/>
            <a:pathLst>
              <a:path w="2372359" h="350520">
                <a:moveTo>
                  <a:pt x="0" y="0"/>
                </a:moveTo>
                <a:lnTo>
                  <a:pt x="2372271" y="0"/>
                </a:lnTo>
                <a:lnTo>
                  <a:pt x="2372271" y="350342"/>
                </a:lnTo>
                <a:lnTo>
                  <a:pt x="0" y="350342"/>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1586712" y="4703991"/>
            <a:ext cx="3432810" cy="370840"/>
          </a:xfrm>
          <a:custGeom>
            <a:avLst/>
            <a:gdLst/>
            <a:ahLst/>
            <a:cxnLst/>
            <a:rect l="l" t="t" r="r" b="b"/>
            <a:pathLst>
              <a:path w="3432810" h="370839">
                <a:moveTo>
                  <a:pt x="0" y="0"/>
                </a:moveTo>
                <a:lnTo>
                  <a:pt x="3432683" y="0"/>
                </a:lnTo>
                <a:lnTo>
                  <a:pt x="3432683" y="370687"/>
                </a:lnTo>
                <a:lnTo>
                  <a:pt x="0" y="370687"/>
                </a:lnTo>
                <a:lnTo>
                  <a:pt x="0" y="0"/>
                </a:lnTo>
                <a:close/>
              </a:path>
            </a:pathLst>
          </a:custGeom>
          <a:solidFill>
            <a:srgbClr val="FFED00"/>
          </a:solidFill>
        </p:spPr>
        <p:txBody>
          <a:bodyPr wrap="square" lIns="0" tIns="0" rIns="0" bIns="0" rtlCol="0"/>
          <a:lstStyle/>
          <a:p>
            <a:endParaRPr/>
          </a:p>
        </p:txBody>
      </p:sp>
      <p:sp>
        <p:nvSpPr>
          <p:cNvPr id="5" name="object 5"/>
          <p:cNvSpPr/>
          <p:nvPr/>
        </p:nvSpPr>
        <p:spPr>
          <a:xfrm>
            <a:off x="891844" y="2578290"/>
            <a:ext cx="6069330" cy="282575"/>
          </a:xfrm>
          <a:custGeom>
            <a:avLst/>
            <a:gdLst/>
            <a:ahLst/>
            <a:cxnLst/>
            <a:rect l="l" t="t" r="r" b="b"/>
            <a:pathLst>
              <a:path w="6069330" h="282575">
                <a:moveTo>
                  <a:pt x="0" y="0"/>
                </a:moveTo>
                <a:lnTo>
                  <a:pt x="6068999" y="0"/>
                </a:lnTo>
                <a:lnTo>
                  <a:pt x="6068999" y="282384"/>
                </a:lnTo>
                <a:lnTo>
                  <a:pt x="0" y="282384"/>
                </a:lnTo>
                <a:lnTo>
                  <a:pt x="0" y="0"/>
                </a:lnTo>
                <a:close/>
              </a:path>
            </a:pathLst>
          </a:custGeom>
          <a:solidFill>
            <a:srgbClr val="FFED00"/>
          </a:solidFill>
        </p:spPr>
        <p:txBody>
          <a:bodyPr wrap="square" lIns="0" tIns="0" rIns="0" bIns="0" rtlCol="0"/>
          <a:lstStyle/>
          <a:p>
            <a:endParaRPr/>
          </a:p>
        </p:txBody>
      </p:sp>
      <p:sp>
        <p:nvSpPr>
          <p:cNvPr id="6" name="object 6"/>
          <p:cNvSpPr/>
          <p:nvPr/>
        </p:nvSpPr>
        <p:spPr>
          <a:xfrm>
            <a:off x="891844" y="2139378"/>
            <a:ext cx="6914515" cy="350520"/>
          </a:xfrm>
          <a:custGeom>
            <a:avLst/>
            <a:gdLst/>
            <a:ahLst/>
            <a:cxnLst/>
            <a:rect l="l" t="t" r="r" b="b"/>
            <a:pathLst>
              <a:path w="6914515" h="350519">
                <a:moveTo>
                  <a:pt x="0" y="0"/>
                </a:moveTo>
                <a:lnTo>
                  <a:pt x="6914184" y="0"/>
                </a:lnTo>
                <a:lnTo>
                  <a:pt x="6914184" y="350342"/>
                </a:lnTo>
                <a:lnTo>
                  <a:pt x="0" y="350342"/>
                </a:lnTo>
                <a:lnTo>
                  <a:pt x="0" y="0"/>
                </a:lnTo>
                <a:close/>
              </a:path>
            </a:pathLst>
          </a:custGeom>
          <a:solidFill>
            <a:srgbClr val="FFED00"/>
          </a:solidFill>
        </p:spPr>
        <p:txBody>
          <a:bodyPr wrap="square" lIns="0" tIns="0" rIns="0" bIns="0" rtlCol="0"/>
          <a:lstStyle/>
          <a:p>
            <a:endParaRPr/>
          </a:p>
        </p:txBody>
      </p:sp>
      <p:sp>
        <p:nvSpPr>
          <p:cNvPr id="7" name="object 7"/>
          <p:cNvSpPr/>
          <p:nvPr/>
        </p:nvSpPr>
        <p:spPr>
          <a:xfrm>
            <a:off x="911656" y="1679511"/>
            <a:ext cx="6306820" cy="371475"/>
          </a:xfrm>
          <a:custGeom>
            <a:avLst/>
            <a:gdLst/>
            <a:ahLst/>
            <a:cxnLst/>
            <a:rect l="l" t="t" r="r" b="b"/>
            <a:pathLst>
              <a:path w="6306820" h="371475">
                <a:moveTo>
                  <a:pt x="0" y="0"/>
                </a:moveTo>
                <a:lnTo>
                  <a:pt x="6306502" y="0"/>
                </a:lnTo>
                <a:lnTo>
                  <a:pt x="6306502" y="370966"/>
                </a:lnTo>
                <a:lnTo>
                  <a:pt x="0" y="370966"/>
                </a:lnTo>
                <a:lnTo>
                  <a:pt x="0" y="0"/>
                </a:lnTo>
                <a:close/>
              </a:path>
            </a:pathLst>
          </a:custGeom>
          <a:solidFill>
            <a:srgbClr val="FFED00"/>
          </a:solidFill>
        </p:spPr>
        <p:txBody>
          <a:bodyPr wrap="square" lIns="0" tIns="0" rIns="0" bIns="0" rtlCol="0"/>
          <a:lstStyle/>
          <a:p>
            <a:endParaRPr/>
          </a:p>
        </p:txBody>
      </p:sp>
      <p:sp>
        <p:nvSpPr>
          <p:cNvPr id="8" name="object 8"/>
          <p:cNvSpPr txBox="1">
            <a:spLocks noGrp="1"/>
          </p:cNvSpPr>
          <p:nvPr>
            <p:ph type="title"/>
          </p:nvPr>
        </p:nvSpPr>
        <p:spPr>
          <a:xfrm>
            <a:off x="1434464" y="192150"/>
            <a:ext cx="6271895" cy="1244600"/>
          </a:xfrm>
          <a:prstGeom prst="rect">
            <a:avLst/>
          </a:prstGeom>
        </p:spPr>
        <p:txBody>
          <a:bodyPr vert="horz" wrap="square" lIns="0" tIns="12065" rIns="0" bIns="0" rtlCol="0">
            <a:spAutoFit/>
          </a:bodyPr>
          <a:lstStyle/>
          <a:p>
            <a:pPr marL="12700" marR="5080" indent="202565">
              <a:lnSpc>
                <a:spcPct val="100000"/>
              </a:lnSpc>
              <a:spcBef>
                <a:spcPts val="95"/>
              </a:spcBef>
              <a:tabLst>
                <a:tab pos="5650230" algn="l"/>
              </a:tabLst>
            </a:pPr>
            <a:r>
              <a:rPr i="0" spc="-5" dirty="0">
                <a:latin typeface="Calibri"/>
                <a:cs typeface="Calibri"/>
              </a:rPr>
              <a:t>2.</a:t>
            </a:r>
            <a:r>
              <a:rPr i="0" spc="-10" dirty="0">
                <a:latin typeface="Calibri"/>
                <a:cs typeface="Calibri"/>
              </a:rPr>
              <a:t> </a:t>
            </a:r>
            <a:r>
              <a:rPr spc="-20" dirty="0"/>
              <a:t>Trichomonas</a:t>
            </a:r>
            <a:r>
              <a:rPr spc="45" dirty="0"/>
              <a:t> </a:t>
            </a:r>
            <a:r>
              <a:rPr spc="-5" dirty="0"/>
              <a:t>vaginalis	</a:t>
            </a:r>
            <a:r>
              <a:rPr i="0" spc="-5" dirty="0">
                <a:latin typeface="Calibri"/>
                <a:cs typeface="Calibri"/>
              </a:rPr>
              <a:t>(a  </a:t>
            </a:r>
            <a:r>
              <a:rPr i="0" spc="-20" dirty="0">
                <a:latin typeface="Calibri"/>
                <a:cs typeface="Calibri"/>
              </a:rPr>
              <a:t>Urogenital flagellate</a:t>
            </a:r>
            <a:r>
              <a:rPr i="0" spc="25" dirty="0">
                <a:latin typeface="Calibri"/>
                <a:cs typeface="Calibri"/>
              </a:rPr>
              <a:t> </a:t>
            </a:r>
            <a:r>
              <a:rPr i="0" spc="-20" dirty="0">
                <a:latin typeface="Calibri"/>
                <a:cs typeface="Calibri"/>
              </a:rPr>
              <a:t>parasite)</a:t>
            </a:r>
          </a:p>
        </p:txBody>
      </p:sp>
      <p:sp>
        <p:nvSpPr>
          <p:cNvPr id="9" name="object 9"/>
          <p:cNvSpPr txBox="1"/>
          <p:nvPr/>
        </p:nvSpPr>
        <p:spPr>
          <a:xfrm>
            <a:off x="535940" y="1558493"/>
            <a:ext cx="7915909" cy="4416425"/>
          </a:xfrm>
          <a:prstGeom prst="rect">
            <a:avLst/>
          </a:prstGeom>
        </p:spPr>
        <p:txBody>
          <a:bodyPr vert="horz" wrap="square" lIns="0" tIns="62230" rIns="0" bIns="0" rtlCol="0">
            <a:spAutoFit/>
          </a:bodyPr>
          <a:lstStyle/>
          <a:p>
            <a:pPr marL="355600" marR="640080" indent="-343535">
              <a:lnSpc>
                <a:spcPct val="90000"/>
              </a:lnSpc>
              <a:spcBef>
                <a:spcPts val="490"/>
              </a:spcBef>
              <a:buSzPct val="96875"/>
              <a:buFont typeface="Wingdings"/>
              <a:buChar char=""/>
              <a:tabLst>
                <a:tab pos="376555" algn="l"/>
              </a:tabLst>
            </a:pPr>
            <a:r>
              <a:rPr sz="3200" spc="-5" dirty="0">
                <a:latin typeface="Calibri"/>
                <a:cs typeface="Calibri"/>
              </a:rPr>
              <a:t>This </a:t>
            </a:r>
            <a:r>
              <a:rPr sz="3200" spc="-10" dirty="0">
                <a:latin typeface="Calibri"/>
                <a:cs typeface="Calibri"/>
              </a:rPr>
              <a:t>flagellated </a:t>
            </a:r>
            <a:r>
              <a:rPr sz="3200" spc="-25" dirty="0">
                <a:latin typeface="Calibri"/>
                <a:cs typeface="Calibri"/>
              </a:rPr>
              <a:t>protozoan </a:t>
            </a:r>
            <a:r>
              <a:rPr sz="3200" spc="-15" dirty="0">
                <a:latin typeface="Calibri"/>
                <a:cs typeface="Calibri"/>
              </a:rPr>
              <a:t>parasite </a:t>
            </a:r>
            <a:r>
              <a:rPr sz="3200" dirty="0">
                <a:latin typeface="Calibri"/>
                <a:cs typeface="Calibri"/>
              </a:rPr>
              <a:t>is a  </a:t>
            </a:r>
            <a:r>
              <a:rPr sz="3200" spc="-10" dirty="0">
                <a:latin typeface="Calibri"/>
                <a:cs typeface="Calibri"/>
              </a:rPr>
              <a:t>common </a:t>
            </a:r>
            <a:r>
              <a:rPr sz="3200" spc="-5" dirty="0">
                <a:latin typeface="Calibri"/>
                <a:cs typeface="Calibri"/>
              </a:rPr>
              <a:t>cause of </a:t>
            </a:r>
            <a:r>
              <a:rPr sz="3200" spc="-10" dirty="0">
                <a:latin typeface="Calibri"/>
                <a:cs typeface="Calibri"/>
              </a:rPr>
              <a:t>vaginitis </a:t>
            </a:r>
            <a:r>
              <a:rPr sz="3200" dirty="0">
                <a:latin typeface="Calibri"/>
                <a:cs typeface="Calibri"/>
              </a:rPr>
              <a:t>in </a:t>
            </a:r>
            <a:r>
              <a:rPr sz="3200" spc="-10" dirty="0">
                <a:latin typeface="Calibri"/>
                <a:cs typeface="Calibri"/>
              </a:rPr>
              <a:t>women. </a:t>
            </a:r>
            <a:r>
              <a:rPr sz="3200" spc="-5" dirty="0">
                <a:latin typeface="Calibri"/>
                <a:cs typeface="Calibri"/>
              </a:rPr>
              <a:t>The  </a:t>
            </a:r>
            <a:r>
              <a:rPr sz="3200" spc="-15" dirty="0">
                <a:latin typeface="Calibri"/>
                <a:cs typeface="Calibri"/>
              </a:rPr>
              <a:t>infection </a:t>
            </a:r>
            <a:r>
              <a:rPr sz="3200" dirty="0">
                <a:latin typeface="Calibri"/>
                <a:cs typeface="Calibri"/>
              </a:rPr>
              <a:t>is known as</a:t>
            </a:r>
            <a:r>
              <a:rPr sz="3200" spc="-10" dirty="0">
                <a:latin typeface="Calibri"/>
                <a:cs typeface="Calibri"/>
              </a:rPr>
              <a:t> </a:t>
            </a:r>
            <a:r>
              <a:rPr sz="3200" b="1" spc="-15" dirty="0">
                <a:latin typeface="Calibri"/>
                <a:cs typeface="Calibri"/>
              </a:rPr>
              <a:t>Trichomoniasis</a:t>
            </a:r>
            <a:r>
              <a:rPr sz="3200" spc="-15" dirty="0">
                <a:latin typeface="Calibri"/>
                <a:cs typeface="Calibri"/>
              </a:rPr>
              <a:t>.</a:t>
            </a:r>
            <a:endParaRPr sz="3200">
              <a:latin typeface="Calibri"/>
              <a:cs typeface="Calibri"/>
            </a:endParaRPr>
          </a:p>
          <a:p>
            <a:pPr marL="3027680">
              <a:lnSpc>
                <a:spcPct val="100000"/>
              </a:lnSpc>
              <a:spcBef>
                <a:spcPts val="384"/>
              </a:spcBef>
            </a:pPr>
            <a:r>
              <a:rPr sz="3200" b="1" spc="-5" dirty="0">
                <a:latin typeface="Calibri"/>
                <a:cs typeface="Calibri"/>
              </a:rPr>
              <a:t>Distribution</a:t>
            </a:r>
            <a:endParaRPr sz="3200">
              <a:latin typeface="Calibri"/>
              <a:cs typeface="Calibri"/>
            </a:endParaRPr>
          </a:p>
          <a:p>
            <a:pPr marL="375920" indent="-363855">
              <a:lnSpc>
                <a:spcPct val="100000"/>
              </a:lnSpc>
              <a:spcBef>
                <a:spcPts val="385"/>
              </a:spcBef>
              <a:buSzPct val="96875"/>
              <a:buFont typeface="Wingdings"/>
              <a:buChar char=""/>
              <a:tabLst>
                <a:tab pos="376555" algn="l"/>
              </a:tabLst>
            </a:pPr>
            <a:r>
              <a:rPr sz="3200" spc="-20" dirty="0">
                <a:latin typeface="Calibri"/>
                <a:cs typeface="Calibri"/>
              </a:rPr>
              <a:t>Worldwide </a:t>
            </a:r>
            <a:r>
              <a:rPr sz="3200" spc="-5" dirty="0">
                <a:latin typeface="Calibri"/>
                <a:cs typeface="Calibri"/>
              </a:rPr>
              <a:t>but </a:t>
            </a:r>
            <a:r>
              <a:rPr sz="3200" dirty="0">
                <a:latin typeface="Calibri"/>
                <a:cs typeface="Calibri"/>
              </a:rPr>
              <a:t>especially in the</a:t>
            </a:r>
            <a:r>
              <a:rPr sz="3200" spc="10" dirty="0">
                <a:latin typeface="Calibri"/>
                <a:cs typeface="Calibri"/>
              </a:rPr>
              <a:t> </a:t>
            </a:r>
            <a:r>
              <a:rPr sz="3200" spc="-10" dirty="0">
                <a:latin typeface="Calibri"/>
                <a:cs typeface="Calibri"/>
              </a:rPr>
              <a:t>tropics</a:t>
            </a:r>
            <a:endParaRPr sz="3200">
              <a:latin typeface="Calibri"/>
              <a:cs typeface="Calibri"/>
            </a:endParaRPr>
          </a:p>
          <a:p>
            <a:pPr marL="2939415">
              <a:lnSpc>
                <a:spcPct val="100000"/>
              </a:lnSpc>
              <a:spcBef>
                <a:spcPts val="384"/>
              </a:spcBef>
            </a:pPr>
            <a:r>
              <a:rPr sz="3200" b="1" spc="-20" dirty="0">
                <a:latin typeface="Calibri"/>
                <a:cs typeface="Calibri"/>
              </a:rPr>
              <a:t>Transmission</a:t>
            </a:r>
            <a:endParaRPr sz="3200">
              <a:latin typeface="Calibri"/>
              <a:cs typeface="Calibri"/>
            </a:endParaRPr>
          </a:p>
          <a:p>
            <a:pPr marL="355600" marR="5080" indent="-343535">
              <a:lnSpc>
                <a:spcPct val="90000"/>
              </a:lnSpc>
              <a:spcBef>
                <a:spcPts val="765"/>
              </a:spcBef>
              <a:buSzPct val="96875"/>
              <a:buFont typeface="Wingdings"/>
              <a:buChar char=""/>
              <a:tabLst>
                <a:tab pos="376555" algn="l"/>
              </a:tabLst>
            </a:pPr>
            <a:r>
              <a:rPr sz="3200" dirty="0">
                <a:latin typeface="Calibri"/>
                <a:cs typeface="Calibri"/>
              </a:rPr>
              <a:t>It is </a:t>
            </a:r>
            <a:r>
              <a:rPr sz="3200" spc="-15" dirty="0">
                <a:latin typeface="Calibri"/>
                <a:cs typeface="Calibri"/>
              </a:rPr>
              <a:t>sexually transmitted, </a:t>
            </a:r>
            <a:r>
              <a:rPr sz="3200" dirty="0">
                <a:latin typeface="Calibri"/>
                <a:cs typeface="Calibri"/>
              </a:rPr>
              <a:t>the </a:t>
            </a:r>
            <a:r>
              <a:rPr sz="3200" spc="-10" dirty="0">
                <a:latin typeface="Calibri"/>
                <a:cs typeface="Calibri"/>
              </a:rPr>
              <a:t>flagellates </a:t>
            </a:r>
            <a:r>
              <a:rPr sz="3200" spc="-5" dirty="0">
                <a:latin typeface="Calibri"/>
                <a:cs typeface="Calibri"/>
              </a:rPr>
              <a:t>being  </a:t>
            </a:r>
            <a:r>
              <a:rPr sz="3200" dirty="0">
                <a:latin typeface="Calibri"/>
                <a:cs typeface="Calibri"/>
              </a:rPr>
              <a:t>the </a:t>
            </a:r>
            <a:r>
              <a:rPr sz="3200" spc="-20" dirty="0">
                <a:latin typeface="Calibri"/>
                <a:cs typeface="Calibri"/>
              </a:rPr>
              <a:t>infective form; </a:t>
            </a:r>
            <a:r>
              <a:rPr sz="3200" spc="-10" dirty="0">
                <a:latin typeface="Calibri"/>
                <a:cs typeface="Calibri"/>
              </a:rPr>
              <a:t>there </a:t>
            </a:r>
            <a:r>
              <a:rPr sz="3200" dirty="0">
                <a:latin typeface="Calibri"/>
                <a:cs typeface="Calibri"/>
              </a:rPr>
              <a:t>is </a:t>
            </a:r>
            <a:r>
              <a:rPr sz="3200" spc="-5" dirty="0">
                <a:latin typeface="Calibri"/>
                <a:cs typeface="Calibri"/>
              </a:rPr>
              <a:t>no known </a:t>
            </a:r>
            <a:r>
              <a:rPr sz="3200" spc="-20" dirty="0">
                <a:latin typeface="Calibri"/>
                <a:cs typeface="Calibri"/>
              </a:rPr>
              <a:t>cyst  stage.</a:t>
            </a:r>
            <a:endParaRPr sz="3200">
              <a:latin typeface="Calibri"/>
              <a:cs typeface="Calibri"/>
            </a:endParaRPr>
          </a:p>
        </p:txBody>
      </p:sp>
    </p:spTree>
    <p:extLst>
      <p:ext uri="{BB962C8B-B14F-4D97-AF65-F5344CB8AC3E}">
        <p14:creationId xmlns:p14="http://schemas.microsoft.com/office/powerpoint/2010/main" val="236034032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2611247"/>
            <a:ext cx="724535" cy="264160"/>
          </a:xfrm>
          <a:custGeom>
            <a:avLst/>
            <a:gdLst/>
            <a:ahLst/>
            <a:cxnLst/>
            <a:rect l="l" t="t" r="r" b="b"/>
            <a:pathLst>
              <a:path w="724535" h="264160">
                <a:moveTo>
                  <a:pt x="0" y="0"/>
                </a:moveTo>
                <a:lnTo>
                  <a:pt x="724281" y="0"/>
                </a:lnTo>
                <a:lnTo>
                  <a:pt x="724281" y="263651"/>
                </a:lnTo>
                <a:lnTo>
                  <a:pt x="0" y="263651"/>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3203752" y="2180717"/>
            <a:ext cx="5184775" cy="347345"/>
          </a:xfrm>
          <a:custGeom>
            <a:avLst/>
            <a:gdLst/>
            <a:ahLst/>
            <a:cxnLst/>
            <a:rect l="l" t="t" r="r" b="b"/>
            <a:pathLst>
              <a:path w="5184775" h="347344">
                <a:moveTo>
                  <a:pt x="0" y="0"/>
                </a:moveTo>
                <a:lnTo>
                  <a:pt x="5184267" y="0"/>
                </a:lnTo>
                <a:lnTo>
                  <a:pt x="5184267" y="347091"/>
                </a:lnTo>
                <a:lnTo>
                  <a:pt x="0" y="347091"/>
                </a:lnTo>
                <a:lnTo>
                  <a:pt x="0" y="0"/>
                </a:lnTo>
                <a:close/>
              </a:path>
            </a:pathLst>
          </a:custGeom>
          <a:solidFill>
            <a:srgbClr val="FFED00"/>
          </a:solidFill>
        </p:spPr>
        <p:txBody>
          <a:bodyPr wrap="square" lIns="0" tIns="0" rIns="0" bIns="0" rtlCol="0"/>
          <a:lstStyle/>
          <a:p>
            <a:endParaRPr/>
          </a:p>
        </p:txBody>
      </p:sp>
      <p:graphicFrame>
        <p:nvGraphicFramePr>
          <p:cNvPr id="4" name="object 4"/>
          <p:cNvGraphicFramePr>
            <a:graphicFrameLocks noGrp="1"/>
          </p:cNvGraphicFramePr>
          <p:nvPr/>
        </p:nvGraphicFramePr>
        <p:xfrm>
          <a:off x="891844" y="3095117"/>
          <a:ext cx="7677150" cy="1581785"/>
        </p:xfrm>
        <a:graphic>
          <a:graphicData uri="http://schemas.openxmlformats.org/drawingml/2006/table">
            <a:tbl>
              <a:tblPr firstRow="1" bandRow="1">
                <a:tableStyleId>{2D5ABB26-0587-4C30-8999-92F81FD0307C}</a:tableStyleId>
              </a:tblPr>
              <a:tblGrid>
                <a:gridCol w="2757805">
                  <a:extLst>
                    <a:ext uri="{9D8B030D-6E8A-4147-A177-3AD203B41FA5}">
                      <a16:colId xmlns:a16="http://schemas.microsoft.com/office/drawing/2014/main" val="20000"/>
                    </a:ext>
                  </a:extLst>
                </a:gridCol>
                <a:gridCol w="4471670">
                  <a:extLst>
                    <a:ext uri="{9D8B030D-6E8A-4147-A177-3AD203B41FA5}">
                      <a16:colId xmlns:a16="http://schemas.microsoft.com/office/drawing/2014/main" val="20001"/>
                    </a:ext>
                  </a:extLst>
                </a:gridCol>
                <a:gridCol w="346075">
                  <a:extLst>
                    <a:ext uri="{9D8B030D-6E8A-4147-A177-3AD203B41FA5}">
                      <a16:colId xmlns:a16="http://schemas.microsoft.com/office/drawing/2014/main" val="20002"/>
                    </a:ext>
                  </a:extLst>
                </a:gridCol>
                <a:gridCol w="100965">
                  <a:extLst>
                    <a:ext uri="{9D8B030D-6E8A-4147-A177-3AD203B41FA5}">
                      <a16:colId xmlns:a16="http://schemas.microsoft.com/office/drawing/2014/main" val="20003"/>
                    </a:ext>
                  </a:extLst>
                </a:gridCol>
              </a:tblGrid>
              <a:tr h="388708">
                <a:tc>
                  <a:txBody>
                    <a:bodyPr/>
                    <a:lstStyle/>
                    <a:p>
                      <a:pPr marL="3175" algn="ctr">
                        <a:lnSpc>
                          <a:spcPts val="2800"/>
                        </a:lnSpc>
                      </a:pPr>
                      <a:r>
                        <a:rPr sz="3000" dirty="0">
                          <a:latin typeface="Calibri"/>
                          <a:cs typeface="Calibri"/>
                        </a:rPr>
                        <a:t>In</a:t>
                      </a:r>
                      <a:r>
                        <a:rPr sz="3000" spc="-40" dirty="0">
                          <a:latin typeface="Calibri"/>
                          <a:cs typeface="Calibri"/>
                        </a:rPr>
                        <a:t> </a:t>
                      </a:r>
                      <a:r>
                        <a:rPr sz="3000" spc="-20" dirty="0">
                          <a:latin typeface="Calibri"/>
                          <a:cs typeface="Calibri"/>
                        </a:rPr>
                        <a:t>approximately</a:t>
                      </a:r>
                      <a:endParaRPr sz="3000">
                        <a:latin typeface="Calibri"/>
                        <a:cs typeface="Calibri"/>
                      </a:endParaRPr>
                    </a:p>
                  </a:txBody>
                  <a:tcPr marL="0" marR="0" marT="0" marB="0">
                    <a:lnB w="83235">
                      <a:solidFill>
                        <a:srgbClr val="FFFFFF"/>
                      </a:solidFill>
                      <a:prstDash val="solid"/>
                    </a:lnB>
                  </a:tcPr>
                </a:tc>
                <a:tc gridSpan="3">
                  <a:txBody>
                    <a:bodyPr/>
                    <a:lstStyle/>
                    <a:p>
                      <a:pPr marL="5715">
                        <a:lnSpc>
                          <a:spcPts val="2800"/>
                        </a:lnSpc>
                      </a:pPr>
                      <a:r>
                        <a:rPr sz="3000" dirty="0">
                          <a:latin typeface="Calibri"/>
                          <a:cs typeface="Calibri"/>
                        </a:rPr>
                        <a:t>40% </a:t>
                      </a:r>
                      <a:r>
                        <a:rPr sz="3000" spc="-5" dirty="0">
                          <a:latin typeface="Calibri"/>
                          <a:cs typeface="Calibri"/>
                        </a:rPr>
                        <a:t>of </a:t>
                      </a:r>
                      <a:r>
                        <a:rPr sz="3000" spc="-20" dirty="0">
                          <a:latin typeface="Calibri"/>
                          <a:cs typeface="Calibri"/>
                        </a:rPr>
                        <a:t>infected </a:t>
                      </a:r>
                      <a:r>
                        <a:rPr sz="3000" spc="-10" dirty="0">
                          <a:latin typeface="Calibri"/>
                          <a:cs typeface="Calibri"/>
                        </a:rPr>
                        <a:t>women there</a:t>
                      </a:r>
                      <a:r>
                        <a:rPr sz="3000" spc="-60" dirty="0">
                          <a:latin typeface="Calibri"/>
                          <a:cs typeface="Calibri"/>
                        </a:rPr>
                        <a:t> </a:t>
                      </a:r>
                      <a:r>
                        <a:rPr sz="3000" dirty="0">
                          <a:latin typeface="Calibri"/>
                          <a:cs typeface="Calibri"/>
                        </a:rPr>
                        <a:t>is</a:t>
                      </a:r>
                      <a:endParaRPr sz="3000">
                        <a:latin typeface="Calibri"/>
                        <a:cs typeface="Calibri"/>
                      </a:endParaRPr>
                    </a:p>
                  </a:txBody>
                  <a:tcPr marL="0" marR="0" marT="0" marB="0">
                    <a:lnB w="83235">
                      <a:solidFill>
                        <a:srgbClr val="FFFFFF"/>
                      </a:solidFill>
                      <a:prstDash val="solid"/>
                    </a:lnB>
                    <a:solidFill>
                      <a:srgbClr val="FFED00">
                        <a:alpha val="50000"/>
                      </a:srgbClr>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412495">
                <a:tc gridSpan="3">
                  <a:txBody>
                    <a:bodyPr/>
                    <a:lstStyle/>
                    <a:p>
                      <a:pPr>
                        <a:lnSpc>
                          <a:spcPts val="2980"/>
                        </a:lnSpc>
                      </a:pPr>
                      <a:r>
                        <a:rPr sz="3000" spc="-10" dirty="0">
                          <a:latin typeface="Calibri"/>
                          <a:cs typeface="Calibri"/>
                        </a:rPr>
                        <a:t>acute </a:t>
                      </a:r>
                      <a:r>
                        <a:rPr sz="3000" spc="-5" dirty="0">
                          <a:latin typeface="Calibri"/>
                          <a:cs typeface="Calibri"/>
                        </a:rPr>
                        <a:t>inflammation of </a:t>
                      </a:r>
                      <a:r>
                        <a:rPr sz="3000" dirty="0">
                          <a:latin typeface="Calibri"/>
                          <a:cs typeface="Calibri"/>
                        </a:rPr>
                        <a:t>the </a:t>
                      </a:r>
                      <a:r>
                        <a:rPr sz="3000" spc="-10" dirty="0">
                          <a:latin typeface="Calibri"/>
                          <a:cs typeface="Calibri"/>
                        </a:rPr>
                        <a:t>vagina; </a:t>
                      </a:r>
                      <a:r>
                        <a:rPr sz="3000" dirty="0">
                          <a:latin typeface="Calibri"/>
                          <a:cs typeface="Calibri"/>
                        </a:rPr>
                        <a:t>a</a:t>
                      </a:r>
                      <a:r>
                        <a:rPr sz="3000" spc="-80" dirty="0">
                          <a:latin typeface="Calibri"/>
                          <a:cs typeface="Calibri"/>
                        </a:rPr>
                        <a:t> </a:t>
                      </a:r>
                      <a:r>
                        <a:rPr sz="3000" spc="-10" dirty="0">
                          <a:latin typeface="Calibri"/>
                          <a:cs typeface="Calibri"/>
                        </a:rPr>
                        <a:t>yellow-green</a:t>
                      </a:r>
                      <a:endParaRPr sz="3000">
                        <a:latin typeface="Calibri"/>
                        <a:cs typeface="Calibri"/>
                      </a:endParaRPr>
                    </a:p>
                  </a:txBody>
                  <a:tcPr marL="0" marR="0" marT="0" marB="0">
                    <a:lnT w="83235">
                      <a:solidFill>
                        <a:srgbClr val="FFFFFF"/>
                      </a:solidFill>
                      <a:prstDash val="solid"/>
                    </a:lnT>
                    <a:lnB w="85166">
                      <a:solidFill>
                        <a:srgbClr val="FFFFFF"/>
                      </a:solidFill>
                      <a:prstDash val="solid"/>
                    </a:lnB>
                    <a:solidFill>
                      <a:srgbClr val="FFED00">
                        <a:alpha val="50000"/>
                      </a:srgbClr>
                    </a:solidFill>
                  </a:tcPr>
                </a:tc>
                <a:tc hMerge="1">
                  <a:txBody>
                    <a:bodyPr/>
                    <a:lstStyle/>
                    <a:p>
                      <a:endParaRPr/>
                    </a:p>
                  </a:txBody>
                  <a:tcPr marL="0" marR="0" marT="0" marB="0"/>
                </a:tc>
                <a:tc hMerge="1">
                  <a:txBody>
                    <a:bodyPr/>
                    <a:lstStyle/>
                    <a:p>
                      <a:endParaRPr/>
                    </a:p>
                  </a:txBody>
                  <a:tcPr marL="0" marR="0" marT="0" marB="0"/>
                </a:tc>
                <a:tc>
                  <a:txBody>
                    <a:bodyPr/>
                    <a:lstStyle/>
                    <a:p>
                      <a:pPr marR="3175">
                        <a:lnSpc>
                          <a:spcPct val="100000"/>
                        </a:lnSpc>
                      </a:pPr>
                      <a:endParaRPr sz="2600">
                        <a:latin typeface="Times New Roman"/>
                        <a:cs typeface="Times New Roman"/>
                      </a:endParaRPr>
                    </a:p>
                  </a:txBody>
                  <a:tcPr marL="0" marR="0" marT="0" marB="0">
                    <a:lnT w="83235">
                      <a:solidFill>
                        <a:srgbClr val="FFFFFF"/>
                      </a:solidFill>
                      <a:prstDash val="solid"/>
                    </a:lnT>
                    <a:lnB w="85166">
                      <a:solidFill>
                        <a:srgbClr val="FFFFFF"/>
                      </a:solidFill>
                      <a:prstDash val="solid"/>
                    </a:lnB>
                  </a:tcPr>
                </a:tc>
                <a:extLst>
                  <a:ext uri="{0D108BD9-81ED-4DB2-BD59-A6C34878D82A}">
                    <a16:rowId xmlns:a16="http://schemas.microsoft.com/office/drawing/2014/main" val="10001"/>
                  </a:ext>
                </a:extLst>
              </a:tr>
              <a:tr h="410819">
                <a:tc gridSpan="2">
                  <a:txBody>
                    <a:bodyPr/>
                    <a:lstStyle/>
                    <a:p>
                      <a:pPr>
                        <a:lnSpc>
                          <a:spcPts val="2975"/>
                        </a:lnSpc>
                      </a:pPr>
                      <a:r>
                        <a:rPr sz="3000" spc="-10" dirty="0">
                          <a:latin typeface="Calibri"/>
                          <a:cs typeface="Calibri"/>
                        </a:rPr>
                        <a:t>purulent discharge, </a:t>
                      </a:r>
                      <a:r>
                        <a:rPr sz="3000" spc="-5" dirty="0">
                          <a:latin typeface="Calibri"/>
                          <a:cs typeface="Calibri"/>
                        </a:rPr>
                        <a:t>sometime accompanied</a:t>
                      </a:r>
                      <a:r>
                        <a:rPr sz="3000" spc="-120" dirty="0">
                          <a:latin typeface="Calibri"/>
                          <a:cs typeface="Calibri"/>
                        </a:rPr>
                        <a:t> </a:t>
                      </a:r>
                      <a:r>
                        <a:rPr sz="3000" spc="-10" dirty="0">
                          <a:latin typeface="Calibri"/>
                          <a:cs typeface="Calibri"/>
                        </a:rPr>
                        <a:t>by</a:t>
                      </a:r>
                      <a:endParaRPr sz="3000">
                        <a:latin typeface="Calibri"/>
                        <a:cs typeface="Calibri"/>
                      </a:endParaRPr>
                    </a:p>
                  </a:txBody>
                  <a:tcPr marL="0" marR="0" marT="0" marB="0">
                    <a:lnT w="85166">
                      <a:solidFill>
                        <a:srgbClr val="FFFFFF"/>
                      </a:solidFill>
                      <a:prstDash val="solid"/>
                    </a:lnT>
                    <a:lnB w="83438">
                      <a:solidFill>
                        <a:srgbClr val="FFFFFF"/>
                      </a:solidFill>
                      <a:prstDash val="solid"/>
                    </a:lnB>
                    <a:solidFill>
                      <a:srgbClr val="FFED00">
                        <a:alpha val="50000"/>
                      </a:srgbClr>
                    </a:solidFill>
                  </a:tcPr>
                </a:tc>
                <a:tc hMerge="1">
                  <a:txBody>
                    <a:bodyPr/>
                    <a:lstStyle/>
                    <a:p>
                      <a:endParaRPr/>
                    </a:p>
                  </a:txBody>
                  <a:tcPr marL="0" marR="0" marT="0" marB="0"/>
                </a:tc>
                <a:tc gridSpan="2">
                  <a:txBody>
                    <a:bodyPr/>
                    <a:lstStyle/>
                    <a:p>
                      <a:pPr marR="3175">
                        <a:lnSpc>
                          <a:spcPct val="100000"/>
                        </a:lnSpc>
                      </a:pPr>
                      <a:endParaRPr sz="2600">
                        <a:latin typeface="Times New Roman"/>
                        <a:cs typeface="Times New Roman"/>
                      </a:endParaRPr>
                    </a:p>
                  </a:txBody>
                  <a:tcPr marL="0" marR="0" marT="0" marB="0">
                    <a:lnT w="85166">
                      <a:solidFill>
                        <a:srgbClr val="FFFFFF"/>
                      </a:solidFill>
                      <a:prstDash val="solid"/>
                    </a:lnT>
                    <a:lnB w="83438">
                      <a:solidFill>
                        <a:srgbClr val="FFFFFF"/>
                      </a:solidFill>
                      <a:prstDash val="solid"/>
                    </a:lnB>
                  </a:tcPr>
                </a:tc>
                <a:tc hMerge="1">
                  <a:txBody>
                    <a:bodyPr/>
                    <a:lstStyle/>
                    <a:p>
                      <a:endParaRPr/>
                    </a:p>
                  </a:txBody>
                  <a:tcPr marL="0" marR="0" marT="0" marB="0"/>
                </a:tc>
                <a:extLst>
                  <a:ext uri="{0D108BD9-81ED-4DB2-BD59-A6C34878D82A}">
                    <a16:rowId xmlns:a16="http://schemas.microsoft.com/office/drawing/2014/main" val="10002"/>
                  </a:ext>
                </a:extLst>
              </a:tr>
              <a:tr h="369760">
                <a:tc>
                  <a:txBody>
                    <a:bodyPr/>
                    <a:lstStyle/>
                    <a:p>
                      <a:pPr marR="24765" algn="ctr">
                        <a:lnSpc>
                          <a:spcPts val="2810"/>
                        </a:lnSpc>
                      </a:pPr>
                      <a:r>
                        <a:rPr sz="3000" spc="-5" dirty="0">
                          <a:latin typeface="Calibri"/>
                          <a:cs typeface="Calibri"/>
                        </a:rPr>
                        <a:t>urinary</a:t>
                      </a:r>
                      <a:r>
                        <a:rPr sz="3000" spc="-50" dirty="0">
                          <a:latin typeface="Calibri"/>
                          <a:cs typeface="Calibri"/>
                        </a:rPr>
                        <a:t> </a:t>
                      </a:r>
                      <a:r>
                        <a:rPr sz="3000" spc="-35" dirty="0">
                          <a:latin typeface="Calibri"/>
                          <a:cs typeface="Calibri"/>
                        </a:rPr>
                        <a:t>frequency</a:t>
                      </a:r>
                      <a:endParaRPr sz="3000">
                        <a:latin typeface="Calibri"/>
                        <a:cs typeface="Calibri"/>
                      </a:endParaRPr>
                    </a:p>
                  </a:txBody>
                  <a:tcPr marL="0" marR="0" marT="0" marB="0">
                    <a:lnT w="83438">
                      <a:solidFill>
                        <a:srgbClr val="FFFFFF"/>
                      </a:solidFill>
                      <a:prstDash val="solid"/>
                    </a:lnT>
                    <a:solidFill>
                      <a:srgbClr val="FFED00">
                        <a:alpha val="50000"/>
                      </a:srgbClr>
                    </a:solidFill>
                  </a:tcPr>
                </a:tc>
                <a:tc gridSpan="3">
                  <a:txBody>
                    <a:bodyPr/>
                    <a:lstStyle/>
                    <a:p>
                      <a:pPr marR="3175">
                        <a:lnSpc>
                          <a:spcPts val="2810"/>
                        </a:lnSpc>
                      </a:pPr>
                      <a:r>
                        <a:rPr sz="3000" dirty="0">
                          <a:latin typeface="Calibri"/>
                          <a:cs typeface="Calibri"/>
                        </a:rPr>
                        <a:t>.</a:t>
                      </a:r>
                      <a:endParaRPr sz="3000">
                        <a:latin typeface="Calibri"/>
                        <a:cs typeface="Calibri"/>
                      </a:endParaRPr>
                    </a:p>
                  </a:txBody>
                  <a:tcPr marL="0" marR="0" marT="0" marB="0">
                    <a:lnT w="83438">
                      <a:solidFill>
                        <a:srgbClr val="FFFFFF"/>
                      </a:solidFill>
                      <a:prstDash val="solid"/>
                    </a:lnT>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sp>
        <p:nvSpPr>
          <p:cNvPr id="5" name="object 5"/>
          <p:cNvSpPr txBox="1">
            <a:spLocks noGrp="1"/>
          </p:cNvSpPr>
          <p:nvPr>
            <p:ph type="title"/>
          </p:nvPr>
        </p:nvSpPr>
        <p:spPr>
          <a:xfrm>
            <a:off x="917854" y="461899"/>
            <a:ext cx="730694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2. </a:t>
            </a:r>
            <a:r>
              <a:rPr sz="4400" spc="-15" dirty="0"/>
              <a:t>Trichomonas </a:t>
            </a:r>
            <a:r>
              <a:rPr sz="4400" spc="-5" dirty="0"/>
              <a:t>vaginalis</a:t>
            </a:r>
            <a:r>
              <a:rPr sz="4400" spc="-65" dirty="0"/>
              <a:t> </a:t>
            </a:r>
            <a:r>
              <a:rPr sz="4400" spc="-35" dirty="0"/>
              <a:t>cont’d</a:t>
            </a:r>
            <a:endParaRPr sz="4400">
              <a:latin typeface="Calibri"/>
              <a:cs typeface="Calibri"/>
            </a:endParaRPr>
          </a:p>
        </p:txBody>
      </p:sp>
      <p:sp>
        <p:nvSpPr>
          <p:cNvPr id="6" name="object 6"/>
          <p:cNvSpPr txBox="1"/>
          <p:nvPr/>
        </p:nvSpPr>
        <p:spPr>
          <a:xfrm>
            <a:off x="535940" y="1517269"/>
            <a:ext cx="7865109" cy="1946910"/>
          </a:xfrm>
          <a:prstGeom prst="rect">
            <a:avLst/>
          </a:prstGeom>
        </p:spPr>
        <p:txBody>
          <a:bodyPr vert="horz" wrap="square" lIns="0" tIns="58419" rIns="0" bIns="0" rtlCol="0">
            <a:spAutoFit/>
          </a:bodyPr>
          <a:lstStyle/>
          <a:p>
            <a:pPr marL="2030095">
              <a:lnSpc>
                <a:spcPct val="100000"/>
              </a:lnSpc>
              <a:spcBef>
                <a:spcPts val="459"/>
              </a:spcBef>
            </a:pPr>
            <a:r>
              <a:rPr sz="3000" b="1" spc="-15" dirty="0">
                <a:latin typeface="Calibri"/>
                <a:cs typeface="Calibri"/>
              </a:rPr>
              <a:t>Symptoms </a:t>
            </a:r>
            <a:r>
              <a:rPr sz="3000" b="1" dirty="0">
                <a:latin typeface="Calibri"/>
                <a:cs typeface="Calibri"/>
              </a:rPr>
              <a:t>and </a:t>
            </a:r>
            <a:r>
              <a:rPr sz="3000" b="1" spc="-15" dirty="0">
                <a:latin typeface="Calibri"/>
                <a:cs typeface="Calibri"/>
              </a:rPr>
              <a:t>Pathology</a:t>
            </a:r>
            <a:endParaRPr sz="3000">
              <a:latin typeface="Calibri"/>
              <a:cs typeface="Calibri"/>
            </a:endParaRPr>
          </a:p>
          <a:p>
            <a:pPr marL="355600" marR="5080" indent="-343535">
              <a:lnSpc>
                <a:spcPts val="3240"/>
              </a:lnSpc>
              <a:spcBef>
                <a:spcPts val="775"/>
              </a:spcBef>
              <a:buSzPct val="96666"/>
              <a:buFont typeface="Wingdings"/>
              <a:buChar char=""/>
              <a:tabLst>
                <a:tab pos="356235" algn="l"/>
              </a:tabLst>
            </a:pPr>
            <a:r>
              <a:rPr sz="3000" spc="-5" dirty="0">
                <a:latin typeface="Calibri"/>
                <a:cs typeface="Calibri"/>
              </a:rPr>
              <a:t>The </a:t>
            </a:r>
            <a:r>
              <a:rPr sz="3000" spc="-15" dirty="0">
                <a:latin typeface="Calibri"/>
                <a:cs typeface="Calibri"/>
              </a:rPr>
              <a:t>flagellates </a:t>
            </a:r>
            <a:r>
              <a:rPr sz="3000" spc="-10" dirty="0">
                <a:latin typeface="Calibri"/>
                <a:cs typeface="Calibri"/>
              </a:rPr>
              <a:t>live </a:t>
            </a:r>
            <a:r>
              <a:rPr sz="3000" dirty="0">
                <a:latin typeface="Calibri"/>
                <a:cs typeface="Calibri"/>
              </a:rPr>
              <a:t>and </a:t>
            </a:r>
            <a:r>
              <a:rPr sz="3000" spc="-5" dirty="0">
                <a:latin typeface="Calibri"/>
                <a:cs typeface="Calibri"/>
              </a:rPr>
              <a:t>multiply </a:t>
            </a:r>
            <a:r>
              <a:rPr sz="3000" dirty="0">
                <a:latin typeface="Calibri"/>
                <a:cs typeface="Calibri"/>
              </a:rPr>
              <a:t>in the </a:t>
            </a:r>
            <a:r>
              <a:rPr sz="3000" spc="-15" dirty="0">
                <a:latin typeface="Calibri"/>
                <a:cs typeface="Calibri"/>
              </a:rPr>
              <a:t>urogenital  tract </a:t>
            </a:r>
            <a:r>
              <a:rPr sz="3000" spc="-5" dirty="0">
                <a:latin typeface="Calibri"/>
                <a:cs typeface="Calibri"/>
              </a:rPr>
              <a:t>of both </a:t>
            </a:r>
            <a:r>
              <a:rPr sz="3000" spc="-10" dirty="0">
                <a:latin typeface="Calibri"/>
                <a:cs typeface="Calibri"/>
              </a:rPr>
              <a:t>women </a:t>
            </a:r>
            <a:r>
              <a:rPr sz="3000" dirty="0">
                <a:latin typeface="Calibri"/>
                <a:cs typeface="Calibri"/>
              </a:rPr>
              <a:t>and</a:t>
            </a:r>
            <a:r>
              <a:rPr sz="3000" spc="-20" dirty="0">
                <a:latin typeface="Calibri"/>
                <a:cs typeface="Calibri"/>
              </a:rPr>
              <a:t> </a:t>
            </a:r>
            <a:r>
              <a:rPr sz="3000" dirty="0">
                <a:latin typeface="Calibri"/>
                <a:cs typeface="Calibri"/>
              </a:rPr>
              <a:t>men.</a:t>
            </a:r>
            <a:endParaRPr sz="3000">
              <a:latin typeface="Calibri"/>
              <a:cs typeface="Calibri"/>
            </a:endParaRPr>
          </a:p>
          <a:p>
            <a:pPr marL="12700">
              <a:lnSpc>
                <a:spcPct val="100000"/>
              </a:lnSpc>
              <a:spcBef>
                <a:spcPts val="310"/>
              </a:spcBef>
            </a:pPr>
            <a:r>
              <a:rPr sz="3000" dirty="0">
                <a:latin typeface="Wingdings"/>
                <a:cs typeface="Wingdings"/>
              </a:rPr>
              <a:t></a:t>
            </a:r>
            <a:endParaRPr sz="3000">
              <a:latin typeface="Wingdings"/>
              <a:cs typeface="Wingdings"/>
            </a:endParaRPr>
          </a:p>
        </p:txBody>
      </p:sp>
      <p:sp>
        <p:nvSpPr>
          <p:cNvPr id="7" name="object 7"/>
          <p:cNvSpPr txBox="1"/>
          <p:nvPr/>
        </p:nvSpPr>
        <p:spPr>
          <a:xfrm>
            <a:off x="535940" y="4718380"/>
            <a:ext cx="365760" cy="483234"/>
          </a:xfrm>
          <a:prstGeom prst="rect">
            <a:avLst/>
          </a:prstGeom>
        </p:spPr>
        <p:txBody>
          <a:bodyPr vert="horz" wrap="square" lIns="0" tIns="12700" rIns="0" bIns="0" rtlCol="0">
            <a:spAutoFit/>
          </a:bodyPr>
          <a:lstStyle/>
          <a:p>
            <a:pPr marL="12700">
              <a:lnSpc>
                <a:spcPct val="100000"/>
              </a:lnSpc>
              <a:spcBef>
                <a:spcPts val="100"/>
              </a:spcBef>
            </a:pPr>
            <a:r>
              <a:rPr sz="3000" dirty="0">
                <a:latin typeface="Wingdings"/>
                <a:cs typeface="Wingdings"/>
              </a:rPr>
              <a:t></a:t>
            </a:r>
            <a:endParaRPr sz="3000">
              <a:latin typeface="Wingdings"/>
              <a:cs typeface="Wingdings"/>
            </a:endParaRPr>
          </a:p>
        </p:txBody>
      </p:sp>
      <p:sp>
        <p:nvSpPr>
          <p:cNvPr id="8" name="object 8"/>
          <p:cNvSpPr txBox="1"/>
          <p:nvPr/>
        </p:nvSpPr>
        <p:spPr>
          <a:xfrm>
            <a:off x="891844" y="4832502"/>
            <a:ext cx="7700645" cy="347980"/>
          </a:xfrm>
          <a:prstGeom prst="rect">
            <a:avLst/>
          </a:prstGeom>
          <a:solidFill>
            <a:srgbClr val="FFED00">
              <a:alpha val="50000"/>
            </a:srgbClr>
          </a:solidFill>
        </p:spPr>
        <p:txBody>
          <a:bodyPr vert="horz" wrap="square" lIns="0" tIns="0" rIns="0" bIns="0" rtlCol="0">
            <a:spAutoFit/>
          </a:bodyPr>
          <a:lstStyle/>
          <a:p>
            <a:pPr>
              <a:lnSpc>
                <a:spcPts val="2735"/>
              </a:lnSpc>
            </a:pPr>
            <a:r>
              <a:rPr sz="3000" dirty="0">
                <a:latin typeface="Calibri"/>
                <a:cs typeface="Calibri"/>
              </a:rPr>
              <a:t>In </a:t>
            </a:r>
            <a:r>
              <a:rPr sz="3000" spc="-5" dirty="0">
                <a:latin typeface="Calibri"/>
                <a:cs typeface="Calibri"/>
              </a:rPr>
              <a:t>men, </a:t>
            </a:r>
            <a:r>
              <a:rPr sz="3000" dirty="0">
                <a:latin typeface="Calibri"/>
                <a:cs typeface="Calibri"/>
              </a:rPr>
              <a:t>the </a:t>
            </a:r>
            <a:r>
              <a:rPr sz="3000" spc="-15" dirty="0">
                <a:latin typeface="Calibri"/>
                <a:cs typeface="Calibri"/>
              </a:rPr>
              <a:t>infection </a:t>
            </a:r>
            <a:r>
              <a:rPr sz="3000" dirty="0">
                <a:latin typeface="Calibri"/>
                <a:cs typeface="Calibri"/>
              </a:rPr>
              <a:t>is </a:t>
            </a:r>
            <a:r>
              <a:rPr sz="3000" spc="-5" dirty="0">
                <a:latin typeface="Calibri"/>
                <a:cs typeface="Calibri"/>
              </a:rPr>
              <a:t>usually </a:t>
            </a:r>
            <a:r>
              <a:rPr sz="3000" dirty="0">
                <a:latin typeface="Calibri"/>
                <a:cs typeface="Calibri"/>
              </a:rPr>
              <a:t>without</a:t>
            </a:r>
            <a:r>
              <a:rPr sz="3000" spc="-75" dirty="0">
                <a:latin typeface="Calibri"/>
                <a:cs typeface="Calibri"/>
              </a:rPr>
              <a:t> </a:t>
            </a:r>
            <a:r>
              <a:rPr sz="3000" spc="-15" dirty="0">
                <a:latin typeface="Calibri"/>
                <a:cs typeface="Calibri"/>
              </a:rPr>
              <a:t>symptoms</a:t>
            </a:r>
            <a:endParaRPr sz="3000">
              <a:latin typeface="Calibri"/>
              <a:cs typeface="Calibri"/>
            </a:endParaRPr>
          </a:p>
        </p:txBody>
      </p:sp>
      <p:sp>
        <p:nvSpPr>
          <p:cNvPr id="9" name="object 9"/>
          <p:cNvSpPr txBox="1"/>
          <p:nvPr/>
        </p:nvSpPr>
        <p:spPr>
          <a:xfrm>
            <a:off x="891844" y="5265165"/>
            <a:ext cx="7169784" cy="327025"/>
          </a:xfrm>
          <a:prstGeom prst="rect">
            <a:avLst/>
          </a:prstGeom>
          <a:solidFill>
            <a:srgbClr val="FFED00">
              <a:alpha val="50000"/>
            </a:srgbClr>
          </a:solidFill>
        </p:spPr>
        <p:txBody>
          <a:bodyPr vert="horz" wrap="square" lIns="0" tIns="0" rIns="0" bIns="0" rtlCol="0">
            <a:spAutoFit/>
          </a:bodyPr>
          <a:lstStyle/>
          <a:p>
            <a:pPr>
              <a:lnSpc>
                <a:spcPts val="2570"/>
              </a:lnSpc>
            </a:pPr>
            <a:r>
              <a:rPr sz="3000" spc="-5" dirty="0">
                <a:latin typeface="Calibri"/>
                <a:cs typeface="Calibri"/>
              </a:rPr>
              <a:t>but occasionally </a:t>
            </a:r>
            <a:r>
              <a:rPr sz="3000" spc="-10" dirty="0">
                <a:latin typeface="Calibri"/>
                <a:cs typeface="Calibri"/>
              </a:rPr>
              <a:t>there </a:t>
            </a:r>
            <a:r>
              <a:rPr sz="3000" spc="-20" dirty="0">
                <a:latin typeface="Calibri"/>
                <a:cs typeface="Calibri"/>
              </a:rPr>
              <a:t>may </a:t>
            </a:r>
            <a:r>
              <a:rPr sz="3000" spc="-5" dirty="0">
                <a:latin typeface="Calibri"/>
                <a:cs typeface="Calibri"/>
              </a:rPr>
              <a:t>be </a:t>
            </a:r>
            <a:r>
              <a:rPr sz="3000" spc="-10" dirty="0">
                <a:latin typeface="Calibri"/>
                <a:cs typeface="Calibri"/>
              </a:rPr>
              <a:t>urethritis </a:t>
            </a:r>
            <a:r>
              <a:rPr sz="3000" spc="-5" dirty="0">
                <a:latin typeface="Calibri"/>
                <a:cs typeface="Calibri"/>
              </a:rPr>
              <a:t>with</a:t>
            </a:r>
            <a:r>
              <a:rPr sz="3000" spc="-15" dirty="0">
                <a:latin typeface="Calibri"/>
                <a:cs typeface="Calibri"/>
              </a:rPr>
              <a:t> </a:t>
            </a:r>
            <a:r>
              <a:rPr sz="3000" dirty="0">
                <a:latin typeface="Calibri"/>
                <a:cs typeface="Calibri"/>
              </a:rPr>
              <a:t>a</a:t>
            </a:r>
            <a:endParaRPr sz="3000">
              <a:latin typeface="Calibri"/>
              <a:cs typeface="Calibri"/>
            </a:endParaRPr>
          </a:p>
        </p:txBody>
      </p:sp>
      <p:sp>
        <p:nvSpPr>
          <p:cNvPr id="10" name="object 10"/>
          <p:cNvSpPr txBox="1"/>
          <p:nvPr/>
        </p:nvSpPr>
        <p:spPr>
          <a:xfrm>
            <a:off x="891844" y="5676595"/>
            <a:ext cx="5042535" cy="327025"/>
          </a:xfrm>
          <a:prstGeom prst="rect">
            <a:avLst/>
          </a:prstGeom>
          <a:solidFill>
            <a:srgbClr val="FFED00">
              <a:alpha val="50000"/>
            </a:srgbClr>
          </a:solidFill>
        </p:spPr>
        <p:txBody>
          <a:bodyPr vert="horz" wrap="square" lIns="0" tIns="0" rIns="0" bIns="0" rtlCol="0">
            <a:spAutoFit/>
          </a:bodyPr>
          <a:lstStyle/>
          <a:p>
            <a:pPr>
              <a:lnSpc>
                <a:spcPts val="2570"/>
              </a:lnSpc>
            </a:pPr>
            <a:r>
              <a:rPr sz="3000" spc="-10" dirty="0">
                <a:latin typeface="Calibri"/>
                <a:cs typeface="Calibri"/>
              </a:rPr>
              <a:t>non-purulent </a:t>
            </a:r>
            <a:r>
              <a:rPr sz="3000" spc="-20" dirty="0">
                <a:latin typeface="Calibri"/>
                <a:cs typeface="Calibri"/>
              </a:rPr>
              <a:t>urethral</a:t>
            </a:r>
            <a:r>
              <a:rPr sz="3000" spc="-15" dirty="0">
                <a:latin typeface="Calibri"/>
                <a:cs typeface="Calibri"/>
              </a:rPr>
              <a:t> </a:t>
            </a:r>
            <a:r>
              <a:rPr sz="3000" spc="-10" dirty="0">
                <a:latin typeface="Calibri"/>
                <a:cs typeface="Calibri"/>
              </a:rPr>
              <a:t>discharge.</a:t>
            </a:r>
            <a:endParaRPr sz="3000">
              <a:latin typeface="Calibri"/>
              <a:cs typeface="Calibri"/>
            </a:endParaRPr>
          </a:p>
        </p:txBody>
      </p:sp>
    </p:spTree>
    <p:extLst>
      <p:ext uri="{BB962C8B-B14F-4D97-AF65-F5344CB8AC3E}">
        <p14:creationId xmlns:p14="http://schemas.microsoft.com/office/powerpoint/2010/main" val="2761860067"/>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3895280"/>
            <a:ext cx="4824730" cy="281940"/>
          </a:xfrm>
          <a:custGeom>
            <a:avLst/>
            <a:gdLst/>
            <a:ahLst/>
            <a:cxnLst/>
            <a:rect l="l" t="t" r="r" b="b"/>
            <a:pathLst>
              <a:path w="4824730" h="281939">
                <a:moveTo>
                  <a:pt x="0" y="0"/>
                </a:moveTo>
                <a:lnTo>
                  <a:pt x="4824704" y="0"/>
                </a:lnTo>
                <a:lnTo>
                  <a:pt x="4824704" y="281571"/>
                </a:lnTo>
                <a:lnTo>
                  <a:pt x="0" y="281571"/>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548640" y="3386772"/>
            <a:ext cx="7765415" cy="371475"/>
          </a:xfrm>
          <a:custGeom>
            <a:avLst/>
            <a:gdLst/>
            <a:ahLst/>
            <a:cxnLst/>
            <a:rect l="l" t="t" r="r" b="b"/>
            <a:pathLst>
              <a:path w="7765415" h="371475">
                <a:moveTo>
                  <a:pt x="0" y="0"/>
                </a:moveTo>
                <a:lnTo>
                  <a:pt x="7764919" y="0"/>
                </a:lnTo>
                <a:lnTo>
                  <a:pt x="7764919" y="370966"/>
                </a:lnTo>
                <a:lnTo>
                  <a:pt x="0" y="370966"/>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911656" y="2314105"/>
            <a:ext cx="7489190" cy="370840"/>
          </a:xfrm>
          <a:custGeom>
            <a:avLst/>
            <a:gdLst/>
            <a:ahLst/>
            <a:cxnLst/>
            <a:rect l="l" t="t" r="r" b="b"/>
            <a:pathLst>
              <a:path w="7489190" h="370839">
                <a:moveTo>
                  <a:pt x="0" y="0"/>
                </a:moveTo>
                <a:lnTo>
                  <a:pt x="7488732" y="0"/>
                </a:lnTo>
                <a:lnTo>
                  <a:pt x="7488732" y="370687"/>
                </a:lnTo>
                <a:lnTo>
                  <a:pt x="0" y="370687"/>
                </a:lnTo>
                <a:lnTo>
                  <a:pt x="0" y="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xfrm>
            <a:off x="917854" y="461899"/>
            <a:ext cx="730694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2. </a:t>
            </a:r>
            <a:r>
              <a:rPr sz="4400" spc="-15" dirty="0"/>
              <a:t>Trichomonas </a:t>
            </a:r>
            <a:r>
              <a:rPr sz="4400" spc="-5" dirty="0"/>
              <a:t>vaginalis</a:t>
            </a:r>
            <a:r>
              <a:rPr sz="4400" spc="-65" dirty="0"/>
              <a:t> </a:t>
            </a:r>
            <a:r>
              <a:rPr sz="4400" spc="-35" dirty="0"/>
              <a:t>cont’d</a:t>
            </a:r>
            <a:endParaRPr sz="4400">
              <a:latin typeface="Calibri"/>
              <a:cs typeface="Calibri"/>
            </a:endParaRPr>
          </a:p>
        </p:txBody>
      </p:sp>
      <p:sp>
        <p:nvSpPr>
          <p:cNvPr id="6" name="object 6"/>
          <p:cNvSpPr txBox="1"/>
          <p:nvPr/>
        </p:nvSpPr>
        <p:spPr>
          <a:xfrm>
            <a:off x="535940" y="1509941"/>
            <a:ext cx="7876540" cy="1196975"/>
          </a:xfrm>
          <a:prstGeom prst="rect">
            <a:avLst/>
          </a:prstGeom>
        </p:spPr>
        <p:txBody>
          <a:bodyPr vert="horz" wrap="square" lIns="0" tIns="110489" rIns="0" bIns="0" rtlCol="0">
            <a:spAutoFit/>
          </a:bodyPr>
          <a:lstStyle/>
          <a:p>
            <a:pPr marL="3228975">
              <a:lnSpc>
                <a:spcPct val="100000"/>
              </a:lnSpc>
              <a:spcBef>
                <a:spcPts val="869"/>
              </a:spcBef>
            </a:pPr>
            <a:r>
              <a:rPr sz="3200" b="1" spc="-5" dirty="0">
                <a:latin typeface="Calibri"/>
                <a:cs typeface="Calibri"/>
              </a:rPr>
              <a:t>Diagnosis</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5" dirty="0">
                <a:latin typeface="Calibri"/>
                <a:cs typeface="Calibri"/>
              </a:rPr>
              <a:t>Finding </a:t>
            </a:r>
            <a:r>
              <a:rPr sz="3200" dirty="0">
                <a:latin typeface="Calibri"/>
                <a:cs typeface="Calibri"/>
              </a:rPr>
              <a:t>the </a:t>
            </a:r>
            <a:r>
              <a:rPr sz="3200" spc="-10" dirty="0">
                <a:latin typeface="Calibri"/>
                <a:cs typeface="Calibri"/>
              </a:rPr>
              <a:t>flagellates </a:t>
            </a:r>
            <a:r>
              <a:rPr sz="3200" dirty="0">
                <a:latin typeface="Calibri"/>
                <a:cs typeface="Calibri"/>
              </a:rPr>
              <a:t>in </a:t>
            </a:r>
            <a:r>
              <a:rPr sz="3200" spc="-10" dirty="0">
                <a:latin typeface="Calibri"/>
                <a:cs typeface="Calibri"/>
              </a:rPr>
              <a:t>unstained </a:t>
            </a:r>
            <a:r>
              <a:rPr sz="3200" spc="-5" dirty="0">
                <a:latin typeface="Calibri"/>
                <a:cs typeface="Calibri"/>
              </a:rPr>
              <a:t>or</a:t>
            </a:r>
            <a:r>
              <a:rPr sz="3200" spc="35" dirty="0">
                <a:latin typeface="Calibri"/>
                <a:cs typeface="Calibri"/>
              </a:rPr>
              <a:t> </a:t>
            </a:r>
            <a:r>
              <a:rPr sz="3200" spc="-15" dirty="0">
                <a:latin typeface="Calibri"/>
                <a:cs typeface="Calibri"/>
              </a:rPr>
              <a:t>stained</a:t>
            </a:r>
            <a:endParaRPr sz="3200">
              <a:latin typeface="Calibri"/>
              <a:cs typeface="Calibri"/>
            </a:endParaRPr>
          </a:p>
        </p:txBody>
      </p:sp>
      <p:sp>
        <p:nvSpPr>
          <p:cNvPr id="7" name="object 7"/>
          <p:cNvSpPr txBox="1"/>
          <p:nvPr/>
        </p:nvSpPr>
        <p:spPr>
          <a:xfrm>
            <a:off x="891844" y="2822130"/>
            <a:ext cx="7576184" cy="350520"/>
          </a:xfrm>
          <a:prstGeom prst="rect">
            <a:avLst/>
          </a:prstGeom>
          <a:solidFill>
            <a:srgbClr val="FFED00">
              <a:alpha val="50000"/>
            </a:srgbClr>
          </a:solidFill>
        </p:spPr>
        <p:txBody>
          <a:bodyPr vert="horz" wrap="square" lIns="0" tIns="0" rIns="0" bIns="0" rtlCol="0">
            <a:spAutoFit/>
          </a:bodyPr>
          <a:lstStyle/>
          <a:p>
            <a:pPr>
              <a:lnSpc>
                <a:spcPts val="2760"/>
              </a:lnSpc>
            </a:pPr>
            <a:r>
              <a:rPr sz="3200" spc="-15" dirty="0">
                <a:latin typeface="Calibri"/>
                <a:cs typeface="Calibri"/>
              </a:rPr>
              <a:t>preparations </a:t>
            </a:r>
            <a:r>
              <a:rPr sz="3200" spc="-5" dirty="0">
                <a:latin typeface="Calibri"/>
                <a:cs typeface="Calibri"/>
              </a:rPr>
              <a:t>of vaginal or </a:t>
            </a:r>
            <a:r>
              <a:rPr sz="3200" spc="-20" dirty="0">
                <a:latin typeface="Calibri"/>
                <a:cs typeface="Calibri"/>
              </a:rPr>
              <a:t>urethral</a:t>
            </a:r>
            <a:r>
              <a:rPr sz="3200" spc="40" dirty="0">
                <a:latin typeface="Calibri"/>
                <a:cs typeface="Calibri"/>
              </a:rPr>
              <a:t> </a:t>
            </a:r>
            <a:r>
              <a:rPr sz="3200" spc="-10" dirty="0">
                <a:latin typeface="Calibri"/>
                <a:cs typeface="Calibri"/>
              </a:rPr>
              <a:t>discharges.</a:t>
            </a:r>
            <a:endParaRPr sz="3200">
              <a:latin typeface="Calibri"/>
              <a:cs typeface="Calibri"/>
            </a:endParaRPr>
          </a:p>
        </p:txBody>
      </p:sp>
      <p:sp>
        <p:nvSpPr>
          <p:cNvPr id="8" name="object 8"/>
          <p:cNvSpPr txBox="1"/>
          <p:nvPr/>
        </p:nvSpPr>
        <p:spPr>
          <a:xfrm>
            <a:off x="535940" y="3265754"/>
            <a:ext cx="7789545" cy="1002030"/>
          </a:xfrm>
          <a:prstGeom prst="rect">
            <a:avLst/>
          </a:prstGeom>
        </p:spPr>
        <p:txBody>
          <a:bodyPr vert="horz" wrap="square" lIns="0" tIns="13335" rIns="0" bIns="0" rtlCol="0">
            <a:spAutoFit/>
          </a:bodyPr>
          <a:lstStyle/>
          <a:p>
            <a:pPr marL="355600" marR="5080" indent="-343535">
              <a:lnSpc>
                <a:spcPct val="100000"/>
              </a:lnSpc>
              <a:spcBef>
                <a:spcPts val="105"/>
              </a:spcBef>
              <a:buSzPct val="96875"/>
              <a:buFont typeface="Wingdings"/>
              <a:buChar char=""/>
              <a:tabLst>
                <a:tab pos="376555" algn="l"/>
              </a:tabLst>
            </a:pPr>
            <a:r>
              <a:rPr sz="3200" spc="-5" dirty="0">
                <a:latin typeface="Calibri"/>
                <a:cs typeface="Calibri"/>
              </a:rPr>
              <a:t>The </a:t>
            </a:r>
            <a:r>
              <a:rPr sz="3200" spc="-15" dirty="0">
                <a:latin typeface="Calibri"/>
                <a:cs typeface="Calibri"/>
              </a:rPr>
              <a:t>parasite </a:t>
            </a:r>
            <a:r>
              <a:rPr sz="3200" spc="-10" dirty="0">
                <a:latin typeface="Calibri"/>
                <a:cs typeface="Calibri"/>
              </a:rPr>
              <a:t>(flagellate) </a:t>
            </a:r>
            <a:r>
              <a:rPr sz="3200" spc="-20" dirty="0">
                <a:latin typeface="Calibri"/>
                <a:cs typeface="Calibri"/>
              </a:rPr>
              <a:t>may </a:t>
            </a:r>
            <a:r>
              <a:rPr sz="3200" dirty="0">
                <a:latin typeface="Calibri"/>
                <a:cs typeface="Calibri"/>
              </a:rPr>
              <a:t>also be </a:t>
            </a:r>
            <a:r>
              <a:rPr sz="3200" spc="-20" dirty="0">
                <a:latin typeface="Calibri"/>
                <a:cs typeface="Calibri"/>
              </a:rPr>
              <a:t>found </a:t>
            </a:r>
            <a:r>
              <a:rPr sz="3200" dirty="0">
                <a:latin typeface="Calibri"/>
                <a:cs typeface="Calibri"/>
              </a:rPr>
              <a:t>in  the </a:t>
            </a:r>
            <a:r>
              <a:rPr sz="3200" spc="-5" dirty="0">
                <a:latin typeface="Calibri"/>
                <a:cs typeface="Calibri"/>
              </a:rPr>
              <a:t>urine </a:t>
            </a:r>
            <a:r>
              <a:rPr sz="3200" dirty="0">
                <a:latin typeface="Calibri"/>
                <a:cs typeface="Calibri"/>
              </a:rPr>
              <a:t>of </a:t>
            </a:r>
            <a:r>
              <a:rPr sz="3200" spc="-5" dirty="0">
                <a:latin typeface="Calibri"/>
                <a:cs typeface="Calibri"/>
              </a:rPr>
              <a:t>men </a:t>
            </a:r>
            <a:r>
              <a:rPr sz="3200" dirty="0">
                <a:latin typeface="Calibri"/>
                <a:cs typeface="Calibri"/>
              </a:rPr>
              <a:t>and</a:t>
            </a:r>
            <a:r>
              <a:rPr sz="3200" spc="10" dirty="0">
                <a:latin typeface="Calibri"/>
                <a:cs typeface="Calibri"/>
              </a:rPr>
              <a:t> </a:t>
            </a:r>
            <a:r>
              <a:rPr sz="3200" spc="-10" dirty="0">
                <a:latin typeface="Calibri"/>
                <a:cs typeface="Calibri"/>
              </a:rPr>
              <a:t>women.</a:t>
            </a:r>
            <a:endParaRPr sz="3200">
              <a:latin typeface="Calibri"/>
              <a:cs typeface="Calibri"/>
            </a:endParaRPr>
          </a:p>
        </p:txBody>
      </p:sp>
    </p:spTree>
    <p:extLst>
      <p:ext uri="{BB962C8B-B14F-4D97-AF65-F5344CB8AC3E}">
        <p14:creationId xmlns:p14="http://schemas.microsoft.com/office/powerpoint/2010/main" val="2736622809"/>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5457812"/>
            <a:ext cx="7051675" cy="349250"/>
          </a:xfrm>
          <a:custGeom>
            <a:avLst/>
            <a:gdLst/>
            <a:ahLst/>
            <a:cxnLst/>
            <a:rect l="l" t="t" r="r" b="b"/>
            <a:pathLst>
              <a:path w="7051675" h="349250">
                <a:moveTo>
                  <a:pt x="0" y="0"/>
                </a:moveTo>
                <a:lnTo>
                  <a:pt x="7051306" y="0"/>
                </a:lnTo>
                <a:lnTo>
                  <a:pt x="7051306" y="348716"/>
                </a:lnTo>
                <a:lnTo>
                  <a:pt x="0" y="348716"/>
                </a:lnTo>
                <a:lnTo>
                  <a:pt x="0" y="0"/>
                </a:lnTo>
                <a:close/>
              </a:path>
            </a:pathLst>
          </a:custGeom>
          <a:solidFill>
            <a:srgbClr val="FFED00"/>
          </a:solidFill>
        </p:spPr>
        <p:txBody>
          <a:bodyPr wrap="square" lIns="0" tIns="0" rIns="0" bIns="0" rtlCol="0"/>
          <a:lstStyle/>
          <a:p>
            <a:endParaRPr/>
          </a:p>
        </p:txBody>
      </p:sp>
      <p:sp>
        <p:nvSpPr>
          <p:cNvPr id="3" name="object 3"/>
          <p:cNvSpPr txBox="1">
            <a:spLocks noGrp="1"/>
          </p:cNvSpPr>
          <p:nvPr>
            <p:ph type="title"/>
          </p:nvPr>
        </p:nvSpPr>
        <p:spPr>
          <a:xfrm>
            <a:off x="3542538" y="496950"/>
            <a:ext cx="2057400"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C.</a:t>
            </a:r>
            <a:r>
              <a:rPr i="0" spc="-80" dirty="0">
                <a:latin typeface="Calibri"/>
                <a:cs typeface="Calibri"/>
              </a:rPr>
              <a:t> </a:t>
            </a:r>
            <a:r>
              <a:rPr i="0" spc="-20" dirty="0">
                <a:latin typeface="Calibri"/>
                <a:cs typeface="Calibri"/>
              </a:rPr>
              <a:t>Ciliates</a:t>
            </a:r>
          </a:p>
        </p:txBody>
      </p:sp>
      <p:sp>
        <p:nvSpPr>
          <p:cNvPr id="4" name="object 4"/>
          <p:cNvSpPr txBox="1"/>
          <p:nvPr/>
        </p:nvSpPr>
        <p:spPr>
          <a:xfrm>
            <a:off x="535940" y="1509941"/>
            <a:ext cx="7924165" cy="2172335"/>
          </a:xfrm>
          <a:prstGeom prst="rect">
            <a:avLst/>
          </a:prstGeom>
        </p:spPr>
        <p:txBody>
          <a:bodyPr vert="horz" wrap="square" lIns="0" tIns="110489" rIns="0" bIns="0" rtlCol="0">
            <a:spAutoFit/>
          </a:bodyPr>
          <a:lstStyle/>
          <a:p>
            <a:pPr marL="2463800">
              <a:lnSpc>
                <a:spcPct val="100000"/>
              </a:lnSpc>
              <a:spcBef>
                <a:spcPts val="869"/>
              </a:spcBef>
            </a:pPr>
            <a:r>
              <a:rPr sz="3200" b="1" dirty="0">
                <a:latin typeface="Calibri"/>
                <a:cs typeface="Calibri"/>
              </a:rPr>
              <a:t>1. </a:t>
            </a:r>
            <a:r>
              <a:rPr sz="3200" b="1" i="1" dirty="0">
                <a:latin typeface="Calibri"/>
                <a:cs typeface="Calibri"/>
              </a:rPr>
              <a:t>Balantidium</a:t>
            </a:r>
            <a:r>
              <a:rPr sz="3200" b="1" i="1" spc="-60" dirty="0">
                <a:latin typeface="Calibri"/>
                <a:cs typeface="Calibri"/>
              </a:rPr>
              <a:t> </a:t>
            </a:r>
            <a:r>
              <a:rPr sz="3200" b="1" i="1" spc="-10" dirty="0">
                <a:latin typeface="Calibri"/>
                <a:cs typeface="Calibri"/>
              </a:rPr>
              <a:t>coli</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spc="-5" dirty="0">
                <a:latin typeface="Calibri"/>
                <a:cs typeface="Calibri"/>
              </a:rPr>
              <a:t>This </a:t>
            </a:r>
            <a:r>
              <a:rPr sz="3200" dirty="0">
                <a:latin typeface="Calibri"/>
                <a:cs typeface="Calibri"/>
              </a:rPr>
              <a:t>is a </a:t>
            </a:r>
            <a:r>
              <a:rPr sz="3200" spc="-10" dirty="0">
                <a:latin typeface="Calibri"/>
                <a:cs typeface="Calibri"/>
              </a:rPr>
              <a:t>ciliate </a:t>
            </a:r>
            <a:r>
              <a:rPr sz="3200" spc="-25" dirty="0">
                <a:latin typeface="Calibri"/>
                <a:cs typeface="Calibri"/>
              </a:rPr>
              <a:t>protozoan </a:t>
            </a:r>
            <a:r>
              <a:rPr sz="3200" spc="-20" dirty="0">
                <a:latin typeface="Calibri"/>
                <a:cs typeface="Calibri"/>
              </a:rPr>
              <a:t>parasite </a:t>
            </a:r>
            <a:r>
              <a:rPr sz="3200" dirty="0">
                <a:latin typeface="Calibri"/>
                <a:cs typeface="Calibri"/>
              </a:rPr>
              <a:t>normally </a:t>
            </a:r>
            <a:r>
              <a:rPr sz="3200" spc="-5" dirty="0">
                <a:latin typeface="Calibri"/>
                <a:cs typeface="Calibri"/>
              </a:rPr>
              <a:t>of  pigs but occasionally </a:t>
            </a:r>
            <a:r>
              <a:rPr sz="3200" spc="-15" dirty="0">
                <a:latin typeface="Calibri"/>
                <a:cs typeface="Calibri"/>
              </a:rPr>
              <a:t>infecting </a:t>
            </a:r>
            <a:r>
              <a:rPr sz="3200" spc="-5" dirty="0">
                <a:latin typeface="Calibri"/>
                <a:cs typeface="Calibri"/>
              </a:rPr>
              <a:t>humans </a:t>
            </a:r>
            <a:r>
              <a:rPr sz="3200" dirty="0">
                <a:latin typeface="Calibri"/>
                <a:cs typeface="Calibri"/>
              </a:rPr>
              <a:t>and  </a:t>
            </a:r>
            <a:r>
              <a:rPr sz="3200" spc="-5" dirty="0">
                <a:latin typeface="Calibri"/>
                <a:cs typeface="Calibri"/>
              </a:rPr>
              <a:t>causing </a:t>
            </a:r>
            <a:r>
              <a:rPr sz="3200" b="1" spc="-5" dirty="0">
                <a:latin typeface="Calibri"/>
                <a:cs typeface="Calibri"/>
              </a:rPr>
              <a:t>Balantidiasis</a:t>
            </a:r>
            <a:r>
              <a:rPr sz="3200" spc="-5" dirty="0">
                <a:latin typeface="Calibri"/>
                <a:cs typeface="Calibri"/>
              </a:rPr>
              <a:t>. </a:t>
            </a:r>
            <a:r>
              <a:rPr sz="3200" dirty="0">
                <a:latin typeface="Calibri"/>
                <a:cs typeface="Calibri"/>
              </a:rPr>
              <a:t>It is the </a:t>
            </a:r>
            <a:r>
              <a:rPr sz="3200" spc="-5" dirty="0">
                <a:latin typeface="Calibri"/>
                <a:cs typeface="Calibri"/>
              </a:rPr>
              <a:t>only</a:t>
            </a:r>
            <a:r>
              <a:rPr sz="3200" spc="-25" dirty="0">
                <a:latin typeface="Calibri"/>
                <a:cs typeface="Calibri"/>
              </a:rPr>
              <a:t> </a:t>
            </a:r>
            <a:r>
              <a:rPr sz="3200" spc="-10" dirty="0">
                <a:latin typeface="Calibri"/>
                <a:cs typeface="Calibri"/>
              </a:rPr>
              <a:t>ciliate</a:t>
            </a:r>
            <a:endParaRPr sz="3200">
              <a:latin typeface="Calibri"/>
              <a:cs typeface="Calibri"/>
            </a:endParaRPr>
          </a:p>
        </p:txBody>
      </p:sp>
      <p:sp>
        <p:nvSpPr>
          <p:cNvPr id="5" name="object 5"/>
          <p:cNvSpPr txBox="1"/>
          <p:nvPr/>
        </p:nvSpPr>
        <p:spPr>
          <a:xfrm>
            <a:off x="891844" y="3799370"/>
            <a:ext cx="5788025" cy="349250"/>
          </a:xfrm>
          <a:prstGeom prst="rect">
            <a:avLst/>
          </a:prstGeom>
          <a:solidFill>
            <a:srgbClr val="FFED00">
              <a:alpha val="50000"/>
            </a:srgbClr>
          </a:solidFill>
        </p:spPr>
        <p:txBody>
          <a:bodyPr vert="horz" wrap="square" lIns="0" tIns="0" rIns="0" bIns="0" rtlCol="0">
            <a:spAutoFit/>
          </a:bodyPr>
          <a:lstStyle/>
          <a:p>
            <a:pPr>
              <a:lnSpc>
                <a:spcPts val="2745"/>
              </a:lnSpc>
            </a:pPr>
            <a:r>
              <a:rPr sz="3200" spc="-25" dirty="0">
                <a:latin typeface="Calibri"/>
                <a:cs typeface="Calibri"/>
              </a:rPr>
              <a:t>protozoan </a:t>
            </a:r>
            <a:r>
              <a:rPr sz="3200" spc="-10" dirty="0">
                <a:latin typeface="Calibri"/>
                <a:cs typeface="Calibri"/>
              </a:rPr>
              <a:t>that </a:t>
            </a:r>
            <a:r>
              <a:rPr sz="3200" spc="-15" dirty="0">
                <a:latin typeface="Calibri"/>
                <a:cs typeface="Calibri"/>
              </a:rPr>
              <a:t>parasitizes</a:t>
            </a:r>
            <a:r>
              <a:rPr sz="3200" dirty="0">
                <a:latin typeface="Calibri"/>
                <a:cs typeface="Calibri"/>
              </a:rPr>
              <a:t> </a:t>
            </a:r>
            <a:r>
              <a:rPr sz="3200" spc="-5" dirty="0">
                <a:latin typeface="Calibri"/>
                <a:cs typeface="Calibri"/>
              </a:rPr>
              <a:t>humans.</a:t>
            </a:r>
            <a:endParaRPr sz="3200">
              <a:latin typeface="Calibri"/>
              <a:cs typeface="Calibri"/>
            </a:endParaRPr>
          </a:p>
        </p:txBody>
      </p:sp>
      <p:sp>
        <p:nvSpPr>
          <p:cNvPr id="6" name="object 6"/>
          <p:cNvSpPr txBox="1"/>
          <p:nvPr/>
        </p:nvSpPr>
        <p:spPr>
          <a:xfrm>
            <a:off x="535940" y="4145123"/>
            <a:ext cx="7616190" cy="1684020"/>
          </a:xfrm>
          <a:prstGeom prst="rect">
            <a:avLst/>
          </a:prstGeom>
        </p:spPr>
        <p:txBody>
          <a:bodyPr vert="horz" wrap="square" lIns="0" tIns="109855" rIns="0" bIns="0" rtlCol="0">
            <a:spAutoFit/>
          </a:bodyPr>
          <a:lstStyle/>
          <a:p>
            <a:pPr marL="3027680">
              <a:lnSpc>
                <a:spcPct val="100000"/>
              </a:lnSpc>
              <a:spcBef>
                <a:spcPts val="865"/>
              </a:spcBef>
            </a:pPr>
            <a:r>
              <a:rPr sz="3200" b="1" spc="-5" dirty="0">
                <a:latin typeface="Calibri"/>
                <a:cs typeface="Calibri"/>
              </a:rPr>
              <a:t>Distribution</a:t>
            </a:r>
            <a:endParaRPr sz="3200">
              <a:latin typeface="Calibri"/>
              <a:cs typeface="Calibri"/>
            </a:endParaRPr>
          </a:p>
          <a:p>
            <a:pPr marL="355600" indent="-343535">
              <a:lnSpc>
                <a:spcPct val="100000"/>
              </a:lnSpc>
              <a:spcBef>
                <a:spcPts val="765"/>
              </a:spcBef>
              <a:buSzPct val="96875"/>
              <a:buFont typeface="Wingdings"/>
              <a:buChar char=""/>
              <a:tabLst>
                <a:tab pos="376555" algn="l"/>
              </a:tabLst>
            </a:pPr>
            <a:r>
              <a:rPr sz="3200" spc="-15" dirty="0">
                <a:latin typeface="Calibri"/>
                <a:cs typeface="Calibri"/>
              </a:rPr>
              <a:t>Worldwide </a:t>
            </a:r>
            <a:r>
              <a:rPr sz="3200" spc="-5" dirty="0">
                <a:latin typeface="Calibri"/>
                <a:cs typeface="Calibri"/>
              </a:rPr>
              <a:t>but </a:t>
            </a:r>
            <a:r>
              <a:rPr sz="3200" spc="-10" dirty="0">
                <a:latin typeface="Calibri"/>
                <a:cs typeface="Calibri"/>
              </a:rPr>
              <a:t>more </a:t>
            </a:r>
            <a:r>
              <a:rPr sz="3200" spc="-5" dirty="0">
                <a:latin typeface="Calibri"/>
                <a:cs typeface="Calibri"/>
              </a:rPr>
              <a:t>common </a:t>
            </a:r>
            <a:r>
              <a:rPr sz="3200" dirty="0">
                <a:latin typeface="Calibri"/>
                <a:cs typeface="Calibri"/>
              </a:rPr>
              <a:t>among </a:t>
            </a:r>
            <a:r>
              <a:rPr sz="3200" spc="-5" dirty="0">
                <a:latin typeface="Calibri"/>
                <a:cs typeface="Calibri"/>
              </a:rPr>
              <a:t>those  </a:t>
            </a:r>
            <a:r>
              <a:rPr sz="3200" dirty="0">
                <a:latin typeface="Calibri"/>
                <a:cs typeface="Calibri"/>
              </a:rPr>
              <a:t>who </a:t>
            </a:r>
            <a:r>
              <a:rPr sz="3200" spc="-30" dirty="0">
                <a:latin typeface="Calibri"/>
                <a:cs typeface="Calibri"/>
              </a:rPr>
              <a:t>keep </a:t>
            </a:r>
            <a:r>
              <a:rPr sz="3200" spc="-5" dirty="0">
                <a:latin typeface="Calibri"/>
                <a:cs typeface="Calibri"/>
              </a:rPr>
              <a:t>pigs, </a:t>
            </a:r>
            <a:r>
              <a:rPr sz="3200" dirty="0">
                <a:latin typeface="Calibri"/>
                <a:cs typeface="Calibri"/>
              </a:rPr>
              <a:t>especially in </a:t>
            </a:r>
            <a:r>
              <a:rPr sz="3200" spc="-10" dirty="0">
                <a:latin typeface="Calibri"/>
                <a:cs typeface="Calibri"/>
              </a:rPr>
              <a:t>warm</a:t>
            </a:r>
            <a:r>
              <a:rPr sz="3200" spc="20" dirty="0">
                <a:latin typeface="Calibri"/>
                <a:cs typeface="Calibri"/>
              </a:rPr>
              <a:t> </a:t>
            </a:r>
            <a:r>
              <a:rPr sz="3200" spc="-10" dirty="0">
                <a:latin typeface="Calibri"/>
                <a:cs typeface="Calibri"/>
              </a:rPr>
              <a:t>climates.</a:t>
            </a:r>
            <a:endParaRPr sz="3200">
              <a:latin typeface="Calibri"/>
              <a:cs typeface="Calibri"/>
            </a:endParaRPr>
          </a:p>
        </p:txBody>
      </p:sp>
    </p:spTree>
    <p:extLst>
      <p:ext uri="{BB962C8B-B14F-4D97-AF65-F5344CB8AC3E}">
        <p14:creationId xmlns:p14="http://schemas.microsoft.com/office/powerpoint/2010/main" val="333633681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2518905" y="4226712"/>
            <a:ext cx="4648200" cy="312420"/>
          </a:xfrm>
          <a:custGeom>
            <a:avLst/>
            <a:gdLst/>
            <a:ahLst/>
            <a:cxnLst/>
            <a:rect l="l" t="t" r="r" b="b"/>
            <a:pathLst>
              <a:path w="4648200" h="312420">
                <a:moveTo>
                  <a:pt x="0" y="0"/>
                </a:moveTo>
                <a:lnTo>
                  <a:pt x="4647666" y="0"/>
                </a:lnTo>
                <a:lnTo>
                  <a:pt x="4647666" y="312381"/>
                </a:lnTo>
                <a:lnTo>
                  <a:pt x="0" y="312381"/>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2905379" y="3403269"/>
            <a:ext cx="3101340" cy="313055"/>
          </a:xfrm>
          <a:custGeom>
            <a:avLst/>
            <a:gdLst/>
            <a:ahLst/>
            <a:cxnLst/>
            <a:rect l="l" t="t" r="r" b="b"/>
            <a:pathLst>
              <a:path w="3101340" h="313054">
                <a:moveTo>
                  <a:pt x="0" y="0"/>
                </a:moveTo>
                <a:lnTo>
                  <a:pt x="3100984" y="0"/>
                </a:lnTo>
                <a:lnTo>
                  <a:pt x="3100984" y="312661"/>
                </a:lnTo>
                <a:lnTo>
                  <a:pt x="0" y="312661"/>
                </a:lnTo>
                <a:lnTo>
                  <a:pt x="0" y="0"/>
                </a:lnTo>
                <a:close/>
              </a:path>
            </a:pathLst>
          </a:custGeom>
          <a:solidFill>
            <a:srgbClr val="FFED00"/>
          </a:solidFill>
        </p:spPr>
        <p:txBody>
          <a:bodyPr wrap="square" lIns="0" tIns="0" rIns="0" bIns="0" rtlCol="0"/>
          <a:lstStyle/>
          <a:p>
            <a:endParaRPr/>
          </a:p>
        </p:txBody>
      </p:sp>
      <p:sp>
        <p:nvSpPr>
          <p:cNvPr id="4" name="object 4"/>
          <p:cNvSpPr txBox="1">
            <a:spLocks noGrp="1"/>
          </p:cNvSpPr>
          <p:nvPr>
            <p:ph type="title"/>
          </p:nvPr>
        </p:nvSpPr>
        <p:spPr>
          <a:xfrm>
            <a:off x="2487929" y="461899"/>
            <a:ext cx="4167504" cy="696595"/>
          </a:xfrm>
          <a:prstGeom prst="rect">
            <a:avLst/>
          </a:prstGeom>
        </p:spPr>
        <p:txBody>
          <a:bodyPr vert="horz" wrap="square" lIns="0" tIns="13335" rIns="0" bIns="0" rtlCol="0">
            <a:spAutoFit/>
          </a:bodyPr>
          <a:lstStyle/>
          <a:p>
            <a:pPr marL="12700">
              <a:lnSpc>
                <a:spcPct val="100000"/>
              </a:lnSpc>
              <a:spcBef>
                <a:spcPts val="105"/>
              </a:spcBef>
            </a:pPr>
            <a:r>
              <a:rPr sz="4400" b="0" i="0" spc="-5" dirty="0">
                <a:latin typeface="Calibri"/>
                <a:cs typeface="Calibri"/>
              </a:rPr>
              <a:t>C. </a:t>
            </a:r>
            <a:r>
              <a:rPr sz="4400" b="0" i="0" spc="-15" dirty="0">
                <a:latin typeface="Calibri"/>
                <a:cs typeface="Calibri"/>
              </a:rPr>
              <a:t>Ciliates</a:t>
            </a:r>
            <a:r>
              <a:rPr sz="4400" b="0" i="0" spc="-50" dirty="0">
                <a:latin typeface="Calibri"/>
                <a:cs typeface="Calibri"/>
              </a:rPr>
              <a:t> </a:t>
            </a:r>
            <a:r>
              <a:rPr sz="4400" b="0" i="0" spc="-25" dirty="0">
                <a:latin typeface="Calibri"/>
                <a:cs typeface="Calibri"/>
              </a:rPr>
              <a:t>(Cont’d)</a:t>
            </a:r>
            <a:endParaRPr sz="4400">
              <a:latin typeface="Calibri"/>
              <a:cs typeface="Calibri"/>
            </a:endParaRPr>
          </a:p>
        </p:txBody>
      </p:sp>
      <p:sp>
        <p:nvSpPr>
          <p:cNvPr id="5" name="object 5"/>
          <p:cNvSpPr txBox="1"/>
          <p:nvPr/>
        </p:nvSpPr>
        <p:spPr>
          <a:xfrm>
            <a:off x="3636390" y="1570990"/>
            <a:ext cx="1871345" cy="436880"/>
          </a:xfrm>
          <a:prstGeom prst="rect">
            <a:avLst/>
          </a:prstGeom>
        </p:spPr>
        <p:txBody>
          <a:bodyPr vert="horz" wrap="square" lIns="0" tIns="12700" rIns="0" bIns="0" rtlCol="0">
            <a:spAutoFit/>
          </a:bodyPr>
          <a:lstStyle/>
          <a:p>
            <a:pPr marL="12700">
              <a:lnSpc>
                <a:spcPct val="100000"/>
              </a:lnSpc>
              <a:spcBef>
                <a:spcPts val="100"/>
              </a:spcBef>
            </a:pPr>
            <a:r>
              <a:rPr sz="2700" b="1" spc="-20" dirty="0">
                <a:latin typeface="Calibri"/>
                <a:cs typeface="Calibri"/>
              </a:rPr>
              <a:t>Transmission</a:t>
            </a:r>
            <a:endParaRPr sz="2700">
              <a:latin typeface="Calibri"/>
              <a:cs typeface="Calibri"/>
            </a:endParaRPr>
          </a:p>
        </p:txBody>
      </p:sp>
      <p:sp>
        <p:nvSpPr>
          <p:cNvPr id="6" name="object 6"/>
          <p:cNvSpPr txBox="1"/>
          <p:nvPr/>
        </p:nvSpPr>
        <p:spPr>
          <a:xfrm>
            <a:off x="535940" y="2023998"/>
            <a:ext cx="331470" cy="436880"/>
          </a:xfrm>
          <a:prstGeom prst="rect">
            <a:avLst/>
          </a:prstGeom>
        </p:spPr>
        <p:txBody>
          <a:bodyPr vert="horz" wrap="square" lIns="0" tIns="12700" rIns="0" bIns="0" rtlCol="0">
            <a:spAutoFit/>
          </a:bodyPr>
          <a:lstStyle/>
          <a:p>
            <a:pPr marL="12700">
              <a:lnSpc>
                <a:spcPct val="100000"/>
              </a:lnSpc>
              <a:spcBef>
                <a:spcPts val="100"/>
              </a:spcBef>
            </a:pPr>
            <a:r>
              <a:rPr sz="2700" dirty="0">
                <a:latin typeface="Wingdings"/>
                <a:cs typeface="Wingdings"/>
              </a:rPr>
              <a:t></a:t>
            </a:r>
            <a:endParaRPr sz="2700">
              <a:latin typeface="Wingdings"/>
              <a:cs typeface="Wingdings"/>
            </a:endParaRPr>
          </a:p>
        </p:txBody>
      </p:sp>
      <p:sp>
        <p:nvSpPr>
          <p:cNvPr id="7" name="object 7"/>
          <p:cNvSpPr txBox="1"/>
          <p:nvPr/>
        </p:nvSpPr>
        <p:spPr>
          <a:xfrm>
            <a:off x="891844" y="2127910"/>
            <a:ext cx="7289800" cy="312420"/>
          </a:xfrm>
          <a:prstGeom prst="rect">
            <a:avLst/>
          </a:prstGeom>
          <a:solidFill>
            <a:srgbClr val="FFED00">
              <a:alpha val="50000"/>
            </a:srgbClr>
          </a:solidFill>
        </p:spPr>
        <p:txBody>
          <a:bodyPr vert="horz" wrap="square" lIns="0" tIns="0" rIns="0" bIns="0" rtlCol="0">
            <a:spAutoFit/>
          </a:bodyPr>
          <a:lstStyle/>
          <a:p>
            <a:pPr>
              <a:lnSpc>
                <a:spcPts val="2460"/>
              </a:lnSpc>
            </a:pPr>
            <a:r>
              <a:rPr sz="2700" spc="-15" dirty="0">
                <a:latin typeface="Calibri"/>
                <a:cs typeface="Calibri"/>
              </a:rPr>
              <a:t>By </a:t>
            </a:r>
            <a:r>
              <a:rPr sz="2700" spc="-10" dirty="0">
                <a:latin typeface="Calibri"/>
                <a:cs typeface="Calibri"/>
              </a:rPr>
              <a:t>ingestion </a:t>
            </a:r>
            <a:r>
              <a:rPr sz="2700" spc="-5" dirty="0">
                <a:latin typeface="Calibri"/>
                <a:cs typeface="Calibri"/>
              </a:rPr>
              <a:t>of </a:t>
            </a:r>
            <a:r>
              <a:rPr sz="2700" spc="-15" dirty="0">
                <a:latin typeface="Calibri"/>
                <a:cs typeface="Calibri"/>
              </a:rPr>
              <a:t>cysts </a:t>
            </a:r>
            <a:r>
              <a:rPr sz="2700" spc="-5" dirty="0">
                <a:latin typeface="Calibri"/>
                <a:cs typeface="Calibri"/>
              </a:rPr>
              <a:t>on </a:t>
            </a:r>
            <a:r>
              <a:rPr sz="2700" spc="-10" dirty="0">
                <a:latin typeface="Calibri"/>
                <a:cs typeface="Calibri"/>
              </a:rPr>
              <a:t>faecally </a:t>
            </a:r>
            <a:r>
              <a:rPr sz="2700" spc="-15" dirty="0">
                <a:latin typeface="Calibri"/>
                <a:cs typeface="Calibri"/>
              </a:rPr>
              <a:t>contaminated</a:t>
            </a:r>
            <a:r>
              <a:rPr sz="2700" spc="-35" dirty="0">
                <a:latin typeface="Calibri"/>
                <a:cs typeface="Calibri"/>
              </a:rPr>
              <a:t> </a:t>
            </a:r>
            <a:r>
              <a:rPr sz="2700" spc="-5" dirty="0">
                <a:latin typeface="Calibri"/>
                <a:cs typeface="Calibri"/>
              </a:rPr>
              <a:t>hands</a:t>
            </a:r>
            <a:endParaRPr sz="2700">
              <a:latin typeface="Calibri"/>
              <a:cs typeface="Calibri"/>
            </a:endParaRPr>
          </a:p>
        </p:txBody>
      </p:sp>
      <p:sp>
        <p:nvSpPr>
          <p:cNvPr id="8" name="object 8"/>
          <p:cNvSpPr txBox="1"/>
          <p:nvPr/>
        </p:nvSpPr>
        <p:spPr>
          <a:xfrm>
            <a:off x="891844" y="2394330"/>
            <a:ext cx="4133850" cy="436880"/>
          </a:xfrm>
          <a:prstGeom prst="rect">
            <a:avLst/>
          </a:prstGeom>
          <a:solidFill>
            <a:srgbClr val="FFED00">
              <a:alpha val="50000"/>
            </a:srgbClr>
          </a:solidFill>
        </p:spPr>
        <p:txBody>
          <a:bodyPr vert="horz" wrap="square" lIns="0" tIns="12700" rIns="0" bIns="0" rtlCol="0">
            <a:spAutoFit/>
          </a:bodyPr>
          <a:lstStyle/>
          <a:p>
            <a:pPr>
              <a:lnSpc>
                <a:spcPct val="100000"/>
              </a:lnSpc>
              <a:spcBef>
                <a:spcPts val="100"/>
              </a:spcBef>
            </a:pPr>
            <a:r>
              <a:rPr sz="2700" dirty="0">
                <a:latin typeface="Calibri"/>
                <a:cs typeface="Calibri"/>
              </a:rPr>
              <a:t>and in </a:t>
            </a:r>
            <a:r>
              <a:rPr sz="2700" spc="-15" dirty="0">
                <a:latin typeface="Calibri"/>
                <a:cs typeface="Calibri"/>
              </a:rPr>
              <a:t>food </a:t>
            </a:r>
            <a:r>
              <a:rPr sz="2700" dirty="0">
                <a:latin typeface="Calibri"/>
                <a:cs typeface="Calibri"/>
              </a:rPr>
              <a:t>and</a:t>
            </a:r>
            <a:r>
              <a:rPr sz="2700" spc="-80" dirty="0">
                <a:latin typeface="Calibri"/>
                <a:cs typeface="Calibri"/>
              </a:rPr>
              <a:t> </a:t>
            </a:r>
            <a:r>
              <a:rPr sz="2700" spc="-15" dirty="0">
                <a:latin typeface="Calibri"/>
                <a:cs typeface="Calibri"/>
              </a:rPr>
              <a:t>water/drinks.</a:t>
            </a:r>
            <a:endParaRPr sz="2700">
              <a:latin typeface="Calibri"/>
              <a:cs typeface="Calibri"/>
            </a:endParaRPr>
          </a:p>
        </p:txBody>
      </p:sp>
      <p:sp>
        <p:nvSpPr>
          <p:cNvPr id="9" name="object 9"/>
          <p:cNvSpPr txBox="1"/>
          <p:nvPr/>
        </p:nvSpPr>
        <p:spPr>
          <a:xfrm>
            <a:off x="535940" y="2806152"/>
            <a:ext cx="8054975" cy="2947670"/>
          </a:xfrm>
          <a:prstGeom prst="rect">
            <a:avLst/>
          </a:prstGeom>
        </p:spPr>
        <p:txBody>
          <a:bodyPr vert="horz" wrap="square" lIns="0" tIns="53340" rIns="0" bIns="0" rtlCol="0">
            <a:spAutoFit/>
          </a:bodyPr>
          <a:lstStyle/>
          <a:p>
            <a:pPr marL="3394710" algn="just">
              <a:lnSpc>
                <a:spcPct val="100000"/>
              </a:lnSpc>
              <a:spcBef>
                <a:spcPts val="420"/>
              </a:spcBef>
            </a:pPr>
            <a:r>
              <a:rPr sz="2700" b="1" spc="-15" dirty="0">
                <a:latin typeface="Calibri"/>
                <a:cs typeface="Calibri"/>
              </a:rPr>
              <a:t>Life</a:t>
            </a:r>
            <a:r>
              <a:rPr sz="2700" b="1" spc="-10" dirty="0">
                <a:latin typeface="Calibri"/>
                <a:cs typeface="Calibri"/>
              </a:rPr>
              <a:t> </a:t>
            </a:r>
            <a:r>
              <a:rPr sz="2700" b="1" spc="-15" dirty="0">
                <a:latin typeface="Calibri"/>
                <a:cs typeface="Calibri"/>
              </a:rPr>
              <a:t>cycle</a:t>
            </a:r>
            <a:endParaRPr sz="2700">
              <a:latin typeface="Calibri"/>
              <a:cs typeface="Calibri"/>
            </a:endParaRPr>
          </a:p>
          <a:p>
            <a:pPr marL="355600" marR="1239520" indent="-343535" algn="just">
              <a:lnSpc>
                <a:spcPts val="2920"/>
              </a:lnSpc>
              <a:spcBef>
                <a:spcPts val="690"/>
              </a:spcBef>
              <a:buFont typeface="Wingdings"/>
              <a:buChar char=""/>
              <a:tabLst>
                <a:tab pos="356235" algn="l"/>
              </a:tabLst>
            </a:pPr>
            <a:r>
              <a:rPr sz="2700" spc="-15" dirty="0">
                <a:latin typeface="Calibri"/>
                <a:cs typeface="Calibri"/>
              </a:rPr>
              <a:t>Ingested cysts </a:t>
            </a:r>
            <a:r>
              <a:rPr sz="2700" spc="-30" dirty="0">
                <a:latin typeface="Calibri"/>
                <a:cs typeface="Calibri"/>
              </a:rPr>
              <a:t>excyst </a:t>
            </a:r>
            <a:r>
              <a:rPr sz="2700" dirty="0">
                <a:latin typeface="Calibri"/>
                <a:cs typeface="Calibri"/>
              </a:rPr>
              <a:t>in the </a:t>
            </a:r>
            <a:r>
              <a:rPr sz="2700" spc="-10" dirty="0">
                <a:latin typeface="Calibri"/>
                <a:cs typeface="Calibri"/>
              </a:rPr>
              <a:t>intestine, </a:t>
            </a:r>
            <a:r>
              <a:rPr sz="2700" dirty="0">
                <a:latin typeface="Calibri"/>
                <a:cs typeface="Calibri"/>
              </a:rPr>
              <a:t>and</a:t>
            </a:r>
            <a:r>
              <a:rPr sz="2700" spc="-80" dirty="0">
                <a:latin typeface="Calibri"/>
                <a:cs typeface="Calibri"/>
              </a:rPr>
              <a:t> </a:t>
            </a:r>
            <a:r>
              <a:rPr sz="2700" dirty="0">
                <a:latin typeface="Calibri"/>
                <a:cs typeface="Calibri"/>
              </a:rPr>
              <a:t>each  </a:t>
            </a:r>
            <a:r>
              <a:rPr sz="2700" spc="-15" dirty="0">
                <a:latin typeface="Calibri"/>
                <a:cs typeface="Calibri"/>
              </a:rPr>
              <a:t>producing </a:t>
            </a:r>
            <a:r>
              <a:rPr sz="2700" dirty="0">
                <a:latin typeface="Calibri"/>
                <a:cs typeface="Calibri"/>
              </a:rPr>
              <a:t>a </a:t>
            </a:r>
            <a:r>
              <a:rPr sz="2700" spc="-5" dirty="0">
                <a:latin typeface="Calibri"/>
                <a:cs typeface="Calibri"/>
              </a:rPr>
              <a:t>single</a:t>
            </a:r>
            <a:r>
              <a:rPr sz="2700" spc="-20" dirty="0">
                <a:latin typeface="Calibri"/>
                <a:cs typeface="Calibri"/>
              </a:rPr>
              <a:t> </a:t>
            </a:r>
            <a:r>
              <a:rPr sz="2700" spc="-10" dirty="0">
                <a:latin typeface="Calibri"/>
                <a:cs typeface="Calibri"/>
              </a:rPr>
              <a:t>ciliate.</a:t>
            </a:r>
            <a:endParaRPr sz="2700">
              <a:latin typeface="Calibri"/>
              <a:cs typeface="Calibri"/>
            </a:endParaRPr>
          </a:p>
          <a:p>
            <a:pPr marL="355600" marR="539115" indent="-343535" algn="just">
              <a:lnSpc>
                <a:spcPts val="2920"/>
              </a:lnSpc>
              <a:spcBef>
                <a:spcPts val="640"/>
              </a:spcBef>
              <a:buFont typeface="Wingdings"/>
              <a:buChar char=""/>
              <a:tabLst>
                <a:tab pos="356235" algn="l"/>
              </a:tabLst>
            </a:pPr>
            <a:r>
              <a:rPr sz="2700" spc="-5" dirty="0">
                <a:latin typeface="Calibri"/>
                <a:cs typeface="Calibri"/>
              </a:rPr>
              <a:t>The </a:t>
            </a:r>
            <a:r>
              <a:rPr sz="2700" spc="-10" dirty="0">
                <a:latin typeface="Calibri"/>
                <a:cs typeface="Calibri"/>
              </a:rPr>
              <a:t>ciliates </a:t>
            </a:r>
            <a:r>
              <a:rPr sz="2700" dirty="0">
                <a:latin typeface="Calibri"/>
                <a:cs typeface="Calibri"/>
              </a:rPr>
              <a:t>multiply </a:t>
            </a:r>
            <a:r>
              <a:rPr sz="2700" spc="-5" dirty="0">
                <a:latin typeface="Calibri"/>
                <a:cs typeface="Calibri"/>
              </a:rPr>
              <a:t>by simple binary division </a:t>
            </a:r>
            <a:r>
              <a:rPr sz="2700" dirty="0">
                <a:latin typeface="Calibri"/>
                <a:cs typeface="Calibri"/>
              </a:rPr>
              <a:t>in the  </a:t>
            </a:r>
            <a:r>
              <a:rPr sz="2700" spc="-10" dirty="0">
                <a:latin typeface="Calibri"/>
                <a:cs typeface="Calibri"/>
              </a:rPr>
              <a:t>colon, often after </a:t>
            </a:r>
            <a:r>
              <a:rPr sz="2700" spc="-15" dirty="0">
                <a:latin typeface="Calibri"/>
                <a:cs typeface="Calibri"/>
              </a:rPr>
              <a:t>conjugation </a:t>
            </a:r>
            <a:r>
              <a:rPr sz="2700" spc="-5" dirty="0">
                <a:latin typeface="Calibri"/>
                <a:cs typeface="Calibri"/>
              </a:rPr>
              <a:t>during </a:t>
            </a:r>
            <a:r>
              <a:rPr sz="2700" dirty="0">
                <a:latin typeface="Calibri"/>
                <a:cs typeface="Calibri"/>
              </a:rPr>
              <a:t>which </a:t>
            </a:r>
            <a:r>
              <a:rPr sz="2700" spc="-5" dirty="0">
                <a:latin typeface="Calibri"/>
                <a:cs typeface="Calibri"/>
              </a:rPr>
              <a:t>nuclear  particles </a:t>
            </a:r>
            <a:r>
              <a:rPr sz="2700" spc="-15" dirty="0">
                <a:latin typeface="Calibri"/>
                <a:cs typeface="Calibri"/>
              </a:rPr>
              <a:t>are exchanged </a:t>
            </a:r>
            <a:r>
              <a:rPr sz="2700" spc="-10" dirty="0">
                <a:latin typeface="Calibri"/>
                <a:cs typeface="Calibri"/>
              </a:rPr>
              <a:t>between</a:t>
            </a:r>
            <a:r>
              <a:rPr sz="2700" spc="-85" dirty="0">
                <a:latin typeface="Calibri"/>
                <a:cs typeface="Calibri"/>
              </a:rPr>
              <a:t> </a:t>
            </a:r>
            <a:r>
              <a:rPr sz="2700" dirty="0">
                <a:latin typeface="Calibri"/>
                <a:cs typeface="Calibri"/>
              </a:rPr>
              <a:t>individuals</a:t>
            </a:r>
            <a:endParaRPr sz="2700">
              <a:latin typeface="Calibri"/>
              <a:cs typeface="Calibri"/>
            </a:endParaRPr>
          </a:p>
          <a:p>
            <a:pPr marL="355600" indent="-343535" algn="just">
              <a:lnSpc>
                <a:spcPct val="100000"/>
              </a:lnSpc>
              <a:spcBef>
                <a:spcPts val="275"/>
              </a:spcBef>
              <a:buFont typeface="Wingdings"/>
              <a:buChar char=""/>
              <a:tabLst>
                <a:tab pos="356235" algn="l"/>
              </a:tabLst>
            </a:pPr>
            <a:r>
              <a:rPr sz="2700" spc="-5" dirty="0">
                <a:latin typeface="Calibri"/>
                <a:cs typeface="Calibri"/>
              </a:rPr>
              <a:t>The thick-walled </a:t>
            </a:r>
            <a:r>
              <a:rPr sz="2700" spc="-15" dirty="0">
                <a:latin typeface="Calibri"/>
                <a:cs typeface="Calibri"/>
              </a:rPr>
              <a:t>cysts are formed </a:t>
            </a:r>
            <a:r>
              <a:rPr sz="2700" dirty="0">
                <a:latin typeface="Calibri"/>
                <a:cs typeface="Calibri"/>
              </a:rPr>
              <a:t>which </a:t>
            </a:r>
            <a:r>
              <a:rPr sz="2700" spc="-15" dirty="0">
                <a:latin typeface="Calibri"/>
                <a:cs typeface="Calibri"/>
              </a:rPr>
              <a:t>are </a:t>
            </a:r>
            <a:r>
              <a:rPr sz="2700" spc="-25" dirty="0">
                <a:latin typeface="Calibri"/>
                <a:cs typeface="Calibri"/>
              </a:rPr>
              <a:t>excreted</a:t>
            </a:r>
            <a:r>
              <a:rPr sz="2700" spc="-125" dirty="0">
                <a:latin typeface="Calibri"/>
                <a:cs typeface="Calibri"/>
              </a:rPr>
              <a:t> </a:t>
            </a:r>
            <a:r>
              <a:rPr sz="2700" dirty="0">
                <a:latin typeface="Calibri"/>
                <a:cs typeface="Calibri"/>
              </a:rPr>
              <a:t>in</a:t>
            </a:r>
            <a:endParaRPr sz="2700">
              <a:latin typeface="Calibri"/>
              <a:cs typeface="Calibri"/>
            </a:endParaRPr>
          </a:p>
        </p:txBody>
      </p:sp>
      <p:sp>
        <p:nvSpPr>
          <p:cNvPr id="10" name="object 10"/>
          <p:cNvSpPr txBox="1"/>
          <p:nvPr/>
        </p:nvSpPr>
        <p:spPr>
          <a:xfrm>
            <a:off x="891844" y="5807811"/>
            <a:ext cx="6586855" cy="295275"/>
          </a:xfrm>
          <a:prstGeom prst="rect">
            <a:avLst/>
          </a:prstGeom>
          <a:solidFill>
            <a:srgbClr val="FFED00">
              <a:alpha val="50000"/>
            </a:srgbClr>
          </a:solidFill>
        </p:spPr>
        <p:txBody>
          <a:bodyPr vert="horz" wrap="square" lIns="0" tIns="0" rIns="0" bIns="0" rtlCol="0">
            <a:spAutoFit/>
          </a:bodyPr>
          <a:lstStyle/>
          <a:p>
            <a:pPr>
              <a:lnSpc>
                <a:spcPts val="2325"/>
              </a:lnSpc>
            </a:pPr>
            <a:r>
              <a:rPr sz="2700" dirty="0">
                <a:latin typeface="Calibri"/>
                <a:cs typeface="Calibri"/>
              </a:rPr>
              <a:t>the </a:t>
            </a:r>
            <a:r>
              <a:rPr sz="2700" spc="-10" dirty="0">
                <a:latin typeface="Calibri"/>
                <a:cs typeface="Calibri"/>
              </a:rPr>
              <a:t>faeces; </a:t>
            </a:r>
            <a:r>
              <a:rPr sz="2700" dirty="0">
                <a:latin typeface="Calibri"/>
                <a:cs typeface="Calibri"/>
              </a:rPr>
              <a:t>the </a:t>
            </a:r>
            <a:r>
              <a:rPr sz="2700" spc="-15" dirty="0">
                <a:latin typeface="Calibri"/>
                <a:cs typeface="Calibri"/>
              </a:rPr>
              <a:t>cysts are infective </a:t>
            </a:r>
            <a:r>
              <a:rPr sz="2700" dirty="0">
                <a:latin typeface="Calibri"/>
                <a:cs typeface="Calibri"/>
              </a:rPr>
              <a:t>when</a:t>
            </a:r>
            <a:r>
              <a:rPr sz="2700" spc="-105" dirty="0">
                <a:latin typeface="Calibri"/>
                <a:cs typeface="Calibri"/>
              </a:rPr>
              <a:t> </a:t>
            </a:r>
            <a:r>
              <a:rPr sz="2700" spc="-5" dirty="0">
                <a:latin typeface="Calibri"/>
                <a:cs typeface="Calibri"/>
              </a:rPr>
              <a:t>passed.</a:t>
            </a:r>
            <a:endParaRPr sz="2700">
              <a:latin typeface="Calibri"/>
              <a:cs typeface="Calibri"/>
            </a:endParaRPr>
          </a:p>
        </p:txBody>
      </p:sp>
    </p:spTree>
    <p:extLst>
      <p:ext uri="{BB962C8B-B14F-4D97-AF65-F5344CB8AC3E}">
        <p14:creationId xmlns:p14="http://schemas.microsoft.com/office/powerpoint/2010/main" val="2279626813"/>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4285424"/>
            <a:ext cx="4335145" cy="350520"/>
          </a:xfrm>
          <a:custGeom>
            <a:avLst/>
            <a:gdLst/>
            <a:ahLst/>
            <a:cxnLst/>
            <a:rect l="l" t="t" r="r" b="b"/>
            <a:pathLst>
              <a:path w="4335145" h="350520">
                <a:moveTo>
                  <a:pt x="0" y="0"/>
                </a:moveTo>
                <a:lnTo>
                  <a:pt x="4334979" y="0"/>
                </a:lnTo>
                <a:lnTo>
                  <a:pt x="4334979" y="350342"/>
                </a:lnTo>
                <a:lnTo>
                  <a:pt x="0" y="350342"/>
                </a:lnTo>
                <a:lnTo>
                  <a:pt x="0" y="0"/>
                </a:lnTo>
                <a:close/>
              </a:path>
            </a:pathLst>
          </a:custGeom>
          <a:solidFill>
            <a:srgbClr val="FFED00"/>
          </a:solidFill>
        </p:spPr>
        <p:txBody>
          <a:bodyPr wrap="square" lIns="0" tIns="0" rIns="0" bIns="0" rtlCol="0"/>
          <a:lstStyle/>
          <a:p>
            <a:endParaRPr/>
          </a:p>
        </p:txBody>
      </p:sp>
      <p:sp>
        <p:nvSpPr>
          <p:cNvPr id="3" name="object 3"/>
          <p:cNvSpPr txBox="1">
            <a:spLocks noGrp="1"/>
          </p:cNvSpPr>
          <p:nvPr>
            <p:ph type="title"/>
          </p:nvPr>
        </p:nvSpPr>
        <p:spPr>
          <a:xfrm>
            <a:off x="2657094" y="461899"/>
            <a:ext cx="3829685" cy="696595"/>
          </a:xfrm>
          <a:prstGeom prst="rect">
            <a:avLst/>
          </a:prstGeom>
        </p:spPr>
        <p:txBody>
          <a:bodyPr vert="horz" wrap="square" lIns="0" tIns="13335" rIns="0" bIns="0" rtlCol="0">
            <a:spAutoFit/>
          </a:bodyPr>
          <a:lstStyle/>
          <a:p>
            <a:pPr marL="12700">
              <a:lnSpc>
                <a:spcPct val="100000"/>
              </a:lnSpc>
              <a:spcBef>
                <a:spcPts val="105"/>
              </a:spcBef>
            </a:pPr>
            <a:r>
              <a:rPr sz="4400" b="0" i="0" spc="-5" dirty="0">
                <a:latin typeface="Calibri"/>
                <a:cs typeface="Calibri"/>
              </a:rPr>
              <a:t>C. </a:t>
            </a:r>
            <a:r>
              <a:rPr sz="4400" b="0" i="0" spc="-15" dirty="0">
                <a:latin typeface="Calibri"/>
                <a:cs typeface="Calibri"/>
              </a:rPr>
              <a:t>Ciliates</a:t>
            </a:r>
            <a:r>
              <a:rPr sz="4400" b="0" i="0" spc="-55" dirty="0">
                <a:latin typeface="Calibri"/>
                <a:cs typeface="Calibri"/>
              </a:rPr>
              <a:t> </a:t>
            </a:r>
            <a:r>
              <a:rPr sz="4400" b="0" i="0" spc="-30" dirty="0">
                <a:latin typeface="Calibri"/>
                <a:cs typeface="Calibri"/>
              </a:rPr>
              <a:t>Cont’d</a:t>
            </a:r>
            <a:endParaRPr sz="4400">
              <a:latin typeface="Calibri"/>
              <a:cs typeface="Calibri"/>
            </a:endParaRPr>
          </a:p>
        </p:txBody>
      </p:sp>
      <p:sp>
        <p:nvSpPr>
          <p:cNvPr id="4" name="object 4"/>
          <p:cNvSpPr txBox="1"/>
          <p:nvPr/>
        </p:nvSpPr>
        <p:spPr>
          <a:xfrm>
            <a:off x="535940" y="1509941"/>
            <a:ext cx="7468234" cy="1684655"/>
          </a:xfrm>
          <a:prstGeom prst="rect">
            <a:avLst/>
          </a:prstGeom>
        </p:spPr>
        <p:txBody>
          <a:bodyPr vert="horz" wrap="square" lIns="0" tIns="110489" rIns="0" bIns="0" rtlCol="0">
            <a:spAutoFit/>
          </a:bodyPr>
          <a:lstStyle/>
          <a:p>
            <a:pPr marL="1893570">
              <a:lnSpc>
                <a:spcPct val="100000"/>
              </a:lnSpc>
              <a:spcBef>
                <a:spcPts val="869"/>
              </a:spcBef>
            </a:pPr>
            <a:r>
              <a:rPr sz="3200" b="1" spc="-15" dirty="0">
                <a:latin typeface="Calibri"/>
                <a:cs typeface="Calibri"/>
              </a:rPr>
              <a:t>Symptoms </a:t>
            </a:r>
            <a:r>
              <a:rPr sz="3200" b="1" dirty="0">
                <a:latin typeface="Calibri"/>
                <a:cs typeface="Calibri"/>
              </a:rPr>
              <a:t>and</a:t>
            </a:r>
            <a:r>
              <a:rPr sz="3200" b="1" spc="-30" dirty="0">
                <a:latin typeface="Calibri"/>
                <a:cs typeface="Calibri"/>
              </a:rPr>
              <a:t> </a:t>
            </a:r>
            <a:r>
              <a:rPr sz="3200" b="1" spc="-10" dirty="0">
                <a:latin typeface="Calibri"/>
                <a:cs typeface="Calibri"/>
              </a:rPr>
              <a:t>Pathology</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spc="-15" dirty="0">
                <a:latin typeface="Calibri"/>
                <a:cs typeface="Calibri"/>
              </a:rPr>
              <a:t>Infection </a:t>
            </a:r>
            <a:r>
              <a:rPr sz="3200" spc="-20" dirty="0">
                <a:latin typeface="Calibri"/>
                <a:cs typeface="Calibri"/>
              </a:rPr>
              <a:t>may </a:t>
            </a:r>
            <a:r>
              <a:rPr sz="3200" spc="-5" dirty="0">
                <a:latin typeface="Calibri"/>
                <a:cs typeface="Calibri"/>
              </a:rPr>
              <a:t>be </a:t>
            </a:r>
            <a:r>
              <a:rPr sz="3200" dirty="0">
                <a:latin typeface="Calibri"/>
                <a:cs typeface="Calibri"/>
              </a:rPr>
              <a:t>without </a:t>
            </a:r>
            <a:r>
              <a:rPr sz="3200" spc="-15" dirty="0">
                <a:latin typeface="Calibri"/>
                <a:cs typeface="Calibri"/>
              </a:rPr>
              <a:t>symptoms </a:t>
            </a:r>
            <a:r>
              <a:rPr sz="3200" spc="-5" dirty="0">
                <a:latin typeface="Calibri"/>
                <a:cs typeface="Calibri"/>
              </a:rPr>
              <a:t>unless  </a:t>
            </a:r>
            <a:r>
              <a:rPr sz="3200" dirty="0">
                <a:latin typeface="Calibri"/>
                <a:cs typeface="Calibri"/>
              </a:rPr>
              <a:t>the </a:t>
            </a:r>
            <a:r>
              <a:rPr sz="3200" spc="-10" dirty="0">
                <a:latin typeface="Calibri"/>
                <a:cs typeface="Calibri"/>
              </a:rPr>
              <a:t>ciliates </a:t>
            </a:r>
            <a:r>
              <a:rPr sz="3200" spc="-15" dirty="0">
                <a:latin typeface="Calibri"/>
                <a:cs typeface="Calibri"/>
              </a:rPr>
              <a:t>invade </a:t>
            </a:r>
            <a:r>
              <a:rPr sz="3200" dirty="0">
                <a:latin typeface="Calibri"/>
                <a:cs typeface="Calibri"/>
              </a:rPr>
              <a:t>the </a:t>
            </a:r>
            <a:r>
              <a:rPr sz="3200" spc="-15" dirty="0">
                <a:latin typeface="Calibri"/>
                <a:cs typeface="Calibri"/>
              </a:rPr>
              <a:t>intestinal </a:t>
            </a:r>
            <a:r>
              <a:rPr sz="3200" spc="-10" dirty="0">
                <a:latin typeface="Calibri"/>
                <a:cs typeface="Calibri"/>
              </a:rPr>
              <a:t>wall</a:t>
            </a:r>
            <a:r>
              <a:rPr sz="3200" spc="45" dirty="0">
                <a:latin typeface="Calibri"/>
                <a:cs typeface="Calibri"/>
              </a:rPr>
              <a:t> </a:t>
            </a:r>
            <a:r>
              <a:rPr sz="3200" dirty="0">
                <a:latin typeface="Calibri"/>
                <a:cs typeface="Calibri"/>
              </a:rPr>
              <a:t>when</a:t>
            </a:r>
            <a:endParaRPr sz="3200">
              <a:latin typeface="Calibri"/>
              <a:cs typeface="Calibri"/>
            </a:endParaRPr>
          </a:p>
        </p:txBody>
      </p:sp>
      <p:sp>
        <p:nvSpPr>
          <p:cNvPr id="5" name="object 5"/>
          <p:cNvSpPr txBox="1"/>
          <p:nvPr/>
        </p:nvSpPr>
        <p:spPr>
          <a:xfrm>
            <a:off x="891844" y="3168218"/>
            <a:ext cx="6563995" cy="514350"/>
          </a:xfrm>
          <a:prstGeom prst="rect">
            <a:avLst/>
          </a:prstGeom>
          <a:solidFill>
            <a:srgbClr val="FFED00">
              <a:alpha val="50000"/>
            </a:srgbClr>
          </a:solidFill>
        </p:spPr>
        <p:txBody>
          <a:bodyPr vert="horz" wrap="square" lIns="0" tIns="13335" rIns="0" bIns="0" rtlCol="0">
            <a:spAutoFit/>
          </a:bodyPr>
          <a:lstStyle/>
          <a:p>
            <a:pPr>
              <a:lnSpc>
                <a:spcPct val="100000"/>
              </a:lnSpc>
              <a:spcBef>
                <a:spcPts val="105"/>
              </a:spcBef>
            </a:pPr>
            <a:r>
              <a:rPr sz="3200" spc="-10" dirty="0">
                <a:latin typeface="Calibri"/>
                <a:cs typeface="Calibri"/>
              </a:rPr>
              <a:t>inflammation </a:t>
            </a:r>
            <a:r>
              <a:rPr sz="3200" dirty="0">
                <a:latin typeface="Calibri"/>
                <a:cs typeface="Calibri"/>
              </a:rPr>
              <a:t>and </a:t>
            </a:r>
            <a:r>
              <a:rPr sz="3200" spc="-15" dirty="0">
                <a:latin typeface="Calibri"/>
                <a:cs typeface="Calibri"/>
              </a:rPr>
              <a:t>ulceration </a:t>
            </a:r>
            <a:r>
              <a:rPr sz="3200" spc="-25" dirty="0">
                <a:latin typeface="Calibri"/>
                <a:cs typeface="Calibri"/>
              </a:rPr>
              <a:t>may</a:t>
            </a:r>
            <a:r>
              <a:rPr sz="3200" spc="90" dirty="0">
                <a:latin typeface="Calibri"/>
                <a:cs typeface="Calibri"/>
              </a:rPr>
              <a:t> </a:t>
            </a:r>
            <a:r>
              <a:rPr sz="3200" spc="-50" dirty="0">
                <a:latin typeface="Calibri"/>
                <a:cs typeface="Calibri"/>
              </a:rPr>
              <a:t>occur,</a:t>
            </a:r>
            <a:endParaRPr sz="3200">
              <a:latin typeface="Calibri"/>
              <a:cs typeface="Calibri"/>
            </a:endParaRPr>
          </a:p>
        </p:txBody>
      </p:sp>
      <p:sp>
        <p:nvSpPr>
          <p:cNvPr id="6" name="object 6"/>
          <p:cNvSpPr txBox="1"/>
          <p:nvPr/>
        </p:nvSpPr>
        <p:spPr>
          <a:xfrm>
            <a:off x="535940" y="3656457"/>
            <a:ext cx="7823200" cy="2075180"/>
          </a:xfrm>
          <a:prstGeom prst="rect">
            <a:avLst/>
          </a:prstGeom>
        </p:spPr>
        <p:txBody>
          <a:bodyPr vert="horz" wrap="square" lIns="0" tIns="12700" rIns="0" bIns="0" rtlCol="0">
            <a:spAutoFit/>
          </a:bodyPr>
          <a:lstStyle/>
          <a:p>
            <a:pPr marL="355600" marR="337820">
              <a:lnSpc>
                <a:spcPct val="100000"/>
              </a:lnSpc>
              <a:spcBef>
                <a:spcPts val="100"/>
              </a:spcBef>
            </a:pPr>
            <a:r>
              <a:rPr sz="3200" spc="-5" dirty="0">
                <a:latin typeface="Calibri"/>
                <a:cs typeface="Calibri"/>
              </a:rPr>
              <a:t>leading </a:t>
            </a:r>
            <a:r>
              <a:rPr sz="3200" spc="-25" dirty="0">
                <a:latin typeface="Calibri"/>
                <a:cs typeface="Calibri"/>
              </a:rPr>
              <a:t>to </a:t>
            </a:r>
            <a:r>
              <a:rPr sz="3200" spc="-15" dirty="0">
                <a:latin typeface="Calibri"/>
                <a:cs typeface="Calibri"/>
              </a:rPr>
              <a:t>dysentery </a:t>
            </a:r>
            <a:r>
              <a:rPr sz="3200" spc="-5" dirty="0">
                <a:latin typeface="Calibri"/>
                <a:cs typeface="Calibri"/>
              </a:rPr>
              <a:t>with blood </a:t>
            </a:r>
            <a:r>
              <a:rPr sz="3200" dirty="0">
                <a:latin typeface="Calibri"/>
                <a:cs typeface="Calibri"/>
              </a:rPr>
              <a:t>and mucus  </a:t>
            </a:r>
            <a:r>
              <a:rPr sz="3200" spc="-5" dirty="0">
                <a:latin typeface="Calibri"/>
                <a:cs typeface="Calibri"/>
              </a:rPr>
              <a:t>being passed </a:t>
            </a:r>
            <a:r>
              <a:rPr sz="3200" dirty="0">
                <a:latin typeface="Calibri"/>
                <a:cs typeface="Calibri"/>
              </a:rPr>
              <a:t>in the</a:t>
            </a:r>
            <a:r>
              <a:rPr sz="3200" spc="20" dirty="0">
                <a:latin typeface="Calibri"/>
                <a:cs typeface="Calibri"/>
              </a:rPr>
              <a:t> </a:t>
            </a:r>
            <a:r>
              <a:rPr sz="3200" spc="-10" dirty="0">
                <a:latin typeface="Calibri"/>
                <a:cs typeface="Calibri"/>
              </a:rPr>
              <a:t>faeces.</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spc="-15" dirty="0">
                <a:latin typeface="Calibri"/>
                <a:cs typeface="Calibri"/>
              </a:rPr>
              <a:t>Intestinal </a:t>
            </a:r>
            <a:r>
              <a:rPr sz="3200" spc="-20" dirty="0">
                <a:latin typeface="Calibri"/>
                <a:cs typeface="Calibri"/>
              </a:rPr>
              <a:t>perforation </a:t>
            </a:r>
            <a:r>
              <a:rPr sz="3200" spc="-25" dirty="0">
                <a:latin typeface="Calibri"/>
                <a:cs typeface="Calibri"/>
              </a:rPr>
              <a:t>may </a:t>
            </a:r>
            <a:r>
              <a:rPr sz="3200" spc="-5" dirty="0">
                <a:latin typeface="Calibri"/>
                <a:cs typeface="Calibri"/>
              </a:rPr>
              <a:t>occur </a:t>
            </a:r>
            <a:r>
              <a:rPr sz="3200" dirty="0">
                <a:latin typeface="Calibri"/>
                <a:cs typeface="Calibri"/>
              </a:rPr>
              <a:t>as a </a:t>
            </a:r>
            <a:r>
              <a:rPr sz="3200" spc="-25" dirty="0">
                <a:latin typeface="Calibri"/>
                <a:cs typeface="Calibri"/>
              </a:rPr>
              <a:t>rare </a:t>
            </a:r>
            <a:r>
              <a:rPr sz="3200" spc="-5" dirty="0">
                <a:latin typeface="Calibri"/>
                <a:cs typeface="Calibri"/>
              </a:rPr>
              <a:t>but  serious</a:t>
            </a:r>
            <a:r>
              <a:rPr sz="3200" spc="-10" dirty="0">
                <a:latin typeface="Calibri"/>
                <a:cs typeface="Calibri"/>
              </a:rPr>
              <a:t> complication.</a:t>
            </a:r>
            <a:endParaRPr sz="3200">
              <a:latin typeface="Calibri"/>
              <a:cs typeface="Calibri"/>
            </a:endParaRPr>
          </a:p>
        </p:txBody>
      </p:sp>
    </p:spTree>
    <p:extLst>
      <p:ext uri="{BB962C8B-B14F-4D97-AF65-F5344CB8AC3E}">
        <p14:creationId xmlns:p14="http://schemas.microsoft.com/office/powerpoint/2010/main" val="38309295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48640" y="3972471"/>
            <a:ext cx="6417945" cy="370840"/>
          </a:xfrm>
          <a:custGeom>
            <a:avLst/>
            <a:gdLst/>
            <a:ahLst/>
            <a:cxnLst/>
            <a:rect l="l" t="t" r="r" b="b"/>
            <a:pathLst>
              <a:path w="6417945" h="370839">
                <a:moveTo>
                  <a:pt x="0" y="0"/>
                </a:moveTo>
                <a:lnTo>
                  <a:pt x="6417805" y="0"/>
                </a:lnTo>
                <a:lnTo>
                  <a:pt x="6417805" y="370687"/>
                </a:lnTo>
                <a:lnTo>
                  <a:pt x="0" y="370687"/>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548640" y="3386772"/>
            <a:ext cx="5643245" cy="371475"/>
          </a:xfrm>
          <a:custGeom>
            <a:avLst/>
            <a:gdLst/>
            <a:ahLst/>
            <a:cxnLst/>
            <a:rect l="l" t="t" r="r" b="b"/>
            <a:pathLst>
              <a:path w="5643245" h="371475">
                <a:moveTo>
                  <a:pt x="0" y="0"/>
                </a:moveTo>
                <a:lnTo>
                  <a:pt x="5642940" y="0"/>
                </a:lnTo>
                <a:lnTo>
                  <a:pt x="5642940" y="370966"/>
                </a:lnTo>
                <a:lnTo>
                  <a:pt x="0" y="370966"/>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911656" y="2314105"/>
            <a:ext cx="7492365" cy="370840"/>
          </a:xfrm>
          <a:custGeom>
            <a:avLst/>
            <a:gdLst/>
            <a:ahLst/>
            <a:cxnLst/>
            <a:rect l="l" t="t" r="r" b="b"/>
            <a:pathLst>
              <a:path w="7492365" h="370839">
                <a:moveTo>
                  <a:pt x="0" y="0"/>
                </a:moveTo>
                <a:lnTo>
                  <a:pt x="7491983" y="0"/>
                </a:lnTo>
                <a:lnTo>
                  <a:pt x="7491983" y="370687"/>
                </a:lnTo>
                <a:lnTo>
                  <a:pt x="0" y="370687"/>
                </a:lnTo>
                <a:lnTo>
                  <a:pt x="0" y="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xfrm>
            <a:off x="2657094" y="461899"/>
            <a:ext cx="3829685" cy="696595"/>
          </a:xfrm>
          <a:prstGeom prst="rect">
            <a:avLst/>
          </a:prstGeom>
        </p:spPr>
        <p:txBody>
          <a:bodyPr vert="horz" wrap="square" lIns="0" tIns="13335" rIns="0" bIns="0" rtlCol="0">
            <a:spAutoFit/>
          </a:bodyPr>
          <a:lstStyle/>
          <a:p>
            <a:pPr marL="12700">
              <a:lnSpc>
                <a:spcPct val="100000"/>
              </a:lnSpc>
              <a:spcBef>
                <a:spcPts val="105"/>
              </a:spcBef>
            </a:pPr>
            <a:r>
              <a:rPr sz="4400" b="0" i="0" spc="-5" dirty="0">
                <a:latin typeface="Calibri"/>
                <a:cs typeface="Calibri"/>
              </a:rPr>
              <a:t>C. </a:t>
            </a:r>
            <a:r>
              <a:rPr sz="4400" b="0" i="0" spc="-15" dirty="0">
                <a:latin typeface="Calibri"/>
                <a:cs typeface="Calibri"/>
              </a:rPr>
              <a:t>Ciliates</a:t>
            </a:r>
            <a:r>
              <a:rPr sz="4400" b="0" i="0" spc="-55" dirty="0">
                <a:latin typeface="Calibri"/>
                <a:cs typeface="Calibri"/>
              </a:rPr>
              <a:t> </a:t>
            </a:r>
            <a:r>
              <a:rPr sz="4400" b="0" i="0" spc="-30" dirty="0">
                <a:latin typeface="Calibri"/>
                <a:cs typeface="Calibri"/>
              </a:rPr>
              <a:t>Cont’d</a:t>
            </a:r>
            <a:endParaRPr sz="4400">
              <a:latin typeface="Calibri"/>
              <a:cs typeface="Calibri"/>
            </a:endParaRPr>
          </a:p>
        </p:txBody>
      </p:sp>
      <p:sp>
        <p:nvSpPr>
          <p:cNvPr id="6" name="object 6"/>
          <p:cNvSpPr txBox="1"/>
          <p:nvPr/>
        </p:nvSpPr>
        <p:spPr>
          <a:xfrm>
            <a:off x="535940" y="1509941"/>
            <a:ext cx="7877809" cy="1196975"/>
          </a:xfrm>
          <a:prstGeom prst="rect">
            <a:avLst/>
          </a:prstGeom>
        </p:spPr>
        <p:txBody>
          <a:bodyPr vert="horz" wrap="square" lIns="0" tIns="110489" rIns="0" bIns="0" rtlCol="0">
            <a:spAutoFit/>
          </a:bodyPr>
          <a:lstStyle/>
          <a:p>
            <a:pPr marL="2077720">
              <a:lnSpc>
                <a:spcPct val="100000"/>
              </a:lnSpc>
              <a:spcBef>
                <a:spcPts val="869"/>
              </a:spcBef>
            </a:pPr>
            <a:r>
              <a:rPr sz="3200" b="1" spc="-15" dirty="0">
                <a:latin typeface="Calibri"/>
                <a:cs typeface="Calibri"/>
              </a:rPr>
              <a:t>Prevention </a:t>
            </a:r>
            <a:r>
              <a:rPr sz="3200" b="1" dirty="0">
                <a:latin typeface="Calibri"/>
                <a:cs typeface="Calibri"/>
              </a:rPr>
              <a:t>and</a:t>
            </a:r>
            <a:r>
              <a:rPr sz="3200" b="1" spc="-45" dirty="0">
                <a:latin typeface="Calibri"/>
                <a:cs typeface="Calibri"/>
              </a:rPr>
              <a:t> </a:t>
            </a:r>
            <a:r>
              <a:rPr sz="3200" b="1" spc="-10" dirty="0">
                <a:latin typeface="Calibri"/>
                <a:cs typeface="Calibri"/>
              </a:rPr>
              <a:t>Control</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15" dirty="0">
                <a:latin typeface="Calibri"/>
                <a:cs typeface="Calibri"/>
              </a:rPr>
              <a:t>Avoidance </a:t>
            </a:r>
            <a:r>
              <a:rPr sz="3200" spc="-5" dirty="0">
                <a:latin typeface="Calibri"/>
                <a:cs typeface="Calibri"/>
              </a:rPr>
              <a:t>of </a:t>
            </a:r>
            <a:r>
              <a:rPr sz="3200" spc="-25" dirty="0">
                <a:latin typeface="Calibri"/>
                <a:cs typeface="Calibri"/>
              </a:rPr>
              <a:t>food </a:t>
            </a:r>
            <a:r>
              <a:rPr sz="3200" dirty="0">
                <a:latin typeface="Calibri"/>
                <a:cs typeface="Calibri"/>
              </a:rPr>
              <a:t>and </a:t>
            </a:r>
            <a:r>
              <a:rPr sz="3200" spc="-10" dirty="0">
                <a:latin typeface="Calibri"/>
                <a:cs typeface="Calibri"/>
              </a:rPr>
              <a:t>drinks </a:t>
            </a:r>
            <a:r>
              <a:rPr sz="3200" spc="-20" dirty="0">
                <a:latin typeface="Calibri"/>
                <a:cs typeface="Calibri"/>
              </a:rPr>
              <a:t>likely to</a:t>
            </a:r>
            <a:r>
              <a:rPr sz="3200" spc="80" dirty="0">
                <a:latin typeface="Calibri"/>
                <a:cs typeface="Calibri"/>
              </a:rPr>
              <a:t> </a:t>
            </a:r>
            <a:r>
              <a:rPr sz="3200" spc="-15" dirty="0">
                <a:latin typeface="Calibri"/>
                <a:cs typeface="Calibri"/>
              </a:rPr>
              <a:t>contain</a:t>
            </a:r>
            <a:endParaRPr sz="3200">
              <a:latin typeface="Calibri"/>
              <a:cs typeface="Calibri"/>
            </a:endParaRPr>
          </a:p>
        </p:txBody>
      </p:sp>
      <p:sp>
        <p:nvSpPr>
          <p:cNvPr id="7" name="object 7"/>
          <p:cNvSpPr txBox="1"/>
          <p:nvPr/>
        </p:nvSpPr>
        <p:spPr>
          <a:xfrm>
            <a:off x="891844" y="2823756"/>
            <a:ext cx="4674235" cy="349250"/>
          </a:xfrm>
          <a:prstGeom prst="rect">
            <a:avLst/>
          </a:prstGeom>
          <a:solidFill>
            <a:srgbClr val="FFED00">
              <a:alpha val="50000"/>
            </a:srgbClr>
          </a:solidFill>
        </p:spPr>
        <p:txBody>
          <a:bodyPr vert="horz" wrap="square" lIns="0" tIns="0" rIns="0" bIns="0" rtlCol="0">
            <a:spAutoFit/>
          </a:bodyPr>
          <a:lstStyle/>
          <a:p>
            <a:pPr>
              <a:lnSpc>
                <a:spcPts val="2745"/>
              </a:lnSpc>
            </a:pPr>
            <a:r>
              <a:rPr sz="3200" spc="-15" dirty="0">
                <a:latin typeface="Calibri"/>
                <a:cs typeface="Calibri"/>
              </a:rPr>
              <a:t>cysts, </a:t>
            </a:r>
            <a:r>
              <a:rPr sz="3200" dirty="0">
                <a:latin typeface="Calibri"/>
                <a:cs typeface="Calibri"/>
              </a:rPr>
              <a:t>and </a:t>
            </a:r>
            <a:r>
              <a:rPr sz="3200" spc="-15" dirty="0">
                <a:latin typeface="Calibri"/>
                <a:cs typeface="Calibri"/>
              </a:rPr>
              <a:t>contacts </a:t>
            </a:r>
            <a:r>
              <a:rPr sz="3200" dirty="0">
                <a:latin typeface="Calibri"/>
                <a:cs typeface="Calibri"/>
              </a:rPr>
              <a:t>with</a:t>
            </a:r>
            <a:r>
              <a:rPr sz="3200" spc="-5" dirty="0">
                <a:latin typeface="Calibri"/>
                <a:cs typeface="Calibri"/>
              </a:rPr>
              <a:t> pigs</a:t>
            </a:r>
            <a:endParaRPr sz="3200">
              <a:latin typeface="Calibri"/>
              <a:cs typeface="Calibri"/>
            </a:endParaRPr>
          </a:p>
        </p:txBody>
      </p:sp>
      <p:sp>
        <p:nvSpPr>
          <p:cNvPr id="8" name="object 8"/>
          <p:cNvSpPr txBox="1"/>
          <p:nvPr/>
        </p:nvSpPr>
        <p:spPr>
          <a:xfrm>
            <a:off x="535940" y="3168562"/>
            <a:ext cx="7858759" cy="2172335"/>
          </a:xfrm>
          <a:prstGeom prst="rect">
            <a:avLst/>
          </a:prstGeom>
        </p:spPr>
        <p:txBody>
          <a:bodyPr vert="horz" wrap="square" lIns="0" tIns="110489" rIns="0" bIns="0" rtlCol="0">
            <a:spAutoFit/>
          </a:bodyPr>
          <a:lstStyle/>
          <a:p>
            <a:pPr marL="375920" indent="-363855">
              <a:lnSpc>
                <a:spcPct val="100000"/>
              </a:lnSpc>
              <a:spcBef>
                <a:spcPts val="869"/>
              </a:spcBef>
              <a:buSzPct val="96875"/>
              <a:buFont typeface="Wingdings"/>
              <a:buChar char=""/>
              <a:tabLst>
                <a:tab pos="376555" algn="l"/>
              </a:tabLst>
            </a:pPr>
            <a:r>
              <a:rPr sz="3200" spc="-5" dirty="0">
                <a:latin typeface="Calibri"/>
                <a:cs typeface="Calibri"/>
              </a:rPr>
              <a:t>Observance </a:t>
            </a:r>
            <a:r>
              <a:rPr sz="3200" dirty="0">
                <a:latin typeface="Calibri"/>
                <a:cs typeface="Calibri"/>
              </a:rPr>
              <a:t>of </a:t>
            </a:r>
            <a:r>
              <a:rPr sz="3200" spc="-15" dirty="0">
                <a:latin typeface="Calibri"/>
                <a:cs typeface="Calibri"/>
              </a:rPr>
              <a:t>personal hygiene</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spc="-5" dirty="0">
                <a:latin typeface="Calibri"/>
                <a:cs typeface="Calibri"/>
              </a:rPr>
              <a:t>The </a:t>
            </a:r>
            <a:r>
              <a:rPr sz="3200" spc="-15" dirty="0">
                <a:latin typeface="Calibri"/>
                <a:cs typeface="Calibri"/>
              </a:rPr>
              <a:t>cysts are </a:t>
            </a:r>
            <a:r>
              <a:rPr sz="3200" spc="-10" dirty="0">
                <a:latin typeface="Calibri"/>
                <a:cs typeface="Calibri"/>
              </a:rPr>
              <a:t>rapidly </a:t>
            </a:r>
            <a:r>
              <a:rPr sz="3200" spc="-5" dirty="0">
                <a:latin typeface="Calibri"/>
                <a:cs typeface="Calibri"/>
              </a:rPr>
              <a:t>killed by drying; </a:t>
            </a:r>
            <a:r>
              <a:rPr sz="3200" dirty="0">
                <a:latin typeface="Calibri"/>
                <a:cs typeface="Calibri"/>
              </a:rPr>
              <a:t>in </a:t>
            </a:r>
            <a:r>
              <a:rPr sz="3200" spc="-10" dirty="0">
                <a:latin typeface="Calibri"/>
                <a:cs typeface="Calibri"/>
              </a:rPr>
              <a:t>moist  </a:t>
            </a:r>
            <a:r>
              <a:rPr sz="3200" spc="-5" dirty="0">
                <a:latin typeface="Calibri"/>
                <a:cs typeface="Calibri"/>
              </a:rPr>
              <a:t>conditions </a:t>
            </a:r>
            <a:r>
              <a:rPr sz="3200" spc="-10" dirty="0">
                <a:latin typeface="Calibri"/>
                <a:cs typeface="Calibri"/>
              </a:rPr>
              <a:t>they </a:t>
            </a:r>
            <a:r>
              <a:rPr sz="3200" spc="-20" dirty="0">
                <a:latin typeface="Calibri"/>
                <a:cs typeface="Calibri"/>
              </a:rPr>
              <a:t>may </a:t>
            </a:r>
            <a:r>
              <a:rPr sz="3200" spc="-5" dirty="0">
                <a:latin typeface="Calibri"/>
                <a:cs typeface="Calibri"/>
              </a:rPr>
              <a:t>remain </a:t>
            </a:r>
            <a:r>
              <a:rPr sz="3200" spc="-20" dirty="0">
                <a:latin typeface="Calibri"/>
                <a:cs typeface="Calibri"/>
              </a:rPr>
              <a:t>infective </a:t>
            </a:r>
            <a:r>
              <a:rPr sz="3200" spc="-30" dirty="0">
                <a:latin typeface="Calibri"/>
                <a:cs typeface="Calibri"/>
              </a:rPr>
              <a:t>for  </a:t>
            </a:r>
            <a:r>
              <a:rPr sz="3200" spc="-20" dirty="0">
                <a:latin typeface="Calibri"/>
                <a:cs typeface="Calibri"/>
              </a:rPr>
              <a:t>several</a:t>
            </a:r>
            <a:r>
              <a:rPr sz="3200" spc="-30" dirty="0">
                <a:latin typeface="Calibri"/>
                <a:cs typeface="Calibri"/>
              </a:rPr>
              <a:t> </a:t>
            </a:r>
            <a:r>
              <a:rPr sz="3200" spc="-10" dirty="0">
                <a:latin typeface="Calibri"/>
                <a:cs typeface="Calibri"/>
              </a:rPr>
              <a:t>weeks.</a:t>
            </a:r>
            <a:endParaRPr sz="3200">
              <a:latin typeface="Calibri"/>
              <a:cs typeface="Calibri"/>
            </a:endParaRPr>
          </a:p>
        </p:txBody>
      </p:sp>
    </p:spTree>
    <p:extLst>
      <p:ext uri="{BB962C8B-B14F-4D97-AF65-F5344CB8AC3E}">
        <p14:creationId xmlns:p14="http://schemas.microsoft.com/office/powerpoint/2010/main" val="26290725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3992816"/>
            <a:ext cx="1047750" cy="281940"/>
          </a:xfrm>
          <a:custGeom>
            <a:avLst/>
            <a:gdLst/>
            <a:ahLst/>
            <a:cxnLst/>
            <a:rect l="l" t="t" r="r" b="b"/>
            <a:pathLst>
              <a:path w="1047750" h="281939">
                <a:moveTo>
                  <a:pt x="0" y="0"/>
                </a:moveTo>
                <a:lnTo>
                  <a:pt x="1047381" y="0"/>
                </a:lnTo>
                <a:lnTo>
                  <a:pt x="1047381" y="281571"/>
                </a:lnTo>
                <a:lnTo>
                  <a:pt x="0" y="281571"/>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548640" y="3484308"/>
            <a:ext cx="7901940" cy="371475"/>
          </a:xfrm>
          <a:custGeom>
            <a:avLst/>
            <a:gdLst/>
            <a:ahLst/>
            <a:cxnLst/>
            <a:rect l="l" t="t" r="r" b="b"/>
            <a:pathLst>
              <a:path w="7901940" h="371475">
                <a:moveTo>
                  <a:pt x="0" y="0"/>
                </a:moveTo>
                <a:lnTo>
                  <a:pt x="7901673" y="0"/>
                </a:lnTo>
                <a:lnTo>
                  <a:pt x="7901673" y="370966"/>
                </a:lnTo>
                <a:lnTo>
                  <a:pt x="0" y="370966"/>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911656" y="2314105"/>
            <a:ext cx="6850380" cy="370840"/>
          </a:xfrm>
          <a:custGeom>
            <a:avLst/>
            <a:gdLst/>
            <a:ahLst/>
            <a:cxnLst/>
            <a:rect l="l" t="t" r="r" b="b"/>
            <a:pathLst>
              <a:path w="6850380" h="370839">
                <a:moveTo>
                  <a:pt x="0" y="0"/>
                </a:moveTo>
                <a:lnTo>
                  <a:pt x="6850214" y="0"/>
                </a:lnTo>
                <a:lnTo>
                  <a:pt x="6850214" y="370687"/>
                </a:lnTo>
                <a:lnTo>
                  <a:pt x="0" y="370687"/>
                </a:lnTo>
                <a:lnTo>
                  <a:pt x="0" y="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xfrm>
            <a:off x="2657094" y="461899"/>
            <a:ext cx="3829685" cy="696595"/>
          </a:xfrm>
          <a:prstGeom prst="rect">
            <a:avLst/>
          </a:prstGeom>
        </p:spPr>
        <p:txBody>
          <a:bodyPr vert="horz" wrap="square" lIns="0" tIns="13335" rIns="0" bIns="0" rtlCol="0">
            <a:spAutoFit/>
          </a:bodyPr>
          <a:lstStyle/>
          <a:p>
            <a:pPr marL="12700">
              <a:lnSpc>
                <a:spcPct val="100000"/>
              </a:lnSpc>
              <a:spcBef>
                <a:spcPts val="105"/>
              </a:spcBef>
            </a:pPr>
            <a:r>
              <a:rPr sz="4400" b="0" i="0" spc="-5" dirty="0">
                <a:latin typeface="Calibri"/>
                <a:cs typeface="Calibri"/>
              </a:rPr>
              <a:t>C. </a:t>
            </a:r>
            <a:r>
              <a:rPr sz="4400" b="0" i="0" spc="-15" dirty="0">
                <a:latin typeface="Calibri"/>
                <a:cs typeface="Calibri"/>
              </a:rPr>
              <a:t>Ciliates</a:t>
            </a:r>
            <a:r>
              <a:rPr sz="4400" b="0" i="0" spc="-55" dirty="0">
                <a:latin typeface="Calibri"/>
                <a:cs typeface="Calibri"/>
              </a:rPr>
              <a:t> </a:t>
            </a:r>
            <a:r>
              <a:rPr sz="4400" b="0" i="0" spc="-30" dirty="0">
                <a:latin typeface="Calibri"/>
                <a:cs typeface="Calibri"/>
              </a:rPr>
              <a:t>Cont’d</a:t>
            </a:r>
            <a:endParaRPr sz="4400">
              <a:latin typeface="Calibri"/>
              <a:cs typeface="Calibri"/>
            </a:endParaRPr>
          </a:p>
        </p:txBody>
      </p:sp>
      <p:sp>
        <p:nvSpPr>
          <p:cNvPr id="6" name="object 6"/>
          <p:cNvSpPr txBox="1"/>
          <p:nvPr/>
        </p:nvSpPr>
        <p:spPr>
          <a:xfrm>
            <a:off x="535940" y="1509941"/>
            <a:ext cx="7926705" cy="2855595"/>
          </a:xfrm>
          <a:prstGeom prst="rect">
            <a:avLst/>
          </a:prstGeom>
        </p:spPr>
        <p:txBody>
          <a:bodyPr vert="horz" wrap="square" lIns="0" tIns="110489" rIns="0" bIns="0" rtlCol="0">
            <a:spAutoFit/>
          </a:bodyPr>
          <a:lstStyle/>
          <a:p>
            <a:pPr marL="3228975">
              <a:lnSpc>
                <a:spcPct val="100000"/>
              </a:lnSpc>
              <a:spcBef>
                <a:spcPts val="869"/>
              </a:spcBef>
            </a:pPr>
            <a:r>
              <a:rPr sz="3200" b="1" spc="-5" dirty="0">
                <a:latin typeface="Calibri"/>
                <a:cs typeface="Calibri"/>
              </a:rPr>
              <a:t>Diagnosis</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20" dirty="0">
                <a:latin typeface="Calibri"/>
                <a:cs typeface="Calibri"/>
              </a:rPr>
              <a:t>By </a:t>
            </a:r>
            <a:r>
              <a:rPr sz="3200" spc="-10" dirty="0">
                <a:latin typeface="Calibri"/>
                <a:cs typeface="Calibri"/>
              </a:rPr>
              <a:t>finding </a:t>
            </a:r>
            <a:r>
              <a:rPr sz="3200" dirty="0">
                <a:latin typeface="Calibri"/>
                <a:cs typeface="Calibri"/>
              </a:rPr>
              <a:t>the </a:t>
            </a:r>
            <a:r>
              <a:rPr sz="3200" spc="-10" dirty="0">
                <a:latin typeface="Calibri"/>
                <a:cs typeface="Calibri"/>
              </a:rPr>
              <a:t>ciliates </a:t>
            </a:r>
            <a:r>
              <a:rPr sz="3200" dirty="0">
                <a:latin typeface="Calibri"/>
                <a:cs typeface="Calibri"/>
              </a:rPr>
              <a:t>in </a:t>
            </a:r>
            <a:r>
              <a:rPr sz="3200" spc="-15" dirty="0">
                <a:latin typeface="Calibri"/>
                <a:cs typeface="Calibri"/>
              </a:rPr>
              <a:t>dysenteric</a:t>
            </a:r>
            <a:r>
              <a:rPr sz="3200" spc="80" dirty="0">
                <a:latin typeface="Calibri"/>
                <a:cs typeface="Calibri"/>
              </a:rPr>
              <a:t> </a:t>
            </a:r>
            <a:r>
              <a:rPr sz="3200" spc="-10" dirty="0">
                <a:latin typeface="Calibri"/>
                <a:cs typeface="Calibri"/>
              </a:rPr>
              <a:t>faeces</a:t>
            </a:r>
            <a:endParaRPr sz="3200">
              <a:latin typeface="Calibri"/>
              <a:cs typeface="Calibri"/>
            </a:endParaRPr>
          </a:p>
          <a:p>
            <a:pPr>
              <a:lnSpc>
                <a:spcPct val="100000"/>
              </a:lnSpc>
              <a:spcBef>
                <a:spcPts val="5"/>
              </a:spcBef>
              <a:buFont typeface="Wingdings"/>
              <a:buChar char=""/>
            </a:pPr>
            <a:endParaRPr sz="4400">
              <a:latin typeface="Calibri"/>
              <a:cs typeface="Calibri"/>
            </a:endParaRPr>
          </a:p>
          <a:p>
            <a:pPr marL="355600" marR="5080" indent="-343535">
              <a:lnSpc>
                <a:spcPct val="100000"/>
              </a:lnSpc>
              <a:buSzPct val="96875"/>
              <a:buFont typeface="Wingdings"/>
              <a:buChar char=""/>
              <a:tabLst>
                <a:tab pos="376555" algn="l"/>
              </a:tabLst>
            </a:pPr>
            <a:r>
              <a:rPr sz="3200" spc="-20" dirty="0">
                <a:latin typeface="Calibri"/>
                <a:cs typeface="Calibri"/>
              </a:rPr>
              <a:t>By </a:t>
            </a:r>
            <a:r>
              <a:rPr sz="3200" spc="-5" dirty="0">
                <a:latin typeface="Calibri"/>
                <a:cs typeface="Calibri"/>
              </a:rPr>
              <a:t>finding </a:t>
            </a:r>
            <a:r>
              <a:rPr sz="3200" dirty="0">
                <a:latin typeface="Calibri"/>
                <a:cs typeface="Calibri"/>
              </a:rPr>
              <a:t>the </a:t>
            </a:r>
            <a:r>
              <a:rPr sz="3200" spc="-15" dirty="0">
                <a:latin typeface="Calibri"/>
                <a:cs typeface="Calibri"/>
              </a:rPr>
              <a:t>cysts </a:t>
            </a:r>
            <a:r>
              <a:rPr sz="3200" spc="-5" dirty="0">
                <a:latin typeface="Calibri"/>
                <a:cs typeface="Calibri"/>
              </a:rPr>
              <a:t>in </a:t>
            </a:r>
            <a:r>
              <a:rPr sz="3200" spc="-15" dirty="0">
                <a:latin typeface="Calibri"/>
                <a:cs typeface="Calibri"/>
              </a:rPr>
              <a:t>formed </a:t>
            </a:r>
            <a:r>
              <a:rPr sz="3200" dirty="0">
                <a:latin typeface="Calibri"/>
                <a:cs typeface="Calibri"/>
              </a:rPr>
              <a:t>or </a:t>
            </a:r>
            <a:r>
              <a:rPr sz="3200" spc="-10" dirty="0">
                <a:latin typeface="Calibri"/>
                <a:cs typeface="Calibri"/>
              </a:rPr>
              <a:t>semi-formed  faeces</a:t>
            </a:r>
            <a:endParaRPr sz="3200">
              <a:latin typeface="Calibri"/>
              <a:cs typeface="Calibri"/>
            </a:endParaRPr>
          </a:p>
        </p:txBody>
      </p:sp>
    </p:spTree>
    <p:extLst>
      <p:ext uri="{BB962C8B-B14F-4D97-AF65-F5344CB8AC3E}">
        <p14:creationId xmlns:p14="http://schemas.microsoft.com/office/powerpoint/2010/main" val="166961745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5553722"/>
            <a:ext cx="5111115" cy="281940"/>
          </a:xfrm>
          <a:custGeom>
            <a:avLst/>
            <a:gdLst/>
            <a:ahLst/>
            <a:cxnLst/>
            <a:rect l="l" t="t" r="r" b="b"/>
            <a:pathLst>
              <a:path w="5111115" h="281939">
                <a:moveTo>
                  <a:pt x="0" y="0"/>
                </a:moveTo>
                <a:lnTo>
                  <a:pt x="5110949" y="0"/>
                </a:lnTo>
                <a:lnTo>
                  <a:pt x="5110949" y="281571"/>
                </a:lnTo>
                <a:lnTo>
                  <a:pt x="0" y="281571"/>
                </a:lnTo>
                <a:lnTo>
                  <a:pt x="0" y="0"/>
                </a:lnTo>
                <a:close/>
              </a:path>
            </a:pathLst>
          </a:custGeom>
          <a:solidFill>
            <a:srgbClr val="FFED00"/>
          </a:solidFill>
        </p:spPr>
        <p:txBody>
          <a:bodyPr wrap="square" lIns="0" tIns="0" rIns="0" bIns="0" rtlCol="0"/>
          <a:lstStyle/>
          <a:p>
            <a:endParaRPr/>
          </a:p>
        </p:txBody>
      </p:sp>
      <p:sp>
        <p:nvSpPr>
          <p:cNvPr id="3" name="object 3"/>
          <p:cNvSpPr txBox="1">
            <a:spLocks noGrp="1"/>
          </p:cNvSpPr>
          <p:nvPr>
            <p:ph type="title"/>
          </p:nvPr>
        </p:nvSpPr>
        <p:spPr>
          <a:xfrm>
            <a:off x="3419094" y="496950"/>
            <a:ext cx="2306955" cy="635000"/>
          </a:xfrm>
          <a:prstGeom prst="rect">
            <a:avLst/>
          </a:prstGeom>
        </p:spPr>
        <p:txBody>
          <a:bodyPr vert="horz" wrap="square" lIns="0" tIns="12065" rIns="0" bIns="0" rtlCol="0">
            <a:spAutoFit/>
          </a:bodyPr>
          <a:lstStyle/>
          <a:p>
            <a:pPr marL="12700">
              <a:lnSpc>
                <a:spcPct val="100000"/>
              </a:lnSpc>
              <a:spcBef>
                <a:spcPts val="95"/>
              </a:spcBef>
            </a:pPr>
            <a:r>
              <a:rPr b="0" i="0" spc="-50" dirty="0">
                <a:latin typeface="Calibri"/>
                <a:cs typeface="Calibri"/>
              </a:rPr>
              <a:t>D.</a:t>
            </a:r>
            <a:r>
              <a:rPr b="0" i="0" spc="-60" dirty="0">
                <a:latin typeface="Calibri"/>
                <a:cs typeface="Calibri"/>
              </a:rPr>
              <a:t> </a:t>
            </a:r>
            <a:r>
              <a:rPr i="0" spc="-10" dirty="0">
                <a:latin typeface="Calibri"/>
                <a:cs typeface="Calibri"/>
              </a:rPr>
              <a:t>Coccidia</a:t>
            </a:r>
          </a:p>
        </p:txBody>
      </p:sp>
      <p:sp>
        <p:nvSpPr>
          <p:cNvPr id="4" name="object 4"/>
          <p:cNvSpPr txBox="1"/>
          <p:nvPr/>
        </p:nvSpPr>
        <p:spPr>
          <a:xfrm>
            <a:off x="535940" y="1509941"/>
            <a:ext cx="7979409" cy="4416425"/>
          </a:xfrm>
          <a:prstGeom prst="rect">
            <a:avLst/>
          </a:prstGeom>
        </p:spPr>
        <p:txBody>
          <a:bodyPr vert="horz" wrap="square" lIns="0" tIns="110489" rIns="0" bIns="0" rtlCol="0">
            <a:spAutoFit/>
          </a:bodyPr>
          <a:lstStyle/>
          <a:p>
            <a:pPr marL="2759075">
              <a:lnSpc>
                <a:spcPct val="100000"/>
              </a:lnSpc>
              <a:spcBef>
                <a:spcPts val="869"/>
              </a:spcBef>
            </a:pPr>
            <a:r>
              <a:rPr sz="3200" b="1" spc="-5" dirty="0">
                <a:latin typeface="Calibri"/>
                <a:cs typeface="Calibri"/>
              </a:rPr>
              <a:t>1. </a:t>
            </a:r>
            <a:r>
              <a:rPr sz="3200" b="1" i="1" dirty="0">
                <a:latin typeface="Calibri"/>
                <a:cs typeface="Calibri"/>
              </a:rPr>
              <a:t>Isospora</a:t>
            </a:r>
            <a:r>
              <a:rPr sz="3200" b="1" i="1" spc="-35" dirty="0">
                <a:latin typeface="Calibri"/>
                <a:cs typeface="Calibri"/>
              </a:rPr>
              <a:t> </a:t>
            </a:r>
            <a:r>
              <a:rPr sz="3200" b="1" i="1" dirty="0">
                <a:latin typeface="Calibri"/>
                <a:cs typeface="Calibri"/>
              </a:rPr>
              <a:t>belli</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spc="-5" dirty="0">
                <a:latin typeface="Calibri"/>
                <a:cs typeface="Calibri"/>
              </a:rPr>
              <a:t>This </a:t>
            </a:r>
            <a:r>
              <a:rPr sz="3200" dirty="0">
                <a:latin typeface="Calibri"/>
                <a:cs typeface="Calibri"/>
              </a:rPr>
              <a:t>is an </a:t>
            </a:r>
            <a:r>
              <a:rPr sz="3200" spc="-15" dirty="0">
                <a:latin typeface="Calibri"/>
                <a:cs typeface="Calibri"/>
              </a:rPr>
              <a:t>intestinal </a:t>
            </a:r>
            <a:r>
              <a:rPr sz="3200" spc="-5" dirty="0">
                <a:latin typeface="Calibri"/>
                <a:cs typeface="Calibri"/>
              </a:rPr>
              <a:t>coccidian </a:t>
            </a:r>
            <a:r>
              <a:rPr sz="3200" spc="-20" dirty="0">
                <a:latin typeface="Calibri"/>
                <a:cs typeface="Calibri"/>
              </a:rPr>
              <a:t>parasite </a:t>
            </a:r>
            <a:r>
              <a:rPr sz="3200" dirty="0">
                <a:latin typeface="Calibri"/>
                <a:cs typeface="Calibri"/>
              </a:rPr>
              <a:t>which is  </a:t>
            </a:r>
            <a:r>
              <a:rPr sz="3200" spc="-5" dirty="0">
                <a:latin typeface="Calibri"/>
                <a:cs typeface="Calibri"/>
              </a:rPr>
              <a:t>thought </a:t>
            </a:r>
            <a:r>
              <a:rPr sz="3200" spc="-25" dirty="0">
                <a:latin typeface="Calibri"/>
                <a:cs typeface="Calibri"/>
              </a:rPr>
              <a:t>to infect </a:t>
            </a:r>
            <a:r>
              <a:rPr sz="3200" spc="-5" dirty="0">
                <a:latin typeface="Calibri"/>
                <a:cs typeface="Calibri"/>
              </a:rPr>
              <a:t>only</a:t>
            </a:r>
            <a:r>
              <a:rPr sz="3200" spc="85" dirty="0">
                <a:latin typeface="Calibri"/>
                <a:cs typeface="Calibri"/>
              </a:rPr>
              <a:t> </a:t>
            </a:r>
            <a:r>
              <a:rPr sz="3200" spc="-5" dirty="0">
                <a:latin typeface="Calibri"/>
                <a:cs typeface="Calibri"/>
              </a:rPr>
              <a:t>humans.</a:t>
            </a:r>
            <a:endParaRPr sz="3200">
              <a:latin typeface="Calibri"/>
              <a:cs typeface="Calibri"/>
            </a:endParaRPr>
          </a:p>
          <a:p>
            <a:pPr marL="355600" marR="41275" indent="-343535">
              <a:lnSpc>
                <a:spcPct val="100000"/>
              </a:lnSpc>
              <a:spcBef>
                <a:spcPts val="770"/>
              </a:spcBef>
              <a:buSzPct val="96875"/>
              <a:buFont typeface="Wingdings"/>
              <a:buChar char=""/>
              <a:tabLst>
                <a:tab pos="376555" algn="l"/>
              </a:tabLst>
            </a:pPr>
            <a:r>
              <a:rPr sz="3200" spc="-5" dirty="0">
                <a:latin typeface="Calibri"/>
                <a:cs typeface="Calibri"/>
              </a:rPr>
              <a:t>Although </a:t>
            </a:r>
            <a:r>
              <a:rPr sz="3200" spc="-15" dirty="0">
                <a:latin typeface="Calibri"/>
                <a:cs typeface="Calibri"/>
              </a:rPr>
              <a:t>infection </a:t>
            </a:r>
            <a:r>
              <a:rPr sz="3200" dirty="0">
                <a:latin typeface="Calibri"/>
                <a:cs typeface="Calibri"/>
              </a:rPr>
              <a:t>is </a:t>
            </a:r>
            <a:r>
              <a:rPr sz="3200" spc="-5" dirty="0">
                <a:latin typeface="Calibri"/>
                <a:cs typeface="Calibri"/>
              </a:rPr>
              <a:t>not </a:t>
            </a:r>
            <a:r>
              <a:rPr sz="3200" spc="-10" dirty="0">
                <a:latin typeface="Calibri"/>
                <a:cs typeface="Calibri"/>
              </a:rPr>
              <a:t>common, </a:t>
            </a:r>
            <a:r>
              <a:rPr sz="3200" dirty="0">
                <a:latin typeface="Calibri"/>
                <a:cs typeface="Calibri"/>
              </a:rPr>
              <a:t>it is widely  </a:t>
            </a:r>
            <a:r>
              <a:rPr sz="3200" spc="-10" dirty="0">
                <a:latin typeface="Calibri"/>
                <a:cs typeface="Calibri"/>
              </a:rPr>
              <a:t>distributed.</a:t>
            </a:r>
            <a:endParaRPr sz="3200">
              <a:latin typeface="Calibri"/>
              <a:cs typeface="Calibri"/>
            </a:endParaRPr>
          </a:p>
          <a:p>
            <a:pPr marL="2939415">
              <a:lnSpc>
                <a:spcPct val="100000"/>
              </a:lnSpc>
              <a:spcBef>
                <a:spcPts val="770"/>
              </a:spcBef>
            </a:pPr>
            <a:r>
              <a:rPr sz="3200" b="1" spc="-20" dirty="0">
                <a:latin typeface="Calibri"/>
                <a:cs typeface="Calibri"/>
              </a:rPr>
              <a:t>Transmission</a:t>
            </a:r>
            <a:endParaRPr sz="3200">
              <a:latin typeface="Calibri"/>
              <a:cs typeface="Calibri"/>
            </a:endParaRPr>
          </a:p>
          <a:p>
            <a:pPr marL="355600" marR="448309" indent="-343535">
              <a:lnSpc>
                <a:spcPct val="100000"/>
              </a:lnSpc>
              <a:spcBef>
                <a:spcPts val="770"/>
              </a:spcBef>
              <a:buSzPct val="96875"/>
              <a:buFont typeface="Wingdings"/>
              <a:buChar char=""/>
              <a:tabLst>
                <a:tab pos="376555" algn="l"/>
              </a:tabLst>
            </a:pPr>
            <a:r>
              <a:rPr sz="3200" spc="-20" dirty="0">
                <a:latin typeface="Calibri"/>
                <a:cs typeface="Calibri"/>
              </a:rPr>
              <a:t>By </a:t>
            </a:r>
            <a:r>
              <a:rPr sz="3200" spc="-10" dirty="0">
                <a:latin typeface="Calibri"/>
                <a:cs typeface="Calibri"/>
              </a:rPr>
              <a:t>ingestion </a:t>
            </a:r>
            <a:r>
              <a:rPr sz="3200" dirty="0">
                <a:latin typeface="Calibri"/>
                <a:cs typeface="Calibri"/>
              </a:rPr>
              <a:t>of </a:t>
            </a:r>
            <a:r>
              <a:rPr sz="3200" spc="-20" dirty="0">
                <a:latin typeface="Calibri"/>
                <a:cs typeface="Calibri"/>
              </a:rPr>
              <a:t>infective </a:t>
            </a:r>
            <a:r>
              <a:rPr sz="3200" spc="-10" dirty="0">
                <a:latin typeface="Calibri"/>
                <a:cs typeface="Calibri"/>
              </a:rPr>
              <a:t>oocysts </a:t>
            </a:r>
            <a:r>
              <a:rPr sz="3200" dirty="0">
                <a:latin typeface="Calibri"/>
                <a:cs typeface="Calibri"/>
              </a:rPr>
              <a:t>in </a:t>
            </a:r>
            <a:r>
              <a:rPr sz="3200" spc="-20" dirty="0">
                <a:latin typeface="Calibri"/>
                <a:cs typeface="Calibri"/>
              </a:rPr>
              <a:t>water </a:t>
            </a:r>
            <a:r>
              <a:rPr sz="3200" spc="-5" dirty="0">
                <a:latin typeface="Calibri"/>
                <a:cs typeface="Calibri"/>
              </a:rPr>
              <a:t>or  </a:t>
            </a:r>
            <a:r>
              <a:rPr sz="3200" spc="-25" dirty="0">
                <a:latin typeface="Calibri"/>
                <a:cs typeface="Calibri"/>
              </a:rPr>
              <a:t>food </a:t>
            </a:r>
            <a:r>
              <a:rPr sz="3200" spc="-15" dirty="0">
                <a:latin typeface="Calibri"/>
                <a:cs typeface="Calibri"/>
              </a:rPr>
              <a:t>contaminated </a:t>
            </a:r>
            <a:r>
              <a:rPr sz="3200" dirty="0">
                <a:latin typeface="Calibri"/>
                <a:cs typeface="Calibri"/>
              </a:rPr>
              <a:t>with</a:t>
            </a:r>
            <a:r>
              <a:rPr sz="3200" spc="65" dirty="0">
                <a:latin typeface="Calibri"/>
                <a:cs typeface="Calibri"/>
              </a:rPr>
              <a:t> </a:t>
            </a:r>
            <a:r>
              <a:rPr sz="3200" spc="-10" dirty="0">
                <a:latin typeface="Calibri"/>
                <a:cs typeface="Calibri"/>
              </a:rPr>
              <a:t>faeces.</a:t>
            </a:r>
            <a:endParaRPr sz="3200">
              <a:latin typeface="Calibri"/>
              <a:cs typeface="Calibri"/>
            </a:endParaRPr>
          </a:p>
        </p:txBody>
      </p:sp>
    </p:spTree>
    <p:extLst>
      <p:ext uri="{BB962C8B-B14F-4D97-AF65-F5344CB8AC3E}">
        <p14:creationId xmlns:p14="http://schemas.microsoft.com/office/powerpoint/2010/main" val="206260211"/>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5506580"/>
            <a:ext cx="4218305" cy="349250"/>
          </a:xfrm>
          <a:custGeom>
            <a:avLst/>
            <a:gdLst/>
            <a:ahLst/>
            <a:cxnLst/>
            <a:rect l="l" t="t" r="r" b="b"/>
            <a:pathLst>
              <a:path w="4218305" h="349250">
                <a:moveTo>
                  <a:pt x="0" y="0"/>
                </a:moveTo>
                <a:lnTo>
                  <a:pt x="4218228" y="0"/>
                </a:lnTo>
                <a:lnTo>
                  <a:pt x="4218228" y="348716"/>
                </a:lnTo>
                <a:lnTo>
                  <a:pt x="0" y="348716"/>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891844" y="5065496"/>
            <a:ext cx="7249159" cy="351155"/>
          </a:xfrm>
          <a:custGeom>
            <a:avLst/>
            <a:gdLst/>
            <a:ahLst/>
            <a:cxnLst/>
            <a:rect l="l" t="t" r="r" b="b"/>
            <a:pathLst>
              <a:path w="7249159" h="351154">
                <a:moveTo>
                  <a:pt x="0" y="0"/>
                </a:moveTo>
                <a:lnTo>
                  <a:pt x="7248791" y="0"/>
                </a:lnTo>
                <a:lnTo>
                  <a:pt x="7248791" y="350608"/>
                </a:lnTo>
                <a:lnTo>
                  <a:pt x="0" y="350608"/>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911656" y="4606455"/>
            <a:ext cx="6529070" cy="370840"/>
          </a:xfrm>
          <a:custGeom>
            <a:avLst/>
            <a:gdLst/>
            <a:ahLst/>
            <a:cxnLst/>
            <a:rect l="l" t="t" r="r" b="b"/>
            <a:pathLst>
              <a:path w="6529070" h="370839">
                <a:moveTo>
                  <a:pt x="0" y="0"/>
                </a:moveTo>
                <a:lnTo>
                  <a:pt x="6528689" y="0"/>
                </a:lnTo>
                <a:lnTo>
                  <a:pt x="6528689" y="370687"/>
                </a:lnTo>
                <a:lnTo>
                  <a:pt x="0" y="370687"/>
                </a:lnTo>
                <a:lnTo>
                  <a:pt x="0" y="0"/>
                </a:lnTo>
                <a:close/>
              </a:path>
            </a:pathLst>
          </a:custGeom>
          <a:solidFill>
            <a:srgbClr val="FFED00"/>
          </a:solidFill>
        </p:spPr>
        <p:txBody>
          <a:bodyPr wrap="square" lIns="0" tIns="0" rIns="0" bIns="0" rtlCol="0"/>
          <a:lstStyle/>
          <a:p>
            <a:endParaRPr/>
          </a:p>
        </p:txBody>
      </p:sp>
      <p:sp>
        <p:nvSpPr>
          <p:cNvPr id="5" name="object 5"/>
          <p:cNvSpPr/>
          <p:nvPr/>
        </p:nvSpPr>
        <p:spPr>
          <a:xfrm>
            <a:off x="891844" y="4090352"/>
            <a:ext cx="6068695" cy="350520"/>
          </a:xfrm>
          <a:custGeom>
            <a:avLst/>
            <a:gdLst/>
            <a:ahLst/>
            <a:cxnLst/>
            <a:rect l="l" t="t" r="r" b="b"/>
            <a:pathLst>
              <a:path w="6068695" h="350520">
                <a:moveTo>
                  <a:pt x="0" y="0"/>
                </a:moveTo>
                <a:lnTo>
                  <a:pt x="6068441" y="0"/>
                </a:lnTo>
                <a:lnTo>
                  <a:pt x="6068441" y="350342"/>
                </a:lnTo>
                <a:lnTo>
                  <a:pt x="0" y="350342"/>
                </a:lnTo>
                <a:lnTo>
                  <a:pt x="0" y="0"/>
                </a:lnTo>
                <a:close/>
              </a:path>
            </a:pathLst>
          </a:custGeom>
          <a:solidFill>
            <a:srgbClr val="FFED00"/>
          </a:solidFill>
        </p:spPr>
        <p:txBody>
          <a:bodyPr wrap="square" lIns="0" tIns="0" rIns="0" bIns="0" rtlCol="0"/>
          <a:lstStyle/>
          <a:p>
            <a:endParaRPr/>
          </a:p>
        </p:txBody>
      </p:sp>
      <p:sp>
        <p:nvSpPr>
          <p:cNvPr id="6" name="object 6"/>
          <p:cNvSpPr/>
          <p:nvPr/>
        </p:nvSpPr>
        <p:spPr>
          <a:xfrm>
            <a:off x="911656" y="3631095"/>
            <a:ext cx="7334884" cy="370840"/>
          </a:xfrm>
          <a:custGeom>
            <a:avLst/>
            <a:gdLst/>
            <a:ahLst/>
            <a:cxnLst/>
            <a:rect l="l" t="t" r="r" b="b"/>
            <a:pathLst>
              <a:path w="7334884" h="370839">
                <a:moveTo>
                  <a:pt x="0" y="0"/>
                </a:moveTo>
                <a:lnTo>
                  <a:pt x="7334567" y="0"/>
                </a:lnTo>
                <a:lnTo>
                  <a:pt x="7334567" y="370687"/>
                </a:lnTo>
                <a:lnTo>
                  <a:pt x="0" y="370687"/>
                </a:lnTo>
                <a:lnTo>
                  <a:pt x="0" y="0"/>
                </a:lnTo>
                <a:close/>
              </a:path>
            </a:pathLst>
          </a:custGeom>
          <a:solidFill>
            <a:srgbClr val="FFED00"/>
          </a:solidFill>
        </p:spPr>
        <p:txBody>
          <a:bodyPr wrap="square" lIns="0" tIns="0" rIns="0" bIns="0" rtlCol="0"/>
          <a:lstStyle/>
          <a:p>
            <a:endParaRPr/>
          </a:p>
        </p:txBody>
      </p:sp>
      <p:sp>
        <p:nvSpPr>
          <p:cNvPr id="7" name="object 7"/>
          <p:cNvSpPr/>
          <p:nvPr/>
        </p:nvSpPr>
        <p:spPr>
          <a:xfrm>
            <a:off x="891844" y="3116364"/>
            <a:ext cx="5861050" cy="349250"/>
          </a:xfrm>
          <a:custGeom>
            <a:avLst/>
            <a:gdLst/>
            <a:ahLst/>
            <a:cxnLst/>
            <a:rect l="l" t="t" r="r" b="b"/>
            <a:pathLst>
              <a:path w="5861050" h="349250">
                <a:moveTo>
                  <a:pt x="0" y="0"/>
                </a:moveTo>
                <a:lnTo>
                  <a:pt x="5860884" y="0"/>
                </a:lnTo>
                <a:lnTo>
                  <a:pt x="5860884" y="348716"/>
                </a:lnTo>
                <a:lnTo>
                  <a:pt x="0" y="348716"/>
                </a:lnTo>
                <a:lnTo>
                  <a:pt x="0" y="0"/>
                </a:lnTo>
                <a:close/>
              </a:path>
            </a:pathLst>
          </a:custGeom>
          <a:solidFill>
            <a:srgbClr val="FFED00"/>
          </a:solidFill>
        </p:spPr>
        <p:txBody>
          <a:bodyPr wrap="square" lIns="0" tIns="0" rIns="0" bIns="0" rtlCol="0"/>
          <a:lstStyle/>
          <a:p>
            <a:endParaRPr/>
          </a:p>
        </p:txBody>
      </p:sp>
      <p:sp>
        <p:nvSpPr>
          <p:cNvPr id="8" name="object 8"/>
          <p:cNvSpPr/>
          <p:nvPr/>
        </p:nvSpPr>
        <p:spPr>
          <a:xfrm>
            <a:off x="891844" y="2677452"/>
            <a:ext cx="7572375" cy="349250"/>
          </a:xfrm>
          <a:custGeom>
            <a:avLst/>
            <a:gdLst/>
            <a:ahLst/>
            <a:cxnLst/>
            <a:rect l="l" t="t" r="r" b="b"/>
            <a:pathLst>
              <a:path w="7572375" h="349250">
                <a:moveTo>
                  <a:pt x="0" y="0"/>
                </a:moveTo>
                <a:lnTo>
                  <a:pt x="7571790" y="0"/>
                </a:lnTo>
                <a:lnTo>
                  <a:pt x="7571790" y="348716"/>
                </a:lnTo>
                <a:lnTo>
                  <a:pt x="0" y="348716"/>
                </a:lnTo>
                <a:lnTo>
                  <a:pt x="0" y="0"/>
                </a:lnTo>
                <a:close/>
              </a:path>
            </a:pathLst>
          </a:custGeom>
          <a:solidFill>
            <a:srgbClr val="FFED00"/>
          </a:solidFill>
        </p:spPr>
        <p:txBody>
          <a:bodyPr wrap="square" lIns="0" tIns="0" rIns="0" bIns="0" rtlCol="0"/>
          <a:lstStyle/>
          <a:p>
            <a:endParaRPr/>
          </a:p>
        </p:txBody>
      </p:sp>
      <p:sp>
        <p:nvSpPr>
          <p:cNvPr id="9" name="object 9"/>
          <p:cNvSpPr/>
          <p:nvPr/>
        </p:nvSpPr>
        <p:spPr>
          <a:xfrm>
            <a:off x="3735959" y="2216569"/>
            <a:ext cx="4536440" cy="370840"/>
          </a:xfrm>
          <a:custGeom>
            <a:avLst/>
            <a:gdLst/>
            <a:ahLst/>
            <a:cxnLst/>
            <a:rect l="l" t="t" r="r" b="b"/>
            <a:pathLst>
              <a:path w="4536440" h="370839">
                <a:moveTo>
                  <a:pt x="0" y="0"/>
                </a:moveTo>
                <a:lnTo>
                  <a:pt x="4536313" y="0"/>
                </a:lnTo>
                <a:lnTo>
                  <a:pt x="4536313" y="370687"/>
                </a:lnTo>
                <a:lnTo>
                  <a:pt x="0" y="370687"/>
                </a:lnTo>
                <a:lnTo>
                  <a:pt x="0" y="0"/>
                </a:lnTo>
                <a:close/>
              </a:path>
            </a:pathLst>
          </a:custGeom>
          <a:solidFill>
            <a:srgbClr val="FFED00"/>
          </a:solidFill>
        </p:spPr>
        <p:txBody>
          <a:bodyPr wrap="square" lIns="0" tIns="0" rIns="0" bIns="0" rtlCol="0"/>
          <a:lstStyle/>
          <a:p>
            <a:endParaRPr/>
          </a:p>
        </p:txBody>
      </p:sp>
      <p:sp>
        <p:nvSpPr>
          <p:cNvPr id="10" name="object 10"/>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1. </a:t>
            </a:r>
            <a:r>
              <a:rPr spc="-5" dirty="0"/>
              <a:t>Isospora belli </a:t>
            </a:r>
            <a:r>
              <a:rPr spc="-25" dirty="0"/>
              <a:t>(Cont’d)</a:t>
            </a:r>
          </a:p>
        </p:txBody>
      </p:sp>
      <p:sp>
        <p:nvSpPr>
          <p:cNvPr id="11" name="object 11"/>
          <p:cNvSpPr txBox="1"/>
          <p:nvPr/>
        </p:nvSpPr>
        <p:spPr>
          <a:xfrm>
            <a:off x="535940" y="1509978"/>
            <a:ext cx="7941945" cy="4367530"/>
          </a:xfrm>
          <a:prstGeom prst="rect">
            <a:avLst/>
          </a:prstGeom>
        </p:spPr>
        <p:txBody>
          <a:bodyPr vert="horz" wrap="square" lIns="0" tIns="61594" rIns="0" bIns="0" rtlCol="0">
            <a:spAutoFit/>
          </a:bodyPr>
          <a:lstStyle/>
          <a:p>
            <a:pPr marL="3272790">
              <a:lnSpc>
                <a:spcPct val="100000"/>
              </a:lnSpc>
              <a:spcBef>
                <a:spcPts val="484"/>
              </a:spcBef>
            </a:pPr>
            <a:r>
              <a:rPr sz="3200" b="1" spc="-15" dirty="0">
                <a:latin typeface="Calibri"/>
                <a:cs typeface="Calibri"/>
              </a:rPr>
              <a:t>Life</a:t>
            </a:r>
            <a:r>
              <a:rPr sz="3200" b="1" spc="-10" dirty="0">
                <a:latin typeface="Calibri"/>
                <a:cs typeface="Calibri"/>
              </a:rPr>
              <a:t> cycle</a:t>
            </a:r>
            <a:endParaRPr sz="3200">
              <a:latin typeface="Calibri"/>
              <a:cs typeface="Calibri"/>
            </a:endParaRPr>
          </a:p>
          <a:p>
            <a:pPr marL="355600" marR="5080" indent="-343535">
              <a:lnSpc>
                <a:spcPts val="3460"/>
              </a:lnSpc>
              <a:spcBef>
                <a:spcPts val="819"/>
              </a:spcBef>
              <a:buSzPct val="96875"/>
              <a:buFont typeface="Wingdings"/>
              <a:buChar char=""/>
              <a:tabLst>
                <a:tab pos="376555" algn="l"/>
              </a:tabLst>
            </a:pPr>
            <a:r>
              <a:rPr sz="3200" spc="-15" dirty="0">
                <a:latin typeface="Calibri"/>
                <a:cs typeface="Calibri"/>
              </a:rPr>
              <a:t>Ingested </a:t>
            </a:r>
            <a:r>
              <a:rPr sz="3200" spc="-10" dirty="0">
                <a:latin typeface="Calibri"/>
                <a:cs typeface="Calibri"/>
              </a:rPr>
              <a:t>oocysts </a:t>
            </a:r>
            <a:r>
              <a:rPr sz="3200" spc="-30" dirty="0">
                <a:latin typeface="Calibri"/>
                <a:cs typeface="Calibri"/>
              </a:rPr>
              <a:t>excyst </a:t>
            </a:r>
            <a:r>
              <a:rPr sz="3200" dirty="0">
                <a:latin typeface="Calibri"/>
                <a:cs typeface="Calibri"/>
              </a:rPr>
              <a:t>in the </a:t>
            </a:r>
            <a:r>
              <a:rPr sz="3200" spc="-5" dirty="0">
                <a:latin typeface="Calibri"/>
                <a:cs typeface="Calibri"/>
              </a:rPr>
              <a:t>small </a:t>
            </a:r>
            <a:r>
              <a:rPr sz="3200" spc="-15" dirty="0">
                <a:latin typeface="Calibri"/>
                <a:cs typeface="Calibri"/>
              </a:rPr>
              <a:t>intestine  </a:t>
            </a:r>
            <a:r>
              <a:rPr sz="3200" dirty="0">
                <a:latin typeface="Calibri"/>
                <a:cs typeface="Calibri"/>
              </a:rPr>
              <a:t>as </a:t>
            </a:r>
            <a:r>
              <a:rPr sz="3200" spc="-25" dirty="0">
                <a:latin typeface="Calibri"/>
                <a:cs typeface="Calibri"/>
              </a:rPr>
              <a:t>sporozoites </a:t>
            </a:r>
            <a:r>
              <a:rPr sz="3200" dirty="0">
                <a:latin typeface="Calibri"/>
                <a:cs typeface="Calibri"/>
              </a:rPr>
              <a:t>which </a:t>
            </a:r>
            <a:r>
              <a:rPr sz="3200" spc="-15" dirty="0">
                <a:latin typeface="Calibri"/>
                <a:cs typeface="Calibri"/>
              </a:rPr>
              <a:t>enter </a:t>
            </a:r>
            <a:r>
              <a:rPr sz="3200" spc="-5" dirty="0">
                <a:latin typeface="Calibri"/>
                <a:cs typeface="Calibri"/>
              </a:rPr>
              <a:t>the epithelial cells,  </a:t>
            </a:r>
            <a:r>
              <a:rPr sz="3200" spc="-10" dirty="0">
                <a:latin typeface="Calibri"/>
                <a:cs typeface="Calibri"/>
              </a:rPr>
              <a:t>develop </a:t>
            </a:r>
            <a:r>
              <a:rPr sz="3200" dirty="0">
                <a:latin typeface="Calibri"/>
                <a:cs typeface="Calibri"/>
              </a:rPr>
              <a:t>and </a:t>
            </a:r>
            <a:r>
              <a:rPr sz="3200" spc="-5" dirty="0">
                <a:latin typeface="Calibri"/>
                <a:cs typeface="Calibri"/>
              </a:rPr>
              <a:t>multiply </a:t>
            </a:r>
            <a:r>
              <a:rPr sz="3200" spc="-10" dirty="0">
                <a:latin typeface="Calibri"/>
                <a:cs typeface="Calibri"/>
              </a:rPr>
              <a:t>by</a:t>
            </a:r>
            <a:r>
              <a:rPr sz="3200" spc="65" dirty="0">
                <a:latin typeface="Calibri"/>
                <a:cs typeface="Calibri"/>
              </a:rPr>
              <a:t> </a:t>
            </a:r>
            <a:r>
              <a:rPr sz="3200" spc="-40" dirty="0">
                <a:latin typeface="Calibri"/>
                <a:cs typeface="Calibri"/>
              </a:rPr>
              <a:t>schizogony.</a:t>
            </a:r>
            <a:endParaRPr sz="3200">
              <a:latin typeface="Calibri"/>
              <a:cs typeface="Calibri"/>
            </a:endParaRPr>
          </a:p>
          <a:p>
            <a:pPr marL="355600" marR="224154" indent="-343535">
              <a:lnSpc>
                <a:spcPts val="3460"/>
              </a:lnSpc>
              <a:spcBef>
                <a:spcPts val="760"/>
              </a:spcBef>
              <a:buSzPct val="96875"/>
              <a:buFont typeface="Wingdings"/>
              <a:buChar char=""/>
              <a:tabLst>
                <a:tab pos="376555" algn="l"/>
              </a:tabLst>
            </a:pPr>
            <a:r>
              <a:rPr sz="3200" spc="-20" dirty="0">
                <a:latin typeface="Calibri"/>
                <a:cs typeface="Calibri"/>
              </a:rPr>
              <a:t>Schizogony </a:t>
            </a:r>
            <a:r>
              <a:rPr sz="3200" dirty="0">
                <a:latin typeface="Calibri"/>
                <a:cs typeface="Calibri"/>
              </a:rPr>
              <a:t>is </a:t>
            </a:r>
            <a:r>
              <a:rPr sz="3200" spc="-20" dirty="0">
                <a:latin typeface="Calibri"/>
                <a:cs typeface="Calibri"/>
              </a:rPr>
              <a:t>followed </a:t>
            </a:r>
            <a:r>
              <a:rPr sz="3200" spc="-5" dirty="0">
                <a:latin typeface="Calibri"/>
                <a:cs typeface="Calibri"/>
              </a:rPr>
              <a:t>by </a:t>
            </a:r>
            <a:r>
              <a:rPr sz="3200" spc="-20" dirty="0">
                <a:latin typeface="Calibri"/>
                <a:cs typeface="Calibri"/>
              </a:rPr>
              <a:t>sporogony </a:t>
            </a:r>
            <a:r>
              <a:rPr sz="3200" spc="-25" dirty="0">
                <a:latin typeface="Calibri"/>
                <a:cs typeface="Calibri"/>
              </a:rPr>
              <a:t>to form  </a:t>
            </a:r>
            <a:r>
              <a:rPr sz="3200" spc="-10" dirty="0">
                <a:latin typeface="Calibri"/>
                <a:cs typeface="Calibri"/>
              </a:rPr>
              <a:t>oocysts </a:t>
            </a:r>
            <a:r>
              <a:rPr sz="3200" dirty="0">
                <a:latin typeface="Calibri"/>
                <a:cs typeface="Calibri"/>
              </a:rPr>
              <a:t>which </a:t>
            </a:r>
            <a:r>
              <a:rPr sz="3200" spc="-15" dirty="0">
                <a:latin typeface="Calibri"/>
                <a:cs typeface="Calibri"/>
              </a:rPr>
              <a:t>are </a:t>
            </a:r>
            <a:r>
              <a:rPr sz="3200" spc="-5" dirty="0">
                <a:latin typeface="Calibri"/>
                <a:cs typeface="Calibri"/>
              </a:rPr>
              <a:t>released </a:t>
            </a:r>
            <a:r>
              <a:rPr sz="3200" dirty="0">
                <a:latin typeface="Calibri"/>
                <a:cs typeface="Calibri"/>
              </a:rPr>
              <a:t>in</a:t>
            </a:r>
            <a:r>
              <a:rPr sz="3200" spc="-55" dirty="0">
                <a:latin typeface="Calibri"/>
                <a:cs typeface="Calibri"/>
              </a:rPr>
              <a:t> </a:t>
            </a:r>
            <a:r>
              <a:rPr sz="3200" spc="-10" dirty="0">
                <a:latin typeface="Calibri"/>
                <a:cs typeface="Calibri"/>
              </a:rPr>
              <a:t>faeces.</a:t>
            </a:r>
            <a:endParaRPr sz="3200">
              <a:latin typeface="Calibri"/>
              <a:cs typeface="Calibri"/>
            </a:endParaRPr>
          </a:p>
          <a:p>
            <a:pPr marL="355600" marR="327025" indent="-343535">
              <a:lnSpc>
                <a:spcPct val="90000"/>
              </a:lnSpc>
              <a:spcBef>
                <a:spcPts val="710"/>
              </a:spcBef>
              <a:buSzPct val="96875"/>
              <a:buFont typeface="Wingdings"/>
              <a:buChar char=""/>
              <a:tabLst>
                <a:tab pos="376555" algn="l"/>
              </a:tabLst>
            </a:pPr>
            <a:r>
              <a:rPr sz="3200" spc="-10" dirty="0">
                <a:latin typeface="Calibri"/>
                <a:cs typeface="Calibri"/>
              </a:rPr>
              <a:t>Oocysts </a:t>
            </a:r>
            <a:r>
              <a:rPr sz="3200" spc="-15" dirty="0">
                <a:latin typeface="Calibri"/>
                <a:cs typeface="Calibri"/>
              </a:rPr>
              <a:t>are </a:t>
            </a:r>
            <a:r>
              <a:rPr sz="3200" spc="-10" dirty="0">
                <a:latin typeface="Calibri"/>
                <a:cs typeface="Calibri"/>
              </a:rPr>
              <a:t>immature </a:t>
            </a:r>
            <a:r>
              <a:rPr sz="3200" dirty="0">
                <a:latin typeface="Calibri"/>
                <a:cs typeface="Calibri"/>
              </a:rPr>
              <a:t>when </a:t>
            </a:r>
            <a:r>
              <a:rPr sz="3200" spc="-5" dirty="0">
                <a:latin typeface="Calibri"/>
                <a:cs typeface="Calibri"/>
              </a:rPr>
              <a:t>passed but  </a:t>
            </a:r>
            <a:r>
              <a:rPr sz="3200" spc="-15" dirty="0">
                <a:latin typeface="Calibri"/>
                <a:cs typeface="Calibri"/>
              </a:rPr>
              <a:t>mature </a:t>
            </a:r>
            <a:r>
              <a:rPr sz="3200" spc="-25" dirty="0">
                <a:latin typeface="Calibri"/>
                <a:cs typeface="Calibri"/>
              </a:rPr>
              <a:t>to </a:t>
            </a:r>
            <a:r>
              <a:rPr sz="3200" dirty="0">
                <a:latin typeface="Calibri"/>
                <a:cs typeface="Calibri"/>
              </a:rPr>
              <a:t>the </a:t>
            </a:r>
            <a:r>
              <a:rPr sz="3200" spc="-20" dirty="0">
                <a:latin typeface="Calibri"/>
                <a:cs typeface="Calibri"/>
              </a:rPr>
              <a:t>infective stage, </a:t>
            </a:r>
            <a:r>
              <a:rPr sz="3200" spc="-10" dirty="0">
                <a:latin typeface="Calibri"/>
                <a:cs typeface="Calibri"/>
              </a:rPr>
              <a:t>whilst </a:t>
            </a:r>
            <a:r>
              <a:rPr sz="3200" spc="-5" dirty="0">
                <a:latin typeface="Calibri"/>
                <a:cs typeface="Calibri"/>
              </a:rPr>
              <a:t>outside  </a:t>
            </a:r>
            <a:r>
              <a:rPr sz="3200" dirty="0">
                <a:latin typeface="Calibri"/>
                <a:cs typeface="Calibri"/>
              </a:rPr>
              <a:t>the </a:t>
            </a:r>
            <a:r>
              <a:rPr sz="3200" spc="-15" dirty="0">
                <a:latin typeface="Calibri"/>
                <a:cs typeface="Calibri"/>
              </a:rPr>
              <a:t>host </a:t>
            </a:r>
            <a:r>
              <a:rPr sz="3200" spc="-50" dirty="0">
                <a:latin typeface="Calibri"/>
                <a:cs typeface="Calibri"/>
              </a:rPr>
              <a:t>body, </a:t>
            </a:r>
            <a:r>
              <a:rPr sz="3200" dirty="0">
                <a:latin typeface="Calibri"/>
                <a:cs typeface="Calibri"/>
              </a:rPr>
              <a:t>in 4-5</a:t>
            </a:r>
            <a:r>
              <a:rPr sz="3200" spc="80" dirty="0">
                <a:latin typeface="Calibri"/>
                <a:cs typeface="Calibri"/>
              </a:rPr>
              <a:t> </a:t>
            </a:r>
            <a:r>
              <a:rPr sz="3200" spc="-25" dirty="0">
                <a:latin typeface="Calibri"/>
                <a:cs typeface="Calibri"/>
              </a:rPr>
              <a:t>days.</a:t>
            </a:r>
            <a:endParaRPr sz="3200">
              <a:latin typeface="Calibri"/>
              <a:cs typeface="Calibri"/>
            </a:endParaRPr>
          </a:p>
        </p:txBody>
      </p:sp>
    </p:spTree>
    <p:extLst>
      <p:ext uri="{BB962C8B-B14F-4D97-AF65-F5344CB8AC3E}">
        <p14:creationId xmlns:p14="http://schemas.microsoft.com/office/powerpoint/2010/main" val="2167893599"/>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11656" y="4362615"/>
            <a:ext cx="4860290" cy="370840"/>
          </a:xfrm>
          <a:custGeom>
            <a:avLst/>
            <a:gdLst/>
            <a:ahLst/>
            <a:cxnLst/>
            <a:rect l="l" t="t" r="r" b="b"/>
            <a:pathLst>
              <a:path w="4860290" h="370839">
                <a:moveTo>
                  <a:pt x="0" y="0"/>
                </a:moveTo>
                <a:lnTo>
                  <a:pt x="4859705" y="0"/>
                </a:lnTo>
                <a:lnTo>
                  <a:pt x="4859705" y="370687"/>
                </a:lnTo>
                <a:lnTo>
                  <a:pt x="0" y="370687"/>
                </a:lnTo>
                <a:lnTo>
                  <a:pt x="0" y="0"/>
                </a:lnTo>
                <a:close/>
              </a:path>
            </a:pathLst>
          </a:custGeom>
          <a:solidFill>
            <a:srgbClr val="FFED00"/>
          </a:solidFill>
        </p:spPr>
        <p:txBody>
          <a:bodyPr wrap="square" lIns="0" tIns="0" rIns="0" bIns="0" rtlCol="0"/>
          <a:lstStyle/>
          <a:p>
            <a:endParaRPr/>
          </a:p>
        </p:txBody>
      </p:sp>
      <p:sp>
        <p:nvSpPr>
          <p:cNvPr id="3" name="object 3"/>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1. </a:t>
            </a:r>
            <a:r>
              <a:rPr spc="-5" dirty="0"/>
              <a:t>Isospora belli </a:t>
            </a:r>
            <a:r>
              <a:rPr spc="-25" dirty="0"/>
              <a:t>(Cont’d)</a:t>
            </a:r>
          </a:p>
        </p:txBody>
      </p:sp>
      <p:sp>
        <p:nvSpPr>
          <p:cNvPr id="4" name="object 4"/>
          <p:cNvSpPr txBox="1"/>
          <p:nvPr/>
        </p:nvSpPr>
        <p:spPr>
          <a:xfrm>
            <a:off x="535940" y="1509941"/>
            <a:ext cx="7830184" cy="4221480"/>
          </a:xfrm>
          <a:prstGeom prst="rect">
            <a:avLst/>
          </a:prstGeom>
        </p:spPr>
        <p:txBody>
          <a:bodyPr vert="horz" wrap="square" lIns="0" tIns="110489" rIns="0" bIns="0" rtlCol="0">
            <a:spAutoFit/>
          </a:bodyPr>
          <a:lstStyle/>
          <a:p>
            <a:pPr marL="1893570">
              <a:lnSpc>
                <a:spcPct val="100000"/>
              </a:lnSpc>
              <a:spcBef>
                <a:spcPts val="869"/>
              </a:spcBef>
            </a:pPr>
            <a:r>
              <a:rPr sz="3200" b="1" spc="-15" dirty="0">
                <a:latin typeface="Calibri"/>
                <a:cs typeface="Calibri"/>
              </a:rPr>
              <a:t>Symptoms </a:t>
            </a:r>
            <a:r>
              <a:rPr sz="3200" b="1" dirty="0">
                <a:latin typeface="Calibri"/>
                <a:cs typeface="Calibri"/>
              </a:rPr>
              <a:t>and</a:t>
            </a:r>
            <a:r>
              <a:rPr sz="3200" b="1" spc="-30" dirty="0">
                <a:latin typeface="Calibri"/>
                <a:cs typeface="Calibri"/>
              </a:rPr>
              <a:t> </a:t>
            </a:r>
            <a:r>
              <a:rPr sz="3200" b="1" spc="-10" dirty="0">
                <a:latin typeface="Calibri"/>
                <a:cs typeface="Calibri"/>
              </a:rPr>
              <a:t>Pathology</a:t>
            </a:r>
            <a:endParaRPr sz="3200">
              <a:latin typeface="Calibri"/>
              <a:cs typeface="Calibri"/>
            </a:endParaRPr>
          </a:p>
          <a:p>
            <a:pPr marL="355600" marR="226695" indent="-343535">
              <a:lnSpc>
                <a:spcPct val="100000"/>
              </a:lnSpc>
              <a:spcBef>
                <a:spcPts val="770"/>
              </a:spcBef>
              <a:buSzPct val="96875"/>
              <a:buFont typeface="Wingdings"/>
              <a:buChar char=""/>
              <a:tabLst>
                <a:tab pos="376555" algn="l"/>
              </a:tabLst>
            </a:pPr>
            <a:r>
              <a:rPr sz="3200" spc="-15" dirty="0">
                <a:latin typeface="Calibri"/>
                <a:cs typeface="Calibri"/>
              </a:rPr>
              <a:t>Infection </a:t>
            </a:r>
            <a:r>
              <a:rPr sz="3200" dirty="0">
                <a:latin typeface="Calibri"/>
                <a:cs typeface="Calibri"/>
              </a:rPr>
              <a:t>is </a:t>
            </a:r>
            <a:r>
              <a:rPr sz="3200" spc="-10" dirty="0">
                <a:latin typeface="Calibri"/>
                <a:cs typeface="Calibri"/>
              </a:rPr>
              <a:t>often </a:t>
            </a:r>
            <a:r>
              <a:rPr sz="3200" dirty="0">
                <a:latin typeface="Calibri"/>
                <a:cs typeface="Calibri"/>
              </a:rPr>
              <a:t>without </a:t>
            </a:r>
            <a:r>
              <a:rPr sz="3200" spc="-15" dirty="0">
                <a:latin typeface="Calibri"/>
                <a:cs typeface="Calibri"/>
              </a:rPr>
              <a:t>symptoms </a:t>
            </a:r>
            <a:r>
              <a:rPr sz="3200" dirty="0">
                <a:latin typeface="Calibri"/>
                <a:cs typeface="Calibri"/>
              </a:rPr>
              <a:t>and,  </a:t>
            </a:r>
            <a:r>
              <a:rPr sz="3200" spc="-5" dirty="0">
                <a:latin typeface="Calibri"/>
                <a:cs typeface="Calibri"/>
              </a:rPr>
              <a:t>although no serious disease </a:t>
            </a:r>
            <a:r>
              <a:rPr sz="3200" spc="-20" dirty="0">
                <a:latin typeface="Calibri"/>
                <a:cs typeface="Calibri"/>
              </a:rPr>
              <a:t>may </a:t>
            </a:r>
            <a:r>
              <a:rPr sz="3200" spc="-5" dirty="0">
                <a:latin typeface="Calibri"/>
                <a:cs typeface="Calibri"/>
              </a:rPr>
              <a:t>be caused,  </a:t>
            </a:r>
            <a:r>
              <a:rPr sz="3200" spc="-10" dirty="0">
                <a:latin typeface="Calibri"/>
                <a:cs typeface="Calibri"/>
              </a:rPr>
              <a:t>there </a:t>
            </a:r>
            <a:r>
              <a:rPr sz="3200" spc="-20" dirty="0">
                <a:latin typeface="Calibri"/>
                <a:cs typeface="Calibri"/>
              </a:rPr>
              <a:t>may </a:t>
            </a:r>
            <a:r>
              <a:rPr sz="3200" dirty="0">
                <a:latin typeface="Calibri"/>
                <a:cs typeface="Calibri"/>
              </a:rPr>
              <a:t>be abdominal </a:t>
            </a:r>
            <a:r>
              <a:rPr sz="3200" spc="-5" dirty="0">
                <a:latin typeface="Calibri"/>
                <a:cs typeface="Calibri"/>
              </a:rPr>
              <a:t>pain </a:t>
            </a:r>
            <a:r>
              <a:rPr sz="3200" dirty="0">
                <a:latin typeface="Calibri"/>
                <a:cs typeface="Calibri"/>
              </a:rPr>
              <a:t>and a </a:t>
            </a:r>
            <a:r>
              <a:rPr sz="3200" spc="-5" dirty="0">
                <a:latin typeface="Calibri"/>
                <a:cs typeface="Calibri"/>
              </a:rPr>
              <a:t>mucous  diarrhea </a:t>
            </a:r>
            <a:r>
              <a:rPr sz="3200" spc="-10" dirty="0">
                <a:latin typeface="Calibri"/>
                <a:cs typeface="Calibri"/>
              </a:rPr>
              <a:t>associated </a:t>
            </a:r>
            <a:r>
              <a:rPr sz="3200" dirty="0">
                <a:latin typeface="Calibri"/>
                <a:cs typeface="Calibri"/>
              </a:rPr>
              <a:t>with</a:t>
            </a:r>
            <a:r>
              <a:rPr sz="3200" spc="30" dirty="0">
                <a:latin typeface="Calibri"/>
                <a:cs typeface="Calibri"/>
              </a:rPr>
              <a:t> </a:t>
            </a:r>
            <a:r>
              <a:rPr sz="3200" spc="-5" dirty="0">
                <a:latin typeface="Calibri"/>
                <a:cs typeface="Calibri"/>
              </a:rPr>
              <a:t>malabsorption</a:t>
            </a:r>
            <a:endParaRPr sz="3200">
              <a:latin typeface="Calibri"/>
              <a:cs typeface="Calibri"/>
            </a:endParaRPr>
          </a:p>
          <a:p>
            <a:pPr marL="355600" marR="5080" indent="-343535" algn="just">
              <a:lnSpc>
                <a:spcPct val="100000"/>
              </a:lnSpc>
              <a:spcBef>
                <a:spcPts val="770"/>
              </a:spcBef>
              <a:buSzPct val="96875"/>
              <a:buFont typeface="Wingdings"/>
              <a:buChar char=""/>
              <a:tabLst>
                <a:tab pos="376555" algn="l"/>
              </a:tabLst>
            </a:pPr>
            <a:r>
              <a:rPr sz="3200" spc="-15" dirty="0">
                <a:latin typeface="Calibri"/>
                <a:cs typeface="Calibri"/>
              </a:rPr>
              <a:t>Often </a:t>
            </a:r>
            <a:r>
              <a:rPr sz="3200" spc="-10" dirty="0">
                <a:latin typeface="Calibri"/>
                <a:cs typeface="Calibri"/>
              </a:rPr>
              <a:t>there </a:t>
            </a:r>
            <a:r>
              <a:rPr sz="3200" dirty="0">
                <a:latin typeface="Calibri"/>
                <a:cs typeface="Calibri"/>
              </a:rPr>
              <a:t>is an </a:t>
            </a:r>
            <a:r>
              <a:rPr sz="3200" spc="-5" dirty="0">
                <a:latin typeface="Calibri"/>
                <a:cs typeface="Calibri"/>
              </a:rPr>
              <a:t>eosinophilia </a:t>
            </a:r>
            <a:r>
              <a:rPr sz="3200" spc="-15" dirty="0">
                <a:latin typeface="Calibri"/>
                <a:cs typeface="Calibri"/>
              </a:rPr>
              <a:t>(formation </a:t>
            </a:r>
            <a:r>
              <a:rPr sz="3200" dirty="0">
                <a:latin typeface="Calibri"/>
                <a:cs typeface="Calibri"/>
              </a:rPr>
              <a:t>and  </a:t>
            </a:r>
            <a:r>
              <a:rPr sz="3200" spc="-5" dirty="0">
                <a:latin typeface="Calibri"/>
                <a:cs typeface="Calibri"/>
              </a:rPr>
              <a:t>accumulation </a:t>
            </a:r>
            <a:r>
              <a:rPr sz="3200" dirty="0">
                <a:latin typeface="Calibri"/>
                <a:cs typeface="Calibri"/>
              </a:rPr>
              <a:t>of an abnormally </a:t>
            </a:r>
            <a:r>
              <a:rPr sz="3200" spc="-15" dirty="0">
                <a:latin typeface="Calibri"/>
                <a:cs typeface="Calibri"/>
              </a:rPr>
              <a:t>large </a:t>
            </a:r>
            <a:r>
              <a:rPr sz="3200" spc="-5" dirty="0">
                <a:latin typeface="Calibri"/>
                <a:cs typeface="Calibri"/>
              </a:rPr>
              <a:t>number  of </a:t>
            </a:r>
            <a:r>
              <a:rPr sz="3200" dirty="0">
                <a:latin typeface="Calibri"/>
                <a:cs typeface="Calibri"/>
              </a:rPr>
              <a:t>eosinophils in the </a:t>
            </a:r>
            <a:r>
              <a:rPr sz="3200" spc="-5" dirty="0">
                <a:latin typeface="Calibri"/>
                <a:cs typeface="Calibri"/>
              </a:rPr>
              <a:t>blood).</a:t>
            </a:r>
            <a:endParaRPr sz="3200">
              <a:latin typeface="Calibri"/>
              <a:cs typeface="Calibri"/>
            </a:endParaRPr>
          </a:p>
        </p:txBody>
      </p:sp>
    </p:spTree>
    <p:extLst>
      <p:ext uri="{BB962C8B-B14F-4D97-AF65-F5344CB8AC3E}">
        <p14:creationId xmlns:p14="http://schemas.microsoft.com/office/powerpoint/2010/main" val="2977690248"/>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1. </a:t>
            </a:r>
            <a:r>
              <a:rPr spc="-5" dirty="0"/>
              <a:t>Isospora belli </a:t>
            </a:r>
            <a:r>
              <a:rPr spc="-25" dirty="0"/>
              <a:t>(Cont’d)</a:t>
            </a:r>
          </a:p>
        </p:txBody>
      </p:sp>
      <p:sp>
        <p:nvSpPr>
          <p:cNvPr id="3" name="object 3"/>
          <p:cNvSpPr txBox="1"/>
          <p:nvPr/>
        </p:nvSpPr>
        <p:spPr>
          <a:xfrm>
            <a:off x="535940" y="1607261"/>
            <a:ext cx="7684770" cy="2660650"/>
          </a:xfrm>
          <a:prstGeom prst="rect">
            <a:avLst/>
          </a:prstGeom>
        </p:spPr>
        <p:txBody>
          <a:bodyPr vert="horz" wrap="square" lIns="0" tIns="13335" rIns="0" bIns="0" rtlCol="0">
            <a:spAutoFit/>
          </a:bodyPr>
          <a:lstStyle/>
          <a:p>
            <a:pPr marL="387350" algn="ctr">
              <a:lnSpc>
                <a:spcPct val="100000"/>
              </a:lnSpc>
              <a:spcBef>
                <a:spcPts val="105"/>
              </a:spcBef>
            </a:pPr>
            <a:r>
              <a:rPr sz="3200" b="1" spc="-15" dirty="0">
                <a:latin typeface="Calibri"/>
                <a:cs typeface="Calibri"/>
              </a:rPr>
              <a:t>Symptoms </a:t>
            </a:r>
            <a:r>
              <a:rPr sz="3200" b="1" dirty="0">
                <a:latin typeface="Calibri"/>
                <a:cs typeface="Calibri"/>
              </a:rPr>
              <a:t>and </a:t>
            </a:r>
            <a:r>
              <a:rPr sz="3200" b="1" spc="-10" dirty="0">
                <a:latin typeface="Calibri"/>
                <a:cs typeface="Calibri"/>
              </a:rPr>
              <a:t>Pathology</a:t>
            </a:r>
            <a:r>
              <a:rPr sz="3200" b="1" spc="-85" dirty="0">
                <a:latin typeface="Calibri"/>
                <a:cs typeface="Calibri"/>
              </a:rPr>
              <a:t> </a:t>
            </a:r>
            <a:r>
              <a:rPr sz="3200" b="1" spc="-30" dirty="0">
                <a:latin typeface="Calibri"/>
                <a:cs typeface="Calibri"/>
              </a:rPr>
              <a:t>cont’d</a:t>
            </a:r>
            <a:endParaRPr sz="3200">
              <a:latin typeface="Calibri"/>
              <a:cs typeface="Calibri"/>
            </a:endParaRPr>
          </a:p>
          <a:p>
            <a:pPr>
              <a:lnSpc>
                <a:spcPct val="100000"/>
              </a:lnSpc>
              <a:spcBef>
                <a:spcPts val="5"/>
              </a:spcBef>
            </a:pPr>
            <a:endParaRPr sz="4400">
              <a:latin typeface="Calibri"/>
              <a:cs typeface="Calibri"/>
            </a:endParaRPr>
          </a:p>
          <a:p>
            <a:pPr marL="355600" marR="5080" indent="-343535">
              <a:lnSpc>
                <a:spcPct val="100000"/>
              </a:lnSpc>
              <a:spcBef>
                <a:spcPts val="5"/>
              </a:spcBef>
              <a:buSzPct val="96875"/>
              <a:buFont typeface="Wingdings"/>
              <a:buChar char=""/>
              <a:tabLst>
                <a:tab pos="376555" algn="l"/>
              </a:tabLst>
            </a:pPr>
            <a:r>
              <a:rPr sz="3200" spc="-5" dirty="0">
                <a:latin typeface="Calibri"/>
                <a:cs typeface="Calibri"/>
              </a:rPr>
              <a:t>The </a:t>
            </a:r>
            <a:r>
              <a:rPr sz="3200" spc="-15" dirty="0">
                <a:latin typeface="Calibri"/>
                <a:cs typeface="Calibri"/>
              </a:rPr>
              <a:t>infection </a:t>
            </a:r>
            <a:r>
              <a:rPr sz="3200" dirty="0">
                <a:latin typeface="Calibri"/>
                <a:cs typeface="Calibri"/>
              </a:rPr>
              <a:t>is </a:t>
            </a:r>
            <a:r>
              <a:rPr sz="3200" spc="-5" dirty="0">
                <a:latin typeface="Calibri"/>
                <a:cs typeface="Calibri"/>
              </a:rPr>
              <a:t>self-limiting </a:t>
            </a:r>
            <a:r>
              <a:rPr sz="3200" dirty="0">
                <a:latin typeface="Calibri"/>
                <a:cs typeface="Calibri"/>
              </a:rPr>
              <a:t>in </a:t>
            </a:r>
            <a:r>
              <a:rPr sz="3200" spc="-10" dirty="0">
                <a:latin typeface="Calibri"/>
                <a:cs typeface="Calibri"/>
              </a:rPr>
              <a:t>that </a:t>
            </a:r>
            <a:r>
              <a:rPr sz="3200" spc="-20" dirty="0">
                <a:latin typeface="Calibri"/>
                <a:cs typeface="Calibri"/>
              </a:rPr>
              <a:t>any  </a:t>
            </a:r>
            <a:r>
              <a:rPr sz="3200" spc="-15" dirty="0">
                <a:latin typeface="Calibri"/>
                <a:cs typeface="Calibri"/>
              </a:rPr>
              <a:t>ulceration </a:t>
            </a:r>
            <a:r>
              <a:rPr sz="3200" dirty="0">
                <a:latin typeface="Calibri"/>
                <a:cs typeface="Calibri"/>
              </a:rPr>
              <a:t>of </a:t>
            </a:r>
            <a:r>
              <a:rPr sz="3200" spc="-5" dirty="0">
                <a:latin typeface="Calibri"/>
                <a:cs typeface="Calibri"/>
              </a:rPr>
              <a:t>the </a:t>
            </a:r>
            <a:r>
              <a:rPr sz="3200" spc="-15" dirty="0">
                <a:latin typeface="Calibri"/>
                <a:cs typeface="Calibri"/>
              </a:rPr>
              <a:t>intestinal </a:t>
            </a:r>
            <a:r>
              <a:rPr sz="3200" spc="-10" dirty="0">
                <a:latin typeface="Calibri"/>
                <a:cs typeface="Calibri"/>
              </a:rPr>
              <a:t>wall </a:t>
            </a:r>
            <a:r>
              <a:rPr sz="3200" spc="-5" dirty="0">
                <a:latin typeface="Calibri"/>
                <a:cs typeface="Calibri"/>
              </a:rPr>
              <a:t>usually heals  within </a:t>
            </a:r>
            <a:r>
              <a:rPr sz="3200" dirty="0">
                <a:latin typeface="Calibri"/>
                <a:cs typeface="Calibri"/>
              </a:rPr>
              <a:t>a </a:t>
            </a:r>
            <a:r>
              <a:rPr sz="3200" spc="-35" dirty="0">
                <a:latin typeface="Calibri"/>
                <a:cs typeface="Calibri"/>
              </a:rPr>
              <a:t>few</a:t>
            </a:r>
            <a:r>
              <a:rPr sz="3200" spc="25" dirty="0">
                <a:latin typeface="Calibri"/>
                <a:cs typeface="Calibri"/>
              </a:rPr>
              <a:t> </a:t>
            </a:r>
            <a:r>
              <a:rPr sz="3200" spc="-10" dirty="0">
                <a:latin typeface="Calibri"/>
                <a:cs typeface="Calibri"/>
              </a:rPr>
              <a:t>weeks.</a:t>
            </a:r>
            <a:endParaRPr sz="3200">
              <a:latin typeface="Calibri"/>
              <a:cs typeface="Calibri"/>
            </a:endParaRPr>
          </a:p>
        </p:txBody>
      </p:sp>
    </p:spTree>
    <p:extLst>
      <p:ext uri="{BB962C8B-B14F-4D97-AF65-F5344CB8AC3E}">
        <p14:creationId xmlns:p14="http://schemas.microsoft.com/office/powerpoint/2010/main" val="1380804862"/>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11656" y="4557686"/>
            <a:ext cx="4603115" cy="370840"/>
          </a:xfrm>
          <a:custGeom>
            <a:avLst/>
            <a:gdLst/>
            <a:ahLst/>
            <a:cxnLst/>
            <a:rect l="l" t="t" r="r" b="b"/>
            <a:pathLst>
              <a:path w="4603115" h="370839">
                <a:moveTo>
                  <a:pt x="0" y="0"/>
                </a:moveTo>
                <a:lnTo>
                  <a:pt x="4602683" y="0"/>
                </a:lnTo>
                <a:lnTo>
                  <a:pt x="4602683" y="370687"/>
                </a:lnTo>
                <a:lnTo>
                  <a:pt x="0" y="370687"/>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911656" y="2899321"/>
            <a:ext cx="7329805" cy="302260"/>
          </a:xfrm>
          <a:custGeom>
            <a:avLst/>
            <a:gdLst/>
            <a:ahLst/>
            <a:cxnLst/>
            <a:rect l="l" t="t" r="r" b="b"/>
            <a:pathLst>
              <a:path w="7329805" h="302260">
                <a:moveTo>
                  <a:pt x="0" y="0"/>
                </a:moveTo>
                <a:lnTo>
                  <a:pt x="7329220" y="0"/>
                </a:lnTo>
                <a:lnTo>
                  <a:pt x="7329220" y="301917"/>
                </a:lnTo>
                <a:lnTo>
                  <a:pt x="0" y="301917"/>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911656" y="2314105"/>
            <a:ext cx="2795905" cy="370840"/>
          </a:xfrm>
          <a:custGeom>
            <a:avLst/>
            <a:gdLst/>
            <a:ahLst/>
            <a:cxnLst/>
            <a:rect l="l" t="t" r="r" b="b"/>
            <a:pathLst>
              <a:path w="2795904" h="370839">
                <a:moveTo>
                  <a:pt x="0" y="0"/>
                </a:moveTo>
                <a:lnTo>
                  <a:pt x="2795866" y="0"/>
                </a:lnTo>
                <a:lnTo>
                  <a:pt x="2795866" y="370687"/>
                </a:lnTo>
                <a:lnTo>
                  <a:pt x="0" y="370687"/>
                </a:lnTo>
                <a:lnTo>
                  <a:pt x="0" y="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1. </a:t>
            </a:r>
            <a:r>
              <a:rPr spc="-5" dirty="0"/>
              <a:t>Isospora belli </a:t>
            </a:r>
            <a:r>
              <a:rPr spc="-25" dirty="0"/>
              <a:t>(Cont’d)</a:t>
            </a:r>
          </a:p>
        </p:txBody>
      </p:sp>
      <p:sp>
        <p:nvSpPr>
          <p:cNvPr id="6" name="object 6"/>
          <p:cNvSpPr txBox="1"/>
          <p:nvPr/>
        </p:nvSpPr>
        <p:spPr>
          <a:xfrm>
            <a:off x="535940" y="1509941"/>
            <a:ext cx="8044180" cy="4416425"/>
          </a:xfrm>
          <a:prstGeom prst="rect">
            <a:avLst/>
          </a:prstGeom>
        </p:spPr>
        <p:txBody>
          <a:bodyPr vert="horz" wrap="square" lIns="0" tIns="110489" rIns="0" bIns="0" rtlCol="0">
            <a:spAutoFit/>
          </a:bodyPr>
          <a:lstStyle/>
          <a:p>
            <a:pPr marL="2100580">
              <a:lnSpc>
                <a:spcPct val="100000"/>
              </a:lnSpc>
              <a:spcBef>
                <a:spcPts val="869"/>
              </a:spcBef>
            </a:pPr>
            <a:r>
              <a:rPr sz="3200" b="1" spc="-10" dirty="0">
                <a:latin typeface="Calibri"/>
                <a:cs typeface="Calibri"/>
              </a:rPr>
              <a:t>Prevention </a:t>
            </a:r>
            <a:r>
              <a:rPr sz="3200" b="1" dirty="0">
                <a:latin typeface="Calibri"/>
                <a:cs typeface="Calibri"/>
              </a:rPr>
              <a:t>and</a:t>
            </a:r>
            <a:r>
              <a:rPr sz="3200" b="1" spc="-45" dirty="0">
                <a:latin typeface="Calibri"/>
                <a:cs typeface="Calibri"/>
              </a:rPr>
              <a:t> </a:t>
            </a:r>
            <a:r>
              <a:rPr sz="3200" b="1" spc="-10" dirty="0">
                <a:latin typeface="Calibri"/>
                <a:cs typeface="Calibri"/>
              </a:rPr>
              <a:t>control</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20" dirty="0">
                <a:latin typeface="Calibri"/>
                <a:cs typeface="Calibri"/>
              </a:rPr>
              <a:t>Personal </a:t>
            </a:r>
            <a:r>
              <a:rPr sz="3200" spc="-15" dirty="0">
                <a:latin typeface="Calibri"/>
                <a:cs typeface="Calibri"/>
              </a:rPr>
              <a:t>hygiene </a:t>
            </a:r>
            <a:r>
              <a:rPr sz="3200" dirty="0">
                <a:latin typeface="Calibri"/>
                <a:cs typeface="Calibri"/>
              </a:rPr>
              <a:t>and </a:t>
            </a:r>
            <a:r>
              <a:rPr sz="3200" spc="-10" dirty="0">
                <a:latin typeface="Calibri"/>
                <a:cs typeface="Calibri"/>
              </a:rPr>
              <a:t>adequate</a:t>
            </a:r>
            <a:r>
              <a:rPr sz="3200" spc="20" dirty="0">
                <a:latin typeface="Calibri"/>
                <a:cs typeface="Calibri"/>
              </a:rPr>
              <a:t> </a:t>
            </a:r>
            <a:r>
              <a:rPr sz="3200" spc="-10" dirty="0">
                <a:latin typeface="Calibri"/>
                <a:cs typeface="Calibri"/>
              </a:rPr>
              <a:t>sanitation</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spc="-15" dirty="0">
                <a:latin typeface="Calibri"/>
                <a:cs typeface="Calibri"/>
              </a:rPr>
              <a:t>Prevention </a:t>
            </a:r>
            <a:r>
              <a:rPr sz="3200" spc="-5" dirty="0">
                <a:latin typeface="Calibri"/>
                <a:cs typeface="Calibri"/>
              </a:rPr>
              <a:t>of </a:t>
            </a:r>
            <a:r>
              <a:rPr sz="3200" spc="-25" dirty="0">
                <a:latin typeface="Calibri"/>
                <a:cs typeface="Calibri"/>
              </a:rPr>
              <a:t>food </a:t>
            </a:r>
            <a:r>
              <a:rPr sz="3200" dirty="0">
                <a:latin typeface="Calibri"/>
                <a:cs typeface="Calibri"/>
              </a:rPr>
              <a:t>and </a:t>
            </a:r>
            <a:r>
              <a:rPr sz="3200" spc="-20" dirty="0">
                <a:latin typeface="Calibri"/>
                <a:cs typeface="Calibri"/>
              </a:rPr>
              <a:t>water </a:t>
            </a:r>
            <a:r>
              <a:rPr sz="3200" spc="-15" dirty="0">
                <a:latin typeface="Calibri"/>
                <a:cs typeface="Calibri"/>
              </a:rPr>
              <a:t>contamination  </a:t>
            </a:r>
            <a:r>
              <a:rPr sz="3200" spc="-5" dirty="0">
                <a:latin typeface="Calibri"/>
                <a:cs typeface="Calibri"/>
              </a:rPr>
              <a:t>with </a:t>
            </a:r>
            <a:r>
              <a:rPr sz="3200" spc="-10" dirty="0">
                <a:latin typeface="Calibri"/>
                <a:cs typeface="Calibri"/>
              </a:rPr>
              <a:t>faeces that </a:t>
            </a:r>
            <a:r>
              <a:rPr sz="3200" spc="-20" dirty="0">
                <a:latin typeface="Calibri"/>
                <a:cs typeface="Calibri"/>
              </a:rPr>
              <a:t>may </a:t>
            </a:r>
            <a:r>
              <a:rPr sz="3200" spc="-15" dirty="0">
                <a:latin typeface="Calibri"/>
                <a:cs typeface="Calibri"/>
              </a:rPr>
              <a:t>contain </a:t>
            </a:r>
            <a:r>
              <a:rPr sz="3200" spc="-20" dirty="0">
                <a:latin typeface="Calibri"/>
                <a:cs typeface="Calibri"/>
              </a:rPr>
              <a:t>infective</a:t>
            </a:r>
            <a:r>
              <a:rPr sz="3200" spc="60" dirty="0">
                <a:latin typeface="Calibri"/>
                <a:cs typeface="Calibri"/>
              </a:rPr>
              <a:t> </a:t>
            </a:r>
            <a:r>
              <a:rPr sz="3200" spc="-10" dirty="0">
                <a:latin typeface="Calibri"/>
                <a:cs typeface="Calibri"/>
              </a:rPr>
              <a:t>oocysts.</a:t>
            </a:r>
            <a:endParaRPr sz="3200">
              <a:latin typeface="Calibri"/>
              <a:cs typeface="Calibri"/>
            </a:endParaRPr>
          </a:p>
          <a:p>
            <a:pPr marL="3228975">
              <a:lnSpc>
                <a:spcPct val="100000"/>
              </a:lnSpc>
              <a:spcBef>
                <a:spcPts val="770"/>
              </a:spcBef>
            </a:pPr>
            <a:r>
              <a:rPr sz="3200" b="1" spc="-5" dirty="0">
                <a:latin typeface="Calibri"/>
                <a:cs typeface="Calibri"/>
              </a:rPr>
              <a:t>Diagnosis</a:t>
            </a:r>
            <a:endParaRPr sz="3200">
              <a:latin typeface="Calibri"/>
              <a:cs typeface="Calibri"/>
            </a:endParaRPr>
          </a:p>
          <a:p>
            <a:pPr marL="355600" marR="49530" indent="-343535">
              <a:lnSpc>
                <a:spcPct val="100000"/>
              </a:lnSpc>
              <a:spcBef>
                <a:spcPts val="770"/>
              </a:spcBef>
              <a:buSzPct val="96875"/>
              <a:buFont typeface="Wingdings"/>
              <a:buChar char=""/>
              <a:tabLst>
                <a:tab pos="376555" algn="l"/>
              </a:tabLst>
            </a:pPr>
            <a:r>
              <a:rPr sz="3200" spc="-20" dirty="0">
                <a:latin typeface="Calibri"/>
                <a:cs typeface="Calibri"/>
              </a:rPr>
              <a:t>By </a:t>
            </a:r>
            <a:r>
              <a:rPr sz="3200" spc="-10" dirty="0">
                <a:latin typeface="Calibri"/>
                <a:cs typeface="Calibri"/>
              </a:rPr>
              <a:t>finding oocysts </a:t>
            </a:r>
            <a:r>
              <a:rPr sz="3200" dirty="0">
                <a:latin typeface="Calibri"/>
                <a:cs typeface="Calibri"/>
              </a:rPr>
              <a:t>in </a:t>
            </a:r>
            <a:r>
              <a:rPr sz="3200" spc="-10" dirty="0">
                <a:latin typeface="Calibri"/>
                <a:cs typeface="Calibri"/>
              </a:rPr>
              <a:t>faeces, </a:t>
            </a:r>
            <a:r>
              <a:rPr sz="3200" spc="-5" dirty="0">
                <a:latin typeface="Calibri"/>
                <a:cs typeface="Calibri"/>
              </a:rPr>
              <a:t>sometimes (in  50% </a:t>
            </a:r>
            <a:r>
              <a:rPr sz="3200" dirty="0">
                <a:latin typeface="Calibri"/>
                <a:cs typeface="Calibri"/>
              </a:rPr>
              <a:t>of </a:t>
            </a:r>
            <a:r>
              <a:rPr sz="3200" spc="-20" dirty="0">
                <a:latin typeface="Calibri"/>
                <a:cs typeface="Calibri"/>
              </a:rPr>
              <a:t>infected </a:t>
            </a:r>
            <a:r>
              <a:rPr sz="3200" spc="-5" dirty="0">
                <a:latin typeface="Calibri"/>
                <a:cs typeface="Calibri"/>
              </a:rPr>
              <a:t>cases) </a:t>
            </a:r>
            <a:r>
              <a:rPr sz="3200" spc="-15" dirty="0">
                <a:latin typeface="Calibri"/>
                <a:cs typeface="Calibri"/>
              </a:rPr>
              <a:t>Charcot </a:t>
            </a:r>
            <a:r>
              <a:rPr sz="3200" spc="-10" dirty="0">
                <a:latin typeface="Calibri"/>
                <a:cs typeface="Calibri"/>
              </a:rPr>
              <a:t>Leyden </a:t>
            </a:r>
            <a:r>
              <a:rPr sz="3200" spc="-15" dirty="0">
                <a:latin typeface="Calibri"/>
                <a:cs typeface="Calibri"/>
              </a:rPr>
              <a:t>crystals  </a:t>
            </a:r>
            <a:r>
              <a:rPr sz="3200" spc="-20" dirty="0">
                <a:latin typeface="Calibri"/>
                <a:cs typeface="Calibri"/>
              </a:rPr>
              <a:t>may </a:t>
            </a:r>
            <a:r>
              <a:rPr sz="3200" spc="-5" dirty="0">
                <a:latin typeface="Calibri"/>
                <a:cs typeface="Calibri"/>
              </a:rPr>
              <a:t>be </a:t>
            </a:r>
            <a:r>
              <a:rPr sz="3200" spc="-20" dirty="0">
                <a:latin typeface="Calibri"/>
                <a:cs typeface="Calibri"/>
              </a:rPr>
              <a:t>found </a:t>
            </a:r>
            <a:r>
              <a:rPr sz="3200" dirty="0">
                <a:latin typeface="Calibri"/>
                <a:cs typeface="Calibri"/>
              </a:rPr>
              <a:t>in the</a:t>
            </a:r>
            <a:r>
              <a:rPr sz="3200" spc="60" dirty="0">
                <a:latin typeface="Calibri"/>
                <a:cs typeface="Calibri"/>
              </a:rPr>
              <a:t> </a:t>
            </a:r>
            <a:r>
              <a:rPr sz="3200" spc="-10" dirty="0">
                <a:latin typeface="Calibri"/>
                <a:cs typeface="Calibri"/>
              </a:rPr>
              <a:t>faeces.</a:t>
            </a:r>
            <a:endParaRPr sz="3200">
              <a:latin typeface="Calibri"/>
              <a:cs typeface="Calibri"/>
            </a:endParaRPr>
          </a:p>
        </p:txBody>
      </p:sp>
    </p:spTree>
    <p:extLst>
      <p:ext uri="{BB962C8B-B14F-4D97-AF65-F5344CB8AC3E}">
        <p14:creationId xmlns:p14="http://schemas.microsoft.com/office/powerpoint/2010/main" val="952787531"/>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2724594"/>
            <a:ext cx="2039620" cy="335915"/>
          </a:xfrm>
          <a:custGeom>
            <a:avLst/>
            <a:gdLst/>
            <a:ahLst/>
            <a:cxnLst/>
            <a:rect l="l" t="t" r="r" b="b"/>
            <a:pathLst>
              <a:path w="2039620" h="335914">
                <a:moveTo>
                  <a:pt x="0" y="0"/>
                </a:moveTo>
                <a:lnTo>
                  <a:pt x="2039061" y="0"/>
                </a:lnTo>
                <a:lnTo>
                  <a:pt x="2039061" y="335699"/>
                </a:lnTo>
                <a:lnTo>
                  <a:pt x="0" y="335699"/>
                </a:lnTo>
                <a:lnTo>
                  <a:pt x="0" y="0"/>
                </a:lnTo>
                <a:close/>
              </a:path>
            </a:pathLst>
          </a:custGeom>
          <a:solidFill>
            <a:srgbClr val="FFED00"/>
          </a:solidFill>
        </p:spPr>
        <p:txBody>
          <a:bodyPr wrap="square" lIns="0" tIns="0" rIns="0" bIns="0" rtlCol="0"/>
          <a:lstStyle/>
          <a:p>
            <a:endParaRPr/>
          </a:p>
        </p:txBody>
      </p:sp>
      <p:sp>
        <p:nvSpPr>
          <p:cNvPr id="3" name="object 3"/>
          <p:cNvSpPr txBox="1">
            <a:spLocks noGrp="1"/>
          </p:cNvSpPr>
          <p:nvPr>
            <p:ph type="title"/>
          </p:nvPr>
        </p:nvSpPr>
        <p:spPr>
          <a:xfrm>
            <a:off x="1692020" y="496950"/>
            <a:ext cx="5757545"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2. </a:t>
            </a:r>
            <a:r>
              <a:rPr spc="-10" dirty="0"/>
              <a:t>Cryptosporidium</a:t>
            </a:r>
            <a:r>
              <a:rPr spc="-5" dirty="0"/>
              <a:t> </a:t>
            </a:r>
            <a:r>
              <a:rPr spc="-30" dirty="0"/>
              <a:t>(cont’d)</a:t>
            </a:r>
          </a:p>
        </p:txBody>
      </p:sp>
      <p:sp>
        <p:nvSpPr>
          <p:cNvPr id="4" name="object 4"/>
          <p:cNvSpPr txBox="1"/>
          <p:nvPr/>
        </p:nvSpPr>
        <p:spPr>
          <a:xfrm>
            <a:off x="535940" y="1607261"/>
            <a:ext cx="6828790" cy="514350"/>
          </a:xfrm>
          <a:prstGeom prst="rect">
            <a:avLst/>
          </a:prstGeom>
        </p:spPr>
        <p:txBody>
          <a:bodyPr vert="horz" wrap="square" lIns="0" tIns="13335" rIns="0" bIns="0" rtlCol="0">
            <a:spAutoFit/>
          </a:bodyPr>
          <a:lstStyle/>
          <a:p>
            <a:pPr marL="375920" indent="-363855">
              <a:lnSpc>
                <a:spcPct val="100000"/>
              </a:lnSpc>
              <a:spcBef>
                <a:spcPts val="105"/>
              </a:spcBef>
              <a:buSzPct val="96875"/>
              <a:buFont typeface="Wingdings"/>
              <a:buChar char=""/>
              <a:tabLst>
                <a:tab pos="376555" algn="l"/>
              </a:tabLst>
            </a:pPr>
            <a:r>
              <a:rPr sz="3200" spc="-5" dirty="0">
                <a:latin typeface="Calibri"/>
                <a:cs typeface="Calibri"/>
              </a:rPr>
              <a:t>Another </a:t>
            </a:r>
            <a:r>
              <a:rPr sz="3200" spc="-10" dirty="0">
                <a:latin typeface="Calibri"/>
                <a:cs typeface="Calibri"/>
              </a:rPr>
              <a:t>coccidian </a:t>
            </a:r>
            <a:r>
              <a:rPr sz="3200" spc="-15" dirty="0">
                <a:latin typeface="Calibri"/>
                <a:cs typeface="Calibri"/>
              </a:rPr>
              <a:t>intestinal parasite</a:t>
            </a:r>
            <a:r>
              <a:rPr sz="3200" spc="50" dirty="0">
                <a:latin typeface="Calibri"/>
                <a:cs typeface="Calibri"/>
              </a:rPr>
              <a:t> </a:t>
            </a:r>
            <a:r>
              <a:rPr sz="3200" spc="-5" dirty="0">
                <a:latin typeface="Calibri"/>
                <a:cs typeface="Calibri"/>
              </a:rPr>
              <a:t>of</a:t>
            </a:r>
            <a:endParaRPr sz="3200">
              <a:latin typeface="Calibri"/>
              <a:cs typeface="Calibri"/>
            </a:endParaRPr>
          </a:p>
        </p:txBody>
      </p:sp>
      <p:sp>
        <p:nvSpPr>
          <p:cNvPr id="5" name="object 5"/>
          <p:cNvSpPr txBox="1"/>
          <p:nvPr/>
        </p:nvSpPr>
        <p:spPr>
          <a:xfrm>
            <a:off x="891844" y="2238540"/>
            <a:ext cx="6330315" cy="349250"/>
          </a:xfrm>
          <a:prstGeom prst="rect">
            <a:avLst/>
          </a:prstGeom>
          <a:solidFill>
            <a:srgbClr val="FFED00">
              <a:alpha val="50000"/>
            </a:srgbClr>
          </a:solidFill>
        </p:spPr>
        <p:txBody>
          <a:bodyPr vert="horz" wrap="square" lIns="0" tIns="0" rIns="0" bIns="0" rtlCol="0">
            <a:spAutoFit/>
          </a:bodyPr>
          <a:lstStyle/>
          <a:p>
            <a:pPr>
              <a:lnSpc>
                <a:spcPts val="2745"/>
              </a:lnSpc>
            </a:pPr>
            <a:r>
              <a:rPr sz="3200" spc="-5" dirty="0">
                <a:latin typeface="Calibri"/>
                <a:cs typeface="Calibri"/>
              </a:rPr>
              <a:t>humans </a:t>
            </a:r>
            <a:r>
              <a:rPr sz="3200" dirty="0">
                <a:latin typeface="Calibri"/>
                <a:cs typeface="Calibri"/>
              </a:rPr>
              <a:t>especially those with</a:t>
            </a:r>
            <a:r>
              <a:rPr sz="3200" spc="-45" dirty="0">
                <a:latin typeface="Calibri"/>
                <a:cs typeface="Calibri"/>
              </a:rPr>
              <a:t> </a:t>
            </a:r>
            <a:r>
              <a:rPr sz="3200" spc="-5" dirty="0">
                <a:latin typeface="Calibri"/>
                <a:cs typeface="Calibri"/>
              </a:rPr>
              <a:t>immune</a:t>
            </a:r>
            <a:endParaRPr sz="3200">
              <a:latin typeface="Calibri"/>
              <a:cs typeface="Calibri"/>
            </a:endParaRPr>
          </a:p>
        </p:txBody>
      </p:sp>
      <p:sp>
        <p:nvSpPr>
          <p:cNvPr id="6" name="object 6"/>
          <p:cNvSpPr txBox="1"/>
          <p:nvPr/>
        </p:nvSpPr>
        <p:spPr>
          <a:xfrm>
            <a:off x="535940" y="2486758"/>
            <a:ext cx="7593330" cy="3244850"/>
          </a:xfrm>
          <a:prstGeom prst="rect">
            <a:avLst/>
          </a:prstGeom>
        </p:spPr>
        <p:txBody>
          <a:bodyPr vert="horz" wrap="square" lIns="0" tIns="109855" rIns="0" bIns="0" rtlCol="0">
            <a:spAutoFit/>
          </a:bodyPr>
          <a:lstStyle/>
          <a:p>
            <a:pPr marL="355600">
              <a:lnSpc>
                <a:spcPct val="100000"/>
              </a:lnSpc>
              <a:spcBef>
                <a:spcPts val="865"/>
              </a:spcBef>
            </a:pPr>
            <a:r>
              <a:rPr sz="3200" spc="-5" dirty="0">
                <a:latin typeface="Calibri"/>
                <a:cs typeface="Calibri"/>
              </a:rPr>
              <a:t>deficiencies,</a:t>
            </a:r>
            <a:endParaRPr sz="3200">
              <a:latin typeface="Calibri"/>
              <a:cs typeface="Calibri"/>
            </a:endParaRPr>
          </a:p>
          <a:p>
            <a:pPr marL="355600" marR="5080" indent="-343535">
              <a:lnSpc>
                <a:spcPct val="100000"/>
              </a:lnSpc>
              <a:spcBef>
                <a:spcPts val="765"/>
              </a:spcBef>
              <a:buFont typeface="Wingdings"/>
              <a:buChar char=""/>
              <a:tabLst>
                <a:tab pos="467359" algn="l"/>
              </a:tabLst>
            </a:pPr>
            <a:r>
              <a:rPr sz="3200" spc="5" dirty="0">
                <a:latin typeface="Calibri"/>
                <a:cs typeface="Calibri"/>
              </a:rPr>
              <a:t>e.g. </a:t>
            </a:r>
            <a:r>
              <a:rPr sz="3200" spc="-5" dirty="0">
                <a:latin typeface="Calibri"/>
                <a:cs typeface="Calibri"/>
              </a:rPr>
              <a:t>HIV (AIDS) </a:t>
            </a:r>
            <a:r>
              <a:rPr sz="3200" dirty="0">
                <a:latin typeface="Calibri"/>
                <a:cs typeface="Calibri"/>
              </a:rPr>
              <a:t>or </a:t>
            </a:r>
            <a:r>
              <a:rPr sz="3200" spc="-5" dirty="0">
                <a:latin typeface="Calibri"/>
                <a:cs typeface="Calibri"/>
              </a:rPr>
              <a:t>other conditions </a:t>
            </a:r>
            <a:r>
              <a:rPr sz="3200" dirty="0">
                <a:latin typeface="Calibri"/>
                <a:cs typeface="Calibri"/>
              </a:rPr>
              <a:t>which  </a:t>
            </a:r>
            <a:r>
              <a:rPr sz="3200" spc="-5" dirty="0">
                <a:latin typeface="Calibri"/>
                <a:cs typeface="Calibri"/>
              </a:rPr>
              <a:t>reduce normal immune responses including  </a:t>
            </a:r>
            <a:r>
              <a:rPr sz="3200" spc="-15" dirty="0">
                <a:latin typeface="Calibri"/>
                <a:cs typeface="Calibri"/>
              </a:rPr>
              <a:t>treatment </a:t>
            </a:r>
            <a:r>
              <a:rPr sz="3200" spc="-5" dirty="0">
                <a:latin typeface="Calibri"/>
                <a:cs typeface="Calibri"/>
              </a:rPr>
              <a:t>with </a:t>
            </a:r>
            <a:r>
              <a:rPr sz="3200" spc="-10" dirty="0">
                <a:latin typeface="Calibri"/>
                <a:cs typeface="Calibri"/>
              </a:rPr>
              <a:t>immunosuppressive</a:t>
            </a:r>
            <a:r>
              <a:rPr sz="3200" spc="90" dirty="0">
                <a:latin typeface="Calibri"/>
                <a:cs typeface="Calibri"/>
              </a:rPr>
              <a:t> </a:t>
            </a:r>
            <a:r>
              <a:rPr sz="3200" spc="-5" dirty="0">
                <a:latin typeface="Calibri"/>
                <a:cs typeface="Calibri"/>
              </a:rPr>
              <a:t>drugs.</a:t>
            </a:r>
            <a:endParaRPr sz="3200">
              <a:latin typeface="Calibri"/>
              <a:cs typeface="Calibri"/>
            </a:endParaRPr>
          </a:p>
          <a:p>
            <a:pPr marL="355600" marR="132080" indent="-343535">
              <a:lnSpc>
                <a:spcPct val="100000"/>
              </a:lnSpc>
              <a:spcBef>
                <a:spcPts val="770"/>
              </a:spcBef>
              <a:buFont typeface="Wingdings"/>
              <a:buChar char=""/>
              <a:tabLst>
                <a:tab pos="467359" algn="l"/>
              </a:tabLst>
            </a:pPr>
            <a:r>
              <a:rPr sz="3200" dirty="0">
                <a:latin typeface="Calibri"/>
                <a:cs typeface="Calibri"/>
              </a:rPr>
              <a:t>It also </a:t>
            </a:r>
            <a:r>
              <a:rPr sz="3200" spc="-15" dirty="0">
                <a:latin typeface="Calibri"/>
                <a:cs typeface="Calibri"/>
              </a:rPr>
              <a:t>infects </a:t>
            </a:r>
            <a:r>
              <a:rPr sz="3200" dirty="0">
                <a:latin typeface="Calibri"/>
                <a:cs typeface="Calibri"/>
              </a:rPr>
              <a:t>a wide </a:t>
            </a:r>
            <a:r>
              <a:rPr sz="3200" spc="-20" dirty="0">
                <a:latin typeface="Calibri"/>
                <a:cs typeface="Calibri"/>
              </a:rPr>
              <a:t>range </a:t>
            </a:r>
            <a:r>
              <a:rPr sz="3200" dirty="0">
                <a:latin typeface="Calibri"/>
                <a:cs typeface="Calibri"/>
              </a:rPr>
              <a:t>of </a:t>
            </a:r>
            <a:r>
              <a:rPr sz="3200" spc="-5" dirty="0">
                <a:latin typeface="Calibri"/>
                <a:cs typeface="Calibri"/>
              </a:rPr>
              <a:t>animals. The  disease caused </a:t>
            </a:r>
            <a:r>
              <a:rPr sz="3200" dirty="0">
                <a:latin typeface="Calibri"/>
                <a:cs typeface="Calibri"/>
              </a:rPr>
              <a:t>is</a:t>
            </a:r>
            <a:r>
              <a:rPr sz="3200" spc="-15" dirty="0">
                <a:latin typeface="Calibri"/>
                <a:cs typeface="Calibri"/>
              </a:rPr>
              <a:t> </a:t>
            </a:r>
            <a:r>
              <a:rPr sz="3200" spc="-10" dirty="0">
                <a:latin typeface="Calibri"/>
                <a:cs typeface="Calibri"/>
              </a:rPr>
              <a:t>Cryptosporidiosis.</a:t>
            </a:r>
            <a:endParaRPr sz="3200">
              <a:latin typeface="Calibri"/>
              <a:cs typeface="Calibri"/>
            </a:endParaRPr>
          </a:p>
        </p:txBody>
      </p:sp>
    </p:spTree>
    <p:extLst>
      <p:ext uri="{BB962C8B-B14F-4D97-AF65-F5344CB8AC3E}">
        <p14:creationId xmlns:p14="http://schemas.microsoft.com/office/powerpoint/2010/main" val="392202679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4870424"/>
            <a:ext cx="3503929" cy="336550"/>
          </a:xfrm>
          <a:custGeom>
            <a:avLst/>
            <a:gdLst/>
            <a:ahLst/>
            <a:cxnLst/>
            <a:rect l="l" t="t" r="r" b="b"/>
            <a:pathLst>
              <a:path w="3503929" h="336550">
                <a:moveTo>
                  <a:pt x="0" y="0"/>
                </a:moveTo>
                <a:lnTo>
                  <a:pt x="3503663" y="0"/>
                </a:lnTo>
                <a:lnTo>
                  <a:pt x="3503663" y="335953"/>
                </a:lnTo>
                <a:lnTo>
                  <a:pt x="0" y="335953"/>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911656" y="4362615"/>
            <a:ext cx="7188200" cy="370840"/>
          </a:xfrm>
          <a:custGeom>
            <a:avLst/>
            <a:gdLst/>
            <a:ahLst/>
            <a:cxnLst/>
            <a:rect l="l" t="t" r="r" b="b"/>
            <a:pathLst>
              <a:path w="7188200" h="370839">
                <a:moveTo>
                  <a:pt x="0" y="0"/>
                </a:moveTo>
                <a:lnTo>
                  <a:pt x="7188085" y="0"/>
                </a:lnTo>
                <a:lnTo>
                  <a:pt x="7188085" y="370687"/>
                </a:lnTo>
                <a:lnTo>
                  <a:pt x="0" y="370687"/>
                </a:lnTo>
                <a:lnTo>
                  <a:pt x="0" y="0"/>
                </a:lnTo>
                <a:close/>
              </a:path>
            </a:pathLst>
          </a:custGeom>
          <a:solidFill>
            <a:srgbClr val="FFED00"/>
          </a:solidFill>
        </p:spPr>
        <p:txBody>
          <a:bodyPr wrap="square" lIns="0" tIns="0" rIns="0" bIns="0" rtlCol="0"/>
          <a:lstStyle/>
          <a:p>
            <a:endParaRPr/>
          </a:p>
        </p:txBody>
      </p:sp>
      <p:sp>
        <p:nvSpPr>
          <p:cNvPr id="4" name="object 4"/>
          <p:cNvSpPr txBox="1">
            <a:spLocks noGrp="1"/>
          </p:cNvSpPr>
          <p:nvPr>
            <p:ph type="title"/>
          </p:nvPr>
        </p:nvSpPr>
        <p:spPr>
          <a:xfrm>
            <a:off x="1402461" y="461899"/>
            <a:ext cx="633412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2. </a:t>
            </a:r>
            <a:r>
              <a:rPr sz="4400" spc="-5" dirty="0"/>
              <a:t>Cryptosporidium</a:t>
            </a:r>
            <a:r>
              <a:rPr sz="4400" spc="-70" dirty="0"/>
              <a:t> </a:t>
            </a:r>
            <a:r>
              <a:rPr sz="4400" spc="-30" dirty="0"/>
              <a:t>(cont’d)</a:t>
            </a:r>
            <a:endParaRPr sz="4400">
              <a:latin typeface="Calibri"/>
              <a:cs typeface="Calibri"/>
            </a:endParaRPr>
          </a:p>
        </p:txBody>
      </p:sp>
      <p:sp>
        <p:nvSpPr>
          <p:cNvPr id="5" name="object 5"/>
          <p:cNvSpPr txBox="1"/>
          <p:nvPr/>
        </p:nvSpPr>
        <p:spPr>
          <a:xfrm>
            <a:off x="535940" y="1509941"/>
            <a:ext cx="6774180" cy="1196975"/>
          </a:xfrm>
          <a:prstGeom prst="rect">
            <a:avLst/>
          </a:prstGeom>
        </p:spPr>
        <p:txBody>
          <a:bodyPr vert="horz" wrap="square" lIns="0" tIns="110489" rIns="0" bIns="0" rtlCol="0">
            <a:spAutoFit/>
          </a:bodyPr>
          <a:lstStyle/>
          <a:p>
            <a:pPr marL="2939415">
              <a:lnSpc>
                <a:spcPct val="100000"/>
              </a:lnSpc>
              <a:spcBef>
                <a:spcPts val="869"/>
              </a:spcBef>
            </a:pPr>
            <a:r>
              <a:rPr sz="3200" b="1" spc="-20" dirty="0">
                <a:latin typeface="Calibri"/>
                <a:cs typeface="Calibri"/>
              </a:rPr>
              <a:t>Transmission</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5" dirty="0">
                <a:latin typeface="Calibri"/>
                <a:cs typeface="Calibri"/>
              </a:rPr>
              <a:t>Human </a:t>
            </a:r>
            <a:r>
              <a:rPr sz="3200" spc="-15" dirty="0">
                <a:latin typeface="Calibri"/>
                <a:cs typeface="Calibri"/>
              </a:rPr>
              <a:t>infections are </a:t>
            </a:r>
            <a:r>
              <a:rPr sz="3200" spc="-10" dirty="0">
                <a:latin typeface="Calibri"/>
                <a:cs typeface="Calibri"/>
              </a:rPr>
              <a:t>considered </a:t>
            </a:r>
            <a:r>
              <a:rPr sz="3200" spc="-25" dirty="0">
                <a:latin typeface="Calibri"/>
                <a:cs typeface="Calibri"/>
              </a:rPr>
              <a:t>to</a:t>
            </a:r>
            <a:r>
              <a:rPr sz="3200" spc="45" dirty="0">
                <a:latin typeface="Calibri"/>
                <a:cs typeface="Calibri"/>
              </a:rPr>
              <a:t> </a:t>
            </a:r>
            <a:r>
              <a:rPr sz="3200" spc="-5" dirty="0">
                <a:latin typeface="Calibri"/>
                <a:cs typeface="Calibri"/>
              </a:rPr>
              <a:t>be</a:t>
            </a:r>
            <a:endParaRPr sz="3200">
              <a:latin typeface="Calibri"/>
              <a:cs typeface="Calibri"/>
            </a:endParaRPr>
          </a:p>
        </p:txBody>
      </p:sp>
      <p:sp>
        <p:nvSpPr>
          <p:cNvPr id="6" name="object 6"/>
          <p:cNvSpPr txBox="1"/>
          <p:nvPr/>
        </p:nvSpPr>
        <p:spPr>
          <a:xfrm>
            <a:off x="891844" y="2680843"/>
            <a:ext cx="7161530" cy="513715"/>
          </a:xfrm>
          <a:prstGeom prst="rect">
            <a:avLst/>
          </a:prstGeom>
          <a:solidFill>
            <a:srgbClr val="FFED00">
              <a:alpha val="50000"/>
            </a:srgbClr>
          </a:solidFill>
        </p:spPr>
        <p:txBody>
          <a:bodyPr vert="horz" wrap="square" lIns="0" tIns="13335" rIns="0" bIns="0" rtlCol="0">
            <a:spAutoFit/>
          </a:bodyPr>
          <a:lstStyle/>
          <a:p>
            <a:pPr>
              <a:lnSpc>
                <a:spcPct val="100000"/>
              </a:lnSpc>
              <a:spcBef>
                <a:spcPts val="105"/>
              </a:spcBef>
            </a:pPr>
            <a:r>
              <a:rPr sz="3200" spc="-15" dirty="0">
                <a:latin typeface="Calibri"/>
                <a:cs typeface="Calibri"/>
              </a:rPr>
              <a:t>zoonotic </a:t>
            </a:r>
            <a:r>
              <a:rPr sz="3200" spc="-5" dirty="0">
                <a:latin typeface="Calibri"/>
                <a:cs typeface="Calibri"/>
              </a:rPr>
              <a:t>(animal </a:t>
            </a:r>
            <a:r>
              <a:rPr sz="3200" spc="-15" dirty="0">
                <a:latin typeface="Calibri"/>
                <a:cs typeface="Calibri"/>
              </a:rPr>
              <a:t>infections </a:t>
            </a:r>
            <a:r>
              <a:rPr sz="3200" spc="-10" dirty="0">
                <a:latin typeface="Calibri"/>
                <a:cs typeface="Calibri"/>
              </a:rPr>
              <a:t>transmissible</a:t>
            </a:r>
            <a:r>
              <a:rPr sz="3200" spc="90" dirty="0">
                <a:latin typeface="Calibri"/>
                <a:cs typeface="Calibri"/>
              </a:rPr>
              <a:t> </a:t>
            </a:r>
            <a:r>
              <a:rPr sz="3200" spc="-25" dirty="0">
                <a:latin typeface="Calibri"/>
                <a:cs typeface="Calibri"/>
              </a:rPr>
              <a:t>to</a:t>
            </a:r>
            <a:endParaRPr sz="3200">
              <a:latin typeface="Calibri"/>
              <a:cs typeface="Calibri"/>
            </a:endParaRPr>
          </a:p>
        </p:txBody>
      </p:sp>
      <p:sp>
        <p:nvSpPr>
          <p:cNvPr id="7" name="object 7"/>
          <p:cNvSpPr txBox="1"/>
          <p:nvPr/>
        </p:nvSpPr>
        <p:spPr>
          <a:xfrm>
            <a:off x="535940" y="3168218"/>
            <a:ext cx="7577455" cy="2075180"/>
          </a:xfrm>
          <a:prstGeom prst="rect">
            <a:avLst/>
          </a:prstGeom>
        </p:spPr>
        <p:txBody>
          <a:bodyPr vert="horz" wrap="square" lIns="0" tIns="13335" rIns="0" bIns="0" rtlCol="0">
            <a:spAutoFit/>
          </a:bodyPr>
          <a:lstStyle/>
          <a:p>
            <a:pPr marL="355600" marR="1064260">
              <a:lnSpc>
                <a:spcPct val="100000"/>
              </a:lnSpc>
              <a:spcBef>
                <a:spcPts val="105"/>
              </a:spcBef>
            </a:pPr>
            <a:r>
              <a:rPr sz="3200" spc="-5" dirty="0">
                <a:latin typeface="Calibri"/>
                <a:cs typeface="Calibri"/>
              </a:rPr>
              <a:t>humans) although </a:t>
            </a:r>
            <a:r>
              <a:rPr sz="3200" spc="-15" dirty="0">
                <a:latin typeface="Calibri"/>
                <a:cs typeface="Calibri"/>
              </a:rPr>
              <a:t>person </a:t>
            </a:r>
            <a:r>
              <a:rPr sz="3200" spc="-20" dirty="0">
                <a:latin typeface="Calibri"/>
                <a:cs typeface="Calibri"/>
              </a:rPr>
              <a:t>to </a:t>
            </a:r>
            <a:r>
              <a:rPr sz="3200" spc="-15" dirty="0">
                <a:latin typeface="Calibri"/>
                <a:cs typeface="Calibri"/>
              </a:rPr>
              <a:t>person  </a:t>
            </a:r>
            <a:r>
              <a:rPr sz="3200" spc="-10" dirty="0">
                <a:latin typeface="Calibri"/>
                <a:cs typeface="Calibri"/>
              </a:rPr>
              <a:t>transmission </a:t>
            </a:r>
            <a:r>
              <a:rPr sz="3200" dirty="0">
                <a:latin typeface="Calibri"/>
                <a:cs typeface="Calibri"/>
              </a:rPr>
              <a:t>is </a:t>
            </a:r>
            <a:r>
              <a:rPr sz="3200" spc="-5" dirty="0">
                <a:latin typeface="Calibri"/>
                <a:cs typeface="Calibri"/>
              </a:rPr>
              <a:t>thought </a:t>
            </a:r>
            <a:r>
              <a:rPr sz="3200" spc="-25" dirty="0">
                <a:latin typeface="Calibri"/>
                <a:cs typeface="Calibri"/>
              </a:rPr>
              <a:t>to </a:t>
            </a:r>
            <a:r>
              <a:rPr sz="3200" spc="-5" dirty="0">
                <a:latin typeface="Calibri"/>
                <a:cs typeface="Calibri"/>
              </a:rPr>
              <a:t>occur</a:t>
            </a:r>
            <a:r>
              <a:rPr sz="3200" spc="30" dirty="0">
                <a:latin typeface="Calibri"/>
                <a:cs typeface="Calibri"/>
              </a:rPr>
              <a:t> </a:t>
            </a:r>
            <a:r>
              <a:rPr sz="3200" dirty="0">
                <a:latin typeface="Calibri"/>
                <a:cs typeface="Calibri"/>
              </a:rPr>
              <a:t>also.</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spc="-10" dirty="0">
                <a:latin typeface="Calibri"/>
                <a:cs typeface="Calibri"/>
              </a:rPr>
              <a:t>Oocysts </a:t>
            </a:r>
            <a:r>
              <a:rPr sz="3200" spc="-15" dirty="0">
                <a:latin typeface="Calibri"/>
                <a:cs typeface="Calibri"/>
              </a:rPr>
              <a:t>ingested from </a:t>
            </a:r>
            <a:r>
              <a:rPr sz="3200" spc="-10" dirty="0">
                <a:latin typeface="Calibri"/>
                <a:cs typeface="Calibri"/>
              </a:rPr>
              <a:t>faeces </a:t>
            </a:r>
            <a:r>
              <a:rPr sz="3200" spc="-15" dirty="0">
                <a:latin typeface="Calibri"/>
                <a:cs typeface="Calibri"/>
              </a:rPr>
              <a:t>contaminated  </a:t>
            </a:r>
            <a:r>
              <a:rPr sz="3200" spc="-5" dirty="0">
                <a:latin typeface="Calibri"/>
                <a:cs typeface="Calibri"/>
              </a:rPr>
              <a:t>hands, </a:t>
            </a:r>
            <a:r>
              <a:rPr sz="3200" spc="-20" dirty="0">
                <a:latin typeface="Calibri"/>
                <a:cs typeface="Calibri"/>
              </a:rPr>
              <a:t>food </a:t>
            </a:r>
            <a:r>
              <a:rPr sz="3200" spc="5" dirty="0">
                <a:latin typeface="Calibri"/>
                <a:cs typeface="Calibri"/>
              </a:rPr>
              <a:t>or</a:t>
            </a:r>
            <a:r>
              <a:rPr sz="3200" spc="25" dirty="0">
                <a:latin typeface="Calibri"/>
                <a:cs typeface="Calibri"/>
              </a:rPr>
              <a:t> </a:t>
            </a:r>
            <a:r>
              <a:rPr sz="3200" spc="-75" dirty="0">
                <a:latin typeface="Calibri"/>
                <a:cs typeface="Calibri"/>
              </a:rPr>
              <a:t>water.</a:t>
            </a:r>
            <a:endParaRPr sz="3200">
              <a:latin typeface="Calibri"/>
              <a:cs typeface="Calibri"/>
            </a:endParaRPr>
          </a:p>
        </p:txBody>
      </p:sp>
    </p:spTree>
    <p:extLst>
      <p:ext uri="{BB962C8B-B14F-4D97-AF65-F5344CB8AC3E}">
        <p14:creationId xmlns:p14="http://schemas.microsoft.com/office/powerpoint/2010/main" val="66556435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5355031"/>
            <a:ext cx="5588635" cy="328295"/>
          </a:xfrm>
          <a:custGeom>
            <a:avLst/>
            <a:gdLst/>
            <a:ahLst/>
            <a:cxnLst/>
            <a:rect l="l" t="t" r="r" b="b"/>
            <a:pathLst>
              <a:path w="5588635" h="328295">
                <a:moveTo>
                  <a:pt x="0" y="0"/>
                </a:moveTo>
                <a:lnTo>
                  <a:pt x="5588508" y="0"/>
                </a:lnTo>
                <a:lnTo>
                  <a:pt x="5588508" y="328041"/>
                </a:lnTo>
                <a:lnTo>
                  <a:pt x="0" y="328041"/>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1855025" y="4943017"/>
            <a:ext cx="6120765" cy="264160"/>
          </a:xfrm>
          <a:custGeom>
            <a:avLst/>
            <a:gdLst/>
            <a:ahLst/>
            <a:cxnLst/>
            <a:rect l="l" t="t" r="r" b="b"/>
            <a:pathLst>
              <a:path w="6120765" h="264160">
                <a:moveTo>
                  <a:pt x="0" y="0"/>
                </a:moveTo>
                <a:lnTo>
                  <a:pt x="6120726" y="0"/>
                </a:lnTo>
                <a:lnTo>
                  <a:pt x="6120726" y="263855"/>
                </a:lnTo>
                <a:lnTo>
                  <a:pt x="0" y="263855"/>
                </a:lnTo>
                <a:lnTo>
                  <a:pt x="0" y="0"/>
                </a:lnTo>
                <a:close/>
              </a:path>
            </a:pathLst>
          </a:custGeom>
          <a:solidFill>
            <a:srgbClr val="FFED00"/>
          </a:solidFill>
        </p:spPr>
        <p:txBody>
          <a:bodyPr wrap="square" lIns="0" tIns="0" rIns="0" bIns="0" rtlCol="0"/>
          <a:lstStyle/>
          <a:p>
            <a:endParaRPr/>
          </a:p>
        </p:txBody>
      </p:sp>
      <p:sp>
        <p:nvSpPr>
          <p:cNvPr id="4" name="object 4"/>
          <p:cNvSpPr txBox="1">
            <a:spLocks noGrp="1"/>
          </p:cNvSpPr>
          <p:nvPr>
            <p:ph type="title"/>
          </p:nvPr>
        </p:nvSpPr>
        <p:spPr>
          <a:xfrm>
            <a:off x="1402461" y="461899"/>
            <a:ext cx="634047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2. </a:t>
            </a:r>
            <a:r>
              <a:rPr sz="4400" spc="-5" dirty="0"/>
              <a:t>Cryptosporidium</a:t>
            </a:r>
            <a:r>
              <a:rPr sz="4400" spc="-55" dirty="0"/>
              <a:t> </a:t>
            </a:r>
            <a:r>
              <a:rPr sz="4400" spc="-25" dirty="0"/>
              <a:t>(cont’d)</a:t>
            </a:r>
            <a:endParaRPr sz="4400">
              <a:latin typeface="Calibri"/>
              <a:cs typeface="Calibri"/>
            </a:endParaRPr>
          </a:p>
        </p:txBody>
      </p:sp>
      <p:sp>
        <p:nvSpPr>
          <p:cNvPr id="5" name="object 5"/>
          <p:cNvSpPr txBox="1"/>
          <p:nvPr/>
        </p:nvSpPr>
        <p:spPr>
          <a:xfrm>
            <a:off x="535940" y="1517269"/>
            <a:ext cx="7856855" cy="1535430"/>
          </a:xfrm>
          <a:prstGeom prst="rect">
            <a:avLst/>
          </a:prstGeom>
        </p:spPr>
        <p:txBody>
          <a:bodyPr vert="horz" wrap="square" lIns="0" tIns="58419" rIns="0" bIns="0" rtlCol="0">
            <a:spAutoFit/>
          </a:bodyPr>
          <a:lstStyle/>
          <a:p>
            <a:pPr marL="3321685">
              <a:lnSpc>
                <a:spcPct val="100000"/>
              </a:lnSpc>
              <a:spcBef>
                <a:spcPts val="459"/>
              </a:spcBef>
            </a:pPr>
            <a:r>
              <a:rPr sz="3000" b="1" spc="-15" dirty="0">
                <a:latin typeface="Calibri"/>
                <a:cs typeface="Calibri"/>
              </a:rPr>
              <a:t>Life</a:t>
            </a:r>
            <a:r>
              <a:rPr sz="3000" b="1" spc="-10" dirty="0">
                <a:latin typeface="Calibri"/>
                <a:cs typeface="Calibri"/>
              </a:rPr>
              <a:t> </a:t>
            </a:r>
            <a:r>
              <a:rPr sz="3000" b="1" spc="-15" dirty="0">
                <a:latin typeface="Calibri"/>
                <a:cs typeface="Calibri"/>
              </a:rPr>
              <a:t>cycle</a:t>
            </a:r>
            <a:endParaRPr sz="3000">
              <a:latin typeface="Calibri"/>
              <a:cs typeface="Calibri"/>
            </a:endParaRPr>
          </a:p>
          <a:p>
            <a:pPr marL="355600" indent="-343535">
              <a:lnSpc>
                <a:spcPct val="100000"/>
              </a:lnSpc>
              <a:spcBef>
                <a:spcPts val="365"/>
              </a:spcBef>
              <a:buSzPct val="96666"/>
              <a:buFont typeface="Wingdings"/>
              <a:buChar char=""/>
              <a:tabLst>
                <a:tab pos="356235" algn="l"/>
              </a:tabLst>
            </a:pPr>
            <a:r>
              <a:rPr sz="3000" spc="-5" dirty="0">
                <a:latin typeface="Calibri"/>
                <a:cs typeface="Calibri"/>
              </a:rPr>
              <a:t>Similar </a:t>
            </a:r>
            <a:r>
              <a:rPr sz="3000" spc="-10" dirty="0">
                <a:latin typeface="Calibri"/>
                <a:cs typeface="Calibri"/>
              </a:rPr>
              <a:t>to that </a:t>
            </a:r>
            <a:r>
              <a:rPr sz="3000" spc="-5" dirty="0">
                <a:latin typeface="Calibri"/>
                <a:cs typeface="Calibri"/>
              </a:rPr>
              <a:t>of </a:t>
            </a:r>
            <a:r>
              <a:rPr sz="3000" dirty="0">
                <a:latin typeface="Calibri"/>
                <a:cs typeface="Calibri"/>
              </a:rPr>
              <a:t>other </a:t>
            </a:r>
            <a:r>
              <a:rPr sz="3000" spc="-15" dirty="0">
                <a:latin typeface="Calibri"/>
                <a:cs typeface="Calibri"/>
              </a:rPr>
              <a:t>intestinal</a:t>
            </a:r>
            <a:r>
              <a:rPr sz="3000" spc="-25" dirty="0">
                <a:latin typeface="Calibri"/>
                <a:cs typeface="Calibri"/>
              </a:rPr>
              <a:t> </a:t>
            </a:r>
            <a:r>
              <a:rPr sz="3000" spc="-10" dirty="0">
                <a:latin typeface="Calibri"/>
                <a:cs typeface="Calibri"/>
              </a:rPr>
              <a:t>coccidian.</a:t>
            </a:r>
            <a:endParaRPr sz="3000">
              <a:latin typeface="Calibri"/>
              <a:cs typeface="Calibri"/>
            </a:endParaRPr>
          </a:p>
          <a:p>
            <a:pPr marL="355600" indent="-343535">
              <a:lnSpc>
                <a:spcPct val="100000"/>
              </a:lnSpc>
              <a:spcBef>
                <a:spcPts val="360"/>
              </a:spcBef>
              <a:buSzPct val="96666"/>
              <a:buFont typeface="Wingdings"/>
              <a:buChar char=""/>
              <a:tabLst>
                <a:tab pos="356235" algn="l"/>
              </a:tabLst>
            </a:pPr>
            <a:r>
              <a:rPr sz="3000" spc="-5" dirty="0">
                <a:latin typeface="Calibri"/>
                <a:cs typeface="Calibri"/>
              </a:rPr>
              <a:t>The </a:t>
            </a:r>
            <a:r>
              <a:rPr sz="3000" spc="-20" dirty="0">
                <a:latin typeface="Calibri"/>
                <a:cs typeface="Calibri"/>
              </a:rPr>
              <a:t>sporozoites </a:t>
            </a:r>
            <a:r>
              <a:rPr sz="3000" spc="-10" dirty="0">
                <a:latin typeface="Calibri"/>
                <a:cs typeface="Calibri"/>
              </a:rPr>
              <a:t>bind </a:t>
            </a:r>
            <a:r>
              <a:rPr sz="3000" spc="-15" dirty="0">
                <a:latin typeface="Calibri"/>
                <a:cs typeface="Calibri"/>
              </a:rPr>
              <a:t>to </a:t>
            </a:r>
            <a:r>
              <a:rPr sz="3000" dirty="0">
                <a:latin typeface="Calibri"/>
                <a:cs typeface="Calibri"/>
              </a:rPr>
              <a:t>the </a:t>
            </a:r>
            <a:r>
              <a:rPr sz="3000" spc="-5" dirty="0">
                <a:latin typeface="Calibri"/>
                <a:cs typeface="Calibri"/>
              </a:rPr>
              <a:t>epithelial </a:t>
            </a:r>
            <a:r>
              <a:rPr sz="3000" dirty="0">
                <a:latin typeface="Calibri"/>
                <a:cs typeface="Calibri"/>
              </a:rPr>
              <a:t>cells </a:t>
            </a:r>
            <a:r>
              <a:rPr sz="3000" spc="-5" dirty="0">
                <a:latin typeface="Calibri"/>
                <a:cs typeface="Calibri"/>
              </a:rPr>
              <a:t>of</a:t>
            </a:r>
            <a:r>
              <a:rPr sz="3000" spc="-60" dirty="0">
                <a:latin typeface="Calibri"/>
                <a:cs typeface="Calibri"/>
              </a:rPr>
              <a:t> </a:t>
            </a:r>
            <a:r>
              <a:rPr sz="3000" spc="-5" dirty="0">
                <a:latin typeface="Calibri"/>
                <a:cs typeface="Calibri"/>
              </a:rPr>
              <a:t>the</a:t>
            </a:r>
            <a:endParaRPr sz="3000">
              <a:latin typeface="Calibri"/>
              <a:cs typeface="Calibri"/>
            </a:endParaRPr>
          </a:p>
        </p:txBody>
      </p:sp>
      <p:sp>
        <p:nvSpPr>
          <p:cNvPr id="6" name="object 6"/>
          <p:cNvSpPr txBox="1"/>
          <p:nvPr/>
        </p:nvSpPr>
        <p:spPr>
          <a:xfrm>
            <a:off x="891844" y="3115691"/>
            <a:ext cx="6170295" cy="327025"/>
          </a:xfrm>
          <a:prstGeom prst="rect">
            <a:avLst/>
          </a:prstGeom>
          <a:solidFill>
            <a:srgbClr val="FFED00">
              <a:alpha val="50000"/>
            </a:srgbClr>
          </a:solidFill>
        </p:spPr>
        <p:txBody>
          <a:bodyPr vert="horz" wrap="square" lIns="0" tIns="0" rIns="0" bIns="0" rtlCol="0">
            <a:spAutoFit/>
          </a:bodyPr>
          <a:lstStyle/>
          <a:p>
            <a:pPr>
              <a:lnSpc>
                <a:spcPts val="2570"/>
              </a:lnSpc>
            </a:pPr>
            <a:r>
              <a:rPr sz="3000" spc="-5" dirty="0">
                <a:latin typeface="Calibri"/>
                <a:cs typeface="Calibri"/>
              </a:rPr>
              <a:t>small </a:t>
            </a:r>
            <a:r>
              <a:rPr sz="3000" spc="-15" dirty="0">
                <a:latin typeface="Calibri"/>
                <a:cs typeface="Calibri"/>
              </a:rPr>
              <a:t>intestine </a:t>
            </a:r>
            <a:r>
              <a:rPr sz="3000" dirty="0">
                <a:latin typeface="Calibri"/>
                <a:cs typeface="Calibri"/>
              </a:rPr>
              <a:t>and </a:t>
            </a:r>
            <a:r>
              <a:rPr sz="3000" spc="-5" dirty="0">
                <a:latin typeface="Calibri"/>
                <a:cs typeface="Calibri"/>
              </a:rPr>
              <a:t>multiply </a:t>
            </a:r>
            <a:r>
              <a:rPr sz="3000" dirty="0">
                <a:latin typeface="Calibri"/>
                <a:cs typeface="Calibri"/>
              </a:rPr>
              <a:t>and</a:t>
            </a:r>
            <a:r>
              <a:rPr sz="3000" spc="-55" dirty="0">
                <a:latin typeface="Calibri"/>
                <a:cs typeface="Calibri"/>
              </a:rPr>
              <a:t> </a:t>
            </a:r>
            <a:r>
              <a:rPr sz="3000" spc="-10" dirty="0">
                <a:latin typeface="Calibri"/>
                <a:cs typeface="Calibri"/>
              </a:rPr>
              <a:t>oocysts</a:t>
            </a:r>
            <a:endParaRPr sz="3000">
              <a:latin typeface="Calibri"/>
              <a:cs typeface="Calibri"/>
            </a:endParaRPr>
          </a:p>
        </p:txBody>
      </p:sp>
      <p:sp>
        <p:nvSpPr>
          <p:cNvPr id="7" name="object 7"/>
          <p:cNvSpPr txBox="1"/>
          <p:nvPr/>
        </p:nvSpPr>
        <p:spPr>
          <a:xfrm>
            <a:off x="891844" y="3525443"/>
            <a:ext cx="5382895" cy="328295"/>
          </a:xfrm>
          <a:prstGeom prst="rect">
            <a:avLst/>
          </a:prstGeom>
          <a:solidFill>
            <a:srgbClr val="FFED00">
              <a:alpha val="50000"/>
            </a:srgbClr>
          </a:solidFill>
        </p:spPr>
        <p:txBody>
          <a:bodyPr vert="horz" wrap="square" lIns="0" tIns="0" rIns="0" bIns="0" rtlCol="0">
            <a:spAutoFit/>
          </a:bodyPr>
          <a:lstStyle/>
          <a:p>
            <a:pPr>
              <a:lnSpc>
                <a:spcPts val="2585"/>
              </a:lnSpc>
            </a:pPr>
            <a:r>
              <a:rPr sz="3000" spc="-15" dirty="0">
                <a:latin typeface="Calibri"/>
                <a:cs typeface="Calibri"/>
              </a:rPr>
              <a:t>produced are </a:t>
            </a:r>
            <a:r>
              <a:rPr sz="3000" spc="-5" dirty="0">
                <a:latin typeface="Calibri"/>
                <a:cs typeface="Calibri"/>
              </a:rPr>
              <a:t>passed out </a:t>
            </a:r>
            <a:r>
              <a:rPr sz="3000" dirty="0">
                <a:latin typeface="Calibri"/>
                <a:cs typeface="Calibri"/>
              </a:rPr>
              <a:t>in</a:t>
            </a:r>
            <a:r>
              <a:rPr sz="3000" spc="-25" dirty="0">
                <a:latin typeface="Calibri"/>
                <a:cs typeface="Calibri"/>
              </a:rPr>
              <a:t> </a:t>
            </a:r>
            <a:r>
              <a:rPr sz="3000" spc="-10" dirty="0">
                <a:latin typeface="Calibri"/>
                <a:cs typeface="Calibri"/>
              </a:rPr>
              <a:t>faeces.</a:t>
            </a:r>
            <a:endParaRPr sz="3000">
              <a:latin typeface="Calibri"/>
              <a:cs typeface="Calibri"/>
            </a:endParaRPr>
          </a:p>
        </p:txBody>
      </p:sp>
      <p:sp>
        <p:nvSpPr>
          <p:cNvPr id="8" name="object 8"/>
          <p:cNvSpPr txBox="1"/>
          <p:nvPr/>
        </p:nvSpPr>
        <p:spPr>
          <a:xfrm>
            <a:off x="535940" y="3850004"/>
            <a:ext cx="8032115" cy="1854835"/>
          </a:xfrm>
          <a:prstGeom prst="rect">
            <a:avLst/>
          </a:prstGeom>
        </p:spPr>
        <p:txBody>
          <a:bodyPr vert="horz" wrap="square" lIns="0" tIns="58419" rIns="0" bIns="0" rtlCol="0">
            <a:spAutoFit/>
          </a:bodyPr>
          <a:lstStyle/>
          <a:p>
            <a:pPr marL="3204210">
              <a:lnSpc>
                <a:spcPct val="100000"/>
              </a:lnSpc>
              <a:spcBef>
                <a:spcPts val="459"/>
              </a:spcBef>
            </a:pPr>
            <a:r>
              <a:rPr sz="3000" b="1" spc="-15" dirty="0">
                <a:latin typeface="Calibri"/>
                <a:cs typeface="Calibri"/>
              </a:rPr>
              <a:t>Symptoms</a:t>
            </a:r>
            <a:endParaRPr sz="3000">
              <a:latin typeface="Calibri"/>
              <a:cs typeface="Calibri"/>
            </a:endParaRPr>
          </a:p>
          <a:p>
            <a:pPr marL="355600" marR="5080" indent="-343535">
              <a:lnSpc>
                <a:spcPct val="90000"/>
              </a:lnSpc>
              <a:spcBef>
                <a:spcPts val="720"/>
              </a:spcBef>
              <a:buSzPct val="96666"/>
              <a:buFont typeface="Wingdings"/>
              <a:buChar char=""/>
              <a:tabLst>
                <a:tab pos="356235" algn="l"/>
              </a:tabLst>
            </a:pPr>
            <a:r>
              <a:rPr sz="3000" dirty="0">
                <a:latin typeface="Calibri"/>
                <a:cs typeface="Calibri"/>
              </a:rPr>
              <a:t>In </a:t>
            </a:r>
            <a:r>
              <a:rPr sz="3000" spc="-10" dirty="0">
                <a:latin typeface="Calibri"/>
                <a:cs typeface="Calibri"/>
              </a:rPr>
              <a:t>immune-deficient </a:t>
            </a:r>
            <a:r>
              <a:rPr sz="3000" spc="-5" dirty="0">
                <a:latin typeface="Calibri"/>
                <a:cs typeface="Calibri"/>
              </a:rPr>
              <a:t>individuals </a:t>
            </a:r>
            <a:r>
              <a:rPr sz="3000" dirty="0">
                <a:latin typeface="Calibri"/>
                <a:cs typeface="Calibri"/>
              </a:rPr>
              <a:t>the </a:t>
            </a:r>
            <a:r>
              <a:rPr sz="3000" spc="-15" dirty="0">
                <a:latin typeface="Calibri"/>
                <a:cs typeface="Calibri"/>
              </a:rPr>
              <a:t>infection </a:t>
            </a:r>
            <a:r>
              <a:rPr sz="3000" spc="-20" dirty="0">
                <a:latin typeface="Calibri"/>
                <a:cs typeface="Calibri"/>
              </a:rPr>
              <a:t>may  </a:t>
            </a:r>
            <a:r>
              <a:rPr sz="3000" spc="-5" dirty="0">
                <a:latin typeface="Calibri"/>
                <a:cs typeface="Calibri"/>
              </a:rPr>
              <a:t>cause </a:t>
            </a:r>
            <a:r>
              <a:rPr sz="3000" spc="-10" dirty="0">
                <a:latin typeface="Calibri"/>
                <a:cs typeface="Calibri"/>
              </a:rPr>
              <a:t>acute </a:t>
            </a:r>
            <a:r>
              <a:rPr sz="3000" dirty="0">
                <a:latin typeface="Calibri"/>
                <a:cs typeface="Calibri"/>
              </a:rPr>
              <a:t>and </a:t>
            </a:r>
            <a:r>
              <a:rPr sz="3000" spc="-10" dirty="0">
                <a:latin typeface="Calibri"/>
                <a:cs typeface="Calibri"/>
              </a:rPr>
              <a:t>often </a:t>
            </a:r>
            <a:r>
              <a:rPr sz="3000" spc="-30" dirty="0">
                <a:latin typeface="Calibri"/>
                <a:cs typeface="Calibri"/>
              </a:rPr>
              <a:t>fatal </a:t>
            </a:r>
            <a:r>
              <a:rPr sz="3000" spc="-5" dirty="0">
                <a:latin typeface="Calibri"/>
                <a:cs typeface="Calibri"/>
              </a:rPr>
              <a:t>diarrhoeal </a:t>
            </a:r>
            <a:r>
              <a:rPr sz="3000" spc="-10" dirty="0">
                <a:latin typeface="Calibri"/>
                <a:cs typeface="Calibri"/>
              </a:rPr>
              <a:t>disease  </a:t>
            </a:r>
            <a:r>
              <a:rPr sz="3000" dirty="0">
                <a:latin typeface="Calibri"/>
                <a:cs typeface="Calibri"/>
              </a:rPr>
              <a:t>and </a:t>
            </a:r>
            <a:r>
              <a:rPr sz="3000" spc="-5" dirty="0">
                <a:latin typeface="Calibri"/>
                <a:cs typeface="Calibri"/>
              </a:rPr>
              <a:t>sometimes </a:t>
            </a:r>
            <a:r>
              <a:rPr sz="3000" spc="-20" dirty="0">
                <a:latin typeface="Calibri"/>
                <a:cs typeface="Calibri"/>
              </a:rPr>
              <a:t>respiratory</a:t>
            </a:r>
            <a:r>
              <a:rPr sz="3000" spc="-30" dirty="0">
                <a:latin typeface="Calibri"/>
                <a:cs typeface="Calibri"/>
              </a:rPr>
              <a:t> </a:t>
            </a:r>
            <a:r>
              <a:rPr sz="3000" spc="-10" dirty="0">
                <a:latin typeface="Calibri"/>
                <a:cs typeface="Calibri"/>
              </a:rPr>
              <a:t>infection.</a:t>
            </a:r>
            <a:endParaRPr sz="3000">
              <a:latin typeface="Calibri"/>
              <a:cs typeface="Calibri"/>
            </a:endParaRPr>
          </a:p>
        </p:txBody>
      </p:sp>
    </p:spTree>
    <p:extLst>
      <p:ext uri="{BB962C8B-B14F-4D97-AF65-F5344CB8AC3E}">
        <p14:creationId xmlns:p14="http://schemas.microsoft.com/office/powerpoint/2010/main" val="1512506917"/>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3504069" y="5533377"/>
            <a:ext cx="4164965" cy="302260"/>
          </a:xfrm>
          <a:custGeom>
            <a:avLst/>
            <a:gdLst/>
            <a:ahLst/>
            <a:cxnLst/>
            <a:rect l="l" t="t" r="r" b="b"/>
            <a:pathLst>
              <a:path w="4164965" h="302260">
                <a:moveTo>
                  <a:pt x="0" y="0"/>
                </a:moveTo>
                <a:lnTo>
                  <a:pt x="4164736" y="0"/>
                </a:lnTo>
                <a:lnTo>
                  <a:pt x="4164736" y="301917"/>
                </a:lnTo>
                <a:lnTo>
                  <a:pt x="0" y="301917"/>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2106155" y="3421799"/>
            <a:ext cx="2205355" cy="336550"/>
          </a:xfrm>
          <a:custGeom>
            <a:avLst/>
            <a:gdLst/>
            <a:ahLst/>
            <a:cxnLst/>
            <a:rect l="l" t="t" r="r" b="b"/>
            <a:pathLst>
              <a:path w="2205354" h="336550">
                <a:moveTo>
                  <a:pt x="0" y="0"/>
                </a:moveTo>
                <a:lnTo>
                  <a:pt x="2205050" y="0"/>
                </a:lnTo>
                <a:lnTo>
                  <a:pt x="2205050" y="335940"/>
                </a:lnTo>
                <a:lnTo>
                  <a:pt x="0" y="335940"/>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1922500" y="3421799"/>
            <a:ext cx="184150" cy="336550"/>
          </a:xfrm>
          <a:custGeom>
            <a:avLst/>
            <a:gdLst/>
            <a:ahLst/>
            <a:cxnLst/>
            <a:rect l="l" t="t" r="r" b="b"/>
            <a:pathLst>
              <a:path w="184150" h="336550">
                <a:moveTo>
                  <a:pt x="0" y="335940"/>
                </a:moveTo>
                <a:lnTo>
                  <a:pt x="183654" y="335940"/>
                </a:lnTo>
                <a:lnTo>
                  <a:pt x="183654" y="0"/>
                </a:lnTo>
                <a:lnTo>
                  <a:pt x="0" y="0"/>
                </a:lnTo>
                <a:lnTo>
                  <a:pt x="0" y="33594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xfrm>
            <a:off x="1402461" y="461899"/>
            <a:ext cx="634047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2. </a:t>
            </a:r>
            <a:r>
              <a:rPr sz="4400" spc="-5" dirty="0"/>
              <a:t>Cryptosporidium</a:t>
            </a:r>
            <a:r>
              <a:rPr sz="4400" spc="-55" dirty="0"/>
              <a:t> </a:t>
            </a:r>
            <a:r>
              <a:rPr sz="4400" spc="-25" dirty="0"/>
              <a:t>(cont’d)</a:t>
            </a:r>
            <a:endParaRPr sz="4400">
              <a:latin typeface="Calibri"/>
              <a:cs typeface="Calibri"/>
            </a:endParaRPr>
          </a:p>
        </p:txBody>
      </p:sp>
      <p:sp>
        <p:nvSpPr>
          <p:cNvPr id="6" name="object 6"/>
          <p:cNvSpPr txBox="1"/>
          <p:nvPr/>
        </p:nvSpPr>
        <p:spPr>
          <a:xfrm>
            <a:off x="535940" y="1607261"/>
            <a:ext cx="7934325" cy="4319270"/>
          </a:xfrm>
          <a:prstGeom prst="rect">
            <a:avLst/>
          </a:prstGeom>
        </p:spPr>
        <p:txBody>
          <a:bodyPr vert="horz" wrap="square" lIns="0" tIns="13335" rIns="0" bIns="0" rtlCol="0">
            <a:spAutoFit/>
          </a:bodyPr>
          <a:lstStyle/>
          <a:p>
            <a:pPr marL="138430" algn="ctr">
              <a:lnSpc>
                <a:spcPct val="100000"/>
              </a:lnSpc>
              <a:spcBef>
                <a:spcPts val="105"/>
              </a:spcBef>
            </a:pPr>
            <a:r>
              <a:rPr sz="3200" b="1" spc="-15" dirty="0">
                <a:latin typeface="Calibri"/>
                <a:cs typeface="Calibri"/>
              </a:rPr>
              <a:t>Symptoms </a:t>
            </a:r>
            <a:r>
              <a:rPr sz="3200" b="1" spc="-20" dirty="0">
                <a:latin typeface="Calibri"/>
                <a:cs typeface="Calibri"/>
              </a:rPr>
              <a:t>(cont’d)</a:t>
            </a:r>
            <a:endParaRPr sz="3200">
              <a:latin typeface="Calibri"/>
              <a:cs typeface="Calibri"/>
            </a:endParaRPr>
          </a:p>
          <a:p>
            <a:pPr>
              <a:lnSpc>
                <a:spcPct val="100000"/>
              </a:lnSpc>
              <a:spcBef>
                <a:spcPts val="5"/>
              </a:spcBef>
            </a:pPr>
            <a:endParaRPr sz="4400">
              <a:latin typeface="Calibri"/>
              <a:cs typeface="Calibri"/>
            </a:endParaRPr>
          </a:p>
          <a:p>
            <a:pPr marL="355600" marR="127000" indent="-343535">
              <a:lnSpc>
                <a:spcPct val="100000"/>
              </a:lnSpc>
              <a:spcBef>
                <a:spcPts val="5"/>
              </a:spcBef>
              <a:buSzPct val="96875"/>
              <a:buFont typeface="Wingdings"/>
              <a:buChar char=""/>
              <a:tabLst>
                <a:tab pos="376555" algn="l"/>
              </a:tabLst>
            </a:pPr>
            <a:r>
              <a:rPr sz="3200" dirty="0">
                <a:latin typeface="Calibri"/>
                <a:cs typeface="Calibri"/>
              </a:rPr>
              <a:t>In </a:t>
            </a:r>
            <a:r>
              <a:rPr sz="3200" spc="-5" dirty="0">
                <a:latin typeface="Calibri"/>
                <a:cs typeface="Calibri"/>
              </a:rPr>
              <a:t>normal immune </a:t>
            </a:r>
            <a:r>
              <a:rPr sz="3200" spc="-15" dirty="0">
                <a:latin typeface="Calibri"/>
                <a:cs typeface="Calibri"/>
              </a:rPr>
              <a:t>persons </a:t>
            </a:r>
            <a:r>
              <a:rPr sz="3200" dirty="0">
                <a:latin typeface="Calibri"/>
                <a:cs typeface="Calibri"/>
              </a:rPr>
              <a:t>the </a:t>
            </a:r>
            <a:r>
              <a:rPr sz="3200" spc="-15" dirty="0">
                <a:latin typeface="Calibri"/>
                <a:cs typeface="Calibri"/>
              </a:rPr>
              <a:t>infection </a:t>
            </a:r>
            <a:r>
              <a:rPr sz="3200" spc="-20" dirty="0">
                <a:latin typeface="Calibri"/>
                <a:cs typeface="Calibri"/>
              </a:rPr>
              <a:t>may  </a:t>
            </a:r>
            <a:r>
              <a:rPr sz="3200" spc="-5" dirty="0">
                <a:latin typeface="Calibri"/>
                <a:cs typeface="Calibri"/>
              </a:rPr>
              <a:t>cause</a:t>
            </a:r>
            <a:r>
              <a:rPr sz="3200" spc="-15" dirty="0">
                <a:latin typeface="Calibri"/>
                <a:cs typeface="Calibri"/>
              </a:rPr>
              <a:t> gastroenteritis.</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dirty="0">
                <a:latin typeface="Calibri"/>
                <a:cs typeface="Calibri"/>
              </a:rPr>
              <a:t>In </a:t>
            </a:r>
            <a:r>
              <a:rPr sz="3200" spc="-5" dirty="0">
                <a:latin typeface="Calibri"/>
                <a:cs typeface="Calibri"/>
              </a:rPr>
              <a:t>developing </a:t>
            </a:r>
            <a:r>
              <a:rPr sz="3200" spc="-10" dirty="0">
                <a:latin typeface="Calibri"/>
                <a:cs typeface="Calibri"/>
              </a:rPr>
              <a:t>countries, </a:t>
            </a:r>
            <a:r>
              <a:rPr sz="3200" spc="-5" dirty="0">
                <a:latin typeface="Calibri"/>
                <a:cs typeface="Calibri"/>
              </a:rPr>
              <a:t>the </a:t>
            </a:r>
            <a:r>
              <a:rPr sz="3200" spc="-15" dirty="0">
                <a:latin typeface="Calibri"/>
                <a:cs typeface="Calibri"/>
              </a:rPr>
              <a:t>infection </a:t>
            </a:r>
            <a:r>
              <a:rPr sz="3200" dirty="0">
                <a:latin typeface="Calibri"/>
                <a:cs typeface="Calibri"/>
              </a:rPr>
              <a:t>is a  </a:t>
            </a:r>
            <a:r>
              <a:rPr sz="3200" spc="-10" dirty="0">
                <a:latin typeface="Calibri"/>
                <a:cs typeface="Calibri"/>
              </a:rPr>
              <a:t>significant </a:t>
            </a:r>
            <a:r>
              <a:rPr sz="3200" spc="-5" dirty="0">
                <a:latin typeface="Calibri"/>
                <a:cs typeface="Calibri"/>
              </a:rPr>
              <a:t>cause of diarrhea </a:t>
            </a:r>
            <a:r>
              <a:rPr sz="3200" dirty="0">
                <a:latin typeface="Calibri"/>
                <a:cs typeface="Calibri"/>
              </a:rPr>
              <a:t>in </a:t>
            </a:r>
            <a:r>
              <a:rPr sz="3200" spc="-10" dirty="0">
                <a:latin typeface="Calibri"/>
                <a:cs typeface="Calibri"/>
              </a:rPr>
              <a:t>children </a:t>
            </a:r>
            <a:r>
              <a:rPr sz="3200" spc="-5" dirty="0">
                <a:latin typeface="Calibri"/>
                <a:cs typeface="Calibri"/>
              </a:rPr>
              <a:t>below  </a:t>
            </a:r>
            <a:r>
              <a:rPr sz="3200" dirty="0">
                <a:latin typeface="Calibri"/>
                <a:cs typeface="Calibri"/>
              </a:rPr>
              <a:t>the </a:t>
            </a:r>
            <a:r>
              <a:rPr sz="3200" spc="-5" dirty="0">
                <a:latin typeface="Calibri"/>
                <a:cs typeface="Calibri"/>
              </a:rPr>
              <a:t>age </a:t>
            </a:r>
            <a:r>
              <a:rPr sz="3200" dirty="0">
                <a:latin typeface="Calibri"/>
                <a:cs typeface="Calibri"/>
              </a:rPr>
              <a:t>of 5</a:t>
            </a:r>
            <a:r>
              <a:rPr sz="3200" spc="-25" dirty="0">
                <a:latin typeface="Calibri"/>
                <a:cs typeface="Calibri"/>
              </a:rPr>
              <a:t> </a:t>
            </a:r>
            <a:r>
              <a:rPr sz="3200" spc="-20" dirty="0">
                <a:latin typeface="Calibri"/>
                <a:cs typeface="Calibri"/>
              </a:rPr>
              <a:t>years.</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5" dirty="0">
                <a:latin typeface="Calibri"/>
                <a:cs typeface="Calibri"/>
              </a:rPr>
              <a:t>The </a:t>
            </a:r>
            <a:r>
              <a:rPr sz="3200" spc="-15" dirty="0">
                <a:latin typeface="Calibri"/>
                <a:cs typeface="Calibri"/>
              </a:rPr>
              <a:t>infection </a:t>
            </a:r>
            <a:r>
              <a:rPr sz="3200" dirty="0">
                <a:latin typeface="Calibri"/>
                <a:cs typeface="Calibri"/>
              </a:rPr>
              <a:t>is </a:t>
            </a:r>
            <a:r>
              <a:rPr sz="3200" spc="-25" dirty="0">
                <a:latin typeface="Calibri"/>
                <a:cs typeface="Calibri"/>
              </a:rPr>
              <a:t>rare </a:t>
            </a:r>
            <a:r>
              <a:rPr sz="3200" dirty="0">
                <a:latin typeface="Calibri"/>
                <a:cs typeface="Calibri"/>
              </a:rPr>
              <a:t>in </a:t>
            </a:r>
            <a:r>
              <a:rPr sz="3200" spc="-20" dirty="0">
                <a:latin typeface="Calibri"/>
                <a:cs typeface="Calibri"/>
              </a:rPr>
              <a:t>breast-fed</a:t>
            </a:r>
            <a:r>
              <a:rPr sz="3200" spc="25" dirty="0">
                <a:latin typeface="Calibri"/>
                <a:cs typeface="Calibri"/>
              </a:rPr>
              <a:t> </a:t>
            </a:r>
            <a:r>
              <a:rPr sz="3200" spc="-20" dirty="0">
                <a:latin typeface="Calibri"/>
                <a:cs typeface="Calibri"/>
              </a:rPr>
              <a:t>infants.</a:t>
            </a:r>
            <a:endParaRPr sz="3200">
              <a:latin typeface="Calibri"/>
              <a:cs typeface="Calibri"/>
            </a:endParaRPr>
          </a:p>
        </p:txBody>
      </p:sp>
    </p:spTree>
    <p:extLst>
      <p:ext uri="{BB962C8B-B14F-4D97-AF65-F5344CB8AC3E}">
        <p14:creationId xmlns:p14="http://schemas.microsoft.com/office/powerpoint/2010/main" val="311837672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2127910"/>
            <a:ext cx="5617210" cy="312420"/>
          </a:xfrm>
          <a:custGeom>
            <a:avLst/>
            <a:gdLst/>
            <a:ahLst/>
            <a:cxnLst/>
            <a:rect l="l" t="t" r="r" b="b"/>
            <a:pathLst>
              <a:path w="5617209" h="312419">
                <a:moveTo>
                  <a:pt x="0" y="0"/>
                </a:moveTo>
                <a:lnTo>
                  <a:pt x="5616702" y="0"/>
                </a:lnTo>
                <a:lnTo>
                  <a:pt x="5616702" y="312381"/>
                </a:lnTo>
                <a:lnTo>
                  <a:pt x="0" y="312381"/>
                </a:lnTo>
                <a:lnTo>
                  <a:pt x="0" y="0"/>
                </a:lnTo>
                <a:close/>
              </a:path>
            </a:pathLst>
          </a:custGeom>
          <a:solidFill>
            <a:srgbClr val="FFED00"/>
          </a:solidFill>
        </p:spPr>
        <p:txBody>
          <a:bodyPr wrap="square" lIns="0" tIns="0" rIns="0" bIns="0" rtlCol="0"/>
          <a:lstStyle/>
          <a:p>
            <a:endParaRPr/>
          </a:p>
        </p:txBody>
      </p:sp>
      <p:sp>
        <p:nvSpPr>
          <p:cNvPr id="3" name="object 3"/>
          <p:cNvSpPr txBox="1">
            <a:spLocks noGrp="1"/>
          </p:cNvSpPr>
          <p:nvPr>
            <p:ph type="title"/>
          </p:nvPr>
        </p:nvSpPr>
        <p:spPr>
          <a:xfrm>
            <a:off x="1402461" y="461899"/>
            <a:ext cx="6340475" cy="696595"/>
          </a:xfrm>
          <a:prstGeom prst="rect">
            <a:avLst/>
          </a:prstGeom>
        </p:spPr>
        <p:txBody>
          <a:bodyPr vert="horz" wrap="square" lIns="0" tIns="13335" rIns="0" bIns="0" rtlCol="0">
            <a:spAutoFit/>
          </a:bodyPr>
          <a:lstStyle/>
          <a:p>
            <a:pPr marL="12700">
              <a:lnSpc>
                <a:spcPct val="100000"/>
              </a:lnSpc>
              <a:spcBef>
                <a:spcPts val="105"/>
              </a:spcBef>
            </a:pPr>
            <a:r>
              <a:rPr sz="4400" i="0" dirty="0">
                <a:latin typeface="Calibri"/>
                <a:cs typeface="Calibri"/>
              </a:rPr>
              <a:t>2. </a:t>
            </a:r>
            <a:r>
              <a:rPr sz="4400" spc="-5" dirty="0"/>
              <a:t>Cryptosporidium</a:t>
            </a:r>
            <a:r>
              <a:rPr sz="4400" spc="-55" dirty="0"/>
              <a:t> </a:t>
            </a:r>
            <a:r>
              <a:rPr sz="4400" spc="-25" dirty="0"/>
              <a:t>(cont’d)</a:t>
            </a:r>
            <a:endParaRPr sz="4400">
              <a:latin typeface="Calibri"/>
              <a:cs typeface="Calibri"/>
            </a:endParaRPr>
          </a:p>
        </p:txBody>
      </p:sp>
      <p:sp>
        <p:nvSpPr>
          <p:cNvPr id="4" name="object 4"/>
          <p:cNvSpPr txBox="1"/>
          <p:nvPr/>
        </p:nvSpPr>
        <p:spPr>
          <a:xfrm>
            <a:off x="535940" y="1529461"/>
            <a:ext cx="7920990" cy="1384300"/>
          </a:xfrm>
          <a:prstGeom prst="rect">
            <a:avLst/>
          </a:prstGeom>
        </p:spPr>
        <p:txBody>
          <a:bodyPr vert="horz" wrap="square" lIns="0" tIns="53975" rIns="0" bIns="0" rtlCol="0">
            <a:spAutoFit/>
          </a:bodyPr>
          <a:lstStyle/>
          <a:p>
            <a:pPr marL="2384425">
              <a:lnSpc>
                <a:spcPct val="100000"/>
              </a:lnSpc>
              <a:spcBef>
                <a:spcPts val="425"/>
              </a:spcBef>
            </a:pPr>
            <a:r>
              <a:rPr sz="2700" b="1" spc="-15" dirty="0">
                <a:latin typeface="Calibri"/>
                <a:cs typeface="Calibri"/>
              </a:rPr>
              <a:t>Prevention </a:t>
            </a:r>
            <a:r>
              <a:rPr sz="2700" b="1" dirty="0">
                <a:latin typeface="Calibri"/>
                <a:cs typeface="Calibri"/>
              </a:rPr>
              <a:t>and</a:t>
            </a:r>
            <a:r>
              <a:rPr sz="2700" b="1" spc="30" dirty="0">
                <a:latin typeface="Calibri"/>
                <a:cs typeface="Calibri"/>
              </a:rPr>
              <a:t> </a:t>
            </a:r>
            <a:r>
              <a:rPr sz="2700" b="1" spc="-10" dirty="0">
                <a:latin typeface="Calibri"/>
                <a:cs typeface="Calibri"/>
              </a:rPr>
              <a:t>Control</a:t>
            </a:r>
            <a:endParaRPr sz="2700">
              <a:latin typeface="Calibri"/>
              <a:cs typeface="Calibri"/>
            </a:endParaRPr>
          </a:p>
          <a:p>
            <a:pPr marL="355600" indent="-343535">
              <a:lnSpc>
                <a:spcPct val="100000"/>
              </a:lnSpc>
              <a:spcBef>
                <a:spcPts val="325"/>
              </a:spcBef>
              <a:buFont typeface="Wingdings"/>
              <a:buChar char=""/>
              <a:tabLst>
                <a:tab pos="356235" algn="l"/>
              </a:tabLst>
            </a:pPr>
            <a:r>
              <a:rPr sz="2700" spc="-15" dirty="0">
                <a:latin typeface="Calibri"/>
                <a:cs typeface="Calibri"/>
              </a:rPr>
              <a:t>By personal hygiene </a:t>
            </a:r>
            <a:r>
              <a:rPr sz="2700" dirty="0">
                <a:latin typeface="Calibri"/>
                <a:cs typeface="Calibri"/>
              </a:rPr>
              <a:t>and </a:t>
            </a:r>
            <a:r>
              <a:rPr sz="2700" spc="-10" dirty="0">
                <a:latin typeface="Calibri"/>
                <a:cs typeface="Calibri"/>
              </a:rPr>
              <a:t>good</a:t>
            </a:r>
            <a:r>
              <a:rPr sz="2700" spc="-20" dirty="0">
                <a:latin typeface="Calibri"/>
                <a:cs typeface="Calibri"/>
              </a:rPr>
              <a:t> </a:t>
            </a:r>
            <a:r>
              <a:rPr sz="2700" spc="-10" dirty="0">
                <a:latin typeface="Calibri"/>
                <a:cs typeface="Calibri"/>
              </a:rPr>
              <a:t>sanitation.</a:t>
            </a:r>
            <a:endParaRPr sz="2700">
              <a:latin typeface="Calibri"/>
              <a:cs typeface="Calibri"/>
            </a:endParaRPr>
          </a:p>
          <a:p>
            <a:pPr marL="355600" indent="-343535">
              <a:lnSpc>
                <a:spcPct val="100000"/>
              </a:lnSpc>
              <a:spcBef>
                <a:spcPts val="325"/>
              </a:spcBef>
              <a:buFont typeface="Wingdings"/>
              <a:buChar char=""/>
              <a:tabLst>
                <a:tab pos="356235" algn="l"/>
              </a:tabLst>
            </a:pPr>
            <a:r>
              <a:rPr sz="2700" spc="-5" dirty="0">
                <a:latin typeface="Calibri"/>
                <a:cs typeface="Calibri"/>
              </a:rPr>
              <a:t>The </a:t>
            </a:r>
            <a:r>
              <a:rPr sz="2700" spc="-10" dirty="0">
                <a:latin typeface="Calibri"/>
                <a:cs typeface="Calibri"/>
              </a:rPr>
              <a:t>oocysts </a:t>
            </a:r>
            <a:r>
              <a:rPr sz="2700" spc="-15" dirty="0">
                <a:latin typeface="Calibri"/>
                <a:cs typeface="Calibri"/>
              </a:rPr>
              <a:t>are </a:t>
            </a:r>
            <a:r>
              <a:rPr sz="2700" spc="-20" dirty="0">
                <a:latin typeface="Calibri"/>
                <a:cs typeface="Calibri"/>
              </a:rPr>
              <a:t>resistant </a:t>
            </a:r>
            <a:r>
              <a:rPr sz="2700" spc="-15" dirty="0">
                <a:latin typeface="Calibri"/>
                <a:cs typeface="Calibri"/>
              </a:rPr>
              <a:t>to many disinfectants </a:t>
            </a:r>
            <a:r>
              <a:rPr sz="2700" spc="-5" dirty="0">
                <a:latin typeface="Calibri"/>
                <a:cs typeface="Calibri"/>
              </a:rPr>
              <a:t>but</a:t>
            </a:r>
            <a:r>
              <a:rPr sz="2700" spc="-40" dirty="0">
                <a:latin typeface="Calibri"/>
                <a:cs typeface="Calibri"/>
              </a:rPr>
              <a:t> </a:t>
            </a:r>
            <a:r>
              <a:rPr sz="2700" spc="-20" dirty="0">
                <a:latin typeface="Calibri"/>
                <a:cs typeface="Calibri"/>
              </a:rPr>
              <a:t>are</a:t>
            </a:r>
            <a:endParaRPr sz="2700">
              <a:latin typeface="Calibri"/>
              <a:cs typeface="Calibri"/>
            </a:endParaRPr>
          </a:p>
        </p:txBody>
      </p:sp>
      <p:sp>
        <p:nvSpPr>
          <p:cNvPr id="5" name="object 5"/>
          <p:cNvSpPr txBox="1"/>
          <p:nvPr/>
        </p:nvSpPr>
        <p:spPr>
          <a:xfrm>
            <a:off x="891844" y="2968015"/>
            <a:ext cx="7383780" cy="295275"/>
          </a:xfrm>
          <a:prstGeom prst="rect">
            <a:avLst/>
          </a:prstGeom>
          <a:solidFill>
            <a:srgbClr val="FFED00">
              <a:alpha val="50000"/>
            </a:srgbClr>
          </a:solidFill>
        </p:spPr>
        <p:txBody>
          <a:bodyPr vert="horz" wrap="square" lIns="0" tIns="0" rIns="0" bIns="0" rtlCol="0">
            <a:spAutoFit/>
          </a:bodyPr>
          <a:lstStyle/>
          <a:p>
            <a:pPr>
              <a:lnSpc>
                <a:spcPts val="2325"/>
              </a:lnSpc>
            </a:pPr>
            <a:r>
              <a:rPr sz="2700" dirty="0">
                <a:latin typeface="Calibri"/>
                <a:cs typeface="Calibri"/>
              </a:rPr>
              <a:t>killed in </a:t>
            </a:r>
            <a:r>
              <a:rPr sz="2700" spc="-15" dirty="0">
                <a:latin typeface="Calibri"/>
                <a:cs typeface="Calibri"/>
              </a:rPr>
              <a:t>full-strength </a:t>
            </a:r>
            <a:r>
              <a:rPr sz="2700" spc="-5" dirty="0">
                <a:latin typeface="Calibri"/>
                <a:cs typeface="Calibri"/>
              </a:rPr>
              <a:t>bleach, </a:t>
            </a:r>
            <a:r>
              <a:rPr sz="2700" spc="-10" dirty="0">
                <a:latin typeface="Calibri"/>
                <a:cs typeface="Calibri"/>
              </a:rPr>
              <a:t>by formalin vapour </a:t>
            </a:r>
            <a:r>
              <a:rPr sz="2700" spc="-5" dirty="0">
                <a:latin typeface="Calibri"/>
                <a:cs typeface="Calibri"/>
              </a:rPr>
              <a:t>or</a:t>
            </a:r>
            <a:r>
              <a:rPr sz="2700" spc="-35" dirty="0">
                <a:latin typeface="Calibri"/>
                <a:cs typeface="Calibri"/>
              </a:rPr>
              <a:t> </a:t>
            </a:r>
            <a:r>
              <a:rPr sz="2700" dirty="0">
                <a:latin typeface="Calibri"/>
                <a:cs typeface="Calibri"/>
              </a:rPr>
              <a:t>in</a:t>
            </a:r>
            <a:endParaRPr sz="2700">
              <a:latin typeface="Calibri"/>
              <a:cs typeface="Calibri"/>
            </a:endParaRPr>
          </a:p>
        </p:txBody>
      </p:sp>
      <p:sp>
        <p:nvSpPr>
          <p:cNvPr id="6" name="object 6"/>
          <p:cNvSpPr txBox="1"/>
          <p:nvPr/>
        </p:nvSpPr>
        <p:spPr>
          <a:xfrm>
            <a:off x="891844" y="3339515"/>
            <a:ext cx="1228725" cy="236220"/>
          </a:xfrm>
          <a:prstGeom prst="rect">
            <a:avLst/>
          </a:prstGeom>
          <a:solidFill>
            <a:srgbClr val="FFED00">
              <a:alpha val="50000"/>
            </a:srgbClr>
          </a:solidFill>
        </p:spPr>
        <p:txBody>
          <a:bodyPr vert="horz" wrap="square" lIns="0" tIns="0" rIns="0" bIns="0" rtlCol="0">
            <a:spAutoFit/>
          </a:bodyPr>
          <a:lstStyle/>
          <a:p>
            <a:pPr>
              <a:lnSpc>
                <a:spcPts val="1860"/>
              </a:lnSpc>
            </a:pPr>
            <a:r>
              <a:rPr sz="2700" spc="-5" dirty="0">
                <a:latin typeface="Calibri"/>
                <a:cs typeface="Calibri"/>
              </a:rPr>
              <a:t>solutio</a:t>
            </a:r>
            <a:r>
              <a:rPr sz="2700" dirty="0">
                <a:latin typeface="Calibri"/>
                <a:cs typeface="Calibri"/>
              </a:rPr>
              <a:t>n.</a:t>
            </a:r>
            <a:endParaRPr sz="2700">
              <a:latin typeface="Calibri"/>
              <a:cs typeface="Calibri"/>
            </a:endParaRPr>
          </a:p>
        </p:txBody>
      </p:sp>
      <p:sp>
        <p:nvSpPr>
          <p:cNvPr id="7" name="object 7"/>
          <p:cNvSpPr txBox="1"/>
          <p:nvPr/>
        </p:nvSpPr>
        <p:spPr>
          <a:xfrm>
            <a:off x="535940" y="3629025"/>
            <a:ext cx="7672705" cy="930910"/>
          </a:xfrm>
          <a:prstGeom prst="rect">
            <a:avLst/>
          </a:prstGeom>
        </p:spPr>
        <p:txBody>
          <a:bodyPr vert="horz" wrap="square" lIns="0" tIns="53340" rIns="0" bIns="0" rtlCol="0">
            <a:spAutoFit/>
          </a:bodyPr>
          <a:lstStyle/>
          <a:p>
            <a:pPr marL="3355340">
              <a:lnSpc>
                <a:spcPct val="100000"/>
              </a:lnSpc>
              <a:spcBef>
                <a:spcPts val="420"/>
              </a:spcBef>
            </a:pPr>
            <a:r>
              <a:rPr sz="2700" b="1" spc="-5" dirty="0">
                <a:latin typeface="Calibri"/>
                <a:cs typeface="Calibri"/>
              </a:rPr>
              <a:t>Diagnosis</a:t>
            </a:r>
            <a:endParaRPr sz="2700">
              <a:latin typeface="Calibri"/>
              <a:cs typeface="Calibri"/>
            </a:endParaRPr>
          </a:p>
          <a:p>
            <a:pPr marL="355600" indent="-343535">
              <a:lnSpc>
                <a:spcPct val="100000"/>
              </a:lnSpc>
              <a:spcBef>
                <a:spcPts val="325"/>
              </a:spcBef>
              <a:buFont typeface="Wingdings"/>
              <a:buChar char=""/>
              <a:tabLst>
                <a:tab pos="356235" algn="l"/>
              </a:tabLst>
            </a:pPr>
            <a:r>
              <a:rPr sz="2700" spc="-15" dirty="0">
                <a:latin typeface="Calibri"/>
                <a:cs typeface="Calibri"/>
              </a:rPr>
              <a:t>By </a:t>
            </a:r>
            <a:r>
              <a:rPr sz="2700" spc="-5" dirty="0">
                <a:latin typeface="Calibri"/>
                <a:cs typeface="Calibri"/>
              </a:rPr>
              <a:t>finding </a:t>
            </a:r>
            <a:r>
              <a:rPr sz="2700" dirty="0">
                <a:latin typeface="Calibri"/>
                <a:cs typeface="Calibri"/>
              </a:rPr>
              <a:t>the </a:t>
            </a:r>
            <a:r>
              <a:rPr sz="2700" spc="-5" dirty="0">
                <a:latin typeface="Calibri"/>
                <a:cs typeface="Calibri"/>
              </a:rPr>
              <a:t>small </a:t>
            </a:r>
            <a:r>
              <a:rPr sz="2700" spc="-10" dirty="0">
                <a:latin typeface="Calibri"/>
                <a:cs typeface="Calibri"/>
              </a:rPr>
              <a:t>oocysts </a:t>
            </a:r>
            <a:r>
              <a:rPr sz="2700" dirty="0">
                <a:latin typeface="Calibri"/>
                <a:cs typeface="Calibri"/>
              </a:rPr>
              <a:t>in </a:t>
            </a:r>
            <a:r>
              <a:rPr sz="2700" spc="-15" dirty="0">
                <a:latin typeface="Calibri"/>
                <a:cs typeface="Calibri"/>
              </a:rPr>
              <a:t>stained faecal</a:t>
            </a:r>
            <a:r>
              <a:rPr sz="2700" spc="-25" dirty="0">
                <a:latin typeface="Calibri"/>
                <a:cs typeface="Calibri"/>
              </a:rPr>
              <a:t> </a:t>
            </a:r>
            <a:r>
              <a:rPr sz="2700" spc="-15" dirty="0">
                <a:latin typeface="Calibri"/>
                <a:cs typeface="Calibri"/>
              </a:rPr>
              <a:t>smears.</a:t>
            </a:r>
            <a:endParaRPr sz="2700">
              <a:latin typeface="Calibri"/>
              <a:cs typeface="Calibri"/>
            </a:endParaRPr>
          </a:p>
        </p:txBody>
      </p:sp>
      <p:sp>
        <p:nvSpPr>
          <p:cNvPr id="8" name="object 8"/>
          <p:cNvSpPr txBox="1"/>
          <p:nvPr/>
        </p:nvSpPr>
        <p:spPr>
          <a:xfrm>
            <a:off x="548640" y="4679340"/>
            <a:ext cx="7499350" cy="312420"/>
          </a:xfrm>
          <a:prstGeom prst="rect">
            <a:avLst/>
          </a:prstGeom>
          <a:solidFill>
            <a:srgbClr val="FFED00">
              <a:alpha val="50000"/>
            </a:srgbClr>
          </a:solidFill>
        </p:spPr>
        <p:txBody>
          <a:bodyPr vert="horz" wrap="square" lIns="0" tIns="0" rIns="0" bIns="0" rtlCol="0">
            <a:spAutoFit/>
          </a:bodyPr>
          <a:lstStyle/>
          <a:p>
            <a:pPr marL="342900" indent="-343535">
              <a:lnSpc>
                <a:spcPts val="2460"/>
              </a:lnSpc>
              <a:buFont typeface="Wingdings"/>
              <a:buChar char=""/>
              <a:tabLst>
                <a:tab pos="343535" algn="l"/>
              </a:tabLst>
            </a:pPr>
            <a:r>
              <a:rPr sz="2700" dirty="0">
                <a:latin typeface="Calibri"/>
                <a:cs typeface="Calibri"/>
              </a:rPr>
              <a:t>In </a:t>
            </a:r>
            <a:r>
              <a:rPr sz="2700" spc="-10" dirty="0">
                <a:latin typeface="Calibri"/>
                <a:cs typeface="Calibri"/>
              </a:rPr>
              <a:t>those </a:t>
            </a:r>
            <a:r>
              <a:rPr sz="2700" dirty="0">
                <a:latin typeface="Calibri"/>
                <a:cs typeface="Calibri"/>
              </a:rPr>
              <a:t>with </a:t>
            </a:r>
            <a:r>
              <a:rPr sz="2700" spc="-10" dirty="0">
                <a:latin typeface="Calibri"/>
                <a:cs typeface="Calibri"/>
              </a:rPr>
              <a:t>acute infections, </a:t>
            </a:r>
            <a:r>
              <a:rPr sz="2700" spc="-15" dirty="0">
                <a:latin typeface="Calibri"/>
                <a:cs typeface="Calibri"/>
              </a:rPr>
              <a:t>faecal </a:t>
            </a:r>
            <a:r>
              <a:rPr sz="2700" spc="-5" dirty="0">
                <a:latin typeface="Calibri"/>
                <a:cs typeface="Calibri"/>
              </a:rPr>
              <a:t>specimens</a:t>
            </a:r>
            <a:r>
              <a:rPr sz="2700" spc="-85" dirty="0">
                <a:latin typeface="Calibri"/>
                <a:cs typeface="Calibri"/>
              </a:rPr>
              <a:t> </a:t>
            </a:r>
            <a:r>
              <a:rPr sz="2700" spc="-15" dirty="0">
                <a:latin typeface="Calibri"/>
                <a:cs typeface="Calibri"/>
              </a:rPr>
              <a:t>are</a:t>
            </a:r>
            <a:endParaRPr sz="2700">
              <a:latin typeface="Calibri"/>
              <a:cs typeface="Calibri"/>
            </a:endParaRPr>
          </a:p>
        </p:txBody>
      </p:sp>
      <p:sp>
        <p:nvSpPr>
          <p:cNvPr id="9" name="object 9"/>
          <p:cNvSpPr txBox="1"/>
          <p:nvPr/>
        </p:nvSpPr>
        <p:spPr>
          <a:xfrm>
            <a:off x="891844" y="5066614"/>
            <a:ext cx="6979920" cy="295910"/>
          </a:xfrm>
          <a:prstGeom prst="rect">
            <a:avLst/>
          </a:prstGeom>
          <a:solidFill>
            <a:srgbClr val="FFED00">
              <a:alpha val="50000"/>
            </a:srgbClr>
          </a:solidFill>
        </p:spPr>
        <p:txBody>
          <a:bodyPr vert="horz" wrap="square" lIns="0" tIns="0" rIns="0" bIns="0" rtlCol="0">
            <a:spAutoFit/>
          </a:bodyPr>
          <a:lstStyle/>
          <a:p>
            <a:pPr>
              <a:lnSpc>
                <a:spcPts val="2325"/>
              </a:lnSpc>
            </a:pPr>
            <a:r>
              <a:rPr sz="2700" spc="-15" dirty="0">
                <a:latin typeface="Calibri"/>
                <a:cs typeface="Calibri"/>
              </a:rPr>
              <a:t>watery </a:t>
            </a:r>
            <a:r>
              <a:rPr sz="2700" dirty="0">
                <a:latin typeface="Calibri"/>
                <a:cs typeface="Calibri"/>
              </a:rPr>
              <a:t>and </a:t>
            </a:r>
            <a:r>
              <a:rPr sz="2700" spc="-20" dirty="0">
                <a:latin typeface="Calibri"/>
                <a:cs typeface="Calibri"/>
              </a:rPr>
              <a:t>have </a:t>
            </a:r>
            <a:r>
              <a:rPr sz="2700" spc="-15" dirty="0">
                <a:latin typeface="Calibri"/>
                <a:cs typeface="Calibri"/>
              </a:rPr>
              <a:t>offensive </a:t>
            </a:r>
            <a:r>
              <a:rPr sz="2700" spc="-5" dirty="0">
                <a:latin typeface="Calibri"/>
                <a:cs typeface="Calibri"/>
              </a:rPr>
              <a:t>odour; pus </a:t>
            </a:r>
            <a:r>
              <a:rPr sz="2700" dirty="0">
                <a:latin typeface="Calibri"/>
                <a:cs typeface="Calibri"/>
              </a:rPr>
              <a:t>cells </a:t>
            </a:r>
            <a:r>
              <a:rPr sz="2700" spc="-15" dirty="0">
                <a:latin typeface="Calibri"/>
                <a:cs typeface="Calibri"/>
              </a:rPr>
              <a:t>are</a:t>
            </a:r>
            <a:r>
              <a:rPr sz="2700" spc="-114" dirty="0">
                <a:latin typeface="Calibri"/>
                <a:cs typeface="Calibri"/>
              </a:rPr>
              <a:t> </a:t>
            </a:r>
            <a:r>
              <a:rPr sz="2700" spc="-5" dirty="0">
                <a:latin typeface="Calibri"/>
                <a:cs typeface="Calibri"/>
              </a:rPr>
              <a:t>not</a:t>
            </a:r>
            <a:endParaRPr sz="2700">
              <a:latin typeface="Calibri"/>
              <a:cs typeface="Calibri"/>
            </a:endParaRPr>
          </a:p>
        </p:txBody>
      </p:sp>
      <p:sp>
        <p:nvSpPr>
          <p:cNvPr id="10" name="object 10"/>
          <p:cNvSpPr txBox="1"/>
          <p:nvPr/>
        </p:nvSpPr>
        <p:spPr>
          <a:xfrm>
            <a:off x="891844" y="5437479"/>
            <a:ext cx="920115" cy="237490"/>
          </a:xfrm>
          <a:prstGeom prst="rect">
            <a:avLst/>
          </a:prstGeom>
          <a:solidFill>
            <a:srgbClr val="FFED00">
              <a:alpha val="50000"/>
            </a:srgbClr>
          </a:solidFill>
        </p:spPr>
        <p:txBody>
          <a:bodyPr vert="horz" wrap="square" lIns="0" tIns="0" rIns="0" bIns="0" rtlCol="0">
            <a:spAutoFit/>
          </a:bodyPr>
          <a:lstStyle/>
          <a:p>
            <a:pPr>
              <a:lnSpc>
                <a:spcPts val="1870"/>
              </a:lnSpc>
            </a:pPr>
            <a:r>
              <a:rPr sz="2700" spc="-60" dirty="0">
                <a:latin typeface="Calibri"/>
                <a:cs typeface="Calibri"/>
              </a:rPr>
              <a:t>f</a:t>
            </a:r>
            <a:r>
              <a:rPr sz="2700" spc="-5" dirty="0">
                <a:latin typeface="Calibri"/>
                <a:cs typeface="Calibri"/>
              </a:rPr>
              <a:t>ound.</a:t>
            </a:r>
            <a:endParaRPr sz="2700">
              <a:latin typeface="Calibri"/>
              <a:cs typeface="Calibri"/>
            </a:endParaRPr>
          </a:p>
        </p:txBody>
      </p:sp>
    </p:spTree>
    <p:extLst>
      <p:ext uri="{BB962C8B-B14F-4D97-AF65-F5344CB8AC3E}">
        <p14:creationId xmlns:p14="http://schemas.microsoft.com/office/powerpoint/2010/main" val="3581846149"/>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6475958" y="4967960"/>
            <a:ext cx="1616075" cy="351155"/>
          </a:xfrm>
          <a:custGeom>
            <a:avLst/>
            <a:gdLst/>
            <a:ahLst/>
            <a:cxnLst/>
            <a:rect l="l" t="t" r="r" b="b"/>
            <a:pathLst>
              <a:path w="1616075" h="351154">
                <a:moveTo>
                  <a:pt x="0" y="0"/>
                </a:moveTo>
                <a:lnTo>
                  <a:pt x="1615821" y="0"/>
                </a:lnTo>
                <a:lnTo>
                  <a:pt x="1615821" y="350608"/>
                </a:lnTo>
                <a:lnTo>
                  <a:pt x="0" y="350608"/>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1598764" y="4967960"/>
            <a:ext cx="4877435" cy="351155"/>
          </a:xfrm>
          <a:custGeom>
            <a:avLst/>
            <a:gdLst/>
            <a:ahLst/>
            <a:cxnLst/>
            <a:rect l="l" t="t" r="r" b="b"/>
            <a:pathLst>
              <a:path w="4877435" h="351154">
                <a:moveTo>
                  <a:pt x="0" y="350608"/>
                </a:moveTo>
                <a:lnTo>
                  <a:pt x="4877193" y="350608"/>
                </a:lnTo>
                <a:lnTo>
                  <a:pt x="4877193" y="0"/>
                </a:lnTo>
                <a:lnTo>
                  <a:pt x="0" y="0"/>
                </a:lnTo>
                <a:lnTo>
                  <a:pt x="0" y="350608"/>
                </a:lnTo>
                <a:close/>
              </a:path>
            </a:pathLst>
          </a:custGeom>
          <a:solidFill>
            <a:srgbClr val="FFED00"/>
          </a:solidFill>
        </p:spPr>
        <p:txBody>
          <a:bodyPr wrap="square" lIns="0" tIns="0" rIns="0" bIns="0" rtlCol="0"/>
          <a:lstStyle/>
          <a:p>
            <a:endParaRPr/>
          </a:p>
        </p:txBody>
      </p:sp>
      <p:sp>
        <p:nvSpPr>
          <p:cNvPr id="4" name="object 4"/>
          <p:cNvSpPr txBox="1">
            <a:spLocks noGrp="1"/>
          </p:cNvSpPr>
          <p:nvPr>
            <p:ph type="title"/>
          </p:nvPr>
        </p:nvSpPr>
        <p:spPr>
          <a:xfrm>
            <a:off x="2336673" y="496950"/>
            <a:ext cx="4469765" cy="635000"/>
          </a:xfrm>
          <a:prstGeom prst="rect">
            <a:avLst/>
          </a:prstGeom>
        </p:spPr>
        <p:txBody>
          <a:bodyPr vert="horz" wrap="square" lIns="0" tIns="12065" rIns="0" bIns="0" rtlCol="0">
            <a:spAutoFit/>
          </a:bodyPr>
          <a:lstStyle/>
          <a:p>
            <a:pPr marL="12700">
              <a:lnSpc>
                <a:spcPct val="100000"/>
              </a:lnSpc>
              <a:spcBef>
                <a:spcPts val="95"/>
              </a:spcBef>
            </a:pPr>
            <a:r>
              <a:rPr i="0" dirty="0">
                <a:latin typeface="Calibri"/>
                <a:cs typeface="Calibri"/>
              </a:rPr>
              <a:t>3. </a:t>
            </a:r>
            <a:r>
              <a:rPr spc="-50" dirty="0"/>
              <a:t>Toxoplasma</a:t>
            </a:r>
            <a:r>
              <a:rPr spc="-70" dirty="0"/>
              <a:t> </a:t>
            </a:r>
            <a:r>
              <a:rPr spc="-5" dirty="0"/>
              <a:t>gondii</a:t>
            </a:r>
          </a:p>
        </p:txBody>
      </p:sp>
      <p:sp>
        <p:nvSpPr>
          <p:cNvPr id="5" name="object 5"/>
          <p:cNvSpPr txBox="1"/>
          <p:nvPr/>
        </p:nvSpPr>
        <p:spPr>
          <a:xfrm>
            <a:off x="535940" y="1607261"/>
            <a:ext cx="7771765" cy="3733800"/>
          </a:xfrm>
          <a:prstGeom prst="rect">
            <a:avLst/>
          </a:prstGeom>
        </p:spPr>
        <p:txBody>
          <a:bodyPr vert="horz" wrap="square" lIns="0" tIns="13335" rIns="0" bIns="0" rtlCol="0">
            <a:spAutoFit/>
          </a:bodyPr>
          <a:lstStyle/>
          <a:p>
            <a:pPr marL="355600" marR="27940" indent="-343535">
              <a:lnSpc>
                <a:spcPct val="100000"/>
              </a:lnSpc>
              <a:spcBef>
                <a:spcPts val="105"/>
              </a:spcBef>
              <a:buSzPct val="96875"/>
              <a:buFont typeface="Wingdings"/>
              <a:buChar char=""/>
              <a:tabLst>
                <a:tab pos="376555" algn="l"/>
              </a:tabLst>
            </a:pPr>
            <a:r>
              <a:rPr sz="3200" spc="-5" dirty="0">
                <a:latin typeface="Calibri"/>
                <a:cs typeface="Calibri"/>
              </a:rPr>
              <a:t>This </a:t>
            </a:r>
            <a:r>
              <a:rPr sz="3200" dirty="0">
                <a:latin typeface="Calibri"/>
                <a:cs typeface="Calibri"/>
              </a:rPr>
              <a:t>is another </a:t>
            </a:r>
            <a:r>
              <a:rPr sz="3200" spc="-5" dirty="0">
                <a:latin typeface="Calibri"/>
                <a:cs typeface="Calibri"/>
              </a:rPr>
              <a:t>coccidian </a:t>
            </a:r>
            <a:r>
              <a:rPr sz="3200" spc="-15" dirty="0">
                <a:latin typeface="Calibri"/>
                <a:cs typeface="Calibri"/>
              </a:rPr>
              <a:t>parasite </a:t>
            </a:r>
            <a:r>
              <a:rPr sz="3200" dirty="0">
                <a:latin typeface="Calibri"/>
                <a:cs typeface="Calibri"/>
              </a:rPr>
              <a:t>of </a:t>
            </a:r>
            <a:r>
              <a:rPr sz="3200" spc="-5" dirty="0">
                <a:latin typeface="Calibri"/>
                <a:cs typeface="Calibri"/>
              </a:rPr>
              <a:t>animals,  causing </a:t>
            </a:r>
            <a:r>
              <a:rPr sz="3200" dirty="0">
                <a:latin typeface="Calibri"/>
                <a:cs typeface="Calibri"/>
              </a:rPr>
              <a:t>the </a:t>
            </a:r>
            <a:r>
              <a:rPr sz="3200" spc="-5" dirty="0">
                <a:latin typeface="Calibri"/>
                <a:cs typeface="Calibri"/>
              </a:rPr>
              <a:t>disease</a:t>
            </a:r>
            <a:r>
              <a:rPr sz="3200" spc="5" dirty="0">
                <a:latin typeface="Calibri"/>
                <a:cs typeface="Calibri"/>
              </a:rPr>
              <a:t> </a:t>
            </a:r>
            <a:r>
              <a:rPr sz="3200" b="1" spc="-30" dirty="0">
                <a:latin typeface="Calibri"/>
                <a:cs typeface="Calibri"/>
              </a:rPr>
              <a:t>Toxoplasmosis</a:t>
            </a:r>
            <a:r>
              <a:rPr sz="3200" spc="-30" dirty="0">
                <a:latin typeface="Calibri"/>
                <a:cs typeface="Calibri"/>
              </a:rPr>
              <a:t>.</a:t>
            </a:r>
            <a:endParaRPr sz="3200">
              <a:latin typeface="Calibri"/>
              <a:cs typeface="Calibri"/>
            </a:endParaRPr>
          </a:p>
          <a:p>
            <a:pPr>
              <a:lnSpc>
                <a:spcPct val="100000"/>
              </a:lnSpc>
              <a:spcBef>
                <a:spcPts val="5"/>
              </a:spcBef>
              <a:buFont typeface="Wingdings"/>
              <a:buChar char=""/>
            </a:pPr>
            <a:endParaRPr sz="4400">
              <a:latin typeface="Calibri"/>
              <a:cs typeface="Calibri"/>
            </a:endParaRPr>
          </a:p>
          <a:p>
            <a:pPr marL="3027680">
              <a:lnSpc>
                <a:spcPct val="100000"/>
              </a:lnSpc>
              <a:spcBef>
                <a:spcPts val="5"/>
              </a:spcBef>
            </a:pPr>
            <a:r>
              <a:rPr sz="3200" b="1" spc="-5" dirty="0">
                <a:latin typeface="Calibri"/>
                <a:cs typeface="Calibri"/>
              </a:rPr>
              <a:t>Distribution</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spc="-20" dirty="0">
                <a:latin typeface="Calibri"/>
                <a:cs typeface="Calibri"/>
              </a:rPr>
              <a:t>Worldwide, </a:t>
            </a:r>
            <a:r>
              <a:rPr sz="3200" spc="-5" dirty="0">
                <a:latin typeface="Calibri"/>
                <a:cs typeface="Calibri"/>
              </a:rPr>
              <a:t>with </a:t>
            </a:r>
            <a:r>
              <a:rPr sz="3200" dirty="0">
                <a:latin typeface="Calibri"/>
                <a:cs typeface="Calibri"/>
              </a:rPr>
              <a:t>a wide </a:t>
            </a:r>
            <a:r>
              <a:rPr sz="3200" spc="-20" dirty="0">
                <a:latin typeface="Calibri"/>
                <a:cs typeface="Calibri"/>
              </a:rPr>
              <a:t>range </a:t>
            </a:r>
            <a:r>
              <a:rPr sz="3200" spc="-5" dirty="0">
                <a:latin typeface="Calibri"/>
                <a:cs typeface="Calibri"/>
              </a:rPr>
              <a:t>of animals  </a:t>
            </a:r>
            <a:r>
              <a:rPr sz="3200" dirty="0">
                <a:latin typeface="Calibri"/>
                <a:cs typeface="Calibri"/>
              </a:rPr>
              <a:t>acting as </a:t>
            </a:r>
            <a:r>
              <a:rPr sz="3200" spc="-15" dirty="0">
                <a:latin typeface="Calibri"/>
                <a:cs typeface="Calibri"/>
              </a:rPr>
              <a:t>intermediate </a:t>
            </a:r>
            <a:r>
              <a:rPr sz="3200" spc="-10" dirty="0">
                <a:latin typeface="Calibri"/>
                <a:cs typeface="Calibri"/>
              </a:rPr>
              <a:t>hosts </a:t>
            </a:r>
            <a:r>
              <a:rPr sz="3200" dirty="0">
                <a:latin typeface="Calibri"/>
                <a:cs typeface="Calibri"/>
              </a:rPr>
              <a:t>of the </a:t>
            </a:r>
            <a:r>
              <a:rPr sz="3200" spc="-15" dirty="0">
                <a:latin typeface="Calibri"/>
                <a:cs typeface="Calibri"/>
              </a:rPr>
              <a:t>parasites.  </a:t>
            </a:r>
            <a:r>
              <a:rPr sz="3200" spc="-5" dirty="0">
                <a:latin typeface="Calibri"/>
                <a:cs typeface="Calibri"/>
              </a:rPr>
              <a:t>The </a:t>
            </a:r>
            <a:r>
              <a:rPr sz="3200" spc="-15" dirty="0">
                <a:latin typeface="Calibri"/>
                <a:cs typeface="Calibri"/>
              </a:rPr>
              <a:t>definitive </a:t>
            </a:r>
            <a:r>
              <a:rPr sz="3200" spc="-10" dirty="0">
                <a:latin typeface="Calibri"/>
                <a:cs typeface="Calibri"/>
              </a:rPr>
              <a:t>hosts are </a:t>
            </a:r>
            <a:r>
              <a:rPr sz="3200" spc="-5" dirty="0">
                <a:latin typeface="Calibri"/>
                <a:cs typeface="Calibri"/>
              </a:rPr>
              <a:t>the </a:t>
            </a:r>
            <a:r>
              <a:rPr sz="3200" spc="-20" dirty="0">
                <a:latin typeface="Calibri"/>
                <a:cs typeface="Calibri"/>
              </a:rPr>
              <a:t>cat </a:t>
            </a:r>
            <a:r>
              <a:rPr sz="3200" dirty="0">
                <a:latin typeface="Calibri"/>
                <a:cs typeface="Calibri"/>
              </a:rPr>
              <a:t>and the</a:t>
            </a:r>
            <a:r>
              <a:rPr sz="3200" spc="55" dirty="0">
                <a:latin typeface="Calibri"/>
                <a:cs typeface="Calibri"/>
              </a:rPr>
              <a:t> </a:t>
            </a:r>
            <a:r>
              <a:rPr sz="3200" spc="-5" dirty="0">
                <a:latin typeface="Calibri"/>
                <a:cs typeface="Calibri"/>
              </a:rPr>
              <a:t>lynx.</a:t>
            </a:r>
            <a:endParaRPr sz="3200">
              <a:latin typeface="Calibri"/>
              <a:cs typeface="Calibri"/>
            </a:endParaRPr>
          </a:p>
        </p:txBody>
      </p:sp>
    </p:spTree>
    <p:extLst>
      <p:ext uri="{BB962C8B-B14F-4D97-AF65-F5344CB8AC3E}">
        <p14:creationId xmlns:p14="http://schemas.microsoft.com/office/powerpoint/2010/main" val="339831170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3350323"/>
            <a:ext cx="600710" cy="241300"/>
          </a:xfrm>
          <a:custGeom>
            <a:avLst/>
            <a:gdLst/>
            <a:ahLst/>
            <a:cxnLst/>
            <a:rect l="l" t="t" r="r" b="b"/>
            <a:pathLst>
              <a:path w="600710" h="241300">
                <a:moveTo>
                  <a:pt x="0" y="0"/>
                </a:moveTo>
                <a:lnTo>
                  <a:pt x="600227" y="0"/>
                </a:lnTo>
                <a:lnTo>
                  <a:pt x="600227" y="241058"/>
                </a:lnTo>
                <a:lnTo>
                  <a:pt x="0" y="241058"/>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891844" y="2822130"/>
            <a:ext cx="7079615" cy="281940"/>
          </a:xfrm>
          <a:custGeom>
            <a:avLst/>
            <a:gdLst/>
            <a:ahLst/>
            <a:cxnLst/>
            <a:rect l="l" t="t" r="r" b="b"/>
            <a:pathLst>
              <a:path w="7079615" h="281939">
                <a:moveTo>
                  <a:pt x="0" y="0"/>
                </a:moveTo>
                <a:lnTo>
                  <a:pt x="7079310" y="0"/>
                </a:lnTo>
                <a:lnTo>
                  <a:pt x="7079310" y="281571"/>
                </a:lnTo>
                <a:lnTo>
                  <a:pt x="0" y="281571"/>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911656" y="2314105"/>
            <a:ext cx="7644765" cy="370840"/>
          </a:xfrm>
          <a:custGeom>
            <a:avLst/>
            <a:gdLst/>
            <a:ahLst/>
            <a:cxnLst/>
            <a:rect l="l" t="t" r="r" b="b"/>
            <a:pathLst>
              <a:path w="7644765" h="370839">
                <a:moveTo>
                  <a:pt x="0" y="0"/>
                </a:moveTo>
                <a:lnTo>
                  <a:pt x="7644371" y="0"/>
                </a:lnTo>
                <a:lnTo>
                  <a:pt x="7644371" y="370687"/>
                </a:lnTo>
                <a:lnTo>
                  <a:pt x="0" y="370687"/>
                </a:lnTo>
                <a:lnTo>
                  <a:pt x="0" y="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xfrm>
            <a:off x="1472564" y="496950"/>
            <a:ext cx="6197600"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3. </a:t>
            </a:r>
            <a:r>
              <a:rPr spc="-50" dirty="0"/>
              <a:t>Toxoplasma </a:t>
            </a:r>
            <a:r>
              <a:rPr spc="-5" dirty="0"/>
              <a:t>gondii</a:t>
            </a:r>
            <a:r>
              <a:rPr spc="20" dirty="0"/>
              <a:t> </a:t>
            </a:r>
            <a:r>
              <a:rPr spc="-30" dirty="0"/>
              <a:t>(cont’d)</a:t>
            </a:r>
          </a:p>
        </p:txBody>
      </p:sp>
      <p:sp>
        <p:nvSpPr>
          <p:cNvPr id="6" name="object 6"/>
          <p:cNvSpPr txBox="1"/>
          <p:nvPr/>
        </p:nvSpPr>
        <p:spPr>
          <a:xfrm>
            <a:off x="535940" y="1509941"/>
            <a:ext cx="8032750" cy="3245485"/>
          </a:xfrm>
          <a:prstGeom prst="rect">
            <a:avLst/>
          </a:prstGeom>
        </p:spPr>
        <p:txBody>
          <a:bodyPr vert="horz" wrap="square" lIns="0" tIns="110489" rIns="0" bIns="0" rtlCol="0">
            <a:spAutoFit/>
          </a:bodyPr>
          <a:lstStyle/>
          <a:p>
            <a:pPr marL="2939415">
              <a:lnSpc>
                <a:spcPct val="100000"/>
              </a:lnSpc>
              <a:spcBef>
                <a:spcPts val="869"/>
              </a:spcBef>
            </a:pPr>
            <a:r>
              <a:rPr sz="3200" b="1" spc="-20" dirty="0">
                <a:latin typeface="Calibri"/>
                <a:cs typeface="Calibri"/>
              </a:rPr>
              <a:t>Transmission</a:t>
            </a:r>
            <a:endParaRPr sz="3200">
              <a:latin typeface="Calibri"/>
              <a:cs typeface="Calibri"/>
            </a:endParaRPr>
          </a:p>
          <a:p>
            <a:pPr marL="355600" marR="5080" indent="-343535">
              <a:lnSpc>
                <a:spcPct val="100000"/>
              </a:lnSpc>
              <a:spcBef>
                <a:spcPts val="770"/>
              </a:spcBef>
              <a:buSzPct val="96875"/>
              <a:buFont typeface="Wingdings"/>
              <a:buChar char=""/>
              <a:tabLst>
                <a:tab pos="376555" algn="l"/>
              </a:tabLst>
            </a:pPr>
            <a:r>
              <a:rPr sz="3200" spc="-20" dirty="0">
                <a:latin typeface="Calibri"/>
                <a:cs typeface="Calibri"/>
              </a:rPr>
              <a:t>By </a:t>
            </a:r>
            <a:r>
              <a:rPr sz="3200" spc="-10" dirty="0">
                <a:latin typeface="Calibri"/>
                <a:cs typeface="Calibri"/>
              </a:rPr>
              <a:t>ingestion </a:t>
            </a:r>
            <a:r>
              <a:rPr sz="3200" spc="-5" dirty="0">
                <a:latin typeface="Calibri"/>
                <a:cs typeface="Calibri"/>
              </a:rPr>
              <a:t>of </a:t>
            </a:r>
            <a:r>
              <a:rPr sz="3200" spc="-15" dirty="0">
                <a:latin typeface="Calibri"/>
                <a:cs typeface="Calibri"/>
              </a:rPr>
              <a:t>occysts </a:t>
            </a:r>
            <a:r>
              <a:rPr sz="3200" dirty="0">
                <a:latin typeface="Calibri"/>
                <a:cs typeface="Calibri"/>
              </a:rPr>
              <a:t>in </a:t>
            </a:r>
            <a:r>
              <a:rPr sz="3200" spc="-20" dirty="0">
                <a:latin typeface="Calibri"/>
                <a:cs typeface="Calibri"/>
              </a:rPr>
              <a:t>food, water </a:t>
            </a:r>
            <a:r>
              <a:rPr sz="3200" spc="-5" dirty="0">
                <a:latin typeface="Calibri"/>
                <a:cs typeface="Calibri"/>
              </a:rPr>
              <a:t>or hands  </a:t>
            </a:r>
            <a:r>
              <a:rPr sz="3200" spc="-15" dirty="0">
                <a:latin typeface="Calibri"/>
                <a:cs typeface="Calibri"/>
              </a:rPr>
              <a:t>contaminated </a:t>
            </a:r>
            <a:r>
              <a:rPr sz="3200" dirty="0">
                <a:latin typeface="Calibri"/>
                <a:cs typeface="Calibri"/>
              </a:rPr>
              <a:t>with </a:t>
            </a:r>
            <a:r>
              <a:rPr sz="3200" spc="-10" dirty="0">
                <a:latin typeface="Calibri"/>
                <a:cs typeface="Calibri"/>
              </a:rPr>
              <a:t>faeces </a:t>
            </a:r>
            <a:r>
              <a:rPr sz="3200" spc="-15" dirty="0">
                <a:latin typeface="Calibri"/>
                <a:cs typeface="Calibri"/>
              </a:rPr>
              <a:t>from </a:t>
            </a:r>
            <a:r>
              <a:rPr sz="3200" dirty="0">
                <a:latin typeface="Calibri"/>
                <a:cs typeface="Calibri"/>
              </a:rPr>
              <a:t>an </a:t>
            </a:r>
            <a:r>
              <a:rPr sz="3200" spc="-25" dirty="0">
                <a:latin typeface="Calibri"/>
                <a:cs typeface="Calibri"/>
              </a:rPr>
              <a:t>infected  </a:t>
            </a:r>
            <a:r>
              <a:rPr sz="3200" spc="-15" dirty="0">
                <a:latin typeface="Calibri"/>
                <a:cs typeface="Calibri"/>
              </a:rPr>
              <a:t>cat.</a:t>
            </a:r>
            <a:endParaRPr sz="3200">
              <a:latin typeface="Calibri"/>
              <a:cs typeface="Calibri"/>
            </a:endParaRPr>
          </a:p>
          <a:p>
            <a:pPr marL="355600" marR="254635" indent="-343535">
              <a:lnSpc>
                <a:spcPct val="100000"/>
              </a:lnSpc>
              <a:spcBef>
                <a:spcPts val="770"/>
              </a:spcBef>
              <a:buSzPct val="96875"/>
              <a:buFont typeface="Wingdings"/>
              <a:buChar char=""/>
              <a:tabLst>
                <a:tab pos="376555" algn="l"/>
                <a:tab pos="6343015" algn="l"/>
              </a:tabLst>
            </a:pPr>
            <a:r>
              <a:rPr sz="3200" spc="-30" dirty="0">
                <a:latin typeface="Calibri"/>
                <a:cs typeface="Calibri"/>
              </a:rPr>
              <a:t>Transmission </a:t>
            </a:r>
            <a:r>
              <a:rPr sz="3200" spc="-20" dirty="0">
                <a:latin typeface="Calibri"/>
                <a:cs typeface="Calibri"/>
              </a:rPr>
              <a:t>may </a:t>
            </a:r>
            <a:r>
              <a:rPr sz="3200" dirty="0">
                <a:latin typeface="Calibri"/>
                <a:cs typeface="Calibri"/>
              </a:rPr>
              <a:t>also </a:t>
            </a:r>
            <a:r>
              <a:rPr sz="3200" spc="-5" dirty="0">
                <a:latin typeface="Calibri"/>
                <a:cs typeface="Calibri"/>
              </a:rPr>
              <a:t>occur </a:t>
            </a:r>
            <a:r>
              <a:rPr sz="3200" spc="-10" dirty="0">
                <a:latin typeface="Calibri"/>
                <a:cs typeface="Calibri"/>
              </a:rPr>
              <a:t>transplacentally  </a:t>
            </a:r>
            <a:r>
              <a:rPr sz="3200" spc="-5" dirty="0">
                <a:latin typeface="Calibri"/>
                <a:cs typeface="Calibri"/>
              </a:rPr>
              <a:t>(i.e. </a:t>
            </a:r>
            <a:r>
              <a:rPr sz="3200" spc="-10" dirty="0">
                <a:latin typeface="Calibri"/>
                <a:cs typeface="Calibri"/>
              </a:rPr>
              <a:t>congenitally) </a:t>
            </a:r>
            <a:r>
              <a:rPr sz="3200" spc="-5" dirty="0">
                <a:latin typeface="Calibri"/>
                <a:cs typeface="Calibri"/>
              </a:rPr>
              <a:t>or </a:t>
            </a:r>
            <a:r>
              <a:rPr sz="3200" spc="-10" dirty="0">
                <a:latin typeface="Calibri"/>
                <a:cs typeface="Calibri"/>
              </a:rPr>
              <a:t>by</a:t>
            </a:r>
            <a:r>
              <a:rPr sz="3200" spc="85" dirty="0">
                <a:latin typeface="Calibri"/>
                <a:cs typeface="Calibri"/>
              </a:rPr>
              <a:t> </a:t>
            </a:r>
            <a:r>
              <a:rPr sz="3200" spc="-10" dirty="0">
                <a:latin typeface="Calibri"/>
                <a:cs typeface="Calibri"/>
              </a:rPr>
              <a:t>ingestion</a:t>
            </a:r>
            <a:r>
              <a:rPr sz="3200" spc="30" dirty="0">
                <a:latin typeface="Calibri"/>
                <a:cs typeface="Calibri"/>
              </a:rPr>
              <a:t> </a:t>
            </a:r>
            <a:r>
              <a:rPr sz="3200" spc="-5" dirty="0">
                <a:latin typeface="Calibri"/>
                <a:cs typeface="Calibri"/>
              </a:rPr>
              <a:t>of	</a:t>
            </a:r>
            <a:r>
              <a:rPr sz="3200" dirty="0">
                <a:latin typeface="Calibri"/>
                <a:cs typeface="Calibri"/>
              </a:rPr>
              <a:t>the</a:t>
            </a:r>
            <a:endParaRPr sz="3200">
              <a:latin typeface="Calibri"/>
              <a:cs typeface="Calibri"/>
            </a:endParaRPr>
          </a:p>
        </p:txBody>
      </p:sp>
      <p:sp>
        <p:nvSpPr>
          <p:cNvPr id="7" name="object 7"/>
          <p:cNvSpPr txBox="1"/>
          <p:nvPr/>
        </p:nvSpPr>
        <p:spPr>
          <a:xfrm>
            <a:off x="891844" y="4729048"/>
            <a:ext cx="7463790" cy="514350"/>
          </a:xfrm>
          <a:prstGeom prst="rect">
            <a:avLst/>
          </a:prstGeom>
          <a:solidFill>
            <a:srgbClr val="FFED00">
              <a:alpha val="50000"/>
            </a:srgbClr>
          </a:solidFill>
        </p:spPr>
        <p:txBody>
          <a:bodyPr vert="horz" wrap="square" lIns="0" tIns="13335" rIns="0" bIns="0" rtlCol="0">
            <a:spAutoFit/>
          </a:bodyPr>
          <a:lstStyle/>
          <a:p>
            <a:pPr>
              <a:lnSpc>
                <a:spcPct val="100000"/>
              </a:lnSpc>
              <a:spcBef>
                <a:spcPts val="105"/>
              </a:spcBef>
            </a:pPr>
            <a:r>
              <a:rPr sz="3200" spc="-15" dirty="0">
                <a:latin typeface="Calibri"/>
                <a:cs typeface="Calibri"/>
              </a:rPr>
              <a:t>parasites </a:t>
            </a:r>
            <a:r>
              <a:rPr sz="3200" dirty="0">
                <a:latin typeface="Calibri"/>
                <a:cs typeface="Calibri"/>
              </a:rPr>
              <a:t>in </a:t>
            </a:r>
            <a:r>
              <a:rPr sz="3200" spc="-20" dirty="0">
                <a:latin typeface="Calibri"/>
                <a:cs typeface="Calibri"/>
              </a:rPr>
              <a:t>undercooked </a:t>
            </a:r>
            <a:r>
              <a:rPr sz="3200" spc="-10" dirty="0">
                <a:latin typeface="Calibri"/>
                <a:cs typeface="Calibri"/>
              </a:rPr>
              <a:t>meat </a:t>
            </a:r>
            <a:r>
              <a:rPr sz="3200" dirty="0">
                <a:latin typeface="Calibri"/>
                <a:cs typeface="Calibri"/>
              </a:rPr>
              <a:t>of an</a:t>
            </a:r>
            <a:r>
              <a:rPr sz="3200" spc="25" dirty="0">
                <a:latin typeface="Calibri"/>
                <a:cs typeface="Calibri"/>
              </a:rPr>
              <a:t> </a:t>
            </a:r>
            <a:r>
              <a:rPr sz="3200" spc="-20" dirty="0">
                <a:latin typeface="Calibri"/>
                <a:cs typeface="Calibri"/>
              </a:rPr>
              <a:t>infected</a:t>
            </a:r>
            <a:endParaRPr sz="3200">
              <a:latin typeface="Calibri"/>
              <a:cs typeface="Calibri"/>
            </a:endParaRPr>
          </a:p>
        </p:txBody>
      </p:sp>
      <p:sp>
        <p:nvSpPr>
          <p:cNvPr id="8" name="object 8"/>
          <p:cNvSpPr txBox="1"/>
          <p:nvPr/>
        </p:nvSpPr>
        <p:spPr>
          <a:xfrm>
            <a:off x="879144" y="5217363"/>
            <a:ext cx="4287520" cy="513715"/>
          </a:xfrm>
          <a:prstGeom prst="rect">
            <a:avLst/>
          </a:prstGeom>
        </p:spPr>
        <p:txBody>
          <a:bodyPr vert="horz" wrap="square" lIns="0" tIns="12700" rIns="0" bIns="0" rtlCol="0">
            <a:spAutoFit/>
          </a:bodyPr>
          <a:lstStyle/>
          <a:p>
            <a:pPr marL="12700">
              <a:lnSpc>
                <a:spcPct val="100000"/>
              </a:lnSpc>
              <a:spcBef>
                <a:spcPts val="100"/>
              </a:spcBef>
            </a:pPr>
            <a:r>
              <a:rPr sz="3200" dirty="0">
                <a:latin typeface="Calibri"/>
                <a:cs typeface="Calibri"/>
              </a:rPr>
              <a:t>animal </a:t>
            </a:r>
            <a:r>
              <a:rPr sz="3200" spc="-15" dirty="0">
                <a:latin typeface="Calibri"/>
                <a:cs typeface="Calibri"/>
              </a:rPr>
              <a:t>intermediate</a:t>
            </a:r>
            <a:r>
              <a:rPr sz="3200" spc="-25" dirty="0">
                <a:latin typeface="Calibri"/>
                <a:cs typeface="Calibri"/>
              </a:rPr>
              <a:t> </a:t>
            </a:r>
            <a:r>
              <a:rPr sz="3200" spc="-10" dirty="0">
                <a:latin typeface="Calibri"/>
                <a:cs typeface="Calibri"/>
              </a:rPr>
              <a:t>host.</a:t>
            </a:r>
            <a:endParaRPr sz="3200">
              <a:latin typeface="Calibri"/>
              <a:cs typeface="Calibri"/>
            </a:endParaRPr>
          </a:p>
        </p:txBody>
      </p:sp>
    </p:spTree>
    <p:extLst>
      <p:ext uri="{BB962C8B-B14F-4D97-AF65-F5344CB8AC3E}">
        <p14:creationId xmlns:p14="http://schemas.microsoft.com/office/powerpoint/2010/main" val="122192902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5675071"/>
            <a:ext cx="2649220" cy="328295"/>
          </a:xfrm>
          <a:custGeom>
            <a:avLst/>
            <a:gdLst/>
            <a:ahLst/>
            <a:cxnLst/>
            <a:rect l="l" t="t" r="r" b="b"/>
            <a:pathLst>
              <a:path w="2649220" h="328295">
                <a:moveTo>
                  <a:pt x="0" y="0"/>
                </a:moveTo>
                <a:lnTo>
                  <a:pt x="2649042" y="0"/>
                </a:lnTo>
                <a:lnTo>
                  <a:pt x="2649042" y="328041"/>
                </a:lnTo>
                <a:lnTo>
                  <a:pt x="0" y="328041"/>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891844" y="5265165"/>
            <a:ext cx="7082155" cy="327025"/>
          </a:xfrm>
          <a:custGeom>
            <a:avLst/>
            <a:gdLst/>
            <a:ahLst/>
            <a:cxnLst/>
            <a:rect l="l" t="t" r="r" b="b"/>
            <a:pathLst>
              <a:path w="7082155" h="327025">
                <a:moveTo>
                  <a:pt x="0" y="0"/>
                </a:moveTo>
                <a:lnTo>
                  <a:pt x="7082028" y="0"/>
                </a:lnTo>
                <a:lnTo>
                  <a:pt x="7082028" y="326517"/>
                </a:lnTo>
                <a:lnTo>
                  <a:pt x="0" y="326517"/>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977188" y="4832502"/>
            <a:ext cx="6913245" cy="347980"/>
          </a:xfrm>
          <a:custGeom>
            <a:avLst/>
            <a:gdLst/>
            <a:ahLst/>
            <a:cxnLst/>
            <a:rect l="l" t="t" r="r" b="b"/>
            <a:pathLst>
              <a:path w="6913245" h="347979">
                <a:moveTo>
                  <a:pt x="0" y="0"/>
                </a:moveTo>
                <a:lnTo>
                  <a:pt x="6913092" y="0"/>
                </a:lnTo>
                <a:lnTo>
                  <a:pt x="6913092" y="347370"/>
                </a:lnTo>
                <a:lnTo>
                  <a:pt x="0" y="347370"/>
                </a:lnTo>
                <a:lnTo>
                  <a:pt x="0" y="0"/>
                </a:lnTo>
                <a:close/>
              </a:path>
            </a:pathLst>
          </a:custGeom>
          <a:solidFill>
            <a:srgbClr val="FFED00"/>
          </a:solidFill>
        </p:spPr>
        <p:txBody>
          <a:bodyPr wrap="square" lIns="0" tIns="0" rIns="0" bIns="0" rtlCol="0"/>
          <a:lstStyle/>
          <a:p>
            <a:endParaRPr/>
          </a:p>
        </p:txBody>
      </p:sp>
      <p:sp>
        <p:nvSpPr>
          <p:cNvPr id="5" name="object 5"/>
          <p:cNvSpPr txBox="1">
            <a:spLocks noGrp="1"/>
          </p:cNvSpPr>
          <p:nvPr>
            <p:ph type="title"/>
          </p:nvPr>
        </p:nvSpPr>
        <p:spPr>
          <a:xfrm>
            <a:off x="1472564" y="496950"/>
            <a:ext cx="6197600"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3. </a:t>
            </a:r>
            <a:r>
              <a:rPr spc="-50" dirty="0"/>
              <a:t>Toxoplasma </a:t>
            </a:r>
            <a:r>
              <a:rPr spc="-5" dirty="0"/>
              <a:t>gondii</a:t>
            </a:r>
            <a:r>
              <a:rPr spc="20" dirty="0"/>
              <a:t> </a:t>
            </a:r>
            <a:r>
              <a:rPr spc="-30" dirty="0"/>
              <a:t>(cont’d)</a:t>
            </a:r>
          </a:p>
        </p:txBody>
      </p:sp>
      <p:sp>
        <p:nvSpPr>
          <p:cNvPr id="6" name="object 6"/>
          <p:cNvSpPr txBox="1"/>
          <p:nvPr/>
        </p:nvSpPr>
        <p:spPr>
          <a:xfrm>
            <a:off x="3825366" y="1563370"/>
            <a:ext cx="1492250" cy="482600"/>
          </a:xfrm>
          <a:prstGeom prst="rect">
            <a:avLst/>
          </a:prstGeom>
        </p:spPr>
        <p:txBody>
          <a:bodyPr vert="horz" wrap="square" lIns="0" tIns="12700" rIns="0" bIns="0" rtlCol="0">
            <a:spAutoFit/>
          </a:bodyPr>
          <a:lstStyle/>
          <a:p>
            <a:pPr marL="12700">
              <a:lnSpc>
                <a:spcPct val="100000"/>
              </a:lnSpc>
              <a:spcBef>
                <a:spcPts val="100"/>
              </a:spcBef>
            </a:pPr>
            <a:r>
              <a:rPr sz="3000" b="1" spc="-15" dirty="0">
                <a:latin typeface="Calibri"/>
                <a:cs typeface="Calibri"/>
              </a:rPr>
              <a:t>Life</a:t>
            </a:r>
            <a:r>
              <a:rPr sz="3000" b="1" spc="-85" dirty="0">
                <a:latin typeface="Calibri"/>
                <a:cs typeface="Calibri"/>
              </a:rPr>
              <a:t> </a:t>
            </a:r>
            <a:r>
              <a:rPr sz="3000" b="1" spc="-15" dirty="0">
                <a:latin typeface="Calibri"/>
                <a:cs typeface="Calibri"/>
              </a:rPr>
              <a:t>Cycle</a:t>
            </a:r>
            <a:endParaRPr sz="3000">
              <a:latin typeface="Calibri"/>
              <a:cs typeface="Calibri"/>
            </a:endParaRPr>
          </a:p>
        </p:txBody>
      </p:sp>
      <p:sp>
        <p:nvSpPr>
          <p:cNvPr id="7" name="object 7"/>
          <p:cNvSpPr txBox="1"/>
          <p:nvPr/>
        </p:nvSpPr>
        <p:spPr>
          <a:xfrm>
            <a:off x="535940" y="2066671"/>
            <a:ext cx="365125" cy="482600"/>
          </a:xfrm>
          <a:prstGeom prst="rect">
            <a:avLst/>
          </a:prstGeom>
        </p:spPr>
        <p:txBody>
          <a:bodyPr vert="horz" wrap="square" lIns="0" tIns="12700" rIns="0" bIns="0" rtlCol="0">
            <a:spAutoFit/>
          </a:bodyPr>
          <a:lstStyle/>
          <a:p>
            <a:pPr marL="12700">
              <a:lnSpc>
                <a:spcPct val="100000"/>
              </a:lnSpc>
              <a:spcBef>
                <a:spcPts val="100"/>
              </a:spcBef>
            </a:pPr>
            <a:r>
              <a:rPr sz="3000" dirty="0">
                <a:latin typeface="Wingdings"/>
                <a:cs typeface="Wingdings"/>
              </a:rPr>
              <a:t></a:t>
            </a:r>
            <a:endParaRPr sz="3000">
              <a:latin typeface="Wingdings"/>
              <a:cs typeface="Wingdings"/>
            </a:endParaRPr>
          </a:p>
        </p:txBody>
      </p:sp>
      <p:sp>
        <p:nvSpPr>
          <p:cNvPr id="8" name="object 8"/>
          <p:cNvSpPr txBox="1"/>
          <p:nvPr/>
        </p:nvSpPr>
        <p:spPr>
          <a:xfrm>
            <a:off x="891844" y="2180717"/>
            <a:ext cx="6556375" cy="347345"/>
          </a:xfrm>
          <a:prstGeom prst="rect">
            <a:avLst/>
          </a:prstGeom>
          <a:solidFill>
            <a:srgbClr val="FFED00">
              <a:alpha val="50000"/>
            </a:srgbClr>
          </a:solidFill>
        </p:spPr>
        <p:txBody>
          <a:bodyPr vert="horz" wrap="square" lIns="0" tIns="0" rIns="0" bIns="0" rtlCol="0">
            <a:spAutoFit/>
          </a:bodyPr>
          <a:lstStyle/>
          <a:p>
            <a:pPr>
              <a:lnSpc>
                <a:spcPts val="2735"/>
              </a:lnSpc>
            </a:pPr>
            <a:r>
              <a:rPr sz="3000" spc="-35" dirty="0">
                <a:latin typeface="Calibri"/>
                <a:cs typeface="Calibri"/>
              </a:rPr>
              <a:t>Naturally, </a:t>
            </a:r>
            <a:r>
              <a:rPr sz="3000" dirty="0">
                <a:latin typeface="Calibri"/>
                <a:cs typeface="Calibri"/>
              </a:rPr>
              <a:t>a </a:t>
            </a:r>
            <a:r>
              <a:rPr sz="3000" spc="-20" dirty="0">
                <a:latin typeface="Calibri"/>
                <a:cs typeface="Calibri"/>
              </a:rPr>
              <a:t>cat </a:t>
            </a:r>
            <a:r>
              <a:rPr sz="3000" spc="-5" dirty="0">
                <a:latin typeface="Calibri"/>
                <a:cs typeface="Calibri"/>
              </a:rPr>
              <a:t>or </a:t>
            </a:r>
            <a:r>
              <a:rPr sz="3000" spc="-10" dirty="0">
                <a:latin typeface="Calibri"/>
                <a:cs typeface="Calibri"/>
              </a:rPr>
              <a:t>lynx ingests</a:t>
            </a:r>
            <a:r>
              <a:rPr sz="3000" spc="35" dirty="0">
                <a:latin typeface="Calibri"/>
                <a:cs typeface="Calibri"/>
              </a:rPr>
              <a:t> </a:t>
            </a:r>
            <a:r>
              <a:rPr sz="3000" spc="-15" dirty="0">
                <a:latin typeface="Calibri"/>
                <a:cs typeface="Calibri"/>
              </a:rPr>
              <a:t>pseudocysts</a:t>
            </a:r>
            <a:endParaRPr sz="3000">
              <a:latin typeface="Calibri"/>
              <a:cs typeface="Calibri"/>
            </a:endParaRPr>
          </a:p>
        </p:txBody>
      </p:sp>
      <p:sp>
        <p:nvSpPr>
          <p:cNvPr id="9" name="object 9"/>
          <p:cNvSpPr txBox="1"/>
          <p:nvPr/>
        </p:nvSpPr>
        <p:spPr>
          <a:xfrm>
            <a:off x="891844" y="2607817"/>
            <a:ext cx="7192009" cy="331470"/>
          </a:xfrm>
          <a:prstGeom prst="rect">
            <a:avLst/>
          </a:prstGeom>
          <a:solidFill>
            <a:srgbClr val="FFED00">
              <a:alpha val="50000"/>
            </a:srgbClr>
          </a:solidFill>
        </p:spPr>
        <p:txBody>
          <a:bodyPr vert="horz" wrap="square" lIns="0" tIns="0" rIns="0" bIns="0" rtlCol="0">
            <a:spAutoFit/>
          </a:bodyPr>
          <a:lstStyle/>
          <a:p>
            <a:pPr>
              <a:lnSpc>
                <a:spcPts val="2610"/>
              </a:lnSpc>
            </a:pPr>
            <a:r>
              <a:rPr sz="3000" spc="-10" dirty="0">
                <a:latin typeface="Calibri"/>
                <a:cs typeface="Calibri"/>
              </a:rPr>
              <a:t>(containing </a:t>
            </a:r>
            <a:r>
              <a:rPr sz="3000" dirty="0">
                <a:latin typeface="Calibri"/>
                <a:cs typeface="Calibri"/>
              </a:rPr>
              <a:t>the </a:t>
            </a:r>
            <a:r>
              <a:rPr sz="3000" spc="-20" dirty="0">
                <a:latin typeface="Calibri"/>
                <a:cs typeface="Calibri"/>
              </a:rPr>
              <a:t>trophozoites) </a:t>
            </a:r>
            <a:r>
              <a:rPr sz="3000" dirty="0">
                <a:latin typeface="Calibri"/>
                <a:cs typeface="Calibri"/>
              </a:rPr>
              <a:t>in </a:t>
            </a:r>
            <a:r>
              <a:rPr sz="3000" spc="-20" dirty="0">
                <a:latin typeface="Calibri"/>
                <a:cs typeface="Calibri"/>
              </a:rPr>
              <a:t>infected</a:t>
            </a:r>
            <a:r>
              <a:rPr sz="3000" spc="-65" dirty="0">
                <a:latin typeface="Calibri"/>
                <a:cs typeface="Calibri"/>
              </a:rPr>
              <a:t> </a:t>
            </a:r>
            <a:r>
              <a:rPr sz="3000" dirty="0">
                <a:latin typeface="Calibri"/>
                <a:cs typeface="Calibri"/>
              </a:rPr>
              <a:t>tissue</a:t>
            </a:r>
            <a:endParaRPr sz="3000">
              <a:latin typeface="Calibri"/>
              <a:cs typeface="Calibri"/>
            </a:endParaRPr>
          </a:p>
        </p:txBody>
      </p:sp>
      <p:sp>
        <p:nvSpPr>
          <p:cNvPr id="10" name="object 10"/>
          <p:cNvSpPr txBox="1"/>
          <p:nvPr/>
        </p:nvSpPr>
        <p:spPr>
          <a:xfrm>
            <a:off x="891844" y="3022726"/>
            <a:ext cx="4159885" cy="264160"/>
          </a:xfrm>
          <a:prstGeom prst="rect">
            <a:avLst/>
          </a:prstGeom>
          <a:solidFill>
            <a:srgbClr val="FFED00">
              <a:alpha val="50000"/>
            </a:srgbClr>
          </a:solidFill>
        </p:spPr>
        <p:txBody>
          <a:bodyPr vert="horz" wrap="square" lIns="0" tIns="0" rIns="0" bIns="0" rtlCol="0">
            <a:spAutoFit/>
          </a:bodyPr>
          <a:lstStyle/>
          <a:p>
            <a:pPr>
              <a:lnSpc>
                <a:spcPts val="2075"/>
              </a:lnSpc>
            </a:pPr>
            <a:r>
              <a:rPr sz="3000" spc="-20" dirty="0">
                <a:latin typeface="Calibri"/>
                <a:cs typeface="Calibri"/>
              </a:rPr>
              <a:t>from </a:t>
            </a:r>
            <a:r>
              <a:rPr sz="3000" dirty="0">
                <a:latin typeface="Calibri"/>
                <a:cs typeface="Calibri"/>
              </a:rPr>
              <a:t>an </a:t>
            </a:r>
            <a:r>
              <a:rPr sz="3000" spc="-15" dirty="0">
                <a:latin typeface="Calibri"/>
                <a:cs typeface="Calibri"/>
              </a:rPr>
              <a:t>intermediate</a:t>
            </a:r>
            <a:r>
              <a:rPr sz="3000" spc="-45" dirty="0">
                <a:latin typeface="Calibri"/>
                <a:cs typeface="Calibri"/>
              </a:rPr>
              <a:t> </a:t>
            </a:r>
            <a:r>
              <a:rPr sz="3000" spc="-10" dirty="0">
                <a:latin typeface="Calibri"/>
                <a:cs typeface="Calibri"/>
              </a:rPr>
              <a:t>host.</a:t>
            </a:r>
            <a:endParaRPr sz="3000">
              <a:latin typeface="Calibri"/>
              <a:cs typeface="Calibri"/>
            </a:endParaRPr>
          </a:p>
        </p:txBody>
      </p:sp>
      <p:sp>
        <p:nvSpPr>
          <p:cNvPr id="11" name="object 11"/>
          <p:cNvSpPr txBox="1"/>
          <p:nvPr/>
        </p:nvSpPr>
        <p:spPr>
          <a:xfrm>
            <a:off x="535940" y="3392246"/>
            <a:ext cx="7788275" cy="2632710"/>
          </a:xfrm>
          <a:prstGeom prst="rect">
            <a:avLst/>
          </a:prstGeom>
        </p:spPr>
        <p:txBody>
          <a:bodyPr vert="horz" wrap="square" lIns="0" tIns="58419" rIns="0" bIns="0" rtlCol="0">
            <a:spAutoFit/>
          </a:bodyPr>
          <a:lstStyle/>
          <a:p>
            <a:pPr marL="355600" marR="5080" indent="-343535">
              <a:lnSpc>
                <a:spcPct val="90000"/>
              </a:lnSpc>
              <a:spcBef>
                <a:spcPts val="459"/>
              </a:spcBef>
              <a:buSzPct val="96666"/>
              <a:buFont typeface="Wingdings"/>
              <a:buChar char=""/>
              <a:tabLst>
                <a:tab pos="356235" algn="l"/>
              </a:tabLst>
            </a:pPr>
            <a:r>
              <a:rPr sz="3000" spc="-15" dirty="0">
                <a:latin typeface="Calibri"/>
                <a:cs typeface="Calibri"/>
              </a:rPr>
              <a:t>Development occurs </a:t>
            </a:r>
            <a:r>
              <a:rPr sz="3000" spc="-10" dirty="0">
                <a:latin typeface="Calibri"/>
                <a:cs typeface="Calibri"/>
              </a:rPr>
              <a:t>in </a:t>
            </a:r>
            <a:r>
              <a:rPr sz="3000" dirty="0">
                <a:latin typeface="Calibri"/>
                <a:cs typeface="Calibri"/>
              </a:rPr>
              <a:t>the </a:t>
            </a:r>
            <a:r>
              <a:rPr sz="3000" spc="-15" dirty="0">
                <a:latin typeface="Calibri"/>
                <a:cs typeface="Calibri"/>
              </a:rPr>
              <a:t>intestinal </a:t>
            </a:r>
            <a:r>
              <a:rPr sz="3000" spc="-10" dirty="0">
                <a:latin typeface="Calibri"/>
                <a:cs typeface="Calibri"/>
              </a:rPr>
              <a:t>cells </a:t>
            </a:r>
            <a:r>
              <a:rPr sz="3000" spc="-5" dirty="0">
                <a:latin typeface="Calibri"/>
                <a:cs typeface="Calibri"/>
              </a:rPr>
              <a:t>of </a:t>
            </a:r>
            <a:r>
              <a:rPr sz="3000" dirty="0">
                <a:latin typeface="Calibri"/>
                <a:cs typeface="Calibri"/>
              </a:rPr>
              <a:t>the  </a:t>
            </a:r>
            <a:r>
              <a:rPr sz="3000" spc="-15" dirty="0">
                <a:latin typeface="Calibri"/>
                <a:cs typeface="Calibri"/>
              </a:rPr>
              <a:t>cat, </a:t>
            </a:r>
            <a:r>
              <a:rPr sz="3000" spc="-10" dirty="0">
                <a:latin typeface="Calibri"/>
                <a:cs typeface="Calibri"/>
              </a:rPr>
              <a:t>oocysts </a:t>
            </a:r>
            <a:r>
              <a:rPr sz="3000" spc="-15" dirty="0">
                <a:latin typeface="Calibri"/>
                <a:cs typeface="Calibri"/>
              </a:rPr>
              <a:t>are produced </a:t>
            </a:r>
            <a:r>
              <a:rPr sz="3000" dirty="0">
                <a:latin typeface="Calibri"/>
                <a:cs typeface="Calibri"/>
              </a:rPr>
              <a:t>and </a:t>
            </a:r>
            <a:r>
              <a:rPr sz="3000" spc="-30" dirty="0">
                <a:latin typeface="Calibri"/>
                <a:cs typeface="Calibri"/>
              </a:rPr>
              <a:t>excreted </a:t>
            </a:r>
            <a:r>
              <a:rPr sz="3000" spc="-10" dirty="0">
                <a:latin typeface="Calibri"/>
                <a:cs typeface="Calibri"/>
              </a:rPr>
              <a:t>in </a:t>
            </a:r>
            <a:r>
              <a:rPr sz="3000" dirty="0">
                <a:latin typeface="Calibri"/>
                <a:cs typeface="Calibri"/>
              </a:rPr>
              <a:t>the  </a:t>
            </a:r>
            <a:r>
              <a:rPr sz="3000" spc="-30" dirty="0">
                <a:latin typeface="Calibri"/>
                <a:cs typeface="Calibri"/>
              </a:rPr>
              <a:t>cat’s </a:t>
            </a:r>
            <a:r>
              <a:rPr sz="3000" spc="-10" dirty="0">
                <a:latin typeface="Calibri"/>
                <a:cs typeface="Calibri"/>
              </a:rPr>
              <a:t>faeces.</a:t>
            </a:r>
            <a:endParaRPr sz="3000">
              <a:latin typeface="Calibri"/>
              <a:cs typeface="Calibri"/>
            </a:endParaRPr>
          </a:p>
          <a:p>
            <a:pPr marL="355600" marR="340360" indent="-343535" algn="just">
              <a:lnSpc>
                <a:spcPct val="90000"/>
              </a:lnSpc>
              <a:spcBef>
                <a:spcPts val="720"/>
              </a:spcBef>
              <a:buSzPct val="96666"/>
              <a:buFont typeface="Wingdings"/>
              <a:buChar char=""/>
              <a:tabLst>
                <a:tab pos="441325" algn="l"/>
              </a:tabLst>
            </a:pPr>
            <a:r>
              <a:rPr sz="3000" spc="-20" dirty="0">
                <a:latin typeface="Calibri"/>
                <a:cs typeface="Calibri"/>
              </a:rPr>
              <a:t>Infected </a:t>
            </a:r>
            <a:r>
              <a:rPr sz="3000" spc="-15" dirty="0">
                <a:latin typeface="Calibri"/>
                <a:cs typeface="Calibri"/>
              </a:rPr>
              <a:t>cats </a:t>
            </a:r>
            <a:r>
              <a:rPr sz="3000" spc="-35" dirty="0">
                <a:latin typeface="Calibri"/>
                <a:cs typeface="Calibri"/>
              </a:rPr>
              <a:t>excrete </a:t>
            </a:r>
            <a:r>
              <a:rPr sz="3000" spc="-15" dirty="0">
                <a:latin typeface="Calibri"/>
                <a:cs typeface="Calibri"/>
              </a:rPr>
              <a:t>oocysts </a:t>
            </a:r>
            <a:r>
              <a:rPr sz="3000" spc="-25" dirty="0">
                <a:latin typeface="Calibri"/>
                <a:cs typeface="Calibri"/>
              </a:rPr>
              <a:t>for </a:t>
            </a:r>
            <a:r>
              <a:rPr sz="3000" spc="-10" dirty="0">
                <a:latin typeface="Calibri"/>
                <a:cs typeface="Calibri"/>
              </a:rPr>
              <a:t>three </a:t>
            </a:r>
            <a:r>
              <a:rPr sz="3000" spc="-15" dirty="0">
                <a:latin typeface="Calibri"/>
                <a:cs typeface="Calibri"/>
              </a:rPr>
              <a:t>weeks  </a:t>
            </a:r>
            <a:r>
              <a:rPr sz="3000" spc="-10" dirty="0">
                <a:latin typeface="Calibri"/>
                <a:cs typeface="Calibri"/>
              </a:rPr>
              <a:t>during </a:t>
            </a:r>
            <a:r>
              <a:rPr sz="3000" dirty="0">
                <a:latin typeface="Calibri"/>
                <a:cs typeface="Calibri"/>
              </a:rPr>
              <a:t>which an </a:t>
            </a:r>
            <a:r>
              <a:rPr sz="3000" spc="-15" dirty="0">
                <a:latin typeface="Calibri"/>
                <a:cs typeface="Calibri"/>
              </a:rPr>
              <a:t>intermediate host ingests </a:t>
            </a:r>
            <a:r>
              <a:rPr sz="3000" dirty="0">
                <a:latin typeface="Calibri"/>
                <a:cs typeface="Calibri"/>
              </a:rPr>
              <a:t>the  </a:t>
            </a:r>
            <a:r>
              <a:rPr sz="3000" spc="-15" dirty="0">
                <a:latin typeface="Calibri"/>
                <a:cs typeface="Calibri"/>
              </a:rPr>
              <a:t>infective</a:t>
            </a:r>
            <a:r>
              <a:rPr sz="3000" spc="-50" dirty="0">
                <a:latin typeface="Calibri"/>
                <a:cs typeface="Calibri"/>
              </a:rPr>
              <a:t> </a:t>
            </a:r>
            <a:r>
              <a:rPr sz="3000" spc="-10" dirty="0">
                <a:latin typeface="Calibri"/>
                <a:cs typeface="Calibri"/>
              </a:rPr>
              <a:t>oocysts.</a:t>
            </a:r>
            <a:endParaRPr sz="3000">
              <a:latin typeface="Calibri"/>
              <a:cs typeface="Calibri"/>
            </a:endParaRPr>
          </a:p>
        </p:txBody>
      </p:sp>
    </p:spTree>
    <p:extLst>
      <p:ext uri="{BB962C8B-B14F-4D97-AF65-F5344CB8AC3E}">
        <p14:creationId xmlns:p14="http://schemas.microsoft.com/office/powerpoint/2010/main" val="1639691329"/>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2564" y="496950"/>
            <a:ext cx="6197600"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3. </a:t>
            </a:r>
            <a:r>
              <a:rPr spc="-50" dirty="0"/>
              <a:t>Toxoplasma </a:t>
            </a:r>
            <a:r>
              <a:rPr spc="-5" dirty="0"/>
              <a:t>gondii</a:t>
            </a:r>
            <a:r>
              <a:rPr spc="20" dirty="0"/>
              <a:t> </a:t>
            </a:r>
            <a:r>
              <a:rPr spc="-30" dirty="0"/>
              <a:t>(cont’d)</a:t>
            </a:r>
          </a:p>
        </p:txBody>
      </p:sp>
      <p:sp>
        <p:nvSpPr>
          <p:cNvPr id="3" name="object 3"/>
          <p:cNvSpPr txBox="1"/>
          <p:nvPr/>
        </p:nvSpPr>
        <p:spPr>
          <a:xfrm>
            <a:off x="3288919" y="1526794"/>
            <a:ext cx="2562860" cy="482600"/>
          </a:xfrm>
          <a:prstGeom prst="rect">
            <a:avLst/>
          </a:prstGeom>
        </p:spPr>
        <p:txBody>
          <a:bodyPr vert="horz" wrap="square" lIns="0" tIns="12700" rIns="0" bIns="0" rtlCol="0">
            <a:spAutoFit/>
          </a:bodyPr>
          <a:lstStyle/>
          <a:p>
            <a:pPr marL="12700">
              <a:lnSpc>
                <a:spcPct val="100000"/>
              </a:lnSpc>
              <a:spcBef>
                <a:spcPts val="100"/>
              </a:spcBef>
            </a:pPr>
            <a:r>
              <a:rPr sz="3000" b="1" spc="-15" dirty="0">
                <a:latin typeface="Calibri"/>
                <a:cs typeface="Calibri"/>
              </a:rPr>
              <a:t>Life Cycle</a:t>
            </a:r>
            <a:r>
              <a:rPr sz="3000" b="1" spc="-60" dirty="0">
                <a:latin typeface="Calibri"/>
                <a:cs typeface="Calibri"/>
              </a:rPr>
              <a:t> </a:t>
            </a:r>
            <a:r>
              <a:rPr sz="3000" b="1" spc="-30" dirty="0">
                <a:latin typeface="Calibri"/>
                <a:cs typeface="Calibri"/>
              </a:rPr>
              <a:t>cont’d</a:t>
            </a:r>
            <a:endParaRPr sz="3000">
              <a:latin typeface="Calibri"/>
              <a:cs typeface="Calibri"/>
            </a:endParaRPr>
          </a:p>
        </p:txBody>
      </p:sp>
      <p:sp>
        <p:nvSpPr>
          <p:cNvPr id="4" name="object 4"/>
          <p:cNvSpPr txBox="1"/>
          <p:nvPr/>
        </p:nvSpPr>
        <p:spPr>
          <a:xfrm>
            <a:off x="535940" y="2441575"/>
            <a:ext cx="365125" cy="482600"/>
          </a:xfrm>
          <a:prstGeom prst="rect">
            <a:avLst/>
          </a:prstGeom>
        </p:spPr>
        <p:txBody>
          <a:bodyPr vert="horz" wrap="square" lIns="0" tIns="12700" rIns="0" bIns="0" rtlCol="0">
            <a:spAutoFit/>
          </a:bodyPr>
          <a:lstStyle/>
          <a:p>
            <a:pPr marL="12700">
              <a:lnSpc>
                <a:spcPct val="100000"/>
              </a:lnSpc>
              <a:spcBef>
                <a:spcPts val="100"/>
              </a:spcBef>
            </a:pPr>
            <a:r>
              <a:rPr sz="3000" dirty="0">
                <a:latin typeface="Wingdings"/>
                <a:cs typeface="Wingdings"/>
              </a:rPr>
              <a:t></a:t>
            </a:r>
            <a:endParaRPr sz="3000">
              <a:latin typeface="Wingdings"/>
              <a:cs typeface="Wingdings"/>
            </a:endParaRPr>
          </a:p>
        </p:txBody>
      </p:sp>
      <p:sp>
        <p:nvSpPr>
          <p:cNvPr id="5" name="object 5"/>
          <p:cNvSpPr txBox="1"/>
          <p:nvPr/>
        </p:nvSpPr>
        <p:spPr>
          <a:xfrm>
            <a:off x="891844" y="2555620"/>
            <a:ext cx="7313295" cy="347345"/>
          </a:xfrm>
          <a:prstGeom prst="rect">
            <a:avLst/>
          </a:prstGeom>
          <a:solidFill>
            <a:srgbClr val="FFED00">
              <a:alpha val="50000"/>
            </a:srgbClr>
          </a:solidFill>
        </p:spPr>
        <p:txBody>
          <a:bodyPr vert="horz" wrap="square" lIns="0" tIns="0" rIns="0" bIns="0" rtlCol="0">
            <a:spAutoFit/>
          </a:bodyPr>
          <a:lstStyle/>
          <a:p>
            <a:pPr>
              <a:lnSpc>
                <a:spcPts val="2735"/>
              </a:lnSpc>
            </a:pPr>
            <a:r>
              <a:rPr sz="3000" spc="-15" dirty="0">
                <a:latin typeface="Calibri"/>
                <a:cs typeface="Calibri"/>
              </a:rPr>
              <a:t>Rodents, </a:t>
            </a:r>
            <a:r>
              <a:rPr sz="3000" spc="-5" dirty="0">
                <a:latin typeface="Calibri"/>
                <a:cs typeface="Calibri"/>
              </a:rPr>
              <a:t>pigs, </a:t>
            </a:r>
            <a:r>
              <a:rPr sz="3000" dirty="0">
                <a:latin typeface="Calibri"/>
                <a:cs typeface="Calibri"/>
              </a:rPr>
              <a:t>lambs </a:t>
            </a:r>
            <a:r>
              <a:rPr sz="3000" spc="-10" dirty="0">
                <a:latin typeface="Calibri"/>
                <a:cs typeface="Calibri"/>
              </a:rPr>
              <a:t>(sheep), </a:t>
            </a:r>
            <a:r>
              <a:rPr sz="3000" spc="-5" dirty="0">
                <a:latin typeface="Calibri"/>
                <a:cs typeface="Calibri"/>
              </a:rPr>
              <a:t>humans,</a:t>
            </a:r>
            <a:r>
              <a:rPr sz="3000" spc="-25" dirty="0">
                <a:latin typeface="Calibri"/>
                <a:cs typeface="Calibri"/>
              </a:rPr>
              <a:t> </a:t>
            </a:r>
            <a:r>
              <a:rPr sz="3000" spc="-15" dirty="0">
                <a:latin typeface="Calibri"/>
                <a:cs typeface="Calibri"/>
              </a:rPr>
              <a:t>chickens</a:t>
            </a:r>
            <a:endParaRPr sz="3000">
              <a:latin typeface="Calibri"/>
              <a:cs typeface="Calibri"/>
            </a:endParaRPr>
          </a:p>
        </p:txBody>
      </p:sp>
      <p:sp>
        <p:nvSpPr>
          <p:cNvPr id="6" name="object 6"/>
          <p:cNvSpPr txBox="1"/>
          <p:nvPr/>
        </p:nvSpPr>
        <p:spPr>
          <a:xfrm>
            <a:off x="891844" y="2941954"/>
            <a:ext cx="6866890" cy="262255"/>
          </a:xfrm>
          <a:prstGeom prst="rect">
            <a:avLst/>
          </a:prstGeom>
          <a:solidFill>
            <a:srgbClr val="FFED00">
              <a:alpha val="50000"/>
            </a:srgbClr>
          </a:solidFill>
        </p:spPr>
        <p:txBody>
          <a:bodyPr vert="horz" wrap="square" lIns="0" tIns="0" rIns="0" bIns="0" rtlCol="0">
            <a:spAutoFit/>
          </a:bodyPr>
          <a:lstStyle/>
          <a:p>
            <a:pPr>
              <a:lnSpc>
                <a:spcPts val="2065"/>
              </a:lnSpc>
            </a:pPr>
            <a:r>
              <a:rPr sz="3000" dirty="0">
                <a:latin typeface="Calibri"/>
                <a:cs typeface="Calibri"/>
              </a:rPr>
              <a:t>and </a:t>
            </a:r>
            <a:r>
              <a:rPr sz="3000" spc="-5" dirty="0">
                <a:latin typeface="Calibri"/>
                <a:cs typeface="Calibri"/>
              </a:rPr>
              <a:t>other animals </a:t>
            </a:r>
            <a:r>
              <a:rPr sz="3000" dirty="0">
                <a:latin typeface="Calibri"/>
                <a:cs typeface="Calibri"/>
              </a:rPr>
              <a:t>act as </a:t>
            </a:r>
            <a:r>
              <a:rPr sz="3000" spc="-15" dirty="0">
                <a:latin typeface="Calibri"/>
                <a:cs typeface="Calibri"/>
              </a:rPr>
              <a:t>intermediate</a:t>
            </a:r>
            <a:r>
              <a:rPr sz="3000" spc="-65" dirty="0">
                <a:latin typeface="Calibri"/>
                <a:cs typeface="Calibri"/>
              </a:rPr>
              <a:t> </a:t>
            </a:r>
            <a:r>
              <a:rPr sz="3000" spc="-10" dirty="0">
                <a:latin typeface="Calibri"/>
                <a:cs typeface="Calibri"/>
              </a:rPr>
              <a:t>hosts.</a:t>
            </a:r>
            <a:endParaRPr sz="3000">
              <a:latin typeface="Calibri"/>
              <a:cs typeface="Calibri"/>
            </a:endParaRPr>
          </a:p>
        </p:txBody>
      </p:sp>
      <p:sp>
        <p:nvSpPr>
          <p:cNvPr id="7" name="object 7"/>
          <p:cNvSpPr txBox="1"/>
          <p:nvPr/>
        </p:nvSpPr>
        <p:spPr>
          <a:xfrm>
            <a:off x="535940" y="3264230"/>
            <a:ext cx="365760" cy="483234"/>
          </a:xfrm>
          <a:prstGeom prst="rect">
            <a:avLst/>
          </a:prstGeom>
        </p:spPr>
        <p:txBody>
          <a:bodyPr vert="horz" wrap="square" lIns="0" tIns="12700" rIns="0" bIns="0" rtlCol="0">
            <a:spAutoFit/>
          </a:bodyPr>
          <a:lstStyle/>
          <a:p>
            <a:pPr marL="12700">
              <a:lnSpc>
                <a:spcPct val="100000"/>
              </a:lnSpc>
              <a:spcBef>
                <a:spcPts val="100"/>
              </a:spcBef>
            </a:pPr>
            <a:r>
              <a:rPr sz="3000" dirty="0">
                <a:latin typeface="Wingdings"/>
                <a:cs typeface="Wingdings"/>
              </a:rPr>
              <a:t></a:t>
            </a:r>
            <a:endParaRPr sz="3000">
              <a:latin typeface="Wingdings"/>
              <a:cs typeface="Wingdings"/>
            </a:endParaRPr>
          </a:p>
        </p:txBody>
      </p:sp>
      <p:sp>
        <p:nvSpPr>
          <p:cNvPr id="8" name="object 8"/>
          <p:cNvSpPr txBox="1"/>
          <p:nvPr/>
        </p:nvSpPr>
        <p:spPr>
          <a:xfrm>
            <a:off x="891844" y="3378352"/>
            <a:ext cx="7713980" cy="347980"/>
          </a:xfrm>
          <a:prstGeom prst="rect">
            <a:avLst/>
          </a:prstGeom>
          <a:solidFill>
            <a:srgbClr val="FFED00">
              <a:alpha val="50000"/>
            </a:srgbClr>
          </a:solidFill>
        </p:spPr>
        <p:txBody>
          <a:bodyPr vert="horz" wrap="square" lIns="0" tIns="0" rIns="0" bIns="0" rtlCol="0">
            <a:spAutoFit/>
          </a:bodyPr>
          <a:lstStyle/>
          <a:p>
            <a:pPr>
              <a:lnSpc>
                <a:spcPts val="2735"/>
              </a:lnSpc>
            </a:pPr>
            <a:r>
              <a:rPr sz="3000" spc="-5" dirty="0">
                <a:latin typeface="Calibri"/>
                <a:cs typeface="Calibri"/>
              </a:rPr>
              <a:t>The </a:t>
            </a:r>
            <a:r>
              <a:rPr sz="3000" spc="-15" dirty="0">
                <a:latin typeface="Calibri"/>
                <a:cs typeface="Calibri"/>
              </a:rPr>
              <a:t>parasites </a:t>
            </a:r>
            <a:r>
              <a:rPr sz="3000" spc="-10" dirty="0">
                <a:latin typeface="Calibri"/>
                <a:cs typeface="Calibri"/>
              </a:rPr>
              <a:t>become intracellular </a:t>
            </a:r>
            <a:r>
              <a:rPr sz="3000" dirty="0">
                <a:latin typeface="Calibri"/>
                <a:cs typeface="Calibri"/>
              </a:rPr>
              <a:t>and </a:t>
            </a:r>
            <a:r>
              <a:rPr sz="3000" spc="-5" dirty="0">
                <a:latin typeface="Calibri"/>
                <a:cs typeface="Calibri"/>
              </a:rPr>
              <a:t>multiply</a:t>
            </a:r>
            <a:r>
              <a:rPr sz="3000" spc="-40" dirty="0">
                <a:latin typeface="Calibri"/>
                <a:cs typeface="Calibri"/>
              </a:rPr>
              <a:t> </a:t>
            </a:r>
            <a:r>
              <a:rPr sz="3000" dirty="0">
                <a:latin typeface="Calibri"/>
                <a:cs typeface="Calibri"/>
              </a:rPr>
              <a:t>in</a:t>
            </a:r>
            <a:endParaRPr sz="3000">
              <a:latin typeface="Calibri"/>
              <a:cs typeface="Calibri"/>
            </a:endParaRPr>
          </a:p>
        </p:txBody>
      </p:sp>
      <p:sp>
        <p:nvSpPr>
          <p:cNvPr id="9" name="object 9"/>
          <p:cNvSpPr txBox="1"/>
          <p:nvPr/>
        </p:nvSpPr>
        <p:spPr>
          <a:xfrm>
            <a:off x="891844" y="3765169"/>
            <a:ext cx="6750050" cy="327025"/>
          </a:xfrm>
          <a:prstGeom prst="rect">
            <a:avLst/>
          </a:prstGeom>
          <a:solidFill>
            <a:srgbClr val="FFED00">
              <a:alpha val="50000"/>
            </a:srgbClr>
          </a:solidFill>
        </p:spPr>
        <p:txBody>
          <a:bodyPr vert="horz" wrap="square" lIns="0" tIns="0" rIns="0" bIns="0" rtlCol="0">
            <a:spAutoFit/>
          </a:bodyPr>
          <a:lstStyle/>
          <a:p>
            <a:pPr>
              <a:lnSpc>
                <a:spcPts val="2570"/>
              </a:lnSpc>
            </a:pPr>
            <a:r>
              <a:rPr sz="3000" dirty="0">
                <a:latin typeface="Calibri"/>
                <a:cs typeface="Calibri"/>
              </a:rPr>
              <a:t>the </a:t>
            </a:r>
            <a:r>
              <a:rPr sz="3000" spc="-50" dirty="0">
                <a:latin typeface="Calibri"/>
                <a:cs typeface="Calibri"/>
              </a:rPr>
              <a:t>liver, </a:t>
            </a:r>
            <a:r>
              <a:rPr sz="3000" dirty="0">
                <a:latin typeface="Calibri"/>
                <a:cs typeface="Calibri"/>
              </a:rPr>
              <a:t>muscles, </a:t>
            </a:r>
            <a:r>
              <a:rPr sz="3000" spc="-5" dirty="0">
                <a:latin typeface="Calibri"/>
                <a:cs typeface="Calibri"/>
              </a:rPr>
              <a:t>lymph </a:t>
            </a:r>
            <a:r>
              <a:rPr sz="3000" dirty="0">
                <a:latin typeface="Calibri"/>
                <a:cs typeface="Calibri"/>
              </a:rPr>
              <a:t>glands, the</a:t>
            </a:r>
            <a:r>
              <a:rPr sz="3000" spc="-80" dirty="0">
                <a:latin typeface="Calibri"/>
                <a:cs typeface="Calibri"/>
              </a:rPr>
              <a:t> </a:t>
            </a:r>
            <a:r>
              <a:rPr sz="3000" spc="-15" dirty="0">
                <a:latin typeface="Calibri"/>
                <a:cs typeface="Calibri"/>
              </a:rPr>
              <a:t>central</a:t>
            </a:r>
            <a:endParaRPr sz="3000">
              <a:latin typeface="Calibri"/>
              <a:cs typeface="Calibri"/>
            </a:endParaRPr>
          </a:p>
        </p:txBody>
      </p:sp>
      <p:sp>
        <p:nvSpPr>
          <p:cNvPr id="10" name="object 10"/>
          <p:cNvSpPr txBox="1"/>
          <p:nvPr/>
        </p:nvSpPr>
        <p:spPr>
          <a:xfrm>
            <a:off x="891844" y="4130928"/>
            <a:ext cx="6513830" cy="327025"/>
          </a:xfrm>
          <a:prstGeom prst="rect">
            <a:avLst/>
          </a:prstGeom>
          <a:solidFill>
            <a:srgbClr val="FFED00">
              <a:alpha val="50000"/>
            </a:srgbClr>
          </a:solidFill>
        </p:spPr>
        <p:txBody>
          <a:bodyPr vert="horz" wrap="square" lIns="0" tIns="0" rIns="0" bIns="0" rtlCol="0">
            <a:spAutoFit/>
          </a:bodyPr>
          <a:lstStyle/>
          <a:p>
            <a:pPr>
              <a:lnSpc>
                <a:spcPts val="2570"/>
              </a:lnSpc>
            </a:pPr>
            <a:r>
              <a:rPr sz="3000" spc="-10" dirty="0">
                <a:latin typeface="Calibri"/>
                <a:cs typeface="Calibri"/>
              </a:rPr>
              <a:t>nervous </a:t>
            </a:r>
            <a:r>
              <a:rPr sz="3000" spc="-25" dirty="0">
                <a:latin typeface="Calibri"/>
                <a:cs typeface="Calibri"/>
              </a:rPr>
              <a:t>system </a:t>
            </a:r>
            <a:r>
              <a:rPr sz="3000" dirty="0">
                <a:latin typeface="Calibri"/>
                <a:cs typeface="Calibri"/>
              </a:rPr>
              <a:t>and </a:t>
            </a:r>
            <a:r>
              <a:rPr sz="3000" spc="-5" dirty="0">
                <a:latin typeface="Calibri"/>
                <a:cs typeface="Calibri"/>
              </a:rPr>
              <a:t>other </a:t>
            </a:r>
            <a:r>
              <a:rPr sz="3000" spc="-15" dirty="0">
                <a:latin typeface="Calibri"/>
                <a:cs typeface="Calibri"/>
              </a:rPr>
              <a:t>internal</a:t>
            </a:r>
            <a:r>
              <a:rPr sz="3000" spc="-25" dirty="0">
                <a:latin typeface="Calibri"/>
                <a:cs typeface="Calibri"/>
              </a:rPr>
              <a:t> </a:t>
            </a:r>
            <a:r>
              <a:rPr sz="3000" spc="-15" dirty="0">
                <a:latin typeface="Calibri"/>
                <a:cs typeface="Calibri"/>
              </a:rPr>
              <a:t>organs.</a:t>
            </a:r>
            <a:endParaRPr sz="3000">
              <a:latin typeface="Calibri"/>
              <a:cs typeface="Calibri"/>
            </a:endParaRPr>
          </a:p>
        </p:txBody>
      </p:sp>
      <p:sp>
        <p:nvSpPr>
          <p:cNvPr id="11" name="object 11"/>
          <p:cNvSpPr txBox="1"/>
          <p:nvPr/>
        </p:nvSpPr>
        <p:spPr>
          <a:xfrm>
            <a:off x="535940" y="4453508"/>
            <a:ext cx="8054975" cy="482600"/>
          </a:xfrm>
          <a:prstGeom prst="rect">
            <a:avLst/>
          </a:prstGeom>
        </p:spPr>
        <p:txBody>
          <a:bodyPr vert="horz" wrap="square" lIns="0" tIns="12700" rIns="0" bIns="0" rtlCol="0">
            <a:spAutoFit/>
          </a:bodyPr>
          <a:lstStyle/>
          <a:p>
            <a:pPr marL="355600" indent="-343535">
              <a:lnSpc>
                <a:spcPct val="100000"/>
              </a:lnSpc>
              <a:spcBef>
                <a:spcPts val="100"/>
              </a:spcBef>
              <a:buSzPct val="96666"/>
              <a:buFont typeface="Wingdings"/>
              <a:buChar char=""/>
              <a:tabLst>
                <a:tab pos="356235" algn="l"/>
              </a:tabLst>
            </a:pPr>
            <a:r>
              <a:rPr sz="3000" dirty="0">
                <a:latin typeface="Calibri"/>
                <a:cs typeface="Calibri"/>
              </a:rPr>
              <a:t>In </a:t>
            </a:r>
            <a:r>
              <a:rPr sz="3000" spc="-5" dirty="0">
                <a:latin typeface="Calibri"/>
                <a:cs typeface="Calibri"/>
              </a:rPr>
              <a:t>the early </a:t>
            </a:r>
            <a:r>
              <a:rPr sz="3000" b="1" spc="-10" dirty="0">
                <a:latin typeface="Calibri"/>
                <a:cs typeface="Calibri"/>
              </a:rPr>
              <a:t>acute </a:t>
            </a:r>
            <a:r>
              <a:rPr sz="3000" b="1" spc="-15" dirty="0">
                <a:latin typeface="Calibri"/>
                <a:cs typeface="Calibri"/>
              </a:rPr>
              <a:t>stages </a:t>
            </a:r>
            <a:r>
              <a:rPr sz="3000" spc="-5" dirty="0">
                <a:latin typeface="Calibri"/>
                <a:cs typeface="Calibri"/>
              </a:rPr>
              <a:t>of </a:t>
            </a:r>
            <a:r>
              <a:rPr sz="3000" spc="-15" dirty="0">
                <a:latin typeface="Calibri"/>
                <a:cs typeface="Calibri"/>
              </a:rPr>
              <a:t>infection </a:t>
            </a:r>
            <a:r>
              <a:rPr sz="3000" dirty="0">
                <a:latin typeface="Calibri"/>
                <a:cs typeface="Calibri"/>
              </a:rPr>
              <a:t>the</a:t>
            </a:r>
            <a:r>
              <a:rPr sz="3000" spc="-40" dirty="0">
                <a:latin typeface="Calibri"/>
                <a:cs typeface="Calibri"/>
              </a:rPr>
              <a:t> </a:t>
            </a:r>
            <a:r>
              <a:rPr sz="3000" spc="-15" dirty="0">
                <a:latin typeface="Calibri"/>
                <a:cs typeface="Calibri"/>
              </a:rPr>
              <a:t>parasites</a:t>
            </a:r>
            <a:endParaRPr sz="3000">
              <a:latin typeface="Calibri"/>
              <a:cs typeface="Calibri"/>
            </a:endParaRPr>
          </a:p>
        </p:txBody>
      </p:sp>
      <p:sp>
        <p:nvSpPr>
          <p:cNvPr id="12" name="object 12"/>
          <p:cNvSpPr txBox="1"/>
          <p:nvPr/>
        </p:nvSpPr>
        <p:spPr>
          <a:xfrm>
            <a:off x="891844" y="4939195"/>
            <a:ext cx="6827520" cy="337820"/>
          </a:xfrm>
          <a:prstGeom prst="rect">
            <a:avLst/>
          </a:prstGeom>
          <a:solidFill>
            <a:srgbClr val="FFED00">
              <a:alpha val="50000"/>
            </a:srgbClr>
          </a:solidFill>
        </p:spPr>
        <p:txBody>
          <a:bodyPr vert="horz" wrap="square" lIns="0" tIns="0" rIns="0" bIns="0" rtlCol="0">
            <a:spAutoFit/>
          </a:bodyPr>
          <a:lstStyle/>
          <a:p>
            <a:pPr>
              <a:lnSpc>
                <a:spcPts val="2655"/>
              </a:lnSpc>
            </a:pPr>
            <a:r>
              <a:rPr sz="3000" spc="-15" dirty="0">
                <a:latin typeface="Calibri"/>
                <a:cs typeface="Calibri"/>
              </a:rPr>
              <a:t>(known/referred </a:t>
            </a:r>
            <a:r>
              <a:rPr sz="3000" spc="-10" dirty="0">
                <a:latin typeface="Calibri"/>
                <a:cs typeface="Calibri"/>
              </a:rPr>
              <a:t>to </a:t>
            </a:r>
            <a:r>
              <a:rPr sz="3000" dirty="0">
                <a:latin typeface="Calibri"/>
                <a:cs typeface="Calibri"/>
              </a:rPr>
              <a:t>as </a:t>
            </a:r>
            <a:r>
              <a:rPr sz="3000" b="1" spc="-35" dirty="0">
                <a:latin typeface="Calibri"/>
                <a:cs typeface="Calibri"/>
              </a:rPr>
              <a:t>TACHYZOITES</a:t>
            </a:r>
            <a:r>
              <a:rPr sz="3000" spc="-35" dirty="0">
                <a:latin typeface="Calibri"/>
                <a:cs typeface="Calibri"/>
              </a:rPr>
              <a:t>)</a:t>
            </a:r>
            <a:r>
              <a:rPr sz="3000" spc="-60" dirty="0">
                <a:latin typeface="Calibri"/>
                <a:cs typeface="Calibri"/>
              </a:rPr>
              <a:t> </a:t>
            </a:r>
            <a:r>
              <a:rPr sz="3000" spc="-20" dirty="0">
                <a:latin typeface="Calibri"/>
                <a:cs typeface="Calibri"/>
              </a:rPr>
              <a:t>invade</a:t>
            </a:r>
            <a:endParaRPr sz="3000">
              <a:latin typeface="Calibri"/>
              <a:cs typeface="Calibri"/>
            </a:endParaRPr>
          </a:p>
        </p:txBody>
      </p:sp>
      <p:sp>
        <p:nvSpPr>
          <p:cNvPr id="13" name="object 13"/>
          <p:cNvSpPr txBox="1"/>
          <p:nvPr/>
        </p:nvSpPr>
        <p:spPr>
          <a:xfrm>
            <a:off x="891844" y="5320029"/>
            <a:ext cx="7063105" cy="327025"/>
          </a:xfrm>
          <a:prstGeom prst="rect">
            <a:avLst/>
          </a:prstGeom>
          <a:solidFill>
            <a:srgbClr val="FFED00">
              <a:alpha val="50000"/>
            </a:srgbClr>
          </a:solidFill>
        </p:spPr>
        <p:txBody>
          <a:bodyPr vert="horz" wrap="square" lIns="0" tIns="0" rIns="0" bIns="0" rtlCol="0">
            <a:spAutoFit/>
          </a:bodyPr>
          <a:lstStyle/>
          <a:p>
            <a:pPr>
              <a:lnSpc>
                <a:spcPts val="2570"/>
              </a:lnSpc>
            </a:pPr>
            <a:r>
              <a:rPr sz="3000" spc="-5" dirty="0">
                <a:latin typeface="Calibri"/>
                <a:cs typeface="Calibri"/>
              </a:rPr>
              <a:t>phagocytic cells </a:t>
            </a:r>
            <a:r>
              <a:rPr sz="3000" dirty="0">
                <a:latin typeface="Calibri"/>
                <a:cs typeface="Calibri"/>
              </a:rPr>
              <a:t>and </a:t>
            </a:r>
            <a:r>
              <a:rPr sz="3000" spc="-5" dirty="0">
                <a:latin typeface="Calibri"/>
                <a:cs typeface="Calibri"/>
              </a:rPr>
              <a:t>mononuclear</a:t>
            </a:r>
            <a:r>
              <a:rPr sz="3000" spc="-25" dirty="0">
                <a:latin typeface="Calibri"/>
                <a:cs typeface="Calibri"/>
              </a:rPr>
              <a:t> </a:t>
            </a:r>
            <a:r>
              <a:rPr sz="3000" spc="-10" dirty="0">
                <a:latin typeface="Calibri"/>
                <a:cs typeface="Calibri"/>
              </a:rPr>
              <a:t>leucocytes.</a:t>
            </a:r>
            <a:endParaRPr sz="3000">
              <a:latin typeface="Calibri"/>
              <a:cs typeface="Calibri"/>
            </a:endParaRPr>
          </a:p>
        </p:txBody>
      </p:sp>
    </p:spTree>
    <p:extLst>
      <p:ext uri="{BB962C8B-B14F-4D97-AF65-F5344CB8AC3E}">
        <p14:creationId xmlns:p14="http://schemas.microsoft.com/office/powerpoint/2010/main" val="3010596666"/>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2564" y="496950"/>
            <a:ext cx="6197600"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3. </a:t>
            </a:r>
            <a:r>
              <a:rPr spc="-50" dirty="0"/>
              <a:t>Toxoplasma </a:t>
            </a:r>
            <a:r>
              <a:rPr spc="-5" dirty="0"/>
              <a:t>gondii</a:t>
            </a:r>
            <a:r>
              <a:rPr spc="20" dirty="0"/>
              <a:t> </a:t>
            </a:r>
            <a:r>
              <a:rPr spc="-30" dirty="0"/>
              <a:t>(cont’d)</a:t>
            </a:r>
          </a:p>
        </p:txBody>
      </p:sp>
      <p:sp>
        <p:nvSpPr>
          <p:cNvPr id="3" name="object 3"/>
          <p:cNvSpPr txBox="1"/>
          <p:nvPr/>
        </p:nvSpPr>
        <p:spPr>
          <a:xfrm>
            <a:off x="535940" y="1607261"/>
            <a:ext cx="6506845" cy="1685289"/>
          </a:xfrm>
          <a:prstGeom prst="rect">
            <a:avLst/>
          </a:prstGeom>
        </p:spPr>
        <p:txBody>
          <a:bodyPr vert="horz" wrap="square" lIns="0" tIns="13335" rIns="0" bIns="0" rtlCol="0">
            <a:spAutoFit/>
          </a:bodyPr>
          <a:lstStyle/>
          <a:p>
            <a:pPr marL="2680335">
              <a:lnSpc>
                <a:spcPct val="100000"/>
              </a:lnSpc>
              <a:spcBef>
                <a:spcPts val="105"/>
              </a:spcBef>
            </a:pPr>
            <a:r>
              <a:rPr sz="3200" b="1" spc="-15" dirty="0">
                <a:latin typeface="Calibri"/>
                <a:cs typeface="Calibri"/>
              </a:rPr>
              <a:t>Life Cycle</a:t>
            </a:r>
            <a:r>
              <a:rPr sz="3200" b="1" spc="-5" dirty="0">
                <a:latin typeface="Calibri"/>
                <a:cs typeface="Calibri"/>
              </a:rPr>
              <a:t> </a:t>
            </a:r>
            <a:r>
              <a:rPr sz="3200" b="1" spc="-30" dirty="0">
                <a:latin typeface="Calibri"/>
                <a:cs typeface="Calibri"/>
              </a:rPr>
              <a:t>cont’d</a:t>
            </a:r>
            <a:endParaRPr sz="3200">
              <a:latin typeface="Calibri"/>
              <a:cs typeface="Calibri"/>
            </a:endParaRPr>
          </a:p>
          <a:p>
            <a:pPr>
              <a:lnSpc>
                <a:spcPct val="100000"/>
              </a:lnSpc>
              <a:spcBef>
                <a:spcPts val="5"/>
              </a:spcBef>
            </a:pPr>
            <a:endParaRPr sz="4400">
              <a:latin typeface="Calibri"/>
              <a:cs typeface="Calibri"/>
            </a:endParaRPr>
          </a:p>
          <a:p>
            <a:pPr marL="355600" indent="-343535">
              <a:lnSpc>
                <a:spcPct val="100000"/>
              </a:lnSpc>
              <a:spcBef>
                <a:spcPts val="5"/>
              </a:spcBef>
              <a:buFont typeface="Arial"/>
              <a:buChar char="•"/>
              <a:tabLst>
                <a:tab pos="355600" algn="l"/>
                <a:tab pos="356235" algn="l"/>
              </a:tabLst>
            </a:pPr>
            <a:r>
              <a:rPr sz="3200" dirty="0">
                <a:latin typeface="Calibri"/>
                <a:cs typeface="Calibri"/>
              </a:rPr>
              <a:t>In the </a:t>
            </a:r>
            <a:r>
              <a:rPr sz="3200" b="1" spc="-5" dirty="0">
                <a:latin typeface="Calibri"/>
                <a:cs typeface="Calibri"/>
              </a:rPr>
              <a:t>chronic </a:t>
            </a:r>
            <a:r>
              <a:rPr sz="3200" b="1" spc="-15" dirty="0">
                <a:latin typeface="Calibri"/>
                <a:cs typeface="Calibri"/>
              </a:rPr>
              <a:t>stages </a:t>
            </a:r>
            <a:r>
              <a:rPr sz="3200" spc="-5" dirty="0">
                <a:latin typeface="Calibri"/>
                <a:cs typeface="Calibri"/>
              </a:rPr>
              <a:t>of </a:t>
            </a:r>
            <a:r>
              <a:rPr sz="3200" spc="-15" dirty="0">
                <a:latin typeface="Calibri"/>
                <a:cs typeface="Calibri"/>
              </a:rPr>
              <a:t>infection,</a:t>
            </a:r>
            <a:r>
              <a:rPr sz="3200" spc="-55" dirty="0">
                <a:latin typeface="Calibri"/>
                <a:cs typeface="Calibri"/>
              </a:rPr>
              <a:t> </a:t>
            </a:r>
            <a:r>
              <a:rPr sz="3200" dirty="0">
                <a:latin typeface="Calibri"/>
                <a:cs typeface="Calibri"/>
              </a:rPr>
              <a:t>the</a:t>
            </a:r>
            <a:endParaRPr sz="3200">
              <a:latin typeface="Calibri"/>
              <a:cs typeface="Calibri"/>
            </a:endParaRPr>
          </a:p>
        </p:txBody>
      </p:sp>
      <p:sp>
        <p:nvSpPr>
          <p:cNvPr id="4" name="object 4"/>
          <p:cNvSpPr txBox="1"/>
          <p:nvPr/>
        </p:nvSpPr>
        <p:spPr>
          <a:xfrm>
            <a:off x="891844" y="3403472"/>
            <a:ext cx="6474460" cy="354330"/>
          </a:xfrm>
          <a:prstGeom prst="rect">
            <a:avLst/>
          </a:prstGeom>
          <a:solidFill>
            <a:srgbClr val="FFED00">
              <a:alpha val="50000"/>
            </a:srgbClr>
          </a:solidFill>
        </p:spPr>
        <p:txBody>
          <a:bodyPr vert="horz" wrap="square" lIns="0" tIns="0" rIns="0" bIns="0" rtlCol="0">
            <a:spAutoFit/>
          </a:bodyPr>
          <a:lstStyle/>
          <a:p>
            <a:pPr>
              <a:lnSpc>
                <a:spcPts val="2790"/>
              </a:lnSpc>
            </a:pPr>
            <a:r>
              <a:rPr sz="3200" spc="-15" dirty="0">
                <a:latin typeface="Calibri"/>
                <a:cs typeface="Calibri"/>
              </a:rPr>
              <a:t>parasites </a:t>
            </a:r>
            <a:r>
              <a:rPr sz="3200" spc="-25" dirty="0">
                <a:latin typeface="Calibri"/>
                <a:cs typeface="Calibri"/>
              </a:rPr>
              <a:t>(referred </a:t>
            </a:r>
            <a:r>
              <a:rPr sz="3200" spc="-20" dirty="0">
                <a:latin typeface="Calibri"/>
                <a:cs typeface="Calibri"/>
              </a:rPr>
              <a:t>to </a:t>
            </a:r>
            <a:r>
              <a:rPr sz="3200" spc="5" dirty="0">
                <a:latin typeface="Calibri"/>
                <a:cs typeface="Calibri"/>
              </a:rPr>
              <a:t>as</a:t>
            </a:r>
            <a:r>
              <a:rPr sz="3200" spc="40" dirty="0">
                <a:latin typeface="Calibri"/>
                <a:cs typeface="Calibri"/>
              </a:rPr>
              <a:t> </a:t>
            </a:r>
            <a:r>
              <a:rPr sz="3200" b="1" spc="-20" dirty="0">
                <a:latin typeface="Calibri"/>
                <a:cs typeface="Calibri"/>
              </a:rPr>
              <a:t>BRADYZOITES</a:t>
            </a:r>
            <a:r>
              <a:rPr sz="3200" spc="-20" dirty="0">
                <a:latin typeface="Calibri"/>
                <a:cs typeface="Calibri"/>
              </a:rPr>
              <a:t>)</a:t>
            </a:r>
            <a:endParaRPr sz="3200">
              <a:latin typeface="Calibri"/>
              <a:cs typeface="Calibri"/>
            </a:endParaRPr>
          </a:p>
        </p:txBody>
      </p:sp>
      <p:sp>
        <p:nvSpPr>
          <p:cNvPr id="5" name="object 5"/>
          <p:cNvSpPr txBox="1"/>
          <p:nvPr/>
        </p:nvSpPr>
        <p:spPr>
          <a:xfrm>
            <a:off x="891844" y="3895280"/>
            <a:ext cx="7562215" cy="350520"/>
          </a:xfrm>
          <a:prstGeom prst="rect">
            <a:avLst/>
          </a:prstGeom>
          <a:solidFill>
            <a:srgbClr val="FFED00">
              <a:alpha val="50000"/>
            </a:srgbClr>
          </a:solidFill>
        </p:spPr>
        <p:txBody>
          <a:bodyPr vert="horz" wrap="square" lIns="0" tIns="0" rIns="0" bIns="0" rtlCol="0">
            <a:spAutoFit/>
          </a:bodyPr>
          <a:lstStyle/>
          <a:p>
            <a:pPr>
              <a:lnSpc>
                <a:spcPts val="2760"/>
              </a:lnSpc>
            </a:pPr>
            <a:r>
              <a:rPr sz="3200" spc="-5" dirty="0">
                <a:latin typeface="Calibri"/>
                <a:cs typeface="Calibri"/>
              </a:rPr>
              <a:t>multiply </a:t>
            </a:r>
            <a:r>
              <a:rPr sz="3200" spc="-10" dirty="0">
                <a:latin typeface="Calibri"/>
                <a:cs typeface="Calibri"/>
              </a:rPr>
              <a:t>intracellularly </a:t>
            </a:r>
            <a:r>
              <a:rPr sz="3200" dirty="0">
                <a:latin typeface="Calibri"/>
                <a:cs typeface="Calibri"/>
              </a:rPr>
              <a:t>in the </a:t>
            </a:r>
            <a:r>
              <a:rPr sz="3200" spc="-5" dirty="0">
                <a:latin typeface="Calibri"/>
                <a:cs typeface="Calibri"/>
              </a:rPr>
              <a:t>tissues </a:t>
            </a:r>
            <a:r>
              <a:rPr sz="3200" dirty="0">
                <a:latin typeface="Calibri"/>
                <a:cs typeface="Calibri"/>
              </a:rPr>
              <a:t>and</a:t>
            </a:r>
            <a:r>
              <a:rPr sz="3200" spc="110" dirty="0">
                <a:latin typeface="Calibri"/>
                <a:cs typeface="Calibri"/>
              </a:rPr>
              <a:t> </a:t>
            </a:r>
            <a:r>
              <a:rPr sz="3200" spc="-25" dirty="0">
                <a:latin typeface="Calibri"/>
                <a:cs typeface="Calibri"/>
              </a:rPr>
              <a:t>form</a:t>
            </a:r>
            <a:endParaRPr sz="3200">
              <a:latin typeface="Calibri"/>
              <a:cs typeface="Calibri"/>
            </a:endParaRPr>
          </a:p>
        </p:txBody>
      </p:sp>
      <p:sp>
        <p:nvSpPr>
          <p:cNvPr id="6" name="object 6"/>
          <p:cNvSpPr txBox="1"/>
          <p:nvPr/>
        </p:nvSpPr>
        <p:spPr>
          <a:xfrm>
            <a:off x="891844" y="4379290"/>
            <a:ext cx="3034030" cy="354330"/>
          </a:xfrm>
          <a:prstGeom prst="rect">
            <a:avLst/>
          </a:prstGeom>
          <a:solidFill>
            <a:srgbClr val="FFED00">
              <a:alpha val="50000"/>
            </a:srgbClr>
          </a:solidFill>
        </p:spPr>
        <p:txBody>
          <a:bodyPr vert="horz" wrap="square" lIns="0" tIns="0" rIns="0" bIns="0" rtlCol="0">
            <a:spAutoFit/>
          </a:bodyPr>
          <a:lstStyle/>
          <a:p>
            <a:pPr>
              <a:lnSpc>
                <a:spcPts val="2790"/>
              </a:lnSpc>
            </a:pPr>
            <a:r>
              <a:rPr sz="3200" spc="-15" dirty="0">
                <a:latin typeface="Calibri"/>
                <a:cs typeface="Calibri"/>
              </a:rPr>
              <a:t>cysts</a:t>
            </a:r>
            <a:r>
              <a:rPr sz="3200" spc="-80" dirty="0">
                <a:latin typeface="Calibri"/>
                <a:cs typeface="Calibri"/>
              </a:rPr>
              <a:t> </a:t>
            </a:r>
            <a:r>
              <a:rPr sz="3200" spc="-10" dirty="0">
                <a:latin typeface="Calibri"/>
                <a:cs typeface="Calibri"/>
              </a:rPr>
              <a:t>(pseudocysts</a:t>
            </a:r>
            <a:endParaRPr sz="3200">
              <a:latin typeface="Calibri"/>
              <a:cs typeface="Calibri"/>
            </a:endParaRPr>
          </a:p>
        </p:txBody>
      </p:sp>
    </p:spTree>
    <p:extLst>
      <p:ext uri="{BB962C8B-B14F-4D97-AF65-F5344CB8AC3E}">
        <p14:creationId xmlns:p14="http://schemas.microsoft.com/office/powerpoint/2010/main" val="1742589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2564" y="496950"/>
            <a:ext cx="6197600"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3. </a:t>
            </a:r>
            <a:r>
              <a:rPr spc="-50" dirty="0"/>
              <a:t>Toxoplasma </a:t>
            </a:r>
            <a:r>
              <a:rPr spc="-5" dirty="0"/>
              <a:t>gondii</a:t>
            </a:r>
            <a:r>
              <a:rPr spc="20" dirty="0"/>
              <a:t> </a:t>
            </a:r>
            <a:r>
              <a:rPr spc="-30" dirty="0"/>
              <a:t>(cont’d)</a:t>
            </a:r>
          </a:p>
        </p:txBody>
      </p:sp>
      <p:sp>
        <p:nvSpPr>
          <p:cNvPr id="3" name="object 3"/>
          <p:cNvSpPr txBox="1"/>
          <p:nvPr/>
        </p:nvSpPr>
        <p:spPr>
          <a:xfrm>
            <a:off x="535940" y="1516952"/>
            <a:ext cx="6840220" cy="1123950"/>
          </a:xfrm>
          <a:prstGeom prst="rect">
            <a:avLst/>
          </a:prstGeom>
        </p:spPr>
        <p:txBody>
          <a:bodyPr vert="horz" wrap="square" lIns="0" tIns="104775" rIns="0" bIns="0" rtlCol="0">
            <a:spAutoFit/>
          </a:bodyPr>
          <a:lstStyle/>
          <a:p>
            <a:pPr marL="2030095">
              <a:lnSpc>
                <a:spcPct val="100000"/>
              </a:lnSpc>
              <a:spcBef>
                <a:spcPts val="825"/>
              </a:spcBef>
            </a:pPr>
            <a:r>
              <a:rPr sz="3000" b="1" spc="-15" dirty="0">
                <a:latin typeface="Calibri"/>
                <a:cs typeface="Calibri"/>
              </a:rPr>
              <a:t>Symptoms </a:t>
            </a:r>
            <a:r>
              <a:rPr sz="3000" b="1" dirty="0">
                <a:latin typeface="Calibri"/>
                <a:cs typeface="Calibri"/>
              </a:rPr>
              <a:t>and </a:t>
            </a:r>
            <a:r>
              <a:rPr sz="3000" b="1" spc="-15" dirty="0">
                <a:latin typeface="Calibri"/>
                <a:cs typeface="Calibri"/>
              </a:rPr>
              <a:t>Pathology</a:t>
            </a:r>
            <a:endParaRPr sz="3000">
              <a:latin typeface="Calibri"/>
              <a:cs typeface="Calibri"/>
            </a:endParaRPr>
          </a:p>
          <a:p>
            <a:pPr marL="355600" indent="-343535">
              <a:lnSpc>
                <a:spcPct val="100000"/>
              </a:lnSpc>
              <a:spcBef>
                <a:spcPts val="720"/>
              </a:spcBef>
              <a:buFont typeface="Arial"/>
              <a:buChar char="•"/>
              <a:tabLst>
                <a:tab pos="355600" algn="l"/>
                <a:tab pos="356235" algn="l"/>
              </a:tabLst>
            </a:pPr>
            <a:r>
              <a:rPr sz="3000" dirty="0">
                <a:latin typeface="Calibri"/>
                <a:cs typeface="Calibri"/>
              </a:rPr>
              <a:t>In </a:t>
            </a:r>
            <a:r>
              <a:rPr sz="3000" spc="-10" dirty="0">
                <a:latin typeface="Calibri"/>
                <a:cs typeface="Calibri"/>
              </a:rPr>
              <a:t>humans, </a:t>
            </a:r>
            <a:r>
              <a:rPr sz="3000" spc="-15" dirty="0">
                <a:latin typeface="Calibri"/>
                <a:cs typeface="Calibri"/>
              </a:rPr>
              <a:t>infection </a:t>
            </a:r>
            <a:r>
              <a:rPr sz="3000" spc="-20" dirty="0">
                <a:latin typeface="Calibri"/>
                <a:cs typeface="Calibri"/>
              </a:rPr>
              <a:t>may </a:t>
            </a:r>
            <a:r>
              <a:rPr sz="3000" spc="-5" dirty="0">
                <a:latin typeface="Calibri"/>
                <a:cs typeface="Calibri"/>
              </a:rPr>
              <a:t>be </a:t>
            </a:r>
            <a:r>
              <a:rPr sz="3000" spc="-10" dirty="0">
                <a:latin typeface="Calibri"/>
                <a:cs typeface="Calibri"/>
              </a:rPr>
              <a:t>acquired</a:t>
            </a:r>
            <a:r>
              <a:rPr sz="3000" spc="25" dirty="0">
                <a:latin typeface="Calibri"/>
                <a:cs typeface="Calibri"/>
              </a:rPr>
              <a:t> </a:t>
            </a:r>
            <a:r>
              <a:rPr sz="3000" spc="-5" dirty="0">
                <a:latin typeface="Calibri"/>
                <a:cs typeface="Calibri"/>
              </a:rPr>
              <a:t>and</a:t>
            </a:r>
            <a:endParaRPr sz="3000">
              <a:latin typeface="Calibri"/>
              <a:cs typeface="Calibri"/>
            </a:endParaRPr>
          </a:p>
        </p:txBody>
      </p:sp>
      <p:sp>
        <p:nvSpPr>
          <p:cNvPr id="4" name="object 4"/>
          <p:cNvSpPr txBox="1"/>
          <p:nvPr/>
        </p:nvSpPr>
        <p:spPr>
          <a:xfrm>
            <a:off x="7447712" y="2291207"/>
            <a:ext cx="843280" cy="328295"/>
          </a:xfrm>
          <a:prstGeom prst="rect">
            <a:avLst/>
          </a:prstGeom>
          <a:solidFill>
            <a:srgbClr val="FFED00">
              <a:alpha val="50000"/>
            </a:srgbClr>
          </a:solidFill>
        </p:spPr>
        <p:txBody>
          <a:bodyPr vert="horz" wrap="square" lIns="0" tIns="0" rIns="0" bIns="0" rtlCol="0">
            <a:spAutoFit/>
          </a:bodyPr>
          <a:lstStyle/>
          <a:p>
            <a:pPr>
              <a:lnSpc>
                <a:spcPts val="2585"/>
              </a:lnSpc>
            </a:pPr>
            <a:r>
              <a:rPr sz="3000" spc="-5" dirty="0">
                <a:latin typeface="Calibri"/>
                <a:cs typeface="Calibri"/>
              </a:rPr>
              <a:t>of</a:t>
            </a:r>
            <a:r>
              <a:rPr sz="3000" spc="-35" dirty="0">
                <a:latin typeface="Calibri"/>
                <a:cs typeface="Calibri"/>
              </a:rPr>
              <a:t>t</a:t>
            </a:r>
            <a:r>
              <a:rPr sz="3000" dirty="0">
                <a:latin typeface="Calibri"/>
                <a:cs typeface="Calibri"/>
              </a:rPr>
              <a:t>en</a:t>
            </a:r>
            <a:endParaRPr sz="3000">
              <a:latin typeface="Calibri"/>
              <a:cs typeface="Calibri"/>
            </a:endParaRPr>
          </a:p>
        </p:txBody>
      </p:sp>
      <p:sp>
        <p:nvSpPr>
          <p:cNvPr id="5" name="object 5"/>
          <p:cNvSpPr txBox="1"/>
          <p:nvPr/>
        </p:nvSpPr>
        <p:spPr>
          <a:xfrm>
            <a:off x="891844" y="2748407"/>
            <a:ext cx="2757805" cy="328295"/>
          </a:xfrm>
          <a:prstGeom prst="rect">
            <a:avLst/>
          </a:prstGeom>
          <a:solidFill>
            <a:srgbClr val="FFED00">
              <a:alpha val="50000"/>
            </a:srgbClr>
          </a:solidFill>
        </p:spPr>
        <p:txBody>
          <a:bodyPr vert="horz" wrap="square" lIns="0" tIns="0" rIns="0" bIns="0" rtlCol="0">
            <a:spAutoFit/>
          </a:bodyPr>
          <a:lstStyle/>
          <a:p>
            <a:pPr>
              <a:lnSpc>
                <a:spcPts val="2585"/>
              </a:lnSpc>
            </a:pPr>
            <a:r>
              <a:rPr sz="3000" spc="-5" dirty="0">
                <a:latin typeface="Calibri"/>
                <a:cs typeface="Calibri"/>
              </a:rPr>
              <a:t>be</a:t>
            </a:r>
            <a:r>
              <a:rPr sz="3000" spc="-100" dirty="0">
                <a:latin typeface="Calibri"/>
                <a:cs typeface="Calibri"/>
              </a:rPr>
              <a:t> </a:t>
            </a:r>
            <a:r>
              <a:rPr sz="3000" spc="-10" dirty="0">
                <a:latin typeface="Calibri"/>
                <a:cs typeface="Calibri"/>
              </a:rPr>
              <a:t>asymptomatic,</a:t>
            </a:r>
            <a:endParaRPr sz="3000">
              <a:latin typeface="Calibri"/>
              <a:cs typeface="Calibri"/>
            </a:endParaRPr>
          </a:p>
        </p:txBody>
      </p:sp>
      <p:sp>
        <p:nvSpPr>
          <p:cNvPr id="6" name="object 6"/>
          <p:cNvSpPr txBox="1"/>
          <p:nvPr/>
        </p:nvSpPr>
        <p:spPr>
          <a:xfrm>
            <a:off x="3732580" y="2748407"/>
            <a:ext cx="3527425" cy="328295"/>
          </a:xfrm>
          <a:prstGeom prst="rect">
            <a:avLst/>
          </a:prstGeom>
          <a:solidFill>
            <a:srgbClr val="FFED00">
              <a:alpha val="50000"/>
            </a:srgbClr>
          </a:solidFill>
        </p:spPr>
        <p:txBody>
          <a:bodyPr vert="horz" wrap="square" lIns="0" tIns="0" rIns="0" bIns="0" rtlCol="0">
            <a:spAutoFit/>
          </a:bodyPr>
          <a:lstStyle/>
          <a:p>
            <a:pPr>
              <a:lnSpc>
                <a:spcPts val="2585"/>
              </a:lnSpc>
            </a:pPr>
            <a:r>
              <a:rPr sz="3000" spc="-5" dirty="0">
                <a:latin typeface="Calibri"/>
                <a:cs typeface="Calibri"/>
              </a:rPr>
              <a:t>but cause </a:t>
            </a:r>
            <a:r>
              <a:rPr sz="3000" spc="-65" dirty="0">
                <a:latin typeface="Calibri"/>
                <a:cs typeface="Calibri"/>
              </a:rPr>
              <a:t>fever, </a:t>
            </a:r>
            <a:r>
              <a:rPr sz="3000" dirty="0">
                <a:latin typeface="Calibri"/>
                <a:cs typeface="Calibri"/>
              </a:rPr>
              <a:t>a</a:t>
            </a:r>
            <a:r>
              <a:rPr sz="3000" spc="-75" dirty="0">
                <a:latin typeface="Calibri"/>
                <a:cs typeface="Calibri"/>
              </a:rPr>
              <a:t> </a:t>
            </a:r>
            <a:r>
              <a:rPr sz="3000" spc="-15" dirty="0">
                <a:latin typeface="Calibri"/>
                <a:cs typeface="Calibri"/>
              </a:rPr>
              <a:t>rash,</a:t>
            </a:r>
            <a:endParaRPr sz="3000">
              <a:latin typeface="Calibri"/>
              <a:cs typeface="Calibri"/>
            </a:endParaRPr>
          </a:p>
        </p:txBody>
      </p:sp>
      <p:sp>
        <p:nvSpPr>
          <p:cNvPr id="7" name="object 7"/>
          <p:cNvSpPr txBox="1"/>
          <p:nvPr/>
        </p:nvSpPr>
        <p:spPr>
          <a:xfrm>
            <a:off x="891844" y="3205607"/>
            <a:ext cx="7588884" cy="328295"/>
          </a:xfrm>
          <a:prstGeom prst="rect">
            <a:avLst/>
          </a:prstGeom>
          <a:solidFill>
            <a:srgbClr val="FFED00">
              <a:alpha val="50000"/>
            </a:srgbClr>
          </a:solidFill>
        </p:spPr>
        <p:txBody>
          <a:bodyPr vert="horz" wrap="square" lIns="0" tIns="0" rIns="0" bIns="0" rtlCol="0">
            <a:spAutoFit/>
          </a:bodyPr>
          <a:lstStyle/>
          <a:p>
            <a:pPr>
              <a:lnSpc>
                <a:spcPts val="2585"/>
              </a:lnSpc>
            </a:pPr>
            <a:r>
              <a:rPr sz="3000" spc="-15" dirty="0">
                <a:latin typeface="Calibri"/>
                <a:cs typeface="Calibri"/>
              </a:rPr>
              <a:t>enlargement </a:t>
            </a:r>
            <a:r>
              <a:rPr sz="3000" spc="-5" dirty="0">
                <a:latin typeface="Calibri"/>
                <a:cs typeface="Calibri"/>
              </a:rPr>
              <a:t>of </a:t>
            </a:r>
            <a:r>
              <a:rPr sz="3000" dirty="0">
                <a:latin typeface="Calibri"/>
                <a:cs typeface="Calibri"/>
              </a:rPr>
              <a:t>lymph glands with</a:t>
            </a:r>
            <a:r>
              <a:rPr sz="3000" spc="-45" dirty="0">
                <a:latin typeface="Calibri"/>
                <a:cs typeface="Calibri"/>
              </a:rPr>
              <a:t> </a:t>
            </a:r>
            <a:r>
              <a:rPr sz="3000" spc="-5" dirty="0">
                <a:latin typeface="Calibri"/>
                <a:cs typeface="Calibri"/>
              </a:rPr>
              <a:t>lymphocytosis</a:t>
            </a:r>
            <a:endParaRPr sz="3000">
              <a:latin typeface="Calibri"/>
              <a:cs typeface="Calibri"/>
            </a:endParaRPr>
          </a:p>
        </p:txBody>
      </p:sp>
      <p:sp>
        <p:nvSpPr>
          <p:cNvPr id="8" name="object 8"/>
          <p:cNvSpPr txBox="1"/>
          <p:nvPr/>
        </p:nvSpPr>
        <p:spPr>
          <a:xfrm>
            <a:off x="891844" y="3659632"/>
            <a:ext cx="7567930" cy="331470"/>
          </a:xfrm>
          <a:prstGeom prst="rect">
            <a:avLst/>
          </a:prstGeom>
          <a:solidFill>
            <a:srgbClr val="FFED00">
              <a:alpha val="50000"/>
            </a:srgbClr>
          </a:solidFill>
        </p:spPr>
        <p:txBody>
          <a:bodyPr vert="horz" wrap="square" lIns="0" tIns="0" rIns="0" bIns="0" rtlCol="0">
            <a:spAutoFit/>
          </a:bodyPr>
          <a:lstStyle/>
          <a:p>
            <a:pPr>
              <a:lnSpc>
                <a:spcPts val="2610"/>
              </a:lnSpc>
            </a:pPr>
            <a:r>
              <a:rPr sz="3000" dirty="0">
                <a:latin typeface="Calibri"/>
                <a:cs typeface="Calibri"/>
              </a:rPr>
              <a:t>and </a:t>
            </a:r>
            <a:r>
              <a:rPr sz="3000" spc="-20" dirty="0">
                <a:latin typeface="Calibri"/>
                <a:cs typeface="Calibri"/>
              </a:rPr>
              <a:t>occasionally, </a:t>
            </a:r>
            <a:r>
              <a:rPr sz="3000" spc="-5" dirty="0">
                <a:latin typeface="Calibri"/>
                <a:cs typeface="Calibri"/>
              </a:rPr>
              <a:t>inflammation of </a:t>
            </a:r>
            <a:r>
              <a:rPr sz="3000" dirty="0">
                <a:latin typeface="Calibri"/>
                <a:cs typeface="Calibri"/>
              </a:rPr>
              <a:t>the </a:t>
            </a:r>
            <a:r>
              <a:rPr sz="3000" spc="-25" dirty="0">
                <a:latin typeface="Calibri"/>
                <a:cs typeface="Calibri"/>
              </a:rPr>
              <a:t>eye</a:t>
            </a:r>
            <a:r>
              <a:rPr sz="3000" spc="-75" dirty="0">
                <a:latin typeface="Calibri"/>
                <a:cs typeface="Calibri"/>
              </a:rPr>
              <a:t> </a:t>
            </a:r>
            <a:r>
              <a:rPr sz="3000" spc="-5" dirty="0">
                <a:latin typeface="Calibri"/>
                <a:cs typeface="Calibri"/>
              </a:rPr>
              <a:t>(ocular</a:t>
            </a:r>
            <a:endParaRPr sz="3000">
              <a:latin typeface="Calibri"/>
              <a:cs typeface="Calibri"/>
            </a:endParaRPr>
          </a:p>
        </p:txBody>
      </p:sp>
      <p:sp>
        <p:nvSpPr>
          <p:cNvPr id="9" name="object 9"/>
          <p:cNvSpPr txBox="1"/>
          <p:nvPr/>
        </p:nvSpPr>
        <p:spPr>
          <a:xfrm>
            <a:off x="891844" y="4116832"/>
            <a:ext cx="7668259" cy="331470"/>
          </a:xfrm>
          <a:prstGeom prst="rect">
            <a:avLst/>
          </a:prstGeom>
          <a:solidFill>
            <a:srgbClr val="FFED00">
              <a:alpha val="50000"/>
            </a:srgbClr>
          </a:solidFill>
        </p:spPr>
        <p:txBody>
          <a:bodyPr vert="horz" wrap="square" lIns="0" tIns="0" rIns="0" bIns="0" rtlCol="0">
            <a:spAutoFit/>
          </a:bodyPr>
          <a:lstStyle/>
          <a:p>
            <a:pPr>
              <a:lnSpc>
                <a:spcPts val="2610"/>
              </a:lnSpc>
            </a:pPr>
            <a:r>
              <a:rPr sz="3000" spc="-15" dirty="0">
                <a:latin typeface="Calibri"/>
                <a:cs typeface="Calibri"/>
              </a:rPr>
              <a:t>toxoplasmosis), </a:t>
            </a:r>
            <a:r>
              <a:rPr sz="3000" spc="-20" dirty="0">
                <a:latin typeface="Calibri"/>
                <a:cs typeface="Calibri"/>
              </a:rPr>
              <a:t>myocarditis,</a:t>
            </a:r>
            <a:r>
              <a:rPr sz="3000" spc="75" dirty="0">
                <a:latin typeface="Calibri"/>
                <a:cs typeface="Calibri"/>
              </a:rPr>
              <a:t> </a:t>
            </a:r>
            <a:r>
              <a:rPr sz="3000" spc="-10" dirty="0">
                <a:latin typeface="Calibri"/>
                <a:cs typeface="Calibri"/>
              </a:rPr>
              <a:t>meningoencephalitis</a:t>
            </a:r>
            <a:endParaRPr sz="3000">
              <a:latin typeface="Calibri"/>
              <a:cs typeface="Calibri"/>
            </a:endParaRPr>
          </a:p>
        </p:txBody>
      </p:sp>
      <p:sp>
        <p:nvSpPr>
          <p:cNvPr id="10" name="object 10"/>
          <p:cNvSpPr txBox="1"/>
          <p:nvPr/>
        </p:nvSpPr>
        <p:spPr>
          <a:xfrm>
            <a:off x="891844" y="4578984"/>
            <a:ext cx="3807460" cy="327025"/>
          </a:xfrm>
          <a:prstGeom prst="rect">
            <a:avLst/>
          </a:prstGeom>
          <a:solidFill>
            <a:srgbClr val="FFED00">
              <a:alpha val="50000"/>
            </a:srgbClr>
          </a:solidFill>
        </p:spPr>
        <p:txBody>
          <a:bodyPr vert="horz" wrap="square" lIns="0" tIns="0" rIns="0" bIns="0" rtlCol="0">
            <a:spAutoFit/>
          </a:bodyPr>
          <a:lstStyle/>
          <a:p>
            <a:pPr>
              <a:lnSpc>
                <a:spcPts val="2570"/>
              </a:lnSpc>
            </a:pPr>
            <a:r>
              <a:rPr sz="3000" dirty="0">
                <a:latin typeface="Calibri"/>
                <a:cs typeface="Calibri"/>
              </a:rPr>
              <a:t>and </a:t>
            </a:r>
            <a:r>
              <a:rPr sz="3000" spc="-10" dirty="0">
                <a:latin typeface="Calibri"/>
                <a:cs typeface="Calibri"/>
              </a:rPr>
              <a:t>atypical</a:t>
            </a:r>
            <a:r>
              <a:rPr sz="3000" spc="-60" dirty="0">
                <a:latin typeface="Calibri"/>
                <a:cs typeface="Calibri"/>
              </a:rPr>
              <a:t> </a:t>
            </a:r>
            <a:r>
              <a:rPr sz="3000" spc="-10" dirty="0">
                <a:latin typeface="Calibri"/>
                <a:cs typeface="Calibri"/>
              </a:rPr>
              <a:t>pneumonia.</a:t>
            </a:r>
            <a:endParaRPr sz="3000">
              <a:latin typeface="Calibri"/>
              <a:cs typeface="Calibri"/>
            </a:endParaRPr>
          </a:p>
        </p:txBody>
      </p:sp>
      <p:sp>
        <p:nvSpPr>
          <p:cNvPr id="11" name="object 11"/>
          <p:cNvSpPr txBox="1"/>
          <p:nvPr/>
        </p:nvSpPr>
        <p:spPr>
          <a:xfrm>
            <a:off x="535940" y="4992700"/>
            <a:ext cx="8011159" cy="940435"/>
          </a:xfrm>
          <a:prstGeom prst="rect">
            <a:avLst/>
          </a:prstGeom>
        </p:spPr>
        <p:txBody>
          <a:bodyPr vert="horz" wrap="square" lIns="0" tIns="12700" rIns="0" bIns="0" rtlCol="0">
            <a:spAutoFit/>
          </a:bodyPr>
          <a:lstStyle/>
          <a:p>
            <a:pPr marL="355600" marR="5080" indent="-343535">
              <a:lnSpc>
                <a:spcPct val="100000"/>
              </a:lnSpc>
              <a:spcBef>
                <a:spcPts val="100"/>
              </a:spcBef>
              <a:buFont typeface="Arial"/>
              <a:buChar char="•"/>
              <a:tabLst>
                <a:tab pos="355600" algn="l"/>
                <a:tab pos="356235" algn="l"/>
              </a:tabLst>
            </a:pPr>
            <a:r>
              <a:rPr sz="3000" spc="-5" dirty="0">
                <a:latin typeface="Calibri"/>
                <a:cs typeface="Calibri"/>
              </a:rPr>
              <a:t>Serious </a:t>
            </a:r>
            <a:r>
              <a:rPr sz="3000" dirty="0">
                <a:latin typeface="Calibri"/>
                <a:cs typeface="Calibri"/>
              </a:rPr>
              <a:t>and </a:t>
            </a:r>
            <a:r>
              <a:rPr sz="3000" spc="-30" dirty="0">
                <a:latin typeface="Calibri"/>
                <a:cs typeface="Calibri"/>
              </a:rPr>
              <a:t>fatal </a:t>
            </a:r>
            <a:r>
              <a:rPr sz="3000" spc="-10" dirty="0">
                <a:latin typeface="Calibri"/>
                <a:cs typeface="Calibri"/>
              </a:rPr>
              <a:t>opportunistic </a:t>
            </a:r>
            <a:r>
              <a:rPr sz="3000" spc="-15" dirty="0">
                <a:latin typeface="Calibri"/>
                <a:cs typeface="Calibri"/>
              </a:rPr>
              <a:t>infections </a:t>
            </a:r>
            <a:r>
              <a:rPr sz="3000" spc="-20" dirty="0">
                <a:latin typeface="Calibri"/>
                <a:cs typeface="Calibri"/>
              </a:rPr>
              <a:t>may  </a:t>
            </a:r>
            <a:r>
              <a:rPr sz="3000" spc="-5" dirty="0">
                <a:latin typeface="Calibri"/>
                <a:cs typeface="Calibri"/>
              </a:rPr>
              <a:t>occur in </a:t>
            </a:r>
            <a:r>
              <a:rPr sz="3000" dirty="0">
                <a:latin typeface="Calibri"/>
                <a:cs typeface="Calibri"/>
              </a:rPr>
              <a:t>those with abnormal immune</a:t>
            </a:r>
            <a:r>
              <a:rPr sz="3000" spc="-80" dirty="0">
                <a:latin typeface="Calibri"/>
                <a:cs typeface="Calibri"/>
              </a:rPr>
              <a:t> </a:t>
            </a:r>
            <a:r>
              <a:rPr sz="3000" spc="-10" dirty="0">
                <a:latin typeface="Calibri"/>
                <a:cs typeface="Calibri"/>
              </a:rPr>
              <a:t>responses.</a:t>
            </a:r>
            <a:endParaRPr sz="3000">
              <a:latin typeface="Calibri"/>
              <a:cs typeface="Calibri"/>
            </a:endParaRPr>
          </a:p>
        </p:txBody>
      </p:sp>
    </p:spTree>
    <p:extLst>
      <p:ext uri="{BB962C8B-B14F-4D97-AF65-F5344CB8AC3E}">
        <p14:creationId xmlns:p14="http://schemas.microsoft.com/office/powerpoint/2010/main" val="2030058872"/>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2564" y="496950"/>
            <a:ext cx="6197600"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3. </a:t>
            </a:r>
            <a:r>
              <a:rPr spc="-50" dirty="0"/>
              <a:t>Toxoplasma </a:t>
            </a:r>
            <a:r>
              <a:rPr spc="-5" dirty="0"/>
              <a:t>gondii</a:t>
            </a:r>
            <a:r>
              <a:rPr spc="20" dirty="0"/>
              <a:t> </a:t>
            </a:r>
            <a:r>
              <a:rPr spc="-30" dirty="0"/>
              <a:t>(cont’d)</a:t>
            </a:r>
          </a:p>
        </p:txBody>
      </p:sp>
      <p:sp>
        <p:nvSpPr>
          <p:cNvPr id="3" name="object 3"/>
          <p:cNvSpPr txBox="1"/>
          <p:nvPr/>
        </p:nvSpPr>
        <p:spPr>
          <a:xfrm>
            <a:off x="535940" y="1563370"/>
            <a:ext cx="8047990" cy="3729990"/>
          </a:xfrm>
          <a:prstGeom prst="rect">
            <a:avLst/>
          </a:prstGeom>
        </p:spPr>
        <p:txBody>
          <a:bodyPr vert="horz" wrap="square" lIns="0" tIns="12700" rIns="0" bIns="0" rtlCol="0">
            <a:spAutoFit/>
          </a:bodyPr>
          <a:lstStyle/>
          <a:p>
            <a:pPr marL="24130" algn="ctr">
              <a:lnSpc>
                <a:spcPct val="100000"/>
              </a:lnSpc>
              <a:spcBef>
                <a:spcPts val="100"/>
              </a:spcBef>
            </a:pPr>
            <a:r>
              <a:rPr sz="3000" b="1" spc="-15" dirty="0">
                <a:latin typeface="Calibri"/>
                <a:cs typeface="Calibri"/>
              </a:rPr>
              <a:t>Symptoms </a:t>
            </a:r>
            <a:r>
              <a:rPr sz="3000" b="1" spc="-5" dirty="0">
                <a:latin typeface="Calibri"/>
                <a:cs typeface="Calibri"/>
              </a:rPr>
              <a:t>and </a:t>
            </a:r>
            <a:r>
              <a:rPr sz="3000" b="1" spc="-15" dirty="0">
                <a:latin typeface="Calibri"/>
                <a:cs typeface="Calibri"/>
              </a:rPr>
              <a:t>Pathology</a:t>
            </a:r>
            <a:r>
              <a:rPr sz="3000" b="1" spc="25" dirty="0">
                <a:latin typeface="Calibri"/>
                <a:cs typeface="Calibri"/>
              </a:rPr>
              <a:t> </a:t>
            </a:r>
            <a:r>
              <a:rPr sz="3000" b="1" spc="-20" dirty="0">
                <a:latin typeface="Calibri"/>
                <a:cs typeface="Calibri"/>
              </a:rPr>
              <a:t>(cont’d)</a:t>
            </a:r>
            <a:endParaRPr sz="3000">
              <a:latin typeface="Calibri"/>
              <a:cs typeface="Calibri"/>
            </a:endParaRPr>
          </a:p>
          <a:p>
            <a:pPr>
              <a:lnSpc>
                <a:spcPct val="100000"/>
              </a:lnSpc>
              <a:spcBef>
                <a:spcPts val="30"/>
              </a:spcBef>
            </a:pPr>
            <a:endParaRPr sz="3850">
              <a:latin typeface="Calibri"/>
              <a:cs typeface="Calibri"/>
            </a:endParaRPr>
          </a:p>
          <a:p>
            <a:pPr marL="355600" marR="165100" indent="-343535">
              <a:lnSpc>
                <a:spcPts val="3240"/>
              </a:lnSpc>
              <a:buSzPct val="96666"/>
              <a:buFont typeface="Wingdings"/>
              <a:buChar char=""/>
              <a:tabLst>
                <a:tab pos="356235" algn="l"/>
              </a:tabLst>
            </a:pPr>
            <a:r>
              <a:rPr sz="3000" spc="-15" dirty="0">
                <a:latin typeface="Calibri"/>
                <a:cs typeface="Calibri"/>
              </a:rPr>
              <a:t>Infection </a:t>
            </a:r>
            <a:r>
              <a:rPr sz="3000" spc="-20" dirty="0">
                <a:latin typeface="Calibri"/>
                <a:cs typeface="Calibri"/>
              </a:rPr>
              <a:t>may </a:t>
            </a:r>
            <a:r>
              <a:rPr sz="3000" spc="-5" dirty="0">
                <a:latin typeface="Calibri"/>
                <a:cs typeface="Calibri"/>
              </a:rPr>
              <a:t>be </a:t>
            </a:r>
            <a:r>
              <a:rPr sz="3000" spc="-15" dirty="0">
                <a:latin typeface="Calibri"/>
                <a:cs typeface="Calibri"/>
              </a:rPr>
              <a:t>congenital </a:t>
            </a:r>
            <a:r>
              <a:rPr sz="3000" spc="-10" dirty="0">
                <a:latin typeface="Calibri"/>
                <a:cs typeface="Calibri"/>
              </a:rPr>
              <a:t>in </a:t>
            </a:r>
            <a:r>
              <a:rPr sz="3000" spc="-20" dirty="0">
                <a:latin typeface="Calibri"/>
                <a:cs typeface="Calibri"/>
              </a:rPr>
              <a:t>infants </a:t>
            </a:r>
            <a:r>
              <a:rPr sz="3000" spc="-5" dirty="0">
                <a:latin typeface="Calibri"/>
                <a:cs typeface="Calibri"/>
              </a:rPr>
              <a:t>of </a:t>
            </a:r>
            <a:r>
              <a:rPr sz="3000" spc="-20" dirty="0">
                <a:latin typeface="Calibri"/>
                <a:cs typeface="Calibri"/>
              </a:rPr>
              <a:t>infected  </a:t>
            </a:r>
            <a:r>
              <a:rPr sz="3000" spc="-10" dirty="0">
                <a:latin typeface="Calibri"/>
                <a:cs typeface="Calibri"/>
              </a:rPr>
              <a:t>mothers.</a:t>
            </a:r>
            <a:endParaRPr sz="3000">
              <a:latin typeface="Calibri"/>
              <a:cs typeface="Calibri"/>
            </a:endParaRPr>
          </a:p>
          <a:p>
            <a:pPr marL="355600" marR="5080" indent="-343535">
              <a:lnSpc>
                <a:spcPts val="3240"/>
              </a:lnSpc>
              <a:spcBef>
                <a:spcPts val="720"/>
              </a:spcBef>
              <a:buSzPct val="96666"/>
              <a:buFont typeface="Wingdings"/>
              <a:buChar char=""/>
              <a:tabLst>
                <a:tab pos="356235" algn="l"/>
              </a:tabLst>
            </a:pPr>
            <a:r>
              <a:rPr sz="3000" spc="-15" dirty="0">
                <a:latin typeface="Calibri"/>
                <a:cs typeface="Calibri"/>
              </a:rPr>
              <a:t>Intra-uterine infection </a:t>
            </a:r>
            <a:r>
              <a:rPr sz="3000" spc="-10" dirty="0">
                <a:latin typeface="Calibri"/>
                <a:cs typeface="Calibri"/>
              </a:rPr>
              <a:t>can </a:t>
            </a:r>
            <a:r>
              <a:rPr sz="3000" spc="-5" dirty="0">
                <a:latin typeface="Calibri"/>
                <a:cs typeface="Calibri"/>
              </a:rPr>
              <a:t>cause </a:t>
            </a:r>
            <a:r>
              <a:rPr sz="3000" spc="-20" dirty="0">
                <a:latin typeface="Calibri"/>
                <a:cs typeface="Calibri"/>
              </a:rPr>
              <a:t>severe </a:t>
            </a:r>
            <a:r>
              <a:rPr sz="3000" dirty="0">
                <a:latin typeface="Calibri"/>
                <a:cs typeface="Calibri"/>
              </a:rPr>
              <a:t>and </a:t>
            </a:r>
            <a:r>
              <a:rPr sz="3000" spc="-10" dirty="0">
                <a:latin typeface="Calibri"/>
                <a:cs typeface="Calibri"/>
              </a:rPr>
              <a:t>often  </a:t>
            </a:r>
            <a:r>
              <a:rPr sz="3000" spc="-25" dirty="0">
                <a:latin typeface="Calibri"/>
                <a:cs typeface="Calibri"/>
              </a:rPr>
              <a:t>fatal </a:t>
            </a:r>
            <a:r>
              <a:rPr sz="3000" spc="-15" dirty="0">
                <a:latin typeface="Calibri"/>
                <a:cs typeface="Calibri"/>
              </a:rPr>
              <a:t>cerebral </a:t>
            </a:r>
            <a:r>
              <a:rPr sz="3000" spc="-10" dirty="0">
                <a:latin typeface="Calibri"/>
                <a:cs typeface="Calibri"/>
              </a:rPr>
              <a:t>damage </a:t>
            </a:r>
            <a:r>
              <a:rPr sz="3000" spc="-15" dirty="0">
                <a:latin typeface="Calibri"/>
                <a:cs typeface="Calibri"/>
              </a:rPr>
              <a:t>to </a:t>
            </a:r>
            <a:r>
              <a:rPr sz="3000" dirty="0">
                <a:latin typeface="Calibri"/>
                <a:cs typeface="Calibri"/>
              </a:rPr>
              <a:t>a </a:t>
            </a:r>
            <a:r>
              <a:rPr sz="3000" spc="-15" dirty="0">
                <a:latin typeface="Calibri"/>
                <a:cs typeface="Calibri"/>
              </a:rPr>
              <a:t>foetus. </a:t>
            </a:r>
            <a:r>
              <a:rPr sz="3000" spc="-20" dirty="0">
                <a:latin typeface="Calibri"/>
                <a:cs typeface="Calibri"/>
              </a:rPr>
              <a:t>Infants </a:t>
            </a:r>
            <a:r>
              <a:rPr sz="3000" dirty="0">
                <a:latin typeface="Calibri"/>
                <a:cs typeface="Calibri"/>
              </a:rPr>
              <a:t>who  </a:t>
            </a:r>
            <a:r>
              <a:rPr sz="3000" spc="-15" dirty="0">
                <a:latin typeface="Calibri"/>
                <a:cs typeface="Calibri"/>
              </a:rPr>
              <a:t>recover </a:t>
            </a:r>
            <a:r>
              <a:rPr sz="3000" spc="-10" dirty="0">
                <a:latin typeface="Calibri"/>
                <a:cs typeface="Calibri"/>
              </a:rPr>
              <a:t>often </a:t>
            </a:r>
            <a:r>
              <a:rPr sz="3000" spc="-5" dirty="0">
                <a:latin typeface="Calibri"/>
                <a:cs typeface="Calibri"/>
              </a:rPr>
              <a:t>show signs of </a:t>
            </a:r>
            <a:r>
              <a:rPr sz="3000" spc="-15" dirty="0">
                <a:latin typeface="Calibri"/>
                <a:cs typeface="Calibri"/>
              </a:rPr>
              <a:t>mental</a:t>
            </a:r>
            <a:r>
              <a:rPr sz="3000" spc="-50" dirty="0">
                <a:latin typeface="Calibri"/>
                <a:cs typeface="Calibri"/>
              </a:rPr>
              <a:t> </a:t>
            </a:r>
            <a:r>
              <a:rPr sz="3000" spc="-15" dirty="0">
                <a:latin typeface="Calibri"/>
                <a:cs typeface="Calibri"/>
              </a:rPr>
              <a:t>defects.</a:t>
            </a:r>
            <a:endParaRPr sz="3000">
              <a:latin typeface="Calibri"/>
              <a:cs typeface="Calibri"/>
            </a:endParaRPr>
          </a:p>
          <a:p>
            <a:pPr marL="355600" indent="-343535">
              <a:lnSpc>
                <a:spcPct val="100000"/>
              </a:lnSpc>
              <a:spcBef>
                <a:spcPts val="315"/>
              </a:spcBef>
              <a:buSzPct val="96666"/>
              <a:buFont typeface="Wingdings"/>
              <a:buChar char=""/>
              <a:tabLst>
                <a:tab pos="356235" algn="l"/>
              </a:tabLst>
            </a:pPr>
            <a:r>
              <a:rPr sz="3000" spc="-15" dirty="0">
                <a:latin typeface="Calibri"/>
                <a:cs typeface="Calibri"/>
              </a:rPr>
              <a:t>Infection </a:t>
            </a:r>
            <a:r>
              <a:rPr sz="3000" spc="-5" dirty="0">
                <a:latin typeface="Calibri"/>
                <a:cs typeface="Calibri"/>
              </a:rPr>
              <a:t>occurring </a:t>
            </a:r>
            <a:r>
              <a:rPr sz="3000" spc="-10" dirty="0">
                <a:latin typeface="Calibri"/>
                <a:cs typeface="Calibri"/>
              </a:rPr>
              <a:t>in </a:t>
            </a:r>
            <a:r>
              <a:rPr sz="3000" spc="-5" dirty="0">
                <a:latin typeface="Calibri"/>
                <a:cs typeface="Calibri"/>
              </a:rPr>
              <a:t>early </a:t>
            </a:r>
            <a:r>
              <a:rPr sz="3000" spc="-10" dirty="0">
                <a:latin typeface="Calibri"/>
                <a:cs typeface="Calibri"/>
              </a:rPr>
              <a:t>pregnancy </a:t>
            </a:r>
            <a:r>
              <a:rPr sz="3000" spc="-20" dirty="0">
                <a:latin typeface="Calibri"/>
                <a:cs typeface="Calibri"/>
              </a:rPr>
              <a:t>may</a:t>
            </a:r>
            <a:r>
              <a:rPr sz="3000" spc="20" dirty="0">
                <a:latin typeface="Calibri"/>
                <a:cs typeface="Calibri"/>
              </a:rPr>
              <a:t> </a:t>
            </a:r>
            <a:r>
              <a:rPr sz="3000" spc="-10" dirty="0">
                <a:latin typeface="Calibri"/>
                <a:cs typeface="Calibri"/>
              </a:rPr>
              <a:t>result</a:t>
            </a:r>
            <a:endParaRPr sz="3000">
              <a:latin typeface="Calibri"/>
              <a:cs typeface="Calibri"/>
            </a:endParaRPr>
          </a:p>
        </p:txBody>
      </p:sp>
      <p:sp>
        <p:nvSpPr>
          <p:cNvPr id="4" name="object 4"/>
          <p:cNvSpPr txBox="1"/>
          <p:nvPr/>
        </p:nvSpPr>
        <p:spPr>
          <a:xfrm>
            <a:off x="891844" y="5355031"/>
            <a:ext cx="6358255" cy="314325"/>
          </a:xfrm>
          <a:prstGeom prst="rect">
            <a:avLst/>
          </a:prstGeom>
          <a:solidFill>
            <a:srgbClr val="FFED00">
              <a:alpha val="50000"/>
            </a:srgbClr>
          </a:solidFill>
        </p:spPr>
        <p:txBody>
          <a:bodyPr vert="horz" wrap="square" lIns="0" tIns="0" rIns="0" bIns="0" rtlCol="0">
            <a:spAutoFit/>
          </a:bodyPr>
          <a:lstStyle/>
          <a:p>
            <a:pPr>
              <a:lnSpc>
                <a:spcPts val="2475"/>
              </a:lnSpc>
            </a:pPr>
            <a:r>
              <a:rPr sz="3000" dirty="0">
                <a:latin typeface="Calibri"/>
                <a:cs typeface="Calibri"/>
              </a:rPr>
              <a:t>in </a:t>
            </a:r>
            <a:r>
              <a:rPr sz="3000" spc="-5" dirty="0">
                <a:latin typeface="Calibri"/>
                <a:cs typeface="Calibri"/>
              </a:rPr>
              <a:t>abortion or still-birth of </a:t>
            </a:r>
            <a:r>
              <a:rPr sz="3000" dirty="0">
                <a:latin typeface="Calibri"/>
                <a:cs typeface="Calibri"/>
              </a:rPr>
              <a:t>a </a:t>
            </a:r>
            <a:r>
              <a:rPr sz="3000" spc="-15" dirty="0">
                <a:latin typeface="Calibri"/>
                <a:cs typeface="Calibri"/>
              </a:rPr>
              <a:t>foetus,</a:t>
            </a:r>
            <a:r>
              <a:rPr sz="3000" spc="-55" dirty="0">
                <a:latin typeface="Calibri"/>
                <a:cs typeface="Calibri"/>
              </a:rPr>
              <a:t> </a:t>
            </a:r>
            <a:r>
              <a:rPr sz="3000" spc="-5" dirty="0">
                <a:latin typeface="Calibri"/>
                <a:cs typeface="Calibri"/>
              </a:rPr>
              <a:t>while</a:t>
            </a:r>
            <a:endParaRPr sz="3000">
              <a:latin typeface="Calibri"/>
              <a:cs typeface="Calibri"/>
            </a:endParaRPr>
          </a:p>
        </p:txBody>
      </p:sp>
      <p:sp>
        <p:nvSpPr>
          <p:cNvPr id="5" name="object 5"/>
          <p:cNvSpPr txBox="1"/>
          <p:nvPr/>
        </p:nvSpPr>
        <p:spPr>
          <a:xfrm>
            <a:off x="891844" y="5766511"/>
            <a:ext cx="7491730" cy="328295"/>
          </a:xfrm>
          <a:prstGeom prst="rect">
            <a:avLst/>
          </a:prstGeom>
          <a:solidFill>
            <a:srgbClr val="FFED00">
              <a:alpha val="50000"/>
            </a:srgbClr>
          </a:solidFill>
        </p:spPr>
        <p:txBody>
          <a:bodyPr vert="horz" wrap="square" lIns="0" tIns="0" rIns="0" bIns="0" rtlCol="0">
            <a:spAutoFit/>
          </a:bodyPr>
          <a:lstStyle/>
          <a:p>
            <a:pPr>
              <a:lnSpc>
                <a:spcPts val="2585"/>
              </a:lnSpc>
            </a:pPr>
            <a:r>
              <a:rPr sz="3000" spc="-15" dirty="0">
                <a:latin typeface="Calibri"/>
                <a:cs typeface="Calibri"/>
              </a:rPr>
              <a:t>infection </a:t>
            </a:r>
            <a:r>
              <a:rPr sz="3000" spc="-20" dirty="0">
                <a:latin typeface="Calibri"/>
                <a:cs typeface="Calibri"/>
              </a:rPr>
              <a:t>late </a:t>
            </a:r>
            <a:r>
              <a:rPr sz="3000" dirty="0">
                <a:latin typeface="Calibri"/>
                <a:cs typeface="Calibri"/>
              </a:rPr>
              <a:t>in </a:t>
            </a:r>
            <a:r>
              <a:rPr sz="3000" spc="-5" dirty="0">
                <a:latin typeface="Calibri"/>
                <a:cs typeface="Calibri"/>
              </a:rPr>
              <a:t>pregnancy </a:t>
            </a:r>
            <a:r>
              <a:rPr sz="3000" spc="-20" dirty="0">
                <a:latin typeface="Calibri"/>
                <a:cs typeface="Calibri"/>
              </a:rPr>
              <a:t>may </a:t>
            </a:r>
            <a:r>
              <a:rPr sz="3000" spc="-5" dirty="0">
                <a:latin typeface="Calibri"/>
                <a:cs typeface="Calibri"/>
              </a:rPr>
              <a:t>cause</a:t>
            </a:r>
            <a:r>
              <a:rPr sz="3000" spc="-30" dirty="0">
                <a:latin typeface="Calibri"/>
                <a:cs typeface="Calibri"/>
              </a:rPr>
              <a:t> </a:t>
            </a:r>
            <a:r>
              <a:rPr sz="3000" spc="-15" dirty="0">
                <a:latin typeface="Calibri"/>
                <a:cs typeface="Calibri"/>
              </a:rPr>
              <a:t>symptoms</a:t>
            </a:r>
            <a:endParaRPr sz="3000">
              <a:latin typeface="Calibri"/>
              <a:cs typeface="Calibri"/>
            </a:endParaRPr>
          </a:p>
        </p:txBody>
      </p:sp>
      <p:sp>
        <p:nvSpPr>
          <p:cNvPr id="6" name="object 6"/>
          <p:cNvSpPr txBox="1"/>
          <p:nvPr/>
        </p:nvSpPr>
        <p:spPr>
          <a:xfrm>
            <a:off x="891844" y="6177991"/>
            <a:ext cx="7219950" cy="328295"/>
          </a:xfrm>
          <a:prstGeom prst="rect">
            <a:avLst/>
          </a:prstGeom>
          <a:solidFill>
            <a:srgbClr val="FFED00">
              <a:alpha val="50000"/>
            </a:srgbClr>
          </a:solidFill>
        </p:spPr>
        <p:txBody>
          <a:bodyPr vert="horz" wrap="square" lIns="0" tIns="0" rIns="0" bIns="0" rtlCol="0">
            <a:spAutoFit/>
          </a:bodyPr>
          <a:lstStyle/>
          <a:p>
            <a:pPr>
              <a:lnSpc>
                <a:spcPts val="2585"/>
              </a:lnSpc>
            </a:pPr>
            <a:r>
              <a:rPr sz="3000" spc="-15" dirty="0">
                <a:latin typeface="Calibri"/>
                <a:cs typeface="Calibri"/>
              </a:rPr>
              <a:t>to develop </a:t>
            </a:r>
            <a:r>
              <a:rPr sz="3000" dirty="0">
                <a:latin typeface="Calibri"/>
                <a:cs typeface="Calibri"/>
              </a:rPr>
              <a:t>in the </a:t>
            </a:r>
            <a:r>
              <a:rPr sz="3000" spc="-20" dirty="0">
                <a:latin typeface="Calibri"/>
                <a:cs typeface="Calibri"/>
              </a:rPr>
              <a:t>infant </a:t>
            </a:r>
            <a:r>
              <a:rPr sz="3000" dirty="0">
                <a:latin typeface="Calibri"/>
                <a:cs typeface="Calibri"/>
              </a:rPr>
              <a:t>2-3 </a:t>
            </a:r>
            <a:r>
              <a:rPr sz="3000" spc="-5" dirty="0">
                <a:latin typeface="Calibri"/>
                <a:cs typeface="Calibri"/>
              </a:rPr>
              <a:t>months </a:t>
            </a:r>
            <a:r>
              <a:rPr sz="3000" spc="-15" dirty="0">
                <a:latin typeface="Calibri"/>
                <a:cs typeface="Calibri"/>
              </a:rPr>
              <a:t>after</a:t>
            </a:r>
            <a:r>
              <a:rPr sz="3000" spc="-45" dirty="0">
                <a:latin typeface="Calibri"/>
                <a:cs typeface="Calibri"/>
              </a:rPr>
              <a:t> </a:t>
            </a:r>
            <a:r>
              <a:rPr sz="3000" spc="-5" dirty="0">
                <a:latin typeface="Calibri"/>
                <a:cs typeface="Calibri"/>
              </a:rPr>
              <a:t>birth.</a:t>
            </a:r>
            <a:endParaRPr sz="3000">
              <a:latin typeface="Calibri"/>
              <a:cs typeface="Calibri"/>
            </a:endParaRPr>
          </a:p>
        </p:txBody>
      </p:sp>
    </p:spTree>
    <p:extLst>
      <p:ext uri="{BB962C8B-B14F-4D97-AF65-F5344CB8AC3E}">
        <p14:creationId xmlns:p14="http://schemas.microsoft.com/office/powerpoint/2010/main" val="1375026268"/>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3522002"/>
            <a:ext cx="5707380" cy="332105"/>
          </a:xfrm>
          <a:custGeom>
            <a:avLst/>
            <a:gdLst/>
            <a:ahLst/>
            <a:cxnLst/>
            <a:rect l="l" t="t" r="r" b="b"/>
            <a:pathLst>
              <a:path w="5707380" h="332104">
                <a:moveTo>
                  <a:pt x="0" y="0"/>
                </a:moveTo>
                <a:lnTo>
                  <a:pt x="5706986" y="0"/>
                </a:lnTo>
                <a:lnTo>
                  <a:pt x="5706986" y="331736"/>
                </a:lnTo>
                <a:lnTo>
                  <a:pt x="0" y="331736"/>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891844" y="3022726"/>
            <a:ext cx="980440" cy="264160"/>
          </a:xfrm>
          <a:custGeom>
            <a:avLst/>
            <a:gdLst/>
            <a:ahLst/>
            <a:cxnLst/>
            <a:rect l="l" t="t" r="r" b="b"/>
            <a:pathLst>
              <a:path w="980439" h="264160">
                <a:moveTo>
                  <a:pt x="0" y="0"/>
                </a:moveTo>
                <a:lnTo>
                  <a:pt x="980312" y="0"/>
                </a:lnTo>
                <a:lnTo>
                  <a:pt x="980312" y="263651"/>
                </a:lnTo>
                <a:lnTo>
                  <a:pt x="0" y="263651"/>
                </a:lnTo>
                <a:lnTo>
                  <a:pt x="0" y="0"/>
                </a:lnTo>
                <a:close/>
              </a:path>
            </a:pathLst>
          </a:custGeom>
          <a:solidFill>
            <a:srgbClr val="FFED00"/>
          </a:solidFill>
        </p:spPr>
        <p:txBody>
          <a:bodyPr wrap="square" lIns="0" tIns="0" rIns="0" bIns="0" rtlCol="0"/>
          <a:lstStyle/>
          <a:p>
            <a:endParaRPr/>
          </a:p>
        </p:txBody>
      </p:sp>
      <p:sp>
        <p:nvSpPr>
          <p:cNvPr id="4" name="object 4"/>
          <p:cNvSpPr txBox="1">
            <a:spLocks noGrp="1"/>
          </p:cNvSpPr>
          <p:nvPr>
            <p:ph type="title"/>
          </p:nvPr>
        </p:nvSpPr>
        <p:spPr>
          <a:xfrm>
            <a:off x="1472564" y="496950"/>
            <a:ext cx="6197600"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3. </a:t>
            </a:r>
            <a:r>
              <a:rPr spc="-50" dirty="0"/>
              <a:t>Toxoplasma </a:t>
            </a:r>
            <a:r>
              <a:rPr spc="-5" dirty="0"/>
              <a:t>gondii</a:t>
            </a:r>
            <a:r>
              <a:rPr spc="20" dirty="0"/>
              <a:t> </a:t>
            </a:r>
            <a:r>
              <a:rPr spc="-30" dirty="0"/>
              <a:t>(cont’d)</a:t>
            </a:r>
          </a:p>
        </p:txBody>
      </p:sp>
      <p:sp>
        <p:nvSpPr>
          <p:cNvPr id="5" name="object 5"/>
          <p:cNvSpPr txBox="1"/>
          <p:nvPr/>
        </p:nvSpPr>
        <p:spPr>
          <a:xfrm>
            <a:off x="2726182" y="1563370"/>
            <a:ext cx="3698240" cy="482600"/>
          </a:xfrm>
          <a:prstGeom prst="rect">
            <a:avLst/>
          </a:prstGeom>
        </p:spPr>
        <p:txBody>
          <a:bodyPr vert="horz" wrap="square" lIns="0" tIns="12700" rIns="0" bIns="0" rtlCol="0">
            <a:spAutoFit/>
          </a:bodyPr>
          <a:lstStyle/>
          <a:p>
            <a:pPr marL="12700">
              <a:lnSpc>
                <a:spcPct val="100000"/>
              </a:lnSpc>
              <a:spcBef>
                <a:spcPts val="100"/>
              </a:spcBef>
            </a:pPr>
            <a:r>
              <a:rPr sz="3000" b="1" spc="-10" dirty="0">
                <a:latin typeface="Calibri"/>
                <a:cs typeface="Calibri"/>
              </a:rPr>
              <a:t>Prevention </a:t>
            </a:r>
            <a:r>
              <a:rPr sz="3000" b="1" dirty="0">
                <a:latin typeface="Calibri"/>
                <a:cs typeface="Calibri"/>
              </a:rPr>
              <a:t>and</a:t>
            </a:r>
            <a:r>
              <a:rPr sz="3000" b="1" spc="-80" dirty="0">
                <a:latin typeface="Calibri"/>
                <a:cs typeface="Calibri"/>
              </a:rPr>
              <a:t> </a:t>
            </a:r>
            <a:r>
              <a:rPr sz="3000" b="1" spc="-10" dirty="0">
                <a:latin typeface="Calibri"/>
                <a:cs typeface="Calibri"/>
              </a:rPr>
              <a:t>Control</a:t>
            </a:r>
            <a:endParaRPr sz="3000">
              <a:latin typeface="Calibri"/>
              <a:cs typeface="Calibri"/>
            </a:endParaRPr>
          </a:p>
        </p:txBody>
      </p:sp>
      <p:sp>
        <p:nvSpPr>
          <p:cNvPr id="6" name="object 6"/>
          <p:cNvSpPr txBox="1"/>
          <p:nvPr/>
        </p:nvSpPr>
        <p:spPr>
          <a:xfrm>
            <a:off x="535940" y="2066671"/>
            <a:ext cx="159385" cy="482600"/>
          </a:xfrm>
          <a:prstGeom prst="rect">
            <a:avLst/>
          </a:prstGeom>
        </p:spPr>
        <p:txBody>
          <a:bodyPr vert="horz" wrap="square" lIns="0" tIns="12700" rIns="0" bIns="0" rtlCol="0">
            <a:spAutoFit/>
          </a:bodyPr>
          <a:lstStyle/>
          <a:p>
            <a:pPr marL="12700">
              <a:lnSpc>
                <a:spcPct val="100000"/>
              </a:lnSpc>
              <a:spcBef>
                <a:spcPts val="100"/>
              </a:spcBef>
            </a:pPr>
            <a:r>
              <a:rPr sz="3000" dirty="0">
                <a:latin typeface="Arial"/>
                <a:cs typeface="Arial"/>
              </a:rPr>
              <a:t>•</a:t>
            </a:r>
            <a:endParaRPr sz="3000">
              <a:latin typeface="Arial"/>
              <a:cs typeface="Arial"/>
            </a:endParaRPr>
          </a:p>
        </p:txBody>
      </p:sp>
      <p:sp>
        <p:nvSpPr>
          <p:cNvPr id="7" name="object 7"/>
          <p:cNvSpPr txBox="1"/>
          <p:nvPr/>
        </p:nvSpPr>
        <p:spPr>
          <a:xfrm>
            <a:off x="891844" y="2199767"/>
            <a:ext cx="4580890" cy="328295"/>
          </a:xfrm>
          <a:prstGeom prst="rect">
            <a:avLst/>
          </a:prstGeom>
          <a:solidFill>
            <a:srgbClr val="FFED00">
              <a:alpha val="50000"/>
            </a:srgbClr>
          </a:solidFill>
        </p:spPr>
        <p:txBody>
          <a:bodyPr vert="horz" wrap="square" lIns="0" tIns="0" rIns="0" bIns="0" rtlCol="0">
            <a:spAutoFit/>
          </a:bodyPr>
          <a:lstStyle/>
          <a:p>
            <a:pPr>
              <a:lnSpc>
                <a:spcPts val="2585"/>
              </a:lnSpc>
            </a:pPr>
            <a:r>
              <a:rPr sz="3000" spc="-15" dirty="0">
                <a:latin typeface="Calibri"/>
                <a:cs typeface="Calibri"/>
              </a:rPr>
              <a:t>Control </a:t>
            </a:r>
            <a:r>
              <a:rPr sz="3000" spc="-5" dirty="0">
                <a:latin typeface="Calibri"/>
                <a:cs typeface="Calibri"/>
              </a:rPr>
              <a:t>of </a:t>
            </a:r>
            <a:r>
              <a:rPr sz="3000" spc="-30" dirty="0">
                <a:latin typeface="Calibri"/>
                <a:cs typeface="Calibri"/>
              </a:rPr>
              <a:t>stray </a:t>
            </a:r>
            <a:r>
              <a:rPr sz="3000" spc="-10" dirty="0">
                <a:latin typeface="Calibri"/>
                <a:cs typeface="Calibri"/>
              </a:rPr>
              <a:t>domestic</a:t>
            </a:r>
            <a:r>
              <a:rPr sz="3000" spc="-25" dirty="0">
                <a:latin typeface="Calibri"/>
                <a:cs typeface="Calibri"/>
              </a:rPr>
              <a:t> </a:t>
            </a:r>
            <a:r>
              <a:rPr sz="3000" spc="-15" dirty="0">
                <a:latin typeface="Calibri"/>
                <a:cs typeface="Calibri"/>
              </a:rPr>
              <a:t>cats</a:t>
            </a:r>
            <a:endParaRPr sz="3000">
              <a:latin typeface="Calibri"/>
              <a:cs typeface="Calibri"/>
            </a:endParaRPr>
          </a:p>
        </p:txBody>
      </p:sp>
      <p:sp>
        <p:nvSpPr>
          <p:cNvPr id="8" name="object 8"/>
          <p:cNvSpPr txBox="1"/>
          <p:nvPr/>
        </p:nvSpPr>
        <p:spPr>
          <a:xfrm>
            <a:off x="5540943" y="2066671"/>
            <a:ext cx="2654935" cy="482600"/>
          </a:xfrm>
          <a:prstGeom prst="rect">
            <a:avLst/>
          </a:prstGeom>
        </p:spPr>
        <p:txBody>
          <a:bodyPr vert="horz" wrap="square" lIns="0" tIns="12700" rIns="0" bIns="0" rtlCol="0">
            <a:spAutoFit/>
          </a:bodyPr>
          <a:lstStyle/>
          <a:p>
            <a:pPr marL="12700">
              <a:lnSpc>
                <a:spcPct val="100000"/>
              </a:lnSpc>
              <a:spcBef>
                <a:spcPts val="100"/>
              </a:spcBef>
            </a:pPr>
            <a:r>
              <a:rPr sz="3000" dirty="0">
                <a:latin typeface="Calibri"/>
                <a:cs typeface="Calibri"/>
              </a:rPr>
              <a:t>and </a:t>
            </a:r>
            <a:r>
              <a:rPr sz="3000" spc="-15" dirty="0">
                <a:latin typeface="Calibri"/>
                <a:cs typeface="Calibri"/>
              </a:rPr>
              <a:t>avoidance</a:t>
            </a:r>
            <a:r>
              <a:rPr sz="3000" spc="-100" dirty="0">
                <a:latin typeface="Calibri"/>
                <a:cs typeface="Calibri"/>
              </a:rPr>
              <a:t> </a:t>
            </a:r>
            <a:r>
              <a:rPr sz="3000" spc="-5" dirty="0">
                <a:latin typeface="Calibri"/>
                <a:cs typeface="Calibri"/>
              </a:rPr>
              <a:t>of</a:t>
            </a:r>
            <a:endParaRPr sz="3000">
              <a:latin typeface="Calibri"/>
              <a:cs typeface="Calibri"/>
            </a:endParaRPr>
          </a:p>
        </p:txBody>
      </p:sp>
      <p:sp>
        <p:nvSpPr>
          <p:cNvPr id="9" name="object 9"/>
          <p:cNvSpPr txBox="1"/>
          <p:nvPr/>
        </p:nvSpPr>
        <p:spPr>
          <a:xfrm>
            <a:off x="891844" y="2611247"/>
            <a:ext cx="7532370" cy="314325"/>
          </a:xfrm>
          <a:prstGeom prst="rect">
            <a:avLst/>
          </a:prstGeom>
          <a:solidFill>
            <a:srgbClr val="FFED00">
              <a:alpha val="50000"/>
            </a:srgbClr>
          </a:solidFill>
        </p:spPr>
        <p:txBody>
          <a:bodyPr vert="horz" wrap="square" lIns="0" tIns="0" rIns="0" bIns="0" rtlCol="0">
            <a:spAutoFit/>
          </a:bodyPr>
          <a:lstStyle/>
          <a:p>
            <a:pPr>
              <a:lnSpc>
                <a:spcPts val="2475"/>
              </a:lnSpc>
            </a:pPr>
            <a:r>
              <a:rPr sz="3000" spc="-10" dirty="0">
                <a:latin typeface="Calibri"/>
                <a:cs typeface="Calibri"/>
              </a:rPr>
              <a:t>contamination </a:t>
            </a:r>
            <a:r>
              <a:rPr sz="3000" spc="-5" dirty="0">
                <a:latin typeface="Calibri"/>
                <a:cs typeface="Calibri"/>
              </a:rPr>
              <a:t>of hands, </a:t>
            </a:r>
            <a:r>
              <a:rPr sz="3000" spc="-20" dirty="0">
                <a:latin typeface="Calibri"/>
                <a:cs typeface="Calibri"/>
              </a:rPr>
              <a:t>food </a:t>
            </a:r>
            <a:r>
              <a:rPr sz="3000" dirty="0">
                <a:latin typeface="Calibri"/>
                <a:cs typeface="Calibri"/>
              </a:rPr>
              <a:t>and </a:t>
            </a:r>
            <a:r>
              <a:rPr sz="3000" spc="-20" dirty="0">
                <a:latin typeface="Calibri"/>
                <a:cs typeface="Calibri"/>
              </a:rPr>
              <a:t>water </a:t>
            </a:r>
            <a:r>
              <a:rPr sz="3000" dirty="0">
                <a:latin typeface="Calibri"/>
                <a:cs typeface="Calibri"/>
              </a:rPr>
              <a:t>with</a:t>
            </a:r>
            <a:r>
              <a:rPr sz="3000" spc="-45" dirty="0">
                <a:latin typeface="Calibri"/>
                <a:cs typeface="Calibri"/>
              </a:rPr>
              <a:t> </a:t>
            </a:r>
            <a:r>
              <a:rPr sz="3000" spc="-15" dirty="0">
                <a:latin typeface="Calibri"/>
                <a:cs typeface="Calibri"/>
              </a:rPr>
              <a:t>cat</a:t>
            </a:r>
            <a:endParaRPr sz="3000">
              <a:latin typeface="Calibri"/>
              <a:cs typeface="Calibri"/>
            </a:endParaRPr>
          </a:p>
        </p:txBody>
      </p:sp>
      <p:sp>
        <p:nvSpPr>
          <p:cNvPr id="10" name="object 10"/>
          <p:cNvSpPr txBox="1"/>
          <p:nvPr/>
        </p:nvSpPr>
        <p:spPr>
          <a:xfrm>
            <a:off x="497840" y="2844251"/>
            <a:ext cx="7888605" cy="3180715"/>
          </a:xfrm>
          <a:prstGeom prst="rect">
            <a:avLst/>
          </a:prstGeom>
        </p:spPr>
        <p:txBody>
          <a:bodyPr vert="horz" wrap="square" lIns="0" tIns="57785" rIns="0" bIns="0" rtlCol="0">
            <a:spAutoFit/>
          </a:bodyPr>
          <a:lstStyle/>
          <a:p>
            <a:pPr marL="393700">
              <a:lnSpc>
                <a:spcPct val="100000"/>
              </a:lnSpc>
              <a:spcBef>
                <a:spcPts val="455"/>
              </a:spcBef>
            </a:pPr>
            <a:r>
              <a:rPr sz="3000" spc="-10" dirty="0">
                <a:latin typeface="Calibri"/>
                <a:cs typeface="Calibri"/>
              </a:rPr>
              <a:t>faeces.</a:t>
            </a:r>
            <a:endParaRPr sz="3000">
              <a:latin typeface="Calibri"/>
              <a:cs typeface="Calibri"/>
            </a:endParaRPr>
          </a:p>
          <a:p>
            <a:pPr marL="393700" marR="412115" indent="-343535">
              <a:lnSpc>
                <a:spcPct val="90000"/>
              </a:lnSpc>
              <a:spcBef>
                <a:spcPts val="720"/>
              </a:spcBef>
              <a:buFont typeface="Arial"/>
              <a:buChar char="•"/>
              <a:tabLst>
                <a:tab pos="393700" algn="l"/>
                <a:tab pos="394335" algn="l"/>
              </a:tabLst>
            </a:pPr>
            <a:r>
              <a:rPr sz="3000" dirty="0">
                <a:latin typeface="Calibri"/>
                <a:cs typeface="Calibri"/>
              </a:rPr>
              <a:t>Not </a:t>
            </a:r>
            <a:r>
              <a:rPr sz="3000" spc="-5" dirty="0">
                <a:latin typeface="Calibri"/>
                <a:cs typeface="Calibri"/>
              </a:rPr>
              <a:t>eating </a:t>
            </a:r>
            <a:r>
              <a:rPr sz="3000" spc="-30" dirty="0">
                <a:latin typeface="Calibri"/>
                <a:cs typeface="Calibri"/>
              </a:rPr>
              <a:t>raw </a:t>
            </a:r>
            <a:r>
              <a:rPr sz="3000" spc="-5" dirty="0">
                <a:latin typeface="Calibri"/>
                <a:cs typeface="Calibri"/>
              </a:rPr>
              <a:t>or </a:t>
            </a:r>
            <a:r>
              <a:rPr sz="3000" spc="-20" dirty="0">
                <a:latin typeface="Calibri"/>
                <a:cs typeface="Calibri"/>
              </a:rPr>
              <a:t>undercooked </a:t>
            </a:r>
            <a:r>
              <a:rPr sz="3000" spc="-5" dirty="0">
                <a:latin typeface="Calibri"/>
                <a:cs typeface="Calibri"/>
              </a:rPr>
              <a:t>meat (pork,  </a:t>
            </a:r>
            <a:r>
              <a:rPr sz="3000" spc="-15" dirty="0">
                <a:latin typeface="Calibri"/>
                <a:cs typeface="Calibri"/>
              </a:rPr>
              <a:t>mutton, beef </a:t>
            </a:r>
            <a:r>
              <a:rPr sz="3000" spc="-5" dirty="0">
                <a:latin typeface="Calibri"/>
                <a:cs typeface="Calibri"/>
              </a:rPr>
              <a:t>or </a:t>
            </a:r>
            <a:r>
              <a:rPr sz="3000" spc="-15" dirty="0">
                <a:latin typeface="Calibri"/>
                <a:cs typeface="Calibri"/>
              </a:rPr>
              <a:t>game) </a:t>
            </a:r>
            <a:r>
              <a:rPr sz="3000" spc="-5" dirty="0">
                <a:latin typeface="Calibri"/>
                <a:cs typeface="Calibri"/>
              </a:rPr>
              <a:t>which </a:t>
            </a:r>
            <a:r>
              <a:rPr sz="3000" spc="-20" dirty="0">
                <a:latin typeface="Calibri"/>
                <a:cs typeface="Calibri"/>
              </a:rPr>
              <a:t>may </a:t>
            </a:r>
            <a:r>
              <a:rPr sz="3000" spc="-15" dirty="0">
                <a:latin typeface="Calibri"/>
                <a:cs typeface="Calibri"/>
              </a:rPr>
              <a:t>contain </a:t>
            </a:r>
            <a:r>
              <a:rPr sz="3000" dirty="0">
                <a:latin typeface="Calibri"/>
                <a:cs typeface="Calibri"/>
              </a:rPr>
              <a:t>the  </a:t>
            </a:r>
            <a:r>
              <a:rPr sz="3000" spc="-15" dirty="0">
                <a:latin typeface="Calibri"/>
                <a:cs typeface="Calibri"/>
              </a:rPr>
              <a:t>parasites.</a:t>
            </a:r>
            <a:endParaRPr sz="3000">
              <a:latin typeface="Calibri"/>
              <a:cs typeface="Calibri"/>
            </a:endParaRPr>
          </a:p>
          <a:p>
            <a:pPr marL="393700" marR="43180" indent="-343535">
              <a:lnSpc>
                <a:spcPct val="90000"/>
              </a:lnSpc>
              <a:spcBef>
                <a:spcPts val="720"/>
              </a:spcBef>
              <a:buFont typeface="Arial"/>
              <a:buChar char="•"/>
              <a:tabLst>
                <a:tab pos="393700" algn="l"/>
                <a:tab pos="394335" algn="l"/>
              </a:tabLst>
            </a:pPr>
            <a:r>
              <a:rPr sz="3000" spc="-10" dirty="0">
                <a:latin typeface="Calibri"/>
                <a:cs typeface="Calibri"/>
              </a:rPr>
              <a:t>Meat </a:t>
            </a:r>
            <a:r>
              <a:rPr sz="3000" spc="-15" dirty="0">
                <a:latin typeface="Calibri"/>
                <a:cs typeface="Calibri"/>
              </a:rPr>
              <a:t>heated to </a:t>
            </a:r>
            <a:r>
              <a:rPr sz="3000" dirty="0">
                <a:latin typeface="Calibri"/>
                <a:cs typeface="Calibri"/>
              </a:rPr>
              <a:t>65</a:t>
            </a:r>
            <a:r>
              <a:rPr sz="3000" baseline="25000" dirty="0">
                <a:latin typeface="Calibri"/>
                <a:cs typeface="Calibri"/>
              </a:rPr>
              <a:t>o</a:t>
            </a:r>
            <a:r>
              <a:rPr sz="3000" dirty="0">
                <a:latin typeface="Calibri"/>
                <a:cs typeface="Calibri"/>
              </a:rPr>
              <a:t>C and </a:t>
            </a:r>
            <a:r>
              <a:rPr sz="3000" spc="-10" dirty="0">
                <a:latin typeface="Calibri"/>
                <a:cs typeface="Calibri"/>
              </a:rPr>
              <a:t>above </a:t>
            </a:r>
            <a:r>
              <a:rPr sz="3000" dirty="0">
                <a:latin typeface="Calibri"/>
                <a:cs typeface="Calibri"/>
              </a:rPr>
              <a:t>and </a:t>
            </a:r>
            <a:r>
              <a:rPr sz="3000" spc="-30" dirty="0">
                <a:latin typeface="Calibri"/>
                <a:cs typeface="Calibri"/>
              </a:rPr>
              <a:t>kept </a:t>
            </a:r>
            <a:r>
              <a:rPr sz="3000" spc="-15" dirty="0">
                <a:latin typeface="Calibri"/>
                <a:cs typeface="Calibri"/>
              </a:rPr>
              <a:t>at </a:t>
            </a:r>
            <a:r>
              <a:rPr sz="3000" spc="-10" dirty="0">
                <a:latin typeface="Calibri"/>
                <a:cs typeface="Calibri"/>
              </a:rPr>
              <a:t>that  </a:t>
            </a:r>
            <a:r>
              <a:rPr sz="3000" spc="-20" dirty="0">
                <a:latin typeface="Calibri"/>
                <a:cs typeface="Calibri"/>
              </a:rPr>
              <a:t>temperature </a:t>
            </a:r>
            <a:r>
              <a:rPr sz="3000" spc="-25" dirty="0">
                <a:latin typeface="Calibri"/>
                <a:cs typeface="Calibri"/>
              </a:rPr>
              <a:t>for </a:t>
            </a:r>
            <a:r>
              <a:rPr sz="3000" spc="5" dirty="0">
                <a:latin typeface="Calibri"/>
                <a:cs typeface="Calibri"/>
              </a:rPr>
              <a:t>4-5 </a:t>
            </a:r>
            <a:r>
              <a:rPr sz="3000" spc="-10" dirty="0">
                <a:latin typeface="Calibri"/>
                <a:cs typeface="Calibri"/>
              </a:rPr>
              <a:t>minutes </a:t>
            </a:r>
            <a:r>
              <a:rPr sz="3000" spc="-5" dirty="0">
                <a:latin typeface="Calibri"/>
                <a:cs typeface="Calibri"/>
              </a:rPr>
              <a:t>or longer will not  </a:t>
            </a:r>
            <a:r>
              <a:rPr sz="3000" spc="-15" dirty="0">
                <a:latin typeface="Calibri"/>
                <a:cs typeface="Calibri"/>
              </a:rPr>
              <a:t>contain </a:t>
            </a:r>
            <a:r>
              <a:rPr sz="3000" spc="-5" dirty="0">
                <a:latin typeface="Calibri"/>
                <a:cs typeface="Calibri"/>
              </a:rPr>
              <a:t>viable</a:t>
            </a:r>
            <a:r>
              <a:rPr sz="3000" spc="-15" dirty="0">
                <a:latin typeface="Calibri"/>
                <a:cs typeface="Calibri"/>
              </a:rPr>
              <a:t> parasites.</a:t>
            </a:r>
            <a:endParaRPr sz="3000">
              <a:latin typeface="Calibri"/>
              <a:cs typeface="Calibri"/>
            </a:endParaRPr>
          </a:p>
        </p:txBody>
      </p:sp>
    </p:spTree>
    <p:extLst>
      <p:ext uri="{BB962C8B-B14F-4D97-AF65-F5344CB8AC3E}">
        <p14:creationId xmlns:p14="http://schemas.microsoft.com/office/powerpoint/2010/main" val="359071417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91844" y="3555060"/>
            <a:ext cx="1913255" cy="349250"/>
          </a:xfrm>
          <a:custGeom>
            <a:avLst/>
            <a:gdLst/>
            <a:ahLst/>
            <a:cxnLst/>
            <a:rect l="l" t="t" r="r" b="b"/>
            <a:pathLst>
              <a:path w="1913255" h="349250">
                <a:moveTo>
                  <a:pt x="0" y="0"/>
                </a:moveTo>
                <a:lnTo>
                  <a:pt x="1913089" y="0"/>
                </a:lnTo>
                <a:lnTo>
                  <a:pt x="1913089" y="348983"/>
                </a:lnTo>
                <a:lnTo>
                  <a:pt x="0" y="348983"/>
                </a:lnTo>
                <a:lnTo>
                  <a:pt x="0" y="0"/>
                </a:lnTo>
                <a:close/>
              </a:path>
            </a:pathLst>
          </a:custGeom>
          <a:solidFill>
            <a:srgbClr val="FFED00"/>
          </a:solidFill>
        </p:spPr>
        <p:txBody>
          <a:bodyPr wrap="square" lIns="0" tIns="0" rIns="0" bIns="0" rtlCol="0"/>
          <a:lstStyle/>
          <a:p>
            <a:endParaRPr/>
          </a:p>
        </p:txBody>
      </p:sp>
      <p:sp>
        <p:nvSpPr>
          <p:cNvPr id="3" name="object 3"/>
          <p:cNvSpPr txBox="1">
            <a:spLocks noGrp="1"/>
          </p:cNvSpPr>
          <p:nvPr>
            <p:ph type="title"/>
          </p:nvPr>
        </p:nvSpPr>
        <p:spPr>
          <a:xfrm>
            <a:off x="1472564" y="496950"/>
            <a:ext cx="6197600"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3. </a:t>
            </a:r>
            <a:r>
              <a:rPr spc="-50" dirty="0"/>
              <a:t>Toxoplasma </a:t>
            </a:r>
            <a:r>
              <a:rPr spc="-5" dirty="0"/>
              <a:t>gondii</a:t>
            </a:r>
            <a:r>
              <a:rPr spc="20" dirty="0"/>
              <a:t> </a:t>
            </a:r>
            <a:r>
              <a:rPr spc="-30" dirty="0"/>
              <a:t>(cont’d)</a:t>
            </a:r>
          </a:p>
        </p:txBody>
      </p:sp>
      <p:sp>
        <p:nvSpPr>
          <p:cNvPr id="4" name="object 4"/>
          <p:cNvSpPr txBox="1"/>
          <p:nvPr/>
        </p:nvSpPr>
        <p:spPr>
          <a:xfrm>
            <a:off x="1918461" y="1558493"/>
            <a:ext cx="5307330" cy="514350"/>
          </a:xfrm>
          <a:prstGeom prst="rect">
            <a:avLst/>
          </a:prstGeom>
        </p:spPr>
        <p:txBody>
          <a:bodyPr vert="horz" wrap="square" lIns="0" tIns="13335" rIns="0" bIns="0" rtlCol="0">
            <a:spAutoFit/>
          </a:bodyPr>
          <a:lstStyle/>
          <a:p>
            <a:pPr marL="12700">
              <a:lnSpc>
                <a:spcPct val="100000"/>
              </a:lnSpc>
              <a:spcBef>
                <a:spcPts val="105"/>
              </a:spcBef>
            </a:pPr>
            <a:r>
              <a:rPr sz="3200" b="1" spc="-15" dirty="0">
                <a:latin typeface="Calibri"/>
                <a:cs typeface="Calibri"/>
              </a:rPr>
              <a:t>Prevention </a:t>
            </a:r>
            <a:r>
              <a:rPr sz="3200" b="1" dirty="0">
                <a:latin typeface="Calibri"/>
                <a:cs typeface="Calibri"/>
              </a:rPr>
              <a:t>and </a:t>
            </a:r>
            <a:r>
              <a:rPr sz="3200" b="1" spc="-10" dirty="0">
                <a:latin typeface="Calibri"/>
                <a:cs typeface="Calibri"/>
              </a:rPr>
              <a:t>Control</a:t>
            </a:r>
            <a:r>
              <a:rPr sz="3200" b="1" spc="-65" dirty="0">
                <a:latin typeface="Calibri"/>
                <a:cs typeface="Calibri"/>
              </a:rPr>
              <a:t> </a:t>
            </a:r>
            <a:r>
              <a:rPr sz="3200" spc="-25" dirty="0">
                <a:latin typeface="Calibri"/>
                <a:cs typeface="Calibri"/>
              </a:rPr>
              <a:t>(cont’d)</a:t>
            </a:r>
            <a:endParaRPr sz="3200">
              <a:latin typeface="Calibri"/>
              <a:cs typeface="Calibri"/>
            </a:endParaRPr>
          </a:p>
        </p:txBody>
      </p:sp>
      <p:sp>
        <p:nvSpPr>
          <p:cNvPr id="5" name="object 5"/>
          <p:cNvSpPr txBox="1"/>
          <p:nvPr/>
        </p:nvSpPr>
        <p:spPr>
          <a:xfrm>
            <a:off x="535940" y="2095626"/>
            <a:ext cx="388620" cy="513715"/>
          </a:xfrm>
          <a:prstGeom prst="rect">
            <a:avLst/>
          </a:prstGeom>
        </p:spPr>
        <p:txBody>
          <a:bodyPr vert="horz" wrap="square" lIns="0" tIns="13335" rIns="0" bIns="0" rtlCol="0">
            <a:spAutoFit/>
          </a:bodyPr>
          <a:lstStyle/>
          <a:p>
            <a:pPr marL="12700">
              <a:lnSpc>
                <a:spcPct val="100000"/>
              </a:lnSpc>
              <a:spcBef>
                <a:spcPts val="105"/>
              </a:spcBef>
            </a:pPr>
            <a:r>
              <a:rPr sz="3200" dirty="0">
                <a:latin typeface="Wingdings"/>
                <a:cs typeface="Wingdings"/>
              </a:rPr>
              <a:t></a:t>
            </a:r>
            <a:endParaRPr sz="3200">
              <a:latin typeface="Wingdings"/>
              <a:cs typeface="Wingdings"/>
            </a:endParaRPr>
          </a:p>
        </p:txBody>
      </p:sp>
      <p:sp>
        <p:nvSpPr>
          <p:cNvPr id="6" name="object 6"/>
          <p:cNvSpPr txBox="1"/>
          <p:nvPr/>
        </p:nvSpPr>
        <p:spPr>
          <a:xfrm>
            <a:off x="911656" y="2216569"/>
            <a:ext cx="7524115" cy="370840"/>
          </a:xfrm>
          <a:prstGeom prst="rect">
            <a:avLst/>
          </a:prstGeom>
          <a:solidFill>
            <a:srgbClr val="FFED00">
              <a:alpha val="50000"/>
            </a:srgbClr>
          </a:solidFill>
        </p:spPr>
        <p:txBody>
          <a:bodyPr vert="horz" wrap="square" lIns="0" tIns="0" rIns="0" bIns="0" rtlCol="0">
            <a:spAutoFit/>
          </a:bodyPr>
          <a:lstStyle/>
          <a:p>
            <a:pPr>
              <a:lnSpc>
                <a:spcPts val="2920"/>
              </a:lnSpc>
            </a:pPr>
            <a:r>
              <a:rPr sz="3200" spc="-5" dirty="0">
                <a:latin typeface="Calibri"/>
                <a:cs typeface="Calibri"/>
              </a:rPr>
              <a:t>The </a:t>
            </a:r>
            <a:r>
              <a:rPr sz="3200" spc="-15" dirty="0">
                <a:latin typeface="Calibri"/>
                <a:cs typeface="Calibri"/>
              </a:rPr>
              <a:t>parasites </a:t>
            </a:r>
            <a:r>
              <a:rPr sz="3200" spc="-5" dirty="0">
                <a:latin typeface="Calibri"/>
                <a:cs typeface="Calibri"/>
              </a:rPr>
              <a:t>can survive </a:t>
            </a:r>
            <a:r>
              <a:rPr sz="3200" spc="-10" dirty="0">
                <a:latin typeface="Calibri"/>
                <a:cs typeface="Calibri"/>
              </a:rPr>
              <a:t>fridge</a:t>
            </a:r>
            <a:r>
              <a:rPr sz="3200" spc="15" dirty="0">
                <a:latin typeface="Calibri"/>
                <a:cs typeface="Calibri"/>
              </a:rPr>
              <a:t> </a:t>
            </a:r>
            <a:r>
              <a:rPr sz="3200" spc="-15" dirty="0">
                <a:latin typeface="Calibri"/>
                <a:cs typeface="Calibri"/>
              </a:rPr>
              <a:t>temperatures</a:t>
            </a:r>
            <a:endParaRPr sz="3200">
              <a:latin typeface="Calibri"/>
              <a:cs typeface="Calibri"/>
            </a:endParaRPr>
          </a:p>
        </p:txBody>
      </p:sp>
      <p:sp>
        <p:nvSpPr>
          <p:cNvPr id="7" name="object 7"/>
          <p:cNvSpPr txBox="1"/>
          <p:nvPr/>
        </p:nvSpPr>
        <p:spPr>
          <a:xfrm>
            <a:off x="879144" y="2534538"/>
            <a:ext cx="149225" cy="513715"/>
          </a:xfrm>
          <a:prstGeom prst="rect">
            <a:avLst/>
          </a:prstGeom>
        </p:spPr>
        <p:txBody>
          <a:bodyPr vert="horz" wrap="square" lIns="0" tIns="13335" rIns="0" bIns="0" rtlCol="0">
            <a:spAutoFit/>
          </a:bodyPr>
          <a:lstStyle/>
          <a:p>
            <a:pPr marL="12700">
              <a:lnSpc>
                <a:spcPct val="100000"/>
              </a:lnSpc>
              <a:spcBef>
                <a:spcPts val="105"/>
              </a:spcBef>
            </a:pPr>
            <a:r>
              <a:rPr sz="3200" dirty="0">
                <a:latin typeface="Calibri"/>
                <a:cs typeface="Calibri"/>
              </a:rPr>
              <a:t>(</a:t>
            </a:r>
            <a:endParaRPr sz="3200">
              <a:latin typeface="Calibri"/>
              <a:cs typeface="Calibri"/>
            </a:endParaRPr>
          </a:p>
        </p:txBody>
      </p:sp>
      <p:sp>
        <p:nvSpPr>
          <p:cNvPr id="8" name="object 8"/>
          <p:cNvSpPr txBox="1"/>
          <p:nvPr/>
        </p:nvSpPr>
        <p:spPr>
          <a:xfrm>
            <a:off x="911656" y="2672156"/>
            <a:ext cx="7426325" cy="354330"/>
          </a:xfrm>
          <a:prstGeom prst="rect">
            <a:avLst/>
          </a:prstGeom>
          <a:solidFill>
            <a:srgbClr val="FFED00">
              <a:alpha val="50000"/>
            </a:srgbClr>
          </a:solidFill>
        </p:spPr>
        <p:txBody>
          <a:bodyPr vert="horz" wrap="square" lIns="0" tIns="0" rIns="0" bIns="0" rtlCol="0">
            <a:spAutoFit/>
          </a:bodyPr>
          <a:lstStyle/>
          <a:p>
            <a:pPr marL="103505">
              <a:lnSpc>
                <a:spcPts val="2790"/>
              </a:lnSpc>
            </a:pPr>
            <a:r>
              <a:rPr sz="3200" dirty="0">
                <a:latin typeface="Calibri"/>
                <a:cs typeface="Calibri"/>
              </a:rPr>
              <a:t>4-5</a:t>
            </a:r>
            <a:r>
              <a:rPr sz="3150" baseline="25132" dirty="0">
                <a:latin typeface="Calibri"/>
                <a:cs typeface="Calibri"/>
              </a:rPr>
              <a:t>o</a:t>
            </a:r>
            <a:r>
              <a:rPr sz="3200" dirty="0">
                <a:latin typeface="Calibri"/>
                <a:cs typeface="Calibri"/>
              </a:rPr>
              <a:t>C) </a:t>
            </a:r>
            <a:r>
              <a:rPr sz="3200" spc="-30" dirty="0">
                <a:latin typeface="Calibri"/>
                <a:cs typeface="Calibri"/>
              </a:rPr>
              <a:t>for </a:t>
            </a:r>
            <a:r>
              <a:rPr sz="3200" spc="-5" dirty="0">
                <a:latin typeface="Calibri"/>
                <a:cs typeface="Calibri"/>
              </a:rPr>
              <a:t>up </a:t>
            </a:r>
            <a:r>
              <a:rPr sz="3200" spc="-25" dirty="0">
                <a:latin typeface="Calibri"/>
                <a:cs typeface="Calibri"/>
              </a:rPr>
              <a:t>to </a:t>
            </a:r>
            <a:r>
              <a:rPr sz="3200" spc="-10" dirty="0">
                <a:latin typeface="Calibri"/>
                <a:cs typeface="Calibri"/>
              </a:rPr>
              <a:t>three weeks </a:t>
            </a:r>
            <a:r>
              <a:rPr sz="3200" spc="-5" dirty="0">
                <a:latin typeface="Calibri"/>
                <a:cs typeface="Calibri"/>
              </a:rPr>
              <a:t>but </a:t>
            </a:r>
            <a:r>
              <a:rPr sz="3200" spc="-15" dirty="0">
                <a:latin typeface="Calibri"/>
                <a:cs typeface="Calibri"/>
              </a:rPr>
              <a:t>are </a:t>
            </a:r>
            <a:r>
              <a:rPr sz="3200" spc="-5" dirty="0">
                <a:latin typeface="Calibri"/>
                <a:cs typeface="Calibri"/>
              </a:rPr>
              <a:t>killed</a:t>
            </a:r>
            <a:r>
              <a:rPr sz="3200" spc="75" dirty="0">
                <a:latin typeface="Calibri"/>
                <a:cs typeface="Calibri"/>
              </a:rPr>
              <a:t> </a:t>
            </a:r>
            <a:r>
              <a:rPr sz="3200" spc="-15" dirty="0">
                <a:latin typeface="Calibri"/>
                <a:cs typeface="Calibri"/>
              </a:rPr>
              <a:t>at</a:t>
            </a:r>
            <a:endParaRPr sz="3200">
              <a:latin typeface="Calibri"/>
              <a:cs typeface="Calibri"/>
            </a:endParaRPr>
          </a:p>
        </p:txBody>
      </p:sp>
      <p:sp>
        <p:nvSpPr>
          <p:cNvPr id="9" name="object 9"/>
          <p:cNvSpPr txBox="1">
            <a:spLocks noGrp="1"/>
          </p:cNvSpPr>
          <p:nvPr>
            <p:ph type="body" idx="1"/>
          </p:nvPr>
        </p:nvSpPr>
        <p:spPr>
          <a:prstGeom prst="rect">
            <a:avLst/>
          </a:prstGeom>
        </p:spPr>
        <p:txBody>
          <a:bodyPr vert="horz" wrap="square" lIns="0" tIns="67945" rIns="0" bIns="0" rtlCol="0">
            <a:spAutoFit/>
          </a:bodyPr>
          <a:lstStyle/>
          <a:p>
            <a:pPr marL="368300" marR="170180">
              <a:lnSpc>
                <a:spcPts val="3460"/>
              </a:lnSpc>
              <a:spcBef>
                <a:spcPts val="535"/>
              </a:spcBef>
            </a:pPr>
            <a:r>
              <a:rPr spc="-15" dirty="0"/>
              <a:t>freezing temperature </a:t>
            </a:r>
            <a:r>
              <a:rPr dirty="0"/>
              <a:t>(-15</a:t>
            </a:r>
            <a:r>
              <a:rPr sz="3150" baseline="25132" dirty="0"/>
              <a:t>o</a:t>
            </a:r>
            <a:r>
              <a:rPr sz="3200" dirty="0"/>
              <a:t>C) if </a:t>
            </a:r>
            <a:r>
              <a:rPr sz="3200" spc="-35" dirty="0"/>
              <a:t>kept </a:t>
            </a:r>
            <a:r>
              <a:rPr sz="3200" spc="-30" dirty="0"/>
              <a:t>for </a:t>
            </a:r>
            <a:r>
              <a:rPr sz="3200" spc="-10" dirty="0"/>
              <a:t>at  least </a:t>
            </a:r>
            <a:r>
              <a:rPr sz="3200" dirty="0"/>
              <a:t>3</a:t>
            </a:r>
            <a:r>
              <a:rPr sz="3200" spc="5" dirty="0"/>
              <a:t> </a:t>
            </a:r>
            <a:r>
              <a:rPr sz="3200" spc="-20" dirty="0"/>
              <a:t>days.</a:t>
            </a:r>
            <a:endParaRPr sz="3200"/>
          </a:p>
          <a:p>
            <a:pPr marL="3241675">
              <a:lnSpc>
                <a:spcPct val="100000"/>
              </a:lnSpc>
              <a:spcBef>
                <a:spcPts val="330"/>
              </a:spcBef>
            </a:pPr>
            <a:r>
              <a:rPr b="1" spc="-5" dirty="0">
                <a:latin typeface="Calibri"/>
                <a:cs typeface="Calibri"/>
              </a:rPr>
              <a:t>Diagnosis</a:t>
            </a:r>
          </a:p>
          <a:p>
            <a:pPr marL="368300" marR="17780" indent="-343535">
              <a:lnSpc>
                <a:spcPts val="3460"/>
              </a:lnSpc>
              <a:spcBef>
                <a:spcPts val="815"/>
              </a:spcBef>
              <a:buSzPct val="96875"/>
              <a:buFont typeface="Wingdings"/>
              <a:buChar char=""/>
              <a:tabLst>
                <a:tab pos="389255" algn="l"/>
              </a:tabLst>
            </a:pPr>
            <a:r>
              <a:rPr dirty="0"/>
              <a:t>In </a:t>
            </a:r>
            <a:r>
              <a:rPr spc="-10" dirty="0"/>
              <a:t>acute </a:t>
            </a:r>
            <a:r>
              <a:rPr spc="-15" dirty="0"/>
              <a:t>infections </a:t>
            </a:r>
            <a:r>
              <a:rPr spc="-5" dirty="0"/>
              <a:t>diagnosis </a:t>
            </a:r>
            <a:r>
              <a:rPr spc="-20" dirty="0"/>
              <a:t>may </a:t>
            </a:r>
            <a:r>
              <a:rPr spc="-5" dirty="0"/>
              <a:t>be </a:t>
            </a:r>
            <a:r>
              <a:rPr dirty="0"/>
              <a:t>made  </a:t>
            </a:r>
            <a:r>
              <a:rPr spc="-5" dirty="0"/>
              <a:t>occasionally </a:t>
            </a:r>
            <a:r>
              <a:rPr dirty="0"/>
              <a:t>by </a:t>
            </a:r>
            <a:r>
              <a:rPr spc="-5" dirty="0"/>
              <a:t>identifying </a:t>
            </a:r>
            <a:r>
              <a:rPr dirty="0"/>
              <a:t>the </a:t>
            </a:r>
            <a:r>
              <a:rPr spc="-15" dirty="0"/>
              <a:t>parasites </a:t>
            </a:r>
            <a:r>
              <a:rPr dirty="0"/>
              <a:t>in</a:t>
            </a:r>
          </a:p>
        </p:txBody>
      </p:sp>
      <p:sp>
        <p:nvSpPr>
          <p:cNvPr id="10" name="object 10"/>
          <p:cNvSpPr txBox="1"/>
          <p:nvPr/>
        </p:nvSpPr>
        <p:spPr>
          <a:xfrm>
            <a:off x="891844" y="5500878"/>
            <a:ext cx="6412865" cy="354965"/>
          </a:xfrm>
          <a:prstGeom prst="rect">
            <a:avLst/>
          </a:prstGeom>
          <a:solidFill>
            <a:srgbClr val="FFED00">
              <a:alpha val="50000"/>
            </a:srgbClr>
          </a:solidFill>
        </p:spPr>
        <p:txBody>
          <a:bodyPr vert="horz" wrap="square" lIns="0" tIns="0" rIns="0" bIns="0" rtlCol="0">
            <a:spAutoFit/>
          </a:bodyPr>
          <a:lstStyle/>
          <a:p>
            <a:pPr>
              <a:lnSpc>
                <a:spcPts val="2790"/>
              </a:lnSpc>
            </a:pPr>
            <a:r>
              <a:rPr sz="3200" dirty="0">
                <a:latin typeface="Calibri"/>
                <a:cs typeface="Calibri"/>
              </a:rPr>
              <a:t>Giemsa </a:t>
            </a:r>
            <a:r>
              <a:rPr sz="3200" spc="-5" dirty="0">
                <a:latin typeface="Calibri"/>
                <a:cs typeface="Calibri"/>
              </a:rPr>
              <a:t>or </a:t>
            </a:r>
            <a:r>
              <a:rPr sz="3200" spc="-35" dirty="0">
                <a:latin typeface="Calibri"/>
                <a:cs typeface="Calibri"/>
              </a:rPr>
              <a:t>Field’s </a:t>
            </a:r>
            <a:r>
              <a:rPr sz="3200" spc="-20" dirty="0">
                <a:latin typeface="Calibri"/>
                <a:cs typeface="Calibri"/>
              </a:rPr>
              <a:t>stain </a:t>
            </a:r>
            <a:r>
              <a:rPr sz="3200" spc="-15" dirty="0">
                <a:latin typeface="Calibri"/>
                <a:cs typeface="Calibri"/>
              </a:rPr>
              <a:t>preparations</a:t>
            </a:r>
            <a:r>
              <a:rPr sz="3200" spc="60" dirty="0">
                <a:latin typeface="Calibri"/>
                <a:cs typeface="Calibri"/>
              </a:rPr>
              <a:t> </a:t>
            </a:r>
            <a:r>
              <a:rPr sz="3200" spc="-5" dirty="0">
                <a:latin typeface="Calibri"/>
                <a:cs typeface="Calibri"/>
              </a:rPr>
              <a:t>of:</a:t>
            </a:r>
            <a:endParaRPr sz="3200">
              <a:latin typeface="Calibri"/>
              <a:cs typeface="Calibri"/>
            </a:endParaRPr>
          </a:p>
        </p:txBody>
      </p:sp>
    </p:spTree>
    <p:extLst>
      <p:ext uri="{BB962C8B-B14F-4D97-AF65-F5344CB8AC3E}">
        <p14:creationId xmlns:p14="http://schemas.microsoft.com/office/powerpoint/2010/main" val="52276708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548640" y="4655223"/>
            <a:ext cx="1652270" cy="370840"/>
          </a:xfrm>
          <a:custGeom>
            <a:avLst/>
            <a:gdLst/>
            <a:ahLst/>
            <a:cxnLst/>
            <a:rect l="l" t="t" r="r" b="b"/>
            <a:pathLst>
              <a:path w="1652270" h="370839">
                <a:moveTo>
                  <a:pt x="0" y="0"/>
                </a:moveTo>
                <a:lnTo>
                  <a:pt x="1652104" y="0"/>
                </a:lnTo>
                <a:lnTo>
                  <a:pt x="1652104" y="370687"/>
                </a:lnTo>
                <a:lnTo>
                  <a:pt x="0" y="370687"/>
                </a:lnTo>
                <a:lnTo>
                  <a:pt x="0" y="0"/>
                </a:lnTo>
                <a:close/>
              </a:path>
            </a:pathLst>
          </a:custGeom>
          <a:solidFill>
            <a:srgbClr val="FFED00"/>
          </a:solidFill>
        </p:spPr>
        <p:txBody>
          <a:bodyPr wrap="square" lIns="0" tIns="0" rIns="0" bIns="0" rtlCol="0"/>
          <a:lstStyle/>
          <a:p>
            <a:endParaRPr/>
          </a:p>
        </p:txBody>
      </p:sp>
      <p:sp>
        <p:nvSpPr>
          <p:cNvPr id="3" name="object 3"/>
          <p:cNvSpPr/>
          <p:nvPr/>
        </p:nvSpPr>
        <p:spPr>
          <a:xfrm>
            <a:off x="548640" y="4070006"/>
            <a:ext cx="4177029" cy="370840"/>
          </a:xfrm>
          <a:custGeom>
            <a:avLst/>
            <a:gdLst/>
            <a:ahLst/>
            <a:cxnLst/>
            <a:rect l="l" t="t" r="r" b="b"/>
            <a:pathLst>
              <a:path w="4177029" h="370839">
                <a:moveTo>
                  <a:pt x="0" y="0"/>
                </a:moveTo>
                <a:lnTo>
                  <a:pt x="4176966" y="0"/>
                </a:lnTo>
                <a:lnTo>
                  <a:pt x="4176966" y="370687"/>
                </a:lnTo>
                <a:lnTo>
                  <a:pt x="0" y="370687"/>
                </a:lnTo>
                <a:lnTo>
                  <a:pt x="0" y="0"/>
                </a:lnTo>
                <a:close/>
              </a:path>
            </a:pathLst>
          </a:custGeom>
          <a:solidFill>
            <a:srgbClr val="FFED00"/>
          </a:solidFill>
        </p:spPr>
        <p:txBody>
          <a:bodyPr wrap="square" lIns="0" tIns="0" rIns="0" bIns="0" rtlCol="0"/>
          <a:lstStyle/>
          <a:p>
            <a:endParaRPr/>
          </a:p>
        </p:txBody>
      </p:sp>
      <p:sp>
        <p:nvSpPr>
          <p:cNvPr id="4" name="object 4"/>
          <p:cNvSpPr/>
          <p:nvPr/>
        </p:nvSpPr>
        <p:spPr>
          <a:xfrm>
            <a:off x="548640" y="3484308"/>
            <a:ext cx="4726940" cy="371475"/>
          </a:xfrm>
          <a:custGeom>
            <a:avLst/>
            <a:gdLst/>
            <a:ahLst/>
            <a:cxnLst/>
            <a:rect l="l" t="t" r="r" b="b"/>
            <a:pathLst>
              <a:path w="4726940" h="371475">
                <a:moveTo>
                  <a:pt x="0" y="0"/>
                </a:moveTo>
                <a:lnTo>
                  <a:pt x="4726711" y="0"/>
                </a:lnTo>
                <a:lnTo>
                  <a:pt x="4726711" y="370966"/>
                </a:lnTo>
                <a:lnTo>
                  <a:pt x="0" y="370966"/>
                </a:lnTo>
                <a:lnTo>
                  <a:pt x="0" y="0"/>
                </a:lnTo>
                <a:close/>
              </a:path>
            </a:pathLst>
          </a:custGeom>
          <a:solidFill>
            <a:srgbClr val="FFED00"/>
          </a:solidFill>
        </p:spPr>
        <p:txBody>
          <a:bodyPr wrap="square" lIns="0" tIns="0" rIns="0" bIns="0" rtlCol="0"/>
          <a:lstStyle/>
          <a:p>
            <a:endParaRPr/>
          </a:p>
        </p:txBody>
      </p:sp>
      <p:sp>
        <p:nvSpPr>
          <p:cNvPr id="5" name="object 5"/>
          <p:cNvSpPr/>
          <p:nvPr/>
        </p:nvSpPr>
        <p:spPr>
          <a:xfrm>
            <a:off x="548640" y="2899321"/>
            <a:ext cx="3481704" cy="370840"/>
          </a:xfrm>
          <a:custGeom>
            <a:avLst/>
            <a:gdLst/>
            <a:ahLst/>
            <a:cxnLst/>
            <a:rect l="l" t="t" r="r" b="b"/>
            <a:pathLst>
              <a:path w="3481704" h="370839">
                <a:moveTo>
                  <a:pt x="0" y="0"/>
                </a:moveTo>
                <a:lnTo>
                  <a:pt x="3481565" y="0"/>
                </a:lnTo>
                <a:lnTo>
                  <a:pt x="3481565" y="370687"/>
                </a:lnTo>
                <a:lnTo>
                  <a:pt x="0" y="370687"/>
                </a:lnTo>
                <a:lnTo>
                  <a:pt x="0" y="0"/>
                </a:lnTo>
                <a:close/>
              </a:path>
            </a:pathLst>
          </a:custGeom>
          <a:solidFill>
            <a:srgbClr val="FFED00"/>
          </a:solidFill>
        </p:spPr>
        <p:txBody>
          <a:bodyPr wrap="square" lIns="0" tIns="0" rIns="0" bIns="0" rtlCol="0"/>
          <a:lstStyle/>
          <a:p>
            <a:endParaRPr/>
          </a:p>
        </p:txBody>
      </p:sp>
      <p:sp>
        <p:nvSpPr>
          <p:cNvPr id="6" name="object 6"/>
          <p:cNvSpPr/>
          <p:nvPr/>
        </p:nvSpPr>
        <p:spPr>
          <a:xfrm>
            <a:off x="911656" y="2314105"/>
            <a:ext cx="3602354" cy="370840"/>
          </a:xfrm>
          <a:custGeom>
            <a:avLst/>
            <a:gdLst/>
            <a:ahLst/>
            <a:cxnLst/>
            <a:rect l="l" t="t" r="r" b="b"/>
            <a:pathLst>
              <a:path w="3602354" h="370839">
                <a:moveTo>
                  <a:pt x="0" y="0"/>
                </a:moveTo>
                <a:lnTo>
                  <a:pt x="3601847" y="0"/>
                </a:lnTo>
                <a:lnTo>
                  <a:pt x="3601847" y="370687"/>
                </a:lnTo>
                <a:lnTo>
                  <a:pt x="0" y="370687"/>
                </a:lnTo>
                <a:lnTo>
                  <a:pt x="0" y="0"/>
                </a:lnTo>
                <a:close/>
              </a:path>
            </a:pathLst>
          </a:custGeom>
          <a:solidFill>
            <a:srgbClr val="FFED00"/>
          </a:solidFill>
        </p:spPr>
        <p:txBody>
          <a:bodyPr wrap="square" lIns="0" tIns="0" rIns="0" bIns="0" rtlCol="0"/>
          <a:lstStyle/>
          <a:p>
            <a:endParaRPr/>
          </a:p>
        </p:txBody>
      </p:sp>
      <p:sp>
        <p:nvSpPr>
          <p:cNvPr id="7" name="object 7"/>
          <p:cNvSpPr txBox="1">
            <a:spLocks noGrp="1"/>
          </p:cNvSpPr>
          <p:nvPr>
            <p:ph type="title"/>
          </p:nvPr>
        </p:nvSpPr>
        <p:spPr>
          <a:xfrm>
            <a:off x="1472564" y="496950"/>
            <a:ext cx="6197600"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3. </a:t>
            </a:r>
            <a:r>
              <a:rPr spc="-50" dirty="0"/>
              <a:t>Toxoplasma </a:t>
            </a:r>
            <a:r>
              <a:rPr spc="-5" dirty="0"/>
              <a:t>gondii</a:t>
            </a:r>
            <a:r>
              <a:rPr spc="20" dirty="0"/>
              <a:t> </a:t>
            </a:r>
            <a:r>
              <a:rPr spc="-30" dirty="0"/>
              <a:t>(cont’d)</a:t>
            </a:r>
          </a:p>
        </p:txBody>
      </p:sp>
      <p:sp>
        <p:nvSpPr>
          <p:cNvPr id="8" name="object 8"/>
          <p:cNvSpPr txBox="1"/>
          <p:nvPr/>
        </p:nvSpPr>
        <p:spPr>
          <a:xfrm>
            <a:off x="535940" y="1509941"/>
            <a:ext cx="5551805" cy="3538220"/>
          </a:xfrm>
          <a:prstGeom prst="rect">
            <a:avLst/>
          </a:prstGeom>
        </p:spPr>
        <p:txBody>
          <a:bodyPr vert="horz" wrap="square" lIns="0" tIns="110489" rIns="0" bIns="0" rtlCol="0">
            <a:spAutoFit/>
          </a:bodyPr>
          <a:lstStyle/>
          <a:p>
            <a:pPr marL="2532380">
              <a:lnSpc>
                <a:spcPct val="100000"/>
              </a:lnSpc>
              <a:spcBef>
                <a:spcPts val="869"/>
              </a:spcBef>
            </a:pPr>
            <a:r>
              <a:rPr sz="3200" b="1" spc="-5" dirty="0">
                <a:latin typeface="Calibri"/>
                <a:cs typeface="Calibri"/>
              </a:rPr>
              <a:t>Diagnosis</a:t>
            </a:r>
            <a:r>
              <a:rPr sz="3200" b="1" spc="-45" dirty="0">
                <a:latin typeface="Calibri"/>
                <a:cs typeface="Calibri"/>
              </a:rPr>
              <a:t> </a:t>
            </a:r>
            <a:r>
              <a:rPr sz="3200" b="1" spc="-25" dirty="0">
                <a:latin typeface="Calibri"/>
                <a:cs typeface="Calibri"/>
              </a:rPr>
              <a:t>(cont’d)</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25" dirty="0">
                <a:latin typeface="Calibri"/>
                <a:cs typeface="Calibri"/>
              </a:rPr>
              <a:t>Lymph </a:t>
            </a:r>
            <a:r>
              <a:rPr sz="3200" spc="-5" dirty="0">
                <a:latin typeface="Calibri"/>
                <a:cs typeface="Calibri"/>
              </a:rPr>
              <a:t>node</a:t>
            </a:r>
            <a:r>
              <a:rPr sz="3200" spc="10" dirty="0">
                <a:latin typeface="Calibri"/>
                <a:cs typeface="Calibri"/>
              </a:rPr>
              <a:t> </a:t>
            </a:r>
            <a:r>
              <a:rPr sz="3200" spc="-15" dirty="0">
                <a:latin typeface="Calibri"/>
                <a:cs typeface="Calibri"/>
              </a:rPr>
              <a:t>aspirates</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10" dirty="0">
                <a:latin typeface="Calibri"/>
                <a:cs typeface="Calibri"/>
              </a:rPr>
              <a:t>Cerebrospinal</a:t>
            </a:r>
            <a:r>
              <a:rPr sz="3200" spc="-5" dirty="0">
                <a:latin typeface="Calibri"/>
                <a:cs typeface="Calibri"/>
              </a:rPr>
              <a:t> fluid</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spc="-15" dirty="0">
                <a:latin typeface="Calibri"/>
                <a:cs typeface="Calibri"/>
              </a:rPr>
              <a:t>Peritoneal </a:t>
            </a:r>
            <a:r>
              <a:rPr sz="3200" dirty="0">
                <a:latin typeface="Calibri"/>
                <a:cs typeface="Calibri"/>
              </a:rPr>
              <a:t>or </a:t>
            </a:r>
            <a:r>
              <a:rPr sz="3200" spc="-15" dirty="0">
                <a:latin typeface="Calibri"/>
                <a:cs typeface="Calibri"/>
              </a:rPr>
              <a:t>pleural</a:t>
            </a:r>
            <a:r>
              <a:rPr sz="3200" spc="-10" dirty="0">
                <a:latin typeface="Calibri"/>
                <a:cs typeface="Calibri"/>
              </a:rPr>
              <a:t> </a:t>
            </a:r>
            <a:r>
              <a:rPr sz="3200" spc="-5" dirty="0">
                <a:latin typeface="Calibri"/>
                <a:cs typeface="Calibri"/>
              </a:rPr>
              <a:t>fluids</a:t>
            </a:r>
            <a:endParaRPr sz="3200">
              <a:latin typeface="Calibri"/>
              <a:cs typeface="Calibri"/>
            </a:endParaRPr>
          </a:p>
          <a:p>
            <a:pPr marL="375920" indent="-363855">
              <a:lnSpc>
                <a:spcPct val="100000"/>
              </a:lnSpc>
              <a:spcBef>
                <a:spcPts val="770"/>
              </a:spcBef>
              <a:buSzPct val="96875"/>
              <a:buFont typeface="Wingdings"/>
              <a:buChar char=""/>
              <a:tabLst>
                <a:tab pos="376555" algn="l"/>
              </a:tabLst>
            </a:pPr>
            <a:r>
              <a:rPr sz="3200" dirty="0">
                <a:latin typeface="Calibri"/>
                <a:cs typeface="Calibri"/>
              </a:rPr>
              <a:t>Bone </a:t>
            </a:r>
            <a:r>
              <a:rPr sz="3200" spc="-10" dirty="0">
                <a:latin typeface="Calibri"/>
                <a:cs typeface="Calibri"/>
              </a:rPr>
              <a:t>marrow</a:t>
            </a:r>
            <a:r>
              <a:rPr sz="3200" spc="-35" dirty="0">
                <a:latin typeface="Calibri"/>
                <a:cs typeface="Calibri"/>
              </a:rPr>
              <a:t> </a:t>
            </a:r>
            <a:r>
              <a:rPr sz="3200" spc="-15" dirty="0">
                <a:latin typeface="Calibri"/>
                <a:cs typeface="Calibri"/>
              </a:rPr>
              <a:t>aspirates</a:t>
            </a:r>
            <a:endParaRPr sz="3200">
              <a:latin typeface="Calibri"/>
              <a:cs typeface="Calibri"/>
            </a:endParaRPr>
          </a:p>
          <a:p>
            <a:pPr marL="375920" indent="-363855">
              <a:lnSpc>
                <a:spcPct val="100000"/>
              </a:lnSpc>
              <a:spcBef>
                <a:spcPts val="765"/>
              </a:spcBef>
              <a:buSzPct val="96875"/>
              <a:buFont typeface="Wingdings"/>
              <a:buChar char=""/>
              <a:tabLst>
                <a:tab pos="376555" algn="l"/>
              </a:tabLst>
            </a:pPr>
            <a:r>
              <a:rPr sz="3200" spc="-5" dirty="0">
                <a:latin typeface="Calibri"/>
                <a:cs typeface="Calibri"/>
              </a:rPr>
              <a:t>Sputum</a:t>
            </a:r>
            <a:endParaRPr sz="3200">
              <a:latin typeface="Calibri"/>
              <a:cs typeface="Calibri"/>
            </a:endParaRPr>
          </a:p>
        </p:txBody>
      </p:sp>
    </p:spTree>
    <p:extLst>
      <p:ext uri="{BB962C8B-B14F-4D97-AF65-F5344CB8AC3E}">
        <p14:creationId xmlns:p14="http://schemas.microsoft.com/office/powerpoint/2010/main" val="1904685800"/>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472564" y="496950"/>
            <a:ext cx="6197600" cy="635000"/>
          </a:xfrm>
          <a:prstGeom prst="rect">
            <a:avLst/>
          </a:prstGeom>
        </p:spPr>
        <p:txBody>
          <a:bodyPr vert="horz" wrap="square" lIns="0" tIns="12065" rIns="0" bIns="0" rtlCol="0">
            <a:spAutoFit/>
          </a:bodyPr>
          <a:lstStyle/>
          <a:p>
            <a:pPr marL="12700">
              <a:lnSpc>
                <a:spcPct val="100000"/>
              </a:lnSpc>
              <a:spcBef>
                <a:spcPts val="95"/>
              </a:spcBef>
            </a:pPr>
            <a:r>
              <a:rPr i="0" spc="-5" dirty="0">
                <a:latin typeface="Calibri"/>
                <a:cs typeface="Calibri"/>
              </a:rPr>
              <a:t>3. </a:t>
            </a:r>
            <a:r>
              <a:rPr spc="-50" dirty="0"/>
              <a:t>Toxoplasma </a:t>
            </a:r>
            <a:r>
              <a:rPr spc="-5" dirty="0"/>
              <a:t>gondii</a:t>
            </a:r>
            <a:r>
              <a:rPr spc="20" dirty="0"/>
              <a:t> </a:t>
            </a:r>
            <a:r>
              <a:rPr spc="-30" dirty="0"/>
              <a:t>(cont’d)</a:t>
            </a:r>
          </a:p>
        </p:txBody>
      </p:sp>
      <p:sp>
        <p:nvSpPr>
          <p:cNvPr id="3" name="object 3"/>
          <p:cNvSpPr txBox="1"/>
          <p:nvPr/>
        </p:nvSpPr>
        <p:spPr>
          <a:xfrm>
            <a:off x="535940" y="1509941"/>
            <a:ext cx="7914640" cy="3245485"/>
          </a:xfrm>
          <a:prstGeom prst="rect">
            <a:avLst/>
          </a:prstGeom>
        </p:spPr>
        <p:txBody>
          <a:bodyPr vert="horz" wrap="square" lIns="0" tIns="110489" rIns="0" bIns="0" rtlCol="0">
            <a:spAutoFit/>
          </a:bodyPr>
          <a:lstStyle/>
          <a:p>
            <a:pPr marL="2532380">
              <a:lnSpc>
                <a:spcPct val="100000"/>
              </a:lnSpc>
              <a:spcBef>
                <a:spcPts val="869"/>
              </a:spcBef>
            </a:pPr>
            <a:r>
              <a:rPr sz="3200" b="1" spc="-5" dirty="0">
                <a:latin typeface="Calibri"/>
                <a:cs typeface="Calibri"/>
              </a:rPr>
              <a:t>Diagnosis </a:t>
            </a:r>
            <a:r>
              <a:rPr sz="3200" b="1" spc="-25" dirty="0">
                <a:latin typeface="Calibri"/>
                <a:cs typeface="Calibri"/>
              </a:rPr>
              <a:t>(cont’d)</a:t>
            </a:r>
            <a:endParaRPr sz="3200">
              <a:latin typeface="Calibri"/>
              <a:cs typeface="Calibri"/>
            </a:endParaRPr>
          </a:p>
          <a:p>
            <a:pPr marL="355600" marR="5080" indent="-343535">
              <a:lnSpc>
                <a:spcPct val="100000"/>
              </a:lnSpc>
              <a:spcBef>
                <a:spcPts val="770"/>
              </a:spcBef>
              <a:buFont typeface="Arial"/>
              <a:buChar char="•"/>
              <a:tabLst>
                <a:tab pos="355600" algn="l"/>
                <a:tab pos="356235" algn="l"/>
              </a:tabLst>
            </a:pPr>
            <a:r>
              <a:rPr sz="3200" spc="-10" dirty="0">
                <a:latin typeface="Calibri"/>
                <a:cs typeface="Calibri"/>
              </a:rPr>
              <a:t>Serological </a:t>
            </a:r>
            <a:r>
              <a:rPr sz="3200" spc="-20" dirty="0">
                <a:latin typeface="Calibri"/>
                <a:cs typeface="Calibri"/>
              </a:rPr>
              <a:t>tests </a:t>
            </a:r>
            <a:r>
              <a:rPr sz="3200" spc="-5" dirty="0">
                <a:latin typeface="Calibri"/>
                <a:cs typeface="Calibri"/>
              </a:rPr>
              <a:t>but </a:t>
            </a:r>
            <a:r>
              <a:rPr sz="3200" dirty="0">
                <a:latin typeface="Calibri"/>
                <a:cs typeface="Calibri"/>
              </a:rPr>
              <a:t>with </a:t>
            </a:r>
            <a:r>
              <a:rPr sz="3200" spc="-10" dirty="0">
                <a:latin typeface="Calibri"/>
                <a:cs typeface="Calibri"/>
              </a:rPr>
              <a:t>difficulties </a:t>
            </a:r>
            <a:r>
              <a:rPr sz="3200" dirty="0">
                <a:latin typeface="Calibri"/>
                <a:cs typeface="Calibri"/>
              </a:rPr>
              <a:t>in </a:t>
            </a:r>
            <a:r>
              <a:rPr sz="3200" spc="-10" dirty="0">
                <a:latin typeface="Calibri"/>
                <a:cs typeface="Calibri"/>
              </a:rPr>
              <a:t>results  </a:t>
            </a:r>
            <a:r>
              <a:rPr sz="3200" spc="-15" dirty="0">
                <a:latin typeface="Calibri"/>
                <a:cs typeface="Calibri"/>
              </a:rPr>
              <a:t>interpretation </a:t>
            </a:r>
            <a:r>
              <a:rPr sz="3200" spc="-5" dirty="0">
                <a:latin typeface="Calibri"/>
                <a:cs typeface="Calibri"/>
              </a:rPr>
              <a:t>due </a:t>
            </a:r>
            <a:r>
              <a:rPr sz="3200" spc="-25" dirty="0">
                <a:latin typeface="Calibri"/>
                <a:cs typeface="Calibri"/>
              </a:rPr>
              <a:t>to </a:t>
            </a:r>
            <a:r>
              <a:rPr sz="3200" spc="-10" dirty="0">
                <a:latin typeface="Calibri"/>
                <a:cs typeface="Calibri"/>
              </a:rPr>
              <a:t>subclinical </a:t>
            </a:r>
            <a:r>
              <a:rPr sz="3200" spc="-15" dirty="0">
                <a:latin typeface="Calibri"/>
                <a:cs typeface="Calibri"/>
              </a:rPr>
              <a:t>infections  </a:t>
            </a:r>
            <a:r>
              <a:rPr sz="3200" dirty="0">
                <a:latin typeface="Calibri"/>
                <a:cs typeface="Calibri"/>
              </a:rPr>
              <a:t>which </a:t>
            </a:r>
            <a:r>
              <a:rPr sz="3200" spc="-15" dirty="0">
                <a:latin typeface="Calibri"/>
                <a:cs typeface="Calibri"/>
              </a:rPr>
              <a:t>are </a:t>
            </a:r>
            <a:r>
              <a:rPr sz="3200" spc="-5" dirty="0">
                <a:latin typeface="Calibri"/>
                <a:cs typeface="Calibri"/>
              </a:rPr>
              <a:t>common </a:t>
            </a:r>
            <a:r>
              <a:rPr sz="3200" dirty="0">
                <a:latin typeface="Calibri"/>
                <a:cs typeface="Calibri"/>
              </a:rPr>
              <a:t>in </a:t>
            </a:r>
            <a:r>
              <a:rPr sz="3200" spc="-5" dirty="0">
                <a:latin typeface="Calibri"/>
                <a:cs typeface="Calibri"/>
              </a:rPr>
              <a:t>nearly </a:t>
            </a:r>
            <a:r>
              <a:rPr sz="3200" dirty="0">
                <a:latin typeface="Calibri"/>
                <a:cs typeface="Calibri"/>
              </a:rPr>
              <a:t>all</a:t>
            </a:r>
            <a:r>
              <a:rPr sz="3200" spc="-35" dirty="0">
                <a:latin typeface="Calibri"/>
                <a:cs typeface="Calibri"/>
              </a:rPr>
              <a:t> </a:t>
            </a:r>
            <a:r>
              <a:rPr sz="3200" spc="-5" dirty="0">
                <a:latin typeface="Calibri"/>
                <a:cs typeface="Calibri"/>
              </a:rPr>
              <a:t>populations.</a:t>
            </a:r>
            <a:endParaRPr sz="3200">
              <a:latin typeface="Calibri"/>
              <a:cs typeface="Calibri"/>
            </a:endParaRPr>
          </a:p>
          <a:p>
            <a:pPr marL="355600" marR="419100" indent="-343535">
              <a:lnSpc>
                <a:spcPct val="100000"/>
              </a:lnSpc>
              <a:spcBef>
                <a:spcPts val="770"/>
              </a:spcBef>
              <a:buFont typeface="Arial"/>
              <a:buChar char="•"/>
              <a:tabLst>
                <a:tab pos="447040" algn="l"/>
                <a:tab pos="447675" algn="l"/>
              </a:tabLst>
            </a:pPr>
            <a:r>
              <a:rPr dirty="0"/>
              <a:t>	</a:t>
            </a:r>
            <a:r>
              <a:rPr sz="3200" dirty="0">
                <a:latin typeface="Calibri"/>
                <a:cs typeface="Calibri"/>
              </a:rPr>
              <a:t>A </a:t>
            </a:r>
            <a:r>
              <a:rPr sz="3200" spc="-5" dirty="0">
                <a:latin typeface="Calibri"/>
                <a:cs typeface="Calibri"/>
              </a:rPr>
              <a:t>high </a:t>
            </a:r>
            <a:r>
              <a:rPr sz="3200" dirty="0">
                <a:latin typeface="Calibri"/>
                <a:cs typeface="Calibri"/>
              </a:rPr>
              <a:t>IgM </a:t>
            </a:r>
            <a:r>
              <a:rPr sz="3200" spc="-10" dirty="0">
                <a:latin typeface="Calibri"/>
                <a:cs typeface="Calibri"/>
              </a:rPr>
              <a:t>titre </a:t>
            </a:r>
            <a:r>
              <a:rPr sz="3200" dirty="0">
                <a:latin typeface="Calibri"/>
                <a:cs typeface="Calibri"/>
              </a:rPr>
              <a:t>is </a:t>
            </a:r>
            <a:r>
              <a:rPr sz="3200" spc="-10" dirty="0">
                <a:latin typeface="Calibri"/>
                <a:cs typeface="Calibri"/>
              </a:rPr>
              <a:t>considered </a:t>
            </a:r>
            <a:r>
              <a:rPr sz="3200" spc="-5" dirty="0">
                <a:latin typeface="Calibri"/>
                <a:cs typeface="Calibri"/>
              </a:rPr>
              <a:t>in </a:t>
            </a:r>
            <a:r>
              <a:rPr sz="3200" spc="-10" dirty="0">
                <a:latin typeface="Calibri"/>
                <a:cs typeface="Calibri"/>
              </a:rPr>
              <a:t>relation </a:t>
            </a:r>
            <a:r>
              <a:rPr sz="3200" spc="-20" dirty="0">
                <a:latin typeface="Calibri"/>
                <a:cs typeface="Calibri"/>
              </a:rPr>
              <a:t>to  </a:t>
            </a:r>
            <a:r>
              <a:rPr sz="3200" dirty="0">
                <a:latin typeface="Calibri"/>
                <a:cs typeface="Calibri"/>
              </a:rPr>
              <a:t>the</a:t>
            </a:r>
            <a:r>
              <a:rPr sz="3200" spc="-5" dirty="0">
                <a:latin typeface="Calibri"/>
                <a:cs typeface="Calibri"/>
              </a:rPr>
              <a:t> </a:t>
            </a:r>
            <a:r>
              <a:rPr sz="3200" spc="-10" dirty="0">
                <a:latin typeface="Calibri"/>
                <a:cs typeface="Calibri"/>
              </a:rPr>
              <a:t>results.</a:t>
            </a:r>
            <a:endParaRPr sz="3200">
              <a:latin typeface="Calibri"/>
              <a:cs typeface="Calibri"/>
            </a:endParaRPr>
          </a:p>
        </p:txBody>
      </p:sp>
    </p:spTree>
    <p:extLst>
      <p:ext uri="{BB962C8B-B14F-4D97-AF65-F5344CB8AC3E}">
        <p14:creationId xmlns:p14="http://schemas.microsoft.com/office/powerpoint/2010/main" val="221464100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609600" y="1066800"/>
            <a:ext cx="7772400" cy="1470025"/>
          </a:xfrm>
        </p:spPr>
        <p:txBody>
          <a:bodyPr/>
          <a:lstStyle/>
          <a:p>
            <a:r>
              <a:rPr lang="en-US" dirty="0"/>
              <a:t>PARASITOLOGY (BIOL 460)</a:t>
            </a:r>
          </a:p>
        </p:txBody>
      </p:sp>
      <p:sp>
        <p:nvSpPr>
          <p:cNvPr id="1048587" name="Subtitle 2"/>
          <p:cNvSpPr>
            <a:spLocks noGrp="1"/>
          </p:cNvSpPr>
          <p:nvPr>
            <p:ph type="subTitle" idx="1"/>
          </p:nvPr>
        </p:nvSpPr>
        <p:spPr/>
        <p:txBody>
          <a:bodyPr/>
          <a:lstStyle/>
          <a:p>
            <a:r>
              <a:rPr lang="en-US" dirty="0"/>
              <a:t>UNIT 4 B</a:t>
            </a:r>
          </a:p>
          <a:p>
            <a:r>
              <a:rPr lang="en-US" dirty="0">
                <a:solidFill>
                  <a:srgbClr val="FF0000"/>
                </a:solidFill>
              </a:rPr>
              <a:t>PARASITIC PROTOZOA</a:t>
            </a:r>
          </a:p>
          <a:p>
            <a:endParaRPr lang="en-US" dirty="0"/>
          </a:p>
        </p:txBody>
      </p:sp>
    </p:spTree>
    <p:extLst>
      <p:ext uri="{BB962C8B-B14F-4D97-AF65-F5344CB8AC3E}">
        <p14:creationId xmlns:p14="http://schemas.microsoft.com/office/powerpoint/2010/main" val="1530644226"/>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itle 1"/>
          <p:cNvSpPr>
            <a:spLocks noGrp="1"/>
          </p:cNvSpPr>
          <p:nvPr>
            <p:ph type="title"/>
          </p:nvPr>
        </p:nvSpPr>
        <p:spPr/>
        <p:txBody>
          <a:bodyPr>
            <a:normAutofit fontScale="90000"/>
          </a:bodyPr>
          <a:lstStyle/>
          <a:p>
            <a:br>
              <a:rPr lang="en-GB" b="1" dirty="0"/>
            </a:br>
            <a:r>
              <a:rPr lang="en-GB" b="1" dirty="0">
                <a:solidFill>
                  <a:srgbClr val="00B0F0"/>
                </a:solidFill>
              </a:rPr>
              <a:t>LEISHMANIASIS</a:t>
            </a:r>
            <a:br>
              <a:rPr lang="en-US" dirty="0"/>
            </a:br>
            <a:endParaRPr lang="en-US" dirty="0"/>
          </a:p>
        </p:txBody>
      </p:sp>
      <p:sp>
        <p:nvSpPr>
          <p:cNvPr id="1048594" name="Content Placeholder 2"/>
          <p:cNvSpPr>
            <a:spLocks noGrp="1"/>
          </p:cNvSpPr>
          <p:nvPr>
            <p:ph idx="1"/>
          </p:nvPr>
        </p:nvSpPr>
        <p:spPr/>
        <p:txBody>
          <a:bodyPr>
            <a:normAutofit/>
          </a:bodyPr>
          <a:lstStyle/>
          <a:p>
            <a:pPr lvl="0">
              <a:buFont typeface="Wingdings" pitchFamily="2" charset="2"/>
              <a:buChar char="v"/>
            </a:pPr>
            <a:r>
              <a:rPr lang="en-GB" dirty="0"/>
              <a:t>This is a group of </a:t>
            </a:r>
            <a:r>
              <a:rPr lang="en-GB" u="sng" dirty="0">
                <a:solidFill>
                  <a:srgbClr val="7030A0"/>
                </a:solidFill>
              </a:rPr>
              <a:t>three major characteristic diseases</a:t>
            </a:r>
            <a:r>
              <a:rPr lang="en-GB" dirty="0"/>
              <a:t> caused by </a:t>
            </a:r>
            <a:r>
              <a:rPr lang="en-GB" dirty="0">
                <a:solidFill>
                  <a:srgbClr val="00B0F0"/>
                </a:solidFill>
              </a:rPr>
              <a:t>protozoan parasites </a:t>
            </a:r>
            <a:r>
              <a:rPr lang="en-GB" dirty="0"/>
              <a:t>of the </a:t>
            </a:r>
            <a:r>
              <a:rPr lang="en-GB" dirty="0">
                <a:solidFill>
                  <a:schemeClr val="accent6">
                    <a:lumMod val="75000"/>
                  </a:schemeClr>
                </a:solidFill>
              </a:rPr>
              <a:t>Subphylum Mastigophora </a:t>
            </a:r>
            <a:r>
              <a:rPr lang="en-GB" dirty="0"/>
              <a:t>(please refer to charts/Table on basic classification of parasites of medical importance, </a:t>
            </a:r>
            <a:r>
              <a:rPr lang="en-GB" dirty="0">
                <a:solidFill>
                  <a:srgbClr val="FF0000"/>
                </a:solidFill>
              </a:rPr>
              <a:t>Cheesbrough, 1987</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93079815"/>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Title 1"/>
          <p:cNvSpPr>
            <a:spLocks noGrp="1"/>
          </p:cNvSpPr>
          <p:nvPr>
            <p:ph type="title"/>
          </p:nvPr>
        </p:nvSpPr>
        <p:spPr/>
        <p:txBody>
          <a:bodyPr/>
          <a:lstStyle/>
          <a:p>
            <a:r>
              <a:rPr lang="en-GB" b="1" dirty="0">
                <a:solidFill>
                  <a:srgbClr val="00B0F0"/>
                </a:solidFill>
              </a:rPr>
              <a:t>LEISHMANIASIS</a:t>
            </a:r>
            <a:r>
              <a:rPr lang="en-GB" b="1" dirty="0"/>
              <a:t> CONT’D</a:t>
            </a:r>
            <a:endParaRPr lang="en-US" dirty="0"/>
          </a:p>
        </p:txBody>
      </p:sp>
      <p:sp>
        <p:nvSpPr>
          <p:cNvPr id="1048596" name="Content Placeholder 2"/>
          <p:cNvSpPr>
            <a:spLocks noGrp="1"/>
          </p:cNvSpPr>
          <p:nvPr>
            <p:ph idx="1"/>
          </p:nvPr>
        </p:nvSpPr>
        <p:spPr/>
        <p:txBody>
          <a:bodyPr>
            <a:normAutofit fontScale="96875"/>
          </a:bodyPr>
          <a:lstStyle/>
          <a:p>
            <a:pPr lvl="0">
              <a:buFont typeface="Wingdings" pitchFamily="2" charset="2"/>
              <a:buChar char="v"/>
            </a:pPr>
            <a:r>
              <a:rPr lang="en-GB" dirty="0"/>
              <a:t>Using biotechnology, species of the parasite, (previously identified on the basis of their </a:t>
            </a:r>
            <a:r>
              <a:rPr lang="en-GB" u="sng" dirty="0"/>
              <a:t>clinical</a:t>
            </a:r>
            <a:r>
              <a:rPr lang="en-GB" dirty="0"/>
              <a:t>, </a:t>
            </a:r>
            <a:r>
              <a:rPr lang="en-GB" u="sng" dirty="0"/>
              <a:t>geographical</a:t>
            </a:r>
            <a:r>
              <a:rPr lang="en-GB" dirty="0"/>
              <a:t> and </a:t>
            </a:r>
            <a:r>
              <a:rPr lang="en-GB" u="sng" dirty="0"/>
              <a:t>epidemiological</a:t>
            </a:r>
            <a:r>
              <a:rPr lang="en-GB" dirty="0"/>
              <a:t> characteristics) are now differentiated biochemically by their </a:t>
            </a:r>
            <a:r>
              <a:rPr lang="en-GB" dirty="0">
                <a:solidFill>
                  <a:srgbClr val="FF33CC"/>
                </a:solidFill>
              </a:rPr>
              <a:t>isoenzyme</a:t>
            </a:r>
            <a:r>
              <a:rPr lang="en-GB" dirty="0"/>
              <a:t> and other </a:t>
            </a:r>
            <a:r>
              <a:rPr lang="en-GB" dirty="0">
                <a:solidFill>
                  <a:srgbClr val="FF33CC"/>
                </a:solidFill>
              </a:rPr>
              <a:t>genetic</a:t>
            </a:r>
            <a:r>
              <a:rPr lang="en-GB" dirty="0"/>
              <a:t> characteristics.</a:t>
            </a:r>
          </a:p>
          <a:p>
            <a:pPr>
              <a:buFont typeface="Wingdings" pitchFamily="2" charset="2"/>
              <a:buChar char="v"/>
            </a:pPr>
            <a:r>
              <a:rPr lang="en-GB" b="1" dirty="0"/>
              <a:t>Besides the </a:t>
            </a:r>
            <a:r>
              <a:rPr lang="en-GB" b="1" dirty="0">
                <a:solidFill>
                  <a:srgbClr val="7030A0"/>
                </a:solidFill>
              </a:rPr>
              <a:t>three main species</a:t>
            </a:r>
            <a:r>
              <a:rPr lang="en-GB" b="1" dirty="0"/>
              <a:t>, </a:t>
            </a:r>
            <a:r>
              <a:rPr lang="en-GB" b="1" dirty="0">
                <a:solidFill>
                  <a:srgbClr val="C00000"/>
                </a:solidFill>
              </a:rPr>
              <a:t>three species complexes</a:t>
            </a:r>
            <a:r>
              <a:rPr lang="en-GB" b="1" dirty="0"/>
              <a:t> have been identified, these are;</a:t>
            </a:r>
            <a:endParaRPr lang="en-US" b="1" dirty="0"/>
          </a:p>
          <a:p>
            <a:pPr marL="0" lvl="0" indent="0">
              <a:buNone/>
            </a:pPr>
            <a:endParaRPr lang="en-US" b="1" dirty="0"/>
          </a:p>
          <a:p>
            <a:pPr marL="0" indent="0">
              <a:buNone/>
            </a:pPr>
            <a:endParaRPr lang="en-US" dirty="0"/>
          </a:p>
        </p:txBody>
      </p:sp>
    </p:spTree>
    <p:extLst>
      <p:ext uri="{BB962C8B-B14F-4D97-AF65-F5344CB8AC3E}">
        <p14:creationId xmlns:p14="http://schemas.microsoft.com/office/powerpoint/2010/main" val="37834480"/>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7" name="Title 1"/>
          <p:cNvSpPr>
            <a:spLocks noGrp="1"/>
          </p:cNvSpPr>
          <p:nvPr>
            <p:ph type="title"/>
          </p:nvPr>
        </p:nvSpPr>
        <p:spPr/>
        <p:txBody>
          <a:bodyPr/>
          <a:lstStyle/>
          <a:p>
            <a:r>
              <a:rPr lang="en-GB" b="1" dirty="0">
                <a:solidFill>
                  <a:srgbClr val="00B0F0"/>
                </a:solidFill>
              </a:rPr>
              <a:t>LEISHMANIASIS</a:t>
            </a:r>
            <a:r>
              <a:rPr lang="en-GB" b="1" dirty="0"/>
              <a:t> CONT’D</a:t>
            </a:r>
            <a:endParaRPr lang="en-US" dirty="0"/>
          </a:p>
        </p:txBody>
      </p:sp>
      <p:sp>
        <p:nvSpPr>
          <p:cNvPr id="1048598" name="Content Placeholder 2"/>
          <p:cNvSpPr>
            <a:spLocks noGrp="1"/>
          </p:cNvSpPr>
          <p:nvPr>
            <p:ph idx="1"/>
          </p:nvPr>
        </p:nvSpPr>
        <p:spPr/>
        <p:txBody>
          <a:bodyPr>
            <a:normAutofit/>
          </a:bodyPr>
          <a:lstStyle/>
          <a:p>
            <a:pPr lvl="1">
              <a:buFont typeface="Wingdings" pitchFamily="2" charset="2"/>
              <a:buChar char="v"/>
            </a:pPr>
            <a:r>
              <a:rPr lang="en-GB" sz="3200" i="1" dirty="0">
                <a:solidFill>
                  <a:srgbClr val="C00000"/>
                </a:solidFill>
              </a:rPr>
              <a:t>Leishmania donovani</a:t>
            </a:r>
            <a:r>
              <a:rPr lang="en-GB" sz="3200" dirty="0">
                <a:solidFill>
                  <a:srgbClr val="C00000"/>
                </a:solidFill>
              </a:rPr>
              <a:t> complex</a:t>
            </a:r>
            <a:endParaRPr lang="en-US" sz="3200" dirty="0">
              <a:solidFill>
                <a:srgbClr val="C00000"/>
              </a:solidFill>
            </a:endParaRPr>
          </a:p>
          <a:p>
            <a:pPr lvl="2">
              <a:buFont typeface="Wingdings" pitchFamily="2" charset="2"/>
              <a:buChar char="Ø"/>
            </a:pPr>
            <a:r>
              <a:rPr lang="en-GB" sz="3200" i="1" dirty="0">
                <a:solidFill>
                  <a:srgbClr val="92D050"/>
                </a:solidFill>
              </a:rPr>
              <a:t>Leishmania donovani donovani </a:t>
            </a:r>
            <a:endParaRPr lang="en-US" sz="3200" dirty="0">
              <a:solidFill>
                <a:srgbClr val="92D050"/>
              </a:solidFill>
            </a:endParaRPr>
          </a:p>
          <a:p>
            <a:pPr lvl="2">
              <a:buFont typeface="Wingdings" pitchFamily="2" charset="2"/>
              <a:buChar char="Ø"/>
            </a:pPr>
            <a:r>
              <a:rPr lang="en-GB" sz="3200" i="1" dirty="0">
                <a:solidFill>
                  <a:srgbClr val="92D050"/>
                </a:solidFill>
              </a:rPr>
              <a:t>L. d. infantum</a:t>
            </a:r>
            <a:endParaRPr lang="en-US" sz="3200" dirty="0">
              <a:solidFill>
                <a:srgbClr val="92D050"/>
              </a:solidFill>
            </a:endParaRPr>
          </a:p>
          <a:p>
            <a:pPr lvl="2">
              <a:buFont typeface="Wingdings" pitchFamily="2" charset="2"/>
              <a:buChar char="Ø"/>
            </a:pPr>
            <a:r>
              <a:rPr lang="en-GB" sz="3200" dirty="0">
                <a:solidFill>
                  <a:srgbClr val="92D050"/>
                </a:solidFill>
              </a:rPr>
              <a:t>East African </a:t>
            </a:r>
            <a:r>
              <a:rPr lang="en-GB" sz="3200" i="1" dirty="0">
                <a:solidFill>
                  <a:srgbClr val="92D050"/>
                </a:solidFill>
              </a:rPr>
              <a:t>L. donovani</a:t>
            </a:r>
            <a:endParaRPr lang="en-US" sz="3200" dirty="0">
              <a:solidFill>
                <a:srgbClr val="92D050"/>
              </a:solidFill>
            </a:endParaRPr>
          </a:p>
          <a:p>
            <a:pPr lvl="2">
              <a:buFont typeface="Wingdings" pitchFamily="2" charset="2"/>
              <a:buChar char="Ø"/>
            </a:pPr>
            <a:r>
              <a:rPr lang="en-GB" sz="3200" dirty="0">
                <a:solidFill>
                  <a:srgbClr val="92D050"/>
                </a:solidFill>
              </a:rPr>
              <a:t>Sudanese </a:t>
            </a:r>
            <a:r>
              <a:rPr lang="en-GB" sz="3200" i="1" dirty="0">
                <a:solidFill>
                  <a:srgbClr val="92D050"/>
                </a:solidFill>
              </a:rPr>
              <a:t>L. donovani</a:t>
            </a:r>
            <a:endParaRPr lang="en-US" sz="3200" dirty="0">
              <a:solidFill>
                <a:srgbClr val="92D050"/>
              </a:solidFill>
            </a:endParaRPr>
          </a:p>
          <a:p>
            <a:pPr lvl="2">
              <a:buFont typeface="Wingdings" pitchFamily="2" charset="2"/>
              <a:buChar char="Ø"/>
            </a:pPr>
            <a:r>
              <a:rPr lang="en-GB" sz="3200" i="1" dirty="0">
                <a:solidFill>
                  <a:srgbClr val="92D050"/>
                </a:solidFill>
              </a:rPr>
              <a:t>L. d. chagasi</a:t>
            </a:r>
            <a:r>
              <a:rPr lang="en-GB" sz="3200" dirty="0">
                <a:solidFill>
                  <a:srgbClr val="92D050"/>
                </a:solidFill>
              </a:rPr>
              <a:t>*</a:t>
            </a:r>
            <a:endParaRPr lang="en-US" sz="3200" dirty="0">
              <a:solidFill>
                <a:srgbClr val="92D050"/>
              </a:solidFill>
            </a:endParaRPr>
          </a:p>
        </p:txBody>
      </p:sp>
    </p:spTree>
    <p:extLst>
      <p:ext uri="{BB962C8B-B14F-4D97-AF65-F5344CB8AC3E}">
        <p14:creationId xmlns:p14="http://schemas.microsoft.com/office/powerpoint/2010/main" val="3851174016"/>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Title 1"/>
          <p:cNvSpPr>
            <a:spLocks noGrp="1"/>
          </p:cNvSpPr>
          <p:nvPr>
            <p:ph type="title"/>
          </p:nvPr>
        </p:nvSpPr>
        <p:spPr>
          <a:xfrm>
            <a:off x="457200" y="228600"/>
            <a:ext cx="8229600" cy="1143000"/>
          </a:xfrm>
        </p:spPr>
        <p:txBody>
          <a:bodyPr/>
          <a:lstStyle/>
          <a:p>
            <a:r>
              <a:rPr lang="en-GB" b="1" dirty="0">
                <a:solidFill>
                  <a:srgbClr val="00B0F0"/>
                </a:solidFill>
              </a:rPr>
              <a:t>LEISHMANIASIS</a:t>
            </a:r>
            <a:r>
              <a:rPr lang="en-GB" b="1" dirty="0"/>
              <a:t> CONT’D</a:t>
            </a:r>
            <a:endParaRPr lang="en-US" dirty="0"/>
          </a:p>
        </p:txBody>
      </p:sp>
      <p:sp>
        <p:nvSpPr>
          <p:cNvPr id="1048600" name="Content Placeholder 2"/>
          <p:cNvSpPr>
            <a:spLocks noGrp="1"/>
          </p:cNvSpPr>
          <p:nvPr>
            <p:ph idx="1"/>
          </p:nvPr>
        </p:nvSpPr>
        <p:spPr/>
        <p:txBody>
          <a:bodyPr>
            <a:normAutofit/>
          </a:bodyPr>
          <a:lstStyle/>
          <a:p>
            <a:pPr lvl="0">
              <a:buFont typeface="Wingdings" pitchFamily="2" charset="2"/>
              <a:buChar char="v"/>
            </a:pPr>
            <a:r>
              <a:rPr lang="en-GB" i="1" dirty="0" err="1">
                <a:solidFill>
                  <a:srgbClr val="C00000"/>
                </a:solidFill>
              </a:rPr>
              <a:t>Leishmania</a:t>
            </a:r>
            <a:r>
              <a:rPr lang="en-GB" i="1" dirty="0">
                <a:solidFill>
                  <a:srgbClr val="C00000"/>
                </a:solidFill>
              </a:rPr>
              <a:t> braziliensis</a:t>
            </a:r>
            <a:r>
              <a:rPr lang="en-GB" dirty="0">
                <a:solidFill>
                  <a:srgbClr val="C00000"/>
                </a:solidFill>
              </a:rPr>
              <a:t> complex</a:t>
            </a:r>
            <a:endParaRPr lang="en-US" dirty="0">
              <a:solidFill>
                <a:srgbClr val="C00000"/>
              </a:solidFill>
            </a:endParaRPr>
          </a:p>
          <a:p>
            <a:pPr lvl="2">
              <a:buFont typeface="Wingdings" pitchFamily="2" charset="2"/>
              <a:buChar char="Ø"/>
            </a:pPr>
            <a:r>
              <a:rPr lang="en-GB" sz="3200" i="1" dirty="0">
                <a:solidFill>
                  <a:srgbClr val="00B0F0"/>
                </a:solidFill>
              </a:rPr>
              <a:t>L. b. guyanensis</a:t>
            </a:r>
            <a:r>
              <a:rPr lang="en-GB" sz="3200" dirty="0">
                <a:solidFill>
                  <a:srgbClr val="00B0F0"/>
                </a:solidFill>
              </a:rPr>
              <a:t>*</a:t>
            </a:r>
            <a:endParaRPr lang="en-US" sz="3200" dirty="0">
              <a:solidFill>
                <a:srgbClr val="00B0F0"/>
              </a:solidFill>
            </a:endParaRPr>
          </a:p>
          <a:p>
            <a:pPr lvl="2">
              <a:buFont typeface="Wingdings" pitchFamily="2" charset="2"/>
              <a:buChar char="Ø"/>
            </a:pPr>
            <a:r>
              <a:rPr lang="en-GB" sz="3200" i="1" dirty="0">
                <a:solidFill>
                  <a:srgbClr val="00B0F0"/>
                </a:solidFill>
              </a:rPr>
              <a:t>L. b. braziliensis</a:t>
            </a:r>
            <a:endParaRPr lang="en-US" sz="3200" dirty="0">
              <a:solidFill>
                <a:srgbClr val="00B0F0"/>
              </a:solidFill>
            </a:endParaRPr>
          </a:p>
          <a:p>
            <a:pPr lvl="2">
              <a:buFont typeface="Wingdings" pitchFamily="2" charset="2"/>
              <a:buChar char="Ø"/>
            </a:pPr>
            <a:r>
              <a:rPr lang="en-GB" sz="3200" i="1" dirty="0">
                <a:solidFill>
                  <a:srgbClr val="00B0F0"/>
                </a:solidFill>
              </a:rPr>
              <a:t>L. b. panamensis</a:t>
            </a:r>
            <a:r>
              <a:rPr lang="en-GB" sz="3200" dirty="0">
                <a:solidFill>
                  <a:srgbClr val="00B0F0"/>
                </a:solidFill>
              </a:rPr>
              <a:t>*</a:t>
            </a:r>
            <a:endParaRPr lang="en-US" sz="3200" dirty="0">
              <a:solidFill>
                <a:srgbClr val="00B0F0"/>
              </a:solidFill>
            </a:endParaRPr>
          </a:p>
          <a:p>
            <a:pPr lvl="2">
              <a:buFont typeface="Wingdings" pitchFamily="2" charset="2"/>
              <a:buChar char="Ø"/>
            </a:pPr>
            <a:r>
              <a:rPr lang="en-GB" sz="3200" i="1" dirty="0">
                <a:solidFill>
                  <a:srgbClr val="00B0F0"/>
                </a:solidFill>
              </a:rPr>
              <a:t>L. b. peruviana</a:t>
            </a:r>
            <a:r>
              <a:rPr lang="en-GB" sz="3200" dirty="0"/>
              <a:t>*</a:t>
            </a:r>
            <a:endParaRPr lang="en-US" sz="3200" dirty="0"/>
          </a:p>
          <a:p>
            <a:pPr>
              <a:buFont typeface="Wingdings" pitchFamily="2" charset="2"/>
              <a:buChar char="Ø"/>
            </a:pPr>
            <a:endParaRPr lang="en-US" dirty="0"/>
          </a:p>
        </p:txBody>
      </p:sp>
    </p:spTree>
    <p:extLst>
      <p:ext uri="{BB962C8B-B14F-4D97-AF65-F5344CB8AC3E}">
        <p14:creationId xmlns:p14="http://schemas.microsoft.com/office/powerpoint/2010/main" val="29583944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Title 1"/>
          <p:cNvSpPr>
            <a:spLocks noGrp="1"/>
          </p:cNvSpPr>
          <p:nvPr>
            <p:ph type="title"/>
          </p:nvPr>
        </p:nvSpPr>
        <p:spPr/>
        <p:txBody>
          <a:bodyPr/>
          <a:lstStyle/>
          <a:p>
            <a:r>
              <a:rPr lang="en-GB" b="1" dirty="0">
                <a:solidFill>
                  <a:srgbClr val="00B0F0"/>
                </a:solidFill>
              </a:rPr>
              <a:t>LEISHMANIASIS</a:t>
            </a:r>
            <a:r>
              <a:rPr lang="en-GB" b="1" dirty="0"/>
              <a:t> CONT’D</a:t>
            </a:r>
            <a:endParaRPr lang="en-US" dirty="0"/>
          </a:p>
        </p:txBody>
      </p:sp>
      <p:sp>
        <p:nvSpPr>
          <p:cNvPr id="1048602" name="Content Placeholder 2"/>
          <p:cNvSpPr>
            <a:spLocks noGrp="1"/>
          </p:cNvSpPr>
          <p:nvPr>
            <p:ph idx="1"/>
          </p:nvPr>
        </p:nvSpPr>
        <p:spPr/>
        <p:txBody>
          <a:bodyPr/>
          <a:lstStyle/>
          <a:p>
            <a:pPr lvl="0">
              <a:buFont typeface="Wingdings" pitchFamily="2" charset="2"/>
              <a:buChar char="v"/>
            </a:pPr>
            <a:r>
              <a:rPr lang="en-GB" i="1" dirty="0">
                <a:solidFill>
                  <a:srgbClr val="C00000"/>
                </a:solidFill>
              </a:rPr>
              <a:t>Leishmania mexicana</a:t>
            </a:r>
            <a:r>
              <a:rPr lang="en-GB" dirty="0">
                <a:solidFill>
                  <a:srgbClr val="C00000"/>
                </a:solidFill>
              </a:rPr>
              <a:t> complex</a:t>
            </a:r>
            <a:endParaRPr lang="en-US" dirty="0">
              <a:solidFill>
                <a:srgbClr val="C00000"/>
              </a:solidFill>
            </a:endParaRPr>
          </a:p>
          <a:p>
            <a:pPr lvl="2">
              <a:buFont typeface="Wingdings" pitchFamily="2" charset="2"/>
              <a:buChar char="Ø"/>
            </a:pPr>
            <a:r>
              <a:rPr lang="en-GB" sz="3200" i="1" dirty="0">
                <a:solidFill>
                  <a:srgbClr val="FF33CC"/>
                </a:solidFill>
              </a:rPr>
              <a:t>L. m. mexicana</a:t>
            </a:r>
            <a:endParaRPr lang="en-US" sz="3200" dirty="0">
              <a:solidFill>
                <a:srgbClr val="FF33CC"/>
              </a:solidFill>
            </a:endParaRPr>
          </a:p>
          <a:p>
            <a:pPr lvl="2">
              <a:buFont typeface="Wingdings" pitchFamily="2" charset="2"/>
              <a:buChar char="Ø"/>
            </a:pPr>
            <a:r>
              <a:rPr lang="en-GB" sz="3200" i="1" dirty="0">
                <a:solidFill>
                  <a:srgbClr val="FF33CC"/>
                </a:solidFill>
              </a:rPr>
              <a:t>L. m. amazonensis</a:t>
            </a:r>
            <a:endParaRPr lang="en-US" sz="3200" dirty="0">
              <a:solidFill>
                <a:srgbClr val="FF33CC"/>
              </a:solidFill>
            </a:endParaRPr>
          </a:p>
          <a:p>
            <a:pPr lvl="2">
              <a:buFont typeface="Wingdings" pitchFamily="2" charset="2"/>
              <a:buChar char="Ø"/>
            </a:pPr>
            <a:r>
              <a:rPr lang="en-GB" sz="3200" i="1" dirty="0">
                <a:solidFill>
                  <a:srgbClr val="FF33CC"/>
                </a:solidFill>
              </a:rPr>
              <a:t>L. m. pifanoi</a:t>
            </a:r>
            <a:endParaRPr lang="en-US" sz="3200" dirty="0">
              <a:solidFill>
                <a:srgbClr val="FF33CC"/>
              </a:solidFill>
            </a:endParaRPr>
          </a:p>
          <a:p>
            <a:pPr lvl="2">
              <a:buFont typeface="Wingdings" pitchFamily="2" charset="2"/>
              <a:buChar char="Ø"/>
            </a:pPr>
            <a:r>
              <a:rPr lang="en-GB" sz="3200" i="1" dirty="0">
                <a:solidFill>
                  <a:srgbClr val="FF33CC"/>
                </a:solidFill>
              </a:rPr>
              <a:t>L. m venezuelensis</a:t>
            </a:r>
            <a:endParaRPr lang="en-US" sz="3200" dirty="0">
              <a:solidFill>
                <a:srgbClr val="FF33CC"/>
              </a:solidFill>
            </a:endParaRPr>
          </a:p>
          <a:p>
            <a:pPr marL="0" indent="0">
              <a:buNone/>
            </a:pPr>
            <a:endParaRPr lang="en-US" dirty="0"/>
          </a:p>
        </p:txBody>
      </p:sp>
    </p:spTree>
    <p:extLst>
      <p:ext uri="{BB962C8B-B14F-4D97-AF65-F5344CB8AC3E}">
        <p14:creationId xmlns:p14="http://schemas.microsoft.com/office/powerpoint/2010/main" val="1007843023"/>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Title 1"/>
          <p:cNvSpPr>
            <a:spLocks noGrp="1"/>
          </p:cNvSpPr>
          <p:nvPr>
            <p:ph type="title"/>
          </p:nvPr>
        </p:nvSpPr>
        <p:spPr/>
        <p:txBody>
          <a:bodyPr/>
          <a:lstStyle/>
          <a:p>
            <a:r>
              <a:rPr lang="en-GB" b="1" dirty="0">
                <a:solidFill>
                  <a:srgbClr val="00B0F0"/>
                </a:solidFill>
              </a:rPr>
              <a:t>LEISHMANIASIS</a:t>
            </a:r>
            <a:r>
              <a:rPr lang="en-GB" b="1" dirty="0"/>
              <a:t> CONT’D</a:t>
            </a:r>
            <a:endParaRPr lang="en-US" dirty="0"/>
          </a:p>
        </p:txBody>
      </p:sp>
      <p:sp>
        <p:nvSpPr>
          <p:cNvPr id="1048604" name="Content Placeholder 2"/>
          <p:cNvSpPr>
            <a:spLocks noGrp="1"/>
          </p:cNvSpPr>
          <p:nvPr>
            <p:ph idx="1"/>
          </p:nvPr>
        </p:nvSpPr>
        <p:spPr/>
        <p:txBody>
          <a:bodyPr/>
          <a:lstStyle/>
          <a:p>
            <a:pPr marL="0" indent="0" algn="ctr">
              <a:buNone/>
            </a:pPr>
            <a:r>
              <a:rPr lang="en-GB" dirty="0"/>
              <a:t>* Considered by some as separate species</a:t>
            </a:r>
            <a:endParaRPr lang="en-US" dirty="0"/>
          </a:p>
          <a:p>
            <a:pPr>
              <a:buFont typeface="Wingdings" pitchFamily="2" charset="2"/>
              <a:buChar char="v"/>
            </a:pPr>
            <a:r>
              <a:rPr lang="en-GB" b="1" dirty="0"/>
              <a:t>The </a:t>
            </a:r>
            <a:r>
              <a:rPr lang="en-GB" b="1" dirty="0">
                <a:solidFill>
                  <a:srgbClr val="C00000"/>
                </a:solidFill>
              </a:rPr>
              <a:t>three major species </a:t>
            </a:r>
            <a:r>
              <a:rPr lang="en-GB" b="1" dirty="0"/>
              <a:t>are</a:t>
            </a:r>
          </a:p>
          <a:p>
            <a:pPr marL="0" indent="0">
              <a:buNone/>
            </a:pPr>
            <a:endParaRPr lang="en-US" dirty="0"/>
          </a:p>
          <a:p>
            <a:pPr lvl="0">
              <a:buFont typeface="Wingdings" pitchFamily="2" charset="2"/>
              <a:buChar char="ü"/>
            </a:pPr>
            <a:r>
              <a:rPr lang="en-GB" i="1" dirty="0">
                <a:solidFill>
                  <a:srgbClr val="00B0F0"/>
                </a:solidFill>
              </a:rPr>
              <a:t>Leishmania</a:t>
            </a:r>
            <a:r>
              <a:rPr lang="en-GB" i="1" dirty="0"/>
              <a:t> </a:t>
            </a:r>
            <a:r>
              <a:rPr lang="en-GB" i="1" dirty="0">
                <a:solidFill>
                  <a:srgbClr val="C00000"/>
                </a:solidFill>
              </a:rPr>
              <a:t>major</a:t>
            </a:r>
            <a:endParaRPr lang="en-US" dirty="0">
              <a:solidFill>
                <a:srgbClr val="C00000"/>
              </a:solidFill>
            </a:endParaRPr>
          </a:p>
          <a:p>
            <a:pPr lvl="0">
              <a:buFont typeface="Wingdings" pitchFamily="2" charset="2"/>
              <a:buChar char="ü"/>
            </a:pPr>
            <a:r>
              <a:rPr lang="en-GB" i="1" dirty="0">
                <a:solidFill>
                  <a:srgbClr val="00B0F0"/>
                </a:solidFill>
              </a:rPr>
              <a:t>Leishmania</a:t>
            </a:r>
            <a:r>
              <a:rPr lang="en-GB" i="1" dirty="0"/>
              <a:t> </a:t>
            </a:r>
            <a:r>
              <a:rPr lang="en-GB" i="1" dirty="0">
                <a:solidFill>
                  <a:srgbClr val="C00000"/>
                </a:solidFill>
              </a:rPr>
              <a:t>tropica</a:t>
            </a:r>
            <a:endParaRPr lang="en-US" dirty="0">
              <a:solidFill>
                <a:srgbClr val="C00000"/>
              </a:solidFill>
            </a:endParaRPr>
          </a:p>
          <a:p>
            <a:pPr lvl="0">
              <a:buFont typeface="Wingdings" pitchFamily="2" charset="2"/>
              <a:buChar char="ü"/>
            </a:pPr>
            <a:r>
              <a:rPr lang="en-GB" i="1" dirty="0">
                <a:solidFill>
                  <a:srgbClr val="00B0F0"/>
                </a:solidFill>
              </a:rPr>
              <a:t>Leishmania</a:t>
            </a:r>
            <a:r>
              <a:rPr lang="en-GB" i="1" dirty="0"/>
              <a:t> </a:t>
            </a:r>
            <a:r>
              <a:rPr lang="en-GB" i="1" dirty="0">
                <a:solidFill>
                  <a:srgbClr val="C00000"/>
                </a:solidFill>
              </a:rPr>
              <a:t>aethiopica</a:t>
            </a:r>
            <a:endParaRPr lang="en-US" dirty="0">
              <a:solidFill>
                <a:srgbClr val="C00000"/>
              </a:solidFill>
            </a:endParaRPr>
          </a:p>
          <a:p>
            <a:pPr marL="0" indent="0">
              <a:buNone/>
            </a:pPr>
            <a:endParaRPr lang="en-US" dirty="0"/>
          </a:p>
        </p:txBody>
      </p:sp>
    </p:spTree>
    <p:extLst>
      <p:ext uri="{BB962C8B-B14F-4D97-AF65-F5344CB8AC3E}">
        <p14:creationId xmlns:p14="http://schemas.microsoft.com/office/powerpoint/2010/main" val="3333402753"/>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itle 1"/>
          <p:cNvSpPr>
            <a:spLocks noGrp="1"/>
          </p:cNvSpPr>
          <p:nvPr>
            <p:ph type="title"/>
          </p:nvPr>
        </p:nvSpPr>
        <p:spPr>
          <a:xfrm>
            <a:off x="457200" y="381000"/>
            <a:ext cx="8229600" cy="1143000"/>
          </a:xfrm>
        </p:spPr>
        <p:txBody>
          <a:bodyPr>
            <a:normAutofit fontScale="90000"/>
          </a:bodyPr>
          <a:lstStyle/>
          <a:p>
            <a:br>
              <a:rPr lang="en-GB" dirty="0"/>
            </a:br>
            <a:r>
              <a:rPr lang="en-GB" b="1" dirty="0">
                <a:solidFill>
                  <a:srgbClr val="FF0000"/>
                </a:solidFill>
              </a:rPr>
              <a:t>Disease caused by these parasites are of three main types</a:t>
            </a:r>
            <a:br>
              <a:rPr lang="en-US" dirty="0"/>
            </a:br>
            <a:endParaRPr lang="en-US" dirty="0"/>
          </a:p>
        </p:txBody>
      </p:sp>
      <p:sp>
        <p:nvSpPr>
          <p:cNvPr id="1048606" name="Content Placeholder 2"/>
          <p:cNvSpPr>
            <a:spLocks noGrp="1"/>
          </p:cNvSpPr>
          <p:nvPr>
            <p:ph idx="1"/>
          </p:nvPr>
        </p:nvSpPr>
        <p:spPr/>
        <p:txBody>
          <a:bodyPr/>
          <a:lstStyle/>
          <a:p>
            <a:pPr lvl="0"/>
            <a:endParaRPr lang="en-GB" dirty="0"/>
          </a:p>
          <a:p>
            <a:pPr lvl="0">
              <a:buFont typeface="Wingdings" pitchFamily="2" charset="2"/>
              <a:buChar char="v"/>
            </a:pPr>
            <a:r>
              <a:rPr lang="en-GB" b="1" i="1" dirty="0">
                <a:solidFill>
                  <a:srgbClr val="FF0000"/>
                </a:solidFill>
              </a:rPr>
              <a:t>Visceral</a:t>
            </a:r>
            <a:r>
              <a:rPr lang="en-GB" b="1" i="1" dirty="0"/>
              <a:t> </a:t>
            </a:r>
            <a:r>
              <a:rPr lang="en-GB" b="1" i="1" dirty="0">
                <a:solidFill>
                  <a:srgbClr val="00B0F0"/>
                </a:solidFill>
              </a:rPr>
              <a:t>leishmaniasis</a:t>
            </a:r>
            <a:r>
              <a:rPr lang="en-GB" dirty="0"/>
              <a:t>, </a:t>
            </a:r>
            <a:r>
              <a:rPr lang="en-GB" u="sng" dirty="0"/>
              <a:t>involving the internal organs</a:t>
            </a:r>
            <a:r>
              <a:rPr lang="en-GB" dirty="0"/>
              <a:t> </a:t>
            </a:r>
            <a:endParaRPr lang="en-US" dirty="0"/>
          </a:p>
          <a:p>
            <a:pPr lvl="0">
              <a:buFont typeface="Wingdings" pitchFamily="2" charset="2"/>
              <a:buChar char="v"/>
            </a:pPr>
            <a:r>
              <a:rPr lang="en-GB" b="1" i="1" dirty="0">
                <a:solidFill>
                  <a:srgbClr val="FF0000"/>
                </a:solidFill>
              </a:rPr>
              <a:t>Cutaneous</a:t>
            </a:r>
            <a:r>
              <a:rPr lang="en-GB" b="1" i="1" dirty="0"/>
              <a:t> </a:t>
            </a:r>
            <a:r>
              <a:rPr lang="en-GB" b="1" i="1" dirty="0">
                <a:solidFill>
                  <a:srgbClr val="00B0F0"/>
                </a:solidFill>
              </a:rPr>
              <a:t>leishmaniasis</a:t>
            </a:r>
            <a:r>
              <a:rPr lang="en-GB" b="1" i="1" dirty="0"/>
              <a:t> </a:t>
            </a:r>
            <a:r>
              <a:rPr lang="en-GB" u="sng" dirty="0"/>
              <a:t>involving the skin membrane </a:t>
            </a:r>
            <a:endParaRPr lang="en-US" u="sng" dirty="0"/>
          </a:p>
          <a:p>
            <a:pPr lvl="0">
              <a:buFont typeface="Wingdings" pitchFamily="2" charset="2"/>
              <a:buChar char="v"/>
            </a:pPr>
            <a:r>
              <a:rPr lang="en-GB" b="1" i="1" dirty="0">
                <a:solidFill>
                  <a:srgbClr val="FF0000"/>
                </a:solidFill>
              </a:rPr>
              <a:t>Mucocutaneous</a:t>
            </a:r>
            <a:r>
              <a:rPr lang="en-GB" dirty="0"/>
              <a:t> </a:t>
            </a:r>
            <a:r>
              <a:rPr lang="en-GB" u="sng" dirty="0"/>
              <a:t>involving the mucous membrane and the skin</a:t>
            </a:r>
            <a:endParaRPr lang="en-US" u="sng" dirty="0"/>
          </a:p>
          <a:p>
            <a:pPr>
              <a:buFont typeface="Wingdings" pitchFamily="2" charset="2"/>
              <a:buChar char="v"/>
            </a:pPr>
            <a:endParaRPr lang="en-US" dirty="0"/>
          </a:p>
        </p:txBody>
      </p:sp>
    </p:spTree>
    <p:extLst>
      <p:ext uri="{BB962C8B-B14F-4D97-AF65-F5344CB8AC3E}">
        <p14:creationId xmlns:p14="http://schemas.microsoft.com/office/powerpoint/2010/main" val="159052189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7" name="Title 1"/>
          <p:cNvSpPr>
            <a:spLocks noGrp="1"/>
          </p:cNvSpPr>
          <p:nvPr>
            <p:ph type="title"/>
          </p:nvPr>
        </p:nvSpPr>
        <p:spPr/>
        <p:txBody>
          <a:bodyPr>
            <a:normAutofit fontScale="90000"/>
          </a:bodyPr>
          <a:lstStyle/>
          <a:p>
            <a:br>
              <a:rPr lang="en-GB" dirty="0"/>
            </a:br>
            <a:r>
              <a:rPr lang="en-GB" b="1" dirty="0">
                <a:solidFill>
                  <a:srgbClr val="FF0000"/>
                </a:solidFill>
              </a:rPr>
              <a:t>Disease caused by these parasites are of three main types</a:t>
            </a:r>
            <a:br>
              <a:rPr lang="en-US" dirty="0"/>
            </a:br>
            <a:endParaRPr lang="en-US" dirty="0"/>
          </a:p>
        </p:txBody>
      </p:sp>
      <p:sp>
        <p:nvSpPr>
          <p:cNvPr id="1048608" name="Content Placeholder 2"/>
          <p:cNvSpPr>
            <a:spLocks noGrp="1"/>
          </p:cNvSpPr>
          <p:nvPr>
            <p:ph idx="1"/>
          </p:nvPr>
        </p:nvSpPr>
        <p:spPr/>
        <p:txBody>
          <a:bodyPr>
            <a:normAutofit fontScale="96875"/>
          </a:bodyPr>
          <a:lstStyle/>
          <a:p>
            <a:pPr>
              <a:buFont typeface="Wingdings" pitchFamily="2" charset="2"/>
              <a:buChar char="v"/>
            </a:pPr>
            <a:r>
              <a:rPr lang="en-GB" dirty="0"/>
              <a:t>In some cases </a:t>
            </a:r>
            <a:r>
              <a:rPr lang="en-GB" u="sng" dirty="0"/>
              <a:t>the organ and skin are involved</a:t>
            </a:r>
            <a:endParaRPr lang="en-US" u="sng" dirty="0"/>
          </a:p>
          <a:p>
            <a:pPr lvl="0">
              <a:buFont typeface="Wingdings" pitchFamily="2" charset="2"/>
              <a:buChar char="v"/>
            </a:pPr>
            <a:endParaRPr lang="en-GB" dirty="0"/>
          </a:p>
          <a:p>
            <a:pPr lvl="0">
              <a:buFont typeface="Wingdings" pitchFamily="2" charset="2"/>
              <a:buChar char="v"/>
            </a:pPr>
            <a:r>
              <a:rPr lang="en-GB" dirty="0"/>
              <a:t>In these disease manifestations, a small intracellular form of the parasite known as </a:t>
            </a:r>
            <a:r>
              <a:rPr lang="en-GB" dirty="0">
                <a:solidFill>
                  <a:schemeClr val="accent6">
                    <a:lumMod val="75000"/>
                  </a:schemeClr>
                </a:solidFill>
              </a:rPr>
              <a:t>amastigote form / stage </a:t>
            </a:r>
            <a:r>
              <a:rPr lang="en-GB" u="sng" dirty="0"/>
              <a:t>is found in the macrophages and other phagocytic cells of the part of the host’s body involved, where it lives and multiplies</a:t>
            </a:r>
            <a:endParaRPr lang="en-US" u="sng" dirty="0"/>
          </a:p>
          <a:p>
            <a:endParaRPr lang="en-US" dirty="0"/>
          </a:p>
        </p:txBody>
      </p:sp>
    </p:spTree>
    <p:extLst>
      <p:ext uri="{BB962C8B-B14F-4D97-AF65-F5344CB8AC3E}">
        <p14:creationId xmlns:p14="http://schemas.microsoft.com/office/powerpoint/2010/main" val="51659085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9" name="Title 1"/>
          <p:cNvSpPr>
            <a:spLocks noGrp="1"/>
          </p:cNvSpPr>
          <p:nvPr>
            <p:ph type="title"/>
          </p:nvPr>
        </p:nvSpPr>
        <p:spPr/>
        <p:txBody>
          <a:bodyPr/>
          <a:lstStyle/>
          <a:p>
            <a:r>
              <a:rPr lang="en-GB" b="1" dirty="0">
                <a:solidFill>
                  <a:srgbClr val="00B0F0"/>
                </a:solidFill>
              </a:rPr>
              <a:t>LEISHMANIASIS</a:t>
            </a:r>
            <a:r>
              <a:rPr lang="en-GB" b="1" dirty="0"/>
              <a:t> CONT’D</a:t>
            </a:r>
            <a:endParaRPr lang="en-US" dirty="0"/>
          </a:p>
        </p:txBody>
      </p:sp>
      <p:sp>
        <p:nvSpPr>
          <p:cNvPr id="1048610" name="Content Placeholder 2"/>
          <p:cNvSpPr>
            <a:spLocks noGrp="1"/>
          </p:cNvSpPr>
          <p:nvPr>
            <p:ph idx="1"/>
          </p:nvPr>
        </p:nvSpPr>
        <p:spPr/>
        <p:txBody>
          <a:bodyPr/>
          <a:lstStyle/>
          <a:p>
            <a:pPr marL="0" indent="0" algn="ctr">
              <a:buNone/>
            </a:pPr>
            <a:r>
              <a:rPr lang="en-GB" b="1" u="sng" dirty="0"/>
              <a:t>Transmission</a:t>
            </a:r>
            <a:endParaRPr lang="en-US" u="sng" dirty="0"/>
          </a:p>
          <a:p>
            <a:pPr lvl="0">
              <a:buFont typeface="Wingdings" pitchFamily="2" charset="2"/>
              <a:buChar char="v"/>
            </a:pPr>
            <a:r>
              <a:rPr lang="en-GB" u="sng" dirty="0"/>
              <a:t>The disease is a </a:t>
            </a:r>
            <a:r>
              <a:rPr lang="en-GB" u="sng" dirty="0">
                <a:solidFill>
                  <a:srgbClr val="00B0F0"/>
                </a:solidFill>
              </a:rPr>
              <a:t>zoonosis</a:t>
            </a:r>
            <a:r>
              <a:rPr lang="en-GB" u="sng" dirty="0"/>
              <a:t> with a few exceptions</a:t>
            </a:r>
            <a:endParaRPr lang="en-US" u="sng" dirty="0"/>
          </a:p>
          <a:p>
            <a:pPr>
              <a:buFont typeface="Wingdings" pitchFamily="2" charset="2"/>
              <a:buChar char="v"/>
            </a:pPr>
            <a:r>
              <a:rPr lang="en-GB" dirty="0"/>
              <a:t>The parasites are transmitted by </a:t>
            </a:r>
            <a:r>
              <a:rPr lang="en-GB" dirty="0">
                <a:solidFill>
                  <a:srgbClr val="FF33CC"/>
                </a:solidFill>
              </a:rPr>
              <a:t>sandflies</a:t>
            </a:r>
            <a:r>
              <a:rPr lang="en-GB" dirty="0"/>
              <a:t> (</a:t>
            </a:r>
            <a:r>
              <a:rPr lang="en-GB" u="sng" dirty="0"/>
              <a:t>which act as vectors</a:t>
            </a:r>
            <a:r>
              <a:rPr lang="en-GB" dirty="0"/>
              <a:t>) belonging to the genus, </a:t>
            </a:r>
            <a:r>
              <a:rPr lang="en-GB" b="1" i="1" u="sng" dirty="0">
                <a:solidFill>
                  <a:srgbClr val="FF33CC"/>
                </a:solidFill>
              </a:rPr>
              <a:t>Phlebotomus</a:t>
            </a:r>
            <a:r>
              <a:rPr lang="en-GB" b="1" u="sng" dirty="0"/>
              <a:t> </a:t>
            </a:r>
            <a:r>
              <a:rPr lang="en-GB" u="sng" dirty="0"/>
              <a:t>in the old world and the Far East</a:t>
            </a:r>
            <a:r>
              <a:rPr lang="en-GB" dirty="0"/>
              <a:t>, and </a:t>
            </a:r>
            <a:r>
              <a:rPr lang="en-GB" b="1" i="1" dirty="0">
                <a:solidFill>
                  <a:srgbClr val="FF33CC"/>
                </a:solidFill>
              </a:rPr>
              <a:t>Lutzomyia</a:t>
            </a:r>
            <a:r>
              <a:rPr lang="en-GB" b="1" dirty="0"/>
              <a:t> </a:t>
            </a:r>
            <a:r>
              <a:rPr lang="en-GB" u="sng" dirty="0"/>
              <a:t>in the new world</a:t>
            </a:r>
            <a:endParaRPr lang="en-US" u="sng" dirty="0"/>
          </a:p>
        </p:txBody>
      </p:sp>
    </p:spTree>
    <p:extLst>
      <p:ext uri="{BB962C8B-B14F-4D97-AF65-F5344CB8AC3E}">
        <p14:creationId xmlns:p14="http://schemas.microsoft.com/office/powerpoint/2010/main" val="426842434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1" name="Title 1"/>
          <p:cNvSpPr>
            <a:spLocks noGrp="1"/>
          </p:cNvSpPr>
          <p:nvPr>
            <p:ph type="title"/>
          </p:nvPr>
        </p:nvSpPr>
        <p:spPr/>
        <p:txBody>
          <a:bodyPr>
            <a:normAutofit fontScale="90000"/>
          </a:bodyPr>
          <a:lstStyle/>
          <a:p>
            <a:br>
              <a:rPr lang="en-GB" dirty="0"/>
            </a:br>
            <a:r>
              <a:rPr lang="en-GB" b="1" dirty="0"/>
              <a:t>The </a:t>
            </a:r>
            <a:r>
              <a:rPr lang="en-GB" b="1" dirty="0">
                <a:solidFill>
                  <a:srgbClr val="00B0F0"/>
                </a:solidFill>
              </a:rPr>
              <a:t>Leishmania parasite </a:t>
            </a:r>
            <a:r>
              <a:rPr lang="en-GB" b="1" dirty="0"/>
              <a:t>and </a:t>
            </a:r>
            <a:r>
              <a:rPr lang="en-GB" b="1" dirty="0">
                <a:solidFill>
                  <a:srgbClr val="FF0000"/>
                </a:solidFill>
              </a:rPr>
              <a:t>leishmaniasis</a:t>
            </a:r>
            <a:br>
              <a:rPr lang="en-US" dirty="0"/>
            </a:br>
            <a:endParaRPr lang="en-US" dirty="0"/>
          </a:p>
        </p:txBody>
      </p:sp>
      <p:sp>
        <p:nvSpPr>
          <p:cNvPr id="1048612" name="Content Placeholder 2"/>
          <p:cNvSpPr>
            <a:spLocks noGrp="1"/>
          </p:cNvSpPr>
          <p:nvPr>
            <p:ph idx="1"/>
          </p:nvPr>
        </p:nvSpPr>
        <p:spPr/>
        <p:txBody>
          <a:bodyPr/>
          <a:lstStyle/>
          <a:p>
            <a:pPr lvl="0">
              <a:buFont typeface="Wingdings" pitchFamily="2" charset="2"/>
              <a:buChar char="v"/>
            </a:pPr>
            <a:r>
              <a:rPr lang="en-GB" u="sng" dirty="0">
                <a:solidFill>
                  <a:schemeClr val="accent6">
                    <a:lumMod val="75000"/>
                  </a:schemeClr>
                </a:solidFill>
              </a:rPr>
              <a:t>Flagellates</a:t>
            </a:r>
            <a:r>
              <a:rPr lang="en-GB" u="sng" dirty="0"/>
              <a:t> of the genus </a:t>
            </a:r>
            <a:r>
              <a:rPr lang="en-GB" b="1" i="1" u="sng" dirty="0">
                <a:solidFill>
                  <a:srgbClr val="00B0F0"/>
                </a:solidFill>
              </a:rPr>
              <a:t>Leishmania</a:t>
            </a:r>
            <a:r>
              <a:rPr lang="en-GB" b="1" i="1" u="sng" dirty="0"/>
              <a:t> </a:t>
            </a:r>
            <a:r>
              <a:rPr lang="en-GB" u="sng" dirty="0"/>
              <a:t>are mainly parasites of </a:t>
            </a:r>
            <a:r>
              <a:rPr lang="en-GB" u="sng" dirty="0">
                <a:solidFill>
                  <a:srgbClr val="00B050"/>
                </a:solidFill>
              </a:rPr>
              <a:t>humans</a:t>
            </a:r>
            <a:r>
              <a:rPr lang="en-GB" u="sng" dirty="0"/>
              <a:t> and other </a:t>
            </a:r>
            <a:r>
              <a:rPr lang="en-GB" u="sng" dirty="0">
                <a:solidFill>
                  <a:srgbClr val="00B050"/>
                </a:solidFill>
              </a:rPr>
              <a:t>mammals</a:t>
            </a:r>
            <a:r>
              <a:rPr lang="en-GB" u="sng" dirty="0"/>
              <a:t> </a:t>
            </a:r>
            <a:r>
              <a:rPr lang="en-GB" dirty="0"/>
              <a:t>(especially </a:t>
            </a:r>
            <a:r>
              <a:rPr lang="en-GB" dirty="0">
                <a:solidFill>
                  <a:srgbClr val="00B050"/>
                </a:solidFill>
              </a:rPr>
              <a:t>dogs</a:t>
            </a:r>
            <a:r>
              <a:rPr lang="en-GB" dirty="0"/>
              <a:t> and </a:t>
            </a:r>
            <a:r>
              <a:rPr lang="en-GB" dirty="0">
                <a:solidFill>
                  <a:srgbClr val="00B050"/>
                </a:solidFill>
              </a:rPr>
              <a:t>rodents</a:t>
            </a:r>
            <a:r>
              <a:rPr lang="en-GB" dirty="0"/>
              <a:t>).</a:t>
            </a:r>
          </a:p>
          <a:p>
            <a:pPr lvl="0">
              <a:buFont typeface="Wingdings" pitchFamily="2" charset="2"/>
              <a:buChar char="v"/>
            </a:pPr>
            <a:r>
              <a:rPr lang="en-GB" dirty="0"/>
              <a:t> They cause diseases collectively known as </a:t>
            </a:r>
            <a:r>
              <a:rPr lang="en-GB" dirty="0">
                <a:solidFill>
                  <a:srgbClr val="FF0000"/>
                </a:solidFill>
              </a:rPr>
              <a:t>leishmaniasis</a:t>
            </a:r>
            <a:r>
              <a:rPr lang="en-GB" dirty="0"/>
              <a:t> of which there are </a:t>
            </a:r>
            <a:r>
              <a:rPr lang="en-GB" dirty="0">
                <a:solidFill>
                  <a:srgbClr val="C00000"/>
                </a:solidFill>
              </a:rPr>
              <a:t>three main types</a:t>
            </a:r>
            <a:r>
              <a:rPr lang="en-GB" dirty="0"/>
              <a:t> with variations. </a:t>
            </a:r>
            <a:endParaRPr lang="en-US" dirty="0"/>
          </a:p>
          <a:p>
            <a:endParaRPr lang="en-US" dirty="0"/>
          </a:p>
        </p:txBody>
      </p:sp>
    </p:spTree>
    <p:extLst>
      <p:ext uri="{BB962C8B-B14F-4D97-AF65-F5344CB8AC3E}">
        <p14:creationId xmlns:p14="http://schemas.microsoft.com/office/powerpoint/2010/main" val="131612008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3" name="Title 1"/>
          <p:cNvSpPr>
            <a:spLocks noGrp="1"/>
          </p:cNvSpPr>
          <p:nvPr>
            <p:ph type="title"/>
          </p:nvPr>
        </p:nvSpPr>
        <p:spPr/>
        <p:txBody>
          <a:bodyPr>
            <a:normAutofit fontScale="90000"/>
          </a:bodyPr>
          <a:lstStyle/>
          <a:p>
            <a:br>
              <a:rPr lang="en-GB" dirty="0"/>
            </a:br>
            <a:r>
              <a:rPr lang="en-GB" b="1" dirty="0"/>
              <a:t>The </a:t>
            </a:r>
            <a:r>
              <a:rPr lang="en-GB" b="1" dirty="0">
                <a:solidFill>
                  <a:srgbClr val="00B0F0"/>
                </a:solidFill>
              </a:rPr>
              <a:t>Leishmania parasite </a:t>
            </a:r>
            <a:r>
              <a:rPr lang="en-GB" b="1" dirty="0"/>
              <a:t>and </a:t>
            </a:r>
            <a:r>
              <a:rPr lang="en-GB" b="1" dirty="0">
                <a:solidFill>
                  <a:srgbClr val="FF0000"/>
                </a:solidFill>
              </a:rPr>
              <a:t>leishmaniasis</a:t>
            </a:r>
            <a:r>
              <a:rPr lang="en-GB" b="1" dirty="0"/>
              <a:t> cont’d</a:t>
            </a:r>
            <a:br>
              <a:rPr lang="en-US" dirty="0"/>
            </a:br>
            <a:endParaRPr lang="en-US" dirty="0"/>
          </a:p>
        </p:txBody>
      </p:sp>
      <p:sp>
        <p:nvSpPr>
          <p:cNvPr id="1048614" name="Content Placeholder 2"/>
          <p:cNvSpPr>
            <a:spLocks noGrp="1"/>
          </p:cNvSpPr>
          <p:nvPr>
            <p:ph idx="1"/>
          </p:nvPr>
        </p:nvSpPr>
        <p:spPr/>
        <p:txBody>
          <a:bodyPr/>
          <a:lstStyle/>
          <a:p>
            <a:pPr marL="0" indent="0" algn="ctr">
              <a:buNone/>
            </a:pPr>
            <a:r>
              <a:rPr lang="en-GB" b="1" dirty="0">
                <a:solidFill>
                  <a:srgbClr val="C00000"/>
                </a:solidFill>
              </a:rPr>
              <a:t>The three main diseases </a:t>
            </a:r>
            <a:r>
              <a:rPr lang="en-GB" b="1" dirty="0"/>
              <a:t>are; </a:t>
            </a:r>
            <a:endParaRPr lang="en-US" b="1" dirty="0"/>
          </a:p>
          <a:p>
            <a:pPr lvl="0">
              <a:buFont typeface="Wingdings" pitchFamily="2" charset="2"/>
              <a:buChar char="v"/>
            </a:pPr>
            <a:r>
              <a:rPr lang="en-GB" dirty="0">
                <a:solidFill>
                  <a:srgbClr val="FF0000"/>
                </a:solidFill>
              </a:rPr>
              <a:t>Cutaneous leishmaniasis </a:t>
            </a:r>
            <a:endParaRPr lang="en-US" dirty="0">
              <a:solidFill>
                <a:srgbClr val="FF0000"/>
              </a:solidFill>
            </a:endParaRPr>
          </a:p>
          <a:p>
            <a:pPr lvl="0">
              <a:buFont typeface="Wingdings" pitchFamily="2" charset="2"/>
              <a:buChar char="v"/>
            </a:pPr>
            <a:r>
              <a:rPr lang="en-GB" dirty="0">
                <a:solidFill>
                  <a:srgbClr val="FF0000"/>
                </a:solidFill>
              </a:rPr>
              <a:t>Mucocutaneous leishmaniasis</a:t>
            </a:r>
            <a:r>
              <a:rPr lang="en-GB" dirty="0"/>
              <a:t> ( also called </a:t>
            </a:r>
            <a:r>
              <a:rPr lang="en-GB" dirty="0">
                <a:solidFill>
                  <a:srgbClr val="0070C0"/>
                </a:solidFill>
              </a:rPr>
              <a:t>Espundia</a:t>
            </a:r>
            <a:r>
              <a:rPr lang="en-GB" dirty="0"/>
              <a:t>)</a:t>
            </a:r>
            <a:endParaRPr lang="en-US" dirty="0"/>
          </a:p>
          <a:p>
            <a:pPr lvl="0">
              <a:buFont typeface="Wingdings" pitchFamily="2" charset="2"/>
              <a:buChar char="v"/>
            </a:pPr>
            <a:r>
              <a:rPr lang="en-GB" dirty="0">
                <a:solidFill>
                  <a:srgbClr val="FF0000"/>
                </a:solidFill>
              </a:rPr>
              <a:t>Visceral leishmaniasis  </a:t>
            </a:r>
            <a:r>
              <a:rPr lang="en-GB" dirty="0"/>
              <a:t>[or </a:t>
            </a:r>
            <a:r>
              <a:rPr lang="en-GB" dirty="0">
                <a:solidFill>
                  <a:srgbClr val="0070C0"/>
                </a:solidFill>
              </a:rPr>
              <a:t>Kala-azar</a:t>
            </a:r>
            <a:r>
              <a:rPr lang="en-GB" dirty="0"/>
              <a:t> (</a:t>
            </a:r>
            <a:r>
              <a:rPr lang="en-GB" dirty="0">
                <a:solidFill>
                  <a:srgbClr val="0070C0"/>
                </a:solidFill>
              </a:rPr>
              <a:t>black disease</a:t>
            </a:r>
            <a:r>
              <a:rPr lang="en-GB" dirty="0"/>
              <a:t>), also known as ‘</a:t>
            </a:r>
            <a:r>
              <a:rPr lang="en-GB" dirty="0">
                <a:solidFill>
                  <a:srgbClr val="0070C0"/>
                </a:solidFill>
              </a:rPr>
              <a:t>Pones</a:t>
            </a:r>
            <a:r>
              <a:rPr lang="en-GB" dirty="0"/>
              <a:t>’ or ‘</a:t>
            </a:r>
            <a:r>
              <a:rPr lang="en-GB" dirty="0">
                <a:solidFill>
                  <a:srgbClr val="0070C0"/>
                </a:solidFill>
              </a:rPr>
              <a:t>Dumdum</a:t>
            </a:r>
            <a:r>
              <a:rPr lang="en-GB" dirty="0"/>
              <a:t>’ </a:t>
            </a:r>
            <a:r>
              <a:rPr lang="en-GB" dirty="0">
                <a:solidFill>
                  <a:srgbClr val="0070C0"/>
                </a:solidFill>
              </a:rPr>
              <a:t>fever</a:t>
            </a:r>
            <a:r>
              <a:rPr lang="en-GB" dirty="0"/>
              <a:t>]</a:t>
            </a:r>
            <a:endParaRPr lang="en-US" dirty="0"/>
          </a:p>
        </p:txBody>
      </p:sp>
    </p:spTree>
    <p:extLst>
      <p:ext uri="{BB962C8B-B14F-4D97-AF65-F5344CB8AC3E}">
        <p14:creationId xmlns:p14="http://schemas.microsoft.com/office/powerpoint/2010/main" val="594454372"/>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5" name="Title 1"/>
          <p:cNvSpPr>
            <a:spLocks noGrp="1"/>
          </p:cNvSpPr>
          <p:nvPr>
            <p:ph type="title"/>
          </p:nvPr>
        </p:nvSpPr>
        <p:spPr/>
        <p:txBody>
          <a:bodyPr>
            <a:normAutofit fontScale="90000"/>
          </a:bodyPr>
          <a:lstStyle/>
          <a:p>
            <a:br>
              <a:rPr lang="en-GB" dirty="0"/>
            </a:br>
            <a:r>
              <a:rPr lang="en-GB" b="1" dirty="0"/>
              <a:t>The </a:t>
            </a:r>
            <a:r>
              <a:rPr lang="en-GB" b="1" dirty="0">
                <a:solidFill>
                  <a:srgbClr val="00B0F0"/>
                </a:solidFill>
              </a:rPr>
              <a:t>Leishmania parasite </a:t>
            </a:r>
            <a:r>
              <a:rPr lang="en-GB" b="1" dirty="0"/>
              <a:t>and </a:t>
            </a:r>
            <a:r>
              <a:rPr lang="en-GB" b="1" dirty="0">
                <a:solidFill>
                  <a:srgbClr val="FF0000"/>
                </a:solidFill>
              </a:rPr>
              <a:t>leishmaniasis</a:t>
            </a:r>
            <a:r>
              <a:rPr lang="en-GB" b="1" dirty="0"/>
              <a:t> cont’d</a:t>
            </a:r>
            <a:br>
              <a:rPr lang="en-US" dirty="0"/>
            </a:br>
            <a:endParaRPr lang="en-US" dirty="0"/>
          </a:p>
        </p:txBody>
      </p:sp>
      <p:sp>
        <p:nvSpPr>
          <p:cNvPr id="1048616" name="Content Placeholder 2"/>
          <p:cNvSpPr>
            <a:spLocks noGrp="1"/>
          </p:cNvSpPr>
          <p:nvPr>
            <p:ph idx="1"/>
          </p:nvPr>
        </p:nvSpPr>
        <p:spPr/>
        <p:txBody>
          <a:bodyPr/>
          <a:lstStyle/>
          <a:p>
            <a:pPr lvl="0">
              <a:buFont typeface="Wingdings" pitchFamily="2" charset="2"/>
              <a:buChar char="v"/>
            </a:pPr>
            <a:r>
              <a:rPr lang="en-GB" dirty="0"/>
              <a:t>Generally the form of the </a:t>
            </a:r>
            <a:r>
              <a:rPr lang="en-GB" u="sng" dirty="0"/>
              <a:t>parasite seen in humans is the small intracellular form </a:t>
            </a:r>
            <a:r>
              <a:rPr lang="en-GB" dirty="0"/>
              <a:t>known as the </a:t>
            </a:r>
            <a:r>
              <a:rPr lang="en-GB" dirty="0">
                <a:solidFill>
                  <a:schemeClr val="accent6">
                    <a:lumMod val="75000"/>
                  </a:schemeClr>
                </a:solidFill>
              </a:rPr>
              <a:t>AMASTIGOTE</a:t>
            </a:r>
            <a:r>
              <a:rPr lang="en-GB" dirty="0"/>
              <a:t>. </a:t>
            </a:r>
          </a:p>
          <a:p>
            <a:pPr lvl="0">
              <a:buFont typeface="Wingdings" pitchFamily="2" charset="2"/>
              <a:buChar char="v"/>
            </a:pPr>
            <a:r>
              <a:rPr lang="en-GB" u="sng" dirty="0"/>
              <a:t>It lives and multiplies in other phagocytic cells in the </a:t>
            </a:r>
            <a:r>
              <a:rPr lang="en-GB" u="sng" dirty="0">
                <a:solidFill>
                  <a:srgbClr val="7030A0"/>
                </a:solidFill>
              </a:rPr>
              <a:t>internal organs </a:t>
            </a:r>
            <a:r>
              <a:rPr lang="en-GB" dirty="0"/>
              <a:t>(</a:t>
            </a:r>
            <a:r>
              <a:rPr lang="en-GB" dirty="0">
                <a:solidFill>
                  <a:srgbClr val="FF0000"/>
                </a:solidFill>
              </a:rPr>
              <a:t>Visceral leishmaniasis</a:t>
            </a:r>
            <a:r>
              <a:rPr lang="en-GB" dirty="0"/>
              <a:t>), in </a:t>
            </a:r>
            <a:r>
              <a:rPr lang="en-GB" dirty="0">
                <a:solidFill>
                  <a:srgbClr val="7030A0"/>
                </a:solidFill>
              </a:rPr>
              <a:t>organs and skin </a:t>
            </a:r>
            <a:r>
              <a:rPr lang="en-GB" dirty="0"/>
              <a:t>(</a:t>
            </a:r>
            <a:r>
              <a:rPr lang="en-GB" dirty="0">
                <a:solidFill>
                  <a:srgbClr val="FF0000"/>
                </a:solidFill>
              </a:rPr>
              <a:t>Mucocutaneous leishmaniasis</a:t>
            </a:r>
            <a:r>
              <a:rPr lang="en-GB" dirty="0"/>
              <a:t>), or in the </a:t>
            </a:r>
            <a:r>
              <a:rPr lang="en-GB" dirty="0">
                <a:solidFill>
                  <a:srgbClr val="7030A0"/>
                </a:solidFill>
              </a:rPr>
              <a:t>skin</a:t>
            </a:r>
            <a:r>
              <a:rPr lang="en-GB" dirty="0"/>
              <a:t> (</a:t>
            </a:r>
            <a:r>
              <a:rPr lang="en-GB" dirty="0">
                <a:solidFill>
                  <a:srgbClr val="FF0000"/>
                </a:solidFill>
              </a:rPr>
              <a:t>Cutaneous leishmaniasis</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425099592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Title 1"/>
          <p:cNvSpPr>
            <a:spLocks noGrp="1"/>
          </p:cNvSpPr>
          <p:nvPr>
            <p:ph type="title"/>
          </p:nvPr>
        </p:nvSpPr>
        <p:spPr/>
        <p:txBody>
          <a:bodyPr>
            <a:normAutofit fontScale="90000"/>
          </a:bodyPr>
          <a:lstStyle/>
          <a:p>
            <a:br>
              <a:rPr lang="en-GB" dirty="0"/>
            </a:br>
            <a:r>
              <a:rPr lang="en-GB" b="1" dirty="0"/>
              <a:t>The </a:t>
            </a:r>
            <a:r>
              <a:rPr lang="en-GB" b="1" dirty="0">
                <a:solidFill>
                  <a:srgbClr val="00B0F0"/>
                </a:solidFill>
              </a:rPr>
              <a:t>Leishmania parasite </a:t>
            </a:r>
            <a:r>
              <a:rPr lang="en-GB" b="1" dirty="0"/>
              <a:t>and </a:t>
            </a:r>
            <a:r>
              <a:rPr lang="en-GB" b="1" dirty="0">
                <a:solidFill>
                  <a:srgbClr val="FF0000"/>
                </a:solidFill>
              </a:rPr>
              <a:t>leishmaniasis</a:t>
            </a:r>
            <a:r>
              <a:rPr lang="en-GB" b="1" dirty="0"/>
              <a:t> cont’d</a:t>
            </a:r>
            <a:br>
              <a:rPr lang="en-US" dirty="0"/>
            </a:br>
            <a:endParaRPr lang="en-US" dirty="0"/>
          </a:p>
        </p:txBody>
      </p:sp>
      <p:sp>
        <p:nvSpPr>
          <p:cNvPr id="1048618" name="Content Placeholder 2"/>
          <p:cNvSpPr>
            <a:spLocks noGrp="1"/>
          </p:cNvSpPr>
          <p:nvPr>
            <p:ph idx="1"/>
          </p:nvPr>
        </p:nvSpPr>
        <p:spPr>
          <a:xfrm>
            <a:off x="457200" y="1600200"/>
            <a:ext cx="8229600" cy="5105400"/>
          </a:xfrm>
        </p:spPr>
        <p:txBody>
          <a:bodyPr>
            <a:normAutofit fontScale="96875"/>
          </a:bodyPr>
          <a:lstStyle/>
          <a:p>
            <a:pPr lvl="0">
              <a:buFont typeface="Wingdings" pitchFamily="2" charset="2"/>
              <a:buChar char="v"/>
            </a:pPr>
            <a:r>
              <a:rPr lang="en-GB" dirty="0"/>
              <a:t>The vector insects are the </a:t>
            </a:r>
            <a:r>
              <a:rPr lang="en-GB" dirty="0">
                <a:solidFill>
                  <a:srgbClr val="FF33CC"/>
                </a:solidFill>
              </a:rPr>
              <a:t>sandflies</a:t>
            </a:r>
            <a:r>
              <a:rPr lang="en-GB" dirty="0"/>
              <a:t> of the genus, </a:t>
            </a:r>
            <a:r>
              <a:rPr lang="en-GB" i="1" dirty="0">
                <a:solidFill>
                  <a:srgbClr val="FF33CC"/>
                </a:solidFill>
              </a:rPr>
              <a:t>Phlebotomus</a:t>
            </a:r>
            <a:r>
              <a:rPr lang="en-GB" dirty="0"/>
              <a:t> (</a:t>
            </a:r>
            <a:r>
              <a:rPr lang="en-GB" dirty="0">
                <a:solidFill>
                  <a:schemeClr val="accent6">
                    <a:lumMod val="75000"/>
                  </a:schemeClr>
                </a:solidFill>
              </a:rPr>
              <a:t>old world/Eastern Hemisphere</a:t>
            </a:r>
            <a:r>
              <a:rPr lang="en-GB" dirty="0"/>
              <a:t>) or genus </a:t>
            </a:r>
            <a:r>
              <a:rPr lang="en-GB" i="1" dirty="0">
                <a:solidFill>
                  <a:srgbClr val="FF33CC"/>
                </a:solidFill>
              </a:rPr>
              <a:t>Lutzomyia</a:t>
            </a:r>
          </a:p>
          <a:p>
            <a:pPr lvl="0">
              <a:buFont typeface="Wingdings" pitchFamily="2" charset="2"/>
              <a:buChar char="v"/>
            </a:pPr>
            <a:r>
              <a:rPr lang="en-GB" dirty="0"/>
              <a:t> (</a:t>
            </a:r>
            <a:r>
              <a:rPr lang="en-GB" dirty="0">
                <a:solidFill>
                  <a:schemeClr val="accent6">
                    <a:lumMod val="75000"/>
                  </a:schemeClr>
                </a:solidFill>
              </a:rPr>
              <a:t>New world/western hemisphere</a:t>
            </a:r>
            <a:r>
              <a:rPr lang="en-GB" dirty="0"/>
              <a:t>).</a:t>
            </a:r>
          </a:p>
          <a:p>
            <a:pPr lvl="0">
              <a:buFont typeface="Wingdings" pitchFamily="2" charset="2"/>
              <a:buChar char="v"/>
            </a:pPr>
            <a:r>
              <a:rPr lang="en-GB" dirty="0"/>
              <a:t> In the vector, </a:t>
            </a:r>
            <a:r>
              <a:rPr lang="en-GB" u="sng" dirty="0"/>
              <a:t>the flagellated highly motile form</a:t>
            </a:r>
            <a:r>
              <a:rPr lang="en-GB" dirty="0"/>
              <a:t> known as </a:t>
            </a:r>
            <a:r>
              <a:rPr lang="en-GB" dirty="0">
                <a:solidFill>
                  <a:srgbClr val="00B050"/>
                </a:solidFill>
              </a:rPr>
              <a:t>promastigote</a:t>
            </a:r>
            <a:r>
              <a:rPr lang="en-GB" dirty="0"/>
              <a:t> is found, </a:t>
            </a:r>
            <a:r>
              <a:rPr lang="en-GB" u="sng" dirty="0"/>
              <a:t>and it is this which multiplies in the flies gut</a:t>
            </a:r>
            <a:r>
              <a:rPr lang="en-GB" dirty="0"/>
              <a:t>.</a:t>
            </a:r>
          </a:p>
          <a:p>
            <a:pPr>
              <a:buFont typeface="Wingdings" pitchFamily="2" charset="2"/>
              <a:buChar char="v"/>
            </a:pPr>
            <a:r>
              <a:rPr lang="en-GB" u="sng" dirty="0"/>
              <a:t>Because of the many variants of the parasite occurring in the various geographical regions, </a:t>
            </a:r>
            <a:r>
              <a:rPr lang="en-GB" b="1" u="sng" dirty="0"/>
              <a:t>the species form complexes</a:t>
            </a:r>
            <a:r>
              <a:rPr lang="en-GB" u="sng" dirty="0"/>
              <a:t>.</a:t>
            </a:r>
            <a:endParaRPr lang="en-US" u="sng" dirty="0"/>
          </a:p>
          <a:p>
            <a:pPr>
              <a:buFont typeface="Wingdings" pitchFamily="2" charset="2"/>
              <a:buChar char="v"/>
            </a:pPr>
            <a:endParaRPr lang="en-US" dirty="0"/>
          </a:p>
        </p:txBody>
      </p:sp>
    </p:spTree>
    <p:extLst>
      <p:ext uri="{BB962C8B-B14F-4D97-AF65-F5344CB8AC3E}">
        <p14:creationId xmlns:p14="http://schemas.microsoft.com/office/powerpoint/2010/main" val="746536420"/>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9" name="Title 1"/>
          <p:cNvSpPr>
            <a:spLocks noGrp="1"/>
          </p:cNvSpPr>
          <p:nvPr>
            <p:ph type="title"/>
          </p:nvPr>
        </p:nvSpPr>
        <p:spPr/>
        <p:txBody>
          <a:bodyPr>
            <a:normAutofit fontScale="90000"/>
          </a:bodyPr>
          <a:lstStyle/>
          <a:p>
            <a:pPr lvl="0"/>
            <a:br>
              <a:rPr lang="en-GB" b="1" dirty="0"/>
            </a:br>
            <a:r>
              <a:rPr lang="en-GB" b="1" dirty="0"/>
              <a:t>1. </a:t>
            </a:r>
            <a:r>
              <a:rPr lang="en-GB" b="1" dirty="0">
                <a:solidFill>
                  <a:srgbClr val="FF0000"/>
                </a:solidFill>
              </a:rPr>
              <a:t>Cutaneous leishmaniasis </a:t>
            </a:r>
            <a:br>
              <a:rPr lang="en-US" dirty="0"/>
            </a:br>
            <a:endParaRPr lang="en-US" dirty="0"/>
          </a:p>
        </p:txBody>
      </p:sp>
      <p:sp>
        <p:nvSpPr>
          <p:cNvPr id="1048620" name="Content Placeholder 2"/>
          <p:cNvSpPr>
            <a:spLocks noGrp="1"/>
          </p:cNvSpPr>
          <p:nvPr>
            <p:ph idx="1"/>
          </p:nvPr>
        </p:nvSpPr>
        <p:spPr/>
        <p:txBody>
          <a:bodyPr/>
          <a:lstStyle/>
          <a:p>
            <a:pPr lvl="0">
              <a:buFont typeface="Wingdings" pitchFamily="2" charset="2"/>
              <a:buChar char="v"/>
            </a:pPr>
            <a:r>
              <a:rPr lang="en-GB" u="sng" dirty="0"/>
              <a:t>This occurs both in the old and new world</a:t>
            </a:r>
            <a:r>
              <a:rPr lang="en-GB" dirty="0"/>
              <a:t>.</a:t>
            </a:r>
            <a:endParaRPr lang="en-US" dirty="0"/>
          </a:p>
          <a:p>
            <a:pPr lvl="0">
              <a:buFont typeface="Wingdings" pitchFamily="2" charset="2"/>
              <a:buChar char="v"/>
            </a:pPr>
            <a:r>
              <a:rPr lang="en-GB" b="1" dirty="0">
                <a:solidFill>
                  <a:schemeClr val="accent6">
                    <a:lumMod val="75000"/>
                  </a:schemeClr>
                </a:solidFill>
              </a:rPr>
              <a:t>In the old world</a:t>
            </a:r>
            <a:r>
              <a:rPr lang="en-GB" dirty="0"/>
              <a:t>, it is normally caused by three species of the parasite, viz </a:t>
            </a:r>
            <a:r>
              <a:rPr lang="en-GB" i="1" dirty="0">
                <a:solidFill>
                  <a:schemeClr val="accent6">
                    <a:lumMod val="75000"/>
                  </a:schemeClr>
                </a:solidFill>
              </a:rPr>
              <a:t>Leishmania</a:t>
            </a:r>
            <a:r>
              <a:rPr lang="en-GB" dirty="0">
                <a:solidFill>
                  <a:schemeClr val="accent6">
                    <a:lumMod val="75000"/>
                  </a:schemeClr>
                </a:solidFill>
              </a:rPr>
              <a:t> </a:t>
            </a:r>
            <a:r>
              <a:rPr lang="en-GB" i="1" dirty="0">
                <a:solidFill>
                  <a:schemeClr val="accent6">
                    <a:lumMod val="75000"/>
                  </a:schemeClr>
                </a:solidFill>
              </a:rPr>
              <a:t>tropica</a:t>
            </a:r>
            <a:r>
              <a:rPr lang="en-GB" dirty="0"/>
              <a:t>, </a:t>
            </a:r>
            <a:r>
              <a:rPr lang="en-GB" i="1" dirty="0">
                <a:solidFill>
                  <a:schemeClr val="accent6">
                    <a:lumMod val="75000"/>
                  </a:schemeClr>
                </a:solidFill>
              </a:rPr>
              <a:t>L. major</a:t>
            </a:r>
            <a:r>
              <a:rPr lang="en-GB" dirty="0">
                <a:solidFill>
                  <a:schemeClr val="accent6">
                    <a:lumMod val="75000"/>
                  </a:schemeClr>
                </a:solidFill>
              </a:rPr>
              <a:t> </a:t>
            </a:r>
            <a:r>
              <a:rPr lang="en-GB" dirty="0"/>
              <a:t>and </a:t>
            </a:r>
            <a:r>
              <a:rPr lang="en-GB" i="1" dirty="0">
                <a:solidFill>
                  <a:schemeClr val="accent6">
                    <a:lumMod val="75000"/>
                  </a:schemeClr>
                </a:solidFill>
              </a:rPr>
              <a:t>L. aethiopica</a:t>
            </a:r>
            <a:r>
              <a:rPr lang="en-GB" dirty="0"/>
              <a:t>. </a:t>
            </a:r>
          </a:p>
          <a:p>
            <a:pPr lvl="0">
              <a:buFont typeface="Wingdings" pitchFamily="2" charset="2"/>
              <a:buChar char="v"/>
            </a:pPr>
            <a:r>
              <a:rPr lang="en-GB" u="sng" dirty="0"/>
              <a:t>The vectors are </a:t>
            </a:r>
            <a:r>
              <a:rPr lang="en-GB" u="sng" dirty="0">
                <a:solidFill>
                  <a:srgbClr val="FF33CC"/>
                </a:solidFill>
              </a:rPr>
              <a:t>Phlebotomus sandflies</a:t>
            </a:r>
            <a:r>
              <a:rPr lang="en-GB" u="sng" dirty="0"/>
              <a:t>. In the new world, the vectors are </a:t>
            </a:r>
            <a:r>
              <a:rPr lang="en-GB" u="sng" dirty="0">
                <a:solidFill>
                  <a:srgbClr val="FF33CC"/>
                </a:solidFill>
              </a:rPr>
              <a:t>Lutzomyia</a:t>
            </a:r>
            <a:r>
              <a:rPr lang="en-GB" u="sng" dirty="0"/>
              <a:t> and  genus </a:t>
            </a:r>
            <a:r>
              <a:rPr lang="en-GB" u="sng" dirty="0">
                <a:solidFill>
                  <a:srgbClr val="7030A0"/>
                </a:solidFill>
              </a:rPr>
              <a:t>Psychodopygus</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3253255814"/>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1" name="Title 1"/>
          <p:cNvSpPr>
            <a:spLocks noGrp="1"/>
          </p:cNvSpPr>
          <p:nvPr>
            <p:ph type="title"/>
          </p:nvPr>
        </p:nvSpPr>
        <p:spPr/>
        <p:txBody>
          <a:bodyPr>
            <a:normAutofit fontScale="90000"/>
          </a:bodyPr>
          <a:lstStyle/>
          <a:p>
            <a:br>
              <a:rPr lang="en-GB" b="1" dirty="0"/>
            </a:br>
            <a:r>
              <a:rPr lang="en-GB" b="1" dirty="0"/>
              <a:t>1. </a:t>
            </a:r>
            <a:r>
              <a:rPr lang="en-GB" b="1" dirty="0">
                <a:solidFill>
                  <a:srgbClr val="FF0000"/>
                </a:solidFill>
              </a:rPr>
              <a:t>Cutaneous </a:t>
            </a:r>
            <a:r>
              <a:rPr lang="en-GB" b="1" dirty="0" err="1">
                <a:solidFill>
                  <a:srgbClr val="FF0000"/>
                </a:solidFill>
              </a:rPr>
              <a:t>leishmaniasis</a:t>
            </a:r>
            <a:r>
              <a:rPr lang="en-GB" b="1" dirty="0">
                <a:solidFill>
                  <a:srgbClr val="FF0000"/>
                </a:solidFill>
              </a:rPr>
              <a:t> </a:t>
            </a:r>
            <a:r>
              <a:rPr lang="en-GB" b="1" dirty="0"/>
              <a:t>cont’d</a:t>
            </a:r>
            <a:br>
              <a:rPr lang="en-US" dirty="0"/>
            </a:br>
            <a:endParaRPr lang="en-US" dirty="0"/>
          </a:p>
        </p:txBody>
      </p:sp>
      <p:sp>
        <p:nvSpPr>
          <p:cNvPr id="1048622" name="Content Placeholder 2"/>
          <p:cNvSpPr>
            <a:spLocks noGrp="1"/>
          </p:cNvSpPr>
          <p:nvPr>
            <p:ph idx="1"/>
          </p:nvPr>
        </p:nvSpPr>
        <p:spPr/>
        <p:txBody>
          <a:bodyPr/>
          <a:lstStyle/>
          <a:p>
            <a:pPr lvl="0">
              <a:buFont typeface="Wingdings" pitchFamily="2" charset="2"/>
              <a:buChar char="v"/>
            </a:pPr>
            <a:r>
              <a:rPr lang="en-GB" dirty="0"/>
              <a:t>The infection produces a </a:t>
            </a:r>
            <a:r>
              <a:rPr lang="en-GB" dirty="0">
                <a:solidFill>
                  <a:srgbClr val="FF0000"/>
                </a:solidFill>
              </a:rPr>
              <a:t>skin ulcer </a:t>
            </a:r>
            <a:r>
              <a:rPr lang="en-GB" u="sng" dirty="0"/>
              <a:t>which leaves an unsightly scar on healing</a:t>
            </a:r>
            <a:r>
              <a:rPr lang="en-GB" dirty="0"/>
              <a:t>.</a:t>
            </a:r>
            <a:endParaRPr lang="en-US" dirty="0"/>
          </a:p>
          <a:p>
            <a:pPr lvl="0">
              <a:buFont typeface="Wingdings" pitchFamily="2" charset="2"/>
              <a:buChar char="v"/>
            </a:pPr>
            <a:r>
              <a:rPr lang="en-GB" b="1" dirty="0"/>
              <a:t>In the new world </a:t>
            </a:r>
            <a:r>
              <a:rPr lang="en-GB" dirty="0">
                <a:solidFill>
                  <a:srgbClr val="C00000"/>
                </a:solidFill>
              </a:rPr>
              <a:t>the skin disease is more severe and chronic </a:t>
            </a:r>
            <a:r>
              <a:rPr lang="en-GB" dirty="0"/>
              <a:t>than in the </a:t>
            </a:r>
            <a:r>
              <a:rPr lang="en-GB" b="1" dirty="0"/>
              <a:t>old world form</a:t>
            </a:r>
            <a:r>
              <a:rPr lang="en-GB" dirty="0"/>
              <a:t>, </a:t>
            </a:r>
            <a:r>
              <a:rPr lang="en-GB" dirty="0">
                <a:solidFill>
                  <a:srgbClr val="C00000"/>
                </a:solidFill>
              </a:rPr>
              <a:t>in that it diffuses and produces wide-spread thickening of the skin</a:t>
            </a:r>
            <a:endParaRPr lang="en-US" dirty="0">
              <a:solidFill>
                <a:srgbClr val="C00000"/>
              </a:solidFill>
            </a:endParaRPr>
          </a:p>
          <a:p>
            <a:pPr lvl="0">
              <a:buFont typeface="Wingdings" pitchFamily="2" charset="2"/>
              <a:buChar char="v"/>
            </a:pPr>
            <a:r>
              <a:rPr lang="en-GB" dirty="0">
                <a:solidFill>
                  <a:srgbClr val="C00000"/>
                </a:solidFill>
              </a:rPr>
              <a:t>Which does not heal spontaneously and tends to relapse after treatment</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1161826868"/>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3" name="Title 1"/>
          <p:cNvSpPr>
            <a:spLocks noGrp="1"/>
          </p:cNvSpPr>
          <p:nvPr>
            <p:ph type="title"/>
          </p:nvPr>
        </p:nvSpPr>
        <p:spPr/>
        <p:txBody>
          <a:bodyPr>
            <a:normAutofit fontScale="90000"/>
          </a:bodyPr>
          <a:lstStyle/>
          <a:p>
            <a:br>
              <a:rPr lang="en-GB" b="1" dirty="0"/>
            </a:br>
            <a:r>
              <a:rPr lang="en-GB" b="1" dirty="0"/>
              <a:t>1. </a:t>
            </a:r>
            <a:r>
              <a:rPr lang="en-GB" b="1" dirty="0">
                <a:solidFill>
                  <a:srgbClr val="FF0000"/>
                </a:solidFill>
              </a:rPr>
              <a:t>Cutaneous </a:t>
            </a:r>
            <a:r>
              <a:rPr lang="en-GB" b="1" dirty="0" err="1">
                <a:solidFill>
                  <a:srgbClr val="FF0000"/>
                </a:solidFill>
              </a:rPr>
              <a:t>leishmaniasis</a:t>
            </a:r>
            <a:r>
              <a:rPr lang="en-GB" b="1" dirty="0">
                <a:solidFill>
                  <a:srgbClr val="FF0000"/>
                </a:solidFill>
              </a:rPr>
              <a:t> </a:t>
            </a:r>
            <a:r>
              <a:rPr lang="en-GB" b="1" dirty="0"/>
              <a:t>cont’d</a:t>
            </a:r>
            <a:br>
              <a:rPr lang="en-US" dirty="0"/>
            </a:br>
            <a:endParaRPr lang="en-US" dirty="0"/>
          </a:p>
        </p:txBody>
      </p:sp>
      <p:sp>
        <p:nvSpPr>
          <p:cNvPr id="1048624" name="Content Placeholder 2"/>
          <p:cNvSpPr>
            <a:spLocks noGrp="1"/>
          </p:cNvSpPr>
          <p:nvPr>
            <p:ph idx="1"/>
          </p:nvPr>
        </p:nvSpPr>
        <p:spPr/>
        <p:txBody>
          <a:bodyPr/>
          <a:lstStyle/>
          <a:p>
            <a:pPr lvl="0">
              <a:buFont typeface="Wingdings" pitchFamily="2" charset="2"/>
              <a:buChar char="v"/>
            </a:pPr>
            <a:r>
              <a:rPr lang="en-GB" dirty="0"/>
              <a:t>This form of the disease </a:t>
            </a:r>
            <a:r>
              <a:rPr lang="en-GB" b="1" dirty="0">
                <a:solidFill>
                  <a:srgbClr val="7030A0"/>
                </a:solidFill>
              </a:rPr>
              <a:t>in the new world </a:t>
            </a:r>
            <a:r>
              <a:rPr lang="en-GB" dirty="0"/>
              <a:t>is caused by numerous species and subspecies such as </a:t>
            </a:r>
            <a:r>
              <a:rPr lang="en-GB" i="1" dirty="0">
                <a:solidFill>
                  <a:srgbClr val="7030A0"/>
                </a:solidFill>
              </a:rPr>
              <a:t>L. braziliensis braziliensis</a:t>
            </a:r>
            <a:r>
              <a:rPr lang="en-GB" dirty="0"/>
              <a:t>,</a:t>
            </a:r>
            <a:r>
              <a:rPr lang="en-GB" i="1" dirty="0"/>
              <a:t> </a:t>
            </a:r>
            <a:r>
              <a:rPr lang="en-GB" i="1" dirty="0">
                <a:solidFill>
                  <a:srgbClr val="7030A0"/>
                </a:solidFill>
              </a:rPr>
              <a:t>L. b. panamensis</a:t>
            </a:r>
            <a:r>
              <a:rPr lang="en-GB" i="1" dirty="0"/>
              <a:t>, </a:t>
            </a:r>
            <a:r>
              <a:rPr lang="en-GB" i="1" dirty="0">
                <a:solidFill>
                  <a:srgbClr val="7030A0"/>
                </a:solidFill>
              </a:rPr>
              <a:t>L. b. guyanensis</a:t>
            </a:r>
            <a:r>
              <a:rPr lang="en-GB" i="1" dirty="0"/>
              <a:t>, </a:t>
            </a:r>
            <a:r>
              <a:rPr lang="en-GB" i="1" dirty="0">
                <a:solidFill>
                  <a:srgbClr val="7030A0"/>
                </a:solidFill>
              </a:rPr>
              <a:t>L. mexicana</a:t>
            </a:r>
            <a:r>
              <a:rPr lang="en-GB" dirty="0">
                <a:solidFill>
                  <a:srgbClr val="7030A0"/>
                </a:solidFill>
              </a:rPr>
              <a:t> </a:t>
            </a:r>
            <a:r>
              <a:rPr lang="en-GB" i="1" dirty="0">
                <a:solidFill>
                  <a:srgbClr val="7030A0"/>
                </a:solidFill>
              </a:rPr>
              <a:t>mexicana</a:t>
            </a:r>
            <a:r>
              <a:rPr lang="en-GB" dirty="0">
                <a:solidFill>
                  <a:srgbClr val="7030A0"/>
                </a:solidFill>
              </a:rPr>
              <a:t> </a:t>
            </a:r>
            <a:r>
              <a:rPr lang="en-GB" dirty="0"/>
              <a:t>etc.</a:t>
            </a:r>
            <a:endParaRPr lang="en-US" dirty="0"/>
          </a:p>
          <a:p>
            <a:pPr marL="0" indent="0" algn="ctr">
              <a:buNone/>
            </a:pPr>
            <a:r>
              <a:rPr lang="en-GB" b="1" u="sng" dirty="0"/>
              <a:t>Incubation period</a:t>
            </a:r>
            <a:endParaRPr lang="en-US" u="sng" dirty="0"/>
          </a:p>
          <a:p>
            <a:pPr>
              <a:buFont typeface="Wingdings" pitchFamily="2" charset="2"/>
              <a:buChar char="v"/>
            </a:pPr>
            <a:r>
              <a:rPr lang="en-GB" i="1" dirty="0">
                <a:solidFill>
                  <a:schemeClr val="accent6">
                    <a:lumMod val="75000"/>
                  </a:schemeClr>
                </a:solidFill>
              </a:rPr>
              <a:t>L. tropica</a:t>
            </a:r>
            <a:r>
              <a:rPr lang="en-GB" dirty="0">
                <a:solidFill>
                  <a:schemeClr val="accent6">
                    <a:lumMod val="75000"/>
                  </a:schemeClr>
                </a:solidFill>
              </a:rPr>
              <a:t>: 2-8 months</a:t>
            </a:r>
            <a:endParaRPr lang="en-US" dirty="0">
              <a:solidFill>
                <a:schemeClr val="accent6">
                  <a:lumMod val="75000"/>
                </a:schemeClr>
              </a:solidFill>
            </a:endParaRPr>
          </a:p>
          <a:p>
            <a:endParaRPr lang="en-US" dirty="0"/>
          </a:p>
        </p:txBody>
      </p:sp>
    </p:spTree>
    <p:extLst>
      <p:ext uri="{BB962C8B-B14F-4D97-AF65-F5344CB8AC3E}">
        <p14:creationId xmlns:p14="http://schemas.microsoft.com/office/powerpoint/2010/main" val="3761220864"/>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5" name="Title 1"/>
          <p:cNvSpPr>
            <a:spLocks noGrp="1"/>
          </p:cNvSpPr>
          <p:nvPr>
            <p:ph type="title"/>
          </p:nvPr>
        </p:nvSpPr>
        <p:spPr/>
        <p:txBody>
          <a:bodyPr>
            <a:normAutofit fontScale="90000"/>
          </a:bodyPr>
          <a:lstStyle/>
          <a:p>
            <a:pPr lvl="0"/>
            <a:br>
              <a:rPr lang="en-GB" b="1" dirty="0"/>
            </a:br>
            <a:r>
              <a:rPr lang="en-GB" b="1" dirty="0">
                <a:solidFill>
                  <a:srgbClr val="FF0000"/>
                </a:solidFill>
              </a:rPr>
              <a:t>2.Mucocutaneous </a:t>
            </a:r>
            <a:r>
              <a:rPr lang="en-GB" b="1" dirty="0" err="1">
                <a:solidFill>
                  <a:srgbClr val="FF0000"/>
                </a:solidFill>
              </a:rPr>
              <a:t>leishmaniasis</a:t>
            </a:r>
            <a:br>
              <a:rPr lang="en-US" dirty="0"/>
            </a:br>
            <a:endParaRPr lang="en-US" dirty="0"/>
          </a:p>
        </p:txBody>
      </p:sp>
      <p:sp>
        <p:nvSpPr>
          <p:cNvPr id="1048626" name="Content Placeholder 2"/>
          <p:cNvSpPr>
            <a:spLocks noGrp="1"/>
          </p:cNvSpPr>
          <p:nvPr>
            <p:ph idx="1"/>
          </p:nvPr>
        </p:nvSpPr>
        <p:spPr/>
        <p:txBody>
          <a:bodyPr>
            <a:normAutofit fontScale="93750"/>
          </a:bodyPr>
          <a:lstStyle/>
          <a:p>
            <a:r>
              <a:rPr lang="en-GB" u="sng" dirty="0"/>
              <a:t>This starts as lesions of the cutaneous type but later (often after 30 years) metastasizes to the lymph glands and other areas of the skin and the nasal and pharyngeal mucosa, resulting in highly disfiguring tissue damage</a:t>
            </a:r>
            <a:r>
              <a:rPr lang="en-GB" dirty="0"/>
              <a:t>. </a:t>
            </a:r>
            <a:endParaRPr lang="en-US" dirty="0"/>
          </a:p>
          <a:p>
            <a:r>
              <a:rPr lang="en-GB" dirty="0"/>
              <a:t>This form of the disease is mainly caused by </a:t>
            </a:r>
            <a:r>
              <a:rPr lang="en-GB" b="1" i="1" dirty="0">
                <a:solidFill>
                  <a:srgbClr val="7030A0"/>
                </a:solidFill>
              </a:rPr>
              <a:t>L. brasiliensis</a:t>
            </a:r>
            <a:r>
              <a:rPr lang="en-GB" b="1" dirty="0">
                <a:solidFill>
                  <a:srgbClr val="7030A0"/>
                </a:solidFill>
              </a:rPr>
              <a:t> </a:t>
            </a:r>
            <a:endParaRPr lang="en-US" dirty="0">
              <a:solidFill>
                <a:srgbClr val="7030A0"/>
              </a:solidFill>
            </a:endParaRPr>
          </a:p>
          <a:p>
            <a:pPr marL="0" indent="0" algn="ctr">
              <a:buNone/>
            </a:pPr>
            <a:r>
              <a:rPr lang="en-GB" b="1" u="sng" dirty="0"/>
              <a:t>Incubation period</a:t>
            </a:r>
            <a:endParaRPr lang="en-US" u="sng" dirty="0"/>
          </a:p>
          <a:p>
            <a:r>
              <a:rPr lang="en-GB" dirty="0">
                <a:solidFill>
                  <a:srgbClr val="C00000"/>
                </a:solidFill>
              </a:rPr>
              <a:t>Many years</a:t>
            </a:r>
            <a:endParaRPr lang="en-US" dirty="0">
              <a:solidFill>
                <a:srgbClr val="C00000"/>
              </a:solidFill>
            </a:endParaRPr>
          </a:p>
          <a:p>
            <a:endParaRPr lang="en-US" dirty="0"/>
          </a:p>
        </p:txBody>
      </p:sp>
    </p:spTree>
    <p:extLst>
      <p:ext uri="{BB962C8B-B14F-4D97-AF65-F5344CB8AC3E}">
        <p14:creationId xmlns:p14="http://schemas.microsoft.com/office/powerpoint/2010/main" val="1385976589"/>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7" name="Title 1"/>
          <p:cNvSpPr>
            <a:spLocks noGrp="1"/>
          </p:cNvSpPr>
          <p:nvPr>
            <p:ph type="title"/>
          </p:nvPr>
        </p:nvSpPr>
        <p:spPr/>
        <p:txBody>
          <a:bodyPr>
            <a:normAutofit fontScale="90000"/>
          </a:bodyPr>
          <a:lstStyle/>
          <a:p>
            <a:pPr lvl="0"/>
            <a:br>
              <a:rPr lang="en-GB" b="1" dirty="0"/>
            </a:br>
            <a:r>
              <a:rPr lang="en-GB" b="1" dirty="0"/>
              <a:t>3. </a:t>
            </a:r>
            <a:r>
              <a:rPr lang="en-GB" b="1" dirty="0">
                <a:solidFill>
                  <a:srgbClr val="FF0000"/>
                </a:solidFill>
              </a:rPr>
              <a:t>Visceral leishmaniasis </a:t>
            </a:r>
            <a:r>
              <a:rPr lang="en-GB" b="1" dirty="0"/>
              <a:t>(</a:t>
            </a:r>
            <a:r>
              <a:rPr lang="en-GB" b="1" dirty="0">
                <a:solidFill>
                  <a:srgbClr val="FF0000"/>
                </a:solidFill>
              </a:rPr>
              <a:t>Espundia</a:t>
            </a:r>
            <a:r>
              <a:rPr lang="en-GB" b="1" dirty="0"/>
              <a:t>)</a:t>
            </a:r>
            <a:br>
              <a:rPr lang="en-US" dirty="0"/>
            </a:br>
            <a:endParaRPr lang="en-US" dirty="0"/>
          </a:p>
        </p:txBody>
      </p:sp>
      <p:sp>
        <p:nvSpPr>
          <p:cNvPr id="1048628" name="Content Placeholder 2"/>
          <p:cNvSpPr>
            <a:spLocks noGrp="1"/>
          </p:cNvSpPr>
          <p:nvPr>
            <p:ph idx="1"/>
          </p:nvPr>
        </p:nvSpPr>
        <p:spPr/>
        <p:txBody>
          <a:bodyPr>
            <a:normAutofit/>
          </a:bodyPr>
          <a:lstStyle/>
          <a:p>
            <a:r>
              <a:rPr lang="en-GB" dirty="0"/>
              <a:t>This is caused by </a:t>
            </a:r>
            <a:r>
              <a:rPr lang="en-GB" b="1" i="1" dirty="0">
                <a:solidFill>
                  <a:srgbClr val="7030A0"/>
                </a:solidFill>
              </a:rPr>
              <a:t>L. donovani</a:t>
            </a:r>
            <a:r>
              <a:rPr lang="en-GB" dirty="0">
                <a:solidFill>
                  <a:srgbClr val="7030A0"/>
                </a:solidFill>
              </a:rPr>
              <a:t> </a:t>
            </a:r>
            <a:r>
              <a:rPr lang="en-GB" dirty="0"/>
              <a:t>and its subspecies and may be classified as </a:t>
            </a:r>
            <a:r>
              <a:rPr lang="en-GB" dirty="0">
                <a:solidFill>
                  <a:srgbClr val="FF33CC"/>
                </a:solidFill>
              </a:rPr>
              <a:t>endemic</a:t>
            </a:r>
            <a:r>
              <a:rPr lang="en-GB" dirty="0"/>
              <a:t>, </a:t>
            </a:r>
            <a:r>
              <a:rPr lang="en-GB" dirty="0">
                <a:solidFill>
                  <a:srgbClr val="FF33CC"/>
                </a:solidFill>
              </a:rPr>
              <a:t>sporadic</a:t>
            </a:r>
            <a:r>
              <a:rPr lang="en-GB" dirty="0"/>
              <a:t> or </a:t>
            </a:r>
            <a:r>
              <a:rPr lang="en-GB" dirty="0">
                <a:solidFill>
                  <a:srgbClr val="FF33CC"/>
                </a:solidFill>
              </a:rPr>
              <a:t>epidemic</a:t>
            </a:r>
            <a:r>
              <a:rPr lang="en-GB" dirty="0"/>
              <a:t>. It is also known variously as </a:t>
            </a:r>
            <a:r>
              <a:rPr lang="en-GB" dirty="0">
                <a:solidFill>
                  <a:srgbClr val="FF0000"/>
                </a:solidFill>
              </a:rPr>
              <a:t>Kala-</a:t>
            </a:r>
            <a:r>
              <a:rPr lang="en-GB" dirty="0" err="1">
                <a:solidFill>
                  <a:srgbClr val="FF0000"/>
                </a:solidFill>
              </a:rPr>
              <a:t>azar</a:t>
            </a:r>
            <a:r>
              <a:rPr lang="en-GB" dirty="0"/>
              <a:t>, </a:t>
            </a:r>
            <a:r>
              <a:rPr lang="en-GB" dirty="0">
                <a:solidFill>
                  <a:srgbClr val="FF0000"/>
                </a:solidFill>
              </a:rPr>
              <a:t>Dumdum fever</a:t>
            </a:r>
            <a:r>
              <a:rPr lang="en-GB" dirty="0"/>
              <a:t>, </a:t>
            </a:r>
            <a:r>
              <a:rPr lang="en-GB" dirty="0">
                <a:solidFill>
                  <a:srgbClr val="FF0000"/>
                </a:solidFill>
              </a:rPr>
              <a:t>Black sickness</a:t>
            </a:r>
            <a:r>
              <a:rPr lang="en-GB" dirty="0"/>
              <a:t>.</a:t>
            </a:r>
            <a:endParaRPr lang="en-US" dirty="0"/>
          </a:p>
          <a:p>
            <a:pPr marL="0" indent="0" algn="ctr">
              <a:buNone/>
            </a:pPr>
            <a:r>
              <a:rPr lang="en-GB" b="1" u="sng" dirty="0"/>
              <a:t>Incubation Period</a:t>
            </a:r>
            <a:endParaRPr lang="en-US" u="sng" dirty="0"/>
          </a:p>
          <a:p>
            <a:r>
              <a:rPr lang="en-GB" dirty="0"/>
              <a:t>Usually from </a:t>
            </a:r>
            <a:r>
              <a:rPr lang="en-GB" dirty="0">
                <a:solidFill>
                  <a:srgbClr val="C00000"/>
                </a:solidFill>
              </a:rPr>
              <a:t>6 weeks to 6 months </a:t>
            </a:r>
            <a:r>
              <a:rPr lang="en-GB" dirty="0"/>
              <a:t>but can be </a:t>
            </a:r>
            <a:r>
              <a:rPr lang="en-GB" dirty="0">
                <a:solidFill>
                  <a:srgbClr val="C00000"/>
                </a:solidFill>
              </a:rPr>
              <a:t>2 weeks or 9 years.</a:t>
            </a:r>
            <a:endParaRPr lang="en-US" dirty="0">
              <a:solidFill>
                <a:srgbClr val="C00000"/>
              </a:solidFill>
            </a:endParaRPr>
          </a:p>
          <a:p>
            <a:pPr marL="0" indent="0">
              <a:buNone/>
            </a:pPr>
            <a:endParaRPr lang="en-US" dirty="0"/>
          </a:p>
          <a:p>
            <a:endParaRPr lang="en-US" dirty="0"/>
          </a:p>
        </p:txBody>
      </p:sp>
    </p:spTree>
    <p:extLst>
      <p:ext uri="{BB962C8B-B14F-4D97-AF65-F5344CB8AC3E}">
        <p14:creationId xmlns:p14="http://schemas.microsoft.com/office/powerpoint/2010/main" val="1708927766"/>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9" name="Title 1"/>
          <p:cNvSpPr>
            <a:spLocks noGrp="1"/>
          </p:cNvSpPr>
          <p:nvPr>
            <p:ph type="title"/>
          </p:nvPr>
        </p:nvSpPr>
        <p:spPr/>
        <p:txBody>
          <a:bodyPr>
            <a:normAutofit fontScale="90000"/>
          </a:bodyPr>
          <a:lstStyle/>
          <a:p>
            <a:br>
              <a:rPr lang="en-GB" b="1" dirty="0"/>
            </a:br>
            <a:r>
              <a:rPr lang="en-GB" b="1" dirty="0"/>
              <a:t>3. </a:t>
            </a:r>
            <a:r>
              <a:rPr lang="en-GB" b="1" dirty="0">
                <a:solidFill>
                  <a:srgbClr val="FF0000"/>
                </a:solidFill>
              </a:rPr>
              <a:t>Visceral leishmaniasis </a:t>
            </a:r>
            <a:r>
              <a:rPr lang="en-GB" b="1" dirty="0"/>
              <a:t>(</a:t>
            </a:r>
            <a:r>
              <a:rPr lang="en-GB" b="1" dirty="0">
                <a:solidFill>
                  <a:srgbClr val="FF0000"/>
                </a:solidFill>
              </a:rPr>
              <a:t>Espundia</a:t>
            </a:r>
            <a:r>
              <a:rPr lang="en-GB" b="1" dirty="0"/>
              <a:t>)</a:t>
            </a:r>
            <a:br>
              <a:rPr lang="en-US" dirty="0"/>
            </a:br>
            <a:endParaRPr lang="en-US" dirty="0"/>
          </a:p>
        </p:txBody>
      </p:sp>
      <p:sp>
        <p:nvSpPr>
          <p:cNvPr id="1048630" name="Content Placeholder 2"/>
          <p:cNvSpPr>
            <a:spLocks noGrp="1"/>
          </p:cNvSpPr>
          <p:nvPr>
            <p:ph idx="1"/>
          </p:nvPr>
        </p:nvSpPr>
        <p:spPr>
          <a:xfrm>
            <a:off x="457200" y="1295400"/>
            <a:ext cx="8229600" cy="5257800"/>
          </a:xfrm>
        </p:spPr>
        <p:txBody>
          <a:bodyPr>
            <a:normAutofit/>
          </a:bodyPr>
          <a:lstStyle/>
          <a:p>
            <a:pPr marL="457200" lvl="1" indent="0">
              <a:buNone/>
            </a:pPr>
            <a:r>
              <a:rPr lang="en-GB" sz="3200" b="1" dirty="0"/>
              <a:t>There are </a:t>
            </a:r>
            <a:r>
              <a:rPr lang="en-GB" sz="3200" b="1" dirty="0">
                <a:solidFill>
                  <a:srgbClr val="FF0000"/>
                </a:solidFill>
              </a:rPr>
              <a:t>three main types/forms </a:t>
            </a:r>
            <a:r>
              <a:rPr lang="en-GB" sz="3200" b="1" dirty="0"/>
              <a:t>of the disease:</a:t>
            </a:r>
          </a:p>
          <a:p>
            <a:pPr marL="457200" lvl="1" indent="0">
              <a:buNone/>
            </a:pPr>
            <a:endParaRPr lang="en-GB" sz="3200" b="1" dirty="0"/>
          </a:p>
          <a:p>
            <a:pPr marL="457200" lvl="1" indent="0">
              <a:buNone/>
            </a:pPr>
            <a:r>
              <a:rPr lang="en-GB" sz="3200" b="1" dirty="0"/>
              <a:t>a) </a:t>
            </a:r>
            <a:r>
              <a:rPr lang="en-GB" sz="3200" b="1" dirty="0">
                <a:solidFill>
                  <a:srgbClr val="C00000"/>
                </a:solidFill>
              </a:rPr>
              <a:t>Endemic visceral </a:t>
            </a:r>
            <a:r>
              <a:rPr lang="en-GB" sz="3200" b="1" dirty="0" err="1">
                <a:solidFill>
                  <a:srgbClr val="C00000"/>
                </a:solidFill>
              </a:rPr>
              <a:t>leishmaniasis</a:t>
            </a:r>
            <a:endParaRPr lang="en-US" sz="3200" dirty="0">
              <a:solidFill>
                <a:srgbClr val="C00000"/>
              </a:solidFill>
            </a:endParaRPr>
          </a:p>
          <a:p>
            <a:pPr lvl="0"/>
            <a:r>
              <a:rPr lang="en-GB" u="sng" dirty="0"/>
              <a:t>Especially affects children (1-4 years</a:t>
            </a:r>
            <a:r>
              <a:rPr lang="en-GB" dirty="0"/>
              <a:t>) in the Mediterranean region, S.W. Asia, China and Latin America.</a:t>
            </a:r>
            <a:endParaRPr lang="en-US" dirty="0"/>
          </a:p>
          <a:p>
            <a:pPr lvl="0"/>
            <a:r>
              <a:rPr lang="en-GB" dirty="0"/>
              <a:t>In east Africa and India, the peak age is </a:t>
            </a:r>
            <a:r>
              <a:rPr lang="en-GB" dirty="0">
                <a:solidFill>
                  <a:srgbClr val="C00000"/>
                </a:solidFill>
              </a:rPr>
              <a:t>5-9 years or older</a:t>
            </a:r>
            <a:r>
              <a:rPr lang="en-GB" dirty="0"/>
              <a:t>.</a:t>
            </a:r>
            <a:endParaRPr lang="en-US" dirty="0"/>
          </a:p>
        </p:txBody>
      </p:sp>
    </p:spTree>
    <p:extLst>
      <p:ext uri="{BB962C8B-B14F-4D97-AF65-F5344CB8AC3E}">
        <p14:creationId xmlns:p14="http://schemas.microsoft.com/office/powerpoint/2010/main" val="173903404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1" name="Title 1"/>
          <p:cNvSpPr>
            <a:spLocks noGrp="1"/>
          </p:cNvSpPr>
          <p:nvPr>
            <p:ph type="title"/>
          </p:nvPr>
        </p:nvSpPr>
        <p:spPr/>
        <p:txBody>
          <a:bodyPr>
            <a:normAutofit fontScale="90000"/>
          </a:bodyPr>
          <a:lstStyle/>
          <a:p>
            <a:r>
              <a:rPr lang="en-GB" b="1" dirty="0"/>
              <a:t>3. </a:t>
            </a:r>
            <a:r>
              <a:rPr lang="en-GB" b="1" dirty="0">
                <a:solidFill>
                  <a:srgbClr val="FF0000"/>
                </a:solidFill>
              </a:rPr>
              <a:t>Visceral leishmaniasis </a:t>
            </a:r>
            <a:r>
              <a:rPr lang="en-GB" b="1" dirty="0"/>
              <a:t>(</a:t>
            </a:r>
            <a:r>
              <a:rPr lang="en-GB" b="1" dirty="0">
                <a:solidFill>
                  <a:srgbClr val="FF0000"/>
                </a:solidFill>
              </a:rPr>
              <a:t>Espundia</a:t>
            </a:r>
            <a:r>
              <a:rPr lang="en-GB" b="1" dirty="0"/>
              <a:t>)</a:t>
            </a:r>
            <a:endParaRPr lang="en-US" dirty="0"/>
          </a:p>
        </p:txBody>
      </p:sp>
      <p:sp>
        <p:nvSpPr>
          <p:cNvPr id="1048632" name="Content Placeholder 2"/>
          <p:cNvSpPr>
            <a:spLocks noGrp="1"/>
          </p:cNvSpPr>
          <p:nvPr>
            <p:ph idx="1"/>
          </p:nvPr>
        </p:nvSpPr>
        <p:spPr/>
        <p:txBody>
          <a:bodyPr/>
          <a:lstStyle/>
          <a:p>
            <a:pPr lvl="0">
              <a:buFont typeface="Wingdings" pitchFamily="2" charset="2"/>
              <a:buChar char="v"/>
            </a:pPr>
            <a:endParaRPr lang="en-GB" dirty="0"/>
          </a:p>
          <a:p>
            <a:pPr lvl="0">
              <a:buFont typeface="Wingdings" pitchFamily="2" charset="2"/>
              <a:buChar char="v"/>
            </a:pPr>
            <a:r>
              <a:rPr lang="en-GB" dirty="0"/>
              <a:t>The common symptoms are </a:t>
            </a:r>
            <a:r>
              <a:rPr lang="en-GB" dirty="0">
                <a:solidFill>
                  <a:srgbClr val="00B0F0"/>
                </a:solidFill>
              </a:rPr>
              <a:t>fever</a:t>
            </a:r>
            <a:r>
              <a:rPr lang="en-GB" dirty="0"/>
              <a:t>, </a:t>
            </a:r>
            <a:r>
              <a:rPr lang="en-GB" dirty="0">
                <a:solidFill>
                  <a:srgbClr val="00B0F0"/>
                </a:solidFill>
              </a:rPr>
              <a:t>weight loss</a:t>
            </a:r>
            <a:r>
              <a:rPr lang="en-GB" dirty="0"/>
              <a:t>, </a:t>
            </a:r>
            <a:r>
              <a:rPr lang="en-GB" dirty="0">
                <a:solidFill>
                  <a:srgbClr val="00B0F0"/>
                </a:solidFill>
              </a:rPr>
              <a:t>anorexia</a:t>
            </a:r>
            <a:r>
              <a:rPr lang="en-GB" dirty="0"/>
              <a:t> (</a:t>
            </a:r>
            <a:r>
              <a:rPr lang="en-GB" u="sng" dirty="0"/>
              <a:t>lack or loss of appetite for food</a:t>
            </a:r>
            <a:r>
              <a:rPr lang="en-GB" dirty="0"/>
              <a:t>) accompanied by </a:t>
            </a:r>
            <a:r>
              <a:rPr lang="en-GB" dirty="0">
                <a:solidFill>
                  <a:srgbClr val="00B0F0"/>
                </a:solidFill>
              </a:rPr>
              <a:t>anaemia</a:t>
            </a:r>
            <a:r>
              <a:rPr lang="en-GB" dirty="0"/>
              <a:t>, </a:t>
            </a:r>
            <a:r>
              <a:rPr lang="en-GB" dirty="0">
                <a:solidFill>
                  <a:srgbClr val="00B0F0"/>
                </a:solidFill>
              </a:rPr>
              <a:t>malaise</a:t>
            </a:r>
            <a:r>
              <a:rPr lang="en-GB" dirty="0"/>
              <a:t> (</a:t>
            </a:r>
            <a:r>
              <a:rPr lang="en-GB" u="sng" dirty="0"/>
              <a:t>a vague feeling of bodily discomfort</a:t>
            </a:r>
            <a:r>
              <a:rPr lang="en-GB" dirty="0"/>
              <a:t>), </a:t>
            </a:r>
            <a:r>
              <a:rPr lang="en-GB" dirty="0">
                <a:solidFill>
                  <a:srgbClr val="00B0F0"/>
                </a:solidFill>
              </a:rPr>
              <a:t>skin darkening </a:t>
            </a:r>
            <a:r>
              <a:rPr lang="en-GB" dirty="0"/>
              <a:t>and </a:t>
            </a:r>
            <a:r>
              <a:rPr lang="en-GB" dirty="0">
                <a:solidFill>
                  <a:srgbClr val="00B0F0"/>
                </a:solidFill>
              </a:rPr>
              <a:t>spleen enlargement</a:t>
            </a:r>
            <a:r>
              <a:rPr lang="en-GB" dirty="0"/>
              <a:t>. </a:t>
            </a:r>
            <a:endParaRPr lang="en-US" sz="2800" dirty="0"/>
          </a:p>
          <a:p>
            <a:pPr>
              <a:buFont typeface="Wingdings" pitchFamily="2" charset="2"/>
              <a:buChar char="v"/>
            </a:pPr>
            <a:endParaRPr lang="en-US" dirty="0"/>
          </a:p>
        </p:txBody>
      </p:sp>
    </p:spTree>
    <p:extLst>
      <p:ext uri="{BB962C8B-B14F-4D97-AF65-F5344CB8AC3E}">
        <p14:creationId xmlns:p14="http://schemas.microsoft.com/office/powerpoint/2010/main" val="3462218314"/>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3" name="Title 1"/>
          <p:cNvSpPr>
            <a:spLocks noGrp="1"/>
          </p:cNvSpPr>
          <p:nvPr>
            <p:ph type="title"/>
          </p:nvPr>
        </p:nvSpPr>
        <p:spPr/>
        <p:txBody>
          <a:bodyPr>
            <a:normAutofit fontScale="90000"/>
          </a:bodyPr>
          <a:lstStyle/>
          <a:p>
            <a:r>
              <a:rPr lang="en-GB" b="1" dirty="0"/>
              <a:t>3. </a:t>
            </a:r>
            <a:r>
              <a:rPr lang="en-GB" b="1" dirty="0">
                <a:solidFill>
                  <a:srgbClr val="FF0000"/>
                </a:solidFill>
              </a:rPr>
              <a:t>Visceral leishmaniasis </a:t>
            </a:r>
            <a:r>
              <a:rPr lang="en-GB" b="1" dirty="0"/>
              <a:t>(</a:t>
            </a:r>
            <a:r>
              <a:rPr lang="en-GB" b="1" dirty="0">
                <a:solidFill>
                  <a:srgbClr val="FF0000"/>
                </a:solidFill>
              </a:rPr>
              <a:t>Espundia</a:t>
            </a:r>
            <a:r>
              <a:rPr lang="en-GB" b="1" dirty="0"/>
              <a:t>) cont’d</a:t>
            </a:r>
            <a:endParaRPr lang="en-US" dirty="0"/>
          </a:p>
        </p:txBody>
      </p:sp>
      <p:sp>
        <p:nvSpPr>
          <p:cNvPr id="1048634" name="Content Placeholder 2"/>
          <p:cNvSpPr>
            <a:spLocks noGrp="1"/>
          </p:cNvSpPr>
          <p:nvPr>
            <p:ph idx="1"/>
          </p:nvPr>
        </p:nvSpPr>
        <p:spPr>
          <a:xfrm>
            <a:off x="457200" y="1600200"/>
            <a:ext cx="8229600" cy="5486400"/>
          </a:xfrm>
        </p:spPr>
        <p:txBody>
          <a:bodyPr>
            <a:normAutofit fontScale="54348" lnSpcReduction="20000"/>
          </a:bodyPr>
          <a:lstStyle/>
          <a:p>
            <a:pPr marL="457200" lvl="1" indent="0">
              <a:buNone/>
            </a:pPr>
            <a:endParaRPr lang="en-GB" sz="4600" b="1" dirty="0"/>
          </a:p>
          <a:p>
            <a:pPr marL="457200" lvl="1" indent="0">
              <a:buNone/>
            </a:pPr>
            <a:r>
              <a:rPr lang="en-GB" sz="8000" b="1" dirty="0"/>
              <a:t>b) </a:t>
            </a:r>
            <a:r>
              <a:rPr lang="en-GB" sz="8000" b="1" dirty="0">
                <a:solidFill>
                  <a:srgbClr val="7030A0"/>
                </a:solidFill>
              </a:rPr>
              <a:t>Sporadic visceral leishmaniasis</a:t>
            </a:r>
            <a:endParaRPr lang="en-US" sz="8000" dirty="0">
              <a:solidFill>
                <a:srgbClr val="7030A0"/>
              </a:solidFill>
            </a:endParaRPr>
          </a:p>
          <a:p>
            <a:pPr lvl="0"/>
            <a:r>
              <a:rPr lang="en-GB" sz="8000" dirty="0"/>
              <a:t>Affects </a:t>
            </a:r>
            <a:r>
              <a:rPr lang="en-GB" sz="8000" u="sng" dirty="0"/>
              <a:t>non-indigenous people entering an endemic area</a:t>
            </a:r>
            <a:r>
              <a:rPr lang="en-GB" sz="8000" dirty="0"/>
              <a:t>. </a:t>
            </a:r>
            <a:endParaRPr lang="en-US" sz="8000" dirty="0"/>
          </a:p>
          <a:p>
            <a:pPr lvl="0"/>
            <a:r>
              <a:rPr lang="en-GB" sz="8000" dirty="0"/>
              <a:t>It is characterized by a </a:t>
            </a:r>
            <a:r>
              <a:rPr lang="en-GB" sz="8000" dirty="0">
                <a:solidFill>
                  <a:srgbClr val="00B0F0"/>
                </a:solidFill>
              </a:rPr>
              <a:t>marked onset of fever</a:t>
            </a:r>
            <a:r>
              <a:rPr lang="en-GB" sz="8000" dirty="0"/>
              <a:t>, 3 weeks to 2 years after exposure.</a:t>
            </a:r>
          </a:p>
          <a:p>
            <a:pPr marL="457200" lvl="1" indent="0">
              <a:buNone/>
            </a:pPr>
            <a:endParaRPr lang="en-GB" sz="8000" b="1" dirty="0"/>
          </a:p>
          <a:p>
            <a:endParaRPr lang="en-US" sz="8000" dirty="0"/>
          </a:p>
        </p:txBody>
      </p:sp>
    </p:spTree>
    <p:extLst>
      <p:ext uri="{BB962C8B-B14F-4D97-AF65-F5344CB8AC3E}">
        <p14:creationId xmlns:p14="http://schemas.microsoft.com/office/powerpoint/2010/main" val="1416735056"/>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5" name="Title 1"/>
          <p:cNvSpPr>
            <a:spLocks noGrp="1"/>
          </p:cNvSpPr>
          <p:nvPr>
            <p:ph type="title"/>
          </p:nvPr>
        </p:nvSpPr>
        <p:spPr/>
        <p:txBody>
          <a:bodyPr>
            <a:normAutofit fontScale="90000"/>
          </a:bodyPr>
          <a:lstStyle/>
          <a:p>
            <a:r>
              <a:rPr lang="en-GB" b="1" dirty="0"/>
              <a:t>3. </a:t>
            </a:r>
            <a:r>
              <a:rPr lang="en-GB" b="1" dirty="0">
                <a:solidFill>
                  <a:srgbClr val="FF0000"/>
                </a:solidFill>
              </a:rPr>
              <a:t>Visceral leishmaniasis </a:t>
            </a:r>
            <a:r>
              <a:rPr lang="en-GB" b="1" dirty="0"/>
              <a:t>(</a:t>
            </a:r>
            <a:r>
              <a:rPr lang="en-GB" b="1" dirty="0">
                <a:solidFill>
                  <a:srgbClr val="FF0000"/>
                </a:solidFill>
              </a:rPr>
              <a:t>Espundia</a:t>
            </a:r>
            <a:r>
              <a:rPr lang="en-GB" b="1" dirty="0"/>
              <a:t>) cont’d</a:t>
            </a:r>
            <a:endParaRPr lang="en-US" dirty="0"/>
          </a:p>
        </p:txBody>
      </p:sp>
      <p:sp>
        <p:nvSpPr>
          <p:cNvPr id="1048636" name="Content Placeholder 2"/>
          <p:cNvSpPr>
            <a:spLocks noGrp="1"/>
          </p:cNvSpPr>
          <p:nvPr>
            <p:ph idx="1"/>
          </p:nvPr>
        </p:nvSpPr>
        <p:spPr/>
        <p:txBody>
          <a:bodyPr>
            <a:normAutofit fontScale="69423" lnSpcReduction="20000"/>
          </a:bodyPr>
          <a:lstStyle/>
          <a:p>
            <a:pPr marL="457200" lvl="1" indent="0">
              <a:buNone/>
            </a:pPr>
            <a:r>
              <a:rPr lang="en-GB" sz="8000" b="1" dirty="0"/>
              <a:t>c</a:t>
            </a:r>
            <a:r>
              <a:rPr lang="en-GB" sz="6500" b="1" dirty="0"/>
              <a:t>) </a:t>
            </a:r>
            <a:r>
              <a:rPr lang="en-GB" sz="6500" b="1" dirty="0">
                <a:solidFill>
                  <a:srgbClr val="7030A0"/>
                </a:solidFill>
              </a:rPr>
              <a:t>Epidemic visceral leishmaniasis</a:t>
            </a:r>
            <a:endParaRPr lang="en-US" sz="6500" dirty="0">
              <a:solidFill>
                <a:srgbClr val="7030A0"/>
              </a:solidFill>
            </a:endParaRPr>
          </a:p>
          <a:p>
            <a:pPr lvl="1">
              <a:buFont typeface="Wingdings" pitchFamily="2" charset="2"/>
              <a:buChar char="v"/>
            </a:pPr>
            <a:r>
              <a:rPr lang="en-GB" sz="6500" u="sng" dirty="0"/>
              <a:t>All ages are susceptible in its endemic area </a:t>
            </a:r>
            <a:r>
              <a:rPr lang="en-GB" sz="6500" dirty="0"/>
              <a:t>except</a:t>
            </a:r>
            <a:r>
              <a:rPr lang="en-GB" sz="6500" u="sng" dirty="0"/>
              <a:t> those old enough to have been affected during a previous epidemic</a:t>
            </a:r>
            <a:r>
              <a:rPr lang="en-GB" sz="6500" dirty="0"/>
              <a:t>.</a:t>
            </a:r>
            <a:endParaRPr lang="en-US" sz="6500" dirty="0"/>
          </a:p>
          <a:p>
            <a:pPr>
              <a:buFont typeface="Wingdings" pitchFamily="2" charset="2"/>
              <a:buChar char="v"/>
            </a:pPr>
            <a:endParaRPr lang="en-US" sz="6500" dirty="0"/>
          </a:p>
        </p:txBody>
      </p:sp>
    </p:spTree>
    <p:extLst>
      <p:ext uri="{BB962C8B-B14F-4D97-AF65-F5344CB8AC3E}">
        <p14:creationId xmlns:p14="http://schemas.microsoft.com/office/powerpoint/2010/main" val="124505231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7" name="Title 1"/>
          <p:cNvSpPr>
            <a:spLocks noGrp="1"/>
          </p:cNvSpPr>
          <p:nvPr>
            <p:ph type="title"/>
          </p:nvPr>
        </p:nvSpPr>
        <p:spPr/>
        <p:txBody>
          <a:bodyPr/>
          <a:lstStyle/>
          <a:p>
            <a:r>
              <a:rPr lang="en-US" b="1" dirty="0">
                <a:solidFill>
                  <a:srgbClr val="FF0000"/>
                </a:solidFill>
              </a:rPr>
              <a:t>The Disease Leishmaniasis</a:t>
            </a:r>
          </a:p>
        </p:txBody>
      </p:sp>
      <p:sp>
        <p:nvSpPr>
          <p:cNvPr id="1048638" name="Content Placeholder 2"/>
          <p:cNvSpPr>
            <a:spLocks noGrp="1"/>
          </p:cNvSpPr>
          <p:nvPr>
            <p:ph idx="1"/>
          </p:nvPr>
        </p:nvSpPr>
        <p:spPr/>
        <p:txBody>
          <a:bodyPr/>
          <a:lstStyle/>
          <a:p>
            <a:pPr lvl="0">
              <a:buFont typeface="Wingdings" pitchFamily="2" charset="2"/>
              <a:buChar char="v"/>
            </a:pPr>
            <a:r>
              <a:rPr lang="en-GB" dirty="0">
                <a:solidFill>
                  <a:srgbClr val="FF0000"/>
                </a:solidFill>
              </a:rPr>
              <a:t>Leishmaniasis</a:t>
            </a:r>
            <a:r>
              <a:rPr lang="en-GB" dirty="0"/>
              <a:t> </a:t>
            </a:r>
            <a:r>
              <a:rPr lang="en-GB" u="sng" dirty="0"/>
              <a:t>is a serious debilitating and disfiguring disease</a:t>
            </a:r>
            <a:r>
              <a:rPr lang="en-GB" dirty="0"/>
              <a:t>.</a:t>
            </a:r>
            <a:endParaRPr lang="en-US" dirty="0"/>
          </a:p>
          <a:p>
            <a:pPr lvl="0">
              <a:buFont typeface="Wingdings" pitchFamily="2" charset="2"/>
              <a:buChar char="v"/>
            </a:pPr>
            <a:r>
              <a:rPr lang="en-GB" dirty="0"/>
              <a:t>The parasites live in the cells of the </a:t>
            </a:r>
            <a:r>
              <a:rPr lang="en-GB" dirty="0">
                <a:solidFill>
                  <a:srgbClr val="00B0F0"/>
                </a:solidFill>
              </a:rPr>
              <a:t>reticuloendothelial system </a:t>
            </a:r>
            <a:r>
              <a:rPr lang="en-GB" dirty="0"/>
              <a:t>(i.e. the cells which normally phagocytise most protozoan parasites).</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3379586449"/>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Title 1"/>
          <p:cNvSpPr>
            <a:spLocks noGrp="1"/>
          </p:cNvSpPr>
          <p:nvPr>
            <p:ph type="title"/>
          </p:nvPr>
        </p:nvSpPr>
        <p:spPr/>
        <p:txBody>
          <a:bodyPr>
            <a:normAutofit/>
          </a:bodyPr>
          <a:lstStyle/>
          <a:p>
            <a:r>
              <a:rPr lang="en-US" b="1" dirty="0">
                <a:solidFill>
                  <a:srgbClr val="FF0000"/>
                </a:solidFill>
              </a:rPr>
              <a:t>The Disease Leishmaniasis </a:t>
            </a:r>
            <a:r>
              <a:rPr lang="en-US" b="1" dirty="0"/>
              <a:t>cont’d</a:t>
            </a:r>
            <a:endParaRPr lang="en-US" dirty="0"/>
          </a:p>
        </p:txBody>
      </p:sp>
      <p:sp>
        <p:nvSpPr>
          <p:cNvPr id="1048640" name="Content Placeholder 2"/>
          <p:cNvSpPr>
            <a:spLocks noGrp="1"/>
          </p:cNvSpPr>
          <p:nvPr>
            <p:ph idx="1"/>
          </p:nvPr>
        </p:nvSpPr>
        <p:spPr/>
        <p:txBody>
          <a:bodyPr>
            <a:normAutofit fontScale="96875"/>
          </a:bodyPr>
          <a:lstStyle/>
          <a:p>
            <a:pPr lvl="0">
              <a:buFont typeface="Wingdings" pitchFamily="2" charset="2"/>
              <a:buChar char="v"/>
            </a:pPr>
            <a:r>
              <a:rPr lang="en-GB" b="1" dirty="0"/>
              <a:t>The infection process occurs as follows </a:t>
            </a:r>
            <a:r>
              <a:rPr lang="en-GB" dirty="0"/>
              <a:t>(as studied in the case of </a:t>
            </a:r>
            <a:r>
              <a:rPr lang="en-GB" i="1" dirty="0"/>
              <a:t>Leishmania donovani</a:t>
            </a:r>
            <a:r>
              <a:rPr lang="en-GB" dirty="0"/>
              <a:t>):</a:t>
            </a:r>
            <a:endParaRPr lang="en-US" dirty="0"/>
          </a:p>
          <a:p>
            <a:pPr lvl="0">
              <a:buFont typeface="Wingdings" pitchFamily="2" charset="2"/>
              <a:buChar char="Ø"/>
            </a:pPr>
            <a:r>
              <a:rPr lang="en-GB" dirty="0">
                <a:solidFill>
                  <a:schemeClr val="accent6">
                    <a:lumMod val="75000"/>
                  </a:schemeClr>
                </a:solidFill>
              </a:rPr>
              <a:t>Promastigote</a:t>
            </a:r>
            <a:r>
              <a:rPr lang="en-GB" dirty="0">
                <a:solidFill>
                  <a:srgbClr val="00B0F0"/>
                </a:solidFill>
              </a:rPr>
              <a:t> stages become attached to a macrophage by the tip of their flagella and become surrounded or engulfed by the macrophage/phagocytic cells</a:t>
            </a:r>
            <a:r>
              <a:rPr lang="en-GB" dirty="0"/>
              <a:t>.</a:t>
            </a:r>
            <a:endParaRPr lang="en-US" dirty="0"/>
          </a:p>
          <a:p>
            <a:pPr lvl="0">
              <a:buFont typeface="Wingdings" pitchFamily="2" charset="2"/>
              <a:buChar char="Ø"/>
            </a:pPr>
            <a:r>
              <a:rPr lang="en-GB" u="sng" dirty="0"/>
              <a:t>At first the parasite is surrounded by a vacuole which later disappears</a:t>
            </a:r>
            <a:r>
              <a:rPr lang="en-GB" dirty="0"/>
              <a:t>.</a:t>
            </a:r>
            <a:endParaRPr lang="en-US" dirty="0"/>
          </a:p>
          <a:p>
            <a:endParaRPr lang="en-US" dirty="0"/>
          </a:p>
        </p:txBody>
      </p:sp>
    </p:spTree>
    <p:extLst>
      <p:ext uri="{BB962C8B-B14F-4D97-AF65-F5344CB8AC3E}">
        <p14:creationId xmlns:p14="http://schemas.microsoft.com/office/powerpoint/2010/main" val="3937411226"/>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1" name="Title 1"/>
          <p:cNvSpPr>
            <a:spLocks noGrp="1"/>
          </p:cNvSpPr>
          <p:nvPr>
            <p:ph type="title"/>
          </p:nvPr>
        </p:nvSpPr>
        <p:spPr/>
        <p:txBody>
          <a:bodyPr>
            <a:normAutofit/>
          </a:bodyPr>
          <a:lstStyle/>
          <a:p>
            <a:r>
              <a:rPr lang="en-US" b="1" dirty="0">
                <a:solidFill>
                  <a:srgbClr val="FF0000"/>
                </a:solidFill>
              </a:rPr>
              <a:t>The Disease </a:t>
            </a:r>
            <a:r>
              <a:rPr lang="en-US" b="1" dirty="0" err="1">
                <a:solidFill>
                  <a:srgbClr val="FF0000"/>
                </a:solidFill>
              </a:rPr>
              <a:t>Leishmaniasis</a:t>
            </a:r>
            <a:r>
              <a:rPr lang="en-US" b="1" dirty="0">
                <a:solidFill>
                  <a:srgbClr val="FF0000"/>
                </a:solidFill>
              </a:rPr>
              <a:t> </a:t>
            </a:r>
            <a:r>
              <a:rPr lang="en-US" b="1" dirty="0"/>
              <a:t>cont’d</a:t>
            </a:r>
            <a:endParaRPr lang="en-US" dirty="0"/>
          </a:p>
        </p:txBody>
      </p:sp>
      <p:sp>
        <p:nvSpPr>
          <p:cNvPr id="1048642" name="Content Placeholder 2"/>
          <p:cNvSpPr>
            <a:spLocks noGrp="1"/>
          </p:cNvSpPr>
          <p:nvPr>
            <p:ph idx="1"/>
          </p:nvPr>
        </p:nvSpPr>
        <p:spPr>
          <a:xfrm>
            <a:off x="457200" y="1600200"/>
            <a:ext cx="8229600" cy="5486400"/>
          </a:xfrm>
        </p:spPr>
        <p:txBody>
          <a:bodyPr>
            <a:normAutofit/>
          </a:bodyPr>
          <a:lstStyle/>
          <a:p>
            <a:pPr lvl="0">
              <a:buFont typeface="Wingdings" pitchFamily="2" charset="2"/>
              <a:buChar char="v"/>
            </a:pPr>
            <a:r>
              <a:rPr lang="en-GB" dirty="0"/>
              <a:t>Under favourable conditions transformation to their </a:t>
            </a:r>
            <a:r>
              <a:rPr lang="en-GB" dirty="0">
                <a:solidFill>
                  <a:schemeClr val="accent6">
                    <a:lumMod val="75000"/>
                  </a:schemeClr>
                </a:solidFill>
              </a:rPr>
              <a:t>amastigote</a:t>
            </a:r>
            <a:r>
              <a:rPr lang="en-GB" dirty="0"/>
              <a:t> </a:t>
            </a:r>
            <a:r>
              <a:rPr lang="en-GB" u="sng" dirty="0"/>
              <a:t>form takes 1-4 hours </a:t>
            </a:r>
            <a:r>
              <a:rPr lang="en-GB" dirty="0"/>
              <a:t>and a </a:t>
            </a:r>
            <a:r>
              <a:rPr lang="en-GB" u="sng" dirty="0"/>
              <a:t>population increase of parasites can be observed at 48 hours</a:t>
            </a:r>
            <a:r>
              <a:rPr lang="en-GB" dirty="0"/>
              <a:t>.</a:t>
            </a:r>
          </a:p>
          <a:p>
            <a:pPr lvl="0">
              <a:buFont typeface="Wingdings" pitchFamily="2" charset="2"/>
              <a:buChar char="v"/>
            </a:pPr>
            <a:r>
              <a:rPr lang="en-GB" dirty="0"/>
              <a:t> (the amastigote forms in humans are </a:t>
            </a:r>
            <a:r>
              <a:rPr lang="en-GB" dirty="0">
                <a:solidFill>
                  <a:srgbClr val="0070C0"/>
                </a:solidFill>
              </a:rPr>
              <a:t>small</a:t>
            </a:r>
            <a:r>
              <a:rPr lang="en-GB" dirty="0"/>
              <a:t>, </a:t>
            </a:r>
            <a:r>
              <a:rPr lang="en-GB" dirty="0">
                <a:solidFill>
                  <a:srgbClr val="0070C0"/>
                </a:solidFill>
              </a:rPr>
              <a:t>ovoid</a:t>
            </a:r>
            <a:r>
              <a:rPr lang="en-GB" dirty="0"/>
              <a:t> or </a:t>
            </a:r>
            <a:r>
              <a:rPr lang="en-GB" dirty="0">
                <a:solidFill>
                  <a:srgbClr val="0070C0"/>
                </a:solidFill>
              </a:rPr>
              <a:t>round bodies- </a:t>
            </a:r>
            <a:r>
              <a:rPr lang="en-GB" dirty="0"/>
              <a:t>called </a:t>
            </a:r>
            <a:r>
              <a:rPr lang="en-GB" b="1" dirty="0">
                <a:solidFill>
                  <a:schemeClr val="accent6">
                    <a:lumMod val="75000"/>
                  </a:schemeClr>
                </a:solidFill>
              </a:rPr>
              <a:t>“Leishman-</a:t>
            </a:r>
            <a:r>
              <a:rPr lang="en-GB" dirty="0">
                <a:solidFill>
                  <a:schemeClr val="accent6">
                    <a:lumMod val="75000"/>
                  </a:schemeClr>
                </a:solidFill>
              </a:rPr>
              <a:t> </a:t>
            </a:r>
            <a:r>
              <a:rPr lang="en-GB" b="1" dirty="0">
                <a:solidFill>
                  <a:schemeClr val="accent6">
                    <a:lumMod val="75000"/>
                  </a:schemeClr>
                </a:solidFill>
              </a:rPr>
              <a:t>Donovan bodies”,</a:t>
            </a:r>
            <a:r>
              <a:rPr lang="en-GB" dirty="0">
                <a:solidFill>
                  <a:schemeClr val="accent6">
                    <a:lumMod val="75000"/>
                  </a:schemeClr>
                </a:solidFill>
              </a:rPr>
              <a:t> </a:t>
            </a:r>
            <a:r>
              <a:rPr lang="en-GB" u="sng" dirty="0"/>
              <a:t>about 2-5µm in diameter, </a:t>
            </a:r>
            <a:r>
              <a:rPr lang="en-GB" dirty="0"/>
              <a:t>containing a </a:t>
            </a:r>
            <a:r>
              <a:rPr lang="en-GB" dirty="0">
                <a:solidFill>
                  <a:srgbClr val="FF33CC"/>
                </a:solidFill>
              </a:rPr>
              <a:t>central nucleus</a:t>
            </a:r>
            <a:r>
              <a:rPr lang="en-GB" dirty="0"/>
              <a:t>, a </a:t>
            </a:r>
            <a:r>
              <a:rPr lang="en-GB" dirty="0">
                <a:solidFill>
                  <a:srgbClr val="FF33CC"/>
                </a:solidFill>
              </a:rPr>
              <a:t>rod shaped kinetoplast</a:t>
            </a:r>
            <a:r>
              <a:rPr lang="en-GB" dirty="0"/>
              <a:t> and (sometimes) a </a:t>
            </a:r>
            <a:r>
              <a:rPr lang="en-GB" dirty="0">
                <a:solidFill>
                  <a:srgbClr val="FF33CC"/>
                </a:solidFill>
              </a:rPr>
              <a:t>basal body </a:t>
            </a:r>
            <a:r>
              <a:rPr lang="en-GB" dirty="0"/>
              <a:t>(</a:t>
            </a:r>
            <a:r>
              <a:rPr lang="en-GB" u="sng" dirty="0"/>
              <a:t>from which a flagellum arises</a:t>
            </a:r>
            <a:r>
              <a:rPr lang="en-GB" dirty="0"/>
              <a:t>)</a:t>
            </a:r>
            <a:endParaRPr lang="en-US" dirty="0"/>
          </a:p>
        </p:txBody>
      </p:sp>
    </p:spTree>
    <p:extLst>
      <p:ext uri="{BB962C8B-B14F-4D97-AF65-F5344CB8AC3E}">
        <p14:creationId xmlns:p14="http://schemas.microsoft.com/office/powerpoint/2010/main" val="362247038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3" name="Title 1"/>
          <p:cNvSpPr>
            <a:spLocks noGrp="1"/>
          </p:cNvSpPr>
          <p:nvPr>
            <p:ph type="title"/>
          </p:nvPr>
        </p:nvSpPr>
        <p:spPr/>
        <p:txBody>
          <a:bodyPr>
            <a:normAutofit/>
          </a:bodyPr>
          <a:lstStyle/>
          <a:p>
            <a:r>
              <a:rPr lang="en-US" b="1" dirty="0">
                <a:solidFill>
                  <a:srgbClr val="FF0000"/>
                </a:solidFill>
              </a:rPr>
              <a:t>The Disease </a:t>
            </a:r>
            <a:r>
              <a:rPr lang="en-US" b="1" dirty="0" err="1">
                <a:solidFill>
                  <a:srgbClr val="FF0000"/>
                </a:solidFill>
              </a:rPr>
              <a:t>Leishmaniasis</a:t>
            </a:r>
            <a:r>
              <a:rPr lang="en-US" b="1" dirty="0">
                <a:solidFill>
                  <a:srgbClr val="FF0000"/>
                </a:solidFill>
              </a:rPr>
              <a:t> </a:t>
            </a:r>
            <a:r>
              <a:rPr lang="en-US" b="1" dirty="0"/>
              <a:t>cont’d</a:t>
            </a:r>
            <a:endParaRPr lang="en-US" dirty="0"/>
          </a:p>
        </p:txBody>
      </p:sp>
      <p:sp>
        <p:nvSpPr>
          <p:cNvPr id="1048644" name="Content Placeholder 2"/>
          <p:cNvSpPr>
            <a:spLocks noGrp="1"/>
          </p:cNvSpPr>
          <p:nvPr>
            <p:ph idx="1"/>
          </p:nvPr>
        </p:nvSpPr>
        <p:spPr/>
        <p:txBody>
          <a:bodyPr>
            <a:normAutofit/>
          </a:bodyPr>
          <a:lstStyle/>
          <a:p>
            <a:pPr>
              <a:buFont typeface="Wingdings" pitchFamily="2" charset="2"/>
              <a:buChar char="v"/>
            </a:pPr>
            <a:r>
              <a:rPr lang="en-GB" dirty="0">
                <a:solidFill>
                  <a:srgbClr val="00B050"/>
                </a:solidFill>
              </a:rPr>
              <a:t>In the insect vector(sandflies</a:t>
            </a:r>
            <a:r>
              <a:rPr lang="en-GB" dirty="0"/>
              <a:t>), the parasite assumes the </a:t>
            </a:r>
            <a:r>
              <a:rPr lang="en-GB" dirty="0">
                <a:solidFill>
                  <a:schemeClr val="accent6">
                    <a:lumMod val="75000"/>
                  </a:schemeClr>
                </a:solidFill>
              </a:rPr>
              <a:t>promastigote form</a:t>
            </a:r>
            <a:r>
              <a:rPr lang="en-GB" dirty="0"/>
              <a:t>.</a:t>
            </a:r>
          </a:p>
          <a:p>
            <a:pPr lvl="0">
              <a:buFont typeface="Wingdings" pitchFamily="2" charset="2"/>
              <a:buChar char="v"/>
            </a:pPr>
            <a:r>
              <a:rPr lang="en-GB" dirty="0"/>
              <a:t>The parasites are unusual in living entirely as </a:t>
            </a:r>
            <a:r>
              <a:rPr lang="en-GB" dirty="0">
                <a:solidFill>
                  <a:schemeClr val="accent6">
                    <a:lumMod val="75000"/>
                  </a:schemeClr>
                </a:solidFill>
              </a:rPr>
              <a:t>amastigotes</a:t>
            </a:r>
            <a:r>
              <a:rPr lang="en-GB" dirty="0"/>
              <a:t> within the cells of the reticuloendothelial system and are </a:t>
            </a:r>
            <a:r>
              <a:rPr lang="en-GB" u="sng" dirty="0"/>
              <a:t>unaffected by the proteolytic enzymes of the bloodstream</a:t>
            </a:r>
            <a:r>
              <a:rPr lang="en-GB" dirty="0"/>
              <a:t>.</a:t>
            </a:r>
            <a:endParaRPr lang="en-US" dirty="0"/>
          </a:p>
          <a:p>
            <a:pPr marL="0" indent="0">
              <a:buNone/>
            </a:pPr>
            <a:endParaRPr lang="en-US" dirty="0"/>
          </a:p>
        </p:txBody>
      </p:sp>
    </p:spTree>
    <p:extLst>
      <p:ext uri="{BB962C8B-B14F-4D97-AF65-F5344CB8AC3E}">
        <p14:creationId xmlns:p14="http://schemas.microsoft.com/office/powerpoint/2010/main" val="2133932306"/>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5" name="Title 1"/>
          <p:cNvSpPr>
            <a:spLocks noGrp="1"/>
          </p:cNvSpPr>
          <p:nvPr>
            <p:ph type="title"/>
          </p:nvPr>
        </p:nvSpPr>
        <p:spPr/>
        <p:txBody>
          <a:bodyPr>
            <a:normAutofit/>
          </a:bodyPr>
          <a:lstStyle/>
          <a:p>
            <a:r>
              <a:rPr lang="en-US" b="1" dirty="0">
                <a:solidFill>
                  <a:srgbClr val="FF0000"/>
                </a:solidFill>
              </a:rPr>
              <a:t>The Disease </a:t>
            </a:r>
            <a:r>
              <a:rPr lang="en-US" b="1" dirty="0" err="1">
                <a:solidFill>
                  <a:srgbClr val="FF0000"/>
                </a:solidFill>
              </a:rPr>
              <a:t>Leishmaniasis</a:t>
            </a:r>
            <a:r>
              <a:rPr lang="en-US" b="1" dirty="0">
                <a:solidFill>
                  <a:srgbClr val="FF0000"/>
                </a:solidFill>
              </a:rPr>
              <a:t> </a:t>
            </a:r>
            <a:r>
              <a:rPr lang="en-US" b="1" dirty="0"/>
              <a:t>cont’d</a:t>
            </a:r>
            <a:endParaRPr lang="en-US" dirty="0"/>
          </a:p>
        </p:txBody>
      </p:sp>
      <p:sp>
        <p:nvSpPr>
          <p:cNvPr id="1048646" name="Content Placeholder 2"/>
          <p:cNvSpPr>
            <a:spLocks noGrp="1"/>
          </p:cNvSpPr>
          <p:nvPr>
            <p:ph idx="1"/>
          </p:nvPr>
        </p:nvSpPr>
        <p:spPr/>
        <p:txBody>
          <a:bodyPr/>
          <a:lstStyle/>
          <a:p>
            <a:pPr lvl="0">
              <a:buFont typeface="Wingdings" pitchFamily="2" charset="2"/>
              <a:buChar char="v"/>
            </a:pPr>
            <a:r>
              <a:rPr lang="en-GB" dirty="0">
                <a:solidFill>
                  <a:srgbClr val="00B050"/>
                </a:solidFill>
              </a:rPr>
              <a:t>In humans</a:t>
            </a:r>
            <a:r>
              <a:rPr lang="en-GB" dirty="0"/>
              <a:t>, </a:t>
            </a:r>
            <a:r>
              <a:rPr lang="en-GB" u="sng" dirty="0"/>
              <a:t>all clinical and geographical strains of the disease share a common histological feature</a:t>
            </a:r>
            <a:r>
              <a:rPr lang="en-GB" dirty="0"/>
              <a:t>,</a:t>
            </a:r>
          </a:p>
          <a:p>
            <a:pPr lvl="0">
              <a:buFont typeface="Wingdings" pitchFamily="2" charset="2"/>
              <a:buChar char="v"/>
            </a:pPr>
            <a:r>
              <a:rPr lang="en-GB" dirty="0"/>
              <a:t>i.e. the early </a:t>
            </a:r>
            <a:r>
              <a:rPr lang="en-GB" dirty="0">
                <a:solidFill>
                  <a:srgbClr val="C00000"/>
                </a:solidFill>
              </a:rPr>
              <a:t>accumulation of mononuclear phagocytic cells </a:t>
            </a:r>
            <a:r>
              <a:rPr lang="en-GB" dirty="0"/>
              <a:t>(or </a:t>
            </a:r>
            <a:r>
              <a:rPr lang="en-GB" dirty="0">
                <a:solidFill>
                  <a:srgbClr val="C00000"/>
                </a:solidFill>
              </a:rPr>
              <a:t>hypoplasia</a:t>
            </a:r>
            <a:r>
              <a:rPr lang="en-GB" dirty="0"/>
              <a:t>) in the tissue invaded.</a:t>
            </a:r>
            <a:endParaRPr lang="en-US" dirty="0"/>
          </a:p>
          <a:p>
            <a:endParaRPr lang="en-US" dirty="0"/>
          </a:p>
        </p:txBody>
      </p:sp>
    </p:spTree>
    <p:extLst>
      <p:ext uri="{BB962C8B-B14F-4D97-AF65-F5344CB8AC3E}">
        <p14:creationId xmlns:p14="http://schemas.microsoft.com/office/powerpoint/2010/main" val="1211996691"/>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7" name="Title 1"/>
          <p:cNvSpPr>
            <a:spLocks noGrp="1"/>
          </p:cNvSpPr>
          <p:nvPr>
            <p:ph type="title"/>
          </p:nvPr>
        </p:nvSpPr>
        <p:spPr/>
        <p:txBody>
          <a:bodyPr>
            <a:normAutofit fontScale="90000"/>
          </a:bodyPr>
          <a:lstStyle/>
          <a:p>
            <a:br>
              <a:rPr lang="en-GB" b="1" dirty="0"/>
            </a:br>
            <a:r>
              <a:rPr lang="en-GB" b="1" dirty="0">
                <a:solidFill>
                  <a:srgbClr val="00B0F0"/>
                </a:solidFill>
              </a:rPr>
              <a:t>Transmission</a:t>
            </a:r>
            <a:br>
              <a:rPr lang="en-US" dirty="0"/>
            </a:br>
            <a:endParaRPr lang="en-US" dirty="0"/>
          </a:p>
        </p:txBody>
      </p:sp>
      <p:sp>
        <p:nvSpPr>
          <p:cNvPr id="1048648" name="Content Placeholder 2"/>
          <p:cNvSpPr>
            <a:spLocks noGrp="1"/>
          </p:cNvSpPr>
          <p:nvPr>
            <p:ph idx="1"/>
          </p:nvPr>
        </p:nvSpPr>
        <p:spPr/>
        <p:txBody>
          <a:bodyPr>
            <a:normAutofit/>
          </a:bodyPr>
          <a:lstStyle/>
          <a:p>
            <a:pPr lvl="0">
              <a:buFont typeface="Wingdings" pitchFamily="2" charset="2"/>
              <a:buChar char="v"/>
            </a:pPr>
            <a:r>
              <a:rPr lang="en-GB" dirty="0"/>
              <a:t>This is by the </a:t>
            </a:r>
            <a:r>
              <a:rPr lang="en-GB" dirty="0">
                <a:solidFill>
                  <a:srgbClr val="00B0F0"/>
                </a:solidFill>
              </a:rPr>
              <a:t>bite of the </a:t>
            </a:r>
            <a:r>
              <a:rPr lang="en-GB" dirty="0">
                <a:solidFill>
                  <a:schemeClr val="accent6">
                    <a:lumMod val="75000"/>
                  </a:schemeClr>
                </a:solidFill>
              </a:rPr>
              <a:t>female sandflies </a:t>
            </a:r>
            <a:r>
              <a:rPr lang="en-GB" dirty="0"/>
              <a:t>of the genus </a:t>
            </a:r>
            <a:r>
              <a:rPr lang="en-GB" b="1" i="1" dirty="0">
                <a:solidFill>
                  <a:schemeClr val="accent6">
                    <a:lumMod val="75000"/>
                  </a:schemeClr>
                </a:solidFill>
              </a:rPr>
              <a:t>Phlebotomus</a:t>
            </a:r>
            <a:r>
              <a:rPr lang="en-GB" dirty="0"/>
              <a:t> (Subfamily, </a:t>
            </a:r>
            <a:r>
              <a:rPr lang="en-GB" dirty="0">
                <a:solidFill>
                  <a:schemeClr val="accent6">
                    <a:lumMod val="75000"/>
                  </a:schemeClr>
                </a:solidFill>
              </a:rPr>
              <a:t>Phlebotominae</a:t>
            </a:r>
            <a:r>
              <a:rPr lang="en-GB" dirty="0"/>
              <a:t> containing about 600 species and subspecies, 70 of which are vectors of the disease).</a:t>
            </a:r>
          </a:p>
          <a:p>
            <a:pPr lvl="0">
              <a:buFont typeface="Wingdings" pitchFamily="2" charset="2"/>
              <a:buChar char="v"/>
            </a:pPr>
            <a:r>
              <a:rPr lang="en-GB" dirty="0"/>
              <a:t> </a:t>
            </a:r>
            <a:r>
              <a:rPr lang="en-GB" i="1" dirty="0">
                <a:solidFill>
                  <a:srgbClr val="FF0000"/>
                </a:solidFill>
              </a:rPr>
              <a:t>L. donovani </a:t>
            </a:r>
            <a:r>
              <a:rPr lang="en-GB" dirty="0"/>
              <a:t>can also be transmitted </a:t>
            </a:r>
            <a:r>
              <a:rPr lang="en-GB" dirty="0">
                <a:solidFill>
                  <a:srgbClr val="00B0F0"/>
                </a:solidFill>
              </a:rPr>
              <a:t>congenitally</a:t>
            </a:r>
            <a:r>
              <a:rPr lang="en-GB" dirty="0"/>
              <a:t>, by </a:t>
            </a:r>
            <a:r>
              <a:rPr lang="en-GB" dirty="0">
                <a:solidFill>
                  <a:srgbClr val="00B0F0"/>
                </a:solidFill>
              </a:rPr>
              <a:t>sexual contact</a:t>
            </a:r>
            <a:r>
              <a:rPr lang="en-GB" dirty="0"/>
              <a:t>, and </a:t>
            </a:r>
            <a:r>
              <a:rPr lang="en-GB" dirty="0">
                <a:solidFill>
                  <a:srgbClr val="00B0F0"/>
                </a:solidFill>
              </a:rPr>
              <a:t>by blood transfusion.</a:t>
            </a:r>
            <a:endParaRPr lang="en-US" dirty="0">
              <a:solidFill>
                <a:srgbClr val="00B0F0"/>
              </a:solidFill>
            </a:endParaRPr>
          </a:p>
        </p:txBody>
      </p:sp>
    </p:spTree>
    <p:extLst>
      <p:ext uri="{BB962C8B-B14F-4D97-AF65-F5344CB8AC3E}">
        <p14:creationId xmlns:p14="http://schemas.microsoft.com/office/powerpoint/2010/main" val="6970008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9" name="Title 1"/>
          <p:cNvSpPr>
            <a:spLocks noGrp="1"/>
          </p:cNvSpPr>
          <p:nvPr>
            <p:ph type="title"/>
          </p:nvPr>
        </p:nvSpPr>
        <p:spPr/>
        <p:txBody>
          <a:bodyPr>
            <a:normAutofit fontScale="90000"/>
          </a:bodyPr>
          <a:lstStyle/>
          <a:p>
            <a:br>
              <a:rPr lang="en-GB" b="1" dirty="0"/>
            </a:br>
            <a:r>
              <a:rPr lang="en-GB" b="1" dirty="0">
                <a:solidFill>
                  <a:srgbClr val="00B0F0"/>
                </a:solidFill>
              </a:rPr>
              <a:t>Transmission</a:t>
            </a:r>
            <a:r>
              <a:rPr lang="en-GB" b="1" dirty="0"/>
              <a:t> cont’d</a:t>
            </a:r>
            <a:br>
              <a:rPr lang="en-US" dirty="0"/>
            </a:br>
            <a:endParaRPr lang="en-US" dirty="0"/>
          </a:p>
        </p:txBody>
      </p:sp>
      <p:sp>
        <p:nvSpPr>
          <p:cNvPr id="1048650" name="Content Placeholder 2"/>
          <p:cNvSpPr>
            <a:spLocks noGrp="1"/>
          </p:cNvSpPr>
          <p:nvPr>
            <p:ph idx="1"/>
          </p:nvPr>
        </p:nvSpPr>
        <p:spPr/>
        <p:txBody>
          <a:bodyPr/>
          <a:lstStyle/>
          <a:p>
            <a:pPr lvl="0">
              <a:buFont typeface="Wingdings" pitchFamily="2" charset="2"/>
              <a:buChar char="v"/>
            </a:pPr>
            <a:r>
              <a:rPr lang="en-GB" dirty="0"/>
              <a:t>Infection may occasionally occur by </a:t>
            </a:r>
            <a:r>
              <a:rPr lang="en-GB" dirty="0">
                <a:solidFill>
                  <a:srgbClr val="00B0F0"/>
                </a:solidFill>
              </a:rPr>
              <a:t>accidental inhalation of infected flies </a:t>
            </a:r>
            <a:r>
              <a:rPr lang="en-GB" dirty="0"/>
              <a:t>or </a:t>
            </a:r>
            <a:r>
              <a:rPr lang="en-GB" dirty="0">
                <a:solidFill>
                  <a:srgbClr val="00B0F0"/>
                </a:solidFill>
              </a:rPr>
              <a:t>squashing of same on the skin </a:t>
            </a:r>
            <a:r>
              <a:rPr lang="en-GB" dirty="0"/>
              <a:t>(WHO, 1984).</a:t>
            </a:r>
            <a:endParaRPr lang="en-US" dirty="0"/>
          </a:p>
          <a:p>
            <a:pPr lvl="0">
              <a:buFont typeface="Wingdings" pitchFamily="2" charset="2"/>
              <a:buChar char="v"/>
            </a:pPr>
            <a:r>
              <a:rPr lang="en-GB" dirty="0"/>
              <a:t>Within the gut of the vector, </a:t>
            </a:r>
            <a:r>
              <a:rPr lang="en-GB" u="sng" dirty="0"/>
              <a:t>transformation into the highly active, elongated </a:t>
            </a:r>
            <a:r>
              <a:rPr lang="en-GB" dirty="0">
                <a:solidFill>
                  <a:schemeClr val="accent6">
                    <a:lumMod val="75000"/>
                  </a:schemeClr>
                </a:solidFill>
              </a:rPr>
              <a:t>promastigote</a:t>
            </a:r>
            <a:r>
              <a:rPr lang="en-GB" dirty="0"/>
              <a:t> </a:t>
            </a:r>
            <a:r>
              <a:rPr lang="en-GB" dirty="0">
                <a:solidFill>
                  <a:schemeClr val="accent6">
                    <a:lumMod val="75000"/>
                  </a:schemeClr>
                </a:solidFill>
              </a:rPr>
              <a:t>forms</a:t>
            </a:r>
            <a:r>
              <a:rPr lang="en-GB" dirty="0"/>
              <a:t> </a:t>
            </a:r>
            <a:r>
              <a:rPr lang="en-GB" u="sng" dirty="0"/>
              <a:t>commences about 24-36 hours after the infective feed</a:t>
            </a:r>
            <a:r>
              <a:rPr lang="en-GB" dirty="0"/>
              <a:t>.</a:t>
            </a:r>
            <a:endParaRPr lang="en-US" dirty="0"/>
          </a:p>
          <a:p>
            <a:pPr marL="0" indent="0">
              <a:buNone/>
            </a:pPr>
            <a:endParaRPr lang="en-US" dirty="0"/>
          </a:p>
        </p:txBody>
      </p:sp>
    </p:spTree>
    <p:extLst>
      <p:ext uri="{BB962C8B-B14F-4D97-AF65-F5344CB8AC3E}">
        <p14:creationId xmlns:p14="http://schemas.microsoft.com/office/powerpoint/2010/main" val="2284420758"/>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1" name="Title 1"/>
          <p:cNvSpPr>
            <a:spLocks noGrp="1"/>
          </p:cNvSpPr>
          <p:nvPr>
            <p:ph type="title"/>
          </p:nvPr>
        </p:nvSpPr>
        <p:spPr/>
        <p:txBody>
          <a:bodyPr>
            <a:normAutofit fontScale="90000"/>
          </a:bodyPr>
          <a:lstStyle/>
          <a:p>
            <a:br>
              <a:rPr lang="en-GB" b="1" dirty="0"/>
            </a:br>
            <a:r>
              <a:rPr lang="en-GB" b="1" dirty="0">
                <a:solidFill>
                  <a:srgbClr val="00B0F0"/>
                </a:solidFill>
              </a:rPr>
              <a:t>Transmission</a:t>
            </a:r>
            <a:r>
              <a:rPr lang="en-GB" b="1" dirty="0"/>
              <a:t> cont’d</a:t>
            </a:r>
            <a:br>
              <a:rPr lang="en-US" dirty="0"/>
            </a:br>
            <a:endParaRPr lang="en-US" dirty="0"/>
          </a:p>
        </p:txBody>
      </p:sp>
      <p:sp>
        <p:nvSpPr>
          <p:cNvPr id="1048652" name="Content Placeholder 2"/>
          <p:cNvSpPr>
            <a:spLocks noGrp="1"/>
          </p:cNvSpPr>
          <p:nvPr>
            <p:ph idx="1"/>
          </p:nvPr>
        </p:nvSpPr>
        <p:spPr/>
        <p:txBody>
          <a:bodyPr>
            <a:normAutofit lnSpcReduction="10000"/>
          </a:bodyPr>
          <a:lstStyle/>
          <a:p>
            <a:pPr lvl="0">
              <a:buFont typeface="Wingdings" pitchFamily="2" charset="2"/>
              <a:buChar char="v"/>
            </a:pPr>
            <a:r>
              <a:rPr lang="en-GB" u="sng" dirty="0"/>
              <a:t>Rapid multiplication but the speed of development varies with species</a:t>
            </a:r>
            <a:r>
              <a:rPr lang="en-GB" dirty="0"/>
              <a:t>, but generally within 4-18 days.</a:t>
            </a:r>
            <a:endParaRPr lang="en-US" dirty="0"/>
          </a:p>
          <a:p>
            <a:pPr lvl="0">
              <a:buFont typeface="Wingdings" pitchFamily="2" charset="2"/>
              <a:buChar char="v"/>
            </a:pPr>
            <a:r>
              <a:rPr lang="en-GB" dirty="0">
                <a:solidFill>
                  <a:srgbClr val="7030A0"/>
                </a:solidFill>
              </a:rPr>
              <a:t>The pharynx of the vector becomes packed with active flagellates </a:t>
            </a:r>
            <a:r>
              <a:rPr lang="en-GB" dirty="0"/>
              <a:t>and the </a:t>
            </a:r>
            <a:r>
              <a:rPr lang="en-GB" dirty="0">
                <a:solidFill>
                  <a:srgbClr val="7030A0"/>
                </a:solidFill>
              </a:rPr>
              <a:t>proboscis is invaded</a:t>
            </a:r>
            <a:r>
              <a:rPr lang="en-GB" dirty="0"/>
              <a:t>, </a:t>
            </a:r>
            <a:r>
              <a:rPr lang="en-GB" dirty="0">
                <a:solidFill>
                  <a:srgbClr val="FF0000"/>
                </a:solidFill>
              </a:rPr>
              <a:t>at which time the sandfly becomes infective when it next bites a human or another host</a:t>
            </a:r>
            <a:r>
              <a:rPr lang="en-GB" dirty="0"/>
              <a:t>. </a:t>
            </a:r>
            <a:r>
              <a:rPr lang="en-GB" u="sng" dirty="0"/>
              <a:t>The salivary glands are not parasitized</a:t>
            </a:r>
            <a:r>
              <a:rPr lang="en-GB" dirty="0"/>
              <a:t>. </a:t>
            </a:r>
            <a:endParaRPr lang="en-US" dirty="0"/>
          </a:p>
          <a:p>
            <a:endParaRPr lang="en-US" dirty="0"/>
          </a:p>
        </p:txBody>
      </p:sp>
    </p:spTree>
    <p:extLst>
      <p:ext uri="{BB962C8B-B14F-4D97-AF65-F5344CB8AC3E}">
        <p14:creationId xmlns:p14="http://schemas.microsoft.com/office/powerpoint/2010/main" val="208166955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3" name="Title 1"/>
          <p:cNvSpPr>
            <a:spLocks noGrp="1"/>
          </p:cNvSpPr>
          <p:nvPr>
            <p:ph type="title"/>
          </p:nvPr>
        </p:nvSpPr>
        <p:spPr/>
        <p:txBody>
          <a:bodyPr>
            <a:normAutofit fontScale="90000"/>
          </a:bodyPr>
          <a:lstStyle/>
          <a:p>
            <a:br>
              <a:rPr lang="en-GB" b="1" dirty="0"/>
            </a:br>
            <a:r>
              <a:rPr lang="en-GB" b="1" dirty="0">
                <a:solidFill>
                  <a:srgbClr val="00B050"/>
                </a:solidFill>
              </a:rPr>
              <a:t>Reservoir hosts</a:t>
            </a:r>
            <a:br>
              <a:rPr lang="en-US" dirty="0"/>
            </a:br>
            <a:endParaRPr lang="en-US" dirty="0"/>
          </a:p>
        </p:txBody>
      </p:sp>
      <p:sp>
        <p:nvSpPr>
          <p:cNvPr id="1048654" name="Content Placeholder 2"/>
          <p:cNvSpPr>
            <a:spLocks noGrp="1"/>
          </p:cNvSpPr>
          <p:nvPr>
            <p:ph idx="1"/>
          </p:nvPr>
        </p:nvSpPr>
        <p:spPr/>
        <p:txBody>
          <a:bodyPr>
            <a:normAutofit fontScale="87500" lnSpcReduction="10000"/>
          </a:bodyPr>
          <a:lstStyle/>
          <a:p>
            <a:pPr lvl="0">
              <a:buFont typeface="Wingdings" pitchFamily="2" charset="2"/>
              <a:buChar char="v"/>
            </a:pPr>
            <a:r>
              <a:rPr lang="en-GB" dirty="0"/>
              <a:t>The distribution and transmission is complicated by the fact that the disease is a </a:t>
            </a:r>
            <a:r>
              <a:rPr lang="en-GB" dirty="0">
                <a:solidFill>
                  <a:srgbClr val="C00000"/>
                </a:solidFill>
              </a:rPr>
              <a:t>zoonosis</a:t>
            </a:r>
            <a:r>
              <a:rPr lang="en-GB" dirty="0"/>
              <a:t> </a:t>
            </a:r>
            <a:r>
              <a:rPr lang="en-GB" u="sng" dirty="0"/>
              <a:t>and there are a </a:t>
            </a:r>
            <a:r>
              <a:rPr lang="en-GB" u="sng" dirty="0">
                <a:solidFill>
                  <a:srgbClr val="00B050"/>
                </a:solidFill>
              </a:rPr>
              <a:t>wide range of reservoir hosts</a:t>
            </a:r>
            <a:r>
              <a:rPr lang="en-GB" dirty="0"/>
              <a:t>.</a:t>
            </a:r>
            <a:endParaRPr lang="en-US" dirty="0"/>
          </a:p>
          <a:p>
            <a:pPr lvl="0">
              <a:buFont typeface="Wingdings" pitchFamily="2" charset="2"/>
              <a:buChar char="v"/>
            </a:pPr>
            <a:r>
              <a:rPr lang="en-GB" u="sng" dirty="0"/>
              <a:t>The main kinds of </a:t>
            </a:r>
            <a:r>
              <a:rPr lang="en-GB" u="sng" dirty="0">
                <a:solidFill>
                  <a:srgbClr val="FF0000"/>
                </a:solidFill>
              </a:rPr>
              <a:t>leishmaniasis</a:t>
            </a:r>
            <a:r>
              <a:rPr lang="en-GB" u="sng" dirty="0"/>
              <a:t> are generally associated with a particular type of animal reservoir host</a:t>
            </a:r>
            <a:r>
              <a:rPr lang="en-GB" dirty="0"/>
              <a:t>:</a:t>
            </a:r>
          </a:p>
          <a:p>
            <a:pPr lvl="0">
              <a:buFont typeface="Wingdings" pitchFamily="2" charset="2"/>
              <a:buChar char="v"/>
            </a:pPr>
            <a:r>
              <a:rPr lang="en-GB" dirty="0"/>
              <a:t> thus, </a:t>
            </a:r>
            <a:r>
              <a:rPr lang="en-GB" dirty="0">
                <a:solidFill>
                  <a:srgbClr val="FF0000"/>
                </a:solidFill>
              </a:rPr>
              <a:t>visceral leishmaniasis </a:t>
            </a:r>
            <a:r>
              <a:rPr lang="en-GB" dirty="0"/>
              <a:t>is associated with </a:t>
            </a:r>
            <a:r>
              <a:rPr lang="en-GB" dirty="0">
                <a:solidFill>
                  <a:srgbClr val="00B050"/>
                </a:solidFill>
              </a:rPr>
              <a:t>wild canidae </a:t>
            </a:r>
            <a:r>
              <a:rPr lang="en-GB" dirty="0"/>
              <a:t>(</a:t>
            </a:r>
            <a:r>
              <a:rPr lang="en-GB" dirty="0">
                <a:solidFill>
                  <a:srgbClr val="00B050"/>
                </a:solidFill>
              </a:rPr>
              <a:t>jackals</a:t>
            </a:r>
            <a:r>
              <a:rPr lang="en-GB" dirty="0"/>
              <a:t> and </a:t>
            </a:r>
            <a:r>
              <a:rPr lang="en-GB" dirty="0">
                <a:solidFill>
                  <a:srgbClr val="00B050"/>
                </a:solidFill>
              </a:rPr>
              <a:t>dogs</a:t>
            </a:r>
            <a:r>
              <a:rPr lang="en-GB" dirty="0"/>
              <a:t>); </a:t>
            </a:r>
          </a:p>
          <a:p>
            <a:pPr lvl="0">
              <a:buFont typeface="Wingdings" pitchFamily="2" charset="2"/>
              <a:buChar char="v"/>
            </a:pPr>
            <a:r>
              <a:rPr lang="en-GB" dirty="0"/>
              <a:t>the other types are associated with </a:t>
            </a:r>
            <a:r>
              <a:rPr lang="en-GB" dirty="0">
                <a:solidFill>
                  <a:srgbClr val="00B050"/>
                </a:solidFill>
              </a:rPr>
              <a:t>wild rodents </a:t>
            </a:r>
            <a:r>
              <a:rPr lang="en-GB" dirty="0"/>
              <a:t>and again, </a:t>
            </a:r>
            <a:r>
              <a:rPr lang="en-GB" dirty="0">
                <a:solidFill>
                  <a:srgbClr val="00B050"/>
                </a:solidFill>
              </a:rPr>
              <a:t>dogs</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972951961"/>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5" name="Title 1"/>
          <p:cNvSpPr>
            <a:spLocks noGrp="1"/>
          </p:cNvSpPr>
          <p:nvPr>
            <p:ph type="title"/>
          </p:nvPr>
        </p:nvSpPr>
        <p:spPr/>
        <p:txBody>
          <a:bodyPr>
            <a:normAutofit fontScale="90000"/>
          </a:bodyPr>
          <a:lstStyle/>
          <a:p>
            <a:br>
              <a:rPr lang="en-GB" b="1" dirty="0"/>
            </a:br>
            <a:r>
              <a:rPr lang="en-GB" b="1" dirty="0">
                <a:solidFill>
                  <a:srgbClr val="FF0000"/>
                </a:solidFill>
              </a:rPr>
              <a:t>Pathogenesis in Leishmaniasis</a:t>
            </a:r>
            <a:br>
              <a:rPr lang="en-US" dirty="0"/>
            </a:br>
            <a:endParaRPr lang="en-US" dirty="0"/>
          </a:p>
        </p:txBody>
      </p:sp>
      <p:sp>
        <p:nvSpPr>
          <p:cNvPr id="1048656" name="Content Placeholder 2"/>
          <p:cNvSpPr>
            <a:spLocks noGrp="1"/>
          </p:cNvSpPr>
          <p:nvPr>
            <p:ph idx="1"/>
          </p:nvPr>
        </p:nvSpPr>
        <p:spPr>
          <a:xfrm>
            <a:off x="457200" y="1600200"/>
            <a:ext cx="8229600" cy="5334000"/>
          </a:xfrm>
        </p:spPr>
        <p:txBody>
          <a:bodyPr>
            <a:normAutofit lnSpcReduction="10000"/>
          </a:bodyPr>
          <a:lstStyle/>
          <a:p>
            <a:pPr lvl="0">
              <a:buFont typeface="Wingdings" pitchFamily="2" charset="2"/>
              <a:buChar char="v"/>
            </a:pPr>
            <a:r>
              <a:rPr lang="en-GB" b="1" dirty="0">
                <a:solidFill>
                  <a:srgbClr val="00B0F0"/>
                </a:solidFill>
              </a:rPr>
              <a:t>In</a:t>
            </a:r>
            <a:r>
              <a:rPr lang="en-GB" b="1" dirty="0">
                <a:solidFill>
                  <a:srgbClr val="FF0000"/>
                </a:solidFill>
              </a:rPr>
              <a:t> </a:t>
            </a:r>
            <a:r>
              <a:rPr lang="en-GB" b="1" dirty="0">
                <a:solidFill>
                  <a:srgbClr val="00B0F0"/>
                </a:solidFill>
              </a:rPr>
              <a:t>visceral leishmaniasis</a:t>
            </a:r>
            <a:r>
              <a:rPr lang="en-GB" dirty="0"/>
              <a:t>, this is due to </a:t>
            </a:r>
            <a:r>
              <a:rPr lang="en-GB" u="sng" dirty="0">
                <a:solidFill>
                  <a:srgbClr val="FF0000"/>
                </a:solidFill>
              </a:rPr>
              <a:t>blockage and destruction of the reticuloendothelial system</a:t>
            </a:r>
            <a:r>
              <a:rPr lang="en-GB" dirty="0"/>
              <a:t>,</a:t>
            </a:r>
          </a:p>
          <a:p>
            <a:pPr lvl="0">
              <a:buFont typeface="Wingdings" pitchFamily="2" charset="2"/>
              <a:buChar char="v"/>
            </a:pPr>
            <a:r>
              <a:rPr lang="en-GB" dirty="0"/>
              <a:t> with the </a:t>
            </a:r>
            <a:r>
              <a:rPr lang="en-GB" dirty="0">
                <a:solidFill>
                  <a:srgbClr val="FF0000"/>
                </a:solidFill>
              </a:rPr>
              <a:t>most marked effect being manifested in the spleen, liver, lymph glands, bone marrow and intestines.</a:t>
            </a:r>
            <a:endParaRPr lang="en-US" dirty="0">
              <a:solidFill>
                <a:srgbClr val="FF0000"/>
              </a:solidFill>
            </a:endParaRPr>
          </a:p>
          <a:p>
            <a:pPr lvl="0">
              <a:buFont typeface="Wingdings" pitchFamily="2" charset="2"/>
              <a:buChar char="v"/>
            </a:pPr>
            <a:r>
              <a:rPr lang="en-GB" dirty="0"/>
              <a:t>The </a:t>
            </a:r>
            <a:r>
              <a:rPr lang="en-GB" dirty="0">
                <a:solidFill>
                  <a:srgbClr val="FF0000"/>
                </a:solidFill>
              </a:rPr>
              <a:t>spleen is grossly enlarged </a:t>
            </a:r>
            <a:r>
              <a:rPr lang="en-GB" dirty="0"/>
              <a:t>and </a:t>
            </a:r>
          </a:p>
          <a:p>
            <a:pPr lvl="0">
              <a:buFont typeface="Wingdings" pitchFamily="2" charset="2"/>
              <a:buChar char="v"/>
            </a:pPr>
            <a:r>
              <a:rPr lang="en-GB" u="sng" dirty="0"/>
              <a:t>its cells packed with amastigotes</a:t>
            </a:r>
            <a:r>
              <a:rPr lang="en-GB" dirty="0"/>
              <a:t>; </a:t>
            </a:r>
          </a:p>
          <a:p>
            <a:pPr lvl="0">
              <a:buFont typeface="Wingdings" pitchFamily="2" charset="2"/>
              <a:buChar char="v"/>
            </a:pPr>
            <a:r>
              <a:rPr lang="en-GB" dirty="0"/>
              <a:t>the </a:t>
            </a:r>
            <a:r>
              <a:rPr lang="en-GB" dirty="0">
                <a:solidFill>
                  <a:srgbClr val="FF0000"/>
                </a:solidFill>
              </a:rPr>
              <a:t>splenic pulp is greatly increased in amount and friability with many infarcts</a:t>
            </a:r>
            <a:r>
              <a:rPr lang="en-GB" dirty="0"/>
              <a:t>.</a:t>
            </a:r>
            <a:endParaRPr lang="en-US" dirty="0"/>
          </a:p>
          <a:p>
            <a:endParaRPr lang="en-US" dirty="0"/>
          </a:p>
        </p:txBody>
      </p:sp>
    </p:spTree>
    <p:extLst>
      <p:ext uri="{BB962C8B-B14F-4D97-AF65-F5344CB8AC3E}">
        <p14:creationId xmlns:p14="http://schemas.microsoft.com/office/powerpoint/2010/main" val="306708901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7" name="Title 1"/>
          <p:cNvSpPr>
            <a:spLocks noGrp="1"/>
          </p:cNvSpPr>
          <p:nvPr>
            <p:ph type="title"/>
          </p:nvPr>
        </p:nvSpPr>
        <p:spPr>
          <a:xfrm>
            <a:off x="457200" y="274638"/>
            <a:ext cx="8229600" cy="944562"/>
          </a:xfrm>
        </p:spPr>
        <p:txBody>
          <a:bodyPr>
            <a:normAutofit fontScale="90000"/>
          </a:bodyPr>
          <a:lstStyle/>
          <a:p>
            <a:br>
              <a:rPr lang="en-GB" b="1" dirty="0"/>
            </a:br>
            <a:r>
              <a:rPr lang="en-GB" b="1" dirty="0">
                <a:solidFill>
                  <a:srgbClr val="FF0000"/>
                </a:solidFill>
              </a:rPr>
              <a:t>Pathogenesis in </a:t>
            </a:r>
            <a:r>
              <a:rPr lang="en-GB" b="1" dirty="0" err="1">
                <a:solidFill>
                  <a:srgbClr val="FF0000"/>
                </a:solidFill>
              </a:rPr>
              <a:t>Leishmaniasis</a:t>
            </a:r>
            <a:r>
              <a:rPr lang="en-GB" b="1" dirty="0">
                <a:solidFill>
                  <a:srgbClr val="FF0000"/>
                </a:solidFill>
              </a:rPr>
              <a:t> </a:t>
            </a:r>
            <a:r>
              <a:rPr lang="en-GB" b="1" dirty="0"/>
              <a:t>cont’d</a:t>
            </a:r>
            <a:br>
              <a:rPr lang="en-US" dirty="0"/>
            </a:br>
            <a:endParaRPr lang="en-US" dirty="0"/>
          </a:p>
        </p:txBody>
      </p:sp>
      <p:sp>
        <p:nvSpPr>
          <p:cNvPr id="1048658" name="Content Placeholder 2"/>
          <p:cNvSpPr>
            <a:spLocks noGrp="1"/>
          </p:cNvSpPr>
          <p:nvPr>
            <p:ph idx="1"/>
          </p:nvPr>
        </p:nvSpPr>
        <p:spPr>
          <a:xfrm>
            <a:off x="457200" y="1295400"/>
            <a:ext cx="8229600" cy="5410200"/>
          </a:xfrm>
        </p:spPr>
        <p:txBody>
          <a:bodyPr>
            <a:normAutofit fontScale="96875" lnSpcReduction="10000"/>
          </a:bodyPr>
          <a:lstStyle/>
          <a:p>
            <a:pPr lvl="0">
              <a:buFont typeface="Wingdings" pitchFamily="2" charset="2"/>
              <a:buChar char="v"/>
            </a:pPr>
            <a:r>
              <a:rPr lang="en-GB" dirty="0"/>
              <a:t>The </a:t>
            </a:r>
            <a:r>
              <a:rPr lang="en-GB" dirty="0">
                <a:solidFill>
                  <a:srgbClr val="FF0000"/>
                </a:solidFill>
              </a:rPr>
              <a:t>liver is usually enlarged </a:t>
            </a:r>
            <a:r>
              <a:rPr lang="en-GB" dirty="0"/>
              <a:t>and appears mottled brownish, </a:t>
            </a:r>
          </a:p>
          <a:p>
            <a:pPr lvl="0">
              <a:buFont typeface="Wingdings" pitchFamily="2" charset="2"/>
              <a:buChar char="v"/>
            </a:pPr>
            <a:r>
              <a:rPr lang="en-GB" dirty="0"/>
              <a:t>with </a:t>
            </a:r>
            <a:r>
              <a:rPr lang="en-GB" dirty="0">
                <a:solidFill>
                  <a:srgbClr val="FF0000"/>
                </a:solidFill>
              </a:rPr>
              <a:t>fibrosis and cirrhosis </a:t>
            </a:r>
            <a:r>
              <a:rPr lang="en-GB" dirty="0"/>
              <a:t>in untreated cases, and </a:t>
            </a:r>
          </a:p>
          <a:p>
            <a:pPr lvl="0">
              <a:buFont typeface="Wingdings" pitchFamily="2" charset="2"/>
              <a:buChar char="v"/>
            </a:pPr>
            <a:r>
              <a:rPr lang="en-GB" u="sng" dirty="0"/>
              <a:t>many parasites in the Kupffer cells.</a:t>
            </a:r>
            <a:endParaRPr lang="en-US" u="sng" dirty="0"/>
          </a:p>
          <a:p>
            <a:pPr lvl="0">
              <a:buFont typeface="Wingdings" pitchFamily="2" charset="2"/>
              <a:buChar char="v"/>
            </a:pPr>
            <a:r>
              <a:rPr lang="en-GB" dirty="0"/>
              <a:t>The </a:t>
            </a:r>
            <a:r>
              <a:rPr lang="en-GB" u="sng" dirty="0"/>
              <a:t>bone marrow appears a dark reddish colour </a:t>
            </a:r>
            <a:r>
              <a:rPr lang="en-GB" dirty="0"/>
              <a:t>and </a:t>
            </a:r>
            <a:r>
              <a:rPr lang="en-GB" dirty="0">
                <a:solidFill>
                  <a:srgbClr val="FF0000"/>
                </a:solidFill>
              </a:rPr>
              <a:t>blood production greatly depressed</a:t>
            </a:r>
            <a:r>
              <a:rPr lang="en-GB" dirty="0"/>
              <a:t>; the patient becomes </a:t>
            </a:r>
            <a:r>
              <a:rPr lang="en-GB" dirty="0">
                <a:solidFill>
                  <a:srgbClr val="FF0000"/>
                </a:solidFill>
              </a:rPr>
              <a:t>anaemic</a:t>
            </a:r>
            <a:r>
              <a:rPr lang="en-GB" dirty="0"/>
              <a:t>, </a:t>
            </a:r>
            <a:r>
              <a:rPr lang="en-GB" dirty="0">
                <a:solidFill>
                  <a:srgbClr val="FF0000"/>
                </a:solidFill>
              </a:rPr>
              <a:t>leucopenic</a:t>
            </a:r>
            <a:r>
              <a:rPr lang="en-GB" dirty="0"/>
              <a:t> and </a:t>
            </a:r>
            <a:r>
              <a:rPr lang="en-GB" dirty="0">
                <a:solidFill>
                  <a:srgbClr val="FF0000"/>
                </a:solidFill>
              </a:rPr>
              <a:t>thrombocytopenic</a:t>
            </a:r>
            <a:r>
              <a:rPr lang="en-GB" dirty="0"/>
              <a:t>,</a:t>
            </a:r>
          </a:p>
          <a:p>
            <a:pPr lvl="0">
              <a:buFont typeface="Wingdings" pitchFamily="2" charset="2"/>
              <a:buChar char="v"/>
            </a:pPr>
            <a:r>
              <a:rPr lang="en-GB" dirty="0"/>
              <a:t> and with </a:t>
            </a:r>
            <a:r>
              <a:rPr lang="en-GB" u="sng" dirty="0"/>
              <a:t>amastigotes present in the macrophages</a:t>
            </a:r>
            <a:r>
              <a:rPr lang="en-GB" dirty="0"/>
              <a:t>.</a:t>
            </a:r>
            <a:endParaRPr lang="en-US" dirty="0"/>
          </a:p>
          <a:p>
            <a:endParaRPr lang="en-US" dirty="0"/>
          </a:p>
        </p:txBody>
      </p:sp>
    </p:spTree>
    <p:extLst>
      <p:ext uri="{BB962C8B-B14F-4D97-AF65-F5344CB8AC3E}">
        <p14:creationId xmlns:p14="http://schemas.microsoft.com/office/powerpoint/2010/main" val="2059584762"/>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9" name="Title 1"/>
          <p:cNvSpPr>
            <a:spLocks noGrp="1"/>
          </p:cNvSpPr>
          <p:nvPr>
            <p:ph type="title"/>
          </p:nvPr>
        </p:nvSpPr>
        <p:spPr/>
        <p:txBody>
          <a:bodyPr>
            <a:normAutofit fontScale="90000"/>
          </a:bodyPr>
          <a:lstStyle/>
          <a:p>
            <a:br>
              <a:rPr lang="en-GB" b="1" dirty="0"/>
            </a:br>
            <a:r>
              <a:rPr lang="en-GB" b="1" dirty="0">
                <a:solidFill>
                  <a:srgbClr val="FF0000"/>
                </a:solidFill>
              </a:rPr>
              <a:t>Pathogenesis in </a:t>
            </a:r>
            <a:r>
              <a:rPr lang="en-GB" b="1" dirty="0" err="1">
                <a:solidFill>
                  <a:srgbClr val="FF0000"/>
                </a:solidFill>
              </a:rPr>
              <a:t>Leishmaniasis</a:t>
            </a:r>
            <a:r>
              <a:rPr lang="en-GB" b="1" dirty="0"/>
              <a:t> cont’d</a:t>
            </a:r>
            <a:br>
              <a:rPr lang="en-US" dirty="0"/>
            </a:br>
            <a:endParaRPr lang="en-US" dirty="0"/>
          </a:p>
        </p:txBody>
      </p:sp>
      <p:sp>
        <p:nvSpPr>
          <p:cNvPr id="1048660" name="Content Placeholder 2"/>
          <p:cNvSpPr>
            <a:spLocks noGrp="1"/>
          </p:cNvSpPr>
          <p:nvPr>
            <p:ph idx="1"/>
          </p:nvPr>
        </p:nvSpPr>
        <p:spPr/>
        <p:txBody>
          <a:bodyPr>
            <a:normAutofit fontScale="96875" lnSpcReduction="10000"/>
          </a:bodyPr>
          <a:lstStyle/>
          <a:p>
            <a:pPr lvl="0">
              <a:buFont typeface="Wingdings" pitchFamily="2" charset="2"/>
              <a:buChar char="v"/>
            </a:pPr>
            <a:r>
              <a:rPr lang="en-GB" dirty="0">
                <a:solidFill>
                  <a:srgbClr val="FF0000"/>
                </a:solidFill>
              </a:rPr>
              <a:t>Lymph glands are usually enlarged </a:t>
            </a:r>
            <a:r>
              <a:rPr lang="en-GB" dirty="0"/>
              <a:t>especially those of the mesenteries.</a:t>
            </a:r>
            <a:endParaRPr lang="en-US" dirty="0"/>
          </a:p>
          <a:p>
            <a:pPr lvl="0">
              <a:buFont typeface="Wingdings" pitchFamily="2" charset="2"/>
              <a:buChar char="v"/>
            </a:pPr>
            <a:r>
              <a:rPr lang="en-GB" dirty="0"/>
              <a:t>In the active disease, there is </a:t>
            </a:r>
            <a:r>
              <a:rPr lang="en-GB" dirty="0">
                <a:solidFill>
                  <a:srgbClr val="FF0000"/>
                </a:solidFill>
              </a:rPr>
              <a:t>lack of a cell mediated immune response to parasite antigens</a:t>
            </a:r>
            <a:r>
              <a:rPr lang="en-GB" dirty="0"/>
              <a:t>.</a:t>
            </a:r>
            <a:endParaRPr lang="en-US" dirty="0"/>
          </a:p>
          <a:p>
            <a:pPr lvl="0">
              <a:buFont typeface="Wingdings" pitchFamily="2" charset="2"/>
              <a:buChar char="v"/>
            </a:pPr>
            <a:r>
              <a:rPr lang="en-GB" u="sng" dirty="0"/>
              <a:t>Without treatment, visceral leishmaniasis is usually fatal after six months to a number of years</a:t>
            </a:r>
            <a:r>
              <a:rPr lang="en-GB" dirty="0"/>
              <a:t>; the </a:t>
            </a:r>
            <a:r>
              <a:rPr lang="en-GB" dirty="0">
                <a:solidFill>
                  <a:srgbClr val="FF0000"/>
                </a:solidFill>
              </a:rPr>
              <a:t>patient becomes thin, wasted and exhausted</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55320178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1" name="Title 1"/>
          <p:cNvSpPr>
            <a:spLocks noGrp="1"/>
          </p:cNvSpPr>
          <p:nvPr>
            <p:ph type="title"/>
          </p:nvPr>
        </p:nvSpPr>
        <p:spPr/>
        <p:txBody>
          <a:bodyPr>
            <a:normAutofit fontScale="90000"/>
          </a:bodyPr>
          <a:lstStyle/>
          <a:p>
            <a:br>
              <a:rPr lang="en-GB" b="1" dirty="0"/>
            </a:br>
            <a:r>
              <a:rPr lang="en-GB" b="1" dirty="0">
                <a:solidFill>
                  <a:srgbClr val="FF0000"/>
                </a:solidFill>
              </a:rPr>
              <a:t>Pathogenesis in </a:t>
            </a:r>
            <a:r>
              <a:rPr lang="en-GB" b="1" dirty="0" err="1">
                <a:solidFill>
                  <a:srgbClr val="FF0000"/>
                </a:solidFill>
              </a:rPr>
              <a:t>Leishmaniasis</a:t>
            </a:r>
            <a:r>
              <a:rPr lang="en-GB" b="1" dirty="0">
                <a:solidFill>
                  <a:srgbClr val="FF0000"/>
                </a:solidFill>
              </a:rPr>
              <a:t> </a:t>
            </a:r>
            <a:r>
              <a:rPr lang="en-GB" b="1" dirty="0"/>
              <a:t>cont’d</a:t>
            </a:r>
            <a:br>
              <a:rPr lang="en-US" dirty="0"/>
            </a:br>
            <a:endParaRPr lang="en-US" dirty="0"/>
          </a:p>
        </p:txBody>
      </p:sp>
      <p:sp>
        <p:nvSpPr>
          <p:cNvPr id="1048662" name="Content Placeholder 2"/>
          <p:cNvSpPr>
            <a:spLocks noGrp="1"/>
          </p:cNvSpPr>
          <p:nvPr>
            <p:ph idx="1"/>
          </p:nvPr>
        </p:nvSpPr>
        <p:spPr/>
        <p:txBody>
          <a:bodyPr>
            <a:normAutofit fontScale="93750" lnSpcReduction="10000"/>
          </a:bodyPr>
          <a:lstStyle/>
          <a:p>
            <a:r>
              <a:rPr lang="en-GB" b="1" dirty="0">
                <a:solidFill>
                  <a:srgbClr val="00B0F0"/>
                </a:solidFill>
              </a:rPr>
              <a:t>In</a:t>
            </a:r>
            <a:r>
              <a:rPr lang="en-GB" b="1" dirty="0"/>
              <a:t> </a:t>
            </a:r>
            <a:r>
              <a:rPr lang="en-GB" b="1" dirty="0">
                <a:solidFill>
                  <a:srgbClr val="00B0F0"/>
                </a:solidFill>
              </a:rPr>
              <a:t>cutaneous </a:t>
            </a:r>
            <a:r>
              <a:rPr lang="en-GB" b="1" dirty="0" err="1">
                <a:solidFill>
                  <a:srgbClr val="00B0F0"/>
                </a:solidFill>
              </a:rPr>
              <a:t>leishmaniasis</a:t>
            </a:r>
            <a:r>
              <a:rPr lang="en-GB" b="1" dirty="0">
                <a:solidFill>
                  <a:srgbClr val="00B0F0"/>
                </a:solidFill>
              </a:rPr>
              <a:t> </a:t>
            </a:r>
            <a:r>
              <a:rPr lang="en-GB" dirty="0"/>
              <a:t>(Oriental sore) caused by </a:t>
            </a:r>
            <a:r>
              <a:rPr lang="en-GB" i="1" dirty="0"/>
              <a:t>L.</a:t>
            </a:r>
            <a:r>
              <a:rPr lang="en-GB" dirty="0"/>
              <a:t> </a:t>
            </a:r>
            <a:r>
              <a:rPr lang="en-GB" i="1" dirty="0"/>
              <a:t>tropica</a:t>
            </a:r>
            <a:r>
              <a:rPr lang="en-GB" dirty="0"/>
              <a:t>, the incubation period is usually 2-8 months.</a:t>
            </a:r>
            <a:endParaRPr lang="en-US" dirty="0"/>
          </a:p>
          <a:p>
            <a:r>
              <a:rPr lang="en-GB" u="sng" dirty="0">
                <a:solidFill>
                  <a:srgbClr val="00B050"/>
                </a:solidFill>
              </a:rPr>
              <a:t>The disease is usually self-healing </a:t>
            </a:r>
            <a:r>
              <a:rPr lang="en-GB" dirty="0"/>
              <a:t>after 1-2 years </a:t>
            </a:r>
            <a:r>
              <a:rPr lang="en-GB" dirty="0">
                <a:solidFill>
                  <a:srgbClr val="00B050"/>
                </a:solidFill>
              </a:rPr>
              <a:t>leaving the patient immune to re-infection with the same parasite</a:t>
            </a:r>
            <a:r>
              <a:rPr lang="en-GB" dirty="0"/>
              <a:t>.</a:t>
            </a:r>
            <a:endParaRPr lang="en-US" dirty="0"/>
          </a:p>
          <a:p>
            <a:r>
              <a:rPr lang="en-GB" b="1" dirty="0"/>
              <a:t>In </a:t>
            </a:r>
            <a:r>
              <a:rPr lang="en-GB" b="1" dirty="0">
                <a:solidFill>
                  <a:srgbClr val="00B0F0"/>
                </a:solidFill>
              </a:rPr>
              <a:t>mucocutaneous leishmaniasis</a:t>
            </a:r>
            <a:r>
              <a:rPr lang="en-GB" dirty="0"/>
              <a:t>, </a:t>
            </a:r>
          </a:p>
          <a:p>
            <a:r>
              <a:rPr lang="en-GB" u="sng" dirty="0"/>
              <a:t>the parasites are scanty and difficult to find in smears hence </a:t>
            </a:r>
            <a:r>
              <a:rPr lang="en-GB" dirty="0">
                <a:solidFill>
                  <a:schemeClr val="accent6">
                    <a:lumMod val="75000"/>
                  </a:schemeClr>
                </a:solidFill>
              </a:rPr>
              <a:t>culture of parasites in smears is recommended</a:t>
            </a:r>
            <a:r>
              <a:rPr lang="en-GB" dirty="0"/>
              <a:t>.</a:t>
            </a:r>
            <a:endParaRPr lang="en-US" dirty="0"/>
          </a:p>
          <a:p>
            <a:endParaRPr lang="en-US" dirty="0"/>
          </a:p>
        </p:txBody>
      </p:sp>
    </p:spTree>
    <p:extLst>
      <p:ext uri="{BB962C8B-B14F-4D97-AF65-F5344CB8AC3E}">
        <p14:creationId xmlns:p14="http://schemas.microsoft.com/office/powerpoint/2010/main" val="596635606"/>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3" name="Title 1"/>
          <p:cNvSpPr>
            <a:spLocks noGrp="1"/>
          </p:cNvSpPr>
          <p:nvPr>
            <p:ph type="title"/>
          </p:nvPr>
        </p:nvSpPr>
        <p:spPr/>
        <p:txBody>
          <a:bodyPr>
            <a:normAutofit fontScale="90000"/>
          </a:bodyPr>
          <a:lstStyle/>
          <a:p>
            <a:br>
              <a:rPr lang="en-GB" b="1" dirty="0"/>
            </a:br>
            <a:r>
              <a:rPr lang="en-GB" b="1" dirty="0">
                <a:solidFill>
                  <a:srgbClr val="FF0000"/>
                </a:solidFill>
              </a:rPr>
              <a:t>Pathogenesis in </a:t>
            </a:r>
            <a:r>
              <a:rPr lang="en-GB" b="1" dirty="0" err="1">
                <a:solidFill>
                  <a:srgbClr val="FF0000"/>
                </a:solidFill>
              </a:rPr>
              <a:t>Leishmaniasis</a:t>
            </a:r>
            <a:r>
              <a:rPr lang="en-GB" b="1" dirty="0">
                <a:solidFill>
                  <a:srgbClr val="FF0000"/>
                </a:solidFill>
              </a:rPr>
              <a:t> </a:t>
            </a:r>
            <a:r>
              <a:rPr lang="en-GB" b="1" dirty="0"/>
              <a:t>cont’d</a:t>
            </a:r>
            <a:br>
              <a:rPr lang="en-US" dirty="0"/>
            </a:br>
            <a:endParaRPr lang="en-US" dirty="0"/>
          </a:p>
        </p:txBody>
      </p:sp>
      <p:sp>
        <p:nvSpPr>
          <p:cNvPr id="1048664" name="Content Placeholder 2"/>
          <p:cNvSpPr>
            <a:spLocks noGrp="1"/>
          </p:cNvSpPr>
          <p:nvPr>
            <p:ph idx="1"/>
          </p:nvPr>
        </p:nvSpPr>
        <p:spPr>
          <a:xfrm>
            <a:off x="457200" y="1600200"/>
            <a:ext cx="8229600" cy="5181600"/>
          </a:xfrm>
        </p:spPr>
        <p:txBody>
          <a:bodyPr>
            <a:normAutofit fontScale="86250"/>
          </a:bodyPr>
          <a:lstStyle/>
          <a:p>
            <a:pPr>
              <a:buFont typeface="Wingdings" pitchFamily="2" charset="2"/>
              <a:buChar char="v"/>
            </a:pPr>
            <a:r>
              <a:rPr lang="en-US" dirty="0"/>
              <a:t>Early with the infection </a:t>
            </a:r>
            <a:r>
              <a:rPr lang="en-US" dirty="0">
                <a:solidFill>
                  <a:srgbClr val="0070C0"/>
                </a:solidFill>
              </a:rPr>
              <a:t>L. braziliensis </a:t>
            </a:r>
            <a:r>
              <a:rPr lang="en-US" dirty="0"/>
              <a:t>which causes the </a:t>
            </a:r>
            <a:r>
              <a:rPr lang="en-US" dirty="0">
                <a:solidFill>
                  <a:srgbClr val="FF0000"/>
                </a:solidFill>
              </a:rPr>
              <a:t>most severe and destructive form</a:t>
            </a:r>
            <a:r>
              <a:rPr lang="en-US" dirty="0"/>
              <a:t> of cutaneous leishmaniasis in S. America, </a:t>
            </a:r>
          </a:p>
          <a:p>
            <a:pPr>
              <a:buFont typeface="Wingdings" pitchFamily="2" charset="2"/>
              <a:buChar char="v"/>
            </a:pPr>
            <a:r>
              <a:rPr lang="en-US" u="sng" dirty="0"/>
              <a:t>the parasite may migrate to tissues of the nasopharynx or the palate and sometimes, often many years when the first lesion has healed, there begins a </a:t>
            </a:r>
            <a:r>
              <a:rPr lang="en-US" u="sng" dirty="0">
                <a:solidFill>
                  <a:srgbClr val="FF0000"/>
                </a:solidFill>
              </a:rPr>
              <a:t>slow continuous erosion of these tissues</a:t>
            </a:r>
            <a:r>
              <a:rPr lang="en-US" dirty="0"/>
              <a:t>.</a:t>
            </a:r>
          </a:p>
          <a:p>
            <a:pPr>
              <a:buFont typeface="Wingdings" pitchFamily="2" charset="2"/>
              <a:buChar char="v"/>
            </a:pPr>
            <a:r>
              <a:rPr lang="en-US" dirty="0"/>
              <a:t> Disfiguration is often extreme, with </a:t>
            </a:r>
            <a:r>
              <a:rPr lang="en-US" dirty="0">
                <a:solidFill>
                  <a:srgbClr val="FF0000"/>
                </a:solidFill>
              </a:rPr>
              <a:t>complete destruction of the nasal septum</a:t>
            </a:r>
            <a:r>
              <a:rPr lang="en-US" dirty="0"/>
              <a:t>, </a:t>
            </a:r>
            <a:r>
              <a:rPr lang="en-US" dirty="0">
                <a:solidFill>
                  <a:srgbClr val="FF0000"/>
                </a:solidFill>
              </a:rPr>
              <a:t>perforation of the palate</a:t>
            </a:r>
            <a:r>
              <a:rPr lang="en-US" dirty="0"/>
              <a:t>, and </a:t>
            </a:r>
            <a:r>
              <a:rPr lang="en-US" dirty="0">
                <a:solidFill>
                  <a:srgbClr val="FF0000"/>
                </a:solidFill>
              </a:rPr>
              <a:t>damage to the tissues of the lips and larynx</a:t>
            </a:r>
          </a:p>
        </p:txBody>
      </p:sp>
    </p:spTree>
    <p:extLst>
      <p:ext uri="{BB962C8B-B14F-4D97-AF65-F5344CB8AC3E}">
        <p14:creationId xmlns:p14="http://schemas.microsoft.com/office/powerpoint/2010/main" val="363881355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5" name="Title 1"/>
          <p:cNvSpPr>
            <a:spLocks noGrp="1"/>
          </p:cNvSpPr>
          <p:nvPr>
            <p:ph type="title"/>
          </p:nvPr>
        </p:nvSpPr>
        <p:spPr/>
        <p:txBody>
          <a:bodyPr>
            <a:normAutofit fontScale="90000"/>
          </a:bodyPr>
          <a:lstStyle/>
          <a:p>
            <a:br>
              <a:rPr lang="en-GB" b="1" dirty="0"/>
            </a:br>
            <a:r>
              <a:rPr lang="en-GB" b="1" u="sng" dirty="0"/>
              <a:t>Diagnosis</a:t>
            </a:r>
            <a:br>
              <a:rPr lang="en-US" dirty="0"/>
            </a:br>
            <a:endParaRPr lang="en-US" dirty="0"/>
          </a:p>
        </p:txBody>
      </p:sp>
      <p:sp>
        <p:nvSpPr>
          <p:cNvPr id="1048666" name="Content Placeholder 2"/>
          <p:cNvSpPr>
            <a:spLocks noGrp="1"/>
          </p:cNvSpPr>
          <p:nvPr>
            <p:ph idx="1"/>
          </p:nvPr>
        </p:nvSpPr>
        <p:spPr/>
        <p:txBody>
          <a:bodyPr/>
          <a:lstStyle/>
          <a:p>
            <a:pPr lvl="0">
              <a:buFont typeface="Wingdings" pitchFamily="2" charset="2"/>
              <a:buChar char="v"/>
            </a:pPr>
            <a:endParaRPr lang="en-GB" dirty="0"/>
          </a:p>
          <a:p>
            <a:pPr lvl="0">
              <a:buFont typeface="Wingdings" pitchFamily="2" charset="2"/>
              <a:buChar char="v"/>
            </a:pPr>
            <a:r>
              <a:rPr lang="en-GB" dirty="0"/>
              <a:t>By </a:t>
            </a:r>
            <a:r>
              <a:rPr lang="en-GB" dirty="0">
                <a:solidFill>
                  <a:srgbClr val="00B0F0"/>
                </a:solidFill>
              </a:rPr>
              <a:t>finding amastigotes in smears taken from infected lesions</a:t>
            </a:r>
            <a:endParaRPr lang="en-US" dirty="0">
              <a:solidFill>
                <a:srgbClr val="00B0F0"/>
              </a:solidFill>
            </a:endParaRPr>
          </a:p>
          <a:p>
            <a:pPr lvl="0">
              <a:buFont typeface="Wingdings" pitchFamily="2" charset="2"/>
              <a:buChar char="v"/>
            </a:pPr>
            <a:r>
              <a:rPr lang="en-GB" dirty="0">
                <a:solidFill>
                  <a:srgbClr val="00B0F0"/>
                </a:solidFill>
              </a:rPr>
              <a:t>Culture of smears from ulcers and examining for promastigotes</a:t>
            </a:r>
            <a:endParaRPr lang="en-US" dirty="0">
              <a:solidFill>
                <a:srgbClr val="00B0F0"/>
              </a:solidFill>
            </a:endParaRPr>
          </a:p>
          <a:p>
            <a:pPr lvl="0">
              <a:buFont typeface="Wingdings" pitchFamily="2" charset="2"/>
              <a:buChar char="v"/>
            </a:pPr>
            <a:r>
              <a:rPr lang="en-GB" dirty="0">
                <a:solidFill>
                  <a:srgbClr val="00B0F0"/>
                </a:solidFill>
              </a:rPr>
              <a:t>Serological tests involving antigen antibody reactions </a:t>
            </a:r>
            <a:r>
              <a:rPr lang="en-GB" dirty="0"/>
              <a:t>e.g. Montenegro reaction</a:t>
            </a:r>
            <a:endParaRPr lang="en-US" dirty="0"/>
          </a:p>
          <a:p>
            <a:pPr marL="0" indent="0">
              <a:buNone/>
            </a:pPr>
            <a:endParaRPr lang="en-US" dirty="0"/>
          </a:p>
          <a:p>
            <a:endParaRPr lang="en-US" dirty="0"/>
          </a:p>
        </p:txBody>
      </p:sp>
    </p:spTree>
    <p:extLst>
      <p:ext uri="{BB962C8B-B14F-4D97-AF65-F5344CB8AC3E}">
        <p14:creationId xmlns:p14="http://schemas.microsoft.com/office/powerpoint/2010/main" val="370941393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7" name="Title 1"/>
          <p:cNvSpPr>
            <a:spLocks noGrp="1"/>
          </p:cNvSpPr>
          <p:nvPr>
            <p:ph type="title"/>
          </p:nvPr>
        </p:nvSpPr>
        <p:spPr/>
        <p:txBody>
          <a:bodyPr>
            <a:normAutofit fontScale="90000"/>
          </a:bodyPr>
          <a:lstStyle/>
          <a:p>
            <a:br>
              <a:rPr lang="en-GB" b="1" dirty="0"/>
            </a:br>
            <a:r>
              <a:rPr lang="en-GB" b="1" dirty="0">
                <a:solidFill>
                  <a:srgbClr val="FF33CC"/>
                </a:solidFill>
              </a:rPr>
              <a:t>TRYPANOSOMIASIS</a:t>
            </a:r>
            <a:br>
              <a:rPr lang="en-US" dirty="0"/>
            </a:br>
            <a:endParaRPr lang="en-US" dirty="0"/>
          </a:p>
        </p:txBody>
      </p:sp>
      <p:sp>
        <p:nvSpPr>
          <p:cNvPr id="1048668" name="Content Placeholder 2"/>
          <p:cNvSpPr>
            <a:spLocks noGrp="1"/>
          </p:cNvSpPr>
          <p:nvPr>
            <p:ph idx="1"/>
          </p:nvPr>
        </p:nvSpPr>
        <p:spPr/>
        <p:txBody>
          <a:bodyPr>
            <a:normAutofit fontScale="96875"/>
          </a:bodyPr>
          <a:lstStyle/>
          <a:p>
            <a:pPr>
              <a:buFont typeface="Wingdings" pitchFamily="2" charset="2"/>
              <a:buChar char="v"/>
            </a:pPr>
            <a:r>
              <a:rPr lang="en-GB" dirty="0"/>
              <a:t>These are </a:t>
            </a:r>
            <a:r>
              <a:rPr lang="en-GB" b="1" dirty="0">
                <a:solidFill>
                  <a:srgbClr val="FF33CC"/>
                </a:solidFill>
              </a:rPr>
              <a:t>haemoflagellate parasites </a:t>
            </a:r>
            <a:r>
              <a:rPr lang="en-GB" dirty="0"/>
              <a:t>(i.e. </a:t>
            </a:r>
            <a:r>
              <a:rPr lang="en-GB" i="1" u="sng" dirty="0"/>
              <a:t>actively motile flagellated parasites </a:t>
            </a:r>
            <a:r>
              <a:rPr lang="en-GB" i="1" dirty="0"/>
              <a:t>that live in the </a:t>
            </a:r>
            <a:r>
              <a:rPr lang="en-GB" i="1" dirty="0">
                <a:solidFill>
                  <a:srgbClr val="FF33CC"/>
                </a:solidFill>
              </a:rPr>
              <a:t>blood</a:t>
            </a:r>
            <a:r>
              <a:rPr lang="en-GB" i="1" dirty="0"/>
              <a:t> and </a:t>
            </a:r>
            <a:r>
              <a:rPr lang="en-GB" i="1" dirty="0">
                <a:solidFill>
                  <a:srgbClr val="FF33CC"/>
                </a:solidFill>
              </a:rPr>
              <a:t>lymph</a:t>
            </a:r>
            <a:r>
              <a:rPr lang="en-GB" dirty="0"/>
              <a:t>.</a:t>
            </a:r>
          </a:p>
          <a:p>
            <a:pPr>
              <a:buFont typeface="Wingdings" pitchFamily="2" charset="2"/>
              <a:buChar char="v"/>
            </a:pPr>
            <a:r>
              <a:rPr lang="en-GB" dirty="0"/>
              <a:t> There are different forms of the parasite and the </a:t>
            </a:r>
            <a:r>
              <a:rPr lang="en-GB" u="sng" dirty="0"/>
              <a:t>flagellated form is found in humans</a:t>
            </a:r>
            <a:r>
              <a:rPr lang="en-GB" dirty="0"/>
              <a:t>. </a:t>
            </a:r>
          </a:p>
          <a:p>
            <a:pPr>
              <a:buFont typeface="Wingdings" pitchFamily="2" charset="2"/>
              <a:buChar char="v"/>
            </a:pPr>
            <a:r>
              <a:rPr lang="en-GB" u="sng" dirty="0"/>
              <a:t>The flagellum runs the length of the body along an </a:t>
            </a:r>
            <a:r>
              <a:rPr lang="en-GB" u="sng" dirty="0">
                <a:solidFill>
                  <a:schemeClr val="accent6">
                    <a:lumMod val="75000"/>
                  </a:schemeClr>
                </a:solidFill>
              </a:rPr>
              <a:t>undulating membrane </a:t>
            </a:r>
            <a:r>
              <a:rPr lang="en-GB" dirty="0"/>
              <a:t>and usually beyond it as an </a:t>
            </a:r>
            <a:r>
              <a:rPr lang="en-GB" b="1" dirty="0"/>
              <a:t>active</a:t>
            </a:r>
            <a:r>
              <a:rPr lang="en-GB" dirty="0"/>
              <a:t> free flagellum.</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47884904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9" name="Title 1"/>
          <p:cNvSpPr>
            <a:spLocks noGrp="1"/>
          </p:cNvSpPr>
          <p:nvPr>
            <p:ph type="title"/>
          </p:nvPr>
        </p:nvSpPr>
        <p:spPr/>
        <p:txBody>
          <a:bodyPr/>
          <a:lstStyle/>
          <a:p>
            <a:r>
              <a:rPr lang="en-US" b="1" u="sng" dirty="0">
                <a:solidFill>
                  <a:srgbClr val="00B0F0"/>
                </a:solidFill>
              </a:rPr>
              <a:t>Classification</a:t>
            </a:r>
          </a:p>
        </p:txBody>
      </p:sp>
      <p:sp>
        <p:nvSpPr>
          <p:cNvPr id="1048670" name="Content Placeholder 2"/>
          <p:cNvSpPr>
            <a:spLocks noGrp="1"/>
          </p:cNvSpPr>
          <p:nvPr>
            <p:ph idx="1"/>
          </p:nvPr>
        </p:nvSpPr>
        <p:spPr/>
        <p:txBody>
          <a:bodyPr>
            <a:normAutofit fontScale="96875" lnSpcReduction="10000"/>
          </a:bodyPr>
          <a:lstStyle/>
          <a:p>
            <a:pPr>
              <a:buFont typeface="Wingdings" pitchFamily="2" charset="2"/>
              <a:buChar char="v"/>
            </a:pPr>
            <a:r>
              <a:rPr lang="en-GB" dirty="0"/>
              <a:t>Besides their taxonomic classification as </a:t>
            </a:r>
            <a:r>
              <a:rPr lang="en-GB" b="1" dirty="0">
                <a:solidFill>
                  <a:schemeClr val="accent6">
                    <a:lumMod val="75000"/>
                  </a:schemeClr>
                </a:solidFill>
              </a:rPr>
              <a:t>Class mastigophoran</a:t>
            </a:r>
            <a:r>
              <a:rPr lang="en-GB" dirty="0">
                <a:solidFill>
                  <a:schemeClr val="accent6">
                    <a:lumMod val="75000"/>
                  </a:schemeClr>
                </a:solidFill>
              </a:rPr>
              <a:t> protozoans</a:t>
            </a:r>
            <a:r>
              <a:rPr lang="en-GB" dirty="0"/>
              <a:t> and </a:t>
            </a:r>
          </a:p>
          <a:p>
            <a:pPr>
              <a:buFont typeface="Wingdings" pitchFamily="2" charset="2"/>
              <a:buChar char="v"/>
            </a:pPr>
            <a:r>
              <a:rPr lang="en-GB" dirty="0"/>
              <a:t>in the </a:t>
            </a:r>
            <a:r>
              <a:rPr lang="en-GB" b="1" dirty="0">
                <a:solidFill>
                  <a:schemeClr val="accent6">
                    <a:lumMod val="75000"/>
                  </a:schemeClr>
                </a:solidFill>
              </a:rPr>
              <a:t>Order Kinetoplastida </a:t>
            </a:r>
            <a:r>
              <a:rPr lang="en-GB" dirty="0"/>
              <a:t>(because of possessing a </a:t>
            </a:r>
            <a:r>
              <a:rPr lang="en-GB" dirty="0">
                <a:solidFill>
                  <a:schemeClr val="accent6">
                    <a:lumMod val="75000"/>
                  </a:schemeClr>
                </a:solidFill>
              </a:rPr>
              <a:t>kinetoplast</a:t>
            </a:r>
            <a:r>
              <a:rPr lang="en-GB" dirty="0"/>
              <a:t> which is positioned variably in relation to the nucleus in the organism), </a:t>
            </a:r>
          </a:p>
          <a:p>
            <a:pPr>
              <a:buFont typeface="Wingdings" pitchFamily="2" charset="2"/>
              <a:buChar char="v"/>
            </a:pPr>
            <a:r>
              <a:rPr lang="en-GB" dirty="0"/>
              <a:t>they are also classified by the </a:t>
            </a:r>
            <a:r>
              <a:rPr lang="en-GB" dirty="0">
                <a:solidFill>
                  <a:srgbClr val="00B0F0"/>
                </a:solidFill>
              </a:rPr>
              <a:t>type of development in their insect vectors </a:t>
            </a:r>
            <a:r>
              <a:rPr lang="en-GB" dirty="0"/>
              <a:t>and </a:t>
            </a:r>
            <a:r>
              <a:rPr lang="en-GB" dirty="0">
                <a:solidFill>
                  <a:srgbClr val="00B0F0"/>
                </a:solidFill>
              </a:rPr>
              <a:t>method of transmission</a:t>
            </a:r>
            <a:r>
              <a:rPr lang="en-GB" dirty="0"/>
              <a:t>, as follows:</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504455038"/>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1" name="Title 1"/>
          <p:cNvSpPr>
            <a:spLocks noGrp="1"/>
          </p:cNvSpPr>
          <p:nvPr>
            <p:ph type="title"/>
          </p:nvPr>
        </p:nvSpPr>
        <p:spPr/>
        <p:txBody>
          <a:bodyPr/>
          <a:lstStyle/>
          <a:p>
            <a:r>
              <a:rPr lang="en-US" b="1" dirty="0">
                <a:solidFill>
                  <a:srgbClr val="00B0F0"/>
                </a:solidFill>
              </a:rPr>
              <a:t>Classification</a:t>
            </a:r>
            <a:r>
              <a:rPr lang="en-US" b="1" dirty="0"/>
              <a:t> cont’d</a:t>
            </a:r>
            <a:endParaRPr lang="en-US" dirty="0"/>
          </a:p>
        </p:txBody>
      </p:sp>
      <p:sp>
        <p:nvSpPr>
          <p:cNvPr id="1048672" name="Content Placeholder 2"/>
          <p:cNvSpPr>
            <a:spLocks noGrp="1"/>
          </p:cNvSpPr>
          <p:nvPr>
            <p:ph idx="1"/>
          </p:nvPr>
        </p:nvSpPr>
        <p:spPr/>
        <p:txBody>
          <a:bodyPr>
            <a:normAutofit fontScale="96875" lnSpcReduction="10000"/>
          </a:bodyPr>
          <a:lstStyle/>
          <a:p>
            <a:pPr marL="0" lvl="0" indent="0">
              <a:buNone/>
            </a:pPr>
            <a:r>
              <a:rPr lang="en-GB" b="1" dirty="0"/>
              <a:t>1. </a:t>
            </a:r>
            <a:r>
              <a:rPr lang="en-GB" b="1" dirty="0">
                <a:solidFill>
                  <a:srgbClr val="FF33CC"/>
                </a:solidFill>
              </a:rPr>
              <a:t>Salivarian Group</a:t>
            </a:r>
            <a:r>
              <a:rPr lang="en-GB" dirty="0"/>
              <a:t>: </a:t>
            </a:r>
            <a:r>
              <a:rPr lang="en-GB" u="sng" dirty="0"/>
              <a:t>development takes place in the </a:t>
            </a:r>
            <a:r>
              <a:rPr lang="en-GB" u="sng" dirty="0">
                <a:solidFill>
                  <a:schemeClr val="accent6">
                    <a:lumMod val="75000"/>
                  </a:schemeClr>
                </a:solidFill>
              </a:rPr>
              <a:t>mid-</a:t>
            </a:r>
            <a:r>
              <a:rPr lang="en-GB" u="sng" dirty="0"/>
              <a:t> and </a:t>
            </a:r>
            <a:r>
              <a:rPr lang="en-GB" u="sng" dirty="0">
                <a:solidFill>
                  <a:schemeClr val="accent6">
                    <a:lumMod val="75000"/>
                  </a:schemeClr>
                </a:solidFill>
              </a:rPr>
              <a:t>fore-guts</a:t>
            </a:r>
            <a:r>
              <a:rPr lang="en-GB" u="sng" dirty="0"/>
              <a:t> of the vector </a:t>
            </a:r>
            <a:r>
              <a:rPr lang="en-GB" dirty="0"/>
              <a:t>and </a:t>
            </a:r>
            <a:r>
              <a:rPr lang="en-GB" b="1" u="sng" dirty="0"/>
              <a:t>transmission is by inoculation (biting and injection of the parasite</a:t>
            </a:r>
            <a:r>
              <a:rPr lang="en-GB" dirty="0"/>
              <a:t>) when the vector bites to take a blood meal. E.g. </a:t>
            </a:r>
            <a:r>
              <a:rPr lang="en-GB" i="1" dirty="0">
                <a:solidFill>
                  <a:schemeClr val="accent6">
                    <a:lumMod val="75000"/>
                  </a:schemeClr>
                </a:solidFill>
              </a:rPr>
              <a:t>Trypanosoma brucei</a:t>
            </a:r>
            <a:r>
              <a:rPr lang="en-GB" dirty="0">
                <a:solidFill>
                  <a:schemeClr val="accent6">
                    <a:lumMod val="75000"/>
                  </a:schemeClr>
                </a:solidFill>
              </a:rPr>
              <a:t> complex</a:t>
            </a:r>
            <a:r>
              <a:rPr lang="en-GB" dirty="0"/>
              <a:t>. </a:t>
            </a:r>
            <a:endParaRPr lang="en-US" dirty="0"/>
          </a:p>
          <a:p>
            <a:pPr marL="0" lvl="0" indent="0">
              <a:buNone/>
            </a:pPr>
            <a:r>
              <a:rPr lang="en-GB" b="1" dirty="0"/>
              <a:t>2. </a:t>
            </a:r>
            <a:r>
              <a:rPr lang="en-GB" b="1" dirty="0">
                <a:solidFill>
                  <a:srgbClr val="FF33CC"/>
                </a:solidFill>
              </a:rPr>
              <a:t>Stercorarian Group</a:t>
            </a:r>
            <a:r>
              <a:rPr lang="en-GB" dirty="0"/>
              <a:t>: </a:t>
            </a:r>
            <a:r>
              <a:rPr lang="en-GB" u="sng" dirty="0"/>
              <a:t>development takes place in the </a:t>
            </a:r>
            <a:r>
              <a:rPr lang="en-GB" u="sng" dirty="0">
                <a:solidFill>
                  <a:schemeClr val="accent6">
                    <a:lumMod val="75000"/>
                  </a:schemeClr>
                </a:solidFill>
              </a:rPr>
              <a:t>hindgut</a:t>
            </a:r>
            <a:r>
              <a:rPr lang="en-GB" u="sng" dirty="0"/>
              <a:t> of the vector </a:t>
            </a:r>
            <a:r>
              <a:rPr lang="en-GB" dirty="0"/>
              <a:t>and </a:t>
            </a:r>
            <a:r>
              <a:rPr lang="en-GB" b="1" u="sng" dirty="0"/>
              <a:t>transmission is by faecal contamination of the bite wound</a:t>
            </a:r>
            <a:r>
              <a:rPr lang="en-GB" u="sng" dirty="0"/>
              <a:t> </a:t>
            </a:r>
            <a:r>
              <a:rPr lang="en-GB" dirty="0"/>
              <a:t>after the vector bites. E.g.. </a:t>
            </a:r>
            <a:r>
              <a:rPr lang="en-GB" i="1" dirty="0">
                <a:solidFill>
                  <a:schemeClr val="accent6">
                    <a:lumMod val="75000"/>
                  </a:schemeClr>
                </a:solidFill>
              </a:rPr>
              <a:t>Trypanosoma cruzi</a:t>
            </a:r>
            <a:endParaRPr lang="en-US" dirty="0">
              <a:solidFill>
                <a:schemeClr val="accent6">
                  <a:lumMod val="75000"/>
                </a:schemeClr>
              </a:solidFill>
            </a:endParaRPr>
          </a:p>
          <a:p>
            <a:pPr marL="0" indent="0">
              <a:buNone/>
            </a:pPr>
            <a:endParaRPr lang="en-US" dirty="0"/>
          </a:p>
        </p:txBody>
      </p:sp>
    </p:spTree>
    <p:extLst>
      <p:ext uri="{BB962C8B-B14F-4D97-AF65-F5344CB8AC3E}">
        <p14:creationId xmlns:p14="http://schemas.microsoft.com/office/powerpoint/2010/main" val="215048798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3" name="Title 1"/>
          <p:cNvSpPr>
            <a:spLocks noGrp="1"/>
          </p:cNvSpPr>
          <p:nvPr>
            <p:ph type="title"/>
          </p:nvPr>
        </p:nvSpPr>
        <p:spPr/>
        <p:txBody>
          <a:bodyPr/>
          <a:lstStyle/>
          <a:p>
            <a:endParaRPr lang="en-US"/>
          </a:p>
        </p:txBody>
      </p:sp>
      <p:sp>
        <p:nvSpPr>
          <p:cNvPr id="1048674" name="Content Placeholder 2"/>
          <p:cNvSpPr>
            <a:spLocks noGrp="1"/>
          </p:cNvSpPr>
          <p:nvPr>
            <p:ph idx="1"/>
          </p:nvPr>
        </p:nvSpPr>
        <p:spPr/>
        <p:txBody>
          <a:bodyPr>
            <a:normAutofit fontScale="96875" lnSpcReduction="10000"/>
          </a:bodyPr>
          <a:lstStyle/>
          <a:p>
            <a:pPr marL="0" indent="0" algn="ctr">
              <a:buNone/>
            </a:pPr>
            <a:r>
              <a:rPr lang="en-GB" b="1" dirty="0">
                <a:solidFill>
                  <a:srgbClr val="00B0F0"/>
                </a:solidFill>
              </a:rPr>
              <a:t>Three main species shall be discussed</a:t>
            </a:r>
            <a:r>
              <a:rPr lang="en-GB" b="1" dirty="0"/>
              <a:t>. </a:t>
            </a:r>
          </a:p>
          <a:p>
            <a:pPr>
              <a:buFont typeface="Wingdings" pitchFamily="2" charset="2"/>
              <a:buChar char="v"/>
            </a:pPr>
            <a:r>
              <a:rPr lang="en-GB" b="1" u="sng" dirty="0"/>
              <a:t>Two of these </a:t>
            </a:r>
            <a:r>
              <a:rPr lang="en-GB" dirty="0"/>
              <a:t>cause </a:t>
            </a:r>
            <a:r>
              <a:rPr lang="en-GB" b="1" dirty="0">
                <a:solidFill>
                  <a:srgbClr val="C00000"/>
                </a:solidFill>
              </a:rPr>
              <a:t>African trypanosomiasis</a:t>
            </a:r>
            <a:r>
              <a:rPr lang="en-GB" dirty="0">
                <a:solidFill>
                  <a:srgbClr val="C00000"/>
                </a:solidFill>
              </a:rPr>
              <a:t> </a:t>
            </a:r>
            <a:r>
              <a:rPr lang="en-GB" dirty="0"/>
              <a:t>(popularly known as </a:t>
            </a:r>
            <a:r>
              <a:rPr lang="en-GB" dirty="0">
                <a:solidFill>
                  <a:srgbClr val="C00000"/>
                </a:solidFill>
              </a:rPr>
              <a:t>sleeping sickness</a:t>
            </a:r>
            <a:r>
              <a:rPr lang="en-GB" dirty="0"/>
              <a:t>) and transmitted by </a:t>
            </a:r>
            <a:r>
              <a:rPr lang="en-GB" dirty="0">
                <a:solidFill>
                  <a:srgbClr val="92D050"/>
                </a:solidFill>
              </a:rPr>
              <a:t>tsetse flies </a:t>
            </a:r>
            <a:r>
              <a:rPr lang="en-GB" dirty="0"/>
              <a:t>which are the vectors, and the </a:t>
            </a:r>
            <a:r>
              <a:rPr lang="en-GB" b="1" u="sng" dirty="0"/>
              <a:t>third</a:t>
            </a:r>
            <a:r>
              <a:rPr lang="en-GB" dirty="0"/>
              <a:t>,</a:t>
            </a:r>
          </a:p>
          <a:p>
            <a:pPr>
              <a:buFont typeface="Wingdings" pitchFamily="2" charset="2"/>
              <a:buChar char="v"/>
            </a:pPr>
            <a:r>
              <a:rPr lang="en-GB" dirty="0"/>
              <a:t> </a:t>
            </a:r>
            <a:r>
              <a:rPr lang="en-GB" b="1" dirty="0">
                <a:solidFill>
                  <a:srgbClr val="C00000"/>
                </a:solidFill>
              </a:rPr>
              <a:t>American trypanosomiasis or Chagas’ disease</a:t>
            </a:r>
            <a:r>
              <a:rPr lang="en-GB" dirty="0">
                <a:solidFill>
                  <a:srgbClr val="C00000"/>
                </a:solidFill>
              </a:rPr>
              <a:t> </a:t>
            </a:r>
            <a:r>
              <a:rPr lang="en-GB" dirty="0"/>
              <a:t>which is transmitted by </a:t>
            </a:r>
            <a:r>
              <a:rPr lang="en-GB" dirty="0">
                <a:solidFill>
                  <a:srgbClr val="92D050"/>
                </a:solidFill>
              </a:rPr>
              <a:t>blood-sucking bugs </a:t>
            </a:r>
            <a:r>
              <a:rPr lang="en-GB" dirty="0"/>
              <a:t>(insects) of the insect family </a:t>
            </a:r>
            <a:r>
              <a:rPr lang="en-GB" dirty="0">
                <a:solidFill>
                  <a:srgbClr val="FF33CC"/>
                </a:solidFill>
              </a:rPr>
              <a:t>Reduviidae</a:t>
            </a:r>
            <a:r>
              <a:rPr lang="en-GB" dirty="0"/>
              <a:t>, subfamily </a:t>
            </a:r>
            <a:r>
              <a:rPr lang="en-GB" dirty="0">
                <a:solidFill>
                  <a:srgbClr val="FF33CC"/>
                </a:solidFill>
              </a:rPr>
              <a:t>Triatominae</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340816229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5" name="Title 1"/>
          <p:cNvSpPr>
            <a:spLocks noGrp="1"/>
          </p:cNvSpPr>
          <p:nvPr>
            <p:ph type="title"/>
          </p:nvPr>
        </p:nvSpPr>
        <p:spPr/>
        <p:txBody>
          <a:bodyPr>
            <a:normAutofit fontScale="90000"/>
          </a:bodyPr>
          <a:lstStyle/>
          <a:p>
            <a:br>
              <a:rPr lang="en-GB" b="1" dirty="0"/>
            </a:br>
            <a:r>
              <a:rPr lang="en-GB" b="1" dirty="0">
                <a:solidFill>
                  <a:srgbClr val="C00000"/>
                </a:solidFill>
              </a:rPr>
              <a:t>AFRICAN TRYPANOSOMIASIS</a:t>
            </a:r>
            <a:br>
              <a:rPr lang="en-US" dirty="0"/>
            </a:br>
            <a:endParaRPr lang="en-US" dirty="0"/>
          </a:p>
        </p:txBody>
      </p:sp>
      <p:sp>
        <p:nvSpPr>
          <p:cNvPr id="1048676" name="Content Placeholder 2"/>
          <p:cNvSpPr>
            <a:spLocks noGrp="1"/>
          </p:cNvSpPr>
          <p:nvPr>
            <p:ph idx="1"/>
          </p:nvPr>
        </p:nvSpPr>
        <p:spPr/>
        <p:txBody>
          <a:bodyPr>
            <a:normAutofit lnSpcReduction="10000"/>
          </a:bodyPr>
          <a:lstStyle/>
          <a:p>
            <a:pPr>
              <a:buFont typeface="Wingdings" pitchFamily="2" charset="2"/>
              <a:buChar char="v"/>
            </a:pPr>
            <a:r>
              <a:rPr lang="en-GB" dirty="0"/>
              <a:t>This disease of humans is caused by </a:t>
            </a:r>
            <a:r>
              <a:rPr lang="en-GB" u="sng" dirty="0"/>
              <a:t>trypanosoma</a:t>
            </a:r>
            <a:r>
              <a:rPr lang="en-GB" dirty="0"/>
              <a:t> of the </a:t>
            </a:r>
            <a:r>
              <a:rPr lang="en-GB" dirty="0">
                <a:solidFill>
                  <a:schemeClr val="accent6">
                    <a:lumMod val="75000"/>
                  </a:schemeClr>
                </a:solidFill>
              </a:rPr>
              <a:t>brucei complex</a:t>
            </a:r>
            <a:r>
              <a:rPr lang="en-GB" dirty="0"/>
              <a:t>, notably </a:t>
            </a:r>
            <a:r>
              <a:rPr lang="en-GB" i="1" dirty="0">
                <a:solidFill>
                  <a:srgbClr val="00B0F0"/>
                </a:solidFill>
              </a:rPr>
              <a:t>Trypanosoma brucei</a:t>
            </a:r>
            <a:r>
              <a:rPr lang="en-GB" dirty="0">
                <a:solidFill>
                  <a:srgbClr val="00B0F0"/>
                </a:solidFill>
              </a:rPr>
              <a:t> </a:t>
            </a:r>
            <a:r>
              <a:rPr lang="en-GB" i="1" dirty="0">
                <a:solidFill>
                  <a:srgbClr val="00B0F0"/>
                </a:solidFill>
              </a:rPr>
              <a:t>gambiense</a:t>
            </a:r>
            <a:r>
              <a:rPr lang="en-GB" dirty="0">
                <a:solidFill>
                  <a:srgbClr val="00B0F0"/>
                </a:solidFill>
              </a:rPr>
              <a:t> </a:t>
            </a:r>
            <a:r>
              <a:rPr lang="en-GB" dirty="0"/>
              <a:t>and </a:t>
            </a:r>
            <a:r>
              <a:rPr lang="en-GB" i="1" dirty="0">
                <a:solidFill>
                  <a:srgbClr val="00B0F0"/>
                </a:solidFill>
              </a:rPr>
              <a:t>Trypanosoma brucei rhodesiense</a:t>
            </a:r>
            <a:r>
              <a:rPr lang="en-GB" dirty="0">
                <a:solidFill>
                  <a:srgbClr val="00B0F0"/>
                </a:solidFill>
              </a:rPr>
              <a:t> </a:t>
            </a:r>
            <a:r>
              <a:rPr lang="en-GB" dirty="0"/>
              <a:t>both parasites being closely related. </a:t>
            </a:r>
            <a:endParaRPr lang="en-US" dirty="0"/>
          </a:p>
          <a:p>
            <a:pPr>
              <a:buFont typeface="Wingdings" pitchFamily="2" charset="2"/>
              <a:buChar char="v"/>
            </a:pPr>
            <a:r>
              <a:rPr lang="en-GB" dirty="0"/>
              <a:t>Another member of the complex is </a:t>
            </a:r>
            <a:r>
              <a:rPr lang="en-GB" i="1" dirty="0">
                <a:solidFill>
                  <a:srgbClr val="00B0F0"/>
                </a:solidFill>
              </a:rPr>
              <a:t>T. brucei brucei</a:t>
            </a:r>
            <a:r>
              <a:rPr lang="en-GB" dirty="0">
                <a:solidFill>
                  <a:srgbClr val="00B0F0"/>
                </a:solidFill>
              </a:rPr>
              <a:t> </a:t>
            </a:r>
            <a:r>
              <a:rPr lang="en-GB" dirty="0"/>
              <a:t>which is </a:t>
            </a:r>
            <a:r>
              <a:rPr lang="en-GB" dirty="0">
                <a:solidFill>
                  <a:srgbClr val="FFC000"/>
                </a:solidFill>
              </a:rPr>
              <a:t>infective to animals</a:t>
            </a:r>
            <a:r>
              <a:rPr lang="en-GB" u="sng" dirty="0">
                <a:solidFill>
                  <a:srgbClr val="FFC000"/>
                </a:solidFill>
              </a:rPr>
              <a:t> </a:t>
            </a:r>
            <a:r>
              <a:rPr lang="en-GB" b="1" u="sng" dirty="0"/>
              <a:t>but</a:t>
            </a:r>
            <a:r>
              <a:rPr lang="en-GB" u="sng" dirty="0"/>
              <a:t> </a:t>
            </a:r>
            <a:r>
              <a:rPr lang="en-GB" u="sng" dirty="0">
                <a:solidFill>
                  <a:srgbClr val="FF0000"/>
                </a:solidFill>
              </a:rPr>
              <a:t>not humans</a:t>
            </a:r>
            <a:r>
              <a:rPr lang="en-GB" dirty="0"/>
              <a:t>. The </a:t>
            </a:r>
            <a:r>
              <a:rPr lang="en-GB" u="sng" dirty="0">
                <a:solidFill>
                  <a:srgbClr val="7030A0"/>
                </a:solidFill>
              </a:rPr>
              <a:t>human pathogens are morphologically indistinguishable</a:t>
            </a:r>
            <a:r>
              <a:rPr lang="en-GB" dirty="0"/>
              <a:t>.</a:t>
            </a:r>
            <a:endParaRPr lang="en-US" dirty="0"/>
          </a:p>
          <a:p>
            <a:endParaRPr lang="en-US" dirty="0"/>
          </a:p>
        </p:txBody>
      </p:sp>
    </p:spTree>
    <p:extLst>
      <p:ext uri="{BB962C8B-B14F-4D97-AF65-F5344CB8AC3E}">
        <p14:creationId xmlns:p14="http://schemas.microsoft.com/office/powerpoint/2010/main" val="3418857651"/>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7" name="Title 1"/>
          <p:cNvSpPr>
            <a:spLocks noGrp="1"/>
          </p:cNvSpPr>
          <p:nvPr>
            <p:ph type="title"/>
          </p:nvPr>
        </p:nvSpPr>
        <p:spPr/>
        <p:txBody>
          <a:bodyPr>
            <a:normAutofit fontScale="90000"/>
          </a:bodyPr>
          <a:lstStyle/>
          <a:p>
            <a:r>
              <a:rPr lang="en-GB" b="1" dirty="0">
                <a:solidFill>
                  <a:srgbClr val="C00000"/>
                </a:solidFill>
              </a:rPr>
              <a:t>AFRICAN TRYPANOSOMIASIS </a:t>
            </a:r>
            <a:r>
              <a:rPr lang="en-GB" b="1" dirty="0"/>
              <a:t>CONT’D</a:t>
            </a:r>
            <a:endParaRPr lang="en-US" dirty="0"/>
          </a:p>
        </p:txBody>
      </p:sp>
      <p:sp>
        <p:nvSpPr>
          <p:cNvPr id="1048678" name="Content Placeholder 2"/>
          <p:cNvSpPr>
            <a:spLocks noGrp="1"/>
          </p:cNvSpPr>
          <p:nvPr>
            <p:ph idx="1"/>
          </p:nvPr>
        </p:nvSpPr>
        <p:spPr/>
        <p:txBody>
          <a:bodyPr/>
          <a:lstStyle/>
          <a:p>
            <a:pPr>
              <a:buFont typeface="Wingdings" pitchFamily="2" charset="2"/>
              <a:buChar char="v"/>
            </a:pPr>
            <a:r>
              <a:rPr lang="en-GB" dirty="0"/>
              <a:t>Each trypanosomiasis endemic area seems to have several strains of </a:t>
            </a:r>
            <a:r>
              <a:rPr lang="en-GB" u="sng" dirty="0"/>
              <a:t>biochemically and antigenically distinct trypanosomes</a:t>
            </a:r>
            <a:r>
              <a:rPr lang="en-GB" dirty="0"/>
              <a:t>. </a:t>
            </a:r>
          </a:p>
          <a:p>
            <a:pPr>
              <a:buFont typeface="Wingdings" pitchFamily="2" charset="2"/>
              <a:buChar char="v"/>
            </a:pPr>
            <a:r>
              <a:rPr lang="en-GB" dirty="0"/>
              <a:t>Whilst </a:t>
            </a:r>
            <a:r>
              <a:rPr lang="en-GB" i="1" dirty="0">
                <a:solidFill>
                  <a:srgbClr val="00B0F0"/>
                </a:solidFill>
              </a:rPr>
              <a:t>T. b. gambiense</a:t>
            </a:r>
            <a:r>
              <a:rPr lang="en-GB" dirty="0">
                <a:solidFill>
                  <a:srgbClr val="00B0F0"/>
                </a:solidFill>
              </a:rPr>
              <a:t> </a:t>
            </a:r>
            <a:r>
              <a:rPr lang="en-GB" dirty="0">
                <a:solidFill>
                  <a:schemeClr val="accent6">
                    <a:lumMod val="75000"/>
                  </a:schemeClr>
                </a:solidFill>
              </a:rPr>
              <a:t>appears to be a homogenous group</a:t>
            </a:r>
            <a:r>
              <a:rPr lang="en-GB" dirty="0"/>
              <a:t>, </a:t>
            </a:r>
            <a:r>
              <a:rPr lang="en-GB" i="1" dirty="0">
                <a:solidFill>
                  <a:srgbClr val="00B0F0"/>
                </a:solidFill>
              </a:rPr>
              <a:t>T. b. rhodesiense</a:t>
            </a:r>
            <a:r>
              <a:rPr lang="en-GB" dirty="0">
                <a:solidFill>
                  <a:srgbClr val="00B0F0"/>
                </a:solidFill>
              </a:rPr>
              <a:t> </a:t>
            </a:r>
            <a:r>
              <a:rPr lang="en-GB" dirty="0">
                <a:solidFill>
                  <a:srgbClr val="FF33CC"/>
                </a:solidFill>
              </a:rPr>
              <a:t>seems to be made up of many different strains</a:t>
            </a:r>
            <a:r>
              <a:rPr lang="en-GB" dirty="0"/>
              <a:t>.</a:t>
            </a:r>
            <a:endParaRPr lang="en-US" dirty="0"/>
          </a:p>
          <a:p>
            <a:endParaRPr lang="en-US" dirty="0"/>
          </a:p>
        </p:txBody>
      </p:sp>
    </p:spTree>
    <p:extLst>
      <p:ext uri="{BB962C8B-B14F-4D97-AF65-F5344CB8AC3E}">
        <p14:creationId xmlns:p14="http://schemas.microsoft.com/office/powerpoint/2010/main" val="122009882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9" name="Title 1"/>
          <p:cNvSpPr>
            <a:spLocks noGrp="1"/>
          </p:cNvSpPr>
          <p:nvPr>
            <p:ph type="title"/>
          </p:nvPr>
        </p:nvSpPr>
        <p:spPr/>
        <p:txBody>
          <a:bodyPr>
            <a:normAutofit fontScale="90000"/>
          </a:bodyPr>
          <a:lstStyle/>
          <a:p>
            <a:r>
              <a:rPr lang="en-GB" b="1" dirty="0">
                <a:solidFill>
                  <a:srgbClr val="C00000"/>
                </a:solidFill>
              </a:rPr>
              <a:t>AFRICAN TRYPANOSOMIASIS </a:t>
            </a:r>
            <a:r>
              <a:rPr lang="en-GB" b="1" dirty="0"/>
              <a:t>CONT’D</a:t>
            </a:r>
            <a:endParaRPr lang="en-US" dirty="0"/>
          </a:p>
        </p:txBody>
      </p:sp>
      <p:sp>
        <p:nvSpPr>
          <p:cNvPr id="1048680" name="Content Placeholder 2"/>
          <p:cNvSpPr>
            <a:spLocks noGrp="1"/>
          </p:cNvSpPr>
          <p:nvPr>
            <p:ph idx="1"/>
          </p:nvPr>
        </p:nvSpPr>
        <p:spPr>
          <a:xfrm>
            <a:off x="609600" y="1524000"/>
            <a:ext cx="8229600" cy="5410200"/>
          </a:xfrm>
        </p:spPr>
        <p:txBody>
          <a:bodyPr>
            <a:normAutofit fontScale="89375"/>
          </a:bodyPr>
          <a:lstStyle/>
          <a:p>
            <a:pPr marL="0" indent="0" algn="ctr">
              <a:buNone/>
            </a:pPr>
            <a:r>
              <a:rPr lang="en-GB" b="1" dirty="0">
                <a:solidFill>
                  <a:srgbClr val="FFC000"/>
                </a:solidFill>
              </a:rPr>
              <a:t>Distribution</a:t>
            </a:r>
            <a:endParaRPr lang="en-US" dirty="0">
              <a:solidFill>
                <a:srgbClr val="FFC000"/>
              </a:solidFill>
            </a:endParaRPr>
          </a:p>
          <a:p>
            <a:r>
              <a:rPr lang="en-GB" dirty="0"/>
              <a:t>Disease occurs in areas </a:t>
            </a:r>
            <a:r>
              <a:rPr lang="en-GB" dirty="0">
                <a:solidFill>
                  <a:srgbClr val="FFC000"/>
                </a:solidFill>
              </a:rPr>
              <a:t>where the tsetsefly is found</a:t>
            </a:r>
            <a:r>
              <a:rPr lang="en-GB" dirty="0"/>
              <a:t>, particularly </a:t>
            </a:r>
            <a:r>
              <a:rPr lang="en-GB" dirty="0">
                <a:solidFill>
                  <a:srgbClr val="FF33CC"/>
                </a:solidFill>
              </a:rPr>
              <a:t>sub-Saharan Africa between latitude 15</a:t>
            </a:r>
            <a:r>
              <a:rPr lang="en-GB" baseline="30000" dirty="0">
                <a:solidFill>
                  <a:srgbClr val="FF33CC"/>
                </a:solidFill>
              </a:rPr>
              <a:t>o</a:t>
            </a:r>
            <a:r>
              <a:rPr lang="en-GB" dirty="0">
                <a:solidFill>
                  <a:srgbClr val="FF33CC"/>
                </a:solidFill>
              </a:rPr>
              <a:t>N and 20</a:t>
            </a:r>
            <a:r>
              <a:rPr lang="en-GB" baseline="30000" dirty="0">
                <a:solidFill>
                  <a:srgbClr val="FF33CC"/>
                </a:solidFill>
              </a:rPr>
              <a:t>0</a:t>
            </a:r>
            <a:r>
              <a:rPr lang="en-GB" dirty="0">
                <a:solidFill>
                  <a:srgbClr val="FF33CC"/>
                </a:solidFill>
              </a:rPr>
              <a:t>S</a:t>
            </a:r>
            <a:r>
              <a:rPr lang="en-GB" dirty="0"/>
              <a:t>. The flies are found only in Africa. </a:t>
            </a:r>
          </a:p>
          <a:p>
            <a:r>
              <a:rPr lang="en-GB" dirty="0"/>
              <a:t>About 50 million people are at risk of it in 34 countries. </a:t>
            </a:r>
          </a:p>
          <a:p>
            <a:r>
              <a:rPr lang="en-GB" i="1" dirty="0">
                <a:solidFill>
                  <a:srgbClr val="00B0F0"/>
                </a:solidFill>
              </a:rPr>
              <a:t>T.b. gambiense</a:t>
            </a:r>
            <a:r>
              <a:rPr lang="en-GB" dirty="0">
                <a:solidFill>
                  <a:srgbClr val="00B0F0"/>
                </a:solidFill>
              </a:rPr>
              <a:t> </a:t>
            </a:r>
            <a:r>
              <a:rPr lang="en-GB" dirty="0"/>
              <a:t>is found in </a:t>
            </a:r>
            <a:r>
              <a:rPr lang="en-GB" u="sng" dirty="0"/>
              <a:t>West Africa and West Central Africa</a:t>
            </a:r>
            <a:r>
              <a:rPr lang="en-GB" dirty="0"/>
              <a:t> extending </a:t>
            </a:r>
            <a:r>
              <a:rPr lang="en-GB" dirty="0">
                <a:solidFill>
                  <a:schemeClr val="accent6">
                    <a:lumMod val="75000"/>
                  </a:schemeClr>
                </a:solidFill>
              </a:rPr>
              <a:t>from Senegal to Sudan and down to Angola</a:t>
            </a:r>
            <a:r>
              <a:rPr lang="en-GB" i="1" dirty="0"/>
              <a:t>.</a:t>
            </a:r>
          </a:p>
          <a:p>
            <a:r>
              <a:rPr lang="en-GB" i="1" dirty="0"/>
              <a:t> </a:t>
            </a:r>
            <a:r>
              <a:rPr lang="en-GB" i="1" dirty="0">
                <a:solidFill>
                  <a:srgbClr val="00B0F0"/>
                </a:solidFill>
              </a:rPr>
              <a:t>T.b. rhodesiense</a:t>
            </a:r>
            <a:r>
              <a:rPr lang="en-GB" dirty="0">
                <a:solidFill>
                  <a:srgbClr val="00B0F0"/>
                </a:solidFill>
              </a:rPr>
              <a:t> </a:t>
            </a:r>
            <a:r>
              <a:rPr lang="en-GB" dirty="0"/>
              <a:t>is found in </a:t>
            </a:r>
            <a:r>
              <a:rPr lang="en-GB" u="sng" dirty="0"/>
              <a:t>East Africa, Central and Southern Africa</a:t>
            </a:r>
            <a:r>
              <a:rPr lang="en-GB" dirty="0"/>
              <a:t> extending from </a:t>
            </a:r>
            <a:r>
              <a:rPr lang="en-GB" dirty="0">
                <a:solidFill>
                  <a:schemeClr val="accent6">
                    <a:lumMod val="75000"/>
                  </a:schemeClr>
                </a:solidFill>
              </a:rPr>
              <a:t>Ethiopia down to Botswana</a:t>
            </a:r>
            <a:r>
              <a:rPr lang="en-GB" dirty="0"/>
              <a:t>. </a:t>
            </a:r>
            <a:endParaRPr lang="en-US" dirty="0"/>
          </a:p>
          <a:p>
            <a:endParaRPr lang="en-US" dirty="0"/>
          </a:p>
        </p:txBody>
      </p:sp>
    </p:spTree>
    <p:extLst>
      <p:ext uri="{BB962C8B-B14F-4D97-AF65-F5344CB8AC3E}">
        <p14:creationId xmlns:p14="http://schemas.microsoft.com/office/powerpoint/2010/main" val="1510989554"/>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1" name="Title 1"/>
          <p:cNvSpPr>
            <a:spLocks noGrp="1"/>
          </p:cNvSpPr>
          <p:nvPr>
            <p:ph type="title"/>
          </p:nvPr>
        </p:nvSpPr>
        <p:spPr/>
        <p:txBody>
          <a:bodyPr>
            <a:normAutofit fontScale="90000"/>
          </a:bodyPr>
          <a:lstStyle/>
          <a:p>
            <a:r>
              <a:rPr lang="en-GB" b="1" dirty="0">
                <a:solidFill>
                  <a:srgbClr val="C00000"/>
                </a:solidFill>
              </a:rPr>
              <a:t>AFRICAN TRYPANOSOMIASIS </a:t>
            </a:r>
            <a:r>
              <a:rPr lang="en-GB" b="1" dirty="0"/>
              <a:t>CONT’D</a:t>
            </a:r>
            <a:endParaRPr lang="en-US" dirty="0"/>
          </a:p>
        </p:txBody>
      </p:sp>
      <p:sp>
        <p:nvSpPr>
          <p:cNvPr id="1048682" name="Content Placeholder 2"/>
          <p:cNvSpPr>
            <a:spLocks noGrp="1"/>
          </p:cNvSpPr>
          <p:nvPr>
            <p:ph idx="1"/>
          </p:nvPr>
        </p:nvSpPr>
        <p:spPr/>
        <p:txBody>
          <a:bodyPr/>
          <a:lstStyle/>
          <a:p>
            <a:pPr marL="0" indent="0" algn="ctr">
              <a:buNone/>
            </a:pPr>
            <a:r>
              <a:rPr lang="en-GB" b="1" dirty="0">
                <a:solidFill>
                  <a:srgbClr val="FFC000"/>
                </a:solidFill>
              </a:rPr>
              <a:t>Distribution</a:t>
            </a:r>
            <a:r>
              <a:rPr lang="en-GB" b="1" dirty="0"/>
              <a:t>  Cont’d</a:t>
            </a:r>
            <a:endParaRPr lang="en-US" dirty="0"/>
          </a:p>
          <a:p>
            <a:pPr marL="0" indent="0" algn="ctr">
              <a:buNone/>
            </a:pPr>
            <a:endParaRPr lang="en-GB" dirty="0"/>
          </a:p>
          <a:p>
            <a:pPr>
              <a:buFont typeface="Wingdings" pitchFamily="2" charset="2"/>
              <a:buChar char="v"/>
            </a:pPr>
            <a:r>
              <a:rPr lang="en-GB" dirty="0"/>
              <a:t>The distribution of the two parasites </a:t>
            </a:r>
            <a:r>
              <a:rPr lang="en-GB" b="1" dirty="0">
                <a:solidFill>
                  <a:srgbClr val="0070C0"/>
                </a:solidFill>
              </a:rPr>
              <a:t>overlaps</a:t>
            </a:r>
            <a:r>
              <a:rPr lang="en-GB" dirty="0">
                <a:solidFill>
                  <a:srgbClr val="0070C0"/>
                </a:solidFill>
              </a:rPr>
              <a:t> in the Great lakes region of Africa</a:t>
            </a:r>
            <a:r>
              <a:rPr lang="en-GB" dirty="0"/>
              <a:t>.</a:t>
            </a:r>
          </a:p>
          <a:p>
            <a:pPr>
              <a:buFont typeface="Wingdings" pitchFamily="2" charset="2"/>
              <a:buChar char="v"/>
            </a:pPr>
            <a:r>
              <a:rPr lang="en-GB" dirty="0"/>
              <a:t>Interestingly, </a:t>
            </a:r>
            <a:r>
              <a:rPr lang="en-GB" u="sng" dirty="0"/>
              <a:t>there are extensive areas within these geographical boundaries where the disease is absent</a:t>
            </a:r>
            <a:endParaRPr lang="en-US" u="sng" dirty="0"/>
          </a:p>
          <a:p>
            <a:pPr marL="0" indent="0">
              <a:buNone/>
            </a:pPr>
            <a:endParaRPr lang="en-US" dirty="0"/>
          </a:p>
        </p:txBody>
      </p:sp>
    </p:spTree>
    <p:extLst>
      <p:ext uri="{BB962C8B-B14F-4D97-AF65-F5344CB8AC3E}">
        <p14:creationId xmlns:p14="http://schemas.microsoft.com/office/powerpoint/2010/main" val="1325947525"/>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3" name="Title 1"/>
          <p:cNvSpPr>
            <a:spLocks noGrp="1"/>
          </p:cNvSpPr>
          <p:nvPr>
            <p:ph type="title"/>
          </p:nvPr>
        </p:nvSpPr>
        <p:spPr/>
        <p:txBody>
          <a:bodyPr>
            <a:normAutofit fontScale="90000"/>
          </a:bodyPr>
          <a:lstStyle/>
          <a:p>
            <a:br>
              <a:rPr lang="en-GB" b="1" dirty="0"/>
            </a:br>
            <a:r>
              <a:rPr lang="en-GB" b="1" dirty="0">
                <a:solidFill>
                  <a:srgbClr val="00B0F0"/>
                </a:solidFill>
              </a:rPr>
              <a:t>Transmission</a:t>
            </a:r>
            <a:br>
              <a:rPr lang="en-US" dirty="0"/>
            </a:br>
            <a:endParaRPr lang="en-US" dirty="0"/>
          </a:p>
        </p:txBody>
      </p:sp>
      <p:sp>
        <p:nvSpPr>
          <p:cNvPr id="1048684" name="Content Placeholder 2"/>
          <p:cNvSpPr>
            <a:spLocks noGrp="1"/>
          </p:cNvSpPr>
          <p:nvPr>
            <p:ph idx="1"/>
          </p:nvPr>
        </p:nvSpPr>
        <p:spPr>
          <a:xfrm>
            <a:off x="457200" y="1600200"/>
            <a:ext cx="8229600" cy="5105400"/>
          </a:xfrm>
        </p:spPr>
        <p:txBody>
          <a:bodyPr>
            <a:normAutofit fontScale="96875"/>
          </a:bodyPr>
          <a:lstStyle/>
          <a:p>
            <a:pPr>
              <a:buFont typeface="Wingdings" pitchFamily="2" charset="2"/>
              <a:buChar char="v"/>
            </a:pPr>
            <a:r>
              <a:rPr lang="en-GB" dirty="0"/>
              <a:t>This is by a small proportion of species of </a:t>
            </a:r>
            <a:r>
              <a:rPr lang="en-GB" dirty="0">
                <a:solidFill>
                  <a:srgbClr val="00B050"/>
                </a:solidFill>
              </a:rPr>
              <a:t>tsetseflies</a:t>
            </a:r>
            <a:r>
              <a:rPr lang="en-GB" dirty="0"/>
              <a:t> belonging to the </a:t>
            </a:r>
            <a:r>
              <a:rPr lang="en-GB" dirty="0">
                <a:solidFill>
                  <a:srgbClr val="00B050"/>
                </a:solidFill>
              </a:rPr>
              <a:t>genus</a:t>
            </a:r>
            <a:r>
              <a:rPr lang="en-GB" dirty="0"/>
              <a:t> </a:t>
            </a:r>
            <a:r>
              <a:rPr lang="en-GB" i="1" dirty="0">
                <a:solidFill>
                  <a:srgbClr val="00B050"/>
                </a:solidFill>
              </a:rPr>
              <a:t>Glossina</a:t>
            </a:r>
            <a:r>
              <a:rPr lang="en-GB" dirty="0"/>
              <a:t>, </a:t>
            </a:r>
          </a:p>
          <a:p>
            <a:pPr>
              <a:buFont typeface="Wingdings" pitchFamily="2" charset="2"/>
              <a:buChar char="v"/>
            </a:pPr>
            <a:r>
              <a:rPr lang="en-GB" dirty="0"/>
              <a:t>the </a:t>
            </a:r>
            <a:r>
              <a:rPr lang="en-GB" dirty="0">
                <a:solidFill>
                  <a:schemeClr val="accent6">
                    <a:lumMod val="75000"/>
                  </a:schemeClr>
                </a:solidFill>
              </a:rPr>
              <a:t>males and females of which suck blood </a:t>
            </a:r>
            <a:r>
              <a:rPr lang="en-GB" u="sng" dirty="0"/>
              <a:t>and hence able to transmit the disease</a:t>
            </a:r>
            <a:r>
              <a:rPr lang="en-GB" dirty="0"/>
              <a:t>.</a:t>
            </a:r>
          </a:p>
          <a:p>
            <a:pPr>
              <a:buFont typeface="Wingdings" pitchFamily="2" charset="2"/>
              <a:buChar char="v"/>
            </a:pPr>
            <a:r>
              <a:rPr lang="en-GB" dirty="0"/>
              <a:t> </a:t>
            </a:r>
            <a:r>
              <a:rPr lang="en-GB" i="1" dirty="0">
                <a:solidFill>
                  <a:srgbClr val="00B0F0"/>
                </a:solidFill>
              </a:rPr>
              <a:t>T.b. gambiense</a:t>
            </a:r>
            <a:r>
              <a:rPr lang="en-GB" dirty="0">
                <a:solidFill>
                  <a:srgbClr val="00B0F0"/>
                </a:solidFill>
              </a:rPr>
              <a:t> </a:t>
            </a:r>
            <a:r>
              <a:rPr lang="en-GB" dirty="0"/>
              <a:t>is usually transmitted by tsetse flies that live along lakes and rivers and </a:t>
            </a:r>
          </a:p>
          <a:p>
            <a:pPr>
              <a:buFont typeface="Wingdings" pitchFamily="2" charset="2"/>
              <a:buChar char="v"/>
            </a:pPr>
            <a:r>
              <a:rPr lang="en-GB" dirty="0"/>
              <a:t>these include </a:t>
            </a:r>
            <a:r>
              <a:rPr lang="en-GB" i="1" dirty="0">
                <a:solidFill>
                  <a:srgbClr val="7030A0"/>
                </a:solidFill>
              </a:rPr>
              <a:t>G. palpalis</a:t>
            </a:r>
            <a:r>
              <a:rPr lang="en-GB" dirty="0"/>
              <a:t>, </a:t>
            </a:r>
            <a:r>
              <a:rPr lang="en-GB" i="1" dirty="0">
                <a:solidFill>
                  <a:srgbClr val="7030A0"/>
                </a:solidFill>
              </a:rPr>
              <a:t>G. fuscipes</a:t>
            </a:r>
            <a:r>
              <a:rPr lang="en-GB" dirty="0">
                <a:solidFill>
                  <a:srgbClr val="7030A0"/>
                </a:solidFill>
              </a:rPr>
              <a:t> </a:t>
            </a:r>
            <a:r>
              <a:rPr lang="en-GB" dirty="0"/>
              <a:t>and </a:t>
            </a:r>
            <a:r>
              <a:rPr lang="en-GB" i="1" dirty="0">
                <a:solidFill>
                  <a:srgbClr val="7030A0"/>
                </a:solidFill>
              </a:rPr>
              <a:t>G. tachinoides</a:t>
            </a:r>
            <a:r>
              <a:rPr lang="en-GB" dirty="0"/>
              <a:t>. </a:t>
            </a:r>
          </a:p>
        </p:txBody>
      </p:sp>
    </p:spTree>
    <p:extLst>
      <p:ext uri="{BB962C8B-B14F-4D97-AF65-F5344CB8AC3E}">
        <p14:creationId xmlns:p14="http://schemas.microsoft.com/office/powerpoint/2010/main" val="151246884"/>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5" name="Title 1"/>
          <p:cNvSpPr>
            <a:spLocks noGrp="1"/>
          </p:cNvSpPr>
          <p:nvPr>
            <p:ph type="title"/>
          </p:nvPr>
        </p:nvSpPr>
        <p:spPr/>
        <p:txBody>
          <a:bodyPr>
            <a:normAutofit fontScale="90000"/>
          </a:bodyPr>
          <a:lstStyle/>
          <a:p>
            <a:br>
              <a:rPr lang="en-GB" b="1" dirty="0"/>
            </a:br>
            <a:r>
              <a:rPr lang="en-GB" b="1" dirty="0">
                <a:solidFill>
                  <a:srgbClr val="00B0F0"/>
                </a:solidFill>
              </a:rPr>
              <a:t>Transmission</a:t>
            </a:r>
            <a:r>
              <a:rPr lang="en-GB" b="1" dirty="0"/>
              <a:t> cont’d</a:t>
            </a:r>
            <a:br>
              <a:rPr lang="en-US" dirty="0"/>
            </a:br>
            <a:endParaRPr lang="en-US" dirty="0"/>
          </a:p>
        </p:txBody>
      </p:sp>
      <p:sp>
        <p:nvSpPr>
          <p:cNvPr id="1048686" name="Content Placeholder 2"/>
          <p:cNvSpPr>
            <a:spLocks noGrp="1"/>
          </p:cNvSpPr>
          <p:nvPr>
            <p:ph idx="1"/>
          </p:nvPr>
        </p:nvSpPr>
        <p:spPr/>
        <p:txBody>
          <a:bodyPr>
            <a:normAutofit fontScale="96875"/>
          </a:bodyPr>
          <a:lstStyle/>
          <a:p>
            <a:pPr>
              <a:buFont typeface="Wingdings" pitchFamily="2" charset="2"/>
              <a:buChar char="v"/>
            </a:pPr>
            <a:r>
              <a:rPr lang="en-GB" i="1" dirty="0">
                <a:solidFill>
                  <a:srgbClr val="00B0F0"/>
                </a:solidFill>
              </a:rPr>
              <a:t>T.b. rhodesiense</a:t>
            </a:r>
            <a:r>
              <a:rPr lang="en-GB" dirty="0">
                <a:solidFill>
                  <a:srgbClr val="00B0F0"/>
                </a:solidFill>
              </a:rPr>
              <a:t> </a:t>
            </a:r>
            <a:r>
              <a:rPr lang="en-GB" dirty="0"/>
              <a:t>is transmitted by </a:t>
            </a:r>
            <a:r>
              <a:rPr lang="en-GB" i="1" dirty="0">
                <a:solidFill>
                  <a:srgbClr val="FF33CC"/>
                </a:solidFill>
              </a:rPr>
              <a:t>G. morsitans</a:t>
            </a:r>
            <a:r>
              <a:rPr lang="en-GB" dirty="0"/>
              <a:t>, </a:t>
            </a:r>
            <a:r>
              <a:rPr lang="en-GB" i="1" dirty="0">
                <a:solidFill>
                  <a:srgbClr val="FF33CC"/>
                </a:solidFill>
              </a:rPr>
              <a:t>G. pallidipes</a:t>
            </a:r>
            <a:r>
              <a:rPr lang="en-GB" dirty="0">
                <a:solidFill>
                  <a:srgbClr val="FF33CC"/>
                </a:solidFill>
              </a:rPr>
              <a:t> </a:t>
            </a:r>
            <a:r>
              <a:rPr lang="en-GB" dirty="0"/>
              <a:t>and </a:t>
            </a:r>
            <a:r>
              <a:rPr lang="en-GB" i="1" dirty="0">
                <a:solidFill>
                  <a:srgbClr val="FF33CC"/>
                </a:solidFill>
              </a:rPr>
              <a:t>G. swynnerstoni</a:t>
            </a:r>
            <a:r>
              <a:rPr lang="en-GB" dirty="0">
                <a:solidFill>
                  <a:srgbClr val="FF33CC"/>
                </a:solidFill>
              </a:rPr>
              <a:t> </a:t>
            </a:r>
            <a:r>
              <a:rPr lang="en-GB" u="sng" dirty="0"/>
              <a:t>all of which live in woodland and savannah areas</a:t>
            </a:r>
            <a:endParaRPr lang="en-US" u="sng" dirty="0"/>
          </a:p>
          <a:p>
            <a:pPr>
              <a:buFont typeface="Wingdings" pitchFamily="2" charset="2"/>
              <a:buChar char="v"/>
            </a:pPr>
            <a:r>
              <a:rPr lang="en-GB" b="1" dirty="0"/>
              <a:t>Both parasites can however be transmitted by either group of tsetse flies</a:t>
            </a:r>
            <a:r>
              <a:rPr lang="en-GB" dirty="0"/>
              <a:t>. </a:t>
            </a:r>
          </a:p>
          <a:p>
            <a:pPr>
              <a:buFont typeface="Wingdings" pitchFamily="2" charset="2"/>
              <a:buChar char="v"/>
            </a:pPr>
            <a:r>
              <a:rPr lang="en-GB" dirty="0">
                <a:solidFill>
                  <a:srgbClr val="00B050"/>
                </a:solidFill>
              </a:rPr>
              <a:t>Humans</a:t>
            </a:r>
            <a:r>
              <a:rPr lang="en-GB" dirty="0"/>
              <a:t> </a:t>
            </a:r>
            <a:r>
              <a:rPr lang="en-GB" dirty="0">
                <a:solidFill>
                  <a:srgbClr val="00B050"/>
                </a:solidFill>
              </a:rPr>
              <a:t>are the main reservoir of infection </a:t>
            </a:r>
            <a:r>
              <a:rPr lang="en-GB" dirty="0"/>
              <a:t>for </a:t>
            </a:r>
            <a:r>
              <a:rPr lang="en-GB" i="1" dirty="0">
                <a:solidFill>
                  <a:srgbClr val="00B0F0"/>
                </a:solidFill>
              </a:rPr>
              <a:t>T.b. gambiense</a:t>
            </a:r>
            <a:r>
              <a:rPr lang="en-GB" dirty="0">
                <a:solidFill>
                  <a:srgbClr val="00B0F0"/>
                </a:solidFill>
              </a:rPr>
              <a:t> </a:t>
            </a:r>
            <a:r>
              <a:rPr lang="en-GB" dirty="0"/>
              <a:t>but some </a:t>
            </a:r>
            <a:r>
              <a:rPr lang="en-GB" dirty="0">
                <a:solidFill>
                  <a:srgbClr val="00B050"/>
                </a:solidFill>
              </a:rPr>
              <a:t>domestic animals </a:t>
            </a:r>
            <a:r>
              <a:rPr lang="en-GB" dirty="0"/>
              <a:t>may also act as </a:t>
            </a:r>
            <a:r>
              <a:rPr lang="en-GB" dirty="0">
                <a:solidFill>
                  <a:srgbClr val="00B050"/>
                </a:solidFill>
              </a:rPr>
              <a:t>reservoir hosts</a:t>
            </a:r>
            <a:endParaRPr lang="en-US" dirty="0">
              <a:solidFill>
                <a:srgbClr val="00B050"/>
              </a:solidFill>
            </a:endParaRPr>
          </a:p>
        </p:txBody>
      </p:sp>
    </p:spTree>
    <p:extLst>
      <p:ext uri="{BB962C8B-B14F-4D97-AF65-F5344CB8AC3E}">
        <p14:creationId xmlns:p14="http://schemas.microsoft.com/office/powerpoint/2010/main" val="822407470"/>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7" name="Title 1"/>
          <p:cNvSpPr>
            <a:spLocks noGrp="1"/>
          </p:cNvSpPr>
          <p:nvPr>
            <p:ph type="title"/>
          </p:nvPr>
        </p:nvSpPr>
        <p:spPr/>
        <p:txBody>
          <a:bodyPr>
            <a:normAutofit fontScale="90000"/>
          </a:bodyPr>
          <a:lstStyle/>
          <a:p>
            <a:br>
              <a:rPr lang="en-GB" b="1" dirty="0"/>
            </a:br>
            <a:r>
              <a:rPr lang="en-GB" b="1" dirty="0">
                <a:solidFill>
                  <a:srgbClr val="00B0F0"/>
                </a:solidFill>
              </a:rPr>
              <a:t>Transmission</a:t>
            </a:r>
            <a:r>
              <a:rPr lang="en-GB" b="1" dirty="0"/>
              <a:t> cont’d</a:t>
            </a:r>
            <a:br>
              <a:rPr lang="en-US" dirty="0"/>
            </a:br>
            <a:endParaRPr lang="en-US" dirty="0"/>
          </a:p>
        </p:txBody>
      </p:sp>
      <p:sp>
        <p:nvSpPr>
          <p:cNvPr id="1048688" name="Content Placeholder 2"/>
          <p:cNvSpPr>
            <a:spLocks noGrp="1"/>
          </p:cNvSpPr>
          <p:nvPr>
            <p:ph idx="1"/>
          </p:nvPr>
        </p:nvSpPr>
        <p:spPr>
          <a:xfrm>
            <a:off x="457200" y="1600200"/>
            <a:ext cx="8229600" cy="5334000"/>
          </a:xfrm>
        </p:spPr>
        <p:txBody>
          <a:bodyPr>
            <a:normAutofit fontScale="96875" lnSpcReduction="10000"/>
          </a:bodyPr>
          <a:lstStyle/>
          <a:p>
            <a:pPr>
              <a:buFont typeface="Wingdings" pitchFamily="2" charset="2"/>
              <a:buChar char="v"/>
            </a:pPr>
            <a:r>
              <a:rPr lang="en-GB" i="1" dirty="0">
                <a:solidFill>
                  <a:srgbClr val="00B0F0"/>
                </a:solidFill>
              </a:rPr>
              <a:t>T.b. rhodesiense</a:t>
            </a:r>
            <a:r>
              <a:rPr lang="en-GB" dirty="0">
                <a:solidFill>
                  <a:srgbClr val="00B0F0"/>
                </a:solidFill>
              </a:rPr>
              <a:t> </a:t>
            </a:r>
            <a:r>
              <a:rPr lang="en-GB" dirty="0"/>
              <a:t>is </a:t>
            </a:r>
            <a:r>
              <a:rPr lang="en-GB" dirty="0">
                <a:solidFill>
                  <a:srgbClr val="00B050"/>
                </a:solidFill>
              </a:rPr>
              <a:t>zoonotic</a:t>
            </a:r>
            <a:r>
              <a:rPr lang="en-GB" dirty="0"/>
              <a:t>,</a:t>
            </a:r>
            <a:r>
              <a:rPr lang="en-GB" u="sng" dirty="0"/>
              <a:t> many game animals being naturally infected </a:t>
            </a:r>
            <a:r>
              <a:rPr lang="en-GB" dirty="0"/>
              <a:t>and</a:t>
            </a:r>
          </a:p>
          <a:p>
            <a:pPr>
              <a:buFont typeface="Wingdings" pitchFamily="2" charset="2"/>
              <a:buChar char="v"/>
            </a:pPr>
            <a:r>
              <a:rPr lang="en-GB" dirty="0"/>
              <a:t> infection can persist for long periods in animals such as the </a:t>
            </a:r>
            <a:r>
              <a:rPr lang="en-GB" dirty="0">
                <a:solidFill>
                  <a:srgbClr val="00B050"/>
                </a:solidFill>
              </a:rPr>
              <a:t>reedbuck</a:t>
            </a:r>
            <a:r>
              <a:rPr lang="en-GB" dirty="0"/>
              <a:t>, </a:t>
            </a:r>
            <a:r>
              <a:rPr lang="en-GB" dirty="0">
                <a:solidFill>
                  <a:srgbClr val="00B050"/>
                </a:solidFill>
              </a:rPr>
              <a:t>warthog</a:t>
            </a:r>
            <a:r>
              <a:rPr lang="en-GB" dirty="0"/>
              <a:t>, </a:t>
            </a:r>
            <a:r>
              <a:rPr lang="en-GB" dirty="0">
                <a:solidFill>
                  <a:srgbClr val="00B050"/>
                </a:solidFill>
              </a:rPr>
              <a:t>hartebeest</a:t>
            </a:r>
            <a:r>
              <a:rPr lang="en-GB" dirty="0"/>
              <a:t>, </a:t>
            </a:r>
            <a:r>
              <a:rPr lang="en-GB" dirty="0">
                <a:solidFill>
                  <a:srgbClr val="00B050"/>
                </a:solidFill>
              </a:rPr>
              <a:t>hyena</a:t>
            </a:r>
            <a:r>
              <a:rPr lang="en-GB" dirty="0"/>
              <a:t>, </a:t>
            </a:r>
            <a:r>
              <a:rPr lang="en-GB" dirty="0">
                <a:solidFill>
                  <a:srgbClr val="00B050"/>
                </a:solidFill>
              </a:rPr>
              <a:t>giraffe</a:t>
            </a:r>
            <a:r>
              <a:rPr lang="en-GB" dirty="0"/>
              <a:t> and the </a:t>
            </a:r>
            <a:r>
              <a:rPr lang="en-GB" dirty="0">
                <a:solidFill>
                  <a:srgbClr val="00B050"/>
                </a:solidFill>
              </a:rPr>
              <a:t>lion</a:t>
            </a:r>
            <a:r>
              <a:rPr lang="en-GB" dirty="0"/>
              <a:t>. </a:t>
            </a:r>
          </a:p>
          <a:p>
            <a:pPr>
              <a:buFont typeface="Wingdings" pitchFamily="2" charset="2"/>
              <a:buChar char="v"/>
            </a:pPr>
            <a:r>
              <a:rPr lang="en-GB" dirty="0"/>
              <a:t>Those at greatest risk of infection are </a:t>
            </a:r>
            <a:r>
              <a:rPr lang="en-GB" dirty="0">
                <a:solidFill>
                  <a:schemeClr val="accent6"/>
                </a:solidFill>
              </a:rPr>
              <a:t>travellers</a:t>
            </a:r>
            <a:r>
              <a:rPr lang="en-GB" dirty="0"/>
              <a:t>, </a:t>
            </a:r>
            <a:r>
              <a:rPr lang="en-GB" dirty="0">
                <a:solidFill>
                  <a:schemeClr val="accent6"/>
                </a:solidFill>
              </a:rPr>
              <a:t>fishermen</a:t>
            </a:r>
            <a:r>
              <a:rPr lang="en-GB" dirty="0"/>
              <a:t>, </a:t>
            </a:r>
            <a:r>
              <a:rPr lang="en-GB" dirty="0">
                <a:solidFill>
                  <a:schemeClr val="accent6"/>
                </a:solidFill>
              </a:rPr>
              <a:t>hunters</a:t>
            </a:r>
            <a:r>
              <a:rPr lang="en-GB" dirty="0"/>
              <a:t>, </a:t>
            </a:r>
            <a:r>
              <a:rPr lang="en-GB" dirty="0">
                <a:solidFill>
                  <a:schemeClr val="accent6"/>
                </a:solidFill>
              </a:rPr>
              <a:t>honey collectors </a:t>
            </a:r>
            <a:r>
              <a:rPr lang="en-GB" dirty="0"/>
              <a:t>and </a:t>
            </a:r>
            <a:r>
              <a:rPr lang="en-GB" dirty="0">
                <a:solidFill>
                  <a:schemeClr val="accent6"/>
                </a:solidFill>
              </a:rPr>
              <a:t>members of Trypanosomiasis Control Teams</a:t>
            </a:r>
            <a:r>
              <a:rPr lang="en-GB" dirty="0"/>
              <a:t> as well as </a:t>
            </a:r>
          </a:p>
          <a:p>
            <a:pPr>
              <a:buFont typeface="Wingdings" pitchFamily="2" charset="2"/>
              <a:buChar char="v"/>
            </a:pPr>
            <a:r>
              <a:rPr lang="en-GB" dirty="0"/>
              <a:t>those who enter endemic areas including </a:t>
            </a:r>
            <a:r>
              <a:rPr lang="en-GB" dirty="0">
                <a:solidFill>
                  <a:schemeClr val="accent6"/>
                </a:solidFill>
              </a:rPr>
              <a:t>tourists</a:t>
            </a:r>
            <a:r>
              <a:rPr lang="en-GB" dirty="0"/>
              <a:t>. </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62136013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9" name="Title 1"/>
          <p:cNvSpPr>
            <a:spLocks noGrp="1"/>
          </p:cNvSpPr>
          <p:nvPr>
            <p:ph type="title"/>
          </p:nvPr>
        </p:nvSpPr>
        <p:spPr/>
        <p:txBody>
          <a:bodyPr>
            <a:normAutofit fontScale="90000"/>
          </a:bodyPr>
          <a:lstStyle/>
          <a:p>
            <a:br>
              <a:rPr lang="en-GB" b="1" dirty="0"/>
            </a:br>
            <a:r>
              <a:rPr lang="en-GB" b="1" dirty="0">
                <a:solidFill>
                  <a:srgbClr val="00B0F0"/>
                </a:solidFill>
              </a:rPr>
              <a:t>Transmission</a:t>
            </a:r>
            <a:r>
              <a:rPr lang="en-GB" b="1" dirty="0"/>
              <a:t> cont’d</a:t>
            </a:r>
            <a:br>
              <a:rPr lang="en-US" dirty="0"/>
            </a:br>
            <a:endParaRPr lang="en-US" dirty="0"/>
          </a:p>
        </p:txBody>
      </p:sp>
      <p:sp>
        <p:nvSpPr>
          <p:cNvPr id="1048690" name="Content Placeholder 2"/>
          <p:cNvSpPr>
            <a:spLocks noGrp="1"/>
          </p:cNvSpPr>
          <p:nvPr>
            <p:ph idx="1"/>
          </p:nvPr>
        </p:nvSpPr>
        <p:spPr/>
        <p:txBody>
          <a:bodyPr/>
          <a:lstStyle/>
          <a:p>
            <a:pPr>
              <a:buFont typeface="Wingdings" pitchFamily="2" charset="2"/>
              <a:buChar char="v"/>
            </a:pPr>
            <a:r>
              <a:rPr lang="en-GB" dirty="0">
                <a:solidFill>
                  <a:srgbClr val="00B050"/>
                </a:solidFill>
              </a:rPr>
              <a:t>Humans</a:t>
            </a:r>
            <a:r>
              <a:rPr lang="en-GB" dirty="0"/>
              <a:t> are the </a:t>
            </a:r>
            <a:r>
              <a:rPr lang="en-GB" dirty="0">
                <a:solidFill>
                  <a:srgbClr val="FF0000"/>
                </a:solidFill>
              </a:rPr>
              <a:t>main source of infection </a:t>
            </a:r>
            <a:r>
              <a:rPr lang="en-GB" dirty="0"/>
              <a:t>during epidemics. </a:t>
            </a:r>
          </a:p>
          <a:p>
            <a:pPr>
              <a:buFont typeface="Wingdings" pitchFamily="2" charset="2"/>
              <a:buChar char="v"/>
            </a:pPr>
            <a:r>
              <a:rPr lang="en-GB" dirty="0"/>
              <a:t>The infection can also occur </a:t>
            </a:r>
            <a:r>
              <a:rPr lang="en-GB" dirty="0">
                <a:solidFill>
                  <a:srgbClr val="FF0000"/>
                </a:solidFill>
              </a:rPr>
              <a:t>through fresh blood transfusion</a:t>
            </a:r>
            <a:endParaRPr lang="en-US" dirty="0">
              <a:solidFill>
                <a:srgbClr val="FF0000"/>
              </a:solidFill>
            </a:endParaRPr>
          </a:p>
          <a:p>
            <a:pPr>
              <a:buFont typeface="Wingdings" pitchFamily="2" charset="2"/>
              <a:buChar char="v"/>
            </a:pPr>
            <a:endParaRPr lang="en-US" dirty="0"/>
          </a:p>
        </p:txBody>
      </p:sp>
    </p:spTree>
    <p:extLst>
      <p:ext uri="{BB962C8B-B14F-4D97-AF65-F5344CB8AC3E}">
        <p14:creationId xmlns:p14="http://schemas.microsoft.com/office/powerpoint/2010/main" val="1399194887"/>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1" name="Title 1"/>
          <p:cNvSpPr>
            <a:spLocks noGrp="1"/>
          </p:cNvSpPr>
          <p:nvPr>
            <p:ph type="title"/>
          </p:nvPr>
        </p:nvSpPr>
        <p:spPr/>
        <p:txBody>
          <a:bodyPr>
            <a:normAutofit fontScale="90000"/>
          </a:bodyPr>
          <a:lstStyle/>
          <a:p>
            <a:r>
              <a:rPr lang="en-GB" b="1" dirty="0">
                <a:solidFill>
                  <a:srgbClr val="C00000"/>
                </a:solidFill>
              </a:rPr>
              <a:t>AFRICAN TRYPANOSOMIASIS </a:t>
            </a:r>
            <a:r>
              <a:rPr lang="en-GB" b="1" dirty="0"/>
              <a:t>CONT’D</a:t>
            </a:r>
            <a:endParaRPr lang="en-US" dirty="0"/>
          </a:p>
        </p:txBody>
      </p:sp>
      <p:sp>
        <p:nvSpPr>
          <p:cNvPr id="1048692" name="Content Placeholder 2"/>
          <p:cNvSpPr>
            <a:spLocks noGrp="1"/>
          </p:cNvSpPr>
          <p:nvPr>
            <p:ph idx="1"/>
          </p:nvPr>
        </p:nvSpPr>
        <p:spPr/>
        <p:txBody>
          <a:bodyPr>
            <a:normAutofit fontScale="93750"/>
          </a:bodyPr>
          <a:lstStyle/>
          <a:p>
            <a:pPr marL="0" indent="0" algn="ctr">
              <a:buNone/>
            </a:pPr>
            <a:r>
              <a:rPr lang="en-GB" b="1" dirty="0">
                <a:solidFill>
                  <a:schemeClr val="accent6"/>
                </a:solidFill>
              </a:rPr>
              <a:t>Life cycle</a:t>
            </a:r>
            <a:endParaRPr lang="en-US" dirty="0">
              <a:solidFill>
                <a:schemeClr val="accent6"/>
              </a:solidFill>
            </a:endParaRPr>
          </a:p>
          <a:p>
            <a:r>
              <a:rPr lang="en-GB" dirty="0">
                <a:solidFill>
                  <a:srgbClr val="7030A0"/>
                </a:solidFill>
              </a:rPr>
              <a:t>Metacyclic</a:t>
            </a:r>
            <a:r>
              <a:rPr lang="en-GB" dirty="0"/>
              <a:t> (</a:t>
            </a:r>
            <a:r>
              <a:rPr lang="en-GB" b="1" dirty="0"/>
              <a:t>infective</a:t>
            </a:r>
            <a:r>
              <a:rPr lang="en-GB" dirty="0"/>
              <a:t>) </a:t>
            </a:r>
            <a:r>
              <a:rPr lang="en-GB" dirty="0">
                <a:solidFill>
                  <a:srgbClr val="7030A0"/>
                </a:solidFill>
              </a:rPr>
              <a:t>trypomastigotes</a:t>
            </a:r>
            <a:r>
              <a:rPr lang="en-GB" u="sng" dirty="0"/>
              <a:t> are inoculated through the skin when the infected tsetse flies bite to take a blood meal</a:t>
            </a:r>
            <a:r>
              <a:rPr lang="en-GB" dirty="0"/>
              <a:t>. </a:t>
            </a:r>
          </a:p>
          <a:p>
            <a:r>
              <a:rPr lang="en-GB" dirty="0"/>
              <a:t>The </a:t>
            </a:r>
            <a:r>
              <a:rPr lang="en-GB" u="sng" dirty="0"/>
              <a:t>parasites develop into long slender forms which multiply at the site of inoculation </a:t>
            </a:r>
            <a:r>
              <a:rPr lang="en-GB" dirty="0"/>
              <a:t>and </a:t>
            </a:r>
            <a:r>
              <a:rPr lang="en-GB" u="sng" dirty="0"/>
              <a:t>later in the blood, lymphatic system and tissue fluid</a:t>
            </a:r>
            <a:r>
              <a:rPr lang="en-GB" dirty="0"/>
              <a:t>. </a:t>
            </a:r>
          </a:p>
          <a:p>
            <a:r>
              <a:rPr lang="en-GB" dirty="0"/>
              <a:t>The </a:t>
            </a:r>
            <a:r>
              <a:rPr lang="en-GB" u="sng" dirty="0">
                <a:solidFill>
                  <a:srgbClr val="7030A0"/>
                </a:solidFill>
              </a:rPr>
              <a:t>trypomastigotes</a:t>
            </a:r>
            <a:r>
              <a:rPr lang="en-GB" u="sng" dirty="0"/>
              <a:t> are carried to the </a:t>
            </a:r>
            <a:r>
              <a:rPr lang="en-GB" u="sng" dirty="0">
                <a:solidFill>
                  <a:schemeClr val="accent6">
                    <a:lumMod val="75000"/>
                  </a:schemeClr>
                </a:solidFill>
              </a:rPr>
              <a:t>heart</a:t>
            </a:r>
            <a:r>
              <a:rPr lang="en-GB" u="sng" dirty="0"/>
              <a:t> and other organs and they later invade the </a:t>
            </a:r>
            <a:r>
              <a:rPr lang="en-GB" u="sng" dirty="0">
                <a:solidFill>
                  <a:schemeClr val="accent6">
                    <a:lumMod val="75000"/>
                  </a:schemeClr>
                </a:solidFill>
              </a:rPr>
              <a:t>CNS</a:t>
            </a:r>
            <a:endParaRPr lang="en-US" u="sng" dirty="0">
              <a:solidFill>
                <a:schemeClr val="accent6">
                  <a:lumMod val="75000"/>
                </a:schemeClr>
              </a:solidFill>
            </a:endParaRPr>
          </a:p>
          <a:p>
            <a:endParaRPr lang="en-US" dirty="0"/>
          </a:p>
        </p:txBody>
      </p:sp>
    </p:spTree>
    <p:extLst>
      <p:ext uri="{BB962C8B-B14F-4D97-AF65-F5344CB8AC3E}">
        <p14:creationId xmlns:p14="http://schemas.microsoft.com/office/powerpoint/2010/main" val="88924534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3" name="Title 1"/>
          <p:cNvSpPr>
            <a:spLocks noGrp="1"/>
          </p:cNvSpPr>
          <p:nvPr>
            <p:ph type="title"/>
          </p:nvPr>
        </p:nvSpPr>
        <p:spPr/>
        <p:txBody>
          <a:bodyPr>
            <a:normAutofit fontScale="90000"/>
          </a:bodyPr>
          <a:lstStyle/>
          <a:p>
            <a:br>
              <a:rPr lang="en-GB" b="1" dirty="0"/>
            </a:br>
            <a:r>
              <a:rPr lang="en-GB" b="1" dirty="0"/>
              <a:t>Life cycle cont’d</a:t>
            </a:r>
            <a:br>
              <a:rPr lang="en-US" dirty="0"/>
            </a:br>
            <a:endParaRPr lang="en-US" dirty="0"/>
          </a:p>
        </p:txBody>
      </p:sp>
      <p:sp>
        <p:nvSpPr>
          <p:cNvPr id="1048694" name="Content Placeholder 2"/>
          <p:cNvSpPr>
            <a:spLocks noGrp="1"/>
          </p:cNvSpPr>
          <p:nvPr>
            <p:ph idx="1"/>
          </p:nvPr>
        </p:nvSpPr>
        <p:spPr/>
        <p:txBody>
          <a:bodyPr>
            <a:normAutofit fontScale="96875" lnSpcReduction="10000"/>
          </a:bodyPr>
          <a:lstStyle/>
          <a:p>
            <a:r>
              <a:rPr lang="en-GB" dirty="0"/>
              <a:t>The </a:t>
            </a:r>
            <a:r>
              <a:rPr lang="en-GB" dirty="0">
                <a:solidFill>
                  <a:srgbClr val="7030A0"/>
                </a:solidFill>
              </a:rPr>
              <a:t>trypomastigotes</a:t>
            </a:r>
            <a:r>
              <a:rPr lang="en-GB" u="sng" dirty="0"/>
              <a:t> are then ingested by a biting tsetse fly and in its mid-gut the parasite develops and multiplies. </a:t>
            </a:r>
          </a:p>
          <a:p>
            <a:r>
              <a:rPr lang="en-GB" u="sng" dirty="0"/>
              <a:t>Two-three </a:t>
            </a:r>
            <a:r>
              <a:rPr lang="en-GB" b="1" u="sng" dirty="0"/>
              <a:t>(2-3) weeks later </a:t>
            </a:r>
            <a:r>
              <a:rPr lang="en-GB" u="sng" dirty="0"/>
              <a:t>the </a:t>
            </a:r>
            <a:r>
              <a:rPr lang="en-GB" u="sng" dirty="0">
                <a:solidFill>
                  <a:srgbClr val="7030A0"/>
                </a:solidFill>
              </a:rPr>
              <a:t>trypomastigotes</a:t>
            </a:r>
            <a:r>
              <a:rPr lang="en-GB" u="sng" dirty="0"/>
              <a:t> move to the salivary glands of the fly</a:t>
            </a:r>
            <a:r>
              <a:rPr lang="en-GB" dirty="0"/>
              <a:t> </a:t>
            </a:r>
          </a:p>
          <a:p>
            <a:r>
              <a:rPr lang="en-GB" dirty="0"/>
              <a:t>where they multiply further and become </a:t>
            </a:r>
            <a:r>
              <a:rPr lang="en-GB" dirty="0">
                <a:solidFill>
                  <a:srgbClr val="7030A0"/>
                </a:solidFill>
              </a:rPr>
              <a:t>epimastigotes</a:t>
            </a:r>
            <a:r>
              <a:rPr lang="en-GB" dirty="0"/>
              <a:t> which in turn develop into </a:t>
            </a:r>
            <a:r>
              <a:rPr lang="en-GB" dirty="0">
                <a:solidFill>
                  <a:srgbClr val="7030A0"/>
                </a:solidFill>
              </a:rPr>
              <a:t>metacyclic trypomastigotes</a:t>
            </a:r>
            <a:r>
              <a:rPr lang="en-GB" dirty="0"/>
              <a:t>.</a:t>
            </a:r>
          </a:p>
          <a:p>
            <a:pPr marL="0" indent="0">
              <a:buNone/>
            </a:pPr>
            <a:endParaRPr lang="en-US" dirty="0"/>
          </a:p>
        </p:txBody>
      </p:sp>
    </p:spTree>
    <p:extLst>
      <p:ext uri="{BB962C8B-B14F-4D97-AF65-F5344CB8AC3E}">
        <p14:creationId xmlns:p14="http://schemas.microsoft.com/office/powerpoint/2010/main" val="731315809"/>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5" name="Title 1"/>
          <p:cNvSpPr>
            <a:spLocks noGrp="1"/>
          </p:cNvSpPr>
          <p:nvPr>
            <p:ph type="title"/>
          </p:nvPr>
        </p:nvSpPr>
        <p:spPr/>
        <p:txBody>
          <a:bodyPr>
            <a:normAutofit fontScale="90000"/>
          </a:bodyPr>
          <a:lstStyle/>
          <a:p>
            <a:br>
              <a:rPr lang="en-GB" b="1" dirty="0"/>
            </a:br>
            <a:r>
              <a:rPr lang="en-GB" b="1" dirty="0">
                <a:solidFill>
                  <a:srgbClr val="FFC000"/>
                </a:solidFill>
              </a:rPr>
              <a:t>Life cycle </a:t>
            </a:r>
            <a:r>
              <a:rPr lang="en-GB" b="1" dirty="0"/>
              <a:t>Cont’d</a:t>
            </a:r>
            <a:br>
              <a:rPr lang="en-US" dirty="0"/>
            </a:br>
            <a:endParaRPr lang="en-US" dirty="0"/>
          </a:p>
        </p:txBody>
      </p:sp>
      <p:sp>
        <p:nvSpPr>
          <p:cNvPr id="1048696" name="Content Placeholder 2"/>
          <p:cNvSpPr>
            <a:spLocks noGrp="1"/>
          </p:cNvSpPr>
          <p:nvPr>
            <p:ph idx="1"/>
          </p:nvPr>
        </p:nvSpPr>
        <p:spPr/>
        <p:txBody>
          <a:bodyPr/>
          <a:lstStyle/>
          <a:p>
            <a:r>
              <a:rPr lang="en-GB" u="sng" dirty="0"/>
              <a:t>An infected tsetse fly remains a vector of the disease for the rest of its life</a:t>
            </a:r>
            <a:r>
              <a:rPr lang="en-GB" dirty="0"/>
              <a:t>; </a:t>
            </a:r>
            <a:r>
              <a:rPr lang="en-GB" dirty="0">
                <a:solidFill>
                  <a:srgbClr val="92D050"/>
                </a:solidFill>
              </a:rPr>
              <a:t>a tsetse fly lives for about 3 months</a:t>
            </a:r>
            <a:r>
              <a:rPr lang="en-GB" dirty="0"/>
              <a:t>, averagely. </a:t>
            </a:r>
          </a:p>
          <a:p>
            <a:r>
              <a:rPr lang="en-GB" u="sng" dirty="0"/>
              <a:t>In an endemic area only a small proportion of the flies are infected</a:t>
            </a:r>
            <a:endParaRPr lang="en-US" u="sng" dirty="0"/>
          </a:p>
          <a:p>
            <a:pPr marL="0" indent="0">
              <a:buNone/>
            </a:pPr>
            <a:endParaRPr lang="en-US" dirty="0"/>
          </a:p>
        </p:txBody>
      </p:sp>
    </p:spTree>
    <p:extLst>
      <p:ext uri="{BB962C8B-B14F-4D97-AF65-F5344CB8AC3E}">
        <p14:creationId xmlns:p14="http://schemas.microsoft.com/office/powerpoint/2010/main" val="645109012"/>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7" name="Title 1"/>
          <p:cNvSpPr>
            <a:spLocks noGrp="1"/>
          </p:cNvSpPr>
          <p:nvPr>
            <p:ph type="title"/>
          </p:nvPr>
        </p:nvSpPr>
        <p:spPr>
          <a:xfrm>
            <a:off x="457200" y="274638"/>
            <a:ext cx="8229600" cy="1020762"/>
          </a:xfrm>
        </p:spPr>
        <p:txBody>
          <a:bodyPr>
            <a:normAutofit fontScale="90000"/>
          </a:bodyPr>
          <a:lstStyle/>
          <a:p>
            <a:r>
              <a:rPr lang="en-GB" b="1" dirty="0">
                <a:solidFill>
                  <a:srgbClr val="C00000"/>
                </a:solidFill>
              </a:rPr>
              <a:t>AFRICAN TRYPANOSOMIASIS </a:t>
            </a:r>
            <a:r>
              <a:rPr lang="en-GB" b="1" dirty="0"/>
              <a:t>CONT’D</a:t>
            </a:r>
            <a:endParaRPr lang="en-US" dirty="0"/>
          </a:p>
        </p:txBody>
      </p:sp>
      <p:sp>
        <p:nvSpPr>
          <p:cNvPr id="1048698" name="Content Placeholder 2"/>
          <p:cNvSpPr>
            <a:spLocks noGrp="1"/>
          </p:cNvSpPr>
          <p:nvPr>
            <p:ph idx="1"/>
          </p:nvPr>
        </p:nvSpPr>
        <p:spPr>
          <a:xfrm>
            <a:off x="457200" y="1447800"/>
            <a:ext cx="8229600" cy="5791200"/>
          </a:xfrm>
        </p:spPr>
        <p:txBody>
          <a:bodyPr>
            <a:normAutofit/>
          </a:bodyPr>
          <a:lstStyle/>
          <a:p>
            <a:pPr marL="0" indent="0" algn="ctr">
              <a:buNone/>
            </a:pPr>
            <a:r>
              <a:rPr lang="en-GB" b="1" dirty="0">
                <a:solidFill>
                  <a:srgbClr val="00B0F0"/>
                </a:solidFill>
              </a:rPr>
              <a:t>Symptoms/Pathology</a:t>
            </a:r>
            <a:endParaRPr lang="en-US" dirty="0">
              <a:solidFill>
                <a:srgbClr val="00B0F0"/>
              </a:solidFill>
            </a:endParaRPr>
          </a:p>
          <a:p>
            <a:r>
              <a:rPr lang="en-GB" dirty="0"/>
              <a:t>The disease is a </a:t>
            </a:r>
            <a:r>
              <a:rPr lang="en-GB" dirty="0">
                <a:solidFill>
                  <a:srgbClr val="FF0000"/>
                </a:solidFill>
              </a:rPr>
              <a:t>wasting one and usually fatal unless treated</a:t>
            </a:r>
            <a:r>
              <a:rPr lang="en-GB" dirty="0"/>
              <a:t>. </a:t>
            </a:r>
          </a:p>
          <a:p>
            <a:r>
              <a:rPr lang="en-GB" dirty="0"/>
              <a:t>In </a:t>
            </a:r>
            <a:r>
              <a:rPr lang="en-GB" i="1" dirty="0">
                <a:solidFill>
                  <a:srgbClr val="00B0F0"/>
                </a:solidFill>
              </a:rPr>
              <a:t>rhodesiense</a:t>
            </a:r>
            <a:r>
              <a:rPr lang="en-GB" dirty="0"/>
              <a:t> </a:t>
            </a:r>
            <a:r>
              <a:rPr lang="en-GB" b="1" dirty="0"/>
              <a:t>infections but less commonly </a:t>
            </a:r>
            <a:r>
              <a:rPr lang="en-GB" dirty="0"/>
              <a:t>in the </a:t>
            </a:r>
            <a:r>
              <a:rPr lang="en-GB" i="1" dirty="0">
                <a:solidFill>
                  <a:srgbClr val="00B0F0"/>
                </a:solidFill>
              </a:rPr>
              <a:t>gambiense</a:t>
            </a:r>
            <a:r>
              <a:rPr lang="en-GB" dirty="0"/>
              <a:t>, </a:t>
            </a:r>
            <a:r>
              <a:rPr lang="en-GB" u="sng" dirty="0"/>
              <a:t>a painful swelling called a</a:t>
            </a:r>
          </a:p>
          <a:p>
            <a:r>
              <a:rPr lang="en-GB" u="sng" dirty="0">
                <a:solidFill>
                  <a:srgbClr val="FF0000"/>
                </a:solidFill>
              </a:rPr>
              <a:t>chancre</a:t>
            </a:r>
            <a:r>
              <a:rPr lang="en-GB" u="sng" dirty="0"/>
              <a:t> develops at the site of the bite/inoculation of the parasites</a:t>
            </a:r>
            <a:r>
              <a:rPr lang="en-GB" dirty="0"/>
              <a:t>. </a:t>
            </a:r>
          </a:p>
          <a:p>
            <a:r>
              <a:rPr lang="en-GB" dirty="0"/>
              <a:t>This </a:t>
            </a:r>
            <a:r>
              <a:rPr lang="en-GB" dirty="0">
                <a:solidFill>
                  <a:srgbClr val="FF0000"/>
                </a:solidFill>
              </a:rPr>
              <a:t>chancre</a:t>
            </a:r>
            <a:r>
              <a:rPr lang="en-GB" dirty="0"/>
              <a:t> </a:t>
            </a:r>
            <a:r>
              <a:rPr lang="en-GB" b="1" dirty="0"/>
              <a:t>contains multiplying trypomastigotes</a:t>
            </a:r>
            <a:r>
              <a:rPr lang="en-GB" b="1" u="sng" dirty="0"/>
              <a:t> </a:t>
            </a:r>
            <a:r>
              <a:rPr lang="en-GB" u="sng" dirty="0"/>
              <a:t>but it disappears after about 10 days</a:t>
            </a:r>
            <a:r>
              <a:rPr lang="en-GB" dirty="0"/>
              <a:t>.</a:t>
            </a:r>
            <a:endParaRPr lang="en-US" dirty="0"/>
          </a:p>
          <a:p>
            <a:pPr marL="0" indent="0">
              <a:buNone/>
            </a:pPr>
            <a:endParaRPr lang="en-US" dirty="0"/>
          </a:p>
        </p:txBody>
      </p:sp>
    </p:spTree>
    <p:extLst>
      <p:ext uri="{BB962C8B-B14F-4D97-AF65-F5344CB8AC3E}">
        <p14:creationId xmlns:p14="http://schemas.microsoft.com/office/powerpoint/2010/main" val="2132459876"/>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99" name="Title 1"/>
          <p:cNvSpPr>
            <a:spLocks noGrp="1"/>
          </p:cNvSpPr>
          <p:nvPr>
            <p:ph type="title"/>
          </p:nvPr>
        </p:nvSpPr>
        <p:spPr/>
        <p:txBody>
          <a:bodyPr>
            <a:normAutofit fontScale="90000"/>
          </a:bodyPr>
          <a:lstStyle/>
          <a:p>
            <a:br>
              <a:rPr lang="en-GB" b="1" dirty="0"/>
            </a:br>
            <a:r>
              <a:rPr lang="en-GB" b="1" dirty="0">
                <a:solidFill>
                  <a:srgbClr val="00B0F0"/>
                </a:solidFill>
              </a:rPr>
              <a:t>Symptoms/Pathology</a:t>
            </a:r>
            <a:r>
              <a:rPr lang="en-GB" b="1" dirty="0"/>
              <a:t> Cont’d</a:t>
            </a:r>
            <a:br>
              <a:rPr lang="en-US" dirty="0"/>
            </a:br>
            <a:endParaRPr lang="en-US" dirty="0"/>
          </a:p>
        </p:txBody>
      </p:sp>
      <p:sp>
        <p:nvSpPr>
          <p:cNvPr id="1048700" name="Content Placeholder 2"/>
          <p:cNvSpPr>
            <a:spLocks noGrp="1"/>
          </p:cNvSpPr>
          <p:nvPr>
            <p:ph idx="1"/>
          </p:nvPr>
        </p:nvSpPr>
        <p:spPr/>
        <p:txBody>
          <a:bodyPr>
            <a:normAutofit fontScale="96875"/>
          </a:bodyPr>
          <a:lstStyle/>
          <a:p>
            <a:pPr>
              <a:buFont typeface="Wingdings" pitchFamily="2" charset="2"/>
              <a:buChar char="v"/>
            </a:pPr>
            <a:r>
              <a:rPr lang="en-GB" b="1" u="sng" dirty="0"/>
              <a:t>Early stages of the disease are characterized by</a:t>
            </a:r>
            <a:endParaRPr lang="en-US" b="1" u="sng" dirty="0"/>
          </a:p>
          <a:p>
            <a:pPr lvl="0">
              <a:buFont typeface="Wingdings" pitchFamily="2" charset="2"/>
              <a:buChar char="Ø"/>
            </a:pPr>
            <a:r>
              <a:rPr lang="en-GB" dirty="0">
                <a:solidFill>
                  <a:srgbClr val="00B0F0"/>
                </a:solidFill>
              </a:rPr>
              <a:t>Irregular high fever</a:t>
            </a:r>
            <a:r>
              <a:rPr lang="en-GB" dirty="0"/>
              <a:t>, </a:t>
            </a:r>
            <a:r>
              <a:rPr lang="en-GB" dirty="0">
                <a:solidFill>
                  <a:srgbClr val="00B0F0"/>
                </a:solidFill>
              </a:rPr>
              <a:t>shivering</a:t>
            </a:r>
            <a:r>
              <a:rPr lang="en-GB" dirty="0"/>
              <a:t>, </a:t>
            </a:r>
            <a:r>
              <a:rPr lang="en-GB" dirty="0">
                <a:solidFill>
                  <a:srgbClr val="00B0F0"/>
                </a:solidFill>
              </a:rPr>
              <a:t>sweating</a:t>
            </a:r>
            <a:r>
              <a:rPr lang="en-GB" dirty="0"/>
              <a:t> and an </a:t>
            </a:r>
            <a:r>
              <a:rPr lang="en-GB" dirty="0">
                <a:solidFill>
                  <a:srgbClr val="00B0F0"/>
                </a:solidFill>
              </a:rPr>
              <a:t>increased pulse rate</a:t>
            </a:r>
            <a:endParaRPr lang="en-US" dirty="0">
              <a:solidFill>
                <a:srgbClr val="00B0F0"/>
              </a:solidFill>
            </a:endParaRPr>
          </a:p>
          <a:p>
            <a:pPr lvl="0">
              <a:buFont typeface="Wingdings" pitchFamily="2" charset="2"/>
              <a:buChar char="Ø"/>
            </a:pPr>
            <a:r>
              <a:rPr lang="en-GB" dirty="0">
                <a:solidFill>
                  <a:srgbClr val="00B0F0"/>
                </a:solidFill>
              </a:rPr>
              <a:t>Persistent headache</a:t>
            </a:r>
            <a:endParaRPr lang="en-US" dirty="0">
              <a:solidFill>
                <a:srgbClr val="00B0F0"/>
              </a:solidFill>
            </a:endParaRPr>
          </a:p>
          <a:p>
            <a:pPr lvl="0">
              <a:buFont typeface="Wingdings" pitchFamily="2" charset="2"/>
              <a:buChar char="Ø"/>
            </a:pPr>
            <a:r>
              <a:rPr lang="en-GB" dirty="0">
                <a:solidFill>
                  <a:srgbClr val="00B0F0"/>
                </a:solidFill>
              </a:rPr>
              <a:t>Pains in the neck</a:t>
            </a:r>
            <a:r>
              <a:rPr lang="en-GB" dirty="0"/>
              <a:t>, </a:t>
            </a:r>
            <a:r>
              <a:rPr lang="en-GB" dirty="0">
                <a:solidFill>
                  <a:srgbClr val="00B0F0"/>
                </a:solidFill>
              </a:rPr>
              <a:t>shoulders</a:t>
            </a:r>
            <a:r>
              <a:rPr lang="en-GB" dirty="0"/>
              <a:t> and </a:t>
            </a:r>
            <a:r>
              <a:rPr lang="en-GB" dirty="0">
                <a:solidFill>
                  <a:srgbClr val="00B0F0"/>
                </a:solidFill>
              </a:rPr>
              <a:t>calves</a:t>
            </a:r>
          </a:p>
          <a:p>
            <a:pPr>
              <a:buFont typeface="Wingdings" pitchFamily="2" charset="2"/>
              <a:buChar char="Ø"/>
            </a:pPr>
            <a:r>
              <a:rPr lang="en-GB" dirty="0"/>
              <a:t>Occasionally a </a:t>
            </a:r>
            <a:r>
              <a:rPr lang="en-GB" dirty="0">
                <a:solidFill>
                  <a:srgbClr val="00B0F0"/>
                </a:solidFill>
              </a:rPr>
              <a:t>delayed intense pain to the knuckles</a:t>
            </a:r>
            <a:r>
              <a:rPr lang="en-GB" dirty="0"/>
              <a:t> and </a:t>
            </a:r>
            <a:r>
              <a:rPr lang="en-GB" dirty="0">
                <a:solidFill>
                  <a:srgbClr val="00B0F0"/>
                </a:solidFill>
              </a:rPr>
              <a:t>pressure area </a:t>
            </a:r>
            <a:r>
              <a:rPr lang="en-GB" dirty="0"/>
              <a:t>(this is known as </a:t>
            </a:r>
            <a:r>
              <a:rPr lang="en-GB" dirty="0">
                <a:solidFill>
                  <a:srgbClr val="FF33CC"/>
                </a:solidFill>
              </a:rPr>
              <a:t>Kerandel’s sign</a:t>
            </a:r>
            <a:r>
              <a:rPr lang="en-GB" dirty="0"/>
              <a:t>)</a:t>
            </a:r>
            <a:endParaRPr lang="en-US" dirty="0"/>
          </a:p>
          <a:p>
            <a:pPr lvl="0">
              <a:buFont typeface="Wingdings" pitchFamily="2" charset="2"/>
              <a:buChar char="Ø"/>
            </a:pPr>
            <a:endParaRPr lang="en-US" dirty="0"/>
          </a:p>
          <a:p>
            <a:endParaRPr lang="en-US" dirty="0"/>
          </a:p>
        </p:txBody>
      </p:sp>
    </p:spTree>
    <p:extLst>
      <p:ext uri="{BB962C8B-B14F-4D97-AF65-F5344CB8AC3E}">
        <p14:creationId xmlns:p14="http://schemas.microsoft.com/office/powerpoint/2010/main" val="280692311"/>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1" name="Title 1"/>
          <p:cNvSpPr>
            <a:spLocks noGrp="1"/>
          </p:cNvSpPr>
          <p:nvPr>
            <p:ph type="title"/>
          </p:nvPr>
        </p:nvSpPr>
        <p:spPr/>
        <p:txBody>
          <a:bodyPr>
            <a:normAutofit fontScale="90000"/>
          </a:bodyPr>
          <a:lstStyle/>
          <a:p>
            <a:br>
              <a:rPr lang="en-GB" b="1" dirty="0"/>
            </a:br>
            <a:r>
              <a:rPr lang="en-GB" b="1" dirty="0">
                <a:solidFill>
                  <a:srgbClr val="00B0F0"/>
                </a:solidFill>
              </a:rPr>
              <a:t>Symptoms/Pathology</a:t>
            </a:r>
            <a:r>
              <a:rPr lang="en-GB" b="1" dirty="0"/>
              <a:t> Cont’d</a:t>
            </a:r>
            <a:br>
              <a:rPr lang="en-US" dirty="0"/>
            </a:br>
            <a:endParaRPr lang="en-US" dirty="0"/>
          </a:p>
        </p:txBody>
      </p:sp>
      <p:sp>
        <p:nvSpPr>
          <p:cNvPr id="1048702" name="Content Placeholder 2"/>
          <p:cNvSpPr>
            <a:spLocks noGrp="1"/>
          </p:cNvSpPr>
          <p:nvPr>
            <p:ph idx="1"/>
          </p:nvPr>
        </p:nvSpPr>
        <p:spPr/>
        <p:txBody>
          <a:bodyPr/>
          <a:lstStyle/>
          <a:p>
            <a:pPr lvl="0">
              <a:buFont typeface="Wingdings" pitchFamily="2" charset="2"/>
              <a:buChar char="Ø"/>
            </a:pPr>
            <a:r>
              <a:rPr lang="en-GB" dirty="0">
                <a:solidFill>
                  <a:srgbClr val="00B0F0"/>
                </a:solidFill>
              </a:rPr>
              <a:t>Lymph glands near the bite area become swollen </a:t>
            </a:r>
            <a:r>
              <a:rPr lang="en-GB" dirty="0"/>
              <a:t>(in </a:t>
            </a:r>
            <a:r>
              <a:rPr lang="en-GB" dirty="0">
                <a:solidFill>
                  <a:srgbClr val="FF33CC"/>
                </a:solidFill>
              </a:rPr>
              <a:t>gambiense infections </a:t>
            </a:r>
            <a:r>
              <a:rPr lang="en-GB" u="sng" dirty="0"/>
              <a:t>the glands at the back of the neck are involved</a:t>
            </a:r>
            <a:r>
              <a:rPr lang="en-GB" dirty="0"/>
              <a:t>, condition known as </a:t>
            </a:r>
            <a:r>
              <a:rPr lang="en-GB" b="1" dirty="0">
                <a:solidFill>
                  <a:srgbClr val="FF33CC"/>
                </a:solidFill>
              </a:rPr>
              <a:t>‘winter bottom’s sign’</a:t>
            </a:r>
            <a:r>
              <a:rPr lang="en-GB" dirty="0">
                <a:solidFill>
                  <a:srgbClr val="FF33CC"/>
                </a:solidFill>
              </a:rPr>
              <a:t>) </a:t>
            </a:r>
          </a:p>
          <a:p>
            <a:pPr lvl="0">
              <a:buFont typeface="Wingdings" pitchFamily="2" charset="2"/>
              <a:buChar char="Ø"/>
            </a:pPr>
            <a:r>
              <a:rPr lang="en-GB" dirty="0"/>
              <a:t>while in </a:t>
            </a:r>
            <a:r>
              <a:rPr lang="en-GB" dirty="0">
                <a:solidFill>
                  <a:schemeClr val="accent6">
                    <a:lumMod val="75000"/>
                  </a:schemeClr>
                </a:solidFill>
              </a:rPr>
              <a:t>rhodesiense infections</a:t>
            </a:r>
            <a:r>
              <a:rPr lang="en-GB" dirty="0"/>
              <a:t>, </a:t>
            </a:r>
            <a:r>
              <a:rPr lang="en-GB" u="sng" dirty="0"/>
              <a:t>it is usually the glands under the jaw</a:t>
            </a:r>
            <a:r>
              <a:rPr lang="en-GB" dirty="0"/>
              <a:t>, </a:t>
            </a:r>
            <a:r>
              <a:rPr lang="en-GB" u="sng" dirty="0"/>
              <a:t>in the armpit</a:t>
            </a:r>
            <a:r>
              <a:rPr lang="en-GB" dirty="0"/>
              <a:t>, </a:t>
            </a:r>
            <a:r>
              <a:rPr lang="en-GB" u="sng" dirty="0"/>
              <a:t>at the base of the elbow</a:t>
            </a:r>
            <a:r>
              <a:rPr lang="en-GB" dirty="0"/>
              <a:t>, or </a:t>
            </a:r>
            <a:r>
              <a:rPr lang="en-GB" u="sng" dirty="0"/>
              <a:t>in the groin</a:t>
            </a:r>
            <a:endParaRPr lang="en-US" u="sng" dirty="0"/>
          </a:p>
          <a:p>
            <a:endParaRPr lang="en-US" dirty="0"/>
          </a:p>
        </p:txBody>
      </p:sp>
    </p:spTree>
    <p:extLst>
      <p:ext uri="{BB962C8B-B14F-4D97-AF65-F5344CB8AC3E}">
        <p14:creationId xmlns:p14="http://schemas.microsoft.com/office/powerpoint/2010/main" val="4240356257"/>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3" name="Title 1"/>
          <p:cNvSpPr>
            <a:spLocks noGrp="1"/>
          </p:cNvSpPr>
          <p:nvPr>
            <p:ph type="title"/>
          </p:nvPr>
        </p:nvSpPr>
        <p:spPr/>
        <p:txBody>
          <a:bodyPr>
            <a:normAutofit fontScale="90000"/>
          </a:bodyPr>
          <a:lstStyle/>
          <a:p>
            <a:br>
              <a:rPr lang="en-GB" b="1" dirty="0"/>
            </a:br>
            <a:r>
              <a:rPr lang="en-GB" b="1" dirty="0">
                <a:solidFill>
                  <a:srgbClr val="00B0F0"/>
                </a:solidFill>
              </a:rPr>
              <a:t>Symptoms/Pathology</a:t>
            </a:r>
            <a:r>
              <a:rPr lang="en-GB" b="1" dirty="0"/>
              <a:t> Cont’d</a:t>
            </a:r>
            <a:br>
              <a:rPr lang="en-US" dirty="0"/>
            </a:br>
            <a:endParaRPr lang="en-US" dirty="0"/>
          </a:p>
        </p:txBody>
      </p:sp>
      <p:sp>
        <p:nvSpPr>
          <p:cNvPr id="1048704" name="Content Placeholder 2"/>
          <p:cNvSpPr>
            <a:spLocks noGrp="1"/>
          </p:cNvSpPr>
          <p:nvPr>
            <p:ph idx="1"/>
          </p:nvPr>
        </p:nvSpPr>
        <p:spPr/>
        <p:txBody>
          <a:bodyPr>
            <a:normAutofit/>
          </a:bodyPr>
          <a:lstStyle/>
          <a:p>
            <a:pPr algn="ctr">
              <a:buFont typeface="Wingdings" pitchFamily="2" charset="2"/>
              <a:buChar char="v"/>
            </a:pPr>
            <a:r>
              <a:rPr lang="en-GB" b="1" dirty="0">
                <a:solidFill>
                  <a:srgbClr val="FF0000"/>
                </a:solidFill>
              </a:rPr>
              <a:t>As the disease progresses</a:t>
            </a:r>
            <a:r>
              <a:rPr lang="en-GB" b="1" dirty="0"/>
              <a:t>;</a:t>
            </a:r>
            <a:endParaRPr lang="en-US" b="1" dirty="0"/>
          </a:p>
          <a:p>
            <a:pPr lvl="0">
              <a:buFont typeface="Wingdings" pitchFamily="2" charset="2"/>
              <a:buChar char="Ø"/>
            </a:pPr>
            <a:r>
              <a:rPr lang="en-GB" dirty="0"/>
              <a:t>The </a:t>
            </a:r>
            <a:r>
              <a:rPr lang="en-GB" dirty="0">
                <a:solidFill>
                  <a:srgbClr val="00B0F0"/>
                </a:solidFill>
              </a:rPr>
              <a:t>spleen becomes enlarged</a:t>
            </a:r>
            <a:endParaRPr lang="en-US" dirty="0">
              <a:solidFill>
                <a:srgbClr val="00B0F0"/>
              </a:solidFill>
            </a:endParaRPr>
          </a:p>
          <a:p>
            <a:pPr lvl="0">
              <a:buFont typeface="Wingdings" pitchFamily="2" charset="2"/>
              <a:buChar char="Ø"/>
            </a:pPr>
            <a:r>
              <a:rPr lang="en-GB" dirty="0"/>
              <a:t>There is </a:t>
            </a:r>
            <a:r>
              <a:rPr lang="en-GB" dirty="0">
                <a:solidFill>
                  <a:srgbClr val="00B0F0"/>
                </a:solidFill>
              </a:rPr>
              <a:t>oedema of the eyelids and face</a:t>
            </a:r>
            <a:endParaRPr lang="en-US" dirty="0">
              <a:solidFill>
                <a:srgbClr val="00B0F0"/>
              </a:solidFill>
            </a:endParaRPr>
          </a:p>
          <a:p>
            <a:pPr lvl="0">
              <a:buFont typeface="Wingdings" pitchFamily="2" charset="2"/>
              <a:buChar char="Ø"/>
            </a:pPr>
            <a:r>
              <a:rPr lang="en-GB" dirty="0">
                <a:solidFill>
                  <a:srgbClr val="00B0F0"/>
                </a:solidFill>
              </a:rPr>
              <a:t>Sleepiness</a:t>
            </a:r>
            <a:r>
              <a:rPr lang="en-GB" dirty="0"/>
              <a:t>, </a:t>
            </a:r>
            <a:r>
              <a:rPr lang="en-GB" dirty="0">
                <a:solidFill>
                  <a:srgbClr val="00B0F0"/>
                </a:solidFill>
              </a:rPr>
              <a:t>aimless scratching of the skin </a:t>
            </a:r>
            <a:r>
              <a:rPr lang="en-GB" dirty="0"/>
              <a:t>and often a </a:t>
            </a:r>
            <a:r>
              <a:rPr lang="en-GB" dirty="0">
                <a:solidFill>
                  <a:srgbClr val="00B0F0"/>
                </a:solidFill>
              </a:rPr>
              <a:t>transient rash</a:t>
            </a:r>
            <a:endParaRPr lang="en-US" dirty="0">
              <a:solidFill>
                <a:srgbClr val="00B0F0"/>
              </a:solidFill>
            </a:endParaRPr>
          </a:p>
          <a:p>
            <a:pPr lvl="0">
              <a:buFont typeface="Wingdings" pitchFamily="2" charset="2"/>
              <a:buChar char="Ø"/>
            </a:pPr>
            <a:r>
              <a:rPr lang="en-GB" b="1" dirty="0"/>
              <a:t>In men </a:t>
            </a:r>
            <a:r>
              <a:rPr lang="en-GB" dirty="0">
                <a:solidFill>
                  <a:srgbClr val="00B0F0"/>
                </a:solidFill>
              </a:rPr>
              <a:t>impotence may occur </a:t>
            </a:r>
            <a:r>
              <a:rPr lang="en-GB" dirty="0"/>
              <a:t>and </a:t>
            </a:r>
            <a:r>
              <a:rPr lang="en-GB" b="1" dirty="0"/>
              <a:t>in women </a:t>
            </a:r>
            <a:r>
              <a:rPr lang="en-GB" dirty="0">
                <a:solidFill>
                  <a:srgbClr val="00B0F0"/>
                </a:solidFill>
              </a:rPr>
              <a:t>abortion</a:t>
            </a:r>
            <a:r>
              <a:rPr lang="en-GB" dirty="0"/>
              <a:t> or </a:t>
            </a:r>
            <a:r>
              <a:rPr lang="en-GB" dirty="0">
                <a:solidFill>
                  <a:srgbClr val="00B0F0"/>
                </a:solidFill>
              </a:rPr>
              <a:t>amenorrhea</a:t>
            </a:r>
            <a:endParaRPr lang="en-US" dirty="0">
              <a:solidFill>
                <a:srgbClr val="00B0F0"/>
              </a:solidFill>
            </a:endParaRPr>
          </a:p>
          <a:p>
            <a:endParaRPr lang="en-US" dirty="0"/>
          </a:p>
        </p:txBody>
      </p:sp>
    </p:spTree>
    <p:extLst>
      <p:ext uri="{BB962C8B-B14F-4D97-AF65-F5344CB8AC3E}">
        <p14:creationId xmlns:p14="http://schemas.microsoft.com/office/powerpoint/2010/main" val="2517884493"/>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5" name="Title 1"/>
          <p:cNvSpPr>
            <a:spLocks noGrp="1"/>
          </p:cNvSpPr>
          <p:nvPr>
            <p:ph type="title"/>
          </p:nvPr>
        </p:nvSpPr>
        <p:spPr/>
        <p:txBody>
          <a:bodyPr>
            <a:normAutofit fontScale="90000"/>
          </a:bodyPr>
          <a:lstStyle/>
          <a:p>
            <a:br>
              <a:rPr lang="en-GB" b="1" dirty="0"/>
            </a:br>
            <a:r>
              <a:rPr lang="en-GB" b="1" dirty="0">
                <a:solidFill>
                  <a:srgbClr val="00B0F0"/>
                </a:solidFill>
              </a:rPr>
              <a:t>Symptoms/Pathology</a:t>
            </a:r>
            <a:r>
              <a:rPr lang="en-GB" b="1" dirty="0"/>
              <a:t> Cont’d</a:t>
            </a:r>
            <a:br>
              <a:rPr lang="en-US" dirty="0"/>
            </a:br>
            <a:endParaRPr lang="en-US" dirty="0"/>
          </a:p>
        </p:txBody>
      </p:sp>
      <p:sp>
        <p:nvSpPr>
          <p:cNvPr id="1048706" name="Content Placeholder 2"/>
          <p:cNvSpPr>
            <a:spLocks noGrp="1"/>
          </p:cNvSpPr>
          <p:nvPr>
            <p:ph idx="1"/>
          </p:nvPr>
        </p:nvSpPr>
        <p:spPr/>
        <p:txBody>
          <a:bodyPr/>
          <a:lstStyle/>
          <a:p>
            <a:pPr lvl="0"/>
            <a:endParaRPr lang="en-GB" dirty="0"/>
          </a:p>
          <a:p>
            <a:pPr lvl="0">
              <a:buFont typeface="Wingdings" pitchFamily="2" charset="2"/>
              <a:buChar char="Ø"/>
            </a:pPr>
            <a:r>
              <a:rPr lang="en-GB" dirty="0"/>
              <a:t>There may be a </a:t>
            </a:r>
            <a:r>
              <a:rPr lang="en-GB" dirty="0">
                <a:solidFill>
                  <a:srgbClr val="00B0F0"/>
                </a:solidFill>
              </a:rPr>
              <a:t>rapid fall in haemoglobin</a:t>
            </a:r>
            <a:r>
              <a:rPr lang="en-GB" dirty="0"/>
              <a:t>, </a:t>
            </a:r>
            <a:r>
              <a:rPr lang="en-GB" dirty="0">
                <a:solidFill>
                  <a:srgbClr val="00B0F0"/>
                </a:solidFill>
              </a:rPr>
              <a:t>platelet numbers </a:t>
            </a:r>
            <a:r>
              <a:rPr lang="en-GB" dirty="0"/>
              <a:t>but a </a:t>
            </a:r>
            <a:r>
              <a:rPr lang="en-GB" dirty="0">
                <a:solidFill>
                  <a:srgbClr val="00B0F0"/>
                </a:solidFill>
              </a:rPr>
              <a:t>rapid rise in erythrocyte sedimentation rate (ESR)</a:t>
            </a:r>
            <a:endParaRPr lang="en-US" dirty="0">
              <a:solidFill>
                <a:srgbClr val="00B0F0"/>
              </a:solidFill>
            </a:endParaRPr>
          </a:p>
          <a:p>
            <a:pPr lvl="0">
              <a:buFont typeface="Wingdings" pitchFamily="2" charset="2"/>
              <a:buChar char="Ø"/>
            </a:pPr>
            <a:r>
              <a:rPr lang="en-GB" dirty="0"/>
              <a:t>In </a:t>
            </a:r>
            <a:r>
              <a:rPr lang="en-GB" dirty="0">
                <a:solidFill>
                  <a:schemeClr val="accent6">
                    <a:lumMod val="75000"/>
                  </a:schemeClr>
                </a:solidFill>
              </a:rPr>
              <a:t>rhodesiense infections</a:t>
            </a:r>
            <a:r>
              <a:rPr lang="en-GB" dirty="0"/>
              <a:t>,  </a:t>
            </a:r>
            <a:r>
              <a:rPr lang="en-GB" dirty="0">
                <a:solidFill>
                  <a:srgbClr val="00B0F0"/>
                </a:solidFill>
              </a:rPr>
              <a:t>myocardial symptoms</a:t>
            </a:r>
            <a:r>
              <a:rPr lang="en-GB" dirty="0"/>
              <a:t> may also develop</a:t>
            </a:r>
            <a:endParaRPr lang="en-US" dirty="0"/>
          </a:p>
          <a:p>
            <a:pPr marL="0" indent="0">
              <a:buNone/>
            </a:pPr>
            <a:endParaRPr lang="en-US" dirty="0"/>
          </a:p>
        </p:txBody>
      </p:sp>
    </p:spTree>
    <p:extLst>
      <p:ext uri="{BB962C8B-B14F-4D97-AF65-F5344CB8AC3E}">
        <p14:creationId xmlns:p14="http://schemas.microsoft.com/office/powerpoint/2010/main" val="3351793407"/>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7" name="Title 1"/>
          <p:cNvSpPr>
            <a:spLocks noGrp="1"/>
          </p:cNvSpPr>
          <p:nvPr>
            <p:ph type="title"/>
          </p:nvPr>
        </p:nvSpPr>
        <p:spPr/>
        <p:txBody>
          <a:bodyPr>
            <a:normAutofit fontScale="90000"/>
          </a:bodyPr>
          <a:lstStyle/>
          <a:p>
            <a:br>
              <a:rPr lang="en-GB" b="1" dirty="0"/>
            </a:br>
            <a:r>
              <a:rPr lang="en-GB" b="1" dirty="0">
                <a:solidFill>
                  <a:srgbClr val="00B0F0"/>
                </a:solidFill>
              </a:rPr>
              <a:t>Symptoms/Pathology </a:t>
            </a:r>
            <a:r>
              <a:rPr lang="en-GB" b="1" dirty="0"/>
              <a:t>Cont’d</a:t>
            </a:r>
            <a:br>
              <a:rPr lang="en-US" dirty="0"/>
            </a:br>
            <a:endParaRPr lang="en-US" dirty="0"/>
          </a:p>
        </p:txBody>
      </p:sp>
      <p:sp>
        <p:nvSpPr>
          <p:cNvPr id="1048708" name="Content Placeholder 2"/>
          <p:cNvSpPr>
            <a:spLocks noGrp="1"/>
          </p:cNvSpPr>
          <p:nvPr>
            <p:ph idx="1"/>
          </p:nvPr>
        </p:nvSpPr>
        <p:spPr/>
        <p:txBody>
          <a:bodyPr>
            <a:normAutofit fontScale="89375"/>
          </a:bodyPr>
          <a:lstStyle/>
          <a:p>
            <a:pPr>
              <a:buFont typeface="Wingdings" pitchFamily="2" charset="2"/>
              <a:buChar char="v"/>
            </a:pPr>
            <a:r>
              <a:rPr lang="en-GB" b="1" dirty="0">
                <a:solidFill>
                  <a:srgbClr val="FF0000"/>
                </a:solidFill>
              </a:rPr>
              <a:t>Late stages of the infection are characterized </a:t>
            </a:r>
            <a:r>
              <a:rPr lang="en-GB" b="1" dirty="0"/>
              <a:t>by</a:t>
            </a:r>
            <a:endParaRPr lang="en-US" b="1" dirty="0"/>
          </a:p>
          <a:p>
            <a:pPr lvl="0">
              <a:buFont typeface="Wingdings" pitchFamily="2" charset="2"/>
              <a:buChar char="Ø"/>
            </a:pPr>
            <a:r>
              <a:rPr lang="en-GB" dirty="0">
                <a:solidFill>
                  <a:srgbClr val="00B0F0"/>
                </a:solidFill>
              </a:rPr>
              <a:t>Invasion of the CNS </a:t>
            </a:r>
            <a:r>
              <a:rPr lang="en-GB" dirty="0"/>
              <a:t>by the trypanosomes, producing symptoms of </a:t>
            </a:r>
            <a:r>
              <a:rPr lang="en-GB" dirty="0">
                <a:solidFill>
                  <a:srgbClr val="00B0F0"/>
                </a:solidFill>
              </a:rPr>
              <a:t>meningoencephalitis</a:t>
            </a:r>
            <a:r>
              <a:rPr lang="en-GB" dirty="0"/>
              <a:t>, including </a:t>
            </a:r>
            <a:r>
              <a:rPr lang="en-GB" dirty="0">
                <a:solidFill>
                  <a:srgbClr val="00B0F0"/>
                </a:solidFill>
              </a:rPr>
              <a:t>trembling</a:t>
            </a:r>
            <a:r>
              <a:rPr lang="en-GB" dirty="0"/>
              <a:t>, </a:t>
            </a:r>
            <a:r>
              <a:rPr lang="en-GB" dirty="0">
                <a:solidFill>
                  <a:srgbClr val="00B0F0"/>
                </a:solidFill>
              </a:rPr>
              <a:t>inability to speak properly</a:t>
            </a:r>
            <a:r>
              <a:rPr lang="en-GB" dirty="0"/>
              <a:t>, </a:t>
            </a:r>
            <a:r>
              <a:rPr lang="en-GB" dirty="0">
                <a:solidFill>
                  <a:srgbClr val="00B0F0"/>
                </a:solidFill>
              </a:rPr>
              <a:t>progressive mental dullness</a:t>
            </a:r>
            <a:r>
              <a:rPr lang="en-GB" dirty="0"/>
              <a:t>, </a:t>
            </a:r>
            <a:r>
              <a:rPr lang="en-GB" dirty="0">
                <a:solidFill>
                  <a:srgbClr val="00B0F0"/>
                </a:solidFill>
              </a:rPr>
              <a:t>apathy</a:t>
            </a:r>
            <a:r>
              <a:rPr lang="en-GB" dirty="0"/>
              <a:t>, </a:t>
            </a:r>
            <a:r>
              <a:rPr lang="en-GB" dirty="0">
                <a:solidFill>
                  <a:srgbClr val="00B0F0"/>
                </a:solidFill>
              </a:rPr>
              <a:t>excessive sleeping</a:t>
            </a:r>
            <a:r>
              <a:rPr lang="en-GB" dirty="0"/>
              <a:t> and </a:t>
            </a:r>
            <a:r>
              <a:rPr lang="en-GB" dirty="0">
                <a:solidFill>
                  <a:srgbClr val="00B0F0"/>
                </a:solidFill>
              </a:rPr>
              <a:t>incontinence</a:t>
            </a:r>
            <a:r>
              <a:rPr lang="en-GB" dirty="0"/>
              <a:t>.</a:t>
            </a:r>
            <a:endParaRPr lang="en-US" dirty="0"/>
          </a:p>
          <a:p>
            <a:pPr lvl="0">
              <a:buFont typeface="Wingdings" pitchFamily="2" charset="2"/>
              <a:buChar char="Ø"/>
            </a:pPr>
            <a:r>
              <a:rPr lang="en-GB" dirty="0"/>
              <a:t>the </a:t>
            </a:r>
            <a:r>
              <a:rPr lang="en-GB" u="sng" dirty="0"/>
              <a:t>cerebrospinal fluid (</a:t>
            </a:r>
            <a:r>
              <a:rPr lang="en-GB" u="sng" dirty="0" err="1"/>
              <a:t>c.s.f</a:t>
            </a:r>
            <a:r>
              <a:rPr lang="en-GB" u="sng" dirty="0"/>
              <a:t>) usually contains mononuclear cells and some trypanosomes may also be detected</a:t>
            </a:r>
            <a:endParaRPr lang="en-US" u="sng" dirty="0"/>
          </a:p>
          <a:p>
            <a:endParaRPr lang="en-US" dirty="0"/>
          </a:p>
        </p:txBody>
      </p:sp>
    </p:spTree>
    <p:extLst>
      <p:ext uri="{BB962C8B-B14F-4D97-AF65-F5344CB8AC3E}">
        <p14:creationId xmlns:p14="http://schemas.microsoft.com/office/powerpoint/2010/main" val="100295318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09" name="Title 1"/>
          <p:cNvSpPr>
            <a:spLocks noGrp="1"/>
          </p:cNvSpPr>
          <p:nvPr>
            <p:ph type="title"/>
          </p:nvPr>
        </p:nvSpPr>
        <p:spPr/>
        <p:txBody>
          <a:bodyPr>
            <a:normAutofit fontScale="90000"/>
          </a:bodyPr>
          <a:lstStyle/>
          <a:p>
            <a:br>
              <a:rPr lang="en-GB" b="1" dirty="0"/>
            </a:br>
            <a:r>
              <a:rPr lang="en-GB" b="1" dirty="0">
                <a:solidFill>
                  <a:srgbClr val="00B0F0"/>
                </a:solidFill>
              </a:rPr>
              <a:t>Symptoms/Pathology</a:t>
            </a:r>
            <a:r>
              <a:rPr lang="en-GB" b="1" dirty="0"/>
              <a:t> Cont’d</a:t>
            </a:r>
            <a:br>
              <a:rPr lang="en-US" dirty="0"/>
            </a:br>
            <a:endParaRPr lang="en-US" dirty="0"/>
          </a:p>
        </p:txBody>
      </p:sp>
      <p:sp>
        <p:nvSpPr>
          <p:cNvPr id="1048710" name="Content Placeholder 2"/>
          <p:cNvSpPr>
            <a:spLocks noGrp="1"/>
          </p:cNvSpPr>
          <p:nvPr>
            <p:ph idx="1"/>
          </p:nvPr>
        </p:nvSpPr>
        <p:spPr/>
        <p:txBody>
          <a:bodyPr>
            <a:normAutofit fontScale="93750" lnSpcReduction="10000"/>
          </a:bodyPr>
          <a:lstStyle/>
          <a:p>
            <a:pPr lvl="0">
              <a:buFont typeface="Wingdings" pitchFamily="2" charset="2"/>
              <a:buChar char="Ø"/>
            </a:pPr>
            <a:r>
              <a:rPr lang="en-GB" dirty="0"/>
              <a:t>the </a:t>
            </a:r>
            <a:r>
              <a:rPr lang="en-GB" dirty="0">
                <a:solidFill>
                  <a:srgbClr val="00B0F0"/>
                </a:solidFill>
              </a:rPr>
              <a:t>protein content of the </a:t>
            </a:r>
            <a:r>
              <a:rPr lang="en-GB" dirty="0" err="1">
                <a:solidFill>
                  <a:srgbClr val="00B0F0"/>
                </a:solidFill>
              </a:rPr>
              <a:t>c.s.f</a:t>
            </a:r>
            <a:r>
              <a:rPr lang="en-GB" dirty="0">
                <a:solidFill>
                  <a:srgbClr val="00B0F0"/>
                </a:solidFill>
              </a:rPr>
              <a:t> may be raised </a:t>
            </a:r>
            <a:endParaRPr lang="en-US" dirty="0">
              <a:solidFill>
                <a:srgbClr val="00B0F0"/>
              </a:solidFill>
            </a:endParaRPr>
          </a:p>
          <a:p>
            <a:pPr lvl="0">
              <a:buFont typeface="Wingdings" pitchFamily="2" charset="2"/>
              <a:buChar char="Ø"/>
            </a:pPr>
            <a:r>
              <a:rPr lang="en-GB" dirty="0"/>
              <a:t>usually a </a:t>
            </a:r>
            <a:r>
              <a:rPr lang="en-GB" dirty="0">
                <a:solidFill>
                  <a:srgbClr val="00B0F0"/>
                </a:solidFill>
              </a:rPr>
              <a:t>rapid weight loss</a:t>
            </a:r>
            <a:endParaRPr lang="en-US" dirty="0">
              <a:solidFill>
                <a:srgbClr val="00B0F0"/>
              </a:solidFill>
            </a:endParaRPr>
          </a:p>
          <a:p>
            <a:pPr lvl="0">
              <a:buFont typeface="Wingdings" pitchFamily="2" charset="2"/>
              <a:buChar char="Ø"/>
            </a:pPr>
            <a:r>
              <a:rPr lang="en-GB" dirty="0">
                <a:solidFill>
                  <a:srgbClr val="00B0F0"/>
                </a:solidFill>
              </a:rPr>
              <a:t>irregular fever continuing</a:t>
            </a:r>
            <a:r>
              <a:rPr lang="en-GB" dirty="0"/>
              <a:t> </a:t>
            </a:r>
            <a:endParaRPr lang="en-US" dirty="0"/>
          </a:p>
          <a:p>
            <a:pPr lvl="0">
              <a:buFont typeface="Wingdings" pitchFamily="2" charset="2"/>
              <a:buChar char="Ø"/>
            </a:pPr>
            <a:r>
              <a:rPr lang="en-GB" dirty="0">
                <a:solidFill>
                  <a:srgbClr val="00B0F0"/>
                </a:solidFill>
              </a:rPr>
              <a:t>oedema of the limbs </a:t>
            </a:r>
            <a:r>
              <a:rPr lang="en-GB" dirty="0"/>
              <a:t>and </a:t>
            </a:r>
            <a:r>
              <a:rPr lang="en-GB" dirty="0">
                <a:solidFill>
                  <a:srgbClr val="00B0F0"/>
                </a:solidFill>
              </a:rPr>
              <a:t>inability to walk without help</a:t>
            </a:r>
            <a:endParaRPr lang="en-US" dirty="0">
              <a:solidFill>
                <a:srgbClr val="00B0F0"/>
              </a:solidFill>
            </a:endParaRPr>
          </a:p>
          <a:p>
            <a:pPr lvl="0">
              <a:buFont typeface="Wingdings" pitchFamily="2" charset="2"/>
              <a:buChar char="Ø"/>
            </a:pPr>
            <a:r>
              <a:rPr lang="en-GB" dirty="0">
                <a:solidFill>
                  <a:srgbClr val="00B0F0"/>
                </a:solidFill>
              </a:rPr>
              <a:t>Coma</a:t>
            </a:r>
            <a:r>
              <a:rPr lang="en-GB" dirty="0"/>
              <a:t> and finally </a:t>
            </a:r>
            <a:r>
              <a:rPr lang="en-GB" dirty="0">
                <a:solidFill>
                  <a:srgbClr val="FF0000"/>
                </a:solidFill>
              </a:rPr>
              <a:t>death</a:t>
            </a:r>
            <a:r>
              <a:rPr lang="en-GB" dirty="0"/>
              <a:t> if untreated</a:t>
            </a:r>
            <a:endParaRPr lang="en-US" dirty="0"/>
          </a:p>
          <a:p>
            <a:pPr lvl="0">
              <a:buFont typeface="Wingdings" pitchFamily="2" charset="2"/>
              <a:buChar char="Ø"/>
            </a:pPr>
            <a:r>
              <a:rPr lang="en-GB" b="1" dirty="0"/>
              <a:t>Signs more seen in </a:t>
            </a:r>
            <a:r>
              <a:rPr lang="en-GB" i="1" dirty="0">
                <a:solidFill>
                  <a:srgbClr val="FF33CC"/>
                </a:solidFill>
              </a:rPr>
              <a:t>T.b. gambiense</a:t>
            </a:r>
            <a:r>
              <a:rPr lang="en-GB" dirty="0">
                <a:solidFill>
                  <a:srgbClr val="FF33CC"/>
                </a:solidFill>
              </a:rPr>
              <a:t> infections</a:t>
            </a:r>
            <a:r>
              <a:rPr lang="en-GB" dirty="0"/>
              <a:t>; </a:t>
            </a:r>
            <a:r>
              <a:rPr lang="en-GB" i="1" dirty="0">
                <a:solidFill>
                  <a:schemeClr val="accent6">
                    <a:lumMod val="75000"/>
                  </a:schemeClr>
                </a:solidFill>
              </a:rPr>
              <a:t>T.b. rhodesiense</a:t>
            </a:r>
            <a:r>
              <a:rPr lang="en-GB" dirty="0">
                <a:solidFill>
                  <a:schemeClr val="accent6">
                    <a:lumMod val="75000"/>
                  </a:schemeClr>
                </a:solidFill>
              </a:rPr>
              <a:t> </a:t>
            </a:r>
            <a:r>
              <a:rPr lang="en-GB" u="sng" dirty="0"/>
              <a:t>patients often die before these symptoms are fully developed</a:t>
            </a:r>
            <a:r>
              <a:rPr lang="en-GB" dirty="0"/>
              <a:t>.</a:t>
            </a:r>
            <a:endParaRPr lang="en-US" dirty="0"/>
          </a:p>
          <a:p>
            <a:endParaRPr lang="en-US" dirty="0"/>
          </a:p>
        </p:txBody>
      </p:sp>
    </p:spTree>
    <p:extLst>
      <p:ext uri="{BB962C8B-B14F-4D97-AF65-F5344CB8AC3E}">
        <p14:creationId xmlns:p14="http://schemas.microsoft.com/office/powerpoint/2010/main" val="830589887"/>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1" name="Title 1"/>
          <p:cNvSpPr>
            <a:spLocks noGrp="1"/>
          </p:cNvSpPr>
          <p:nvPr>
            <p:ph type="title"/>
          </p:nvPr>
        </p:nvSpPr>
        <p:spPr/>
        <p:txBody>
          <a:bodyPr>
            <a:normAutofit fontScale="90000"/>
          </a:bodyPr>
          <a:lstStyle/>
          <a:p>
            <a:br>
              <a:rPr lang="en-GB" b="1" i="1" dirty="0"/>
            </a:br>
            <a:r>
              <a:rPr lang="en-GB" b="1" i="1" dirty="0">
                <a:solidFill>
                  <a:srgbClr val="FF33CC"/>
                </a:solidFill>
              </a:rPr>
              <a:t>T.b gambiense</a:t>
            </a:r>
            <a:r>
              <a:rPr lang="en-GB" b="1" dirty="0">
                <a:solidFill>
                  <a:srgbClr val="FF33CC"/>
                </a:solidFill>
              </a:rPr>
              <a:t> </a:t>
            </a:r>
            <a:r>
              <a:rPr lang="en-GB" b="1" dirty="0"/>
              <a:t>and </a:t>
            </a:r>
            <a:r>
              <a:rPr lang="en-GB" b="1" i="1" dirty="0">
                <a:solidFill>
                  <a:schemeClr val="accent6">
                    <a:lumMod val="75000"/>
                  </a:schemeClr>
                </a:solidFill>
              </a:rPr>
              <a:t>T.b rhodesiense</a:t>
            </a:r>
            <a:r>
              <a:rPr lang="en-GB" b="1" dirty="0">
                <a:solidFill>
                  <a:schemeClr val="accent6">
                    <a:lumMod val="75000"/>
                  </a:schemeClr>
                </a:solidFill>
              </a:rPr>
              <a:t> </a:t>
            </a:r>
            <a:r>
              <a:rPr lang="en-GB" b="1" dirty="0">
                <a:solidFill>
                  <a:srgbClr val="FF0000"/>
                </a:solidFill>
              </a:rPr>
              <a:t>infections</a:t>
            </a:r>
            <a:br>
              <a:rPr lang="en-US" dirty="0"/>
            </a:br>
            <a:endParaRPr lang="en-US" dirty="0"/>
          </a:p>
        </p:txBody>
      </p:sp>
      <p:sp>
        <p:nvSpPr>
          <p:cNvPr id="1048712" name="Content Placeholder 2"/>
          <p:cNvSpPr>
            <a:spLocks noGrp="1"/>
          </p:cNvSpPr>
          <p:nvPr>
            <p:ph idx="1"/>
          </p:nvPr>
        </p:nvSpPr>
        <p:spPr/>
        <p:txBody>
          <a:bodyPr>
            <a:normAutofit fontScale="93750" lnSpcReduction="10000"/>
          </a:bodyPr>
          <a:lstStyle/>
          <a:p>
            <a:pPr>
              <a:buFont typeface="Wingdings" pitchFamily="2" charset="2"/>
              <a:buChar char="v"/>
            </a:pPr>
            <a:endParaRPr lang="en-GB" i="1" dirty="0"/>
          </a:p>
          <a:p>
            <a:pPr>
              <a:buFont typeface="Wingdings" pitchFamily="2" charset="2"/>
              <a:buChar char="v"/>
            </a:pPr>
            <a:r>
              <a:rPr lang="en-GB" i="1" dirty="0">
                <a:solidFill>
                  <a:srgbClr val="FF33CC"/>
                </a:solidFill>
              </a:rPr>
              <a:t>T.b.g</a:t>
            </a:r>
            <a:r>
              <a:rPr lang="en-GB" i="1" dirty="0"/>
              <a:t>.</a:t>
            </a:r>
            <a:r>
              <a:rPr lang="en-GB" dirty="0"/>
              <a:t> </a:t>
            </a:r>
            <a:r>
              <a:rPr lang="en-GB" u="sng" dirty="0"/>
              <a:t>is more adapted to humans </a:t>
            </a:r>
            <a:r>
              <a:rPr lang="en-GB" dirty="0"/>
              <a:t>than </a:t>
            </a:r>
            <a:r>
              <a:rPr lang="en-GB" i="1" dirty="0">
                <a:solidFill>
                  <a:schemeClr val="accent6">
                    <a:lumMod val="75000"/>
                  </a:schemeClr>
                </a:solidFill>
              </a:rPr>
              <a:t>T.b.r.</a:t>
            </a:r>
            <a:r>
              <a:rPr lang="en-GB" dirty="0">
                <a:solidFill>
                  <a:schemeClr val="accent6">
                    <a:lumMod val="75000"/>
                  </a:schemeClr>
                </a:solidFill>
              </a:rPr>
              <a:t> </a:t>
            </a:r>
            <a:r>
              <a:rPr lang="en-GB" dirty="0"/>
              <a:t>hence </a:t>
            </a:r>
            <a:r>
              <a:rPr lang="en-GB" dirty="0">
                <a:solidFill>
                  <a:srgbClr val="FF33CC"/>
                </a:solidFill>
              </a:rPr>
              <a:t>gambiense</a:t>
            </a:r>
            <a:r>
              <a:rPr lang="en-GB" dirty="0"/>
              <a:t> </a:t>
            </a:r>
            <a:r>
              <a:rPr lang="en-GB" dirty="0">
                <a:solidFill>
                  <a:srgbClr val="FF0000"/>
                </a:solidFill>
              </a:rPr>
              <a:t>sleeping sickness </a:t>
            </a:r>
            <a:r>
              <a:rPr lang="en-GB" u="sng" dirty="0"/>
              <a:t>tends to be more chronic, showing early by lymphatic involvement and swollen glands</a:t>
            </a:r>
            <a:r>
              <a:rPr lang="en-GB" dirty="0"/>
              <a:t>.</a:t>
            </a:r>
            <a:endParaRPr lang="en-US" dirty="0"/>
          </a:p>
          <a:p>
            <a:pPr>
              <a:buFont typeface="Wingdings" pitchFamily="2" charset="2"/>
              <a:buChar char="v"/>
            </a:pPr>
            <a:r>
              <a:rPr lang="en-GB" dirty="0"/>
              <a:t>Other symptoms develop slowly over several months</a:t>
            </a:r>
          </a:p>
          <a:p>
            <a:pPr>
              <a:buFont typeface="Wingdings" pitchFamily="2" charset="2"/>
              <a:buChar char="v"/>
            </a:pPr>
            <a:r>
              <a:rPr lang="en-GB" dirty="0"/>
              <a:t>. The </a:t>
            </a:r>
            <a:r>
              <a:rPr lang="en-GB" i="1" dirty="0">
                <a:solidFill>
                  <a:srgbClr val="FF33CC"/>
                </a:solidFill>
              </a:rPr>
              <a:t>T.b.g</a:t>
            </a:r>
            <a:r>
              <a:rPr lang="en-GB" dirty="0">
                <a:solidFill>
                  <a:srgbClr val="FF33CC"/>
                </a:solidFill>
              </a:rPr>
              <a:t>. parasites </a:t>
            </a:r>
            <a:r>
              <a:rPr lang="en-GB" b="1" dirty="0"/>
              <a:t>are more difficult to find in the blood </a:t>
            </a:r>
            <a:r>
              <a:rPr lang="en-GB" u="sng" dirty="0"/>
              <a:t>but more commonly found in aspirates of enlarged lymphatic glands</a:t>
            </a:r>
            <a:r>
              <a:rPr lang="en-GB" dirty="0"/>
              <a:t>.</a:t>
            </a:r>
            <a:endParaRPr lang="en-US" dirty="0"/>
          </a:p>
          <a:p>
            <a:pPr marL="0" indent="0">
              <a:buNone/>
            </a:pPr>
            <a:endParaRPr lang="en-US" dirty="0"/>
          </a:p>
        </p:txBody>
      </p:sp>
    </p:spTree>
    <p:extLst>
      <p:ext uri="{BB962C8B-B14F-4D97-AF65-F5344CB8AC3E}">
        <p14:creationId xmlns:p14="http://schemas.microsoft.com/office/powerpoint/2010/main" val="362489046"/>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3" name="Title 1"/>
          <p:cNvSpPr>
            <a:spLocks noGrp="1"/>
          </p:cNvSpPr>
          <p:nvPr>
            <p:ph type="title"/>
          </p:nvPr>
        </p:nvSpPr>
        <p:spPr/>
        <p:txBody>
          <a:bodyPr>
            <a:normAutofit fontScale="90000"/>
          </a:bodyPr>
          <a:lstStyle/>
          <a:p>
            <a:r>
              <a:rPr lang="en-GB" b="1" i="1" dirty="0">
                <a:solidFill>
                  <a:srgbClr val="FF33CC"/>
                </a:solidFill>
              </a:rPr>
              <a:t>T.b gambiense</a:t>
            </a:r>
            <a:r>
              <a:rPr lang="en-GB" b="1" dirty="0">
                <a:solidFill>
                  <a:srgbClr val="FF33CC"/>
                </a:solidFill>
              </a:rPr>
              <a:t> </a:t>
            </a:r>
            <a:r>
              <a:rPr lang="en-GB" b="1" dirty="0"/>
              <a:t>and </a:t>
            </a:r>
            <a:r>
              <a:rPr lang="en-GB" b="1" i="1" dirty="0">
                <a:solidFill>
                  <a:schemeClr val="accent6">
                    <a:lumMod val="75000"/>
                  </a:schemeClr>
                </a:solidFill>
              </a:rPr>
              <a:t>T.b rhodesiense</a:t>
            </a:r>
            <a:r>
              <a:rPr lang="en-GB" b="1" dirty="0">
                <a:solidFill>
                  <a:schemeClr val="accent6">
                    <a:lumMod val="75000"/>
                  </a:schemeClr>
                </a:solidFill>
              </a:rPr>
              <a:t> </a:t>
            </a:r>
            <a:r>
              <a:rPr lang="en-GB" b="1" dirty="0">
                <a:solidFill>
                  <a:srgbClr val="FF0000"/>
                </a:solidFill>
              </a:rPr>
              <a:t>infections</a:t>
            </a:r>
            <a:r>
              <a:rPr lang="en-GB" b="1" dirty="0"/>
              <a:t> cont’d</a:t>
            </a:r>
            <a:endParaRPr lang="en-US" dirty="0"/>
          </a:p>
        </p:txBody>
      </p:sp>
      <p:sp>
        <p:nvSpPr>
          <p:cNvPr id="1048714" name="Content Placeholder 2"/>
          <p:cNvSpPr>
            <a:spLocks noGrp="1"/>
          </p:cNvSpPr>
          <p:nvPr>
            <p:ph idx="1"/>
          </p:nvPr>
        </p:nvSpPr>
        <p:spPr/>
        <p:txBody>
          <a:bodyPr/>
          <a:lstStyle/>
          <a:p>
            <a:pPr>
              <a:buFont typeface="Wingdings" pitchFamily="2" charset="2"/>
              <a:buChar char="v"/>
            </a:pPr>
            <a:endParaRPr lang="en-GB" i="1" dirty="0"/>
          </a:p>
          <a:p>
            <a:pPr>
              <a:buFont typeface="Wingdings" pitchFamily="2" charset="2"/>
              <a:buChar char="v"/>
            </a:pPr>
            <a:r>
              <a:rPr lang="en-GB" i="1" dirty="0">
                <a:solidFill>
                  <a:schemeClr val="accent6">
                    <a:lumMod val="75000"/>
                  </a:schemeClr>
                </a:solidFill>
              </a:rPr>
              <a:t>T.b.r. </a:t>
            </a:r>
            <a:r>
              <a:rPr lang="en-GB" dirty="0">
                <a:solidFill>
                  <a:schemeClr val="accent6">
                    <a:lumMod val="75000"/>
                  </a:schemeClr>
                </a:solidFill>
              </a:rPr>
              <a:t>infections </a:t>
            </a:r>
            <a:r>
              <a:rPr lang="en-GB" b="1" dirty="0"/>
              <a:t>tend to be more acute</a:t>
            </a:r>
            <a:r>
              <a:rPr lang="en-GB" dirty="0"/>
              <a:t>, with a rapid development of </a:t>
            </a:r>
            <a:r>
              <a:rPr lang="en-GB" dirty="0">
                <a:solidFill>
                  <a:srgbClr val="FF0000"/>
                </a:solidFill>
              </a:rPr>
              <a:t>encephalitis</a:t>
            </a:r>
            <a:r>
              <a:rPr lang="en-GB" dirty="0"/>
              <a:t> and symptoms </a:t>
            </a:r>
            <a:r>
              <a:rPr lang="en-GB" dirty="0">
                <a:solidFill>
                  <a:srgbClr val="FF0000"/>
                </a:solidFill>
              </a:rPr>
              <a:t>leading to early death from toxaemia or heart failure</a:t>
            </a:r>
            <a:r>
              <a:rPr lang="en-GB" dirty="0"/>
              <a:t>.</a:t>
            </a:r>
            <a:endParaRPr lang="en-US" dirty="0"/>
          </a:p>
          <a:p>
            <a:pPr>
              <a:buFont typeface="Wingdings" pitchFamily="2" charset="2"/>
              <a:buChar char="v"/>
            </a:pPr>
            <a:r>
              <a:rPr lang="en-GB" i="1" dirty="0">
                <a:solidFill>
                  <a:schemeClr val="accent6">
                    <a:lumMod val="75000"/>
                  </a:schemeClr>
                </a:solidFill>
              </a:rPr>
              <a:t>T.b.r. </a:t>
            </a:r>
            <a:r>
              <a:rPr lang="en-GB" u="sng" dirty="0"/>
              <a:t>trypanosomes may also be very few and difficult to detect in direct unconcentrated blood preparations</a:t>
            </a:r>
            <a:r>
              <a:rPr lang="en-GB" dirty="0"/>
              <a:t>.</a:t>
            </a:r>
            <a:endParaRPr lang="en-US" dirty="0"/>
          </a:p>
          <a:p>
            <a:pPr marL="0" indent="0">
              <a:buNone/>
            </a:pPr>
            <a:endParaRPr lang="en-US" dirty="0"/>
          </a:p>
        </p:txBody>
      </p:sp>
    </p:spTree>
    <p:extLst>
      <p:ext uri="{BB962C8B-B14F-4D97-AF65-F5344CB8AC3E}">
        <p14:creationId xmlns:p14="http://schemas.microsoft.com/office/powerpoint/2010/main" val="287217761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5" name="Title 1"/>
          <p:cNvSpPr>
            <a:spLocks noGrp="1"/>
          </p:cNvSpPr>
          <p:nvPr>
            <p:ph type="title"/>
          </p:nvPr>
        </p:nvSpPr>
        <p:spPr/>
        <p:txBody>
          <a:bodyPr>
            <a:normAutofit fontScale="90000"/>
          </a:bodyPr>
          <a:lstStyle/>
          <a:p>
            <a:r>
              <a:rPr lang="en-GB" b="1" i="1" dirty="0">
                <a:solidFill>
                  <a:srgbClr val="FF33CC"/>
                </a:solidFill>
              </a:rPr>
              <a:t>T.b gambiense</a:t>
            </a:r>
            <a:r>
              <a:rPr lang="en-GB" b="1" dirty="0">
                <a:solidFill>
                  <a:srgbClr val="FF33CC"/>
                </a:solidFill>
              </a:rPr>
              <a:t> </a:t>
            </a:r>
            <a:r>
              <a:rPr lang="en-GB" b="1" dirty="0"/>
              <a:t>and </a:t>
            </a:r>
            <a:r>
              <a:rPr lang="en-GB" b="1" i="1" dirty="0">
                <a:solidFill>
                  <a:schemeClr val="accent6">
                    <a:lumMod val="75000"/>
                  </a:schemeClr>
                </a:solidFill>
              </a:rPr>
              <a:t>T.b rhodesiense</a:t>
            </a:r>
            <a:r>
              <a:rPr lang="en-GB" b="1" dirty="0">
                <a:solidFill>
                  <a:schemeClr val="accent6">
                    <a:lumMod val="75000"/>
                  </a:schemeClr>
                </a:solidFill>
              </a:rPr>
              <a:t> </a:t>
            </a:r>
            <a:r>
              <a:rPr lang="en-GB" b="1" dirty="0">
                <a:solidFill>
                  <a:srgbClr val="FF0000"/>
                </a:solidFill>
              </a:rPr>
              <a:t>infections</a:t>
            </a:r>
            <a:r>
              <a:rPr lang="en-GB" b="1" dirty="0"/>
              <a:t> cont’d</a:t>
            </a:r>
            <a:endParaRPr lang="en-US" dirty="0"/>
          </a:p>
        </p:txBody>
      </p:sp>
      <p:sp>
        <p:nvSpPr>
          <p:cNvPr id="1048716" name="Content Placeholder 2"/>
          <p:cNvSpPr>
            <a:spLocks noGrp="1"/>
          </p:cNvSpPr>
          <p:nvPr>
            <p:ph idx="1"/>
          </p:nvPr>
        </p:nvSpPr>
        <p:spPr/>
        <p:txBody>
          <a:bodyPr/>
          <a:lstStyle/>
          <a:p>
            <a:pPr>
              <a:buFont typeface="Wingdings" pitchFamily="2" charset="2"/>
              <a:buChar char="v"/>
            </a:pPr>
            <a:endParaRPr lang="en-GB" dirty="0"/>
          </a:p>
          <a:p>
            <a:pPr>
              <a:buFont typeface="Wingdings" pitchFamily="2" charset="2"/>
              <a:buChar char="v"/>
            </a:pPr>
            <a:r>
              <a:rPr lang="en-GB" b="1" dirty="0"/>
              <a:t>Occasionally</a:t>
            </a:r>
            <a:r>
              <a:rPr lang="en-GB" dirty="0"/>
              <a:t>, </a:t>
            </a:r>
            <a:r>
              <a:rPr lang="en-GB" i="1" dirty="0">
                <a:solidFill>
                  <a:srgbClr val="FF33CC"/>
                </a:solidFill>
              </a:rPr>
              <a:t>T.b.g.</a:t>
            </a:r>
            <a:r>
              <a:rPr lang="en-GB" dirty="0">
                <a:solidFill>
                  <a:srgbClr val="FF33CC"/>
                </a:solidFill>
              </a:rPr>
              <a:t> infection </a:t>
            </a:r>
            <a:r>
              <a:rPr lang="en-GB" b="1" dirty="0"/>
              <a:t>can be acute </a:t>
            </a:r>
            <a:r>
              <a:rPr lang="en-GB" dirty="0"/>
              <a:t>especially in epidemics and infection with </a:t>
            </a:r>
            <a:r>
              <a:rPr lang="en-GB" i="1" dirty="0">
                <a:solidFill>
                  <a:schemeClr val="accent6">
                    <a:lumMod val="75000"/>
                  </a:schemeClr>
                </a:solidFill>
              </a:rPr>
              <a:t>T.b.r</a:t>
            </a:r>
            <a:r>
              <a:rPr lang="en-GB" i="1" dirty="0"/>
              <a:t>.</a:t>
            </a:r>
            <a:r>
              <a:rPr lang="en-GB" dirty="0"/>
              <a:t> may be chronic.</a:t>
            </a:r>
            <a:endParaRPr lang="en-US" dirty="0"/>
          </a:p>
          <a:p>
            <a:pPr>
              <a:buFont typeface="Wingdings" pitchFamily="2" charset="2"/>
              <a:buChar char="v"/>
            </a:pPr>
            <a:r>
              <a:rPr lang="en-GB" dirty="0"/>
              <a:t>In some cases, </a:t>
            </a:r>
            <a:r>
              <a:rPr lang="en-GB" dirty="0">
                <a:solidFill>
                  <a:srgbClr val="92D050"/>
                </a:solidFill>
              </a:rPr>
              <a:t>‘healthy’ asymptomatic carriers </a:t>
            </a:r>
            <a:r>
              <a:rPr lang="en-GB" dirty="0"/>
              <a:t>of both </a:t>
            </a:r>
            <a:r>
              <a:rPr lang="en-GB" i="1" dirty="0"/>
              <a:t>T.b.g</a:t>
            </a:r>
            <a:r>
              <a:rPr lang="en-GB" dirty="0"/>
              <a:t>. and </a:t>
            </a:r>
            <a:r>
              <a:rPr lang="en-GB" i="1" dirty="0"/>
              <a:t>T.b.r. </a:t>
            </a:r>
            <a:r>
              <a:rPr lang="en-GB" dirty="0"/>
              <a:t>have been found.</a:t>
            </a:r>
            <a:endParaRPr lang="en-US" dirty="0"/>
          </a:p>
          <a:p>
            <a:endParaRPr lang="en-US" dirty="0"/>
          </a:p>
        </p:txBody>
      </p:sp>
    </p:spTree>
    <p:extLst>
      <p:ext uri="{BB962C8B-B14F-4D97-AF65-F5344CB8AC3E}">
        <p14:creationId xmlns:p14="http://schemas.microsoft.com/office/powerpoint/2010/main" val="1503706123"/>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7" name="Title 1"/>
          <p:cNvSpPr>
            <a:spLocks noGrp="1"/>
          </p:cNvSpPr>
          <p:nvPr>
            <p:ph type="title"/>
          </p:nvPr>
        </p:nvSpPr>
        <p:spPr/>
        <p:txBody>
          <a:bodyPr>
            <a:normAutofit fontScale="90000"/>
          </a:bodyPr>
          <a:lstStyle/>
          <a:p>
            <a:r>
              <a:rPr lang="en-GB" b="1" dirty="0">
                <a:solidFill>
                  <a:srgbClr val="C00000"/>
                </a:solidFill>
              </a:rPr>
              <a:t>AFRICAN TRYPANOSOMIASIS </a:t>
            </a:r>
            <a:r>
              <a:rPr lang="en-GB" b="1" dirty="0"/>
              <a:t>CONT’D</a:t>
            </a:r>
            <a:endParaRPr lang="en-US" dirty="0"/>
          </a:p>
        </p:txBody>
      </p:sp>
      <p:sp>
        <p:nvSpPr>
          <p:cNvPr id="1048718" name="Content Placeholder 2"/>
          <p:cNvSpPr>
            <a:spLocks noGrp="1"/>
          </p:cNvSpPr>
          <p:nvPr>
            <p:ph idx="1"/>
          </p:nvPr>
        </p:nvSpPr>
        <p:spPr/>
        <p:txBody>
          <a:bodyPr/>
          <a:lstStyle/>
          <a:p>
            <a:pPr marL="0" indent="0" algn="ctr">
              <a:buNone/>
            </a:pPr>
            <a:endParaRPr lang="en-GB" b="1" dirty="0"/>
          </a:p>
          <a:p>
            <a:pPr marL="0" indent="0" algn="ctr">
              <a:buNone/>
            </a:pPr>
            <a:r>
              <a:rPr lang="en-GB" b="1" dirty="0">
                <a:solidFill>
                  <a:srgbClr val="00B050"/>
                </a:solidFill>
              </a:rPr>
              <a:t>Immunity to Infection</a:t>
            </a:r>
            <a:endParaRPr lang="en-US" dirty="0">
              <a:solidFill>
                <a:srgbClr val="00B050"/>
              </a:solidFill>
            </a:endParaRPr>
          </a:p>
          <a:p>
            <a:pPr>
              <a:buFont typeface="Wingdings" pitchFamily="2" charset="2"/>
              <a:buChar char="v"/>
            </a:pPr>
            <a:r>
              <a:rPr lang="en-GB" dirty="0"/>
              <a:t>Trypanosome infections </a:t>
            </a:r>
            <a:r>
              <a:rPr lang="en-GB" dirty="0">
                <a:solidFill>
                  <a:srgbClr val="00B050"/>
                </a:solidFill>
              </a:rPr>
              <a:t>stimulate a humoral antibody response</a:t>
            </a:r>
            <a:r>
              <a:rPr lang="en-GB" dirty="0"/>
              <a:t> and </a:t>
            </a:r>
            <a:r>
              <a:rPr lang="en-GB" dirty="0">
                <a:solidFill>
                  <a:srgbClr val="00B050"/>
                </a:solidFill>
              </a:rPr>
              <a:t>B lymphocytes </a:t>
            </a:r>
            <a:r>
              <a:rPr lang="en-GB" dirty="0"/>
              <a:t>producing </a:t>
            </a:r>
            <a:r>
              <a:rPr lang="en-GB" u="sng" dirty="0"/>
              <a:t>large amounts of </a:t>
            </a:r>
            <a:r>
              <a:rPr lang="en-GB" u="sng" dirty="0">
                <a:solidFill>
                  <a:srgbClr val="00B0F0"/>
                </a:solidFill>
              </a:rPr>
              <a:t>IgM</a:t>
            </a:r>
            <a:r>
              <a:rPr lang="en-GB" dirty="0"/>
              <a:t>, followed </a:t>
            </a:r>
            <a:r>
              <a:rPr lang="en-GB" u="sng" dirty="0"/>
              <a:t>later by </a:t>
            </a:r>
            <a:r>
              <a:rPr lang="en-GB" u="sng" dirty="0">
                <a:solidFill>
                  <a:srgbClr val="00B0F0"/>
                </a:solidFill>
              </a:rPr>
              <a:t>IgG</a:t>
            </a:r>
            <a:r>
              <a:rPr lang="en-GB" dirty="0"/>
              <a:t>.</a:t>
            </a:r>
            <a:endParaRPr lang="en-US" dirty="0"/>
          </a:p>
          <a:p>
            <a:endParaRPr lang="en-US" dirty="0"/>
          </a:p>
        </p:txBody>
      </p:sp>
    </p:spTree>
    <p:extLst>
      <p:ext uri="{BB962C8B-B14F-4D97-AF65-F5344CB8AC3E}">
        <p14:creationId xmlns:p14="http://schemas.microsoft.com/office/powerpoint/2010/main" val="195585452"/>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19" name="Title 1"/>
          <p:cNvSpPr>
            <a:spLocks noGrp="1"/>
          </p:cNvSpPr>
          <p:nvPr>
            <p:ph type="title"/>
          </p:nvPr>
        </p:nvSpPr>
        <p:spPr/>
        <p:txBody>
          <a:bodyPr>
            <a:normAutofit fontScale="90000"/>
          </a:bodyPr>
          <a:lstStyle/>
          <a:p>
            <a:br>
              <a:rPr lang="en-GB" b="1" dirty="0"/>
            </a:br>
            <a:r>
              <a:rPr lang="en-GB" b="1" dirty="0">
                <a:solidFill>
                  <a:srgbClr val="00B050"/>
                </a:solidFill>
              </a:rPr>
              <a:t>Immunity to Infection </a:t>
            </a:r>
            <a:r>
              <a:rPr lang="en-GB" b="1" dirty="0"/>
              <a:t>cont’d</a:t>
            </a:r>
            <a:br>
              <a:rPr lang="en-US" dirty="0"/>
            </a:br>
            <a:endParaRPr lang="en-US" dirty="0"/>
          </a:p>
        </p:txBody>
      </p:sp>
      <p:sp>
        <p:nvSpPr>
          <p:cNvPr id="1048720" name="Content Placeholder 2"/>
          <p:cNvSpPr>
            <a:spLocks noGrp="1"/>
          </p:cNvSpPr>
          <p:nvPr>
            <p:ph idx="1"/>
          </p:nvPr>
        </p:nvSpPr>
        <p:spPr/>
        <p:txBody>
          <a:bodyPr>
            <a:normAutofit fontScale="92500" lnSpcReduction="10000"/>
          </a:bodyPr>
          <a:lstStyle/>
          <a:p>
            <a:pPr>
              <a:buFont typeface="Wingdings" pitchFamily="2" charset="2"/>
              <a:buChar char="v"/>
            </a:pPr>
            <a:r>
              <a:rPr lang="en-GB" u="sng" dirty="0"/>
              <a:t>The antibodies are effective in destroying the parasites which triggered their production</a:t>
            </a:r>
            <a:r>
              <a:rPr lang="en-GB" dirty="0"/>
              <a:t>,</a:t>
            </a:r>
          </a:p>
          <a:p>
            <a:pPr>
              <a:buFont typeface="Wingdings" pitchFamily="2" charset="2"/>
              <a:buChar char="v"/>
            </a:pPr>
            <a:r>
              <a:rPr lang="en-GB" dirty="0"/>
              <a:t> </a:t>
            </a:r>
            <a:r>
              <a:rPr lang="en-GB" dirty="0">
                <a:solidFill>
                  <a:srgbClr val="FF0000"/>
                </a:solidFill>
              </a:rPr>
              <a:t>but soon the parasites change their antigenic expression on their surface</a:t>
            </a:r>
            <a:r>
              <a:rPr lang="en-GB" dirty="0"/>
              <a:t>, </a:t>
            </a:r>
          </a:p>
          <a:p>
            <a:pPr>
              <a:buFont typeface="Wingdings" pitchFamily="2" charset="2"/>
              <a:buChar char="v"/>
            </a:pPr>
            <a:r>
              <a:rPr lang="en-GB" dirty="0">
                <a:solidFill>
                  <a:srgbClr val="FF0000"/>
                </a:solidFill>
              </a:rPr>
              <a:t>thus rendering them no more a target of the antibodies produced earlier </a:t>
            </a:r>
            <a:r>
              <a:rPr lang="en-GB" dirty="0"/>
              <a:t>(</a:t>
            </a:r>
            <a:r>
              <a:rPr lang="en-GB" u="sng" dirty="0"/>
              <a:t>i.e. Variant surface glycoproteins (VSGs)</a:t>
            </a:r>
            <a:r>
              <a:rPr lang="en-GB" dirty="0"/>
              <a:t>).</a:t>
            </a:r>
          </a:p>
          <a:p>
            <a:pPr>
              <a:buFont typeface="Wingdings" pitchFamily="2" charset="2"/>
              <a:buChar char="v"/>
            </a:pPr>
            <a:r>
              <a:rPr lang="en-GB" dirty="0"/>
              <a:t>The </a:t>
            </a:r>
            <a:r>
              <a:rPr lang="en-GB" dirty="0">
                <a:solidFill>
                  <a:srgbClr val="92D050"/>
                </a:solidFill>
              </a:rPr>
              <a:t>new surface proteins produced and expressed on the Trypanosome’s surface in turn stimulate the production of new antibodies </a:t>
            </a:r>
            <a:r>
              <a:rPr lang="en-GB" dirty="0"/>
              <a:t>and </a:t>
            </a:r>
          </a:p>
        </p:txBody>
      </p:sp>
    </p:spTree>
    <p:extLst>
      <p:ext uri="{BB962C8B-B14F-4D97-AF65-F5344CB8AC3E}">
        <p14:creationId xmlns:p14="http://schemas.microsoft.com/office/powerpoint/2010/main" val="1682501414"/>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1" name="Title 1"/>
          <p:cNvSpPr>
            <a:spLocks noGrp="1"/>
          </p:cNvSpPr>
          <p:nvPr>
            <p:ph type="title"/>
          </p:nvPr>
        </p:nvSpPr>
        <p:spPr/>
        <p:txBody>
          <a:bodyPr>
            <a:normAutofit fontScale="90000"/>
          </a:bodyPr>
          <a:lstStyle/>
          <a:p>
            <a:br>
              <a:rPr lang="en-GB" b="1" dirty="0"/>
            </a:br>
            <a:r>
              <a:rPr lang="en-GB" b="1" dirty="0">
                <a:solidFill>
                  <a:srgbClr val="00B050"/>
                </a:solidFill>
              </a:rPr>
              <a:t>Immunity to Infection </a:t>
            </a:r>
            <a:r>
              <a:rPr lang="en-GB" b="1" dirty="0"/>
              <a:t>cont’d</a:t>
            </a:r>
            <a:br>
              <a:rPr lang="en-US" dirty="0"/>
            </a:br>
            <a:endParaRPr lang="en-US" dirty="0"/>
          </a:p>
        </p:txBody>
      </p:sp>
      <p:sp>
        <p:nvSpPr>
          <p:cNvPr id="1048722" name="Content Placeholder 2"/>
          <p:cNvSpPr>
            <a:spLocks noGrp="1"/>
          </p:cNvSpPr>
          <p:nvPr>
            <p:ph idx="1"/>
          </p:nvPr>
        </p:nvSpPr>
        <p:spPr/>
        <p:txBody>
          <a:bodyPr/>
          <a:lstStyle/>
          <a:p>
            <a:pPr>
              <a:buFont typeface="Wingdings" pitchFamily="2" charset="2"/>
              <a:buChar char="v"/>
            </a:pPr>
            <a:r>
              <a:rPr lang="en-GB" u="sng" dirty="0"/>
              <a:t>this process which may be repeated from time to time accounts for the inability to detect the parasite in the blood especially when immunological diagnostic assays are performed</a:t>
            </a:r>
            <a:endParaRPr lang="en-US" u="sng" dirty="0"/>
          </a:p>
          <a:p>
            <a:pPr>
              <a:buFont typeface="Wingdings" pitchFamily="2" charset="2"/>
              <a:buChar char="v"/>
            </a:pPr>
            <a:r>
              <a:rPr lang="en-GB" dirty="0">
                <a:solidFill>
                  <a:srgbClr val="C00000"/>
                </a:solidFill>
              </a:rPr>
              <a:t>It also explains the difficulty in developing a vaccine against the infection</a:t>
            </a:r>
            <a:r>
              <a:rPr lang="en-GB" dirty="0"/>
              <a:t>, </a:t>
            </a:r>
            <a:r>
              <a:rPr lang="en-GB" dirty="0">
                <a:solidFill>
                  <a:schemeClr val="accent6">
                    <a:lumMod val="75000"/>
                  </a:schemeClr>
                </a:solidFill>
              </a:rPr>
              <a:t>especially </a:t>
            </a:r>
            <a:r>
              <a:rPr lang="en-GB" i="1" dirty="0">
                <a:solidFill>
                  <a:schemeClr val="accent6">
                    <a:lumMod val="75000"/>
                  </a:schemeClr>
                </a:solidFill>
              </a:rPr>
              <a:t>T.b.r. </a:t>
            </a:r>
            <a:r>
              <a:rPr lang="en-GB" dirty="0">
                <a:solidFill>
                  <a:schemeClr val="accent6">
                    <a:lumMod val="75000"/>
                  </a:schemeClr>
                </a:solidFill>
              </a:rPr>
              <a:t> </a:t>
            </a:r>
            <a:endParaRPr lang="en-US" dirty="0">
              <a:solidFill>
                <a:schemeClr val="accent6">
                  <a:lumMod val="75000"/>
                </a:schemeClr>
              </a:solidFill>
            </a:endParaRPr>
          </a:p>
          <a:p>
            <a:pPr marL="0" indent="0">
              <a:buNone/>
            </a:pPr>
            <a:endParaRPr lang="en-US" dirty="0"/>
          </a:p>
        </p:txBody>
      </p:sp>
    </p:spTree>
    <p:extLst>
      <p:ext uri="{BB962C8B-B14F-4D97-AF65-F5344CB8AC3E}">
        <p14:creationId xmlns:p14="http://schemas.microsoft.com/office/powerpoint/2010/main" val="2141195328"/>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3" name="Title 1"/>
          <p:cNvSpPr>
            <a:spLocks noGrp="1"/>
          </p:cNvSpPr>
          <p:nvPr>
            <p:ph type="title"/>
          </p:nvPr>
        </p:nvSpPr>
        <p:spPr/>
        <p:txBody>
          <a:bodyPr>
            <a:normAutofit fontScale="90000"/>
          </a:bodyPr>
          <a:lstStyle/>
          <a:p>
            <a:br>
              <a:rPr lang="en-GB" b="1" dirty="0"/>
            </a:br>
            <a:r>
              <a:rPr lang="en-GB" b="1" dirty="0">
                <a:solidFill>
                  <a:srgbClr val="00B050"/>
                </a:solidFill>
              </a:rPr>
              <a:t>Immunity to Infection </a:t>
            </a:r>
            <a:r>
              <a:rPr lang="en-GB" b="1" dirty="0"/>
              <a:t>cont’d</a:t>
            </a:r>
            <a:br>
              <a:rPr lang="en-US" dirty="0"/>
            </a:br>
            <a:endParaRPr lang="en-US" dirty="0"/>
          </a:p>
        </p:txBody>
      </p:sp>
      <p:sp>
        <p:nvSpPr>
          <p:cNvPr id="1048724" name="Content Placeholder 2"/>
          <p:cNvSpPr>
            <a:spLocks noGrp="1"/>
          </p:cNvSpPr>
          <p:nvPr>
            <p:ph idx="1"/>
          </p:nvPr>
        </p:nvSpPr>
        <p:spPr/>
        <p:txBody>
          <a:bodyPr/>
          <a:lstStyle/>
          <a:p>
            <a:pPr>
              <a:buFont typeface="Wingdings" pitchFamily="2" charset="2"/>
              <a:buChar char="v"/>
            </a:pPr>
            <a:r>
              <a:rPr lang="en-GB" dirty="0"/>
              <a:t>A characteristic/feature of African trypanosomiasis is </a:t>
            </a:r>
            <a:r>
              <a:rPr lang="en-GB" dirty="0">
                <a:solidFill>
                  <a:srgbClr val="FF0000"/>
                </a:solidFill>
              </a:rPr>
              <a:t>anaemia</a:t>
            </a:r>
            <a:r>
              <a:rPr lang="en-GB" dirty="0"/>
              <a:t>.</a:t>
            </a:r>
          </a:p>
          <a:p>
            <a:pPr>
              <a:buFont typeface="Wingdings" pitchFamily="2" charset="2"/>
              <a:buChar char="v"/>
            </a:pPr>
            <a:r>
              <a:rPr lang="en-GB" dirty="0"/>
              <a:t> It develops early in the infection and </a:t>
            </a:r>
            <a:r>
              <a:rPr lang="en-GB" dirty="0">
                <a:solidFill>
                  <a:srgbClr val="FF0000"/>
                </a:solidFill>
              </a:rPr>
              <a:t>is due mainly to </a:t>
            </a:r>
            <a:r>
              <a:rPr lang="en-GB" u="sng" dirty="0">
                <a:solidFill>
                  <a:srgbClr val="FF0000"/>
                </a:solidFill>
              </a:rPr>
              <a:t>haemolysis of the RBCs </a:t>
            </a:r>
            <a:r>
              <a:rPr lang="en-GB" dirty="0"/>
              <a:t>and the </a:t>
            </a:r>
            <a:r>
              <a:rPr lang="en-GB" dirty="0">
                <a:solidFill>
                  <a:srgbClr val="FF0000"/>
                </a:solidFill>
              </a:rPr>
              <a:t>removal of immune sensitized RBCs from circulation </a:t>
            </a:r>
            <a:r>
              <a:rPr lang="en-GB" dirty="0"/>
              <a:t>followed later by </a:t>
            </a:r>
            <a:r>
              <a:rPr lang="en-GB" dirty="0">
                <a:solidFill>
                  <a:srgbClr val="FF0000"/>
                </a:solidFill>
              </a:rPr>
              <a:t>reduced bone marrow activity</a:t>
            </a:r>
            <a:r>
              <a:rPr lang="en-GB" dirty="0"/>
              <a:t>.</a:t>
            </a:r>
            <a:endParaRPr lang="en-US" dirty="0"/>
          </a:p>
          <a:p>
            <a:endParaRPr lang="en-US" dirty="0"/>
          </a:p>
        </p:txBody>
      </p:sp>
    </p:spTree>
    <p:extLst>
      <p:ext uri="{BB962C8B-B14F-4D97-AF65-F5344CB8AC3E}">
        <p14:creationId xmlns:p14="http://schemas.microsoft.com/office/powerpoint/2010/main" val="3649750007"/>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5" name="Title 1"/>
          <p:cNvSpPr>
            <a:spLocks noGrp="1"/>
          </p:cNvSpPr>
          <p:nvPr>
            <p:ph type="title"/>
          </p:nvPr>
        </p:nvSpPr>
        <p:spPr/>
        <p:txBody>
          <a:bodyPr>
            <a:normAutofit fontScale="90000"/>
          </a:bodyPr>
          <a:lstStyle/>
          <a:p>
            <a:r>
              <a:rPr lang="en-GB" b="1" dirty="0">
                <a:solidFill>
                  <a:srgbClr val="C00000"/>
                </a:solidFill>
              </a:rPr>
              <a:t>AFRICAN TRYPANOSOMIASIS </a:t>
            </a:r>
            <a:r>
              <a:rPr lang="en-GB" b="1" dirty="0"/>
              <a:t>CONT’D</a:t>
            </a:r>
            <a:endParaRPr lang="en-US" dirty="0"/>
          </a:p>
        </p:txBody>
      </p:sp>
      <p:sp>
        <p:nvSpPr>
          <p:cNvPr id="1048726" name="Content Placeholder 2"/>
          <p:cNvSpPr>
            <a:spLocks noGrp="1"/>
          </p:cNvSpPr>
          <p:nvPr>
            <p:ph idx="1"/>
          </p:nvPr>
        </p:nvSpPr>
        <p:spPr/>
        <p:txBody>
          <a:bodyPr>
            <a:normAutofit lnSpcReduction="10000"/>
          </a:bodyPr>
          <a:lstStyle/>
          <a:p>
            <a:pPr algn="ctr">
              <a:buFont typeface="Wingdings" pitchFamily="2" charset="2"/>
              <a:buChar char="v"/>
            </a:pPr>
            <a:r>
              <a:rPr lang="en-GB" b="1" dirty="0">
                <a:solidFill>
                  <a:srgbClr val="00B050"/>
                </a:solidFill>
              </a:rPr>
              <a:t>Prevention and Control</a:t>
            </a:r>
            <a:endParaRPr lang="en-US" dirty="0">
              <a:solidFill>
                <a:srgbClr val="00B050"/>
              </a:solidFill>
            </a:endParaRPr>
          </a:p>
          <a:p>
            <a:pPr lvl="0">
              <a:buFont typeface="Wingdings" pitchFamily="2" charset="2"/>
              <a:buChar char="Ø"/>
            </a:pPr>
            <a:r>
              <a:rPr lang="en-GB" dirty="0">
                <a:solidFill>
                  <a:srgbClr val="92D050"/>
                </a:solidFill>
              </a:rPr>
              <a:t>Detecting and treatment of infections at an early stage by examination of capillary blood </a:t>
            </a:r>
            <a:r>
              <a:rPr lang="en-GB" dirty="0"/>
              <a:t>using </a:t>
            </a:r>
            <a:r>
              <a:rPr lang="en-GB" dirty="0">
                <a:solidFill>
                  <a:srgbClr val="00B0F0"/>
                </a:solidFill>
              </a:rPr>
              <a:t>indirect fluorescent antibody technique (IFAT) </a:t>
            </a:r>
            <a:r>
              <a:rPr lang="en-GB" dirty="0"/>
              <a:t>or by </a:t>
            </a:r>
            <a:r>
              <a:rPr lang="en-GB" dirty="0">
                <a:solidFill>
                  <a:srgbClr val="00B0F0"/>
                </a:solidFill>
              </a:rPr>
              <a:t>ELISA</a:t>
            </a:r>
            <a:r>
              <a:rPr lang="en-GB" dirty="0"/>
              <a:t>.</a:t>
            </a:r>
            <a:endParaRPr lang="en-US" dirty="0"/>
          </a:p>
          <a:p>
            <a:pPr lvl="0">
              <a:buFont typeface="Wingdings" pitchFamily="2" charset="2"/>
              <a:buChar char="Ø"/>
            </a:pPr>
            <a:r>
              <a:rPr lang="en-GB" dirty="0">
                <a:solidFill>
                  <a:srgbClr val="92D050"/>
                </a:solidFill>
              </a:rPr>
              <a:t>Identification of animal reservoir host </a:t>
            </a:r>
            <a:r>
              <a:rPr lang="en-GB" dirty="0"/>
              <a:t>in endemic areas and </a:t>
            </a:r>
            <a:r>
              <a:rPr lang="en-GB" dirty="0">
                <a:solidFill>
                  <a:srgbClr val="92D050"/>
                </a:solidFill>
              </a:rPr>
              <a:t>either killing them or avoiding /preventing their closeness to human dwellings</a:t>
            </a:r>
            <a:r>
              <a:rPr lang="en-GB" dirty="0"/>
              <a:t>.</a:t>
            </a:r>
            <a:endParaRPr lang="en-US" dirty="0"/>
          </a:p>
          <a:p>
            <a:pPr marL="0" indent="0">
              <a:buNone/>
            </a:pPr>
            <a:endParaRPr lang="en-US" dirty="0"/>
          </a:p>
        </p:txBody>
      </p:sp>
    </p:spTree>
    <p:extLst>
      <p:ext uri="{BB962C8B-B14F-4D97-AF65-F5344CB8AC3E}">
        <p14:creationId xmlns:p14="http://schemas.microsoft.com/office/powerpoint/2010/main" val="170207500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7" name="Title 1"/>
          <p:cNvSpPr>
            <a:spLocks noGrp="1"/>
          </p:cNvSpPr>
          <p:nvPr>
            <p:ph type="title"/>
          </p:nvPr>
        </p:nvSpPr>
        <p:spPr/>
        <p:txBody>
          <a:bodyPr>
            <a:normAutofit fontScale="90000"/>
          </a:bodyPr>
          <a:lstStyle/>
          <a:p>
            <a:br>
              <a:rPr lang="en-GB" b="1" dirty="0"/>
            </a:br>
            <a:r>
              <a:rPr lang="en-GB" b="1" dirty="0">
                <a:solidFill>
                  <a:srgbClr val="00B050"/>
                </a:solidFill>
              </a:rPr>
              <a:t>Prevention and Control </a:t>
            </a:r>
            <a:r>
              <a:rPr lang="en-GB" b="1" dirty="0"/>
              <a:t>cont’d</a:t>
            </a:r>
            <a:br>
              <a:rPr lang="en-US" dirty="0"/>
            </a:br>
            <a:endParaRPr lang="en-US" dirty="0"/>
          </a:p>
        </p:txBody>
      </p:sp>
      <p:sp>
        <p:nvSpPr>
          <p:cNvPr id="1048728" name="Content Placeholder 2"/>
          <p:cNvSpPr>
            <a:spLocks noGrp="1"/>
          </p:cNvSpPr>
          <p:nvPr>
            <p:ph idx="1"/>
          </p:nvPr>
        </p:nvSpPr>
        <p:spPr/>
        <p:txBody>
          <a:bodyPr>
            <a:normAutofit fontScale="92500" lnSpcReduction="20000"/>
          </a:bodyPr>
          <a:lstStyle/>
          <a:p>
            <a:pPr lvl="0">
              <a:buFont typeface="Wingdings" pitchFamily="2" charset="2"/>
              <a:buChar char="Ø"/>
            </a:pPr>
            <a:r>
              <a:rPr lang="en-GB" dirty="0">
                <a:solidFill>
                  <a:srgbClr val="00B050"/>
                </a:solidFill>
              </a:rPr>
              <a:t>Restriction of movement of game animals to within fenced game reserves</a:t>
            </a:r>
            <a:r>
              <a:rPr lang="en-GB" dirty="0"/>
              <a:t>.</a:t>
            </a:r>
            <a:endParaRPr lang="en-US" dirty="0"/>
          </a:p>
          <a:p>
            <a:pPr lvl="0">
              <a:buFont typeface="Wingdings" pitchFamily="2" charset="2"/>
              <a:buChar char="Ø"/>
            </a:pPr>
            <a:r>
              <a:rPr lang="en-GB" u="sng" dirty="0">
                <a:solidFill>
                  <a:srgbClr val="00B050"/>
                </a:solidFill>
              </a:rPr>
              <a:t>Reducing the breeding of tsetse flies</a:t>
            </a:r>
            <a:endParaRPr lang="en-US" u="sng" dirty="0">
              <a:solidFill>
                <a:srgbClr val="00B050"/>
              </a:solidFill>
            </a:endParaRPr>
          </a:p>
          <a:p>
            <a:pPr lvl="0">
              <a:buFont typeface="Wingdings" pitchFamily="2" charset="2"/>
              <a:buChar char="Ø"/>
            </a:pPr>
            <a:r>
              <a:rPr lang="en-GB" u="sng" dirty="0">
                <a:solidFill>
                  <a:srgbClr val="00B050"/>
                </a:solidFill>
              </a:rPr>
              <a:t>Use of insecticide impregnated tsetse fly traps</a:t>
            </a:r>
            <a:endParaRPr lang="en-US" u="sng" dirty="0">
              <a:solidFill>
                <a:srgbClr val="00B050"/>
              </a:solidFill>
            </a:endParaRPr>
          </a:p>
          <a:p>
            <a:pPr lvl="0">
              <a:buFont typeface="Wingdings" pitchFamily="2" charset="2"/>
              <a:buChar char="Ø"/>
            </a:pPr>
            <a:r>
              <a:rPr lang="en-GB" dirty="0">
                <a:solidFill>
                  <a:srgbClr val="00B050"/>
                </a:solidFill>
              </a:rPr>
              <a:t>Spraying of vehicles with insecticides </a:t>
            </a:r>
            <a:r>
              <a:rPr lang="en-GB" dirty="0"/>
              <a:t>as they enter and leave fly infested areas.</a:t>
            </a:r>
            <a:endParaRPr lang="en-US" dirty="0"/>
          </a:p>
          <a:p>
            <a:pPr lvl="0">
              <a:buFont typeface="Wingdings" pitchFamily="2" charset="2"/>
              <a:buChar char="Ø"/>
            </a:pPr>
            <a:r>
              <a:rPr lang="en-GB" u="sng" dirty="0">
                <a:solidFill>
                  <a:srgbClr val="00B050"/>
                </a:solidFill>
              </a:rPr>
              <a:t>Use of Biological control methods </a:t>
            </a:r>
            <a:r>
              <a:rPr lang="en-GB" dirty="0"/>
              <a:t>.e.g. </a:t>
            </a:r>
            <a:r>
              <a:rPr lang="en-GB" b="1" dirty="0"/>
              <a:t>sterilized male technique</a:t>
            </a:r>
            <a:endParaRPr lang="en-US" b="1" dirty="0"/>
          </a:p>
          <a:p>
            <a:pPr lvl="0">
              <a:buFont typeface="Wingdings" pitchFamily="2" charset="2"/>
              <a:buChar char="Ø"/>
            </a:pPr>
            <a:r>
              <a:rPr lang="en-GB" dirty="0">
                <a:solidFill>
                  <a:srgbClr val="00B050"/>
                </a:solidFill>
              </a:rPr>
              <a:t>Avoiding land development schemes which may introduce tsetse fly into an area</a:t>
            </a:r>
            <a:r>
              <a:rPr lang="en-GB" dirty="0"/>
              <a:t>.</a:t>
            </a:r>
            <a:endParaRPr lang="en-US" dirty="0"/>
          </a:p>
        </p:txBody>
      </p:sp>
    </p:spTree>
    <p:extLst>
      <p:ext uri="{BB962C8B-B14F-4D97-AF65-F5344CB8AC3E}">
        <p14:creationId xmlns:p14="http://schemas.microsoft.com/office/powerpoint/2010/main" val="893969269"/>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29" name="Title 1"/>
          <p:cNvSpPr>
            <a:spLocks noGrp="1"/>
          </p:cNvSpPr>
          <p:nvPr>
            <p:ph type="title"/>
          </p:nvPr>
        </p:nvSpPr>
        <p:spPr/>
        <p:txBody>
          <a:bodyPr>
            <a:normAutofit fontScale="90000"/>
          </a:bodyPr>
          <a:lstStyle/>
          <a:p>
            <a:r>
              <a:rPr lang="en-GB" b="1" dirty="0">
                <a:solidFill>
                  <a:srgbClr val="C00000"/>
                </a:solidFill>
              </a:rPr>
              <a:t>AFRICAN TRYPANOSOMIASIS </a:t>
            </a:r>
            <a:r>
              <a:rPr lang="en-GB" b="1" dirty="0"/>
              <a:t>CONT’D</a:t>
            </a:r>
            <a:endParaRPr lang="en-US" dirty="0"/>
          </a:p>
        </p:txBody>
      </p:sp>
      <p:sp>
        <p:nvSpPr>
          <p:cNvPr id="1048730" name="Content Placeholder 2"/>
          <p:cNvSpPr>
            <a:spLocks noGrp="1"/>
          </p:cNvSpPr>
          <p:nvPr>
            <p:ph idx="1"/>
          </p:nvPr>
        </p:nvSpPr>
        <p:spPr/>
        <p:txBody>
          <a:bodyPr>
            <a:normAutofit/>
          </a:bodyPr>
          <a:lstStyle/>
          <a:p>
            <a:pPr algn="ctr">
              <a:buFont typeface="Wingdings" pitchFamily="2" charset="2"/>
              <a:buChar char="v"/>
            </a:pPr>
            <a:r>
              <a:rPr lang="en-GB" b="1" dirty="0">
                <a:solidFill>
                  <a:srgbClr val="00B0F0"/>
                </a:solidFill>
              </a:rPr>
              <a:t>Diagnosis</a:t>
            </a:r>
            <a:endParaRPr lang="en-US" dirty="0">
              <a:solidFill>
                <a:srgbClr val="00B0F0"/>
              </a:solidFill>
            </a:endParaRPr>
          </a:p>
          <a:p>
            <a:pPr lvl="0">
              <a:buFont typeface="Wingdings" pitchFamily="2" charset="2"/>
              <a:buChar char="Ø"/>
            </a:pPr>
            <a:r>
              <a:rPr lang="en-GB" dirty="0">
                <a:solidFill>
                  <a:srgbClr val="00B0F0"/>
                </a:solidFill>
              </a:rPr>
              <a:t>By examination of blood for Trypanosomes</a:t>
            </a:r>
            <a:r>
              <a:rPr lang="en-GB" dirty="0"/>
              <a:t>.</a:t>
            </a:r>
            <a:endParaRPr lang="en-US" dirty="0"/>
          </a:p>
          <a:p>
            <a:pPr lvl="0">
              <a:buFont typeface="Wingdings" pitchFamily="2" charset="2"/>
              <a:buChar char="Ø"/>
            </a:pPr>
            <a:r>
              <a:rPr lang="en-GB" dirty="0"/>
              <a:t>By </a:t>
            </a:r>
            <a:r>
              <a:rPr lang="en-GB" dirty="0">
                <a:solidFill>
                  <a:srgbClr val="00B0F0"/>
                </a:solidFill>
              </a:rPr>
              <a:t>examination of aspirates from enlarged lymph glands </a:t>
            </a:r>
            <a:r>
              <a:rPr lang="en-GB" dirty="0"/>
              <a:t>or </a:t>
            </a:r>
            <a:r>
              <a:rPr lang="en-GB" dirty="0">
                <a:solidFill>
                  <a:srgbClr val="00B0F0"/>
                </a:solidFill>
              </a:rPr>
              <a:t>cerebrospinal fluid for trypanosome </a:t>
            </a:r>
            <a:r>
              <a:rPr lang="en-GB" dirty="0"/>
              <a:t>cells and </a:t>
            </a:r>
            <a:r>
              <a:rPr lang="en-GB" dirty="0">
                <a:solidFill>
                  <a:srgbClr val="00B0F0"/>
                </a:solidFill>
              </a:rPr>
              <a:t>raised blood proteins when CNS involvement is suspected</a:t>
            </a:r>
            <a:r>
              <a:rPr lang="en-GB" dirty="0"/>
              <a:t>.</a:t>
            </a:r>
            <a:endParaRPr lang="en-US" dirty="0"/>
          </a:p>
          <a:p>
            <a:pPr lvl="0">
              <a:buFont typeface="Wingdings" pitchFamily="2" charset="2"/>
              <a:buChar char="Ø"/>
            </a:pPr>
            <a:r>
              <a:rPr lang="en-GB" dirty="0">
                <a:solidFill>
                  <a:srgbClr val="00B0F0"/>
                </a:solidFill>
              </a:rPr>
              <a:t>Testing serum for anti-</a:t>
            </a:r>
            <a:r>
              <a:rPr lang="en-GB" dirty="0" err="1">
                <a:solidFill>
                  <a:srgbClr val="00B0F0"/>
                </a:solidFill>
              </a:rPr>
              <a:t>trypanosomal</a:t>
            </a:r>
            <a:r>
              <a:rPr lang="en-GB" dirty="0">
                <a:solidFill>
                  <a:srgbClr val="00B0F0"/>
                </a:solidFill>
              </a:rPr>
              <a:t> antibodies</a:t>
            </a:r>
            <a:endParaRPr lang="en-US" dirty="0">
              <a:solidFill>
                <a:srgbClr val="00B0F0"/>
              </a:solidFill>
            </a:endParaRPr>
          </a:p>
        </p:txBody>
      </p:sp>
    </p:spTree>
    <p:extLst>
      <p:ext uri="{BB962C8B-B14F-4D97-AF65-F5344CB8AC3E}">
        <p14:creationId xmlns:p14="http://schemas.microsoft.com/office/powerpoint/2010/main" val="3896638986"/>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1" name="Title 1"/>
          <p:cNvSpPr>
            <a:spLocks noGrp="1"/>
          </p:cNvSpPr>
          <p:nvPr>
            <p:ph type="title"/>
          </p:nvPr>
        </p:nvSpPr>
        <p:spPr/>
        <p:txBody>
          <a:bodyPr>
            <a:normAutofit fontScale="90000"/>
          </a:bodyPr>
          <a:lstStyle/>
          <a:p>
            <a:br>
              <a:rPr lang="en-GB" b="1" dirty="0"/>
            </a:br>
            <a:r>
              <a:rPr lang="en-GB" b="1" dirty="0">
                <a:solidFill>
                  <a:srgbClr val="00B0F0"/>
                </a:solidFill>
              </a:rPr>
              <a:t>Diagnosis</a:t>
            </a:r>
            <a:r>
              <a:rPr lang="en-GB" b="1" dirty="0"/>
              <a:t> cont’d</a:t>
            </a:r>
            <a:br>
              <a:rPr lang="en-US" dirty="0"/>
            </a:br>
            <a:endParaRPr lang="en-US" dirty="0"/>
          </a:p>
        </p:txBody>
      </p:sp>
      <p:sp>
        <p:nvSpPr>
          <p:cNvPr id="1048732" name="Content Placeholder 2"/>
          <p:cNvSpPr>
            <a:spLocks noGrp="1"/>
          </p:cNvSpPr>
          <p:nvPr>
            <p:ph idx="1"/>
          </p:nvPr>
        </p:nvSpPr>
        <p:spPr/>
        <p:txBody>
          <a:bodyPr/>
          <a:lstStyle/>
          <a:p>
            <a:pPr lvl="0">
              <a:buFont typeface="Wingdings" pitchFamily="2" charset="2"/>
              <a:buChar char="Ø"/>
            </a:pPr>
            <a:r>
              <a:rPr lang="en-GB" dirty="0"/>
              <a:t>Other tests include: </a:t>
            </a:r>
            <a:r>
              <a:rPr lang="en-GB" dirty="0">
                <a:solidFill>
                  <a:srgbClr val="00B0F0"/>
                </a:solidFill>
              </a:rPr>
              <a:t>reduced platelets count</a:t>
            </a:r>
            <a:r>
              <a:rPr lang="en-GB" dirty="0"/>
              <a:t>, </a:t>
            </a:r>
            <a:r>
              <a:rPr lang="en-GB" dirty="0">
                <a:solidFill>
                  <a:srgbClr val="00B0F0"/>
                </a:solidFill>
              </a:rPr>
              <a:t>rapid fall in the Hb </a:t>
            </a:r>
            <a:r>
              <a:rPr lang="en-GB" dirty="0"/>
              <a:t>with </a:t>
            </a:r>
            <a:r>
              <a:rPr lang="en-GB" dirty="0">
                <a:solidFill>
                  <a:srgbClr val="00B0F0"/>
                </a:solidFill>
              </a:rPr>
              <a:t>reticulocytosis</a:t>
            </a:r>
            <a:r>
              <a:rPr lang="en-GB" dirty="0"/>
              <a:t>, </a:t>
            </a:r>
            <a:r>
              <a:rPr lang="en-GB" dirty="0">
                <a:solidFill>
                  <a:srgbClr val="00B0F0"/>
                </a:solidFill>
              </a:rPr>
              <a:t>significant and rapid rise in ESR</a:t>
            </a:r>
            <a:r>
              <a:rPr lang="en-GB" dirty="0"/>
              <a:t>, </a:t>
            </a:r>
            <a:r>
              <a:rPr lang="en-GB" dirty="0">
                <a:solidFill>
                  <a:srgbClr val="00B0F0"/>
                </a:solidFill>
              </a:rPr>
              <a:t>high levels of IgM in serum</a:t>
            </a:r>
            <a:r>
              <a:rPr lang="en-GB" dirty="0"/>
              <a:t> </a:t>
            </a:r>
            <a:r>
              <a:rPr lang="en-GB" u="sng" dirty="0"/>
              <a:t>and also in CSF in later stages of the disease</a:t>
            </a:r>
            <a:r>
              <a:rPr lang="en-GB" dirty="0"/>
              <a:t>, etc.</a:t>
            </a:r>
            <a:endParaRPr lang="en-US" dirty="0"/>
          </a:p>
          <a:p>
            <a:pPr marL="0" indent="0">
              <a:buNone/>
            </a:pPr>
            <a:endParaRPr lang="en-US" dirty="0"/>
          </a:p>
          <a:p>
            <a:endParaRPr lang="en-US" dirty="0"/>
          </a:p>
        </p:txBody>
      </p:sp>
    </p:spTree>
    <p:extLst>
      <p:ext uri="{BB962C8B-B14F-4D97-AF65-F5344CB8AC3E}">
        <p14:creationId xmlns:p14="http://schemas.microsoft.com/office/powerpoint/2010/main" val="1811688243"/>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3" name="Title 1"/>
          <p:cNvSpPr>
            <a:spLocks noGrp="1"/>
          </p:cNvSpPr>
          <p:nvPr>
            <p:ph type="title"/>
          </p:nvPr>
        </p:nvSpPr>
        <p:spPr/>
        <p:txBody>
          <a:bodyPr>
            <a:normAutofit fontScale="90000"/>
          </a:bodyPr>
          <a:lstStyle/>
          <a:p>
            <a:br>
              <a:rPr lang="en-GB" b="1" i="1" dirty="0"/>
            </a:br>
            <a:r>
              <a:rPr lang="en-GB" b="1" i="1" dirty="0">
                <a:solidFill>
                  <a:srgbClr val="C00000"/>
                </a:solidFill>
              </a:rPr>
              <a:t>TRYPANOSOMA CRUZI</a:t>
            </a:r>
            <a:br>
              <a:rPr lang="en-US" dirty="0"/>
            </a:br>
            <a:endParaRPr lang="en-US" dirty="0"/>
          </a:p>
        </p:txBody>
      </p:sp>
      <p:sp>
        <p:nvSpPr>
          <p:cNvPr id="1048734" name="Content Placeholder 2"/>
          <p:cNvSpPr>
            <a:spLocks noGrp="1"/>
          </p:cNvSpPr>
          <p:nvPr>
            <p:ph idx="1"/>
          </p:nvPr>
        </p:nvSpPr>
        <p:spPr/>
        <p:txBody>
          <a:bodyPr>
            <a:normAutofit fontScale="92500"/>
          </a:bodyPr>
          <a:lstStyle/>
          <a:p>
            <a:pPr>
              <a:buFont typeface="Wingdings" pitchFamily="2" charset="2"/>
              <a:buChar char="v"/>
            </a:pPr>
            <a:r>
              <a:rPr lang="en-GB" dirty="0"/>
              <a:t>This parasite causes </a:t>
            </a:r>
            <a:r>
              <a:rPr lang="en-GB" b="1" u="sng" dirty="0">
                <a:solidFill>
                  <a:srgbClr val="C00000"/>
                </a:solidFill>
              </a:rPr>
              <a:t>American trypanosomiasis</a:t>
            </a:r>
            <a:r>
              <a:rPr lang="en-GB" dirty="0">
                <a:solidFill>
                  <a:srgbClr val="C00000"/>
                </a:solidFill>
              </a:rPr>
              <a:t> </a:t>
            </a:r>
            <a:r>
              <a:rPr lang="en-GB" dirty="0"/>
              <a:t>(also known as </a:t>
            </a:r>
            <a:r>
              <a:rPr lang="en-GB" b="1" dirty="0">
                <a:solidFill>
                  <a:srgbClr val="C00000"/>
                </a:solidFill>
              </a:rPr>
              <a:t>Chagas’ disease</a:t>
            </a:r>
            <a:r>
              <a:rPr lang="en-GB" b="1" dirty="0"/>
              <a:t>)</a:t>
            </a:r>
            <a:r>
              <a:rPr lang="en-GB" dirty="0"/>
              <a:t> </a:t>
            </a:r>
          </a:p>
          <a:p>
            <a:pPr>
              <a:buFont typeface="Wingdings" pitchFamily="2" charset="2"/>
              <a:buChar char="v"/>
            </a:pPr>
            <a:r>
              <a:rPr lang="en-GB" dirty="0"/>
              <a:t>after </a:t>
            </a:r>
            <a:r>
              <a:rPr lang="en-GB" dirty="0">
                <a:solidFill>
                  <a:srgbClr val="00B050"/>
                </a:solidFill>
              </a:rPr>
              <a:t>Carlos Chagas </a:t>
            </a:r>
            <a:r>
              <a:rPr lang="en-GB" u="sng" dirty="0"/>
              <a:t>who first discovered the parasite in the vector in </a:t>
            </a:r>
            <a:r>
              <a:rPr lang="en-GB" u="sng" dirty="0">
                <a:solidFill>
                  <a:srgbClr val="00B050"/>
                </a:solidFill>
              </a:rPr>
              <a:t>1907</a:t>
            </a:r>
            <a:r>
              <a:rPr lang="en-GB" u="sng" dirty="0"/>
              <a:t> and </a:t>
            </a:r>
          </a:p>
          <a:p>
            <a:pPr>
              <a:buFont typeface="Wingdings" pitchFamily="2" charset="2"/>
              <a:buChar char="v"/>
            </a:pPr>
            <a:r>
              <a:rPr lang="en-GB" u="sng" dirty="0"/>
              <a:t>demonstrated that it caused the human disease</a:t>
            </a:r>
            <a:r>
              <a:rPr lang="en-GB" dirty="0"/>
              <a:t>.</a:t>
            </a:r>
            <a:endParaRPr lang="en-US" dirty="0"/>
          </a:p>
          <a:p>
            <a:pPr>
              <a:buFont typeface="Wingdings" pitchFamily="2" charset="2"/>
              <a:buChar char="v"/>
            </a:pPr>
            <a:r>
              <a:rPr lang="en-GB" u="sng" dirty="0"/>
              <a:t>The parasite is </a:t>
            </a:r>
            <a:r>
              <a:rPr lang="en-GB" u="sng" dirty="0">
                <a:solidFill>
                  <a:srgbClr val="0070C0"/>
                </a:solidFill>
              </a:rPr>
              <a:t>represented by a large number of strains</a:t>
            </a:r>
            <a:r>
              <a:rPr lang="en-GB" u="sng" dirty="0"/>
              <a:t> which </a:t>
            </a:r>
            <a:r>
              <a:rPr lang="en-GB" u="sng" dirty="0">
                <a:solidFill>
                  <a:srgbClr val="0070C0"/>
                </a:solidFill>
              </a:rPr>
              <a:t>cannot be distinguished morphologically</a:t>
            </a:r>
            <a:r>
              <a:rPr lang="en-GB" dirty="0"/>
              <a:t>, </a:t>
            </a:r>
            <a:r>
              <a:rPr lang="en-GB" dirty="0">
                <a:solidFill>
                  <a:srgbClr val="0070C0"/>
                </a:solidFill>
              </a:rPr>
              <a:t>hence form a complex</a:t>
            </a:r>
            <a:r>
              <a:rPr lang="en-GB" dirty="0"/>
              <a:t>.</a:t>
            </a:r>
            <a:endParaRPr lang="en-US" dirty="0"/>
          </a:p>
          <a:p>
            <a:endParaRPr lang="en-US" dirty="0"/>
          </a:p>
        </p:txBody>
      </p:sp>
    </p:spTree>
    <p:extLst>
      <p:ext uri="{BB962C8B-B14F-4D97-AF65-F5344CB8AC3E}">
        <p14:creationId xmlns:p14="http://schemas.microsoft.com/office/powerpoint/2010/main" val="59912293"/>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5" name="Title 1"/>
          <p:cNvSpPr>
            <a:spLocks noGrp="1"/>
          </p:cNvSpPr>
          <p:nvPr>
            <p:ph type="title"/>
          </p:nvPr>
        </p:nvSpPr>
        <p:spPr/>
        <p:txBody>
          <a:bodyPr>
            <a:normAutofit fontScale="90000"/>
          </a:bodyPr>
          <a:lstStyle/>
          <a:p>
            <a:br>
              <a:rPr lang="en-GB" b="1" i="1" dirty="0"/>
            </a:br>
            <a:r>
              <a:rPr lang="en-GB" b="1" i="1" dirty="0"/>
              <a:t>TRYPANOSOMA CRUZI</a:t>
            </a:r>
            <a:br>
              <a:rPr lang="en-US" dirty="0"/>
            </a:br>
            <a:endParaRPr lang="en-US" dirty="0"/>
          </a:p>
        </p:txBody>
      </p:sp>
      <p:sp>
        <p:nvSpPr>
          <p:cNvPr id="1048736" name="Content Placeholder 2"/>
          <p:cNvSpPr>
            <a:spLocks noGrp="1"/>
          </p:cNvSpPr>
          <p:nvPr>
            <p:ph idx="1"/>
          </p:nvPr>
        </p:nvSpPr>
        <p:spPr/>
        <p:txBody>
          <a:bodyPr/>
          <a:lstStyle/>
          <a:p>
            <a:pPr lvl="0">
              <a:buFont typeface="Wingdings" pitchFamily="2" charset="2"/>
              <a:buChar char="v"/>
            </a:pPr>
            <a:r>
              <a:rPr lang="en-GB" dirty="0"/>
              <a:t>Enzyme electrophoretic studies of the parasite found in South America have shown </a:t>
            </a:r>
            <a:r>
              <a:rPr lang="en-GB" dirty="0">
                <a:solidFill>
                  <a:srgbClr val="FF0000"/>
                </a:solidFill>
              </a:rPr>
              <a:t>three main strain groups </a:t>
            </a:r>
            <a:r>
              <a:rPr lang="en-GB" u="sng" dirty="0"/>
              <a:t>which differ in their infectivity to humans, their geographical distribution, transmission cycles </a:t>
            </a:r>
            <a:r>
              <a:rPr lang="en-GB" dirty="0"/>
              <a:t>etc.</a:t>
            </a:r>
          </a:p>
          <a:p>
            <a:pPr lvl="0">
              <a:buFont typeface="Wingdings" pitchFamily="2" charset="2"/>
              <a:buChar char="v"/>
            </a:pPr>
            <a:r>
              <a:rPr lang="en-GB" dirty="0"/>
              <a:t> </a:t>
            </a:r>
            <a:r>
              <a:rPr lang="en-GB" u="sng" dirty="0"/>
              <a:t>and possibly may be linked to different forms of the chronic disease</a:t>
            </a:r>
            <a:endParaRPr lang="en-US" u="sng" dirty="0"/>
          </a:p>
          <a:p>
            <a:pPr>
              <a:buFont typeface="Wingdings" pitchFamily="2" charset="2"/>
              <a:buChar char="v"/>
            </a:pPr>
            <a:endParaRPr lang="en-US" dirty="0"/>
          </a:p>
        </p:txBody>
      </p:sp>
    </p:spTree>
    <p:extLst>
      <p:ext uri="{BB962C8B-B14F-4D97-AF65-F5344CB8AC3E}">
        <p14:creationId xmlns:p14="http://schemas.microsoft.com/office/powerpoint/2010/main" val="1365761031"/>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7" name="Title 1"/>
          <p:cNvSpPr>
            <a:spLocks noGrp="1"/>
          </p:cNvSpPr>
          <p:nvPr>
            <p:ph type="title"/>
          </p:nvPr>
        </p:nvSpPr>
        <p:spPr/>
        <p:txBody>
          <a:bodyPr>
            <a:normAutofit fontScale="90000"/>
          </a:bodyPr>
          <a:lstStyle/>
          <a:p>
            <a:br>
              <a:rPr lang="en-GB" b="1" i="1" dirty="0"/>
            </a:br>
            <a:r>
              <a:rPr lang="en-GB" b="1" i="1" dirty="0">
                <a:solidFill>
                  <a:srgbClr val="C00000"/>
                </a:solidFill>
              </a:rPr>
              <a:t>TRYPANOSOMA CRUZI</a:t>
            </a:r>
            <a:br>
              <a:rPr lang="en-US" dirty="0"/>
            </a:br>
            <a:endParaRPr lang="en-US" dirty="0"/>
          </a:p>
        </p:txBody>
      </p:sp>
      <p:sp>
        <p:nvSpPr>
          <p:cNvPr id="1048738" name="Content Placeholder 2"/>
          <p:cNvSpPr>
            <a:spLocks noGrp="1"/>
          </p:cNvSpPr>
          <p:nvPr>
            <p:ph idx="1"/>
          </p:nvPr>
        </p:nvSpPr>
        <p:spPr/>
        <p:txBody>
          <a:bodyPr/>
          <a:lstStyle/>
          <a:p>
            <a:pPr marL="0" indent="0" algn="ctr">
              <a:buNone/>
            </a:pPr>
            <a:r>
              <a:rPr lang="en-GB" b="1" u="sng" dirty="0"/>
              <a:t>Distribution</a:t>
            </a:r>
            <a:r>
              <a:rPr lang="en-GB" b="1" dirty="0"/>
              <a:t> </a:t>
            </a:r>
            <a:endParaRPr lang="en-US" dirty="0"/>
          </a:p>
          <a:p>
            <a:pPr>
              <a:buFont typeface="Wingdings" pitchFamily="2" charset="2"/>
              <a:buChar char="v"/>
            </a:pPr>
            <a:r>
              <a:rPr lang="en-GB" dirty="0"/>
              <a:t>In the Americas, especially </a:t>
            </a:r>
            <a:r>
              <a:rPr lang="en-GB" dirty="0">
                <a:solidFill>
                  <a:srgbClr val="00B0F0"/>
                </a:solidFill>
              </a:rPr>
              <a:t>tropical</a:t>
            </a:r>
            <a:r>
              <a:rPr lang="en-GB" dirty="0"/>
              <a:t> and </a:t>
            </a:r>
            <a:r>
              <a:rPr lang="en-GB" dirty="0">
                <a:solidFill>
                  <a:srgbClr val="00B0F0"/>
                </a:solidFill>
              </a:rPr>
              <a:t>subtropical Latin America </a:t>
            </a:r>
            <a:r>
              <a:rPr lang="en-GB" dirty="0"/>
              <a:t>between </a:t>
            </a:r>
            <a:r>
              <a:rPr lang="en-GB" dirty="0">
                <a:solidFill>
                  <a:srgbClr val="00B0F0"/>
                </a:solidFill>
              </a:rPr>
              <a:t>Lat 25</a:t>
            </a:r>
            <a:r>
              <a:rPr lang="en-GB" baseline="30000" dirty="0">
                <a:solidFill>
                  <a:srgbClr val="00B0F0"/>
                </a:solidFill>
              </a:rPr>
              <a:t>o</a:t>
            </a:r>
            <a:r>
              <a:rPr lang="en-GB" dirty="0">
                <a:solidFill>
                  <a:srgbClr val="00B0F0"/>
                </a:solidFill>
              </a:rPr>
              <a:t>N and 38</a:t>
            </a:r>
            <a:r>
              <a:rPr lang="en-GB" baseline="30000" dirty="0">
                <a:solidFill>
                  <a:srgbClr val="00B0F0"/>
                </a:solidFill>
              </a:rPr>
              <a:t>o</a:t>
            </a:r>
            <a:r>
              <a:rPr lang="en-GB" dirty="0">
                <a:solidFill>
                  <a:srgbClr val="00B0F0"/>
                </a:solidFill>
              </a:rPr>
              <a:t>S</a:t>
            </a:r>
            <a:r>
              <a:rPr lang="en-GB" dirty="0"/>
              <a:t>. </a:t>
            </a:r>
            <a:endParaRPr lang="en-US" dirty="0"/>
          </a:p>
          <a:p>
            <a:pPr>
              <a:buFont typeface="Wingdings" pitchFamily="2" charset="2"/>
              <a:buChar char="v"/>
            </a:pPr>
            <a:r>
              <a:rPr lang="en-GB" u="sng" dirty="0"/>
              <a:t>At least 65 million people live in areas where </a:t>
            </a:r>
            <a:r>
              <a:rPr lang="en-GB" i="1" u="sng" dirty="0">
                <a:solidFill>
                  <a:srgbClr val="C00000"/>
                </a:solidFill>
              </a:rPr>
              <a:t>T. cruzi</a:t>
            </a:r>
            <a:r>
              <a:rPr lang="en-GB" u="sng" dirty="0">
                <a:solidFill>
                  <a:srgbClr val="C00000"/>
                </a:solidFill>
              </a:rPr>
              <a:t> </a:t>
            </a:r>
            <a:r>
              <a:rPr lang="en-GB" u="sng" dirty="0"/>
              <a:t>is found and hence are at risk of infection and between 15-20 million people possibly infected</a:t>
            </a:r>
            <a:r>
              <a:rPr lang="en-GB" dirty="0"/>
              <a:t>.</a:t>
            </a:r>
            <a:endParaRPr lang="en-US" dirty="0"/>
          </a:p>
          <a:p>
            <a:endParaRPr lang="en-US" dirty="0"/>
          </a:p>
        </p:txBody>
      </p:sp>
    </p:spTree>
    <p:extLst>
      <p:ext uri="{BB962C8B-B14F-4D97-AF65-F5344CB8AC3E}">
        <p14:creationId xmlns:p14="http://schemas.microsoft.com/office/powerpoint/2010/main" val="3727349058"/>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9" name="Title 1"/>
          <p:cNvSpPr>
            <a:spLocks noGrp="1"/>
          </p:cNvSpPr>
          <p:nvPr>
            <p:ph type="title"/>
          </p:nvPr>
        </p:nvSpPr>
        <p:spPr/>
        <p:txBody>
          <a:bodyPr>
            <a:normAutofit fontScale="90000"/>
          </a:bodyPr>
          <a:lstStyle/>
          <a:p>
            <a:br>
              <a:rPr lang="en-GB" b="1" i="1" dirty="0"/>
            </a:br>
            <a:r>
              <a:rPr lang="en-GB" b="1" i="1" dirty="0">
                <a:solidFill>
                  <a:srgbClr val="C00000"/>
                </a:solidFill>
              </a:rPr>
              <a:t>TRYPANOSOMA CRUZI</a:t>
            </a:r>
            <a:br>
              <a:rPr lang="en-US" dirty="0"/>
            </a:br>
            <a:endParaRPr lang="en-US" dirty="0"/>
          </a:p>
        </p:txBody>
      </p:sp>
      <p:sp>
        <p:nvSpPr>
          <p:cNvPr id="1048740" name="Content Placeholder 2"/>
          <p:cNvSpPr>
            <a:spLocks noGrp="1"/>
          </p:cNvSpPr>
          <p:nvPr>
            <p:ph idx="1"/>
          </p:nvPr>
        </p:nvSpPr>
        <p:spPr/>
        <p:txBody>
          <a:bodyPr/>
          <a:lstStyle/>
          <a:p>
            <a:pPr marL="0" indent="0" algn="ctr">
              <a:buNone/>
            </a:pPr>
            <a:r>
              <a:rPr lang="en-GB" b="1" u="sng" dirty="0"/>
              <a:t>Transmission</a:t>
            </a:r>
            <a:endParaRPr lang="en-US" u="sng" dirty="0"/>
          </a:p>
          <a:p>
            <a:pPr>
              <a:buFont typeface="Wingdings" pitchFamily="2" charset="2"/>
              <a:buChar char="v"/>
            </a:pPr>
            <a:r>
              <a:rPr lang="en-GB" dirty="0"/>
              <a:t>By contact with </a:t>
            </a:r>
            <a:r>
              <a:rPr lang="en-GB" b="1" dirty="0"/>
              <a:t>faeces</a:t>
            </a:r>
            <a:r>
              <a:rPr lang="en-GB" dirty="0"/>
              <a:t> of an </a:t>
            </a:r>
            <a:r>
              <a:rPr lang="en-GB" dirty="0">
                <a:solidFill>
                  <a:srgbClr val="FF0000"/>
                </a:solidFill>
              </a:rPr>
              <a:t>infected blood sucking bug </a:t>
            </a:r>
            <a:r>
              <a:rPr lang="en-GB" dirty="0"/>
              <a:t>of the family </a:t>
            </a:r>
            <a:r>
              <a:rPr lang="en-GB" dirty="0">
                <a:solidFill>
                  <a:srgbClr val="00B0F0"/>
                </a:solidFill>
              </a:rPr>
              <a:t>Reduviidae</a:t>
            </a:r>
            <a:r>
              <a:rPr lang="en-GB" dirty="0"/>
              <a:t>, subfamily </a:t>
            </a:r>
            <a:r>
              <a:rPr lang="en-GB" dirty="0">
                <a:solidFill>
                  <a:srgbClr val="00B0F0"/>
                </a:solidFill>
              </a:rPr>
              <a:t>Triatominae</a:t>
            </a:r>
            <a:endParaRPr lang="en-US" dirty="0">
              <a:solidFill>
                <a:srgbClr val="00B0F0"/>
              </a:solidFill>
            </a:endParaRPr>
          </a:p>
          <a:p>
            <a:pPr>
              <a:buFont typeface="Wingdings" pitchFamily="2" charset="2"/>
              <a:buChar char="v"/>
            </a:pPr>
            <a:r>
              <a:rPr lang="en-GB" dirty="0"/>
              <a:t>The </a:t>
            </a:r>
            <a:r>
              <a:rPr lang="en-GB" b="1" dirty="0"/>
              <a:t>faeces</a:t>
            </a:r>
            <a:r>
              <a:rPr lang="en-GB" dirty="0"/>
              <a:t> containing the </a:t>
            </a:r>
            <a:r>
              <a:rPr lang="en-GB" dirty="0">
                <a:solidFill>
                  <a:schemeClr val="accent6">
                    <a:lumMod val="75000"/>
                  </a:schemeClr>
                </a:solidFill>
              </a:rPr>
              <a:t>trypomastigotes</a:t>
            </a:r>
            <a:r>
              <a:rPr lang="en-GB" dirty="0"/>
              <a:t> </a:t>
            </a:r>
            <a:r>
              <a:rPr lang="en-GB" u="sng" dirty="0"/>
              <a:t>are deposited on the skin or mucous membrane of the host during feeding by the bug</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205603417"/>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1" name="Title 1"/>
          <p:cNvSpPr>
            <a:spLocks noGrp="1"/>
          </p:cNvSpPr>
          <p:nvPr>
            <p:ph type="title"/>
          </p:nvPr>
        </p:nvSpPr>
        <p:spPr/>
        <p:txBody>
          <a:bodyPr>
            <a:normAutofit fontScale="90000"/>
          </a:bodyPr>
          <a:lstStyle/>
          <a:p>
            <a:br>
              <a:rPr lang="en-GB" b="1" dirty="0"/>
            </a:br>
            <a:r>
              <a:rPr lang="en-GB" b="1" u="sng" dirty="0"/>
              <a:t>Transmission</a:t>
            </a:r>
            <a:r>
              <a:rPr lang="en-GB" b="1" dirty="0"/>
              <a:t> cont’d</a:t>
            </a:r>
            <a:br>
              <a:rPr lang="en-US" dirty="0"/>
            </a:br>
            <a:endParaRPr lang="en-US" dirty="0"/>
          </a:p>
        </p:txBody>
      </p:sp>
      <p:sp>
        <p:nvSpPr>
          <p:cNvPr id="1048742" name="Content Placeholder 2"/>
          <p:cNvSpPr>
            <a:spLocks noGrp="1"/>
          </p:cNvSpPr>
          <p:nvPr>
            <p:ph idx="1"/>
          </p:nvPr>
        </p:nvSpPr>
        <p:spPr/>
        <p:txBody>
          <a:bodyPr>
            <a:normAutofit fontScale="92500" lnSpcReduction="10000"/>
          </a:bodyPr>
          <a:lstStyle/>
          <a:p>
            <a:pPr>
              <a:buFont typeface="Wingdings" pitchFamily="2" charset="2"/>
              <a:buChar char="v"/>
            </a:pPr>
            <a:r>
              <a:rPr lang="en-GB" dirty="0"/>
              <a:t>Over </a:t>
            </a:r>
            <a:r>
              <a:rPr lang="en-GB" u="sng" dirty="0">
                <a:solidFill>
                  <a:srgbClr val="92D050"/>
                </a:solidFill>
              </a:rPr>
              <a:t>80 spp of triatomine bugs </a:t>
            </a:r>
            <a:r>
              <a:rPr lang="en-GB" u="sng" dirty="0"/>
              <a:t>transmit the infection</a:t>
            </a:r>
            <a:r>
              <a:rPr lang="en-GB" dirty="0"/>
              <a:t>, both adults and nymph being capable. </a:t>
            </a:r>
            <a:r>
              <a:rPr lang="en-GB" u="sng" dirty="0"/>
              <a:t>The </a:t>
            </a:r>
            <a:r>
              <a:rPr lang="en-GB" u="sng" dirty="0">
                <a:solidFill>
                  <a:srgbClr val="C00000"/>
                </a:solidFill>
              </a:rPr>
              <a:t>most important vectors </a:t>
            </a:r>
            <a:r>
              <a:rPr lang="en-GB" u="sng" dirty="0"/>
              <a:t>are best adapted to living in human dwellings and they include</a:t>
            </a:r>
            <a:r>
              <a:rPr lang="en-GB" dirty="0"/>
              <a:t>:</a:t>
            </a:r>
            <a:endParaRPr lang="en-US" dirty="0"/>
          </a:p>
          <a:p>
            <a:pPr>
              <a:buFont typeface="Wingdings" pitchFamily="2" charset="2"/>
              <a:buChar char="v"/>
            </a:pPr>
            <a:r>
              <a:rPr lang="en-GB" i="1" dirty="0">
                <a:solidFill>
                  <a:srgbClr val="92D050"/>
                </a:solidFill>
              </a:rPr>
              <a:t>Triatoma infestans</a:t>
            </a:r>
            <a:r>
              <a:rPr lang="en-GB" dirty="0">
                <a:solidFill>
                  <a:srgbClr val="92D050"/>
                </a:solidFill>
              </a:rPr>
              <a:t> </a:t>
            </a:r>
            <a:r>
              <a:rPr lang="en-GB" u="sng" dirty="0"/>
              <a:t>found in Argentina, Bolivia, Brazil, Chile, Paraguay, Peru and Uruguay</a:t>
            </a:r>
            <a:endParaRPr lang="en-US" u="sng" dirty="0"/>
          </a:p>
          <a:p>
            <a:pPr>
              <a:buFont typeface="Wingdings" pitchFamily="2" charset="2"/>
              <a:buChar char="v"/>
            </a:pPr>
            <a:r>
              <a:rPr lang="en-GB" i="1" dirty="0">
                <a:solidFill>
                  <a:srgbClr val="92D050"/>
                </a:solidFill>
              </a:rPr>
              <a:t>Triatoma brasiliensis</a:t>
            </a:r>
            <a:r>
              <a:rPr lang="en-GB" dirty="0">
                <a:solidFill>
                  <a:srgbClr val="92D050"/>
                </a:solidFill>
              </a:rPr>
              <a:t> </a:t>
            </a:r>
            <a:r>
              <a:rPr lang="en-GB" u="sng" dirty="0"/>
              <a:t>found in north-eastern Brazil’s dry regions </a:t>
            </a:r>
            <a:endParaRPr lang="en-US" u="sng" dirty="0"/>
          </a:p>
          <a:p>
            <a:pPr>
              <a:buFont typeface="Wingdings" pitchFamily="2" charset="2"/>
              <a:buChar char="v"/>
            </a:pPr>
            <a:r>
              <a:rPr lang="en-GB" i="1" dirty="0">
                <a:solidFill>
                  <a:srgbClr val="92D050"/>
                </a:solidFill>
              </a:rPr>
              <a:t>Triatoma dimidiata</a:t>
            </a:r>
            <a:r>
              <a:rPr lang="en-GB" dirty="0">
                <a:solidFill>
                  <a:srgbClr val="92D050"/>
                </a:solidFill>
              </a:rPr>
              <a:t> </a:t>
            </a:r>
            <a:r>
              <a:rPr lang="en-GB" u="sng" dirty="0"/>
              <a:t>in Central America </a:t>
            </a:r>
            <a:r>
              <a:rPr lang="en-GB" dirty="0"/>
              <a:t>and the </a:t>
            </a:r>
            <a:r>
              <a:rPr lang="en-GB" u="sng" dirty="0"/>
              <a:t>extreme north of South America</a:t>
            </a:r>
            <a:endParaRPr lang="en-US" u="sng" dirty="0"/>
          </a:p>
          <a:p>
            <a:endParaRPr lang="en-US" dirty="0"/>
          </a:p>
        </p:txBody>
      </p:sp>
    </p:spTree>
    <p:extLst>
      <p:ext uri="{BB962C8B-B14F-4D97-AF65-F5344CB8AC3E}">
        <p14:creationId xmlns:p14="http://schemas.microsoft.com/office/powerpoint/2010/main" val="10532080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3" name="Title 1"/>
          <p:cNvSpPr>
            <a:spLocks noGrp="1"/>
          </p:cNvSpPr>
          <p:nvPr>
            <p:ph type="title"/>
          </p:nvPr>
        </p:nvSpPr>
        <p:spPr/>
        <p:txBody>
          <a:bodyPr>
            <a:normAutofit fontScale="90000"/>
          </a:bodyPr>
          <a:lstStyle/>
          <a:p>
            <a:br>
              <a:rPr lang="en-GB" b="1" dirty="0"/>
            </a:br>
            <a:r>
              <a:rPr lang="en-GB" b="1" u="sng" dirty="0"/>
              <a:t>Transmission</a:t>
            </a:r>
            <a:r>
              <a:rPr lang="en-GB" b="1" dirty="0"/>
              <a:t> cont’d</a:t>
            </a:r>
            <a:br>
              <a:rPr lang="en-US" dirty="0"/>
            </a:br>
            <a:endParaRPr lang="en-US" dirty="0"/>
          </a:p>
        </p:txBody>
      </p:sp>
      <p:sp>
        <p:nvSpPr>
          <p:cNvPr id="1048744" name="Content Placeholder 2"/>
          <p:cNvSpPr>
            <a:spLocks noGrp="1"/>
          </p:cNvSpPr>
          <p:nvPr>
            <p:ph idx="1"/>
          </p:nvPr>
        </p:nvSpPr>
        <p:spPr/>
        <p:txBody>
          <a:bodyPr>
            <a:normAutofit lnSpcReduction="10000"/>
          </a:bodyPr>
          <a:lstStyle/>
          <a:p>
            <a:pPr>
              <a:buFont typeface="Wingdings" pitchFamily="2" charset="2"/>
              <a:buChar char="v"/>
            </a:pPr>
            <a:r>
              <a:rPr lang="en-GB" i="1" dirty="0">
                <a:solidFill>
                  <a:srgbClr val="92D050"/>
                </a:solidFill>
              </a:rPr>
              <a:t>Rhodnius prolixus</a:t>
            </a:r>
            <a:r>
              <a:rPr lang="en-GB" dirty="0">
                <a:solidFill>
                  <a:srgbClr val="92D050"/>
                </a:solidFill>
              </a:rPr>
              <a:t> </a:t>
            </a:r>
            <a:r>
              <a:rPr lang="en-GB" dirty="0"/>
              <a:t>in </a:t>
            </a:r>
            <a:r>
              <a:rPr lang="en-GB" u="sng" dirty="0"/>
              <a:t>Columbia</a:t>
            </a:r>
            <a:r>
              <a:rPr lang="en-GB" dirty="0"/>
              <a:t>, </a:t>
            </a:r>
            <a:r>
              <a:rPr lang="en-GB" u="sng" dirty="0"/>
              <a:t>Ecuador</a:t>
            </a:r>
            <a:r>
              <a:rPr lang="en-GB" dirty="0"/>
              <a:t>, </a:t>
            </a:r>
            <a:r>
              <a:rPr lang="en-GB" u="sng" dirty="0"/>
              <a:t>Venezuela</a:t>
            </a:r>
            <a:r>
              <a:rPr lang="en-GB" dirty="0"/>
              <a:t> and </a:t>
            </a:r>
            <a:r>
              <a:rPr lang="en-GB" u="sng" dirty="0"/>
              <a:t>parts of Central America</a:t>
            </a:r>
            <a:endParaRPr lang="en-US" u="sng" dirty="0"/>
          </a:p>
          <a:p>
            <a:pPr>
              <a:buFont typeface="Wingdings" pitchFamily="2" charset="2"/>
              <a:buChar char="v"/>
            </a:pPr>
            <a:r>
              <a:rPr lang="en-GB" i="1" dirty="0">
                <a:solidFill>
                  <a:srgbClr val="92D050"/>
                </a:solidFill>
              </a:rPr>
              <a:t>Panstongylus megistus</a:t>
            </a:r>
            <a:r>
              <a:rPr lang="en-GB" dirty="0">
                <a:solidFill>
                  <a:srgbClr val="92D050"/>
                </a:solidFill>
              </a:rPr>
              <a:t> </a:t>
            </a:r>
            <a:r>
              <a:rPr lang="en-GB" dirty="0"/>
              <a:t>in </a:t>
            </a:r>
            <a:r>
              <a:rPr lang="en-GB" u="sng" dirty="0"/>
              <a:t>Eastern Brazil</a:t>
            </a:r>
            <a:endParaRPr lang="en-US" u="sng" dirty="0"/>
          </a:p>
          <a:p>
            <a:pPr>
              <a:buFont typeface="Wingdings" pitchFamily="2" charset="2"/>
              <a:buChar char="v"/>
            </a:pPr>
            <a:r>
              <a:rPr lang="en-GB" i="1" dirty="0">
                <a:solidFill>
                  <a:srgbClr val="C00000"/>
                </a:solidFill>
              </a:rPr>
              <a:t>T. cruzi</a:t>
            </a:r>
            <a:r>
              <a:rPr lang="en-GB" dirty="0">
                <a:solidFill>
                  <a:srgbClr val="C00000"/>
                </a:solidFill>
              </a:rPr>
              <a:t> </a:t>
            </a:r>
            <a:r>
              <a:rPr lang="en-GB" dirty="0"/>
              <a:t>can also be </a:t>
            </a:r>
            <a:r>
              <a:rPr lang="en-GB" dirty="0">
                <a:solidFill>
                  <a:srgbClr val="00B0F0"/>
                </a:solidFill>
              </a:rPr>
              <a:t>transmitted by blood transfusion </a:t>
            </a:r>
            <a:r>
              <a:rPr lang="en-GB" dirty="0"/>
              <a:t>and less commonly </a:t>
            </a:r>
            <a:r>
              <a:rPr lang="en-GB" dirty="0">
                <a:solidFill>
                  <a:srgbClr val="00B0F0"/>
                </a:solidFill>
              </a:rPr>
              <a:t>transplacentally</a:t>
            </a:r>
            <a:r>
              <a:rPr lang="en-GB" dirty="0"/>
              <a:t>, </a:t>
            </a:r>
            <a:r>
              <a:rPr lang="en-GB" u="sng" dirty="0"/>
              <a:t>a foetus being infected by an asymptomatic mother</a:t>
            </a:r>
            <a:r>
              <a:rPr lang="en-GB" dirty="0"/>
              <a:t>.</a:t>
            </a:r>
          </a:p>
          <a:p>
            <a:pPr>
              <a:buFont typeface="Wingdings" pitchFamily="2" charset="2"/>
              <a:buChar char="v"/>
            </a:pPr>
            <a:r>
              <a:rPr lang="en-GB" dirty="0"/>
              <a:t> Infected infants may often be </a:t>
            </a:r>
            <a:r>
              <a:rPr lang="en-GB" dirty="0">
                <a:solidFill>
                  <a:srgbClr val="FF0000"/>
                </a:solidFill>
              </a:rPr>
              <a:t>still born </a:t>
            </a:r>
            <a:r>
              <a:rPr lang="en-GB" dirty="0"/>
              <a:t>or </a:t>
            </a:r>
            <a:r>
              <a:rPr lang="en-GB" dirty="0">
                <a:solidFill>
                  <a:srgbClr val="FF0000"/>
                </a:solidFill>
              </a:rPr>
              <a:t>be born prematurely </a:t>
            </a:r>
            <a:r>
              <a:rPr lang="en-GB" dirty="0"/>
              <a:t>with a </a:t>
            </a:r>
            <a:r>
              <a:rPr lang="en-GB" dirty="0">
                <a:solidFill>
                  <a:srgbClr val="FF0000"/>
                </a:solidFill>
              </a:rPr>
              <a:t>low birth weight</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3600512283"/>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5" name="Title 1"/>
          <p:cNvSpPr>
            <a:spLocks noGrp="1"/>
          </p:cNvSpPr>
          <p:nvPr>
            <p:ph type="title"/>
          </p:nvPr>
        </p:nvSpPr>
        <p:spPr/>
        <p:txBody>
          <a:bodyPr>
            <a:normAutofit fontScale="90000"/>
          </a:bodyPr>
          <a:lstStyle/>
          <a:p>
            <a:br>
              <a:rPr lang="en-GB" b="1" i="1" dirty="0"/>
            </a:br>
            <a:r>
              <a:rPr lang="en-GB" b="1" i="1" dirty="0">
                <a:solidFill>
                  <a:srgbClr val="C00000"/>
                </a:solidFill>
              </a:rPr>
              <a:t>TRYPANOSOMA CRUZI</a:t>
            </a:r>
            <a:br>
              <a:rPr lang="en-US" dirty="0"/>
            </a:br>
            <a:endParaRPr lang="en-US" dirty="0"/>
          </a:p>
        </p:txBody>
      </p:sp>
      <p:sp>
        <p:nvSpPr>
          <p:cNvPr id="1048746" name="Content Placeholder 2"/>
          <p:cNvSpPr>
            <a:spLocks noGrp="1"/>
          </p:cNvSpPr>
          <p:nvPr>
            <p:ph idx="1"/>
          </p:nvPr>
        </p:nvSpPr>
        <p:spPr/>
        <p:txBody>
          <a:bodyPr>
            <a:normAutofit fontScale="92500" lnSpcReduction="10000"/>
          </a:bodyPr>
          <a:lstStyle/>
          <a:p>
            <a:pPr marL="0" indent="0" algn="ctr">
              <a:buNone/>
            </a:pPr>
            <a:r>
              <a:rPr lang="en-GB" b="1" u="sng" dirty="0"/>
              <a:t>Life cycle</a:t>
            </a:r>
            <a:endParaRPr lang="en-US" u="sng" dirty="0"/>
          </a:p>
          <a:p>
            <a:r>
              <a:rPr lang="en-GB" dirty="0"/>
              <a:t>An </a:t>
            </a:r>
            <a:r>
              <a:rPr lang="en-GB" dirty="0">
                <a:solidFill>
                  <a:srgbClr val="00B0F0"/>
                </a:solidFill>
              </a:rPr>
              <a:t>infected bug</a:t>
            </a:r>
            <a:r>
              <a:rPr lang="en-GB" dirty="0"/>
              <a:t> </a:t>
            </a:r>
            <a:r>
              <a:rPr lang="en-GB" u="sng" dirty="0"/>
              <a:t>biting a host to suck blood, </a:t>
            </a:r>
            <a:r>
              <a:rPr lang="en-GB" u="sng" dirty="0">
                <a:solidFill>
                  <a:srgbClr val="00B0F0"/>
                </a:solidFill>
              </a:rPr>
              <a:t>defecates</a:t>
            </a:r>
            <a:r>
              <a:rPr lang="en-GB" u="sng" dirty="0"/>
              <a:t> on the host skin during the feeding or soon after</a:t>
            </a:r>
            <a:r>
              <a:rPr lang="en-GB" dirty="0"/>
              <a:t>. </a:t>
            </a:r>
          </a:p>
          <a:p>
            <a:r>
              <a:rPr lang="en-GB" dirty="0">
                <a:solidFill>
                  <a:srgbClr val="00B0F0"/>
                </a:solidFill>
              </a:rPr>
              <a:t>The host rubs the parasite</a:t>
            </a:r>
            <a:r>
              <a:rPr lang="en-GB" dirty="0"/>
              <a:t>, the </a:t>
            </a:r>
            <a:r>
              <a:rPr lang="en-GB" dirty="0">
                <a:solidFill>
                  <a:srgbClr val="FF0000"/>
                </a:solidFill>
              </a:rPr>
              <a:t>metacyclic</a:t>
            </a:r>
            <a:r>
              <a:rPr lang="en-GB" dirty="0"/>
              <a:t> (</a:t>
            </a:r>
            <a:r>
              <a:rPr lang="en-GB" dirty="0">
                <a:solidFill>
                  <a:srgbClr val="FF0000"/>
                </a:solidFill>
              </a:rPr>
              <a:t>infective form/stage</a:t>
            </a:r>
            <a:r>
              <a:rPr lang="en-GB" dirty="0"/>
              <a:t>) </a:t>
            </a:r>
            <a:r>
              <a:rPr lang="en-GB" u="sng" dirty="0"/>
              <a:t>into the bite wound unknowingly.</a:t>
            </a:r>
            <a:r>
              <a:rPr lang="en-GB" dirty="0"/>
              <a:t> </a:t>
            </a:r>
          </a:p>
          <a:p>
            <a:r>
              <a:rPr lang="en-GB" u="sng" dirty="0"/>
              <a:t>The point of the insect bite is usually near the conjunctiva of the eye or membranes of the mouth or nose</a:t>
            </a:r>
            <a:r>
              <a:rPr lang="en-GB" dirty="0"/>
              <a:t>.</a:t>
            </a:r>
            <a:endParaRPr lang="en-US" dirty="0"/>
          </a:p>
          <a:p>
            <a:endParaRPr lang="en-US" dirty="0"/>
          </a:p>
        </p:txBody>
      </p:sp>
    </p:spTree>
    <p:extLst>
      <p:ext uri="{BB962C8B-B14F-4D97-AF65-F5344CB8AC3E}">
        <p14:creationId xmlns:p14="http://schemas.microsoft.com/office/powerpoint/2010/main" val="3437496742"/>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7" name="Title 1"/>
          <p:cNvSpPr>
            <a:spLocks noGrp="1"/>
          </p:cNvSpPr>
          <p:nvPr>
            <p:ph type="title"/>
          </p:nvPr>
        </p:nvSpPr>
        <p:spPr/>
        <p:txBody>
          <a:bodyPr>
            <a:normAutofit fontScale="90000"/>
          </a:bodyPr>
          <a:lstStyle/>
          <a:p>
            <a:br>
              <a:rPr lang="en-GB" b="1" dirty="0"/>
            </a:br>
            <a:r>
              <a:rPr lang="en-GB" b="1" u="sng" dirty="0"/>
              <a:t>Life cycle </a:t>
            </a:r>
            <a:r>
              <a:rPr lang="en-GB" b="1" dirty="0"/>
              <a:t>cont’d</a:t>
            </a:r>
            <a:br>
              <a:rPr lang="en-US" dirty="0"/>
            </a:br>
            <a:endParaRPr lang="en-US" dirty="0"/>
          </a:p>
        </p:txBody>
      </p:sp>
      <p:sp>
        <p:nvSpPr>
          <p:cNvPr id="1048748" name="Content Placeholder 2"/>
          <p:cNvSpPr>
            <a:spLocks noGrp="1"/>
          </p:cNvSpPr>
          <p:nvPr>
            <p:ph idx="1"/>
          </p:nvPr>
        </p:nvSpPr>
        <p:spPr/>
        <p:txBody>
          <a:bodyPr>
            <a:normAutofit lnSpcReduction="10000"/>
          </a:bodyPr>
          <a:lstStyle/>
          <a:p>
            <a:pPr>
              <a:buFont typeface="Wingdings" pitchFamily="2" charset="2"/>
              <a:buChar char="v"/>
            </a:pPr>
            <a:r>
              <a:rPr lang="en-GB" dirty="0"/>
              <a:t>The </a:t>
            </a:r>
            <a:r>
              <a:rPr lang="en-GB" dirty="0">
                <a:solidFill>
                  <a:srgbClr val="FF0000"/>
                </a:solidFill>
              </a:rPr>
              <a:t>trypomastigotes</a:t>
            </a:r>
            <a:r>
              <a:rPr lang="en-GB" dirty="0"/>
              <a:t> </a:t>
            </a:r>
            <a:r>
              <a:rPr lang="en-GB" u="sng" dirty="0"/>
              <a:t>invade the </a:t>
            </a:r>
            <a:r>
              <a:rPr lang="en-GB" u="sng" dirty="0">
                <a:solidFill>
                  <a:srgbClr val="00B0F0"/>
                </a:solidFill>
              </a:rPr>
              <a:t>reticuloendothelial cells </a:t>
            </a:r>
            <a:r>
              <a:rPr lang="en-GB" u="sng" dirty="0"/>
              <a:t>near the point of entry and multiply intracellularly as </a:t>
            </a:r>
            <a:r>
              <a:rPr lang="en-GB" u="sng" dirty="0">
                <a:solidFill>
                  <a:srgbClr val="FF0000"/>
                </a:solidFill>
              </a:rPr>
              <a:t>amastigotes</a:t>
            </a:r>
            <a:r>
              <a:rPr lang="en-GB" dirty="0"/>
              <a:t>.</a:t>
            </a:r>
            <a:endParaRPr lang="en-US" dirty="0"/>
          </a:p>
          <a:p>
            <a:pPr>
              <a:buFont typeface="Wingdings" pitchFamily="2" charset="2"/>
              <a:buChar char="v"/>
            </a:pPr>
            <a:r>
              <a:rPr lang="en-GB" dirty="0"/>
              <a:t>The </a:t>
            </a:r>
            <a:r>
              <a:rPr lang="en-GB" dirty="0">
                <a:solidFill>
                  <a:srgbClr val="FF0000"/>
                </a:solidFill>
              </a:rPr>
              <a:t>amastigotes</a:t>
            </a:r>
            <a:r>
              <a:rPr lang="en-GB" dirty="0"/>
              <a:t> develop into </a:t>
            </a:r>
            <a:r>
              <a:rPr lang="en-GB" dirty="0">
                <a:solidFill>
                  <a:srgbClr val="FF0000"/>
                </a:solidFill>
              </a:rPr>
              <a:t>trypomastigotes</a:t>
            </a:r>
            <a:r>
              <a:rPr lang="en-GB" dirty="0"/>
              <a:t> and are released into the blood when the cell raptures. </a:t>
            </a:r>
          </a:p>
          <a:p>
            <a:pPr>
              <a:buFont typeface="Wingdings" pitchFamily="2" charset="2"/>
              <a:buChar char="v"/>
            </a:pPr>
            <a:r>
              <a:rPr lang="en-GB" b="1" u="sng" dirty="0"/>
              <a:t>No multiplication </a:t>
            </a:r>
            <a:r>
              <a:rPr lang="en-GB" u="sng" dirty="0"/>
              <a:t>of the parasite occurs in its </a:t>
            </a:r>
            <a:r>
              <a:rPr lang="en-GB" u="sng" dirty="0">
                <a:solidFill>
                  <a:srgbClr val="FF0000"/>
                </a:solidFill>
              </a:rPr>
              <a:t>trypomastigote stage</a:t>
            </a:r>
            <a:r>
              <a:rPr lang="en-GB" u="sng" dirty="0"/>
              <a:t> in the blood</a:t>
            </a:r>
            <a:r>
              <a:rPr lang="en-GB" dirty="0"/>
              <a:t>.</a:t>
            </a:r>
            <a:endParaRPr lang="en-US" dirty="0"/>
          </a:p>
          <a:p>
            <a:endParaRPr lang="en-US" dirty="0"/>
          </a:p>
        </p:txBody>
      </p:sp>
    </p:spTree>
    <p:extLst>
      <p:ext uri="{BB962C8B-B14F-4D97-AF65-F5344CB8AC3E}">
        <p14:creationId xmlns:p14="http://schemas.microsoft.com/office/powerpoint/2010/main" val="4044090530"/>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9" name="Title 1"/>
          <p:cNvSpPr>
            <a:spLocks noGrp="1"/>
          </p:cNvSpPr>
          <p:nvPr>
            <p:ph type="title"/>
          </p:nvPr>
        </p:nvSpPr>
        <p:spPr/>
        <p:txBody>
          <a:bodyPr>
            <a:normAutofit fontScale="90000"/>
          </a:bodyPr>
          <a:lstStyle/>
          <a:p>
            <a:br>
              <a:rPr lang="en-GB" b="1" dirty="0"/>
            </a:br>
            <a:r>
              <a:rPr lang="en-GB" b="1" u="sng" dirty="0"/>
              <a:t>Life cycle </a:t>
            </a:r>
            <a:r>
              <a:rPr lang="en-GB" b="1" dirty="0"/>
              <a:t>cont’d</a:t>
            </a:r>
            <a:br>
              <a:rPr lang="en-US" dirty="0"/>
            </a:br>
            <a:endParaRPr lang="en-US" dirty="0"/>
          </a:p>
        </p:txBody>
      </p:sp>
      <p:sp>
        <p:nvSpPr>
          <p:cNvPr id="1048750" name="Content Placeholder 2"/>
          <p:cNvSpPr>
            <a:spLocks noGrp="1"/>
          </p:cNvSpPr>
          <p:nvPr>
            <p:ph idx="1"/>
          </p:nvPr>
        </p:nvSpPr>
        <p:spPr/>
        <p:txBody>
          <a:bodyPr>
            <a:normAutofit fontScale="92500" lnSpcReduction="20000"/>
          </a:bodyPr>
          <a:lstStyle/>
          <a:p>
            <a:pPr lvl="0">
              <a:buFont typeface="Wingdings" pitchFamily="2" charset="2"/>
              <a:buChar char="Ø"/>
            </a:pPr>
            <a:r>
              <a:rPr lang="en-GB" dirty="0"/>
              <a:t>The </a:t>
            </a:r>
            <a:r>
              <a:rPr lang="en-GB" dirty="0">
                <a:solidFill>
                  <a:srgbClr val="FF0000"/>
                </a:solidFill>
              </a:rPr>
              <a:t>trypomastigotes</a:t>
            </a:r>
            <a:r>
              <a:rPr lang="en-GB" dirty="0"/>
              <a:t> </a:t>
            </a:r>
            <a:r>
              <a:rPr lang="en-GB" u="sng" dirty="0"/>
              <a:t>reach tissue cells especially those of </a:t>
            </a:r>
            <a:r>
              <a:rPr lang="en-GB" u="sng" dirty="0">
                <a:solidFill>
                  <a:srgbClr val="00B0F0"/>
                </a:solidFill>
              </a:rPr>
              <a:t>heart muscle</a:t>
            </a:r>
            <a:r>
              <a:rPr lang="en-GB" dirty="0"/>
              <a:t>, </a:t>
            </a:r>
            <a:r>
              <a:rPr lang="en-GB" u="sng" dirty="0">
                <a:solidFill>
                  <a:srgbClr val="00B0F0"/>
                </a:solidFill>
              </a:rPr>
              <a:t>nerves</a:t>
            </a:r>
            <a:r>
              <a:rPr lang="en-GB" dirty="0"/>
              <a:t>, </a:t>
            </a:r>
            <a:r>
              <a:rPr lang="en-GB" u="sng" dirty="0">
                <a:solidFill>
                  <a:srgbClr val="00B0F0"/>
                </a:solidFill>
              </a:rPr>
              <a:t>skeletal muscle </a:t>
            </a:r>
            <a:r>
              <a:rPr lang="en-GB" dirty="0"/>
              <a:t>and smooth muscle of the </a:t>
            </a:r>
            <a:r>
              <a:rPr lang="en-GB" u="sng" dirty="0">
                <a:solidFill>
                  <a:srgbClr val="00B0F0"/>
                </a:solidFill>
              </a:rPr>
              <a:t>gastrointestinal tract </a:t>
            </a:r>
            <a:r>
              <a:rPr lang="en-GB" dirty="0"/>
              <a:t>and others by way of the </a:t>
            </a:r>
            <a:r>
              <a:rPr lang="en-GB" u="sng" dirty="0">
                <a:solidFill>
                  <a:srgbClr val="00B0F0"/>
                </a:solidFill>
              </a:rPr>
              <a:t>blood and lymphatic system</a:t>
            </a:r>
            <a:r>
              <a:rPr lang="en-GB" dirty="0"/>
              <a:t>.</a:t>
            </a:r>
            <a:endParaRPr lang="en-US" dirty="0"/>
          </a:p>
          <a:p>
            <a:pPr lvl="0">
              <a:buFont typeface="Wingdings" pitchFamily="2" charset="2"/>
              <a:buChar char="Ø"/>
            </a:pPr>
            <a:r>
              <a:rPr lang="en-GB" dirty="0"/>
              <a:t>The </a:t>
            </a:r>
            <a:r>
              <a:rPr lang="en-GB" dirty="0">
                <a:solidFill>
                  <a:srgbClr val="FF0000"/>
                </a:solidFill>
              </a:rPr>
              <a:t>trypomastigotes</a:t>
            </a:r>
            <a:r>
              <a:rPr lang="en-GB" dirty="0"/>
              <a:t> become </a:t>
            </a:r>
            <a:r>
              <a:rPr lang="en-GB" dirty="0">
                <a:solidFill>
                  <a:srgbClr val="FF0000"/>
                </a:solidFill>
              </a:rPr>
              <a:t>amastigotes</a:t>
            </a:r>
            <a:r>
              <a:rPr lang="en-GB" dirty="0"/>
              <a:t> and multiply becoming masses of </a:t>
            </a:r>
            <a:r>
              <a:rPr lang="en-GB" dirty="0">
                <a:solidFill>
                  <a:srgbClr val="FF0000"/>
                </a:solidFill>
              </a:rPr>
              <a:t>pseudocysts</a:t>
            </a:r>
            <a:r>
              <a:rPr lang="en-GB" dirty="0"/>
              <a:t>. </a:t>
            </a:r>
            <a:r>
              <a:rPr lang="en-GB" u="sng" dirty="0">
                <a:solidFill>
                  <a:srgbClr val="FF0000"/>
                </a:solidFill>
              </a:rPr>
              <a:t>One trypomastigote</a:t>
            </a:r>
            <a:r>
              <a:rPr lang="en-GB" u="sng" dirty="0"/>
              <a:t> may give rise to </a:t>
            </a:r>
            <a:r>
              <a:rPr lang="en-GB" u="sng" dirty="0">
                <a:solidFill>
                  <a:srgbClr val="FF0000"/>
                </a:solidFill>
              </a:rPr>
              <a:t>500 amastigotes </a:t>
            </a:r>
            <a:r>
              <a:rPr lang="en-GB" u="sng" dirty="0"/>
              <a:t>within a single pseudocyst in as little as 5 days</a:t>
            </a:r>
            <a:r>
              <a:rPr lang="en-GB" dirty="0"/>
              <a:t>. In structure the </a:t>
            </a:r>
            <a:r>
              <a:rPr lang="en-GB" dirty="0">
                <a:solidFill>
                  <a:srgbClr val="FF0000"/>
                </a:solidFill>
              </a:rPr>
              <a:t>amastigotes</a:t>
            </a:r>
            <a:r>
              <a:rPr lang="en-GB" dirty="0"/>
              <a:t> of </a:t>
            </a:r>
            <a:r>
              <a:rPr lang="en-GB" i="1" dirty="0">
                <a:solidFill>
                  <a:srgbClr val="C00000"/>
                </a:solidFill>
              </a:rPr>
              <a:t>T. cruzi</a:t>
            </a:r>
            <a:r>
              <a:rPr lang="en-GB" dirty="0">
                <a:solidFill>
                  <a:srgbClr val="C00000"/>
                </a:solidFill>
              </a:rPr>
              <a:t> </a:t>
            </a:r>
            <a:r>
              <a:rPr lang="en-GB" dirty="0"/>
              <a:t>resembles that of </a:t>
            </a:r>
            <a:r>
              <a:rPr lang="en-GB" dirty="0">
                <a:solidFill>
                  <a:srgbClr val="C00000"/>
                </a:solidFill>
              </a:rPr>
              <a:t>Leishmania</a:t>
            </a:r>
            <a:endParaRPr lang="en-US" dirty="0">
              <a:solidFill>
                <a:srgbClr val="C00000"/>
              </a:solidFill>
            </a:endParaRPr>
          </a:p>
          <a:p>
            <a:pPr marL="0" indent="0">
              <a:buNone/>
            </a:pPr>
            <a:endParaRPr lang="en-US" dirty="0"/>
          </a:p>
        </p:txBody>
      </p:sp>
    </p:spTree>
    <p:extLst>
      <p:ext uri="{BB962C8B-B14F-4D97-AF65-F5344CB8AC3E}">
        <p14:creationId xmlns:p14="http://schemas.microsoft.com/office/powerpoint/2010/main" val="3952903448"/>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1" name="Title 1"/>
          <p:cNvSpPr>
            <a:spLocks noGrp="1"/>
          </p:cNvSpPr>
          <p:nvPr>
            <p:ph type="title"/>
          </p:nvPr>
        </p:nvSpPr>
        <p:spPr/>
        <p:txBody>
          <a:bodyPr>
            <a:normAutofit fontScale="90000"/>
          </a:bodyPr>
          <a:lstStyle/>
          <a:p>
            <a:br>
              <a:rPr lang="en-GB" b="1" dirty="0"/>
            </a:br>
            <a:r>
              <a:rPr lang="en-GB" b="1" u="sng" dirty="0"/>
              <a:t>Life cycle </a:t>
            </a:r>
            <a:r>
              <a:rPr lang="en-GB" b="1" dirty="0"/>
              <a:t>cont’d</a:t>
            </a:r>
            <a:br>
              <a:rPr lang="en-US" dirty="0"/>
            </a:br>
            <a:endParaRPr lang="en-US" dirty="0"/>
          </a:p>
        </p:txBody>
      </p:sp>
      <p:sp>
        <p:nvSpPr>
          <p:cNvPr id="1048752" name="Content Placeholder 2"/>
          <p:cNvSpPr>
            <a:spLocks noGrp="1"/>
          </p:cNvSpPr>
          <p:nvPr>
            <p:ph idx="1"/>
          </p:nvPr>
        </p:nvSpPr>
        <p:spPr/>
        <p:txBody>
          <a:bodyPr>
            <a:normAutofit/>
          </a:bodyPr>
          <a:lstStyle/>
          <a:p>
            <a:pPr>
              <a:buFont typeface="Wingdings" pitchFamily="2" charset="2"/>
              <a:buChar char="Ø"/>
            </a:pPr>
            <a:r>
              <a:rPr lang="en-GB" u="sng" dirty="0"/>
              <a:t>Within the </a:t>
            </a:r>
            <a:r>
              <a:rPr lang="en-GB" u="sng" dirty="0">
                <a:solidFill>
                  <a:srgbClr val="FF0000"/>
                </a:solidFill>
              </a:rPr>
              <a:t>pseudocyst</a:t>
            </a:r>
            <a:r>
              <a:rPr lang="en-GB" u="sng" dirty="0"/>
              <a:t>, a proportion of the </a:t>
            </a:r>
            <a:r>
              <a:rPr lang="en-GB" u="sng" dirty="0">
                <a:solidFill>
                  <a:srgbClr val="FF0000"/>
                </a:solidFill>
              </a:rPr>
              <a:t>amastigotes</a:t>
            </a:r>
            <a:r>
              <a:rPr lang="en-GB" u="sng" dirty="0"/>
              <a:t> elongate and develop firstly into </a:t>
            </a:r>
            <a:r>
              <a:rPr lang="en-GB" u="sng" dirty="0">
                <a:solidFill>
                  <a:srgbClr val="FF0000"/>
                </a:solidFill>
              </a:rPr>
              <a:t>epimastigotes</a:t>
            </a:r>
            <a:r>
              <a:rPr lang="en-GB" u="sng" dirty="0"/>
              <a:t> and then into </a:t>
            </a:r>
            <a:r>
              <a:rPr lang="en-GB" u="sng" dirty="0">
                <a:solidFill>
                  <a:srgbClr val="FF0000"/>
                </a:solidFill>
              </a:rPr>
              <a:t>trypomastigotes</a:t>
            </a:r>
            <a:r>
              <a:rPr lang="en-GB" u="sng" dirty="0"/>
              <a:t> which are released into the blood when the host cell raptures. </a:t>
            </a:r>
          </a:p>
          <a:p>
            <a:pPr>
              <a:buFont typeface="Wingdings" pitchFamily="2" charset="2"/>
              <a:buChar char="Ø"/>
            </a:pPr>
            <a:r>
              <a:rPr lang="en-GB" u="sng" dirty="0"/>
              <a:t>While some of these </a:t>
            </a:r>
            <a:r>
              <a:rPr lang="en-GB" u="sng" dirty="0">
                <a:solidFill>
                  <a:srgbClr val="FF0000"/>
                </a:solidFill>
              </a:rPr>
              <a:t>trypomastigotes</a:t>
            </a:r>
            <a:r>
              <a:rPr lang="en-GB" u="sng" dirty="0"/>
              <a:t> circulate in the blood</a:t>
            </a:r>
            <a:r>
              <a:rPr lang="en-GB" dirty="0"/>
              <a:t>, </a:t>
            </a:r>
            <a:r>
              <a:rPr lang="en-GB" dirty="0">
                <a:solidFill>
                  <a:srgbClr val="00B0F0"/>
                </a:solidFill>
              </a:rPr>
              <a:t>majority</a:t>
            </a:r>
            <a:r>
              <a:rPr lang="en-GB" dirty="0"/>
              <a:t> </a:t>
            </a:r>
            <a:r>
              <a:rPr lang="en-GB" dirty="0">
                <a:solidFill>
                  <a:srgbClr val="00B0F0"/>
                </a:solidFill>
              </a:rPr>
              <a:t>infect</a:t>
            </a:r>
            <a:r>
              <a:rPr lang="en-GB" dirty="0"/>
              <a:t> </a:t>
            </a:r>
            <a:r>
              <a:rPr lang="en-GB" dirty="0">
                <a:solidFill>
                  <a:srgbClr val="00B0F0"/>
                </a:solidFill>
              </a:rPr>
              <a:t>further tissue cells</a:t>
            </a:r>
            <a:r>
              <a:rPr lang="en-GB" dirty="0"/>
              <a:t>.</a:t>
            </a:r>
            <a:endParaRPr lang="en-US" dirty="0"/>
          </a:p>
          <a:p>
            <a:pPr marL="0" lvl="0" indent="0">
              <a:buNone/>
            </a:pPr>
            <a:endParaRPr lang="en-US" dirty="0"/>
          </a:p>
        </p:txBody>
      </p:sp>
    </p:spTree>
    <p:extLst>
      <p:ext uri="{BB962C8B-B14F-4D97-AF65-F5344CB8AC3E}">
        <p14:creationId xmlns:p14="http://schemas.microsoft.com/office/powerpoint/2010/main" val="3079691328"/>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3" name="Title 1"/>
          <p:cNvSpPr>
            <a:spLocks noGrp="1"/>
          </p:cNvSpPr>
          <p:nvPr>
            <p:ph type="title"/>
          </p:nvPr>
        </p:nvSpPr>
        <p:spPr/>
        <p:txBody>
          <a:bodyPr>
            <a:normAutofit fontScale="90000"/>
          </a:bodyPr>
          <a:lstStyle/>
          <a:p>
            <a:br>
              <a:rPr lang="en-GB" b="1" dirty="0"/>
            </a:br>
            <a:r>
              <a:rPr lang="en-GB" b="1" u="sng" dirty="0"/>
              <a:t>Life cycle </a:t>
            </a:r>
            <a:r>
              <a:rPr lang="en-GB" b="1" dirty="0"/>
              <a:t>cont’d</a:t>
            </a:r>
            <a:br>
              <a:rPr lang="en-US" dirty="0"/>
            </a:br>
            <a:endParaRPr lang="en-US" dirty="0"/>
          </a:p>
        </p:txBody>
      </p:sp>
      <p:sp>
        <p:nvSpPr>
          <p:cNvPr id="1048754" name="Content Placeholder 2"/>
          <p:cNvSpPr>
            <a:spLocks noGrp="1"/>
          </p:cNvSpPr>
          <p:nvPr>
            <p:ph idx="1"/>
          </p:nvPr>
        </p:nvSpPr>
        <p:spPr>
          <a:xfrm>
            <a:off x="457200" y="1600200"/>
            <a:ext cx="8229600" cy="5257800"/>
          </a:xfrm>
        </p:spPr>
        <p:txBody>
          <a:bodyPr>
            <a:normAutofit fontScale="92500" lnSpcReduction="20000"/>
          </a:bodyPr>
          <a:lstStyle/>
          <a:p>
            <a:pPr lvl="0"/>
            <a:r>
              <a:rPr lang="en-GB" dirty="0"/>
              <a:t>A </a:t>
            </a:r>
            <a:r>
              <a:rPr lang="en-GB" dirty="0">
                <a:solidFill>
                  <a:srgbClr val="C00000"/>
                </a:solidFill>
              </a:rPr>
              <a:t>vector triatomine bug </a:t>
            </a:r>
            <a:r>
              <a:rPr lang="en-GB" u="sng" dirty="0"/>
              <a:t>ingests circulating </a:t>
            </a:r>
            <a:r>
              <a:rPr lang="en-GB" u="sng" dirty="0">
                <a:solidFill>
                  <a:srgbClr val="FF0000"/>
                </a:solidFill>
              </a:rPr>
              <a:t>trypomastigotes</a:t>
            </a:r>
            <a:r>
              <a:rPr lang="en-GB" u="sng" dirty="0"/>
              <a:t> during a blood meal</a:t>
            </a:r>
            <a:r>
              <a:rPr lang="en-GB" dirty="0"/>
              <a:t>.</a:t>
            </a:r>
          </a:p>
          <a:p>
            <a:pPr lvl="0"/>
            <a:r>
              <a:rPr lang="en-GB" dirty="0"/>
              <a:t> The </a:t>
            </a:r>
            <a:r>
              <a:rPr lang="en-GB" dirty="0">
                <a:solidFill>
                  <a:srgbClr val="FF0000"/>
                </a:solidFill>
              </a:rPr>
              <a:t>trypomastigotes</a:t>
            </a:r>
            <a:r>
              <a:rPr lang="en-GB" dirty="0"/>
              <a:t> </a:t>
            </a:r>
            <a:r>
              <a:rPr lang="en-GB" u="sng" dirty="0"/>
              <a:t>then transform and eventually develop into </a:t>
            </a:r>
            <a:r>
              <a:rPr lang="en-GB" u="sng" dirty="0">
                <a:solidFill>
                  <a:srgbClr val="FF0000"/>
                </a:solidFill>
              </a:rPr>
              <a:t>epimastigotes</a:t>
            </a:r>
            <a:r>
              <a:rPr lang="en-GB" u="sng" dirty="0"/>
              <a:t> which multiply by </a:t>
            </a:r>
            <a:r>
              <a:rPr lang="en-GB" u="sng" dirty="0">
                <a:solidFill>
                  <a:srgbClr val="00B0F0"/>
                </a:solidFill>
              </a:rPr>
              <a:t>binary fission </a:t>
            </a:r>
            <a:r>
              <a:rPr lang="en-GB" u="sng" dirty="0"/>
              <a:t>in the gut of the bug (vector)</a:t>
            </a:r>
            <a:r>
              <a:rPr lang="en-GB" dirty="0"/>
              <a:t>.</a:t>
            </a:r>
            <a:endParaRPr lang="en-US" dirty="0"/>
          </a:p>
          <a:p>
            <a:pPr lvl="0"/>
            <a:r>
              <a:rPr lang="en-GB" dirty="0"/>
              <a:t>In about 10-15 days, </a:t>
            </a:r>
            <a:r>
              <a:rPr lang="en-GB" dirty="0">
                <a:solidFill>
                  <a:srgbClr val="FF0000"/>
                </a:solidFill>
              </a:rPr>
              <a:t>metacyclic trypomastigotes </a:t>
            </a:r>
            <a:r>
              <a:rPr lang="en-GB" dirty="0"/>
              <a:t>(</a:t>
            </a:r>
            <a:r>
              <a:rPr lang="en-GB" u="sng" dirty="0"/>
              <a:t>which are short, slender and highly motile) are formed;</a:t>
            </a:r>
            <a:r>
              <a:rPr lang="en-GB" dirty="0"/>
              <a:t> </a:t>
            </a:r>
          </a:p>
          <a:p>
            <a:pPr lvl="0"/>
            <a:r>
              <a:rPr lang="en-GB" u="sng" dirty="0"/>
              <a:t>these migrate to the hindgut of the bug to be excreted when the bug next feeds/takes a blood meal</a:t>
            </a:r>
            <a:endParaRPr lang="en-US" u="sng" dirty="0"/>
          </a:p>
          <a:p>
            <a:endParaRPr lang="en-US" dirty="0"/>
          </a:p>
        </p:txBody>
      </p:sp>
    </p:spTree>
    <p:extLst>
      <p:ext uri="{BB962C8B-B14F-4D97-AF65-F5344CB8AC3E}">
        <p14:creationId xmlns:p14="http://schemas.microsoft.com/office/powerpoint/2010/main" val="876401135"/>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5" name="Title 1"/>
          <p:cNvSpPr>
            <a:spLocks noGrp="1"/>
          </p:cNvSpPr>
          <p:nvPr>
            <p:ph type="title"/>
          </p:nvPr>
        </p:nvSpPr>
        <p:spPr/>
        <p:txBody>
          <a:bodyPr>
            <a:normAutofit fontScale="90000"/>
          </a:bodyPr>
          <a:lstStyle/>
          <a:p>
            <a:br>
              <a:rPr lang="en-GB" b="1" i="1" dirty="0"/>
            </a:br>
            <a:r>
              <a:rPr lang="en-GB" b="1" i="1" dirty="0">
                <a:solidFill>
                  <a:srgbClr val="C00000"/>
                </a:solidFill>
              </a:rPr>
              <a:t>TRYPANOSOMA CRUZI </a:t>
            </a:r>
            <a:r>
              <a:rPr lang="en-GB" b="1" i="1" dirty="0"/>
              <a:t>CONT’D</a:t>
            </a:r>
            <a:br>
              <a:rPr lang="en-US" dirty="0"/>
            </a:br>
            <a:endParaRPr lang="en-US" dirty="0"/>
          </a:p>
        </p:txBody>
      </p:sp>
      <p:sp>
        <p:nvSpPr>
          <p:cNvPr id="1048756" name="Content Placeholder 2"/>
          <p:cNvSpPr>
            <a:spLocks noGrp="1"/>
          </p:cNvSpPr>
          <p:nvPr>
            <p:ph idx="1"/>
          </p:nvPr>
        </p:nvSpPr>
        <p:spPr/>
        <p:txBody>
          <a:bodyPr/>
          <a:lstStyle/>
          <a:p>
            <a:pPr marL="0" indent="0" algn="ctr">
              <a:buNone/>
            </a:pPr>
            <a:r>
              <a:rPr lang="en-GB" b="1" dirty="0">
                <a:solidFill>
                  <a:srgbClr val="00B0F0"/>
                </a:solidFill>
              </a:rPr>
              <a:t>Symptoms and pathology</a:t>
            </a:r>
            <a:endParaRPr lang="en-US" dirty="0">
              <a:solidFill>
                <a:srgbClr val="00B0F0"/>
              </a:solidFill>
            </a:endParaRPr>
          </a:p>
          <a:p>
            <a:pPr>
              <a:buFont typeface="Wingdings" pitchFamily="2" charset="2"/>
              <a:buChar char="v"/>
            </a:pPr>
            <a:r>
              <a:rPr lang="en-GB" dirty="0"/>
              <a:t>These vary in different places due to the variations in the strains of the parasite found in the different areas and, to host factors.</a:t>
            </a:r>
            <a:endParaRPr lang="en-US" dirty="0"/>
          </a:p>
          <a:p>
            <a:pPr>
              <a:buFont typeface="Wingdings" pitchFamily="2" charset="2"/>
              <a:buChar char="v"/>
            </a:pPr>
            <a:r>
              <a:rPr lang="en-GB" dirty="0"/>
              <a:t>Generally however, many of those infected are </a:t>
            </a:r>
            <a:r>
              <a:rPr lang="en-GB" dirty="0">
                <a:solidFill>
                  <a:srgbClr val="00B0F0"/>
                </a:solidFill>
              </a:rPr>
              <a:t>asymptomatic</a:t>
            </a:r>
            <a:r>
              <a:rPr lang="en-GB" dirty="0"/>
              <a:t> and are </a:t>
            </a:r>
            <a:r>
              <a:rPr lang="en-GB" dirty="0">
                <a:solidFill>
                  <a:srgbClr val="00B0F0"/>
                </a:solidFill>
              </a:rPr>
              <a:t>free from the disease or experience only acute infection without progression to the chronic stage</a:t>
            </a:r>
            <a:r>
              <a:rPr lang="en-GB" dirty="0"/>
              <a:t>.</a:t>
            </a:r>
            <a:endParaRPr lang="en-US" dirty="0"/>
          </a:p>
          <a:p>
            <a:endParaRPr lang="en-US" dirty="0"/>
          </a:p>
        </p:txBody>
      </p:sp>
    </p:spTree>
    <p:extLst>
      <p:ext uri="{BB962C8B-B14F-4D97-AF65-F5344CB8AC3E}">
        <p14:creationId xmlns:p14="http://schemas.microsoft.com/office/powerpoint/2010/main" val="1883582321"/>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7" name="Title 1"/>
          <p:cNvSpPr>
            <a:spLocks noGrp="1"/>
          </p:cNvSpPr>
          <p:nvPr>
            <p:ph type="title"/>
          </p:nvPr>
        </p:nvSpPr>
        <p:spPr/>
        <p:txBody>
          <a:bodyPr>
            <a:normAutofit fontScale="90000"/>
          </a:bodyPr>
          <a:lstStyle/>
          <a:p>
            <a:br>
              <a:rPr lang="en-GB" b="1" dirty="0"/>
            </a:br>
            <a:r>
              <a:rPr lang="en-GB" b="1" dirty="0">
                <a:solidFill>
                  <a:srgbClr val="00B0F0"/>
                </a:solidFill>
              </a:rPr>
              <a:t>Symptoms and pathology </a:t>
            </a:r>
            <a:r>
              <a:rPr lang="en-GB" b="1" dirty="0"/>
              <a:t>cont’d</a:t>
            </a:r>
            <a:br>
              <a:rPr lang="en-US" dirty="0"/>
            </a:br>
            <a:endParaRPr lang="en-US" dirty="0"/>
          </a:p>
        </p:txBody>
      </p:sp>
      <p:sp>
        <p:nvSpPr>
          <p:cNvPr id="1048758" name="Content Placeholder 2"/>
          <p:cNvSpPr>
            <a:spLocks noGrp="1"/>
          </p:cNvSpPr>
          <p:nvPr>
            <p:ph idx="1"/>
          </p:nvPr>
        </p:nvSpPr>
        <p:spPr/>
        <p:txBody>
          <a:bodyPr>
            <a:normAutofit/>
          </a:bodyPr>
          <a:lstStyle/>
          <a:p>
            <a:pPr>
              <a:buFont typeface="Wingdings" pitchFamily="2" charset="2"/>
              <a:buChar char="v"/>
            </a:pPr>
            <a:r>
              <a:rPr lang="en-GB" dirty="0"/>
              <a:t>Nevertheless, </a:t>
            </a:r>
            <a:r>
              <a:rPr lang="en-GB" u="sng" dirty="0"/>
              <a:t>parasitic multiplication at the site of infection </a:t>
            </a:r>
            <a:r>
              <a:rPr lang="en-GB" b="1" dirty="0"/>
              <a:t>together with </a:t>
            </a:r>
            <a:r>
              <a:rPr lang="en-GB" u="sng" dirty="0"/>
              <a:t>the host’s cellular immune response may produce an inflamed swelling known as “</a:t>
            </a:r>
            <a:r>
              <a:rPr lang="en-GB" u="sng" dirty="0">
                <a:solidFill>
                  <a:srgbClr val="00B0F0"/>
                </a:solidFill>
              </a:rPr>
              <a:t>Chagoma</a:t>
            </a:r>
            <a:r>
              <a:rPr lang="en-GB" u="sng" dirty="0"/>
              <a:t>” </a:t>
            </a:r>
          </a:p>
          <a:p>
            <a:pPr>
              <a:buFont typeface="Wingdings" pitchFamily="2" charset="2"/>
              <a:buChar char="v"/>
            </a:pPr>
            <a:r>
              <a:rPr lang="en-GB" dirty="0"/>
              <a:t>which persists for several weeks.</a:t>
            </a:r>
          </a:p>
          <a:p>
            <a:pPr>
              <a:buFont typeface="Wingdings" pitchFamily="2" charset="2"/>
              <a:buChar char="v"/>
            </a:pPr>
            <a:r>
              <a:rPr lang="en-GB" dirty="0"/>
              <a:t> </a:t>
            </a:r>
            <a:r>
              <a:rPr lang="en-GB" u="sng" dirty="0"/>
              <a:t>If the eye is the site of infection, the</a:t>
            </a:r>
          </a:p>
          <a:p>
            <a:pPr>
              <a:buFont typeface="Wingdings" pitchFamily="2" charset="2"/>
              <a:buChar char="v"/>
            </a:pPr>
            <a:r>
              <a:rPr lang="en-GB" u="sng" dirty="0"/>
              <a:t>conjunctiva becomes inflamed and oedema forms </a:t>
            </a:r>
            <a:r>
              <a:rPr lang="en-GB" dirty="0"/>
              <a:t>(this sign is known as </a:t>
            </a:r>
            <a:r>
              <a:rPr lang="en-GB" dirty="0">
                <a:solidFill>
                  <a:srgbClr val="00B0F0"/>
                </a:solidFill>
              </a:rPr>
              <a:t>Romana’s sign</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893275617"/>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59" name="Title 1"/>
          <p:cNvSpPr>
            <a:spLocks noGrp="1"/>
          </p:cNvSpPr>
          <p:nvPr>
            <p:ph type="title"/>
          </p:nvPr>
        </p:nvSpPr>
        <p:spPr/>
        <p:txBody>
          <a:bodyPr>
            <a:normAutofit fontScale="90000"/>
          </a:bodyPr>
          <a:lstStyle/>
          <a:p>
            <a:br>
              <a:rPr lang="en-GB" b="1" i="1" dirty="0"/>
            </a:br>
            <a:r>
              <a:rPr lang="en-GB" b="1" i="1" dirty="0">
                <a:solidFill>
                  <a:srgbClr val="C00000"/>
                </a:solidFill>
              </a:rPr>
              <a:t>TRYPANOSOMA CRUZI</a:t>
            </a:r>
            <a:r>
              <a:rPr lang="en-GB" b="1" i="1" dirty="0"/>
              <a:t> CONT’D</a:t>
            </a:r>
            <a:br>
              <a:rPr lang="en-US" dirty="0"/>
            </a:br>
            <a:endParaRPr lang="en-US" dirty="0"/>
          </a:p>
        </p:txBody>
      </p:sp>
      <p:sp>
        <p:nvSpPr>
          <p:cNvPr id="1048760" name="Content Placeholder 2"/>
          <p:cNvSpPr>
            <a:spLocks noGrp="1"/>
          </p:cNvSpPr>
          <p:nvPr>
            <p:ph idx="1"/>
          </p:nvPr>
        </p:nvSpPr>
        <p:spPr/>
        <p:txBody>
          <a:bodyPr/>
          <a:lstStyle/>
          <a:p>
            <a:pPr marL="0" indent="0" algn="ctr">
              <a:buNone/>
            </a:pPr>
            <a:r>
              <a:rPr lang="en-GB" b="1" dirty="0">
                <a:solidFill>
                  <a:schemeClr val="accent6">
                    <a:lumMod val="75000"/>
                  </a:schemeClr>
                </a:solidFill>
              </a:rPr>
              <a:t>Acute Stage signs</a:t>
            </a:r>
            <a:endParaRPr lang="en-US" dirty="0">
              <a:solidFill>
                <a:schemeClr val="accent6">
                  <a:lumMod val="75000"/>
                </a:schemeClr>
              </a:solidFill>
            </a:endParaRPr>
          </a:p>
          <a:p>
            <a:pPr lvl="0">
              <a:buFont typeface="Wingdings" pitchFamily="2" charset="2"/>
              <a:buChar char="v"/>
            </a:pPr>
            <a:r>
              <a:rPr lang="en-GB" dirty="0">
                <a:solidFill>
                  <a:schemeClr val="accent6">
                    <a:lumMod val="75000"/>
                  </a:schemeClr>
                </a:solidFill>
              </a:rPr>
              <a:t>Trypomastigotes</a:t>
            </a:r>
            <a:r>
              <a:rPr lang="en-GB" dirty="0"/>
              <a:t> found circulating in the blood - they multiply intracellularly as </a:t>
            </a:r>
            <a:r>
              <a:rPr lang="en-GB" dirty="0">
                <a:solidFill>
                  <a:schemeClr val="accent6">
                    <a:lumMod val="75000"/>
                  </a:schemeClr>
                </a:solidFill>
              </a:rPr>
              <a:t>amastigotes</a:t>
            </a:r>
            <a:r>
              <a:rPr lang="en-GB" dirty="0"/>
              <a:t> and spread throughout the body. </a:t>
            </a:r>
          </a:p>
          <a:p>
            <a:pPr lvl="0">
              <a:buFont typeface="Wingdings" pitchFamily="2" charset="2"/>
              <a:buChar char="v"/>
            </a:pPr>
            <a:r>
              <a:rPr lang="en-GB" b="1" u="sng" dirty="0"/>
              <a:t>No multiplication </a:t>
            </a:r>
            <a:r>
              <a:rPr lang="en-GB" u="sng" dirty="0"/>
              <a:t>of the parasite occurs in the </a:t>
            </a:r>
            <a:r>
              <a:rPr lang="en-GB" u="sng" dirty="0">
                <a:solidFill>
                  <a:schemeClr val="accent6">
                    <a:lumMod val="75000"/>
                  </a:schemeClr>
                </a:solidFill>
              </a:rPr>
              <a:t>trypomastigote stage </a:t>
            </a:r>
            <a:r>
              <a:rPr lang="en-GB" u="sng" dirty="0"/>
              <a:t>in the blood</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630504592"/>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1" name="Title 1"/>
          <p:cNvSpPr>
            <a:spLocks noGrp="1"/>
          </p:cNvSpPr>
          <p:nvPr>
            <p:ph type="title"/>
          </p:nvPr>
        </p:nvSpPr>
        <p:spPr/>
        <p:txBody>
          <a:bodyPr>
            <a:normAutofit fontScale="90000"/>
          </a:bodyPr>
          <a:lstStyle/>
          <a:p>
            <a:br>
              <a:rPr lang="en-GB" b="1" dirty="0"/>
            </a:br>
            <a:r>
              <a:rPr lang="en-GB" b="1" dirty="0">
                <a:solidFill>
                  <a:schemeClr val="accent6">
                    <a:lumMod val="75000"/>
                  </a:schemeClr>
                </a:solidFill>
              </a:rPr>
              <a:t>Acute Stage signs </a:t>
            </a:r>
            <a:r>
              <a:rPr lang="en-GB" b="1" dirty="0"/>
              <a:t>Cont’d</a:t>
            </a:r>
            <a:br>
              <a:rPr lang="en-US" dirty="0"/>
            </a:br>
            <a:endParaRPr lang="en-US" dirty="0"/>
          </a:p>
        </p:txBody>
      </p:sp>
      <p:sp>
        <p:nvSpPr>
          <p:cNvPr id="1048762" name="Content Placeholder 2"/>
          <p:cNvSpPr>
            <a:spLocks noGrp="1"/>
          </p:cNvSpPr>
          <p:nvPr>
            <p:ph idx="1"/>
          </p:nvPr>
        </p:nvSpPr>
        <p:spPr/>
        <p:txBody>
          <a:bodyPr>
            <a:normAutofit lnSpcReduction="10000"/>
          </a:bodyPr>
          <a:lstStyle/>
          <a:p>
            <a:pPr lvl="0">
              <a:buFont typeface="Wingdings" pitchFamily="2" charset="2"/>
              <a:buChar char="v"/>
            </a:pPr>
            <a:r>
              <a:rPr lang="en-GB" u="sng" dirty="0">
                <a:solidFill>
                  <a:srgbClr val="00B0F0"/>
                </a:solidFill>
              </a:rPr>
              <a:t>Symptoms</a:t>
            </a:r>
            <a:r>
              <a:rPr lang="en-GB" u="sng" dirty="0"/>
              <a:t> may be minor and passed unnoticed </a:t>
            </a:r>
            <a:r>
              <a:rPr lang="en-GB" dirty="0"/>
              <a:t>or there may be </a:t>
            </a:r>
            <a:r>
              <a:rPr lang="en-GB" dirty="0">
                <a:solidFill>
                  <a:schemeClr val="accent6">
                    <a:lumMod val="75000"/>
                  </a:schemeClr>
                </a:solidFill>
              </a:rPr>
              <a:t>fever</a:t>
            </a:r>
            <a:r>
              <a:rPr lang="en-GB" dirty="0"/>
              <a:t>, </a:t>
            </a:r>
            <a:r>
              <a:rPr lang="en-GB" dirty="0">
                <a:solidFill>
                  <a:schemeClr val="accent6">
                    <a:lumMod val="75000"/>
                  </a:schemeClr>
                </a:solidFill>
              </a:rPr>
              <a:t>malaise</a:t>
            </a:r>
            <a:r>
              <a:rPr lang="en-GB" dirty="0"/>
              <a:t>, </a:t>
            </a:r>
            <a:r>
              <a:rPr lang="en-GB" dirty="0">
                <a:solidFill>
                  <a:schemeClr val="accent6">
                    <a:lumMod val="75000"/>
                  </a:schemeClr>
                </a:solidFill>
              </a:rPr>
              <a:t>increased pulse rate </a:t>
            </a:r>
            <a:r>
              <a:rPr lang="en-GB" dirty="0"/>
              <a:t>and </a:t>
            </a:r>
            <a:r>
              <a:rPr lang="en-GB" dirty="0">
                <a:solidFill>
                  <a:schemeClr val="accent6">
                    <a:lumMod val="75000"/>
                  </a:schemeClr>
                </a:solidFill>
              </a:rPr>
              <a:t>enlargement of the lymph gland</a:t>
            </a:r>
            <a:r>
              <a:rPr lang="en-GB" dirty="0"/>
              <a:t>, </a:t>
            </a:r>
            <a:r>
              <a:rPr lang="en-GB" dirty="0">
                <a:solidFill>
                  <a:schemeClr val="accent6">
                    <a:lumMod val="75000"/>
                  </a:schemeClr>
                </a:solidFill>
              </a:rPr>
              <a:t>liver</a:t>
            </a:r>
            <a:r>
              <a:rPr lang="en-GB" dirty="0"/>
              <a:t> and to a lesser extent the </a:t>
            </a:r>
            <a:r>
              <a:rPr lang="en-GB" dirty="0">
                <a:solidFill>
                  <a:schemeClr val="accent6">
                    <a:lumMod val="75000"/>
                  </a:schemeClr>
                </a:solidFill>
              </a:rPr>
              <a:t>spleen</a:t>
            </a:r>
            <a:r>
              <a:rPr lang="en-GB" dirty="0"/>
              <a:t>.</a:t>
            </a:r>
            <a:endParaRPr lang="en-US" dirty="0"/>
          </a:p>
          <a:p>
            <a:pPr lvl="0">
              <a:buFont typeface="Wingdings" pitchFamily="2" charset="2"/>
              <a:buChar char="v"/>
            </a:pPr>
            <a:r>
              <a:rPr lang="en-GB" u="sng" dirty="0">
                <a:solidFill>
                  <a:schemeClr val="accent6">
                    <a:lumMod val="75000"/>
                  </a:schemeClr>
                </a:solidFill>
              </a:rPr>
              <a:t>Lymphocytosis</a:t>
            </a:r>
            <a:r>
              <a:rPr lang="en-GB" u="sng" dirty="0"/>
              <a:t> is common and a typical </a:t>
            </a:r>
            <a:r>
              <a:rPr lang="en-GB" u="sng" dirty="0">
                <a:solidFill>
                  <a:srgbClr val="00B0F0"/>
                </a:solidFill>
              </a:rPr>
              <a:t>mononuclear cells may be seen</a:t>
            </a:r>
            <a:endParaRPr lang="en-US" u="sng" dirty="0">
              <a:solidFill>
                <a:srgbClr val="00B0F0"/>
              </a:solidFill>
            </a:endParaRPr>
          </a:p>
          <a:p>
            <a:pPr lvl="0">
              <a:buFont typeface="Wingdings" pitchFamily="2" charset="2"/>
              <a:buChar char="v"/>
            </a:pPr>
            <a:r>
              <a:rPr lang="en-GB" u="sng" dirty="0"/>
              <a:t>This stage is most commonly seen in young children</a:t>
            </a:r>
            <a:endParaRPr lang="en-US" u="sng" dirty="0"/>
          </a:p>
          <a:p>
            <a:pPr marL="0" indent="0">
              <a:buNone/>
            </a:pPr>
            <a:endParaRPr lang="en-US" dirty="0"/>
          </a:p>
        </p:txBody>
      </p:sp>
    </p:spTree>
    <p:extLst>
      <p:ext uri="{BB962C8B-B14F-4D97-AF65-F5344CB8AC3E}">
        <p14:creationId xmlns:p14="http://schemas.microsoft.com/office/powerpoint/2010/main" val="3015275038"/>
      </p:ext>
    </p:extLst>
  </p:cSld>
  <p:clrMapOvr>
    <a:masterClrMapping/>
  </p:clrMapOvr>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3" name="Title 1"/>
          <p:cNvSpPr>
            <a:spLocks noGrp="1"/>
          </p:cNvSpPr>
          <p:nvPr>
            <p:ph type="title"/>
          </p:nvPr>
        </p:nvSpPr>
        <p:spPr/>
        <p:txBody>
          <a:bodyPr>
            <a:normAutofit fontScale="90000"/>
          </a:bodyPr>
          <a:lstStyle/>
          <a:p>
            <a:br>
              <a:rPr lang="en-GB" b="1" dirty="0"/>
            </a:br>
            <a:r>
              <a:rPr lang="en-GB" b="1" dirty="0">
                <a:solidFill>
                  <a:schemeClr val="accent6">
                    <a:lumMod val="75000"/>
                  </a:schemeClr>
                </a:solidFill>
              </a:rPr>
              <a:t>Acute Stage signs</a:t>
            </a:r>
            <a:r>
              <a:rPr lang="en-GB" b="1" dirty="0"/>
              <a:t> Cont’d</a:t>
            </a:r>
            <a:br>
              <a:rPr lang="en-US" dirty="0"/>
            </a:br>
            <a:endParaRPr lang="en-US" dirty="0"/>
          </a:p>
        </p:txBody>
      </p:sp>
      <p:sp>
        <p:nvSpPr>
          <p:cNvPr id="1048764" name="Content Placeholder 2"/>
          <p:cNvSpPr>
            <a:spLocks noGrp="1"/>
          </p:cNvSpPr>
          <p:nvPr>
            <p:ph idx="1"/>
          </p:nvPr>
        </p:nvSpPr>
        <p:spPr/>
        <p:txBody>
          <a:bodyPr/>
          <a:lstStyle/>
          <a:p>
            <a:pPr lvl="0">
              <a:buFont typeface="Wingdings" pitchFamily="2" charset="2"/>
              <a:buChar char="v"/>
            </a:pPr>
            <a:r>
              <a:rPr lang="en-GB" dirty="0"/>
              <a:t>Occasionally an acute attack may cause </a:t>
            </a:r>
            <a:r>
              <a:rPr lang="en-GB" dirty="0">
                <a:solidFill>
                  <a:schemeClr val="accent6">
                    <a:lumMod val="75000"/>
                  </a:schemeClr>
                </a:solidFill>
              </a:rPr>
              <a:t>serious damage to the heart </a:t>
            </a:r>
            <a:r>
              <a:rPr lang="en-GB" dirty="0"/>
              <a:t>or result in complications which may lead to death.</a:t>
            </a:r>
            <a:endParaRPr lang="en-US" dirty="0"/>
          </a:p>
          <a:p>
            <a:pPr lvl="0">
              <a:buFont typeface="Wingdings" pitchFamily="2" charset="2"/>
              <a:buChar char="v"/>
            </a:pPr>
            <a:r>
              <a:rPr lang="en-GB" u="sng" dirty="0"/>
              <a:t>Early detection before there is nerve and muscle fibre damage, reduces the risk of chronic disease</a:t>
            </a:r>
            <a:endParaRPr lang="en-US" u="sng" dirty="0"/>
          </a:p>
          <a:p>
            <a:pPr>
              <a:buFont typeface="Wingdings" pitchFamily="2" charset="2"/>
              <a:buChar char="v"/>
            </a:pPr>
            <a:endParaRPr lang="en-US" dirty="0"/>
          </a:p>
        </p:txBody>
      </p:sp>
    </p:spTree>
    <p:extLst>
      <p:ext uri="{BB962C8B-B14F-4D97-AF65-F5344CB8AC3E}">
        <p14:creationId xmlns:p14="http://schemas.microsoft.com/office/powerpoint/2010/main" val="43508150"/>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5" name="Title 1"/>
          <p:cNvSpPr>
            <a:spLocks noGrp="1"/>
          </p:cNvSpPr>
          <p:nvPr>
            <p:ph type="title"/>
          </p:nvPr>
        </p:nvSpPr>
        <p:spPr/>
        <p:txBody>
          <a:bodyPr>
            <a:normAutofit fontScale="90000"/>
          </a:bodyPr>
          <a:lstStyle/>
          <a:p>
            <a:br>
              <a:rPr lang="en-GB" b="1" dirty="0"/>
            </a:br>
            <a:r>
              <a:rPr lang="en-GB" b="1" dirty="0">
                <a:solidFill>
                  <a:srgbClr val="C00000"/>
                </a:solidFill>
              </a:rPr>
              <a:t>Chronic stage of disease </a:t>
            </a:r>
            <a:r>
              <a:rPr lang="en-GB" b="1" dirty="0"/>
              <a:t>(</a:t>
            </a:r>
            <a:r>
              <a:rPr lang="en-GB" b="1" dirty="0">
                <a:solidFill>
                  <a:srgbClr val="C00000"/>
                </a:solidFill>
              </a:rPr>
              <a:t>Trypanosomiasis</a:t>
            </a:r>
            <a:r>
              <a:rPr lang="en-GB" b="1" dirty="0"/>
              <a:t>)</a:t>
            </a:r>
            <a:br>
              <a:rPr lang="en-US" dirty="0"/>
            </a:br>
            <a:endParaRPr lang="en-US" dirty="0"/>
          </a:p>
        </p:txBody>
      </p:sp>
      <p:sp>
        <p:nvSpPr>
          <p:cNvPr id="1048766" name="Content Placeholder 2"/>
          <p:cNvSpPr>
            <a:spLocks noGrp="1"/>
          </p:cNvSpPr>
          <p:nvPr>
            <p:ph idx="1"/>
          </p:nvPr>
        </p:nvSpPr>
        <p:spPr/>
        <p:txBody>
          <a:bodyPr>
            <a:normAutofit/>
          </a:bodyPr>
          <a:lstStyle/>
          <a:p>
            <a:pPr lvl="0">
              <a:buFont typeface="Wingdings" pitchFamily="2" charset="2"/>
              <a:buChar char="v"/>
            </a:pPr>
            <a:r>
              <a:rPr lang="en-GB" dirty="0"/>
              <a:t>This stage may develop the signs of </a:t>
            </a:r>
            <a:r>
              <a:rPr lang="en-GB" dirty="0">
                <a:solidFill>
                  <a:srgbClr val="C00000"/>
                </a:solidFill>
              </a:rPr>
              <a:t>cardiac muscle damage</a:t>
            </a:r>
            <a:r>
              <a:rPr lang="en-GB" dirty="0"/>
              <a:t>, including a </a:t>
            </a:r>
            <a:r>
              <a:rPr lang="en-GB" dirty="0">
                <a:solidFill>
                  <a:srgbClr val="C00000"/>
                </a:solidFill>
              </a:rPr>
              <a:t>weak and irregular heartbeat</a:t>
            </a:r>
            <a:r>
              <a:rPr lang="en-GB" dirty="0"/>
              <a:t>, </a:t>
            </a:r>
            <a:r>
              <a:rPr lang="en-GB" dirty="0">
                <a:solidFill>
                  <a:srgbClr val="C00000"/>
                </a:solidFill>
              </a:rPr>
              <a:t>enlargement of the heart and oedema</a:t>
            </a:r>
            <a:r>
              <a:rPr lang="en-GB" dirty="0"/>
              <a:t>; </a:t>
            </a:r>
            <a:r>
              <a:rPr lang="en-GB" dirty="0">
                <a:solidFill>
                  <a:srgbClr val="C00000"/>
                </a:solidFill>
              </a:rPr>
              <a:t>heart failure </a:t>
            </a:r>
            <a:r>
              <a:rPr lang="en-GB" dirty="0"/>
              <a:t>may result</a:t>
            </a:r>
            <a:endParaRPr lang="en-US" dirty="0"/>
          </a:p>
          <a:p>
            <a:pPr lvl="0">
              <a:buFont typeface="Wingdings" pitchFamily="2" charset="2"/>
              <a:buChar char="v"/>
            </a:pPr>
            <a:r>
              <a:rPr lang="en-GB" dirty="0">
                <a:solidFill>
                  <a:srgbClr val="C00000"/>
                </a:solidFill>
              </a:rPr>
              <a:t>Infection of intestinal muscle </a:t>
            </a:r>
          </a:p>
          <a:p>
            <a:pPr lvl="0">
              <a:buFont typeface="Wingdings" pitchFamily="2" charset="2"/>
              <a:buChar char="v"/>
            </a:pPr>
            <a:r>
              <a:rPr lang="en-GB" dirty="0">
                <a:solidFill>
                  <a:srgbClr val="C00000"/>
                </a:solidFill>
              </a:rPr>
              <a:t>may cause damage to nerves in the intestinal wall </a:t>
            </a:r>
            <a:r>
              <a:rPr lang="en-GB" dirty="0"/>
              <a:t>causing </a:t>
            </a:r>
            <a:r>
              <a:rPr lang="en-GB" dirty="0">
                <a:solidFill>
                  <a:srgbClr val="C00000"/>
                </a:solidFill>
              </a:rPr>
              <a:t>loss of the muscular action </a:t>
            </a:r>
            <a:r>
              <a:rPr lang="en-GB" dirty="0"/>
              <a:t>necessary for movement of food.</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42270958"/>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7" name="Title 1"/>
          <p:cNvSpPr>
            <a:spLocks noGrp="1"/>
          </p:cNvSpPr>
          <p:nvPr>
            <p:ph type="title"/>
          </p:nvPr>
        </p:nvSpPr>
        <p:spPr/>
        <p:txBody>
          <a:bodyPr>
            <a:normAutofit fontScale="90000"/>
          </a:bodyPr>
          <a:lstStyle/>
          <a:p>
            <a:br>
              <a:rPr lang="en-GB" b="1" dirty="0"/>
            </a:br>
            <a:r>
              <a:rPr lang="en-GB" b="1" dirty="0">
                <a:solidFill>
                  <a:srgbClr val="C00000"/>
                </a:solidFill>
              </a:rPr>
              <a:t>Chronic stage of disease </a:t>
            </a:r>
            <a:r>
              <a:rPr lang="en-GB" b="1" dirty="0"/>
              <a:t>(</a:t>
            </a:r>
            <a:r>
              <a:rPr lang="en-GB" b="1" dirty="0">
                <a:solidFill>
                  <a:srgbClr val="C00000"/>
                </a:solidFill>
              </a:rPr>
              <a:t>Trypanosomiasis</a:t>
            </a:r>
            <a:r>
              <a:rPr lang="en-GB" b="1" dirty="0"/>
              <a:t>) cont’d</a:t>
            </a:r>
            <a:br>
              <a:rPr lang="en-US" dirty="0"/>
            </a:br>
            <a:endParaRPr lang="en-US" dirty="0"/>
          </a:p>
        </p:txBody>
      </p:sp>
      <p:sp>
        <p:nvSpPr>
          <p:cNvPr id="1048768" name="Content Placeholder 2"/>
          <p:cNvSpPr>
            <a:spLocks noGrp="1"/>
          </p:cNvSpPr>
          <p:nvPr>
            <p:ph idx="1"/>
          </p:nvPr>
        </p:nvSpPr>
        <p:spPr/>
        <p:txBody>
          <a:bodyPr/>
          <a:lstStyle/>
          <a:p>
            <a:pPr lvl="0">
              <a:buFont typeface="Wingdings" pitchFamily="2" charset="2"/>
              <a:buChar char="v"/>
            </a:pPr>
            <a:r>
              <a:rPr lang="en-GB" dirty="0"/>
              <a:t>The slow movement of food and its accumulation leads to </a:t>
            </a:r>
            <a:r>
              <a:rPr lang="en-GB" dirty="0">
                <a:solidFill>
                  <a:srgbClr val="C00000"/>
                </a:solidFill>
              </a:rPr>
              <a:t>enlargement of the oesophagus</a:t>
            </a:r>
            <a:r>
              <a:rPr lang="en-GB" dirty="0"/>
              <a:t> (</a:t>
            </a:r>
            <a:r>
              <a:rPr lang="en-GB" dirty="0">
                <a:solidFill>
                  <a:srgbClr val="C00000"/>
                </a:solidFill>
              </a:rPr>
              <a:t>megaoesophagus</a:t>
            </a:r>
            <a:r>
              <a:rPr lang="en-GB" dirty="0"/>
              <a:t> and colon (</a:t>
            </a:r>
            <a:r>
              <a:rPr lang="en-GB" dirty="0">
                <a:solidFill>
                  <a:srgbClr val="C00000"/>
                </a:solidFill>
              </a:rPr>
              <a:t>megacolon</a:t>
            </a:r>
            <a:r>
              <a:rPr lang="en-GB" dirty="0"/>
              <a:t>)</a:t>
            </a:r>
            <a:endParaRPr lang="en-US" dirty="0"/>
          </a:p>
          <a:p>
            <a:endParaRPr lang="en-US" dirty="0"/>
          </a:p>
        </p:txBody>
      </p:sp>
    </p:spTree>
    <p:extLst>
      <p:ext uri="{BB962C8B-B14F-4D97-AF65-F5344CB8AC3E}">
        <p14:creationId xmlns:p14="http://schemas.microsoft.com/office/powerpoint/2010/main" val="2884101521"/>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69" name="Title 1"/>
          <p:cNvSpPr>
            <a:spLocks noGrp="1"/>
          </p:cNvSpPr>
          <p:nvPr>
            <p:ph type="title"/>
          </p:nvPr>
        </p:nvSpPr>
        <p:spPr/>
        <p:txBody>
          <a:bodyPr>
            <a:normAutofit fontScale="90000"/>
          </a:bodyPr>
          <a:lstStyle/>
          <a:p>
            <a:br>
              <a:rPr lang="en-GB" b="1" dirty="0"/>
            </a:br>
            <a:r>
              <a:rPr lang="en-GB" b="1" dirty="0">
                <a:solidFill>
                  <a:srgbClr val="00B050"/>
                </a:solidFill>
              </a:rPr>
              <a:t>Immunity to </a:t>
            </a:r>
            <a:r>
              <a:rPr lang="en-GB" b="1" i="1" dirty="0">
                <a:solidFill>
                  <a:srgbClr val="00B050"/>
                </a:solidFill>
              </a:rPr>
              <a:t>T. cruzi</a:t>
            </a:r>
            <a:r>
              <a:rPr lang="en-GB" b="1" dirty="0">
                <a:solidFill>
                  <a:srgbClr val="00B050"/>
                </a:solidFill>
              </a:rPr>
              <a:t> infection</a:t>
            </a:r>
            <a:br>
              <a:rPr lang="en-US" dirty="0"/>
            </a:br>
            <a:endParaRPr lang="en-US" dirty="0"/>
          </a:p>
        </p:txBody>
      </p:sp>
      <p:sp>
        <p:nvSpPr>
          <p:cNvPr id="1048770" name="Content Placeholder 2"/>
          <p:cNvSpPr>
            <a:spLocks noGrp="1"/>
          </p:cNvSpPr>
          <p:nvPr>
            <p:ph idx="1"/>
          </p:nvPr>
        </p:nvSpPr>
        <p:spPr/>
        <p:txBody>
          <a:bodyPr>
            <a:normAutofit fontScale="92500" lnSpcReduction="10000"/>
          </a:bodyPr>
          <a:lstStyle/>
          <a:p>
            <a:pPr>
              <a:buFont typeface="Wingdings" pitchFamily="2" charset="2"/>
              <a:buChar char="v"/>
            </a:pPr>
            <a:r>
              <a:rPr lang="en-GB" dirty="0"/>
              <a:t>There are both </a:t>
            </a:r>
            <a:r>
              <a:rPr lang="en-GB" dirty="0">
                <a:solidFill>
                  <a:srgbClr val="00B050"/>
                </a:solidFill>
              </a:rPr>
              <a:t>humoral</a:t>
            </a:r>
            <a:r>
              <a:rPr lang="en-GB" dirty="0"/>
              <a:t> and </a:t>
            </a:r>
            <a:r>
              <a:rPr lang="en-GB" dirty="0">
                <a:solidFill>
                  <a:srgbClr val="00B050"/>
                </a:solidFill>
              </a:rPr>
              <a:t>cellular immune responses to the infection</a:t>
            </a:r>
            <a:r>
              <a:rPr lang="en-GB" dirty="0"/>
              <a:t>,</a:t>
            </a:r>
            <a:r>
              <a:rPr lang="en-GB" u="sng" dirty="0"/>
              <a:t> resulting in the reduction of the number of circulating trypomastigotes</a:t>
            </a:r>
            <a:r>
              <a:rPr lang="en-GB" dirty="0"/>
              <a:t>.</a:t>
            </a:r>
            <a:endParaRPr lang="en-US" dirty="0"/>
          </a:p>
          <a:p>
            <a:pPr>
              <a:buFont typeface="Wingdings" pitchFamily="2" charset="2"/>
              <a:buChar char="v"/>
            </a:pPr>
            <a:r>
              <a:rPr lang="en-GB" dirty="0"/>
              <a:t>Unlike </a:t>
            </a:r>
            <a:r>
              <a:rPr lang="en-GB" i="1" dirty="0">
                <a:solidFill>
                  <a:schemeClr val="accent6">
                    <a:lumMod val="75000"/>
                  </a:schemeClr>
                </a:solidFill>
              </a:rPr>
              <a:t>T.b.r</a:t>
            </a:r>
            <a:r>
              <a:rPr lang="en-GB" dirty="0"/>
              <a:t> and </a:t>
            </a:r>
            <a:r>
              <a:rPr lang="en-GB" i="1" dirty="0">
                <a:solidFill>
                  <a:srgbClr val="7030A0"/>
                </a:solidFill>
              </a:rPr>
              <a:t>T.b.g</a:t>
            </a:r>
            <a:r>
              <a:rPr lang="en-GB" dirty="0"/>
              <a:t>.,</a:t>
            </a:r>
            <a:r>
              <a:rPr lang="en-GB" i="1" dirty="0"/>
              <a:t> </a:t>
            </a:r>
            <a:r>
              <a:rPr lang="en-GB" i="1" dirty="0">
                <a:solidFill>
                  <a:srgbClr val="7030A0"/>
                </a:solidFill>
              </a:rPr>
              <a:t>T. cruzi </a:t>
            </a:r>
            <a:r>
              <a:rPr lang="en-GB" u="sng" dirty="0"/>
              <a:t>does not show marked variation in surface antigen</a:t>
            </a:r>
            <a:r>
              <a:rPr lang="en-GB" dirty="0"/>
              <a:t>, </a:t>
            </a:r>
          </a:p>
          <a:p>
            <a:pPr>
              <a:buFont typeface="Wingdings" pitchFamily="2" charset="2"/>
              <a:buChar char="v"/>
            </a:pPr>
            <a:r>
              <a:rPr lang="en-GB" u="sng" dirty="0"/>
              <a:t>however surface changes relating to the invasion of host cells</a:t>
            </a:r>
          </a:p>
          <a:p>
            <a:pPr>
              <a:buFont typeface="Wingdings" pitchFamily="2" charset="2"/>
              <a:buChar char="v"/>
            </a:pPr>
            <a:r>
              <a:rPr lang="en-GB" u="sng" dirty="0"/>
              <a:t> and resistance to the host’s immune response, do occur</a:t>
            </a:r>
            <a:r>
              <a:rPr lang="en-GB" dirty="0"/>
              <a:t>.</a:t>
            </a:r>
            <a:endParaRPr lang="en-US" dirty="0"/>
          </a:p>
          <a:p>
            <a:pPr marL="0" indent="0">
              <a:buNone/>
            </a:pPr>
            <a:endParaRPr lang="en-US" dirty="0"/>
          </a:p>
        </p:txBody>
      </p:sp>
    </p:spTree>
    <p:extLst>
      <p:ext uri="{BB962C8B-B14F-4D97-AF65-F5344CB8AC3E}">
        <p14:creationId xmlns:p14="http://schemas.microsoft.com/office/powerpoint/2010/main" val="2644255663"/>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1" name="Title 1"/>
          <p:cNvSpPr>
            <a:spLocks noGrp="1"/>
          </p:cNvSpPr>
          <p:nvPr>
            <p:ph type="title"/>
          </p:nvPr>
        </p:nvSpPr>
        <p:spPr/>
        <p:txBody>
          <a:bodyPr>
            <a:normAutofit fontScale="90000"/>
          </a:bodyPr>
          <a:lstStyle/>
          <a:p>
            <a:br>
              <a:rPr lang="en-GB" b="1" dirty="0"/>
            </a:br>
            <a:r>
              <a:rPr lang="en-GB" b="1" dirty="0">
                <a:solidFill>
                  <a:srgbClr val="00B050"/>
                </a:solidFill>
              </a:rPr>
              <a:t>Prevention and control</a:t>
            </a:r>
            <a:r>
              <a:rPr lang="en-GB" b="1" i="1" dirty="0">
                <a:solidFill>
                  <a:srgbClr val="00B050"/>
                </a:solidFill>
              </a:rPr>
              <a:t>  of T. cruzi</a:t>
            </a:r>
            <a:r>
              <a:rPr lang="en-GB" b="1" dirty="0"/>
              <a:t> </a:t>
            </a:r>
            <a:br>
              <a:rPr lang="en-US" dirty="0"/>
            </a:br>
            <a:endParaRPr lang="en-US" dirty="0"/>
          </a:p>
        </p:txBody>
      </p:sp>
      <p:sp>
        <p:nvSpPr>
          <p:cNvPr id="1048772" name="Content Placeholder 2"/>
          <p:cNvSpPr>
            <a:spLocks noGrp="1"/>
          </p:cNvSpPr>
          <p:nvPr>
            <p:ph idx="1"/>
          </p:nvPr>
        </p:nvSpPr>
        <p:spPr/>
        <p:txBody>
          <a:bodyPr>
            <a:normAutofit fontScale="92500"/>
          </a:bodyPr>
          <a:lstStyle/>
          <a:p>
            <a:pPr lvl="0">
              <a:buFont typeface="Wingdings" pitchFamily="2" charset="2"/>
              <a:buChar char="v"/>
            </a:pPr>
            <a:r>
              <a:rPr lang="en-GB" dirty="0">
                <a:solidFill>
                  <a:srgbClr val="00B050"/>
                </a:solidFill>
              </a:rPr>
              <a:t>Spraying of bug-infested houses</a:t>
            </a:r>
            <a:r>
              <a:rPr lang="en-GB" dirty="0"/>
              <a:t>, </a:t>
            </a:r>
            <a:r>
              <a:rPr lang="en-GB" dirty="0">
                <a:solidFill>
                  <a:srgbClr val="00B050"/>
                </a:solidFill>
              </a:rPr>
              <a:t>furniture sheds</a:t>
            </a:r>
            <a:r>
              <a:rPr lang="en-GB" dirty="0"/>
              <a:t>, </a:t>
            </a:r>
            <a:r>
              <a:rPr lang="en-GB" dirty="0">
                <a:solidFill>
                  <a:srgbClr val="00B050"/>
                </a:solidFill>
              </a:rPr>
              <a:t>latrines</a:t>
            </a:r>
            <a:r>
              <a:rPr lang="en-GB" dirty="0"/>
              <a:t>, </a:t>
            </a:r>
            <a:r>
              <a:rPr lang="en-GB" dirty="0">
                <a:solidFill>
                  <a:srgbClr val="00B050"/>
                </a:solidFill>
              </a:rPr>
              <a:t>thatched roofs </a:t>
            </a:r>
            <a:r>
              <a:rPr lang="en-GB" dirty="0"/>
              <a:t>etc. </a:t>
            </a:r>
            <a:r>
              <a:rPr lang="en-GB" dirty="0">
                <a:solidFill>
                  <a:srgbClr val="00B050"/>
                </a:solidFill>
              </a:rPr>
              <a:t>with insecticide every few months and checking for reinfestation</a:t>
            </a:r>
            <a:endParaRPr lang="en-US" dirty="0">
              <a:solidFill>
                <a:srgbClr val="00B050"/>
              </a:solidFill>
            </a:endParaRPr>
          </a:p>
          <a:p>
            <a:pPr lvl="0">
              <a:buFont typeface="Wingdings" pitchFamily="2" charset="2"/>
              <a:buChar char="v"/>
            </a:pPr>
            <a:r>
              <a:rPr lang="en-GB" dirty="0">
                <a:solidFill>
                  <a:srgbClr val="00B050"/>
                </a:solidFill>
              </a:rPr>
              <a:t>Improvement</a:t>
            </a:r>
            <a:r>
              <a:rPr lang="en-GB" dirty="0"/>
              <a:t> of rural housing, environmental and </a:t>
            </a:r>
            <a:r>
              <a:rPr lang="en-GB" dirty="0">
                <a:solidFill>
                  <a:srgbClr val="00B050"/>
                </a:solidFill>
              </a:rPr>
              <a:t>household hygiene to clear off refuges and hiding places of triatomine bugs </a:t>
            </a:r>
            <a:r>
              <a:rPr lang="en-GB" dirty="0"/>
              <a:t>including </a:t>
            </a:r>
            <a:r>
              <a:rPr lang="en-GB" dirty="0">
                <a:solidFill>
                  <a:srgbClr val="00B050"/>
                </a:solidFill>
              </a:rPr>
              <a:t>plastering of all surfaces with crevices</a:t>
            </a:r>
            <a:r>
              <a:rPr lang="en-GB" dirty="0"/>
              <a:t>.</a:t>
            </a:r>
            <a:endParaRPr lang="en-US" dirty="0"/>
          </a:p>
          <a:p>
            <a:pPr lvl="0">
              <a:buFont typeface="Wingdings" pitchFamily="2" charset="2"/>
              <a:buChar char="v"/>
            </a:pPr>
            <a:r>
              <a:rPr lang="en-GB" dirty="0">
                <a:solidFill>
                  <a:srgbClr val="00B050"/>
                </a:solidFill>
              </a:rPr>
              <a:t>Burning or spraying bug-infested houses and household belongings</a:t>
            </a:r>
            <a:endParaRPr lang="en-US" dirty="0">
              <a:solidFill>
                <a:srgbClr val="00B050"/>
              </a:solidFill>
            </a:endParaRPr>
          </a:p>
          <a:p>
            <a:endParaRPr lang="en-US" dirty="0"/>
          </a:p>
        </p:txBody>
      </p:sp>
    </p:spTree>
    <p:extLst>
      <p:ext uri="{BB962C8B-B14F-4D97-AF65-F5344CB8AC3E}">
        <p14:creationId xmlns:p14="http://schemas.microsoft.com/office/powerpoint/2010/main" val="188032288"/>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3" name="Title 1"/>
          <p:cNvSpPr>
            <a:spLocks noGrp="1"/>
          </p:cNvSpPr>
          <p:nvPr>
            <p:ph type="title"/>
          </p:nvPr>
        </p:nvSpPr>
        <p:spPr/>
        <p:txBody>
          <a:bodyPr>
            <a:normAutofit fontScale="90000"/>
          </a:bodyPr>
          <a:lstStyle/>
          <a:p>
            <a:br>
              <a:rPr lang="en-GB" b="1" dirty="0"/>
            </a:br>
            <a:r>
              <a:rPr lang="en-GB" b="1" dirty="0">
                <a:solidFill>
                  <a:srgbClr val="00B050"/>
                </a:solidFill>
              </a:rPr>
              <a:t>Prevention and control</a:t>
            </a:r>
            <a:r>
              <a:rPr lang="en-GB" b="1" i="1" dirty="0">
                <a:solidFill>
                  <a:srgbClr val="00B050"/>
                </a:solidFill>
              </a:rPr>
              <a:t>  of T. cruzi</a:t>
            </a:r>
            <a:r>
              <a:rPr lang="en-GB" b="1" dirty="0">
                <a:solidFill>
                  <a:srgbClr val="00B050"/>
                </a:solidFill>
              </a:rPr>
              <a:t> </a:t>
            </a:r>
            <a:br>
              <a:rPr lang="en-US" dirty="0"/>
            </a:br>
            <a:endParaRPr lang="en-US" dirty="0"/>
          </a:p>
        </p:txBody>
      </p:sp>
      <p:sp>
        <p:nvSpPr>
          <p:cNvPr id="1048774" name="Content Placeholder 2"/>
          <p:cNvSpPr>
            <a:spLocks noGrp="1"/>
          </p:cNvSpPr>
          <p:nvPr>
            <p:ph idx="1"/>
          </p:nvPr>
        </p:nvSpPr>
        <p:spPr/>
        <p:txBody>
          <a:bodyPr>
            <a:normAutofit fontScale="92500" lnSpcReduction="20000"/>
          </a:bodyPr>
          <a:lstStyle/>
          <a:p>
            <a:pPr lvl="0"/>
            <a:r>
              <a:rPr lang="en-GB" dirty="0">
                <a:solidFill>
                  <a:srgbClr val="00B050"/>
                </a:solidFill>
              </a:rPr>
              <a:t>Removal or destruction of animal reservoirs </a:t>
            </a:r>
            <a:r>
              <a:rPr lang="en-GB" u="sng" dirty="0"/>
              <a:t>which includes dogs, pigs, cats, goats, sheep, rabbits, armadillos, mice guinea pigs, opossums, roosting chickens (from which bugs feed) and other infested mammal refuges</a:t>
            </a:r>
            <a:endParaRPr lang="en-US" u="sng" dirty="0"/>
          </a:p>
          <a:p>
            <a:pPr lvl="0"/>
            <a:r>
              <a:rPr lang="en-GB" dirty="0">
                <a:solidFill>
                  <a:srgbClr val="00B050"/>
                </a:solidFill>
              </a:rPr>
              <a:t>Periodic serological surveys </a:t>
            </a:r>
            <a:r>
              <a:rPr lang="en-GB" dirty="0"/>
              <a:t>(e.g. among school children) </a:t>
            </a:r>
            <a:r>
              <a:rPr lang="en-GB" dirty="0">
                <a:solidFill>
                  <a:srgbClr val="00B050"/>
                </a:solidFill>
              </a:rPr>
              <a:t>to detect new infections and or new endemic foci</a:t>
            </a:r>
            <a:endParaRPr lang="en-US" dirty="0">
              <a:solidFill>
                <a:srgbClr val="00B050"/>
              </a:solidFill>
            </a:endParaRPr>
          </a:p>
          <a:p>
            <a:pPr lvl="0"/>
            <a:r>
              <a:rPr lang="en-GB" dirty="0">
                <a:solidFill>
                  <a:srgbClr val="00B050"/>
                </a:solidFill>
              </a:rPr>
              <a:t>Health education with emphasis on personal hygiene</a:t>
            </a:r>
            <a:r>
              <a:rPr lang="en-GB" dirty="0"/>
              <a:t>, </a:t>
            </a:r>
            <a:r>
              <a:rPr lang="en-GB" dirty="0">
                <a:solidFill>
                  <a:srgbClr val="00B050"/>
                </a:solidFill>
              </a:rPr>
              <a:t>environmental sanitation </a:t>
            </a:r>
            <a:r>
              <a:rPr lang="en-GB" dirty="0"/>
              <a:t>and </a:t>
            </a:r>
            <a:r>
              <a:rPr lang="en-GB" dirty="0">
                <a:solidFill>
                  <a:srgbClr val="00B050"/>
                </a:solidFill>
              </a:rPr>
              <a:t>preventive measures</a:t>
            </a:r>
            <a:r>
              <a:rPr lang="en-GB" dirty="0"/>
              <a:t>.</a:t>
            </a:r>
            <a:endParaRPr lang="en-US" dirty="0"/>
          </a:p>
          <a:p>
            <a:pPr marL="0" indent="0">
              <a:buNone/>
            </a:pPr>
            <a:endParaRPr lang="en-US" dirty="0"/>
          </a:p>
        </p:txBody>
      </p:sp>
    </p:spTree>
    <p:extLst>
      <p:ext uri="{BB962C8B-B14F-4D97-AF65-F5344CB8AC3E}">
        <p14:creationId xmlns:p14="http://schemas.microsoft.com/office/powerpoint/2010/main" val="2373680663"/>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5" name="Title 1"/>
          <p:cNvSpPr>
            <a:spLocks noGrp="1"/>
          </p:cNvSpPr>
          <p:nvPr>
            <p:ph type="title"/>
          </p:nvPr>
        </p:nvSpPr>
        <p:spPr/>
        <p:txBody>
          <a:bodyPr>
            <a:normAutofit fontScale="90000"/>
          </a:bodyPr>
          <a:lstStyle/>
          <a:p>
            <a:br>
              <a:rPr lang="en-GB" b="1" dirty="0"/>
            </a:br>
            <a:r>
              <a:rPr lang="en-GB" b="1" dirty="0">
                <a:solidFill>
                  <a:srgbClr val="00B050"/>
                </a:solidFill>
              </a:rPr>
              <a:t>Prevention and control</a:t>
            </a:r>
            <a:r>
              <a:rPr lang="en-GB" b="1" i="1" dirty="0">
                <a:solidFill>
                  <a:srgbClr val="00B050"/>
                </a:solidFill>
              </a:rPr>
              <a:t>  of T. cruzi</a:t>
            </a:r>
            <a:r>
              <a:rPr lang="en-GB" b="1" dirty="0">
                <a:solidFill>
                  <a:srgbClr val="00B050"/>
                </a:solidFill>
              </a:rPr>
              <a:t> </a:t>
            </a:r>
            <a:br>
              <a:rPr lang="en-US" dirty="0"/>
            </a:br>
            <a:endParaRPr lang="en-US" dirty="0"/>
          </a:p>
        </p:txBody>
      </p:sp>
      <p:sp>
        <p:nvSpPr>
          <p:cNvPr id="1048776" name="Content Placeholder 2"/>
          <p:cNvSpPr>
            <a:spLocks noGrp="1"/>
          </p:cNvSpPr>
          <p:nvPr>
            <p:ph idx="1"/>
          </p:nvPr>
        </p:nvSpPr>
        <p:spPr/>
        <p:txBody>
          <a:bodyPr/>
          <a:lstStyle/>
          <a:p>
            <a:pPr lvl="0">
              <a:buFont typeface="Wingdings" pitchFamily="2" charset="2"/>
              <a:buChar char="v"/>
            </a:pPr>
            <a:r>
              <a:rPr lang="en-GB" dirty="0">
                <a:solidFill>
                  <a:srgbClr val="C00000"/>
                </a:solidFill>
              </a:rPr>
              <a:t>Adult triatomine bugs have wings and invade houses at night, often attracted by light.</a:t>
            </a:r>
            <a:endParaRPr lang="en-US" dirty="0">
              <a:solidFill>
                <a:srgbClr val="C00000"/>
              </a:solidFill>
            </a:endParaRPr>
          </a:p>
          <a:p>
            <a:pPr>
              <a:buFont typeface="Wingdings" pitchFamily="2" charset="2"/>
              <a:buChar char="v"/>
            </a:pPr>
            <a:r>
              <a:rPr lang="en-GB" dirty="0">
                <a:solidFill>
                  <a:srgbClr val="C00000"/>
                </a:solidFill>
              </a:rPr>
              <a:t>All stages of the bug can be carried into houses with personal belongings or attached roofing</a:t>
            </a:r>
            <a:endParaRPr lang="en-US" dirty="0">
              <a:solidFill>
                <a:srgbClr val="C00000"/>
              </a:solidFill>
            </a:endParaRPr>
          </a:p>
        </p:txBody>
      </p:sp>
    </p:spTree>
    <p:extLst>
      <p:ext uri="{BB962C8B-B14F-4D97-AF65-F5344CB8AC3E}">
        <p14:creationId xmlns:p14="http://schemas.microsoft.com/office/powerpoint/2010/main" val="1429008231"/>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7" name="Title 1"/>
          <p:cNvSpPr>
            <a:spLocks noGrp="1"/>
          </p:cNvSpPr>
          <p:nvPr>
            <p:ph type="title"/>
          </p:nvPr>
        </p:nvSpPr>
        <p:spPr/>
        <p:txBody>
          <a:bodyPr>
            <a:normAutofit fontScale="90000"/>
          </a:bodyPr>
          <a:lstStyle/>
          <a:p>
            <a:br>
              <a:rPr lang="en-GB" dirty="0"/>
            </a:br>
            <a:r>
              <a:rPr lang="en-GB" dirty="0">
                <a:solidFill>
                  <a:srgbClr val="00B0F0"/>
                </a:solidFill>
              </a:rPr>
              <a:t>Diagnosis  </a:t>
            </a:r>
            <a:r>
              <a:rPr lang="en-GB" i="1" dirty="0">
                <a:solidFill>
                  <a:srgbClr val="00B0F0"/>
                </a:solidFill>
              </a:rPr>
              <a:t>T. cruzi</a:t>
            </a:r>
            <a:r>
              <a:rPr lang="en-GB" dirty="0">
                <a:solidFill>
                  <a:srgbClr val="00B0F0"/>
                </a:solidFill>
              </a:rPr>
              <a:t> </a:t>
            </a:r>
            <a:br>
              <a:rPr lang="en-US" dirty="0"/>
            </a:br>
            <a:endParaRPr lang="en-US" dirty="0"/>
          </a:p>
        </p:txBody>
      </p:sp>
      <p:sp>
        <p:nvSpPr>
          <p:cNvPr id="1048778" name="Content Placeholder 2"/>
          <p:cNvSpPr>
            <a:spLocks noGrp="1"/>
          </p:cNvSpPr>
          <p:nvPr>
            <p:ph idx="1"/>
          </p:nvPr>
        </p:nvSpPr>
        <p:spPr/>
        <p:txBody>
          <a:bodyPr>
            <a:normAutofit lnSpcReduction="10000"/>
          </a:bodyPr>
          <a:lstStyle/>
          <a:p>
            <a:pPr lvl="0">
              <a:buFont typeface="Wingdings" pitchFamily="2" charset="2"/>
              <a:buChar char="v"/>
            </a:pPr>
            <a:r>
              <a:rPr lang="en-GB" dirty="0">
                <a:solidFill>
                  <a:srgbClr val="00B0F0"/>
                </a:solidFill>
              </a:rPr>
              <a:t>Finding trypomastigotes in blood in early infections</a:t>
            </a:r>
            <a:endParaRPr lang="en-US" dirty="0">
              <a:solidFill>
                <a:srgbClr val="00B0F0"/>
              </a:solidFill>
            </a:endParaRPr>
          </a:p>
          <a:p>
            <a:pPr lvl="0">
              <a:buFont typeface="Wingdings" pitchFamily="2" charset="2"/>
              <a:buChar char="v"/>
            </a:pPr>
            <a:r>
              <a:rPr lang="en-GB" dirty="0">
                <a:solidFill>
                  <a:srgbClr val="00B0F0"/>
                </a:solidFill>
              </a:rPr>
              <a:t>Detecting the parasite by xenodiagnoses in chronic and subacute infections when parasitaemia is low.</a:t>
            </a:r>
            <a:endParaRPr lang="en-US" dirty="0">
              <a:solidFill>
                <a:srgbClr val="00B0F0"/>
              </a:solidFill>
            </a:endParaRPr>
          </a:p>
          <a:p>
            <a:pPr lvl="0">
              <a:buFont typeface="Wingdings" pitchFamily="2" charset="2"/>
              <a:buChar char="v"/>
            </a:pPr>
            <a:r>
              <a:rPr lang="en-GB" dirty="0">
                <a:solidFill>
                  <a:srgbClr val="00B0F0"/>
                </a:solidFill>
              </a:rPr>
              <a:t>Detecting the parasite by blood culture in late stages of infection</a:t>
            </a:r>
            <a:endParaRPr lang="en-US" dirty="0">
              <a:solidFill>
                <a:srgbClr val="00B0F0"/>
              </a:solidFill>
            </a:endParaRPr>
          </a:p>
          <a:p>
            <a:pPr lvl="0">
              <a:buFont typeface="Wingdings" pitchFamily="2" charset="2"/>
              <a:buChar char="v"/>
            </a:pPr>
            <a:r>
              <a:rPr lang="en-GB" dirty="0">
                <a:solidFill>
                  <a:srgbClr val="00B0F0"/>
                </a:solidFill>
              </a:rPr>
              <a:t>Testing serum for anti </a:t>
            </a:r>
            <a:r>
              <a:rPr lang="en-GB" i="1" dirty="0">
                <a:solidFill>
                  <a:srgbClr val="00B0F0"/>
                </a:solidFill>
              </a:rPr>
              <a:t>T. cruzi</a:t>
            </a:r>
            <a:r>
              <a:rPr lang="en-GB" dirty="0">
                <a:solidFill>
                  <a:srgbClr val="00B0F0"/>
                </a:solidFill>
              </a:rPr>
              <a:t> antibodies</a:t>
            </a:r>
            <a:r>
              <a:rPr lang="en-GB" dirty="0"/>
              <a:t>. Many other diagnosis signs may be explored</a:t>
            </a:r>
            <a:endParaRPr lang="en-US" dirty="0"/>
          </a:p>
          <a:p>
            <a:endParaRPr lang="en-US" dirty="0"/>
          </a:p>
        </p:txBody>
      </p:sp>
    </p:spTree>
    <p:extLst>
      <p:ext uri="{BB962C8B-B14F-4D97-AF65-F5344CB8AC3E}">
        <p14:creationId xmlns:p14="http://schemas.microsoft.com/office/powerpoint/2010/main" val="2630445771"/>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79" name="Title 1"/>
          <p:cNvSpPr>
            <a:spLocks noGrp="1"/>
          </p:cNvSpPr>
          <p:nvPr>
            <p:ph type="title"/>
          </p:nvPr>
        </p:nvSpPr>
        <p:spPr/>
        <p:txBody>
          <a:bodyPr>
            <a:normAutofit fontScale="90000"/>
          </a:bodyPr>
          <a:lstStyle/>
          <a:p>
            <a:br>
              <a:rPr lang="en-GB" b="1" dirty="0"/>
            </a:br>
            <a:r>
              <a:rPr lang="en-GB" b="1" dirty="0">
                <a:solidFill>
                  <a:srgbClr val="00B0F0"/>
                </a:solidFill>
              </a:rPr>
              <a:t>Diagnosis  </a:t>
            </a:r>
            <a:r>
              <a:rPr lang="en-GB" b="1" i="1" dirty="0">
                <a:solidFill>
                  <a:srgbClr val="00B0F0"/>
                </a:solidFill>
              </a:rPr>
              <a:t>T. cruzi</a:t>
            </a:r>
            <a:r>
              <a:rPr lang="en-GB" b="1" dirty="0">
                <a:solidFill>
                  <a:srgbClr val="00B0F0"/>
                </a:solidFill>
              </a:rPr>
              <a:t> </a:t>
            </a:r>
            <a:br>
              <a:rPr lang="en-US" b="1" dirty="0"/>
            </a:br>
            <a:endParaRPr lang="en-US" b="1" dirty="0"/>
          </a:p>
        </p:txBody>
      </p:sp>
      <p:sp>
        <p:nvSpPr>
          <p:cNvPr id="1048780" name="Content Placeholder 2"/>
          <p:cNvSpPr>
            <a:spLocks noGrp="1"/>
          </p:cNvSpPr>
          <p:nvPr>
            <p:ph idx="1"/>
          </p:nvPr>
        </p:nvSpPr>
        <p:spPr/>
        <p:txBody>
          <a:bodyPr>
            <a:normAutofit/>
          </a:bodyPr>
          <a:lstStyle/>
          <a:p>
            <a:pPr marL="0" indent="0" algn="ctr">
              <a:buNone/>
            </a:pPr>
            <a:r>
              <a:rPr lang="en-GB" b="1" u="sng" dirty="0">
                <a:solidFill>
                  <a:srgbClr val="00B0F0"/>
                </a:solidFill>
              </a:rPr>
              <a:t>Xenodiagnoses of </a:t>
            </a:r>
            <a:r>
              <a:rPr lang="en-GB" b="1" i="1" u="sng" dirty="0">
                <a:solidFill>
                  <a:srgbClr val="00B0F0"/>
                </a:solidFill>
              </a:rPr>
              <a:t>T. cruzi</a:t>
            </a:r>
            <a:endParaRPr lang="en-US" u="sng" dirty="0">
              <a:solidFill>
                <a:srgbClr val="00B0F0"/>
              </a:solidFill>
            </a:endParaRPr>
          </a:p>
          <a:p>
            <a:pPr>
              <a:buFont typeface="Wingdings" pitchFamily="2" charset="2"/>
              <a:buChar char="v"/>
            </a:pPr>
            <a:endParaRPr lang="en-GB" dirty="0"/>
          </a:p>
          <a:p>
            <a:pPr>
              <a:buFont typeface="Wingdings" pitchFamily="2" charset="2"/>
              <a:buChar char="v"/>
            </a:pPr>
            <a:r>
              <a:rPr lang="en-GB" u="sng" dirty="0"/>
              <a:t>This method is used to detect parasites during the chronic stage of infection when their number in the blood is usually very low</a:t>
            </a:r>
            <a:r>
              <a:rPr lang="en-GB" dirty="0"/>
              <a:t>. </a:t>
            </a:r>
            <a:endParaRPr lang="en-US" dirty="0"/>
          </a:p>
        </p:txBody>
      </p:sp>
    </p:spTree>
    <p:extLst>
      <p:ext uri="{BB962C8B-B14F-4D97-AF65-F5344CB8AC3E}">
        <p14:creationId xmlns:p14="http://schemas.microsoft.com/office/powerpoint/2010/main" val="1887548241"/>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81" name="Title 1"/>
          <p:cNvSpPr>
            <a:spLocks noGrp="1"/>
          </p:cNvSpPr>
          <p:nvPr>
            <p:ph type="title"/>
          </p:nvPr>
        </p:nvSpPr>
        <p:spPr/>
        <p:txBody>
          <a:bodyPr>
            <a:normAutofit fontScale="90000"/>
          </a:bodyPr>
          <a:lstStyle/>
          <a:p>
            <a:br>
              <a:rPr lang="en-GB" b="1" dirty="0"/>
            </a:br>
            <a:r>
              <a:rPr lang="en-GB" b="1" u="sng" dirty="0">
                <a:solidFill>
                  <a:srgbClr val="00B0F0"/>
                </a:solidFill>
              </a:rPr>
              <a:t>Xenodiagnoses of </a:t>
            </a:r>
            <a:r>
              <a:rPr lang="en-GB" b="1" i="1" u="sng" dirty="0">
                <a:solidFill>
                  <a:srgbClr val="00B0F0"/>
                </a:solidFill>
              </a:rPr>
              <a:t>T. cruzi</a:t>
            </a:r>
            <a:br>
              <a:rPr lang="en-US" dirty="0"/>
            </a:br>
            <a:endParaRPr lang="en-US" dirty="0"/>
          </a:p>
        </p:txBody>
      </p:sp>
      <p:sp>
        <p:nvSpPr>
          <p:cNvPr id="1048782" name="Content Placeholder 2"/>
          <p:cNvSpPr>
            <a:spLocks noGrp="1"/>
          </p:cNvSpPr>
          <p:nvPr>
            <p:ph idx="1"/>
          </p:nvPr>
        </p:nvSpPr>
        <p:spPr/>
        <p:txBody>
          <a:bodyPr>
            <a:normAutofit fontScale="92500" lnSpcReduction="10000"/>
          </a:bodyPr>
          <a:lstStyle/>
          <a:p>
            <a:r>
              <a:rPr lang="en-GB" u="sng" dirty="0"/>
              <a:t>Uninfected, susceptible, laboratory-reared triatomine bugs are starved for 2 weeks then fed with patient’s blood. </a:t>
            </a:r>
          </a:p>
          <a:p>
            <a:r>
              <a:rPr lang="en-GB" u="sng" dirty="0"/>
              <a:t>If trypanosomes are ingested, they will multiply and develop into epimastigotes and trypomastigotes which can be found 25-30 days later in the faeces or rectum of the bug</a:t>
            </a:r>
            <a:r>
              <a:rPr lang="en-GB" dirty="0"/>
              <a:t>. </a:t>
            </a:r>
          </a:p>
          <a:p>
            <a:r>
              <a:rPr lang="en-GB" dirty="0">
                <a:solidFill>
                  <a:srgbClr val="00B0F0"/>
                </a:solidFill>
              </a:rPr>
              <a:t>The use of local bugs is important </a:t>
            </a:r>
            <a:r>
              <a:rPr lang="en-GB" u="sng" dirty="0"/>
              <a:t>because of the differences in susceptibility of vectors to infection by </a:t>
            </a:r>
            <a:r>
              <a:rPr lang="en-GB" i="1" u="sng" dirty="0"/>
              <a:t>T. cruzi</a:t>
            </a:r>
            <a:endParaRPr lang="en-US" u="sng" dirty="0"/>
          </a:p>
          <a:p>
            <a:endParaRPr lang="en-US" dirty="0"/>
          </a:p>
          <a:p>
            <a:endParaRPr lang="en-US" dirty="0"/>
          </a:p>
        </p:txBody>
      </p:sp>
    </p:spTree>
    <p:extLst>
      <p:ext uri="{BB962C8B-B14F-4D97-AF65-F5344CB8AC3E}">
        <p14:creationId xmlns:p14="http://schemas.microsoft.com/office/powerpoint/2010/main" val="806576646"/>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PARASITOLOGY (BIOL 460)</a:t>
            </a:r>
          </a:p>
        </p:txBody>
      </p:sp>
      <p:sp>
        <p:nvSpPr>
          <p:cNvPr id="3" name="Subtitle 2"/>
          <p:cNvSpPr>
            <a:spLocks noGrp="1"/>
          </p:cNvSpPr>
          <p:nvPr>
            <p:ph type="subTitle" idx="1"/>
          </p:nvPr>
        </p:nvSpPr>
        <p:spPr/>
        <p:txBody>
          <a:bodyPr/>
          <a:lstStyle/>
          <a:p>
            <a:r>
              <a:rPr lang="en-US" dirty="0"/>
              <a:t>UNIT 5</a:t>
            </a:r>
          </a:p>
          <a:p>
            <a:r>
              <a:rPr lang="en-US" dirty="0">
                <a:solidFill>
                  <a:srgbClr val="FF0000"/>
                </a:solidFill>
              </a:rPr>
              <a:t>CESTODES </a:t>
            </a:r>
          </a:p>
        </p:txBody>
      </p:sp>
    </p:spTree>
    <p:extLst>
      <p:ext uri="{BB962C8B-B14F-4D97-AF65-F5344CB8AC3E}">
        <p14:creationId xmlns:p14="http://schemas.microsoft.com/office/powerpoint/2010/main" val="983943043"/>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304800"/>
            <a:ext cx="8229600" cy="6019800"/>
          </a:xfrm>
        </p:spPr>
      </p:pic>
    </p:spTree>
    <p:extLst>
      <p:ext uri="{BB962C8B-B14F-4D97-AF65-F5344CB8AC3E}">
        <p14:creationId xmlns:p14="http://schemas.microsoft.com/office/powerpoint/2010/main" val="3162917758"/>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FF0000"/>
                </a:solidFill>
              </a:rPr>
              <a:t>Cestodes (Tapeworms)</a:t>
            </a:r>
            <a:br>
              <a:rPr lang="en-US" dirty="0"/>
            </a:br>
            <a:endParaRPr lang="en-US" dirty="0"/>
          </a:p>
        </p:txBody>
      </p:sp>
      <p:sp>
        <p:nvSpPr>
          <p:cNvPr id="3" name="Content Placeholder 2"/>
          <p:cNvSpPr>
            <a:spLocks noGrp="1"/>
          </p:cNvSpPr>
          <p:nvPr>
            <p:ph idx="1"/>
          </p:nvPr>
        </p:nvSpPr>
        <p:spPr/>
        <p:txBody>
          <a:bodyPr/>
          <a:lstStyle/>
          <a:p>
            <a:pPr lvl="0"/>
            <a:endParaRPr lang="en-GB" dirty="0"/>
          </a:p>
          <a:p>
            <a:pPr lvl="0">
              <a:buFont typeface="Wingdings" pitchFamily="2" charset="2"/>
              <a:buChar char="v"/>
            </a:pPr>
            <a:r>
              <a:rPr lang="en-GB" dirty="0"/>
              <a:t>Most of them are parasitic in wild animals and only a few infect humans and domestic animals</a:t>
            </a:r>
            <a:endParaRPr lang="en-US" dirty="0"/>
          </a:p>
          <a:p>
            <a:pPr lvl="0">
              <a:buFont typeface="Wingdings" pitchFamily="2" charset="2"/>
              <a:buChar char="v"/>
            </a:pPr>
            <a:r>
              <a:rPr lang="en-GB" u="sng" dirty="0"/>
              <a:t>Those infecting humans</a:t>
            </a:r>
            <a:r>
              <a:rPr lang="en-GB" dirty="0"/>
              <a:t> belong to the Orders </a:t>
            </a:r>
            <a:r>
              <a:rPr lang="en-GB" dirty="0">
                <a:solidFill>
                  <a:srgbClr val="0070C0"/>
                </a:solidFill>
              </a:rPr>
              <a:t>Pseudophyllidea</a:t>
            </a:r>
            <a:r>
              <a:rPr lang="en-GB" dirty="0"/>
              <a:t> and </a:t>
            </a:r>
            <a:r>
              <a:rPr lang="en-GB" dirty="0">
                <a:solidFill>
                  <a:srgbClr val="0070C0"/>
                </a:solidFill>
              </a:rPr>
              <a:t>Cyclophyllidea</a:t>
            </a:r>
            <a:r>
              <a:rPr lang="en-GB" dirty="0"/>
              <a:t>.</a:t>
            </a:r>
            <a:endParaRPr lang="en-US" dirty="0"/>
          </a:p>
          <a:p>
            <a:endParaRPr lang="en-US" dirty="0"/>
          </a:p>
        </p:txBody>
      </p:sp>
    </p:spTree>
    <p:extLst>
      <p:ext uri="{BB962C8B-B14F-4D97-AF65-F5344CB8AC3E}">
        <p14:creationId xmlns:p14="http://schemas.microsoft.com/office/powerpoint/2010/main" val="4122464930"/>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Members of the Order </a:t>
            </a:r>
            <a:r>
              <a:rPr lang="en-GB" b="1" dirty="0">
                <a:solidFill>
                  <a:srgbClr val="0070C0"/>
                </a:solidFill>
              </a:rPr>
              <a:t>Pseudophyllidea</a:t>
            </a:r>
            <a:br>
              <a:rPr lang="en-US" dirty="0"/>
            </a:br>
            <a:endParaRPr lang="en-US" dirty="0"/>
          </a:p>
        </p:txBody>
      </p:sp>
      <p:sp>
        <p:nvSpPr>
          <p:cNvPr id="3" name="Content Placeholder 2"/>
          <p:cNvSpPr>
            <a:spLocks noGrp="1"/>
          </p:cNvSpPr>
          <p:nvPr>
            <p:ph idx="1"/>
          </p:nvPr>
        </p:nvSpPr>
        <p:spPr>
          <a:xfrm>
            <a:off x="457200" y="1600200"/>
            <a:ext cx="8534400" cy="4525963"/>
          </a:xfrm>
        </p:spPr>
        <p:txBody>
          <a:bodyPr>
            <a:normAutofit/>
          </a:bodyPr>
          <a:lstStyle/>
          <a:p>
            <a:pPr marL="0" indent="0" algn="ctr">
              <a:buNone/>
            </a:pPr>
            <a:r>
              <a:rPr lang="en-US" dirty="0"/>
              <a:t> </a:t>
            </a:r>
            <a:r>
              <a:rPr lang="en-GB" b="1" i="1" dirty="0">
                <a:solidFill>
                  <a:srgbClr val="00B0F0"/>
                </a:solidFill>
              </a:rPr>
              <a:t>Diphyllobothrium</a:t>
            </a:r>
            <a:r>
              <a:rPr lang="en-GB" b="1" dirty="0">
                <a:solidFill>
                  <a:srgbClr val="00B0F0"/>
                </a:solidFill>
              </a:rPr>
              <a:t> </a:t>
            </a:r>
            <a:r>
              <a:rPr lang="en-GB" b="1" dirty="0"/>
              <a:t>spp.</a:t>
            </a:r>
            <a:endParaRPr lang="en-US" dirty="0"/>
          </a:p>
          <a:p>
            <a:pPr marL="0" indent="0" algn="ctr">
              <a:buNone/>
            </a:pPr>
            <a:r>
              <a:rPr lang="en-GB" b="1" u="sng" dirty="0"/>
              <a:t>Distribution</a:t>
            </a:r>
            <a:r>
              <a:rPr lang="en-GB" b="1" dirty="0"/>
              <a:t> </a:t>
            </a:r>
            <a:endParaRPr lang="en-US" dirty="0"/>
          </a:p>
          <a:p>
            <a:pPr lvl="0" algn="just">
              <a:buFont typeface="Wingdings" pitchFamily="2" charset="2"/>
              <a:buChar char="v"/>
            </a:pPr>
            <a:r>
              <a:rPr lang="en-GB" dirty="0"/>
              <a:t>The species are </a:t>
            </a:r>
            <a:r>
              <a:rPr lang="en-GB" u="sng" dirty="0"/>
              <a:t>difficult to distinguish morphologically and show little host specificity</a:t>
            </a:r>
            <a:endParaRPr lang="en-US" u="sng" dirty="0"/>
          </a:p>
          <a:p>
            <a:pPr lvl="0" algn="just">
              <a:buFont typeface="Wingdings" pitchFamily="2" charset="2"/>
              <a:buChar char="v"/>
            </a:pPr>
            <a:endParaRPr lang="en-GB" dirty="0"/>
          </a:p>
          <a:p>
            <a:pPr lvl="0" algn="just">
              <a:buFont typeface="Wingdings" pitchFamily="2" charset="2"/>
              <a:buChar char="v"/>
            </a:pPr>
            <a:r>
              <a:rPr lang="en-GB" dirty="0"/>
              <a:t>many have been reported in </a:t>
            </a:r>
            <a:r>
              <a:rPr lang="en-GB" u="sng" dirty="0"/>
              <a:t>dogs, cats, bears and other fish eating animals and in humans</a:t>
            </a:r>
            <a:endParaRPr lang="en-US" u="sng" dirty="0"/>
          </a:p>
          <a:p>
            <a:endParaRPr lang="en-US" dirty="0"/>
          </a:p>
        </p:txBody>
      </p:sp>
    </p:spTree>
    <p:extLst>
      <p:ext uri="{BB962C8B-B14F-4D97-AF65-F5344CB8AC3E}">
        <p14:creationId xmlns:p14="http://schemas.microsoft.com/office/powerpoint/2010/main" val="1995708733"/>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F0"/>
                </a:solidFill>
              </a:rPr>
              <a:t>Diphyllobothrium</a:t>
            </a:r>
            <a:r>
              <a:rPr lang="en-GB" b="1" dirty="0">
                <a:solidFill>
                  <a:srgbClr val="00B0F0"/>
                </a:solidFill>
              </a:rPr>
              <a:t> </a:t>
            </a:r>
            <a:r>
              <a:rPr lang="en-GB" b="1" dirty="0"/>
              <a:t>spp. Distribution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t>The most prevalent spp. are </a:t>
            </a:r>
            <a:r>
              <a:rPr lang="en-GB" i="1" dirty="0">
                <a:solidFill>
                  <a:srgbClr val="FF3399"/>
                </a:solidFill>
              </a:rPr>
              <a:t>D. dendriticum</a:t>
            </a:r>
            <a:r>
              <a:rPr lang="en-GB" dirty="0">
                <a:solidFill>
                  <a:srgbClr val="FF3399"/>
                </a:solidFill>
              </a:rPr>
              <a:t> </a:t>
            </a:r>
            <a:r>
              <a:rPr lang="en-GB" dirty="0"/>
              <a:t>and </a:t>
            </a:r>
            <a:r>
              <a:rPr lang="en-GB" i="1" dirty="0">
                <a:solidFill>
                  <a:srgbClr val="FF3399"/>
                </a:solidFill>
              </a:rPr>
              <a:t>D. latum</a:t>
            </a:r>
            <a:r>
              <a:rPr lang="en-GB" dirty="0"/>
              <a:t>; the former(</a:t>
            </a:r>
            <a:r>
              <a:rPr lang="en-GB" i="1" dirty="0">
                <a:solidFill>
                  <a:srgbClr val="FF3399"/>
                </a:solidFill>
              </a:rPr>
              <a:t>D. dendriticum</a:t>
            </a:r>
            <a:r>
              <a:rPr lang="en-GB" dirty="0"/>
              <a:t>)is </a:t>
            </a:r>
            <a:r>
              <a:rPr lang="en-GB" u="sng" dirty="0"/>
              <a:t>most common </a:t>
            </a:r>
            <a:r>
              <a:rPr lang="en-GB" dirty="0"/>
              <a:t>and </a:t>
            </a:r>
            <a:r>
              <a:rPr lang="en-GB" u="sng" dirty="0"/>
              <a:t>occurs throughout the northern hemisphere</a:t>
            </a:r>
            <a:r>
              <a:rPr lang="en-GB" dirty="0"/>
              <a:t>;</a:t>
            </a:r>
          </a:p>
          <a:p>
            <a:pPr lvl="0">
              <a:buFont typeface="Wingdings" pitchFamily="2" charset="2"/>
              <a:buChar char="v"/>
            </a:pPr>
            <a:r>
              <a:rPr lang="en-GB" i="1" dirty="0">
                <a:solidFill>
                  <a:srgbClr val="FF3399"/>
                </a:solidFill>
              </a:rPr>
              <a:t>D. latum</a:t>
            </a:r>
            <a:r>
              <a:rPr lang="en-GB" dirty="0">
                <a:solidFill>
                  <a:srgbClr val="FF3399"/>
                </a:solidFill>
              </a:rPr>
              <a:t> </a:t>
            </a:r>
            <a:r>
              <a:rPr lang="en-GB" u="sng" dirty="0"/>
              <a:t>is less widespread </a:t>
            </a:r>
            <a:r>
              <a:rPr lang="en-GB" dirty="0"/>
              <a:t>but </a:t>
            </a:r>
            <a:r>
              <a:rPr lang="en-GB" dirty="0">
                <a:solidFill>
                  <a:schemeClr val="accent6">
                    <a:lumMod val="75000"/>
                  </a:schemeClr>
                </a:solidFill>
              </a:rPr>
              <a:t>with major endemicity </a:t>
            </a:r>
            <a:r>
              <a:rPr lang="en-GB" dirty="0"/>
              <a:t>in Scandinavia, Baltic states, western Russia and parts of the USA</a:t>
            </a:r>
            <a:endParaRPr lang="en-US" dirty="0"/>
          </a:p>
          <a:p>
            <a:pPr>
              <a:buFont typeface="Wingdings" pitchFamily="2" charset="2"/>
              <a:buChar char="v"/>
            </a:pPr>
            <a:r>
              <a:rPr lang="en-GB" dirty="0"/>
              <a:t>An estimated 9 million people infected worldwide</a:t>
            </a:r>
            <a:endParaRPr lang="en-US" dirty="0"/>
          </a:p>
        </p:txBody>
      </p:sp>
    </p:spTree>
    <p:extLst>
      <p:ext uri="{BB962C8B-B14F-4D97-AF65-F5344CB8AC3E}">
        <p14:creationId xmlns:p14="http://schemas.microsoft.com/office/powerpoint/2010/main" val="542834383"/>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F0"/>
                </a:solidFill>
              </a:rPr>
              <a:t>Diphyllobothrium</a:t>
            </a:r>
            <a:r>
              <a:rPr lang="en-GB" b="1" dirty="0">
                <a:solidFill>
                  <a:srgbClr val="00B0F0"/>
                </a:solidFill>
              </a:rPr>
              <a:t> </a:t>
            </a:r>
            <a:r>
              <a:rPr lang="en-GB" b="1" dirty="0"/>
              <a:t>spp. cont’d</a:t>
            </a:r>
            <a:br>
              <a:rPr lang="en-US" dirty="0"/>
            </a:b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pPr marL="0" indent="0" algn="ctr">
              <a:buNone/>
            </a:pPr>
            <a:r>
              <a:rPr lang="en-GB" b="1" u="sng" dirty="0"/>
              <a:t>Morphology and biology</a:t>
            </a:r>
            <a:endParaRPr lang="en-US" u="sng" dirty="0"/>
          </a:p>
          <a:p>
            <a:pPr lvl="0">
              <a:buFont typeface="Wingdings" pitchFamily="2" charset="2"/>
              <a:buChar char="v"/>
            </a:pPr>
            <a:r>
              <a:rPr lang="en-GB" dirty="0"/>
              <a:t>Adult </a:t>
            </a:r>
            <a:r>
              <a:rPr lang="en-GB" i="1" dirty="0">
                <a:solidFill>
                  <a:srgbClr val="FF3399"/>
                </a:solidFill>
              </a:rPr>
              <a:t>D. latum</a:t>
            </a:r>
            <a:r>
              <a:rPr lang="en-GB" dirty="0">
                <a:solidFill>
                  <a:srgbClr val="FF3399"/>
                </a:solidFill>
              </a:rPr>
              <a:t> </a:t>
            </a:r>
            <a:r>
              <a:rPr lang="en-GB" dirty="0"/>
              <a:t>attain a </a:t>
            </a:r>
            <a:r>
              <a:rPr lang="en-GB" u="sng" dirty="0"/>
              <a:t>length of 10m </a:t>
            </a:r>
            <a:r>
              <a:rPr lang="en-GB" dirty="0"/>
              <a:t>and shed up to a million eggs a day</a:t>
            </a:r>
            <a:endParaRPr lang="en-US" dirty="0"/>
          </a:p>
          <a:p>
            <a:pPr lvl="0">
              <a:buFont typeface="Wingdings" pitchFamily="2" charset="2"/>
              <a:buChar char="v"/>
            </a:pPr>
            <a:r>
              <a:rPr lang="en-GB" dirty="0">
                <a:solidFill>
                  <a:schemeClr val="accent6">
                    <a:lumMod val="75000"/>
                  </a:schemeClr>
                </a:solidFill>
              </a:rPr>
              <a:t>Scolex</a:t>
            </a:r>
            <a:r>
              <a:rPr lang="en-GB" dirty="0"/>
              <a:t> is finger-shaped with a dorsal and ventral </a:t>
            </a:r>
            <a:r>
              <a:rPr lang="en-GB" dirty="0">
                <a:solidFill>
                  <a:schemeClr val="accent6">
                    <a:lumMod val="75000"/>
                  </a:schemeClr>
                </a:solidFill>
              </a:rPr>
              <a:t>bothria</a:t>
            </a:r>
            <a:r>
              <a:rPr lang="en-GB" dirty="0"/>
              <a:t>; </a:t>
            </a:r>
            <a:r>
              <a:rPr lang="en-GB" dirty="0">
                <a:solidFill>
                  <a:schemeClr val="accent6">
                    <a:lumMod val="75000"/>
                  </a:schemeClr>
                </a:solidFill>
              </a:rPr>
              <a:t>proglotids</a:t>
            </a:r>
            <a:r>
              <a:rPr lang="en-GB" dirty="0"/>
              <a:t> </a:t>
            </a:r>
            <a:r>
              <a:rPr lang="en-GB" u="sng" dirty="0"/>
              <a:t>usually wider than long</a:t>
            </a:r>
            <a:endParaRPr lang="en-US" u="sng" dirty="0"/>
          </a:p>
          <a:p>
            <a:pPr lvl="0">
              <a:buFont typeface="Wingdings" pitchFamily="2" charset="2"/>
              <a:buChar char="v"/>
            </a:pPr>
            <a:r>
              <a:rPr lang="en-GB" u="sng" dirty="0">
                <a:solidFill>
                  <a:schemeClr val="accent6">
                    <a:lumMod val="75000"/>
                  </a:schemeClr>
                </a:solidFill>
              </a:rPr>
              <a:t>Numerous testes </a:t>
            </a:r>
            <a:r>
              <a:rPr lang="en-GB" u="sng" dirty="0"/>
              <a:t>and </a:t>
            </a:r>
            <a:r>
              <a:rPr lang="en-GB" u="sng" dirty="0">
                <a:solidFill>
                  <a:schemeClr val="accent6">
                    <a:lumMod val="75000"/>
                  </a:schemeClr>
                </a:solidFill>
              </a:rPr>
              <a:t>vitelline follicles </a:t>
            </a:r>
            <a:r>
              <a:rPr lang="en-GB" u="sng" dirty="0"/>
              <a:t>scattered throughout each proglotid except for a narrow zone in the centre</a:t>
            </a:r>
            <a:r>
              <a:rPr lang="en-GB" dirty="0"/>
              <a:t>; </a:t>
            </a:r>
          </a:p>
          <a:p>
            <a:pPr lvl="0">
              <a:buFont typeface="Wingdings" pitchFamily="2" charset="2"/>
              <a:buChar char="v"/>
            </a:pPr>
            <a:r>
              <a:rPr lang="en-GB" u="sng" dirty="0"/>
              <a:t>male and female pores open midventrally; eggs (60µm × 40µm) have a </a:t>
            </a:r>
            <a:r>
              <a:rPr lang="en-GB" b="1" u="sng" dirty="0">
                <a:solidFill>
                  <a:schemeClr val="accent6">
                    <a:lumMod val="75000"/>
                  </a:schemeClr>
                </a:solidFill>
              </a:rPr>
              <a:t>lid-like operculum </a:t>
            </a:r>
            <a:r>
              <a:rPr lang="en-GB" u="sng" dirty="0"/>
              <a:t>at one end and a </a:t>
            </a:r>
            <a:r>
              <a:rPr lang="en-GB" b="1" u="sng" dirty="0">
                <a:solidFill>
                  <a:schemeClr val="accent6">
                    <a:lumMod val="75000"/>
                  </a:schemeClr>
                </a:solidFill>
              </a:rPr>
              <a:t>small nob</a:t>
            </a:r>
            <a:r>
              <a:rPr lang="en-GB" u="sng" dirty="0"/>
              <a:t> at the other.</a:t>
            </a:r>
            <a:endParaRPr lang="en-US" u="sng" dirty="0"/>
          </a:p>
          <a:p>
            <a:pPr marL="0" indent="0">
              <a:buNone/>
            </a:pPr>
            <a:endParaRPr lang="en-US" dirty="0"/>
          </a:p>
        </p:txBody>
      </p:sp>
    </p:spTree>
    <p:extLst>
      <p:ext uri="{BB962C8B-B14F-4D97-AF65-F5344CB8AC3E}">
        <p14:creationId xmlns:p14="http://schemas.microsoft.com/office/powerpoint/2010/main" val="1188096764"/>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F0"/>
                </a:solidFill>
              </a:rPr>
              <a:t>Diphyllobothrium</a:t>
            </a:r>
            <a:r>
              <a:rPr lang="en-GB" b="1" dirty="0">
                <a:solidFill>
                  <a:srgbClr val="00B0F0"/>
                </a:solidFill>
              </a:rPr>
              <a:t> </a:t>
            </a:r>
            <a:r>
              <a:rPr lang="en-GB" b="1" dirty="0"/>
              <a:t>spp. cont’d</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endParaRPr lang="en-GB" dirty="0"/>
          </a:p>
          <a:p>
            <a:pPr lvl="0">
              <a:buFont typeface="Wingdings" pitchFamily="2" charset="2"/>
              <a:buChar char="v"/>
            </a:pPr>
            <a:r>
              <a:rPr lang="en-GB" dirty="0"/>
              <a:t>Eggs (embryo) are shed at an early stage of development and </a:t>
            </a:r>
            <a:r>
              <a:rPr lang="en-GB" u="sng" dirty="0">
                <a:solidFill>
                  <a:srgbClr val="7030A0"/>
                </a:solidFill>
              </a:rPr>
              <a:t>must reach water to continue development</a:t>
            </a:r>
            <a:endParaRPr lang="en-US" u="sng" dirty="0">
              <a:solidFill>
                <a:srgbClr val="7030A0"/>
              </a:solidFill>
            </a:endParaRPr>
          </a:p>
          <a:p>
            <a:pPr lvl="0">
              <a:buFont typeface="Wingdings" pitchFamily="2" charset="2"/>
              <a:buChar char="v"/>
            </a:pPr>
            <a:r>
              <a:rPr lang="en-GB" dirty="0"/>
              <a:t>Depending on the temperature, development is completed to </a:t>
            </a:r>
            <a:r>
              <a:rPr lang="en-GB" dirty="0">
                <a:solidFill>
                  <a:srgbClr val="C00000"/>
                </a:solidFill>
              </a:rPr>
              <a:t>coracidium</a:t>
            </a:r>
            <a:r>
              <a:rPr lang="en-GB" dirty="0"/>
              <a:t> </a:t>
            </a:r>
            <a:r>
              <a:rPr lang="en-GB" u="sng" dirty="0"/>
              <a:t>in </a:t>
            </a:r>
            <a:r>
              <a:rPr lang="en-GB" b="1" u="sng" dirty="0"/>
              <a:t>8 days </a:t>
            </a:r>
            <a:r>
              <a:rPr lang="en-GB" u="sng" dirty="0"/>
              <a:t>to </a:t>
            </a:r>
            <a:r>
              <a:rPr lang="en-GB" b="1" u="sng" dirty="0"/>
              <a:t>several weeks</a:t>
            </a:r>
            <a:r>
              <a:rPr lang="en-GB" b="1" dirty="0"/>
              <a:t> </a:t>
            </a:r>
            <a:endParaRPr lang="en-US" b="1" dirty="0"/>
          </a:p>
          <a:p>
            <a:pPr marL="0" indent="0">
              <a:buNone/>
            </a:pPr>
            <a:endParaRPr lang="en-US" dirty="0"/>
          </a:p>
        </p:txBody>
      </p:sp>
    </p:spTree>
    <p:extLst>
      <p:ext uri="{BB962C8B-B14F-4D97-AF65-F5344CB8AC3E}">
        <p14:creationId xmlns:p14="http://schemas.microsoft.com/office/powerpoint/2010/main" val="3863452411"/>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F0"/>
                </a:solidFill>
              </a:rPr>
              <a:t>Diphyllobothrium</a:t>
            </a:r>
            <a:r>
              <a:rPr lang="en-GB" b="1" dirty="0"/>
              <a:t> spp. cont’d</a:t>
            </a:r>
            <a:br>
              <a:rPr lang="en-US" dirty="0"/>
            </a:br>
            <a:endParaRPr lang="en-US" dirty="0"/>
          </a:p>
        </p:txBody>
      </p:sp>
      <p:sp>
        <p:nvSpPr>
          <p:cNvPr id="3" name="Content Placeholder 2"/>
          <p:cNvSpPr>
            <a:spLocks noGrp="1"/>
          </p:cNvSpPr>
          <p:nvPr>
            <p:ph idx="1"/>
          </p:nvPr>
        </p:nvSpPr>
        <p:spPr/>
        <p:txBody>
          <a:bodyPr/>
          <a:lstStyle/>
          <a:p>
            <a:pPr lvl="1">
              <a:buFont typeface="Wingdings" pitchFamily="2" charset="2"/>
              <a:buChar char="v"/>
            </a:pPr>
            <a:endParaRPr lang="en-GB" dirty="0"/>
          </a:p>
          <a:p>
            <a:pPr lvl="1">
              <a:buFont typeface="Wingdings" pitchFamily="2" charset="2"/>
              <a:buChar char="v"/>
            </a:pPr>
            <a:r>
              <a:rPr lang="en-GB" dirty="0"/>
              <a:t>Emerged </a:t>
            </a:r>
            <a:r>
              <a:rPr lang="en-GB" dirty="0">
                <a:solidFill>
                  <a:srgbClr val="C00000"/>
                </a:solidFill>
              </a:rPr>
              <a:t>coracidia</a:t>
            </a:r>
            <a:r>
              <a:rPr lang="en-GB" dirty="0"/>
              <a:t> are taken up by </a:t>
            </a:r>
            <a:r>
              <a:rPr lang="en-GB" b="1" dirty="0">
                <a:solidFill>
                  <a:srgbClr val="00B050"/>
                </a:solidFill>
              </a:rPr>
              <a:t>predacious copepods</a:t>
            </a:r>
            <a:r>
              <a:rPr lang="en-GB" b="1" dirty="0"/>
              <a:t> </a:t>
            </a:r>
            <a:r>
              <a:rPr lang="en-GB" dirty="0"/>
              <a:t>such as </a:t>
            </a:r>
            <a:r>
              <a:rPr lang="en-GB" b="1" dirty="0"/>
              <a:t>crustacean</a:t>
            </a:r>
            <a:r>
              <a:rPr lang="en-GB" dirty="0"/>
              <a:t> of the </a:t>
            </a:r>
            <a:r>
              <a:rPr lang="en-GB" b="1" dirty="0"/>
              <a:t>genus </a:t>
            </a:r>
            <a:r>
              <a:rPr lang="en-GB" b="1" i="1" dirty="0"/>
              <a:t>Cyclops</a:t>
            </a:r>
            <a:r>
              <a:rPr lang="en-GB" b="1" dirty="0"/>
              <a:t> </a:t>
            </a:r>
            <a:r>
              <a:rPr lang="en-GB" dirty="0"/>
              <a:t>or </a:t>
            </a:r>
          </a:p>
          <a:p>
            <a:pPr lvl="1">
              <a:buFont typeface="Wingdings" pitchFamily="2" charset="2"/>
              <a:buChar char="v"/>
            </a:pPr>
            <a:r>
              <a:rPr lang="en-GB" b="1" i="1" dirty="0"/>
              <a:t>Diaptomus</a:t>
            </a:r>
            <a:r>
              <a:rPr lang="en-GB" dirty="0"/>
              <a:t> in which the </a:t>
            </a:r>
            <a:r>
              <a:rPr lang="en-GB" dirty="0">
                <a:solidFill>
                  <a:srgbClr val="C00000"/>
                </a:solidFill>
              </a:rPr>
              <a:t>coracidium</a:t>
            </a:r>
            <a:r>
              <a:rPr lang="en-GB" dirty="0"/>
              <a:t> </a:t>
            </a:r>
            <a:r>
              <a:rPr lang="en-GB" u="sng" dirty="0"/>
              <a:t>loses it ciliated epithelium and attaches to the copepod’s midgut wall with its six (6) tiny hooks, becomes parasitic absorbing nutrients from the haemolymph</a:t>
            </a:r>
            <a:endParaRPr lang="en-US" u="sng" dirty="0"/>
          </a:p>
          <a:p>
            <a:pPr marL="0" indent="0">
              <a:buNone/>
            </a:pPr>
            <a:endParaRPr lang="en-US" dirty="0"/>
          </a:p>
        </p:txBody>
      </p:sp>
    </p:spTree>
    <p:extLst>
      <p:ext uri="{BB962C8B-B14F-4D97-AF65-F5344CB8AC3E}">
        <p14:creationId xmlns:p14="http://schemas.microsoft.com/office/powerpoint/2010/main" val="386142486"/>
      </p:ext>
    </p:extLst>
  </p:cSld>
  <p:clrMapOvr>
    <a:masterClrMapping/>
  </p:clrMapOvr>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F0"/>
                </a:solidFill>
              </a:rPr>
              <a:t>Diphyllobothrium</a:t>
            </a:r>
            <a:r>
              <a:rPr lang="en-GB" b="1" dirty="0">
                <a:solidFill>
                  <a:srgbClr val="00B0F0"/>
                </a:solidFill>
              </a:rPr>
              <a:t> </a:t>
            </a:r>
            <a:r>
              <a:rPr lang="en-GB" b="1" dirty="0"/>
              <a:t>spp.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buFont typeface="Wingdings" pitchFamily="2" charset="2"/>
              <a:buChar char="v"/>
            </a:pPr>
            <a:r>
              <a:rPr lang="en-GB" u="sng" dirty="0"/>
              <a:t>the infection impairs motility of the copepod rendering it more vulnerable to predators</a:t>
            </a:r>
            <a:endParaRPr lang="en-US" u="sng" dirty="0"/>
          </a:p>
          <a:p>
            <a:pPr lvl="0">
              <a:buFont typeface="Wingdings" pitchFamily="2" charset="2"/>
              <a:buChar char="v"/>
            </a:pPr>
            <a:r>
              <a:rPr lang="en-GB" u="sng" dirty="0"/>
              <a:t>A number of </a:t>
            </a:r>
            <a:r>
              <a:rPr lang="en-GB" u="sng" dirty="0">
                <a:solidFill>
                  <a:schemeClr val="accent6">
                    <a:lumMod val="75000"/>
                  </a:schemeClr>
                </a:solidFill>
              </a:rPr>
              <a:t>fresh water fishes </a:t>
            </a:r>
            <a:r>
              <a:rPr lang="en-GB" dirty="0"/>
              <a:t>(</a:t>
            </a:r>
            <a:r>
              <a:rPr lang="en-GB" b="1" dirty="0"/>
              <a:t>pike</a:t>
            </a:r>
            <a:r>
              <a:rPr lang="en-GB" dirty="0"/>
              <a:t> and </a:t>
            </a:r>
            <a:r>
              <a:rPr lang="en-GB" b="1" dirty="0"/>
              <a:t>salmon</a:t>
            </a:r>
            <a:r>
              <a:rPr lang="en-GB" dirty="0"/>
              <a:t> families) </a:t>
            </a:r>
            <a:r>
              <a:rPr lang="en-GB" u="sng" dirty="0"/>
              <a:t>prey on the copepods </a:t>
            </a:r>
            <a:r>
              <a:rPr lang="en-GB" dirty="0"/>
              <a:t>thus serving as the </a:t>
            </a:r>
            <a:r>
              <a:rPr lang="en-GB" dirty="0">
                <a:solidFill>
                  <a:schemeClr val="accent3">
                    <a:lumMod val="75000"/>
                  </a:schemeClr>
                </a:solidFill>
              </a:rPr>
              <a:t>second intermediate host</a:t>
            </a:r>
            <a:r>
              <a:rPr lang="en-GB" dirty="0"/>
              <a:t>, </a:t>
            </a:r>
          </a:p>
          <a:p>
            <a:pPr lvl="0">
              <a:buFont typeface="Wingdings" pitchFamily="2" charset="2"/>
              <a:buChar char="v"/>
            </a:pPr>
            <a:r>
              <a:rPr lang="en-GB" dirty="0"/>
              <a:t>in which the </a:t>
            </a:r>
            <a:r>
              <a:rPr lang="en-GB" dirty="0">
                <a:solidFill>
                  <a:srgbClr val="C00000"/>
                </a:solidFill>
              </a:rPr>
              <a:t>procercoid</a:t>
            </a:r>
            <a:r>
              <a:rPr lang="en-GB" dirty="0"/>
              <a:t> </a:t>
            </a:r>
            <a:r>
              <a:rPr lang="en-GB" dirty="0">
                <a:solidFill>
                  <a:srgbClr val="C00000"/>
                </a:solidFill>
              </a:rPr>
              <a:t>larva</a:t>
            </a:r>
            <a:r>
              <a:rPr lang="en-GB" dirty="0"/>
              <a:t> is released and which bores its way through the intestinal wall into the body muscle and grows into a </a:t>
            </a:r>
            <a:r>
              <a:rPr lang="en-GB" dirty="0">
                <a:solidFill>
                  <a:srgbClr val="C00000"/>
                </a:solidFill>
              </a:rPr>
              <a:t>plerocercoid</a:t>
            </a:r>
            <a:r>
              <a:rPr lang="en-GB" dirty="0"/>
              <a:t>- </a:t>
            </a:r>
            <a:r>
              <a:rPr lang="en-GB" u="sng" dirty="0"/>
              <a:t>these are seen as white masses in uncooked fish </a:t>
            </a:r>
            <a:r>
              <a:rPr lang="en-GB" dirty="0"/>
              <a:t>(uncysted or cysted). </a:t>
            </a:r>
          </a:p>
          <a:p>
            <a:pPr>
              <a:buFont typeface="Wingdings" pitchFamily="2" charset="2"/>
              <a:buChar char="v"/>
            </a:pPr>
            <a:endParaRPr lang="en-US" dirty="0"/>
          </a:p>
        </p:txBody>
      </p:sp>
    </p:spTree>
    <p:extLst>
      <p:ext uri="{BB962C8B-B14F-4D97-AF65-F5344CB8AC3E}">
        <p14:creationId xmlns:p14="http://schemas.microsoft.com/office/powerpoint/2010/main" val="310055529"/>
      </p:ext>
    </p:extLst>
  </p:cSld>
  <p:clrMapOvr>
    <a:masterClrMapping/>
  </p:clrMapOvr>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F0"/>
                </a:solidFill>
              </a:rPr>
              <a:t>Diphyllobothrium</a:t>
            </a:r>
            <a:r>
              <a:rPr lang="en-GB" b="1" dirty="0"/>
              <a:t> spp. cont’d</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GB" dirty="0"/>
              <a:t>A </a:t>
            </a:r>
            <a:r>
              <a:rPr lang="en-GB" dirty="0">
                <a:solidFill>
                  <a:srgbClr val="C00000"/>
                </a:solidFill>
              </a:rPr>
              <a:t>plerocercoid</a:t>
            </a:r>
            <a:r>
              <a:rPr lang="en-GB" dirty="0"/>
              <a:t> is also known as a </a:t>
            </a:r>
            <a:r>
              <a:rPr lang="en-GB" b="1" dirty="0">
                <a:solidFill>
                  <a:srgbClr val="00B050"/>
                </a:solidFill>
              </a:rPr>
              <a:t>Sparganum</a:t>
            </a:r>
            <a:r>
              <a:rPr lang="en-GB" b="1" dirty="0"/>
              <a:t>. </a:t>
            </a:r>
            <a:endParaRPr lang="en-US" dirty="0"/>
          </a:p>
          <a:p>
            <a:pPr lvl="0">
              <a:buFont typeface="Wingdings" pitchFamily="2" charset="2"/>
              <a:buChar char="v"/>
            </a:pPr>
            <a:r>
              <a:rPr lang="en-GB" dirty="0">
                <a:solidFill>
                  <a:srgbClr val="FF3399"/>
                </a:solidFill>
              </a:rPr>
              <a:t>A mature </a:t>
            </a:r>
            <a:r>
              <a:rPr lang="en-GB" i="1" dirty="0">
                <a:solidFill>
                  <a:srgbClr val="FF3399"/>
                </a:solidFill>
              </a:rPr>
              <a:t>D. latum</a:t>
            </a:r>
            <a:r>
              <a:rPr lang="en-GB" dirty="0">
                <a:solidFill>
                  <a:srgbClr val="FF3399"/>
                </a:solidFill>
              </a:rPr>
              <a:t> </a:t>
            </a:r>
            <a:r>
              <a:rPr lang="en-GB" dirty="0"/>
              <a:t>is </a:t>
            </a:r>
            <a:r>
              <a:rPr lang="en-GB" dirty="0">
                <a:solidFill>
                  <a:schemeClr val="accent4">
                    <a:lumMod val="60000"/>
                    <a:lumOff val="40000"/>
                  </a:schemeClr>
                </a:solidFill>
              </a:rPr>
              <a:t>greyish-white</a:t>
            </a:r>
            <a:r>
              <a:rPr lang="en-GB" dirty="0"/>
              <a:t> and long, measuring </a:t>
            </a:r>
            <a:r>
              <a:rPr lang="en-GB" u="sng" dirty="0"/>
              <a:t>3-10 metres with 3000-4000 segments. </a:t>
            </a:r>
          </a:p>
          <a:p>
            <a:pPr lvl="0">
              <a:buFont typeface="Wingdings" pitchFamily="2" charset="2"/>
              <a:buChar char="v"/>
            </a:pPr>
            <a:r>
              <a:rPr lang="en-GB" dirty="0"/>
              <a:t>The elongated  </a:t>
            </a:r>
            <a:r>
              <a:rPr lang="en-GB" u="sng" dirty="0">
                <a:solidFill>
                  <a:schemeClr val="accent6">
                    <a:lumMod val="75000"/>
                  </a:schemeClr>
                </a:solidFill>
              </a:rPr>
              <a:t>scolex</a:t>
            </a:r>
            <a:r>
              <a:rPr lang="en-GB" u="sng" dirty="0"/>
              <a:t> has two slit-like suckers with grooves but </a:t>
            </a:r>
            <a:r>
              <a:rPr lang="en-GB" b="1" u="sng" dirty="0"/>
              <a:t>no hooks</a:t>
            </a:r>
            <a:r>
              <a:rPr lang="en-GB" dirty="0"/>
              <a:t>. </a:t>
            </a:r>
            <a:r>
              <a:rPr lang="en-GB" u="sng" dirty="0"/>
              <a:t>Mature segments are wider than they are long</a:t>
            </a:r>
            <a:r>
              <a:rPr lang="en-GB" dirty="0"/>
              <a:t>.</a:t>
            </a:r>
            <a:endParaRPr lang="en-US" dirty="0"/>
          </a:p>
          <a:p>
            <a:pPr marL="0" indent="0">
              <a:buNone/>
            </a:pPr>
            <a:endParaRPr lang="en-US" dirty="0"/>
          </a:p>
        </p:txBody>
      </p:sp>
    </p:spTree>
    <p:extLst>
      <p:ext uri="{BB962C8B-B14F-4D97-AF65-F5344CB8AC3E}">
        <p14:creationId xmlns:p14="http://schemas.microsoft.com/office/powerpoint/2010/main" val="3667495355"/>
      </p:ext>
    </p:extLst>
  </p:cSld>
  <p:clrMapOvr>
    <a:masterClrMapping/>
  </p:clrMapOvr>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Pathogenesis</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dirty="0"/>
              <a:t>Infection may be </a:t>
            </a:r>
            <a:r>
              <a:rPr lang="en-GB" dirty="0">
                <a:solidFill>
                  <a:schemeClr val="accent6">
                    <a:lumMod val="75000"/>
                  </a:schemeClr>
                </a:solidFill>
              </a:rPr>
              <a:t>asymptomatic</a:t>
            </a:r>
            <a:r>
              <a:rPr lang="en-GB" dirty="0"/>
              <a:t> or </a:t>
            </a:r>
            <a:r>
              <a:rPr lang="en-GB" dirty="0">
                <a:solidFill>
                  <a:schemeClr val="accent6">
                    <a:lumMod val="75000"/>
                  </a:schemeClr>
                </a:solidFill>
              </a:rPr>
              <a:t>have poorly defined symptoms </a:t>
            </a:r>
            <a:r>
              <a:rPr lang="en-GB" dirty="0"/>
              <a:t>such as </a:t>
            </a:r>
            <a:r>
              <a:rPr lang="en-GB" dirty="0">
                <a:solidFill>
                  <a:schemeClr val="accent3">
                    <a:lumMod val="75000"/>
                  </a:schemeClr>
                </a:solidFill>
              </a:rPr>
              <a:t>vague abdominal discomfort</a:t>
            </a:r>
            <a:r>
              <a:rPr lang="en-GB" dirty="0"/>
              <a:t>, </a:t>
            </a:r>
            <a:r>
              <a:rPr lang="en-GB" dirty="0">
                <a:solidFill>
                  <a:schemeClr val="accent3">
                    <a:lumMod val="75000"/>
                  </a:schemeClr>
                </a:solidFill>
              </a:rPr>
              <a:t>diarrhoea</a:t>
            </a:r>
            <a:r>
              <a:rPr lang="en-GB" dirty="0"/>
              <a:t>, </a:t>
            </a:r>
            <a:r>
              <a:rPr lang="en-GB" dirty="0">
                <a:solidFill>
                  <a:schemeClr val="accent3">
                    <a:lumMod val="75000"/>
                  </a:schemeClr>
                </a:solidFill>
              </a:rPr>
              <a:t>nausea</a:t>
            </a:r>
            <a:r>
              <a:rPr lang="en-GB" dirty="0"/>
              <a:t> and </a:t>
            </a:r>
            <a:r>
              <a:rPr lang="en-GB" dirty="0">
                <a:solidFill>
                  <a:schemeClr val="accent3">
                    <a:lumMod val="75000"/>
                  </a:schemeClr>
                </a:solidFill>
              </a:rPr>
              <a:t>weakness</a:t>
            </a:r>
            <a:endParaRPr lang="en-US" dirty="0">
              <a:solidFill>
                <a:schemeClr val="accent3">
                  <a:lumMod val="75000"/>
                </a:schemeClr>
              </a:solidFill>
            </a:endParaRPr>
          </a:p>
          <a:p>
            <a:pPr lvl="0">
              <a:buFont typeface="Wingdings" pitchFamily="2" charset="2"/>
              <a:buChar char="v"/>
            </a:pPr>
            <a:r>
              <a:rPr lang="en-GB" dirty="0"/>
              <a:t>In severe cases severe </a:t>
            </a:r>
            <a:r>
              <a:rPr lang="en-GB" dirty="0">
                <a:solidFill>
                  <a:schemeClr val="accent3">
                    <a:lumMod val="75000"/>
                  </a:schemeClr>
                </a:solidFill>
              </a:rPr>
              <a:t>megaloblastic anaemia</a:t>
            </a:r>
            <a:r>
              <a:rPr lang="en-GB" dirty="0"/>
              <a:t> may result; this is due to </a:t>
            </a:r>
            <a:endParaRPr lang="en-US" dirty="0"/>
          </a:p>
          <a:p>
            <a:pPr lvl="1"/>
            <a:r>
              <a:rPr lang="en-GB" dirty="0">
                <a:solidFill>
                  <a:srgbClr val="7030A0"/>
                </a:solidFill>
              </a:rPr>
              <a:t>Absorption of large amount of vitamin B</a:t>
            </a:r>
            <a:r>
              <a:rPr lang="en-GB" baseline="-25000" dirty="0">
                <a:solidFill>
                  <a:srgbClr val="7030A0"/>
                </a:solidFill>
              </a:rPr>
              <a:t>12 </a:t>
            </a:r>
            <a:r>
              <a:rPr lang="en-GB" dirty="0">
                <a:solidFill>
                  <a:srgbClr val="7030A0"/>
                </a:solidFill>
              </a:rPr>
              <a:t>by the cestode</a:t>
            </a:r>
            <a:endParaRPr lang="en-US" dirty="0">
              <a:solidFill>
                <a:srgbClr val="7030A0"/>
              </a:solidFill>
            </a:endParaRPr>
          </a:p>
          <a:p>
            <a:pPr lvl="1"/>
            <a:r>
              <a:rPr lang="en-GB" dirty="0"/>
              <a:t>And </a:t>
            </a:r>
            <a:r>
              <a:rPr lang="en-GB" dirty="0">
                <a:solidFill>
                  <a:srgbClr val="7030A0"/>
                </a:solidFill>
              </a:rPr>
              <a:t>some degree of impairment of the patient’s normal absorptive mechanism for vitamin B</a:t>
            </a:r>
            <a:r>
              <a:rPr lang="en-GB" baseline="-25000" dirty="0">
                <a:solidFill>
                  <a:srgbClr val="7030A0"/>
                </a:solidFill>
              </a:rPr>
              <a:t>12</a:t>
            </a:r>
            <a:endParaRPr lang="en-US" dirty="0">
              <a:solidFill>
                <a:srgbClr val="7030A0"/>
              </a:solidFill>
            </a:endParaRPr>
          </a:p>
          <a:p>
            <a:endParaRPr lang="en-US" dirty="0"/>
          </a:p>
        </p:txBody>
      </p:sp>
    </p:spTree>
    <p:extLst>
      <p:ext uri="{BB962C8B-B14F-4D97-AF65-F5344CB8AC3E}">
        <p14:creationId xmlns:p14="http://schemas.microsoft.com/office/powerpoint/2010/main" val="1832881620"/>
      </p:ext>
    </p:extLst>
  </p:cSld>
  <p:clrMapOvr>
    <a:masterClrMapping/>
  </p:clrMapOvr>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Diagnosis and treatment</a:t>
            </a:r>
            <a:br>
              <a:rPr lang="en-US" dirty="0"/>
            </a:br>
            <a:endParaRPr lang="en-US" dirty="0"/>
          </a:p>
        </p:txBody>
      </p:sp>
      <p:sp>
        <p:nvSpPr>
          <p:cNvPr id="3" name="Content Placeholder 2"/>
          <p:cNvSpPr>
            <a:spLocks noGrp="1"/>
          </p:cNvSpPr>
          <p:nvPr>
            <p:ph idx="1"/>
          </p:nvPr>
        </p:nvSpPr>
        <p:spPr>
          <a:xfrm>
            <a:off x="457200" y="1600200"/>
            <a:ext cx="8229600" cy="5181600"/>
          </a:xfrm>
        </p:spPr>
        <p:txBody>
          <a:bodyPr>
            <a:normAutofit fontScale="92500" lnSpcReduction="10000"/>
          </a:bodyPr>
          <a:lstStyle/>
          <a:p>
            <a:pPr lvl="0" algn="just">
              <a:buFont typeface="Wingdings" pitchFamily="2" charset="2"/>
              <a:buChar char="v"/>
            </a:pPr>
            <a:r>
              <a:rPr lang="en-GB" u="sng" dirty="0"/>
              <a:t>Determination of the </a:t>
            </a:r>
            <a:r>
              <a:rPr lang="en-GB" u="sng" dirty="0">
                <a:solidFill>
                  <a:schemeClr val="accent6">
                    <a:lumMod val="75000"/>
                  </a:schemeClr>
                </a:solidFill>
              </a:rPr>
              <a:t>characteristic eggs </a:t>
            </a:r>
            <a:r>
              <a:rPr lang="en-GB" u="sng" dirty="0"/>
              <a:t>or </a:t>
            </a:r>
            <a:r>
              <a:rPr lang="en-GB" u="sng" dirty="0">
                <a:solidFill>
                  <a:schemeClr val="accent6">
                    <a:lumMod val="75000"/>
                  </a:schemeClr>
                </a:solidFill>
              </a:rPr>
              <a:t>proglotids</a:t>
            </a:r>
            <a:r>
              <a:rPr lang="en-GB" u="sng" dirty="0"/>
              <a:t> in stool.</a:t>
            </a:r>
            <a:endParaRPr lang="en-US" u="sng" dirty="0"/>
          </a:p>
          <a:p>
            <a:pPr lvl="0" algn="just">
              <a:buFont typeface="Wingdings" pitchFamily="2" charset="2"/>
              <a:buChar char="v"/>
            </a:pPr>
            <a:r>
              <a:rPr lang="en-GB" dirty="0"/>
              <a:t>Extract of the </a:t>
            </a:r>
            <a:r>
              <a:rPr lang="en-GB" dirty="0">
                <a:solidFill>
                  <a:srgbClr val="00B050"/>
                </a:solidFill>
              </a:rPr>
              <a:t>male fern</a:t>
            </a:r>
            <a:r>
              <a:rPr lang="en-GB" dirty="0"/>
              <a:t>, </a:t>
            </a:r>
            <a:r>
              <a:rPr lang="en-GB" dirty="0">
                <a:solidFill>
                  <a:srgbClr val="00B050"/>
                </a:solidFill>
              </a:rPr>
              <a:t>mepacrine</a:t>
            </a:r>
            <a:r>
              <a:rPr lang="en-GB" dirty="0"/>
              <a:t>, </a:t>
            </a:r>
            <a:r>
              <a:rPr lang="en-GB" dirty="0">
                <a:solidFill>
                  <a:srgbClr val="00B050"/>
                </a:solidFill>
              </a:rPr>
              <a:t>dichlorophene</a:t>
            </a:r>
            <a:r>
              <a:rPr lang="en-GB" dirty="0"/>
              <a:t> and even </a:t>
            </a:r>
            <a:r>
              <a:rPr lang="en-GB" dirty="0">
                <a:solidFill>
                  <a:srgbClr val="00B050"/>
                </a:solidFill>
              </a:rPr>
              <a:t>extracts of fresh pumpkin seeds</a:t>
            </a:r>
            <a:r>
              <a:rPr lang="en-GB" dirty="0"/>
              <a:t> (</a:t>
            </a:r>
            <a:r>
              <a:rPr lang="en-GB" dirty="0">
                <a:solidFill>
                  <a:srgbClr val="00B050"/>
                </a:solidFill>
              </a:rPr>
              <a:t>Cucurbita</a:t>
            </a:r>
            <a:r>
              <a:rPr lang="en-GB" dirty="0"/>
              <a:t>) </a:t>
            </a:r>
            <a:r>
              <a:rPr lang="en-GB" u="sng" dirty="0"/>
              <a:t>have anticestodal properties</a:t>
            </a:r>
            <a:endParaRPr lang="en-US" u="sng" dirty="0"/>
          </a:p>
          <a:p>
            <a:pPr lvl="0" algn="just">
              <a:buFont typeface="Wingdings" pitchFamily="2" charset="2"/>
              <a:buChar char="v"/>
            </a:pPr>
            <a:r>
              <a:rPr lang="en-GB" dirty="0"/>
              <a:t>Drugs of choice include:</a:t>
            </a:r>
            <a:endParaRPr lang="en-US" dirty="0"/>
          </a:p>
          <a:p>
            <a:pPr lvl="1">
              <a:buFont typeface="Wingdings" pitchFamily="2" charset="2"/>
              <a:buChar char="Ø"/>
            </a:pPr>
            <a:r>
              <a:rPr lang="en-GB" dirty="0">
                <a:solidFill>
                  <a:srgbClr val="00B050"/>
                </a:solidFill>
              </a:rPr>
              <a:t>Niclosamide</a:t>
            </a:r>
            <a:r>
              <a:rPr lang="en-GB" dirty="0"/>
              <a:t> (Yomesan) and </a:t>
            </a:r>
            <a:r>
              <a:rPr lang="en-GB" dirty="0">
                <a:solidFill>
                  <a:srgbClr val="00B050"/>
                </a:solidFill>
              </a:rPr>
              <a:t>praziquantel</a:t>
            </a:r>
            <a:r>
              <a:rPr lang="en-GB" dirty="0"/>
              <a:t>; </a:t>
            </a:r>
            <a:r>
              <a:rPr lang="en-GB" u="sng" dirty="0"/>
              <a:t>the mode of action of </a:t>
            </a:r>
            <a:r>
              <a:rPr lang="en-GB" u="sng" dirty="0">
                <a:solidFill>
                  <a:srgbClr val="00B050"/>
                </a:solidFill>
              </a:rPr>
              <a:t>Niclosamide</a:t>
            </a:r>
            <a:r>
              <a:rPr lang="en-GB" u="sng" dirty="0"/>
              <a:t> seems to be inhibition of an inorganic phosphate-ATP exchange reaction associated with the worm’s anaerobic electron transport system</a:t>
            </a:r>
            <a:endParaRPr lang="en-US" u="sng" dirty="0"/>
          </a:p>
          <a:p>
            <a:endParaRPr lang="en-US" dirty="0"/>
          </a:p>
        </p:txBody>
      </p:sp>
    </p:spTree>
    <p:extLst>
      <p:ext uri="{BB962C8B-B14F-4D97-AF65-F5344CB8AC3E}">
        <p14:creationId xmlns:p14="http://schemas.microsoft.com/office/powerpoint/2010/main" val="3506251196"/>
      </p:ext>
    </p:extLst>
  </p:cSld>
  <p:clrMapOvr>
    <a:masterClrMapping/>
  </p:clrMapOvr>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F0"/>
                </a:solidFill>
              </a:rPr>
              <a:t>Diphyllobothrium</a:t>
            </a:r>
            <a:r>
              <a:rPr lang="en-GB" b="1" dirty="0"/>
              <a:t> spp. cont’d</a:t>
            </a:r>
            <a:br>
              <a:rPr lang="en-US" dirty="0"/>
            </a:br>
            <a:endParaRPr lang="en-US" dirty="0"/>
          </a:p>
        </p:txBody>
      </p:sp>
      <p:sp>
        <p:nvSpPr>
          <p:cNvPr id="3" name="Content Placeholder 2"/>
          <p:cNvSpPr>
            <a:spLocks noGrp="1"/>
          </p:cNvSpPr>
          <p:nvPr>
            <p:ph idx="1"/>
          </p:nvPr>
        </p:nvSpPr>
        <p:spPr/>
        <p:txBody>
          <a:bodyPr/>
          <a:lstStyle/>
          <a:p>
            <a:pPr marL="0" indent="0" algn="ctr">
              <a:buNone/>
            </a:pPr>
            <a:endParaRPr lang="en-GB" b="1" dirty="0"/>
          </a:p>
          <a:p>
            <a:pPr marL="0" indent="0" algn="ctr">
              <a:buNone/>
            </a:pPr>
            <a:r>
              <a:rPr lang="en-GB" b="1" u="sng" dirty="0"/>
              <a:t>Transmission</a:t>
            </a:r>
            <a:endParaRPr lang="en-US" u="sng" dirty="0"/>
          </a:p>
          <a:p>
            <a:pPr lvl="0">
              <a:buFont typeface="Wingdings" pitchFamily="2" charset="2"/>
              <a:buChar char="v"/>
            </a:pPr>
            <a:r>
              <a:rPr lang="en-GB" dirty="0">
                <a:solidFill>
                  <a:srgbClr val="00B0F0"/>
                </a:solidFill>
              </a:rPr>
              <a:t>By eating raw or uncooked fish</a:t>
            </a:r>
            <a:endParaRPr lang="en-US" dirty="0">
              <a:solidFill>
                <a:srgbClr val="00B0F0"/>
              </a:solidFill>
            </a:endParaRPr>
          </a:p>
          <a:p>
            <a:pPr lvl="0">
              <a:buFont typeface="Wingdings" pitchFamily="2" charset="2"/>
              <a:buChar char="v"/>
            </a:pPr>
            <a:r>
              <a:rPr lang="en-GB" dirty="0">
                <a:solidFill>
                  <a:srgbClr val="00B0F0"/>
                </a:solidFill>
              </a:rPr>
              <a:t>Disposal of untreated sewage into freshwater bodies </a:t>
            </a:r>
            <a:r>
              <a:rPr lang="en-GB" dirty="0"/>
              <a:t>(lakes, rivers, ponds etc.)</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473403747"/>
      </p:ext>
    </p:extLst>
  </p:cSld>
  <p:clrMapOvr>
    <a:masterClrMapping/>
  </p:clrMapOvr>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t>Prevention and control</a:t>
            </a:r>
            <a:endParaRPr lang="en-US" u="sng" dirty="0"/>
          </a:p>
        </p:txBody>
      </p:sp>
      <p:sp>
        <p:nvSpPr>
          <p:cNvPr id="3" name="Content Placeholder 2"/>
          <p:cNvSpPr>
            <a:spLocks noGrp="1"/>
          </p:cNvSpPr>
          <p:nvPr>
            <p:ph idx="1"/>
          </p:nvPr>
        </p:nvSpPr>
        <p:spPr/>
        <p:txBody>
          <a:bodyPr/>
          <a:lstStyle/>
          <a:p>
            <a:pPr lvl="0">
              <a:buFont typeface="Wingdings" pitchFamily="2" charset="2"/>
              <a:buChar char="v"/>
            </a:pPr>
            <a:r>
              <a:rPr lang="en-GB" dirty="0">
                <a:solidFill>
                  <a:srgbClr val="00B050"/>
                </a:solidFill>
              </a:rPr>
              <a:t>Avoid discharge of sewage into lakes and ponds or rivers without proper treatment</a:t>
            </a:r>
            <a:endParaRPr lang="en-US" dirty="0">
              <a:solidFill>
                <a:srgbClr val="00B050"/>
              </a:solidFill>
            </a:endParaRPr>
          </a:p>
          <a:p>
            <a:pPr lvl="0">
              <a:buFont typeface="Wingdings" pitchFamily="2" charset="2"/>
              <a:buChar char="v"/>
            </a:pPr>
            <a:r>
              <a:rPr lang="en-GB" dirty="0">
                <a:solidFill>
                  <a:srgbClr val="00B050"/>
                </a:solidFill>
              </a:rPr>
              <a:t>Not eating raw or uncooked fish </a:t>
            </a:r>
            <a:endParaRPr lang="en-US" dirty="0">
              <a:solidFill>
                <a:srgbClr val="00B050"/>
              </a:solidFill>
            </a:endParaRPr>
          </a:p>
          <a:p>
            <a:pPr>
              <a:buFont typeface="Wingdings" pitchFamily="2" charset="2"/>
              <a:buChar char="v"/>
            </a:pPr>
            <a:r>
              <a:rPr lang="en-GB" dirty="0"/>
              <a:t>Various species of this cestode are found in various countries of the world, most of which are parasitic in other animals and some humans.</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811974395"/>
      </p:ext>
    </p:extLst>
  </p:cSld>
  <p:clrMapOvr>
    <a:masterClrMapping/>
  </p:clrMapOvr>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00B050"/>
                </a:solidFill>
              </a:rPr>
              <a:t>Sparganosis</a:t>
            </a:r>
            <a:br>
              <a:rPr lang="en-US" dirty="0"/>
            </a:br>
            <a:endParaRPr lang="en-US" dirty="0"/>
          </a:p>
        </p:txBody>
      </p:sp>
      <p:sp>
        <p:nvSpPr>
          <p:cNvPr id="3" name="Content Placeholder 2"/>
          <p:cNvSpPr>
            <a:spLocks noGrp="1"/>
          </p:cNvSpPr>
          <p:nvPr>
            <p:ph idx="1"/>
          </p:nvPr>
        </p:nvSpPr>
        <p:spPr>
          <a:xfrm>
            <a:off x="457200" y="1600200"/>
            <a:ext cx="8229600" cy="4953000"/>
          </a:xfrm>
        </p:spPr>
        <p:txBody>
          <a:bodyPr>
            <a:normAutofit fontScale="92500"/>
          </a:bodyPr>
          <a:lstStyle/>
          <a:p>
            <a:pPr lvl="0">
              <a:buFont typeface="Wingdings" pitchFamily="2" charset="2"/>
              <a:buChar char="v"/>
            </a:pPr>
            <a:r>
              <a:rPr lang="en-GB" dirty="0"/>
              <a:t>Species of </a:t>
            </a:r>
            <a:r>
              <a:rPr lang="en-GB" dirty="0">
                <a:solidFill>
                  <a:srgbClr val="C00000"/>
                </a:solidFill>
              </a:rPr>
              <a:t>plerocercoid</a:t>
            </a:r>
            <a:r>
              <a:rPr lang="en-GB" dirty="0"/>
              <a:t> found in humans are impossible to distinguish morphologically except the forms with </a:t>
            </a:r>
            <a:r>
              <a:rPr lang="en-GB" dirty="0">
                <a:solidFill>
                  <a:schemeClr val="tx2">
                    <a:lumMod val="60000"/>
                    <a:lumOff val="40000"/>
                  </a:schemeClr>
                </a:solidFill>
              </a:rPr>
              <a:t>Scolex or mature proglotids</a:t>
            </a:r>
            <a:r>
              <a:rPr lang="en-GB" dirty="0"/>
              <a:t>.</a:t>
            </a:r>
            <a:endParaRPr lang="en-US" dirty="0"/>
          </a:p>
          <a:p>
            <a:pPr lvl="0">
              <a:buFont typeface="Wingdings" pitchFamily="2" charset="2"/>
              <a:buChar char="v"/>
            </a:pPr>
            <a:r>
              <a:rPr lang="en-GB" u="sng" dirty="0"/>
              <a:t>When </a:t>
            </a:r>
            <a:r>
              <a:rPr lang="en-GB" u="sng" dirty="0">
                <a:solidFill>
                  <a:schemeClr val="accent6">
                    <a:lumMod val="75000"/>
                  </a:schemeClr>
                </a:solidFill>
              </a:rPr>
              <a:t>procercoid</a:t>
            </a:r>
            <a:r>
              <a:rPr lang="en-GB" u="sng" dirty="0"/>
              <a:t> of some species are ingested accidentally, </a:t>
            </a:r>
          </a:p>
          <a:p>
            <a:pPr lvl="0">
              <a:buFont typeface="Wingdings" pitchFamily="2" charset="2"/>
              <a:buChar char="v"/>
            </a:pPr>
            <a:r>
              <a:rPr lang="en-GB" u="sng" dirty="0"/>
              <a:t>e.g. through intake of copepod infested water, they can migrate from the gut and develop into </a:t>
            </a:r>
            <a:r>
              <a:rPr lang="en-GB" u="sng" dirty="0">
                <a:solidFill>
                  <a:schemeClr val="accent6">
                    <a:lumMod val="75000"/>
                  </a:schemeClr>
                </a:solidFill>
              </a:rPr>
              <a:t>plerocercoid</a:t>
            </a:r>
            <a:r>
              <a:rPr lang="en-GB" u="sng" dirty="0"/>
              <a:t> and may reach a length of 35cm</a:t>
            </a:r>
            <a:r>
              <a:rPr lang="en-GB" dirty="0"/>
              <a:t>.</a:t>
            </a:r>
            <a:endParaRPr lang="en-US" dirty="0"/>
          </a:p>
          <a:p>
            <a:pPr lvl="0">
              <a:buFont typeface="Wingdings" pitchFamily="2" charset="2"/>
              <a:buChar char="v"/>
            </a:pPr>
            <a:r>
              <a:rPr lang="en-GB" dirty="0"/>
              <a:t> The infection is called </a:t>
            </a:r>
            <a:r>
              <a:rPr lang="en-GB" dirty="0">
                <a:solidFill>
                  <a:srgbClr val="00B050"/>
                </a:solidFill>
              </a:rPr>
              <a:t>Sparganosis</a:t>
            </a:r>
            <a:r>
              <a:rPr lang="en-GB" dirty="0"/>
              <a:t> with severe pathology</a:t>
            </a:r>
            <a:endParaRPr lang="en-US" dirty="0"/>
          </a:p>
          <a:p>
            <a:endParaRPr lang="en-US" dirty="0"/>
          </a:p>
        </p:txBody>
      </p:sp>
    </p:spTree>
    <p:extLst>
      <p:ext uri="{BB962C8B-B14F-4D97-AF65-F5344CB8AC3E}">
        <p14:creationId xmlns:p14="http://schemas.microsoft.com/office/powerpoint/2010/main" val="534429062"/>
      </p:ext>
    </p:extLst>
  </p:cSld>
  <p:clrMapOvr>
    <a:masterClrMapping/>
  </p:clrMapOvr>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B050"/>
                </a:solidFill>
              </a:rPr>
              <a:t>Sparganosis</a:t>
            </a:r>
            <a:r>
              <a:rPr lang="en-GB" b="1" dirty="0"/>
              <a:t> Cont’d</a:t>
            </a: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u="sng" dirty="0"/>
              <a:t>The condition is </a:t>
            </a:r>
            <a:r>
              <a:rPr lang="en-GB" dirty="0">
                <a:solidFill>
                  <a:schemeClr val="accent6">
                    <a:lumMod val="75000"/>
                  </a:schemeClr>
                </a:solidFill>
              </a:rPr>
              <a:t>common in parts of Asia</a:t>
            </a:r>
            <a:r>
              <a:rPr lang="en-GB" dirty="0"/>
              <a:t>:</a:t>
            </a:r>
          </a:p>
          <a:p>
            <a:pPr lvl="0">
              <a:buFont typeface="Wingdings" pitchFamily="2" charset="2"/>
              <a:buChar char="v"/>
            </a:pPr>
            <a:r>
              <a:rPr lang="en-GB" dirty="0"/>
              <a:t> In one case, the breast of a woman was infested for 30 years. </a:t>
            </a:r>
          </a:p>
          <a:p>
            <a:pPr lvl="0">
              <a:buFont typeface="Wingdings" pitchFamily="2" charset="2"/>
              <a:buChar char="v"/>
            </a:pPr>
            <a:r>
              <a:rPr lang="en-GB" u="sng" dirty="0"/>
              <a:t>Many are </a:t>
            </a:r>
            <a:r>
              <a:rPr lang="en-GB" dirty="0">
                <a:solidFill>
                  <a:srgbClr val="00B0F0"/>
                </a:solidFill>
              </a:rPr>
              <a:t>infected by eating insufficiently cooked amphibians, reptiles, birds or mammals such as pig</a:t>
            </a:r>
            <a:r>
              <a:rPr lang="en-GB" dirty="0"/>
              <a:t>; </a:t>
            </a:r>
          </a:p>
          <a:p>
            <a:pPr lvl="0">
              <a:buFont typeface="Wingdings" pitchFamily="2" charset="2"/>
              <a:buChar char="v"/>
            </a:pPr>
            <a:r>
              <a:rPr lang="en-GB" u="sng" dirty="0"/>
              <a:t>many Chinese are </a:t>
            </a:r>
            <a:r>
              <a:rPr lang="en-GB" dirty="0">
                <a:solidFill>
                  <a:srgbClr val="00B0F0"/>
                </a:solidFill>
              </a:rPr>
              <a:t>infected by eating raw snake to cure a number of ills.</a:t>
            </a:r>
            <a:endParaRPr lang="en-US" dirty="0">
              <a:solidFill>
                <a:srgbClr val="00B0F0"/>
              </a:solidFill>
            </a:endParaRPr>
          </a:p>
          <a:p>
            <a:pPr>
              <a:buFont typeface="Wingdings" pitchFamily="2" charset="2"/>
              <a:buChar char="v"/>
            </a:pPr>
            <a:endParaRPr lang="en-US" dirty="0"/>
          </a:p>
        </p:txBody>
      </p:sp>
    </p:spTree>
    <p:extLst>
      <p:ext uri="{BB962C8B-B14F-4D97-AF65-F5344CB8AC3E}">
        <p14:creationId xmlns:p14="http://schemas.microsoft.com/office/powerpoint/2010/main" val="2354708414"/>
      </p:ext>
    </p:extLst>
  </p:cSld>
  <p:clrMapOvr>
    <a:masterClrMapping/>
  </p:clrMapOvr>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B050"/>
                </a:solidFill>
              </a:rPr>
              <a:t>Sparganosis</a:t>
            </a:r>
            <a:r>
              <a:rPr lang="en-GB" b="1" dirty="0"/>
              <a:t> Cont’d</a:t>
            </a:r>
            <a:endParaRPr lang="en-US" dirty="0"/>
          </a:p>
        </p:txBody>
      </p:sp>
      <p:sp>
        <p:nvSpPr>
          <p:cNvPr id="3" name="Content Placeholder 2"/>
          <p:cNvSpPr>
            <a:spLocks noGrp="1"/>
          </p:cNvSpPr>
          <p:nvPr>
            <p:ph idx="1"/>
          </p:nvPr>
        </p:nvSpPr>
        <p:spPr/>
        <p:txBody>
          <a:bodyPr/>
          <a:lstStyle/>
          <a:p>
            <a:endParaRPr lang="en-GB" dirty="0"/>
          </a:p>
          <a:p>
            <a:pPr>
              <a:buFont typeface="Wingdings" pitchFamily="2" charset="2"/>
              <a:buChar char="v"/>
            </a:pPr>
            <a:r>
              <a:rPr lang="en-GB" dirty="0">
                <a:solidFill>
                  <a:srgbClr val="00B0F0"/>
                </a:solidFill>
              </a:rPr>
              <a:t>Treatment of skin ulcers, infected vagina or eye by poulticing the area with a split frog or flesh of vertebrate infected with sparganum. </a:t>
            </a:r>
          </a:p>
          <a:p>
            <a:pPr lvl="0">
              <a:buFont typeface="Wingdings" pitchFamily="2" charset="2"/>
              <a:buChar char="v"/>
            </a:pPr>
            <a:r>
              <a:rPr lang="en-GB" u="sng" dirty="0"/>
              <a:t>The worm then crawls into the orbit, vagina or ulcer and establishes itself.</a:t>
            </a:r>
            <a:endParaRPr lang="en-US" u="sng" dirty="0"/>
          </a:p>
          <a:p>
            <a:pPr>
              <a:buFont typeface="Wingdings" pitchFamily="2" charset="2"/>
              <a:buChar char="v"/>
            </a:pPr>
            <a:endParaRPr lang="en-US" dirty="0"/>
          </a:p>
        </p:txBody>
      </p:sp>
    </p:spTree>
    <p:extLst>
      <p:ext uri="{BB962C8B-B14F-4D97-AF65-F5344CB8AC3E}">
        <p14:creationId xmlns:p14="http://schemas.microsoft.com/office/powerpoint/2010/main" val="313072086"/>
      </p:ext>
    </p:extLst>
  </p:cSld>
  <p:clrMapOvr>
    <a:masterClrMapping/>
  </p:clrMapOvr>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00B050"/>
                </a:solidFill>
              </a:rPr>
              <a:t>Sparganosis</a:t>
            </a:r>
            <a:r>
              <a:rPr lang="en-GB" b="1" dirty="0"/>
              <a:t> Cont’d</a:t>
            </a:r>
            <a:endParaRPr lang="en-US" dirty="0"/>
          </a:p>
        </p:txBody>
      </p:sp>
      <p:sp>
        <p:nvSpPr>
          <p:cNvPr id="3" name="Content Placeholder 2"/>
          <p:cNvSpPr>
            <a:spLocks noGrp="1"/>
          </p:cNvSpPr>
          <p:nvPr>
            <p:ph idx="1"/>
          </p:nvPr>
        </p:nvSpPr>
        <p:spPr/>
        <p:txBody>
          <a:bodyPr/>
          <a:lstStyle/>
          <a:p>
            <a:pPr marL="0" indent="0" algn="ctr">
              <a:buNone/>
            </a:pPr>
            <a:r>
              <a:rPr lang="en-GB" b="1" u="sng" dirty="0"/>
              <a:t>Treatment</a:t>
            </a:r>
            <a:endParaRPr lang="en-US" u="sng" dirty="0"/>
          </a:p>
          <a:p>
            <a:pPr>
              <a:buFont typeface="Wingdings" pitchFamily="2" charset="2"/>
              <a:buChar char="v"/>
            </a:pPr>
            <a:r>
              <a:rPr lang="en-GB" dirty="0">
                <a:solidFill>
                  <a:schemeClr val="accent6">
                    <a:lumMod val="75000"/>
                  </a:schemeClr>
                </a:solidFill>
              </a:rPr>
              <a:t>This is usually by surgery</a:t>
            </a:r>
            <a:r>
              <a:rPr lang="en-GB" u="sng" dirty="0"/>
              <a:t>, however, supplementary treatment with </a:t>
            </a:r>
            <a:r>
              <a:rPr lang="en-GB" u="sng" dirty="0">
                <a:solidFill>
                  <a:srgbClr val="7030A0"/>
                </a:solidFill>
              </a:rPr>
              <a:t>praziquantel </a:t>
            </a:r>
            <a:r>
              <a:rPr lang="en-GB" u="sng" dirty="0"/>
              <a:t>may be advisable</a:t>
            </a:r>
            <a:r>
              <a:rPr lang="en-GB" dirty="0"/>
              <a:t>.</a:t>
            </a:r>
            <a:endParaRPr lang="en-US" dirty="0"/>
          </a:p>
          <a:p>
            <a:endParaRPr lang="en-US" dirty="0"/>
          </a:p>
        </p:txBody>
      </p:sp>
    </p:spTree>
    <p:extLst>
      <p:ext uri="{BB962C8B-B14F-4D97-AF65-F5344CB8AC3E}">
        <p14:creationId xmlns:p14="http://schemas.microsoft.com/office/powerpoint/2010/main" val="1551299086"/>
      </p:ext>
    </p:extLst>
  </p:cSld>
  <p:clrMapOvr>
    <a:masterClrMapping/>
  </p:clrMapOvr>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00B0F0"/>
                </a:solidFill>
              </a:rPr>
              <a:t>Order Cyclophyllidea</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t>The order includes family </a:t>
            </a:r>
            <a:r>
              <a:rPr lang="en-GB" dirty="0">
                <a:solidFill>
                  <a:srgbClr val="FF3399"/>
                </a:solidFill>
              </a:rPr>
              <a:t>Taeniidae</a:t>
            </a:r>
            <a:r>
              <a:rPr lang="en-GB" dirty="0"/>
              <a:t>, </a:t>
            </a:r>
            <a:r>
              <a:rPr lang="en-GB" u="sng" dirty="0"/>
              <a:t>the largest members and the most medically important tapeworms of humans</a:t>
            </a:r>
            <a:r>
              <a:rPr lang="en-GB" dirty="0"/>
              <a:t>.</a:t>
            </a:r>
            <a:endParaRPr lang="en-US" dirty="0"/>
          </a:p>
          <a:p>
            <a:pPr lvl="0">
              <a:buFont typeface="Wingdings" pitchFamily="2" charset="2"/>
              <a:buChar char="v"/>
            </a:pPr>
            <a:r>
              <a:rPr lang="en-GB" dirty="0"/>
              <a:t>The members are: </a:t>
            </a:r>
            <a:r>
              <a:rPr lang="en-GB" i="1" dirty="0">
                <a:solidFill>
                  <a:srgbClr val="FF3399"/>
                </a:solidFill>
              </a:rPr>
              <a:t>Taenia solium</a:t>
            </a:r>
            <a:r>
              <a:rPr lang="en-GB" dirty="0"/>
              <a:t>, </a:t>
            </a:r>
            <a:r>
              <a:rPr lang="en-GB" i="1" dirty="0">
                <a:solidFill>
                  <a:srgbClr val="FF3399"/>
                </a:solidFill>
              </a:rPr>
              <a:t>T. saginata</a:t>
            </a:r>
            <a:r>
              <a:rPr lang="en-GB" dirty="0"/>
              <a:t>, </a:t>
            </a:r>
            <a:r>
              <a:rPr lang="en-GB" i="1" dirty="0">
                <a:solidFill>
                  <a:srgbClr val="FF3399"/>
                </a:solidFill>
              </a:rPr>
              <a:t>Echinococcus granulosus</a:t>
            </a:r>
            <a:r>
              <a:rPr lang="en-GB" dirty="0">
                <a:solidFill>
                  <a:srgbClr val="FF3399"/>
                </a:solidFill>
              </a:rPr>
              <a:t> </a:t>
            </a:r>
            <a:r>
              <a:rPr lang="en-GB" dirty="0"/>
              <a:t>and </a:t>
            </a:r>
            <a:r>
              <a:rPr lang="en-GB" i="1" dirty="0">
                <a:solidFill>
                  <a:srgbClr val="FF3399"/>
                </a:solidFill>
              </a:rPr>
              <a:t>Hymenolepis nana</a:t>
            </a:r>
            <a:r>
              <a:rPr lang="en-GB" dirty="0">
                <a:solidFill>
                  <a:srgbClr val="FF3399"/>
                </a:solidFill>
              </a:rPr>
              <a:t>.</a:t>
            </a:r>
            <a:endParaRPr lang="en-US" dirty="0">
              <a:solidFill>
                <a:srgbClr val="FF3399"/>
              </a:solidFill>
            </a:endParaRPr>
          </a:p>
          <a:p>
            <a:endParaRPr lang="en-US" dirty="0"/>
          </a:p>
        </p:txBody>
      </p:sp>
    </p:spTree>
    <p:extLst>
      <p:ext uri="{BB962C8B-B14F-4D97-AF65-F5344CB8AC3E}">
        <p14:creationId xmlns:p14="http://schemas.microsoft.com/office/powerpoint/2010/main" val="4123217324"/>
      </p:ext>
    </p:extLst>
  </p:cSld>
  <p:clrMapOvr>
    <a:masterClrMapping/>
  </p:clrMapOvr>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FF3399"/>
                </a:solidFill>
              </a:rPr>
              <a:t>Taenia saginata</a:t>
            </a:r>
            <a:r>
              <a:rPr lang="en-GB" dirty="0">
                <a:solidFill>
                  <a:schemeClr val="accent6">
                    <a:lumMod val="75000"/>
                  </a:schemeClr>
                </a:solidFill>
              </a:rPr>
              <a:t> </a:t>
            </a:r>
            <a:r>
              <a:rPr lang="en-GB" dirty="0"/>
              <a:t>(The </a:t>
            </a:r>
            <a:r>
              <a:rPr lang="en-GB" dirty="0">
                <a:solidFill>
                  <a:srgbClr val="FF3399"/>
                </a:solidFill>
              </a:rPr>
              <a:t>Beef Tapeworm</a:t>
            </a:r>
            <a:r>
              <a:rPr lang="en-GB" dirty="0"/>
              <a:t>)</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t>By far the </a:t>
            </a:r>
            <a:r>
              <a:rPr lang="en-GB" u="sng" dirty="0">
                <a:solidFill>
                  <a:srgbClr val="00B0F0"/>
                </a:solidFill>
              </a:rPr>
              <a:t>most common in humans</a:t>
            </a:r>
            <a:r>
              <a:rPr lang="en-GB" dirty="0"/>
              <a:t>, occurring in nearly all parts of the world where beef is eaten.</a:t>
            </a:r>
            <a:endParaRPr lang="en-US" dirty="0"/>
          </a:p>
          <a:p>
            <a:pPr lvl="0">
              <a:buFont typeface="Wingdings" pitchFamily="2" charset="2"/>
              <a:buChar char="v"/>
            </a:pPr>
            <a:r>
              <a:rPr lang="en-GB" u="sng" dirty="0"/>
              <a:t>They are exceptionally large attaining a length of 20m, but commonly 3-5meters </a:t>
            </a:r>
            <a:r>
              <a:rPr lang="en-GB" dirty="0"/>
              <a:t>(even the smallest specimen may be about 2000 segments)</a:t>
            </a:r>
            <a:endParaRPr lang="en-US" dirty="0"/>
          </a:p>
          <a:p>
            <a:pPr marL="0" indent="0" algn="ctr">
              <a:buNone/>
            </a:pPr>
            <a:r>
              <a:rPr lang="en-GB" b="1" u="sng" dirty="0"/>
              <a:t>Morphology and Biology</a:t>
            </a:r>
            <a:endParaRPr lang="en-US" u="sng" dirty="0"/>
          </a:p>
          <a:p>
            <a:pPr>
              <a:buFont typeface="Wingdings" pitchFamily="2" charset="2"/>
              <a:buChar char="v"/>
            </a:pPr>
            <a:r>
              <a:rPr lang="en-GB" dirty="0">
                <a:solidFill>
                  <a:schemeClr val="accent6">
                    <a:lumMod val="75000"/>
                  </a:schemeClr>
                </a:solidFill>
              </a:rPr>
              <a:t>Scolex </a:t>
            </a:r>
            <a:r>
              <a:rPr lang="en-GB" dirty="0"/>
              <a:t>has </a:t>
            </a:r>
            <a:r>
              <a:rPr lang="en-GB" u="sng" dirty="0">
                <a:solidFill>
                  <a:srgbClr val="7030A0"/>
                </a:solidFill>
              </a:rPr>
              <a:t>four powerful suckers</a:t>
            </a:r>
            <a:endParaRPr lang="en-US" u="sng" dirty="0">
              <a:solidFill>
                <a:srgbClr val="7030A0"/>
              </a:solidFill>
            </a:endParaRPr>
          </a:p>
        </p:txBody>
      </p:sp>
    </p:spTree>
    <p:extLst>
      <p:ext uri="{BB962C8B-B14F-4D97-AF65-F5344CB8AC3E}">
        <p14:creationId xmlns:p14="http://schemas.microsoft.com/office/powerpoint/2010/main" val="2580836379"/>
      </p:ext>
    </p:extLst>
  </p:cSld>
  <p:clrMapOvr>
    <a:masterClrMapping/>
  </p:clrMapOvr>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u="sng" dirty="0"/>
              <a:t>Morphology and Biology of</a:t>
            </a:r>
            <a:br>
              <a:rPr lang="en-US" u="sng" dirty="0"/>
            </a:br>
            <a:r>
              <a:rPr lang="en-GB" b="1" i="1" u="sng" dirty="0">
                <a:solidFill>
                  <a:srgbClr val="FF3399"/>
                </a:solidFill>
              </a:rPr>
              <a:t>Taenia saginata </a:t>
            </a:r>
            <a:r>
              <a:rPr lang="en-GB" b="1" i="1" u="sng" dirty="0"/>
              <a:t>cont’d</a:t>
            </a:r>
            <a:endParaRPr lang="en-US" u="sng" dirty="0"/>
          </a:p>
        </p:txBody>
      </p:sp>
      <p:sp>
        <p:nvSpPr>
          <p:cNvPr id="3" name="Content Placeholder 2"/>
          <p:cNvSpPr>
            <a:spLocks noGrp="1"/>
          </p:cNvSpPr>
          <p:nvPr>
            <p:ph idx="1"/>
          </p:nvPr>
        </p:nvSpPr>
        <p:spPr>
          <a:xfrm>
            <a:off x="533400" y="1524000"/>
            <a:ext cx="8229600" cy="4525963"/>
          </a:xfrm>
        </p:spPr>
        <p:txBody>
          <a:bodyPr>
            <a:normAutofit/>
          </a:bodyPr>
          <a:lstStyle/>
          <a:p>
            <a:pPr lvl="0">
              <a:buFont typeface="Wingdings" pitchFamily="2" charset="2"/>
              <a:buChar char="v"/>
            </a:pPr>
            <a:r>
              <a:rPr lang="en-GB" u="sng" dirty="0">
                <a:solidFill>
                  <a:schemeClr val="accent6">
                    <a:lumMod val="75000"/>
                  </a:schemeClr>
                </a:solidFill>
              </a:rPr>
              <a:t>Mature segments </a:t>
            </a:r>
            <a:r>
              <a:rPr lang="en-GB" u="sng" dirty="0"/>
              <a:t>slightly </a:t>
            </a:r>
            <a:r>
              <a:rPr lang="en-GB" b="1" u="sng" dirty="0"/>
              <a:t>wider than long</a:t>
            </a:r>
            <a:r>
              <a:rPr lang="en-GB" dirty="0"/>
              <a:t>; </a:t>
            </a:r>
            <a:r>
              <a:rPr lang="en-GB" u="sng" dirty="0">
                <a:solidFill>
                  <a:schemeClr val="accent6">
                    <a:lumMod val="75000"/>
                  </a:schemeClr>
                </a:solidFill>
              </a:rPr>
              <a:t>gravid</a:t>
            </a:r>
            <a:r>
              <a:rPr lang="en-GB" u="sng" dirty="0"/>
              <a:t> ones are much </a:t>
            </a:r>
            <a:r>
              <a:rPr lang="en-GB" b="1" u="sng" dirty="0"/>
              <a:t>longer than wide</a:t>
            </a:r>
            <a:endParaRPr lang="en-US" b="1" u="sng" dirty="0"/>
          </a:p>
          <a:p>
            <a:pPr lvl="0">
              <a:buFont typeface="Wingdings" pitchFamily="2" charset="2"/>
              <a:buChar char="v"/>
            </a:pPr>
            <a:r>
              <a:rPr lang="en-GB" u="sng" dirty="0"/>
              <a:t>Eggs of this species cannot be differentiated from those of </a:t>
            </a:r>
            <a:r>
              <a:rPr lang="en-GB" i="1" u="sng" dirty="0">
                <a:solidFill>
                  <a:srgbClr val="FF3399"/>
                </a:solidFill>
              </a:rPr>
              <a:t>T. solium</a:t>
            </a:r>
            <a:endParaRPr lang="en-US" u="sng" dirty="0">
              <a:solidFill>
                <a:srgbClr val="FF3399"/>
              </a:solidFill>
            </a:endParaRPr>
          </a:p>
          <a:p>
            <a:pPr lvl="0">
              <a:buFont typeface="Wingdings" pitchFamily="2" charset="2"/>
              <a:buChar char="v"/>
            </a:pPr>
            <a:r>
              <a:rPr lang="en-GB" u="sng" dirty="0">
                <a:solidFill>
                  <a:schemeClr val="accent6">
                    <a:lumMod val="75000"/>
                  </a:schemeClr>
                </a:solidFill>
              </a:rPr>
              <a:t>Gravid segments </a:t>
            </a:r>
            <a:r>
              <a:rPr lang="en-GB" u="sng" dirty="0"/>
              <a:t>detach and are passed out with faeces or migrate out of the anus</a:t>
            </a:r>
            <a:endParaRPr lang="en-US" u="sng" dirty="0"/>
          </a:p>
          <a:p>
            <a:pPr lvl="0">
              <a:buFont typeface="Wingdings" pitchFamily="2" charset="2"/>
              <a:buChar char="v"/>
            </a:pPr>
            <a:r>
              <a:rPr lang="en-GB" u="sng" dirty="0"/>
              <a:t>Each segment behaves like an individual worm crawling actively about</a:t>
            </a:r>
            <a:endParaRPr lang="en-US" u="sng" dirty="0"/>
          </a:p>
        </p:txBody>
      </p:sp>
    </p:spTree>
    <p:extLst>
      <p:ext uri="{BB962C8B-B14F-4D97-AF65-F5344CB8AC3E}">
        <p14:creationId xmlns:p14="http://schemas.microsoft.com/office/powerpoint/2010/main" val="1727944720"/>
      </p:ext>
    </p:extLst>
  </p:cSld>
  <p:clrMapOvr>
    <a:masterClrMapping/>
  </p:clrMapOvr>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u="sng" dirty="0"/>
              <a:t>Morphology and Biology of</a:t>
            </a:r>
            <a:br>
              <a:rPr lang="en-US" u="sng" dirty="0"/>
            </a:br>
            <a:r>
              <a:rPr lang="en-GB" b="1" i="1" u="sng" dirty="0">
                <a:solidFill>
                  <a:srgbClr val="FF3399"/>
                </a:solidFill>
              </a:rPr>
              <a:t>Taenia saginata </a:t>
            </a:r>
            <a:r>
              <a:rPr lang="en-GB" b="1" i="1" u="sng" dirty="0"/>
              <a:t>cont’d</a:t>
            </a:r>
            <a:endParaRPr lang="en-US" u="sng" dirty="0"/>
          </a:p>
        </p:txBody>
      </p:sp>
      <p:sp>
        <p:nvSpPr>
          <p:cNvPr id="3" name="Content Placeholder 2"/>
          <p:cNvSpPr>
            <a:spLocks noGrp="1"/>
          </p:cNvSpPr>
          <p:nvPr>
            <p:ph idx="1"/>
          </p:nvPr>
        </p:nvSpPr>
        <p:spPr>
          <a:xfrm>
            <a:off x="457200" y="1600200"/>
            <a:ext cx="8229600" cy="5257800"/>
          </a:xfrm>
        </p:spPr>
        <p:txBody>
          <a:bodyPr>
            <a:normAutofit/>
          </a:bodyPr>
          <a:lstStyle/>
          <a:p>
            <a:pPr lvl="0">
              <a:buFont typeface="Wingdings" pitchFamily="2" charset="2"/>
              <a:buChar char="v"/>
            </a:pPr>
            <a:r>
              <a:rPr lang="en-GB" u="sng" dirty="0"/>
              <a:t>Eggs escape from segments and they dry up and rapture</a:t>
            </a:r>
            <a:r>
              <a:rPr lang="en-GB" dirty="0"/>
              <a:t>, with larvae fully developed to infective stage to the intermediate host, and are viable for weeks.</a:t>
            </a:r>
          </a:p>
          <a:p>
            <a:pPr lvl="0">
              <a:buFont typeface="Wingdings" pitchFamily="2" charset="2"/>
              <a:buChar char="v"/>
            </a:pPr>
            <a:r>
              <a:rPr lang="en-GB" dirty="0">
                <a:solidFill>
                  <a:srgbClr val="00B050"/>
                </a:solidFill>
              </a:rPr>
              <a:t>Cattle</a:t>
            </a:r>
            <a:r>
              <a:rPr lang="en-GB" dirty="0"/>
              <a:t> are the </a:t>
            </a:r>
            <a:r>
              <a:rPr lang="en-GB" u="sng" dirty="0"/>
              <a:t>usual intermediate host </a:t>
            </a:r>
            <a:r>
              <a:rPr lang="en-GB" dirty="0"/>
              <a:t>although the </a:t>
            </a:r>
            <a:r>
              <a:rPr lang="en-GB" dirty="0">
                <a:solidFill>
                  <a:srgbClr val="00B050"/>
                </a:solidFill>
              </a:rPr>
              <a:t>goat</a:t>
            </a:r>
            <a:r>
              <a:rPr lang="en-GB" dirty="0"/>
              <a:t>, </a:t>
            </a:r>
            <a:r>
              <a:rPr lang="en-GB" dirty="0">
                <a:solidFill>
                  <a:srgbClr val="00B050"/>
                </a:solidFill>
              </a:rPr>
              <a:t>sheep</a:t>
            </a:r>
            <a:r>
              <a:rPr lang="en-GB" dirty="0"/>
              <a:t>, </a:t>
            </a:r>
            <a:r>
              <a:rPr lang="en-GB" dirty="0">
                <a:solidFill>
                  <a:srgbClr val="00B050"/>
                </a:solidFill>
              </a:rPr>
              <a:t>giraffe</a:t>
            </a:r>
            <a:r>
              <a:rPr lang="en-GB" dirty="0"/>
              <a:t>, </a:t>
            </a:r>
            <a:r>
              <a:rPr lang="en-GB" dirty="0">
                <a:solidFill>
                  <a:srgbClr val="00B050"/>
                </a:solidFill>
              </a:rPr>
              <a:t>reindeer</a:t>
            </a:r>
            <a:r>
              <a:rPr lang="en-GB" dirty="0"/>
              <a:t> and </a:t>
            </a:r>
            <a:r>
              <a:rPr lang="en-GB" dirty="0">
                <a:solidFill>
                  <a:srgbClr val="00B050"/>
                </a:solidFill>
              </a:rPr>
              <a:t>llamas</a:t>
            </a:r>
            <a:r>
              <a:rPr lang="en-GB" dirty="0"/>
              <a:t> have reportedly been infected</a:t>
            </a:r>
            <a:endParaRPr lang="en-US" dirty="0"/>
          </a:p>
          <a:p>
            <a:pPr lvl="0">
              <a:buFont typeface="Wingdings" pitchFamily="2" charset="2"/>
              <a:buChar char="v"/>
            </a:pPr>
            <a:r>
              <a:rPr lang="en-GB" u="sng" dirty="0"/>
              <a:t>Eggs hatch in the </a:t>
            </a:r>
            <a:r>
              <a:rPr lang="en-GB" u="sng" dirty="0">
                <a:solidFill>
                  <a:srgbClr val="C00000"/>
                </a:solidFill>
              </a:rPr>
              <a:t>duodenum</a:t>
            </a:r>
            <a:r>
              <a:rPr lang="en-GB" u="sng" dirty="0"/>
              <a:t> under the influence of </a:t>
            </a:r>
            <a:r>
              <a:rPr lang="en-GB" u="sng" dirty="0">
                <a:solidFill>
                  <a:srgbClr val="C00000"/>
                </a:solidFill>
              </a:rPr>
              <a:t>gastric</a:t>
            </a:r>
            <a:r>
              <a:rPr lang="en-GB" u="sng" dirty="0"/>
              <a:t> and </a:t>
            </a:r>
            <a:r>
              <a:rPr lang="en-GB" u="sng" dirty="0">
                <a:solidFill>
                  <a:srgbClr val="C00000"/>
                </a:solidFill>
              </a:rPr>
              <a:t>intestinal secretions </a:t>
            </a:r>
            <a:endParaRPr lang="en-US" u="sng" dirty="0">
              <a:solidFill>
                <a:srgbClr val="C00000"/>
              </a:solidFill>
            </a:endParaRPr>
          </a:p>
          <a:p>
            <a:pPr lvl="0">
              <a:buFont typeface="Wingdings" pitchFamily="2" charset="2"/>
              <a:buChar char="v"/>
            </a:pPr>
            <a:endParaRPr lang="en-GB" dirty="0"/>
          </a:p>
          <a:p>
            <a:pPr lvl="0"/>
            <a:endParaRPr lang="en-US" dirty="0"/>
          </a:p>
          <a:p>
            <a:endParaRPr lang="en-US" dirty="0"/>
          </a:p>
          <a:p>
            <a:endParaRPr lang="en-US" dirty="0"/>
          </a:p>
        </p:txBody>
      </p:sp>
    </p:spTree>
    <p:extLst>
      <p:ext uri="{BB962C8B-B14F-4D97-AF65-F5344CB8AC3E}">
        <p14:creationId xmlns:p14="http://schemas.microsoft.com/office/powerpoint/2010/main" val="2084934916"/>
      </p:ext>
    </p:extLst>
  </p:cSld>
  <p:clrMapOvr>
    <a:masterClrMapping/>
  </p:clrMapOvr>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u="sng" dirty="0"/>
              <a:t>Morphology and Biology of</a:t>
            </a:r>
            <a:br>
              <a:rPr lang="en-US" u="sng" dirty="0"/>
            </a:br>
            <a:r>
              <a:rPr lang="en-GB" b="1" i="1" u="sng" dirty="0">
                <a:solidFill>
                  <a:srgbClr val="FF3399"/>
                </a:solidFill>
              </a:rPr>
              <a:t>Taenia saginata </a:t>
            </a:r>
            <a:r>
              <a:rPr lang="en-GB" b="1" i="1" u="sng" dirty="0"/>
              <a:t>cont’d</a:t>
            </a:r>
            <a:endParaRPr lang="en-US" u="sng" dirty="0"/>
          </a:p>
        </p:txBody>
      </p:sp>
      <p:sp>
        <p:nvSpPr>
          <p:cNvPr id="3" name="Content Placeholder 2"/>
          <p:cNvSpPr>
            <a:spLocks noGrp="1"/>
          </p:cNvSpPr>
          <p:nvPr>
            <p:ph idx="1"/>
          </p:nvPr>
        </p:nvSpPr>
        <p:spPr/>
        <p:txBody>
          <a:bodyPr/>
          <a:lstStyle/>
          <a:p>
            <a:pPr lvl="0">
              <a:buFont typeface="Wingdings" pitchFamily="2" charset="2"/>
              <a:buChar char="v"/>
            </a:pPr>
            <a:endParaRPr lang="en-GB" dirty="0"/>
          </a:p>
          <a:p>
            <a:pPr lvl="0">
              <a:buFont typeface="Wingdings" pitchFamily="2" charset="2"/>
              <a:buChar char="v"/>
            </a:pPr>
            <a:r>
              <a:rPr lang="en-GB" dirty="0"/>
              <a:t>The </a:t>
            </a:r>
            <a:r>
              <a:rPr lang="en-GB" dirty="0">
                <a:solidFill>
                  <a:schemeClr val="accent6">
                    <a:lumMod val="75000"/>
                  </a:schemeClr>
                </a:solidFill>
              </a:rPr>
              <a:t>hexacanth larvae </a:t>
            </a:r>
            <a:r>
              <a:rPr lang="en-GB" dirty="0"/>
              <a:t>released </a:t>
            </a:r>
            <a:r>
              <a:rPr lang="en-GB" dirty="0">
                <a:solidFill>
                  <a:srgbClr val="C00000"/>
                </a:solidFill>
              </a:rPr>
              <a:t>penetrate the mucosa</a:t>
            </a:r>
            <a:r>
              <a:rPr lang="en-GB" dirty="0"/>
              <a:t> and </a:t>
            </a:r>
            <a:r>
              <a:rPr lang="en-GB" dirty="0">
                <a:solidFill>
                  <a:srgbClr val="C00000"/>
                </a:solidFill>
              </a:rPr>
              <a:t>enter the intestinal venules </a:t>
            </a:r>
            <a:r>
              <a:rPr lang="en-GB" u="sng" dirty="0"/>
              <a:t>to be carried throughout the body</a:t>
            </a:r>
            <a:endParaRPr lang="en-US" u="sng" dirty="0"/>
          </a:p>
          <a:p>
            <a:pPr>
              <a:buFont typeface="Wingdings" pitchFamily="2" charset="2"/>
              <a:buChar char="v"/>
            </a:pPr>
            <a:endParaRPr lang="en-US" dirty="0"/>
          </a:p>
        </p:txBody>
      </p:sp>
    </p:spTree>
    <p:extLst>
      <p:ext uri="{BB962C8B-B14F-4D97-AF65-F5344CB8AC3E}">
        <p14:creationId xmlns:p14="http://schemas.microsoft.com/office/powerpoint/2010/main" val="3764919797"/>
      </p:ext>
    </p:extLst>
  </p:cSld>
  <p:clrMapOvr>
    <a:masterClrMapping/>
  </p:clrMapOvr>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FF0000"/>
                </a:solidFill>
              </a:rPr>
              <a:t>Pathogenesis of </a:t>
            </a:r>
            <a:r>
              <a:rPr lang="en-GB" b="1" i="1" dirty="0">
                <a:solidFill>
                  <a:srgbClr val="FF3399"/>
                </a:solidFill>
              </a:rPr>
              <a:t>Taenia saginata </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u="sng" dirty="0"/>
              <a:t>Disease manifestation is similar to that of any large tapeworm</a:t>
            </a:r>
            <a:r>
              <a:rPr lang="en-GB" dirty="0"/>
              <a:t> </a:t>
            </a:r>
            <a:r>
              <a:rPr lang="en-GB" u="sng" dirty="0">
                <a:solidFill>
                  <a:srgbClr val="7030A0"/>
                </a:solidFill>
              </a:rPr>
              <a:t>except that the vitamin B</a:t>
            </a:r>
            <a:r>
              <a:rPr lang="en-GB" u="sng" baseline="-25000" dirty="0">
                <a:solidFill>
                  <a:srgbClr val="7030A0"/>
                </a:solidFill>
              </a:rPr>
              <a:t>12</a:t>
            </a:r>
            <a:r>
              <a:rPr lang="en-GB" u="sng" dirty="0">
                <a:solidFill>
                  <a:srgbClr val="7030A0"/>
                </a:solidFill>
              </a:rPr>
              <a:t> avitaminosis as seen in </a:t>
            </a:r>
            <a:r>
              <a:rPr lang="en-GB" i="1" u="sng" dirty="0">
                <a:solidFill>
                  <a:srgbClr val="FF3399"/>
                </a:solidFill>
              </a:rPr>
              <a:t>D. latum</a:t>
            </a:r>
            <a:r>
              <a:rPr lang="en-GB" u="sng" dirty="0">
                <a:solidFill>
                  <a:srgbClr val="FF3399"/>
                </a:solidFill>
              </a:rPr>
              <a:t> </a:t>
            </a:r>
            <a:r>
              <a:rPr lang="en-GB" u="sng" dirty="0">
                <a:solidFill>
                  <a:srgbClr val="7030A0"/>
                </a:solidFill>
              </a:rPr>
              <a:t>pathogenesis is absent in this species</a:t>
            </a:r>
            <a:r>
              <a:rPr lang="en-GB" dirty="0"/>
              <a:t>. </a:t>
            </a:r>
            <a:endParaRPr lang="en-US" dirty="0"/>
          </a:p>
          <a:p>
            <a:pPr lvl="0">
              <a:buFont typeface="Wingdings" pitchFamily="2" charset="2"/>
              <a:buChar char="v"/>
            </a:pPr>
            <a:r>
              <a:rPr lang="en-GB" dirty="0"/>
              <a:t>Most infected people are seemingly </a:t>
            </a:r>
            <a:r>
              <a:rPr lang="en-GB" dirty="0">
                <a:solidFill>
                  <a:schemeClr val="accent3">
                    <a:lumMod val="75000"/>
                  </a:schemeClr>
                </a:solidFill>
              </a:rPr>
              <a:t>asymptomatic</a:t>
            </a:r>
            <a:r>
              <a:rPr lang="en-GB" dirty="0"/>
              <a:t> or </a:t>
            </a:r>
            <a:r>
              <a:rPr lang="en-GB" u="sng" dirty="0"/>
              <a:t>have mild symptoms of </a:t>
            </a:r>
            <a:r>
              <a:rPr lang="en-GB" dirty="0">
                <a:solidFill>
                  <a:schemeClr val="accent3">
                    <a:lumMod val="75000"/>
                  </a:schemeClr>
                </a:solidFill>
              </a:rPr>
              <a:t>dizziness</a:t>
            </a:r>
            <a:r>
              <a:rPr lang="en-GB" dirty="0"/>
              <a:t>, </a:t>
            </a:r>
            <a:r>
              <a:rPr lang="en-GB" dirty="0">
                <a:solidFill>
                  <a:schemeClr val="accent3">
                    <a:lumMod val="75000"/>
                  </a:schemeClr>
                </a:solidFill>
              </a:rPr>
              <a:t>abdominal pain</a:t>
            </a:r>
            <a:r>
              <a:rPr lang="en-GB" dirty="0"/>
              <a:t>, </a:t>
            </a:r>
            <a:r>
              <a:rPr lang="en-GB" dirty="0">
                <a:solidFill>
                  <a:schemeClr val="accent3">
                    <a:lumMod val="75000"/>
                  </a:schemeClr>
                </a:solidFill>
              </a:rPr>
              <a:t>diarrhoea</a:t>
            </a:r>
            <a:r>
              <a:rPr lang="en-GB" dirty="0"/>
              <a:t>, </a:t>
            </a:r>
            <a:r>
              <a:rPr lang="en-GB" dirty="0">
                <a:solidFill>
                  <a:schemeClr val="accent3">
                    <a:lumMod val="75000"/>
                  </a:schemeClr>
                </a:solidFill>
              </a:rPr>
              <a:t>headache</a:t>
            </a:r>
            <a:r>
              <a:rPr lang="en-GB" dirty="0"/>
              <a:t>, </a:t>
            </a:r>
            <a:r>
              <a:rPr lang="en-GB" dirty="0">
                <a:solidFill>
                  <a:schemeClr val="accent3">
                    <a:lumMod val="75000"/>
                  </a:schemeClr>
                </a:solidFill>
              </a:rPr>
              <a:t>localized sensitivity to touch </a:t>
            </a:r>
            <a:r>
              <a:rPr lang="en-GB" dirty="0"/>
              <a:t>and </a:t>
            </a:r>
            <a:r>
              <a:rPr lang="en-GB" dirty="0">
                <a:solidFill>
                  <a:schemeClr val="accent3">
                    <a:lumMod val="75000"/>
                  </a:schemeClr>
                </a:solidFill>
              </a:rPr>
              <a:t>nausea</a:t>
            </a:r>
            <a:endParaRPr lang="en-US" dirty="0">
              <a:solidFill>
                <a:schemeClr val="accent3">
                  <a:lumMod val="75000"/>
                </a:schemeClr>
              </a:solidFill>
            </a:endParaRPr>
          </a:p>
          <a:p>
            <a:pPr marL="0" indent="0">
              <a:buNone/>
            </a:pPr>
            <a:endParaRPr lang="en-US" dirty="0"/>
          </a:p>
        </p:txBody>
      </p:sp>
    </p:spTree>
    <p:extLst>
      <p:ext uri="{BB962C8B-B14F-4D97-AF65-F5344CB8AC3E}">
        <p14:creationId xmlns:p14="http://schemas.microsoft.com/office/powerpoint/2010/main" val="805963806"/>
      </p:ext>
    </p:extLst>
  </p:cSld>
  <p:clrMapOvr>
    <a:masterClrMapping/>
  </p:clrMapOvr>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FF0000"/>
                </a:solidFill>
              </a:rPr>
              <a:t>Pathogenesis of </a:t>
            </a:r>
            <a:r>
              <a:rPr lang="en-GB" b="1" i="1" dirty="0">
                <a:solidFill>
                  <a:srgbClr val="FF3399"/>
                </a:solidFill>
              </a:rPr>
              <a:t>Taenia saginata </a:t>
            </a:r>
            <a:br>
              <a:rPr lang="en-US" dirty="0"/>
            </a:br>
            <a:endParaRPr lang="en-US" dirty="0"/>
          </a:p>
        </p:txBody>
      </p:sp>
      <p:sp>
        <p:nvSpPr>
          <p:cNvPr id="3" name="Content Placeholder 2"/>
          <p:cNvSpPr>
            <a:spLocks noGrp="1"/>
          </p:cNvSpPr>
          <p:nvPr>
            <p:ph idx="1"/>
          </p:nvPr>
        </p:nvSpPr>
        <p:spPr/>
        <p:txBody>
          <a:bodyPr/>
          <a:lstStyle/>
          <a:p>
            <a:pPr lvl="0"/>
            <a:endParaRPr lang="en-GB" dirty="0"/>
          </a:p>
          <a:p>
            <a:pPr lvl="0">
              <a:buFont typeface="Wingdings" pitchFamily="2" charset="2"/>
              <a:buChar char="v"/>
            </a:pPr>
            <a:r>
              <a:rPr lang="en-GB" dirty="0">
                <a:solidFill>
                  <a:srgbClr val="FF0000"/>
                </a:solidFill>
              </a:rPr>
              <a:t>Intestinal obstruction </a:t>
            </a:r>
            <a:r>
              <a:rPr lang="en-GB" dirty="0"/>
              <a:t>requiring surgical intervention may occur.</a:t>
            </a:r>
            <a:endParaRPr lang="en-US" dirty="0"/>
          </a:p>
          <a:p>
            <a:pPr lvl="0">
              <a:buFont typeface="Wingdings" pitchFamily="2" charset="2"/>
              <a:buChar char="v"/>
            </a:pPr>
            <a:r>
              <a:rPr lang="en-GB" dirty="0">
                <a:solidFill>
                  <a:srgbClr val="FF0000"/>
                </a:solidFill>
              </a:rPr>
              <a:t>There is loss of appetite</a:t>
            </a:r>
            <a:r>
              <a:rPr lang="en-GB" dirty="0"/>
              <a:t>; delirium is rare but does occur</a:t>
            </a:r>
            <a:endParaRPr lang="en-US" dirty="0"/>
          </a:p>
          <a:p>
            <a:pPr lvl="0">
              <a:buFont typeface="Wingdings" pitchFamily="2" charset="2"/>
              <a:buChar char="v"/>
            </a:pPr>
            <a:r>
              <a:rPr lang="en-GB" dirty="0">
                <a:solidFill>
                  <a:srgbClr val="FF0000"/>
                </a:solidFill>
              </a:rPr>
              <a:t>Worm antigens may lead to allergic reactions</a:t>
            </a:r>
            <a:endParaRPr lang="en-US" dirty="0">
              <a:solidFill>
                <a:srgbClr val="FF0000"/>
              </a:solidFill>
            </a:endParaRPr>
          </a:p>
          <a:p>
            <a:pPr>
              <a:buFont typeface="Wingdings" pitchFamily="2" charset="2"/>
              <a:buChar char="v"/>
            </a:pPr>
            <a:endParaRPr lang="en-US" dirty="0"/>
          </a:p>
        </p:txBody>
      </p:sp>
    </p:spTree>
    <p:extLst>
      <p:ext uri="{BB962C8B-B14F-4D97-AF65-F5344CB8AC3E}">
        <p14:creationId xmlns:p14="http://schemas.microsoft.com/office/powerpoint/2010/main" val="1328369144"/>
      </p:ext>
    </p:extLst>
  </p:cSld>
  <p:clrMapOvr>
    <a:masterClrMapping/>
  </p:clrMapOvr>
</p:sld>
</file>

<file path=ppt/slides/slide2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00B050"/>
                </a:solidFill>
              </a:rPr>
              <a:t>Diagnosis and Treatment</a:t>
            </a:r>
            <a:br>
              <a:rPr lang="en-US" dirty="0"/>
            </a:br>
            <a:endParaRPr lang="en-US" dirty="0"/>
          </a:p>
        </p:txBody>
      </p:sp>
      <p:sp>
        <p:nvSpPr>
          <p:cNvPr id="3" name="Content Placeholder 2"/>
          <p:cNvSpPr>
            <a:spLocks noGrp="1"/>
          </p:cNvSpPr>
          <p:nvPr>
            <p:ph idx="1"/>
          </p:nvPr>
        </p:nvSpPr>
        <p:spPr>
          <a:xfrm>
            <a:off x="457200" y="1600200"/>
            <a:ext cx="8229600" cy="5105400"/>
          </a:xfrm>
        </p:spPr>
        <p:txBody>
          <a:bodyPr>
            <a:normAutofit lnSpcReduction="10000"/>
          </a:bodyPr>
          <a:lstStyle/>
          <a:p>
            <a:pPr lvl="0">
              <a:buFont typeface="Wingdings" pitchFamily="2" charset="2"/>
              <a:buChar char="v"/>
            </a:pPr>
            <a:r>
              <a:rPr lang="en-GB" dirty="0">
                <a:solidFill>
                  <a:srgbClr val="FF0000"/>
                </a:solidFill>
              </a:rPr>
              <a:t>Identification of the egg is impossible</a:t>
            </a:r>
            <a:endParaRPr lang="en-US" dirty="0">
              <a:solidFill>
                <a:srgbClr val="FF0000"/>
              </a:solidFill>
            </a:endParaRPr>
          </a:p>
          <a:p>
            <a:pPr lvl="0">
              <a:buFont typeface="Wingdings" pitchFamily="2" charset="2"/>
              <a:buChar char="v"/>
            </a:pPr>
            <a:r>
              <a:rPr lang="en-GB" dirty="0">
                <a:solidFill>
                  <a:schemeClr val="tx2">
                    <a:lumMod val="60000"/>
                    <a:lumOff val="40000"/>
                  </a:schemeClr>
                </a:solidFill>
              </a:rPr>
              <a:t>Accurate diagnosis is dependent on examination of the </a:t>
            </a:r>
            <a:r>
              <a:rPr lang="en-GB" dirty="0">
                <a:solidFill>
                  <a:schemeClr val="accent6">
                    <a:lumMod val="75000"/>
                  </a:schemeClr>
                </a:solidFill>
              </a:rPr>
              <a:t>Scolex</a:t>
            </a:r>
            <a:r>
              <a:rPr lang="en-GB" dirty="0">
                <a:solidFill>
                  <a:schemeClr val="tx2">
                    <a:lumMod val="60000"/>
                    <a:lumOff val="40000"/>
                  </a:schemeClr>
                </a:solidFill>
              </a:rPr>
              <a:t> or a </a:t>
            </a:r>
            <a:r>
              <a:rPr lang="en-GB" dirty="0">
                <a:solidFill>
                  <a:schemeClr val="accent6">
                    <a:lumMod val="75000"/>
                  </a:schemeClr>
                </a:solidFill>
              </a:rPr>
              <a:t>gravid segment</a:t>
            </a:r>
            <a:r>
              <a:rPr lang="en-GB" dirty="0"/>
              <a:t>.</a:t>
            </a:r>
            <a:endParaRPr lang="en-US" dirty="0"/>
          </a:p>
          <a:p>
            <a:pPr lvl="0">
              <a:buFont typeface="Wingdings" pitchFamily="2" charset="2"/>
              <a:buChar char="v"/>
            </a:pPr>
            <a:r>
              <a:rPr lang="en-GB" dirty="0">
                <a:solidFill>
                  <a:schemeClr val="tx2">
                    <a:lumMod val="60000"/>
                    <a:lumOff val="40000"/>
                  </a:schemeClr>
                </a:solidFill>
              </a:rPr>
              <a:t>Test for worm antigens passed in faeces </a:t>
            </a:r>
            <a:r>
              <a:rPr lang="en-GB" dirty="0"/>
              <a:t>(</a:t>
            </a:r>
            <a:r>
              <a:rPr lang="en-GB" dirty="0">
                <a:solidFill>
                  <a:schemeClr val="tx2">
                    <a:lumMod val="60000"/>
                    <a:lumOff val="40000"/>
                  </a:schemeClr>
                </a:solidFill>
              </a:rPr>
              <a:t>coproantigens</a:t>
            </a:r>
            <a:r>
              <a:rPr lang="en-GB" dirty="0"/>
              <a:t>) using a variant of the </a:t>
            </a:r>
            <a:r>
              <a:rPr lang="en-GB" dirty="0">
                <a:solidFill>
                  <a:srgbClr val="92D050"/>
                </a:solidFill>
              </a:rPr>
              <a:t>ELISA</a:t>
            </a:r>
            <a:r>
              <a:rPr lang="en-GB" dirty="0"/>
              <a:t>:</a:t>
            </a:r>
          </a:p>
          <a:p>
            <a:pPr lvl="0">
              <a:buFont typeface="Wingdings" pitchFamily="2" charset="2"/>
              <a:buChar char="v"/>
            </a:pPr>
            <a:r>
              <a:rPr lang="en-GB" dirty="0"/>
              <a:t> also an improved </a:t>
            </a:r>
            <a:r>
              <a:rPr lang="en-GB" dirty="0">
                <a:solidFill>
                  <a:schemeClr val="tx2">
                    <a:lumMod val="60000"/>
                    <a:lumOff val="40000"/>
                  </a:schemeClr>
                </a:solidFill>
              </a:rPr>
              <a:t>PCR- Restriction Fragment Length Polymorphism Assay</a:t>
            </a:r>
            <a:endParaRPr lang="en-US" dirty="0">
              <a:solidFill>
                <a:schemeClr val="tx2">
                  <a:lumMod val="60000"/>
                  <a:lumOff val="40000"/>
                </a:schemeClr>
              </a:solidFill>
            </a:endParaRPr>
          </a:p>
          <a:p>
            <a:pPr lvl="0">
              <a:buFont typeface="Wingdings" pitchFamily="2" charset="2"/>
              <a:buChar char="v"/>
            </a:pPr>
            <a:r>
              <a:rPr lang="en-GB" u="sng" dirty="0"/>
              <a:t>A number of </a:t>
            </a:r>
            <a:r>
              <a:rPr lang="en-GB" u="sng" dirty="0">
                <a:solidFill>
                  <a:schemeClr val="tx2">
                    <a:lumMod val="60000"/>
                    <a:lumOff val="40000"/>
                  </a:schemeClr>
                </a:solidFill>
              </a:rPr>
              <a:t>taenicides</a:t>
            </a:r>
            <a:r>
              <a:rPr lang="en-GB" u="sng" dirty="0"/>
              <a:t> has been used in the past. Currently </a:t>
            </a:r>
            <a:r>
              <a:rPr lang="en-GB" u="sng" dirty="0">
                <a:solidFill>
                  <a:schemeClr val="tx2">
                    <a:lumMod val="60000"/>
                    <a:lumOff val="40000"/>
                  </a:schemeClr>
                </a:solidFill>
              </a:rPr>
              <a:t>Niclosamide</a:t>
            </a:r>
            <a:r>
              <a:rPr lang="en-GB" u="sng" dirty="0"/>
              <a:t> and </a:t>
            </a:r>
            <a:r>
              <a:rPr lang="en-GB" u="sng" dirty="0">
                <a:solidFill>
                  <a:schemeClr val="tx2">
                    <a:lumMod val="60000"/>
                    <a:lumOff val="40000"/>
                  </a:schemeClr>
                </a:solidFill>
              </a:rPr>
              <a:t>praziquantel</a:t>
            </a:r>
            <a:r>
              <a:rPr lang="en-GB" u="sng" dirty="0"/>
              <a:t> are used</a:t>
            </a:r>
            <a:r>
              <a:rPr lang="en-GB" dirty="0"/>
              <a:t>.</a:t>
            </a:r>
            <a:endParaRPr lang="en-US" dirty="0"/>
          </a:p>
          <a:p>
            <a:endParaRPr lang="en-US" dirty="0"/>
          </a:p>
        </p:txBody>
      </p:sp>
    </p:spTree>
    <p:extLst>
      <p:ext uri="{BB962C8B-B14F-4D97-AF65-F5344CB8AC3E}">
        <p14:creationId xmlns:p14="http://schemas.microsoft.com/office/powerpoint/2010/main" val="2508791742"/>
      </p:ext>
    </p:extLst>
  </p:cSld>
  <p:clrMapOvr>
    <a:masterClrMapping/>
  </p:clrMapOvr>
</p:sld>
</file>

<file path=ppt/slides/slide2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Epidemiology of </a:t>
            </a:r>
            <a:r>
              <a:rPr lang="en-GB" b="1" i="1" u="sng" dirty="0">
                <a:solidFill>
                  <a:srgbClr val="FF3399"/>
                </a:solidFill>
              </a:rPr>
              <a:t>Taenia saginata</a:t>
            </a:r>
            <a:r>
              <a:rPr lang="en-GB" b="1" i="1" dirty="0">
                <a:solidFill>
                  <a:srgbClr val="FF3399"/>
                </a:solidFill>
              </a:rPr>
              <a:t> </a:t>
            </a:r>
            <a:br>
              <a:rPr lang="en-US" dirty="0"/>
            </a:br>
            <a:endParaRPr lang="en-US" dirty="0"/>
          </a:p>
        </p:txBody>
      </p:sp>
      <p:sp>
        <p:nvSpPr>
          <p:cNvPr id="3" name="Content Placeholder 2"/>
          <p:cNvSpPr>
            <a:spLocks noGrp="1"/>
          </p:cNvSpPr>
          <p:nvPr>
            <p:ph idx="1"/>
          </p:nvPr>
        </p:nvSpPr>
        <p:spPr>
          <a:xfrm>
            <a:off x="457200" y="1600200"/>
            <a:ext cx="8229600" cy="5486400"/>
          </a:xfrm>
        </p:spPr>
        <p:txBody>
          <a:bodyPr>
            <a:normAutofit/>
          </a:bodyPr>
          <a:lstStyle/>
          <a:p>
            <a:pPr lvl="0">
              <a:buFont typeface="Wingdings" pitchFamily="2" charset="2"/>
              <a:buChar char="v"/>
            </a:pPr>
            <a:r>
              <a:rPr lang="en-GB" u="sng" dirty="0"/>
              <a:t>Human infection is highest in areas where beef is a major food/protein source </a:t>
            </a:r>
            <a:r>
              <a:rPr lang="en-GB" dirty="0"/>
              <a:t>and </a:t>
            </a:r>
            <a:r>
              <a:rPr lang="en-GB" u="sng" dirty="0">
                <a:solidFill>
                  <a:srgbClr val="C00000"/>
                </a:solidFill>
              </a:rPr>
              <a:t>sanitation is poor</a:t>
            </a:r>
            <a:r>
              <a:rPr lang="en-GB" dirty="0"/>
              <a:t>, especially developing countries in Africa and S. America</a:t>
            </a:r>
            <a:endParaRPr lang="en-US" dirty="0"/>
          </a:p>
          <a:p>
            <a:pPr lvl="0">
              <a:buFont typeface="Wingdings" pitchFamily="2" charset="2"/>
              <a:buChar char="v"/>
            </a:pPr>
            <a:r>
              <a:rPr lang="en-GB" dirty="0">
                <a:solidFill>
                  <a:srgbClr val="00B050"/>
                </a:solidFill>
              </a:rPr>
              <a:t>Prevention of human infection is easy by thoroughly cooking meat</a:t>
            </a:r>
            <a:r>
              <a:rPr lang="en-GB" dirty="0"/>
              <a:t>; </a:t>
            </a:r>
            <a:r>
              <a:rPr lang="en-GB" dirty="0">
                <a:solidFill>
                  <a:srgbClr val="C00000"/>
                </a:solidFill>
              </a:rPr>
              <a:t>cysticerci</a:t>
            </a:r>
            <a:r>
              <a:rPr lang="en-GB" dirty="0"/>
              <a:t> </a:t>
            </a:r>
            <a:r>
              <a:rPr lang="en-GB" u="sng" dirty="0"/>
              <a:t>are killed at 56</a:t>
            </a:r>
            <a:r>
              <a:rPr lang="en-GB" u="sng" baseline="30000" dirty="0"/>
              <a:t>o</a:t>
            </a:r>
            <a:r>
              <a:rPr lang="en-GB" u="sng" dirty="0"/>
              <a:t>C or by freezing meet at -5</a:t>
            </a:r>
            <a:r>
              <a:rPr lang="en-GB" u="sng" baseline="30000" dirty="0"/>
              <a:t>o</a:t>
            </a:r>
            <a:r>
              <a:rPr lang="en-GB" u="sng" dirty="0"/>
              <a:t>C for at least a week</a:t>
            </a:r>
            <a:endParaRPr lang="en-US" u="sng" dirty="0"/>
          </a:p>
          <a:p>
            <a:pPr marL="0" indent="0">
              <a:buNone/>
            </a:pPr>
            <a:endParaRPr lang="en-US" dirty="0"/>
          </a:p>
        </p:txBody>
      </p:sp>
    </p:spTree>
    <p:extLst>
      <p:ext uri="{BB962C8B-B14F-4D97-AF65-F5344CB8AC3E}">
        <p14:creationId xmlns:p14="http://schemas.microsoft.com/office/powerpoint/2010/main" val="3642668437"/>
      </p:ext>
    </p:extLst>
  </p:cSld>
  <p:clrMapOvr>
    <a:masterClrMapping/>
  </p:clrMapOvr>
</p:sld>
</file>

<file path=ppt/slides/slide2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Epidemiology of </a:t>
            </a:r>
            <a:r>
              <a:rPr lang="en-GB" b="1" i="1" u="sng" dirty="0">
                <a:solidFill>
                  <a:srgbClr val="FF3399"/>
                </a:solidFill>
              </a:rPr>
              <a:t>Taenia saginata </a:t>
            </a:r>
            <a:r>
              <a:rPr lang="en-GB" b="1" i="1" u="sng"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solidFill>
                  <a:srgbClr val="C00000"/>
                </a:solidFill>
              </a:rPr>
              <a:t>Local customs and practices </a:t>
            </a:r>
            <a:r>
              <a:rPr lang="en-GB" u="sng" dirty="0"/>
              <a:t>may have profound effect on infection rates</a:t>
            </a:r>
            <a:endParaRPr lang="en-US" u="sng" dirty="0"/>
          </a:p>
          <a:p>
            <a:pPr lvl="0">
              <a:buFont typeface="Wingdings" pitchFamily="2" charset="2"/>
              <a:buChar char="v"/>
            </a:pPr>
            <a:endParaRPr lang="en-GB" dirty="0"/>
          </a:p>
          <a:p>
            <a:pPr lvl="0">
              <a:buFont typeface="Wingdings" pitchFamily="2" charset="2"/>
              <a:buChar char="v"/>
            </a:pPr>
            <a:r>
              <a:rPr lang="en-GB" u="sng" dirty="0">
                <a:solidFill>
                  <a:srgbClr val="C00000"/>
                </a:solidFill>
              </a:rPr>
              <a:t>Defecation on pasture lands or area of cattle feeding </a:t>
            </a:r>
            <a:r>
              <a:rPr lang="en-GB" dirty="0">
                <a:solidFill>
                  <a:srgbClr val="C00000"/>
                </a:solidFill>
              </a:rPr>
              <a:t>or the </a:t>
            </a:r>
            <a:r>
              <a:rPr lang="en-GB" u="sng" dirty="0">
                <a:solidFill>
                  <a:srgbClr val="C00000"/>
                </a:solidFill>
              </a:rPr>
              <a:t>use of human faeces as fertilizer exposes cattle or other humans to infection</a:t>
            </a:r>
            <a:endParaRPr lang="en-US" u="sng" dirty="0">
              <a:solidFill>
                <a:srgbClr val="C00000"/>
              </a:solidFill>
            </a:endParaRPr>
          </a:p>
          <a:p>
            <a:pPr marL="0" indent="0">
              <a:buNone/>
            </a:pPr>
            <a:endParaRPr lang="en-US" dirty="0"/>
          </a:p>
        </p:txBody>
      </p:sp>
    </p:spTree>
    <p:extLst>
      <p:ext uri="{BB962C8B-B14F-4D97-AF65-F5344CB8AC3E}">
        <p14:creationId xmlns:p14="http://schemas.microsoft.com/office/powerpoint/2010/main" val="3524666196"/>
      </p:ext>
    </p:extLst>
  </p:cSld>
  <p:clrMapOvr>
    <a:masterClrMapping/>
  </p:clrMapOvr>
</p:sld>
</file>

<file path=ppt/slides/slide2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2.</a:t>
            </a:r>
            <a:r>
              <a:rPr lang="en-GB" b="1" i="1" dirty="0"/>
              <a:t> </a:t>
            </a:r>
            <a:r>
              <a:rPr lang="en-GB" b="1" i="1" dirty="0">
                <a:solidFill>
                  <a:srgbClr val="FF3399"/>
                </a:solidFill>
              </a:rPr>
              <a:t>Taenia solium</a:t>
            </a:r>
            <a:r>
              <a:rPr lang="en-GB" b="1" dirty="0">
                <a:solidFill>
                  <a:srgbClr val="FF3399"/>
                </a:solidFill>
              </a:rPr>
              <a:t> </a:t>
            </a:r>
            <a:r>
              <a:rPr lang="en-GB" dirty="0"/>
              <a:t>(</a:t>
            </a:r>
            <a:r>
              <a:rPr lang="en-GB" dirty="0">
                <a:solidFill>
                  <a:srgbClr val="FF3399"/>
                </a:solidFill>
              </a:rPr>
              <a:t>Pork Tapeworm</a:t>
            </a:r>
            <a:r>
              <a:rPr lang="en-GB" dirty="0"/>
              <a:t>)</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dirty="0"/>
              <a:t>This is the </a:t>
            </a:r>
            <a:r>
              <a:rPr lang="en-GB" dirty="0">
                <a:solidFill>
                  <a:srgbClr val="FF3399"/>
                </a:solidFill>
              </a:rPr>
              <a:t>pork tapeworm </a:t>
            </a:r>
            <a:r>
              <a:rPr lang="en-GB" dirty="0"/>
              <a:t>and the </a:t>
            </a:r>
            <a:r>
              <a:rPr lang="en-GB" u="sng" dirty="0">
                <a:solidFill>
                  <a:srgbClr val="00B0F0"/>
                </a:solidFill>
              </a:rPr>
              <a:t>most dangerous adult tapeworm of humans</a:t>
            </a:r>
            <a:endParaRPr lang="en-US" u="sng" dirty="0">
              <a:solidFill>
                <a:srgbClr val="00B0F0"/>
              </a:solidFill>
            </a:endParaRPr>
          </a:p>
          <a:p>
            <a:pPr lvl="0">
              <a:buFont typeface="Wingdings" pitchFamily="2" charset="2"/>
              <a:buChar char="v"/>
            </a:pPr>
            <a:r>
              <a:rPr lang="en-GB" dirty="0">
                <a:solidFill>
                  <a:srgbClr val="00B0F0"/>
                </a:solidFill>
              </a:rPr>
              <a:t>Because humans can also serve as intermediate host </a:t>
            </a:r>
          </a:p>
          <a:p>
            <a:pPr lvl="0">
              <a:buFont typeface="Wingdings" pitchFamily="2" charset="2"/>
              <a:buChar char="v"/>
            </a:pPr>
            <a:r>
              <a:rPr lang="en-GB" dirty="0"/>
              <a:t>(i.e. infection with eggs results in development of </a:t>
            </a:r>
            <a:r>
              <a:rPr lang="en-GB" dirty="0">
                <a:solidFill>
                  <a:srgbClr val="C00000"/>
                </a:solidFill>
              </a:rPr>
              <a:t>cysticerci</a:t>
            </a:r>
            <a:r>
              <a:rPr lang="en-GB" dirty="0"/>
              <a:t> (</a:t>
            </a:r>
            <a:r>
              <a:rPr lang="en-GB" dirty="0">
                <a:solidFill>
                  <a:srgbClr val="C00000"/>
                </a:solidFill>
              </a:rPr>
              <a:t>cysticercosis</a:t>
            </a:r>
            <a:r>
              <a:rPr lang="en-GB" dirty="0"/>
              <a:t>) in humans.</a:t>
            </a:r>
            <a:endParaRPr lang="en-US" dirty="0"/>
          </a:p>
        </p:txBody>
      </p:sp>
    </p:spTree>
    <p:extLst>
      <p:ext uri="{BB962C8B-B14F-4D97-AF65-F5344CB8AC3E}">
        <p14:creationId xmlns:p14="http://schemas.microsoft.com/office/powerpoint/2010/main" val="506705657"/>
      </p:ext>
    </p:extLst>
  </p:cSld>
  <p:clrMapOvr>
    <a:masterClrMapping/>
  </p:clrMapOvr>
</p:sld>
</file>

<file path=ppt/slides/slide2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dirty="0"/>
              <a:t>2.</a:t>
            </a:r>
            <a:r>
              <a:rPr lang="en-GB" b="1" i="1" dirty="0"/>
              <a:t> </a:t>
            </a:r>
            <a:r>
              <a:rPr lang="en-GB" b="1" i="1" dirty="0">
                <a:solidFill>
                  <a:srgbClr val="FF3399"/>
                </a:solidFill>
              </a:rPr>
              <a:t>Taenia solium</a:t>
            </a:r>
            <a:r>
              <a:rPr lang="en-GB" b="1" dirty="0">
                <a:solidFill>
                  <a:srgbClr val="FF3399"/>
                </a:solidFill>
              </a:rPr>
              <a:t> </a:t>
            </a:r>
            <a:r>
              <a:rPr lang="en-GB" dirty="0"/>
              <a:t>(</a:t>
            </a:r>
            <a:r>
              <a:rPr lang="en-GB" dirty="0">
                <a:solidFill>
                  <a:srgbClr val="FF3399"/>
                </a:solidFill>
              </a:rPr>
              <a:t>Pork Tapeworm</a:t>
            </a:r>
            <a:r>
              <a:rPr lang="en-GB" dirty="0"/>
              <a:t>)</a:t>
            </a:r>
            <a:br>
              <a:rPr lang="en-US" dirty="0"/>
            </a:br>
            <a:endParaRPr lang="en-US" dirty="0"/>
          </a:p>
        </p:txBody>
      </p:sp>
      <p:sp>
        <p:nvSpPr>
          <p:cNvPr id="3" name="Content Placeholder 2"/>
          <p:cNvSpPr>
            <a:spLocks noGrp="1"/>
          </p:cNvSpPr>
          <p:nvPr>
            <p:ph idx="1"/>
          </p:nvPr>
        </p:nvSpPr>
        <p:spPr/>
        <p:txBody>
          <a:bodyPr/>
          <a:lstStyle/>
          <a:p>
            <a:pPr marL="0" indent="0" algn="ctr">
              <a:buNone/>
            </a:pPr>
            <a:r>
              <a:rPr lang="en-GB" b="1" u="sng" dirty="0"/>
              <a:t>Morphology</a:t>
            </a:r>
            <a:endParaRPr lang="en-US" u="sng" dirty="0"/>
          </a:p>
          <a:p>
            <a:pPr lvl="0">
              <a:buFont typeface="Wingdings" pitchFamily="2" charset="2"/>
              <a:buChar char="v"/>
            </a:pPr>
            <a:r>
              <a:rPr lang="en-GB" dirty="0"/>
              <a:t>The </a:t>
            </a:r>
            <a:r>
              <a:rPr lang="en-GB" dirty="0">
                <a:solidFill>
                  <a:srgbClr val="C00000"/>
                </a:solidFill>
              </a:rPr>
              <a:t>scolex</a:t>
            </a:r>
            <a:r>
              <a:rPr lang="en-GB" dirty="0"/>
              <a:t> of the adult </a:t>
            </a:r>
            <a:r>
              <a:rPr lang="en-GB" u="sng" dirty="0"/>
              <a:t>bears a </a:t>
            </a:r>
            <a:r>
              <a:rPr lang="en-GB" u="sng" dirty="0">
                <a:solidFill>
                  <a:srgbClr val="7030A0"/>
                </a:solidFill>
              </a:rPr>
              <a:t>typical non-retractable</a:t>
            </a:r>
            <a:r>
              <a:rPr lang="en-GB" u="sng" dirty="0"/>
              <a:t> </a:t>
            </a:r>
            <a:r>
              <a:rPr lang="en-GB" u="sng" dirty="0">
                <a:solidFill>
                  <a:srgbClr val="7030A0"/>
                </a:solidFill>
              </a:rPr>
              <a:t>taeniid rostellum </a:t>
            </a:r>
            <a:r>
              <a:rPr lang="en-GB" u="sng" dirty="0"/>
              <a:t>armed with </a:t>
            </a:r>
            <a:r>
              <a:rPr lang="en-GB" u="sng" dirty="0">
                <a:solidFill>
                  <a:srgbClr val="7030A0"/>
                </a:solidFill>
              </a:rPr>
              <a:t>two circles of 22 to 32 hooks</a:t>
            </a:r>
            <a:r>
              <a:rPr lang="en-GB" u="sng" dirty="0"/>
              <a:t> measuring 130µm to 180µm long.</a:t>
            </a:r>
            <a:endParaRPr lang="en-US" u="sng" dirty="0"/>
          </a:p>
          <a:p>
            <a:pPr>
              <a:buFont typeface="Wingdings" pitchFamily="2" charset="2"/>
              <a:buChar char="v"/>
            </a:pPr>
            <a:endParaRPr lang="en-US" dirty="0"/>
          </a:p>
          <a:p>
            <a:endParaRPr lang="en-US" dirty="0"/>
          </a:p>
        </p:txBody>
      </p:sp>
    </p:spTree>
    <p:extLst>
      <p:ext uri="{BB962C8B-B14F-4D97-AF65-F5344CB8AC3E}">
        <p14:creationId xmlns:p14="http://schemas.microsoft.com/office/powerpoint/2010/main" val="941335540"/>
      </p:ext>
    </p:extLst>
  </p:cSld>
  <p:clrMapOvr>
    <a:masterClrMapping/>
  </p:clrMapOvr>
</p:sld>
</file>

<file path=ppt/slides/slide2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Morphology of </a:t>
            </a:r>
            <a:r>
              <a:rPr lang="en-GB" b="1" i="1" u="sng" dirty="0">
                <a:solidFill>
                  <a:srgbClr val="FF3399"/>
                </a:solidFill>
              </a:rPr>
              <a:t>Taenia solium</a:t>
            </a:r>
            <a:r>
              <a:rPr lang="en-GB" b="1" u="sng" dirty="0">
                <a:solidFill>
                  <a:srgbClr val="FF3399"/>
                </a:solidFill>
              </a:rPr>
              <a:t> </a:t>
            </a:r>
            <a:br>
              <a:rPr lang="en-US" dirty="0"/>
            </a:b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10000"/>
          </a:bodyPr>
          <a:lstStyle/>
          <a:p>
            <a:pPr lvl="0">
              <a:buFont typeface="Wingdings" pitchFamily="2" charset="2"/>
              <a:buChar char="v"/>
            </a:pPr>
            <a:r>
              <a:rPr lang="en-GB" i="1" dirty="0">
                <a:solidFill>
                  <a:srgbClr val="FF3399"/>
                </a:solidFill>
              </a:rPr>
              <a:t>T. solium</a:t>
            </a:r>
            <a:r>
              <a:rPr lang="en-GB" dirty="0">
                <a:solidFill>
                  <a:srgbClr val="FF3399"/>
                </a:solidFill>
              </a:rPr>
              <a:t> </a:t>
            </a:r>
            <a:r>
              <a:rPr lang="en-GB" dirty="0">
                <a:solidFill>
                  <a:srgbClr val="C00000"/>
                </a:solidFill>
              </a:rPr>
              <a:t>scolex</a:t>
            </a:r>
            <a:r>
              <a:rPr lang="en-GB" dirty="0"/>
              <a:t> is </a:t>
            </a:r>
            <a:r>
              <a:rPr lang="en-GB" b="1" dirty="0"/>
              <a:t>cuboidal</a:t>
            </a:r>
            <a:r>
              <a:rPr lang="en-GB" dirty="0"/>
              <a:t> and up to 2.00mm in diameter; </a:t>
            </a:r>
            <a:r>
              <a:rPr lang="en-GB" i="1" dirty="0"/>
              <a:t>T. solium</a:t>
            </a:r>
            <a:r>
              <a:rPr lang="en-GB" dirty="0"/>
              <a:t> scolex is spherical and only half as large</a:t>
            </a:r>
            <a:endParaRPr lang="en-US" dirty="0"/>
          </a:p>
          <a:p>
            <a:pPr lvl="0">
              <a:buFont typeface="Wingdings" pitchFamily="2" charset="2"/>
              <a:buChar char="v"/>
            </a:pPr>
            <a:r>
              <a:rPr lang="en-GB" dirty="0">
                <a:solidFill>
                  <a:srgbClr val="C00000"/>
                </a:solidFill>
              </a:rPr>
              <a:t>Mature segments </a:t>
            </a:r>
            <a:r>
              <a:rPr lang="en-GB" u="sng" dirty="0"/>
              <a:t>are wider than long and are nearly identical to those of </a:t>
            </a:r>
            <a:r>
              <a:rPr lang="en-GB" i="1" u="sng" dirty="0">
                <a:solidFill>
                  <a:srgbClr val="FF3399"/>
                </a:solidFill>
              </a:rPr>
              <a:t>T. saginata</a:t>
            </a:r>
            <a:endParaRPr lang="en-US" u="sng" dirty="0">
              <a:solidFill>
                <a:srgbClr val="FF3399"/>
              </a:solidFill>
            </a:endParaRPr>
          </a:p>
          <a:p>
            <a:pPr lvl="0">
              <a:buFont typeface="Wingdings" pitchFamily="2" charset="2"/>
              <a:buChar char="v"/>
            </a:pPr>
            <a:r>
              <a:rPr lang="en-GB" dirty="0">
                <a:solidFill>
                  <a:srgbClr val="0070C0"/>
                </a:solidFill>
              </a:rPr>
              <a:t>The two species differ in the </a:t>
            </a:r>
            <a:r>
              <a:rPr lang="en-GB" u="sng" dirty="0">
                <a:solidFill>
                  <a:srgbClr val="0070C0"/>
                </a:solidFill>
              </a:rPr>
              <a:t>number of testes </a:t>
            </a:r>
            <a:r>
              <a:rPr lang="en-GB" dirty="0"/>
              <a:t>(</a:t>
            </a:r>
            <a:r>
              <a:rPr lang="en-GB" dirty="0">
                <a:solidFill>
                  <a:srgbClr val="0070C0"/>
                </a:solidFill>
              </a:rPr>
              <a:t>150-200</a:t>
            </a:r>
            <a:r>
              <a:rPr lang="en-GB" dirty="0"/>
              <a:t> in </a:t>
            </a:r>
            <a:r>
              <a:rPr lang="en-GB" i="1" dirty="0">
                <a:solidFill>
                  <a:srgbClr val="FF3399"/>
                </a:solidFill>
              </a:rPr>
              <a:t>T. solium</a:t>
            </a:r>
            <a:r>
              <a:rPr lang="en-GB" dirty="0">
                <a:solidFill>
                  <a:srgbClr val="FF3399"/>
                </a:solidFill>
              </a:rPr>
              <a:t> </a:t>
            </a:r>
            <a:r>
              <a:rPr lang="en-GB" dirty="0"/>
              <a:t>and </a:t>
            </a:r>
            <a:r>
              <a:rPr lang="en-GB" dirty="0">
                <a:solidFill>
                  <a:srgbClr val="0070C0"/>
                </a:solidFill>
              </a:rPr>
              <a:t>300-400</a:t>
            </a:r>
            <a:r>
              <a:rPr lang="en-GB" dirty="0"/>
              <a:t> in </a:t>
            </a:r>
            <a:r>
              <a:rPr lang="en-GB" i="1" dirty="0">
                <a:solidFill>
                  <a:srgbClr val="FF3399"/>
                </a:solidFill>
              </a:rPr>
              <a:t>T. saginata</a:t>
            </a:r>
            <a:r>
              <a:rPr lang="en-GB" dirty="0"/>
              <a:t>).</a:t>
            </a:r>
            <a:endParaRPr lang="en-US" dirty="0"/>
          </a:p>
          <a:p>
            <a:pPr lvl="0">
              <a:buFont typeface="Wingdings" pitchFamily="2" charset="2"/>
              <a:buChar char="v"/>
            </a:pPr>
            <a:r>
              <a:rPr lang="en-GB" dirty="0">
                <a:solidFill>
                  <a:srgbClr val="C00000"/>
                </a:solidFill>
              </a:rPr>
              <a:t>Gravid segments </a:t>
            </a:r>
            <a:r>
              <a:rPr lang="en-GB" u="sng" dirty="0"/>
              <a:t>are longer than wide and have the typical </a:t>
            </a:r>
            <a:r>
              <a:rPr lang="en-GB" u="sng" dirty="0">
                <a:solidFill>
                  <a:srgbClr val="7030A0"/>
                </a:solidFill>
              </a:rPr>
              <a:t>taeniid uterus</a:t>
            </a:r>
            <a:r>
              <a:rPr lang="en-GB" u="sng" dirty="0"/>
              <a:t>, a </a:t>
            </a:r>
            <a:r>
              <a:rPr lang="en-GB" u="sng" dirty="0">
                <a:solidFill>
                  <a:srgbClr val="7030A0"/>
                </a:solidFill>
              </a:rPr>
              <a:t>medial stem </a:t>
            </a:r>
            <a:r>
              <a:rPr lang="en-GB" u="sng" dirty="0"/>
              <a:t>with </a:t>
            </a:r>
            <a:r>
              <a:rPr lang="en-GB" u="sng" dirty="0">
                <a:solidFill>
                  <a:srgbClr val="7030A0"/>
                </a:solidFill>
              </a:rPr>
              <a:t>7-13 lateral branches</a:t>
            </a:r>
            <a:r>
              <a:rPr lang="en-GB" dirty="0"/>
              <a:t>.</a:t>
            </a:r>
            <a:endParaRPr lang="en-US" dirty="0"/>
          </a:p>
          <a:p>
            <a:pPr marL="0" indent="0">
              <a:buNone/>
            </a:pPr>
            <a:endParaRPr lang="en-US" dirty="0"/>
          </a:p>
        </p:txBody>
      </p:sp>
    </p:spTree>
    <p:extLst>
      <p:ext uri="{BB962C8B-B14F-4D97-AF65-F5344CB8AC3E}">
        <p14:creationId xmlns:p14="http://schemas.microsoft.com/office/powerpoint/2010/main" val="2192905324"/>
      </p:ext>
    </p:extLst>
  </p:cSld>
  <p:clrMapOvr>
    <a:masterClrMapping/>
  </p:clrMapOvr>
</p:sld>
</file>

<file path=ppt/slides/slide2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Biology and Life Cycle of</a:t>
            </a:r>
            <a:r>
              <a:rPr lang="en-GB" b="1" u="sng" dirty="0">
                <a:solidFill>
                  <a:srgbClr val="FF3399"/>
                </a:solidFill>
              </a:rPr>
              <a:t> </a:t>
            </a:r>
            <a:r>
              <a:rPr lang="en-GB" b="1" i="1" u="sng" dirty="0">
                <a:solidFill>
                  <a:srgbClr val="FF3399"/>
                </a:solidFill>
              </a:rPr>
              <a:t>Taenia solium</a:t>
            </a:r>
            <a:r>
              <a:rPr lang="en-GB" b="1" u="sng" dirty="0">
                <a:solidFill>
                  <a:srgbClr val="FF3399"/>
                </a:solidFill>
              </a:rPr>
              <a:t> </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u="sng" dirty="0"/>
              <a:t>The life cycle is similar to that of </a:t>
            </a:r>
            <a:r>
              <a:rPr lang="en-GB" i="1" u="sng" dirty="0">
                <a:solidFill>
                  <a:srgbClr val="FF3399"/>
                </a:solidFill>
              </a:rPr>
              <a:t>T. saginata</a:t>
            </a:r>
            <a:r>
              <a:rPr lang="en-GB" u="sng" dirty="0">
                <a:solidFill>
                  <a:srgbClr val="FF3399"/>
                </a:solidFill>
              </a:rPr>
              <a:t> </a:t>
            </a:r>
            <a:r>
              <a:rPr lang="en-GB" b="1" dirty="0"/>
              <a:t>except</a:t>
            </a:r>
            <a:r>
              <a:rPr lang="en-GB" dirty="0"/>
              <a:t> that the </a:t>
            </a:r>
            <a:r>
              <a:rPr lang="en-GB" dirty="0">
                <a:solidFill>
                  <a:schemeClr val="accent6">
                    <a:lumMod val="75000"/>
                  </a:schemeClr>
                </a:solidFill>
              </a:rPr>
              <a:t>normal</a:t>
            </a:r>
            <a:r>
              <a:rPr lang="en-GB" dirty="0"/>
              <a:t> </a:t>
            </a:r>
            <a:r>
              <a:rPr lang="en-GB" dirty="0">
                <a:solidFill>
                  <a:schemeClr val="accent6">
                    <a:lumMod val="75000"/>
                  </a:schemeClr>
                </a:solidFill>
              </a:rPr>
              <a:t>intermediate hosts </a:t>
            </a:r>
            <a:r>
              <a:rPr lang="en-GB" dirty="0"/>
              <a:t>are </a:t>
            </a:r>
            <a:r>
              <a:rPr lang="en-GB" dirty="0">
                <a:solidFill>
                  <a:srgbClr val="00B050"/>
                </a:solidFill>
              </a:rPr>
              <a:t>pigs</a:t>
            </a:r>
            <a:r>
              <a:rPr lang="en-GB" dirty="0"/>
              <a:t>.(</a:t>
            </a:r>
            <a:r>
              <a:rPr lang="en-GB" dirty="0">
                <a:solidFill>
                  <a:srgbClr val="00B050"/>
                </a:solidFill>
              </a:rPr>
              <a:t>cattle </a:t>
            </a:r>
            <a:r>
              <a:rPr lang="en-GB" dirty="0"/>
              <a:t>for </a:t>
            </a:r>
            <a:r>
              <a:rPr lang="en-GB" dirty="0">
                <a:solidFill>
                  <a:srgbClr val="FF3399"/>
                </a:solidFill>
              </a:rPr>
              <a:t>T. saginata</a:t>
            </a:r>
            <a:r>
              <a:rPr lang="en-GB" dirty="0"/>
              <a:t>)</a:t>
            </a:r>
            <a:endParaRPr lang="en-US" dirty="0"/>
          </a:p>
          <a:p>
            <a:pPr lvl="0">
              <a:buFont typeface="Wingdings" pitchFamily="2" charset="2"/>
              <a:buChar char="v"/>
            </a:pPr>
            <a:r>
              <a:rPr lang="en-GB" dirty="0">
                <a:solidFill>
                  <a:srgbClr val="C00000"/>
                </a:solidFill>
              </a:rPr>
              <a:t>Gravid proglotids </a:t>
            </a:r>
            <a:r>
              <a:rPr lang="en-GB" dirty="0"/>
              <a:t>which are passed out in faeces by humans and by pigs in which </a:t>
            </a:r>
            <a:r>
              <a:rPr lang="en-GB" dirty="0">
                <a:solidFill>
                  <a:srgbClr val="7030A0"/>
                </a:solidFill>
              </a:rPr>
              <a:t>oncospheres</a:t>
            </a:r>
            <a:r>
              <a:rPr lang="en-GB" dirty="0"/>
              <a:t> develop into </a:t>
            </a:r>
            <a:r>
              <a:rPr lang="en-GB" dirty="0">
                <a:solidFill>
                  <a:srgbClr val="7030A0"/>
                </a:solidFill>
              </a:rPr>
              <a:t>cysticerci </a:t>
            </a:r>
            <a:r>
              <a:rPr lang="en-GB" dirty="0"/>
              <a:t>(</a:t>
            </a:r>
            <a:r>
              <a:rPr lang="en-GB" dirty="0">
                <a:solidFill>
                  <a:srgbClr val="7030A0"/>
                </a:solidFill>
              </a:rPr>
              <a:t>Cysticercus cellulosae</a:t>
            </a:r>
            <a:r>
              <a:rPr lang="en-GB" dirty="0"/>
              <a:t>) in muscles and organs</a:t>
            </a:r>
            <a:endParaRPr lang="en-US" dirty="0"/>
          </a:p>
          <a:p>
            <a:pPr lvl="0">
              <a:buFont typeface="Wingdings" pitchFamily="2" charset="2"/>
              <a:buChar char="v"/>
            </a:pPr>
            <a:r>
              <a:rPr lang="en-GB" dirty="0">
                <a:solidFill>
                  <a:schemeClr val="accent6">
                    <a:lumMod val="75000"/>
                  </a:schemeClr>
                </a:solidFill>
              </a:rPr>
              <a:t>Blow flies</a:t>
            </a:r>
            <a:r>
              <a:rPr lang="en-GB" dirty="0"/>
              <a:t> </a:t>
            </a:r>
            <a:r>
              <a:rPr lang="en-GB" u="sng" dirty="0"/>
              <a:t>can carry eggs from infected faeces </a:t>
            </a:r>
            <a:r>
              <a:rPr lang="en-GB" dirty="0"/>
              <a:t>.</a:t>
            </a:r>
            <a:endParaRPr lang="en-US" dirty="0"/>
          </a:p>
          <a:p>
            <a:endParaRPr lang="en-US" dirty="0"/>
          </a:p>
        </p:txBody>
      </p:sp>
    </p:spTree>
    <p:extLst>
      <p:ext uri="{BB962C8B-B14F-4D97-AF65-F5344CB8AC3E}">
        <p14:creationId xmlns:p14="http://schemas.microsoft.com/office/powerpoint/2010/main" val="3217447610"/>
      </p:ext>
    </p:extLst>
  </p:cSld>
  <p:clrMapOvr>
    <a:masterClrMapping/>
  </p:clrMapOvr>
</p:sld>
</file>

<file path=ppt/slides/slide2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and Life Cycle of </a:t>
            </a:r>
            <a:r>
              <a:rPr lang="en-GB" b="1" i="1" dirty="0" err="1">
                <a:solidFill>
                  <a:srgbClr val="FF3399"/>
                </a:solidFill>
              </a:rPr>
              <a:t>Taenia</a:t>
            </a:r>
            <a:r>
              <a:rPr lang="en-GB" b="1" i="1" dirty="0">
                <a:solidFill>
                  <a:srgbClr val="FF3399"/>
                </a:solidFill>
              </a:rPr>
              <a:t> </a:t>
            </a:r>
            <a:r>
              <a:rPr lang="en-GB" b="1" i="1" dirty="0" err="1">
                <a:solidFill>
                  <a:srgbClr val="FF3399"/>
                </a:solidFill>
              </a:rPr>
              <a:t>solium</a:t>
            </a:r>
            <a:r>
              <a:rPr lang="en-GB" b="1" dirty="0">
                <a:solidFill>
                  <a:srgbClr val="FF3399"/>
                </a:solidFill>
              </a:rPr>
              <a:t> </a:t>
            </a:r>
            <a:r>
              <a:rPr lang="en-GB" b="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solidFill>
                  <a:srgbClr val="7030A0"/>
                </a:solidFill>
              </a:rPr>
              <a:t>Humans become infected</a:t>
            </a:r>
            <a:r>
              <a:rPr lang="en-GB" dirty="0">
                <a:solidFill>
                  <a:schemeClr val="accent2">
                    <a:lumMod val="60000"/>
                    <a:lumOff val="40000"/>
                  </a:schemeClr>
                </a:solidFill>
              </a:rPr>
              <a:t> </a:t>
            </a:r>
            <a:r>
              <a:rPr lang="en-GB" u="sng" dirty="0"/>
              <a:t>when a </a:t>
            </a:r>
            <a:r>
              <a:rPr lang="en-GB" u="sng" dirty="0">
                <a:solidFill>
                  <a:srgbClr val="7030A0"/>
                </a:solidFill>
              </a:rPr>
              <a:t>bladder worm</a:t>
            </a:r>
            <a:r>
              <a:rPr lang="en-GB" u="sng" dirty="0"/>
              <a:t> in insufficiently cooked pork is eaten</a:t>
            </a:r>
            <a:endParaRPr lang="en-US" u="sng" dirty="0"/>
          </a:p>
          <a:p>
            <a:pPr lvl="0">
              <a:buFont typeface="Wingdings" pitchFamily="2" charset="2"/>
              <a:buChar char="v"/>
            </a:pPr>
            <a:r>
              <a:rPr lang="en-GB" dirty="0">
                <a:solidFill>
                  <a:srgbClr val="00B050"/>
                </a:solidFill>
              </a:rPr>
              <a:t>Dogs</a:t>
            </a:r>
            <a:r>
              <a:rPr lang="en-GB" dirty="0"/>
              <a:t> and </a:t>
            </a:r>
            <a:r>
              <a:rPr lang="en-GB" dirty="0">
                <a:solidFill>
                  <a:srgbClr val="00B050"/>
                </a:solidFill>
              </a:rPr>
              <a:t>cats </a:t>
            </a:r>
            <a:r>
              <a:rPr lang="en-GB" dirty="0"/>
              <a:t>can serve as </a:t>
            </a:r>
            <a:r>
              <a:rPr lang="en-GB" dirty="0">
                <a:solidFill>
                  <a:schemeClr val="accent6">
                    <a:lumMod val="75000"/>
                  </a:schemeClr>
                </a:solidFill>
              </a:rPr>
              <a:t>intermediate host</a:t>
            </a:r>
            <a:endParaRPr lang="en-US" dirty="0">
              <a:solidFill>
                <a:schemeClr val="accent6">
                  <a:lumMod val="75000"/>
                </a:schemeClr>
              </a:solidFill>
            </a:endParaRPr>
          </a:p>
          <a:p>
            <a:pPr lvl="0">
              <a:buFont typeface="Wingdings" pitchFamily="2" charset="2"/>
              <a:buChar char="v"/>
            </a:pPr>
            <a:r>
              <a:rPr lang="en-GB" u="sng" dirty="0"/>
              <a:t>Worms evaginate and attach to mucosa of the small intestines and mature in 5-12 weeks</a:t>
            </a:r>
            <a:endParaRPr lang="en-US" u="sng" dirty="0"/>
          </a:p>
          <a:p>
            <a:pPr lvl="0">
              <a:buFont typeface="Wingdings" pitchFamily="2" charset="2"/>
              <a:buChar char="v"/>
            </a:pPr>
            <a:r>
              <a:rPr lang="en-GB" u="sng" dirty="0"/>
              <a:t>Worms can live up to</a:t>
            </a:r>
            <a:r>
              <a:rPr lang="en-GB" dirty="0"/>
              <a:t> </a:t>
            </a:r>
            <a:r>
              <a:rPr lang="en-GB" dirty="0">
                <a:solidFill>
                  <a:srgbClr val="0070C0"/>
                </a:solidFill>
              </a:rPr>
              <a:t>25 years</a:t>
            </a:r>
            <a:endParaRPr lang="en-US" dirty="0">
              <a:solidFill>
                <a:srgbClr val="0070C0"/>
              </a:solidFill>
            </a:endParaRPr>
          </a:p>
          <a:p>
            <a:pPr marL="0" indent="0">
              <a:buNone/>
            </a:pPr>
            <a:endParaRPr lang="en-US" dirty="0"/>
          </a:p>
        </p:txBody>
      </p:sp>
    </p:spTree>
    <p:extLst>
      <p:ext uri="{BB962C8B-B14F-4D97-AF65-F5344CB8AC3E}">
        <p14:creationId xmlns:p14="http://schemas.microsoft.com/office/powerpoint/2010/main" val="1368338528"/>
      </p:ext>
    </p:extLst>
  </p:cSld>
  <p:clrMapOvr>
    <a:masterClrMapping/>
  </p:clrMapOvr>
</p:sld>
</file>

<file path=ppt/slides/slide2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Pathology of </a:t>
            </a:r>
            <a:r>
              <a:rPr lang="en-GB" b="1" i="1" u="sng" dirty="0">
                <a:solidFill>
                  <a:srgbClr val="FF3399"/>
                </a:solidFill>
              </a:rPr>
              <a:t>Taenia solium</a:t>
            </a:r>
            <a:r>
              <a:rPr lang="en-GB" b="1" u="sng" dirty="0">
                <a:solidFill>
                  <a:srgbClr val="FF3399"/>
                </a:solidFill>
              </a:rPr>
              <a:t> </a:t>
            </a:r>
            <a:br>
              <a:rPr lang="en-US" dirty="0"/>
            </a:br>
            <a:endParaRPr lang="en-US" dirty="0"/>
          </a:p>
        </p:txBody>
      </p:sp>
      <p:sp>
        <p:nvSpPr>
          <p:cNvPr id="3" name="Content Placeholder 2"/>
          <p:cNvSpPr>
            <a:spLocks noGrp="1"/>
          </p:cNvSpPr>
          <p:nvPr>
            <p:ph idx="1"/>
          </p:nvPr>
        </p:nvSpPr>
        <p:spPr>
          <a:xfrm>
            <a:off x="457200" y="1600200"/>
            <a:ext cx="8229600" cy="5257800"/>
          </a:xfrm>
        </p:spPr>
        <p:txBody>
          <a:bodyPr>
            <a:normAutofit/>
          </a:bodyPr>
          <a:lstStyle/>
          <a:p>
            <a:pPr lvl="0">
              <a:buFont typeface="Wingdings" pitchFamily="2" charset="2"/>
              <a:buChar char="v"/>
            </a:pPr>
            <a:r>
              <a:rPr lang="en-GB" dirty="0"/>
              <a:t>Similar to that caused by </a:t>
            </a:r>
            <a:r>
              <a:rPr lang="en-GB" i="1" dirty="0">
                <a:solidFill>
                  <a:srgbClr val="FF3399"/>
                </a:solidFill>
              </a:rPr>
              <a:t>T. saginata</a:t>
            </a:r>
            <a:r>
              <a:rPr lang="en-GB" dirty="0"/>
              <a:t>, however, unlike those of other </a:t>
            </a:r>
            <a:r>
              <a:rPr lang="en-GB" dirty="0">
                <a:solidFill>
                  <a:srgbClr val="0070C0"/>
                </a:solidFill>
              </a:rPr>
              <a:t>Taeniasis</a:t>
            </a:r>
            <a:r>
              <a:rPr lang="en-GB" dirty="0"/>
              <a:t>, </a:t>
            </a:r>
            <a:r>
              <a:rPr lang="en-GB" u="sng" dirty="0"/>
              <a:t>the </a:t>
            </a:r>
            <a:r>
              <a:rPr lang="en-GB" u="sng" dirty="0">
                <a:solidFill>
                  <a:srgbClr val="C00000"/>
                </a:solidFill>
              </a:rPr>
              <a:t>cysticerci</a:t>
            </a:r>
            <a:r>
              <a:rPr lang="en-GB" u="sng" dirty="0"/>
              <a:t> of </a:t>
            </a:r>
            <a:r>
              <a:rPr lang="en-GB" i="1" u="sng" dirty="0">
                <a:solidFill>
                  <a:srgbClr val="FF3399"/>
                </a:solidFill>
              </a:rPr>
              <a:t>T. solium</a:t>
            </a:r>
            <a:r>
              <a:rPr lang="en-GB" u="sng" dirty="0">
                <a:solidFill>
                  <a:srgbClr val="FF3399"/>
                </a:solidFill>
              </a:rPr>
              <a:t> </a:t>
            </a:r>
            <a:r>
              <a:rPr lang="en-GB" u="sng" dirty="0"/>
              <a:t>develop readily in humans</a:t>
            </a:r>
            <a:endParaRPr lang="en-US" u="sng" dirty="0"/>
          </a:p>
          <a:p>
            <a:pPr lvl="0">
              <a:buFont typeface="Wingdings" pitchFamily="2" charset="2"/>
              <a:buChar char="v"/>
            </a:pPr>
            <a:r>
              <a:rPr lang="en-GB" u="sng" dirty="0"/>
              <a:t>Eggs hatch in the </a:t>
            </a:r>
            <a:r>
              <a:rPr lang="en-GB" u="sng" dirty="0">
                <a:solidFill>
                  <a:schemeClr val="accent6">
                    <a:lumMod val="75000"/>
                  </a:schemeClr>
                </a:solidFill>
              </a:rPr>
              <a:t>intestine</a:t>
            </a:r>
            <a:r>
              <a:rPr lang="en-GB" u="sng" dirty="0"/>
              <a:t> or the </a:t>
            </a:r>
            <a:r>
              <a:rPr lang="en-GB" u="sng" dirty="0">
                <a:solidFill>
                  <a:schemeClr val="accent6">
                    <a:lumMod val="75000"/>
                  </a:schemeClr>
                </a:solidFill>
              </a:rPr>
              <a:t>gravid proglotid </a:t>
            </a:r>
            <a:r>
              <a:rPr lang="en-GB" u="sng" dirty="0"/>
              <a:t>may migrate from the </a:t>
            </a:r>
            <a:r>
              <a:rPr lang="en-GB" u="sng" dirty="0">
                <a:solidFill>
                  <a:schemeClr val="accent6">
                    <a:lumMod val="75000"/>
                  </a:schemeClr>
                </a:solidFill>
              </a:rPr>
              <a:t>lower intestine </a:t>
            </a:r>
            <a:r>
              <a:rPr lang="en-GB" u="sng" dirty="0"/>
              <a:t>to the </a:t>
            </a:r>
            <a:r>
              <a:rPr lang="en-GB" u="sng" dirty="0">
                <a:solidFill>
                  <a:schemeClr val="accent6">
                    <a:lumMod val="75000"/>
                  </a:schemeClr>
                </a:solidFill>
              </a:rPr>
              <a:t>stomach</a:t>
            </a:r>
            <a:r>
              <a:rPr lang="en-GB" u="sng" dirty="0"/>
              <a:t> or </a:t>
            </a:r>
            <a:r>
              <a:rPr lang="en-GB" u="sng" dirty="0">
                <a:solidFill>
                  <a:schemeClr val="accent6">
                    <a:lumMod val="75000"/>
                  </a:schemeClr>
                </a:solidFill>
              </a:rPr>
              <a:t>duodenum</a:t>
            </a:r>
            <a:r>
              <a:rPr lang="en-GB" u="sng" dirty="0"/>
              <a:t> or carried there by </a:t>
            </a:r>
            <a:r>
              <a:rPr lang="en-GB" u="sng" dirty="0">
                <a:solidFill>
                  <a:srgbClr val="FFC000"/>
                </a:solidFill>
              </a:rPr>
              <a:t>reverse peristalsis</a:t>
            </a:r>
            <a:endParaRPr lang="en-US" u="sng" dirty="0">
              <a:solidFill>
                <a:srgbClr val="FFC000"/>
              </a:solidFill>
            </a:endParaRPr>
          </a:p>
          <a:p>
            <a:pPr lvl="0">
              <a:buFont typeface="Wingdings" pitchFamily="2" charset="2"/>
              <a:buChar char="v"/>
            </a:pPr>
            <a:r>
              <a:rPr lang="en-GB" u="sng" dirty="0"/>
              <a:t>When many eggs hatch, many cysticerci are produced and virtually every organ and tissue may be infected</a:t>
            </a:r>
            <a:r>
              <a:rPr lang="en-GB" dirty="0"/>
              <a:t>,</a:t>
            </a:r>
          </a:p>
        </p:txBody>
      </p:sp>
    </p:spTree>
    <p:extLst>
      <p:ext uri="{BB962C8B-B14F-4D97-AF65-F5344CB8AC3E}">
        <p14:creationId xmlns:p14="http://schemas.microsoft.com/office/powerpoint/2010/main" val="3945552224"/>
      </p:ext>
    </p:extLst>
  </p:cSld>
  <p:clrMapOvr>
    <a:masterClrMapping/>
  </p:clrMapOvr>
</p:sld>
</file>

<file path=ppt/slides/slide2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t>Pathology of </a:t>
            </a:r>
            <a:r>
              <a:rPr lang="en-GB" b="1" i="1" u="sng" dirty="0">
                <a:solidFill>
                  <a:srgbClr val="FF3399"/>
                </a:solidFill>
              </a:rPr>
              <a:t>Taenia solium</a:t>
            </a:r>
            <a:r>
              <a:rPr lang="en-GB" b="1" i="1" u="sng" dirty="0"/>
              <a:t> Cont’d</a:t>
            </a:r>
            <a:endParaRPr lang="en-US" u="sng" dirty="0"/>
          </a:p>
        </p:txBody>
      </p:sp>
      <p:sp>
        <p:nvSpPr>
          <p:cNvPr id="3" name="Content Placeholder 2"/>
          <p:cNvSpPr>
            <a:spLocks noGrp="1"/>
          </p:cNvSpPr>
          <p:nvPr>
            <p:ph idx="1"/>
          </p:nvPr>
        </p:nvSpPr>
        <p:spPr>
          <a:xfrm>
            <a:off x="457200" y="1600200"/>
            <a:ext cx="8229600" cy="5257800"/>
          </a:xfrm>
        </p:spPr>
        <p:txBody>
          <a:bodyPr>
            <a:normAutofit fontScale="92500" lnSpcReduction="20000"/>
          </a:bodyPr>
          <a:lstStyle/>
          <a:p>
            <a:pPr lvl="0">
              <a:buFont typeface="Wingdings" pitchFamily="2" charset="2"/>
              <a:buChar char="v"/>
            </a:pPr>
            <a:r>
              <a:rPr lang="en-GB" dirty="0"/>
              <a:t>especially </a:t>
            </a:r>
            <a:r>
              <a:rPr lang="en-GB" dirty="0">
                <a:solidFill>
                  <a:srgbClr val="00B0F0"/>
                </a:solidFill>
              </a:rPr>
              <a:t>subcutaneous connective tissue</a:t>
            </a:r>
            <a:r>
              <a:rPr lang="en-GB" dirty="0"/>
              <a:t>, the </a:t>
            </a:r>
            <a:r>
              <a:rPr lang="en-GB" dirty="0">
                <a:solidFill>
                  <a:srgbClr val="00B0F0"/>
                </a:solidFill>
              </a:rPr>
              <a:t>eye</a:t>
            </a:r>
            <a:r>
              <a:rPr lang="en-GB" dirty="0"/>
              <a:t> and the </a:t>
            </a:r>
            <a:r>
              <a:rPr lang="en-GB" dirty="0">
                <a:solidFill>
                  <a:srgbClr val="00B0F0"/>
                </a:solidFill>
              </a:rPr>
              <a:t>brain</a:t>
            </a:r>
            <a:r>
              <a:rPr lang="en-GB" dirty="0"/>
              <a:t>, </a:t>
            </a:r>
            <a:r>
              <a:rPr lang="en-GB" dirty="0">
                <a:solidFill>
                  <a:srgbClr val="00B0F0"/>
                </a:solidFill>
              </a:rPr>
              <a:t>muscles</a:t>
            </a:r>
            <a:r>
              <a:rPr lang="en-GB" dirty="0"/>
              <a:t>, </a:t>
            </a:r>
            <a:r>
              <a:rPr lang="en-GB" dirty="0">
                <a:solidFill>
                  <a:srgbClr val="00B0F0"/>
                </a:solidFill>
              </a:rPr>
              <a:t>heart,</a:t>
            </a:r>
            <a:r>
              <a:rPr lang="en-GB" dirty="0"/>
              <a:t> </a:t>
            </a:r>
            <a:r>
              <a:rPr lang="en-GB" dirty="0">
                <a:solidFill>
                  <a:srgbClr val="00B0F0"/>
                </a:solidFill>
              </a:rPr>
              <a:t>liver</a:t>
            </a:r>
            <a:r>
              <a:rPr lang="en-GB" dirty="0"/>
              <a:t>, </a:t>
            </a:r>
            <a:r>
              <a:rPr lang="en-GB" dirty="0">
                <a:solidFill>
                  <a:srgbClr val="00B0F0"/>
                </a:solidFill>
              </a:rPr>
              <a:t>lungs</a:t>
            </a:r>
            <a:r>
              <a:rPr lang="en-GB" dirty="0"/>
              <a:t> and the </a:t>
            </a:r>
            <a:r>
              <a:rPr lang="en-GB" dirty="0">
                <a:solidFill>
                  <a:srgbClr val="00B0F0"/>
                </a:solidFill>
              </a:rPr>
              <a:t>coelom</a:t>
            </a:r>
            <a:r>
              <a:rPr lang="en-GB" dirty="0"/>
              <a:t>.</a:t>
            </a:r>
            <a:endParaRPr lang="en-US" dirty="0"/>
          </a:p>
          <a:p>
            <a:pPr lvl="0">
              <a:buFont typeface="Wingdings" pitchFamily="2" charset="2"/>
              <a:buChar char="v"/>
            </a:pPr>
            <a:r>
              <a:rPr lang="en-GB" dirty="0">
                <a:solidFill>
                  <a:schemeClr val="accent6">
                    <a:lumMod val="75000"/>
                  </a:schemeClr>
                </a:solidFill>
              </a:rPr>
              <a:t>A fibrous capsule </a:t>
            </a:r>
            <a:r>
              <a:rPr lang="en-GB" dirty="0"/>
              <a:t>of host tissue forms round the </a:t>
            </a:r>
            <a:r>
              <a:rPr lang="en-GB" dirty="0">
                <a:solidFill>
                  <a:srgbClr val="C00000"/>
                </a:solidFill>
              </a:rPr>
              <a:t>metacestode</a:t>
            </a:r>
            <a:r>
              <a:rPr lang="en-GB" dirty="0"/>
              <a:t>, </a:t>
            </a:r>
            <a:r>
              <a:rPr lang="en-GB" b="1" dirty="0"/>
              <a:t>except</a:t>
            </a:r>
            <a:r>
              <a:rPr lang="en-GB" dirty="0"/>
              <a:t> when it develops in the </a:t>
            </a:r>
            <a:r>
              <a:rPr lang="en-GB" dirty="0">
                <a:solidFill>
                  <a:srgbClr val="00B0F0"/>
                </a:solidFill>
              </a:rPr>
              <a:t>eye chamber</a:t>
            </a:r>
            <a:r>
              <a:rPr lang="en-GB" dirty="0"/>
              <a:t>.</a:t>
            </a:r>
            <a:endParaRPr lang="en-US" dirty="0"/>
          </a:p>
          <a:p>
            <a:pPr lvl="0">
              <a:buFont typeface="Wingdings" pitchFamily="2" charset="2"/>
              <a:buChar char="v"/>
            </a:pPr>
            <a:r>
              <a:rPr lang="en-GB" u="sng" dirty="0"/>
              <a:t>The effect produced depends on the location of the </a:t>
            </a:r>
            <a:r>
              <a:rPr lang="en-GB" u="sng" dirty="0">
                <a:solidFill>
                  <a:srgbClr val="C00000"/>
                </a:solidFill>
              </a:rPr>
              <a:t>cysticercus</a:t>
            </a:r>
            <a:r>
              <a:rPr lang="en-GB" dirty="0"/>
              <a:t>, </a:t>
            </a:r>
          </a:p>
          <a:p>
            <a:pPr lvl="0">
              <a:buFont typeface="Wingdings" pitchFamily="2" charset="2"/>
              <a:buChar char="v"/>
            </a:pPr>
            <a:r>
              <a:rPr lang="en-GB" dirty="0"/>
              <a:t>e.g. </a:t>
            </a:r>
            <a:r>
              <a:rPr lang="en-GB" dirty="0">
                <a:solidFill>
                  <a:srgbClr val="FF0000"/>
                </a:solidFill>
              </a:rPr>
              <a:t>Ocular cysticercosis </a:t>
            </a:r>
            <a:r>
              <a:rPr lang="en-GB" u="sng" dirty="0"/>
              <a:t>may cause irreparable damage to the retina, iris or choroid</a:t>
            </a:r>
            <a:r>
              <a:rPr lang="en-GB" dirty="0"/>
              <a:t>; a </a:t>
            </a:r>
            <a:r>
              <a:rPr lang="en-GB" dirty="0">
                <a:solidFill>
                  <a:srgbClr val="FF0000"/>
                </a:solidFill>
              </a:rPr>
              <a:t>developing Cysticercus </a:t>
            </a:r>
            <a:r>
              <a:rPr lang="en-GB" u="sng" dirty="0"/>
              <a:t>in the retina may be mistaken for a malignant tumour</a:t>
            </a:r>
            <a:endParaRPr lang="en-US" u="sng" dirty="0"/>
          </a:p>
          <a:p>
            <a:pPr marL="0" indent="0">
              <a:buNone/>
            </a:pPr>
            <a:endParaRPr lang="en-US" dirty="0"/>
          </a:p>
          <a:p>
            <a:endParaRPr lang="en-US" dirty="0"/>
          </a:p>
        </p:txBody>
      </p:sp>
    </p:spTree>
    <p:extLst>
      <p:ext uri="{BB962C8B-B14F-4D97-AF65-F5344CB8AC3E}">
        <p14:creationId xmlns:p14="http://schemas.microsoft.com/office/powerpoint/2010/main" val="3981554600"/>
      </p:ext>
    </p:extLst>
  </p:cSld>
  <p:clrMapOvr>
    <a:masterClrMapping/>
  </p:clrMapOvr>
</p:sld>
</file>

<file path=ppt/slides/slide2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t>Pathology of </a:t>
            </a:r>
            <a:r>
              <a:rPr lang="en-GB" b="1" i="1" u="sng" dirty="0">
                <a:solidFill>
                  <a:srgbClr val="FF3399"/>
                </a:solidFill>
              </a:rPr>
              <a:t>Taenia solium </a:t>
            </a:r>
            <a:r>
              <a:rPr lang="en-GB" b="1" i="1" dirty="0"/>
              <a:t>Cont’d</a:t>
            </a: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pPr lvl="0">
              <a:buFont typeface="Wingdings" pitchFamily="2" charset="2"/>
              <a:buChar char="v"/>
            </a:pPr>
            <a:r>
              <a:rPr lang="en-GB" dirty="0"/>
              <a:t>In </a:t>
            </a:r>
            <a:r>
              <a:rPr lang="en-GB" dirty="0">
                <a:solidFill>
                  <a:srgbClr val="00B0F0"/>
                </a:solidFill>
              </a:rPr>
              <a:t>skeletal muscle</a:t>
            </a:r>
            <a:r>
              <a:rPr lang="en-GB" dirty="0"/>
              <a:t>, </a:t>
            </a:r>
            <a:r>
              <a:rPr lang="en-GB" dirty="0">
                <a:solidFill>
                  <a:srgbClr val="00B0F0"/>
                </a:solidFill>
              </a:rPr>
              <a:t>skin</a:t>
            </a:r>
            <a:r>
              <a:rPr lang="en-GB" dirty="0"/>
              <a:t> or </a:t>
            </a:r>
            <a:r>
              <a:rPr lang="en-GB" dirty="0">
                <a:solidFill>
                  <a:srgbClr val="00B0F0"/>
                </a:solidFill>
              </a:rPr>
              <a:t>liver</a:t>
            </a:r>
            <a:r>
              <a:rPr lang="en-GB" dirty="0"/>
              <a:t>, </a:t>
            </a:r>
            <a:r>
              <a:rPr lang="en-GB" u="sng" dirty="0"/>
              <a:t>there is little pathogenesis except in massive infection</a:t>
            </a:r>
            <a:endParaRPr lang="en-US" u="sng" dirty="0"/>
          </a:p>
          <a:p>
            <a:pPr lvl="0">
              <a:buFont typeface="Wingdings" pitchFamily="2" charset="2"/>
              <a:buChar char="v"/>
            </a:pPr>
            <a:r>
              <a:rPr lang="en-GB" dirty="0">
                <a:solidFill>
                  <a:srgbClr val="C00000"/>
                </a:solidFill>
              </a:rPr>
              <a:t>Cysticerci</a:t>
            </a:r>
            <a:r>
              <a:rPr lang="en-GB" dirty="0"/>
              <a:t> </a:t>
            </a:r>
            <a:r>
              <a:rPr lang="en-GB" b="1" dirty="0"/>
              <a:t>rarely</a:t>
            </a:r>
            <a:r>
              <a:rPr lang="en-GB" dirty="0"/>
              <a:t> occur in the </a:t>
            </a:r>
            <a:r>
              <a:rPr lang="en-GB" dirty="0">
                <a:solidFill>
                  <a:srgbClr val="00B0F0"/>
                </a:solidFill>
              </a:rPr>
              <a:t>spinal cord</a:t>
            </a:r>
            <a:r>
              <a:rPr lang="en-GB" dirty="0"/>
              <a:t>, </a:t>
            </a:r>
            <a:r>
              <a:rPr lang="en-GB" b="1" dirty="0"/>
              <a:t>but </a:t>
            </a:r>
            <a:r>
              <a:rPr lang="en-GB" dirty="0"/>
              <a:t>in the </a:t>
            </a:r>
            <a:r>
              <a:rPr lang="en-GB" dirty="0">
                <a:solidFill>
                  <a:srgbClr val="00B0F0"/>
                </a:solidFill>
              </a:rPr>
              <a:t>brain</a:t>
            </a:r>
            <a:r>
              <a:rPr lang="en-GB" dirty="0"/>
              <a:t>, </a:t>
            </a:r>
            <a:r>
              <a:rPr lang="en-GB" u="sng" dirty="0"/>
              <a:t>with vain symptoms</a:t>
            </a:r>
            <a:r>
              <a:rPr lang="en-GB" dirty="0"/>
              <a:t>, </a:t>
            </a:r>
          </a:p>
          <a:p>
            <a:pPr lvl="0">
              <a:buFont typeface="Wingdings" pitchFamily="2" charset="2"/>
              <a:buChar char="v"/>
            </a:pPr>
            <a:r>
              <a:rPr lang="en-GB" dirty="0"/>
              <a:t>however, </a:t>
            </a:r>
            <a:r>
              <a:rPr lang="en-GB" u="sng" dirty="0"/>
              <a:t>passive necrosis may cause severe </a:t>
            </a:r>
            <a:r>
              <a:rPr lang="en-GB" dirty="0">
                <a:solidFill>
                  <a:srgbClr val="FF0000"/>
                </a:solidFill>
              </a:rPr>
              <a:t>CNS malfunction</a:t>
            </a:r>
            <a:r>
              <a:rPr lang="en-GB" dirty="0"/>
              <a:t>, </a:t>
            </a:r>
            <a:r>
              <a:rPr lang="en-GB" dirty="0">
                <a:solidFill>
                  <a:srgbClr val="FF0000"/>
                </a:solidFill>
              </a:rPr>
              <a:t>baldness</a:t>
            </a:r>
            <a:r>
              <a:rPr lang="en-GB" dirty="0"/>
              <a:t>, </a:t>
            </a:r>
            <a:r>
              <a:rPr lang="en-GB" dirty="0">
                <a:solidFill>
                  <a:srgbClr val="FF0000"/>
                </a:solidFill>
              </a:rPr>
              <a:t>paralysis</a:t>
            </a:r>
            <a:r>
              <a:rPr lang="en-GB" dirty="0"/>
              <a:t>, </a:t>
            </a:r>
            <a:r>
              <a:rPr lang="en-GB" dirty="0">
                <a:solidFill>
                  <a:srgbClr val="FF0000"/>
                </a:solidFill>
              </a:rPr>
              <a:t>disequilibrium</a:t>
            </a:r>
            <a:r>
              <a:rPr lang="en-GB" dirty="0"/>
              <a:t>, </a:t>
            </a:r>
            <a:r>
              <a:rPr lang="en-GB" dirty="0">
                <a:solidFill>
                  <a:srgbClr val="FF0000"/>
                </a:solidFill>
              </a:rPr>
              <a:t>obstructive hydrocephalus </a:t>
            </a:r>
            <a:r>
              <a:rPr lang="en-GB" dirty="0"/>
              <a:t>or </a:t>
            </a:r>
            <a:r>
              <a:rPr lang="en-GB" dirty="0">
                <a:solidFill>
                  <a:srgbClr val="FF0000"/>
                </a:solidFill>
              </a:rPr>
              <a:t>disorientation</a:t>
            </a:r>
            <a:r>
              <a:rPr lang="en-GB" dirty="0"/>
              <a:t>;</a:t>
            </a:r>
          </a:p>
          <a:p>
            <a:pPr lvl="0">
              <a:buFont typeface="Wingdings" pitchFamily="2" charset="2"/>
              <a:buChar char="v"/>
            </a:pPr>
            <a:r>
              <a:rPr lang="en-GB" dirty="0"/>
              <a:t> perhaps, </a:t>
            </a:r>
            <a:r>
              <a:rPr lang="en-GB" u="sng" dirty="0"/>
              <a:t>the most common symptom </a:t>
            </a:r>
            <a:r>
              <a:rPr lang="en-GB" dirty="0"/>
              <a:t>is the sudden </a:t>
            </a:r>
            <a:r>
              <a:rPr lang="en-GB" dirty="0">
                <a:solidFill>
                  <a:srgbClr val="FF0000"/>
                </a:solidFill>
              </a:rPr>
              <a:t>onset of epilepsy</a:t>
            </a:r>
            <a:endParaRPr lang="en-US" dirty="0">
              <a:solidFill>
                <a:srgbClr val="FF0000"/>
              </a:solidFill>
            </a:endParaRPr>
          </a:p>
          <a:p>
            <a:pPr marL="0" indent="0">
              <a:buNone/>
            </a:pPr>
            <a:endParaRPr lang="en-US" dirty="0"/>
          </a:p>
        </p:txBody>
      </p:sp>
    </p:spTree>
    <p:extLst>
      <p:ext uri="{BB962C8B-B14F-4D97-AF65-F5344CB8AC3E}">
        <p14:creationId xmlns:p14="http://schemas.microsoft.com/office/powerpoint/2010/main" val="1961551318"/>
      </p:ext>
    </p:extLst>
  </p:cSld>
  <p:clrMapOvr>
    <a:masterClrMapping/>
  </p:clrMapOvr>
</p:sld>
</file>

<file path=ppt/slides/slide2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t>Pathology of </a:t>
            </a:r>
            <a:r>
              <a:rPr lang="en-GB" b="1" i="1" u="sng" dirty="0">
                <a:solidFill>
                  <a:srgbClr val="FF3399"/>
                </a:solidFill>
              </a:rPr>
              <a:t>Taenia solium </a:t>
            </a:r>
            <a:r>
              <a:rPr lang="en-GB" b="1" i="1" u="sng" dirty="0"/>
              <a:t>Cont’d</a:t>
            </a:r>
            <a:endParaRPr lang="en-US" u="sng" dirty="0"/>
          </a:p>
        </p:txBody>
      </p:sp>
      <p:sp>
        <p:nvSpPr>
          <p:cNvPr id="3" name="Content Placeholder 2"/>
          <p:cNvSpPr>
            <a:spLocks noGrp="1"/>
          </p:cNvSpPr>
          <p:nvPr>
            <p:ph idx="1"/>
          </p:nvPr>
        </p:nvSpPr>
        <p:spPr/>
        <p:txBody>
          <a:bodyPr/>
          <a:lstStyle/>
          <a:p>
            <a:pPr lvl="0">
              <a:buFont typeface="Wingdings" pitchFamily="2" charset="2"/>
              <a:buChar char="v"/>
            </a:pPr>
            <a:r>
              <a:rPr lang="en-GB" u="sng" dirty="0"/>
              <a:t>When this occurs in an adult with </a:t>
            </a:r>
            <a:r>
              <a:rPr lang="en-GB" u="sng" dirty="0">
                <a:solidFill>
                  <a:schemeClr val="accent3">
                    <a:lumMod val="75000"/>
                  </a:schemeClr>
                </a:solidFill>
              </a:rPr>
              <a:t>no family or childhood history of epilepsy</a:t>
            </a:r>
            <a:r>
              <a:rPr lang="en-GB" u="sng" dirty="0"/>
              <a:t>, </a:t>
            </a:r>
            <a:r>
              <a:rPr lang="en-GB" u="sng" dirty="0">
                <a:solidFill>
                  <a:srgbClr val="FF0000"/>
                </a:solidFill>
              </a:rPr>
              <a:t>cysticercosis</a:t>
            </a:r>
            <a:r>
              <a:rPr lang="en-GB" u="sng" dirty="0"/>
              <a:t> should be suspected</a:t>
            </a:r>
            <a:r>
              <a:rPr lang="en-GB" dirty="0"/>
              <a:t>.</a:t>
            </a:r>
            <a:endParaRPr lang="en-US" dirty="0"/>
          </a:p>
          <a:p>
            <a:pPr lvl="0">
              <a:buFont typeface="Wingdings" pitchFamily="2" charset="2"/>
              <a:buChar char="v"/>
            </a:pPr>
            <a:r>
              <a:rPr lang="en-GB" dirty="0">
                <a:solidFill>
                  <a:srgbClr val="00B050"/>
                </a:solidFill>
              </a:rPr>
              <a:t>Praziquantel</a:t>
            </a:r>
            <a:r>
              <a:rPr lang="en-GB" dirty="0"/>
              <a:t> </a:t>
            </a:r>
            <a:r>
              <a:rPr lang="en-GB" b="1" dirty="0"/>
              <a:t>is the drug of choice</a:t>
            </a:r>
            <a:r>
              <a:rPr lang="en-GB" dirty="0"/>
              <a:t> </a:t>
            </a:r>
            <a:r>
              <a:rPr lang="en-GB" b="1" u="sng" dirty="0"/>
              <a:t>but</a:t>
            </a:r>
            <a:r>
              <a:rPr lang="en-GB" u="sng" dirty="0"/>
              <a:t> is not used for cysticerci in the </a:t>
            </a:r>
            <a:r>
              <a:rPr lang="en-GB" u="sng" dirty="0">
                <a:solidFill>
                  <a:srgbClr val="00B0F0"/>
                </a:solidFill>
              </a:rPr>
              <a:t>brain</a:t>
            </a:r>
            <a:r>
              <a:rPr lang="en-GB" u="sng" dirty="0"/>
              <a:t>, </a:t>
            </a:r>
            <a:r>
              <a:rPr lang="en-GB" u="sng" dirty="0">
                <a:solidFill>
                  <a:srgbClr val="00B0F0"/>
                </a:solidFill>
              </a:rPr>
              <a:t>heart</a:t>
            </a:r>
            <a:r>
              <a:rPr lang="en-GB" u="sng" dirty="0"/>
              <a:t> or the </a:t>
            </a:r>
            <a:r>
              <a:rPr lang="en-GB" u="sng" dirty="0">
                <a:solidFill>
                  <a:srgbClr val="00B0F0"/>
                </a:solidFill>
              </a:rPr>
              <a:t>eye</a:t>
            </a:r>
            <a:endParaRPr lang="en-US" u="sng" dirty="0">
              <a:solidFill>
                <a:srgbClr val="00B0F0"/>
              </a:solidFill>
            </a:endParaRPr>
          </a:p>
          <a:p>
            <a:pPr marL="0" indent="0">
              <a:buNone/>
            </a:pPr>
            <a:endParaRPr lang="en-US" dirty="0"/>
          </a:p>
        </p:txBody>
      </p:sp>
    </p:spTree>
    <p:extLst>
      <p:ext uri="{BB962C8B-B14F-4D97-AF65-F5344CB8AC3E}">
        <p14:creationId xmlns:p14="http://schemas.microsoft.com/office/powerpoint/2010/main" val="1416525214"/>
      </p:ext>
    </p:extLst>
  </p:cSld>
  <p:clrMapOvr>
    <a:masterClrMapping/>
  </p:clrMapOvr>
</p:sld>
</file>

<file path=ppt/slides/slide2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t>Pathology of </a:t>
            </a:r>
            <a:r>
              <a:rPr lang="en-GB" b="1" i="1" u="sng" dirty="0">
                <a:solidFill>
                  <a:srgbClr val="FF3399"/>
                </a:solidFill>
              </a:rPr>
              <a:t>Taenia solium </a:t>
            </a:r>
            <a:r>
              <a:rPr lang="en-GB" b="1" i="1" dirty="0"/>
              <a:t>Cont’d</a:t>
            </a:r>
            <a:endParaRPr lang="en-US" dirty="0"/>
          </a:p>
        </p:txBody>
      </p:sp>
      <p:sp>
        <p:nvSpPr>
          <p:cNvPr id="3" name="Content Placeholder 2"/>
          <p:cNvSpPr>
            <a:spLocks noGrp="1"/>
          </p:cNvSpPr>
          <p:nvPr>
            <p:ph idx="1"/>
          </p:nvPr>
        </p:nvSpPr>
        <p:spPr>
          <a:xfrm>
            <a:off x="457200" y="1600200"/>
            <a:ext cx="8229600" cy="5029200"/>
          </a:xfrm>
        </p:spPr>
        <p:txBody>
          <a:bodyPr>
            <a:normAutofit fontScale="92500"/>
          </a:bodyPr>
          <a:lstStyle/>
          <a:p>
            <a:pPr lvl="0">
              <a:buFont typeface="Wingdings" pitchFamily="2" charset="2"/>
              <a:buChar char="v"/>
            </a:pPr>
            <a:r>
              <a:rPr lang="en-GB" u="sng" dirty="0">
                <a:solidFill>
                  <a:schemeClr val="accent6">
                    <a:lumMod val="75000"/>
                  </a:schemeClr>
                </a:solidFill>
              </a:rPr>
              <a:t>Cysticerci</a:t>
            </a:r>
            <a:r>
              <a:rPr lang="en-GB" u="sng" dirty="0"/>
              <a:t> apparently evade a host’s defences by </a:t>
            </a:r>
            <a:r>
              <a:rPr lang="en-GB" u="sng" dirty="0">
                <a:solidFill>
                  <a:schemeClr val="tx2">
                    <a:lumMod val="40000"/>
                    <a:lumOff val="60000"/>
                  </a:schemeClr>
                </a:solidFill>
              </a:rPr>
              <a:t>down modulating its immune response</a:t>
            </a:r>
            <a:r>
              <a:rPr lang="en-GB" dirty="0"/>
              <a:t>( </a:t>
            </a:r>
            <a:r>
              <a:rPr lang="en-GB" dirty="0">
                <a:solidFill>
                  <a:schemeClr val="tx2">
                    <a:lumMod val="40000"/>
                    <a:lumOff val="60000"/>
                  </a:schemeClr>
                </a:solidFill>
              </a:rPr>
              <a:t>T cell proliferation and cytokine production</a:t>
            </a:r>
            <a:r>
              <a:rPr lang="en-GB" dirty="0"/>
              <a:t>): </a:t>
            </a:r>
          </a:p>
          <a:p>
            <a:pPr lvl="0">
              <a:buFont typeface="Wingdings" pitchFamily="2" charset="2"/>
              <a:buChar char="v"/>
            </a:pPr>
            <a:r>
              <a:rPr lang="en-GB" dirty="0"/>
              <a:t>A </a:t>
            </a:r>
            <a:r>
              <a:rPr lang="en-GB" dirty="0">
                <a:solidFill>
                  <a:srgbClr val="92D050"/>
                </a:solidFill>
              </a:rPr>
              <a:t>cysteine protease </a:t>
            </a:r>
            <a:r>
              <a:rPr lang="en-GB" dirty="0"/>
              <a:t>from </a:t>
            </a:r>
            <a:r>
              <a:rPr lang="en-GB" i="1" dirty="0">
                <a:solidFill>
                  <a:srgbClr val="FF3399"/>
                </a:solidFill>
              </a:rPr>
              <a:t>T. solium</a:t>
            </a:r>
            <a:r>
              <a:rPr lang="en-GB" dirty="0">
                <a:solidFill>
                  <a:srgbClr val="FF3399"/>
                </a:solidFill>
              </a:rPr>
              <a:t> metacestodes</a:t>
            </a:r>
            <a:r>
              <a:rPr lang="en-GB" dirty="0"/>
              <a:t> induce (SIC) </a:t>
            </a:r>
            <a:r>
              <a:rPr lang="en-GB" b="1" dirty="0"/>
              <a:t>apoptosis in human CD</a:t>
            </a:r>
            <a:r>
              <a:rPr lang="en-GB" b="1" baseline="-25000" dirty="0"/>
              <a:t>4</a:t>
            </a:r>
            <a:r>
              <a:rPr lang="en-GB" b="1" baseline="30000" dirty="0"/>
              <a:t>+</a:t>
            </a:r>
            <a:r>
              <a:rPr lang="en-GB" b="1" dirty="0"/>
              <a:t> T cells</a:t>
            </a:r>
            <a:endParaRPr lang="en-US" b="1" dirty="0"/>
          </a:p>
          <a:p>
            <a:pPr lvl="0">
              <a:buFont typeface="Wingdings" pitchFamily="2" charset="2"/>
              <a:buChar char="v"/>
            </a:pPr>
            <a:r>
              <a:rPr lang="en-GB" dirty="0"/>
              <a:t>However, </a:t>
            </a:r>
            <a:r>
              <a:rPr lang="en-GB" dirty="0">
                <a:solidFill>
                  <a:schemeClr val="accent6">
                    <a:lumMod val="75000"/>
                  </a:schemeClr>
                </a:solidFill>
              </a:rPr>
              <a:t>when a</a:t>
            </a:r>
            <a:r>
              <a:rPr lang="en-GB" dirty="0"/>
              <a:t> </a:t>
            </a:r>
            <a:r>
              <a:rPr lang="en-GB" dirty="0">
                <a:solidFill>
                  <a:schemeClr val="accent6">
                    <a:lumMod val="75000"/>
                  </a:schemeClr>
                </a:solidFill>
              </a:rPr>
              <a:t>cysticercus dies</a:t>
            </a:r>
            <a:r>
              <a:rPr lang="en-GB" dirty="0"/>
              <a:t>, </a:t>
            </a:r>
            <a:r>
              <a:rPr lang="en-GB" u="sng" dirty="0"/>
              <a:t>there is elicited a rather severe inflammatory response, many of which may be rapidly fatal to the host</a:t>
            </a:r>
            <a:r>
              <a:rPr lang="en-GB" dirty="0"/>
              <a:t>,</a:t>
            </a:r>
          </a:p>
          <a:p>
            <a:pPr lvl="0">
              <a:buFont typeface="Wingdings" pitchFamily="2" charset="2"/>
              <a:buChar char="v"/>
            </a:pPr>
            <a:r>
              <a:rPr lang="en-GB" dirty="0"/>
              <a:t> </a:t>
            </a:r>
            <a:r>
              <a:rPr lang="en-GB" b="1" dirty="0"/>
              <a:t>especially</a:t>
            </a:r>
            <a:r>
              <a:rPr lang="en-GB" dirty="0"/>
              <a:t> </a:t>
            </a:r>
            <a:r>
              <a:rPr lang="en-GB" u="sng" dirty="0"/>
              <a:t>if the worms are located in the brain</a:t>
            </a:r>
            <a:endParaRPr lang="en-US" u="sng" dirty="0"/>
          </a:p>
          <a:p>
            <a:pPr>
              <a:buFont typeface="Wingdings" pitchFamily="2" charset="2"/>
              <a:buChar char="v"/>
            </a:pPr>
            <a:endParaRPr lang="en-US" dirty="0"/>
          </a:p>
        </p:txBody>
      </p:sp>
    </p:spTree>
    <p:extLst>
      <p:ext uri="{BB962C8B-B14F-4D97-AF65-F5344CB8AC3E}">
        <p14:creationId xmlns:p14="http://schemas.microsoft.com/office/powerpoint/2010/main" val="3951435866"/>
      </p:ext>
    </p:extLst>
  </p:cSld>
  <p:clrMapOvr>
    <a:masterClrMapping/>
  </p:clrMapOvr>
</p:sld>
</file>

<file path=ppt/slides/slide2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t>Pathology of </a:t>
            </a:r>
            <a:r>
              <a:rPr lang="en-GB" b="1" i="1" u="sng" dirty="0">
                <a:solidFill>
                  <a:srgbClr val="FF3399"/>
                </a:solidFill>
              </a:rPr>
              <a:t>Taenia solium </a:t>
            </a:r>
            <a:r>
              <a:rPr lang="en-GB" b="1" i="1" dirty="0"/>
              <a:t>Cont’d</a:t>
            </a:r>
            <a:endParaRPr lang="en-US" dirty="0"/>
          </a:p>
        </p:txBody>
      </p:sp>
      <p:sp>
        <p:nvSpPr>
          <p:cNvPr id="3" name="Content Placeholder 2"/>
          <p:cNvSpPr>
            <a:spLocks noGrp="1"/>
          </p:cNvSpPr>
          <p:nvPr>
            <p:ph idx="1"/>
          </p:nvPr>
        </p:nvSpPr>
        <p:spPr/>
        <p:txBody>
          <a:bodyPr/>
          <a:lstStyle/>
          <a:p>
            <a:pPr lvl="0"/>
            <a:endParaRPr lang="en-GB" dirty="0"/>
          </a:p>
          <a:p>
            <a:pPr lvl="0">
              <a:buFont typeface="Wingdings" pitchFamily="2" charset="2"/>
              <a:buChar char="v"/>
            </a:pPr>
            <a:r>
              <a:rPr lang="en-GB" u="sng" dirty="0"/>
              <a:t>Other types of cellular reactions occur, usually resulting in </a:t>
            </a:r>
            <a:r>
              <a:rPr lang="en-GB" u="sng" dirty="0">
                <a:solidFill>
                  <a:srgbClr val="7030A0"/>
                </a:solidFill>
              </a:rPr>
              <a:t>eventual encapsulating of the worm</a:t>
            </a:r>
            <a:r>
              <a:rPr lang="en-GB" u="sng" dirty="0"/>
              <a:t>; </a:t>
            </a:r>
            <a:r>
              <a:rPr lang="en-GB" b="1" u="sng" dirty="0"/>
              <a:t>if this occurs in the eye</a:t>
            </a:r>
            <a:r>
              <a:rPr lang="en-GB" u="sng" dirty="0"/>
              <a:t>, </a:t>
            </a:r>
            <a:r>
              <a:rPr lang="en-GB" u="sng" dirty="0">
                <a:solidFill>
                  <a:srgbClr val="FF0000"/>
                </a:solidFill>
              </a:rPr>
              <a:t>there is little chance of corrective surgery</a:t>
            </a:r>
            <a:endParaRPr lang="en-US" u="sng" dirty="0">
              <a:solidFill>
                <a:srgbClr val="FF0000"/>
              </a:solidFill>
            </a:endParaRPr>
          </a:p>
          <a:p>
            <a:pPr marL="0" indent="0">
              <a:buNone/>
            </a:pPr>
            <a:endParaRPr lang="en-US" dirty="0"/>
          </a:p>
        </p:txBody>
      </p:sp>
    </p:spTree>
    <p:extLst>
      <p:ext uri="{BB962C8B-B14F-4D97-AF65-F5344CB8AC3E}">
        <p14:creationId xmlns:p14="http://schemas.microsoft.com/office/powerpoint/2010/main" val="3391024249"/>
      </p:ext>
    </p:extLst>
  </p:cSld>
  <p:clrMapOvr>
    <a:masterClrMapping/>
  </p:clrMapOvr>
</p:sld>
</file>

<file path=ppt/slides/slide2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t>Pathology of </a:t>
            </a:r>
            <a:r>
              <a:rPr lang="en-GB" b="1" i="1" u="sng" dirty="0">
                <a:solidFill>
                  <a:srgbClr val="FF3399"/>
                </a:solidFill>
              </a:rPr>
              <a:t>Taenia solium </a:t>
            </a:r>
            <a:r>
              <a:rPr lang="en-GB" b="1" i="1" dirty="0"/>
              <a:t>Cont’d</a:t>
            </a: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dirty="0"/>
              <a:t>There are </a:t>
            </a:r>
            <a:r>
              <a:rPr lang="en-GB" dirty="0">
                <a:solidFill>
                  <a:srgbClr val="FF0000"/>
                </a:solidFill>
              </a:rPr>
              <a:t>three distinct morphological types </a:t>
            </a:r>
            <a:r>
              <a:rPr lang="en-GB" dirty="0"/>
              <a:t>of </a:t>
            </a:r>
            <a:r>
              <a:rPr lang="en-GB" dirty="0">
                <a:solidFill>
                  <a:srgbClr val="C00000"/>
                </a:solidFill>
              </a:rPr>
              <a:t>cysticerci</a:t>
            </a:r>
            <a:r>
              <a:rPr lang="en-GB" dirty="0"/>
              <a:t>; the </a:t>
            </a:r>
            <a:r>
              <a:rPr lang="en-GB" u="sng" dirty="0"/>
              <a:t>most common </a:t>
            </a:r>
            <a:r>
              <a:rPr lang="en-GB" dirty="0"/>
              <a:t>is the </a:t>
            </a:r>
            <a:r>
              <a:rPr lang="en-GB" dirty="0">
                <a:solidFill>
                  <a:srgbClr val="C00000"/>
                </a:solidFill>
              </a:rPr>
              <a:t>ordinary </a:t>
            </a:r>
            <a:r>
              <a:rPr lang="en-GB" dirty="0"/>
              <a:t>“</a:t>
            </a:r>
            <a:r>
              <a:rPr lang="en-GB" dirty="0">
                <a:solidFill>
                  <a:srgbClr val="C00000"/>
                </a:solidFill>
              </a:rPr>
              <a:t>cellulose cysticerci</a:t>
            </a:r>
            <a:r>
              <a:rPr lang="en-GB" dirty="0"/>
              <a:t>”</a:t>
            </a:r>
            <a:r>
              <a:rPr lang="en-GB" u="sng" dirty="0"/>
              <a:t> with an </a:t>
            </a:r>
            <a:r>
              <a:rPr lang="en-GB" u="sng" dirty="0">
                <a:solidFill>
                  <a:srgbClr val="7030A0"/>
                </a:solidFill>
              </a:rPr>
              <a:t>invaginated scolex</a:t>
            </a:r>
            <a:r>
              <a:rPr lang="en-GB" u="sng" dirty="0"/>
              <a:t> and a </a:t>
            </a:r>
            <a:r>
              <a:rPr lang="en-GB" u="sng" dirty="0">
                <a:solidFill>
                  <a:srgbClr val="7030A0"/>
                </a:solidFill>
              </a:rPr>
              <a:t>fluid filled bladder </a:t>
            </a:r>
            <a:r>
              <a:rPr lang="en-GB" u="sng" dirty="0"/>
              <a:t>(0.5 cm - 1.5cm in diameter); </a:t>
            </a:r>
          </a:p>
          <a:p>
            <a:pPr lvl="0">
              <a:buFont typeface="Wingdings" pitchFamily="2" charset="2"/>
              <a:buChar char="v"/>
            </a:pPr>
            <a:r>
              <a:rPr lang="en-GB" dirty="0"/>
              <a:t>the </a:t>
            </a:r>
            <a:r>
              <a:rPr lang="en-GB" b="1" dirty="0"/>
              <a:t>next</a:t>
            </a:r>
            <a:r>
              <a:rPr lang="en-GB" dirty="0"/>
              <a:t> is the </a:t>
            </a:r>
            <a:r>
              <a:rPr lang="en-GB" dirty="0">
                <a:solidFill>
                  <a:srgbClr val="C00000"/>
                </a:solidFill>
              </a:rPr>
              <a:t>intermediate form of the scolex </a:t>
            </a:r>
            <a:r>
              <a:rPr lang="en-GB" dirty="0"/>
              <a:t>and the </a:t>
            </a:r>
          </a:p>
        </p:txBody>
      </p:sp>
    </p:spTree>
    <p:extLst>
      <p:ext uri="{BB962C8B-B14F-4D97-AF65-F5344CB8AC3E}">
        <p14:creationId xmlns:p14="http://schemas.microsoft.com/office/powerpoint/2010/main" val="1721840747"/>
      </p:ext>
    </p:extLst>
  </p:cSld>
  <p:clrMapOvr>
    <a:masterClrMapping/>
  </p:clrMapOvr>
</p:sld>
</file>

<file path=ppt/slides/slide3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u="sng" dirty="0"/>
              <a:t>Pathology of </a:t>
            </a:r>
            <a:r>
              <a:rPr lang="en-GB" b="1" i="1" u="sng" dirty="0">
                <a:solidFill>
                  <a:srgbClr val="FF3399"/>
                </a:solidFill>
              </a:rPr>
              <a:t>Taenia solium </a:t>
            </a:r>
            <a:r>
              <a:rPr lang="en-GB" b="1" i="1" dirty="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endParaRPr lang="en-GB" dirty="0"/>
          </a:p>
          <a:p>
            <a:pPr lvl="0">
              <a:buFont typeface="Wingdings" pitchFamily="2" charset="2"/>
              <a:buChar char="v"/>
            </a:pPr>
            <a:r>
              <a:rPr lang="en-GB" b="1" dirty="0"/>
              <a:t>third</a:t>
            </a:r>
            <a:r>
              <a:rPr lang="en-GB" dirty="0"/>
              <a:t> is </a:t>
            </a:r>
            <a:r>
              <a:rPr lang="en-GB" dirty="0">
                <a:solidFill>
                  <a:srgbClr val="C00000"/>
                </a:solidFill>
              </a:rPr>
              <a:t>racemose</a:t>
            </a:r>
            <a:r>
              <a:rPr lang="en-GB" dirty="0"/>
              <a:t> with </a:t>
            </a:r>
            <a:r>
              <a:rPr lang="en-GB" dirty="0">
                <a:solidFill>
                  <a:srgbClr val="7030A0"/>
                </a:solidFill>
              </a:rPr>
              <a:t>no evident Scolex</a:t>
            </a:r>
            <a:r>
              <a:rPr lang="en-GB" dirty="0"/>
              <a:t>, both of which are larger and more dangerous- they may measure up to 20cm and may contain 60ml of fluid. </a:t>
            </a:r>
          </a:p>
          <a:p>
            <a:pPr lvl="0">
              <a:buFont typeface="Wingdings" pitchFamily="2" charset="2"/>
              <a:buChar char="v"/>
            </a:pPr>
            <a:r>
              <a:rPr lang="en-GB" u="sng" dirty="0"/>
              <a:t>Up to 13% of patients may have all three types in the brain</a:t>
            </a:r>
            <a:r>
              <a:rPr lang="en-GB" dirty="0"/>
              <a:t>.</a:t>
            </a:r>
            <a:endParaRPr lang="en-US" dirty="0"/>
          </a:p>
          <a:p>
            <a:pPr marL="0" indent="0">
              <a:buNone/>
            </a:pPr>
            <a:endParaRPr lang="en-US" dirty="0"/>
          </a:p>
          <a:p>
            <a:endParaRPr lang="en-US" dirty="0"/>
          </a:p>
        </p:txBody>
      </p:sp>
    </p:spTree>
    <p:extLst>
      <p:ext uri="{BB962C8B-B14F-4D97-AF65-F5344CB8AC3E}">
        <p14:creationId xmlns:p14="http://schemas.microsoft.com/office/powerpoint/2010/main" val="605073521"/>
      </p:ext>
    </p:extLst>
  </p:cSld>
  <p:clrMapOvr>
    <a:masterClrMapping/>
  </p:clrMapOvr>
</p:sld>
</file>

<file path=ppt/slides/slide3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00B050"/>
                </a:solidFill>
              </a:rPr>
              <a:t>Control and Prevention</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dirty="0"/>
              <a:t>Prevention depends on </a:t>
            </a:r>
            <a:r>
              <a:rPr lang="en-GB" dirty="0">
                <a:solidFill>
                  <a:srgbClr val="00B050"/>
                </a:solidFill>
              </a:rPr>
              <a:t>early detection and elimination of the adult tapeworm, and a high level of personal hygiene</a:t>
            </a:r>
            <a:endParaRPr lang="en-US" dirty="0">
              <a:solidFill>
                <a:srgbClr val="00B050"/>
              </a:solidFill>
            </a:endParaRPr>
          </a:p>
          <a:p>
            <a:pPr lvl="0">
              <a:buFont typeface="Wingdings" pitchFamily="2" charset="2"/>
              <a:buChar char="v"/>
            </a:pPr>
            <a:r>
              <a:rPr lang="en-GB" dirty="0">
                <a:solidFill>
                  <a:srgbClr val="FF0000"/>
                </a:solidFill>
              </a:rPr>
              <a:t>Faecal contamination of food and water </a:t>
            </a:r>
            <a:r>
              <a:rPr lang="en-GB" dirty="0">
                <a:solidFill>
                  <a:srgbClr val="00B050"/>
                </a:solidFill>
              </a:rPr>
              <a:t>must be avoided</a:t>
            </a:r>
            <a:r>
              <a:rPr lang="en-GB" dirty="0"/>
              <a:t>.</a:t>
            </a:r>
          </a:p>
          <a:p>
            <a:pPr lvl="0">
              <a:buFont typeface="Wingdings" pitchFamily="2" charset="2"/>
              <a:buChar char="v"/>
            </a:pPr>
            <a:r>
              <a:rPr lang="en-GB" dirty="0"/>
              <a:t> And </a:t>
            </a:r>
            <a:r>
              <a:rPr lang="en-GB" dirty="0">
                <a:solidFill>
                  <a:srgbClr val="FF0000"/>
                </a:solidFill>
              </a:rPr>
              <a:t>the use of untreated sewage on vegetable gardens </a:t>
            </a:r>
            <a:r>
              <a:rPr lang="en-GB" dirty="0">
                <a:solidFill>
                  <a:srgbClr val="00B050"/>
                </a:solidFill>
              </a:rPr>
              <a:t>ceased</a:t>
            </a:r>
            <a:endParaRPr lang="en-US" dirty="0">
              <a:solidFill>
                <a:srgbClr val="00B050"/>
              </a:solidFill>
            </a:endParaRPr>
          </a:p>
        </p:txBody>
      </p:sp>
    </p:spTree>
    <p:extLst>
      <p:ext uri="{BB962C8B-B14F-4D97-AF65-F5344CB8AC3E}">
        <p14:creationId xmlns:p14="http://schemas.microsoft.com/office/powerpoint/2010/main" val="2269900292"/>
      </p:ext>
    </p:extLst>
  </p:cSld>
  <p:clrMapOvr>
    <a:masterClrMapping/>
  </p:clrMapOvr>
</p:sld>
</file>

<file path=ppt/slides/slide3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a:solidFill>
                  <a:srgbClr val="00B050"/>
                </a:solidFill>
              </a:rPr>
              <a:t>Control and Prevention</a:t>
            </a:r>
            <a:endParaRPr lang="en-US" dirty="0">
              <a:solidFill>
                <a:srgbClr val="00B050"/>
              </a:solidFill>
            </a:endParaRPr>
          </a:p>
        </p:txBody>
      </p:sp>
      <p:sp>
        <p:nvSpPr>
          <p:cNvPr id="3" name="Content Placeholder 2"/>
          <p:cNvSpPr>
            <a:spLocks noGrp="1"/>
          </p:cNvSpPr>
          <p:nvPr>
            <p:ph idx="1"/>
          </p:nvPr>
        </p:nvSpPr>
        <p:spPr/>
        <p:txBody>
          <a:bodyPr/>
          <a:lstStyle/>
          <a:p>
            <a:pPr lvl="0"/>
            <a:endParaRPr lang="en-GB" dirty="0"/>
          </a:p>
          <a:p>
            <a:pPr lvl="0">
              <a:buFont typeface="Wingdings" pitchFamily="2" charset="2"/>
              <a:buChar char="v"/>
            </a:pPr>
            <a:r>
              <a:rPr lang="en-GB" dirty="0">
                <a:solidFill>
                  <a:srgbClr val="00B050"/>
                </a:solidFill>
              </a:rPr>
              <a:t>Food handling should be done hygienically</a:t>
            </a:r>
            <a:r>
              <a:rPr lang="en-GB" dirty="0"/>
              <a:t>.</a:t>
            </a:r>
            <a:endParaRPr lang="en-US" dirty="0"/>
          </a:p>
          <a:p>
            <a:pPr lvl="0">
              <a:buFont typeface="Wingdings" pitchFamily="2" charset="2"/>
              <a:buChar char="v"/>
            </a:pPr>
            <a:endParaRPr lang="en-GB" dirty="0"/>
          </a:p>
          <a:p>
            <a:pPr lvl="0">
              <a:buFont typeface="Wingdings" pitchFamily="2" charset="2"/>
              <a:buChar char="v"/>
            </a:pPr>
            <a:r>
              <a:rPr lang="en-GB" dirty="0">
                <a:solidFill>
                  <a:srgbClr val="FF0000"/>
                </a:solidFill>
              </a:rPr>
              <a:t>Free-range defecation in community with pigs </a:t>
            </a:r>
            <a:r>
              <a:rPr lang="en-GB" dirty="0">
                <a:solidFill>
                  <a:srgbClr val="00B050"/>
                </a:solidFill>
              </a:rPr>
              <a:t>must be desisted from.</a:t>
            </a:r>
            <a:endParaRPr lang="en-US" dirty="0">
              <a:solidFill>
                <a:srgbClr val="00B050"/>
              </a:solidFill>
            </a:endParaRPr>
          </a:p>
          <a:p>
            <a:endParaRPr lang="en-US" dirty="0"/>
          </a:p>
          <a:p>
            <a:endParaRPr lang="en-US" dirty="0"/>
          </a:p>
        </p:txBody>
      </p:sp>
    </p:spTree>
    <p:extLst>
      <p:ext uri="{BB962C8B-B14F-4D97-AF65-F5344CB8AC3E}">
        <p14:creationId xmlns:p14="http://schemas.microsoft.com/office/powerpoint/2010/main" val="2905694665"/>
      </p:ext>
    </p:extLst>
  </p:cSld>
  <p:clrMapOvr>
    <a:masterClrMapping/>
  </p:clrMapOvr>
</p:sld>
</file>

<file path=ppt/slides/slide3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Diagnosis of </a:t>
            </a:r>
            <a:r>
              <a:rPr lang="en-GB" b="1" i="1" u="sng" dirty="0">
                <a:solidFill>
                  <a:srgbClr val="FF3399"/>
                </a:solidFill>
              </a:rPr>
              <a:t>Taenia solium </a:t>
            </a:r>
            <a:r>
              <a:rPr lang="en-GB" b="1" i="1" dirty="0"/>
              <a:t>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solidFill>
                  <a:srgbClr val="00B050"/>
                </a:solidFill>
              </a:rPr>
              <a:t>ELISA</a:t>
            </a:r>
            <a:r>
              <a:rPr lang="en-GB" dirty="0"/>
              <a:t> </a:t>
            </a:r>
            <a:r>
              <a:rPr lang="en-GB" dirty="0">
                <a:solidFill>
                  <a:srgbClr val="00B050"/>
                </a:solidFill>
              </a:rPr>
              <a:t>based tests </a:t>
            </a:r>
            <a:r>
              <a:rPr lang="en-GB" b="1" u="sng" dirty="0"/>
              <a:t>using antigens of </a:t>
            </a:r>
            <a:r>
              <a:rPr lang="en-GB" b="1" i="1" u="sng" dirty="0">
                <a:solidFill>
                  <a:srgbClr val="FF3399"/>
                </a:solidFill>
              </a:rPr>
              <a:t>T. solium</a:t>
            </a:r>
            <a:r>
              <a:rPr lang="en-GB" b="1" u="sng" dirty="0">
                <a:solidFill>
                  <a:srgbClr val="FF3399"/>
                </a:solidFill>
              </a:rPr>
              <a:t> </a:t>
            </a:r>
            <a:r>
              <a:rPr lang="en-GB" b="1" u="sng" dirty="0"/>
              <a:t>in faeces </a:t>
            </a:r>
            <a:r>
              <a:rPr lang="en-GB" u="sng" dirty="0"/>
              <a:t>have been found more sensitive than microscopy</a:t>
            </a:r>
            <a:r>
              <a:rPr lang="en-GB" dirty="0"/>
              <a:t>.</a:t>
            </a:r>
            <a:endParaRPr lang="en-US" dirty="0"/>
          </a:p>
          <a:p>
            <a:pPr lvl="0">
              <a:buFont typeface="Wingdings" pitchFamily="2" charset="2"/>
              <a:buChar char="v"/>
            </a:pPr>
            <a:r>
              <a:rPr lang="en-GB" dirty="0"/>
              <a:t>A very </a:t>
            </a:r>
            <a:r>
              <a:rPr lang="en-GB" b="1" dirty="0"/>
              <a:t>sensitive</a:t>
            </a:r>
            <a:r>
              <a:rPr lang="en-GB" dirty="0"/>
              <a:t> and </a:t>
            </a:r>
            <a:r>
              <a:rPr lang="en-GB" b="1" dirty="0"/>
              <a:t>specific</a:t>
            </a:r>
            <a:r>
              <a:rPr lang="en-GB" dirty="0"/>
              <a:t> </a:t>
            </a:r>
            <a:r>
              <a:rPr lang="en-GB" dirty="0">
                <a:solidFill>
                  <a:srgbClr val="00B050"/>
                </a:solidFill>
              </a:rPr>
              <a:t>Enzyme-linked Immune-detection transfer Blot </a:t>
            </a:r>
            <a:r>
              <a:rPr lang="en-GB" dirty="0"/>
              <a:t>(</a:t>
            </a:r>
            <a:r>
              <a:rPr lang="en-GB" dirty="0">
                <a:solidFill>
                  <a:srgbClr val="00B050"/>
                </a:solidFill>
              </a:rPr>
              <a:t>EITB</a:t>
            </a:r>
            <a:r>
              <a:rPr lang="en-GB" dirty="0"/>
              <a:t>) </a:t>
            </a:r>
            <a:r>
              <a:rPr lang="en-GB" dirty="0">
                <a:solidFill>
                  <a:srgbClr val="00B050"/>
                </a:solidFill>
              </a:rPr>
              <a:t>test</a:t>
            </a:r>
            <a:r>
              <a:rPr lang="en-GB" dirty="0"/>
              <a:t> </a:t>
            </a:r>
            <a:r>
              <a:rPr lang="en-GB" b="1" u="sng" dirty="0"/>
              <a:t>for serum antibody </a:t>
            </a:r>
            <a:r>
              <a:rPr lang="en-GB" u="sng" dirty="0"/>
              <a:t>is available and can detect 98% of parasitologically proven cases in two or more cases and 60% - 80% of patients with only one lesion</a:t>
            </a:r>
            <a:endParaRPr lang="en-US" u="sng" dirty="0"/>
          </a:p>
          <a:p>
            <a:endParaRPr lang="en-US" dirty="0"/>
          </a:p>
        </p:txBody>
      </p:sp>
    </p:spTree>
    <p:extLst>
      <p:ext uri="{BB962C8B-B14F-4D97-AF65-F5344CB8AC3E}">
        <p14:creationId xmlns:p14="http://schemas.microsoft.com/office/powerpoint/2010/main" val="2637838819"/>
      </p:ext>
    </p:extLst>
  </p:cSld>
  <p:clrMapOvr>
    <a:masterClrMapping/>
  </p:clrMapOvr>
</p:sld>
</file>

<file path=ppt/slides/slide3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Distribution of </a:t>
            </a:r>
            <a:r>
              <a:rPr lang="en-GB" b="1" i="1" u="sng" dirty="0">
                <a:solidFill>
                  <a:srgbClr val="FF3399"/>
                </a:solidFill>
              </a:rPr>
              <a:t>Taenia solium </a:t>
            </a:r>
            <a:br>
              <a:rPr lang="en-US" dirty="0"/>
            </a:br>
            <a:endParaRPr lang="en-US" dirty="0"/>
          </a:p>
        </p:txBody>
      </p:sp>
      <p:sp>
        <p:nvSpPr>
          <p:cNvPr id="3" name="Content Placeholder 2"/>
          <p:cNvSpPr>
            <a:spLocks noGrp="1"/>
          </p:cNvSpPr>
          <p:nvPr>
            <p:ph idx="1"/>
          </p:nvPr>
        </p:nvSpPr>
        <p:spPr/>
        <p:txBody>
          <a:bodyPr/>
          <a:lstStyle/>
          <a:p>
            <a:pPr lvl="0"/>
            <a:endParaRPr lang="en-GB" dirty="0"/>
          </a:p>
          <a:p>
            <a:pPr lvl="0">
              <a:buFont typeface="Wingdings" pitchFamily="2" charset="2"/>
              <a:buChar char="v"/>
            </a:pPr>
            <a:r>
              <a:rPr lang="en-GB" dirty="0">
                <a:solidFill>
                  <a:srgbClr val="FF0000"/>
                </a:solidFill>
              </a:rPr>
              <a:t>Cysticercosis</a:t>
            </a:r>
            <a:r>
              <a:rPr lang="en-GB" dirty="0"/>
              <a:t> due to </a:t>
            </a:r>
            <a:r>
              <a:rPr lang="en-GB" i="1" dirty="0">
                <a:solidFill>
                  <a:srgbClr val="FF3399"/>
                </a:solidFill>
              </a:rPr>
              <a:t>T. solium</a:t>
            </a:r>
            <a:r>
              <a:rPr lang="en-GB" dirty="0">
                <a:solidFill>
                  <a:srgbClr val="FF3399"/>
                </a:solidFill>
              </a:rPr>
              <a:t> </a:t>
            </a:r>
            <a:r>
              <a:rPr lang="en-GB" u="sng" dirty="0"/>
              <a:t>is highly endemic in Mexico, Central and much of South America, much of Africa (Sub Saharan), India, China and parts of Eastern Asia</a:t>
            </a:r>
            <a:endParaRPr lang="en-US" u="sng" dirty="0"/>
          </a:p>
          <a:p>
            <a:endParaRPr lang="en-US" dirty="0"/>
          </a:p>
        </p:txBody>
      </p:sp>
    </p:spTree>
    <p:extLst>
      <p:ext uri="{BB962C8B-B14F-4D97-AF65-F5344CB8AC3E}">
        <p14:creationId xmlns:p14="http://schemas.microsoft.com/office/powerpoint/2010/main" val="1198816378"/>
      </p:ext>
    </p:extLst>
  </p:cSld>
  <p:clrMapOvr>
    <a:masterClrMapping/>
  </p:clrMapOvr>
</p:sld>
</file>

<file path=ppt/slides/slide3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FF3399"/>
                </a:solidFill>
              </a:rPr>
              <a:t>Echinococcus granulosus</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t>The genus contain the </a:t>
            </a:r>
            <a:r>
              <a:rPr lang="en-GB" dirty="0">
                <a:solidFill>
                  <a:schemeClr val="accent6">
                    <a:lumMod val="75000"/>
                  </a:schemeClr>
                </a:solidFill>
              </a:rPr>
              <a:t>smallest tapeworms </a:t>
            </a:r>
            <a:r>
              <a:rPr lang="en-GB" dirty="0"/>
              <a:t>in the family </a:t>
            </a:r>
            <a:r>
              <a:rPr lang="en-GB" dirty="0">
                <a:solidFill>
                  <a:srgbClr val="00B0F0"/>
                </a:solidFill>
              </a:rPr>
              <a:t>Taeniidae</a:t>
            </a:r>
            <a:r>
              <a:rPr lang="en-GB" dirty="0"/>
              <a:t>, </a:t>
            </a:r>
            <a:r>
              <a:rPr lang="en-GB" u="sng" dirty="0"/>
              <a:t>however, the juveniles(young ones) often form </a:t>
            </a:r>
            <a:r>
              <a:rPr lang="en-GB" u="sng" dirty="0">
                <a:solidFill>
                  <a:srgbClr val="FFC000"/>
                </a:solidFill>
              </a:rPr>
              <a:t>huge cysts </a:t>
            </a:r>
            <a:r>
              <a:rPr lang="en-GB" u="sng" dirty="0"/>
              <a:t>and are capable of infecting humans</a:t>
            </a:r>
            <a:r>
              <a:rPr lang="en-GB" dirty="0"/>
              <a:t>.</a:t>
            </a:r>
            <a:endParaRPr lang="en-US" dirty="0"/>
          </a:p>
          <a:p>
            <a:pPr lvl="0">
              <a:buFont typeface="Wingdings" pitchFamily="2" charset="2"/>
              <a:buChar char="v"/>
            </a:pPr>
            <a:r>
              <a:rPr lang="en-GB" dirty="0"/>
              <a:t>The species causes </a:t>
            </a:r>
            <a:r>
              <a:rPr lang="en-GB" dirty="0">
                <a:solidFill>
                  <a:srgbClr val="FF0000"/>
                </a:solidFill>
              </a:rPr>
              <a:t>cystic echinococcosis </a:t>
            </a:r>
            <a:r>
              <a:rPr lang="en-GB" dirty="0"/>
              <a:t>and uses </a:t>
            </a:r>
            <a:r>
              <a:rPr lang="en-GB" dirty="0">
                <a:solidFill>
                  <a:srgbClr val="00B050"/>
                </a:solidFill>
              </a:rPr>
              <a:t>carnivores</a:t>
            </a:r>
            <a:r>
              <a:rPr lang="en-GB" dirty="0"/>
              <a:t> especially </a:t>
            </a:r>
            <a:r>
              <a:rPr lang="en-GB" dirty="0">
                <a:solidFill>
                  <a:srgbClr val="00B050"/>
                </a:solidFill>
              </a:rPr>
              <a:t>dogs</a:t>
            </a:r>
            <a:r>
              <a:rPr lang="en-GB" dirty="0"/>
              <a:t> and </a:t>
            </a:r>
            <a:r>
              <a:rPr lang="en-GB" dirty="0">
                <a:solidFill>
                  <a:srgbClr val="00B050"/>
                </a:solidFill>
              </a:rPr>
              <a:t>other canine</a:t>
            </a:r>
            <a:r>
              <a:rPr lang="en-GB" dirty="0"/>
              <a:t> </a:t>
            </a:r>
            <a:r>
              <a:rPr lang="en-GB" dirty="0">
                <a:solidFill>
                  <a:srgbClr val="7030A0"/>
                </a:solidFill>
              </a:rPr>
              <a:t>definitive hosts</a:t>
            </a:r>
            <a:r>
              <a:rPr lang="en-GB" dirty="0"/>
              <a:t>.</a:t>
            </a:r>
          </a:p>
          <a:p>
            <a:pPr lvl="0">
              <a:buFont typeface="Wingdings" pitchFamily="2" charset="2"/>
              <a:buChar char="v"/>
            </a:pPr>
            <a:r>
              <a:rPr lang="en-GB" dirty="0"/>
              <a:t> However, </a:t>
            </a:r>
            <a:r>
              <a:rPr lang="en-GB" dirty="0">
                <a:solidFill>
                  <a:srgbClr val="00B050"/>
                </a:solidFill>
              </a:rPr>
              <a:t>many mammals </a:t>
            </a:r>
            <a:r>
              <a:rPr lang="en-GB" dirty="0"/>
              <a:t>may serve as </a:t>
            </a:r>
            <a:r>
              <a:rPr lang="en-GB" dirty="0">
                <a:solidFill>
                  <a:srgbClr val="7030A0"/>
                </a:solidFill>
              </a:rPr>
              <a:t>definitive host</a:t>
            </a:r>
            <a:endParaRPr lang="en-US" dirty="0">
              <a:solidFill>
                <a:srgbClr val="7030A0"/>
              </a:solidFill>
            </a:endParaRPr>
          </a:p>
        </p:txBody>
      </p:sp>
    </p:spTree>
    <p:extLst>
      <p:ext uri="{BB962C8B-B14F-4D97-AF65-F5344CB8AC3E}">
        <p14:creationId xmlns:p14="http://schemas.microsoft.com/office/powerpoint/2010/main" val="2840749406"/>
      </p:ext>
    </p:extLst>
  </p:cSld>
  <p:clrMapOvr>
    <a:masterClrMapping/>
  </p:clrMapOvr>
</p:sld>
</file>

<file path=ppt/slides/slide3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u="sng" dirty="0">
                <a:solidFill>
                  <a:srgbClr val="FF3399"/>
                </a:solidFill>
              </a:rPr>
              <a:t>Echinococcus granulosus </a:t>
            </a:r>
            <a:r>
              <a:rPr lang="en-GB" b="1" i="1" dirty="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u="sng" dirty="0"/>
              <a:t>Herbivore becomes </a:t>
            </a:r>
            <a:r>
              <a:rPr lang="en-GB" u="sng" dirty="0">
                <a:solidFill>
                  <a:srgbClr val="FF0000"/>
                </a:solidFill>
              </a:rPr>
              <a:t>infected </a:t>
            </a:r>
            <a:r>
              <a:rPr lang="en-GB" u="sng" dirty="0"/>
              <a:t>by eating herbage contaminated with the eggs</a:t>
            </a:r>
            <a:r>
              <a:rPr lang="en-GB" dirty="0"/>
              <a:t>.</a:t>
            </a:r>
          </a:p>
          <a:p>
            <a:pPr lvl="0">
              <a:buFont typeface="Wingdings" pitchFamily="2" charset="2"/>
              <a:buChar char="v"/>
            </a:pPr>
            <a:endParaRPr lang="en-US" dirty="0"/>
          </a:p>
          <a:p>
            <a:pPr marL="0" indent="0">
              <a:buNone/>
            </a:pPr>
            <a:endParaRPr lang="en-US" dirty="0"/>
          </a:p>
        </p:txBody>
      </p:sp>
    </p:spTree>
    <p:extLst>
      <p:ext uri="{BB962C8B-B14F-4D97-AF65-F5344CB8AC3E}">
        <p14:creationId xmlns:p14="http://schemas.microsoft.com/office/powerpoint/2010/main" val="2829565578"/>
      </p:ext>
    </p:extLst>
  </p:cSld>
  <p:clrMapOvr>
    <a:masterClrMapping/>
  </p:clrMapOvr>
</p:sld>
</file>

<file path=ppt/slides/slide3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FF0000"/>
                </a:solidFill>
              </a:rPr>
              <a:t>Life cycle, Transmission and Epidemiology</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u="sng" dirty="0"/>
              <a:t>Adults live in the </a:t>
            </a:r>
            <a:r>
              <a:rPr lang="en-GB" u="sng" dirty="0">
                <a:solidFill>
                  <a:schemeClr val="accent6">
                    <a:lumMod val="75000"/>
                  </a:schemeClr>
                </a:solidFill>
              </a:rPr>
              <a:t>small intestine </a:t>
            </a:r>
            <a:r>
              <a:rPr lang="en-GB" u="sng" dirty="0"/>
              <a:t>of their definitive host </a:t>
            </a:r>
            <a:r>
              <a:rPr lang="en-GB" dirty="0"/>
              <a:t>.</a:t>
            </a:r>
            <a:endParaRPr lang="en-US" dirty="0"/>
          </a:p>
          <a:p>
            <a:pPr lvl="0">
              <a:buFont typeface="Wingdings" pitchFamily="2" charset="2"/>
              <a:buChar char="v"/>
            </a:pPr>
            <a:r>
              <a:rPr lang="en-GB" u="sng" dirty="0"/>
              <a:t>Eggs are released when mature and capable of infecting an intermediate host</a:t>
            </a:r>
            <a:r>
              <a:rPr lang="en-GB" dirty="0"/>
              <a:t>.</a:t>
            </a:r>
            <a:endParaRPr lang="en-US" dirty="0"/>
          </a:p>
          <a:p>
            <a:pPr lvl="0">
              <a:buFont typeface="Wingdings" pitchFamily="2" charset="2"/>
              <a:buChar char="v"/>
            </a:pPr>
            <a:r>
              <a:rPr lang="en-GB" u="sng" dirty="0"/>
              <a:t>Hatching and migrating of </a:t>
            </a:r>
            <a:r>
              <a:rPr lang="en-GB" u="sng" dirty="0">
                <a:solidFill>
                  <a:srgbClr val="00B0F0"/>
                </a:solidFill>
              </a:rPr>
              <a:t>oncospheres</a:t>
            </a:r>
            <a:r>
              <a:rPr lang="en-GB" u="sng" dirty="0"/>
              <a:t> are as for </a:t>
            </a:r>
            <a:r>
              <a:rPr lang="en-GB" i="1" u="sng" dirty="0">
                <a:solidFill>
                  <a:srgbClr val="FF3399"/>
                </a:solidFill>
              </a:rPr>
              <a:t>T. saginata</a:t>
            </a:r>
            <a:r>
              <a:rPr lang="en-GB" dirty="0"/>
              <a:t>, </a:t>
            </a:r>
            <a:r>
              <a:rPr lang="en-GB" b="1" dirty="0"/>
              <a:t>except</a:t>
            </a:r>
            <a:r>
              <a:rPr lang="en-GB" dirty="0"/>
              <a:t> that, the </a:t>
            </a:r>
            <a:r>
              <a:rPr lang="en-GB" dirty="0">
                <a:solidFill>
                  <a:srgbClr val="00B050"/>
                </a:solidFill>
              </a:rPr>
              <a:t>liver</a:t>
            </a:r>
            <a:r>
              <a:rPr lang="en-GB" dirty="0"/>
              <a:t> and the </a:t>
            </a:r>
            <a:r>
              <a:rPr lang="en-GB" dirty="0">
                <a:solidFill>
                  <a:srgbClr val="00B050"/>
                </a:solidFill>
              </a:rPr>
              <a:t>lungs</a:t>
            </a:r>
            <a:r>
              <a:rPr lang="en-GB" dirty="0"/>
              <a:t> </a:t>
            </a:r>
            <a:r>
              <a:rPr lang="en-GB" u="sng" dirty="0"/>
              <a:t>are the most frequent site of development</a:t>
            </a:r>
            <a:r>
              <a:rPr lang="en-GB" dirty="0"/>
              <a:t>.</a:t>
            </a:r>
            <a:endParaRPr lang="en-US" dirty="0"/>
          </a:p>
          <a:p>
            <a:endParaRPr lang="en-US" dirty="0"/>
          </a:p>
        </p:txBody>
      </p:sp>
    </p:spTree>
    <p:extLst>
      <p:ext uri="{BB962C8B-B14F-4D97-AF65-F5344CB8AC3E}">
        <p14:creationId xmlns:p14="http://schemas.microsoft.com/office/powerpoint/2010/main" val="3208208202"/>
      </p:ext>
    </p:extLst>
  </p:cSld>
  <p:clrMapOvr>
    <a:masterClrMapping/>
  </p:clrMapOvr>
</p:sld>
</file>

<file path=ppt/slides/slide3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FF0000"/>
                </a:solidFill>
              </a:rPr>
              <a:t>Life cycle, Transmission and Epidemiology</a:t>
            </a:r>
            <a:r>
              <a:rPr lang="en-GB" b="1" dirty="0"/>
              <a:t> cont’d</a:t>
            </a:r>
            <a:br>
              <a:rPr lang="en-US" dirty="0"/>
            </a:br>
            <a:endParaRPr lang="en-US" dirty="0"/>
          </a:p>
        </p:txBody>
      </p:sp>
      <p:sp>
        <p:nvSpPr>
          <p:cNvPr id="3" name="Content Placeholder 2"/>
          <p:cNvSpPr>
            <a:spLocks noGrp="1"/>
          </p:cNvSpPr>
          <p:nvPr>
            <p:ph idx="1"/>
          </p:nvPr>
        </p:nvSpPr>
        <p:spPr/>
        <p:txBody>
          <a:bodyPr>
            <a:normAutofit fontScale="92500"/>
          </a:bodyPr>
          <a:lstStyle/>
          <a:p>
            <a:pPr lvl="0">
              <a:buFont typeface="Wingdings" pitchFamily="2" charset="2"/>
              <a:buChar char="v"/>
            </a:pPr>
            <a:r>
              <a:rPr lang="en-GB" u="sng" dirty="0"/>
              <a:t>The worm matures in about </a:t>
            </a:r>
            <a:r>
              <a:rPr lang="en-GB" u="sng" dirty="0">
                <a:solidFill>
                  <a:srgbClr val="FFC000"/>
                </a:solidFill>
              </a:rPr>
              <a:t>56 days </a:t>
            </a:r>
            <a:r>
              <a:rPr lang="en-GB" u="sng" dirty="0"/>
              <a:t>and can live for </a:t>
            </a:r>
            <a:r>
              <a:rPr lang="en-GB" u="sng" dirty="0">
                <a:solidFill>
                  <a:srgbClr val="FFC000"/>
                </a:solidFill>
              </a:rPr>
              <a:t>5-20 months</a:t>
            </a:r>
            <a:endParaRPr lang="en-US" u="sng" dirty="0">
              <a:solidFill>
                <a:srgbClr val="FFC000"/>
              </a:solidFill>
            </a:endParaRPr>
          </a:p>
          <a:p>
            <a:pPr lvl="0">
              <a:buFont typeface="Wingdings" pitchFamily="2" charset="2"/>
              <a:buChar char="v"/>
            </a:pPr>
            <a:r>
              <a:rPr lang="en-GB" b="1" dirty="0"/>
              <a:t>In the wild</a:t>
            </a:r>
            <a:r>
              <a:rPr lang="en-GB" dirty="0"/>
              <a:t>, life cycle involves a </a:t>
            </a:r>
            <a:r>
              <a:rPr lang="en-GB" dirty="0">
                <a:solidFill>
                  <a:srgbClr val="00B0F0"/>
                </a:solidFill>
              </a:rPr>
              <a:t>carnivore-herbivore relationship </a:t>
            </a:r>
            <a:r>
              <a:rPr lang="en-GB" dirty="0"/>
              <a:t>and </a:t>
            </a:r>
            <a:r>
              <a:rPr lang="en-GB" dirty="0">
                <a:solidFill>
                  <a:srgbClr val="00B050"/>
                </a:solidFill>
              </a:rPr>
              <a:t>humans</a:t>
            </a:r>
            <a:r>
              <a:rPr lang="en-GB" dirty="0"/>
              <a:t> are seldom involved as </a:t>
            </a:r>
            <a:r>
              <a:rPr lang="en-GB" dirty="0">
                <a:solidFill>
                  <a:schemeClr val="accent6">
                    <a:lumMod val="75000"/>
                  </a:schemeClr>
                </a:solidFill>
              </a:rPr>
              <a:t>accidental intermediate host</a:t>
            </a:r>
            <a:r>
              <a:rPr lang="en-GB" dirty="0"/>
              <a:t> in these cases</a:t>
            </a:r>
            <a:endParaRPr lang="en-US" dirty="0"/>
          </a:p>
          <a:p>
            <a:pPr lvl="0">
              <a:buFont typeface="Wingdings" pitchFamily="2" charset="2"/>
              <a:buChar char="v"/>
            </a:pPr>
            <a:r>
              <a:rPr lang="en-GB" dirty="0"/>
              <a:t>When domestic animals are raised in association with dogs, </a:t>
            </a:r>
            <a:r>
              <a:rPr lang="en-GB" u="sng" dirty="0"/>
              <a:t>humans can easily be affected when they fondle(caress lovingly) dogs</a:t>
            </a:r>
            <a:endParaRPr lang="en-US" u="sng" dirty="0"/>
          </a:p>
          <a:p>
            <a:pPr marL="0" indent="0">
              <a:buNone/>
            </a:pPr>
            <a:endParaRPr lang="en-US" dirty="0"/>
          </a:p>
        </p:txBody>
      </p:sp>
    </p:spTree>
    <p:extLst>
      <p:ext uri="{BB962C8B-B14F-4D97-AF65-F5344CB8AC3E}">
        <p14:creationId xmlns:p14="http://schemas.microsoft.com/office/powerpoint/2010/main" val="74467739"/>
      </p:ext>
    </p:extLst>
  </p:cSld>
  <p:clrMapOvr>
    <a:masterClrMapping/>
  </p:clrMapOvr>
</p:sld>
</file>

<file path=ppt/slides/slide3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FF0000"/>
                </a:solidFill>
              </a:rPr>
              <a:t>Life cycle, Transmission and Epidemiology </a:t>
            </a:r>
            <a:r>
              <a:rPr lang="en-GB" b="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t>The species is composed of </a:t>
            </a:r>
            <a:r>
              <a:rPr lang="en-GB" dirty="0">
                <a:solidFill>
                  <a:srgbClr val="7030A0"/>
                </a:solidFill>
              </a:rPr>
              <a:t>many genetically different strains</a:t>
            </a:r>
            <a:r>
              <a:rPr lang="en-GB" dirty="0"/>
              <a:t> based on </a:t>
            </a:r>
            <a:r>
              <a:rPr lang="en-GB" dirty="0">
                <a:solidFill>
                  <a:srgbClr val="0070C0"/>
                </a:solidFill>
              </a:rPr>
              <a:t>morphology</a:t>
            </a:r>
            <a:r>
              <a:rPr lang="en-GB" dirty="0"/>
              <a:t>, </a:t>
            </a:r>
            <a:r>
              <a:rPr lang="en-GB" dirty="0">
                <a:solidFill>
                  <a:srgbClr val="0070C0"/>
                </a:solidFill>
              </a:rPr>
              <a:t>development</a:t>
            </a:r>
            <a:r>
              <a:rPr lang="en-GB" dirty="0"/>
              <a:t> and </a:t>
            </a:r>
          </a:p>
          <a:p>
            <a:pPr lvl="0">
              <a:buFont typeface="Wingdings" pitchFamily="2" charset="2"/>
              <a:buChar char="v"/>
            </a:pPr>
            <a:r>
              <a:rPr lang="en-GB" dirty="0">
                <a:solidFill>
                  <a:srgbClr val="0070C0"/>
                </a:solidFill>
              </a:rPr>
              <a:t>intermediate host specificity </a:t>
            </a:r>
            <a:r>
              <a:rPr lang="en-GB" u="sng" dirty="0"/>
              <a:t>which are only revealed by </a:t>
            </a:r>
            <a:r>
              <a:rPr lang="en-GB" u="sng" dirty="0">
                <a:solidFill>
                  <a:srgbClr val="C00000"/>
                </a:solidFill>
              </a:rPr>
              <a:t>DNA hybridization </a:t>
            </a:r>
            <a:r>
              <a:rPr lang="en-GB" u="sng" dirty="0"/>
              <a:t>and </a:t>
            </a:r>
            <a:r>
              <a:rPr lang="en-GB" u="sng" dirty="0">
                <a:solidFill>
                  <a:srgbClr val="C00000"/>
                </a:solidFill>
              </a:rPr>
              <a:t>restriction site analysis(RSA)</a:t>
            </a:r>
            <a:endParaRPr lang="en-US" u="sng" dirty="0">
              <a:solidFill>
                <a:srgbClr val="C00000"/>
              </a:solidFill>
            </a:endParaRPr>
          </a:p>
          <a:p>
            <a:pPr marL="0" indent="0">
              <a:buNone/>
            </a:pPr>
            <a:endParaRPr lang="en-US" dirty="0"/>
          </a:p>
        </p:txBody>
      </p:sp>
    </p:spTree>
    <p:extLst>
      <p:ext uri="{BB962C8B-B14F-4D97-AF65-F5344CB8AC3E}">
        <p14:creationId xmlns:p14="http://schemas.microsoft.com/office/powerpoint/2010/main" val="2602881303"/>
      </p:ext>
    </p:extLst>
  </p:cSld>
  <p:clrMapOvr>
    <a:masterClrMapping/>
  </p:clrMapOvr>
</p:sld>
</file>

<file path=ppt/slides/slide3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dirty="0">
                <a:solidFill>
                  <a:srgbClr val="FF3399"/>
                </a:solidFill>
              </a:rPr>
              <a:t>Echinococcus granulosus </a:t>
            </a:r>
            <a:r>
              <a:rPr lang="en-GB" b="1" i="1" dirty="0"/>
              <a:t>Cont’d</a:t>
            </a:r>
            <a:endParaRPr lang="en-US" dirty="0"/>
          </a:p>
        </p:txBody>
      </p:sp>
      <p:sp>
        <p:nvSpPr>
          <p:cNvPr id="3" name="Content Placeholder 2"/>
          <p:cNvSpPr>
            <a:spLocks noGrp="1"/>
          </p:cNvSpPr>
          <p:nvPr>
            <p:ph idx="1"/>
          </p:nvPr>
        </p:nvSpPr>
        <p:spPr/>
        <p:txBody>
          <a:bodyPr/>
          <a:lstStyle/>
          <a:p>
            <a:pPr marL="0" indent="0" algn="ctr">
              <a:buNone/>
            </a:pPr>
            <a:r>
              <a:rPr lang="en-GB" b="1" dirty="0">
                <a:solidFill>
                  <a:srgbClr val="00B050"/>
                </a:solidFill>
              </a:rPr>
              <a:t>Control and prevention</a:t>
            </a:r>
            <a:endParaRPr lang="en-US" dirty="0">
              <a:solidFill>
                <a:srgbClr val="00B050"/>
              </a:solidFill>
            </a:endParaRPr>
          </a:p>
          <a:p>
            <a:pPr lvl="0">
              <a:buFont typeface="Wingdings" pitchFamily="2" charset="2"/>
              <a:buChar char="v"/>
            </a:pPr>
            <a:r>
              <a:rPr lang="en-GB" u="sng" dirty="0"/>
              <a:t>Elimination from an endemic area is only by </a:t>
            </a:r>
            <a:r>
              <a:rPr lang="en-GB" dirty="0">
                <a:solidFill>
                  <a:srgbClr val="00B050"/>
                </a:solidFill>
              </a:rPr>
              <a:t>interrupting the life cycle</a:t>
            </a:r>
            <a:r>
              <a:rPr lang="en-GB" dirty="0"/>
              <a:t> by </a:t>
            </a:r>
            <a:r>
              <a:rPr lang="en-GB" dirty="0">
                <a:solidFill>
                  <a:srgbClr val="00B050"/>
                </a:solidFill>
              </a:rPr>
              <a:t>denying dogs the access to offal</a:t>
            </a:r>
            <a:r>
              <a:rPr lang="en-GB" dirty="0"/>
              <a:t>, by </a:t>
            </a:r>
            <a:r>
              <a:rPr lang="en-GB" dirty="0">
                <a:solidFill>
                  <a:srgbClr val="00B050"/>
                </a:solidFill>
              </a:rPr>
              <a:t>destroying stray dogs</a:t>
            </a:r>
            <a:r>
              <a:rPr lang="en-GB" dirty="0"/>
              <a:t>(</a:t>
            </a:r>
            <a:r>
              <a:rPr lang="en-GB" u="sng" dirty="0" err="1"/>
              <a:t>b’cos</a:t>
            </a:r>
            <a:r>
              <a:rPr lang="en-GB" u="sng" dirty="0"/>
              <a:t> they are the definitive host</a:t>
            </a:r>
            <a:r>
              <a:rPr lang="en-GB" dirty="0"/>
              <a:t>) and by </a:t>
            </a:r>
            <a:r>
              <a:rPr lang="en-GB" dirty="0">
                <a:solidFill>
                  <a:srgbClr val="00B050"/>
                </a:solidFill>
              </a:rPr>
              <a:t>general health programs</a:t>
            </a:r>
            <a:r>
              <a:rPr lang="en-GB" dirty="0"/>
              <a:t>.</a:t>
            </a:r>
            <a:endParaRPr lang="en-US" dirty="0"/>
          </a:p>
          <a:p>
            <a:endParaRPr lang="en-US" dirty="0"/>
          </a:p>
        </p:txBody>
      </p:sp>
    </p:spTree>
    <p:extLst>
      <p:ext uri="{BB962C8B-B14F-4D97-AF65-F5344CB8AC3E}">
        <p14:creationId xmlns:p14="http://schemas.microsoft.com/office/powerpoint/2010/main" val="254560210"/>
      </p:ext>
    </p:extLst>
  </p:cSld>
  <p:clrMapOvr>
    <a:masterClrMapping/>
  </p:clrMapOvr>
</p:sld>
</file>

<file path=ppt/slides/slide3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dirty="0">
                <a:solidFill>
                  <a:srgbClr val="FF3399"/>
                </a:solidFill>
              </a:rPr>
              <a:t>Echinococcus granulosus </a:t>
            </a:r>
            <a:r>
              <a:rPr lang="en-GB" b="1" i="1" dirty="0"/>
              <a:t>Cont’d</a:t>
            </a: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pPr marL="0" indent="0" algn="ctr">
              <a:buNone/>
            </a:pPr>
            <a:r>
              <a:rPr lang="en-GB" b="1" dirty="0">
                <a:solidFill>
                  <a:srgbClr val="FF0000"/>
                </a:solidFill>
              </a:rPr>
              <a:t>Pathogenesis</a:t>
            </a:r>
            <a:r>
              <a:rPr lang="en-GB" b="1" dirty="0"/>
              <a:t> and </a:t>
            </a:r>
            <a:r>
              <a:rPr lang="en-GB" b="1" dirty="0">
                <a:solidFill>
                  <a:srgbClr val="00B0F0"/>
                </a:solidFill>
              </a:rPr>
              <a:t>Symptoms</a:t>
            </a:r>
            <a:endParaRPr lang="en-US" dirty="0">
              <a:solidFill>
                <a:srgbClr val="00B0F0"/>
              </a:solidFill>
            </a:endParaRPr>
          </a:p>
          <a:p>
            <a:pPr lvl="0">
              <a:buFont typeface="Wingdings" pitchFamily="2" charset="2"/>
              <a:buChar char="v"/>
            </a:pPr>
            <a:r>
              <a:rPr lang="en-GB" u="sng" dirty="0"/>
              <a:t>Symptoms of infection may not be apparent many years after infection because of its usual </a:t>
            </a:r>
            <a:r>
              <a:rPr lang="en-GB" dirty="0">
                <a:solidFill>
                  <a:srgbClr val="C00000"/>
                </a:solidFill>
              </a:rPr>
              <a:t>slow growth</a:t>
            </a:r>
            <a:endParaRPr lang="en-US" dirty="0">
              <a:solidFill>
                <a:srgbClr val="C00000"/>
              </a:solidFill>
            </a:endParaRPr>
          </a:p>
          <a:p>
            <a:pPr lvl="0">
              <a:buFont typeface="Wingdings" pitchFamily="2" charset="2"/>
              <a:buChar char="v"/>
            </a:pPr>
            <a:r>
              <a:rPr lang="en-GB" u="sng" dirty="0"/>
              <a:t>Up to 20 years may elapse between infection and overt(shown openly) pathogenesis</a:t>
            </a:r>
            <a:endParaRPr lang="en-US" u="sng" dirty="0"/>
          </a:p>
          <a:p>
            <a:pPr lvl="0">
              <a:buFont typeface="Wingdings" pitchFamily="2" charset="2"/>
              <a:buChar char="v"/>
            </a:pPr>
            <a:r>
              <a:rPr lang="en-GB" dirty="0"/>
              <a:t>There are cases of the </a:t>
            </a:r>
            <a:r>
              <a:rPr lang="en-GB" u="sng" dirty="0">
                <a:solidFill>
                  <a:srgbClr val="00B050"/>
                </a:solidFill>
              </a:rPr>
              <a:t>liver</a:t>
            </a:r>
            <a:r>
              <a:rPr lang="en-GB" u="sng" dirty="0"/>
              <a:t> and </a:t>
            </a:r>
            <a:r>
              <a:rPr lang="en-GB" u="sng" dirty="0">
                <a:solidFill>
                  <a:srgbClr val="00B050"/>
                </a:solidFill>
              </a:rPr>
              <a:t>brain</a:t>
            </a:r>
            <a:r>
              <a:rPr lang="en-GB" u="sng" dirty="0"/>
              <a:t> simultaneously harbouring </a:t>
            </a:r>
            <a:r>
              <a:rPr lang="en-GB" u="sng" dirty="0">
                <a:solidFill>
                  <a:srgbClr val="C00000"/>
                </a:solidFill>
              </a:rPr>
              <a:t>hydatids</a:t>
            </a:r>
            <a:r>
              <a:rPr lang="en-GB" dirty="0">
                <a:solidFill>
                  <a:srgbClr val="C00000"/>
                </a:solidFill>
              </a:rPr>
              <a:t>(cysts containing watery fluid with tapeworm larva)</a:t>
            </a:r>
            <a:r>
              <a:rPr lang="en-GB" dirty="0"/>
              <a:t>, and </a:t>
            </a:r>
            <a:r>
              <a:rPr lang="en-GB" u="sng" dirty="0"/>
              <a:t>cysts may occur in any organ</a:t>
            </a:r>
            <a:r>
              <a:rPr lang="en-GB" dirty="0"/>
              <a:t>. </a:t>
            </a:r>
          </a:p>
          <a:p>
            <a:pPr lvl="0">
              <a:buFont typeface="Wingdings" pitchFamily="2" charset="2"/>
              <a:buChar char="v"/>
            </a:pPr>
            <a:r>
              <a:rPr lang="en-GB" dirty="0"/>
              <a:t>The </a:t>
            </a:r>
            <a:r>
              <a:rPr lang="en-GB" dirty="0">
                <a:solidFill>
                  <a:srgbClr val="0070C0"/>
                </a:solidFill>
              </a:rPr>
              <a:t>type and extent of pathology depends on the location of the cyst</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1334025260"/>
      </p:ext>
    </p:extLst>
  </p:cSld>
  <p:clrMapOvr>
    <a:masterClrMapping/>
  </p:clrMapOvr>
</p:sld>
</file>

<file path=ppt/slides/slide3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FF0000"/>
                </a:solidFill>
              </a:rPr>
              <a:t>Pathogenesis</a:t>
            </a:r>
            <a:r>
              <a:rPr lang="en-GB" b="1" dirty="0"/>
              <a:t> and </a:t>
            </a:r>
            <a:r>
              <a:rPr lang="en-GB" b="1" dirty="0">
                <a:solidFill>
                  <a:srgbClr val="00B0F0"/>
                </a:solidFill>
              </a:rPr>
              <a:t>Symptom</a:t>
            </a:r>
            <a:r>
              <a:rPr lang="en-GB" b="1" dirty="0"/>
              <a:t>s</a:t>
            </a:r>
            <a:br>
              <a:rPr lang="en-US" dirty="0"/>
            </a:br>
            <a:endParaRPr lang="en-US" dirty="0"/>
          </a:p>
        </p:txBody>
      </p:sp>
      <p:sp>
        <p:nvSpPr>
          <p:cNvPr id="3" name="Content Placeholder 2"/>
          <p:cNvSpPr>
            <a:spLocks noGrp="1"/>
          </p:cNvSpPr>
          <p:nvPr>
            <p:ph idx="1"/>
          </p:nvPr>
        </p:nvSpPr>
        <p:spPr/>
        <p:txBody>
          <a:bodyPr>
            <a:normAutofit fontScale="92500"/>
          </a:bodyPr>
          <a:lstStyle/>
          <a:p>
            <a:pPr lvl="0">
              <a:buFont typeface="Wingdings" pitchFamily="2" charset="2"/>
              <a:buChar char="v"/>
            </a:pPr>
            <a:r>
              <a:rPr lang="en-GB" dirty="0">
                <a:solidFill>
                  <a:srgbClr val="C00000"/>
                </a:solidFill>
              </a:rPr>
              <a:t>As the size of the hydatid increases</a:t>
            </a:r>
            <a:r>
              <a:rPr lang="en-GB" dirty="0"/>
              <a:t>, </a:t>
            </a:r>
            <a:r>
              <a:rPr lang="en-GB" u="sng" dirty="0"/>
              <a:t>it crowds the adjacent host tissues and interferes with their normal functions</a:t>
            </a:r>
            <a:r>
              <a:rPr lang="en-GB" dirty="0"/>
              <a:t>. </a:t>
            </a:r>
          </a:p>
          <a:p>
            <a:pPr lvl="0">
              <a:buFont typeface="Wingdings" pitchFamily="2" charset="2"/>
              <a:buChar char="v"/>
            </a:pPr>
            <a:r>
              <a:rPr lang="en-GB" dirty="0"/>
              <a:t>When </a:t>
            </a:r>
            <a:r>
              <a:rPr lang="en-GB" dirty="0">
                <a:solidFill>
                  <a:srgbClr val="00B050"/>
                </a:solidFill>
              </a:rPr>
              <a:t>bone marrow </a:t>
            </a:r>
            <a:r>
              <a:rPr lang="en-GB" dirty="0"/>
              <a:t>is affected by </a:t>
            </a:r>
            <a:r>
              <a:rPr lang="en-GB" dirty="0">
                <a:solidFill>
                  <a:srgbClr val="FF0000"/>
                </a:solidFill>
              </a:rPr>
              <a:t>lack of space</a:t>
            </a:r>
            <a:r>
              <a:rPr lang="en-GB" dirty="0"/>
              <a:t>, </a:t>
            </a:r>
          </a:p>
          <a:p>
            <a:pPr lvl="0">
              <a:buFont typeface="Wingdings" pitchFamily="2" charset="2"/>
              <a:buChar char="v"/>
            </a:pPr>
            <a:r>
              <a:rPr lang="en-GB" dirty="0"/>
              <a:t>and </a:t>
            </a:r>
            <a:r>
              <a:rPr lang="en-GB" dirty="0">
                <a:solidFill>
                  <a:srgbClr val="FF0000"/>
                </a:solidFill>
              </a:rPr>
              <a:t>chronic internal pressure by the parasite </a:t>
            </a:r>
            <a:r>
              <a:rPr lang="en-GB" dirty="0"/>
              <a:t>causes </a:t>
            </a:r>
            <a:r>
              <a:rPr lang="en-GB" dirty="0">
                <a:solidFill>
                  <a:srgbClr val="FF0000"/>
                </a:solidFill>
              </a:rPr>
              <a:t>internal pressure </a:t>
            </a:r>
            <a:r>
              <a:rPr lang="en-GB" dirty="0"/>
              <a:t>by </a:t>
            </a:r>
            <a:r>
              <a:rPr lang="en-GB" dirty="0">
                <a:solidFill>
                  <a:srgbClr val="7030A0"/>
                </a:solidFill>
              </a:rPr>
              <a:t>necrosis of the bone which becomes thin and fragile</a:t>
            </a:r>
            <a:r>
              <a:rPr lang="en-GB" dirty="0"/>
              <a:t>, </a:t>
            </a:r>
            <a:r>
              <a:rPr lang="en-GB" u="sng" dirty="0"/>
              <a:t>preceded by a spontaneous </a:t>
            </a:r>
            <a:r>
              <a:rPr lang="en-GB" u="sng" dirty="0">
                <a:solidFill>
                  <a:srgbClr val="7030A0"/>
                </a:solidFill>
              </a:rPr>
              <a:t>fracture of the affected limb</a:t>
            </a:r>
            <a:r>
              <a:rPr lang="en-GB" dirty="0">
                <a:solidFill>
                  <a:srgbClr val="7030A0"/>
                </a:solidFill>
              </a:rPr>
              <a:t> </a:t>
            </a:r>
            <a:endParaRPr lang="en-US" dirty="0">
              <a:solidFill>
                <a:srgbClr val="7030A0"/>
              </a:solidFill>
            </a:endParaRPr>
          </a:p>
        </p:txBody>
      </p:sp>
    </p:spTree>
    <p:extLst>
      <p:ext uri="{BB962C8B-B14F-4D97-AF65-F5344CB8AC3E}">
        <p14:creationId xmlns:p14="http://schemas.microsoft.com/office/powerpoint/2010/main" val="1248903812"/>
      </p:ext>
    </p:extLst>
  </p:cSld>
  <p:clrMapOvr>
    <a:masterClrMapping/>
  </p:clrMapOvr>
</p:sld>
</file>

<file path=ppt/slides/slide3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FF0000"/>
                </a:solidFill>
              </a:rPr>
              <a:t>Pathogenesis</a:t>
            </a:r>
            <a:r>
              <a:rPr lang="en-GB" b="1" dirty="0"/>
              <a:t> and </a:t>
            </a:r>
            <a:r>
              <a:rPr lang="en-GB" b="1" dirty="0">
                <a:solidFill>
                  <a:srgbClr val="00B0F0"/>
                </a:solidFill>
              </a:rPr>
              <a:t>Symptoms</a:t>
            </a:r>
            <a:r>
              <a:rPr lang="en-GB" b="1" dirty="0"/>
              <a:t> cont’d</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dirty="0">
                <a:solidFill>
                  <a:schemeClr val="accent6">
                    <a:lumMod val="75000"/>
                  </a:schemeClr>
                </a:solidFill>
              </a:rPr>
              <a:t>When a hydatid grows in an unrestricted location</a:t>
            </a:r>
            <a:r>
              <a:rPr lang="en-GB" dirty="0"/>
              <a:t>,</a:t>
            </a:r>
            <a:r>
              <a:rPr lang="en-GB" u="sng" dirty="0"/>
              <a:t> it may become enormous containing more than 15 quarts of fluid and millions of </a:t>
            </a:r>
            <a:r>
              <a:rPr lang="en-GB" u="sng" dirty="0">
                <a:solidFill>
                  <a:srgbClr val="C00000"/>
                </a:solidFill>
              </a:rPr>
              <a:t>protoscolices</a:t>
            </a:r>
            <a:r>
              <a:rPr lang="en-GB" dirty="0"/>
              <a:t>.(sing. protoscolex)</a:t>
            </a:r>
          </a:p>
          <a:p>
            <a:pPr lvl="0">
              <a:buFont typeface="Wingdings" pitchFamily="2" charset="2"/>
              <a:buChar char="v"/>
            </a:pPr>
            <a:r>
              <a:rPr lang="en-GB" dirty="0">
                <a:solidFill>
                  <a:srgbClr val="FF0000"/>
                </a:solidFill>
              </a:rPr>
              <a:t>If it does not occlude</a:t>
            </a:r>
            <a:r>
              <a:rPr lang="en-GB" dirty="0"/>
              <a:t>( close up or obstruct) </a:t>
            </a:r>
            <a:r>
              <a:rPr lang="en-GB" dirty="0">
                <a:solidFill>
                  <a:srgbClr val="FF0000"/>
                </a:solidFill>
              </a:rPr>
              <a:t>vital organ</a:t>
            </a:r>
            <a:r>
              <a:rPr lang="en-GB" dirty="0"/>
              <a:t>,</a:t>
            </a:r>
            <a:r>
              <a:rPr lang="en-GB" u="sng" dirty="0"/>
              <a:t> it can </a:t>
            </a:r>
            <a:r>
              <a:rPr lang="en-GB" u="sng" dirty="0">
                <a:solidFill>
                  <a:srgbClr val="FF0000"/>
                </a:solidFill>
              </a:rPr>
              <a:t>still cause sudden death </a:t>
            </a:r>
            <a:r>
              <a:rPr lang="en-GB" u="sng" dirty="0"/>
              <a:t>if it(hydatid) raptures</a:t>
            </a:r>
            <a:r>
              <a:rPr lang="en-GB" dirty="0"/>
              <a:t>.</a:t>
            </a:r>
            <a:endParaRPr lang="en-US" dirty="0"/>
          </a:p>
          <a:p>
            <a:endParaRPr lang="en-US" dirty="0"/>
          </a:p>
          <a:p>
            <a:endParaRPr lang="en-US" dirty="0"/>
          </a:p>
        </p:txBody>
      </p:sp>
    </p:spTree>
    <p:extLst>
      <p:ext uri="{BB962C8B-B14F-4D97-AF65-F5344CB8AC3E}">
        <p14:creationId xmlns:p14="http://schemas.microsoft.com/office/powerpoint/2010/main" val="1122923355"/>
      </p:ext>
    </p:extLst>
  </p:cSld>
  <p:clrMapOvr>
    <a:masterClrMapping/>
  </p:clrMapOvr>
</p:sld>
</file>

<file path=ppt/slides/slide3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FF0000"/>
                </a:solidFill>
              </a:rPr>
              <a:t>Pathogenesis</a:t>
            </a:r>
            <a:r>
              <a:rPr lang="en-GB" b="1" dirty="0"/>
              <a:t> and </a:t>
            </a:r>
            <a:r>
              <a:rPr lang="en-GB" b="1" dirty="0">
                <a:solidFill>
                  <a:srgbClr val="00B0F0"/>
                </a:solidFill>
              </a:rPr>
              <a:t>Symptoms</a:t>
            </a:r>
            <a:r>
              <a:rPr lang="en-GB" b="1" dirty="0"/>
              <a:t>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t>The </a:t>
            </a:r>
            <a:r>
              <a:rPr lang="en-GB" dirty="0">
                <a:solidFill>
                  <a:srgbClr val="00B0F0"/>
                </a:solidFill>
              </a:rPr>
              <a:t>host is sensitized </a:t>
            </a:r>
            <a:r>
              <a:rPr lang="en-GB" u="sng" dirty="0"/>
              <a:t>by the parasite antigens during its long sudden infection and sudden release of massive amount of hydatid fluid induces an adverse host reaction </a:t>
            </a:r>
            <a:r>
              <a:rPr lang="en-GB" dirty="0"/>
              <a:t>called </a:t>
            </a:r>
            <a:r>
              <a:rPr lang="en-GB" dirty="0">
                <a:solidFill>
                  <a:srgbClr val="FF0000"/>
                </a:solidFill>
              </a:rPr>
              <a:t>ANAPHYLACTIC SHOCK </a:t>
            </a:r>
            <a:endParaRPr lang="en-US" dirty="0">
              <a:solidFill>
                <a:srgbClr val="FF0000"/>
              </a:solidFill>
            </a:endParaRPr>
          </a:p>
          <a:p>
            <a:pPr lvl="0">
              <a:buFont typeface="Wingdings" pitchFamily="2" charset="2"/>
              <a:buChar char="v"/>
            </a:pPr>
            <a:r>
              <a:rPr lang="en-GB" dirty="0">
                <a:solidFill>
                  <a:srgbClr val="FF0000"/>
                </a:solidFill>
              </a:rPr>
              <a:t>Unconsciousness</a:t>
            </a:r>
            <a:r>
              <a:rPr lang="en-GB" dirty="0"/>
              <a:t> and </a:t>
            </a:r>
            <a:r>
              <a:rPr lang="en-GB" dirty="0">
                <a:solidFill>
                  <a:srgbClr val="FF0000"/>
                </a:solidFill>
              </a:rPr>
              <a:t>death</a:t>
            </a:r>
            <a:r>
              <a:rPr lang="en-GB" dirty="0"/>
              <a:t> </a:t>
            </a:r>
            <a:r>
              <a:rPr lang="en-GB" u="sng" dirty="0"/>
              <a:t>are nearly instantaneous in such instances</a:t>
            </a:r>
            <a:endParaRPr lang="en-US" u="sng" dirty="0"/>
          </a:p>
          <a:p>
            <a:pPr lvl="0"/>
            <a:endParaRPr lang="en-US" dirty="0"/>
          </a:p>
          <a:p>
            <a:endParaRPr lang="en-US" b="1" dirty="0"/>
          </a:p>
        </p:txBody>
      </p:sp>
    </p:spTree>
    <p:extLst>
      <p:ext uri="{BB962C8B-B14F-4D97-AF65-F5344CB8AC3E}">
        <p14:creationId xmlns:p14="http://schemas.microsoft.com/office/powerpoint/2010/main" val="1068637396"/>
      </p:ext>
    </p:extLst>
  </p:cSld>
  <p:clrMapOvr>
    <a:masterClrMapping/>
  </p:clrMapOvr>
</p:sld>
</file>

<file path=ppt/slides/slide3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00B050"/>
                </a:solidFill>
              </a:rPr>
              <a:t>Diagnosis and treatment</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t>By </a:t>
            </a:r>
            <a:r>
              <a:rPr lang="en-GB" dirty="0">
                <a:solidFill>
                  <a:srgbClr val="00B050"/>
                </a:solidFill>
              </a:rPr>
              <a:t>X-ray radiography</a:t>
            </a:r>
            <a:r>
              <a:rPr lang="en-GB" dirty="0"/>
              <a:t>, </a:t>
            </a:r>
            <a:r>
              <a:rPr lang="en-GB" dirty="0">
                <a:solidFill>
                  <a:srgbClr val="00B050"/>
                </a:solidFill>
              </a:rPr>
              <a:t>ultrasonography</a:t>
            </a:r>
            <a:r>
              <a:rPr lang="en-GB" dirty="0"/>
              <a:t> or </a:t>
            </a:r>
            <a:r>
              <a:rPr lang="en-GB" dirty="0">
                <a:solidFill>
                  <a:srgbClr val="00B050"/>
                </a:solidFill>
              </a:rPr>
              <a:t>CAT scan</a:t>
            </a:r>
            <a:endParaRPr lang="en-US" dirty="0">
              <a:solidFill>
                <a:srgbClr val="00B050"/>
              </a:solidFill>
            </a:endParaRPr>
          </a:p>
          <a:p>
            <a:pPr lvl="0">
              <a:buFont typeface="Wingdings" pitchFamily="2" charset="2"/>
              <a:buChar char="v"/>
            </a:pPr>
            <a:r>
              <a:rPr lang="en-GB" dirty="0">
                <a:solidFill>
                  <a:srgbClr val="00B050"/>
                </a:solidFill>
              </a:rPr>
              <a:t>Surgery</a:t>
            </a:r>
            <a:r>
              <a:rPr lang="en-GB" dirty="0"/>
              <a:t> </a:t>
            </a:r>
            <a:r>
              <a:rPr lang="en-GB" b="1" u="sng" dirty="0"/>
              <a:t>is the only routine method of treatment</a:t>
            </a:r>
            <a:r>
              <a:rPr lang="en-GB" dirty="0"/>
              <a:t>, </a:t>
            </a:r>
            <a:r>
              <a:rPr lang="en-GB" b="1" dirty="0"/>
              <a:t>but</a:t>
            </a:r>
            <a:r>
              <a:rPr lang="en-GB" dirty="0"/>
              <a:t> </a:t>
            </a:r>
            <a:r>
              <a:rPr lang="en-GB" u="sng" dirty="0"/>
              <a:t>when this is not possible</a:t>
            </a:r>
            <a:r>
              <a:rPr lang="en-GB" dirty="0"/>
              <a:t>, </a:t>
            </a:r>
            <a:r>
              <a:rPr lang="en-GB" dirty="0">
                <a:solidFill>
                  <a:srgbClr val="00B050"/>
                </a:solidFill>
              </a:rPr>
              <a:t>Albendazole</a:t>
            </a:r>
            <a:r>
              <a:rPr lang="en-GB" dirty="0"/>
              <a:t> </a:t>
            </a:r>
            <a:r>
              <a:rPr lang="en-GB" u="sng" dirty="0"/>
              <a:t>is recommended</a:t>
            </a:r>
            <a:endParaRPr lang="en-US" u="sng" dirty="0"/>
          </a:p>
          <a:p>
            <a:pPr lvl="0">
              <a:buFont typeface="Wingdings" pitchFamily="2" charset="2"/>
              <a:buChar char="v"/>
            </a:pPr>
            <a:r>
              <a:rPr lang="en-GB" u="sng" dirty="0"/>
              <a:t>The surgical process is delicate and care must be taken so that </a:t>
            </a:r>
            <a:r>
              <a:rPr lang="en-GB" u="sng" dirty="0">
                <a:solidFill>
                  <a:srgbClr val="00B0F0"/>
                </a:solidFill>
              </a:rPr>
              <a:t>hydatid fluid </a:t>
            </a:r>
            <a:r>
              <a:rPr lang="en-GB" u="sng" dirty="0"/>
              <a:t>is not spilled into a body cavity since can cause</a:t>
            </a:r>
            <a:r>
              <a:rPr lang="en-GB" dirty="0"/>
              <a:t> </a:t>
            </a:r>
            <a:r>
              <a:rPr lang="en-GB" dirty="0">
                <a:solidFill>
                  <a:srgbClr val="FF0000"/>
                </a:solidFill>
              </a:rPr>
              <a:t>anaphylactic shock</a:t>
            </a:r>
            <a:r>
              <a:rPr lang="en-GB" dirty="0"/>
              <a:t>.</a:t>
            </a:r>
            <a:endParaRPr lang="en-US" dirty="0"/>
          </a:p>
          <a:p>
            <a:endParaRPr lang="en-US" dirty="0"/>
          </a:p>
        </p:txBody>
      </p:sp>
    </p:spTree>
    <p:extLst>
      <p:ext uri="{BB962C8B-B14F-4D97-AF65-F5344CB8AC3E}">
        <p14:creationId xmlns:p14="http://schemas.microsoft.com/office/powerpoint/2010/main" val="3524862915"/>
      </p:ext>
    </p:extLst>
  </p:cSld>
  <p:clrMapOvr>
    <a:masterClrMapping/>
  </p:clrMapOvr>
</p:sld>
</file>

<file path=ppt/slides/slide3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00B050"/>
                </a:solidFill>
              </a:rPr>
              <a:t>Diagnosis and treatment</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u="sng" dirty="0"/>
              <a:t>After aspiration(draw fluid by suction) of the cyst content,</a:t>
            </a:r>
            <a:r>
              <a:rPr lang="en-GB" u="sng" dirty="0">
                <a:solidFill>
                  <a:srgbClr val="00B050"/>
                </a:solidFill>
              </a:rPr>
              <a:t>10</a:t>
            </a:r>
            <a:r>
              <a:rPr lang="en-GB" dirty="0">
                <a:solidFill>
                  <a:srgbClr val="00B050"/>
                </a:solidFill>
              </a:rPr>
              <a:t>% formalin</a:t>
            </a:r>
            <a:r>
              <a:rPr lang="en-GB" dirty="0"/>
              <a:t> </a:t>
            </a:r>
            <a:r>
              <a:rPr lang="en-GB" dirty="0">
                <a:solidFill>
                  <a:srgbClr val="FF0000"/>
                </a:solidFill>
              </a:rPr>
              <a:t>is injected into the hydatid to kill the germinal layer</a:t>
            </a:r>
            <a:r>
              <a:rPr lang="en-GB" dirty="0"/>
              <a:t>; </a:t>
            </a:r>
            <a:r>
              <a:rPr lang="en-GB" u="sng" dirty="0"/>
              <a:t>this fluid is then withdrawn after 5mins and the entire cyst is then excised(cut out surgically)</a:t>
            </a:r>
            <a:r>
              <a:rPr lang="en-GB" dirty="0"/>
              <a:t>.</a:t>
            </a:r>
            <a:endParaRPr lang="en-US" dirty="0"/>
          </a:p>
          <a:p>
            <a:endParaRPr lang="en-US" dirty="0"/>
          </a:p>
        </p:txBody>
      </p:sp>
    </p:spTree>
    <p:extLst>
      <p:ext uri="{BB962C8B-B14F-4D97-AF65-F5344CB8AC3E}">
        <p14:creationId xmlns:p14="http://schemas.microsoft.com/office/powerpoint/2010/main" val="2970294802"/>
      </p:ext>
    </p:extLst>
  </p:cSld>
  <p:clrMapOvr>
    <a:masterClrMapping/>
  </p:clrMapOvr>
</p:sld>
</file>

<file path=ppt/slides/slide3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FF3399"/>
                </a:solidFill>
              </a:rPr>
              <a:t>Echinococcus multilocularis</a:t>
            </a:r>
            <a:br>
              <a:rPr lang="en-US" dirty="0">
                <a:solidFill>
                  <a:srgbClr val="FF3399"/>
                </a:solidFill>
              </a:rPr>
            </a:br>
            <a:endParaRPr lang="en-US" dirty="0">
              <a:solidFill>
                <a:srgbClr val="FF3399"/>
              </a:solidFill>
            </a:endParaRPr>
          </a:p>
        </p:txBody>
      </p:sp>
      <p:sp>
        <p:nvSpPr>
          <p:cNvPr id="3" name="Content Placeholder 2"/>
          <p:cNvSpPr>
            <a:spLocks noGrp="1"/>
          </p:cNvSpPr>
          <p:nvPr>
            <p:ph idx="1"/>
          </p:nvPr>
        </p:nvSpPr>
        <p:spPr>
          <a:xfrm>
            <a:off x="457200" y="1600200"/>
            <a:ext cx="8229600" cy="4876800"/>
          </a:xfrm>
        </p:spPr>
        <p:txBody>
          <a:bodyPr>
            <a:normAutofit fontScale="92500"/>
          </a:bodyPr>
          <a:lstStyle/>
          <a:p>
            <a:pPr lvl="0">
              <a:buFont typeface="Wingdings" pitchFamily="2" charset="2"/>
              <a:buChar char="v"/>
            </a:pPr>
            <a:r>
              <a:rPr lang="en-GB" dirty="0"/>
              <a:t>The species cause </a:t>
            </a:r>
            <a:r>
              <a:rPr lang="en-GB" dirty="0">
                <a:solidFill>
                  <a:srgbClr val="FF0000"/>
                </a:solidFill>
              </a:rPr>
              <a:t>alveolar echinococcosis </a:t>
            </a:r>
            <a:r>
              <a:rPr lang="en-GB" dirty="0"/>
              <a:t>and is </a:t>
            </a:r>
            <a:r>
              <a:rPr lang="en-GB" u="sng" dirty="0"/>
              <a:t>found in the Far East and central Europe, Russia, Northern and Western China, Tibet and parts of Japan</a:t>
            </a:r>
            <a:r>
              <a:rPr lang="en-GB" dirty="0"/>
              <a:t>.</a:t>
            </a:r>
            <a:endParaRPr lang="en-US" dirty="0"/>
          </a:p>
          <a:p>
            <a:pPr lvl="0">
              <a:buFont typeface="Wingdings" pitchFamily="2" charset="2"/>
              <a:buChar char="v"/>
            </a:pPr>
            <a:r>
              <a:rPr lang="en-GB" u="sng" dirty="0"/>
              <a:t>It is similar to </a:t>
            </a:r>
            <a:r>
              <a:rPr lang="en-GB" i="1" dirty="0">
                <a:solidFill>
                  <a:srgbClr val="FF3399"/>
                </a:solidFill>
              </a:rPr>
              <a:t>E. granulosus</a:t>
            </a:r>
            <a:r>
              <a:rPr lang="en-GB" dirty="0">
                <a:solidFill>
                  <a:srgbClr val="FF3399"/>
                </a:solidFill>
              </a:rPr>
              <a:t> </a:t>
            </a:r>
            <a:r>
              <a:rPr lang="en-GB" u="sng" dirty="0"/>
              <a:t>in adult morphology </a:t>
            </a:r>
            <a:r>
              <a:rPr lang="en-GB" b="1" dirty="0"/>
              <a:t>excep</a:t>
            </a:r>
            <a:r>
              <a:rPr lang="en-GB" dirty="0"/>
              <a:t>t </a:t>
            </a:r>
            <a:r>
              <a:rPr lang="en-GB" u="sng" dirty="0"/>
              <a:t>in some few characteristics</a:t>
            </a:r>
            <a:endParaRPr lang="en-US" u="sng" dirty="0"/>
          </a:p>
          <a:p>
            <a:pPr>
              <a:buFont typeface="Wingdings" pitchFamily="2" charset="2"/>
              <a:buChar char="v"/>
            </a:pPr>
            <a:r>
              <a:rPr lang="en-GB" dirty="0">
                <a:solidFill>
                  <a:srgbClr val="00B050"/>
                </a:solidFill>
              </a:rPr>
              <a:t>Human</a:t>
            </a:r>
            <a:r>
              <a:rPr lang="en-GB" dirty="0">
                <a:solidFill>
                  <a:srgbClr val="00B0F0"/>
                </a:solidFill>
              </a:rPr>
              <a:t> infection is unusual</a:t>
            </a:r>
            <a:r>
              <a:rPr lang="en-GB" u="sng" dirty="0"/>
              <a:t>; as </a:t>
            </a:r>
            <a:r>
              <a:rPr lang="en-GB" b="1" u="sng" dirty="0"/>
              <a:t>humans do not seem to be very good hosts</a:t>
            </a:r>
            <a:r>
              <a:rPr lang="en-GB" u="sng" dirty="0"/>
              <a:t> because </a:t>
            </a:r>
            <a:r>
              <a:rPr lang="en-GB" dirty="0">
                <a:solidFill>
                  <a:srgbClr val="C00000"/>
                </a:solidFill>
              </a:rPr>
              <a:t>protoscolices</a:t>
            </a:r>
            <a:r>
              <a:rPr lang="en-GB" dirty="0"/>
              <a:t> </a:t>
            </a:r>
            <a:r>
              <a:rPr lang="en-GB" u="sng" dirty="0"/>
              <a:t>may not develop in humans</a:t>
            </a:r>
            <a:r>
              <a:rPr lang="en-GB" dirty="0"/>
              <a:t>, </a:t>
            </a:r>
            <a:r>
              <a:rPr lang="en-GB" u="sng" dirty="0"/>
              <a:t>though the germinal membrane is still viable</a:t>
            </a:r>
            <a:r>
              <a:rPr lang="en-GB" dirty="0"/>
              <a:t>.</a:t>
            </a:r>
            <a:endParaRPr lang="en-US" dirty="0"/>
          </a:p>
        </p:txBody>
      </p:sp>
    </p:spTree>
    <p:extLst>
      <p:ext uri="{BB962C8B-B14F-4D97-AF65-F5344CB8AC3E}">
        <p14:creationId xmlns:p14="http://schemas.microsoft.com/office/powerpoint/2010/main" val="2967445436"/>
      </p:ext>
    </p:extLst>
  </p:cSld>
  <p:clrMapOvr>
    <a:masterClrMapping/>
  </p:clrMapOvr>
</p:sld>
</file>

<file path=ppt/slides/slide3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solidFill>
                  <a:srgbClr val="FF3399"/>
                </a:solidFill>
              </a:rPr>
            </a:br>
            <a:r>
              <a:rPr lang="en-GB" b="1" i="1" dirty="0">
                <a:solidFill>
                  <a:srgbClr val="FF3399"/>
                </a:solidFill>
              </a:rPr>
              <a:t>Echinococcus multilocularis </a:t>
            </a:r>
            <a:r>
              <a:rPr lang="en-GB" b="1" i="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endParaRPr lang="en-GB" dirty="0"/>
          </a:p>
          <a:p>
            <a:pPr lvl="0">
              <a:buFont typeface="Wingdings" pitchFamily="2" charset="2"/>
              <a:buChar char="v"/>
            </a:pPr>
            <a:r>
              <a:rPr lang="en-GB" dirty="0">
                <a:solidFill>
                  <a:srgbClr val="00B050"/>
                </a:solidFill>
              </a:rPr>
              <a:t>Dogs</a:t>
            </a:r>
            <a:r>
              <a:rPr lang="en-GB" dirty="0"/>
              <a:t> </a:t>
            </a:r>
            <a:r>
              <a:rPr lang="en-GB" u="sng" dirty="0"/>
              <a:t>that catch and eat wild rodents seem to be the </a:t>
            </a:r>
            <a:r>
              <a:rPr lang="en-GB" dirty="0">
                <a:solidFill>
                  <a:srgbClr val="FF0000"/>
                </a:solidFill>
              </a:rPr>
              <a:t>main source of human infection</a:t>
            </a:r>
            <a:endParaRPr lang="en-US" dirty="0">
              <a:solidFill>
                <a:srgbClr val="FF0000"/>
              </a:solidFill>
            </a:endParaRPr>
          </a:p>
          <a:p>
            <a:pPr lvl="0">
              <a:buFont typeface="Wingdings" pitchFamily="2" charset="2"/>
              <a:buChar char="v"/>
            </a:pPr>
            <a:r>
              <a:rPr lang="en-GB" u="sng" dirty="0"/>
              <a:t>The infection can be prevented by </a:t>
            </a:r>
            <a:r>
              <a:rPr lang="en-GB" dirty="0">
                <a:solidFill>
                  <a:srgbClr val="00B050"/>
                </a:solidFill>
              </a:rPr>
              <a:t>avoiding dogs and their faeces</a:t>
            </a:r>
            <a:r>
              <a:rPr lang="en-GB" dirty="0"/>
              <a:t> </a:t>
            </a:r>
            <a:r>
              <a:rPr lang="en-GB" u="sng" dirty="0"/>
              <a:t>in endemic regions</a:t>
            </a:r>
            <a:endParaRPr lang="en-US" u="sng" dirty="0"/>
          </a:p>
          <a:p>
            <a:pPr lvl="0">
              <a:buFont typeface="Wingdings" pitchFamily="2" charset="2"/>
              <a:buChar char="v"/>
            </a:pPr>
            <a:r>
              <a:rPr lang="en-GB" dirty="0">
                <a:solidFill>
                  <a:srgbClr val="00B050"/>
                </a:solidFill>
              </a:rPr>
              <a:t>Albendazole</a:t>
            </a:r>
            <a:r>
              <a:rPr lang="en-GB" dirty="0"/>
              <a:t> </a:t>
            </a:r>
            <a:r>
              <a:rPr lang="en-GB" u="sng" dirty="0"/>
              <a:t>treatment may be effective in some patients</a:t>
            </a:r>
            <a:endParaRPr lang="en-US" u="sng" dirty="0"/>
          </a:p>
          <a:p>
            <a:pPr marL="0" indent="0">
              <a:buNone/>
            </a:pPr>
            <a:endParaRPr lang="en-US" dirty="0"/>
          </a:p>
        </p:txBody>
      </p:sp>
    </p:spTree>
    <p:extLst>
      <p:ext uri="{BB962C8B-B14F-4D97-AF65-F5344CB8AC3E}">
        <p14:creationId xmlns:p14="http://schemas.microsoft.com/office/powerpoint/2010/main" val="2667414502"/>
      </p:ext>
    </p:extLst>
  </p:cSld>
  <p:clrMapOvr>
    <a:masterClrMapping/>
  </p:clrMapOvr>
</p:sld>
</file>

<file path=ppt/slides/slide3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FF3399"/>
                </a:solidFill>
              </a:rPr>
              <a:t>Hymenolepis nana</a:t>
            </a:r>
            <a:r>
              <a:rPr lang="en-GB" b="1" dirty="0">
                <a:solidFill>
                  <a:srgbClr val="FF3399"/>
                </a:solidFill>
              </a:rPr>
              <a:t> </a:t>
            </a:r>
            <a:r>
              <a:rPr lang="en-GB" b="1" dirty="0"/>
              <a:t>and </a:t>
            </a:r>
            <a:r>
              <a:rPr lang="en-GB" b="1" i="1" dirty="0">
                <a:solidFill>
                  <a:srgbClr val="FF3399"/>
                </a:solidFill>
              </a:rPr>
              <a:t>Hymenolepis diminuta</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GB" b="1" i="1" dirty="0">
                <a:solidFill>
                  <a:srgbClr val="FF3399"/>
                </a:solidFill>
              </a:rPr>
              <a:t>Hymenolepis nana</a:t>
            </a:r>
            <a:r>
              <a:rPr lang="en-GB" b="1" dirty="0">
                <a:solidFill>
                  <a:srgbClr val="FF3399"/>
                </a:solidFill>
              </a:rPr>
              <a:t> </a:t>
            </a:r>
            <a:r>
              <a:rPr lang="en-GB" b="1" dirty="0"/>
              <a:t>and </a:t>
            </a:r>
            <a:r>
              <a:rPr lang="en-GB" b="1" i="1" dirty="0">
                <a:solidFill>
                  <a:srgbClr val="FF3399"/>
                </a:solidFill>
              </a:rPr>
              <a:t>Hymenolepis diminuta</a:t>
            </a:r>
            <a:endParaRPr lang="en-US" dirty="0">
              <a:solidFill>
                <a:srgbClr val="FF3399"/>
              </a:solidFill>
            </a:endParaRPr>
          </a:p>
          <a:p>
            <a:pPr lvl="0">
              <a:buFont typeface="Wingdings" pitchFamily="2" charset="2"/>
              <a:buChar char="v"/>
            </a:pPr>
            <a:r>
              <a:rPr lang="en-GB" dirty="0"/>
              <a:t>These two species are of the family </a:t>
            </a:r>
            <a:r>
              <a:rPr lang="en-GB" dirty="0">
                <a:solidFill>
                  <a:srgbClr val="0070C0"/>
                </a:solidFill>
              </a:rPr>
              <a:t>Hymenolepididae</a:t>
            </a:r>
            <a:r>
              <a:rPr lang="en-GB" dirty="0"/>
              <a:t> which consist of numerous genera. </a:t>
            </a:r>
            <a:r>
              <a:rPr lang="en-GB" b="1" dirty="0"/>
              <a:t>They are </a:t>
            </a:r>
            <a:r>
              <a:rPr lang="en-GB" b="1" u="sng" dirty="0"/>
              <a:t>the only members affecting humans</a:t>
            </a:r>
            <a:r>
              <a:rPr lang="en-GB" dirty="0"/>
              <a:t> </a:t>
            </a:r>
            <a:endParaRPr lang="en-US" dirty="0"/>
          </a:p>
          <a:p>
            <a:pPr marL="0" indent="0">
              <a:buNone/>
            </a:pPr>
            <a:br>
              <a:rPr lang="en-US" dirty="0"/>
            </a:br>
            <a:endParaRPr lang="en-US" dirty="0"/>
          </a:p>
        </p:txBody>
      </p:sp>
    </p:spTree>
    <p:extLst>
      <p:ext uri="{BB962C8B-B14F-4D97-AF65-F5344CB8AC3E}">
        <p14:creationId xmlns:p14="http://schemas.microsoft.com/office/powerpoint/2010/main" val="4170754955"/>
      </p:ext>
    </p:extLst>
  </p:cSld>
  <p:clrMapOvr>
    <a:masterClrMapping/>
  </p:clrMapOvr>
</p:sld>
</file>

<file path=ppt/slides/slide3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FF3399"/>
                </a:solidFill>
              </a:rPr>
              <a:t>Hymenolepis nana</a:t>
            </a:r>
            <a:r>
              <a:rPr lang="en-GB" dirty="0">
                <a:solidFill>
                  <a:srgbClr val="FF3399"/>
                </a:solidFill>
              </a:rPr>
              <a:t> </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GB" b="1" i="1" dirty="0">
                <a:solidFill>
                  <a:srgbClr val="FF3399"/>
                </a:solidFill>
              </a:rPr>
              <a:t>Hymenolepis nana</a:t>
            </a:r>
            <a:r>
              <a:rPr lang="en-GB" dirty="0">
                <a:solidFill>
                  <a:srgbClr val="FF3399"/>
                </a:solidFill>
              </a:rPr>
              <a:t> </a:t>
            </a:r>
            <a:r>
              <a:rPr lang="en-GB" dirty="0"/>
              <a:t>(the </a:t>
            </a:r>
            <a:r>
              <a:rPr lang="en-GB" b="1" dirty="0"/>
              <a:t>dwarf tapeworm</a:t>
            </a:r>
            <a:r>
              <a:rPr lang="en-GB" dirty="0"/>
              <a:t>; </a:t>
            </a:r>
            <a:r>
              <a:rPr lang="en-GB" dirty="0">
                <a:solidFill>
                  <a:srgbClr val="FF3399"/>
                </a:solidFill>
              </a:rPr>
              <a:t>nanos</a:t>
            </a:r>
            <a:r>
              <a:rPr lang="en-GB" dirty="0"/>
              <a:t>= </a:t>
            </a:r>
            <a:r>
              <a:rPr lang="en-GB" b="1" dirty="0"/>
              <a:t>dwarf</a:t>
            </a:r>
            <a:r>
              <a:rPr lang="en-GB" dirty="0"/>
              <a:t>)</a:t>
            </a:r>
            <a:endParaRPr lang="en-US" dirty="0"/>
          </a:p>
          <a:p>
            <a:pPr lvl="0">
              <a:buFont typeface="Wingdings" pitchFamily="2" charset="2"/>
              <a:buChar char="v"/>
            </a:pPr>
            <a:r>
              <a:rPr lang="en-GB" dirty="0"/>
              <a:t>It is also known as </a:t>
            </a:r>
            <a:r>
              <a:rPr lang="en-GB" b="1" i="1" dirty="0">
                <a:solidFill>
                  <a:srgbClr val="FF3399"/>
                </a:solidFill>
              </a:rPr>
              <a:t>Vampirolepis nana</a:t>
            </a:r>
            <a:r>
              <a:rPr lang="en-GB" b="1" dirty="0">
                <a:solidFill>
                  <a:srgbClr val="FF3399"/>
                </a:solidFill>
              </a:rPr>
              <a:t> </a:t>
            </a:r>
            <a:r>
              <a:rPr lang="en-GB" dirty="0"/>
              <a:t>is cosmopolitan ( that is one of the most common Cestodes of human in the world)</a:t>
            </a:r>
            <a:endParaRPr lang="en-US" dirty="0"/>
          </a:p>
          <a:p>
            <a:pPr lvl="0">
              <a:buFont typeface="Wingdings" pitchFamily="2" charset="2"/>
              <a:buChar char="v"/>
            </a:pPr>
            <a:r>
              <a:rPr lang="en-GB" dirty="0">
                <a:solidFill>
                  <a:srgbClr val="0070C0"/>
                </a:solidFill>
              </a:rPr>
              <a:t>Infect children </a:t>
            </a:r>
            <a:r>
              <a:rPr lang="en-GB" dirty="0"/>
              <a:t>mainly. </a:t>
            </a:r>
          </a:p>
          <a:p>
            <a:pPr lvl="0">
              <a:buFont typeface="Wingdings" pitchFamily="2" charset="2"/>
              <a:buChar char="v"/>
            </a:pPr>
            <a:r>
              <a:rPr lang="en-GB" dirty="0"/>
              <a:t>It is a small species.</a:t>
            </a:r>
            <a:endParaRPr lang="en-US" dirty="0"/>
          </a:p>
          <a:p>
            <a:endParaRPr lang="en-US" dirty="0"/>
          </a:p>
        </p:txBody>
      </p:sp>
    </p:spTree>
    <p:extLst>
      <p:ext uri="{BB962C8B-B14F-4D97-AF65-F5344CB8AC3E}">
        <p14:creationId xmlns:p14="http://schemas.microsoft.com/office/powerpoint/2010/main" val="1930489939"/>
      </p:ext>
    </p:extLst>
  </p:cSld>
  <p:clrMapOvr>
    <a:masterClrMapping/>
  </p:clrMapOvr>
</p:sld>
</file>

<file path=ppt/slides/slide3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FF3399"/>
                </a:solidFill>
              </a:rPr>
              <a:t>Hymenolepis nana </a:t>
            </a:r>
            <a:r>
              <a:rPr lang="en-GB" b="1" i="1" dirty="0"/>
              <a:t>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GB" b="1" u="sng" dirty="0"/>
              <a:t>Life cycle</a:t>
            </a:r>
            <a:endParaRPr lang="en-US" u="sng" dirty="0"/>
          </a:p>
          <a:p>
            <a:pPr lvl="0">
              <a:buFont typeface="Wingdings" pitchFamily="2" charset="2"/>
              <a:buChar char="v"/>
            </a:pPr>
            <a:r>
              <a:rPr lang="en-GB" dirty="0"/>
              <a:t>This is </a:t>
            </a:r>
            <a:r>
              <a:rPr lang="en-GB" b="1" dirty="0"/>
              <a:t>unique among tapeworms </a:t>
            </a:r>
            <a:r>
              <a:rPr lang="en-GB" dirty="0"/>
              <a:t>in that an </a:t>
            </a:r>
            <a:r>
              <a:rPr lang="en-GB" dirty="0">
                <a:solidFill>
                  <a:schemeClr val="accent6">
                    <a:lumMod val="75000"/>
                  </a:schemeClr>
                </a:solidFill>
              </a:rPr>
              <a:t>intermediate host is </a:t>
            </a:r>
            <a:r>
              <a:rPr lang="en-GB" b="1" dirty="0">
                <a:solidFill>
                  <a:schemeClr val="accent6">
                    <a:lumMod val="75000"/>
                  </a:schemeClr>
                </a:solidFill>
              </a:rPr>
              <a:t>optional</a:t>
            </a:r>
            <a:endParaRPr lang="en-US" b="1" dirty="0">
              <a:solidFill>
                <a:schemeClr val="accent6">
                  <a:lumMod val="75000"/>
                </a:schemeClr>
              </a:solidFill>
            </a:endParaRPr>
          </a:p>
          <a:p>
            <a:pPr lvl="0">
              <a:buFont typeface="Wingdings" pitchFamily="2" charset="2"/>
              <a:buChar char="v"/>
            </a:pPr>
            <a:r>
              <a:rPr lang="en-GB" u="sng" dirty="0"/>
              <a:t>When eaten by a person or a rodent, eggs hatch in the duodenum, releasing </a:t>
            </a:r>
            <a:r>
              <a:rPr lang="en-GB" dirty="0">
                <a:solidFill>
                  <a:srgbClr val="C00000"/>
                </a:solidFill>
              </a:rPr>
              <a:t>oncospheres</a:t>
            </a:r>
            <a:r>
              <a:rPr lang="en-GB" dirty="0"/>
              <a:t>, </a:t>
            </a:r>
            <a:r>
              <a:rPr lang="en-GB" u="sng" dirty="0"/>
              <a:t>which penetrate the mucosa and come to lie in lymph channels of the villi and develop into</a:t>
            </a:r>
            <a:r>
              <a:rPr lang="en-GB" dirty="0"/>
              <a:t> </a:t>
            </a:r>
            <a:r>
              <a:rPr lang="en-GB" dirty="0">
                <a:solidFill>
                  <a:srgbClr val="C00000"/>
                </a:solidFill>
              </a:rPr>
              <a:t>cysticercoid</a:t>
            </a:r>
            <a:r>
              <a:rPr lang="en-GB" dirty="0"/>
              <a:t>.</a:t>
            </a:r>
            <a:endParaRPr lang="en-US" dirty="0"/>
          </a:p>
          <a:p>
            <a:endParaRPr lang="en-US" dirty="0"/>
          </a:p>
        </p:txBody>
      </p:sp>
    </p:spTree>
    <p:extLst>
      <p:ext uri="{BB962C8B-B14F-4D97-AF65-F5344CB8AC3E}">
        <p14:creationId xmlns:p14="http://schemas.microsoft.com/office/powerpoint/2010/main" val="818127884"/>
      </p:ext>
    </p:extLst>
  </p:cSld>
  <p:clrMapOvr>
    <a:masterClrMapping/>
  </p:clrMapOvr>
</p:sld>
</file>

<file path=ppt/slides/slide3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FF3399"/>
                </a:solidFill>
              </a:rPr>
              <a:t>Hymenolepis nana </a:t>
            </a:r>
            <a:r>
              <a:rPr lang="en-GB" b="1" i="1" dirty="0"/>
              <a:t>cont’d</a:t>
            </a:r>
            <a:br>
              <a:rPr lang="en-US" dirty="0"/>
            </a:br>
            <a:endParaRPr lang="en-US" dirty="0"/>
          </a:p>
        </p:txBody>
      </p:sp>
      <p:sp>
        <p:nvSpPr>
          <p:cNvPr id="3" name="Content Placeholder 2"/>
          <p:cNvSpPr>
            <a:spLocks noGrp="1"/>
          </p:cNvSpPr>
          <p:nvPr>
            <p:ph idx="1"/>
          </p:nvPr>
        </p:nvSpPr>
        <p:spPr/>
        <p:txBody>
          <a:bodyPr/>
          <a:lstStyle/>
          <a:p>
            <a:endParaRPr lang="en-US" dirty="0"/>
          </a:p>
          <a:p>
            <a:pPr>
              <a:buFont typeface="Wingdings" pitchFamily="2" charset="2"/>
              <a:buChar char="v"/>
            </a:pPr>
            <a:r>
              <a:rPr lang="en-GB" u="sng" dirty="0"/>
              <a:t>Besides </a:t>
            </a:r>
            <a:r>
              <a:rPr lang="en-GB" u="sng" dirty="0">
                <a:solidFill>
                  <a:srgbClr val="00B050"/>
                </a:solidFill>
              </a:rPr>
              <a:t>humans</a:t>
            </a:r>
            <a:r>
              <a:rPr lang="en-GB" dirty="0"/>
              <a:t>, </a:t>
            </a:r>
            <a:r>
              <a:rPr lang="en-GB" u="sng" dirty="0">
                <a:solidFill>
                  <a:srgbClr val="00B050"/>
                </a:solidFill>
              </a:rPr>
              <a:t>domestic rats </a:t>
            </a:r>
            <a:r>
              <a:rPr lang="en-GB" dirty="0"/>
              <a:t>and </a:t>
            </a:r>
            <a:r>
              <a:rPr lang="en-GB" dirty="0">
                <a:solidFill>
                  <a:srgbClr val="00B050"/>
                </a:solidFill>
              </a:rPr>
              <a:t>mice</a:t>
            </a:r>
            <a:r>
              <a:rPr lang="en-GB" dirty="0"/>
              <a:t> </a:t>
            </a:r>
            <a:r>
              <a:rPr lang="en-GB" dirty="0">
                <a:solidFill>
                  <a:schemeClr val="accent6">
                    <a:lumMod val="75000"/>
                  </a:schemeClr>
                </a:solidFill>
              </a:rPr>
              <a:t>also serve as suitable hosts</a:t>
            </a:r>
            <a:endParaRPr lang="en-US" dirty="0">
              <a:solidFill>
                <a:schemeClr val="accent6">
                  <a:lumMod val="75000"/>
                </a:schemeClr>
              </a:solidFill>
            </a:endParaRPr>
          </a:p>
          <a:p>
            <a:pPr lvl="0">
              <a:buFont typeface="Wingdings" pitchFamily="2" charset="2"/>
              <a:buChar char="v"/>
            </a:pPr>
            <a:r>
              <a:rPr lang="en-GB" u="sng" dirty="0"/>
              <a:t>In 5-6 days, </a:t>
            </a:r>
            <a:r>
              <a:rPr lang="en-GB" u="sng" dirty="0">
                <a:solidFill>
                  <a:srgbClr val="C00000"/>
                </a:solidFill>
              </a:rPr>
              <a:t>cysticercoids</a:t>
            </a:r>
            <a:r>
              <a:rPr lang="en-GB" u="sng" dirty="0"/>
              <a:t> emerge into the lumen of the small intestine where they attach and mature</a:t>
            </a:r>
            <a:endParaRPr lang="en-US" u="sng" dirty="0"/>
          </a:p>
          <a:p>
            <a:pPr>
              <a:buFont typeface="Wingdings" pitchFamily="2" charset="2"/>
              <a:buChar char="v"/>
            </a:pPr>
            <a:endParaRPr lang="en-US" dirty="0"/>
          </a:p>
        </p:txBody>
      </p:sp>
    </p:spTree>
    <p:extLst>
      <p:ext uri="{BB962C8B-B14F-4D97-AF65-F5344CB8AC3E}">
        <p14:creationId xmlns:p14="http://schemas.microsoft.com/office/powerpoint/2010/main" val="3247676376"/>
      </p:ext>
    </p:extLst>
  </p:cSld>
  <p:clrMapOvr>
    <a:masterClrMapping/>
  </p:clrMapOvr>
</p:sld>
</file>

<file path=ppt/slides/slide3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FF3399"/>
                </a:solidFill>
              </a:rPr>
              <a:t>Hymenolepis nana </a:t>
            </a:r>
            <a:r>
              <a:rPr lang="en-GB" b="1" i="1" dirty="0"/>
              <a:t>cont’d</a:t>
            </a:r>
            <a:br>
              <a:rPr lang="en-US" dirty="0"/>
            </a:br>
            <a:endParaRPr lang="en-US" dirty="0"/>
          </a:p>
        </p:txBody>
      </p:sp>
      <p:sp>
        <p:nvSpPr>
          <p:cNvPr id="3" name="Content Placeholder 2"/>
          <p:cNvSpPr>
            <a:spLocks noGrp="1"/>
          </p:cNvSpPr>
          <p:nvPr>
            <p:ph idx="1"/>
          </p:nvPr>
        </p:nvSpPr>
        <p:spPr>
          <a:xfrm>
            <a:off x="457200" y="1600200"/>
            <a:ext cx="8229600" cy="4953000"/>
          </a:xfrm>
        </p:spPr>
        <p:txBody>
          <a:bodyPr>
            <a:normAutofit lnSpcReduction="10000"/>
          </a:bodyPr>
          <a:lstStyle/>
          <a:p>
            <a:pPr marL="0" indent="0" algn="ctr">
              <a:buNone/>
            </a:pPr>
            <a:r>
              <a:rPr lang="en-GB" b="1" dirty="0">
                <a:solidFill>
                  <a:srgbClr val="FF0000"/>
                </a:solidFill>
              </a:rPr>
              <a:t>Pathology</a:t>
            </a:r>
            <a:r>
              <a:rPr lang="en-GB" b="1" dirty="0"/>
              <a:t> and </a:t>
            </a:r>
            <a:r>
              <a:rPr lang="en-GB" b="1" dirty="0">
                <a:solidFill>
                  <a:srgbClr val="00B050"/>
                </a:solidFill>
              </a:rPr>
              <a:t>Treatment</a:t>
            </a:r>
            <a:endParaRPr lang="en-US" dirty="0">
              <a:solidFill>
                <a:srgbClr val="00B050"/>
              </a:solidFill>
            </a:endParaRPr>
          </a:p>
          <a:p>
            <a:pPr lvl="0">
              <a:buFont typeface="Wingdings" pitchFamily="2" charset="2"/>
              <a:buChar char="v"/>
            </a:pPr>
            <a:r>
              <a:rPr lang="en-GB" u="sng" dirty="0"/>
              <a:t>Heavy infections can occur through </a:t>
            </a:r>
            <a:r>
              <a:rPr lang="en-GB" u="sng" dirty="0">
                <a:solidFill>
                  <a:srgbClr val="7030A0"/>
                </a:solidFill>
              </a:rPr>
              <a:t>autoinfection</a:t>
            </a:r>
            <a:r>
              <a:rPr lang="en-GB" u="sng" dirty="0"/>
              <a:t> and symptoms are similar to those of</a:t>
            </a:r>
            <a:r>
              <a:rPr lang="en-GB" dirty="0"/>
              <a:t> </a:t>
            </a:r>
            <a:r>
              <a:rPr lang="en-GB" i="1" dirty="0">
                <a:solidFill>
                  <a:srgbClr val="FF3399"/>
                </a:solidFill>
              </a:rPr>
              <a:t>T. saginata</a:t>
            </a:r>
            <a:endParaRPr lang="en-US" dirty="0">
              <a:solidFill>
                <a:srgbClr val="FF3399"/>
              </a:solidFill>
            </a:endParaRPr>
          </a:p>
          <a:p>
            <a:pPr lvl="0">
              <a:buFont typeface="Wingdings" pitchFamily="2" charset="2"/>
              <a:buChar char="v"/>
            </a:pPr>
            <a:r>
              <a:rPr lang="en-GB" dirty="0">
                <a:solidFill>
                  <a:srgbClr val="00B050"/>
                </a:solidFill>
              </a:rPr>
              <a:t>Praziquantel</a:t>
            </a:r>
            <a:r>
              <a:rPr lang="en-GB" dirty="0"/>
              <a:t> </a:t>
            </a:r>
            <a:r>
              <a:rPr lang="en-GB" u="sng" dirty="0"/>
              <a:t>acts very rapidly against </a:t>
            </a:r>
            <a:r>
              <a:rPr lang="en-GB" i="1" dirty="0">
                <a:solidFill>
                  <a:srgbClr val="FF3399"/>
                </a:solidFill>
              </a:rPr>
              <a:t>H. nana</a:t>
            </a:r>
            <a:r>
              <a:rPr lang="en-GB" dirty="0">
                <a:solidFill>
                  <a:srgbClr val="FF3399"/>
                </a:solidFill>
              </a:rPr>
              <a:t> </a:t>
            </a:r>
            <a:r>
              <a:rPr lang="en-GB" dirty="0"/>
              <a:t>and </a:t>
            </a:r>
            <a:r>
              <a:rPr lang="en-GB" i="1" dirty="0">
                <a:solidFill>
                  <a:srgbClr val="FF3399"/>
                </a:solidFill>
              </a:rPr>
              <a:t>H. diminuta</a:t>
            </a:r>
            <a:endParaRPr lang="en-US" dirty="0">
              <a:solidFill>
                <a:srgbClr val="FF3399"/>
              </a:solidFill>
            </a:endParaRPr>
          </a:p>
          <a:p>
            <a:pPr lvl="0">
              <a:buFont typeface="Wingdings" pitchFamily="2" charset="2"/>
              <a:buChar char="v"/>
            </a:pPr>
            <a:r>
              <a:rPr lang="en-GB" u="sng" dirty="0"/>
              <a:t>Toxins released by the worms can cause </a:t>
            </a:r>
            <a:r>
              <a:rPr lang="en-GB" u="sng" dirty="0">
                <a:solidFill>
                  <a:srgbClr val="FF0000"/>
                </a:solidFill>
              </a:rPr>
              <a:t>allergic reactions</a:t>
            </a:r>
            <a:endParaRPr lang="en-US" u="sng" dirty="0">
              <a:solidFill>
                <a:srgbClr val="FF0000"/>
              </a:solidFill>
            </a:endParaRPr>
          </a:p>
          <a:p>
            <a:pPr lvl="0">
              <a:buFont typeface="Wingdings" pitchFamily="2" charset="2"/>
              <a:buChar char="v"/>
            </a:pPr>
            <a:r>
              <a:rPr lang="en-GB" dirty="0">
                <a:solidFill>
                  <a:srgbClr val="7030A0"/>
                </a:solidFill>
              </a:rPr>
              <a:t>Autoinfection</a:t>
            </a:r>
            <a:r>
              <a:rPr lang="en-GB" dirty="0"/>
              <a:t> can occur but the adults lifespan is only a few months.</a:t>
            </a:r>
            <a:endParaRPr lang="en-US" dirty="0"/>
          </a:p>
          <a:p>
            <a:pPr marL="0" indent="0">
              <a:buNone/>
            </a:pPr>
            <a:endParaRPr lang="en-US" dirty="0"/>
          </a:p>
        </p:txBody>
      </p:sp>
    </p:spTree>
    <p:extLst>
      <p:ext uri="{BB962C8B-B14F-4D97-AF65-F5344CB8AC3E}">
        <p14:creationId xmlns:p14="http://schemas.microsoft.com/office/powerpoint/2010/main" val="3031681796"/>
      </p:ext>
    </p:extLst>
  </p:cSld>
  <p:clrMapOvr>
    <a:masterClrMapping/>
  </p:clrMapOvr>
</p:sld>
</file>

<file path=ppt/slides/slide3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FF3399"/>
                </a:solidFill>
              </a:rPr>
              <a:t>Hymenolepis nana </a:t>
            </a:r>
            <a:r>
              <a:rPr lang="en-GB" b="1" i="1" dirty="0"/>
              <a:t>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GB" b="1" u="sng" dirty="0"/>
              <a:t>Morphology</a:t>
            </a:r>
            <a:endParaRPr lang="en-US" u="sng" dirty="0"/>
          </a:p>
          <a:p>
            <a:pPr lvl="0">
              <a:buFont typeface="Wingdings" pitchFamily="2" charset="2"/>
              <a:buChar char="v"/>
            </a:pPr>
            <a:r>
              <a:rPr lang="en-GB" dirty="0"/>
              <a:t>The </a:t>
            </a:r>
            <a:r>
              <a:rPr lang="en-GB" dirty="0">
                <a:solidFill>
                  <a:srgbClr val="C00000"/>
                </a:solidFill>
              </a:rPr>
              <a:t>Scolex</a:t>
            </a:r>
            <a:r>
              <a:rPr lang="en-GB" dirty="0"/>
              <a:t> bears a </a:t>
            </a:r>
            <a:r>
              <a:rPr lang="en-GB" dirty="0">
                <a:solidFill>
                  <a:srgbClr val="00B0F0"/>
                </a:solidFill>
              </a:rPr>
              <a:t>retractable rostellum </a:t>
            </a:r>
            <a:r>
              <a:rPr lang="en-GB" dirty="0"/>
              <a:t>(</a:t>
            </a:r>
            <a:r>
              <a:rPr lang="en-GB" dirty="0">
                <a:solidFill>
                  <a:srgbClr val="FF3399"/>
                </a:solidFill>
              </a:rPr>
              <a:t>non retractable in T. solium</a:t>
            </a:r>
            <a:r>
              <a:rPr lang="en-GB" dirty="0"/>
              <a:t>) armed with a </a:t>
            </a:r>
            <a:r>
              <a:rPr lang="en-GB" dirty="0">
                <a:solidFill>
                  <a:srgbClr val="00B0F0"/>
                </a:solidFill>
              </a:rPr>
              <a:t>single circle of 20-30 hooks </a:t>
            </a:r>
            <a:r>
              <a:rPr lang="en-GB" u="sng" dirty="0"/>
              <a:t>(</a:t>
            </a:r>
            <a:r>
              <a:rPr lang="en-GB" u="sng" dirty="0">
                <a:solidFill>
                  <a:srgbClr val="FF3399"/>
                </a:solidFill>
              </a:rPr>
              <a:t>double circles of 200-300 hooks in T. solium</a:t>
            </a:r>
            <a:r>
              <a:rPr lang="en-GB" u="sng" dirty="0"/>
              <a:t>). </a:t>
            </a:r>
          </a:p>
          <a:p>
            <a:pPr lvl="0">
              <a:buFont typeface="Wingdings" pitchFamily="2" charset="2"/>
              <a:buChar char="v"/>
            </a:pPr>
            <a:r>
              <a:rPr lang="en-GB" u="sng" dirty="0"/>
              <a:t>The neck is long and slender and the </a:t>
            </a:r>
            <a:r>
              <a:rPr lang="en-GB" u="sng" dirty="0">
                <a:solidFill>
                  <a:srgbClr val="C00000"/>
                </a:solidFill>
              </a:rPr>
              <a:t>segments</a:t>
            </a:r>
            <a:r>
              <a:rPr lang="en-GB" u="sng" dirty="0"/>
              <a:t> are wider than long </a:t>
            </a:r>
            <a:endParaRPr lang="en-US" u="sng" dirty="0"/>
          </a:p>
          <a:p>
            <a:pPr lvl="0">
              <a:buFont typeface="Wingdings" pitchFamily="2" charset="2"/>
              <a:buChar char="v"/>
            </a:pPr>
            <a:r>
              <a:rPr lang="en-GB" dirty="0"/>
              <a:t>The </a:t>
            </a:r>
            <a:r>
              <a:rPr lang="en-GB" dirty="0">
                <a:solidFill>
                  <a:srgbClr val="C00000"/>
                </a:solidFill>
              </a:rPr>
              <a:t>oncospheres</a:t>
            </a:r>
            <a:r>
              <a:rPr lang="en-GB" dirty="0"/>
              <a:t> is </a:t>
            </a:r>
            <a:r>
              <a:rPr lang="en-GB" u="sng" dirty="0"/>
              <a:t>covered with a </a:t>
            </a:r>
            <a:r>
              <a:rPr lang="en-GB" u="sng" dirty="0">
                <a:solidFill>
                  <a:srgbClr val="00B0F0"/>
                </a:solidFill>
              </a:rPr>
              <a:t>thin hyaline outer membrane </a:t>
            </a:r>
            <a:r>
              <a:rPr lang="en-GB" dirty="0"/>
              <a:t>and </a:t>
            </a:r>
            <a:r>
              <a:rPr lang="en-GB" u="sng" dirty="0">
                <a:solidFill>
                  <a:srgbClr val="00B0F0"/>
                </a:solidFill>
              </a:rPr>
              <a:t>inner thick membrane</a:t>
            </a:r>
            <a:r>
              <a:rPr lang="en-GB" u="sng" dirty="0"/>
              <a:t> with </a:t>
            </a:r>
            <a:r>
              <a:rPr lang="en-GB" u="sng" dirty="0">
                <a:solidFill>
                  <a:srgbClr val="00B0F0"/>
                </a:solidFill>
              </a:rPr>
              <a:t>polar thickenings </a:t>
            </a:r>
            <a:r>
              <a:rPr lang="en-GB" u="sng" dirty="0"/>
              <a:t>that bear </a:t>
            </a:r>
            <a:r>
              <a:rPr lang="en-GB" u="sng" dirty="0">
                <a:solidFill>
                  <a:srgbClr val="00B0F0"/>
                </a:solidFill>
              </a:rPr>
              <a:t>several filaments</a:t>
            </a:r>
            <a:r>
              <a:rPr lang="en-GB" dirty="0"/>
              <a:t>.</a:t>
            </a:r>
            <a:endParaRPr lang="en-US" dirty="0"/>
          </a:p>
          <a:p>
            <a:endParaRPr lang="en-US" dirty="0"/>
          </a:p>
        </p:txBody>
      </p:sp>
    </p:spTree>
    <p:extLst>
      <p:ext uri="{BB962C8B-B14F-4D97-AF65-F5344CB8AC3E}">
        <p14:creationId xmlns:p14="http://schemas.microsoft.com/office/powerpoint/2010/main" val="2252835193"/>
      </p:ext>
    </p:extLst>
  </p:cSld>
  <p:clrMapOvr>
    <a:masterClrMapping/>
  </p:clrMapOvr>
</p:sld>
</file>

<file path=ppt/slides/slide3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br>
              <a:rPr lang="en-GB" b="1" i="1" dirty="0"/>
            </a:br>
            <a:r>
              <a:rPr lang="en-GB" b="1" i="1" dirty="0">
                <a:solidFill>
                  <a:srgbClr val="FF3399"/>
                </a:solidFill>
              </a:rPr>
              <a:t>Hymenolepis diminuta</a:t>
            </a:r>
            <a:br>
              <a:rPr lang="en-US" dirty="0"/>
            </a:b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buFont typeface="Wingdings" pitchFamily="2" charset="2"/>
              <a:buChar char="v"/>
            </a:pPr>
            <a:r>
              <a:rPr lang="en-GB" dirty="0"/>
              <a:t>This is cosmopolitan and primarily </a:t>
            </a:r>
            <a:r>
              <a:rPr lang="en-GB" dirty="0">
                <a:solidFill>
                  <a:schemeClr val="accent6">
                    <a:lumMod val="75000"/>
                  </a:schemeClr>
                </a:solidFill>
              </a:rPr>
              <a:t>parasitic in </a:t>
            </a:r>
            <a:r>
              <a:rPr lang="en-GB" dirty="0">
                <a:solidFill>
                  <a:srgbClr val="00B050"/>
                </a:solidFill>
              </a:rPr>
              <a:t>rats </a:t>
            </a:r>
            <a:r>
              <a:rPr lang="en-GB" dirty="0"/>
              <a:t>( </a:t>
            </a:r>
            <a:r>
              <a:rPr lang="en-GB" i="1" dirty="0"/>
              <a:t>Rattus</a:t>
            </a:r>
            <a:r>
              <a:rPr lang="en-GB" dirty="0"/>
              <a:t> sp.) but </a:t>
            </a:r>
            <a:r>
              <a:rPr lang="en-GB" dirty="0">
                <a:solidFill>
                  <a:srgbClr val="00B050"/>
                </a:solidFill>
              </a:rPr>
              <a:t>human</a:t>
            </a:r>
            <a:r>
              <a:rPr lang="en-GB" dirty="0"/>
              <a:t> </a:t>
            </a:r>
            <a:r>
              <a:rPr lang="en-GB" dirty="0">
                <a:solidFill>
                  <a:schemeClr val="accent6">
                    <a:lumMod val="75000"/>
                  </a:schemeClr>
                </a:solidFill>
              </a:rPr>
              <a:t>infections</a:t>
            </a:r>
            <a:r>
              <a:rPr lang="en-GB" dirty="0"/>
              <a:t> are common</a:t>
            </a:r>
            <a:endParaRPr lang="en-US" dirty="0"/>
          </a:p>
          <a:p>
            <a:pPr lvl="0">
              <a:buFont typeface="Wingdings" pitchFamily="2" charset="2"/>
              <a:buChar char="v"/>
            </a:pPr>
            <a:r>
              <a:rPr lang="en-GB" dirty="0"/>
              <a:t>It is </a:t>
            </a:r>
            <a:r>
              <a:rPr lang="en-GB" b="1" dirty="0"/>
              <a:t>larger than </a:t>
            </a:r>
            <a:r>
              <a:rPr lang="en-GB" i="1" dirty="0">
                <a:solidFill>
                  <a:srgbClr val="FF3399"/>
                </a:solidFill>
              </a:rPr>
              <a:t>H. nana</a:t>
            </a:r>
            <a:r>
              <a:rPr lang="en-GB" dirty="0">
                <a:solidFill>
                  <a:srgbClr val="FF3399"/>
                </a:solidFill>
              </a:rPr>
              <a:t> </a:t>
            </a:r>
            <a:r>
              <a:rPr lang="en-GB" u="sng" dirty="0"/>
              <a:t>and differs from it in </a:t>
            </a:r>
            <a:r>
              <a:rPr lang="en-GB" b="1" u="sng" dirty="0"/>
              <a:t>lacking hooks </a:t>
            </a:r>
            <a:r>
              <a:rPr lang="en-GB" u="sng" dirty="0"/>
              <a:t>on the </a:t>
            </a:r>
            <a:r>
              <a:rPr lang="en-GB" u="sng" dirty="0">
                <a:solidFill>
                  <a:srgbClr val="C00000"/>
                </a:solidFill>
              </a:rPr>
              <a:t>rostellum</a:t>
            </a:r>
            <a:endParaRPr lang="en-US" u="sng" dirty="0">
              <a:solidFill>
                <a:srgbClr val="C00000"/>
              </a:solidFill>
            </a:endParaRPr>
          </a:p>
          <a:p>
            <a:pPr lvl="0">
              <a:buFont typeface="Wingdings" pitchFamily="2" charset="2"/>
              <a:buChar char="v"/>
            </a:pPr>
            <a:r>
              <a:rPr lang="en-GB" dirty="0"/>
              <a:t>It has been shown experimentally that, more than </a:t>
            </a:r>
            <a:r>
              <a:rPr lang="en-GB" dirty="0">
                <a:solidFill>
                  <a:srgbClr val="00B0F0"/>
                </a:solidFill>
              </a:rPr>
              <a:t>90 species of arthropods </a:t>
            </a:r>
            <a:r>
              <a:rPr lang="en-GB" dirty="0"/>
              <a:t>can serve as </a:t>
            </a:r>
            <a:r>
              <a:rPr lang="en-GB" dirty="0">
                <a:solidFill>
                  <a:schemeClr val="accent6">
                    <a:lumMod val="75000"/>
                  </a:schemeClr>
                </a:solidFill>
              </a:rPr>
              <a:t>suitable intermediate hosts</a:t>
            </a:r>
            <a:endParaRPr lang="en-US" dirty="0">
              <a:solidFill>
                <a:schemeClr val="accent6">
                  <a:lumMod val="75000"/>
                </a:schemeClr>
              </a:solidFill>
            </a:endParaRPr>
          </a:p>
          <a:p>
            <a:pPr lvl="0">
              <a:buFont typeface="Wingdings" pitchFamily="2" charset="2"/>
              <a:buChar char="v"/>
            </a:pPr>
            <a:r>
              <a:rPr lang="en-GB" dirty="0">
                <a:solidFill>
                  <a:srgbClr val="00B0F0"/>
                </a:solidFill>
              </a:rPr>
              <a:t>Stored grain beetles </a:t>
            </a:r>
            <a:r>
              <a:rPr lang="en-GB" dirty="0"/>
              <a:t>(</a:t>
            </a:r>
            <a:r>
              <a:rPr lang="en-GB" i="1" dirty="0">
                <a:solidFill>
                  <a:srgbClr val="00B0F0"/>
                </a:solidFill>
              </a:rPr>
              <a:t>Tribolium</a:t>
            </a:r>
            <a:r>
              <a:rPr lang="en-GB" dirty="0">
                <a:solidFill>
                  <a:srgbClr val="00B0F0"/>
                </a:solidFill>
              </a:rPr>
              <a:t> spp</a:t>
            </a:r>
            <a:r>
              <a:rPr lang="en-GB" dirty="0"/>
              <a:t>.) are probably </a:t>
            </a:r>
            <a:r>
              <a:rPr lang="en-GB" dirty="0">
                <a:solidFill>
                  <a:srgbClr val="FF0000"/>
                </a:solidFill>
              </a:rPr>
              <a:t>most commonly involved in infections of both </a:t>
            </a:r>
            <a:r>
              <a:rPr lang="en-GB" dirty="0">
                <a:solidFill>
                  <a:srgbClr val="00B050"/>
                </a:solidFill>
              </a:rPr>
              <a:t>rats</a:t>
            </a:r>
            <a:r>
              <a:rPr lang="en-GB" dirty="0"/>
              <a:t> and </a:t>
            </a:r>
            <a:r>
              <a:rPr lang="en-GB" dirty="0">
                <a:solidFill>
                  <a:srgbClr val="00B050"/>
                </a:solidFill>
              </a:rPr>
              <a:t>humans</a:t>
            </a:r>
            <a:endParaRPr lang="en-US" dirty="0">
              <a:solidFill>
                <a:srgbClr val="00B050"/>
              </a:solidFill>
            </a:endParaRPr>
          </a:p>
          <a:p>
            <a:endParaRPr lang="en-US" dirty="0"/>
          </a:p>
        </p:txBody>
      </p:sp>
    </p:spTree>
    <p:extLst>
      <p:ext uri="{BB962C8B-B14F-4D97-AF65-F5344CB8AC3E}">
        <p14:creationId xmlns:p14="http://schemas.microsoft.com/office/powerpoint/2010/main" val="4105153944"/>
      </p:ext>
    </p:extLst>
  </p:cSld>
  <p:clrMapOvr>
    <a:masterClrMapping/>
  </p:clrMapOvr>
</p:sld>
</file>

<file path=ppt/slides/slide3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br>
              <a:rPr lang="en-GB" b="1" i="1" dirty="0"/>
            </a:br>
            <a:br>
              <a:rPr lang="en-GB" b="1" i="1" dirty="0"/>
            </a:br>
            <a:r>
              <a:rPr lang="en-GB" b="1" i="1" dirty="0">
                <a:solidFill>
                  <a:srgbClr val="FF3399"/>
                </a:solidFill>
              </a:rPr>
              <a:t>Hymenolepis diminuta</a:t>
            </a:r>
            <a:r>
              <a:rPr lang="en-GB" b="1" i="1" dirty="0"/>
              <a:t> cont’d</a:t>
            </a:r>
            <a:br>
              <a:rPr lang="en-US" dirty="0"/>
            </a:br>
            <a:br>
              <a:rPr lang="en-US" dirty="0"/>
            </a:b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GB" b="1" dirty="0">
                <a:solidFill>
                  <a:srgbClr val="00B050"/>
                </a:solidFill>
              </a:rPr>
              <a:t>Diagnosis</a:t>
            </a:r>
            <a:endParaRPr lang="en-US" dirty="0">
              <a:solidFill>
                <a:srgbClr val="00B050"/>
              </a:solidFill>
            </a:endParaRPr>
          </a:p>
          <a:p>
            <a:pPr lvl="0">
              <a:buFont typeface="Wingdings" pitchFamily="2" charset="2"/>
              <a:buChar char="v"/>
            </a:pPr>
            <a:r>
              <a:rPr lang="en-GB" u="sng" dirty="0"/>
              <a:t>The eggs are easily differentiated from those of </a:t>
            </a:r>
            <a:r>
              <a:rPr lang="en-GB" i="1" u="sng" dirty="0">
                <a:solidFill>
                  <a:srgbClr val="FF3399"/>
                </a:solidFill>
              </a:rPr>
              <a:t>H. nana</a:t>
            </a:r>
            <a:r>
              <a:rPr lang="en-GB" u="sng" dirty="0"/>
              <a:t>, </a:t>
            </a:r>
            <a:r>
              <a:rPr lang="en-GB" u="sng" dirty="0">
                <a:solidFill>
                  <a:srgbClr val="00B0F0"/>
                </a:solidFill>
              </a:rPr>
              <a:t>being larger </a:t>
            </a:r>
            <a:r>
              <a:rPr lang="en-GB" u="sng" dirty="0"/>
              <a:t>and </a:t>
            </a:r>
            <a:r>
              <a:rPr lang="en-GB" b="1" u="sng" dirty="0"/>
              <a:t>lacking</a:t>
            </a:r>
            <a:r>
              <a:rPr lang="en-GB" u="sng" dirty="0"/>
              <a:t> </a:t>
            </a:r>
            <a:r>
              <a:rPr lang="en-GB" u="sng" dirty="0">
                <a:solidFill>
                  <a:srgbClr val="00B0F0"/>
                </a:solidFill>
              </a:rPr>
              <a:t>polar filaments</a:t>
            </a:r>
            <a:endParaRPr lang="en-US" u="sng" dirty="0">
              <a:solidFill>
                <a:srgbClr val="00B0F0"/>
              </a:solidFill>
            </a:endParaRPr>
          </a:p>
          <a:p>
            <a:pPr lvl="0">
              <a:buFont typeface="Wingdings" pitchFamily="2" charset="2"/>
              <a:buChar char="v"/>
            </a:pPr>
            <a:r>
              <a:rPr lang="en-GB" dirty="0">
                <a:solidFill>
                  <a:srgbClr val="00B050"/>
                </a:solidFill>
              </a:rPr>
              <a:t>Treatment</a:t>
            </a:r>
            <a:r>
              <a:rPr lang="en-GB" dirty="0"/>
              <a:t> is as for </a:t>
            </a:r>
            <a:r>
              <a:rPr lang="en-GB" i="1" dirty="0">
                <a:solidFill>
                  <a:srgbClr val="FF3399"/>
                </a:solidFill>
              </a:rPr>
              <a:t>H. nana</a:t>
            </a:r>
            <a:endParaRPr lang="en-US" dirty="0">
              <a:solidFill>
                <a:srgbClr val="FF3399"/>
              </a:solidFill>
            </a:endParaRPr>
          </a:p>
          <a:p>
            <a:pPr lvl="0">
              <a:buFont typeface="Wingdings" pitchFamily="2" charset="2"/>
              <a:buChar char="v"/>
            </a:pPr>
            <a:r>
              <a:rPr lang="en-GB" dirty="0">
                <a:solidFill>
                  <a:srgbClr val="7030A0"/>
                </a:solidFill>
              </a:rPr>
              <a:t>This parasite is easily maintained in laboratory rats and beetles-</a:t>
            </a:r>
            <a:r>
              <a:rPr lang="en-GB" u="sng" dirty="0">
                <a:solidFill>
                  <a:srgbClr val="7030A0"/>
                </a:solidFill>
              </a:rPr>
              <a:t> </a:t>
            </a:r>
            <a:r>
              <a:rPr lang="en-GB" u="sng" dirty="0"/>
              <a:t>its physiology, metabolism, development, genetics and nutrient uptake have been more thoroughly studied than those of any other tapeworm</a:t>
            </a:r>
            <a:r>
              <a:rPr lang="en-GB" dirty="0"/>
              <a:t>.</a:t>
            </a:r>
            <a:endParaRPr lang="en-US" dirty="0"/>
          </a:p>
          <a:p>
            <a:endParaRPr lang="en-US" dirty="0"/>
          </a:p>
        </p:txBody>
      </p:sp>
    </p:spTree>
    <p:extLst>
      <p:ext uri="{BB962C8B-B14F-4D97-AF65-F5344CB8AC3E}">
        <p14:creationId xmlns:p14="http://schemas.microsoft.com/office/powerpoint/2010/main" val="4051520847"/>
      </p:ext>
    </p:extLst>
  </p:cSld>
  <p:clrMapOvr>
    <a:masterClrMapping/>
  </p:clrMapOvr>
</p:sld>
</file>

<file path=ppt/slides/slide3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00B050"/>
                </a:solidFill>
              </a:rPr>
              <a:t>Diagnosis</a:t>
            </a:r>
            <a:r>
              <a:rPr lang="en-GB" b="1" i="1" dirty="0">
                <a:solidFill>
                  <a:srgbClr val="00B050"/>
                </a:solidFill>
              </a:rPr>
              <a:t> of </a:t>
            </a:r>
            <a:r>
              <a:rPr lang="en-GB" b="1" i="1" dirty="0">
                <a:solidFill>
                  <a:srgbClr val="FF3399"/>
                </a:solidFill>
              </a:rPr>
              <a:t>Hymenolepis diminuta </a:t>
            </a:r>
            <a:r>
              <a:rPr lang="en-GB" b="1" i="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t>It is therefore an </a:t>
            </a:r>
            <a:r>
              <a:rPr lang="en-GB" dirty="0">
                <a:solidFill>
                  <a:srgbClr val="7030A0"/>
                </a:solidFill>
              </a:rPr>
              <a:t>ideal model for many experimental studies</a:t>
            </a:r>
            <a:endParaRPr lang="en-US" dirty="0">
              <a:solidFill>
                <a:srgbClr val="7030A0"/>
              </a:solidFill>
            </a:endParaRPr>
          </a:p>
          <a:p>
            <a:pPr lvl="0">
              <a:buFont typeface="Wingdings" pitchFamily="2" charset="2"/>
              <a:buChar char="v"/>
            </a:pPr>
            <a:r>
              <a:rPr lang="en-GB" u="sng" dirty="0"/>
              <a:t>Research on </a:t>
            </a:r>
            <a:r>
              <a:rPr lang="en-GB" i="1" u="sng" dirty="0">
                <a:solidFill>
                  <a:srgbClr val="FF3399"/>
                </a:solidFill>
              </a:rPr>
              <a:t>H. diminuta</a:t>
            </a:r>
            <a:r>
              <a:rPr lang="en-GB" u="sng" dirty="0"/>
              <a:t> has contributed enormously to our concept of tapeworms,</a:t>
            </a:r>
          </a:p>
          <a:p>
            <a:pPr lvl="0">
              <a:buFont typeface="Wingdings" pitchFamily="2" charset="2"/>
              <a:buChar char="v"/>
            </a:pPr>
            <a:r>
              <a:rPr lang="en-GB" u="sng" dirty="0"/>
              <a:t>especially how they survive, reproduce, develop and of their adaptations for parasitism</a:t>
            </a:r>
            <a:endParaRPr lang="en-US" u="sng" dirty="0"/>
          </a:p>
          <a:p>
            <a:pPr marL="0" indent="0">
              <a:buNone/>
            </a:pPr>
            <a:endParaRPr lang="en-US" dirty="0"/>
          </a:p>
        </p:txBody>
      </p:sp>
    </p:spTree>
    <p:extLst>
      <p:ext uri="{BB962C8B-B14F-4D97-AF65-F5344CB8AC3E}">
        <p14:creationId xmlns:p14="http://schemas.microsoft.com/office/powerpoint/2010/main" val="411346978"/>
      </p:ext>
    </p:extLst>
  </p:cSld>
  <p:clrMapOvr>
    <a:masterClrMapping/>
  </p:clrMapOvr>
</p:sld>
</file>

<file path=ppt/slides/slide3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FF3399"/>
                </a:solidFill>
              </a:rPr>
              <a:t>Hymenolepis diminuta</a:t>
            </a:r>
            <a:r>
              <a:rPr lang="en-GB"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GB" dirty="0">
                <a:solidFill>
                  <a:srgbClr val="00B050"/>
                </a:solidFill>
              </a:rPr>
              <a:t> </a:t>
            </a:r>
            <a:r>
              <a:rPr lang="en-GB" b="1" dirty="0">
                <a:solidFill>
                  <a:srgbClr val="00B050"/>
                </a:solidFill>
              </a:rPr>
              <a:t>Prevention and control</a:t>
            </a:r>
            <a:endParaRPr lang="en-US" dirty="0">
              <a:solidFill>
                <a:srgbClr val="00B050"/>
              </a:solidFill>
            </a:endParaRPr>
          </a:p>
          <a:p>
            <a:pPr lvl="0"/>
            <a:endParaRPr lang="en-GB" dirty="0"/>
          </a:p>
          <a:p>
            <a:pPr lvl="0">
              <a:buFont typeface="Wingdings" pitchFamily="2" charset="2"/>
              <a:buChar char="v"/>
            </a:pPr>
            <a:r>
              <a:rPr lang="en-GB" dirty="0">
                <a:solidFill>
                  <a:srgbClr val="00B050"/>
                </a:solidFill>
              </a:rPr>
              <a:t>Personal hygiene</a:t>
            </a:r>
            <a:r>
              <a:rPr lang="en-GB" dirty="0"/>
              <a:t>, </a:t>
            </a:r>
            <a:r>
              <a:rPr lang="en-GB" u="sng" dirty="0"/>
              <a:t>especially hand washing</a:t>
            </a:r>
            <a:endParaRPr lang="en-US" u="sng" dirty="0"/>
          </a:p>
          <a:p>
            <a:pPr lvl="0">
              <a:buFont typeface="Wingdings" pitchFamily="2" charset="2"/>
              <a:buChar char="v"/>
            </a:pPr>
            <a:r>
              <a:rPr lang="en-GB" dirty="0">
                <a:solidFill>
                  <a:srgbClr val="00B050"/>
                </a:solidFill>
              </a:rPr>
              <a:t>Use of latrine by all</a:t>
            </a:r>
            <a:r>
              <a:rPr lang="en-GB" dirty="0"/>
              <a:t>, </a:t>
            </a:r>
            <a:r>
              <a:rPr lang="en-GB" u="sng" dirty="0"/>
              <a:t>including children</a:t>
            </a:r>
            <a:endParaRPr lang="en-US" u="sng" dirty="0"/>
          </a:p>
          <a:p>
            <a:pPr lvl="0">
              <a:buFont typeface="Wingdings" pitchFamily="2" charset="2"/>
              <a:buChar char="v"/>
            </a:pPr>
            <a:r>
              <a:rPr lang="en-GB" dirty="0">
                <a:solidFill>
                  <a:srgbClr val="00B050"/>
                </a:solidFill>
              </a:rPr>
              <a:t>Avoiding uncooked food</a:t>
            </a:r>
            <a:endParaRPr lang="en-US" dirty="0">
              <a:solidFill>
                <a:srgbClr val="00B050"/>
              </a:solidFill>
            </a:endParaRPr>
          </a:p>
          <a:p>
            <a:pPr>
              <a:buFont typeface="Wingdings" pitchFamily="2" charset="2"/>
              <a:buChar char="v"/>
            </a:pPr>
            <a:endParaRPr lang="en-US" dirty="0"/>
          </a:p>
        </p:txBody>
      </p:sp>
    </p:spTree>
    <p:extLst>
      <p:ext uri="{BB962C8B-B14F-4D97-AF65-F5344CB8AC3E}">
        <p14:creationId xmlns:p14="http://schemas.microsoft.com/office/powerpoint/2010/main" val="3531912996"/>
      </p:ext>
    </p:extLst>
  </p:cSld>
  <p:clrMapOvr>
    <a:masterClrMapping/>
  </p:clrMapOvr>
</p:sld>
</file>

<file path=ppt/slides/slide3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82762"/>
          </a:xfrm>
        </p:spPr>
        <p:txBody>
          <a:bodyPr>
            <a:normAutofit fontScale="90000"/>
          </a:bodyPr>
          <a:lstStyle/>
          <a:p>
            <a:br>
              <a:rPr lang="en-GB" b="1" dirty="0"/>
            </a:br>
            <a:r>
              <a:rPr lang="en-GB" b="1" dirty="0">
                <a:solidFill>
                  <a:srgbClr val="FF0000"/>
                </a:solidFill>
              </a:rPr>
              <a:t>Other</a:t>
            </a:r>
            <a:r>
              <a:rPr lang="en-GB" b="1" dirty="0"/>
              <a:t> </a:t>
            </a:r>
            <a:r>
              <a:rPr lang="en-GB" b="1" dirty="0">
                <a:solidFill>
                  <a:srgbClr val="00B0F0"/>
                </a:solidFill>
              </a:rPr>
              <a:t>Cyclophyllidean</a:t>
            </a:r>
            <a:r>
              <a:rPr lang="en-GB" b="1" dirty="0"/>
              <a:t> </a:t>
            </a:r>
            <a:r>
              <a:rPr lang="en-GB" b="1" dirty="0">
                <a:solidFill>
                  <a:srgbClr val="FF0000"/>
                </a:solidFill>
              </a:rPr>
              <a:t>tapeworms</a:t>
            </a:r>
            <a:r>
              <a:rPr lang="en-GB" b="1" u="sng" dirty="0">
                <a:solidFill>
                  <a:srgbClr val="FF0000"/>
                </a:solidFill>
              </a:rPr>
              <a:t> of lesser medical importance </a:t>
            </a:r>
            <a:r>
              <a:rPr lang="en-GB" b="1" dirty="0">
                <a:solidFill>
                  <a:srgbClr val="FF0000"/>
                </a:solidFill>
              </a:rPr>
              <a:t>or low occurrence</a:t>
            </a:r>
            <a:br>
              <a:rPr lang="en-US" dirty="0"/>
            </a:br>
            <a:endParaRPr lang="en-US" dirty="0"/>
          </a:p>
        </p:txBody>
      </p:sp>
      <p:sp>
        <p:nvSpPr>
          <p:cNvPr id="3" name="Content Placeholder 2"/>
          <p:cNvSpPr>
            <a:spLocks noGrp="1"/>
          </p:cNvSpPr>
          <p:nvPr>
            <p:ph idx="1"/>
          </p:nvPr>
        </p:nvSpPr>
        <p:spPr>
          <a:xfrm>
            <a:off x="457200" y="2362200"/>
            <a:ext cx="8229600" cy="3886200"/>
          </a:xfrm>
        </p:spPr>
        <p:txBody>
          <a:bodyPr>
            <a:normAutofit fontScale="92500"/>
          </a:bodyPr>
          <a:lstStyle/>
          <a:p>
            <a:pPr marL="0" indent="0" algn="ctr">
              <a:buNone/>
            </a:pPr>
            <a:r>
              <a:rPr lang="en-GB" b="1" i="1" dirty="0"/>
              <a:t>1.</a:t>
            </a:r>
            <a:r>
              <a:rPr lang="en-GB" b="1" i="1" dirty="0">
                <a:solidFill>
                  <a:schemeClr val="accent6">
                    <a:lumMod val="75000"/>
                  </a:schemeClr>
                </a:solidFill>
              </a:rPr>
              <a:t> Multicep</a:t>
            </a:r>
            <a:r>
              <a:rPr lang="en-GB" b="1" dirty="0">
                <a:solidFill>
                  <a:schemeClr val="accent6">
                    <a:lumMod val="75000"/>
                  </a:schemeClr>
                </a:solidFill>
              </a:rPr>
              <a:t>s sp</a:t>
            </a:r>
            <a:r>
              <a:rPr lang="en-GB" b="1" dirty="0"/>
              <a:t>.</a:t>
            </a:r>
            <a:endParaRPr lang="en-US" dirty="0"/>
          </a:p>
          <a:p>
            <a:pPr lvl="0">
              <a:buFont typeface="Wingdings" pitchFamily="2" charset="2"/>
              <a:buChar char="v"/>
            </a:pPr>
            <a:r>
              <a:rPr lang="en-GB" dirty="0"/>
              <a:t>Like </a:t>
            </a:r>
            <a:r>
              <a:rPr lang="en-GB" i="1" dirty="0">
                <a:solidFill>
                  <a:srgbClr val="00B0F0"/>
                </a:solidFill>
              </a:rPr>
              <a:t>Echinococcus multilocularis</a:t>
            </a:r>
            <a:r>
              <a:rPr lang="en-GB" dirty="0"/>
              <a:t>, </a:t>
            </a:r>
            <a:r>
              <a:rPr lang="en-GB" dirty="0">
                <a:solidFill>
                  <a:srgbClr val="7030A0"/>
                </a:solidFill>
              </a:rPr>
              <a:t>the larva </a:t>
            </a:r>
            <a:r>
              <a:rPr lang="en-GB" u="sng" dirty="0"/>
              <a:t>of this taeniid tapeworm occasionally infect humans</a:t>
            </a:r>
            <a:r>
              <a:rPr lang="en-GB" dirty="0"/>
              <a:t>.</a:t>
            </a:r>
            <a:endParaRPr lang="en-US" dirty="0"/>
          </a:p>
          <a:p>
            <a:pPr lvl="0">
              <a:buFont typeface="Wingdings" pitchFamily="2" charset="2"/>
              <a:buChar char="v"/>
            </a:pPr>
            <a:r>
              <a:rPr lang="en-GB" u="sng" dirty="0"/>
              <a:t>The larval stage is a </a:t>
            </a:r>
            <a:r>
              <a:rPr lang="en-GB" u="sng" dirty="0">
                <a:solidFill>
                  <a:srgbClr val="7030A0"/>
                </a:solidFill>
              </a:rPr>
              <a:t>coenurus cyst </a:t>
            </a:r>
            <a:r>
              <a:rPr lang="en-GB" dirty="0"/>
              <a:t>and human infection is referred to as </a:t>
            </a:r>
            <a:r>
              <a:rPr lang="en-GB" b="1" dirty="0">
                <a:solidFill>
                  <a:srgbClr val="7030A0"/>
                </a:solidFill>
              </a:rPr>
              <a:t>Coenuriasis</a:t>
            </a:r>
            <a:endParaRPr lang="en-US" b="1" dirty="0">
              <a:solidFill>
                <a:srgbClr val="7030A0"/>
              </a:solidFill>
            </a:endParaRPr>
          </a:p>
          <a:p>
            <a:pPr lvl="0">
              <a:buFont typeface="Wingdings" pitchFamily="2" charset="2"/>
              <a:buChar char="v"/>
            </a:pPr>
            <a:r>
              <a:rPr lang="en-GB" dirty="0">
                <a:solidFill>
                  <a:srgbClr val="7030A0"/>
                </a:solidFill>
              </a:rPr>
              <a:t>Infection occurs with the injection of the eggs or from hands contaminated with dog faeces</a:t>
            </a:r>
            <a:endParaRPr lang="en-US" dirty="0">
              <a:solidFill>
                <a:srgbClr val="7030A0"/>
              </a:solidFill>
            </a:endParaRPr>
          </a:p>
          <a:p>
            <a:pPr>
              <a:buFont typeface="Wingdings" pitchFamily="2" charset="2"/>
              <a:buChar char="v"/>
            </a:pPr>
            <a:endParaRPr lang="en-US" dirty="0"/>
          </a:p>
        </p:txBody>
      </p:sp>
    </p:spTree>
    <p:extLst>
      <p:ext uri="{BB962C8B-B14F-4D97-AF65-F5344CB8AC3E}">
        <p14:creationId xmlns:p14="http://schemas.microsoft.com/office/powerpoint/2010/main" val="3786644513"/>
      </p:ext>
    </p:extLst>
  </p:cSld>
  <p:clrMapOvr>
    <a:masterClrMapping/>
  </p:clrMapOvr>
</p:sld>
</file>

<file path=ppt/slides/slide3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chemeClr val="accent6">
                    <a:lumMod val="75000"/>
                  </a:schemeClr>
                </a:solidFill>
              </a:rPr>
              <a:t>Multicep</a:t>
            </a:r>
            <a:r>
              <a:rPr lang="en-GB" b="1" dirty="0">
                <a:solidFill>
                  <a:schemeClr val="accent6">
                    <a:lumMod val="75000"/>
                  </a:schemeClr>
                </a:solidFill>
              </a:rPr>
              <a:t>s sp. </a:t>
            </a:r>
            <a:r>
              <a:rPr lang="en-GB" b="1" dirty="0"/>
              <a:t>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t>The </a:t>
            </a:r>
            <a:r>
              <a:rPr lang="en-GB" dirty="0">
                <a:solidFill>
                  <a:schemeClr val="tx2">
                    <a:lumMod val="60000"/>
                    <a:lumOff val="40000"/>
                  </a:schemeClr>
                </a:solidFill>
              </a:rPr>
              <a:t>brain</a:t>
            </a:r>
            <a:r>
              <a:rPr lang="en-GB" dirty="0"/>
              <a:t> </a:t>
            </a:r>
            <a:r>
              <a:rPr lang="en-GB" u="sng" dirty="0"/>
              <a:t>is the main organ infected with usually fatal outcome as there is no treatment for </a:t>
            </a:r>
            <a:r>
              <a:rPr lang="en-GB" i="1" u="sng" dirty="0"/>
              <a:t>M. multiceps</a:t>
            </a:r>
            <a:r>
              <a:rPr lang="en-GB" u="sng" dirty="0"/>
              <a:t> infection </a:t>
            </a:r>
            <a:r>
              <a:rPr lang="en-GB" dirty="0"/>
              <a:t>which occurs in North and South Africa</a:t>
            </a:r>
            <a:endParaRPr lang="en-US" dirty="0"/>
          </a:p>
          <a:p>
            <a:pPr lvl="0">
              <a:buFont typeface="Wingdings" pitchFamily="2" charset="2"/>
              <a:buChar char="v"/>
            </a:pPr>
            <a:r>
              <a:rPr lang="en-GB" i="1" dirty="0">
                <a:solidFill>
                  <a:schemeClr val="accent6">
                    <a:lumMod val="75000"/>
                  </a:schemeClr>
                </a:solidFill>
              </a:rPr>
              <a:t>M. braunii</a:t>
            </a:r>
            <a:r>
              <a:rPr lang="en-GB" dirty="0">
                <a:solidFill>
                  <a:schemeClr val="accent6">
                    <a:lumMod val="75000"/>
                  </a:schemeClr>
                </a:solidFill>
              </a:rPr>
              <a:t> </a:t>
            </a:r>
            <a:r>
              <a:rPr lang="en-GB" u="sng" dirty="0"/>
              <a:t>is found in tropical Africa but causes less severe diseases </a:t>
            </a:r>
            <a:r>
              <a:rPr lang="en-GB" dirty="0"/>
              <a:t>because the coenurus </a:t>
            </a:r>
            <a:r>
              <a:rPr lang="en-GB" b="1" dirty="0"/>
              <a:t>does not infect  the brain</a:t>
            </a:r>
            <a:r>
              <a:rPr lang="en-GB" dirty="0"/>
              <a:t>, instead the </a:t>
            </a:r>
            <a:r>
              <a:rPr lang="en-GB" dirty="0">
                <a:solidFill>
                  <a:srgbClr val="00B0F0"/>
                </a:solidFill>
              </a:rPr>
              <a:t>eyes</a:t>
            </a:r>
            <a:r>
              <a:rPr lang="en-GB" dirty="0"/>
              <a:t> and </a:t>
            </a:r>
            <a:r>
              <a:rPr lang="en-GB" dirty="0">
                <a:solidFill>
                  <a:srgbClr val="00B0F0"/>
                </a:solidFill>
              </a:rPr>
              <a:t>other parts of the body </a:t>
            </a:r>
            <a:r>
              <a:rPr lang="en-GB" dirty="0"/>
              <a:t>are infected.</a:t>
            </a:r>
            <a:endParaRPr lang="en-US" dirty="0"/>
          </a:p>
        </p:txBody>
      </p:sp>
    </p:spTree>
    <p:extLst>
      <p:ext uri="{BB962C8B-B14F-4D97-AF65-F5344CB8AC3E}">
        <p14:creationId xmlns:p14="http://schemas.microsoft.com/office/powerpoint/2010/main" val="756303318"/>
      </p:ext>
    </p:extLst>
  </p:cSld>
  <p:clrMapOvr>
    <a:masterClrMapping/>
  </p:clrMapOvr>
</p:sld>
</file>

<file path=ppt/slides/slide3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chemeClr val="accent6">
                    <a:lumMod val="75000"/>
                  </a:schemeClr>
                </a:solidFill>
              </a:rPr>
              <a:t>Multicep</a:t>
            </a:r>
            <a:r>
              <a:rPr lang="en-GB" b="1" dirty="0">
                <a:solidFill>
                  <a:schemeClr val="accent6">
                    <a:lumMod val="75000"/>
                  </a:schemeClr>
                </a:solidFill>
              </a:rPr>
              <a:t>s sp</a:t>
            </a:r>
            <a:r>
              <a:rPr lang="en-GB" b="1" dirty="0"/>
              <a:t>.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endParaRPr lang="en-GB" dirty="0"/>
          </a:p>
          <a:p>
            <a:pPr lvl="0">
              <a:buFont typeface="Wingdings" pitchFamily="2" charset="2"/>
              <a:buChar char="v"/>
            </a:pPr>
            <a:r>
              <a:rPr lang="en-GB" u="sng" dirty="0"/>
              <a:t>The </a:t>
            </a:r>
            <a:r>
              <a:rPr lang="en-GB" u="sng" dirty="0">
                <a:solidFill>
                  <a:srgbClr val="00B0F0"/>
                </a:solidFill>
              </a:rPr>
              <a:t>definitive host </a:t>
            </a:r>
            <a:r>
              <a:rPr lang="en-GB" u="sng" dirty="0"/>
              <a:t>of </a:t>
            </a:r>
            <a:r>
              <a:rPr lang="en-GB" i="1" u="sng" dirty="0"/>
              <a:t>Multiceps</a:t>
            </a:r>
            <a:r>
              <a:rPr lang="en-GB" u="sng" dirty="0"/>
              <a:t> spp. are </a:t>
            </a:r>
            <a:r>
              <a:rPr lang="en-GB" u="sng" dirty="0">
                <a:solidFill>
                  <a:srgbClr val="00B050"/>
                </a:solidFill>
              </a:rPr>
              <a:t>dogs</a:t>
            </a:r>
            <a:r>
              <a:rPr lang="en-GB" u="sng" dirty="0"/>
              <a:t> and </a:t>
            </a:r>
            <a:r>
              <a:rPr lang="en-GB" u="sng" dirty="0">
                <a:solidFill>
                  <a:srgbClr val="00B050"/>
                </a:solidFill>
              </a:rPr>
              <a:t>jackals</a:t>
            </a:r>
            <a:endParaRPr lang="en-US" u="sng" dirty="0">
              <a:solidFill>
                <a:srgbClr val="00B050"/>
              </a:solidFill>
            </a:endParaRPr>
          </a:p>
          <a:p>
            <a:pPr lvl="0">
              <a:buFont typeface="Wingdings" pitchFamily="2" charset="2"/>
              <a:buChar char="v"/>
            </a:pPr>
            <a:r>
              <a:rPr lang="en-GB" dirty="0"/>
              <a:t>The </a:t>
            </a:r>
            <a:r>
              <a:rPr lang="en-GB" dirty="0">
                <a:solidFill>
                  <a:srgbClr val="00B0F0"/>
                </a:solidFill>
              </a:rPr>
              <a:t>intermediate host </a:t>
            </a:r>
            <a:r>
              <a:rPr lang="en-GB" dirty="0"/>
              <a:t>of </a:t>
            </a:r>
            <a:r>
              <a:rPr lang="en-GB" i="1" u="sng" dirty="0"/>
              <a:t>M. multiceps</a:t>
            </a:r>
            <a:r>
              <a:rPr lang="en-GB" u="sng" dirty="0"/>
              <a:t> and </a:t>
            </a:r>
            <a:r>
              <a:rPr lang="en-GB" i="1" u="sng" dirty="0"/>
              <a:t>M. braunii</a:t>
            </a:r>
            <a:r>
              <a:rPr lang="en-GB" u="sng" dirty="0"/>
              <a:t> are </a:t>
            </a:r>
            <a:r>
              <a:rPr lang="en-GB" u="sng" dirty="0">
                <a:solidFill>
                  <a:srgbClr val="00B050"/>
                </a:solidFill>
              </a:rPr>
              <a:t>sheep</a:t>
            </a:r>
            <a:r>
              <a:rPr lang="en-GB" u="sng" dirty="0"/>
              <a:t> and </a:t>
            </a:r>
            <a:r>
              <a:rPr lang="en-GB" u="sng" dirty="0">
                <a:solidFill>
                  <a:srgbClr val="00B050"/>
                </a:solidFill>
              </a:rPr>
              <a:t>rodents</a:t>
            </a:r>
            <a:r>
              <a:rPr lang="en-GB" u="sng" dirty="0"/>
              <a:t> respectively</a:t>
            </a:r>
            <a:r>
              <a:rPr lang="en-GB" dirty="0"/>
              <a:t>.</a:t>
            </a:r>
            <a:endParaRPr lang="en-US" dirty="0"/>
          </a:p>
          <a:p>
            <a:pPr>
              <a:buFont typeface="Wingdings" pitchFamily="2" charset="2"/>
              <a:buChar char="v"/>
            </a:pPr>
            <a:endParaRPr lang="en-US" dirty="0"/>
          </a:p>
          <a:p>
            <a:pPr marL="0" indent="0">
              <a:buNone/>
            </a:pPr>
            <a:endParaRPr lang="en-US" dirty="0"/>
          </a:p>
        </p:txBody>
      </p:sp>
    </p:spTree>
    <p:extLst>
      <p:ext uri="{BB962C8B-B14F-4D97-AF65-F5344CB8AC3E}">
        <p14:creationId xmlns:p14="http://schemas.microsoft.com/office/powerpoint/2010/main" val="2935555133"/>
      </p:ext>
    </p:extLst>
  </p:cSld>
  <p:clrMapOvr>
    <a:masterClrMapping/>
  </p:clrMapOvr>
</p:sld>
</file>

<file path=ppt/slides/slide3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t>2. </a:t>
            </a:r>
            <a:r>
              <a:rPr lang="en-GB" b="1" i="1" dirty="0">
                <a:solidFill>
                  <a:schemeClr val="accent6">
                    <a:lumMod val="75000"/>
                  </a:schemeClr>
                </a:solidFill>
              </a:rPr>
              <a:t>Dipylidium caninum</a:t>
            </a:r>
            <a:br>
              <a:rPr lang="en-US" dirty="0"/>
            </a:br>
            <a:endParaRPr lang="en-US" dirty="0"/>
          </a:p>
        </p:txBody>
      </p:sp>
      <p:sp>
        <p:nvSpPr>
          <p:cNvPr id="3" name="Content Placeholder 2"/>
          <p:cNvSpPr>
            <a:spLocks noGrp="1"/>
          </p:cNvSpPr>
          <p:nvPr>
            <p:ph idx="1"/>
          </p:nvPr>
        </p:nvSpPr>
        <p:spPr/>
        <p:txBody>
          <a:bodyPr>
            <a:normAutofit fontScale="92500"/>
          </a:bodyPr>
          <a:lstStyle/>
          <a:p>
            <a:pPr lvl="0">
              <a:buFont typeface="Wingdings" pitchFamily="2" charset="2"/>
              <a:buChar char="v"/>
            </a:pPr>
            <a:r>
              <a:rPr lang="en-GB" u="sng" dirty="0"/>
              <a:t>This is a cosmopolitan and common tapeworm of </a:t>
            </a:r>
            <a:r>
              <a:rPr lang="en-GB" u="sng" dirty="0">
                <a:solidFill>
                  <a:srgbClr val="00B050"/>
                </a:solidFill>
              </a:rPr>
              <a:t>dogs</a:t>
            </a:r>
            <a:r>
              <a:rPr lang="en-GB" u="sng" dirty="0"/>
              <a:t> and </a:t>
            </a:r>
            <a:r>
              <a:rPr lang="en-GB" u="sng" dirty="0">
                <a:solidFill>
                  <a:srgbClr val="00B050"/>
                </a:solidFill>
              </a:rPr>
              <a:t>cats</a:t>
            </a:r>
            <a:r>
              <a:rPr lang="en-GB" u="sng" dirty="0"/>
              <a:t> but which often infect</a:t>
            </a:r>
            <a:r>
              <a:rPr lang="en-GB" dirty="0"/>
              <a:t> </a:t>
            </a:r>
            <a:r>
              <a:rPr lang="en-GB" u="sng" dirty="0">
                <a:solidFill>
                  <a:srgbClr val="00B050"/>
                </a:solidFill>
              </a:rPr>
              <a:t>children</a:t>
            </a:r>
            <a:r>
              <a:rPr lang="en-GB" u="sng" dirty="0"/>
              <a:t>.</a:t>
            </a:r>
            <a:endParaRPr lang="en-US" u="sng" dirty="0"/>
          </a:p>
          <a:p>
            <a:pPr lvl="0">
              <a:buFont typeface="Wingdings" pitchFamily="2" charset="2"/>
              <a:buChar char="v"/>
            </a:pPr>
            <a:r>
              <a:rPr lang="en-GB" dirty="0"/>
              <a:t>It is easily recognized by the </a:t>
            </a:r>
            <a:r>
              <a:rPr lang="en-GB" u="sng" dirty="0"/>
              <a:t>presence in each segment</a:t>
            </a:r>
            <a:r>
              <a:rPr lang="en-GB" dirty="0"/>
              <a:t>, of </a:t>
            </a:r>
            <a:r>
              <a:rPr lang="en-GB" dirty="0">
                <a:solidFill>
                  <a:srgbClr val="FF3399"/>
                </a:solidFill>
              </a:rPr>
              <a:t>two sets of male and female reproductive systems </a:t>
            </a:r>
            <a:r>
              <a:rPr lang="en-GB" dirty="0"/>
              <a:t>and a </a:t>
            </a:r>
            <a:r>
              <a:rPr lang="en-GB" dirty="0">
                <a:solidFill>
                  <a:srgbClr val="FF3399"/>
                </a:solidFill>
              </a:rPr>
              <a:t>genital pore </a:t>
            </a:r>
            <a:r>
              <a:rPr lang="en-GB" dirty="0"/>
              <a:t>on each side (</a:t>
            </a:r>
            <a:r>
              <a:rPr lang="en-GB" u="sng" dirty="0"/>
              <a:t>hence the name </a:t>
            </a:r>
            <a:r>
              <a:rPr lang="en-GB" b="1" u="sng" dirty="0">
                <a:solidFill>
                  <a:schemeClr val="accent6">
                    <a:lumMod val="75000"/>
                  </a:schemeClr>
                </a:solidFill>
              </a:rPr>
              <a:t>double-pored tapeworm </a:t>
            </a:r>
            <a:r>
              <a:rPr lang="en-GB" u="sng" dirty="0"/>
              <a:t>of dogs and cats</a:t>
            </a:r>
            <a:r>
              <a:rPr lang="en-GB" dirty="0"/>
              <a:t>).</a:t>
            </a:r>
            <a:endParaRPr lang="en-US" dirty="0"/>
          </a:p>
          <a:p>
            <a:pPr lvl="0">
              <a:buFont typeface="Wingdings" pitchFamily="2" charset="2"/>
              <a:buChar char="v"/>
            </a:pPr>
            <a:r>
              <a:rPr lang="en-GB" dirty="0"/>
              <a:t>The </a:t>
            </a:r>
            <a:r>
              <a:rPr lang="en-GB" b="1" dirty="0"/>
              <a:t>Scolex</a:t>
            </a:r>
            <a:r>
              <a:rPr lang="en-GB" dirty="0"/>
              <a:t> has a </a:t>
            </a:r>
            <a:r>
              <a:rPr lang="en-GB" dirty="0">
                <a:solidFill>
                  <a:srgbClr val="00B0F0"/>
                </a:solidFill>
              </a:rPr>
              <a:t>retractable</a:t>
            </a:r>
            <a:r>
              <a:rPr lang="en-GB" dirty="0"/>
              <a:t> </a:t>
            </a:r>
            <a:r>
              <a:rPr lang="en-GB" dirty="0">
                <a:solidFill>
                  <a:srgbClr val="00B0F0"/>
                </a:solidFill>
              </a:rPr>
              <a:t>pointed rostellum </a:t>
            </a:r>
            <a:r>
              <a:rPr lang="en-GB" u="sng" dirty="0"/>
              <a:t>with several circles of </a:t>
            </a:r>
            <a:r>
              <a:rPr lang="en-GB" u="sng" dirty="0">
                <a:solidFill>
                  <a:srgbClr val="00B0F0"/>
                </a:solidFill>
              </a:rPr>
              <a:t>rose thorn-shaped </a:t>
            </a:r>
            <a:r>
              <a:rPr lang="en-GB" b="1" u="sng" dirty="0">
                <a:solidFill>
                  <a:srgbClr val="00B0F0"/>
                </a:solidFill>
              </a:rPr>
              <a:t>hooks</a:t>
            </a:r>
            <a:r>
              <a:rPr lang="en-GB" dirty="0"/>
              <a:t>.</a:t>
            </a:r>
            <a:endParaRPr lang="en-US" dirty="0"/>
          </a:p>
          <a:p>
            <a:endParaRPr lang="en-US" dirty="0"/>
          </a:p>
        </p:txBody>
      </p:sp>
    </p:spTree>
    <p:extLst>
      <p:ext uri="{BB962C8B-B14F-4D97-AF65-F5344CB8AC3E}">
        <p14:creationId xmlns:p14="http://schemas.microsoft.com/office/powerpoint/2010/main" val="2989009806"/>
      </p:ext>
    </p:extLst>
  </p:cSld>
  <p:clrMapOvr>
    <a:masterClrMapping/>
  </p:clrMapOvr>
</p:sld>
</file>

<file path=ppt/slides/slide3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dirty="0"/>
              <a:t>2. </a:t>
            </a:r>
            <a:r>
              <a:rPr lang="en-GB" b="1" i="1" dirty="0">
                <a:solidFill>
                  <a:schemeClr val="accent6">
                    <a:lumMod val="75000"/>
                  </a:schemeClr>
                </a:solidFill>
              </a:rPr>
              <a:t>Dipylidium caninum </a:t>
            </a:r>
            <a:r>
              <a:rPr lang="en-GB" b="1" i="1" dirty="0"/>
              <a:t>cont’d</a:t>
            </a: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solidFill>
                  <a:schemeClr val="accent6">
                    <a:lumMod val="75000"/>
                  </a:schemeClr>
                </a:solidFill>
              </a:rPr>
              <a:t>Gravid proglotids </a:t>
            </a:r>
            <a:r>
              <a:rPr lang="en-GB" u="sng" dirty="0"/>
              <a:t>detach and either wonder out of the anus or are passed with faeces and as they dry, egg capsules are released</a:t>
            </a:r>
            <a:r>
              <a:rPr lang="en-GB" dirty="0"/>
              <a:t>.</a:t>
            </a:r>
            <a:endParaRPr lang="en-US" dirty="0"/>
          </a:p>
          <a:p>
            <a:pPr lvl="0">
              <a:buFont typeface="Wingdings" pitchFamily="2" charset="2"/>
              <a:buChar char="v"/>
            </a:pPr>
            <a:r>
              <a:rPr lang="en-GB" dirty="0">
                <a:solidFill>
                  <a:srgbClr val="00B050"/>
                </a:solidFill>
              </a:rPr>
              <a:t>Fleas </a:t>
            </a:r>
            <a:r>
              <a:rPr lang="en-GB" dirty="0"/>
              <a:t>are the </a:t>
            </a:r>
            <a:r>
              <a:rPr lang="en-GB" dirty="0">
                <a:solidFill>
                  <a:srgbClr val="00B0F0"/>
                </a:solidFill>
              </a:rPr>
              <a:t>usual intermediate host</a:t>
            </a:r>
            <a:r>
              <a:rPr lang="en-GB" dirty="0"/>
              <a:t>, although </a:t>
            </a:r>
            <a:r>
              <a:rPr lang="en-GB" dirty="0">
                <a:solidFill>
                  <a:srgbClr val="00B050"/>
                </a:solidFill>
              </a:rPr>
              <a:t>chewing lice</a:t>
            </a:r>
            <a:r>
              <a:rPr lang="en-GB" dirty="0"/>
              <a:t> have also been implicated;</a:t>
            </a:r>
          </a:p>
          <a:p>
            <a:pPr lvl="0">
              <a:buFont typeface="Wingdings" pitchFamily="2" charset="2"/>
              <a:buChar char="v"/>
            </a:pPr>
            <a:r>
              <a:rPr lang="en-GB" dirty="0"/>
              <a:t> </a:t>
            </a:r>
            <a:r>
              <a:rPr lang="en-GB" dirty="0">
                <a:solidFill>
                  <a:srgbClr val="00B050"/>
                </a:solidFill>
              </a:rPr>
              <a:t>larval fleas </a:t>
            </a:r>
            <a:r>
              <a:rPr lang="en-GB" dirty="0"/>
              <a:t>have simple chewing mouths and feed on organic matter which include </a:t>
            </a:r>
            <a:r>
              <a:rPr lang="en-GB" i="1" dirty="0">
                <a:solidFill>
                  <a:schemeClr val="accent6">
                    <a:lumMod val="75000"/>
                  </a:schemeClr>
                </a:solidFill>
              </a:rPr>
              <a:t>D. caninum</a:t>
            </a:r>
            <a:r>
              <a:rPr lang="en-GB" dirty="0">
                <a:solidFill>
                  <a:schemeClr val="accent6">
                    <a:lumMod val="75000"/>
                  </a:schemeClr>
                </a:solidFill>
              </a:rPr>
              <a:t> egg capsules</a:t>
            </a:r>
            <a:r>
              <a:rPr lang="en-GB" dirty="0"/>
              <a:t>.</a:t>
            </a:r>
            <a:endParaRPr lang="en-US" dirty="0"/>
          </a:p>
          <a:p>
            <a:pPr marL="0" indent="0">
              <a:buNone/>
            </a:pPr>
            <a:endParaRPr lang="en-US" dirty="0"/>
          </a:p>
        </p:txBody>
      </p:sp>
    </p:spTree>
    <p:extLst>
      <p:ext uri="{BB962C8B-B14F-4D97-AF65-F5344CB8AC3E}">
        <p14:creationId xmlns:p14="http://schemas.microsoft.com/office/powerpoint/2010/main" val="870783777"/>
      </p:ext>
    </p:extLst>
  </p:cSld>
  <p:clrMapOvr>
    <a:masterClrMapping/>
  </p:clrMapOvr>
</p:sld>
</file>

<file path=ppt/slides/slide3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dirty="0"/>
              <a:t>2. </a:t>
            </a:r>
            <a:r>
              <a:rPr lang="en-GB" b="1" i="1" dirty="0">
                <a:solidFill>
                  <a:schemeClr val="accent6">
                    <a:lumMod val="75000"/>
                  </a:schemeClr>
                </a:solidFill>
              </a:rPr>
              <a:t>Dipylidium caninum </a:t>
            </a:r>
            <a:r>
              <a:rPr lang="en-GB" b="1" i="1" dirty="0"/>
              <a:t>cont’d</a:t>
            </a:r>
            <a:endParaRPr lang="en-US" dirty="0"/>
          </a:p>
        </p:txBody>
      </p:sp>
      <p:sp>
        <p:nvSpPr>
          <p:cNvPr id="3" name="Content Placeholder 2"/>
          <p:cNvSpPr>
            <a:spLocks noGrp="1"/>
          </p:cNvSpPr>
          <p:nvPr>
            <p:ph idx="1"/>
          </p:nvPr>
        </p:nvSpPr>
        <p:spPr>
          <a:xfrm>
            <a:off x="457200" y="1600200"/>
            <a:ext cx="8229600" cy="4953000"/>
          </a:xfrm>
        </p:spPr>
        <p:txBody>
          <a:bodyPr>
            <a:normAutofit/>
          </a:bodyPr>
          <a:lstStyle/>
          <a:p>
            <a:pPr lvl="0">
              <a:buFont typeface="Wingdings" pitchFamily="2" charset="2"/>
              <a:buChar char="v"/>
            </a:pPr>
            <a:r>
              <a:rPr lang="en-GB" dirty="0"/>
              <a:t>The resulting </a:t>
            </a:r>
            <a:r>
              <a:rPr lang="en-GB" dirty="0">
                <a:solidFill>
                  <a:srgbClr val="FF0000"/>
                </a:solidFill>
              </a:rPr>
              <a:t>cysticercosis</a:t>
            </a:r>
            <a:r>
              <a:rPr lang="en-GB" dirty="0"/>
              <a:t> </a:t>
            </a:r>
            <a:r>
              <a:rPr lang="en-GB" u="sng" dirty="0"/>
              <a:t>survive their host metamorphosis into parasitic adult stage</a:t>
            </a:r>
            <a:endParaRPr lang="en-US" u="sng" dirty="0"/>
          </a:p>
          <a:p>
            <a:pPr lvl="0">
              <a:buFont typeface="Wingdings" pitchFamily="2" charset="2"/>
              <a:buChar char="v"/>
            </a:pPr>
            <a:r>
              <a:rPr lang="en-GB" dirty="0"/>
              <a:t>Nearly every reported case of infection has </a:t>
            </a:r>
            <a:r>
              <a:rPr lang="en-GB" dirty="0">
                <a:solidFill>
                  <a:srgbClr val="00B050"/>
                </a:solidFill>
              </a:rPr>
              <a:t>involved a child</a:t>
            </a:r>
            <a:r>
              <a:rPr lang="en-GB" dirty="0"/>
              <a:t>,; </a:t>
            </a:r>
          </a:p>
          <a:p>
            <a:pPr lvl="0">
              <a:buFont typeface="Wingdings" pitchFamily="2" charset="2"/>
              <a:buChar char="v"/>
            </a:pPr>
            <a:r>
              <a:rPr lang="en-GB" dirty="0">
                <a:solidFill>
                  <a:srgbClr val="00B050"/>
                </a:solidFill>
              </a:rPr>
              <a:t>adult humans </a:t>
            </a:r>
            <a:r>
              <a:rPr lang="en-GB" b="1" dirty="0"/>
              <a:t>may be more resistant</a:t>
            </a:r>
            <a:r>
              <a:rPr lang="en-GB" dirty="0"/>
              <a:t>, or else </a:t>
            </a:r>
            <a:r>
              <a:rPr lang="en-GB" dirty="0">
                <a:solidFill>
                  <a:srgbClr val="00B050"/>
                </a:solidFill>
              </a:rPr>
              <a:t>children</a:t>
            </a:r>
            <a:r>
              <a:rPr lang="en-GB" dirty="0"/>
              <a:t> </a:t>
            </a:r>
            <a:r>
              <a:rPr lang="en-GB" u="sng" dirty="0"/>
              <a:t>may have increased chances of accidentally swallowing a flea, through frequent exposure</a:t>
            </a:r>
            <a:endParaRPr lang="en-US" u="sng" dirty="0"/>
          </a:p>
          <a:p>
            <a:pPr marL="0" indent="0">
              <a:buNone/>
            </a:pPr>
            <a:endParaRPr lang="en-US" dirty="0"/>
          </a:p>
        </p:txBody>
      </p:sp>
    </p:spTree>
    <p:extLst>
      <p:ext uri="{BB962C8B-B14F-4D97-AF65-F5344CB8AC3E}">
        <p14:creationId xmlns:p14="http://schemas.microsoft.com/office/powerpoint/2010/main" val="794272187"/>
      </p:ext>
    </p:extLst>
  </p:cSld>
  <p:clrMapOvr>
    <a:masterClrMapping/>
  </p:clrMapOvr>
</p:sld>
</file>

<file path=ppt/slides/slide3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dirty="0"/>
              <a:t>2. </a:t>
            </a:r>
            <a:r>
              <a:rPr lang="en-GB" b="1" i="1" dirty="0">
                <a:solidFill>
                  <a:schemeClr val="accent6">
                    <a:lumMod val="75000"/>
                  </a:schemeClr>
                </a:solidFill>
              </a:rPr>
              <a:t>Dipylidium caninum </a:t>
            </a:r>
            <a:r>
              <a:rPr lang="en-GB" b="1" i="1" dirty="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t>The </a:t>
            </a:r>
            <a:r>
              <a:rPr lang="en-GB" dirty="0">
                <a:solidFill>
                  <a:srgbClr val="00B0F0"/>
                </a:solidFill>
              </a:rPr>
              <a:t>symptoms</a:t>
            </a:r>
            <a:r>
              <a:rPr lang="en-GB" dirty="0"/>
              <a:t> and </a:t>
            </a:r>
            <a:r>
              <a:rPr lang="en-GB" dirty="0">
                <a:solidFill>
                  <a:srgbClr val="00B0F0"/>
                </a:solidFill>
              </a:rPr>
              <a:t>treatment</a:t>
            </a:r>
            <a:r>
              <a:rPr lang="en-GB" dirty="0"/>
              <a:t> are the same as for </a:t>
            </a:r>
            <a:r>
              <a:rPr lang="en-GB" i="1" dirty="0">
                <a:solidFill>
                  <a:schemeClr val="accent6">
                    <a:lumMod val="75000"/>
                  </a:schemeClr>
                </a:solidFill>
              </a:rPr>
              <a:t>H. nana</a:t>
            </a:r>
            <a:r>
              <a:rPr lang="en-GB" dirty="0">
                <a:solidFill>
                  <a:schemeClr val="accent6">
                    <a:lumMod val="75000"/>
                  </a:schemeClr>
                </a:solidFill>
              </a:rPr>
              <a:t>.</a:t>
            </a:r>
            <a:endParaRPr lang="en-US" dirty="0">
              <a:solidFill>
                <a:schemeClr val="accent6">
                  <a:lumMod val="75000"/>
                </a:schemeClr>
              </a:solidFill>
            </a:endParaRPr>
          </a:p>
          <a:p>
            <a:pPr lvl="0">
              <a:buFont typeface="Wingdings" pitchFamily="2" charset="2"/>
              <a:buChar char="v"/>
            </a:pPr>
            <a:r>
              <a:rPr lang="en-GB" u="sng" dirty="0"/>
              <a:t>The family is distinguishable from the </a:t>
            </a:r>
            <a:r>
              <a:rPr lang="en-GB" u="sng" dirty="0">
                <a:solidFill>
                  <a:srgbClr val="FF3399"/>
                </a:solidFill>
              </a:rPr>
              <a:t>Hymenolepididae</a:t>
            </a:r>
            <a:r>
              <a:rPr lang="en-GB" u="sng" dirty="0"/>
              <a:t> </a:t>
            </a:r>
            <a:r>
              <a:rPr lang="en-GB" dirty="0"/>
              <a:t>by </a:t>
            </a:r>
            <a:r>
              <a:rPr lang="en-GB" dirty="0">
                <a:solidFill>
                  <a:srgbClr val="7030A0"/>
                </a:solidFill>
              </a:rPr>
              <a:t>possession of a larger number of testes</a:t>
            </a:r>
            <a:r>
              <a:rPr lang="en-GB" dirty="0"/>
              <a:t>, </a:t>
            </a:r>
            <a:r>
              <a:rPr lang="en-GB" b="1" dirty="0"/>
              <a:t>usually more than 12</a:t>
            </a:r>
            <a:endParaRPr lang="en-US" b="1" dirty="0"/>
          </a:p>
          <a:p>
            <a:pPr lvl="0">
              <a:buFont typeface="Wingdings" pitchFamily="2" charset="2"/>
              <a:buChar char="v"/>
            </a:pPr>
            <a:r>
              <a:rPr lang="en-GB" dirty="0"/>
              <a:t>There are hundreds of species that </a:t>
            </a:r>
            <a:r>
              <a:rPr lang="en-GB" u="sng" dirty="0"/>
              <a:t>parasitize birds and mammals</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3927586299"/>
      </p:ext>
    </p:extLst>
  </p:cSld>
  <p:clrMapOvr>
    <a:masterClrMapping/>
  </p:clrMapOvr>
</p:sld>
</file>

<file path=ppt/slides/slide3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dirty="0"/>
              <a:t>2. </a:t>
            </a:r>
            <a:r>
              <a:rPr lang="en-GB" b="1" i="1" dirty="0">
                <a:solidFill>
                  <a:schemeClr val="accent6">
                    <a:lumMod val="75000"/>
                  </a:schemeClr>
                </a:solidFill>
              </a:rPr>
              <a:t>Dipylidium caninum </a:t>
            </a:r>
            <a:r>
              <a:rPr lang="en-GB" b="1" i="1" dirty="0"/>
              <a:t>cont’d</a:t>
            </a:r>
            <a:endParaRPr lang="en-US" dirty="0"/>
          </a:p>
        </p:txBody>
      </p:sp>
      <p:sp>
        <p:nvSpPr>
          <p:cNvPr id="3" name="Content Placeholder 2"/>
          <p:cNvSpPr>
            <a:spLocks noGrp="1"/>
          </p:cNvSpPr>
          <p:nvPr>
            <p:ph idx="1"/>
          </p:nvPr>
        </p:nvSpPr>
        <p:spPr/>
        <p:txBody>
          <a:bodyPr/>
          <a:lstStyle/>
          <a:p>
            <a:pPr marL="0" indent="0" algn="ctr">
              <a:buNone/>
            </a:pPr>
            <a:r>
              <a:rPr lang="en-GB" b="1" u="sng" dirty="0"/>
              <a:t>Diagnosis</a:t>
            </a:r>
            <a:endParaRPr lang="en-US" u="sng" dirty="0"/>
          </a:p>
          <a:p>
            <a:pPr lvl="0"/>
            <a:endParaRPr lang="en-GB" dirty="0"/>
          </a:p>
          <a:p>
            <a:pPr lvl="0">
              <a:buFont typeface="Wingdings" pitchFamily="2" charset="2"/>
              <a:buChar char="v"/>
            </a:pPr>
            <a:r>
              <a:rPr lang="en-GB" dirty="0">
                <a:solidFill>
                  <a:srgbClr val="0070C0"/>
                </a:solidFill>
              </a:rPr>
              <a:t>Examination of faeces for egg capsule</a:t>
            </a:r>
            <a:endParaRPr lang="en-US" dirty="0">
              <a:solidFill>
                <a:srgbClr val="0070C0"/>
              </a:solidFill>
            </a:endParaRPr>
          </a:p>
          <a:p>
            <a:pPr lvl="0">
              <a:buFont typeface="Wingdings" pitchFamily="2" charset="2"/>
              <a:buChar char="v"/>
            </a:pPr>
            <a:r>
              <a:rPr lang="en-GB" dirty="0"/>
              <a:t>Occasionally </a:t>
            </a:r>
            <a:r>
              <a:rPr lang="en-GB" dirty="0">
                <a:solidFill>
                  <a:srgbClr val="0070C0"/>
                </a:solidFill>
              </a:rPr>
              <a:t>finding gravid segments in faeces</a:t>
            </a:r>
            <a:endParaRPr lang="en-US" dirty="0">
              <a:solidFill>
                <a:srgbClr val="0070C0"/>
              </a:solidFill>
            </a:endParaRPr>
          </a:p>
          <a:p>
            <a:pPr>
              <a:buFont typeface="Wingdings" pitchFamily="2" charset="2"/>
              <a:buChar char="v"/>
            </a:pPr>
            <a:endParaRPr lang="en-US" dirty="0"/>
          </a:p>
        </p:txBody>
      </p:sp>
    </p:spTree>
    <p:extLst>
      <p:ext uri="{BB962C8B-B14F-4D97-AF65-F5344CB8AC3E}">
        <p14:creationId xmlns:p14="http://schemas.microsoft.com/office/powerpoint/2010/main" val="4122838992"/>
      </p:ext>
    </p:extLst>
  </p:cSld>
  <p:clrMapOvr>
    <a:masterClrMapping/>
  </p:clrMapOvr>
</p:sld>
</file>

<file path=ppt/slides/slide3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t>3. </a:t>
            </a:r>
            <a:r>
              <a:rPr lang="en-GB" b="1" i="1" dirty="0">
                <a:solidFill>
                  <a:schemeClr val="accent6">
                    <a:lumMod val="75000"/>
                  </a:schemeClr>
                </a:solidFill>
              </a:rPr>
              <a:t>Spirometra </a:t>
            </a:r>
            <a:r>
              <a:rPr lang="en-GB" b="1" dirty="0">
                <a:solidFill>
                  <a:schemeClr val="accent6">
                    <a:lumMod val="75000"/>
                  </a:schemeClr>
                </a:solidFill>
              </a:rPr>
              <a:t>spp</a:t>
            </a:r>
            <a:r>
              <a:rPr lang="en-GB" b="1" dirty="0"/>
              <a:t>.</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dirty="0">
                <a:solidFill>
                  <a:schemeClr val="accent6">
                    <a:lumMod val="75000"/>
                  </a:schemeClr>
                </a:solidFill>
              </a:rPr>
              <a:t>Spirometra tapeworms </a:t>
            </a:r>
            <a:r>
              <a:rPr lang="en-GB" dirty="0"/>
              <a:t>and other </a:t>
            </a:r>
            <a:r>
              <a:rPr lang="en-GB" dirty="0">
                <a:solidFill>
                  <a:srgbClr val="00B0F0"/>
                </a:solidFill>
              </a:rPr>
              <a:t>Diphyllobothrid tapeworms </a:t>
            </a:r>
            <a:r>
              <a:rPr lang="en-GB" u="sng" dirty="0"/>
              <a:t>that are not normally, parasitic in humans cause </a:t>
            </a:r>
            <a:r>
              <a:rPr lang="en-GB" u="sng" dirty="0">
                <a:solidFill>
                  <a:srgbClr val="00B050"/>
                </a:solidFill>
              </a:rPr>
              <a:t>Sparganosis</a:t>
            </a:r>
            <a:endParaRPr lang="en-US" u="sng" dirty="0">
              <a:solidFill>
                <a:srgbClr val="00B050"/>
              </a:solidFill>
            </a:endParaRPr>
          </a:p>
          <a:p>
            <a:pPr lvl="0">
              <a:buFont typeface="Wingdings" pitchFamily="2" charset="2"/>
              <a:buChar char="v"/>
            </a:pPr>
            <a:r>
              <a:rPr lang="en-GB" b="1" dirty="0"/>
              <a:t>The species are closely relat</a:t>
            </a:r>
            <a:r>
              <a:rPr lang="en-GB" dirty="0"/>
              <a:t>ed to </a:t>
            </a:r>
            <a:r>
              <a:rPr lang="en-GB" i="1" dirty="0">
                <a:solidFill>
                  <a:srgbClr val="00B0F0"/>
                </a:solidFill>
              </a:rPr>
              <a:t>Diphyllobothrium</a:t>
            </a:r>
            <a:r>
              <a:rPr lang="en-GB" dirty="0">
                <a:solidFill>
                  <a:srgbClr val="00B0F0"/>
                </a:solidFill>
              </a:rPr>
              <a:t> spp. </a:t>
            </a:r>
            <a:endParaRPr lang="en-US" dirty="0">
              <a:solidFill>
                <a:srgbClr val="00B0F0"/>
              </a:solidFill>
            </a:endParaRPr>
          </a:p>
          <a:p>
            <a:pPr lvl="0">
              <a:buFont typeface="Wingdings" pitchFamily="2" charset="2"/>
              <a:buChar char="v"/>
            </a:pPr>
            <a:r>
              <a:rPr lang="en-GB" dirty="0">
                <a:solidFill>
                  <a:srgbClr val="C00000"/>
                </a:solidFill>
              </a:rPr>
              <a:t>Definitive host </a:t>
            </a:r>
            <a:r>
              <a:rPr lang="en-GB" dirty="0"/>
              <a:t>are known to include </a:t>
            </a:r>
            <a:r>
              <a:rPr lang="en-GB" dirty="0">
                <a:solidFill>
                  <a:srgbClr val="7030A0"/>
                </a:solidFill>
              </a:rPr>
              <a:t>cats</a:t>
            </a:r>
            <a:r>
              <a:rPr lang="en-GB" dirty="0"/>
              <a:t>, </a:t>
            </a:r>
            <a:r>
              <a:rPr lang="en-GB" dirty="0">
                <a:solidFill>
                  <a:srgbClr val="7030A0"/>
                </a:solidFill>
              </a:rPr>
              <a:t>dogs</a:t>
            </a:r>
            <a:r>
              <a:rPr lang="en-GB" dirty="0"/>
              <a:t> and possibly </a:t>
            </a:r>
            <a:r>
              <a:rPr lang="en-GB" dirty="0">
                <a:solidFill>
                  <a:srgbClr val="7030A0"/>
                </a:solidFill>
              </a:rPr>
              <a:t>birds</a:t>
            </a:r>
            <a:r>
              <a:rPr lang="en-GB" dirty="0"/>
              <a:t>.</a:t>
            </a:r>
            <a:endParaRPr lang="en-US" dirty="0"/>
          </a:p>
          <a:p>
            <a:pPr marL="0" indent="0">
              <a:buNone/>
            </a:pPr>
            <a:endParaRPr lang="en-US" dirty="0"/>
          </a:p>
        </p:txBody>
      </p:sp>
    </p:spTree>
    <p:extLst>
      <p:ext uri="{BB962C8B-B14F-4D97-AF65-F5344CB8AC3E}">
        <p14:creationId xmlns:p14="http://schemas.microsoft.com/office/powerpoint/2010/main" val="1888867939"/>
      </p:ext>
    </p:extLst>
  </p:cSld>
  <p:clrMapOvr>
    <a:masterClrMapping/>
  </p:clrMapOvr>
</p:sld>
</file>

<file path=ppt/slides/slide3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t>3. </a:t>
            </a:r>
            <a:r>
              <a:rPr lang="en-GB" b="1" i="1" dirty="0">
                <a:solidFill>
                  <a:schemeClr val="accent6">
                    <a:lumMod val="75000"/>
                  </a:schemeClr>
                </a:solidFill>
              </a:rPr>
              <a:t>Spirometra </a:t>
            </a:r>
            <a:r>
              <a:rPr lang="en-GB" b="1" dirty="0">
                <a:solidFill>
                  <a:schemeClr val="accent6">
                    <a:lumMod val="75000"/>
                  </a:schemeClr>
                </a:solidFill>
              </a:rPr>
              <a:t>spp. </a:t>
            </a:r>
            <a:r>
              <a:rPr lang="en-GB" b="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endParaRPr lang="en-GB" dirty="0"/>
          </a:p>
          <a:p>
            <a:pPr lvl="0">
              <a:buFont typeface="Wingdings" pitchFamily="2" charset="2"/>
              <a:buChar char="v"/>
            </a:pPr>
            <a:r>
              <a:rPr lang="en-GB" dirty="0">
                <a:solidFill>
                  <a:srgbClr val="00B0F0"/>
                </a:solidFill>
              </a:rPr>
              <a:t>First intermediate hosts </a:t>
            </a:r>
            <a:r>
              <a:rPr lang="en-GB" dirty="0"/>
              <a:t>are </a:t>
            </a:r>
            <a:r>
              <a:rPr lang="en-GB" dirty="0">
                <a:solidFill>
                  <a:srgbClr val="C00000"/>
                </a:solidFill>
              </a:rPr>
              <a:t>crustaceans</a:t>
            </a:r>
            <a:r>
              <a:rPr lang="en-GB" dirty="0"/>
              <a:t> and </a:t>
            </a:r>
            <a:r>
              <a:rPr lang="en-GB" dirty="0">
                <a:solidFill>
                  <a:srgbClr val="00B0F0"/>
                </a:solidFill>
              </a:rPr>
              <a:t>second intermediate hosts </a:t>
            </a:r>
            <a:r>
              <a:rPr lang="en-GB" dirty="0"/>
              <a:t>are </a:t>
            </a:r>
            <a:r>
              <a:rPr lang="en-GB" dirty="0">
                <a:solidFill>
                  <a:srgbClr val="C00000"/>
                </a:solidFill>
              </a:rPr>
              <a:t>frogs</a:t>
            </a:r>
            <a:r>
              <a:rPr lang="en-GB" dirty="0"/>
              <a:t>, </a:t>
            </a:r>
            <a:r>
              <a:rPr lang="en-GB" dirty="0">
                <a:solidFill>
                  <a:srgbClr val="C00000"/>
                </a:solidFill>
              </a:rPr>
              <a:t>birds</a:t>
            </a:r>
            <a:r>
              <a:rPr lang="en-GB" dirty="0"/>
              <a:t> and </a:t>
            </a:r>
            <a:r>
              <a:rPr lang="en-GB" dirty="0">
                <a:solidFill>
                  <a:srgbClr val="C00000"/>
                </a:solidFill>
              </a:rPr>
              <a:t>snakes</a:t>
            </a:r>
            <a:endParaRPr lang="en-US" dirty="0">
              <a:solidFill>
                <a:srgbClr val="C00000"/>
              </a:solidFill>
            </a:endParaRPr>
          </a:p>
          <a:p>
            <a:pPr lvl="0">
              <a:buFont typeface="Wingdings" pitchFamily="2" charset="2"/>
              <a:buChar char="v"/>
            </a:pPr>
            <a:r>
              <a:rPr lang="en-GB" dirty="0"/>
              <a:t>The </a:t>
            </a:r>
            <a:r>
              <a:rPr lang="en-GB" dirty="0">
                <a:solidFill>
                  <a:srgbClr val="00B050"/>
                </a:solidFill>
              </a:rPr>
              <a:t>plerocercoid larvae </a:t>
            </a:r>
            <a:r>
              <a:rPr lang="en-GB" dirty="0"/>
              <a:t>(</a:t>
            </a:r>
            <a:r>
              <a:rPr lang="en-GB" dirty="0">
                <a:solidFill>
                  <a:srgbClr val="00B050"/>
                </a:solidFill>
              </a:rPr>
              <a:t>spargana</a:t>
            </a:r>
            <a:r>
              <a:rPr lang="en-GB" dirty="0"/>
              <a:t>) </a:t>
            </a:r>
            <a:r>
              <a:rPr lang="en-GB" b="1" u="sng" dirty="0"/>
              <a:t>are unable </a:t>
            </a:r>
            <a:r>
              <a:rPr lang="en-GB" u="sng" dirty="0"/>
              <a:t>to develop into adult tapeworms in </a:t>
            </a:r>
            <a:r>
              <a:rPr lang="en-GB" u="sng" dirty="0">
                <a:solidFill>
                  <a:srgbClr val="C00000"/>
                </a:solidFill>
              </a:rPr>
              <a:t>humans</a:t>
            </a:r>
            <a:endParaRPr lang="en-US" u="sng" dirty="0">
              <a:solidFill>
                <a:srgbClr val="C00000"/>
              </a:solidFill>
            </a:endParaRPr>
          </a:p>
          <a:p>
            <a:pPr marL="0" indent="0">
              <a:buNone/>
            </a:pPr>
            <a:endParaRPr lang="en-US" dirty="0"/>
          </a:p>
        </p:txBody>
      </p:sp>
    </p:spTree>
    <p:extLst>
      <p:ext uri="{BB962C8B-B14F-4D97-AF65-F5344CB8AC3E}">
        <p14:creationId xmlns:p14="http://schemas.microsoft.com/office/powerpoint/2010/main" val="329622441"/>
      </p:ext>
    </p:extLst>
  </p:cSld>
  <p:clrMapOvr>
    <a:masterClrMapping/>
  </p:clrMapOvr>
</p:sld>
</file>

<file path=ppt/slides/slide3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t>3. </a:t>
            </a:r>
            <a:r>
              <a:rPr lang="en-GB" b="1" i="1" dirty="0">
                <a:solidFill>
                  <a:schemeClr val="accent6">
                    <a:lumMod val="75000"/>
                  </a:schemeClr>
                </a:solidFill>
              </a:rPr>
              <a:t>Spirometra </a:t>
            </a:r>
            <a:r>
              <a:rPr lang="en-GB" b="1" dirty="0">
                <a:solidFill>
                  <a:schemeClr val="accent6">
                    <a:lumMod val="75000"/>
                  </a:schemeClr>
                </a:solidFill>
              </a:rPr>
              <a:t>spp. </a:t>
            </a:r>
            <a:r>
              <a:rPr lang="en-GB" b="1" dirty="0"/>
              <a:t>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GB" b="1" u="sng" dirty="0"/>
              <a:t>Transmission</a:t>
            </a:r>
            <a:endParaRPr lang="en-US" u="sng" dirty="0"/>
          </a:p>
          <a:p>
            <a:pPr lvl="0">
              <a:buFont typeface="Wingdings" pitchFamily="2" charset="2"/>
              <a:buChar char="v"/>
            </a:pPr>
            <a:r>
              <a:rPr lang="en-GB" u="sng" dirty="0"/>
              <a:t>Infection is by ingesting  </a:t>
            </a:r>
            <a:r>
              <a:rPr lang="en-GB" u="sng" dirty="0">
                <a:solidFill>
                  <a:srgbClr val="C00000"/>
                </a:solidFill>
              </a:rPr>
              <a:t>Cyclops</a:t>
            </a:r>
            <a:r>
              <a:rPr lang="en-GB" u="sng" dirty="0"/>
              <a:t> infected with a </a:t>
            </a:r>
            <a:r>
              <a:rPr lang="en-GB" u="sng" dirty="0">
                <a:solidFill>
                  <a:srgbClr val="00B050"/>
                </a:solidFill>
              </a:rPr>
              <a:t>plerocercoid</a:t>
            </a:r>
            <a:endParaRPr lang="en-US" u="sng" dirty="0">
              <a:solidFill>
                <a:srgbClr val="00B050"/>
              </a:solidFill>
            </a:endParaRPr>
          </a:p>
          <a:p>
            <a:pPr lvl="0">
              <a:buFont typeface="Wingdings" pitchFamily="2" charset="2"/>
              <a:buChar char="v"/>
            </a:pPr>
            <a:r>
              <a:rPr lang="en-GB" u="sng" dirty="0"/>
              <a:t>The </a:t>
            </a:r>
            <a:r>
              <a:rPr lang="en-GB" u="sng" dirty="0">
                <a:solidFill>
                  <a:srgbClr val="0070C0"/>
                </a:solidFill>
              </a:rPr>
              <a:t>plerocercoid of some species </a:t>
            </a:r>
            <a:r>
              <a:rPr lang="en-GB" u="sng" dirty="0"/>
              <a:t>are able to multiply in a human host</a:t>
            </a:r>
            <a:r>
              <a:rPr lang="en-GB" dirty="0"/>
              <a:t>, </a:t>
            </a:r>
          </a:p>
          <a:p>
            <a:pPr lvl="0">
              <a:buFont typeface="Wingdings" pitchFamily="2" charset="2"/>
              <a:buChar char="v"/>
            </a:pPr>
            <a:r>
              <a:rPr lang="en-GB" dirty="0"/>
              <a:t>usually in </a:t>
            </a:r>
            <a:r>
              <a:rPr lang="en-GB" dirty="0">
                <a:solidFill>
                  <a:srgbClr val="0070C0"/>
                </a:solidFill>
              </a:rPr>
              <a:t>subcutaneous tissue </a:t>
            </a:r>
            <a:r>
              <a:rPr lang="en-GB" b="1" dirty="0"/>
              <a:t>where they encyst, forming large nodules</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4272884757"/>
      </p:ext>
    </p:extLst>
  </p:cSld>
  <p:clrMapOvr>
    <a:masterClrMapping/>
  </p:clrMapOvr>
</p:sld>
</file>

<file path=ppt/slides/slide3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t>3. </a:t>
            </a:r>
            <a:r>
              <a:rPr lang="en-GB" b="1" i="1" dirty="0">
                <a:solidFill>
                  <a:schemeClr val="accent6">
                    <a:lumMod val="75000"/>
                  </a:schemeClr>
                </a:solidFill>
              </a:rPr>
              <a:t>Spirometra </a:t>
            </a:r>
            <a:r>
              <a:rPr lang="en-GB" b="1" dirty="0">
                <a:solidFill>
                  <a:schemeClr val="accent6">
                    <a:lumMod val="75000"/>
                  </a:schemeClr>
                </a:solidFill>
              </a:rPr>
              <a:t>spp.</a:t>
            </a:r>
            <a:r>
              <a:rPr lang="en-GB" b="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GB" b="1" u="sng" dirty="0">
                <a:solidFill>
                  <a:srgbClr val="00B0F0"/>
                </a:solidFill>
              </a:rPr>
              <a:t>Symptoms</a:t>
            </a:r>
            <a:r>
              <a:rPr lang="en-GB" b="1" u="sng" dirty="0"/>
              <a:t> and </a:t>
            </a:r>
            <a:r>
              <a:rPr lang="en-GB" b="1" u="sng" dirty="0">
                <a:solidFill>
                  <a:srgbClr val="FF0000"/>
                </a:solidFill>
              </a:rPr>
              <a:t>pathology</a:t>
            </a:r>
            <a:endParaRPr lang="en-US" u="sng" dirty="0">
              <a:solidFill>
                <a:srgbClr val="FF0000"/>
              </a:solidFill>
            </a:endParaRPr>
          </a:p>
          <a:p>
            <a:pPr lvl="0">
              <a:buFont typeface="Wingdings" pitchFamily="2" charset="2"/>
              <a:buChar char="v"/>
            </a:pPr>
            <a:r>
              <a:rPr lang="en-GB" dirty="0"/>
              <a:t>The infection may cause </a:t>
            </a:r>
            <a:r>
              <a:rPr lang="en-GB" dirty="0">
                <a:solidFill>
                  <a:srgbClr val="00B0F0"/>
                </a:solidFill>
              </a:rPr>
              <a:t>painful, inflamed swelling</a:t>
            </a:r>
            <a:r>
              <a:rPr lang="en-GB" dirty="0"/>
              <a:t> and occasionally </a:t>
            </a:r>
            <a:r>
              <a:rPr lang="en-GB" dirty="0">
                <a:solidFill>
                  <a:srgbClr val="00B0F0"/>
                </a:solidFill>
              </a:rPr>
              <a:t>widespread cystic lumps in muscles, lymph nodes </a:t>
            </a:r>
            <a:r>
              <a:rPr lang="en-GB" dirty="0"/>
              <a:t>and </a:t>
            </a:r>
            <a:r>
              <a:rPr lang="en-GB" dirty="0">
                <a:solidFill>
                  <a:srgbClr val="00B0F0"/>
                </a:solidFill>
              </a:rPr>
              <a:t>subcutaneous tissue</a:t>
            </a:r>
            <a:r>
              <a:rPr lang="en-GB" dirty="0"/>
              <a:t>.</a:t>
            </a:r>
            <a:endParaRPr lang="en-US" dirty="0"/>
          </a:p>
          <a:p>
            <a:pPr lvl="0">
              <a:buFont typeface="Wingdings" pitchFamily="2" charset="2"/>
              <a:buChar char="v"/>
            </a:pPr>
            <a:r>
              <a:rPr lang="en-GB" dirty="0">
                <a:solidFill>
                  <a:srgbClr val="FF0000"/>
                </a:solidFill>
              </a:rPr>
              <a:t>Eye involvement </a:t>
            </a:r>
            <a:r>
              <a:rPr lang="en-GB" dirty="0"/>
              <a:t>(</a:t>
            </a:r>
            <a:r>
              <a:rPr lang="en-GB" dirty="0">
                <a:solidFill>
                  <a:srgbClr val="FF0000"/>
                </a:solidFill>
              </a:rPr>
              <a:t>ocular Sparganosis</a:t>
            </a:r>
            <a:r>
              <a:rPr lang="en-GB" dirty="0"/>
              <a:t>) </a:t>
            </a:r>
            <a:r>
              <a:rPr lang="en-GB" u="sng" dirty="0"/>
              <a:t>may cause serious damage</a:t>
            </a:r>
            <a:endParaRPr lang="en-US" u="sng" dirty="0"/>
          </a:p>
          <a:p>
            <a:pPr>
              <a:buFont typeface="Wingdings" pitchFamily="2" charset="2"/>
              <a:buChar char="v"/>
            </a:pPr>
            <a:endParaRPr lang="en-US" dirty="0"/>
          </a:p>
        </p:txBody>
      </p:sp>
    </p:spTree>
    <p:extLst>
      <p:ext uri="{BB962C8B-B14F-4D97-AF65-F5344CB8AC3E}">
        <p14:creationId xmlns:p14="http://schemas.microsoft.com/office/powerpoint/2010/main" val="3734827676"/>
      </p:ext>
    </p:extLst>
  </p:cSld>
  <p:clrMapOvr>
    <a:masterClrMapping/>
  </p:clrMapOvr>
</p:sld>
</file>

<file path=ppt/slides/slide3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t>3. </a:t>
            </a:r>
            <a:r>
              <a:rPr lang="en-GB" b="1" i="1" dirty="0">
                <a:solidFill>
                  <a:schemeClr val="accent6">
                    <a:lumMod val="75000"/>
                  </a:schemeClr>
                </a:solidFill>
              </a:rPr>
              <a:t>Spirometra </a:t>
            </a:r>
            <a:r>
              <a:rPr lang="en-GB" b="1" dirty="0">
                <a:solidFill>
                  <a:schemeClr val="accent6">
                    <a:lumMod val="75000"/>
                  </a:schemeClr>
                </a:solidFill>
              </a:rPr>
              <a:t>spp</a:t>
            </a:r>
            <a:r>
              <a:rPr lang="en-GB" b="1" dirty="0"/>
              <a:t>. Cont’d</a:t>
            </a:r>
            <a:br>
              <a:rPr lang="en-US" dirty="0"/>
            </a:b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10000"/>
          </a:bodyPr>
          <a:lstStyle/>
          <a:p>
            <a:pPr marL="0" indent="0" algn="ctr">
              <a:buNone/>
            </a:pPr>
            <a:r>
              <a:rPr lang="en-GB" b="1" u="sng" dirty="0">
                <a:solidFill>
                  <a:srgbClr val="00B050"/>
                </a:solidFill>
              </a:rPr>
              <a:t>Diagnosis</a:t>
            </a:r>
            <a:endParaRPr lang="en-US" u="sng" dirty="0">
              <a:solidFill>
                <a:srgbClr val="00B050"/>
              </a:solidFill>
            </a:endParaRPr>
          </a:p>
          <a:p>
            <a:pPr lvl="0">
              <a:buFont typeface="Wingdings" pitchFamily="2" charset="2"/>
              <a:buChar char="v"/>
            </a:pPr>
            <a:r>
              <a:rPr lang="en-GB" dirty="0">
                <a:solidFill>
                  <a:srgbClr val="00B050"/>
                </a:solidFill>
              </a:rPr>
              <a:t>By surgical removal of a larvae or nodule </a:t>
            </a:r>
            <a:r>
              <a:rPr lang="en-GB" dirty="0"/>
              <a:t>and </a:t>
            </a:r>
            <a:r>
              <a:rPr lang="en-GB" dirty="0">
                <a:solidFill>
                  <a:srgbClr val="00B050"/>
                </a:solidFill>
              </a:rPr>
              <a:t>clinically examining </a:t>
            </a:r>
            <a:endParaRPr lang="en-US" dirty="0">
              <a:solidFill>
                <a:srgbClr val="00B050"/>
              </a:solidFill>
            </a:endParaRPr>
          </a:p>
          <a:p>
            <a:pPr lvl="0">
              <a:buFont typeface="Wingdings" pitchFamily="2" charset="2"/>
              <a:buChar char="v"/>
            </a:pPr>
            <a:r>
              <a:rPr lang="en-GB" u="sng" dirty="0"/>
              <a:t>The eggs are similar to those of </a:t>
            </a:r>
            <a:r>
              <a:rPr lang="en-GB" i="1" u="sng" dirty="0">
                <a:solidFill>
                  <a:srgbClr val="FF3399"/>
                </a:solidFill>
              </a:rPr>
              <a:t>D. latum</a:t>
            </a:r>
            <a:r>
              <a:rPr lang="en-GB" u="sng" dirty="0">
                <a:solidFill>
                  <a:srgbClr val="FF3399"/>
                </a:solidFill>
              </a:rPr>
              <a:t> </a:t>
            </a:r>
            <a:r>
              <a:rPr lang="en-GB" b="1" dirty="0"/>
              <a:t>except</a:t>
            </a:r>
            <a:r>
              <a:rPr lang="en-GB" dirty="0"/>
              <a:t> that </a:t>
            </a:r>
            <a:r>
              <a:rPr lang="en-GB" dirty="0">
                <a:solidFill>
                  <a:srgbClr val="00B0F0"/>
                </a:solidFill>
              </a:rPr>
              <a:t>they are more pointed.</a:t>
            </a:r>
            <a:endParaRPr lang="en-US" dirty="0">
              <a:solidFill>
                <a:srgbClr val="00B0F0"/>
              </a:solidFill>
            </a:endParaRPr>
          </a:p>
          <a:p>
            <a:pPr lvl="0">
              <a:buFont typeface="Wingdings" pitchFamily="2" charset="2"/>
              <a:buChar char="v"/>
            </a:pPr>
            <a:r>
              <a:rPr lang="en-GB" dirty="0"/>
              <a:t>A </a:t>
            </a:r>
            <a:r>
              <a:rPr lang="en-GB" dirty="0">
                <a:solidFill>
                  <a:srgbClr val="C00000"/>
                </a:solidFill>
              </a:rPr>
              <a:t>plerocercoid</a:t>
            </a:r>
            <a:r>
              <a:rPr lang="en-GB" dirty="0"/>
              <a:t> </a:t>
            </a:r>
            <a:r>
              <a:rPr lang="en-GB" b="1" dirty="0"/>
              <a:t>may be confused with </a:t>
            </a:r>
            <a:r>
              <a:rPr lang="en-GB" dirty="0"/>
              <a:t>the </a:t>
            </a:r>
            <a:r>
              <a:rPr lang="en-GB" dirty="0">
                <a:solidFill>
                  <a:srgbClr val="7030A0"/>
                </a:solidFill>
              </a:rPr>
              <a:t>worm</a:t>
            </a:r>
            <a:r>
              <a:rPr lang="en-GB" dirty="0"/>
              <a:t> of </a:t>
            </a:r>
            <a:r>
              <a:rPr lang="en-GB" i="1" dirty="0">
                <a:solidFill>
                  <a:srgbClr val="7030A0"/>
                </a:solidFill>
              </a:rPr>
              <a:t>Dracunculus medinensis</a:t>
            </a:r>
            <a:r>
              <a:rPr lang="en-GB" dirty="0"/>
              <a:t>;</a:t>
            </a:r>
          </a:p>
          <a:p>
            <a:pPr lvl="0">
              <a:buFont typeface="Wingdings" pitchFamily="2" charset="2"/>
              <a:buChar char="v"/>
            </a:pPr>
            <a:r>
              <a:rPr lang="en-GB" dirty="0"/>
              <a:t> </a:t>
            </a:r>
            <a:r>
              <a:rPr lang="en-GB" b="1" dirty="0"/>
              <a:t>differentiation</a:t>
            </a:r>
            <a:r>
              <a:rPr lang="en-GB" dirty="0"/>
              <a:t> is by </a:t>
            </a:r>
            <a:r>
              <a:rPr lang="en-GB" dirty="0">
                <a:solidFill>
                  <a:schemeClr val="accent5">
                    <a:lumMod val="75000"/>
                  </a:schemeClr>
                </a:solidFill>
              </a:rPr>
              <a:t>recognition of the characteristic anterior end of a plerocercoid or by histological examination of the larva</a:t>
            </a:r>
            <a:endParaRPr lang="en-US" dirty="0">
              <a:solidFill>
                <a:schemeClr val="accent5">
                  <a:lumMod val="75000"/>
                </a:schemeClr>
              </a:solidFill>
            </a:endParaRPr>
          </a:p>
          <a:p>
            <a:endParaRPr lang="en-US" dirty="0"/>
          </a:p>
        </p:txBody>
      </p:sp>
    </p:spTree>
    <p:extLst>
      <p:ext uri="{BB962C8B-B14F-4D97-AF65-F5344CB8AC3E}">
        <p14:creationId xmlns:p14="http://schemas.microsoft.com/office/powerpoint/2010/main" val="3187530331"/>
      </p:ext>
    </p:extLst>
  </p:cSld>
  <p:clrMapOvr>
    <a:masterClrMapping/>
  </p:clrMapOvr>
</p:sld>
</file>

<file path=ppt/slides/slide3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t>3. </a:t>
            </a:r>
            <a:r>
              <a:rPr lang="en-GB" b="1" i="1" dirty="0">
                <a:solidFill>
                  <a:schemeClr val="accent6">
                    <a:lumMod val="75000"/>
                  </a:schemeClr>
                </a:solidFill>
              </a:rPr>
              <a:t>Spirometra </a:t>
            </a:r>
            <a:r>
              <a:rPr lang="en-GB" b="1" dirty="0">
                <a:solidFill>
                  <a:schemeClr val="accent6">
                    <a:lumMod val="75000"/>
                  </a:schemeClr>
                </a:solidFill>
              </a:rPr>
              <a:t>spp</a:t>
            </a:r>
            <a:r>
              <a:rPr lang="en-GB" b="1" dirty="0"/>
              <a:t>. Cont’d</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GB" b="1" dirty="0">
                <a:solidFill>
                  <a:srgbClr val="00B050"/>
                </a:solidFill>
              </a:rPr>
              <a:t>Diagnosis</a:t>
            </a:r>
            <a:r>
              <a:rPr lang="en-GB" b="1" dirty="0"/>
              <a:t> cont’d</a:t>
            </a:r>
            <a:endParaRPr lang="en-GB" dirty="0"/>
          </a:p>
          <a:p>
            <a:pPr lvl="0"/>
            <a:endParaRPr lang="en-GB" dirty="0"/>
          </a:p>
          <a:p>
            <a:pPr lvl="0">
              <a:buFont typeface="Wingdings" pitchFamily="2" charset="2"/>
              <a:buChar char="v"/>
            </a:pPr>
            <a:r>
              <a:rPr lang="en-GB" u="sng" dirty="0"/>
              <a:t>Species identification of the plerocercoid is only possible if the larva can be fed on by </a:t>
            </a:r>
            <a:r>
              <a:rPr lang="en-GB" u="sng" dirty="0">
                <a:solidFill>
                  <a:srgbClr val="C00000"/>
                </a:solidFill>
              </a:rPr>
              <a:t>definitive host </a:t>
            </a:r>
            <a:r>
              <a:rPr lang="en-GB" dirty="0"/>
              <a:t>and the </a:t>
            </a:r>
            <a:r>
              <a:rPr lang="en-GB" u="sng" dirty="0"/>
              <a:t>eggs subsequently identified</a:t>
            </a:r>
            <a:endParaRPr lang="en-US" u="sng" dirty="0"/>
          </a:p>
          <a:p>
            <a:pPr lvl="0">
              <a:buFont typeface="Wingdings" pitchFamily="2" charset="2"/>
              <a:buChar char="v"/>
            </a:pPr>
            <a:r>
              <a:rPr lang="en-GB" u="sng" dirty="0">
                <a:solidFill>
                  <a:srgbClr val="00B0F0"/>
                </a:solidFill>
              </a:rPr>
              <a:t>The eggs of </a:t>
            </a:r>
            <a:r>
              <a:rPr lang="en-GB" i="1" u="sng" dirty="0">
                <a:solidFill>
                  <a:srgbClr val="00B0F0"/>
                </a:solidFill>
              </a:rPr>
              <a:t>Spirometra</a:t>
            </a:r>
            <a:r>
              <a:rPr lang="en-GB" u="sng" dirty="0">
                <a:solidFill>
                  <a:srgbClr val="00B0F0"/>
                </a:solidFill>
              </a:rPr>
              <a:t> </a:t>
            </a:r>
            <a:r>
              <a:rPr lang="en-GB" u="sng" dirty="0"/>
              <a:t>tapeworms are similar to</a:t>
            </a:r>
            <a:r>
              <a:rPr lang="en-GB" dirty="0"/>
              <a:t>, </a:t>
            </a:r>
            <a:r>
              <a:rPr lang="en-GB" dirty="0">
                <a:solidFill>
                  <a:srgbClr val="00B0F0"/>
                </a:solidFill>
              </a:rPr>
              <a:t>but more pointed than</a:t>
            </a:r>
            <a:r>
              <a:rPr lang="en-GB" dirty="0"/>
              <a:t>, those </a:t>
            </a:r>
            <a:r>
              <a:rPr lang="en-GB" i="1" dirty="0"/>
              <a:t>of </a:t>
            </a:r>
            <a:r>
              <a:rPr lang="en-GB" i="1" dirty="0">
                <a:solidFill>
                  <a:srgbClr val="FF3399"/>
                </a:solidFill>
              </a:rPr>
              <a:t>D. latum</a:t>
            </a:r>
            <a:endParaRPr lang="en-US" dirty="0">
              <a:solidFill>
                <a:srgbClr val="FF3399"/>
              </a:solidFill>
            </a:endParaRPr>
          </a:p>
          <a:p>
            <a:pPr>
              <a:buFont typeface="Wingdings" pitchFamily="2" charset="2"/>
              <a:buChar char="v"/>
            </a:pPr>
            <a:endParaRPr lang="en-US" dirty="0"/>
          </a:p>
        </p:txBody>
      </p:sp>
    </p:spTree>
    <p:extLst>
      <p:ext uri="{BB962C8B-B14F-4D97-AF65-F5344CB8AC3E}">
        <p14:creationId xmlns:p14="http://schemas.microsoft.com/office/powerpoint/2010/main" val="857597433"/>
      </p:ext>
    </p:extLst>
  </p:cSld>
  <p:clrMapOvr>
    <a:masterClrMapping/>
  </p:clrMapOvr>
</p:sld>
</file>

<file path=ppt/slides/slide3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t>3. </a:t>
            </a:r>
            <a:r>
              <a:rPr lang="en-GB" b="1" i="1" dirty="0">
                <a:solidFill>
                  <a:schemeClr val="accent6">
                    <a:lumMod val="75000"/>
                  </a:schemeClr>
                </a:solidFill>
              </a:rPr>
              <a:t>Spirometra </a:t>
            </a:r>
            <a:r>
              <a:rPr lang="en-GB" b="1" dirty="0">
                <a:solidFill>
                  <a:schemeClr val="accent6">
                    <a:lumMod val="75000"/>
                  </a:schemeClr>
                </a:solidFill>
              </a:rPr>
              <a:t>spp</a:t>
            </a:r>
            <a:r>
              <a:rPr lang="en-GB" b="1" dirty="0"/>
              <a:t>. Cont’d</a:t>
            </a:r>
            <a:br>
              <a:rPr lang="en-US" dirty="0"/>
            </a:br>
            <a:endParaRPr lang="en-US" dirty="0"/>
          </a:p>
        </p:txBody>
      </p:sp>
      <p:sp>
        <p:nvSpPr>
          <p:cNvPr id="3" name="Content Placeholder 2"/>
          <p:cNvSpPr>
            <a:spLocks noGrp="1"/>
          </p:cNvSpPr>
          <p:nvPr>
            <p:ph idx="1"/>
          </p:nvPr>
        </p:nvSpPr>
        <p:spPr>
          <a:xfrm>
            <a:off x="457200" y="1600200"/>
            <a:ext cx="8229600" cy="5410200"/>
          </a:xfrm>
        </p:spPr>
        <p:txBody>
          <a:bodyPr>
            <a:normAutofit lnSpcReduction="10000"/>
          </a:bodyPr>
          <a:lstStyle/>
          <a:p>
            <a:pPr marL="0" indent="0" algn="ctr">
              <a:buNone/>
            </a:pPr>
            <a:r>
              <a:rPr lang="en-GB" b="1" u="sng" dirty="0">
                <a:solidFill>
                  <a:srgbClr val="00B050"/>
                </a:solidFill>
              </a:rPr>
              <a:t>Treatment</a:t>
            </a:r>
            <a:endParaRPr lang="en-US" u="sng" dirty="0">
              <a:solidFill>
                <a:srgbClr val="00B050"/>
              </a:solidFill>
            </a:endParaRPr>
          </a:p>
          <a:p>
            <a:pPr lvl="0">
              <a:buFont typeface="Wingdings" pitchFamily="2" charset="2"/>
              <a:buChar char="v"/>
            </a:pPr>
            <a:r>
              <a:rPr lang="en-GB" dirty="0">
                <a:solidFill>
                  <a:srgbClr val="00B050"/>
                </a:solidFill>
              </a:rPr>
              <a:t>By surgical removal of plerocercoid or nodule </a:t>
            </a:r>
            <a:r>
              <a:rPr lang="en-GB" u="sng" dirty="0"/>
              <a:t>containing a mass of larvae</a:t>
            </a:r>
            <a:endParaRPr lang="en-US" u="sng" dirty="0">
              <a:solidFill>
                <a:srgbClr val="00B050"/>
              </a:solidFill>
            </a:endParaRPr>
          </a:p>
          <a:p>
            <a:pPr marL="0" indent="0" algn="ctr">
              <a:buNone/>
            </a:pPr>
            <a:r>
              <a:rPr lang="en-GB" b="1" u="sng" dirty="0">
                <a:solidFill>
                  <a:srgbClr val="00B050"/>
                </a:solidFill>
              </a:rPr>
              <a:t>Prevention and control</a:t>
            </a:r>
            <a:endParaRPr lang="en-US" u="sng" dirty="0">
              <a:solidFill>
                <a:srgbClr val="00B050"/>
              </a:solidFill>
            </a:endParaRPr>
          </a:p>
          <a:p>
            <a:pPr lvl="0">
              <a:buFont typeface="Wingdings" pitchFamily="2" charset="2"/>
              <a:buChar char="v"/>
            </a:pPr>
            <a:r>
              <a:rPr lang="en-GB" dirty="0">
                <a:solidFill>
                  <a:srgbClr val="00B050"/>
                </a:solidFill>
              </a:rPr>
              <a:t>By boiling or filtering water </a:t>
            </a:r>
            <a:r>
              <a:rPr lang="en-GB" u="sng" dirty="0"/>
              <a:t>which may contain infected Cyclops</a:t>
            </a:r>
            <a:endParaRPr lang="en-US" u="sng" dirty="0"/>
          </a:p>
          <a:p>
            <a:pPr lvl="0">
              <a:buFont typeface="Wingdings" pitchFamily="2" charset="2"/>
              <a:buChar char="v"/>
            </a:pPr>
            <a:r>
              <a:rPr lang="en-GB" dirty="0">
                <a:solidFill>
                  <a:srgbClr val="00B050"/>
                </a:solidFill>
              </a:rPr>
              <a:t>Adequately cooking of meat </a:t>
            </a:r>
            <a:r>
              <a:rPr lang="en-GB" u="sng" dirty="0"/>
              <a:t>that may be capable of transmitting plerocercoid</a:t>
            </a:r>
            <a:endParaRPr lang="en-US" u="sng" dirty="0"/>
          </a:p>
          <a:p>
            <a:pPr lvl="0">
              <a:buFont typeface="Wingdings" pitchFamily="2" charset="2"/>
              <a:buChar char="v"/>
            </a:pPr>
            <a:r>
              <a:rPr lang="en-GB" dirty="0">
                <a:solidFill>
                  <a:srgbClr val="00B050"/>
                </a:solidFill>
              </a:rPr>
              <a:t>Avoiding application of frog tissue to eye sores and other parts of the body</a:t>
            </a:r>
            <a:endParaRPr lang="en-US" dirty="0">
              <a:solidFill>
                <a:srgbClr val="00B050"/>
              </a:solidFill>
            </a:endParaRPr>
          </a:p>
          <a:p>
            <a:pPr marL="0" indent="0">
              <a:buNone/>
            </a:pPr>
            <a:endParaRPr lang="en-US" dirty="0"/>
          </a:p>
        </p:txBody>
      </p:sp>
    </p:spTree>
    <p:extLst>
      <p:ext uri="{BB962C8B-B14F-4D97-AF65-F5344CB8AC3E}">
        <p14:creationId xmlns:p14="http://schemas.microsoft.com/office/powerpoint/2010/main" val="1209258664"/>
      </p:ext>
    </p:extLst>
  </p:cSld>
  <p:clrMapOvr>
    <a:masterClrMapping/>
  </p:clrMapOvr>
</p:sld>
</file>

<file path=ppt/slides/slide3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PARASITOLOGY (BIOL 460)</a:t>
            </a:r>
          </a:p>
        </p:txBody>
      </p:sp>
      <p:sp>
        <p:nvSpPr>
          <p:cNvPr id="3" name="Subtitle 2"/>
          <p:cNvSpPr>
            <a:spLocks noGrp="1"/>
          </p:cNvSpPr>
          <p:nvPr>
            <p:ph type="subTitle" idx="1"/>
          </p:nvPr>
        </p:nvSpPr>
        <p:spPr/>
        <p:txBody>
          <a:bodyPr/>
          <a:lstStyle/>
          <a:p>
            <a:r>
              <a:rPr lang="en-US" dirty="0"/>
              <a:t>UNIT 6 A</a:t>
            </a:r>
          </a:p>
          <a:p>
            <a:r>
              <a:rPr lang="en-GB" b="1" dirty="0">
                <a:solidFill>
                  <a:srgbClr val="FF0000"/>
                </a:solidFill>
              </a:rPr>
              <a:t>TREMATODES (FLUKES)</a:t>
            </a:r>
            <a:endParaRPr lang="en-US" dirty="0">
              <a:solidFill>
                <a:srgbClr val="FF0000"/>
              </a:solidFill>
            </a:endParaRPr>
          </a:p>
          <a:p>
            <a:endParaRPr lang="en-US" dirty="0"/>
          </a:p>
        </p:txBody>
      </p:sp>
    </p:spTree>
    <p:extLst>
      <p:ext uri="{BB962C8B-B14F-4D97-AF65-F5344CB8AC3E}">
        <p14:creationId xmlns:p14="http://schemas.microsoft.com/office/powerpoint/2010/main" val="3837776247"/>
      </p:ext>
    </p:extLst>
  </p:cSld>
  <p:clrMapOvr>
    <a:masterClrMapping/>
  </p:clrMapOvr>
</p:sld>
</file>

<file path=ppt/slides/slide3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FF0000"/>
                </a:solidFill>
              </a:rPr>
              <a:t>TREMATODES (FLUKES)</a:t>
            </a:r>
            <a:br>
              <a:rPr lang="en-US" dirty="0"/>
            </a:b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GB" dirty="0"/>
              <a:t>As trematode worms the flukes possess features of the </a:t>
            </a:r>
            <a:r>
              <a:rPr lang="en-GB" b="1" dirty="0"/>
              <a:t>Class</a:t>
            </a:r>
            <a:r>
              <a:rPr lang="en-GB" dirty="0"/>
              <a:t> </a:t>
            </a:r>
            <a:r>
              <a:rPr lang="en-GB" dirty="0">
                <a:solidFill>
                  <a:srgbClr val="7030A0"/>
                </a:solidFill>
              </a:rPr>
              <a:t>Trematoda</a:t>
            </a:r>
            <a:r>
              <a:rPr lang="en-GB" dirty="0"/>
              <a:t> of the </a:t>
            </a:r>
            <a:r>
              <a:rPr lang="en-GB" b="1" dirty="0"/>
              <a:t>Phylum</a:t>
            </a:r>
            <a:r>
              <a:rPr lang="en-GB" dirty="0"/>
              <a:t> </a:t>
            </a:r>
            <a:r>
              <a:rPr lang="en-GB" dirty="0">
                <a:solidFill>
                  <a:srgbClr val="0070C0"/>
                </a:solidFill>
              </a:rPr>
              <a:t>Platyhelminthes</a:t>
            </a:r>
            <a:r>
              <a:rPr lang="en-GB" dirty="0"/>
              <a:t> (the </a:t>
            </a:r>
            <a:r>
              <a:rPr lang="en-GB" dirty="0">
                <a:solidFill>
                  <a:srgbClr val="0070C0"/>
                </a:solidFill>
              </a:rPr>
              <a:t>Flatworms</a:t>
            </a:r>
            <a:r>
              <a:rPr lang="en-GB" dirty="0"/>
              <a:t>).</a:t>
            </a:r>
            <a:endParaRPr lang="en-US" dirty="0"/>
          </a:p>
          <a:p>
            <a:pPr lvl="0">
              <a:buFont typeface="Wingdings" pitchFamily="2" charset="2"/>
              <a:buChar char="v"/>
            </a:pPr>
            <a:r>
              <a:rPr lang="en-GB" dirty="0">
                <a:solidFill>
                  <a:srgbClr val="7030A0"/>
                </a:solidFill>
              </a:rPr>
              <a:t>Members of the class which are of medical importance </a:t>
            </a:r>
            <a:r>
              <a:rPr lang="en-GB" dirty="0"/>
              <a:t>can be placed into </a:t>
            </a:r>
            <a:r>
              <a:rPr lang="en-GB" b="1" dirty="0"/>
              <a:t>two main groups on the basis of </a:t>
            </a:r>
            <a:r>
              <a:rPr lang="en-GB" dirty="0">
                <a:solidFill>
                  <a:srgbClr val="C00000"/>
                </a:solidFill>
              </a:rPr>
              <a:t>hermaphroditism</a:t>
            </a:r>
            <a:endParaRPr lang="en-US" dirty="0">
              <a:solidFill>
                <a:srgbClr val="C00000"/>
              </a:solidFill>
            </a:endParaRPr>
          </a:p>
          <a:p>
            <a:pPr lvl="0">
              <a:buFont typeface="Wingdings" pitchFamily="2" charset="2"/>
              <a:buChar char="v"/>
            </a:pPr>
            <a:r>
              <a:rPr lang="en-GB" dirty="0"/>
              <a:t>On this basis, there are those that are </a:t>
            </a:r>
            <a:r>
              <a:rPr lang="en-GB" dirty="0">
                <a:solidFill>
                  <a:srgbClr val="C00000"/>
                </a:solidFill>
              </a:rPr>
              <a:t>hermaphroditic</a:t>
            </a:r>
            <a:r>
              <a:rPr lang="en-GB" dirty="0"/>
              <a:t> and </a:t>
            </a:r>
            <a:r>
              <a:rPr lang="en-GB" dirty="0">
                <a:solidFill>
                  <a:srgbClr val="C00000"/>
                </a:solidFill>
              </a:rPr>
              <a:t>those that are not </a:t>
            </a:r>
            <a:r>
              <a:rPr lang="en-GB" dirty="0"/>
              <a:t>(</a:t>
            </a:r>
            <a:r>
              <a:rPr lang="en-GB" dirty="0">
                <a:solidFill>
                  <a:srgbClr val="C00000"/>
                </a:solidFill>
              </a:rPr>
              <a:t>non-hermaphroditic</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138258935"/>
      </p:ext>
    </p:extLst>
  </p:cSld>
  <p:clrMapOvr>
    <a:masterClrMapping/>
  </p:clrMapOvr>
</p:sld>
</file>

<file path=ppt/slides/slide3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TREMATODES (FLUKES)</a:t>
            </a:r>
            <a:r>
              <a:rPr lang="en-GB" b="1" dirty="0"/>
              <a:t> 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t>The </a:t>
            </a:r>
            <a:r>
              <a:rPr lang="en-GB" dirty="0">
                <a:solidFill>
                  <a:srgbClr val="C00000"/>
                </a:solidFill>
              </a:rPr>
              <a:t>hermaphroditic flukes</a:t>
            </a:r>
            <a:r>
              <a:rPr lang="en-GB" dirty="0"/>
              <a:t> are </a:t>
            </a:r>
            <a:r>
              <a:rPr lang="en-GB" u="sng" dirty="0"/>
              <a:t>further categorised on the </a:t>
            </a:r>
            <a:r>
              <a:rPr lang="en-GB" u="sng" dirty="0">
                <a:solidFill>
                  <a:srgbClr val="00B0F0"/>
                </a:solidFill>
              </a:rPr>
              <a:t>basis of adult worm location/residence </a:t>
            </a:r>
            <a:r>
              <a:rPr lang="en-GB" u="sng" dirty="0"/>
              <a:t>in the human or vertebrate host</a:t>
            </a:r>
            <a:r>
              <a:rPr lang="en-GB" dirty="0"/>
              <a:t>. There are </a:t>
            </a:r>
            <a:r>
              <a:rPr lang="en-GB" b="1" dirty="0"/>
              <a:t>three main such groups </a:t>
            </a:r>
            <a:r>
              <a:rPr lang="en-GB" dirty="0"/>
              <a:t>namely;</a:t>
            </a:r>
            <a:endParaRPr lang="en-US" sz="2800" dirty="0"/>
          </a:p>
          <a:p>
            <a:pPr lvl="1">
              <a:buFont typeface="Wingdings" pitchFamily="2" charset="2"/>
              <a:buChar char="Ø"/>
            </a:pPr>
            <a:r>
              <a:rPr lang="en-GB" dirty="0"/>
              <a:t>Those of the </a:t>
            </a:r>
            <a:r>
              <a:rPr lang="en-GB" dirty="0">
                <a:solidFill>
                  <a:schemeClr val="accent6">
                    <a:lumMod val="75000"/>
                  </a:schemeClr>
                </a:solidFill>
              </a:rPr>
              <a:t>liver</a:t>
            </a:r>
            <a:r>
              <a:rPr lang="en-GB" dirty="0"/>
              <a:t>, the </a:t>
            </a:r>
            <a:r>
              <a:rPr lang="en-GB" dirty="0">
                <a:solidFill>
                  <a:schemeClr val="accent6">
                    <a:lumMod val="75000"/>
                  </a:schemeClr>
                </a:solidFill>
              </a:rPr>
              <a:t>lungs</a:t>
            </a:r>
            <a:r>
              <a:rPr lang="en-GB" dirty="0"/>
              <a:t> and the </a:t>
            </a:r>
            <a:r>
              <a:rPr lang="en-GB" dirty="0">
                <a:solidFill>
                  <a:schemeClr val="accent6">
                    <a:lumMod val="75000"/>
                  </a:schemeClr>
                </a:solidFill>
              </a:rPr>
              <a:t>intestines</a:t>
            </a:r>
            <a:endParaRPr lang="en-US" sz="2400" dirty="0">
              <a:solidFill>
                <a:schemeClr val="accent6">
                  <a:lumMod val="75000"/>
                </a:schemeClr>
              </a:solidFill>
            </a:endParaRPr>
          </a:p>
          <a:p>
            <a:pPr lvl="0">
              <a:buFont typeface="Wingdings" pitchFamily="2" charset="2"/>
              <a:buChar char="v"/>
            </a:pPr>
            <a:r>
              <a:rPr lang="en-GB" dirty="0"/>
              <a:t>Being </a:t>
            </a:r>
            <a:r>
              <a:rPr lang="en-GB" dirty="0">
                <a:solidFill>
                  <a:srgbClr val="C00000"/>
                </a:solidFill>
              </a:rPr>
              <a:t>hermaphroditic</a:t>
            </a:r>
            <a:r>
              <a:rPr lang="en-GB" dirty="0"/>
              <a:t>, </a:t>
            </a:r>
            <a:r>
              <a:rPr lang="en-GB" u="sng" dirty="0"/>
              <a:t>they have both male and female reproductive organs</a:t>
            </a:r>
            <a:r>
              <a:rPr lang="en-GB" dirty="0"/>
              <a:t>.</a:t>
            </a:r>
            <a:endParaRPr lang="en-US" sz="2800" dirty="0"/>
          </a:p>
          <a:p>
            <a:pPr marL="0" indent="0">
              <a:buNone/>
            </a:pPr>
            <a:endParaRPr lang="en-US" dirty="0"/>
          </a:p>
        </p:txBody>
      </p:sp>
    </p:spTree>
    <p:extLst>
      <p:ext uri="{BB962C8B-B14F-4D97-AF65-F5344CB8AC3E}">
        <p14:creationId xmlns:p14="http://schemas.microsoft.com/office/powerpoint/2010/main" val="2465187350"/>
      </p:ext>
    </p:extLst>
  </p:cSld>
  <p:clrMapOvr>
    <a:masterClrMapping/>
  </p:clrMapOvr>
</p:sld>
</file>

<file path=ppt/slides/slide3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TREMATODES (FLUKES) </a:t>
            </a:r>
            <a:r>
              <a:rPr lang="en-GB" b="1" dirty="0"/>
              <a:t>CONT’D</a:t>
            </a:r>
            <a:endParaRPr lang="en-US" dirty="0"/>
          </a:p>
        </p:txBody>
      </p:sp>
      <p:sp>
        <p:nvSpPr>
          <p:cNvPr id="3" name="Content Placeholder 2"/>
          <p:cNvSpPr>
            <a:spLocks noGrp="1"/>
          </p:cNvSpPr>
          <p:nvPr>
            <p:ph idx="1"/>
          </p:nvPr>
        </p:nvSpPr>
        <p:spPr>
          <a:xfrm>
            <a:off x="457200" y="1600200"/>
            <a:ext cx="8229600" cy="5410200"/>
          </a:xfrm>
        </p:spPr>
        <p:txBody>
          <a:bodyPr>
            <a:normAutofit/>
          </a:bodyPr>
          <a:lstStyle/>
          <a:p>
            <a:pPr lvl="0">
              <a:buFont typeface="Wingdings" pitchFamily="2" charset="2"/>
              <a:buChar char="v"/>
            </a:pPr>
            <a:r>
              <a:rPr lang="en-GB" dirty="0"/>
              <a:t>General features of </a:t>
            </a:r>
            <a:r>
              <a:rPr lang="en-GB" dirty="0">
                <a:solidFill>
                  <a:srgbClr val="C00000"/>
                </a:solidFill>
              </a:rPr>
              <a:t>hermaphroditic flukes </a:t>
            </a:r>
            <a:r>
              <a:rPr lang="en-GB" dirty="0"/>
              <a:t>that infect humans </a:t>
            </a:r>
            <a:endParaRPr lang="en-US" sz="2800" dirty="0"/>
          </a:p>
          <a:p>
            <a:pPr lvl="1">
              <a:buFont typeface="Wingdings" pitchFamily="2" charset="2"/>
              <a:buChar char="Ø"/>
            </a:pPr>
            <a:endParaRPr lang="en-GB" dirty="0"/>
          </a:p>
          <a:p>
            <a:pPr lvl="1">
              <a:buFont typeface="Wingdings" pitchFamily="2" charset="2"/>
              <a:buChar char="Ø"/>
            </a:pPr>
            <a:r>
              <a:rPr lang="en-GB" dirty="0">
                <a:solidFill>
                  <a:srgbClr val="00B0F0"/>
                </a:solidFill>
              </a:rPr>
              <a:t>Adults live according to the species</a:t>
            </a:r>
            <a:r>
              <a:rPr lang="en-GB" dirty="0"/>
              <a:t>, in the </a:t>
            </a:r>
            <a:r>
              <a:rPr lang="en-GB" dirty="0">
                <a:solidFill>
                  <a:srgbClr val="00B0F0"/>
                </a:solidFill>
              </a:rPr>
              <a:t>bile ducts</a:t>
            </a:r>
            <a:r>
              <a:rPr lang="en-GB" dirty="0"/>
              <a:t>, the </a:t>
            </a:r>
            <a:r>
              <a:rPr lang="en-GB" dirty="0">
                <a:solidFill>
                  <a:srgbClr val="00B0F0"/>
                </a:solidFill>
              </a:rPr>
              <a:t>intestinal tract </a:t>
            </a:r>
            <a:r>
              <a:rPr lang="en-GB" dirty="0"/>
              <a:t>or the </a:t>
            </a:r>
            <a:r>
              <a:rPr lang="en-GB" dirty="0">
                <a:solidFill>
                  <a:srgbClr val="00B0F0"/>
                </a:solidFill>
              </a:rPr>
              <a:t>lungs</a:t>
            </a:r>
            <a:endParaRPr lang="en-US" sz="2400" dirty="0">
              <a:solidFill>
                <a:srgbClr val="00B0F0"/>
              </a:solidFill>
            </a:endParaRPr>
          </a:p>
          <a:p>
            <a:pPr lvl="1">
              <a:buFont typeface="Wingdings" pitchFamily="2" charset="2"/>
              <a:buChar char="Ø"/>
            </a:pPr>
            <a:r>
              <a:rPr lang="en-GB" dirty="0">
                <a:solidFill>
                  <a:srgbClr val="00B0F0"/>
                </a:solidFill>
              </a:rPr>
              <a:t>Animal reservoir hosts are involved </a:t>
            </a:r>
            <a:r>
              <a:rPr lang="en-GB" dirty="0"/>
              <a:t>in the transmission of some species</a:t>
            </a:r>
            <a:endParaRPr lang="en-US" sz="2400" dirty="0"/>
          </a:p>
        </p:txBody>
      </p:sp>
    </p:spTree>
    <p:extLst>
      <p:ext uri="{BB962C8B-B14F-4D97-AF65-F5344CB8AC3E}">
        <p14:creationId xmlns:p14="http://schemas.microsoft.com/office/powerpoint/2010/main" val="1638561948"/>
      </p:ext>
    </p:extLst>
  </p:cSld>
  <p:clrMapOvr>
    <a:masterClrMapping/>
  </p:clrMapOvr>
</p:sld>
</file>

<file path=ppt/slides/slide3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TREMATODES (FLUKES) </a:t>
            </a:r>
            <a:r>
              <a:rPr lang="en-GB" b="1" dirty="0"/>
              <a:t>CONT’D</a:t>
            </a:r>
            <a:endParaRPr lang="en-US" dirty="0"/>
          </a:p>
        </p:txBody>
      </p:sp>
      <p:sp>
        <p:nvSpPr>
          <p:cNvPr id="3" name="Content Placeholder 2"/>
          <p:cNvSpPr>
            <a:spLocks noGrp="1"/>
          </p:cNvSpPr>
          <p:nvPr>
            <p:ph idx="1"/>
          </p:nvPr>
        </p:nvSpPr>
        <p:spPr/>
        <p:txBody>
          <a:bodyPr/>
          <a:lstStyle/>
          <a:p>
            <a:pPr lvl="1">
              <a:buFont typeface="Wingdings" pitchFamily="2" charset="2"/>
              <a:buChar char="Ø"/>
            </a:pPr>
            <a:r>
              <a:rPr lang="en-GB" dirty="0">
                <a:solidFill>
                  <a:srgbClr val="00B0F0"/>
                </a:solidFill>
              </a:rPr>
              <a:t>Transmission is by ingesting infective metacercariae </a:t>
            </a:r>
            <a:r>
              <a:rPr lang="en-GB" dirty="0"/>
              <a:t>which develop into the fluke and produce </a:t>
            </a:r>
            <a:r>
              <a:rPr lang="en-GB" dirty="0">
                <a:solidFill>
                  <a:srgbClr val="00B0F0"/>
                </a:solidFill>
              </a:rPr>
              <a:t>operculated eggs </a:t>
            </a:r>
          </a:p>
          <a:p>
            <a:pPr lvl="1">
              <a:buFont typeface="Wingdings" pitchFamily="2" charset="2"/>
              <a:buChar char="Ø"/>
            </a:pPr>
            <a:r>
              <a:rPr lang="en-GB" dirty="0"/>
              <a:t>(i.e. </a:t>
            </a:r>
            <a:r>
              <a:rPr lang="en-GB" dirty="0">
                <a:solidFill>
                  <a:srgbClr val="00B0F0"/>
                </a:solidFill>
              </a:rPr>
              <a:t>eggs with a lid over a pore at one end</a:t>
            </a:r>
            <a:r>
              <a:rPr lang="en-GB" dirty="0"/>
              <a:t>); </a:t>
            </a:r>
            <a:r>
              <a:rPr lang="en-GB" u="sng" dirty="0"/>
              <a:t>the eggs are excreted in the faeces of definitive hosts</a:t>
            </a:r>
          </a:p>
          <a:p>
            <a:pPr lvl="1">
              <a:buFont typeface="Wingdings" pitchFamily="2" charset="2"/>
              <a:buChar char="Ø"/>
            </a:pPr>
            <a:r>
              <a:rPr lang="en-GB" u="sng" dirty="0"/>
              <a:t>(but those of lung flukes can also be found in the sputum</a:t>
            </a:r>
            <a:r>
              <a:rPr lang="en-GB" dirty="0"/>
              <a:t>)</a:t>
            </a:r>
            <a:endParaRPr lang="en-US" sz="2400" dirty="0"/>
          </a:p>
          <a:p>
            <a:pPr lvl="1">
              <a:buFont typeface="Wingdings" pitchFamily="2" charset="2"/>
              <a:buChar char="Ø"/>
            </a:pPr>
            <a:r>
              <a:rPr lang="en-GB" dirty="0">
                <a:solidFill>
                  <a:srgbClr val="00B0F0"/>
                </a:solidFill>
              </a:rPr>
              <a:t>The eggs hatch into miracidia </a:t>
            </a:r>
            <a:r>
              <a:rPr lang="en-GB" dirty="0"/>
              <a:t>(</a:t>
            </a:r>
            <a:r>
              <a:rPr lang="en-GB" u="sng" dirty="0"/>
              <a:t>ciliated and mobile larvae</a:t>
            </a:r>
            <a:r>
              <a:rPr lang="en-GB" dirty="0"/>
              <a:t>)</a:t>
            </a:r>
            <a:endParaRPr lang="en-US" sz="2400" dirty="0"/>
          </a:p>
          <a:p>
            <a:pPr>
              <a:buFont typeface="Wingdings" pitchFamily="2" charset="2"/>
              <a:buChar char="Ø"/>
            </a:pPr>
            <a:endParaRPr lang="en-US" dirty="0"/>
          </a:p>
          <a:p>
            <a:endParaRPr lang="en-US" dirty="0"/>
          </a:p>
        </p:txBody>
      </p:sp>
    </p:spTree>
    <p:extLst>
      <p:ext uri="{BB962C8B-B14F-4D97-AF65-F5344CB8AC3E}">
        <p14:creationId xmlns:p14="http://schemas.microsoft.com/office/powerpoint/2010/main" val="2547673974"/>
      </p:ext>
    </p:extLst>
  </p:cSld>
  <p:clrMapOvr>
    <a:masterClrMapping/>
  </p:clrMapOvr>
</p:sld>
</file>

<file path=ppt/slides/slide3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TREMATODES (FLUKES) </a:t>
            </a:r>
            <a:r>
              <a:rPr lang="en-GB" b="1" dirty="0"/>
              <a:t>CONT’D</a:t>
            </a: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dirty="0"/>
              <a:t>There are generally </a:t>
            </a:r>
            <a:r>
              <a:rPr lang="en-GB" dirty="0">
                <a:solidFill>
                  <a:srgbClr val="00B0F0"/>
                </a:solidFill>
              </a:rPr>
              <a:t>two intermediate hosts </a:t>
            </a:r>
            <a:r>
              <a:rPr lang="en-GB" dirty="0"/>
              <a:t>in the life cycle:</a:t>
            </a:r>
            <a:endParaRPr lang="en-US" sz="2800" dirty="0"/>
          </a:p>
          <a:p>
            <a:pPr lvl="1">
              <a:buFont typeface="Wingdings" pitchFamily="2" charset="2"/>
              <a:buChar char="Ø"/>
            </a:pPr>
            <a:r>
              <a:rPr lang="en-GB" dirty="0"/>
              <a:t>The </a:t>
            </a:r>
            <a:r>
              <a:rPr lang="en-GB" dirty="0">
                <a:solidFill>
                  <a:srgbClr val="00B0F0"/>
                </a:solidFill>
              </a:rPr>
              <a:t>first</a:t>
            </a:r>
            <a:r>
              <a:rPr lang="en-GB" dirty="0"/>
              <a:t> is usually a </a:t>
            </a:r>
            <a:r>
              <a:rPr lang="en-GB" dirty="0">
                <a:solidFill>
                  <a:srgbClr val="00B050"/>
                </a:solidFill>
              </a:rPr>
              <a:t>snail</a:t>
            </a:r>
            <a:r>
              <a:rPr lang="en-GB" dirty="0"/>
              <a:t> </a:t>
            </a:r>
            <a:r>
              <a:rPr lang="en-GB" u="sng" dirty="0"/>
              <a:t>in which the </a:t>
            </a:r>
            <a:r>
              <a:rPr lang="en-GB" u="sng" dirty="0">
                <a:solidFill>
                  <a:schemeClr val="accent6">
                    <a:lumMod val="75000"/>
                  </a:schemeClr>
                </a:solidFill>
              </a:rPr>
              <a:t>miracidium </a:t>
            </a:r>
            <a:r>
              <a:rPr lang="en-GB" u="sng" dirty="0"/>
              <a:t>develops into </a:t>
            </a:r>
            <a:r>
              <a:rPr lang="en-GB" u="sng" dirty="0">
                <a:solidFill>
                  <a:schemeClr val="accent6">
                    <a:lumMod val="75000"/>
                  </a:schemeClr>
                </a:solidFill>
              </a:rPr>
              <a:t>sporocyst</a:t>
            </a:r>
            <a:r>
              <a:rPr lang="en-GB" u="sng" dirty="0"/>
              <a:t> which produces </a:t>
            </a:r>
            <a:r>
              <a:rPr lang="en-GB" u="sng" dirty="0">
                <a:solidFill>
                  <a:schemeClr val="accent6">
                    <a:lumMod val="75000"/>
                  </a:schemeClr>
                </a:solidFill>
              </a:rPr>
              <a:t>rediae</a:t>
            </a:r>
            <a:r>
              <a:rPr lang="en-GB" u="sng" dirty="0"/>
              <a:t>. Some species produce more than one generation of rediae.</a:t>
            </a:r>
            <a:endParaRPr lang="en-US" sz="2400" u="sng" dirty="0"/>
          </a:p>
          <a:p>
            <a:pPr lvl="1">
              <a:buFont typeface="Wingdings" pitchFamily="2" charset="2"/>
              <a:buChar char="Ø"/>
            </a:pPr>
            <a:r>
              <a:rPr lang="en-GB" u="sng" dirty="0">
                <a:solidFill>
                  <a:schemeClr val="accent6">
                    <a:lumMod val="75000"/>
                  </a:schemeClr>
                </a:solidFill>
              </a:rPr>
              <a:t>Rediae</a:t>
            </a:r>
            <a:r>
              <a:rPr lang="en-GB" u="sng" dirty="0"/>
              <a:t> eventually produce </a:t>
            </a:r>
            <a:r>
              <a:rPr lang="en-GB" u="sng" dirty="0">
                <a:solidFill>
                  <a:schemeClr val="accent6">
                    <a:lumMod val="75000"/>
                  </a:schemeClr>
                </a:solidFill>
              </a:rPr>
              <a:t>cercariae</a:t>
            </a:r>
            <a:r>
              <a:rPr lang="en-GB" u="sng" dirty="0"/>
              <a:t> which are shed by the snail</a:t>
            </a:r>
            <a:r>
              <a:rPr lang="en-GB" dirty="0"/>
              <a:t>.</a:t>
            </a:r>
            <a:endParaRPr lang="en-US" sz="2400" dirty="0"/>
          </a:p>
          <a:p>
            <a:pPr>
              <a:buFont typeface="Wingdings" pitchFamily="2" charset="2"/>
              <a:buChar char="Ø"/>
            </a:pPr>
            <a:endParaRPr lang="en-US" dirty="0"/>
          </a:p>
        </p:txBody>
      </p:sp>
    </p:spTree>
    <p:extLst>
      <p:ext uri="{BB962C8B-B14F-4D97-AF65-F5344CB8AC3E}">
        <p14:creationId xmlns:p14="http://schemas.microsoft.com/office/powerpoint/2010/main" val="1024315394"/>
      </p:ext>
    </p:extLst>
  </p:cSld>
  <p:clrMapOvr>
    <a:masterClrMapping/>
  </p:clrMapOvr>
</p:sld>
</file>

<file path=ppt/slides/slide3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TREMATODES (FLUKES) 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t>The </a:t>
            </a:r>
            <a:r>
              <a:rPr lang="en-GB" dirty="0">
                <a:solidFill>
                  <a:srgbClr val="00B0F0"/>
                </a:solidFill>
              </a:rPr>
              <a:t>second intermediate host </a:t>
            </a:r>
            <a:r>
              <a:rPr lang="en-GB" dirty="0"/>
              <a:t>is (according to the species) a </a:t>
            </a:r>
            <a:r>
              <a:rPr lang="en-GB" dirty="0">
                <a:solidFill>
                  <a:srgbClr val="00B050"/>
                </a:solidFill>
              </a:rPr>
              <a:t>fresh water fish</a:t>
            </a:r>
            <a:r>
              <a:rPr lang="en-GB" dirty="0"/>
              <a:t>, </a:t>
            </a:r>
            <a:r>
              <a:rPr lang="en-GB" dirty="0">
                <a:solidFill>
                  <a:srgbClr val="00B050"/>
                </a:solidFill>
              </a:rPr>
              <a:t>crab</a:t>
            </a:r>
            <a:r>
              <a:rPr lang="en-GB" dirty="0"/>
              <a:t>, </a:t>
            </a:r>
            <a:r>
              <a:rPr lang="en-GB" dirty="0">
                <a:solidFill>
                  <a:srgbClr val="00B050"/>
                </a:solidFill>
              </a:rPr>
              <a:t>crayfish</a:t>
            </a:r>
            <a:r>
              <a:rPr lang="en-GB" dirty="0"/>
              <a:t> or </a:t>
            </a:r>
            <a:r>
              <a:rPr lang="en-GB" dirty="0">
                <a:solidFill>
                  <a:srgbClr val="00B050"/>
                </a:solidFill>
              </a:rPr>
              <a:t>water plant</a:t>
            </a:r>
            <a:endParaRPr lang="en-US" sz="2800" dirty="0">
              <a:solidFill>
                <a:srgbClr val="00B050"/>
              </a:solidFill>
            </a:endParaRPr>
          </a:p>
          <a:p>
            <a:pPr lvl="1">
              <a:buFont typeface="Wingdings" pitchFamily="2" charset="2"/>
              <a:buChar char="Ø"/>
            </a:pPr>
            <a:r>
              <a:rPr lang="en-GB" dirty="0"/>
              <a:t>In or on these hosts, the </a:t>
            </a:r>
            <a:r>
              <a:rPr lang="en-GB" dirty="0">
                <a:solidFill>
                  <a:schemeClr val="accent6">
                    <a:lumMod val="75000"/>
                  </a:schemeClr>
                </a:solidFill>
              </a:rPr>
              <a:t>cercariae</a:t>
            </a:r>
            <a:r>
              <a:rPr lang="en-GB" dirty="0"/>
              <a:t> </a:t>
            </a:r>
            <a:r>
              <a:rPr lang="en-GB" u="sng" dirty="0"/>
              <a:t>encyst and become</a:t>
            </a:r>
            <a:r>
              <a:rPr lang="en-GB" dirty="0"/>
              <a:t> </a:t>
            </a:r>
            <a:r>
              <a:rPr lang="en-GB" dirty="0">
                <a:solidFill>
                  <a:schemeClr val="accent6">
                    <a:lumMod val="75000"/>
                  </a:schemeClr>
                </a:solidFill>
              </a:rPr>
              <a:t>metacercariae(infective stage)</a:t>
            </a:r>
            <a:endParaRPr lang="en-US" sz="2400" dirty="0">
              <a:solidFill>
                <a:schemeClr val="accent6">
                  <a:lumMod val="75000"/>
                </a:schemeClr>
              </a:solidFill>
            </a:endParaRPr>
          </a:p>
          <a:p>
            <a:pPr lvl="0">
              <a:buFont typeface="Wingdings" pitchFamily="2" charset="2"/>
              <a:buChar char="v"/>
            </a:pPr>
            <a:r>
              <a:rPr lang="en-GB" dirty="0">
                <a:solidFill>
                  <a:srgbClr val="7030A0"/>
                </a:solidFill>
              </a:rPr>
              <a:t>Laboratory diagnosis is by finding eggs in faeces or in sputum</a:t>
            </a:r>
            <a:endParaRPr lang="en-US" dirty="0">
              <a:solidFill>
                <a:srgbClr val="7030A0"/>
              </a:solidFill>
            </a:endParaRPr>
          </a:p>
          <a:p>
            <a:pPr marL="0" indent="0">
              <a:buNone/>
            </a:pPr>
            <a:endParaRPr lang="en-US" dirty="0"/>
          </a:p>
        </p:txBody>
      </p:sp>
    </p:spTree>
    <p:extLst>
      <p:ext uri="{BB962C8B-B14F-4D97-AF65-F5344CB8AC3E}">
        <p14:creationId xmlns:p14="http://schemas.microsoft.com/office/powerpoint/2010/main" val="3019302279"/>
      </p:ext>
    </p:extLst>
  </p:cSld>
  <p:clrMapOvr>
    <a:masterClrMapping/>
  </p:clrMapOvr>
</p:sld>
</file>

<file path=ppt/slides/slide3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 y="274638"/>
            <a:ext cx="9144000" cy="944562"/>
          </a:xfrm>
        </p:spPr>
        <p:txBody>
          <a:bodyPr>
            <a:noAutofit/>
          </a:bodyPr>
          <a:lstStyle/>
          <a:p>
            <a:r>
              <a:rPr lang="en-GB" sz="3000" b="1" dirty="0"/>
              <a:t>Examples by adult worm site of residence in the definitive host (human) body  and Transmission Mode</a:t>
            </a:r>
            <a:br>
              <a:rPr lang="en-US" sz="3000" dirty="0"/>
            </a:br>
            <a:endParaRPr lang="en-US" sz="3000" dirty="0"/>
          </a:p>
        </p:txBody>
      </p:sp>
      <p:graphicFrame>
        <p:nvGraphicFramePr>
          <p:cNvPr id="4" name="Content Placeholder 3"/>
          <p:cNvGraphicFramePr>
            <a:graphicFrameLocks noGrp="1"/>
          </p:cNvGraphicFramePr>
          <p:nvPr>
            <p:ph idx="1"/>
          </p:nvPr>
        </p:nvGraphicFramePr>
        <p:xfrm>
          <a:off x="533400" y="1219200"/>
          <a:ext cx="8077201" cy="5507337"/>
        </p:xfrm>
        <a:graphic>
          <a:graphicData uri="http://schemas.openxmlformats.org/drawingml/2006/table">
            <a:tbl>
              <a:tblPr firstRow="1" firstCol="1" bandRow="1">
                <a:tableStyleId>{5C22544A-7EE6-4342-B048-85BDC9FD1C3A}</a:tableStyleId>
              </a:tblPr>
              <a:tblGrid>
                <a:gridCol w="2017150">
                  <a:extLst>
                    <a:ext uri="{9D8B030D-6E8A-4147-A177-3AD203B41FA5}">
                      <a16:colId xmlns:a16="http://schemas.microsoft.com/office/drawing/2014/main" val="20000"/>
                    </a:ext>
                  </a:extLst>
                </a:gridCol>
                <a:gridCol w="1920809">
                  <a:extLst>
                    <a:ext uri="{9D8B030D-6E8A-4147-A177-3AD203B41FA5}">
                      <a16:colId xmlns:a16="http://schemas.microsoft.com/office/drawing/2014/main" val="20001"/>
                    </a:ext>
                  </a:extLst>
                </a:gridCol>
                <a:gridCol w="2069621">
                  <a:extLst>
                    <a:ext uri="{9D8B030D-6E8A-4147-A177-3AD203B41FA5}">
                      <a16:colId xmlns:a16="http://schemas.microsoft.com/office/drawing/2014/main" val="20002"/>
                    </a:ext>
                  </a:extLst>
                </a:gridCol>
                <a:gridCol w="2069621">
                  <a:extLst>
                    <a:ext uri="{9D8B030D-6E8A-4147-A177-3AD203B41FA5}">
                      <a16:colId xmlns:a16="http://schemas.microsoft.com/office/drawing/2014/main" val="20003"/>
                    </a:ext>
                  </a:extLst>
                </a:gridCol>
              </a:tblGrid>
              <a:tr h="588346">
                <a:tc>
                  <a:txBody>
                    <a:bodyPr/>
                    <a:lstStyle/>
                    <a:p>
                      <a:pPr marL="0" marR="0" algn="ctr">
                        <a:lnSpc>
                          <a:spcPct val="150000"/>
                        </a:lnSpc>
                        <a:spcBef>
                          <a:spcPts val="0"/>
                        </a:spcBef>
                        <a:spcAft>
                          <a:spcPts val="0"/>
                        </a:spcAft>
                      </a:pPr>
                      <a:r>
                        <a:rPr lang="en-GB" sz="1600" dirty="0">
                          <a:effectLst/>
                        </a:rPr>
                        <a:t>Species</a:t>
                      </a:r>
                      <a:endParaRPr lang="en-US" sz="1600" dirty="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Location of adult worm</a:t>
                      </a:r>
                      <a:endParaRPr lang="en-US" sz="160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Intermediate host</a:t>
                      </a:r>
                      <a:endParaRPr lang="en-US" sz="160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Mode of transmission</a:t>
                      </a:r>
                      <a:endParaRPr lang="en-US" sz="1600">
                        <a:effectLst/>
                        <a:latin typeface="Calibri"/>
                        <a:ea typeface="Calibri"/>
                        <a:cs typeface="Times New Roman"/>
                      </a:endParaRPr>
                    </a:p>
                  </a:txBody>
                  <a:tcPr marL="52872" marR="52872" marT="0" marB="0" anchor="ctr"/>
                </a:tc>
                <a:extLst>
                  <a:ext uri="{0D108BD9-81ED-4DB2-BD59-A6C34878D82A}">
                    <a16:rowId xmlns:a16="http://schemas.microsoft.com/office/drawing/2014/main" val="10000"/>
                  </a:ext>
                </a:extLst>
              </a:tr>
              <a:tr h="638246">
                <a:tc>
                  <a:txBody>
                    <a:bodyPr/>
                    <a:lstStyle/>
                    <a:p>
                      <a:pPr marL="0" marR="0" algn="ctr">
                        <a:lnSpc>
                          <a:spcPct val="150000"/>
                        </a:lnSpc>
                        <a:spcBef>
                          <a:spcPts val="0"/>
                        </a:spcBef>
                        <a:spcAft>
                          <a:spcPts val="0"/>
                        </a:spcAft>
                      </a:pPr>
                      <a:r>
                        <a:rPr lang="en-GB" sz="1600" dirty="0">
                          <a:effectLst/>
                        </a:rPr>
                        <a:t>Fasciola hepatica</a:t>
                      </a:r>
                      <a:endParaRPr lang="en-US" sz="1600" dirty="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dirty="0">
                          <a:effectLst/>
                        </a:rPr>
                        <a:t>Bile duct/Biliary tract</a:t>
                      </a:r>
                      <a:endParaRPr lang="en-US" sz="1600" dirty="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Fresh water snail</a:t>
                      </a:r>
                      <a:endParaRPr lang="en-US" sz="160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Eggs passed in faeces</a:t>
                      </a:r>
                      <a:endParaRPr lang="en-US" sz="1600">
                        <a:effectLst/>
                        <a:latin typeface="Calibri"/>
                        <a:ea typeface="Calibri"/>
                        <a:cs typeface="Times New Roman"/>
                      </a:endParaRPr>
                    </a:p>
                  </a:txBody>
                  <a:tcPr marL="52872" marR="52872" marT="0" marB="0" anchor="ctr"/>
                </a:tc>
                <a:extLst>
                  <a:ext uri="{0D108BD9-81ED-4DB2-BD59-A6C34878D82A}">
                    <a16:rowId xmlns:a16="http://schemas.microsoft.com/office/drawing/2014/main" val="10001"/>
                  </a:ext>
                </a:extLst>
              </a:tr>
              <a:tr h="638246">
                <a:tc>
                  <a:txBody>
                    <a:bodyPr/>
                    <a:lstStyle/>
                    <a:p>
                      <a:pPr marL="0" marR="0" algn="ctr">
                        <a:lnSpc>
                          <a:spcPct val="150000"/>
                        </a:lnSpc>
                        <a:spcBef>
                          <a:spcPts val="0"/>
                        </a:spcBef>
                        <a:spcAft>
                          <a:spcPts val="0"/>
                        </a:spcAft>
                      </a:pPr>
                      <a:r>
                        <a:rPr lang="en-GB" sz="1600" dirty="0">
                          <a:effectLst/>
                        </a:rPr>
                        <a:t>Fasciolopsis buski</a:t>
                      </a:r>
                      <a:endParaRPr lang="en-US" sz="1600" dirty="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dirty="0">
                          <a:effectLst/>
                        </a:rPr>
                        <a:t>Small intestine</a:t>
                      </a:r>
                      <a:endParaRPr lang="en-US" sz="1600" dirty="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Fresh water snail</a:t>
                      </a:r>
                      <a:endParaRPr lang="en-US" sz="160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Eggs passed in faeces</a:t>
                      </a:r>
                      <a:endParaRPr lang="en-US" sz="1600">
                        <a:effectLst/>
                        <a:latin typeface="Calibri"/>
                        <a:ea typeface="Calibri"/>
                        <a:cs typeface="Times New Roman"/>
                      </a:endParaRPr>
                    </a:p>
                  </a:txBody>
                  <a:tcPr marL="52872" marR="52872" marT="0" marB="0" anchor="ctr"/>
                </a:tc>
                <a:extLst>
                  <a:ext uri="{0D108BD9-81ED-4DB2-BD59-A6C34878D82A}">
                    <a16:rowId xmlns:a16="http://schemas.microsoft.com/office/drawing/2014/main" val="10002"/>
                  </a:ext>
                </a:extLst>
              </a:tr>
              <a:tr h="1091399">
                <a:tc>
                  <a:txBody>
                    <a:bodyPr/>
                    <a:lstStyle/>
                    <a:p>
                      <a:pPr marL="0" marR="0" algn="ctr">
                        <a:lnSpc>
                          <a:spcPct val="150000"/>
                        </a:lnSpc>
                        <a:spcBef>
                          <a:spcPts val="0"/>
                        </a:spcBef>
                        <a:spcAft>
                          <a:spcPts val="0"/>
                        </a:spcAft>
                      </a:pPr>
                      <a:r>
                        <a:rPr lang="en-GB" sz="1600" dirty="0">
                          <a:effectLst/>
                        </a:rPr>
                        <a:t>Opisthorchis sinensis</a:t>
                      </a:r>
                      <a:endParaRPr lang="en-US" sz="1600" dirty="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dirty="0">
                          <a:effectLst/>
                        </a:rPr>
                        <a:t>Bile ducts</a:t>
                      </a:r>
                      <a:endParaRPr lang="en-US" sz="1600" dirty="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Fresh water snail</a:t>
                      </a:r>
                      <a:endParaRPr lang="en-US" sz="1600">
                        <a:effectLst/>
                      </a:endParaRPr>
                    </a:p>
                    <a:p>
                      <a:pPr marL="0" marR="0" algn="ctr">
                        <a:lnSpc>
                          <a:spcPct val="150000"/>
                        </a:lnSpc>
                        <a:spcBef>
                          <a:spcPts val="0"/>
                        </a:spcBef>
                        <a:spcAft>
                          <a:spcPts val="0"/>
                        </a:spcAft>
                      </a:pPr>
                      <a:r>
                        <a:rPr lang="en-GB" sz="1600">
                          <a:effectLst/>
                        </a:rPr>
                        <a:t>Fresh water fish</a:t>
                      </a:r>
                      <a:endParaRPr lang="en-US" sz="160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Eggs passed in faeces</a:t>
                      </a:r>
                      <a:endParaRPr lang="en-US" sz="1600">
                        <a:effectLst/>
                        <a:latin typeface="Calibri"/>
                        <a:ea typeface="Calibri"/>
                        <a:cs typeface="Times New Roman"/>
                      </a:endParaRPr>
                    </a:p>
                  </a:txBody>
                  <a:tcPr marL="52872" marR="52872" marT="0" marB="0" anchor="ctr"/>
                </a:tc>
                <a:extLst>
                  <a:ext uri="{0D108BD9-81ED-4DB2-BD59-A6C34878D82A}">
                    <a16:rowId xmlns:a16="http://schemas.microsoft.com/office/drawing/2014/main" val="10003"/>
                  </a:ext>
                </a:extLst>
              </a:tr>
              <a:tr h="1091399">
                <a:tc>
                  <a:txBody>
                    <a:bodyPr/>
                    <a:lstStyle/>
                    <a:p>
                      <a:pPr marL="0" marR="0" algn="ctr">
                        <a:lnSpc>
                          <a:spcPct val="150000"/>
                        </a:lnSpc>
                        <a:spcBef>
                          <a:spcPts val="0"/>
                        </a:spcBef>
                        <a:spcAft>
                          <a:spcPts val="0"/>
                        </a:spcAft>
                      </a:pPr>
                      <a:r>
                        <a:rPr lang="en-GB" sz="1600" dirty="0">
                          <a:effectLst/>
                        </a:rPr>
                        <a:t>O. viverrini</a:t>
                      </a:r>
                      <a:endParaRPr lang="en-US" sz="1600" dirty="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dirty="0">
                          <a:effectLst/>
                        </a:rPr>
                        <a:t>Bile ducts</a:t>
                      </a:r>
                      <a:endParaRPr lang="en-US" sz="1600" dirty="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Fresh water snail</a:t>
                      </a:r>
                      <a:endParaRPr lang="en-US" sz="1600">
                        <a:effectLst/>
                      </a:endParaRPr>
                    </a:p>
                    <a:p>
                      <a:pPr marL="0" marR="0" algn="ctr">
                        <a:lnSpc>
                          <a:spcPct val="150000"/>
                        </a:lnSpc>
                        <a:spcBef>
                          <a:spcPts val="0"/>
                        </a:spcBef>
                        <a:spcAft>
                          <a:spcPts val="0"/>
                        </a:spcAft>
                      </a:pPr>
                      <a:r>
                        <a:rPr lang="en-GB" sz="1600">
                          <a:effectLst/>
                        </a:rPr>
                        <a:t>Fresh water fish</a:t>
                      </a:r>
                      <a:endParaRPr lang="en-US" sz="160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Eggs passed in faeces</a:t>
                      </a:r>
                      <a:endParaRPr lang="en-US" sz="1600">
                        <a:effectLst/>
                        <a:latin typeface="Calibri"/>
                        <a:ea typeface="Calibri"/>
                        <a:cs typeface="Times New Roman"/>
                      </a:endParaRPr>
                    </a:p>
                  </a:txBody>
                  <a:tcPr marL="52872" marR="52872" marT="0" marB="0" anchor="ctr"/>
                </a:tc>
                <a:extLst>
                  <a:ext uri="{0D108BD9-81ED-4DB2-BD59-A6C34878D82A}">
                    <a16:rowId xmlns:a16="http://schemas.microsoft.com/office/drawing/2014/main" val="10004"/>
                  </a:ext>
                </a:extLst>
              </a:tr>
              <a:tr h="1316527">
                <a:tc>
                  <a:txBody>
                    <a:bodyPr/>
                    <a:lstStyle/>
                    <a:p>
                      <a:pPr marL="0" marR="0" algn="ctr">
                        <a:lnSpc>
                          <a:spcPct val="150000"/>
                        </a:lnSpc>
                        <a:spcBef>
                          <a:spcPts val="0"/>
                        </a:spcBef>
                        <a:spcAft>
                          <a:spcPts val="0"/>
                        </a:spcAft>
                      </a:pPr>
                      <a:r>
                        <a:rPr lang="en-GB" sz="1600">
                          <a:effectLst/>
                        </a:rPr>
                        <a:t>Paragoninus westermani and other Paragoninus species</a:t>
                      </a:r>
                      <a:endParaRPr lang="en-US" sz="160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Lungs</a:t>
                      </a:r>
                      <a:endParaRPr lang="en-US" sz="160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a:effectLst/>
                        </a:rPr>
                        <a:t>Fresh water snail</a:t>
                      </a:r>
                      <a:endParaRPr lang="en-US" sz="1600">
                        <a:effectLst/>
                      </a:endParaRPr>
                    </a:p>
                    <a:p>
                      <a:pPr marL="0" marR="0" algn="ctr">
                        <a:lnSpc>
                          <a:spcPct val="150000"/>
                        </a:lnSpc>
                        <a:spcBef>
                          <a:spcPts val="0"/>
                        </a:spcBef>
                        <a:spcAft>
                          <a:spcPts val="0"/>
                        </a:spcAft>
                      </a:pPr>
                      <a:r>
                        <a:rPr lang="en-GB" sz="1600">
                          <a:effectLst/>
                        </a:rPr>
                        <a:t>Crabs or crayfish</a:t>
                      </a:r>
                      <a:endParaRPr lang="en-US" sz="1600">
                        <a:effectLst/>
                        <a:latin typeface="Calibri"/>
                        <a:ea typeface="Calibri"/>
                        <a:cs typeface="Times New Roman"/>
                      </a:endParaRPr>
                    </a:p>
                  </a:txBody>
                  <a:tcPr marL="52872" marR="52872" marT="0" marB="0" anchor="ctr"/>
                </a:tc>
                <a:tc>
                  <a:txBody>
                    <a:bodyPr/>
                    <a:lstStyle/>
                    <a:p>
                      <a:pPr marL="0" marR="0" algn="ctr">
                        <a:lnSpc>
                          <a:spcPct val="150000"/>
                        </a:lnSpc>
                        <a:spcBef>
                          <a:spcPts val="0"/>
                        </a:spcBef>
                        <a:spcAft>
                          <a:spcPts val="0"/>
                        </a:spcAft>
                      </a:pPr>
                      <a:r>
                        <a:rPr lang="en-GB" sz="1600" dirty="0">
                          <a:effectLst/>
                        </a:rPr>
                        <a:t>Eggs present in sputum, also passed in faeces</a:t>
                      </a:r>
                      <a:endParaRPr lang="en-US" sz="1600" dirty="0">
                        <a:effectLst/>
                        <a:latin typeface="Calibri"/>
                        <a:ea typeface="Calibri"/>
                        <a:cs typeface="Times New Roman"/>
                      </a:endParaRPr>
                    </a:p>
                  </a:txBody>
                  <a:tcPr marL="52872" marR="52872"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06024866"/>
      </p:ext>
    </p:extLst>
  </p:cSld>
  <p:clrMapOvr>
    <a:masterClrMapping/>
  </p:clrMapOvr>
</p:sld>
</file>

<file path=ppt/slides/slide3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76200"/>
            <a:ext cx="9067800" cy="6477000"/>
          </a:xfrm>
        </p:spPr>
      </p:pic>
    </p:spTree>
    <p:extLst>
      <p:ext uri="{BB962C8B-B14F-4D97-AF65-F5344CB8AC3E}">
        <p14:creationId xmlns:p14="http://schemas.microsoft.com/office/powerpoint/2010/main" val="3517491153"/>
      </p:ext>
    </p:extLst>
  </p:cSld>
  <p:clrMapOvr>
    <a:masterClrMapping/>
  </p:clrMapOvr>
</p:sld>
</file>

<file path=ppt/slides/slide3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TREMATODES (FLUKES) </a:t>
            </a:r>
            <a:r>
              <a:rPr lang="en-GB" b="1" dirty="0"/>
              <a:t>CONT’D</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v"/>
            </a:pPr>
            <a:r>
              <a:rPr lang="en-GB" dirty="0"/>
              <a:t>In all these flukes, the </a:t>
            </a:r>
            <a:r>
              <a:rPr lang="en-GB" dirty="0">
                <a:solidFill>
                  <a:srgbClr val="FF0000"/>
                </a:solidFill>
              </a:rPr>
              <a:t>infective stage for humans </a:t>
            </a:r>
            <a:r>
              <a:rPr lang="en-GB" dirty="0"/>
              <a:t>is the </a:t>
            </a:r>
            <a:r>
              <a:rPr lang="en-GB" b="1" dirty="0">
                <a:solidFill>
                  <a:schemeClr val="accent6">
                    <a:lumMod val="75000"/>
                  </a:schemeClr>
                </a:solidFill>
              </a:rPr>
              <a:t>metacercariae</a:t>
            </a:r>
            <a:r>
              <a:rPr lang="en-GB" dirty="0"/>
              <a:t>. </a:t>
            </a:r>
            <a:endParaRPr lang="en-US" dirty="0"/>
          </a:p>
          <a:p>
            <a:pPr>
              <a:buFont typeface="Wingdings" pitchFamily="2" charset="2"/>
              <a:buChar char="v"/>
            </a:pPr>
            <a:r>
              <a:rPr lang="en-GB" i="1" dirty="0"/>
              <a:t>The</a:t>
            </a:r>
            <a:r>
              <a:rPr lang="en-GB" b="1" i="1" dirty="0"/>
              <a:t> </a:t>
            </a:r>
            <a:r>
              <a:rPr lang="en-GB" i="1" dirty="0">
                <a:solidFill>
                  <a:srgbClr val="7030A0"/>
                </a:solidFill>
              </a:rPr>
              <a:t>Flukes of Medical importance </a:t>
            </a:r>
            <a:r>
              <a:rPr lang="en-GB" i="1" dirty="0"/>
              <a:t>belong to the </a:t>
            </a:r>
            <a:r>
              <a:rPr lang="en-GB" b="1" i="1" dirty="0"/>
              <a:t>Subclass </a:t>
            </a:r>
            <a:r>
              <a:rPr lang="en-GB" i="1" dirty="0">
                <a:solidFill>
                  <a:srgbClr val="FF33CC"/>
                </a:solidFill>
              </a:rPr>
              <a:t>Digenea</a:t>
            </a:r>
            <a:r>
              <a:rPr lang="en-GB" i="1" dirty="0"/>
              <a:t> of the </a:t>
            </a:r>
            <a:r>
              <a:rPr lang="en-GB" b="1" i="1" dirty="0"/>
              <a:t>Class </a:t>
            </a:r>
            <a:r>
              <a:rPr lang="en-GB" i="1" dirty="0">
                <a:solidFill>
                  <a:srgbClr val="0070C0"/>
                </a:solidFill>
              </a:rPr>
              <a:t>Trematoda</a:t>
            </a:r>
            <a:r>
              <a:rPr lang="en-GB" b="1" i="1" dirty="0"/>
              <a:t>. </a:t>
            </a:r>
            <a:r>
              <a:rPr lang="en-GB" i="1" dirty="0">
                <a:solidFill>
                  <a:srgbClr val="FF33CC"/>
                </a:solidFill>
              </a:rPr>
              <a:t>Digenetic flukes </a:t>
            </a:r>
            <a:r>
              <a:rPr lang="en-GB" i="1" u="sng" dirty="0"/>
              <a:t>have the following features:</a:t>
            </a:r>
            <a:endParaRPr lang="en-US" i="1" u="sng" dirty="0"/>
          </a:p>
          <a:p>
            <a:pPr lvl="0">
              <a:buFont typeface="Wingdings" pitchFamily="2" charset="2"/>
              <a:buChar char="v"/>
            </a:pPr>
            <a:r>
              <a:rPr lang="en-GB" dirty="0">
                <a:solidFill>
                  <a:srgbClr val="92D050"/>
                </a:solidFill>
              </a:rPr>
              <a:t>Two generations in their life cycle</a:t>
            </a:r>
            <a:r>
              <a:rPr lang="en-GB" dirty="0"/>
              <a:t>, namely:</a:t>
            </a:r>
            <a:endParaRPr lang="en-US" dirty="0"/>
          </a:p>
          <a:p>
            <a:pPr marL="0" lvl="0" indent="0">
              <a:buNone/>
            </a:pPr>
            <a:r>
              <a:rPr lang="en-GB" dirty="0"/>
              <a:t>1. </a:t>
            </a:r>
            <a:r>
              <a:rPr lang="en-GB" dirty="0">
                <a:solidFill>
                  <a:schemeClr val="accent6"/>
                </a:solidFill>
              </a:rPr>
              <a:t>An asexual generation </a:t>
            </a:r>
            <a:r>
              <a:rPr lang="en-GB" u="sng" dirty="0"/>
              <a:t>in which multiplication occurs</a:t>
            </a:r>
            <a:r>
              <a:rPr lang="en-GB" dirty="0"/>
              <a:t> (in </a:t>
            </a:r>
            <a:r>
              <a:rPr lang="en-GB" dirty="0">
                <a:solidFill>
                  <a:schemeClr val="accent6">
                    <a:lumMod val="75000"/>
                  </a:schemeClr>
                </a:solidFill>
              </a:rPr>
              <a:t>sporocysts</a:t>
            </a:r>
            <a:r>
              <a:rPr lang="en-GB" dirty="0"/>
              <a:t> or </a:t>
            </a:r>
            <a:r>
              <a:rPr lang="en-GB" dirty="0">
                <a:solidFill>
                  <a:schemeClr val="accent6">
                    <a:lumMod val="75000"/>
                  </a:schemeClr>
                </a:solidFill>
              </a:rPr>
              <a:t>redia stage</a:t>
            </a:r>
            <a:r>
              <a:rPr lang="en-GB" dirty="0"/>
              <a:t>, and </a:t>
            </a:r>
            <a:endParaRPr lang="en-US" dirty="0"/>
          </a:p>
          <a:p>
            <a:pPr marL="0" lvl="0" indent="0">
              <a:buNone/>
            </a:pPr>
            <a:r>
              <a:rPr lang="en-GB" dirty="0"/>
              <a:t>2</a:t>
            </a:r>
            <a:r>
              <a:rPr lang="en-GB" dirty="0">
                <a:solidFill>
                  <a:schemeClr val="accent6"/>
                </a:solidFill>
              </a:rPr>
              <a:t>. A sexual generation </a:t>
            </a:r>
            <a:r>
              <a:rPr lang="en-GB" u="sng" dirty="0"/>
              <a:t>which produces eggs</a:t>
            </a:r>
            <a:endParaRPr lang="en-US" u="sng" dirty="0"/>
          </a:p>
        </p:txBody>
      </p:sp>
    </p:spTree>
    <p:extLst>
      <p:ext uri="{BB962C8B-B14F-4D97-AF65-F5344CB8AC3E}">
        <p14:creationId xmlns:p14="http://schemas.microsoft.com/office/powerpoint/2010/main" val="2176096724"/>
      </p:ext>
    </p:extLst>
  </p:cSld>
  <p:clrMapOvr>
    <a:masterClrMapping/>
  </p:clrMapOvr>
</p:sld>
</file>

<file path=ppt/slides/slide3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TREMATODES (FLUKES) </a:t>
            </a:r>
            <a:r>
              <a:rPr lang="en-GB" b="1" dirty="0"/>
              <a:t>CONT’D</a:t>
            </a:r>
            <a:endParaRPr lang="en-US" dirty="0"/>
          </a:p>
        </p:txBody>
      </p:sp>
      <p:sp>
        <p:nvSpPr>
          <p:cNvPr id="3" name="Content Placeholder 2"/>
          <p:cNvSpPr>
            <a:spLocks noGrp="1"/>
          </p:cNvSpPr>
          <p:nvPr>
            <p:ph idx="1"/>
          </p:nvPr>
        </p:nvSpPr>
        <p:spPr/>
        <p:txBody>
          <a:bodyPr>
            <a:normAutofit fontScale="92500" lnSpcReduction="10000"/>
          </a:bodyPr>
          <a:lstStyle/>
          <a:p>
            <a:pPr lvl="0">
              <a:buFont typeface="Wingdings" pitchFamily="2" charset="2"/>
              <a:buChar char="v"/>
            </a:pPr>
            <a:r>
              <a:rPr lang="en-GB" dirty="0">
                <a:solidFill>
                  <a:srgbClr val="C00000"/>
                </a:solidFill>
              </a:rPr>
              <a:t>Unsegmented</a:t>
            </a:r>
            <a:r>
              <a:rPr lang="en-GB" dirty="0"/>
              <a:t>, mostly </a:t>
            </a:r>
            <a:r>
              <a:rPr lang="en-GB" dirty="0">
                <a:solidFill>
                  <a:srgbClr val="C00000"/>
                </a:solidFill>
              </a:rPr>
              <a:t>flat leaf-like worms </a:t>
            </a:r>
            <a:r>
              <a:rPr lang="en-GB" dirty="0"/>
              <a:t>(except </a:t>
            </a:r>
            <a:r>
              <a:rPr lang="en-GB" dirty="0">
                <a:solidFill>
                  <a:srgbClr val="00B0F0"/>
                </a:solidFill>
              </a:rPr>
              <a:t>schistosomes</a:t>
            </a:r>
            <a:r>
              <a:rPr lang="en-GB" dirty="0"/>
              <a:t>)</a:t>
            </a:r>
            <a:endParaRPr lang="en-US" dirty="0"/>
          </a:p>
          <a:p>
            <a:pPr lvl="0">
              <a:buFont typeface="Wingdings" pitchFamily="2" charset="2"/>
              <a:buChar char="v"/>
            </a:pPr>
            <a:r>
              <a:rPr lang="en-GB" u="sng" dirty="0"/>
              <a:t>Attach to their host by means of </a:t>
            </a:r>
            <a:r>
              <a:rPr lang="en-GB" dirty="0">
                <a:solidFill>
                  <a:srgbClr val="C00000"/>
                </a:solidFill>
              </a:rPr>
              <a:t>suckers</a:t>
            </a:r>
            <a:r>
              <a:rPr lang="en-GB" dirty="0"/>
              <a:t> (an </a:t>
            </a:r>
            <a:r>
              <a:rPr lang="en-GB" u="sng" dirty="0"/>
              <a:t>oral sucker surrounding the mouth</a:t>
            </a:r>
            <a:r>
              <a:rPr lang="en-GB" dirty="0"/>
              <a:t> and a </a:t>
            </a:r>
            <a:r>
              <a:rPr lang="en-GB" u="sng" dirty="0"/>
              <a:t>ventral sucker on the ventral surface</a:t>
            </a:r>
            <a:r>
              <a:rPr lang="en-GB" dirty="0"/>
              <a:t>).</a:t>
            </a:r>
          </a:p>
          <a:p>
            <a:pPr lvl="0">
              <a:buFont typeface="Wingdings" pitchFamily="2" charset="2"/>
              <a:buChar char="v"/>
            </a:pPr>
            <a:r>
              <a:rPr lang="en-GB" dirty="0">
                <a:solidFill>
                  <a:srgbClr val="C00000"/>
                </a:solidFill>
              </a:rPr>
              <a:t>Digestive system </a:t>
            </a:r>
            <a:r>
              <a:rPr lang="en-GB" u="sng" dirty="0"/>
              <a:t>consists of a mouth and an oesophagus which divides to form two intestinal caeca</a:t>
            </a:r>
            <a:r>
              <a:rPr lang="en-GB" dirty="0"/>
              <a:t>. </a:t>
            </a:r>
          </a:p>
          <a:p>
            <a:pPr lvl="0">
              <a:buFont typeface="Wingdings" pitchFamily="2" charset="2"/>
              <a:buChar char="v"/>
            </a:pPr>
            <a:r>
              <a:rPr lang="en-GB" u="sng" dirty="0"/>
              <a:t>In some species the caeca are branched</a:t>
            </a:r>
            <a:r>
              <a:rPr lang="en-GB" dirty="0"/>
              <a:t>. </a:t>
            </a:r>
            <a:r>
              <a:rPr lang="en-GB" b="1" dirty="0"/>
              <a:t>There is no anus</a:t>
            </a:r>
            <a:r>
              <a:rPr lang="en-GB" dirty="0"/>
              <a:t>.</a:t>
            </a:r>
            <a:endParaRPr lang="en-US" dirty="0"/>
          </a:p>
          <a:p>
            <a:endParaRPr lang="en-US" dirty="0"/>
          </a:p>
          <a:p>
            <a:endParaRPr lang="en-US" dirty="0"/>
          </a:p>
        </p:txBody>
      </p:sp>
    </p:spTree>
    <p:extLst>
      <p:ext uri="{BB962C8B-B14F-4D97-AF65-F5344CB8AC3E}">
        <p14:creationId xmlns:p14="http://schemas.microsoft.com/office/powerpoint/2010/main" val="1170435480"/>
      </p:ext>
    </p:extLst>
  </p:cSld>
  <p:clrMapOvr>
    <a:masterClrMapping/>
  </p:clrMapOvr>
</p:sld>
</file>

<file path=ppt/slides/slide3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TREMATODES (FLUKES) </a:t>
            </a:r>
            <a:r>
              <a:rPr lang="en-GB" b="1" dirty="0"/>
              <a:t>CONT’D</a:t>
            </a:r>
            <a:endParaRPr lang="en-US" dirty="0"/>
          </a:p>
        </p:txBody>
      </p:sp>
      <p:sp>
        <p:nvSpPr>
          <p:cNvPr id="3" name="Content Placeholder 2"/>
          <p:cNvSpPr>
            <a:spLocks noGrp="1"/>
          </p:cNvSpPr>
          <p:nvPr>
            <p:ph idx="1"/>
          </p:nvPr>
        </p:nvSpPr>
        <p:spPr>
          <a:xfrm>
            <a:off x="457200" y="1600200"/>
            <a:ext cx="8229600" cy="4800600"/>
          </a:xfrm>
        </p:spPr>
        <p:txBody>
          <a:bodyPr>
            <a:normAutofit lnSpcReduction="10000"/>
          </a:bodyPr>
          <a:lstStyle/>
          <a:p>
            <a:pPr lvl="0">
              <a:buFont typeface="Wingdings" pitchFamily="2" charset="2"/>
              <a:buChar char="v"/>
            </a:pPr>
            <a:r>
              <a:rPr lang="en-GB" dirty="0">
                <a:solidFill>
                  <a:srgbClr val="C00000"/>
                </a:solidFill>
              </a:rPr>
              <a:t>Excretory system </a:t>
            </a:r>
            <a:r>
              <a:rPr lang="en-GB" dirty="0"/>
              <a:t>is composed of </a:t>
            </a:r>
            <a:r>
              <a:rPr lang="en-GB" dirty="0">
                <a:solidFill>
                  <a:srgbClr val="FF33CC"/>
                </a:solidFill>
              </a:rPr>
              <a:t>excretory cells </a:t>
            </a:r>
            <a:r>
              <a:rPr lang="en-GB" dirty="0"/>
              <a:t>(called </a:t>
            </a:r>
            <a:r>
              <a:rPr lang="en-GB" dirty="0">
                <a:solidFill>
                  <a:srgbClr val="FF33CC"/>
                </a:solidFill>
              </a:rPr>
              <a:t>flame cells</a:t>
            </a:r>
            <a:r>
              <a:rPr lang="en-GB" dirty="0"/>
              <a:t>), </a:t>
            </a:r>
            <a:r>
              <a:rPr lang="en-GB" dirty="0">
                <a:solidFill>
                  <a:srgbClr val="FF33CC"/>
                </a:solidFill>
              </a:rPr>
              <a:t>collecting tubules </a:t>
            </a:r>
            <a:r>
              <a:rPr lang="en-GB" dirty="0"/>
              <a:t>and an </a:t>
            </a:r>
            <a:r>
              <a:rPr lang="en-GB" dirty="0">
                <a:solidFill>
                  <a:srgbClr val="FF33CC"/>
                </a:solidFill>
              </a:rPr>
              <a:t>excretory pore</a:t>
            </a:r>
            <a:r>
              <a:rPr lang="en-GB" dirty="0"/>
              <a:t>, </a:t>
            </a:r>
            <a:r>
              <a:rPr lang="en-GB" b="1" dirty="0"/>
              <a:t>this is not the anus</a:t>
            </a:r>
            <a:r>
              <a:rPr lang="en-GB" dirty="0"/>
              <a:t>.</a:t>
            </a:r>
          </a:p>
          <a:p>
            <a:pPr>
              <a:buFont typeface="Wingdings" pitchFamily="2" charset="2"/>
              <a:buChar char="v"/>
            </a:pPr>
            <a:r>
              <a:rPr lang="en-GB" dirty="0">
                <a:solidFill>
                  <a:srgbClr val="C00000"/>
                </a:solidFill>
              </a:rPr>
              <a:t>Hermaphroditic</a:t>
            </a:r>
            <a:r>
              <a:rPr lang="en-GB" dirty="0"/>
              <a:t> (male and female reproductive organs in the individual) </a:t>
            </a:r>
            <a:r>
              <a:rPr lang="en-GB" u="sng" dirty="0"/>
              <a:t>except </a:t>
            </a:r>
            <a:r>
              <a:rPr lang="en-GB" u="sng" dirty="0">
                <a:solidFill>
                  <a:srgbClr val="00B0F0"/>
                </a:solidFill>
              </a:rPr>
              <a:t>schistosomes</a:t>
            </a:r>
            <a:r>
              <a:rPr lang="en-GB" dirty="0"/>
              <a:t>.</a:t>
            </a:r>
          </a:p>
          <a:p>
            <a:pPr>
              <a:buFont typeface="Wingdings" pitchFamily="2" charset="2"/>
              <a:buChar char="v"/>
            </a:pPr>
            <a:r>
              <a:rPr lang="en-GB" dirty="0"/>
              <a:t> </a:t>
            </a:r>
            <a:r>
              <a:rPr lang="en-GB" u="sng" dirty="0"/>
              <a:t>Most trematode eggs are </a:t>
            </a:r>
            <a:r>
              <a:rPr lang="en-GB" dirty="0">
                <a:solidFill>
                  <a:srgbClr val="C00000"/>
                </a:solidFill>
              </a:rPr>
              <a:t>operculated </a:t>
            </a:r>
            <a:r>
              <a:rPr lang="en-GB" dirty="0"/>
              <a:t>(i.e. </a:t>
            </a:r>
            <a:r>
              <a:rPr lang="en-GB" dirty="0">
                <a:solidFill>
                  <a:srgbClr val="C00000"/>
                </a:solidFill>
              </a:rPr>
              <a:t>have lids</a:t>
            </a:r>
            <a:r>
              <a:rPr lang="en-GB" dirty="0"/>
              <a:t>). </a:t>
            </a:r>
          </a:p>
          <a:p>
            <a:pPr>
              <a:buFont typeface="Wingdings" pitchFamily="2" charset="2"/>
              <a:buChar char="v"/>
            </a:pPr>
            <a:r>
              <a:rPr lang="en-GB" dirty="0"/>
              <a:t>The </a:t>
            </a:r>
            <a:r>
              <a:rPr lang="en-GB" dirty="0">
                <a:solidFill>
                  <a:srgbClr val="C00000"/>
                </a:solidFill>
              </a:rPr>
              <a:t>eggs must reach water in order to develop</a:t>
            </a:r>
            <a:r>
              <a:rPr lang="en-GB" dirty="0"/>
              <a:t>.</a:t>
            </a:r>
            <a:endParaRPr lang="en-US" dirty="0"/>
          </a:p>
          <a:p>
            <a:pPr lvl="0">
              <a:buFont typeface="Wingdings" pitchFamily="2" charset="2"/>
              <a:buChar char="v"/>
            </a:pPr>
            <a:endParaRPr lang="en-US" dirty="0"/>
          </a:p>
          <a:p>
            <a:pPr lvl="0"/>
            <a:endParaRPr lang="en-US" dirty="0"/>
          </a:p>
          <a:p>
            <a:endParaRPr lang="en-US" dirty="0"/>
          </a:p>
        </p:txBody>
      </p:sp>
    </p:spTree>
    <p:extLst>
      <p:ext uri="{BB962C8B-B14F-4D97-AF65-F5344CB8AC3E}">
        <p14:creationId xmlns:p14="http://schemas.microsoft.com/office/powerpoint/2010/main" val="370908279"/>
      </p:ext>
    </p:extLst>
  </p:cSld>
  <p:clrMapOvr>
    <a:masterClrMapping/>
  </p:clrMapOvr>
</p:sld>
</file>

<file path=ppt/slides/slide3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TREMATODES (FLUKES) </a:t>
            </a:r>
            <a:r>
              <a:rPr lang="en-GB" b="1" dirty="0"/>
              <a:t>CONT’D</a:t>
            </a: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v"/>
            </a:pPr>
            <a:r>
              <a:rPr lang="en-GB" dirty="0"/>
              <a:t>The </a:t>
            </a:r>
            <a:r>
              <a:rPr lang="en-GB" dirty="0">
                <a:solidFill>
                  <a:srgbClr val="C00000"/>
                </a:solidFill>
              </a:rPr>
              <a:t>hermaphroditic flukes </a:t>
            </a:r>
            <a:r>
              <a:rPr lang="en-GB" dirty="0"/>
              <a:t>live either in the </a:t>
            </a:r>
            <a:r>
              <a:rPr lang="en-GB" dirty="0">
                <a:solidFill>
                  <a:srgbClr val="0070C0"/>
                </a:solidFill>
              </a:rPr>
              <a:t>liver or bile ducts</a:t>
            </a:r>
            <a:r>
              <a:rPr lang="en-GB" dirty="0"/>
              <a:t>, </a:t>
            </a:r>
            <a:r>
              <a:rPr lang="en-GB" dirty="0">
                <a:solidFill>
                  <a:srgbClr val="0070C0"/>
                </a:solidFill>
              </a:rPr>
              <a:t>lungs</a:t>
            </a:r>
            <a:r>
              <a:rPr lang="en-GB" dirty="0"/>
              <a:t> or the </a:t>
            </a:r>
            <a:r>
              <a:rPr lang="en-GB" dirty="0">
                <a:solidFill>
                  <a:srgbClr val="0070C0"/>
                </a:solidFill>
              </a:rPr>
              <a:t>intestine</a:t>
            </a:r>
            <a:r>
              <a:rPr lang="en-GB" dirty="0"/>
              <a:t> </a:t>
            </a:r>
            <a:r>
              <a:rPr lang="en-GB" u="sng" dirty="0"/>
              <a:t>by virtue of the organ of adult worm residency</a:t>
            </a:r>
            <a:r>
              <a:rPr lang="en-GB" dirty="0"/>
              <a:t>.</a:t>
            </a:r>
            <a:endParaRPr lang="en-US" dirty="0"/>
          </a:p>
          <a:p>
            <a:pPr lvl="0">
              <a:buFont typeface="Wingdings" pitchFamily="2" charset="2"/>
              <a:buChar char="v"/>
            </a:pPr>
            <a:r>
              <a:rPr lang="en-GB" dirty="0">
                <a:solidFill>
                  <a:srgbClr val="00B050"/>
                </a:solidFill>
              </a:rPr>
              <a:t>Animal reservoir  hosts </a:t>
            </a:r>
            <a:r>
              <a:rPr lang="en-GB" u="sng" dirty="0"/>
              <a:t>are important in the transmission of some species</a:t>
            </a:r>
            <a:endParaRPr lang="en-US" u="sng" dirty="0"/>
          </a:p>
          <a:p>
            <a:pPr lvl="0">
              <a:buFont typeface="Wingdings" pitchFamily="2" charset="2"/>
              <a:buChar char="v"/>
            </a:pPr>
            <a:r>
              <a:rPr lang="en-GB" u="sng" dirty="0"/>
              <a:t>Transmission is by ingestion of </a:t>
            </a:r>
            <a:r>
              <a:rPr lang="en-GB" u="sng" dirty="0">
                <a:solidFill>
                  <a:srgbClr val="C00000"/>
                </a:solidFill>
              </a:rPr>
              <a:t>infective metacercariae </a:t>
            </a:r>
            <a:r>
              <a:rPr lang="en-GB" dirty="0"/>
              <a:t>which develop into the adult and produce </a:t>
            </a:r>
            <a:r>
              <a:rPr lang="en-GB" dirty="0">
                <a:solidFill>
                  <a:srgbClr val="00B0F0"/>
                </a:solidFill>
              </a:rPr>
              <a:t>operculated eggs</a:t>
            </a:r>
            <a:r>
              <a:rPr lang="en-GB" dirty="0"/>
              <a:t>. </a:t>
            </a:r>
          </a:p>
          <a:p>
            <a:pPr lvl="0">
              <a:buFont typeface="Wingdings" pitchFamily="2" charset="2"/>
              <a:buChar char="v"/>
            </a:pPr>
            <a:r>
              <a:rPr lang="en-GB" u="sng" dirty="0"/>
              <a:t>These are passed out in the faeces of definitive hosts</a:t>
            </a:r>
            <a:r>
              <a:rPr lang="en-GB" dirty="0"/>
              <a:t>. Each egg hatches a </a:t>
            </a:r>
            <a:r>
              <a:rPr lang="en-GB" dirty="0">
                <a:solidFill>
                  <a:srgbClr val="C00000"/>
                </a:solidFill>
              </a:rPr>
              <a:t>miracidium </a:t>
            </a:r>
            <a:endParaRPr lang="en-US" dirty="0">
              <a:solidFill>
                <a:srgbClr val="C00000"/>
              </a:solidFill>
            </a:endParaRPr>
          </a:p>
        </p:txBody>
      </p:sp>
    </p:spTree>
    <p:extLst>
      <p:ext uri="{BB962C8B-B14F-4D97-AF65-F5344CB8AC3E}">
        <p14:creationId xmlns:p14="http://schemas.microsoft.com/office/powerpoint/2010/main" val="902183374"/>
      </p:ext>
    </p:extLst>
  </p:cSld>
  <p:clrMapOvr>
    <a:masterClrMapping/>
  </p:clrMapOvr>
</p:sld>
</file>

<file path=ppt/slides/slide3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TREMATODES (FLUKES) </a:t>
            </a:r>
            <a:r>
              <a:rPr lang="en-GB" b="1" dirty="0"/>
              <a:t>CONT’D</a:t>
            </a:r>
            <a:endParaRPr lang="en-US" dirty="0"/>
          </a:p>
        </p:txBody>
      </p:sp>
      <p:sp>
        <p:nvSpPr>
          <p:cNvPr id="3" name="Content Placeholder 2"/>
          <p:cNvSpPr>
            <a:spLocks noGrp="1"/>
          </p:cNvSpPr>
          <p:nvPr>
            <p:ph idx="1"/>
          </p:nvPr>
        </p:nvSpPr>
        <p:spPr>
          <a:xfrm>
            <a:off x="457200" y="1600200"/>
            <a:ext cx="8229600" cy="5181600"/>
          </a:xfrm>
        </p:spPr>
        <p:txBody>
          <a:bodyPr>
            <a:normAutofit fontScale="92500" lnSpcReduction="10000"/>
          </a:bodyPr>
          <a:lstStyle/>
          <a:p>
            <a:pPr lvl="0">
              <a:buFont typeface="Wingdings" pitchFamily="2" charset="2"/>
              <a:buChar char="v"/>
            </a:pPr>
            <a:r>
              <a:rPr lang="en-GB" dirty="0"/>
              <a:t>The </a:t>
            </a:r>
            <a:r>
              <a:rPr lang="en-GB" dirty="0">
                <a:solidFill>
                  <a:srgbClr val="00B0F0"/>
                </a:solidFill>
              </a:rPr>
              <a:t>first intermediate host </a:t>
            </a:r>
            <a:r>
              <a:rPr lang="en-GB" dirty="0"/>
              <a:t>is a </a:t>
            </a:r>
            <a:r>
              <a:rPr lang="en-GB" dirty="0">
                <a:solidFill>
                  <a:srgbClr val="00B050"/>
                </a:solidFill>
              </a:rPr>
              <a:t>snail</a:t>
            </a:r>
            <a:r>
              <a:rPr lang="en-GB" dirty="0"/>
              <a:t> in which the </a:t>
            </a:r>
            <a:r>
              <a:rPr lang="en-GB" dirty="0">
                <a:solidFill>
                  <a:schemeClr val="accent6">
                    <a:lumMod val="75000"/>
                  </a:schemeClr>
                </a:solidFill>
              </a:rPr>
              <a:t>miracidium</a:t>
            </a:r>
            <a:r>
              <a:rPr lang="en-GB" dirty="0"/>
              <a:t> develops into a </a:t>
            </a:r>
            <a:r>
              <a:rPr lang="en-GB" dirty="0">
                <a:solidFill>
                  <a:schemeClr val="accent6">
                    <a:lumMod val="75000"/>
                  </a:schemeClr>
                </a:solidFill>
              </a:rPr>
              <a:t>sporocyst</a:t>
            </a:r>
            <a:r>
              <a:rPr lang="en-GB" dirty="0"/>
              <a:t> which produces </a:t>
            </a:r>
            <a:r>
              <a:rPr lang="en-GB" dirty="0">
                <a:solidFill>
                  <a:schemeClr val="accent6">
                    <a:lumMod val="75000"/>
                  </a:schemeClr>
                </a:solidFill>
              </a:rPr>
              <a:t>rediae</a:t>
            </a:r>
            <a:r>
              <a:rPr lang="en-GB" dirty="0"/>
              <a:t>. </a:t>
            </a:r>
          </a:p>
          <a:p>
            <a:pPr lvl="0">
              <a:buFont typeface="Wingdings" pitchFamily="2" charset="2"/>
              <a:buChar char="v"/>
            </a:pPr>
            <a:r>
              <a:rPr lang="en-GB" u="sng" dirty="0"/>
              <a:t>Some species produces more than one generation of rediae</a:t>
            </a:r>
            <a:r>
              <a:rPr lang="en-GB" dirty="0"/>
              <a:t>. </a:t>
            </a:r>
            <a:r>
              <a:rPr lang="en-GB" dirty="0">
                <a:solidFill>
                  <a:schemeClr val="accent6">
                    <a:lumMod val="75000"/>
                  </a:schemeClr>
                </a:solidFill>
              </a:rPr>
              <a:t>Rediae</a:t>
            </a:r>
            <a:r>
              <a:rPr lang="en-GB" dirty="0"/>
              <a:t> produce </a:t>
            </a:r>
            <a:r>
              <a:rPr lang="en-GB" dirty="0">
                <a:solidFill>
                  <a:schemeClr val="accent6">
                    <a:lumMod val="75000"/>
                  </a:schemeClr>
                </a:solidFill>
              </a:rPr>
              <a:t>cercariae</a:t>
            </a:r>
            <a:r>
              <a:rPr lang="en-GB" dirty="0"/>
              <a:t> </a:t>
            </a:r>
            <a:r>
              <a:rPr lang="en-GB" u="sng" dirty="0"/>
              <a:t>which are shed from the snail</a:t>
            </a:r>
            <a:endParaRPr lang="en-US" u="sng" dirty="0"/>
          </a:p>
          <a:p>
            <a:pPr lvl="0">
              <a:buFont typeface="Wingdings" pitchFamily="2" charset="2"/>
              <a:buChar char="v"/>
            </a:pPr>
            <a:r>
              <a:rPr lang="en-GB" dirty="0"/>
              <a:t>A </a:t>
            </a:r>
            <a:r>
              <a:rPr lang="en-GB" dirty="0">
                <a:solidFill>
                  <a:srgbClr val="00B0F0"/>
                </a:solidFill>
              </a:rPr>
              <a:t>second intermediate host </a:t>
            </a:r>
            <a:r>
              <a:rPr lang="en-GB" dirty="0"/>
              <a:t>is used in case of some species and this can be a </a:t>
            </a:r>
            <a:r>
              <a:rPr lang="en-GB" dirty="0">
                <a:solidFill>
                  <a:srgbClr val="00B050"/>
                </a:solidFill>
              </a:rPr>
              <a:t>fresh water fish</a:t>
            </a:r>
            <a:r>
              <a:rPr lang="en-GB" dirty="0"/>
              <a:t>, </a:t>
            </a:r>
            <a:r>
              <a:rPr lang="en-GB" dirty="0">
                <a:solidFill>
                  <a:srgbClr val="00B050"/>
                </a:solidFill>
              </a:rPr>
              <a:t>crab</a:t>
            </a:r>
            <a:r>
              <a:rPr lang="en-GB" dirty="0"/>
              <a:t>, </a:t>
            </a:r>
            <a:r>
              <a:rPr lang="en-GB" dirty="0">
                <a:solidFill>
                  <a:srgbClr val="00B050"/>
                </a:solidFill>
              </a:rPr>
              <a:t>cray fish </a:t>
            </a:r>
            <a:r>
              <a:rPr lang="en-GB" dirty="0"/>
              <a:t>or </a:t>
            </a:r>
            <a:r>
              <a:rPr lang="en-GB" dirty="0">
                <a:solidFill>
                  <a:srgbClr val="00B050"/>
                </a:solidFill>
              </a:rPr>
              <a:t>water plant</a:t>
            </a:r>
            <a:r>
              <a:rPr lang="en-GB" dirty="0"/>
              <a:t>. </a:t>
            </a:r>
          </a:p>
          <a:p>
            <a:pPr lvl="0">
              <a:buFont typeface="Wingdings" pitchFamily="2" charset="2"/>
              <a:buChar char="v"/>
            </a:pPr>
            <a:r>
              <a:rPr lang="en-GB" dirty="0"/>
              <a:t>In or on these hosts, </a:t>
            </a:r>
            <a:r>
              <a:rPr lang="en-GB" dirty="0">
                <a:solidFill>
                  <a:schemeClr val="accent6">
                    <a:lumMod val="75000"/>
                  </a:schemeClr>
                </a:solidFill>
              </a:rPr>
              <a:t>cercariae</a:t>
            </a:r>
            <a:r>
              <a:rPr lang="en-GB" dirty="0"/>
              <a:t> encyst and become </a:t>
            </a:r>
            <a:r>
              <a:rPr lang="en-GB" dirty="0">
                <a:solidFill>
                  <a:schemeClr val="accent6">
                    <a:lumMod val="75000"/>
                  </a:schemeClr>
                </a:solidFill>
              </a:rPr>
              <a:t>metacercariae</a:t>
            </a:r>
            <a:r>
              <a:rPr lang="en-GB" dirty="0"/>
              <a:t>.</a:t>
            </a:r>
            <a:endParaRPr lang="en-US" dirty="0"/>
          </a:p>
          <a:p>
            <a:endParaRPr lang="en-US" dirty="0"/>
          </a:p>
        </p:txBody>
      </p:sp>
    </p:spTree>
    <p:extLst>
      <p:ext uri="{BB962C8B-B14F-4D97-AF65-F5344CB8AC3E}">
        <p14:creationId xmlns:p14="http://schemas.microsoft.com/office/powerpoint/2010/main" val="1260088160"/>
      </p:ext>
    </p:extLst>
  </p:cSld>
  <p:clrMapOvr>
    <a:masterClrMapping/>
  </p:clrMapOvr>
</p:sld>
</file>

<file path=ppt/slides/slide3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lvl="0"/>
            <a:br>
              <a:rPr lang="en-GB" b="1" i="1" dirty="0"/>
            </a:br>
            <a:r>
              <a:rPr lang="en-GB" b="1" i="1" dirty="0">
                <a:solidFill>
                  <a:srgbClr val="00B050"/>
                </a:solidFill>
              </a:rPr>
              <a:t>1.Opisthorchis sinensis</a:t>
            </a:r>
            <a:r>
              <a:rPr lang="en-GB" dirty="0">
                <a:solidFill>
                  <a:srgbClr val="00B050"/>
                </a:solidFill>
              </a:rPr>
              <a:t> </a:t>
            </a:r>
            <a:r>
              <a:rPr lang="en-GB" dirty="0"/>
              <a:t>(or </a:t>
            </a:r>
            <a:r>
              <a:rPr lang="en-GB" i="1" dirty="0">
                <a:solidFill>
                  <a:srgbClr val="00B050"/>
                </a:solidFill>
              </a:rPr>
              <a:t>Chlornorchis sinensis</a:t>
            </a:r>
            <a:r>
              <a:rPr lang="en-GB" dirty="0"/>
              <a:t>)</a:t>
            </a:r>
            <a:br>
              <a:rPr lang="en-US" dirty="0"/>
            </a:b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pPr>
              <a:buFont typeface="Wingdings" pitchFamily="2" charset="2"/>
              <a:buChar char="v"/>
            </a:pPr>
            <a:r>
              <a:rPr lang="en-GB" dirty="0"/>
              <a:t>This</a:t>
            </a:r>
            <a:r>
              <a:rPr lang="en-GB" b="1" i="1" dirty="0"/>
              <a:t> </a:t>
            </a:r>
            <a:r>
              <a:rPr lang="en-GB" dirty="0"/>
              <a:t>is commonly known as the </a:t>
            </a:r>
            <a:r>
              <a:rPr lang="en-GB" dirty="0">
                <a:solidFill>
                  <a:srgbClr val="00B050"/>
                </a:solidFill>
              </a:rPr>
              <a:t>Chinese</a:t>
            </a:r>
            <a:r>
              <a:rPr lang="en-GB" dirty="0"/>
              <a:t> or </a:t>
            </a:r>
            <a:r>
              <a:rPr lang="en-GB" dirty="0">
                <a:solidFill>
                  <a:srgbClr val="00B050"/>
                </a:solidFill>
              </a:rPr>
              <a:t>Oriental liver fluke</a:t>
            </a:r>
            <a:r>
              <a:rPr lang="en-GB" dirty="0"/>
              <a:t>.</a:t>
            </a:r>
            <a:endParaRPr lang="en-US" dirty="0"/>
          </a:p>
          <a:p>
            <a:pPr marL="0" indent="0" algn="ctr">
              <a:buNone/>
            </a:pPr>
            <a:r>
              <a:rPr lang="en-GB" b="1" u="sng" dirty="0"/>
              <a:t>Distribution</a:t>
            </a:r>
            <a:endParaRPr lang="en-US" u="sng" dirty="0"/>
          </a:p>
          <a:p>
            <a:pPr lvl="0">
              <a:buFont typeface="Wingdings" pitchFamily="2" charset="2"/>
              <a:buChar char="v"/>
            </a:pPr>
            <a:r>
              <a:rPr lang="en-GB" dirty="0"/>
              <a:t>Endemic in most of </a:t>
            </a:r>
            <a:r>
              <a:rPr lang="en-GB" u="sng" dirty="0"/>
              <a:t>China</a:t>
            </a:r>
            <a:r>
              <a:rPr lang="en-GB" dirty="0"/>
              <a:t>, also in </a:t>
            </a:r>
            <a:r>
              <a:rPr lang="en-GB" u="sng" dirty="0"/>
              <a:t>Japan</a:t>
            </a:r>
            <a:r>
              <a:rPr lang="en-GB" dirty="0"/>
              <a:t>, </a:t>
            </a:r>
            <a:r>
              <a:rPr lang="en-GB" u="sng" dirty="0"/>
              <a:t>North Vietnam</a:t>
            </a:r>
            <a:r>
              <a:rPr lang="en-GB" dirty="0"/>
              <a:t>, </a:t>
            </a:r>
            <a:r>
              <a:rPr lang="en-GB" u="sng" dirty="0"/>
              <a:t>Taiwan</a:t>
            </a:r>
            <a:r>
              <a:rPr lang="en-GB" dirty="0"/>
              <a:t> and </a:t>
            </a:r>
            <a:r>
              <a:rPr lang="en-GB" u="sng" dirty="0"/>
              <a:t>Korea</a:t>
            </a:r>
            <a:r>
              <a:rPr lang="en-GB" dirty="0"/>
              <a:t>.</a:t>
            </a:r>
            <a:endParaRPr lang="en-US" dirty="0"/>
          </a:p>
          <a:p>
            <a:pPr lvl="0">
              <a:buFont typeface="Wingdings" pitchFamily="2" charset="2"/>
              <a:buChar char="v"/>
            </a:pPr>
            <a:r>
              <a:rPr lang="en-GB" dirty="0">
                <a:solidFill>
                  <a:srgbClr val="00B0F0"/>
                </a:solidFill>
              </a:rPr>
              <a:t>Particularly found where fish are cultured in ponds fertilized with human or animal faeces</a:t>
            </a:r>
            <a:r>
              <a:rPr lang="en-GB" dirty="0"/>
              <a:t>.</a:t>
            </a:r>
            <a:endParaRPr lang="en-US" dirty="0"/>
          </a:p>
          <a:p>
            <a:pPr marL="0" indent="0" algn="ctr">
              <a:buNone/>
            </a:pPr>
            <a:r>
              <a:rPr lang="en-GB" b="1" u="sng" dirty="0"/>
              <a:t>Transmission</a:t>
            </a:r>
            <a:endParaRPr lang="en-US" u="sng" dirty="0"/>
          </a:p>
          <a:p>
            <a:pPr lvl="0">
              <a:buFont typeface="Wingdings" pitchFamily="2" charset="2"/>
              <a:buChar char="v"/>
            </a:pPr>
            <a:r>
              <a:rPr lang="en-GB" dirty="0">
                <a:solidFill>
                  <a:srgbClr val="C00000"/>
                </a:solidFill>
              </a:rPr>
              <a:t>By eating raw insufficiently-cooked, smoked or pickled fish containing the metacercariae</a:t>
            </a:r>
            <a:r>
              <a:rPr lang="en-GB" dirty="0"/>
              <a:t>.</a:t>
            </a:r>
            <a:endParaRPr lang="en-US" dirty="0"/>
          </a:p>
          <a:p>
            <a:endParaRPr lang="en-US" dirty="0"/>
          </a:p>
        </p:txBody>
      </p:sp>
    </p:spTree>
    <p:extLst>
      <p:ext uri="{BB962C8B-B14F-4D97-AF65-F5344CB8AC3E}">
        <p14:creationId xmlns:p14="http://schemas.microsoft.com/office/powerpoint/2010/main" val="3721356291"/>
      </p:ext>
    </p:extLst>
  </p:cSld>
  <p:clrMapOvr>
    <a:masterClrMapping/>
  </p:clrMapOvr>
</p:sld>
</file>

<file path=ppt/slides/slide3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14400" y="228600"/>
            <a:ext cx="7010400" cy="6096000"/>
          </a:xfrm>
        </p:spPr>
      </p:pic>
    </p:spTree>
    <p:extLst>
      <p:ext uri="{BB962C8B-B14F-4D97-AF65-F5344CB8AC3E}">
        <p14:creationId xmlns:p14="http://schemas.microsoft.com/office/powerpoint/2010/main" val="3207463301"/>
      </p:ext>
    </p:extLst>
  </p:cSld>
  <p:clrMapOvr>
    <a:masterClrMapping/>
  </p:clrMapOvr>
</p:sld>
</file>

<file path=ppt/slides/slide3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i="1" dirty="0"/>
              <a:t>1.</a:t>
            </a:r>
            <a:r>
              <a:rPr lang="en-GB" b="1" i="1" dirty="0">
                <a:solidFill>
                  <a:srgbClr val="00B050"/>
                </a:solidFill>
              </a:rPr>
              <a:t>Opisthorchis sinensis</a:t>
            </a:r>
            <a:r>
              <a:rPr lang="en-GB" dirty="0">
                <a:solidFill>
                  <a:srgbClr val="00B050"/>
                </a:solidFill>
              </a:rPr>
              <a:t> </a:t>
            </a:r>
            <a:r>
              <a:rPr lang="en-GB" dirty="0"/>
              <a:t>(or </a:t>
            </a:r>
            <a:r>
              <a:rPr lang="en-GB" i="1" dirty="0">
                <a:solidFill>
                  <a:srgbClr val="00B050"/>
                </a:solidFill>
              </a:rPr>
              <a:t>Chlornorchis sinensis</a:t>
            </a:r>
            <a:r>
              <a:rPr lang="en-GB" dirty="0"/>
              <a:t>)</a:t>
            </a:r>
            <a:endParaRPr lang="en-US" dirty="0"/>
          </a:p>
        </p:txBody>
      </p:sp>
      <p:sp>
        <p:nvSpPr>
          <p:cNvPr id="3" name="Content Placeholder 2"/>
          <p:cNvSpPr>
            <a:spLocks noGrp="1"/>
          </p:cNvSpPr>
          <p:nvPr>
            <p:ph idx="1"/>
          </p:nvPr>
        </p:nvSpPr>
        <p:spPr>
          <a:xfrm>
            <a:off x="457200" y="1600200"/>
            <a:ext cx="8229600" cy="5029200"/>
          </a:xfrm>
        </p:spPr>
        <p:txBody>
          <a:bodyPr>
            <a:normAutofit/>
          </a:bodyPr>
          <a:lstStyle/>
          <a:p>
            <a:pPr marL="0" indent="0" algn="ctr">
              <a:buNone/>
            </a:pPr>
            <a:r>
              <a:rPr lang="en-GB" b="1" u="sng" dirty="0"/>
              <a:t>Life cycle</a:t>
            </a:r>
            <a:endParaRPr lang="en-US" u="sng" dirty="0"/>
          </a:p>
          <a:p>
            <a:pPr lvl="0">
              <a:buFont typeface="Wingdings" pitchFamily="2" charset="2"/>
              <a:buChar char="v"/>
            </a:pPr>
            <a:r>
              <a:rPr lang="en-GB" dirty="0"/>
              <a:t>Following ingestion, </a:t>
            </a:r>
            <a:r>
              <a:rPr lang="en-GB" u="sng" dirty="0">
                <a:solidFill>
                  <a:srgbClr val="C00000"/>
                </a:solidFill>
              </a:rPr>
              <a:t>metacercariae</a:t>
            </a:r>
            <a:r>
              <a:rPr lang="en-GB" u="sng" dirty="0"/>
              <a:t> excyst in the duodenum</a:t>
            </a:r>
            <a:r>
              <a:rPr lang="en-GB" dirty="0"/>
              <a:t>. </a:t>
            </a:r>
          </a:p>
          <a:p>
            <a:pPr lvl="0">
              <a:buFont typeface="Wingdings" pitchFamily="2" charset="2"/>
              <a:buChar char="v"/>
            </a:pPr>
            <a:endParaRPr lang="en-GB" dirty="0"/>
          </a:p>
          <a:p>
            <a:pPr lvl="0">
              <a:buFont typeface="Wingdings" pitchFamily="2" charset="2"/>
              <a:buChar char="v"/>
            </a:pPr>
            <a:r>
              <a:rPr lang="en-GB" u="sng" dirty="0"/>
              <a:t>Young flukes that survive digestion migrate to the </a:t>
            </a:r>
            <a:r>
              <a:rPr lang="en-GB" u="sng" dirty="0">
                <a:solidFill>
                  <a:srgbClr val="0070C0"/>
                </a:solidFill>
              </a:rPr>
              <a:t>bile duct </a:t>
            </a:r>
            <a:r>
              <a:rPr lang="en-GB" u="sng" dirty="0"/>
              <a:t>and occasionally the </a:t>
            </a:r>
            <a:r>
              <a:rPr lang="en-GB" u="sng" dirty="0">
                <a:solidFill>
                  <a:srgbClr val="0070C0"/>
                </a:solidFill>
              </a:rPr>
              <a:t>pancreatic gut</a:t>
            </a:r>
            <a:r>
              <a:rPr lang="en-GB" u="sng" dirty="0"/>
              <a:t> where in approximately four weeks they develop into mature egg producing flukes</a:t>
            </a:r>
            <a:endParaRPr lang="en-US" u="sng" dirty="0"/>
          </a:p>
          <a:p>
            <a:pPr marL="0" indent="0">
              <a:buNone/>
            </a:pPr>
            <a:endParaRPr lang="en-US" dirty="0"/>
          </a:p>
        </p:txBody>
      </p:sp>
    </p:spTree>
    <p:extLst>
      <p:ext uri="{BB962C8B-B14F-4D97-AF65-F5344CB8AC3E}">
        <p14:creationId xmlns:p14="http://schemas.microsoft.com/office/powerpoint/2010/main" val="3821296985"/>
      </p:ext>
    </p:extLst>
  </p:cSld>
  <p:clrMapOvr>
    <a:masterClrMapping/>
  </p:clrMapOvr>
</p:sld>
</file>

<file path=ppt/slides/slide3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1000" y="304800"/>
            <a:ext cx="8305800" cy="6096000"/>
          </a:xfrm>
        </p:spPr>
      </p:pic>
    </p:spTree>
    <p:extLst>
      <p:ext uri="{BB962C8B-B14F-4D97-AF65-F5344CB8AC3E}">
        <p14:creationId xmlns:p14="http://schemas.microsoft.com/office/powerpoint/2010/main" val="2720080157"/>
      </p:ext>
    </p:extLst>
  </p:cSld>
  <p:clrMapOvr>
    <a:masterClrMapping/>
  </p:clrMapOvr>
</p:sld>
</file>

<file path=ppt/slides/slide3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Life cycle of </a:t>
            </a:r>
            <a:r>
              <a:rPr lang="en-GB" b="1" i="1" u="sng" dirty="0">
                <a:solidFill>
                  <a:srgbClr val="00B050"/>
                </a:solidFill>
              </a:rPr>
              <a:t>Opisthorchis sinensis</a:t>
            </a:r>
            <a:r>
              <a:rPr lang="en-GB" u="sng" dirty="0">
                <a:solidFill>
                  <a:srgbClr val="00B050"/>
                </a:solidFill>
              </a:rPr>
              <a:t> </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u="sng" dirty="0"/>
              <a:t>Eggs enter the small intestine in the bile and are excreted in the faeces</a:t>
            </a:r>
            <a:r>
              <a:rPr lang="en-GB" dirty="0"/>
              <a:t>. </a:t>
            </a:r>
          </a:p>
          <a:p>
            <a:pPr lvl="0">
              <a:buFont typeface="Wingdings" pitchFamily="2" charset="2"/>
              <a:buChar char="v"/>
            </a:pPr>
            <a:r>
              <a:rPr lang="en-GB" u="sng" dirty="0"/>
              <a:t>Each egg contains a fully developed </a:t>
            </a:r>
            <a:r>
              <a:rPr lang="en-GB" u="sng" dirty="0">
                <a:solidFill>
                  <a:srgbClr val="C00000"/>
                </a:solidFill>
              </a:rPr>
              <a:t>miracidium </a:t>
            </a:r>
            <a:endParaRPr lang="en-US" u="sng" dirty="0">
              <a:solidFill>
                <a:srgbClr val="C00000"/>
              </a:solidFill>
            </a:endParaRPr>
          </a:p>
          <a:p>
            <a:pPr lvl="0">
              <a:buFont typeface="Wingdings" pitchFamily="2" charset="2"/>
              <a:buChar char="v"/>
            </a:pPr>
            <a:r>
              <a:rPr lang="en-GB" dirty="0">
                <a:solidFill>
                  <a:srgbClr val="00B0F0"/>
                </a:solidFill>
              </a:rPr>
              <a:t>Eggs must reach fresh water to continue the life cycle</a:t>
            </a:r>
            <a:r>
              <a:rPr lang="en-GB" dirty="0"/>
              <a:t>. </a:t>
            </a:r>
            <a:r>
              <a:rPr lang="en-GB" u="sng" dirty="0"/>
              <a:t>A suitable  </a:t>
            </a:r>
            <a:r>
              <a:rPr lang="en-GB" u="sng" dirty="0">
                <a:solidFill>
                  <a:srgbClr val="00B050"/>
                </a:solidFill>
              </a:rPr>
              <a:t>snail host </a:t>
            </a:r>
            <a:r>
              <a:rPr lang="en-GB" u="sng" dirty="0"/>
              <a:t>e.g.  </a:t>
            </a:r>
            <a:r>
              <a:rPr lang="en-GB" i="1" u="sng" dirty="0"/>
              <a:t>Bulinus</a:t>
            </a:r>
            <a:r>
              <a:rPr lang="en-GB" u="sng" dirty="0"/>
              <a:t> or </a:t>
            </a:r>
            <a:r>
              <a:rPr lang="en-GB" i="1" u="sng" dirty="0">
                <a:solidFill>
                  <a:srgbClr val="00B050"/>
                </a:solidFill>
              </a:rPr>
              <a:t>Melanoides</a:t>
            </a:r>
            <a:r>
              <a:rPr lang="en-GB" u="sng" dirty="0">
                <a:solidFill>
                  <a:srgbClr val="00B050"/>
                </a:solidFill>
              </a:rPr>
              <a:t> </a:t>
            </a:r>
            <a:r>
              <a:rPr lang="en-GB" u="sng" dirty="0"/>
              <a:t>or </a:t>
            </a:r>
            <a:r>
              <a:rPr lang="en-GB" i="1" u="sng" dirty="0">
                <a:solidFill>
                  <a:srgbClr val="00B050"/>
                </a:solidFill>
              </a:rPr>
              <a:t>Parafossaiulus</a:t>
            </a:r>
            <a:r>
              <a:rPr lang="en-GB" i="1" u="sng" dirty="0"/>
              <a:t> </a:t>
            </a:r>
            <a:r>
              <a:rPr lang="en-GB" u="sng" dirty="0"/>
              <a:t>ingests the eggs</a:t>
            </a:r>
            <a:endParaRPr lang="en-US" u="sng" dirty="0"/>
          </a:p>
          <a:p>
            <a:pPr marL="0" indent="0">
              <a:buNone/>
            </a:pPr>
            <a:endParaRPr lang="en-US" dirty="0"/>
          </a:p>
        </p:txBody>
      </p:sp>
    </p:spTree>
    <p:extLst>
      <p:ext uri="{BB962C8B-B14F-4D97-AF65-F5344CB8AC3E}">
        <p14:creationId xmlns:p14="http://schemas.microsoft.com/office/powerpoint/2010/main" val="70481406"/>
      </p:ext>
    </p:extLst>
  </p:cSld>
  <p:clrMapOvr>
    <a:masterClrMapping/>
  </p:clrMapOvr>
</p:sld>
</file>

<file path=ppt/slides/slide3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Life cycle of </a:t>
            </a:r>
            <a:r>
              <a:rPr lang="en-GB" b="1" i="1" u="sng" dirty="0">
                <a:solidFill>
                  <a:srgbClr val="00B050"/>
                </a:solidFill>
              </a:rPr>
              <a:t>Opisthorchis sinensis</a:t>
            </a:r>
            <a:r>
              <a:rPr lang="en-GB" u="sng" dirty="0">
                <a:solidFill>
                  <a:srgbClr val="00B050"/>
                </a:solidFill>
              </a:rPr>
              <a:t>  </a:t>
            </a:r>
            <a:r>
              <a:rPr lang="en-GB" u="sng" dirty="0"/>
              <a:t>cont’d</a:t>
            </a:r>
            <a:br>
              <a:rPr lang="en-US" dirty="0"/>
            </a:br>
            <a:endParaRPr lang="en-US" dirty="0"/>
          </a:p>
        </p:txBody>
      </p:sp>
      <p:sp>
        <p:nvSpPr>
          <p:cNvPr id="3" name="Content Placeholder 2"/>
          <p:cNvSpPr>
            <a:spLocks noGrp="1"/>
          </p:cNvSpPr>
          <p:nvPr>
            <p:ph idx="1"/>
          </p:nvPr>
        </p:nvSpPr>
        <p:spPr>
          <a:xfrm>
            <a:off x="457200" y="1600200"/>
            <a:ext cx="8229600" cy="5029200"/>
          </a:xfrm>
        </p:spPr>
        <p:txBody>
          <a:bodyPr>
            <a:normAutofit fontScale="92500"/>
          </a:bodyPr>
          <a:lstStyle/>
          <a:p>
            <a:pPr lvl="0">
              <a:buFont typeface="Wingdings" pitchFamily="2" charset="2"/>
              <a:buChar char="v"/>
            </a:pPr>
            <a:r>
              <a:rPr lang="en-GB" u="sng" dirty="0"/>
              <a:t>The eggs hatch in the snail into </a:t>
            </a:r>
            <a:r>
              <a:rPr lang="en-GB" u="sng" dirty="0">
                <a:solidFill>
                  <a:srgbClr val="C00000"/>
                </a:solidFill>
              </a:rPr>
              <a:t>miracidia</a:t>
            </a:r>
            <a:r>
              <a:rPr lang="en-GB" u="sng" dirty="0"/>
              <a:t> which develop into </a:t>
            </a:r>
            <a:r>
              <a:rPr lang="en-GB" u="sng" dirty="0">
                <a:solidFill>
                  <a:srgbClr val="C00000"/>
                </a:solidFill>
              </a:rPr>
              <a:t>sporocyts </a:t>
            </a:r>
            <a:r>
              <a:rPr lang="en-GB" u="sng" dirty="0"/>
              <a:t>and in turn producing </a:t>
            </a:r>
            <a:r>
              <a:rPr lang="en-GB" u="sng" dirty="0">
                <a:solidFill>
                  <a:srgbClr val="C00000"/>
                </a:solidFill>
              </a:rPr>
              <a:t>rediae</a:t>
            </a:r>
            <a:r>
              <a:rPr lang="en-GB" u="sng" dirty="0"/>
              <a:t> and </a:t>
            </a:r>
            <a:r>
              <a:rPr lang="en-GB" b="1" u="sng" dirty="0"/>
              <a:t>finally</a:t>
            </a:r>
            <a:r>
              <a:rPr lang="en-GB" u="sng" dirty="0"/>
              <a:t> </a:t>
            </a:r>
            <a:r>
              <a:rPr lang="en-GB" u="sng" dirty="0">
                <a:solidFill>
                  <a:srgbClr val="C00000"/>
                </a:solidFill>
              </a:rPr>
              <a:t>cercariae</a:t>
            </a:r>
            <a:r>
              <a:rPr lang="en-GB" dirty="0"/>
              <a:t>. </a:t>
            </a:r>
          </a:p>
          <a:p>
            <a:pPr lvl="0">
              <a:buFont typeface="Wingdings" pitchFamily="2" charset="2"/>
              <a:buChar char="v"/>
            </a:pPr>
            <a:r>
              <a:rPr lang="en-GB" dirty="0">
                <a:solidFill>
                  <a:srgbClr val="C00000"/>
                </a:solidFill>
              </a:rPr>
              <a:t>Cercariae</a:t>
            </a:r>
            <a:r>
              <a:rPr lang="en-GB" dirty="0"/>
              <a:t> </a:t>
            </a:r>
            <a:r>
              <a:rPr lang="en-GB" u="sng" dirty="0"/>
              <a:t>leave the snail and swim in the water for a few hours and then </a:t>
            </a:r>
            <a:r>
              <a:rPr lang="en-GB" b="1" u="sng" dirty="0"/>
              <a:t>encyst</a:t>
            </a:r>
            <a:r>
              <a:rPr lang="en-GB" u="sng" dirty="0"/>
              <a:t> to become </a:t>
            </a:r>
            <a:r>
              <a:rPr lang="en-GB" dirty="0">
                <a:solidFill>
                  <a:srgbClr val="C00000"/>
                </a:solidFill>
              </a:rPr>
              <a:t>metacercariae</a:t>
            </a:r>
            <a:r>
              <a:rPr lang="en-GB" dirty="0"/>
              <a:t> </a:t>
            </a:r>
            <a:r>
              <a:rPr lang="en-GB" u="sng" dirty="0"/>
              <a:t>under the scales and in the subcutaneous tissue of a suitable </a:t>
            </a:r>
            <a:r>
              <a:rPr lang="en-GB" u="sng" dirty="0">
                <a:solidFill>
                  <a:srgbClr val="00B050"/>
                </a:solidFill>
              </a:rPr>
              <a:t>fish host</a:t>
            </a:r>
            <a:r>
              <a:rPr lang="en-GB" dirty="0"/>
              <a:t>. </a:t>
            </a:r>
          </a:p>
          <a:p>
            <a:pPr lvl="0">
              <a:buFont typeface="Wingdings" pitchFamily="2" charset="2"/>
              <a:buChar char="v"/>
            </a:pPr>
            <a:r>
              <a:rPr lang="en-GB" dirty="0">
                <a:solidFill>
                  <a:srgbClr val="00B050"/>
                </a:solidFill>
              </a:rPr>
              <a:t>Many species of fish </a:t>
            </a:r>
            <a:r>
              <a:rPr lang="en-GB" dirty="0"/>
              <a:t>can serve as </a:t>
            </a:r>
            <a:r>
              <a:rPr lang="en-GB" dirty="0">
                <a:solidFill>
                  <a:srgbClr val="00B0F0"/>
                </a:solidFill>
              </a:rPr>
              <a:t>intermediate hosts</a:t>
            </a:r>
            <a:r>
              <a:rPr lang="en-GB" dirty="0"/>
              <a:t>, especially those of the </a:t>
            </a:r>
            <a:r>
              <a:rPr lang="en-GB" dirty="0">
                <a:solidFill>
                  <a:srgbClr val="7030A0"/>
                </a:solidFill>
              </a:rPr>
              <a:t>family Cyprinidae</a:t>
            </a:r>
            <a:r>
              <a:rPr lang="en-GB" dirty="0"/>
              <a:t> and </a:t>
            </a:r>
            <a:r>
              <a:rPr lang="en-GB" dirty="0">
                <a:solidFill>
                  <a:srgbClr val="7030A0"/>
                </a:solidFill>
              </a:rPr>
              <a:t>Anabatidae</a:t>
            </a:r>
            <a:endParaRPr lang="en-US" dirty="0">
              <a:solidFill>
                <a:srgbClr val="7030A0"/>
              </a:solidFill>
            </a:endParaRPr>
          </a:p>
          <a:p>
            <a:pPr marL="0" indent="0">
              <a:buNone/>
            </a:pPr>
            <a:endParaRPr lang="en-US" dirty="0"/>
          </a:p>
        </p:txBody>
      </p:sp>
    </p:spTree>
    <p:extLst>
      <p:ext uri="{BB962C8B-B14F-4D97-AF65-F5344CB8AC3E}">
        <p14:creationId xmlns:p14="http://schemas.microsoft.com/office/powerpoint/2010/main" val="2011444306"/>
      </p:ext>
    </p:extLst>
  </p:cSld>
  <p:clrMapOvr>
    <a:masterClrMapping/>
  </p:clrMapOvr>
</p:sld>
</file>

<file path=ppt/slides/slide3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Life cycle of </a:t>
            </a:r>
            <a:r>
              <a:rPr lang="en-GB" b="1" i="1" dirty="0" err="1"/>
              <a:t>Opisthorchis</a:t>
            </a:r>
            <a:r>
              <a:rPr lang="en-GB" b="1" i="1" dirty="0"/>
              <a:t> </a:t>
            </a:r>
            <a:r>
              <a:rPr lang="en-GB" b="1" i="1" dirty="0" err="1"/>
              <a:t>sinensis</a:t>
            </a:r>
            <a:r>
              <a:rPr lang="en-GB" dirty="0"/>
              <a:t>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solidFill>
                  <a:srgbClr val="C00000"/>
                </a:solidFill>
              </a:rPr>
              <a:t>Metacercariae</a:t>
            </a:r>
            <a:r>
              <a:rPr lang="en-GB" dirty="0"/>
              <a:t> </a:t>
            </a:r>
            <a:r>
              <a:rPr lang="en-GB" u="sng" dirty="0"/>
              <a:t>are </a:t>
            </a:r>
            <a:r>
              <a:rPr lang="en-GB" u="sng" dirty="0">
                <a:solidFill>
                  <a:srgbClr val="FF0000"/>
                </a:solidFill>
              </a:rPr>
              <a:t>infective</a:t>
            </a:r>
            <a:r>
              <a:rPr lang="en-GB" u="sng" dirty="0"/>
              <a:t> to </a:t>
            </a:r>
            <a:r>
              <a:rPr lang="en-GB" u="sng" dirty="0">
                <a:solidFill>
                  <a:srgbClr val="00B050"/>
                </a:solidFill>
              </a:rPr>
              <a:t>humans</a:t>
            </a:r>
            <a:r>
              <a:rPr lang="en-GB" u="sng" dirty="0"/>
              <a:t> and other </a:t>
            </a:r>
            <a:r>
              <a:rPr lang="en-GB" dirty="0"/>
              <a:t>fish </a:t>
            </a:r>
            <a:r>
              <a:rPr lang="en-GB" u="sng" dirty="0"/>
              <a:t>eating animals </a:t>
            </a:r>
          </a:p>
          <a:p>
            <a:pPr lvl="0">
              <a:buFont typeface="Wingdings" pitchFamily="2" charset="2"/>
              <a:buChar char="v"/>
            </a:pPr>
            <a:r>
              <a:rPr lang="en-GB" dirty="0"/>
              <a:t>e.g. </a:t>
            </a:r>
            <a:r>
              <a:rPr lang="en-GB" dirty="0">
                <a:solidFill>
                  <a:srgbClr val="00B050"/>
                </a:solidFill>
              </a:rPr>
              <a:t>dogs</a:t>
            </a:r>
            <a:r>
              <a:rPr lang="en-GB" dirty="0"/>
              <a:t>, </a:t>
            </a:r>
            <a:r>
              <a:rPr lang="en-GB" dirty="0">
                <a:solidFill>
                  <a:srgbClr val="00B050"/>
                </a:solidFill>
              </a:rPr>
              <a:t>cats</a:t>
            </a:r>
            <a:r>
              <a:rPr lang="en-GB" dirty="0"/>
              <a:t>, </a:t>
            </a:r>
            <a:r>
              <a:rPr lang="en-GB" dirty="0">
                <a:solidFill>
                  <a:srgbClr val="00B050"/>
                </a:solidFill>
              </a:rPr>
              <a:t>pigs</a:t>
            </a:r>
            <a:r>
              <a:rPr lang="en-GB" dirty="0"/>
              <a:t>, </a:t>
            </a:r>
            <a:r>
              <a:rPr lang="en-GB" dirty="0">
                <a:solidFill>
                  <a:srgbClr val="00B050"/>
                </a:solidFill>
              </a:rPr>
              <a:t>rodents</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458525471"/>
      </p:ext>
    </p:extLst>
  </p:cSld>
  <p:clrMapOvr>
    <a:masterClrMapping/>
  </p:clrMapOvr>
</p:sld>
</file>

<file path=ppt/slides/slide3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Symptoms and Pathology of </a:t>
            </a:r>
            <a:r>
              <a:rPr lang="en-GB" b="1" i="1" u="sng" dirty="0">
                <a:solidFill>
                  <a:srgbClr val="00B050"/>
                </a:solidFill>
              </a:rPr>
              <a:t>Opisthorchis sinensis</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b="1" dirty="0"/>
              <a:t>Generally</a:t>
            </a:r>
            <a:r>
              <a:rPr lang="en-GB" dirty="0"/>
              <a:t> the </a:t>
            </a:r>
            <a:r>
              <a:rPr lang="en-GB" dirty="0">
                <a:solidFill>
                  <a:srgbClr val="00B0F0"/>
                </a:solidFill>
              </a:rPr>
              <a:t>symptoms are rarely serious</a:t>
            </a:r>
            <a:endParaRPr lang="en-US" dirty="0">
              <a:solidFill>
                <a:srgbClr val="00B0F0"/>
              </a:solidFill>
            </a:endParaRPr>
          </a:p>
          <a:p>
            <a:pPr lvl="0">
              <a:buFont typeface="Wingdings" pitchFamily="2" charset="2"/>
              <a:buChar char="v"/>
            </a:pPr>
            <a:r>
              <a:rPr lang="en-GB" b="1" dirty="0"/>
              <a:t>Heavy infections </a:t>
            </a:r>
            <a:r>
              <a:rPr lang="en-GB" dirty="0"/>
              <a:t>can result in </a:t>
            </a:r>
            <a:r>
              <a:rPr lang="en-GB" dirty="0">
                <a:solidFill>
                  <a:srgbClr val="FF0000"/>
                </a:solidFill>
              </a:rPr>
              <a:t>damage to liver cells and bile ducts</a:t>
            </a:r>
            <a:r>
              <a:rPr lang="en-GB" dirty="0"/>
              <a:t>, </a:t>
            </a:r>
            <a:r>
              <a:rPr lang="en-GB" dirty="0">
                <a:solidFill>
                  <a:srgbClr val="FF0000"/>
                </a:solidFill>
              </a:rPr>
              <a:t>jaundice</a:t>
            </a:r>
            <a:r>
              <a:rPr lang="en-GB" dirty="0"/>
              <a:t>, </a:t>
            </a:r>
            <a:r>
              <a:rPr lang="en-GB" dirty="0">
                <a:solidFill>
                  <a:srgbClr val="FF0000"/>
                </a:solidFill>
              </a:rPr>
              <a:t>hepatitis</a:t>
            </a:r>
            <a:r>
              <a:rPr lang="en-GB" dirty="0"/>
              <a:t>, </a:t>
            </a:r>
            <a:r>
              <a:rPr lang="en-GB" dirty="0">
                <a:solidFill>
                  <a:srgbClr val="FF0000"/>
                </a:solidFill>
              </a:rPr>
              <a:t>cirrhosis</a:t>
            </a:r>
            <a:r>
              <a:rPr lang="en-GB" dirty="0"/>
              <a:t> and </a:t>
            </a:r>
            <a:r>
              <a:rPr lang="en-GB" dirty="0">
                <a:solidFill>
                  <a:srgbClr val="FF0000"/>
                </a:solidFill>
              </a:rPr>
              <a:t>biliary obstruction</a:t>
            </a:r>
            <a:r>
              <a:rPr lang="en-GB" dirty="0"/>
              <a:t>. </a:t>
            </a:r>
          </a:p>
          <a:p>
            <a:pPr lvl="0">
              <a:buFont typeface="Wingdings" pitchFamily="2" charset="2"/>
              <a:buChar char="v"/>
            </a:pPr>
            <a:r>
              <a:rPr lang="en-GB" dirty="0"/>
              <a:t>The liver frequently enlarged and in some cases </a:t>
            </a:r>
            <a:r>
              <a:rPr lang="en-GB" dirty="0">
                <a:solidFill>
                  <a:srgbClr val="FF0000"/>
                </a:solidFill>
              </a:rPr>
              <a:t>cancer</a:t>
            </a:r>
            <a:r>
              <a:rPr lang="en-GB" dirty="0"/>
              <a:t> (</a:t>
            </a:r>
            <a:r>
              <a:rPr lang="en-GB" dirty="0">
                <a:solidFill>
                  <a:srgbClr val="FF0000"/>
                </a:solidFill>
              </a:rPr>
              <a:t>adenocarcinoma</a:t>
            </a:r>
            <a:r>
              <a:rPr lang="en-GB" dirty="0"/>
              <a:t>) </a:t>
            </a:r>
            <a:r>
              <a:rPr lang="en-GB" dirty="0">
                <a:solidFill>
                  <a:srgbClr val="FF0000"/>
                </a:solidFill>
              </a:rPr>
              <a:t>of the bile duct may develop</a:t>
            </a:r>
            <a:endParaRPr lang="en-US" dirty="0">
              <a:solidFill>
                <a:srgbClr val="FF0000"/>
              </a:solidFill>
            </a:endParaRPr>
          </a:p>
          <a:p>
            <a:pPr>
              <a:buFont typeface="Wingdings" pitchFamily="2" charset="2"/>
              <a:buChar char="v"/>
            </a:pPr>
            <a:endParaRPr lang="en-US" dirty="0"/>
          </a:p>
        </p:txBody>
      </p:sp>
    </p:spTree>
    <p:extLst>
      <p:ext uri="{BB962C8B-B14F-4D97-AF65-F5344CB8AC3E}">
        <p14:creationId xmlns:p14="http://schemas.microsoft.com/office/powerpoint/2010/main" val="209276041"/>
      </p:ext>
    </p:extLst>
  </p:cSld>
  <p:clrMapOvr>
    <a:masterClrMapping/>
  </p:clrMapOvr>
</p:sld>
</file>

<file path=ppt/slides/slide3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Symptoms and Pathology of </a:t>
            </a:r>
            <a:r>
              <a:rPr lang="en-GB" b="1" i="1" u="sng" dirty="0">
                <a:solidFill>
                  <a:srgbClr val="00B050"/>
                </a:solidFill>
              </a:rPr>
              <a:t>Opisthorchis sinensis </a:t>
            </a:r>
            <a:r>
              <a:rPr lang="en-GB" b="1" i="1" u="sng"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b="1" dirty="0"/>
              <a:t>Other symptoms </a:t>
            </a:r>
            <a:r>
              <a:rPr lang="en-GB" dirty="0"/>
              <a:t>include </a:t>
            </a:r>
            <a:r>
              <a:rPr lang="en-GB" dirty="0">
                <a:solidFill>
                  <a:srgbClr val="00B0F0"/>
                </a:solidFill>
              </a:rPr>
              <a:t>epigastric pain </a:t>
            </a:r>
            <a:r>
              <a:rPr lang="en-GB" dirty="0"/>
              <a:t>and </a:t>
            </a:r>
            <a:r>
              <a:rPr lang="en-GB" dirty="0">
                <a:solidFill>
                  <a:srgbClr val="00B0F0"/>
                </a:solidFill>
              </a:rPr>
              <a:t>diarrhoea</a:t>
            </a:r>
            <a:r>
              <a:rPr lang="en-GB" dirty="0"/>
              <a:t>. </a:t>
            </a:r>
          </a:p>
          <a:p>
            <a:pPr lvl="0">
              <a:buFont typeface="Wingdings" pitchFamily="2" charset="2"/>
              <a:buChar char="v"/>
            </a:pPr>
            <a:r>
              <a:rPr lang="en-GB" dirty="0"/>
              <a:t>Chronic infections is associated with </a:t>
            </a:r>
            <a:r>
              <a:rPr lang="en-GB" dirty="0">
                <a:solidFill>
                  <a:srgbClr val="00B0F0"/>
                </a:solidFill>
              </a:rPr>
              <a:t>gall stones</a:t>
            </a:r>
            <a:r>
              <a:rPr lang="en-GB" dirty="0"/>
              <a:t>, </a:t>
            </a:r>
            <a:r>
              <a:rPr lang="en-GB" dirty="0">
                <a:solidFill>
                  <a:srgbClr val="00B0F0"/>
                </a:solidFill>
              </a:rPr>
              <a:t>recurrent attack of cholangitis </a:t>
            </a:r>
            <a:r>
              <a:rPr lang="en-GB" dirty="0"/>
              <a:t>and </a:t>
            </a:r>
            <a:r>
              <a:rPr lang="en-GB" dirty="0">
                <a:solidFill>
                  <a:srgbClr val="00B0F0"/>
                </a:solidFill>
              </a:rPr>
              <a:t>pancreatitis</a:t>
            </a:r>
            <a:endParaRPr lang="en-US" dirty="0">
              <a:solidFill>
                <a:srgbClr val="00B0F0"/>
              </a:solidFill>
            </a:endParaRPr>
          </a:p>
          <a:p>
            <a:pPr>
              <a:buFont typeface="Wingdings" pitchFamily="2" charset="2"/>
              <a:buChar char="v"/>
            </a:pPr>
            <a:endParaRPr lang="en-US" dirty="0"/>
          </a:p>
        </p:txBody>
      </p:sp>
    </p:spTree>
    <p:extLst>
      <p:ext uri="{BB962C8B-B14F-4D97-AF65-F5344CB8AC3E}">
        <p14:creationId xmlns:p14="http://schemas.microsoft.com/office/powerpoint/2010/main" val="730230927"/>
      </p:ext>
    </p:extLst>
  </p:cSld>
  <p:clrMapOvr>
    <a:masterClrMapping/>
  </p:clrMapOvr>
</p:sld>
</file>

<file path=ppt/slides/slide3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00B050"/>
                </a:solidFill>
              </a:rPr>
              <a:t>Prevention and control of </a:t>
            </a:r>
            <a:r>
              <a:rPr lang="en-GB" b="1" i="1" dirty="0">
                <a:solidFill>
                  <a:srgbClr val="00B050"/>
                </a:solidFill>
              </a:rPr>
              <a:t>Opisthorchis sinensis </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solidFill>
                  <a:srgbClr val="00B050"/>
                </a:solidFill>
              </a:rPr>
              <a:t>Avoiding eating raw, pickled, smoked </a:t>
            </a:r>
            <a:r>
              <a:rPr lang="en-GB" dirty="0"/>
              <a:t>or insufficiently cooked fish</a:t>
            </a:r>
            <a:endParaRPr lang="en-US" dirty="0"/>
          </a:p>
          <a:p>
            <a:pPr lvl="0">
              <a:buFont typeface="Wingdings" pitchFamily="2" charset="2"/>
              <a:buChar char="v"/>
            </a:pPr>
            <a:r>
              <a:rPr lang="en-GB" dirty="0">
                <a:solidFill>
                  <a:srgbClr val="00B050"/>
                </a:solidFill>
              </a:rPr>
              <a:t>Provision of adequate latrines and health education </a:t>
            </a:r>
            <a:r>
              <a:rPr lang="en-GB" dirty="0"/>
              <a:t>to prevent contamination of fish ponds and water bodies</a:t>
            </a:r>
            <a:endParaRPr lang="en-US" dirty="0"/>
          </a:p>
          <a:p>
            <a:pPr lvl="0">
              <a:buFont typeface="Wingdings" pitchFamily="2" charset="2"/>
              <a:buChar char="v"/>
            </a:pPr>
            <a:r>
              <a:rPr lang="en-GB" dirty="0">
                <a:solidFill>
                  <a:srgbClr val="00B050"/>
                </a:solidFill>
              </a:rPr>
              <a:t>Non-use of untreated faeces as fertilizer </a:t>
            </a:r>
            <a:r>
              <a:rPr lang="en-GB" dirty="0"/>
              <a:t>in fish ponds</a:t>
            </a:r>
            <a:endParaRPr lang="en-US" dirty="0"/>
          </a:p>
          <a:p>
            <a:pPr lvl="0">
              <a:buFont typeface="Wingdings" pitchFamily="2" charset="2"/>
              <a:buChar char="v"/>
            </a:pPr>
            <a:r>
              <a:rPr lang="en-GB" dirty="0">
                <a:solidFill>
                  <a:srgbClr val="00B050"/>
                </a:solidFill>
              </a:rPr>
              <a:t>Application of molluscicides </a:t>
            </a:r>
            <a:r>
              <a:rPr lang="en-GB" dirty="0"/>
              <a:t>to kill snail hosts in infested water bodies.</a:t>
            </a:r>
            <a:endParaRPr lang="en-US" dirty="0"/>
          </a:p>
          <a:p>
            <a:endParaRPr lang="en-US" dirty="0"/>
          </a:p>
        </p:txBody>
      </p:sp>
    </p:spTree>
    <p:extLst>
      <p:ext uri="{BB962C8B-B14F-4D97-AF65-F5344CB8AC3E}">
        <p14:creationId xmlns:p14="http://schemas.microsoft.com/office/powerpoint/2010/main" val="1261276147"/>
      </p:ext>
    </p:extLst>
  </p:cSld>
  <p:clrMapOvr>
    <a:masterClrMapping/>
  </p:clrMapOvr>
</p:sld>
</file>

<file path=ppt/slides/slide3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i="1" dirty="0"/>
              <a:t>1.</a:t>
            </a:r>
            <a:r>
              <a:rPr lang="en-GB" b="1" i="1" dirty="0">
                <a:solidFill>
                  <a:srgbClr val="00B050"/>
                </a:solidFill>
              </a:rPr>
              <a:t>Opisthorchis sinensis</a:t>
            </a:r>
            <a:r>
              <a:rPr lang="en-GB" dirty="0">
                <a:solidFill>
                  <a:srgbClr val="00B050"/>
                </a:solidFill>
              </a:rPr>
              <a:t> </a:t>
            </a:r>
            <a:r>
              <a:rPr lang="en-GB" dirty="0"/>
              <a:t>cont’d</a:t>
            </a:r>
            <a:endParaRPr lang="en-US" dirty="0"/>
          </a:p>
        </p:txBody>
      </p:sp>
      <p:sp>
        <p:nvSpPr>
          <p:cNvPr id="3" name="Content Placeholder 2"/>
          <p:cNvSpPr>
            <a:spLocks noGrp="1"/>
          </p:cNvSpPr>
          <p:nvPr>
            <p:ph idx="1"/>
          </p:nvPr>
        </p:nvSpPr>
        <p:spPr/>
        <p:txBody>
          <a:bodyPr/>
          <a:lstStyle/>
          <a:p>
            <a:pPr marL="0" indent="0" algn="ctr">
              <a:buNone/>
            </a:pPr>
            <a:r>
              <a:rPr lang="en-GB" b="1" u="sng" dirty="0"/>
              <a:t>Diagnosis</a:t>
            </a:r>
            <a:endParaRPr lang="en-US" u="sng" dirty="0"/>
          </a:p>
          <a:p>
            <a:pPr lvl="0">
              <a:buFont typeface="Wingdings" pitchFamily="2" charset="2"/>
              <a:buChar char="v"/>
            </a:pPr>
            <a:r>
              <a:rPr lang="en-GB" dirty="0">
                <a:solidFill>
                  <a:srgbClr val="00B0F0"/>
                </a:solidFill>
              </a:rPr>
              <a:t>Examination of faeces for eggs</a:t>
            </a:r>
            <a:endParaRPr lang="en-US" dirty="0">
              <a:solidFill>
                <a:srgbClr val="00B0F0"/>
              </a:solidFill>
            </a:endParaRPr>
          </a:p>
          <a:p>
            <a:pPr lvl="0">
              <a:buFont typeface="Wingdings" pitchFamily="2" charset="2"/>
              <a:buChar char="v"/>
            </a:pPr>
            <a:r>
              <a:rPr lang="en-GB" dirty="0">
                <a:solidFill>
                  <a:srgbClr val="00B0F0"/>
                </a:solidFill>
              </a:rPr>
              <a:t>Examination of aspirates of duodenal fluid for eggs</a:t>
            </a:r>
            <a:endParaRPr lang="en-US" dirty="0">
              <a:solidFill>
                <a:srgbClr val="00B0F0"/>
              </a:solidFill>
            </a:endParaRPr>
          </a:p>
          <a:p>
            <a:pPr marL="0" indent="0">
              <a:buNone/>
            </a:pPr>
            <a:endParaRPr lang="en-US" dirty="0"/>
          </a:p>
        </p:txBody>
      </p:sp>
    </p:spTree>
    <p:extLst>
      <p:ext uri="{BB962C8B-B14F-4D97-AF65-F5344CB8AC3E}">
        <p14:creationId xmlns:p14="http://schemas.microsoft.com/office/powerpoint/2010/main" val="2255494693"/>
      </p:ext>
    </p:extLst>
  </p:cSld>
  <p:clrMapOvr>
    <a:masterClrMapping/>
  </p:clrMapOvr>
</p:sld>
</file>

<file path=ppt/slides/slide3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TREMATODES (FLUKES) </a:t>
            </a:r>
            <a:r>
              <a:rPr lang="en-GB" b="1" dirty="0"/>
              <a:t>CONT’D</a:t>
            </a:r>
            <a:endParaRPr lang="en-US" dirty="0"/>
          </a:p>
        </p:txBody>
      </p:sp>
      <p:sp>
        <p:nvSpPr>
          <p:cNvPr id="3" name="Content Placeholder 2"/>
          <p:cNvSpPr>
            <a:spLocks noGrp="1"/>
          </p:cNvSpPr>
          <p:nvPr>
            <p:ph idx="1"/>
          </p:nvPr>
        </p:nvSpPr>
        <p:spPr/>
        <p:txBody>
          <a:bodyPr>
            <a:normAutofit lnSpcReduction="10000"/>
          </a:bodyPr>
          <a:lstStyle/>
          <a:p>
            <a:pPr marL="0" lvl="0" indent="0" algn="ctr">
              <a:buNone/>
            </a:pPr>
            <a:r>
              <a:rPr lang="en-GB" b="1" i="1" dirty="0">
                <a:solidFill>
                  <a:srgbClr val="00B050"/>
                </a:solidFill>
              </a:rPr>
              <a:t>Opisthorchis viverrini</a:t>
            </a:r>
            <a:endParaRPr lang="en-US" dirty="0">
              <a:solidFill>
                <a:srgbClr val="00B050"/>
              </a:solidFill>
            </a:endParaRPr>
          </a:p>
          <a:p>
            <a:pPr>
              <a:buFont typeface="Wingdings" pitchFamily="2" charset="2"/>
              <a:buChar char="v"/>
            </a:pPr>
            <a:r>
              <a:rPr lang="en-GB" dirty="0"/>
              <a:t>This is a species </a:t>
            </a:r>
            <a:r>
              <a:rPr lang="en-GB" b="1" dirty="0"/>
              <a:t>similar to </a:t>
            </a:r>
            <a:r>
              <a:rPr lang="en-GB" b="1" i="1" dirty="0">
                <a:solidFill>
                  <a:srgbClr val="FF33CC"/>
                </a:solidFill>
              </a:rPr>
              <a:t>O. sinensis</a:t>
            </a:r>
            <a:r>
              <a:rPr lang="en-GB" dirty="0"/>
              <a:t>. It is found in the </a:t>
            </a:r>
            <a:r>
              <a:rPr lang="en-GB" u="sng" dirty="0"/>
              <a:t>Mekong River valley in Laos </a:t>
            </a:r>
            <a:r>
              <a:rPr lang="en-GB" dirty="0"/>
              <a:t>and in </a:t>
            </a:r>
            <a:r>
              <a:rPr lang="en-GB" u="sng" dirty="0"/>
              <a:t>Thailand</a:t>
            </a:r>
            <a:r>
              <a:rPr lang="en-GB" dirty="0"/>
              <a:t> where it is the commonest trematode infection.</a:t>
            </a:r>
            <a:endParaRPr lang="en-US" dirty="0"/>
          </a:p>
          <a:p>
            <a:pPr>
              <a:buFont typeface="Wingdings" pitchFamily="2" charset="2"/>
              <a:buChar char="v"/>
            </a:pPr>
            <a:r>
              <a:rPr lang="en-GB" b="1" i="1" dirty="0">
                <a:solidFill>
                  <a:schemeClr val="accent6">
                    <a:lumMod val="75000"/>
                  </a:schemeClr>
                </a:solidFill>
              </a:rPr>
              <a:t>Opisthorchis felineus</a:t>
            </a:r>
            <a:r>
              <a:rPr lang="en-GB" dirty="0">
                <a:solidFill>
                  <a:schemeClr val="accent6">
                    <a:lumMod val="75000"/>
                  </a:schemeClr>
                </a:solidFill>
              </a:rPr>
              <a:t> </a:t>
            </a:r>
            <a:r>
              <a:rPr lang="en-GB" dirty="0"/>
              <a:t>is normally parasitic in </a:t>
            </a:r>
            <a:r>
              <a:rPr lang="en-GB" dirty="0">
                <a:solidFill>
                  <a:srgbClr val="00B050"/>
                </a:solidFill>
              </a:rPr>
              <a:t>dogs</a:t>
            </a:r>
            <a:r>
              <a:rPr lang="en-GB" dirty="0"/>
              <a:t>, </a:t>
            </a:r>
            <a:r>
              <a:rPr lang="en-GB" dirty="0">
                <a:solidFill>
                  <a:srgbClr val="00B050"/>
                </a:solidFill>
              </a:rPr>
              <a:t>cats </a:t>
            </a:r>
            <a:r>
              <a:rPr lang="en-GB" dirty="0"/>
              <a:t>but can also infect </a:t>
            </a:r>
            <a:r>
              <a:rPr lang="en-GB" dirty="0">
                <a:solidFill>
                  <a:srgbClr val="00B050"/>
                </a:solidFill>
              </a:rPr>
              <a:t>humans</a:t>
            </a:r>
            <a:r>
              <a:rPr lang="en-GB" dirty="0"/>
              <a:t>. It occurs in </a:t>
            </a:r>
            <a:r>
              <a:rPr lang="en-GB" u="sng" dirty="0"/>
              <a:t>Europe</a:t>
            </a:r>
            <a:r>
              <a:rPr lang="en-GB" dirty="0"/>
              <a:t>, </a:t>
            </a:r>
            <a:r>
              <a:rPr lang="en-GB" u="sng" dirty="0"/>
              <a:t>Japan</a:t>
            </a:r>
            <a:r>
              <a:rPr lang="en-GB" dirty="0"/>
              <a:t> and </a:t>
            </a:r>
            <a:r>
              <a:rPr lang="en-GB" u="sng" dirty="0"/>
              <a:t>Siberia</a:t>
            </a:r>
            <a:r>
              <a:rPr lang="en-GB" dirty="0"/>
              <a:t>. It is similar to </a:t>
            </a:r>
            <a:r>
              <a:rPr lang="en-GB" b="1" i="1" dirty="0">
                <a:solidFill>
                  <a:srgbClr val="FF33CC"/>
                </a:solidFill>
              </a:rPr>
              <a:t>O. sinensis</a:t>
            </a:r>
            <a:r>
              <a:rPr lang="en-GB" b="1" dirty="0">
                <a:solidFill>
                  <a:srgbClr val="FF33CC"/>
                </a:solidFill>
              </a:rPr>
              <a:t> </a:t>
            </a:r>
            <a:r>
              <a:rPr lang="en-GB" b="1" dirty="0"/>
              <a:t>in all aspects</a:t>
            </a:r>
            <a:r>
              <a:rPr lang="en-GB" dirty="0"/>
              <a:t>.</a:t>
            </a:r>
            <a:endParaRPr lang="en-US" dirty="0"/>
          </a:p>
          <a:p>
            <a:endParaRPr lang="en-US" dirty="0"/>
          </a:p>
        </p:txBody>
      </p:sp>
    </p:spTree>
    <p:extLst>
      <p:ext uri="{BB962C8B-B14F-4D97-AF65-F5344CB8AC3E}">
        <p14:creationId xmlns:p14="http://schemas.microsoft.com/office/powerpoint/2010/main" val="2031930100"/>
      </p:ext>
    </p:extLst>
  </p:cSld>
  <p:clrMapOvr>
    <a:masterClrMapping/>
  </p:clrMapOvr>
</p:sld>
</file>

<file path=ppt/slides/slide3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solidFill>
                  <a:srgbClr val="FF0000"/>
                </a:solidFill>
              </a:rPr>
              <a:t>TREMATODES (FLUKES) </a:t>
            </a:r>
            <a:r>
              <a:rPr lang="en-GB" b="1" dirty="0"/>
              <a:t>CONT’D</a:t>
            </a:r>
            <a:endParaRPr lang="en-US" dirty="0"/>
          </a:p>
        </p:txBody>
      </p:sp>
      <p:sp>
        <p:nvSpPr>
          <p:cNvPr id="3" name="Content Placeholder 2"/>
          <p:cNvSpPr>
            <a:spLocks noGrp="1"/>
          </p:cNvSpPr>
          <p:nvPr>
            <p:ph idx="1"/>
          </p:nvPr>
        </p:nvSpPr>
        <p:spPr>
          <a:xfrm>
            <a:off x="457200" y="1600200"/>
            <a:ext cx="8229600" cy="4800600"/>
          </a:xfrm>
        </p:spPr>
        <p:txBody>
          <a:bodyPr>
            <a:normAutofit lnSpcReduction="10000"/>
          </a:bodyPr>
          <a:lstStyle/>
          <a:p>
            <a:pPr lvl="0">
              <a:buFont typeface="Wingdings" pitchFamily="2" charset="2"/>
              <a:buChar char="v"/>
            </a:pPr>
            <a:r>
              <a:rPr lang="en-GB" dirty="0">
                <a:solidFill>
                  <a:srgbClr val="00B0F0"/>
                </a:solidFill>
              </a:rPr>
              <a:t>Excretory system </a:t>
            </a:r>
            <a:r>
              <a:rPr lang="en-GB" dirty="0"/>
              <a:t>is composed of </a:t>
            </a:r>
            <a:r>
              <a:rPr lang="en-GB" dirty="0">
                <a:solidFill>
                  <a:srgbClr val="00B0F0"/>
                </a:solidFill>
              </a:rPr>
              <a:t>excretory cells</a:t>
            </a:r>
            <a:r>
              <a:rPr lang="en-GB" dirty="0"/>
              <a:t> (called </a:t>
            </a:r>
            <a:r>
              <a:rPr lang="en-GB" dirty="0">
                <a:solidFill>
                  <a:srgbClr val="00B0F0"/>
                </a:solidFill>
              </a:rPr>
              <a:t>flame cells</a:t>
            </a:r>
            <a:r>
              <a:rPr lang="en-GB" dirty="0"/>
              <a:t>), </a:t>
            </a:r>
            <a:r>
              <a:rPr lang="en-GB" dirty="0">
                <a:solidFill>
                  <a:srgbClr val="00B0F0"/>
                </a:solidFill>
              </a:rPr>
              <a:t>collecting tubules </a:t>
            </a:r>
            <a:r>
              <a:rPr lang="en-GB" dirty="0"/>
              <a:t>and an </a:t>
            </a:r>
            <a:r>
              <a:rPr lang="en-GB" dirty="0">
                <a:solidFill>
                  <a:srgbClr val="00B0F0"/>
                </a:solidFill>
              </a:rPr>
              <a:t>excretory pore</a:t>
            </a:r>
            <a:r>
              <a:rPr lang="en-GB" dirty="0"/>
              <a:t>.</a:t>
            </a:r>
          </a:p>
          <a:p>
            <a:pPr>
              <a:buFont typeface="Wingdings" pitchFamily="2" charset="2"/>
              <a:buChar char="v"/>
            </a:pPr>
            <a:r>
              <a:rPr lang="en-GB" dirty="0">
                <a:solidFill>
                  <a:schemeClr val="accent6">
                    <a:lumMod val="75000"/>
                  </a:schemeClr>
                </a:solidFill>
              </a:rPr>
              <a:t>Hermaphroditic</a:t>
            </a:r>
            <a:r>
              <a:rPr lang="en-GB" dirty="0"/>
              <a:t> (male and female reproductive organs in the individual) </a:t>
            </a:r>
            <a:r>
              <a:rPr lang="en-GB" u="sng" dirty="0"/>
              <a:t>except </a:t>
            </a:r>
            <a:r>
              <a:rPr lang="en-GB" dirty="0">
                <a:solidFill>
                  <a:srgbClr val="0070C0"/>
                </a:solidFill>
              </a:rPr>
              <a:t>schistosomes</a:t>
            </a:r>
            <a:r>
              <a:rPr lang="en-GB" dirty="0"/>
              <a:t>.</a:t>
            </a:r>
          </a:p>
          <a:p>
            <a:pPr>
              <a:buFont typeface="Wingdings" pitchFamily="2" charset="2"/>
              <a:buChar char="v"/>
            </a:pPr>
            <a:r>
              <a:rPr lang="en-GB" dirty="0"/>
              <a:t> Most trematode </a:t>
            </a:r>
            <a:r>
              <a:rPr lang="en-GB" dirty="0">
                <a:solidFill>
                  <a:schemeClr val="accent6">
                    <a:lumMod val="75000"/>
                  </a:schemeClr>
                </a:solidFill>
              </a:rPr>
              <a:t>eggs are operculated </a:t>
            </a:r>
            <a:r>
              <a:rPr lang="en-GB" dirty="0"/>
              <a:t>(i.e. have lids). </a:t>
            </a:r>
          </a:p>
          <a:p>
            <a:pPr>
              <a:buFont typeface="Wingdings" pitchFamily="2" charset="2"/>
              <a:buChar char="v"/>
            </a:pPr>
            <a:r>
              <a:rPr lang="en-GB" dirty="0">
                <a:solidFill>
                  <a:srgbClr val="C00000"/>
                </a:solidFill>
              </a:rPr>
              <a:t>The eggs must reach water in order to develop</a:t>
            </a:r>
            <a:r>
              <a:rPr lang="en-GB" dirty="0"/>
              <a:t>.</a:t>
            </a:r>
            <a:endParaRPr lang="en-US" dirty="0"/>
          </a:p>
          <a:p>
            <a:pPr lvl="0">
              <a:buFont typeface="Wingdings" pitchFamily="2" charset="2"/>
              <a:buChar char="v"/>
            </a:pPr>
            <a:endParaRPr lang="en-US" dirty="0"/>
          </a:p>
          <a:p>
            <a:pPr lvl="0"/>
            <a:endParaRPr lang="en-US" dirty="0"/>
          </a:p>
          <a:p>
            <a:endParaRPr lang="en-US" dirty="0"/>
          </a:p>
        </p:txBody>
      </p:sp>
    </p:spTree>
    <p:extLst>
      <p:ext uri="{BB962C8B-B14F-4D97-AF65-F5344CB8AC3E}">
        <p14:creationId xmlns:p14="http://schemas.microsoft.com/office/powerpoint/2010/main" val="3354068845"/>
      </p:ext>
    </p:extLst>
  </p:cSld>
  <p:clrMapOvr>
    <a:masterClrMapping/>
  </p:clrMapOvr>
</p:sld>
</file>

<file path=ppt/slides/slide3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Fasciolopsis buski</a:t>
            </a:r>
            <a:br>
              <a:rPr lang="en-US" dirty="0"/>
            </a:b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GB" dirty="0"/>
              <a:t>It is the </a:t>
            </a:r>
            <a:r>
              <a:rPr lang="en-GB" b="1" dirty="0">
                <a:solidFill>
                  <a:srgbClr val="FF33CC"/>
                </a:solidFill>
              </a:rPr>
              <a:t>largest fluke </a:t>
            </a:r>
            <a:r>
              <a:rPr lang="en-GB" u="sng" dirty="0"/>
              <a:t>that infects humans</a:t>
            </a:r>
            <a:r>
              <a:rPr lang="en-GB" dirty="0"/>
              <a:t>. It is the </a:t>
            </a:r>
            <a:r>
              <a:rPr lang="en-GB" b="1" dirty="0"/>
              <a:t>giant </a:t>
            </a:r>
            <a:r>
              <a:rPr lang="en-GB" b="1" dirty="0">
                <a:solidFill>
                  <a:srgbClr val="00B0F0"/>
                </a:solidFill>
              </a:rPr>
              <a:t>intestinal fluke</a:t>
            </a:r>
            <a:r>
              <a:rPr lang="en-GB" dirty="0"/>
              <a:t>.</a:t>
            </a:r>
            <a:endParaRPr lang="en-US" dirty="0"/>
          </a:p>
          <a:p>
            <a:pPr>
              <a:buFont typeface="Wingdings" pitchFamily="2" charset="2"/>
              <a:buChar char="v"/>
            </a:pPr>
            <a:r>
              <a:rPr lang="en-GB" dirty="0"/>
              <a:t>The normal definitive hosts are the </a:t>
            </a:r>
            <a:r>
              <a:rPr lang="en-GB" dirty="0">
                <a:solidFill>
                  <a:srgbClr val="00B050"/>
                </a:solidFill>
              </a:rPr>
              <a:t>pig</a:t>
            </a:r>
            <a:r>
              <a:rPr lang="en-GB" dirty="0"/>
              <a:t> and </a:t>
            </a:r>
            <a:r>
              <a:rPr lang="en-GB" dirty="0">
                <a:solidFill>
                  <a:srgbClr val="00B050"/>
                </a:solidFill>
              </a:rPr>
              <a:t>buffalo</a:t>
            </a:r>
            <a:r>
              <a:rPr lang="en-GB" dirty="0"/>
              <a:t>.</a:t>
            </a:r>
            <a:endParaRPr lang="en-US" dirty="0"/>
          </a:p>
          <a:p>
            <a:pPr marL="0" indent="0" algn="ctr">
              <a:buNone/>
            </a:pPr>
            <a:r>
              <a:rPr lang="en-GB" b="1" u="sng" dirty="0"/>
              <a:t>Distribution</a:t>
            </a:r>
            <a:endParaRPr lang="en-US" u="sng" dirty="0"/>
          </a:p>
          <a:p>
            <a:pPr lvl="0">
              <a:buFont typeface="Wingdings" pitchFamily="2" charset="2"/>
              <a:buChar char="v"/>
            </a:pPr>
            <a:r>
              <a:rPr lang="en-GB" u="sng" dirty="0"/>
              <a:t>The disease, </a:t>
            </a:r>
            <a:r>
              <a:rPr lang="en-GB" u="sng" dirty="0">
                <a:solidFill>
                  <a:srgbClr val="FF0000"/>
                </a:solidFill>
              </a:rPr>
              <a:t>Fasciolopsis</a:t>
            </a:r>
            <a:r>
              <a:rPr lang="en-GB" u="sng" dirty="0"/>
              <a:t> is widespread in the Far East and occurs also in Indonesia </a:t>
            </a:r>
            <a:r>
              <a:rPr lang="en-GB" dirty="0"/>
              <a:t>and </a:t>
            </a:r>
            <a:r>
              <a:rPr lang="en-GB" dirty="0">
                <a:solidFill>
                  <a:srgbClr val="00B0F0"/>
                </a:solidFill>
              </a:rPr>
              <a:t>where water plants are cultivated in ponds fertilized by pig or human faeces</a:t>
            </a:r>
            <a:r>
              <a:rPr lang="en-GB" dirty="0"/>
              <a:t>.</a:t>
            </a:r>
            <a:endParaRPr lang="en-US" dirty="0"/>
          </a:p>
          <a:p>
            <a:pPr marL="0" indent="0">
              <a:buNone/>
            </a:pPr>
            <a:endParaRPr lang="en-US" dirty="0"/>
          </a:p>
        </p:txBody>
      </p:sp>
    </p:spTree>
    <p:extLst>
      <p:ext uri="{BB962C8B-B14F-4D97-AF65-F5344CB8AC3E}">
        <p14:creationId xmlns:p14="http://schemas.microsoft.com/office/powerpoint/2010/main" val="862301550"/>
      </p:ext>
    </p:extLst>
  </p:cSld>
  <p:clrMapOvr>
    <a:masterClrMapping/>
  </p:clrMapOvr>
</p:sld>
</file>

<file path=ppt/slides/slide3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0999" y="152400"/>
            <a:ext cx="8458201" cy="6324600"/>
          </a:xfrm>
        </p:spPr>
      </p:pic>
    </p:spTree>
    <p:extLst>
      <p:ext uri="{BB962C8B-B14F-4D97-AF65-F5344CB8AC3E}">
        <p14:creationId xmlns:p14="http://schemas.microsoft.com/office/powerpoint/2010/main" val="1892818793"/>
      </p:ext>
    </p:extLst>
  </p:cSld>
  <p:clrMapOvr>
    <a:masterClrMapping/>
  </p:clrMapOvr>
</p:sld>
</file>

<file path=ppt/slides/slide3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i="1" dirty="0">
                <a:solidFill>
                  <a:srgbClr val="00B050"/>
                </a:solidFill>
              </a:rPr>
              <a:t>Fasciolopsis buski </a:t>
            </a:r>
            <a:r>
              <a:rPr lang="en-GB" b="1" i="1" dirty="0"/>
              <a:t>cont’d</a:t>
            </a: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solidFill>
                  <a:srgbClr val="FF0000"/>
                </a:solidFill>
              </a:rPr>
              <a:t>Infection rates </a:t>
            </a:r>
            <a:r>
              <a:rPr lang="en-GB" dirty="0"/>
              <a:t>are particularly </a:t>
            </a:r>
            <a:r>
              <a:rPr lang="en-GB" b="1" dirty="0"/>
              <a:t>high</a:t>
            </a:r>
            <a:r>
              <a:rPr lang="en-GB" dirty="0"/>
              <a:t> in </a:t>
            </a:r>
            <a:r>
              <a:rPr lang="en-GB" dirty="0">
                <a:solidFill>
                  <a:srgbClr val="00B050"/>
                </a:solidFill>
              </a:rPr>
              <a:t>school children</a:t>
            </a:r>
            <a:r>
              <a:rPr lang="en-GB" dirty="0"/>
              <a:t>.</a:t>
            </a:r>
            <a:endParaRPr lang="en-US" dirty="0"/>
          </a:p>
          <a:p>
            <a:pPr lvl="0" algn="ctr">
              <a:buFont typeface="Wingdings" pitchFamily="2" charset="2"/>
              <a:buChar char="v"/>
            </a:pPr>
            <a:endParaRPr lang="en-GB" b="1" dirty="0"/>
          </a:p>
          <a:p>
            <a:pPr marL="0" lvl="0" indent="0" algn="ctr">
              <a:buNone/>
            </a:pPr>
            <a:r>
              <a:rPr lang="en-GB" b="1" u="sng" dirty="0"/>
              <a:t>Transmission</a:t>
            </a:r>
            <a:endParaRPr lang="en-US" u="sng" dirty="0"/>
          </a:p>
          <a:p>
            <a:pPr lvl="0">
              <a:buFont typeface="Wingdings" pitchFamily="2" charset="2"/>
              <a:buChar char="v"/>
            </a:pPr>
            <a:r>
              <a:rPr lang="en-GB" dirty="0"/>
              <a:t>The </a:t>
            </a:r>
            <a:r>
              <a:rPr lang="en-GB" dirty="0">
                <a:solidFill>
                  <a:srgbClr val="C00000"/>
                </a:solidFill>
              </a:rPr>
              <a:t>metacercariae</a:t>
            </a:r>
            <a:r>
              <a:rPr lang="en-GB" dirty="0"/>
              <a:t> </a:t>
            </a:r>
            <a:r>
              <a:rPr lang="en-GB" u="sng" dirty="0"/>
              <a:t>excyst in </a:t>
            </a:r>
            <a:r>
              <a:rPr lang="en-GB" u="sng" dirty="0">
                <a:solidFill>
                  <a:srgbClr val="00B050"/>
                </a:solidFill>
              </a:rPr>
              <a:t>water plants</a:t>
            </a:r>
            <a:r>
              <a:rPr lang="en-GB" u="sng" dirty="0"/>
              <a:t>, </a:t>
            </a:r>
            <a:r>
              <a:rPr lang="en-GB" u="sng" dirty="0">
                <a:solidFill>
                  <a:srgbClr val="00B050"/>
                </a:solidFill>
              </a:rPr>
              <a:t>water chestnut </a:t>
            </a:r>
            <a:r>
              <a:rPr lang="en-GB" u="sng" dirty="0"/>
              <a:t>or the </a:t>
            </a:r>
            <a:r>
              <a:rPr lang="en-GB" u="sng" dirty="0">
                <a:solidFill>
                  <a:srgbClr val="00B050"/>
                </a:solidFill>
              </a:rPr>
              <a:t>fruits of water plants </a:t>
            </a:r>
            <a:r>
              <a:rPr lang="en-GB" u="sng" dirty="0"/>
              <a:t>or vegetation</a:t>
            </a:r>
            <a:r>
              <a:rPr lang="en-GB" dirty="0"/>
              <a:t>.</a:t>
            </a:r>
          </a:p>
          <a:p>
            <a:pPr lvl="0">
              <a:buFont typeface="Wingdings" pitchFamily="2" charset="2"/>
              <a:buChar char="v"/>
            </a:pPr>
            <a:r>
              <a:rPr lang="en-GB" dirty="0"/>
              <a:t> </a:t>
            </a:r>
            <a:r>
              <a:rPr lang="en-GB" dirty="0">
                <a:solidFill>
                  <a:srgbClr val="00B0F0"/>
                </a:solidFill>
              </a:rPr>
              <a:t>Infection occurs when these are eaten</a:t>
            </a:r>
            <a:r>
              <a:rPr lang="en-GB" dirty="0"/>
              <a:t>.</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3336285904"/>
      </p:ext>
    </p:extLst>
  </p:cSld>
  <p:clrMapOvr>
    <a:masterClrMapping/>
  </p:clrMapOvr>
</p:sld>
</file>

<file path=ppt/slides/slide3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Life cycle of </a:t>
            </a:r>
            <a:r>
              <a:rPr lang="en-GB" b="1" i="1" u="sng" dirty="0">
                <a:solidFill>
                  <a:srgbClr val="00B050"/>
                </a:solidFill>
              </a:rPr>
              <a:t>Fasciolopsis buski</a:t>
            </a:r>
            <a:br>
              <a:rPr lang="en-US" u="sng" dirty="0"/>
            </a:br>
            <a:endParaRPr lang="en-US" u="sng" dirty="0"/>
          </a:p>
        </p:txBody>
      </p:sp>
      <p:sp>
        <p:nvSpPr>
          <p:cNvPr id="3" name="Content Placeholder 2"/>
          <p:cNvSpPr>
            <a:spLocks noGrp="1"/>
          </p:cNvSpPr>
          <p:nvPr>
            <p:ph idx="1"/>
          </p:nvPr>
        </p:nvSpPr>
        <p:spPr/>
        <p:txBody>
          <a:bodyPr>
            <a:normAutofit lnSpcReduction="10000"/>
          </a:bodyPr>
          <a:lstStyle/>
          <a:p>
            <a:pPr marL="0" indent="0" algn="ctr">
              <a:buNone/>
            </a:pPr>
            <a:r>
              <a:rPr lang="en-GB" b="1" u="sng" dirty="0"/>
              <a:t>Life cycle</a:t>
            </a:r>
            <a:endParaRPr lang="en-US" u="sng" dirty="0"/>
          </a:p>
          <a:p>
            <a:pPr lvl="0">
              <a:buFont typeface="Wingdings" pitchFamily="2" charset="2"/>
              <a:buChar char="v"/>
            </a:pPr>
            <a:r>
              <a:rPr lang="en-GB" u="sng" dirty="0"/>
              <a:t>After intake</a:t>
            </a:r>
            <a:r>
              <a:rPr lang="en-GB" dirty="0"/>
              <a:t>, </a:t>
            </a:r>
            <a:r>
              <a:rPr lang="en-GB" dirty="0">
                <a:solidFill>
                  <a:srgbClr val="C00000"/>
                </a:solidFill>
              </a:rPr>
              <a:t>metacercariae</a:t>
            </a:r>
            <a:r>
              <a:rPr lang="en-GB" dirty="0"/>
              <a:t> </a:t>
            </a:r>
            <a:r>
              <a:rPr lang="en-GB" u="sng" dirty="0"/>
              <a:t>excyst in the </a:t>
            </a:r>
            <a:r>
              <a:rPr lang="en-GB" u="sng" dirty="0">
                <a:solidFill>
                  <a:srgbClr val="00B0F0"/>
                </a:solidFill>
              </a:rPr>
              <a:t>duodenum</a:t>
            </a:r>
            <a:r>
              <a:rPr lang="en-GB" dirty="0"/>
              <a:t>, </a:t>
            </a:r>
            <a:r>
              <a:rPr lang="en-GB" u="sng" dirty="0"/>
              <a:t>attach themselves to the wall of the </a:t>
            </a:r>
            <a:r>
              <a:rPr lang="en-GB" u="sng" dirty="0">
                <a:solidFill>
                  <a:srgbClr val="00B0F0"/>
                </a:solidFill>
              </a:rPr>
              <a:t>small intestine </a:t>
            </a:r>
            <a:r>
              <a:rPr lang="en-GB" dirty="0"/>
              <a:t>and in </a:t>
            </a:r>
            <a:r>
              <a:rPr lang="en-GB" u="sng" dirty="0"/>
              <a:t>three months </a:t>
            </a:r>
            <a:r>
              <a:rPr lang="en-GB" dirty="0"/>
              <a:t>develop into </a:t>
            </a:r>
            <a:r>
              <a:rPr lang="en-GB" dirty="0">
                <a:solidFill>
                  <a:srgbClr val="C00000"/>
                </a:solidFill>
              </a:rPr>
              <a:t>mature egg </a:t>
            </a:r>
            <a:r>
              <a:rPr lang="en-GB" u="sng" dirty="0"/>
              <a:t>producing adults, producing many eggs</a:t>
            </a:r>
            <a:r>
              <a:rPr lang="en-GB" dirty="0"/>
              <a:t>.</a:t>
            </a:r>
            <a:endParaRPr lang="en-US" dirty="0"/>
          </a:p>
          <a:p>
            <a:pPr lvl="0">
              <a:buFont typeface="Wingdings" pitchFamily="2" charset="2"/>
              <a:buChar char="v"/>
            </a:pPr>
            <a:r>
              <a:rPr lang="en-GB" dirty="0">
                <a:solidFill>
                  <a:srgbClr val="C00000"/>
                </a:solidFill>
              </a:rPr>
              <a:t>Immature eggs </a:t>
            </a:r>
            <a:r>
              <a:rPr lang="en-GB" dirty="0"/>
              <a:t>are passed out in the faeces, each of which contains an </a:t>
            </a:r>
            <a:r>
              <a:rPr lang="en-GB" dirty="0">
                <a:solidFill>
                  <a:schemeClr val="accent6">
                    <a:lumMod val="75000"/>
                  </a:schemeClr>
                </a:solidFill>
              </a:rPr>
              <a:t>unsegmented ovum surrounded by many yolk cells</a:t>
            </a:r>
            <a:endParaRPr lang="en-US" dirty="0">
              <a:solidFill>
                <a:schemeClr val="accent6">
                  <a:lumMod val="75000"/>
                </a:schemeClr>
              </a:solidFill>
            </a:endParaRPr>
          </a:p>
          <a:p>
            <a:pPr>
              <a:buFont typeface="Wingdings" pitchFamily="2" charset="2"/>
              <a:buChar char="v"/>
            </a:pPr>
            <a:endParaRPr lang="en-US" dirty="0"/>
          </a:p>
        </p:txBody>
      </p:sp>
    </p:spTree>
    <p:extLst>
      <p:ext uri="{BB962C8B-B14F-4D97-AF65-F5344CB8AC3E}">
        <p14:creationId xmlns:p14="http://schemas.microsoft.com/office/powerpoint/2010/main" val="3667391336"/>
      </p:ext>
    </p:extLst>
  </p:cSld>
  <p:clrMapOvr>
    <a:masterClrMapping/>
  </p:clrMapOvr>
</p:sld>
</file>

<file path=ppt/slides/slide3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Life cycle of </a:t>
            </a:r>
            <a:r>
              <a:rPr lang="en-GB" b="1" i="1" u="sng" dirty="0">
                <a:solidFill>
                  <a:srgbClr val="00B050"/>
                </a:solidFill>
              </a:rPr>
              <a:t>Fasciolopsis buski </a:t>
            </a:r>
            <a:r>
              <a:rPr lang="en-GB" b="1" i="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solidFill>
                  <a:srgbClr val="00B0F0"/>
                </a:solidFill>
              </a:rPr>
              <a:t>Eggs must reach fresh water </a:t>
            </a:r>
            <a:r>
              <a:rPr lang="en-GB" dirty="0"/>
              <a:t>and after a few weeks hatch </a:t>
            </a:r>
            <a:r>
              <a:rPr lang="en-GB" dirty="0">
                <a:solidFill>
                  <a:srgbClr val="C00000"/>
                </a:solidFill>
              </a:rPr>
              <a:t>miracidia</a:t>
            </a:r>
            <a:r>
              <a:rPr lang="en-GB" dirty="0"/>
              <a:t> which swims in search of </a:t>
            </a:r>
            <a:r>
              <a:rPr lang="en-GB" dirty="0">
                <a:solidFill>
                  <a:srgbClr val="00B050"/>
                </a:solidFill>
              </a:rPr>
              <a:t>snails </a:t>
            </a:r>
            <a:r>
              <a:rPr lang="en-GB" dirty="0"/>
              <a:t>of the </a:t>
            </a:r>
            <a:r>
              <a:rPr lang="en-GB" b="1" dirty="0"/>
              <a:t>genus</a:t>
            </a:r>
            <a:r>
              <a:rPr lang="en-GB" dirty="0"/>
              <a:t> </a:t>
            </a:r>
            <a:r>
              <a:rPr lang="en-GB" i="1" dirty="0">
                <a:solidFill>
                  <a:schemeClr val="accent6">
                    <a:lumMod val="75000"/>
                  </a:schemeClr>
                </a:solidFill>
              </a:rPr>
              <a:t>Segmentina</a:t>
            </a:r>
            <a:r>
              <a:rPr lang="en-GB" dirty="0">
                <a:solidFill>
                  <a:schemeClr val="accent6">
                    <a:lumMod val="75000"/>
                  </a:schemeClr>
                </a:solidFill>
              </a:rPr>
              <a:t> </a:t>
            </a:r>
            <a:r>
              <a:rPr lang="en-GB" dirty="0"/>
              <a:t>or </a:t>
            </a:r>
            <a:r>
              <a:rPr lang="en-GB" i="1" dirty="0">
                <a:solidFill>
                  <a:schemeClr val="accent6">
                    <a:lumMod val="75000"/>
                  </a:schemeClr>
                </a:solidFill>
              </a:rPr>
              <a:t>Hippeutis</a:t>
            </a:r>
            <a:endParaRPr lang="en-US" dirty="0">
              <a:solidFill>
                <a:schemeClr val="accent6">
                  <a:lumMod val="75000"/>
                </a:schemeClr>
              </a:solidFill>
            </a:endParaRPr>
          </a:p>
          <a:p>
            <a:pPr lvl="0">
              <a:buFont typeface="Wingdings" pitchFamily="2" charset="2"/>
              <a:buChar char="v"/>
            </a:pPr>
            <a:endParaRPr lang="en-GB" dirty="0"/>
          </a:p>
          <a:p>
            <a:pPr lvl="0">
              <a:buFont typeface="Wingdings" pitchFamily="2" charset="2"/>
              <a:buChar char="v"/>
            </a:pPr>
            <a:r>
              <a:rPr lang="en-GB" dirty="0">
                <a:solidFill>
                  <a:srgbClr val="C00000"/>
                </a:solidFill>
              </a:rPr>
              <a:t>Miracidia</a:t>
            </a:r>
            <a:r>
              <a:rPr lang="en-GB" dirty="0"/>
              <a:t> develop in the </a:t>
            </a:r>
            <a:r>
              <a:rPr lang="en-GB" dirty="0">
                <a:solidFill>
                  <a:srgbClr val="00B050"/>
                </a:solidFill>
              </a:rPr>
              <a:t>snail host</a:t>
            </a:r>
            <a:r>
              <a:rPr lang="en-GB" dirty="0"/>
              <a:t>, into </a:t>
            </a:r>
            <a:r>
              <a:rPr lang="en-GB" dirty="0">
                <a:solidFill>
                  <a:srgbClr val="C00000"/>
                </a:solidFill>
              </a:rPr>
              <a:t>sporocysts</a:t>
            </a:r>
            <a:r>
              <a:rPr lang="en-GB" dirty="0"/>
              <a:t> which in turn, produce two or more generations of </a:t>
            </a:r>
            <a:r>
              <a:rPr lang="en-GB" dirty="0">
                <a:solidFill>
                  <a:srgbClr val="C00000"/>
                </a:solidFill>
              </a:rPr>
              <a:t>rediae</a:t>
            </a:r>
            <a:r>
              <a:rPr lang="en-GB" dirty="0"/>
              <a:t> and finally </a:t>
            </a:r>
            <a:r>
              <a:rPr lang="en-GB" dirty="0">
                <a:solidFill>
                  <a:srgbClr val="C00000"/>
                </a:solidFill>
              </a:rPr>
              <a:t>cercariae</a:t>
            </a:r>
            <a:r>
              <a:rPr lang="en-GB" dirty="0"/>
              <a:t> </a:t>
            </a:r>
            <a:r>
              <a:rPr lang="en-GB" u="sng" dirty="0"/>
              <a:t>all in about 2 months</a:t>
            </a:r>
            <a:r>
              <a:rPr lang="en-GB" dirty="0"/>
              <a:t>.</a:t>
            </a:r>
            <a:endParaRPr lang="en-US" dirty="0"/>
          </a:p>
          <a:p>
            <a:pPr marL="0" indent="0">
              <a:buNone/>
            </a:pPr>
            <a:endParaRPr lang="en-US" dirty="0"/>
          </a:p>
        </p:txBody>
      </p:sp>
    </p:spTree>
    <p:extLst>
      <p:ext uri="{BB962C8B-B14F-4D97-AF65-F5344CB8AC3E}">
        <p14:creationId xmlns:p14="http://schemas.microsoft.com/office/powerpoint/2010/main" val="184048680"/>
      </p:ext>
    </p:extLst>
  </p:cSld>
  <p:clrMapOvr>
    <a:masterClrMapping/>
  </p:clrMapOvr>
</p:sld>
</file>

<file path=ppt/slides/slide3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Life cycle of </a:t>
            </a:r>
            <a:r>
              <a:rPr lang="en-GB" b="1" i="1" u="sng" dirty="0">
                <a:solidFill>
                  <a:srgbClr val="00B050"/>
                </a:solidFill>
              </a:rPr>
              <a:t>Fasciolopsis buski</a:t>
            </a:r>
            <a:r>
              <a:rPr lang="en-GB" b="1" i="1" u="sng" dirty="0"/>
              <a:t> </a:t>
            </a:r>
            <a:r>
              <a:rPr lang="en-GB" b="1" i="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solidFill>
                  <a:srgbClr val="C00000"/>
                </a:solidFill>
              </a:rPr>
              <a:t>Cercariae</a:t>
            </a:r>
            <a:r>
              <a:rPr lang="en-GB" dirty="0"/>
              <a:t> are shed from the </a:t>
            </a:r>
            <a:r>
              <a:rPr lang="en-GB" dirty="0">
                <a:solidFill>
                  <a:srgbClr val="00B050"/>
                </a:solidFill>
              </a:rPr>
              <a:t>snail</a:t>
            </a:r>
            <a:r>
              <a:rPr lang="en-GB" dirty="0"/>
              <a:t> and swim till they reach suitable </a:t>
            </a:r>
            <a:r>
              <a:rPr lang="en-GB" dirty="0">
                <a:solidFill>
                  <a:srgbClr val="00B050"/>
                </a:solidFill>
              </a:rPr>
              <a:t>water plants </a:t>
            </a:r>
            <a:r>
              <a:rPr lang="en-GB" dirty="0"/>
              <a:t>and </a:t>
            </a:r>
            <a:r>
              <a:rPr lang="en-GB" b="1" dirty="0"/>
              <a:t>excyst</a:t>
            </a:r>
            <a:r>
              <a:rPr lang="en-GB" dirty="0"/>
              <a:t> as </a:t>
            </a:r>
            <a:r>
              <a:rPr lang="en-GB" dirty="0">
                <a:solidFill>
                  <a:srgbClr val="C00000"/>
                </a:solidFill>
              </a:rPr>
              <a:t>metacercariae</a:t>
            </a:r>
            <a:r>
              <a:rPr lang="en-GB" dirty="0"/>
              <a:t> which are </a:t>
            </a:r>
            <a:r>
              <a:rPr lang="en-GB" dirty="0">
                <a:solidFill>
                  <a:srgbClr val="FF0000"/>
                </a:solidFill>
              </a:rPr>
              <a:t>infective</a:t>
            </a:r>
            <a:r>
              <a:rPr lang="en-GB" dirty="0"/>
              <a:t> to </a:t>
            </a:r>
            <a:r>
              <a:rPr lang="en-GB" dirty="0">
                <a:solidFill>
                  <a:srgbClr val="00B050"/>
                </a:solidFill>
              </a:rPr>
              <a:t>humans</a:t>
            </a:r>
            <a:r>
              <a:rPr lang="en-GB" dirty="0"/>
              <a:t>, </a:t>
            </a:r>
            <a:r>
              <a:rPr lang="en-GB" dirty="0">
                <a:solidFill>
                  <a:srgbClr val="00B050"/>
                </a:solidFill>
              </a:rPr>
              <a:t>pigs</a:t>
            </a:r>
            <a:r>
              <a:rPr lang="en-GB" dirty="0"/>
              <a:t> and </a:t>
            </a:r>
            <a:r>
              <a:rPr lang="en-GB" dirty="0">
                <a:solidFill>
                  <a:srgbClr val="00B050"/>
                </a:solidFill>
              </a:rPr>
              <a:t>buffalo</a:t>
            </a:r>
            <a:endParaRPr lang="en-US" dirty="0">
              <a:solidFill>
                <a:srgbClr val="00B050"/>
              </a:solidFill>
            </a:endParaRPr>
          </a:p>
          <a:p>
            <a:pPr lvl="0">
              <a:buFont typeface="Wingdings" pitchFamily="2" charset="2"/>
              <a:buChar char="v"/>
            </a:pPr>
            <a:endParaRPr lang="en-GB" dirty="0"/>
          </a:p>
          <a:p>
            <a:pPr lvl="0">
              <a:buFont typeface="Wingdings" pitchFamily="2" charset="2"/>
              <a:buChar char="v"/>
            </a:pPr>
            <a:r>
              <a:rPr lang="en-GB" u="sng" dirty="0"/>
              <a:t>Adults live only a few months</a:t>
            </a:r>
            <a:r>
              <a:rPr lang="en-GB" dirty="0"/>
              <a:t>.</a:t>
            </a:r>
            <a:endParaRPr lang="en-US" dirty="0"/>
          </a:p>
        </p:txBody>
      </p:sp>
    </p:spTree>
    <p:extLst>
      <p:ext uri="{BB962C8B-B14F-4D97-AF65-F5344CB8AC3E}">
        <p14:creationId xmlns:p14="http://schemas.microsoft.com/office/powerpoint/2010/main" val="2015021851"/>
      </p:ext>
    </p:extLst>
  </p:cSld>
  <p:clrMapOvr>
    <a:masterClrMapping/>
  </p:clrMapOvr>
</p:sld>
</file>

<file path=ppt/slides/slide3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Symptoms and Pathology of </a:t>
            </a:r>
            <a:r>
              <a:rPr lang="en-GB" b="1" i="1" u="sng" dirty="0">
                <a:solidFill>
                  <a:srgbClr val="00B050"/>
                </a:solidFill>
              </a:rPr>
              <a:t>Fasciolopsis buski </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solidFill>
                  <a:srgbClr val="00B0F0"/>
                </a:solidFill>
              </a:rPr>
              <a:t>Often infection is symptomless</a:t>
            </a:r>
            <a:r>
              <a:rPr lang="en-GB" dirty="0"/>
              <a:t>, however, </a:t>
            </a:r>
            <a:r>
              <a:rPr lang="en-GB" dirty="0">
                <a:solidFill>
                  <a:srgbClr val="7030A0"/>
                </a:solidFill>
              </a:rPr>
              <a:t>inflammation</a:t>
            </a:r>
            <a:r>
              <a:rPr lang="en-GB" dirty="0"/>
              <a:t>, </a:t>
            </a:r>
            <a:r>
              <a:rPr lang="en-GB" dirty="0">
                <a:solidFill>
                  <a:srgbClr val="7030A0"/>
                </a:solidFill>
              </a:rPr>
              <a:t>ulceration of the intestinal wall</a:t>
            </a:r>
            <a:r>
              <a:rPr lang="en-GB" dirty="0"/>
              <a:t>, with </a:t>
            </a:r>
            <a:r>
              <a:rPr lang="en-GB" dirty="0">
                <a:solidFill>
                  <a:srgbClr val="7030A0"/>
                </a:solidFill>
              </a:rPr>
              <a:t>abdominal pain </a:t>
            </a:r>
            <a:r>
              <a:rPr lang="en-GB" dirty="0"/>
              <a:t>and </a:t>
            </a:r>
            <a:r>
              <a:rPr lang="en-GB" dirty="0">
                <a:solidFill>
                  <a:srgbClr val="7030A0"/>
                </a:solidFill>
              </a:rPr>
              <a:t>diarrhoea</a:t>
            </a:r>
            <a:r>
              <a:rPr lang="en-GB" dirty="0"/>
              <a:t> may occur.</a:t>
            </a:r>
            <a:endParaRPr lang="en-US" dirty="0"/>
          </a:p>
          <a:p>
            <a:pPr lvl="0">
              <a:buFont typeface="Wingdings" pitchFamily="2" charset="2"/>
              <a:buChar char="v"/>
            </a:pPr>
            <a:r>
              <a:rPr lang="en-GB" b="1" dirty="0"/>
              <a:t>Large numbers </a:t>
            </a:r>
            <a:r>
              <a:rPr lang="en-GB" dirty="0"/>
              <a:t>may cause </a:t>
            </a:r>
            <a:r>
              <a:rPr lang="en-GB" dirty="0">
                <a:solidFill>
                  <a:srgbClr val="FF0000"/>
                </a:solidFill>
              </a:rPr>
              <a:t>haemorrhage</a:t>
            </a:r>
            <a:endParaRPr lang="en-US" dirty="0">
              <a:solidFill>
                <a:srgbClr val="FF0000"/>
              </a:solidFill>
            </a:endParaRPr>
          </a:p>
          <a:p>
            <a:pPr lvl="0">
              <a:buFont typeface="Wingdings" pitchFamily="2" charset="2"/>
              <a:buChar char="v"/>
            </a:pPr>
            <a:r>
              <a:rPr lang="en-GB" u="sng" dirty="0"/>
              <a:t>Symptoms of malabsorption may develop with</a:t>
            </a:r>
            <a:r>
              <a:rPr lang="en-GB" dirty="0"/>
              <a:t> </a:t>
            </a:r>
            <a:r>
              <a:rPr lang="en-GB" dirty="0">
                <a:solidFill>
                  <a:srgbClr val="7030A0"/>
                </a:solidFill>
              </a:rPr>
              <a:t>pale coloured and offensive faeces</a:t>
            </a:r>
            <a:r>
              <a:rPr lang="en-GB" dirty="0"/>
              <a:t>.</a:t>
            </a:r>
          </a:p>
          <a:p>
            <a:pPr>
              <a:buFont typeface="Wingdings" pitchFamily="2" charset="2"/>
              <a:buChar char="v"/>
            </a:pPr>
            <a:r>
              <a:rPr lang="en-GB" b="1" dirty="0"/>
              <a:t>Heavy infections </a:t>
            </a:r>
            <a:r>
              <a:rPr lang="en-GB" dirty="0"/>
              <a:t>in </a:t>
            </a:r>
            <a:r>
              <a:rPr lang="en-GB" dirty="0">
                <a:solidFill>
                  <a:srgbClr val="00B050"/>
                </a:solidFill>
              </a:rPr>
              <a:t>children</a:t>
            </a:r>
            <a:r>
              <a:rPr lang="en-GB" dirty="0"/>
              <a:t> </a:t>
            </a:r>
            <a:r>
              <a:rPr lang="en-GB" dirty="0">
                <a:solidFill>
                  <a:srgbClr val="00B0F0"/>
                </a:solidFill>
              </a:rPr>
              <a:t>may cause symptoms resembling protein caloric malnutrition with wasting</a:t>
            </a:r>
            <a:endParaRPr lang="en-US" dirty="0">
              <a:solidFill>
                <a:srgbClr val="00B0F0"/>
              </a:solidFill>
            </a:endParaRPr>
          </a:p>
          <a:p>
            <a:pPr marL="0" lvl="0" indent="0">
              <a:buNone/>
            </a:pPr>
            <a:endParaRPr lang="en-US" dirty="0"/>
          </a:p>
          <a:p>
            <a:endParaRPr lang="en-US" dirty="0"/>
          </a:p>
        </p:txBody>
      </p:sp>
    </p:spTree>
    <p:extLst>
      <p:ext uri="{BB962C8B-B14F-4D97-AF65-F5344CB8AC3E}">
        <p14:creationId xmlns:p14="http://schemas.microsoft.com/office/powerpoint/2010/main" val="1788117460"/>
      </p:ext>
    </p:extLst>
  </p:cSld>
  <p:clrMapOvr>
    <a:masterClrMapping/>
  </p:clrMapOvr>
</p:sld>
</file>

<file path=ppt/slides/slide3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Symptoms and Pathology of </a:t>
            </a:r>
            <a:r>
              <a:rPr lang="en-GB" b="1" i="1" u="sng" dirty="0">
                <a:solidFill>
                  <a:srgbClr val="00B050"/>
                </a:solidFill>
              </a:rPr>
              <a:t>Fasciolopsis buski </a:t>
            </a:r>
            <a:r>
              <a:rPr lang="en-GB" b="1" i="1" dirty="0">
                <a:solidFill>
                  <a:srgbClr val="00B050"/>
                </a:solidFill>
              </a:rPr>
              <a:t> </a:t>
            </a:r>
            <a:r>
              <a:rPr lang="en-GB" b="1" i="1" dirty="0"/>
              <a:t>cont’d</a:t>
            </a:r>
            <a:br>
              <a:rPr lang="en-US" dirty="0"/>
            </a:br>
            <a:endParaRPr lang="en-US" dirty="0"/>
          </a:p>
        </p:txBody>
      </p:sp>
      <p:sp>
        <p:nvSpPr>
          <p:cNvPr id="3" name="Content Placeholder 2"/>
          <p:cNvSpPr>
            <a:spLocks noGrp="1"/>
          </p:cNvSpPr>
          <p:nvPr>
            <p:ph idx="1"/>
          </p:nvPr>
        </p:nvSpPr>
        <p:spPr/>
        <p:txBody>
          <a:bodyPr/>
          <a:lstStyle/>
          <a:p>
            <a:pPr lvl="0"/>
            <a:endParaRPr lang="en-GB" dirty="0"/>
          </a:p>
          <a:p>
            <a:pPr lvl="0">
              <a:buFont typeface="Wingdings" pitchFamily="2" charset="2"/>
              <a:buChar char="v"/>
            </a:pPr>
            <a:r>
              <a:rPr lang="en-GB" dirty="0">
                <a:solidFill>
                  <a:srgbClr val="FF0000"/>
                </a:solidFill>
              </a:rPr>
              <a:t>Toxins produced by the worms </a:t>
            </a:r>
            <a:r>
              <a:rPr lang="en-GB" dirty="0"/>
              <a:t>may cause </a:t>
            </a:r>
            <a:r>
              <a:rPr lang="en-GB" dirty="0">
                <a:solidFill>
                  <a:srgbClr val="00B0F0"/>
                </a:solidFill>
              </a:rPr>
              <a:t>oedema of the face and limbs</a:t>
            </a:r>
            <a:r>
              <a:rPr lang="en-GB" dirty="0"/>
              <a:t>, </a:t>
            </a:r>
            <a:r>
              <a:rPr lang="en-GB" dirty="0">
                <a:solidFill>
                  <a:srgbClr val="00B0F0"/>
                </a:solidFill>
              </a:rPr>
              <a:t>ascites</a:t>
            </a:r>
            <a:r>
              <a:rPr lang="en-GB" dirty="0"/>
              <a:t> (</a:t>
            </a:r>
            <a:r>
              <a:rPr lang="en-GB" u="sng" dirty="0"/>
              <a:t>accumulating of fluid in the peritoneal cavity</a:t>
            </a:r>
            <a:r>
              <a:rPr lang="en-GB" dirty="0"/>
              <a:t>) and </a:t>
            </a:r>
            <a:r>
              <a:rPr lang="en-GB" dirty="0">
                <a:solidFill>
                  <a:srgbClr val="00B0F0"/>
                </a:solidFill>
              </a:rPr>
              <a:t>allergic reactions </a:t>
            </a:r>
            <a:endParaRPr lang="en-US" dirty="0">
              <a:solidFill>
                <a:srgbClr val="00B0F0"/>
              </a:solidFill>
            </a:endParaRPr>
          </a:p>
          <a:p>
            <a:pPr lvl="0">
              <a:buFont typeface="Wingdings" pitchFamily="2" charset="2"/>
              <a:buChar char="v"/>
            </a:pPr>
            <a:r>
              <a:rPr lang="en-GB" dirty="0">
                <a:solidFill>
                  <a:srgbClr val="00B0F0"/>
                </a:solidFill>
              </a:rPr>
              <a:t>Plasma albumin levels may fall </a:t>
            </a:r>
            <a:r>
              <a:rPr lang="en-GB" u="sng" dirty="0"/>
              <a:t>due to protein loss</a:t>
            </a:r>
            <a:endParaRPr lang="en-US" u="sng" dirty="0"/>
          </a:p>
          <a:p>
            <a:pPr lvl="0">
              <a:buFont typeface="Wingdings" pitchFamily="2" charset="2"/>
              <a:buChar char="v"/>
            </a:pPr>
            <a:r>
              <a:rPr lang="en-GB" dirty="0"/>
              <a:t>Usually, </a:t>
            </a:r>
            <a:r>
              <a:rPr lang="en-GB" dirty="0">
                <a:solidFill>
                  <a:srgbClr val="00B0F0"/>
                </a:solidFill>
              </a:rPr>
              <a:t>blood eosinophilia occurs</a:t>
            </a:r>
            <a:endParaRPr lang="en-US" dirty="0">
              <a:solidFill>
                <a:srgbClr val="00B0F0"/>
              </a:solidFill>
            </a:endParaRPr>
          </a:p>
          <a:p>
            <a:pPr marL="0" indent="0">
              <a:buNone/>
            </a:pPr>
            <a:endParaRPr lang="en-US" dirty="0"/>
          </a:p>
        </p:txBody>
      </p:sp>
    </p:spTree>
    <p:extLst>
      <p:ext uri="{BB962C8B-B14F-4D97-AF65-F5344CB8AC3E}">
        <p14:creationId xmlns:p14="http://schemas.microsoft.com/office/powerpoint/2010/main" val="3650991231"/>
      </p:ext>
    </p:extLst>
  </p:cSld>
  <p:clrMapOvr>
    <a:masterClrMapping/>
  </p:clrMapOvr>
</p:sld>
</file>

<file path=ppt/slides/slide3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00B050"/>
                </a:solidFill>
              </a:rPr>
              <a:t>Prevention and Control of </a:t>
            </a:r>
            <a:r>
              <a:rPr lang="en-GB" b="1" i="1" dirty="0">
                <a:solidFill>
                  <a:srgbClr val="00B050"/>
                </a:solidFill>
              </a:rPr>
              <a:t>Fasciolopsis buski  </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solidFill>
                  <a:srgbClr val="00B050"/>
                </a:solidFill>
              </a:rPr>
              <a:t>Cooking or treating water plants </a:t>
            </a:r>
            <a:r>
              <a:rPr lang="en-GB" dirty="0"/>
              <a:t>well before eating</a:t>
            </a:r>
            <a:endParaRPr lang="en-US" dirty="0"/>
          </a:p>
          <a:p>
            <a:pPr lvl="0">
              <a:buFont typeface="Wingdings" pitchFamily="2" charset="2"/>
              <a:buChar char="v"/>
            </a:pPr>
            <a:r>
              <a:rPr lang="en-GB" dirty="0">
                <a:solidFill>
                  <a:srgbClr val="00B050"/>
                </a:solidFill>
              </a:rPr>
              <a:t>Identifying faeces contaminated pond or water bodies </a:t>
            </a:r>
            <a:r>
              <a:rPr lang="en-GB" dirty="0"/>
              <a:t>containing edible water plants. Including </a:t>
            </a:r>
            <a:r>
              <a:rPr lang="en-GB" dirty="0">
                <a:solidFill>
                  <a:srgbClr val="00B050"/>
                </a:solidFill>
              </a:rPr>
              <a:t>not irrigating vegetables with such contaminated water</a:t>
            </a:r>
            <a:r>
              <a:rPr lang="en-GB" dirty="0"/>
              <a:t>.</a:t>
            </a:r>
            <a:endParaRPr lang="en-US" dirty="0"/>
          </a:p>
          <a:p>
            <a:pPr lvl="0">
              <a:buFont typeface="Wingdings" pitchFamily="2" charset="2"/>
              <a:buChar char="v"/>
            </a:pPr>
            <a:r>
              <a:rPr lang="en-GB" dirty="0">
                <a:solidFill>
                  <a:srgbClr val="00B050"/>
                </a:solidFill>
              </a:rPr>
              <a:t>Provision of toilet facilities and health education </a:t>
            </a:r>
            <a:r>
              <a:rPr lang="en-GB" u="sng" dirty="0"/>
              <a:t>to prevent eggs from reaching water bodies</a:t>
            </a:r>
            <a:r>
              <a:rPr lang="en-GB" dirty="0"/>
              <a:t>.</a:t>
            </a:r>
            <a:endParaRPr lang="en-US" dirty="0"/>
          </a:p>
          <a:p>
            <a:endParaRPr lang="en-US" dirty="0"/>
          </a:p>
        </p:txBody>
      </p:sp>
    </p:spTree>
    <p:extLst>
      <p:ext uri="{BB962C8B-B14F-4D97-AF65-F5344CB8AC3E}">
        <p14:creationId xmlns:p14="http://schemas.microsoft.com/office/powerpoint/2010/main" val="408823771"/>
      </p:ext>
    </p:extLst>
  </p:cSld>
  <p:clrMapOvr>
    <a:masterClrMapping/>
  </p:clrMapOvr>
</p:sld>
</file>

<file path=ppt/slides/slide3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solidFill>
                  <a:srgbClr val="00B050"/>
                </a:solidFill>
              </a:rPr>
              <a:t>Prevention and Control of </a:t>
            </a:r>
            <a:r>
              <a:rPr lang="en-GB" b="1" i="1" dirty="0">
                <a:solidFill>
                  <a:srgbClr val="00B050"/>
                </a:solidFill>
              </a:rPr>
              <a:t>Fasciolopsis buski  </a:t>
            </a:r>
            <a:r>
              <a:rPr lang="en-GB" b="1" i="1" dirty="0"/>
              <a:t>cont’d</a:t>
            </a:r>
            <a:br>
              <a:rPr lang="en-US" dirty="0"/>
            </a:br>
            <a:endParaRPr lang="en-US" dirty="0"/>
          </a:p>
        </p:txBody>
      </p:sp>
      <p:sp>
        <p:nvSpPr>
          <p:cNvPr id="3" name="Content Placeholder 2"/>
          <p:cNvSpPr>
            <a:spLocks noGrp="1"/>
          </p:cNvSpPr>
          <p:nvPr>
            <p:ph idx="1"/>
          </p:nvPr>
        </p:nvSpPr>
        <p:spPr/>
        <p:txBody>
          <a:bodyPr/>
          <a:lstStyle/>
          <a:p>
            <a:pPr lvl="0"/>
            <a:endParaRPr lang="en-GB" dirty="0"/>
          </a:p>
          <a:p>
            <a:pPr lvl="0">
              <a:buFont typeface="Wingdings" pitchFamily="2" charset="2"/>
              <a:buChar char="v"/>
            </a:pPr>
            <a:r>
              <a:rPr lang="en-GB" dirty="0">
                <a:solidFill>
                  <a:srgbClr val="00B050"/>
                </a:solidFill>
              </a:rPr>
              <a:t>Avoiding use of human/pig faeces as fertilizer</a:t>
            </a:r>
            <a:endParaRPr lang="en-US" dirty="0">
              <a:solidFill>
                <a:srgbClr val="00B050"/>
              </a:solidFill>
            </a:endParaRPr>
          </a:p>
          <a:p>
            <a:pPr lvl="0">
              <a:buFont typeface="Wingdings" pitchFamily="2" charset="2"/>
              <a:buChar char="v"/>
            </a:pPr>
            <a:r>
              <a:rPr lang="en-GB" dirty="0">
                <a:solidFill>
                  <a:srgbClr val="00B050"/>
                </a:solidFill>
              </a:rPr>
              <a:t>Identifying and destroying snail</a:t>
            </a:r>
            <a:r>
              <a:rPr lang="en-GB" dirty="0"/>
              <a:t> intermediate host habitats</a:t>
            </a:r>
            <a:endParaRPr lang="en-US" dirty="0"/>
          </a:p>
          <a:p>
            <a:pPr lvl="0">
              <a:buFont typeface="Wingdings" pitchFamily="2" charset="2"/>
              <a:buChar char="v"/>
            </a:pPr>
            <a:r>
              <a:rPr lang="en-GB" dirty="0"/>
              <a:t>Where possible, </a:t>
            </a:r>
            <a:r>
              <a:rPr lang="en-GB" dirty="0">
                <a:solidFill>
                  <a:srgbClr val="00B050"/>
                </a:solidFill>
              </a:rPr>
              <a:t>clearing water vegetation on which cercariae excyst</a:t>
            </a:r>
            <a:endParaRPr lang="en-US" dirty="0">
              <a:solidFill>
                <a:srgbClr val="00B050"/>
              </a:solidFill>
            </a:endParaRPr>
          </a:p>
          <a:p>
            <a:pPr>
              <a:buFont typeface="Wingdings" pitchFamily="2" charset="2"/>
              <a:buChar char="v"/>
            </a:pPr>
            <a:endParaRPr lang="en-US" dirty="0"/>
          </a:p>
        </p:txBody>
      </p:sp>
    </p:spTree>
    <p:extLst>
      <p:ext uri="{BB962C8B-B14F-4D97-AF65-F5344CB8AC3E}">
        <p14:creationId xmlns:p14="http://schemas.microsoft.com/office/powerpoint/2010/main" val="1865002234"/>
      </p:ext>
    </p:extLst>
  </p:cSld>
  <p:clrMapOvr>
    <a:masterClrMapping/>
  </p:clrMapOvr>
</p:sld>
</file>

<file path=ppt/slides/slide3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 </a:t>
            </a:r>
            <a:r>
              <a:rPr lang="en-GB" b="1" i="1" dirty="0">
                <a:solidFill>
                  <a:srgbClr val="00B050"/>
                </a:solidFill>
              </a:rPr>
              <a:t>Fasciolopsis buski  </a:t>
            </a:r>
            <a:r>
              <a:rPr lang="en-GB" b="1" i="1" dirty="0"/>
              <a:t>cont’d</a:t>
            </a:r>
            <a:endParaRPr lang="en-US" dirty="0"/>
          </a:p>
        </p:txBody>
      </p:sp>
      <p:sp>
        <p:nvSpPr>
          <p:cNvPr id="3" name="Content Placeholder 2"/>
          <p:cNvSpPr>
            <a:spLocks noGrp="1"/>
          </p:cNvSpPr>
          <p:nvPr>
            <p:ph idx="1"/>
          </p:nvPr>
        </p:nvSpPr>
        <p:spPr/>
        <p:txBody>
          <a:bodyPr/>
          <a:lstStyle/>
          <a:p>
            <a:pPr marL="0" indent="0" algn="ctr">
              <a:buNone/>
            </a:pPr>
            <a:r>
              <a:rPr lang="en-GB" b="1" u="sng" dirty="0"/>
              <a:t>Diagnosis</a:t>
            </a:r>
            <a:endParaRPr lang="en-US" u="sng" dirty="0"/>
          </a:p>
          <a:p>
            <a:pPr lvl="0">
              <a:buFont typeface="Wingdings" pitchFamily="2" charset="2"/>
              <a:buChar char="v"/>
            </a:pPr>
            <a:r>
              <a:rPr lang="en-GB" dirty="0">
                <a:solidFill>
                  <a:srgbClr val="00B0F0"/>
                </a:solidFill>
              </a:rPr>
              <a:t>Examination of faeces for eggs and sometimes also the flukes (adults)</a:t>
            </a:r>
            <a:endParaRPr lang="en-US" dirty="0">
              <a:solidFill>
                <a:srgbClr val="00B0F0"/>
              </a:solidFill>
            </a:endParaRPr>
          </a:p>
          <a:p>
            <a:endParaRPr lang="en-US" dirty="0"/>
          </a:p>
        </p:txBody>
      </p:sp>
    </p:spTree>
    <p:extLst>
      <p:ext uri="{BB962C8B-B14F-4D97-AF65-F5344CB8AC3E}">
        <p14:creationId xmlns:p14="http://schemas.microsoft.com/office/powerpoint/2010/main" val="387984134"/>
      </p:ext>
    </p:extLst>
  </p:cSld>
  <p:clrMapOvr>
    <a:masterClrMapping/>
  </p:clrMapOvr>
</p:sld>
</file>

<file path=ppt/slides/slide3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Fasciola hepatica</a:t>
            </a:r>
            <a:r>
              <a:rPr lang="en-GB" b="1" dirty="0">
                <a:solidFill>
                  <a:srgbClr val="00B050"/>
                </a:solidFill>
              </a:rPr>
              <a:t> </a:t>
            </a:r>
            <a:r>
              <a:rPr lang="en-GB" dirty="0"/>
              <a:t>and </a:t>
            </a:r>
            <a:r>
              <a:rPr lang="en-GB" b="1" i="1" dirty="0">
                <a:solidFill>
                  <a:srgbClr val="00B050"/>
                </a:solidFill>
              </a:rPr>
              <a:t>F. gigantica</a:t>
            </a:r>
            <a:br>
              <a:rPr lang="en-US" dirty="0"/>
            </a:b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GB" dirty="0"/>
              <a:t>These are important pathogens of </a:t>
            </a:r>
            <a:r>
              <a:rPr lang="en-GB" dirty="0">
                <a:solidFill>
                  <a:srgbClr val="00B050"/>
                </a:solidFill>
              </a:rPr>
              <a:t>humans</a:t>
            </a:r>
            <a:r>
              <a:rPr lang="en-GB" dirty="0"/>
              <a:t> and other </a:t>
            </a:r>
            <a:r>
              <a:rPr lang="en-GB" dirty="0">
                <a:solidFill>
                  <a:srgbClr val="00B050"/>
                </a:solidFill>
              </a:rPr>
              <a:t>animals</a:t>
            </a:r>
            <a:r>
              <a:rPr lang="en-GB" dirty="0"/>
              <a:t>. </a:t>
            </a:r>
          </a:p>
          <a:p>
            <a:pPr>
              <a:buFont typeface="Wingdings" pitchFamily="2" charset="2"/>
              <a:buChar char="v"/>
            </a:pPr>
            <a:r>
              <a:rPr lang="en-GB" dirty="0"/>
              <a:t>They live in the </a:t>
            </a:r>
            <a:r>
              <a:rPr lang="en-GB" dirty="0">
                <a:solidFill>
                  <a:srgbClr val="00B0F0"/>
                </a:solidFill>
              </a:rPr>
              <a:t>liver</a:t>
            </a:r>
            <a:r>
              <a:rPr lang="en-GB" dirty="0"/>
              <a:t> and </a:t>
            </a:r>
            <a:r>
              <a:rPr lang="en-GB" dirty="0">
                <a:solidFill>
                  <a:srgbClr val="00B0F0"/>
                </a:solidFill>
              </a:rPr>
              <a:t>bile ducts </a:t>
            </a:r>
            <a:r>
              <a:rPr lang="en-GB" dirty="0"/>
              <a:t>of </a:t>
            </a:r>
            <a:r>
              <a:rPr lang="en-GB" dirty="0">
                <a:solidFill>
                  <a:srgbClr val="00B050"/>
                </a:solidFill>
              </a:rPr>
              <a:t>sheep</a:t>
            </a:r>
            <a:r>
              <a:rPr lang="en-GB" dirty="0"/>
              <a:t>, </a:t>
            </a:r>
            <a:r>
              <a:rPr lang="en-GB" dirty="0">
                <a:solidFill>
                  <a:srgbClr val="00B050"/>
                </a:solidFill>
              </a:rPr>
              <a:t>cattle</a:t>
            </a:r>
            <a:r>
              <a:rPr lang="en-GB" dirty="0"/>
              <a:t> and other animals, and cause </a:t>
            </a:r>
            <a:r>
              <a:rPr lang="en-GB" dirty="0">
                <a:solidFill>
                  <a:srgbClr val="FF0000"/>
                </a:solidFill>
              </a:rPr>
              <a:t>liver rot</a:t>
            </a:r>
            <a:r>
              <a:rPr lang="en-GB" dirty="0"/>
              <a:t>.</a:t>
            </a:r>
            <a:endParaRPr lang="en-US" dirty="0"/>
          </a:p>
          <a:p>
            <a:pPr lvl="0">
              <a:buFont typeface="Wingdings" pitchFamily="2" charset="2"/>
              <a:buChar char="v"/>
            </a:pPr>
            <a:r>
              <a:rPr lang="en-GB" i="1" dirty="0">
                <a:solidFill>
                  <a:srgbClr val="00B050"/>
                </a:solidFill>
              </a:rPr>
              <a:t>F. gigantica</a:t>
            </a:r>
            <a:r>
              <a:rPr lang="en-GB" dirty="0">
                <a:solidFill>
                  <a:srgbClr val="00B050"/>
                </a:solidFill>
              </a:rPr>
              <a:t> </a:t>
            </a:r>
            <a:r>
              <a:rPr lang="en-GB" dirty="0"/>
              <a:t>infections in </a:t>
            </a:r>
            <a:r>
              <a:rPr lang="en-GB" dirty="0">
                <a:solidFill>
                  <a:srgbClr val="00B050"/>
                </a:solidFill>
              </a:rPr>
              <a:t>cattle</a:t>
            </a:r>
            <a:r>
              <a:rPr lang="en-GB" dirty="0"/>
              <a:t> </a:t>
            </a:r>
            <a:r>
              <a:rPr lang="en-GB" u="sng" dirty="0"/>
              <a:t>cause gigantic economic loss</a:t>
            </a:r>
            <a:r>
              <a:rPr lang="en-GB" dirty="0"/>
              <a:t>. </a:t>
            </a:r>
          </a:p>
          <a:p>
            <a:pPr lvl="0">
              <a:buFont typeface="Wingdings" pitchFamily="2" charset="2"/>
              <a:buChar char="v"/>
            </a:pPr>
            <a:r>
              <a:rPr lang="en-GB" dirty="0"/>
              <a:t>Human infections are occasional, leading to the disease </a:t>
            </a:r>
            <a:r>
              <a:rPr lang="en-GB" dirty="0">
                <a:solidFill>
                  <a:srgbClr val="FF0000"/>
                </a:solidFill>
              </a:rPr>
              <a:t>Fascioliasis</a:t>
            </a:r>
            <a:r>
              <a:rPr lang="en-GB" dirty="0"/>
              <a:t>.</a:t>
            </a:r>
            <a:r>
              <a:rPr lang="en-GB" i="1" dirty="0"/>
              <a:t> </a:t>
            </a:r>
            <a:r>
              <a:rPr lang="en-GB" i="1" dirty="0">
                <a:solidFill>
                  <a:srgbClr val="00B050"/>
                </a:solidFill>
              </a:rPr>
              <a:t>F. hepatica</a:t>
            </a:r>
            <a:r>
              <a:rPr lang="en-GB" dirty="0"/>
              <a:t> </a:t>
            </a:r>
            <a:r>
              <a:rPr lang="en-GB" u="sng" dirty="0"/>
              <a:t>infection is </a:t>
            </a:r>
            <a:r>
              <a:rPr lang="en-GB" b="1" u="sng" dirty="0"/>
              <a:t>more common </a:t>
            </a:r>
            <a:r>
              <a:rPr lang="en-GB" u="sng" dirty="0"/>
              <a:t>than that of</a:t>
            </a:r>
            <a:r>
              <a:rPr lang="en-GB" dirty="0"/>
              <a:t> </a:t>
            </a:r>
            <a:r>
              <a:rPr lang="en-GB" i="1" dirty="0">
                <a:solidFill>
                  <a:srgbClr val="00B050"/>
                </a:solidFill>
              </a:rPr>
              <a:t>F. gigantica</a:t>
            </a:r>
            <a:endParaRPr lang="en-US" dirty="0">
              <a:solidFill>
                <a:srgbClr val="00B050"/>
              </a:solidFill>
            </a:endParaRPr>
          </a:p>
          <a:p>
            <a:endParaRPr lang="en-US" dirty="0"/>
          </a:p>
        </p:txBody>
      </p:sp>
    </p:spTree>
    <p:extLst>
      <p:ext uri="{BB962C8B-B14F-4D97-AF65-F5344CB8AC3E}">
        <p14:creationId xmlns:p14="http://schemas.microsoft.com/office/powerpoint/2010/main" val="1637568320"/>
      </p:ext>
    </p:extLst>
  </p:cSld>
  <p:clrMapOvr>
    <a:masterClrMapping/>
  </p:clrMapOvr>
</p:sld>
</file>

<file path=ppt/slides/slide3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Fasciola hepatica</a:t>
            </a:r>
            <a:r>
              <a:rPr lang="en-GB" b="1" dirty="0">
                <a:solidFill>
                  <a:srgbClr val="00B050"/>
                </a:solidFill>
              </a:rPr>
              <a:t> </a:t>
            </a:r>
            <a:r>
              <a:rPr lang="en-GB" dirty="0"/>
              <a:t>and </a:t>
            </a:r>
            <a:r>
              <a:rPr lang="en-GB" b="1" i="1" dirty="0">
                <a:solidFill>
                  <a:srgbClr val="00B050"/>
                </a:solidFill>
              </a:rPr>
              <a:t>F. gigantica</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GB" b="1" u="sng" dirty="0"/>
              <a:t>Distribution</a:t>
            </a:r>
            <a:endParaRPr lang="en-US" u="sng" dirty="0"/>
          </a:p>
          <a:p>
            <a:pPr lvl="0">
              <a:buFont typeface="Wingdings" pitchFamily="2" charset="2"/>
              <a:buChar char="v"/>
            </a:pPr>
            <a:r>
              <a:rPr lang="en-GB" b="1" i="1" dirty="0">
                <a:solidFill>
                  <a:srgbClr val="00B050"/>
                </a:solidFill>
              </a:rPr>
              <a:t>F. gigantica</a:t>
            </a:r>
            <a:r>
              <a:rPr lang="en-GB" b="1" dirty="0">
                <a:solidFill>
                  <a:srgbClr val="00B050"/>
                </a:solidFill>
              </a:rPr>
              <a:t> </a:t>
            </a:r>
            <a:r>
              <a:rPr lang="en-GB" dirty="0"/>
              <a:t>is found mainly in </a:t>
            </a:r>
            <a:r>
              <a:rPr lang="en-GB" dirty="0">
                <a:solidFill>
                  <a:srgbClr val="00B0F0"/>
                </a:solidFill>
              </a:rPr>
              <a:t>Africa </a:t>
            </a:r>
            <a:r>
              <a:rPr lang="en-GB" dirty="0"/>
              <a:t>and the </a:t>
            </a:r>
            <a:r>
              <a:rPr lang="en-GB" dirty="0">
                <a:solidFill>
                  <a:srgbClr val="00B0F0"/>
                </a:solidFill>
              </a:rPr>
              <a:t>Far East </a:t>
            </a:r>
            <a:r>
              <a:rPr lang="en-GB" dirty="0"/>
              <a:t>with </a:t>
            </a:r>
            <a:r>
              <a:rPr lang="en-GB" dirty="0">
                <a:solidFill>
                  <a:schemeClr val="accent6">
                    <a:lumMod val="75000"/>
                  </a:schemeClr>
                </a:solidFill>
              </a:rPr>
              <a:t>cattle</a:t>
            </a:r>
            <a:r>
              <a:rPr lang="en-GB" dirty="0"/>
              <a:t>, </a:t>
            </a:r>
            <a:r>
              <a:rPr lang="en-GB" dirty="0">
                <a:solidFill>
                  <a:schemeClr val="accent6">
                    <a:lumMod val="75000"/>
                  </a:schemeClr>
                </a:solidFill>
              </a:rPr>
              <a:t>camels</a:t>
            </a:r>
            <a:r>
              <a:rPr lang="en-GB" dirty="0"/>
              <a:t> and </a:t>
            </a:r>
            <a:r>
              <a:rPr lang="en-GB" dirty="0">
                <a:solidFill>
                  <a:schemeClr val="accent6">
                    <a:lumMod val="75000"/>
                  </a:schemeClr>
                </a:solidFill>
              </a:rPr>
              <a:t>water buffaloes</a:t>
            </a:r>
            <a:r>
              <a:rPr lang="en-GB" dirty="0"/>
              <a:t> being more infected</a:t>
            </a:r>
            <a:endParaRPr lang="en-US" dirty="0"/>
          </a:p>
          <a:p>
            <a:pPr lvl="0">
              <a:buFont typeface="Wingdings" pitchFamily="2" charset="2"/>
              <a:buChar char="v"/>
            </a:pPr>
            <a:r>
              <a:rPr lang="en-GB" b="1" i="1" dirty="0">
                <a:solidFill>
                  <a:srgbClr val="00B050"/>
                </a:solidFill>
              </a:rPr>
              <a:t>F. hepatica</a:t>
            </a:r>
            <a:r>
              <a:rPr lang="en-GB" b="1" dirty="0">
                <a:solidFill>
                  <a:srgbClr val="00B050"/>
                </a:solidFill>
              </a:rPr>
              <a:t> </a:t>
            </a:r>
            <a:r>
              <a:rPr lang="en-GB" dirty="0"/>
              <a:t>is worldwide but especially found in </a:t>
            </a:r>
            <a:r>
              <a:rPr lang="en-GB" dirty="0">
                <a:solidFill>
                  <a:srgbClr val="00B0F0"/>
                </a:solidFill>
              </a:rPr>
              <a:t>temperate countries</a:t>
            </a:r>
            <a:r>
              <a:rPr lang="en-GB" dirty="0"/>
              <a:t>. </a:t>
            </a:r>
          </a:p>
          <a:p>
            <a:pPr lvl="0">
              <a:buFont typeface="Wingdings" pitchFamily="2" charset="2"/>
              <a:buChar char="v"/>
            </a:pPr>
            <a:r>
              <a:rPr lang="en-GB" dirty="0"/>
              <a:t>It is also found in </a:t>
            </a:r>
            <a:r>
              <a:rPr lang="en-GB" dirty="0">
                <a:solidFill>
                  <a:srgbClr val="00B0F0"/>
                </a:solidFill>
              </a:rPr>
              <a:t>S. America</a:t>
            </a:r>
            <a:r>
              <a:rPr lang="en-GB" dirty="0"/>
              <a:t>, </a:t>
            </a:r>
            <a:r>
              <a:rPr lang="en-GB" dirty="0">
                <a:solidFill>
                  <a:srgbClr val="00B0F0"/>
                </a:solidFill>
              </a:rPr>
              <a:t>Cuba</a:t>
            </a:r>
            <a:r>
              <a:rPr lang="en-GB" dirty="0"/>
              <a:t> and </a:t>
            </a:r>
            <a:r>
              <a:rPr lang="en-GB" dirty="0">
                <a:solidFill>
                  <a:srgbClr val="00B0F0"/>
                </a:solidFill>
              </a:rPr>
              <a:t>Africa</a:t>
            </a:r>
            <a:r>
              <a:rPr lang="en-GB" dirty="0"/>
              <a:t> with </a:t>
            </a:r>
            <a:r>
              <a:rPr lang="en-GB" dirty="0">
                <a:solidFill>
                  <a:schemeClr val="accent6">
                    <a:lumMod val="75000"/>
                  </a:schemeClr>
                </a:solidFill>
              </a:rPr>
              <a:t>sheep</a:t>
            </a:r>
            <a:r>
              <a:rPr lang="en-GB" dirty="0"/>
              <a:t>, </a:t>
            </a:r>
            <a:r>
              <a:rPr lang="en-GB" dirty="0">
                <a:solidFill>
                  <a:schemeClr val="accent6">
                    <a:lumMod val="75000"/>
                  </a:schemeClr>
                </a:solidFill>
              </a:rPr>
              <a:t>cattle</a:t>
            </a:r>
            <a:r>
              <a:rPr lang="en-GB" dirty="0"/>
              <a:t> and other herbivores being commonly infected.</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1650489953"/>
      </p:ext>
    </p:extLst>
  </p:cSld>
  <p:clrMapOvr>
    <a:masterClrMapping/>
  </p:clrMapOvr>
</p:sld>
</file>

<file path=ppt/slides/slide3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Fasciola hepatica</a:t>
            </a:r>
            <a:r>
              <a:rPr lang="en-GB" b="1" dirty="0">
                <a:solidFill>
                  <a:srgbClr val="00B050"/>
                </a:solidFill>
              </a:rPr>
              <a:t> </a:t>
            </a:r>
            <a:r>
              <a:rPr lang="en-GB" dirty="0"/>
              <a:t>and </a:t>
            </a:r>
            <a:r>
              <a:rPr lang="en-GB" b="1" i="1" dirty="0">
                <a:solidFill>
                  <a:srgbClr val="00B050"/>
                </a:solidFill>
              </a:rPr>
              <a:t>F. gigantica</a:t>
            </a:r>
            <a:br>
              <a:rPr lang="en-US" dirty="0"/>
            </a:br>
            <a:endParaRPr lang="en-US" dirty="0"/>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pPr marL="0" indent="0" algn="ctr">
              <a:buNone/>
            </a:pPr>
            <a:r>
              <a:rPr lang="en-GB" b="1" u="sng" dirty="0"/>
              <a:t>Transmission</a:t>
            </a:r>
            <a:endParaRPr lang="en-US" u="sng" dirty="0"/>
          </a:p>
          <a:p>
            <a:pPr lvl="0">
              <a:buFont typeface="Wingdings" pitchFamily="2" charset="2"/>
              <a:buChar char="v"/>
            </a:pPr>
            <a:r>
              <a:rPr lang="en-GB" dirty="0"/>
              <a:t>Caused by </a:t>
            </a:r>
            <a:r>
              <a:rPr lang="en-GB" dirty="0">
                <a:solidFill>
                  <a:srgbClr val="00B0F0"/>
                </a:solidFill>
              </a:rPr>
              <a:t>eating wild watercress or edible aquatic vegetation </a:t>
            </a:r>
            <a:r>
              <a:rPr lang="en-GB" dirty="0"/>
              <a:t>on which </a:t>
            </a:r>
            <a:r>
              <a:rPr lang="en-GB" dirty="0">
                <a:solidFill>
                  <a:srgbClr val="C00000"/>
                </a:solidFill>
              </a:rPr>
              <a:t>metacercariae</a:t>
            </a:r>
            <a:r>
              <a:rPr lang="en-GB" dirty="0"/>
              <a:t> </a:t>
            </a:r>
            <a:r>
              <a:rPr lang="en-GB" u="sng" dirty="0"/>
              <a:t>encyst.</a:t>
            </a:r>
            <a:endParaRPr lang="en-US" u="sng" dirty="0"/>
          </a:p>
          <a:p>
            <a:pPr marL="0" indent="0" algn="ctr">
              <a:buNone/>
            </a:pPr>
            <a:r>
              <a:rPr lang="en-GB" b="1" u="sng" dirty="0"/>
              <a:t>Life cycle</a:t>
            </a:r>
            <a:endParaRPr lang="en-US" u="sng" dirty="0"/>
          </a:p>
          <a:p>
            <a:pPr lvl="0">
              <a:buFont typeface="Wingdings" pitchFamily="2" charset="2"/>
              <a:buChar char="v"/>
            </a:pPr>
            <a:r>
              <a:rPr lang="en-GB" dirty="0"/>
              <a:t>After intake, </a:t>
            </a:r>
            <a:r>
              <a:rPr lang="en-GB" dirty="0">
                <a:solidFill>
                  <a:srgbClr val="C00000"/>
                </a:solidFill>
              </a:rPr>
              <a:t>metacercariae</a:t>
            </a:r>
            <a:r>
              <a:rPr lang="en-GB" dirty="0"/>
              <a:t> </a:t>
            </a:r>
            <a:r>
              <a:rPr lang="en-GB" u="sng" dirty="0"/>
              <a:t>excyst in the </a:t>
            </a:r>
            <a:r>
              <a:rPr lang="en-GB" u="sng" dirty="0">
                <a:solidFill>
                  <a:srgbClr val="0070C0"/>
                </a:solidFill>
              </a:rPr>
              <a:t>duodenum</a:t>
            </a:r>
            <a:r>
              <a:rPr lang="en-GB" dirty="0">
                <a:solidFill>
                  <a:srgbClr val="0070C0"/>
                </a:solidFill>
              </a:rPr>
              <a:t> </a:t>
            </a:r>
            <a:r>
              <a:rPr lang="en-GB" dirty="0"/>
              <a:t>and </a:t>
            </a:r>
            <a:r>
              <a:rPr lang="en-GB" u="sng" dirty="0"/>
              <a:t>the young flukes migrate through the </a:t>
            </a:r>
            <a:r>
              <a:rPr lang="en-GB" u="sng" dirty="0">
                <a:solidFill>
                  <a:srgbClr val="0070C0"/>
                </a:solidFill>
              </a:rPr>
              <a:t>intestinal wall </a:t>
            </a:r>
            <a:r>
              <a:rPr lang="en-GB" u="sng" dirty="0"/>
              <a:t>into the </a:t>
            </a:r>
            <a:r>
              <a:rPr lang="en-GB" u="sng" dirty="0">
                <a:solidFill>
                  <a:srgbClr val="0070C0"/>
                </a:solidFill>
              </a:rPr>
              <a:t>peritoneal cavity </a:t>
            </a:r>
            <a:r>
              <a:rPr lang="en-GB" u="sng" dirty="0"/>
              <a:t>and reach the </a:t>
            </a:r>
            <a:r>
              <a:rPr lang="en-GB" u="sng" dirty="0">
                <a:solidFill>
                  <a:srgbClr val="0070C0"/>
                </a:solidFill>
              </a:rPr>
              <a:t>bile ducts of the liver </a:t>
            </a:r>
            <a:r>
              <a:rPr lang="en-GB" u="sng" dirty="0"/>
              <a:t>by penetrating through the </a:t>
            </a:r>
            <a:r>
              <a:rPr lang="en-GB" u="sng" dirty="0">
                <a:solidFill>
                  <a:srgbClr val="0070C0"/>
                </a:solidFill>
              </a:rPr>
              <a:t>liver capsule</a:t>
            </a:r>
            <a:endParaRPr lang="en-US" u="sng" dirty="0">
              <a:solidFill>
                <a:srgbClr val="0070C0"/>
              </a:solidFill>
            </a:endParaRPr>
          </a:p>
          <a:p>
            <a:endParaRPr lang="en-US" dirty="0"/>
          </a:p>
        </p:txBody>
      </p:sp>
    </p:spTree>
    <p:extLst>
      <p:ext uri="{BB962C8B-B14F-4D97-AF65-F5344CB8AC3E}">
        <p14:creationId xmlns:p14="http://schemas.microsoft.com/office/powerpoint/2010/main" val="4026554832"/>
      </p:ext>
    </p:extLst>
  </p:cSld>
  <p:clrMapOvr>
    <a:masterClrMapping/>
  </p:clrMapOvr>
</p:sld>
</file>

<file path=ppt/slides/slide3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 </a:t>
            </a:r>
            <a:br>
              <a:rPr lang="en-GB" b="1" dirty="0"/>
            </a:br>
            <a:r>
              <a:rPr lang="en-GB" b="1" u="sng" dirty="0"/>
              <a:t>Life cycle </a:t>
            </a:r>
            <a:r>
              <a:rPr lang="en-GB" b="1" dirty="0"/>
              <a:t>cont’d</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dirty="0"/>
              <a:t>3-4 months after the infection, </a:t>
            </a:r>
            <a:r>
              <a:rPr lang="en-GB" u="sng" dirty="0">
                <a:solidFill>
                  <a:srgbClr val="C00000"/>
                </a:solidFill>
              </a:rPr>
              <a:t>eggs</a:t>
            </a:r>
            <a:r>
              <a:rPr lang="en-GB" u="sng" dirty="0"/>
              <a:t> are </a:t>
            </a:r>
            <a:r>
              <a:rPr lang="en-GB" u="sng" dirty="0">
                <a:solidFill>
                  <a:srgbClr val="00B0F0"/>
                </a:solidFill>
              </a:rPr>
              <a:t>passed in the faeces</a:t>
            </a:r>
            <a:r>
              <a:rPr lang="en-GB" u="sng" dirty="0"/>
              <a:t>, these hatch in 1-2 weeks </a:t>
            </a:r>
            <a:r>
              <a:rPr lang="en-GB" u="sng" dirty="0">
                <a:solidFill>
                  <a:srgbClr val="00B0F0"/>
                </a:solidFill>
              </a:rPr>
              <a:t>in water </a:t>
            </a:r>
            <a:r>
              <a:rPr lang="en-GB" u="sng" dirty="0"/>
              <a:t>into </a:t>
            </a:r>
            <a:r>
              <a:rPr lang="en-GB" u="sng" dirty="0">
                <a:solidFill>
                  <a:srgbClr val="C00000"/>
                </a:solidFill>
              </a:rPr>
              <a:t>miracidia</a:t>
            </a:r>
            <a:r>
              <a:rPr lang="en-GB" u="sng" dirty="0"/>
              <a:t> which enter the appropriate </a:t>
            </a:r>
            <a:r>
              <a:rPr lang="en-GB" u="sng" dirty="0">
                <a:solidFill>
                  <a:srgbClr val="00B050"/>
                </a:solidFill>
              </a:rPr>
              <a:t>snail host</a:t>
            </a:r>
            <a:r>
              <a:rPr lang="en-GB" dirty="0"/>
              <a:t>, </a:t>
            </a:r>
            <a:r>
              <a:rPr lang="en-GB" dirty="0">
                <a:solidFill>
                  <a:srgbClr val="7030A0"/>
                </a:solidFill>
              </a:rPr>
              <a:t>genus </a:t>
            </a:r>
            <a:r>
              <a:rPr lang="en-GB" i="1" dirty="0">
                <a:solidFill>
                  <a:srgbClr val="7030A0"/>
                </a:solidFill>
              </a:rPr>
              <a:t>Lymnaea</a:t>
            </a:r>
            <a:endParaRPr lang="en-US" dirty="0">
              <a:solidFill>
                <a:srgbClr val="7030A0"/>
              </a:solidFill>
            </a:endParaRPr>
          </a:p>
          <a:p>
            <a:pPr lvl="0">
              <a:buFont typeface="Wingdings" pitchFamily="2" charset="2"/>
              <a:buChar char="v"/>
            </a:pPr>
            <a:r>
              <a:rPr lang="en-GB" b="1" i="1" dirty="0"/>
              <a:t>The </a:t>
            </a:r>
            <a:r>
              <a:rPr lang="en-GB" dirty="0">
                <a:solidFill>
                  <a:srgbClr val="00B050"/>
                </a:solidFill>
              </a:rPr>
              <a:t>species of snails </a:t>
            </a:r>
            <a:r>
              <a:rPr lang="en-GB" b="1" dirty="0"/>
              <a:t>which are the </a:t>
            </a:r>
            <a:r>
              <a:rPr lang="en-GB" b="1" dirty="0">
                <a:solidFill>
                  <a:srgbClr val="00B0F0"/>
                </a:solidFill>
              </a:rPr>
              <a:t>intermediate hosts </a:t>
            </a:r>
            <a:r>
              <a:rPr lang="en-GB" b="1" dirty="0"/>
              <a:t>of </a:t>
            </a:r>
            <a:r>
              <a:rPr lang="en-GB" b="1" i="1" dirty="0">
                <a:solidFill>
                  <a:srgbClr val="00B050"/>
                </a:solidFill>
              </a:rPr>
              <a:t>F. gigantica</a:t>
            </a:r>
            <a:r>
              <a:rPr lang="en-GB" b="1" dirty="0">
                <a:solidFill>
                  <a:srgbClr val="00B050"/>
                </a:solidFill>
              </a:rPr>
              <a:t> </a:t>
            </a:r>
            <a:r>
              <a:rPr lang="en-GB" b="1" dirty="0"/>
              <a:t>are </a:t>
            </a:r>
            <a:r>
              <a:rPr lang="en-GB" b="1" dirty="0">
                <a:solidFill>
                  <a:schemeClr val="accent6">
                    <a:lumMod val="75000"/>
                  </a:schemeClr>
                </a:solidFill>
              </a:rPr>
              <a:t>aquatic</a:t>
            </a:r>
            <a:r>
              <a:rPr lang="en-GB" b="1" dirty="0"/>
              <a:t> whereas those of </a:t>
            </a:r>
            <a:r>
              <a:rPr lang="en-GB" b="1" i="1" dirty="0">
                <a:solidFill>
                  <a:srgbClr val="00B050"/>
                </a:solidFill>
              </a:rPr>
              <a:t>F. hepatica</a:t>
            </a:r>
            <a:r>
              <a:rPr lang="en-GB" b="1" dirty="0">
                <a:solidFill>
                  <a:srgbClr val="00B050"/>
                </a:solidFill>
              </a:rPr>
              <a:t> </a:t>
            </a:r>
            <a:r>
              <a:rPr lang="en-GB" b="1" dirty="0"/>
              <a:t>are </a:t>
            </a:r>
            <a:r>
              <a:rPr lang="en-GB" b="1" dirty="0">
                <a:solidFill>
                  <a:schemeClr val="accent6">
                    <a:lumMod val="75000"/>
                  </a:schemeClr>
                </a:solidFill>
              </a:rPr>
              <a:t>amphibious</a:t>
            </a:r>
            <a:endParaRPr lang="en-US" dirty="0">
              <a:solidFill>
                <a:schemeClr val="accent6">
                  <a:lumMod val="75000"/>
                </a:schemeClr>
              </a:solidFill>
            </a:endParaRPr>
          </a:p>
        </p:txBody>
      </p:sp>
    </p:spTree>
    <p:extLst>
      <p:ext uri="{BB962C8B-B14F-4D97-AF65-F5344CB8AC3E}">
        <p14:creationId xmlns:p14="http://schemas.microsoft.com/office/powerpoint/2010/main" val="2933339767"/>
      </p:ext>
    </p:extLst>
  </p:cSld>
  <p:clrMapOvr>
    <a:masterClrMapping/>
  </p:clrMapOvr>
</p:sld>
</file>

<file path=ppt/slides/slide3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 </a:t>
            </a:r>
            <a:br>
              <a:rPr lang="en-GB" b="1" dirty="0"/>
            </a:br>
            <a:r>
              <a:rPr lang="en-GB" b="1" u="sng" dirty="0"/>
              <a:t>Life cycle </a:t>
            </a:r>
            <a:r>
              <a:rPr lang="en-GB" b="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solidFill>
                  <a:srgbClr val="C00000"/>
                </a:solidFill>
              </a:rPr>
              <a:t>Miracidia</a:t>
            </a:r>
            <a:r>
              <a:rPr lang="en-GB" dirty="0"/>
              <a:t> develop into </a:t>
            </a:r>
            <a:r>
              <a:rPr lang="en-GB" dirty="0">
                <a:solidFill>
                  <a:srgbClr val="C00000"/>
                </a:solidFill>
              </a:rPr>
              <a:t>sporocysts</a:t>
            </a:r>
            <a:r>
              <a:rPr lang="en-GB" dirty="0"/>
              <a:t> </a:t>
            </a:r>
            <a:r>
              <a:rPr lang="en-GB" u="sng" dirty="0"/>
              <a:t>within the </a:t>
            </a:r>
            <a:r>
              <a:rPr lang="en-GB" u="sng" dirty="0">
                <a:solidFill>
                  <a:srgbClr val="00B050"/>
                </a:solidFill>
              </a:rPr>
              <a:t>snail</a:t>
            </a:r>
            <a:r>
              <a:rPr lang="en-GB" dirty="0">
                <a:solidFill>
                  <a:srgbClr val="00B050"/>
                </a:solidFill>
              </a:rPr>
              <a:t> </a:t>
            </a:r>
            <a:r>
              <a:rPr lang="en-GB" dirty="0"/>
              <a:t>and </a:t>
            </a:r>
            <a:r>
              <a:rPr lang="en-GB" dirty="0">
                <a:solidFill>
                  <a:srgbClr val="C00000"/>
                </a:solidFill>
              </a:rPr>
              <a:t>sporocysts </a:t>
            </a:r>
            <a:r>
              <a:rPr lang="en-GB" u="sng" dirty="0"/>
              <a:t>produce generations of </a:t>
            </a:r>
            <a:r>
              <a:rPr lang="en-GB" u="sng" dirty="0">
                <a:solidFill>
                  <a:srgbClr val="C00000"/>
                </a:solidFill>
              </a:rPr>
              <a:t>rediae</a:t>
            </a:r>
            <a:r>
              <a:rPr lang="en-GB" dirty="0"/>
              <a:t> and finally </a:t>
            </a:r>
            <a:r>
              <a:rPr lang="en-GB" dirty="0">
                <a:solidFill>
                  <a:srgbClr val="C00000"/>
                </a:solidFill>
              </a:rPr>
              <a:t>cercariae</a:t>
            </a:r>
            <a:r>
              <a:rPr lang="en-GB" dirty="0"/>
              <a:t>, </a:t>
            </a:r>
            <a:r>
              <a:rPr lang="en-GB" u="sng" dirty="0"/>
              <a:t>which are shed by the</a:t>
            </a:r>
            <a:r>
              <a:rPr lang="en-GB" dirty="0"/>
              <a:t> </a:t>
            </a:r>
            <a:r>
              <a:rPr lang="en-GB" dirty="0">
                <a:solidFill>
                  <a:srgbClr val="00B050"/>
                </a:solidFill>
              </a:rPr>
              <a:t>snail</a:t>
            </a:r>
            <a:r>
              <a:rPr lang="en-GB" dirty="0"/>
              <a:t> and </a:t>
            </a:r>
            <a:r>
              <a:rPr lang="en-GB" u="sng" dirty="0"/>
              <a:t>encyst on </a:t>
            </a:r>
            <a:r>
              <a:rPr lang="en-GB" dirty="0">
                <a:solidFill>
                  <a:srgbClr val="00B050"/>
                </a:solidFill>
              </a:rPr>
              <a:t>water vegetation </a:t>
            </a:r>
            <a:r>
              <a:rPr lang="en-GB" dirty="0"/>
              <a:t>or </a:t>
            </a:r>
            <a:r>
              <a:rPr lang="en-GB" dirty="0">
                <a:solidFill>
                  <a:srgbClr val="00B050"/>
                </a:solidFill>
              </a:rPr>
              <a:t>grass</a:t>
            </a:r>
            <a:r>
              <a:rPr lang="en-GB" dirty="0"/>
              <a:t>.</a:t>
            </a:r>
            <a:endParaRPr lang="en-US" dirty="0"/>
          </a:p>
          <a:p>
            <a:endParaRPr lang="en-US" dirty="0"/>
          </a:p>
          <a:p>
            <a:endParaRPr lang="en-US" dirty="0"/>
          </a:p>
        </p:txBody>
      </p:sp>
    </p:spTree>
    <p:extLst>
      <p:ext uri="{BB962C8B-B14F-4D97-AF65-F5344CB8AC3E}">
        <p14:creationId xmlns:p14="http://schemas.microsoft.com/office/powerpoint/2010/main" val="3425571164"/>
      </p:ext>
    </p:extLst>
  </p:cSld>
  <p:clrMapOvr>
    <a:masterClrMapping/>
  </p:clrMapOvr>
</p:sld>
</file>

<file path=ppt/slides/slide3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u="sng" dirty="0"/>
            </a:br>
            <a:r>
              <a:rPr lang="en-GB" b="1" u="sng" dirty="0"/>
              <a:t>Symptoms and Pathology</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b="1" dirty="0"/>
              <a:t>Light infections </a:t>
            </a:r>
            <a:r>
              <a:rPr lang="en-GB" dirty="0"/>
              <a:t>are usually </a:t>
            </a:r>
            <a:r>
              <a:rPr lang="en-GB" dirty="0">
                <a:solidFill>
                  <a:srgbClr val="00B0F0"/>
                </a:solidFill>
              </a:rPr>
              <a:t>without symptoms</a:t>
            </a:r>
            <a:r>
              <a:rPr lang="en-GB" dirty="0"/>
              <a:t>; </a:t>
            </a:r>
            <a:r>
              <a:rPr lang="en-GB" b="1" dirty="0"/>
              <a:t>heavy infections </a:t>
            </a:r>
            <a:r>
              <a:rPr lang="en-GB" dirty="0"/>
              <a:t>cause </a:t>
            </a:r>
            <a:r>
              <a:rPr lang="en-GB" dirty="0">
                <a:solidFill>
                  <a:srgbClr val="FF0000"/>
                </a:solidFill>
              </a:rPr>
              <a:t>liver damage</a:t>
            </a:r>
            <a:r>
              <a:rPr lang="en-GB" dirty="0"/>
              <a:t>,</a:t>
            </a:r>
            <a:r>
              <a:rPr lang="en-GB" u="sng" dirty="0"/>
              <a:t> especially during the migratory phase</a:t>
            </a:r>
            <a:endParaRPr lang="en-US" u="sng" dirty="0"/>
          </a:p>
          <a:p>
            <a:pPr lvl="0">
              <a:buFont typeface="Wingdings" pitchFamily="2" charset="2"/>
              <a:buChar char="v"/>
            </a:pPr>
            <a:r>
              <a:rPr lang="en-GB" b="1" dirty="0"/>
              <a:t>Chronic infections </a:t>
            </a:r>
            <a:r>
              <a:rPr lang="en-GB" dirty="0"/>
              <a:t>lead to </a:t>
            </a:r>
            <a:r>
              <a:rPr lang="en-GB" dirty="0">
                <a:solidFill>
                  <a:srgbClr val="FF0000"/>
                </a:solidFill>
              </a:rPr>
              <a:t>thickening of the bile ducts</a:t>
            </a:r>
            <a:r>
              <a:rPr lang="en-GB" dirty="0"/>
              <a:t> </a:t>
            </a:r>
            <a:r>
              <a:rPr lang="en-GB" u="sng" dirty="0"/>
              <a:t>due to a cellular response by the host</a:t>
            </a:r>
            <a:endParaRPr lang="en-US" u="sng" dirty="0"/>
          </a:p>
          <a:p>
            <a:pPr lvl="0">
              <a:buFont typeface="Wingdings" pitchFamily="2" charset="2"/>
              <a:buChar char="v"/>
            </a:pPr>
            <a:r>
              <a:rPr lang="en-GB" dirty="0">
                <a:solidFill>
                  <a:srgbClr val="7030A0"/>
                </a:solidFill>
              </a:rPr>
              <a:t>The worms may develop in other parts of the body</a:t>
            </a:r>
            <a:endParaRPr lang="en-US" dirty="0">
              <a:solidFill>
                <a:srgbClr val="7030A0"/>
              </a:solidFill>
            </a:endParaRPr>
          </a:p>
        </p:txBody>
      </p:sp>
    </p:spTree>
    <p:extLst>
      <p:ext uri="{BB962C8B-B14F-4D97-AF65-F5344CB8AC3E}">
        <p14:creationId xmlns:p14="http://schemas.microsoft.com/office/powerpoint/2010/main" val="881253994"/>
      </p:ext>
    </p:extLst>
  </p:cSld>
  <p:clrMapOvr>
    <a:masterClrMapping/>
  </p:clrMapOvr>
</p:sld>
</file>

<file path=ppt/slides/slide3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u="sng" dirty="0"/>
              <a:t>Symptoms and Pathology</a:t>
            </a:r>
            <a:r>
              <a:rPr lang="en-US" dirty="0"/>
              <a:t> cont’d</a:t>
            </a:r>
          </a:p>
        </p:txBody>
      </p:sp>
      <p:sp>
        <p:nvSpPr>
          <p:cNvPr id="3" name="Content Placeholder 2"/>
          <p:cNvSpPr>
            <a:spLocks noGrp="1"/>
          </p:cNvSpPr>
          <p:nvPr>
            <p:ph idx="1"/>
          </p:nvPr>
        </p:nvSpPr>
        <p:spPr/>
        <p:txBody>
          <a:bodyPr/>
          <a:lstStyle/>
          <a:p>
            <a:pPr lvl="0"/>
            <a:endParaRPr lang="en-GB" dirty="0"/>
          </a:p>
          <a:p>
            <a:pPr lvl="0">
              <a:buFont typeface="Wingdings" pitchFamily="2" charset="2"/>
              <a:buChar char="v"/>
            </a:pPr>
            <a:r>
              <a:rPr lang="en-GB" dirty="0"/>
              <a:t>Usually there is </a:t>
            </a:r>
            <a:r>
              <a:rPr lang="en-GB" dirty="0">
                <a:solidFill>
                  <a:srgbClr val="00B0F0"/>
                </a:solidFill>
              </a:rPr>
              <a:t>fever</a:t>
            </a:r>
            <a:r>
              <a:rPr lang="en-GB" dirty="0"/>
              <a:t>, </a:t>
            </a:r>
            <a:r>
              <a:rPr lang="en-GB" dirty="0">
                <a:solidFill>
                  <a:srgbClr val="00B0F0"/>
                </a:solidFill>
              </a:rPr>
              <a:t>pain</a:t>
            </a:r>
            <a:r>
              <a:rPr lang="en-GB" dirty="0"/>
              <a:t>, a </a:t>
            </a:r>
            <a:r>
              <a:rPr lang="en-GB" dirty="0">
                <a:solidFill>
                  <a:srgbClr val="00B0F0"/>
                </a:solidFill>
              </a:rPr>
              <a:t>marked blood eosinophilia</a:t>
            </a:r>
            <a:r>
              <a:rPr lang="en-GB" dirty="0"/>
              <a:t> and </a:t>
            </a:r>
            <a:r>
              <a:rPr lang="en-GB" dirty="0">
                <a:solidFill>
                  <a:srgbClr val="00B0F0"/>
                </a:solidFill>
              </a:rPr>
              <a:t>urticaria</a:t>
            </a:r>
            <a:r>
              <a:rPr lang="en-US" dirty="0"/>
              <a:t>.</a:t>
            </a:r>
            <a:endParaRPr lang="en-GB" dirty="0"/>
          </a:p>
          <a:p>
            <a:pPr lvl="0">
              <a:buFont typeface="Wingdings" pitchFamily="2" charset="2"/>
              <a:buChar char="v"/>
            </a:pPr>
            <a:r>
              <a:rPr lang="en-GB" dirty="0"/>
              <a:t>The </a:t>
            </a:r>
            <a:r>
              <a:rPr lang="en-GB" dirty="0">
                <a:solidFill>
                  <a:srgbClr val="FF0000"/>
                </a:solidFill>
              </a:rPr>
              <a:t>liver may enlarge </a:t>
            </a:r>
            <a:r>
              <a:rPr lang="en-GB" dirty="0"/>
              <a:t>and </a:t>
            </a:r>
            <a:r>
              <a:rPr lang="en-GB" dirty="0">
                <a:solidFill>
                  <a:srgbClr val="FF0000"/>
                </a:solidFill>
              </a:rPr>
              <a:t>bile ducts blocked </a:t>
            </a:r>
            <a:r>
              <a:rPr lang="en-GB" dirty="0"/>
              <a:t>leading to </a:t>
            </a:r>
            <a:r>
              <a:rPr lang="en-GB" dirty="0">
                <a:solidFill>
                  <a:srgbClr val="FF0000"/>
                </a:solidFill>
              </a:rPr>
              <a:t>obstructive jaundice</a:t>
            </a:r>
            <a:endParaRPr lang="en-US" dirty="0">
              <a:solidFill>
                <a:srgbClr val="FF0000"/>
              </a:solidFill>
            </a:endParaRPr>
          </a:p>
          <a:p>
            <a:endParaRPr lang="en-US" dirty="0"/>
          </a:p>
        </p:txBody>
      </p:sp>
    </p:spTree>
    <p:extLst>
      <p:ext uri="{BB962C8B-B14F-4D97-AF65-F5344CB8AC3E}">
        <p14:creationId xmlns:p14="http://schemas.microsoft.com/office/powerpoint/2010/main" val="2290543062"/>
      </p:ext>
    </p:extLst>
  </p:cSld>
  <p:clrMapOvr>
    <a:masterClrMapping/>
  </p:clrMapOvr>
</p:sld>
</file>

<file path=ppt/slides/slide3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Prevention and Control</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solidFill>
                  <a:srgbClr val="00B050"/>
                </a:solidFill>
              </a:rPr>
              <a:t>Avoiding edible aquatic vegetables (watercress) </a:t>
            </a:r>
            <a:r>
              <a:rPr lang="en-GB" u="sng" dirty="0"/>
              <a:t>not sufficiently cooked as they may contain </a:t>
            </a:r>
            <a:r>
              <a:rPr lang="en-GB" u="sng" dirty="0">
                <a:solidFill>
                  <a:srgbClr val="C00000"/>
                </a:solidFill>
              </a:rPr>
              <a:t>metacercariae</a:t>
            </a:r>
            <a:endParaRPr lang="en-US" u="sng" dirty="0">
              <a:solidFill>
                <a:srgbClr val="C00000"/>
              </a:solidFill>
            </a:endParaRPr>
          </a:p>
          <a:p>
            <a:pPr lvl="0">
              <a:buFont typeface="Wingdings" pitchFamily="2" charset="2"/>
              <a:buChar char="v"/>
            </a:pPr>
            <a:r>
              <a:rPr lang="en-GB" u="sng" dirty="0"/>
              <a:t>Reducing infection by</a:t>
            </a:r>
            <a:r>
              <a:rPr lang="en-GB" dirty="0"/>
              <a:t> </a:t>
            </a:r>
            <a:r>
              <a:rPr lang="en-GB" dirty="0">
                <a:solidFill>
                  <a:srgbClr val="00B050"/>
                </a:solidFill>
              </a:rPr>
              <a:t>fencing off grazing land known to be infested with </a:t>
            </a:r>
            <a:r>
              <a:rPr lang="en-GB" dirty="0">
                <a:solidFill>
                  <a:srgbClr val="C00000"/>
                </a:solidFill>
              </a:rPr>
              <a:t>metacercariae</a:t>
            </a:r>
            <a:endParaRPr lang="en-US" dirty="0">
              <a:solidFill>
                <a:srgbClr val="C00000"/>
              </a:solidFill>
            </a:endParaRPr>
          </a:p>
          <a:p>
            <a:pPr lvl="0">
              <a:buFont typeface="Wingdings" pitchFamily="2" charset="2"/>
              <a:buChar char="v"/>
            </a:pPr>
            <a:r>
              <a:rPr lang="en-GB" dirty="0">
                <a:solidFill>
                  <a:srgbClr val="00B050"/>
                </a:solidFill>
              </a:rPr>
              <a:t>Treating infected animals </a:t>
            </a:r>
            <a:r>
              <a:rPr lang="en-GB" u="sng" dirty="0"/>
              <a:t>to reduce egg output</a:t>
            </a:r>
            <a:endParaRPr lang="en-US" u="sng" dirty="0"/>
          </a:p>
          <a:p>
            <a:pPr lvl="0">
              <a:buFont typeface="Wingdings" pitchFamily="2" charset="2"/>
              <a:buChar char="v"/>
            </a:pPr>
            <a:r>
              <a:rPr lang="en-GB" dirty="0">
                <a:solidFill>
                  <a:srgbClr val="00B050"/>
                </a:solidFill>
              </a:rPr>
              <a:t>Identifying and destroying snail habitats </a:t>
            </a:r>
            <a:r>
              <a:rPr lang="en-GB" u="sng" dirty="0"/>
              <a:t>where this is possible</a:t>
            </a:r>
            <a:r>
              <a:rPr lang="en-GB" dirty="0"/>
              <a:t>.</a:t>
            </a:r>
            <a:endParaRPr lang="en-US" dirty="0"/>
          </a:p>
          <a:p>
            <a:endParaRPr lang="en-US" dirty="0"/>
          </a:p>
        </p:txBody>
      </p:sp>
    </p:spTree>
    <p:extLst>
      <p:ext uri="{BB962C8B-B14F-4D97-AF65-F5344CB8AC3E}">
        <p14:creationId xmlns:p14="http://schemas.microsoft.com/office/powerpoint/2010/main" val="538700202"/>
      </p:ext>
    </p:extLst>
  </p:cSld>
  <p:clrMapOvr>
    <a:masterClrMapping/>
  </p:clrMapOvr>
</p:sld>
</file>

<file path=ppt/slides/slide3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i="1" dirty="0">
                <a:solidFill>
                  <a:srgbClr val="00B050"/>
                </a:solidFill>
              </a:rPr>
              <a:t>Fasciola hepatica</a:t>
            </a:r>
            <a:r>
              <a:rPr lang="en-GB" b="1" dirty="0">
                <a:solidFill>
                  <a:srgbClr val="00B050"/>
                </a:solidFill>
              </a:rPr>
              <a:t> </a:t>
            </a:r>
            <a:r>
              <a:rPr lang="en-GB" dirty="0"/>
              <a:t>and </a:t>
            </a:r>
            <a:r>
              <a:rPr lang="en-GB" b="1" i="1" dirty="0">
                <a:solidFill>
                  <a:srgbClr val="00B050"/>
                </a:solidFill>
              </a:rPr>
              <a:t>F. gigantica </a:t>
            </a:r>
            <a:r>
              <a:rPr lang="en-GB" i="1" dirty="0" err="1"/>
              <a:t>cont’t</a:t>
            </a:r>
            <a:endParaRPr lang="en-US" dirty="0"/>
          </a:p>
        </p:txBody>
      </p:sp>
      <p:sp>
        <p:nvSpPr>
          <p:cNvPr id="3" name="Content Placeholder 2"/>
          <p:cNvSpPr>
            <a:spLocks noGrp="1"/>
          </p:cNvSpPr>
          <p:nvPr>
            <p:ph idx="1"/>
          </p:nvPr>
        </p:nvSpPr>
        <p:spPr/>
        <p:txBody>
          <a:bodyPr/>
          <a:lstStyle/>
          <a:p>
            <a:pPr marL="0" indent="0" algn="ctr">
              <a:buNone/>
            </a:pPr>
            <a:r>
              <a:rPr lang="en-GB" b="1" u="sng" dirty="0"/>
              <a:t>Diagnosis</a:t>
            </a:r>
            <a:endParaRPr lang="en-US" u="sng" dirty="0"/>
          </a:p>
          <a:p>
            <a:pPr lvl="0">
              <a:buFont typeface="Wingdings" pitchFamily="2" charset="2"/>
              <a:buChar char="v"/>
            </a:pPr>
            <a:r>
              <a:rPr lang="en-GB" dirty="0">
                <a:solidFill>
                  <a:srgbClr val="00B0F0"/>
                </a:solidFill>
              </a:rPr>
              <a:t>Examination of faeces and duodenal fluid aspirates for eggs</a:t>
            </a:r>
            <a:endParaRPr lang="en-US" dirty="0">
              <a:solidFill>
                <a:srgbClr val="00B0F0"/>
              </a:solidFill>
            </a:endParaRPr>
          </a:p>
          <a:p>
            <a:pPr lvl="0">
              <a:buFont typeface="Wingdings" pitchFamily="2" charset="2"/>
              <a:buChar char="v"/>
            </a:pPr>
            <a:r>
              <a:rPr lang="en-GB" dirty="0">
                <a:solidFill>
                  <a:srgbClr val="00B0F0"/>
                </a:solidFill>
              </a:rPr>
              <a:t>Testing serum for antibodies </a:t>
            </a:r>
            <a:r>
              <a:rPr lang="en-GB" u="sng" dirty="0"/>
              <a:t>in response to the worm’s antigens</a:t>
            </a:r>
            <a:endParaRPr lang="en-US" u="sng" dirty="0"/>
          </a:p>
          <a:p>
            <a:pPr>
              <a:buFont typeface="Wingdings" pitchFamily="2" charset="2"/>
              <a:buChar char="v"/>
            </a:pPr>
            <a:endParaRPr lang="en-US" dirty="0"/>
          </a:p>
        </p:txBody>
      </p:sp>
    </p:spTree>
    <p:extLst>
      <p:ext uri="{BB962C8B-B14F-4D97-AF65-F5344CB8AC3E}">
        <p14:creationId xmlns:p14="http://schemas.microsoft.com/office/powerpoint/2010/main" val="3982952059"/>
      </p:ext>
    </p:extLst>
  </p:cSld>
  <p:clrMapOvr>
    <a:masterClrMapping/>
  </p:clrMapOvr>
</p:sld>
</file>

<file path=ppt/slides/slide3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Heterophyes heterophyes</a:t>
            </a:r>
            <a:br>
              <a:rPr lang="en-US" dirty="0"/>
            </a:b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GB" dirty="0"/>
              <a:t>A </a:t>
            </a:r>
            <a:r>
              <a:rPr lang="en-GB" b="1" dirty="0"/>
              <a:t>small fluke </a:t>
            </a:r>
            <a:r>
              <a:rPr lang="en-GB" dirty="0"/>
              <a:t>normally </a:t>
            </a:r>
            <a:r>
              <a:rPr lang="en-GB" dirty="0">
                <a:solidFill>
                  <a:srgbClr val="00B0F0"/>
                </a:solidFill>
              </a:rPr>
              <a:t>parasitic in the intestine </a:t>
            </a:r>
            <a:r>
              <a:rPr lang="en-GB" dirty="0"/>
              <a:t>of </a:t>
            </a:r>
            <a:r>
              <a:rPr lang="en-GB" dirty="0">
                <a:solidFill>
                  <a:srgbClr val="00B050"/>
                </a:solidFill>
              </a:rPr>
              <a:t>cats</a:t>
            </a:r>
            <a:r>
              <a:rPr lang="en-GB" dirty="0"/>
              <a:t>, </a:t>
            </a:r>
            <a:r>
              <a:rPr lang="en-GB" dirty="0">
                <a:solidFill>
                  <a:srgbClr val="00B050"/>
                </a:solidFill>
              </a:rPr>
              <a:t>dogs</a:t>
            </a:r>
            <a:r>
              <a:rPr lang="en-GB" dirty="0"/>
              <a:t>, </a:t>
            </a:r>
            <a:r>
              <a:rPr lang="en-GB" dirty="0">
                <a:solidFill>
                  <a:srgbClr val="00B050"/>
                </a:solidFill>
              </a:rPr>
              <a:t>foxes</a:t>
            </a:r>
            <a:r>
              <a:rPr lang="en-GB" dirty="0"/>
              <a:t>, </a:t>
            </a:r>
            <a:r>
              <a:rPr lang="en-GB" dirty="0">
                <a:solidFill>
                  <a:srgbClr val="00B050"/>
                </a:solidFill>
              </a:rPr>
              <a:t>wolves</a:t>
            </a:r>
            <a:r>
              <a:rPr lang="en-GB" dirty="0"/>
              <a:t> and </a:t>
            </a:r>
            <a:r>
              <a:rPr lang="en-GB" dirty="0">
                <a:solidFill>
                  <a:srgbClr val="00B050"/>
                </a:solidFill>
              </a:rPr>
              <a:t>jackals</a:t>
            </a:r>
            <a:r>
              <a:rPr lang="en-GB" dirty="0"/>
              <a:t>.</a:t>
            </a:r>
            <a:endParaRPr lang="en-US" dirty="0"/>
          </a:p>
          <a:p>
            <a:pPr marL="0" indent="0" algn="ctr">
              <a:buNone/>
            </a:pPr>
            <a:r>
              <a:rPr lang="en-GB" b="1" u="sng" dirty="0"/>
              <a:t>Distribution</a:t>
            </a:r>
            <a:endParaRPr lang="en-US" u="sng" dirty="0"/>
          </a:p>
          <a:p>
            <a:pPr lvl="0">
              <a:buFont typeface="Wingdings" pitchFamily="2" charset="2"/>
              <a:buChar char="v"/>
            </a:pPr>
            <a:r>
              <a:rPr lang="en-GB" dirty="0"/>
              <a:t>Human infection mainly occurs in the </a:t>
            </a:r>
            <a:r>
              <a:rPr lang="en-GB" u="sng" dirty="0"/>
              <a:t>Far East </a:t>
            </a:r>
            <a:r>
              <a:rPr lang="en-GB" dirty="0"/>
              <a:t>and the </a:t>
            </a:r>
            <a:r>
              <a:rPr lang="en-GB" u="sng" dirty="0"/>
              <a:t>Nile Delta in Egypt</a:t>
            </a:r>
            <a:endParaRPr lang="en-US" u="sng" dirty="0"/>
          </a:p>
          <a:p>
            <a:pPr marL="0" indent="0" algn="ctr">
              <a:buNone/>
            </a:pPr>
            <a:r>
              <a:rPr lang="en-GB" b="1" u="sng" dirty="0"/>
              <a:t>Transmission</a:t>
            </a:r>
            <a:endParaRPr lang="en-US" u="sng" dirty="0"/>
          </a:p>
          <a:p>
            <a:pPr lvl="0">
              <a:buFont typeface="Wingdings" pitchFamily="2" charset="2"/>
              <a:buChar char="v"/>
            </a:pPr>
            <a:r>
              <a:rPr lang="en-GB" dirty="0">
                <a:solidFill>
                  <a:srgbClr val="00B0F0"/>
                </a:solidFill>
              </a:rPr>
              <a:t>Eating raw or insufficiently cooked </a:t>
            </a:r>
            <a:r>
              <a:rPr lang="en-GB" dirty="0">
                <a:solidFill>
                  <a:srgbClr val="00B050"/>
                </a:solidFill>
              </a:rPr>
              <a:t>fish</a:t>
            </a:r>
            <a:r>
              <a:rPr lang="en-GB" dirty="0">
                <a:solidFill>
                  <a:srgbClr val="00B0F0"/>
                </a:solidFill>
              </a:rPr>
              <a:t> containing the </a:t>
            </a:r>
            <a:r>
              <a:rPr lang="en-GB" dirty="0">
                <a:solidFill>
                  <a:srgbClr val="C00000"/>
                </a:solidFill>
              </a:rPr>
              <a:t>metacercariae</a:t>
            </a:r>
            <a:r>
              <a:rPr lang="en-GB" dirty="0">
                <a:solidFill>
                  <a:srgbClr val="00B0F0"/>
                </a:solidFill>
              </a:rPr>
              <a:t>.</a:t>
            </a:r>
            <a:endParaRPr lang="en-US" dirty="0">
              <a:solidFill>
                <a:srgbClr val="00B0F0"/>
              </a:solidFill>
            </a:endParaRPr>
          </a:p>
          <a:p>
            <a:endParaRPr lang="en-US" dirty="0"/>
          </a:p>
        </p:txBody>
      </p:sp>
    </p:spTree>
    <p:extLst>
      <p:ext uri="{BB962C8B-B14F-4D97-AF65-F5344CB8AC3E}">
        <p14:creationId xmlns:p14="http://schemas.microsoft.com/office/powerpoint/2010/main" val="4294906247"/>
      </p:ext>
    </p:extLst>
  </p:cSld>
  <p:clrMapOvr>
    <a:masterClrMapping/>
  </p:clrMapOvr>
</p:sld>
</file>

<file path=ppt/slides/slide3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Life Cycle of </a:t>
            </a:r>
            <a:r>
              <a:rPr lang="en-GB" b="1" i="1" dirty="0">
                <a:solidFill>
                  <a:srgbClr val="00B050"/>
                </a:solidFill>
              </a:rPr>
              <a:t>Heterophyes heterophyes</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dirty="0"/>
              <a:t>After intake, </a:t>
            </a:r>
            <a:r>
              <a:rPr lang="en-GB" dirty="0">
                <a:solidFill>
                  <a:srgbClr val="C00000"/>
                </a:solidFill>
              </a:rPr>
              <a:t>metacercariae</a:t>
            </a:r>
            <a:r>
              <a:rPr lang="en-GB" dirty="0"/>
              <a:t> excyst and develop into </a:t>
            </a:r>
            <a:r>
              <a:rPr lang="en-GB" dirty="0">
                <a:solidFill>
                  <a:srgbClr val="C00000"/>
                </a:solidFill>
              </a:rPr>
              <a:t>mature egg- </a:t>
            </a:r>
            <a:r>
              <a:rPr lang="en-GB" dirty="0"/>
              <a:t>producing adults in the </a:t>
            </a:r>
            <a:r>
              <a:rPr lang="en-GB" dirty="0">
                <a:solidFill>
                  <a:srgbClr val="00B0F0"/>
                </a:solidFill>
              </a:rPr>
              <a:t>small intestine</a:t>
            </a:r>
            <a:r>
              <a:rPr lang="en-GB" dirty="0"/>
              <a:t>.</a:t>
            </a:r>
            <a:endParaRPr lang="en-US" dirty="0"/>
          </a:p>
          <a:p>
            <a:pPr lvl="0">
              <a:buFont typeface="Wingdings" pitchFamily="2" charset="2"/>
              <a:buChar char="v"/>
            </a:pPr>
            <a:r>
              <a:rPr lang="en-GB" dirty="0"/>
              <a:t>The eggs contain a fully developed </a:t>
            </a:r>
            <a:r>
              <a:rPr lang="en-GB" dirty="0">
                <a:solidFill>
                  <a:srgbClr val="C00000"/>
                </a:solidFill>
              </a:rPr>
              <a:t>miracidium</a:t>
            </a:r>
            <a:r>
              <a:rPr lang="en-GB" dirty="0"/>
              <a:t> </a:t>
            </a:r>
            <a:r>
              <a:rPr lang="en-GB" u="sng" dirty="0"/>
              <a:t>when passed in </a:t>
            </a:r>
            <a:r>
              <a:rPr lang="en-GB" u="sng" dirty="0">
                <a:solidFill>
                  <a:srgbClr val="00B0F0"/>
                </a:solidFill>
              </a:rPr>
              <a:t>faeces</a:t>
            </a:r>
            <a:r>
              <a:rPr lang="en-GB" dirty="0">
                <a:solidFill>
                  <a:srgbClr val="00B0F0"/>
                </a:solidFill>
              </a:rPr>
              <a:t>.</a:t>
            </a:r>
            <a:endParaRPr lang="en-US" dirty="0">
              <a:solidFill>
                <a:srgbClr val="00B0F0"/>
              </a:solidFill>
            </a:endParaRPr>
          </a:p>
          <a:p>
            <a:pPr lvl="0">
              <a:buFont typeface="Wingdings" pitchFamily="2" charset="2"/>
              <a:buChar char="v"/>
            </a:pPr>
            <a:r>
              <a:rPr lang="en-GB" dirty="0">
                <a:solidFill>
                  <a:srgbClr val="00B0F0"/>
                </a:solidFill>
              </a:rPr>
              <a:t>In water</a:t>
            </a:r>
            <a:r>
              <a:rPr lang="en-GB" dirty="0"/>
              <a:t>, </a:t>
            </a:r>
            <a:r>
              <a:rPr lang="en-GB" u="sng" dirty="0"/>
              <a:t>the eggs are ingested by </a:t>
            </a:r>
            <a:r>
              <a:rPr lang="en-GB" b="1" dirty="0">
                <a:solidFill>
                  <a:srgbClr val="00B050"/>
                </a:solidFill>
              </a:rPr>
              <a:t>snails</a:t>
            </a:r>
            <a:r>
              <a:rPr lang="en-GB" dirty="0"/>
              <a:t> of the genera </a:t>
            </a:r>
            <a:r>
              <a:rPr lang="en-GB" i="1" dirty="0">
                <a:solidFill>
                  <a:srgbClr val="7030A0"/>
                </a:solidFill>
              </a:rPr>
              <a:t>Pirenella</a:t>
            </a:r>
            <a:r>
              <a:rPr lang="en-GB" dirty="0">
                <a:solidFill>
                  <a:srgbClr val="7030A0"/>
                </a:solidFill>
              </a:rPr>
              <a:t> </a:t>
            </a:r>
            <a:r>
              <a:rPr lang="en-GB" dirty="0"/>
              <a:t>or </a:t>
            </a:r>
            <a:r>
              <a:rPr lang="en-GB" i="1" dirty="0">
                <a:solidFill>
                  <a:srgbClr val="7030A0"/>
                </a:solidFill>
              </a:rPr>
              <a:t>Cerithidia</a:t>
            </a:r>
            <a:endParaRPr lang="en-US" dirty="0">
              <a:solidFill>
                <a:srgbClr val="7030A0"/>
              </a:solidFill>
            </a:endParaRPr>
          </a:p>
        </p:txBody>
      </p:sp>
    </p:spTree>
    <p:extLst>
      <p:ext uri="{BB962C8B-B14F-4D97-AF65-F5344CB8AC3E}">
        <p14:creationId xmlns:p14="http://schemas.microsoft.com/office/powerpoint/2010/main" val="2864339861"/>
      </p:ext>
    </p:extLst>
  </p:cSld>
  <p:clrMapOvr>
    <a:masterClrMapping/>
  </p:clrMapOvr>
</p:sld>
</file>

<file path=ppt/slides/slide3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u="sng" dirty="0"/>
              <a:t>Life Cycle of </a:t>
            </a:r>
            <a:r>
              <a:rPr lang="en-GB" b="1" i="1" dirty="0">
                <a:solidFill>
                  <a:srgbClr val="00B050"/>
                </a:solidFill>
              </a:rPr>
              <a:t>Heterophyes </a:t>
            </a:r>
            <a:r>
              <a:rPr lang="en-GB" b="1" i="1" dirty="0" err="1">
                <a:solidFill>
                  <a:srgbClr val="00B050"/>
                </a:solidFill>
              </a:rPr>
              <a:t>heterophyes</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GB" dirty="0">
                <a:solidFill>
                  <a:srgbClr val="C00000"/>
                </a:solidFill>
              </a:rPr>
              <a:t>Miracidia </a:t>
            </a:r>
            <a:r>
              <a:rPr lang="en-GB" u="sng" dirty="0"/>
              <a:t>hatch in the </a:t>
            </a:r>
            <a:r>
              <a:rPr lang="en-GB" u="sng" dirty="0">
                <a:solidFill>
                  <a:srgbClr val="00B050"/>
                </a:solidFill>
              </a:rPr>
              <a:t>snail</a:t>
            </a:r>
            <a:r>
              <a:rPr lang="en-GB" u="sng" dirty="0"/>
              <a:t> from the egg and develop into </a:t>
            </a:r>
            <a:r>
              <a:rPr lang="en-GB" dirty="0">
                <a:solidFill>
                  <a:srgbClr val="C00000"/>
                </a:solidFill>
              </a:rPr>
              <a:t>sporocysts</a:t>
            </a:r>
            <a:r>
              <a:rPr lang="en-GB" dirty="0"/>
              <a:t>  </a:t>
            </a:r>
            <a:r>
              <a:rPr lang="en-GB" u="sng" dirty="0"/>
              <a:t>which produce </a:t>
            </a:r>
            <a:r>
              <a:rPr lang="en-GB" u="sng" dirty="0">
                <a:solidFill>
                  <a:srgbClr val="C00000"/>
                </a:solidFill>
              </a:rPr>
              <a:t>rediae</a:t>
            </a:r>
            <a:r>
              <a:rPr lang="en-GB" u="sng" dirty="0"/>
              <a:t> and finally</a:t>
            </a:r>
            <a:r>
              <a:rPr lang="en-GB" dirty="0"/>
              <a:t> </a:t>
            </a:r>
            <a:r>
              <a:rPr lang="en-GB" dirty="0">
                <a:solidFill>
                  <a:srgbClr val="C00000"/>
                </a:solidFill>
              </a:rPr>
              <a:t>cercariae</a:t>
            </a:r>
            <a:r>
              <a:rPr lang="en-US" dirty="0"/>
              <a:t>.</a:t>
            </a:r>
            <a:endParaRPr lang="en-GB" dirty="0"/>
          </a:p>
          <a:p>
            <a:pPr lvl="0">
              <a:buFont typeface="Wingdings" pitchFamily="2" charset="2"/>
              <a:buChar char="v"/>
            </a:pPr>
            <a:r>
              <a:rPr lang="en-GB" dirty="0">
                <a:solidFill>
                  <a:srgbClr val="C00000"/>
                </a:solidFill>
              </a:rPr>
              <a:t>Cercariae</a:t>
            </a:r>
            <a:r>
              <a:rPr lang="en-GB" dirty="0"/>
              <a:t> </a:t>
            </a:r>
            <a:r>
              <a:rPr lang="en-GB" u="sng" dirty="0"/>
              <a:t>leave the </a:t>
            </a:r>
            <a:r>
              <a:rPr lang="en-GB" u="sng" dirty="0">
                <a:solidFill>
                  <a:srgbClr val="00B050"/>
                </a:solidFill>
              </a:rPr>
              <a:t>snail</a:t>
            </a:r>
            <a:r>
              <a:rPr lang="en-GB" u="sng" dirty="0"/>
              <a:t> and </a:t>
            </a:r>
            <a:r>
              <a:rPr lang="en-GB" b="1" u="sng" dirty="0"/>
              <a:t>encyst</a:t>
            </a:r>
            <a:r>
              <a:rPr lang="en-GB" u="sng" dirty="0"/>
              <a:t> on </a:t>
            </a:r>
            <a:r>
              <a:rPr lang="en-GB" u="sng" dirty="0">
                <a:solidFill>
                  <a:srgbClr val="00B050"/>
                </a:solidFill>
              </a:rPr>
              <a:t>fish</a:t>
            </a:r>
            <a:r>
              <a:rPr lang="en-GB" u="sng" dirty="0"/>
              <a:t> such as mullet or minnow, as </a:t>
            </a:r>
            <a:r>
              <a:rPr lang="en-GB" dirty="0">
                <a:solidFill>
                  <a:srgbClr val="C00000"/>
                </a:solidFill>
              </a:rPr>
              <a:t>metacercariae</a:t>
            </a:r>
            <a:endParaRPr lang="en-US" dirty="0">
              <a:solidFill>
                <a:srgbClr val="C00000"/>
              </a:solidFill>
            </a:endParaRPr>
          </a:p>
          <a:p>
            <a:pPr lvl="0">
              <a:buFont typeface="Wingdings" pitchFamily="2" charset="2"/>
              <a:buChar char="v"/>
            </a:pPr>
            <a:r>
              <a:rPr lang="en-GB" dirty="0"/>
              <a:t>The </a:t>
            </a:r>
            <a:r>
              <a:rPr lang="en-GB" b="1" dirty="0"/>
              <a:t>encysted</a:t>
            </a:r>
            <a:r>
              <a:rPr lang="en-GB" dirty="0"/>
              <a:t> </a:t>
            </a:r>
            <a:r>
              <a:rPr lang="en-GB" dirty="0">
                <a:solidFill>
                  <a:srgbClr val="C00000"/>
                </a:solidFill>
              </a:rPr>
              <a:t>metacercariae</a:t>
            </a:r>
            <a:r>
              <a:rPr lang="en-GB" dirty="0"/>
              <a:t> are </a:t>
            </a:r>
            <a:r>
              <a:rPr lang="en-GB" dirty="0">
                <a:solidFill>
                  <a:srgbClr val="FF0000"/>
                </a:solidFill>
              </a:rPr>
              <a:t>infective</a:t>
            </a:r>
            <a:r>
              <a:rPr lang="en-GB" dirty="0"/>
              <a:t> to </a:t>
            </a:r>
            <a:r>
              <a:rPr lang="en-GB" dirty="0">
                <a:solidFill>
                  <a:srgbClr val="00B050"/>
                </a:solidFill>
              </a:rPr>
              <a:t>fish eating animals </a:t>
            </a:r>
            <a:r>
              <a:rPr lang="en-GB" dirty="0"/>
              <a:t>and to </a:t>
            </a:r>
            <a:r>
              <a:rPr lang="en-GB" dirty="0">
                <a:solidFill>
                  <a:srgbClr val="00B050"/>
                </a:solidFill>
              </a:rPr>
              <a:t>humans</a:t>
            </a:r>
            <a:r>
              <a:rPr lang="en-GB" dirty="0"/>
              <a:t>.</a:t>
            </a:r>
            <a:endParaRPr lang="en-US" dirty="0"/>
          </a:p>
          <a:p>
            <a:endParaRPr lang="en-US" dirty="0"/>
          </a:p>
        </p:txBody>
      </p:sp>
    </p:spTree>
    <p:extLst>
      <p:ext uri="{BB962C8B-B14F-4D97-AF65-F5344CB8AC3E}">
        <p14:creationId xmlns:p14="http://schemas.microsoft.com/office/powerpoint/2010/main" val="1602830100"/>
      </p:ext>
    </p:extLst>
  </p:cSld>
  <p:clrMapOvr>
    <a:masterClrMapping/>
  </p:clrMapOvr>
</p:sld>
</file>

<file path=ppt/slides/slide3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Heterophyes </a:t>
            </a:r>
            <a:r>
              <a:rPr lang="en-GB" b="1" i="1" dirty="0" err="1">
                <a:solidFill>
                  <a:srgbClr val="00B050"/>
                </a:solidFill>
              </a:rPr>
              <a:t>heterophyes</a:t>
            </a:r>
            <a:r>
              <a:rPr lang="en-GB" b="1" i="1" dirty="0">
                <a:solidFill>
                  <a:srgbClr val="00B050"/>
                </a:solidFill>
              </a:rPr>
              <a:t> </a:t>
            </a:r>
            <a:r>
              <a:rPr lang="en-GB" b="1" i="1" dirty="0"/>
              <a:t>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GB" b="1" u="sng" dirty="0"/>
              <a:t>Symptoms and Pathology</a:t>
            </a:r>
            <a:endParaRPr lang="en-US" u="sng" dirty="0"/>
          </a:p>
          <a:p>
            <a:pPr lvl="0">
              <a:buFont typeface="Wingdings" pitchFamily="2" charset="2"/>
              <a:buChar char="v"/>
            </a:pPr>
            <a:r>
              <a:rPr lang="en-GB" dirty="0"/>
              <a:t>There are </a:t>
            </a:r>
            <a:r>
              <a:rPr lang="en-GB" dirty="0">
                <a:solidFill>
                  <a:srgbClr val="FF0000"/>
                </a:solidFill>
              </a:rPr>
              <a:t>few serious symptoms </a:t>
            </a:r>
            <a:r>
              <a:rPr lang="en-GB" dirty="0"/>
              <a:t>apart from </a:t>
            </a:r>
            <a:r>
              <a:rPr lang="en-GB" dirty="0">
                <a:solidFill>
                  <a:srgbClr val="00B0F0"/>
                </a:solidFill>
              </a:rPr>
              <a:t>intestinal inflammation </a:t>
            </a:r>
            <a:r>
              <a:rPr lang="en-GB" dirty="0"/>
              <a:t>and </a:t>
            </a:r>
            <a:r>
              <a:rPr lang="en-GB" dirty="0">
                <a:solidFill>
                  <a:srgbClr val="00B0F0"/>
                </a:solidFill>
              </a:rPr>
              <a:t>necrosis</a:t>
            </a:r>
            <a:endParaRPr lang="en-US" dirty="0">
              <a:solidFill>
                <a:srgbClr val="00B0F0"/>
              </a:solidFill>
            </a:endParaRPr>
          </a:p>
          <a:p>
            <a:pPr lvl="0">
              <a:buFont typeface="Wingdings" pitchFamily="2" charset="2"/>
              <a:buChar char="v"/>
            </a:pPr>
            <a:r>
              <a:rPr lang="en-GB" b="1" dirty="0"/>
              <a:t>Rarely, </a:t>
            </a:r>
            <a:r>
              <a:rPr lang="en-GB" dirty="0">
                <a:solidFill>
                  <a:srgbClr val="FF0000"/>
                </a:solidFill>
              </a:rPr>
              <a:t>eggs may reach the heart and CNS to produce serious symptoms</a:t>
            </a:r>
            <a:endParaRPr lang="en-US" dirty="0">
              <a:solidFill>
                <a:srgbClr val="FF0000"/>
              </a:solidFill>
            </a:endParaRPr>
          </a:p>
          <a:p>
            <a:endParaRPr lang="en-US" dirty="0"/>
          </a:p>
        </p:txBody>
      </p:sp>
    </p:spTree>
    <p:extLst>
      <p:ext uri="{BB962C8B-B14F-4D97-AF65-F5344CB8AC3E}">
        <p14:creationId xmlns:p14="http://schemas.microsoft.com/office/powerpoint/2010/main" val="3186865120"/>
      </p:ext>
    </p:extLst>
  </p:cSld>
  <p:clrMapOvr>
    <a:masterClrMapping/>
  </p:clrMapOvr>
</p:sld>
</file>

<file path=ppt/slides/slide3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Heterophyes </a:t>
            </a:r>
            <a:r>
              <a:rPr lang="en-GB" b="1" i="1" dirty="0" err="1">
                <a:solidFill>
                  <a:srgbClr val="00B050"/>
                </a:solidFill>
              </a:rPr>
              <a:t>heterophyes</a:t>
            </a:r>
            <a:r>
              <a:rPr lang="en-GB"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GB" b="1" u="sng" dirty="0"/>
              <a:t>Prevention and Control</a:t>
            </a:r>
            <a:endParaRPr lang="en-US" u="sng" dirty="0"/>
          </a:p>
          <a:p>
            <a:pPr lvl="0">
              <a:buFont typeface="Wingdings" pitchFamily="2" charset="2"/>
              <a:buChar char="v"/>
            </a:pPr>
            <a:r>
              <a:rPr lang="en-GB" dirty="0">
                <a:solidFill>
                  <a:srgbClr val="00B050"/>
                </a:solidFill>
              </a:rPr>
              <a:t>By not eating insufficiently cooked or pickled fish </a:t>
            </a:r>
            <a:r>
              <a:rPr lang="en-GB" u="sng" dirty="0"/>
              <a:t>which may contain the </a:t>
            </a:r>
            <a:r>
              <a:rPr lang="en-GB" u="sng" dirty="0">
                <a:solidFill>
                  <a:srgbClr val="C00000"/>
                </a:solidFill>
              </a:rPr>
              <a:t>metacercariae</a:t>
            </a:r>
            <a:r>
              <a:rPr lang="en-GB" dirty="0"/>
              <a:t>.</a:t>
            </a:r>
            <a:endParaRPr lang="en-US" dirty="0"/>
          </a:p>
          <a:p>
            <a:pPr marL="0" indent="0" algn="ctr">
              <a:buNone/>
            </a:pPr>
            <a:endParaRPr lang="en-GB" b="1" dirty="0"/>
          </a:p>
          <a:p>
            <a:pPr marL="0" indent="0" algn="ctr">
              <a:buNone/>
            </a:pPr>
            <a:r>
              <a:rPr lang="en-GB" b="1" u="sng" dirty="0"/>
              <a:t>Diagnosis</a:t>
            </a:r>
            <a:endParaRPr lang="en-US" u="sng" dirty="0"/>
          </a:p>
          <a:p>
            <a:pPr lvl="0">
              <a:buFont typeface="Wingdings" pitchFamily="2" charset="2"/>
              <a:buChar char="v"/>
            </a:pPr>
            <a:r>
              <a:rPr lang="en-GB" dirty="0">
                <a:solidFill>
                  <a:srgbClr val="00B0F0"/>
                </a:solidFill>
              </a:rPr>
              <a:t>Examination of the faeces for small eggs of the parasite</a:t>
            </a:r>
            <a:endParaRPr lang="en-US" dirty="0">
              <a:solidFill>
                <a:srgbClr val="00B0F0"/>
              </a:solidFill>
            </a:endParaRPr>
          </a:p>
          <a:p>
            <a:pPr marL="0" indent="0">
              <a:buNone/>
            </a:pPr>
            <a:r>
              <a:rPr lang="en-GB" dirty="0"/>
              <a:t> </a:t>
            </a:r>
            <a:endParaRPr lang="en-US" dirty="0"/>
          </a:p>
          <a:p>
            <a:endParaRPr lang="en-US" dirty="0"/>
          </a:p>
        </p:txBody>
      </p:sp>
    </p:spTree>
    <p:extLst>
      <p:ext uri="{BB962C8B-B14F-4D97-AF65-F5344CB8AC3E}">
        <p14:creationId xmlns:p14="http://schemas.microsoft.com/office/powerpoint/2010/main" val="1778156955"/>
      </p:ext>
    </p:extLst>
  </p:cSld>
  <p:clrMapOvr>
    <a:masterClrMapping/>
  </p:clrMapOvr>
</p:sld>
</file>

<file path=ppt/slides/slide3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Metagonimus yokogawai</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t>The </a:t>
            </a:r>
            <a:r>
              <a:rPr lang="en-GB" b="1" dirty="0">
                <a:solidFill>
                  <a:srgbClr val="FF33CC"/>
                </a:solidFill>
              </a:rPr>
              <a:t>smallest fluke </a:t>
            </a:r>
            <a:r>
              <a:rPr lang="en-GB" dirty="0"/>
              <a:t>infecting </a:t>
            </a:r>
            <a:r>
              <a:rPr lang="en-GB" dirty="0">
                <a:solidFill>
                  <a:srgbClr val="00B050"/>
                </a:solidFill>
              </a:rPr>
              <a:t>humans</a:t>
            </a:r>
            <a:endParaRPr lang="en-US" dirty="0">
              <a:solidFill>
                <a:srgbClr val="00B050"/>
              </a:solidFill>
            </a:endParaRPr>
          </a:p>
          <a:p>
            <a:pPr lvl="0">
              <a:buFont typeface="Wingdings" pitchFamily="2" charset="2"/>
              <a:buChar char="v"/>
            </a:pPr>
            <a:r>
              <a:rPr lang="en-GB" dirty="0"/>
              <a:t>It lives in the </a:t>
            </a:r>
            <a:r>
              <a:rPr lang="en-GB" dirty="0">
                <a:solidFill>
                  <a:srgbClr val="00B0F0"/>
                </a:solidFill>
              </a:rPr>
              <a:t>small intestine</a:t>
            </a:r>
            <a:endParaRPr lang="en-US" dirty="0">
              <a:solidFill>
                <a:srgbClr val="00B0F0"/>
              </a:solidFill>
            </a:endParaRPr>
          </a:p>
          <a:p>
            <a:pPr lvl="0">
              <a:buFont typeface="Wingdings" pitchFamily="2" charset="2"/>
              <a:buChar char="v"/>
            </a:pPr>
            <a:r>
              <a:rPr lang="en-GB" dirty="0"/>
              <a:t>Has </a:t>
            </a:r>
            <a:r>
              <a:rPr lang="en-GB" dirty="0">
                <a:solidFill>
                  <a:srgbClr val="00B0F0"/>
                </a:solidFill>
              </a:rPr>
              <a:t>reservoir hosts</a:t>
            </a:r>
            <a:r>
              <a:rPr lang="en-GB" dirty="0"/>
              <a:t>: </a:t>
            </a:r>
            <a:r>
              <a:rPr lang="en-GB" dirty="0">
                <a:solidFill>
                  <a:srgbClr val="00B050"/>
                </a:solidFill>
              </a:rPr>
              <a:t>dogs</a:t>
            </a:r>
            <a:r>
              <a:rPr lang="en-GB" dirty="0"/>
              <a:t>, </a:t>
            </a:r>
            <a:r>
              <a:rPr lang="en-GB" dirty="0">
                <a:solidFill>
                  <a:srgbClr val="00B050"/>
                </a:solidFill>
              </a:rPr>
              <a:t>cats</a:t>
            </a:r>
            <a:r>
              <a:rPr lang="en-GB" dirty="0"/>
              <a:t>, </a:t>
            </a:r>
            <a:r>
              <a:rPr lang="en-GB" dirty="0">
                <a:solidFill>
                  <a:srgbClr val="00B050"/>
                </a:solidFill>
              </a:rPr>
              <a:t>pigs</a:t>
            </a:r>
            <a:r>
              <a:rPr lang="en-GB" dirty="0"/>
              <a:t> and </a:t>
            </a:r>
            <a:r>
              <a:rPr lang="en-GB" dirty="0">
                <a:solidFill>
                  <a:srgbClr val="00B050"/>
                </a:solidFill>
              </a:rPr>
              <a:t>pelicans</a:t>
            </a:r>
            <a:r>
              <a:rPr lang="en-GB" dirty="0"/>
              <a:t>.</a:t>
            </a:r>
            <a:endParaRPr lang="en-US" dirty="0"/>
          </a:p>
          <a:p>
            <a:pPr lvl="0">
              <a:buFont typeface="Wingdings" pitchFamily="2" charset="2"/>
              <a:buChar char="v"/>
            </a:pPr>
            <a:endParaRPr lang="en-US" b="1" dirty="0"/>
          </a:p>
          <a:p>
            <a:pPr marL="0" lvl="0" indent="0" algn="ctr">
              <a:buNone/>
            </a:pPr>
            <a:r>
              <a:rPr lang="en-GB" b="1" u="sng" dirty="0"/>
              <a:t>Distribution</a:t>
            </a:r>
            <a:endParaRPr lang="en-US" u="sng" dirty="0"/>
          </a:p>
          <a:p>
            <a:pPr lvl="0">
              <a:buFont typeface="Wingdings" pitchFamily="2" charset="2"/>
              <a:buChar char="v"/>
            </a:pPr>
            <a:r>
              <a:rPr lang="en-GB" u="sng" dirty="0"/>
              <a:t>Far East </a:t>
            </a:r>
            <a:r>
              <a:rPr lang="en-GB" dirty="0"/>
              <a:t>and the </a:t>
            </a:r>
            <a:r>
              <a:rPr lang="en-GB" u="sng" dirty="0"/>
              <a:t>Mediterranean  region</a:t>
            </a:r>
            <a:endParaRPr lang="en-US" u="sng" dirty="0"/>
          </a:p>
          <a:p>
            <a:pPr marL="0" indent="0">
              <a:buNone/>
            </a:pPr>
            <a:endParaRPr lang="en-US" dirty="0"/>
          </a:p>
        </p:txBody>
      </p:sp>
    </p:spTree>
    <p:extLst>
      <p:ext uri="{BB962C8B-B14F-4D97-AF65-F5344CB8AC3E}">
        <p14:creationId xmlns:p14="http://schemas.microsoft.com/office/powerpoint/2010/main" val="2410462707"/>
      </p:ext>
    </p:extLst>
  </p:cSld>
  <p:clrMapOvr>
    <a:masterClrMapping/>
  </p:clrMapOvr>
</p:sld>
</file>

<file path=ppt/slides/slide3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Metagonimus yokogawai </a:t>
            </a:r>
            <a:r>
              <a:rPr lang="en-GB" b="1" i="1" dirty="0"/>
              <a:t>cont’d</a:t>
            </a:r>
            <a:br>
              <a:rPr lang="en-US" dirty="0"/>
            </a:br>
            <a:endParaRPr lang="en-US" dirty="0"/>
          </a:p>
        </p:txBody>
      </p:sp>
      <p:sp>
        <p:nvSpPr>
          <p:cNvPr id="3" name="Content Placeholder 2"/>
          <p:cNvSpPr>
            <a:spLocks noGrp="1"/>
          </p:cNvSpPr>
          <p:nvPr>
            <p:ph idx="1"/>
          </p:nvPr>
        </p:nvSpPr>
        <p:spPr>
          <a:xfrm>
            <a:off x="457200" y="1600200"/>
            <a:ext cx="8229600" cy="5029200"/>
          </a:xfrm>
        </p:spPr>
        <p:txBody>
          <a:bodyPr>
            <a:normAutofit lnSpcReduction="10000"/>
          </a:bodyPr>
          <a:lstStyle/>
          <a:p>
            <a:pPr marL="0" indent="0" algn="ctr">
              <a:buNone/>
            </a:pPr>
            <a:r>
              <a:rPr lang="en-GB" b="1" u="sng" dirty="0"/>
              <a:t>Transmission</a:t>
            </a:r>
            <a:endParaRPr lang="en-US" u="sng" dirty="0"/>
          </a:p>
          <a:p>
            <a:pPr lvl="0">
              <a:buFont typeface="Wingdings" pitchFamily="2" charset="2"/>
              <a:buChar char="v"/>
            </a:pPr>
            <a:r>
              <a:rPr lang="en-GB" dirty="0"/>
              <a:t>Similar to that of </a:t>
            </a:r>
            <a:r>
              <a:rPr lang="en-GB" i="1" dirty="0">
                <a:solidFill>
                  <a:srgbClr val="00B050"/>
                </a:solidFill>
              </a:rPr>
              <a:t>H. heterophyes</a:t>
            </a:r>
            <a:r>
              <a:rPr lang="en-GB" dirty="0"/>
              <a:t>. </a:t>
            </a:r>
            <a:r>
              <a:rPr lang="en-GB" dirty="0">
                <a:solidFill>
                  <a:srgbClr val="00B050"/>
                </a:solidFill>
              </a:rPr>
              <a:t>Snail hosts </a:t>
            </a:r>
            <a:r>
              <a:rPr lang="en-GB" dirty="0"/>
              <a:t>belong to the genera </a:t>
            </a:r>
            <a:r>
              <a:rPr lang="en-GB" i="1" dirty="0">
                <a:solidFill>
                  <a:srgbClr val="7030A0"/>
                </a:solidFill>
              </a:rPr>
              <a:t>Seniisulcospira</a:t>
            </a:r>
            <a:r>
              <a:rPr lang="en-GB" dirty="0">
                <a:solidFill>
                  <a:srgbClr val="7030A0"/>
                </a:solidFill>
              </a:rPr>
              <a:t> </a:t>
            </a:r>
            <a:r>
              <a:rPr lang="en-GB" dirty="0"/>
              <a:t>and </a:t>
            </a:r>
            <a:r>
              <a:rPr lang="en-GB" i="1" dirty="0">
                <a:solidFill>
                  <a:srgbClr val="7030A0"/>
                </a:solidFill>
              </a:rPr>
              <a:t>Thiara</a:t>
            </a:r>
            <a:r>
              <a:rPr lang="en-GB" dirty="0"/>
              <a:t>. The </a:t>
            </a:r>
            <a:r>
              <a:rPr lang="en-GB" dirty="0">
                <a:solidFill>
                  <a:srgbClr val="00B0F0"/>
                </a:solidFill>
              </a:rPr>
              <a:t>second intermediate hosts </a:t>
            </a:r>
            <a:r>
              <a:rPr lang="en-GB" dirty="0"/>
              <a:t>are </a:t>
            </a:r>
            <a:r>
              <a:rPr lang="en-GB" dirty="0">
                <a:solidFill>
                  <a:srgbClr val="00B050"/>
                </a:solidFill>
              </a:rPr>
              <a:t>Cyprinid fish </a:t>
            </a:r>
            <a:r>
              <a:rPr lang="en-GB" dirty="0"/>
              <a:t>and </a:t>
            </a:r>
            <a:r>
              <a:rPr lang="en-GB" dirty="0">
                <a:solidFill>
                  <a:srgbClr val="00B050"/>
                </a:solidFill>
              </a:rPr>
              <a:t>Sweetfish</a:t>
            </a:r>
            <a:r>
              <a:rPr lang="en-GB" dirty="0"/>
              <a:t>.</a:t>
            </a:r>
            <a:endParaRPr lang="en-US" dirty="0"/>
          </a:p>
          <a:p>
            <a:pPr marL="0" indent="0" algn="ctr">
              <a:buNone/>
            </a:pPr>
            <a:r>
              <a:rPr lang="en-GB" b="1" u="sng" dirty="0"/>
              <a:t>Symptoms and Pathology</a:t>
            </a:r>
            <a:endParaRPr lang="en-US" u="sng" dirty="0"/>
          </a:p>
          <a:p>
            <a:pPr lvl="0">
              <a:buFont typeface="Wingdings" pitchFamily="2" charset="2"/>
              <a:buChar char="v"/>
            </a:pPr>
            <a:r>
              <a:rPr lang="en-GB" dirty="0"/>
              <a:t>Most infections are </a:t>
            </a:r>
            <a:r>
              <a:rPr lang="en-GB" dirty="0">
                <a:solidFill>
                  <a:srgbClr val="00B0F0"/>
                </a:solidFill>
              </a:rPr>
              <a:t>asymptomatic </a:t>
            </a:r>
            <a:endParaRPr lang="en-US" dirty="0">
              <a:solidFill>
                <a:srgbClr val="00B0F0"/>
              </a:solidFill>
            </a:endParaRPr>
          </a:p>
          <a:p>
            <a:pPr lvl="0">
              <a:buFont typeface="Wingdings" pitchFamily="2" charset="2"/>
              <a:buChar char="v"/>
            </a:pPr>
            <a:r>
              <a:rPr lang="en-GB" b="1" dirty="0"/>
              <a:t>Heavy infections </a:t>
            </a:r>
            <a:r>
              <a:rPr lang="en-GB" dirty="0"/>
              <a:t>may cause </a:t>
            </a:r>
            <a:r>
              <a:rPr lang="en-GB" dirty="0">
                <a:solidFill>
                  <a:srgbClr val="00B0F0"/>
                </a:solidFill>
              </a:rPr>
              <a:t>inflammation of the intestinal wall </a:t>
            </a:r>
            <a:r>
              <a:rPr lang="en-GB" dirty="0"/>
              <a:t>with </a:t>
            </a:r>
            <a:r>
              <a:rPr lang="en-GB" dirty="0">
                <a:solidFill>
                  <a:srgbClr val="00B0F0"/>
                </a:solidFill>
              </a:rPr>
              <a:t>abdominal pain </a:t>
            </a:r>
            <a:r>
              <a:rPr lang="en-GB" dirty="0"/>
              <a:t>and </a:t>
            </a:r>
            <a:r>
              <a:rPr lang="en-GB" dirty="0">
                <a:solidFill>
                  <a:srgbClr val="00B0F0"/>
                </a:solidFill>
              </a:rPr>
              <a:t>watery diarrhoea</a:t>
            </a:r>
            <a:endParaRPr lang="en-US" dirty="0">
              <a:solidFill>
                <a:srgbClr val="00B0F0"/>
              </a:solidFill>
            </a:endParaRPr>
          </a:p>
          <a:p>
            <a:endParaRPr lang="en-US" dirty="0"/>
          </a:p>
        </p:txBody>
      </p:sp>
    </p:spTree>
    <p:extLst>
      <p:ext uri="{BB962C8B-B14F-4D97-AF65-F5344CB8AC3E}">
        <p14:creationId xmlns:p14="http://schemas.microsoft.com/office/powerpoint/2010/main" val="2611795400"/>
      </p:ext>
    </p:extLst>
  </p:cSld>
  <p:clrMapOvr>
    <a:masterClrMapping/>
  </p:clrMapOvr>
</p:sld>
</file>

<file path=ppt/slides/slide3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Metagonimus yokogawai </a:t>
            </a:r>
            <a:r>
              <a:rPr lang="en-GB" b="1" i="1" dirty="0"/>
              <a:t>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GB" b="1" u="sng" dirty="0"/>
              <a:t>Prevention and Control</a:t>
            </a:r>
            <a:endParaRPr lang="en-US" u="sng" dirty="0"/>
          </a:p>
          <a:p>
            <a:pPr lvl="0">
              <a:buFont typeface="Wingdings" pitchFamily="2" charset="2"/>
              <a:buChar char="v"/>
            </a:pPr>
            <a:r>
              <a:rPr lang="en-GB" dirty="0">
                <a:solidFill>
                  <a:srgbClr val="00B050"/>
                </a:solidFill>
              </a:rPr>
              <a:t>Not eating insufficiently cooked or pickled fish </a:t>
            </a:r>
            <a:r>
              <a:rPr lang="en-GB" u="sng" dirty="0"/>
              <a:t>which may contain the </a:t>
            </a:r>
            <a:r>
              <a:rPr lang="en-GB" u="sng" dirty="0">
                <a:solidFill>
                  <a:srgbClr val="C00000"/>
                </a:solidFill>
              </a:rPr>
              <a:t>metacercariae</a:t>
            </a:r>
            <a:r>
              <a:rPr lang="en-GB" dirty="0"/>
              <a:t>.</a:t>
            </a:r>
            <a:endParaRPr lang="en-US" dirty="0"/>
          </a:p>
          <a:p>
            <a:pPr marL="0" indent="0" algn="ctr">
              <a:buNone/>
            </a:pPr>
            <a:endParaRPr lang="en-GB" b="1" dirty="0"/>
          </a:p>
          <a:p>
            <a:pPr marL="0" indent="0" algn="ctr">
              <a:buNone/>
            </a:pPr>
            <a:r>
              <a:rPr lang="en-GB" b="1" u="sng" dirty="0"/>
              <a:t>Diagnosis</a:t>
            </a:r>
            <a:endParaRPr lang="en-US" u="sng" dirty="0"/>
          </a:p>
          <a:p>
            <a:pPr lvl="0">
              <a:buFont typeface="Wingdings" pitchFamily="2" charset="2"/>
              <a:buChar char="v"/>
            </a:pPr>
            <a:r>
              <a:rPr lang="en-GB" dirty="0">
                <a:solidFill>
                  <a:srgbClr val="00B0F0"/>
                </a:solidFill>
              </a:rPr>
              <a:t>Examination of the faeces for small eggs of the parasite.</a:t>
            </a:r>
            <a:br>
              <a:rPr lang="en-GB" dirty="0"/>
            </a:br>
            <a:endParaRPr lang="en-US" dirty="0"/>
          </a:p>
          <a:p>
            <a:endParaRPr lang="en-US" dirty="0"/>
          </a:p>
        </p:txBody>
      </p:sp>
    </p:spTree>
    <p:extLst>
      <p:ext uri="{BB962C8B-B14F-4D97-AF65-F5344CB8AC3E}">
        <p14:creationId xmlns:p14="http://schemas.microsoft.com/office/powerpoint/2010/main" val="753335433"/>
      </p:ext>
    </p:extLst>
  </p:cSld>
  <p:clrMapOvr>
    <a:masterClrMapping/>
  </p:clrMapOvr>
</p:sld>
</file>

<file path=ppt/slides/slide3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Dicroceoelium dendriticum</a:t>
            </a:r>
            <a:br>
              <a:rPr lang="en-US" dirty="0"/>
            </a:br>
            <a:endParaRPr lang="en-US" dirty="0"/>
          </a:p>
        </p:txBody>
      </p:sp>
      <p:sp>
        <p:nvSpPr>
          <p:cNvPr id="3" name="Content Placeholder 2"/>
          <p:cNvSpPr>
            <a:spLocks noGrp="1"/>
          </p:cNvSpPr>
          <p:nvPr>
            <p:ph idx="1"/>
          </p:nvPr>
        </p:nvSpPr>
        <p:spPr>
          <a:xfrm>
            <a:off x="457200" y="1600200"/>
            <a:ext cx="8229600" cy="4800600"/>
          </a:xfrm>
        </p:spPr>
        <p:txBody>
          <a:bodyPr>
            <a:normAutofit fontScale="92500" lnSpcReduction="20000"/>
          </a:bodyPr>
          <a:lstStyle/>
          <a:p>
            <a:pPr lvl="0">
              <a:buFont typeface="Wingdings" pitchFamily="2" charset="2"/>
              <a:buChar char="v"/>
            </a:pPr>
            <a:r>
              <a:rPr lang="en-GB" dirty="0"/>
              <a:t>A small fluke usually parasitic in the </a:t>
            </a:r>
            <a:r>
              <a:rPr lang="en-GB" dirty="0">
                <a:solidFill>
                  <a:srgbClr val="00B0F0"/>
                </a:solidFill>
              </a:rPr>
              <a:t>biliary tract </a:t>
            </a:r>
            <a:r>
              <a:rPr lang="en-GB" dirty="0"/>
              <a:t>of </a:t>
            </a:r>
            <a:r>
              <a:rPr lang="en-GB" dirty="0">
                <a:solidFill>
                  <a:srgbClr val="00B050"/>
                </a:solidFill>
              </a:rPr>
              <a:t>sheep</a:t>
            </a:r>
            <a:r>
              <a:rPr lang="en-GB" dirty="0"/>
              <a:t> and </a:t>
            </a:r>
            <a:r>
              <a:rPr lang="en-GB" dirty="0">
                <a:solidFill>
                  <a:srgbClr val="00B050"/>
                </a:solidFill>
              </a:rPr>
              <a:t>cattle</a:t>
            </a:r>
            <a:r>
              <a:rPr lang="en-GB" dirty="0"/>
              <a:t>. </a:t>
            </a:r>
            <a:r>
              <a:rPr lang="en-GB" b="1" dirty="0">
                <a:solidFill>
                  <a:srgbClr val="00B050"/>
                </a:solidFill>
              </a:rPr>
              <a:t>Human</a:t>
            </a:r>
            <a:r>
              <a:rPr lang="en-GB" dirty="0"/>
              <a:t> </a:t>
            </a:r>
            <a:r>
              <a:rPr lang="en-GB" b="1" dirty="0"/>
              <a:t>infection is rare</a:t>
            </a:r>
            <a:r>
              <a:rPr lang="en-GB" dirty="0"/>
              <a:t>.</a:t>
            </a:r>
            <a:endParaRPr lang="en-US" dirty="0"/>
          </a:p>
          <a:p>
            <a:pPr marL="0" indent="0" algn="ctr">
              <a:buNone/>
            </a:pPr>
            <a:r>
              <a:rPr lang="en-GB" b="1" u="sng" dirty="0"/>
              <a:t>Distribution</a:t>
            </a:r>
            <a:endParaRPr lang="en-US" u="sng" dirty="0"/>
          </a:p>
          <a:p>
            <a:pPr lvl="0">
              <a:buFont typeface="Wingdings" pitchFamily="2" charset="2"/>
              <a:buChar char="v"/>
            </a:pPr>
            <a:r>
              <a:rPr lang="en-GB" u="sng" dirty="0"/>
              <a:t>China</a:t>
            </a:r>
            <a:r>
              <a:rPr lang="en-GB" dirty="0"/>
              <a:t>, </a:t>
            </a:r>
            <a:r>
              <a:rPr lang="en-GB" u="sng" dirty="0"/>
              <a:t>Africa</a:t>
            </a:r>
            <a:r>
              <a:rPr lang="en-GB" dirty="0"/>
              <a:t>, </a:t>
            </a:r>
            <a:r>
              <a:rPr lang="en-GB" u="sng" dirty="0"/>
              <a:t>S. America </a:t>
            </a:r>
            <a:r>
              <a:rPr lang="en-GB" dirty="0"/>
              <a:t>and </a:t>
            </a:r>
            <a:r>
              <a:rPr lang="en-GB" u="sng" dirty="0"/>
              <a:t>Europe</a:t>
            </a:r>
            <a:r>
              <a:rPr lang="en-GB" dirty="0"/>
              <a:t>.</a:t>
            </a:r>
            <a:endParaRPr lang="en-US" dirty="0"/>
          </a:p>
          <a:p>
            <a:pPr marL="0" indent="0" algn="ctr">
              <a:buNone/>
            </a:pPr>
            <a:r>
              <a:rPr lang="en-GB" b="1" u="sng" dirty="0"/>
              <a:t>Transmission and Life Cycle</a:t>
            </a:r>
            <a:endParaRPr lang="en-US" u="sng" dirty="0"/>
          </a:p>
          <a:p>
            <a:pPr lvl="0">
              <a:buFont typeface="Wingdings" pitchFamily="2" charset="2"/>
              <a:buChar char="v"/>
            </a:pPr>
            <a:r>
              <a:rPr lang="en-GB" dirty="0"/>
              <a:t>Spurious infection (</a:t>
            </a:r>
            <a:r>
              <a:rPr lang="en-GB" dirty="0">
                <a:solidFill>
                  <a:srgbClr val="00B0F0"/>
                </a:solidFill>
              </a:rPr>
              <a:t>resulting from ingestion of infected beef or sheep (liver</a:t>
            </a:r>
            <a:r>
              <a:rPr lang="en-GB" dirty="0"/>
              <a:t>)), occasionally.</a:t>
            </a:r>
            <a:endParaRPr lang="en-US" dirty="0"/>
          </a:p>
          <a:p>
            <a:pPr lvl="0">
              <a:buFont typeface="Wingdings" pitchFamily="2" charset="2"/>
              <a:buChar char="v"/>
            </a:pPr>
            <a:r>
              <a:rPr lang="en-GB" dirty="0"/>
              <a:t>Human infection is by accidentally </a:t>
            </a:r>
            <a:r>
              <a:rPr lang="en-GB" dirty="0">
                <a:solidFill>
                  <a:srgbClr val="00B0F0"/>
                </a:solidFill>
              </a:rPr>
              <a:t>swallowing ants which may contain </a:t>
            </a:r>
            <a:r>
              <a:rPr lang="en-GB" dirty="0">
                <a:solidFill>
                  <a:srgbClr val="C00000"/>
                </a:solidFill>
              </a:rPr>
              <a:t>metacercariae</a:t>
            </a:r>
            <a:r>
              <a:rPr lang="en-GB" dirty="0"/>
              <a:t>.</a:t>
            </a:r>
            <a:endParaRPr lang="en-US" dirty="0"/>
          </a:p>
          <a:p>
            <a:pPr lvl="0">
              <a:buFont typeface="Wingdings" pitchFamily="2" charset="2"/>
              <a:buChar char="v"/>
            </a:pPr>
            <a:r>
              <a:rPr lang="en-GB" dirty="0">
                <a:solidFill>
                  <a:srgbClr val="C00000"/>
                </a:solidFill>
              </a:rPr>
              <a:t>Metacercariae</a:t>
            </a:r>
            <a:r>
              <a:rPr lang="en-GB" dirty="0"/>
              <a:t> </a:t>
            </a:r>
            <a:r>
              <a:rPr lang="en-GB" u="sng" dirty="0"/>
              <a:t>develop into mature egg-producing flukes in the </a:t>
            </a:r>
            <a:r>
              <a:rPr lang="en-GB" dirty="0">
                <a:solidFill>
                  <a:srgbClr val="00B0F0"/>
                </a:solidFill>
              </a:rPr>
              <a:t>bile ducts </a:t>
            </a:r>
            <a:r>
              <a:rPr lang="en-GB" dirty="0"/>
              <a:t>and </a:t>
            </a:r>
            <a:r>
              <a:rPr lang="en-GB" dirty="0">
                <a:solidFill>
                  <a:srgbClr val="00B0F0"/>
                </a:solidFill>
              </a:rPr>
              <a:t>liver</a:t>
            </a:r>
            <a:endParaRPr lang="en-US" dirty="0">
              <a:solidFill>
                <a:srgbClr val="00B0F0"/>
              </a:solidFill>
            </a:endParaRPr>
          </a:p>
          <a:p>
            <a:pPr marL="0" indent="0">
              <a:buNone/>
            </a:pPr>
            <a:endParaRPr lang="en-US" dirty="0"/>
          </a:p>
        </p:txBody>
      </p:sp>
    </p:spTree>
    <p:extLst>
      <p:ext uri="{BB962C8B-B14F-4D97-AF65-F5344CB8AC3E}">
        <p14:creationId xmlns:p14="http://schemas.microsoft.com/office/powerpoint/2010/main" val="4067136592"/>
      </p:ext>
    </p:extLst>
  </p:cSld>
  <p:clrMapOvr>
    <a:masterClrMapping/>
  </p:clrMapOvr>
</p:sld>
</file>

<file path=ppt/slides/slide4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a:solidFill>
                  <a:srgbClr val="00B050"/>
                </a:solidFill>
              </a:rPr>
              <a:t>Dicroceoelium dendriticum </a:t>
            </a:r>
            <a:r>
              <a:rPr lang="en-GB" b="1" i="1" dirty="0"/>
              <a:t>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GB" b="1" u="sng" dirty="0"/>
              <a:t>Symptoms and Pathology</a:t>
            </a:r>
            <a:endParaRPr lang="en-US" u="sng" dirty="0"/>
          </a:p>
          <a:p>
            <a:pPr lvl="0">
              <a:buFont typeface="Wingdings" pitchFamily="2" charset="2"/>
              <a:buChar char="v"/>
            </a:pPr>
            <a:r>
              <a:rPr lang="en-GB" dirty="0">
                <a:solidFill>
                  <a:srgbClr val="00B0F0"/>
                </a:solidFill>
              </a:rPr>
              <a:t>Symptoms are rarely serious</a:t>
            </a:r>
            <a:endParaRPr lang="en-US" dirty="0">
              <a:solidFill>
                <a:srgbClr val="00B0F0"/>
              </a:solidFill>
            </a:endParaRPr>
          </a:p>
          <a:p>
            <a:pPr marL="0" indent="0" algn="ctr">
              <a:buNone/>
            </a:pPr>
            <a:endParaRPr lang="en-GB" b="1" dirty="0"/>
          </a:p>
          <a:p>
            <a:pPr marL="0" indent="0" algn="ctr">
              <a:buNone/>
            </a:pPr>
            <a:r>
              <a:rPr lang="en-GB" b="1" u="sng" dirty="0"/>
              <a:t>Diagnosis</a:t>
            </a:r>
            <a:endParaRPr lang="en-US" u="sng" dirty="0"/>
          </a:p>
          <a:p>
            <a:pPr lvl="0">
              <a:buFont typeface="Wingdings" pitchFamily="2" charset="2"/>
              <a:buChar char="v"/>
            </a:pPr>
            <a:r>
              <a:rPr lang="en-GB" dirty="0">
                <a:solidFill>
                  <a:srgbClr val="00B0F0"/>
                </a:solidFill>
              </a:rPr>
              <a:t>Examination of the faeces for eggs </a:t>
            </a:r>
            <a:r>
              <a:rPr lang="en-GB" dirty="0"/>
              <a:t>and of </a:t>
            </a:r>
            <a:r>
              <a:rPr lang="en-GB" dirty="0">
                <a:solidFill>
                  <a:srgbClr val="00B0F0"/>
                </a:solidFill>
              </a:rPr>
              <a:t>aspirates of duodenal fluid for the eggs</a:t>
            </a:r>
            <a:r>
              <a:rPr lang="en-GB" dirty="0"/>
              <a:t>.</a:t>
            </a:r>
            <a:endParaRPr lang="en-US" dirty="0"/>
          </a:p>
          <a:p>
            <a:pPr marL="0" indent="0">
              <a:buNone/>
            </a:pPr>
            <a:r>
              <a:rPr lang="en-GB" dirty="0"/>
              <a:t> </a:t>
            </a:r>
            <a:endParaRPr lang="en-US" dirty="0"/>
          </a:p>
          <a:p>
            <a:endParaRPr lang="en-US" dirty="0"/>
          </a:p>
        </p:txBody>
      </p:sp>
    </p:spTree>
    <p:extLst>
      <p:ext uri="{BB962C8B-B14F-4D97-AF65-F5344CB8AC3E}">
        <p14:creationId xmlns:p14="http://schemas.microsoft.com/office/powerpoint/2010/main" val="1890223716"/>
      </p:ext>
    </p:extLst>
  </p:cSld>
  <p:clrMapOvr>
    <a:masterClrMapping/>
  </p:clrMapOvr>
</p:sld>
</file>

<file path=ppt/slides/slide4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PARASITOLOGY (BIOL 460)</a:t>
            </a:r>
          </a:p>
        </p:txBody>
      </p:sp>
      <p:sp>
        <p:nvSpPr>
          <p:cNvPr id="3" name="Subtitle 2"/>
          <p:cNvSpPr>
            <a:spLocks noGrp="1"/>
          </p:cNvSpPr>
          <p:nvPr>
            <p:ph type="subTitle" idx="1"/>
          </p:nvPr>
        </p:nvSpPr>
        <p:spPr/>
        <p:txBody>
          <a:bodyPr/>
          <a:lstStyle/>
          <a:p>
            <a:r>
              <a:rPr lang="en-US" dirty="0"/>
              <a:t>UNIT 6 B</a:t>
            </a:r>
          </a:p>
          <a:p>
            <a:r>
              <a:rPr lang="en-GB" b="1" dirty="0">
                <a:solidFill>
                  <a:srgbClr val="FF0000"/>
                </a:solidFill>
              </a:rPr>
              <a:t>TREMATODES (FLUKES)</a:t>
            </a:r>
            <a:endParaRPr lang="en-US" dirty="0">
              <a:solidFill>
                <a:srgbClr val="FF0000"/>
              </a:solidFill>
            </a:endParaRPr>
          </a:p>
          <a:p>
            <a:endParaRPr lang="en-US" dirty="0"/>
          </a:p>
          <a:p>
            <a:endParaRPr lang="en-US" dirty="0"/>
          </a:p>
        </p:txBody>
      </p:sp>
    </p:spTree>
    <p:extLst>
      <p:ext uri="{BB962C8B-B14F-4D97-AF65-F5344CB8AC3E}">
        <p14:creationId xmlns:p14="http://schemas.microsoft.com/office/powerpoint/2010/main" val="3999026718"/>
      </p:ext>
    </p:extLst>
  </p:cSld>
  <p:clrMapOvr>
    <a:masterClrMapping/>
  </p:clrMapOvr>
</p:sld>
</file>

<file path=ppt/slides/slide4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505200" y="152400"/>
            <a:ext cx="5486400" cy="6096000"/>
          </a:xfr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3400" y="381000"/>
            <a:ext cx="3124200" cy="5029200"/>
          </a:xfrm>
          <a:prstGeom prst="rect">
            <a:avLst/>
          </a:prstGeom>
        </p:spPr>
      </p:pic>
    </p:spTree>
    <p:extLst>
      <p:ext uri="{BB962C8B-B14F-4D97-AF65-F5344CB8AC3E}">
        <p14:creationId xmlns:p14="http://schemas.microsoft.com/office/powerpoint/2010/main" val="2599675785"/>
      </p:ext>
    </p:extLst>
  </p:cSld>
  <p:clrMapOvr>
    <a:masterClrMapping/>
  </p:clrMapOvr>
</p:sld>
</file>

<file path=ppt/slides/slide4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FLUKES</a:t>
            </a:r>
            <a:r>
              <a:rPr lang="en-US" b="1" dirty="0"/>
              <a:t> – </a:t>
            </a:r>
            <a:r>
              <a:rPr lang="en-US" b="1" dirty="0">
                <a:solidFill>
                  <a:srgbClr val="00B0F0"/>
                </a:solidFill>
              </a:rPr>
              <a:t>THE SCHISTOSOMES</a:t>
            </a:r>
            <a:br>
              <a:rPr lang="en-US" dirty="0"/>
            </a:b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r>
              <a:rPr lang="en-US" dirty="0"/>
              <a:t>The </a:t>
            </a:r>
            <a:r>
              <a:rPr lang="en-US" dirty="0">
                <a:solidFill>
                  <a:srgbClr val="00B0F0"/>
                </a:solidFill>
              </a:rPr>
              <a:t>Schistosomes</a:t>
            </a:r>
            <a:r>
              <a:rPr lang="en-US" dirty="0"/>
              <a:t> are </a:t>
            </a:r>
            <a:r>
              <a:rPr lang="en-US" dirty="0">
                <a:solidFill>
                  <a:srgbClr val="FF0000"/>
                </a:solidFill>
              </a:rPr>
              <a:t>blood flukes</a:t>
            </a:r>
            <a:r>
              <a:rPr lang="en-US" dirty="0"/>
              <a:t>: </a:t>
            </a:r>
            <a:r>
              <a:rPr lang="en-US" dirty="0">
                <a:solidFill>
                  <a:srgbClr val="7030A0"/>
                </a:solidFill>
              </a:rPr>
              <a:t>the adults live in the </a:t>
            </a:r>
            <a:r>
              <a:rPr lang="en-US" u="sng" dirty="0">
                <a:solidFill>
                  <a:srgbClr val="7030A0"/>
                </a:solidFill>
              </a:rPr>
              <a:t>veins</a:t>
            </a:r>
            <a:r>
              <a:rPr lang="en-US" dirty="0">
                <a:solidFill>
                  <a:srgbClr val="7030A0"/>
                </a:solidFill>
              </a:rPr>
              <a:t> or the </a:t>
            </a:r>
            <a:r>
              <a:rPr lang="en-US" u="sng" dirty="0">
                <a:solidFill>
                  <a:srgbClr val="7030A0"/>
                </a:solidFill>
              </a:rPr>
              <a:t>intestine</a:t>
            </a:r>
            <a:r>
              <a:rPr lang="en-US" dirty="0">
                <a:solidFill>
                  <a:srgbClr val="7030A0"/>
                </a:solidFill>
              </a:rPr>
              <a:t> or </a:t>
            </a:r>
            <a:r>
              <a:rPr lang="en-US" u="sng" dirty="0">
                <a:solidFill>
                  <a:srgbClr val="7030A0"/>
                </a:solidFill>
              </a:rPr>
              <a:t>bladder</a:t>
            </a:r>
            <a:r>
              <a:rPr lang="en-US" dirty="0"/>
              <a:t>. </a:t>
            </a:r>
            <a:r>
              <a:rPr lang="en-US" u="sng" dirty="0"/>
              <a:t>The sexes are separate</a:t>
            </a:r>
            <a:r>
              <a:rPr lang="en-US" dirty="0"/>
              <a:t>. </a:t>
            </a:r>
          </a:p>
          <a:p>
            <a:r>
              <a:rPr lang="en-US" dirty="0">
                <a:solidFill>
                  <a:srgbClr val="C00000"/>
                </a:solidFill>
              </a:rPr>
              <a:t>The body of the male in folded for the most part to form a groove (gynaecorphic canal) in which it holds the female</a:t>
            </a:r>
            <a:r>
              <a:rPr lang="en-US" dirty="0"/>
              <a:t>. </a:t>
            </a:r>
          </a:p>
          <a:p>
            <a:r>
              <a:rPr lang="en-US" dirty="0">
                <a:solidFill>
                  <a:srgbClr val="FF3399"/>
                </a:solidFill>
              </a:rPr>
              <a:t>They have suckers for attachment </a:t>
            </a:r>
            <a:r>
              <a:rPr lang="en-US" u="sng" dirty="0"/>
              <a:t>to the wall of the blood vessel</a:t>
            </a:r>
            <a:r>
              <a:rPr lang="en-US" dirty="0"/>
              <a:t>. </a:t>
            </a:r>
          </a:p>
          <a:p>
            <a:r>
              <a:rPr lang="en-US" u="sng" dirty="0"/>
              <a:t>They obtain food and oxygen from the blood</a:t>
            </a:r>
            <a:r>
              <a:rPr lang="en-US" dirty="0"/>
              <a:t>.</a:t>
            </a:r>
          </a:p>
          <a:p>
            <a:r>
              <a:rPr lang="en-US" dirty="0"/>
              <a:t>Unlike most Trematodes, </a:t>
            </a:r>
            <a:r>
              <a:rPr lang="en-US" dirty="0">
                <a:solidFill>
                  <a:srgbClr val="00B0F0"/>
                </a:solidFill>
              </a:rPr>
              <a:t>Schistosomes</a:t>
            </a:r>
            <a:r>
              <a:rPr lang="en-US" dirty="0"/>
              <a:t> </a:t>
            </a:r>
            <a:r>
              <a:rPr lang="en-US" b="1" dirty="0"/>
              <a:t>are not flattened and leaf-like.</a:t>
            </a:r>
          </a:p>
          <a:p>
            <a:endParaRPr lang="en-US" dirty="0"/>
          </a:p>
        </p:txBody>
      </p:sp>
    </p:spTree>
    <p:extLst>
      <p:ext uri="{BB962C8B-B14F-4D97-AF65-F5344CB8AC3E}">
        <p14:creationId xmlns:p14="http://schemas.microsoft.com/office/powerpoint/2010/main" val="923196868"/>
      </p:ext>
    </p:extLst>
  </p:cSld>
  <p:clrMapOvr>
    <a:masterClrMapping/>
  </p:clrMapOvr>
</p:sld>
</file>

<file path=ppt/slides/slide4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FLUKES</a:t>
            </a:r>
            <a:r>
              <a:rPr lang="en-US" b="1" dirty="0"/>
              <a:t> – </a:t>
            </a:r>
            <a:r>
              <a:rPr lang="en-US" b="1" dirty="0">
                <a:solidFill>
                  <a:srgbClr val="00B0F0"/>
                </a:solidFill>
              </a:rPr>
              <a:t>THE SCHISTOSOMES </a:t>
            </a:r>
            <a:r>
              <a:rPr lang="en-US" b="1" dirty="0"/>
              <a:t>CONT’D</a:t>
            </a:r>
            <a:br>
              <a:rPr lang="en-US" dirty="0"/>
            </a:br>
            <a:endParaRPr lang="en-US" dirty="0"/>
          </a:p>
        </p:txBody>
      </p:sp>
      <p:sp>
        <p:nvSpPr>
          <p:cNvPr id="3" name="Content Placeholder 2"/>
          <p:cNvSpPr>
            <a:spLocks noGrp="1"/>
          </p:cNvSpPr>
          <p:nvPr>
            <p:ph idx="1"/>
          </p:nvPr>
        </p:nvSpPr>
        <p:spPr/>
        <p:txBody>
          <a:bodyPr/>
          <a:lstStyle/>
          <a:p>
            <a:r>
              <a:rPr lang="en-US" u="sng" dirty="0"/>
              <a:t>Transmission is by contact with water infested with </a:t>
            </a:r>
            <a:r>
              <a:rPr lang="en-US" u="sng" dirty="0">
                <a:solidFill>
                  <a:srgbClr val="00B050"/>
                </a:solidFill>
              </a:rPr>
              <a:t>intermediate host snails </a:t>
            </a:r>
            <a:r>
              <a:rPr lang="en-US" u="sng" dirty="0"/>
              <a:t>belonging to certain genera</a:t>
            </a:r>
            <a:r>
              <a:rPr lang="en-US" dirty="0"/>
              <a:t>, and which shed </a:t>
            </a:r>
            <a:r>
              <a:rPr lang="en-US" dirty="0">
                <a:solidFill>
                  <a:srgbClr val="FF0000"/>
                </a:solidFill>
              </a:rPr>
              <a:t>infective</a:t>
            </a:r>
            <a:r>
              <a:rPr lang="en-US" dirty="0"/>
              <a:t> </a:t>
            </a:r>
            <a:r>
              <a:rPr lang="en-US" dirty="0">
                <a:solidFill>
                  <a:srgbClr val="FF0000"/>
                </a:solidFill>
              </a:rPr>
              <a:t>larvae</a:t>
            </a:r>
            <a:r>
              <a:rPr lang="en-US" dirty="0"/>
              <a:t> called </a:t>
            </a:r>
            <a:r>
              <a:rPr lang="en-US" dirty="0">
                <a:solidFill>
                  <a:srgbClr val="C00000"/>
                </a:solidFill>
              </a:rPr>
              <a:t>cercariae</a:t>
            </a:r>
            <a:r>
              <a:rPr lang="en-US" dirty="0"/>
              <a:t> </a:t>
            </a:r>
            <a:r>
              <a:rPr lang="en-US" u="sng" dirty="0"/>
              <a:t>and which are able to penetrate unbroken skin</a:t>
            </a:r>
            <a:r>
              <a:rPr lang="en-US" dirty="0"/>
              <a:t>. </a:t>
            </a:r>
          </a:p>
          <a:p>
            <a:r>
              <a:rPr lang="en-US" dirty="0"/>
              <a:t>The </a:t>
            </a:r>
            <a:r>
              <a:rPr lang="en-US" dirty="0">
                <a:solidFill>
                  <a:srgbClr val="C00000"/>
                </a:solidFill>
              </a:rPr>
              <a:t>cercariae</a:t>
            </a:r>
            <a:r>
              <a:rPr lang="en-US" dirty="0"/>
              <a:t> have a </a:t>
            </a:r>
            <a:r>
              <a:rPr lang="en-US" b="1" dirty="0"/>
              <a:t>characteristic forked tail</a:t>
            </a:r>
            <a:r>
              <a:rPr lang="en-US" dirty="0"/>
              <a:t>. </a:t>
            </a:r>
          </a:p>
          <a:p>
            <a:endParaRPr lang="en-US" dirty="0"/>
          </a:p>
        </p:txBody>
      </p:sp>
    </p:spTree>
    <p:extLst>
      <p:ext uri="{BB962C8B-B14F-4D97-AF65-F5344CB8AC3E}">
        <p14:creationId xmlns:p14="http://schemas.microsoft.com/office/powerpoint/2010/main" val="1437353357"/>
      </p:ext>
    </p:extLst>
  </p:cSld>
  <p:clrMapOvr>
    <a:masterClrMapping/>
  </p:clrMapOvr>
</p:sld>
</file>

<file path=ppt/slides/slide4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C000"/>
                </a:solidFill>
              </a:rPr>
              <a:t>Five species infect humans</a:t>
            </a:r>
            <a:r>
              <a:rPr lang="en-US" b="1" dirty="0"/>
              <a:t> namely:</a:t>
            </a:r>
            <a:br>
              <a:rPr lang="en-US" b="1" dirty="0"/>
            </a:br>
            <a:endParaRPr lang="en-US" b="1" dirty="0"/>
          </a:p>
        </p:txBody>
      </p:sp>
      <p:sp>
        <p:nvSpPr>
          <p:cNvPr id="3" name="Content Placeholder 2"/>
          <p:cNvSpPr>
            <a:spLocks noGrp="1"/>
          </p:cNvSpPr>
          <p:nvPr>
            <p:ph idx="1"/>
          </p:nvPr>
        </p:nvSpPr>
        <p:spPr/>
        <p:txBody>
          <a:bodyPr>
            <a:normAutofit/>
          </a:bodyPr>
          <a:lstStyle/>
          <a:p>
            <a:pPr marL="514350" lvl="0" indent="-514350">
              <a:buFont typeface="+mj-lt"/>
              <a:buAutoNum type="arabicPeriod"/>
            </a:pPr>
            <a:r>
              <a:rPr lang="en-US" i="1" dirty="0">
                <a:solidFill>
                  <a:srgbClr val="C00000"/>
                </a:solidFill>
              </a:rPr>
              <a:t>S. haematobium</a:t>
            </a:r>
            <a:r>
              <a:rPr lang="en-US" dirty="0"/>
              <a:t>: the cause of </a:t>
            </a:r>
            <a:r>
              <a:rPr lang="en-US" dirty="0">
                <a:solidFill>
                  <a:srgbClr val="C00000"/>
                </a:solidFill>
              </a:rPr>
              <a:t>urinary schistosomiasis</a:t>
            </a:r>
          </a:p>
          <a:p>
            <a:pPr marL="514350" lvl="0" indent="-514350">
              <a:buFont typeface="+mj-lt"/>
              <a:buAutoNum type="arabicPeriod"/>
            </a:pPr>
            <a:r>
              <a:rPr lang="en-US" i="1" dirty="0">
                <a:solidFill>
                  <a:srgbClr val="00B0F0"/>
                </a:solidFill>
              </a:rPr>
              <a:t>S. mansoni</a:t>
            </a:r>
            <a:r>
              <a:rPr lang="en-US" dirty="0"/>
              <a:t>: the cause </a:t>
            </a:r>
            <a:r>
              <a:rPr lang="en-US" dirty="0">
                <a:solidFill>
                  <a:srgbClr val="00B0F0"/>
                </a:solidFill>
              </a:rPr>
              <a:t>intestinal schistosomiasis</a:t>
            </a:r>
          </a:p>
          <a:p>
            <a:pPr marL="514350" lvl="0" indent="-514350">
              <a:buFont typeface="+mj-lt"/>
              <a:buAutoNum type="arabicPeriod"/>
            </a:pPr>
            <a:r>
              <a:rPr lang="en-US" i="1" dirty="0">
                <a:solidFill>
                  <a:schemeClr val="accent6">
                    <a:lumMod val="75000"/>
                  </a:schemeClr>
                </a:solidFill>
              </a:rPr>
              <a:t>S. intercalatum</a:t>
            </a:r>
            <a:r>
              <a:rPr lang="en-US" dirty="0"/>
              <a:t>: cause of </a:t>
            </a:r>
            <a:r>
              <a:rPr lang="en-US" dirty="0">
                <a:solidFill>
                  <a:schemeClr val="accent6">
                    <a:lumMod val="75000"/>
                  </a:schemeClr>
                </a:solidFill>
              </a:rPr>
              <a:t>intestinal schistosomiasis</a:t>
            </a:r>
          </a:p>
          <a:p>
            <a:pPr marL="514350" lvl="0" indent="-514350">
              <a:buFont typeface="+mj-lt"/>
              <a:buAutoNum type="arabicPeriod"/>
            </a:pPr>
            <a:r>
              <a:rPr lang="en-US" i="1" dirty="0">
                <a:solidFill>
                  <a:srgbClr val="FF3399"/>
                </a:solidFill>
              </a:rPr>
              <a:t>S. mekongi</a:t>
            </a:r>
            <a:r>
              <a:rPr lang="en-US" dirty="0"/>
              <a:t>: cause of </a:t>
            </a:r>
            <a:r>
              <a:rPr lang="en-US" dirty="0">
                <a:solidFill>
                  <a:srgbClr val="FF3399"/>
                </a:solidFill>
              </a:rPr>
              <a:t>intestinal schistosomiasis</a:t>
            </a:r>
          </a:p>
        </p:txBody>
      </p:sp>
    </p:spTree>
    <p:extLst>
      <p:ext uri="{BB962C8B-B14F-4D97-AF65-F5344CB8AC3E}">
        <p14:creationId xmlns:p14="http://schemas.microsoft.com/office/powerpoint/2010/main" val="961971689"/>
      </p:ext>
    </p:extLst>
  </p:cSld>
  <p:clrMapOvr>
    <a:masterClrMapping/>
  </p:clrMapOvr>
</p:sld>
</file>

<file path=ppt/slides/slide4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Five species infect humans cont’d</a:t>
            </a:r>
            <a:br>
              <a:rPr lang="en-US" b="1" dirty="0"/>
            </a:br>
            <a:endParaRPr lang="en-US" dirty="0"/>
          </a:p>
        </p:txBody>
      </p:sp>
      <p:sp>
        <p:nvSpPr>
          <p:cNvPr id="3" name="Content Placeholder 2"/>
          <p:cNvSpPr>
            <a:spLocks noGrp="1"/>
          </p:cNvSpPr>
          <p:nvPr>
            <p:ph idx="1"/>
          </p:nvPr>
        </p:nvSpPr>
        <p:spPr/>
        <p:txBody>
          <a:bodyPr/>
          <a:lstStyle/>
          <a:p>
            <a:pPr marL="0" indent="0">
              <a:buNone/>
            </a:pPr>
            <a:r>
              <a:rPr lang="en-US" i="1" dirty="0"/>
              <a:t>5.</a:t>
            </a:r>
            <a:r>
              <a:rPr lang="en-US" i="1" dirty="0">
                <a:solidFill>
                  <a:srgbClr val="0070C0"/>
                </a:solidFill>
              </a:rPr>
              <a:t> S. japonicum</a:t>
            </a:r>
            <a:r>
              <a:rPr lang="en-US" dirty="0"/>
              <a:t>: cause of </a:t>
            </a:r>
            <a:r>
              <a:rPr lang="en-US" dirty="0">
                <a:solidFill>
                  <a:srgbClr val="0070C0"/>
                </a:solidFill>
              </a:rPr>
              <a:t>intestinal schistosomiasis</a:t>
            </a:r>
            <a:r>
              <a:rPr lang="en-US" dirty="0"/>
              <a:t>; closely related to </a:t>
            </a:r>
            <a:r>
              <a:rPr lang="en-US" i="1" dirty="0">
                <a:solidFill>
                  <a:srgbClr val="FF3399"/>
                </a:solidFill>
              </a:rPr>
              <a:t>S. mekongi</a:t>
            </a:r>
            <a:r>
              <a:rPr lang="en-US" i="1" dirty="0"/>
              <a:t>.</a:t>
            </a:r>
            <a:endParaRPr lang="en-US" dirty="0"/>
          </a:p>
          <a:p>
            <a:pPr marL="0" indent="0">
              <a:buNone/>
            </a:pPr>
            <a:endParaRPr lang="en-US" dirty="0"/>
          </a:p>
          <a:p>
            <a:pPr marL="0" indent="0">
              <a:buNone/>
            </a:pPr>
            <a:r>
              <a:rPr lang="en-US" dirty="0"/>
              <a:t>This species has </a:t>
            </a:r>
            <a:r>
              <a:rPr lang="en-US" dirty="0">
                <a:solidFill>
                  <a:srgbClr val="00B050"/>
                </a:solidFill>
              </a:rPr>
              <a:t>many animal reservoir hosts </a:t>
            </a:r>
            <a:r>
              <a:rPr lang="en-US" dirty="0"/>
              <a:t>including </a:t>
            </a:r>
            <a:r>
              <a:rPr lang="en-US" dirty="0">
                <a:solidFill>
                  <a:srgbClr val="00B050"/>
                </a:solidFill>
              </a:rPr>
              <a:t>dogs</a:t>
            </a:r>
            <a:r>
              <a:rPr lang="en-US" dirty="0"/>
              <a:t>, </a:t>
            </a:r>
            <a:r>
              <a:rPr lang="en-US" dirty="0">
                <a:solidFill>
                  <a:srgbClr val="00B050"/>
                </a:solidFill>
              </a:rPr>
              <a:t>cats</a:t>
            </a:r>
            <a:r>
              <a:rPr lang="en-US" dirty="0"/>
              <a:t>, </a:t>
            </a:r>
            <a:r>
              <a:rPr lang="en-US" dirty="0">
                <a:solidFill>
                  <a:srgbClr val="00B050"/>
                </a:solidFill>
              </a:rPr>
              <a:t>cattle</a:t>
            </a:r>
            <a:r>
              <a:rPr lang="en-US" dirty="0"/>
              <a:t>, </a:t>
            </a:r>
            <a:r>
              <a:rPr lang="en-US" dirty="0">
                <a:solidFill>
                  <a:srgbClr val="00B050"/>
                </a:solidFill>
              </a:rPr>
              <a:t>pigs</a:t>
            </a:r>
            <a:r>
              <a:rPr lang="en-US" dirty="0"/>
              <a:t>, </a:t>
            </a:r>
            <a:r>
              <a:rPr lang="en-US" dirty="0">
                <a:solidFill>
                  <a:srgbClr val="00B050"/>
                </a:solidFill>
              </a:rPr>
              <a:t>sheep</a:t>
            </a:r>
            <a:r>
              <a:rPr lang="en-US" dirty="0"/>
              <a:t>, </a:t>
            </a:r>
            <a:r>
              <a:rPr lang="en-US" dirty="0">
                <a:solidFill>
                  <a:srgbClr val="00B050"/>
                </a:solidFill>
              </a:rPr>
              <a:t>goats</a:t>
            </a:r>
            <a:r>
              <a:rPr lang="en-US" dirty="0"/>
              <a:t>, </a:t>
            </a:r>
            <a:r>
              <a:rPr lang="en-US" dirty="0">
                <a:solidFill>
                  <a:srgbClr val="00B050"/>
                </a:solidFill>
              </a:rPr>
              <a:t>water-buffaloes</a:t>
            </a:r>
            <a:r>
              <a:rPr lang="en-US" dirty="0"/>
              <a:t>, </a:t>
            </a:r>
            <a:r>
              <a:rPr lang="en-US" dirty="0">
                <a:solidFill>
                  <a:srgbClr val="00B050"/>
                </a:solidFill>
              </a:rPr>
              <a:t>horses</a:t>
            </a:r>
            <a:r>
              <a:rPr lang="en-US" dirty="0"/>
              <a:t> and </a:t>
            </a:r>
            <a:r>
              <a:rPr lang="en-US" dirty="0">
                <a:solidFill>
                  <a:srgbClr val="00B050"/>
                </a:solidFill>
              </a:rPr>
              <a:t>wild rodents</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213578575"/>
      </p:ext>
    </p:extLst>
  </p:cSld>
  <p:clrMapOvr>
    <a:masterClrMapping/>
  </p:clrMapOvr>
</p:sld>
</file>

<file path=ppt/slides/slide4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C00000"/>
                </a:solidFill>
              </a:rPr>
              <a:t>S. haematobium</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This species causes </a:t>
            </a:r>
            <a:r>
              <a:rPr lang="en-US" dirty="0">
                <a:solidFill>
                  <a:srgbClr val="C00000"/>
                </a:solidFill>
              </a:rPr>
              <a:t>urinary schistosomiasis</a:t>
            </a:r>
            <a:r>
              <a:rPr lang="en-US" dirty="0"/>
              <a:t>. </a:t>
            </a:r>
            <a:r>
              <a:rPr lang="en-US" u="sng" dirty="0"/>
              <a:t>There are several strains</a:t>
            </a:r>
          </a:p>
          <a:p>
            <a:pPr marL="0" indent="0" algn="ctr">
              <a:buNone/>
            </a:pPr>
            <a:r>
              <a:rPr lang="en-US" b="1" u="sng" dirty="0"/>
              <a:t>Distribution</a:t>
            </a:r>
            <a:endParaRPr lang="en-US" u="sng" dirty="0"/>
          </a:p>
          <a:p>
            <a:pPr lvl="0"/>
            <a:r>
              <a:rPr lang="en-US" dirty="0"/>
              <a:t>Endemic in some </a:t>
            </a:r>
            <a:r>
              <a:rPr lang="en-US" u="sng" dirty="0"/>
              <a:t>52 African </a:t>
            </a:r>
            <a:r>
              <a:rPr lang="en-US" dirty="0"/>
              <a:t>and </a:t>
            </a:r>
            <a:r>
              <a:rPr lang="en-US" u="sng" dirty="0"/>
              <a:t>Eastern Mediterranean countries</a:t>
            </a:r>
            <a:r>
              <a:rPr lang="en-US" dirty="0"/>
              <a:t>, other </a:t>
            </a:r>
            <a:r>
              <a:rPr lang="en-US" u="sng" dirty="0"/>
              <a:t>tropical</a:t>
            </a:r>
            <a:r>
              <a:rPr lang="en-US" dirty="0"/>
              <a:t> and </a:t>
            </a:r>
            <a:r>
              <a:rPr lang="en-US" u="sng" dirty="0"/>
              <a:t>subtropical regions</a:t>
            </a:r>
            <a:r>
              <a:rPr lang="en-US" dirty="0"/>
              <a:t>, </a:t>
            </a:r>
            <a:r>
              <a:rPr lang="en-US" u="sng" dirty="0"/>
              <a:t>Iraq</a:t>
            </a:r>
            <a:r>
              <a:rPr lang="en-US" dirty="0"/>
              <a:t>, </a:t>
            </a:r>
            <a:r>
              <a:rPr lang="en-US" u="sng" dirty="0"/>
              <a:t>Iran</a:t>
            </a:r>
            <a:r>
              <a:rPr lang="en-US" dirty="0"/>
              <a:t>, </a:t>
            </a:r>
            <a:r>
              <a:rPr lang="en-US" u="sng" dirty="0"/>
              <a:t>Saudi Arabia</a:t>
            </a:r>
            <a:r>
              <a:rPr lang="en-US" dirty="0"/>
              <a:t>, </a:t>
            </a:r>
            <a:r>
              <a:rPr lang="en-US" u="sng" dirty="0"/>
              <a:t>Yemen</a:t>
            </a:r>
            <a:r>
              <a:rPr lang="en-US" dirty="0"/>
              <a:t>, </a:t>
            </a:r>
            <a:r>
              <a:rPr lang="en-US" u="sng" dirty="0"/>
              <a:t>Syria</a:t>
            </a:r>
            <a:r>
              <a:rPr lang="en-US" dirty="0"/>
              <a:t> and </a:t>
            </a:r>
            <a:r>
              <a:rPr lang="en-US" u="sng" dirty="0"/>
              <a:t>parts of India </a:t>
            </a:r>
            <a:r>
              <a:rPr lang="en-US" dirty="0"/>
              <a:t>and </a:t>
            </a:r>
            <a:r>
              <a:rPr lang="en-US" u="sng" dirty="0"/>
              <a:t>Indian Ocean Islands</a:t>
            </a:r>
            <a:r>
              <a:rPr lang="en-US" dirty="0"/>
              <a:t>.</a:t>
            </a:r>
          </a:p>
          <a:p>
            <a:pPr lvl="0"/>
            <a:r>
              <a:rPr lang="en-US" dirty="0">
                <a:solidFill>
                  <a:srgbClr val="C00000"/>
                </a:solidFill>
              </a:rPr>
              <a:t>Its distribution is also linked to the development of irrigation systems for hydropower and agriculture</a:t>
            </a:r>
            <a:r>
              <a:rPr lang="en-US" dirty="0"/>
              <a:t>.</a:t>
            </a:r>
          </a:p>
        </p:txBody>
      </p:sp>
    </p:spTree>
    <p:extLst>
      <p:ext uri="{BB962C8B-B14F-4D97-AF65-F5344CB8AC3E}">
        <p14:creationId xmlns:p14="http://schemas.microsoft.com/office/powerpoint/2010/main" val="2569524650"/>
      </p:ext>
    </p:extLst>
  </p:cSld>
  <p:clrMapOvr>
    <a:masterClrMapping/>
  </p:clrMapOvr>
</p:sld>
</file>

<file path=ppt/slides/slide4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C00000"/>
                </a:solidFill>
              </a:rPr>
              <a:t>S. haematobium </a:t>
            </a:r>
            <a:r>
              <a:rPr lang="en-US" b="1" i="1" dirty="0"/>
              <a:t>cont’d</a:t>
            </a:r>
            <a:br>
              <a:rPr lang="en-US" dirty="0"/>
            </a:br>
            <a:endParaRPr lang="en-US" dirty="0"/>
          </a:p>
        </p:txBody>
      </p:sp>
      <p:sp>
        <p:nvSpPr>
          <p:cNvPr id="3" name="Content Placeholder 2"/>
          <p:cNvSpPr>
            <a:spLocks noGrp="1"/>
          </p:cNvSpPr>
          <p:nvPr>
            <p:ph idx="1"/>
          </p:nvPr>
        </p:nvSpPr>
        <p:spPr>
          <a:xfrm>
            <a:off x="457200" y="1600200"/>
            <a:ext cx="8229600" cy="5181600"/>
          </a:xfrm>
        </p:spPr>
        <p:txBody>
          <a:bodyPr>
            <a:normAutofit fontScale="92500" lnSpcReduction="20000"/>
          </a:bodyPr>
          <a:lstStyle/>
          <a:p>
            <a:pPr marL="0" indent="0" algn="ctr">
              <a:buNone/>
            </a:pPr>
            <a:r>
              <a:rPr lang="en-US" b="1" u="sng" dirty="0"/>
              <a:t>Transmission and life cycle</a:t>
            </a:r>
            <a:endParaRPr lang="en-US" u="sng" dirty="0"/>
          </a:p>
          <a:p>
            <a:pPr lvl="0"/>
            <a:r>
              <a:rPr lang="en-US" dirty="0">
                <a:solidFill>
                  <a:srgbClr val="C00000"/>
                </a:solidFill>
              </a:rPr>
              <a:t>Eggs</a:t>
            </a:r>
            <a:r>
              <a:rPr lang="en-US" dirty="0"/>
              <a:t> passed in the urine of infected person into fresh water bodies hatch into larvae called </a:t>
            </a:r>
            <a:r>
              <a:rPr lang="en-US" dirty="0">
                <a:solidFill>
                  <a:srgbClr val="C00000"/>
                </a:solidFill>
              </a:rPr>
              <a:t>miracidia</a:t>
            </a:r>
            <a:r>
              <a:rPr lang="en-US" dirty="0"/>
              <a:t>. </a:t>
            </a:r>
          </a:p>
          <a:p>
            <a:pPr lvl="0"/>
            <a:r>
              <a:rPr lang="en-US" dirty="0"/>
              <a:t>These seek </a:t>
            </a:r>
            <a:r>
              <a:rPr lang="en-US" dirty="0">
                <a:solidFill>
                  <a:srgbClr val="00B0F0"/>
                </a:solidFill>
              </a:rPr>
              <a:t>intermediate</a:t>
            </a:r>
            <a:r>
              <a:rPr lang="en-US" dirty="0"/>
              <a:t> </a:t>
            </a:r>
            <a:r>
              <a:rPr lang="en-US" dirty="0">
                <a:solidFill>
                  <a:srgbClr val="00B050"/>
                </a:solidFill>
              </a:rPr>
              <a:t>host snails </a:t>
            </a:r>
            <a:r>
              <a:rPr lang="en-US" dirty="0"/>
              <a:t>of appropriate genus (in Africa, </a:t>
            </a:r>
            <a:r>
              <a:rPr lang="en-US" i="1" dirty="0">
                <a:solidFill>
                  <a:srgbClr val="00B050"/>
                </a:solidFill>
              </a:rPr>
              <a:t>Bulinus</a:t>
            </a:r>
            <a:r>
              <a:rPr lang="en-US" dirty="0">
                <a:solidFill>
                  <a:srgbClr val="00B050"/>
                </a:solidFill>
              </a:rPr>
              <a:t> </a:t>
            </a:r>
            <a:r>
              <a:rPr lang="en-US" dirty="0"/>
              <a:t>sp.) which live among aquatic vegetation in stagnant of slow flowing fresh water. </a:t>
            </a:r>
          </a:p>
          <a:p>
            <a:pPr lvl="0"/>
            <a:r>
              <a:rPr lang="en-US" dirty="0"/>
              <a:t>Inside the snails, the </a:t>
            </a:r>
            <a:r>
              <a:rPr lang="en-US" dirty="0">
                <a:solidFill>
                  <a:srgbClr val="C00000"/>
                </a:solidFill>
              </a:rPr>
              <a:t>miracidia</a:t>
            </a:r>
            <a:r>
              <a:rPr lang="en-US" dirty="0"/>
              <a:t> develop or transform into </a:t>
            </a:r>
            <a:r>
              <a:rPr lang="en-US" dirty="0">
                <a:solidFill>
                  <a:srgbClr val="C00000"/>
                </a:solidFill>
              </a:rPr>
              <a:t>sporocysts</a:t>
            </a:r>
            <a:r>
              <a:rPr lang="en-US" dirty="0"/>
              <a:t> (multiplying in the process) which later form the </a:t>
            </a:r>
            <a:r>
              <a:rPr lang="en-US" dirty="0">
                <a:solidFill>
                  <a:srgbClr val="FF0000"/>
                </a:solidFill>
              </a:rPr>
              <a:t>infective larvae</a:t>
            </a:r>
            <a:r>
              <a:rPr lang="en-US" dirty="0"/>
              <a:t>, </a:t>
            </a:r>
            <a:r>
              <a:rPr lang="en-US" dirty="0">
                <a:solidFill>
                  <a:srgbClr val="C00000"/>
                </a:solidFill>
              </a:rPr>
              <a:t>cercariae</a:t>
            </a:r>
            <a:r>
              <a:rPr lang="en-US" dirty="0"/>
              <a:t>.</a:t>
            </a:r>
          </a:p>
          <a:p>
            <a:endParaRPr lang="en-US" dirty="0"/>
          </a:p>
        </p:txBody>
      </p:sp>
    </p:spTree>
    <p:extLst>
      <p:ext uri="{BB962C8B-B14F-4D97-AF65-F5344CB8AC3E}">
        <p14:creationId xmlns:p14="http://schemas.microsoft.com/office/powerpoint/2010/main" val="4093554230"/>
      </p:ext>
    </p:extLst>
  </p:cSld>
  <p:clrMapOvr>
    <a:masterClrMapping/>
  </p:clrMapOvr>
</p:sld>
</file>

<file path=ppt/slides/slide4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haematobium cont’d</a:t>
            </a:r>
            <a:br>
              <a:rPr lang="en-US" dirty="0"/>
            </a:br>
            <a:endParaRPr lang="en-US" dirty="0"/>
          </a:p>
        </p:txBody>
      </p:sp>
      <p:sp>
        <p:nvSpPr>
          <p:cNvPr id="3" name="Content Placeholder 2"/>
          <p:cNvSpPr>
            <a:spLocks noGrp="1"/>
          </p:cNvSpPr>
          <p:nvPr>
            <p:ph idx="1"/>
          </p:nvPr>
        </p:nvSpPr>
        <p:spPr/>
        <p:txBody>
          <a:bodyPr>
            <a:normAutofit/>
          </a:bodyPr>
          <a:lstStyle/>
          <a:p>
            <a:pPr lvl="0"/>
            <a:r>
              <a:rPr lang="en-US" u="sng" dirty="0"/>
              <a:t>A person becomes infected when in contact with </a:t>
            </a:r>
            <a:r>
              <a:rPr lang="en-US" u="sng" dirty="0">
                <a:solidFill>
                  <a:srgbClr val="C00000"/>
                </a:solidFill>
              </a:rPr>
              <a:t>cercariae</a:t>
            </a:r>
            <a:r>
              <a:rPr lang="en-US" u="sng" dirty="0"/>
              <a:t> </a:t>
            </a:r>
            <a:r>
              <a:rPr lang="en-US" b="1" u="sng" dirty="0"/>
              <a:t>infested water</a:t>
            </a:r>
            <a:r>
              <a:rPr lang="en-US" dirty="0"/>
              <a:t>. </a:t>
            </a:r>
          </a:p>
          <a:p>
            <a:pPr lvl="0"/>
            <a:r>
              <a:rPr lang="en-US" dirty="0"/>
              <a:t>The </a:t>
            </a:r>
            <a:r>
              <a:rPr lang="en-US" dirty="0">
                <a:solidFill>
                  <a:srgbClr val="C00000"/>
                </a:solidFill>
              </a:rPr>
              <a:t>cercariae</a:t>
            </a:r>
            <a:r>
              <a:rPr lang="en-US" dirty="0"/>
              <a:t> attach to the skin and penetrate during which process the </a:t>
            </a:r>
            <a:r>
              <a:rPr lang="en-US" dirty="0">
                <a:solidFill>
                  <a:srgbClr val="C00000"/>
                </a:solidFill>
              </a:rPr>
              <a:t>cercariae</a:t>
            </a:r>
            <a:r>
              <a:rPr lang="en-US" dirty="0"/>
              <a:t> </a:t>
            </a:r>
            <a:r>
              <a:rPr lang="en-US" u="sng" dirty="0"/>
              <a:t>shed their tails and develop into</a:t>
            </a:r>
            <a:r>
              <a:rPr lang="en-US" dirty="0"/>
              <a:t> </a:t>
            </a:r>
            <a:r>
              <a:rPr lang="en-US" dirty="0">
                <a:solidFill>
                  <a:srgbClr val="C00000"/>
                </a:solidFill>
              </a:rPr>
              <a:t>schistosomules</a:t>
            </a:r>
            <a:r>
              <a:rPr lang="en-US" dirty="0"/>
              <a:t> </a:t>
            </a:r>
            <a:r>
              <a:rPr lang="en-US" u="sng" dirty="0"/>
              <a:t>which migrate through subcutaneous tissue into blood vessels</a:t>
            </a:r>
            <a:r>
              <a:rPr lang="en-US" dirty="0"/>
              <a:t>.</a:t>
            </a:r>
          </a:p>
          <a:p>
            <a:endParaRPr lang="en-US" dirty="0"/>
          </a:p>
        </p:txBody>
      </p:sp>
    </p:spTree>
    <p:extLst>
      <p:ext uri="{BB962C8B-B14F-4D97-AF65-F5344CB8AC3E}">
        <p14:creationId xmlns:p14="http://schemas.microsoft.com/office/powerpoint/2010/main" val="725185222"/>
      </p:ext>
    </p:extLst>
  </p:cSld>
  <p:clrMapOvr>
    <a:masterClrMapping/>
  </p:clrMapOvr>
</p:sld>
</file>

<file path=ppt/slides/slide4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C00000"/>
                </a:solidFill>
              </a:rPr>
              <a:t>S. haematobium </a:t>
            </a:r>
            <a:r>
              <a:rPr lang="en-US" b="1" i="1" dirty="0"/>
              <a:t>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The </a:t>
            </a:r>
            <a:r>
              <a:rPr lang="en-US" dirty="0">
                <a:solidFill>
                  <a:srgbClr val="C00000"/>
                </a:solidFill>
              </a:rPr>
              <a:t>schistosomules</a:t>
            </a:r>
            <a:r>
              <a:rPr lang="en-US" dirty="0"/>
              <a:t> </a:t>
            </a:r>
            <a:r>
              <a:rPr lang="en-US" u="sng" dirty="0"/>
              <a:t>are carried through the right side of the heart to the lungs and from here, most pass through the left side of the heart and enter the abdominal aorta </a:t>
            </a:r>
            <a:r>
              <a:rPr lang="en-US" dirty="0"/>
              <a:t>and </a:t>
            </a:r>
            <a:r>
              <a:rPr lang="en-US" u="sng" dirty="0"/>
              <a:t>then the portal (liver) circulation</a:t>
            </a:r>
            <a:r>
              <a:rPr lang="en-US" dirty="0"/>
              <a:t>.</a:t>
            </a:r>
          </a:p>
          <a:p>
            <a:pPr lvl="0"/>
            <a:r>
              <a:rPr lang="en-US" dirty="0">
                <a:solidFill>
                  <a:srgbClr val="7030A0"/>
                </a:solidFill>
              </a:rPr>
              <a:t>Maturity is reached in the blood vessels of the liver. </a:t>
            </a:r>
            <a:r>
              <a:rPr lang="en-US" dirty="0">
                <a:solidFill>
                  <a:schemeClr val="accent6">
                    <a:lumMod val="75000"/>
                  </a:schemeClr>
                </a:solidFill>
              </a:rPr>
              <a:t>Male and female flukes pair up</a:t>
            </a:r>
            <a:r>
              <a:rPr lang="en-US" u="sng" dirty="0"/>
              <a:t>, mate and migrate to the veins surrounding the bladder (Visceral plexus)</a:t>
            </a:r>
            <a:r>
              <a:rPr lang="en-US" dirty="0"/>
              <a:t>;</a:t>
            </a:r>
          </a:p>
          <a:p>
            <a:pPr lvl="0"/>
            <a:r>
              <a:rPr lang="en-US" dirty="0"/>
              <a:t> some may, occasionally be found in the veins of the rectum and the portal system.</a:t>
            </a:r>
          </a:p>
          <a:p>
            <a:pPr marL="0" indent="0">
              <a:buNone/>
            </a:pPr>
            <a:endParaRPr lang="en-US" dirty="0"/>
          </a:p>
        </p:txBody>
      </p:sp>
    </p:spTree>
    <p:extLst>
      <p:ext uri="{BB962C8B-B14F-4D97-AF65-F5344CB8AC3E}">
        <p14:creationId xmlns:p14="http://schemas.microsoft.com/office/powerpoint/2010/main" val="3794708978"/>
      </p:ext>
    </p:extLst>
  </p:cSld>
  <p:clrMapOvr>
    <a:masterClrMapping/>
  </p:clrMapOvr>
</p:sld>
</file>

<file path=ppt/slides/slide4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haematobium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The female lays eggs in the </a:t>
            </a:r>
            <a:r>
              <a:rPr lang="en-US" dirty="0" err="1"/>
              <a:t>venules</a:t>
            </a:r>
            <a:r>
              <a:rPr lang="en-US" dirty="0"/>
              <a:t> (small veins) of the bladder. About 20-200 eggs are estimated to be laid per day.</a:t>
            </a:r>
          </a:p>
          <a:p>
            <a:pPr lvl="0"/>
            <a:r>
              <a:rPr lang="en-US" dirty="0"/>
              <a:t>Many of the eggs penetrate the bladder mucosa into the lumen and are passed in the urine.</a:t>
            </a:r>
          </a:p>
          <a:p>
            <a:pPr lvl="0"/>
            <a:r>
              <a:rPr lang="en-US" dirty="0"/>
              <a:t> Eggs can be found in the urine some 6-8 weeks after infection.</a:t>
            </a:r>
          </a:p>
          <a:p>
            <a:pPr lvl="0"/>
            <a:r>
              <a:rPr lang="en-US" dirty="0"/>
              <a:t> About 20% of the eggs remain in the bladder wall and are calcified, some may be found in the ureters, rectal mucosa and reproductive organs especially in heavy infections.</a:t>
            </a:r>
          </a:p>
          <a:p>
            <a:endParaRPr lang="en-US" dirty="0"/>
          </a:p>
        </p:txBody>
      </p:sp>
    </p:spTree>
    <p:extLst>
      <p:ext uri="{BB962C8B-B14F-4D97-AF65-F5344CB8AC3E}">
        <p14:creationId xmlns:p14="http://schemas.microsoft.com/office/powerpoint/2010/main" val="1107216538"/>
      </p:ext>
    </p:extLst>
  </p:cSld>
  <p:clrMapOvr>
    <a:masterClrMapping/>
  </p:clrMapOvr>
</p:sld>
</file>

<file path=ppt/slides/slide4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haematobium cont’d</a:t>
            </a:r>
            <a:br>
              <a:rPr lang="en-US" dirty="0"/>
            </a:br>
            <a:endParaRPr lang="en-US" dirty="0"/>
          </a:p>
        </p:txBody>
      </p:sp>
      <p:sp>
        <p:nvSpPr>
          <p:cNvPr id="3" name="Content Placeholder 2"/>
          <p:cNvSpPr>
            <a:spLocks noGrp="1"/>
          </p:cNvSpPr>
          <p:nvPr>
            <p:ph idx="1"/>
          </p:nvPr>
        </p:nvSpPr>
        <p:spPr/>
        <p:txBody>
          <a:bodyPr/>
          <a:lstStyle/>
          <a:p>
            <a:pPr lvl="0"/>
            <a:r>
              <a:rPr lang="en-US" dirty="0" err="1"/>
              <a:t>Miracidia</a:t>
            </a:r>
            <a:r>
              <a:rPr lang="en-US" dirty="0"/>
              <a:t> hatching from the eggs are ciliated and swim in the water in search of the snail intermediate host for penetration else they die after 32 hours.</a:t>
            </a:r>
          </a:p>
          <a:p>
            <a:pPr lvl="0"/>
            <a:r>
              <a:rPr lang="en-US" dirty="0" err="1"/>
              <a:t>Cercariae</a:t>
            </a:r>
            <a:r>
              <a:rPr lang="en-US" dirty="0"/>
              <a:t> that are shed by the snail swim in the water for about 48 hours seeking human host. </a:t>
            </a:r>
          </a:p>
          <a:p>
            <a:pPr marL="0" indent="0">
              <a:buNone/>
            </a:pPr>
            <a:endParaRPr lang="en-US" dirty="0"/>
          </a:p>
        </p:txBody>
      </p:sp>
    </p:spTree>
    <p:extLst>
      <p:ext uri="{BB962C8B-B14F-4D97-AF65-F5344CB8AC3E}">
        <p14:creationId xmlns:p14="http://schemas.microsoft.com/office/powerpoint/2010/main" val="181009652"/>
      </p:ext>
    </p:extLst>
  </p:cSld>
  <p:clrMapOvr>
    <a:masterClrMapping/>
  </p:clrMapOvr>
</p:sld>
</file>

<file path=ppt/slides/slide4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haematobium cont’d</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Symptoms and pathology</a:t>
            </a:r>
            <a:endParaRPr lang="en-US" dirty="0"/>
          </a:p>
          <a:p>
            <a:pPr lvl="0"/>
            <a:r>
              <a:rPr lang="en-US" dirty="0"/>
              <a:t>Within 24 hours of infection, there occurs an intense irritation and skin rash (swimmers itch) at the site of </a:t>
            </a:r>
            <a:r>
              <a:rPr lang="en-US" dirty="0" err="1"/>
              <a:t>cercarial</a:t>
            </a:r>
            <a:r>
              <a:rPr lang="en-US" dirty="0"/>
              <a:t> penetration.</a:t>
            </a:r>
          </a:p>
          <a:p>
            <a:pPr lvl="0"/>
            <a:r>
              <a:rPr lang="en-US" dirty="0"/>
              <a:t>A few days after penetration, the young flukes become coated with host RBC and histocompatibility antigens </a:t>
            </a:r>
          </a:p>
          <a:p>
            <a:pPr lvl="0"/>
            <a:r>
              <a:rPr lang="en-US" dirty="0"/>
              <a:t>and in this way escape being recognized as foreign. </a:t>
            </a:r>
          </a:p>
        </p:txBody>
      </p:sp>
    </p:spTree>
    <p:extLst>
      <p:ext uri="{BB962C8B-B14F-4D97-AF65-F5344CB8AC3E}">
        <p14:creationId xmlns:p14="http://schemas.microsoft.com/office/powerpoint/2010/main" val="2370104633"/>
      </p:ext>
    </p:extLst>
  </p:cSld>
  <p:clrMapOvr>
    <a:masterClrMapping/>
  </p:clrMapOvr>
</p:sld>
</file>

<file path=ppt/slides/slide4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haematobium cont’d</a:t>
            </a:r>
            <a:br>
              <a:rPr lang="en-US" dirty="0"/>
            </a:br>
            <a:endParaRPr lang="en-US" dirty="0"/>
          </a:p>
        </p:txBody>
      </p:sp>
      <p:sp>
        <p:nvSpPr>
          <p:cNvPr id="3" name="Content Placeholder 2"/>
          <p:cNvSpPr>
            <a:spLocks noGrp="1"/>
          </p:cNvSpPr>
          <p:nvPr>
            <p:ph idx="1"/>
          </p:nvPr>
        </p:nvSpPr>
        <p:spPr/>
        <p:txBody>
          <a:bodyPr/>
          <a:lstStyle/>
          <a:p>
            <a:pPr lvl="0"/>
            <a:r>
              <a:rPr lang="en-US" dirty="0"/>
              <a:t>Free from attack the </a:t>
            </a:r>
            <a:r>
              <a:rPr lang="en-US" dirty="0" err="1"/>
              <a:t>schistosomes</a:t>
            </a:r>
            <a:r>
              <a:rPr lang="en-US" dirty="0"/>
              <a:t> develop and produce eggs.</a:t>
            </a:r>
          </a:p>
          <a:p>
            <a:pPr lvl="0"/>
            <a:r>
              <a:rPr lang="en-US" dirty="0"/>
              <a:t> It is the eggs and not the adults which are responsible for the clinical signs and damage to the bladder and ureters.</a:t>
            </a:r>
          </a:p>
          <a:p>
            <a:endParaRPr lang="en-US" dirty="0"/>
          </a:p>
        </p:txBody>
      </p:sp>
    </p:spTree>
    <p:extLst>
      <p:ext uri="{BB962C8B-B14F-4D97-AF65-F5344CB8AC3E}">
        <p14:creationId xmlns:p14="http://schemas.microsoft.com/office/powerpoint/2010/main" val="3519158978"/>
      </p:ext>
    </p:extLst>
  </p:cSld>
  <p:clrMapOvr>
    <a:masterClrMapping/>
  </p:clrMapOvr>
</p:sld>
</file>

<file path=ppt/slides/slide4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haematobium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Other signs include;</a:t>
            </a:r>
            <a:endParaRPr lang="en-US" dirty="0"/>
          </a:p>
          <a:p>
            <a:pPr lvl="0"/>
            <a:r>
              <a:rPr lang="en-US" dirty="0" err="1"/>
              <a:t>Haematuria</a:t>
            </a:r>
            <a:r>
              <a:rPr lang="en-US" dirty="0"/>
              <a:t> (Blood in urine) caused by eggs penetrating the walls of the bladder.</a:t>
            </a:r>
          </a:p>
          <a:p>
            <a:pPr lvl="0"/>
            <a:r>
              <a:rPr lang="en-US" dirty="0"/>
              <a:t> In endemic areas, about 80% of children infected have </a:t>
            </a:r>
            <a:r>
              <a:rPr lang="en-US" dirty="0" err="1"/>
              <a:t>haematuria</a:t>
            </a:r>
            <a:r>
              <a:rPr lang="en-US" dirty="0"/>
              <a:t> of those with 50 eggs/10ml of urine, 98-100% have </a:t>
            </a:r>
            <a:r>
              <a:rPr lang="en-US" dirty="0" err="1"/>
              <a:t>haematuria</a:t>
            </a:r>
            <a:r>
              <a:rPr lang="en-US" dirty="0"/>
              <a:t>.</a:t>
            </a:r>
          </a:p>
          <a:p>
            <a:pPr lvl="0"/>
            <a:r>
              <a:rPr lang="en-US" dirty="0" err="1"/>
              <a:t>Proteinurea</a:t>
            </a:r>
            <a:r>
              <a:rPr lang="en-US" dirty="0"/>
              <a:t> (protein in urine) is also seen</a:t>
            </a:r>
          </a:p>
          <a:p>
            <a:endParaRPr lang="en-US" dirty="0"/>
          </a:p>
        </p:txBody>
      </p:sp>
    </p:spTree>
    <p:extLst>
      <p:ext uri="{BB962C8B-B14F-4D97-AF65-F5344CB8AC3E}">
        <p14:creationId xmlns:p14="http://schemas.microsoft.com/office/powerpoint/2010/main" val="3266899293"/>
      </p:ext>
    </p:extLst>
  </p:cSld>
  <p:clrMapOvr>
    <a:masterClrMapping/>
  </p:clrMapOvr>
</p:sld>
</file>

<file path=ppt/slides/slide4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haematobium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Eggs trapped in the bladder wall and surrounding tissue cause inflammatory reactions with the formation of granulomata containing eggs, toxic products, epithelial cells, eosinophil and lymphocytes.</a:t>
            </a:r>
          </a:p>
          <a:p>
            <a:pPr lvl="0"/>
            <a:r>
              <a:rPr lang="en-US" dirty="0"/>
              <a:t>In heavy infections, eggs may be carried to other parts of the body, there may be calculi (stones in the bladder and urinary tract) and other serious conditions.</a:t>
            </a:r>
          </a:p>
          <a:p>
            <a:endParaRPr lang="en-US" dirty="0"/>
          </a:p>
        </p:txBody>
      </p:sp>
    </p:spTree>
    <p:extLst>
      <p:ext uri="{BB962C8B-B14F-4D97-AF65-F5344CB8AC3E}">
        <p14:creationId xmlns:p14="http://schemas.microsoft.com/office/powerpoint/2010/main" val="2891194016"/>
      </p:ext>
    </p:extLst>
  </p:cSld>
  <p:clrMapOvr>
    <a:masterClrMapping/>
  </p:clrMapOvr>
</p:sld>
</file>

<file path=ppt/slides/slide4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haematobium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Prevention and control</a:t>
            </a:r>
            <a:endParaRPr lang="en-US" dirty="0"/>
          </a:p>
          <a:p>
            <a:pPr lvl="0"/>
            <a:r>
              <a:rPr lang="en-US" dirty="0"/>
              <a:t>Avoiding contacts with water known to contain </a:t>
            </a:r>
            <a:r>
              <a:rPr lang="en-US" dirty="0" err="1"/>
              <a:t>cercariae</a:t>
            </a:r>
            <a:endParaRPr lang="en-US" dirty="0"/>
          </a:p>
          <a:p>
            <a:pPr lvl="0"/>
            <a:r>
              <a:rPr lang="en-US" dirty="0"/>
              <a:t>Preventing water to become contaminated with eggs</a:t>
            </a:r>
          </a:p>
          <a:p>
            <a:pPr lvl="0"/>
            <a:r>
              <a:rPr lang="en-US" dirty="0"/>
              <a:t>Treatment of infected persons</a:t>
            </a:r>
          </a:p>
          <a:p>
            <a:pPr lvl="0"/>
            <a:r>
              <a:rPr lang="en-US" dirty="0"/>
              <a:t>Destroying snail intermediate host and application of </a:t>
            </a:r>
            <a:r>
              <a:rPr lang="en-US" dirty="0" err="1"/>
              <a:t>molluscicides</a:t>
            </a:r>
            <a:endParaRPr lang="en-US" dirty="0"/>
          </a:p>
          <a:p>
            <a:pPr lvl="0"/>
            <a:r>
              <a:rPr lang="en-US" dirty="0"/>
              <a:t>Treating water supplies</a:t>
            </a:r>
          </a:p>
          <a:p>
            <a:endParaRPr lang="en-US" dirty="0"/>
          </a:p>
        </p:txBody>
      </p:sp>
    </p:spTree>
    <p:extLst>
      <p:ext uri="{BB962C8B-B14F-4D97-AF65-F5344CB8AC3E}">
        <p14:creationId xmlns:p14="http://schemas.microsoft.com/office/powerpoint/2010/main" val="778185262"/>
      </p:ext>
    </p:extLst>
  </p:cSld>
  <p:clrMapOvr>
    <a:masterClrMapping/>
  </p:clrMapOvr>
</p:sld>
</file>

<file path=ppt/slides/slide4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haematobium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Diagnosis</a:t>
            </a:r>
            <a:endParaRPr lang="en-US" dirty="0"/>
          </a:p>
          <a:p>
            <a:r>
              <a:rPr lang="en-US" dirty="0"/>
              <a:t>Examination of urine for eggs or occasionally the hatched </a:t>
            </a:r>
            <a:r>
              <a:rPr lang="en-US" dirty="0" err="1"/>
              <a:t>miracadia</a:t>
            </a:r>
            <a:r>
              <a:rPr lang="en-US" dirty="0"/>
              <a:t> in urine; occasionally the eggs can be found in the </a:t>
            </a:r>
            <a:r>
              <a:rPr lang="en-US" dirty="0" err="1"/>
              <a:t>faeces</a:t>
            </a:r>
            <a:r>
              <a:rPr lang="en-US" dirty="0"/>
              <a:t>. (eggs have a terminal spine)</a:t>
            </a:r>
          </a:p>
          <a:p>
            <a:r>
              <a:rPr lang="en-US" dirty="0"/>
              <a:t>Detecting eggs in rectal biopsy or bladder mucosae.</a:t>
            </a:r>
          </a:p>
          <a:p>
            <a:endParaRPr lang="en-US" dirty="0"/>
          </a:p>
        </p:txBody>
      </p:sp>
    </p:spTree>
    <p:extLst>
      <p:ext uri="{BB962C8B-B14F-4D97-AF65-F5344CB8AC3E}">
        <p14:creationId xmlns:p14="http://schemas.microsoft.com/office/powerpoint/2010/main" val="3559572803"/>
      </p:ext>
    </p:extLst>
  </p:cSld>
  <p:clrMapOvr>
    <a:masterClrMapping/>
  </p:clrMapOvr>
</p:sld>
</file>

<file path=ppt/slides/slide4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Schistosoma mansoni</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This species causes intestinal schistosomiasis. There are several different strains of this parasite.</a:t>
            </a:r>
          </a:p>
          <a:p>
            <a:pPr marL="0" indent="0" algn="ctr">
              <a:buNone/>
            </a:pPr>
            <a:r>
              <a:rPr lang="en-US" b="1" dirty="0"/>
              <a:t>Distribution </a:t>
            </a:r>
            <a:endParaRPr lang="en-US" dirty="0"/>
          </a:p>
          <a:p>
            <a:r>
              <a:rPr lang="en-US" dirty="0"/>
              <a:t>Present in over 50 countries, but widespread in many African countries including Malagasy Republic, parts of the Middle East, South America (esp. Brazil) and the West Indies.</a:t>
            </a:r>
          </a:p>
          <a:p>
            <a:r>
              <a:rPr lang="en-US" dirty="0"/>
              <a:t>Its distribution in linked to water resource development projects (irrigation, hydroelectricity, etc.)</a:t>
            </a:r>
          </a:p>
          <a:p>
            <a:pPr marL="0" indent="0">
              <a:buNone/>
            </a:pPr>
            <a:endParaRPr lang="en-US" dirty="0"/>
          </a:p>
          <a:p>
            <a:endParaRPr lang="en-US" dirty="0"/>
          </a:p>
        </p:txBody>
      </p:sp>
    </p:spTree>
    <p:extLst>
      <p:ext uri="{BB962C8B-B14F-4D97-AF65-F5344CB8AC3E}">
        <p14:creationId xmlns:p14="http://schemas.microsoft.com/office/powerpoint/2010/main" val="595952963"/>
      </p:ext>
    </p:extLst>
  </p:cSld>
  <p:clrMapOvr>
    <a:masterClrMapping/>
  </p:clrMapOvr>
</p:sld>
</file>

<file path=ppt/slides/slide4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Schistosoma mansoni</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Transmission</a:t>
            </a:r>
            <a:endParaRPr lang="en-US" dirty="0"/>
          </a:p>
          <a:p>
            <a:r>
              <a:rPr lang="en-US" dirty="0"/>
              <a:t>Infected persons pass </a:t>
            </a:r>
            <a:r>
              <a:rPr lang="en-US" dirty="0" err="1"/>
              <a:t>faeces</a:t>
            </a:r>
            <a:r>
              <a:rPr lang="en-US" dirty="0"/>
              <a:t>, containing the eggs, into fresh water (rivers, streams etc.) used for agricultural, recreational </a:t>
            </a:r>
            <a:r>
              <a:rPr lang="en-US" dirty="0" err="1"/>
              <a:t>etc</a:t>
            </a:r>
            <a:r>
              <a:rPr lang="en-US" dirty="0"/>
              <a:t> purposes and which harbor the snail intermediate host, </a:t>
            </a:r>
            <a:r>
              <a:rPr lang="en-US" i="1" dirty="0" err="1"/>
              <a:t>Biomphalaria</a:t>
            </a:r>
            <a:r>
              <a:rPr lang="en-US" i="1" dirty="0"/>
              <a:t> sp</a:t>
            </a:r>
            <a:r>
              <a:rPr lang="en-US" dirty="0"/>
              <a:t>., which are found among vegetation in lightly shaded, slow-to-moderate-flowing water.</a:t>
            </a:r>
          </a:p>
          <a:p>
            <a:r>
              <a:rPr lang="en-US" dirty="0"/>
              <a:t>Evidence suggests that rodents and possibly baboons may act as reservoir host. Humans are the most important definitive hosts.</a:t>
            </a:r>
          </a:p>
          <a:p>
            <a:endParaRPr lang="en-US" dirty="0"/>
          </a:p>
        </p:txBody>
      </p:sp>
    </p:spTree>
    <p:extLst>
      <p:ext uri="{BB962C8B-B14F-4D97-AF65-F5344CB8AC3E}">
        <p14:creationId xmlns:p14="http://schemas.microsoft.com/office/powerpoint/2010/main" val="1541648412"/>
      </p:ext>
    </p:extLst>
  </p:cSld>
  <p:clrMapOvr>
    <a:masterClrMapping/>
  </p:clrMapOvr>
</p:sld>
</file>

<file path=ppt/slides/slide4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Schistosoma mansoni</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Life Cycle</a:t>
            </a:r>
            <a:endParaRPr lang="en-US" dirty="0"/>
          </a:p>
          <a:p>
            <a:r>
              <a:rPr lang="en-US" dirty="0"/>
              <a:t>Similar to that of </a:t>
            </a:r>
            <a:r>
              <a:rPr lang="en-US" i="1" dirty="0"/>
              <a:t>S. haematobium</a:t>
            </a:r>
            <a:r>
              <a:rPr lang="en-US" dirty="0"/>
              <a:t> (refer to diagram). </a:t>
            </a:r>
          </a:p>
          <a:p>
            <a:r>
              <a:rPr lang="en-US" dirty="0"/>
              <a:t>The adult worms however, migrate to the small tributaries (veins) of the interior mesenteric veins which drains the large intestine. </a:t>
            </a:r>
          </a:p>
          <a:p>
            <a:r>
              <a:rPr lang="en-US" dirty="0"/>
              <a:t>They may also be found in the portal venous system.</a:t>
            </a:r>
          </a:p>
          <a:p>
            <a:r>
              <a:rPr lang="en-US" dirty="0"/>
              <a:t>Eggs are laid in the </a:t>
            </a:r>
            <a:r>
              <a:rPr lang="en-US" dirty="0" err="1"/>
              <a:t>venules</a:t>
            </a:r>
            <a:r>
              <a:rPr lang="en-US" dirty="0"/>
              <a:t> and penetrate through to the lumen of the bowel to be excreted in </a:t>
            </a:r>
            <a:r>
              <a:rPr lang="en-US" dirty="0" err="1"/>
              <a:t>faeces</a:t>
            </a:r>
            <a:r>
              <a:rPr lang="en-US" dirty="0"/>
              <a:t>. </a:t>
            </a:r>
          </a:p>
          <a:p>
            <a:endParaRPr lang="en-US" dirty="0"/>
          </a:p>
        </p:txBody>
      </p:sp>
    </p:spTree>
    <p:extLst>
      <p:ext uri="{BB962C8B-B14F-4D97-AF65-F5344CB8AC3E}">
        <p14:creationId xmlns:p14="http://schemas.microsoft.com/office/powerpoint/2010/main" val="1883311688"/>
      </p:ext>
    </p:extLst>
  </p:cSld>
  <p:clrMapOvr>
    <a:masterClrMapping/>
  </p:clrMapOvr>
</p:sld>
</file>

<file path=ppt/slides/slide4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Schistosoma mansoni</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Symptoms and pathology</a:t>
            </a:r>
            <a:endParaRPr lang="en-US" dirty="0"/>
          </a:p>
          <a:p>
            <a:r>
              <a:rPr lang="en-US" dirty="0"/>
              <a:t>Similar to those caused by </a:t>
            </a:r>
            <a:r>
              <a:rPr lang="en-US" i="1" dirty="0"/>
              <a:t>S. haematobium</a:t>
            </a:r>
            <a:r>
              <a:rPr lang="en-US" dirty="0"/>
              <a:t>. The spleen may also be enlarged.</a:t>
            </a:r>
          </a:p>
          <a:p>
            <a:r>
              <a:rPr lang="en-US" dirty="0"/>
              <a:t> Death may occur as a result of hematemesis due to rapture of varicose veins in the </a:t>
            </a:r>
            <a:r>
              <a:rPr lang="en-US" dirty="0" err="1"/>
              <a:t>oesophagus</a:t>
            </a:r>
            <a:r>
              <a:rPr lang="en-US" dirty="0"/>
              <a:t> or stomach.</a:t>
            </a:r>
          </a:p>
          <a:p>
            <a:r>
              <a:rPr lang="en-US" dirty="0"/>
              <a:t>Complications may develop when eggs are deposited in the spinal cord, lungs and other organs. </a:t>
            </a:r>
          </a:p>
        </p:txBody>
      </p:sp>
    </p:spTree>
    <p:extLst>
      <p:ext uri="{BB962C8B-B14F-4D97-AF65-F5344CB8AC3E}">
        <p14:creationId xmlns:p14="http://schemas.microsoft.com/office/powerpoint/2010/main" val="549449955"/>
      </p:ext>
    </p:extLst>
  </p:cSld>
  <p:clrMapOvr>
    <a:masterClrMapping/>
  </p:clrMapOvr>
</p:sld>
</file>

<file path=ppt/slides/slide4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haematobium cont’d</a:t>
            </a:r>
            <a:br>
              <a:rPr lang="en-US" dirty="0"/>
            </a:br>
            <a:endParaRPr lang="en-US" dirty="0"/>
          </a:p>
        </p:txBody>
      </p:sp>
      <p:sp>
        <p:nvSpPr>
          <p:cNvPr id="3" name="Content Placeholder 2"/>
          <p:cNvSpPr>
            <a:spLocks noGrp="1"/>
          </p:cNvSpPr>
          <p:nvPr>
            <p:ph idx="1"/>
          </p:nvPr>
        </p:nvSpPr>
        <p:spPr/>
        <p:txBody>
          <a:bodyPr/>
          <a:lstStyle/>
          <a:p>
            <a:r>
              <a:rPr lang="en-US" dirty="0"/>
              <a:t>Salmonella infections in patients with </a:t>
            </a:r>
            <a:r>
              <a:rPr lang="en-US" i="1" dirty="0"/>
              <a:t>S. mansoni</a:t>
            </a:r>
            <a:r>
              <a:rPr lang="en-US" dirty="0"/>
              <a:t> infection tend to become chronic and prolonged.</a:t>
            </a:r>
          </a:p>
          <a:p>
            <a:r>
              <a:rPr lang="en-US" dirty="0"/>
              <a:t> It is though that there is an association between Hepatitis B infection and hepatic schistosomiasis.</a:t>
            </a:r>
          </a:p>
        </p:txBody>
      </p:sp>
    </p:spTree>
    <p:extLst>
      <p:ext uri="{BB962C8B-B14F-4D97-AF65-F5344CB8AC3E}">
        <p14:creationId xmlns:p14="http://schemas.microsoft.com/office/powerpoint/2010/main" val="3710038583"/>
      </p:ext>
    </p:extLst>
  </p:cSld>
  <p:clrMapOvr>
    <a:masterClrMapping/>
  </p:clrMapOvr>
</p:sld>
</file>

<file path=ppt/slides/slide4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haematobium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Prevention and control</a:t>
            </a:r>
            <a:endParaRPr lang="en-US" dirty="0"/>
          </a:p>
          <a:p>
            <a:r>
              <a:rPr lang="en-US" dirty="0"/>
              <a:t>Same as for urinary schistosomiasis.</a:t>
            </a:r>
          </a:p>
          <a:p>
            <a:pPr marL="0" indent="0" algn="ctr">
              <a:buNone/>
            </a:pPr>
            <a:r>
              <a:rPr lang="en-US" b="1" dirty="0"/>
              <a:t>Diagnosis</a:t>
            </a:r>
            <a:endParaRPr lang="en-US" dirty="0"/>
          </a:p>
          <a:p>
            <a:r>
              <a:rPr lang="en-US" dirty="0"/>
              <a:t>as for urinary schistosomiasis but here faecal specimens and rectal biopsy are examined. The eggs have lateral spine.</a:t>
            </a:r>
          </a:p>
          <a:p>
            <a:r>
              <a:rPr lang="en-US" dirty="0"/>
              <a:t>Occasionally the eggs may be found in the urine.</a:t>
            </a:r>
          </a:p>
          <a:p>
            <a:endParaRPr lang="en-US" b="1" dirty="0"/>
          </a:p>
        </p:txBody>
      </p:sp>
    </p:spTree>
    <p:extLst>
      <p:ext uri="{BB962C8B-B14F-4D97-AF65-F5344CB8AC3E}">
        <p14:creationId xmlns:p14="http://schemas.microsoft.com/office/powerpoint/2010/main" val="588324683"/>
      </p:ext>
    </p:extLst>
  </p:cSld>
  <p:clrMapOvr>
    <a:masterClrMapping/>
  </p:clrMapOvr>
</p:sld>
</file>

<file path=ppt/slides/slide4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intercalatum</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This species also causes intestinal schistosomiasis but is less pathogenic than all the species that cause this form of the disease.</a:t>
            </a:r>
          </a:p>
          <a:p>
            <a:pPr marL="0" indent="0" algn="ctr">
              <a:buNone/>
            </a:pPr>
            <a:r>
              <a:rPr lang="en-US" b="1" dirty="0"/>
              <a:t>Distribution</a:t>
            </a:r>
            <a:endParaRPr lang="en-US" dirty="0"/>
          </a:p>
          <a:p>
            <a:r>
              <a:rPr lang="en-US" dirty="0"/>
              <a:t>Limited to west and Central African (Zaire, Chad, Congo, Central Africa republic, Gabon, the Cameroons, Nigeria and Tanzania)</a:t>
            </a:r>
          </a:p>
          <a:p>
            <a:pPr marL="0" indent="0" algn="ctr">
              <a:buNone/>
            </a:pPr>
            <a:r>
              <a:rPr lang="en-US" b="1" dirty="0"/>
              <a:t>Transmission</a:t>
            </a:r>
            <a:endParaRPr lang="en-US" dirty="0"/>
          </a:p>
          <a:p>
            <a:r>
              <a:rPr lang="en-US" dirty="0"/>
              <a:t>Similar to that of </a:t>
            </a:r>
            <a:r>
              <a:rPr lang="en-US" i="1" dirty="0"/>
              <a:t>S. mansoni</a:t>
            </a:r>
            <a:endParaRPr lang="en-US" dirty="0"/>
          </a:p>
          <a:p>
            <a:endParaRPr lang="en-US" dirty="0"/>
          </a:p>
        </p:txBody>
      </p:sp>
    </p:spTree>
    <p:extLst>
      <p:ext uri="{BB962C8B-B14F-4D97-AF65-F5344CB8AC3E}">
        <p14:creationId xmlns:p14="http://schemas.microsoft.com/office/powerpoint/2010/main" val="162739503"/>
      </p:ext>
    </p:extLst>
  </p:cSld>
  <p:clrMapOvr>
    <a:masterClrMapping/>
  </p:clrMapOvr>
</p:sld>
</file>

<file path=ppt/slides/slide4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intercalatum cont’d</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dirty="0"/>
              <a:t>Life Cycle</a:t>
            </a:r>
            <a:endParaRPr lang="en-US" dirty="0"/>
          </a:p>
          <a:p>
            <a:r>
              <a:rPr lang="en-US" dirty="0"/>
              <a:t>Similar to that of </a:t>
            </a:r>
            <a:r>
              <a:rPr lang="en-US" i="1" dirty="0"/>
              <a:t>S. mansoni</a:t>
            </a:r>
            <a:r>
              <a:rPr lang="en-US" dirty="0"/>
              <a:t> but for this species, the snail intermediate host belong to the genus Bulinus</a:t>
            </a:r>
          </a:p>
          <a:p>
            <a:pPr marL="0" indent="0" algn="ctr">
              <a:buNone/>
            </a:pPr>
            <a:r>
              <a:rPr lang="en-US" b="1" dirty="0"/>
              <a:t>Symptoms and pathology</a:t>
            </a:r>
            <a:endParaRPr lang="en-US" dirty="0"/>
          </a:p>
          <a:p>
            <a:r>
              <a:rPr lang="en-US" dirty="0"/>
              <a:t>As for </a:t>
            </a:r>
            <a:r>
              <a:rPr lang="en-US" i="1" dirty="0"/>
              <a:t>S. mansoni</a:t>
            </a:r>
            <a:r>
              <a:rPr lang="en-US" dirty="0"/>
              <a:t> but less pathogenic</a:t>
            </a:r>
          </a:p>
          <a:p>
            <a:pPr marL="0" indent="0" algn="ctr">
              <a:buNone/>
            </a:pPr>
            <a:r>
              <a:rPr lang="en-US" b="1" dirty="0"/>
              <a:t>Prevention and control</a:t>
            </a:r>
            <a:endParaRPr lang="en-US" dirty="0"/>
          </a:p>
          <a:p>
            <a:r>
              <a:rPr lang="en-US" dirty="0"/>
              <a:t>Same as for the previously mentioned parasites</a:t>
            </a:r>
          </a:p>
          <a:p>
            <a:endParaRPr lang="en-US" dirty="0"/>
          </a:p>
        </p:txBody>
      </p:sp>
    </p:spTree>
    <p:extLst>
      <p:ext uri="{BB962C8B-B14F-4D97-AF65-F5344CB8AC3E}">
        <p14:creationId xmlns:p14="http://schemas.microsoft.com/office/powerpoint/2010/main" val="2514442515"/>
      </p:ext>
    </p:extLst>
  </p:cSld>
  <p:clrMapOvr>
    <a:masterClrMapping/>
  </p:clrMapOvr>
</p:sld>
</file>

<file path=ppt/slides/slide4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 intercalatum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Diagnosis</a:t>
            </a:r>
            <a:endParaRPr lang="en-US" dirty="0"/>
          </a:p>
          <a:p>
            <a:r>
              <a:rPr lang="en-US" dirty="0"/>
              <a:t>Eggs in </a:t>
            </a:r>
            <a:r>
              <a:rPr lang="en-US" dirty="0" err="1"/>
              <a:t>faeces</a:t>
            </a:r>
            <a:r>
              <a:rPr lang="en-US" dirty="0"/>
              <a:t> or rectal biopsies. The eggs have a terminal spine and are more elongated than that of </a:t>
            </a:r>
            <a:r>
              <a:rPr lang="en-US" i="1" dirty="0"/>
              <a:t>S. haematobium</a:t>
            </a:r>
            <a:r>
              <a:rPr lang="en-US" dirty="0"/>
              <a:t> which also has a terminal spine.</a:t>
            </a:r>
          </a:p>
          <a:p>
            <a:endParaRPr lang="en-US" dirty="0"/>
          </a:p>
        </p:txBody>
      </p:sp>
    </p:spTree>
    <p:extLst>
      <p:ext uri="{BB962C8B-B14F-4D97-AF65-F5344CB8AC3E}">
        <p14:creationId xmlns:p14="http://schemas.microsoft.com/office/powerpoint/2010/main" val="708176683"/>
      </p:ext>
    </p:extLst>
  </p:cSld>
  <p:clrMapOvr>
    <a:masterClrMapping/>
  </p:clrMapOvr>
</p:sld>
</file>

<file path=ppt/slides/slide4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Schistosoma japonicum</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Causes intestinal schistosomiasis</a:t>
            </a:r>
          </a:p>
          <a:p>
            <a:pPr marL="0" indent="0" algn="ctr">
              <a:buNone/>
            </a:pPr>
            <a:r>
              <a:rPr lang="en-US" b="1" dirty="0"/>
              <a:t>Distribution</a:t>
            </a:r>
            <a:endParaRPr lang="en-US" dirty="0"/>
          </a:p>
          <a:p>
            <a:r>
              <a:rPr lang="en-US" dirty="0"/>
              <a:t>Far east especially china, the Philippines and Western Indonesia</a:t>
            </a:r>
          </a:p>
          <a:p>
            <a:pPr marL="0" indent="0" algn="ctr">
              <a:buNone/>
            </a:pPr>
            <a:r>
              <a:rPr lang="en-US" b="1" dirty="0"/>
              <a:t>Transmission</a:t>
            </a:r>
            <a:endParaRPr lang="en-US" dirty="0"/>
          </a:p>
          <a:p>
            <a:r>
              <a:rPr lang="en-US" dirty="0"/>
              <a:t>When </a:t>
            </a:r>
            <a:r>
              <a:rPr lang="en-US" dirty="0" err="1"/>
              <a:t>faeces</a:t>
            </a:r>
            <a:r>
              <a:rPr lang="en-US" dirty="0"/>
              <a:t> form infected persons containing the eggs are passed into fresh water used for bathing, irrigation and other agricultural purposes and which harbor the snail intermediate host, a species of the amphibian snails of the genus </a:t>
            </a:r>
            <a:r>
              <a:rPr lang="en-US" i="1" dirty="0" err="1"/>
              <a:t>Oncomelania</a:t>
            </a:r>
            <a:endParaRPr lang="en-US" dirty="0"/>
          </a:p>
        </p:txBody>
      </p:sp>
    </p:spTree>
    <p:extLst>
      <p:ext uri="{BB962C8B-B14F-4D97-AF65-F5344CB8AC3E}">
        <p14:creationId xmlns:p14="http://schemas.microsoft.com/office/powerpoint/2010/main" val="582164390"/>
      </p:ext>
    </p:extLst>
  </p:cSld>
  <p:clrMapOvr>
    <a:masterClrMapping/>
  </p:clrMapOvr>
</p:sld>
</file>

<file path=ppt/slides/slide4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Schistosoma japonicum cont’d</a:t>
            </a:r>
            <a:br>
              <a:rPr lang="en-US" dirty="0"/>
            </a:br>
            <a:endParaRPr lang="en-US" dirty="0"/>
          </a:p>
        </p:txBody>
      </p:sp>
      <p:sp>
        <p:nvSpPr>
          <p:cNvPr id="3" name="Content Placeholder 2"/>
          <p:cNvSpPr>
            <a:spLocks noGrp="1"/>
          </p:cNvSpPr>
          <p:nvPr>
            <p:ph idx="1"/>
          </p:nvPr>
        </p:nvSpPr>
        <p:spPr/>
        <p:txBody>
          <a:bodyPr>
            <a:normAutofit fontScale="92500"/>
          </a:bodyPr>
          <a:lstStyle/>
          <a:p>
            <a:r>
              <a:rPr lang="en-US" dirty="0"/>
              <a:t>Unlike the other major </a:t>
            </a:r>
            <a:r>
              <a:rPr lang="en-US" dirty="0" err="1"/>
              <a:t>Schistosomes</a:t>
            </a:r>
            <a:r>
              <a:rPr lang="en-US" dirty="0"/>
              <a:t> infecting humans, this species has many animal reservoir hosts which include dogs, cats, cattle, pigs, sheep, goats, water-buffaloes, horses and wild rodents.</a:t>
            </a:r>
          </a:p>
          <a:p>
            <a:r>
              <a:rPr lang="en-US" dirty="0"/>
              <a:t>A person is infected when in contact with water containing </a:t>
            </a:r>
            <a:r>
              <a:rPr lang="en-US" dirty="0" err="1"/>
              <a:t>cercariae</a:t>
            </a:r>
            <a:r>
              <a:rPr lang="en-US" dirty="0"/>
              <a:t> or water vegetation to which </a:t>
            </a:r>
            <a:r>
              <a:rPr lang="en-US" dirty="0" err="1"/>
              <a:t>cercariae</a:t>
            </a:r>
            <a:r>
              <a:rPr lang="en-US" dirty="0"/>
              <a:t> have become attached.</a:t>
            </a:r>
          </a:p>
          <a:p>
            <a:pPr marL="0" indent="0" algn="ctr">
              <a:buNone/>
            </a:pPr>
            <a:r>
              <a:rPr lang="en-US" b="1" dirty="0"/>
              <a:t>Life Cycle</a:t>
            </a:r>
            <a:endParaRPr lang="en-US" dirty="0"/>
          </a:p>
          <a:p>
            <a:r>
              <a:rPr lang="en-US" dirty="0"/>
              <a:t>Similar to that of </a:t>
            </a:r>
            <a:r>
              <a:rPr lang="en-US" i="1" dirty="0"/>
              <a:t>S. mansoni</a:t>
            </a:r>
            <a:endParaRPr lang="en-US" dirty="0"/>
          </a:p>
          <a:p>
            <a:endParaRPr lang="en-US" dirty="0"/>
          </a:p>
          <a:p>
            <a:endParaRPr lang="en-US" dirty="0"/>
          </a:p>
        </p:txBody>
      </p:sp>
    </p:spTree>
    <p:extLst>
      <p:ext uri="{BB962C8B-B14F-4D97-AF65-F5344CB8AC3E}">
        <p14:creationId xmlns:p14="http://schemas.microsoft.com/office/powerpoint/2010/main" val="3342546539"/>
      </p:ext>
    </p:extLst>
  </p:cSld>
  <p:clrMapOvr>
    <a:masterClrMapping/>
  </p:clrMapOvr>
</p:sld>
</file>

<file path=ppt/slides/slide4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Schistosoma japonicum cont’d</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Symptoms and pathology</a:t>
            </a:r>
            <a:endParaRPr lang="en-US" dirty="0"/>
          </a:p>
          <a:p>
            <a:endParaRPr lang="en-US" dirty="0"/>
          </a:p>
          <a:p>
            <a:r>
              <a:rPr lang="en-US" dirty="0"/>
              <a:t>Similar to those od </a:t>
            </a:r>
            <a:r>
              <a:rPr lang="en-US" i="1" dirty="0"/>
              <a:t>S. mansoni</a:t>
            </a:r>
            <a:r>
              <a:rPr lang="en-US" dirty="0"/>
              <a:t> but with some variations</a:t>
            </a:r>
          </a:p>
          <a:p>
            <a:r>
              <a:rPr lang="en-US" dirty="0"/>
              <a:t>There is the skin rash and irritation at the site of </a:t>
            </a:r>
            <a:r>
              <a:rPr lang="en-US" dirty="0" err="1"/>
              <a:t>cercarial</a:t>
            </a:r>
            <a:r>
              <a:rPr lang="en-US" dirty="0"/>
              <a:t> penetration (swimmers itch)</a:t>
            </a:r>
          </a:p>
          <a:p>
            <a:pPr marL="0" indent="0">
              <a:buNone/>
            </a:pPr>
            <a:endParaRPr lang="en-US" dirty="0"/>
          </a:p>
        </p:txBody>
      </p:sp>
    </p:spTree>
    <p:extLst>
      <p:ext uri="{BB962C8B-B14F-4D97-AF65-F5344CB8AC3E}">
        <p14:creationId xmlns:p14="http://schemas.microsoft.com/office/powerpoint/2010/main" val="3352136037"/>
      </p:ext>
    </p:extLst>
  </p:cSld>
  <p:clrMapOvr>
    <a:masterClrMapping/>
  </p:clrMapOvr>
</p:sld>
</file>

<file path=ppt/slides/slide4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Schistosoma japonicum cont’d</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Twenty-six days after infection, a severe immune reaction to the product of young flukes and eggs occur;</a:t>
            </a:r>
          </a:p>
          <a:p>
            <a:r>
              <a:rPr lang="en-US" dirty="0"/>
              <a:t> manifested by an acute illness with fever, muscular and abdominal pain, spleen enlargement, this is known as Katayama reaction, urticarial and eosinophilia.</a:t>
            </a:r>
          </a:p>
          <a:p>
            <a:r>
              <a:rPr lang="en-US" dirty="0"/>
              <a:t>This reaction can also occur with </a:t>
            </a:r>
            <a:r>
              <a:rPr lang="en-US" i="1" dirty="0"/>
              <a:t>S. haematobium</a:t>
            </a:r>
            <a:r>
              <a:rPr lang="en-US" dirty="0"/>
              <a:t> and </a:t>
            </a:r>
            <a:r>
              <a:rPr lang="en-US" i="1" dirty="0"/>
              <a:t>S. mansoni</a:t>
            </a:r>
            <a:endParaRPr lang="en-US" dirty="0"/>
          </a:p>
        </p:txBody>
      </p:sp>
    </p:spTree>
    <p:extLst>
      <p:ext uri="{BB962C8B-B14F-4D97-AF65-F5344CB8AC3E}">
        <p14:creationId xmlns:p14="http://schemas.microsoft.com/office/powerpoint/2010/main" val="1895900686"/>
      </p:ext>
    </p:extLst>
  </p:cSld>
  <p:clrMapOvr>
    <a:masterClrMapping/>
  </p:clrMapOvr>
</p:sld>
</file>

<file path=ppt/slides/slide4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Schistosoma japonicum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Prevention and control</a:t>
            </a:r>
            <a:endParaRPr lang="en-US" dirty="0"/>
          </a:p>
          <a:p>
            <a:r>
              <a:rPr lang="en-US" dirty="0"/>
              <a:t>A combination of methods used in the case of the other </a:t>
            </a:r>
            <a:r>
              <a:rPr lang="en-US" dirty="0" err="1"/>
              <a:t>Schistosomes</a:t>
            </a:r>
            <a:r>
              <a:rPr lang="en-US" dirty="0"/>
              <a:t> are used.</a:t>
            </a:r>
          </a:p>
          <a:p>
            <a:pPr marL="0" indent="0" algn="ctr">
              <a:buNone/>
            </a:pPr>
            <a:r>
              <a:rPr lang="en-US" b="1" dirty="0"/>
              <a:t>Diagnosis</a:t>
            </a:r>
            <a:endParaRPr lang="en-US" dirty="0"/>
          </a:p>
          <a:p>
            <a:r>
              <a:rPr lang="en-US" dirty="0"/>
              <a:t>Examining </a:t>
            </a:r>
            <a:r>
              <a:rPr lang="en-US" dirty="0" err="1"/>
              <a:t>faeces</a:t>
            </a:r>
            <a:r>
              <a:rPr lang="en-US" dirty="0"/>
              <a:t> and rectal biopsies for </a:t>
            </a:r>
            <a:r>
              <a:rPr lang="en-US" i="1" dirty="0"/>
              <a:t>S. japonicum</a:t>
            </a:r>
            <a:r>
              <a:rPr lang="en-US" dirty="0"/>
              <a:t> eggs. The eggs have a short </a:t>
            </a:r>
            <a:r>
              <a:rPr lang="en-US" dirty="0" err="1"/>
              <a:t>hooklike</a:t>
            </a:r>
            <a:r>
              <a:rPr lang="en-US" dirty="0"/>
              <a:t> lateral or rudimentary spine, are large and round to oval in shape.</a:t>
            </a:r>
          </a:p>
        </p:txBody>
      </p:sp>
    </p:spTree>
    <p:extLst>
      <p:ext uri="{BB962C8B-B14F-4D97-AF65-F5344CB8AC3E}">
        <p14:creationId xmlns:p14="http://schemas.microsoft.com/office/powerpoint/2010/main" val="1599969758"/>
      </p:ext>
    </p:extLst>
  </p:cSld>
  <p:clrMapOvr>
    <a:masterClrMapping/>
  </p:clrMapOvr>
</p:sld>
</file>

<file path=ppt/slides/slide4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Schistosoma mekongi</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A recently recognized species closely related to </a:t>
            </a:r>
            <a:r>
              <a:rPr lang="en-US" i="1" dirty="0"/>
              <a:t>S. japonicum</a:t>
            </a:r>
            <a:r>
              <a:rPr lang="en-US" dirty="0"/>
              <a:t> and causes intestinal schistosomiasis.</a:t>
            </a:r>
          </a:p>
          <a:p>
            <a:pPr marL="0" indent="0" algn="ctr">
              <a:buNone/>
            </a:pPr>
            <a:r>
              <a:rPr lang="en-US" b="1" dirty="0"/>
              <a:t>Distribution</a:t>
            </a:r>
            <a:endParaRPr lang="en-US" dirty="0"/>
          </a:p>
          <a:p>
            <a:r>
              <a:rPr lang="en-US" dirty="0"/>
              <a:t>Present in Laos, Cambodia, Thailand (Mekong River Basin)</a:t>
            </a:r>
          </a:p>
          <a:p>
            <a:pPr marL="0" indent="0" algn="ctr">
              <a:buNone/>
            </a:pPr>
            <a:r>
              <a:rPr lang="en-US" b="1" dirty="0"/>
              <a:t>Transmission</a:t>
            </a:r>
            <a:endParaRPr lang="en-US" dirty="0"/>
          </a:p>
          <a:p>
            <a:r>
              <a:rPr lang="en-US" dirty="0"/>
              <a:t>This occurs mostly in the dry season. </a:t>
            </a:r>
          </a:p>
          <a:p>
            <a:r>
              <a:rPr lang="en-US" dirty="0"/>
              <a:t>The snail intermediate hosts are </a:t>
            </a:r>
            <a:r>
              <a:rPr lang="en-US" i="1" dirty="0" err="1"/>
              <a:t>Tricula</a:t>
            </a:r>
            <a:r>
              <a:rPr lang="en-US" i="1" dirty="0"/>
              <a:t> </a:t>
            </a:r>
            <a:r>
              <a:rPr lang="en-US" i="1" dirty="0" err="1"/>
              <a:t>aperta</a:t>
            </a:r>
            <a:r>
              <a:rPr lang="en-US" dirty="0"/>
              <a:t> which are aquatic.</a:t>
            </a:r>
          </a:p>
          <a:p>
            <a:r>
              <a:rPr lang="en-US" dirty="0"/>
              <a:t>Dogs have been identified as reservoir hosts</a:t>
            </a:r>
          </a:p>
          <a:p>
            <a:endParaRPr lang="en-US" dirty="0"/>
          </a:p>
        </p:txBody>
      </p:sp>
    </p:spTree>
    <p:extLst>
      <p:ext uri="{BB962C8B-B14F-4D97-AF65-F5344CB8AC3E}">
        <p14:creationId xmlns:p14="http://schemas.microsoft.com/office/powerpoint/2010/main" val="4280633800"/>
      </p:ext>
    </p:extLst>
  </p:cSld>
  <p:clrMapOvr>
    <a:masterClrMapping/>
  </p:clrMapOvr>
</p:sld>
</file>

<file path=ppt/slides/slide4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Schistosoma mekongi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Symptoms and pathology</a:t>
            </a:r>
            <a:endParaRPr lang="en-US" dirty="0"/>
          </a:p>
          <a:p>
            <a:r>
              <a:rPr lang="en-US" dirty="0"/>
              <a:t>Similar to those produced by </a:t>
            </a:r>
            <a:r>
              <a:rPr lang="en-US" i="1" dirty="0"/>
              <a:t>S. japonicum</a:t>
            </a:r>
            <a:endParaRPr lang="en-US" dirty="0"/>
          </a:p>
          <a:p>
            <a:pPr marL="0" indent="0" algn="ctr">
              <a:buNone/>
            </a:pPr>
            <a:r>
              <a:rPr lang="en-US" b="1" dirty="0"/>
              <a:t>Prevention and Control</a:t>
            </a:r>
            <a:endParaRPr lang="en-US" dirty="0"/>
          </a:p>
          <a:p>
            <a:r>
              <a:rPr lang="en-US" dirty="0"/>
              <a:t>Measures for </a:t>
            </a:r>
            <a:r>
              <a:rPr lang="en-US" i="1" dirty="0"/>
              <a:t>S. haematobium</a:t>
            </a:r>
            <a:r>
              <a:rPr lang="en-US" dirty="0"/>
              <a:t> and some of those for </a:t>
            </a:r>
            <a:r>
              <a:rPr lang="en-US" i="1" dirty="0"/>
              <a:t>S. japonicum</a:t>
            </a:r>
            <a:r>
              <a:rPr lang="en-US" dirty="0"/>
              <a:t> are applicable</a:t>
            </a:r>
          </a:p>
          <a:p>
            <a:pPr marL="0" indent="0" algn="ctr">
              <a:buNone/>
            </a:pPr>
            <a:r>
              <a:rPr lang="en-US" b="1" dirty="0"/>
              <a:t>Diagnosis</a:t>
            </a:r>
            <a:endParaRPr lang="en-US" dirty="0"/>
          </a:p>
          <a:p>
            <a:r>
              <a:rPr lang="en-US" dirty="0"/>
              <a:t>As for </a:t>
            </a:r>
            <a:r>
              <a:rPr lang="en-US" i="1" dirty="0"/>
              <a:t>S. japonicum</a:t>
            </a:r>
            <a:r>
              <a:rPr lang="en-US" dirty="0"/>
              <a:t>. The eggs are similar to but smaller and wider than those of </a:t>
            </a:r>
            <a:r>
              <a:rPr lang="en-US" i="1" dirty="0"/>
              <a:t>S. japonicum</a:t>
            </a:r>
            <a:r>
              <a:rPr lang="en-US" dirty="0"/>
              <a:t>.</a:t>
            </a:r>
          </a:p>
          <a:p>
            <a:r>
              <a:rPr lang="en-US" dirty="0"/>
              <a:t>There is a small knob-like spine similar to that of </a:t>
            </a:r>
            <a:r>
              <a:rPr lang="en-US" i="1" dirty="0"/>
              <a:t>S. japonicum</a:t>
            </a:r>
            <a:r>
              <a:rPr lang="en-US" dirty="0"/>
              <a:t>.</a:t>
            </a:r>
          </a:p>
          <a:p>
            <a:endParaRPr lang="en-US" dirty="0"/>
          </a:p>
        </p:txBody>
      </p:sp>
    </p:spTree>
    <p:extLst>
      <p:ext uri="{BB962C8B-B14F-4D97-AF65-F5344CB8AC3E}">
        <p14:creationId xmlns:p14="http://schemas.microsoft.com/office/powerpoint/2010/main" val="3590361545"/>
      </p:ext>
    </p:extLst>
  </p:cSld>
  <p:clrMapOvr>
    <a:masterClrMapping/>
  </p:clrMapOvr>
</p:sld>
</file>

<file path=ppt/slides/slide4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Infections Caused by Animal </a:t>
            </a:r>
            <a:r>
              <a:rPr lang="en-US" b="1" dirty="0" err="1"/>
              <a:t>Schistosomes</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Humans may also be infected by many other </a:t>
            </a:r>
            <a:r>
              <a:rPr lang="en-US" i="1" dirty="0" err="1"/>
              <a:t>Schistosoma</a:t>
            </a:r>
            <a:r>
              <a:rPr lang="en-US" dirty="0"/>
              <a:t> species that are naturally parasitic in animals, however in the human host such parasites cause mild gastrointestinal and other symptoms.</a:t>
            </a:r>
          </a:p>
          <a:p>
            <a:r>
              <a:rPr lang="en-US" dirty="0"/>
              <a:t> One of such is </a:t>
            </a:r>
            <a:r>
              <a:rPr lang="en-US" i="1" dirty="0" err="1"/>
              <a:t>Schistosoma</a:t>
            </a:r>
            <a:r>
              <a:rPr lang="en-US" i="1" dirty="0"/>
              <a:t> </a:t>
            </a:r>
            <a:r>
              <a:rPr lang="en-US" i="1" dirty="0" err="1"/>
              <a:t>matthei</a:t>
            </a:r>
            <a:r>
              <a:rPr lang="en-US" dirty="0"/>
              <a:t>, a natural parasite of sheep, goats, zebras and antelopes.</a:t>
            </a:r>
          </a:p>
          <a:p>
            <a:pPr marL="0" indent="0" algn="ctr">
              <a:buNone/>
            </a:pPr>
            <a:r>
              <a:rPr lang="en-US" b="1" dirty="0"/>
              <a:t>Distribution</a:t>
            </a:r>
            <a:endParaRPr lang="en-US" dirty="0"/>
          </a:p>
          <a:p>
            <a:r>
              <a:rPr lang="en-US" dirty="0"/>
              <a:t>Parts of South Africa, Zaire</a:t>
            </a:r>
          </a:p>
          <a:p>
            <a:endParaRPr lang="en-US" dirty="0"/>
          </a:p>
        </p:txBody>
      </p:sp>
    </p:spTree>
    <p:extLst>
      <p:ext uri="{BB962C8B-B14F-4D97-AF65-F5344CB8AC3E}">
        <p14:creationId xmlns:p14="http://schemas.microsoft.com/office/powerpoint/2010/main" val="1183439265"/>
      </p:ext>
    </p:extLst>
  </p:cSld>
  <p:clrMapOvr>
    <a:masterClrMapping/>
  </p:clrMapOvr>
</p:sld>
</file>

<file path=ppt/slides/slide4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Infections Caused by Animal </a:t>
            </a:r>
            <a:r>
              <a:rPr lang="en-US" b="1" dirty="0" err="1"/>
              <a:t>Schistosomes</a:t>
            </a:r>
            <a:br>
              <a:rPr lang="en-US" dirty="0"/>
            </a:br>
            <a:endParaRPr lang="en-US" dirty="0"/>
          </a:p>
        </p:txBody>
      </p:sp>
      <p:sp>
        <p:nvSpPr>
          <p:cNvPr id="3" name="Content Placeholder 2"/>
          <p:cNvSpPr>
            <a:spLocks noGrp="1"/>
          </p:cNvSpPr>
          <p:nvPr>
            <p:ph idx="1"/>
          </p:nvPr>
        </p:nvSpPr>
        <p:spPr>
          <a:xfrm>
            <a:off x="457200" y="1600200"/>
            <a:ext cx="8229600" cy="5181600"/>
          </a:xfrm>
        </p:spPr>
        <p:txBody>
          <a:bodyPr>
            <a:normAutofit fontScale="92500" lnSpcReduction="20000"/>
          </a:bodyPr>
          <a:lstStyle/>
          <a:p>
            <a:pPr marL="0" indent="0" algn="ctr">
              <a:buNone/>
            </a:pPr>
            <a:r>
              <a:rPr lang="en-US" b="1" dirty="0"/>
              <a:t>Transmission</a:t>
            </a:r>
            <a:endParaRPr lang="en-US" dirty="0"/>
          </a:p>
          <a:p>
            <a:r>
              <a:rPr lang="en-US" dirty="0"/>
              <a:t>The eggs are found in persons already infected with </a:t>
            </a:r>
            <a:r>
              <a:rPr lang="en-US" i="1" dirty="0"/>
              <a:t>S. </a:t>
            </a:r>
            <a:r>
              <a:rPr lang="en-US" i="1" dirty="0" err="1"/>
              <a:t>harmatobium</a:t>
            </a:r>
            <a:r>
              <a:rPr lang="en-US" dirty="0"/>
              <a:t> or </a:t>
            </a:r>
            <a:r>
              <a:rPr lang="en-US" i="1" dirty="0"/>
              <a:t>S. mansoni</a:t>
            </a:r>
            <a:r>
              <a:rPr lang="en-US" dirty="0"/>
              <a:t>.</a:t>
            </a:r>
          </a:p>
          <a:p>
            <a:r>
              <a:rPr lang="en-US" dirty="0"/>
              <a:t>It is thought that hybridization occurs between </a:t>
            </a:r>
            <a:r>
              <a:rPr lang="en-US" i="1" dirty="0"/>
              <a:t>S. </a:t>
            </a:r>
            <a:r>
              <a:rPr lang="en-US" i="1" dirty="0" err="1"/>
              <a:t>matthei</a:t>
            </a:r>
            <a:r>
              <a:rPr lang="en-US" dirty="0"/>
              <a:t> and </a:t>
            </a:r>
            <a:r>
              <a:rPr lang="en-US" i="1" dirty="0"/>
              <a:t>S. haematobium</a:t>
            </a:r>
            <a:endParaRPr lang="en-US" dirty="0"/>
          </a:p>
          <a:p>
            <a:pPr marL="0" indent="0" algn="ctr">
              <a:buNone/>
            </a:pPr>
            <a:r>
              <a:rPr lang="en-US" b="1" dirty="0"/>
              <a:t>Symptoms and pathology</a:t>
            </a:r>
            <a:endParaRPr lang="en-US" dirty="0"/>
          </a:p>
          <a:p>
            <a:r>
              <a:rPr lang="en-US" dirty="0"/>
              <a:t>Probably this species does not cause serious disease</a:t>
            </a:r>
          </a:p>
          <a:p>
            <a:pPr marL="0" indent="0" algn="ctr">
              <a:buNone/>
            </a:pPr>
            <a:r>
              <a:rPr lang="en-US" b="1" dirty="0"/>
              <a:t>Diagnosis</a:t>
            </a:r>
            <a:endParaRPr lang="en-US" dirty="0"/>
          </a:p>
          <a:p>
            <a:r>
              <a:rPr lang="en-US" dirty="0"/>
              <a:t>Eggs are passed in urine or </a:t>
            </a:r>
            <a:r>
              <a:rPr lang="en-US" dirty="0" err="1"/>
              <a:t>faeces</a:t>
            </a:r>
            <a:r>
              <a:rPr lang="en-US" dirty="0"/>
              <a:t> hence these specimens are examined for eggs with a short terminal spine.</a:t>
            </a:r>
          </a:p>
        </p:txBody>
      </p:sp>
    </p:spTree>
    <p:extLst>
      <p:ext uri="{BB962C8B-B14F-4D97-AF65-F5344CB8AC3E}">
        <p14:creationId xmlns:p14="http://schemas.microsoft.com/office/powerpoint/2010/main" val="2102868167"/>
      </p:ext>
    </p:extLst>
  </p:cSld>
  <p:clrMapOvr>
    <a:masterClrMapping/>
  </p:clrMapOvr>
</p:sld>
</file>

<file path=ppt/slides/slide4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6" name="Title 1"/>
          <p:cNvSpPr>
            <a:spLocks noGrp="1"/>
          </p:cNvSpPr>
          <p:nvPr>
            <p:ph type="ctrTitle"/>
          </p:nvPr>
        </p:nvSpPr>
        <p:spPr>
          <a:xfrm>
            <a:off x="685800" y="2339975"/>
            <a:ext cx="7772400" cy="1470025"/>
          </a:xfrm>
        </p:spPr>
        <p:txBody>
          <a:bodyPr/>
          <a:lstStyle/>
          <a:p>
            <a:r>
              <a:rPr lang="en-US" dirty="0"/>
              <a:t>PARASITOLOGY (BIOL 460)</a:t>
            </a:r>
          </a:p>
        </p:txBody>
      </p:sp>
      <p:sp>
        <p:nvSpPr>
          <p:cNvPr id="1048587" name="Subtitle 2"/>
          <p:cNvSpPr>
            <a:spLocks noGrp="1"/>
          </p:cNvSpPr>
          <p:nvPr>
            <p:ph type="subTitle" idx="1"/>
          </p:nvPr>
        </p:nvSpPr>
        <p:spPr/>
        <p:txBody>
          <a:bodyPr>
            <a:normAutofit/>
          </a:bodyPr>
          <a:lstStyle/>
          <a:p>
            <a:r>
              <a:rPr lang="en-US" dirty="0"/>
              <a:t>UNIT 7 </a:t>
            </a:r>
          </a:p>
          <a:p>
            <a:r>
              <a:rPr lang="en-US" dirty="0"/>
              <a:t>PARASITIC NEMATODES</a:t>
            </a:r>
          </a:p>
        </p:txBody>
      </p:sp>
    </p:spTree>
    <p:extLst>
      <p:ext uri="{BB962C8B-B14F-4D97-AF65-F5344CB8AC3E}">
        <p14:creationId xmlns:p14="http://schemas.microsoft.com/office/powerpoint/2010/main" val="1649436217"/>
      </p:ext>
    </p:extLst>
  </p:cSld>
  <p:clrMapOvr>
    <a:masterClrMapping/>
  </p:clrMapOvr>
</p:sld>
</file>

<file path=ppt/slides/slide4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3" name="Title 1"/>
          <p:cNvSpPr>
            <a:spLocks noGrp="1"/>
          </p:cNvSpPr>
          <p:nvPr>
            <p:ph type="title"/>
          </p:nvPr>
        </p:nvSpPr>
        <p:spPr/>
        <p:txBody>
          <a:bodyPr/>
          <a:lstStyle/>
          <a:p>
            <a:endParaRPr lang="en-US"/>
          </a:p>
        </p:txBody>
      </p:sp>
      <p:pic>
        <p:nvPicPr>
          <p:cNvPr id="2097152" name="Content Placeholder 3"/>
          <p:cNvPicPr>
            <a:picLocks noGrp="1" noChangeAspect="1"/>
          </p:cNvPicPr>
          <p:nvPr>
            <p:ph idx="1"/>
          </p:nvPr>
        </p:nvPicPr>
        <p:blipFill>
          <a:blip r:embed="rId2"/>
          <a:stretch>
            <a:fillRect/>
          </a:stretch>
        </p:blipFill>
        <p:spPr>
          <a:xfrm>
            <a:off x="457200" y="228600"/>
            <a:ext cx="7696200" cy="5943600"/>
          </a:xfrm>
        </p:spPr>
      </p:pic>
    </p:spTree>
    <p:extLst>
      <p:ext uri="{BB962C8B-B14F-4D97-AF65-F5344CB8AC3E}">
        <p14:creationId xmlns:p14="http://schemas.microsoft.com/office/powerpoint/2010/main" val="4248519484"/>
      </p:ext>
    </p:extLst>
  </p:cSld>
  <p:clrMapOvr>
    <a:masterClrMapping/>
  </p:clrMapOvr>
</p:sld>
</file>

<file path=ppt/slides/slide4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1"/>
          <p:cNvSpPr>
            <a:spLocks noGrp="1"/>
          </p:cNvSpPr>
          <p:nvPr>
            <p:ph type="title"/>
          </p:nvPr>
        </p:nvSpPr>
        <p:spPr/>
        <p:txBody>
          <a:bodyPr>
            <a:normAutofit fontScale="90000"/>
          </a:bodyPr>
          <a:lstStyle/>
          <a:p>
            <a:br>
              <a:rPr lang="en-US" b="1" dirty="0"/>
            </a:br>
            <a:r>
              <a:rPr lang="en-US" b="1" dirty="0"/>
              <a:t>THE HELMINTHS</a:t>
            </a:r>
            <a:br>
              <a:rPr lang="en-US" dirty="0"/>
            </a:br>
            <a:endParaRPr lang="en-US" dirty="0"/>
          </a:p>
        </p:txBody>
      </p:sp>
      <p:sp>
        <p:nvSpPr>
          <p:cNvPr id="1048595" name="Content Placeholder 2"/>
          <p:cNvSpPr>
            <a:spLocks noGrp="1"/>
          </p:cNvSpPr>
          <p:nvPr>
            <p:ph idx="1"/>
          </p:nvPr>
        </p:nvSpPr>
        <p:spPr/>
        <p:txBody>
          <a:bodyPr>
            <a:normAutofit/>
          </a:bodyPr>
          <a:lstStyle/>
          <a:p>
            <a:pPr>
              <a:buFont typeface="Wingdings" pitchFamily="2" charset="2"/>
              <a:buChar char="v"/>
            </a:pPr>
            <a:r>
              <a:rPr lang="en-US" dirty="0"/>
              <a:t>Besides the Phylum Platyhelminthes (the Flatworms, consisting of the Classes </a:t>
            </a:r>
            <a:r>
              <a:rPr lang="en-US" dirty="0" err="1"/>
              <a:t>Trematoda</a:t>
            </a:r>
            <a:r>
              <a:rPr lang="en-US" dirty="0"/>
              <a:t> and </a:t>
            </a:r>
            <a:r>
              <a:rPr lang="en-US" dirty="0" err="1"/>
              <a:t>Cestoda</a:t>
            </a:r>
            <a:r>
              <a:rPr lang="en-US" dirty="0"/>
              <a:t> (</a:t>
            </a:r>
            <a:r>
              <a:rPr lang="en-US" dirty="0" err="1"/>
              <a:t>Cestoidea</a:t>
            </a:r>
            <a:r>
              <a:rPr lang="en-US" dirty="0"/>
              <a:t>), </a:t>
            </a:r>
          </a:p>
          <a:p>
            <a:pPr>
              <a:buFont typeface="Wingdings" pitchFamily="2" charset="2"/>
              <a:buChar char="v"/>
            </a:pPr>
            <a:endParaRPr lang="en-US" dirty="0"/>
          </a:p>
          <a:p>
            <a:pPr>
              <a:buFont typeface="Wingdings" pitchFamily="2" charset="2"/>
              <a:buChar char="v"/>
            </a:pPr>
            <a:r>
              <a:rPr lang="en-US" dirty="0"/>
              <a:t>the other Phylum is the </a:t>
            </a:r>
            <a:r>
              <a:rPr lang="en-US" dirty="0" err="1"/>
              <a:t>Nemathelminthes</a:t>
            </a:r>
            <a:r>
              <a:rPr lang="en-US" dirty="0"/>
              <a:t> (the cylindrical worms) of which the Class </a:t>
            </a:r>
            <a:r>
              <a:rPr lang="en-US" dirty="0" err="1"/>
              <a:t>Nematoda</a:t>
            </a:r>
            <a:r>
              <a:rPr lang="en-US" dirty="0"/>
              <a:t> (commonly known as the Roundworms) is typically parasitic.</a:t>
            </a:r>
          </a:p>
          <a:p>
            <a:pPr>
              <a:buFont typeface="Wingdings" pitchFamily="2" charset="2"/>
              <a:buChar char="v"/>
            </a:pPr>
            <a:endParaRPr lang="en-US" dirty="0"/>
          </a:p>
        </p:txBody>
      </p:sp>
    </p:spTree>
    <p:extLst>
      <p:ext uri="{BB962C8B-B14F-4D97-AF65-F5344CB8AC3E}">
        <p14:creationId xmlns:p14="http://schemas.microsoft.com/office/powerpoint/2010/main" val="990238749"/>
      </p:ext>
    </p:extLst>
  </p:cSld>
  <p:clrMapOvr>
    <a:masterClrMapping/>
  </p:clrMapOvr>
</p:sld>
</file>

<file path=ppt/slides/slide4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Title 1"/>
          <p:cNvSpPr>
            <a:spLocks noGrp="1"/>
          </p:cNvSpPr>
          <p:nvPr>
            <p:ph type="title"/>
          </p:nvPr>
        </p:nvSpPr>
        <p:spPr/>
        <p:txBody>
          <a:bodyPr>
            <a:normAutofit fontScale="90000"/>
          </a:bodyPr>
          <a:lstStyle/>
          <a:p>
            <a:br>
              <a:rPr lang="en-US" b="1" dirty="0"/>
            </a:br>
            <a:r>
              <a:rPr lang="en-US" b="1" dirty="0"/>
              <a:t>The Nematodes</a:t>
            </a:r>
            <a:br>
              <a:rPr lang="en-US" dirty="0"/>
            </a:br>
            <a:endParaRPr lang="en-US" dirty="0"/>
          </a:p>
        </p:txBody>
      </p:sp>
      <p:sp>
        <p:nvSpPr>
          <p:cNvPr id="1048597" name="Content Placeholder 2"/>
          <p:cNvSpPr>
            <a:spLocks noGrp="1"/>
          </p:cNvSpPr>
          <p:nvPr>
            <p:ph idx="1"/>
          </p:nvPr>
        </p:nvSpPr>
        <p:spPr/>
        <p:txBody>
          <a:bodyPr>
            <a:normAutofit fontScale="90625" lnSpcReduction="10000"/>
          </a:bodyPr>
          <a:lstStyle/>
          <a:p>
            <a:pPr>
              <a:buFont typeface="Wingdings" pitchFamily="2" charset="2"/>
              <a:buChar char="v"/>
            </a:pPr>
            <a:r>
              <a:rPr lang="en-US" dirty="0"/>
              <a:t>Nematodes are among the most abundant animals on earth. </a:t>
            </a:r>
          </a:p>
          <a:p>
            <a:pPr>
              <a:buFont typeface="Wingdings" pitchFamily="2" charset="2"/>
              <a:buChar char="v"/>
            </a:pPr>
            <a:r>
              <a:rPr lang="en-US" dirty="0"/>
              <a:t>Nearly every kind of animal including insects </a:t>
            </a:r>
            <a:r>
              <a:rPr lang="en-US" dirty="0" err="1"/>
              <a:t>harbours</a:t>
            </a:r>
            <a:r>
              <a:rPr lang="en-US" dirty="0"/>
              <a:t> at least one species of parasitic nematode, and besides animal parasitic nematodes, there are also many species of nematodes that are parasitic in plants, </a:t>
            </a:r>
          </a:p>
          <a:p>
            <a:pPr>
              <a:buFont typeface="Wingdings" pitchFamily="2" charset="2"/>
              <a:buChar char="v"/>
            </a:pPr>
            <a:r>
              <a:rPr lang="en-US" dirty="0"/>
              <a:t> there are also species of free-living marine, freshwater and soil-dwelling nematodes that probably far outnumber those that are parasitic.</a:t>
            </a:r>
          </a:p>
          <a:p>
            <a:endParaRPr lang="en-US" dirty="0"/>
          </a:p>
        </p:txBody>
      </p:sp>
    </p:spTree>
    <p:extLst>
      <p:ext uri="{BB962C8B-B14F-4D97-AF65-F5344CB8AC3E}">
        <p14:creationId xmlns:p14="http://schemas.microsoft.com/office/powerpoint/2010/main" val="1321271066"/>
      </p:ext>
    </p:extLst>
  </p:cSld>
  <p:clrMapOvr>
    <a:masterClrMapping/>
  </p:clrMapOvr>
</p:sld>
</file>

<file path=ppt/slides/slide4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8"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599" name="Content Placeholder 2"/>
          <p:cNvSpPr>
            <a:spLocks noGrp="1"/>
          </p:cNvSpPr>
          <p:nvPr>
            <p:ph idx="1"/>
          </p:nvPr>
        </p:nvSpPr>
        <p:spPr/>
        <p:txBody>
          <a:bodyPr>
            <a:normAutofit/>
          </a:bodyPr>
          <a:lstStyle/>
          <a:p>
            <a:pPr lvl="0">
              <a:buFont typeface="Wingdings" pitchFamily="2" charset="2"/>
              <a:buChar char="v"/>
            </a:pPr>
            <a:r>
              <a:rPr lang="en-US" dirty="0"/>
              <a:t>Most nematodes are small, inconspicuous and apparently unimportant to humans.</a:t>
            </a:r>
          </a:p>
          <a:p>
            <a:pPr lvl="0">
              <a:buFont typeface="Wingdings" pitchFamily="2" charset="2"/>
              <a:buChar char="v"/>
            </a:pPr>
            <a:r>
              <a:rPr lang="en-US" dirty="0"/>
              <a:t> Typical nematodes are elongate, tapered at both ends, bilaterally symmetrical and possess a </a:t>
            </a:r>
            <a:r>
              <a:rPr lang="en-US" dirty="0" err="1"/>
              <a:t>pseudocoel</a:t>
            </a:r>
            <a:r>
              <a:rPr lang="en-US" dirty="0"/>
              <a:t> (a body cavity derived from the embryonic blastocoel). </a:t>
            </a:r>
          </a:p>
          <a:p>
            <a:pPr lvl="0">
              <a:buFont typeface="Wingdings" pitchFamily="2" charset="2"/>
              <a:buChar char="v"/>
            </a:pPr>
            <a:r>
              <a:rPr lang="en-US" dirty="0"/>
              <a:t>There are however, varieties of this body shape.</a:t>
            </a:r>
          </a:p>
        </p:txBody>
      </p:sp>
    </p:spTree>
    <p:extLst>
      <p:ext uri="{BB962C8B-B14F-4D97-AF65-F5344CB8AC3E}">
        <p14:creationId xmlns:p14="http://schemas.microsoft.com/office/powerpoint/2010/main" val="3594201844"/>
      </p:ext>
    </p:extLst>
  </p:cSld>
  <p:clrMapOvr>
    <a:masterClrMapping/>
  </p:clrMapOvr>
</p:sld>
</file>

<file path=ppt/slides/slide4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01" name="Content Placeholder 2"/>
          <p:cNvSpPr>
            <a:spLocks noGrp="1"/>
          </p:cNvSpPr>
          <p:nvPr>
            <p:ph idx="1"/>
          </p:nvPr>
        </p:nvSpPr>
        <p:spPr/>
        <p:txBody>
          <a:bodyPr>
            <a:normAutofit fontScale="96875" lnSpcReduction="10000"/>
          </a:bodyPr>
          <a:lstStyle/>
          <a:p>
            <a:pPr lvl="0">
              <a:buFont typeface="Wingdings" pitchFamily="2" charset="2"/>
              <a:buChar char="v"/>
            </a:pPr>
            <a:r>
              <a:rPr lang="en-US" dirty="0"/>
              <a:t>The digestive system is complete, with a mouth at the extreme anterior end and an anus near the posterior tip.</a:t>
            </a:r>
          </a:p>
          <a:p>
            <a:pPr lvl="0">
              <a:buFont typeface="Wingdings" pitchFamily="2" charset="2"/>
              <a:buChar char="v"/>
            </a:pPr>
            <a:r>
              <a:rPr lang="en-US" dirty="0"/>
              <a:t> The lumen of the pharynx is characteristically </a:t>
            </a:r>
            <a:r>
              <a:rPr lang="en-US" dirty="0" err="1"/>
              <a:t>triradiate</a:t>
            </a:r>
            <a:r>
              <a:rPr lang="en-US" dirty="0"/>
              <a:t>.</a:t>
            </a:r>
          </a:p>
          <a:p>
            <a:pPr lvl="0">
              <a:buFont typeface="Wingdings" pitchFamily="2" charset="2"/>
              <a:buChar char="v"/>
            </a:pPr>
            <a:r>
              <a:rPr lang="en-US" dirty="0"/>
              <a:t> The body is covered with a non-cellular cuticle that is secreted by an underlying hypodermis and is shed four times during ontogeny (Development).</a:t>
            </a:r>
          </a:p>
          <a:p>
            <a:pPr>
              <a:buFont typeface="Wingdings" pitchFamily="2" charset="2"/>
              <a:buChar char="v"/>
            </a:pP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4159993811"/>
      </p:ext>
    </p:extLst>
  </p:cSld>
  <p:clrMapOvr>
    <a:masterClrMapping/>
  </p:clrMapOvr>
</p:sld>
</file>

<file path=ppt/slides/slide4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2"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03" name="Content Placeholder 2"/>
          <p:cNvSpPr>
            <a:spLocks noGrp="1"/>
          </p:cNvSpPr>
          <p:nvPr>
            <p:ph idx="1"/>
          </p:nvPr>
        </p:nvSpPr>
        <p:spPr/>
        <p:txBody>
          <a:bodyPr>
            <a:normAutofit fontScale="90625" lnSpcReduction="10000"/>
          </a:bodyPr>
          <a:lstStyle/>
          <a:p>
            <a:pPr lvl="0">
              <a:buFont typeface="Wingdings" pitchFamily="2" charset="2"/>
              <a:buChar char="v"/>
            </a:pPr>
            <a:r>
              <a:rPr lang="en-US" dirty="0"/>
              <a:t>The muscle of the body wall are only one layer thick and are distinguished by all being, longitudinally arranged with no separate circulate layer.</a:t>
            </a:r>
          </a:p>
          <a:p>
            <a:pPr lvl="0">
              <a:buFont typeface="Wingdings" pitchFamily="2" charset="2"/>
              <a:buChar char="v"/>
            </a:pPr>
            <a:r>
              <a:rPr lang="en-US" dirty="0"/>
              <a:t>The excretory system consists of lateral canal, ventral glands or both which open near the anterior end through a ventral excretory pore.</a:t>
            </a:r>
          </a:p>
          <a:p>
            <a:pPr lvl="0">
              <a:buFont typeface="Wingdings" pitchFamily="2" charset="2"/>
              <a:buChar char="v"/>
            </a:pPr>
            <a:r>
              <a:rPr lang="en-US" dirty="0"/>
              <a:t>Except for some sensory endings of modified cilia, neither cilia nor flagella are present, even in the male gamete.</a:t>
            </a:r>
          </a:p>
          <a:p>
            <a:pPr>
              <a:buFont typeface="Wingdings" pitchFamily="2" charset="2"/>
              <a:buChar char="v"/>
            </a:pPr>
            <a:endParaRPr lang="en-US" dirty="0"/>
          </a:p>
        </p:txBody>
      </p:sp>
    </p:spTree>
    <p:extLst>
      <p:ext uri="{BB962C8B-B14F-4D97-AF65-F5344CB8AC3E}">
        <p14:creationId xmlns:p14="http://schemas.microsoft.com/office/powerpoint/2010/main" val="1118517686"/>
      </p:ext>
    </p:extLst>
  </p:cSld>
  <p:clrMapOvr>
    <a:masterClrMapping/>
  </p:clrMapOvr>
</p:sld>
</file>

<file path=ppt/slides/slide4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4"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05" name="Content Placeholder 2"/>
          <p:cNvSpPr>
            <a:spLocks noGrp="1"/>
          </p:cNvSpPr>
          <p:nvPr>
            <p:ph idx="1"/>
          </p:nvPr>
        </p:nvSpPr>
        <p:spPr/>
        <p:txBody>
          <a:bodyPr>
            <a:normAutofit fontScale="93750"/>
          </a:bodyPr>
          <a:lstStyle/>
          <a:p>
            <a:pPr lvl="0">
              <a:buFont typeface="Wingdings" pitchFamily="2" charset="2"/>
              <a:buChar char="v"/>
            </a:pPr>
            <a:r>
              <a:rPr lang="en-US" dirty="0"/>
              <a:t>Most nematodes are </a:t>
            </a:r>
            <a:r>
              <a:rPr lang="en-US" dirty="0" err="1"/>
              <a:t>dioecious</a:t>
            </a:r>
            <a:r>
              <a:rPr lang="en-US" dirty="0"/>
              <a:t> and show considerable sexual dimorphism:</a:t>
            </a:r>
          </a:p>
          <a:p>
            <a:pPr lvl="0">
              <a:buFont typeface="Wingdings" pitchFamily="2" charset="2"/>
              <a:buChar char="v"/>
            </a:pPr>
            <a:r>
              <a:rPr lang="en-US" dirty="0"/>
              <a:t> the females are usually larger, and the tail of the male is more curled.</a:t>
            </a:r>
          </a:p>
          <a:p>
            <a:pPr>
              <a:buFont typeface="Wingdings" pitchFamily="2" charset="2"/>
              <a:buChar char="v"/>
            </a:pPr>
            <a:r>
              <a:rPr lang="en-US" dirty="0"/>
              <a:t>Some species are hermaphroditic and others are </a:t>
            </a:r>
            <a:r>
              <a:rPr lang="en-US" dirty="0" err="1"/>
              <a:t>parthenogenetic</a:t>
            </a:r>
            <a:r>
              <a:rPr lang="en-US" dirty="0"/>
              <a:t>; the female reproductive system opens through a ventral genital pore;</a:t>
            </a:r>
          </a:p>
          <a:p>
            <a:pPr>
              <a:buFont typeface="Wingdings" pitchFamily="2" charset="2"/>
              <a:buChar char="v"/>
            </a:pPr>
            <a:r>
              <a:rPr lang="en-US" dirty="0"/>
              <a:t>the male system opens into a cloaca together with the digestive system</a:t>
            </a:r>
          </a:p>
        </p:txBody>
      </p:sp>
    </p:spTree>
    <p:extLst>
      <p:ext uri="{BB962C8B-B14F-4D97-AF65-F5344CB8AC3E}">
        <p14:creationId xmlns:p14="http://schemas.microsoft.com/office/powerpoint/2010/main" val="3873699859"/>
      </p:ext>
    </p:extLst>
  </p:cSld>
  <p:clrMapOvr>
    <a:masterClrMapping/>
  </p:clrMapOvr>
</p:sld>
</file>

<file path=ppt/slides/slide4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07" name="Content Placeholder 2"/>
          <p:cNvSpPr>
            <a:spLocks noGrp="1"/>
          </p:cNvSpPr>
          <p:nvPr>
            <p:ph idx="1"/>
          </p:nvPr>
        </p:nvSpPr>
        <p:spPr/>
        <p:txBody>
          <a:bodyPr>
            <a:normAutofit fontScale="89375"/>
          </a:bodyPr>
          <a:lstStyle/>
          <a:p>
            <a:pPr lvl="0">
              <a:buFont typeface="Wingdings" pitchFamily="2" charset="2"/>
              <a:buChar char="v"/>
            </a:pPr>
            <a:r>
              <a:rPr lang="en-US" dirty="0"/>
              <a:t>Adult nematodes vary in size from less than 1mm (</a:t>
            </a:r>
            <a:r>
              <a:rPr lang="en-US" dirty="0" err="1"/>
              <a:t>Coenorhabditis</a:t>
            </a:r>
            <a:r>
              <a:rPr lang="en-US" dirty="0"/>
              <a:t>) to more than a </a:t>
            </a:r>
            <a:r>
              <a:rPr lang="en-US" dirty="0" err="1"/>
              <a:t>metre</a:t>
            </a:r>
            <a:r>
              <a:rPr lang="en-US" dirty="0"/>
              <a:t> (</a:t>
            </a:r>
            <a:r>
              <a:rPr lang="en-US" dirty="0" err="1"/>
              <a:t>Dracunculus</a:t>
            </a:r>
            <a:r>
              <a:rPr lang="en-US" dirty="0"/>
              <a:t>).</a:t>
            </a:r>
          </a:p>
          <a:p>
            <a:pPr lvl="0">
              <a:buFont typeface="Wingdings" pitchFamily="2" charset="2"/>
              <a:buChar char="v"/>
            </a:pPr>
            <a:r>
              <a:rPr lang="en-US" dirty="0"/>
              <a:t>The body wall of nematodes consists of the cuticle, hypodermis and body wall musculature;</a:t>
            </a:r>
          </a:p>
          <a:p>
            <a:pPr lvl="0">
              <a:buFont typeface="Wingdings" pitchFamily="2" charset="2"/>
              <a:buChar char="v"/>
            </a:pPr>
            <a:r>
              <a:rPr lang="en-US" dirty="0"/>
              <a:t>the outermost covering, the cuticle, is a complex structure of great functional significance to the worm; it also lines the </a:t>
            </a:r>
            <a:r>
              <a:rPr lang="en-US" dirty="0" err="1"/>
              <a:t>stomodeum</a:t>
            </a:r>
            <a:r>
              <a:rPr lang="en-US" dirty="0"/>
              <a:t>, </a:t>
            </a:r>
            <a:r>
              <a:rPr lang="en-US" dirty="0" err="1"/>
              <a:t>proctodeum</a:t>
            </a:r>
            <a:r>
              <a:rPr lang="en-US" dirty="0"/>
              <a:t>, the excretory pore and the vagina.</a:t>
            </a:r>
          </a:p>
          <a:p>
            <a:pPr>
              <a:buFont typeface="Wingdings" pitchFamily="2" charset="2"/>
              <a:buChar char="v"/>
            </a:pPr>
            <a:endParaRPr lang="en-US" dirty="0"/>
          </a:p>
        </p:txBody>
      </p:sp>
    </p:spTree>
    <p:extLst>
      <p:ext uri="{BB962C8B-B14F-4D97-AF65-F5344CB8AC3E}">
        <p14:creationId xmlns:p14="http://schemas.microsoft.com/office/powerpoint/2010/main" val="3194058590"/>
      </p:ext>
    </p:extLst>
  </p:cSld>
  <p:clrMapOvr>
    <a:masterClrMapping/>
  </p:clrMapOvr>
</p:sld>
</file>

<file path=ppt/slides/slide4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8"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09" name="Content Placeholder 2"/>
          <p:cNvSpPr>
            <a:spLocks noGrp="1"/>
          </p:cNvSpPr>
          <p:nvPr>
            <p:ph idx="1"/>
          </p:nvPr>
        </p:nvSpPr>
        <p:spPr/>
        <p:txBody>
          <a:bodyPr/>
          <a:lstStyle/>
          <a:p>
            <a:pPr lvl="0">
              <a:buFont typeface="Wingdings" pitchFamily="2" charset="2"/>
              <a:buChar char="v"/>
            </a:pPr>
            <a:r>
              <a:rPr lang="en-US" dirty="0" err="1"/>
              <a:t>Cuticular</a:t>
            </a:r>
            <a:r>
              <a:rPr lang="en-US" dirty="0"/>
              <a:t> markings and ornamentations of many types occur in various kinds of nematodes: </a:t>
            </a:r>
          </a:p>
          <a:p>
            <a:pPr lvl="0">
              <a:buFont typeface="Wingdings" pitchFamily="2" charset="2"/>
              <a:buChar char="v"/>
            </a:pPr>
            <a:r>
              <a:rPr lang="en-US" dirty="0"/>
              <a:t>pores, spines of varying complexity, </a:t>
            </a:r>
            <a:r>
              <a:rPr lang="en-US" dirty="0" err="1"/>
              <a:t>punctations</a:t>
            </a:r>
            <a:r>
              <a:rPr lang="en-US" dirty="0"/>
              <a:t>, lateral or sub-lateral </a:t>
            </a:r>
            <a:r>
              <a:rPr lang="en-US" dirty="0" err="1"/>
              <a:t>cuticular</a:t>
            </a:r>
            <a:r>
              <a:rPr lang="en-US" dirty="0"/>
              <a:t> thickenings called ALAE are present in many species.</a:t>
            </a:r>
          </a:p>
          <a:p>
            <a:pPr>
              <a:buFont typeface="Wingdings" pitchFamily="2" charset="2"/>
              <a:buChar char="v"/>
            </a:pPr>
            <a:endParaRPr lang="en-US" dirty="0"/>
          </a:p>
        </p:txBody>
      </p:sp>
    </p:spTree>
    <p:extLst>
      <p:ext uri="{BB962C8B-B14F-4D97-AF65-F5344CB8AC3E}">
        <p14:creationId xmlns:p14="http://schemas.microsoft.com/office/powerpoint/2010/main" val="360018600"/>
      </p:ext>
    </p:extLst>
  </p:cSld>
  <p:clrMapOvr>
    <a:masterClrMapping/>
  </p:clrMapOvr>
</p:sld>
</file>

<file path=ppt/slides/slide4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0"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11" name="Content Placeholder 2"/>
          <p:cNvSpPr>
            <a:spLocks noGrp="1"/>
          </p:cNvSpPr>
          <p:nvPr>
            <p:ph idx="1"/>
          </p:nvPr>
        </p:nvSpPr>
        <p:spPr>
          <a:xfrm>
            <a:off x="457200" y="1600200"/>
            <a:ext cx="8229600" cy="4876800"/>
          </a:xfrm>
        </p:spPr>
        <p:txBody>
          <a:bodyPr>
            <a:normAutofit fontScale="96875" lnSpcReduction="10000"/>
          </a:bodyPr>
          <a:lstStyle/>
          <a:p>
            <a:pPr lvl="0">
              <a:buFont typeface="Wingdings" pitchFamily="2" charset="2"/>
              <a:buChar char="v"/>
            </a:pPr>
            <a:r>
              <a:rPr lang="en-US" dirty="0"/>
              <a:t>The </a:t>
            </a:r>
            <a:r>
              <a:rPr lang="en-US" dirty="0" err="1"/>
              <a:t>pseudocoelomic</a:t>
            </a:r>
            <a:r>
              <a:rPr lang="en-US" dirty="0"/>
              <a:t> fluid is the HAEMOLYMPH and a unique cell type, the COELOMOCYTE may be present in the </a:t>
            </a:r>
            <a:r>
              <a:rPr lang="en-US" dirty="0" err="1"/>
              <a:t>pseudocoel</a:t>
            </a:r>
            <a:r>
              <a:rPr lang="en-US" dirty="0"/>
              <a:t>, (usually, 2, 4, or 6 in number).</a:t>
            </a:r>
          </a:p>
          <a:p>
            <a:pPr lvl="0">
              <a:buFont typeface="Wingdings" pitchFamily="2" charset="2"/>
              <a:buChar char="v"/>
            </a:pPr>
            <a:r>
              <a:rPr lang="en-US" dirty="0"/>
              <a:t>The main sense organs are the cephalic and caudal papillae, the </a:t>
            </a:r>
            <a:r>
              <a:rPr lang="en-US" dirty="0" err="1"/>
              <a:t>amphids</a:t>
            </a:r>
            <a:r>
              <a:rPr lang="en-US" dirty="0"/>
              <a:t>, the </a:t>
            </a:r>
            <a:r>
              <a:rPr lang="en-US" dirty="0" err="1"/>
              <a:t>phasmids</a:t>
            </a:r>
            <a:r>
              <a:rPr lang="en-US" dirty="0"/>
              <a:t> and in certain free-living species, the </a:t>
            </a:r>
            <a:r>
              <a:rPr lang="en-US" dirty="0" err="1"/>
              <a:t>ocelli</a:t>
            </a:r>
            <a:r>
              <a:rPr lang="en-US" dirty="0"/>
              <a:t>.</a:t>
            </a:r>
          </a:p>
          <a:p>
            <a:pPr lvl="0">
              <a:buFont typeface="Wingdings" pitchFamily="2" charset="2"/>
              <a:buChar char="v"/>
            </a:pPr>
            <a:r>
              <a:rPr lang="en-US" dirty="0"/>
              <a:t>The pattern of sensory papillae on the head of a nematode is very important taxonomic characteristic.</a:t>
            </a:r>
          </a:p>
          <a:p>
            <a:endParaRPr lang="en-US" dirty="0"/>
          </a:p>
        </p:txBody>
      </p:sp>
    </p:spTree>
    <p:extLst>
      <p:ext uri="{BB962C8B-B14F-4D97-AF65-F5344CB8AC3E}">
        <p14:creationId xmlns:p14="http://schemas.microsoft.com/office/powerpoint/2010/main" val="3731379671"/>
      </p:ext>
    </p:extLst>
  </p:cSld>
  <p:clrMapOvr>
    <a:masterClrMapping/>
  </p:clrMapOvr>
</p:sld>
</file>

<file path=ppt/slides/slide4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2"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13" name="Content Placeholder 2"/>
          <p:cNvSpPr>
            <a:spLocks noGrp="1"/>
          </p:cNvSpPr>
          <p:nvPr>
            <p:ph idx="1"/>
          </p:nvPr>
        </p:nvSpPr>
        <p:spPr/>
        <p:txBody>
          <a:bodyPr>
            <a:normAutofit fontScale="96875"/>
          </a:bodyPr>
          <a:lstStyle/>
          <a:p>
            <a:pPr lvl="0">
              <a:buFont typeface="Wingdings" pitchFamily="2" charset="2"/>
              <a:buChar char="v"/>
            </a:pPr>
            <a:r>
              <a:rPr lang="en-US" dirty="0"/>
              <a:t>The </a:t>
            </a:r>
            <a:r>
              <a:rPr lang="en-US" dirty="0" err="1"/>
              <a:t>amphids</a:t>
            </a:r>
            <a:r>
              <a:rPr lang="en-US" dirty="0"/>
              <a:t> are considered chemoreceptors but may have secretory function in some species; extracts of hookworm </a:t>
            </a:r>
            <a:r>
              <a:rPr lang="en-US" dirty="0" err="1"/>
              <a:t>amphids</a:t>
            </a:r>
            <a:r>
              <a:rPr lang="en-US" dirty="0"/>
              <a:t> inhibit clotting of vertebrate blood.</a:t>
            </a:r>
          </a:p>
          <a:p>
            <a:pPr lvl="0">
              <a:buFont typeface="Wingdings" pitchFamily="2" charset="2"/>
              <a:buChar char="v"/>
            </a:pPr>
            <a:r>
              <a:rPr lang="en-US" dirty="0" err="1"/>
              <a:t>Phasmids</a:t>
            </a:r>
            <a:r>
              <a:rPr lang="en-US" dirty="0"/>
              <a:t> are similar in structure to the </a:t>
            </a:r>
            <a:r>
              <a:rPr lang="en-US" dirty="0" err="1"/>
              <a:t>Amphids</a:t>
            </a:r>
            <a:r>
              <a:rPr lang="en-US" dirty="0"/>
              <a:t>, and are of two basic types: one glandular with an excretory function, and one sensory and involved in chemoreception.</a:t>
            </a:r>
          </a:p>
          <a:p>
            <a:pPr>
              <a:buFont typeface="Wingdings" pitchFamily="2" charset="2"/>
              <a:buChar char="v"/>
            </a:pPr>
            <a:endParaRPr lang="en-US" dirty="0"/>
          </a:p>
        </p:txBody>
      </p:sp>
    </p:spTree>
    <p:extLst>
      <p:ext uri="{BB962C8B-B14F-4D97-AF65-F5344CB8AC3E}">
        <p14:creationId xmlns:p14="http://schemas.microsoft.com/office/powerpoint/2010/main" val="3415465308"/>
      </p:ext>
    </p:extLst>
  </p:cSld>
  <p:clrMapOvr>
    <a:masterClrMapping/>
  </p:clrMapOvr>
</p:sld>
</file>

<file path=ppt/slides/slide4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4"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15" name="Content Placeholder 2"/>
          <p:cNvSpPr>
            <a:spLocks noGrp="1"/>
          </p:cNvSpPr>
          <p:nvPr>
            <p:ph idx="1"/>
          </p:nvPr>
        </p:nvSpPr>
        <p:spPr/>
        <p:txBody>
          <a:bodyPr>
            <a:normAutofit fontScale="87500" lnSpcReduction="10000"/>
          </a:bodyPr>
          <a:lstStyle/>
          <a:p>
            <a:pPr marL="0" indent="0" algn="ctr">
              <a:buNone/>
            </a:pPr>
            <a:r>
              <a:rPr lang="en-US" b="1" dirty="0"/>
              <a:t>Mating </a:t>
            </a:r>
            <a:r>
              <a:rPr lang="en-US" b="1" dirty="0" err="1"/>
              <a:t>Behaviour</a:t>
            </a:r>
            <a:endParaRPr lang="en-US" dirty="0"/>
          </a:p>
          <a:p>
            <a:pPr lvl="0">
              <a:buFont typeface="Wingdings" pitchFamily="2" charset="2"/>
              <a:buChar char="v"/>
            </a:pPr>
            <a:r>
              <a:rPr lang="en-US" dirty="0"/>
              <a:t>Adult nematodes of opposite sexes must find each other and copulate for reproduction to occur (most nematodes are </a:t>
            </a:r>
            <a:r>
              <a:rPr lang="en-US" dirty="0" err="1"/>
              <a:t>dioecious</a:t>
            </a:r>
            <a:r>
              <a:rPr lang="en-US" dirty="0"/>
              <a:t>).</a:t>
            </a:r>
          </a:p>
          <a:p>
            <a:pPr lvl="0">
              <a:buFont typeface="Wingdings" pitchFamily="2" charset="2"/>
              <a:buChar char="v"/>
            </a:pPr>
            <a:r>
              <a:rPr lang="en-US" dirty="0"/>
              <a:t>Both </a:t>
            </a:r>
            <a:r>
              <a:rPr lang="en-US" dirty="0" err="1"/>
              <a:t>chemotactile</a:t>
            </a:r>
            <a:r>
              <a:rPr lang="en-US" dirty="0"/>
              <a:t> and </a:t>
            </a:r>
            <a:r>
              <a:rPr lang="en-US" dirty="0" err="1"/>
              <a:t>thigmotactile</a:t>
            </a:r>
            <a:r>
              <a:rPr lang="en-US" dirty="0"/>
              <a:t> mechanisms operate in these processes; pheromone sex attractants have been shown in several species of nematodes, using </a:t>
            </a:r>
            <a:r>
              <a:rPr lang="en-US" i="1" dirty="0"/>
              <a:t>in vitro</a:t>
            </a:r>
            <a:r>
              <a:rPr lang="en-US" dirty="0"/>
              <a:t> assays.</a:t>
            </a:r>
          </a:p>
          <a:p>
            <a:pPr lvl="0">
              <a:buFont typeface="Wingdings" pitchFamily="2" charset="2"/>
              <a:buChar char="v"/>
            </a:pPr>
            <a:r>
              <a:rPr lang="en-US" dirty="0"/>
              <a:t>Copulation is facilitated by </a:t>
            </a:r>
            <a:r>
              <a:rPr lang="en-US" dirty="0" err="1"/>
              <a:t>thigmotactile</a:t>
            </a:r>
            <a:r>
              <a:rPr lang="en-US" dirty="0"/>
              <a:t> responses mediated by the papillae.</a:t>
            </a:r>
          </a:p>
          <a:p>
            <a:pPr marL="0" indent="0">
              <a:buNone/>
            </a:pPr>
            <a:endParaRPr lang="en-US" dirty="0"/>
          </a:p>
        </p:txBody>
      </p:sp>
    </p:spTree>
    <p:extLst>
      <p:ext uri="{BB962C8B-B14F-4D97-AF65-F5344CB8AC3E}">
        <p14:creationId xmlns:p14="http://schemas.microsoft.com/office/powerpoint/2010/main" val="3109527546"/>
      </p:ext>
    </p:extLst>
  </p:cSld>
  <p:clrMapOvr>
    <a:masterClrMapping/>
  </p:clrMapOvr>
</p:sld>
</file>

<file path=ppt/slides/slide4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6"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17" name="Content Placeholder 2"/>
          <p:cNvSpPr>
            <a:spLocks noGrp="1"/>
          </p:cNvSpPr>
          <p:nvPr>
            <p:ph idx="1"/>
          </p:nvPr>
        </p:nvSpPr>
        <p:spPr/>
        <p:txBody>
          <a:bodyPr/>
          <a:lstStyle/>
          <a:p>
            <a:pPr marL="0" indent="0" algn="ctr">
              <a:buNone/>
            </a:pPr>
            <a:r>
              <a:rPr lang="en-US" b="1" dirty="0"/>
              <a:t>The Parasitic Nematodes</a:t>
            </a:r>
            <a:endParaRPr lang="en-US" dirty="0"/>
          </a:p>
          <a:p>
            <a:endParaRPr lang="en-US" dirty="0"/>
          </a:p>
          <a:p>
            <a:pPr>
              <a:buFont typeface="Wingdings" pitchFamily="2" charset="2"/>
              <a:buChar char="v"/>
            </a:pPr>
            <a:r>
              <a:rPr lang="en-US" b="1" i="1" dirty="0"/>
              <a:t>These can be categorized into three, depending on the organ/system of residency of the adult worm, as follows: </a:t>
            </a:r>
          </a:p>
          <a:p>
            <a:endParaRPr lang="en-US" dirty="0"/>
          </a:p>
        </p:txBody>
      </p:sp>
    </p:spTree>
    <p:extLst>
      <p:ext uri="{BB962C8B-B14F-4D97-AF65-F5344CB8AC3E}">
        <p14:creationId xmlns:p14="http://schemas.microsoft.com/office/powerpoint/2010/main" val="2463510078"/>
      </p:ext>
    </p:extLst>
  </p:cSld>
  <p:clrMapOvr>
    <a:masterClrMapping/>
  </p:clrMapOvr>
</p:sld>
</file>

<file path=ppt/slides/slide4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8"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19" name="Content Placeholder 2"/>
          <p:cNvSpPr>
            <a:spLocks noGrp="1"/>
          </p:cNvSpPr>
          <p:nvPr>
            <p:ph idx="1"/>
          </p:nvPr>
        </p:nvSpPr>
        <p:spPr>
          <a:xfrm>
            <a:off x="457200" y="1600200"/>
            <a:ext cx="8229600" cy="5486400"/>
          </a:xfrm>
        </p:spPr>
        <p:txBody>
          <a:bodyPr>
            <a:normAutofit fontScale="81250" lnSpcReduction="20000"/>
          </a:bodyPr>
          <a:lstStyle/>
          <a:p>
            <a:pPr marL="0" indent="0" algn="ctr">
              <a:buNone/>
            </a:pPr>
            <a:r>
              <a:rPr lang="en-US" b="1" dirty="0"/>
              <a:t>Intestinal</a:t>
            </a:r>
            <a:endParaRPr lang="en-US" dirty="0"/>
          </a:p>
          <a:p>
            <a:pPr>
              <a:buFont typeface="Wingdings" pitchFamily="2" charset="2"/>
              <a:buChar char="v"/>
            </a:pPr>
            <a:r>
              <a:rPr lang="en-US" i="1" dirty="0" err="1"/>
              <a:t>Ascaris</a:t>
            </a:r>
            <a:r>
              <a:rPr lang="en-US" i="1" dirty="0"/>
              <a:t>	 </a:t>
            </a:r>
            <a:endParaRPr lang="en-US" dirty="0"/>
          </a:p>
          <a:p>
            <a:pPr>
              <a:buFont typeface="Wingdings" pitchFamily="2" charset="2"/>
              <a:buChar char="v"/>
            </a:pPr>
            <a:r>
              <a:rPr lang="en-US" i="1" dirty="0" err="1"/>
              <a:t>Enterobius</a:t>
            </a:r>
            <a:endParaRPr lang="en-US" dirty="0"/>
          </a:p>
          <a:p>
            <a:pPr>
              <a:buFont typeface="Wingdings" pitchFamily="2" charset="2"/>
              <a:buChar char="v"/>
            </a:pPr>
            <a:r>
              <a:rPr lang="en-US" i="1" dirty="0" err="1"/>
              <a:t>Strongyloides</a:t>
            </a:r>
            <a:endParaRPr lang="en-US" dirty="0"/>
          </a:p>
          <a:p>
            <a:pPr>
              <a:buFont typeface="Wingdings" pitchFamily="2" charset="2"/>
              <a:buChar char="v"/>
            </a:pPr>
            <a:r>
              <a:rPr lang="en-US" i="1" dirty="0" err="1"/>
              <a:t>Trichuris</a:t>
            </a:r>
            <a:endParaRPr lang="en-US" dirty="0"/>
          </a:p>
          <a:p>
            <a:pPr>
              <a:buFont typeface="Wingdings" pitchFamily="2" charset="2"/>
              <a:buChar char="v"/>
            </a:pPr>
            <a:r>
              <a:rPr lang="en-US" i="1" dirty="0" err="1"/>
              <a:t>Ancylostoma</a:t>
            </a:r>
            <a:r>
              <a:rPr lang="en-US" dirty="0"/>
              <a:t> </a:t>
            </a:r>
          </a:p>
          <a:p>
            <a:pPr>
              <a:buFont typeface="Wingdings" pitchFamily="2" charset="2"/>
              <a:buChar char="v"/>
            </a:pPr>
            <a:r>
              <a:rPr lang="en-US" i="1" dirty="0" err="1"/>
              <a:t>Necator</a:t>
            </a:r>
            <a:endParaRPr lang="en-US" dirty="0"/>
          </a:p>
          <a:p>
            <a:pPr>
              <a:buFont typeface="Wingdings" pitchFamily="2" charset="2"/>
              <a:buChar char="v"/>
            </a:pPr>
            <a:endParaRPr lang="en-US" dirty="0"/>
          </a:p>
          <a:p>
            <a:pPr>
              <a:buFont typeface="Wingdings" pitchFamily="2" charset="2"/>
              <a:buChar char="v"/>
            </a:pPr>
            <a:r>
              <a:rPr lang="en-US" dirty="0"/>
              <a:t>The transmission of these to humans is mediated through/by contact with the soil, generally, </a:t>
            </a:r>
            <a:r>
              <a:rPr lang="en-US" dirty="0" err="1"/>
              <a:t>faeces</a:t>
            </a:r>
            <a:r>
              <a:rPr lang="en-US" dirty="0"/>
              <a:t>-contaminated hand or clothing. Autoinfection or Air-borne infection may occur in some species.</a:t>
            </a:r>
          </a:p>
          <a:p>
            <a:pPr marL="0" indent="0">
              <a:buNone/>
            </a:pPr>
            <a:br>
              <a:rPr lang="en-US" dirty="0"/>
            </a:br>
            <a:r>
              <a:rPr lang="en-US" dirty="0"/>
              <a:t> </a:t>
            </a:r>
          </a:p>
          <a:p>
            <a:endParaRPr lang="en-US" dirty="0"/>
          </a:p>
        </p:txBody>
      </p:sp>
    </p:spTree>
    <p:extLst>
      <p:ext uri="{BB962C8B-B14F-4D97-AF65-F5344CB8AC3E}">
        <p14:creationId xmlns:p14="http://schemas.microsoft.com/office/powerpoint/2010/main" val="1490412959"/>
      </p:ext>
    </p:extLst>
  </p:cSld>
  <p:clrMapOvr>
    <a:masterClrMapping/>
  </p:clrMapOvr>
</p:sld>
</file>

<file path=ppt/slides/slide4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0"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21" name="Content Placeholder 2"/>
          <p:cNvSpPr>
            <a:spLocks noGrp="1"/>
          </p:cNvSpPr>
          <p:nvPr>
            <p:ph idx="1"/>
          </p:nvPr>
        </p:nvSpPr>
        <p:spPr>
          <a:xfrm>
            <a:off x="457200" y="1600200"/>
            <a:ext cx="8229600" cy="4800600"/>
          </a:xfrm>
        </p:spPr>
        <p:txBody>
          <a:bodyPr>
            <a:normAutofit fontScale="90625" lnSpcReduction="20000"/>
          </a:bodyPr>
          <a:lstStyle/>
          <a:p>
            <a:pPr marL="0" indent="0" algn="ctr">
              <a:buNone/>
            </a:pPr>
            <a:r>
              <a:rPr lang="en-US" b="1" dirty="0"/>
              <a:t>Blood/Tissue</a:t>
            </a:r>
            <a:br>
              <a:rPr lang="en-US" dirty="0"/>
            </a:br>
            <a:r>
              <a:rPr lang="en-US" i="1" dirty="0" err="1"/>
              <a:t>Wuchereria</a:t>
            </a:r>
            <a:endParaRPr lang="en-US" dirty="0"/>
          </a:p>
          <a:p>
            <a:pPr>
              <a:buFont typeface="Wingdings" pitchFamily="2" charset="2"/>
              <a:buChar char="v"/>
            </a:pPr>
            <a:r>
              <a:rPr lang="en-US" i="1" dirty="0" err="1"/>
              <a:t>Brugia</a:t>
            </a:r>
            <a:endParaRPr lang="en-US" dirty="0"/>
          </a:p>
          <a:p>
            <a:pPr>
              <a:buFont typeface="Wingdings" pitchFamily="2" charset="2"/>
              <a:buChar char="v"/>
            </a:pPr>
            <a:r>
              <a:rPr lang="en-US" i="1" dirty="0"/>
              <a:t>Loa </a:t>
            </a:r>
            <a:r>
              <a:rPr lang="en-US" i="1" dirty="0" err="1"/>
              <a:t>loa</a:t>
            </a:r>
            <a:r>
              <a:rPr lang="en-US" i="1" dirty="0"/>
              <a:t> </a:t>
            </a:r>
            <a:endParaRPr lang="en-US" dirty="0"/>
          </a:p>
          <a:p>
            <a:pPr>
              <a:buFont typeface="Wingdings" pitchFamily="2" charset="2"/>
              <a:buChar char="v"/>
            </a:pPr>
            <a:r>
              <a:rPr lang="en-US" i="1" dirty="0" err="1"/>
              <a:t>Onchocerca</a:t>
            </a:r>
            <a:endParaRPr lang="en-US" dirty="0"/>
          </a:p>
          <a:p>
            <a:pPr>
              <a:buFont typeface="Wingdings" pitchFamily="2" charset="2"/>
              <a:buChar char="v"/>
            </a:pPr>
            <a:r>
              <a:rPr lang="en-US" dirty="0"/>
              <a:t>The transmission of these is through the bite of an insect, usually, a mosquito or some other fly.</a:t>
            </a:r>
            <a:br>
              <a:rPr lang="en-US" dirty="0"/>
            </a:br>
            <a:r>
              <a:rPr lang="en-US" i="1" dirty="0" err="1"/>
              <a:t>Dracunculus</a:t>
            </a:r>
            <a:r>
              <a:rPr lang="en-US" dirty="0"/>
              <a:t> – Transmission by ingestion of cyclops-infested water</a:t>
            </a:r>
          </a:p>
          <a:p>
            <a:pPr>
              <a:buFont typeface="Wingdings" pitchFamily="2" charset="2"/>
              <a:buChar char="v"/>
            </a:pPr>
            <a:r>
              <a:rPr lang="en-US" i="1" dirty="0" err="1"/>
              <a:t>Trichinella</a:t>
            </a:r>
            <a:r>
              <a:rPr lang="en-US" dirty="0"/>
              <a:t> – Transmission by ingestion of encysted larvae in raw or undercooked meat of infected wild pig, warthog or bear.</a:t>
            </a:r>
          </a:p>
          <a:p>
            <a:endParaRPr lang="en-US" dirty="0"/>
          </a:p>
        </p:txBody>
      </p:sp>
    </p:spTree>
    <p:extLst>
      <p:ext uri="{BB962C8B-B14F-4D97-AF65-F5344CB8AC3E}">
        <p14:creationId xmlns:p14="http://schemas.microsoft.com/office/powerpoint/2010/main" val="1283688773"/>
      </p:ext>
    </p:extLst>
  </p:cSld>
  <p:clrMapOvr>
    <a:masterClrMapping/>
  </p:clrMapOvr>
</p:sld>
</file>

<file path=ppt/slides/slide4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2" name="Title 1"/>
          <p:cNvSpPr>
            <a:spLocks noGrp="1"/>
          </p:cNvSpPr>
          <p:nvPr>
            <p:ph type="title"/>
          </p:nvPr>
        </p:nvSpPr>
        <p:spPr/>
        <p:txBody>
          <a:bodyPr>
            <a:normAutofit fontScale="90000"/>
          </a:bodyPr>
          <a:lstStyle/>
          <a:p>
            <a:br>
              <a:rPr lang="en-US" b="1" dirty="0"/>
            </a:br>
            <a:r>
              <a:rPr lang="en-US" b="1" dirty="0"/>
              <a:t>The Nematodes cont’d</a:t>
            </a:r>
            <a:br>
              <a:rPr lang="en-US" dirty="0"/>
            </a:br>
            <a:endParaRPr lang="en-US" dirty="0"/>
          </a:p>
        </p:txBody>
      </p:sp>
      <p:sp>
        <p:nvSpPr>
          <p:cNvPr id="1048623" name="Content Placeholder 2"/>
          <p:cNvSpPr>
            <a:spLocks noGrp="1"/>
          </p:cNvSpPr>
          <p:nvPr>
            <p:ph idx="1"/>
          </p:nvPr>
        </p:nvSpPr>
        <p:spPr/>
        <p:txBody>
          <a:bodyPr/>
          <a:lstStyle/>
          <a:p>
            <a:pPr>
              <a:buFont typeface="Wingdings" pitchFamily="2" charset="2"/>
              <a:buChar char="v"/>
            </a:pPr>
            <a:r>
              <a:rPr lang="en-US" i="1" dirty="0"/>
              <a:t>A third group, the larva </a:t>
            </a:r>
            <a:r>
              <a:rPr lang="en-US" i="1" dirty="0" err="1"/>
              <a:t>migrans</a:t>
            </a:r>
            <a:r>
              <a:rPr lang="en-US" i="1" dirty="0"/>
              <a:t>, migrate in/through the tissues of visceral organs or those of the skin. </a:t>
            </a:r>
          </a:p>
          <a:p>
            <a:pPr>
              <a:buFont typeface="Wingdings" pitchFamily="2" charset="2"/>
              <a:buChar char="v"/>
            </a:pPr>
            <a:r>
              <a:rPr lang="en-US" i="1" dirty="0"/>
              <a:t>In either case the larvae do not mature in man as the worms are generally of other animals and not humans.</a:t>
            </a:r>
          </a:p>
          <a:p>
            <a:pPr marL="0" indent="0">
              <a:buNone/>
            </a:pPr>
            <a:endParaRPr lang="en-US" i="1" dirty="0"/>
          </a:p>
        </p:txBody>
      </p:sp>
    </p:spTree>
    <p:extLst>
      <p:ext uri="{BB962C8B-B14F-4D97-AF65-F5344CB8AC3E}">
        <p14:creationId xmlns:p14="http://schemas.microsoft.com/office/powerpoint/2010/main" val="1043982640"/>
      </p:ext>
    </p:extLst>
  </p:cSld>
  <p:clrMapOvr>
    <a:masterClrMapping/>
  </p:clrMapOvr>
</p:sld>
</file>

<file path=ppt/slides/slide4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Title 1"/>
          <p:cNvSpPr>
            <a:spLocks noGrp="1"/>
          </p:cNvSpPr>
          <p:nvPr>
            <p:ph type="title"/>
          </p:nvPr>
        </p:nvSpPr>
        <p:spPr/>
        <p:txBody>
          <a:bodyPr>
            <a:normAutofit fontScale="90000"/>
          </a:bodyPr>
          <a:lstStyle/>
          <a:p>
            <a:br>
              <a:rPr lang="en-US" b="1" dirty="0"/>
            </a:br>
            <a:r>
              <a:rPr lang="en-US" b="1" dirty="0"/>
              <a:t>Features of intestinal Nematodes infecting humans</a:t>
            </a:r>
            <a:br>
              <a:rPr lang="en-US" dirty="0"/>
            </a:br>
            <a:endParaRPr lang="en-US" dirty="0"/>
          </a:p>
        </p:txBody>
      </p:sp>
      <p:sp>
        <p:nvSpPr>
          <p:cNvPr id="1048625" name="Content Placeholder 2"/>
          <p:cNvSpPr>
            <a:spLocks noGrp="1"/>
          </p:cNvSpPr>
          <p:nvPr>
            <p:ph idx="1"/>
          </p:nvPr>
        </p:nvSpPr>
        <p:spPr/>
        <p:txBody>
          <a:bodyPr>
            <a:normAutofit fontScale="96875"/>
          </a:bodyPr>
          <a:lstStyle/>
          <a:p>
            <a:pPr lvl="0">
              <a:buFont typeface="Wingdings" pitchFamily="2" charset="2"/>
              <a:buChar char="v"/>
            </a:pPr>
            <a:r>
              <a:rPr lang="en-US" dirty="0"/>
              <a:t>Adult worms live in the intestine</a:t>
            </a:r>
          </a:p>
          <a:p>
            <a:pPr lvl="0">
              <a:buFont typeface="Wingdings" pitchFamily="2" charset="2"/>
              <a:buChar char="v"/>
            </a:pPr>
            <a:r>
              <a:rPr lang="en-US" dirty="0"/>
              <a:t>Females are oviparous, i.e. lay eggs </a:t>
            </a:r>
          </a:p>
          <a:p>
            <a:pPr lvl="0">
              <a:buFont typeface="Wingdings" pitchFamily="2" charset="2"/>
              <a:buChar char="v"/>
            </a:pPr>
            <a:r>
              <a:rPr lang="en-US" dirty="0"/>
              <a:t>Humans are the only or the most significant hosts of the medically important members</a:t>
            </a:r>
          </a:p>
          <a:p>
            <a:pPr lvl="0">
              <a:buFont typeface="Wingdings" pitchFamily="2" charset="2"/>
              <a:buChar char="v"/>
            </a:pPr>
            <a:r>
              <a:rPr lang="en-US" dirty="0"/>
              <a:t>Most species are soil-transmitted, </a:t>
            </a:r>
          </a:p>
          <a:p>
            <a:pPr lvl="0">
              <a:buFont typeface="Wingdings" pitchFamily="2" charset="2"/>
              <a:buChar char="v"/>
            </a:pPr>
            <a:r>
              <a:rPr lang="en-US" dirty="0"/>
              <a:t>i.e. spread by faecal pollution of the soil (their larvae develop to the infective stage in the soil).</a:t>
            </a:r>
          </a:p>
          <a:p>
            <a:pPr>
              <a:buFont typeface="Wingdings" pitchFamily="2" charset="2"/>
              <a:buChar char="v"/>
            </a:pPr>
            <a:endParaRPr lang="en-US" dirty="0"/>
          </a:p>
        </p:txBody>
      </p:sp>
    </p:spTree>
    <p:extLst>
      <p:ext uri="{BB962C8B-B14F-4D97-AF65-F5344CB8AC3E}">
        <p14:creationId xmlns:p14="http://schemas.microsoft.com/office/powerpoint/2010/main" val="515688811"/>
      </p:ext>
    </p:extLst>
  </p:cSld>
  <p:clrMapOvr>
    <a:masterClrMapping/>
  </p:clrMapOvr>
</p:sld>
</file>

<file path=ppt/slides/slide4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6" name="Title 1"/>
          <p:cNvSpPr>
            <a:spLocks noGrp="1"/>
          </p:cNvSpPr>
          <p:nvPr>
            <p:ph type="title"/>
          </p:nvPr>
        </p:nvSpPr>
        <p:spPr/>
        <p:txBody>
          <a:bodyPr>
            <a:normAutofit fontScale="90000"/>
          </a:bodyPr>
          <a:lstStyle/>
          <a:p>
            <a:br>
              <a:rPr lang="en-US" b="1" dirty="0"/>
            </a:br>
            <a:r>
              <a:rPr lang="en-US" b="1" dirty="0"/>
              <a:t>Features of intestinal Nematodes infecting humans cont’d</a:t>
            </a:r>
            <a:br>
              <a:rPr lang="en-US" dirty="0"/>
            </a:br>
            <a:endParaRPr lang="en-US" dirty="0"/>
          </a:p>
        </p:txBody>
      </p:sp>
      <p:sp>
        <p:nvSpPr>
          <p:cNvPr id="1048627" name="Content Placeholder 2"/>
          <p:cNvSpPr>
            <a:spLocks noGrp="1"/>
          </p:cNvSpPr>
          <p:nvPr>
            <p:ph idx="1"/>
          </p:nvPr>
        </p:nvSpPr>
        <p:spPr>
          <a:xfrm>
            <a:off x="457200" y="1600200"/>
            <a:ext cx="8229600" cy="4953000"/>
          </a:xfrm>
        </p:spPr>
        <p:txBody>
          <a:bodyPr>
            <a:normAutofit fontScale="86250"/>
          </a:bodyPr>
          <a:lstStyle/>
          <a:p>
            <a:pPr lvl="0">
              <a:buFont typeface="Wingdings" pitchFamily="2" charset="2"/>
              <a:buChar char="v"/>
            </a:pPr>
            <a:r>
              <a:rPr lang="en-US" dirty="0"/>
              <a:t>Infection of humans is by swallowing infective eggs (</a:t>
            </a:r>
            <a:r>
              <a:rPr lang="en-US" i="1" dirty="0"/>
              <a:t>A. </a:t>
            </a:r>
            <a:r>
              <a:rPr lang="en-US" i="1" dirty="0" err="1"/>
              <a:t>lumbriodes</a:t>
            </a:r>
            <a:r>
              <a:rPr lang="en-US" dirty="0"/>
              <a:t>, </a:t>
            </a:r>
            <a:r>
              <a:rPr lang="en-US" i="1" dirty="0"/>
              <a:t>T. </a:t>
            </a:r>
            <a:r>
              <a:rPr lang="en-US" i="1" dirty="0" err="1"/>
              <a:t>trichiura</a:t>
            </a:r>
            <a:r>
              <a:rPr lang="en-US" i="1" dirty="0"/>
              <a:t>, E. </a:t>
            </a:r>
            <a:r>
              <a:rPr lang="en-US" i="1" dirty="0" err="1"/>
              <a:t>vermicularis</a:t>
            </a:r>
            <a:r>
              <a:rPr lang="en-US" dirty="0"/>
              <a:t>) or by infective larvae penetrating the skin (hookworm</a:t>
            </a:r>
            <a:r>
              <a:rPr lang="en-US" i="1" dirty="0"/>
              <a:t>, S. </a:t>
            </a:r>
            <a:r>
              <a:rPr lang="en-US" i="1" dirty="0" err="1"/>
              <a:t>stercoralis</a:t>
            </a:r>
            <a:r>
              <a:rPr lang="en-US" dirty="0"/>
              <a:t>).</a:t>
            </a:r>
          </a:p>
          <a:p>
            <a:pPr lvl="0">
              <a:buFont typeface="Wingdings" pitchFamily="2" charset="2"/>
              <a:buChar char="v"/>
            </a:pPr>
            <a:r>
              <a:rPr lang="en-US" dirty="0"/>
              <a:t>Larvae of </a:t>
            </a:r>
            <a:r>
              <a:rPr lang="en-US" i="1" dirty="0"/>
              <a:t>A. </a:t>
            </a:r>
            <a:r>
              <a:rPr lang="en-US" i="1" dirty="0" err="1"/>
              <a:t>lumbricoides</a:t>
            </a:r>
            <a:r>
              <a:rPr lang="en-US" dirty="0"/>
              <a:t>, </a:t>
            </a:r>
            <a:r>
              <a:rPr lang="en-US" i="1" dirty="0"/>
              <a:t>S. </a:t>
            </a:r>
            <a:r>
              <a:rPr lang="en-US" i="1" dirty="0" err="1"/>
              <a:t>stercoralis</a:t>
            </a:r>
            <a:r>
              <a:rPr lang="en-US" dirty="0"/>
              <a:t> and hookworms migrate through the heart and lungs for about 1-2 weeks, growing and developing in the process.</a:t>
            </a:r>
          </a:p>
          <a:p>
            <a:pPr>
              <a:buFont typeface="Wingdings" pitchFamily="2" charset="2"/>
              <a:buChar char="v"/>
            </a:pPr>
            <a:r>
              <a:rPr lang="en-US" dirty="0" err="1"/>
              <a:t>Filariform</a:t>
            </a:r>
            <a:r>
              <a:rPr lang="en-US" dirty="0"/>
              <a:t> larva is used to describe the infective larva of those intestinal nematodes that cause infection by penetrating the skin, e.g</a:t>
            </a:r>
            <a:r>
              <a:rPr lang="en-US" i="1" dirty="0"/>
              <a:t>. S. </a:t>
            </a:r>
            <a:r>
              <a:rPr lang="en-US" i="1" dirty="0" err="1"/>
              <a:t>stercoralis</a:t>
            </a:r>
            <a:r>
              <a:rPr lang="en-US" dirty="0"/>
              <a:t> and hookworms</a:t>
            </a:r>
          </a:p>
          <a:p>
            <a:pPr marL="0" indent="0">
              <a:buNone/>
            </a:pPr>
            <a:endParaRPr lang="en-US" dirty="0"/>
          </a:p>
        </p:txBody>
      </p:sp>
    </p:spTree>
    <p:extLst>
      <p:ext uri="{BB962C8B-B14F-4D97-AF65-F5344CB8AC3E}">
        <p14:creationId xmlns:p14="http://schemas.microsoft.com/office/powerpoint/2010/main" val="850411629"/>
      </p:ext>
    </p:extLst>
  </p:cSld>
  <p:clrMapOvr>
    <a:masterClrMapping/>
  </p:clrMapOvr>
</p:sld>
</file>

<file path=ppt/slides/slide4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8" name="Title 1"/>
          <p:cNvSpPr>
            <a:spLocks noGrp="1"/>
          </p:cNvSpPr>
          <p:nvPr>
            <p:ph type="title"/>
          </p:nvPr>
        </p:nvSpPr>
        <p:spPr/>
        <p:txBody>
          <a:bodyPr>
            <a:normAutofit fontScale="90000"/>
          </a:bodyPr>
          <a:lstStyle/>
          <a:p>
            <a:br>
              <a:rPr lang="en-US" b="1" dirty="0"/>
            </a:br>
            <a:r>
              <a:rPr lang="en-US" b="1" dirty="0"/>
              <a:t>Features of intestinal Nematodes infecting humans cont’d</a:t>
            </a:r>
            <a:br>
              <a:rPr lang="en-US" dirty="0"/>
            </a:br>
            <a:endParaRPr lang="en-US" dirty="0"/>
          </a:p>
        </p:txBody>
      </p:sp>
      <p:sp>
        <p:nvSpPr>
          <p:cNvPr id="1048629" name="Content Placeholder 2"/>
          <p:cNvSpPr>
            <a:spLocks noGrp="1"/>
          </p:cNvSpPr>
          <p:nvPr>
            <p:ph idx="1"/>
          </p:nvPr>
        </p:nvSpPr>
        <p:spPr/>
        <p:txBody>
          <a:bodyPr/>
          <a:lstStyle/>
          <a:p>
            <a:pPr>
              <a:buFont typeface="Wingdings" pitchFamily="2" charset="2"/>
              <a:buChar char="v"/>
            </a:pPr>
            <a:r>
              <a:rPr lang="en-US" dirty="0" err="1"/>
              <a:t>Rhabditiform</a:t>
            </a:r>
            <a:r>
              <a:rPr lang="en-US" dirty="0"/>
              <a:t> larva is used to describe the non-infective first stage larva that hatches from the egg in the intestine (</a:t>
            </a:r>
            <a:r>
              <a:rPr lang="en-US" i="1" dirty="0"/>
              <a:t>S. </a:t>
            </a:r>
            <a:r>
              <a:rPr lang="en-US" i="1" dirty="0" err="1"/>
              <a:t>stercoralis</a:t>
            </a:r>
            <a:r>
              <a:rPr lang="en-US" dirty="0"/>
              <a:t>) or in the soil (hookworm).</a:t>
            </a:r>
          </a:p>
          <a:p>
            <a:pPr>
              <a:buFont typeface="Wingdings" pitchFamily="2" charset="2"/>
              <a:buChar char="v"/>
            </a:pPr>
            <a:r>
              <a:rPr lang="en-US" dirty="0"/>
              <a:t>Note: the eggs of </a:t>
            </a:r>
            <a:r>
              <a:rPr lang="en-US" i="1" dirty="0"/>
              <a:t>S. </a:t>
            </a:r>
            <a:r>
              <a:rPr lang="en-US" i="1" dirty="0" err="1"/>
              <a:t>stercoralis</a:t>
            </a:r>
            <a:r>
              <a:rPr lang="en-US" dirty="0"/>
              <a:t> also hatch </a:t>
            </a:r>
            <a:r>
              <a:rPr lang="en-US" dirty="0" err="1"/>
              <a:t>rhabditiform</a:t>
            </a:r>
            <a:r>
              <a:rPr lang="en-US" dirty="0"/>
              <a:t> larva in the soil because this nematode can live freely in the soil as well as parasitically.</a:t>
            </a:r>
          </a:p>
          <a:p>
            <a:pPr marL="0" indent="0">
              <a:buNone/>
            </a:pPr>
            <a:endParaRPr lang="en-US" dirty="0"/>
          </a:p>
        </p:txBody>
      </p:sp>
    </p:spTree>
    <p:extLst>
      <p:ext uri="{BB962C8B-B14F-4D97-AF65-F5344CB8AC3E}">
        <p14:creationId xmlns:p14="http://schemas.microsoft.com/office/powerpoint/2010/main" val="2812305881"/>
      </p:ext>
    </p:extLst>
  </p:cSld>
  <p:clrMapOvr>
    <a:masterClrMapping/>
  </p:clrMapOvr>
</p:sld>
</file>

<file path=ppt/slides/slide4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Title 1"/>
          <p:cNvSpPr>
            <a:spLocks noGrp="1"/>
          </p:cNvSpPr>
          <p:nvPr>
            <p:ph type="title"/>
          </p:nvPr>
        </p:nvSpPr>
        <p:spPr/>
        <p:txBody>
          <a:bodyPr>
            <a:normAutofit fontScale="90000"/>
          </a:bodyPr>
          <a:lstStyle/>
          <a:p>
            <a:br>
              <a:rPr lang="en-US" b="1" dirty="0"/>
            </a:br>
            <a:r>
              <a:rPr lang="en-US" b="1" dirty="0"/>
              <a:t>Features of intestinal Nematodes infecting humans cont’d</a:t>
            </a:r>
            <a:br>
              <a:rPr lang="en-US" dirty="0"/>
            </a:br>
            <a:endParaRPr lang="en-US" dirty="0"/>
          </a:p>
        </p:txBody>
      </p:sp>
      <p:sp>
        <p:nvSpPr>
          <p:cNvPr id="1048631" name="Content Placeholder 2"/>
          <p:cNvSpPr>
            <a:spLocks noGrp="1"/>
          </p:cNvSpPr>
          <p:nvPr>
            <p:ph idx="1"/>
          </p:nvPr>
        </p:nvSpPr>
        <p:spPr/>
        <p:txBody>
          <a:bodyPr/>
          <a:lstStyle/>
          <a:p>
            <a:pPr marL="0" indent="0" algn="ctr">
              <a:buNone/>
            </a:pPr>
            <a:r>
              <a:rPr lang="en-US" b="1" dirty="0" err="1"/>
              <a:t>Phasmid</a:t>
            </a:r>
            <a:r>
              <a:rPr lang="en-US" b="1" dirty="0"/>
              <a:t> and </a:t>
            </a:r>
            <a:r>
              <a:rPr lang="en-US" b="1" dirty="0" err="1"/>
              <a:t>Aphasmid</a:t>
            </a:r>
            <a:r>
              <a:rPr lang="en-US" b="1" dirty="0"/>
              <a:t> Nematodes</a:t>
            </a:r>
            <a:endParaRPr lang="en-US" dirty="0"/>
          </a:p>
          <a:p>
            <a:pPr>
              <a:buFont typeface="Wingdings" pitchFamily="2" charset="2"/>
              <a:buChar char="v"/>
            </a:pPr>
            <a:r>
              <a:rPr lang="en-US" dirty="0"/>
              <a:t>Phasmid is one of a pair of caudal chemoreceptors occurring in certain nematodes.</a:t>
            </a:r>
          </a:p>
          <a:p>
            <a:pPr>
              <a:buFont typeface="Wingdings" pitchFamily="2" charset="2"/>
              <a:buChar char="v"/>
            </a:pPr>
            <a:r>
              <a:rPr lang="en-US" dirty="0"/>
              <a:t>The Class </a:t>
            </a:r>
            <a:r>
              <a:rPr lang="en-US" dirty="0" err="1"/>
              <a:t>Nematoda</a:t>
            </a:r>
            <a:r>
              <a:rPr lang="en-US" dirty="0"/>
              <a:t> is sometimes divided into two sub-classes, </a:t>
            </a:r>
            <a:r>
              <a:rPr lang="en-US" dirty="0" err="1"/>
              <a:t>Phasmidia</a:t>
            </a:r>
            <a:r>
              <a:rPr lang="en-US" dirty="0"/>
              <a:t> and </a:t>
            </a:r>
            <a:r>
              <a:rPr lang="en-US" dirty="0" err="1"/>
              <a:t>Aphasmidia</a:t>
            </a:r>
            <a:r>
              <a:rPr lang="en-US" dirty="0"/>
              <a:t>, on the basis of the presence or absence of these organs.</a:t>
            </a:r>
          </a:p>
          <a:p>
            <a:endParaRPr lang="en-US" dirty="0"/>
          </a:p>
        </p:txBody>
      </p:sp>
    </p:spTree>
    <p:extLst>
      <p:ext uri="{BB962C8B-B14F-4D97-AF65-F5344CB8AC3E}">
        <p14:creationId xmlns:p14="http://schemas.microsoft.com/office/powerpoint/2010/main" val="3194794961"/>
      </p:ext>
    </p:extLst>
  </p:cSld>
  <p:clrMapOvr>
    <a:masterClrMapping/>
  </p:clrMapOvr>
</p:sld>
</file>

<file path=ppt/slides/slide4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2" name="Title 1"/>
          <p:cNvSpPr>
            <a:spLocks noGrp="1"/>
          </p:cNvSpPr>
          <p:nvPr>
            <p:ph type="title"/>
          </p:nvPr>
        </p:nvSpPr>
        <p:spPr/>
        <p:txBody>
          <a:bodyPr>
            <a:normAutofit fontScale="90000"/>
          </a:bodyPr>
          <a:lstStyle/>
          <a:p>
            <a:br>
              <a:rPr lang="en-US" b="1" dirty="0"/>
            </a:br>
            <a:r>
              <a:rPr lang="en-US" b="1" dirty="0"/>
              <a:t>The </a:t>
            </a:r>
            <a:r>
              <a:rPr lang="en-US" b="1" dirty="0" err="1"/>
              <a:t>Phasmidia</a:t>
            </a:r>
            <a:r>
              <a:rPr lang="en-US" b="1" dirty="0"/>
              <a:t> (the </a:t>
            </a:r>
            <a:r>
              <a:rPr lang="en-US" b="1" dirty="0" err="1"/>
              <a:t>phasmid</a:t>
            </a:r>
            <a:r>
              <a:rPr lang="en-US" b="1" dirty="0"/>
              <a:t> nematodes)</a:t>
            </a:r>
            <a:br>
              <a:rPr lang="en-US" dirty="0"/>
            </a:br>
            <a:endParaRPr lang="en-US" dirty="0"/>
          </a:p>
        </p:txBody>
      </p:sp>
      <p:sp>
        <p:nvSpPr>
          <p:cNvPr id="1048633" name="Content Placeholder 2"/>
          <p:cNvSpPr>
            <a:spLocks noGrp="1"/>
          </p:cNvSpPr>
          <p:nvPr>
            <p:ph idx="1"/>
          </p:nvPr>
        </p:nvSpPr>
        <p:spPr>
          <a:xfrm>
            <a:off x="457200" y="1600200"/>
            <a:ext cx="8229600" cy="5181600"/>
          </a:xfrm>
        </p:spPr>
        <p:txBody>
          <a:bodyPr>
            <a:normAutofit fontScale="86250"/>
          </a:bodyPr>
          <a:lstStyle/>
          <a:p>
            <a:pPr lvl="0">
              <a:buFont typeface="Wingdings" pitchFamily="2" charset="2"/>
              <a:buChar char="v"/>
            </a:pPr>
            <a:r>
              <a:rPr lang="en-US" dirty="0"/>
              <a:t>The subclass comprises those nematodes possessing </a:t>
            </a:r>
            <a:r>
              <a:rPr lang="en-US" dirty="0" err="1"/>
              <a:t>phasmids</a:t>
            </a:r>
            <a:r>
              <a:rPr lang="en-US" dirty="0"/>
              <a:t> of which the following families are of medical or veterinary importance:</a:t>
            </a:r>
          </a:p>
          <a:p>
            <a:pPr>
              <a:buFont typeface="Wingdings" pitchFamily="2" charset="2"/>
              <a:buChar char="v"/>
            </a:pPr>
            <a:r>
              <a:rPr lang="en-US" dirty="0" err="1"/>
              <a:t>Rhabditoidea</a:t>
            </a:r>
            <a:endParaRPr lang="en-US" dirty="0"/>
          </a:p>
          <a:p>
            <a:pPr>
              <a:buFont typeface="Wingdings" pitchFamily="2" charset="2"/>
              <a:buChar char="v"/>
            </a:pPr>
            <a:r>
              <a:rPr lang="en-US" dirty="0" err="1"/>
              <a:t>Strongyloidea</a:t>
            </a:r>
            <a:r>
              <a:rPr lang="en-US" dirty="0"/>
              <a:t>/</a:t>
            </a:r>
            <a:r>
              <a:rPr lang="en-US" dirty="0" err="1"/>
              <a:t>Rhabditoidea</a:t>
            </a:r>
            <a:endParaRPr lang="en-US" dirty="0"/>
          </a:p>
          <a:p>
            <a:pPr>
              <a:buFont typeface="Wingdings" pitchFamily="2" charset="2"/>
              <a:buChar char="v"/>
            </a:pPr>
            <a:r>
              <a:rPr lang="en-US" dirty="0" err="1"/>
              <a:t>Oxyuroidea</a:t>
            </a:r>
            <a:endParaRPr lang="en-US" dirty="0"/>
          </a:p>
          <a:p>
            <a:pPr>
              <a:buFont typeface="Wingdings" pitchFamily="2" charset="2"/>
              <a:buChar char="v"/>
            </a:pPr>
            <a:r>
              <a:rPr lang="en-US" dirty="0" err="1"/>
              <a:t>Ascaridoidea</a:t>
            </a:r>
            <a:endParaRPr lang="en-US" dirty="0"/>
          </a:p>
          <a:p>
            <a:pPr>
              <a:buFont typeface="Wingdings" pitchFamily="2" charset="2"/>
              <a:buChar char="v"/>
            </a:pPr>
            <a:r>
              <a:rPr lang="en-US" dirty="0" err="1"/>
              <a:t>Spiruroidea</a:t>
            </a:r>
            <a:endParaRPr lang="en-US" dirty="0"/>
          </a:p>
          <a:p>
            <a:pPr>
              <a:buFont typeface="Wingdings" pitchFamily="2" charset="2"/>
              <a:buChar char="v"/>
            </a:pPr>
            <a:r>
              <a:rPr lang="en-US" dirty="0" err="1"/>
              <a:t>Filarioidea</a:t>
            </a:r>
            <a:r>
              <a:rPr lang="en-US" dirty="0"/>
              <a:t>, and  </a:t>
            </a:r>
          </a:p>
          <a:p>
            <a:pPr>
              <a:buFont typeface="Wingdings" pitchFamily="2" charset="2"/>
              <a:buChar char="v"/>
            </a:pPr>
            <a:r>
              <a:rPr lang="en-US" dirty="0" err="1"/>
              <a:t>Dracunculoidea</a:t>
            </a:r>
            <a:endParaRPr lang="en-US" dirty="0"/>
          </a:p>
          <a:p>
            <a:pPr marL="0" indent="0">
              <a:buNone/>
            </a:pPr>
            <a:r>
              <a:rPr lang="en-US" dirty="0"/>
              <a:t> </a:t>
            </a:r>
          </a:p>
          <a:p>
            <a:endParaRPr lang="en-US" dirty="0"/>
          </a:p>
        </p:txBody>
      </p:sp>
    </p:spTree>
    <p:extLst>
      <p:ext uri="{BB962C8B-B14F-4D97-AF65-F5344CB8AC3E}">
        <p14:creationId xmlns:p14="http://schemas.microsoft.com/office/powerpoint/2010/main" val="2229028406"/>
      </p:ext>
    </p:extLst>
  </p:cSld>
  <p:clrMapOvr>
    <a:masterClrMapping/>
  </p:clrMapOvr>
</p:sld>
</file>

<file path=ppt/slides/slide4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4" name="Title 1"/>
          <p:cNvSpPr>
            <a:spLocks noGrp="1"/>
          </p:cNvSpPr>
          <p:nvPr>
            <p:ph type="title"/>
          </p:nvPr>
        </p:nvSpPr>
        <p:spPr/>
        <p:txBody>
          <a:bodyPr>
            <a:normAutofit fontScale="90000"/>
          </a:bodyPr>
          <a:lstStyle/>
          <a:p>
            <a:br>
              <a:rPr lang="en-US" b="1" dirty="0"/>
            </a:br>
            <a:r>
              <a:rPr lang="en-US" b="1" dirty="0"/>
              <a:t>The </a:t>
            </a:r>
            <a:r>
              <a:rPr lang="en-US" b="1" dirty="0" err="1"/>
              <a:t>Aphasmidia</a:t>
            </a:r>
            <a:r>
              <a:rPr lang="en-US" b="1" dirty="0"/>
              <a:t> (Nematodes without </a:t>
            </a:r>
            <a:r>
              <a:rPr lang="en-US" b="1" dirty="0" err="1"/>
              <a:t>phasmids</a:t>
            </a:r>
            <a:r>
              <a:rPr lang="en-US" b="1" dirty="0"/>
              <a:t>)</a:t>
            </a:r>
            <a:br>
              <a:rPr lang="en-US" dirty="0"/>
            </a:br>
            <a:endParaRPr lang="en-US" dirty="0"/>
          </a:p>
        </p:txBody>
      </p:sp>
      <p:sp>
        <p:nvSpPr>
          <p:cNvPr id="1048635" name="Content Placeholder 2"/>
          <p:cNvSpPr>
            <a:spLocks noGrp="1"/>
          </p:cNvSpPr>
          <p:nvPr>
            <p:ph idx="1"/>
          </p:nvPr>
        </p:nvSpPr>
        <p:spPr/>
        <p:txBody>
          <a:bodyPr/>
          <a:lstStyle/>
          <a:p>
            <a:pPr lvl="0">
              <a:buFont typeface="Wingdings" pitchFamily="2" charset="2"/>
              <a:buChar char="v"/>
            </a:pPr>
            <a:r>
              <a:rPr lang="en-US" dirty="0"/>
              <a:t>This subclass of nematodes comprises those which do not possess </a:t>
            </a:r>
            <a:r>
              <a:rPr lang="en-US" dirty="0" err="1"/>
              <a:t>phasmids</a:t>
            </a:r>
            <a:endParaRPr lang="en-US" dirty="0"/>
          </a:p>
          <a:p>
            <a:pPr lvl="0">
              <a:buFont typeface="Wingdings" pitchFamily="2" charset="2"/>
              <a:buChar char="v"/>
            </a:pPr>
            <a:endParaRPr lang="en-US" dirty="0"/>
          </a:p>
          <a:p>
            <a:pPr lvl="0">
              <a:buFont typeface="Wingdings" pitchFamily="2" charset="2"/>
              <a:buChar char="v"/>
            </a:pPr>
            <a:r>
              <a:rPr lang="en-US" dirty="0"/>
              <a:t>They include the </a:t>
            </a:r>
            <a:r>
              <a:rPr lang="en-US" dirty="0" err="1"/>
              <a:t>Superfamilies</a:t>
            </a:r>
            <a:r>
              <a:rPr lang="en-US" dirty="0"/>
              <a:t>,</a:t>
            </a:r>
          </a:p>
          <a:p>
            <a:pPr>
              <a:buFont typeface="Wingdings" pitchFamily="2" charset="2"/>
              <a:buChar char="v"/>
            </a:pPr>
            <a:r>
              <a:rPr lang="en-US" dirty="0" err="1"/>
              <a:t>Trichuroidea</a:t>
            </a:r>
            <a:r>
              <a:rPr lang="en-US" dirty="0"/>
              <a:t> </a:t>
            </a:r>
          </a:p>
          <a:p>
            <a:pPr>
              <a:buFont typeface="Wingdings" pitchFamily="2" charset="2"/>
              <a:buChar char="v"/>
            </a:pPr>
            <a:r>
              <a:rPr lang="en-US" dirty="0" err="1"/>
              <a:t>Merurithoidea</a:t>
            </a:r>
            <a:endParaRPr lang="en-US" dirty="0"/>
          </a:p>
          <a:p>
            <a:pPr>
              <a:buFont typeface="Wingdings" pitchFamily="2" charset="2"/>
              <a:buChar char="v"/>
            </a:pPr>
            <a:r>
              <a:rPr lang="en-US" dirty="0" err="1"/>
              <a:t>Dioctophymoidea</a:t>
            </a:r>
            <a:endParaRPr lang="en-US" dirty="0"/>
          </a:p>
          <a:p>
            <a:endParaRPr lang="en-US" dirty="0"/>
          </a:p>
        </p:txBody>
      </p:sp>
    </p:spTree>
    <p:extLst>
      <p:ext uri="{BB962C8B-B14F-4D97-AF65-F5344CB8AC3E}">
        <p14:creationId xmlns:p14="http://schemas.microsoft.com/office/powerpoint/2010/main" val="648846160"/>
      </p:ext>
    </p:extLst>
  </p:cSld>
  <p:clrMapOvr>
    <a:masterClrMapping/>
  </p:clrMapOvr>
</p:sld>
</file>

<file path=ppt/slides/slide4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6" name="Title 1"/>
          <p:cNvSpPr>
            <a:spLocks noGrp="1"/>
          </p:cNvSpPr>
          <p:nvPr>
            <p:ph type="title"/>
          </p:nvPr>
        </p:nvSpPr>
        <p:spPr/>
        <p:txBody>
          <a:bodyPr>
            <a:normAutofit fontScale="90000"/>
          </a:bodyPr>
          <a:lstStyle/>
          <a:p>
            <a:br>
              <a:rPr lang="en-US" b="1" dirty="0"/>
            </a:br>
            <a:r>
              <a:rPr lang="en-US" b="1" dirty="0"/>
              <a:t>Cutaneous Larva </a:t>
            </a:r>
            <a:r>
              <a:rPr lang="en-US" b="1" dirty="0" err="1"/>
              <a:t>Migrans</a:t>
            </a:r>
            <a:br>
              <a:rPr lang="en-US" dirty="0"/>
            </a:br>
            <a:endParaRPr lang="en-US" dirty="0"/>
          </a:p>
        </p:txBody>
      </p:sp>
      <p:sp>
        <p:nvSpPr>
          <p:cNvPr id="1048637" name="Content Placeholder 2"/>
          <p:cNvSpPr>
            <a:spLocks noGrp="1"/>
          </p:cNvSpPr>
          <p:nvPr>
            <p:ph idx="1"/>
          </p:nvPr>
        </p:nvSpPr>
        <p:spPr/>
        <p:txBody>
          <a:bodyPr>
            <a:normAutofit fontScale="90625" lnSpcReduction="10000"/>
          </a:bodyPr>
          <a:lstStyle/>
          <a:p>
            <a:pPr lvl="0">
              <a:buFont typeface="Wingdings" pitchFamily="2" charset="2"/>
              <a:buChar char="v"/>
            </a:pPr>
            <a:r>
              <a:rPr lang="en-US" dirty="0"/>
              <a:t>Caused by human infection with larvae of the cat and dog hookworm, </a:t>
            </a:r>
            <a:r>
              <a:rPr lang="en-US" i="1" dirty="0" err="1"/>
              <a:t>Ancylostoma</a:t>
            </a:r>
            <a:r>
              <a:rPr lang="en-US" i="1" dirty="0"/>
              <a:t> </a:t>
            </a:r>
            <a:r>
              <a:rPr lang="en-US" i="1" dirty="0" err="1"/>
              <a:t>brasiliense</a:t>
            </a:r>
            <a:r>
              <a:rPr lang="en-US" dirty="0"/>
              <a:t> or </a:t>
            </a:r>
            <a:r>
              <a:rPr lang="en-US" i="1" dirty="0"/>
              <a:t>A. </a:t>
            </a:r>
            <a:r>
              <a:rPr lang="en-US" i="1" dirty="0" err="1"/>
              <a:t>caninum</a:t>
            </a:r>
            <a:r>
              <a:rPr lang="en-US" i="1" dirty="0"/>
              <a:t>.</a:t>
            </a:r>
            <a:endParaRPr lang="en-US" dirty="0"/>
          </a:p>
          <a:p>
            <a:pPr lvl="0">
              <a:buFont typeface="Wingdings" pitchFamily="2" charset="2"/>
              <a:buChar char="v"/>
            </a:pPr>
            <a:r>
              <a:rPr lang="en-US" dirty="0"/>
              <a:t>Larvae are present in the soil and infection occurs when infective larvae penetrate the skin</a:t>
            </a:r>
          </a:p>
          <a:p>
            <a:pPr lvl="0">
              <a:buFont typeface="Wingdings" pitchFamily="2" charset="2"/>
              <a:buChar char="v"/>
            </a:pPr>
            <a:r>
              <a:rPr lang="en-US" dirty="0"/>
              <a:t>Larvae migrate in the superficial layers of the skin especially of the legs, feet, hands, thighs and back.</a:t>
            </a:r>
          </a:p>
          <a:p>
            <a:pPr lvl="0">
              <a:buFont typeface="Wingdings" pitchFamily="2" charset="2"/>
              <a:buChar char="v"/>
            </a:pPr>
            <a:r>
              <a:rPr lang="en-US" dirty="0"/>
              <a:t>And cause allergic reactions, with intense irritation of the inflamed larval tracks; in scathing may lead to secondary infection.</a:t>
            </a:r>
          </a:p>
          <a:p>
            <a:endParaRPr lang="en-US" dirty="0"/>
          </a:p>
        </p:txBody>
      </p:sp>
    </p:spTree>
    <p:extLst>
      <p:ext uri="{BB962C8B-B14F-4D97-AF65-F5344CB8AC3E}">
        <p14:creationId xmlns:p14="http://schemas.microsoft.com/office/powerpoint/2010/main" val="519496643"/>
      </p:ext>
    </p:extLst>
  </p:cSld>
  <p:clrMapOvr>
    <a:masterClrMapping/>
  </p:clrMapOvr>
</p:sld>
</file>

<file path=ppt/slides/slide4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8" name="Title 1"/>
          <p:cNvSpPr>
            <a:spLocks noGrp="1"/>
          </p:cNvSpPr>
          <p:nvPr>
            <p:ph type="title"/>
          </p:nvPr>
        </p:nvSpPr>
        <p:spPr/>
        <p:txBody>
          <a:bodyPr>
            <a:normAutofit fontScale="90000"/>
          </a:bodyPr>
          <a:lstStyle/>
          <a:p>
            <a:br>
              <a:rPr lang="en-US" b="1" dirty="0"/>
            </a:br>
            <a:r>
              <a:rPr lang="en-US" b="1" dirty="0"/>
              <a:t>Cutaneous Larva </a:t>
            </a:r>
            <a:r>
              <a:rPr lang="en-US" b="1" dirty="0" err="1"/>
              <a:t>Migrans</a:t>
            </a:r>
            <a:r>
              <a:rPr lang="en-US" b="1" dirty="0"/>
              <a:t> cont’d</a:t>
            </a:r>
            <a:br>
              <a:rPr lang="en-US" dirty="0"/>
            </a:br>
            <a:endParaRPr lang="en-US" dirty="0"/>
          </a:p>
        </p:txBody>
      </p:sp>
      <p:sp>
        <p:nvSpPr>
          <p:cNvPr id="1048639" name="Content Placeholder 2"/>
          <p:cNvSpPr>
            <a:spLocks noGrp="1"/>
          </p:cNvSpPr>
          <p:nvPr>
            <p:ph idx="1"/>
          </p:nvPr>
        </p:nvSpPr>
        <p:spPr/>
        <p:txBody>
          <a:bodyPr/>
          <a:lstStyle/>
          <a:p>
            <a:pPr lvl="0"/>
            <a:endParaRPr lang="en-US" dirty="0"/>
          </a:p>
          <a:p>
            <a:pPr lvl="0">
              <a:buFont typeface="Wingdings" pitchFamily="2" charset="2"/>
              <a:buChar char="v"/>
            </a:pPr>
            <a:r>
              <a:rPr lang="en-US" dirty="0"/>
              <a:t>Most of the larvae eventually die but may migrate to the lungs, occasionally, where they may cause respiratory disorders, and </a:t>
            </a:r>
            <a:r>
              <a:rPr lang="en-US" dirty="0" err="1"/>
              <a:t>eosinophilic</a:t>
            </a:r>
            <a:r>
              <a:rPr lang="en-US" dirty="0"/>
              <a:t> leukocytosis.</a:t>
            </a:r>
          </a:p>
          <a:p>
            <a:pPr lvl="0">
              <a:buFont typeface="Wingdings" pitchFamily="2" charset="2"/>
              <a:buChar char="v"/>
            </a:pPr>
            <a:r>
              <a:rPr lang="en-US" dirty="0"/>
              <a:t>Occasionally, </a:t>
            </a:r>
            <a:r>
              <a:rPr lang="en-US" i="1" dirty="0" err="1"/>
              <a:t>Strongyloides</a:t>
            </a:r>
            <a:r>
              <a:rPr lang="en-US" i="1" dirty="0"/>
              <a:t> sp.</a:t>
            </a:r>
            <a:r>
              <a:rPr lang="en-US" dirty="0"/>
              <a:t> or human hookworm may also cause cutaneous larva </a:t>
            </a:r>
            <a:r>
              <a:rPr lang="en-US" dirty="0" err="1"/>
              <a:t>migrans</a:t>
            </a:r>
            <a:r>
              <a:rPr lang="en-US" dirty="0"/>
              <a:t>.</a:t>
            </a:r>
          </a:p>
          <a:p>
            <a:pPr marL="0" indent="0">
              <a:buNone/>
            </a:pPr>
            <a:endParaRPr lang="en-US" dirty="0"/>
          </a:p>
        </p:txBody>
      </p:sp>
    </p:spTree>
    <p:extLst>
      <p:ext uri="{BB962C8B-B14F-4D97-AF65-F5344CB8AC3E}">
        <p14:creationId xmlns:p14="http://schemas.microsoft.com/office/powerpoint/2010/main" val="2420821388"/>
      </p:ext>
    </p:extLst>
  </p:cSld>
  <p:clrMapOvr>
    <a:masterClrMapping/>
  </p:clrMapOvr>
</p:sld>
</file>

<file path=ppt/slides/slide4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0" name="Title 1"/>
          <p:cNvSpPr>
            <a:spLocks noGrp="1"/>
          </p:cNvSpPr>
          <p:nvPr>
            <p:ph type="title"/>
          </p:nvPr>
        </p:nvSpPr>
        <p:spPr/>
        <p:txBody>
          <a:bodyPr>
            <a:normAutofit fontScale="90000"/>
          </a:bodyPr>
          <a:lstStyle/>
          <a:p>
            <a:br>
              <a:rPr lang="en-US" b="1" dirty="0"/>
            </a:br>
            <a:r>
              <a:rPr lang="en-US" b="1" dirty="0"/>
              <a:t>Visceral larva </a:t>
            </a:r>
            <a:r>
              <a:rPr lang="en-US" b="1" dirty="0" err="1"/>
              <a:t>migrans</a:t>
            </a:r>
            <a:br>
              <a:rPr lang="en-US" dirty="0"/>
            </a:br>
            <a:endParaRPr lang="en-US" dirty="0"/>
          </a:p>
        </p:txBody>
      </p:sp>
      <p:sp>
        <p:nvSpPr>
          <p:cNvPr id="1048641" name="Content Placeholder 2"/>
          <p:cNvSpPr>
            <a:spLocks noGrp="1"/>
          </p:cNvSpPr>
          <p:nvPr>
            <p:ph idx="1"/>
          </p:nvPr>
        </p:nvSpPr>
        <p:spPr/>
        <p:txBody>
          <a:bodyPr>
            <a:normAutofit/>
          </a:bodyPr>
          <a:lstStyle/>
          <a:p>
            <a:pPr lvl="0">
              <a:buFont typeface="Wingdings" pitchFamily="2" charset="2"/>
              <a:buChar char="v"/>
            </a:pPr>
            <a:r>
              <a:rPr lang="en-US" dirty="0"/>
              <a:t>Caused by ingestion of the </a:t>
            </a:r>
            <a:r>
              <a:rPr lang="en-US" dirty="0" err="1"/>
              <a:t>embryonated</a:t>
            </a:r>
            <a:r>
              <a:rPr lang="en-US" dirty="0"/>
              <a:t> eggs of the dog roundworm, </a:t>
            </a:r>
            <a:r>
              <a:rPr lang="en-US" i="1" dirty="0" err="1"/>
              <a:t>Toxocara</a:t>
            </a:r>
            <a:r>
              <a:rPr lang="en-US" i="1" dirty="0"/>
              <a:t> </a:t>
            </a:r>
            <a:r>
              <a:rPr lang="en-US" i="1" dirty="0" err="1"/>
              <a:t>canis</a:t>
            </a:r>
            <a:r>
              <a:rPr lang="en-US" dirty="0"/>
              <a:t> or the cat roundworm </a:t>
            </a:r>
            <a:r>
              <a:rPr lang="en-US" i="1" dirty="0"/>
              <a:t>T. </a:t>
            </a:r>
            <a:r>
              <a:rPr lang="en-US" i="1" dirty="0" err="1"/>
              <a:t>cati</a:t>
            </a:r>
            <a:r>
              <a:rPr lang="en-US" dirty="0"/>
              <a:t>.</a:t>
            </a:r>
          </a:p>
          <a:p>
            <a:pPr lvl="0">
              <a:buFont typeface="Wingdings" pitchFamily="2" charset="2"/>
              <a:buChar char="v"/>
            </a:pPr>
            <a:r>
              <a:rPr lang="en-US" dirty="0"/>
              <a:t>Children mostly infected through hands contaminated with </a:t>
            </a:r>
            <a:r>
              <a:rPr lang="en-US" dirty="0" err="1"/>
              <a:t>faeces</a:t>
            </a:r>
            <a:r>
              <a:rPr lang="en-US" dirty="0"/>
              <a:t> or handling of such pets infected with the worm.</a:t>
            </a:r>
          </a:p>
        </p:txBody>
      </p:sp>
    </p:spTree>
    <p:extLst>
      <p:ext uri="{BB962C8B-B14F-4D97-AF65-F5344CB8AC3E}">
        <p14:creationId xmlns:p14="http://schemas.microsoft.com/office/powerpoint/2010/main" val="1226337151"/>
      </p:ext>
    </p:extLst>
  </p:cSld>
  <p:clrMapOvr>
    <a:masterClrMapping/>
  </p:clrMapOvr>
</p:sld>
</file>

<file path=ppt/slides/slide4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Title 1"/>
          <p:cNvSpPr>
            <a:spLocks noGrp="1"/>
          </p:cNvSpPr>
          <p:nvPr>
            <p:ph type="title"/>
          </p:nvPr>
        </p:nvSpPr>
        <p:spPr/>
        <p:txBody>
          <a:bodyPr>
            <a:normAutofit fontScale="90000"/>
          </a:bodyPr>
          <a:lstStyle/>
          <a:p>
            <a:br>
              <a:rPr lang="en-US" b="1" dirty="0"/>
            </a:br>
            <a:r>
              <a:rPr lang="en-US" b="1" dirty="0"/>
              <a:t>Visceral larva </a:t>
            </a:r>
            <a:r>
              <a:rPr lang="en-US" b="1" dirty="0" err="1"/>
              <a:t>migrans</a:t>
            </a:r>
            <a:r>
              <a:rPr lang="en-US" b="1" dirty="0"/>
              <a:t> cont’d</a:t>
            </a:r>
            <a:br>
              <a:rPr lang="en-US" dirty="0"/>
            </a:br>
            <a:endParaRPr lang="en-US" dirty="0"/>
          </a:p>
        </p:txBody>
      </p:sp>
      <p:sp>
        <p:nvSpPr>
          <p:cNvPr id="1048643" name="Content Placeholder 2"/>
          <p:cNvSpPr>
            <a:spLocks noGrp="1"/>
          </p:cNvSpPr>
          <p:nvPr>
            <p:ph idx="1"/>
          </p:nvPr>
        </p:nvSpPr>
        <p:spPr/>
        <p:txBody>
          <a:bodyPr/>
          <a:lstStyle/>
          <a:p>
            <a:pPr lvl="0">
              <a:buFont typeface="Wingdings" pitchFamily="2" charset="2"/>
              <a:buChar char="v"/>
            </a:pPr>
            <a:r>
              <a:rPr lang="en-US" dirty="0"/>
              <a:t>Larvae hatch from the eggs but are unable to develop to mature worms; rather they penetrate the intestinal wall, carried in the blood to the liver and other organs where they lodge and eventually die. </a:t>
            </a:r>
          </a:p>
          <a:p>
            <a:pPr lvl="0">
              <a:buFont typeface="Wingdings" pitchFamily="2" charset="2"/>
              <a:buChar char="v"/>
            </a:pPr>
            <a:r>
              <a:rPr lang="en-US" dirty="0"/>
              <a:t>Organs most affected are the liver, lungs, heart, brain and eyes.</a:t>
            </a:r>
          </a:p>
          <a:p>
            <a:pPr>
              <a:buFont typeface="Wingdings" pitchFamily="2" charset="2"/>
              <a:buChar char="v"/>
            </a:pP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312187269"/>
      </p:ext>
    </p:extLst>
  </p:cSld>
  <p:clrMapOvr>
    <a:masterClrMapping/>
  </p:clrMapOvr>
</p:sld>
</file>

<file path=ppt/slides/slide4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4" name="Title 1"/>
          <p:cNvSpPr>
            <a:spLocks noGrp="1"/>
          </p:cNvSpPr>
          <p:nvPr>
            <p:ph type="title"/>
          </p:nvPr>
        </p:nvSpPr>
        <p:spPr/>
        <p:txBody>
          <a:bodyPr>
            <a:normAutofit fontScale="90000"/>
          </a:bodyPr>
          <a:lstStyle/>
          <a:p>
            <a:br>
              <a:rPr lang="en-US" b="1" dirty="0"/>
            </a:br>
            <a:r>
              <a:rPr lang="en-US" b="1" dirty="0"/>
              <a:t>Visceral larva </a:t>
            </a:r>
            <a:r>
              <a:rPr lang="en-US" b="1" dirty="0" err="1"/>
              <a:t>migrans</a:t>
            </a:r>
            <a:r>
              <a:rPr lang="en-US" b="1" dirty="0"/>
              <a:t> cont’d</a:t>
            </a:r>
            <a:br>
              <a:rPr lang="en-US" dirty="0"/>
            </a:br>
            <a:endParaRPr lang="en-US" dirty="0"/>
          </a:p>
        </p:txBody>
      </p:sp>
      <p:sp>
        <p:nvSpPr>
          <p:cNvPr id="1048645" name="Content Placeholder 2"/>
          <p:cNvSpPr>
            <a:spLocks noGrp="1"/>
          </p:cNvSpPr>
          <p:nvPr>
            <p:ph idx="1"/>
          </p:nvPr>
        </p:nvSpPr>
        <p:spPr/>
        <p:txBody>
          <a:bodyPr/>
          <a:lstStyle/>
          <a:p>
            <a:pPr lvl="0">
              <a:buFont typeface="Wingdings" pitchFamily="2" charset="2"/>
              <a:buChar char="v"/>
            </a:pPr>
            <a:r>
              <a:rPr lang="en-US" dirty="0"/>
              <a:t>Antigens secreted by the larvae cause inflammatory host reactions with the formation of </a:t>
            </a:r>
            <a:r>
              <a:rPr lang="en-US" dirty="0" err="1"/>
              <a:t>eosinophilic</a:t>
            </a:r>
            <a:r>
              <a:rPr lang="en-US" dirty="0"/>
              <a:t> granulomata;</a:t>
            </a:r>
          </a:p>
          <a:p>
            <a:pPr lvl="0">
              <a:buFont typeface="Wingdings" pitchFamily="2" charset="2"/>
              <a:buChar char="v"/>
            </a:pPr>
            <a:r>
              <a:rPr lang="en-US" dirty="0"/>
              <a:t> other complications depend on the site affected and may include liver and spleen enlargement, eye damage/blindness and disorders of the CNS.</a:t>
            </a:r>
          </a:p>
          <a:p>
            <a:endParaRPr lang="en-US" dirty="0"/>
          </a:p>
        </p:txBody>
      </p:sp>
    </p:spTree>
    <p:extLst>
      <p:ext uri="{BB962C8B-B14F-4D97-AF65-F5344CB8AC3E}">
        <p14:creationId xmlns:p14="http://schemas.microsoft.com/office/powerpoint/2010/main" val="1704562137"/>
      </p:ext>
    </p:extLst>
  </p:cSld>
  <p:clrMapOvr>
    <a:masterClrMapping/>
  </p:clrMapOvr>
</p:sld>
</file>

<file path=ppt/slides/slide4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6" name="Title 1"/>
          <p:cNvSpPr>
            <a:spLocks noGrp="1"/>
          </p:cNvSpPr>
          <p:nvPr>
            <p:ph type="title"/>
          </p:nvPr>
        </p:nvSpPr>
        <p:spPr/>
        <p:txBody>
          <a:bodyPr>
            <a:normAutofit fontScale="90000"/>
          </a:bodyPr>
          <a:lstStyle/>
          <a:p>
            <a:br>
              <a:rPr lang="en-US" b="1" dirty="0"/>
            </a:br>
            <a:r>
              <a:rPr lang="en-US" b="1" dirty="0"/>
              <a:t>Laboratory Diagnosis</a:t>
            </a:r>
            <a:br>
              <a:rPr lang="en-US" dirty="0"/>
            </a:br>
            <a:endParaRPr lang="en-US" dirty="0"/>
          </a:p>
        </p:txBody>
      </p:sp>
      <p:sp>
        <p:nvSpPr>
          <p:cNvPr id="1048647" name="Content Placeholder 2"/>
          <p:cNvSpPr>
            <a:spLocks noGrp="1"/>
          </p:cNvSpPr>
          <p:nvPr>
            <p:ph idx="1"/>
          </p:nvPr>
        </p:nvSpPr>
        <p:spPr/>
        <p:txBody>
          <a:bodyPr>
            <a:normAutofit fontScale="93750"/>
          </a:bodyPr>
          <a:lstStyle/>
          <a:p>
            <a:pPr lvl="0">
              <a:buFont typeface="Wingdings" pitchFamily="2" charset="2"/>
              <a:buChar char="v"/>
            </a:pPr>
            <a:r>
              <a:rPr lang="en-US" dirty="0"/>
              <a:t>There is an </a:t>
            </a:r>
            <a:r>
              <a:rPr lang="en-US" dirty="0" err="1"/>
              <a:t>eosinophilic</a:t>
            </a:r>
            <a:r>
              <a:rPr lang="en-US" dirty="0"/>
              <a:t> </a:t>
            </a:r>
            <a:r>
              <a:rPr lang="en-US" dirty="0" err="1"/>
              <a:t>leucocytosis</a:t>
            </a:r>
            <a:r>
              <a:rPr lang="en-US" dirty="0"/>
              <a:t> and </a:t>
            </a:r>
            <a:r>
              <a:rPr lang="en-US" dirty="0" err="1"/>
              <a:t>hyperglobulinaemia</a:t>
            </a:r>
            <a:endParaRPr lang="en-US" dirty="0"/>
          </a:p>
          <a:p>
            <a:pPr lvl="0">
              <a:buFont typeface="Wingdings" pitchFamily="2" charset="2"/>
              <a:buChar char="v"/>
            </a:pPr>
            <a:r>
              <a:rPr lang="en-US" dirty="0" err="1"/>
              <a:t>IgM</a:t>
            </a:r>
            <a:r>
              <a:rPr lang="en-US" dirty="0"/>
              <a:t> antibodies are raised as are naturally occurring Anti-A and Anti-B </a:t>
            </a:r>
            <a:r>
              <a:rPr lang="en-US" dirty="0" err="1"/>
              <a:t>titres</a:t>
            </a:r>
            <a:r>
              <a:rPr lang="en-US" dirty="0"/>
              <a:t> of over 1 in 1000.</a:t>
            </a:r>
          </a:p>
          <a:p>
            <a:pPr lvl="0">
              <a:buFont typeface="Wingdings" pitchFamily="2" charset="2"/>
              <a:buChar char="v"/>
            </a:pPr>
            <a:r>
              <a:rPr lang="en-US" dirty="0" err="1"/>
              <a:t>IgG</a:t>
            </a:r>
            <a:r>
              <a:rPr lang="en-US" dirty="0"/>
              <a:t> and occasionally </a:t>
            </a:r>
            <a:r>
              <a:rPr lang="en-US" dirty="0" err="1"/>
              <a:t>IgE</a:t>
            </a:r>
            <a:r>
              <a:rPr lang="en-US" dirty="0"/>
              <a:t> levels are also raised </a:t>
            </a:r>
          </a:p>
          <a:p>
            <a:pPr lvl="0">
              <a:buFont typeface="Wingdings" pitchFamily="2" charset="2"/>
              <a:buChar char="v"/>
            </a:pPr>
            <a:r>
              <a:rPr lang="en-US" dirty="0"/>
              <a:t>Serological diagnosis of </a:t>
            </a:r>
            <a:r>
              <a:rPr lang="en-US" i="1" dirty="0" err="1"/>
              <a:t>Toxocara</a:t>
            </a:r>
            <a:r>
              <a:rPr lang="en-US" dirty="0"/>
              <a:t> infection is by ELISA which uses secretions from </a:t>
            </a:r>
            <a:r>
              <a:rPr lang="en-US" i="1" dirty="0"/>
              <a:t>T. </a:t>
            </a:r>
            <a:r>
              <a:rPr lang="en-US" i="1" dirty="0" err="1"/>
              <a:t>canis</a:t>
            </a:r>
            <a:r>
              <a:rPr lang="en-US" dirty="0"/>
              <a:t> larvae maintained in culture, as antigen.</a:t>
            </a:r>
          </a:p>
          <a:p>
            <a:pPr marL="0" indent="0">
              <a:buNone/>
            </a:pPr>
            <a:endParaRPr lang="en-US" dirty="0"/>
          </a:p>
        </p:txBody>
      </p:sp>
    </p:spTree>
    <p:extLst>
      <p:ext uri="{BB962C8B-B14F-4D97-AF65-F5344CB8AC3E}">
        <p14:creationId xmlns:p14="http://schemas.microsoft.com/office/powerpoint/2010/main" val="288392494"/>
      </p:ext>
    </p:extLst>
  </p:cSld>
  <p:clrMapOvr>
    <a:masterClrMapping/>
  </p:clrMapOvr>
</p:sld>
</file>

<file path=ppt/slides/slide4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8" name="Title 1"/>
          <p:cNvSpPr>
            <a:spLocks noGrp="1"/>
          </p:cNvSpPr>
          <p:nvPr>
            <p:ph type="title"/>
          </p:nvPr>
        </p:nvSpPr>
        <p:spPr/>
        <p:txBody>
          <a:bodyPr>
            <a:normAutofit fontScale="90000"/>
          </a:bodyPr>
          <a:lstStyle/>
          <a:p>
            <a:br>
              <a:rPr lang="en-GB" b="1" dirty="0"/>
            </a:br>
            <a:r>
              <a:rPr lang="en-GB" b="1" dirty="0"/>
              <a:t>THE PARASITIC NEMATODES</a:t>
            </a:r>
            <a:br>
              <a:rPr lang="en-US" dirty="0"/>
            </a:br>
            <a:endParaRPr lang="en-US" dirty="0"/>
          </a:p>
        </p:txBody>
      </p:sp>
      <p:sp>
        <p:nvSpPr>
          <p:cNvPr id="1048649" name="Content Placeholder 2"/>
          <p:cNvSpPr>
            <a:spLocks noGrp="1"/>
          </p:cNvSpPr>
          <p:nvPr>
            <p:ph idx="1"/>
          </p:nvPr>
        </p:nvSpPr>
        <p:spPr>
          <a:xfrm>
            <a:off x="457200" y="1600200"/>
            <a:ext cx="8229600" cy="4953000"/>
          </a:xfrm>
        </p:spPr>
        <p:txBody>
          <a:bodyPr>
            <a:normAutofit fontScale="93750"/>
          </a:bodyPr>
          <a:lstStyle/>
          <a:p>
            <a:pPr marL="0" indent="0" algn="ctr">
              <a:buNone/>
            </a:pPr>
            <a:r>
              <a:rPr lang="en-GB" b="1" dirty="0"/>
              <a:t>Introduction</a:t>
            </a:r>
            <a:r>
              <a:rPr lang="en-GB" dirty="0"/>
              <a:t> </a:t>
            </a:r>
            <a:endParaRPr lang="en-US" dirty="0"/>
          </a:p>
          <a:p>
            <a:pPr>
              <a:buFont typeface="Wingdings" pitchFamily="2" charset="2"/>
              <a:buChar char="v"/>
            </a:pPr>
            <a:r>
              <a:rPr lang="en-GB" dirty="0"/>
              <a:t>Besides the Tapeworms (Cestodes) and the Flukes (Trematodes) the nematodes (commonly referred to as the roundworms) constitute the third large group of </a:t>
            </a:r>
            <a:r>
              <a:rPr lang="en-GB" dirty="0" err="1"/>
              <a:t>Helminthes</a:t>
            </a:r>
            <a:r>
              <a:rPr lang="en-GB" dirty="0"/>
              <a:t> (worms), </a:t>
            </a:r>
          </a:p>
          <a:p>
            <a:pPr>
              <a:buFont typeface="Wingdings" pitchFamily="2" charset="2"/>
              <a:buChar char="v"/>
            </a:pPr>
            <a:r>
              <a:rPr lang="en-GB" dirty="0"/>
              <a:t>which have members many of which are parasitic in humans and hence of medical importance.</a:t>
            </a:r>
          </a:p>
          <a:p>
            <a:pPr>
              <a:buFont typeface="Wingdings" pitchFamily="2" charset="2"/>
              <a:buChar char="v"/>
            </a:pPr>
            <a:r>
              <a:rPr lang="en-GB" dirty="0"/>
              <a:t> In all cases maturity (adults) occur in humans</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891562503"/>
      </p:ext>
    </p:extLst>
  </p:cSld>
  <p:clrMapOvr>
    <a:masterClrMapping/>
  </p:clrMapOvr>
</p:sld>
</file>

<file path=ppt/slides/slide4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0" name="Title 1"/>
          <p:cNvSpPr>
            <a:spLocks noGrp="1"/>
          </p:cNvSpPr>
          <p:nvPr>
            <p:ph type="title"/>
          </p:nvPr>
        </p:nvSpPr>
        <p:spPr/>
        <p:txBody>
          <a:bodyPr>
            <a:normAutofit fontScale="90000"/>
          </a:bodyPr>
          <a:lstStyle/>
          <a:p>
            <a:r>
              <a:rPr lang="en-GB" b="1" dirty="0"/>
              <a:t>THE PARASITIC NEMATODES CONT’D</a:t>
            </a:r>
            <a:endParaRPr lang="en-US" dirty="0"/>
          </a:p>
        </p:txBody>
      </p:sp>
      <p:sp>
        <p:nvSpPr>
          <p:cNvPr id="1048651" name="Content Placeholder 2"/>
          <p:cNvSpPr>
            <a:spLocks noGrp="1"/>
          </p:cNvSpPr>
          <p:nvPr>
            <p:ph idx="1"/>
          </p:nvPr>
        </p:nvSpPr>
        <p:spPr/>
        <p:txBody>
          <a:bodyPr/>
          <a:lstStyle/>
          <a:p>
            <a:pPr>
              <a:buFont typeface="Wingdings" pitchFamily="2" charset="2"/>
              <a:buChar char="v"/>
            </a:pPr>
            <a:r>
              <a:rPr lang="en-GB" dirty="0"/>
              <a:t>On the basis of the place of the body that the adult worm prefers/chooses for residency and reproduction, there are generally two main divisions or subgroups, namely</a:t>
            </a:r>
            <a:endParaRPr lang="en-US" dirty="0"/>
          </a:p>
          <a:p>
            <a:pPr marL="514350" lvl="0" indent="-514350">
              <a:buFont typeface="+mj-lt"/>
              <a:buAutoNum type="arabicPeriod"/>
            </a:pPr>
            <a:endParaRPr lang="en-GB" dirty="0"/>
          </a:p>
          <a:p>
            <a:pPr marL="514350" lvl="0" indent="-514350">
              <a:buFont typeface="+mj-lt"/>
              <a:buAutoNum type="arabicPeriod"/>
            </a:pPr>
            <a:r>
              <a:rPr lang="en-GB" dirty="0"/>
              <a:t>Adults in the Intestine, and</a:t>
            </a:r>
            <a:endParaRPr lang="en-US" dirty="0"/>
          </a:p>
          <a:p>
            <a:pPr marL="514350" lvl="0" indent="-514350">
              <a:buFont typeface="+mj-lt"/>
              <a:buAutoNum type="arabicPeriod"/>
            </a:pPr>
            <a:r>
              <a:rPr lang="en-GB" dirty="0"/>
              <a:t>Adults in the Blood /Tissues</a:t>
            </a:r>
            <a:endParaRPr lang="en-US" dirty="0"/>
          </a:p>
          <a:p>
            <a:pPr marL="0" indent="0">
              <a:buNone/>
            </a:pPr>
            <a:endParaRPr lang="en-US" dirty="0"/>
          </a:p>
        </p:txBody>
      </p:sp>
    </p:spTree>
    <p:extLst>
      <p:ext uri="{BB962C8B-B14F-4D97-AF65-F5344CB8AC3E}">
        <p14:creationId xmlns:p14="http://schemas.microsoft.com/office/powerpoint/2010/main" val="1701362809"/>
      </p:ext>
    </p:extLst>
  </p:cSld>
  <p:clrMapOvr>
    <a:masterClrMapping/>
  </p:clrMapOvr>
</p:sld>
</file>

<file path=ppt/slides/slide4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2" name="Title 1"/>
          <p:cNvSpPr>
            <a:spLocks noGrp="1"/>
          </p:cNvSpPr>
          <p:nvPr>
            <p:ph type="title"/>
          </p:nvPr>
        </p:nvSpPr>
        <p:spPr/>
        <p:txBody>
          <a:bodyPr>
            <a:normAutofit fontScale="90000"/>
          </a:bodyPr>
          <a:lstStyle/>
          <a:p>
            <a:br>
              <a:rPr lang="en-GB" b="1" dirty="0"/>
            </a:br>
            <a:r>
              <a:rPr lang="en-GB" b="1" dirty="0"/>
              <a:t>Intestinal Nematodes</a:t>
            </a:r>
            <a:br>
              <a:rPr lang="en-US" dirty="0"/>
            </a:br>
            <a:endParaRPr lang="en-US" dirty="0"/>
          </a:p>
        </p:txBody>
      </p:sp>
      <p:sp>
        <p:nvSpPr>
          <p:cNvPr id="1048653" name="Content Placeholder 2"/>
          <p:cNvSpPr>
            <a:spLocks noGrp="1"/>
          </p:cNvSpPr>
          <p:nvPr>
            <p:ph idx="1"/>
          </p:nvPr>
        </p:nvSpPr>
        <p:spPr/>
        <p:txBody>
          <a:bodyPr>
            <a:normAutofit fontScale="96875" lnSpcReduction="10000"/>
          </a:bodyPr>
          <a:lstStyle/>
          <a:p>
            <a:pPr marL="0" indent="0" algn="ctr">
              <a:buNone/>
            </a:pPr>
            <a:r>
              <a:rPr lang="en-GB" b="1" dirty="0"/>
              <a:t>General features</a:t>
            </a:r>
            <a:endParaRPr lang="en-US" b="1" dirty="0"/>
          </a:p>
          <a:p>
            <a:pPr lvl="0">
              <a:buFont typeface="Wingdings" pitchFamily="2" charset="2"/>
              <a:buChar char="v"/>
            </a:pPr>
            <a:r>
              <a:rPr lang="en-GB" dirty="0"/>
              <a:t>Female worms lay eggs (i.e. are oviparous)</a:t>
            </a:r>
            <a:endParaRPr lang="en-US" dirty="0"/>
          </a:p>
          <a:p>
            <a:pPr lvl="0">
              <a:buFont typeface="Wingdings" pitchFamily="2" charset="2"/>
              <a:buChar char="v"/>
            </a:pPr>
            <a:r>
              <a:rPr lang="en-GB" dirty="0"/>
              <a:t>Humans are the only or most significant host of those of medical importance</a:t>
            </a:r>
            <a:endParaRPr lang="en-US" dirty="0"/>
          </a:p>
          <a:p>
            <a:pPr lvl="0">
              <a:buFont typeface="Wingdings" pitchFamily="2" charset="2"/>
              <a:buChar char="v"/>
            </a:pPr>
            <a:r>
              <a:rPr lang="en-GB" dirty="0"/>
              <a:t>Most species are soil transmitted, hence spread by faecal pollution of the soil</a:t>
            </a:r>
            <a:endParaRPr lang="en-US" dirty="0"/>
          </a:p>
          <a:p>
            <a:pPr lvl="0">
              <a:buFont typeface="Wingdings" pitchFamily="2" charset="2"/>
              <a:buChar char="v"/>
            </a:pPr>
            <a:r>
              <a:rPr lang="en-GB" dirty="0"/>
              <a:t>Under suitable climatic conditions the larva (free or in the egg develops to the infective stage in the soil</a:t>
            </a:r>
            <a:endParaRPr lang="en-US" dirty="0"/>
          </a:p>
          <a:p>
            <a:endParaRPr lang="en-US" dirty="0"/>
          </a:p>
        </p:txBody>
      </p:sp>
    </p:spTree>
    <p:extLst>
      <p:ext uri="{BB962C8B-B14F-4D97-AF65-F5344CB8AC3E}">
        <p14:creationId xmlns:p14="http://schemas.microsoft.com/office/powerpoint/2010/main" val="567530997"/>
      </p:ext>
    </p:extLst>
  </p:cSld>
  <p:clrMapOvr>
    <a:masterClrMapping/>
  </p:clrMapOvr>
</p:sld>
</file>

<file path=ppt/slides/slide4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4" name="Title 1"/>
          <p:cNvSpPr>
            <a:spLocks noGrp="1"/>
          </p:cNvSpPr>
          <p:nvPr>
            <p:ph type="title"/>
          </p:nvPr>
        </p:nvSpPr>
        <p:spPr/>
        <p:txBody>
          <a:bodyPr>
            <a:normAutofit fontScale="90000"/>
          </a:bodyPr>
          <a:lstStyle/>
          <a:p>
            <a:br>
              <a:rPr lang="en-GB" b="1" dirty="0"/>
            </a:br>
            <a:r>
              <a:rPr lang="en-GB" b="1" dirty="0"/>
              <a:t>Intestinal Nematodes cont’d</a:t>
            </a:r>
            <a:br>
              <a:rPr lang="en-US" dirty="0"/>
            </a:br>
            <a:endParaRPr lang="en-US" dirty="0"/>
          </a:p>
        </p:txBody>
      </p:sp>
      <p:sp>
        <p:nvSpPr>
          <p:cNvPr id="1048655" name="Content Placeholder 2"/>
          <p:cNvSpPr>
            <a:spLocks noGrp="1"/>
          </p:cNvSpPr>
          <p:nvPr>
            <p:ph idx="1"/>
          </p:nvPr>
        </p:nvSpPr>
        <p:spPr/>
        <p:txBody>
          <a:bodyPr>
            <a:normAutofit fontScale="96875" lnSpcReduction="10000"/>
          </a:bodyPr>
          <a:lstStyle/>
          <a:p>
            <a:pPr lvl="0">
              <a:buFont typeface="Wingdings" pitchFamily="2" charset="2"/>
              <a:buChar char="v"/>
            </a:pPr>
            <a:r>
              <a:rPr lang="en-GB" dirty="0"/>
              <a:t>Human infection occurs by ingestion orally, of the eggs or by infective larvae penetrating the skin (</a:t>
            </a:r>
            <a:r>
              <a:rPr lang="en-GB" i="1" dirty="0"/>
              <a:t>S. </a:t>
            </a:r>
            <a:r>
              <a:rPr lang="en-GB" i="1" dirty="0" err="1"/>
              <a:t>stercoralis</a:t>
            </a:r>
            <a:r>
              <a:rPr lang="en-GB" dirty="0"/>
              <a:t> and hookworms)</a:t>
            </a:r>
            <a:endParaRPr lang="en-US" dirty="0"/>
          </a:p>
          <a:p>
            <a:pPr lvl="0">
              <a:buFont typeface="Wingdings" pitchFamily="2" charset="2"/>
              <a:buChar char="v"/>
            </a:pPr>
            <a:r>
              <a:rPr lang="en-GB" dirty="0"/>
              <a:t>The infective larva of those which penetrate the skin are referred to as </a:t>
            </a:r>
            <a:r>
              <a:rPr lang="en-GB" dirty="0" err="1"/>
              <a:t>filariform</a:t>
            </a:r>
            <a:r>
              <a:rPr lang="en-GB" dirty="0"/>
              <a:t> larva</a:t>
            </a:r>
            <a:endParaRPr lang="en-US" dirty="0"/>
          </a:p>
          <a:p>
            <a:pPr lvl="0">
              <a:buFont typeface="Wingdings" pitchFamily="2" charset="2"/>
              <a:buChar char="v"/>
            </a:pPr>
            <a:r>
              <a:rPr lang="en-GB" dirty="0"/>
              <a:t>The non-infective first-stage larva that hatches from the egg in the intestine (</a:t>
            </a:r>
            <a:r>
              <a:rPr lang="en-GB" i="1" dirty="0"/>
              <a:t>S. </a:t>
            </a:r>
            <a:r>
              <a:rPr lang="en-GB" i="1" dirty="0" err="1"/>
              <a:t>stercoralis</a:t>
            </a:r>
            <a:r>
              <a:rPr lang="en-GB" dirty="0"/>
              <a:t>) or in the soil (hookworm) is referred to as </a:t>
            </a:r>
            <a:r>
              <a:rPr lang="en-GB" dirty="0" err="1"/>
              <a:t>rhabditiform</a:t>
            </a:r>
            <a:r>
              <a:rPr lang="en-GB" dirty="0"/>
              <a:t> larva</a:t>
            </a:r>
            <a:endParaRPr lang="en-US" dirty="0"/>
          </a:p>
          <a:p>
            <a:pPr marL="0" indent="0">
              <a:buNone/>
            </a:pPr>
            <a:endParaRPr lang="en-US" dirty="0"/>
          </a:p>
        </p:txBody>
      </p:sp>
    </p:spTree>
    <p:extLst>
      <p:ext uri="{BB962C8B-B14F-4D97-AF65-F5344CB8AC3E}">
        <p14:creationId xmlns:p14="http://schemas.microsoft.com/office/powerpoint/2010/main" val="54349727"/>
      </p:ext>
    </p:extLst>
  </p:cSld>
  <p:clrMapOvr>
    <a:masterClrMapping/>
  </p:clrMapOvr>
</p:sld>
</file>

<file path=ppt/slides/slide4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6" name="Title 1"/>
          <p:cNvSpPr>
            <a:spLocks noGrp="1"/>
          </p:cNvSpPr>
          <p:nvPr>
            <p:ph type="title"/>
          </p:nvPr>
        </p:nvSpPr>
        <p:spPr/>
        <p:txBody>
          <a:bodyPr>
            <a:normAutofit fontScale="90000"/>
          </a:bodyPr>
          <a:lstStyle/>
          <a:p>
            <a:br>
              <a:rPr lang="en-GB" b="1" dirty="0"/>
            </a:br>
            <a:r>
              <a:rPr lang="en-GB" b="1" dirty="0"/>
              <a:t>Intestinal Nematodes cont’d</a:t>
            </a:r>
            <a:br>
              <a:rPr lang="en-US" dirty="0"/>
            </a:br>
            <a:endParaRPr lang="en-US" dirty="0"/>
          </a:p>
        </p:txBody>
      </p:sp>
      <p:sp>
        <p:nvSpPr>
          <p:cNvPr id="1048657" name="Content Placeholder 2"/>
          <p:cNvSpPr>
            <a:spLocks noGrp="1"/>
          </p:cNvSpPr>
          <p:nvPr>
            <p:ph idx="1"/>
          </p:nvPr>
        </p:nvSpPr>
        <p:spPr/>
        <p:txBody>
          <a:bodyPr>
            <a:normAutofit fontScale="96875" lnSpcReduction="10000"/>
          </a:bodyPr>
          <a:lstStyle/>
          <a:p>
            <a:pPr lvl="0">
              <a:buFont typeface="Wingdings" pitchFamily="2" charset="2"/>
              <a:buChar char="v"/>
            </a:pPr>
            <a:r>
              <a:rPr lang="en-GB" dirty="0"/>
              <a:t>Human infection occurs by ingestion orally, of the eggs or by infective larvae penetrating the skin (</a:t>
            </a:r>
            <a:r>
              <a:rPr lang="en-GB" i="1" dirty="0"/>
              <a:t>S. </a:t>
            </a:r>
            <a:r>
              <a:rPr lang="en-GB" i="1" dirty="0" err="1"/>
              <a:t>stercoralis</a:t>
            </a:r>
            <a:r>
              <a:rPr lang="en-GB" dirty="0"/>
              <a:t> and hookworms)</a:t>
            </a:r>
            <a:endParaRPr lang="en-US" dirty="0"/>
          </a:p>
          <a:p>
            <a:pPr lvl="0">
              <a:buFont typeface="Wingdings" pitchFamily="2" charset="2"/>
              <a:buChar char="v"/>
            </a:pPr>
            <a:r>
              <a:rPr lang="en-GB" dirty="0"/>
              <a:t>The infective larva of those which penetrate the skin are referred to as </a:t>
            </a:r>
            <a:r>
              <a:rPr lang="en-GB" dirty="0" err="1"/>
              <a:t>filariform</a:t>
            </a:r>
            <a:r>
              <a:rPr lang="en-GB" dirty="0"/>
              <a:t> larva</a:t>
            </a:r>
            <a:endParaRPr lang="en-US" dirty="0"/>
          </a:p>
          <a:p>
            <a:pPr lvl="0">
              <a:buFont typeface="Wingdings" pitchFamily="2" charset="2"/>
              <a:buChar char="v"/>
            </a:pPr>
            <a:r>
              <a:rPr lang="en-GB" dirty="0"/>
              <a:t>The non-infective first-stage larva that hatches from the egg in the intestine (</a:t>
            </a:r>
            <a:r>
              <a:rPr lang="en-GB" i="1" dirty="0"/>
              <a:t>S. </a:t>
            </a:r>
            <a:r>
              <a:rPr lang="en-GB" i="1" dirty="0" err="1"/>
              <a:t>stercoralis</a:t>
            </a:r>
            <a:r>
              <a:rPr lang="en-GB" dirty="0"/>
              <a:t>) or in the soil (hookworm) is referred to as </a:t>
            </a:r>
            <a:r>
              <a:rPr lang="en-GB" dirty="0" err="1"/>
              <a:t>rhabditiform</a:t>
            </a:r>
            <a:r>
              <a:rPr lang="en-GB" dirty="0"/>
              <a:t> larva</a:t>
            </a:r>
            <a:endParaRPr lang="en-US" dirty="0"/>
          </a:p>
          <a:p>
            <a:pPr marL="0" indent="0">
              <a:buNone/>
            </a:pPr>
            <a:endParaRPr lang="en-US" dirty="0"/>
          </a:p>
        </p:txBody>
      </p:sp>
    </p:spTree>
    <p:extLst>
      <p:ext uri="{BB962C8B-B14F-4D97-AF65-F5344CB8AC3E}">
        <p14:creationId xmlns:p14="http://schemas.microsoft.com/office/powerpoint/2010/main" val="2514413599"/>
      </p:ext>
    </p:extLst>
  </p:cSld>
  <p:clrMapOvr>
    <a:masterClrMapping/>
  </p:clrMapOvr>
</p:sld>
</file>

<file path=ppt/slides/slide4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58" name="Title 1"/>
          <p:cNvSpPr>
            <a:spLocks noGrp="1"/>
          </p:cNvSpPr>
          <p:nvPr>
            <p:ph type="title"/>
          </p:nvPr>
        </p:nvSpPr>
        <p:spPr/>
        <p:txBody>
          <a:bodyPr>
            <a:normAutofit fontScale="90000"/>
          </a:bodyPr>
          <a:lstStyle/>
          <a:p>
            <a:br>
              <a:rPr lang="en-GB" b="1" dirty="0"/>
            </a:br>
            <a:r>
              <a:rPr lang="en-GB" b="1" dirty="0"/>
              <a:t>Intestinal Nematodes cont’d</a:t>
            </a:r>
            <a:br>
              <a:rPr lang="en-US" dirty="0"/>
            </a:br>
            <a:endParaRPr lang="en-US" dirty="0"/>
          </a:p>
        </p:txBody>
      </p:sp>
      <p:sp>
        <p:nvSpPr>
          <p:cNvPr id="1048659" name="Content Placeholder 2"/>
          <p:cNvSpPr>
            <a:spLocks noGrp="1"/>
          </p:cNvSpPr>
          <p:nvPr>
            <p:ph idx="1"/>
          </p:nvPr>
        </p:nvSpPr>
        <p:spPr>
          <a:xfrm>
            <a:off x="457200" y="1600200"/>
            <a:ext cx="8229600" cy="4800600"/>
          </a:xfrm>
        </p:spPr>
        <p:txBody>
          <a:bodyPr>
            <a:normAutofit fontScale="96875" lnSpcReduction="10000"/>
          </a:bodyPr>
          <a:lstStyle/>
          <a:p>
            <a:pPr lvl="0">
              <a:buFont typeface="Wingdings" pitchFamily="2" charset="2"/>
              <a:buChar char="v"/>
            </a:pPr>
            <a:r>
              <a:rPr lang="en-GB" dirty="0"/>
              <a:t>Those of medical importance or of common occurrence include </a:t>
            </a:r>
            <a:r>
              <a:rPr lang="en-GB" i="1" dirty="0" err="1"/>
              <a:t>Ascaris</a:t>
            </a:r>
            <a:r>
              <a:rPr lang="en-GB" dirty="0"/>
              <a:t>, </a:t>
            </a:r>
            <a:r>
              <a:rPr lang="en-GB" i="1" dirty="0" err="1"/>
              <a:t>Trichuris</a:t>
            </a:r>
            <a:r>
              <a:rPr lang="en-GB" dirty="0"/>
              <a:t>, </a:t>
            </a:r>
            <a:r>
              <a:rPr lang="en-GB" i="1" dirty="0" err="1"/>
              <a:t>Enterobius</a:t>
            </a:r>
            <a:r>
              <a:rPr lang="en-GB" dirty="0"/>
              <a:t>, </a:t>
            </a:r>
            <a:r>
              <a:rPr lang="en-GB" i="1" dirty="0" err="1"/>
              <a:t>Strongyloides</a:t>
            </a:r>
            <a:r>
              <a:rPr lang="en-GB" dirty="0"/>
              <a:t>, and hookworms</a:t>
            </a:r>
          </a:p>
          <a:p>
            <a:pPr lvl="0">
              <a:buFont typeface="Wingdings" pitchFamily="2" charset="2"/>
              <a:buChar char="v"/>
            </a:pPr>
            <a:r>
              <a:rPr lang="en-GB" dirty="0"/>
              <a:t>whiles those of lesser medical importance or of low occurrence or veterinary importance include</a:t>
            </a:r>
            <a:r>
              <a:rPr lang="en-GB" i="1" dirty="0"/>
              <a:t> </a:t>
            </a:r>
            <a:r>
              <a:rPr lang="en-GB" i="1" dirty="0" err="1"/>
              <a:t>Ternidens</a:t>
            </a:r>
            <a:r>
              <a:rPr lang="en-GB" dirty="0"/>
              <a:t>,</a:t>
            </a:r>
            <a:r>
              <a:rPr lang="en-GB" i="1" dirty="0"/>
              <a:t> </a:t>
            </a:r>
            <a:r>
              <a:rPr lang="en-GB" i="1" dirty="0" err="1"/>
              <a:t>Cappilaria</a:t>
            </a:r>
            <a:r>
              <a:rPr lang="en-GB" dirty="0"/>
              <a:t>,</a:t>
            </a:r>
            <a:r>
              <a:rPr lang="en-GB" i="1" dirty="0"/>
              <a:t> </a:t>
            </a:r>
            <a:r>
              <a:rPr lang="en-GB" i="1" dirty="0" err="1"/>
              <a:t>Toxocara</a:t>
            </a:r>
            <a:r>
              <a:rPr lang="en-GB" dirty="0"/>
              <a:t>,</a:t>
            </a:r>
            <a:r>
              <a:rPr lang="en-GB" i="1" dirty="0"/>
              <a:t> </a:t>
            </a:r>
            <a:r>
              <a:rPr lang="en-GB" i="1" dirty="0" err="1"/>
              <a:t>Trychostrongylus</a:t>
            </a:r>
            <a:r>
              <a:rPr lang="en-GB" dirty="0"/>
              <a:t>, </a:t>
            </a:r>
          </a:p>
          <a:p>
            <a:pPr lvl="0">
              <a:buFont typeface="Wingdings" pitchFamily="2" charset="2"/>
              <a:buChar char="v"/>
            </a:pPr>
            <a:r>
              <a:rPr lang="en-GB" dirty="0"/>
              <a:t>and veterinary species of </a:t>
            </a:r>
            <a:r>
              <a:rPr lang="en-GB" i="1" dirty="0" err="1"/>
              <a:t>Strongyloides</a:t>
            </a:r>
            <a:r>
              <a:rPr lang="en-GB" dirty="0"/>
              <a:t> (</a:t>
            </a:r>
            <a:r>
              <a:rPr lang="en-GB" i="1" dirty="0"/>
              <a:t>S. </a:t>
            </a:r>
            <a:r>
              <a:rPr lang="en-GB" i="1" dirty="0" err="1"/>
              <a:t>fuelleborni</a:t>
            </a:r>
            <a:r>
              <a:rPr lang="en-GB" dirty="0"/>
              <a:t>), </a:t>
            </a:r>
            <a:r>
              <a:rPr lang="en-GB" i="1" dirty="0" err="1"/>
              <a:t>Ancylostoma</a:t>
            </a:r>
            <a:r>
              <a:rPr lang="en-GB" dirty="0"/>
              <a:t> (</a:t>
            </a:r>
            <a:r>
              <a:rPr lang="en-GB" i="1" dirty="0"/>
              <a:t>A. </a:t>
            </a:r>
            <a:r>
              <a:rPr lang="en-GB" i="1" dirty="0" err="1"/>
              <a:t>caninum</a:t>
            </a:r>
            <a:r>
              <a:rPr lang="en-GB" dirty="0"/>
              <a:t> and </a:t>
            </a:r>
            <a:r>
              <a:rPr lang="en-GB" i="1" dirty="0"/>
              <a:t>A. </a:t>
            </a:r>
            <a:r>
              <a:rPr lang="en-GB" i="1" dirty="0" err="1"/>
              <a:t>brasiliensis</a:t>
            </a:r>
            <a:r>
              <a:rPr lang="en-GB" dirty="0"/>
              <a:t>)</a:t>
            </a:r>
            <a:endParaRPr lang="en-US" dirty="0"/>
          </a:p>
          <a:p>
            <a:endParaRPr lang="en-US" dirty="0"/>
          </a:p>
        </p:txBody>
      </p:sp>
    </p:spTree>
    <p:extLst>
      <p:ext uri="{BB962C8B-B14F-4D97-AF65-F5344CB8AC3E}">
        <p14:creationId xmlns:p14="http://schemas.microsoft.com/office/powerpoint/2010/main" val="3113102437"/>
      </p:ext>
    </p:extLst>
  </p:cSld>
  <p:clrMapOvr>
    <a:masterClrMapping/>
  </p:clrMapOvr>
</p:sld>
</file>

<file path=ppt/slides/slide4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0" name="Title 1"/>
          <p:cNvSpPr>
            <a:spLocks noGrp="1"/>
          </p:cNvSpPr>
          <p:nvPr>
            <p:ph type="title"/>
          </p:nvPr>
        </p:nvSpPr>
        <p:spPr/>
        <p:txBody>
          <a:bodyPr>
            <a:normAutofit fontScale="90000"/>
          </a:bodyPr>
          <a:lstStyle/>
          <a:p>
            <a:br>
              <a:rPr lang="en-GB" b="1" dirty="0"/>
            </a:br>
            <a:r>
              <a:rPr lang="en-GB" b="1" dirty="0"/>
              <a:t>Intestinal Nematodes cont’d</a:t>
            </a:r>
            <a:br>
              <a:rPr lang="en-US" dirty="0"/>
            </a:br>
            <a:endParaRPr lang="en-US" dirty="0"/>
          </a:p>
        </p:txBody>
      </p:sp>
      <p:sp>
        <p:nvSpPr>
          <p:cNvPr id="1048661" name="Content Placeholder 2"/>
          <p:cNvSpPr>
            <a:spLocks noGrp="1"/>
          </p:cNvSpPr>
          <p:nvPr>
            <p:ph idx="1"/>
          </p:nvPr>
        </p:nvSpPr>
        <p:spPr>
          <a:xfrm>
            <a:off x="457200" y="1600200"/>
            <a:ext cx="8229600" cy="4876800"/>
          </a:xfrm>
        </p:spPr>
        <p:txBody>
          <a:bodyPr>
            <a:normAutofit fontScale="93750" lnSpcReduction="10000"/>
          </a:bodyPr>
          <a:lstStyle/>
          <a:p>
            <a:pPr marL="0" indent="0" algn="ctr">
              <a:buNone/>
            </a:pPr>
            <a:r>
              <a:rPr lang="en-GB" b="1" dirty="0"/>
              <a:t>The body wall of a nematode	</a:t>
            </a:r>
            <a:endParaRPr lang="en-US" b="1" dirty="0"/>
          </a:p>
          <a:p>
            <a:pPr lvl="0">
              <a:buFont typeface="Wingdings" pitchFamily="2" charset="2"/>
              <a:buChar char="v"/>
            </a:pPr>
            <a:r>
              <a:rPr lang="en-GB" dirty="0"/>
              <a:t>This consists of cuticle, hypodermis and body wall musculature</a:t>
            </a:r>
            <a:endParaRPr lang="en-US" dirty="0"/>
          </a:p>
          <a:p>
            <a:pPr lvl="0">
              <a:buFont typeface="Wingdings" pitchFamily="2" charset="2"/>
              <a:buChar char="v"/>
            </a:pPr>
            <a:r>
              <a:rPr lang="en-GB" dirty="0"/>
              <a:t>The outermost covering is cuticle, a complex structure of great functional significance. Cuticle also lines the </a:t>
            </a:r>
            <a:r>
              <a:rPr lang="en-GB" dirty="0" err="1"/>
              <a:t>buccal</a:t>
            </a:r>
            <a:r>
              <a:rPr lang="en-GB" dirty="0"/>
              <a:t> cavity, oesophagus, anus, cloaca, excretory pores and vagina</a:t>
            </a:r>
            <a:endParaRPr lang="en-US" dirty="0"/>
          </a:p>
          <a:p>
            <a:pPr lvl="0">
              <a:buFont typeface="Wingdings" pitchFamily="2" charset="2"/>
              <a:buChar char="v"/>
            </a:pPr>
            <a:r>
              <a:rPr lang="en-GB" dirty="0"/>
              <a:t>Over lying the cuticle in free living and parasitic nematodes is a carbohydrate rich surface coat, 5nm to 20 nm in thickness</a:t>
            </a:r>
            <a:endParaRPr lang="en-US" dirty="0"/>
          </a:p>
          <a:p>
            <a:endParaRPr lang="en-US" dirty="0"/>
          </a:p>
        </p:txBody>
      </p:sp>
    </p:spTree>
    <p:extLst>
      <p:ext uri="{BB962C8B-B14F-4D97-AF65-F5344CB8AC3E}">
        <p14:creationId xmlns:p14="http://schemas.microsoft.com/office/powerpoint/2010/main" val="1860280577"/>
      </p:ext>
    </p:extLst>
  </p:cSld>
  <p:clrMapOvr>
    <a:masterClrMapping/>
  </p:clrMapOvr>
</p:sld>
</file>

<file path=ppt/slides/slide4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2" name="Title 1"/>
          <p:cNvSpPr>
            <a:spLocks noGrp="1"/>
          </p:cNvSpPr>
          <p:nvPr>
            <p:ph type="title"/>
          </p:nvPr>
        </p:nvSpPr>
        <p:spPr/>
        <p:txBody>
          <a:bodyPr>
            <a:normAutofit fontScale="90000"/>
          </a:bodyPr>
          <a:lstStyle/>
          <a:p>
            <a:br>
              <a:rPr lang="en-GB" b="1" dirty="0"/>
            </a:br>
            <a:r>
              <a:rPr lang="en-GB" b="1" dirty="0"/>
              <a:t>The body wall of a nematode	cont’d</a:t>
            </a:r>
            <a:br>
              <a:rPr lang="en-US" b="1" dirty="0"/>
            </a:br>
            <a:endParaRPr lang="en-US" b="1" dirty="0"/>
          </a:p>
        </p:txBody>
      </p:sp>
      <p:sp>
        <p:nvSpPr>
          <p:cNvPr id="1048663" name="Content Placeholder 2"/>
          <p:cNvSpPr>
            <a:spLocks noGrp="1"/>
          </p:cNvSpPr>
          <p:nvPr>
            <p:ph idx="1"/>
          </p:nvPr>
        </p:nvSpPr>
        <p:spPr>
          <a:xfrm>
            <a:off x="457200" y="1600200"/>
            <a:ext cx="8229600" cy="4800600"/>
          </a:xfrm>
        </p:spPr>
        <p:txBody>
          <a:bodyPr>
            <a:normAutofit fontScale="95000" lnSpcReduction="10000"/>
          </a:bodyPr>
          <a:lstStyle/>
          <a:p>
            <a:pPr lvl="0">
              <a:buFont typeface="Wingdings" pitchFamily="2" charset="2"/>
              <a:buChar char="v"/>
            </a:pPr>
            <a:r>
              <a:rPr lang="en-GB" dirty="0"/>
              <a:t>The surface coat may be important in the evasion of immune response in those parasitic in animals</a:t>
            </a:r>
            <a:endParaRPr lang="en-US" dirty="0"/>
          </a:p>
          <a:p>
            <a:pPr lvl="0">
              <a:buFont typeface="Wingdings" pitchFamily="2" charset="2"/>
              <a:buChar char="v"/>
            </a:pPr>
            <a:r>
              <a:rPr lang="en-GB" dirty="0"/>
              <a:t>The cuticle itself consists of three regions (zones)- the cortical, median and basal with the cortical zone being covered by a thin layer, </a:t>
            </a:r>
            <a:r>
              <a:rPr lang="en-GB" dirty="0" err="1"/>
              <a:t>epicuticle</a:t>
            </a:r>
            <a:r>
              <a:rPr lang="en-GB" dirty="0"/>
              <a:t>, about 20nm thick, and made of lipoprotein;</a:t>
            </a:r>
          </a:p>
          <a:p>
            <a:pPr lvl="0">
              <a:buFont typeface="Wingdings" pitchFamily="2" charset="2"/>
              <a:buChar char="v"/>
            </a:pPr>
            <a:r>
              <a:rPr lang="en-GB" dirty="0"/>
              <a:t>beneath the </a:t>
            </a:r>
            <a:r>
              <a:rPr lang="en-GB" dirty="0" err="1"/>
              <a:t>epicuticle</a:t>
            </a:r>
            <a:r>
              <a:rPr lang="en-GB" dirty="0"/>
              <a:t> is a cortical zone containing a highly resistant protein called CUTICULIN which is stabilized by </a:t>
            </a:r>
            <a:r>
              <a:rPr lang="en-GB" dirty="0" err="1"/>
              <a:t>dityrosine</a:t>
            </a:r>
            <a:r>
              <a:rPr lang="en-GB" dirty="0"/>
              <a:t> cross links</a:t>
            </a:r>
            <a:endParaRPr lang="en-US" dirty="0"/>
          </a:p>
          <a:p>
            <a:pPr marL="0" indent="0">
              <a:buNone/>
            </a:pPr>
            <a:endParaRPr lang="en-US" dirty="0"/>
          </a:p>
        </p:txBody>
      </p:sp>
    </p:spTree>
    <p:extLst>
      <p:ext uri="{BB962C8B-B14F-4D97-AF65-F5344CB8AC3E}">
        <p14:creationId xmlns:p14="http://schemas.microsoft.com/office/powerpoint/2010/main" val="2063555925"/>
      </p:ext>
    </p:extLst>
  </p:cSld>
  <p:clrMapOvr>
    <a:masterClrMapping/>
  </p:clrMapOvr>
</p:sld>
</file>

<file path=ppt/slides/slide4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4" name="Title 1"/>
          <p:cNvSpPr>
            <a:spLocks noGrp="1"/>
          </p:cNvSpPr>
          <p:nvPr>
            <p:ph type="title"/>
          </p:nvPr>
        </p:nvSpPr>
        <p:spPr/>
        <p:txBody>
          <a:bodyPr>
            <a:normAutofit fontScale="90000"/>
          </a:bodyPr>
          <a:lstStyle/>
          <a:p>
            <a:br>
              <a:rPr lang="en-GB" b="1" dirty="0"/>
            </a:br>
            <a:r>
              <a:rPr lang="en-GB" b="1" dirty="0"/>
              <a:t>The body wall of a nematode	</a:t>
            </a:r>
            <a:br>
              <a:rPr lang="en-US" b="1" dirty="0"/>
            </a:br>
            <a:endParaRPr lang="en-US" dirty="0"/>
          </a:p>
        </p:txBody>
      </p:sp>
      <p:sp>
        <p:nvSpPr>
          <p:cNvPr id="1048665" name="Content Placeholder 2"/>
          <p:cNvSpPr>
            <a:spLocks noGrp="1"/>
          </p:cNvSpPr>
          <p:nvPr>
            <p:ph idx="1"/>
          </p:nvPr>
        </p:nvSpPr>
        <p:spPr/>
        <p:txBody>
          <a:bodyPr>
            <a:normAutofit/>
          </a:bodyPr>
          <a:lstStyle/>
          <a:p>
            <a:pPr lvl="0">
              <a:buFont typeface="Wingdings" pitchFamily="2" charset="2"/>
              <a:buChar char="v"/>
            </a:pPr>
            <a:r>
              <a:rPr lang="en-GB" dirty="0"/>
              <a:t>There are various structures, punctuations, pores and spines of varying complexity in the members of different families and genera</a:t>
            </a:r>
            <a:endParaRPr lang="en-US" dirty="0"/>
          </a:p>
          <a:p>
            <a:pPr lvl="0">
              <a:buFont typeface="Wingdings" pitchFamily="2" charset="2"/>
              <a:buChar char="v"/>
            </a:pPr>
            <a:r>
              <a:rPr lang="en-GB" dirty="0"/>
              <a:t>The basal zone is composed of two or three fibrous layers, each of parallel strands of collagen, running at an angle of about 75</a:t>
            </a:r>
            <a:r>
              <a:rPr lang="en-GB" baseline="30000" dirty="0"/>
              <a:t>o </a:t>
            </a:r>
            <a:r>
              <a:rPr lang="en-GB" dirty="0"/>
              <a:t>to the longitudinal axis of the body. </a:t>
            </a:r>
          </a:p>
        </p:txBody>
      </p:sp>
    </p:spTree>
    <p:extLst>
      <p:ext uri="{BB962C8B-B14F-4D97-AF65-F5344CB8AC3E}">
        <p14:creationId xmlns:p14="http://schemas.microsoft.com/office/powerpoint/2010/main" val="3692737473"/>
      </p:ext>
    </p:extLst>
  </p:cSld>
  <p:clrMapOvr>
    <a:masterClrMapping/>
  </p:clrMapOvr>
</p:sld>
</file>

<file path=ppt/slides/slide4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6" name="Title 1"/>
          <p:cNvSpPr>
            <a:spLocks noGrp="1"/>
          </p:cNvSpPr>
          <p:nvPr>
            <p:ph type="title"/>
          </p:nvPr>
        </p:nvSpPr>
        <p:spPr/>
        <p:txBody>
          <a:bodyPr>
            <a:normAutofit fontScale="90000"/>
          </a:bodyPr>
          <a:lstStyle/>
          <a:p>
            <a:br>
              <a:rPr lang="en-GB" b="1" dirty="0"/>
            </a:br>
            <a:r>
              <a:rPr lang="en-GB" b="1" dirty="0"/>
              <a:t>The body wall of a nematode	</a:t>
            </a:r>
            <a:br>
              <a:rPr lang="en-US" b="1" dirty="0"/>
            </a:br>
            <a:endParaRPr lang="en-US" dirty="0"/>
          </a:p>
        </p:txBody>
      </p:sp>
      <p:sp>
        <p:nvSpPr>
          <p:cNvPr id="1048667" name="Content Placeholder 2"/>
          <p:cNvSpPr>
            <a:spLocks noGrp="1"/>
          </p:cNvSpPr>
          <p:nvPr>
            <p:ph idx="1"/>
          </p:nvPr>
        </p:nvSpPr>
        <p:spPr/>
        <p:txBody>
          <a:bodyPr/>
          <a:lstStyle/>
          <a:p>
            <a:pPr lvl="0">
              <a:buFont typeface="Wingdings" pitchFamily="2" charset="2"/>
              <a:buChar char="v"/>
            </a:pPr>
            <a:r>
              <a:rPr lang="en-GB" dirty="0"/>
              <a:t>Strands of the second fibrous layers run at an angle of about 135</a:t>
            </a:r>
            <a:r>
              <a:rPr lang="en-GB" baseline="30000" dirty="0"/>
              <a:t>o </a:t>
            </a:r>
            <a:r>
              <a:rPr lang="en-GB" dirty="0"/>
              <a:t>to those of the first (and third, if present) layer, thus forming a lattice–like arrangement. </a:t>
            </a:r>
          </a:p>
          <a:p>
            <a:pPr lvl="0">
              <a:buFont typeface="Wingdings" pitchFamily="2" charset="2"/>
              <a:buChar char="v"/>
            </a:pPr>
            <a:r>
              <a:rPr lang="en-GB" dirty="0"/>
              <a:t>The fibrous layers are an important component of the hydrostatic skeleton</a:t>
            </a:r>
            <a:endParaRPr lang="en-US" dirty="0"/>
          </a:p>
          <a:p>
            <a:pPr>
              <a:buFont typeface="Wingdings" pitchFamily="2" charset="2"/>
              <a:buChar char="v"/>
            </a:pPr>
            <a:endParaRPr lang="en-US" dirty="0"/>
          </a:p>
          <a:p>
            <a:endParaRPr lang="en-US" dirty="0"/>
          </a:p>
        </p:txBody>
      </p:sp>
    </p:spTree>
    <p:extLst>
      <p:ext uri="{BB962C8B-B14F-4D97-AF65-F5344CB8AC3E}">
        <p14:creationId xmlns:p14="http://schemas.microsoft.com/office/powerpoint/2010/main" val="113902361"/>
      </p:ext>
    </p:extLst>
  </p:cSld>
  <p:clrMapOvr>
    <a:masterClrMapping/>
  </p:clrMapOvr>
</p:sld>
</file>

<file path=ppt/slides/slide4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Title 1"/>
          <p:cNvSpPr>
            <a:spLocks noGrp="1"/>
          </p:cNvSpPr>
          <p:nvPr>
            <p:ph type="title"/>
          </p:nvPr>
        </p:nvSpPr>
        <p:spPr/>
        <p:txBody>
          <a:bodyPr>
            <a:normAutofit fontScale="90000"/>
          </a:bodyPr>
          <a:lstStyle/>
          <a:p>
            <a:br>
              <a:rPr lang="en-GB" b="1" dirty="0"/>
            </a:br>
            <a:r>
              <a:rPr lang="en-GB" b="1" dirty="0"/>
              <a:t>The body wall of a nematode	</a:t>
            </a:r>
            <a:br>
              <a:rPr lang="en-US" b="1" dirty="0"/>
            </a:br>
            <a:endParaRPr lang="en-US" dirty="0"/>
          </a:p>
        </p:txBody>
      </p:sp>
      <p:sp>
        <p:nvSpPr>
          <p:cNvPr id="1048669" name="Content Placeholder 2"/>
          <p:cNvSpPr>
            <a:spLocks noGrp="1"/>
          </p:cNvSpPr>
          <p:nvPr>
            <p:ph idx="1"/>
          </p:nvPr>
        </p:nvSpPr>
        <p:spPr/>
        <p:txBody>
          <a:bodyPr/>
          <a:lstStyle/>
          <a:p>
            <a:pPr lvl="0">
              <a:buFont typeface="Wingdings" pitchFamily="2" charset="2"/>
              <a:buChar char="v"/>
            </a:pPr>
            <a:r>
              <a:rPr lang="en-GB" dirty="0"/>
              <a:t>The basement membrane lies beneath the basal zone. It is a layer of fine fibrils that merge with the underlying hypodermis</a:t>
            </a:r>
            <a:endParaRPr lang="en-US" dirty="0"/>
          </a:p>
          <a:p>
            <a:pPr lvl="0">
              <a:buFont typeface="Wingdings" pitchFamily="2" charset="2"/>
              <a:buChar char="v"/>
            </a:pPr>
            <a:r>
              <a:rPr lang="en-GB" dirty="0"/>
              <a:t>The epidermis or hypodermis lies just beneath the basement membrane of the cuticle, and usually syncytial in adult worms. </a:t>
            </a:r>
            <a:endParaRPr lang="en-US" dirty="0"/>
          </a:p>
          <a:p>
            <a:pPr marL="0" indent="0">
              <a:buNone/>
            </a:pPr>
            <a:endParaRPr lang="en-US" dirty="0"/>
          </a:p>
        </p:txBody>
      </p:sp>
    </p:spTree>
    <p:extLst>
      <p:ext uri="{BB962C8B-B14F-4D97-AF65-F5344CB8AC3E}">
        <p14:creationId xmlns:p14="http://schemas.microsoft.com/office/powerpoint/2010/main" val="2755523994"/>
      </p:ext>
    </p:extLst>
  </p:cSld>
  <p:clrMapOvr>
    <a:masterClrMapping/>
  </p:clrMapOvr>
</p:sld>
</file>

<file path=ppt/slides/slide4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0" name="Title 1"/>
          <p:cNvSpPr>
            <a:spLocks noGrp="1"/>
          </p:cNvSpPr>
          <p:nvPr>
            <p:ph type="title"/>
          </p:nvPr>
        </p:nvSpPr>
        <p:spPr/>
        <p:txBody>
          <a:bodyPr>
            <a:normAutofit fontScale="90000"/>
          </a:bodyPr>
          <a:lstStyle/>
          <a:p>
            <a:br>
              <a:rPr lang="en-GB" b="1" dirty="0"/>
            </a:br>
            <a:r>
              <a:rPr lang="en-GB" b="1" dirty="0"/>
              <a:t>Effects of drugs</a:t>
            </a:r>
            <a:br>
              <a:rPr lang="en-US" b="1" dirty="0"/>
            </a:br>
            <a:endParaRPr lang="en-US" b="1" dirty="0"/>
          </a:p>
        </p:txBody>
      </p:sp>
      <p:sp>
        <p:nvSpPr>
          <p:cNvPr id="1048671" name="Content Placeholder 2"/>
          <p:cNvSpPr>
            <a:spLocks noGrp="1"/>
          </p:cNvSpPr>
          <p:nvPr>
            <p:ph idx="1"/>
          </p:nvPr>
        </p:nvSpPr>
        <p:spPr>
          <a:xfrm>
            <a:off x="457200" y="1219200"/>
            <a:ext cx="8229600" cy="5486400"/>
          </a:xfrm>
        </p:spPr>
        <p:txBody>
          <a:bodyPr>
            <a:normAutofit fontScale="95833"/>
          </a:bodyPr>
          <a:lstStyle/>
          <a:p>
            <a:pPr lvl="0">
              <a:buFont typeface="Wingdings" pitchFamily="2" charset="2"/>
              <a:buChar char="v"/>
            </a:pPr>
            <a:r>
              <a:rPr lang="en-GB" dirty="0"/>
              <a:t>Neurobiology of nematodes is an area of much research for several drugs (</a:t>
            </a:r>
            <a:r>
              <a:rPr lang="en-GB" dirty="0" err="1"/>
              <a:t>nematicides</a:t>
            </a:r>
            <a:r>
              <a:rPr lang="en-GB" dirty="0"/>
              <a:t>) interfere with neural function, e.g. </a:t>
            </a:r>
            <a:endParaRPr lang="en-US" dirty="0"/>
          </a:p>
          <a:p>
            <a:pPr lvl="2">
              <a:buFont typeface="Wingdings" pitchFamily="2" charset="2"/>
              <a:buChar char="Ø"/>
            </a:pPr>
            <a:r>
              <a:rPr lang="en-GB" dirty="0" err="1"/>
              <a:t>Piperazine</a:t>
            </a:r>
            <a:r>
              <a:rPr lang="en-GB" dirty="0"/>
              <a:t> hyperpolarizes the muscle membrane, effectively paralyzing the worms so they pass out of the host</a:t>
            </a:r>
            <a:endParaRPr lang="en-US" dirty="0"/>
          </a:p>
          <a:p>
            <a:pPr lvl="2">
              <a:buFont typeface="Wingdings" pitchFamily="2" charset="2"/>
              <a:buChar char="Ø"/>
            </a:pPr>
            <a:r>
              <a:rPr lang="en-GB" dirty="0" err="1"/>
              <a:t>Levamisole</a:t>
            </a:r>
            <a:r>
              <a:rPr lang="en-GB" dirty="0"/>
              <a:t> and </a:t>
            </a:r>
            <a:r>
              <a:rPr lang="en-GB" dirty="0" err="1"/>
              <a:t>pyrantel</a:t>
            </a:r>
            <a:r>
              <a:rPr lang="en-GB" dirty="0"/>
              <a:t> mimic effect of acetyl choline depolarizing the muscle membrane, resulting in paralysis</a:t>
            </a:r>
          </a:p>
          <a:p>
            <a:pPr lvl="2">
              <a:buFont typeface="Wingdings" pitchFamily="2" charset="2"/>
              <a:buChar char="Ø"/>
            </a:pPr>
            <a:r>
              <a:rPr lang="en-GB" dirty="0" err="1"/>
              <a:t>Ivermectin</a:t>
            </a:r>
            <a:r>
              <a:rPr lang="en-GB" dirty="0"/>
              <a:t>, earlier thought to stimulate the release of GABA and enhancement of its binding to postsynaptic receptors is now reported to inhibit oesophageal pumping</a:t>
            </a:r>
            <a:endParaRPr lang="en-US" dirty="0"/>
          </a:p>
          <a:p>
            <a:pPr marL="914400" lvl="2" indent="0">
              <a:buNone/>
            </a:pPr>
            <a:endParaRPr lang="en-US" dirty="0"/>
          </a:p>
          <a:p>
            <a:endParaRPr lang="en-US" dirty="0"/>
          </a:p>
        </p:txBody>
      </p:sp>
    </p:spTree>
    <p:extLst>
      <p:ext uri="{BB962C8B-B14F-4D97-AF65-F5344CB8AC3E}">
        <p14:creationId xmlns:p14="http://schemas.microsoft.com/office/powerpoint/2010/main" val="973567608"/>
      </p:ext>
    </p:extLst>
  </p:cSld>
  <p:clrMapOvr>
    <a:masterClrMapping/>
  </p:clrMapOvr>
</p:sld>
</file>

<file path=ppt/slides/slide4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2" name="Title 1"/>
          <p:cNvSpPr>
            <a:spLocks noGrp="1"/>
          </p:cNvSpPr>
          <p:nvPr>
            <p:ph type="title"/>
          </p:nvPr>
        </p:nvSpPr>
        <p:spPr/>
        <p:txBody>
          <a:bodyPr>
            <a:normAutofit fontScale="90000"/>
          </a:bodyPr>
          <a:lstStyle/>
          <a:p>
            <a:br>
              <a:rPr lang="en-GB" b="1" dirty="0"/>
            </a:br>
            <a:r>
              <a:rPr lang="en-GB" b="1" dirty="0"/>
              <a:t>Effects of drugs cont’d</a:t>
            </a:r>
            <a:br>
              <a:rPr lang="en-US" b="1" dirty="0"/>
            </a:br>
            <a:endParaRPr lang="en-US" dirty="0"/>
          </a:p>
        </p:txBody>
      </p:sp>
      <p:sp>
        <p:nvSpPr>
          <p:cNvPr id="1048673" name="Content Placeholder 2"/>
          <p:cNvSpPr>
            <a:spLocks noGrp="1"/>
          </p:cNvSpPr>
          <p:nvPr>
            <p:ph idx="1"/>
          </p:nvPr>
        </p:nvSpPr>
        <p:spPr>
          <a:xfrm>
            <a:off x="457200" y="1447800"/>
            <a:ext cx="8229600" cy="4525963"/>
          </a:xfrm>
        </p:spPr>
        <p:txBody>
          <a:bodyPr>
            <a:noAutofit/>
          </a:bodyPr>
          <a:lstStyle/>
          <a:p>
            <a:pPr lvl="2">
              <a:buFont typeface="Wingdings" pitchFamily="2" charset="2"/>
              <a:buChar char="v"/>
            </a:pPr>
            <a:r>
              <a:rPr lang="en-GB" sz="2800" dirty="0"/>
              <a:t>The </a:t>
            </a:r>
            <a:r>
              <a:rPr lang="en-GB" sz="2800" dirty="0" err="1"/>
              <a:t>benzimidazoles</a:t>
            </a:r>
            <a:r>
              <a:rPr lang="en-GB" sz="2800" dirty="0"/>
              <a:t> (</a:t>
            </a:r>
            <a:r>
              <a:rPr lang="en-GB" sz="2800" dirty="0" err="1"/>
              <a:t>mebendazole</a:t>
            </a:r>
            <a:r>
              <a:rPr lang="en-GB" sz="2800" dirty="0"/>
              <a:t>, </a:t>
            </a:r>
            <a:r>
              <a:rPr lang="en-GB" sz="2800" dirty="0" err="1"/>
              <a:t>parbendazole</a:t>
            </a:r>
            <a:r>
              <a:rPr lang="en-GB" sz="2800" dirty="0"/>
              <a:t>, </a:t>
            </a:r>
            <a:r>
              <a:rPr lang="en-GB" sz="2800" dirty="0" err="1"/>
              <a:t>fenbendazole</a:t>
            </a:r>
            <a:r>
              <a:rPr lang="en-GB" sz="2800" dirty="0"/>
              <a:t>) appear to have two modes of action, viz.,</a:t>
            </a:r>
            <a:endParaRPr lang="en-US" sz="2800" dirty="0"/>
          </a:p>
          <a:p>
            <a:pPr lvl="4"/>
            <a:r>
              <a:rPr lang="en-GB" sz="2800" dirty="0"/>
              <a:t>Inhibition of mitochondrial electron transport, especially the </a:t>
            </a:r>
            <a:r>
              <a:rPr lang="en-GB" sz="2800" dirty="0" err="1"/>
              <a:t>fumarate</a:t>
            </a:r>
            <a:r>
              <a:rPr lang="en-GB" sz="2800" dirty="0"/>
              <a:t> </a:t>
            </a:r>
            <a:r>
              <a:rPr lang="en-GB" sz="2800" dirty="0" err="1"/>
              <a:t>reductase</a:t>
            </a:r>
            <a:r>
              <a:rPr lang="en-GB" sz="2800" dirty="0"/>
              <a:t> system in species with this pathway, thus inhibiting energy metabolism.</a:t>
            </a:r>
            <a:endParaRPr lang="en-US" sz="2800" dirty="0"/>
          </a:p>
          <a:p>
            <a:endParaRPr lang="en-US" sz="3000" dirty="0"/>
          </a:p>
        </p:txBody>
      </p:sp>
    </p:spTree>
    <p:extLst>
      <p:ext uri="{BB962C8B-B14F-4D97-AF65-F5344CB8AC3E}">
        <p14:creationId xmlns:p14="http://schemas.microsoft.com/office/powerpoint/2010/main" val="2965916316"/>
      </p:ext>
    </p:extLst>
  </p:cSld>
  <p:clrMapOvr>
    <a:masterClrMapping/>
  </p:clrMapOvr>
</p:sld>
</file>

<file path=ppt/slides/slide4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4" name="Title 1"/>
          <p:cNvSpPr>
            <a:spLocks noGrp="1"/>
          </p:cNvSpPr>
          <p:nvPr>
            <p:ph type="title"/>
          </p:nvPr>
        </p:nvSpPr>
        <p:spPr/>
        <p:txBody>
          <a:bodyPr>
            <a:normAutofit fontScale="90000"/>
          </a:bodyPr>
          <a:lstStyle/>
          <a:p>
            <a:br>
              <a:rPr lang="en-GB" b="1" dirty="0"/>
            </a:br>
            <a:r>
              <a:rPr lang="en-GB" b="1" dirty="0"/>
              <a:t>Effects of drugs cont’d</a:t>
            </a:r>
            <a:br>
              <a:rPr lang="en-US" b="1" dirty="0"/>
            </a:br>
            <a:endParaRPr lang="en-US" dirty="0"/>
          </a:p>
        </p:txBody>
      </p:sp>
      <p:sp>
        <p:nvSpPr>
          <p:cNvPr id="1048675" name="Content Placeholder 2"/>
          <p:cNvSpPr>
            <a:spLocks noGrp="1"/>
          </p:cNvSpPr>
          <p:nvPr>
            <p:ph idx="1"/>
          </p:nvPr>
        </p:nvSpPr>
        <p:spPr/>
        <p:txBody>
          <a:bodyPr/>
          <a:lstStyle/>
          <a:p>
            <a:pPr marL="457200" lvl="4" indent="-457200">
              <a:buFont typeface="Wingdings" pitchFamily="2" charset="2"/>
              <a:buChar char="Ø"/>
            </a:pPr>
            <a:r>
              <a:rPr lang="en-GB" sz="2800" dirty="0"/>
              <a:t>Binding to tubulin and thus interfering with microtubule-dependant processes such as acetyl cholinesterase secretion, hence paralyzing the worms.</a:t>
            </a:r>
            <a:endParaRPr lang="en-US" sz="2800" dirty="0"/>
          </a:p>
          <a:p>
            <a:pPr>
              <a:buFont typeface="Wingdings" pitchFamily="2" charset="2"/>
              <a:buChar char="Ø"/>
            </a:pPr>
            <a:endParaRPr lang="en-US" dirty="0"/>
          </a:p>
        </p:txBody>
      </p:sp>
    </p:spTree>
    <p:extLst>
      <p:ext uri="{BB962C8B-B14F-4D97-AF65-F5344CB8AC3E}">
        <p14:creationId xmlns:p14="http://schemas.microsoft.com/office/powerpoint/2010/main" val="2917522307"/>
      </p:ext>
    </p:extLst>
  </p:cSld>
  <p:clrMapOvr>
    <a:masterClrMapping/>
  </p:clrMapOvr>
</p:sld>
</file>

<file path=ppt/slides/slide4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6" name="Title 1"/>
          <p:cNvSpPr>
            <a:spLocks noGrp="1"/>
          </p:cNvSpPr>
          <p:nvPr>
            <p:ph type="title"/>
          </p:nvPr>
        </p:nvSpPr>
        <p:spPr/>
        <p:txBody>
          <a:bodyPr>
            <a:normAutofit fontScale="90000"/>
          </a:bodyPr>
          <a:lstStyle/>
          <a:p>
            <a:br>
              <a:rPr lang="en-GB" b="1" dirty="0"/>
            </a:br>
            <a:r>
              <a:rPr lang="en-GB" b="1" dirty="0"/>
              <a:t>Digestive system and acquisition of nutrients</a:t>
            </a:r>
            <a:br>
              <a:rPr lang="en-US" b="1" dirty="0"/>
            </a:br>
            <a:endParaRPr lang="en-US" b="1" dirty="0"/>
          </a:p>
        </p:txBody>
      </p:sp>
      <p:sp>
        <p:nvSpPr>
          <p:cNvPr id="1048677" name="Content Placeholder 2"/>
          <p:cNvSpPr>
            <a:spLocks noGrp="1"/>
          </p:cNvSpPr>
          <p:nvPr>
            <p:ph idx="1"/>
          </p:nvPr>
        </p:nvSpPr>
        <p:spPr>
          <a:xfrm>
            <a:off x="457200" y="1600200"/>
            <a:ext cx="8229600" cy="5029200"/>
          </a:xfrm>
        </p:spPr>
        <p:txBody>
          <a:bodyPr>
            <a:normAutofit/>
          </a:bodyPr>
          <a:lstStyle/>
          <a:p>
            <a:pPr lvl="0">
              <a:buFont typeface="Wingdings" pitchFamily="2" charset="2"/>
              <a:buChar char="v"/>
            </a:pPr>
            <a:r>
              <a:rPr lang="en-GB" dirty="0"/>
              <a:t>The digestive system is complete in most nematodes, with mouth gut and anus, although the anus is atrophied in some such as </a:t>
            </a:r>
            <a:r>
              <a:rPr lang="en-GB" dirty="0" err="1"/>
              <a:t>mermithids</a:t>
            </a:r>
            <a:r>
              <a:rPr lang="en-GB" dirty="0"/>
              <a:t> and a few </a:t>
            </a:r>
            <a:r>
              <a:rPr lang="en-GB" dirty="0" err="1"/>
              <a:t>filariids</a:t>
            </a:r>
            <a:r>
              <a:rPr lang="en-GB" dirty="0"/>
              <a:t>,</a:t>
            </a:r>
            <a:endParaRPr lang="en-US" dirty="0"/>
          </a:p>
          <a:p>
            <a:pPr lvl="0">
              <a:buFont typeface="Wingdings" pitchFamily="2" charset="2"/>
              <a:buChar char="v"/>
            </a:pPr>
            <a:endParaRPr lang="en-GB" dirty="0"/>
          </a:p>
          <a:p>
            <a:pPr lvl="0">
              <a:buFont typeface="Wingdings" pitchFamily="2" charset="2"/>
              <a:buChar char="v"/>
            </a:pPr>
            <a:r>
              <a:rPr lang="en-GB" dirty="0"/>
              <a:t>The mouth and oesophagus </a:t>
            </a:r>
            <a:endParaRPr lang="en-US" dirty="0"/>
          </a:p>
        </p:txBody>
      </p:sp>
    </p:spTree>
    <p:extLst>
      <p:ext uri="{BB962C8B-B14F-4D97-AF65-F5344CB8AC3E}">
        <p14:creationId xmlns:p14="http://schemas.microsoft.com/office/powerpoint/2010/main" val="162900321"/>
      </p:ext>
    </p:extLst>
  </p:cSld>
  <p:clrMapOvr>
    <a:masterClrMapping/>
  </p:clrMapOvr>
</p:sld>
</file>

<file path=ppt/slides/slide4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8" name="Title 1"/>
          <p:cNvSpPr>
            <a:spLocks noGrp="1"/>
          </p:cNvSpPr>
          <p:nvPr>
            <p:ph type="title"/>
          </p:nvPr>
        </p:nvSpPr>
        <p:spPr/>
        <p:txBody>
          <a:bodyPr>
            <a:normAutofit fontScale="90000"/>
          </a:bodyPr>
          <a:lstStyle/>
          <a:p>
            <a:br>
              <a:rPr lang="en-GB" b="1" dirty="0"/>
            </a:br>
            <a:r>
              <a:rPr lang="en-GB" b="1" dirty="0"/>
              <a:t>Digestive system and acquisition of nutrients cont’d</a:t>
            </a:r>
            <a:br>
              <a:rPr lang="en-US" b="1" dirty="0"/>
            </a:br>
            <a:endParaRPr lang="en-US" dirty="0"/>
          </a:p>
        </p:txBody>
      </p:sp>
      <p:sp>
        <p:nvSpPr>
          <p:cNvPr id="1048679" name="Content Placeholder 2"/>
          <p:cNvSpPr>
            <a:spLocks noGrp="1"/>
          </p:cNvSpPr>
          <p:nvPr>
            <p:ph idx="1"/>
          </p:nvPr>
        </p:nvSpPr>
        <p:spPr>
          <a:xfrm>
            <a:off x="457200" y="1600200"/>
            <a:ext cx="8229600" cy="5105400"/>
          </a:xfrm>
        </p:spPr>
        <p:txBody>
          <a:bodyPr/>
          <a:lstStyle/>
          <a:p>
            <a:pPr marL="457200" lvl="1" indent="-457200">
              <a:buFont typeface="Wingdings" pitchFamily="2" charset="2"/>
              <a:buChar char="v"/>
            </a:pPr>
            <a:r>
              <a:rPr lang="en-GB" dirty="0"/>
              <a:t>The mouth is a circular opening surrounded by a maximum of six lips, few parasitic nematodes possess as many as six;</a:t>
            </a:r>
          </a:p>
          <a:p>
            <a:pPr marL="457200" lvl="1" indent="-457200">
              <a:buFont typeface="Wingdings" pitchFamily="2" charset="2"/>
              <a:buChar char="v"/>
            </a:pPr>
            <a:r>
              <a:rPr lang="en-GB" dirty="0"/>
              <a:t> in some the lips are fused in pairs to form three; in many others, the lips are absent all together whereas in others, two lateral lips develop as new structures derived from the inner margin of the mouth</a:t>
            </a:r>
            <a:endParaRPr lang="en-US" dirty="0"/>
          </a:p>
          <a:p>
            <a:endParaRPr lang="en-US" dirty="0"/>
          </a:p>
        </p:txBody>
      </p:sp>
    </p:spTree>
    <p:extLst>
      <p:ext uri="{BB962C8B-B14F-4D97-AF65-F5344CB8AC3E}">
        <p14:creationId xmlns:p14="http://schemas.microsoft.com/office/powerpoint/2010/main" val="3446449862"/>
      </p:ext>
    </p:extLst>
  </p:cSld>
  <p:clrMapOvr>
    <a:masterClrMapping/>
  </p:clrMapOvr>
</p:sld>
</file>

<file path=ppt/slides/slide4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0" name="Title 1"/>
          <p:cNvSpPr>
            <a:spLocks noGrp="1"/>
          </p:cNvSpPr>
          <p:nvPr>
            <p:ph type="title"/>
          </p:nvPr>
        </p:nvSpPr>
        <p:spPr/>
        <p:txBody>
          <a:bodyPr>
            <a:normAutofit fontScale="90000"/>
          </a:bodyPr>
          <a:lstStyle/>
          <a:p>
            <a:br>
              <a:rPr lang="en-GB" b="1" dirty="0"/>
            </a:br>
            <a:r>
              <a:rPr lang="en-GB" b="1" dirty="0"/>
              <a:t>Digestive system and acquisition of nutrients cont’d</a:t>
            </a:r>
            <a:br>
              <a:rPr lang="en-US" b="1" dirty="0"/>
            </a:br>
            <a:endParaRPr lang="en-US" dirty="0"/>
          </a:p>
        </p:txBody>
      </p:sp>
      <p:sp>
        <p:nvSpPr>
          <p:cNvPr id="1048681" name="Content Placeholder 2"/>
          <p:cNvSpPr>
            <a:spLocks noGrp="1"/>
          </p:cNvSpPr>
          <p:nvPr>
            <p:ph idx="1"/>
          </p:nvPr>
        </p:nvSpPr>
        <p:spPr/>
        <p:txBody>
          <a:bodyPr>
            <a:normAutofit fontScale="96429"/>
          </a:bodyPr>
          <a:lstStyle/>
          <a:p>
            <a:pPr marL="457200" lvl="1" indent="-457200">
              <a:buFont typeface="Wingdings" pitchFamily="2" charset="2"/>
              <a:buChar char="v"/>
            </a:pPr>
            <a:r>
              <a:rPr lang="en-GB" dirty="0"/>
              <a:t>Food ingested by a nematode moves into a muscular region of the digestive tract, the oesophagus or pharynx; </a:t>
            </a:r>
          </a:p>
          <a:p>
            <a:pPr marL="457200" lvl="1" indent="-457200">
              <a:buFont typeface="Wingdings" pitchFamily="2" charset="2"/>
              <a:buChar char="v"/>
            </a:pPr>
            <a:r>
              <a:rPr lang="en-GB" dirty="0"/>
              <a:t>a pumping organ that sucks food into the alimentary canal and </a:t>
            </a:r>
            <a:r>
              <a:rPr lang="en-GB" u="sng" dirty="0"/>
              <a:t>forces it into the intestine</a:t>
            </a:r>
            <a:r>
              <a:rPr lang="en-GB" dirty="0"/>
              <a:t> because of high pressure in the surrounding </a:t>
            </a:r>
            <a:r>
              <a:rPr lang="en-GB" dirty="0" err="1"/>
              <a:t>pseudocoel</a:t>
            </a:r>
            <a:r>
              <a:rPr lang="en-GB" dirty="0"/>
              <a:t>.</a:t>
            </a:r>
            <a:endParaRPr lang="en-US" dirty="0"/>
          </a:p>
          <a:p>
            <a:pPr marL="457200" lvl="1" indent="-457200">
              <a:buFont typeface="Wingdings" pitchFamily="2" charset="2"/>
              <a:buChar char="v"/>
            </a:pPr>
            <a:r>
              <a:rPr lang="en-GB" dirty="0"/>
              <a:t>Rapid contraction of the </a:t>
            </a:r>
            <a:r>
              <a:rPr lang="en-GB" dirty="0" err="1"/>
              <a:t>bucal</a:t>
            </a:r>
            <a:r>
              <a:rPr lang="en-GB" dirty="0"/>
              <a:t> muscles and anterior oesophageal muscle opens the mouth and dilates the anterior end of the oesophagus to suck in food.</a:t>
            </a:r>
            <a:endParaRPr lang="en-US" dirty="0"/>
          </a:p>
          <a:p>
            <a:pPr marL="0" indent="0">
              <a:buNone/>
            </a:pPr>
            <a:endParaRPr lang="en-US" dirty="0"/>
          </a:p>
        </p:txBody>
      </p:sp>
    </p:spTree>
    <p:extLst>
      <p:ext uri="{BB962C8B-B14F-4D97-AF65-F5344CB8AC3E}">
        <p14:creationId xmlns:p14="http://schemas.microsoft.com/office/powerpoint/2010/main" val="2581123584"/>
      </p:ext>
    </p:extLst>
  </p:cSld>
  <p:clrMapOvr>
    <a:masterClrMapping/>
  </p:clrMapOvr>
</p:sld>
</file>

<file path=ppt/slides/slide4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2" name="Title 1"/>
          <p:cNvSpPr>
            <a:spLocks noGrp="1"/>
          </p:cNvSpPr>
          <p:nvPr>
            <p:ph type="title"/>
          </p:nvPr>
        </p:nvSpPr>
        <p:spPr/>
        <p:txBody>
          <a:bodyPr>
            <a:normAutofit fontScale="90000"/>
          </a:bodyPr>
          <a:lstStyle/>
          <a:p>
            <a:pPr lvl="0"/>
            <a:br>
              <a:rPr lang="en-GB" b="1" dirty="0"/>
            </a:br>
            <a:r>
              <a:rPr lang="en-GB" b="1" dirty="0"/>
              <a:t>Food of nematodes parasitic in animals</a:t>
            </a:r>
            <a:br>
              <a:rPr lang="en-US" b="1" dirty="0"/>
            </a:br>
            <a:endParaRPr lang="en-US" b="1" dirty="0"/>
          </a:p>
        </p:txBody>
      </p:sp>
      <p:sp>
        <p:nvSpPr>
          <p:cNvPr id="1048683" name="Content Placeholder 2"/>
          <p:cNvSpPr>
            <a:spLocks noGrp="1"/>
          </p:cNvSpPr>
          <p:nvPr>
            <p:ph idx="1"/>
          </p:nvPr>
        </p:nvSpPr>
        <p:spPr>
          <a:xfrm>
            <a:off x="457200" y="1600200"/>
            <a:ext cx="8229600" cy="5334000"/>
          </a:xfrm>
        </p:spPr>
        <p:txBody>
          <a:bodyPr>
            <a:normAutofit fontScale="96429"/>
          </a:bodyPr>
          <a:lstStyle/>
          <a:p>
            <a:pPr lvl="1">
              <a:buFont typeface="Wingdings" pitchFamily="2" charset="2"/>
              <a:buChar char="v"/>
            </a:pPr>
            <a:r>
              <a:rPr lang="en-GB" dirty="0"/>
              <a:t>This includes blood, tissue cells and fluids, intestinal contents or some combination of these</a:t>
            </a:r>
            <a:endParaRPr lang="en-US" dirty="0"/>
          </a:p>
          <a:p>
            <a:pPr lvl="1">
              <a:buFont typeface="Wingdings" pitchFamily="2" charset="2"/>
              <a:buChar char="v"/>
            </a:pPr>
            <a:r>
              <a:rPr lang="en-GB" dirty="0"/>
              <a:t>Those parasitic in the intestine feed only on tissues and not on blood or host </a:t>
            </a:r>
            <a:r>
              <a:rPr lang="en-GB" dirty="0" err="1"/>
              <a:t>ingesta</a:t>
            </a:r>
            <a:r>
              <a:rPr lang="en-GB" dirty="0"/>
              <a:t>.</a:t>
            </a:r>
            <a:endParaRPr lang="en-US" dirty="0"/>
          </a:p>
          <a:p>
            <a:pPr lvl="1">
              <a:buFont typeface="Wingdings" pitchFamily="2" charset="2"/>
              <a:buChar char="v"/>
            </a:pPr>
            <a:r>
              <a:rPr lang="en-GB" dirty="0"/>
              <a:t>Hookworms which feed solely on blood, accumulate granules of zinc sulphide in their intestinal cells, apparently as a waste product</a:t>
            </a:r>
            <a:endParaRPr lang="en-US" dirty="0"/>
          </a:p>
          <a:p>
            <a:pPr lvl="1">
              <a:buFont typeface="Wingdings" pitchFamily="2" charset="2"/>
              <a:buChar char="v"/>
            </a:pPr>
            <a:r>
              <a:rPr lang="en-GB" dirty="0"/>
              <a:t>Nematodes parasitic in vertebrates feed extravagantly and wastefully, and the thin walled intestine with its brush border is an effective absorptive mechanism</a:t>
            </a:r>
            <a:endParaRPr lang="en-US" dirty="0"/>
          </a:p>
          <a:p>
            <a:endParaRPr lang="en-US" dirty="0"/>
          </a:p>
        </p:txBody>
      </p:sp>
    </p:spTree>
    <p:extLst>
      <p:ext uri="{BB962C8B-B14F-4D97-AF65-F5344CB8AC3E}">
        <p14:creationId xmlns:p14="http://schemas.microsoft.com/office/powerpoint/2010/main" val="4063462162"/>
      </p:ext>
    </p:extLst>
  </p:cSld>
  <p:clrMapOvr>
    <a:masterClrMapping/>
  </p:clrMapOvr>
</p:sld>
</file>

<file path=ppt/slides/slide4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84" name="Title 1"/>
          <p:cNvSpPr>
            <a:spLocks noGrp="1"/>
          </p:cNvSpPr>
          <p:nvPr>
            <p:ph type="title"/>
          </p:nvPr>
        </p:nvSpPr>
        <p:spPr/>
        <p:txBody>
          <a:bodyPr>
            <a:normAutofit fontScale="90000"/>
          </a:bodyPr>
          <a:lstStyle/>
          <a:p>
            <a:br>
              <a:rPr lang="en-GB" dirty="0"/>
            </a:br>
            <a:r>
              <a:rPr lang="en-GB" b="1" dirty="0"/>
              <a:t>Notes</a:t>
            </a:r>
            <a:br>
              <a:rPr lang="en-US" b="1" dirty="0"/>
            </a:br>
            <a:endParaRPr lang="en-US" b="1" dirty="0"/>
          </a:p>
        </p:txBody>
      </p:sp>
      <p:sp>
        <p:nvSpPr>
          <p:cNvPr id="1048685" name="Content Placeholder 2"/>
          <p:cNvSpPr>
            <a:spLocks noGrp="1"/>
          </p:cNvSpPr>
          <p:nvPr>
            <p:ph idx="1"/>
          </p:nvPr>
        </p:nvSpPr>
        <p:spPr>
          <a:xfrm>
            <a:off x="457200" y="1600200"/>
            <a:ext cx="8229600" cy="4953000"/>
          </a:xfrm>
        </p:spPr>
        <p:txBody>
          <a:bodyPr>
            <a:normAutofit fontScale="90625" lnSpcReduction="10000"/>
          </a:bodyPr>
          <a:lstStyle/>
          <a:p>
            <a:pPr lvl="0">
              <a:buFont typeface="Wingdings" pitchFamily="2" charset="2"/>
              <a:buChar char="v"/>
            </a:pPr>
            <a:r>
              <a:rPr lang="en-GB" dirty="0"/>
              <a:t>Nematodes cause some of the most dreaded disfiguring diseases of humans</a:t>
            </a:r>
            <a:endParaRPr lang="en-US" dirty="0"/>
          </a:p>
          <a:p>
            <a:pPr lvl="0">
              <a:buFont typeface="Wingdings" pitchFamily="2" charset="2"/>
              <a:buChar char="v"/>
            </a:pPr>
            <a:r>
              <a:rPr lang="en-GB" dirty="0"/>
              <a:t>In addition, agriculture suffers greatly from nematode attacks</a:t>
            </a:r>
            <a:endParaRPr lang="en-US" dirty="0"/>
          </a:p>
          <a:p>
            <a:pPr lvl="0">
              <a:buFont typeface="Wingdings" pitchFamily="2" charset="2"/>
              <a:buChar char="v"/>
            </a:pPr>
            <a:r>
              <a:rPr lang="en-GB" dirty="0"/>
              <a:t>Nematodes normally parasitic in wild animals may occasionally infect humans and domestic animals, causing mystifying diseases</a:t>
            </a:r>
            <a:endParaRPr lang="en-US" dirty="0"/>
          </a:p>
          <a:p>
            <a:pPr lvl="0">
              <a:buFont typeface="Wingdings" pitchFamily="2" charset="2"/>
              <a:buChar char="v"/>
            </a:pPr>
            <a:r>
              <a:rPr lang="en-GB" dirty="0"/>
              <a:t>Non-parasitic nematodes may also accidentally find their way into a vertebrate and become short-lived but pathogenic (e.g. Cutaneous and Visceral larva </a:t>
            </a:r>
            <a:r>
              <a:rPr lang="en-GB" dirty="0" err="1"/>
              <a:t>migrans</a:t>
            </a:r>
            <a:r>
              <a:rPr lang="en-GB" dirty="0"/>
              <a:t>)</a:t>
            </a:r>
            <a:endParaRPr lang="en-US" dirty="0"/>
          </a:p>
          <a:p>
            <a:endParaRPr lang="en-US" dirty="0"/>
          </a:p>
        </p:txBody>
      </p:sp>
    </p:spTree>
    <p:extLst>
      <p:ext uri="{BB962C8B-B14F-4D97-AF65-F5344CB8AC3E}">
        <p14:creationId xmlns:p14="http://schemas.microsoft.com/office/powerpoint/2010/main" val="1992949718"/>
      </p:ext>
    </p:extLst>
  </p:cSld>
  <p:clrMapOvr>
    <a:masterClrMapping/>
  </p:clrMapOvr>
</p:sld>
</file>

<file path=ppt/slides/slide4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PARASITOLOGY (BIOL 460)</a:t>
            </a:r>
          </a:p>
        </p:txBody>
      </p:sp>
      <p:sp>
        <p:nvSpPr>
          <p:cNvPr id="3" name="Subtitle 2"/>
          <p:cNvSpPr>
            <a:spLocks noGrp="1"/>
          </p:cNvSpPr>
          <p:nvPr>
            <p:ph type="subTitle" idx="1"/>
          </p:nvPr>
        </p:nvSpPr>
        <p:spPr/>
        <p:txBody>
          <a:bodyPr/>
          <a:lstStyle/>
          <a:p>
            <a:r>
              <a:rPr lang="en-US" dirty="0"/>
              <a:t>UNIT 7 A</a:t>
            </a:r>
          </a:p>
          <a:p>
            <a:r>
              <a:rPr lang="en-US" dirty="0">
                <a:solidFill>
                  <a:srgbClr val="FF0000"/>
                </a:solidFill>
              </a:rPr>
              <a:t>INTESTINAL NEMATODES</a:t>
            </a:r>
          </a:p>
          <a:p>
            <a:endParaRPr lang="en-US" dirty="0"/>
          </a:p>
        </p:txBody>
      </p:sp>
    </p:spTree>
    <p:extLst>
      <p:ext uri="{BB962C8B-B14F-4D97-AF65-F5344CB8AC3E}">
        <p14:creationId xmlns:p14="http://schemas.microsoft.com/office/powerpoint/2010/main" val="21915721"/>
      </p:ext>
    </p:extLst>
  </p:cSld>
  <p:clrMapOvr>
    <a:masterClrMapping/>
  </p:clrMapOvr>
</p:sld>
</file>

<file path=ppt/slides/slide4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28600"/>
            <a:ext cx="8229600" cy="6019800"/>
          </a:xfrm>
        </p:spPr>
      </p:pic>
    </p:spTree>
    <p:extLst>
      <p:ext uri="{BB962C8B-B14F-4D97-AF65-F5344CB8AC3E}">
        <p14:creationId xmlns:p14="http://schemas.microsoft.com/office/powerpoint/2010/main" val="1772351158"/>
      </p:ext>
    </p:extLst>
  </p:cSld>
  <p:clrMapOvr>
    <a:masterClrMapping/>
  </p:clrMapOvr>
</p:sld>
</file>

<file path=ppt/slides/slide4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INTESTINAL NEMATODES</a:t>
            </a:r>
            <a:br>
              <a:rPr lang="en-US" dirty="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a:solidFill>
                  <a:srgbClr val="0070C0"/>
                </a:solidFill>
              </a:rPr>
              <a:t>Ascaridoid nematodes</a:t>
            </a:r>
          </a:p>
          <a:p>
            <a:pPr lvl="0">
              <a:buFont typeface="Wingdings" pitchFamily="2" charset="2"/>
              <a:buChar char="v"/>
            </a:pPr>
            <a:r>
              <a:rPr lang="en-US" dirty="0"/>
              <a:t>The </a:t>
            </a:r>
            <a:r>
              <a:rPr lang="en-US" b="1" dirty="0"/>
              <a:t>Order</a:t>
            </a:r>
            <a:r>
              <a:rPr lang="en-US" dirty="0"/>
              <a:t> </a:t>
            </a:r>
            <a:r>
              <a:rPr lang="en-US" dirty="0">
                <a:solidFill>
                  <a:srgbClr val="00B0F0"/>
                </a:solidFill>
              </a:rPr>
              <a:t>Ascaridida</a:t>
            </a:r>
            <a:r>
              <a:rPr lang="en-US" dirty="0"/>
              <a:t> (</a:t>
            </a:r>
            <a:r>
              <a:rPr lang="en-US" b="1" dirty="0"/>
              <a:t>Subfamily</a:t>
            </a:r>
            <a:r>
              <a:rPr lang="en-US" dirty="0"/>
              <a:t> </a:t>
            </a:r>
            <a:r>
              <a:rPr lang="en-US" dirty="0">
                <a:solidFill>
                  <a:schemeClr val="accent5"/>
                </a:solidFill>
              </a:rPr>
              <a:t>Ascaridoidea</a:t>
            </a:r>
            <a:r>
              <a:rPr lang="en-US" dirty="0"/>
              <a:t>) consist of </a:t>
            </a:r>
            <a:r>
              <a:rPr lang="en-US" u="sng" dirty="0"/>
              <a:t>relatively large nematodes</a:t>
            </a:r>
            <a:r>
              <a:rPr lang="en-US" dirty="0"/>
              <a:t> which are </a:t>
            </a:r>
            <a:r>
              <a:rPr lang="en-US" dirty="0">
                <a:solidFill>
                  <a:srgbClr val="C00000"/>
                </a:solidFill>
              </a:rPr>
              <a:t>obligatory intestinal parasites</a:t>
            </a:r>
            <a:r>
              <a:rPr lang="en-US" dirty="0"/>
              <a:t> of vertebrates</a:t>
            </a:r>
          </a:p>
          <a:p>
            <a:pPr lvl="0">
              <a:buFont typeface="Wingdings" pitchFamily="2" charset="2"/>
              <a:buChar char="v"/>
            </a:pPr>
            <a:r>
              <a:rPr lang="en-US" u="sng" dirty="0"/>
              <a:t>Their eggs differ from those of the other nematodes in being </a:t>
            </a:r>
            <a:r>
              <a:rPr lang="en-US" dirty="0">
                <a:solidFill>
                  <a:srgbClr val="C00000"/>
                </a:solidFill>
              </a:rPr>
              <a:t>thick-shelled with an uneven surface</a:t>
            </a:r>
            <a:r>
              <a:rPr lang="en-US" dirty="0"/>
              <a:t>. </a:t>
            </a:r>
          </a:p>
        </p:txBody>
      </p:sp>
    </p:spTree>
    <p:extLst>
      <p:ext uri="{BB962C8B-B14F-4D97-AF65-F5344CB8AC3E}">
        <p14:creationId xmlns:p14="http://schemas.microsoft.com/office/powerpoint/2010/main" val="3243715685"/>
      </p:ext>
    </p:extLst>
  </p:cSld>
  <p:clrMapOvr>
    <a:masterClrMapping/>
  </p:clrMapOvr>
</p:sld>
</file>

<file path=ppt/slides/slide4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INTESTINAL NEMATODES </a:t>
            </a:r>
            <a:r>
              <a:rPr lang="en-US" b="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u="sng" dirty="0"/>
              <a:t>The eggs rarely hatch externally</a:t>
            </a:r>
            <a:r>
              <a:rPr lang="en-US" dirty="0"/>
              <a:t> </a:t>
            </a:r>
            <a:r>
              <a:rPr lang="en-US" b="1" dirty="0"/>
              <a:t>but</a:t>
            </a:r>
            <a:r>
              <a:rPr lang="en-US" dirty="0"/>
              <a:t> </a:t>
            </a:r>
            <a:r>
              <a:rPr lang="en-US" u="sng" dirty="0"/>
              <a:t>require to embryonate in an aerobic environment before development to an infective stage can occur</a:t>
            </a:r>
            <a:r>
              <a:rPr lang="en-US" dirty="0"/>
              <a:t>. </a:t>
            </a:r>
            <a:r>
              <a:rPr lang="en-US" dirty="0">
                <a:solidFill>
                  <a:schemeClr val="accent6">
                    <a:lumMod val="75000"/>
                  </a:schemeClr>
                </a:solidFill>
              </a:rPr>
              <a:t>Hatching takes place on ingestion by another animal</a:t>
            </a:r>
            <a:r>
              <a:rPr lang="en-US" dirty="0"/>
              <a:t>.</a:t>
            </a:r>
          </a:p>
          <a:p>
            <a:pPr lvl="0">
              <a:buFont typeface="Wingdings" pitchFamily="2" charset="2"/>
              <a:buChar char="v"/>
            </a:pPr>
            <a:r>
              <a:rPr lang="en-US" dirty="0">
                <a:solidFill>
                  <a:srgbClr val="00B0F0"/>
                </a:solidFill>
              </a:rPr>
              <a:t>Several species use intermediate hosts </a:t>
            </a:r>
            <a:r>
              <a:rPr lang="en-US" u="sng" dirty="0"/>
              <a:t>in which larvae become encysted</a:t>
            </a:r>
          </a:p>
          <a:p>
            <a:endParaRPr lang="en-US" dirty="0"/>
          </a:p>
        </p:txBody>
      </p:sp>
    </p:spTree>
    <p:extLst>
      <p:ext uri="{BB962C8B-B14F-4D97-AF65-F5344CB8AC3E}">
        <p14:creationId xmlns:p14="http://schemas.microsoft.com/office/powerpoint/2010/main" val="3860602193"/>
      </p:ext>
    </p:extLst>
  </p:cSld>
  <p:clrMapOvr>
    <a:masterClrMapping/>
  </p:clrMapOvr>
</p:sld>
</file>

<file path=ppt/slides/slide4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solidFill>
                  <a:srgbClr val="FF0000"/>
                </a:solidFill>
              </a:rPr>
              <a:t>INTESTINAL NEMATODES </a:t>
            </a:r>
            <a:r>
              <a:rPr lang="en-US" b="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Larvae of several ascarisoid spp. can survive in abnormal hosts, </a:t>
            </a:r>
          </a:p>
          <a:p>
            <a:pPr lvl="0">
              <a:buFont typeface="Wingdings" pitchFamily="2" charset="2"/>
              <a:buChar char="v"/>
            </a:pPr>
            <a:r>
              <a:rPr lang="en-US" dirty="0"/>
              <a:t>e.g. </a:t>
            </a:r>
            <a:r>
              <a:rPr lang="en-US" i="1" dirty="0">
                <a:solidFill>
                  <a:srgbClr val="7030A0"/>
                </a:solidFill>
              </a:rPr>
              <a:t>Toxocara catis </a:t>
            </a:r>
            <a:r>
              <a:rPr lang="en-US" dirty="0"/>
              <a:t>of </a:t>
            </a:r>
            <a:r>
              <a:rPr lang="en-US" dirty="0">
                <a:solidFill>
                  <a:srgbClr val="7030A0"/>
                </a:solidFill>
              </a:rPr>
              <a:t>cats</a:t>
            </a:r>
            <a:r>
              <a:rPr lang="en-US" dirty="0"/>
              <a:t> or </a:t>
            </a:r>
            <a:r>
              <a:rPr lang="en-US" i="1" dirty="0">
                <a:solidFill>
                  <a:srgbClr val="00B0F0"/>
                </a:solidFill>
              </a:rPr>
              <a:t>T. canis </a:t>
            </a:r>
            <a:r>
              <a:rPr lang="en-US" dirty="0"/>
              <a:t>of </a:t>
            </a:r>
            <a:r>
              <a:rPr lang="en-US" dirty="0">
                <a:solidFill>
                  <a:srgbClr val="00B0F0"/>
                </a:solidFill>
              </a:rPr>
              <a:t>dogs</a:t>
            </a:r>
            <a:r>
              <a:rPr lang="en-US" dirty="0"/>
              <a:t>, in humans wander through tissues as </a:t>
            </a:r>
            <a:r>
              <a:rPr lang="en-US" dirty="0">
                <a:solidFill>
                  <a:srgbClr val="C00000"/>
                </a:solidFill>
              </a:rPr>
              <a:t>larva migrans</a:t>
            </a:r>
            <a:r>
              <a:rPr lang="en-US" dirty="0"/>
              <a:t> which often cause serious pathology.</a:t>
            </a:r>
          </a:p>
          <a:p>
            <a:endParaRPr lang="en-US" dirty="0"/>
          </a:p>
        </p:txBody>
      </p:sp>
    </p:spTree>
    <p:extLst>
      <p:ext uri="{BB962C8B-B14F-4D97-AF65-F5344CB8AC3E}">
        <p14:creationId xmlns:p14="http://schemas.microsoft.com/office/powerpoint/2010/main" val="563975244"/>
      </p:ext>
    </p:extLst>
  </p:cSld>
  <p:clrMapOvr>
    <a:masterClrMapping/>
  </p:clrMapOvr>
</p:sld>
</file>

<file path=ppt/slides/slide4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solidFill>
                  <a:srgbClr val="FFC000"/>
                </a:solidFill>
              </a:rPr>
            </a:br>
            <a:r>
              <a:rPr lang="en-US" b="1" i="1" dirty="0">
                <a:solidFill>
                  <a:srgbClr val="00B0F0"/>
                </a:solidFill>
              </a:rPr>
              <a:t>Ascaris lumbricoides</a:t>
            </a:r>
            <a:br>
              <a:rPr lang="en-US" dirty="0"/>
            </a:b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This is known as the </a:t>
            </a:r>
            <a:r>
              <a:rPr lang="en-US" dirty="0">
                <a:solidFill>
                  <a:srgbClr val="00B0F0"/>
                </a:solidFill>
              </a:rPr>
              <a:t>large intestinal roundworm of humans</a:t>
            </a:r>
            <a:r>
              <a:rPr lang="en-US" dirty="0"/>
              <a:t>, and infects some </a:t>
            </a:r>
            <a:r>
              <a:rPr lang="en-US" dirty="0">
                <a:solidFill>
                  <a:srgbClr val="00B050"/>
                </a:solidFill>
              </a:rPr>
              <a:t>apes</a:t>
            </a:r>
            <a:r>
              <a:rPr lang="en-US" dirty="0"/>
              <a:t> and </a:t>
            </a:r>
            <a:r>
              <a:rPr lang="en-US" dirty="0">
                <a:solidFill>
                  <a:srgbClr val="00B050"/>
                </a:solidFill>
              </a:rPr>
              <a:t>pigs</a:t>
            </a:r>
            <a:r>
              <a:rPr lang="en-US" dirty="0"/>
              <a:t> throughout the world.</a:t>
            </a:r>
          </a:p>
          <a:p>
            <a:pPr marL="0" indent="0" algn="ctr">
              <a:buNone/>
            </a:pPr>
            <a:r>
              <a:rPr lang="en-US" b="1" u="sng" dirty="0"/>
              <a:t>Distribution</a:t>
            </a:r>
            <a:endParaRPr lang="en-US" u="sng" dirty="0"/>
          </a:p>
          <a:p>
            <a:pPr>
              <a:buFont typeface="Wingdings" pitchFamily="2" charset="2"/>
              <a:buChar char="v"/>
            </a:pPr>
            <a:r>
              <a:rPr lang="en-US" dirty="0"/>
              <a:t>Worldwide, the </a:t>
            </a:r>
            <a:r>
              <a:rPr lang="en-US" dirty="0">
                <a:solidFill>
                  <a:srgbClr val="7030A0"/>
                </a:solidFill>
              </a:rPr>
              <a:t>commonest and most widespread of all human parasites</a:t>
            </a:r>
            <a:r>
              <a:rPr lang="en-US" dirty="0"/>
              <a:t>, particularly found in areas of poor sanitation and where </a:t>
            </a:r>
            <a:r>
              <a:rPr lang="en-US" dirty="0">
                <a:solidFill>
                  <a:srgbClr val="7030A0"/>
                </a:solidFill>
              </a:rPr>
              <a:t>untreated human faeces are used as fertilizer (night soil).</a:t>
            </a:r>
          </a:p>
          <a:p>
            <a:endParaRPr lang="en-US" dirty="0"/>
          </a:p>
        </p:txBody>
      </p:sp>
    </p:spTree>
    <p:extLst>
      <p:ext uri="{BB962C8B-B14F-4D97-AF65-F5344CB8AC3E}">
        <p14:creationId xmlns:p14="http://schemas.microsoft.com/office/powerpoint/2010/main" val="375895635"/>
      </p:ext>
    </p:extLst>
  </p:cSld>
  <p:clrMapOvr>
    <a:masterClrMapping/>
  </p:clrMapOvr>
</p:sld>
</file>

<file path=ppt/slides/slide4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F0"/>
                </a:solidFill>
              </a:rPr>
              <a:t>Ascaris lumbricoides </a:t>
            </a:r>
            <a:r>
              <a:rPr lang="en-US" b="1" i="1" dirty="0"/>
              <a:t>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u="sng" dirty="0"/>
              <a:t>Transmission</a:t>
            </a:r>
            <a:endParaRPr lang="en-US" u="sng" dirty="0"/>
          </a:p>
          <a:p>
            <a:pPr lvl="0"/>
            <a:r>
              <a:rPr lang="en-US" dirty="0"/>
              <a:t>It is </a:t>
            </a:r>
            <a:r>
              <a:rPr lang="en-US" dirty="0">
                <a:solidFill>
                  <a:srgbClr val="00B0F0"/>
                </a:solidFill>
              </a:rPr>
              <a:t>spread by faecal pollution of the soil </a:t>
            </a:r>
            <a:r>
              <a:rPr lang="en-US" dirty="0"/>
              <a:t>and a person is infected by </a:t>
            </a:r>
            <a:r>
              <a:rPr lang="en-US" dirty="0">
                <a:solidFill>
                  <a:srgbClr val="00B0F0"/>
                </a:solidFill>
              </a:rPr>
              <a:t>ingesting infective eggs in contaminated food</a:t>
            </a:r>
            <a:r>
              <a:rPr lang="en-US" dirty="0"/>
              <a:t> or from </a:t>
            </a:r>
            <a:r>
              <a:rPr lang="en-US" dirty="0">
                <a:solidFill>
                  <a:srgbClr val="00B0F0"/>
                </a:solidFill>
              </a:rPr>
              <a:t>hands that are </a:t>
            </a:r>
            <a:r>
              <a:rPr lang="en-US" dirty="0" err="1">
                <a:solidFill>
                  <a:srgbClr val="00B0F0"/>
                </a:solidFill>
              </a:rPr>
              <a:t>faecally</a:t>
            </a:r>
            <a:r>
              <a:rPr lang="en-US" dirty="0">
                <a:solidFill>
                  <a:srgbClr val="00B0F0"/>
                </a:solidFill>
              </a:rPr>
              <a:t> contaminated</a:t>
            </a:r>
            <a:r>
              <a:rPr lang="en-US" dirty="0"/>
              <a:t>.</a:t>
            </a:r>
          </a:p>
          <a:p>
            <a:pPr lvl="0"/>
            <a:r>
              <a:rPr lang="en-US" dirty="0"/>
              <a:t>The worms produce </a:t>
            </a:r>
            <a:r>
              <a:rPr lang="en-US" dirty="0">
                <a:solidFill>
                  <a:schemeClr val="accent6">
                    <a:lumMod val="75000"/>
                  </a:schemeClr>
                </a:solidFill>
              </a:rPr>
              <a:t>many eggs </a:t>
            </a:r>
            <a:r>
              <a:rPr lang="en-US" dirty="0"/>
              <a:t>with a </a:t>
            </a:r>
            <a:r>
              <a:rPr lang="en-US" dirty="0">
                <a:solidFill>
                  <a:schemeClr val="accent6">
                    <a:lumMod val="75000"/>
                  </a:schemeClr>
                </a:solidFill>
              </a:rPr>
              <a:t>strong</a:t>
            </a:r>
            <a:r>
              <a:rPr lang="en-US" dirty="0"/>
              <a:t> </a:t>
            </a:r>
            <a:r>
              <a:rPr lang="en-US" dirty="0">
                <a:solidFill>
                  <a:schemeClr val="accent6">
                    <a:lumMod val="75000"/>
                  </a:schemeClr>
                </a:solidFill>
              </a:rPr>
              <a:t>protective coat </a:t>
            </a:r>
            <a:r>
              <a:rPr lang="en-US" dirty="0"/>
              <a:t>which enables them to </a:t>
            </a:r>
            <a:r>
              <a:rPr lang="en-US" dirty="0">
                <a:solidFill>
                  <a:schemeClr val="accent6">
                    <a:lumMod val="75000"/>
                  </a:schemeClr>
                </a:solidFill>
              </a:rPr>
              <a:t>remain viable in soil and dust for several years</a:t>
            </a:r>
            <a:r>
              <a:rPr lang="en-US" dirty="0"/>
              <a:t>.</a:t>
            </a:r>
          </a:p>
          <a:p>
            <a:endParaRPr lang="en-US" dirty="0"/>
          </a:p>
        </p:txBody>
      </p:sp>
    </p:spTree>
    <p:extLst>
      <p:ext uri="{BB962C8B-B14F-4D97-AF65-F5344CB8AC3E}">
        <p14:creationId xmlns:p14="http://schemas.microsoft.com/office/powerpoint/2010/main" val="2696567929"/>
      </p:ext>
    </p:extLst>
  </p:cSld>
  <p:clrMapOvr>
    <a:masterClrMapping/>
  </p:clrMapOvr>
</p:sld>
</file>

<file path=ppt/slides/slide4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F0"/>
                </a:solidFill>
              </a:rPr>
              <a:t>Ascaris lumbricoides </a:t>
            </a:r>
            <a:r>
              <a:rPr lang="en-US" b="1" i="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The infections occur, in most rural areas, </a:t>
            </a:r>
            <a:r>
              <a:rPr lang="en-US" dirty="0">
                <a:solidFill>
                  <a:srgbClr val="00B0F0"/>
                </a:solidFill>
              </a:rPr>
              <a:t>in children</a:t>
            </a:r>
            <a:r>
              <a:rPr lang="en-US" dirty="0"/>
              <a:t>, </a:t>
            </a:r>
            <a:r>
              <a:rPr lang="en-US" dirty="0">
                <a:solidFill>
                  <a:srgbClr val="00B0F0"/>
                </a:solidFill>
              </a:rPr>
              <a:t>3-10 years old </a:t>
            </a:r>
            <a:r>
              <a:rPr lang="en-US" u="sng" dirty="0"/>
              <a:t>because of their habitat of playing an open ground</a:t>
            </a:r>
            <a:r>
              <a:rPr lang="en-US" dirty="0"/>
              <a:t>.</a:t>
            </a:r>
          </a:p>
          <a:p>
            <a:pPr algn="ctr">
              <a:buFont typeface="Wingdings" pitchFamily="2" charset="2"/>
              <a:buChar char="v"/>
            </a:pPr>
            <a:endParaRPr lang="en-US" b="1" dirty="0"/>
          </a:p>
          <a:p>
            <a:pPr marL="0" indent="0" algn="ctr">
              <a:buNone/>
            </a:pPr>
            <a:r>
              <a:rPr lang="en-US" b="1" u="sng" dirty="0"/>
              <a:t>Life Cycle</a:t>
            </a:r>
            <a:endParaRPr lang="en-US" u="sng" dirty="0"/>
          </a:p>
          <a:p>
            <a:pPr lvl="0">
              <a:buFont typeface="Wingdings" pitchFamily="2" charset="2"/>
              <a:buChar char="v"/>
            </a:pPr>
            <a:r>
              <a:rPr lang="en-US" dirty="0"/>
              <a:t>After ingestion, the eggs hatch in the </a:t>
            </a:r>
            <a:r>
              <a:rPr lang="en-US" dirty="0">
                <a:solidFill>
                  <a:schemeClr val="accent6">
                    <a:lumMod val="75000"/>
                  </a:schemeClr>
                </a:solidFill>
              </a:rPr>
              <a:t>small intestine</a:t>
            </a:r>
            <a:r>
              <a:rPr lang="en-US" dirty="0"/>
              <a:t> and </a:t>
            </a:r>
            <a:r>
              <a:rPr lang="en-US" dirty="0">
                <a:solidFill>
                  <a:schemeClr val="accent6">
                    <a:lumMod val="75000"/>
                  </a:schemeClr>
                </a:solidFill>
              </a:rPr>
              <a:t>penetrate blood vessels in the intestinal wall</a:t>
            </a:r>
            <a:r>
              <a:rPr lang="en-US" dirty="0"/>
              <a:t>.</a:t>
            </a:r>
          </a:p>
          <a:p>
            <a:endParaRPr lang="en-US" dirty="0"/>
          </a:p>
        </p:txBody>
      </p:sp>
    </p:spTree>
    <p:extLst>
      <p:ext uri="{BB962C8B-B14F-4D97-AF65-F5344CB8AC3E}">
        <p14:creationId xmlns:p14="http://schemas.microsoft.com/office/powerpoint/2010/main" val="3440283896"/>
      </p:ext>
    </p:extLst>
  </p:cSld>
  <p:clrMapOvr>
    <a:masterClrMapping/>
  </p:clrMapOvr>
</p:sld>
</file>

<file path=ppt/slides/slide4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F0"/>
                </a:solidFill>
              </a:rPr>
              <a:t>Ascaris lumbricoides </a:t>
            </a:r>
            <a:r>
              <a:rPr lang="en-US" b="1" i="1" dirty="0"/>
              <a:t>cont’d</a:t>
            </a:r>
            <a:br>
              <a:rPr lang="en-US" dirty="0"/>
            </a:b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pPr lvl="0">
              <a:buFont typeface="Wingdings" pitchFamily="2" charset="2"/>
              <a:buChar char="v"/>
            </a:pPr>
            <a:r>
              <a:rPr lang="en-US" dirty="0"/>
              <a:t>Carried in the blood, </a:t>
            </a:r>
            <a:r>
              <a:rPr lang="en-US" dirty="0">
                <a:solidFill>
                  <a:schemeClr val="accent6">
                    <a:lumMod val="75000"/>
                  </a:schemeClr>
                </a:solidFill>
              </a:rPr>
              <a:t>the larvae follow a heart-lung route</a:t>
            </a:r>
            <a:r>
              <a:rPr lang="en-US" dirty="0"/>
              <a:t>, developing in the process</a:t>
            </a:r>
          </a:p>
          <a:p>
            <a:pPr lvl="0">
              <a:buFont typeface="Wingdings" pitchFamily="2" charset="2"/>
              <a:buChar char="v"/>
            </a:pPr>
            <a:r>
              <a:rPr lang="en-US" u="sng" dirty="0"/>
              <a:t>The larvae then move up the trachea</a:t>
            </a:r>
            <a:r>
              <a:rPr lang="en-US" dirty="0"/>
              <a:t>, and </a:t>
            </a:r>
            <a:r>
              <a:rPr lang="en-US" u="sng" dirty="0"/>
              <a:t>are swallowed, reaching the small-intestines </a:t>
            </a:r>
            <a:r>
              <a:rPr lang="en-US" dirty="0"/>
              <a:t>where they grow into mature worms</a:t>
            </a:r>
          </a:p>
          <a:p>
            <a:pPr lvl="0">
              <a:buFont typeface="Wingdings" pitchFamily="2" charset="2"/>
              <a:buChar char="v"/>
            </a:pPr>
            <a:r>
              <a:rPr lang="en-US" u="sng" dirty="0"/>
              <a:t>Mating occurs and the female lays large numbers of eggs which are passed out in the faeces.</a:t>
            </a:r>
          </a:p>
          <a:p>
            <a:pPr lvl="0">
              <a:buFont typeface="Wingdings" pitchFamily="2" charset="2"/>
              <a:buChar char="v"/>
            </a:pPr>
            <a:r>
              <a:rPr lang="en-US" dirty="0"/>
              <a:t> Egg production occurs about two (2) months after infection</a:t>
            </a:r>
          </a:p>
          <a:p>
            <a:pPr marL="0" indent="0">
              <a:buNone/>
            </a:pPr>
            <a:endParaRPr lang="en-US" dirty="0"/>
          </a:p>
        </p:txBody>
      </p:sp>
    </p:spTree>
    <p:extLst>
      <p:ext uri="{BB962C8B-B14F-4D97-AF65-F5344CB8AC3E}">
        <p14:creationId xmlns:p14="http://schemas.microsoft.com/office/powerpoint/2010/main" val="4112951061"/>
      </p:ext>
    </p:extLst>
  </p:cSld>
  <p:clrMapOvr>
    <a:masterClrMapping/>
  </p:clrMapOvr>
</p:sld>
</file>

<file path=ppt/slides/slide4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F0"/>
                </a:solidFill>
              </a:rPr>
              <a:t>Ascaris lumbricoides </a:t>
            </a:r>
            <a:r>
              <a:rPr lang="en-US" b="1" i="1" dirty="0"/>
              <a:t>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US" dirty="0"/>
              <a:t>In </a:t>
            </a:r>
            <a:r>
              <a:rPr lang="en-US" dirty="0">
                <a:solidFill>
                  <a:srgbClr val="00B0F0"/>
                </a:solidFill>
              </a:rPr>
              <a:t>shaded soil </a:t>
            </a:r>
            <a:r>
              <a:rPr lang="en-US" dirty="0"/>
              <a:t>and at a </a:t>
            </a:r>
            <a:r>
              <a:rPr lang="en-US" dirty="0">
                <a:solidFill>
                  <a:srgbClr val="00B0F0"/>
                </a:solidFill>
              </a:rPr>
              <a:t>temperature of 20-40°C</a:t>
            </a:r>
            <a:r>
              <a:rPr lang="en-US" dirty="0"/>
              <a:t> and </a:t>
            </a:r>
            <a:r>
              <a:rPr lang="en-US" dirty="0">
                <a:solidFill>
                  <a:srgbClr val="00B0F0"/>
                </a:solidFill>
              </a:rPr>
              <a:t>RH of over 40%, </a:t>
            </a:r>
            <a:r>
              <a:rPr lang="en-US" dirty="0"/>
              <a:t>the </a:t>
            </a:r>
            <a:r>
              <a:rPr lang="en-US" dirty="0">
                <a:solidFill>
                  <a:schemeClr val="accent6">
                    <a:lumMod val="75000"/>
                  </a:schemeClr>
                </a:solidFill>
              </a:rPr>
              <a:t>eggs develop and within 30-40 days </a:t>
            </a:r>
            <a:r>
              <a:rPr lang="en-US" dirty="0"/>
              <a:t>of being passed, each egg contains an infective larva which does not hatch until the eggs is swallowed.</a:t>
            </a:r>
          </a:p>
          <a:p>
            <a:pPr lvl="0">
              <a:buFont typeface="Wingdings" pitchFamily="2" charset="2"/>
              <a:buChar char="v"/>
            </a:pPr>
            <a:r>
              <a:rPr lang="en-US" dirty="0">
                <a:solidFill>
                  <a:srgbClr val="7030A0"/>
                </a:solidFill>
              </a:rPr>
              <a:t>The eggs are resistant to drying out </a:t>
            </a:r>
            <a:r>
              <a:rPr lang="en-US" b="1" dirty="0"/>
              <a:t>but</a:t>
            </a:r>
            <a:r>
              <a:rPr lang="en-US" dirty="0"/>
              <a:t> </a:t>
            </a:r>
            <a:r>
              <a:rPr lang="en-US" dirty="0">
                <a:solidFill>
                  <a:srgbClr val="FF0000"/>
                </a:solidFill>
              </a:rPr>
              <a:t>are killed  by direct sunlight</a:t>
            </a:r>
          </a:p>
          <a:p>
            <a:pPr lvl="0">
              <a:buFont typeface="Wingdings" pitchFamily="2" charset="2"/>
              <a:buChar char="v"/>
            </a:pPr>
            <a:r>
              <a:rPr lang="en-US" i="1" dirty="0">
                <a:solidFill>
                  <a:srgbClr val="00B0F0"/>
                </a:solidFill>
              </a:rPr>
              <a:t>Ascaris lumbricoides</a:t>
            </a:r>
            <a:r>
              <a:rPr lang="en-US" dirty="0">
                <a:solidFill>
                  <a:srgbClr val="00B0F0"/>
                </a:solidFill>
              </a:rPr>
              <a:t> </a:t>
            </a:r>
            <a:r>
              <a:rPr lang="en-US" u="sng" dirty="0"/>
              <a:t>is often found associated with</a:t>
            </a:r>
            <a:r>
              <a:rPr lang="en-US" dirty="0"/>
              <a:t> </a:t>
            </a:r>
            <a:r>
              <a:rPr lang="en-US" i="1" dirty="0">
                <a:solidFill>
                  <a:srgbClr val="00B050"/>
                </a:solidFill>
              </a:rPr>
              <a:t>Trichuris trichiura</a:t>
            </a:r>
            <a:endParaRPr lang="en-US" dirty="0">
              <a:solidFill>
                <a:srgbClr val="00B050"/>
              </a:solidFill>
            </a:endParaRPr>
          </a:p>
          <a:p>
            <a:pPr marL="0" indent="0">
              <a:buNone/>
            </a:pPr>
            <a:endParaRPr lang="en-US" dirty="0"/>
          </a:p>
        </p:txBody>
      </p:sp>
    </p:spTree>
    <p:extLst>
      <p:ext uri="{BB962C8B-B14F-4D97-AF65-F5344CB8AC3E}">
        <p14:creationId xmlns:p14="http://schemas.microsoft.com/office/powerpoint/2010/main" val="4089139038"/>
      </p:ext>
    </p:extLst>
  </p:cSld>
  <p:clrMapOvr>
    <a:masterClrMapping/>
  </p:clrMapOvr>
</p:sld>
</file>

<file path=ppt/slides/slide4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F0"/>
                </a:solidFill>
              </a:rPr>
              <a:t>Ascaris lumbricoides </a:t>
            </a:r>
            <a:r>
              <a:rPr lang="en-US" b="1" i="1" dirty="0"/>
              <a:t>cont’d</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u="sng" dirty="0"/>
              <a:t>Symptoms and Pathology</a:t>
            </a:r>
            <a:endParaRPr lang="en-US" u="sng" dirty="0"/>
          </a:p>
          <a:p>
            <a:pPr lvl="0">
              <a:buFont typeface="Wingdings" pitchFamily="2" charset="2"/>
              <a:buChar char="v"/>
            </a:pPr>
            <a:r>
              <a:rPr lang="en-US" dirty="0"/>
              <a:t>The larvae may cause </a:t>
            </a:r>
            <a:r>
              <a:rPr lang="en-US" dirty="0">
                <a:solidFill>
                  <a:srgbClr val="00B0F0"/>
                </a:solidFill>
              </a:rPr>
              <a:t>inflammatory</a:t>
            </a:r>
            <a:r>
              <a:rPr lang="en-US" dirty="0"/>
              <a:t> and </a:t>
            </a:r>
            <a:r>
              <a:rPr lang="en-US" dirty="0">
                <a:solidFill>
                  <a:srgbClr val="00B0F0"/>
                </a:solidFill>
              </a:rPr>
              <a:t>hypersensitive reactions </a:t>
            </a:r>
            <a:r>
              <a:rPr lang="en-US" dirty="0"/>
              <a:t>including </a:t>
            </a:r>
            <a:r>
              <a:rPr lang="en-US" dirty="0">
                <a:solidFill>
                  <a:srgbClr val="FF0000"/>
                </a:solidFill>
              </a:rPr>
              <a:t>pneumonia-like symptoms</a:t>
            </a:r>
            <a:r>
              <a:rPr lang="en-US" dirty="0"/>
              <a:t>, </a:t>
            </a:r>
            <a:r>
              <a:rPr lang="en-US" dirty="0">
                <a:solidFill>
                  <a:srgbClr val="FF0000"/>
                </a:solidFill>
              </a:rPr>
              <a:t>attacks of coughing </a:t>
            </a:r>
            <a:r>
              <a:rPr lang="en-US" dirty="0"/>
              <a:t>and </a:t>
            </a:r>
            <a:r>
              <a:rPr lang="en-US" dirty="0">
                <a:solidFill>
                  <a:srgbClr val="FF0000"/>
                </a:solidFill>
              </a:rPr>
              <a:t>bronchial asthma </a:t>
            </a:r>
            <a:r>
              <a:rPr lang="en-US" dirty="0"/>
              <a:t>during their heart-lung migration</a:t>
            </a:r>
          </a:p>
          <a:p>
            <a:pPr lvl="0">
              <a:buFont typeface="Wingdings" pitchFamily="2" charset="2"/>
              <a:buChar char="v"/>
            </a:pPr>
            <a:r>
              <a:rPr lang="en-US" dirty="0">
                <a:solidFill>
                  <a:srgbClr val="00B0F0"/>
                </a:solidFill>
              </a:rPr>
              <a:t>Eosinophilia</a:t>
            </a:r>
            <a:r>
              <a:rPr lang="en-US" dirty="0"/>
              <a:t> is common and </a:t>
            </a:r>
            <a:r>
              <a:rPr lang="en-US" dirty="0">
                <a:solidFill>
                  <a:srgbClr val="00B0F0"/>
                </a:solidFill>
              </a:rPr>
              <a:t>urticaria</a:t>
            </a:r>
            <a:r>
              <a:rPr lang="en-US" dirty="0"/>
              <a:t>; </a:t>
            </a:r>
            <a:r>
              <a:rPr lang="en-US" u="sng" dirty="0"/>
              <a:t>these may subside after larvae are back in the intestine</a:t>
            </a:r>
          </a:p>
          <a:p>
            <a:pPr marL="0" indent="0">
              <a:buNone/>
            </a:pPr>
            <a:endParaRPr lang="en-US" dirty="0"/>
          </a:p>
        </p:txBody>
      </p:sp>
    </p:spTree>
    <p:extLst>
      <p:ext uri="{BB962C8B-B14F-4D97-AF65-F5344CB8AC3E}">
        <p14:creationId xmlns:p14="http://schemas.microsoft.com/office/powerpoint/2010/main" val="3142636704"/>
      </p:ext>
    </p:extLst>
  </p:cSld>
  <p:clrMapOvr>
    <a:masterClrMapping/>
  </p:clrMapOvr>
</p:sld>
</file>

<file path=ppt/slides/slide4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F0"/>
                </a:solidFill>
              </a:rPr>
              <a:t>Ascaris lumbricoides </a:t>
            </a:r>
            <a:r>
              <a:rPr lang="en-US" b="1" i="1" dirty="0"/>
              <a:t>cont’d</a:t>
            </a:r>
            <a:br>
              <a:rPr lang="en-US" dirty="0"/>
            </a:br>
            <a:endParaRPr lang="en-US" dirty="0"/>
          </a:p>
        </p:txBody>
      </p:sp>
      <p:sp>
        <p:nvSpPr>
          <p:cNvPr id="3" name="Content Placeholder 2"/>
          <p:cNvSpPr>
            <a:spLocks noGrp="1"/>
          </p:cNvSpPr>
          <p:nvPr>
            <p:ph idx="1"/>
          </p:nvPr>
        </p:nvSpPr>
        <p:spPr/>
        <p:txBody>
          <a:bodyPr>
            <a:normAutofit fontScale="92500"/>
          </a:bodyPr>
          <a:lstStyle/>
          <a:p>
            <a:pPr lvl="0">
              <a:buFont typeface="Wingdings" pitchFamily="2" charset="2"/>
              <a:buChar char="v"/>
            </a:pPr>
            <a:r>
              <a:rPr lang="en-US" dirty="0">
                <a:solidFill>
                  <a:srgbClr val="FF0000"/>
                </a:solidFill>
              </a:rPr>
              <a:t>Toxaemia</a:t>
            </a:r>
            <a:r>
              <a:rPr lang="en-US" dirty="0"/>
              <a:t> may develop and sometimes </a:t>
            </a:r>
            <a:r>
              <a:rPr lang="en-US" dirty="0">
                <a:solidFill>
                  <a:srgbClr val="00B0F0"/>
                </a:solidFill>
              </a:rPr>
              <a:t>neurological disorders</a:t>
            </a:r>
          </a:p>
          <a:p>
            <a:pPr lvl="0">
              <a:buFont typeface="Wingdings" pitchFamily="2" charset="2"/>
              <a:buChar char="v"/>
            </a:pPr>
            <a:r>
              <a:rPr lang="en-US" dirty="0">
                <a:solidFill>
                  <a:srgbClr val="00B0F0"/>
                </a:solidFill>
              </a:rPr>
              <a:t>Abdominal pain </a:t>
            </a:r>
            <a:r>
              <a:rPr lang="en-US" dirty="0"/>
              <a:t>may be felt </a:t>
            </a:r>
            <a:r>
              <a:rPr lang="en-US" u="sng" dirty="0"/>
              <a:t>due to developing and mature worms in the intestine</a:t>
            </a:r>
            <a:r>
              <a:rPr lang="en-US" dirty="0"/>
              <a:t>, and may be accompanied by </a:t>
            </a:r>
            <a:r>
              <a:rPr lang="en-US" dirty="0">
                <a:solidFill>
                  <a:srgbClr val="00B0F0"/>
                </a:solidFill>
              </a:rPr>
              <a:t>nausea</a:t>
            </a:r>
            <a:r>
              <a:rPr lang="en-US" dirty="0"/>
              <a:t>, </a:t>
            </a:r>
            <a:r>
              <a:rPr lang="en-US" dirty="0">
                <a:solidFill>
                  <a:srgbClr val="00B0F0"/>
                </a:solidFill>
              </a:rPr>
              <a:t>diarrhea</a:t>
            </a:r>
            <a:r>
              <a:rPr lang="en-US" dirty="0"/>
              <a:t> and </a:t>
            </a:r>
            <a:r>
              <a:rPr lang="en-US" dirty="0">
                <a:solidFill>
                  <a:srgbClr val="00B0F0"/>
                </a:solidFill>
              </a:rPr>
              <a:t>vomiting</a:t>
            </a:r>
          </a:p>
          <a:p>
            <a:pPr lvl="0">
              <a:buFont typeface="Wingdings" pitchFamily="2" charset="2"/>
              <a:buChar char="v"/>
            </a:pPr>
            <a:endParaRPr lang="en-US" dirty="0"/>
          </a:p>
          <a:p>
            <a:pPr lvl="0">
              <a:buFont typeface="Wingdings" pitchFamily="2" charset="2"/>
              <a:buChar char="v"/>
            </a:pPr>
            <a:r>
              <a:rPr lang="en-US" b="1" dirty="0"/>
              <a:t>In heavy infections</a:t>
            </a:r>
            <a:r>
              <a:rPr lang="en-US" dirty="0"/>
              <a:t>, </a:t>
            </a:r>
            <a:r>
              <a:rPr lang="en-US" u="sng" dirty="0"/>
              <a:t>esp. in children</a:t>
            </a:r>
            <a:r>
              <a:rPr lang="en-US" dirty="0"/>
              <a:t>, worm masses may cause </a:t>
            </a:r>
            <a:r>
              <a:rPr lang="en-US" dirty="0">
                <a:solidFill>
                  <a:srgbClr val="FF0000"/>
                </a:solidFill>
              </a:rPr>
              <a:t>intestinal obstruction of the bile and pancreatic ducts</a:t>
            </a:r>
            <a:r>
              <a:rPr lang="en-US" dirty="0"/>
              <a:t>, leading to fatality</a:t>
            </a:r>
          </a:p>
          <a:p>
            <a:pPr marL="0" indent="0">
              <a:buNone/>
            </a:pPr>
            <a:endParaRPr lang="en-US" dirty="0"/>
          </a:p>
        </p:txBody>
      </p:sp>
    </p:spTree>
    <p:extLst>
      <p:ext uri="{BB962C8B-B14F-4D97-AF65-F5344CB8AC3E}">
        <p14:creationId xmlns:p14="http://schemas.microsoft.com/office/powerpoint/2010/main" val="4080644212"/>
      </p:ext>
    </p:extLst>
  </p:cSld>
  <p:clrMapOvr>
    <a:masterClrMapping/>
  </p:clrMapOvr>
</p:sld>
</file>

<file path=ppt/slides/slide4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F0"/>
                </a:solidFill>
              </a:rPr>
              <a:t>Ascaris lumbricoides </a:t>
            </a:r>
            <a:r>
              <a:rPr lang="en-US" b="1" i="1" dirty="0"/>
              <a:t>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US" dirty="0">
                <a:solidFill>
                  <a:srgbClr val="00B0F0"/>
                </a:solidFill>
              </a:rPr>
              <a:t>Liver abscesses </a:t>
            </a:r>
            <a:r>
              <a:rPr lang="en-US" dirty="0"/>
              <a:t>and </a:t>
            </a:r>
            <a:r>
              <a:rPr lang="en-US" dirty="0">
                <a:solidFill>
                  <a:srgbClr val="00B0F0"/>
                </a:solidFill>
              </a:rPr>
              <a:t>appendicitis</a:t>
            </a:r>
            <a:r>
              <a:rPr lang="en-US" dirty="0"/>
              <a:t> </a:t>
            </a:r>
            <a:r>
              <a:rPr lang="en-US" u="sng" dirty="0"/>
              <a:t>caused by migrating worms may develop as complications</a:t>
            </a:r>
          </a:p>
          <a:p>
            <a:pPr lvl="0">
              <a:buFont typeface="Wingdings" pitchFamily="2" charset="2"/>
              <a:buChar char="v"/>
            </a:pPr>
            <a:r>
              <a:rPr lang="en-US" dirty="0">
                <a:solidFill>
                  <a:schemeClr val="accent6">
                    <a:lumMod val="75000"/>
                  </a:schemeClr>
                </a:solidFill>
              </a:rPr>
              <a:t>Worms may be vomited</a:t>
            </a:r>
            <a:r>
              <a:rPr lang="en-US" dirty="0"/>
              <a:t>, in cases, or </a:t>
            </a:r>
            <a:r>
              <a:rPr lang="en-US" dirty="0">
                <a:solidFill>
                  <a:schemeClr val="accent6">
                    <a:lumMod val="75000"/>
                  </a:schemeClr>
                </a:solidFill>
              </a:rPr>
              <a:t>pass out of the anus</a:t>
            </a:r>
            <a:r>
              <a:rPr lang="en-US" dirty="0"/>
              <a:t>.</a:t>
            </a:r>
          </a:p>
          <a:p>
            <a:pPr marL="0" indent="0" algn="ctr">
              <a:buNone/>
            </a:pPr>
            <a:r>
              <a:rPr lang="en-US" b="1" u="sng" dirty="0"/>
              <a:t>Prevention and Control</a:t>
            </a:r>
            <a:endParaRPr lang="en-US" u="sng" dirty="0"/>
          </a:p>
          <a:p>
            <a:pPr lvl="0">
              <a:buFont typeface="Wingdings" pitchFamily="2" charset="2"/>
              <a:buChar char="v"/>
            </a:pPr>
            <a:r>
              <a:rPr lang="en-US" dirty="0">
                <a:solidFill>
                  <a:srgbClr val="00B050"/>
                </a:solidFill>
              </a:rPr>
              <a:t>Preventing soil pollution </a:t>
            </a:r>
            <a:r>
              <a:rPr lang="en-US" u="sng" dirty="0"/>
              <a:t>by avoiding use of untreated human faeces as fertilizer</a:t>
            </a:r>
            <a:r>
              <a:rPr lang="en-US" dirty="0"/>
              <a:t>, and </a:t>
            </a:r>
            <a:r>
              <a:rPr lang="en-US" dirty="0">
                <a:solidFill>
                  <a:srgbClr val="00B050"/>
                </a:solidFill>
              </a:rPr>
              <a:t>use of latrines</a:t>
            </a:r>
          </a:p>
        </p:txBody>
      </p:sp>
    </p:spTree>
    <p:extLst>
      <p:ext uri="{BB962C8B-B14F-4D97-AF65-F5344CB8AC3E}">
        <p14:creationId xmlns:p14="http://schemas.microsoft.com/office/powerpoint/2010/main" val="1460212728"/>
      </p:ext>
    </p:extLst>
  </p:cSld>
  <p:clrMapOvr>
    <a:masterClrMapping/>
  </p:clrMapOvr>
</p:sld>
</file>

<file path=ppt/slides/slide4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F0"/>
                </a:solidFill>
              </a:rPr>
              <a:t>Ascaris lumbricoides</a:t>
            </a:r>
            <a:r>
              <a:rPr lang="en-US" b="1" i="1" dirty="0"/>
              <a:t>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rgbClr val="00B050"/>
                </a:solidFill>
              </a:rPr>
              <a:t>Treatment of infected individuals</a:t>
            </a:r>
          </a:p>
          <a:p>
            <a:pPr lvl="0">
              <a:buFont typeface="Wingdings" pitchFamily="2" charset="2"/>
              <a:buChar char="v"/>
            </a:pPr>
            <a:r>
              <a:rPr lang="en-US" dirty="0"/>
              <a:t>Preventing eggs being ingested by </a:t>
            </a:r>
            <a:r>
              <a:rPr lang="en-US" dirty="0">
                <a:solidFill>
                  <a:srgbClr val="00B050"/>
                </a:solidFill>
              </a:rPr>
              <a:t>washing hands before eating</a:t>
            </a:r>
            <a:r>
              <a:rPr lang="en-US" dirty="0"/>
              <a:t>; </a:t>
            </a:r>
            <a:r>
              <a:rPr lang="en-US" dirty="0">
                <a:solidFill>
                  <a:srgbClr val="00B050"/>
                </a:solidFill>
              </a:rPr>
              <a:t>after defecating</a:t>
            </a:r>
            <a:r>
              <a:rPr lang="en-US" dirty="0"/>
              <a:t>, </a:t>
            </a:r>
            <a:r>
              <a:rPr lang="en-US" u="sng" dirty="0"/>
              <a:t>using soap</a:t>
            </a:r>
          </a:p>
          <a:p>
            <a:pPr lvl="0">
              <a:buFont typeface="Wingdings" pitchFamily="2" charset="2"/>
              <a:buChar char="v"/>
            </a:pPr>
            <a:r>
              <a:rPr lang="en-US" dirty="0">
                <a:solidFill>
                  <a:srgbClr val="00B050"/>
                </a:solidFill>
              </a:rPr>
              <a:t>Avoiding eating uncooked vegetables, fruits, etc. unless they have been washed thoroughly with soap and water </a:t>
            </a:r>
            <a:r>
              <a:rPr lang="en-US" dirty="0"/>
              <a:t>or </a:t>
            </a:r>
            <a:r>
              <a:rPr lang="en-US" dirty="0">
                <a:solidFill>
                  <a:srgbClr val="00B050"/>
                </a:solidFill>
              </a:rPr>
              <a:t>vinegar</a:t>
            </a:r>
            <a:r>
              <a:rPr lang="en-US" dirty="0"/>
              <a:t> as the case might be.</a:t>
            </a:r>
          </a:p>
          <a:p>
            <a:pPr marL="0" indent="0">
              <a:buNone/>
            </a:pPr>
            <a:endParaRPr lang="en-US" dirty="0"/>
          </a:p>
        </p:txBody>
      </p:sp>
    </p:spTree>
    <p:extLst>
      <p:ext uri="{BB962C8B-B14F-4D97-AF65-F5344CB8AC3E}">
        <p14:creationId xmlns:p14="http://schemas.microsoft.com/office/powerpoint/2010/main" val="1928451960"/>
      </p:ext>
    </p:extLst>
  </p:cSld>
  <p:clrMapOvr>
    <a:masterClrMapping/>
  </p:clrMapOvr>
</p:sld>
</file>

<file path=ppt/slides/slide4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F0"/>
                </a:solidFill>
              </a:rPr>
              <a:t>Ascaris lumbricoides </a:t>
            </a:r>
            <a:r>
              <a:rPr lang="en-US" b="1" i="1" dirty="0"/>
              <a:t>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u="sng" dirty="0"/>
              <a:t>Diagnosis</a:t>
            </a:r>
            <a:endParaRPr lang="en-US" u="sng" dirty="0"/>
          </a:p>
          <a:p>
            <a:pPr lvl="0">
              <a:buFont typeface="Wingdings" pitchFamily="2" charset="2"/>
              <a:buChar char="v"/>
            </a:pPr>
            <a:r>
              <a:rPr lang="en-US" dirty="0">
                <a:solidFill>
                  <a:schemeClr val="accent6">
                    <a:lumMod val="75000"/>
                  </a:schemeClr>
                </a:solidFill>
              </a:rPr>
              <a:t>Examination of faeces for the eggs</a:t>
            </a:r>
          </a:p>
          <a:p>
            <a:pPr lvl="0">
              <a:buFont typeface="Wingdings" pitchFamily="2" charset="2"/>
              <a:buChar char="v"/>
            </a:pPr>
            <a:r>
              <a:rPr lang="en-US" dirty="0">
                <a:solidFill>
                  <a:schemeClr val="accent6">
                    <a:lumMod val="75000"/>
                  </a:schemeClr>
                </a:solidFill>
              </a:rPr>
              <a:t>Identification of the worms expelled through the anus or mouth</a:t>
            </a:r>
          </a:p>
          <a:p>
            <a:endParaRPr lang="en-US" dirty="0"/>
          </a:p>
        </p:txBody>
      </p:sp>
    </p:spTree>
    <p:extLst>
      <p:ext uri="{BB962C8B-B14F-4D97-AF65-F5344CB8AC3E}">
        <p14:creationId xmlns:p14="http://schemas.microsoft.com/office/powerpoint/2010/main" val="2635157388"/>
      </p:ext>
    </p:extLst>
  </p:cSld>
  <p:clrMapOvr>
    <a:masterClrMapping/>
  </p:clrMapOvr>
</p:sld>
</file>

<file path=ppt/slides/slide5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C00000"/>
                </a:solidFill>
              </a:rPr>
              <a:t>Enterobius vermicularis</a:t>
            </a:r>
            <a:br>
              <a:rPr lang="en-US" dirty="0"/>
            </a:b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a:buFont typeface="Wingdings" pitchFamily="2" charset="2"/>
              <a:buChar char="v"/>
            </a:pPr>
            <a:r>
              <a:rPr lang="en-US" dirty="0"/>
              <a:t>This belongs to the Order </a:t>
            </a:r>
            <a:r>
              <a:rPr lang="en-US" dirty="0">
                <a:solidFill>
                  <a:srgbClr val="00B0F0"/>
                </a:solidFill>
              </a:rPr>
              <a:t>Oxyurida</a:t>
            </a:r>
            <a:r>
              <a:rPr lang="en-US" dirty="0"/>
              <a:t> and it is known as the </a:t>
            </a:r>
            <a:r>
              <a:rPr lang="en-US" dirty="0">
                <a:solidFill>
                  <a:srgbClr val="C00000"/>
                </a:solidFill>
              </a:rPr>
              <a:t>pinworm</a:t>
            </a:r>
            <a:r>
              <a:rPr lang="en-US" dirty="0"/>
              <a:t> or </a:t>
            </a:r>
            <a:r>
              <a:rPr lang="en-US" dirty="0">
                <a:solidFill>
                  <a:srgbClr val="C00000"/>
                </a:solidFill>
              </a:rPr>
              <a:t>Seatworm</a:t>
            </a:r>
            <a:r>
              <a:rPr lang="en-US" dirty="0"/>
              <a:t> or </a:t>
            </a:r>
            <a:r>
              <a:rPr lang="en-US" dirty="0">
                <a:solidFill>
                  <a:srgbClr val="C00000"/>
                </a:solidFill>
              </a:rPr>
              <a:t>threadworm</a:t>
            </a:r>
            <a:r>
              <a:rPr lang="en-US" dirty="0"/>
              <a:t>. </a:t>
            </a:r>
          </a:p>
          <a:p>
            <a:pPr>
              <a:buFont typeface="Wingdings" pitchFamily="2" charset="2"/>
              <a:buChar char="v"/>
            </a:pPr>
            <a:r>
              <a:rPr lang="en-US" dirty="0"/>
              <a:t>It causes the disease </a:t>
            </a:r>
            <a:r>
              <a:rPr lang="en-US" dirty="0">
                <a:solidFill>
                  <a:srgbClr val="FF0000"/>
                </a:solidFill>
              </a:rPr>
              <a:t>enterobiasis</a:t>
            </a:r>
            <a:r>
              <a:rPr lang="en-US" dirty="0"/>
              <a:t>.</a:t>
            </a:r>
          </a:p>
          <a:p>
            <a:pPr algn="ctr">
              <a:buFont typeface="Wingdings" pitchFamily="2" charset="2"/>
              <a:buChar char="v"/>
            </a:pPr>
            <a:endParaRPr lang="en-US" b="1" dirty="0"/>
          </a:p>
          <a:p>
            <a:pPr marL="0" indent="0" algn="ctr">
              <a:buNone/>
            </a:pPr>
            <a:r>
              <a:rPr lang="en-US" b="1" u="sng" dirty="0"/>
              <a:t>Distribution</a:t>
            </a:r>
            <a:endParaRPr lang="en-US" u="sng" dirty="0"/>
          </a:p>
          <a:p>
            <a:pPr lvl="0">
              <a:buFont typeface="Wingdings" pitchFamily="2" charset="2"/>
              <a:buChar char="v"/>
            </a:pPr>
            <a:r>
              <a:rPr lang="en-US" dirty="0"/>
              <a:t>Widespread in </a:t>
            </a:r>
            <a:r>
              <a:rPr lang="en-US" u="sng" dirty="0"/>
              <a:t>temperate climates</a:t>
            </a:r>
            <a:r>
              <a:rPr lang="en-US" dirty="0"/>
              <a:t>; unlike most helminthes, </a:t>
            </a:r>
            <a:r>
              <a:rPr lang="en-US" u="sng" dirty="0"/>
              <a:t>it is rare in the tropics</a:t>
            </a:r>
            <a:r>
              <a:rPr lang="en-US" dirty="0"/>
              <a:t>. </a:t>
            </a:r>
            <a:r>
              <a:rPr lang="en-US" dirty="0">
                <a:solidFill>
                  <a:srgbClr val="00B050"/>
                </a:solidFill>
              </a:rPr>
              <a:t>Children</a:t>
            </a:r>
            <a:r>
              <a:rPr lang="en-US" dirty="0"/>
              <a:t> </a:t>
            </a:r>
            <a:r>
              <a:rPr lang="en-US" u="sng" dirty="0"/>
              <a:t>more commonly infected</a:t>
            </a:r>
            <a:r>
              <a:rPr lang="en-US" dirty="0"/>
              <a:t>.</a:t>
            </a:r>
          </a:p>
          <a:p>
            <a:pPr lvl="0">
              <a:buFont typeface="Wingdings" pitchFamily="2" charset="2"/>
              <a:buChar char="v"/>
            </a:pPr>
            <a:r>
              <a:rPr lang="en-US" dirty="0"/>
              <a:t>Usually, </a:t>
            </a:r>
            <a:r>
              <a:rPr lang="en-US" u="sng" dirty="0"/>
              <a:t>every member of a family is infected once it reaches a household</a:t>
            </a:r>
            <a:r>
              <a:rPr lang="en-US" dirty="0"/>
              <a:t>.</a:t>
            </a:r>
          </a:p>
          <a:p>
            <a:pPr marL="0" indent="0">
              <a:buNone/>
            </a:pPr>
            <a:endParaRPr lang="en-US" dirty="0"/>
          </a:p>
        </p:txBody>
      </p:sp>
    </p:spTree>
    <p:extLst>
      <p:ext uri="{BB962C8B-B14F-4D97-AF65-F5344CB8AC3E}">
        <p14:creationId xmlns:p14="http://schemas.microsoft.com/office/powerpoint/2010/main" val="521287721"/>
      </p:ext>
    </p:extLst>
  </p:cSld>
  <p:clrMapOvr>
    <a:masterClrMapping/>
  </p:clrMapOvr>
</p:sld>
</file>

<file path=ppt/slides/slide5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C00000"/>
                </a:solidFill>
              </a:rPr>
              <a:t>Enterobius vermicularis </a:t>
            </a:r>
            <a:r>
              <a:rPr lang="en-US" b="1" i="1" dirty="0"/>
              <a:t>cont’d</a:t>
            </a:r>
            <a:br>
              <a:rPr lang="en-US" dirty="0"/>
            </a:br>
            <a:endParaRPr lang="en-US" dirty="0"/>
          </a:p>
        </p:txBody>
      </p:sp>
      <p:sp>
        <p:nvSpPr>
          <p:cNvPr id="3" name="Content Placeholder 2"/>
          <p:cNvSpPr>
            <a:spLocks noGrp="1"/>
          </p:cNvSpPr>
          <p:nvPr>
            <p:ph idx="1"/>
          </p:nvPr>
        </p:nvSpPr>
        <p:spPr>
          <a:xfrm>
            <a:off x="457200" y="1600200"/>
            <a:ext cx="8229600" cy="5257800"/>
          </a:xfrm>
        </p:spPr>
        <p:txBody>
          <a:bodyPr>
            <a:normAutofit fontScale="92500" lnSpcReduction="20000"/>
          </a:bodyPr>
          <a:lstStyle/>
          <a:p>
            <a:pPr marL="0" indent="0" algn="ctr">
              <a:buNone/>
            </a:pPr>
            <a:r>
              <a:rPr lang="en-US" b="1" u="sng" dirty="0"/>
              <a:t>Transmission</a:t>
            </a:r>
            <a:r>
              <a:rPr lang="en-US" dirty="0"/>
              <a:t> </a:t>
            </a:r>
          </a:p>
          <a:p>
            <a:pPr lvl="0">
              <a:buFont typeface="Wingdings" pitchFamily="2" charset="2"/>
              <a:buChar char="v"/>
            </a:pPr>
            <a:r>
              <a:rPr lang="en-US" dirty="0"/>
              <a:t>By </a:t>
            </a:r>
            <a:r>
              <a:rPr lang="en-US" dirty="0">
                <a:solidFill>
                  <a:srgbClr val="00B0F0"/>
                </a:solidFill>
              </a:rPr>
              <a:t>ingestion of infective eggs</a:t>
            </a:r>
            <a:r>
              <a:rPr lang="en-US" dirty="0"/>
              <a:t>; eggs are deposited on the anal skin usually at night and within a few hours of being laid, may contain infective larva</a:t>
            </a:r>
          </a:p>
          <a:p>
            <a:pPr lvl="0">
              <a:buFont typeface="Wingdings" pitchFamily="2" charset="2"/>
              <a:buChar char="v"/>
            </a:pPr>
            <a:r>
              <a:rPr lang="en-US" u="sng" dirty="0"/>
              <a:t>Infection is easily spread by way of clothing or bedding</a:t>
            </a:r>
          </a:p>
          <a:p>
            <a:pPr lvl="0">
              <a:buFont typeface="Wingdings" pitchFamily="2" charset="2"/>
              <a:buChar char="v"/>
            </a:pPr>
            <a:r>
              <a:rPr lang="en-US" dirty="0">
                <a:solidFill>
                  <a:srgbClr val="00B0F0"/>
                </a:solidFill>
              </a:rPr>
              <a:t>Autoinfection is common in children </a:t>
            </a:r>
            <a:r>
              <a:rPr lang="en-US" u="sng" dirty="0"/>
              <a:t>because the eggs cause intense irritation and scratching of the infected area leads to contamination of the fingers</a:t>
            </a:r>
          </a:p>
          <a:p>
            <a:pPr lvl="0">
              <a:buFont typeface="Wingdings" pitchFamily="2" charset="2"/>
              <a:buChar char="v"/>
            </a:pPr>
            <a:r>
              <a:rPr lang="en-US" dirty="0">
                <a:solidFill>
                  <a:srgbClr val="00B0F0"/>
                </a:solidFill>
              </a:rPr>
              <a:t>Airborne transmission </a:t>
            </a:r>
            <a:r>
              <a:rPr lang="en-US" dirty="0"/>
              <a:t>may also occur.</a:t>
            </a:r>
          </a:p>
          <a:p>
            <a:pPr marL="0" indent="0">
              <a:buNone/>
            </a:pPr>
            <a:r>
              <a:rPr lang="en-US" dirty="0"/>
              <a:t> </a:t>
            </a:r>
          </a:p>
          <a:p>
            <a:endParaRPr lang="en-US" dirty="0"/>
          </a:p>
        </p:txBody>
      </p:sp>
    </p:spTree>
    <p:extLst>
      <p:ext uri="{BB962C8B-B14F-4D97-AF65-F5344CB8AC3E}">
        <p14:creationId xmlns:p14="http://schemas.microsoft.com/office/powerpoint/2010/main" val="2233730583"/>
      </p:ext>
    </p:extLst>
  </p:cSld>
  <p:clrMapOvr>
    <a:masterClrMapping/>
  </p:clrMapOvr>
</p:sld>
</file>

<file path=ppt/slides/slide5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C00000"/>
                </a:solidFill>
              </a:rPr>
              <a:t>Enterobius vermicularis </a:t>
            </a:r>
            <a:r>
              <a:rPr lang="en-US" b="1" i="1" dirty="0"/>
              <a:t>cont’d</a:t>
            </a:r>
            <a:br>
              <a:rPr lang="en-US" dirty="0"/>
            </a:br>
            <a:endParaRPr lang="en-US" dirty="0"/>
          </a:p>
        </p:txBody>
      </p:sp>
      <p:sp>
        <p:nvSpPr>
          <p:cNvPr id="3" name="Content Placeholder 2"/>
          <p:cNvSpPr>
            <a:spLocks noGrp="1"/>
          </p:cNvSpPr>
          <p:nvPr>
            <p:ph idx="1"/>
          </p:nvPr>
        </p:nvSpPr>
        <p:spPr>
          <a:xfrm>
            <a:off x="457200" y="1600200"/>
            <a:ext cx="8229600" cy="4800600"/>
          </a:xfrm>
        </p:spPr>
        <p:txBody>
          <a:bodyPr>
            <a:normAutofit fontScale="92500" lnSpcReduction="20000"/>
          </a:bodyPr>
          <a:lstStyle/>
          <a:p>
            <a:pPr marL="0" indent="0" algn="ctr">
              <a:buNone/>
            </a:pPr>
            <a:r>
              <a:rPr lang="en-US" b="1" u="sng" dirty="0"/>
              <a:t>Life Cycle</a:t>
            </a:r>
            <a:endParaRPr lang="en-US" u="sng" dirty="0"/>
          </a:p>
          <a:p>
            <a:pPr lvl="0">
              <a:buFont typeface="Wingdings" pitchFamily="2" charset="2"/>
              <a:buChar char="v"/>
            </a:pPr>
            <a:r>
              <a:rPr lang="en-US" dirty="0">
                <a:solidFill>
                  <a:srgbClr val="00B0F0"/>
                </a:solidFill>
              </a:rPr>
              <a:t>Ingested eggs hatch in the intestine</a:t>
            </a:r>
          </a:p>
          <a:p>
            <a:pPr lvl="0">
              <a:buFont typeface="Wingdings" pitchFamily="2" charset="2"/>
              <a:buChar char="v"/>
            </a:pPr>
            <a:r>
              <a:rPr lang="en-US" u="sng" dirty="0"/>
              <a:t>Larvae develop into fully mature worms in the </a:t>
            </a:r>
            <a:r>
              <a:rPr lang="en-US" u="sng" dirty="0">
                <a:solidFill>
                  <a:schemeClr val="accent6">
                    <a:lumMod val="75000"/>
                  </a:schemeClr>
                </a:solidFill>
              </a:rPr>
              <a:t>large intestine </a:t>
            </a:r>
            <a:r>
              <a:rPr lang="en-US" dirty="0"/>
              <a:t>but mostly inhabit the </a:t>
            </a:r>
            <a:r>
              <a:rPr lang="en-US" dirty="0">
                <a:solidFill>
                  <a:schemeClr val="accent6">
                    <a:lumMod val="75000"/>
                  </a:schemeClr>
                </a:solidFill>
              </a:rPr>
              <a:t>caecum</a:t>
            </a:r>
            <a:r>
              <a:rPr lang="en-US" dirty="0"/>
              <a:t> and </a:t>
            </a:r>
            <a:r>
              <a:rPr lang="en-US" dirty="0">
                <a:solidFill>
                  <a:schemeClr val="accent6">
                    <a:lumMod val="75000"/>
                  </a:schemeClr>
                </a:solidFill>
              </a:rPr>
              <a:t>appendix</a:t>
            </a:r>
          </a:p>
          <a:p>
            <a:pPr lvl="0">
              <a:buFont typeface="Wingdings" pitchFamily="2" charset="2"/>
              <a:buChar char="v"/>
            </a:pPr>
            <a:r>
              <a:rPr lang="en-US" u="sng" dirty="0"/>
              <a:t>After mating, female worms migrate to the </a:t>
            </a:r>
            <a:r>
              <a:rPr lang="en-US" u="sng" dirty="0">
                <a:solidFill>
                  <a:schemeClr val="accent6">
                    <a:lumMod val="75000"/>
                  </a:schemeClr>
                </a:solidFill>
              </a:rPr>
              <a:t>rectum</a:t>
            </a:r>
            <a:r>
              <a:rPr lang="en-US" u="sng" dirty="0"/>
              <a:t>, pass pot of the anus and lay their eggs on the </a:t>
            </a:r>
            <a:r>
              <a:rPr lang="en-US" u="sng" dirty="0">
                <a:solidFill>
                  <a:schemeClr val="accent6">
                    <a:lumMod val="75000"/>
                  </a:schemeClr>
                </a:solidFill>
              </a:rPr>
              <a:t>perianal skin</a:t>
            </a:r>
          </a:p>
          <a:p>
            <a:pPr lvl="0">
              <a:buFont typeface="Wingdings" pitchFamily="2" charset="2"/>
              <a:buChar char="v"/>
            </a:pPr>
            <a:r>
              <a:rPr lang="en-US" dirty="0"/>
              <a:t>Eggs develop infective larvae in about 6 weeks, the eggs themselves, being produced about 6 weeks after infection.</a:t>
            </a:r>
          </a:p>
          <a:p>
            <a:endParaRPr lang="en-US" dirty="0"/>
          </a:p>
        </p:txBody>
      </p:sp>
    </p:spTree>
    <p:extLst>
      <p:ext uri="{BB962C8B-B14F-4D97-AF65-F5344CB8AC3E}">
        <p14:creationId xmlns:p14="http://schemas.microsoft.com/office/powerpoint/2010/main" val="544741943"/>
      </p:ext>
    </p:extLst>
  </p:cSld>
  <p:clrMapOvr>
    <a:masterClrMapping/>
  </p:clrMapOvr>
</p:sld>
</file>

<file path=ppt/slides/slide5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C00000"/>
                </a:solidFill>
              </a:rPr>
              <a:t>Enterobius vermicularis </a:t>
            </a:r>
            <a:r>
              <a:rPr lang="en-US" b="1" i="1" dirty="0"/>
              <a:t>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US" u="sng" dirty="0"/>
              <a:t>Infective eggs may remain viable on clothing</a:t>
            </a:r>
            <a:r>
              <a:rPr lang="en-US" dirty="0"/>
              <a:t>, </a:t>
            </a:r>
            <a:r>
              <a:rPr lang="en-US" u="sng" dirty="0"/>
              <a:t>household objects </a:t>
            </a:r>
            <a:r>
              <a:rPr lang="en-US" dirty="0"/>
              <a:t>or </a:t>
            </a:r>
            <a:r>
              <a:rPr lang="en-US" u="sng" dirty="0"/>
              <a:t>in dust for several weeks</a:t>
            </a:r>
            <a:r>
              <a:rPr lang="en-US" dirty="0"/>
              <a:t>, depending on climatic conditions; </a:t>
            </a:r>
          </a:p>
          <a:p>
            <a:pPr lvl="0">
              <a:buFont typeface="Wingdings" pitchFamily="2" charset="2"/>
              <a:buChar char="v"/>
            </a:pPr>
            <a:r>
              <a:rPr lang="en-US" dirty="0">
                <a:solidFill>
                  <a:schemeClr val="accent6">
                    <a:lumMod val="75000"/>
                  </a:schemeClr>
                </a:solidFill>
              </a:rPr>
              <a:t>warm temperatures </a:t>
            </a:r>
            <a:r>
              <a:rPr lang="en-US" dirty="0"/>
              <a:t>and </a:t>
            </a:r>
            <a:r>
              <a:rPr lang="en-US" dirty="0">
                <a:solidFill>
                  <a:schemeClr val="accent6">
                    <a:lumMod val="75000"/>
                  </a:schemeClr>
                </a:solidFill>
              </a:rPr>
              <a:t>high humidity </a:t>
            </a:r>
            <a:r>
              <a:rPr lang="en-US" u="sng" dirty="0"/>
              <a:t>favour survival</a:t>
            </a:r>
          </a:p>
          <a:p>
            <a:pPr lvl="0">
              <a:buFont typeface="Wingdings" pitchFamily="2" charset="2"/>
              <a:buChar char="v"/>
            </a:pPr>
            <a:r>
              <a:rPr lang="en-US" u="sng" dirty="0"/>
              <a:t>Larvae hatching on the perianal skin may migrate back into the intestine where they may grow into mature worms, </a:t>
            </a:r>
            <a:r>
              <a:rPr lang="en-US" u="sng" dirty="0">
                <a:solidFill>
                  <a:srgbClr val="00B0F0"/>
                </a:solidFill>
              </a:rPr>
              <a:t>an autoinfection</a:t>
            </a:r>
          </a:p>
          <a:p>
            <a:pPr marL="0" indent="0">
              <a:buNone/>
            </a:pPr>
            <a:endParaRPr lang="en-US" dirty="0"/>
          </a:p>
        </p:txBody>
      </p:sp>
    </p:spTree>
    <p:extLst>
      <p:ext uri="{BB962C8B-B14F-4D97-AF65-F5344CB8AC3E}">
        <p14:creationId xmlns:p14="http://schemas.microsoft.com/office/powerpoint/2010/main" val="543989667"/>
      </p:ext>
    </p:extLst>
  </p:cSld>
  <p:clrMapOvr>
    <a:masterClrMapping/>
  </p:clrMapOvr>
</p:sld>
</file>

<file path=ppt/slides/slide5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C00000"/>
                </a:solidFill>
              </a:rPr>
              <a:t>Enterobius vermicularis </a:t>
            </a:r>
            <a:r>
              <a:rPr lang="en-US" b="1" i="1" dirty="0"/>
              <a:t>cont’d</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u="sng" dirty="0"/>
              <a:t>Symptoms and Pathology</a:t>
            </a:r>
          </a:p>
          <a:p>
            <a:pPr lvl="0">
              <a:buFont typeface="Wingdings" pitchFamily="2" charset="2"/>
              <a:buChar char="v"/>
            </a:pPr>
            <a:r>
              <a:rPr lang="en-US" u="sng" dirty="0"/>
              <a:t>Infection rarely causes serious symptoms</a:t>
            </a:r>
            <a:r>
              <a:rPr lang="en-US" dirty="0"/>
              <a:t>, </a:t>
            </a:r>
            <a:r>
              <a:rPr lang="en-US" b="1" dirty="0"/>
              <a:t>but</a:t>
            </a:r>
            <a:r>
              <a:rPr lang="en-US" dirty="0"/>
              <a:t> </a:t>
            </a:r>
            <a:r>
              <a:rPr lang="en-US" dirty="0">
                <a:solidFill>
                  <a:srgbClr val="00B0F0"/>
                </a:solidFill>
              </a:rPr>
              <a:t>there may be intense irritation around the anus </a:t>
            </a:r>
            <a:r>
              <a:rPr lang="en-US" dirty="0"/>
              <a:t>and </a:t>
            </a:r>
            <a:r>
              <a:rPr lang="en-US" u="sng" dirty="0"/>
              <a:t>in females</a:t>
            </a:r>
            <a:r>
              <a:rPr lang="en-US" dirty="0"/>
              <a:t>, </a:t>
            </a:r>
            <a:r>
              <a:rPr lang="en-US" dirty="0">
                <a:solidFill>
                  <a:schemeClr val="accent6">
                    <a:lumMod val="75000"/>
                  </a:schemeClr>
                </a:solidFill>
              </a:rPr>
              <a:t>infection of the urinary and genital tract may occur</a:t>
            </a:r>
          </a:p>
          <a:p>
            <a:pPr lvl="0">
              <a:buFont typeface="Wingdings" pitchFamily="2" charset="2"/>
              <a:buChar char="v"/>
            </a:pPr>
            <a:r>
              <a:rPr lang="en-US" dirty="0"/>
              <a:t>Worms may enter the appendix and cause </a:t>
            </a:r>
            <a:r>
              <a:rPr lang="en-US" dirty="0">
                <a:solidFill>
                  <a:srgbClr val="00B0F0"/>
                </a:solidFill>
              </a:rPr>
              <a:t>appendicitis</a:t>
            </a:r>
          </a:p>
        </p:txBody>
      </p:sp>
    </p:spTree>
    <p:extLst>
      <p:ext uri="{BB962C8B-B14F-4D97-AF65-F5344CB8AC3E}">
        <p14:creationId xmlns:p14="http://schemas.microsoft.com/office/powerpoint/2010/main" val="1440091469"/>
      </p:ext>
    </p:extLst>
  </p:cSld>
  <p:clrMapOvr>
    <a:masterClrMapping/>
  </p:clrMapOvr>
</p:sld>
</file>

<file path=ppt/slides/slide5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C00000"/>
                </a:solidFill>
              </a:rPr>
              <a:t>Enterobius vermicularis </a:t>
            </a:r>
            <a:r>
              <a:rPr lang="en-US" b="1" i="1" dirty="0"/>
              <a:t>cont’d</a:t>
            </a:r>
            <a:br>
              <a:rPr lang="en-US" dirty="0"/>
            </a:br>
            <a:endParaRPr lang="en-US" dirty="0"/>
          </a:p>
        </p:txBody>
      </p:sp>
      <p:sp>
        <p:nvSpPr>
          <p:cNvPr id="3" name="Content Placeholder 2"/>
          <p:cNvSpPr>
            <a:spLocks noGrp="1"/>
          </p:cNvSpPr>
          <p:nvPr>
            <p:ph idx="1"/>
          </p:nvPr>
        </p:nvSpPr>
        <p:spPr>
          <a:xfrm>
            <a:off x="457200" y="1600200"/>
            <a:ext cx="8458200" cy="5029200"/>
          </a:xfrm>
        </p:spPr>
        <p:txBody>
          <a:bodyPr>
            <a:normAutofit fontScale="92500"/>
          </a:bodyPr>
          <a:lstStyle/>
          <a:p>
            <a:pPr marL="0" indent="0" algn="ctr">
              <a:buNone/>
            </a:pPr>
            <a:r>
              <a:rPr lang="en-US" b="1" u="sng" dirty="0"/>
              <a:t>Prevention and Control</a:t>
            </a:r>
            <a:endParaRPr lang="en-US" u="sng" dirty="0"/>
          </a:p>
          <a:p>
            <a:pPr lvl="0">
              <a:buFont typeface="Wingdings" pitchFamily="2" charset="2"/>
              <a:buChar char="v"/>
            </a:pPr>
            <a:r>
              <a:rPr lang="en-US" u="sng" dirty="0"/>
              <a:t>Eggs are infective soon on laying hence entire family or community may be infected </a:t>
            </a:r>
            <a:r>
              <a:rPr lang="en-US" dirty="0">
                <a:solidFill>
                  <a:srgbClr val="C00000"/>
                </a:solidFill>
              </a:rPr>
              <a:t>through improper handling of bedding and other articles that have become contaminated.</a:t>
            </a:r>
          </a:p>
          <a:p>
            <a:pPr lvl="0">
              <a:buFont typeface="Wingdings" pitchFamily="2" charset="2"/>
              <a:buChar char="v"/>
            </a:pPr>
            <a:r>
              <a:rPr lang="en-US" dirty="0"/>
              <a:t>Control and Preventive measures include</a:t>
            </a:r>
          </a:p>
          <a:p>
            <a:pPr lvl="0">
              <a:buFont typeface="Wingdings" pitchFamily="2" charset="2"/>
              <a:buChar char="v"/>
            </a:pPr>
            <a:r>
              <a:rPr lang="en-US" dirty="0">
                <a:solidFill>
                  <a:srgbClr val="00B050"/>
                </a:solidFill>
              </a:rPr>
              <a:t>Treatment of all members of a family in which infection has occurred</a:t>
            </a:r>
          </a:p>
          <a:p>
            <a:pPr lvl="0">
              <a:buFont typeface="Wingdings" pitchFamily="2" charset="2"/>
              <a:buChar char="v"/>
            </a:pPr>
            <a:r>
              <a:rPr lang="en-US" dirty="0">
                <a:solidFill>
                  <a:srgbClr val="00B050"/>
                </a:solidFill>
              </a:rPr>
              <a:t>Washing of the anal skin each morning</a:t>
            </a:r>
            <a:r>
              <a:rPr lang="en-US" dirty="0"/>
              <a:t>, </a:t>
            </a:r>
            <a:r>
              <a:rPr lang="en-US" u="sng" dirty="0"/>
              <a:t>soon after waking, using soap, and of clothes worn at night</a:t>
            </a:r>
          </a:p>
          <a:p>
            <a:pPr lvl="0"/>
            <a:endParaRPr lang="en-US" dirty="0"/>
          </a:p>
          <a:p>
            <a:endParaRPr lang="en-US" dirty="0"/>
          </a:p>
          <a:p>
            <a:endParaRPr lang="en-US" dirty="0"/>
          </a:p>
        </p:txBody>
      </p:sp>
    </p:spTree>
    <p:extLst>
      <p:ext uri="{BB962C8B-B14F-4D97-AF65-F5344CB8AC3E}">
        <p14:creationId xmlns:p14="http://schemas.microsoft.com/office/powerpoint/2010/main" val="3794544527"/>
      </p:ext>
    </p:extLst>
  </p:cSld>
  <p:clrMapOvr>
    <a:masterClrMapping/>
  </p:clrMapOvr>
</p:sld>
</file>

<file path=ppt/slides/slide5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C00000"/>
                </a:solidFill>
              </a:rPr>
              <a:t>Enterobius vermicularis </a:t>
            </a:r>
            <a:r>
              <a:rPr lang="en-US" b="1" i="1" dirty="0"/>
              <a:t>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u="sng" dirty="0"/>
              <a:t>Diagnosis</a:t>
            </a:r>
            <a:endParaRPr lang="en-US" u="sng" dirty="0"/>
          </a:p>
          <a:p>
            <a:pPr lvl="0">
              <a:buFont typeface="Wingdings" pitchFamily="2" charset="2"/>
              <a:buChar char="v"/>
            </a:pPr>
            <a:r>
              <a:rPr lang="en-US" dirty="0">
                <a:solidFill>
                  <a:srgbClr val="00B0F0"/>
                </a:solidFill>
              </a:rPr>
              <a:t>Examination of faeces and of perianal skin for eggs</a:t>
            </a:r>
          </a:p>
          <a:p>
            <a:pPr lvl="0">
              <a:buFont typeface="Wingdings" pitchFamily="2" charset="2"/>
              <a:buChar char="v"/>
            </a:pPr>
            <a:r>
              <a:rPr lang="en-US" dirty="0">
                <a:solidFill>
                  <a:srgbClr val="00B0F0"/>
                </a:solidFill>
              </a:rPr>
              <a:t>Finding the worms in faeces </a:t>
            </a:r>
            <a:r>
              <a:rPr lang="en-US" dirty="0"/>
              <a:t>and </a:t>
            </a:r>
            <a:r>
              <a:rPr lang="en-US" u="sng" dirty="0"/>
              <a:t>in the case of females</a:t>
            </a:r>
            <a:r>
              <a:rPr lang="en-US" dirty="0"/>
              <a:t> </a:t>
            </a:r>
            <a:r>
              <a:rPr lang="en-US" dirty="0">
                <a:solidFill>
                  <a:srgbClr val="00B0F0"/>
                </a:solidFill>
              </a:rPr>
              <a:t>in urine specimens</a:t>
            </a:r>
            <a:r>
              <a:rPr lang="en-US" dirty="0"/>
              <a:t>.</a:t>
            </a:r>
          </a:p>
          <a:p>
            <a:pPr marL="0" indent="0">
              <a:buNone/>
            </a:pPr>
            <a:endParaRPr lang="en-US" dirty="0"/>
          </a:p>
          <a:p>
            <a:endParaRPr lang="en-US" dirty="0"/>
          </a:p>
        </p:txBody>
      </p:sp>
    </p:spTree>
    <p:extLst>
      <p:ext uri="{BB962C8B-B14F-4D97-AF65-F5344CB8AC3E}">
        <p14:creationId xmlns:p14="http://schemas.microsoft.com/office/powerpoint/2010/main" val="861820195"/>
      </p:ext>
    </p:extLst>
  </p:cSld>
  <p:clrMapOvr>
    <a:masterClrMapping/>
  </p:clrMapOvr>
</p:sld>
</file>

<file path=ppt/slides/slide5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a:t>
            </a:r>
            <a:br>
              <a:rPr lang="en-US" dirty="0">
                <a:solidFill>
                  <a:srgbClr val="00B050"/>
                </a:solidFill>
              </a:rPr>
            </a:br>
            <a:endParaRPr lang="en-US" dirty="0">
              <a:solidFill>
                <a:srgbClr val="00B050"/>
              </a:solidFill>
            </a:endParaRPr>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a:t>This parasite is also known as the </a:t>
            </a:r>
            <a:r>
              <a:rPr lang="en-US" dirty="0">
                <a:solidFill>
                  <a:srgbClr val="00B050"/>
                </a:solidFill>
              </a:rPr>
              <a:t>Dwarf threadworm</a:t>
            </a:r>
            <a:r>
              <a:rPr lang="en-US" dirty="0"/>
              <a:t>; </a:t>
            </a:r>
          </a:p>
          <a:p>
            <a:pPr>
              <a:buFont typeface="Wingdings" pitchFamily="2" charset="2"/>
              <a:buChar char="v"/>
            </a:pPr>
            <a:r>
              <a:rPr lang="en-US" dirty="0"/>
              <a:t>it causes the disease </a:t>
            </a:r>
            <a:r>
              <a:rPr lang="en-US" dirty="0">
                <a:solidFill>
                  <a:srgbClr val="FF0000"/>
                </a:solidFill>
              </a:rPr>
              <a:t>Strongyloidiasis</a:t>
            </a:r>
          </a:p>
          <a:p>
            <a:pPr algn="ctr">
              <a:buFont typeface="Wingdings" pitchFamily="2" charset="2"/>
              <a:buChar char="v"/>
            </a:pPr>
            <a:endParaRPr lang="en-US" b="1" dirty="0"/>
          </a:p>
          <a:p>
            <a:pPr marL="0" indent="0" algn="ctr">
              <a:buNone/>
            </a:pPr>
            <a:r>
              <a:rPr lang="en-US" b="1" u="sng" dirty="0"/>
              <a:t>Distribution</a:t>
            </a:r>
            <a:endParaRPr lang="en-US" u="sng" dirty="0"/>
          </a:p>
          <a:p>
            <a:pPr>
              <a:buFont typeface="Wingdings" pitchFamily="2" charset="2"/>
              <a:buChar char="v"/>
            </a:pPr>
            <a:r>
              <a:rPr lang="en-US" dirty="0"/>
              <a:t>Worldwide, particularly </a:t>
            </a:r>
            <a:r>
              <a:rPr lang="en-US" u="sng" dirty="0"/>
              <a:t>endemic in tropical and subtropical countries</a:t>
            </a:r>
            <a:r>
              <a:rPr lang="en-US" dirty="0"/>
              <a:t>, including those of </a:t>
            </a:r>
            <a:r>
              <a:rPr lang="en-US" u="sng" dirty="0"/>
              <a:t>Africa</a:t>
            </a:r>
            <a:r>
              <a:rPr lang="en-US" dirty="0"/>
              <a:t>, </a:t>
            </a:r>
            <a:r>
              <a:rPr lang="en-US" u="sng" dirty="0"/>
              <a:t>Asia</a:t>
            </a:r>
            <a:r>
              <a:rPr lang="en-US" dirty="0"/>
              <a:t> and </a:t>
            </a:r>
            <a:r>
              <a:rPr lang="en-US" u="sng" dirty="0"/>
              <a:t>South America</a:t>
            </a:r>
          </a:p>
          <a:p>
            <a:endParaRPr lang="en-US" dirty="0"/>
          </a:p>
        </p:txBody>
      </p:sp>
    </p:spTree>
    <p:extLst>
      <p:ext uri="{BB962C8B-B14F-4D97-AF65-F5344CB8AC3E}">
        <p14:creationId xmlns:p14="http://schemas.microsoft.com/office/powerpoint/2010/main" val="2144476689"/>
      </p:ext>
    </p:extLst>
  </p:cSld>
  <p:clrMapOvr>
    <a:masterClrMapping/>
  </p:clrMapOvr>
</p:sld>
</file>

<file path=ppt/slides/slide5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u="sng" dirty="0"/>
              <a:t>Transmission</a:t>
            </a:r>
            <a:endParaRPr lang="en-US" u="sng" dirty="0"/>
          </a:p>
          <a:p>
            <a:pPr lvl="0">
              <a:buFont typeface="Wingdings" pitchFamily="2" charset="2"/>
              <a:buChar char="v"/>
            </a:pPr>
            <a:r>
              <a:rPr lang="en-US" dirty="0">
                <a:solidFill>
                  <a:schemeClr val="tx2">
                    <a:lumMod val="60000"/>
                    <a:lumOff val="40000"/>
                  </a:schemeClr>
                </a:solidFill>
              </a:rPr>
              <a:t>By penetration of the skin (feet) by </a:t>
            </a:r>
            <a:r>
              <a:rPr lang="en-US" dirty="0">
                <a:solidFill>
                  <a:srgbClr val="C00000"/>
                </a:solidFill>
              </a:rPr>
              <a:t>filariform (infective) larvae</a:t>
            </a:r>
          </a:p>
          <a:p>
            <a:pPr lvl="0">
              <a:buFont typeface="Wingdings" pitchFamily="2" charset="2"/>
              <a:buChar char="v"/>
            </a:pPr>
            <a:r>
              <a:rPr lang="en-US" dirty="0">
                <a:solidFill>
                  <a:schemeClr val="tx2">
                    <a:lumMod val="60000"/>
                    <a:lumOff val="40000"/>
                  </a:schemeClr>
                </a:solidFill>
              </a:rPr>
              <a:t>Self-infection</a:t>
            </a:r>
            <a:r>
              <a:rPr lang="en-US" dirty="0"/>
              <a:t> (</a:t>
            </a:r>
            <a:r>
              <a:rPr lang="en-US" dirty="0">
                <a:solidFill>
                  <a:schemeClr val="tx2">
                    <a:lumMod val="60000"/>
                    <a:lumOff val="40000"/>
                  </a:schemeClr>
                </a:solidFill>
              </a:rPr>
              <a:t>autoinfection</a:t>
            </a:r>
            <a:r>
              <a:rPr lang="en-US" dirty="0"/>
              <a:t>) with </a:t>
            </a:r>
            <a:r>
              <a:rPr lang="en-US" dirty="0">
                <a:solidFill>
                  <a:srgbClr val="C00000"/>
                </a:solidFill>
              </a:rPr>
              <a:t>rhabditiform larvae </a:t>
            </a:r>
            <a:r>
              <a:rPr lang="en-US" dirty="0"/>
              <a:t>(</a:t>
            </a:r>
            <a:r>
              <a:rPr lang="en-US" dirty="0">
                <a:solidFill>
                  <a:srgbClr val="C00000"/>
                </a:solidFill>
              </a:rPr>
              <a:t>first stage larvae</a:t>
            </a:r>
            <a:r>
              <a:rPr lang="en-US" dirty="0"/>
              <a:t>) developing into </a:t>
            </a:r>
            <a:r>
              <a:rPr lang="en-US" dirty="0">
                <a:solidFill>
                  <a:srgbClr val="C00000"/>
                </a:solidFill>
              </a:rPr>
              <a:t>infective (filariform) larvae</a:t>
            </a:r>
            <a:r>
              <a:rPr lang="en-US" dirty="0"/>
              <a:t> </a:t>
            </a:r>
            <a:r>
              <a:rPr lang="en-US" u="sng" dirty="0"/>
              <a:t>in faecal matter on perianal skin and penetrating the skin </a:t>
            </a:r>
            <a:r>
              <a:rPr lang="en-US" b="1" dirty="0"/>
              <a:t>or</a:t>
            </a:r>
            <a:r>
              <a:rPr lang="en-US" dirty="0"/>
              <a:t> </a:t>
            </a:r>
            <a:r>
              <a:rPr lang="en-US" dirty="0">
                <a:solidFill>
                  <a:srgbClr val="C00000"/>
                </a:solidFill>
              </a:rPr>
              <a:t>rhabditiform larvae</a:t>
            </a:r>
            <a:r>
              <a:rPr lang="en-US" dirty="0"/>
              <a:t> de</a:t>
            </a:r>
            <a:r>
              <a:rPr lang="en-US" u="sng" dirty="0"/>
              <a:t>veloping into </a:t>
            </a:r>
            <a:r>
              <a:rPr lang="en-US" dirty="0">
                <a:solidFill>
                  <a:srgbClr val="C00000"/>
                </a:solidFill>
              </a:rPr>
              <a:t>filariform larvae </a:t>
            </a:r>
            <a:r>
              <a:rPr lang="en-US" u="sng" dirty="0"/>
              <a:t>in the intestine and penetrating the gut wall</a:t>
            </a:r>
            <a:r>
              <a:rPr lang="en-US" dirty="0"/>
              <a:t>.</a:t>
            </a:r>
          </a:p>
          <a:p>
            <a:endParaRPr lang="en-US" dirty="0"/>
          </a:p>
        </p:txBody>
      </p:sp>
    </p:spTree>
    <p:extLst>
      <p:ext uri="{BB962C8B-B14F-4D97-AF65-F5344CB8AC3E}">
        <p14:creationId xmlns:p14="http://schemas.microsoft.com/office/powerpoint/2010/main" val="3195692249"/>
      </p:ext>
    </p:extLst>
  </p:cSld>
  <p:clrMapOvr>
    <a:masterClrMapping/>
  </p:clrMapOvr>
</p:sld>
</file>

<file path=ppt/slides/slide5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u="sng" dirty="0"/>
              <a:t>Transmission of </a:t>
            </a:r>
            <a:r>
              <a:rPr lang="en-US" dirty="0">
                <a:solidFill>
                  <a:srgbClr val="C00000"/>
                </a:solidFill>
              </a:rPr>
              <a:t>infective larvae </a:t>
            </a:r>
            <a:r>
              <a:rPr lang="en-US" u="sng" dirty="0"/>
              <a:t>from an infected mother to her infant in breast milk may also occur </a:t>
            </a:r>
            <a:r>
              <a:rPr lang="en-US" dirty="0"/>
              <a:t>(</a:t>
            </a:r>
            <a:r>
              <a:rPr lang="en-US" dirty="0" err="1">
                <a:solidFill>
                  <a:srgbClr val="0070C0"/>
                </a:solidFill>
              </a:rPr>
              <a:t>transmammary</a:t>
            </a:r>
            <a:r>
              <a:rPr lang="en-US" dirty="0">
                <a:solidFill>
                  <a:srgbClr val="0070C0"/>
                </a:solidFill>
              </a:rPr>
              <a:t> transmission</a:t>
            </a:r>
            <a:r>
              <a:rPr lang="en-US" dirty="0"/>
              <a:t>).</a:t>
            </a:r>
          </a:p>
          <a:p>
            <a:pPr lvl="0">
              <a:buFont typeface="Wingdings" pitchFamily="2" charset="2"/>
              <a:buChar char="v"/>
            </a:pPr>
            <a:endParaRPr lang="en-US" dirty="0"/>
          </a:p>
          <a:p>
            <a:pPr lvl="0">
              <a:buFont typeface="Wingdings" pitchFamily="2" charset="2"/>
              <a:buChar char="v"/>
            </a:pPr>
            <a:r>
              <a:rPr lang="en-US" u="sng" dirty="0"/>
              <a:t>Human transmission is usually from person to person</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423944551"/>
      </p:ext>
    </p:extLst>
  </p:cSld>
  <p:clrMapOvr>
    <a:masterClrMapping/>
  </p:clrMapOvr>
</p:sld>
</file>

<file path=ppt/slides/slide5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a:xfrm>
            <a:off x="457200" y="1600200"/>
            <a:ext cx="8229600" cy="5029200"/>
          </a:xfrm>
        </p:spPr>
        <p:txBody>
          <a:bodyPr>
            <a:normAutofit/>
          </a:bodyPr>
          <a:lstStyle/>
          <a:p>
            <a:pPr marL="0" indent="0" algn="ctr">
              <a:buNone/>
            </a:pPr>
            <a:r>
              <a:rPr lang="en-US" b="1" u="sng" dirty="0"/>
              <a:t>Life Cycle</a:t>
            </a:r>
            <a:endParaRPr lang="en-US" u="sng" dirty="0"/>
          </a:p>
          <a:p>
            <a:pPr lvl="0">
              <a:buFont typeface="Wingdings" pitchFamily="2" charset="2"/>
              <a:buChar char="v"/>
            </a:pPr>
            <a:r>
              <a:rPr lang="en-US" u="sng" dirty="0"/>
              <a:t>After penetration larvae enter small blood vessels and follow a </a:t>
            </a:r>
            <a:r>
              <a:rPr lang="en-US" dirty="0">
                <a:solidFill>
                  <a:srgbClr val="00B0F0"/>
                </a:solidFill>
              </a:rPr>
              <a:t>heart-lung migration</a:t>
            </a:r>
            <a:r>
              <a:rPr lang="en-US" dirty="0"/>
              <a:t>, developing in the process,</a:t>
            </a:r>
            <a:r>
              <a:rPr lang="en-US" u="sng" dirty="0"/>
              <a:t> move up the trachea and are swallowed</a:t>
            </a:r>
          </a:p>
          <a:p>
            <a:pPr lvl="0">
              <a:buFont typeface="Wingdings" pitchFamily="2" charset="2"/>
              <a:buChar char="v"/>
            </a:pPr>
            <a:r>
              <a:rPr lang="en-US" dirty="0"/>
              <a:t>The worms mature in the </a:t>
            </a:r>
            <a:r>
              <a:rPr lang="en-US" dirty="0">
                <a:solidFill>
                  <a:schemeClr val="accent6">
                    <a:lumMod val="75000"/>
                  </a:schemeClr>
                </a:solidFill>
              </a:rPr>
              <a:t>intestinal tract</a:t>
            </a:r>
          </a:p>
          <a:p>
            <a:pPr lvl="0">
              <a:buFont typeface="Wingdings" pitchFamily="2" charset="2"/>
              <a:buChar char="v"/>
            </a:pPr>
            <a:r>
              <a:rPr lang="en-US" u="sng" dirty="0">
                <a:solidFill>
                  <a:srgbClr val="00B0F0"/>
                </a:solidFill>
              </a:rPr>
              <a:t>Male worms </a:t>
            </a:r>
            <a:r>
              <a:rPr lang="en-US" u="sng" dirty="0"/>
              <a:t>are apparently unable to penetrate the mucosa as they have rarely been found in humans</a:t>
            </a:r>
            <a:r>
              <a:rPr lang="en-US" dirty="0"/>
              <a:t>. </a:t>
            </a:r>
          </a:p>
          <a:p>
            <a:endParaRPr lang="en-US" dirty="0"/>
          </a:p>
        </p:txBody>
      </p:sp>
    </p:spTree>
    <p:extLst>
      <p:ext uri="{BB962C8B-B14F-4D97-AF65-F5344CB8AC3E}">
        <p14:creationId xmlns:p14="http://schemas.microsoft.com/office/powerpoint/2010/main" val="3857871180"/>
      </p:ext>
    </p:extLst>
  </p:cSld>
  <p:clrMapOvr>
    <a:masterClrMapping/>
  </p:clrMapOvr>
</p:sld>
</file>

<file path=ppt/slides/slide5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p:txBody>
          <a:bodyPr>
            <a:normAutofit fontScale="92500"/>
          </a:bodyPr>
          <a:lstStyle/>
          <a:p>
            <a:pPr lvl="0">
              <a:buFont typeface="Wingdings" pitchFamily="2" charset="2"/>
              <a:buChar char="v"/>
            </a:pPr>
            <a:r>
              <a:rPr lang="en-US" u="sng" dirty="0"/>
              <a:t>Thus, copulation, if it occurs at all, must/ probably occur in the </a:t>
            </a:r>
            <a:r>
              <a:rPr lang="en-US" dirty="0">
                <a:solidFill>
                  <a:schemeClr val="accent6">
                    <a:lumMod val="75000"/>
                  </a:schemeClr>
                </a:solidFill>
              </a:rPr>
              <a:t>lumen</a:t>
            </a:r>
          </a:p>
          <a:p>
            <a:pPr lvl="0">
              <a:buFont typeface="Wingdings" pitchFamily="2" charset="2"/>
              <a:buChar char="v"/>
            </a:pPr>
            <a:r>
              <a:rPr lang="en-US" u="sng" dirty="0">
                <a:solidFill>
                  <a:srgbClr val="00B0F0"/>
                </a:solidFill>
              </a:rPr>
              <a:t>Female worms </a:t>
            </a:r>
            <a:r>
              <a:rPr lang="en-US" u="sng" dirty="0"/>
              <a:t>become embedded in the wall of the small intestine and lay eggs </a:t>
            </a:r>
            <a:r>
              <a:rPr lang="en-US" b="1" dirty="0"/>
              <a:t>whilst</a:t>
            </a:r>
            <a:r>
              <a:rPr lang="en-US" dirty="0"/>
              <a:t> </a:t>
            </a:r>
            <a:r>
              <a:rPr lang="en-US" u="sng" dirty="0"/>
              <a:t>the </a:t>
            </a:r>
            <a:r>
              <a:rPr lang="en-US" u="sng" dirty="0">
                <a:solidFill>
                  <a:srgbClr val="00B0F0"/>
                </a:solidFill>
              </a:rPr>
              <a:t>male worms</a:t>
            </a:r>
            <a:r>
              <a:rPr lang="en-US" u="sng" dirty="0"/>
              <a:t> are expelled</a:t>
            </a:r>
          </a:p>
          <a:p>
            <a:pPr lvl="0">
              <a:buFont typeface="Wingdings" pitchFamily="2" charset="2"/>
              <a:buChar char="v"/>
            </a:pPr>
            <a:r>
              <a:rPr lang="en-US" dirty="0"/>
              <a:t>Soon after eggs are laid </a:t>
            </a:r>
            <a:r>
              <a:rPr lang="en-US" dirty="0">
                <a:solidFill>
                  <a:schemeClr val="accent6">
                    <a:lumMod val="75000"/>
                  </a:schemeClr>
                </a:solidFill>
              </a:rPr>
              <a:t>rhabditiform larvae </a:t>
            </a:r>
            <a:r>
              <a:rPr lang="en-US" u="sng" dirty="0"/>
              <a:t>hatch out in the intestine and either develop there into </a:t>
            </a:r>
            <a:r>
              <a:rPr lang="en-US" dirty="0">
                <a:solidFill>
                  <a:schemeClr val="accent6">
                    <a:lumMod val="75000"/>
                  </a:schemeClr>
                </a:solidFill>
              </a:rPr>
              <a:t>infective larvae </a:t>
            </a:r>
            <a:r>
              <a:rPr lang="en-US" u="sng" dirty="0"/>
              <a:t>and penetrate the intestinal wall </a:t>
            </a:r>
            <a:r>
              <a:rPr lang="en-US" dirty="0"/>
              <a:t>(</a:t>
            </a:r>
            <a:r>
              <a:rPr lang="en-US" dirty="0">
                <a:solidFill>
                  <a:srgbClr val="FF0000"/>
                </a:solidFill>
              </a:rPr>
              <a:t>autoinfection</a:t>
            </a:r>
            <a:r>
              <a:rPr lang="en-US" dirty="0"/>
              <a:t>) </a:t>
            </a:r>
            <a:r>
              <a:rPr lang="en-US" b="1" dirty="0"/>
              <a:t>or</a:t>
            </a:r>
            <a:r>
              <a:rPr lang="en-US" dirty="0"/>
              <a:t> </a:t>
            </a:r>
            <a:r>
              <a:rPr lang="en-US" u="sng" dirty="0"/>
              <a:t>are passed out in the faeces</a:t>
            </a:r>
          </a:p>
          <a:p>
            <a:pPr marL="0" indent="0">
              <a:buNone/>
            </a:pPr>
            <a:endParaRPr lang="en-US" dirty="0"/>
          </a:p>
        </p:txBody>
      </p:sp>
    </p:spTree>
    <p:extLst>
      <p:ext uri="{BB962C8B-B14F-4D97-AF65-F5344CB8AC3E}">
        <p14:creationId xmlns:p14="http://schemas.microsoft.com/office/powerpoint/2010/main" val="3134599557"/>
      </p:ext>
    </p:extLst>
  </p:cSld>
  <p:clrMapOvr>
    <a:masterClrMapping/>
  </p:clrMapOvr>
</p:sld>
</file>

<file path=ppt/slides/slide5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chemeClr val="accent6">
                    <a:lumMod val="75000"/>
                  </a:schemeClr>
                </a:solidFill>
              </a:rPr>
              <a:t>Rhabditiform larvae </a:t>
            </a:r>
            <a:r>
              <a:rPr lang="en-US" u="sng" dirty="0"/>
              <a:t>expelled in faeces are able, under suitable conditions, to develop into </a:t>
            </a:r>
            <a:r>
              <a:rPr lang="en-US" dirty="0">
                <a:solidFill>
                  <a:schemeClr val="accent6">
                    <a:lumMod val="75000"/>
                  </a:schemeClr>
                </a:solidFill>
              </a:rPr>
              <a:t>infective larvae </a:t>
            </a:r>
            <a:r>
              <a:rPr lang="en-US" u="sng" dirty="0"/>
              <a:t>in the soil in 3-4 days</a:t>
            </a:r>
          </a:p>
          <a:p>
            <a:pPr lvl="0">
              <a:buFont typeface="Wingdings" pitchFamily="2" charset="2"/>
              <a:buChar char="v"/>
            </a:pPr>
            <a:endParaRPr lang="en-US" dirty="0"/>
          </a:p>
          <a:p>
            <a:pPr lvl="0">
              <a:buFont typeface="Wingdings" pitchFamily="2" charset="2"/>
              <a:buChar char="v"/>
            </a:pPr>
            <a:r>
              <a:rPr lang="en-US" dirty="0"/>
              <a:t>Larvae can remain infective in the soil for several months.</a:t>
            </a:r>
          </a:p>
          <a:p>
            <a:pPr>
              <a:buFont typeface="Wingdings" pitchFamily="2" charset="2"/>
              <a:buChar char="v"/>
            </a:pPr>
            <a:endParaRPr lang="en-US" dirty="0"/>
          </a:p>
        </p:txBody>
      </p:sp>
    </p:spTree>
    <p:extLst>
      <p:ext uri="{BB962C8B-B14F-4D97-AF65-F5344CB8AC3E}">
        <p14:creationId xmlns:p14="http://schemas.microsoft.com/office/powerpoint/2010/main" val="67029589"/>
      </p:ext>
    </p:extLst>
  </p:cSld>
  <p:clrMapOvr>
    <a:masterClrMapping/>
  </p:clrMapOvr>
</p:sld>
</file>

<file path=ppt/slides/slide5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a:xfrm>
            <a:off x="457200" y="1600200"/>
            <a:ext cx="8229600" cy="5029200"/>
          </a:xfrm>
        </p:spPr>
        <p:txBody>
          <a:bodyPr>
            <a:normAutofit fontScale="92500"/>
          </a:bodyPr>
          <a:lstStyle/>
          <a:p>
            <a:pPr lvl="0">
              <a:buFont typeface="Wingdings" pitchFamily="2" charset="2"/>
              <a:buChar char="v"/>
            </a:pPr>
            <a:r>
              <a:rPr lang="en-US" dirty="0"/>
              <a:t>Under favourable climatic conditions </a:t>
            </a:r>
            <a:r>
              <a:rPr lang="en-US" i="1" dirty="0">
                <a:solidFill>
                  <a:srgbClr val="00B050"/>
                </a:solidFill>
              </a:rPr>
              <a:t>S. stercoralis</a:t>
            </a:r>
            <a:r>
              <a:rPr lang="en-US" dirty="0">
                <a:solidFill>
                  <a:srgbClr val="00B050"/>
                </a:solidFill>
              </a:rPr>
              <a:t> </a:t>
            </a:r>
            <a:r>
              <a:rPr lang="en-US" u="sng" dirty="0"/>
              <a:t>may follow a free living existence for several generations </a:t>
            </a:r>
            <a:r>
              <a:rPr lang="en-US" dirty="0"/>
              <a:t>(i.e. </a:t>
            </a:r>
            <a:r>
              <a:rPr lang="en-US" dirty="0">
                <a:solidFill>
                  <a:srgbClr val="7030A0"/>
                </a:solidFill>
              </a:rPr>
              <a:t>without a parasitic mode of life</a:t>
            </a:r>
            <a:r>
              <a:rPr lang="en-US" dirty="0"/>
              <a:t>);</a:t>
            </a:r>
          </a:p>
          <a:p>
            <a:pPr lvl="0">
              <a:buFont typeface="Wingdings" pitchFamily="2" charset="2"/>
              <a:buChar char="v"/>
            </a:pPr>
            <a:r>
              <a:rPr lang="en-US" dirty="0"/>
              <a:t> </a:t>
            </a:r>
            <a:r>
              <a:rPr lang="en-US" dirty="0">
                <a:solidFill>
                  <a:srgbClr val="7030A0"/>
                </a:solidFill>
              </a:rPr>
              <a:t>instead of the rhabditiform larvae in the soil developing into filariform larvae,</a:t>
            </a:r>
          </a:p>
          <a:p>
            <a:pPr lvl="0">
              <a:buFont typeface="Wingdings" pitchFamily="2" charset="2"/>
              <a:buChar char="v"/>
            </a:pPr>
            <a:r>
              <a:rPr lang="en-US" dirty="0">
                <a:solidFill>
                  <a:srgbClr val="7030A0"/>
                </a:solidFill>
              </a:rPr>
              <a:t> they are able to develop directly into mature egg-producing worms in the soil and rhabditiform larvae that hatch from eggs laid in the soil may grow into infective filariform larvae</a:t>
            </a:r>
            <a:r>
              <a:rPr lang="en-US" dirty="0"/>
              <a:t>.</a:t>
            </a:r>
          </a:p>
          <a:p>
            <a:endParaRPr lang="en-US" dirty="0"/>
          </a:p>
        </p:txBody>
      </p:sp>
    </p:spTree>
    <p:extLst>
      <p:ext uri="{BB962C8B-B14F-4D97-AF65-F5344CB8AC3E}">
        <p14:creationId xmlns:p14="http://schemas.microsoft.com/office/powerpoint/2010/main" val="3577197772"/>
      </p:ext>
    </p:extLst>
  </p:cSld>
  <p:clrMapOvr>
    <a:masterClrMapping/>
  </p:clrMapOvr>
</p:sld>
</file>

<file path=ppt/slides/slide5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u="sng" dirty="0"/>
              <a:t>Symptoms and Pathology</a:t>
            </a:r>
            <a:endParaRPr lang="en-US" u="sng" dirty="0"/>
          </a:p>
          <a:p>
            <a:pPr lvl="0">
              <a:buFont typeface="Wingdings" pitchFamily="2" charset="2"/>
              <a:buChar char="v"/>
            </a:pPr>
            <a:r>
              <a:rPr lang="en-US" u="sng" dirty="0"/>
              <a:t>Larvae penetrating the skin may cause an </a:t>
            </a:r>
            <a:r>
              <a:rPr lang="en-US" dirty="0">
                <a:solidFill>
                  <a:srgbClr val="00B0F0"/>
                </a:solidFill>
              </a:rPr>
              <a:t>itchy dermatitis</a:t>
            </a:r>
            <a:r>
              <a:rPr lang="en-US" dirty="0"/>
              <a:t> and </a:t>
            </a:r>
            <a:r>
              <a:rPr lang="en-US" dirty="0">
                <a:solidFill>
                  <a:srgbClr val="00B0F0"/>
                </a:solidFill>
              </a:rPr>
              <a:t>rash</a:t>
            </a:r>
            <a:r>
              <a:rPr lang="en-US" dirty="0"/>
              <a:t> </a:t>
            </a:r>
          </a:p>
          <a:p>
            <a:pPr lvl="0">
              <a:buFont typeface="Wingdings" pitchFamily="2" charset="2"/>
              <a:buChar char="v"/>
            </a:pPr>
            <a:r>
              <a:rPr lang="en-US" dirty="0"/>
              <a:t>During the heart-lung migration </a:t>
            </a:r>
            <a:r>
              <a:rPr lang="en-US" dirty="0">
                <a:solidFill>
                  <a:srgbClr val="00B0F0"/>
                </a:solidFill>
              </a:rPr>
              <a:t>larvae may cause allergic and respiratory symptoms </a:t>
            </a:r>
            <a:r>
              <a:rPr lang="en-US" dirty="0"/>
              <a:t>and </a:t>
            </a:r>
            <a:r>
              <a:rPr lang="en-US" dirty="0">
                <a:solidFill>
                  <a:srgbClr val="00B0F0"/>
                </a:solidFill>
              </a:rPr>
              <a:t>haemorrhages in lung alveoli</a:t>
            </a:r>
          </a:p>
          <a:p>
            <a:endParaRPr lang="en-US" dirty="0"/>
          </a:p>
        </p:txBody>
      </p:sp>
    </p:spTree>
    <p:extLst>
      <p:ext uri="{BB962C8B-B14F-4D97-AF65-F5344CB8AC3E}">
        <p14:creationId xmlns:p14="http://schemas.microsoft.com/office/powerpoint/2010/main" val="1148557028"/>
      </p:ext>
    </p:extLst>
  </p:cSld>
  <p:clrMapOvr>
    <a:masterClrMapping/>
  </p:clrMapOvr>
</p:sld>
</file>

<file path=ppt/slides/slide5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Acute attacks of </a:t>
            </a:r>
            <a:r>
              <a:rPr lang="en-US" dirty="0">
                <a:solidFill>
                  <a:srgbClr val="00B0F0"/>
                </a:solidFill>
              </a:rPr>
              <a:t>diarrhea often with blood and mucus</a:t>
            </a:r>
            <a:r>
              <a:rPr lang="en-US" dirty="0"/>
              <a:t> may be caused by mature worms, </a:t>
            </a:r>
          </a:p>
          <a:p>
            <a:pPr lvl="0">
              <a:buFont typeface="Wingdings" pitchFamily="2" charset="2"/>
              <a:buChar char="v"/>
            </a:pPr>
            <a:r>
              <a:rPr lang="en-US" dirty="0"/>
              <a:t>and </a:t>
            </a:r>
            <a:r>
              <a:rPr lang="en-US" u="sng" dirty="0"/>
              <a:t>damage to the intestinal mucosa </a:t>
            </a:r>
            <a:r>
              <a:rPr lang="en-US" dirty="0"/>
              <a:t>may develop into </a:t>
            </a:r>
            <a:r>
              <a:rPr lang="en-US" dirty="0">
                <a:solidFill>
                  <a:srgbClr val="00B0F0"/>
                </a:solidFill>
              </a:rPr>
              <a:t>ulcerative enteritis</a:t>
            </a:r>
            <a:r>
              <a:rPr lang="en-US" dirty="0"/>
              <a:t>, leading to </a:t>
            </a:r>
            <a:r>
              <a:rPr lang="en-US" dirty="0">
                <a:solidFill>
                  <a:srgbClr val="00B0F0"/>
                </a:solidFill>
              </a:rPr>
              <a:t>anaemia</a:t>
            </a:r>
            <a:r>
              <a:rPr lang="en-US" dirty="0"/>
              <a:t> and </a:t>
            </a:r>
            <a:r>
              <a:rPr lang="en-US" dirty="0">
                <a:solidFill>
                  <a:srgbClr val="00B0F0"/>
                </a:solidFill>
              </a:rPr>
              <a:t>low plasma protein levels </a:t>
            </a:r>
          </a:p>
          <a:p>
            <a:pPr lvl="0">
              <a:buFont typeface="Wingdings" pitchFamily="2" charset="2"/>
              <a:buChar char="v"/>
            </a:pPr>
            <a:r>
              <a:rPr lang="en-US" dirty="0">
                <a:solidFill>
                  <a:srgbClr val="00B0F0"/>
                </a:solidFill>
              </a:rPr>
              <a:t>Abdominal pain </a:t>
            </a:r>
            <a:r>
              <a:rPr lang="en-US" u="sng" dirty="0"/>
              <a:t>with symptoms resembling those of duodenal ulcer is common</a:t>
            </a:r>
          </a:p>
          <a:p>
            <a:endParaRPr lang="en-US" dirty="0"/>
          </a:p>
        </p:txBody>
      </p:sp>
    </p:spTree>
    <p:extLst>
      <p:ext uri="{BB962C8B-B14F-4D97-AF65-F5344CB8AC3E}">
        <p14:creationId xmlns:p14="http://schemas.microsoft.com/office/powerpoint/2010/main" val="2302132537"/>
      </p:ext>
    </p:extLst>
  </p:cSld>
  <p:clrMapOvr>
    <a:masterClrMapping/>
  </p:clrMapOvr>
</p:sld>
</file>

<file path=ppt/slides/slide5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a:t>
            </a:r>
            <a:r>
              <a:rPr lang="en-US" b="1" i="1" dirty="0"/>
              <a:t> cont’d</a:t>
            </a:r>
            <a:br>
              <a:rPr lang="en-US" dirty="0"/>
            </a:br>
            <a:endParaRPr lang="en-US" dirty="0"/>
          </a:p>
        </p:txBody>
      </p:sp>
      <p:sp>
        <p:nvSpPr>
          <p:cNvPr id="3" name="Content Placeholder 2"/>
          <p:cNvSpPr>
            <a:spLocks noGrp="1"/>
          </p:cNvSpPr>
          <p:nvPr>
            <p:ph idx="1"/>
          </p:nvPr>
        </p:nvSpPr>
        <p:spPr/>
        <p:txBody>
          <a:bodyPr>
            <a:normAutofit/>
          </a:bodyPr>
          <a:lstStyle/>
          <a:p>
            <a:pPr lvl="0">
              <a:buFont typeface="Wingdings" pitchFamily="2" charset="2"/>
              <a:buChar char="v"/>
            </a:pPr>
            <a:r>
              <a:rPr lang="en-US" b="1" dirty="0"/>
              <a:t>Heavy infections </a:t>
            </a:r>
            <a:r>
              <a:rPr lang="en-US" dirty="0"/>
              <a:t>(</a:t>
            </a:r>
            <a:r>
              <a:rPr lang="en-US" b="1" dirty="0"/>
              <a:t>esp. in children</a:t>
            </a:r>
            <a:r>
              <a:rPr lang="en-US" dirty="0"/>
              <a:t>) may result in </a:t>
            </a:r>
            <a:r>
              <a:rPr lang="en-US" dirty="0">
                <a:solidFill>
                  <a:srgbClr val="00B0F0"/>
                </a:solidFill>
              </a:rPr>
              <a:t>malabsorption</a:t>
            </a:r>
            <a:r>
              <a:rPr lang="en-US" dirty="0"/>
              <a:t>, </a:t>
            </a:r>
            <a:r>
              <a:rPr lang="en-US" dirty="0">
                <a:solidFill>
                  <a:srgbClr val="00B0F0"/>
                </a:solidFill>
              </a:rPr>
              <a:t>steatorrhoea</a:t>
            </a:r>
            <a:r>
              <a:rPr lang="en-US" dirty="0"/>
              <a:t> (</a:t>
            </a:r>
            <a:r>
              <a:rPr lang="en-US" dirty="0">
                <a:solidFill>
                  <a:schemeClr val="accent6">
                    <a:lumMod val="75000"/>
                  </a:schemeClr>
                </a:solidFill>
              </a:rPr>
              <a:t>excessive amount of fats in the faeces as in malabsorption syndrome</a:t>
            </a:r>
            <a:r>
              <a:rPr lang="en-US" dirty="0"/>
              <a:t>) and </a:t>
            </a:r>
            <a:r>
              <a:rPr lang="en-US" dirty="0">
                <a:solidFill>
                  <a:srgbClr val="00B0F0"/>
                </a:solidFill>
              </a:rPr>
              <a:t>dehydration with electrolyte disturbance</a:t>
            </a:r>
            <a:r>
              <a:rPr lang="en-US" dirty="0"/>
              <a:t>;</a:t>
            </a:r>
          </a:p>
          <a:p>
            <a:pPr lvl="0">
              <a:buFont typeface="Wingdings" pitchFamily="2" charset="2"/>
              <a:buChar char="v"/>
            </a:pPr>
            <a:r>
              <a:rPr lang="en-US" dirty="0"/>
              <a:t> </a:t>
            </a:r>
            <a:r>
              <a:rPr lang="en-US" dirty="0">
                <a:solidFill>
                  <a:srgbClr val="00B0F0"/>
                </a:solidFill>
              </a:rPr>
              <a:t>eosinophilia</a:t>
            </a:r>
            <a:r>
              <a:rPr lang="en-US" dirty="0"/>
              <a:t> is usually evident</a:t>
            </a:r>
          </a:p>
          <a:p>
            <a:endParaRPr lang="en-US" dirty="0"/>
          </a:p>
        </p:txBody>
      </p:sp>
    </p:spTree>
    <p:extLst>
      <p:ext uri="{BB962C8B-B14F-4D97-AF65-F5344CB8AC3E}">
        <p14:creationId xmlns:p14="http://schemas.microsoft.com/office/powerpoint/2010/main" val="3703398039"/>
      </p:ext>
    </p:extLst>
  </p:cSld>
  <p:clrMapOvr>
    <a:masterClrMapping/>
  </p:clrMapOvr>
</p:sld>
</file>

<file path=ppt/slides/slide5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rgbClr val="C00000"/>
                </a:solidFill>
              </a:rPr>
              <a:t>Autoinfection</a:t>
            </a:r>
            <a:r>
              <a:rPr lang="en-US" dirty="0"/>
              <a:t> </a:t>
            </a:r>
            <a:r>
              <a:rPr lang="en-US" u="sng" dirty="0"/>
              <a:t>may be overwhelming and fatal when immune responses are reduced as in immune deficiency or depression, by drugs, malnutrition, pregnancy or puerperium (child birth); </a:t>
            </a:r>
          </a:p>
          <a:p>
            <a:pPr lvl="0">
              <a:buFont typeface="Wingdings" pitchFamily="2" charset="2"/>
              <a:buChar char="v"/>
            </a:pPr>
            <a:r>
              <a:rPr lang="en-US" u="sng" dirty="0"/>
              <a:t>in such situation</a:t>
            </a:r>
            <a:r>
              <a:rPr lang="en-US" dirty="0"/>
              <a:t>, </a:t>
            </a:r>
            <a:r>
              <a:rPr lang="en-US" dirty="0">
                <a:solidFill>
                  <a:srgbClr val="00B0F0"/>
                </a:solidFill>
              </a:rPr>
              <a:t>larvae may be found in most tissues and serous cavities of the body</a:t>
            </a:r>
            <a:r>
              <a:rPr lang="en-US" dirty="0"/>
              <a:t>.</a:t>
            </a:r>
          </a:p>
          <a:p>
            <a:endParaRPr lang="en-US" dirty="0"/>
          </a:p>
        </p:txBody>
      </p:sp>
    </p:spTree>
    <p:extLst>
      <p:ext uri="{BB962C8B-B14F-4D97-AF65-F5344CB8AC3E}">
        <p14:creationId xmlns:p14="http://schemas.microsoft.com/office/powerpoint/2010/main" val="130840773"/>
      </p:ext>
    </p:extLst>
  </p:cSld>
  <p:clrMapOvr>
    <a:masterClrMapping/>
  </p:clrMapOvr>
</p:sld>
</file>

<file path=ppt/slides/slide5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solidFill>
                  <a:srgbClr val="FF0000"/>
                </a:solidFill>
              </a:rPr>
              <a:t>Hyperinfection</a:t>
            </a:r>
            <a:r>
              <a:rPr lang="en-US" dirty="0"/>
              <a:t> </a:t>
            </a:r>
            <a:r>
              <a:rPr lang="en-US" u="sng" dirty="0"/>
              <a:t>may occur when </a:t>
            </a:r>
            <a:r>
              <a:rPr lang="en-US" u="sng" dirty="0">
                <a:solidFill>
                  <a:schemeClr val="accent6">
                    <a:lumMod val="75000"/>
                  </a:schemeClr>
                </a:solidFill>
              </a:rPr>
              <a:t>rhabditiform larvae</a:t>
            </a:r>
            <a:r>
              <a:rPr lang="en-US" u="sng" dirty="0"/>
              <a:t> penetrate the intestinal mucosa in people with diminished immune responsiveness</a:t>
            </a:r>
          </a:p>
          <a:p>
            <a:pPr marL="0" indent="0">
              <a:buNone/>
            </a:pPr>
            <a:endParaRPr lang="en-US" dirty="0"/>
          </a:p>
        </p:txBody>
      </p:sp>
    </p:spTree>
    <p:extLst>
      <p:ext uri="{BB962C8B-B14F-4D97-AF65-F5344CB8AC3E}">
        <p14:creationId xmlns:p14="http://schemas.microsoft.com/office/powerpoint/2010/main" val="1197284070"/>
      </p:ext>
    </p:extLst>
  </p:cSld>
  <p:clrMapOvr>
    <a:masterClrMapping/>
  </p:clrMapOvr>
</p:sld>
</file>

<file path=ppt/slides/slide5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u="sng" dirty="0"/>
              <a:t>Prevention and Control</a:t>
            </a:r>
            <a:endParaRPr lang="en-US" u="sng" dirty="0"/>
          </a:p>
          <a:p>
            <a:pPr lvl="0">
              <a:buFont typeface="Wingdings" pitchFamily="2" charset="2"/>
              <a:buChar char="v"/>
            </a:pPr>
            <a:r>
              <a:rPr lang="en-US" dirty="0">
                <a:solidFill>
                  <a:srgbClr val="00B050"/>
                </a:solidFill>
              </a:rPr>
              <a:t>Avoiding faecal pollution of the soil</a:t>
            </a:r>
          </a:p>
          <a:p>
            <a:pPr lvl="0">
              <a:buFont typeface="Wingdings" pitchFamily="2" charset="2"/>
              <a:buChar char="v"/>
            </a:pPr>
            <a:r>
              <a:rPr lang="en-US" u="sng" dirty="0"/>
              <a:t>Preventing larval penetration of the skin </a:t>
            </a:r>
            <a:r>
              <a:rPr lang="en-US" dirty="0"/>
              <a:t>by </a:t>
            </a:r>
            <a:r>
              <a:rPr lang="en-US" dirty="0">
                <a:solidFill>
                  <a:srgbClr val="00B050"/>
                </a:solidFill>
              </a:rPr>
              <a:t>wearing protective footwear</a:t>
            </a:r>
          </a:p>
          <a:p>
            <a:pPr lvl="0">
              <a:buFont typeface="Wingdings" pitchFamily="2" charset="2"/>
              <a:buChar char="v"/>
            </a:pPr>
            <a:r>
              <a:rPr lang="en-US" dirty="0">
                <a:solidFill>
                  <a:srgbClr val="00B050"/>
                </a:solidFill>
              </a:rPr>
              <a:t>Treatment of the infected person</a:t>
            </a:r>
          </a:p>
          <a:p>
            <a:endParaRPr lang="en-US" dirty="0"/>
          </a:p>
        </p:txBody>
      </p:sp>
    </p:spTree>
    <p:extLst>
      <p:ext uri="{BB962C8B-B14F-4D97-AF65-F5344CB8AC3E}">
        <p14:creationId xmlns:p14="http://schemas.microsoft.com/office/powerpoint/2010/main" val="3017450544"/>
      </p:ext>
    </p:extLst>
  </p:cSld>
  <p:clrMapOvr>
    <a:masterClrMapping/>
  </p:clrMapOvr>
</p:sld>
</file>

<file path=ppt/slides/slide5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solidFill>
                  <a:srgbClr val="00B050"/>
                </a:solidFill>
              </a:rPr>
              <a:t>Strongyloides stercoralis </a:t>
            </a:r>
            <a:r>
              <a:rPr lang="en-US" b="1" i="1" dirty="0"/>
              <a:t>cont’d</a:t>
            </a:r>
            <a:br>
              <a:rPr lang="en-US" dirty="0"/>
            </a:br>
            <a:endParaRPr lang="en-US" dirty="0"/>
          </a:p>
        </p:txBody>
      </p:sp>
      <p:sp>
        <p:nvSpPr>
          <p:cNvPr id="3" name="Content Placeholder 2"/>
          <p:cNvSpPr>
            <a:spLocks noGrp="1"/>
          </p:cNvSpPr>
          <p:nvPr>
            <p:ph idx="1"/>
          </p:nvPr>
        </p:nvSpPr>
        <p:spPr/>
        <p:txBody>
          <a:bodyPr/>
          <a:lstStyle/>
          <a:p>
            <a:pPr marL="457200" lvl="1" indent="0" algn="ctr">
              <a:buNone/>
            </a:pPr>
            <a:r>
              <a:rPr lang="en-US" b="1" u="sng" dirty="0"/>
              <a:t>Diagnosis</a:t>
            </a:r>
            <a:endParaRPr lang="en-US" u="sng" dirty="0"/>
          </a:p>
          <a:p>
            <a:pPr lvl="0">
              <a:buFont typeface="Wingdings" pitchFamily="2" charset="2"/>
              <a:buChar char="v"/>
            </a:pPr>
            <a:r>
              <a:rPr lang="en-US" dirty="0">
                <a:solidFill>
                  <a:srgbClr val="00B0F0"/>
                </a:solidFill>
              </a:rPr>
              <a:t>Examination of faeces for the larvae</a:t>
            </a:r>
          </a:p>
          <a:p>
            <a:pPr lvl="0">
              <a:buFont typeface="Wingdings" pitchFamily="2" charset="2"/>
              <a:buChar char="v"/>
            </a:pPr>
            <a:r>
              <a:rPr lang="en-US" dirty="0">
                <a:solidFill>
                  <a:srgbClr val="00B0F0"/>
                </a:solidFill>
              </a:rPr>
              <a:t>Examination of duodenal  aspirates for the larvae</a:t>
            </a:r>
          </a:p>
          <a:p>
            <a:pPr lvl="0">
              <a:buFont typeface="Wingdings" pitchFamily="2" charset="2"/>
              <a:buChar char="v"/>
            </a:pPr>
            <a:r>
              <a:rPr lang="en-US" dirty="0"/>
              <a:t>In widespread infections, </a:t>
            </a:r>
            <a:r>
              <a:rPr lang="en-US" dirty="0">
                <a:solidFill>
                  <a:srgbClr val="00B0F0"/>
                </a:solidFill>
              </a:rPr>
              <a:t>larvae may be found in most body fluids</a:t>
            </a:r>
            <a:r>
              <a:rPr lang="en-US" dirty="0"/>
              <a:t>.</a:t>
            </a:r>
          </a:p>
          <a:p>
            <a:pPr>
              <a:buFont typeface="Wingdings" pitchFamily="2" charset="2"/>
              <a:buChar char="v"/>
            </a:pPr>
            <a:endParaRPr lang="en-US" dirty="0"/>
          </a:p>
          <a:p>
            <a:endParaRPr lang="en-US" dirty="0"/>
          </a:p>
        </p:txBody>
      </p:sp>
    </p:spTree>
    <p:extLst>
      <p:ext uri="{BB962C8B-B14F-4D97-AF65-F5344CB8AC3E}">
        <p14:creationId xmlns:p14="http://schemas.microsoft.com/office/powerpoint/2010/main" val="3281990158"/>
      </p:ext>
    </p:extLst>
  </p:cSld>
  <p:clrMapOvr>
    <a:masterClrMapping/>
  </p:clrMapOvr>
</p:sld>
</file>

<file path=ppt/slides/slide5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Strongyloides </a:t>
            </a:r>
            <a:r>
              <a:rPr lang="en-US" b="1" i="1" dirty="0" err="1"/>
              <a:t>fuelleborni</a:t>
            </a:r>
            <a:br>
              <a:rPr lang="en-US" dirty="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a:t>This species is a natural parasite of monkeys and dogs but may also infect humans </a:t>
            </a:r>
          </a:p>
          <a:p>
            <a:pPr algn="ctr">
              <a:buFont typeface="Wingdings" pitchFamily="2" charset="2"/>
              <a:buChar char="v"/>
            </a:pPr>
            <a:endParaRPr lang="en-US" b="1" dirty="0"/>
          </a:p>
          <a:p>
            <a:pPr marL="0" indent="0" algn="ctr">
              <a:buNone/>
            </a:pPr>
            <a:r>
              <a:rPr lang="en-US" b="1" dirty="0"/>
              <a:t>Distribution</a:t>
            </a:r>
            <a:endParaRPr lang="en-US" dirty="0"/>
          </a:p>
          <a:p>
            <a:pPr>
              <a:buFont typeface="Wingdings" pitchFamily="2" charset="2"/>
              <a:buChar char="v"/>
            </a:pPr>
            <a:r>
              <a:rPr lang="en-US" dirty="0"/>
              <a:t>Human infection with this and related species occur in tropical Africa and Papua New, especially in young children and infants</a:t>
            </a:r>
          </a:p>
          <a:p>
            <a:endParaRPr lang="en-US" dirty="0"/>
          </a:p>
        </p:txBody>
      </p:sp>
    </p:spTree>
    <p:extLst>
      <p:ext uri="{BB962C8B-B14F-4D97-AF65-F5344CB8AC3E}">
        <p14:creationId xmlns:p14="http://schemas.microsoft.com/office/powerpoint/2010/main" val="1011492033"/>
      </p:ext>
    </p:extLst>
  </p:cSld>
  <p:clrMapOvr>
    <a:masterClrMapping/>
  </p:clrMapOvr>
</p:sld>
</file>

<file path=ppt/slides/slide5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Strongyloides </a:t>
            </a:r>
            <a:r>
              <a:rPr lang="en-US" b="1" i="1" dirty="0" err="1"/>
              <a:t>fuelleborni</a:t>
            </a:r>
            <a:r>
              <a:rPr lang="en-US" b="1" i="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In Papua New Guinea, the infections are associated with an acute infantile disease known as “Swollen Belly Syndrome’’/ Sickness” (Monkeys are reportedly absent in P. New Guinea)</a:t>
            </a:r>
          </a:p>
          <a:p>
            <a:pPr>
              <a:buFont typeface="Wingdings" pitchFamily="2" charset="2"/>
              <a:buChar char="v"/>
            </a:pPr>
            <a:r>
              <a:rPr lang="en-US" dirty="0"/>
              <a:t>The disease is </a:t>
            </a:r>
            <a:r>
              <a:rPr lang="en-US" dirty="0" err="1"/>
              <a:t>charaterised</a:t>
            </a:r>
            <a:r>
              <a:rPr lang="en-US" dirty="0"/>
              <a:t> by respiratory distress, abdominal distension and generalized </a:t>
            </a:r>
            <a:r>
              <a:rPr lang="en-US" dirty="0" err="1"/>
              <a:t>oedema</a:t>
            </a:r>
            <a:r>
              <a:rPr lang="en-US" dirty="0"/>
              <a:t>, with very heavy egg loads.</a:t>
            </a:r>
          </a:p>
          <a:p>
            <a:pPr marL="0" indent="0">
              <a:buNone/>
            </a:pPr>
            <a:r>
              <a:rPr lang="en-US" dirty="0"/>
              <a:t> </a:t>
            </a:r>
          </a:p>
          <a:p>
            <a:endParaRPr lang="en-US" dirty="0"/>
          </a:p>
        </p:txBody>
      </p:sp>
    </p:spTree>
    <p:extLst>
      <p:ext uri="{BB962C8B-B14F-4D97-AF65-F5344CB8AC3E}">
        <p14:creationId xmlns:p14="http://schemas.microsoft.com/office/powerpoint/2010/main" val="3553142017"/>
      </p:ext>
    </p:extLst>
  </p:cSld>
  <p:clrMapOvr>
    <a:masterClrMapping/>
  </p:clrMapOvr>
</p:sld>
</file>

<file path=ppt/slides/slide5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Strongyloides </a:t>
            </a:r>
            <a:r>
              <a:rPr lang="en-US" b="1" i="1" dirty="0" err="1"/>
              <a:t>fuelleborni</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Diagnosis</a:t>
            </a:r>
            <a:endParaRPr lang="en-US" dirty="0"/>
          </a:p>
          <a:p>
            <a:pPr>
              <a:buFont typeface="Wingdings" pitchFamily="2" charset="2"/>
              <a:buChar char="v"/>
            </a:pPr>
            <a:r>
              <a:rPr lang="en-US" dirty="0"/>
              <a:t>Examination of fresh </a:t>
            </a:r>
            <a:r>
              <a:rPr lang="en-US" dirty="0" err="1"/>
              <a:t>faeces</a:t>
            </a:r>
            <a:r>
              <a:rPr lang="en-US" dirty="0"/>
              <a:t> for the eggs of the parasite.</a:t>
            </a:r>
          </a:p>
          <a:p>
            <a:endParaRPr lang="en-US" dirty="0"/>
          </a:p>
        </p:txBody>
      </p:sp>
    </p:spTree>
    <p:extLst>
      <p:ext uri="{BB962C8B-B14F-4D97-AF65-F5344CB8AC3E}">
        <p14:creationId xmlns:p14="http://schemas.microsoft.com/office/powerpoint/2010/main" val="2222560729"/>
      </p:ext>
    </p:extLst>
  </p:cSld>
  <p:clrMapOvr>
    <a:masterClrMapping/>
  </p:clrMapOvr>
</p:sld>
</file>

<file path=ppt/slides/slide5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Trichuris trichiura</a:t>
            </a:r>
            <a:br>
              <a:rPr lang="en-US" dirty="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a:t>This nematode is also known as the Whipworm and causes the infection known as </a:t>
            </a:r>
            <a:r>
              <a:rPr lang="en-US" dirty="0" err="1"/>
              <a:t>trichuriasis</a:t>
            </a:r>
            <a:endParaRPr lang="en-US" dirty="0"/>
          </a:p>
          <a:p>
            <a:pPr marL="0" indent="0" algn="ctr">
              <a:buNone/>
            </a:pPr>
            <a:r>
              <a:rPr lang="en-US" b="1" dirty="0"/>
              <a:t>Distribution</a:t>
            </a:r>
          </a:p>
          <a:p>
            <a:pPr>
              <a:buFont typeface="Wingdings" pitchFamily="2" charset="2"/>
              <a:buChar char="v"/>
            </a:pPr>
            <a:r>
              <a:rPr lang="en-US" dirty="0"/>
              <a:t>Worldwide but especially found in worm moist climates, and most prevalent in the Caribbean, South east Asia and Africa; rare in arid regions and at high altitudes</a:t>
            </a:r>
          </a:p>
          <a:p>
            <a:pPr marL="0" indent="0">
              <a:buNone/>
            </a:pPr>
            <a:endParaRPr lang="en-US" dirty="0"/>
          </a:p>
          <a:p>
            <a:endParaRPr lang="en-US" dirty="0"/>
          </a:p>
        </p:txBody>
      </p:sp>
    </p:spTree>
    <p:extLst>
      <p:ext uri="{BB962C8B-B14F-4D97-AF65-F5344CB8AC3E}">
        <p14:creationId xmlns:p14="http://schemas.microsoft.com/office/powerpoint/2010/main" val="2663133909"/>
      </p:ext>
    </p:extLst>
  </p:cSld>
  <p:clrMapOvr>
    <a:masterClrMapping/>
  </p:clrMapOvr>
</p:sld>
</file>

<file path=ppt/slides/slide5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Trichuris trichiura cont’d</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Transmission</a:t>
            </a:r>
            <a:endParaRPr lang="en-US" dirty="0"/>
          </a:p>
          <a:p>
            <a:pPr>
              <a:buFont typeface="Wingdings" pitchFamily="2" charset="2"/>
              <a:buChar char="v"/>
            </a:pPr>
            <a:r>
              <a:rPr lang="en-US" dirty="0"/>
              <a:t>By faecal pollution of the soil; human ingests infective eggs in contaminated food or hands; children most infected </a:t>
            </a:r>
          </a:p>
          <a:p>
            <a:pPr marL="0" indent="0" algn="ctr">
              <a:buNone/>
            </a:pPr>
            <a:r>
              <a:rPr lang="en-US" b="1" dirty="0"/>
              <a:t>Life Cycle</a:t>
            </a:r>
            <a:endParaRPr lang="en-US" dirty="0"/>
          </a:p>
          <a:p>
            <a:pPr lvl="0">
              <a:buFont typeface="Wingdings" pitchFamily="2" charset="2"/>
              <a:buChar char="v"/>
            </a:pPr>
            <a:r>
              <a:rPr lang="en-US" dirty="0"/>
              <a:t>On ingestion of eggs, larvae hatch in the small intestine and penetrate the villi</a:t>
            </a:r>
          </a:p>
          <a:p>
            <a:pPr>
              <a:buFont typeface="Wingdings" pitchFamily="2" charset="2"/>
              <a:buChar char="v"/>
            </a:pPr>
            <a:endParaRPr lang="en-US" dirty="0"/>
          </a:p>
        </p:txBody>
      </p:sp>
    </p:spTree>
    <p:extLst>
      <p:ext uri="{BB962C8B-B14F-4D97-AF65-F5344CB8AC3E}">
        <p14:creationId xmlns:p14="http://schemas.microsoft.com/office/powerpoint/2010/main" val="1691355958"/>
      </p:ext>
    </p:extLst>
  </p:cSld>
  <p:clrMapOvr>
    <a:masterClrMapping/>
  </p:clrMapOvr>
</p:sld>
</file>

<file path=ppt/slides/slide5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Trichuris trichiura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US" dirty="0"/>
              <a:t>After about a week of development the larvae migrate to large intestine  (caecum) and at times the colon and rectum where they are attached by their thin anterior end to the mucosa; and mature</a:t>
            </a:r>
          </a:p>
          <a:p>
            <a:pPr lvl="0">
              <a:buFont typeface="Wingdings" pitchFamily="2" charset="2"/>
              <a:buChar char="v"/>
            </a:pPr>
            <a:r>
              <a:rPr lang="en-US" dirty="0"/>
              <a:t>After mating, the females lay eggs which are passed out in the </a:t>
            </a:r>
            <a:r>
              <a:rPr lang="en-US" dirty="0" err="1"/>
              <a:t>faeces</a:t>
            </a:r>
            <a:r>
              <a:rPr lang="en-US" dirty="0"/>
              <a:t> of the host, and mature in the soil, developing the larvae (and becoming infective) in 2-3 weeks</a:t>
            </a:r>
          </a:p>
          <a:p>
            <a:endParaRPr lang="en-US" dirty="0"/>
          </a:p>
        </p:txBody>
      </p:sp>
    </p:spTree>
    <p:extLst>
      <p:ext uri="{BB962C8B-B14F-4D97-AF65-F5344CB8AC3E}">
        <p14:creationId xmlns:p14="http://schemas.microsoft.com/office/powerpoint/2010/main" val="3704854550"/>
      </p:ext>
    </p:extLst>
  </p:cSld>
  <p:clrMapOvr>
    <a:masterClrMapping/>
  </p:clrMapOvr>
</p:sld>
</file>

<file path=ppt/slides/slide5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Trichuris trichiura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Eggs readily contaminate vegetables when night soil is used to fertilize land or where sanitary conditions are poor</a:t>
            </a:r>
          </a:p>
          <a:p>
            <a:pPr lvl="0">
              <a:buFont typeface="Wingdings" pitchFamily="2" charset="2"/>
              <a:buChar char="v"/>
            </a:pPr>
            <a:r>
              <a:rPr lang="en-US" dirty="0"/>
              <a:t>Eggs can remain infective for several months in moist warm soil; </a:t>
            </a:r>
          </a:p>
          <a:p>
            <a:pPr lvl="0">
              <a:buFont typeface="Wingdings" pitchFamily="2" charset="2"/>
              <a:buChar char="v"/>
            </a:pPr>
            <a:r>
              <a:rPr lang="en-US" dirty="0"/>
              <a:t>they are unable to withstand </a:t>
            </a:r>
            <a:r>
              <a:rPr lang="en-US" dirty="0" err="1"/>
              <a:t>dessication</a:t>
            </a:r>
            <a:r>
              <a:rPr lang="en-US" dirty="0"/>
              <a:t>.</a:t>
            </a:r>
          </a:p>
          <a:p>
            <a:pPr marL="0" indent="0">
              <a:buNone/>
            </a:pPr>
            <a:endParaRPr lang="en-US" dirty="0"/>
          </a:p>
        </p:txBody>
      </p:sp>
    </p:spTree>
    <p:extLst>
      <p:ext uri="{BB962C8B-B14F-4D97-AF65-F5344CB8AC3E}">
        <p14:creationId xmlns:p14="http://schemas.microsoft.com/office/powerpoint/2010/main" val="617868271"/>
      </p:ext>
    </p:extLst>
  </p:cSld>
  <p:clrMapOvr>
    <a:masterClrMapping/>
  </p:clrMapOvr>
</p:sld>
</file>

<file path=ppt/slides/slide5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Trichuris trichiura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Symptoms and Pathology</a:t>
            </a:r>
            <a:endParaRPr lang="en-US" dirty="0"/>
          </a:p>
          <a:p>
            <a:pPr lvl="0">
              <a:buFont typeface="Wingdings" pitchFamily="2" charset="2"/>
              <a:buChar char="v"/>
            </a:pPr>
            <a:r>
              <a:rPr lang="en-US" dirty="0"/>
              <a:t>Light infections produce few symptoms;</a:t>
            </a:r>
          </a:p>
          <a:p>
            <a:pPr lvl="0">
              <a:buFont typeface="Wingdings" pitchFamily="2" charset="2"/>
              <a:buChar char="v"/>
            </a:pPr>
            <a:r>
              <a:rPr lang="en-US" dirty="0"/>
              <a:t>Heavy infections cause abdominal pain and </a:t>
            </a:r>
            <a:r>
              <a:rPr lang="en-US" dirty="0" err="1"/>
              <a:t>diarrhoea</a:t>
            </a:r>
            <a:r>
              <a:rPr lang="en-US" dirty="0"/>
              <a:t> often with blood and in young children there may be rectal prolapse following chronic bloody diarrhea</a:t>
            </a:r>
          </a:p>
          <a:p>
            <a:pPr lvl="0">
              <a:buFont typeface="Wingdings" pitchFamily="2" charset="2"/>
              <a:buChar char="v"/>
            </a:pPr>
            <a:r>
              <a:rPr lang="en-US" dirty="0"/>
              <a:t>There may be intestinal ulceration, anaemia, stunted growth and weight loss</a:t>
            </a:r>
          </a:p>
          <a:p>
            <a:endParaRPr lang="en-US" dirty="0"/>
          </a:p>
        </p:txBody>
      </p:sp>
    </p:spTree>
    <p:extLst>
      <p:ext uri="{BB962C8B-B14F-4D97-AF65-F5344CB8AC3E}">
        <p14:creationId xmlns:p14="http://schemas.microsoft.com/office/powerpoint/2010/main" val="1801193460"/>
      </p:ext>
    </p:extLst>
  </p:cSld>
  <p:clrMapOvr>
    <a:masterClrMapping/>
  </p:clrMapOvr>
</p:sld>
</file>

<file path=ppt/slides/slide5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Trichuris trichiura cont’d</a:t>
            </a:r>
            <a:br>
              <a:rPr lang="en-US" dirty="0"/>
            </a:br>
            <a:endParaRPr lang="en-US" dirty="0"/>
          </a:p>
        </p:txBody>
      </p:sp>
      <p:sp>
        <p:nvSpPr>
          <p:cNvPr id="3" name="Content Placeholder 2"/>
          <p:cNvSpPr>
            <a:spLocks noGrp="1"/>
          </p:cNvSpPr>
          <p:nvPr>
            <p:ph idx="1"/>
          </p:nvPr>
        </p:nvSpPr>
        <p:spPr/>
        <p:txBody>
          <a:bodyPr/>
          <a:lstStyle/>
          <a:p>
            <a:pPr lvl="0"/>
            <a:endParaRPr lang="en-US" dirty="0"/>
          </a:p>
          <a:p>
            <a:pPr lvl="0">
              <a:buFont typeface="Wingdings" pitchFamily="2" charset="2"/>
              <a:buChar char="v"/>
            </a:pPr>
            <a:r>
              <a:rPr lang="en-US" dirty="0"/>
              <a:t>Fatality may result</a:t>
            </a:r>
          </a:p>
          <a:p>
            <a:pPr lvl="0">
              <a:buFont typeface="Wingdings" pitchFamily="2" charset="2"/>
              <a:buChar char="v"/>
            </a:pPr>
            <a:r>
              <a:rPr lang="en-US" dirty="0"/>
              <a:t>Severe infection may predispose to E. </a:t>
            </a:r>
            <a:r>
              <a:rPr lang="en-US" dirty="0" err="1"/>
              <a:t>histolytica</a:t>
            </a:r>
            <a:r>
              <a:rPr lang="en-US" dirty="0"/>
              <a:t> infection and with pathogenic </a:t>
            </a:r>
            <a:r>
              <a:rPr lang="en-US" dirty="0" err="1"/>
              <a:t>enterobacteria</a:t>
            </a:r>
            <a:r>
              <a:rPr lang="en-US" dirty="0"/>
              <a:t> (e.g. </a:t>
            </a:r>
            <a:r>
              <a:rPr lang="en-US" i="1" dirty="0" err="1"/>
              <a:t>Shigella</a:t>
            </a:r>
            <a:r>
              <a:rPr lang="en-US" dirty="0"/>
              <a:t> sp.)</a:t>
            </a:r>
          </a:p>
          <a:p>
            <a:pPr lvl="0">
              <a:buFont typeface="Wingdings" pitchFamily="2" charset="2"/>
              <a:buChar char="v"/>
            </a:pPr>
            <a:r>
              <a:rPr lang="en-US" dirty="0"/>
              <a:t>Migrating worms may cause appendicitis</a:t>
            </a:r>
          </a:p>
          <a:p>
            <a:endParaRPr lang="en-US" dirty="0"/>
          </a:p>
        </p:txBody>
      </p:sp>
    </p:spTree>
    <p:extLst>
      <p:ext uri="{BB962C8B-B14F-4D97-AF65-F5344CB8AC3E}">
        <p14:creationId xmlns:p14="http://schemas.microsoft.com/office/powerpoint/2010/main" val="1162888490"/>
      </p:ext>
    </p:extLst>
  </p:cSld>
  <p:clrMapOvr>
    <a:masterClrMapping/>
  </p:clrMapOvr>
</p:sld>
</file>

<file path=ppt/slides/slide5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Trichuris trichiura cont’d</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Prevention and Control</a:t>
            </a:r>
            <a:endParaRPr lang="en-US" dirty="0"/>
          </a:p>
          <a:p>
            <a:pPr lvl="0">
              <a:buFont typeface="Wingdings" pitchFamily="2" charset="2"/>
              <a:buChar char="v"/>
            </a:pPr>
            <a:r>
              <a:rPr lang="en-US" dirty="0"/>
              <a:t>Preventing faecal pollution of soil</a:t>
            </a:r>
          </a:p>
          <a:p>
            <a:pPr lvl="0">
              <a:buFont typeface="Wingdings" pitchFamily="2" charset="2"/>
              <a:buChar char="v"/>
            </a:pPr>
            <a:r>
              <a:rPr lang="en-US" dirty="0"/>
              <a:t>Treatment of infected individuals </a:t>
            </a:r>
          </a:p>
          <a:p>
            <a:pPr marL="0" indent="0" algn="ctr">
              <a:buNone/>
            </a:pPr>
            <a:r>
              <a:rPr lang="en-US" b="1" dirty="0"/>
              <a:t>Diagnosis</a:t>
            </a:r>
            <a:endParaRPr lang="en-US" dirty="0"/>
          </a:p>
          <a:p>
            <a:pPr lvl="0">
              <a:buFont typeface="Wingdings" pitchFamily="2" charset="2"/>
              <a:buChar char="v"/>
            </a:pPr>
            <a:r>
              <a:rPr lang="en-US" dirty="0"/>
              <a:t>Examination of </a:t>
            </a:r>
            <a:r>
              <a:rPr lang="en-US" dirty="0" err="1"/>
              <a:t>faeces</a:t>
            </a:r>
            <a:r>
              <a:rPr lang="en-US" dirty="0"/>
              <a:t> for the eggs</a:t>
            </a:r>
          </a:p>
          <a:p>
            <a:pPr lvl="0">
              <a:buFont typeface="Wingdings" pitchFamily="2" charset="2"/>
              <a:buChar char="v"/>
            </a:pPr>
            <a:r>
              <a:rPr lang="en-US" dirty="0"/>
              <a:t>Examination of the rectum for worms, using a </a:t>
            </a:r>
            <a:r>
              <a:rPr lang="en-US" dirty="0" err="1"/>
              <a:t>proctoscope</a:t>
            </a:r>
            <a:r>
              <a:rPr lang="en-US" dirty="0"/>
              <a:t>, in heavy infections.</a:t>
            </a:r>
          </a:p>
        </p:txBody>
      </p:sp>
    </p:spTree>
    <p:extLst>
      <p:ext uri="{BB962C8B-B14F-4D97-AF65-F5344CB8AC3E}">
        <p14:creationId xmlns:p14="http://schemas.microsoft.com/office/powerpoint/2010/main" val="2856037433"/>
      </p:ext>
    </p:extLst>
  </p:cSld>
  <p:clrMapOvr>
    <a:masterClrMapping/>
  </p:clrMapOvr>
</p:sld>
</file>

<file path=ppt/slides/slide5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Trichostrongylus</a:t>
            </a:r>
            <a:r>
              <a:rPr lang="en-US" b="1" i="1" dirty="0"/>
              <a:t> </a:t>
            </a:r>
            <a:r>
              <a:rPr lang="en-US" b="1" i="1" dirty="0" err="1"/>
              <a:t>sp</a:t>
            </a:r>
            <a:br>
              <a:rPr lang="en-US" dirty="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a:t>These nematodes, also referred to as pseudo-hookworms, are mainly parasites in the digestive tract of ruminants, rodents, and equines. Several species can infect humans.</a:t>
            </a:r>
          </a:p>
          <a:p>
            <a:pPr marL="0" indent="0" algn="ctr">
              <a:buNone/>
            </a:pPr>
            <a:r>
              <a:rPr lang="en-US" b="1" dirty="0"/>
              <a:t>Distribution</a:t>
            </a:r>
            <a:endParaRPr lang="en-US" dirty="0"/>
          </a:p>
          <a:p>
            <a:pPr>
              <a:buFont typeface="Wingdings" pitchFamily="2" charset="2"/>
              <a:buChar char="v"/>
            </a:pPr>
            <a:r>
              <a:rPr lang="en-US" dirty="0"/>
              <a:t>They are reported from parts of Africa (e.g. Egypt), Iran, Iraq, Indonesia, South-east Asia, India, Japan and Chile</a:t>
            </a:r>
          </a:p>
          <a:p>
            <a:endParaRPr lang="en-US" dirty="0"/>
          </a:p>
        </p:txBody>
      </p:sp>
    </p:spTree>
    <p:extLst>
      <p:ext uri="{BB962C8B-B14F-4D97-AF65-F5344CB8AC3E}">
        <p14:creationId xmlns:p14="http://schemas.microsoft.com/office/powerpoint/2010/main" val="290549770"/>
      </p:ext>
    </p:extLst>
  </p:cSld>
  <p:clrMapOvr>
    <a:masterClrMapping/>
  </p:clrMapOvr>
</p:sld>
</file>

<file path=ppt/slides/slide5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Trichostrongylus</a:t>
            </a:r>
            <a:r>
              <a:rPr lang="en-US" b="1" i="1" dirty="0"/>
              <a:t> </a:t>
            </a:r>
            <a:r>
              <a:rPr lang="en-US" b="1" i="1" dirty="0" err="1"/>
              <a:t>sp</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Transmission</a:t>
            </a:r>
            <a:endParaRPr lang="en-US" dirty="0"/>
          </a:p>
          <a:p>
            <a:pPr>
              <a:buFont typeface="Wingdings" pitchFamily="2" charset="2"/>
              <a:buChar char="v"/>
            </a:pPr>
            <a:r>
              <a:rPr lang="en-US" dirty="0"/>
              <a:t>Ingestion of L</a:t>
            </a:r>
            <a:r>
              <a:rPr lang="en-US" baseline="-25000" dirty="0"/>
              <a:t>3 </a:t>
            </a:r>
            <a:r>
              <a:rPr lang="en-US" dirty="0"/>
              <a:t>(infective) larvae in contaminated food or drink</a:t>
            </a:r>
          </a:p>
          <a:p>
            <a:pPr marL="0" indent="0" algn="ctr">
              <a:buNone/>
            </a:pPr>
            <a:r>
              <a:rPr lang="en-US" b="1" dirty="0"/>
              <a:t>Life Cycle</a:t>
            </a:r>
            <a:endParaRPr lang="en-US" dirty="0"/>
          </a:p>
          <a:p>
            <a:pPr lvl="0">
              <a:buFont typeface="Wingdings" pitchFamily="2" charset="2"/>
              <a:buChar char="v"/>
            </a:pPr>
            <a:r>
              <a:rPr lang="en-US" dirty="0"/>
              <a:t>Larvae develop in the intestine into the adult worm which burrows into the mucosa to derive nutrients</a:t>
            </a:r>
          </a:p>
          <a:p>
            <a:pPr lvl="0">
              <a:buFont typeface="Wingdings" pitchFamily="2" charset="2"/>
              <a:buChar char="v"/>
            </a:pPr>
            <a:r>
              <a:rPr lang="en-US" dirty="0"/>
              <a:t>Eggs produced are passed out in the </a:t>
            </a:r>
            <a:r>
              <a:rPr lang="en-US" dirty="0" err="1"/>
              <a:t>faeces</a:t>
            </a:r>
            <a:r>
              <a:rPr lang="en-US" dirty="0"/>
              <a:t>.</a:t>
            </a:r>
          </a:p>
          <a:p>
            <a:endParaRPr lang="en-US" dirty="0"/>
          </a:p>
        </p:txBody>
      </p:sp>
    </p:spTree>
    <p:extLst>
      <p:ext uri="{BB962C8B-B14F-4D97-AF65-F5344CB8AC3E}">
        <p14:creationId xmlns:p14="http://schemas.microsoft.com/office/powerpoint/2010/main" val="1353790478"/>
      </p:ext>
    </p:extLst>
  </p:cSld>
  <p:clrMapOvr>
    <a:masterClrMapping/>
  </p:clrMapOvr>
</p:sld>
</file>

<file path=ppt/slides/slide5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Trichostrongylus</a:t>
            </a:r>
            <a:r>
              <a:rPr lang="en-US" b="1" i="1" dirty="0"/>
              <a:t> </a:t>
            </a:r>
            <a:r>
              <a:rPr lang="en-US" b="1" i="1" dirty="0" err="1"/>
              <a:t>sp</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Symptoms and Pathology</a:t>
            </a:r>
            <a:endParaRPr lang="en-US" dirty="0"/>
          </a:p>
          <a:p>
            <a:pPr lvl="0">
              <a:buFont typeface="Wingdings" pitchFamily="2" charset="2"/>
              <a:buChar char="v"/>
            </a:pPr>
            <a:r>
              <a:rPr lang="en-US" dirty="0"/>
              <a:t>The worms suck blood from the host and may, thus, contribute to anaemia</a:t>
            </a:r>
          </a:p>
          <a:p>
            <a:pPr lvl="0">
              <a:buFont typeface="Wingdings" pitchFamily="2" charset="2"/>
              <a:buChar char="v"/>
            </a:pPr>
            <a:r>
              <a:rPr lang="en-US" dirty="0"/>
              <a:t>Clinical features are, however, less severe than those of hookworm</a:t>
            </a:r>
          </a:p>
          <a:p>
            <a:pPr marL="0" indent="0" algn="ctr">
              <a:buNone/>
            </a:pPr>
            <a:r>
              <a:rPr lang="en-US" b="1" dirty="0"/>
              <a:t>Prevention and Control</a:t>
            </a:r>
            <a:endParaRPr lang="en-US" dirty="0"/>
          </a:p>
          <a:p>
            <a:pPr lvl="0">
              <a:buFont typeface="Wingdings" pitchFamily="2" charset="2"/>
              <a:buChar char="v"/>
            </a:pPr>
            <a:r>
              <a:rPr lang="en-US" dirty="0"/>
              <a:t>Personal and environmental sanitation</a:t>
            </a:r>
          </a:p>
          <a:p>
            <a:pPr lvl="0">
              <a:buFont typeface="Wingdings" pitchFamily="2" charset="2"/>
              <a:buChar char="v"/>
            </a:pPr>
            <a:r>
              <a:rPr lang="en-US" dirty="0"/>
              <a:t>Thorough cooking of meats</a:t>
            </a:r>
          </a:p>
          <a:p>
            <a:pPr marL="0" indent="0">
              <a:buNone/>
            </a:pPr>
            <a:endParaRPr lang="en-US" dirty="0"/>
          </a:p>
        </p:txBody>
      </p:sp>
    </p:spTree>
    <p:extLst>
      <p:ext uri="{BB962C8B-B14F-4D97-AF65-F5344CB8AC3E}">
        <p14:creationId xmlns:p14="http://schemas.microsoft.com/office/powerpoint/2010/main" val="3587343611"/>
      </p:ext>
    </p:extLst>
  </p:cSld>
  <p:clrMapOvr>
    <a:masterClrMapping/>
  </p:clrMapOvr>
</p:sld>
</file>

<file path=ppt/slides/slide5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Trichostrongylus</a:t>
            </a:r>
            <a:r>
              <a:rPr lang="en-US" b="1" i="1" dirty="0"/>
              <a:t> </a:t>
            </a:r>
            <a:r>
              <a:rPr lang="en-US" b="1" i="1" dirty="0" err="1"/>
              <a:t>sp</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dirty="0"/>
              <a:t>Diagnosis</a:t>
            </a:r>
            <a:endParaRPr lang="en-US" dirty="0"/>
          </a:p>
          <a:p>
            <a:pPr lvl="0">
              <a:buFont typeface="Wingdings" pitchFamily="2" charset="2"/>
              <a:buChar char="v"/>
            </a:pPr>
            <a:r>
              <a:rPr lang="en-US" dirty="0"/>
              <a:t>Examination of </a:t>
            </a:r>
            <a:r>
              <a:rPr lang="en-US" dirty="0" err="1"/>
              <a:t>faeces</a:t>
            </a:r>
            <a:r>
              <a:rPr lang="en-US" dirty="0"/>
              <a:t> for the eggs, which hookworm-like are much larger than those of </a:t>
            </a:r>
            <a:r>
              <a:rPr lang="en-US" i="1" dirty="0"/>
              <a:t>S. stercoralis</a:t>
            </a:r>
            <a:r>
              <a:rPr lang="en-US" dirty="0"/>
              <a:t> which contains an embryonic larva ready to hatch</a:t>
            </a:r>
          </a:p>
          <a:p>
            <a:pPr lvl="0">
              <a:buFont typeface="Wingdings" pitchFamily="2" charset="2"/>
              <a:buChar char="v"/>
            </a:pPr>
            <a:r>
              <a:rPr lang="en-US" dirty="0"/>
              <a:t>The eggs are longer and thinner than those of hookworm and more pointed at one or both ends</a:t>
            </a:r>
          </a:p>
          <a:p>
            <a:pPr lvl="0">
              <a:buFont typeface="Wingdings" pitchFamily="2" charset="2"/>
              <a:buChar char="v"/>
            </a:pPr>
            <a:r>
              <a:rPr lang="en-US" dirty="0"/>
              <a:t>The adult female, however, lacks the distinct </a:t>
            </a:r>
            <a:r>
              <a:rPr lang="en-US" dirty="0" err="1"/>
              <a:t>buccal</a:t>
            </a:r>
            <a:r>
              <a:rPr lang="en-US" dirty="0"/>
              <a:t> cavity of the human hookworms.</a:t>
            </a:r>
          </a:p>
          <a:p>
            <a:endParaRPr lang="en-US" dirty="0"/>
          </a:p>
        </p:txBody>
      </p:sp>
    </p:spTree>
    <p:extLst>
      <p:ext uri="{BB962C8B-B14F-4D97-AF65-F5344CB8AC3E}">
        <p14:creationId xmlns:p14="http://schemas.microsoft.com/office/powerpoint/2010/main" val="2804643797"/>
      </p:ext>
    </p:extLst>
  </p:cSld>
  <p:clrMapOvr>
    <a:masterClrMapping/>
  </p:clrMapOvr>
</p:sld>
</file>

<file path=ppt/slides/slide5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Capillaria</a:t>
            </a:r>
            <a:r>
              <a:rPr lang="en-US" b="1" i="1" dirty="0"/>
              <a:t> </a:t>
            </a:r>
            <a:r>
              <a:rPr lang="en-US" b="1" i="1" dirty="0" err="1"/>
              <a:t>philippinensis</a:t>
            </a:r>
            <a:br>
              <a:rPr lang="en-US" dirty="0"/>
            </a:br>
            <a:endParaRPr lang="en-US" dirty="0"/>
          </a:p>
        </p:txBody>
      </p:sp>
      <p:sp>
        <p:nvSpPr>
          <p:cNvPr id="3" name="Content Placeholder 2"/>
          <p:cNvSpPr>
            <a:spLocks noGrp="1"/>
          </p:cNvSpPr>
          <p:nvPr>
            <p:ph idx="1"/>
          </p:nvPr>
        </p:nvSpPr>
        <p:spPr>
          <a:xfrm>
            <a:off x="457200" y="1600200"/>
            <a:ext cx="8458200" cy="4525963"/>
          </a:xfrm>
        </p:spPr>
        <p:txBody>
          <a:bodyPr>
            <a:normAutofit/>
          </a:bodyPr>
          <a:lstStyle/>
          <a:p>
            <a:pPr>
              <a:buFont typeface="Wingdings" pitchFamily="2" charset="2"/>
              <a:buChar char="v"/>
            </a:pPr>
            <a:r>
              <a:rPr lang="en-US" dirty="0"/>
              <a:t>This is a relatively small whipworm which is parasitic in fish-eating birds but which can infect humans, causing the disease, </a:t>
            </a:r>
            <a:r>
              <a:rPr lang="en-US" dirty="0" err="1"/>
              <a:t>Capillariasis</a:t>
            </a:r>
            <a:endParaRPr lang="en-US" dirty="0"/>
          </a:p>
          <a:p>
            <a:pPr marL="0" indent="0" algn="ctr">
              <a:buNone/>
            </a:pPr>
            <a:endParaRPr lang="en-US" b="1" dirty="0"/>
          </a:p>
          <a:p>
            <a:pPr marL="0" indent="0" algn="ctr">
              <a:buNone/>
            </a:pPr>
            <a:r>
              <a:rPr lang="en-US" b="1" dirty="0"/>
              <a:t>Distribution</a:t>
            </a:r>
            <a:endParaRPr lang="en-US" dirty="0"/>
          </a:p>
          <a:p>
            <a:pPr>
              <a:buFont typeface="Wingdings" pitchFamily="2" charset="2"/>
              <a:buChar char="v"/>
            </a:pPr>
            <a:r>
              <a:rPr lang="en-US" dirty="0"/>
              <a:t>It is found in the Philippine islands, especially in the northern Luzon, and in Thailand and, in recent times, in Japan</a:t>
            </a:r>
          </a:p>
          <a:p>
            <a:endParaRPr lang="en-US" dirty="0"/>
          </a:p>
        </p:txBody>
      </p:sp>
    </p:spTree>
    <p:extLst>
      <p:ext uri="{BB962C8B-B14F-4D97-AF65-F5344CB8AC3E}">
        <p14:creationId xmlns:p14="http://schemas.microsoft.com/office/powerpoint/2010/main" val="3794811359"/>
      </p:ext>
    </p:extLst>
  </p:cSld>
  <p:clrMapOvr>
    <a:masterClrMapping/>
  </p:clrMapOvr>
</p:sld>
</file>

<file path=ppt/slides/slide5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Capillaria</a:t>
            </a:r>
            <a:r>
              <a:rPr lang="en-US" b="1" i="1" dirty="0"/>
              <a:t> </a:t>
            </a:r>
            <a:r>
              <a:rPr lang="en-US" b="1" i="1" dirty="0" err="1"/>
              <a:t>philippinensis</a:t>
            </a:r>
            <a:r>
              <a:rPr lang="en-US" b="1" i="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Transmission</a:t>
            </a:r>
            <a:endParaRPr lang="en-US" dirty="0"/>
          </a:p>
          <a:p>
            <a:pPr>
              <a:buFont typeface="Wingdings" pitchFamily="2" charset="2"/>
              <a:buChar char="v"/>
            </a:pPr>
            <a:r>
              <a:rPr lang="en-US" dirty="0"/>
              <a:t>By ingestion of infective eggs in raw, undercooked, or pickled fish</a:t>
            </a:r>
          </a:p>
          <a:p>
            <a:pPr>
              <a:buFont typeface="Wingdings" pitchFamily="2" charset="2"/>
              <a:buChar char="v"/>
            </a:pPr>
            <a:r>
              <a:rPr lang="en-US" dirty="0"/>
              <a:t>Occasionally, infective larvae develop in the intestine and cause autoinfection</a:t>
            </a:r>
          </a:p>
          <a:p>
            <a:pPr marL="0" indent="0" algn="ctr">
              <a:buNone/>
            </a:pPr>
            <a:r>
              <a:rPr lang="en-US" b="1" dirty="0"/>
              <a:t>Life Cycle</a:t>
            </a:r>
            <a:endParaRPr lang="en-US" dirty="0"/>
          </a:p>
          <a:p>
            <a:pPr lvl="0">
              <a:buFont typeface="Wingdings" pitchFamily="2" charset="2"/>
              <a:buChar char="v"/>
            </a:pPr>
            <a:r>
              <a:rPr lang="en-US" dirty="0"/>
              <a:t>Ingested eggs hatch and develop into mature worms in the small intestine where they become embedded in the mucosa</a:t>
            </a:r>
          </a:p>
          <a:p>
            <a:pPr>
              <a:buFont typeface="Wingdings" pitchFamily="2" charset="2"/>
              <a:buChar char="v"/>
            </a:pPr>
            <a:endParaRPr lang="en-US" dirty="0"/>
          </a:p>
        </p:txBody>
      </p:sp>
    </p:spTree>
    <p:extLst>
      <p:ext uri="{BB962C8B-B14F-4D97-AF65-F5344CB8AC3E}">
        <p14:creationId xmlns:p14="http://schemas.microsoft.com/office/powerpoint/2010/main" val="1996384804"/>
      </p:ext>
    </p:extLst>
  </p:cSld>
  <p:clrMapOvr>
    <a:masterClrMapping/>
  </p:clrMapOvr>
</p:sld>
</file>

<file path=ppt/slides/slide5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Capillaria</a:t>
            </a:r>
            <a:r>
              <a:rPr lang="en-US" b="1" i="1" dirty="0"/>
              <a:t> </a:t>
            </a:r>
            <a:r>
              <a:rPr lang="en-US" b="1" i="1" dirty="0" err="1"/>
              <a:t>philippinensis</a:t>
            </a:r>
            <a:r>
              <a:rPr lang="en-US" b="1" i="1" dirty="0"/>
              <a:t>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Eggs produced by the female are passed out in </a:t>
            </a:r>
            <a:r>
              <a:rPr lang="en-US" dirty="0" err="1"/>
              <a:t>faeces</a:t>
            </a:r>
            <a:r>
              <a:rPr lang="en-US" dirty="0"/>
              <a:t> and require a period of development in the environment before becoming infective</a:t>
            </a:r>
          </a:p>
          <a:p>
            <a:pPr lvl="0">
              <a:buFont typeface="Wingdings" pitchFamily="2" charset="2"/>
              <a:buChar char="v"/>
            </a:pPr>
            <a:endParaRPr lang="en-US" dirty="0"/>
          </a:p>
          <a:p>
            <a:pPr lvl="0">
              <a:buFont typeface="Wingdings" pitchFamily="2" charset="2"/>
              <a:buChar char="v"/>
            </a:pPr>
            <a:r>
              <a:rPr lang="en-US" dirty="0"/>
              <a:t>Larval stages have been found in several species of fresh and salt water fish</a:t>
            </a:r>
          </a:p>
          <a:p>
            <a:pPr lvl="0">
              <a:buFont typeface="Wingdings" pitchFamily="2" charset="2"/>
              <a:buChar char="v"/>
            </a:pPr>
            <a:r>
              <a:rPr lang="en-US" dirty="0"/>
              <a:t>Fish eating birds are considered as natural definitive hosts</a:t>
            </a:r>
          </a:p>
          <a:p>
            <a:pPr marL="0" indent="0">
              <a:buNone/>
            </a:pPr>
            <a:endParaRPr lang="en-US" dirty="0"/>
          </a:p>
        </p:txBody>
      </p:sp>
    </p:spTree>
    <p:extLst>
      <p:ext uri="{BB962C8B-B14F-4D97-AF65-F5344CB8AC3E}">
        <p14:creationId xmlns:p14="http://schemas.microsoft.com/office/powerpoint/2010/main" val="3999856547"/>
      </p:ext>
    </p:extLst>
  </p:cSld>
  <p:clrMapOvr>
    <a:masterClrMapping/>
  </p:clrMapOvr>
</p:sld>
</file>

<file path=ppt/slides/slide5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Capillaria</a:t>
            </a:r>
            <a:r>
              <a:rPr lang="en-US" b="1" i="1" dirty="0"/>
              <a:t> </a:t>
            </a:r>
            <a:r>
              <a:rPr lang="en-US" b="1" i="1" dirty="0" err="1"/>
              <a:t>philippinensis</a:t>
            </a:r>
            <a:r>
              <a:rPr lang="en-US" b="1" i="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Symptoms and Pathology</a:t>
            </a:r>
            <a:endParaRPr lang="en-US" dirty="0"/>
          </a:p>
          <a:p>
            <a:pPr lvl="0">
              <a:buFont typeface="Wingdings" pitchFamily="2" charset="2"/>
              <a:buChar char="v"/>
            </a:pPr>
            <a:r>
              <a:rPr lang="en-US" dirty="0"/>
              <a:t>Early and mild infections cause abdominal pain, intestinal ‘gurgling’ and chronic watery diarrhea</a:t>
            </a:r>
          </a:p>
          <a:p>
            <a:pPr lvl="0">
              <a:buFont typeface="Wingdings" pitchFamily="2" charset="2"/>
              <a:buChar char="v"/>
            </a:pPr>
            <a:r>
              <a:rPr lang="en-US" dirty="0"/>
              <a:t>Heavy infections may lead to muscle wasting and </a:t>
            </a:r>
            <a:r>
              <a:rPr lang="en-US" dirty="0" err="1"/>
              <a:t>oedema</a:t>
            </a:r>
            <a:r>
              <a:rPr lang="en-US" dirty="0"/>
              <a:t> as a result of protein loss and severe </a:t>
            </a:r>
            <a:r>
              <a:rPr lang="en-US" dirty="0" err="1"/>
              <a:t>malabsorption</a:t>
            </a:r>
            <a:r>
              <a:rPr lang="en-US" dirty="0"/>
              <a:t> of fats and sugars</a:t>
            </a:r>
          </a:p>
          <a:p>
            <a:pPr lvl="0">
              <a:buFont typeface="Wingdings" pitchFamily="2" charset="2"/>
              <a:buChar char="v"/>
            </a:pPr>
            <a:r>
              <a:rPr lang="en-US" dirty="0"/>
              <a:t>Plasma levels of potassium, sodium and calcium are reduced</a:t>
            </a:r>
          </a:p>
          <a:p>
            <a:endParaRPr lang="en-US" dirty="0"/>
          </a:p>
        </p:txBody>
      </p:sp>
    </p:spTree>
    <p:extLst>
      <p:ext uri="{BB962C8B-B14F-4D97-AF65-F5344CB8AC3E}">
        <p14:creationId xmlns:p14="http://schemas.microsoft.com/office/powerpoint/2010/main" val="1887703328"/>
      </p:ext>
    </p:extLst>
  </p:cSld>
  <p:clrMapOvr>
    <a:masterClrMapping/>
  </p:clrMapOvr>
</p:sld>
</file>

<file path=ppt/slides/slide5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Capillaria</a:t>
            </a:r>
            <a:r>
              <a:rPr lang="en-US" b="1" i="1" dirty="0"/>
              <a:t> </a:t>
            </a:r>
            <a:r>
              <a:rPr lang="en-US" b="1" i="1" dirty="0" err="1"/>
              <a:t>philippinensis</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Prevention and Control</a:t>
            </a:r>
            <a:endParaRPr lang="en-US" dirty="0"/>
          </a:p>
          <a:p>
            <a:pPr lvl="0">
              <a:buFont typeface="Wingdings" pitchFamily="2" charset="2"/>
              <a:buChar char="v"/>
            </a:pPr>
            <a:r>
              <a:rPr lang="en-US" dirty="0"/>
              <a:t>Thorough cooking of fish</a:t>
            </a:r>
          </a:p>
          <a:p>
            <a:pPr lvl="0">
              <a:buFont typeface="Wingdings" pitchFamily="2" charset="2"/>
              <a:buChar char="v"/>
            </a:pPr>
            <a:r>
              <a:rPr lang="en-US" dirty="0"/>
              <a:t>Crustaceans may act as carrier hosts and should be well cooked before eating</a:t>
            </a:r>
          </a:p>
          <a:p>
            <a:pPr marL="0" indent="0" algn="ctr">
              <a:buNone/>
            </a:pPr>
            <a:r>
              <a:rPr lang="en-US" b="1" dirty="0"/>
              <a:t>Diagnosis</a:t>
            </a:r>
            <a:endParaRPr lang="en-US" dirty="0"/>
          </a:p>
          <a:p>
            <a:pPr lvl="0">
              <a:buFont typeface="Wingdings" pitchFamily="2" charset="2"/>
              <a:buChar char="v"/>
            </a:pPr>
            <a:r>
              <a:rPr lang="en-US" dirty="0"/>
              <a:t>Examination of </a:t>
            </a:r>
            <a:r>
              <a:rPr lang="en-US" dirty="0" err="1"/>
              <a:t>faeces</a:t>
            </a:r>
            <a:r>
              <a:rPr lang="en-US" dirty="0"/>
              <a:t> for the eggs, using the faecal concentration technique, if possible.</a:t>
            </a:r>
          </a:p>
          <a:p>
            <a:pPr>
              <a:buFont typeface="Wingdings" pitchFamily="2" charset="2"/>
              <a:buChar char="v"/>
            </a:pPr>
            <a:endParaRPr lang="en-US" dirty="0"/>
          </a:p>
        </p:txBody>
      </p:sp>
    </p:spTree>
    <p:extLst>
      <p:ext uri="{BB962C8B-B14F-4D97-AF65-F5344CB8AC3E}">
        <p14:creationId xmlns:p14="http://schemas.microsoft.com/office/powerpoint/2010/main" val="2308527511"/>
      </p:ext>
    </p:extLst>
  </p:cSld>
  <p:clrMapOvr>
    <a:masterClrMapping/>
  </p:clrMapOvr>
</p:sld>
</file>

<file path=ppt/slides/slide5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PARASITOLOGY (BIOL 460)</a:t>
            </a:r>
          </a:p>
        </p:txBody>
      </p:sp>
      <p:sp>
        <p:nvSpPr>
          <p:cNvPr id="3" name="Subtitle 2"/>
          <p:cNvSpPr>
            <a:spLocks noGrp="1"/>
          </p:cNvSpPr>
          <p:nvPr>
            <p:ph type="subTitle" idx="1"/>
          </p:nvPr>
        </p:nvSpPr>
        <p:spPr/>
        <p:txBody>
          <a:bodyPr/>
          <a:lstStyle/>
          <a:p>
            <a:r>
              <a:rPr lang="en-US" dirty="0"/>
              <a:t>UNIT 7B</a:t>
            </a:r>
          </a:p>
          <a:p>
            <a:r>
              <a:rPr lang="en-US" dirty="0"/>
              <a:t>BLOOD AND TISSUE NEMATODES</a:t>
            </a:r>
          </a:p>
        </p:txBody>
      </p:sp>
    </p:spTree>
    <p:extLst>
      <p:ext uri="{BB962C8B-B14F-4D97-AF65-F5344CB8AC3E}">
        <p14:creationId xmlns:p14="http://schemas.microsoft.com/office/powerpoint/2010/main" val="2167824285"/>
      </p:ext>
    </p:extLst>
  </p:cSld>
  <p:clrMapOvr>
    <a:masterClrMapping/>
  </p:clrMapOvr>
</p:sld>
</file>

<file path=ppt/slides/slide5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228600"/>
            <a:ext cx="8153400" cy="5638800"/>
          </a:xfrm>
        </p:spPr>
      </p:pic>
    </p:spTree>
    <p:extLst>
      <p:ext uri="{BB962C8B-B14F-4D97-AF65-F5344CB8AC3E}">
        <p14:creationId xmlns:p14="http://schemas.microsoft.com/office/powerpoint/2010/main" val="2305459964"/>
      </p:ext>
    </p:extLst>
  </p:cSld>
  <p:clrMapOvr>
    <a:masterClrMapping/>
  </p:clrMapOvr>
</p:sld>
</file>

<file path=ppt/slides/slide5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Blood and Tissue Nematodes</a:t>
            </a:r>
            <a:br>
              <a:rPr lang="en-US" dirty="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GB" dirty="0"/>
              <a:t>Generally the transmission of these nematodes is through the bite of an insect, usually a mosquito or some kind of fly; </a:t>
            </a:r>
          </a:p>
          <a:p>
            <a:pPr>
              <a:buFont typeface="Wingdings" pitchFamily="2" charset="2"/>
              <a:buChar char="v"/>
            </a:pPr>
            <a:r>
              <a:rPr lang="en-GB" dirty="0"/>
              <a:t>or by ingestion of a crustacean, e.g. Cyclops in infested water, or the ingestion of encysted larvae in raw or undercooked meat of infected animals (mammals) such as wild pig, warthog or bear.</a:t>
            </a:r>
            <a:endParaRPr lang="en-US" dirty="0"/>
          </a:p>
          <a:p>
            <a:endParaRPr lang="en-US" dirty="0"/>
          </a:p>
        </p:txBody>
      </p:sp>
    </p:spTree>
    <p:extLst>
      <p:ext uri="{BB962C8B-B14F-4D97-AF65-F5344CB8AC3E}">
        <p14:creationId xmlns:p14="http://schemas.microsoft.com/office/powerpoint/2010/main" val="3440271015"/>
      </p:ext>
    </p:extLst>
  </p:cSld>
  <p:clrMapOvr>
    <a:masterClrMapping/>
  </p:clrMapOvr>
</p:sld>
</file>

<file path=ppt/slides/slide5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Blood and Tissue Nematodes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lgn="just">
              <a:lnSpc>
                <a:spcPct val="115000"/>
              </a:lnSpc>
              <a:spcBef>
                <a:spcPts val="0"/>
              </a:spcBef>
              <a:buFont typeface="Wingdings" pitchFamily="2" charset="2"/>
              <a:buChar char="v"/>
            </a:pPr>
            <a:r>
              <a:rPr lang="en-GB" dirty="0">
                <a:effectLst/>
                <a:latin typeface="Times New Roman"/>
                <a:ea typeface="Calibri"/>
                <a:cs typeface="Times New Roman"/>
              </a:rPr>
              <a:t>This group includes the following:</a:t>
            </a:r>
            <a:endParaRPr lang="en-US" dirty="0">
              <a:effectLst/>
              <a:latin typeface="Times New Roman"/>
              <a:ea typeface="Calibri"/>
              <a:cs typeface="Times New Roman"/>
            </a:endParaRPr>
          </a:p>
          <a:p>
            <a:pPr lvl="0" algn="just">
              <a:lnSpc>
                <a:spcPct val="115000"/>
              </a:lnSpc>
              <a:spcBef>
                <a:spcPts val="0"/>
              </a:spcBef>
              <a:buFont typeface="+mj-lt"/>
              <a:buAutoNum type="alphaLcPeriod"/>
            </a:pPr>
            <a:r>
              <a:rPr lang="en-GB" dirty="0">
                <a:effectLst/>
                <a:latin typeface="Times New Roman"/>
                <a:ea typeface="Calibri"/>
                <a:cs typeface="Times New Roman"/>
              </a:rPr>
              <a:t>Of major medical importance:</a:t>
            </a:r>
            <a:endParaRPr lang="en-US" dirty="0">
              <a:effectLst/>
              <a:latin typeface="Times New Roman"/>
              <a:ea typeface="Calibri"/>
              <a:cs typeface="Times New Roman"/>
            </a:endParaRPr>
          </a:p>
          <a:p>
            <a:pPr marL="571500" marR="0" indent="-457200" algn="just">
              <a:lnSpc>
                <a:spcPct val="115000"/>
              </a:lnSpc>
              <a:spcBef>
                <a:spcPts val="0"/>
              </a:spcBef>
              <a:spcAft>
                <a:spcPts val="0"/>
              </a:spcAft>
              <a:buFont typeface="Wingdings" pitchFamily="2" charset="2"/>
              <a:buChar char="v"/>
            </a:pPr>
            <a:r>
              <a:rPr lang="en-GB" dirty="0" err="1">
                <a:effectLst/>
                <a:latin typeface="Times New Roman"/>
                <a:ea typeface="Calibri"/>
                <a:cs typeface="Times New Roman"/>
              </a:rPr>
              <a:t>Wuchereria</a:t>
            </a:r>
            <a:endParaRPr lang="en-US" dirty="0">
              <a:effectLst/>
              <a:latin typeface="Times New Roman"/>
              <a:ea typeface="Calibri"/>
              <a:cs typeface="Times New Roman"/>
            </a:endParaRPr>
          </a:p>
          <a:p>
            <a:pPr marL="571500" marR="0" indent="-457200" algn="just">
              <a:lnSpc>
                <a:spcPct val="115000"/>
              </a:lnSpc>
              <a:spcBef>
                <a:spcPts val="0"/>
              </a:spcBef>
              <a:spcAft>
                <a:spcPts val="0"/>
              </a:spcAft>
              <a:buFont typeface="Wingdings" pitchFamily="2" charset="2"/>
              <a:buChar char="v"/>
            </a:pPr>
            <a:r>
              <a:rPr lang="en-GB" dirty="0" err="1">
                <a:effectLst/>
              </a:rPr>
              <a:t>Brugia</a:t>
            </a:r>
            <a:r>
              <a:rPr lang="en-GB" dirty="0">
                <a:effectLst/>
              </a:rPr>
              <a:t> </a:t>
            </a:r>
          </a:p>
          <a:p>
            <a:pPr marL="571500" marR="0" indent="-457200" algn="just">
              <a:lnSpc>
                <a:spcPct val="115000"/>
              </a:lnSpc>
              <a:spcBef>
                <a:spcPts val="0"/>
              </a:spcBef>
              <a:spcAft>
                <a:spcPts val="0"/>
              </a:spcAft>
              <a:buFont typeface="Wingdings" pitchFamily="2" charset="2"/>
              <a:buChar char="v"/>
            </a:pPr>
            <a:r>
              <a:rPr lang="en-GB" dirty="0">
                <a:effectLst/>
                <a:latin typeface="Times New Roman"/>
                <a:ea typeface="Calibri"/>
                <a:cs typeface="Times New Roman"/>
              </a:rPr>
              <a:t>Loa </a:t>
            </a:r>
            <a:r>
              <a:rPr lang="en-GB" dirty="0" err="1">
                <a:effectLst/>
                <a:latin typeface="Times New Roman"/>
                <a:ea typeface="Calibri"/>
                <a:cs typeface="Times New Roman"/>
              </a:rPr>
              <a:t>loa</a:t>
            </a:r>
            <a:r>
              <a:rPr lang="en-GB" dirty="0">
                <a:effectLst/>
                <a:latin typeface="Times New Roman"/>
                <a:ea typeface="Calibri"/>
                <a:cs typeface="Times New Roman"/>
              </a:rPr>
              <a:t>                Family </a:t>
            </a:r>
            <a:r>
              <a:rPr lang="en-GB" dirty="0" err="1">
                <a:effectLst/>
                <a:latin typeface="Times New Roman"/>
                <a:ea typeface="Calibri"/>
                <a:cs typeface="Times New Roman"/>
              </a:rPr>
              <a:t>Filarioidea</a:t>
            </a:r>
            <a:endParaRPr lang="en-US" dirty="0">
              <a:effectLst/>
              <a:latin typeface="Times New Roman"/>
              <a:ea typeface="Calibri"/>
              <a:cs typeface="Times New Roman"/>
            </a:endParaRPr>
          </a:p>
          <a:p>
            <a:pPr marL="571500" marR="0" indent="-457200" algn="just">
              <a:lnSpc>
                <a:spcPct val="115000"/>
              </a:lnSpc>
              <a:spcBef>
                <a:spcPts val="0"/>
              </a:spcBef>
              <a:spcAft>
                <a:spcPts val="0"/>
              </a:spcAft>
              <a:buFont typeface="Wingdings" pitchFamily="2" charset="2"/>
              <a:buChar char="v"/>
            </a:pPr>
            <a:r>
              <a:rPr lang="en-GB" dirty="0" err="1">
                <a:effectLst/>
                <a:latin typeface="Times New Roman"/>
                <a:ea typeface="Calibri"/>
                <a:cs typeface="Times New Roman"/>
              </a:rPr>
              <a:t>Onchocerca</a:t>
            </a:r>
            <a:endParaRPr lang="en-US" dirty="0">
              <a:effectLst/>
              <a:latin typeface="Times New Roman"/>
              <a:ea typeface="Calibri"/>
              <a:cs typeface="Times New Roman"/>
            </a:endParaRPr>
          </a:p>
          <a:p>
            <a:pPr marL="571500" marR="0" indent="-457200" algn="just">
              <a:lnSpc>
                <a:spcPct val="115000"/>
              </a:lnSpc>
              <a:spcBef>
                <a:spcPts val="0"/>
              </a:spcBef>
              <a:spcAft>
                <a:spcPts val="0"/>
              </a:spcAft>
              <a:buFont typeface="Wingdings" pitchFamily="2" charset="2"/>
              <a:buChar char="v"/>
            </a:pPr>
            <a:r>
              <a:rPr lang="en-GB" dirty="0" err="1">
                <a:effectLst/>
                <a:latin typeface="Times New Roman"/>
                <a:ea typeface="Calibri"/>
                <a:cs typeface="Times New Roman"/>
              </a:rPr>
              <a:t>Dracunculus</a:t>
            </a:r>
            <a:r>
              <a:rPr lang="en-GB" dirty="0">
                <a:effectLst/>
                <a:latin typeface="Times New Roman"/>
                <a:ea typeface="Calibri"/>
                <a:cs typeface="Times New Roman"/>
              </a:rPr>
              <a:t>	   -    Family </a:t>
            </a:r>
            <a:r>
              <a:rPr lang="en-GB" dirty="0" err="1">
                <a:effectLst/>
                <a:latin typeface="Times New Roman"/>
                <a:ea typeface="Calibri"/>
                <a:cs typeface="Times New Roman"/>
              </a:rPr>
              <a:t>Dracunculoidea</a:t>
            </a:r>
            <a:endParaRPr lang="en-US" dirty="0">
              <a:effectLst/>
              <a:latin typeface="Times New Roman"/>
              <a:ea typeface="Calibri"/>
              <a:cs typeface="Times New Roman"/>
            </a:endParaRPr>
          </a:p>
          <a:p>
            <a:pPr marL="571500" marR="0" indent="-457200" algn="just">
              <a:lnSpc>
                <a:spcPct val="115000"/>
              </a:lnSpc>
              <a:spcBef>
                <a:spcPts val="0"/>
              </a:spcBef>
              <a:spcAft>
                <a:spcPts val="800"/>
              </a:spcAft>
              <a:buFont typeface="Wingdings" pitchFamily="2" charset="2"/>
              <a:buChar char="v"/>
            </a:pPr>
            <a:r>
              <a:rPr lang="en-GB" dirty="0" err="1">
                <a:effectLst/>
                <a:latin typeface="Times New Roman"/>
                <a:ea typeface="Calibri"/>
                <a:cs typeface="Times New Roman"/>
              </a:rPr>
              <a:t>Trichinella</a:t>
            </a:r>
            <a:r>
              <a:rPr lang="en-GB" dirty="0">
                <a:effectLst/>
                <a:latin typeface="Times New Roman"/>
                <a:ea typeface="Calibri"/>
                <a:cs typeface="Times New Roman"/>
              </a:rPr>
              <a:t> 	   -	Family </a:t>
            </a:r>
            <a:r>
              <a:rPr lang="en-GB" dirty="0" err="1">
                <a:effectLst/>
                <a:latin typeface="Times New Roman"/>
                <a:ea typeface="Calibri"/>
                <a:cs typeface="Times New Roman"/>
              </a:rPr>
              <a:t>Trichinelloidea</a:t>
            </a:r>
            <a:endParaRPr lang="en-US" dirty="0">
              <a:effectLst/>
              <a:latin typeface="Times New Roman"/>
              <a:ea typeface="Calibri"/>
              <a:cs typeface="Times New Roman"/>
            </a:endParaRPr>
          </a:p>
          <a:p>
            <a:endParaRPr lang="en-US" dirty="0"/>
          </a:p>
        </p:txBody>
      </p:sp>
      <p:sp>
        <p:nvSpPr>
          <p:cNvPr id="4" name="Right Brace 3"/>
          <p:cNvSpPr/>
          <p:nvPr/>
        </p:nvSpPr>
        <p:spPr>
          <a:xfrm>
            <a:off x="3229993" y="2971800"/>
            <a:ext cx="433387" cy="1844139"/>
          </a:xfrm>
          <a:prstGeom prst="rightBrace">
            <a:avLst/>
          </a:prstGeom>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1714164859"/>
      </p:ext>
    </p:extLst>
  </p:cSld>
  <p:clrMapOvr>
    <a:masterClrMapping/>
  </p:clrMapOvr>
</p:sld>
</file>

<file path=ppt/slides/slide5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err="1"/>
              <a:t>Trichinella</a:t>
            </a:r>
            <a:r>
              <a:rPr lang="en-GB" b="1" dirty="0"/>
              <a:t> </a:t>
            </a:r>
            <a:r>
              <a:rPr lang="en-GB" b="1" dirty="0" err="1"/>
              <a:t>spp</a:t>
            </a:r>
            <a:r>
              <a:rPr lang="en-GB" b="1" dirty="0"/>
              <a:t> (Family </a:t>
            </a:r>
            <a:r>
              <a:rPr lang="en-GB" b="1" dirty="0" err="1"/>
              <a:t>Trichinelloidea</a:t>
            </a:r>
            <a:r>
              <a:rPr lang="en-GB" b="1" dirty="0"/>
              <a:t>)</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t>Members of this family are small worms with the anterior end narrower than the rest of the body</a:t>
            </a:r>
            <a:endParaRPr lang="en-US" dirty="0"/>
          </a:p>
          <a:p>
            <a:pPr lvl="0">
              <a:buFont typeface="Wingdings" pitchFamily="2" charset="2"/>
              <a:buChar char="v"/>
            </a:pPr>
            <a:r>
              <a:rPr lang="en-GB" dirty="0"/>
              <a:t>The oesophagus is narrow, non-muscular tube without a posterior bulb</a:t>
            </a:r>
            <a:endParaRPr lang="en-US" dirty="0"/>
          </a:p>
          <a:p>
            <a:pPr lvl="0">
              <a:buFont typeface="Wingdings" pitchFamily="2" charset="2"/>
              <a:buChar char="v"/>
            </a:pPr>
            <a:r>
              <a:rPr lang="en-GB" dirty="0"/>
              <a:t>There is only one ovary in the female</a:t>
            </a:r>
            <a:endParaRPr lang="en-US" dirty="0"/>
          </a:p>
          <a:p>
            <a:pPr lvl="0">
              <a:buFont typeface="Wingdings" pitchFamily="2" charset="2"/>
              <a:buChar char="v"/>
            </a:pPr>
            <a:r>
              <a:rPr lang="en-GB" dirty="0"/>
              <a:t>The genus </a:t>
            </a:r>
            <a:r>
              <a:rPr lang="en-GB" dirty="0" err="1"/>
              <a:t>Trichinella</a:t>
            </a:r>
            <a:r>
              <a:rPr lang="en-GB" dirty="0"/>
              <a:t> belongs, along with the Genera, </a:t>
            </a:r>
            <a:r>
              <a:rPr lang="en-GB" dirty="0" err="1"/>
              <a:t>Trichuris</a:t>
            </a:r>
            <a:r>
              <a:rPr lang="en-GB" dirty="0"/>
              <a:t> and </a:t>
            </a:r>
            <a:r>
              <a:rPr lang="en-GB" dirty="0" err="1"/>
              <a:t>Capillaria</a:t>
            </a:r>
            <a:r>
              <a:rPr lang="en-GB" dirty="0"/>
              <a:t> (intestinal nematodes) to the order </a:t>
            </a:r>
            <a:r>
              <a:rPr lang="en-GB" dirty="0" err="1"/>
              <a:t>Trichinellida</a:t>
            </a:r>
            <a:r>
              <a:rPr lang="en-GB" dirty="0"/>
              <a:t>.</a:t>
            </a:r>
            <a:endParaRPr lang="en-US" dirty="0"/>
          </a:p>
        </p:txBody>
      </p:sp>
    </p:spTree>
    <p:extLst>
      <p:ext uri="{BB962C8B-B14F-4D97-AF65-F5344CB8AC3E}">
        <p14:creationId xmlns:p14="http://schemas.microsoft.com/office/powerpoint/2010/main" val="2960803678"/>
      </p:ext>
    </p:extLst>
  </p:cSld>
  <p:clrMapOvr>
    <a:masterClrMapping/>
  </p:clrMapOvr>
</p:sld>
</file>

<file path=ppt/slides/slide5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8600" y="228600"/>
            <a:ext cx="8610600" cy="6096000"/>
          </a:xfrm>
        </p:spPr>
      </p:pic>
    </p:spTree>
    <p:extLst>
      <p:ext uri="{BB962C8B-B14F-4D97-AF65-F5344CB8AC3E}">
        <p14:creationId xmlns:p14="http://schemas.microsoft.com/office/powerpoint/2010/main" val="2906002569"/>
      </p:ext>
    </p:extLst>
  </p:cSld>
  <p:clrMapOvr>
    <a:masterClrMapping/>
  </p:clrMapOvr>
</p:sld>
</file>

<file path=ppt/slides/slide5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err="1"/>
              <a:t>Trichinella</a:t>
            </a:r>
            <a:r>
              <a:rPr lang="en-GB" b="1" dirty="0"/>
              <a:t> </a:t>
            </a:r>
            <a:r>
              <a:rPr lang="en-GB" b="1" dirty="0" err="1"/>
              <a:t>spp</a:t>
            </a:r>
            <a:r>
              <a:rPr lang="en-GB" b="1" dirty="0"/>
              <a:t> (Family </a:t>
            </a:r>
            <a:r>
              <a:rPr lang="en-GB" b="1" dirty="0" err="1"/>
              <a:t>Trichinelloidea</a:t>
            </a:r>
            <a:r>
              <a:rPr lang="en-GB" b="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t>It is the smallest nematode parasite of humans which exhibit the most unusual life cycle and yet the most widespread and clinically important.</a:t>
            </a:r>
            <a:endParaRPr lang="en-US" dirty="0"/>
          </a:p>
          <a:p>
            <a:pPr lvl="0">
              <a:buFont typeface="Wingdings" pitchFamily="2" charset="2"/>
              <a:buChar char="v"/>
            </a:pPr>
            <a:r>
              <a:rPr lang="en-GB" i="1" dirty="0"/>
              <a:t>T. </a:t>
            </a:r>
            <a:r>
              <a:rPr lang="en-GB" i="1" dirty="0" err="1"/>
              <a:t>spiralis</a:t>
            </a:r>
            <a:r>
              <a:rPr lang="en-GB" dirty="0"/>
              <a:t> is recognised as several species, sub-species or strains with no distinct morphological difference among the kinds;</a:t>
            </a:r>
          </a:p>
          <a:p>
            <a:pPr lvl="0">
              <a:buFont typeface="Wingdings" pitchFamily="2" charset="2"/>
              <a:buChar char="v"/>
            </a:pPr>
            <a:r>
              <a:rPr lang="en-GB" dirty="0"/>
              <a:t>evidence suggests that there are at least eight siblings species and three distinct strains.</a:t>
            </a:r>
            <a:endParaRPr lang="en-US" dirty="0"/>
          </a:p>
          <a:p>
            <a:pPr marL="0" indent="0">
              <a:buNone/>
            </a:pPr>
            <a:endParaRPr lang="en-US" dirty="0"/>
          </a:p>
        </p:txBody>
      </p:sp>
    </p:spTree>
    <p:extLst>
      <p:ext uri="{BB962C8B-B14F-4D97-AF65-F5344CB8AC3E}">
        <p14:creationId xmlns:p14="http://schemas.microsoft.com/office/powerpoint/2010/main" val="4181940266"/>
      </p:ext>
    </p:extLst>
  </p:cSld>
  <p:clrMapOvr>
    <a:masterClrMapping/>
  </p:clrMapOvr>
</p:sld>
</file>

<file path=ppt/slides/slide5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i="1" dirty="0"/>
            </a:br>
            <a:r>
              <a:rPr lang="en-GB" b="1" i="1" dirty="0" err="1"/>
              <a:t>Trichinella</a:t>
            </a:r>
            <a:r>
              <a:rPr lang="en-GB" b="1" dirty="0"/>
              <a:t> </a:t>
            </a:r>
            <a:r>
              <a:rPr lang="en-GB" b="1" dirty="0" err="1"/>
              <a:t>spp</a:t>
            </a:r>
            <a:r>
              <a:rPr lang="en-GB" b="1" dirty="0"/>
              <a:t> (Family </a:t>
            </a:r>
            <a:r>
              <a:rPr lang="en-GB" b="1" dirty="0" err="1"/>
              <a:t>Trichinelloidea</a:t>
            </a:r>
            <a:r>
              <a:rPr lang="en-GB" b="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t>Species and strains can be distinguished by the following </a:t>
            </a:r>
            <a:endParaRPr lang="en-US" dirty="0"/>
          </a:p>
          <a:p>
            <a:pPr lvl="1">
              <a:buFont typeface="Wingdings" pitchFamily="2" charset="2"/>
              <a:buChar char="Ø"/>
            </a:pPr>
            <a:r>
              <a:rPr lang="en-GB" dirty="0" err="1"/>
              <a:t>Alozyme</a:t>
            </a:r>
            <a:r>
              <a:rPr lang="en-GB" dirty="0"/>
              <a:t> and ribosomal DNA analysis</a:t>
            </a:r>
            <a:endParaRPr lang="en-US" dirty="0"/>
          </a:p>
          <a:p>
            <a:pPr lvl="1">
              <a:buFont typeface="Wingdings" pitchFamily="2" charset="2"/>
              <a:buChar char="Ø"/>
            </a:pPr>
            <a:r>
              <a:rPr lang="en-GB" dirty="0"/>
              <a:t>Disease produced in humans</a:t>
            </a:r>
            <a:endParaRPr lang="en-US" dirty="0"/>
          </a:p>
          <a:p>
            <a:pPr lvl="1">
              <a:buFont typeface="Wingdings" pitchFamily="2" charset="2"/>
              <a:buChar char="Ø"/>
            </a:pPr>
            <a:r>
              <a:rPr lang="en-GB" dirty="0"/>
              <a:t>Recognition of antigens by monoclonal antibodies</a:t>
            </a:r>
            <a:endParaRPr lang="en-US" dirty="0"/>
          </a:p>
          <a:p>
            <a:pPr lvl="1">
              <a:buFont typeface="Wingdings" pitchFamily="2" charset="2"/>
              <a:buChar char="Ø"/>
            </a:pPr>
            <a:r>
              <a:rPr lang="en-GB" dirty="0"/>
              <a:t>Recognition of repetitive DNA sequences amplified by PCR </a:t>
            </a:r>
            <a:endParaRPr lang="en-US" dirty="0"/>
          </a:p>
          <a:p>
            <a:pPr lvl="1">
              <a:buFont typeface="Wingdings" pitchFamily="2" charset="2"/>
              <a:buChar char="Ø"/>
            </a:pPr>
            <a:r>
              <a:rPr lang="en-GB" dirty="0"/>
              <a:t>Male and female first stage juveniles can be distinguished hence potential hybridization for putative species can be tested.</a:t>
            </a:r>
            <a:endParaRPr lang="en-US" dirty="0"/>
          </a:p>
          <a:p>
            <a:pPr marL="0" indent="0">
              <a:buNone/>
            </a:pPr>
            <a:endParaRPr lang="en-US" dirty="0"/>
          </a:p>
        </p:txBody>
      </p:sp>
    </p:spTree>
    <p:extLst>
      <p:ext uri="{BB962C8B-B14F-4D97-AF65-F5344CB8AC3E}">
        <p14:creationId xmlns:p14="http://schemas.microsoft.com/office/powerpoint/2010/main" val="3794143078"/>
      </p:ext>
    </p:extLst>
  </p:cSld>
  <p:clrMapOvr>
    <a:masterClrMapping/>
  </p:clrMapOvr>
</p:sld>
</file>

<file path=ppt/slides/slide5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a:t>
            </a:r>
            <a:br>
              <a:rPr lang="en-US" dirty="0"/>
            </a:br>
            <a:endParaRPr lang="en-US" dirty="0"/>
          </a:p>
        </p:txBody>
      </p:sp>
      <p:sp>
        <p:nvSpPr>
          <p:cNvPr id="3" name="Content Placeholder 2"/>
          <p:cNvSpPr>
            <a:spLocks noGrp="1"/>
          </p:cNvSpPr>
          <p:nvPr>
            <p:ph idx="1"/>
          </p:nvPr>
        </p:nvSpPr>
        <p:spPr/>
        <p:txBody>
          <a:bodyPr>
            <a:normAutofit lnSpcReduction="10000"/>
          </a:bodyPr>
          <a:lstStyle/>
          <a:p>
            <a:pPr lvl="0">
              <a:buFont typeface="Wingdings" pitchFamily="2" charset="2"/>
              <a:buChar char="v"/>
            </a:pPr>
            <a:r>
              <a:rPr lang="en-GB" dirty="0"/>
              <a:t>This is unusual because the same individual animal serves as both definitive and intermediate host, with juveniles and adults in different organs</a:t>
            </a:r>
            <a:endParaRPr lang="en-US" dirty="0"/>
          </a:p>
          <a:p>
            <a:pPr lvl="0">
              <a:buFont typeface="Wingdings" pitchFamily="2" charset="2"/>
              <a:buChar char="v"/>
            </a:pPr>
            <a:r>
              <a:rPr lang="en-GB" dirty="0"/>
              <a:t>Even more bizarre is the fact that it is the world’s largest intracellular parasite:</a:t>
            </a:r>
            <a:endParaRPr lang="en-US" dirty="0"/>
          </a:p>
          <a:p>
            <a:pPr lvl="1">
              <a:buFont typeface="Wingdings" pitchFamily="2" charset="2"/>
              <a:buChar char="Ø"/>
            </a:pPr>
            <a:r>
              <a:rPr lang="en-GB" dirty="0"/>
              <a:t>Adults are intra multicellular parasite in intestinal epithelium, and juveniles reside in nurse cells, whose formation they induce themselves, in skeletal muscles.</a:t>
            </a:r>
            <a:endParaRPr lang="en-US" dirty="0"/>
          </a:p>
          <a:p>
            <a:pPr marL="0" indent="0">
              <a:buNone/>
            </a:pPr>
            <a:endParaRPr lang="en-US" dirty="0"/>
          </a:p>
        </p:txBody>
      </p:sp>
    </p:spTree>
    <p:extLst>
      <p:ext uri="{BB962C8B-B14F-4D97-AF65-F5344CB8AC3E}">
        <p14:creationId xmlns:p14="http://schemas.microsoft.com/office/powerpoint/2010/main" val="3259073052"/>
      </p:ext>
    </p:extLst>
  </p:cSld>
  <p:clrMapOvr>
    <a:masterClrMapping/>
  </p:clrMapOvr>
</p:sld>
</file>

<file path=ppt/slides/slide5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a:xfrm>
            <a:off x="457200" y="1600200"/>
            <a:ext cx="8229600" cy="5105400"/>
          </a:xfrm>
        </p:spPr>
        <p:txBody>
          <a:bodyPr>
            <a:normAutofit/>
          </a:bodyPr>
          <a:lstStyle/>
          <a:p>
            <a:pPr lvl="1">
              <a:buFont typeface="Wingdings" pitchFamily="2" charset="2"/>
              <a:buChar char="v"/>
            </a:pPr>
            <a:r>
              <a:rPr lang="en-GB" dirty="0"/>
              <a:t>Juveniles within nurse cells have an anaerobic (or </a:t>
            </a:r>
            <a:r>
              <a:rPr lang="en-GB" dirty="0" err="1"/>
              <a:t>facultatively</a:t>
            </a:r>
            <a:r>
              <a:rPr lang="en-GB" dirty="0"/>
              <a:t> anaerobic) metabolism; </a:t>
            </a:r>
          </a:p>
          <a:p>
            <a:pPr lvl="1">
              <a:buFont typeface="Wingdings" pitchFamily="2" charset="2"/>
              <a:buChar char="v"/>
            </a:pPr>
            <a:endParaRPr lang="en-GB" dirty="0"/>
          </a:p>
          <a:p>
            <a:pPr lvl="1">
              <a:buFont typeface="Wingdings" pitchFamily="2" charset="2"/>
              <a:buChar char="v"/>
            </a:pPr>
            <a:r>
              <a:rPr lang="en-GB" dirty="0"/>
              <a:t>when these are swallowed and reach the stomach of the host, they are released from their nurse cells and</a:t>
            </a:r>
          </a:p>
          <a:p>
            <a:pPr lvl="1">
              <a:buFont typeface="Wingdings" pitchFamily="2" charset="2"/>
              <a:buChar char="v"/>
            </a:pPr>
            <a:endParaRPr lang="en-GB" dirty="0"/>
          </a:p>
          <a:p>
            <a:pPr lvl="1">
              <a:buFont typeface="Wingdings" pitchFamily="2" charset="2"/>
              <a:buChar char="v"/>
            </a:pPr>
            <a:r>
              <a:rPr lang="en-GB" dirty="0"/>
              <a:t> become activated and shift to aerobic metabolism characteristic of the adult.</a:t>
            </a:r>
            <a:endParaRPr lang="en-US" dirty="0"/>
          </a:p>
          <a:p>
            <a:pPr marL="0" indent="0">
              <a:buNone/>
            </a:pPr>
            <a:endParaRPr lang="en-US" dirty="0"/>
          </a:p>
        </p:txBody>
      </p:sp>
    </p:spTree>
    <p:extLst>
      <p:ext uri="{BB962C8B-B14F-4D97-AF65-F5344CB8AC3E}">
        <p14:creationId xmlns:p14="http://schemas.microsoft.com/office/powerpoint/2010/main" val="307096372"/>
      </p:ext>
    </p:extLst>
  </p:cSld>
  <p:clrMapOvr>
    <a:masterClrMapping/>
  </p:clrMapOvr>
</p:sld>
</file>

<file path=ppt/slides/slide5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i="1" dirty="0"/>
              <a:t> cont’d</a:t>
            </a:r>
            <a:r>
              <a:rPr lang="en-GB" b="1" dirty="0"/>
              <a:t> </a:t>
            </a:r>
            <a:br>
              <a:rPr lang="en-US" dirty="0"/>
            </a:br>
            <a:endParaRPr lang="en-US" dirty="0"/>
          </a:p>
        </p:txBody>
      </p:sp>
      <p:sp>
        <p:nvSpPr>
          <p:cNvPr id="3" name="Content Placeholder 2"/>
          <p:cNvSpPr>
            <a:spLocks noGrp="1"/>
          </p:cNvSpPr>
          <p:nvPr>
            <p:ph idx="1"/>
          </p:nvPr>
        </p:nvSpPr>
        <p:spPr/>
        <p:txBody>
          <a:bodyPr>
            <a:normAutofit fontScale="92500"/>
          </a:bodyPr>
          <a:lstStyle/>
          <a:p>
            <a:pPr marL="457200" lvl="1" indent="-457200">
              <a:buFont typeface="Wingdings" pitchFamily="2" charset="2"/>
              <a:buChar char="v"/>
            </a:pPr>
            <a:r>
              <a:rPr lang="en-GB" dirty="0"/>
              <a:t>They pass into the hosts small intestine where they undergo four moults, grow and copulate within the mucosal epithelium within 30-32 hours of infection</a:t>
            </a:r>
            <a:endParaRPr lang="en-US" dirty="0"/>
          </a:p>
          <a:p>
            <a:pPr lvl="1">
              <a:buFont typeface="Wingdings" pitchFamily="2" charset="2"/>
              <a:buChar char="v"/>
            </a:pPr>
            <a:r>
              <a:rPr lang="en-GB" dirty="0"/>
              <a:t>The worms lie directly in the cytoplasm and thread through a serial row of intestinal cells.</a:t>
            </a:r>
            <a:endParaRPr lang="en-US" dirty="0"/>
          </a:p>
          <a:p>
            <a:pPr lvl="1">
              <a:buFont typeface="Wingdings" pitchFamily="2" charset="2"/>
              <a:buChar char="v"/>
            </a:pPr>
            <a:r>
              <a:rPr lang="en-GB" dirty="0"/>
              <a:t>A female during her stay in the intestinal epithelium gives birth to between 100s and 1000s of juvenile over a period of 4-16 weeks; </a:t>
            </a:r>
          </a:p>
          <a:p>
            <a:pPr lvl="1">
              <a:buFont typeface="Wingdings" pitchFamily="2" charset="2"/>
              <a:buChar char="v"/>
            </a:pPr>
            <a:r>
              <a:rPr lang="en-GB" dirty="0"/>
              <a:t>eventually she dies and passes out of the host; males can copulate several times but then dies shortly after.</a:t>
            </a:r>
            <a:endParaRPr lang="en-US" dirty="0"/>
          </a:p>
          <a:p>
            <a:pPr marL="0" indent="0">
              <a:buNone/>
            </a:pPr>
            <a:endParaRPr lang="en-US" dirty="0"/>
          </a:p>
        </p:txBody>
      </p:sp>
    </p:spTree>
    <p:extLst>
      <p:ext uri="{BB962C8B-B14F-4D97-AF65-F5344CB8AC3E}">
        <p14:creationId xmlns:p14="http://schemas.microsoft.com/office/powerpoint/2010/main" val="3619488257"/>
      </p:ext>
    </p:extLst>
  </p:cSld>
  <p:clrMapOvr>
    <a:masterClrMapping/>
  </p:clrMapOvr>
</p:sld>
</file>

<file path=ppt/slides/slide5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lstStyle/>
          <a:p>
            <a:pPr lvl="1">
              <a:buFont typeface="Wingdings" pitchFamily="2" charset="2"/>
              <a:buChar char="v"/>
            </a:pPr>
            <a:r>
              <a:rPr lang="en-GB" dirty="0"/>
              <a:t>Most juveniles are carried away by the </a:t>
            </a:r>
            <a:r>
              <a:rPr lang="en-GB" dirty="0" err="1"/>
              <a:t>hepatoportal</a:t>
            </a:r>
            <a:r>
              <a:rPr lang="en-GB" dirty="0"/>
              <a:t> system through the liver and the heart, lungs and arterial system which distributes them throughout the body hence may be found literally in every kind of tissue and space</a:t>
            </a:r>
            <a:endParaRPr lang="en-US" dirty="0"/>
          </a:p>
          <a:p>
            <a:pPr lvl="1">
              <a:buFont typeface="Wingdings" pitchFamily="2" charset="2"/>
              <a:buChar char="v"/>
            </a:pPr>
            <a:r>
              <a:rPr lang="en-GB" dirty="0"/>
              <a:t>On reaching skeletal muscles, they penetrate individual fibres and in a strategy reminiscent of viruses, subvert and redirect host cell activities to their own survival.</a:t>
            </a:r>
            <a:endParaRPr lang="en-US" dirty="0"/>
          </a:p>
          <a:p>
            <a:pPr marL="0" indent="0">
              <a:buNone/>
            </a:pPr>
            <a:endParaRPr lang="en-US" dirty="0"/>
          </a:p>
        </p:txBody>
      </p:sp>
    </p:spTree>
    <p:extLst>
      <p:ext uri="{BB962C8B-B14F-4D97-AF65-F5344CB8AC3E}">
        <p14:creationId xmlns:p14="http://schemas.microsoft.com/office/powerpoint/2010/main" val="3302501720"/>
      </p:ext>
    </p:extLst>
  </p:cSld>
  <p:clrMapOvr>
    <a:masterClrMapping/>
  </p:clrMapOvr>
</p:sld>
</file>

<file path=ppt/slides/slide5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a:xfrm>
            <a:off x="304800" y="1600200"/>
            <a:ext cx="8610600" cy="5105400"/>
          </a:xfrm>
        </p:spPr>
        <p:txBody>
          <a:bodyPr>
            <a:normAutofit/>
          </a:bodyPr>
          <a:lstStyle/>
          <a:p>
            <a:pPr marL="457200" lvl="1" indent="-457200">
              <a:buFont typeface="Wingdings" pitchFamily="2" charset="2"/>
              <a:buChar char="v"/>
            </a:pPr>
            <a:r>
              <a:rPr lang="en-GB" dirty="0"/>
              <a:t>They alter gene expression of the host cell from that of a contractile fibre to that of a muscle cell, a cell that functions in nourishing the worm;</a:t>
            </a:r>
          </a:p>
          <a:p>
            <a:pPr marL="457200" lvl="1" indent="-457200">
              <a:buFont typeface="Wingdings" pitchFamily="2" charset="2"/>
              <a:buChar char="v"/>
            </a:pPr>
            <a:r>
              <a:rPr lang="en-GB" dirty="0"/>
              <a:t> after the nematode enters the fibre, the fibre losses its </a:t>
            </a:r>
            <a:r>
              <a:rPr lang="en-GB" dirty="0" err="1"/>
              <a:t>myofilaments</a:t>
            </a:r>
            <a:r>
              <a:rPr lang="en-GB" dirty="0"/>
              <a:t>, but its nuclei enlarge (hypertrophy) and smooth endoplasmic reticulum increases, mitochondria degenerates </a:t>
            </a:r>
          </a:p>
          <a:p>
            <a:pPr marL="457200" lvl="1" indent="-457200">
              <a:buFont typeface="Wingdings" pitchFamily="2" charset="2"/>
              <a:buChar char="v"/>
            </a:pPr>
            <a:r>
              <a:rPr lang="en-GB" dirty="0"/>
              <a:t>and eventually the entire unit becomes encapsulated with collagen secreted by the nurse cells (some species do not secrete this capsule for reasons unknown)</a:t>
            </a:r>
            <a:endParaRPr lang="en-US" dirty="0"/>
          </a:p>
          <a:p>
            <a:endParaRPr lang="en-US" dirty="0"/>
          </a:p>
        </p:txBody>
      </p:sp>
    </p:spTree>
    <p:extLst>
      <p:ext uri="{BB962C8B-B14F-4D97-AF65-F5344CB8AC3E}">
        <p14:creationId xmlns:p14="http://schemas.microsoft.com/office/powerpoint/2010/main" val="208320167"/>
      </p:ext>
    </p:extLst>
  </p:cSld>
  <p:clrMapOvr>
    <a:masterClrMapping/>
  </p:clrMapOvr>
</p:sld>
</file>

<file path=ppt/slides/slide5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lstStyle/>
          <a:p>
            <a:pPr marL="457200" lvl="1" indent="-457200">
              <a:buFont typeface="Wingdings" pitchFamily="2" charset="2"/>
              <a:buChar char="v"/>
            </a:pPr>
            <a:r>
              <a:rPr lang="en-GB" dirty="0"/>
              <a:t>Juveniles of all species however induce and </a:t>
            </a:r>
            <a:r>
              <a:rPr lang="en-GB" dirty="0" err="1"/>
              <a:t>uprergulation</a:t>
            </a:r>
            <a:r>
              <a:rPr lang="en-GB" dirty="0"/>
              <a:t> of vascular endothelial growth factor (VEGF) within their nurse cells and this stimulates angiogenesis (blood vessel development/formation) </a:t>
            </a:r>
          </a:p>
          <a:p>
            <a:pPr marL="457200" lvl="1" indent="-457200">
              <a:buFont typeface="Wingdings" pitchFamily="2" charset="2"/>
              <a:buChar char="v"/>
            </a:pPr>
            <a:endParaRPr lang="en-GB" dirty="0"/>
          </a:p>
          <a:p>
            <a:pPr marL="457200" lvl="1" indent="-457200">
              <a:buFont typeface="Wingdings" pitchFamily="2" charset="2"/>
              <a:buChar char="v"/>
            </a:pPr>
            <a:r>
              <a:rPr lang="en-GB" dirty="0"/>
              <a:t>and formation of tiny blood vessels (a circulatory rete) around the parasite-nurse cell complex.</a:t>
            </a:r>
            <a:endParaRPr lang="en-US" dirty="0"/>
          </a:p>
          <a:p>
            <a:endParaRPr lang="en-US" dirty="0"/>
          </a:p>
        </p:txBody>
      </p:sp>
    </p:spTree>
    <p:extLst>
      <p:ext uri="{BB962C8B-B14F-4D97-AF65-F5344CB8AC3E}">
        <p14:creationId xmlns:p14="http://schemas.microsoft.com/office/powerpoint/2010/main" val="3799946032"/>
      </p:ext>
    </p:extLst>
  </p:cSld>
  <p:clrMapOvr>
    <a:masterClrMapping/>
  </p:clrMapOvr>
</p:sld>
</file>

<file path=ppt/slides/slide5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lstStyle/>
          <a:p>
            <a:pPr lvl="1">
              <a:buFont typeface="Wingdings" pitchFamily="2" charset="2"/>
              <a:buChar char="v"/>
            </a:pPr>
            <a:r>
              <a:rPr lang="en-GB" dirty="0"/>
              <a:t>Much remains to be known about how these parasites control host-gene expression</a:t>
            </a:r>
            <a:endParaRPr lang="en-US" dirty="0"/>
          </a:p>
          <a:p>
            <a:pPr lvl="1">
              <a:buFont typeface="Wingdings" pitchFamily="2" charset="2"/>
              <a:buChar char="v"/>
            </a:pPr>
            <a:endParaRPr lang="en-GB" i="1" dirty="0"/>
          </a:p>
          <a:p>
            <a:pPr lvl="1">
              <a:buFont typeface="Wingdings" pitchFamily="2" charset="2"/>
              <a:buChar char="v"/>
            </a:pPr>
            <a:r>
              <a:rPr lang="en-GB" i="1" dirty="0" err="1"/>
              <a:t>Trichinella</a:t>
            </a:r>
            <a:r>
              <a:rPr lang="en-GB" i="1" dirty="0"/>
              <a:t> </a:t>
            </a:r>
            <a:r>
              <a:rPr lang="en-GB" i="1" dirty="0" err="1"/>
              <a:t>spiralis</a:t>
            </a:r>
            <a:r>
              <a:rPr lang="en-GB" dirty="0"/>
              <a:t> is viewed as “the worm that would be a virus” (Ref. Parasitology Today 6:193-196(1990) Elsevier T……………..Cambridge, England) </a:t>
            </a:r>
            <a:endParaRPr lang="en-US" dirty="0"/>
          </a:p>
          <a:p>
            <a:pPr marL="0" indent="0">
              <a:buNone/>
            </a:pPr>
            <a:endParaRPr lang="en-US" dirty="0"/>
          </a:p>
        </p:txBody>
      </p:sp>
    </p:spTree>
    <p:extLst>
      <p:ext uri="{BB962C8B-B14F-4D97-AF65-F5344CB8AC3E}">
        <p14:creationId xmlns:p14="http://schemas.microsoft.com/office/powerpoint/2010/main" val="330509823"/>
      </p:ext>
    </p:extLst>
  </p:cSld>
  <p:clrMapOvr>
    <a:masterClrMapping/>
  </p:clrMapOvr>
</p:sld>
</file>

<file path=ppt/slides/slide5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GB" b="1" dirty="0"/>
              <a:t>Epidemiology and Transmission</a:t>
            </a:r>
            <a:endParaRPr lang="en-US" b="1" dirty="0"/>
          </a:p>
          <a:p>
            <a:pPr lvl="0">
              <a:buFont typeface="Wingdings" pitchFamily="2" charset="2"/>
              <a:buChar char="v"/>
            </a:pPr>
            <a:r>
              <a:rPr lang="en-GB" dirty="0" err="1"/>
              <a:t>Trichinellosis</a:t>
            </a:r>
            <a:r>
              <a:rPr lang="en-GB" dirty="0"/>
              <a:t> or trichinosis is considered a zoonotic disease because humans are scarcely important in the life of the parasite.</a:t>
            </a:r>
            <a:endParaRPr lang="en-US" dirty="0"/>
          </a:p>
          <a:p>
            <a:pPr lvl="0">
              <a:buFont typeface="Wingdings" pitchFamily="2" charset="2"/>
              <a:buChar char="v"/>
            </a:pPr>
            <a:r>
              <a:rPr lang="en-GB" dirty="0"/>
              <a:t>It is largely a parasite of swine, carnivores and rats, hence unless an infected human is eaten by a carnivorous animal or eaten by a cannibal, the parasite is at a dead end in humans.</a:t>
            </a:r>
            <a:endParaRPr lang="en-US" dirty="0"/>
          </a:p>
          <a:p>
            <a:endParaRPr lang="en-US" dirty="0"/>
          </a:p>
        </p:txBody>
      </p:sp>
    </p:spTree>
    <p:extLst>
      <p:ext uri="{BB962C8B-B14F-4D97-AF65-F5344CB8AC3E}">
        <p14:creationId xmlns:p14="http://schemas.microsoft.com/office/powerpoint/2010/main" val="1387842191"/>
      </p:ext>
    </p:extLst>
  </p:cSld>
  <p:clrMapOvr>
    <a:masterClrMapping/>
  </p:clrMapOvr>
</p:sld>
</file>

<file path=ppt/slides/slide5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buFont typeface="Wingdings" pitchFamily="2" charset="2"/>
              <a:buChar char="v"/>
            </a:pPr>
            <a:r>
              <a:rPr lang="en-GB" dirty="0"/>
              <a:t>The life cycle may involve pigs and rats which are around animals (domestic cycle) or wild animals (sylvatic cycle)</a:t>
            </a:r>
            <a:endParaRPr lang="en-US" dirty="0"/>
          </a:p>
          <a:p>
            <a:pPr lvl="0">
              <a:buFont typeface="Wingdings" pitchFamily="2" charset="2"/>
              <a:buChar char="v"/>
            </a:pPr>
            <a:r>
              <a:rPr lang="en-GB" dirty="0"/>
              <a:t>However on the basis of different species host preferences, from distinct epidemiological cycles may be recognized, </a:t>
            </a:r>
            <a:r>
              <a:rPr lang="en-GB" dirty="0" err="1"/>
              <a:t>viz</a:t>
            </a:r>
            <a:r>
              <a:rPr lang="en-GB" dirty="0"/>
              <a:t>:</a:t>
            </a:r>
            <a:endParaRPr lang="en-US" dirty="0"/>
          </a:p>
          <a:p>
            <a:pPr lvl="1">
              <a:buFont typeface="Wingdings" pitchFamily="2" charset="2"/>
              <a:buChar char="Ø"/>
            </a:pPr>
            <a:r>
              <a:rPr lang="en-GB" dirty="0"/>
              <a:t>Domestic</a:t>
            </a:r>
            <a:endParaRPr lang="en-US" dirty="0"/>
          </a:p>
          <a:p>
            <a:pPr lvl="1">
              <a:buFont typeface="Wingdings" pitchFamily="2" charset="2"/>
              <a:buChar char="Ø"/>
            </a:pPr>
            <a:r>
              <a:rPr lang="en-GB" dirty="0"/>
              <a:t>Sylvatic-temperate zone</a:t>
            </a:r>
            <a:endParaRPr lang="en-US" dirty="0"/>
          </a:p>
          <a:p>
            <a:pPr lvl="1">
              <a:buFont typeface="Wingdings" pitchFamily="2" charset="2"/>
              <a:buChar char="Ø"/>
            </a:pPr>
            <a:r>
              <a:rPr lang="en-GB" dirty="0"/>
              <a:t>Sylvatic-tropical variant and</a:t>
            </a:r>
            <a:endParaRPr lang="en-US" dirty="0"/>
          </a:p>
          <a:p>
            <a:pPr lvl="1">
              <a:buFont typeface="Wingdings" pitchFamily="2" charset="2"/>
              <a:buChar char="Ø"/>
            </a:pPr>
            <a:r>
              <a:rPr lang="en-GB" dirty="0"/>
              <a:t>Sylvatic-artic variant</a:t>
            </a:r>
            <a:endParaRPr lang="en-US" dirty="0"/>
          </a:p>
          <a:p>
            <a:pPr>
              <a:buFont typeface="Wingdings" pitchFamily="2" charset="2"/>
              <a:buChar char="Ø"/>
            </a:pPr>
            <a:endParaRPr lang="en-US" dirty="0"/>
          </a:p>
        </p:txBody>
      </p:sp>
    </p:spTree>
    <p:extLst>
      <p:ext uri="{BB962C8B-B14F-4D97-AF65-F5344CB8AC3E}">
        <p14:creationId xmlns:p14="http://schemas.microsoft.com/office/powerpoint/2010/main" val="2745284088"/>
      </p:ext>
    </p:extLst>
  </p:cSld>
  <p:clrMapOvr>
    <a:masterClrMapping/>
  </p:clrMapOvr>
</p:sld>
</file>

<file path=ppt/slides/slide5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GB" b="1" dirty="0"/>
              <a:t>Pathogenesis and symptoms</a:t>
            </a:r>
            <a:endParaRPr lang="en-US" b="1" dirty="0"/>
          </a:p>
          <a:p>
            <a:pPr lvl="0">
              <a:buFont typeface="Wingdings" pitchFamily="2" charset="2"/>
              <a:buChar char="v"/>
            </a:pPr>
            <a:r>
              <a:rPr lang="en-GB" dirty="0"/>
              <a:t>This may be considered in three successive stages:</a:t>
            </a:r>
          </a:p>
          <a:p>
            <a:pPr marL="0" lvl="0" indent="0">
              <a:buNone/>
            </a:pPr>
            <a:endParaRPr lang="en-US" dirty="0"/>
          </a:p>
          <a:p>
            <a:pPr lvl="1">
              <a:buFont typeface="Wingdings" pitchFamily="2" charset="2"/>
              <a:buChar char="Ø"/>
            </a:pPr>
            <a:r>
              <a:rPr lang="en-GB" dirty="0"/>
              <a:t>Penetration of adult female into the mucosa</a:t>
            </a:r>
            <a:endParaRPr lang="en-US" dirty="0"/>
          </a:p>
          <a:p>
            <a:pPr lvl="1">
              <a:buFont typeface="Wingdings" pitchFamily="2" charset="2"/>
              <a:buChar char="Ø"/>
            </a:pPr>
            <a:r>
              <a:rPr lang="en-GB" dirty="0"/>
              <a:t>Migration of juvenile </a:t>
            </a:r>
            <a:endParaRPr lang="en-US" dirty="0"/>
          </a:p>
          <a:p>
            <a:pPr lvl="1">
              <a:buFont typeface="Wingdings" pitchFamily="2" charset="2"/>
              <a:buChar char="Ø"/>
            </a:pPr>
            <a:r>
              <a:rPr lang="en-GB" dirty="0"/>
              <a:t>Penetration and nurse cell formation</a:t>
            </a:r>
            <a:endParaRPr lang="en-US" dirty="0"/>
          </a:p>
          <a:p>
            <a:pPr marL="0" indent="0">
              <a:buNone/>
            </a:pPr>
            <a:endParaRPr lang="en-US" dirty="0"/>
          </a:p>
        </p:txBody>
      </p:sp>
    </p:spTree>
    <p:extLst>
      <p:ext uri="{BB962C8B-B14F-4D97-AF65-F5344CB8AC3E}">
        <p14:creationId xmlns:p14="http://schemas.microsoft.com/office/powerpoint/2010/main" val="3083531321"/>
      </p:ext>
    </p:extLst>
  </p:cSld>
  <p:clrMapOvr>
    <a:masterClrMapping/>
  </p:clrMapOvr>
</p:sld>
</file>

<file path=ppt/slides/slide5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t>First symptoms appears between 12 hours and 2 days after ingestion of infected meat;</a:t>
            </a:r>
          </a:p>
          <a:p>
            <a:pPr lvl="0">
              <a:buFont typeface="Wingdings" pitchFamily="2" charset="2"/>
              <a:buChar char="v"/>
            </a:pPr>
            <a:endParaRPr lang="en-GB" dirty="0"/>
          </a:p>
          <a:p>
            <a:pPr lvl="0">
              <a:buFont typeface="Wingdings" pitchFamily="2" charset="2"/>
              <a:buChar char="v"/>
            </a:pPr>
            <a:r>
              <a:rPr lang="en-GB" dirty="0"/>
              <a:t>This phase may be </a:t>
            </a:r>
            <a:r>
              <a:rPr lang="en-GB" dirty="0" err="1"/>
              <a:t>inapparent</a:t>
            </a:r>
            <a:r>
              <a:rPr lang="en-GB" dirty="0"/>
              <a:t> or may be misdiagnosed because of the low grade infection or vagueness of symptoms.</a:t>
            </a:r>
            <a:endParaRPr lang="en-US" dirty="0"/>
          </a:p>
          <a:p>
            <a:endParaRPr lang="en-US" dirty="0"/>
          </a:p>
        </p:txBody>
      </p:sp>
    </p:spTree>
    <p:extLst>
      <p:ext uri="{BB962C8B-B14F-4D97-AF65-F5344CB8AC3E}">
        <p14:creationId xmlns:p14="http://schemas.microsoft.com/office/powerpoint/2010/main" val="363452831"/>
      </p:ext>
    </p:extLst>
  </p:cSld>
  <p:clrMapOvr>
    <a:masterClrMapping/>
  </p:clrMapOvr>
</p:sld>
</file>

<file path=ppt/slides/slide5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GB" dirty="0"/>
              <a:t>Worms migrating in intestinal epithelium cause traumatic damage to host tissues; the host reacting to their waste products</a:t>
            </a:r>
            <a:endParaRPr lang="en-US" dirty="0"/>
          </a:p>
          <a:p>
            <a:pPr lvl="1">
              <a:buFont typeface="Wingdings" pitchFamily="2" charset="2"/>
              <a:buChar char="Ø"/>
            </a:pPr>
            <a:r>
              <a:rPr lang="en-GB" dirty="0"/>
              <a:t>Inflammation causes nausea vomiting, sweating and diarrhoea</a:t>
            </a:r>
            <a:endParaRPr lang="en-US" dirty="0"/>
          </a:p>
          <a:p>
            <a:pPr lvl="1">
              <a:buFont typeface="Wingdings" pitchFamily="2" charset="2"/>
              <a:buChar char="Ø"/>
            </a:pPr>
            <a:r>
              <a:rPr lang="en-GB" dirty="0"/>
              <a:t>Respiratory difficulties may occur and red blotches erupt on the skin in some cases.</a:t>
            </a:r>
            <a:endParaRPr lang="en-US" dirty="0"/>
          </a:p>
          <a:p>
            <a:pPr lvl="1">
              <a:buFont typeface="Wingdings" pitchFamily="2" charset="2"/>
              <a:buChar char="Ø"/>
            </a:pPr>
            <a:r>
              <a:rPr lang="en-GB" dirty="0"/>
              <a:t>This phase usually ends up with facial </a:t>
            </a:r>
            <a:r>
              <a:rPr lang="en-GB" dirty="0" err="1"/>
              <a:t>edems</a:t>
            </a:r>
            <a:r>
              <a:rPr lang="en-GB" dirty="0"/>
              <a:t> and fever, 5 to 7 days after first symptoms.</a:t>
            </a:r>
            <a:endParaRPr lang="en-US" dirty="0"/>
          </a:p>
          <a:p>
            <a:pPr marL="0" indent="0">
              <a:buNone/>
            </a:pPr>
            <a:endParaRPr lang="en-US" dirty="0"/>
          </a:p>
        </p:txBody>
      </p:sp>
    </p:spTree>
    <p:extLst>
      <p:ext uri="{BB962C8B-B14F-4D97-AF65-F5344CB8AC3E}">
        <p14:creationId xmlns:p14="http://schemas.microsoft.com/office/powerpoint/2010/main" val="4175802649"/>
      </p:ext>
    </p:extLst>
  </p:cSld>
  <p:clrMapOvr>
    <a:masterClrMapping/>
  </p:clrMapOvr>
</p:sld>
</file>

<file path=ppt/slides/slide5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lstStyle/>
          <a:p>
            <a:pPr lvl="1">
              <a:buFont typeface="Wingdings" pitchFamily="2" charset="2"/>
              <a:buChar char="Ø"/>
            </a:pPr>
            <a:r>
              <a:rPr lang="en-GB" dirty="0"/>
              <a:t>New born juveniles damage blood vessels, during migration during migration resulting in localized oedema especially in the face and hands.</a:t>
            </a:r>
            <a:endParaRPr lang="en-US" dirty="0"/>
          </a:p>
          <a:p>
            <a:pPr lvl="1">
              <a:buFont typeface="Wingdings" pitchFamily="2" charset="2"/>
              <a:buChar char="Ø"/>
            </a:pPr>
            <a:r>
              <a:rPr lang="en-GB" dirty="0"/>
              <a:t>Wandering juveniles many also cause pneumonia,…….,encephalitis, meningitis, nephritis, deafness, peritonitis, brain or eye damage and sub-</a:t>
            </a:r>
            <a:r>
              <a:rPr lang="en-GB" dirty="0" err="1"/>
              <a:t>conjunctival</a:t>
            </a:r>
            <a:r>
              <a:rPr lang="en-GB" dirty="0"/>
              <a:t> haemorrhage</a:t>
            </a:r>
            <a:endParaRPr lang="en-US" dirty="0"/>
          </a:p>
          <a:p>
            <a:pPr lvl="1">
              <a:buFont typeface="Wingdings" pitchFamily="2" charset="2"/>
              <a:buChar char="Ø"/>
            </a:pPr>
            <a:r>
              <a:rPr lang="en-GB" dirty="0"/>
              <a:t>Death from myocarditis may occur at this stage</a:t>
            </a:r>
            <a:endParaRPr lang="en-US" dirty="0"/>
          </a:p>
          <a:p>
            <a:pPr marL="0" indent="0">
              <a:buNone/>
            </a:pPr>
            <a:endParaRPr lang="en-US" dirty="0"/>
          </a:p>
        </p:txBody>
      </p:sp>
    </p:spTree>
    <p:extLst>
      <p:ext uri="{BB962C8B-B14F-4D97-AF65-F5344CB8AC3E}">
        <p14:creationId xmlns:p14="http://schemas.microsoft.com/office/powerpoint/2010/main" val="1813237574"/>
      </p:ext>
    </p:extLst>
  </p:cSld>
  <p:clrMapOvr>
    <a:masterClrMapping/>
  </p:clrMapOvr>
</p:sld>
</file>

<file path=ppt/slides/slide5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1">
              <a:buFont typeface="Wingdings" pitchFamily="2" charset="2"/>
              <a:buChar char="Ø"/>
            </a:pPr>
            <a:r>
              <a:rPr lang="en-GB" dirty="0"/>
              <a:t>Though juveniles do not stay in the heart, they migrate through its muscle causing local areas of necrosis and infiltration of leucocyte.</a:t>
            </a:r>
            <a:endParaRPr lang="en-US" dirty="0"/>
          </a:p>
          <a:p>
            <a:pPr lvl="1">
              <a:buFont typeface="Wingdings" pitchFamily="2" charset="2"/>
              <a:buChar char="Ø"/>
            </a:pPr>
            <a:r>
              <a:rPr lang="en-GB" dirty="0"/>
              <a:t>By the 10</a:t>
            </a:r>
            <a:r>
              <a:rPr lang="en-GB" baseline="30000" dirty="0"/>
              <a:t>th</a:t>
            </a:r>
            <a:r>
              <a:rPr lang="en-GB" dirty="0"/>
              <a:t> day after appearance of first symptoms, juveniles begin to penetrate the muscle fibre with symptoms varied and vague </a:t>
            </a:r>
            <a:endParaRPr lang="en-US" dirty="0"/>
          </a:p>
          <a:p>
            <a:pPr lvl="1">
              <a:buFont typeface="Wingdings" pitchFamily="2" charset="2"/>
              <a:buChar char="Ø"/>
            </a:pPr>
            <a:r>
              <a:rPr lang="en-GB" dirty="0"/>
              <a:t>Symptoms such as intense muscular pain, difficulty in breathing or swallowing, swelling of </a:t>
            </a:r>
            <a:r>
              <a:rPr lang="en-GB" dirty="0" err="1"/>
              <a:t>masseta</a:t>
            </a:r>
            <a:r>
              <a:rPr lang="en-GB" dirty="0"/>
              <a:t> muscle ( leading to a misdiagnosis of mumps), weakening of pulse and blood pressure, heart damage and various nervous disorders including hallucination</a:t>
            </a:r>
            <a:endParaRPr lang="en-US" dirty="0"/>
          </a:p>
        </p:txBody>
      </p:sp>
    </p:spTree>
    <p:extLst>
      <p:ext uri="{BB962C8B-B14F-4D97-AF65-F5344CB8AC3E}">
        <p14:creationId xmlns:p14="http://schemas.microsoft.com/office/powerpoint/2010/main" val="2790796298"/>
      </p:ext>
    </p:extLst>
  </p:cSld>
  <p:clrMapOvr>
    <a:masterClrMapping/>
  </p:clrMapOvr>
</p:sld>
</file>

<file path=ppt/slides/slide5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lstStyle/>
          <a:p>
            <a:pPr lvl="1">
              <a:buFont typeface="Wingdings" pitchFamily="2" charset="2"/>
              <a:buChar char="Ø"/>
            </a:pPr>
            <a:r>
              <a:rPr lang="en-GB" dirty="0"/>
              <a:t>Heavy infection significantly reduces contractibility of muscles and reduces mechanical stress, work power output and fatigue resistance of the diaphragm</a:t>
            </a:r>
            <a:endParaRPr lang="en-US" dirty="0"/>
          </a:p>
          <a:p>
            <a:pPr lvl="1">
              <a:buFont typeface="Wingdings" pitchFamily="2" charset="2"/>
              <a:buChar char="Ø"/>
            </a:pPr>
            <a:endParaRPr lang="en-GB" dirty="0"/>
          </a:p>
          <a:p>
            <a:pPr lvl="1">
              <a:buFont typeface="Wingdings" pitchFamily="2" charset="2"/>
              <a:buChar char="Ø"/>
            </a:pPr>
            <a:r>
              <a:rPr lang="en-GB" dirty="0"/>
              <a:t>Extreme eosinophilia is common but may not be present even in severe cases</a:t>
            </a:r>
            <a:endParaRPr lang="en-US" dirty="0"/>
          </a:p>
          <a:p>
            <a:pPr lvl="1">
              <a:buFont typeface="Wingdings" pitchFamily="2" charset="2"/>
              <a:buChar char="Ø"/>
            </a:pPr>
            <a:r>
              <a:rPr lang="en-GB" dirty="0"/>
              <a:t>Death  is usually cause by heart failure, respiratory complications or kidney malfunction</a:t>
            </a:r>
            <a:endParaRPr lang="en-US" dirty="0"/>
          </a:p>
          <a:p>
            <a:pPr>
              <a:buFont typeface="Wingdings" pitchFamily="2" charset="2"/>
              <a:buChar char="Ø"/>
            </a:pPr>
            <a:endParaRPr lang="en-US" dirty="0"/>
          </a:p>
        </p:txBody>
      </p:sp>
    </p:spTree>
    <p:extLst>
      <p:ext uri="{BB962C8B-B14F-4D97-AF65-F5344CB8AC3E}">
        <p14:creationId xmlns:p14="http://schemas.microsoft.com/office/powerpoint/2010/main" val="729951911"/>
      </p:ext>
    </p:extLst>
  </p:cSld>
  <p:clrMapOvr>
    <a:masterClrMapping/>
  </p:clrMapOvr>
</p:sld>
</file>

<file path=ppt/slides/slide5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GB" b="1" dirty="0"/>
              <a:t>Diagnosis and treatment</a:t>
            </a:r>
            <a:endParaRPr lang="en-US" b="1" dirty="0"/>
          </a:p>
          <a:p>
            <a:pPr lvl="0">
              <a:buFont typeface="Wingdings" pitchFamily="2" charset="2"/>
              <a:buChar char="v"/>
            </a:pPr>
            <a:r>
              <a:rPr lang="en-GB" dirty="0"/>
              <a:t>Most cases especially subclinical go undetected</a:t>
            </a:r>
            <a:endParaRPr lang="en-US" dirty="0"/>
          </a:p>
          <a:p>
            <a:pPr lvl="0">
              <a:buFont typeface="Wingdings" pitchFamily="2" charset="2"/>
              <a:buChar char="v"/>
            </a:pPr>
            <a:r>
              <a:rPr lang="en-GB" dirty="0"/>
              <a:t>Routine examination rarely detect juveniles in faeces, blood, milk or other secretions</a:t>
            </a:r>
            <a:endParaRPr lang="en-US" dirty="0"/>
          </a:p>
          <a:p>
            <a:pPr lvl="0">
              <a:buFont typeface="Wingdings" pitchFamily="2" charset="2"/>
              <a:buChar char="v"/>
            </a:pPr>
            <a:r>
              <a:rPr lang="en-GB" dirty="0"/>
              <a:t>Muscle biopsy is an accurate diagnostic (although seldom employed); pressing the tissue between glass plates and examining under low power is useful,</a:t>
            </a:r>
          </a:p>
          <a:p>
            <a:pPr lvl="0">
              <a:buFont typeface="Wingdings" pitchFamily="2" charset="2"/>
              <a:buChar char="v"/>
            </a:pPr>
            <a:r>
              <a:rPr lang="en-GB" dirty="0"/>
              <a:t> However if the muscle is digested in artificial gastric enzymes for several hours, this provides a much more reliable diagnostic techniques </a:t>
            </a:r>
            <a:endParaRPr lang="en-US" dirty="0"/>
          </a:p>
          <a:p>
            <a:endParaRPr lang="en-US" dirty="0"/>
          </a:p>
        </p:txBody>
      </p:sp>
    </p:spTree>
    <p:extLst>
      <p:ext uri="{BB962C8B-B14F-4D97-AF65-F5344CB8AC3E}">
        <p14:creationId xmlns:p14="http://schemas.microsoft.com/office/powerpoint/2010/main" val="1515815412"/>
      </p:ext>
    </p:extLst>
  </p:cSld>
  <p:clrMapOvr>
    <a:masterClrMapping/>
  </p:clrMapOvr>
</p:sld>
</file>

<file path=ppt/slides/slide5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GB" b="1" dirty="0"/>
            </a:br>
            <a:r>
              <a:rPr lang="en-GB" b="1" dirty="0"/>
              <a:t>Biology of </a:t>
            </a:r>
            <a:r>
              <a:rPr lang="en-GB" b="1" i="1" dirty="0"/>
              <a:t>T. </a:t>
            </a:r>
            <a:r>
              <a:rPr lang="en-GB" b="1" i="1" dirty="0" err="1"/>
              <a:t>spiralis</a:t>
            </a:r>
            <a:r>
              <a:rPr lang="en-GB" b="1" dirty="0"/>
              <a:t> cont’d</a:t>
            </a:r>
            <a:br>
              <a:rPr lang="en-US" dirty="0"/>
            </a:br>
            <a:endParaRPr lang="en-US" dirty="0"/>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pPr lvl="0">
              <a:buFont typeface="Wingdings" pitchFamily="2" charset="2"/>
              <a:buChar char="v"/>
            </a:pPr>
            <a:r>
              <a:rPr lang="en-GB" dirty="0"/>
              <a:t>Several immune-diagnostic tests are now available </a:t>
            </a:r>
            <a:endParaRPr lang="en-US" dirty="0"/>
          </a:p>
          <a:p>
            <a:pPr lvl="0">
              <a:buFont typeface="Wingdings" pitchFamily="2" charset="2"/>
              <a:buChar char="v"/>
            </a:pPr>
            <a:r>
              <a:rPr lang="en-GB" dirty="0"/>
              <a:t>As no really satisfactory treatment is known relieving these symptoms by use of analgesics (pain relievers) and corticosteroids</a:t>
            </a:r>
            <a:endParaRPr lang="en-US" dirty="0"/>
          </a:p>
          <a:p>
            <a:pPr lvl="0">
              <a:buFont typeface="Wingdings" pitchFamily="2" charset="2"/>
              <a:buChar char="v"/>
            </a:pPr>
            <a:r>
              <a:rPr lang="en-GB" dirty="0"/>
              <a:t>Purging during the initial symptoms may dislodge females hat have not yet penetrated the intestinal epithelium; </a:t>
            </a:r>
          </a:p>
          <a:p>
            <a:pPr lvl="0">
              <a:buFont typeface="Wingdings" pitchFamily="2" charset="2"/>
              <a:buChar char="v"/>
            </a:pPr>
            <a:r>
              <a:rPr lang="en-GB" dirty="0" err="1"/>
              <a:t>thiabendazole</a:t>
            </a:r>
            <a:r>
              <a:rPr lang="en-GB" dirty="0"/>
              <a:t> has been shown to be effective in experimental animals</a:t>
            </a:r>
            <a:endParaRPr lang="en-US" dirty="0"/>
          </a:p>
          <a:p>
            <a:pPr>
              <a:buFont typeface="Wingdings" pitchFamily="2" charset="2"/>
              <a:buChar char="v"/>
            </a:pPr>
            <a:endParaRPr lang="en-US" dirty="0"/>
          </a:p>
        </p:txBody>
      </p:sp>
    </p:spTree>
    <p:extLst>
      <p:ext uri="{BB962C8B-B14F-4D97-AF65-F5344CB8AC3E}">
        <p14:creationId xmlns:p14="http://schemas.microsoft.com/office/powerpoint/2010/main" val="2309955975"/>
      </p:ext>
    </p:extLst>
  </p:cSld>
  <p:clrMapOvr>
    <a:masterClrMapping/>
  </p:clrMapOvr>
</p:sld>
</file>

<file path=ppt/slides/slide5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Brugia</a:t>
            </a:r>
            <a:r>
              <a:rPr lang="en-US" b="1" i="1" dirty="0"/>
              <a:t> spp.</a:t>
            </a:r>
            <a:br>
              <a:rPr lang="en-US" dirty="0"/>
            </a:br>
            <a:endParaRPr lang="en-US" dirty="0"/>
          </a:p>
        </p:txBody>
      </p:sp>
      <p:sp>
        <p:nvSpPr>
          <p:cNvPr id="3" name="Content Placeholder 2"/>
          <p:cNvSpPr>
            <a:spLocks noGrp="1"/>
          </p:cNvSpPr>
          <p:nvPr>
            <p:ph idx="1"/>
          </p:nvPr>
        </p:nvSpPr>
        <p:spPr>
          <a:xfrm>
            <a:off x="457200" y="1600200"/>
            <a:ext cx="8229600" cy="4800600"/>
          </a:xfrm>
        </p:spPr>
        <p:txBody>
          <a:bodyPr>
            <a:normAutofit fontScale="92500" lnSpcReduction="10000"/>
          </a:bodyPr>
          <a:lstStyle/>
          <a:p>
            <a:pPr>
              <a:buFont typeface="Wingdings" pitchFamily="2" charset="2"/>
              <a:buChar char="v"/>
            </a:pPr>
            <a:r>
              <a:rPr lang="en-US" dirty="0"/>
              <a:t>Two species </a:t>
            </a:r>
            <a:r>
              <a:rPr lang="en-US" i="1" dirty="0"/>
              <a:t>B. </a:t>
            </a:r>
            <a:r>
              <a:rPr lang="en-US" i="1" dirty="0" err="1"/>
              <a:t>malayi</a:t>
            </a:r>
            <a:r>
              <a:rPr lang="en-US" dirty="0"/>
              <a:t> and </a:t>
            </a:r>
            <a:r>
              <a:rPr lang="en-US" i="1" dirty="0"/>
              <a:t>B. </a:t>
            </a:r>
            <a:r>
              <a:rPr lang="en-US" i="1" dirty="0" err="1"/>
              <a:t>timori</a:t>
            </a:r>
            <a:r>
              <a:rPr lang="en-US" dirty="0"/>
              <a:t> cause lymphatic </a:t>
            </a:r>
            <a:r>
              <a:rPr lang="en-US" dirty="0" err="1"/>
              <a:t>filariasis</a:t>
            </a:r>
            <a:endParaRPr lang="en-US" dirty="0"/>
          </a:p>
          <a:p>
            <a:pPr marL="0" indent="0" algn="ctr">
              <a:buNone/>
            </a:pPr>
            <a:r>
              <a:rPr lang="en-US" b="1" dirty="0"/>
              <a:t>Distribution</a:t>
            </a:r>
            <a:endParaRPr lang="en-US" dirty="0"/>
          </a:p>
          <a:p>
            <a:pPr>
              <a:buFont typeface="Wingdings" pitchFamily="2" charset="2"/>
              <a:buChar char="v"/>
            </a:pPr>
            <a:r>
              <a:rPr lang="en-US" i="1" dirty="0"/>
              <a:t>B. </a:t>
            </a:r>
            <a:r>
              <a:rPr lang="en-US" i="1" dirty="0" err="1"/>
              <a:t>malayi</a:t>
            </a:r>
            <a:r>
              <a:rPr lang="en-US" dirty="0"/>
              <a:t> is endemic in parts of S. E. Asia, S. W. India, the </a:t>
            </a:r>
            <a:r>
              <a:rPr lang="en-US" dirty="0" err="1"/>
              <a:t>Phillippines</a:t>
            </a:r>
            <a:r>
              <a:rPr lang="en-US" dirty="0"/>
              <a:t>, Viet Nam, China and S. Korea</a:t>
            </a:r>
          </a:p>
          <a:p>
            <a:pPr>
              <a:buFont typeface="Wingdings" pitchFamily="2" charset="2"/>
              <a:buChar char="v"/>
            </a:pPr>
            <a:r>
              <a:rPr lang="en-US" dirty="0"/>
              <a:t>Two variants of this species are recognized, </a:t>
            </a:r>
            <a:r>
              <a:rPr lang="en-US" dirty="0" err="1"/>
              <a:t>viz</a:t>
            </a:r>
            <a:r>
              <a:rPr lang="en-US" dirty="0"/>
              <a:t>;</a:t>
            </a:r>
          </a:p>
          <a:p>
            <a:pPr marL="514350" lvl="0" indent="-514350">
              <a:buFont typeface="+mj-lt"/>
              <a:buAutoNum type="arabicPeriod"/>
            </a:pPr>
            <a:endParaRPr lang="en-US" dirty="0"/>
          </a:p>
          <a:p>
            <a:pPr marL="514350" lvl="0" indent="-514350">
              <a:buFont typeface="+mj-lt"/>
              <a:buAutoNum type="arabicPeriod"/>
            </a:pPr>
            <a:r>
              <a:rPr lang="en-US" dirty="0"/>
              <a:t>Periodic (nocturnal)- the most widespread </a:t>
            </a:r>
          </a:p>
          <a:p>
            <a:pPr marL="514350" lvl="0" indent="-514350">
              <a:buFont typeface="+mj-lt"/>
              <a:buAutoNum type="arabicPeriod"/>
            </a:pPr>
            <a:r>
              <a:rPr lang="en-US" dirty="0" err="1"/>
              <a:t>Subperiodic</a:t>
            </a:r>
            <a:r>
              <a:rPr lang="en-US" dirty="0"/>
              <a:t> (nocturnal)</a:t>
            </a:r>
          </a:p>
          <a:p>
            <a:endParaRPr lang="en-US" dirty="0"/>
          </a:p>
        </p:txBody>
      </p:sp>
    </p:spTree>
    <p:extLst>
      <p:ext uri="{BB962C8B-B14F-4D97-AF65-F5344CB8AC3E}">
        <p14:creationId xmlns:p14="http://schemas.microsoft.com/office/powerpoint/2010/main" val="3327943635"/>
      </p:ext>
    </p:extLst>
  </p:cSld>
  <p:clrMapOvr>
    <a:masterClrMapping/>
  </p:clrMapOvr>
</p:sld>
</file>

<file path=ppt/slides/slide5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err="1"/>
              <a:t>Brugia</a:t>
            </a:r>
            <a:r>
              <a:rPr lang="en-US" b="1" i="1" dirty="0"/>
              <a:t> </a:t>
            </a:r>
            <a:r>
              <a:rPr lang="en-US" b="1" i="1" dirty="0" err="1"/>
              <a:t>spp</a:t>
            </a:r>
            <a:r>
              <a:rPr lang="en-US" b="1" i="1" dirty="0"/>
              <a:t> Cont’d</a:t>
            </a:r>
            <a:endParaRPr lang="en-US" dirty="0"/>
          </a:p>
        </p:txBody>
      </p:sp>
      <p:sp>
        <p:nvSpPr>
          <p:cNvPr id="3" name="Content Placeholder 2"/>
          <p:cNvSpPr>
            <a:spLocks noGrp="1"/>
          </p:cNvSpPr>
          <p:nvPr>
            <p:ph idx="1"/>
          </p:nvPr>
        </p:nvSpPr>
        <p:spPr>
          <a:xfrm>
            <a:off x="457200" y="1600200"/>
            <a:ext cx="8229600" cy="5029200"/>
          </a:xfrm>
        </p:spPr>
        <p:txBody>
          <a:bodyPr>
            <a:normAutofit fontScale="92500"/>
          </a:bodyPr>
          <a:lstStyle/>
          <a:p>
            <a:pPr>
              <a:buFont typeface="Wingdings" pitchFamily="2" charset="2"/>
              <a:buChar char="v"/>
            </a:pPr>
            <a:r>
              <a:rPr lang="en-US" i="1" dirty="0"/>
              <a:t>B. </a:t>
            </a:r>
            <a:r>
              <a:rPr lang="en-US" i="1" dirty="0" err="1"/>
              <a:t>malayi</a:t>
            </a:r>
            <a:r>
              <a:rPr lang="en-US" dirty="0"/>
              <a:t> is commonly found in open swamps and rice growing areas of coastal regions;</a:t>
            </a:r>
          </a:p>
          <a:p>
            <a:pPr>
              <a:buFont typeface="Wingdings" pitchFamily="2" charset="2"/>
              <a:buChar char="v"/>
            </a:pPr>
            <a:r>
              <a:rPr lang="en-US" dirty="0"/>
              <a:t> the </a:t>
            </a:r>
            <a:r>
              <a:rPr lang="en-US" dirty="0" err="1"/>
              <a:t>subperiodic</a:t>
            </a:r>
            <a:r>
              <a:rPr lang="en-US" dirty="0"/>
              <a:t> variant is found mostly in freshwater swamps in forests along major rivers. </a:t>
            </a:r>
          </a:p>
          <a:p>
            <a:pPr>
              <a:buFont typeface="Wingdings" pitchFamily="2" charset="2"/>
              <a:buChar char="v"/>
            </a:pPr>
            <a:r>
              <a:rPr lang="en-US" i="1" dirty="0"/>
              <a:t>B. </a:t>
            </a:r>
            <a:r>
              <a:rPr lang="en-US" i="1" dirty="0" err="1"/>
              <a:t>timori</a:t>
            </a:r>
            <a:r>
              <a:rPr lang="en-US" dirty="0"/>
              <a:t> shows nocturnal periodicity, and is found in the lesser </a:t>
            </a:r>
            <a:r>
              <a:rPr lang="en-US" dirty="0" err="1"/>
              <a:t>Sundra</a:t>
            </a:r>
            <a:r>
              <a:rPr lang="en-US" dirty="0"/>
              <a:t> Islands of Indonesia.</a:t>
            </a:r>
          </a:p>
          <a:p>
            <a:pPr>
              <a:buFont typeface="Wingdings" pitchFamily="2" charset="2"/>
              <a:buChar char="v"/>
            </a:pPr>
            <a:r>
              <a:rPr lang="en-US" dirty="0"/>
              <a:t>The specific name is after the island of Timor, and the parasite  is found in low lying riverine and coastal areas</a:t>
            </a:r>
          </a:p>
          <a:p>
            <a:pPr>
              <a:buFont typeface="Wingdings" pitchFamily="2" charset="2"/>
              <a:buChar char="v"/>
            </a:pPr>
            <a:endParaRPr lang="en-US" dirty="0"/>
          </a:p>
        </p:txBody>
      </p:sp>
    </p:spTree>
    <p:extLst>
      <p:ext uri="{BB962C8B-B14F-4D97-AF65-F5344CB8AC3E}">
        <p14:creationId xmlns:p14="http://schemas.microsoft.com/office/powerpoint/2010/main" val="3544354397"/>
      </p:ext>
    </p:extLst>
  </p:cSld>
  <p:clrMapOvr>
    <a:masterClrMapping/>
  </p:clrMapOvr>
</p:sld>
</file>

<file path=ppt/slides/slide5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Brugia</a:t>
            </a:r>
            <a:r>
              <a:rPr lang="en-US" b="1" i="1" dirty="0"/>
              <a:t> </a:t>
            </a:r>
            <a:r>
              <a:rPr lang="en-US" b="1" i="1" dirty="0" err="1"/>
              <a:t>spp</a:t>
            </a:r>
            <a:r>
              <a:rPr lang="en-US" b="1" i="1" dirty="0"/>
              <a:t> Cont’d</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pPr marL="0" indent="0" algn="ctr">
              <a:buNone/>
            </a:pPr>
            <a:r>
              <a:rPr lang="en-US" b="1" dirty="0"/>
              <a:t>Transmission</a:t>
            </a:r>
            <a:endParaRPr lang="en-US" dirty="0"/>
          </a:p>
          <a:p>
            <a:pPr>
              <a:buFont typeface="Wingdings" pitchFamily="2" charset="2"/>
              <a:buChar char="v"/>
            </a:pPr>
            <a:r>
              <a:rPr lang="en-US" dirty="0"/>
              <a:t>Nocturnal periodic </a:t>
            </a:r>
            <a:r>
              <a:rPr lang="en-US" i="1" dirty="0"/>
              <a:t>B. </a:t>
            </a:r>
            <a:r>
              <a:rPr lang="en-US" i="1" dirty="0" err="1"/>
              <a:t>malayi</a:t>
            </a:r>
            <a:r>
              <a:rPr lang="en-US" dirty="0"/>
              <a:t> is transmitted mainly by </a:t>
            </a:r>
            <a:r>
              <a:rPr lang="en-US" dirty="0" err="1"/>
              <a:t>spp</a:t>
            </a:r>
            <a:r>
              <a:rPr lang="en-US" dirty="0"/>
              <a:t> of mosquitoes belonging to </a:t>
            </a:r>
            <a:r>
              <a:rPr lang="en-US" i="1" dirty="0"/>
              <a:t>Anopheles </a:t>
            </a:r>
            <a:r>
              <a:rPr lang="en-US" dirty="0"/>
              <a:t>and </a:t>
            </a:r>
            <a:r>
              <a:rPr lang="en-US" i="1" dirty="0" err="1"/>
              <a:t>Mansonia</a:t>
            </a:r>
            <a:endParaRPr lang="en-US" dirty="0"/>
          </a:p>
          <a:p>
            <a:pPr>
              <a:buFont typeface="Wingdings" pitchFamily="2" charset="2"/>
              <a:buChar char="v"/>
            </a:pPr>
            <a:r>
              <a:rPr lang="en-US" dirty="0" err="1"/>
              <a:t>Subperiodic</a:t>
            </a:r>
            <a:r>
              <a:rPr lang="en-US" dirty="0"/>
              <a:t> </a:t>
            </a:r>
            <a:r>
              <a:rPr lang="en-US" i="1" dirty="0"/>
              <a:t>B. </a:t>
            </a:r>
            <a:r>
              <a:rPr lang="en-US" i="1" dirty="0" err="1"/>
              <a:t>malayi</a:t>
            </a:r>
            <a:r>
              <a:rPr lang="en-US" dirty="0"/>
              <a:t> is transmitted by </a:t>
            </a:r>
            <a:r>
              <a:rPr lang="en-US" i="1" dirty="0" err="1"/>
              <a:t>Mansonia</a:t>
            </a:r>
            <a:r>
              <a:rPr lang="en-US" i="1" dirty="0"/>
              <a:t> </a:t>
            </a:r>
            <a:r>
              <a:rPr lang="en-US" dirty="0"/>
              <a:t>mosquitoes.</a:t>
            </a:r>
          </a:p>
          <a:p>
            <a:pPr>
              <a:buFont typeface="Wingdings" pitchFamily="2" charset="2"/>
              <a:buChar char="v"/>
            </a:pPr>
            <a:r>
              <a:rPr lang="en-US" dirty="0"/>
              <a:t> Monkeys are important reservoirs of this parasite in parts of Malaysia and nearby regions.</a:t>
            </a:r>
          </a:p>
          <a:p>
            <a:pPr>
              <a:buFont typeface="Wingdings" pitchFamily="2" charset="2"/>
              <a:buChar char="v"/>
            </a:pPr>
            <a:r>
              <a:rPr lang="en-US" dirty="0"/>
              <a:t>Domestic cats and dogs, and other animals are also thought, to be reservoir hosts.</a:t>
            </a:r>
          </a:p>
          <a:p>
            <a:pPr>
              <a:buFont typeface="Wingdings" pitchFamily="2" charset="2"/>
              <a:buChar char="v"/>
            </a:pPr>
            <a:r>
              <a:rPr lang="en-US" i="1" dirty="0"/>
              <a:t>B. </a:t>
            </a:r>
            <a:r>
              <a:rPr lang="en-US" i="1" dirty="0" err="1"/>
              <a:t>timori</a:t>
            </a:r>
            <a:r>
              <a:rPr lang="en-US" dirty="0"/>
              <a:t> is transmitted by </a:t>
            </a:r>
            <a:r>
              <a:rPr lang="en-US" i="1" dirty="0"/>
              <a:t>Anopheles </a:t>
            </a:r>
            <a:r>
              <a:rPr lang="en-US" dirty="0"/>
              <a:t>mosquitoes</a:t>
            </a:r>
          </a:p>
        </p:txBody>
      </p:sp>
    </p:spTree>
    <p:extLst>
      <p:ext uri="{BB962C8B-B14F-4D97-AF65-F5344CB8AC3E}">
        <p14:creationId xmlns:p14="http://schemas.microsoft.com/office/powerpoint/2010/main" val="3492746750"/>
      </p:ext>
    </p:extLst>
  </p:cSld>
  <p:clrMapOvr>
    <a:masterClrMapping/>
  </p:clrMapOvr>
</p:sld>
</file>

<file path=ppt/slides/slide5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Brugia</a:t>
            </a:r>
            <a:r>
              <a:rPr lang="en-US" b="1" i="1" dirty="0"/>
              <a:t> </a:t>
            </a:r>
            <a:r>
              <a:rPr lang="en-US" b="1" i="1" dirty="0" err="1"/>
              <a:t>spp</a:t>
            </a:r>
            <a:r>
              <a:rPr lang="en-US" b="1" i="1" dirty="0"/>
              <a:t> Cont’d</a:t>
            </a:r>
            <a:endParaRPr lang="en-US" dirty="0"/>
          </a:p>
        </p:txBody>
      </p:sp>
      <p:sp>
        <p:nvSpPr>
          <p:cNvPr id="3" name="Content Placeholder 2"/>
          <p:cNvSpPr>
            <a:spLocks noGrp="1"/>
          </p:cNvSpPr>
          <p:nvPr>
            <p:ph idx="1"/>
          </p:nvPr>
        </p:nvSpPr>
        <p:spPr>
          <a:xfrm>
            <a:off x="457200" y="1600200"/>
            <a:ext cx="8229600" cy="4800600"/>
          </a:xfrm>
        </p:spPr>
        <p:txBody>
          <a:bodyPr>
            <a:normAutofit fontScale="92500"/>
          </a:bodyPr>
          <a:lstStyle/>
          <a:p>
            <a:pPr marL="0" indent="0" algn="ctr">
              <a:buNone/>
            </a:pPr>
            <a:r>
              <a:rPr lang="en-US" b="1" dirty="0"/>
              <a:t>Life Cycle </a:t>
            </a:r>
          </a:p>
          <a:p>
            <a:pPr>
              <a:buFont typeface="Wingdings" pitchFamily="2" charset="2"/>
              <a:buChar char="v"/>
            </a:pPr>
            <a:r>
              <a:rPr lang="en-US" dirty="0"/>
              <a:t>That of </a:t>
            </a:r>
            <a:r>
              <a:rPr lang="en-US" i="1" dirty="0" err="1"/>
              <a:t>Brugia</a:t>
            </a:r>
            <a:r>
              <a:rPr lang="en-US" i="1" dirty="0"/>
              <a:t> spp</a:t>
            </a:r>
            <a:r>
              <a:rPr lang="en-US" dirty="0"/>
              <a:t>. similar to that of </a:t>
            </a:r>
            <a:r>
              <a:rPr lang="en-US" i="1" dirty="0"/>
              <a:t>W. </a:t>
            </a:r>
            <a:r>
              <a:rPr lang="en-US" i="1" dirty="0" err="1"/>
              <a:t>bancrofti</a:t>
            </a:r>
            <a:endParaRPr lang="en-US" dirty="0"/>
          </a:p>
          <a:p>
            <a:pPr marL="0" indent="0" algn="ctr">
              <a:buNone/>
            </a:pPr>
            <a:r>
              <a:rPr lang="en-US" b="1" dirty="0"/>
              <a:t>Symptoms and Pathology</a:t>
            </a:r>
            <a:endParaRPr lang="en-US" dirty="0"/>
          </a:p>
          <a:p>
            <a:pPr>
              <a:buFont typeface="Wingdings" pitchFamily="2" charset="2"/>
              <a:buChar char="v"/>
            </a:pPr>
            <a:r>
              <a:rPr lang="en-US" dirty="0"/>
              <a:t>Similar to those of </a:t>
            </a:r>
            <a:r>
              <a:rPr lang="en-US" i="1" dirty="0"/>
              <a:t>W. </a:t>
            </a:r>
            <a:r>
              <a:rPr lang="en-US" i="1" dirty="0" err="1"/>
              <a:t>bancrofti</a:t>
            </a:r>
            <a:r>
              <a:rPr lang="en-US" dirty="0"/>
              <a:t>, but symptomless carriers are common, however, symptoms tend to develop more rapidly and children are often more affected than adults. </a:t>
            </a:r>
          </a:p>
          <a:p>
            <a:pPr>
              <a:buFont typeface="Wingdings" pitchFamily="2" charset="2"/>
              <a:buChar char="v"/>
            </a:pPr>
            <a:r>
              <a:rPr lang="en-US" dirty="0"/>
              <a:t>Elephantiasis occurs less frequently and tends to involve only the lower limbs</a:t>
            </a:r>
          </a:p>
          <a:p>
            <a:endParaRPr lang="en-US" dirty="0"/>
          </a:p>
        </p:txBody>
      </p:sp>
    </p:spTree>
    <p:extLst>
      <p:ext uri="{BB962C8B-B14F-4D97-AF65-F5344CB8AC3E}">
        <p14:creationId xmlns:p14="http://schemas.microsoft.com/office/powerpoint/2010/main" val="1849241836"/>
      </p:ext>
    </p:extLst>
  </p:cSld>
  <p:clrMapOvr>
    <a:masterClrMapping/>
  </p:clrMapOvr>
</p:sld>
</file>

<file path=ppt/slides/slide5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Brugia</a:t>
            </a:r>
            <a:r>
              <a:rPr lang="en-US" b="1" i="1" dirty="0"/>
              <a:t> </a:t>
            </a:r>
            <a:r>
              <a:rPr lang="en-US" b="1" i="1" dirty="0" err="1"/>
              <a:t>spp</a:t>
            </a:r>
            <a:r>
              <a:rPr lang="en-US" b="1" i="1" dirty="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 scrotum and spermatic cord are not usually affected and </a:t>
            </a:r>
            <a:r>
              <a:rPr lang="en-US" dirty="0" err="1"/>
              <a:t>chyluria</a:t>
            </a:r>
            <a:r>
              <a:rPr lang="en-US" dirty="0"/>
              <a:t> and hydrocele  are rarely seen.</a:t>
            </a:r>
          </a:p>
          <a:p>
            <a:pPr>
              <a:buFont typeface="Wingdings" pitchFamily="2" charset="2"/>
              <a:buChar char="v"/>
            </a:pPr>
            <a:r>
              <a:rPr lang="en-US" dirty="0"/>
              <a:t>Filarial </a:t>
            </a:r>
            <a:r>
              <a:rPr lang="en-US" dirty="0" err="1"/>
              <a:t>absceses</a:t>
            </a:r>
            <a:r>
              <a:rPr lang="en-US" dirty="0"/>
              <a:t> are common with </a:t>
            </a:r>
            <a:r>
              <a:rPr lang="en-US" i="1" dirty="0"/>
              <a:t>B. </a:t>
            </a:r>
            <a:r>
              <a:rPr lang="en-US" i="1" dirty="0" err="1"/>
              <a:t>timori</a:t>
            </a:r>
            <a:r>
              <a:rPr lang="en-US" dirty="0"/>
              <a:t> infections.</a:t>
            </a:r>
          </a:p>
          <a:p>
            <a:pPr>
              <a:buFont typeface="Wingdings" pitchFamily="2" charset="2"/>
              <a:buChar char="v"/>
            </a:pPr>
            <a:endParaRPr lang="en-US" dirty="0"/>
          </a:p>
        </p:txBody>
      </p:sp>
    </p:spTree>
    <p:extLst>
      <p:ext uri="{BB962C8B-B14F-4D97-AF65-F5344CB8AC3E}">
        <p14:creationId xmlns:p14="http://schemas.microsoft.com/office/powerpoint/2010/main" val="359360923"/>
      </p:ext>
    </p:extLst>
  </p:cSld>
  <p:clrMapOvr>
    <a:masterClrMapping/>
  </p:clrMapOvr>
</p:sld>
</file>

<file path=ppt/slides/slide5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Brugia</a:t>
            </a:r>
            <a:r>
              <a:rPr lang="en-US" b="1" i="1" dirty="0"/>
              <a:t> </a:t>
            </a:r>
            <a:r>
              <a:rPr lang="en-US" b="1" i="1" dirty="0" err="1"/>
              <a:t>spp</a:t>
            </a:r>
            <a:r>
              <a:rPr lang="en-US" b="1" i="1" dirty="0"/>
              <a:t> Cont’d</a:t>
            </a: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Prevention and Control</a:t>
            </a:r>
            <a:endParaRPr lang="en-US" dirty="0"/>
          </a:p>
          <a:p>
            <a:pPr>
              <a:buFont typeface="Wingdings" pitchFamily="2" charset="2"/>
              <a:buChar char="v"/>
            </a:pPr>
            <a:r>
              <a:rPr lang="en-US" dirty="0"/>
              <a:t>Similar to those for </a:t>
            </a:r>
            <a:r>
              <a:rPr lang="en-US" i="1" dirty="0"/>
              <a:t>W. </a:t>
            </a:r>
            <a:r>
              <a:rPr lang="en-US" i="1" dirty="0" err="1"/>
              <a:t>bancrofti</a:t>
            </a:r>
            <a:r>
              <a:rPr lang="en-US" dirty="0"/>
              <a:t>. </a:t>
            </a:r>
          </a:p>
          <a:p>
            <a:pPr>
              <a:buFont typeface="Wingdings" pitchFamily="2" charset="2"/>
              <a:buChar char="v"/>
            </a:pPr>
            <a:r>
              <a:rPr lang="en-US" dirty="0"/>
              <a:t> For control of </a:t>
            </a:r>
            <a:r>
              <a:rPr lang="en-US" i="1" dirty="0" err="1"/>
              <a:t>Mansonia</a:t>
            </a:r>
            <a:r>
              <a:rPr lang="en-US" dirty="0"/>
              <a:t> mosquitoes, selective weed killers have proved most the effective (</a:t>
            </a:r>
            <a:r>
              <a:rPr lang="en-US" i="1" dirty="0" err="1"/>
              <a:t>Mansonia</a:t>
            </a:r>
            <a:r>
              <a:rPr lang="en-US" i="1" dirty="0"/>
              <a:t> spp</a:t>
            </a:r>
            <a:r>
              <a:rPr lang="en-US" dirty="0"/>
              <a:t>. are the important vectors of </a:t>
            </a:r>
            <a:r>
              <a:rPr lang="en-US" i="1" dirty="0"/>
              <a:t>B. </a:t>
            </a:r>
            <a:r>
              <a:rPr lang="en-US" i="1" dirty="0" err="1"/>
              <a:t>malayi</a:t>
            </a:r>
            <a:r>
              <a:rPr lang="en-US" i="1" dirty="0"/>
              <a:t>)</a:t>
            </a:r>
            <a:endParaRPr lang="en-US" dirty="0"/>
          </a:p>
          <a:p>
            <a:pPr>
              <a:buFont typeface="Wingdings" pitchFamily="2" charset="2"/>
              <a:buChar char="v"/>
            </a:pPr>
            <a:r>
              <a:rPr lang="en-US" dirty="0"/>
              <a:t>Where monkeys are important reservoirs of infection, trees around settlements must be cleared.</a:t>
            </a:r>
          </a:p>
          <a:p>
            <a:endParaRPr lang="en-US" dirty="0"/>
          </a:p>
        </p:txBody>
      </p:sp>
    </p:spTree>
    <p:extLst>
      <p:ext uri="{BB962C8B-B14F-4D97-AF65-F5344CB8AC3E}">
        <p14:creationId xmlns:p14="http://schemas.microsoft.com/office/powerpoint/2010/main" val="2291832901"/>
      </p:ext>
    </p:extLst>
  </p:cSld>
  <p:clrMapOvr>
    <a:masterClrMapping/>
  </p:clrMapOvr>
</p:sld>
</file>

<file path=ppt/slides/slide5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Brugia</a:t>
            </a:r>
            <a:r>
              <a:rPr lang="en-US" b="1" i="1" dirty="0"/>
              <a:t> </a:t>
            </a:r>
            <a:r>
              <a:rPr lang="en-US" b="1" i="1" dirty="0" err="1"/>
              <a:t>spp</a:t>
            </a:r>
            <a:r>
              <a:rPr lang="en-US" b="1" i="1" dirty="0"/>
              <a:t> Cont’d</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marL="0" indent="0" algn="ctr">
              <a:buNone/>
            </a:pPr>
            <a:r>
              <a:rPr lang="en-US" b="1" dirty="0"/>
              <a:t>Diagnosis</a:t>
            </a:r>
            <a:endParaRPr lang="en-US" dirty="0"/>
          </a:p>
          <a:p>
            <a:pPr>
              <a:buFont typeface="Wingdings" pitchFamily="2" charset="2"/>
              <a:buChar char="v"/>
            </a:pPr>
            <a:r>
              <a:rPr lang="en-US" dirty="0"/>
              <a:t>Examination of blood for </a:t>
            </a:r>
            <a:r>
              <a:rPr lang="en-US" i="1" dirty="0" err="1"/>
              <a:t>Brugia</a:t>
            </a:r>
            <a:r>
              <a:rPr lang="en-US" i="1" dirty="0"/>
              <a:t> </a:t>
            </a:r>
            <a:r>
              <a:rPr lang="en-US" dirty="0"/>
              <a:t>microfilaria; there is blood eosinophilia</a:t>
            </a:r>
          </a:p>
          <a:p>
            <a:pPr>
              <a:buFont typeface="Wingdings" pitchFamily="2" charset="2"/>
              <a:buChar char="v"/>
            </a:pPr>
            <a:r>
              <a:rPr lang="en-US" dirty="0"/>
              <a:t>Blood collection times:</a:t>
            </a:r>
          </a:p>
          <a:p>
            <a:pPr marL="514350" lvl="0" indent="-514350">
              <a:buFont typeface="+mj-lt"/>
              <a:buAutoNum type="arabicPeriod"/>
            </a:pPr>
            <a:r>
              <a:rPr lang="en-US" dirty="0"/>
              <a:t>Periodic B. </a:t>
            </a:r>
            <a:r>
              <a:rPr lang="en-US" dirty="0" err="1"/>
              <a:t>malayi</a:t>
            </a:r>
            <a:r>
              <a:rPr lang="en-US" dirty="0"/>
              <a:t> 22.00-04.00 </a:t>
            </a:r>
            <a:r>
              <a:rPr lang="en-US" dirty="0" err="1"/>
              <a:t>hrs</a:t>
            </a:r>
            <a:r>
              <a:rPr lang="en-US" dirty="0"/>
              <a:t> (24.00 </a:t>
            </a:r>
            <a:r>
              <a:rPr lang="en-US" dirty="0" err="1"/>
              <a:t>hrs</a:t>
            </a:r>
            <a:r>
              <a:rPr lang="en-US" dirty="0"/>
              <a:t>)</a:t>
            </a:r>
          </a:p>
          <a:p>
            <a:pPr marL="514350" lvl="0" indent="-514350">
              <a:buFont typeface="+mj-lt"/>
              <a:buAutoNum type="arabicPeriod"/>
            </a:pPr>
            <a:r>
              <a:rPr lang="en-US" dirty="0" err="1"/>
              <a:t>Subperiodic</a:t>
            </a:r>
            <a:r>
              <a:rPr lang="en-US" dirty="0"/>
              <a:t> B. </a:t>
            </a:r>
            <a:r>
              <a:rPr lang="en-US" dirty="0" err="1"/>
              <a:t>malayi</a:t>
            </a:r>
            <a:r>
              <a:rPr lang="en-US" dirty="0"/>
              <a:t> 20.00-22.00 (21.00 </a:t>
            </a:r>
            <a:r>
              <a:rPr lang="en-US" dirty="0" err="1"/>
              <a:t>hrs</a:t>
            </a:r>
            <a:r>
              <a:rPr lang="en-US" dirty="0"/>
              <a:t>)</a:t>
            </a:r>
          </a:p>
          <a:p>
            <a:pPr marL="514350" lvl="0" indent="-514350">
              <a:buFont typeface="+mj-lt"/>
              <a:buAutoNum type="arabicPeriod"/>
            </a:pPr>
            <a:r>
              <a:rPr lang="en-US" dirty="0"/>
              <a:t>Periodic B. </a:t>
            </a:r>
            <a:r>
              <a:rPr lang="en-US" dirty="0" err="1"/>
              <a:t>timori</a:t>
            </a:r>
            <a:r>
              <a:rPr lang="en-US" dirty="0"/>
              <a:t> 22.00-04.00 </a:t>
            </a:r>
            <a:r>
              <a:rPr lang="en-US" dirty="0" err="1"/>
              <a:t>hrs</a:t>
            </a:r>
            <a:r>
              <a:rPr lang="en-US" dirty="0"/>
              <a:t> (24.00 </a:t>
            </a:r>
            <a:r>
              <a:rPr lang="en-US" dirty="0" err="1"/>
              <a:t>hrs</a:t>
            </a:r>
            <a:r>
              <a:rPr lang="en-US" dirty="0"/>
              <a:t>)</a:t>
            </a:r>
          </a:p>
          <a:p>
            <a:pPr marL="0" indent="0">
              <a:buNone/>
            </a:pPr>
            <a:endParaRPr lang="en-US" dirty="0"/>
          </a:p>
          <a:p>
            <a:pPr marL="0" indent="0">
              <a:buNone/>
            </a:pPr>
            <a:r>
              <a:rPr lang="en-US" dirty="0"/>
              <a:t>Outside these periods, microfilaria may still be present in blood but would be more difficult to detect.</a:t>
            </a:r>
          </a:p>
          <a:p>
            <a:endParaRPr lang="en-US" dirty="0"/>
          </a:p>
        </p:txBody>
      </p:sp>
    </p:spTree>
    <p:extLst>
      <p:ext uri="{BB962C8B-B14F-4D97-AF65-F5344CB8AC3E}">
        <p14:creationId xmlns:p14="http://schemas.microsoft.com/office/powerpoint/2010/main" val="3655300460"/>
      </p:ext>
    </p:extLst>
  </p:cSld>
  <p:clrMapOvr>
    <a:masterClrMapping/>
  </p:clrMapOvr>
</p:sld>
</file>

<file path=ppt/slides/slide5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Loa </a:t>
            </a:r>
            <a:r>
              <a:rPr lang="en-US" b="1" i="1" dirty="0" err="1"/>
              <a:t>loa</a:t>
            </a:r>
            <a:br>
              <a:rPr lang="en-US" dirty="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a:t>The cause of </a:t>
            </a:r>
            <a:r>
              <a:rPr lang="en-US" dirty="0" err="1"/>
              <a:t>loiasis</a:t>
            </a:r>
            <a:r>
              <a:rPr lang="en-US" dirty="0"/>
              <a:t>, a subcutaneous </a:t>
            </a:r>
            <a:r>
              <a:rPr lang="en-US" dirty="0" err="1"/>
              <a:t>filariasis</a:t>
            </a:r>
            <a:r>
              <a:rPr lang="en-US" dirty="0"/>
              <a:t> also known as ‘</a:t>
            </a:r>
            <a:r>
              <a:rPr lang="en-US" dirty="0" err="1"/>
              <a:t>Calabar</a:t>
            </a:r>
            <a:r>
              <a:rPr lang="en-US" dirty="0"/>
              <a:t> swelling’.</a:t>
            </a:r>
          </a:p>
          <a:p>
            <a:pPr>
              <a:buFont typeface="Wingdings" pitchFamily="2" charset="2"/>
              <a:buChar char="v"/>
            </a:pPr>
            <a:r>
              <a:rPr lang="en-US" dirty="0"/>
              <a:t>The parasite (adult worm) sometimes migrates across the conjunctiva or eyelid, hence referred to as the ‘eye worm’.</a:t>
            </a:r>
          </a:p>
          <a:p>
            <a:pPr marL="0" indent="0" algn="ctr">
              <a:buNone/>
            </a:pPr>
            <a:r>
              <a:rPr lang="en-US" b="1" dirty="0"/>
              <a:t>Distribution</a:t>
            </a:r>
            <a:endParaRPr lang="en-US" dirty="0"/>
          </a:p>
          <a:p>
            <a:pPr>
              <a:buFont typeface="Wingdings" pitchFamily="2" charset="2"/>
              <a:buChar char="v"/>
            </a:pPr>
            <a:r>
              <a:rPr lang="en-US" dirty="0"/>
              <a:t>Restricted to the equatorial rain forest areas of West and Central Africa.</a:t>
            </a:r>
          </a:p>
          <a:p>
            <a:endParaRPr lang="en-US" dirty="0"/>
          </a:p>
        </p:txBody>
      </p:sp>
    </p:spTree>
    <p:extLst>
      <p:ext uri="{BB962C8B-B14F-4D97-AF65-F5344CB8AC3E}">
        <p14:creationId xmlns:p14="http://schemas.microsoft.com/office/powerpoint/2010/main" val="3470667118"/>
      </p:ext>
    </p:extLst>
  </p:cSld>
  <p:clrMapOvr>
    <a:masterClrMapping/>
  </p:clrMapOvr>
</p:sld>
</file>

<file path=ppt/slides/slide5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Loa </a:t>
            </a:r>
            <a:r>
              <a:rPr lang="en-US" b="1" i="1" dirty="0" err="1"/>
              <a:t>loa</a:t>
            </a:r>
            <a:r>
              <a:rPr lang="en-US" b="1" i="1" dirty="0"/>
              <a:t> cont’d</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Transmission</a:t>
            </a:r>
            <a:endParaRPr lang="en-US" dirty="0"/>
          </a:p>
          <a:p>
            <a:pPr>
              <a:buFont typeface="Wingdings" pitchFamily="2" charset="2"/>
              <a:buChar char="v"/>
            </a:pPr>
            <a:r>
              <a:rPr lang="en-US" dirty="0"/>
              <a:t>By blood-sucking daytime biting </a:t>
            </a:r>
            <a:r>
              <a:rPr lang="en-US" dirty="0" err="1"/>
              <a:t>tabanid</a:t>
            </a:r>
            <a:r>
              <a:rPr lang="en-US" dirty="0"/>
              <a:t> flies of the genus. </a:t>
            </a:r>
            <a:r>
              <a:rPr lang="en-US" i="1" dirty="0" err="1"/>
              <a:t>Chrysops</a:t>
            </a:r>
            <a:r>
              <a:rPr lang="en-US" i="1" dirty="0"/>
              <a:t> </a:t>
            </a:r>
            <a:r>
              <a:rPr lang="en-US" dirty="0"/>
              <a:t>(often referred to as Mangrove flies or horseflies).</a:t>
            </a:r>
          </a:p>
          <a:p>
            <a:pPr marL="0" indent="0" algn="ctr">
              <a:buNone/>
            </a:pPr>
            <a:r>
              <a:rPr lang="en-US" b="1" dirty="0"/>
              <a:t>Life Cycle</a:t>
            </a:r>
            <a:endParaRPr lang="en-US" dirty="0"/>
          </a:p>
          <a:p>
            <a:pPr>
              <a:buFont typeface="Wingdings" pitchFamily="2" charset="2"/>
              <a:buChar char="v"/>
            </a:pPr>
            <a:r>
              <a:rPr lang="en-US" dirty="0"/>
              <a:t>Infective larvae (in large numbers) enter human skin through the deep wound made by an infected </a:t>
            </a:r>
            <a:r>
              <a:rPr lang="en-US" i="1" dirty="0" err="1"/>
              <a:t>Chrysops</a:t>
            </a:r>
            <a:r>
              <a:rPr lang="en-US" dirty="0"/>
              <a:t> fly when it sucks blood.</a:t>
            </a:r>
          </a:p>
          <a:p>
            <a:endParaRPr lang="en-US" dirty="0"/>
          </a:p>
        </p:txBody>
      </p:sp>
    </p:spTree>
    <p:extLst>
      <p:ext uri="{BB962C8B-B14F-4D97-AF65-F5344CB8AC3E}">
        <p14:creationId xmlns:p14="http://schemas.microsoft.com/office/powerpoint/2010/main" val="3528149982"/>
      </p:ext>
    </p:extLst>
  </p:cSld>
  <p:clrMapOvr>
    <a:masterClrMapping/>
  </p:clrMapOvr>
</p:sld>
</file>

<file path=ppt/slides/slide5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Loa </a:t>
            </a:r>
            <a:r>
              <a:rPr lang="en-US" b="1" i="1" dirty="0" err="1"/>
              <a:t>loa</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a:bodyPr>
          <a:lstStyle/>
          <a:p>
            <a:pPr>
              <a:buFont typeface="Wingdings" pitchFamily="2" charset="2"/>
              <a:buChar char="v"/>
            </a:pPr>
            <a:r>
              <a:rPr lang="en-US" dirty="0"/>
              <a:t>The larvae penetrate the sub-cutaneous connective tissues and within 12 months develop into mature male and female worms which may live for 4-12 years in the host, </a:t>
            </a:r>
          </a:p>
          <a:p>
            <a:pPr>
              <a:buFont typeface="Wingdings" pitchFamily="2" charset="2"/>
              <a:buChar char="v"/>
            </a:pPr>
            <a:r>
              <a:rPr lang="en-US" dirty="0"/>
              <a:t>wandering in the sub-cutaneous tissue and occasionally in the conjunctiva of the eye.</a:t>
            </a:r>
          </a:p>
          <a:p>
            <a:pPr>
              <a:buFont typeface="Wingdings" pitchFamily="2" charset="2"/>
              <a:buChar char="v"/>
            </a:pPr>
            <a:r>
              <a:rPr lang="en-US" dirty="0"/>
              <a:t>Viviparous females produce sheathed microfilaria (mf) which can be found in the blood during day hours and can also be found in the tissues.</a:t>
            </a:r>
          </a:p>
          <a:p>
            <a:pPr marL="0" indent="0">
              <a:buNone/>
            </a:pPr>
            <a:endParaRPr lang="en-US" dirty="0"/>
          </a:p>
        </p:txBody>
      </p:sp>
    </p:spTree>
    <p:extLst>
      <p:ext uri="{BB962C8B-B14F-4D97-AF65-F5344CB8AC3E}">
        <p14:creationId xmlns:p14="http://schemas.microsoft.com/office/powerpoint/2010/main" val="2322253829"/>
      </p:ext>
    </p:extLst>
  </p:cSld>
  <p:clrMapOvr>
    <a:masterClrMapping/>
  </p:clrMapOvr>
</p:sld>
</file>

<file path=ppt/slides/slide5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Loa </a:t>
            </a:r>
            <a:r>
              <a:rPr lang="en-US" b="1" i="1" dirty="0" err="1"/>
              <a:t>loa</a:t>
            </a:r>
            <a:r>
              <a:rPr lang="en-US" b="1" i="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A female </a:t>
            </a:r>
            <a:r>
              <a:rPr lang="en-US" i="1" dirty="0" err="1"/>
              <a:t>Chrysops</a:t>
            </a:r>
            <a:r>
              <a:rPr lang="en-US" dirty="0"/>
              <a:t> fly takes up the mf when sucking blood </a:t>
            </a:r>
          </a:p>
          <a:p>
            <a:pPr>
              <a:buFont typeface="Wingdings" pitchFamily="2" charset="2"/>
              <a:buChar char="v"/>
            </a:pPr>
            <a:r>
              <a:rPr lang="en-US" dirty="0"/>
              <a:t>and in its stomach they lose their sheath, pass through the stomach wall, penetrate the thoracic muscles and develop into infective larvae in about 10 days.</a:t>
            </a:r>
          </a:p>
          <a:p>
            <a:pPr>
              <a:buFont typeface="Wingdings" pitchFamily="2" charset="2"/>
              <a:buChar char="v"/>
            </a:pPr>
            <a:r>
              <a:rPr lang="en-US" dirty="0"/>
              <a:t>Mature infective larvae migrate to the mouthparts of the insect ready to be transmitted by the fly.</a:t>
            </a:r>
          </a:p>
          <a:p>
            <a:endParaRPr lang="en-US" dirty="0"/>
          </a:p>
        </p:txBody>
      </p:sp>
    </p:spTree>
    <p:extLst>
      <p:ext uri="{BB962C8B-B14F-4D97-AF65-F5344CB8AC3E}">
        <p14:creationId xmlns:p14="http://schemas.microsoft.com/office/powerpoint/2010/main" val="2573199405"/>
      </p:ext>
    </p:extLst>
  </p:cSld>
  <p:clrMapOvr>
    <a:masterClrMapping/>
  </p:clrMapOvr>
</p:sld>
</file>

<file path=ppt/slides/slide5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Loa </a:t>
            </a:r>
            <a:r>
              <a:rPr lang="en-US" b="1" i="1" dirty="0" err="1"/>
              <a:t>loa</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Symptoms and Pathology</a:t>
            </a:r>
            <a:endParaRPr lang="en-US" dirty="0"/>
          </a:p>
          <a:p>
            <a:pPr>
              <a:buFont typeface="Wingdings" pitchFamily="2" charset="2"/>
              <a:buChar char="v"/>
            </a:pPr>
            <a:r>
              <a:rPr lang="en-US" dirty="0"/>
              <a:t>Many people infected do not develop clinical symptoms. </a:t>
            </a:r>
          </a:p>
          <a:p>
            <a:pPr>
              <a:buFont typeface="Wingdings" pitchFamily="2" charset="2"/>
              <a:buChar char="v"/>
            </a:pPr>
            <a:r>
              <a:rPr lang="en-US" dirty="0"/>
              <a:t>The disease however, is </a:t>
            </a:r>
            <a:r>
              <a:rPr lang="en-US" dirty="0" err="1"/>
              <a:t>charaterised</a:t>
            </a:r>
            <a:r>
              <a:rPr lang="en-US" dirty="0"/>
              <a:t> by the formation of swellings (</a:t>
            </a:r>
            <a:r>
              <a:rPr lang="en-US" dirty="0" err="1"/>
              <a:t>Calabar</a:t>
            </a:r>
            <a:r>
              <a:rPr lang="en-US" dirty="0"/>
              <a:t> Swellings) which may last from a few days up to 3 weeks, measuring 3-10cm in diameter.</a:t>
            </a:r>
          </a:p>
        </p:txBody>
      </p:sp>
    </p:spTree>
    <p:extLst>
      <p:ext uri="{BB962C8B-B14F-4D97-AF65-F5344CB8AC3E}">
        <p14:creationId xmlns:p14="http://schemas.microsoft.com/office/powerpoint/2010/main" val="2250585254"/>
      </p:ext>
    </p:extLst>
  </p:cSld>
  <p:clrMapOvr>
    <a:masterClrMapping/>
  </p:clrMapOvr>
</p:sld>
</file>

<file path=ppt/slides/slide5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Loa </a:t>
            </a:r>
            <a:r>
              <a:rPr lang="en-US" b="1" i="1" dirty="0" err="1"/>
              <a:t>loa</a:t>
            </a:r>
            <a:r>
              <a:rPr lang="en-US" b="1" i="1" dirty="0"/>
              <a:t> cont’d</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 arms are most frequently affected, with an allergic response to adult worms migrating in the subcutaneous tissue showing as </a:t>
            </a:r>
            <a:r>
              <a:rPr lang="en-US" dirty="0" err="1"/>
              <a:t>inflammed</a:t>
            </a:r>
            <a:r>
              <a:rPr lang="en-US" dirty="0"/>
              <a:t> areas</a:t>
            </a:r>
          </a:p>
          <a:p>
            <a:pPr>
              <a:buFont typeface="Wingdings" pitchFamily="2" charset="2"/>
              <a:buChar char="v"/>
            </a:pPr>
            <a:r>
              <a:rPr lang="en-US" dirty="0"/>
              <a:t>The worms may not be present in the swellings though they may occasionally be seen migrating below the skin surface. </a:t>
            </a:r>
          </a:p>
          <a:p>
            <a:pPr>
              <a:buFont typeface="Wingdings" pitchFamily="2" charset="2"/>
              <a:buChar char="v"/>
            </a:pPr>
            <a:endParaRPr lang="en-US" dirty="0"/>
          </a:p>
        </p:txBody>
      </p:sp>
    </p:spTree>
    <p:extLst>
      <p:ext uri="{BB962C8B-B14F-4D97-AF65-F5344CB8AC3E}">
        <p14:creationId xmlns:p14="http://schemas.microsoft.com/office/powerpoint/2010/main" val="2070470947"/>
      </p:ext>
    </p:extLst>
  </p:cSld>
  <p:clrMapOvr>
    <a:masterClrMapping/>
  </p:clrMapOvr>
</p:sld>
</file>

<file path=ppt/slides/slide5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Loa </a:t>
            </a:r>
            <a:r>
              <a:rPr lang="en-US" b="1" i="1" dirty="0" err="1"/>
              <a:t>loa</a:t>
            </a:r>
            <a:r>
              <a:rPr lang="en-US" b="1" i="1" dirty="0"/>
              <a:t> cont’d</a:t>
            </a:r>
            <a:br>
              <a:rPr lang="en-US" dirty="0"/>
            </a:br>
            <a:endParaRPr lang="en-US" dirty="0"/>
          </a:p>
        </p:txBody>
      </p:sp>
      <p:sp>
        <p:nvSpPr>
          <p:cNvPr id="3" name="Content Placeholder 2"/>
          <p:cNvSpPr>
            <a:spLocks noGrp="1"/>
          </p:cNvSpPr>
          <p:nvPr>
            <p:ph idx="1"/>
          </p:nvPr>
        </p:nvSpPr>
        <p:spPr>
          <a:xfrm>
            <a:off x="457200" y="1600200"/>
            <a:ext cx="8382000" cy="4525963"/>
          </a:xfrm>
        </p:spPr>
        <p:txBody>
          <a:bodyPr>
            <a:normAutofit lnSpcReduction="10000"/>
          </a:bodyPr>
          <a:lstStyle/>
          <a:p>
            <a:pPr>
              <a:buFont typeface="Wingdings" pitchFamily="2" charset="2"/>
              <a:buChar char="v"/>
            </a:pPr>
            <a:r>
              <a:rPr lang="en-US" dirty="0"/>
              <a:t>The adult worms also migrate in </a:t>
            </a:r>
            <a:r>
              <a:rPr lang="en-US" dirty="0" err="1"/>
              <a:t>subconjunctival</a:t>
            </a:r>
            <a:r>
              <a:rPr lang="en-US" dirty="0"/>
              <a:t> tissue and may be seen under the eyelids and occasionally slowly crossing the white of the eye, </a:t>
            </a:r>
          </a:p>
          <a:p>
            <a:pPr>
              <a:buFont typeface="Wingdings" pitchFamily="2" charset="2"/>
              <a:buChar char="v"/>
            </a:pPr>
            <a:r>
              <a:rPr lang="en-US" dirty="0"/>
              <a:t>and may cause inflammation and irritation though not blindness.</a:t>
            </a:r>
          </a:p>
          <a:p>
            <a:pPr>
              <a:buFont typeface="Wingdings" pitchFamily="2" charset="2"/>
              <a:buChar char="v"/>
            </a:pPr>
            <a:r>
              <a:rPr lang="en-US" dirty="0"/>
              <a:t>An </a:t>
            </a:r>
            <a:r>
              <a:rPr lang="en-US" dirty="0" err="1"/>
              <a:t>eosinophilic</a:t>
            </a:r>
            <a:r>
              <a:rPr lang="en-US" dirty="0"/>
              <a:t> </a:t>
            </a:r>
            <a:r>
              <a:rPr lang="en-US" dirty="0" err="1"/>
              <a:t>leucocytosis</a:t>
            </a:r>
            <a:r>
              <a:rPr lang="en-US" dirty="0"/>
              <a:t> and high </a:t>
            </a:r>
            <a:r>
              <a:rPr lang="en-US" dirty="0" err="1"/>
              <a:t>titres</a:t>
            </a:r>
            <a:r>
              <a:rPr lang="en-US" dirty="0"/>
              <a:t> of specific anti-filarial antibodies are found in patients with the disease</a:t>
            </a:r>
          </a:p>
          <a:p>
            <a:pPr marL="0" indent="0">
              <a:buNone/>
            </a:pPr>
            <a:endParaRPr lang="en-US" dirty="0"/>
          </a:p>
        </p:txBody>
      </p:sp>
    </p:spTree>
    <p:extLst>
      <p:ext uri="{BB962C8B-B14F-4D97-AF65-F5344CB8AC3E}">
        <p14:creationId xmlns:p14="http://schemas.microsoft.com/office/powerpoint/2010/main" val="3742813798"/>
      </p:ext>
    </p:extLst>
  </p:cSld>
  <p:clrMapOvr>
    <a:masterClrMapping/>
  </p:clrMapOvr>
</p:sld>
</file>

<file path=ppt/slides/slide5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Loa </a:t>
            </a:r>
            <a:r>
              <a:rPr lang="en-US" b="1" i="1" dirty="0" err="1"/>
              <a:t>loa</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Prevention and Control</a:t>
            </a:r>
            <a:endParaRPr lang="en-US" dirty="0"/>
          </a:p>
          <a:p>
            <a:pPr lvl="0">
              <a:buFont typeface="Wingdings" pitchFamily="2" charset="2"/>
              <a:buChar char="v"/>
            </a:pPr>
            <a:r>
              <a:rPr lang="en-US" dirty="0"/>
              <a:t>Avoiding the bites of the flies by wearing protective clothing, and siting settlements, including adequate water supply, away from forest areas</a:t>
            </a:r>
          </a:p>
          <a:p>
            <a:pPr lvl="0">
              <a:buFont typeface="Wingdings" pitchFamily="2" charset="2"/>
              <a:buChar char="v"/>
            </a:pPr>
            <a:r>
              <a:rPr lang="en-US" dirty="0"/>
              <a:t>Destruction of </a:t>
            </a:r>
            <a:r>
              <a:rPr lang="en-US" i="1" dirty="0" err="1"/>
              <a:t>Chrysops</a:t>
            </a:r>
            <a:r>
              <a:rPr lang="en-US" dirty="0"/>
              <a:t> flies, e.g. by clearing vegetation to allow in sunlight, and use of insecticides</a:t>
            </a:r>
          </a:p>
          <a:p>
            <a:pPr lvl="0">
              <a:buFont typeface="Wingdings" pitchFamily="2" charset="2"/>
              <a:buChar char="v"/>
            </a:pPr>
            <a:r>
              <a:rPr lang="en-US" dirty="0"/>
              <a:t>Treating of infected individuals but with care in areas where </a:t>
            </a:r>
            <a:r>
              <a:rPr lang="en-US" i="1" dirty="0"/>
              <a:t>O.</a:t>
            </a:r>
            <a:r>
              <a:rPr lang="en-US" dirty="0"/>
              <a:t> </a:t>
            </a:r>
            <a:r>
              <a:rPr lang="en-US" i="1" dirty="0"/>
              <a:t>volvulus </a:t>
            </a:r>
            <a:r>
              <a:rPr lang="en-US" dirty="0"/>
              <a:t>also occurs</a:t>
            </a:r>
          </a:p>
          <a:p>
            <a:endParaRPr lang="en-US" dirty="0"/>
          </a:p>
        </p:txBody>
      </p:sp>
    </p:spTree>
    <p:extLst>
      <p:ext uri="{BB962C8B-B14F-4D97-AF65-F5344CB8AC3E}">
        <p14:creationId xmlns:p14="http://schemas.microsoft.com/office/powerpoint/2010/main" val="1524355107"/>
      </p:ext>
    </p:extLst>
  </p:cSld>
  <p:clrMapOvr>
    <a:masterClrMapping/>
  </p:clrMapOvr>
</p:sld>
</file>

<file path=ppt/slides/slide5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Loa </a:t>
            </a:r>
            <a:r>
              <a:rPr lang="en-US" b="1" i="1" dirty="0" err="1"/>
              <a:t>loa</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Diagnosis</a:t>
            </a:r>
            <a:endParaRPr lang="en-US" dirty="0"/>
          </a:p>
          <a:p>
            <a:pPr lvl="0">
              <a:buFont typeface="Wingdings" pitchFamily="2" charset="2"/>
              <a:buChar char="v"/>
            </a:pPr>
            <a:r>
              <a:rPr lang="en-US" dirty="0"/>
              <a:t>Detecting microfilariae in blood</a:t>
            </a:r>
          </a:p>
          <a:p>
            <a:pPr lvl="0">
              <a:buFont typeface="Wingdings" pitchFamily="2" charset="2"/>
              <a:buChar char="v"/>
            </a:pPr>
            <a:r>
              <a:rPr lang="en-US" dirty="0"/>
              <a:t>The mf may be seen in joint fluid</a:t>
            </a:r>
          </a:p>
          <a:p>
            <a:pPr lvl="0">
              <a:buFont typeface="Wingdings" pitchFamily="2" charset="2"/>
              <a:buChar char="v"/>
            </a:pPr>
            <a:r>
              <a:rPr lang="en-US" dirty="0"/>
              <a:t>Marked eosinophilia</a:t>
            </a:r>
          </a:p>
          <a:p>
            <a:pPr>
              <a:buFont typeface="Wingdings" pitchFamily="2" charset="2"/>
              <a:buChar char="v"/>
            </a:pPr>
            <a:r>
              <a:rPr lang="en-US" dirty="0"/>
              <a:t>Blood Collection Times for </a:t>
            </a:r>
            <a:r>
              <a:rPr lang="en-US" i="1" dirty="0"/>
              <a:t>L. </a:t>
            </a:r>
            <a:r>
              <a:rPr lang="en-US" i="1" dirty="0" err="1"/>
              <a:t>loa</a:t>
            </a:r>
            <a:r>
              <a:rPr lang="en-US" dirty="0"/>
              <a:t>: it has strict Diurnal periodicity hence blood collection time is 10.00-15.00hours; peak 13.00hrs</a:t>
            </a:r>
          </a:p>
          <a:p>
            <a:endParaRPr lang="en-US" dirty="0"/>
          </a:p>
        </p:txBody>
      </p:sp>
    </p:spTree>
    <p:extLst>
      <p:ext uri="{BB962C8B-B14F-4D97-AF65-F5344CB8AC3E}">
        <p14:creationId xmlns:p14="http://schemas.microsoft.com/office/powerpoint/2010/main" val="653801497"/>
      </p:ext>
    </p:extLst>
  </p:cSld>
  <p:clrMapOvr>
    <a:masterClrMapping/>
  </p:clrMapOvr>
</p:sld>
</file>

<file path=ppt/slides/slide5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Mansonella</a:t>
            </a:r>
            <a:r>
              <a:rPr lang="en-US" b="1" i="1" dirty="0"/>
              <a:t> </a:t>
            </a:r>
            <a:r>
              <a:rPr lang="en-US" b="1" i="1" dirty="0" err="1"/>
              <a:t>spp</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 species cause allergic reactions in humans. Occurs in areas where </a:t>
            </a:r>
            <a:r>
              <a:rPr lang="en-US" i="1" dirty="0"/>
              <a:t>W. </a:t>
            </a:r>
            <a:r>
              <a:rPr lang="en-US" i="1" dirty="0" err="1"/>
              <a:t>bancrofti</a:t>
            </a:r>
            <a:r>
              <a:rPr lang="en-US" i="1" dirty="0"/>
              <a:t>, L. </a:t>
            </a:r>
            <a:r>
              <a:rPr lang="en-US" i="1" dirty="0" err="1"/>
              <a:t>loa</a:t>
            </a:r>
            <a:r>
              <a:rPr lang="en-US" i="1" dirty="0"/>
              <a:t> </a:t>
            </a:r>
            <a:r>
              <a:rPr lang="en-US" dirty="0"/>
              <a:t>and </a:t>
            </a:r>
            <a:r>
              <a:rPr lang="en-US" i="1" dirty="0"/>
              <a:t>O. volvulus</a:t>
            </a:r>
            <a:r>
              <a:rPr lang="en-US" dirty="0"/>
              <a:t> also occur.</a:t>
            </a:r>
          </a:p>
          <a:p>
            <a:pPr>
              <a:buFont typeface="Wingdings" pitchFamily="2" charset="2"/>
              <a:buChar char="v"/>
            </a:pPr>
            <a:endParaRPr lang="en-US" dirty="0"/>
          </a:p>
          <a:p>
            <a:pPr>
              <a:buFont typeface="Wingdings" pitchFamily="2" charset="2"/>
              <a:buChar char="v"/>
            </a:pPr>
            <a:r>
              <a:rPr lang="en-US" dirty="0"/>
              <a:t>The </a:t>
            </a:r>
            <a:r>
              <a:rPr lang="en-US" dirty="0" err="1"/>
              <a:t>spp</a:t>
            </a:r>
            <a:r>
              <a:rPr lang="en-US" dirty="0"/>
              <a:t> include those that live in the skin, the blood and sometimes both blood and skin.</a:t>
            </a:r>
          </a:p>
          <a:p>
            <a:pPr>
              <a:buFont typeface="Wingdings" pitchFamily="2" charset="2"/>
              <a:buChar char="v"/>
            </a:pPr>
            <a:endParaRPr lang="en-US" dirty="0"/>
          </a:p>
        </p:txBody>
      </p:sp>
    </p:spTree>
    <p:extLst>
      <p:ext uri="{BB962C8B-B14F-4D97-AF65-F5344CB8AC3E}">
        <p14:creationId xmlns:p14="http://schemas.microsoft.com/office/powerpoint/2010/main" val="642920982"/>
      </p:ext>
    </p:extLst>
  </p:cSld>
  <p:clrMapOvr>
    <a:masterClrMapping/>
  </p:clrMapOvr>
</p:sld>
</file>

<file path=ppt/slides/slide5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M. </a:t>
            </a:r>
            <a:r>
              <a:rPr lang="en-US" i="1" dirty="0" err="1"/>
              <a:t>streptocerca</a:t>
            </a: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10000"/>
          </a:bodyPr>
          <a:lstStyle/>
          <a:p>
            <a:pPr>
              <a:buFont typeface="Wingdings" pitchFamily="2" charset="2"/>
              <a:buChar char="v"/>
            </a:pPr>
            <a:r>
              <a:rPr lang="en-US" dirty="0"/>
              <a:t>found in skin, requires differentiation from </a:t>
            </a:r>
            <a:r>
              <a:rPr lang="en-US" i="1" dirty="0"/>
              <a:t>O. volvulus</a:t>
            </a:r>
            <a:r>
              <a:rPr lang="en-US" dirty="0"/>
              <a:t>. It occurs in Rain forests of Central and West Africa. </a:t>
            </a:r>
          </a:p>
          <a:p>
            <a:pPr>
              <a:buFont typeface="Wingdings" pitchFamily="2" charset="2"/>
              <a:buChar char="v"/>
            </a:pPr>
            <a:r>
              <a:rPr lang="en-US" dirty="0"/>
              <a:t>Formally known as </a:t>
            </a:r>
            <a:r>
              <a:rPr lang="en-US" i="1" dirty="0" err="1"/>
              <a:t>Dipetalonema</a:t>
            </a:r>
            <a:r>
              <a:rPr lang="en-US" i="1" dirty="0"/>
              <a:t> </a:t>
            </a:r>
            <a:r>
              <a:rPr lang="en-US" i="1" dirty="0" err="1"/>
              <a:t>strptocerca</a:t>
            </a:r>
            <a:r>
              <a:rPr lang="en-US" i="1" dirty="0"/>
              <a:t>. </a:t>
            </a:r>
            <a:r>
              <a:rPr lang="en-US" dirty="0"/>
              <a:t>It is transmitted by </a:t>
            </a:r>
            <a:r>
              <a:rPr lang="en-US" i="1" dirty="0" err="1"/>
              <a:t>Culicoides</a:t>
            </a:r>
            <a:r>
              <a:rPr lang="en-US" dirty="0"/>
              <a:t> midges. </a:t>
            </a:r>
          </a:p>
          <a:p>
            <a:pPr>
              <a:buFont typeface="Wingdings" pitchFamily="2" charset="2"/>
              <a:buChar char="v"/>
            </a:pPr>
            <a:r>
              <a:rPr lang="en-US" dirty="0"/>
              <a:t>Adult worms and microfilariae are found just below the skin surface usually of the upper trunk and shoulders.</a:t>
            </a:r>
          </a:p>
          <a:p>
            <a:pPr>
              <a:buFont typeface="Wingdings" pitchFamily="2" charset="2"/>
              <a:buChar char="v"/>
            </a:pPr>
            <a:r>
              <a:rPr lang="en-US" dirty="0"/>
              <a:t> Infections are without symptoms. </a:t>
            </a:r>
          </a:p>
          <a:p>
            <a:pPr>
              <a:buFont typeface="Wingdings" pitchFamily="2" charset="2"/>
              <a:buChar char="v"/>
            </a:pPr>
            <a:r>
              <a:rPr lang="en-US" dirty="0"/>
              <a:t>However an itching dermatitis of infected areas is common. </a:t>
            </a:r>
          </a:p>
          <a:p>
            <a:endParaRPr lang="en-US" dirty="0"/>
          </a:p>
        </p:txBody>
      </p:sp>
    </p:spTree>
    <p:extLst>
      <p:ext uri="{BB962C8B-B14F-4D97-AF65-F5344CB8AC3E}">
        <p14:creationId xmlns:p14="http://schemas.microsoft.com/office/powerpoint/2010/main" val="3008352650"/>
      </p:ext>
    </p:extLst>
  </p:cSld>
  <p:clrMapOvr>
    <a:masterClrMapping/>
  </p:clrMapOvr>
</p:sld>
</file>

<file path=ppt/slides/slide5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M. </a:t>
            </a:r>
            <a:r>
              <a:rPr lang="en-US" i="1" dirty="0" err="1"/>
              <a:t>perstans</a:t>
            </a: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pPr>
              <a:buFont typeface="Wingdings" pitchFamily="2" charset="2"/>
              <a:buChar char="v"/>
            </a:pPr>
            <a:r>
              <a:rPr lang="en-US" dirty="0"/>
              <a:t>found in blood; requires differentiation from </a:t>
            </a:r>
            <a:r>
              <a:rPr lang="en-US" i="1" dirty="0"/>
              <a:t>W. </a:t>
            </a:r>
            <a:r>
              <a:rPr lang="en-US" i="1" dirty="0" err="1"/>
              <a:t>bancrofti</a:t>
            </a:r>
            <a:r>
              <a:rPr lang="en-US" dirty="0"/>
              <a:t> and </a:t>
            </a:r>
            <a:r>
              <a:rPr lang="en-US" i="1" dirty="0"/>
              <a:t>L. </a:t>
            </a:r>
            <a:r>
              <a:rPr lang="en-US" i="1" dirty="0" err="1"/>
              <a:t>loa</a:t>
            </a:r>
            <a:r>
              <a:rPr lang="en-US" dirty="0"/>
              <a:t>; it is found in Tropical Africa, Central and South America.</a:t>
            </a:r>
          </a:p>
          <a:p>
            <a:pPr>
              <a:buFont typeface="Wingdings" pitchFamily="2" charset="2"/>
              <a:buChar char="v"/>
            </a:pPr>
            <a:r>
              <a:rPr lang="en-US" dirty="0"/>
              <a:t> It is also known as </a:t>
            </a:r>
            <a:r>
              <a:rPr lang="en-US" i="1" dirty="0" err="1"/>
              <a:t>Dipetalonema</a:t>
            </a:r>
            <a:r>
              <a:rPr lang="en-US" i="1" dirty="0"/>
              <a:t> </a:t>
            </a:r>
            <a:r>
              <a:rPr lang="en-US" i="1" dirty="0" err="1"/>
              <a:t>perstans</a:t>
            </a:r>
            <a:r>
              <a:rPr lang="en-US" i="1" dirty="0"/>
              <a:t>. </a:t>
            </a:r>
            <a:r>
              <a:rPr lang="en-US" dirty="0"/>
              <a:t>Several primates have been incriminated as reservoir hosts. </a:t>
            </a:r>
          </a:p>
          <a:p>
            <a:pPr>
              <a:buFont typeface="Wingdings" pitchFamily="2" charset="2"/>
              <a:buChar char="v"/>
            </a:pPr>
            <a:r>
              <a:rPr lang="en-US" dirty="0"/>
              <a:t>Adult worms live in the coelom and produce unsheathed mf. </a:t>
            </a:r>
          </a:p>
          <a:p>
            <a:pPr>
              <a:buFont typeface="Wingdings" pitchFamily="2" charset="2"/>
              <a:buChar char="v"/>
            </a:pPr>
            <a:r>
              <a:rPr lang="en-US" dirty="0"/>
              <a:t>Intermediate hosts are species of biting midges of the genus </a:t>
            </a:r>
            <a:r>
              <a:rPr lang="en-US" dirty="0" err="1"/>
              <a:t>Culicoides</a:t>
            </a:r>
            <a:r>
              <a:rPr lang="en-US" dirty="0"/>
              <a:t>.</a:t>
            </a:r>
          </a:p>
        </p:txBody>
      </p:sp>
    </p:spTree>
    <p:extLst>
      <p:ext uri="{BB962C8B-B14F-4D97-AF65-F5344CB8AC3E}">
        <p14:creationId xmlns:p14="http://schemas.microsoft.com/office/powerpoint/2010/main" val="2312723073"/>
      </p:ext>
    </p:extLst>
  </p:cSld>
  <p:clrMapOvr>
    <a:masterClrMapping/>
  </p:clrMapOvr>
</p:sld>
</file>

<file path=ppt/slides/slide5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M. </a:t>
            </a:r>
            <a:r>
              <a:rPr lang="en-US" i="1" dirty="0" err="1"/>
              <a:t>perstans</a:t>
            </a:r>
            <a:r>
              <a:rPr lang="en-US" i="1" dirty="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They appear to cause little pathological effect. However, allergic reactions with eosinophilia may occur. </a:t>
            </a:r>
          </a:p>
          <a:p>
            <a:pPr>
              <a:buFont typeface="Wingdings" pitchFamily="2" charset="2"/>
              <a:buChar char="v"/>
            </a:pPr>
            <a:r>
              <a:rPr lang="en-US" dirty="0"/>
              <a:t>Adult worms are rarely found in humans and occasionally parasite may occur in the cerebrospinal fluid but may not cause cerebral </a:t>
            </a:r>
            <a:r>
              <a:rPr lang="en-US" dirty="0" err="1"/>
              <a:t>filariasis</a:t>
            </a:r>
            <a:r>
              <a:rPr lang="en-US" dirty="0"/>
              <a:t>.</a:t>
            </a:r>
          </a:p>
        </p:txBody>
      </p:sp>
    </p:spTree>
    <p:extLst>
      <p:ext uri="{BB962C8B-B14F-4D97-AF65-F5344CB8AC3E}">
        <p14:creationId xmlns:p14="http://schemas.microsoft.com/office/powerpoint/2010/main" val="336129034"/>
      </p:ext>
    </p:extLst>
  </p:cSld>
  <p:clrMapOvr>
    <a:masterClrMapping/>
  </p:clrMapOvr>
</p:sld>
</file>

<file path=ppt/slides/slide5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M. </a:t>
            </a:r>
            <a:r>
              <a:rPr lang="en-US" i="1" dirty="0" err="1"/>
              <a:t>ozzardi</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Found in blood and skin, requires differentiation from </a:t>
            </a:r>
            <a:r>
              <a:rPr lang="en-US" i="1" dirty="0"/>
              <a:t>O. volvulus</a:t>
            </a:r>
            <a:r>
              <a:rPr lang="en-US" dirty="0"/>
              <a:t> and </a:t>
            </a:r>
            <a:r>
              <a:rPr lang="en-US" i="1" dirty="0"/>
              <a:t>W. </a:t>
            </a:r>
            <a:r>
              <a:rPr lang="en-US" i="1" dirty="0" err="1"/>
              <a:t>bancrofti</a:t>
            </a:r>
            <a:r>
              <a:rPr lang="en-US" i="1" dirty="0"/>
              <a:t>.</a:t>
            </a:r>
            <a:r>
              <a:rPr lang="en-US" dirty="0"/>
              <a:t> </a:t>
            </a:r>
          </a:p>
          <a:p>
            <a:pPr>
              <a:buFont typeface="Wingdings" pitchFamily="2" charset="2"/>
              <a:buChar char="v"/>
            </a:pPr>
            <a:r>
              <a:rPr lang="en-US" dirty="0"/>
              <a:t>It is found in West Indies, Central and South America, notably northern Argentina, the Amazon drainage, the northern coast of S. America, Central America and several islands of the West Indies; </a:t>
            </a:r>
          </a:p>
          <a:p>
            <a:pPr>
              <a:buFont typeface="Wingdings" pitchFamily="2" charset="2"/>
              <a:buChar char="v"/>
            </a:pPr>
            <a:r>
              <a:rPr lang="en-US" dirty="0"/>
              <a:t>it has never been found in the Old World.</a:t>
            </a:r>
          </a:p>
          <a:p>
            <a:endParaRPr lang="en-US" dirty="0"/>
          </a:p>
        </p:txBody>
      </p:sp>
    </p:spTree>
    <p:extLst>
      <p:ext uri="{BB962C8B-B14F-4D97-AF65-F5344CB8AC3E}">
        <p14:creationId xmlns:p14="http://schemas.microsoft.com/office/powerpoint/2010/main" val="1223357893"/>
      </p:ext>
    </p:extLst>
  </p:cSld>
  <p:clrMapOvr>
    <a:masterClrMapping/>
  </p:clrMapOvr>
</p:sld>
</file>

<file path=ppt/slides/slide5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M. </a:t>
            </a:r>
            <a:r>
              <a:rPr lang="en-US" i="1" dirty="0" err="1"/>
              <a:t>Ozzardi</a:t>
            </a:r>
            <a:r>
              <a:rPr lang="en-US" i="1" dirty="0"/>
              <a:t> 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Adults live in the body cavity, threaded among the mesenteries and peritoneum and in subcutaneous tissues.</a:t>
            </a:r>
          </a:p>
          <a:p>
            <a:pPr>
              <a:buFont typeface="Wingdings" pitchFamily="2" charset="2"/>
              <a:buChar char="v"/>
            </a:pPr>
            <a:r>
              <a:rPr lang="en-US" dirty="0"/>
              <a:t>Its manifestations can mimic </a:t>
            </a:r>
            <a:r>
              <a:rPr lang="en-US" dirty="0" err="1"/>
              <a:t>bancroftian</a:t>
            </a:r>
            <a:r>
              <a:rPr lang="en-US" dirty="0"/>
              <a:t> </a:t>
            </a:r>
            <a:r>
              <a:rPr lang="en-US" dirty="0" err="1"/>
              <a:t>filariasis</a:t>
            </a:r>
            <a:r>
              <a:rPr lang="en-US" dirty="0"/>
              <a:t>, which </a:t>
            </a:r>
            <a:r>
              <a:rPr lang="en-US" dirty="0" err="1"/>
              <a:t>polylymphadenitis</a:t>
            </a:r>
            <a:r>
              <a:rPr lang="en-US" dirty="0"/>
              <a:t>, </a:t>
            </a:r>
            <a:r>
              <a:rPr lang="en-US" dirty="0" err="1"/>
              <a:t>lymphadema</a:t>
            </a:r>
            <a:r>
              <a:rPr lang="en-US" dirty="0"/>
              <a:t>, elephantiasis and hepatomegaly (enlargement of the liver).</a:t>
            </a:r>
          </a:p>
          <a:p>
            <a:pPr>
              <a:buFont typeface="Wingdings" pitchFamily="2" charset="2"/>
              <a:buChar char="v"/>
            </a:pPr>
            <a:r>
              <a:rPr lang="en-US" dirty="0"/>
              <a:t> </a:t>
            </a:r>
            <a:r>
              <a:rPr lang="en-US" dirty="0" err="1"/>
              <a:t>Micorfilariae</a:t>
            </a:r>
            <a:r>
              <a:rPr lang="en-US" dirty="0"/>
              <a:t> can be found in blood collected both during the day and night. </a:t>
            </a:r>
          </a:p>
        </p:txBody>
      </p:sp>
    </p:spTree>
    <p:extLst>
      <p:ext uri="{BB962C8B-B14F-4D97-AF65-F5344CB8AC3E}">
        <p14:creationId xmlns:p14="http://schemas.microsoft.com/office/powerpoint/2010/main" val="589034871"/>
      </p:ext>
    </p:extLst>
  </p:cSld>
  <p:clrMapOvr>
    <a:masterClrMapping/>
  </p:clrMapOvr>
</p:sld>
</file>

<file path=ppt/slides/slide5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M. </a:t>
            </a:r>
            <a:r>
              <a:rPr lang="en-US" i="1" dirty="0" err="1"/>
              <a:t>Ozzardi</a:t>
            </a:r>
            <a:r>
              <a:rPr lang="en-US" i="1" dirty="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 infections are usually non pathogenic but may be associated with chronic arthritis and skin rashes.</a:t>
            </a:r>
          </a:p>
          <a:p>
            <a:pPr>
              <a:buFont typeface="Wingdings" pitchFamily="2" charset="2"/>
              <a:buChar char="v"/>
            </a:pPr>
            <a:r>
              <a:rPr lang="en-US" dirty="0"/>
              <a:t>The intermediate hosts are species of </a:t>
            </a:r>
            <a:r>
              <a:rPr lang="en-US" i="1" dirty="0" err="1"/>
              <a:t>Culicoides</a:t>
            </a:r>
            <a:r>
              <a:rPr lang="en-US" dirty="0"/>
              <a:t> and </a:t>
            </a:r>
            <a:r>
              <a:rPr lang="en-US" i="1" dirty="0" err="1"/>
              <a:t>Simulium</a:t>
            </a:r>
            <a:r>
              <a:rPr lang="en-US" i="1" dirty="0"/>
              <a:t> </a:t>
            </a:r>
            <a:r>
              <a:rPr lang="en-US" dirty="0"/>
              <a:t>black flies</a:t>
            </a:r>
          </a:p>
          <a:p>
            <a:pPr>
              <a:buFont typeface="Wingdings" pitchFamily="2" charset="2"/>
              <a:buChar char="v"/>
            </a:pPr>
            <a:endParaRPr lang="en-US" dirty="0"/>
          </a:p>
        </p:txBody>
      </p:sp>
    </p:spTree>
    <p:extLst>
      <p:ext uri="{BB962C8B-B14F-4D97-AF65-F5344CB8AC3E}">
        <p14:creationId xmlns:p14="http://schemas.microsoft.com/office/powerpoint/2010/main" val="3891153481"/>
      </p:ext>
    </p:extLst>
  </p:cSld>
  <p:clrMapOvr>
    <a:masterClrMapping/>
  </p:clrMapOvr>
</p:sld>
</file>

<file path=ppt/slides/slide5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i="1" dirty="0"/>
              <a:t> </a:t>
            </a:r>
            <a:br>
              <a:rPr lang="en-US" dirty="0"/>
            </a:br>
            <a:r>
              <a:rPr lang="en-US" b="1" i="1" dirty="0" err="1"/>
              <a:t>Mansonella</a:t>
            </a:r>
            <a:r>
              <a:rPr lang="en-US" b="1" i="1" dirty="0"/>
              <a:t> </a:t>
            </a:r>
            <a:r>
              <a:rPr lang="en-US" b="1" i="1" dirty="0" err="1"/>
              <a:t>spp</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Diagnosis </a:t>
            </a:r>
            <a:endParaRPr lang="en-US" dirty="0"/>
          </a:p>
          <a:p>
            <a:pPr>
              <a:buFont typeface="Wingdings" pitchFamily="2" charset="2"/>
              <a:buChar char="v"/>
            </a:pPr>
            <a:r>
              <a:rPr lang="en-US" dirty="0"/>
              <a:t>They can be diagnosed as with </a:t>
            </a:r>
            <a:r>
              <a:rPr lang="en-US" i="1" dirty="0"/>
              <a:t>W. </a:t>
            </a:r>
            <a:r>
              <a:rPr lang="en-US" i="1" dirty="0" err="1"/>
              <a:t>bancrofti</a:t>
            </a:r>
            <a:r>
              <a:rPr lang="en-US" i="1" dirty="0"/>
              <a:t>. </a:t>
            </a:r>
            <a:r>
              <a:rPr lang="en-US" dirty="0"/>
              <a:t>However they need to be differentiated using their specific features to identify them from </a:t>
            </a:r>
            <a:r>
              <a:rPr lang="en-US" dirty="0" err="1"/>
              <a:t>Bancroftian</a:t>
            </a:r>
            <a:r>
              <a:rPr lang="en-US" dirty="0"/>
              <a:t> filarial parasite and O. </a:t>
            </a:r>
            <a:r>
              <a:rPr lang="en-US" dirty="0" err="1"/>
              <a:t>vulvulus</a:t>
            </a:r>
            <a:r>
              <a:rPr lang="en-US" dirty="0"/>
              <a:t>.</a:t>
            </a:r>
          </a:p>
          <a:p>
            <a:endParaRPr lang="en-US" dirty="0"/>
          </a:p>
        </p:txBody>
      </p:sp>
    </p:spTree>
    <p:extLst>
      <p:ext uri="{BB962C8B-B14F-4D97-AF65-F5344CB8AC3E}">
        <p14:creationId xmlns:p14="http://schemas.microsoft.com/office/powerpoint/2010/main" val="3562177314"/>
      </p:ext>
    </p:extLst>
  </p:cSld>
  <p:clrMapOvr>
    <a:masterClrMapping/>
  </p:clrMapOvr>
</p:sld>
</file>

<file path=ppt/slides/slide5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This filarial nematode causes </a:t>
            </a:r>
            <a:r>
              <a:rPr lang="en-US" dirty="0" err="1"/>
              <a:t>Onchocerciasis</a:t>
            </a:r>
            <a:r>
              <a:rPr lang="en-US" dirty="0"/>
              <a:t>, a cutaneous </a:t>
            </a:r>
            <a:r>
              <a:rPr lang="en-US" dirty="0" err="1"/>
              <a:t>filariasis</a:t>
            </a:r>
            <a:r>
              <a:rPr lang="en-US" dirty="0"/>
              <a:t>.</a:t>
            </a:r>
          </a:p>
          <a:p>
            <a:pPr>
              <a:buFont typeface="Wingdings" pitchFamily="2" charset="2"/>
              <a:buChar char="v"/>
            </a:pPr>
            <a:r>
              <a:rPr lang="en-US" dirty="0"/>
              <a:t> Disease is also known as River blindness because invasion of the eye may lead to loss of vision. </a:t>
            </a:r>
          </a:p>
          <a:p>
            <a:pPr>
              <a:buFont typeface="Wingdings" pitchFamily="2" charset="2"/>
              <a:buChar char="v"/>
            </a:pPr>
            <a:r>
              <a:rPr lang="en-US" dirty="0"/>
              <a:t>Some 30 million people are believed to be infected, with about 500,000  people blind.</a:t>
            </a:r>
          </a:p>
          <a:p>
            <a:pPr>
              <a:buFont typeface="Wingdings" pitchFamily="2" charset="2"/>
              <a:buChar char="v"/>
            </a:pPr>
            <a:endParaRPr lang="en-US" dirty="0"/>
          </a:p>
        </p:txBody>
      </p:sp>
    </p:spTree>
    <p:extLst>
      <p:ext uri="{BB962C8B-B14F-4D97-AF65-F5344CB8AC3E}">
        <p14:creationId xmlns:p14="http://schemas.microsoft.com/office/powerpoint/2010/main" val="3697348820"/>
      </p:ext>
    </p:extLst>
  </p:cSld>
  <p:clrMapOvr>
    <a:masterClrMapping/>
  </p:clrMapOvr>
</p:sld>
</file>

<file path=ppt/slides/slide5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i="1" dirty="0" err="1"/>
              <a:t>Onchocerca</a:t>
            </a:r>
            <a:r>
              <a:rPr lang="en-US" b="1" i="1" dirty="0"/>
              <a:t> volvulus</a:t>
            </a:r>
            <a:r>
              <a:rPr lang="en-US" b="1" dirty="0"/>
              <a:t> cont’d</a:t>
            </a:r>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Distribution</a:t>
            </a:r>
            <a:endParaRPr lang="en-US" dirty="0"/>
          </a:p>
          <a:p>
            <a:pPr>
              <a:buFont typeface="Wingdings" pitchFamily="2" charset="2"/>
              <a:buChar char="v"/>
            </a:pPr>
            <a:r>
              <a:rPr lang="en-US" dirty="0"/>
              <a:t>Along the courses of fast flowing rivers in the rain forests and savannah areas of West and Central Africa, from Senegal (in the west) to Uganda and Ethiopia (in the East) and as far South as Zambia.</a:t>
            </a:r>
          </a:p>
          <a:p>
            <a:pPr>
              <a:buFont typeface="Wingdings" pitchFamily="2" charset="2"/>
              <a:buChar char="v"/>
            </a:pPr>
            <a:r>
              <a:rPr lang="en-US" dirty="0"/>
              <a:t>Smaller foci occur in the Yemen, Saudi Arabia and Central America where the vectors </a:t>
            </a:r>
            <a:r>
              <a:rPr lang="en-US" i="1" dirty="0"/>
              <a:t>O. volvulus</a:t>
            </a:r>
            <a:r>
              <a:rPr lang="en-US" dirty="0"/>
              <a:t> breed in slow running streams, and in South America (Ecuador, Brazil, Venezuela and Columbia)</a:t>
            </a:r>
          </a:p>
          <a:p>
            <a:endParaRPr lang="en-US" dirty="0"/>
          </a:p>
        </p:txBody>
      </p:sp>
    </p:spTree>
    <p:extLst>
      <p:ext uri="{BB962C8B-B14F-4D97-AF65-F5344CB8AC3E}">
        <p14:creationId xmlns:p14="http://schemas.microsoft.com/office/powerpoint/2010/main" val="2850985887"/>
      </p:ext>
    </p:extLst>
  </p:cSld>
  <p:clrMapOvr>
    <a:masterClrMapping/>
  </p:clrMapOvr>
</p:sld>
</file>

<file path=ppt/slides/slide5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Onchocerca</a:t>
            </a:r>
            <a:r>
              <a:rPr lang="en-US" b="1" i="1" dirty="0"/>
              <a:t> volvulus</a:t>
            </a:r>
            <a:r>
              <a:rPr lang="en-US" b="1" dirty="0"/>
              <a:t> cont’d</a:t>
            </a:r>
            <a:endParaRPr lang="en-US" dirty="0"/>
          </a:p>
        </p:txBody>
      </p:sp>
      <p:sp>
        <p:nvSpPr>
          <p:cNvPr id="3" name="Content Placeholder 2"/>
          <p:cNvSpPr>
            <a:spLocks noGrp="1"/>
          </p:cNvSpPr>
          <p:nvPr>
            <p:ph idx="1"/>
          </p:nvPr>
        </p:nvSpPr>
        <p:spPr/>
        <p:txBody>
          <a:bodyPr/>
          <a:lstStyle/>
          <a:p>
            <a:pPr marL="0" indent="0" algn="ctr">
              <a:buNone/>
            </a:pPr>
            <a:r>
              <a:rPr lang="en-US" b="1" dirty="0"/>
              <a:t>Transmission</a:t>
            </a:r>
            <a:endParaRPr lang="en-US" dirty="0"/>
          </a:p>
          <a:p>
            <a:pPr>
              <a:buFont typeface="Wingdings" pitchFamily="2" charset="2"/>
              <a:buChar char="v"/>
            </a:pPr>
            <a:r>
              <a:rPr lang="en-US" dirty="0"/>
              <a:t>By </a:t>
            </a:r>
            <a:r>
              <a:rPr lang="en-US" i="1" dirty="0" err="1"/>
              <a:t>Simulium</a:t>
            </a:r>
            <a:r>
              <a:rPr lang="en-US" dirty="0"/>
              <a:t> blackflies when they bite humans to take blood meal. </a:t>
            </a:r>
          </a:p>
          <a:p>
            <a:pPr>
              <a:buFont typeface="Wingdings" pitchFamily="2" charset="2"/>
              <a:buChar char="v"/>
            </a:pPr>
            <a:r>
              <a:rPr lang="en-US" dirty="0"/>
              <a:t>The infective larvae are deposited on the skin and enter through the bite wound.</a:t>
            </a:r>
          </a:p>
          <a:p>
            <a:pPr>
              <a:buFont typeface="Wingdings" pitchFamily="2" charset="2"/>
              <a:buChar char="v"/>
            </a:pPr>
            <a:r>
              <a:rPr lang="en-US" dirty="0"/>
              <a:t>Larvae develop into male and female worms in subcutaneous tissue. Development takes several months</a:t>
            </a:r>
          </a:p>
          <a:p>
            <a:endParaRPr lang="en-US" dirty="0"/>
          </a:p>
        </p:txBody>
      </p:sp>
    </p:spTree>
    <p:extLst>
      <p:ext uri="{BB962C8B-B14F-4D97-AF65-F5344CB8AC3E}">
        <p14:creationId xmlns:p14="http://schemas.microsoft.com/office/powerpoint/2010/main" val="2155525814"/>
      </p:ext>
    </p:extLst>
  </p:cSld>
  <p:clrMapOvr>
    <a:masterClrMapping/>
  </p:clrMapOvr>
</p:sld>
</file>

<file path=ppt/slides/slide5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Onchocerca</a:t>
            </a:r>
            <a:r>
              <a:rPr lang="en-US" b="1" i="1" dirty="0"/>
              <a:t> volvulus</a:t>
            </a:r>
            <a:r>
              <a:rPr lang="en-US" b="1" dirty="0"/>
              <a:t> cont’d</a:t>
            </a:r>
            <a:endParaRPr lang="en-US" dirty="0"/>
          </a:p>
        </p:txBody>
      </p:sp>
      <p:sp>
        <p:nvSpPr>
          <p:cNvPr id="3" name="Content Placeholder 2"/>
          <p:cNvSpPr>
            <a:spLocks noGrp="1"/>
          </p:cNvSpPr>
          <p:nvPr>
            <p:ph idx="1"/>
          </p:nvPr>
        </p:nvSpPr>
        <p:spPr>
          <a:xfrm>
            <a:off x="457200" y="1600200"/>
            <a:ext cx="8229600" cy="5257800"/>
          </a:xfrm>
        </p:spPr>
        <p:txBody>
          <a:bodyPr>
            <a:normAutofit/>
          </a:bodyPr>
          <a:lstStyle/>
          <a:p>
            <a:pPr marL="0" indent="0" algn="ctr">
              <a:buNone/>
            </a:pPr>
            <a:r>
              <a:rPr lang="en-US" b="1" dirty="0"/>
              <a:t>Life Cycle</a:t>
            </a:r>
            <a:endParaRPr lang="en-US" dirty="0"/>
          </a:p>
          <a:p>
            <a:pPr>
              <a:buFont typeface="Wingdings" pitchFamily="2" charset="2"/>
              <a:buChar char="v"/>
            </a:pPr>
            <a:r>
              <a:rPr lang="en-US" dirty="0"/>
              <a:t>Adults live in subcutaneous tissue and in lymph spaces, either singly or in tangled masses. </a:t>
            </a:r>
          </a:p>
          <a:p>
            <a:pPr>
              <a:buFont typeface="Wingdings" pitchFamily="2" charset="2"/>
              <a:buChar char="v"/>
            </a:pPr>
            <a:r>
              <a:rPr lang="en-US" dirty="0"/>
              <a:t>The worms later become encapsulated in fibrous tissues; they may live up to 10 years or more in the host.</a:t>
            </a:r>
          </a:p>
          <a:p>
            <a:pPr marL="0" indent="0">
              <a:buNone/>
            </a:pPr>
            <a:endParaRPr lang="en-US" dirty="0"/>
          </a:p>
        </p:txBody>
      </p:sp>
    </p:spTree>
    <p:extLst>
      <p:ext uri="{BB962C8B-B14F-4D97-AF65-F5344CB8AC3E}">
        <p14:creationId xmlns:p14="http://schemas.microsoft.com/office/powerpoint/2010/main" val="3586541886"/>
      </p:ext>
    </p:extLst>
  </p:cSld>
  <p:clrMapOvr>
    <a:masterClrMapping/>
  </p:clrMapOvr>
</p:sld>
</file>

<file path=ppt/slides/slide5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Onchocerca</a:t>
            </a:r>
            <a:r>
              <a:rPr lang="en-US" b="1" i="1" dirty="0"/>
              <a:t> volvulus</a:t>
            </a:r>
            <a:r>
              <a:rPr lang="en-US" b="1" dirty="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Viviparous females produce many unsheathed mf (seen just below the surface of the skin in lymph spaces and in connective tissue and the fluid of nodule;</a:t>
            </a:r>
          </a:p>
          <a:p>
            <a:pPr>
              <a:buFont typeface="Wingdings" pitchFamily="2" charset="2"/>
              <a:buChar char="v"/>
            </a:pPr>
            <a:r>
              <a:rPr lang="en-US" dirty="0"/>
              <a:t>mf may be found in the skin from about 7 months onwards after infection and may migrate to the eye and other organs of the body.</a:t>
            </a:r>
          </a:p>
          <a:p>
            <a:endParaRPr lang="en-US" dirty="0"/>
          </a:p>
        </p:txBody>
      </p:sp>
    </p:spTree>
    <p:extLst>
      <p:ext uri="{BB962C8B-B14F-4D97-AF65-F5344CB8AC3E}">
        <p14:creationId xmlns:p14="http://schemas.microsoft.com/office/powerpoint/2010/main" val="144826834"/>
      </p:ext>
    </p:extLst>
  </p:cSld>
  <p:clrMapOvr>
    <a:masterClrMapping/>
  </p:clrMapOvr>
</p:sld>
</file>

<file path=ppt/slides/slide5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Onchocerca</a:t>
            </a:r>
            <a:r>
              <a:rPr lang="en-US" b="1" i="1" dirty="0"/>
              <a:t> volvulus</a:t>
            </a:r>
            <a:r>
              <a:rPr lang="en-US" b="1" dirty="0"/>
              <a:t> cont’d</a:t>
            </a: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The mf are ingested by a blackfly and the worms pass through the stomach wall and migrate to the thoracic muscles where they develop into infective larvae. </a:t>
            </a:r>
          </a:p>
          <a:p>
            <a:pPr>
              <a:buFont typeface="Wingdings" pitchFamily="2" charset="2"/>
              <a:buChar char="v"/>
            </a:pPr>
            <a:r>
              <a:rPr lang="en-US" dirty="0"/>
              <a:t>Development in the fly vector takes about 10 days.</a:t>
            </a:r>
          </a:p>
          <a:p>
            <a:pPr>
              <a:buFont typeface="Wingdings" pitchFamily="2" charset="2"/>
              <a:buChar char="v"/>
            </a:pPr>
            <a:r>
              <a:rPr lang="en-US" dirty="0"/>
              <a:t>Mature infective larvae migrate to the mouth-parts of the fly ready to be transmitted when the fly next bites.</a:t>
            </a:r>
          </a:p>
          <a:p>
            <a:endParaRPr lang="en-US" dirty="0"/>
          </a:p>
        </p:txBody>
      </p:sp>
    </p:spTree>
    <p:extLst>
      <p:ext uri="{BB962C8B-B14F-4D97-AF65-F5344CB8AC3E}">
        <p14:creationId xmlns:p14="http://schemas.microsoft.com/office/powerpoint/2010/main" val="3795005105"/>
      </p:ext>
    </p:extLst>
  </p:cSld>
  <p:clrMapOvr>
    <a:masterClrMapping/>
  </p:clrMapOvr>
</p:sld>
</file>

<file path=ppt/slides/slide5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Onchocerca</a:t>
            </a:r>
            <a:r>
              <a:rPr lang="en-US" b="1" i="1" dirty="0"/>
              <a:t> volvulus</a:t>
            </a:r>
            <a:r>
              <a:rPr lang="en-US" b="1" dirty="0"/>
              <a:t> cont’d</a:t>
            </a: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Symptoms and Pathology</a:t>
            </a:r>
            <a:endParaRPr lang="en-US" dirty="0"/>
          </a:p>
          <a:p>
            <a:pPr>
              <a:buFont typeface="Wingdings" pitchFamily="2" charset="2"/>
              <a:buChar char="v"/>
            </a:pPr>
            <a:r>
              <a:rPr lang="en-US" dirty="0"/>
              <a:t>The major symptoms caused are due to inflammatory reactions around damaged and dead mf. </a:t>
            </a:r>
          </a:p>
          <a:p>
            <a:pPr>
              <a:buFont typeface="Wingdings" pitchFamily="2" charset="2"/>
              <a:buChar char="v"/>
            </a:pPr>
            <a:r>
              <a:rPr lang="en-US" dirty="0"/>
              <a:t>Symptoms and pathology vary from area to area and within a particular population, </a:t>
            </a:r>
          </a:p>
          <a:p>
            <a:pPr>
              <a:buFont typeface="Wingdings" pitchFamily="2" charset="2"/>
              <a:buChar char="v"/>
            </a:pPr>
            <a:r>
              <a:rPr lang="en-US" dirty="0"/>
              <a:t>variations being due to parasite strain, degree and frequency of infection and host differences (including, nutritional state, immune responses to parasite antigens, etc. the form of the disease found in the Savannah areas of West </a:t>
            </a:r>
          </a:p>
        </p:txBody>
      </p:sp>
    </p:spTree>
    <p:extLst>
      <p:ext uri="{BB962C8B-B14F-4D97-AF65-F5344CB8AC3E}">
        <p14:creationId xmlns:p14="http://schemas.microsoft.com/office/powerpoint/2010/main" val="1068260953"/>
      </p:ext>
    </p:extLst>
  </p:cSld>
  <p:clrMapOvr>
    <a:masterClrMapping/>
  </p:clrMapOvr>
</p:sld>
</file>

<file path=ppt/slides/slide5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Onchocerca</a:t>
            </a:r>
            <a:r>
              <a:rPr lang="en-US" b="1" i="1" dirty="0"/>
              <a:t> volvulus</a:t>
            </a:r>
            <a:r>
              <a:rPr lang="en-US" b="1" dirty="0"/>
              <a:t> cont’d</a:t>
            </a:r>
            <a:endParaRPr lang="en-US" dirty="0"/>
          </a:p>
        </p:txBody>
      </p:sp>
      <p:sp>
        <p:nvSpPr>
          <p:cNvPr id="3" name="Content Placeholder 2"/>
          <p:cNvSpPr>
            <a:spLocks noGrp="1"/>
          </p:cNvSpPr>
          <p:nvPr>
            <p:ph idx="1"/>
          </p:nvPr>
        </p:nvSpPr>
        <p:spPr/>
        <p:txBody>
          <a:bodyPr>
            <a:normAutofit fontScale="92500" lnSpcReduction="20000"/>
          </a:bodyPr>
          <a:lstStyle/>
          <a:p>
            <a:pPr>
              <a:buFont typeface="Wingdings" pitchFamily="2" charset="2"/>
              <a:buChar char="v"/>
            </a:pPr>
            <a:r>
              <a:rPr lang="en-US" dirty="0"/>
              <a:t>Africa is more severe than that in the forest area.</a:t>
            </a:r>
          </a:p>
          <a:p>
            <a:pPr>
              <a:buFont typeface="Wingdings" pitchFamily="2" charset="2"/>
              <a:buChar char="v"/>
            </a:pPr>
            <a:r>
              <a:rPr lang="en-US" dirty="0"/>
              <a:t>An inflammatory reaction causes the eventual encapsulation of adult worms in subcutaneous tissue, the resulting nodules are called ‘</a:t>
            </a:r>
            <a:r>
              <a:rPr lang="en-US" dirty="0" err="1"/>
              <a:t>Onchocercomas</a:t>
            </a:r>
            <a:r>
              <a:rPr lang="en-US" dirty="0"/>
              <a:t>’.</a:t>
            </a:r>
          </a:p>
          <a:p>
            <a:pPr>
              <a:buFont typeface="Wingdings" pitchFamily="2" charset="2"/>
              <a:buChar char="v"/>
            </a:pPr>
            <a:r>
              <a:rPr lang="en-US" dirty="0"/>
              <a:t>There is an inflammatory dermatitis which may be accompanied by intense irritation, raised papules on the skin and subsequently alteration in skin pigmentation, giving rise to ‘</a:t>
            </a:r>
            <a:r>
              <a:rPr lang="en-US" dirty="0" err="1"/>
              <a:t>Sowda</a:t>
            </a:r>
            <a:r>
              <a:rPr lang="en-US" dirty="0"/>
              <a:t>’ (i.e. Black disease), which is a severe allergic response.</a:t>
            </a:r>
          </a:p>
          <a:p>
            <a:endParaRPr lang="en-US" dirty="0"/>
          </a:p>
          <a:p>
            <a:endParaRPr lang="en-US" dirty="0"/>
          </a:p>
        </p:txBody>
      </p:sp>
    </p:spTree>
    <p:extLst>
      <p:ext uri="{BB962C8B-B14F-4D97-AF65-F5344CB8AC3E}">
        <p14:creationId xmlns:p14="http://schemas.microsoft.com/office/powerpoint/2010/main" val="3903628174"/>
      </p:ext>
    </p:extLst>
  </p:cSld>
  <p:clrMapOvr>
    <a:masterClrMapping/>
  </p:clrMapOvr>
</p:sld>
</file>

<file path=ppt/slides/slide5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Onchocerca</a:t>
            </a:r>
            <a:r>
              <a:rPr lang="en-US" b="1" i="1" dirty="0"/>
              <a:t> volvulus</a:t>
            </a:r>
            <a:r>
              <a:rPr lang="en-US" b="1" dirty="0"/>
              <a:t> cont’d</a:t>
            </a:r>
            <a:endParaRPr lang="en-US" dirty="0"/>
          </a:p>
        </p:txBody>
      </p:sp>
      <p:sp>
        <p:nvSpPr>
          <p:cNvPr id="3" name="Content Placeholder 2"/>
          <p:cNvSpPr>
            <a:spLocks noGrp="1"/>
          </p:cNvSpPr>
          <p:nvPr>
            <p:ph idx="1"/>
          </p:nvPr>
        </p:nvSpPr>
        <p:spPr>
          <a:xfrm>
            <a:off x="457200" y="1600200"/>
            <a:ext cx="8229600" cy="4953000"/>
          </a:xfrm>
        </p:spPr>
        <p:txBody>
          <a:bodyPr>
            <a:normAutofit/>
          </a:bodyPr>
          <a:lstStyle/>
          <a:p>
            <a:pPr>
              <a:buFont typeface="Wingdings" pitchFamily="2" charset="2"/>
              <a:buChar char="v"/>
            </a:pPr>
            <a:r>
              <a:rPr lang="en-US" dirty="0"/>
              <a:t>The lymph nodes draining the limb become swollen and painful.</a:t>
            </a:r>
          </a:p>
          <a:p>
            <a:pPr>
              <a:buFont typeface="Wingdings" pitchFamily="2" charset="2"/>
              <a:buChar char="v"/>
            </a:pPr>
            <a:r>
              <a:rPr lang="en-US" dirty="0"/>
              <a:t>In chronic cases the skin loses its elasticity and becomes wrinkled (‘elephant skin’)</a:t>
            </a:r>
          </a:p>
          <a:p>
            <a:pPr>
              <a:buFont typeface="Wingdings" pitchFamily="2" charset="2"/>
              <a:buChar char="v"/>
            </a:pPr>
            <a:r>
              <a:rPr lang="en-US" dirty="0"/>
              <a:t>When the skin around the groin is affected, ‘hanging groin’ is said to have developed. </a:t>
            </a:r>
          </a:p>
          <a:p>
            <a:pPr>
              <a:buFont typeface="Wingdings" pitchFamily="2" charset="2"/>
              <a:buChar char="v"/>
            </a:pPr>
            <a:r>
              <a:rPr lang="en-US" dirty="0"/>
              <a:t>The skin may develop spotted depigmentation.</a:t>
            </a:r>
          </a:p>
        </p:txBody>
      </p:sp>
    </p:spTree>
    <p:extLst>
      <p:ext uri="{BB962C8B-B14F-4D97-AF65-F5344CB8AC3E}">
        <p14:creationId xmlns:p14="http://schemas.microsoft.com/office/powerpoint/2010/main" val="1656589039"/>
      </p:ext>
    </p:extLst>
  </p:cSld>
  <p:clrMapOvr>
    <a:masterClrMapping/>
  </p:clrMapOvr>
</p:sld>
</file>

<file path=ppt/slides/slide5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Onchocerca</a:t>
            </a:r>
            <a:r>
              <a:rPr lang="en-US" b="1" i="1" dirty="0"/>
              <a:t> volvulus</a:t>
            </a:r>
            <a:r>
              <a:rPr lang="en-US" b="1" dirty="0"/>
              <a:t> cont’d</a:t>
            </a: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 most serious complication is when mf in the skin of the face migrate into the eye, to cause ‘Ocular </a:t>
            </a:r>
            <a:r>
              <a:rPr lang="en-US" dirty="0" err="1"/>
              <a:t>onchocercasis</a:t>
            </a:r>
            <a:r>
              <a:rPr lang="en-US" dirty="0"/>
              <a:t>’.</a:t>
            </a:r>
          </a:p>
          <a:p>
            <a:pPr>
              <a:buFont typeface="Wingdings" pitchFamily="2" charset="2"/>
              <a:buChar char="v"/>
            </a:pPr>
            <a:r>
              <a:rPr lang="en-US" dirty="0"/>
              <a:t>Inflammatory reactions round dead and damaged mf may cause </a:t>
            </a:r>
            <a:r>
              <a:rPr lang="en-US" dirty="0" err="1"/>
              <a:t>sclerosing</a:t>
            </a:r>
            <a:r>
              <a:rPr lang="en-US" dirty="0"/>
              <a:t> keratitis which may lead to blindness.</a:t>
            </a:r>
          </a:p>
          <a:p>
            <a:endParaRPr lang="en-US" dirty="0"/>
          </a:p>
        </p:txBody>
      </p:sp>
    </p:spTree>
    <p:extLst>
      <p:ext uri="{BB962C8B-B14F-4D97-AF65-F5344CB8AC3E}">
        <p14:creationId xmlns:p14="http://schemas.microsoft.com/office/powerpoint/2010/main" val="2827188795"/>
      </p:ext>
    </p:extLst>
  </p:cSld>
  <p:clrMapOvr>
    <a:masterClrMapping/>
  </p:clrMapOvr>
</p:sld>
</file>

<file path=ppt/slides/slide5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Onchocerca</a:t>
            </a:r>
            <a:r>
              <a:rPr lang="en-US" b="1" i="1" dirty="0"/>
              <a:t> volvulus</a:t>
            </a:r>
            <a:r>
              <a:rPr lang="en-US" b="1" dirty="0"/>
              <a:t> cont’d</a:t>
            </a:r>
            <a:endParaRPr lang="en-US" dirty="0"/>
          </a:p>
        </p:txBody>
      </p:sp>
      <p:sp>
        <p:nvSpPr>
          <p:cNvPr id="3" name="Content Placeholder 2"/>
          <p:cNvSpPr>
            <a:spLocks noGrp="1"/>
          </p:cNvSpPr>
          <p:nvPr>
            <p:ph idx="1"/>
          </p:nvPr>
        </p:nvSpPr>
        <p:spPr/>
        <p:txBody>
          <a:bodyPr/>
          <a:lstStyle/>
          <a:p>
            <a:pPr marL="0" indent="0" algn="ctr">
              <a:buNone/>
            </a:pPr>
            <a:r>
              <a:rPr lang="en-US" b="1" dirty="0"/>
              <a:t>Prevention and Control</a:t>
            </a:r>
            <a:endParaRPr lang="en-US" dirty="0"/>
          </a:p>
          <a:p>
            <a:pPr lvl="0">
              <a:buFont typeface="Wingdings" pitchFamily="2" charset="2"/>
              <a:buChar char="v"/>
            </a:pPr>
            <a:r>
              <a:rPr lang="en-US" dirty="0"/>
              <a:t>Destruction of </a:t>
            </a:r>
            <a:r>
              <a:rPr lang="en-US" dirty="0" err="1"/>
              <a:t>Simulium</a:t>
            </a:r>
            <a:r>
              <a:rPr lang="en-US" dirty="0"/>
              <a:t> larvae by application of insecticides to breeding areas, sometimes by use of aircraft.</a:t>
            </a:r>
          </a:p>
          <a:p>
            <a:pPr lvl="0">
              <a:buFont typeface="Wingdings" pitchFamily="2" charset="2"/>
              <a:buChar char="v"/>
            </a:pPr>
            <a:r>
              <a:rPr lang="en-US" dirty="0"/>
              <a:t>Avoiding </a:t>
            </a:r>
            <a:r>
              <a:rPr lang="en-US" dirty="0" err="1"/>
              <a:t>Simulium</a:t>
            </a:r>
            <a:r>
              <a:rPr lang="en-US" dirty="0"/>
              <a:t> bites by covering body parts.</a:t>
            </a:r>
          </a:p>
          <a:p>
            <a:pPr lvl="0">
              <a:buFont typeface="Wingdings" pitchFamily="2" charset="2"/>
              <a:buChar char="v"/>
            </a:pPr>
            <a:r>
              <a:rPr lang="en-US" dirty="0"/>
              <a:t>Treatment of infected persons (Note: Drugs used may cause severe reactions).</a:t>
            </a:r>
          </a:p>
          <a:p>
            <a:endParaRPr lang="en-US" dirty="0"/>
          </a:p>
        </p:txBody>
      </p:sp>
    </p:spTree>
    <p:extLst>
      <p:ext uri="{BB962C8B-B14F-4D97-AF65-F5344CB8AC3E}">
        <p14:creationId xmlns:p14="http://schemas.microsoft.com/office/powerpoint/2010/main" val="1816332977"/>
      </p:ext>
    </p:extLst>
  </p:cSld>
  <p:clrMapOvr>
    <a:masterClrMapping/>
  </p:clrMapOvr>
</p:sld>
</file>

<file path=ppt/slides/slide6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Onchocerca</a:t>
            </a:r>
            <a:r>
              <a:rPr lang="en-US" b="1" i="1" dirty="0"/>
              <a:t> volvulus</a:t>
            </a:r>
            <a:r>
              <a:rPr lang="en-US" b="1" dirty="0"/>
              <a:t> cont’d</a:t>
            </a:r>
            <a:endParaRPr lang="en-US" dirty="0"/>
          </a:p>
        </p:txBody>
      </p:sp>
      <p:sp>
        <p:nvSpPr>
          <p:cNvPr id="3" name="Content Placeholder 2"/>
          <p:cNvSpPr>
            <a:spLocks noGrp="1"/>
          </p:cNvSpPr>
          <p:nvPr>
            <p:ph idx="1"/>
          </p:nvPr>
        </p:nvSpPr>
        <p:spPr/>
        <p:txBody>
          <a:bodyPr/>
          <a:lstStyle/>
          <a:p>
            <a:pPr marL="0" indent="0" algn="ctr">
              <a:buNone/>
            </a:pPr>
            <a:r>
              <a:rPr lang="en-US" b="1" dirty="0"/>
              <a:t>Diagnosis</a:t>
            </a:r>
            <a:endParaRPr lang="en-US" dirty="0"/>
          </a:p>
          <a:p>
            <a:pPr lvl="0">
              <a:buFont typeface="Wingdings" pitchFamily="2" charset="2"/>
              <a:buChar char="v"/>
            </a:pPr>
            <a:r>
              <a:rPr lang="en-US" dirty="0"/>
              <a:t>Examination of skin snips.</a:t>
            </a:r>
          </a:p>
          <a:p>
            <a:pPr lvl="0">
              <a:buFont typeface="Wingdings" pitchFamily="2" charset="2"/>
              <a:buChar char="v"/>
            </a:pPr>
            <a:r>
              <a:rPr lang="en-US" dirty="0"/>
              <a:t>In heavy infections following treatment, </a:t>
            </a:r>
            <a:r>
              <a:rPr lang="en-US" i="1" dirty="0"/>
              <a:t>O. volvulus</a:t>
            </a:r>
            <a:r>
              <a:rPr lang="en-US" dirty="0"/>
              <a:t>, mf may be found in urine, blood and most body fluids.</a:t>
            </a:r>
          </a:p>
          <a:p>
            <a:endParaRPr lang="en-US" dirty="0"/>
          </a:p>
        </p:txBody>
      </p:sp>
    </p:spTree>
    <p:extLst>
      <p:ext uri="{BB962C8B-B14F-4D97-AF65-F5344CB8AC3E}">
        <p14:creationId xmlns:p14="http://schemas.microsoft.com/office/powerpoint/2010/main" val="3870847744"/>
      </p:ext>
    </p:extLst>
  </p:cSld>
  <p:clrMapOvr>
    <a:masterClrMapping/>
  </p:clrMapOvr>
</p:sld>
</file>

<file path=ppt/slides/slide6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Dracunculus</a:t>
            </a:r>
            <a:r>
              <a:rPr lang="en-US" b="1" i="1" dirty="0"/>
              <a:t> </a:t>
            </a:r>
            <a:r>
              <a:rPr lang="en-US" b="1" i="1" dirty="0" err="1"/>
              <a:t>medinensis</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a:buFont typeface="Wingdings" pitchFamily="2" charset="2"/>
              <a:buChar char="v"/>
            </a:pPr>
            <a:r>
              <a:rPr lang="en-US" dirty="0"/>
              <a:t>Also known as Guinea Worm Infection is known as </a:t>
            </a:r>
            <a:r>
              <a:rPr lang="en-US" dirty="0" err="1"/>
              <a:t>Drancontiasis</a:t>
            </a:r>
            <a:r>
              <a:rPr lang="en-US" dirty="0"/>
              <a:t> or </a:t>
            </a:r>
            <a:r>
              <a:rPr lang="en-US" dirty="0" err="1"/>
              <a:t>Dracunculosis</a:t>
            </a:r>
            <a:r>
              <a:rPr lang="en-US" dirty="0"/>
              <a:t> or Guinea worm ulcers.</a:t>
            </a:r>
          </a:p>
          <a:p>
            <a:pPr marL="0" indent="0" algn="ctr">
              <a:buNone/>
            </a:pPr>
            <a:r>
              <a:rPr lang="en-US" b="1" dirty="0"/>
              <a:t>Distribution</a:t>
            </a:r>
            <a:endParaRPr lang="en-US" dirty="0"/>
          </a:p>
          <a:p>
            <a:pPr>
              <a:buFont typeface="Wingdings" pitchFamily="2" charset="2"/>
              <a:buChar char="v"/>
            </a:pPr>
            <a:r>
              <a:rPr lang="en-US" dirty="0"/>
              <a:t>Areas of water scarcity where shallow wells and ponds serve as source of water. </a:t>
            </a:r>
          </a:p>
          <a:p>
            <a:pPr>
              <a:buFont typeface="Wingdings" pitchFamily="2" charset="2"/>
              <a:buChar char="v"/>
            </a:pPr>
            <a:r>
              <a:rPr lang="en-US" dirty="0"/>
              <a:t>It is endemic in India, Pakistan, parts of South America, Africa especially West Africa, Sudan Kenya, Uganda, the Middle East (Saudi Arabia, Yemen, Iran) and Burma</a:t>
            </a:r>
          </a:p>
          <a:p>
            <a:endParaRPr lang="en-US" dirty="0"/>
          </a:p>
        </p:txBody>
      </p:sp>
    </p:spTree>
    <p:extLst>
      <p:ext uri="{BB962C8B-B14F-4D97-AF65-F5344CB8AC3E}">
        <p14:creationId xmlns:p14="http://schemas.microsoft.com/office/powerpoint/2010/main" val="1064497159"/>
      </p:ext>
    </p:extLst>
  </p:cSld>
  <p:clrMapOvr>
    <a:masterClrMapping/>
  </p:clrMapOvr>
</p:sld>
</file>

<file path=ppt/slides/slide6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Dracunculus</a:t>
            </a:r>
            <a:r>
              <a:rPr lang="en-US" b="1" i="1" dirty="0"/>
              <a:t> </a:t>
            </a:r>
            <a:r>
              <a:rPr lang="en-US" b="1" i="1" dirty="0" err="1"/>
              <a:t>medinensis</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Transmission</a:t>
            </a:r>
            <a:endParaRPr lang="en-US" dirty="0"/>
          </a:p>
          <a:p>
            <a:pPr>
              <a:buFont typeface="Wingdings" pitchFamily="2" charset="2"/>
              <a:buChar char="v"/>
            </a:pPr>
            <a:r>
              <a:rPr lang="en-US" dirty="0"/>
              <a:t>By intake of water containing infected crustaceans belonging to the genus </a:t>
            </a:r>
            <a:r>
              <a:rPr lang="en-US" i="1" dirty="0"/>
              <a:t>Cyclops</a:t>
            </a:r>
            <a:r>
              <a:rPr lang="en-US" dirty="0"/>
              <a:t> and other related genera of water fleas.</a:t>
            </a:r>
          </a:p>
          <a:p>
            <a:pPr>
              <a:buFont typeface="Wingdings" pitchFamily="2" charset="2"/>
              <a:buChar char="v"/>
            </a:pPr>
            <a:r>
              <a:rPr lang="en-US" dirty="0"/>
              <a:t>Dogs and possibly other animals may act as reservoir hosts.</a:t>
            </a:r>
          </a:p>
          <a:p>
            <a:endParaRPr lang="en-US" dirty="0"/>
          </a:p>
        </p:txBody>
      </p:sp>
    </p:spTree>
    <p:extLst>
      <p:ext uri="{BB962C8B-B14F-4D97-AF65-F5344CB8AC3E}">
        <p14:creationId xmlns:p14="http://schemas.microsoft.com/office/powerpoint/2010/main" val="564773638"/>
      </p:ext>
    </p:extLst>
  </p:cSld>
  <p:clrMapOvr>
    <a:masterClrMapping/>
  </p:clrMapOvr>
</p:sld>
</file>

<file path=ppt/slides/slide6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Dracunculus</a:t>
            </a:r>
            <a:r>
              <a:rPr lang="en-US" b="1" i="1" dirty="0"/>
              <a:t> </a:t>
            </a:r>
            <a:r>
              <a:rPr lang="en-US" b="1" i="1" dirty="0" err="1"/>
              <a:t>medinensis</a:t>
            </a:r>
            <a:r>
              <a:rPr lang="en-US" b="1" i="1" dirty="0"/>
              <a:t> cont’d</a:t>
            </a:r>
            <a:br>
              <a:rPr lang="en-US" dirty="0"/>
            </a:br>
            <a:endParaRPr lang="en-US" dirty="0"/>
          </a:p>
        </p:txBody>
      </p:sp>
      <p:sp>
        <p:nvSpPr>
          <p:cNvPr id="3" name="Content Placeholder 2"/>
          <p:cNvSpPr>
            <a:spLocks noGrp="1"/>
          </p:cNvSpPr>
          <p:nvPr>
            <p:ph idx="1"/>
          </p:nvPr>
        </p:nvSpPr>
        <p:spPr>
          <a:xfrm>
            <a:off x="457200" y="1600200"/>
            <a:ext cx="8229600" cy="4953000"/>
          </a:xfrm>
        </p:spPr>
        <p:txBody>
          <a:bodyPr>
            <a:normAutofit fontScale="92500"/>
          </a:bodyPr>
          <a:lstStyle/>
          <a:p>
            <a:pPr marL="0" indent="0" algn="ctr">
              <a:buNone/>
            </a:pPr>
            <a:r>
              <a:rPr lang="en-US" b="1" dirty="0"/>
              <a:t>Life Cycle</a:t>
            </a:r>
            <a:endParaRPr lang="en-US" dirty="0"/>
          </a:p>
          <a:p>
            <a:pPr>
              <a:buFont typeface="Wingdings" pitchFamily="2" charset="2"/>
              <a:buChar char="v"/>
            </a:pPr>
            <a:r>
              <a:rPr lang="en-US" dirty="0"/>
              <a:t>On intake in water, the larvae are freed when the Cyclops is digested, and penetrate the duodenal wall, develops and fertilization occurs in the connective tissues.</a:t>
            </a:r>
          </a:p>
          <a:p>
            <a:pPr>
              <a:buFont typeface="Wingdings" pitchFamily="2" charset="2"/>
              <a:buChar char="v"/>
            </a:pPr>
            <a:r>
              <a:rPr lang="en-US" dirty="0"/>
              <a:t>The female worm migrates to the subcutaneous tissues (usually of the lower limbs) where within about a year it becomes fully mature. </a:t>
            </a:r>
          </a:p>
          <a:p>
            <a:pPr>
              <a:buFont typeface="Wingdings" pitchFamily="2" charset="2"/>
              <a:buChar char="v"/>
            </a:pPr>
            <a:r>
              <a:rPr lang="en-US" dirty="0"/>
              <a:t>It buries its anterior end in the dermis of the host.</a:t>
            </a:r>
          </a:p>
        </p:txBody>
      </p:sp>
    </p:spTree>
    <p:extLst>
      <p:ext uri="{BB962C8B-B14F-4D97-AF65-F5344CB8AC3E}">
        <p14:creationId xmlns:p14="http://schemas.microsoft.com/office/powerpoint/2010/main" val="1038382881"/>
      </p:ext>
    </p:extLst>
  </p:cSld>
  <p:clrMapOvr>
    <a:masterClrMapping/>
  </p:clrMapOvr>
</p:sld>
</file>

<file path=ppt/slides/slide6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Dracunculus</a:t>
            </a:r>
            <a:r>
              <a:rPr lang="en-US" b="1" i="1" dirty="0"/>
              <a:t> </a:t>
            </a:r>
            <a:r>
              <a:rPr lang="en-US" b="1" i="1" dirty="0" err="1"/>
              <a:t>medinensis</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a:bodyPr>
          <a:lstStyle/>
          <a:p>
            <a:pPr>
              <a:buFont typeface="Wingdings" pitchFamily="2" charset="2"/>
              <a:buChar char="v"/>
            </a:pPr>
            <a:r>
              <a:rPr lang="en-US" dirty="0"/>
              <a:t>The skin becomes </a:t>
            </a:r>
            <a:r>
              <a:rPr lang="en-US" dirty="0" err="1"/>
              <a:t>inflammed</a:t>
            </a:r>
            <a:r>
              <a:rPr lang="en-US" dirty="0"/>
              <a:t> over the anterior of the worm and a blister forms which eventually breaks to form an ulcer.</a:t>
            </a:r>
          </a:p>
          <a:p>
            <a:pPr>
              <a:buFont typeface="Wingdings" pitchFamily="2" charset="2"/>
              <a:buChar char="v"/>
            </a:pPr>
            <a:r>
              <a:rPr lang="en-US" dirty="0"/>
              <a:t> On immersion of the affected area in fresh water the uterus of the female protrudes through the ulcer and ruptures, and large numbers of first stage larvae are released into the water.</a:t>
            </a:r>
          </a:p>
          <a:p>
            <a:pPr>
              <a:buFont typeface="Wingdings" pitchFamily="2" charset="2"/>
              <a:buChar char="v"/>
            </a:pPr>
            <a:r>
              <a:rPr lang="en-US" dirty="0"/>
              <a:t>The larvae are unable to swim but are actively motile, coiling and uncoiling.</a:t>
            </a:r>
          </a:p>
          <a:p>
            <a:pPr marL="0" indent="0">
              <a:buNone/>
            </a:pPr>
            <a:endParaRPr lang="en-US" dirty="0"/>
          </a:p>
        </p:txBody>
      </p:sp>
    </p:spTree>
    <p:extLst>
      <p:ext uri="{BB962C8B-B14F-4D97-AF65-F5344CB8AC3E}">
        <p14:creationId xmlns:p14="http://schemas.microsoft.com/office/powerpoint/2010/main" val="1385200681"/>
      </p:ext>
    </p:extLst>
  </p:cSld>
  <p:clrMapOvr>
    <a:masterClrMapping/>
  </p:clrMapOvr>
</p:sld>
</file>

<file path=ppt/slides/slide6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Dracunculus</a:t>
            </a:r>
            <a:r>
              <a:rPr lang="en-US" b="1" i="1" dirty="0"/>
              <a:t> </a:t>
            </a:r>
            <a:r>
              <a:rPr lang="en-US" b="1" i="1" dirty="0" err="1"/>
              <a:t>medinensis</a:t>
            </a:r>
            <a:r>
              <a:rPr lang="en-US" b="1" i="1" dirty="0"/>
              <a:t> cont’d</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Discharge of the larvae takes 2-3 weeks after which the female dies and is either extruded or absorbed by host tissues.</a:t>
            </a:r>
          </a:p>
          <a:p>
            <a:pPr>
              <a:buFont typeface="Wingdings" pitchFamily="2" charset="2"/>
              <a:buChar char="v"/>
            </a:pPr>
            <a:r>
              <a:rPr lang="en-US" dirty="0"/>
              <a:t>Larvae released in water, on rupture of the ulcer, are ingested within a week by a Cyclops or related freshwater crustacean in the body of which the larvae develop into infective larvae within about 2 weeks.</a:t>
            </a:r>
          </a:p>
          <a:p>
            <a:pPr marL="0" indent="0">
              <a:buNone/>
            </a:pPr>
            <a:endParaRPr lang="en-US" dirty="0"/>
          </a:p>
        </p:txBody>
      </p:sp>
    </p:spTree>
    <p:extLst>
      <p:ext uri="{BB962C8B-B14F-4D97-AF65-F5344CB8AC3E}">
        <p14:creationId xmlns:p14="http://schemas.microsoft.com/office/powerpoint/2010/main" val="2465896301"/>
      </p:ext>
    </p:extLst>
  </p:cSld>
  <p:clrMapOvr>
    <a:masterClrMapping/>
  </p:clrMapOvr>
</p:sld>
</file>

<file path=ppt/slides/slide6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Dracunculus</a:t>
            </a:r>
            <a:r>
              <a:rPr lang="en-US" b="1" i="1" dirty="0"/>
              <a:t> </a:t>
            </a:r>
            <a:r>
              <a:rPr lang="en-US" b="1" i="1" dirty="0" err="1"/>
              <a:t>medinensis</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Symptoms and Pathology</a:t>
            </a:r>
            <a:endParaRPr lang="en-US" dirty="0"/>
          </a:p>
          <a:p>
            <a:pPr>
              <a:buFont typeface="Wingdings" pitchFamily="2" charset="2"/>
              <a:buChar char="v"/>
            </a:pPr>
            <a:r>
              <a:rPr lang="en-US" dirty="0"/>
              <a:t>The infection causes serious clinical symptoms especially in heavy infections which include severe pain, allergic reactions including </a:t>
            </a:r>
            <a:r>
              <a:rPr lang="en-US" dirty="0" err="1"/>
              <a:t>urticaria</a:t>
            </a:r>
            <a:r>
              <a:rPr lang="en-US" dirty="0"/>
              <a:t>, fever, nausea and vomiting.</a:t>
            </a:r>
          </a:p>
          <a:p>
            <a:pPr>
              <a:buFont typeface="Wingdings" pitchFamily="2" charset="2"/>
              <a:buChar char="v"/>
            </a:pPr>
            <a:r>
              <a:rPr lang="en-US" dirty="0"/>
              <a:t>Worm damage in the skin, may cause severe inflammation and secondary infection may occur leading to cellulitis (inflammation of cells and tissues) and possibly </a:t>
            </a:r>
            <a:r>
              <a:rPr lang="en-US" dirty="0" err="1"/>
              <a:t>septicaemia</a:t>
            </a:r>
            <a:r>
              <a:rPr lang="en-US" dirty="0"/>
              <a:t>. </a:t>
            </a:r>
          </a:p>
          <a:p>
            <a:pPr>
              <a:buFont typeface="Wingdings" pitchFamily="2" charset="2"/>
              <a:buChar char="v"/>
            </a:pPr>
            <a:r>
              <a:rPr lang="en-US" dirty="0"/>
              <a:t>Tetanus may occur as a complication and if a joint is affected, arthritis may develop</a:t>
            </a:r>
          </a:p>
          <a:p>
            <a:endParaRPr lang="en-US" dirty="0"/>
          </a:p>
        </p:txBody>
      </p:sp>
    </p:spTree>
    <p:extLst>
      <p:ext uri="{BB962C8B-B14F-4D97-AF65-F5344CB8AC3E}">
        <p14:creationId xmlns:p14="http://schemas.microsoft.com/office/powerpoint/2010/main" val="1776554383"/>
      </p:ext>
    </p:extLst>
  </p:cSld>
  <p:clrMapOvr>
    <a:masterClrMapping/>
  </p:clrMapOvr>
</p:sld>
</file>

<file path=ppt/slides/slide6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Dracunculus</a:t>
            </a:r>
            <a:r>
              <a:rPr lang="en-US" b="1" i="1" dirty="0"/>
              <a:t> </a:t>
            </a:r>
            <a:r>
              <a:rPr lang="en-US" b="1" i="1" dirty="0" err="1"/>
              <a:t>medinensis</a:t>
            </a:r>
            <a:r>
              <a:rPr lang="en-US" b="1" i="1" dirty="0"/>
              <a:t> cont’d</a:t>
            </a:r>
            <a:br>
              <a:rPr lang="en-US" dirty="0"/>
            </a:b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10000"/>
          </a:bodyPr>
          <a:lstStyle/>
          <a:p>
            <a:pPr marL="0" indent="0" algn="ctr">
              <a:buNone/>
            </a:pPr>
            <a:r>
              <a:rPr lang="en-US" b="1" dirty="0"/>
              <a:t>Prevention and Control </a:t>
            </a:r>
            <a:endParaRPr lang="en-US" dirty="0"/>
          </a:p>
          <a:p>
            <a:pPr>
              <a:buFont typeface="Wingdings" pitchFamily="2" charset="2"/>
              <a:buChar char="v"/>
            </a:pPr>
            <a:r>
              <a:rPr lang="en-US" dirty="0"/>
              <a:t>This is one of the easiest parasitic diseases to prevention because the period of infectivity is usually only a few weeks, and no important animal reservoir.</a:t>
            </a:r>
          </a:p>
          <a:p>
            <a:pPr>
              <a:buFont typeface="Wingdings" pitchFamily="2" charset="2"/>
              <a:buChar char="v"/>
            </a:pPr>
            <a:r>
              <a:rPr lang="en-US" dirty="0"/>
              <a:t>Areas of transmission tend to be small and easily defined.</a:t>
            </a:r>
          </a:p>
          <a:p>
            <a:pPr>
              <a:buFont typeface="Wingdings" pitchFamily="2" charset="2"/>
              <a:buChar char="v"/>
            </a:pPr>
            <a:r>
              <a:rPr lang="en-US" dirty="0"/>
              <a:t> Once transmission is interrupted in an area for a single rainy season, infection ceases entirely unless it is re-introduced from outside.</a:t>
            </a:r>
          </a:p>
          <a:p>
            <a:endParaRPr lang="en-US" dirty="0"/>
          </a:p>
        </p:txBody>
      </p:sp>
    </p:spTree>
    <p:extLst>
      <p:ext uri="{BB962C8B-B14F-4D97-AF65-F5344CB8AC3E}">
        <p14:creationId xmlns:p14="http://schemas.microsoft.com/office/powerpoint/2010/main" val="600064325"/>
      </p:ext>
    </p:extLst>
  </p:cSld>
  <p:clrMapOvr>
    <a:masterClrMapping/>
  </p:clrMapOvr>
</p:sld>
</file>

<file path=ppt/slides/slide6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Dracunculus</a:t>
            </a:r>
            <a:r>
              <a:rPr lang="en-US" b="1" i="1" dirty="0"/>
              <a:t> </a:t>
            </a:r>
            <a:r>
              <a:rPr lang="en-US" b="1" i="1" dirty="0" err="1"/>
              <a:t>medinensis</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dirty="0"/>
              <a:t>Prevention and Control </a:t>
            </a:r>
            <a:endParaRPr lang="en-US" dirty="0"/>
          </a:p>
          <a:p>
            <a:pPr>
              <a:buFont typeface="Wingdings" pitchFamily="2" charset="2"/>
              <a:buChar char="v"/>
            </a:pPr>
            <a:r>
              <a:rPr lang="en-US" dirty="0"/>
              <a:t>This is one of the easiest parasitic diseases to prevention because the period of infectivity is usually only a few weeks, and no important animal reservoir.</a:t>
            </a:r>
          </a:p>
          <a:p>
            <a:pPr>
              <a:buFont typeface="Wingdings" pitchFamily="2" charset="2"/>
              <a:buChar char="v"/>
            </a:pPr>
            <a:r>
              <a:rPr lang="en-US" dirty="0"/>
              <a:t>Areas of transmission tend to be small and easily defined. Once transmission is interrupted in an area for a single rainy season, infection ceases entirely unless it is re-introduced from outside.</a:t>
            </a:r>
          </a:p>
          <a:p>
            <a:endParaRPr lang="en-US" dirty="0"/>
          </a:p>
        </p:txBody>
      </p:sp>
    </p:spTree>
    <p:extLst>
      <p:ext uri="{BB962C8B-B14F-4D97-AF65-F5344CB8AC3E}">
        <p14:creationId xmlns:p14="http://schemas.microsoft.com/office/powerpoint/2010/main" val="3002452670"/>
      </p:ext>
    </p:extLst>
  </p:cSld>
  <p:clrMapOvr>
    <a:masterClrMapping/>
  </p:clrMapOvr>
</p:sld>
</file>

<file path=ppt/slides/slide6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Dracunculus</a:t>
            </a:r>
            <a:r>
              <a:rPr lang="en-US" b="1" i="1" dirty="0"/>
              <a:t> </a:t>
            </a:r>
            <a:r>
              <a:rPr lang="en-US" b="1" i="1" dirty="0" err="1"/>
              <a:t>medinensis</a:t>
            </a:r>
            <a:r>
              <a:rPr lang="en-US" b="1" i="1" dirty="0"/>
              <a:t> cont’d</a:t>
            </a:r>
            <a:br>
              <a:rPr lang="en-US" dirty="0"/>
            </a:br>
            <a:endParaRPr lang="en-US" dirty="0"/>
          </a:p>
        </p:txBody>
      </p:sp>
      <p:sp>
        <p:nvSpPr>
          <p:cNvPr id="3" name="Content Placeholder 2"/>
          <p:cNvSpPr>
            <a:spLocks noGrp="1"/>
          </p:cNvSpPr>
          <p:nvPr>
            <p:ph idx="1"/>
          </p:nvPr>
        </p:nvSpPr>
        <p:spPr/>
        <p:txBody>
          <a:bodyPr>
            <a:normAutofit/>
          </a:bodyPr>
          <a:lstStyle/>
          <a:p>
            <a:pPr>
              <a:buFont typeface="Wingdings" pitchFamily="2" charset="2"/>
              <a:buChar char="v"/>
            </a:pPr>
            <a:r>
              <a:rPr lang="en-US" dirty="0"/>
              <a:t>Preventive and Control measures include:</a:t>
            </a:r>
          </a:p>
          <a:p>
            <a:pPr marL="514350" lvl="0" indent="-514350">
              <a:buFont typeface="+mj-lt"/>
              <a:buAutoNum type="arabicPeriod"/>
            </a:pPr>
            <a:r>
              <a:rPr lang="en-US" dirty="0"/>
              <a:t>Preventing water sources becoming infected </a:t>
            </a:r>
          </a:p>
          <a:p>
            <a:pPr marL="514350" lvl="0" indent="-514350">
              <a:buFont typeface="+mj-lt"/>
              <a:buAutoNum type="arabicPeriod"/>
            </a:pPr>
            <a:r>
              <a:rPr lang="en-US" dirty="0"/>
              <a:t>Avoiding drinking infected water by </a:t>
            </a:r>
          </a:p>
          <a:p>
            <a:pPr marL="514350" lvl="0" indent="-514350">
              <a:buFont typeface="+mj-lt"/>
              <a:buAutoNum type="alphaLcParenR"/>
            </a:pPr>
            <a:r>
              <a:rPr lang="en-US" dirty="0"/>
              <a:t>Filtering drinking water through nylon or muslin cloth (100 mesh to 1cm) or other suitable filter to hold back the larvae</a:t>
            </a:r>
          </a:p>
          <a:p>
            <a:pPr marL="514350" lvl="0" indent="-514350">
              <a:buFont typeface="+mj-lt"/>
              <a:buAutoNum type="alphaLcParenR"/>
            </a:pPr>
            <a:r>
              <a:rPr lang="en-US" dirty="0"/>
              <a:t>Boiling drinking water and allowing it to cool before drinking</a:t>
            </a:r>
          </a:p>
        </p:txBody>
      </p:sp>
    </p:spTree>
    <p:extLst>
      <p:ext uri="{BB962C8B-B14F-4D97-AF65-F5344CB8AC3E}">
        <p14:creationId xmlns:p14="http://schemas.microsoft.com/office/powerpoint/2010/main" val="3660071147"/>
      </p:ext>
    </p:extLst>
  </p:cSld>
  <p:clrMapOvr>
    <a:masterClrMapping/>
  </p:clrMapOvr>
</p:sld>
</file>

<file path=ppt/slides/slide6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Dracunculus</a:t>
            </a:r>
            <a:r>
              <a:rPr lang="en-US" b="1" i="1" dirty="0"/>
              <a:t> </a:t>
            </a:r>
            <a:r>
              <a:rPr lang="en-US" b="1" i="1" dirty="0" err="1"/>
              <a:t>medinensis</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lvl="0" indent="0">
              <a:buNone/>
            </a:pPr>
            <a:r>
              <a:rPr lang="en-US" dirty="0"/>
              <a:t>3. Destroying the intermediate host, cyclops, by using </a:t>
            </a:r>
            <a:r>
              <a:rPr lang="en-US" dirty="0" err="1"/>
              <a:t>organophosphorus</a:t>
            </a:r>
            <a:r>
              <a:rPr lang="en-US" dirty="0"/>
              <a:t> chemicals or chlorine in pot chlorinators</a:t>
            </a:r>
          </a:p>
          <a:p>
            <a:pPr marL="0" lvl="0" indent="0">
              <a:buNone/>
            </a:pPr>
            <a:r>
              <a:rPr lang="en-US" dirty="0"/>
              <a:t>4. Covering with a water proof dressing all exposed worms in infected persons.</a:t>
            </a:r>
          </a:p>
          <a:p>
            <a:endParaRPr lang="en-US" dirty="0"/>
          </a:p>
          <a:p>
            <a:endParaRPr lang="en-US" dirty="0"/>
          </a:p>
        </p:txBody>
      </p:sp>
    </p:spTree>
    <p:extLst>
      <p:ext uri="{BB962C8B-B14F-4D97-AF65-F5344CB8AC3E}">
        <p14:creationId xmlns:p14="http://schemas.microsoft.com/office/powerpoint/2010/main" val="1085174096"/>
      </p:ext>
    </p:extLst>
  </p:cSld>
  <p:clrMapOvr>
    <a:masterClrMapping/>
  </p:clrMapOvr>
</p:sld>
</file>

<file path=ppt/slides/slide6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Dracunculus</a:t>
            </a:r>
            <a:r>
              <a:rPr lang="en-US" b="1" i="1" dirty="0"/>
              <a:t> </a:t>
            </a:r>
            <a:r>
              <a:rPr lang="en-US" b="1" i="1" dirty="0" err="1"/>
              <a:t>medinensis</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Diagnosis</a:t>
            </a:r>
            <a:endParaRPr lang="en-US" dirty="0"/>
          </a:p>
          <a:p>
            <a:pPr>
              <a:buFont typeface="Wingdings" pitchFamily="2" charset="2"/>
              <a:buChar char="v"/>
            </a:pPr>
            <a:r>
              <a:rPr lang="en-US" dirty="0"/>
              <a:t>On rupture of the blister, the anterior end of the female worm can be seen</a:t>
            </a:r>
          </a:p>
          <a:p>
            <a:pPr>
              <a:buFont typeface="Wingdings" pitchFamily="2" charset="2"/>
              <a:buChar char="v"/>
            </a:pPr>
            <a:r>
              <a:rPr lang="en-US" dirty="0"/>
              <a:t>Laboratory confirmation of diagnosis is by</a:t>
            </a:r>
          </a:p>
          <a:p>
            <a:pPr lvl="0">
              <a:buFont typeface="Wingdings" pitchFamily="2" charset="2"/>
              <a:buChar char="Ø"/>
            </a:pPr>
            <a:r>
              <a:rPr lang="en-US" dirty="0"/>
              <a:t>Placing a few drops of water on the ulcer to encourage discharge of the larvae</a:t>
            </a:r>
          </a:p>
          <a:p>
            <a:pPr lvl="0">
              <a:buFont typeface="Wingdings" pitchFamily="2" charset="2"/>
              <a:buChar char="Ø"/>
            </a:pPr>
            <a:r>
              <a:rPr lang="en-US" dirty="0"/>
              <a:t>The water is collected and transferred onto a slide and examined under 10X objective with the iris diaphragm closed sufficiently to give good contrast</a:t>
            </a:r>
          </a:p>
          <a:p>
            <a:pPr marL="0" indent="0">
              <a:buNone/>
            </a:pPr>
            <a:endParaRPr lang="en-US" dirty="0"/>
          </a:p>
        </p:txBody>
      </p:sp>
    </p:spTree>
    <p:extLst>
      <p:ext uri="{BB962C8B-B14F-4D97-AF65-F5344CB8AC3E}">
        <p14:creationId xmlns:p14="http://schemas.microsoft.com/office/powerpoint/2010/main" val="3243899186"/>
      </p:ext>
    </p:extLst>
  </p:cSld>
  <p:clrMapOvr>
    <a:masterClrMapping/>
  </p:clrMapOvr>
</p:sld>
</file>

<file path=ppt/slides/slide6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The blood/tissue nematode causes lymphatic </a:t>
            </a:r>
            <a:r>
              <a:rPr lang="en-US" dirty="0" err="1"/>
              <a:t>filariasis</a:t>
            </a:r>
            <a:r>
              <a:rPr lang="en-US" dirty="0"/>
              <a:t> (also known as </a:t>
            </a:r>
            <a:r>
              <a:rPr lang="en-US" dirty="0" err="1"/>
              <a:t>bancroftian</a:t>
            </a:r>
            <a:r>
              <a:rPr lang="en-US" dirty="0"/>
              <a:t> </a:t>
            </a:r>
            <a:r>
              <a:rPr lang="en-US" dirty="0" err="1"/>
              <a:t>filariasis</a:t>
            </a:r>
            <a:r>
              <a:rPr lang="en-US" dirty="0"/>
              <a:t>, to distinguish it from the lymphatic </a:t>
            </a:r>
            <a:r>
              <a:rPr lang="en-US" dirty="0" err="1"/>
              <a:t>filariasis</a:t>
            </a:r>
            <a:r>
              <a:rPr lang="en-US" dirty="0"/>
              <a:t> caused by </a:t>
            </a:r>
            <a:r>
              <a:rPr lang="en-US" i="1" dirty="0" err="1"/>
              <a:t>Brugia</a:t>
            </a:r>
            <a:r>
              <a:rPr lang="en-US" dirty="0"/>
              <a:t> species</a:t>
            </a:r>
          </a:p>
          <a:p>
            <a:r>
              <a:rPr lang="en-US" dirty="0"/>
              <a:t>Estimates are that some 18.6 million people are infected with this nematode, the number being inclusive of both micro-</a:t>
            </a:r>
            <a:r>
              <a:rPr lang="en-US" dirty="0" err="1"/>
              <a:t>filaria</a:t>
            </a:r>
            <a:r>
              <a:rPr lang="en-US" dirty="0"/>
              <a:t> positive people and those with filarial disease who are microfilaria negative. </a:t>
            </a:r>
          </a:p>
          <a:p>
            <a:endParaRPr lang="en-US" dirty="0"/>
          </a:p>
        </p:txBody>
      </p:sp>
    </p:spTree>
    <p:extLst>
      <p:ext uri="{BB962C8B-B14F-4D97-AF65-F5344CB8AC3E}">
        <p14:creationId xmlns:p14="http://schemas.microsoft.com/office/powerpoint/2010/main" val="3796480095"/>
      </p:ext>
    </p:extLst>
  </p:cSld>
  <p:clrMapOvr>
    <a:masterClrMapping/>
  </p:clrMapOvr>
</p:sld>
</file>

<file path=ppt/slides/slide6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p:txBody>
          <a:bodyPr/>
          <a:lstStyle/>
          <a:p>
            <a:r>
              <a:rPr lang="en-US" dirty="0"/>
              <a:t>Two variants of the nematode are recognized, </a:t>
            </a:r>
            <a:r>
              <a:rPr lang="en-US" dirty="0" err="1"/>
              <a:t>viz</a:t>
            </a:r>
            <a:r>
              <a:rPr lang="en-US" dirty="0"/>
              <a:t>,</a:t>
            </a:r>
          </a:p>
          <a:p>
            <a:pPr marL="514350" lvl="0" indent="-514350">
              <a:buFont typeface="+mj-lt"/>
              <a:buAutoNum type="arabicPeriod"/>
            </a:pPr>
            <a:r>
              <a:rPr lang="en-US" dirty="0"/>
              <a:t>Periodic (Nocturnal) </a:t>
            </a:r>
            <a:r>
              <a:rPr lang="en-US" i="1" dirty="0"/>
              <a:t>W. </a:t>
            </a:r>
            <a:r>
              <a:rPr lang="en-US" i="1" dirty="0" err="1"/>
              <a:t>bancrofti</a:t>
            </a:r>
            <a:r>
              <a:rPr lang="en-US" dirty="0"/>
              <a:t>, the most widespread, and </a:t>
            </a:r>
          </a:p>
          <a:p>
            <a:pPr marL="514350" lvl="0" indent="-514350">
              <a:buFont typeface="+mj-lt"/>
              <a:buAutoNum type="arabicPeriod"/>
            </a:pPr>
            <a:r>
              <a:rPr lang="en-US" dirty="0" err="1"/>
              <a:t>Subperiodic</a:t>
            </a:r>
            <a:r>
              <a:rPr lang="en-US" dirty="0"/>
              <a:t> (Nocturnal and diurnal) </a:t>
            </a:r>
            <a:r>
              <a:rPr lang="en-US" i="1" dirty="0"/>
              <a:t>W. </a:t>
            </a:r>
            <a:r>
              <a:rPr lang="en-US" i="1" dirty="0" err="1"/>
              <a:t>bancrofti</a:t>
            </a:r>
            <a:endParaRPr lang="en-US" dirty="0"/>
          </a:p>
          <a:p>
            <a:endParaRPr lang="en-US" dirty="0"/>
          </a:p>
        </p:txBody>
      </p:sp>
    </p:spTree>
    <p:extLst>
      <p:ext uri="{BB962C8B-B14F-4D97-AF65-F5344CB8AC3E}">
        <p14:creationId xmlns:p14="http://schemas.microsoft.com/office/powerpoint/2010/main" val="232333845"/>
      </p:ext>
    </p:extLst>
  </p:cSld>
  <p:clrMapOvr>
    <a:masterClrMapping/>
  </p:clrMapOvr>
</p:sld>
</file>

<file path=ppt/slides/slide6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br>
              <a:rPr lang="en-US" b="1" i="1" dirty="0"/>
            </a:br>
            <a:r>
              <a:rPr lang="en-US" b="1" i="1" dirty="0" err="1"/>
              <a:t>Wuchereria</a:t>
            </a:r>
            <a:r>
              <a:rPr lang="en-US" b="1" i="1" dirty="0"/>
              <a:t> </a:t>
            </a:r>
            <a:r>
              <a:rPr lang="en-US" b="1" i="1" dirty="0" err="1"/>
              <a:t>bancrofti</a:t>
            </a:r>
            <a:r>
              <a:rPr lang="en-US" b="1" i="1" dirty="0"/>
              <a:t> cont’d</a:t>
            </a:r>
            <a:br>
              <a:rPr lang="en-US" dirty="0"/>
            </a:b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Distribution</a:t>
            </a:r>
            <a:endParaRPr lang="en-US" dirty="0"/>
          </a:p>
          <a:p>
            <a:r>
              <a:rPr lang="en-US" i="1" dirty="0"/>
              <a:t>W. </a:t>
            </a:r>
            <a:r>
              <a:rPr lang="en-US" i="1" dirty="0" err="1"/>
              <a:t>bancrofti</a:t>
            </a:r>
            <a:r>
              <a:rPr lang="en-US" dirty="0"/>
              <a:t> is the most wide spread of the filarial worms with the most seriously affected areas being in India, S. E Asia, China, the east coast of Africa and the Pacific Islands</a:t>
            </a:r>
          </a:p>
          <a:p>
            <a:r>
              <a:rPr lang="en-US" dirty="0"/>
              <a:t>Periodic </a:t>
            </a:r>
            <a:r>
              <a:rPr lang="en-US" i="1" dirty="0"/>
              <a:t>W. </a:t>
            </a:r>
            <a:r>
              <a:rPr lang="en-US" i="1" dirty="0" err="1"/>
              <a:t>bancrofti</a:t>
            </a:r>
            <a:r>
              <a:rPr lang="en-US" dirty="0"/>
              <a:t> is endemic in tropical America, the </a:t>
            </a:r>
            <a:r>
              <a:rPr lang="en-US" dirty="0" err="1"/>
              <a:t>Carribean</a:t>
            </a:r>
            <a:r>
              <a:rPr lang="en-US" dirty="0"/>
              <a:t>, tropical Africa, Egypt, the Middle East, S. E Asia, southern and eastern China, the Far East and New Guinea</a:t>
            </a:r>
          </a:p>
          <a:p>
            <a:endParaRPr lang="en-US" dirty="0"/>
          </a:p>
        </p:txBody>
      </p:sp>
    </p:spTree>
    <p:extLst>
      <p:ext uri="{BB962C8B-B14F-4D97-AF65-F5344CB8AC3E}">
        <p14:creationId xmlns:p14="http://schemas.microsoft.com/office/powerpoint/2010/main" val="2816912322"/>
      </p:ext>
    </p:extLst>
  </p:cSld>
  <p:clrMapOvr>
    <a:masterClrMapping/>
  </p:clrMapOvr>
</p:sld>
</file>

<file path=ppt/slides/slide6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p:txBody>
          <a:bodyPr/>
          <a:lstStyle/>
          <a:p>
            <a:r>
              <a:rPr lang="en-US" dirty="0"/>
              <a:t>The diurnal </a:t>
            </a:r>
            <a:r>
              <a:rPr lang="en-US" dirty="0" err="1"/>
              <a:t>subperiodic</a:t>
            </a:r>
            <a:r>
              <a:rPr lang="en-US" dirty="0"/>
              <a:t> variant of </a:t>
            </a:r>
            <a:r>
              <a:rPr lang="en-US" i="1" dirty="0"/>
              <a:t>W. </a:t>
            </a:r>
            <a:r>
              <a:rPr lang="en-US" i="1" dirty="0" err="1"/>
              <a:t>bancrofti</a:t>
            </a:r>
            <a:r>
              <a:rPr lang="en-US" dirty="0"/>
              <a:t> is found mainly in the Eastern Pacific (Polynesia) and is often referred to as the Pacific form </a:t>
            </a:r>
          </a:p>
          <a:p>
            <a:r>
              <a:rPr lang="en-US" dirty="0"/>
              <a:t>The nocturnal </a:t>
            </a:r>
            <a:r>
              <a:rPr lang="en-US" dirty="0" err="1"/>
              <a:t>subperiodic</a:t>
            </a:r>
            <a:r>
              <a:rPr lang="en-US" dirty="0"/>
              <a:t> variant is found especially in Thailand and Vietnam.</a:t>
            </a:r>
          </a:p>
          <a:p>
            <a:r>
              <a:rPr lang="en-US" dirty="0"/>
              <a:t>In parts of S.E Asia and South India. </a:t>
            </a:r>
            <a:r>
              <a:rPr lang="en-US" i="1" dirty="0"/>
              <a:t>W. </a:t>
            </a:r>
            <a:r>
              <a:rPr lang="en-US" i="1" dirty="0" err="1"/>
              <a:t>bancrofti</a:t>
            </a:r>
            <a:r>
              <a:rPr lang="en-US" dirty="0"/>
              <a:t> is found with </a:t>
            </a:r>
            <a:r>
              <a:rPr lang="en-US" i="1" dirty="0" err="1"/>
              <a:t>Brugia</a:t>
            </a:r>
            <a:r>
              <a:rPr lang="en-US" i="1" dirty="0"/>
              <a:t> </a:t>
            </a:r>
            <a:r>
              <a:rPr lang="en-US" i="1" dirty="0" err="1"/>
              <a:t>malayi</a:t>
            </a:r>
            <a:endParaRPr lang="en-US" dirty="0"/>
          </a:p>
          <a:p>
            <a:pPr marL="0" indent="0">
              <a:buNone/>
            </a:pPr>
            <a:endParaRPr lang="en-US" dirty="0"/>
          </a:p>
        </p:txBody>
      </p:sp>
    </p:spTree>
    <p:extLst>
      <p:ext uri="{BB962C8B-B14F-4D97-AF65-F5344CB8AC3E}">
        <p14:creationId xmlns:p14="http://schemas.microsoft.com/office/powerpoint/2010/main" val="3090408363"/>
      </p:ext>
    </p:extLst>
  </p:cSld>
  <p:clrMapOvr>
    <a:masterClrMapping/>
  </p:clrMapOvr>
</p:sld>
</file>

<file path=ppt/slides/slide6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Transmission </a:t>
            </a:r>
            <a:endParaRPr lang="en-US" dirty="0"/>
          </a:p>
          <a:p>
            <a:r>
              <a:rPr lang="en-US" dirty="0"/>
              <a:t>Periodic </a:t>
            </a:r>
            <a:r>
              <a:rPr lang="en-US" i="1" dirty="0"/>
              <a:t>W. </a:t>
            </a:r>
            <a:r>
              <a:rPr lang="en-US" i="1" dirty="0" err="1"/>
              <a:t>bancrofti</a:t>
            </a:r>
            <a:r>
              <a:rPr lang="en-US" dirty="0"/>
              <a:t> is transmitted by species of mosquitoes belonging to the genera, </a:t>
            </a:r>
            <a:r>
              <a:rPr lang="en-US" i="1" dirty="0" err="1"/>
              <a:t>Culex</a:t>
            </a:r>
            <a:r>
              <a:rPr lang="en-US" i="1" dirty="0"/>
              <a:t>, Anopheles</a:t>
            </a:r>
            <a:r>
              <a:rPr lang="en-US" dirty="0"/>
              <a:t> and </a:t>
            </a:r>
            <a:r>
              <a:rPr lang="en-US" i="1" dirty="0" err="1"/>
              <a:t>Aedes</a:t>
            </a:r>
            <a:r>
              <a:rPr lang="en-US" i="1" dirty="0"/>
              <a:t> </a:t>
            </a:r>
            <a:endParaRPr lang="en-US" dirty="0"/>
          </a:p>
          <a:p>
            <a:r>
              <a:rPr lang="en-US" dirty="0" err="1"/>
              <a:t>Subperiodic</a:t>
            </a:r>
            <a:r>
              <a:rPr lang="en-US" dirty="0"/>
              <a:t> </a:t>
            </a:r>
            <a:r>
              <a:rPr lang="en-US" i="1" dirty="0"/>
              <a:t>W. </a:t>
            </a:r>
            <a:r>
              <a:rPr lang="en-US" i="1" dirty="0" err="1"/>
              <a:t>bancrofti</a:t>
            </a:r>
            <a:r>
              <a:rPr lang="en-US" dirty="0"/>
              <a:t> is transmitted by </a:t>
            </a:r>
            <a:r>
              <a:rPr lang="en-US" i="1" dirty="0" err="1"/>
              <a:t>Aedes</a:t>
            </a:r>
            <a:r>
              <a:rPr lang="en-US" dirty="0"/>
              <a:t> mosquitoes</a:t>
            </a:r>
          </a:p>
          <a:p>
            <a:endParaRPr lang="en-US" dirty="0"/>
          </a:p>
        </p:txBody>
      </p:sp>
    </p:spTree>
    <p:extLst>
      <p:ext uri="{BB962C8B-B14F-4D97-AF65-F5344CB8AC3E}">
        <p14:creationId xmlns:p14="http://schemas.microsoft.com/office/powerpoint/2010/main" val="1441748748"/>
      </p:ext>
    </p:extLst>
  </p:cSld>
  <p:clrMapOvr>
    <a:masterClrMapping/>
  </p:clrMapOvr>
</p:sld>
</file>

<file path=ppt/slides/slide6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dirty="0"/>
              <a:t>Life Cycle</a:t>
            </a:r>
            <a:endParaRPr lang="en-US" dirty="0"/>
          </a:p>
          <a:p>
            <a:r>
              <a:rPr lang="en-US" dirty="0"/>
              <a:t>Infective larvae are deposited on human skin when an infected mosquito takes a blood meal;</a:t>
            </a:r>
          </a:p>
          <a:p>
            <a:r>
              <a:rPr lang="en-US" dirty="0"/>
              <a:t>they penetrate the skin through the bite wound and enter the peripheral blood vessels and reach the lymphatic vessels and lymph nodes</a:t>
            </a:r>
          </a:p>
          <a:p>
            <a:r>
              <a:rPr lang="en-US" dirty="0"/>
              <a:t>Development takes place in the </a:t>
            </a:r>
            <a:r>
              <a:rPr lang="en-US" dirty="0" err="1"/>
              <a:t>lymphatics</a:t>
            </a:r>
            <a:r>
              <a:rPr lang="en-US" dirty="0"/>
              <a:t> and in 3-15 months, the larvae become mature male and female worms.</a:t>
            </a:r>
          </a:p>
          <a:p>
            <a:pPr marL="0" indent="0">
              <a:buNone/>
            </a:pPr>
            <a:endParaRPr lang="en-US" dirty="0"/>
          </a:p>
        </p:txBody>
      </p:sp>
    </p:spTree>
    <p:extLst>
      <p:ext uri="{BB962C8B-B14F-4D97-AF65-F5344CB8AC3E}">
        <p14:creationId xmlns:p14="http://schemas.microsoft.com/office/powerpoint/2010/main" val="3285911281"/>
      </p:ext>
    </p:extLst>
  </p:cSld>
  <p:clrMapOvr>
    <a:masterClrMapping/>
  </p:clrMapOvr>
</p:sld>
</file>

<file path=ppt/slides/slide6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20000"/>
          </a:bodyPr>
          <a:lstStyle/>
          <a:p>
            <a:r>
              <a:rPr lang="en-US" dirty="0"/>
              <a:t>The worms can live for many years in the host depending, partly on the extent of the host’s immune response.</a:t>
            </a:r>
          </a:p>
          <a:p>
            <a:r>
              <a:rPr lang="en-US" dirty="0"/>
              <a:t> The mean lifetime is 4-6 years; in some cases, the worms can survive up to 15 years of more.</a:t>
            </a:r>
          </a:p>
          <a:p>
            <a:r>
              <a:rPr lang="en-US" dirty="0"/>
              <a:t>The adults mate and produce many sheathed larvae (which are immature and are called microfilariae; they may be found in the blood about 1 year after infection. </a:t>
            </a:r>
          </a:p>
          <a:p>
            <a:r>
              <a:rPr lang="en-US" dirty="0"/>
              <a:t>Microfilariae may not be detected in the blood if few worms are present.</a:t>
            </a:r>
          </a:p>
          <a:p>
            <a:endParaRPr lang="en-US" dirty="0"/>
          </a:p>
        </p:txBody>
      </p:sp>
    </p:spTree>
    <p:extLst>
      <p:ext uri="{BB962C8B-B14F-4D97-AF65-F5344CB8AC3E}">
        <p14:creationId xmlns:p14="http://schemas.microsoft.com/office/powerpoint/2010/main" val="2384590407"/>
      </p:ext>
    </p:extLst>
  </p:cSld>
  <p:clrMapOvr>
    <a:masterClrMapping/>
  </p:clrMapOvr>
</p:sld>
</file>

<file path=ppt/slides/slide6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Microfilariae are taken up by a mosquito when it bites an infected human to suck blood;</a:t>
            </a:r>
          </a:p>
          <a:p>
            <a:r>
              <a:rPr lang="en-US" dirty="0"/>
              <a:t>microfilariae not ingested die in 6 months – 2 years.</a:t>
            </a:r>
          </a:p>
          <a:p>
            <a:r>
              <a:rPr lang="en-US" dirty="0"/>
              <a:t>In the mosquito’s stomach, the microfilariae lose their sheath and migrate from the </a:t>
            </a:r>
            <a:r>
              <a:rPr lang="en-US" dirty="0" err="1"/>
              <a:t>midgut</a:t>
            </a:r>
            <a:r>
              <a:rPr lang="en-US" dirty="0"/>
              <a:t> to the thorax of the vector where they develop into infective larvae;</a:t>
            </a:r>
          </a:p>
          <a:p>
            <a:r>
              <a:rPr lang="en-US" dirty="0"/>
              <a:t> development in the mosquito takes at least 1-2 weeks at a temperature of 26</a:t>
            </a:r>
            <a:r>
              <a:rPr lang="en-US" baseline="30000" dirty="0"/>
              <a:t>o</a:t>
            </a:r>
            <a:r>
              <a:rPr lang="en-US" dirty="0"/>
              <a:t>C and RH of over 70%.</a:t>
            </a:r>
          </a:p>
          <a:p>
            <a:endParaRPr lang="en-US" dirty="0"/>
          </a:p>
        </p:txBody>
      </p:sp>
    </p:spTree>
    <p:extLst>
      <p:ext uri="{BB962C8B-B14F-4D97-AF65-F5344CB8AC3E}">
        <p14:creationId xmlns:p14="http://schemas.microsoft.com/office/powerpoint/2010/main" val="258254127"/>
      </p:ext>
    </p:extLst>
  </p:cSld>
  <p:clrMapOvr>
    <a:masterClrMapping/>
  </p:clrMapOvr>
</p:sld>
</file>

<file path=ppt/slides/slide6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p:txBody>
          <a:bodyPr/>
          <a:lstStyle/>
          <a:p>
            <a:r>
              <a:rPr lang="en-US" dirty="0"/>
              <a:t>Mature infective larvae migrate to the mosquito’s mouthparts to be transmitted when the vector next takes a blood meal.</a:t>
            </a:r>
          </a:p>
          <a:p>
            <a:endParaRPr lang="en-US" dirty="0"/>
          </a:p>
        </p:txBody>
      </p:sp>
    </p:spTree>
    <p:extLst>
      <p:ext uri="{BB962C8B-B14F-4D97-AF65-F5344CB8AC3E}">
        <p14:creationId xmlns:p14="http://schemas.microsoft.com/office/powerpoint/2010/main" val="3480202875"/>
      </p:ext>
    </p:extLst>
  </p:cSld>
  <p:clrMapOvr>
    <a:masterClrMapping/>
  </p:clrMapOvr>
</p:sld>
</file>

<file path=ppt/slides/slide6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dirty="0"/>
              <a:t>Symptoms and Pathology</a:t>
            </a:r>
            <a:endParaRPr lang="en-US" dirty="0"/>
          </a:p>
          <a:p>
            <a:r>
              <a:rPr lang="en-US" dirty="0"/>
              <a:t>Not all infected persons develop clinical symptoms.</a:t>
            </a:r>
          </a:p>
          <a:p>
            <a:r>
              <a:rPr lang="en-US" dirty="0"/>
              <a:t>The disease is characterized by recurrent attacks of fever, with painful inflamed </a:t>
            </a:r>
            <a:r>
              <a:rPr lang="en-US" dirty="0" err="1"/>
              <a:t>lymphatics</a:t>
            </a:r>
            <a:r>
              <a:rPr lang="en-US" dirty="0"/>
              <a:t>.</a:t>
            </a:r>
          </a:p>
          <a:p>
            <a:r>
              <a:rPr lang="en-US" dirty="0"/>
              <a:t>Damage to the </a:t>
            </a:r>
            <a:r>
              <a:rPr lang="en-US" dirty="0" err="1"/>
              <a:t>lymphatics</a:t>
            </a:r>
            <a:r>
              <a:rPr lang="en-US" dirty="0"/>
              <a:t> leads to thickening and eventual blockage of the lymphatic vessels – those of the limbs, genital organs (especially those of the spermatic cord) and breasts</a:t>
            </a:r>
          </a:p>
          <a:p>
            <a:endParaRPr lang="en-US" dirty="0"/>
          </a:p>
        </p:txBody>
      </p:sp>
    </p:spTree>
    <p:extLst>
      <p:ext uri="{BB962C8B-B14F-4D97-AF65-F5344CB8AC3E}">
        <p14:creationId xmlns:p14="http://schemas.microsoft.com/office/powerpoint/2010/main" val="3388915662"/>
      </p:ext>
    </p:extLst>
  </p:cSld>
  <p:clrMapOvr>
    <a:masterClrMapping/>
  </p:clrMapOvr>
</p:sld>
</file>

<file path=ppt/slides/slide6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Obstruction to lymph flow causes swelling, fibrosis and eventually, elephantiasis (advanced lymphatic </a:t>
            </a:r>
            <a:r>
              <a:rPr lang="en-US" dirty="0" err="1"/>
              <a:t>filariasis</a:t>
            </a:r>
            <a:r>
              <a:rPr lang="en-US" dirty="0"/>
              <a:t>).</a:t>
            </a:r>
          </a:p>
          <a:p>
            <a:r>
              <a:rPr lang="en-US" dirty="0"/>
              <a:t>Symptoms of infection differ from one endemic area to another.</a:t>
            </a:r>
          </a:p>
          <a:p>
            <a:r>
              <a:rPr lang="en-US" dirty="0"/>
              <a:t>The features and pathology depend on the sites occupied by developing and mature worms, their numbers, duration of infection, </a:t>
            </a:r>
          </a:p>
          <a:p>
            <a:r>
              <a:rPr lang="en-US" dirty="0"/>
              <a:t>and the immune responses of the host to damaged and dead worms.</a:t>
            </a:r>
          </a:p>
          <a:p>
            <a:pPr marL="0" indent="0">
              <a:buNone/>
            </a:pPr>
            <a:endParaRPr lang="en-US" dirty="0"/>
          </a:p>
        </p:txBody>
      </p:sp>
    </p:spTree>
    <p:extLst>
      <p:ext uri="{BB962C8B-B14F-4D97-AF65-F5344CB8AC3E}">
        <p14:creationId xmlns:p14="http://schemas.microsoft.com/office/powerpoint/2010/main" val="4115606160"/>
      </p:ext>
    </p:extLst>
  </p:cSld>
  <p:clrMapOvr>
    <a:masterClrMapping/>
  </p:clrMapOvr>
</p:sld>
</file>

<file path=ppt/slides/slide6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p:txBody>
          <a:bodyPr/>
          <a:lstStyle/>
          <a:p>
            <a:r>
              <a:rPr lang="en-US" dirty="0"/>
              <a:t>In chronic cases, usually after repeated infections, hydrocele may occur </a:t>
            </a:r>
          </a:p>
          <a:p>
            <a:r>
              <a:rPr lang="en-US" dirty="0"/>
              <a:t>and microfilariae may, occasionally, by found in hydrocele fluid.</a:t>
            </a:r>
          </a:p>
          <a:p>
            <a:r>
              <a:rPr lang="en-US" dirty="0"/>
              <a:t>Elephantiasis, the advanced stage of the infection, is characterized by coarse thickening, hardening and cracking of the of the skin overlying enlarged </a:t>
            </a:r>
            <a:r>
              <a:rPr lang="en-US" dirty="0" err="1"/>
              <a:t>fibrosed</a:t>
            </a:r>
            <a:r>
              <a:rPr lang="en-US" dirty="0"/>
              <a:t> tissues.</a:t>
            </a:r>
          </a:p>
          <a:p>
            <a:endParaRPr lang="en-US" dirty="0"/>
          </a:p>
        </p:txBody>
      </p:sp>
    </p:spTree>
    <p:extLst>
      <p:ext uri="{BB962C8B-B14F-4D97-AF65-F5344CB8AC3E}">
        <p14:creationId xmlns:p14="http://schemas.microsoft.com/office/powerpoint/2010/main" val="1159013832"/>
      </p:ext>
    </p:extLst>
  </p:cSld>
  <p:clrMapOvr>
    <a:masterClrMapping/>
  </p:clrMapOvr>
</p:sld>
</file>

<file path=ppt/slides/slide6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b="1" dirty="0"/>
              <a:t>A complication of chronic </a:t>
            </a:r>
            <a:r>
              <a:rPr lang="en-US" b="1" dirty="0" err="1"/>
              <a:t>bacncroftian</a:t>
            </a:r>
            <a:r>
              <a:rPr lang="en-US" b="1" dirty="0"/>
              <a:t> </a:t>
            </a:r>
            <a:r>
              <a:rPr lang="en-US" b="1" dirty="0" err="1"/>
              <a:t>filariasis</a:t>
            </a:r>
            <a:r>
              <a:rPr lang="en-US" b="1" dirty="0"/>
              <a:t> is CHYLURIA. </a:t>
            </a:r>
          </a:p>
          <a:p>
            <a:r>
              <a:rPr lang="en-US" b="1" dirty="0"/>
              <a:t>This is due to the urogenital lymphatic vessels linked to those that transport </a:t>
            </a:r>
            <a:r>
              <a:rPr lang="en-US" b="1" dirty="0" err="1"/>
              <a:t>chyle</a:t>
            </a:r>
            <a:r>
              <a:rPr lang="en-US" b="1" dirty="0"/>
              <a:t> from the intestine becoming blocked and rupturing, </a:t>
            </a:r>
          </a:p>
          <a:p>
            <a:r>
              <a:rPr lang="en-US" b="1" dirty="0"/>
              <a:t>and </a:t>
            </a:r>
            <a:r>
              <a:rPr lang="en-US" b="1" dirty="0" err="1"/>
              <a:t>chyle</a:t>
            </a:r>
            <a:r>
              <a:rPr lang="en-US" b="1" dirty="0"/>
              <a:t> and occasionally blood and microfilariae appear in the urine, especially in early morning specimens.</a:t>
            </a:r>
            <a:endParaRPr lang="en-US" dirty="0"/>
          </a:p>
          <a:p>
            <a:r>
              <a:rPr lang="en-US" dirty="0"/>
              <a:t>Microfilariae are usually present in the fibrin clots which form.</a:t>
            </a:r>
          </a:p>
          <a:p>
            <a:endParaRPr lang="en-US" dirty="0"/>
          </a:p>
        </p:txBody>
      </p:sp>
    </p:spTree>
    <p:extLst>
      <p:ext uri="{BB962C8B-B14F-4D97-AF65-F5344CB8AC3E}">
        <p14:creationId xmlns:p14="http://schemas.microsoft.com/office/powerpoint/2010/main" val="3081400580"/>
      </p:ext>
    </p:extLst>
  </p:cSld>
  <p:clrMapOvr>
    <a:masterClrMapping/>
  </p:clrMapOvr>
</p:sld>
</file>

<file path=ppt/slides/slide6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Wuchereria</a:t>
            </a:r>
            <a:r>
              <a:rPr lang="en-US" b="1" i="1" dirty="0"/>
              <a:t> </a:t>
            </a:r>
            <a:r>
              <a:rPr lang="en-US" b="1" i="1" dirty="0" err="1"/>
              <a:t>bancrofti</a:t>
            </a:r>
            <a:r>
              <a:rPr lang="en-US" b="1" i="1" dirty="0"/>
              <a:t> cont’d</a:t>
            </a:r>
            <a:br>
              <a:rPr lang="en-US" dirty="0"/>
            </a:br>
            <a:endParaRPr lang="en-US" dirty="0"/>
          </a:p>
        </p:txBody>
      </p:sp>
      <p:sp>
        <p:nvSpPr>
          <p:cNvPr id="3" name="Content Placeholder 2"/>
          <p:cNvSpPr>
            <a:spLocks noGrp="1"/>
          </p:cNvSpPr>
          <p:nvPr>
            <p:ph idx="1"/>
          </p:nvPr>
        </p:nvSpPr>
        <p:spPr/>
        <p:txBody>
          <a:bodyPr/>
          <a:lstStyle/>
          <a:p>
            <a:r>
              <a:rPr lang="en-US" dirty="0"/>
              <a:t>Most of those infected show reduced immune responses. </a:t>
            </a:r>
          </a:p>
          <a:p>
            <a:r>
              <a:rPr lang="en-US" dirty="0"/>
              <a:t>Eosinophilia is usually present.</a:t>
            </a:r>
          </a:p>
          <a:p>
            <a:r>
              <a:rPr lang="en-US" dirty="0"/>
              <a:t>Infections with </a:t>
            </a:r>
            <a:r>
              <a:rPr lang="en-US" dirty="0" err="1"/>
              <a:t>subperiodic</a:t>
            </a:r>
            <a:r>
              <a:rPr lang="en-US" dirty="0"/>
              <a:t> </a:t>
            </a:r>
            <a:r>
              <a:rPr lang="en-US" i="1" dirty="0"/>
              <a:t>W. </a:t>
            </a:r>
            <a:r>
              <a:rPr lang="en-US" i="1" dirty="0" err="1"/>
              <a:t>bancrofti</a:t>
            </a:r>
            <a:r>
              <a:rPr lang="en-US" dirty="0"/>
              <a:t> are associated with filarial abscesses.</a:t>
            </a:r>
          </a:p>
          <a:p>
            <a:endParaRPr lang="en-US" dirty="0"/>
          </a:p>
        </p:txBody>
      </p:sp>
    </p:spTree>
    <p:extLst>
      <p:ext uri="{BB962C8B-B14F-4D97-AF65-F5344CB8AC3E}">
        <p14:creationId xmlns:p14="http://schemas.microsoft.com/office/powerpoint/2010/main" val="814086872"/>
      </p:ext>
    </p:extLst>
  </p:cSld>
  <p:clrMapOvr>
    <a:masterClrMapping/>
  </p:clrMapOvr>
</p:sld>
</file>

<file path=ppt/slides/slide6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Prevention and Control</a:t>
            </a:r>
            <a:br>
              <a:rPr lang="en-US" dirty="0"/>
            </a:br>
            <a:endParaRPr lang="en-US" dirty="0"/>
          </a:p>
        </p:txBody>
      </p:sp>
      <p:sp>
        <p:nvSpPr>
          <p:cNvPr id="3" name="Content Placeholder 2"/>
          <p:cNvSpPr>
            <a:spLocks noGrp="1"/>
          </p:cNvSpPr>
          <p:nvPr>
            <p:ph idx="1"/>
          </p:nvPr>
        </p:nvSpPr>
        <p:spPr/>
        <p:txBody>
          <a:bodyPr>
            <a:normAutofit/>
          </a:bodyPr>
          <a:lstStyle/>
          <a:p>
            <a:pPr marL="514350" lvl="0" indent="-514350">
              <a:buFont typeface="+mj-lt"/>
              <a:buAutoNum type="arabicPeriod"/>
            </a:pPr>
            <a:r>
              <a:rPr lang="en-US" b="1" dirty="0"/>
              <a:t>Anti-Mosquitoes measures</a:t>
            </a:r>
            <a:endParaRPr lang="en-US" dirty="0"/>
          </a:p>
          <a:p>
            <a:pPr marL="0" indent="0">
              <a:buNone/>
            </a:pPr>
            <a:r>
              <a:rPr lang="en-US" dirty="0"/>
              <a:t>The ecology and behavior of the local vector must be studied and their breeding sites reduced or possibly eradicated.</a:t>
            </a:r>
          </a:p>
          <a:p>
            <a:r>
              <a:rPr lang="en-US" dirty="0"/>
              <a:t>Using effective insecticides; </a:t>
            </a:r>
            <a:r>
              <a:rPr lang="en-US" i="1" dirty="0" err="1"/>
              <a:t>Culex</a:t>
            </a:r>
            <a:r>
              <a:rPr lang="en-US" i="1" dirty="0"/>
              <a:t> </a:t>
            </a:r>
            <a:r>
              <a:rPr lang="en-US" i="1" dirty="0" err="1"/>
              <a:t>quinquefasciatus</a:t>
            </a:r>
            <a:r>
              <a:rPr lang="en-US" dirty="0"/>
              <a:t> the most important vector of </a:t>
            </a:r>
            <a:r>
              <a:rPr lang="en-US" i="1" dirty="0"/>
              <a:t>W. </a:t>
            </a:r>
            <a:r>
              <a:rPr lang="en-US" i="1" dirty="0" err="1"/>
              <a:t>bancrofti</a:t>
            </a:r>
            <a:r>
              <a:rPr lang="en-US" dirty="0"/>
              <a:t> is resistant to most insecticides used against it.</a:t>
            </a:r>
          </a:p>
          <a:p>
            <a:endParaRPr lang="en-US" dirty="0"/>
          </a:p>
        </p:txBody>
      </p:sp>
    </p:spTree>
    <p:extLst>
      <p:ext uri="{BB962C8B-B14F-4D97-AF65-F5344CB8AC3E}">
        <p14:creationId xmlns:p14="http://schemas.microsoft.com/office/powerpoint/2010/main" val="4226090590"/>
      </p:ext>
    </p:extLst>
  </p:cSld>
  <p:clrMapOvr>
    <a:masterClrMapping/>
  </p:clrMapOvr>
</p:sld>
</file>

<file path=ppt/slides/slide6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Prevention and Control cont’d</a:t>
            </a:r>
            <a:endParaRPr lang="en-US" dirty="0"/>
          </a:p>
        </p:txBody>
      </p:sp>
      <p:sp>
        <p:nvSpPr>
          <p:cNvPr id="3" name="Content Placeholder 2"/>
          <p:cNvSpPr>
            <a:spLocks noGrp="1"/>
          </p:cNvSpPr>
          <p:nvPr>
            <p:ph idx="1"/>
          </p:nvPr>
        </p:nvSpPr>
        <p:spPr/>
        <p:txBody>
          <a:bodyPr/>
          <a:lstStyle/>
          <a:p>
            <a:r>
              <a:rPr lang="en-US" dirty="0"/>
              <a:t>Avoiding mosquito bites by wearing suitable, protective clothing; use of mosquito/bed nets and making houses and rooms mosquito-proof;</a:t>
            </a:r>
          </a:p>
          <a:p>
            <a:r>
              <a:rPr lang="en-US" dirty="0"/>
              <a:t> the use of bed nets impregnated with </a:t>
            </a:r>
            <a:r>
              <a:rPr lang="en-US" dirty="0" err="1"/>
              <a:t>pyrethroids</a:t>
            </a:r>
            <a:r>
              <a:rPr lang="en-US" dirty="0"/>
              <a:t> has proved successful in many places.</a:t>
            </a:r>
          </a:p>
          <a:p>
            <a:endParaRPr lang="en-US" dirty="0"/>
          </a:p>
        </p:txBody>
      </p:sp>
    </p:spTree>
    <p:extLst>
      <p:ext uri="{BB962C8B-B14F-4D97-AF65-F5344CB8AC3E}">
        <p14:creationId xmlns:p14="http://schemas.microsoft.com/office/powerpoint/2010/main" val="3719047984"/>
      </p:ext>
    </p:extLst>
  </p:cSld>
  <p:clrMapOvr>
    <a:masterClrMapping/>
  </p:clrMapOvr>
</p:sld>
</file>

<file path=ppt/slides/slide6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Prevention and Control cont’d</a:t>
            </a:r>
            <a:endParaRPr lang="en-US" dirty="0"/>
          </a:p>
        </p:txBody>
      </p:sp>
      <p:sp>
        <p:nvSpPr>
          <p:cNvPr id="3" name="Content Placeholder 2"/>
          <p:cNvSpPr>
            <a:spLocks noGrp="1"/>
          </p:cNvSpPr>
          <p:nvPr>
            <p:ph idx="1"/>
          </p:nvPr>
        </p:nvSpPr>
        <p:spPr/>
        <p:txBody>
          <a:bodyPr/>
          <a:lstStyle/>
          <a:p>
            <a:pPr marL="0" lvl="0" indent="0">
              <a:buNone/>
            </a:pPr>
            <a:r>
              <a:rPr lang="en-US" b="1" dirty="0"/>
              <a:t>2. Anti-parasite measures</a:t>
            </a:r>
            <a:endParaRPr lang="en-US" dirty="0"/>
          </a:p>
          <a:p>
            <a:pPr marL="0" indent="0">
              <a:buNone/>
            </a:pPr>
            <a:r>
              <a:rPr lang="en-US" dirty="0"/>
              <a:t>Treatment of infected individuals with </a:t>
            </a:r>
            <a:r>
              <a:rPr lang="en-US" dirty="0" err="1"/>
              <a:t>Diethylcarbamazine</a:t>
            </a:r>
            <a:r>
              <a:rPr lang="en-US" dirty="0"/>
              <a:t> (DEC) as part of mass control </a:t>
            </a:r>
            <a:r>
              <a:rPr lang="en-US" dirty="0" err="1"/>
              <a:t>programmes</a:t>
            </a:r>
            <a:r>
              <a:rPr lang="en-US" dirty="0"/>
              <a:t> to prevent mosquitoes from becoming infected.</a:t>
            </a:r>
          </a:p>
          <a:p>
            <a:pPr marL="0" indent="0">
              <a:buNone/>
            </a:pPr>
            <a:r>
              <a:rPr lang="en-US" b="1" dirty="0"/>
              <a:t>3. Human measures</a:t>
            </a:r>
            <a:endParaRPr lang="en-US" dirty="0"/>
          </a:p>
          <a:p>
            <a:pPr marL="0" indent="0">
              <a:buNone/>
            </a:pPr>
            <a:r>
              <a:rPr lang="en-US" dirty="0"/>
              <a:t>Health education on the cause, early symptoms, detection and control efforts</a:t>
            </a:r>
          </a:p>
          <a:p>
            <a:endParaRPr lang="en-US" dirty="0"/>
          </a:p>
        </p:txBody>
      </p:sp>
    </p:spTree>
    <p:extLst>
      <p:ext uri="{BB962C8B-B14F-4D97-AF65-F5344CB8AC3E}">
        <p14:creationId xmlns:p14="http://schemas.microsoft.com/office/powerpoint/2010/main" val="3601827521"/>
      </p:ext>
    </p:extLst>
  </p:cSld>
  <p:clrMapOvr>
    <a:masterClrMapping/>
  </p:clrMapOvr>
</p:sld>
</file>

<file path=ppt/slides/slide6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Diagnosis</a:t>
            </a:r>
            <a:endParaRPr lang="en-US" dirty="0"/>
          </a:p>
        </p:txBody>
      </p:sp>
      <p:sp>
        <p:nvSpPr>
          <p:cNvPr id="3" name="Content Placeholder 2"/>
          <p:cNvSpPr>
            <a:spLocks noGrp="1"/>
          </p:cNvSpPr>
          <p:nvPr>
            <p:ph idx="1"/>
          </p:nvPr>
        </p:nvSpPr>
        <p:spPr/>
        <p:txBody>
          <a:bodyPr>
            <a:normAutofit fontScale="92500" lnSpcReduction="10000"/>
          </a:bodyPr>
          <a:lstStyle/>
          <a:p>
            <a:r>
              <a:rPr lang="en-US" b="1" dirty="0"/>
              <a:t> </a:t>
            </a:r>
            <a:r>
              <a:rPr lang="en-US" dirty="0"/>
              <a:t>Examination of blood microscopically for microfilariae but occasionally microfilaria may be found in </a:t>
            </a:r>
            <a:r>
              <a:rPr lang="en-US" dirty="0" err="1"/>
              <a:t>chylous</a:t>
            </a:r>
            <a:r>
              <a:rPr lang="en-US" dirty="0"/>
              <a:t> urine (early morning urine specimens microfilaria are usually present in the fibrin clots that form) or hydrocele fluid or lymph gland fluid.</a:t>
            </a:r>
          </a:p>
          <a:p>
            <a:r>
              <a:rPr lang="en-US" dirty="0"/>
              <a:t>Blood eosinophilia is found with </a:t>
            </a:r>
            <a:r>
              <a:rPr lang="en-US" i="1" dirty="0"/>
              <a:t>W. </a:t>
            </a:r>
            <a:r>
              <a:rPr lang="en-US" i="1" dirty="0" err="1"/>
              <a:t>bancrofti</a:t>
            </a:r>
            <a:r>
              <a:rPr lang="en-US" dirty="0"/>
              <a:t> infection</a:t>
            </a:r>
          </a:p>
          <a:p>
            <a:r>
              <a:rPr lang="en-US" dirty="0"/>
              <a:t>Examination of aspirates of hydrocele fluid or lymph gland fluid</a:t>
            </a:r>
          </a:p>
          <a:p>
            <a:endParaRPr lang="en-US" dirty="0"/>
          </a:p>
        </p:txBody>
      </p:sp>
    </p:spTree>
    <p:extLst>
      <p:ext uri="{BB962C8B-B14F-4D97-AF65-F5344CB8AC3E}">
        <p14:creationId xmlns:p14="http://schemas.microsoft.com/office/powerpoint/2010/main" val="540163040"/>
      </p:ext>
    </p:extLst>
  </p:cSld>
  <p:clrMapOvr>
    <a:masterClrMapping/>
  </p:clrMapOvr>
</p:sld>
</file>

<file path=ppt/slides/slide6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err="1"/>
              <a:t>Immunodiagnosis</a:t>
            </a:r>
            <a:br>
              <a:rPr lang="en-US" dirty="0"/>
            </a:br>
            <a:endParaRPr lang="en-US" dirty="0"/>
          </a:p>
        </p:txBody>
      </p:sp>
      <p:sp>
        <p:nvSpPr>
          <p:cNvPr id="3" name="Content Placeholder 2"/>
          <p:cNvSpPr>
            <a:spLocks noGrp="1"/>
          </p:cNvSpPr>
          <p:nvPr>
            <p:ph idx="1"/>
          </p:nvPr>
        </p:nvSpPr>
        <p:spPr/>
        <p:txBody>
          <a:bodyPr/>
          <a:lstStyle/>
          <a:p>
            <a:r>
              <a:rPr lang="en-US" dirty="0"/>
              <a:t>Tests are valuable because microfilaria are often difficult to find in the blood of patients with </a:t>
            </a:r>
            <a:r>
              <a:rPr lang="en-US" dirty="0" err="1"/>
              <a:t>bancroftian</a:t>
            </a:r>
            <a:r>
              <a:rPr lang="en-US" dirty="0"/>
              <a:t> </a:t>
            </a:r>
            <a:r>
              <a:rPr lang="en-US" dirty="0" err="1"/>
              <a:t>filariasis</a:t>
            </a:r>
            <a:endParaRPr lang="en-US" dirty="0"/>
          </a:p>
          <a:p>
            <a:r>
              <a:rPr lang="en-US" dirty="0"/>
              <a:t>Such tests are not being used on a wide scale however, because of insufficient sensitivity or specificity.</a:t>
            </a:r>
          </a:p>
          <a:p>
            <a:endParaRPr lang="en-US" dirty="0"/>
          </a:p>
        </p:txBody>
      </p:sp>
    </p:spTree>
    <p:extLst>
      <p:ext uri="{BB962C8B-B14F-4D97-AF65-F5344CB8AC3E}">
        <p14:creationId xmlns:p14="http://schemas.microsoft.com/office/powerpoint/2010/main" val="4234913812"/>
      </p:ext>
    </p:extLst>
  </p:cSld>
  <p:clrMapOvr>
    <a:masterClrMapping/>
  </p:clrMapOvr>
</p:sld>
</file>

<file path=ppt/slides/slide6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err="1"/>
              <a:t>Immunodiagnosis</a:t>
            </a:r>
            <a:r>
              <a:rPr lang="en-US" b="1" dirty="0"/>
              <a:t> cont’d</a:t>
            </a:r>
            <a:br>
              <a:rPr lang="en-US" dirty="0"/>
            </a:br>
            <a:endParaRPr lang="en-US" dirty="0"/>
          </a:p>
        </p:txBody>
      </p:sp>
      <p:sp>
        <p:nvSpPr>
          <p:cNvPr id="3" name="Content Placeholder 2"/>
          <p:cNvSpPr>
            <a:spLocks noGrp="1"/>
          </p:cNvSpPr>
          <p:nvPr>
            <p:ph idx="1"/>
          </p:nvPr>
        </p:nvSpPr>
        <p:spPr/>
        <p:txBody>
          <a:bodyPr/>
          <a:lstStyle/>
          <a:p>
            <a:r>
              <a:rPr lang="en-US" dirty="0"/>
              <a:t>Problems with developing serological tests for </a:t>
            </a:r>
            <a:r>
              <a:rPr lang="en-US" dirty="0" err="1"/>
              <a:t>immunodiagnosis</a:t>
            </a:r>
            <a:r>
              <a:rPr lang="en-US" dirty="0"/>
              <a:t> stem from the following:</a:t>
            </a:r>
          </a:p>
          <a:p>
            <a:pPr lvl="0"/>
            <a:r>
              <a:rPr lang="en-US" dirty="0"/>
              <a:t>Lack of laboratory models</a:t>
            </a:r>
          </a:p>
          <a:p>
            <a:pPr lvl="0"/>
            <a:r>
              <a:rPr lang="en-US" dirty="0"/>
              <a:t>Difficulty in obtaining adequate quantities of human </a:t>
            </a:r>
            <a:r>
              <a:rPr lang="en-US" dirty="0" err="1"/>
              <a:t>filarioids</a:t>
            </a:r>
            <a:r>
              <a:rPr lang="en-US" dirty="0"/>
              <a:t> from patients, and </a:t>
            </a:r>
          </a:p>
          <a:p>
            <a:pPr lvl="0"/>
            <a:r>
              <a:rPr lang="en-US" dirty="0"/>
              <a:t>The cross reactivity of all filarial antigens </a:t>
            </a:r>
          </a:p>
          <a:p>
            <a:r>
              <a:rPr lang="en-US" dirty="0"/>
              <a:t>Using animal </a:t>
            </a:r>
            <a:r>
              <a:rPr lang="en-US" dirty="0" err="1"/>
              <a:t>filariods</a:t>
            </a:r>
            <a:r>
              <a:rPr lang="en-US" dirty="0"/>
              <a:t>-antigens, the following tests have proved most promising:</a:t>
            </a:r>
          </a:p>
          <a:p>
            <a:pPr marL="0" indent="0">
              <a:buNone/>
            </a:pPr>
            <a:endParaRPr lang="en-US" dirty="0"/>
          </a:p>
        </p:txBody>
      </p:sp>
    </p:spTree>
    <p:extLst>
      <p:ext uri="{BB962C8B-B14F-4D97-AF65-F5344CB8AC3E}">
        <p14:creationId xmlns:p14="http://schemas.microsoft.com/office/powerpoint/2010/main" val="1486744868"/>
      </p:ext>
    </p:extLst>
  </p:cSld>
  <p:clrMapOvr>
    <a:masterClrMapping/>
  </p:clrMapOvr>
</p:sld>
</file>

<file path=ppt/slides/slide6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err="1"/>
              <a:t>Flourescent</a:t>
            </a:r>
            <a:r>
              <a:rPr lang="en-US" b="1" dirty="0"/>
              <a:t> antibody Test (FAT)</a:t>
            </a:r>
            <a:br>
              <a:rPr lang="en-US" dirty="0"/>
            </a:br>
            <a:endParaRPr lang="en-US" dirty="0"/>
          </a:p>
        </p:txBody>
      </p:sp>
      <p:sp>
        <p:nvSpPr>
          <p:cNvPr id="3" name="Content Placeholder 2"/>
          <p:cNvSpPr>
            <a:spLocks noGrp="1"/>
          </p:cNvSpPr>
          <p:nvPr>
            <p:ph idx="1"/>
          </p:nvPr>
        </p:nvSpPr>
        <p:spPr/>
        <p:txBody>
          <a:bodyPr>
            <a:normAutofit fontScale="92500"/>
          </a:bodyPr>
          <a:lstStyle/>
          <a:p>
            <a:r>
              <a:rPr lang="en-US" dirty="0"/>
              <a:t>Enzyme-linked </a:t>
            </a:r>
            <a:r>
              <a:rPr lang="en-US" dirty="0" err="1"/>
              <a:t>immunosorbent</a:t>
            </a:r>
            <a:r>
              <a:rPr lang="en-US" dirty="0"/>
              <a:t> Assays (ELISA), using </a:t>
            </a:r>
            <a:r>
              <a:rPr lang="en-US" i="1" dirty="0" err="1"/>
              <a:t>Brugia</a:t>
            </a:r>
            <a:r>
              <a:rPr lang="en-US" i="1" dirty="0"/>
              <a:t> </a:t>
            </a:r>
            <a:r>
              <a:rPr lang="en-US" i="1" dirty="0" err="1"/>
              <a:t>pahangi</a:t>
            </a:r>
            <a:r>
              <a:rPr lang="en-US" dirty="0"/>
              <a:t> antigen</a:t>
            </a:r>
          </a:p>
          <a:p>
            <a:r>
              <a:rPr lang="en-US" dirty="0"/>
              <a:t>Monoclonal antibodies are expected to be developed to detect specific filarial antigens in blood or urine</a:t>
            </a:r>
          </a:p>
          <a:p>
            <a:r>
              <a:rPr lang="en-US" dirty="0"/>
              <a:t>The finding of circulating antigens is an indication of active infection though their absence does not exclude infection since they may have become bound to antibodies, forming immune complexes.</a:t>
            </a:r>
          </a:p>
          <a:p>
            <a:endParaRPr lang="en-US" dirty="0"/>
          </a:p>
        </p:txBody>
      </p:sp>
    </p:spTree>
    <p:extLst>
      <p:ext uri="{BB962C8B-B14F-4D97-AF65-F5344CB8AC3E}">
        <p14:creationId xmlns:p14="http://schemas.microsoft.com/office/powerpoint/2010/main" val="3916180694"/>
      </p:ext>
    </p:extLst>
  </p:cSld>
  <p:clrMapOvr>
    <a:masterClrMapping/>
  </p:clrMapOvr>
</p:sld>
</file>

<file path=ppt/slides/slide6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Non-Filarial Elephantiasis</a:t>
            </a:r>
            <a:br>
              <a:rPr lang="en-US" dirty="0"/>
            </a:br>
            <a:endParaRPr lang="en-US" dirty="0"/>
          </a:p>
        </p:txBody>
      </p:sp>
      <p:sp>
        <p:nvSpPr>
          <p:cNvPr id="3" name="Content Placeholder 2"/>
          <p:cNvSpPr>
            <a:spLocks noGrp="1"/>
          </p:cNvSpPr>
          <p:nvPr>
            <p:ph idx="1"/>
          </p:nvPr>
        </p:nvSpPr>
        <p:spPr/>
        <p:txBody>
          <a:bodyPr>
            <a:normAutofit lnSpcReduction="10000"/>
          </a:bodyPr>
          <a:lstStyle/>
          <a:p>
            <a:pPr>
              <a:buFont typeface="Wingdings" pitchFamily="2" charset="2"/>
              <a:buChar char="v"/>
            </a:pPr>
            <a:r>
              <a:rPr lang="en-US" dirty="0"/>
              <a:t>There are reports of </a:t>
            </a:r>
            <a:r>
              <a:rPr lang="en-US" dirty="0" err="1"/>
              <a:t>filiariasis</a:t>
            </a:r>
            <a:r>
              <a:rPr lang="en-US" dirty="0"/>
              <a:t> due to causes other than filarial worms. </a:t>
            </a:r>
          </a:p>
          <a:p>
            <a:pPr>
              <a:buFont typeface="Wingdings" pitchFamily="2" charset="2"/>
              <a:buChar char="v"/>
            </a:pPr>
            <a:r>
              <a:rPr lang="en-US" dirty="0"/>
              <a:t>Such causes include Tuberculosis and Siliceous deposits.</a:t>
            </a:r>
          </a:p>
          <a:p>
            <a:pPr>
              <a:buFont typeface="Wingdings" pitchFamily="2" charset="2"/>
              <a:buChar char="v"/>
            </a:pPr>
            <a:r>
              <a:rPr lang="en-US" dirty="0"/>
              <a:t>Cases of such </a:t>
            </a:r>
            <a:r>
              <a:rPr lang="en-US" dirty="0" err="1"/>
              <a:t>filariasis</a:t>
            </a:r>
            <a:r>
              <a:rPr lang="en-US" dirty="0"/>
              <a:t> are reported to be endemic in tropical countries, especially east-southern African countries and some West African countries and in India.</a:t>
            </a:r>
          </a:p>
          <a:p>
            <a:pPr>
              <a:buFont typeface="Wingdings" pitchFamily="2" charset="2"/>
              <a:buChar char="v"/>
            </a:pPr>
            <a:r>
              <a:rPr lang="en-US" dirty="0"/>
              <a:t> Usually, the lower legs are affected. </a:t>
            </a:r>
          </a:p>
        </p:txBody>
      </p:sp>
    </p:spTree>
    <p:extLst>
      <p:ext uri="{BB962C8B-B14F-4D97-AF65-F5344CB8AC3E}">
        <p14:creationId xmlns:p14="http://schemas.microsoft.com/office/powerpoint/2010/main" val="3867388500"/>
      </p:ext>
    </p:extLst>
  </p:cSld>
  <p:clrMapOvr>
    <a:masterClrMapping/>
  </p:clrMapOvr>
</p:sld>
</file>

<file path=ppt/slides/slide6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Non-Filarial Elephantiasis cont’d</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There is damage to the </a:t>
            </a:r>
            <a:r>
              <a:rPr lang="en-US" dirty="0" err="1"/>
              <a:t>lymphatics</a:t>
            </a:r>
            <a:r>
              <a:rPr lang="en-US" dirty="0"/>
              <a:t> of the region and obstruction when the deposits are absorbed from the soil through the </a:t>
            </a:r>
            <a:r>
              <a:rPr lang="en-US" dirty="0" err="1"/>
              <a:t>barefeet</a:t>
            </a:r>
            <a:r>
              <a:rPr lang="en-US" dirty="0"/>
              <a:t>.</a:t>
            </a:r>
          </a:p>
          <a:p>
            <a:endParaRPr lang="en-US" dirty="0"/>
          </a:p>
        </p:txBody>
      </p:sp>
    </p:spTree>
    <p:extLst>
      <p:ext uri="{BB962C8B-B14F-4D97-AF65-F5344CB8AC3E}">
        <p14:creationId xmlns:p14="http://schemas.microsoft.com/office/powerpoint/2010/main" val="1075378437"/>
      </p:ext>
    </p:extLst>
  </p:cSld>
  <p:clrMapOvr>
    <a:masterClrMapping/>
  </p:clrMapOvr>
</p:sld>
</file>

<file path=ppt/slides/slide6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Occult </a:t>
            </a:r>
            <a:r>
              <a:rPr lang="en-US" b="1" dirty="0" err="1"/>
              <a:t>Filariasis</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This is a rare condition thought to be caused by a hypersensitivity reaction to </a:t>
            </a:r>
            <a:r>
              <a:rPr lang="en-US" dirty="0" err="1"/>
              <a:t>microfilarial</a:t>
            </a:r>
            <a:r>
              <a:rPr lang="en-US" dirty="0"/>
              <a:t> antigens.</a:t>
            </a:r>
          </a:p>
          <a:p>
            <a:pPr>
              <a:buFont typeface="Wingdings" pitchFamily="2" charset="2"/>
              <a:buChar char="v"/>
            </a:pPr>
            <a:r>
              <a:rPr lang="en-US" dirty="0"/>
              <a:t> The symptoms of lymphatic </a:t>
            </a:r>
            <a:r>
              <a:rPr lang="en-US" dirty="0" err="1"/>
              <a:t>filariasis</a:t>
            </a:r>
            <a:r>
              <a:rPr lang="en-US" dirty="0"/>
              <a:t> are not present and microfilariae are not found in the blood.</a:t>
            </a:r>
          </a:p>
          <a:p>
            <a:endParaRPr lang="en-US" dirty="0"/>
          </a:p>
        </p:txBody>
      </p:sp>
    </p:spTree>
    <p:extLst>
      <p:ext uri="{BB962C8B-B14F-4D97-AF65-F5344CB8AC3E}">
        <p14:creationId xmlns:p14="http://schemas.microsoft.com/office/powerpoint/2010/main" val="2868338650"/>
      </p:ext>
    </p:extLst>
  </p:cSld>
  <p:clrMapOvr>
    <a:masterClrMapping/>
  </p:clrMapOvr>
</p:sld>
</file>

<file path=ppt/slides/slide6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Tropical Pulmonary Eosinophilia</a:t>
            </a:r>
            <a:br>
              <a:rPr lang="en-US" dirty="0"/>
            </a:br>
            <a:endParaRPr lang="en-US" dirty="0"/>
          </a:p>
        </p:txBody>
      </p:sp>
      <p:sp>
        <p:nvSpPr>
          <p:cNvPr id="3" name="Content Placeholder 2"/>
          <p:cNvSpPr>
            <a:spLocks noGrp="1"/>
          </p:cNvSpPr>
          <p:nvPr>
            <p:ph idx="1"/>
          </p:nvPr>
        </p:nvSpPr>
        <p:spPr/>
        <p:txBody>
          <a:bodyPr/>
          <a:lstStyle/>
          <a:p>
            <a:pPr>
              <a:buFont typeface="Wingdings" pitchFamily="2" charset="2"/>
              <a:buChar char="v"/>
            </a:pPr>
            <a:r>
              <a:rPr lang="en-US" dirty="0"/>
              <a:t>This is a form of occult </a:t>
            </a:r>
            <a:r>
              <a:rPr lang="en-US" dirty="0" err="1"/>
              <a:t>filariasis</a:t>
            </a:r>
            <a:r>
              <a:rPr lang="en-US" dirty="0"/>
              <a:t> in which there is a hypersensitive reaction to microfilariae present in the lung and lymphatic tissues</a:t>
            </a:r>
          </a:p>
          <a:p>
            <a:pPr>
              <a:buFont typeface="Wingdings" pitchFamily="2" charset="2"/>
              <a:buChar char="v"/>
            </a:pPr>
            <a:r>
              <a:rPr lang="en-US" dirty="0"/>
              <a:t>It is found particularly in </a:t>
            </a:r>
            <a:r>
              <a:rPr lang="en-US" dirty="0" err="1"/>
              <a:t>filariasis</a:t>
            </a:r>
            <a:r>
              <a:rPr lang="en-US" dirty="0"/>
              <a:t> endemic areas of India, and South-East Asia, affecting both children and adults with males being more commonly affected than females.</a:t>
            </a:r>
          </a:p>
          <a:p>
            <a:endParaRPr lang="en-US" dirty="0"/>
          </a:p>
        </p:txBody>
      </p:sp>
    </p:spTree>
    <p:extLst>
      <p:ext uri="{BB962C8B-B14F-4D97-AF65-F5344CB8AC3E}">
        <p14:creationId xmlns:p14="http://schemas.microsoft.com/office/powerpoint/2010/main" val="457251024"/>
      </p:ext>
    </p:extLst>
  </p:cSld>
  <p:clrMapOvr>
    <a:masterClrMapping/>
  </p:clrMapOvr>
</p:sld>
</file>

<file path=ppt/slides/slide6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Tropical Pulmonary Eosinophilia cont’d</a:t>
            </a:r>
            <a:br>
              <a:rPr lang="en-US" dirty="0"/>
            </a:br>
            <a:endParaRPr lang="en-US" dirty="0"/>
          </a:p>
        </p:txBody>
      </p:sp>
      <p:sp>
        <p:nvSpPr>
          <p:cNvPr id="3" name="Content Placeholder 2"/>
          <p:cNvSpPr>
            <a:spLocks noGrp="1"/>
          </p:cNvSpPr>
          <p:nvPr>
            <p:ph idx="1"/>
          </p:nvPr>
        </p:nvSpPr>
        <p:spPr/>
        <p:txBody>
          <a:bodyPr/>
          <a:lstStyle/>
          <a:p>
            <a:r>
              <a:rPr lang="en-US" dirty="0"/>
              <a:t>It interferes with breathing and can lead to chronic pulmonary fibrosis. Symptoms are worse at night.</a:t>
            </a:r>
          </a:p>
          <a:p>
            <a:r>
              <a:rPr lang="en-US" dirty="0"/>
              <a:t> There is marked eosinophilia, raised ESR and high levels of filarial antibody including </a:t>
            </a:r>
            <a:r>
              <a:rPr lang="en-US" dirty="0" err="1"/>
              <a:t>IgE</a:t>
            </a:r>
            <a:r>
              <a:rPr lang="en-US" dirty="0"/>
              <a:t>. </a:t>
            </a:r>
            <a:r>
              <a:rPr lang="en-US" dirty="0" err="1"/>
              <a:t>Eosinophils</a:t>
            </a:r>
            <a:r>
              <a:rPr lang="en-US" dirty="0"/>
              <a:t> often appear vacuolated.</a:t>
            </a:r>
          </a:p>
          <a:p>
            <a:endParaRPr lang="en-US" dirty="0"/>
          </a:p>
        </p:txBody>
      </p:sp>
    </p:spTree>
    <p:extLst>
      <p:ext uri="{BB962C8B-B14F-4D97-AF65-F5344CB8AC3E}">
        <p14:creationId xmlns:p14="http://schemas.microsoft.com/office/powerpoint/2010/main" val="3408923128"/>
      </p:ext>
    </p:extLst>
  </p:cSld>
  <p:clrMapOvr>
    <a:masterClrMapping/>
  </p:clrMapOvr>
</p:sld>
</file>

<file path=ppt/slides/slide6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Examination of Blood for </a:t>
            </a:r>
            <a:r>
              <a:rPr lang="en-US" b="1" i="1" dirty="0"/>
              <a:t>W. </a:t>
            </a:r>
            <a:r>
              <a:rPr lang="en-US" b="1" i="1" dirty="0" err="1"/>
              <a:t>bancrofti</a:t>
            </a:r>
            <a:r>
              <a:rPr lang="en-US" b="1" dirty="0"/>
              <a:t> microfilariae</a:t>
            </a:r>
            <a:br>
              <a:rPr lang="en-US" dirty="0"/>
            </a:br>
            <a:endParaRPr lang="en-US" dirty="0"/>
          </a:p>
        </p:txBody>
      </p:sp>
      <p:sp>
        <p:nvSpPr>
          <p:cNvPr id="3" name="Content Placeholder 2"/>
          <p:cNvSpPr>
            <a:spLocks noGrp="1"/>
          </p:cNvSpPr>
          <p:nvPr>
            <p:ph idx="1"/>
          </p:nvPr>
        </p:nvSpPr>
        <p:spPr/>
        <p:txBody>
          <a:bodyPr>
            <a:normAutofit/>
          </a:bodyPr>
          <a:lstStyle/>
          <a:p>
            <a:r>
              <a:rPr lang="en-US" dirty="0"/>
              <a:t>Microfilariae begin to appear in blood a year or more after infection. </a:t>
            </a:r>
          </a:p>
          <a:p>
            <a:r>
              <a:rPr lang="en-US" dirty="0"/>
              <a:t>They are rarely found when the </a:t>
            </a:r>
            <a:r>
              <a:rPr lang="en-US" dirty="0" err="1"/>
              <a:t>lymphatics</a:t>
            </a:r>
            <a:r>
              <a:rPr lang="en-US" dirty="0"/>
              <a:t> have become obstructed.</a:t>
            </a:r>
          </a:p>
          <a:p>
            <a:r>
              <a:rPr lang="en-US" dirty="0"/>
              <a:t>Blood must be collected during the hours when the greatest number of </a:t>
            </a:r>
            <a:r>
              <a:rPr lang="en-US" dirty="0" err="1"/>
              <a:t>mfs</a:t>
            </a:r>
            <a:r>
              <a:rPr lang="en-US" dirty="0"/>
              <a:t> are likely to be present in the peripheral blood, as follows:</a:t>
            </a:r>
          </a:p>
          <a:p>
            <a:endParaRPr lang="en-US" dirty="0"/>
          </a:p>
        </p:txBody>
      </p:sp>
    </p:spTree>
    <p:extLst>
      <p:ext uri="{BB962C8B-B14F-4D97-AF65-F5344CB8AC3E}">
        <p14:creationId xmlns:p14="http://schemas.microsoft.com/office/powerpoint/2010/main" val="3489692288"/>
      </p:ext>
    </p:extLst>
  </p:cSld>
  <p:clrMapOvr>
    <a:masterClrMapping/>
  </p:clrMapOvr>
</p:sld>
</file>

<file path=ppt/slides/slide6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Examination of Blood for </a:t>
            </a:r>
            <a:r>
              <a:rPr lang="en-US" b="1" i="1" dirty="0"/>
              <a:t>W. </a:t>
            </a:r>
            <a:r>
              <a:rPr lang="en-US" b="1" i="1" dirty="0" err="1"/>
              <a:t>bancrofti</a:t>
            </a:r>
            <a:r>
              <a:rPr lang="en-US" b="1" dirty="0"/>
              <a:t> microfilariae cont’d</a:t>
            </a:r>
            <a:br>
              <a:rPr lang="en-US" dirty="0"/>
            </a:br>
            <a:endParaRPr lang="en-US" dirty="0"/>
          </a:p>
        </p:txBody>
      </p:sp>
      <p:sp>
        <p:nvSpPr>
          <p:cNvPr id="3" name="Content Placeholder 2"/>
          <p:cNvSpPr>
            <a:spLocks noGrp="1"/>
          </p:cNvSpPr>
          <p:nvPr>
            <p:ph idx="1"/>
          </p:nvPr>
        </p:nvSpPr>
        <p:spPr/>
        <p:txBody>
          <a:bodyPr/>
          <a:lstStyle/>
          <a:p>
            <a:pPr marL="514350" lvl="0" indent="-514350">
              <a:buFont typeface="+mj-lt"/>
              <a:buAutoNum type="arabicPeriod"/>
            </a:pPr>
            <a:r>
              <a:rPr lang="en-US" dirty="0"/>
              <a:t>Periodic </a:t>
            </a:r>
            <a:r>
              <a:rPr lang="en-US" i="1" dirty="0"/>
              <a:t>W. </a:t>
            </a:r>
            <a:r>
              <a:rPr lang="en-US" i="1" dirty="0" err="1"/>
              <a:t>bancrofti</a:t>
            </a:r>
            <a:r>
              <a:rPr lang="en-US" i="1" dirty="0"/>
              <a:t> </a:t>
            </a:r>
            <a:r>
              <a:rPr lang="en-US" dirty="0"/>
              <a:t>22.00-04.00 (peak density 24.00)</a:t>
            </a:r>
          </a:p>
          <a:p>
            <a:pPr marL="514350" lvl="0" indent="-514350">
              <a:buFont typeface="+mj-lt"/>
              <a:buAutoNum type="arabicPeriod"/>
            </a:pPr>
            <a:r>
              <a:rPr lang="en-US" dirty="0" err="1"/>
              <a:t>Subperiodic</a:t>
            </a:r>
            <a:r>
              <a:rPr lang="en-US" dirty="0"/>
              <a:t> (nocturnal) </a:t>
            </a:r>
            <a:r>
              <a:rPr lang="en-US" i="1" dirty="0"/>
              <a:t>W. </a:t>
            </a:r>
            <a:r>
              <a:rPr lang="en-US" i="1" dirty="0" err="1"/>
              <a:t>bancrofti</a:t>
            </a:r>
            <a:r>
              <a:rPr lang="en-US" dirty="0"/>
              <a:t>	20.00-22.00 (peak density 21.00 </a:t>
            </a:r>
            <a:r>
              <a:rPr lang="en-US" dirty="0" err="1"/>
              <a:t>hrs</a:t>
            </a:r>
            <a:r>
              <a:rPr lang="en-US" dirty="0"/>
              <a:t>)</a:t>
            </a:r>
          </a:p>
          <a:p>
            <a:pPr marL="514350" lvl="0" indent="-514350">
              <a:buFont typeface="+mj-lt"/>
              <a:buAutoNum type="arabicPeriod"/>
            </a:pPr>
            <a:r>
              <a:rPr lang="en-US" dirty="0" err="1"/>
              <a:t>Subperiodic</a:t>
            </a:r>
            <a:r>
              <a:rPr lang="en-US" dirty="0"/>
              <a:t> (diurnal) </a:t>
            </a:r>
            <a:r>
              <a:rPr lang="en-US" i="1" dirty="0"/>
              <a:t>W. </a:t>
            </a:r>
            <a:r>
              <a:rPr lang="en-US" i="1" dirty="0" err="1"/>
              <a:t>bancrofti</a:t>
            </a:r>
            <a:r>
              <a:rPr lang="en-US" dirty="0"/>
              <a:t> 	14.00-18.00 (peak density 16.00 </a:t>
            </a:r>
            <a:r>
              <a:rPr lang="en-US" dirty="0" err="1"/>
              <a:t>hrs</a:t>
            </a:r>
            <a:r>
              <a:rPr lang="en-US" dirty="0"/>
              <a:t>)</a:t>
            </a:r>
          </a:p>
          <a:p>
            <a:endParaRPr lang="en-US" dirty="0"/>
          </a:p>
        </p:txBody>
      </p:sp>
    </p:spTree>
    <p:extLst>
      <p:ext uri="{BB962C8B-B14F-4D97-AF65-F5344CB8AC3E}">
        <p14:creationId xmlns:p14="http://schemas.microsoft.com/office/powerpoint/2010/main" val="2355487462"/>
      </p:ext>
    </p:extLst>
  </p:cSld>
  <p:clrMapOvr>
    <a:masterClrMapping/>
  </p:clrMapOvr>
</p:sld>
</file>

<file path=ppt/slides/slide6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Diagnosis (</a:t>
            </a:r>
            <a:r>
              <a:rPr lang="en-US" b="1" dirty="0" err="1"/>
              <a:t>Immunodiagnosis</a:t>
            </a:r>
            <a:r>
              <a:rPr lang="en-US" b="1" dirty="0"/>
              <a:t>)</a:t>
            </a:r>
            <a:br>
              <a:rPr lang="en-US" dirty="0"/>
            </a:br>
            <a:endParaRPr lang="en-US" dirty="0"/>
          </a:p>
        </p:txBody>
      </p:sp>
      <p:sp>
        <p:nvSpPr>
          <p:cNvPr id="3" name="Content Placeholder 2"/>
          <p:cNvSpPr>
            <a:spLocks noGrp="1"/>
          </p:cNvSpPr>
          <p:nvPr>
            <p:ph idx="1"/>
          </p:nvPr>
        </p:nvSpPr>
        <p:spPr/>
        <p:txBody>
          <a:bodyPr/>
          <a:lstStyle/>
          <a:p>
            <a:r>
              <a:rPr lang="en-US" dirty="0"/>
              <a:t>Tests are available, the most promising being Fluorescent Antibody Tests (FAT) and Enzyme Linked </a:t>
            </a:r>
            <a:r>
              <a:rPr lang="en-US" dirty="0" err="1"/>
              <a:t>Immunosorbent</a:t>
            </a:r>
            <a:r>
              <a:rPr lang="en-US" dirty="0"/>
              <a:t> Assay (ELISA) using </a:t>
            </a:r>
            <a:r>
              <a:rPr lang="en-US" i="1" dirty="0"/>
              <a:t>B. </a:t>
            </a:r>
            <a:r>
              <a:rPr lang="en-US" i="1" dirty="0" err="1"/>
              <a:t>pahangi</a:t>
            </a:r>
            <a:r>
              <a:rPr lang="en-US" dirty="0"/>
              <a:t> antigen.</a:t>
            </a:r>
          </a:p>
          <a:p>
            <a:endParaRPr lang="en-US" dirty="0"/>
          </a:p>
        </p:txBody>
      </p:sp>
    </p:spTree>
    <p:extLst>
      <p:ext uri="{BB962C8B-B14F-4D97-AF65-F5344CB8AC3E}">
        <p14:creationId xmlns:p14="http://schemas.microsoft.com/office/powerpoint/2010/main" val="3037378529"/>
      </p:ext>
    </p:extLst>
  </p:cSld>
  <p:clrMapOvr>
    <a:masterClrMapping/>
  </p:clrMapOvr>
</p:sld>
</file>

<file path=ppt/slides/slide6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Brugia</a:t>
            </a:r>
            <a:r>
              <a:rPr lang="en-US" b="1" i="1" dirty="0"/>
              <a:t> </a:t>
            </a:r>
            <a:r>
              <a:rPr lang="en-US" b="1" i="1" dirty="0" err="1"/>
              <a:t>malayi</a:t>
            </a:r>
            <a:br>
              <a:rPr lang="en-US" dirty="0"/>
            </a:br>
            <a:endParaRPr lang="en-US" dirty="0"/>
          </a:p>
        </p:txBody>
      </p:sp>
      <p:sp>
        <p:nvSpPr>
          <p:cNvPr id="3" name="Content Placeholder 2"/>
          <p:cNvSpPr>
            <a:spLocks noGrp="1"/>
          </p:cNvSpPr>
          <p:nvPr>
            <p:ph idx="1"/>
          </p:nvPr>
        </p:nvSpPr>
        <p:spPr>
          <a:xfrm>
            <a:off x="457200" y="1600200"/>
            <a:ext cx="8229600" cy="5105400"/>
          </a:xfrm>
        </p:spPr>
        <p:txBody>
          <a:bodyPr>
            <a:normAutofit fontScale="92500"/>
          </a:bodyPr>
          <a:lstStyle/>
          <a:p>
            <a:r>
              <a:rPr lang="en-US" dirty="0"/>
              <a:t>First noticed in 1927 in the Celebes (Sulawesi- a large island of Indonesia, east of Borneo) as microfilaria different from that of W. </a:t>
            </a:r>
            <a:r>
              <a:rPr lang="en-US" dirty="0" err="1"/>
              <a:t>bancrofti</a:t>
            </a:r>
            <a:r>
              <a:rPr lang="en-US" dirty="0"/>
              <a:t> in the blood of a native.</a:t>
            </a:r>
          </a:p>
          <a:p>
            <a:r>
              <a:rPr lang="en-US" dirty="0"/>
              <a:t>The adult form was found in India in 1940 and a year later in Indonesia. It is now found in humans in China, Korea, Japan, Southeast Asia, India, Six Lanka, the East Indies and the Philippines. </a:t>
            </a:r>
          </a:p>
          <a:p>
            <a:r>
              <a:rPr lang="en-US" dirty="0"/>
              <a:t>Much of its </a:t>
            </a:r>
            <a:r>
              <a:rPr lang="en-US" dirty="0" err="1"/>
              <a:t>distributon</a:t>
            </a:r>
            <a:r>
              <a:rPr lang="en-US" dirty="0"/>
              <a:t> overlaps that of W. </a:t>
            </a:r>
            <a:r>
              <a:rPr lang="en-US" dirty="0" err="1"/>
              <a:t>bancrofti</a:t>
            </a:r>
            <a:r>
              <a:rPr lang="en-US" dirty="0"/>
              <a:t>.</a:t>
            </a:r>
          </a:p>
          <a:p>
            <a:endParaRPr lang="en-US" dirty="0"/>
          </a:p>
        </p:txBody>
      </p:sp>
    </p:spTree>
    <p:extLst>
      <p:ext uri="{BB962C8B-B14F-4D97-AF65-F5344CB8AC3E}">
        <p14:creationId xmlns:p14="http://schemas.microsoft.com/office/powerpoint/2010/main" val="436468801"/>
      </p:ext>
    </p:extLst>
  </p:cSld>
  <p:clrMapOvr>
    <a:masterClrMapping/>
  </p:clrMapOvr>
</p:sld>
</file>

<file path=ppt/slides/slide6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br>
              <a:rPr lang="en-US" b="1" i="1" dirty="0"/>
            </a:br>
            <a:r>
              <a:rPr lang="en-US" b="1" i="1" dirty="0" err="1"/>
              <a:t>Brugia</a:t>
            </a:r>
            <a:r>
              <a:rPr lang="en-US" b="1" i="1" dirty="0"/>
              <a:t> </a:t>
            </a:r>
            <a:r>
              <a:rPr lang="en-US" b="1" i="1" dirty="0" err="1"/>
              <a:t>malayi</a:t>
            </a:r>
            <a:r>
              <a:rPr lang="en-US" b="1" i="1" dirty="0"/>
              <a:t> cont’d</a:t>
            </a:r>
            <a:br>
              <a:rPr lang="en-US" dirty="0"/>
            </a:b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Morphology</a:t>
            </a:r>
            <a:endParaRPr lang="en-US" dirty="0"/>
          </a:p>
          <a:p>
            <a:r>
              <a:rPr lang="en-US" dirty="0"/>
              <a:t>Similar to that of W. </a:t>
            </a:r>
            <a:r>
              <a:rPr lang="en-US" dirty="0" err="1"/>
              <a:t>bancrofti</a:t>
            </a:r>
            <a:r>
              <a:rPr lang="en-US" dirty="0"/>
              <a:t>, however, the size is only about half as large</a:t>
            </a:r>
          </a:p>
          <a:p>
            <a:r>
              <a:rPr lang="en-US" dirty="0"/>
              <a:t>Males are 13.5-20.5 mm long and 70-80µm wide; the tail is curved </a:t>
            </a:r>
            <a:r>
              <a:rPr lang="en-US" dirty="0" err="1"/>
              <a:t>ventrad</a:t>
            </a:r>
            <a:r>
              <a:rPr lang="en-US" dirty="0"/>
              <a:t> and bears 3 or 4 </a:t>
            </a:r>
            <a:r>
              <a:rPr lang="en-US" dirty="0" err="1"/>
              <a:t>prs</a:t>
            </a:r>
            <a:r>
              <a:rPr lang="en-US" dirty="0"/>
              <a:t> of </a:t>
            </a:r>
            <a:r>
              <a:rPr lang="en-US" dirty="0" err="1"/>
              <a:t>adanal</a:t>
            </a:r>
            <a:r>
              <a:rPr lang="en-US" dirty="0"/>
              <a:t> and 3 or 4 </a:t>
            </a:r>
            <a:r>
              <a:rPr lang="en-US" dirty="0" err="1"/>
              <a:t>prs</a:t>
            </a:r>
            <a:r>
              <a:rPr lang="en-US" dirty="0"/>
              <a:t> of </a:t>
            </a:r>
            <a:r>
              <a:rPr lang="en-US" dirty="0" err="1"/>
              <a:t>postanal</a:t>
            </a:r>
            <a:r>
              <a:rPr lang="en-US" dirty="0"/>
              <a:t> papillae. </a:t>
            </a:r>
          </a:p>
          <a:p>
            <a:r>
              <a:rPr lang="en-US" dirty="0"/>
              <a:t>The spicules are unequal and dissimilar, and a small gubernaculums is present</a:t>
            </a:r>
          </a:p>
          <a:p>
            <a:endParaRPr lang="en-US" dirty="0"/>
          </a:p>
        </p:txBody>
      </p:sp>
    </p:spTree>
    <p:extLst>
      <p:ext uri="{BB962C8B-B14F-4D97-AF65-F5344CB8AC3E}">
        <p14:creationId xmlns:p14="http://schemas.microsoft.com/office/powerpoint/2010/main" val="1837235476"/>
      </p:ext>
    </p:extLst>
  </p:cSld>
  <p:clrMapOvr>
    <a:masterClrMapping/>
  </p:clrMapOvr>
</p:sld>
</file>

<file path=ppt/slides/slide6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br>
              <a:rPr lang="en-US" b="1" i="1" dirty="0"/>
            </a:br>
            <a:r>
              <a:rPr lang="en-US" b="1" i="1" dirty="0" err="1"/>
              <a:t>Brugia</a:t>
            </a:r>
            <a:r>
              <a:rPr lang="en-US" b="1" i="1" dirty="0"/>
              <a:t> </a:t>
            </a:r>
            <a:r>
              <a:rPr lang="en-US" b="1" i="1" dirty="0" err="1"/>
              <a:t>malayi</a:t>
            </a:r>
            <a:r>
              <a:rPr lang="en-US" b="1" i="1" dirty="0"/>
              <a:t> cont’d</a:t>
            </a:r>
            <a:br>
              <a:rPr lang="en-US" dirty="0"/>
            </a:br>
            <a:br>
              <a:rPr lang="en-US" dirty="0"/>
            </a:br>
            <a:endParaRPr lang="en-US" dirty="0"/>
          </a:p>
        </p:txBody>
      </p:sp>
      <p:sp>
        <p:nvSpPr>
          <p:cNvPr id="3" name="Content Placeholder 2"/>
          <p:cNvSpPr>
            <a:spLocks noGrp="1"/>
          </p:cNvSpPr>
          <p:nvPr>
            <p:ph idx="1"/>
          </p:nvPr>
        </p:nvSpPr>
        <p:spPr/>
        <p:txBody>
          <a:bodyPr/>
          <a:lstStyle/>
          <a:p>
            <a:r>
              <a:rPr lang="en-US" dirty="0"/>
              <a:t>Females are 80-100mm long and 240-300µm wide; the finger-like tail is covered with minute </a:t>
            </a:r>
            <a:r>
              <a:rPr lang="en-US" dirty="0" err="1"/>
              <a:t>cuticular</a:t>
            </a:r>
            <a:r>
              <a:rPr lang="en-US" dirty="0"/>
              <a:t> bosses. </a:t>
            </a:r>
          </a:p>
          <a:p>
            <a:r>
              <a:rPr lang="en-US" dirty="0"/>
              <a:t>The vulva is near the level of the middle of the esophagus.</a:t>
            </a:r>
          </a:p>
          <a:p>
            <a:endParaRPr lang="en-US" dirty="0"/>
          </a:p>
        </p:txBody>
      </p:sp>
    </p:spTree>
    <p:extLst>
      <p:ext uri="{BB962C8B-B14F-4D97-AF65-F5344CB8AC3E}">
        <p14:creationId xmlns:p14="http://schemas.microsoft.com/office/powerpoint/2010/main" val="2235700175"/>
      </p:ext>
    </p:extLst>
  </p:cSld>
  <p:clrMapOvr>
    <a:masterClrMapping/>
  </p:clrMapOvr>
</p:sld>
</file>

<file path=ppt/slides/slide6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br>
              <a:rPr lang="en-US" b="1" i="1" dirty="0"/>
            </a:br>
            <a:r>
              <a:rPr lang="en-US" b="1" i="1" dirty="0" err="1"/>
              <a:t>Brugia</a:t>
            </a:r>
            <a:r>
              <a:rPr lang="en-US" b="1" i="1" dirty="0"/>
              <a:t> </a:t>
            </a:r>
            <a:r>
              <a:rPr lang="en-US" b="1" i="1" dirty="0" err="1"/>
              <a:t>malayi</a:t>
            </a:r>
            <a:r>
              <a:rPr lang="en-US" b="1" i="1" dirty="0"/>
              <a:t> cont’d</a:t>
            </a:r>
            <a:br>
              <a:rPr lang="en-US" dirty="0"/>
            </a:b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Biology and Pathology</a:t>
            </a:r>
            <a:endParaRPr lang="en-US" dirty="0"/>
          </a:p>
          <a:p>
            <a:r>
              <a:rPr lang="en-US" dirty="0"/>
              <a:t>Life cycle nearly identical to that of W. </a:t>
            </a:r>
            <a:r>
              <a:rPr lang="en-US" dirty="0" err="1"/>
              <a:t>bancrofti</a:t>
            </a:r>
            <a:r>
              <a:rPr lang="en-US" dirty="0"/>
              <a:t> mosquitoes of the genera </a:t>
            </a:r>
            <a:r>
              <a:rPr lang="en-US" dirty="0" err="1"/>
              <a:t>Mansonia</a:t>
            </a:r>
            <a:r>
              <a:rPr lang="en-US" dirty="0"/>
              <a:t>, </a:t>
            </a:r>
            <a:r>
              <a:rPr lang="en-US" dirty="0" err="1"/>
              <a:t>Aedes</a:t>
            </a:r>
            <a:r>
              <a:rPr lang="en-US" dirty="0"/>
              <a:t> and </a:t>
            </a:r>
            <a:r>
              <a:rPr lang="en-US" dirty="0" err="1"/>
              <a:t>culex</a:t>
            </a:r>
            <a:r>
              <a:rPr lang="en-US" dirty="0"/>
              <a:t> are intermediate hosts.</a:t>
            </a:r>
          </a:p>
          <a:p>
            <a:r>
              <a:rPr lang="en-US" dirty="0"/>
              <a:t>Adults live in the </a:t>
            </a:r>
            <a:r>
              <a:rPr lang="en-US" dirty="0" err="1"/>
              <a:t>lymphatice</a:t>
            </a:r>
            <a:r>
              <a:rPr lang="en-US" dirty="0"/>
              <a:t> and cause the same disease symptoms as W. </a:t>
            </a:r>
            <a:r>
              <a:rPr lang="en-US" dirty="0" err="1"/>
              <a:t>bancrofti</a:t>
            </a:r>
            <a:r>
              <a:rPr lang="en-US" dirty="0"/>
              <a:t>, although elephantiasis, when it occurs, is more restricted to the legs; the genitalia are rarely affected.</a:t>
            </a:r>
          </a:p>
          <a:p>
            <a:endParaRPr lang="en-US" dirty="0"/>
          </a:p>
        </p:txBody>
      </p:sp>
    </p:spTree>
    <p:extLst>
      <p:ext uri="{BB962C8B-B14F-4D97-AF65-F5344CB8AC3E}">
        <p14:creationId xmlns:p14="http://schemas.microsoft.com/office/powerpoint/2010/main" val="454429022"/>
      </p:ext>
    </p:extLst>
  </p:cSld>
  <p:clrMapOvr>
    <a:masterClrMapping/>
  </p:clrMapOvr>
</p:sld>
</file>

<file path=ppt/slides/slide6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br>
              <a:rPr lang="en-US" b="1" i="1" dirty="0"/>
            </a:br>
            <a:r>
              <a:rPr lang="en-US" b="1" i="1" dirty="0" err="1"/>
              <a:t>Brugia</a:t>
            </a:r>
            <a:r>
              <a:rPr lang="en-US" b="1" i="1" dirty="0"/>
              <a:t> </a:t>
            </a:r>
            <a:r>
              <a:rPr lang="en-US" b="1" i="1" dirty="0" err="1"/>
              <a:t>malayi</a:t>
            </a:r>
            <a:r>
              <a:rPr lang="en-US" b="1" i="1" dirty="0"/>
              <a:t> cont’d</a:t>
            </a:r>
            <a:br>
              <a:rPr lang="en-US" dirty="0"/>
            </a:br>
            <a:br>
              <a:rPr lang="en-US" dirty="0"/>
            </a:br>
            <a:endParaRPr lang="en-US" dirty="0"/>
          </a:p>
        </p:txBody>
      </p:sp>
      <p:sp>
        <p:nvSpPr>
          <p:cNvPr id="3" name="Content Placeholder 2"/>
          <p:cNvSpPr>
            <a:spLocks noGrp="1"/>
          </p:cNvSpPr>
          <p:nvPr>
            <p:ph idx="1"/>
          </p:nvPr>
        </p:nvSpPr>
        <p:spPr>
          <a:xfrm>
            <a:off x="457200" y="1600200"/>
            <a:ext cx="8458200" cy="4525963"/>
          </a:xfrm>
        </p:spPr>
        <p:txBody>
          <a:bodyPr/>
          <a:lstStyle/>
          <a:p>
            <a:r>
              <a:rPr lang="en-US" dirty="0"/>
              <a:t>The mf. Is somewhat similar to that of </a:t>
            </a:r>
            <a:r>
              <a:rPr lang="en-US" dirty="0" err="1"/>
              <a:t>Wuchereria</a:t>
            </a:r>
            <a:r>
              <a:rPr lang="en-US" dirty="0"/>
              <a:t> but differentiated by having nuclei in the tail tip. </a:t>
            </a:r>
          </a:p>
          <a:p>
            <a:r>
              <a:rPr lang="en-US" dirty="0"/>
              <a:t>There are both periodic and </a:t>
            </a:r>
            <a:r>
              <a:rPr lang="en-US" dirty="0" err="1"/>
              <a:t>subperiodic</a:t>
            </a:r>
            <a:r>
              <a:rPr lang="en-US" dirty="0"/>
              <a:t> strains.</a:t>
            </a:r>
          </a:p>
          <a:p>
            <a:endParaRPr lang="en-US" dirty="0"/>
          </a:p>
        </p:txBody>
      </p:sp>
    </p:spTree>
    <p:extLst>
      <p:ext uri="{BB962C8B-B14F-4D97-AF65-F5344CB8AC3E}">
        <p14:creationId xmlns:p14="http://schemas.microsoft.com/office/powerpoint/2010/main" val="2032380265"/>
      </p:ext>
    </p:extLst>
  </p:cSld>
  <p:clrMapOvr>
    <a:masterClrMapping/>
  </p:clrMapOvr>
</p:sld>
</file>

<file path=ppt/slides/slide6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br>
              <a:rPr lang="en-US" b="1" i="1" dirty="0"/>
            </a:br>
            <a:r>
              <a:rPr lang="en-US" b="1" i="1" dirty="0" err="1"/>
              <a:t>Brugia</a:t>
            </a:r>
            <a:r>
              <a:rPr lang="en-US" b="1" i="1" dirty="0"/>
              <a:t> </a:t>
            </a:r>
            <a:r>
              <a:rPr lang="en-US" b="1" i="1" dirty="0" err="1"/>
              <a:t>malayi</a:t>
            </a:r>
            <a:r>
              <a:rPr lang="en-US" b="1" i="1" dirty="0"/>
              <a:t> cont’d</a:t>
            </a:r>
            <a:br>
              <a:rPr lang="en-US" dirty="0"/>
            </a:b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Diagnosis and Treatment</a:t>
            </a:r>
            <a:endParaRPr lang="en-US" dirty="0"/>
          </a:p>
          <a:p>
            <a:r>
              <a:rPr lang="en-US" dirty="0"/>
              <a:t>As for </a:t>
            </a:r>
            <a:r>
              <a:rPr lang="en-US" dirty="0" err="1"/>
              <a:t>Wuchereria</a:t>
            </a:r>
            <a:r>
              <a:rPr lang="en-US" dirty="0"/>
              <a:t> Control is primarily by eradication of the mosquito. </a:t>
            </a:r>
          </a:p>
          <a:p>
            <a:r>
              <a:rPr lang="en-US" dirty="0" err="1"/>
              <a:t>Mansonia</a:t>
            </a:r>
            <a:r>
              <a:rPr lang="en-US" dirty="0"/>
              <a:t>, the major vector in many areas can be eliminated with herbicides as the larvae depend on aquatic plants for their source of oxygen-the larvae pierce the stems of the aquatic vegetation to tap air.</a:t>
            </a:r>
          </a:p>
        </p:txBody>
      </p:sp>
    </p:spTree>
    <p:extLst>
      <p:ext uri="{BB962C8B-B14F-4D97-AF65-F5344CB8AC3E}">
        <p14:creationId xmlns:p14="http://schemas.microsoft.com/office/powerpoint/2010/main" val="2092907039"/>
      </p:ext>
    </p:extLst>
  </p:cSld>
  <p:clrMapOvr>
    <a:masterClrMapping/>
  </p:clrMapOvr>
</p:sld>
</file>

<file path=ppt/slides/slide6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br>
              <a:rPr lang="en-US" b="1" i="1" dirty="0"/>
            </a:br>
            <a:r>
              <a:rPr lang="en-US" b="1" i="1" dirty="0" err="1"/>
              <a:t>Brugia</a:t>
            </a:r>
            <a:r>
              <a:rPr lang="en-US" b="1" i="1" dirty="0"/>
              <a:t> </a:t>
            </a:r>
            <a:r>
              <a:rPr lang="en-US" b="1" i="1" dirty="0" err="1"/>
              <a:t>malayi</a:t>
            </a:r>
            <a:r>
              <a:rPr lang="en-US" b="1" i="1" dirty="0"/>
              <a:t> cont’d</a:t>
            </a:r>
            <a:br>
              <a:rPr lang="en-US" dirty="0"/>
            </a:br>
            <a:br>
              <a:rPr lang="en-US" dirty="0"/>
            </a:br>
            <a:endParaRPr lang="en-US" dirty="0"/>
          </a:p>
        </p:txBody>
      </p:sp>
      <p:sp>
        <p:nvSpPr>
          <p:cNvPr id="3" name="Content Placeholder 2"/>
          <p:cNvSpPr>
            <a:spLocks noGrp="1"/>
          </p:cNvSpPr>
          <p:nvPr>
            <p:ph idx="1"/>
          </p:nvPr>
        </p:nvSpPr>
        <p:spPr/>
        <p:txBody>
          <a:bodyPr/>
          <a:lstStyle/>
          <a:p>
            <a:r>
              <a:rPr lang="en-US" dirty="0"/>
              <a:t>There are other spp. of </a:t>
            </a:r>
            <a:r>
              <a:rPr lang="en-US" dirty="0" err="1"/>
              <a:t>Brugia</a:t>
            </a:r>
            <a:r>
              <a:rPr lang="en-US" dirty="0"/>
              <a:t> and these include B. </a:t>
            </a:r>
            <a:r>
              <a:rPr lang="en-US" dirty="0" err="1"/>
              <a:t>timori</a:t>
            </a:r>
            <a:r>
              <a:rPr lang="en-US" dirty="0"/>
              <a:t> in the lesser </a:t>
            </a:r>
            <a:r>
              <a:rPr lang="en-US" dirty="0" err="1"/>
              <a:t>Sunda</a:t>
            </a:r>
            <a:r>
              <a:rPr lang="en-US" dirty="0"/>
              <a:t> Islands of Southeast Indonesia and is transmitted by Anopheles </a:t>
            </a:r>
            <a:r>
              <a:rPr lang="en-US" dirty="0" err="1"/>
              <a:t>barbirostris</a:t>
            </a:r>
            <a:r>
              <a:rPr lang="en-US" dirty="0"/>
              <a:t>. </a:t>
            </a:r>
          </a:p>
          <a:p>
            <a:r>
              <a:rPr lang="en-US" dirty="0"/>
              <a:t>It shows nocturnal periodicity.</a:t>
            </a:r>
          </a:p>
          <a:p>
            <a:endParaRPr lang="en-US" dirty="0"/>
          </a:p>
          <a:p>
            <a:endParaRPr lang="en-US" dirty="0"/>
          </a:p>
        </p:txBody>
      </p:sp>
    </p:spTree>
    <p:extLst>
      <p:ext uri="{BB962C8B-B14F-4D97-AF65-F5344CB8AC3E}">
        <p14:creationId xmlns:p14="http://schemas.microsoft.com/office/powerpoint/2010/main" val="1734689707"/>
      </p:ext>
    </p:extLst>
  </p:cSld>
  <p:clrMapOvr>
    <a:masterClrMapping/>
  </p:clrMapOvr>
</p:sld>
</file>

<file path=ppt/slides/slide6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The filarial worm that causes </a:t>
            </a:r>
            <a:r>
              <a:rPr lang="en-US" dirty="0" err="1"/>
              <a:t>onchocerciasis</a:t>
            </a:r>
            <a:r>
              <a:rPr lang="en-US" dirty="0"/>
              <a:t> or river blindness. The disease is found in Africa, Arabia,</a:t>
            </a:r>
          </a:p>
          <a:p>
            <a:r>
              <a:rPr lang="en-US" dirty="0"/>
              <a:t> Guatemala, </a:t>
            </a:r>
            <a:r>
              <a:rPr lang="en-US" dirty="0" err="1"/>
              <a:t>Mexixo</a:t>
            </a:r>
            <a:r>
              <a:rPr lang="en-US" dirty="0"/>
              <a:t>, Venezuela and Columbia and may have a greater distribution, it being a cryptic disease that does not always manifest overt symptoms</a:t>
            </a:r>
          </a:p>
          <a:p>
            <a:r>
              <a:rPr lang="en-US" dirty="0"/>
              <a:t>Although </a:t>
            </a:r>
            <a:r>
              <a:rPr lang="en-US" dirty="0" err="1"/>
              <a:t>Onchocerciasis</a:t>
            </a:r>
            <a:r>
              <a:rPr lang="en-US" dirty="0"/>
              <a:t> is not a fatal disease it causes disfigurement and blindness in many cases.</a:t>
            </a:r>
          </a:p>
          <a:p>
            <a:endParaRPr lang="en-US" dirty="0"/>
          </a:p>
        </p:txBody>
      </p:sp>
    </p:spTree>
    <p:extLst>
      <p:ext uri="{BB962C8B-B14F-4D97-AF65-F5344CB8AC3E}">
        <p14:creationId xmlns:p14="http://schemas.microsoft.com/office/powerpoint/2010/main" val="356461049"/>
      </p:ext>
    </p:extLst>
  </p:cSld>
  <p:clrMapOvr>
    <a:masterClrMapping/>
  </p:clrMapOvr>
</p:sld>
</file>

<file path=ppt/slides/slide6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Morphology</a:t>
            </a:r>
            <a:endParaRPr lang="en-US" dirty="0"/>
          </a:p>
          <a:p>
            <a:r>
              <a:rPr lang="en-US" dirty="0"/>
              <a:t>Not very different from that of </a:t>
            </a:r>
            <a:r>
              <a:rPr lang="en-US" i="1" dirty="0"/>
              <a:t>W. </a:t>
            </a:r>
            <a:r>
              <a:rPr lang="en-US" i="1" dirty="0" err="1"/>
              <a:t>bancrofti</a:t>
            </a:r>
            <a:r>
              <a:rPr lang="en-US" dirty="0"/>
              <a:t>.</a:t>
            </a:r>
          </a:p>
          <a:p>
            <a:r>
              <a:rPr lang="en-US" dirty="0"/>
              <a:t>The worms are characteristically knotted together in pairs or groups in the subcutaneous tissues. </a:t>
            </a:r>
          </a:p>
          <a:p>
            <a:r>
              <a:rPr lang="en-US" dirty="0"/>
              <a:t>Lips and a </a:t>
            </a:r>
            <a:r>
              <a:rPr lang="en-US" dirty="0" err="1"/>
              <a:t>buccal</a:t>
            </a:r>
            <a:r>
              <a:rPr lang="en-US" dirty="0"/>
              <a:t> capsule are absent and two circles of four </a:t>
            </a:r>
            <a:r>
              <a:rPr lang="en-US" dirty="0" err="1"/>
              <a:t>papilae</a:t>
            </a:r>
            <a:r>
              <a:rPr lang="en-US" dirty="0"/>
              <a:t> each </a:t>
            </a:r>
            <a:r>
              <a:rPr lang="en-US" dirty="0" err="1"/>
              <a:t>surrrund</a:t>
            </a:r>
            <a:r>
              <a:rPr lang="en-US" dirty="0"/>
              <a:t> the mouth. </a:t>
            </a:r>
          </a:p>
          <a:p>
            <a:r>
              <a:rPr lang="en-US" dirty="0"/>
              <a:t>The esophagus is not conspicuously divided. </a:t>
            </a:r>
          </a:p>
        </p:txBody>
      </p:sp>
    </p:spTree>
    <p:extLst>
      <p:ext uri="{BB962C8B-B14F-4D97-AF65-F5344CB8AC3E}">
        <p14:creationId xmlns:p14="http://schemas.microsoft.com/office/powerpoint/2010/main" val="3776889084"/>
      </p:ext>
    </p:extLst>
  </p:cSld>
  <p:clrMapOvr>
    <a:masterClrMapping/>
  </p:clrMapOvr>
</p:sld>
</file>

<file path=ppt/slides/slide6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lstStyle/>
          <a:p>
            <a:r>
              <a:rPr lang="en-US" dirty="0"/>
              <a:t>Males are 19-42 cm long and 130-210µm wide; females are 33.5-50sm long by 270-400µm wide with the vulva just behind the posterior end of the esophagus.</a:t>
            </a:r>
          </a:p>
          <a:p>
            <a:r>
              <a:rPr lang="en-US" dirty="0"/>
              <a:t> The tail of the male is curbed </a:t>
            </a:r>
            <a:r>
              <a:rPr lang="en-US" dirty="0" err="1"/>
              <a:t>ventrad</a:t>
            </a:r>
            <a:r>
              <a:rPr lang="en-US" dirty="0"/>
              <a:t> and lacks </a:t>
            </a:r>
            <a:r>
              <a:rPr lang="en-US" dirty="0" err="1"/>
              <a:t>alae</a:t>
            </a:r>
            <a:r>
              <a:rPr lang="en-US" dirty="0"/>
              <a:t>; it bears four pairs of </a:t>
            </a:r>
            <a:r>
              <a:rPr lang="en-US" dirty="0" err="1"/>
              <a:t>adanal</a:t>
            </a:r>
            <a:r>
              <a:rPr lang="en-US" dirty="0"/>
              <a:t> and 6-8 </a:t>
            </a:r>
            <a:r>
              <a:rPr lang="en-US" dirty="0" err="1"/>
              <a:t>prs</a:t>
            </a:r>
            <a:r>
              <a:rPr lang="en-US" dirty="0"/>
              <a:t> of </a:t>
            </a:r>
            <a:r>
              <a:rPr lang="en-US" dirty="0" err="1"/>
              <a:t>postanal</a:t>
            </a:r>
            <a:r>
              <a:rPr lang="en-US" dirty="0"/>
              <a:t> papillae.</a:t>
            </a:r>
          </a:p>
          <a:p>
            <a:r>
              <a:rPr lang="en-US" dirty="0"/>
              <a:t>The mf are unsheathed.</a:t>
            </a:r>
          </a:p>
          <a:p>
            <a:endParaRPr lang="en-US" dirty="0"/>
          </a:p>
        </p:txBody>
      </p:sp>
    </p:spTree>
    <p:extLst>
      <p:ext uri="{BB962C8B-B14F-4D97-AF65-F5344CB8AC3E}">
        <p14:creationId xmlns:p14="http://schemas.microsoft.com/office/powerpoint/2010/main" val="889233817"/>
      </p:ext>
    </p:extLst>
  </p:cSld>
  <p:clrMapOvr>
    <a:masterClrMapping/>
  </p:clrMapOvr>
</p:sld>
</file>

<file path=ppt/slides/slide6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0" indent="0" algn="ctr">
              <a:buNone/>
            </a:pPr>
            <a:r>
              <a:rPr lang="en-US" b="1" dirty="0"/>
              <a:t>Biology</a:t>
            </a:r>
            <a:endParaRPr lang="en-US" dirty="0"/>
          </a:p>
          <a:p>
            <a:r>
              <a:rPr lang="en-US" dirty="0"/>
              <a:t>Adults worms locate under the skin, where they become encapsulated by host reactions. </a:t>
            </a:r>
          </a:p>
          <a:p>
            <a:r>
              <a:rPr lang="en-US" dirty="0"/>
              <a:t>Over a bone such as the skull or a joint such reaction results is the formation of a nodule. </a:t>
            </a:r>
          </a:p>
          <a:p>
            <a:r>
              <a:rPr lang="en-US" dirty="0"/>
              <a:t>In Africa most infections are below the waist, whereas in C. America they are usually above the waist. </a:t>
            </a:r>
          </a:p>
          <a:p>
            <a:r>
              <a:rPr lang="en-US" dirty="0"/>
              <a:t>This is probably an adaptation to the biting preferences of the areas where the insects prefer to bite.</a:t>
            </a:r>
          </a:p>
          <a:p>
            <a:endParaRPr lang="en-US" dirty="0"/>
          </a:p>
        </p:txBody>
      </p:sp>
    </p:spTree>
    <p:extLst>
      <p:ext uri="{BB962C8B-B14F-4D97-AF65-F5344CB8AC3E}">
        <p14:creationId xmlns:p14="http://schemas.microsoft.com/office/powerpoint/2010/main" val="433321542"/>
      </p:ext>
    </p:extLst>
  </p:cSld>
  <p:clrMapOvr>
    <a:masterClrMapping/>
  </p:clrMapOvr>
</p:sld>
</file>

<file path=ppt/slides/slide6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normAutofit fontScale="92500"/>
          </a:bodyPr>
          <a:lstStyle/>
          <a:p>
            <a:r>
              <a:rPr lang="en-US" dirty="0"/>
              <a:t>The unsheathed mf. remain in the skin, where they can be ingested by the black fly intermediate hosts </a:t>
            </a:r>
            <a:r>
              <a:rPr lang="en-US" i="1" dirty="0" err="1"/>
              <a:t>Simulium</a:t>
            </a:r>
            <a:r>
              <a:rPr lang="en-US" i="1" dirty="0"/>
              <a:t> spp. </a:t>
            </a:r>
          </a:p>
          <a:p>
            <a:r>
              <a:rPr lang="en-US" dirty="0"/>
              <a:t>The mouthparts of this insect are not adapted for deep piercing hence much of their food consists of tissue juices, which contain numerous mf. in infected persons.</a:t>
            </a:r>
          </a:p>
          <a:p>
            <a:r>
              <a:rPr lang="en-US" dirty="0"/>
              <a:t>The first stage juvenile migrates from the intestinal tract of the fly to its thoracic muscles. </a:t>
            </a:r>
          </a:p>
        </p:txBody>
      </p:sp>
    </p:spTree>
    <p:extLst>
      <p:ext uri="{BB962C8B-B14F-4D97-AF65-F5344CB8AC3E}">
        <p14:creationId xmlns:p14="http://schemas.microsoft.com/office/powerpoint/2010/main" val="3535529941"/>
      </p:ext>
    </p:extLst>
  </p:cSld>
  <p:clrMapOvr>
    <a:masterClrMapping/>
  </p:clrMapOvr>
</p:sld>
</file>

<file path=ppt/slides/slide6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normAutofit/>
          </a:bodyPr>
          <a:lstStyle/>
          <a:p>
            <a:r>
              <a:rPr lang="en-US" dirty="0"/>
              <a:t>There it </a:t>
            </a:r>
            <a:r>
              <a:rPr lang="en-US" dirty="0" err="1"/>
              <a:t>moults</a:t>
            </a:r>
            <a:r>
              <a:rPr lang="en-US" dirty="0"/>
              <a:t> to the sausage stage and then </a:t>
            </a:r>
            <a:r>
              <a:rPr lang="en-US" dirty="0" err="1"/>
              <a:t>moults</a:t>
            </a:r>
            <a:r>
              <a:rPr lang="en-US" dirty="0"/>
              <a:t> again to the infective </a:t>
            </a:r>
            <a:r>
              <a:rPr lang="en-US" dirty="0" err="1"/>
              <a:t>filariform</a:t>
            </a:r>
            <a:r>
              <a:rPr lang="en-US" dirty="0"/>
              <a:t> stage.</a:t>
            </a:r>
          </a:p>
          <a:p>
            <a:r>
              <a:rPr lang="en-US" dirty="0"/>
              <a:t>The </a:t>
            </a:r>
            <a:r>
              <a:rPr lang="en-US" dirty="0" err="1"/>
              <a:t>filariform</a:t>
            </a:r>
            <a:r>
              <a:rPr lang="en-US" dirty="0"/>
              <a:t> juvenile moves to the labium of the fly and can infect a new host when the insect next feeds. </a:t>
            </a:r>
          </a:p>
          <a:p>
            <a:r>
              <a:rPr lang="en-US" dirty="0"/>
              <a:t>Mature worms appear in the skin in less than a year.</a:t>
            </a:r>
          </a:p>
        </p:txBody>
      </p:sp>
    </p:spTree>
    <p:extLst>
      <p:ext uri="{BB962C8B-B14F-4D97-AF65-F5344CB8AC3E}">
        <p14:creationId xmlns:p14="http://schemas.microsoft.com/office/powerpoint/2010/main" val="3534822737"/>
      </p:ext>
    </p:extLst>
  </p:cSld>
  <p:clrMapOvr>
    <a:masterClrMapping/>
  </p:clrMapOvr>
</p:sld>
</file>

<file path=ppt/slides/slide6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normAutofit/>
          </a:bodyPr>
          <a:lstStyle/>
          <a:p>
            <a:r>
              <a:rPr lang="en-US" dirty="0"/>
              <a:t>The parasite, believed to have been introduced into the Americas with the slave trade, has since mutated sufficiently to cause different clinical symptoms in its definitive host and to differ in its infectivity to various vectors and </a:t>
            </a:r>
            <a:r>
              <a:rPr lang="en-US" dirty="0" err="1"/>
              <a:t>lab.animals</a:t>
            </a:r>
            <a:r>
              <a:rPr lang="en-US" dirty="0"/>
              <a:t>- </a:t>
            </a:r>
          </a:p>
          <a:p>
            <a:r>
              <a:rPr lang="en-US" dirty="0"/>
              <a:t>An indication of the mutability of </a:t>
            </a:r>
            <a:r>
              <a:rPr lang="en-US" dirty="0" err="1"/>
              <a:t>dioecious</a:t>
            </a:r>
            <a:r>
              <a:rPr lang="en-US" dirty="0"/>
              <a:t> parasites with high reproductive capacity. </a:t>
            </a:r>
          </a:p>
          <a:p>
            <a:endParaRPr lang="en-US" dirty="0"/>
          </a:p>
          <a:p>
            <a:endParaRPr lang="en-US" dirty="0"/>
          </a:p>
        </p:txBody>
      </p:sp>
    </p:spTree>
    <p:extLst>
      <p:ext uri="{BB962C8B-B14F-4D97-AF65-F5344CB8AC3E}">
        <p14:creationId xmlns:p14="http://schemas.microsoft.com/office/powerpoint/2010/main" val="2469998311"/>
      </p:ext>
    </p:extLst>
  </p:cSld>
  <p:clrMapOvr>
    <a:masterClrMapping/>
  </p:clrMapOvr>
</p:sld>
</file>

<file path=ppt/slides/slide6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lstStyle/>
          <a:p>
            <a:r>
              <a:rPr lang="en-US" dirty="0"/>
              <a:t>The parasite  is expanding in its distribution.</a:t>
            </a:r>
          </a:p>
          <a:p>
            <a:r>
              <a:rPr lang="en-US" dirty="0"/>
              <a:t>Humans, however, appears to be the only natural definitive host for O. </a:t>
            </a:r>
            <a:r>
              <a:rPr lang="en-US" dirty="0" err="1"/>
              <a:t>vovulus</a:t>
            </a:r>
            <a:r>
              <a:rPr lang="en-US" dirty="0"/>
              <a:t>.</a:t>
            </a:r>
          </a:p>
          <a:p>
            <a:endParaRPr lang="en-US" dirty="0"/>
          </a:p>
        </p:txBody>
      </p:sp>
    </p:spTree>
    <p:extLst>
      <p:ext uri="{BB962C8B-B14F-4D97-AF65-F5344CB8AC3E}">
        <p14:creationId xmlns:p14="http://schemas.microsoft.com/office/powerpoint/2010/main" val="2288861279"/>
      </p:ext>
    </p:extLst>
  </p:cSld>
  <p:clrMapOvr>
    <a:masterClrMapping/>
  </p:clrMapOvr>
</p:sld>
</file>

<file path=ppt/slides/slide6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err="1"/>
              <a:t>Epidermiology</a:t>
            </a:r>
            <a:endParaRPr lang="en-US" dirty="0"/>
          </a:p>
          <a:p>
            <a:r>
              <a:rPr lang="en-US" dirty="0" err="1"/>
              <a:t>Simulium</a:t>
            </a:r>
            <a:r>
              <a:rPr lang="en-US" dirty="0"/>
              <a:t> </a:t>
            </a:r>
            <a:r>
              <a:rPr lang="en-US" dirty="0" err="1"/>
              <a:t>spp</a:t>
            </a:r>
            <a:r>
              <a:rPr lang="en-US" dirty="0"/>
              <a:t> live their larval stages only in clear, fast-flowing streams.</a:t>
            </a:r>
          </a:p>
          <a:p>
            <a:r>
              <a:rPr lang="en-US" dirty="0"/>
              <a:t>The adult flies survive only where there is high humidity and plenty of streamside vegetation.</a:t>
            </a:r>
          </a:p>
          <a:p>
            <a:r>
              <a:rPr lang="en-US" dirty="0"/>
              <a:t>Wild caught blackflies are often infected with a variety of species of </a:t>
            </a:r>
            <a:r>
              <a:rPr lang="en-US" dirty="0" err="1"/>
              <a:t>filarids</a:t>
            </a:r>
            <a:r>
              <a:rPr lang="en-US" dirty="0"/>
              <a:t>, most of which are slice unidentified, but in areas endemic with O. volvulus the juveniles can often be recognized as that species.</a:t>
            </a:r>
          </a:p>
          <a:p>
            <a:endParaRPr lang="en-US" dirty="0"/>
          </a:p>
        </p:txBody>
      </p:sp>
    </p:spTree>
    <p:extLst>
      <p:ext uri="{BB962C8B-B14F-4D97-AF65-F5344CB8AC3E}">
        <p14:creationId xmlns:p14="http://schemas.microsoft.com/office/powerpoint/2010/main" val="2703236523"/>
      </p:ext>
    </p:extLst>
  </p:cSld>
  <p:clrMapOvr>
    <a:masterClrMapping/>
  </p:clrMapOvr>
</p:sld>
</file>

<file path=ppt/slides/slide6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lstStyle/>
          <a:p>
            <a:r>
              <a:rPr lang="en-US" dirty="0"/>
              <a:t>That foci of </a:t>
            </a:r>
            <a:r>
              <a:rPr lang="en-US" dirty="0" err="1"/>
              <a:t>onchocerciasis</a:t>
            </a:r>
            <a:r>
              <a:rPr lang="en-US" dirty="0"/>
              <a:t> occur in the arid savannah of West Africa and the desert areas along the Nile near the Egypt-Sudan border is surprising.</a:t>
            </a:r>
          </a:p>
          <a:p>
            <a:r>
              <a:rPr lang="en-US" dirty="0"/>
              <a:t> It probably depends on adaptations for survival of the blackfly.</a:t>
            </a:r>
          </a:p>
          <a:p>
            <a:endParaRPr lang="en-US" dirty="0"/>
          </a:p>
        </p:txBody>
      </p:sp>
    </p:spTree>
    <p:extLst>
      <p:ext uri="{BB962C8B-B14F-4D97-AF65-F5344CB8AC3E}">
        <p14:creationId xmlns:p14="http://schemas.microsoft.com/office/powerpoint/2010/main" val="368576310"/>
      </p:ext>
    </p:extLst>
  </p:cSld>
  <p:clrMapOvr>
    <a:masterClrMapping/>
  </p:clrMapOvr>
</p:sld>
</file>

<file path=ppt/slides/slide6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Pathogenesis</a:t>
            </a:r>
            <a:endParaRPr lang="en-US" dirty="0"/>
          </a:p>
          <a:p>
            <a:r>
              <a:rPr lang="en-US" dirty="0"/>
              <a:t>Both adult worms and mf. Contribute to the pathogenesis; the adult, however, causes less </a:t>
            </a:r>
            <a:r>
              <a:rPr lang="en-US" dirty="0" err="1"/>
              <a:t>pathogy</a:t>
            </a:r>
            <a:r>
              <a:rPr lang="en-US" dirty="0"/>
              <a:t>, often with no symptoms whatever and, at the worst, stimulating the growth of palpable subcutaneous nodules called ONCHOCERCOMAS, esp. over bony prominences.</a:t>
            </a:r>
          </a:p>
          <a:p>
            <a:r>
              <a:rPr lang="en-US" dirty="0"/>
              <a:t>In the African these nodules are most frequent in the pelvic area, with a few along the spine, chest, and knees. </a:t>
            </a:r>
          </a:p>
        </p:txBody>
      </p:sp>
    </p:spTree>
    <p:extLst>
      <p:ext uri="{BB962C8B-B14F-4D97-AF65-F5344CB8AC3E}">
        <p14:creationId xmlns:p14="http://schemas.microsoft.com/office/powerpoint/2010/main" val="905537331"/>
      </p:ext>
    </p:extLst>
  </p:cSld>
  <p:clrMapOvr>
    <a:masterClrMapping/>
  </p:clrMapOvr>
</p:sld>
</file>

<file path=ppt/slides/slide6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r>
              <a:rPr lang="en-US"/>
              <a:t>In C. America the nodules are mostly above the waist esp. on the neck and head.</a:t>
            </a:r>
          </a:p>
          <a:p>
            <a:r>
              <a:rPr lang="en-US"/>
              <a:t> These nodules are rel. benign, causing some disfigurement but no pain or ill health. </a:t>
            </a:r>
          </a:p>
          <a:p>
            <a:r>
              <a:rPr lang="en-US"/>
              <a:t>The no. of nodules may vary from one to well over a hundred. </a:t>
            </a:r>
          </a:p>
          <a:p>
            <a:r>
              <a:rPr lang="en-US"/>
              <a:t>They consist of collagen fibers surrounding one to several adult worms. </a:t>
            </a:r>
          </a:p>
          <a:p>
            <a:r>
              <a:rPr lang="en-US"/>
              <a:t>Rarely the nodule will degenerate to form an abscess, or the worm will become calcified.</a:t>
            </a:r>
            <a:endParaRPr lang="en-US" dirty="0"/>
          </a:p>
        </p:txBody>
      </p:sp>
    </p:spTree>
    <p:extLst>
      <p:ext uri="{BB962C8B-B14F-4D97-AF65-F5344CB8AC3E}">
        <p14:creationId xmlns:p14="http://schemas.microsoft.com/office/powerpoint/2010/main" val="698064270"/>
      </p:ext>
    </p:extLst>
  </p:cSld>
  <p:clrMapOvr>
    <a:masterClrMapping/>
  </p:clrMapOvr>
</p:sld>
</file>

<file path=ppt/slides/slide6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a:xfrm>
            <a:off x="457200" y="1600200"/>
            <a:ext cx="8229600" cy="4876800"/>
          </a:xfrm>
        </p:spPr>
        <p:txBody>
          <a:bodyPr>
            <a:normAutofit lnSpcReduction="10000"/>
          </a:bodyPr>
          <a:lstStyle/>
          <a:p>
            <a:r>
              <a:rPr lang="en-US" dirty="0"/>
              <a:t>The parasite sometimes causes true elephantiasis and ‘hanging groin’ in some areas of Africa:</a:t>
            </a:r>
          </a:p>
          <a:p>
            <a:r>
              <a:rPr lang="en-US" dirty="0"/>
              <a:t> A loss of elasticity of the skin causes a sagging of the groin into pendulous sacs, often containing lymph nodes. </a:t>
            </a:r>
          </a:p>
          <a:p>
            <a:r>
              <a:rPr lang="en-US" dirty="0"/>
              <a:t>The testes and scrotum are not affected and hydrocele is not present. </a:t>
            </a:r>
          </a:p>
          <a:p>
            <a:r>
              <a:rPr lang="en-US" dirty="0"/>
              <a:t>It frequently causes hernias, especially femoral hernia, in Africa.</a:t>
            </a:r>
          </a:p>
          <a:p>
            <a:endParaRPr lang="en-US" dirty="0"/>
          </a:p>
          <a:p>
            <a:endParaRPr lang="en-US" dirty="0"/>
          </a:p>
        </p:txBody>
      </p:sp>
    </p:spTree>
    <p:extLst>
      <p:ext uri="{BB962C8B-B14F-4D97-AF65-F5344CB8AC3E}">
        <p14:creationId xmlns:p14="http://schemas.microsoft.com/office/powerpoint/2010/main" val="973659349"/>
      </p:ext>
    </p:extLst>
  </p:cSld>
  <p:clrMapOvr>
    <a:masterClrMapping/>
  </p:clrMapOvr>
</p:sld>
</file>

<file path=ppt/slides/slide6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normAutofit/>
          </a:bodyPr>
          <a:lstStyle/>
          <a:p>
            <a:r>
              <a:rPr lang="en-US" dirty="0"/>
              <a:t>The presence of mf. in the skin often results in a severe Dermatitis caused either by allergic responses or toxic effects after the death of the juveniles.</a:t>
            </a:r>
          </a:p>
          <a:p>
            <a:r>
              <a:rPr lang="en-US" dirty="0"/>
              <a:t>The first symptom is an intense itching that may lead to secondary bacterial infection, often accompanied by </a:t>
            </a:r>
            <a:r>
              <a:rPr lang="en-US" dirty="0" err="1"/>
              <a:t>dyspigmentation</a:t>
            </a:r>
            <a:r>
              <a:rPr lang="en-US" dirty="0"/>
              <a:t> of the skin in small or extensive areas. </a:t>
            </a:r>
          </a:p>
        </p:txBody>
      </p:sp>
    </p:spTree>
    <p:extLst>
      <p:ext uri="{BB962C8B-B14F-4D97-AF65-F5344CB8AC3E}">
        <p14:creationId xmlns:p14="http://schemas.microsoft.com/office/powerpoint/2010/main" val="2999923696"/>
      </p:ext>
    </p:extLst>
  </p:cSld>
  <p:clrMapOvr>
    <a:masterClrMapping/>
  </p:clrMapOvr>
</p:sld>
</file>

<file path=ppt/slides/slide6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Onchocerca</a:t>
            </a:r>
            <a:r>
              <a:rPr lang="en-US" b="1" i="1" dirty="0"/>
              <a:t> volvulus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This is followed by a thickening, </a:t>
            </a:r>
            <a:r>
              <a:rPr lang="en-US" dirty="0" err="1"/>
              <a:t>discoluaration</a:t>
            </a:r>
            <a:r>
              <a:rPr lang="en-US" dirty="0"/>
              <a:t>, and cracking of the skin-</a:t>
            </a:r>
            <a:r>
              <a:rPr lang="en-US" dirty="0" err="1"/>
              <a:t>sympyoms</a:t>
            </a:r>
            <a:r>
              <a:rPr lang="en-US" dirty="0"/>
              <a:t> paralleling those of </a:t>
            </a:r>
            <a:r>
              <a:rPr lang="en-US" dirty="0" err="1"/>
              <a:t>avitaminosis</a:t>
            </a:r>
            <a:r>
              <a:rPr lang="en-US" dirty="0"/>
              <a:t> A and therefore thought to result from the parasite’s competition for or interference with </a:t>
            </a:r>
            <a:r>
              <a:rPr lang="en-US" dirty="0" err="1"/>
              <a:t>vit</a:t>
            </a:r>
            <a:r>
              <a:rPr lang="en-US" dirty="0"/>
              <a:t>. A metabolism. </a:t>
            </a:r>
          </a:p>
          <a:p>
            <a:r>
              <a:rPr lang="en-US" dirty="0"/>
              <a:t>Finally there is loss of skin elasticity, giving the patient a look of premature aging.</a:t>
            </a:r>
          </a:p>
          <a:p>
            <a:r>
              <a:rPr lang="en-US" dirty="0"/>
              <a:t>Depigmentation is accentuated and may extend over large areas, especially of the legs.</a:t>
            </a:r>
          </a:p>
          <a:p>
            <a:r>
              <a:rPr lang="en-US" dirty="0"/>
              <a:t> Patients may be misdiagnosed as leprous. </a:t>
            </a:r>
          </a:p>
          <a:p>
            <a:endParaRPr lang="en-US" dirty="0"/>
          </a:p>
          <a:p>
            <a:endParaRPr lang="en-US" dirty="0"/>
          </a:p>
        </p:txBody>
      </p:sp>
    </p:spTree>
    <p:extLst>
      <p:ext uri="{BB962C8B-B14F-4D97-AF65-F5344CB8AC3E}">
        <p14:creationId xmlns:p14="http://schemas.microsoft.com/office/powerpoint/2010/main" val="2298173704"/>
      </p:ext>
    </p:extLst>
  </p:cSld>
  <p:clrMapOvr>
    <a:masterClrMapping/>
  </p:clrMapOvr>
</p:sld>
</file>

<file path=ppt/slides/slide6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Trichinella</a:t>
            </a:r>
            <a:r>
              <a:rPr lang="en-US" b="1" i="1" dirty="0"/>
              <a:t> spp.</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dirty="0"/>
              <a:t>These are common parasites of domestic and wild pigs’ rats and many carnivores, and humans. Human infection is called </a:t>
            </a:r>
            <a:r>
              <a:rPr lang="en-US" dirty="0" err="1"/>
              <a:t>Trichinellosis</a:t>
            </a:r>
            <a:r>
              <a:rPr lang="en-US" dirty="0"/>
              <a:t> (or Trichinosis or </a:t>
            </a:r>
            <a:r>
              <a:rPr lang="en-US" dirty="0" err="1"/>
              <a:t>Trichiniasis</a:t>
            </a:r>
            <a:r>
              <a:rPr lang="en-US" dirty="0"/>
              <a:t>) and is a zoonosis.</a:t>
            </a:r>
          </a:p>
          <a:p>
            <a:r>
              <a:rPr lang="en-US" i="1" dirty="0"/>
              <a:t>T. </a:t>
            </a:r>
            <a:r>
              <a:rPr lang="en-US" i="1" dirty="0" err="1"/>
              <a:t>spiralis</a:t>
            </a:r>
            <a:r>
              <a:rPr lang="en-US" dirty="0"/>
              <a:t> of rats, cats, dogs</a:t>
            </a:r>
          </a:p>
          <a:p>
            <a:r>
              <a:rPr lang="en-US" i="1" dirty="0"/>
              <a:t>T. native</a:t>
            </a:r>
            <a:r>
              <a:rPr lang="en-US" dirty="0"/>
              <a:t> of carnivores and marine mammals in the Arctic</a:t>
            </a:r>
          </a:p>
          <a:p>
            <a:r>
              <a:rPr lang="en-US" i="1" dirty="0"/>
              <a:t>T. </a:t>
            </a:r>
            <a:r>
              <a:rPr lang="en-US" i="1" dirty="0" err="1"/>
              <a:t>nelsoni</a:t>
            </a:r>
            <a:r>
              <a:rPr lang="en-US" dirty="0"/>
              <a:t> of carnivores and wild pigs (naturally ) in the tropics and sub-tropics</a:t>
            </a:r>
          </a:p>
          <a:p>
            <a:r>
              <a:rPr lang="en-US" dirty="0"/>
              <a:t>These </a:t>
            </a:r>
            <a:r>
              <a:rPr lang="en-US" i="1" dirty="0"/>
              <a:t>spp</a:t>
            </a:r>
            <a:r>
              <a:rPr lang="en-US" dirty="0"/>
              <a:t>. are morphologically indistinguishable.</a:t>
            </a:r>
          </a:p>
          <a:p>
            <a:endParaRPr lang="en-US" dirty="0"/>
          </a:p>
        </p:txBody>
      </p:sp>
    </p:spTree>
    <p:extLst>
      <p:ext uri="{BB962C8B-B14F-4D97-AF65-F5344CB8AC3E}">
        <p14:creationId xmlns:p14="http://schemas.microsoft.com/office/powerpoint/2010/main" val="732265958"/>
      </p:ext>
    </p:extLst>
  </p:cSld>
  <p:clrMapOvr>
    <a:masterClrMapping/>
  </p:clrMapOvr>
</p:sld>
</file>

<file path=ppt/slides/slide6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Trichinella</a:t>
            </a:r>
            <a:r>
              <a:rPr lang="en-US" b="1" i="1" dirty="0"/>
              <a:t> spp.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Transmission</a:t>
            </a:r>
            <a:endParaRPr lang="en-US" dirty="0"/>
          </a:p>
          <a:p>
            <a:r>
              <a:rPr lang="en-US" dirty="0"/>
              <a:t>Human infection occurs by ingestion of encysted larvae in raw or insufficiently cooked meat.</a:t>
            </a:r>
          </a:p>
          <a:p>
            <a:pPr marL="0" indent="0" algn="ctr">
              <a:buNone/>
            </a:pPr>
            <a:r>
              <a:rPr lang="en-US" b="1" dirty="0"/>
              <a:t>Natural Life Cycle</a:t>
            </a:r>
            <a:endParaRPr lang="en-US" dirty="0"/>
          </a:p>
          <a:p>
            <a:r>
              <a:rPr lang="en-US" dirty="0"/>
              <a:t>The natural definitive and intermediate hosts are rodents, domestic and wild pigs, bears and other carnivores.</a:t>
            </a:r>
          </a:p>
          <a:p>
            <a:r>
              <a:rPr lang="en-US" dirty="0"/>
              <a:t> Adults and larvae are found in a single host but two hosts are required to complete the life cycle.</a:t>
            </a:r>
          </a:p>
          <a:p>
            <a:endParaRPr lang="en-US" dirty="0"/>
          </a:p>
        </p:txBody>
      </p:sp>
    </p:spTree>
    <p:extLst>
      <p:ext uri="{BB962C8B-B14F-4D97-AF65-F5344CB8AC3E}">
        <p14:creationId xmlns:p14="http://schemas.microsoft.com/office/powerpoint/2010/main" val="1872926794"/>
      </p:ext>
    </p:extLst>
  </p:cSld>
  <p:clrMapOvr>
    <a:masterClrMapping/>
  </p:clrMapOvr>
</p:sld>
</file>

<file path=ppt/slides/slide6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Trichinella</a:t>
            </a:r>
            <a:r>
              <a:rPr lang="en-US" b="1" i="1" dirty="0"/>
              <a:t> spp. cont’d</a:t>
            </a:r>
            <a:br>
              <a:rPr lang="en-US" dirty="0"/>
            </a:br>
            <a:endParaRPr lang="en-US" dirty="0"/>
          </a:p>
        </p:txBody>
      </p:sp>
      <p:sp>
        <p:nvSpPr>
          <p:cNvPr id="3" name="Content Placeholder 2"/>
          <p:cNvSpPr>
            <a:spLocks noGrp="1"/>
          </p:cNvSpPr>
          <p:nvPr>
            <p:ph idx="1"/>
          </p:nvPr>
        </p:nvSpPr>
        <p:spPr/>
        <p:txBody>
          <a:bodyPr/>
          <a:lstStyle/>
          <a:p>
            <a:r>
              <a:rPr lang="en-US" dirty="0"/>
              <a:t>Human infection is a zoonosis and in man the life cycle ends blindly unless in cannibalism or where carnivores, such as dogs, jackals, hyenas feed on human remains. </a:t>
            </a:r>
          </a:p>
          <a:p>
            <a:r>
              <a:rPr lang="en-US" dirty="0"/>
              <a:t>Encysted larvae can remain viable for many years.</a:t>
            </a:r>
          </a:p>
          <a:p>
            <a:endParaRPr lang="en-US" dirty="0"/>
          </a:p>
        </p:txBody>
      </p:sp>
    </p:spTree>
    <p:extLst>
      <p:ext uri="{BB962C8B-B14F-4D97-AF65-F5344CB8AC3E}">
        <p14:creationId xmlns:p14="http://schemas.microsoft.com/office/powerpoint/2010/main" val="2832235572"/>
      </p:ext>
    </p:extLst>
  </p:cSld>
  <p:clrMapOvr>
    <a:masterClrMapping/>
  </p:clrMapOvr>
</p:sld>
</file>

<file path=ppt/slides/slide6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Trichinella</a:t>
            </a:r>
            <a:r>
              <a:rPr lang="en-US" b="1" i="1" dirty="0"/>
              <a:t> spp. cont’d</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Symptoms and Pathology</a:t>
            </a:r>
            <a:endParaRPr lang="en-US" dirty="0"/>
          </a:p>
          <a:p>
            <a:r>
              <a:rPr lang="en-US" dirty="0"/>
              <a:t>Within 48hrs of intake of the parasite intake, intestine disturbances may occur. </a:t>
            </a:r>
          </a:p>
          <a:p>
            <a:r>
              <a:rPr lang="en-US" dirty="0"/>
              <a:t>These include abdominal pain, nausea and vomiting. </a:t>
            </a:r>
          </a:p>
          <a:p>
            <a:r>
              <a:rPr lang="en-US" dirty="0"/>
              <a:t>Allergic reactions may develop during migration of the larvae and these may include fever, </a:t>
            </a:r>
            <a:r>
              <a:rPr lang="en-US" dirty="0" err="1"/>
              <a:t>oedema</a:t>
            </a:r>
            <a:r>
              <a:rPr lang="en-US" dirty="0"/>
              <a:t> of the face, headache and eosinophilia. </a:t>
            </a:r>
          </a:p>
        </p:txBody>
      </p:sp>
    </p:spTree>
    <p:extLst>
      <p:ext uri="{BB962C8B-B14F-4D97-AF65-F5344CB8AC3E}">
        <p14:creationId xmlns:p14="http://schemas.microsoft.com/office/powerpoint/2010/main" val="4025722206"/>
      </p:ext>
    </p:extLst>
  </p:cSld>
  <p:clrMapOvr>
    <a:masterClrMapping/>
  </p:clrMapOvr>
</p:sld>
</file>

<file path=ppt/slides/slide6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Trichinella</a:t>
            </a:r>
            <a:r>
              <a:rPr lang="en-US" b="1" i="1" dirty="0"/>
              <a:t> spp. cont’d</a:t>
            </a:r>
            <a:br>
              <a:rPr lang="en-US" dirty="0"/>
            </a:br>
            <a:endParaRPr lang="en-US" dirty="0"/>
          </a:p>
        </p:txBody>
      </p:sp>
      <p:sp>
        <p:nvSpPr>
          <p:cNvPr id="3" name="Content Placeholder 2"/>
          <p:cNvSpPr>
            <a:spLocks noGrp="1"/>
          </p:cNvSpPr>
          <p:nvPr>
            <p:ph idx="1"/>
          </p:nvPr>
        </p:nvSpPr>
        <p:spPr/>
        <p:txBody>
          <a:bodyPr/>
          <a:lstStyle/>
          <a:p>
            <a:r>
              <a:rPr lang="en-US" dirty="0" err="1"/>
              <a:t>Encystment</a:t>
            </a:r>
            <a:r>
              <a:rPr lang="en-US" dirty="0"/>
              <a:t> of the larvae often cause muscle pain. </a:t>
            </a:r>
          </a:p>
          <a:p>
            <a:r>
              <a:rPr lang="en-US" dirty="0"/>
              <a:t>Heavy infections with widespread migration of the larvae may cause neurological disorders and occasionally a fatal myocarditis.</a:t>
            </a:r>
          </a:p>
          <a:p>
            <a:pPr marL="0" indent="0">
              <a:buNone/>
            </a:pPr>
            <a:endParaRPr lang="en-US" dirty="0"/>
          </a:p>
          <a:p>
            <a:endParaRPr lang="en-US" dirty="0"/>
          </a:p>
          <a:p>
            <a:pPr marL="0" indent="0">
              <a:buNone/>
            </a:pPr>
            <a:endParaRPr lang="en-US" dirty="0"/>
          </a:p>
        </p:txBody>
      </p:sp>
    </p:spTree>
    <p:extLst>
      <p:ext uri="{BB962C8B-B14F-4D97-AF65-F5344CB8AC3E}">
        <p14:creationId xmlns:p14="http://schemas.microsoft.com/office/powerpoint/2010/main" val="1791243988"/>
      </p:ext>
    </p:extLst>
  </p:cSld>
  <p:clrMapOvr>
    <a:masterClrMapping/>
  </p:clrMapOvr>
</p:sld>
</file>

<file path=ppt/slides/slide6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Trichinella</a:t>
            </a:r>
            <a:r>
              <a:rPr lang="en-US" b="1" i="1" dirty="0"/>
              <a:t> spp. cont’d</a:t>
            </a:r>
            <a:br>
              <a:rPr lang="en-US" dirty="0"/>
            </a:br>
            <a:endParaRPr lang="en-US" dirty="0"/>
          </a:p>
        </p:txBody>
      </p:sp>
      <p:sp>
        <p:nvSpPr>
          <p:cNvPr id="3" name="Content Placeholder 2"/>
          <p:cNvSpPr>
            <a:spLocks noGrp="1"/>
          </p:cNvSpPr>
          <p:nvPr>
            <p:ph idx="1"/>
          </p:nvPr>
        </p:nvSpPr>
        <p:spPr/>
        <p:txBody>
          <a:bodyPr>
            <a:normAutofit lnSpcReduction="10000"/>
          </a:bodyPr>
          <a:lstStyle/>
          <a:p>
            <a:pPr marL="0" indent="0" algn="ctr">
              <a:buNone/>
            </a:pPr>
            <a:r>
              <a:rPr lang="en-US" b="1" dirty="0"/>
              <a:t>Prevention and Control</a:t>
            </a:r>
            <a:endParaRPr lang="en-US" dirty="0"/>
          </a:p>
          <a:p>
            <a:pPr marL="514350" lvl="0" indent="-514350">
              <a:buFont typeface="+mj-lt"/>
              <a:buAutoNum type="arabicPeriod"/>
            </a:pPr>
            <a:r>
              <a:rPr lang="en-US" dirty="0"/>
              <a:t>Avoiding the eating of raw or undercooked pork of the flesh of wild animals such as bush meat (pig or warthog). </a:t>
            </a:r>
          </a:p>
          <a:p>
            <a:r>
              <a:rPr lang="en-US" dirty="0"/>
              <a:t>Meat should be cooked right through to a </a:t>
            </a:r>
            <a:r>
              <a:rPr lang="en-US" dirty="0" err="1"/>
              <a:t>temp.of</a:t>
            </a:r>
            <a:r>
              <a:rPr lang="en-US" dirty="0"/>
              <a:t> at least 60°C; larvae can also be killed by deep freezing at -25°C for 10 days or more;</a:t>
            </a:r>
          </a:p>
          <a:p>
            <a:r>
              <a:rPr lang="en-US" dirty="0"/>
              <a:t>smoking, curing or drying of meat are not reliable methods of destroying the larvae.</a:t>
            </a:r>
          </a:p>
          <a:p>
            <a:endParaRPr lang="en-US" dirty="0"/>
          </a:p>
        </p:txBody>
      </p:sp>
    </p:spTree>
    <p:extLst>
      <p:ext uri="{BB962C8B-B14F-4D97-AF65-F5344CB8AC3E}">
        <p14:creationId xmlns:p14="http://schemas.microsoft.com/office/powerpoint/2010/main" val="3632323591"/>
      </p:ext>
    </p:extLst>
  </p:cSld>
  <p:clrMapOvr>
    <a:masterClrMapping/>
  </p:clrMapOvr>
</p:sld>
</file>

<file path=ppt/slides/slide6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Trichinella</a:t>
            </a:r>
            <a:r>
              <a:rPr lang="en-US" b="1" i="1" dirty="0"/>
              <a:t> spp. cont’d</a:t>
            </a:r>
            <a:br>
              <a:rPr lang="en-US" dirty="0"/>
            </a:br>
            <a:endParaRPr lang="en-US" dirty="0"/>
          </a:p>
        </p:txBody>
      </p:sp>
      <p:sp>
        <p:nvSpPr>
          <p:cNvPr id="3" name="Content Placeholder 2"/>
          <p:cNvSpPr>
            <a:spLocks noGrp="1"/>
          </p:cNvSpPr>
          <p:nvPr>
            <p:ph idx="1"/>
          </p:nvPr>
        </p:nvSpPr>
        <p:spPr/>
        <p:txBody>
          <a:bodyPr/>
          <a:lstStyle/>
          <a:p>
            <a:pPr marL="0" lvl="0" indent="0">
              <a:buNone/>
            </a:pPr>
            <a:r>
              <a:rPr lang="en-US" dirty="0"/>
              <a:t>2. Inspecting meat for infective larvae; encysted larvae can remain infective for many years.</a:t>
            </a:r>
          </a:p>
          <a:p>
            <a:pPr marL="0" lvl="0" indent="0">
              <a:buNone/>
            </a:pPr>
            <a:r>
              <a:rPr lang="en-US" dirty="0"/>
              <a:t>3. Not feeding raw garbage to pigs where transmission is through pigs.</a:t>
            </a:r>
          </a:p>
          <a:p>
            <a:endParaRPr lang="en-US" dirty="0"/>
          </a:p>
        </p:txBody>
      </p:sp>
    </p:spTree>
    <p:extLst>
      <p:ext uri="{BB962C8B-B14F-4D97-AF65-F5344CB8AC3E}">
        <p14:creationId xmlns:p14="http://schemas.microsoft.com/office/powerpoint/2010/main" val="1805033892"/>
      </p:ext>
    </p:extLst>
  </p:cSld>
  <p:clrMapOvr>
    <a:masterClrMapping/>
  </p:clrMapOvr>
</p:sld>
</file>

<file path=ppt/slides/slide6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Trichinella</a:t>
            </a:r>
            <a:r>
              <a:rPr lang="en-US" b="1" i="1" dirty="0"/>
              <a:t> spp.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Diagnosis</a:t>
            </a:r>
            <a:endParaRPr lang="en-US" dirty="0"/>
          </a:p>
          <a:p>
            <a:pPr marL="514350" lvl="0" indent="-514350">
              <a:buFont typeface="+mj-lt"/>
              <a:buAutoNum type="arabicPeriod"/>
            </a:pPr>
            <a:r>
              <a:rPr lang="en-US" dirty="0"/>
              <a:t>Examination of striated muscle for the larvae </a:t>
            </a:r>
          </a:p>
          <a:p>
            <a:pPr marL="514350" lvl="0" indent="-514350">
              <a:buFont typeface="+mj-lt"/>
              <a:buAutoNum type="arabicPeriod"/>
            </a:pPr>
            <a:r>
              <a:rPr lang="en-US" dirty="0"/>
              <a:t>Testing serum for </a:t>
            </a:r>
            <a:r>
              <a:rPr lang="en-US" i="1" dirty="0" err="1"/>
              <a:t>Trichinella</a:t>
            </a:r>
            <a:r>
              <a:rPr lang="en-US" dirty="0"/>
              <a:t> antibodies</a:t>
            </a:r>
          </a:p>
          <a:p>
            <a:endParaRPr lang="en-US" dirty="0"/>
          </a:p>
          <a:p>
            <a:r>
              <a:rPr lang="en-US" dirty="0"/>
              <a:t>An </a:t>
            </a:r>
            <a:r>
              <a:rPr lang="en-US" dirty="0" err="1"/>
              <a:t>eosinophilic</a:t>
            </a:r>
            <a:r>
              <a:rPr lang="en-US" dirty="0"/>
              <a:t> </a:t>
            </a:r>
            <a:r>
              <a:rPr lang="en-US" dirty="0" err="1"/>
              <a:t>leucocytosis</a:t>
            </a:r>
            <a:r>
              <a:rPr lang="en-US" dirty="0"/>
              <a:t> may be found in the acute stage of the disease and serum amino-</a:t>
            </a:r>
            <a:r>
              <a:rPr lang="en-US" dirty="0" err="1"/>
              <a:t>transferases</a:t>
            </a:r>
            <a:r>
              <a:rPr lang="en-US" dirty="0"/>
              <a:t> are often raised.</a:t>
            </a:r>
          </a:p>
          <a:p>
            <a:endParaRPr lang="en-US" dirty="0"/>
          </a:p>
        </p:txBody>
      </p:sp>
    </p:spTree>
    <p:extLst>
      <p:ext uri="{BB962C8B-B14F-4D97-AF65-F5344CB8AC3E}">
        <p14:creationId xmlns:p14="http://schemas.microsoft.com/office/powerpoint/2010/main" val="2697287611"/>
      </p:ext>
    </p:extLst>
  </p:cSld>
  <p:clrMapOvr>
    <a:masterClrMapping/>
  </p:clrMapOvr>
</p:sld>
</file>

<file path=ppt/slides/slide6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Trichinella</a:t>
            </a:r>
            <a:r>
              <a:rPr lang="en-US" b="1" i="1" dirty="0"/>
              <a:t> spp. cont’d</a:t>
            </a:r>
            <a:br>
              <a:rPr lang="en-US" dirty="0"/>
            </a:br>
            <a:endParaRPr lang="en-US" dirty="0"/>
          </a:p>
        </p:txBody>
      </p:sp>
      <p:sp>
        <p:nvSpPr>
          <p:cNvPr id="3" name="Content Placeholder 2"/>
          <p:cNvSpPr>
            <a:spLocks noGrp="1"/>
          </p:cNvSpPr>
          <p:nvPr>
            <p:ph idx="1"/>
          </p:nvPr>
        </p:nvSpPr>
        <p:spPr/>
        <p:txBody>
          <a:bodyPr/>
          <a:lstStyle/>
          <a:p>
            <a:r>
              <a:rPr lang="en-US" b="1" dirty="0"/>
              <a:t>Immunity to re-infection (with Trichinosis)</a:t>
            </a:r>
          </a:p>
          <a:p>
            <a:r>
              <a:rPr lang="en-US" dirty="0"/>
              <a:t>Immunity to trichinosis re-infection develops in survivors in varying degrees.</a:t>
            </a:r>
          </a:p>
          <a:p>
            <a:r>
              <a:rPr lang="en-US" dirty="0"/>
              <a:t> In mice this can be </a:t>
            </a:r>
            <a:r>
              <a:rPr lang="en-US" dirty="0" err="1"/>
              <a:t>passsed</a:t>
            </a:r>
            <a:r>
              <a:rPr lang="en-US" dirty="0"/>
              <a:t> on by the mother to the suckling young through milk. </a:t>
            </a:r>
          </a:p>
          <a:p>
            <a:r>
              <a:rPr lang="en-US" dirty="0"/>
              <a:t>In rats, suckling pulps rapidly expel </a:t>
            </a:r>
            <a:r>
              <a:rPr lang="en-US" i="1" dirty="0"/>
              <a:t>T. </a:t>
            </a:r>
            <a:r>
              <a:rPr lang="en-US" i="1" dirty="0" err="1"/>
              <a:t>spiralis</a:t>
            </a:r>
            <a:r>
              <a:rPr lang="en-US" i="1" dirty="0"/>
              <a:t> </a:t>
            </a:r>
            <a:r>
              <a:rPr lang="en-US" dirty="0"/>
              <a:t>if the mother is immune.</a:t>
            </a:r>
          </a:p>
        </p:txBody>
      </p:sp>
    </p:spTree>
    <p:extLst>
      <p:ext uri="{BB962C8B-B14F-4D97-AF65-F5344CB8AC3E}">
        <p14:creationId xmlns:p14="http://schemas.microsoft.com/office/powerpoint/2010/main" val="1022065903"/>
      </p:ext>
    </p:extLst>
  </p:cSld>
  <p:clrMapOvr>
    <a:masterClrMapping/>
  </p:clrMapOvr>
</p:sld>
</file>

<file path=ppt/slides/slide6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Dirofilaria</a:t>
            </a:r>
            <a:r>
              <a:rPr lang="en-US" b="1" i="1" dirty="0"/>
              <a:t> </a:t>
            </a:r>
            <a:r>
              <a:rPr lang="en-US" b="1" i="1" dirty="0" err="1"/>
              <a:t>spp</a:t>
            </a:r>
            <a:br>
              <a:rPr lang="en-US" dirty="0"/>
            </a:br>
            <a:endParaRPr lang="en-US" dirty="0"/>
          </a:p>
        </p:txBody>
      </p:sp>
      <p:sp>
        <p:nvSpPr>
          <p:cNvPr id="3" name="Content Placeholder 2"/>
          <p:cNvSpPr>
            <a:spLocks noGrp="1"/>
          </p:cNvSpPr>
          <p:nvPr>
            <p:ph idx="1"/>
          </p:nvPr>
        </p:nvSpPr>
        <p:spPr/>
        <p:txBody>
          <a:bodyPr>
            <a:normAutofit/>
          </a:bodyPr>
          <a:lstStyle/>
          <a:p>
            <a:r>
              <a:rPr lang="en-US" dirty="0"/>
              <a:t>These are normally parasites of dogs and raccoons; human infection is rare but </a:t>
            </a:r>
            <a:r>
              <a:rPr lang="en-US" i="1" dirty="0" err="1"/>
              <a:t>spp</a:t>
            </a:r>
            <a:r>
              <a:rPr lang="en-US" dirty="0"/>
              <a:t> found infecting humans include; </a:t>
            </a:r>
          </a:p>
          <a:p>
            <a:pPr marL="514350" lvl="0" indent="-514350">
              <a:buFont typeface="+mj-lt"/>
              <a:buAutoNum type="arabicPeriod"/>
            </a:pPr>
            <a:r>
              <a:rPr lang="en-US" i="1" dirty="0"/>
              <a:t>D. </a:t>
            </a:r>
            <a:r>
              <a:rPr lang="en-US" i="1" dirty="0" err="1"/>
              <a:t>immitis</a:t>
            </a:r>
            <a:r>
              <a:rPr lang="en-US" dirty="0"/>
              <a:t> (dog heartworm)</a:t>
            </a:r>
          </a:p>
          <a:p>
            <a:pPr marL="514350" lvl="0" indent="-514350">
              <a:buFont typeface="+mj-lt"/>
              <a:buAutoNum type="arabicPeriod"/>
            </a:pPr>
            <a:r>
              <a:rPr lang="en-US" i="1" dirty="0"/>
              <a:t>D. </a:t>
            </a:r>
            <a:r>
              <a:rPr lang="en-US" i="1" dirty="0" err="1"/>
              <a:t>tenius</a:t>
            </a:r>
            <a:r>
              <a:rPr lang="en-US" dirty="0"/>
              <a:t> (raccoons)</a:t>
            </a:r>
          </a:p>
          <a:p>
            <a:pPr marL="514350" lvl="0" indent="-514350">
              <a:buFont typeface="+mj-lt"/>
              <a:buAutoNum type="arabicPeriod"/>
            </a:pPr>
            <a:r>
              <a:rPr lang="en-US" i="1" dirty="0"/>
              <a:t>D. </a:t>
            </a:r>
            <a:r>
              <a:rPr lang="en-US" i="1" dirty="0" err="1"/>
              <a:t>repens</a:t>
            </a:r>
            <a:r>
              <a:rPr lang="en-US" dirty="0"/>
              <a:t> (dogs)</a:t>
            </a:r>
          </a:p>
          <a:p>
            <a:r>
              <a:rPr lang="en-US" dirty="0"/>
              <a:t>And cause pulmonary or subcutaneous diseases.</a:t>
            </a:r>
          </a:p>
          <a:p>
            <a:endParaRPr lang="en-US" dirty="0"/>
          </a:p>
        </p:txBody>
      </p:sp>
    </p:spTree>
    <p:extLst>
      <p:ext uri="{BB962C8B-B14F-4D97-AF65-F5344CB8AC3E}">
        <p14:creationId xmlns:p14="http://schemas.microsoft.com/office/powerpoint/2010/main" val="3062006923"/>
      </p:ext>
    </p:extLst>
  </p:cSld>
  <p:clrMapOvr>
    <a:masterClrMapping/>
  </p:clrMapOvr>
</p:sld>
</file>

<file path=ppt/slides/slide6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Dirofilaria</a:t>
            </a:r>
            <a:r>
              <a:rPr lang="en-US" b="1" i="1" dirty="0"/>
              <a:t> </a:t>
            </a:r>
            <a:r>
              <a:rPr lang="en-US" b="1" i="1" dirty="0" err="1"/>
              <a:t>spp</a:t>
            </a:r>
            <a:r>
              <a:rPr lang="en-US" b="1" i="1" dirty="0"/>
              <a:t> cont’d</a:t>
            </a:r>
            <a:br>
              <a:rPr lang="en-US" dirty="0"/>
            </a:br>
            <a:endParaRPr lang="en-US" dirty="0"/>
          </a:p>
        </p:txBody>
      </p:sp>
      <p:sp>
        <p:nvSpPr>
          <p:cNvPr id="3" name="Content Placeholder 2"/>
          <p:cNvSpPr>
            <a:spLocks noGrp="1"/>
          </p:cNvSpPr>
          <p:nvPr>
            <p:ph idx="1"/>
          </p:nvPr>
        </p:nvSpPr>
        <p:spPr>
          <a:xfrm>
            <a:off x="457200" y="1600200"/>
            <a:ext cx="8229600" cy="4953000"/>
          </a:xfrm>
        </p:spPr>
        <p:txBody>
          <a:bodyPr>
            <a:normAutofit fontScale="92500" lnSpcReduction="20000"/>
          </a:bodyPr>
          <a:lstStyle/>
          <a:p>
            <a:pPr marL="0" indent="0" algn="ctr">
              <a:buNone/>
            </a:pPr>
            <a:r>
              <a:rPr lang="en-US" b="1" dirty="0"/>
              <a:t>Distribution</a:t>
            </a:r>
            <a:endParaRPr lang="en-US" dirty="0"/>
          </a:p>
          <a:p>
            <a:r>
              <a:rPr lang="en-US" dirty="0"/>
              <a:t>Japan, Australia, Southern and Eastern USA and parts of S. America.</a:t>
            </a:r>
          </a:p>
          <a:p>
            <a:pPr marL="0" indent="0" algn="ctr">
              <a:buNone/>
            </a:pPr>
            <a:r>
              <a:rPr lang="en-US" b="1" dirty="0"/>
              <a:t>Transmission</a:t>
            </a:r>
            <a:endParaRPr lang="en-US" dirty="0"/>
          </a:p>
          <a:p>
            <a:r>
              <a:rPr lang="en-US" dirty="0"/>
              <a:t>The worms are transmitted from animal hosts to humans by various species of mosquito. </a:t>
            </a:r>
          </a:p>
          <a:p>
            <a:r>
              <a:rPr lang="en-US" dirty="0"/>
              <a:t>In humans, the larvae may develop but do not produce microfilariae. </a:t>
            </a:r>
          </a:p>
          <a:p>
            <a:r>
              <a:rPr lang="en-US" dirty="0"/>
              <a:t>In their natural animal hosts the worms mature and produce microfilariae which circulates in the blood and are taken up by mosquitoes</a:t>
            </a:r>
          </a:p>
          <a:p>
            <a:endParaRPr lang="en-US" dirty="0"/>
          </a:p>
        </p:txBody>
      </p:sp>
    </p:spTree>
    <p:extLst>
      <p:ext uri="{BB962C8B-B14F-4D97-AF65-F5344CB8AC3E}">
        <p14:creationId xmlns:p14="http://schemas.microsoft.com/office/powerpoint/2010/main" val="4164584537"/>
      </p:ext>
    </p:extLst>
  </p:cSld>
  <p:clrMapOvr>
    <a:masterClrMapping/>
  </p:clrMapOvr>
</p:sld>
</file>

<file path=ppt/slides/slide6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Dirofilaria</a:t>
            </a:r>
            <a:r>
              <a:rPr lang="en-US" b="1" i="1" dirty="0"/>
              <a:t> </a:t>
            </a:r>
            <a:r>
              <a:rPr lang="en-US" b="1" i="1" dirty="0" err="1"/>
              <a:t>spp</a:t>
            </a:r>
            <a:r>
              <a:rPr lang="en-US" b="1" i="1" dirty="0"/>
              <a:t> cont’d</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Symptoms and Pathology</a:t>
            </a:r>
            <a:endParaRPr lang="en-US" dirty="0"/>
          </a:p>
          <a:p>
            <a:r>
              <a:rPr lang="en-US" i="1" dirty="0"/>
              <a:t>D. </a:t>
            </a:r>
            <a:r>
              <a:rPr lang="en-US" i="1" dirty="0" err="1"/>
              <a:t>immitis</a:t>
            </a:r>
            <a:r>
              <a:rPr lang="en-US" dirty="0"/>
              <a:t> may cause pulmonary </a:t>
            </a:r>
            <a:r>
              <a:rPr lang="en-US" dirty="0" err="1"/>
              <a:t>dirofilariasis</a:t>
            </a:r>
            <a:r>
              <a:rPr lang="en-US" dirty="0"/>
              <a:t> with fever, chest pain, cough and occasionally </a:t>
            </a:r>
            <a:r>
              <a:rPr lang="en-US" dirty="0" err="1"/>
              <a:t>haemoptysis</a:t>
            </a:r>
            <a:r>
              <a:rPr lang="en-US" dirty="0"/>
              <a:t>.</a:t>
            </a:r>
          </a:p>
          <a:p>
            <a:r>
              <a:rPr lang="en-US" dirty="0"/>
              <a:t>Worm presence in the lung stimulates inflammation and eventually dead worm becomes surrounded by a fibrous wall; calcification may occur</a:t>
            </a:r>
          </a:p>
          <a:p>
            <a:endParaRPr lang="en-US" dirty="0"/>
          </a:p>
        </p:txBody>
      </p:sp>
    </p:spTree>
    <p:extLst>
      <p:ext uri="{BB962C8B-B14F-4D97-AF65-F5344CB8AC3E}">
        <p14:creationId xmlns:p14="http://schemas.microsoft.com/office/powerpoint/2010/main" val="1452749032"/>
      </p:ext>
    </p:extLst>
  </p:cSld>
  <p:clrMapOvr>
    <a:masterClrMapping/>
  </p:clrMapOvr>
</p:sld>
</file>

<file path=ppt/slides/slide6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Dirofilaria</a:t>
            </a:r>
            <a:r>
              <a:rPr lang="en-US" b="1" i="1" dirty="0"/>
              <a:t> </a:t>
            </a:r>
            <a:r>
              <a:rPr lang="en-US" b="1" i="1" dirty="0" err="1"/>
              <a:t>spp</a:t>
            </a:r>
            <a:r>
              <a:rPr lang="en-US" b="1" i="1" dirty="0"/>
              <a:t> cont’d</a:t>
            </a:r>
            <a:br>
              <a:rPr lang="en-US" dirty="0"/>
            </a:br>
            <a:endParaRPr lang="en-US" dirty="0"/>
          </a:p>
        </p:txBody>
      </p:sp>
      <p:sp>
        <p:nvSpPr>
          <p:cNvPr id="3" name="Content Placeholder 2"/>
          <p:cNvSpPr>
            <a:spLocks noGrp="1"/>
          </p:cNvSpPr>
          <p:nvPr>
            <p:ph idx="1"/>
          </p:nvPr>
        </p:nvSpPr>
        <p:spPr/>
        <p:txBody>
          <a:bodyPr/>
          <a:lstStyle/>
          <a:p>
            <a:r>
              <a:rPr lang="en-US" i="1" dirty="0" err="1"/>
              <a:t>D.tenuis</a:t>
            </a:r>
            <a:r>
              <a:rPr lang="en-US" dirty="0"/>
              <a:t> and </a:t>
            </a:r>
            <a:r>
              <a:rPr lang="en-US" i="1" dirty="0" err="1"/>
              <a:t>D.repens</a:t>
            </a:r>
            <a:r>
              <a:rPr lang="en-US" dirty="0"/>
              <a:t> can cause subcutaneous </a:t>
            </a:r>
            <a:r>
              <a:rPr lang="en-US" dirty="0" err="1"/>
              <a:t>dirofilariasis</a:t>
            </a:r>
            <a:r>
              <a:rPr lang="en-US" dirty="0"/>
              <a:t> with the formation of painful erythematous subcutaneous nodules especially around and in the eyes.</a:t>
            </a:r>
          </a:p>
          <a:p>
            <a:r>
              <a:rPr lang="en-US" dirty="0"/>
              <a:t>Occasionally, other parts of the body are affected such as the scrotum, breasts, arms and legs.</a:t>
            </a:r>
          </a:p>
          <a:p>
            <a:endParaRPr lang="en-US" dirty="0"/>
          </a:p>
        </p:txBody>
      </p:sp>
    </p:spTree>
    <p:extLst>
      <p:ext uri="{BB962C8B-B14F-4D97-AF65-F5344CB8AC3E}">
        <p14:creationId xmlns:p14="http://schemas.microsoft.com/office/powerpoint/2010/main" val="4183885865"/>
      </p:ext>
    </p:extLst>
  </p:cSld>
  <p:clrMapOvr>
    <a:masterClrMapping/>
  </p:clrMapOvr>
</p:sld>
</file>

<file path=ppt/slides/slide6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Dirofilaria</a:t>
            </a:r>
            <a:r>
              <a:rPr lang="en-US" b="1" i="1" dirty="0"/>
              <a:t> </a:t>
            </a:r>
            <a:r>
              <a:rPr lang="en-US" b="1" i="1" dirty="0" err="1"/>
              <a:t>spp</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Diagnosis</a:t>
            </a:r>
            <a:endParaRPr lang="en-US" dirty="0"/>
          </a:p>
          <a:p>
            <a:r>
              <a:rPr lang="en-US" dirty="0"/>
              <a:t>By identifying the worms in the tissue sections.</a:t>
            </a:r>
          </a:p>
          <a:p>
            <a:endParaRPr lang="en-US" dirty="0"/>
          </a:p>
        </p:txBody>
      </p:sp>
    </p:spTree>
    <p:extLst>
      <p:ext uri="{BB962C8B-B14F-4D97-AF65-F5344CB8AC3E}">
        <p14:creationId xmlns:p14="http://schemas.microsoft.com/office/powerpoint/2010/main" val="3408436188"/>
      </p:ext>
    </p:extLst>
  </p:cSld>
  <p:clrMapOvr>
    <a:masterClrMapping/>
  </p:clrMapOvr>
</p:sld>
</file>

<file path=ppt/slides/slide6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Angiostrongylus</a:t>
            </a:r>
            <a:r>
              <a:rPr lang="en-US" b="1" i="1" dirty="0"/>
              <a:t> </a:t>
            </a:r>
            <a:r>
              <a:rPr lang="en-US" b="1" i="1" dirty="0" err="1"/>
              <a:t>spp</a:t>
            </a:r>
            <a:br>
              <a:rPr lang="en-US" dirty="0"/>
            </a:br>
            <a:endParaRPr lang="en-US" dirty="0"/>
          </a:p>
        </p:txBody>
      </p:sp>
      <p:sp>
        <p:nvSpPr>
          <p:cNvPr id="3" name="Content Placeholder 2"/>
          <p:cNvSpPr>
            <a:spLocks noGrp="1"/>
          </p:cNvSpPr>
          <p:nvPr>
            <p:ph idx="1"/>
          </p:nvPr>
        </p:nvSpPr>
        <p:spPr/>
        <p:txBody>
          <a:bodyPr>
            <a:normAutofit/>
          </a:bodyPr>
          <a:lstStyle/>
          <a:p>
            <a:r>
              <a:rPr lang="en-US" i="1" dirty="0" err="1"/>
              <a:t>A.cantonensis</a:t>
            </a:r>
            <a:r>
              <a:rPr lang="en-US" dirty="0"/>
              <a:t> is a natural parasite of rodents and is often referred to as the rat lungworm.</a:t>
            </a:r>
          </a:p>
          <a:p>
            <a:r>
              <a:rPr lang="en-US" dirty="0"/>
              <a:t>In humans, it can cause </a:t>
            </a:r>
            <a:r>
              <a:rPr lang="en-US" dirty="0" err="1"/>
              <a:t>eosinophilic</a:t>
            </a:r>
            <a:r>
              <a:rPr lang="en-US" dirty="0"/>
              <a:t> </a:t>
            </a:r>
            <a:r>
              <a:rPr lang="en-US" dirty="0" err="1"/>
              <a:t>meningoencephalitis</a:t>
            </a:r>
            <a:endParaRPr lang="en-US" dirty="0"/>
          </a:p>
          <a:p>
            <a:r>
              <a:rPr lang="en-US" i="1" dirty="0" err="1"/>
              <a:t>A.costariensis</a:t>
            </a:r>
            <a:r>
              <a:rPr lang="en-US" dirty="0"/>
              <a:t> also infects rodents and in humans, it causes intestinal diseases</a:t>
            </a:r>
          </a:p>
        </p:txBody>
      </p:sp>
    </p:spTree>
    <p:extLst>
      <p:ext uri="{BB962C8B-B14F-4D97-AF65-F5344CB8AC3E}">
        <p14:creationId xmlns:p14="http://schemas.microsoft.com/office/powerpoint/2010/main" val="1838983523"/>
      </p:ext>
    </p:extLst>
  </p:cSld>
  <p:clrMapOvr>
    <a:masterClrMapping/>
  </p:clrMapOvr>
</p:sld>
</file>

<file path=ppt/slides/slide6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Angiostrongylus</a:t>
            </a:r>
            <a:r>
              <a:rPr lang="en-US" b="1" i="1" dirty="0"/>
              <a:t> </a:t>
            </a:r>
            <a:r>
              <a:rPr lang="en-US" b="1" i="1" dirty="0" err="1"/>
              <a:t>spp</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Distribution</a:t>
            </a:r>
            <a:endParaRPr lang="en-US" dirty="0"/>
          </a:p>
          <a:p>
            <a:r>
              <a:rPr lang="en-US" dirty="0"/>
              <a:t>Many pacific islands, the Philippines, Sumatra and parts of south-east </a:t>
            </a:r>
            <a:r>
              <a:rPr lang="en-US" dirty="0" err="1"/>
              <a:t>asia</a:t>
            </a:r>
            <a:r>
              <a:rPr lang="en-US" dirty="0"/>
              <a:t> (esp. Thailand) - </a:t>
            </a:r>
            <a:r>
              <a:rPr lang="en-US" i="1" dirty="0" err="1"/>
              <a:t>A.cantonensis</a:t>
            </a:r>
            <a:endParaRPr lang="en-US" dirty="0"/>
          </a:p>
          <a:p>
            <a:r>
              <a:rPr lang="en-US" dirty="0"/>
              <a:t>Costa Rica and South America – </a:t>
            </a:r>
            <a:r>
              <a:rPr lang="en-US" i="1" dirty="0" err="1"/>
              <a:t>A.costariensis</a:t>
            </a:r>
            <a:endParaRPr lang="en-US" dirty="0"/>
          </a:p>
          <a:p>
            <a:endParaRPr lang="en-US" dirty="0"/>
          </a:p>
          <a:p>
            <a:endParaRPr lang="en-US" dirty="0"/>
          </a:p>
        </p:txBody>
      </p:sp>
    </p:spTree>
    <p:extLst>
      <p:ext uri="{BB962C8B-B14F-4D97-AF65-F5344CB8AC3E}">
        <p14:creationId xmlns:p14="http://schemas.microsoft.com/office/powerpoint/2010/main" val="495686739"/>
      </p:ext>
    </p:extLst>
  </p:cSld>
  <p:clrMapOvr>
    <a:masterClrMapping/>
  </p:clrMapOvr>
</p:sld>
</file>

<file path=ppt/slides/slide6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Angiostrongylus</a:t>
            </a:r>
            <a:r>
              <a:rPr lang="en-US" b="1" i="1" dirty="0"/>
              <a:t> </a:t>
            </a:r>
            <a:r>
              <a:rPr lang="en-US" b="1" i="1" dirty="0" err="1"/>
              <a:t>spp</a:t>
            </a:r>
            <a:r>
              <a:rPr lang="en-US" b="1" i="1" dirty="0"/>
              <a:t> cont’d</a:t>
            </a:r>
            <a:br>
              <a:rPr lang="en-US" dirty="0"/>
            </a:br>
            <a:endParaRPr lang="en-US" dirty="0"/>
          </a:p>
        </p:txBody>
      </p:sp>
      <p:sp>
        <p:nvSpPr>
          <p:cNvPr id="3" name="Content Placeholder 2"/>
          <p:cNvSpPr>
            <a:spLocks noGrp="1"/>
          </p:cNvSpPr>
          <p:nvPr>
            <p:ph idx="1"/>
          </p:nvPr>
        </p:nvSpPr>
        <p:spPr/>
        <p:txBody>
          <a:bodyPr>
            <a:normAutofit/>
          </a:bodyPr>
          <a:lstStyle/>
          <a:p>
            <a:pPr marL="0" indent="0" algn="ctr">
              <a:buNone/>
            </a:pPr>
            <a:r>
              <a:rPr lang="en-US" b="1" dirty="0"/>
              <a:t>Transmission</a:t>
            </a:r>
            <a:endParaRPr lang="en-US" dirty="0"/>
          </a:p>
          <a:p>
            <a:r>
              <a:rPr lang="en-US" dirty="0"/>
              <a:t>Humans are infected by taking in the larvae in snails (second intermediate hosts) or in freshwater prawns or crabs (carrier hosts).</a:t>
            </a:r>
          </a:p>
          <a:p>
            <a:r>
              <a:rPr lang="en-US" dirty="0"/>
              <a:t> The parasite is unable to develop into its egg-producing stage and dies in the central nervous system of its human host.</a:t>
            </a:r>
          </a:p>
        </p:txBody>
      </p:sp>
    </p:spTree>
    <p:extLst>
      <p:ext uri="{BB962C8B-B14F-4D97-AF65-F5344CB8AC3E}">
        <p14:creationId xmlns:p14="http://schemas.microsoft.com/office/powerpoint/2010/main" val="2309969095"/>
      </p:ext>
    </p:extLst>
  </p:cSld>
  <p:clrMapOvr>
    <a:masterClrMapping/>
  </p:clrMapOvr>
</p:sld>
</file>

<file path=ppt/slides/slide6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Angiostrongylus</a:t>
            </a:r>
            <a:r>
              <a:rPr lang="en-US" b="1" i="1" dirty="0"/>
              <a:t> </a:t>
            </a:r>
            <a:r>
              <a:rPr lang="en-US" b="1" i="1" dirty="0" err="1"/>
              <a:t>spp</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dirty="0"/>
              <a:t>In the natural rodent hosts, the larvae migrate to the brain where they develop into adult worms; </a:t>
            </a:r>
          </a:p>
          <a:p>
            <a:r>
              <a:rPr lang="en-US" dirty="0"/>
              <a:t>eggs are laid in the lungs and hatched larvae migrate up the trachea, are swallowed and finally excreted in the </a:t>
            </a:r>
            <a:r>
              <a:rPr lang="en-US" dirty="0" err="1"/>
              <a:t>faeces</a:t>
            </a:r>
            <a:r>
              <a:rPr lang="en-US" dirty="0"/>
              <a:t>.</a:t>
            </a:r>
          </a:p>
          <a:p>
            <a:r>
              <a:rPr lang="en-US" dirty="0"/>
              <a:t>The life cycle continues in a slug or land snail which ingests the larvae, and the cycle is completed by a rodent swallowing the infected slug or snail.</a:t>
            </a:r>
          </a:p>
          <a:p>
            <a:r>
              <a:rPr lang="en-US" dirty="0"/>
              <a:t>Crabs and freshwater prawns act as carrier hosts.</a:t>
            </a:r>
          </a:p>
          <a:p>
            <a:endParaRPr lang="en-US" dirty="0"/>
          </a:p>
          <a:p>
            <a:endParaRPr lang="en-US" dirty="0"/>
          </a:p>
        </p:txBody>
      </p:sp>
    </p:spTree>
    <p:extLst>
      <p:ext uri="{BB962C8B-B14F-4D97-AF65-F5344CB8AC3E}">
        <p14:creationId xmlns:p14="http://schemas.microsoft.com/office/powerpoint/2010/main" val="2872825373"/>
      </p:ext>
    </p:extLst>
  </p:cSld>
  <p:clrMapOvr>
    <a:masterClrMapping/>
  </p:clrMapOvr>
</p:sld>
</file>

<file path=ppt/slides/slide6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Angiostrongylus</a:t>
            </a:r>
            <a:r>
              <a:rPr lang="en-US" b="1" i="1" dirty="0"/>
              <a:t> </a:t>
            </a:r>
            <a:r>
              <a:rPr lang="en-US" b="1" i="1" dirty="0" err="1"/>
              <a:t>spp</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Symptoms and Pathology</a:t>
            </a:r>
            <a:endParaRPr lang="en-US" dirty="0"/>
          </a:p>
          <a:p>
            <a:r>
              <a:rPr lang="en-US" dirty="0"/>
              <a:t>In humans, there is an </a:t>
            </a:r>
            <a:r>
              <a:rPr lang="en-US" dirty="0" err="1"/>
              <a:t>eosinophilic</a:t>
            </a:r>
            <a:r>
              <a:rPr lang="en-US" dirty="0"/>
              <a:t> </a:t>
            </a:r>
            <a:r>
              <a:rPr lang="en-US" dirty="0" err="1"/>
              <a:t>meningoencephalitis</a:t>
            </a:r>
            <a:r>
              <a:rPr lang="en-US" dirty="0"/>
              <a:t> developing in response to toxins released from dead and degenerating worms</a:t>
            </a:r>
          </a:p>
          <a:p>
            <a:r>
              <a:rPr lang="en-US" dirty="0"/>
              <a:t>Pain, weakness of the limbs and partial facial palsy are other signs/symptoms.</a:t>
            </a:r>
          </a:p>
          <a:p>
            <a:r>
              <a:rPr lang="en-US" dirty="0"/>
              <a:t>Infection with </a:t>
            </a:r>
            <a:r>
              <a:rPr lang="en-US" i="1" dirty="0" err="1"/>
              <a:t>A.costariensis</a:t>
            </a:r>
            <a:r>
              <a:rPr lang="en-US" dirty="0"/>
              <a:t> is associated with intestinal </a:t>
            </a:r>
            <a:r>
              <a:rPr lang="en-US" dirty="0" err="1"/>
              <a:t>eosinophilic</a:t>
            </a:r>
            <a:r>
              <a:rPr lang="en-US" dirty="0"/>
              <a:t> granulomata and obstruction of the intestinal tract.</a:t>
            </a:r>
          </a:p>
          <a:p>
            <a:endParaRPr lang="en-US" dirty="0"/>
          </a:p>
        </p:txBody>
      </p:sp>
    </p:spTree>
    <p:extLst>
      <p:ext uri="{BB962C8B-B14F-4D97-AF65-F5344CB8AC3E}">
        <p14:creationId xmlns:p14="http://schemas.microsoft.com/office/powerpoint/2010/main" val="151447400"/>
      </p:ext>
    </p:extLst>
  </p:cSld>
  <p:clrMapOvr>
    <a:masterClrMapping/>
  </p:clrMapOvr>
</p:sld>
</file>

<file path=ppt/slides/slide6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Angiostrongylus</a:t>
            </a:r>
            <a:r>
              <a:rPr lang="en-US" b="1" i="1" dirty="0"/>
              <a:t> </a:t>
            </a:r>
            <a:r>
              <a:rPr lang="en-US" b="1" i="1" dirty="0" err="1"/>
              <a:t>spp</a:t>
            </a:r>
            <a:r>
              <a:rPr lang="en-US" b="1" i="1" dirty="0"/>
              <a:t> cont’d</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Prevention and Control</a:t>
            </a:r>
            <a:endParaRPr lang="en-US" dirty="0"/>
          </a:p>
          <a:p>
            <a:r>
              <a:rPr lang="en-US" dirty="0"/>
              <a:t>Avoiding intake of raw or undercooked mollusks, crabs and prawns.</a:t>
            </a:r>
          </a:p>
          <a:p>
            <a:endParaRPr lang="en-US" dirty="0"/>
          </a:p>
          <a:p>
            <a:r>
              <a:rPr lang="en-US" dirty="0"/>
              <a:t>The larvae can be killed by boiling or freezing at -15°C for 12hours</a:t>
            </a:r>
          </a:p>
        </p:txBody>
      </p:sp>
    </p:spTree>
    <p:extLst>
      <p:ext uri="{BB962C8B-B14F-4D97-AF65-F5344CB8AC3E}">
        <p14:creationId xmlns:p14="http://schemas.microsoft.com/office/powerpoint/2010/main" val="4182240639"/>
      </p:ext>
    </p:extLst>
  </p:cSld>
  <p:clrMapOvr>
    <a:masterClrMapping/>
  </p:clrMapOvr>
</p:sld>
</file>

<file path=ppt/slides/slide6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Angiostrongylus</a:t>
            </a:r>
            <a:r>
              <a:rPr lang="en-US" b="1" i="1" dirty="0"/>
              <a:t> </a:t>
            </a:r>
            <a:r>
              <a:rPr lang="en-US" b="1" i="1" dirty="0" err="1"/>
              <a:t>spp</a:t>
            </a:r>
            <a:r>
              <a:rPr lang="en-US" b="1" i="1" dirty="0"/>
              <a:t> cont’d</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dirty="0"/>
              <a:t>Diagnosis</a:t>
            </a:r>
            <a:endParaRPr lang="en-US" dirty="0"/>
          </a:p>
          <a:p>
            <a:r>
              <a:rPr lang="en-US" dirty="0"/>
              <a:t>Examination of cerebrospinal fluid and checking;</a:t>
            </a:r>
          </a:p>
          <a:p>
            <a:pPr marL="514350" lvl="0" indent="-514350">
              <a:buFont typeface="+mj-lt"/>
              <a:buAutoNum type="arabicPeriod"/>
            </a:pPr>
            <a:r>
              <a:rPr lang="en-US" dirty="0"/>
              <a:t>For cell count over 500 cells/</a:t>
            </a:r>
            <a:r>
              <a:rPr lang="en-US" dirty="0" err="1"/>
              <a:t>ul</a:t>
            </a:r>
            <a:r>
              <a:rPr lang="en-US" dirty="0"/>
              <a:t> with 50-75% of cells being </a:t>
            </a:r>
            <a:r>
              <a:rPr lang="en-US" dirty="0" err="1"/>
              <a:t>eosinophilic</a:t>
            </a:r>
            <a:r>
              <a:rPr lang="en-US" dirty="0"/>
              <a:t> (there is also a blood eosinophilia)</a:t>
            </a:r>
          </a:p>
          <a:p>
            <a:pPr marL="514350" lvl="0" indent="-514350">
              <a:buFont typeface="+mj-lt"/>
              <a:buAutoNum type="arabicPeriod"/>
            </a:pPr>
            <a:r>
              <a:rPr lang="en-US" dirty="0"/>
              <a:t>Protein level is raised</a:t>
            </a:r>
          </a:p>
          <a:p>
            <a:pPr marL="514350" lvl="0" indent="-514350">
              <a:buFont typeface="+mj-lt"/>
              <a:buAutoNum type="arabicPeriod"/>
            </a:pPr>
            <a:r>
              <a:rPr lang="en-US" dirty="0"/>
              <a:t>Glucose is reduced</a:t>
            </a:r>
          </a:p>
          <a:p>
            <a:pPr marL="514350" lvl="0" indent="-514350">
              <a:buFont typeface="+mj-lt"/>
              <a:buAutoNum type="arabicPeriod"/>
            </a:pPr>
            <a:r>
              <a:rPr lang="en-US" dirty="0"/>
              <a:t>Occasionally larvae may be found.</a:t>
            </a:r>
          </a:p>
          <a:p>
            <a:endParaRPr lang="en-US" dirty="0"/>
          </a:p>
        </p:txBody>
      </p:sp>
    </p:spTree>
    <p:extLst>
      <p:ext uri="{BB962C8B-B14F-4D97-AF65-F5344CB8AC3E}">
        <p14:creationId xmlns:p14="http://schemas.microsoft.com/office/powerpoint/2010/main" val="3735393239"/>
      </p:ext>
    </p:extLst>
  </p:cSld>
  <p:clrMapOvr>
    <a:masterClrMapping/>
  </p:clrMapOvr>
</p:sld>
</file>

<file path=ppt/slides/slide6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PARASITOLOGY (BIOL 460)</a:t>
            </a:r>
          </a:p>
        </p:txBody>
      </p:sp>
      <p:sp>
        <p:nvSpPr>
          <p:cNvPr id="3" name="Subtitle 2"/>
          <p:cNvSpPr>
            <a:spLocks noGrp="1"/>
          </p:cNvSpPr>
          <p:nvPr>
            <p:ph type="subTitle" idx="1"/>
          </p:nvPr>
        </p:nvSpPr>
        <p:spPr/>
        <p:txBody>
          <a:bodyPr/>
          <a:lstStyle/>
          <a:p>
            <a:r>
              <a:rPr lang="en-US" dirty="0"/>
              <a:t>UNIT 8 A</a:t>
            </a:r>
          </a:p>
          <a:p>
            <a:r>
              <a:rPr lang="en-US" dirty="0"/>
              <a:t>PARASITIC INSECTS-THE DIPTERA (FLIES)</a:t>
            </a:r>
          </a:p>
        </p:txBody>
      </p:sp>
    </p:spTree>
    <p:extLst>
      <p:ext uri="{BB962C8B-B14F-4D97-AF65-F5344CB8AC3E}">
        <p14:creationId xmlns:p14="http://schemas.microsoft.com/office/powerpoint/2010/main" val="1585836094"/>
      </p:ext>
    </p:extLst>
  </p:cSld>
  <p:clrMapOvr>
    <a:masterClrMapping/>
  </p:clrMapOvr>
</p:sld>
</file>

<file path=ppt/slides/slide6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INSECTS - THE DIPTERA (FLIES)</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The </a:t>
            </a:r>
            <a:r>
              <a:rPr lang="en-US" dirty="0" err="1"/>
              <a:t>Diptera</a:t>
            </a:r>
            <a:r>
              <a:rPr lang="en-US" dirty="0"/>
              <a:t> are by far the most medically important among all orders of insects</a:t>
            </a:r>
          </a:p>
          <a:p>
            <a:pPr lvl="0"/>
            <a:r>
              <a:rPr lang="en-US" dirty="0"/>
              <a:t>Various flies are involved in the transmission of/or the cause of disfiguring, debilitating diseases either as vectors or as parasites themselves</a:t>
            </a:r>
          </a:p>
          <a:p>
            <a:pPr lvl="0"/>
            <a:r>
              <a:rPr lang="en-US" dirty="0"/>
              <a:t>The Order (</a:t>
            </a:r>
            <a:r>
              <a:rPr lang="en-US" dirty="0" err="1"/>
              <a:t>Diptera</a:t>
            </a:r>
            <a:r>
              <a:rPr lang="en-US" dirty="0"/>
              <a:t>) is so large, containing about 120,000 species in about 140 families (according to the source)</a:t>
            </a:r>
          </a:p>
          <a:p>
            <a:endParaRPr lang="en-US" dirty="0"/>
          </a:p>
        </p:txBody>
      </p:sp>
    </p:spTree>
    <p:extLst>
      <p:ext uri="{BB962C8B-B14F-4D97-AF65-F5344CB8AC3E}">
        <p14:creationId xmlns:p14="http://schemas.microsoft.com/office/powerpoint/2010/main" val="1614802535"/>
      </p:ext>
    </p:extLst>
  </p:cSld>
  <p:clrMapOvr>
    <a:masterClrMapping/>
  </p:clrMapOvr>
</p:sld>
</file>

<file path=ppt/slides/slide6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INSECTS - THE DIPTERA (FLIES) CONT’D</a:t>
            </a:r>
            <a:br>
              <a:rPr lang="en-US" dirty="0"/>
            </a:br>
            <a:endParaRPr lang="en-US" dirty="0"/>
          </a:p>
        </p:txBody>
      </p:sp>
      <p:sp>
        <p:nvSpPr>
          <p:cNvPr id="3" name="Content Placeholder 2"/>
          <p:cNvSpPr>
            <a:spLocks noGrp="1"/>
          </p:cNvSpPr>
          <p:nvPr>
            <p:ph idx="1"/>
          </p:nvPr>
        </p:nvSpPr>
        <p:spPr/>
        <p:txBody>
          <a:bodyPr/>
          <a:lstStyle/>
          <a:p>
            <a:pPr lvl="0"/>
            <a:r>
              <a:rPr lang="en-US" dirty="0"/>
              <a:t>Because of their numbers, and diversity of form and feeding habits, both as larvae and as adults, the structure of mouthparts also is diverse</a:t>
            </a:r>
          </a:p>
          <a:p>
            <a:pPr lvl="0"/>
            <a:r>
              <a:rPr lang="en-US" dirty="0"/>
              <a:t>The lifecycle exhibits complete metamorphosis in which there is usually the egg, larval, </a:t>
            </a:r>
            <a:r>
              <a:rPr lang="en-US" dirty="0" err="1"/>
              <a:t>pupal</a:t>
            </a:r>
            <a:r>
              <a:rPr lang="en-US" dirty="0"/>
              <a:t> and adult stages</a:t>
            </a:r>
          </a:p>
          <a:p>
            <a:pPr marL="0" indent="0">
              <a:buNone/>
            </a:pPr>
            <a:endParaRPr lang="en-US" dirty="0"/>
          </a:p>
        </p:txBody>
      </p:sp>
    </p:spTree>
    <p:extLst>
      <p:ext uri="{BB962C8B-B14F-4D97-AF65-F5344CB8AC3E}">
        <p14:creationId xmlns:p14="http://schemas.microsoft.com/office/powerpoint/2010/main" val="2881490160"/>
      </p:ext>
    </p:extLst>
  </p:cSld>
  <p:clrMapOvr>
    <a:masterClrMapping/>
  </p:clrMapOvr>
</p:sld>
</file>

<file path=ppt/slides/slide6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INSECTS - THE DIPTERA (FLIES)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Those involved in disease transmission or are parasitic themselves are:</a:t>
            </a:r>
          </a:p>
          <a:p>
            <a:pPr lvl="0">
              <a:buFont typeface="Wingdings" pitchFamily="2" charset="2"/>
              <a:buChar char="Ø"/>
            </a:pPr>
            <a:r>
              <a:rPr lang="en-US" dirty="0"/>
              <a:t>Mosquitoes: </a:t>
            </a:r>
            <a:r>
              <a:rPr lang="en-US" i="1" dirty="0"/>
              <a:t>Anopheles. </a:t>
            </a:r>
            <a:r>
              <a:rPr lang="en-US" i="1" dirty="0" err="1"/>
              <a:t>Culex</a:t>
            </a:r>
            <a:r>
              <a:rPr lang="en-US" i="1" dirty="0"/>
              <a:t>, </a:t>
            </a:r>
            <a:r>
              <a:rPr lang="en-US" i="1" dirty="0" err="1"/>
              <a:t>Aedes</a:t>
            </a:r>
            <a:r>
              <a:rPr lang="en-US" i="1" dirty="0"/>
              <a:t>, </a:t>
            </a:r>
            <a:r>
              <a:rPr lang="en-US" i="1" dirty="0" err="1"/>
              <a:t>Mansonia</a:t>
            </a:r>
            <a:r>
              <a:rPr lang="en-US" dirty="0"/>
              <a:t> species</a:t>
            </a:r>
          </a:p>
          <a:p>
            <a:pPr lvl="0">
              <a:buFont typeface="Wingdings" pitchFamily="2" charset="2"/>
              <a:buChar char="Ø"/>
            </a:pPr>
            <a:r>
              <a:rPr lang="en-US" dirty="0"/>
              <a:t>Sandflies</a:t>
            </a:r>
            <a:r>
              <a:rPr lang="en-US" i="1" dirty="0"/>
              <a:t>: </a:t>
            </a:r>
            <a:r>
              <a:rPr lang="en-US" i="1" dirty="0" err="1"/>
              <a:t>Phlebotomus</a:t>
            </a:r>
            <a:r>
              <a:rPr lang="en-US" i="1" dirty="0"/>
              <a:t>, </a:t>
            </a:r>
            <a:r>
              <a:rPr lang="en-US" i="1" dirty="0" err="1"/>
              <a:t>Lutzomyia</a:t>
            </a:r>
            <a:r>
              <a:rPr lang="en-US" dirty="0"/>
              <a:t> species</a:t>
            </a:r>
          </a:p>
          <a:p>
            <a:pPr lvl="0">
              <a:buFont typeface="Wingdings" pitchFamily="2" charset="2"/>
              <a:buChar char="Ø"/>
            </a:pPr>
            <a:r>
              <a:rPr lang="en-US" dirty="0"/>
              <a:t>Blackflies: </a:t>
            </a:r>
            <a:r>
              <a:rPr lang="en-US" i="1" dirty="0" err="1"/>
              <a:t>Simulium</a:t>
            </a:r>
            <a:r>
              <a:rPr lang="en-US" dirty="0"/>
              <a:t> species</a:t>
            </a:r>
          </a:p>
          <a:p>
            <a:pPr lvl="0">
              <a:buFont typeface="Wingdings" pitchFamily="2" charset="2"/>
              <a:buChar char="Ø"/>
            </a:pPr>
            <a:r>
              <a:rPr lang="en-US" dirty="0"/>
              <a:t>Horseflies: </a:t>
            </a:r>
            <a:r>
              <a:rPr lang="en-US" i="1" dirty="0" err="1"/>
              <a:t>Chrysops</a:t>
            </a:r>
            <a:r>
              <a:rPr lang="en-US" dirty="0"/>
              <a:t> species</a:t>
            </a:r>
          </a:p>
          <a:p>
            <a:pPr lvl="0">
              <a:buFont typeface="Wingdings" pitchFamily="2" charset="2"/>
              <a:buChar char="Ø"/>
            </a:pPr>
            <a:r>
              <a:rPr lang="en-US" dirty="0"/>
              <a:t>Midges: </a:t>
            </a:r>
            <a:r>
              <a:rPr lang="en-US" i="1" dirty="0" err="1"/>
              <a:t>Culicoides</a:t>
            </a:r>
            <a:r>
              <a:rPr lang="en-US" i="1" dirty="0"/>
              <a:t> </a:t>
            </a:r>
            <a:r>
              <a:rPr lang="en-US" dirty="0"/>
              <a:t>species</a:t>
            </a:r>
          </a:p>
          <a:p>
            <a:endParaRPr lang="en-US" dirty="0"/>
          </a:p>
        </p:txBody>
      </p:sp>
    </p:spTree>
    <p:extLst>
      <p:ext uri="{BB962C8B-B14F-4D97-AF65-F5344CB8AC3E}">
        <p14:creationId xmlns:p14="http://schemas.microsoft.com/office/powerpoint/2010/main" val="2990408056"/>
      </p:ext>
    </p:extLst>
  </p:cSld>
  <p:clrMapOvr>
    <a:masterClrMapping/>
  </p:clrMapOvr>
</p:sld>
</file>

<file path=ppt/slides/slide6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INSECTS - THE DIPTERA (FLIES)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err="1"/>
              <a:t>Tsetseflies</a:t>
            </a:r>
            <a:r>
              <a:rPr lang="en-US" dirty="0"/>
              <a:t>: </a:t>
            </a:r>
            <a:r>
              <a:rPr lang="en-US" i="1" dirty="0" err="1"/>
              <a:t>Glossina</a:t>
            </a:r>
            <a:r>
              <a:rPr lang="en-US" i="1" dirty="0"/>
              <a:t> </a:t>
            </a:r>
            <a:r>
              <a:rPr lang="en-US" dirty="0"/>
              <a:t>species</a:t>
            </a:r>
          </a:p>
          <a:p>
            <a:pPr lvl="0">
              <a:buFont typeface="Wingdings" pitchFamily="2" charset="2"/>
              <a:buChar char="Ø"/>
            </a:pPr>
            <a:r>
              <a:rPr lang="en-US" dirty="0"/>
              <a:t>Houseflies: </a:t>
            </a:r>
            <a:r>
              <a:rPr lang="en-US" i="1" dirty="0" err="1"/>
              <a:t>Musca</a:t>
            </a:r>
            <a:r>
              <a:rPr lang="en-US" i="1" dirty="0"/>
              <a:t> </a:t>
            </a:r>
            <a:r>
              <a:rPr lang="en-US" dirty="0"/>
              <a:t>species, and </a:t>
            </a:r>
          </a:p>
          <a:p>
            <a:pPr lvl="0">
              <a:buFont typeface="Wingdings" pitchFamily="2" charset="2"/>
              <a:buChar char="Ø"/>
            </a:pPr>
            <a:r>
              <a:rPr lang="en-US" dirty="0"/>
              <a:t>Blow flies</a:t>
            </a:r>
            <a:r>
              <a:rPr lang="en-US" i="1" dirty="0"/>
              <a:t>: </a:t>
            </a:r>
            <a:r>
              <a:rPr lang="en-US" i="1" dirty="0" err="1"/>
              <a:t>Chrysomya</a:t>
            </a:r>
            <a:r>
              <a:rPr lang="en-US" i="1" dirty="0"/>
              <a:t>, </a:t>
            </a:r>
            <a:r>
              <a:rPr lang="en-US" i="1" dirty="0" err="1"/>
              <a:t>Cochliomyia</a:t>
            </a:r>
            <a:r>
              <a:rPr lang="en-US" i="1" dirty="0"/>
              <a:t>, </a:t>
            </a:r>
            <a:r>
              <a:rPr lang="en-US" i="1" dirty="0" err="1"/>
              <a:t>Cordilobia</a:t>
            </a:r>
            <a:r>
              <a:rPr lang="en-US" i="1" dirty="0"/>
              <a:t>, </a:t>
            </a:r>
            <a:r>
              <a:rPr lang="en-US" i="1" dirty="0" err="1"/>
              <a:t>Wohlfahrtia</a:t>
            </a:r>
            <a:r>
              <a:rPr lang="en-US" dirty="0"/>
              <a:t> and </a:t>
            </a:r>
            <a:r>
              <a:rPr lang="en-US" i="1" dirty="0" err="1"/>
              <a:t>Dermatobia</a:t>
            </a:r>
            <a:r>
              <a:rPr lang="en-US" i="1" dirty="0"/>
              <a:t> </a:t>
            </a:r>
            <a:r>
              <a:rPr lang="en-US" dirty="0"/>
              <a:t>species</a:t>
            </a:r>
          </a:p>
          <a:p>
            <a:endParaRPr lang="en-US" dirty="0"/>
          </a:p>
        </p:txBody>
      </p:sp>
    </p:spTree>
    <p:extLst>
      <p:ext uri="{BB962C8B-B14F-4D97-AF65-F5344CB8AC3E}">
        <p14:creationId xmlns:p14="http://schemas.microsoft.com/office/powerpoint/2010/main" val="3413025048"/>
      </p:ext>
    </p:extLst>
  </p:cSld>
  <p:clrMapOvr>
    <a:masterClrMapping/>
  </p:clrMapOvr>
</p:sld>
</file>

<file path=ppt/slides/slide6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Culicidae</a:t>
            </a:r>
            <a:r>
              <a:rPr lang="en-US" b="1" dirty="0"/>
              <a:t> (Mosquitoes)</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Are the most widespread of the medically important insects.</a:t>
            </a:r>
          </a:p>
          <a:p>
            <a:pPr lvl="0"/>
            <a:r>
              <a:rPr lang="en-US" dirty="0"/>
              <a:t>They differ from all other flies by their scaly wings and long proboscis which, in the </a:t>
            </a:r>
            <a:r>
              <a:rPr lang="en-US" dirty="0" err="1"/>
              <a:t>femal,e</a:t>
            </a:r>
            <a:r>
              <a:rPr lang="en-US" dirty="0"/>
              <a:t> is adapted for piercing and sucking</a:t>
            </a:r>
          </a:p>
          <a:p>
            <a:pPr lvl="0"/>
            <a:r>
              <a:rPr lang="en-US" dirty="0"/>
              <a:t>The life cycle for most species, from egg to the adult takes about 10-14 days; for </a:t>
            </a:r>
            <a:r>
              <a:rPr lang="en-US" i="1" dirty="0" err="1"/>
              <a:t>Mansonia</a:t>
            </a:r>
            <a:r>
              <a:rPr lang="en-US" i="1" dirty="0"/>
              <a:t> </a:t>
            </a:r>
            <a:r>
              <a:rPr lang="en-US" dirty="0" err="1"/>
              <a:t>sp</a:t>
            </a:r>
            <a:r>
              <a:rPr lang="en-US" dirty="0"/>
              <a:t>,</a:t>
            </a:r>
          </a:p>
          <a:p>
            <a:pPr lvl="0"/>
            <a:r>
              <a:rPr lang="en-US" dirty="0"/>
              <a:t>however, it may take up to about three weeks.</a:t>
            </a:r>
          </a:p>
          <a:p>
            <a:pPr lvl="0"/>
            <a:r>
              <a:rPr lang="en-US" dirty="0"/>
              <a:t>The life span of the adult is generally 3-4 weeks but may be reduced in nature due to natural enemies or factors</a:t>
            </a:r>
          </a:p>
          <a:p>
            <a:endParaRPr lang="en-US" dirty="0"/>
          </a:p>
        </p:txBody>
      </p:sp>
    </p:spTree>
    <p:extLst>
      <p:ext uri="{BB962C8B-B14F-4D97-AF65-F5344CB8AC3E}">
        <p14:creationId xmlns:p14="http://schemas.microsoft.com/office/powerpoint/2010/main" val="4072303049"/>
      </p:ext>
    </p:extLst>
  </p:cSld>
  <p:clrMapOvr>
    <a:masterClrMapping/>
  </p:clrMapOvr>
</p:sld>
</file>

<file path=ppt/slides/slide6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7200" y="0"/>
            <a:ext cx="9829800" cy="6858000"/>
          </a:xfrm>
        </p:spPr>
      </p:pic>
    </p:spTree>
    <p:extLst>
      <p:ext uri="{BB962C8B-B14F-4D97-AF65-F5344CB8AC3E}">
        <p14:creationId xmlns:p14="http://schemas.microsoft.com/office/powerpoint/2010/main" val="553225715"/>
      </p:ext>
    </p:extLst>
  </p:cSld>
  <p:clrMapOvr>
    <a:masterClrMapping/>
  </p:clrMapOvr>
</p:sld>
</file>

<file path=ppt/slides/slide6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Culicidae</a:t>
            </a:r>
            <a:r>
              <a:rPr lang="en-US" b="1" dirty="0"/>
              <a:t> (Mosquitoes)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v"/>
            </a:pPr>
            <a:r>
              <a:rPr lang="en-US" dirty="0"/>
              <a:t>Mosquitoes of medical importance are divided into</a:t>
            </a:r>
          </a:p>
          <a:p>
            <a:pPr lvl="0"/>
            <a:r>
              <a:rPr lang="en-US" dirty="0" err="1"/>
              <a:t>Anopheline</a:t>
            </a:r>
            <a:r>
              <a:rPr lang="en-US" dirty="0"/>
              <a:t> mosquitoes, e.g</a:t>
            </a:r>
            <a:r>
              <a:rPr lang="en-US" i="1" dirty="0"/>
              <a:t>. Anopheles</a:t>
            </a:r>
            <a:r>
              <a:rPr lang="en-US" dirty="0"/>
              <a:t> spp. and</a:t>
            </a:r>
          </a:p>
          <a:p>
            <a:pPr lvl="0"/>
            <a:r>
              <a:rPr lang="en-US" dirty="0" err="1"/>
              <a:t>Culicine</a:t>
            </a:r>
            <a:r>
              <a:rPr lang="en-US" dirty="0"/>
              <a:t> mosquitoes, e.g</a:t>
            </a:r>
            <a:r>
              <a:rPr lang="en-US" i="1" dirty="0"/>
              <a:t>.  </a:t>
            </a:r>
            <a:r>
              <a:rPr lang="en-US" i="1" dirty="0" err="1"/>
              <a:t>Aedes</a:t>
            </a:r>
            <a:r>
              <a:rPr lang="en-US" i="1" dirty="0"/>
              <a:t>, </a:t>
            </a:r>
            <a:r>
              <a:rPr lang="en-US" i="1" dirty="0" err="1"/>
              <a:t>Culex</a:t>
            </a:r>
            <a:r>
              <a:rPr lang="en-US" dirty="0"/>
              <a:t> and </a:t>
            </a:r>
            <a:r>
              <a:rPr lang="en-US" i="1" dirty="0" err="1"/>
              <a:t>Mansonia</a:t>
            </a:r>
            <a:r>
              <a:rPr lang="en-US" i="1" dirty="0"/>
              <a:t> </a:t>
            </a:r>
            <a:r>
              <a:rPr lang="en-US" dirty="0" err="1"/>
              <a:t>sp</a:t>
            </a:r>
            <a:endParaRPr lang="en-US" dirty="0"/>
          </a:p>
          <a:p>
            <a:endParaRPr lang="en-US" dirty="0"/>
          </a:p>
        </p:txBody>
      </p:sp>
    </p:spTree>
    <p:extLst>
      <p:ext uri="{BB962C8B-B14F-4D97-AF65-F5344CB8AC3E}">
        <p14:creationId xmlns:p14="http://schemas.microsoft.com/office/powerpoint/2010/main" val="1399317374"/>
      </p:ext>
    </p:extLst>
  </p:cSld>
  <p:clrMapOvr>
    <a:masterClrMapping/>
  </p:clrMapOvr>
</p:sld>
</file>

<file path=ppt/slides/slide6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Anopheles </a:t>
            </a:r>
            <a:r>
              <a:rPr lang="en-US" b="1" dirty="0"/>
              <a:t>species</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buFont typeface="Wingdings" pitchFamily="2" charset="2"/>
              <a:buChar char="v"/>
            </a:pPr>
            <a:r>
              <a:rPr lang="en-US" dirty="0"/>
              <a:t>They are vectors (definitive hosts) of:</a:t>
            </a:r>
          </a:p>
          <a:p>
            <a:pPr lvl="0">
              <a:buFont typeface="Wingdings" pitchFamily="2" charset="2"/>
              <a:buChar char="Ø"/>
            </a:pPr>
            <a:r>
              <a:rPr lang="en-US" dirty="0"/>
              <a:t>Malaria parasites</a:t>
            </a:r>
          </a:p>
          <a:p>
            <a:pPr lvl="0">
              <a:buFont typeface="Wingdings" pitchFamily="2" charset="2"/>
              <a:buChar char="Ø"/>
            </a:pPr>
            <a:r>
              <a:rPr lang="en-US" dirty="0" err="1"/>
              <a:t>Bancroftian</a:t>
            </a:r>
            <a:r>
              <a:rPr lang="en-US" dirty="0"/>
              <a:t> and </a:t>
            </a:r>
            <a:r>
              <a:rPr lang="en-US" dirty="0" err="1"/>
              <a:t>Brugian</a:t>
            </a:r>
            <a:r>
              <a:rPr lang="en-US" dirty="0"/>
              <a:t> filarial parasites, and</a:t>
            </a:r>
          </a:p>
          <a:p>
            <a:pPr lvl="0">
              <a:buFont typeface="Wingdings" pitchFamily="2" charset="2"/>
              <a:buChar char="Ø"/>
            </a:pPr>
            <a:r>
              <a:rPr lang="en-US" dirty="0" err="1"/>
              <a:t>Arboviruses</a:t>
            </a:r>
            <a:r>
              <a:rPr lang="en-US" dirty="0"/>
              <a:t> that cause some febrile and encephalitic diseases.</a:t>
            </a:r>
          </a:p>
          <a:p>
            <a:pPr lvl="0"/>
            <a:r>
              <a:rPr lang="en-US" dirty="0"/>
              <a:t>Most are twilight or night feeders although a few are also day feeders</a:t>
            </a:r>
          </a:p>
          <a:p>
            <a:pPr lvl="0"/>
            <a:r>
              <a:rPr lang="en-US" dirty="0"/>
              <a:t>Some feed and rest indoors; some feed outdoor and some feed indoors and rest outdoors</a:t>
            </a:r>
          </a:p>
        </p:txBody>
      </p:sp>
    </p:spTree>
    <p:extLst>
      <p:ext uri="{BB962C8B-B14F-4D97-AF65-F5344CB8AC3E}">
        <p14:creationId xmlns:p14="http://schemas.microsoft.com/office/powerpoint/2010/main" val="2599348832"/>
      </p:ext>
    </p:extLst>
  </p:cSld>
  <p:clrMapOvr>
    <a:masterClrMapping/>
  </p:clrMapOvr>
</p:sld>
</file>

<file path=ppt/slides/slide6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7200" y="76200"/>
            <a:ext cx="8229600" cy="6781800"/>
          </a:xfrm>
        </p:spPr>
      </p:pic>
    </p:spTree>
    <p:extLst>
      <p:ext uri="{BB962C8B-B14F-4D97-AF65-F5344CB8AC3E}">
        <p14:creationId xmlns:p14="http://schemas.microsoft.com/office/powerpoint/2010/main" val="1599164999"/>
      </p:ext>
    </p:extLst>
  </p:cSld>
  <p:clrMapOvr>
    <a:masterClrMapping/>
  </p:clrMapOvr>
</p:sld>
</file>

<file path=ppt/slides/slide6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a:t>Anopheles </a:t>
            </a:r>
            <a:r>
              <a:rPr lang="en-US" b="1" dirty="0"/>
              <a:t>species cont’d</a:t>
            </a:r>
            <a:br>
              <a:rPr lang="en-US" dirty="0"/>
            </a:br>
            <a:endParaRPr lang="en-US" dirty="0"/>
          </a:p>
        </p:txBody>
      </p:sp>
      <p:sp>
        <p:nvSpPr>
          <p:cNvPr id="3" name="Content Placeholder 2"/>
          <p:cNvSpPr>
            <a:spLocks noGrp="1"/>
          </p:cNvSpPr>
          <p:nvPr>
            <p:ph idx="1"/>
          </p:nvPr>
        </p:nvSpPr>
        <p:spPr/>
        <p:txBody>
          <a:bodyPr/>
          <a:lstStyle/>
          <a:p>
            <a:pPr lvl="0"/>
            <a:r>
              <a:rPr lang="en-US" dirty="0"/>
              <a:t>The breeding sites are very varied and include permanent or temporary pools, swamps, seepages, rice fields, tree-holes, ditches and reservoirs.</a:t>
            </a:r>
          </a:p>
          <a:p>
            <a:pPr lvl="0"/>
            <a:r>
              <a:rPr lang="en-US" dirty="0"/>
              <a:t>Some species require sunlight and some species require shade for their breeding.</a:t>
            </a:r>
          </a:p>
          <a:p>
            <a:pPr marL="0" indent="0">
              <a:buNone/>
            </a:pPr>
            <a:endParaRPr lang="en-US" dirty="0"/>
          </a:p>
          <a:p>
            <a:endParaRPr lang="en-US" dirty="0"/>
          </a:p>
        </p:txBody>
      </p:sp>
    </p:spTree>
    <p:extLst>
      <p:ext uri="{BB962C8B-B14F-4D97-AF65-F5344CB8AC3E}">
        <p14:creationId xmlns:p14="http://schemas.microsoft.com/office/powerpoint/2010/main" val="3879115024"/>
      </p:ext>
    </p:extLst>
  </p:cSld>
  <p:clrMapOvr>
    <a:masterClrMapping/>
  </p:clrMapOvr>
</p:sld>
</file>

<file path=ppt/slides/slide6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err="1"/>
              <a:t>Culicine</a:t>
            </a:r>
            <a:r>
              <a:rPr lang="en-US" b="1" dirty="0"/>
              <a:t> species</a:t>
            </a:r>
            <a:br>
              <a:rPr lang="en-US" dirty="0"/>
            </a:br>
            <a:endParaRPr lang="en-US" dirty="0"/>
          </a:p>
        </p:txBody>
      </p:sp>
      <p:sp>
        <p:nvSpPr>
          <p:cNvPr id="3" name="Content Placeholder 2"/>
          <p:cNvSpPr>
            <a:spLocks noGrp="1"/>
          </p:cNvSpPr>
          <p:nvPr>
            <p:ph idx="1"/>
          </p:nvPr>
        </p:nvSpPr>
        <p:spPr>
          <a:xfrm>
            <a:off x="457200" y="1676400"/>
            <a:ext cx="8229600" cy="4525963"/>
          </a:xfrm>
        </p:spPr>
        <p:txBody>
          <a:bodyPr/>
          <a:lstStyle/>
          <a:p>
            <a:pPr marL="0" lvl="0" indent="0">
              <a:buNone/>
            </a:pPr>
            <a:r>
              <a:rPr lang="en-US" b="1" i="1" dirty="0"/>
              <a:t>1. </a:t>
            </a:r>
            <a:r>
              <a:rPr lang="en-US" b="1" i="1" dirty="0" err="1"/>
              <a:t>Aedes</a:t>
            </a:r>
            <a:r>
              <a:rPr lang="en-US" i="1" dirty="0"/>
              <a:t> </a:t>
            </a:r>
            <a:r>
              <a:rPr lang="en-US" dirty="0"/>
              <a:t>mosquitoes are vectors of</a:t>
            </a:r>
          </a:p>
          <a:p>
            <a:pPr lvl="0">
              <a:buFont typeface="Wingdings" pitchFamily="2" charset="2"/>
              <a:buChar char="Ø"/>
            </a:pPr>
            <a:r>
              <a:rPr lang="en-US" dirty="0" err="1"/>
              <a:t>Bancroftian</a:t>
            </a:r>
            <a:r>
              <a:rPr lang="en-US" dirty="0"/>
              <a:t> </a:t>
            </a:r>
            <a:r>
              <a:rPr lang="en-US" dirty="0" err="1"/>
              <a:t>filariasis</a:t>
            </a:r>
            <a:endParaRPr lang="en-US" dirty="0"/>
          </a:p>
          <a:p>
            <a:pPr lvl="0">
              <a:buFont typeface="Wingdings" pitchFamily="2" charset="2"/>
              <a:buChar char="Ø"/>
            </a:pPr>
            <a:r>
              <a:rPr lang="en-US" dirty="0"/>
              <a:t>Jungle and urban yellow fever</a:t>
            </a:r>
          </a:p>
          <a:p>
            <a:pPr lvl="0">
              <a:buFont typeface="Wingdings" pitchFamily="2" charset="2"/>
              <a:buChar char="Ø"/>
            </a:pPr>
            <a:r>
              <a:rPr lang="en-US" dirty="0"/>
              <a:t>Dengue, including dengue </a:t>
            </a:r>
            <a:r>
              <a:rPr lang="en-US" dirty="0" err="1"/>
              <a:t>haemorrhagic</a:t>
            </a:r>
            <a:r>
              <a:rPr lang="en-US" dirty="0"/>
              <a:t> fever</a:t>
            </a:r>
          </a:p>
          <a:p>
            <a:pPr lvl="0">
              <a:buFont typeface="Wingdings" pitchFamily="2" charset="2"/>
              <a:buChar char="Ø"/>
            </a:pPr>
            <a:r>
              <a:rPr lang="en-US" dirty="0" err="1"/>
              <a:t>Arboviruses</a:t>
            </a:r>
            <a:r>
              <a:rPr lang="en-US" dirty="0"/>
              <a:t> of many febrile and encephalitic diseases such as yellow fever, Rift Valley Fever, </a:t>
            </a:r>
            <a:r>
              <a:rPr lang="en-US" dirty="0" err="1"/>
              <a:t>Chikungunya</a:t>
            </a:r>
            <a:r>
              <a:rPr lang="en-US" dirty="0"/>
              <a:t>, and </a:t>
            </a:r>
            <a:r>
              <a:rPr lang="en-US" dirty="0" err="1"/>
              <a:t>Sindbis</a:t>
            </a:r>
            <a:endParaRPr lang="en-US" dirty="0"/>
          </a:p>
          <a:p>
            <a:endParaRPr lang="en-US" dirty="0"/>
          </a:p>
        </p:txBody>
      </p:sp>
    </p:spTree>
    <p:extLst>
      <p:ext uri="{BB962C8B-B14F-4D97-AF65-F5344CB8AC3E}">
        <p14:creationId xmlns:p14="http://schemas.microsoft.com/office/powerpoint/2010/main" val="2617500346"/>
      </p:ext>
    </p:extLst>
  </p:cSld>
  <p:clrMapOvr>
    <a:masterClrMapping/>
  </p:clrMapOvr>
</p:sld>
</file>

<file path=ppt/slides/slide6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err="1"/>
              <a:t>Culicine</a:t>
            </a:r>
            <a:r>
              <a:rPr lang="en-US" b="1" dirty="0"/>
              <a:t> species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The adults are ornate with patterned legs, thorax, and abdomen; the wings are not spotted</a:t>
            </a:r>
          </a:p>
          <a:p>
            <a:pPr lvl="0"/>
            <a:r>
              <a:rPr lang="en-US" dirty="0"/>
              <a:t>They feed during the day or night, indoors and outdoors</a:t>
            </a:r>
          </a:p>
          <a:p>
            <a:pPr lvl="0"/>
            <a:r>
              <a:rPr lang="en-US" dirty="0"/>
              <a:t>Their breeding sites include stagnant water in dark tree holes, coconut shells, old tins, bamboos, pots, axils of leaves of bananas/plantain trees, mud holes made by land crabs. </a:t>
            </a:r>
          </a:p>
          <a:p>
            <a:pPr lvl="0"/>
            <a:r>
              <a:rPr lang="en-US" dirty="0"/>
              <a:t>The forest </a:t>
            </a:r>
            <a:r>
              <a:rPr lang="en-US" dirty="0" err="1"/>
              <a:t>starins</a:t>
            </a:r>
            <a:r>
              <a:rPr lang="en-US" dirty="0"/>
              <a:t> breed high up in trees, in holes, or in bamboos.</a:t>
            </a:r>
          </a:p>
          <a:p>
            <a:pPr marL="0" indent="0">
              <a:buNone/>
            </a:pPr>
            <a:endParaRPr lang="en-US" dirty="0"/>
          </a:p>
        </p:txBody>
      </p:sp>
    </p:spTree>
    <p:extLst>
      <p:ext uri="{BB962C8B-B14F-4D97-AF65-F5344CB8AC3E}">
        <p14:creationId xmlns:p14="http://schemas.microsoft.com/office/powerpoint/2010/main" val="2180672184"/>
      </p:ext>
    </p:extLst>
  </p:cSld>
  <p:clrMapOvr>
    <a:masterClrMapping/>
  </p:clrMapOvr>
</p:sld>
</file>

<file path=ppt/slides/slide6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err="1"/>
              <a:t>Culicine</a:t>
            </a:r>
            <a:r>
              <a:rPr lang="en-US" b="1" dirty="0"/>
              <a:t> species cont’d</a:t>
            </a:r>
            <a:br>
              <a:rPr lang="en-US" dirty="0"/>
            </a:br>
            <a:endParaRPr lang="en-US" dirty="0"/>
          </a:p>
        </p:txBody>
      </p:sp>
      <p:sp>
        <p:nvSpPr>
          <p:cNvPr id="3" name="Content Placeholder 2"/>
          <p:cNvSpPr>
            <a:spLocks noGrp="1"/>
          </p:cNvSpPr>
          <p:nvPr>
            <p:ph idx="1"/>
          </p:nvPr>
        </p:nvSpPr>
        <p:spPr/>
        <p:txBody>
          <a:bodyPr/>
          <a:lstStyle/>
          <a:p>
            <a:pPr lvl="0"/>
            <a:r>
              <a:rPr lang="en-US" b="1" i="1" dirty="0" err="1"/>
              <a:t>Culex</a:t>
            </a:r>
            <a:r>
              <a:rPr lang="en-US" b="1" dirty="0"/>
              <a:t> </a:t>
            </a:r>
            <a:r>
              <a:rPr lang="en-US" dirty="0"/>
              <a:t>species are vectors of</a:t>
            </a:r>
          </a:p>
          <a:p>
            <a:pPr lvl="0"/>
            <a:r>
              <a:rPr lang="en-US" dirty="0" err="1"/>
              <a:t>Bancroftian</a:t>
            </a:r>
            <a:r>
              <a:rPr lang="en-US" dirty="0"/>
              <a:t> </a:t>
            </a:r>
            <a:r>
              <a:rPr lang="en-US" dirty="0" err="1"/>
              <a:t>filariasis</a:t>
            </a:r>
            <a:endParaRPr lang="en-US" dirty="0"/>
          </a:p>
          <a:p>
            <a:pPr lvl="0"/>
            <a:r>
              <a:rPr lang="en-US" dirty="0" err="1"/>
              <a:t>Arboviruses</a:t>
            </a:r>
            <a:r>
              <a:rPr lang="en-US" dirty="0"/>
              <a:t> of several febrile and encephalitic diseases</a:t>
            </a:r>
          </a:p>
          <a:p>
            <a:pPr lvl="0"/>
            <a:r>
              <a:rPr lang="en-US" dirty="0"/>
              <a:t>The adults are not ornate</a:t>
            </a:r>
          </a:p>
          <a:p>
            <a:pPr lvl="0"/>
            <a:r>
              <a:rPr lang="en-US" dirty="0"/>
              <a:t>Many are attracted to animals</a:t>
            </a:r>
          </a:p>
          <a:p>
            <a:r>
              <a:rPr lang="en-US" dirty="0"/>
              <a:t>They are mostly indoor, night feeders</a:t>
            </a:r>
          </a:p>
        </p:txBody>
      </p:sp>
    </p:spTree>
    <p:extLst>
      <p:ext uri="{BB962C8B-B14F-4D97-AF65-F5344CB8AC3E}">
        <p14:creationId xmlns:p14="http://schemas.microsoft.com/office/powerpoint/2010/main" val="3600229478"/>
      </p:ext>
    </p:extLst>
  </p:cSld>
  <p:clrMapOvr>
    <a:masterClrMapping/>
  </p:clrMapOvr>
</p:sld>
</file>

<file path=ppt/slides/slide6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err="1"/>
              <a:t>Culicine</a:t>
            </a:r>
            <a:r>
              <a:rPr lang="en-US" b="1" dirty="0"/>
              <a:t> species cont’d</a:t>
            </a:r>
            <a:br>
              <a:rPr lang="en-US" dirty="0"/>
            </a:br>
            <a:endParaRPr lang="en-US" dirty="0"/>
          </a:p>
        </p:txBody>
      </p:sp>
      <p:sp>
        <p:nvSpPr>
          <p:cNvPr id="3" name="Content Placeholder 2"/>
          <p:cNvSpPr>
            <a:spLocks noGrp="1"/>
          </p:cNvSpPr>
          <p:nvPr>
            <p:ph idx="1"/>
          </p:nvPr>
        </p:nvSpPr>
        <p:spPr/>
        <p:txBody>
          <a:bodyPr/>
          <a:lstStyle/>
          <a:p>
            <a:pPr marL="0" lvl="0" indent="0">
              <a:buNone/>
            </a:pPr>
            <a:r>
              <a:rPr lang="en-US" b="1" i="1" dirty="0"/>
              <a:t>2. </a:t>
            </a:r>
            <a:r>
              <a:rPr lang="en-US" b="1" i="1" dirty="0" err="1"/>
              <a:t>Culex</a:t>
            </a:r>
            <a:r>
              <a:rPr lang="en-US" b="1" dirty="0"/>
              <a:t> </a:t>
            </a:r>
            <a:r>
              <a:rPr lang="en-US" dirty="0"/>
              <a:t>species are vectors of</a:t>
            </a:r>
          </a:p>
          <a:p>
            <a:pPr lvl="0">
              <a:buFont typeface="Wingdings" pitchFamily="2" charset="2"/>
              <a:buChar char="Ø"/>
            </a:pPr>
            <a:r>
              <a:rPr lang="en-US" dirty="0" err="1"/>
              <a:t>Bancroftian</a:t>
            </a:r>
            <a:r>
              <a:rPr lang="en-US" dirty="0"/>
              <a:t> </a:t>
            </a:r>
            <a:r>
              <a:rPr lang="en-US" dirty="0" err="1"/>
              <a:t>filariasis</a:t>
            </a:r>
            <a:endParaRPr lang="en-US" dirty="0"/>
          </a:p>
          <a:p>
            <a:pPr lvl="0">
              <a:buFont typeface="Wingdings" pitchFamily="2" charset="2"/>
              <a:buChar char="Ø"/>
            </a:pPr>
            <a:r>
              <a:rPr lang="en-US" dirty="0" err="1"/>
              <a:t>Arboviruses</a:t>
            </a:r>
            <a:r>
              <a:rPr lang="en-US" dirty="0"/>
              <a:t> of several febrile and encephalitic diseases</a:t>
            </a:r>
          </a:p>
          <a:p>
            <a:pPr lvl="0"/>
            <a:r>
              <a:rPr lang="en-US" dirty="0"/>
              <a:t>The adults are not ornate</a:t>
            </a:r>
          </a:p>
          <a:p>
            <a:pPr lvl="0"/>
            <a:r>
              <a:rPr lang="en-US" dirty="0"/>
              <a:t>Many are attracted to animals</a:t>
            </a:r>
          </a:p>
          <a:p>
            <a:r>
              <a:rPr lang="en-US" dirty="0"/>
              <a:t>They are mostly indoor, night feeders</a:t>
            </a:r>
          </a:p>
        </p:txBody>
      </p:sp>
    </p:spTree>
    <p:extLst>
      <p:ext uri="{BB962C8B-B14F-4D97-AF65-F5344CB8AC3E}">
        <p14:creationId xmlns:p14="http://schemas.microsoft.com/office/powerpoint/2010/main" val="3119032163"/>
      </p:ext>
    </p:extLst>
  </p:cSld>
  <p:clrMapOvr>
    <a:masterClrMapping/>
  </p:clrMapOvr>
</p:sld>
</file>

<file path=ppt/slides/slide6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err="1"/>
              <a:t>Culicine</a:t>
            </a:r>
            <a:r>
              <a:rPr lang="en-US" b="1" dirty="0"/>
              <a:t> species cont’d</a:t>
            </a:r>
            <a:br>
              <a:rPr lang="en-US" dirty="0"/>
            </a:br>
            <a:endParaRPr lang="en-US" dirty="0"/>
          </a:p>
        </p:txBody>
      </p:sp>
      <p:sp>
        <p:nvSpPr>
          <p:cNvPr id="3" name="Content Placeholder 2"/>
          <p:cNvSpPr>
            <a:spLocks noGrp="1"/>
          </p:cNvSpPr>
          <p:nvPr>
            <p:ph idx="1"/>
          </p:nvPr>
        </p:nvSpPr>
        <p:spPr/>
        <p:txBody>
          <a:bodyPr>
            <a:normAutofit/>
          </a:bodyPr>
          <a:lstStyle/>
          <a:p>
            <a:pPr marL="0" lvl="0" indent="0">
              <a:buNone/>
            </a:pPr>
            <a:r>
              <a:rPr lang="en-US" b="1" i="1" dirty="0"/>
              <a:t>3. </a:t>
            </a:r>
            <a:r>
              <a:rPr lang="en-US" b="1" i="1" dirty="0" err="1"/>
              <a:t>Mansonia</a:t>
            </a:r>
            <a:r>
              <a:rPr lang="en-US" b="1" i="1" dirty="0"/>
              <a:t> </a:t>
            </a:r>
            <a:r>
              <a:rPr lang="en-US" dirty="0"/>
              <a:t>species are vectors of</a:t>
            </a:r>
          </a:p>
          <a:p>
            <a:pPr>
              <a:buFont typeface="Wingdings" pitchFamily="2" charset="2"/>
              <a:buChar char="Ø"/>
            </a:pPr>
            <a:r>
              <a:rPr lang="en-US" dirty="0" err="1"/>
              <a:t>Brugian</a:t>
            </a:r>
            <a:r>
              <a:rPr lang="en-US" dirty="0"/>
              <a:t> </a:t>
            </a:r>
            <a:r>
              <a:rPr lang="en-US" dirty="0" err="1"/>
              <a:t>filariasis</a:t>
            </a:r>
            <a:r>
              <a:rPr lang="en-US" dirty="0"/>
              <a:t> and </a:t>
            </a:r>
            <a:r>
              <a:rPr lang="en-US" dirty="0" err="1"/>
              <a:t>Bancroftian</a:t>
            </a:r>
            <a:r>
              <a:rPr lang="en-US" dirty="0"/>
              <a:t> </a:t>
            </a:r>
            <a:r>
              <a:rPr lang="en-US" dirty="0" err="1"/>
              <a:t>filariasis</a:t>
            </a:r>
            <a:r>
              <a:rPr lang="en-US" dirty="0"/>
              <a:t>.</a:t>
            </a:r>
          </a:p>
          <a:p>
            <a:pPr lvl="0"/>
            <a:r>
              <a:rPr lang="en-US" dirty="0"/>
              <a:t>Adults are of moderate size and strongly built</a:t>
            </a:r>
          </a:p>
          <a:p>
            <a:pPr lvl="0"/>
            <a:r>
              <a:rPr lang="en-US" dirty="0"/>
              <a:t>They feed at night, indoors and outdoors, and during the day in swamp forests</a:t>
            </a:r>
          </a:p>
          <a:p>
            <a:pPr lvl="0"/>
            <a:r>
              <a:rPr lang="en-US" dirty="0"/>
              <a:t>They breed in swamps, paddy fields, ponds or collections of water in water plants or swamp grass</a:t>
            </a:r>
          </a:p>
          <a:p>
            <a:pPr marL="0" indent="0">
              <a:buNone/>
            </a:pPr>
            <a:endParaRPr lang="en-US" dirty="0"/>
          </a:p>
        </p:txBody>
      </p:sp>
    </p:spTree>
    <p:extLst>
      <p:ext uri="{BB962C8B-B14F-4D97-AF65-F5344CB8AC3E}">
        <p14:creationId xmlns:p14="http://schemas.microsoft.com/office/powerpoint/2010/main" val="2997894358"/>
      </p:ext>
    </p:extLst>
  </p:cSld>
  <p:clrMapOvr>
    <a:masterClrMapping/>
  </p:clrMapOvr>
</p:sld>
</file>

<file path=ppt/slides/slide7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err="1"/>
              <a:t>Culicine</a:t>
            </a:r>
            <a:r>
              <a:rPr lang="en-US" b="1" dirty="0"/>
              <a:t> species cont’d</a:t>
            </a:r>
            <a:br>
              <a:rPr lang="en-US" dirty="0"/>
            </a:br>
            <a:endParaRPr lang="en-US" dirty="0"/>
          </a:p>
        </p:txBody>
      </p:sp>
      <p:sp>
        <p:nvSpPr>
          <p:cNvPr id="3" name="Content Placeholder 2"/>
          <p:cNvSpPr>
            <a:spLocks noGrp="1"/>
          </p:cNvSpPr>
          <p:nvPr>
            <p:ph idx="1"/>
          </p:nvPr>
        </p:nvSpPr>
        <p:spPr/>
        <p:txBody>
          <a:bodyPr/>
          <a:lstStyle/>
          <a:p>
            <a:pPr lvl="0"/>
            <a:r>
              <a:rPr lang="en-US" dirty="0"/>
              <a:t>The siphon of the larva is short, conically-shaped and modified for piercing submerged stems and roots of plants to obtain oxygen.</a:t>
            </a:r>
          </a:p>
          <a:p>
            <a:pPr marL="0" indent="0">
              <a:buNone/>
            </a:pPr>
            <a:endParaRPr lang="en-US" dirty="0"/>
          </a:p>
        </p:txBody>
      </p:sp>
    </p:spTree>
    <p:extLst>
      <p:ext uri="{BB962C8B-B14F-4D97-AF65-F5344CB8AC3E}">
        <p14:creationId xmlns:p14="http://schemas.microsoft.com/office/powerpoint/2010/main" val="1966786059"/>
      </p:ext>
    </p:extLst>
  </p:cSld>
  <p:clrMapOvr>
    <a:masterClrMapping/>
  </p:clrMapOvr>
</p:sld>
</file>

<file path=ppt/slides/slide7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Psychodidae</a:t>
            </a:r>
            <a:br>
              <a:rPr lang="en-US" dirty="0"/>
            </a:br>
            <a:endParaRPr lang="en-US" dirty="0"/>
          </a:p>
        </p:txBody>
      </p:sp>
      <p:sp>
        <p:nvSpPr>
          <p:cNvPr id="3" name="Content Placeholder 2"/>
          <p:cNvSpPr>
            <a:spLocks noGrp="1"/>
          </p:cNvSpPr>
          <p:nvPr>
            <p:ph idx="1"/>
          </p:nvPr>
        </p:nvSpPr>
        <p:spPr/>
        <p:txBody>
          <a:bodyPr>
            <a:normAutofit fontScale="92500"/>
          </a:bodyPr>
          <a:lstStyle/>
          <a:p>
            <a:pPr>
              <a:buFont typeface="Wingdings" pitchFamily="2" charset="2"/>
              <a:buChar char="v"/>
            </a:pPr>
            <a:r>
              <a:rPr lang="en-US" dirty="0"/>
              <a:t>Two Subfamilies are of medical importance: </a:t>
            </a:r>
            <a:r>
              <a:rPr lang="en-US" b="1" dirty="0" err="1"/>
              <a:t>Psychodinae</a:t>
            </a:r>
            <a:r>
              <a:rPr lang="en-US" b="1" dirty="0"/>
              <a:t> </a:t>
            </a:r>
            <a:r>
              <a:rPr lang="en-US" dirty="0"/>
              <a:t>which contain moth flies and are of slight parasitological importance they breed in substrates rich in decomposing organic matter; </a:t>
            </a:r>
          </a:p>
          <a:p>
            <a:pPr>
              <a:buFont typeface="Wingdings" pitchFamily="2" charset="2"/>
              <a:buChar char="v"/>
            </a:pPr>
            <a:r>
              <a:rPr lang="en-US" dirty="0"/>
              <a:t>some are found in cesspools and drains; some are involved in the mechanical transmission of nematodes that parasitize livestock, and </a:t>
            </a:r>
            <a:r>
              <a:rPr lang="en-US" b="1" dirty="0" err="1"/>
              <a:t>Phlebotominae</a:t>
            </a:r>
            <a:r>
              <a:rPr lang="en-US" dirty="0"/>
              <a:t> which consist of sand flies and are of great medical importance.</a:t>
            </a:r>
          </a:p>
          <a:p>
            <a:endParaRPr lang="en-US" dirty="0"/>
          </a:p>
        </p:txBody>
      </p:sp>
    </p:spTree>
    <p:extLst>
      <p:ext uri="{BB962C8B-B14F-4D97-AF65-F5344CB8AC3E}">
        <p14:creationId xmlns:p14="http://schemas.microsoft.com/office/powerpoint/2010/main" val="1302075258"/>
      </p:ext>
    </p:extLst>
  </p:cSld>
  <p:clrMapOvr>
    <a:masterClrMapping/>
  </p:clrMapOvr>
</p:sld>
</file>

<file path=ppt/slides/slide7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Sandflies (</a:t>
            </a:r>
            <a:r>
              <a:rPr lang="en-US" b="1" dirty="0" err="1"/>
              <a:t>Phlebotomine</a:t>
            </a:r>
            <a:r>
              <a:rPr lang="en-US" b="1" dirty="0"/>
              <a:t> flies)</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These are vectors of</a:t>
            </a:r>
          </a:p>
          <a:p>
            <a:pPr lvl="0">
              <a:buFont typeface="Wingdings" pitchFamily="2" charset="2"/>
              <a:buChar char="Ø"/>
            </a:pPr>
            <a:r>
              <a:rPr lang="en-US" dirty="0"/>
              <a:t>Visceral </a:t>
            </a:r>
            <a:r>
              <a:rPr lang="en-US" dirty="0" err="1"/>
              <a:t>leishmaniasis</a:t>
            </a:r>
            <a:endParaRPr lang="en-US" dirty="0"/>
          </a:p>
          <a:p>
            <a:pPr lvl="0">
              <a:buFont typeface="Wingdings" pitchFamily="2" charset="2"/>
              <a:buChar char="Ø"/>
            </a:pPr>
            <a:r>
              <a:rPr lang="en-US" dirty="0"/>
              <a:t>Cutaneous </a:t>
            </a:r>
            <a:r>
              <a:rPr lang="en-US" dirty="0" err="1"/>
              <a:t>leishmaniasis</a:t>
            </a:r>
            <a:endParaRPr lang="en-US" dirty="0"/>
          </a:p>
          <a:p>
            <a:pPr lvl="0">
              <a:buFont typeface="Wingdings" pitchFamily="2" charset="2"/>
              <a:buChar char="Ø"/>
            </a:pPr>
            <a:r>
              <a:rPr lang="en-US" dirty="0" err="1"/>
              <a:t>Mucocutaneous</a:t>
            </a:r>
            <a:r>
              <a:rPr lang="en-US" dirty="0"/>
              <a:t> </a:t>
            </a:r>
            <a:r>
              <a:rPr lang="en-US" dirty="0" err="1"/>
              <a:t>leishmaniasis</a:t>
            </a:r>
            <a:endParaRPr lang="en-US" dirty="0"/>
          </a:p>
          <a:p>
            <a:pPr lvl="0">
              <a:buFont typeface="Wingdings" pitchFamily="2" charset="2"/>
              <a:buChar char="Ø"/>
            </a:pPr>
            <a:r>
              <a:rPr lang="en-US" dirty="0"/>
              <a:t>Sandfly fever</a:t>
            </a:r>
          </a:p>
          <a:p>
            <a:pPr lvl="0">
              <a:buFont typeface="Wingdings" pitchFamily="2" charset="2"/>
              <a:buChar char="Ø"/>
            </a:pPr>
            <a:r>
              <a:rPr lang="en-US" dirty="0" err="1"/>
              <a:t>Oroya</a:t>
            </a:r>
            <a:r>
              <a:rPr lang="en-US" dirty="0"/>
              <a:t> fever (also known as Carrion’s disease)</a:t>
            </a:r>
          </a:p>
          <a:p>
            <a:endParaRPr lang="en-US" dirty="0"/>
          </a:p>
        </p:txBody>
      </p:sp>
    </p:spTree>
    <p:extLst>
      <p:ext uri="{BB962C8B-B14F-4D97-AF65-F5344CB8AC3E}">
        <p14:creationId xmlns:p14="http://schemas.microsoft.com/office/powerpoint/2010/main" val="3424376966"/>
      </p:ext>
    </p:extLst>
  </p:cSld>
  <p:clrMapOvr>
    <a:masterClrMapping/>
  </p:clrMapOvr>
</p:sld>
</file>

<file path=ppt/slides/slide7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Sandflies (</a:t>
            </a:r>
            <a:r>
              <a:rPr lang="en-US" b="1" dirty="0" err="1"/>
              <a:t>Phlebotomine</a:t>
            </a:r>
            <a:r>
              <a:rPr lang="en-US" b="1" dirty="0"/>
              <a:t> flies) cont’d</a:t>
            </a:r>
            <a:br>
              <a:rPr lang="en-US" dirty="0"/>
            </a:br>
            <a:endParaRPr lang="en-US" dirty="0"/>
          </a:p>
        </p:txBody>
      </p:sp>
      <p:sp>
        <p:nvSpPr>
          <p:cNvPr id="3" name="Content Placeholder 2"/>
          <p:cNvSpPr>
            <a:spLocks noGrp="1"/>
          </p:cNvSpPr>
          <p:nvPr>
            <p:ph idx="1"/>
          </p:nvPr>
        </p:nvSpPr>
        <p:spPr>
          <a:xfrm>
            <a:off x="457200" y="1676400"/>
            <a:ext cx="8229600" cy="4953000"/>
          </a:xfrm>
        </p:spPr>
        <p:txBody>
          <a:bodyPr>
            <a:normAutofit fontScale="92500" lnSpcReduction="20000"/>
          </a:bodyPr>
          <a:lstStyle/>
          <a:p>
            <a:pPr lvl="0"/>
            <a:r>
              <a:rPr lang="en-US" dirty="0"/>
              <a:t>They are small, hairy, yellow or grey-</a:t>
            </a:r>
            <a:r>
              <a:rPr lang="en-US" dirty="0" err="1"/>
              <a:t>coloured</a:t>
            </a:r>
            <a:r>
              <a:rPr lang="en-US" dirty="0"/>
              <a:t> insects</a:t>
            </a:r>
          </a:p>
          <a:p>
            <a:pPr lvl="0"/>
            <a:r>
              <a:rPr lang="en-US" dirty="0"/>
              <a:t>They are found in warm and hot climates, in dry desert-like regions or in humid forest areas</a:t>
            </a:r>
          </a:p>
          <a:p>
            <a:pPr lvl="0"/>
            <a:r>
              <a:rPr lang="en-US" dirty="0"/>
              <a:t>They fly near to the ground in short hop-like flights near their breeding sites</a:t>
            </a:r>
          </a:p>
          <a:p>
            <a:pPr lvl="0"/>
            <a:r>
              <a:rPr lang="en-US" dirty="0"/>
              <a:t>The female sucks blood from humans, rodents, dogs and other animals; the males feed on plant juices</a:t>
            </a:r>
          </a:p>
          <a:p>
            <a:pPr lvl="0"/>
            <a:r>
              <a:rPr lang="en-US" dirty="0"/>
              <a:t>The eggs are laid in cracks and holes in moist ground, including animal burrows and under stones and bricks</a:t>
            </a:r>
          </a:p>
          <a:p>
            <a:pPr marL="0" indent="0">
              <a:buNone/>
            </a:pPr>
            <a:endParaRPr lang="en-US" dirty="0"/>
          </a:p>
        </p:txBody>
      </p:sp>
    </p:spTree>
    <p:extLst>
      <p:ext uri="{BB962C8B-B14F-4D97-AF65-F5344CB8AC3E}">
        <p14:creationId xmlns:p14="http://schemas.microsoft.com/office/powerpoint/2010/main" val="3829720857"/>
      </p:ext>
    </p:extLst>
  </p:cSld>
  <p:clrMapOvr>
    <a:masterClrMapping/>
  </p:clrMapOvr>
</p:sld>
</file>

<file path=ppt/slides/slide7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Sandflies (</a:t>
            </a:r>
            <a:r>
              <a:rPr lang="en-US" b="1" dirty="0" err="1"/>
              <a:t>Phlebotomine</a:t>
            </a:r>
            <a:r>
              <a:rPr lang="en-US" b="1" dirty="0"/>
              <a:t> flies)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There are four larval stages; larvae feed on organic matter</a:t>
            </a:r>
          </a:p>
          <a:p>
            <a:pPr lvl="0"/>
            <a:r>
              <a:rPr lang="en-US" dirty="0"/>
              <a:t>From egg laying to adult emergence takes 35-60 days, depending on temperature and availability of food</a:t>
            </a:r>
          </a:p>
          <a:p>
            <a:pPr lvl="0"/>
            <a:r>
              <a:rPr lang="en-US" dirty="0"/>
              <a:t>Adult life-span is a few weeks, and it rests on tree trunks, in tree holes, on walls and in cracks and crevices.</a:t>
            </a:r>
          </a:p>
          <a:p>
            <a:pPr lvl="0"/>
            <a:r>
              <a:rPr lang="en-US" dirty="0"/>
              <a:t>Adult Sandflies feed at night or at twilight and early morning; although some feed during the day</a:t>
            </a:r>
          </a:p>
          <a:p>
            <a:pPr marL="0" indent="0">
              <a:buNone/>
            </a:pPr>
            <a:endParaRPr lang="en-US" dirty="0"/>
          </a:p>
        </p:txBody>
      </p:sp>
    </p:spTree>
    <p:extLst>
      <p:ext uri="{BB962C8B-B14F-4D97-AF65-F5344CB8AC3E}">
        <p14:creationId xmlns:p14="http://schemas.microsoft.com/office/powerpoint/2010/main" val="241375011"/>
      </p:ext>
    </p:extLst>
  </p:cSld>
  <p:clrMapOvr>
    <a:masterClrMapping/>
  </p:clrMapOvr>
</p:sld>
</file>

<file path=ppt/slides/slide7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Sandflies (</a:t>
            </a:r>
            <a:r>
              <a:rPr lang="en-US" b="1" dirty="0" err="1"/>
              <a:t>Phlebotomine</a:t>
            </a:r>
            <a:r>
              <a:rPr lang="en-US" b="1" dirty="0"/>
              <a:t> flies) cont’d</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They are weak flyers, navigating only short distances and are inactive when the wind is blowing; </a:t>
            </a:r>
          </a:p>
          <a:p>
            <a:pPr lvl="0"/>
            <a:r>
              <a:rPr lang="en-US" dirty="0"/>
              <a:t>they avoid hot, dry places, however, there are desert species that thrive by hiding in dry mud cracks and burrows, emerging only during humid (night) hours which coincide with the times of human activities</a:t>
            </a:r>
          </a:p>
          <a:p>
            <a:endParaRPr lang="en-US" dirty="0"/>
          </a:p>
        </p:txBody>
      </p:sp>
    </p:spTree>
    <p:extLst>
      <p:ext uri="{BB962C8B-B14F-4D97-AF65-F5344CB8AC3E}">
        <p14:creationId xmlns:p14="http://schemas.microsoft.com/office/powerpoint/2010/main" val="1229844401"/>
      </p:ext>
    </p:extLst>
  </p:cSld>
  <p:clrMapOvr>
    <a:masterClrMapping/>
  </p:clrMapOvr>
</p:sld>
</file>

<file path=ppt/slides/slide7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Sandflies (</a:t>
            </a:r>
            <a:r>
              <a:rPr lang="en-US" b="1" dirty="0" err="1"/>
              <a:t>Phlebotomine</a:t>
            </a:r>
            <a:r>
              <a:rPr lang="en-US" b="1" dirty="0"/>
              <a:t> flies) cont’d</a:t>
            </a:r>
            <a:br>
              <a:rPr lang="en-US" dirty="0"/>
            </a:br>
            <a:endParaRPr lang="en-US" dirty="0"/>
          </a:p>
        </p:txBody>
      </p:sp>
      <p:sp>
        <p:nvSpPr>
          <p:cNvPr id="3" name="Content Placeholder 2"/>
          <p:cNvSpPr>
            <a:spLocks noGrp="1"/>
          </p:cNvSpPr>
          <p:nvPr>
            <p:ph idx="1"/>
          </p:nvPr>
        </p:nvSpPr>
        <p:spPr/>
        <p:txBody>
          <a:bodyPr/>
          <a:lstStyle/>
          <a:p>
            <a:pPr lvl="0"/>
            <a:r>
              <a:rPr lang="en-US" dirty="0"/>
              <a:t>There are two generally recognized Old World genera of sandflies</a:t>
            </a:r>
            <a:r>
              <a:rPr lang="en-US" i="1" dirty="0"/>
              <a:t>, </a:t>
            </a:r>
            <a:r>
              <a:rPr lang="en-US" i="1" dirty="0" err="1"/>
              <a:t>Phlebotomus</a:t>
            </a:r>
            <a:r>
              <a:rPr lang="en-US" dirty="0"/>
              <a:t> and </a:t>
            </a:r>
            <a:r>
              <a:rPr lang="en-US" i="1" dirty="0" err="1"/>
              <a:t>Sergentomyia</a:t>
            </a:r>
            <a:r>
              <a:rPr lang="en-US" i="1" dirty="0"/>
              <a:t> </a:t>
            </a:r>
            <a:r>
              <a:rPr lang="en-US" dirty="0"/>
              <a:t>and one American, the genus </a:t>
            </a:r>
            <a:r>
              <a:rPr lang="en-US" i="1" dirty="0" err="1"/>
              <a:t>Lutzomyia</a:t>
            </a:r>
            <a:endParaRPr lang="en-US" dirty="0"/>
          </a:p>
          <a:p>
            <a:pPr lvl="0"/>
            <a:r>
              <a:rPr lang="en-US" dirty="0" err="1"/>
              <a:t>Phlebotomines</a:t>
            </a:r>
            <a:r>
              <a:rPr lang="en-US" dirty="0"/>
              <a:t> require a combination of darkness, high humidity, organic debris on which larvae feed, and possibly a sleeping host.</a:t>
            </a:r>
          </a:p>
          <a:p>
            <a:pPr marL="0" indent="0">
              <a:buNone/>
            </a:pPr>
            <a:endParaRPr lang="en-US" dirty="0"/>
          </a:p>
        </p:txBody>
      </p:sp>
    </p:spTree>
    <p:extLst>
      <p:ext uri="{BB962C8B-B14F-4D97-AF65-F5344CB8AC3E}">
        <p14:creationId xmlns:p14="http://schemas.microsoft.com/office/powerpoint/2010/main" val="259130791"/>
      </p:ext>
    </p:extLst>
  </p:cSld>
  <p:clrMapOvr>
    <a:masterClrMapping/>
  </p:clrMapOvr>
</p:sld>
</file>

<file path=ppt/slides/slide7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Simuliidae</a:t>
            </a:r>
            <a:br>
              <a:rPr lang="en-US" dirty="0"/>
            </a:br>
            <a:endParaRPr lang="en-US" dirty="0"/>
          </a:p>
        </p:txBody>
      </p:sp>
      <p:sp>
        <p:nvSpPr>
          <p:cNvPr id="3" name="Content Placeholder 2"/>
          <p:cNvSpPr>
            <a:spLocks noGrp="1"/>
          </p:cNvSpPr>
          <p:nvPr>
            <p:ph idx="1"/>
          </p:nvPr>
        </p:nvSpPr>
        <p:spPr>
          <a:xfrm>
            <a:off x="457200" y="1600200"/>
            <a:ext cx="8229600" cy="4648200"/>
          </a:xfrm>
        </p:spPr>
        <p:txBody>
          <a:bodyPr>
            <a:normAutofit fontScale="92500" lnSpcReduction="20000"/>
          </a:bodyPr>
          <a:lstStyle/>
          <a:p>
            <a:pPr lvl="0"/>
            <a:r>
              <a:rPr lang="en-US" dirty="0" err="1"/>
              <a:t>Simulid</a:t>
            </a:r>
            <a:r>
              <a:rPr lang="en-US" dirty="0"/>
              <a:t> flies are commonly known as black flies although many species are gray or tan</a:t>
            </a:r>
          </a:p>
          <a:p>
            <a:pPr lvl="0"/>
            <a:r>
              <a:rPr lang="en-US" dirty="0"/>
              <a:t>Their wings are broad and iridescent, with strongly developed anterior veins</a:t>
            </a:r>
          </a:p>
          <a:p>
            <a:pPr lvl="0"/>
            <a:r>
              <a:rPr lang="en-US" dirty="0"/>
              <a:t>They are small, 1.0mm-5.0mm long, the </a:t>
            </a:r>
            <a:r>
              <a:rPr lang="en-US" dirty="0" err="1"/>
              <a:t>prescutum</a:t>
            </a:r>
            <a:r>
              <a:rPr lang="en-US" dirty="0"/>
              <a:t> of their </a:t>
            </a:r>
            <a:r>
              <a:rPr lang="en-US" dirty="0" err="1"/>
              <a:t>mesonotum</a:t>
            </a:r>
            <a:r>
              <a:rPr lang="en-US" dirty="0"/>
              <a:t> is reduced, giving them a humpbacked appearance, which explains their other common name, buffalo gnat</a:t>
            </a:r>
          </a:p>
          <a:p>
            <a:pPr lvl="0"/>
            <a:r>
              <a:rPr lang="en-US" dirty="0"/>
              <a:t>Black flies are found worldwide but are most abundant in northern temperate and subarctic zones</a:t>
            </a:r>
          </a:p>
          <a:p>
            <a:endParaRPr lang="en-US" dirty="0"/>
          </a:p>
        </p:txBody>
      </p:sp>
    </p:spTree>
    <p:extLst>
      <p:ext uri="{BB962C8B-B14F-4D97-AF65-F5344CB8AC3E}">
        <p14:creationId xmlns:p14="http://schemas.microsoft.com/office/powerpoint/2010/main" val="834331700"/>
      </p:ext>
    </p:extLst>
  </p:cSld>
  <p:clrMapOvr>
    <a:masterClrMapping/>
  </p:clrMapOvr>
</p:sld>
</file>

<file path=ppt/slides/slide7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1000" y="0"/>
            <a:ext cx="8382000" cy="6858000"/>
          </a:xfrm>
        </p:spPr>
      </p:pic>
    </p:spTree>
    <p:extLst>
      <p:ext uri="{BB962C8B-B14F-4D97-AF65-F5344CB8AC3E}">
        <p14:creationId xmlns:p14="http://schemas.microsoft.com/office/powerpoint/2010/main" val="4016875645"/>
      </p:ext>
    </p:extLst>
  </p:cSld>
  <p:clrMapOvr>
    <a:masterClrMapping/>
  </p:clrMapOvr>
</p:sld>
</file>

<file path=ppt/slides/slide7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Simuliidae</a:t>
            </a:r>
            <a:r>
              <a:rPr lang="en-US" b="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Larval development occurs only in running well-oxygenated water; </a:t>
            </a:r>
          </a:p>
          <a:p>
            <a:pPr lvl="0"/>
            <a:r>
              <a:rPr lang="en-US" dirty="0"/>
              <a:t>they are, therefore, most numerous near rivers and streams, although they are able to travel several miles when aided by winds</a:t>
            </a:r>
          </a:p>
          <a:p>
            <a:pPr lvl="0"/>
            <a:r>
              <a:rPr lang="en-US" dirty="0"/>
              <a:t>Individuals react differently to black fly bites: few people have little or no reaction;</a:t>
            </a:r>
          </a:p>
          <a:p>
            <a:pPr lvl="0"/>
            <a:r>
              <a:rPr lang="en-US" dirty="0"/>
              <a:t> most develop local reactions in the form of reddened, itching wheals</a:t>
            </a:r>
          </a:p>
        </p:txBody>
      </p:sp>
    </p:spTree>
    <p:extLst>
      <p:ext uri="{BB962C8B-B14F-4D97-AF65-F5344CB8AC3E}">
        <p14:creationId xmlns:p14="http://schemas.microsoft.com/office/powerpoint/2010/main" val="3014001160"/>
      </p:ext>
    </p:extLst>
  </p:cSld>
  <p:clrMapOvr>
    <a:masterClrMapping/>
  </p:clrMapOvr>
</p:sld>
</file>

<file path=ppt/slides/slide7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Simuliidae</a:t>
            </a:r>
            <a:r>
              <a:rPr lang="en-US" b="1" dirty="0"/>
              <a:t> cont’d</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Black fly fever, a combination of nausea, headache, fever and swollen limbs, occur in particularly sensitive persons.</a:t>
            </a:r>
          </a:p>
          <a:p>
            <a:pPr lvl="0"/>
            <a:r>
              <a:rPr lang="en-US" dirty="0"/>
              <a:t>Black flies are vectors of </a:t>
            </a:r>
            <a:r>
              <a:rPr lang="en-US" i="1" dirty="0" err="1"/>
              <a:t>Onchocerca</a:t>
            </a:r>
            <a:r>
              <a:rPr lang="en-US" i="1" dirty="0"/>
              <a:t> volvulus</a:t>
            </a:r>
            <a:r>
              <a:rPr lang="en-US" dirty="0"/>
              <a:t>, the cause of human </a:t>
            </a:r>
            <a:r>
              <a:rPr lang="en-US" dirty="0" err="1"/>
              <a:t>onchocerciasis</a:t>
            </a:r>
            <a:r>
              <a:rPr lang="en-US" dirty="0"/>
              <a:t>. </a:t>
            </a:r>
          </a:p>
          <a:p>
            <a:pPr lvl="0"/>
            <a:r>
              <a:rPr lang="en-US" dirty="0"/>
              <a:t>The most common vector in Africa is </a:t>
            </a:r>
            <a:r>
              <a:rPr lang="en-US" i="1" dirty="0"/>
              <a:t>S. </a:t>
            </a:r>
            <a:r>
              <a:rPr lang="en-US" i="1" dirty="0" err="1"/>
              <a:t>damnosum</a:t>
            </a:r>
            <a:r>
              <a:rPr lang="en-US" dirty="0"/>
              <a:t>, and also </a:t>
            </a:r>
            <a:r>
              <a:rPr lang="en-US" i="1" dirty="0"/>
              <a:t>S. </a:t>
            </a:r>
            <a:r>
              <a:rPr lang="en-US" i="1" dirty="0" err="1"/>
              <a:t>neavei</a:t>
            </a:r>
            <a:endParaRPr lang="en-US" dirty="0"/>
          </a:p>
          <a:p>
            <a:pPr marL="0" indent="0">
              <a:buNone/>
            </a:pPr>
            <a:endParaRPr lang="en-US" dirty="0"/>
          </a:p>
        </p:txBody>
      </p:sp>
    </p:spTree>
    <p:extLst>
      <p:ext uri="{BB962C8B-B14F-4D97-AF65-F5344CB8AC3E}">
        <p14:creationId xmlns:p14="http://schemas.microsoft.com/office/powerpoint/2010/main" val="3705729448"/>
      </p:ext>
    </p:extLst>
  </p:cSld>
  <p:clrMapOvr>
    <a:masterClrMapping/>
  </p:clrMapOvr>
</p:sld>
</file>

<file path=ppt/slides/slide7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Simuliidae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In the new world</a:t>
            </a:r>
            <a:r>
              <a:rPr lang="en-US" i="1" dirty="0"/>
              <a:t>, S. </a:t>
            </a:r>
            <a:r>
              <a:rPr lang="en-US" i="1" dirty="0" err="1"/>
              <a:t>ochraceum</a:t>
            </a:r>
            <a:r>
              <a:rPr lang="en-US" i="1" dirty="0"/>
              <a:t>, S. </a:t>
            </a:r>
            <a:r>
              <a:rPr lang="en-US" i="1" dirty="0" err="1"/>
              <a:t>metallicum</a:t>
            </a:r>
            <a:r>
              <a:rPr lang="en-US" i="1" dirty="0"/>
              <a:t>, S. </a:t>
            </a:r>
            <a:r>
              <a:rPr lang="en-US" i="1" dirty="0" err="1"/>
              <a:t>callidum</a:t>
            </a:r>
            <a:r>
              <a:rPr lang="en-US" dirty="0"/>
              <a:t> and </a:t>
            </a:r>
            <a:r>
              <a:rPr lang="en-US" i="1" dirty="0"/>
              <a:t>S. </a:t>
            </a:r>
            <a:r>
              <a:rPr lang="en-US" i="1" dirty="0" err="1"/>
              <a:t>exiguum</a:t>
            </a:r>
            <a:r>
              <a:rPr lang="en-US" dirty="0"/>
              <a:t> are the most efficient vectors because of their preference for humans and the timing of their activity coinciding with that of humans</a:t>
            </a:r>
          </a:p>
          <a:p>
            <a:pPr lvl="0"/>
            <a:r>
              <a:rPr lang="en-US" i="1" dirty="0" err="1"/>
              <a:t>Onchocerca</a:t>
            </a:r>
            <a:r>
              <a:rPr lang="en-US" i="1" dirty="0"/>
              <a:t>. </a:t>
            </a:r>
            <a:r>
              <a:rPr lang="en-US" i="1" dirty="0" err="1"/>
              <a:t>gutterosa</a:t>
            </a:r>
            <a:r>
              <a:rPr lang="en-US" dirty="0"/>
              <a:t> commonly is transmitted to cattle by </a:t>
            </a:r>
            <a:r>
              <a:rPr lang="en-US" i="1" dirty="0"/>
              <a:t>S. </a:t>
            </a:r>
            <a:r>
              <a:rPr lang="en-US" i="1" dirty="0" err="1"/>
              <a:t>ornatum</a:t>
            </a:r>
            <a:r>
              <a:rPr lang="en-US" dirty="0"/>
              <a:t> in Europe, whilst in Australia </a:t>
            </a:r>
            <a:r>
              <a:rPr lang="en-US" i="1" dirty="0" err="1"/>
              <a:t>Simulium</a:t>
            </a:r>
            <a:r>
              <a:rPr lang="en-US" dirty="0"/>
              <a:t> and </a:t>
            </a:r>
            <a:r>
              <a:rPr lang="en-US" i="1" dirty="0" err="1"/>
              <a:t>Culicoides</a:t>
            </a:r>
            <a:r>
              <a:rPr lang="en-US" dirty="0"/>
              <a:t> </a:t>
            </a:r>
            <a:r>
              <a:rPr lang="en-US" dirty="0" err="1"/>
              <a:t>spp</a:t>
            </a:r>
            <a:r>
              <a:rPr lang="en-US" dirty="0"/>
              <a:t> infect cattle with </a:t>
            </a:r>
            <a:r>
              <a:rPr lang="en-US" i="1" dirty="0" err="1"/>
              <a:t>Onchocerca</a:t>
            </a:r>
            <a:r>
              <a:rPr lang="en-US" i="1" dirty="0"/>
              <a:t>. </a:t>
            </a:r>
            <a:r>
              <a:rPr lang="en-US" i="1" dirty="0" err="1"/>
              <a:t>gibsoni</a:t>
            </a:r>
            <a:r>
              <a:rPr lang="en-US" dirty="0"/>
              <a:t>, causing considerable loss to flesh and hides.</a:t>
            </a:r>
          </a:p>
          <a:p>
            <a:pPr marL="0" indent="0">
              <a:buNone/>
            </a:pPr>
            <a:endParaRPr lang="en-US" dirty="0"/>
          </a:p>
        </p:txBody>
      </p:sp>
    </p:spTree>
    <p:extLst>
      <p:ext uri="{BB962C8B-B14F-4D97-AF65-F5344CB8AC3E}">
        <p14:creationId xmlns:p14="http://schemas.microsoft.com/office/powerpoint/2010/main" val="2780680223"/>
      </p:ext>
    </p:extLst>
  </p:cSld>
  <p:clrMapOvr>
    <a:masterClrMapping/>
  </p:clrMapOvr>
</p:sld>
</file>

<file path=ppt/slides/slide7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Simuliidae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a:bodyPr>
          <a:lstStyle/>
          <a:p>
            <a:pPr lvl="0"/>
            <a:r>
              <a:rPr lang="en-US" dirty="0"/>
              <a:t>Sand fly bites are painful and often cause allergic reactions. </a:t>
            </a:r>
          </a:p>
          <a:p>
            <a:pPr lvl="0"/>
            <a:r>
              <a:rPr lang="en-US" dirty="0"/>
              <a:t>The female feed on the blood of humans and animals, tearing the skin until a blood vessel is damaged.</a:t>
            </a:r>
          </a:p>
          <a:p>
            <a:pPr lvl="0"/>
            <a:r>
              <a:rPr lang="en-US" dirty="0"/>
              <a:t> Both male and female also feed on plant juices.</a:t>
            </a:r>
          </a:p>
          <a:p>
            <a:pPr lvl="0"/>
            <a:r>
              <a:rPr lang="en-US" dirty="0"/>
              <a:t>The eggs are laid on rocks just below the surface of flowing water or on vegetation dipping into the water.</a:t>
            </a:r>
          </a:p>
          <a:p>
            <a:endParaRPr lang="en-US" dirty="0"/>
          </a:p>
        </p:txBody>
      </p:sp>
    </p:spTree>
    <p:extLst>
      <p:ext uri="{BB962C8B-B14F-4D97-AF65-F5344CB8AC3E}">
        <p14:creationId xmlns:p14="http://schemas.microsoft.com/office/powerpoint/2010/main" val="2820685541"/>
      </p:ext>
    </p:extLst>
  </p:cSld>
  <p:clrMapOvr>
    <a:masterClrMapping/>
  </p:clrMapOvr>
</p:sld>
</file>

<file path=ppt/slides/slide7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Simuliidae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dirty="0"/>
              <a:t>The larvae and pupae remain attached to rocks and dead leaves, feeding on small organic particles filtered from the water;</a:t>
            </a:r>
          </a:p>
          <a:p>
            <a:pPr lvl="0"/>
            <a:r>
              <a:rPr lang="en-US" dirty="0"/>
              <a:t> there are 6-9 larval instars.</a:t>
            </a:r>
          </a:p>
          <a:p>
            <a:pPr lvl="0"/>
            <a:r>
              <a:rPr lang="en-US" dirty="0"/>
              <a:t>Breeding peak is during the rainy season</a:t>
            </a:r>
          </a:p>
          <a:p>
            <a:endParaRPr lang="en-US" dirty="0"/>
          </a:p>
        </p:txBody>
      </p:sp>
    </p:spTree>
    <p:extLst>
      <p:ext uri="{BB962C8B-B14F-4D97-AF65-F5344CB8AC3E}">
        <p14:creationId xmlns:p14="http://schemas.microsoft.com/office/powerpoint/2010/main" val="377609651"/>
      </p:ext>
    </p:extLst>
  </p:cSld>
  <p:clrMapOvr>
    <a:masterClrMapping/>
  </p:clrMapOvr>
</p:sld>
</file>

<file path=ppt/slides/slide7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Ceratopogonidae</a:t>
            </a:r>
            <a:br>
              <a:rPr lang="en-US" dirty="0"/>
            </a:br>
            <a:endParaRPr lang="en-US" dirty="0"/>
          </a:p>
        </p:txBody>
      </p:sp>
      <p:sp>
        <p:nvSpPr>
          <p:cNvPr id="3" name="Content Placeholder 2"/>
          <p:cNvSpPr>
            <a:spLocks noGrp="1"/>
          </p:cNvSpPr>
          <p:nvPr>
            <p:ph idx="1"/>
          </p:nvPr>
        </p:nvSpPr>
        <p:spPr/>
        <p:txBody>
          <a:bodyPr/>
          <a:lstStyle/>
          <a:p>
            <a:pPr lvl="0"/>
            <a:r>
              <a:rPr lang="en-US" dirty="0"/>
              <a:t>The family comprises the biting midges, also called ‘punkies’ ‘no-see-ums’ and sand flies</a:t>
            </a:r>
          </a:p>
          <a:p>
            <a:pPr lvl="0"/>
            <a:r>
              <a:rPr lang="en-US" dirty="0"/>
              <a:t>They are very small, usually less than 1.0mm long, but ferocious insects, able to crawl through window screening.</a:t>
            </a:r>
          </a:p>
          <a:p>
            <a:pPr lvl="0"/>
            <a:r>
              <a:rPr lang="en-US" dirty="0"/>
              <a:t>Most are daytime feeders; unable to cope with blowing winds</a:t>
            </a:r>
          </a:p>
          <a:p>
            <a:endParaRPr lang="en-US" dirty="0"/>
          </a:p>
        </p:txBody>
      </p:sp>
    </p:spTree>
    <p:extLst>
      <p:ext uri="{BB962C8B-B14F-4D97-AF65-F5344CB8AC3E}">
        <p14:creationId xmlns:p14="http://schemas.microsoft.com/office/powerpoint/2010/main" val="4080388673"/>
      </p:ext>
    </p:extLst>
  </p:cSld>
  <p:clrMapOvr>
    <a:masterClrMapping/>
  </p:clrMapOvr>
</p:sld>
</file>

<file path=ppt/slides/slide7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Ceratopogonidae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Most of the 60 or more genera feed on insects; members of only four genera feed on mammals, including humans: </a:t>
            </a:r>
          </a:p>
          <a:p>
            <a:pPr lvl="0"/>
            <a:r>
              <a:rPr lang="en-US" i="1" dirty="0" err="1"/>
              <a:t>Culicoides</a:t>
            </a:r>
            <a:r>
              <a:rPr lang="en-US" i="1" dirty="0"/>
              <a:t>, </a:t>
            </a:r>
            <a:r>
              <a:rPr lang="en-US" i="1" dirty="0" err="1"/>
              <a:t>Forcipomyia</a:t>
            </a:r>
            <a:r>
              <a:rPr lang="en-US" i="1" dirty="0"/>
              <a:t>, </a:t>
            </a:r>
            <a:r>
              <a:rPr lang="en-US" i="1" dirty="0" err="1"/>
              <a:t>Austroconops</a:t>
            </a:r>
            <a:r>
              <a:rPr lang="en-US" dirty="0"/>
              <a:t> and </a:t>
            </a:r>
            <a:r>
              <a:rPr lang="en-US" i="1" dirty="0" err="1"/>
              <a:t>Leptoconops</a:t>
            </a:r>
            <a:endParaRPr lang="en-US" dirty="0"/>
          </a:p>
          <a:p>
            <a:pPr lvl="0"/>
            <a:r>
              <a:rPr lang="en-US" dirty="0"/>
              <a:t>Only females feed on blood, for which the mouth parts are adapted</a:t>
            </a:r>
          </a:p>
          <a:p>
            <a:pPr lvl="0"/>
            <a:r>
              <a:rPr lang="en-US" dirty="0"/>
              <a:t>The adults have narrow wings, with few veins, often distinctly spotted, and are folded over the abdomen when at rest.</a:t>
            </a:r>
          </a:p>
          <a:p>
            <a:endParaRPr lang="en-US" dirty="0"/>
          </a:p>
        </p:txBody>
      </p:sp>
    </p:spTree>
    <p:extLst>
      <p:ext uri="{BB962C8B-B14F-4D97-AF65-F5344CB8AC3E}">
        <p14:creationId xmlns:p14="http://schemas.microsoft.com/office/powerpoint/2010/main" val="3010229723"/>
      </p:ext>
    </p:extLst>
  </p:cSld>
  <p:clrMapOvr>
    <a:masterClrMapping/>
  </p:clrMapOvr>
</p:sld>
</file>

<file path=ppt/slides/slide7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Ceratopogonidae</a:t>
            </a:r>
            <a:r>
              <a:rPr lang="en-US" b="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They breed in a wide variety of situations</a:t>
            </a:r>
          </a:p>
          <a:p>
            <a:pPr lvl="0"/>
            <a:r>
              <a:rPr lang="en-US" dirty="0"/>
              <a:t>Larvae are aquatic or subaquatic or develop in moist soil, tree holes, decaying vegetation, and cattle dung</a:t>
            </a:r>
          </a:p>
          <a:p>
            <a:pPr lvl="0"/>
            <a:r>
              <a:rPr lang="en-US" dirty="0"/>
              <a:t>Some species breed readily in salt or brackish water, mostly mangrove swamps and salt marshes</a:t>
            </a:r>
          </a:p>
          <a:p>
            <a:pPr lvl="0"/>
            <a:r>
              <a:rPr lang="en-US" dirty="0"/>
              <a:t>Life cycle is completed between 6 months and 3 years</a:t>
            </a:r>
          </a:p>
          <a:p>
            <a:endParaRPr lang="en-US" dirty="0"/>
          </a:p>
        </p:txBody>
      </p:sp>
    </p:spTree>
    <p:extLst>
      <p:ext uri="{BB962C8B-B14F-4D97-AF65-F5344CB8AC3E}">
        <p14:creationId xmlns:p14="http://schemas.microsoft.com/office/powerpoint/2010/main" val="1140186150"/>
      </p:ext>
    </p:extLst>
  </p:cSld>
  <p:clrMapOvr>
    <a:masterClrMapping/>
  </p:clrMapOvr>
</p:sld>
</file>

<file path=ppt/slides/slide7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Ceratopogonidae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dirty="0"/>
              <a:t>Blood-dwelling protozoan parasites are also transmitted by </a:t>
            </a:r>
            <a:r>
              <a:rPr lang="en-US" i="1" dirty="0" err="1"/>
              <a:t>Culicoides</a:t>
            </a:r>
            <a:r>
              <a:rPr lang="en-US" i="1" dirty="0"/>
              <a:t> </a:t>
            </a:r>
            <a:r>
              <a:rPr lang="en-US" dirty="0" err="1"/>
              <a:t>spp</a:t>
            </a:r>
            <a:r>
              <a:rPr lang="en-US" dirty="0"/>
              <a:t> as are encephalitis viruses, bovine ephemeral fever and African horse sickness.</a:t>
            </a:r>
          </a:p>
          <a:p>
            <a:pPr marL="0" indent="0">
              <a:buNone/>
            </a:pPr>
            <a:endParaRPr lang="en-US" dirty="0"/>
          </a:p>
        </p:txBody>
      </p:sp>
    </p:spTree>
    <p:extLst>
      <p:ext uri="{BB962C8B-B14F-4D97-AF65-F5344CB8AC3E}">
        <p14:creationId xmlns:p14="http://schemas.microsoft.com/office/powerpoint/2010/main" val="2730241001"/>
      </p:ext>
    </p:extLst>
  </p:cSld>
  <p:clrMapOvr>
    <a:masterClrMapping/>
  </p:clrMapOvr>
</p:sld>
</file>

<file path=ppt/slides/slide7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Tabanidae</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err="1"/>
              <a:t>Tabanid</a:t>
            </a:r>
            <a:r>
              <a:rPr lang="en-US" dirty="0"/>
              <a:t> flies belong to the Sub Order </a:t>
            </a:r>
            <a:r>
              <a:rPr lang="en-US" dirty="0" err="1"/>
              <a:t>Brachycera</a:t>
            </a:r>
            <a:r>
              <a:rPr lang="en-US" dirty="0"/>
              <a:t>, a group of mostly robust flies, with antennae reduced to three apparent segments, the terminal one being drawn into a sharp point, or style; wing venation is reduced</a:t>
            </a:r>
          </a:p>
          <a:p>
            <a:pPr lvl="0"/>
            <a:r>
              <a:rPr lang="en-US" dirty="0"/>
              <a:t>They are commonly known as horseflies and deer flies, and  of world wide distribution.</a:t>
            </a:r>
          </a:p>
          <a:p>
            <a:endParaRPr lang="en-US" dirty="0"/>
          </a:p>
        </p:txBody>
      </p:sp>
    </p:spTree>
    <p:extLst>
      <p:ext uri="{BB962C8B-B14F-4D97-AF65-F5344CB8AC3E}">
        <p14:creationId xmlns:p14="http://schemas.microsoft.com/office/powerpoint/2010/main" val="2735837584"/>
      </p:ext>
    </p:extLst>
  </p:cSld>
  <p:clrMapOvr>
    <a:masterClrMapping/>
  </p:clrMapOvr>
</p:sld>
</file>

<file path=ppt/slides/slide7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Tabanidae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dirty="0"/>
              <a:t>They are large, powerful flies, quest fiercely for blood (only the females feed on blood;</a:t>
            </a:r>
          </a:p>
          <a:p>
            <a:pPr lvl="0"/>
            <a:r>
              <a:rPr lang="en-US" dirty="0"/>
              <a:t>males live on plant juices-they lack mandibles), and are mainly daytime feeders</a:t>
            </a:r>
          </a:p>
          <a:p>
            <a:pPr lvl="0"/>
            <a:r>
              <a:rPr lang="en-US" dirty="0"/>
              <a:t>There are about 4000 species in 30-80 genera</a:t>
            </a:r>
          </a:p>
          <a:p>
            <a:pPr lvl="0"/>
            <a:r>
              <a:rPr lang="en-US" dirty="0" err="1"/>
              <a:t>Tabanid</a:t>
            </a:r>
            <a:r>
              <a:rPr lang="en-US" dirty="0"/>
              <a:t> flies have similar mouthparts to those of </a:t>
            </a:r>
            <a:r>
              <a:rPr lang="en-US" dirty="0" err="1"/>
              <a:t>Ceratopogonidae</a:t>
            </a:r>
            <a:r>
              <a:rPr lang="en-US" dirty="0"/>
              <a:t> and </a:t>
            </a:r>
            <a:r>
              <a:rPr lang="en-US" dirty="0" err="1"/>
              <a:t>Simulidae</a:t>
            </a:r>
            <a:r>
              <a:rPr lang="en-US" dirty="0"/>
              <a:t> but are stouter and stronger</a:t>
            </a:r>
          </a:p>
          <a:p>
            <a:pPr marL="0" indent="0">
              <a:buNone/>
            </a:pPr>
            <a:endParaRPr lang="en-US" dirty="0"/>
          </a:p>
        </p:txBody>
      </p:sp>
    </p:spTree>
    <p:extLst>
      <p:ext uri="{BB962C8B-B14F-4D97-AF65-F5344CB8AC3E}">
        <p14:creationId xmlns:p14="http://schemas.microsoft.com/office/powerpoint/2010/main" val="201155182"/>
      </p:ext>
    </p:extLst>
  </p:cSld>
  <p:clrMapOvr>
    <a:masterClrMapping/>
  </p:clrMapOvr>
</p:sld>
</file>

<file path=ppt/slides/slide7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Tabanidae</a:t>
            </a:r>
            <a:r>
              <a:rPr lang="en-US" b="1" dirty="0"/>
              <a:t> cont’d</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In biting, the  mandibles cut in a scissors-like motion, whilst maxillae pierce and rend tissues, rupturing blood vessels; </a:t>
            </a:r>
          </a:p>
          <a:p>
            <a:pPr lvl="0"/>
            <a:r>
              <a:rPr lang="en-US" dirty="0"/>
              <a:t>the fly feeds on a pool of blood that wells into the wound (</a:t>
            </a:r>
            <a:r>
              <a:rPr lang="en-US" dirty="0" err="1"/>
              <a:t>telmophagy</a:t>
            </a:r>
            <a:r>
              <a:rPr lang="en-US" dirty="0"/>
              <a:t>)</a:t>
            </a:r>
          </a:p>
          <a:p>
            <a:pPr lvl="0"/>
            <a:r>
              <a:rPr lang="en-US" dirty="0" err="1"/>
              <a:t>Tabanids</a:t>
            </a:r>
            <a:r>
              <a:rPr lang="en-US" dirty="0"/>
              <a:t> usually breed in aquatic or near aquatic environments, although some complete larval development in soil.</a:t>
            </a:r>
          </a:p>
        </p:txBody>
      </p:sp>
    </p:spTree>
    <p:extLst>
      <p:ext uri="{BB962C8B-B14F-4D97-AF65-F5344CB8AC3E}">
        <p14:creationId xmlns:p14="http://schemas.microsoft.com/office/powerpoint/2010/main" val="1958538713"/>
      </p:ext>
    </p:extLst>
  </p:cSld>
  <p:clrMapOvr>
    <a:masterClrMapping/>
  </p:clrMapOvr>
</p:sld>
</file>

<file path=ppt/slides/slide7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Tabanidae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dirty="0"/>
              <a:t>Females generally lay between a hundred and a thousand eggs, at the edge of water or on overhanging vegetation or rocks</a:t>
            </a:r>
          </a:p>
          <a:p>
            <a:pPr lvl="0"/>
            <a:r>
              <a:rPr lang="en-US" dirty="0"/>
              <a:t>At egg-laying time, such locations may be swarming with </a:t>
            </a:r>
            <a:r>
              <a:rPr lang="en-US" dirty="0" err="1"/>
              <a:t>ovipositing</a:t>
            </a:r>
            <a:r>
              <a:rPr lang="en-US" dirty="0"/>
              <a:t> flies.</a:t>
            </a:r>
          </a:p>
          <a:p>
            <a:pPr lvl="0"/>
            <a:r>
              <a:rPr lang="en-US" dirty="0"/>
              <a:t>On hatching, larvae fall or crawl into water or burrow into mud</a:t>
            </a:r>
          </a:p>
          <a:p>
            <a:endParaRPr lang="en-US" dirty="0"/>
          </a:p>
          <a:p>
            <a:endParaRPr lang="en-US" dirty="0"/>
          </a:p>
        </p:txBody>
      </p:sp>
    </p:spTree>
    <p:extLst>
      <p:ext uri="{BB962C8B-B14F-4D97-AF65-F5344CB8AC3E}">
        <p14:creationId xmlns:p14="http://schemas.microsoft.com/office/powerpoint/2010/main" val="2168560387"/>
      </p:ext>
    </p:extLst>
  </p:cSld>
  <p:clrMapOvr>
    <a:masterClrMapping/>
  </p:clrMapOvr>
</p:sld>
</file>

<file path=ppt/slides/slide7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Tabanidae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Many feed on organic debris, but others are voracious predators on insect larvae, worms and other soft-bodied animals, including other horse fly larvae and even toads</a:t>
            </a:r>
          </a:p>
          <a:p>
            <a:pPr lvl="0"/>
            <a:r>
              <a:rPr lang="en-US" dirty="0"/>
              <a:t>Several species of horse flies are serious pests of humans and livestock</a:t>
            </a:r>
          </a:p>
          <a:p>
            <a:pPr lvl="0"/>
            <a:r>
              <a:rPr lang="en-US" dirty="0"/>
              <a:t>The name deer fly is applied to the genus </a:t>
            </a:r>
            <a:r>
              <a:rPr lang="en-US" i="1" dirty="0" err="1"/>
              <a:t>Chrysops</a:t>
            </a:r>
            <a:r>
              <a:rPr lang="en-US" dirty="0"/>
              <a:t>; </a:t>
            </a:r>
          </a:p>
          <a:p>
            <a:pPr lvl="0"/>
            <a:r>
              <a:rPr lang="en-US" dirty="0"/>
              <a:t>they are smaller that horse flies and have brown-spotted wings</a:t>
            </a:r>
          </a:p>
          <a:p>
            <a:endParaRPr lang="en-US" dirty="0"/>
          </a:p>
        </p:txBody>
      </p:sp>
    </p:spTree>
    <p:extLst>
      <p:ext uri="{BB962C8B-B14F-4D97-AF65-F5344CB8AC3E}">
        <p14:creationId xmlns:p14="http://schemas.microsoft.com/office/powerpoint/2010/main" val="2156550531"/>
      </p:ext>
    </p:extLst>
  </p:cSld>
  <p:clrMapOvr>
    <a:masterClrMapping/>
  </p:clrMapOvr>
</p:sld>
</file>

<file path=ppt/slides/slide7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457200" y="0"/>
            <a:ext cx="8534400" cy="6705600"/>
          </a:xfrm>
        </p:spPr>
      </p:pic>
    </p:spTree>
    <p:extLst>
      <p:ext uri="{BB962C8B-B14F-4D97-AF65-F5344CB8AC3E}">
        <p14:creationId xmlns:p14="http://schemas.microsoft.com/office/powerpoint/2010/main" val="3854523673"/>
      </p:ext>
    </p:extLst>
  </p:cSld>
  <p:clrMapOvr>
    <a:masterClrMapping/>
  </p:clrMapOvr>
</p:sld>
</file>

<file path=ppt/slides/slide7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Tabanidae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dirty="0"/>
              <a:t>Their flight is less noisy hence they bite humans more commonly</a:t>
            </a:r>
          </a:p>
          <a:p>
            <a:pPr lvl="0"/>
            <a:r>
              <a:rPr lang="en-US" dirty="0" err="1"/>
              <a:t>Tabanids</a:t>
            </a:r>
            <a:r>
              <a:rPr lang="en-US" dirty="0"/>
              <a:t> are of medical importance in the following ways:</a:t>
            </a:r>
          </a:p>
          <a:p>
            <a:pPr marL="571500" lvl="0" indent="-571500">
              <a:buFont typeface="+mj-lt"/>
              <a:buAutoNum type="romanUcPeriod"/>
            </a:pPr>
            <a:r>
              <a:rPr lang="en-US" dirty="0"/>
              <a:t>Their annoyance of humans</a:t>
            </a:r>
          </a:p>
          <a:p>
            <a:pPr marL="571500" lvl="0" indent="-571500">
              <a:buFont typeface="+mj-lt"/>
              <a:buAutoNum type="romanUcPeriod"/>
            </a:pPr>
            <a:r>
              <a:rPr lang="en-US" dirty="0"/>
              <a:t>Blood loss caused by their bites, and </a:t>
            </a:r>
          </a:p>
          <a:p>
            <a:pPr marL="571500" lvl="0" indent="-571500">
              <a:buFont typeface="+mj-lt"/>
              <a:buAutoNum type="romanUcPeriod"/>
            </a:pPr>
            <a:r>
              <a:rPr lang="en-US" dirty="0"/>
              <a:t>The infections transmitted mechanically and biologically</a:t>
            </a:r>
          </a:p>
          <a:p>
            <a:pPr marL="571500" indent="-571500">
              <a:buFont typeface="+mj-lt"/>
              <a:buAutoNum type="romanUcPeriod"/>
            </a:pPr>
            <a:endParaRPr lang="en-US" dirty="0"/>
          </a:p>
        </p:txBody>
      </p:sp>
    </p:spTree>
    <p:extLst>
      <p:ext uri="{BB962C8B-B14F-4D97-AF65-F5344CB8AC3E}">
        <p14:creationId xmlns:p14="http://schemas.microsoft.com/office/powerpoint/2010/main" val="1546241268"/>
      </p:ext>
    </p:extLst>
  </p:cSld>
  <p:clrMapOvr>
    <a:masterClrMapping/>
  </p:clrMapOvr>
</p:sld>
</file>

<file path=ppt/slides/slide7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Tabanidae</a:t>
            </a:r>
            <a:r>
              <a:rPr lang="en-US" b="1" dirty="0"/>
              <a:t> cont’d</a:t>
            </a:r>
            <a:br>
              <a:rPr lang="en-US" dirty="0"/>
            </a:br>
            <a:endParaRPr lang="en-US" dirty="0"/>
          </a:p>
        </p:txBody>
      </p:sp>
      <p:sp>
        <p:nvSpPr>
          <p:cNvPr id="3" name="Content Placeholder 2"/>
          <p:cNvSpPr>
            <a:spLocks noGrp="1"/>
          </p:cNvSpPr>
          <p:nvPr>
            <p:ph idx="1"/>
          </p:nvPr>
        </p:nvSpPr>
        <p:spPr>
          <a:xfrm>
            <a:off x="457200" y="1600200"/>
            <a:ext cx="8229600" cy="5181600"/>
          </a:xfrm>
        </p:spPr>
        <p:txBody>
          <a:bodyPr>
            <a:normAutofit lnSpcReduction="10000"/>
          </a:bodyPr>
          <a:lstStyle/>
          <a:p>
            <a:pPr lvl="0">
              <a:buFont typeface="Wingdings" pitchFamily="2" charset="2"/>
              <a:buChar char="v"/>
            </a:pPr>
            <a:r>
              <a:rPr lang="en-US" dirty="0"/>
              <a:t>Characteristics that enhance the capability of </a:t>
            </a:r>
            <a:r>
              <a:rPr lang="en-US" dirty="0" err="1"/>
              <a:t>Tabanids</a:t>
            </a:r>
            <a:r>
              <a:rPr lang="en-US" dirty="0"/>
              <a:t> to transmit pathogens include:</a:t>
            </a:r>
          </a:p>
          <a:p>
            <a:pPr marL="571500" lvl="0" indent="-571500">
              <a:buFont typeface="+mj-lt"/>
              <a:buAutoNum type="romanUcPeriod"/>
            </a:pPr>
            <a:r>
              <a:rPr lang="en-US" dirty="0" err="1"/>
              <a:t>Anautogeny</a:t>
            </a:r>
            <a:r>
              <a:rPr lang="en-US" dirty="0"/>
              <a:t>- the necessity of blood meal for egg development, which stimulates host-seeking behavior.</a:t>
            </a:r>
          </a:p>
          <a:p>
            <a:pPr marL="571500" lvl="0" indent="-571500">
              <a:buFont typeface="+mj-lt"/>
              <a:buAutoNum type="romanUcPeriod"/>
            </a:pPr>
            <a:r>
              <a:rPr lang="en-US" dirty="0" err="1"/>
              <a:t>Telmophagy</a:t>
            </a:r>
            <a:r>
              <a:rPr lang="en-US" dirty="0"/>
              <a:t>-through which blood-dwelling pathogens can enter the pools of blood from which the flies suck</a:t>
            </a:r>
          </a:p>
          <a:p>
            <a:pPr marL="571500" lvl="0" indent="-571500">
              <a:buFont typeface="+mj-lt"/>
              <a:buAutoNum type="romanUcPeriod"/>
            </a:pPr>
            <a:r>
              <a:rPr lang="en-US" dirty="0"/>
              <a:t>Relatively large blood meals-enhancing the possibility that pathogens will be imbibed</a:t>
            </a:r>
          </a:p>
          <a:p>
            <a:pPr marL="0" lvl="0" indent="0">
              <a:buNone/>
            </a:pPr>
            <a:endParaRPr lang="en-US" dirty="0"/>
          </a:p>
          <a:p>
            <a:endParaRPr lang="en-US" dirty="0"/>
          </a:p>
        </p:txBody>
      </p:sp>
    </p:spTree>
    <p:extLst>
      <p:ext uri="{BB962C8B-B14F-4D97-AF65-F5344CB8AC3E}">
        <p14:creationId xmlns:p14="http://schemas.microsoft.com/office/powerpoint/2010/main" val="4203324327"/>
      </p:ext>
    </p:extLst>
  </p:cSld>
  <p:clrMapOvr>
    <a:masterClrMapping/>
  </p:clrMapOvr>
</p:sld>
</file>

<file path=ppt/slides/slide7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Tabanidae</a:t>
            </a:r>
            <a:r>
              <a:rPr lang="en-US" b="1" dirty="0"/>
              <a:t> cont’d</a:t>
            </a:r>
            <a:br>
              <a:rPr lang="en-US" dirty="0"/>
            </a:br>
            <a:endParaRPr lang="en-US" dirty="0"/>
          </a:p>
        </p:txBody>
      </p:sp>
      <p:sp>
        <p:nvSpPr>
          <p:cNvPr id="3" name="Content Placeholder 2"/>
          <p:cNvSpPr>
            <a:spLocks noGrp="1"/>
          </p:cNvSpPr>
          <p:nvPr>
            <p:ph idx="1"/>
          </p:nvPr>
        </p:nvSpPr>
        <p:spPr/>
        <p:txBody>
          <a:bodyPr/>
          <a:lstStyle/>
          <a:p>
            <a:pPr marL="0" lvl="0" indent="0">
              <a:buNone/>
            </a:pPr>
            <a:r>
              <a:rPr lang="en-US" dirty="0"/>
              <a:t>vi. Long engorgement time-enabling pathogens to infect a fly’s tissues, and </a:t>
            </a:r>
          </a:p>
          <a:p>
            <a:pPr marL="0" lvl="0" indent="0">
              <a:buNone/>
            </a:pPr>
            <a:r>
              <a:rPr lang="en-US" dirty="0"/>
              <a:t>v. Intermittent feeding behavior-increasing the chances for mechanical transmission of pathogens</a:t>
            </a:r>
          </a:p>
          <a:p>
            <a:endParaRPr lang="en-US" dirty="0"/>
          </a:p>
        </p:txBody>
      </p:sp>
    </p:spTree>
    <p:extLst>
      <p:ext uri="{BB962C8B-B14F-4D97-AF65-F5344CB8AC3E}">
        <p14:creationId xmlns:p14="http://schemas.microsoft.com/office/powerpoint/2010/main" val="2369072382"/>
      </p:ext>
    </p:extLst>
  </p:cSld>
  <p:clrMapOvr>
    <a:masterClrMapping/>
  </p:clrMapOvr>
</p:sld>
</file>

<file path=ppt/slides/slide7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Tabanidae</a:t>
            </a:r>
            <a:r>
              <a:rPr lang="en-US" b="1" dirty="0"/>
              <a:t> cont’d</a:t>
            </a:r>
            <a:br>
              <a:rPr lang="en-US" dirty="0"/>
            </a:br>
            <a:endParaRPr lang="en-US" dirty="0"/>
          </a:p>
        </p:txBody>
      </p:sp>
      <p:sp>
        <p:nvSpPr>
          <p:cNvPr id="3" name="Content Placeholder 2"/>
          <p:cNvSpPr>
            <a:spLocks noGrp="1"/>
          </p:cNvSpPr>
          <p:nvPr>
            <p:ph idx="1"/>
          </p:nvPr>
        </p:nvSpPr>
        <p:spPr>
          <a:xfrm>
            <a:off x="457200" y="1600200"/>
            <a:ext cx="8229600" cy="5334000"/>
          </a:xfrm>
        </p:spPr>
        <p:txBody>
          <a:bodyPr>
            <a:normAutofit fontScale="92500" lnSpcReduction="20000"/>
          </a:bodyPr>
          <a:lstStyle/>
          <a:p>
            <a:pPr lvl="0">
              <a:buFont typeface="Wingdings" pitchFamily="2" charset="2"/>
              <a:buChar char="v"/>
            </a:pPr>
            <a:r>
              <a:rPr lang="en-US" dirty="0" err="1"/>
              <a:t>Tabanids</a:t>
            </a:r>
            <a:r>
              <a:rPr lang="en-US" dirty="0"/>
              <a:t> transmit protozoan, helminthic, bacterial and viral diseases of animals and humans-</a:t>
            </a:r>
          </a:p>
          <a:p>
            <a:pPr lvl="0">
              <a:buFont typeface="Wingdings" pitchFamily="2" charset="2"/>
              <a:buChar char="Ø"/>
            </a:pPr>
            <a:r>
              <a:rPr lang="en-US" dirty="0"/>
              <a:t>Among protozoan diseases, two species of </a:t>
            </a:r>
            <a:r>
              <a:rPr lang="en-US" i="1" dirty="0" err="1"/>
              <a:t>Trypanosoma</a:t>
            </a:r>
            <a:r>
              <a:rPr lang="en-US" i="1" dirty="0"/>
              <a:t> </a:t>
            </a:r>
            <a:r>
              <a:rPr lang="en-US" dirty="0"/>
              <a:t>are transmitted mechanically by </a:t>
            </a:r>
            <a:r>
              <a:rPr lang="en-US" dirty="0" err="1"/>
              <a:t>Tabanids</a:t>
            </a:r>
            <a:r>
              <a:rPr lang="en-US" dirty="0"/>
              <a:t>; </a:t>
            </a:r>
          </a:p>
          <a:p>
            <a:pPr lvl="0">
              <a:buFont typeface="Wingdings" pitchFamily="2" charset="2"/>
              <a:buChar char="Ø"/>
            </a:pPr>
            <a:r>
              <a:rPr lang="en-US" dirty="0"/>
              <a:t>these are: </a:t>
            </a:r>
            <a:r>
              <a:rPr lang="en-US" i="1" dirty="0"/>
              <a:t>T. </a:t>
            </a:r>
            <a:r>
              <a:rPr lang="en-US" i="1" dirty="0" err="1"/>
              <a:t>evansi</a:t>
            </a:r>
            <a:r>
              <a:rPr lang="en-US" dirty="0"/>
              <a:t> which causes ‘</a:t>
            </a:r>
            <a:r>
              <a:rPr lang="en-US" dirty="0" err="1"/>
              <a:t>surra</a:t>
            </a:r>
            <a:r>
              <a:rPr lang="en-US" dirty="0"/>
              <a:t>’ in many wild and domestic animals and is spread by species of </a:t>
            </a:r>
            <a:r>
              <a:rPr lang="en-US" i="1" dirty="0" err="1"/>
              <a:t>Tabanus</a:t>
            </a:r>
            <a:r>
              <a:rPr lang="en-US" dirty="0"/>
              <a:t> although other vectors may be stable flies, other genera of horse flies and vampire bats;</a:t>
            </a:r>
          </a:p>
          <a:p>
            <a:pPr lvl="0">
              <a:buFont typeface="Wingdings" pitchFamily="2" charset="2"/>
              <a:buChar char="Ø"/>
            </a:pPr>
            <a:r>
              <a:rPr lang="en-US" dirty="0"/>
              <a:t> and </a:t>
            </a:r>
            <a:r>
              <a:rPr lang="en-US" i="1" dirty="0"/>
              <a:t>T. </a:t>
            </a:r>
            <a:r>
              <a:rPr lang="en-US" i="1" dirty="0" err="1"/>
              <a:t>theileri</a:t>
            </a:r>
            <a:r>
              <a:rPr lang="en-US" dirty="0"/>
              <a:t>, a cosmopolitan parasite of cattle and antelopes</a:t>
            </a:r>
          </a:p>
          <a:p>
            <a:endParaRPr lang="en-US" dirty="0"/>
          </a:p>
        </p:txBody>
      </p:sp>
    </p:spTree>
    <p:extLst>
      <p:ext uri="{BB962C8B-B14F-4D97-AF65-F5344CB8AC3E}">
        <p14:creationId xmlns:p14="http://schemas.microsoft.com/office/powerpoint/2010/main" val="208501336"/>
      </p:ext>
    </p:extLst>
  </p:cSld>
  <p:clrMapOvr>
    <a:masterClrMapping/>
  </p:clrMapOvr>
</p:sld>
</file>

<file path=ppt/slides/slide7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Tabanidae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dirty="0" err="1"/>
              <a:t>Cyclopropagative</a:t>
            </a:r>
            <a:r>
              <a:rPr lang="en-US" dirty="0"/>
              <a:t> development takes place in the gut of the insect, thus making the species involved actual intermediate hosts</a:t>
            </a:r>
          </a:p>
          <a:p>
            <a:pPr lvl="0"/>
            <a:r>
              <a:rPr lang="en-US" dirty="0"/>
              <a:t>The eye worm, </a:t>
            </a:r>
            <a:r>
              <a:rPr lang="en-US" i="1" dirty="0"/>
              <a:t>Loa </a:t>
            </a:r>
            <a:r>
              <a:rPr lang="en-US" i="1" dirty="0" err="1"/>
              <a:t>loa</a:t>
            </a:r>
            <a:r>
              <a:rPr lang="en-US" dirty="0"/>
              <a:t> is also transmitted by species of </a:t>
            </a:r>
            <a:r>
              <a:rPr lang="en-US" i="1" dirty="0" err="1"/>
              <a:t>Chrysops</a:t>
            </a:r>
            <a:r>
              <a:rPr lang="en-US" i="1" dirty="0"/>
              <a:t>.</a:t>
            </a:r>
            <a:endParaRPr lang="en-US" dirty="0"/>
          </a:p>
          <a:p>
            <a:pPr marL="0" indent="0">
              <a:buNone/>
            </a:pPr>
            <a:endParaRPr lang="en-US" dirty="0"/>
          </a:p>
        </p:txBody>
      </p:sp>
    </p:spTree>
    <p:extLst>
      <p:ext uri="{BB962C8B-B14F-4D97-AF65-F5344CB8AC3E}">
        <p14:creationId xmlns:p14="http://schemas.microsoft.com/office/powerpoint/2010/main" val="2353545046"/>
      </p:ext>
    </p:extLst>
  </p:cSld>
  <p:clrMapOvr>
    <a:masterClrMapping/>
  </p:clrMapOvr>
</p:sld>
</file>

<file path=ppt/slides/slide7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buFont typeface="Wingdings" pitchFamily="2" charset="2"/>
              <a:buChar char="v"/>
            </a:pPr>
            <a:r>
              <a:rPr lang="en-US" dirty="0"/>
              <a:t>This family contains a single genus, </a:t>
            </a:r>
            <a:r>
              <a:rPr lang="en-US" b="1" i="1" dirty="0" err="1"/>
              <a:t>Glossina</a:t>
            </a:r>
            <a:r>
              <a:rPr lang="en-US" dirty="0"/>
              <a:t>, and occurs only in Africa and two localities on the </a:t>
            </a:r>
            <a:r>
              <a:rPr lang="en-US" dirty="0" err="1"/>
              <a:t>Aratian</a:t>
            </a:r>
            <a:r>
              <a:rPr lang="en-US" dirty="0"/>
              <a:t> peninsula</a:t>
            </a:r>
            <a:r>
              <a:rPr lang="en-US" b="1" i="1" dirty="0"/>
              <a:t> </a:t>
            </a:r>
            <a:endParaRPr lang="en-US" dirty="0"/>
          </a:p>
          <a:p>
            <a:pPr marL="0" indent="0" algn="ctr">
              <a:buNone/>
            </a:pPr>
            <a:r>
              <a:rPr lang="en-US" b="1" i="1" dirty="0" err="1"/>
              <a:t>Glossina</a:t>
            </a:r>
            <a:r>
              <a:rPr lang="en-US" b="1" i="1" dirty="0"/>
              <a:t> s</a:t>
            </a:r>
            <a:r>
              <a:rPr lang="en-US" b="1" dirty="0"/>
              <a:t>pecies (Tsetse flies)</a:t>
            </a:r>
            <a:endParaRPr lang="en-US" dirty="0"/>
          </a:p>
          <a:p>
            <a:pPr lvl="0"/>
            <a:r>
              <a:rPr lang="en-US" dirty="0"/>
              <a:t>They are about 7.5mm – 14.0mm long and brownish gray; at rest, their wings cross over each other like a pair of scissors</a:t>
            </a:r>
          </a:p>
          <a:p>
            <a:pPr lvl="0"/>
            <a:r>
              <a:rPr lang="en-US" dirty="0"/>
              <a:t>The base of the proboscis is swollen into a characteristic bulb</a:t>
            </a:r>
          </a:p>
          <a:p>
            <a:pPr lvl="0"/>
            <a:r>
              <a:rPr lang="en-US" dirty="0"/>
              <a:t>The flies are daytime feeders and are visually attracted to moving objects</a:t>
            </a:r>
          </a:p>
          <a:p>
            <a:endParaRPr lang="en-US" dirty="0"/>
          </a:p>
        </p:txBody>
      </p:sp>
    </p:spTree>
    <p:extLst>
      <p:ext uri="{BB962C8B-B14F-4D97-AF65-F5344CB8AC3E}">
        <p14:creationId xmlns:p14="http://schemas.microsoft.com/office/powerpoint/2010/main" val="3581881162"/>
      </p:ext>
    </p:extLst>
  </p:cSld>
  <p:clrMapOvr>
    <a:masterClrMapping/>
  </p:clrMapOvr>
</p:sld>
</file>

<file path=ppt/slides/slide7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dirty="0"/>
              <a:t>Both sexes feed exclusively on blood of a wide variety of animals, including humans but are particularly attracted to pigs</a:t>
            </a:r>
          </a:p>
          <a:p>
            <a:pPr lvl="0"/>
            <a:r>
              <a:rPr lang="en-US" dirty="0"/>
              <a:t>The mouthparts and thus, feeding habits are much like those of stable flies</a:t>
            </a:r>
          </a:p>
          <a:p>
            <a:pPr lvl="0"/>
            <a:r>
              <a:rPr lang="en-US" dirty="0"/>
              <a:t>The flies are </a:t>
            </a:r>
            <a:r>
              <a:rPr lang="en-US" dirty="0" err="1"/>
              <a:t>larviparous</a:t>
            </a:r>
            <a:r>
              <a:rPr lang="en-US" dirty="0"/>
              <a:t> and </a:t>
            </a:r>
            <a:r>
              <a:rPr lang="en-US" dirty="0" err="1"/>
              <a:t>pupiparous</a:t>
            </a:r>
            <a:r>
              <a:rPr lang="en-US" dirty="0"/>
              <a:t>, giving birth to a single, completely developed larva at intervals, producing from 8-20 in all.</a:t>
            </a:r>
          </a:p>
          <a:p>
            <a:pPr marL="0" indent="0">
              <a:buNone/>
            </a:pPr>
            <a:endParaRPr lang="en-US" dirty="0"/>
          </a:p>
        </p:txBody>
      </p:sp>
    </p:spTree>
    <p:extLst>
      <p:ext uri="{BB962C8B-B14F-4D97-AF65-F5344CB8AC3E}">
        <p14:creationId xmlns:p14="http://schemas.microsoft.com/office/powerpoint/2010/main" val="3552191873"/>
      </p:ext>
    </p:extLst>
  </p:cSld>
  <p:clrMapOvr>
    <a:masterClrMapping/>
  </p:clrMapOvr>
</p:sld>
</file>

<file path=ppt/slides/slide7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r>
              <a:rPr lang="en-US" b="1" dirty="0"/>
              <a:t> cont’d</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While in the oviduct, larva feeds on secretions from specialized milk glands;</a:t>
            </a:r>
          </a:p>
          <a:p>
            <a:pPr lvl="0"/>
            <a:r>
              <a:rPr lang="en-US" dirty="0"/>
              <a:t> larvae are deposited on loose, dry soil, usually, under the shelter of some type</a:t>
            </a:r>
          </a:p>
          <a:p>
            <a:pPr lvl="0"/>
            <a:r>
              <a:rPr lang="en-US" dirty="0"/>
              <a:t>Being without </a:t>
            </a:r>
            <a:r>
              <a:rPr lang="en-US" dirty="0" err="1"/>
              <a:t>locomotor</a:t>
            </a:r>
            <a:r>
              <a:rPr lang="en-US" dirty="0"/>
              <a:t> structures, the larvae, by contraction and </a:t>
            </a:r>
            <a:r>
              <a:rPr lang="en-US" dirty="0" err="1"/>
              <a:t>extention</a:t>
            </a:r>
            <a:r>
              <a:rPr lang="en-US" dirty="0"/>
              <a:t>, burrow into a few centimeters of loose soil</a:t>
            </a:r>
          </a:p>
          <a:p>
            <a:endParaRPr lang="en-US" dirty="0"/>
          </a:p>
        </p:txBody>
      </p:sp>
    </p:spTree>
    <p:extLst>
      <p:ext uri="{BB962C8B-B14F-4D97-AF65-F5344CB8AC3E}">
        <p14:creationId xmlns:p14="http://schemas.microsoft.com/office/powerpoint/2010/main" val="4153858199"/>
      </p:ext>
    </p:extLst>
  </p:cSld>
  <p:clrMapOvr>
    <a:masterClrMapping/>
  </p:clrMapOvr>
</p:sld>
</file>

<file path=ppt/slides/slide7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The integument hardens to form a </a:t>
            </a:r>
            <a:r>
              <a:rPr lang="en-US" dirty="0" err="1"/>
              <a:t>puparium</a:t>
            </a:r>
            <a:r>
              <a:rPr lang="en-US" dirty="0"/>
              <a:t> within an hour of </a:t>
            </a:r>
            <a:r>
              <a:rPr lang="en-US" dirty="0" err="1"/>
              <a:t>larviposition</a:t>
            </a:r>
            <a:r>
              <a:rPr lang="en-US" dirty="0"/>
              <a:t>, and darkens to brownish black; pupae are barrel-shaped and have two prominent posterior lobes</a:t>
            </a:r>
          </a:p>
          <a:p>
            <a:pPr lvl="0"/>
            <a:r>
              <a:rPr lang="en-US" dirty="0"/>
              <a:t>Adults emerge within 2-4 weeks</a:t>
            </a:r>
          </a:p>
          <a:p>
            <a:pPr lvl="0"/>
            <a:r>
              <a:rPr lang="en-US" dirty="0"/>
              <a:t>Tsetse flies have chemoreceptors on their tarsi, among them </a:t>
            </a:r>
            <a:r>
              <a:rPr lang="en-US" dirty="0" err="1"/>
              <a:t>sensillae</a:t>
            </a:r>
            <a:r>
              <a:rPr lang="en-US" dirty="0"/>
              <a:t> that stimulate feeding when exposed to uric acid, </a:t>
            </a:r>
            <a:r>
              <a:rPr lang="en-US" dirty="0" err="1"/>
              <a:t>leucine</a:t>
            </a:r>
            <a:r>
              <a:rPr lang="en-US" dirty="0"/>
              <a:t>, </a:t>
            </a:r>
            <a:r>
              <a:rPr lang="en-US" dirty="0" err="1"/>
              <a:t>valine</a:t>
            </a:r>
            <a:r>
              <a:rPr lang="en-US" dirty="0"/>
              <a:t> and lactic acid (stimulatory ingredients in human </a:t>
            </a:r>
            <a:r>
              <a:rPr lang="en-US" dirty="0" err="1"/>
              <a:t>swea</a:t>
            </a:r>
            <a:r>
              <a:rPr lang="en-US" dirty="0"/>
              <a:t>)t</a:t>
            </a:r>
          </a:p>
          <a:p>
            <a:pPr marL="0" indent="0">
              <a:buNone/>
            </a:pPr>
            <a:endParaRPr lang="en-US" dirty="0"/>
          </a:p>
        </p:txBody>
      </p:sp>
    </p:spTree>
    <p:extLst>
      <p:ext uri="{BB962C8B-B14F-4D97-AF65-F5344CB8AC3E}">
        <p14:creationId xmlns:p14="http://schemas.microsoft.com/office/powerpoint/2010/main" val="4014655772"/>
      </p:ext>
    </p:extLst>
  </p:cSld>
  <p:clrMapOvr>
    <a:masterClrMapping/>
  </p:clrMapOvr>
</p:sld>
</file>

<file path=ppt/slides/slide7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dirty="0"/>
              <a:t>Female </a:t>
            </a:r>
            <a:r>
              <a:rPr lang="en-US" i="1" dirty="0"/>
              <a:t>G. </a:t>
            </a:r>
            <a:r>
              <a:rPr lang="en-US" i="1" dirty="0" err="1"/>
              <a:t>morsitans</a:t>
            </a:r>
            <a:r>
              <a:rPr lang="en-US" dirty="0"/>
              <a:t> also respond to chemicals released by larvae before pupation by depositing larvae in moist sand where there are already larvae-the result being aggregation in shady, relatively moist areas, especially during dry seasons</a:t>
            </a:r>
          </a:p>
          <a:p>
            <a:endParaRPr lang="en-US" dirty="0"/>
          </a:p>
        </p:txBody>
      </p:sp>
    </p:spTree>
    <p:extLst>
      <p:ext uri="{BB962C8B-B14F-4D97-AF65-F5344CB8AC3E}">
        <p14:creationId xmlns:p14="http://schemas.microsoft.com/office/powerpoint/2010/main" val="127576964"/>
      </p:ext>
    </p:extLst>
  </p:cSld>
  <p:clrMapOvr>
    <a:masterClrMapping/>
  </p:clrMapOvr>
</p:sld>
</file>

<file path=ppt/slides/slide7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Twenty-three species of </a:t>
            </a:r>
            <a:r>
              <a:rPr lang="en-US" i="1" dirty="0" err="1"/>
              <a:t>Glossina</a:t>
            </a:r>
            <a:r>
              <a:rPr lang="en-US" dirty="0"/>
              <a:t> are recognized, all but three of which are capable of </a:t>
            </a:r>
            <a:r>
              <a:rPr lang="en-US" dirty="0" err="1"/>
              <a:t>transmiting</a:t>
            </a:r>
            <a:r>
              <a:rPr lang="en-US" dirty="0"/>
              <a:t> trypanosomes of mammals;</a:t>
            </a:r>
          </a:p>
          <a:p>
            <a:pPr lvl="0"/>
            <a:r>
              <a:rPr lang="en-US" dirty="0"/>
              <a:t> six of these are of medical importance: </a:t>
            </a:r>
            <a:r>
              <a:rPr lang="en-US" i="1" dirty="0"/>
              <a:t>G.</a:t>
            </a:r>
            <a:r>
              <a:rPr lang="en-US" dirty="0"/>
              <a:t> </a:t>
            </a:r>
            <a:r>
              <a:rPr lang="en-US" i="1" dirty="0" err="1"/>
              <a:t>palpalis</a:t>
            </a:r>
            <a:r>
              <a:rPr lang="en-US" i="1" dirty="0"/>
              <a:t>, G. </a:t>
            </a:r>
            <a:r>
              <a:rPr lang="en-US" i="1" dirty="0" err="1"/>
              <a:t>fuscipes</a:t>
            </a:r>
            <a:r>
              <a:rPr lang="en-US" dirty="0"/>
              <a:t> and </a:t>
            </a:r>
            <a:r>
              <a:rPr lang="en-US" i="1" dirty="0"/>
              <a:t>G. </a:t>
            </a:r>
            <a:r>
              <a:rPr lang="en-US" i="1" dirty="0" err="1"/>
              <a:t>tachnoides</a:t>
            </a:r>
            <a:r>
              <a:rPr lang="en-US" dirty="0"/>
              <a:t> are found along rivers as primary vectors of Gambian sleeping sickness</a:t>
            </a:r>
            <a:r>
              <a:rPr lang="en-US" i="1" dirty="0"/>
              <a:t>; </a:t>
            </a:r>
          </a:p>
          <a:p>
            <a:pPr lvl="0"/>
            <a:r>
              <a:rPr lang="en-US" i="1" dirty="0"/>
              <a:t>G. </a:t>
            </a:r>
            <a:r>
              <a:rPr lang="en-US" i="1" dirty="0" err="1"/>
              <a:t>morsitans</a:t>
            </a:r>
            <a:r>
              <a:rPr lang="en-US" i="1" dirty="0"/>
              <a:t>, G. </a:t>
            </a:r>
            <a:r>
              <a:rPr lang="en-US" i="1" dirty="0" err="1"/>
              <a:t>swynnertoni</a:t>
            </a:r>
            <a:r>
              <a:rPr lang="en-US" dirty="0"/>
              <a:t> and </a:t>
            </a:r>
            <a:r>
              <a:rPr lang="en-US" i="1" dirty="0"/>
              <a:t>G. </a:t>
            </a:r>
            <a:r>
              <a:rPr lang="en-US" i="1" dirty="0" err="1"/>
              <a:t>pallidipes</a:t>
            </a:r>
            <a:r>
              <a:rPr lang="en-US" dirty="0"/>
              <a:t> are savanna species and principal vectors of Rhodesian sleeping sickness</a:t>
            </a:r>
          </a:p>
          <a:p>
            <a:endParaRPr lang="en-US" dirty="0"/>
          </a:p>
        </p:txBody>
      </p:sp>
    </p:spTree>
    <p:extLst>
      <p:ext uri="{BB962C8B-B14F-4D97-AF65-F5344CB8AC3E}">
        <p14:creationId xmlns:p14="http://schemas.microsoft.com/office/powerpoint/2010/main" val="2027997749"/>
      </p:ext>
    </p:extLst>
  </p:cSld>
  <p:clrMapOvr>
    <a:masterClrMapping/>
  </p:clrMapOvr>
</p:sld>
</file>

<file path=ppt/slides/slide7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dirty="0"/>
              <a:t>It is probable that all of these, as well as other several species, are able to transmit ‘</a:t>
            </a:r>
            <a:r>
              <a:rPr lang="en-US" dirty="0" err="1"/>
              <a:t>nagana</a:t>
            </a:r>
            <a:r>
              <a:rPr lang="en-US" dirty="0"/>
              <a:t>’ to cattle</a:t>
            </a:r>
          </a:p>
          <a:p>
            <a:pPr lvl="0"/>
            <a:r>
              <a:rPr lang="en-US" dirty="0"/>
              <a:t>The flies, generally, are more numerous during the rainy season.</a:t>
            </a:r>
          </a:p>
          <a:p>
            <a:pPr lvl="0"/>
            <a:r>
              <a:rPr lang="en-US" dirty="0"/>
              <a:t>The life-span is 2-3 months.</a:t>
            </a:r>
          </a:p>
          <a:p>
            <a:pPr marL="0" indent="0">
              <a:buNone/>
            </a:pPr>
            <a:endParaRPr lang="en-US" dirty="0"/>
          </a:p>
        </p:txBody>
      </p:sp>
    </p:spTree>
    <p:extLst>
      <p:ext uri="{BB962C8B-B14F-4D97-AF65-F5344CB8AC3E}">
        <p14:creationId xmlns:p14="http://schemas.microsoft.com/office/powerpoint/2010/main" val="2256759240"/>
      </p:ext>
    </p:extLst>
  </p:cSld>
  <p:clrMapOvr>
    <a:masterClrMapping/>
  </p:clrMapOvr>
</p:sld>
</file>

<file path=ppt/slides/slide7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Muscidae</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Members are </a:t>
            </a:r>
            <a:r>
              <a:rPr lang="en-US" dirty="0" err="1"/>
              <a:t>synanthropic</a:t>
            </a:r>
            <a:r>
              <a:rPr lang="en-US" dirty="0"/>
              <a:t> (i.e. they live closely with humans and share homes, food and drinks with humans, where possible)</a:t>
            </a:r>
          </a:p>
          <a:p>
            <a:pPr lvl="0"/>
            <a:r>
              <a:rPr lang="en-US" dirty="0"/>
              <a:t>They are medium-sized, usually dull-</a:t>
            </a:r>
            <a:r>
              <a:rPr lang="en-US" dirty="0" err="1"/>
              <a:t>coloured</a:t>
            </a:r>
            <a:r>
              <a:rPr lang="en-US" dirty="0"/>
              <a:t>.</a:t>
            </a:r>
          </a:p>
          <a:p>
            <a:pPr lvl="0"/>
            <a:r>
              <a:rPr lang="en-US" dirty="0"/>
              <a:t> </a:t>
            </a:r>
            <a:r>
              <a:rPr lang="en-US" b="1" i="1" dirty="0" err="1"/>
              <a:t>Musca</a:t>
            </a:r>
            <a:r>
              <a:rPr lang="en-US" b="1" i="1" dirty="0"/>
              <a:t> </a:t>
            </a:r>
            <a:r>
              <a:rPr lang="en-US" b="1" i="1" dirty="0" err="1"/>
              <a:t>domestica</a:t>
            </a:r>
            <a:r>
              <a:rPr lang="en-US" dirty="0"/>
              <a:t> is a typical member of the family and commonly known as the House fly</a:t>
            </a:r>
          </a:p>
          <a:p>
            <a:pPr lvl="0"/>
            <a:r>
              <a:rPr lang="en-US" dirty="0"/>
              <a:t>It is cosmopolitan in distribution</a:t>
            </a:r>
          </a:p>
        </p:txBody>
      </p:sp>
    </p:spTree>
    <p:extLst>
      <p:ext uri="{BB962C8B-B14F-4D97-AF65-F5344CB8AC3E}">
        <p14:creationId xmlns:p14="http://schemas.microsoft.com/office/powerpoint/2010/main" val="3276774868"/>
      </p:ext>
    </p:extLst>
  </p:cSld>
  <p:clrMapOvr>
    <a:masterClrMapping/>
  </p:clrMapOvr>
</p:sld>
</file>

<file path=ppt/slides/slide7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dirty="0"/>
              <a:t>They breed in all kinds of organic wastes, except decaying flesh; </a:t>
            </a:r>
          </a:p>
          <a:p>
            <a:pPr lvl="0"/>
            <a:r>
              <a:rPr lang="en-US" dirty="0" err="1"/>
              <a:t>faeces</a:t>
            </a:r>
            <a:r>
              <a:rPr lang="en-US" dirty="0"/>
              <a:t> of any kind are preferred, although decaying milk around dairy barns, slops, around hog troughs, silages, rotten fruit and vegetables, are also attractive to them</a:t>
            </a:r>
          </a:p>
          <a:p>
            <a:pPr lvl="0"/>
            <a:endParaRPr lang="en-US" dirty="0"/>
          </a:p>
          <a:p>
            <a:endParaRPr lang="en-US" dirty="0"/>
          </a:p>
        </p:txBody>
      </p:sp>
    </p:spTree>
    <p:extLst>
      <p:ext uri="{BB962C8B-B14F-4D97-AF65-F5344CB8AC3E}">
        <p14:creationId xmlns:p14="http://schemas.microsoft.com/office/powerpoint/2010/main" val="3354330643"/>
      </p:ext>
    </p:extLst>
  </p:cSld>
  <p:clrMapOvr>
    <a:masterClrMapping/>
  </p:clrMapOvr>
</p:sld>
</file>

<file path=ppt/slides/slide7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Garbage cans are a </a:t>
            </a:r>
            <a:r>
              <a:rPr lang="en-US" dirty="0" err="1"/>
              <a:t>favourable</a:t>
            </a:r>
            <a:r>
              <a:rPr lang="en-US" dirty="0"/>
              <a:t> breeding place, and rotting garbage in the tropics can become transformed into an apparently equal mass of maggots, overnight</a:t>
            </a:r>
          </a:p>
          <a:p>
            <a:pPr lvl="0"/>
            <a:r>
              <a:rPr lang="en-US" dirty="0"/>
              <a:t>Under </a:t>
            </a:r>
            <a:r>
              <a:rPr lang="en-US" dirty="0" err="1"/>
              <a:t>favourable</a:t>
            </a:r>
            <a:r>
              <a:rPr lang="en-US" dirty="0"/>
              <a:t> conditions, eggs develop into adults in 10 days</a:t>
            </a:r>
          </a:p>
          <a:p>
            <a:pPr lvl="0"/>
            <a:r>
              <a:rPr lang="en-US" dirty="0"/>
              <a:t>A female deposits 120-150 eggs in each of at least 6 lots in its life-time</a:t>
            </a:r>
          </a:p>
          <a:p>
            <a:r>
              <a:rPr lang="en-US" dirty="0"/>
              <a:t>House flies are efficient disease carriers for three main reasons</a:t>
            </a:r>
          </a:p>
          <a:p>
            <a:pPr marL="0" lvl="0" indent="0">
              <a:buNone/>
            </a:pPr>
            <a:endParaRPr lang="en-US" dirty="0"/>
          </a:p>
          <a:p>
            <a:endParaRPr lang="en-US" dirty="0"/>
          </a:p>
        </p:txBody>
      </p:sp>
    </p:spTree>
    <p:extLst>
      <p:ext uri="{BB962C8B-B14F-4D97-AF65-F5344CB8AC3E}">
        <p14:creationId xmlns:p14="http://schemas.microsoft.com/office/powerpoint/2010/main" val="507369403"/>
      </p:ext>
    </p:extLst>
  </p:cSld>
  <p:clrMapOvr>
    <a:masterClrMapping/>
  </p:clrMapOvr>
</p:sld>
</file>

<file path=ppt/slides/slide7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Their structure </a:t>
            </a:r>
            <a:r>
              <a:rPr lang="en-US" dirty="0" err="1"/>
              <a:t>favours</a:t>
            </a:r>
            <a:r>
              <a:rPr lang="en-US" dirty="0"/>
              <a:t> carrying bacteria-the multitude of tiny hairs covering most of the body readily collects bacteria, spores, cysts and helminth eggs, and their mouthparts and feet also have sticky pads that collect such material.</a:t>
            </a:r>
          </a:p>
          <a:p>
            <a:pPr marL="571500" lvl="0" indent="-571500">
              <a:buFont typeface="+mj-lt"/>
              <a:buAutoNum type="romanLcPeriod"/>
            </a:pPr>
            <a:r>
              <a:rPr lang="en-US" dirty="0"/>
              <a:t>They relish human food and excrement alike; while feeding they also defecate and vomit the remains of their last meal. </a:t>
            </a:r>
          </a:p>
          <a:p>
            <a:pPr marL="571500" lvl="0" indent="-571500">
              <a:buFont typeface="+mj-lt"/>
              <a:buAutoNum type="romanLcPeriod"/>
            </a:pPr>
            <a:r>
              <a:rPr lang="en-US" dirty="0"/>
              <a:t>Helminth eggs, protozoan cysts and bacteria survive the intestinal tract of flies</a:t>
            </a:r>
          </a:p>
        </p:txBody>
      </p:sp>
    </p:spTree>
    <p:extLst>
      <p:ext uri="{BB962C8B-B14F-4D97-AF65-F5344CB8AC3E}">
        <p14:creationId xmlns:p14="http://schemas.microsoft.com/office/powerpoint/2010/main" val="3018749895"/>
      </p:ext>
    </p:extLst>
  </p:cSld>
  <p:clrMapOvr>
    <a:masterClrMapping/>
  </p:clrMapOvr>
</p:sld>
</file>

<file path=ppt/slides/slide7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r>
              <a:rPr lang="en-US" b="1" dirty="0"/>
              <a:t> cont’d</a:t>
            </a:r>
            <a:br>
              <a:rPr lang="en-US" dirty="0"/>
            </a:br>
            <a:endParaRPr lang="en-US" dirty="0"/>
          </a:p>
        </p:txBody>
      </p:sp>
      <p:sp>
        <p:nvSpPr>
          <p:cNvPr id="3" name="Content Placeholder 2"/>
          <p:cNvSpPr>
            <a:spLocks noGrp="1"/>
          </p:cNvSpPr>
          <p:nvPr>
            <p:ph idx="1"/>
          </p:nvPr>
        </p:nvSpPr>
        <p:spPr/>
        <p:txBody>
          <a:bodyPr/>
          <a:lstStyle/>
          <a:p>
            <a:pPr marL="0" indent="0">
              <a:buNone/>
            </a:pPr>
            <a:r>
              <a:rPr lang="en-US" dirty="0"/>
              <a:t>iii.  Due to their </a:t>
            </a:r>
            <a:r>
              <a:rPr lang="en-US" dirty="0" err="1"/>
              <a:t>synanthropic</a:t>
            </a:r>
            <a:r>
              <a:rPr lang="en-US" dirty="0"/>
              <a:t> and powerful flight, house flies move about freely, hence are ideal vehicles for mechanical transmission of disease pathogens </a:t>
            </a:r>
          </a:p>
          <a:p>
            <a:pPr marL="571500" indent="-571500">
              <a:buFont typeface="+mj-lt"/>
              <a:buAutoNum type="romanLcPeriod"/>
            </a:pPr>
            <a:endParaRPr lang="en-US" dirty="0"/>
          </a:p>
        </p:txBody>
      </p:sp>
    </p:spTree>
    <p:extLst>
      <p:ext uri="{BB962C8B-B14F-4D97-AF65-F5344CB8AC3E}">
        <p14:creationId xmlns:p14="http://schemas.microsoft.com/office/powerpoint/2010/main" val="2749423082"/>
      </p:ext>
    </p:extLst>
  </p:cSld>
  <p:clrMapOvr>
    <a:masterClrMapping/>
  </p:clrMapOvr>
</p:sld>
</file>

<file path=ppt/slides/slide7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Glossinidae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buFont typeface="Wingdings" pitchFamily="2" charset="2"/>
              <a:buChar char="v"/>
            </a:pPr>
            <a:r>
              <a:rPr lang="en-US" dirty="0"/>
              <a:t>Diseases, or their agents, transmitted by houseflies are too numerous to be listed but they include:</a:t>
            </a:r>
          </a:p>
          <a:p>
            <a:pPr lvl="0">
              <a:buFont typeface="Wingdings" pitchFamily="2" charset="2"/>
              <a:buChar char="Ø"/>
            </a:pPr>
            <a:r>
              <a:rPr lang="en-US" dirty="0"/>
              <a:t>Most enteric diseases from faecal contamination, such as typhoid fever, cholera, polio, hepatitis, shigellosis, salmonellosis and other dysenteries</a:t>
            </a:r>
          </a:p>
          <a:p>
            <a:pPr lvl="0">
              <a:buFont typeface="Wingdings" pitchFamily="2" charset="2"/>
              <a:buChar char="Ø"/>
            </a:pPr>
            <a:r>
              <a:rPr lang="en-US" dirty="0"/>
              <a:t>Yaws, leprosy, anthrax, trachoma, tuberculosis</a:t>
            </a:r>
          </a:p>
          <a:p>
            <a:pPr lvl="0">
              <a:buFont typeface="Wingdings" pitchFamily="2" charset="2"/>
              <a:buChar char="Ø"/>
            </a:pPr>
            <a:r>
              <a:rPr lang="en-US" dirty="0"/>
              <a:t>Worm infections such as </a:t>
            </a:r>
            <a:r>
              <a:rPr lang="en-US" dirty="0" err="1"/>
              <a:t>Ascaris</a:t>
            </a:r>
            <a:r>
              <a:rPr lang="en-US" dirty="0"/>
              <a:t> </a:t>
            </a:r>
            <a:r>
              <a:rPr lang="en-US" dirty="0" err="1"/>
              <a:t>sp</a:t>
            </a:r>
            <a:endParaRPr lang="en-US" dirty="0"/>
          </a:p>
          <a:p>
            <a:pPr lvl="0">
              <a:buFont typeface="Wingdings" pitchFamily="2" charset="2"/>
              <a:buChar char="v"/>
            </a:pPr>
            <a:r>
              <a:rPr lang="en-US" dirty="0"/>
              <a:t>Several diseases of domestic animals are also transmitted</a:t>
            </a:r>
          </a:p>
          <a:p>
            <a:endParaRPr lang="en-US" dirty="0"/>
          </a:p>
        </p:txBody>
      </p:sp>
    </p:spTree>
    <p:extLst>
      <p:ext uri="{BB962C8B-B14F-4D97-AF65-F5344CB8AC3E}">
        <p14:creationId xmlns:p14="http://schemas.microsoft.com/office/powerpoint/2010/main" val="1250149034"/>
      </p:ext>
    </p:extLst>
  </p:cSld>
  <p:clrMapOvr>
    <a:masterClrMapping/>
  </p:clrMapOvr>
</p:sld>
</file>

<file path=ppt/slides/slide7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Stomoxys</a:t>
            </a:r>
            <a:r>
              <a:rPr lang="en-US" b="1" i="1" dirty="0"/>
              <a:t> </a:t>
            </a:r>
            <a:r>
              <a:rPr lang="en-US" b="1" i="1" dirty="0" err="1"/>
              <a:t>calcitrans</a:t>
            </a:r>
            <a:r>
              <a:rPr lang="en-US" dirty="0"/>
              <a:t> (the Stable fly)</a:t>
            </a:r>
            <a:br>
              <a:rPr lang="en-US" dirty="0"/>
            </a:br>
            <a:endParaRPr lang="en-US" dirty="0"/>
          </a:p>
        </p:txBody>
      </p:sp>
      <p:sp>
        <p:nvSpPr>
          <p:cNvPr id="3" name="Content Placeholder 2"/>
          <p:cNvSpPr>
            <a:spLocks noGrp="1"/>
          </p:cNvSpPr>
          <p:nvPr>
            <p:ph idx="1"/>
          </p:nvPr>
        </p:nvSpPr>
        <p:spPr/>
        <p:txBody>
          <a:bodyPr>
            <a:normAutofit fontScale="92500"/>
          </a:bodyPr>
          <a:lstStyle/>
          <a:p>
            <a:pPr lvl="0"/>
            <a:r>
              <a:rPr lang="en-US" dirty="0"/>
              <a:t>This species is the only member of the genus </a:t>
            </a:r>
            <a:r>
              <a:rPr lang="en-US" b="1" i="1" dirty="0" err="1"/>
              <a:t>Stomoxys</a:t>
            </a:r>
            <a:r>
              <a:rPr lang="en-US" dirty="0"/>
              <a:t>; it is cosmopolitan</a:t>
            </a:r>
          </a:p>
          <a:p>
            <a:pPr lvl="0"/>
            <a:r>
              <a:rPr lang="en-US" dirty="0"/>
              <a:t>Molecular evidence points to a high level of gene flow among </a:t>
            </a:r>
            <a:r>
              <a:rPr lang="en-US" i="1" dirty="0"/>
              <a:t>S. </a:t>
            </a:r>
            <a:r>
              <a:rPr lang="en-US" i="1" dirty="0" err="1"/>
              <a:t>calcitrans</a:t>
            </a:r>
            <a:r>
              <a:rPr lang="en-US" dirty="0"/>
              <a:t> populations, suggesting equally high intercontinental mobility, though  the species occurs mostly in N. America</a:t>
            </a:r>
          </a:p>
          <a:p>
            <a:pPr lvl="0"/>
            <a:r>
              <a:rPr lang="en-US" dirty="0"/>
              <a:t>In appearance it is similar to </a:t>
            </a:r>
            <a:r>
              <a:rPr lang="en-US" i="1" dirty="0"/>
              <a:t>M. </a:t>
            </a:r>
            <a:r>
              <a:rPr lang="en-US" i="1" dirty="0" err="1"/>
              <a:t>domestica</a:t>
            </a:r>
            <a:endParaRPr lang="en-US" dirty="0"/>
          </a:p>
          <a:p>
            <a:pPr lvl="0"/>
            <a:r>
              <a:rPr lang="en-US" dirty="0"/>
              <a:t>Stable flies are daytime feeders; both sexes feed on blood.</a:t>
            </a:r>
          </a:p>
          <a:p>
            <a:endParaRPr lang="en-US" dirty="0"/>
          </a:p>
        </p:txBody>
      </p:sp>
    </p:spTree>
    <p:extLst>
      <p:ext uri="{BB962C8B-B14F-4D97-AF65-F5344CB8AC3E}">
        <p14:creationId xmlns:p14="http://schemas.microsoft.com/office/powerpoint/2010/main" val="3948933997"/>
      </p:ext>
    </p:extLst>
  </p:cSld>
  <p:clrMapOvr>
    <a:masterClrMapping/>
  </p:clrMapOvr>
</p:sld>
</file>

<file path=ppt/slides/slide7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Stomoxys</a:t>
            </a:r>
            <a:r>
              <a:rPr lang="en-US" b="1" i="1" dirty="0"/>
              <a:t> </a:t>
            </a:r>
            <a:r>
              <a:rPr lang="en-US" b="1" i="1" dirty="0" err="1"/>
              <a:t>calcitrans</a:t>
            </a:r>
            <a:r>
              <a:rPr lang="en-US" dirty="0"/>
              <a:t> (the Stable fly)</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The labella of the mouthparts are equipped with rows of teeth that can readily pierce skin and underlying tissues</a:t>
            </a:r>
          </a:p>
          <a:p>
            <a:pPr lvl="0"/>
            <a:r>
              <a:rPr lang="en-US" dirty="0"/>
              <a:t>The flies then sponge up blood that wells into the wound</a:t>
            </a:r>
          </a:p>
          <a:p>
            <a:pPr lvl="0"/>
            <a:r>
              <a:rPr lang="en-US" dirty="0"/>
              <a:t>The flies avidly bite humans and other animals, especially cattle, horses, and prefer to breed in decaying vegetation rather than manure, though they are adaptable</a:t>
            </a:r>
          </a:p>
          <a:p>
            <a:pPr marL="0" indent="0">
              <a:buNone/>
            </a:pPr>
            <a:endParaRPr lang="en-US" dirty="0"/>
          </a:p>
        </p:txBody>
      </p:sp>
    </p:spTree>
    <p:extLst>
      <p:ext uri="{BB962C8B-B14F-4D97-AF65-F5344CB8AC3E}">
        <p14:creationId xmlns:p14="http://schemas.microsoft.com/office/powerpoint/2010/main" val="4095871880"/>
      </p:ext>
    </p:extLst>
  </p:cSld>
  <p:clrMapOvr>
    <a:masterClrMapping/>
  </p:clrMapOvr>
</p:sld>
</file>

<file path=ppt/slides/slide7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Stomoxys</a:t>
            </a:r>
            <a:r>
              <a:rPr lang="en-US" b="1" i="1" dirty="0"/>
              <a:t> </a:t>
            </a:r>
            <a:r>
              <a:rPr lang="en-US" b="1" i="1" dirty="0" err="1"/>
              <a:t>calcitrans</a:t>
            </a:r>
            <a:r>
              <a:rPr lang="en-US" dirty="0"/>
              <a:t> (the Stable fly)</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Their attack, in large numbers on humans, is intolerable; </a:t>
            </a:r>
          </a:p>
          <a:p>
            <a:pPr lvl="0"/>
            <a:r>
              <a:rPr lang="en-US" dirty="0"/>
              <a:t>the species is an important pest of livestock, causing weight loss, reduced milk production and damage to hides, </a:t>
            </a:r>
          </a:p>
          <a:p>
            <a:pPr lvl="0"/>
            <a:r>
              <a:rPr lang="en-US" dirty="0"/>
              <a:t>and adult cattle death, if bitten several times</a:t>
            </a:r>
          </a:p>
          <a:p>
            <a:endParaRPr lang="en-US" dirty="0"/>
          </a:p>
        </p:txBody>
      </p:sp>
    </p:spTree>
    <p:extLst>
      <p:ext uri="{BB962C8B-B14F-4D97-AF65-F5344CB8AC3E}">
        <p14:creationId xmlns:p14="http://schemas.microsoft.com/office/powerpoint/2010/main" val="88194966"/>
      </p:ext>
    </p:extLst>
  </p:cSld>
  <p:clrMapOvr>
    <a:masterClrMapping/>
  </p:clrMapOvr>
</p:sld>
</file>

<file path=ppt/slides/slide7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Stomoxys</a:t>
            </a:r>
            <a:r>
              <a:rPr lang="en-US" b="1" i="1" dirty="0"/>
              <a:t> </a:t>
            </a:r>
            <a:r>
              <a:rPr lang="en-US" b="1" i="1" dirty="0" err="1"/>
              <a:t>calcitrans</a:t>
            </a:r>
            <a:r>
              <a:rPr lang="en-US" dirty="0"/>
              <a:t> (the Stable fly)</a:t>
            </a:r>
            <a:br>
              <a:rPr lang="en-US" dirty="0"/>
            </a:br>
            <a:endParaRPr lang="en-US" dirty="0"/>
          </a:p>
        </p:txBody>
      </p:sp>
      <p:sp>
        <p:nvSpPr>
          <p:cNvPr id="3" name="Content Placeholder 2"/>
          <p:cNvSpPr>
            <a:spLocks noGrp="1"/>
          </p:cNvSpPr>
          <p:nvPr>
            <p:ph idx="1"/>
          </p:nvPr>
        </p:nvSpPr>
        <p:spPr/>
        <p:txBody>
          <a:bodyPr>
            <a:normAutofit fontScale="92500"/>
          </a:bodyPr>
          <a:lstStyle/>
          <a:p>
            <a:pPr lvl="0"/>
            <a:r>
              <a:rPr lang="en-US" dirty="0"/>
              <a:t>Diseases transmitted by stable flies are: </a:t>
            </a:r>
            <a:r>
              <a:rPr lang="en-US" dirty="0" err="1"/>
              <a:t>surra</a:t>
            </a:r>
            <a:r>
              <a:rPr lang="en-US" dirty="0"/>
              <a:t>, caused by </a:t>
            </a:r>
            <a:r>
              <a:rPr lang="en-US" i="1" dirty="0" err="1"/>
              <a:t>Trypanosoma</a:t>
            </a:r>
            <a:r>
              <a:rPr lang="en-US" i="1" dirty="0"/>
              <a:t> </a:t>
            </a:r>
            <a:r>
              <a:rPr lang="en-US" i="1" dirty="0" err="1"/>
              <a:t>evansi</a:t>
            </a:r>
            <a:r>
              <a:rPr lang="en-US" dirty="0"/>
              <a:t>;</a:t>
            </a:r>
          </a:p>
          <a:p>
            <a:pPr lvl="0"/>
            <a:r>
              <a:rPr lang="en-US" dirty="0"/>
              <a:t> mechanical transmission of </a:t>
            </a:r>
            <a:r>
              <a:rPr lang="en-US" i="1" dirty="0"/>
              <a:t>T. </a:t>
            </a:r>
            <a:r>
              <a:rPr lang="en-US" i="1" dirty="0" err="1"/>
              <a:t>brucei</a:t>
            </a:r>
            <a:r>
              <a:rPr lang="en-US" dirty="0"/>
              <a:t> complex; epidemic relapsing fever, </a:t>
            </a:r>
            <a:r>
              <a:rPr lang="en-US" dirty="0" err="1"/>
              <a:t>antrax</a:t>
            </a:r>
            <a:r>
              <a:rPr lang="en-US" dirty="0"/>
              <a:t>, brucellosis, swine erysipelas, equine swine fever, African horse sickness and fowl </a:t>
            </a:r>
            <a:r>
              <a:rPr lang="en-US" dirty="0" err="1"/>
              <a:t>pok</a:t>
            </a:r>
            <a:endParaRPr lang="en-US" dirty="0"/>
          </a:p>
          <a:p>
            <a:r>
              <a:rPr lang="en-US" dirty="0"/>
              <a:t>Stable flies are intermediate hosts of the horse stomach worm, </a:t>
            </a:r>
            <a:r>
              <a:rPr lang="en-US" i="1" dirty="0" err="1"/>
              <a:t>Habronema</a:t>
            </a:r>
            <a:r>
              <a:rPr lang="en-US" i="1" dirty="0"/>
              <a:t> </a:t>
            </a:r>
            <a:r>
              <a:rPr lang="en-US" i="1" dirty="0" err="1"/>
              <a:t>microstoma</a:t>
            </a:r>
            <a:r>
              <a:rPr lang="en-US" i="1" dirty="0"/>
              <a:t>,</a:t>
            </a:r>
            <a:r>
              <a:rPr lang="en-US" dirty="0"/>
              <a:t> which infects horses when infected flies are swallowed</a:t>
            </a:r>
          </a:p>
          <a:p>
            <a:pPr marL="0" lvl="0" indent="0">
              <a:buNone/>
            </a:pPr>
            <a:endParaRPr lang="en-US" dirty="0"/>
          </a:p>
          <a:p>
            <a:endParaRPr lang="en-US" dirty="0"/>
          </a:p>
        </p:txBody>
      </p:sp>
    </p:spTree>
    <p:extLst>
      <p:ext uri="{BB962C8B-B14F-4D97-AF65-F5344CB8AC3E}">
        <p14:creationId xmlns:p14="http://schemas.microsoft.com/office/powerpoint/2010/main" val="2521665642"/>
      </p:ext>
    </p:extLst>
  </p:cSld>
  <p:clrMapOvr>
    <a:masterClrMapping/>
  </p:clrMapOvr>
</p:sld>
</file>

<file path=ppt/slides/slide7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Stomoxys</a:t>
            </a:r>
            <a:r>
              <a:rPr lang="en-US" b="1" i="1" dirty="0"/>
              <a:t> </a:t>
            </a:r>
            <a:r>
              <a:rPr lang="en-US" b="1" i="1" dirty="0" err="1"/>
              <a:t>calcitrans</a:t>
            </a:r>
            <a:r>
              <a:rPr lang="en-US" dirty="0"/>
              <a:t> (the Stable fly)</a:t>
            </a:r>
            <a:br>
              <a:rPr lang="en-US" dirty="0"/>
            </a:br>
            <a:endParaRPr lang="en-US" dirty="0"/>
          </a:p>
        </p:txBody>
      </p:sp>
      <p:sp>
        <p:nvSpPr>
          <p:cNvPr id="3" name="Content Placeholder 2"/>
          <p:cNvSpPr>
            <a:spLocks noGrp="1"/>
          </p:cNvSpPr>
          <p:nvPr>
            <p:ph idx="1"/>
          </p:nvPr>
        </p:nvSpPr>
        <p:spPr/>
        <p:txBody>
          <a:bodyPr/>
          <a:lstStyle/>
          <a:p>
            <a:pPr marL="0" indent="0" algn="ctr">
              <a:buNone/>
            </a:pPr>
            <a:r>
              <a:rPr lang="en-US" b="1" dirty="0"/>
              <a:t>Control</a:t>
            </a:r>
            <a:endParaRPr lang="en-US" dirty="0"/>
          </a:p>
          <a:p>
            <a:pPr lvl="0"/>
            <a:r>
              <a:rPr lang="en-US" dirty="0"/>
              <a:t>Besides insecticides, there is also the release of parasitoid wasps, </a:t>
            </a:r>
          </a:p>
          <a:p>
            <a:pPr lvl="0"/>
            <a:r>
              <a:rPr lang="en-US" dirty="0"/>
              <a:t>e.g. </a:t>
            </a:r>
            <a:r>
              <a:rPr lang="en-US" i="1" dirty="0" err="1"/>
              <a:t>Muscidifurax</a:t>
            </a:r>
            <a:r>
              <a:rPr lang="en-US" dirty="0"/>
              <a:t> </a:t>
            </a:r>
            <a:r>
              <a:rPr lang="en-US" i="1" dirty="0"/>
              <a:t>raptor</a:t>
            </a:r>
            <a:r>
              <a:rPr lang="en-US" dirty="0"/>
              <a:t> and solar-powered traps designed to attract both house and </a:t>
            </a:r>
            <a:r>
              <a:rPr lang="en-US" dirty="0" err="1"/>
              <a:t>stableflies</a:t>
            </a:r>
            <a:endParaRPr lang="en-US" dirty="0"/>
          </a:p>
          <a:p>
            <a:endParaRPr lang="en-US" dirty="0"/>
          </a:p>
        </p:txBody>
      </p:sp>
    </p:spTree>
    <p:extLst>
      <p:ext uri="{BB962C8B-B14F-4D97-AF65-F5344CB8AC3E}">
        <p14:creationId xmlns:p14="http://schemas.microsoft.com/office/powerpoint/2010/main" val="1567770818"/>
      </p:ext>
    </p:extLst>
  </p:cSld>
  <p:clrMapOvr>
    <a:masterClrMapping/>
  </p:clrMapOvr>
</p:sld>
</file>

<file path=ppt/slides/slide7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i="1" dirty="0" err="1"/>
              <a:t>Haematobia</a:t>
            </a:r>
            <a:r>
              <a:rPr lang="en-US" b="1" i="1" dirty="0"/>
              <a:t> species</a:t>
            </a:r>
            <a:r>
              <a:rPr lang="en-US" dirty="0"/>
              <a:t> (Horn flies)</a:t>
            </a:r>
          </a:p>
        </p:txBody>
      </p:sp>
      <p:sp>
        <p:nvSpPr>
          <p:cNvPr id="3" name="Content Placeholder 2"/>
          <p:cNvSpPr>
            <a:spLocks noGrp="1"/>
          </p:cNvSpPr>
          <p:nvPr>
            <p:ph idx="1"/>
          </p:nvPr>
        </p:nvSpPr>
        <p:spPr/>
        <p:txBody>
          <a:bodyPr/>
          <a:lstStyle/>
          <a:p>
            <a:r>
              <a:rPr lang="en-US" b="1" i="1" dirty="0" err="1"/>
              <a:t>Haematobia</a:t>
            </a:r>
            <a:r>
              <a:rPr lang="en-US" b="1" i="1" dirty="0"/>
              <a:t> species</a:t>
            </a:r>
            <a:r>
              <a:rPr lang="en-US" dirty="0"/>
              <a:t> (Horn flies) are also known as </a:t>
            </a:r>
            <a:r>
              <a:rPr lang="en-US" b="1" i="1" dirty="0" err="1"/>
              <a:t>Hydrotaea</a:t>
            </a:r>
            <a:r>
              <a:rPr lang="en-US" b="1" i="1" dirty="0"/>
              <a:t> </a:t>
            </a:r>
            <a:r>
              <a:rPr lang="en-US" b="1" i="1" dirty="0" err="1"/>
              <a:t>irritans</a:t>
            </a:r>
            <a:r>
              <a:rPr lang="en-US" dirty="0"/>
              <a:t>, occur in the Americas, Europe, Asia Minor and Africa.</a:t>
            </a:r>
          </a:p>
          <a:p>
            <a:pPr lvl="0"/>
            <a:r>
              <a:rPr lang="en-US" dirty="0"/>
              <a:t>They  closely resemble stable flies but are more slender</a:t>
            </a:r>
          </a:p>
          <a:p>
            <a:pPr lvl="0"/>
            <a:r>
              <a:rPr lang="en-US" dirty="0"/>
              <a:t>They may bite humans but are not active fliers as stable flies; they are more of veterinary importance.</a:t>
            </a:r>
          </a:p>
          <a:p>
            <a:endParaRPr lang="en-US" dirty="0"/>
          </a:p>
        </p:txBody>
      </p:sp>
    </p:spTree>
    <p:extLst>
      <p:ext uri="{BB962C8B-B14F-4D97-AF65-F5344CB8AC3E}">
        <p14:creationId xmlns:p14="http://schemas.microsoft.com/office/powerpoint/2010/main" val="563384883"/>
      </p:ext>
    </p:extLst>
  </p:cSld>
  <p:clrMapOvr>
    <a:masterClrMapping/>
  </p:clrMapOvr>
</p:sld>
</file>

<file path=ppt/slides/slide7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br>
              <a:rPr lang="en-US" b="1" dirty="0"/>
            </a:br>
            <a:r>
              <a:rPr lang="en-US" b="1" dirty="0" err="1"/>
              <a:t>Myiasis</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err="1"/>
              <a:t>Myiasis</a:t>
            </a:r>
            <a:r>
              <a:rPr lang="en-US" dirty="0"/>
              <a:t> is generally, an infection/disease caused by fly maggots of various species of fly families. There are several categories of </a:t>
            </a:r>
            <a:r>
              <a:rPr lang="en-US" dirty="0" err="1"/>
              <a:t>myiasis</a:t>
            </a:r>
            <a:r>
              <a:rPr lang="en-US" dirty="0"/>
              <a:t> as in parasitism, as follows:</a:t>
            </a:r>
          </a:p>
          <a:p>
            <a:pPr marL="514350" lvl="0" indent="-514350">
              <a:buFont typeface="+mj-lt"/>
              <a:buAutoNum type="arabicPeriod"/>
            </a:pPr>
            <a:r>
              <a:rPr lang="en-US" b="1" dirty="0"/>
              <a:t>Obligatory </a:t>
            </a:r>
            <a:r>
              <a:rPr lang="en-US" b="1" dirty="0" err="1"/>
              <a:t>myiasis</a:t>
            </a:r>
            <a:r>
              <a:rPr lang="en-US" dirty="0"/>
              <a:t>-the insect depends on a period of parasitism before completing its life cycle</a:t>
            </a:r>
          </a:p>
          <a:p>
            <a:pPr marL="514350" lvl="0" indent="-514350">
              <a:buFont typeface="+mj-lt"/>
              <a:buAutoNum type="arabicPeriod"/>
            </a:pPr>
            <a:r>
              <a:rPr lang="en-US" b="1" dirty="0"/>
              <a:t>Facultative </a:t>
            </a:r>
            <a:r>
              <a:rPr lang="en-US" b="1" dirty="0" err="1"/>
              <a:t>myiasis</a:t>
            </a:r>
            <a:r>
              <a:rPr lang="en-US" dirty="0"/>
              <a:t>- a normally free-living maggot becomes parasitic when it accidentally gains entrance into a host</a:t>
            </a:r>
          </a:p>
          <a:p>
            <a:endParaRPr lang="en-US" dirty="0"/>
          </a:p>
        </p:txBody>
      </p:sp>
    </p:spTree>
    <p:extLst>
      <p:ext uri="{BB962C8B-B14F-4D97-AF65-F5344CB8AC3E}">
        <p14:creationId xmlns:p14="http://schemas.microsoft.com/office/powerpoint/2010/main" val="576511180"/>
      </p:ext>
    </p:extLst>
  </p:cSld>
  <p:clrMapOvr>
    <a:masterClrMapping/>
  </p:clrMapOvr>
</p:sld>
</file>

<file path=ppt/slides/slide7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err="1"/>
              <a:t>Myiasis</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Other terms are useful in describing the location of larvae:</a:t>
            </a:r>
          </a:p>
          <a:p>
            <a:pPr lvl="0"/>
            <a:r>
              <a:rPr lang="en-US" dirty="0"/>
              <a:t> gastric, intestinal, or rectal for invasion of the digestive system; </a:t>
            </a:r>
            <a:r>
              <a:rPr lang="en-US" b="1" dirty="0"/>
              <a:t>nasopharyngeal</a:t>
            </a:r>
            <a:r>
              <a:rPr lang="en-US" dirty="0"/>
              <a:t>, for nose, sinuses, and pharynx;</a:t>
            </a:r>
          </a:p>
          <a:p>
            <a:pPr lvl="0"/>
            <a:r>
              <a:rPr lang="en-US" dirty="0"/>
              <a:t> </a:t>
            </a:r>
            <a:r>
              <a:rPr lang="en-US" b="1" dirty="0"/>
              <a:t>cutaneous</a:t>
            </a:r>
            <a:r>
              <a:rPr lang="en-US" dirty="0"/>
              <a:t>, either creeping, when larvae burrow through the skin, or </a:t>
            </a:r>
            <a:r>
              <a:rPr lang="en-US" b="1" dirty="0" err="1"/>
              <a:t>furununcular</a:t>
            </a:r>
            <a:r>
              <a:rPr lang="en-US" dirty="0"/>
              <a:t>, if they remain in a boil-like lesion; urinary or </a:t>
            </a:r>
            <a:r>
              <a:rPr lang="en-US" b="1" dirty="0"/>
              <a:t>urogenital</a:t>
            </a:r>
            <a:r>
              <a:rPr lang="en-US" dirty="0"/>
              <a:t>; </a:t>
            </a:r>
            <a:r>
              <a:rPr lang="en-US" b="1" dirty="0"/>
              <a:t>auricular</a:t>
            </a:r>
            <a:r>
              <a:rPr lang="en-US" dirty="0"/>
              <a:t> for the ears, and </a:t>
            </a:r>
            <a:r>
              <a:rPr lang="en-US" b="1" dirty="0"/>
              <a:t>ophthalmic</a:t>
            </a:r>
            <a:r>
              <a:rPr lang="en-US" dirty="0"/>
              <a:t> for the eyes.</a:t>
            </a:r>
          </a:p>
          <a:p>
            <a:endParaRPr lang="en-US" dirty="0"/>
          </a:p>
        </p:txBody>
      </p:sp>
    </p:spTree>
    <p:extLst>
      <p:ext uri="{BB962C8B-B14F-4D97-AF65-F5344CB8AC3E}">
        <p14:creationId xmlns:p14="http://schemas.microsoft.com/office/powerpoint/2010/main" val="1898984298"/>
      </p:ext>
    </p:extLst>
  </p:cSld>
  <p:clrMapOvr>
    <a:masterClrMapping/>
  </p:clrMapOvr>
</p:sld>
</file>

<file path=ppt/slides/slide7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err="1"/>
              <a:t>Myiasis</a:t>
            </a:r>
            <a:r>
              <a:rPr lang="en-US" b="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Some larvae are intermittent blood suckers and are loosely included under the term </a:t>
            </a:r>
            <a:r>
              <a:rPr lang="en-US" dirty="0" err="1"/>
              <a:t>myiasis</a:t>
            </a:r>
            <a:r>
              <a:rPr lang="en-US" dirty="0"/>
              <a:t>.</a:t>
            </a:r>
          </a:p>
          <a:p>
            <a:pPr lvl="0"/>
            <a:r>
              <a:rPr lang="en-US" dirty="0"/>
              <a:t> </a:t>
            </a:r>
            <a:r>
              <a:rPr lang="en-US" b="1" dirty="0"/>
              <a:t>Accidental </a:t>
            </a:r>
            <a:r>
              <a:rPr lang="en-US" b="1" dirty="0" err="1"/>
              <a:t>myiasis</a:t>
            </a:r>
            <a:r>
              <a:rPr lang="en-US" dirty="0"/>
              <a:t> is usually enteric, occurring when eggs or larvae are eaten with contaminated food or usually involves </a:t>
            </a:r>
            <a:r>
              <a:rPr lang="en-US" dirty="0" err="1"/>
              <a:t>muscoid</a:t>
            </a:r>
            <a:r>
              <a:rPr lang="en-US" dirty="0"/>
              <a:t> flies, such as </a:t>
            </a:r>
            <a:r>
              <a:rPr lang="en-US" i="1" dirty="0"/>
              <a:t>M. </a:t>
            </a:r>
            <a:r>
              <a:rPr lang="en-US" i="1" dirty="0" err="1"/>
              <a:t>domestica</a:t>
            </a:r>
            <a:r>
              <a:rPr lang="en-US" dirty="0"/>
              <a:t> and </a:t>
            </a:r>
          </a:p>
          <a:p>
            <a:pPr lvl="0"/>
            <a:r>
              <a:rPr lang="en-US" dirty="0"/>
              <a:t>The families of flies that cause </a:t>
            </a:r>
            <a:r>
              <a:rPr lang="en-US" dirty="0" err="1"/>
              <a:t>Myiasis</a:t>
            </a:r>
            <a:r>
              <a:rPr lang="en-US" dirty="0"/>
              <a:t> include:</a:t>
            </a:r>
          </a:p>
          <a:p>
            <a:pPr marL="0" indent="0">
              <a:buNone/>
            </a:pPr>
            <a:endParaRPr lang="en-US" dirty="0"/>
          </a:p>
        </p:txBody>
      </p:sp>
    </p:spTree>
    <p:extLst>
      <p:ext uri="{BB962C8B-B14F-4D97-AF65-F5344CB8AC3E}">
        <p14:creationId xmlns:p14="http://schemas.microsoft.com/office/powerpoint/2010/main" val="3843740302"/>
      </p:ext>
    </p:extLst>
  </p:cSld>
  <p:clrMapOvr>
    <a:masterClrMapping/>
  </p:clrMapOvr>
</p:sld>
</file>

<file path=ppt/slides/slide7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Calliphoridae</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b="1" dirty="0"/>
              <a:t> </a:t>
            </a:r>
            <a:r>
              <a:rPr lang="en-US" dirty="0"/>
              <a:t>The large family of blow flies, most of which help to destroy carcasses; a few cause </a:t>
            </a:r>
            <a:r>
              <a:rPr lang="en-US" dirty="0" err="1"/>
              <a:t>myiasis</a:t>
            </a:r>
            <a:endParaRPr lang="en-US" dirty="0"/>
          </a:p>
          <a:p>
            <a:pPr lvl="0"/>
            <a:r>
              <a:rPr lang="en-US" dirty="0"/>
              <a:t>They are usually of metallic green, blue, or copper </a:t>
            </a:r>
            <a:r>
              <a:rPr lang="en-US" dirty="0" err="1"/>
              <a:t>colour</a:t>
            </a:r>
            <a:r>
              <a:rPr lang="en-US" dirty="0"/>
              <a:t>, though some are non-metallic</a:t>
            </a:r>
          </a:p>
          <a:p>
            <a:pPr lvl="0"/>
            <a:r>
              <a:rPr lang="en-US" dirty="0"/>
              <a:t>Common species include:</a:t>
            </a:r>
          </a:p>
          <a:p>
            <a:pPr lvl="0">
              <a:buFont typeface="Wingdings" pitchFamily="2" charset="2"/>
              <a:buChar char="Ø"/>
            </a:pPr>
            <a:r>
              <a:rPr lang="en-US" i="1" dirty="0" err="1"/>
              <a:t>Calliphora</a:t>
            </a:r>
            <a:r>
              <a:rPr lang="en-US" i="1" dirty="0"/>
              <a:t> </a:t>
            </a:r>
            <a:r>
              <a:rPr lang="en-US" i="1" dirty="0" err="1"/>
              <a:t>vomitaria</a:t>
            </a:r>
            <a:r>
              <a:rPr lang="en-US" dirty="0"/>
              <a:t>- can cause </a:t>
            </a:r>
            <a:r>
              <a:rPr lang="en-US" dirty="0" err="1"/>
              <a:t>pseudomyiasis</a:t>
            </a:r>
            <a:endParaRPr lang="en-US" dirty="0"/>
          </a:p>
          <a:p>
            <a:pPr lvl="0">
              <a:buFont typeface="Wingdings" pitchFamily="2" charset="2"/>
              <a:buChar char="Ø"/>
            </a:pPr>
            <a:r>
              <a:rPr lang="en-US" i="1" dirty="0" err="1"/>
              <a:t>Phaenicia</a:t>
            </a:r>
            <a:r>
              <a:rPr lang="en-US" i="1" dirty="0"/>
              <a:t> </a:t>
            </a:r>
            <a:r>
              <a:rPr lang="en-US" i="1" dirty="0" err="1"/>
              <a:t>spp</a:t>
            </a:r>
            <a:r>
              <a:rPr lang="en-US" dirty="0"/>
              <a:t> e.g. </a:t>
            </a:r>
            <a:r>
              <a:rPr lang="en-US" i="1" dirty="0"/>
              <a:t>P. </a:t>
            </a:r>
            <a:r>
              <a:rPr lang="en-US" i="1" dirty="0" err="1"/>
              <a:t>sericata</a:t>
            </a:r>
            <a:endParaRPr lang="en-US" dirty="0"/>
          </a:p>
          <a:p>
            <a:pPr lvl="0">
              <a:buFont typeface="Wingdings" pitchFamily="2" charset="2"/>
              <a:buChar char="Ø"/>
            </a:pPr>
            <a:r>
              <a:rPr lang="en-US" i="1" dirty="0" err="1"/>
              <a:t>Lucilia</a:t>
            </a:r>
            <a:r>
              <a:rPr lang="en-US" i="1" dirty="0"/>
              <a:t> </a:t>
            </a:r>
            <a:r>
              <a:rPr lang="en-US" i="1" dirty="0" err="1"/>
              <a:t>spp</a:t>
            </a:r>
            <a:r>
              <a:rPr lang="en-US" dirty="0"/>
              <a:t> e.g. </a:t>
            </a:r>
            <a:r>
              <a:rPr lang="en-US" i="1" dirty="0"/>
              <a:t>L. </a:t>
            </a:r>
            <a:r>
              <a:rPr lang="en-US" i="1" dirty="0" err="1"/>
              <a:t>cuprina</a:t>
            </a:r>
            <a:r>
              <a:rPr lang="en-US" dirty="0"/>
              <a:t>. These cause wool strike of sheep in Australia</a:t>
            </a:r>
          </a:p>
        </p:txBody>
      </p:sp>
    </p:spTree>
    <p:extLst>
      <p:ext uri="{BB962C8B-B14F-4D97-AF65-F5344CB8AC3E}">
        <p14:creationId xmlns:p14="http://schemas.microsoft.com/office/powerpoint/2010/main" val="1248417102"/>
      </p:ext>
    </p:extLst>
  </p:cSld>
  <p:clrMapOvr>
    <a:masterClrMapping/>
  </p:clrMapOvr>
</p:sld>
</file>

<file path=ppt/slides/slide7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Calliphoridae</a:t>
            </a:r>
            <a:r>
              <a:rPr lang="en-US" b="1" dirty="0"/>
              <a:t> cont’d</a:t>
            </a:r>
            <a:br>
              <a:rPr lang="en-US" dirty="0"/>
            </a:br>
            <a:endParaRPr lang="en-US" dirty="0"/>
          </a:p>
        </p:txBody>
      </p:sp>
      <p:sp>
        <p:nvSpPr>
          <p:cNvPr id="3" name="Content Placeholder 2"/>
          <p:cNvSpPr>
            <a:spLocks noGrp="1"/>
          </p:cNvSpPr>
          <p:nvPr>
            <p:ph idx="1"/>
          </p:nvPr>
        </p:nvSpPr>
        <p:spPr/>
        <p:txBody>
          <a:bodyPr/>
          <a:lstStyle/>
          <a:p>
            <a:r>
              <a:rPr lang="en-US" dirty="0"/>
              <a:t>Some species of </a:t>
            </a:r>
            <a:r>
              <a:rPr lang="en-US" dirty="0" err="1"/>
              <a:t>calliphorid</a:t>
            </a:r>
            <a:r>
              <a:rPr lang="en-US" dirty="0"/>
              <a:t> blow flies limit infections in wounds. </a:t>
            </a:r>
          </a:p>
          <a:p>
            <a:r>
              <a:rPr lang="en-US" dirty="0"/>
              <a:t>Others, such as some species of </a:t>
            </a:r>
            <a:r>
              <a:rPr lang="en-US" i="1" dirty="0" err="1"/>
              <a:t>Phormia</a:t>
            </a:r>
            <a:r>
              <a:rPr lang="en-US" i="1" dirty="0"/>
              <a:t>, </a:t>
            </a:r>
            <a:r>
              <a:rPr lang="en-US" i="1" dirty="0" err="1"/>
              <a:t>Cochliomyia</a:t>
            </a:r>
            <a:r>
              <a:rPr lang="en-US" i="1" dirty="0"/>
              <a:t> </a:t>
            </a:r>
            <a:r>
              <a:rPr lang="en-US" dirty="0"/>
              <a:t>and </a:t>
            </a:r>
            <a:r>
              <a:rPr lang="en-US" i="1" dirty="0" err="1"/>
              <a:t>Chrysomya</a:t>
            </a:r>
            <a:r>
              <a:rPr lang="en-US" dirty="0"/>
              <a:t> are facultative parasites</a:t>
            </a:r>
          </a:p>
          <a:p>
            <a:endParaRPr lang="en-US" dirty="0"/>
          </a:p>
          <a:p>
            <a:endParaRPr lang="en-US" dirty="0"/>
          </a:p>
        </p:txBody>
      </p:sp>
    </p:spTree>
    <p:extLst>
      <p:ext uri="{BB962C8B-B14F-4D97-AF65-F5344CB8AC3E}">
        <p14:creationId xmlns:p14="http://schemas.microsoft.com/office/powerpoint/2010/main" val="2831301813"/>
      </p:ext>
    </p:extLst>
  </p:cSld>
  <p:clrMapOvr>
    <a:masterClrMapping/>
  </p:clrMapOvr>
</p:sld>
</file>

<file path=ppt/slides/slide7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Calliphoridae</a:t>
            </a:r>
            <a:r>
              <a:rPr lang="en-US" b="1" dirty="0"/>
              <a:t> cont’d</a:t>
            </a:r>
            <a:br>
              <a:rPr lang="en-US" dirty="0"/>
            </a:br>
            <a:endParaRPr lang="en-US" dirty="0"/>
          </a:p>
        </p:txBody>
      </p:sp>
      <p:sp>
        <p:nvSpPr>
          <p:cNvPr id="3" name="Content Placeholder 2"/>
          <p:cNvSpPr>
            <a:spLocks noGrp="1"/>
          </p:cNvSpPr>
          <p:nvPr>
            <p:ph idx="1"/>
          </p:nvPr>
        </p:nvSpPr>
        <p:spPr/>
        <p:txBody>
          <a:bodyPr>
            <a:normAutofit/>
          </a:bodyPr>
          <a:lstStyle/>
          <a:p>
            <a:pPr lvl="0"/>
            <a:r>
              <a:rPr lang="en-US" b="1" i="1" dirty="0" err="1"/>
              <a:t>Cochliomyia</a:t>
            </a:r>
            <a:r>
              <a:rPr lang="en-US" b="1" i="1" dirty="0"/>
              <a:t> </a:t>
            </a:r>
            <a:r>
              <a:rPr lang="en-US" b="1" i="1" dirty="0" err="1"/>
              <a:t>hominivora</a:t>
            </a:r>
            <a:r>
              <a:rPr lang="en-US" dirty="0"/>
              <a:t>- this is the New World Screw worm, one of the most important causes of </a:t>
            </a:r>
            <a:r>
              <a:rPr lang="en-US" dirty="0" err="1"/>
              <a:t>myiasis</a:t>
            </a:r>
            <a:r>
              <a:rPr lang="en-US" dirty="0"/>
              <a:t>; </a:t>
            </a:r>
          </a:p>
          <a:p>
            <a:pPr lvl="0"/>
            <a:r>
              <a:rPr lang="en-US" dirty="0"/>
              <a:t>it is an obligate parasite, occurring throughout the </a:t>
            </a:r>
            <a:r>
              <a:rPr lang="en-US" dirty="0" err="1"/>
              <a:t>Neotropical</a:t>
            </a:r>
            <a:r>
              <a:rPr lang="en-US" dirty="0"/>
              <a:t> region</a:t>
            </a:r>
          </a:p>
          <a:p>
            <a:pPr lvl="0">
              <a:buFont typeface="Wingdings" pitchFamily="2" charset="2"/>
              <a:buChar char="Ø"/>
            </a:pPr>
            <a:r>
              <a:rPr lang="en-US" dirty="0"/>
              <a:t>It causes dermal </a:t>
            </a:r>
            <a:r>
              <a:rPr lang="en-US" dirty="0" err="1"/>
              <a:t>myiasis</a:t>
            </a:r>
            <a:r>
              <a:rPr lang="en-US" dirty="0"/>
              <a:t> in nearly any mammal as well as nasopharyngeal </a:t>
            </a:r>
            <a:r>
              <a:rPr lang="en-US" dirty="0" err="1"/>
              <a:t>myiasis</a:t>
            </a:r>
            <a:r>
              <a:rPr lang="en-US" dirty="0"/>
              <a:t> in humans</a:t>
            </a:r>
          </a:p>
        </p:txBody>
      </p:sp>
    </p:spTree>
    <p:extLst>
      <p:ext uri="{BB962C8B-B14F-4D97-AF65-F5344CB8AC3E}">
        <p14:creationId xmlns:p14="http://schemas.microsoft.com/office/powerpoint/2010/main" val="3420297663"/>
      </p:ext>
    </p:extLst>
  </p:cSld>
  <p:clrMapOvr>
    <a:masterClrMapping/>
  </p:clrMapOvr>
</p:sld>
</file>

<file path=ppt/slides/slide7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Calliphoridae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Adult flies are a deep, greenish-blue metallic </a:t>
            </a:r>
            <a:r>
              <a:rPr lang="en-US" dirty="0" err="1"/>
              <a:t>colour</a:t>
            </a:r>
            <a:r>
              <a:rPr lang="en-US" dirty="0"/>
              <a:t> with a yellow-orange, or reddish face and three dark stripes on the thorax;</a:t>
            </a:r>
          </a:p>
          <a:p>
            <a:pPr lvl="0">
              <a:buFont typeface="Wingdings" pitchFamily="2" charset="2"/>
              <a:buChar char="Ø"/>
            </a:pPr>
            <a:r>
              <a:rPr lang="en-US" dirty="0"/>
              <a:t> it is difficult to differentiate </a:t>
            </a:r>
            <a:r>
              <a:rPr lang="en-US" i="1" dirty="0"/>
              <a:t>C. </a:t>
            </a:r>
            <a:r>
              <a:rPr lang="en-US" i="1" dirty="0" err="1"/>
              <a:t>hominivorax</a:t>
            </a:r>
            <a:r>
              <a:rPr lang="en-US" dirty="0"/>
              <a:t> from </a:t>
            </a:r>
            <a:r>
              <a:rPr lang="en-US" i="1" dirty="0"/>
              <a:t>C. </a:t>
            </a:r>
            <a:r>
              <a:rPr lang="en-US" i="1" dirty="0" err="1"/>
              <a:t>macellaria</a:t>
            </a:r>
            <a:r>
              <a:rPr lang="en-US" dirty="0"/>
              <a:t>, the secondary </a:t>
            </a:r>
            <a:r>
              <a:rPr lang="en-US" dirty="0" err="1"/>
              <a:t>soreworm</a:t>
            </a:r>
            <a:r>
              <a:rPr lang="en-US" dirty="0"/>
              <a:t>, which is not an important cause of </a:t>
            </a:r>
            <a:r>
              <a:rPr lang="en-US" dirty="0" err="1"/>
              <a:t>myiasis</a:t>
            </a:r>
            <a:endParaRPr lang="en-US" dirty="0"/>
          </a:p>
          <a:p>
            <a:endParaRPr lang="en-US" dirty="0"/>
          </a:p>
          <a:p>
            <a:endParaRPr lang="en-US" dirty="0"/>
          </a:p>
        </p:txBody>
      </p:sp>
    </p:spTree>
    <p:extLst>
      <p:ext uri="{BB962C8B-B14F-4D97-AF65-F5344CB8AC3E}">
        <p14:creationId xmlns:p14="http://schemas.microsoft.com/office/powerpoint/2010/main" val="2148773312"/>
      </p:ext>
    </p:extLst>
  </p:cSld>
  <p:clrMapOvr>
    <a:masterClrMapping/>
  </p:clrMapOvr>
</p:sld>
</file>

<file path=ppt/slides/slide7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Calliphoridae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Screwworm larvae cannot penetrate intact skin, although mucous membranes of the face and genitalia are susceptible to their attack.</a:t>
            </a:r>
          </a:p>
          <a:p>
            <a:pPr lvl="0">
              <a:buFont typeface="Wingdings" pitchFamily="2" charset="2"/>
              <a:buChar char="Ø"/>
            </a:pPr>
            <a:r>
              <a:rPr lang="en-US" dirty="0"/>
              <a:t>Usually a pre-existing wound, however small, attracts the fly</a:t>
            </a:r>
          </a:p>
          <a:p>
            <a:pPr lvl="0">
              <a:buFont typeface="Wingdings" pitchFamily="2" charset="2"/>
              <a:buChar char="Ø"/>
            </a:pPr>
            <a:r>
              <a:rPr lang="en-US" dirty="0"/>
              <a:t>Generally, the more abundant the worms are in livestock, the greater the chances of human infection</a:t>
            </a:r>
          </a:p>
          <a:p>
            <a:pPr>
              <a:buFont typeface="Wingdings" pitchFamily="2" charset="2"/>
              <a:buChar char="Ø"/>
            </a:pPr>
            <a:endParaRPr lang="en-US" dirty="0"/>
          </a:p>
        </p:txBody>
      </p:sp>
    </p:spTree>
    <p:extLst>
      <p:ext uri="{BB962C8B-B14F-4D97-AF65-F5344CB8AC3E}">
        <p14:creationId xmlns:p14="http://schemas.microsoft.com/office/powerpoint/2010/main" val="1307839193"/>
      </p:ext>
    </p:extLst>
  </p:cSld>
  <p:clrMapOvr>
    <a:masterClrMapping/>
  </p:clrMapOvr>
</p:sld>
</file>

<file path=ppt/slides/slide7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Calliphoridae</a:t>
            </a:r>
            <a:r>
              <a:rPr lang="en-US" b="1" dirty="0"/>
              <a:t> cont’d</a:t>
            </a:r>
            <a:br>
              <a:rPr lang="en-US" dirty="0"/>
            </a:br>
            <a:endParaRPr lang="en-US" dirty="0"/>
          </a:p>
        </p:txBody>
      </p:sp>
      <p:sp>
        <p:nvSpPr>
          <p:cNvPr id="3" name="Content Placeholder 2"/>
          <p:cNvSpPr>
            <a:spLocks noGrp="1"/>
          </p:cNvSpPr>
          <p:nvPr>
            <p:ph idx="1"/>
          </p:nvPr>
        </p:nvSpPr>
        <p:spPr>
          <a:xfrm>
            <a:off x="457200" y="1600200"/>
            <a:ext cx="8229600" cy="5105400"/>
          </a:xfrm>
        </p:spPr>
        <p:txBody>
          <a:bodyPr>
            <a:normAutofit fontScale="92500" lnSpcReduction="20000"/>
          </a:bodyPr>
          <a:lstStyle/>
          <a:p>
            <a:pPr lvl="0">
              <a:buFont typeface="Wingdings" pitchFamily="2" charset="2"/>
              <a:buChar char="Ø"/>
            </a:pPr>
            <a:r>
              <a:rPr lang="en-US" dirty="0"/>
              <a:t>Infection in the head can be fatal whilst urogenital infection can be grossly deforming.</a:t>
            </a:r>
          </a:p>
          <a:p>
            <a:pPr lvl="0">
              <a:buFont typeface="Wingdings" pitchFamily="2" charset="2"/>
              <a:buChar char="Ø"/>
            </a:pPr>
            <a:r>
              <a:rPr lang="en-US" dirty="0"/>
              <a:t>The best control of this pest so far developed is the use of the sterile male technique- laboratory reared and sterilized males are released to mate with wild females. </a:t>
            </a:r>
          </a:p>
          <a:p>
            <a:pPr lvl="0">
              <a:buFont typeface="Wingdings" pitchFamily="2" charset="2"/>
              <a:buChar char="Ø"/>
            </a:pPr>
            <a:r>
              <a:rPr lang="en-US" dirty="0"/>
              <a:t>Since females of this species usually mate once, they, thus, cannot produce offspring after a sterile mating. </a:t>
            </a:r>
          </a:p>
          <a:p>
            <a:pPr lvl="0">
              <a:buFont typeface="Wingdings" pitchFamily="2" charset="2"/>
              <a:buChar char="Ø"/>
            </a:pPr>
            <a:r>
              <a:rPr lang="en-US" i="1" dirty="0"/>
              <a:t>C. </a:t>
            </a:r>
            <a:r>
              <a:rPr lang="en-US" i="1" dirty="0" err="1"/>
              <a:t>hominivorax</a:t>
            </a:r>
            <a:r>
              <a:rPr lang="en-US" dirty="0"/>
              <a:t> has been eliminated from the US and is present only in the Mexican State of Yucatan.</a:t>
            </a:r>
          </a:p>
          <a:p>
            <a:endParaRPr lang="en-US" dirty="0"/>
          </a:p>
        </p:txBody>
      </p:sp>
    </p:spTree>
    <p:extLst>
      <p:ext uri="{BB962C8B-B14F-4D97-AF65-F5344CB8AC3E}">
        <p14:creationId xmlns:p14="http://schemas.microsoft.com/office/powerpoint/2010/main" val="2453792647"/>
      </p:ext>
    </p:extLst>
  </p:cSld>
  <p:clrMapOvr>
    <a:masterClrMapping/>
  </p:clrMapOvr>
</p:sld>
</file>

<file path=ppt/slides/slide7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Calliphoridae</a:t>
            </a:r>
            <a:r>
              <a:rPr lang="en-US" b="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The Old World Screwworm, </a:t>
            </a:r>
            <a:r>
              <a:rPr lang="en-US" b="1" i="1" dirty="0" err="1"/>
              <a:t>Chrysomya</a:t>
            </a:r>
            <a:r>
              <a:rPr lang="en-US" b="1" i="1" dirty="0"/>
              <a:t> </a:t>
            </a:r>
            <a:r>
              <a:rPr lang="en-US" b="1" i="1" dirty="0" err="1"/>
              <a:t>bezziana</a:t>
            </a:r>
            <a:r>
              <a:rPr lang="en-US" dirty="0"/>
              <a:t> occurs in Africa, India, the Philippines, Australia, and the East Indies. </a:t>
            </a:r>
          </a:p>
          <a:p>
            <a:r>
              <a:rPr lang="en-US" dirty="0"/>
              <a:t>Its biology, veterinary importance and control strategies are almost identical to those of </a:t>
            </a:r>
            <a:r>
              <a:rPr lang="en-US" i="1" dirty="0"/>
              <a:t>Co. </a:t>
            </a:r>
            <a:r>
              <a:rPr lang="en-US" i="1" dirty="0" err="1"/>
              <a:t>hominivorax</a:t>
            </a:r>
            <a:r>
              <a:rPr lang="en-US" dirty="0"/>
              <a:t>. </a:t>
            </a:r>
          </a:p>
          <a:p>
            <a:r>
              <a:rPr lang="en-US" dirty="0"/>
              <a:t>Two races are believed to exist, from molecular studies: one from sub-Saharan Africa and the other from Asia.</a:t>
            </a:r>
          </a:p>
          <a:p>
            <a:endParaRPr lang="en-US" dirty="0"/>
          </a:p>
        </p:txBody>
      </p:sp>
    </p:spTree>
    <p:extLst>
      <p:ext uri="{BB962C8B-B14F-4D97-AF65-F5344CB8AC3E}">
        <p14:creationId xmlns:p14="http://schemas.microsoft.com/office/powerpoint/2010/main" val="2979046890"/>
      </p:ext>
    </p:extLst>
  </p:cSld>
  <p:clrMapOvr>
    <a:masterClrMapping/>
  </p:clrMapOvr>
</p:sld>
</file>

<file path=ppt/slides/slide7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Calliphoridae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Estimates are that for sterile male control technique, it would require 250 million sterile males a week and 5 years to eliminate this pest epidemic in Queensland, Australia.</a:t>
            </a:r>
          </a:p>
          <a:p>
            <a:pPr lvl="0">
              <a:buFont typeface="Wingdings" pitchFamily="2" charset="2"/>
              <a:buChar char="Ø"/>
            </a:pPr>
            <a:r>
              <a:rPr lang="en-US" dirty="0"/>
              <a:t>There are other related species occurring in these same regions</a:t>
            </a:r>
          </a:p>
          <a:p>
            <a:pPr lvl="0">
              <a:buFont typeface="Wingdings" pitchFamily="2" charset="2"/>
              <a:buChar char="Ø"/>
            </a:pPr>
            <a:r>
              <a:rPr lang="en-US" dirty="0"/>
              <a:t>They are metallic green or blue-green in </a:t>
            </a:r>
            <a:r>
              <a:rPr lang="en-US" dirty="0" err="1"/>
              <a:t>colour</a:t>
            </a:r>
            <a:endParaRPr lang="en-US" dirty="0"/>
          </a:p>
          <a:p>
            <a:endParaRPr lang="en-US" dirty="0"/>
          </a:p>
        </p:txBody>
      </p:sp>
    </p:spTree>
    <p:extLst>
      <p:ext uri="{BB962C8B-B14F-4D97-AF65-F5344CB8AC3E}">
        <p14:creationId xmlns:p14="http://schemas.microsoft.com/office/powerpoint/2010/main" val="2134895769"/>
      </p:ext>
    </p:extLst>
  </p:cSld>
  <p:clrMapOvr>
    <a:masterClrMapping/>
  </p:clrMapOvr>
</p:sld>
</file>

<file path=ppt/slides/slide7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Calliphoridae</a:t>
            </a:r>
            <a:r>
              <a:rPr lang="en-US" b="1" dirty="0"/>
              <a:t> cont’d</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They burrow deep into tissues, hence producing ulcers around the eyes, ears, nose and mouth</a:t>
            </a:r>
          </a:p>
          <a:p>
            <a:pPr marL="0" indent="0">
              <a:buNone/>
            </a:pPr>
            <a:endParaRPr lang="en-US" dirty="0"/>
          </a:p>
        </p:txBody>
      </p:sp>
    </p:spTree>
    <p:extLst>
      <p:ext uri="{BB962C8B-B14F-4D97-AF65-F5344CB8AC3E}">
        <p14:creationId xmlns:p14="http://schemas.microsoft.com/office/powerpoint/2010/main" val="3205383880"/>
      </p:ext>
    </p:extLst>
  </p:cSld>
  <p:clrMapOvr>
    <a:masterClrMapping/>
  </p:clrMapOvr>
</p:sld>
</file>

<file path=ppt/slides/slide7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Calliphoridae</a:t>
            </a:r>
            <a:r>
              <a:rPr lang="en-US" b="1" dirty="0"/>
              <a:t> cont’d</a:t>
            </a:r>
            <a:br>
              <a:rPr lang="en-US" dirty="0"/>
            </a:br>
            <a:endParaRPr lang="en-US" dirty="0"/>
          </a:p>
        </p:txBody>
      </p:sp>
      <p:sp>
        <p:nvSpPr>
          <p:cNvPr id="3" name="Content Placeholder 2"/>
          <p:cNvSpPr>
            <a:spLocks noGrp="1"/>
          </p:cNvSpPr>
          <p:nvPr>
            <p:ph idx="1"/>
          </p:nvPr>
        </p:nvSpPr>
        <p:spPr/>
        <p:txBody>
          <a:bodyPr/>
          <a:lstStyle/>
          <a:p>
            <a:pPr marL="0" lvl="0" indent="0" algn="ctr">
              <a:buNone/>
            </a:pPr>
            <a:r>
              <a:rPr lang="en-US" b="1" i="1" dirty="0" err="1"/>
              <a:t>Cordylobia</a:t>
            </a:r>
            <a:r>
              <a:rPr lang="en-US" b="1" i="1" dirty="0"/>
              <a:t> anthropophagi</a:t>
            </a:r>
            <a:r>
              <a:rPr lang="en-US" b="1" dirty="0"/>
              <a:t> (The </a:t>
            </a:r>
            <a:r>
              <a:rPr lang="en-US" b="1" dirty="0" err="1"/>
              <a:t>tumbu</a:t>
            </a:r>
            <a:r>
              <a:rPr lang="en-US" b="1" dirty="0"/>
              <a:t> fly)</a:t>
            </a:r>
          </a:p>
          <a:p>
            <a:pPr lvl="0">
              <a:buFont typeface="Wingdings" pitchFamily="2" charset="2"/>
              <a:buChar char="Ø"/>
            </a:pPr>
            <a:r>
              <a:rPr lang="en-US" dirty="0"/>
              <a:t>This is a </a:t>
            </a:r>
            <a:r>
              <a:rPr lang="en-US" dirty="0" err="1"/>
              <a:t>calliphorid</a:t>
            </a:r>
            <a:r>
              <a:rPr lang="en-US" dirty="0"/>
              <a:t> restricted to Africa, south of the Sahara; the adults are yellowish</a:t>
            </a:r>
          </a:p>
          <a:p>
            <a:pPr lvl="0">
              <a:buFont typeface="Wingdings" pitchFamily="2" charset="2"/>
              <a:buChar char="Ø"/>
            </a:pPr>
            <a:r>
              <a:rPr lang="en-US" dirty="0"/>
              <a:t>They are stimulated to lay eggs in soil that has been contaminated with urine</a:t>
            </a:r>
          </a:p>
          <a:p>
            <a:pPr lvl="0">
              <a:buFont typeface="Wingdings" pitchFamily="2" charset="2"/>
              <a:buChar char="Ø"/>
            </a:pPr>
            <a:r>
              <a:rPr lang="en-US" dirty="0"/>
              <a:t>Many wild mammals are reservoirs</a:t>
            </a:r>
          </a:p>
          <a:p>
            <a:pPr lvl="0">
              <a:buFont typeface="Wingdings" pitchFamily="2" charset="2"/>
              <a:buChar char="Ø"/>
            </a:pPr>
            <a:r>
              <a:rPr lang="en-US" dirty="0"/>
              <a:t>They cause cutaneous </a:t>
            </a:r>
            <a:r>
              <a:rPr lang="en-US" dirty="0" err="1"/>
              <a:t>myiasis</a:t>
            </a:r>
            <a:endParaRPr lang="en-US" dirty="0"/>
          </a:p>
          <a:p>
            <a:endParaRPr lang="en-US" dirty="0"/>
          </a:p>
        </p:txBody>
      </p:sp>
    </p:spTree>
    <p:extLst>
      <p:ext uri="{BB962C8B-B14F-4D97-AF65-F5344CB8AC3E}">
        <p14:creationId xmlns:p14="http://schemas.microsoft.com/office/powerpoint/2010/main" val="2620138167"/>
      </p:ext>
    </p:extLst>
  </p:cSld>
  <p:clrMapOvr>
    <a:masterClrMapping/>
  </p:clrMapOvr>
</p:sld>
</file>

<file path=ppt/slides/slide7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Calliphoridae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lvl="0" indent="0" algn="ctr">
              <a:buNone/>
            </a:pPr>
            <a:r>
              <a:rPr lang="en-US" b="1" i="1" dirty="0" err="1"/>
              <a:t>Auchmeromyia</a:t>
            </a:r>
            <a:r>
              <a:rPr lang="en-US" b="1" i="1" dirty="0"/>
              <a:t> </a:t>
            </a:r>
            <a:r>
              <a:rPr lang="en-US" b="1" i="1" dirty="0" err="1"/>
              <a:t>luteola</a:t>
            </a:r>
            <a:r>
              <a:rPr lang="en-US" b="1" dirty="0"/>
              <a:t> (The Congo Floor Maggot)</a:t>
            </a:r>
          </a:p>
          <a:p>
            <a:pPr lvl="0">
              <a:buFont typeface="Wingdings" pitchFamily="2" charset="2"/>
              <a:buChar char="Ø"/>
            </a:pPr>
            <a:r>
              <a:rPr lang="en-US" dirty="0"/>
              <a:t>This is a blood-sucking species found south of  the Sahara</a:t>
            </a:r>
          </a:p>
          <a:p>
            <a:pPr lvl="0">
              <a:buFont typeface="Wingdings" pitchFamily="2" charset="2"/>
              <a:buChar char="Ø"/>
            </a:pPr>
            <a:r>
              <a:rPr lang="en-US" dirty="0"/>
              <a:t>It is the only dipteral larva known to suck human blood</a:t>
            </a:r>
          </a:p>
          <a:p>
            <a:pPr lvl="0">
              <a:buFont typeface="Wingdings" pitchFamily="2" charset="2"/>
              <a:buChar char="Ø"/>
            </a:pPr>
            <a:r>
              <a:rPr lang="en-US" dirty="0"/>
              <a:t>Eggs are laid on floor mats, dry soil or crevices in huts; larvae are quite resistant to </a:t>
            </a:r>
            <a:r>
              <a:rPr lang="en-US" dirty="0" err="1"/>
              <a:t>dessication</a:t>
            </a:r>
            <a:endParaRPr lang="en-US" dirty="0"/>
          </a:p>
          <a:p>
            <a:pPr lvl="0">
              <a:buFont typeface="Wingdings" pitchFamily="2" charset="2"/>
              <a:buChar char="Ø"/>
            </a:pPr>
            <a:r>
              <a:rPr lang="en-US" dirty="0"/>
              <a:t>They feed like bed bugs, feeding takes 15-20 </a:t>
            </a:r>
            <a:r>
              <a:rPr lang="en-US" dirty="0" err="1"/>
              <a:t>mins</a:t>
            </a:r>
            <a:endParaRPr lang="en-US" dirty="0"/>
          </a:p>
          <a:p>
            <a:pPr lvl="0">
              <a:buFont typeface="Wingdings" pitchFamily="2" charset="2"/>
              <a:buChar char="Ø"/>
            </a:pPr>
            <a:r>
              <a:rPr lang="en-US" dirty="0"/>
              <a:t>Blood-sucking maggots of birds are known</a:t>
            </a:r>
          </a:p>
          <a:p>
            <a:endParaRPr lang="en-US" dirty="0"/>
          </a:p>
        </p:txBody>
      </p:sp>
    </p:spTree>
    <p:extLst>
      <p:ext uri="{BB962C8B-B14F-4D97-AF65-F5344CB8AC3E}">
        <p14:creationId xmlns:p14="http://schemas.microsoft.com/office/powerpoint/2010/main" val="1552563082"/>
      </p:ext>
    </p:extLst>
  </p:cSld>
  <p:clrMapOvr>
    <a:masterClrMapping/>
  </p:clrMapOvr>
</p:sld>
</file>

<file path=ppt/slides/slide7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Sarcophagidae</a:t>
            </a:r>
            <a:r>
              <a:rPr lang="en-US" b="1" dirty="0"/>
              <a:t> (Flesh flies)</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These are ubiquitous and closely related to the </a:t>
            </a:r>
            <a:r>
              <a:rPr lang="en-US" dirty="0" err="1"/>
              <a:t>Calliphoridae</a:t>
            </a:r>
            <a:r>
              <a:rPr lang="en-US" dirty="0"/>
              <a:t> except that they are not metallic but have abdomen checkered gray and black</a:t>
            </a:r>
          </a:p>
          <a:p>
            <a:pPr lvl="0"/>
            <a:r>
              <a:rPr lang="en-US" dirty="0"/>
              <a:t>They often parasitize insects, snails and other invertebrates</a:t>
            </a:r>
          </a:p>
          <a:p>
            <a:pPr lvl="0"/>
            <a:r>
              <a:rPr lang="en-US" dirty="0"/>
              <a:t>Most are </a:t>
            </a:r>
            <a:r>
              <a:rPr lang="en-US" dirty="0" err="1"/>
              <a:t>larviparous</a:t>
            </a:r>
            <a:r>
              <a:rPr lang="en-US" dirty="0"/>
              <a:t> and normally breed in carrion, but females deposit larvae in open wounds</a:t>
            </a:r>
          </a:p>
          <a:p>
            <a:endParaRPr lang="en-US" dirty="0"/>
          </a:p>
        </p:txBody>
      </p:sp>
    </p:spTree>
    <p:extLst>
      <p:ext uri="{BB962C8B-B14F-4D97-AF65-F5344CB8AC3E}">
        <p14:creationId xmlns:p14="http://schemas.microsoft.com/office/powerpoint/2010/main" val="728446047"/>
      </p:ext>
    </p:extLst>
  </p:cSld>
  <p:clrMapOvr>
    <a:masterClrMapping/>
  </p:clrMapOvr>
</p:sld>
</file>

<file path=ppt/slides/slide7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Sarcophagidae</a:t>
            </a:r>
            <a:r>
              <a:rPr lang="en-US" b="1" dirty="0"/>
              <a:t> (Flesh flies)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The species </a:t>
            </a:r>
            <a:r>
              <a:rPr lang="en-US" b="1" i="1" dirty="0" err="1"/>
              <a:t>Sarcophaga</a:t>
            </a:r>
            <a:r>
              <a:rPr lang="en-US" b="1" i="1" dirty="0"/>
              <a:t> </a:t>
            </a:r>
            <a:r>
              <a:rPr lang="en-US" b="1" i="1" dirty="0" err="1"/>
              <a:t>hemorrhoidalis</a:t>
            </a:r>
            <a:r>
              <a:rPr lang="en-US" dirty="0"/>
              <a:t> is widespread in the northern hemisphere but also found in the tropics;</a:t>
            </a:r>
          </a:p>
          <a:p>
            <a:pPr lvl="0"/>
            <a:r>
              <a:rPr lang="en-US" dirty="0"/>
              <a:t> it looks like a large house fly except that the tip of the male abdomen is red.</a:t>
            </a:r>
          </a:p>
          <a:p>
            <a:r>
              <a:rPr lang="en-US" b="1" i="1" dirty="0" err="1"/>
              <a:t>Wohlfartia</a:t>
            </a:r>
            <a:r>
              <a:rPr lang="en-US" b="1" i="1" dirty="0"/>
              <a:t> </a:t>
            </a:r>
            <a:r>
              <a:rPr lang="en-US" b="1" i="1" dirty="0" err="1"/>
              <a:t>magnifica</a:t>
            </a:r>
            <a:r>
              <a:rPr lang="en-US" dirty="0"/>
              <a:t> is another species that is a facultative parasite of mammals in warmer areas of the Palearctic region. </a:t>
            </a:r>
          </a:p>
          <a:p>
            <a:r>
              <a:rPr lang="en-US" dirty="0"/>
              <a:t>Fatal human cases have been reported.</a:t>
            </a:r>
          </a:p>
        </p:txBody>
      </p:sp>
    </p:spTree>
    <p:extLst>
      <p:ext uri="{BB962C8B-B14F-4D97-AF65-F5344CB8AC3E}">
        <p14:creationId xmlns:p14="http://schemas.microsoft.com/office/powerpoint/2010/main" val="1315436877"/>
      </p:ext>
    </p:extLst>
  </p:cSld>
  <p:clrMapOvr>
    <a:masterClrMapping/>
  </p:clrMapOvr>
</p:sld>
</file>

<file path=ppt/slides/slide7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Sarcophagidae</a:t>
            </a:r>
            <a:r>
              <a:rPr lang="en-US" b="1" dirty="0"/>
              <a:t> (Flesh flies) cont’d</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b="1" i="1" dirty="0"/>
              <a:t>W. vigil</a:t>
            </a:r>
            <a:r>
              <a:rPr lang="en-US" b="1" dirty="0"/>
              <a:t> </a:t>
            </a:r>
            <a:r>
              <a:rPr lang="en-US" dirty="0"/>
              <a:t>causes cutaneous </a:t>
            </a:r>
            <a:r>
              <a:rPr lang="en-US" dirty="0" err="1"/>
              <a:t>furuncular</a:t>
            </a:r>
            <a:r>
              <a:rPr lang="en-US" dirty="0"/>
              <a:t> </a:t>
            </a:r>
            <a:r>
              <a:rPr lang="en-US" dirty="0" err="1"/>
              <a:t>myiasis</a:t>
            </a:r>
            <a:r>
              <a:rPr lang="en-US" dirty="0"/>
              <a:t> in Canada and the northern U.S</a:t>
            </a:r>
          </a:p>
          <a:p>
            <a:pPr lvl="0"/>
            <a:r>
              <a:rPr lang="en-US" dirty="0"/>
              <a:t>Larvae are deposited on </a:t>
            </a:r>
            <a:r>
              <a:rPr lang="en-US" dirty="0" err="1"/>
              <a:t>urbroken</a:t>
            </a:r>
            <a:r>
              <a:rPr lang="en-US" dirty="0"/>
              <a:t> skin, and they quickly penetrate it.</a:t>
            </a:r>
          </a:p>
          <a:p>
            <a:pPr lvl="0"/>
            <a:r>
              <a:rPr lang="en-US" dirty="0"/>
              <a:t>Human infections usually occurs in infants left unattended to, outdoors, but sleeping adults have been infected indoors</a:t>
            </a:r>
          </a:p>
          <a:p>
            <a:pPr lvl="0"/>
            <a:r>
              <a:rPr lang="en-US" dirty="0"/>
              <a:t>Rodents, rabbits and carnivores are reservoir hosts.</a:t>
            </a:r>
          </a:p>
          <a:p>
            <a:endParaRPr lang="en-US" dirty="0"/>
          </a:p>
        </p:txBody>
      </p:sp>
    </p:spTree>
    <p:extLst>
      <p:ext uri="{BB962C8B-B14F-4D97-AF65-F5344CB8AC3E}">
        <p14:creationId xmlns:p14="http://schemas.microsoft.com/office/powerpoint/2010/main" val="882851740"/>
      </p:ext>
    </p:extLst>
  </p:cSld>
  <p:clrMapOvr>
    <a:masterClrMapping/>
  </p:clrMapOvr>
</p:sld>
</file>

<file path=ppt/slides/slide7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Oestridae</a:t>
            </a:r>
            <a:r>
              <a:rPr lang="en-US" b="1" dirty="0"/>
              <a:t> (Bot flies)</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b="1" i="1" dirty="0" err="1"/>
              <a:t>Dermatobia</a:t>
            </a:r>
            <a:r>
              <a:rPr lang="en-US" b="1" i="1" dirty="0"/>
              <a:t> species</a:t>
            </a:r>
            <a:r>
              <a:rPr lang="en-US" dirty="0"/>
              <a:t> is the human skin bot fly; it ranges from Mexico through most of S. America, being a forest-inhabiting fly</a:t>
            </a:r>
          </a:p>
          <a:p>
            <a:pPr lvl="0"/>
            <a:r>
              <a:rPr lang="en-US" dirty="0"/>
              <a:t>It develops in the skin of almost any warm blooded animal, including birds,</a:t>
            </a:r>
          </a:p>
          <a:p>
            <a:pPr lvl="0"/>
            <a:r>
              <a:rPr lang="en-US" dirty="0"/>
              <a:t>Unlike any other </a:t>
            </a:r>
            <a:r>
              <a:rPr lang="en-US" dirty="0" err="1"/>
              <a:t>myiasis</a:t>
            </a:r>
            <a:r>
              <a:rPr lang="en-US" dirty="0"/>
              <a:t>- causing fly, </a:t>
            </a:r>
            <a:r>
              <a:rPr lang="en-US" b="1" i="1" dirty="0"/>
              <a:t>D. </a:t>
            </a:r>
            <a:r>
              <a:rPr lang="en-US" b="1" i="1" dirty="0" err="1"/>
              <a:t>hominis</a:t>
            </a:r>
            <a:r>
              <a:rPr lang="en-US" b="1" dirty="0"/>
              <a:t> </a:t>
            </a:r>
            <a:r>
              <a:rPr lang="en-US" dirty="0"/>
              <a:t>does not lay its eggs directly on a host. </a:t>
            </a:r>
          </a:p>
          <a:p>
            <a:pPr lvl="0"/>
            <a:r>
              <a:rPr lang="en-US" dirty="0"/>
              <a:t>Instead, it catches another insect, such as a mosquito and glues its eggs on the side of it, with the operculated anterior end hanging down. </a:t>
            </a:r>
          </a:p>
        </p:txBody>
      </p:sp>
    </p:spTree>
    <p:extLst>
      <p:ext uri="{BB962C8B-B14F-4D97-AF65-F5344CB8AC3E}">
        <p14:creationId xmlns:p14="http://schemas.microsoft.com/office/powerpoint/2010/main" val="1830293944"/>
      </p:ext>
    </p:extLst>
  </p:cSld>
  <p:clrMapOvr>
    <a:masterClrMapping/>
  </p:clrMapOvr>
</p:sld>
</file>

<file path=ppt/slides/slide7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Oestridae</a:t>
            </a:r>
            <a:r>
              <a:rPr lang="en-US" b="1" dirty="0"/>
              <a:t> (Bot flies) cont’d</a:t>
            </a:r>
            <a:br>
              <a:rPr lang="en-US" dirty="0"/>
            </a:br>
            <a:endParaRPr lang="en-US" dirty="0"/>
          </a:p>
        </p:txBody>
      </p:sp>
      <p:sp>
        <p:nvSpPr>
          <p:cNvPr id="3" name="Content Placeholder 2"/>
          <p:cNvSpPr>
            <a:spLocks noGrp="1"/>
          </p:cNvSpPr>
          <p:nvPr>
            <p:ph idx="1"/>
          </p:nvPr>
        </p:nvSpPr>
        <p:spPr/>
        <p:txBody>
          <a:bodyPr/>
          <a:lstStyle/>
          <a:p>
            <a:pPr lvl="0"/>
            <a:r>
              <a:rPr lang="en-US" dirty="0"/>
              <a:t>At least 18 species of flies and one specie of tick are carriers, it is reported</a:t>
            </a:r>
          </a:p>
          <a:p>
            <a:r>
              <a:rPr lang="en-US" dirty="0"/>
              <a:t>When a carrier insect lands on warm skin, the eggs hatch immediately, and larvae drop onto the new host, penetrating its unbroken skin</a:t>
            </a:r>
          </a:p>
          <a:p>
            <a:r>
              <a:rPr lang="en-US" dirty="0"/>
              <a:t>and boring into the dermis and for several weeks develops; pupation is in the soil.</a:t>
            </a:r>
          </a:p>
          <a:p>
            <a:pPr marL="0" indent="0">
              <a:buNone/>
            </a:pPr>
            <a:endParaRPr lang="en-US" dirty="0"/>
          </a:p>
          <a:p>
            <a:endParaRPr lang="en-US" dirty="0"/>
          </a:p>
        </p:txBody>
      </p:sp>
    </p:spTree>
    <p:extLst>
      <p:ext uri="{BB962C8B-B14F-4D97-AF65-F5344CB8AC3E}">
        <p14:creationId xmlns:p14="http://schemas.microsoft.com/office/powerpoint/2010/main" val="774588907"/>
      </p:ext>
    </p:extLst>
  </p:cSld>
  <p:clrMapOvr>
    <a:masterClrMapping/>
  </p:clrMapOvr>
</p:sld>
</file>

<file path=ppt/slides/slide7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Oestridae</a:t>
            </a:r>
            <a:r>
              <a:rPr lang="en-US" b="1" dirty="0"/>
              <a:t> (Bot flies) cont’d</a:t>
            </a:r>
            <a:br>
              <a:rPr lang="en-US" dirty="0"/>
            </a:br>
            <a:endParaRPr lang="en-US" dirty="0"/>
          </a:p>
        </p:txBody>
      </p:sp>
      <p:sp>
        <p:nvSpPr>
          <p:cNvPr id="3" name="Content Placeholder 2"/>
          <p:cNvSpPr>
            <a:spLocks noGrp="1"/>
          </p:cNvSpPr>
          <p:nvPr>
            <p:ph idx="1"/>
          </p:nvPr>
        </p:nvSpPr>
        <p:spPr/>
        <p:txBody>
          <a:bodyPr/>
          <a:lstStyle/>
          <a:p>
            <a:pPr lvl="0"/>
            <a:r>
              <a:rPr lang="en-US" dirty="0"/>
              <a:t>The fly commonly parasitizes humans, causing painful lesions, allergic reactions and painful swellings.</a:t>
            </a:r>
          </a:p>
          <a:p>
            <a:endParaRPr lang="en-US" dirty="0"/>
          </a:p>
        </p:txBody>
      </p:sp>
    </p:spTree>
    <p:extLst>
      <p:ext uri="{BB962C8B-B14F-4D97-AF65-F5344CB8AC3E}">
        <p14:creationId xmlns:p14="http://schemas.microsoft.com/office/powerpoint/2010/main" val="1987779228"/>
      </p:ext>
    </p:extLst>
  </p:cSld>
  <p:clrMapOvr>
    <a:masterClrMapping/>
  </p:clrMapOvr>
</p:sld>
</file>

<file path=ppt/slides/slide7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Fannidae</a:t>
            </a:r>
            <a:br>
              <a:rPr lang="en-US" dirty="0"/>
            </a:br>
            <a:endParaRPr lang="en-US" dirty="0"/>
          </a:p>
        </p:txBody>
      </p:sp>
      <p:sp>
        <p:nvSpPr>
          <p:cNvPr id="3" name="Content Placeholder 2"/>
          <p:cNvSpPr>
            <a:spLocks noGrp="1"/>
          </p:cNvSpPr>
          <p:nvPr>
            <p:ph idx="1"/>
          </p:nvPr>
        </p:nvSpPr>
        <p:spPr/>
        <p:txBody>
          <a:bodyPr>
            <a:normAutofit fontScale="92500"/>
          </a:bodyPr>
          <a:lstStyle/>
          <a:p>
            <a:pPr lvl="0"/>
            <a:r>
              <a:rPr lang="en-US" dirty="0"/>
              <a:t>This contains over 260 species, majority being of the genus </a:t>
            </a:r>
            <a:r>
              <a:rPr lang="en-US" dirty="0" err="1"/>
              <a:t>Fannia</a:t>
            </a:r>
            <a:r>
              <a:rPr lang="en-US" dirty="0"/>
              <a:t>. </a:t>
            </a:r>
          </a:p>
          <a:p>
            <a:r>
              <a:rPr lang="en-US" b="1" i="1" dirty="0"/>
              <a:t>The species F. </a:t>
            </a:r>
            <a:r>
              <a:rPr lang="en-US" b="1" i="1" dirty="0" err="1"/>
              <a:t>canicularis</a:t>
            </a:r>
            <a:r>
              <a:rPr lang="en-US" b="1" i="1" dirty="0"/>
              <a:t> </a:t>
            </a:r>
            <a:r>
              <a:rPr lang="en-US" b="1" dirty="0"/>
              <a:t>is the lesser house fly</a:t>
            </a:r>
            <a:r>
              <a:rPr lang="en-US" b="1" i="1" dirty="0"/>
              <a:t>, </a:t>
            </a:r>
            <a:r>
              <a:rPr lang="en-US" dirty="0"/>
              <a:t>and resembles</a:t>
            </a:r>
            <a:r>
              <a:rPr lang="en-US" b="1" i="1" dirty="0"/>
              <a:t> </a:t>
            </a:r>
            <a:r>
              <a:rPr lang="en-US" b="1" i="1" dirty="0" err="1"/>
              <a:t>Musca</a:t>
            </a:r>
            <a:r>
              <a:rPr lang="en-US" b="1" i="1" dirty="0"/>
              <a:t> </a:t>
            </a:r>
            <a:r>
              <a:rPr lang="en-US" b="1" i="1" dirty="0" err="1"/>
              <a:t>domestica</a:t>
            </a:r>
            <a:r>
              <a:rPr lang="en-US" b="1" i="1" dirty="0"/>
              <a:t>,</a:t>
            </a:r>
            <a:r>
              <a:rPr lang="en-US" dirty="0"/>
              <a:t> except it is smaller and more slender, </a:t>
            </a:r>
          </a:p>
          <a:p>
            <a:r>
              <a:rPr lang="en-US" dirty="0"/>
              <a:t>and dark; it has only three brown longitudinal stripes on the thorax, instead of four as in </a:t>
            </a:r>
            <a:r>
              <a:rPr lang="en-US" b="1" i="1" dirty="0"/>
              <a:t>M. </a:t>
            </a:r>
            <a:r>
              <a:rPr lang="en-US" b="1" i="1" dirty="0" err="1"/>
              <a:t>domestica</a:t>
            </a:r>
            <a:r>
              <a:rPr lang="en-US" b="1" dirty="0"/>
              <a:t>.</a:t>
            </a:r>
          </a:p>
          <a:p>
            <a:pPr lvl="0"/>
            <a:r>
              <a:rPr lang="en-US" dirty="0"/>
              <a:t>Its biology parallels that of the common house fly</a:t>
            </a:r>
          </a:p>
          <a:p>
            <a:endParaRPr lang="en-US" dirty="0"/>
          </a:p>
        </p:txBody>
      </p:sp>
    </p:spTree>
    <p:extLst>
      <p:ext uri="{BB962C8B-B14F-4D97-AF65-F5344CB8AC3E}">
        <p14:creationId xmlns:p14="http://schemas.microsoft.com/office/powerpoint/2010/main" val="242678573"/>
      </p:ext>
    </p:extLst>
  </p:cSld>
  <p:clrMapOvr>
    <a:masterClrMapping/>
  </p:clrMapOvr>
</p:sld>
</file>

<file path=ppt/slides/slide7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Fannidae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It may enter houses freely, but is not particularly attracted to food as is </a:t>
            </a:r>
            <a:r>
              <a:rPr lang="en-US" i="1" dirty="0"/>
              <a:t>M. </a:t>
            </a:r>
            <a:r>
              <a:rPr lang="en-US" i="1" dirty="0" err="1"/>
              <a:t>domestica</a:t>
            </a:r>
            <a:r>
              <a:rPr lang="en-US" dirty="0"/>
              <a:t>, hence not a serious vector of pathogens of humans or other animals</a:t>
            </a:r>
          </a:p>
          <a:p>
            <a:pPr lvl="0"/>
            <a:r>
              <a:rPr lang="en-US" dirty="0"/>
              <a:t>The species, </a:t>
            </a:r>
            <a:r>
              <a:rPr lang="en-US" b="1" i="1" dirty="0"/>
              <a:t>F. </a:t>
            </a:r>
            <a:r>
              <a:rPr lang="en-US" b="1" i="1" dirty="0" err="1"/>
              <a:t>scalaris</a:t>
            </a:r>
            <a:r>
              <a:rPr lang="en-US" dirty="0"/>
              <a:t> </a:t>
            </a:r>
            <a:r>
              <a:rPr lang="en-US" b="1" dirty="0"/>
              <a:t>is the Latrine fly</a:t>
            </a:r>
            <a:r>
              <a:rPr lang="en-US" dirty="0"/>
              <a:t>; it breeds in fresh dung, particularly that of </a:t>
            </a:r>
            <a:r>
              <a:rPr lang="en-US" dirty="0" err="1"/>
              <a:t>swines</a:t>
            </a:r>
            <a:r>
              <a:rPr lang="en-US" dirty="0"/>
              <a:t>; it seldom enters houses.</a:t>
            </a:r>
          </a:p>
          <a:p>
            <a:pPr lvl="0"/>
            <a:r>
              <a:rPr lang="en-US" dirty="0"/>
              <a:t>Both species cause accidental </a:t>
            </a:r>
            <a:r>
              <a:rPr lang="en-US" dirty="0" err="1"/>
              <a:t>myiasis</a:t>
            </a:r>
            <a:r>
              <a:rPr lang="en-US" dirty="0"/>
              <a:t> of the rectum of humans;</a:t>
            </a:r>
          </a:p>
          <a:p>
            <a:pPr lvl="0"/>
            <a:r>
              <a:rPr lang="en-US" dirty="0"/>
              <a:t> it is presumed they lay eggs on the anus and larvae crawl into the rectum and develop there.</a:t>
            </a:r>
          </a:p>
          <a:p>
            <a:endParaRPr lang="en-US" dirty="0"/>
          </a:p>
        </p:txBody>
      </p:sp>
    </p:spTree>
    <p:extLst>
      <p:ext uri="{BB962C8B-B14F-4D97-AF65-F5344CB8AC3E}">
        <p14:creationId xmlns:p14="http://schemas.microsoft.com/office/powerpoint/2010/main" val="4005183241"/>
      </p:ext>
    </p:extLst>
  </p:cSld>
  <p:clrMapOvr>
    <a:masterClrMapping/>
  </p:clrMapOvr>
</p:sld>
</file>

<file path=ppt/slides/slide7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PARASITOLOGY (BIOL 460)</a:t>
            </a:r>
          </a:p>
        </p:txBody>
      </p:sp>
      <p:sp>
        <p:nvSpPr>
          <p:cNvPr id="3" name="Subtitle 2"/>
          <p:cNvSpPr>
            <a:spLocks noGrp="1"/>
          </p:cNvSpPr>
          <p:nvPr>
            <p:ph type="subTitle" idx="1"/>
          </p:nvPr>
        </p:nvSpPr>
        <p:spPr/>
        <p:txBody>
          <a:bodyPr/>
          <a:lstStyle/>
          <a:p>
            <a:r>
              <a:rPr lang="en-US" dirty="0"/>
              <a:t>UNIT 8 B</a:t>
            </a:r>
          </a:p>
          <a:p>
            <a:r>
              <a:rPr lang="en-US" dirty="0"/>
              <a:t>PARASITIC INSECTS-FLEAS (Order </a:t>
            </a:r>
            <a:r>
              <a:rPr lang="en-US" dirty="0" err="1"/>
              <a:t>Siphonaptera</a:t>
            </a:r>
            <a:r>
              <a:rPr lang="en-US" dirty="0"/>
              <a:t>)</a:t>
            </a:r>
          </a:p>
          <a:p>
            <a:endParaRPr lang="en-US" dirty="0"/>
          </a:p>
        </p:txBody>
      </p:sp>
    </p:spTree>
    <p:extLst>
      <p:ext uri="{BB962C8B-B14F-4D97-AF65-F5344CB8AC3E}">
        <p14:creationId xmlns:p14="http://schemas.microsoft.com/office/powerpoint/2010/main" val="2326886536"/>
      </p:ext>
    </p:extLst>
  </p:cSld>
  <p:clrMapOvr>
    <a:masterClrMapping/>
  </p:clrMapOvr>
</p:sld>
</file>

<file path=ppt/slides/slide7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Insects: Fleas (Order </a:t>
            </a:r>
            <a:r>
              <a:rPr lang="en-US" b="1" dirty="0" err="1"/>
              <a:t>Siphonaptera</a:t>
            </a:r>
            <a:r>
              <a:rPr lang="en-US" b="1" dirty="0"/>
              <a:t>)</a:t>
            </a:r>
            <a:br>
              <a:rPr lang="en-US" dirty="0"/>
            </a:br>
            <a:endParaRPr lang="en-US" dirty="0"/>
          </a:p>
        </p:txBody>
      </p:sp>
      <p:sp>
        <p:nvSpPr>
          <p:cNvPr id="3" name="Content Placeholder 2"/>
          <p:cNvSpPr>
            <a:spLocks noGrp="1"/>
          </p:cNvSpPr>
          <p:nvPr>
            <p:ph idx="1"/>
          </p:nvPr>
        </p:nvSpPr>
        <p:spPr>
          <a:xfrm>
            <a:off x="457200" y="1600200"/>
            <a:ext cx="8229600" cy="4800600"/>
          </a:xfrm>
        </p:spPr>
        <p:txBody>
          <a:bodyPr>
            <a:normAutofit fontScale="92500" lnSpcReduction="20000"/>
          </a:bodyPr>
          <a:lstStyle/>
          <a:p>
            <a:r>
              <a:rPr lang="en-US" dirty="0"/>
              <a:t>Of all of humanity’s major diseases and important insect pests, the combination of flea and plague bacillus has had the greatest impact on human history.</a:t>
            </a:r>
          </a:p>
          <a:p>
            <a:pPr lvl="0"/>
            <a:r>
              <a:rPr lang="en-US" dirty="0"/>
              <a:t>Fleas are small insects in length, from less than a millimeter to a few millimeters.</a:t>
            </a:r>
          </a:p>
          <a:p>
            <a:pPr lvl="0"/>
            <a:r>
              <a:rPr lang="en-US" dirty="0"/>
              <a:t>There are about 2500 species, most of which are parasites of mammals and about 100 species are of birds.</a:t>
            </a:r>
          </a:p>
          <a:p>
            <a:pPr lvl="0"/>
            <a:r>
              <a:rPr lang="en-US" dirty="0"/>
              <a:t>They are heavily sclerotized, bilaterally flattened and secondarily wingless-evolutionary loss of wings is a common feature of parasitic insects</a:t>
            </a:r>
          </a:p>
        </p:txBody>
      </p:sp>
    </p:spTree>
    <p:extLst>
      <p:ext uri="{BB962C8B-B14F-4D97-AF65-F5344CB8AC3E}">
        <p14:creationId xmlns:p14="http://schemas.microsoft.com/office/powerpoint/2010/main" val="4151119387"/>
      </p:ext>
    </p:extLst>
  </p:cSld>
  <p:clrMapOvr>
    <a:masterClrMapping/>
  </p:clrMapOvr>
</p:sld>
</file>

<file path=ppt/slides/slide7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381000" y="-152400"/>
            <a:ext cx="8610600" cy="7010400"/>
          </a:xfrm>
        </p:spPr>
      </p:pic>
    </p:spTree>
    <p:extLst>
      <p:ext uri="{BB962C8B-B14F-4D97-AF65-F5344CB8AC3E}">
        <p14:creationId xmlns:p14="http://schemas.microsoft.com/office/powerpoint/2010/main" val="2894127952"/>
      </p:ext>
    </p:extLst>
  </p:cSld>
  <p:clrMapOvr>
    <a:masterClrMapping/>
  </p:clrMapOvr>
</p:sld>
</file>

<file path=ppt/slides/slide7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Insects: Fleas (Order </a:t>
            </a:r>
            <a:r>
              <a:rPr lang="en-US" b="1" dirty="0" err="1"/>
              <a:t>Siphonaptera</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Fleas are commonly reddish-brown to black but some are tan or yellow</a:t>
            </a:r>
          </a:p>
          <a:p>
            <a:pPr lvl="0"/>
            <a:r>
              <a:rPr lang="en-US" dirty="0"/>
              <a:t>Their mouthparts are of the piercing-sucking type</a:t>
            </a:r>
          </a:p>
          <a:p>
            <a:pPr lvl="0"/>
            <a:r>
              <a:rPr lang="en-US" dirty="0"/>
              <a:t>Adults feed exclusively on blood</a:t>
            </a:r>
          </a:p>
          <a:p>
            <a:pPr lvl="0"/>
            <a:r>
              <a:rPr lang="en-US" dirty="0"/>
              <a:t>Larvae usually are not parasitic but feed on debris and materials associated with the nest or surroundings of the host, especially </a:t>
            </a:r>
            <a:r>
              <a:rPr lang="en-US" dirty="0" err="1"/>
              <a:t>faeces</a:t>
            </a:r>
            <a:r>
              <a:rPr lang="en-US" dirty="0"/>
              <a:t> of adult fleas</a:t>
            </a:r>
          </a:p>
          <a:p>
            <a:pPr lvl="0"/>
            <a:r>
              <a:rPr lang="en-US" dirty="0"/>
              <a:t>Fleas move by a characteristic jumping mechanism</a:t>
            </a:r>
          </a:p>
        </p:txBody>
      </p:sp>
    </p:spTree>
    <p:extLst>
      <p:ext uri="{BB962C8B-B14F-4D97-AF65-F5344CB8AC3E}">
        <p14:creationId xmlns:p14="http://schemas.microsoft.com/office/powerpoint/2010/main" val="1771790259"/>
      </p:ext>
    </p:extLst>
  </p:cSld>
  <p:clrMapOvr>
    <a:masterClrMapping/>
  </p:clrMapOvr>
</p:sld>
</file>

<file path=ppt/slides/slide7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Insects: Fleas (Order </a:t>
            </a:r>
            <a:r>
              <a:rPr lang="en-US" b="1" dirty="0" err="1"/>
              <a:t>Siphonaptera</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marL="0" indent="0" algn="ctr">
              <a:buNone/>
            </a:pPr>
            <a:r>
              <a:rPr lang="en-US" b="1" dirty="0"/>
              <a:t>Morphology</a:t>
            </a:r>
            <a:endParaRPr lang="en-US" dirty="0"/>
          </a:p>
          <a:p>
            <a:pPr lvl="0"/>
            <a:r>
              <a:rPr lang="en-US" dirty="0"/>
              <a:t>The head of a flea is broadly joined to its thorax and often bears a general </a:t>
            </a:r>
            <a:r>
              <a:rPr lang="en-US" dirty="0" err="1"/>
              <a:t>ctenidium</a:t>
            </a:r>
            <a:r>
              <a:rPr lang="en-US" dirty="0"/>
              <a:t>. </a:t>
            </a:r>
          </a:p>
          <a:p>
            <a:pPr lvl="0"/>
            <a:r>
              <a:rPr lang="en-US" dirty="0" err="1"/>
              <a:t>Ctenidia</a:t>
            </a:r>
            <a:r>
              <a:rPr lang="en-US" dirty="0"/>
              <a:t> are series of rather stout, </a:t>
            </a:r>
            <a:r>
              <a:rPr lang="en-US" dirty="0" err="1"/>
              <a:t>peglike</a:t>
            </a:r>
            <a:r>
              <a:rPr lang="en-US" dirty="0"/>
              <a:t> spines often found on the posterior margin of the first thoracic </a:t>
            </a:r>
            <a:r>
              <a:rPr lang="en-US" dirty="0" err="1"/>
              <a:t>tergite</a:t>
            </a:r>
            <a:r>
              <a:rPr lang="en-US" dirty="0"/>
              <a:t> (</a:t>
            </a:r>
            <a:r>
              <a:rPr lang="en-US" dirty="0" err="1"/>
              <a:t>pronotal</a:t>
            </a:r>
            <a:r>
              <a:rPr lang="en-US" dirty="0"/>
              <a:t> </a:t>
            </a:r>
            <a:r>
              <a:rPr lang="en-US" dirty="0" err="1"/>
              <a:t>ctenidium</a:t>
            </a:r>
            <a:r>
              <a:rPr lang="en-US" dirty="0"/>
              <a:t>), as well as on the head.</a:t>
            </a:r>
          </a:p>
          <a:p>
            <a:pPr lvl="0"/>
            <a:r>
              <a:rPr lang="en-US" dirty="0" err="1"/>
              <a:t>Ctenidia</a:t>
            </a:r>
            <a:r>
              <a:rPr lang="en-US" dirty="0"/>
              <a:t> and backwardly directed body </a:t>
            </a:r>
            <a:r>
              <a:rPr lang="en-US" dirty="0" err="1"/>
              <a:t>setas</a:t>
            </a:r>
            <a:r>
              <a:rPr lang="en-US" dirty="0"/>
              <a:t> are adaptations that help a flea retain itself among the fur or feathers of its host.</a:t>
            </a:r>
          </a:p>
        </p:txBody>
      </p:sp>
    </p:spTree>
    <p:extLst>
      <p:ext uri="{BB962C8B-B14F-4D97-AF65-F5344CB8AC3E}">
        <p14:creationId xmlns:p14="http://schemas.microsoft.com/office/powerpoint/2010/main" val="2564061952"/>
      </p:ext>
    </p:extLst>
  </p:cSld>
  <p:clrMapOvr>
    <a:masterClrMapping/>
  </p:clrMapOvr>
</p:sld>
</file>

<file path=ppt/slides/slide7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Insects: Fleas (Order </a:t>
            </a:r>
            <a:r>
              <a:rPr lang="en-US" b="1" dirty="0" err="1"/>
              <a:t>Siphonaptera</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The width of the space between adjacent spine tips in </a:t>
            </a:r>
            <a:r>
              <a:rPr lang="en-US" dirty="0" err="1"/>
              <a:t>ctenidia</a:t>
            </a:r>
            <a:r>
              <a:rPr lang="en-US" dirty="0"/>
              <a:t> of a particular species of flea is correlated to the diameter of the hairs of its usual host, being slightly wider than the maximal diameter of its host’s hair.</a:t>
            </a:r>
          </a:p>
          <a:p>
            <a:pPr lvl="0"/>
            <a:r>
              <a:rPr lang="en-US" dirty="0"/>
              <a:t>Thus, in backward movement, hairs tend to catch between </a:t>
            </a:r>
            <a:r>
              <a:rPr lang="en-US" dirty="0" err="1"/>
              <a:t>ctenidial</a:t>
            </a:r>
            <a:r>
              <a:rPr lang="en-US" dirty="0"/>
              <a:t> spines producing some resistance.</a:t>
            </a:r>
          </a:p>
          <a:p>
            <a:pPr lvl="0"/>
            <a:r>
              <a:rPr lang="en-US" dirty="0"/>
              <a:t>Because of this resistance to being dragged backwards, removal of a flea by host grooming or preening is relatively difficult.</a:t>
            </a:r>
          </a:p>
          <a:p>
            <a:pPr marL="0" indent="0">
              <a:buNone/>
            </a:pPr>
            <a:endParaRPr lang="en-US" dirty="0"/>
          </a:p>
          <a:p>
            <a:endParaRPr lang="en-US" dirty="0"/>
          </a:p>
        </p:txBody>
      </p:sp>
    </p:spTree>
    <p:extLst>
      <p:ext uri="{BB962C8B-B14F-4D97-AF65-F5344CB8AC3E}">
        <p14:creationId xmlns:p14="http://schemas.microsoft.com/office/powerpoint/2010/main" val="3010516613"/>
      </p:ext>
    </p:extLst>
  </p:cSld>
  <p:clrMapOvr>
    <a:masterClrMapping/>
  </p:clrMapOvr>
</p:sld>
</file>

<file path=ppt/slides/slide7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Insects: Fleas (Order </a:t>
            </a:r>
            <a:r>
              <a:rPr lang="en-US" b="1" dirty="0" err="1"/>
              <a:t>Siphonaptera</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However, these structures do not impede the forward movement of the flea between the hairs of the host.</a:t>
            </a:r>
          </a:p>
          <a:p>
            <a:pPr lvl="0"/>
            <a:r>
              <a:rPr lang="en-US" dirty="0"/>
              <a:t>Eyes, when present, are simple and have a single, small lens, </a:t>
            </a:r>
            <a:r>
              <a:rPr lang="en-US" dirty="0" err="1"/>
              <a:t>ocelli</a:t>
            </a:r>
            <a:r>
              <a:rPr lang="en-US" dirty="0"/>
              <a:t> are absent.</a:t>
            </a:r>
          </a:p>
          <a:p>
            <a:pPr lvl="0"/>
            <a:r>
              <a:rPr lang="en-US" dirty="0"/>
              <a:t>There is a peculiar sensory organ near the posterior end called the PYGIDIUM that apparently functions to detect air currents.</a:t>
            </a:r>
          </a:p>
          <a:p>
            <a:pPr lvl="0"/>
            <a:r>
              <a:rPr lang="en-US" dirty="0"/>
              <a:t>Fleas have strong </a:t>
            </a:r>
            <a:r>
              <a:rPr lang="en-US" dirty="0" err="1"/>
              <a:t>hindlegs</a:t>
            </a:r>
            <a:r>
              <a:rPr lang="en-US" dirty="0"/>
              <a:t>, much larger than the other two pairs and are modified for jumping.</a:t>
            </a:r>
          </a:p>
          <a:p>
            <a:pPr marL="0" indent="0">
              <a:buNone/>
            </a:pPr>
            <a:endParaRPr lang="en-US" dirty="0"/>
          </a:p>
        </p:txBody>
      </p:sp>
    </p:spTree>
    <p:extLst>
      <p:ext uri="{BB962C8B-B14F-4D97-AF65-F5344CB8AC3E}">
        <p14:creationId xmlns:p14="http://schemas.microsoft.com/office/powerpoint/2010/main" val="3117711914"/>
      </p:ext>
    </p:extLst>
  </p:cSld>
  <p:clrMapOvr>
    <a:masterClrMapping/>
  </p:clrMapOvr>
</p:sld>
</file>

<file path=ppt/slides/slide7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Development</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Development of fleas is </a:t>
            </a:r>
            <a:r>
              <a:rPr lang="en-US" dirty="0" err="1"/>
              <a:t>holometabolous</a:t>
            </a:r>
            <a:r>
              <a:rPr lang="en-US" dirty="0"/>
              <a:t> and larvae, thus, are quite different in form and habits from adults.</a:t>
            </a:r>
          </a:p>
          <a:p>
            <a:pPr lvl="0"/>
            <a:r>
              <a:rPr lang="en-US" dirty="0"/>
              <a:t>Females usually oviposit while on a host but the eggs are not sticky and so drop off, typically into the nest or hair, where there is a supply of detritus and flea </a:t>
            </a:r>
            <a:r>
              <a:rPr lang="en-US" dirty="0" err="1"/>
              <a:t>faeces</a:t>
            </a:r>
            <a:r>
              <a:rPr lang="en-US" dirty="0"/>
              <a:t> on which larvae feed.</a:t>
            </a:r>
          </a:p>
        </p:txBody>
      </p:sp>
    </p:spTree>
    <p:extLst>
      <p:ext uri="{BB962C8B-B14F-4D97-AF65-F5344CB8AC3E}">
        <p14:creationId xmlns:p14="http://schemas.microsoft.com/office/powerpoint/2010/main" val="2311612489"/>
      </p:ext>
    </p:extLst>
  </p:cSld>
  <p:clrMapOvr>
    <a:masterClrMapping/>
  </p:clrMapOvr>
</p:sld>
</file>

<file path=ppt/slides/slide7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Development cont’d</a:t>
            </a:r>
            <a:br>
              <a:rPr lang="en-US" dirty="0"/>
            </a:br>
            <a:endParaRPr lang="en-US" dirty="0"/>
          </a:p>
        </p:txBody>
      </p:sp>
      <p:sp>
        <p:nvSpPr>
          <p:cNvPr id="3" name="Content Placeholder 2"/>
          <p:cNvSpPr>
            <a:spLocks noGrp="1"/>
          </p:cNvSpPr>
          <p:nvPr>
            <p:ph idx="1"/>
          </p:nvPr>
        </p:nvSpPr>
        <p:spPr>
          <a:xfrm>
            <a:off x="457200" y="1600200"/>
            <a:ext cx="8229600" cy="4800600"/>
          </a:xfrm>
        </p:spPr>
        <p:txBody>
          <a:bodyPr>
            <a:normAutofit lnSpcReduction="10000"/>
          </a:bodyPr>
          <a:lstStyle/>
          <a:p>
            <a:pPr lvl="0"/>
            <a:r>
              <a:rPr lang="en-US" dirty="0"/>
              <a:t>High humidity tends to </a:t>
            </a:r>
            <a:r>
              <a:rPr lang="en-US" dirty="0" err="1"/>
              <a:t>favour</a:t>
            </a:r>
            <a:r>
              <a:rPr lang="en-US" dirty="0"/>
              <a:t> egg laying; under </a:t>
            </a:r>
            <a:r>
              <a:rPr lang="en-US" dirty="0" err="1"/>
              <a:t>favourable</a:t>
            </a:r>
            <a:r>
              <a:rPr lang="en-US" dirty="0"/>
              <a:t> conditions eggs hatch in 2-21 days;</a:t>
            </a:r>
          </a:p>
          <a:p>
            <a:pPr lvl="0"/>
            <a:r>
              <a:rPr lang="en-US" dirty="0"/>
              <a:t> there are three (usually) larval instars that take 9-15 days and pupae take a week to complete development.</a:t>
            </a:r>
          </a:p>
          <a:p>
            <a:pPr lvl="0"/>
            <a:r>
              <a:rPr lang="en-US" dirty="0"/>
              <a:t>Low temperature and those as high as a host’s body temperature retard development; low temperature can extend larval period to more than 200 days and </a:t>
            </a:r>
            <a:r>
              <a:rPr lang="en-US" dirty="0" err="1"/>
              <a:t>pupal</a:t>
            </a:r>
            <a:r>
              <a:rPr lang="en-US" dirty="0"/>
              <a:t> stage to nearly a year</a:t>
            </a:r>
          </a:p>
          <a:p>
            <a:pPr marL="0" indent="0">
              <a:buNone/>
            </a:pPr>
            <a:endParaRPr lang="en-US" dirty="0"/>
          </a:p>
          <a:p>
            <a:endParaRPr lang="en-US" dirty="0"/>
          </a:p>
        </p:txBody>
      </p:sp>
    </p:spTree>
    <p:extLst>
      <p:ext uri="{BB962C8B-B14F-4D97-AF65-F5344CB8AC3E}">
        <p14:creationId xmlns:p14="http://schemas.microsoft.com/office/powerpoint/2010/main" val="2953720463"/>
      </p:ext>
    </p:extLst>
  </p:cSld>
  <p:clrMapOvr>
    <a:masterClrMapping/>
  </p:clrMapOvr>
</p:sld>
</file>

<file path=ppt/slides/slide7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Development cont’d</a:t>
            </a:r>
            <a:br>
              <a:rPr lang="en-US" dirty="0"/>
            </a:br>
            <a:endParaRPr lang="en-US" dirty="0"/>
          </a:p>
        </p:txBody>
      </p:sp>
      <p:sp>
        <p:nvSpPr>
          <p:cNvPr id="3" name="Content Placeholder 2"/>
          <p:cNvSpPr>
            <a:spLocks noGrp="1"/>
          </p:cNvSpPr>
          <p:nvPr>
            <p:ph idx="1"/>
          </p:nvPr>
        </p:nvSpPr>
        <p:spPr/>
        <p:txBody>
          <a:bodyPr>
            <a:normAutofit fontScale="92500"/>
          </a:bodyPr>
          <a:lstStyle/>
          <a:p>
            <a:pPr lvl="0"/>
            <a:r>
              <a:rPr lang="en-US" dirty="0"/>
              <a:t>Larval cannot close their spiracles, hence, are sensitive to low humidity;</a:t>
            </a:r>
          </a:p>
          <a:p>
            <a:pPr lvl="0"/>
            <a:r>
              <a:rPr lang="en-US" dirty="0"/>
              <a:t> they are white, legless, and eyeless, resembling maggots of some </a:t>
            </a:r>
            <a:r>
              <a:rPr lang="en-US" dirty="0" err="1"/>
              <a:t>Diptera</a:t>
            </a:r>
            <a:r>
              <a:rPr lang="en-US" dirty="0"/>
              <a:t>; </a:t>
            </a:r>
          </a:p>
          <a:p>
            <a:pPr lvl="0"/>
            <a:r>
              <a:rPr lang="en-US" dirty="0"/>
              <a:t>they have chewing mouthparts and stout body hairs</a:t>
            </a:r>
          </a:p>
          <a:p>
            <a:r>
              <a:rPr lang="en-US" dirty="0"/>
              <a:t>Pupae spin loose silken cocoons from salivary secretions, using debris from their surroundings and incorporating it into the cocoon</a:t>
            </a:r>
          </a:p>
        </p:txBody>
      </p:sp>
    </p:spTree>
    <p:extLst>
      <p:ext uri="{BB962C8B-B14F-4D97-AF65-F5344CB8AC3E}">
        <p14:creationId xmlns:p14="http://schemas.microsoft.com/office/powerpoint/2010/main" val="3761113729"/>
      </p:ext>
    </p:extLst>
  </p:cSld>
  <p:clrMapOvr>
    <a:masterClrMapping/>
  </p:clrMapOvr>
</p:sld>
</file>

<file path=ppt/slides/slide7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Development cont’d</a:t>
            </a:r>
            <a:br>
              <a:rPr lang="en-US" dirty="0"/>
            </a:br>
            <a:endParaRPr lang="en-US" dirty="0"/>
          </a:p>
        </p:txBody>
      </p:sp>
      <p:sp>
        <p:nvSpPr>
          <p:cNvPr id="3" name="Content Placeholder 2"/>
          <p:cNvSpPr>
            <a:spLocks noGrp="1"/>
          </p:cNvSpPr>
          <p:nvPr>
            <p:ph idx="1"/>
          </p:nvPr>
        </p:nvSpPr>
        <p:spPr/>
        <p:txBody>
          <a:bodyPr/>
          <a:lstStyle/>
          <a:p>
            <a:pPr lvl="0"/>
            <a:r>
              <a:rPr lang="en-US" dirty="0"/>
              <a:t>In common with other lain parasites such as bedbugs and in contrast with lice, fleas can survive long periods as adults without food, particularly under conditions of high humidity.</a:t>
            </a:r>
          </a:p>
          <a:p>
            <a:pPr lvl="0"/>
            <a:r>
              <a:rPr lang="en-US" dirty="0"/>
              <a:t>Such longevity has epidemiological importance because it allows flea-transmitted pathogens to survive long periods when vertebrate hosts are absent.</a:t>
            </a:r>
          </a:p>
          <a:p>
            <a:endParaRPr lang="en-US" dirty="0"/>
          </a:p>
        </p:txBody>
      </p:sp>
    </p:spTree>
    <p:extLst>
      <p:ext uri="{BB962C8B-B14F-4D97-AF65-F5344CB8AC3E}">
        <p14:creationId xmlns:p14="http://schemas.microsoft.com/office/powerpoint/2010/main" val="340782163"/>
      </p:ext>
    </p:extLst>
  </p:cSld>
  <p:clrMapOvr>
    <a:masterClrMapping/>
  </p:clrMapOvr>
</p:sld>
</file>

<file path=ppt/slides/slide7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Host Specificity</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Although fleas may have preference for certain hosts, they are not generally host-specific</a:t>
            </a:r>
          </a:p>
          <a:p>
            <a:pPr lvl="0"/>
            <a:r>
              <a:rPr lang="en-US" dirty="0"/>
              <a:t>Most can transfer from a main host to another or to a host of a different species;</a:t>
            </a:r>
          </a:p>
          <a:p>
            <a:pPr lvl="0"/>
            <a:r>
              <a:rPr lang="en-US" dirty="0"/>
              <a:t> their common names, such as rat flea, chicken flea, human flea, refer to their preferred host and do not imply they attack/ live on that host exclusively.</a:t>
            </a:r>
          </a:p>
          <a:p>
            <a:endParaRPr lang="en-US" dirty="0"/>
          </a:p>
        </p:txBody>
      </p:sp>
    </p:spTree>
    <p:extLst>
      <p:ext uri="{BB962C8B-B14F-4D97-AF65-F5344CB8AC3E}">
        <p14:creationId xmlns:p14="http://schemas.microsoft.com/office/powerpoint/2010/main" val="3405858428"/>
      </p:ext>
    </p:extLst>
  </p:cSld>
  <p:clrMapOvr>
    <a:masterClrMapping/>
  </p:clrMapOvr>
</p:sld>
</file>

<file path=ppt/slides/slide7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Host Specificity cont’d</a:t>
            </a:r>
            <a:br>
              <a:rPr lang="en-US" dirty="0"/>
            </a:br>
            <a:endParaRPr lang="en-US" dirty="0"/>
          </a:p>
        </p:txBody>
      </p:sp>
      <p:sp>
        <p:nvSpPr>
          <p:cNvPr id="3" name="Content Placeholder 2"/>
          <p:cNvSpPr>
            <a:spLocks noGrp="1"/>
          </p:cNvSpPr>
          <p:nvPr>
            <p:ph idx="1"/>
          </p:nvPr>
        </p:nvSpPr>
        <p:spPr/>
        <p:txBody>
          <a:bodyPr/>
          <a:lstStyle/>
          <a:p>
            <a:pPr lvl="0"/>
            <a:r>
              <a:rPr lang="en-US" dirty="0"/>
              <a:t>There are over 50 genera of fleas of medical importance globally.</a:t>
            </a:r>
          </a:p>
          <a:p>
            <a:pPr lvl="0"/>
            <a:r>
              <a:rPr lang="en-US" dirty="0"/>
              <a:t>Fleas are grouped into four categories on the basis of the degree of attachment to a host:</a:t>
            </a:r>
          </a:p>
          <a:p>
            <a:pPr marL="571500" lvl="0" indent="-571500">
              <a:buFont typeface="+mj-lt"/>
              <a:buAutoNum type="romanUcPeriod"/>
            </a:pPr>
            <a:r>
              <a:rPr lang="en-US" dirty="0"/>
              <a:t>Those that are seldom on a host but occur abundantly in the nest of the host, e.g. some rat fleas e.g. </a:t>
            </a:r>
            <a:r>
              <a:rPr lang="en-US" b="1" dirty="0" err="1"/>
              <a:t>Conorhinopsylla</a:t>
            </a:r>
            <a:r>
              <a:rPr lang="en-US" dirty="0"/>
              <a:t> and </a:t>
            </a:r>
            <a:r>
              <a:rPr lang="en-US" b="1" dirty="0" err="1"/>
              <a:t>Megarthroglossus</a:t>
            </a:r>
            <a:r>
              <a:rPr lang="en-US" b="1" dirty="0"/>
              <a:t> spp.</a:t>
            </a:r>
          </a:p>
          <a:p>
            <a:endParaRPr lang="en-US" dirty="0"/>
          </a:p>
        </p:txBody>
      </p:sp>
    </p:spTree>
    <p:extLst>
      <p:ext uri="{BB962C8B-B14F-4D97-AF65-F5344CB8AC3E}">
        <p14:creationId xmlns:p14="http://schemas.microsoft.com/office/powerpoint/2010/main" val="3142094388"/>
      </p:ext>
    </p:extLst>
  </p:cSld>
  <p:clrMapOvr>
    <a:masterClrMapping/>
  </p:clrMapOvr>
</p:sld>
</file>

<file path=ppt/slides/slide7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Host Specificity cont’d</a:t>
            </a:r>
            <a:br>
              <a:rPr lang="en-US" dirty="0"/>
            </a:br>
            <a:endParaRPr lang="en-US" dirty="0"/>
          </a:p>
        </p:txBody>
      </p:sp>
      <p:sp>
        <p:nvSpPr>
          <p:cNvPr id="3" name="Content Placeholder 2"/>
          <p:cNvSpPr>
            <a:spLocks noGrp="1"/>
          </p:cNvSpPr>
          <p:nvPr>
            <p:ph idx="1"/>
          </p:nvPr>
        </p:nvSpPr>
        <p:spPr/>
        <p:txBody>
          <a:bodyPr>
            <a:normAutofit/>
          </a:bodyPr>
          <a:lstStyle/>
          <a:p>
            <a:pPr marL="0" lvl="0" indent="0">
              <a:buNone/>
            </a:pPr>
            <a:r>
              <a:rPr lang="en-US" dirty="0"/>
              <a:t>II. Those which spend most of their time on the host as adults, but can transfer easily from one host to another.</a:t>
            </a:r>
          </a:p>
          <a:p>
            <a:pPr marL="0" lvl="0" indent="0">
              <a:buNone/>
            </a:pPr>
            <a:r>
              <a:rPr lang="en-US" dirty="0"/>
              <a:t>III. Those which attach permanently to the host skin by their mouthparts, e.g. the female  stick tight fleas, </a:t>
            </a:r>
            <a:r>
              <a:rPr lang="en-US" b="1" i="1" dirty="0" err="1"/>
              <a:t>Echidnophaga</a:t>
            </a:r>
            <a:r>
              <a:rPr lang="en-US" b="1" i="1" dirty="0"/>
              <a:t> </a:t>
            </a:r>
            <a:r>
              <a:rPr lang="en-US" b="1" i="1" dirty="0" err="1"/>
              <a:t>gallinacea</a:t>
            </a:r>
            <a:endParaRPr lang="en-US" b="1" dirty="0"/>
          </a:p>
        </p:txBody>
      </p:sp>
    </p:spTree>
    <p:extLst>
      <p:ext uri="{BB962C8B-B14F-4D97-AF65-F5344CB8AC3E}">
        <p14:creationId xmlns:p14="http://schemas.microsoft.com/office/powerpoint/2010/main" val="1110397759"/>
      </p:ext>
    </p:extLst>
  </p:cSld>
  <p:clrMapOvr>
    <a:masterClrMapping/>
  </p:clrMapOvr>
</p:sld>
</file>

<file path=ppt/slides/slide7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Host Specificity cont’d</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buNone/>
            </a:pPr>
            <a:r>
              <a:rPr lang="en-US" dirty="0"/>
              <a:t>IV. Those which borrow beneath host skin and become stationary, </a:t>
            </a:r>
            <a:r>
              <a:rPr lang="en-US" dirty="0" err="1"/>
              <a:t>intracutaneous</a:t>
            </a:r>
            <a:r>
              <a:rPr lang="en-US" dirty="0"/>
              <a:t>,  and subcutaneous parasites, </a:t>
            </a:r>
          </a:p>
          <a:p>
            <a:r>
              <a:rPr lang="en-US" dirty="0"/>
              <a:t>e.g. the female </a:t>
            </a:r>
            <a:r>
              <a:rPr lang="en-US" b="1" i="1" dirty="0"/>
              <a:t>Chigoes</a:t>
            </a:r>
            <a:r>
              <a:rPr lang="en-US" dirty="0"/>
              <a:t>, or </a:t>
            </a:r>
            <a:r>
              <a:rPr lang="en-US" b="1" i="1" dirty="0"/>
              <a:t>Jigger</a:t>
            </a:r>
            <a:r>
              <a:rPr lang="en-US" dirty="0"/>
              <a:t> flea. </a:t>
            </a:r>
          </a:p>
          <a:p>
            <a:r>
              <a:rPr lang="en-US" dirty="0"/>
              <a:t>Such fleas that become permanently attached play little or no role in disease transmission</a:t>
            </a:r>
          </a:p>
          <a:p>
            <a:pPr lvl="0"/>
            <a:r>
              <a:rPr lang="en-US" dirty="0"/>
              <a:t>There are some variations to these four categories due to the adaptations to their hosts and the environments in which they are found.</a:t>
            </a:r>
          </a:p>
          <a:p>
            <a:pPr marL="0" indent="0">
              <a:buNone/>
            </a:pPr>
            <a:endParaRPr lang="en-US" dirty="0"/>
          </a:p>
        </p:txBody>
      </p:sp>
    </p:spTree>
    <p:extLst>
      <p:ext uri="{BB962C8B-B14F-4D97-AF65-F5344CB8AC3E}">
        <p14:creationId xmlns:p14="http://schemas.microsoft.com/office/powerpoint/2010/main" val="2948614379"/>
      </p:ext>
    </p:extLst>
  </p:cSld>
  <p:clrMapOvr>
    <a:masterClrMapping/>
  </p:clrMapOvr>
</p:sld>
</file>

<file path=ppt/slides/slide7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Families of the Order </a:t>
            </a:r>
            <a:r>
              <a:rPr lang="en-US" b="1" dirty="0" err="1"/>
              <a:t>Siphonaptera</a:t>
            </a:r>
            <a:br>
              <a:rPr lang="en-US" dirty="0"/>
            </a:br>
            <a:r>
              <a:rPr lang="en-US" b="1" dirty="0"/>
              <a:t>Of Medical importance</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Families of the order that are of medical importance, include: </a:t>
            </a:r>
          </a:p>
          <a:p>
            <a:pPr marL="0" indent="0" algn="ctr">
              <a:buNone/>
            </a:pPr>
            <a:r>
              <a:rPr lang="en-US" b="1" dirty="0"/>
              <a:t>Families </a:t>
            </a:r>
            <a:r>
              <a:rPr lang="en-US" b="1" dirty="0" err="1"/>
              <a:t>Ceratophyllidae</a:t>
            </a:r>
            <a:r>
              <a:rPr lang="en-US" b="1" dirty="0"/>
              <a:t> and </a:t>
            </a:r>
            <a:r>
              <a:rPr lang="en-US" b="1" dirty="0" err="1"/>
              <a:t>Leptopsyllidae</a:t>
            </a:r>
            <a:endParaRPr lang="en-US" dirty="0"/>
          </a:p>
          <a:p>
            <a:pPr lvl="0"/>
            <a:r>
              <a:rPr lang="en-US" dirty="0"/>
              <a:t>Members of these families are mainly rodent and bud fleas, e.g.</a:t>
            </a:r>
          </a:p>
          <a:p>
            <a:r>
              <a:rPr lang="en-US" i="1" dirty="0" err="1"/>
              <a:t>Nosopsyllus</a:t>
            </a:r>
            <a:r>
              <a:rPr lang="en-US" i="1" dirty="0"/>
              <a:t> </a:t>
            </a:r>
            <a:r>
              <a:rPr lang="en-US" i="1" dirty="0" err="1"/>
              <a:t>fasciatus</a:t>
            </a:r>
            <a:r>
              <a:rPr lang="en-US" dirty="0"/>
              <a:t> is a common parasite of domestic rats and mice (</a:t>
            </a:r>
            <a:r>
              <a:rPr lang="en-US" i="1" dirty="0" err="1"/>
              <a:t>Rattus</a:t>
            </a:r>
            <a:r>
              <a:rPr lang="en-US" dirty="0"/>
              <a:t> and </a:t>
            </a:r>
            <a:r>
              <a:rPr lang="en-US" i="1" dirty="0" err="1"/>
              <a:t>Mus</a:t>
            </a:r>
            <a:r>
              <a:rPr lang="en-US" i="1" dirty="0"/>
              <a:t> </a:t>
            </a:r>
            <a:r>
              <a:rPr lang="en-US" i="1" dirty="0" err="1"/>
              <a:t>s</a:t>
            </a:r>
            <a:r>
              <a:rPr lang="en-US" dirty="0" err="1"/>
              <a:t>pp</a:t>
            </a:r>
            <a:r>
              <a:rPr lang="en-US" dirty="0"/>
              <a:t>) in the northern hemisphere, but also reported on other hosts, including humans</a:t>
            </a:r>
          </a:p>
          <a:p>
            <a:endParaRPr lang="en-US" dirty="0"/>
          </a:p>
        </p:txBody>
      </p:sp>
    </p:spTree>
    <p:extLst>
      <p:ext uri="{BB962C8B-B14F-4D97-AF65-F5344CB8AC3E}">
        <p14:creationId xmlns:p14="http://schemas.microsoft.com/office/powerpoint/2010/main" val="4121818501"/>
      </p:ext>
    </p:extLst>
  </p:cSld>
  <p:clrMapOvr>
    <a:masterClrMapping/>
  </p:clrMapOvr>
</p:sld>
</file>

<file path=ppt/slides/slide7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Families </a:t>
            </a:r>
            <a:r>
              <a:rPr lang="en-US" b="1" dirty="0" err="1"/>
              <a:t>Ceratophyllidae</a:t>
            </a:r>
            <a:r>
              <a:rPr lang="en-US" b="1" dirty="0"/>
              <a:t> and </a:t>
            </a:r>
            <a:r>
              <a:rPr lang="en-US" b="1" dirty="0" err="1"/>
              <a:t>Leptopsyllidae</a:t>
            </a:r>
            <a:r>
              <a:rPr lang="en-US" b="1" dirty="0"/>
              <a:t> cont’d</a:t>
            </a:r>
            <a:br>
              <a:rPr lang="en-US" dirty="0"/>
            </a:br>
            <a:endParaRPr lang="en-US" dirty="0"/>
          </a:p>
        </p:txBody>
      </p:sp>
      <p:sp>
        <p:nvSpPr>
          <p:cNvPr id="3" name="Content Placeholder 2"/>
          <p:cNvSpPr>
            <a:spLocks noGrp="1"/>
          </p:cNvSpPr>
          <p:nvPr>
            <p:ph idx="1"/>
          </p:nvPr>
        </p:nvSpPr>
        <p:spPr>
          <a:xfrm>
            <a:off x="457200" y="1600200"/>
            <a:ext cx="8229600" cy="4800600"/>
          </a:xfrm>
        </p:spPr>
        <p:txBody>
          <a:bodyPr>
            <a:normAutofit fontScale="92500" lnSpcReduction="20000"/>
          </a:bodyPr>
          <a:lstStyle/>
          <a:p>
            <a:r>
              <a:rPr lang="en-US" dirty="0"/>
              <a:t>It may transmit plague from rat to rat but not important in this regard as far as humans are concerned because it does not bite humans, usually.</a:t>
            </a:r>
          </a:p>
          <a:p>
            <a:pPr lvl="0"/>
            <a:r>
              <a:rPr lang="en-US" i="1" dirty="0" err="1"/>
              <a:t>Ceratophyllus</a:t>
            </a:r>
            <a:r>
              <a:rPr lang="en-US" i="1" dirty="0"/>
              <a:t> </a:t>
            </a:r>
            <a:r>
              <a:rPr lang="en-US" i="1" dirty="0" err="1"/>
              <a:t>niger</a:t>
            </a:r>
            <a:r>
              <a:rPr lang="en-US" dirty="0"/>
              <a:t> and </a:t>
            </a:r>
            <a:r>
              <a:rPr lang="en-US" i="1" dirty="0"/>
              <a:t>C. </a:t>
            </a:r>
            <a:r>
              <a:rPr lang="en-US" i="1" dirty="0" err="1"/>
              <a:t>gallinae</a:t>
            </a:r>
            <a:r>
              <a:rPr lang="en-US" dirty="0"/>
              <a:t> are bird fleas, but can bite humans</a:t>
            </a:r>
          </a:p>
          <a:p>
            <a:pPr lvl="0"/>
            <a:r>
              <a:rPr lang="en-US" i="1" dirty="0" err="1"/>
              <a:t>Leptopsyllus</a:t>
            </a:r>
            <a:r>
              <a:rPr lang="en-US" i="1" dirty="0"/>
              <a:t> </a:t>
            </a:r>
            <a:r>
              <a:rPr lang="en-US" i="1" dirty="0" err="1"/>
              <a:t>segnis</a:t>
            </a:r>
            <a:r>
              <a:rPr lang="en-US" dirty="0"/>
              <a:t> is the European mouse flea but is also common in the US; it is more common on species of </a:t>
            </a:r>
            <a:r>
              <a:rPr lang="en-US" i="1" dirty="0" err="1"/>
              <a:t>Rattus</a:t>
            </a:r>
            <a:r>
              <a:rPr lang="en-US" dirty="0"/>
              <a:t> than on </a:t>
            </a:r>
            <a:r>
              <a:rPr lang="en-US" i="1" dirty="0"/>
              <a:t>Mus</a:t>
            </a:r>
            <a:r>
              <a:rPr lang="en-US" dirty="0"/>
              <a:t>.</a:t>
            </a:r>
          </a:p>
          <a:p>
            <a:pPr lvl="0"/>
            <a:r>
              <a:rPr lang="en-US" dirty="0"/>
              <a:t> It can be infected with plague but it is not an important vector as it does not readily bite humans.</a:t>
            </a:r>
          </a:p>
          <a:p>
            <a:endParaRPr lang="en-US" dirty="0"/>
          </a:p>
        </p:txBody>
      </p:sp>
    </p:spTree>
    <p:extLst>
      <p:ext uri="{BB962C8B-B14F-4D97-AF65-F5344CB8AC3E}">
        <p14:creationId xmlns:p14="http://schemas.microsoft.com/office/powerpoint/2010/main" val="1660027660"/>
      </p:ext>
    </p:extLst>
  </p:cSld>
  <p:clrMapOvr>
    <a:masterClrMapping/>
  </p:clrMapOvr>
</p:sld>
</file>

<file path=ppt/slides/slide7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Pulicidae</a:t>
            </a:r>
            <a:br>
              <a:rPr lang="en-US" dirty="0"/>
            </a:br>
            <a:endParaRPr lang="en-US" dirty="0"/>
          </a:p>
        </p:txBody>
      </p:sp>
      <p:sp>
        <p:nvSpPr>
          <p:cNvPr id="3" name="Content Placeholder 2"/>
          <p:cNvSpPr>
            <a:spLocks noGrp="1"/>
          </p:cNvSpPr>
          <p:nvPr>
            <p:ph idx="1"/>
          </p:nvPr>
        </p:nvSpPr>
        <p:spPr/>
        <p:txBody>
          <a:bodyPr/>
          <a:lstStyle/>
          <a:p>
            <a:pPr lvl="0"/>
            <a:r>
              <a:rPr lang="en-US" dirty="0"/>
              <a:t>This family consists of species of medical and veterinary importance</a:t>
            </a:r>
          </a:p>
          <a:p>
            <a:pPr lvl="0"/>
            <a:r>
              <a:rPr lang="en-US" b="1" i="1" dirty="0" err="1"/>
              <a:t>Pulex</a:t>
            </a:r>
            <a:r>
              <a:rPr lang="en-US" b="1" i="1" dirty="0"/>
              <a:t> </a:t>
            </a:r>
            <a:r>
              <a:rPr lang="en-US" b="1" i="1" dirty="0" err="1"/>
              <a:t>irritans</a:t>
            </a:r>
            <a:r>
              <a:rPr lang="en-US" dirty="0"/>
              <a:t>-the human flea, has been reported as infecting pigs, dogs, coyotes, prairie dogs, ground squirrels, and burrowing owls</a:t>
            </a:r>
          </a:p>
          <a:p>
            <a:pPr lvl="0"/>
            <a:r>
              <a:rPr lang="en-US" b="1" i="1" dirty="0"/>
              <a:t>P. </a:t>
            </a:r>
            <a:r>
              <a:rPr lang="en-US" b="1" i="1" dirty="0" err="1"/>
              <a:t>irritans</a:t>
            </a:r>
            <a:r>
              <a:rPr lang="en-US" b="1" dirty="0"/>
              <a:t> </a:t>
            </a:r>
            <a:r>
              <a:rPr lang="en-US" dirty="0"/>
              <a:t>can transmit plagues</a:t>
            </a:r>
          </a:p>
          <a:p>
            <a:endParaRPr lang="en-US" dirty="0"/>
          </a:p>
        </p:txBody>
      </p:sp>
    </p:spTree>
    <p:extLst>
      <p:ext uri="{BB962C8B-B14F-4D97-AF65-F5344CB8AC3E}">
        <p14:creationId xmlns:p14="http://schemas.microsoft.com/office/powerpoint/2010/main" val="2407262099"/>
      </p:ext>
    </p:extLst>
  </p:cSld>
  <p:clrMapOvr>
    <a:masterClrMapping/>
  </p:clrMapOvr>
</p:sld>
</file>

<file path=ppt/slides/slide7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Pulicidae</a:t>
            </a:r>
            <a:r>
              <a:rPr lang="en-US" b="1" dirty="0"/>
              <a:t> cont’d</a:t>
            </a:r>
            <a:br>
              <a:rPr lang="en-US" dirty="0"/>
            </a:br>
            <a:endParaRPr lang="en-US" dirty="0"/>
          </a:p>
        </p:txBody>
      </p:sp>
      <p:sp>
        <p:nvSpPr>
          <p:cNvPr id="3" name="Content Placeholder 2"/>
          <p:cNvSpPr>
            <a:spLocks noGrp="1"/>
          </p:cNvSpPr>
          <p:nvPr>
            <p:ph idx="1"/>
          </p:nvPr>
        </p:nvSpPr>
        <p:spPr/>
        <p:txBody>
          <a:bodyPr>
            <a:normAutofit/>
          </a:bodyPr>
          <a:lstStyle/>
          <a:p>
            <a:pPr lvl="0"/>
            <a:r>
              <a:rPr lang="en-US" i="1" dirty="0" err="1"/>
              <a:t>Echidnophaga</a:t>
            </a:r>
            <a:r>
              <a:rPr lang="en-US" i="1" dirty="0"/>
              <a:t> </a:t>
            </a:r>
            <a:r>
              <a:rPr lang="en-US" i="1" dirty="0" err="1"/>
              <a:t>gallinacea</a:t>
            </a:r>
            <a:r>
              <a:rPr lang="en-US" dirty="0"/>
              <a:t> is an important pest of poultry but also attacks cats, dogs, horses, rabbits, humans and other animals.</a:t>
            </a:r>
          </a:p>
          <a:p>
            <a:pPr lvl="0"/>
            <a:r>
              <a:rPr lang="en-US" dirty="0"/>
              <a:t> Its name is </a:t>
            </a:r>
            <a:r>
              <a:rPr lang="en-US" dirty="0" err="1"/>
              <a:t>stcktight</a:t>
            </a:r>
            <a:r>
              <a:rPr lang="en-US" dirty="0"/>
              <a:t> flea because it burrows its fascicle in a host’s skin and remains in place.</a:t>
            </a:r>
          </a:p>
        </p:txBody>
      </p:sp>
    </p:spTree>
    <p:extLst>
      <p:ext uri="{BB962C8B-B14F-4D97-AF65-F5344CB8AC3E}">
        <p14:creationId xmlns:p14="http://schemas.microsoft.com/office/powerpoint/2010/main" val="4039099516"/>
      </p:ext>
    </p:extLst>
  </p:cSld>
  <p:clrMapOvr>
    <a:masterClrMapping/>
  </p:clrMapOvr>
</p:sld>
</file>

<file path=ppt/slides/slide7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Pulicidae</a:t>
            </a:r>
            <a:r>
              <a:rPr lang="en-US" b="1" dirty="0"/>
              <a:t> cont’d</a:t>
            </a:r>
            <a:br>
              <a:rPr lang="en-US" dirty="0"/>
            </a:br>
            <a:endParaRPr lang="en-US" dirty="0"/>
          </a:p>
        </p:txBody>
      </p:sp>
      <p:sp>
        <p:nvSpPr>
          <p:cNvPr id="3" name="Content Placeholder 2"/>
          <p:cNvSpPr>
            <a:spLocks noGrp="1"/>
          </p:cNvSpPr>
          <p:nvPr>
            <p:ph idx="1"/>
          </p:nvPr>
        </p:nvSpPr>
        <p:spPr/>
        <p:txBody>
          <a:bodyPr/>
          <a:lstStyle/>
          <a:p>
            <a:r>
              <a:rPr lang="en-US" dirty="0"/>
              <a:t>It prefers to attach in areas with few feathers, such as the comb, wattles, around the eyes and around the anus of its host; </a:t>
            </a:r>
          </a:p>
          <a:p>
            <a:r>
              <a:rPr lang="en-US" dirty="0"/>
              <a:t>an infestation causes ulcers into females deposit eggs; larvae hatch in the ulcers but then drop to the ground to develop off the host; heavy infestations may kill chickens.</a:t>
            </a:r>
          </a:p>
          <a:p>
            <a:endParaRPr lang="en-US" dirty="0"/>
          </a:p>
          <a:p>
            <a:endParaRPr lang="en-US" dirty="0"/>
          </a:p>
        </p:txBody>
      </p:sp>
    </p:spTree>
    <p:extLst>
      <p:ext uri="{BB962C8B-B14F-4D97-AF65-F5344CB8AC3E}">
        <p14:creationId xmlns:p14="http://schemas.microsoft.com/office/powerpoint/2010/main" val="3347031316"/>
      </p:ext>
    </p:extLst>
  </p:cSld>
  <p:clrMapOvr>
    <a:masterClrMapping/>
  </p:clrMapOvr>
</p:sld>
</file>

<file path=ppt/slides/slide7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Pulicidae</a:t>
            </a:r>
            <a:r>
              <a:rPr lang="en-US" b="1"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b="1" i="1" dirty="0" err="1"/>
              <a:t>Ctenocephalides</a:t>
            </a:r>
            <a:r>
              <a:rPr lang="en-US" b="1" i="1" dirty="0"/>
              <a:t> </a:t>
            </a:r>
            <a:r>
              <a:rPr lang="en-US" b="1" i="1" dirty="0" err="1"/>
              <a:t>canis</a:t>
            </a:r>
            <a:r>
              <a:rPr lang="en-US" b="1" dirty="0"/>
              <a:t> </a:t>
            </a:r>
            <a:r>
              <a:rPr lang="en-US" dirty="0"/>
              <a:t>and </a:t>
            </a:r>
            <a:r>
              <a:rPr lang="en-US" b="1" i="1" dirty="0"/>
              <a:t>C. </a:t>
            </a:r>
            <a:r>
              <a:rPr lang="en-US" b="1" i="1" dirty="0" err="1"/>
              <a:t>felis</a:t>
            </a:r>
            <a:r>
              <a:rPr lang="en-US" b="1" dirty="0"/>
              <a:t> </a:t>
            </a:r>
            <a:r>
              <a:rPr lang="en-US" dirty="0"/>
              <a:t>are dog and cat fleas respectively. </a:t>
            </a:r>
          </a:p>
          <a:p>
            <a:pPr lvl="0"/>
            <a:r>
              <a:rPr lang="en-US" dirty="0"/>
              <a:t>However, both species attack cats and dogs as well as human and other mammals</a:t>
            </a:r>
          </a:p>
          <a:p>
            <a:pPr lvl="0"/>
            <a:r>
              <a:rPr lang="en-US" i="1" dirty="0"/>
              <a:t>C. </a:t>
            </a:r>
            <a:r>
              <a:rPr lang="en-US" i="1" dirty="0" err="1"/>
              <a:t>felis</a:t>
            </a:r>
            <a:r>
              <a:rPr lang="en-US" dirty="0"/>
              <a:t> is especially opportunistic as it has been reported to infect horses, foxes, mongooses, koalas, skunks and poultry.</a:t>
            </a:r>
          </a:p>
          <a:p>
            <a:pPr lvl="0"/>
            <a:r>
              <a:rPr lang="en-US" dirty="0"/>
              <a:t> It is also more common than </a:t>
            </a:r>
            <a:r>
              <a:rPr lang="en-US" i="1" dirty="0"/>
              <a:t>C. </a:t>
            </a:r>
            <a:r>
              <a:rPr lang="en-US" i="1" dirty="0" err="1"/>
              <a:t>canis</a:t>
            </a:r>
            <a:r>
              <a:rPr lang="en-US" dirty="0"/>
              <a:t> on dogs in North America</a:t>
            </a:r>
          </a:p>
        </p:txBody>
      </p:sp>
    </p:spTree>
    <p:extLst>
      <p:ext uri="{BB962C8B-B14F-4D97-AF65-F5344CB8AC3E}">
        <p14:creationId xmlns:p14="http://schemas.microsoft.com/office/powerpoint/2010/main" val="216648030"/>
      </p:ext>
    </p:extLst>
  </p:cSld>
  <p:clrMapOvr>
    <a:masterClrMapping/>
  </p:clrMapOvr>
</p:sld>
</file>

<file path=ppt/slides/slide7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Pulicidae</a:t>
            </a:r>
            <a:r>
              <a:rPr lang="en-US" b="1" dirty="0"/>
              <a:t>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r>
              <a:rPr lang="en-US" dirty="0"/>
              <a:t>Both species can be very annoying pests of humans, especially when dogs and cats are kept at home as pets</a:t>
            </a:r>
          </a:p>
          <a:p>
            <a:pPr lvl="0"/>
            <a:r>
              <a:rPr lang="en-US" dirty="0"/>
              <a:t>Cats fleas deposit most of their eggs at the time when their hosts are least active (i.e. midnight to very early morning) and most likely to be their resting places.</a:t>
            </a:r>
          </a:p>
          <a:p>
            <a:pPr lvl="0"/>
            <a:r>
              <a:rPr lang="en-US" dirty="0"/>
              <a:t>Flea </a:t>
            </a:r>
            <a:r>
              <a:rPr lang="en-US" dirty="0" err="1"/>
              <a:t>faeces</a:t>
            </a:r>
            <a:r>
              <a:rPr lang="en-US" dirty="0"/>
              <a:t> make up more than 40% of the debris that falls off infested cats and so are also concentrated in these areas (the </a:t>
            </a:r>
            <a:r>
              <a:rPr lang="en-US" dirty="0" err="1"/>
              <a:t>faeces</a:t>
            </a:r>
            <a:r>
              <a:rPr lang="en-US" dirty="0"/>
              <a:t> serve as larval food).</a:t>
            </a:r>
          </a:p>
          <a:p>
            <a:endParaRPr lang="en-US" dirty="0"/>
          </a:p>
          <a:p>
            <a:endParaRPr lang="en-US" dirty="0"/>
          </a:p>
        </p:txBody>
      </p:sp>
    </p:spTree>
    <p:extLst>
      <p:ext uri="{BB962C8B-B14F-4D97-AF65-F5344CB8AC3E}">
        <p14:creationId xmlns:p14="http://schemas.microsoft.com/office/powerpoint/2010/main" val="2080237960"/>
      </p:ext>
    </p:extLst>
  </p:cSld>
  <p:clrMapOvr>
    <a:masterClrMapping/>
  </p:clrMapOvr>
</p:sld>
</file>

<file path=ppt/slides/slide7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Pulicidae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dirty="0"/>
              <a:t>Like many insects, cat fleas and their </a:t>
            </a:r>
            <a:r>
              <a:rPr lang="en-US" dirty="0" err="1"/>
              <a:t>faeces</a:t>
            </a:r>
            <a:r>
              <a:rPr lang="en-US" dirty="0"/>
              <a:t> are allergenic and may contribute to the </a:t>
            </a:r>
            <a:r>
              <a:rPr lang="en-US" dirty="0" err="1"/>
              <a:t>allergenicity</a:t>
            </a:r>
            <a:r>
              <a:rPr lang="en-US" dirty="0"/>
              <a:t> of house dust; at least 15 different proteins from </a:t>
            </a:r>
            <a:r>
              <a:rPr lang="en-US" i="1" dirty="0"/>
              <a:t>C. </a:t>
            </a:r>
            <a:r>
              <a:rPr lang="en-US" i="1" dirty="0" err="1"/>
              <a:t>felis</a:t>
            </a:r>
            <a:r>
              <a:rPr lang="en-US" dirty="0"/>
              <a:t> are allergenic.</a:t>
            </a:r>
          </a:p>
          <a:p>
            <a:pPr lvl="0"/>
            <a:r>
              <a:rPr lang="en-US" b="1" i="1" dirty="0" err="1"/>
              <a:t>Xenopsylla</a:t>
            </a:r>
            <a:r>
              <a:rPr lang="en-US" b="1" i="1" dirty="0"/>
              <a:t> </a:t>
            </a:r>
            <a:r>
              <a:rPr lang="en-US" b="1" i="1" dirty="0" err="1"/>
              <a:t>cheopis</a:t>
            </a:r>
            <a:r>
              <a:rPr lang="en-US" b="1" dirty="0"/>
              <a:t> </a:t>
            </a:r>
            <a:r>
              <a:rPr lang="en-US" dirty="0"/>
              <a:t>is the oriental or tropical rat flea; </a:t>
            </a:r>
          </a:p>
          <a:p>
            <a:pPr lvl="0"/>
            <a:r>
              <a:rPr lang="en-US" dirty="0"/>
              <a:t>it is almost cosmopolitan on </a:t>
            </a:r>
            <a:r>
              <a:rPr lang="en-US" b="1" i="1" dirty="0" err="1"/>
              <a:t>Rattus</a:t>
            </a:r>
            <a:r>
              <a:rPr lang="en-US" b="1" i="1" dirty="0"/>
              <a:t> </a:t>
            </a:r>
            <a:r>
              <a:rPr lang="en-US" b="1" dirty="0"/>
              <a:t>spp</a:t>
            </a:r>
            <a:r>
              <a:rPr lang="en-US" dirty="0"/>
              <a:t>., except in cold climates</a:t>
            </a:r>
          </a:p>
          <a:p>
            <a:endParaRPr lang="en-US" dirty="0"/>
          </a:p>
        </p:txBody>
      </p:sp>
    </p:spTree>
    <p:extLst>
      <p:ext uri="{BB962C8B-B14F-4D97-AF65-F5344CB8AC3E}">
        <p14:creationId xmlns:p14="http://schemas.microsoft.com/office/powerpoint/2010/main" val="219169195"/>
      </p:ext>
    </p:extLst>
  </p:cSld>
  <p:clrMapOvr>
    <a:masterClrMapping/>
  </p:clrMapOvr>
</p:sld>
</file>

<file path=ppt/slides/slide7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Pulicidae</a:t>
            </a:r>
            <a:r>
              <a:rPr lang="en-US" b="1" dirty="0"/>
              <a:t> cont’d</a:t>
            </a:r>
            <a:br>
              <a:rPr lang="en-US" dirty="0"/>
            </a:br>
            <a:endParaRPr lang="en-US" dirty="0"/>
          </a:p>
        </p:txBody>
      </p:sp>
      <p:sp>
        <p:nvSpPr>
          <p:cNvPr id="3" name="Content Placeholder 2"/>
          <p:cNvSpPr>
            <a:spLocks noGrp="1"/>
          </p:cNvSpPr>
          <p:nvPr>
            <p:ph idx="1"/>
          </p:nvPr>
        </p:nvSpPr>
        <p:spPr/>
        <p:txBody>
          <a:bodyPr/>
          <a:lstStyle/>
          <a:p>
            <a:pPr lvl="0"/>
            <a:r>
              <a:rPr lang="en-US" b="1" i="1" dirty="0"/>
              <a:t>X. </a:t>
            </a:r>
            <a:r>
              <a:rPr lang="en-US" b="1" i="1" dirty="0" err="1"/>
              <a:t>cheopis</a:t>
            </a:r>
            <a:r>
              <a:rPr lang="en-US" b="1" dirty="0"/>
              <a:t> </a:t>
            </a:r>
            <a:r>
              <a:rPr lang="en-US" dirty="0"/>
              <a:t>is of enormous public health significance because it is the most important vector of plague and of murine typhus;</a:t>
            </a:r>
          </a:p>
          <a:p>
            <a:pPr lvl="0"/>
            <a:r>
              <a:rPr lang="en-US" dirty="0"/>
              <a:t> </a:t>
            </a:r>
            <a:r>
              <a:rPr lang="en-US" b="1" i="1" dirty="0"/>
              <a:t>X. </a:t>
            </a:r>
            <a:r>
              <a:rPr lang="en-US" b="1" i="1" dirty="0" err="1"/>
              <a:t>brasiliensis</a:t>
            </a:r>
            <a:r>
              <a:rPr lang="en-US" dirty="0"/>
              <a:t>, an African species that has become established in S. America and India is probably an important vector of plague in Kenya and Uganda.</a:t>
            </a:r>
          </a:p>
          <a:p>
            <a:endParaRPr lang="en-US" dirty="0"/>
          </a:p>
        </p:txBody>
      </p:sp>
    </p:spTree>
    <p:extLst>
      <p:ext uri="{BB962C8B-B14F-4D97-AF65-F5344CB8AC3E}">
        <p14:creationId xmlns:p14="http://schemas.microsoft.com/office/powerpoint/2010/main" val="118056083"/>
      </p:ext>
    </p:extLst>
  </p:cSld>
  <p:clrMapOvr>
    <a:masterClrMapping/>
  </p:clrMapOvr>
</p:sld>
</file>

<file path=ppt/slides/slide7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Tungidae</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b="1" i="1" dirty="0" err="1"/>
              <a:t>Tunga</a:t>
            </a:r>
            <a:r>
              <a:rPr lang="en-US" b="1" i="1" dirty="0"/>
              <a:t> </a:t>
            </a:r>
            <a:r>
              <a:rPr lang="en-US" b="1" i="1" dirty="0" err="1"/>
              <a:t>penetrans</a:t>
            </a:r>
            <a:r>
              <a:rPr lang="en-US" dirty="0"/>
              <a:t>, commonly known as Chigoe, Jigger, Chigger, </a:t>
            </a:r>
            <a:r>
              <a:rPr lang="en-US" dirty="0" err="1"/>
              <a:t>Chique</a:t>
            </a:r>
            <a:r>
              <a:rPr lang="en-US" dirty="0"/>
              <a:t> or the </a:t>
            </a:r>
            <a:r>
              <a:rPr lang="en-US" dirty="0" err="1"/>
              <a:t>Sandflea</a:t>
            </a:r>
            <a:r>
              <a:rPr lang="en-US" dirty="0"/>
              <a:t>, is one of 10 species feeding on humans </a:t>
            </a:r>
          </a:p>
          <a:p>
            <a:r>
              <a:rPr lang="en-US" dirty="0"/>
              <a:t>and many other mammals, especially Swine; other domestic animals, rodents, anteaters and armadillos are also parasitized;</a:t>
            </a:r>
          </a:p>
          <a:p>
            <a:r>
              <a:rPr lang="en-US" dirty="0"/>
              <a:t> it is the most common of the 10 species known.</a:t>
            </a:r>
          </a:p>
        </p:txBody>
      </p:sp>
    </p:spTree>
    <p:extLst>
      <p:ext uri="{BB962C8B-B14F-4D97-AF65-F5344CB8AC3E}">
        <p14:creationId xmlns:p14="http://schemas.microsoft.com/office/powerpoint/2010/main" val="369102266"/>
      </p:ext>
    </p:extLst>
  </p:cSld>
  <p:clrMapOvr>
    <a:masterClrMapping/>
  </p:clrMapOvr>
</p:sld>
</file>

<file path=ppt/slides/slide7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Family </a:t>
            </a:r>
            <a:r>
              <a:rPr lang="en-US" b="1" dirty="0" err="1"/>
              <a:t>Tungidae</a:t>
            </a:r>
            <a:r>
              <a:rPr lang="en-US" b="1" dirty="0"/>
              <a:t> cont’d</a:t>
            </a:r>
            <a:endParaRPr lang="en-US" dirty="0"/>
          </a:p>
        </p:txBody>
      </p:sp>
      <p:sp>
        <p:nvSpPr>
          <p:cNvPr id="3" name="Content Placeholder 2"/>
          <p:cNvSpPr>
            <a:spLocks noGrp="1"/>
          </p:cNvSpPr>
          <p:nvPr>
            <p:ph idx="1"/>
          </p:nvPr>
        </p:nvSpPr>
        <p:spPr/>
        <p:txBody>
          <a:bodyPr/>
          <a:lstStyle/>
          <a:p>
            <a:pPr lvl="0"/>
            <a:r>
              <a:rPr lang="en-US" b="1" i="1" dirty="0"/>
              <a:t>T. </a:t>
            </a:r>
            <a:r>
              <a:rPr lang="en-US" b="1" i="1" dirty="0" err="1"/>
              <a:t>penetrans</a:t>
            </a:r>
            <a:r>
              <a:rPr lang="en-US" b="1" dirty="0"/>
              <a:t> </a:t>
            </a:r>
            <a:r>
              <a:rPr lang="en-US" dirty="0"/>
              <a:t>is believed to have originated from Central and South America and the West Indies from where it was introduced to Africa in the 17</a:t>
            </a:r>
            <a:r>
              <a:rPr lang="en-US" baseline="30000" dirty="0"/>
              <a:t>th</a:t>
            </a:r>
            <a:r>
              <a:rPr lang="en-US" dirty="0"/>
              <a:t> Century </a:t>
            </a:r>
          </a:p>
          <a:p>
            <a:pPr lvl="0"/>
            <a:r>
              <a:rPr lang="en-US" dirty="0"/>
              <a:t>and again in the 19</a:t>
            </a:r>
            <a:r>
              <a:rPr lang="en-US" baseline="30000" dirty="0"/>
              <a:t>th</a:t>
            </a:r>
            <a:r>
              <a:rPr lang="en-US" dirty="0"/>
              <a:t> Century; it spread all over tropical Africa and then to India</a:t>
            </a:r>
          </a:p>
          <a:p>
            <a:endParaRPr lang="en-US" dirty="0"/>
          </a:p>
          <a:p>
            <a:endParaRPr lang="en-US" dirty="0"/>
          </a:p>
        </p:txBody>
      </p:sp>
    </p:spTree>
    <p:extLst>
      <p:ext uri="{BB962C8B-B14F-4D97-AF65-F5344CB8AC3E}">
        <p14:creationId xmlns:p14="http://schemas.microsoft.com/office/powerpoint/2010/main" val="606968529"/>
      </p:ext>
    </p:extLst>
  </p:cSld>
  <p:clrMapOvr>
    <a:masterClrMapping/>
  </p:clrMapOvr>
</p:sld>
</file>

<file path=ppt/slides/slide7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295400" y="-152400"/>
            <a:ext cx="6324600" cy="6400800"/>
          </a:xfrm>
        </p:spPr>
      </p:pic>
    </p:spTree>
    <p:extLst>
      <p:ext uri="{BB962C8B-B14F-4D97-AF65-F5344CB8AC3E}">
        <p14:creationId xmlns:p14="http://schemas.microsoft.com/office/powerpoint/2010/main" val="2421930117"/>
      </p:ext>
    </p:extLst>
  </p:cSld>
  <p:clrMapOvr>
    <a:masterClrMapping/>
  </p:clrMapOvr>
</p:sld>
</file>

<file path=ppt/slides/slide7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Family </a:t>
            </a:r>
            <a:r>
              <a:rPr lang="en-US" b="1" dirty="0" err="1"/>
              <a:t>Tungidae</a:t>
            </a:r>
            <a:r>
              <a:rPr lang="en-US" b="1" dirty="0"/>
              <a:t> cont’d</a:t>
            </a:r>
            <a:endParaRPr lang="en-US" dirty="0"/>
          </a:p>
        </p:txBody>
      </p:sp>
      <p:sp>
        <p:nvSpPr>
          <p:cNvPr id="3" name="Content Placeholder 2"/>
          <p:cNvSpPr>
            <a:spLocks noGrp="1"/>
          </p:cNvSpPr>
          <p:nvPr>
            <p:ph idx="1"/>
          </p:nvPr>
        </p:nvSpPr>
        <p:spPr/>
        <p:txBody>
          <a:bodyPr>
            <a:normAutofit lnSpcReduction="10000"/>
          </a:bodyPr>
          <a:lstStyle/>
          <a:p>
            <a:pPr lvl="0"/>
            <a:r>
              <a:rPr lang="en-US" dirty="0"/>
              <a:t>Female chigoes penetrate the skin most commonly around the base of the nails of the feet and hands or between the toes.</a:t>
            </a:r>
          </a:p>
          <a:p>
            <a:pPr lvl="0"/>
            <a:r>
              <a:rPr lang="en-US" dirty="0"/>
              <a:t>Only a small aperture through the skin is left to communicate with the outside</a:t>
            </a:r>
          </a:p>
          <a:p>
            <a:pPr lvl="0"/>
            <a:r>
              <a:rPr lang="en-US" dirty="0"/>
              <a:t>Males do not penetrate host skin, but copulate with a female outside the body of the host and it is the pregnant female that burrows into the skin of the host.</a:t>
            </a:r>
          </a:p>
          <a:p>
            <a:endParaRPr lang="en-US" dirty="0"/>
          </a:p>
        </p:txBody>
      </p:sp>
    </p:spTree>
    <p:extLst>
      <p:ext uri="{BB962C8B-B14F-4D97-AF65-F5344CB8AC3E}">
        <p14:creationId xmlns:p14="http://schemas.microsoft.com/office/powerpoint/2010/main" val="3163768733"/>
      </p:ext>
    </p:extLst>
  </p:cSld>
  <p:clrMapOvr>
    <a:masterClrMapping/>
  </p:clrMapOvr>
</p:sld>
</file>

<file path=ppt/slides/slide7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Family </a:t>
            </a:r>
            <a:r>
              <a:rPr lang="en-US" b="1" dirty="0" err="1"/>
              <a:t>Tungidae</a:t>
            </a:r>
            <a:r>
              <a:rPr lang="en-US" b="1" dirty="0"/>
              <a:t> cont’d</a:t>
            </a:r>
            <a:endParaRPr lang="en-US" dirty="0"/>
          </a:p>
        </p:txBody>
      </p:sp>
      <p:sp>
        <p:nvSpPr>
          <p:cNvPr id="3" name="Content Placeholder 2"/>
          <p:cNvSpPr>
            <a:spLocks noGrp="1"/>
          </p:cNvSpPr>
          <p:nvPr>
            <p:ph idx="1"/>
          </p:nvPr>
        </p:nvSpPr>
        <p:spPr>
          <a:xfrm>
            <a:off x="457200" y="1600200"/>
            <a:ext cx="8229600" cy="4724400"/>
          </a:xfrm>
        </p:spPr>
        <p:txBody>
          <a:bodyPr>
            <a:normAutofit fontScale="92500" lnSpcReduction="10000"/>
          </a:bodyPr>
          <a:lstStyle/>
          <a:p>
            <a:pPr lvl="0"/>
            <a:r>
              <a:rPr lang="en-US" dirty="0"/>
              <a:t>On entry into the host skin, the barely 1.0 mm long flea gradually expands to about the size of a pea; the body is enclosed in a sinus, into which she lays her eggs </a:t>
            </a:r>
          </a:p>
          <a:p>
            <a:pPr lvl="0"/>
            <a:r>
              <a:rPr lang="en-US" dirty="0"/>
              <a:t>After hatching, larvae exit through the aperture and develop on the ground.</a:t>
            </a:r>
          </a:p>
          <a:p>
            <a:pPr lvl="0"/>
            <a:r>
              <a:rPr lang="en-US" dirty="0"/>
              <a:t>The infection causes extreme irritation, itching, pain, inflammation and tissue damage leading to secondary bacteria infection; tetanus and gangrene may complicate the condition</a:t>
            </a:r>
          </a:p>
          <a:p>
            <a:endParaRPr lang="en-US" dirty="0"/>
          </a:p>
        </p:txBody>
      </p:sp>
    </p:spTree>
    <p:extLst>
      <p:ext uri="{BB962C8B-B14F-4D97-AF65-F5344CB8AC3E}">
        <p14:creationId xmlns:p14="http://schemas.microsoft.com/office/powerpoint/2010/main" val="2445009772"/>
      </p:ext>
    </p:extLst>
  </p:cSld>
  <p:clrMapOvr>
    <a:masterClrMapping/>
  </p:clrMapOvr>
</p:sld>
</file>

<file path=ppt/slides/slide7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Family </a:t>
            </a:r>
            <a:r>
              <a:rPr lang="en-US" b="1" dirty="0" err="1"/>
              <a:t>Tungidae</a:t>
            </a:r>
            <a:r>
              <a:rPr lang="en-US" b="1" dirty="0"/>
              <a:t> cont’d</a:t>
            </a:r>
            <a:endParaRPr lang="en-US" dirty="0"/>
          </a:p>
        </p:txBody>
      </p:sp>
      <p:sp>
        <p:nvSpPr>
          <p:cNvPr id="3" name="Content Placeholder 2"/>
          <p:cNvSpPr>
            <a:spLocks noGrp="1"/>
          </p:cNvSpPr>
          <p:nvPr>
            <p:ph idx="1"/>
          </p:nvPr>
        </p:nvSpPr>
        <p:spPr/>
        <p:txBody>
          <a:bodyPr>
            <a:normAutofit lnSpcReduction="10000"/>
          </a:bodyPr>
          <a:lstStyle/>
          <a:p>
            <a:pPr lvl="0"/>
            <a:r>
              <a:rPr lang="en-US" dirty="0"/>
              <a:t>Treatment involves surgical removal of the fleas and careful sterilization and dressing of the wounds</a:t>
            </a:r>
          </a:p>
          <a:p>
            <a:pPr lvl="0"/>
            <a:r>
              <a:rPr lang="en-US" dirty="0"/>
              <a:t>Human </a:t>
            </a:r>
            <a:r>
              <a:rPr lang="en-US" dirty="0" err="1"/>
              <a:t>tungiasis</a:t>
            </a:r>
            <a:r>
              <a:rPr lang="en-US" dirty="0"/>
              <a:t> is significant health problem in poor communities of warmer climates. </a:t>
            </a:r>
          </a:p>
          <a:p>
            <a:pPr lvl="0"/>
            <a:r>
              <a:rPr lang="en-US" dirty="0"/>
              <a:t>There may be seasonal fluctuations, with peak prevalence of over 50% during the dry season; pets and rats serve as reservoirs in endemic communities.</a:t>
            </a:r>
          </a:p>
          <a:p>
            <a:pPr marL="0" indent="0">
              <a:buNone/>
            </a:pPr>
            <a:endParaRPr lang="en-US" dirty="0"/>
          </a:p>
        </p:txBody>
      </p:sp>
    </p:spTree>
    <p:extLst>
      <p:ext uri="{BB962C8B-B14F-4D97-AF65-F5344CB8AC3E}">
        <p14:creationId xmlns:p14="http://schemas.microsoft.com/office/powerpoint/2010/main" val="49211566"/>
      </p:ext>
    </p:extLst>
  </p:cSld>
  <p:clrMapOvr>
    <a:masterClrMapping/>
  </p:clrMapOvr>
</p:sld>
</file>

<file path=ppt/slides/slide8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Fleas as Vectors of Plague and Typhus</a:t>
            </a:r>
            <a:br>
              <a:rPr lang="en-US" dirty="0"/>
            </a:br>
            <a:endParaRPr lang="en-US" dirty="0"/>
          </a:p>
        </p:txBody>
      </p:sp>
      <p:sp>
        <p:nvSpPr>
          <p:cNvPr id="3" name="Content Placeholder 2"/>
          <p:cNvSpPr>
            <a:spLocks noGrp="1"/>
          </p:cNvSpPr>
          <p:nvPr>
            <p:ph idx="1"/>
          </p:nvPr>
        </p:nvSpPr>
        <p:spPr/>
        <p:txBody>
          <a:bodyPr>
            <a:normAutofit fontScale="92500"/>
          </a:bodyPr>
          <a:lstStyle/>
          <a:p>
            <a:pPr marL="0" indent="0" algn="ctr">
              <a:buNone/>
            </a:pPr>
            <a:r>
              <a:rPr lang="en-US" b="1" dirty="0"/>
              <a:t>Plague</a:t>
            </a:r>
            <a:endParaRPr lang="en-US" dirty="0"/>
          </a:p>
          <a:p>
            <a:pPr lvl="0"/>
            <a:r>
              <a:rPr lang="en-US" dirty="0"/>
              <a:t>Also known as </a:t>
            </a:r>
            <a:r>
              <a:rPr lang="en-US" b="1" dirty="0"/>
              <a:t>pest</a:t>
            </a:r>
            <a:r>
              <a:rPr lang="en-US" dirty="0"/>
              <a:t> and </a:t>
            </a:r>
            <a:r>
              <a:rPr lang="en-US" b="1" dirty="0"/>
              <a:t>black death</a:t>
            </a:r>
            <a:r>
              <a:rPr lang="en-US" dirty="0"/>
              <a:t> is caused by a </a:t>
            </a:r>
            <a:r>
              <a:rPr lang="en-US" dirty="0" err="1"/>
              <a:t>bacterim</a:t>
            </a:r>
            <a:r>
              <a:rPr lang="en-US" i="1" dirty="0"/>
              <a:t>, </a:t>
            </a:r>
            <a:r>
              <a:rPr lang="en-US" b="1" i="1" dirty="0"/>
              <a:t>Yersinia </a:t>
            </a:r>
            <a:r>
              <a:rPr lang="en-US" b="1" i="1" dirty="0" err="1"/>
              <a:t>pestis</a:t>
            </a:r>
            <a:r>
              <a:rPr lang="en-US" dirty="0"/>
              <a:t> (formerly known as </a:t>
            </a:r>
            <a:r>
              <a:rPr lang="en-US" b="1" i="1" dirty="0" err="1"/>
              <a:t>Pasteurella</a:t>
            </a:r>
            <a:r>
              <a:rPr lang="en-US" b="1" i="1" dirty="0"/>
              <a:t> </a:t>
            </a:r>
            <a:r>
              <a:rPr lang="en-US" b="1" i="1" dirty="0" err="1"/>
              <a:t>pestis</a:t>
            </a:r>
            <a:r>
              <a:rPr lang="en-US" dirty="0"/>
              <a:t>, which releases two potent toxins that produce identical serious effects</a:t>
            </a:r>
          </a:p>
          <a:p>
            <a:pPr lvl="0"/>
            <a:r>
              <a:rPr lang="en-US" dirty="0"/>
              <a:t>Some animals, such as rats and mice, are more sensitive to these toxins than other animals such as rabbits, dogs, monkeys and chimpanzees</a:t>
            </a:r>
          </a:p>
          <a:p>
            <a:pPr marL="0" indent="0">
              <a:buNone/>
            </a:pPr>
            <a:endParaRPr lang="en-US" dirty="0"/>
          </a:p>
        </p:txBody>
      </p:sp>
    </p:spTree>
    <p:extLst>
      <p:ext uri="{BB962C8B-B14F-4D97-AF65-F5344CB8AC3E}">
        <p14:creationId xmlns:p14="http://schemas.microsoft.com/office/powerpoint/2010/main" val="3925444997"/>
      </p:ext>
    </p:extLst>
  </p:cSld>
  <p:clrMapOvr>
    <a:masterClrMapping/>
  </p:clrMapOvr>
</p:sld>
</file>

<file path=ppt/slides/slide8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Plague cont’d</a:t>
            </a:r>
            <a:br>
              <a:rPr lang="en-US" dirty="0"/>
            </a:br>
            <a:endParaRPr lang="en-US" dirty="0"/>
          </a:p>
        </p:txBody>
      </p:sp>
      <p:sp>
        <p:nvSpPr>
          <p:cNvPr id="3" name="Content Placeholder 2"/>
          <p:cNvSpPr>
            <a:spLocks noGrp="1"/>
          </p:cNvSpPr>
          <p:nvPr>
            <p:ph idx="1"/>
          </p:nvPr>
        </p:nvSpPr>
        <p:spPr/>
        <p:txBody>
          <a:bodyPr/>
          <a:lstStyle/>
          <a:p>
            <a:pPr lvl="0"/>
            <a:r>
              <a:rPr lang="en-US" dirty="0"/>
              <a:t>There is evidence that the toxins act on mitochondrial membranes of susceptible animals, inhibiting ion uptake and interfering with normal functioning of the respiratory chain</a:t>
            </a:r>
          </a:p>
          <a:p>
            <a:pPr lvl="0"/>
            <a:r>
              <a:rPr lang="en-US" dirty="0"/>
              <a:t>One toxin is a plasmid-encoded phospholipase that is required by </a:t>
            </a:r>
            <a:r>
              <a:rPr lang="en-US" i="1" dirty="0"/>
              <a:t>Y. </a:t>
            </a:r>
            <a:r>
              <a:rPr lang="en-US" i="1" dirty="0" err="1"/>
              <a:t>pestis</a:t>
            </a:r>
            <a:r>
              <a:rPr lang="en-US" dirty="0"/>
              <a:t> before it can survive in the gut of the flea.</a:t>
            </a:r>
          </a:p>
          <a:p>
            <a:endParaRPr lang="en-US" dirty="0"/>
          </a:p>
        </p:txBody>
      </p:sp>
    </p:spTree>
    <p:extLst>
      <p:ext uri="{BB962C8B-B14F-4D97-AF65-F5344CB8AC3E}">
        <p14:creationId xmlns:p14="http://schemas.microsoft.com/office/powerpoint/2010/main" val="1743419139"/>
      </p:ext>
    </p:extLst>
  </p:cSld>
  <p:clrMapOvr>
    <a:masterClrMapping/>
  </p:clrMapOvr>
</p:sld>
</file>

<file path=ppt/slides/slide8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Plague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The plague pandemic of the 14</a:t>
            </a:r>
            <a:r>
              <a:rPr lang="en-US" baseline="30000" dirty="0"/>
              <a:t>th</a:t>
            </a:r>
            <a:r>
              <a:rPr lang="en-US" dirty="0"/>
              <a:t> Century across Europe, took 25 million lives (¼ of the population at that time).</a:t>
            </a:r>
          </a:p>
          <a:p>
            <a:pPr lvl="0"/>
            <a:r>
              <a:rPr lang="en-US" dirty="0"/>
              <a:t>Plague is essentially, a disease of rodents; humans contract it through flea bites, especially, of </a:t>
            </a:r>
            <a:r>
              <a:rPr lang="en-US" i="1" dirty="0"/>
              <a:t>X. </a:t>
            </a:r>
            <a:r>
              <a:rPr lang="en-US" i="1" dirty="0" err="1"/>
              <a:t>cheopis</a:t>
            </a:r>
            <a:r>
              <a:rPr lang="en-US" i="1" dirty="0"/>
              <a:t>, </a:t>
            </a:r>
            <a:r>
              <a:rPr lang="en-US" dirty="0"/>
              <a:t>as follows:</a:t>
            </a:r>
          </a:p>
          <a:p>
            <a:pPr lvl="0">
              <a:buFont typeface="Wingdings" pitchFamily="2" charset="2"/>
              <a:buChar char="Ø"/>
            </a:pPr>
            <a:r>
              <a:rPr lang="en-US" dirty="0"/>
              <a:t>Bacteria are taken in by a flea along with its blood meal and they multiply in the flea’s gut and block the </a:t>
            </a:r>
            <a:r>
              <a:rPr lang="en-US" dirty="0" err="1"/>
              <a:t>proventricular</a:t>
            </a:r>
            <a:r>
              <a:rPr lang="en-US" dirty="0"/>
              <a:t> teeth.</a:t>
            </a:r>
          </a:p>
        </p:txBody>
      </p:sp>
    </p:spTree>
    <p:extLst>
      <p:ext uri="{BB962C8B-B14F-4D97-AF65-F5344CB8AC3E}">
        <p14:creationId xmlns:p14="http://schemas.microsoft.com/office/powerpoint/2010/main" val="2825876734"/>
      </p:ext>
    </p:extLst>
  </p:cSld>
  <p:clrMapOvr>
    <a:masterClrMapping/>
  </p:clrMapOvr>
</p:sld>
</file>

<file path=ppt/slides/slide8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Plague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On the next feed, a new blood meal cannot pass this obstruction and becomes contaminated by bacteria and is then regurgitated back into the bite wound.</a:t>
            </a:r>
          </a:p>
          <a:p>
            <a:pPr marL="0" indent="0">
              <a:buNone/>
            </a:pPr>
            <a:endParaRPr lang="en-US" dirty="0"/>
          </a:p>
        </p:txBody>
      </p:sp>
    </p:spTree>
    <p:extLst>
      <p:ext uri="{BB962C8B-B14F-4D97-AF65-F5344CB8AC3E}">
        <p14:creationId xmlns:p14="http://schemas.microsoft.com/office/powerpoint/2010/main" val="3329362568"/>
      </p:ext>
    </p:extLst>
  </p:cSld>
  <p:clrMapOvr>
    <a:masterClrMapping/>
  </p:clrMapOvr>
</p:sld>
</file>

<file path=ppt/slides/slide8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Plague cont’d</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There are three main clinical forms of plague, namely: </a:t>
            </a:r>
          </a:p>
          <a:p>
            <a:pPr marL="0" lvl="0" indent="0" algn="ctr">
              <a:buNone/>
            </a:pPr>
            <a:r>
              <a:rPr lang="en-US" b="1" dirty="0"/>
              <a:t>1. Bubonic plague</a:t>
            </a:r>
            <a:endParaRPr lang="en-US" dirty="0"/>
          </a:p>
          <a:p>
            <a:r>
              <a:rPr lang="en-US" dirty="0"/>
              <a:t>There is formation of definite bubo (swollen lymph nodes in the groins or armpits); they are hard, tender, and filled with bacteria and may rupture to the outside; it is 25-50% fatal, if untreated.</a:t>
            </a:r>
          </a:p>
          <a:p>
            <a:endParaRPr lang="en-US" dirty="0"/>
          </a:p>
        </p:txBody>
      </p:sp>
    </p:spTree>
    <p:extLst>
      <p:ext uri="{BB962C8B-B14F-4D97-AF65-F5344CB8AC3E}">
        <p14:creationId xmlns:p14="http://schemas.microsoft.com/office/powerpoint/2010/main" val="2735060963"/>
      </p:ext>
    </p:extLst>
  </p:cSld>
  <p:clrMapOvr>
    <a:masterClrMapping/>
  </p:clrMapOvr>
</p:sld>
</file>

<file path=ppt/slides/slide8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Plague cont’d</a:t>
            </a:r>
            <a:br>
              <a:rPr lang="en-US" dirty="0"/>
            </a:br>
            <a:endParaRPr lang="en-US" dirty="0"/>
          </a:p>
        </p:txBody>
      </p:sp>
      <p:sp>
        <p:nvSpPr>
          <p:cNvPr id="3" name="Content Placeholder 2"/>
          <p:cNvSpPr>
            <a:spLocks noGrp="1"/>
          </p:cNvSpPr>
          <p:nvPr>
            <p:ph idx="1"/>
          </p:nvPr>
        </p:nvSpPr>
        <p:spPr/>
        <p:txBody>
          <a:bodyPr/>
          <a:lstStyle/>
          <a:p>
            <a:pPr marL="0" lvl="0" indent="0" algn="ctr">
              <a:buNone/>
            </a:pPr>
            <a:r>
              <a:rPr lang="en-US" b="1" dirty="0"/>
              <a:t>2. Pneumonic plague</a:t>
            </a:r>
            <a:endParaRPr lang="en-US" dirty="0"/>
          </a:p>
          <a:p>
            <a:r>
              <a:rPr lang="en-US" dirty="0"/>
              <a:t>This is a condition in which the lungs are most heavily involved, producing a pneumonia-like disease that develops rapidly, and is highly contagious to other people.</a:t>
            </a:r>
          </a:p>
          <a:p>
            <a:endParaRPr lang="en-US" dirty="0"/>
          </a:p>
        </p:txBody>
      </p:sp>
    </p:spTree>
    <p:extLst>
      <p:ext uri="{BB962C8B-B14F-4D97-AF65-F5344CB8AC3E}">
        <p14:creationId xmlns:p14="http://schemas.microsoft.com/office/powerpoint/2010/main" val="1306479578"/>
      </p:ext>
    </p:extLst>
  </p:cSld>
  <p:clrMapOvr>
    <a:masterClrMapping/>
  </p:clrMapOvr>
</p:sld>
</file>

<file path=ppt/slides/slide8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Plague cont’d</a:t>
            </a:r>
            <a:br>
              <a:rPr lang="en-US" dirty="0"/>
            </a:br>
            <a:endParaRPr lang="en-US" dirty="0"/>
          </a:p>
        </p:txBody>
      </p:sp>
      <p:sp>
        <p:nvSpPr>
          <p:cNvPr id="3" name="Content Placeholder 2"/>
          <p:cNvSpPr>
            <a:spLocks noGrp="1"/>
          </p:cNvSpPr>
          <p:nvPr>
            <p:ph idx="1"/>
          </p:nvPr>
        </p:nvSpPr>
        <p:spPr/>
        <p:txBody>
          <a:bodyPr/>
          <a:lstStyle/>
          <a:p>
            <a:pPr marL="0" lvl="0" indent="0" algn="ctr">
              <a:buNone/>
            </a:pPr>
            <a:r>
              <a:rPr lang="en-US" b="1" dirty="0"/>
              <a:t>3. Primary </a:t>
            </a:r>
            <a:r>
              <a:rPr lang="en-US" b="1" dirty="0" err="1"/>
              <a:t>Septicaemic</a:t>
            </a:r>
            <a:r>
              <a:rPr lang="en-US" dirty="0"/>
              <a:t> </a:t>
            </a:r>
            <a:r>
              <a:rPr lang="en-US" b="1" dirty="0"/>
              <a:t>Plague</a:t>
            </a:r>
            <a:endParaRPr lang="en-US" dirty="0"/>
          </a:p>
          <a:p>
            <a:r>
              <a:rPr lang="en-US" dirty="0"/>
              <a:t>This is a generalized blood infection with little or no lymph node swelling apparently because the blood is invaded too rapidly for typical nodal inflammation to develop. </a:t>
            </a:r>
          </a:p>
          <a:p>
            <a:r>
              <a:rPr lang="en-US" dirty="0"/>
              <a:t>However, secondary </a:t>
            </a:r>
            <a:r>
              <a:rPr lang="en-US" dirty="0" err="1"/>
              <a:t>septicaemc</a:t>
            </a:r>
            <a:r>
              <a:rPr lang="en-US" dirty="0"/>
              <a:t> plague occurs when an infection breaks out of lymph nodes</a:t>
            </a:r>
          </a:p>
          <a:p>
            <a:endParaRPr lang="en-US" dirty="0"/>
          </a:p>
        </p:txBody>
      </p:sp>
    </p:spTree>
    <p:extLst>
      <p:ext uri="{BB962C8B-B14F-4D97-AF65-F5344CB8AC3E}">
        <p14:creationId xmlns:p14="http://schemas.microsoft.com/office/powerpoint/2010/main" val="3081447434"/>
      </p:ext>
    </p:extLst>
  </p:cSld>
  <p:clrMapOvr>
    <a:masterClrMapping/>
  </p:clrMapOvr>
</p:sld>
</file>

<file path=ppt/slides/slide8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Plague cont’d</a:t>
            </a:r>
            <a:br>
              <a:rPr lang="en-US" dirty="0"/>
            </a:br>
            <a:endParaRPr lang="en-US" dirty="0"/>
          </a:p>
        </p:txBody>
      </p:sp>
      <p:sp>
        <p:nvSpPr>
          <p:cNvPr id="3" name="Content Placeholder 2"/>
          <p:cNvSpPr>
            <a:spLocks noGrp="1"/>
          </p:cNvSpPr>
          <p:nvPr>
            <p:ph idx="1"/>
          </p:nvPr>
        </p:nvSpPr>
        <p:spPr/>
        <p:txBody>
          <a:bodyPr/>
          <a:lstStyle/>
          <a:p>
            <a:pPr lvl="0"/>
            <a:r>
              <a:rPr lang="en-US" b="1" i="1" dirty="0"/>
              <a:t>Y. </a:t>
            </a:r>
            <a:r>
              <a:rPr lang="en-US" b="1" i="1" dirty="0" err="1"/>
              <a:t>pestis</a:t>
            </a:r>
            <a:r>
              <a:rPr lang="en-US" dirty="0"/>
              <a:t> can infect most organs, resulting in massive tissue destruction</a:t>
            </a:r>
          </a:p>
          <a:p>
            <a:pPr lvl="0"/>
            <a:r>
              <a:rPr lang="en-US" dirty="0"/>
              <a:t>The incubation period after a flea’s bite is usually 2-6 days, followed by a chill and rapidly rising temperature to 39.5°C and 40°C</a:t>
            </a:r>
          </a:p>
          <a:p>
            <a:pPr lvl="0"/>
            <a:r>
              <a:rPr lang="en-US" dirty="0"/>
              <a:t>Lymph nodes draining an infection site swell, becoming </a:t>
            </a:r>
            <a:r>
              <a:rPr lang="en-US" dirty="0" err="1"/>
              <a:t>haemorrhagic</a:t>
            </a:r>
            <a:r>
              <a:rPr lang="en-US" dirty="0"/>
              <a:t> and often necrotic</a:t>
            </a:r>
          </a:p>
          <a:p>
            <a:pPr marL="0" indent="0">
              <a:buNone/>
            </a:pPr>
            <a:endParaRPr lang="en-US" dirty="0"/>
          </a:p>
        </p:txBody>
      </p:sp>
    </p:spTree>
    <p:extLst>
      <p:ext uri="{BB962C8B-B14F-4D97-AF65-F5344CB8AC3E}">
        <p14:creationId xmlns:p14="http://schemas.microsoft.com/office/powerpoint/2010/main" val="2312325633"/>
      </p:ext>
    </p:extLst>
  </p:cSld>
  <p:clrMapOvr>
    <a:masterClrMapping/>
  </p:clrMapOvr>
</p:sld>
</file>

<file path=ppt/slides/slide8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Plague cont’d</a:t>
            </a:r>
            <a:br>
              <a:rPr lang="en-US" dirty="0"/>
            </a:br>
            <a:endParaRPr lang="en-US" dirty="0"/>
          </a:p>
        </p:txBody>
      </p:sp>
      <p:sp>
        <p:nvSpPr>
          <p:cNvPr id="3" name="Content Placeholder 2"/>
          <p:cNvSpPr>
            <a:spLocks noGrp="1"/>
          </p:cNvSpPr>
          <p:nvPr>
            <p:ph idx="1"/>
          </p:nvPr>
        </p:nvSpPr>
        <p:spPr/>
        <p:txBody>
          <a:bodyPr/>
          <a:lstStyle/>
          <a:p>
            <a:pPr lvl="0"/>
            <a:r>
              <a:rPr lang="en-US" dirty="0"/>
              <a:t>Damage to vascular and lymphatic endothelium in many parts of the body leads to petechial and diffuse </a:t>
            </a:r>
            <a:r>
              <a:rPr lang="en-US" dirty="0" err="1"/>
              <a:t>haemorrhages</a:t>
            </a:r>
            <a:r>
              <a:rPr lang="en-US" dirty="0"/>
              <a:t>.</a:t>
            </a:r>
          </a:p>
          <a:p>
            <a:pPr lvl="0"/>
            <a:r>
              <a:rPr lang="en-US" dirty="0"/>
              <a:t>At first there is mental dullness, followed by anxiety or excitement and then delirium or lethargy and coma.</a:t>
            </a:r>
          </a:p>
          <a:p>
            <a:pPr marL="0" indent="0">
              <a:buNone/>
            </a:pPr>
            <a:endParaRPr lang="en-US" dirty="0"/>
          </a:p>
        </p:txBody>
      </p:sp>
    </p:spTree>
    <p:extLst>
      <p:ext uri="{BB962C8B-B14F-4D97-AF65-F5344CB8AC3E}">
        <p14:creationId xmlns:p14="http://schemas.microsoft.com/office/powerpoint/2010/main" val="1082010478"/>
      </p:ext>
    </p:extLst>
  </p:cSld>
  <p:clrMapOvr>
    <a:masterClrMapping/>
  </p:clrMapOvr>
</p:sld>
</file>

<file path=ppt/slides/slide8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Murine Typhus</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Also called Endemic or flea-borne typhus is caused by </a:t>
            </a:r>
            <a:r>
              <a:rPr lang="en-US" b="1" i="1" dirty="0"/>
              <a:t>Rickettsia </a:t>
            </a:r>
            <a:r>
              <a:rPr lang="en-US" b="1" i="1" dirty="0" err="1"/>
              <a:t>mooseri</a:t>
            </a:r>
            <a:r>
              <a:rPr lang="en-US" dirty="0"/>
              <a:t> </a:t>
            </a:r>
            <a:r>
              <a:rPr lang="en-US" i="1" dirty="0"/>
              <a:t>(R. </a:t>
            </a:r>
            <a:r>
              <a:rPr lang="en-US" b="1" i="1" dirty="0" err="1"/>
              <a:t>typhi</a:t>
            </a:r>
            <a:r>
              <a:rPr lang="en-US" b="1" i="1" dirty="0"/>
              <a:t>)</a:t>
            </a:r>
            <a:r>
              <a:rPr lang="en-US" i="1" dirty="0"/>
              <a:t> </a:t>
            </a:r>
            <a:r>
              <a:rPr lang="en-US" dirty="0"/>
              <a:t>which is morphologically indistinguishable from</a:t>
            </a:r>
            <a:r>
              <a:rPr lang="en-US" i="1" dirty="0"/>
              <a:t> </a:t>
            </a:r>
            <a:r>
              <a:rPr lang="en-US" dirty="0"/>
              <a:t>R. </a:t>
            </a:r>
            <a:r>
              <a:rPr lang="en-US" dirty="0" err="1"/>
              <a:t>prowazekii</a:t>
            </a:r>
            <a:endParaRPr lang="en-US" dirty="0"/>
          </a:p>
          <a:p>
            <a:pPr lvl="0"/>
            <a:r>
              <a:rPr lang="en-US" dirty="0"/>
              <a:t>It occurs in warmer climates. </a:t>
            </a:r>
          </a:p>
          <a:p>
            <a:pPr marL="0" indent="0" algn="ctr">
              <a:buNone/>
            </a:pPr>
            <a:r>
              <a:rPr lang="en-US" b="1" dirty="0"/>
              <a:t>Control of Fleas</a:t>
            </a:r>
            <a:endParaRPr lang="en-US" dirty="0"/>
          </a:p>
          <a:p>
            <a:pPr lvl="0">
              <a:buFont typeface="Wingdings" pitchFamily="2" charset="2"/>
              <a:buChar char="Ø"/>
            </a:pPr>
            <a:r>
              <a:rPr lang="en-US" dirty="0"/>
              <a:t>Within habitations, one should keep debris that </a:t>
            </a:r>
            <a:r>
              <a:rPr lang="en-US" dirty="0" err="1"/>
              <a:t>harbours</a:t>
            </a:r>
            <a:r>
              <a:rPr lang="en-US" dirty="0"/>
              <a:t> larval fleas to a minimum</a:t>
            </a:r>
          </a:p>
          <a:p>
            <a:endParaRPr lang="en-US" dirty="0"/>
          </a:p>
        </p:txBody>
      </p:sp>
    </p:spTree>
    <p:extLst>
      <p:ext uri="{BB962C8B-B14F-4D97-AF65-F5344CB8AC3E}">
        <p14:creationId xmlns:p14="http://schemas.microsoft.com/office/powerpoint/2010/main" val="573245898"/>
      </p:ext>
    </p:extLst>
  </p:cSld>
  <p:clrMapOvr>
    <a:masterClrMapping/>
  </p:clrMapOvr>
</p:sld>
</file>

<file path=ppt/slides/slide8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Murine Typhus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Some persistent pesticides (e.g. </a:t>
            </a:r>
            <a:r>
              <a:rPr lang="en-US" dirty="0" err="1"/>
              <a:t>Diflubenzuron</a:t>
            </a:r>
            <a:r>
              <a:rPr lang="en-US" dirty="0"/>
              <a:t> which inhibits </a:t>
            </a:r>
            <a:r>
              <a:rPr lang="en-US" i="1" dirty="0"/>
              <a:t>C. </a:t>
            </a:r>
            <a:r>
              <a:rPr lang="en-US" i="1" dirty="0" err="1"/>
              <a:t>felis</a:t>
            </a:r>
            <a:r>
              <a:rPr lang="en-US" dirty="0"/>
              <a:t> development) may be applied to places such as under carpets, in floor crevices and in pet bedding.</a:t>
            </a:r>
          </a:p>
          <a:p>
            <a:pPr lvl="0">
              <a:buFont typeface="Wingdings" pitchFamily="2" charset="2"/>
              <a:buChar char="Ø"/>
            </a:pPr>
            <a:r>
              <a:rPr lang="en-US" dirty="0"/>
              <a:t> </a:t>
            </a:r>
            <a:r>
              <a:rPr lang="en-US" dirty="0" err="1"/>
              <a:t>Pyriproxyfen</a:t>
            </a:r>
            <a:r>
              <a:rPr lang="en-US" dirty="0"/>
              <a:t> and </a:t>
            </a:r>
            <a:r>
              <a:rPr lang="en-US" dirty="0" err="1"/>
              <a:t>Methoprene</a:t>
            </a:r>
            <a:r>
              <a:rPr lang="en-US" dirty="0"/>
              <a:t> make fleas to lay infertile eggs.</a:t>
            </a:r>
          </a:p>
          <a:p>
            <a:pPr>
              <a:buFont typeface="Wingdings" pitchFamily="2" charset="2"/>
              <a:buChar char="Ø"/>
            </a:pPr>
            <a:r>
              <a:rPr lang="en-US" dirty="0"/>
              <a:t>Use of light traps with yellow green filters to which fleas respond positively</a:t>
            </a:r>
          </a:p>
          <a:p>
            <a:pPr marL="0" lvl="0" indent="0">
              <a:buNone/>
            </a:pPr>
            <a:endParaRPr lang="en-US" dirty="0"/>
          </a:p>
          <a:p>
            <a:endParaRPr lang="en-US" dirty="0"/>
          </a:p>
        </p:txBody>
      </p:sp>
    </p:spTree>
    <p:extLst>
      <p:ext uri="{BB962C8B-B14F-4D97-AF65-F5344CB8AC3E}">
        <p14:creationId xmlns:p14="http://schemas.microsoft.com/office/powerpoint/2010/main" val="3503504458"/>
      </p:ext>
    </p:extLst>
  </p:cSld>
  <p:clrMapOvr>
    <a:masterClrMapping/>
  </p:clrMapOvr>
</p:sld>
</file>

<file path=ppt/slides/slide8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Murine Typhus cont’d</a:t>
            </a:r>
            <a:br>
              <a:rPr lang="en-US" dirty="0"/>
            </a:br>
            <a:endParaRPr lang="en-US" dirty="0"/>
          </a:p>
        </p:txBody>
      </p:sp>
      <p:sp>
        <p:nvSpPr>
          <p:cNvPr id="3" name="Content Placeholder 2"/>
          <p:cNvSpPr>
            <a:spLocks noGrp="1"/>
          </p:cNvSpPr>
          <p:nvPr>
            <p:ph idx="1"/>
          </p:nvPr>
        </p:nvSpPr>
        <p:spPr>
          <a:xfrm>
            <a:off x="457200" y="1600200"/>
            <a:ext cx="8229600" cy="4724400"/>
          </a:xfrm>
        </p:spPr>
        <p:txBody>
          <a:bodyPr>
            <a:normAutofit lnSpcReduction="10000"/>
          </a:bodyPr>
          <a:lstStyle/>
          <a:p>
            <a:pPr lvl="0"/>
            <a:r>
              <a:rPr lang="en-US" dirty="0"/>
              <a:t>Keeping areas where livestock are maintained tidy and free from debris, manure and other litter as possible</a:t>
            </a:r>
          </a:p>
          <a:p>
            <a:pPr lvl="0"/>
            <a:r>
              <a:rPr lang="en-US" dirty="0"/>
              <a:t>Use of insecticidal flea powders on dogs and cats, with repeated application when necessary</a:t>
            </a:r>
          </a:p>
          <a:p>
            <a:pPr lvl="0"/>
            <a:r>
              <a:rPr lang="en-US" dirty="0"/>
              <a:t>Personal protection by use of insect repellent creams on the body or application of the repellents to cracks, crevices </a:t>
            </a:r>
            <a:r>
              <a:rPr lang="en-US" dirty="0" err="1"/>
              <a:t>etc</a:t>
            </a:r>
            <a:r>
              <a:rPr lang="en-US" dirty="0"/>
              <a:t> indoors and outside.</a:t>
            </a:r>
          </a:p>
          <a:p>
            <a:pPr marL="0" indent="0">
              <a:buNone/>
            </a:pPr>
            <a:endParaRPr lang="en-US" dirty="0"/>
          </a:p>
        </p:txBody>
      </p:sp>
    </p:spTree>
    <p:extLst>
      <p:ext uri="{BB962C8B-B14F-4D97-AF65-F5344CB8AC3E}">
        <p14:creationId xmlns:p14="http://schemas.microsoft.com/office/powerpoint/2010/main" val="3413629363"/>
      </p:ext>
    </p:extLst>
  </p:cSld>
  <p:clrMapOvr>
    <a:masterClrMapping/>
  </p:clrMapOvr>
</p:sld>
</file>

<file path=ppt/slides/slide8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PARASITOLOGY (BIOL 460)</a:t>
            </a:r>
          </a:p>
        </p:txBody>
      </p:sp>
      <p:sp>
        <p:nvSpPr>
          <p:cNvPr id="3" name="Subtitle 2"/>
          <p:cNvSpPr>
            <a:spLocks noGrp="1"/>
          </p:cNvSpPr>
          <p:nvPr>
            <p:ph type="subTitle" idx="1"/>
          </p:nvPr>
        </p:nvSpPr>
        <p:spPr/>
        <p:txBody>
          <a:bodyPr/>
          <a:lstStyle/>
          <a:p>
            <a:r>
              <a:rPr lang="en-US" dirty="0"/>
              <a:t>UNIT 8 C</a:t>
            </a:r>
          </a:p>
          <a:p>
            <a:r>
              <a:rPr lang="en-US" b="1" dirty="0"/>
              <a:t>PARASITIC ARACHNIDS</a:t>
            </a:r>
            <a:endParaRPr lang="en-US" dirty="0"/>
          </a:p>
          <a:p>
            <a:endParaRPr lang="en-US" dirty="0"/>
          </a:p>
        </p:txBody>
      </p:sp>
    </p:spTree>
    <p:extLst>
      <p:ext uri="{BB962C8B-B14F-4D97-AF65-F5344CB8AC3E}">
        <p14:creationId xmlns:p14="http://schemas.microsoft.com/office/powerpoint/2010/main" val="4072230017"/>
      </p:ext>
    </p:extLst>
  </p:cSld>
  <p:clrMapOvr>
    <a:masterClrMapping/>
  </p:clrMapOvr>
</p:sld>
</file>

<file path=ppt/slides/slide8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ARACHNIDS</a:t>
            </a:r>
            <a:br>
              <a:rPr lang="en-US" dirty="0"/>
            </a:br>
            <a:endParaRPr lang="en-US" dirty="0"/>
          </a:p>
        </p:txBody>
      </p:sp>
      <p:sp>
        <p:nvSpPr>
          <p:cNvPr id="3" name="Content Placeholder 2"/>
          <p:cNvSpPr>
            <a:spLocks noGrp="1"/>
          </p:cNvSpPr>
          <p:nvPr>
            <p:ph idx="1"/>
          </p:nvPr>
        </p:nvSpPr>
        <p:spPr/>
        <p:txBody>
          <a:bodyPr>
            <a:normAutofit fontScale="92500"/>
          </a:bodyPr>
          <a:lstStyle/>
          <a:p>
            <a:r>
              <a:rPr lang="en-US" dirty="0"/>
              <a:t>The Class </a:t>
            </a:r>
            <a:r>
              <a:rPr lang="en-US" dirty="0" err="1"/>
              <a:t>Arachnida</a:t>
            </a:r>
            <a:r>
              <a:rPr lang="en-US" dirty="0"/>
              <a:t> of the Phylum </a:t>
            </a:r>
            <a:r>
              <a:rPr lang="en-US" dirty="0" err="1"/>
              <a:t>Arthropoda</a:t>
            </a:r>
            <a:r>
              <a:rPr lang="en-US" dirty="0"/>
              <a:t>, contains Spiders, Scorpions, Ticks and </a:t>
            </a:r>
            <a:r>
              <a:rPr lang="en-US" dirty="0" err="1"/>
              <a:t>Mite,s</a:t>
            </a:r>
            <a:r>
              <a:rPr lang="en-US" dirty="0"/>
              <a:t> and King Crabs</a:t>
            </a:r>
          </a:p>
          <a:p>
            <a:r>
              <a:rPr lang="en-US" dirty="0"/>
              <a:t> (the only aquatic members, and which some authorities separate into a class of its own, </a:t>
            </a:r>
            <a:r>
              <a:rPr lang="en-US" dirty="0" err="1"/>
              <a:t>Merostomata</a:t>
            </a:r>
            <a:r>
              <a:rPr lang="en-US" dirty="0"/>
              <a:t>.</a:t>
            </a:r>
          </a:p>
          <a:p>
            <a:pPr lvl="0"/>
            <a:r>
              <a:rPr lang="en-US" dirty="0"/>
              <a:t> One major characteristic (distinguishing) is the two-part division of the body into a </a:t>
            </a:r>
            <a:r>
              <a:rPr lang="en-US" dirty="0" err="1"/>
              <a:t>prosoma</a:t>
            </a:r>
            <a:r>
              <a:rPr lang="en-US" dirty="0"/>
              <a:t> and </a:t>
            </a:r>
            <a:r>
              <a:rPr lang="en-US" dirty="0" err="1"/>
              <a:t>opisthosoma</a:t>
            </a:r>
            <a:r>
              <a:rPr lang="en-US" dirty="0"/>
              <a:t>, and the absence of antennae.</a:t>
            </a:r>
          </a:p>
          <a:p>
            <a:endParaRPr lang="en-US" dirty="0"/>
          </a:p>
        </p:txBody>
      </p:sp>
    </p:spTree>
    <p:extLst>
      <p:ext uri="{BB962C8B-B14F-4D97-AF65-F5344CB8AC3E}">
        <p14:creationId xmlns:p14="http://schemas.microsoft.com/office/powerpoint/2010/main" val="1870761720"/>
      </p:ext>
    </p:extLst>
  </p:cSld>
  <p:clrMapOvr>
    <a:masterClrMapping/>
  </p:clrMapOvr>
</p:sld>
</file>

<file path=ppt/slides/slide8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ARACHNIDS CONT’D</a:t>
            </a:r>
            <a:br>
              <a:rPr lang="en-US" dirty="0"/>
            </a:br>
            <a:endParaRPr lang="en-US" dirty="0"/>
          </a:p>
        </p:txBody>
      </p:sp>
      <p:sp>
        <p:nvSpPr>
          <p:cNvPr id="3" name="Content Placeholder 2"/>
          <p:cNvSpPr>
            <a:spLocks noGrp="1"/>
          </p:cNvSpPr>
          <p:nvPr>
            <p:ph idx="1"/>
          </p:nvPr>
        </p:nvSpPr>
        <p:spPr/>
        <p:txBody>
          <a:bodyPr/>
          <a:lstStyle/>
          <a:p>
            <a:pPr lvl="0"/>
            <a:r>
              <a:rPr lang="en-US" dirty="0"/>
              <a:t>Members of the Class that are of immense importance to humans and livestock animals are in the Subclass </a:t>
            </a:r>
            <a:r>
              <a:rPr lang="en-US" dirty="0" err="1"/>
              <a:t>Acari</a:t>
            </a:r>
            <a:r>
              <a:rPr lang="en-US" dirty="0"/>
              <a:t> and Super Order </a:t>
            </a:r>
            <a:r>
              <a:rPr lang="en-US" dirty="0" err="1"/>
              <a:t>Acarina</a:t>
            </a:r>
            <a:r>
              <a:rPr lang="en-US" dirty="0"/>
              <a:t>.</a:t>
            </a:r>
          </a:p>
          <a:p>
            <a:pPr lvl="0"/>
            <a:endParaRPr lang="en-US" dirty="0"/>
          </a:p>
          <a:p>
            <a:pPr lvl="0"/>
            <a:r>
              <a:rPr lang="en-US" dirty="0"/>
              <a:t>Ticks and Mites are basically similar however, they have some distinct differences as follows:</a:t>
            </a:r>
          </a:p>
          <a:p>
            <a:endParaRPr lang="en-US" dirty="0"/>
          </a:p>
        </p:txBody>
      </p:sp>
    </p:spTree>
    <p:extLst>
      <p:ext uri="{BB962C8B-B14F-4D97-AF65-F5344CB8AC3E}">
        <p14:creationId xmlns:p14="http://schemas.microsoft.com/office/powerpoint/2010/main" val="3793045146"/>
      </p:ext>
    </p:extLst>
  </p:cSld>
  <p:clrMapOvr>
    <a:masterClrMapping/>
  </p:clrMapOvr>
</p:sld>
</file>

<file path=ppt/slides/slide8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85800" y="-685800"/>
            <a:ext cx="7924800" cy="7848600"/>
          </a:xfrm>
        </p:spPr>
      </p:pic>
    </p:spTree>
    <p:extLst>
      <p:ext uri="{BB962C8B-B14F-4D97-AF65-F5344CB8AC3E}">
        <p14:creationId xmlns:p14="http://schemas.microsoft.com/office/powerpoint/2010/main" val="4194014008"/>
      </p:ext>
    </p:extLst>
  </p:cSld>
  <p:clrMapOvr>
    <a:masterClrMapping/>
  </p:clrMapOvr>
</p:sld>
</file>

<file path=ppt/slides/slide8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PARASITIC ARACHNIDS CONT’D</a:t>
            </a:r>
            <a:br>
              <a:rPr lang="en-US" dirty="0"/>
            </a:br>
            <a:endParaRPr lang="en-US" dirty="0"/>
          </a:p>
        </p:txBody>
      </p:sp>
      <p:sp>
        <p:nvSpPr>
          <p:cNvPr id="3" name="Content Placeholder 2"/>
          <p:cNvSpPr>
            <a:spLocks noGrp="1"/>
          </p:cNvSpPr>
          <p:nvPr>
            <p:ph idx="1"/>
          </p:nvPr>
        </p:nvSpPr>
        <p:spPr>
          <a:xfrm>
            <a:off x="457200" y="1600200"/>
            <a:ext cx="8686800" cy="5181600"/>
          </a:xfrm>
        </p:spPr>
        <p:txBody>
          <a:bodyPr numCol="2">
            <a:normAutofit fontScale="92500" lnSpcReduction="10000"/>
          </a:bodyPr>
          <a:lstStyle/>
          <a:p>
            <a:pPr marL="0" indent="0" algn="ctr">
              <a:buNone/>
            </a:pPr>
            <a:r>
              <a:rPr lang="en-US" dirty="0"/>
              <a:t>   </a:t>
            </a:r>
            <a:r>
              <a:rPr lang="en-US" b="1" dirty="0"/>
              <a:t>Ticks	</a:t>
            </a:r>
            <a:endParaRPr lang="en-US" dirty="0"/>
          </a:p>
          <a:p>
            <a:r>
              <a:rPr lang="en-US" dirty="0" err="1"/>
              <a:t>Hypostome</a:t>
            </a:r>
            <a:r>
              <a:rPr lang="en-US" dirty="0"/>
              <a:t> is toothed  and exposed	   </a:t>
            </a:r>
          </a:p>
          <a:p>
            <a:r>
              <a:rPr lang="en-US" dirty="0"/>
              <a:t>Large, macroscopic	</a:t>
            </a:r>
          </a:p>
          <a:p>
            <a:r>
              <a:rPr lang="en-US" dirty="0"/>
              <a:t>Haller’s organ present on first tarsi	</a:t>
            </a:r>
          </a:p>
          <a:p>
            <a:r>
              <a:rPr lang="en-US" dirty="0" err="1"/>
              <a:t>Peritreme</a:t>
            </a:r>
            <a:r>
              <a:rPr lang="en-US" dirty="0"/>
              <a:t> absent</a:t>
            </a:r>
          </a:p>
          <a:p>
            <a:r>
              <a:rPr lang="en-US" dirty="0"/>
              <a:t>Ticks feed on blood and lymph</a:t>
            </a:r>
          </a:p>
          <a:p>
            <a:endParaRPr lang="en-US" dirty="0"/>
          </a:p>
          <a:p>
            <a:pPr marL="0" indent="0" algn="ctr">
              <a:buNone/>
            </a:pPr>
            <a:r>
              <a:rPr lang="en-US" b="1" dirty="0"/>
              <a:t>Mites</a:t>
            </a:r>
            <a:endParaRPr lang="en-US" dirty="0"/>
          </a:p>
          <a:p>
            <a:r>
              <a:rPr lang="en-US" dirty="0" err="1"/>
              <a:t>Hypostome</a:t>
            </a:r>
            <a:r>
              <a:rPr lang="en-US" dirty="0"/>
              <a:t> is unarmed and hidden</a:t>
            </a:r>
          </a:p>
          <a:p>
            <a:r>
              <a:rPr lang="en-US" sz="2800" dirty="0"/>
              <a:t>Small, usually microscopic</a:t>
            </a:r>
          </a:p>
          <a:p>
            <a:r>
              <a:rPr lang="en-US" sz="2800" dirty="0"/>
              <a:t>Haller’s organ is absent</a:t>
            </a:r>
          </a:p>
          <a:p>
            <a:endParaRPr lang="en-US" sz="2800" dirty="0"/>
          </a:p>
          <a:p>
            <a:r>
              <a:rPr lang="en-US" sz="2800" dirty="0" err="1"/>
              <a:t>Peritreme</a:t>
            </a:r>
            <a:r>
              <a:rPr lang="en-US" sz="2800" dirty="0"/>
              <a:t> present in </a:t>
            </a:r>
            <a:r>
              <a:rPr lang="en-US" sz="2800" dirty="0" err="1"/>
              <a:t>Mesostigmata</a:t>
            </a:r>
            <a:endParaRPr lang="en-US" sz="2800" dirty="0"/>
          </a:p>
          <a:p>
            <a:r>
              <a:rPr lang="en-US" sz="2800" dirty="0"/>
              <a:t>Most mites feed on lymph or other secretions rather than on blood</a:t>
            </a:r>
          </a:p>
        </p:txBody>
      </p:sp>
    </p:spTree>
    <p:extLst>
      <p:ext uri="{BB962C8B-B14F-4D97-AF65-F5344CB8AC3E}">
        <p14:creationId xmlns:p14="http://schemas.microsoft.com/office/powerpoint/2010/main" val="4258997213"/>
      </p:ext>
    </p:extLst>
  </p:cSld>
  <p:clrMapOvr>
    <a:masterClrMapping/>
  </p:clrMapOvr>
</p:sld>
</file>

<file path=ppt/slides/slide8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TICKS</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Ticks are important as agents and vectors of disease causing pathogens because of the following pathogenic conditions attributable to them:</a:t>
            </a:r>
          </a:p>
          <a:p>
            <a:pPr marL="0" lvl="0" indent="0">
              <a:buNone/>
            </a:pPr>
            <a:r>
              <a:rPr lang="en-US" b="1" dirty="0"/>
              <a:t>1. Anemia</a:t>
            </a:r>
            <a:r>
              <a:rPr lang="en-US" dirty="0"/>
              <a:t>- blood loss in heavy infections can be considerable</a:t>
            </a:r>
          </a:p>
          <a:p>
            <a:pPr marL="0" lvl="0" indent="0">
              <a:buNone/>
            </a:pPr>
            <a:r>
              <a:rPr lang="en-US" b="1" dirty="0"/>
              <a:t>2. </a:t>
            </a:r>
            <a:r>
              <a:rPr lang="en-US" b="1" dirty="0" err="1"/>
              <a:t>Dermatosis</a:t>
            </a:r>
            <a:r>
              <a:rPr lang="en-US" dirty="0"/>
              <a:t>- inflammation, swelling, ulcerations and itching can result from a tick bite; </a:t>
            </a:r>
          </a:p>
        </p:txBody>
      </p:sp>
    </p:spTree>
    <p:extLst>
      <p:ext uri="{BB962C8B-B14F-4D97-AF65-F5344CB8AC3E}">
        <p14:creationId xmlns:p14="http://schemas.microsoft.com/office/powerpoint/2010/main" val="2122304365"/>
      </p:ext>
    </p:extLst>
  </p:cSld>
  <p:clrMapOvr>
    <a:masterClrMapping/>
  </p:clrMapOvr>
</p:sld>
</file>

<file path=ppt/slides/slide8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TICKS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lvl="0">
              <a:buFont typeface="Wingdings" pitchFamily="2" charset="2"/>
              <a:buChar char="Ø"/>
            </a:pPr>
            <a:r>
              <a:rPr lang="en-US" dirty="0"/>
              <a:t>these reactions are often caused by pieces of mouthparts left in a bite wound (after a tick is forcibly removed), constituents of tick saliva</a:t>
            </a:r>
          </a:p>
          <a:p>
            <a:pPr lvl="0">
              <a:buFont typeface="Wingdings" pitchFamily="2" charset="2"/>
              <a:buChar char="Ø"/>
            </a:pPr>
            <a:r>
              <a:rPr lang="en-US" dirty="0"/>
              <a:t>and, secondary, bacterial infection  may also be involved.</a:t>
            </a:r>
          </a:p>
          <a:p>
            <a:pPr marL="0" indent="0">
              <a:buNone/>
            </a:pPr>
            <a:r>
              <a:rPr lang="en-US" b="1" dirty="0"/>
              <a:t>3. Paralysis-</a:t>
            </a:r>
            <a:r>
              <a:rPr lang="en-US" dirty="0"/>
              <a:t> a condition known as</a:t>
            </a:r>
            <a:r>
              <a:rPr lang="en-US" b="1" dirty="0"/>
              <a:t> tick paralysis</a:t>
            </a:r>
            <a:r>
              <a:rPr lang="en-US" dirty="0"/>
              <a:t> is common in humans, dogs, cattle, and other mammals when they are bitten near the base of their skull, this condition seems to result from toxic secretions of the tick and is quickly reversed when the tick is removed.</a:t>
            </a:r>
          </a:p>
          <a:p>
            <a:pPr marL="0" lvl="0" indent="0">
              <a:buNone/>
            </a:pPr>
            <a:endParaRPr lang="en-US" dirty="0"/>
          </a:p>
          <a:p>
            <a:endParaRPr lang="en-US" dirty="0"/>
          </a:p>
          <a:p>
            <a:endParaRPr lang="en-US" dirty="0"/>
          </a:p>
        </p:txBody>
      </p:sp>
    </p:spTree>
    <p:extLst>
      <p:ext uri="{BB962C8B-B14F-4D97-AF65-F5344CB8AC3E}">
        <p14:creationId xmlns:p14="http://schemas.microsoft.com/office/powerpoint/2010/main" val="138393809"/>
      </p:ext>
    </p:extLst>
  </p:cSld>
  <p:clrMapOvr>
    <a:masterClrMapping/>
  </p:clrMapOvr>
</p:sld>
</file>

<file path=ppt/slides/slide8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TICKS CONT’D</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0" lvl="0" indent="0">
              <a:buNone/>
            </a:pPr>
            <a:r>
              <a:rPr lang="en-US" b="1" dirty="0"/>
              <a:t>4. </a:t>
            </a:r>
            <a:r>
              <a:rPr lang="en-US" b="1" dirty="0" err="1"/>
              <a:t>Otoacariasis</a:t>
            </a:r>
            <a:r>
              <a:rPr lang="en-US" dirty="0"/>
              <a:t>-an infestation of the ear canal by ticks causing a serious irritation, sometimes accompanied by severe infection.</a:t>
            </a:r>
          </a:p>
          <a:p>
            <a:pPr marL="0" lvl="0" indent="0">
              <a:buNone/>
            </a:pPr>
            <a:r>
              <a:rPr lang="en-US" b="1" dirty="0"/>
              <a:t>5. Infections- </a:t>
            </a:r>
            <a:r>
              <a:rPr lang="en-US" dirty="0"/>
              <a:t>besides transmitting common pyogenic (pus-producing ) infections, ticks also transmit viruses, bacteria, </a:t>
            </a:r>
            <a:r>
              <a:rPr lang="en-US" dirty="0" err="1"/>
              <a:t>rickettsias</a:t>
            </a:r>
            <a:r>
              <a:rPr lang="en-US" dirty="0"/>
              <a:t>, spirochetes, protozoa and </a:t>
            </a:r>
            <a:r>
              <a:rPr lang="en-US" dirty="0" err="1"/>
              <a:t>filariae</a:t>
            </a:r>
            <a:r>
              <a:rPr lang="en-US" dirty="0"/>
              <a:t>.</a:t>
            </a:r>
          </a:p>
          <a:p>
            <a:pPr>
              <a:buFont typeface="Wingdings" pitchFamily="2" charset="2"/>
              <a:buChar char="v"/>
            </a:pPr>
            <a:r>
              <a:rPr lang="en-US" dirty="0"/>
              <a:t>Losses to the livestock industry in the US and Australia notably due to tick infestations and control efforts run into billions of dollars</a:t>
            </a:r>
          </a:p>
          <a:p>
            <a:pPr marL="0" indent="0">
              <a:buNone/>
            </a:pPr>
            <a:r>
              <a:rPr lang="en-US" dirty="0"/>
              <a:t> </a:t>
            </a:r>
          </a:p>
          <a:p>
            <a:endParaRPr lang="en-US" dirty="0"/>
          </a:p>
        </p:txBody>
      </p:sp>
    </p:spTree>
    <p:extLst>
      <p:ext uri="{BB962C8B-B14F-4D97-AF65-F5344CB8AC3E}">
        <p14:creationId xmlns:p14="http://schemas.microsoft.com/office/powerpoint/2010/main" val="402472034"/>
      </p:ext>
    </p:extLst>
  </p:cSld>
  <p:clrMapOvr>
    <a:masterClrMapping/>
  </p:clrMapOvr>
</p:sld>
</file>

<file path=ppt/slides/slide8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Biology of Ticks (Some Highlights only)</a:t>
            </a:r>
            <a:br>
              <a:rPr lang="en-US" dirty="0"/>
            </a:br>
            <a:endParaRPr lang="en-US" dirty="0"/>
          </a:p>
        </p:txBody>
      </p:sp>
      <p:sp>
        <p:nvSpPr>
          <p:cNvPr id="3" name="Content Placeholder 2"/>
          <p:cNvSpPr>
            <a:spLocks noGrp="1"/>
          </p:cNvSpPr>
          <p:nvPr>
            <p:ph idx="1"/>
          </p:nvPr>
        </p:nvSpPr>
        <p:spPr/>
        <p:txBody>
          <a:bodyPr>
            <a:normAutofit fontScale="92500"/>
          </a:bodyPr>
          <a:lstStyle/>
          <a:p>
            <a:r>
              <a:rPr lang="en-US" b="1" dirty="0"/>
              <a:t> </a:t>
            </a:r>
            <a:r>
              <a:rPr lang="en-US" dirty="0"/>
              <a:t>All ticks undergo four basic stages in their life cycles, namely, egg - larva – nymph – adult, all of which might take 6 weeks to 3 years to complete depending on certain factors..</a:t>
            </a:r>
          </a:p>
          <a:p>
            <a:pPr lvl="0"/>
            <a:r>
              <a:rPr lang="en-US" dirty="0"/>
              <a:t> </a:t>
            </a:r>
            <a:r>
              <a:rPr lang="en-US" dirty="0" err="1"/>
              <a:t>Ixodids</a:t>
            </a:r>
            <a:r>
              <a:rPr lang="en-US" dirty="0"/>
              <a:t> have only one </a:t>
            </a:r>
            <a:r>
              <a:rPr lang="en-US" dirty="0" err="1"/>
              <a:t>nymphal</a:t>
            </a:r>
            <a:r>
              <a:rPr lang="en-US" dirty="0"/>
              <a:t> instar but </a:t>
            </a:r>
            <a:r>
              <a:rPr lang="en-US" dirty="0" err="1"/>
              <a:t>argasids</a:t>
            </a:r>
            <a:r>
              <a:rPr lang="en-US" dirty="0"/>
              <a:t> have five; </a:t>
            </a:r>
          </a:p>
          <a:p>
            <a:pPr lvl="0"/>
            <a:r>
              <a:rPr lang="en-US" dirty="0"/>
              <a:t>copulation occurs on the host; a blood meal is usually required for egg production, but with some exceptions, and some are </a:t>
            </a:r>
            <a:r>
              <a:rPr lang="en-US" dirty="0" err="1"/>
              <a:t>parthenogenetic</a:t>
            </a:r>
            <a:endParaRPr lang="en-US" dirty="0"/>
          </a:p>
          <a:p>
            <a:endParaRPr lang="en-US" dirty="0"/>
          </a:p>
        </p:txBody>
      </p:sp>
    </p:spTree>
    <p:extLst>
      <p:ext uri="{BB962C8B-B14F-4D97-AF65-F5344CB8AC3E}">
        <p14:creationId xmlns:p14="http://schemas.microsoft.com/office/powerpoint/2010/main" val="1222660284"/>
      </p:ext>
    </p:extLst>
  </p:cSld>
  <p:clrMapOvr>
    <a:masterClrMapping/>
  </p:clrMapOvr>
</p:sld>
</file>

<file path=ppt/slides/slide8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Biology of Ticks (Some Highlights only) cont’d</a:t>
            </a:r>
            <a:br>
              <a:rPr lang="en-US" dirty="0"/>
            </a:br>
            <a:endParaRPr lang="en-US" dirty="0"/>
          </a:p>
        </p:txBody>
      </p:sp>
      <p:sp>
        <p:nvSpPr>
          <p:cNvPr id="3" name="Content Placeholder 2"/>
          <p:cNvSpPr>
            <a:spLocks noGrp="1"/>
          </p:cNvSpPr>
          <p:nvPr>
            <p:ph idx="1"/>
          </p:nvPr>
        </p:nvSpPr>
        <p:spPr/>
        <p:txBody>
          <a:bodyPr/>
          <a:lstStyle/>
          <a:p>
            <a:pPr lvl="0"/>
            <a:r>
              <a:rPr lang="en-US" dirty="0"/>
              <a:t>An engorged female drops to the ground from the host, and deposits eggs in the soil or humus.</a:t>
            </a:r>
          </a:p>
          <a:p>
            <a:pPr lvl="0"/>
            <a:r>
              <a:rPr lang="en-US" dirty="0"/>
              <a:t>A six-legged larva hatches from each of the 100 to 18,000 eggs and climbs onto a low vegetation to await a host, on which it feeds and </a:t>
            </a:r>
            <a:r>
              <a:rPr lang="en-US" dirty="0" err="1"/>
              <a:t>moults</a:t>
            </a:r>
            <a:r>
              <a:rPr lang="en-US" dirty="0"/>
              <a:t> to an eight-legged nymph</a:t>
            </a:r>
          </a:p>
          <a:p>
            <a:endParaRPr lang="en-US" dirty="0"/>
          </a:p>
        </p:txBody>
      </p:sp>
    </p:spTree>
    <p:extLst>
      <p:ext uri="{BB962C8B-B14F-4D97-AF65-F5344CB8AC3E}">
        <p14:creationId xmlns:p14="http://schemas.microsoft.com/office/powerpoint/2010/main" val="3232485161"/>
      </p:ext>
    </p:extLst>
  </p:cSld>
  <p:clrMapOvr>
    <a:masterClrMapping/>
  </p:clrMapOvr>
</p:sld>
</file>

<file path=ppt/slides/slide8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Biology of Ticks (Some Highlights only) cont’d</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err="1"/>
              <a:t>Moulting</a:t>
            </a:r>
            <a:r>
              <a:rPr lang="en-US" dirty="0"/>
              <a:t> through all instars may occur on one, two, three or many hosts giving rise to one-host, two-host, three-host ticks, etc.</a:t>
            </a:r>
          </a:p>
          <a:p>
            <a:pPr lvl="0"/>
            <a:r>
              <a:rPr lang="en-US" dirty="0"/>
              <a:t> Most </a:t>
            </a:r>
            <a:r>
              <a:rPr lang="en-US" dirty="0" err="1"/>
              <a:t>Ixodids</a:t>
            </a:r>
            <a:r>
              <a:rPr lang="en-US" dirty="0"/>
              <a:t> are three-host ticks whereas </a:t>
            </a:r>
            <a:r>
              <a:rPr lang="en-US" dirty="0" err="1"/>
              <a:t>argasids</a:t>
            </a:r>
            <a:r>
              <a:rPr lang="en-US" dirty="0"/>
              <a:t>, with their multiple </a:t>
            </a:r>
            <a:r>
              <a:rPr lang="en-US" dirty="0" err="1"/>
              <a:t>nymphal</a:t>
            </a:r>
            <a:r>
              <a:rPr lang="en-US" dirty="0"/>
              <a:t> stages are many-host ticks; some ticks are however, host-specific whilst most are opportunists that will feed on a variety of hosts.</a:t>
            </a:r>
          </a:p>
        </p:txBody>
      </p:sp>
    </p:spTree>
    <p:extLst>
      <p:ext uri="{BB962C8B-B14F-4D97-AF65-F5344CB8AC3E}">
        <p14:creationId xmlns:p14="http://schemas.microsoft.com/office/powerpoint/2010/main" val="3502667130"/>
      </p:ext>
    </p:extLst>
  </p:cSld>
  <p:clrMapOvr>
    <a:masterClrMapping/>
  </p:clrMapOvr>
</p:sld>
</file>

<file path=ppt/slides/slide8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Biology of Ticks (Some Highlights only) cont’d</a:t>
            </a:r>
            <a:br>
              <a:rPr lang="en-US" dirty="0"/>
            </a:br>
            <a:endParaRPr lang="en-US" dirty="0"/>
          </a:p>
        </p:txBody>
      </p:sp>
      <p:sp>
        <p:nvSpPr>
          <p:cNvPr id="3" name="Content Placeholder 2"/>
          <p:cNvSpPr>
            <a:spLocks noGrp="1"/>
          </p:cNvSpPr>
          <p:nvPr>
            <p:ph idx="1"/>
          </p:nvPr>
        </p:nvSpPr>
        <p:spPr/>
        <p:txBody>
          <a:bodyPr/>
          <a:lstStyle/>
          <a:p>
            <a:pPr lvl="0"/>
            <a:r>
              <a:rPr lang="en-US" dirty="0"/>
              <a:t>Ticks are hardy and can withstand periods of starvation as long as 16 years; some have a life-span of up to 21 years.</a:t>
            </a:r>
          </a:p>
          <a:p>
            <a:pPr lvl="0"/>
            <a:r>
              <a:rPr lang="en-US" dirty="0"/>
              <a:t>Two families of ticks are of medical importance, </a:t>
            </a:r>
            <a:r>
              <a:rPr lang="en-US" dirty="0" err="1"/>
              <a:t>viz</a:t>
            </a:r>
            <a:endParaRPr lang="en-US" dirty="0"/>
          </a:p>
          <a:p>
            <a:pPr marL="514350" lvl="0" indent="-514350">
              <a:buFont typeface="+mj-lt"/>
              <a:buAutoNum type="arabicPeriod"/>
            </a:pPr>
            <a:r>
              <a:rPr lang="en-US" dirty="0" err="1"/>
              <a:t>Argasidae</a:t>
            </a:r>
            <a:r>
              <a:rPr lang="en-US" dirty="0"/>
              <a:t> –soft ticks and </a:t>
            </a:r>
          </a:p>
          <a:p>
            <a:pPr marL="514350" lvl="0" indent="-514350">
              <a:buFont typeface="+mj-lt"/>
              <a:buAutoNum type="arabicPeriod"/>
            </a:pPr>
            <a:r>
              <a:rPr lang="en-US" dirty="0" err="1"/>
              <a:t>Ixodidae</a:t>
            </a:r>
            <a:r>
              <a:rPr lang="en-US" dirty="0"/>
              <a:t> – hard ticks</a:t>
            </a:r>
          </a:p>
          <a:p>
            <a:endParaRPr lang="en-US" dirty="0"/>
          </a:p>
          <a:p>
            <a:endParaRPr lang="en-US" dirty="0"/>
          </a:p>
        </p:txBody>
      </p:sp>
    </p:spTree>
    <p:extLst>
      <p:ext uri="{BB962C8B-B14F-4D97-AF65-F5344CB8AC3E}">
        <p14:creationId xmlns:p14="http://schemas.microsoft.com/office/powerpoint/2010/main" val="224151010"/>
      </p:ext>
    </p:extLst>
  </p:cSld>
  <p:clrMapOvr>
    <a:masterClrMapping/>
  </p:clrMapOvr>
</p:sld>
</file>

<file path=ppt/slides/slide8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br>
              <a:rPr lang="en-US" b="1" dirty="0"/>
            </a:br>
            <a:r>
              <a:rPr lang="en-US" b="1" dirty="0"/>
              <a:t>Family </a:t>
            </a:r>
            <a:r>
              <a:rPr lang="en-US" b="1" dirty="0" err="1"/>
              <a:t>Argasidae</a:t>
            </a:r>
            <a:r>
              <a:rPr lang="en-US" b="1" dirty="0"/>
              <a:t> (Soft Ticks)</a:t>
            </a:r>
            <a:br>
              <a:rPr lang="en-US" dirty="0"/>
            </a:br>
            <a:r>
              <a:rPr lang="en-US" b="1" dirty="0"/>
              <a:t> </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This contains five genera of  which the genus, </a:t>
            </a:r>
            <a:r>
              <a:rPr lang="en-US" b="1" i="1" dirty="0" err="1"/>
              <a:t>Ornithodoras</a:t>
            </a:r>
            <a:r>
              <a:rPr lang="en-US" dirty="0"/>
              <a:t> is  of great importance because the species </a:t>
            </a:r>
            <a:r>
              <a:rPr lang="en-US" b="1" i="1" dirty="0"/>
              <a:t>O. </a:t>
            </a:r>
            <a:r>
              <a:rPr lang="en-US" b="1" i="1" dirty="0" err="1"/>
              <a:t>moubata</a:t>
            </a:r>
            <a:r>
              <a:rPr lang="en-US" b="1" i="1" dirty="0"/>
              <a:t>  </a:t>
            </a:r>
            <a:r>
              <a:rPr lang="en-US" dirty="0"/>
              <a:t>sucks the blood of humans  </a:t>
            </a:r>
          </a:p>
          <a:p>
            <a:pPr lvl="0"/>
            <a:r>
              <a:rPr lang="en-US" dirty="0"/>
              <a:t>and can transmit the </a:t>
            </a:r>
            <a:r>
              <a:rPr lang="en-US" dirty="0" err="1"/>
              <a:t>borrreline</a:t>
            </a:r>
            <a:r>
              <a:rPr lang="en-US" dirty="0"/>
              <a:t> of Relapsing fever.</a:t>
            </a:r>
          </a:p>
          <a:p>
            <a:pPr lvl="0"/>
            <a:r>
              <a:rPr lang="en-US" dirty="0"/>
              <a:t>Once infected with </a:t>
            </a:r>
            <a:r>
              <a:rPr lang="en-US" b="1" i="1" dirty="0" err="1"/>
              <a:t>Borrelia</a:t>
            </a:r>
            <a:r>
              <a:rPr lang="en-US" b="1" i="1" dirty="0"/>
              <a:t> </a:t>
            </a:r>
            <a:r>
              <a:rPr lang="en-US" b="1" i="1" dirty="0" err="1"/>
              <a:t>duttoni</a:t>
            </a:r>
            <a:r>
              <a:rPr lang="en-US" dirty="0"/>
              <a:t>, a tick remains infected for life, and would transmit the </a:t>
            </a:r>
            <a:r>
              <a:rPr lang="en-US" dirty="0" err="1"/>
              <a:t>borreline</a:t>
            </a:r>
            <a:r>
              <a:rPr lang="en-US" dirty="0"/>
              <a:t> to new generations of ticks</a:t>
            </a:r>
          </a:p>
          <a:p>
            <a:endParaRPr lang="en-US" dirty="0"/>
          </a:p>
        </p:txBody>
      </p:sp>
    </p:spTree>
    <p:extLst>
      <p:ext uri="{BB962C8B-B14F-4D97-AF65-F5344CB8AC3E}">
        <p14:creationId xmlns:p14="http://schemas.microsoft.com/office/powerpoint/2010/main" val="642849115"/>
      </p:ext>
    </p:extLst>
  </p:cSld>
  <p:clrMapOvr>
    <a:masterClrMapping/>
  </p:clrMapOvr>
</p:sld>
</file>

<file path=ppt/slides/slide8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br>
              <a:rPr lang="en-US" b="1" dirty="0"/>
            </a:br>
            <a:r>
              <a:rPr lang="en-US" b="1" dirty="0"/>
              <a:t>Family </a:t>
            </a:r>
            <a:r>
              <a:rPr lang="en-US" b="1" dirty="0" err="1"/>
              <a:t>Argasidae</a:t>
            </a:r>
            <a:r>
              <a:rPr lang="en-US" b="1" dirty="0"/>
              <a:t> (Soft Ticks) cont’d</a:t>
            </a:r>
            <a:br>
              <a:rPr lang="en-US" dirty="0"/>
            </a:br>
            <a:r>
              <a:rPr lang="en-US" b="1" dirty="0"/>
              <a:t> </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Human infection occurs when the </a:t>
            </a:r>
            <a:r>
              <a:rPr lang="en-US" dirty="0" err="1"/>
              <a:t>borreline</a:t>
            </a:r>
            <a:r>
              <a:rPr lang="en-US" dirty="0"/>
              <a:t> are deposited on the skin in fluid from the </a:t>
            </a:r>
            <a:r>
              <a:rPr lang="en-US" dirty="0" err="1"/>
              <a:t>coxal</a:t>
            </a:r>
            <a:r>
              <a:rPr lang="en-US" dirty="0"/>
              <a:t> gland when the tick bites or, when the tick is crushed on the skin</a:t>
            </a:r>
          </a:p>
          <a:p>
            <a:pPr lvl="0"/>
            <a:r>
              <a:rPr lang="en-US" dirty="0"/>
              <a:t>They are </a:t>
            </a:r>
            <a:r>
              <a:rPr lang="en-US" dirty="0" err="1"/>
              <a:t>ectoparasitic</a:t>
            </a:r>
            <a:r>
              <a:rPr lang="en-US" dirty="0"/>
              <a:t> and can survive for long periods without a host; they survive best in dry climates</a:t>
            </a:r>
          </a:p>
          <a:p>
            <a:pPr lvl="0"/>
            <a:r>
              <a:rPr lang="en-US" dirty="0"/>
              <a:t>Life cycle takes 6-12 months and there are up to eight </a:t>
            </a:r>
            <a:r>
              <a:rPr lang="en-US" dirty="0" err="1"/>
              <a:t>nymphal</a:t>
            </a:r>
            <a:r>
              <a:rPr lang="en-US" dirty="0"/>
              <a:t> stages, all spent on one host; both sexes feed on blood</a:t>
            </a:r>
          </a:p>
          <a:p>
            <a:endParaRPr lang="en-US" dirty="0"/>
          </a:p>
        </p:txBody>
      </p:sp>
    </p:spTree>
    <p:extLst>
      <p:ext uri="{BB962C8B-B14F-4D97-AF65-F5344CB8AC3E}">
        <p14:creationId xmlns:p14="http://schemas.microsoft.com/office/powerpoint/2010/main" val="3707224626"/>
      </p:ext>
    </p:extLst>
  </p:cSld>
  <p:clrMapOvr>
    <a:masterClrMapping/>
  </p:clrMapOvr>
</p:sld>
</file>

<file path=ppt/slides/slide8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914400" y="152400"/>
            <a:ext cx="6629400" cy="6096000"/>
          </a:xfrm>
        </p:spPr>
      </p:pic>
    </p:spTree>
    <p:extLst>
      <p:ext uri="{BB962C8B-B14F-4D97-AF65-F5344CB8AC3E}">
        <p14:creationId xmlns:p14="http://schemas.microsoft.com/office/powerpoint/2010/main" val="1927758971"/>
      </p:ext>
    </p:extLst>
  </p:cSld>
  <p:clrMapOvr>
    <a:masterClrMapping/>
  </p:clrMapOvr>
</p:sld>
</file>

<file path=ppt/slides/slide8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br>
              <a:rPr lang="en-US" b="1" dirty="0"/>
            </a:br>
            <a:r>
              <a:rPr lang="en-US" b="1" dirty="0"/>
              <a:t>Family </a:t>
            </a:r>
            <a:r>
              <a:rPr lang="en-US" b="1" dirty="0" err="1"/>
              <a:t>Argasidae</a:t>
            </a:r>
            <a:r>
              <a:rPr lang="en-US" b="1" dirty="0"/>
              <a:t> (Soft Ticks) cont’d</a:t>
            </a:r>
            <a:br>
              <a:rPr lang="en-US" dirty="0"/>
            </a:br>
            <a:r>
              <a:rPr lang="en-US" b="1" dirty="0"/>
              <a:t> </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Generally, </a:t>
            </a:r>
            <a:r>
              <a:rPr lang="en-US" dirty="0" err="1"/>
              <a:t>argasid</a:t>
            </a:r>
            <a:r>
              <a:rPr lang="en-US" dirty="0"/>
              <a:t> ticks inhabit localities of extremely low relative humidity; those that occur in wet climate seek dry microhabitats in which to live.</a:t>
            </a:r>
          </a:p>
          <a:p>
            <a:pPr lvl="0"/>
            <a:r>
              <a:rPr lang="en-US" dirty="0"/>
              <a:t>Unlike </a:t>
            </a:r>
            <a:r>
              <a:rPr lang="en-US" dirty="0" err="1"/>
              <a:t>ixodid</a:t>
            </a:r>
            <a:r>
              <a:rPr lang="en-US" dirty="0"/>
              <a:t> ticks, </a:t>
            </a:r>
            <a:r>
              <a:rPr lang="en-US" dirty="0" err="1"/>
              <a:t>argasid</a:t>
            </a:r>
            <a:r>
              <a:rPr lang="en-US" dirty="0"/>
              <a:t> ticks feed repeatedly, resting away from a host between meals, </a:t>
            </a:r>
          </a:p>
          <a:p>
            <a:pPr lvl="0"/>
            <a:r>
              <a:rPr lang="en-US" dirty="0"/>
              <a:t>and hiding in loose soil, crevices, bird’s nests, etc.</a:t>
            </a:r>
          </a:p>
          <a:p>
            <a:endParaRPr lang="en-US" dirty="0"/>
          </a:p>
        </p:txBody>
      </p:sp>
    </p:spTree>
    <p:extLst>
      <p:ext uri="{BB962C8B-B14F-4D97-AF65-F5344CB8AC3E}">
        <p14:creationId xmlns:p14="http://schemas.microsoft.com/office/powerpoint/2010/main" val="1262335082"/>
      </p:ext>
    </p:extLst>
  </p:cSld>
  <p:clrMapOvr>
    <a:masterClrMapping/>
  </p:clrMapOvr>
</p:sld>
</file>

<file path=ppt/slides/slide8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br>
              <a:rPr lang="en-US" b="1" dirty="0"/>
            </a:br>
            <a:r>
              <a:rPr lang="en-US" b="1" dirty="0"/>
              <a:t>Family </a:t>
            </a:r>
            <a:r>
              <a:rPr lang="en-US" b="1" dirty="0" err="1"/>
              <a:t>Argasidae</a:t>
            </a:r>
            <a:r>
              <a:rPr lang="en-US" b="1" dirty="0"/>
              <a:t> (Soft Ticks) cont’d</a:t>
            </a:r>
            <a:br>
              <a:rPr lang="en-US" dirty="0"/>
            </a:br>
            <a:r>
              <a:rPr lang="en-US" b="1" dirty="0"/>
              <a:t> </a:t>
            </a:r>
            <a:br>
              <a:rPr lang="en-US" dirty="0"/>
            </a:br>
            <a:endParaRPr lang="en-US" dirty="0"/>
          </a:p>
        </p:txBody>
      </p:sp>
      <p:sp>
        <p:nvSpPr>
          <p:cNvPr id="3" name="Content Placeholder 2"/>
          <p:cNvSpPr>
            <a:spLocks noGrp="1"/>
          </p:cNvSpPr>
          <p:nvPr>
            <p:ph idx="1"/>
          </p:nvPr>
        </p:nvSpPr>
        <p:spPr/>
        <p:txBody>
          <a:bodyPr/>
          <a:lstStyle/>
          <a:p>
            <a:pPr lvl="0"/>
            <a:r>
              <a:rPr lang="en-US" dirty="0"/>
              <a:t>Adult females lay eggs in their hiding places several times between feedings; the total number of eggs laid is low, usually less than 500.</a:t>
            </a:r>
          </a:p>
          <a:p>
            <a:pPr lvl="0"/>
            <a:r>
              <a:rPr lang="en-US" dirty="0"/>
              <a:t>The species in the genus </a:t>
            </a:r>
            <a:r>
              <a:rPr lang="en-US" i="1" dirty="0" err="1"/>
              <a:t>Ornithodoros</a:t>
            </a:r>
            <a:r>
              <a:rPr lang="en-US" dirty="0"/>
              <a:t> are closely related and form a complex and all of them are important vectors of relapsing fever</a:t>
            </a:r>
          </a:p>
          <a:p>
            <a:endParaRPr lang="en-US" dirty="0"/>
          </a:p>
        </p:txBody>
      </p:sp>
    </p:spTree>
    <p:extLst>
      <p:ext uri="{BB962C8B-B14F-4D97-AF65-F5344CB8AC3E}">
        <p14:creationId xmlns:p14="http://schemas.microsoft.com/office/powerpoint/2010/main" val="2284455747"/>
      </p:ext>
    </p:extLst>
  </p:cSld>
  <p:clrMapOvr>
    <a:masterClrMapping/>
  </p:clrMapOvr>
</p:sld>
</file>

<file path=ppt/slides/slide8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br>
              <a:rPr lang="en-US" b="1" dirty="0"/>
            </a:br>
            <a:r>
              <a:rPr lang="en-US" b="1" dirty="0"/>
              <a:t>Family </a:t>
            </a:r>
            <a:r>
              <a:rPr lang="en-US" b="1" dirty="0" err="1"/>
              <a:t>Argasidae</a:t>
            </a:r>
            <a:r>
              <a:rPr lang="en-US" b="1" dirty="0"/>
              <a:t> (Soft Ticks) cont’d</a:t>
            </a:r>
            <a:br>
              <a:rPr lang="en-US" dirty="0"/>
            </a:br>
            <a:r>
              <a:rPr lang="en-US" b="1" dirty="0"/>
              <a:t> </a:t>
            </a:r>
            <a:br>
              <a:rPr lang="en-US" dirty="0"/>
            </a:br>
            <a:endParaRPr lang="en-US" dirty="0"/>
          </a:p>
        </p:txBody>
      </p:sp>
      <p:sp>
        <p:nvSpPr>
          <p:cNvPr id="3" name="Content Placeholder 2"/>
          <p:cNvSpPr>
            <a:spLocks noGrp="1"/>
          </p:cNvSpPr>
          <p:nvPr>
            <p:ph idx="1"/>
          </p:nvPr>
        </p:nvSpPr>
        <p:spPr/>
        <p:txBody>
          <a:bodyPr/>
          <a:lstStyle/>
          <a:p>
            <a:pPr lvl="0"/>
            <a:r>
              <a:rPr lang="en-US" b="1" i="1" dirty="0" err="1"/>
              <a:t>Ornithodoros</a:t>
            </a:r>
            <a:r>
              <a:rPr lang="en-US" i="1" dirty="0"/>
              <a:t> </a:t>
            </a:r>
            <a:r>
              <a:rPr lang="en-US" dirty="0"/>
              <a:t>ticks are thick, leathery and rounded, are over 100 species; </a:t>
            </a:r>
          </a:p>
          <a:p>
            <a:pPr lvl="0"/>
            <a:r>
              <a:rPr lang="en-US" dirty="0"/>
              <a:t>all parasitize mammals including bats but usually not birds or reptiles, although one species is reportedly been found on marine birds in N. America.</a:t>
            </a:r>
          </a:p>
          <a:p>
            <a:endParaRPr lang="en-US" dirty="0"/>
          </a:p>
        </p:txBody>
      </p:sp>
    </p:spTree>
    <p:extLst>
      <p:ext uri="{BB962C8B-B14F-4D97-AF65-F5344CB8AC3E}">
        <p14:creationId xmlns:p14="http://schemas.microsoft.com/office/powerpoint/2010/main" val="799129789"/>
      </p:ext>
    </p:extLst>
  </p:cSld>
  <p:clrMapOvr>
    <a:masterClrMapping/>
  </p:clrMapOvr>
</p:sld>
</file>

<file path=ppt/slides/slide8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Ixodidae</a:t>
            </a:r>
            <a:r>
              <a:rPr lang="en-US" b="1" dirty="0"/>
              <a:t> (Hard Ticks)</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r>
              <a:rPr lang="en-US" b="1" dirty="0"/>
              <a:t> </a:t>
            </a:r>
            <a:r>
              <a:rPr lang="en-US" dirty="0"/>
              <a:t>These are easily recognized by the terminal position of their </a:t>
            </a:r>
            <a:r>
              <a:rPr lang="en-US" dirty="0" err="1"/>
              <a:t>capitulum</a:t>
            </a:r>
            <a:r>
              <a:rPr lang="en-US" dirty="0"/>
              <a:t> (</a:t>
            </a:r>
            <a:r>
              <a:rPr lang="en-US" dirty="0" err="1"/>
              <a:t>gnathosoma</a:t>
            </a:r>
            <a:r>
              <a:rPr lang="en-US" dirty="0"/>
              <a:t> or the anterior region of the body which bears the mouthparts) which can be seen in dorsal view,</a:t>
            </a:r>
          </a:p>
          <a:p>
            <a:r>
              <a:rPr lang="en-US" dirty="0"/>
              <a:t> In contrast to that of soft ticks (</a:t>
            </a:r>
            <a:r>
              <a:rPr lang="en-US" dirty="0" err="1"/>
              <a:t>Argasidae</a:t>
            </a:r>
            <a:r>
              <a:rPr lang="en-US" dirty="0"/>
              <a:t>) which is </a:t>
            </a:r>
            <a:r>
              <a:rPr lang="en-US" dirty="0" err="1"/>
              <a:t>subterminal</a:t>
            </a:r>
            <a:r>
              <a:rPr lang="en-US" dirty="0"/>
              <a:t> and cannot be seen in dorsal view.</a:t>
            </a:r>
          </a:p>
          <a:p>
            <a:pPr lvl="0"/>
            <a:r>
              <a:rPr lang="en-US" dirty="0"/>
              <a:t>They have a hard dorsal covering and mouthparts which can be seen from above.</a:t>
            </a:r>
          </a:p>
          <a:p>
            <a:pPr lvl="0"/>
            <a:r>
              <a:rPr lang="en-US" dirty="0"/>
              <a:t>They may be dark or brightly </a:t>
            </a:r>
            <a:r>
              <a:rPr lang="en-US" dirty="0" err="1"/>
              <a:t>coloured</a:t>
            </a:r>
            <a:r>
              <a:rPr lang="en-US" dirty="0"/>
              <a:t> with metallic markings.</a:t>
            </a:r>
          </a:p>
        </p:txBody>
      </p:sp>
    </p:spTree>
    <p:extLst>
      <p:ext uri="{BB962C8B-B14F-4D97-AF65-F5344CB8AC3E}">
        <p14:creationId xmlns:p14="http://schemas.microsoft.com/office/powerpoint/2010/main" val="584517981"/>
      </p:ext>
    </p:extLst>
  </p:cSld>
  <p:clrMapOvr>
    <a:masterClrMapping/>
  </p:clrMapOvr>
</p:sld>
</file>

<file path=ppt/slides/slide8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Ixodidae</a:t>
            </a:r>
            <a:r>
              <a:rPr lang="en-US" b="1" dirty="0"/>
              <a:t> (Hard Ticks) cont’d</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There are three subfamilies: </a:t>
            </a:r>
            <a:r>
              <a:rPr lang="en-US" dirty="0" err="1"/>
              <a:t>Ixodinae</a:t>
            </a:r>
            <a:r>
              <a:rPr lang="en-US" dirty="0"/>
              <a:t> with a single genus</a:t>
            </a:r>
            <a:r>
              <a:rPr lang="en-US" i="1" dirty="0"/>
              <a:t>, </a:t>
            </a:r>
            <a:r>
              <a:rPr lang="en-US" i="1" dirty="0" err="1"/>
              <a:t>Ixodes</a:t>
            </a:r>
            <a:r>
              <a:rPr lang="en-US" dirty="0"/>
              <a:t>; </a:t>
            </a:r>
            <a:r>
              <a:rPr lang="en-US" dirty="0" err="1"/>
              <a:t>Amblyominae</a:t>
            </a:r>
            <a:r>
              <a:rPr lang="en-US" dirty="0"/>
              <a:t>, containing the genus </a:t>
            </a:r>
            <a:r>
              <a:rPr lang="en-US" b="1" i="1" dirty="0" err="1"/>
              <a:t>Amblyomma</a:t>
            </a:r>
            <a:r>
              <a:rPr lang="en-US" b="1" i="1" dirty="0"/>
              <a:t>, </a:t>
            </a:r>
            <a:r>
              <a:rPr lang="en-US" b="1" i="1" dirty="0" err="1"/>
              <a:t>Dermacentor</a:t>
            </a:r>
            <a:r>
              <a:rPr lang="en-US" b="1" dirty="0"/>
              <a:t> </a:t>
            </a:r>
          </a:p>
          <a:p>
            <a:pPr lvl="0"/>
            <a:r>
              <a:rPr lang="en-US" dirty="0"/>
              <a:t>and two others; and </a:t>
            </a:r>
            <a:r>
              <a:rPr lang="en-US" dirty="0" err="1"/>
              <a:t>Rhipicephalinae</a:t>
            </a:r>
            <a:r>
              <a:rPr lang="en-US" dirty="0"/>
              <a:t> containing five genera.</a:t>
            </a:r>
          </a:p>
          <a:p>
            <a:pPr lvl="0"/>
            <a:r>
              <a:rPr lang="en-US" dirty="0"/>
              <a:t>Among the hard ticks, the genera </a:t>
            </a:r>
            <a:r>
              <a:rPr lang="en-US" b="1" i="1" dirty="0" err="1"/>
              <a:t>Ixodes</a:t>
            </a:r>
            <a:r>
              <a:rPr lang="en-US" b="1" i="1" dirty="0"/>
              <a:t>, </a:t>
            </a:r>
            <a:r>
              <a:rPr lang="en-US" b="1" i="1" dirty="0" err="1"/>
              <a:t>Dermacentor</a:t>
            </a:r>
            <a:r>
              <a:rPr lang="en-US" b="1" dirty="0"/>
              <a:t> and </a:t>
            </a:r>
            <a:r>
              <a:rPr lang="en-US" b="1" i="1" dirty="0" err="1"/>
              <a:t>Amblyomma</a:t>
            </a:r>
            <a:r>
              <a:rPr lang="en-US" b="1" dirty="0"/>
              <a:t> </a:t>
            </a:r>
            <a:r>
              <a:rPr lang="en-US" dirty="0"/>
              <a:t>are medically important:</a:t>
            </a:r>
          </a:p>
        </p:txBody>
      </p:sp>
    </p:spTree>
    <p:extLst>
      <p:ext uri="{BB962C8B-B14F-4D97-AF65-F5344CB8AC3E}">
        <p14:creationId xmlns:p14="http://schemas.microsoft.com/office/powerpoint/2010/main" val="566125633"/>
      </p:ext>
    </p:extLst>
  </p:cSld>
  <p:clrMapOvr>
    <a:masterClrMapping/>
  </p:clrMapOvr>
</p:sld>
</file>

<file path=ppt/slides/slide8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Ixodidae</a:t>
            </a:r>
            <a:r>
              <a:rPr lang="en-US" b="1" dirty="0"/>
              <a:t> (Hard Ticks)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Both </a:t>
            </a:r>
            <a:r>
              <a:rPr lang="en-US" b="1" i="1" dirty="0" err="1"/>
              <a:t>Amblyomma</a:t>
            </a:r>
            <a:r>
              <a:rPr lang="en-US" b="1" dirty="0"/>
              <a:t> </a:t>
            </a:r>
            <a:r>
              <a:rPr lang="en-US" dirty="0"/>
              <a:t>and </a:t>
            </a:r>
            <a:r>
              <a:rPr lang="en-US" b="1" i="1" dirty="0" err="1"/>
              <a:t>Dermacentor</a:t>
            </a:r>
            <a:r>
              <a:rPr lang="en-US" dirty="0"/>
              <a:t> transmit tick-borne typhus</a:t>
            </a:r>
          </a:p>
          <a:p>
            <a:pPr lvl="0">
              <a:buFont typeface="Wingdings" pitchFamily="2" charset="2"/>
              <a:buChar char="Ø"/>
            </a:pPr>
            <a:r>
              <a:rPr lang="en-US" b="1" i="1" dirty="0" err="1"/>
              <a:t>Dermacentor</a:t>
            </a:r>
            <a:r>
              <a:rPr lang="en-US" dirty="0"/>
              <a:t> ticks transmit tick-borne encephalitis.</a:t>
            </a:r>
          </a:p>
          <a:p>
            <a:pPr>
              <a:buFont typeface="Wingdings" pitchFamily="2" charset="2"/>
              <a:buChar char="Ø"/>
            </a:pPr>
            <a:r>
              <a:rPr lang="en-US" i="1" dirty="0" err="1"/>
              <a:t>Ixodes</a:t>
            </a:r>
            <a:r>
              <a:rPr lang="en-US" dirty="0"/>
              <a:t> ticks are vectors of Lyme disease caused by the </a:t>
            </a:r>
            <a:r>
              <a:rPr lang="en-US" dirty="0" err="1"/>
              <a:t>spirochaete</a:t>
            </a:r>
            <a:r>
              <a:rPr lang="en-US" dirty="0"/>
              <a:t> </a:t>
            </a:r>
            <a:r>
              <a:rPr lang="en-US" b="1" i="1" dirty="0" err="1"/>
              <a:t>Borrelia</a:t>
            </a:r>
            <a:r>
              <a:rPr lang="en-US" b="1" i="1" dirty="0"/>
              <a:t> </a:t>
            </a:r>
            <a:r>
              <a:rPr lang="en-US" b="1" i="1" dirty="0" err="1"/>
              <a:t>burgdorteri</a:t>
            </a:r>
            <a:endParaRPr lang="en-US" b="1" dirty="0"/>
          </a:p>
          <a:p>
            <a:endParaRPr lang="en-US" dirty="0"/>
          </a:p>
        </p:txBody>
      </p:sp>
    </p:spTree>
    <p:extLst>
      <p:ext uri="{BB962C8B-B14F-4D97-AF65-F5344CB8AC3E}">
        <p14:creationId xmlns:p14="http://schemas.microsoft.com/office/powerpoint/2010/main" val="1452172775"/>
      </p:ext>
    </p:extLst>
  </p:cSld>
  <p:clrMapOvr>
    <a:masterClrMapping/>
  </p:clrMapOvr>
</p:sld>
</file>

<file path=ppt/slides/slide8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Ixodidae</a:t>
            </a:r>
            <a:r>
              <a:rPr lang="en-US" b="1" dirty="0"/>
              <a:t> (Hard Ticks)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Hard ticks parasitize humans and animals, with both sexes feeding on blood</a:t>
            </a:r>
          </a:p>
          <a:p>
            <a:pPr lvl="0"/>
            <a:r>
              <a:rPr lang="en-US" dirty="0"/>
              <a:t>Eggs are laid in a single batch after which the female dies</a:t>
            </a:r>
          </a:p>
          <a:p>
            <a:pPr lvl="0"/>
            <a:r>
              <a:rPr lang="en-US" dirty="0"/>
              <a:t>There is only one larval and one </a:t>
            </a:r>
            <a:r>
              <a:rPr lang="en-US" dirty="0" err="1"/>
              <a:t>nymphal</a:t>
            </a:r>
            <a:r>
              <a:rPr lang="en-US" dirty="0"/>
              <a:t> stage from which the adult emerges; </a:t>
            </a:r>
          </a:p>
          <a:p>
            <a:pPr lvl="0"/>
            <a:r>
              <a:rPr lang="en-US" dirty="0"/>
              <a:t>each stage of development may be spent on a different host; a blood meal is required for each stage.</a:t>
            </a:r>
          </a:p>
          <a:p>
            <a:endParaRPr lang="en-US" dirty="0"/>
          </a:p>
        </p:txBody>
      </p:sp>
    </p:spTree>
    <p:extLst>
      <p:ext uri="{BB962C8B-B14F-4D97-AF65-F5344CB8AC3E}">
        <p14:creationId xmlns:p14="http://schemas.microsoft.com/office/powerpoint/2010/main" val="3797455874"/>
      </p:ext>
    </p:extLst>
  </p:cSld>
  <p:clrMapOvr>
    <a:masterClrMapping/>
  </p:clrMapOvr>
</p:sld>
</file>

<file path=ppt/slides/slide8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Ixodes</a:t>
            </a:r>
            <a:r>
              <a:rPr lang="en-US" b="1" i="1" dirty="0"/>
              <a:t> sp.</a:t>
            </a:r>
            <a:br>
              <a:rPr lang="en-US" dirty="0"/>
            </a:br>
            <a:endParaRPr lang="en-US" dirty="0"/>
          </a:p>
        </p:txBody>
      </p:sp>
      <p:sp>
        <p:nvSpPr>
          <p:cNvPr id="3" name="Content Placeholder 2"/>
          <p:cNvSpPr>
            <a:spLocks noGrp="1"/>
          </p:cNvSpPr>
          <p:nvPr>
            <p:ph idx="1"/>
          </p:nvPr>
        </p:nvSpPr>
        <p:spPr/>
        <p:txBody>
          <a:bodyPr/>
          <a:lstStyle/>
          <a:p>
            <a:pPr lvl="0"/>
            <a:r>
              <a:rPr lang="en-US" dirty="0"/>
              <a:t>The largest genus of hard ticks, with over200 species, most of which </a:t>
            </a:r>
            <a:r>
              <a:rPr lang="en-US" dirty="0" err="1"/>
              <a:t>parsitize</a:t>
            </a:r>
            <a:r>
              <a:rPr lang="en-US" dirty="0"/>
              <a:t> small mammals, they being small themselves</a:t>
            </a:r>
          </a:p>
          <a:p>
            <a:pPr lvl="0"/>
            <a:r>
              <a:rPr lang="en-US" dirty="0"/>
              <a:t>Lyme disease which </a:t>
            </a:r>
            <a:r>
              <a:rPr lang="en-US" dirty="0" err="1"/>
              <a:t>Ixodes</a:t>
            </a:r>
            <a:r>
              <a:rPr lang="en-US" dirty="0"/>
              <a:t> transmit is named after the town, old Lyme in Connecticut, USA, where an epidemic of arthritis occurred in the mid-1970s:</a:t>
            </a:r>
          </a:p>
          <a:p>
            <a:endParaRPr lang="en-US" dirty="0"/>
          </a:p>
        </p:txBody>
      </p:sp>
    </p:spTree>
    <p:extLst>
      <p:ext uri="{BB962C8B-B14F-4D97-AF65-F5344CB8AC3E}">
        <p14:creationId xmlns:p14="http://schemas.microsoft.com/office/powerpoint/2010/main" val="513618712"/>
      </p:ext>
    </p:extLst>
  </p:cSld>
  <p:clrMapOvr>
    <a:masterClrMapping/>
  </p:clrMapOvr>
</p:sld>
</file>

<file path=ppt/slides/slide8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Ixodes</a:t>
            </a:r>
            <a:r>
              <a:rPr lang="en-US" b="1" i="1" dirty="0"/>
              <a:t> sp.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Many of those afflicted noticed a skin erythema (red swelling and rash) at the site of a tick bite prior to the onset of joint pains</a:t>
            </a:r>
          </a:p>
          <a:p>
            <a:pPr lvl="0">
              <a:buFont typeface="Wingdings" pitchFamily="2" charset="2"/>
              <a:buChar char="Ø"/>
            </a:pPr>
            <a:r>
              <a:rPr lang="en-US" dirty="0"/>
              <a:t>The rash sometimes </a:t>
            </a:r>
            <a:r>
              <a:rPr lang="en-US" dirty="0" err="1"/>
              <a:t>spread,and</a:t>
            </a:r>
            <a:r>
              <a:rPr lang="en-US" dirty="0"/>
              <a:t> was often accompanied by fever and headaches</a:t>
            </a:r>
          </a:p>
          <a:p>
            <a:pPr lvl="0">
              <a:buFont typeface="Wingdings" pitchFamily="2" charset="2"/>
              <a:buChar char="Ø"/>
            </a:pPr>
            <a:r>
              <a:rPr lang="en-US" dirty="0"/>
              <a:t>It is now known that neurological symptoms, facial, paralysis, meningitis, and occasionally cardiac disease occur in some cases.</a:t>
            </a:r>
          </a:p>
          <a:p>
            <a:endParaRPr lang="en-US" dirty="0"/>
          </a:p>
        </p:txBody>
      </p:sp>
    </p:spTree>
    <p:extLst>
      <p:ext uri="{BB962C8B-B14F-4D97-AF65-F5344CB8AC3E}">
        <p14:creationId xmlns:p14="http://schemas.microsoft.com/office/powerpoint/2010/main" val="47817503"/>
      </p:ext>
    </p:extLst>
  </p:cSld>
  <p:clrMapOvr>
    <a:masterClrMapping/>
  </p:clrMapOvr>
</p:sld>
</file>

<file path=ppt/slides/slide8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Ixodes</a:t>
            </a:r>
            <a:r>
              <a:rPr lang="en-US" b="1" i="1" dirty="0"/>
              <a:t> sp. cont’d</a:t>
            </a:r>
            <a:br>
              <a:rPr lang="en-US" dirty="0"/>
            </a:br>
            <a:endParaRPr lang="en-US" dirty="0"/>
          </a:p>
        </p:txBody>
      </p:sp>
      <p:sp>
        <p:nvSpPr>
          <p:cNvPr id="3" name="Content Placeholder 2"/>
          <p:cNvSpPr>
            <a:spLocks noGrp="1"/>
          </p:cNvSpPr>
          <p:nvPr>
            <p:ph idx="1"/>
          </p:nvPr>
        </p:nvSpPr>
        <p:spPr/>
        <p:txBody>
          <a:bodyPr>
            <a:normAutofit/>
          </a:bodyPr>
          <a:lstStyle/>
          <a:p>
            <a:r>
              <a:rPr lang="en-US" dirty="0"/>
              <a:t>Half of all arthropod-transmitted infections in the US are with </a:t>
            </a:r>
            <a:r>
              <a:rPr lang="en-US" i="1" dirty="0" err="1"/>
              <a:t>Borrelia</a:t>
            </a:r>
            <a:r>
              <a:rPr lang="en-US" i="1" dirty="0"/>
              <a:t> </a:t>
            </a:r>
            <a:r>
              <a:rPr lang="en-US" i="1" dirty="0" err="1"/>
              <a:t>burgdorferi</a:t>
            </a:r>
            <a:r>
              <a:rPr lang="en-US" dirty="0"/>
              <a:t>, making it the country’s leading arthropod-borne disease.</a:t>
            </a:r>
          </a:p>
          <a:p>
            <a:pPr lvl="0"/>
            <a:r>
              <a:rPr lang="en-US" dirty="0"/>
              <a:t>Lyme disease is a classic zoonosis (because of unselective feeding habits of the tick, especially </a:t>
            </a:r>
            <a:r>
              <a:rPr lang="en-US" dirty="0" err="1"/>
              <a:t>nymphal</a:t>
            </a:r>
            <a:r>
              <a:rPr lang="en-US" dirty="0"/>
              <a:t> stages.</a:t>
            </a:r>
          </a:p>
        </p:txBody>
      </p:sp>
    </p:spTree>
    <p:extLst>
      <p:ext uri="{BB962C8B-B14F-4D97-AF65-F5344CB8AC3E}">
        <p14:creationId xmlns:p14="http://schemas.microsoft.com/office/powerpoint/2010/main" val="381864400"/>
      </p:ext>
    </p:extLst>
  </p:cSld>
  <p:clrMapOvr>
    <a:masterClrMapping/>
  </p:clrMapOvr>
</p:sld>
</file>

<file path=ppt/slides/slide8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Ixodes</a:t>
            </a:r>
            <a:r>
              <a:rPr lang="en-US" b="1" i="1" dirty="0"/>
              <a:t> sp. cont’d</a:t>
            </a:r>
            <a:br>
              <a:rPr lang="en-US" dirty="0"/>
            </a:br>
            <a:endParaRPr lang="en-US" dirty="0"/>
          </a:p>
        </p:txBody>
      </p:sp>
      <p:sp>
        <p:nvSpPr>
          <p:cNvPr id="3" name="Content Placeholder 2"/>
          <p:cNvSpPr>
            <a:spLocks noGrp="1"/>
          </p:cNvSpPr>
          <p:nvPr>
            <p:ph idx="1"/>
          </p:nvPr>
        </p:nvSpPr>
        <p:spPr/>
        <p:txBody>
          <a:bodyPr/>
          <a:lstStyle/>
          <a:p>
            <a:pPr lvl="0"/>
            <a:r>
              <a:rPr lang="en-US" dirty="0"/>
              <a:t>and participation of rodent and deer reservoirs, as well as cats, raccoons, opossums, chickens, lizards, all serving as hosts) in which landscape characteristics and human activities all play major roles in transmission.</a:t>
            </a:r>
          </a:p>
          <a:p>
            <a:endParaRPr lang="en-US" dirty="0"/>
          </a:p>
        </p:txBody>
      </p:sp>
    </p:spTree>
    <p:extLst>
      <p:ext uri="{BB962C8B-B14F-4D97-AF65-F5344CB8AC3E}">
        <p14:creationId xmlns:p14="http://schemas.microsoft.com/office/powerpoint/2010/main" val="4026470482"/>
      </p:ext>
    </p:extLst>
  </p:cSld>
  <p:clrMapOvr>
    <a:masterClrMapping/>
  </p:clrMapOvr>
</p:sld>
</file>

<file path=ppt/slides/slide8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Amblyomma</a:t>
            </a:r>
            <a:r>
              <a:rPr lang="en-US" b="1" i="1" dirty="0"/>
              <a:t> sp.</a:t>
            </a:r>
            <a:br>
              <a:rPr lang="en-US" dirty="0"/>
            </a:br>
            <a:endParaRPr lang="en-US" dirty="0"/>
          </a:p>
        </p:txBody>
      </p:sp>
      <p:sp>
        <p:nvSpPr>
          <p:cNvPr id="3" name="Content Placeholder 2"/>
          <p:cNvSpPr>
            <a:spLocks noGrp="1"/>
          </p:cNvSpPr>
          <p:nvPr>
            <p:ph idx="1"/>
          </p:nvPr>
        </p:nvSpPr>
        <p:spPr/>
        <p:txBody>
          <a:bodyPr>
            <a:normAutofit/>
          </a:bodyPr>
          <a:lstStyle/>
          <a:p>
            <a:pPr lvl="0"/>
            <a:r>
              <a:rPr lang="en-US" dirty="0"/>
              <a:t>The about 100 species in this genus are restricted to the tropics though </a:t>
            </a:r>
            <a:r>
              <a:rPr lang="en-US" i="1" dirty="0"/>
              <a:t>A. </a:t>
            </a:r>
            <a:r>
              <a:rPr lang="en-US" i="1" dirty="0" err="1"/>
              <a:t>americanum</a:t>
            </a:r>
            <a:r>
              <a:rPr lang="en-US" dirty="0"/>
              <a:t> occurs in temperate N. America and Canada</a:t>
            </a:r>
          </a:p>
          <a:p>
            <a:pPr lvl="0"/>
            <a:r>
              <a:rPr lang="en-US" dirty="0"/>
              <a:t>Larvae and  nymphs are common in birds although adults usually feed only on large animals; all three stages, however, readily bite humans which is unusual among hard ticks.</a:t>
            </a:r>
          </a:p>
          <a:p>
            <a:endParaRPr lang="en-US" dirty="0"/>
          </a:p>
        </p:txBody>
      </p:sp>
    </p:spTree>
    <p:extLst>
      <p:ext uri="{BB962C8B-B14F-4D97-AF65-F5344CB8AC3E}">
        <p14:creationId xmlns:p14="http://schemas.microsoft.com/office/powerpoint/2010/main" val="2969283166"/>
      </p:ext>
    </p:extLst>
  </p:cSld>
  <p:clrMapOvr>
    <a:masterClrMapping/>
  </p:clrMapOvr>
</p:sld>
</file>

<file path=ppt/slides/slide8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Dermacentor</a:t>
            </a:r>
            <a:r>
              <a:rPr lang="en-US" b="1" i="1" dirty="0"/>
              <a:t> sp.</a:t>
            </a:r>
            <a:br>
              <a:rPr lang="en-US" dirty="0"/>
            </a:br>
            <a:endParaRPr lang="en-US" dirty="0"/>
          </a:p>
        </p:txBody>
      </p:sp>
      <p:sp>
        <p:nvSpPr>
          <p:cNvPr id="3" name="Content Placeholder 2"/>
          <p:cNvSpPr>
            <a:spLocks noGrp="1"/>
          </p:cNvSpPr>
          <p:nvPr>
            <p:ph idx="1"/>
          </p:nvPr>
        </p:nvSpPr>
        <p:spPr/>
        <p:txBody>
          <a:bodyPr>
            <a:normAutofit fontScale="92500"/>
          </a:bodyPr>
          <a:lstStyle/>
          <a:p>
            <a:pPr lvl="0"/>
            <a:r>
              <a:rPr lang="en-US" dirty="0"/>
              <a:t>The genus contains about 30 species which are among the most medically important of all ticks.</a:t>
            </a:r>
          </a:p>
          <a:p>
            <a:pPr lvl="0"/>
            <a:r>
              <a:rPr lang="en-US" dirty="0"/>
              <a:t>Larvae feed on small mammals whilst the adults feed on small mammals but prefer larger </a:t>
            </a:r>
            <a:r>
              <a:rPr lang="en-US" dirty="0" err="1"/>
              <a:t>gosts</a:t>
            </a:r>
            <a:r>
              <a:rPr lang="en-US" dirty="0"/>
              <a:t> such as </a:t>
            </a:r>
            <a:r>
              <a:rPr lang="en-US" dirty="0" err="1"/>
              <a:t>deer,sheep</a:t>
            </a:r>
            <a:r>
              <a:rPr lang="en-US" dirty="0"/>
              <a:t>, cattle, coyotes and humans</a:t>
            </a:r>
          </a:p>
          <a:p>
            <a:pPr lvl="0"/>
            <a:r>
              <a:rPr lang="en-US" dirty="0"/>
              <a:t>Life cycles range up to a year when hosts are available, or up to three years when hosts are plentiful; all stages can survive about a year without feeding</a:t>
            </a:r>
          </a:p>
        </p:txBody>
      </p:sp>
    </p:spTree>
    <p:extLst>
      <p:ext uri="{BB962C8B-B14F-4D97-AF65-F5344CB8AC3E}">
        <p14:creationId xmlns:p14="http://schemas.microsoft.com/office/powerpoint/2010/main" val="1388951630"/>
      </p:ext>
    </p:extLst>
  </p:cSld>
  <p:clrMapOvr>
    <a:masterClrMapping/>
  </p:clrMapOvr>
</p:sld>
</file>

<file path=ppt/slides/slide8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r>
              <a:rPr lang="en-US" b="1" i="1" dirty="0" err="1"/>
              <a:t>Dermacentor</a:t>
            </a:r>
            <a:r>
              <a:rPr lang="en-US" b="1" i="1" dirty="0"/>
              <a:t> sp. cont’d</a:t>
            </a:r>
            <a:br>
              <a:rPr lang="en-US" dirty="0"/>
            </a:br>
            <a:endParaRPr lang="en-US" dirty="0"/>
          </a:p>
        </p:txBody>
      </p:sp>
      <p:sp>
        <p:nvSpPr>
          <p:cNvPr id="3" name="Content Placeholder 2"/>
          <p:cNvSpPr>
            <a:spLocks noGrp="1"/>
          </p:cNvSpPr>
          <p:nvPr>
            <p:ph idx="1"/>
          </p:nvPr>
        </p:nvSpPr>
        <p:spPr/>
        <p:txBody>
          <a:bodyPr/>
          <a:lstStyle/>
          <a:p>
            <a:pPr lvl="0"/>
            <a:r>
              <a:rPr lang="en-US" i="1" dirty="0"/>
              <a:t>D. </a:t>
            </a:r>
            <a:r>
              <a:rPr lang="en-US" i="1" dirty="0" err="1"/>
              <a:t>andersoni</a:t>
            </a:r>
            <a:r>
              <a:rPr lang="en-US" i="1" dirty="0"/>
              <a:t> </a:t>
            </a:r>
            <a:r>
              <a:rPr lang="en-US" dirty="0"/>
              <a:t> is a vector for several diseases of humans, including tick paralysis, </a:t>
            </a:r>
            <a:r>
              <a:rPr lang="en-US" dirty="0" err="1"/>
              <a:t>powassan</a:t>
            </a:r>
            <a:r>
              <a:rPr lang="en-US" dirty="0"/>
              <a:t> encephalitis virus, </a:t>
            </a:r>
            <a:r>
              <a:rPr lang="en-US" dirty="0" err="1"/>
              <a:t>tularaemia</a:t>
            </a:r>
            <a:r>
              <a:rPr lang="en-US" dirty="0"/>
              <a:t>, etc. etc.</a:t>
            </a:r>
          </a:p>
          <a:p>
            <a:pPr lvl="0"/>
            <a:r>
              <a:rPr lang="en-US" dirty="0"/>
              <a:t>Other species of </a:t>
            </a:r>
            <a:r>
              <a:rPr lang="en-US" i="1" dirty="0" err="1"/>
              <a:t>Dermacentor</a:t>
            </a:r>
            <a:r>
              <a:rPr lang="en-US" dirty="0"/>
              <a:t> are vectors  </a:t>
            </a:r>
            <a:r>
              <a:rPr lang="en-US" dirty="0" err="1"/>
              <a:t>ofseveral</a:t>
            </a:r>
            <a:r>
              <a:rPr lang="en-US" dirty="0"/>
              <a:t> diseases caused by viruses and </a:t>
            </a:r>
            <a:r>
              <a:rPr lang="en-US" dirty="0" err="1"/>
              <a:t>rickettsias</a:t>
            </a:r>
            <a:r>
              <a:rPr lang="en-US" dirty="0"/>
              <a:t>.</a:t>
            </a:r>
          </a:p>
          <a:p>
            <a:endParaRPr lang="en-US" dirty="0"/>
          </a:p>
          <a:p>
            <a:pPr marL="0" indent="0">
              <a:buNone/>
            </a:pPr>
            <a:endParaRPr lang="en-US" dirty="0"/>
          </a:p>
        </p:txBody>
      </p:sp>
    </p:spTree>
    <p:extLst>
      <p:ext uri="{BB962C8B-B14F-4D97-AF65-F5344CB8AC3E}">
        <p14:creationId xmlns:p14="http://schemas.microsoft.com/office/powerpoint/2010/main" val="3336281561"/>
      </p:ext>
    </p:extLst>
  </p:cSld>
  <p:clrMapOvr>
    <a:masterClrMapping/>
  </p:clrMapOvr>
</p:sld>
</file>

<file path=ppt/slides/slide8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Immunity to Ticks</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Mammals can develop resistance to hard ticks; some strains of host species are naturally more resistant than others.</a:t>
            </a:r>
          </a:p>
          <a:p>
            <a:pPr lvl="0"/>
            <a:r>
              <a:rPr lang="en-US" dirty="0"/>
              <a:t>Acquired resistance, often, is manifested as failure of the parasite, especially, larvae and nymphs to engorge fully.</a:t>
            </a:r>
          </a:p>
          <a:p>
            <a:pPr lvl="0"/>
            <a:r>
              <a:rPr lang="en-US" dirty="0"/>
              <a:t>Antigens responsible for these immune reactions are of </a:t>
            </a:r>
            <a:r>
              <a:rPr lang="en-US" dirty="0" err="1"/>
              <a:t>bothsalivarygland</a:t>
            </a:r>
            <a:r>
              <a:rPr lang="en-US" dirty="0"/>
              <a:t> and gut origin.</a:t>
            </a:r>
          </a:p>
          <a:p>
            <a:endParaRPr lang="en-US" dirty="0"/>
          </a:p>
        </p:txBody>
      </p:sp>
    </p:spTree>
    <p:extLst>
      <p:ext uri="{BB962C8B-B14F-4D97-AF65-F5344CB8AC3E}">
        <p14:creationId xmlns:p14="http://schemas.microsoft.com/office/powerpoint/2010/main" val="2077844544"/>
      </p:ext>
    </p:extLst>
  </p:cSld>
  <p:clrMapOvr>
    <a:masterClrMapping/>
  </p:clrMapOvr>
</p:sld>
</file>

<file path=ppt/slides/slide8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MITES</a:t>
            </a:r>
            <a:br>
              <a:rPr lang="en-US" dirty="0"/>
            </a:br>
            <a:endParaRPr lang="en-US" dirty="0"/>
          </a:p>
        </p:txBody>
      </p:sp>
      <p:sp>
        <p:nvSpPr>
          <p:cNvPr id="3" name="Content Placeholder 2"/>
          <p:cNvSpPr>
            <a:spLocks noGrp="1"/>
          </p:cNvSpPr>
          <p:nvPr>
            <p:ph idx="1"/>
          </p:nvPr>
        </p:nvSpPr>
        <p:spPr/>
        <p:txBody>
          <a:bodyPr>
            <a:normAutofit fontScale="92500"/>
          </a:bodyPr>
          <a:lstStyle/>
          <a:p>
            <a:pPr lvl="0"/>
            <a:r>
              <a:rPr lang="en-US" dirty="0"/>
              <a:t>Mites also belong to the suborder </a:t>
            </a:r>
            <a:r>
              <a:rPr lang="en-US" dirty="0" err="1"/>
              <a:t>Acarina</a:t>
            </a:r>
            <a:r>
              <a:rPr lang="en-US" dirty="0"/>
              <a:t> of the class </a:t>
            </a:r>
            <a:r>
              <a:rPr lang="en-US" dirty="0" err="1"/>
              <a:t>Arachnida</a:t>
            </a:r>
            <a:r>
              <a:rPr lang="en-US" dirty="0"/>
              <a:t>, and Order </a:t>
            </a:r>
            <a:r>
              <a:rPr lang="en-US" dirty="0" err="1"/>
              <a:t>Prostigmata</a:t>
            </a:r>
            <a:r>
              <a:rPr lang="en-US" dirty="0"/>
              <a:t>.</a:t>
            </a:r>
          </a:p>
          <a:p>
            <a:pPr lvl="0"/>
            <a:r>
              <a:rPr lang="en-US" dirty="0"/>
              <a:t>The genus </a:t>
            </a:r>
            <a:r>
              <a:rPr lang="en-US" dirty="0" err="1"/>
              <a:t>Trombicula</a:t>
            </a:r>
            <a:r>
              <a:rPr lang="en-US" dirty="0"/>
              <a:t> of the Family </a:t>
            </a:r>
            <a:r>
              <a:rPr lang="en-US" dirty="0" err="1"/>
              <a:t>Trombiculidae</a:t>
            </a:r>
            <a:r>
              <a:rPr lang="en-US" dirty="0"/>
              <a:t> is of medical importance; the Family contains </a:t>
            </a:r>
            <a:r>
              <a:rPr lang="en-US" dirty="0" err="1"/>
              <a:t>Chjigger</a:t>
            </a:r>
            <a:r>
              <a:rPr lang="en-US" dirty="0"/>
              <a:t> mites which are common in tropical and temperate countries.</a:t>
            </a:r>
          </a:p>
          <a:p>
            <a:pPr lvl="0"/>
            <a:r>
              <a:rPr lang="en-US" dirty="0"/>
              <a:t>Members of the Family  are unique among mites that attack humans in that only the larval stage is parasitic; nymphs and adults are predators.</a:t>
            </a:r>
          </a:p>
          <a:p>
            <a:endParaRPr lang="en-US" dirty="0"/>
          </a:p>
        </p:txBody>
      </p:sp>
    </p:spTree>
    <p:extLst>
      <p:ext uri="{BB962C8B-B14F-4D97-AF65-F5344CB8AC3E}">
        <p14:creationId xmlns:p14="http://schemas.microsoft.com/office/powerpoint/2010/main" val="3788864667"/>
      </p:ext>
    </p:extLst>
  </p:cSld>
  <p:clrMapOvr>
    <a:masterClrMapping/>
  </p:clrMapOvr>
</p:sld>
</file>

<file path=ppt/slides/slide8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MITES CONT’D</a:t>
            </a:r>
            <a:br>
              <a:rPr lang="en-US" dirty="0"/>
            </a:br>
            <a:endParaRPr lang="en-US" dirty="0"/>
          </a:p>
        </p:txBody>
      </p:sp>
      <p:sp>
        <p:nvSpPr>
          <p:cNvPr id="3" name="Content Placeholder 2"/>
          <p:cNvSpPr>
            <a:spLocks noGrp="1"/>
          </p:cNvSpPr>
          <p:nvPr>
            <p:ph idx="1"/>
          </p:nvPr>
        </p:nvSpPr>
        <p:spPr/>
        <p:txBody>
          <a:bodyPr/>
          <a:lstStyle/>
          <a:p>
            <a:pPr lvl="0"/>
            <a:r>
              <a:rPr lang="en-US" dirty="0"/>
              <a:t>Over 1200 species have </a:t>
            </a:r>
            <a:r>
              <a:rPr lang="en-US" dirty="0" err="1"/>
              <a:t>beendescribed</a:t>
            </a:r>
            <a:r>
              <a:rPr lang="en-US" dirty="0"/>
              <a:t> from larvae only.</a:t>
            </a:r>
          </a:p>
          <a:p>
            <a:pPr lvl="0"/>
            <a:r>
              <a:rPr lang="en-US" dirty="0"/>
              <a:t>Adult chiggers are among the largest of mites, about 1.0mm or more in length.</a:t>
            </a:r>
          </a:p>
          <a:p>
            <a:pPr lvl="0"/>
            <a:r>
              <a:rPr lang="en-US" dirty="0"/>
              <a:t>There are two medical aspects of chigger bite: chigger dermatitis and transmission of pathogens</a:t>
            </a:r>
          </a:p>
          <a:p>
            <a:pPr marL="0" indent="0">
              <a:buNone/>
            </a:pPr>
            <a:endParaRPr lang="en-US" dirty="0"/>
          </a:p>
        </p:txBody>
      </p:sp>
    </p:spTree>
    <p:extLst>
      <p:ext uri="{BB962C8B-B14F-4D97-AF65-F5344CB8AC3E}">
        <p14:creationId xmlns:p14="http://schemas.microsoft.com/office/powerpoint/2010/main" val="4240638752"/>
      </p:ext>
    </p:extLst>
  </p:cSld>
  <p:clrMapOvr>
    <a:masterClrMapping/>
  </p:clrMapOvr>
</p:sld>
</file>

<file path=ppt/slides/slide8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MITES CONT’D</a:t>
            </a:r>
            <a:br>
              <a:rPr lang="en-US" dirty="0"/>
            </a:br>
            <a:endParaRPr lang="en-US" dirty="0"/>
          </a:p>
        </p:txBody>
      </p:sp>
      <p:sp>
        <p:nvSpPr>
          <p:cNvPr id="3" name="Content Placeholder 2"/>
          <p:cNvSpPr>
            <a:spLocks noGrp="1"/>
          </p:cNvSpPr>
          <p:nvPr>
            <p:ph idx="1"/>
          </p:nvPr>
        </p:nvSpPr>
        <p:spPr/>
        <p:txBody>
          <a:bodyPr>
            <a:normAutofit fontScale="92500" lnSpcReduction="10000"/>
          </a:bodyPr>
          <a:lstStyle/>
          <a:p>
            <a:pPr lvl="0"/>
            <a:r>
              <a:rPr lang="en-US" dirty="0"/>
              <a:t>Larval chiggers do not burrow into skin as is commonly thought:</a:t>
            </a:r>
          </a:p>
          <a:p>
            <a:pPr lvl="0">
              <a:buFont typeface="Wingdings" pitchFamily="2" charset="2"/>
              <a:buChar char="Ø"/>
            </a:pPr>
            <a:r>
              <a:rPr lang="en-US" dirty="0"/>
              <a:t>As their mouthparts penetrate the epidermis, the mites inject salivary secretions that are </a:t>
            </a:r>
            <a:r>
              <a:rPr lang="en-US" dirty="0" err="1"/>
              <a:t>proteolytic</a:t>
            </a:r>
            <a:r>
              <a:rPr lang="en-US" dirty="0"/>
              <a:t>, killing </a:t>
            </a:r>
          </a:p>
          <a:p>
            <a:pPr lvl="0">
              <a:buFont typeface="Wingdings" pitchFamily="2" charset="2"/>
              <a:buChar char="Ø"/>
            </a:pPr>
            <a:r>
              <a:rPr lang="en-US" dirty="0"/>
              <a:t>and digesting host cells, which the parasite then sucks up along with interstitial fluids</a:t>
            </a:r>
          </a:p>
          <a:p>
            <a:pPr lvl="0">
              <a:buFont typeface="Wingdings" pitchFamily="2" charset="2"/>
              <a:buChar char="Ø"/>
            </a:pPr>
            <a:r>
              <a:rPr lang="en-US" dirty="0"/>
              <a:t>Simultaneously, host cells harden under the influence of other salivary secretions to forma tube, the </a:t>
            </a:r>
            <a:r>
              <a:rPr lang="en-US" b="1" dirty="0" err="1"/>
              <a:t>stylostome</a:t>
            </a:r>
            <a:endParaRPr lang="en-US" dirty="0"/>
          </a:p>
          <a:p>
            <a:endParaRPr lang="en-US" dirty="0"/>
          </a:p>
        </p:txBody>
      </p:sp>
    </p:spTree>
    <p:extLst>
      <p:ext uri="{BB962C8B-B14F-4D97-AF65-F5344CB8AC3E}">
        <p14:creationId xmlns:p14="http://schemas.microsoft.com/office/powerpoint/2010/main" val="3879892084"/>
      </p:ext>
    </p:extLst>
  </p:cSld>
  <p:clrMapOvr>
    <a:masterClrMapping/>
  </p:clrMapOvr>
</p:sld>
</file>

<file path=ppt/slides/slide8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MITES CONT’D</a:t>
            </a:r>
            <a:br>
              <a:rPr lang="en-US" dirty="0"/>
            </a:br>
            <a:endParaRPr lang="en-US" dirty="0"/>
          </a:p>
        </p:txBody>
      </p:sp>
      <p:sp>
        <p:nvSpPr>
          <p:cNvPr id="3" name="Content Placeholder 2"/>
          <p:cNvSpPr>
            <a:spLocks noGrp="1"/>
          </p:cNvSpPr>
          <p:nvPr>
            <p:ph idx="1"/>
          </p:nvPr>
        </p:nvSpPr>
        <p:spPr/>
        <p:txBody>
          <a:bodyPr/>
          <a:lstStyle/>
          <a:p>
            <a:pPr lvl="0">
              <a:buFont typeface="Wingdings" pitchFamily="2" charset="2"/>
              <a:buChar char="Ø"/>
            </a:pPr>
            <a:r>
              <a:rPr lang="en-US" dirty="0"/>
              <a:t>The mite retains its mouthparts in the </a:t>
            </a:r>
            <a:r>
              <a:rPr lang="en-US" dirty="0" err="1"/>
              <a:t>stylostome</a:t>
            </a:r>
            <a:r>
              <a:rPr lang="en-US" dirty="0"/>
              <a:t> , using it like a drinking straw, until engorged and then drops off.</a:t>
            </a:r>
          </a:p>
          <a:p>
            <a:pPr lvl="0">
              <a:buFont typeface="Wingdings" pitchFamily="2" charset="2"/>
              <a:buChar char="Ø"/>
            </a:pPr>
            <a:r>
              <a:rPr lang="en-US" dirty="0"/>
              <a:t>Not all chiggers cause itching reaction: those that do usually have detached before a host reaction begins;</a:t>
            </a:r>
          </a:p>
          <a:p>
            <a:pPr lvl="0">
              <a:buFont typeface="Wingdings" pitchFamily="2" charset="2"/>
              <a:buChar char="Ø"/>
            </a:pPr>
            <a:r>
              <a:rPr lang="en-US" dirty="0"/>
              <a:t> some people are immune to their bites  whereas others may incur a violent reaction.</a:t>
            </a:r>
          </a:p>
          <a:p>
            <a:endParaRPr lang="en-US" dirty="0"/>
          </a:p>
        </p:txBody>
      </p:sp>
    </p:spTree>
    <p:extLst>
      <p:ext uri="{BB962C8B-B14F-4D97-AF65-F5344CB8AC3E}">
        <p14:creationId xmlns:p14="http://schemas.microsoft.com/office/powerpoint/2010/main" val="3551081177"/>
      </p:ext>
    </p:extLst>
  </p:cSld>
  <p:clrMapOvr>
    <a:masterClrMapping/>
  </p:clrMapOvr>
</p:sld>
</file>

<file path=ppt/slides/slide8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MITES CONT’D</a:t>
            </a:r>
            <a:br>
              <a:rPr lang="en-US" dirty="0"/>
            </a:br>
            <a:endParaRPr lang="en-US" dirty="0"/>
          </a:p>
        </p:txBody>
      </p:sp>
      <p:sp>
        <p:nvSpPr>
          <p:cNvPr id="3" name="Content Placeholder 2"/>
          <p:cNvSpPr>
            <a:spLocks noGrp="1"/>
          </p:cNvSpPr>
          <p:nvPr>
            <p:ph idx="1"/>
          </p:nvPr>
        </p:nvSpPr>
        <p:spPr/>
        <p:txBody>
          <a:bodyPr>
            <a:normAutofit lnSpcReduction="10000"/>
          </a:bodyPr>
          <a:lstStyle/>
          <a:p>
            <a:pPr lvl="0"/>
            <a:r>
              <a:rPr lang="en-US" dirty="0"/>
              <a:t>Other </a:t>
            </a:r>
            <a:r>
              <a:rPr lang="en-US" dirty="0" err="1"/>
              <a:t>trombiculid</a:t>
            </a:r>
            <a:r>
              <a:rPr lang="en-US" dirty="0"/>
              <a:t>  species, some representing other genera, bite humans or are vectors of a </a:t>
            </a:r>
            <a:r>
              <a:rPr lang="en-US" dirty="0" err="1"/>
              <a:t>rickettsial</a:t>
            </a:r>
            <a:r>
              <a:rPr lang="en-US" dirty="0"/>
              <a:t> disease in humans, called SCRUB TYPHUS (</a:t>
            </a:r>
            <a:r>
              <a:rPr lang="en-US" dirty="0" err="1"/>
              <a:t>Tsutsugamushi</a:t>
            </a:r>
            <a:r>
              <a:rPr lang="en-US" dirty="0"/>
              <a:t> disease).</a:t>
            </a:r>
            <a:endParaRPr lang="en-US" b="1" dirty="0"/>
          </a:p>
          <a:p>
            <a:pPr lvl="0"/>
            <a:r>
              <a:rPr lang="en-US" b="1" dirty="0"/>
              <a:t> </a:t>
            </a:r>
            <a:r>
              <a:rPr lang="en-US" dirty="0"/>
              <a:t>The microorganism</a:t>
            </a:r>
            <a:r>
              <a:rPr lang="en-US" b="1" dirty="0"/>
              <a:t>, </a:t>
            </a:r>
            <a:r>
              <a:rPr lang="en-US" b="1" i="1" dirty="0"/>
              <a:t>Rickettsia </a:t>
            </a:r>
            <a:r>
              <a:rPr lang="en-US" b="1" i="1" dirty="0" err="1"/>
              <a:t>tsutsugamushi</a:t>
            </a:r>
            <a:r>
              <a:rPr lang="en-US" dirty="0"/>
              <a:t>, is </a:t>
            </a:r>
            <a:r>
              <a:rPr lang="en-US" dirty="0" err="1"/>
              <a:t>transovarially</a:t>
            </a:r>
            <a:r>
              <a:rPr lang="en-US" dirty="0"/>
              <a:t> transmitted among mites;</a:t>
            </a:r>
          </a:p>
          <a:p>
            <a:pPr lvl="0"/>
            <a:r>
              <a:rPr lang="en-US" dirty="0"/>
              <a:t>wild rodents, particularly species of </a:t>
            </a:r>
            <a:r>
              <a:rPr lang="en-US" b="1" i="1" dirty="0" err="1"/>
              <a:t>Rattus</a:t>
            </a:r>
            <a:r>
              <a:rPr lang="en-US" dirty="0"/>
              <a:t> are reservoirs.</a:t>
            </a:r>
          </a:p>
          <a:p>
            <a:endParaRPr lang="en-US" dirty="0"/>
          </a:p>
        </p:txBody>
      </p:sp>
    </p:spTree>
    <p:extLst>
      <p:ext uri="{BB962C8B-B14F-4D97-AF65-F5344CB8AC3E}">
        <p14:creationId xmlns:p14="http://schemas.microsoft.com/office/powerpoint/2010/main" val="1686726818"/>
      </p:ext>
    </p:extLst>
  </p:cSld>
  <p:clrMapOvr>
    <a:masterClrMapping/>
  </p:clrMapOvr>
</p:sld>
</file>

<file path=ppt/slides/slide8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br>
              <a:rPr lang="en-US" b="1" i="1" dirty="0"/>
            </a:br>
            <a:r>
              <a:rPr lang="en-US" b="1" i="1" dirty="0" err="1"/>
              <a:t>Trombicula</a:t>
            </a:r>
            <a:r>
              <a:rPr lang="en-US" b="1" i="1" dirty="0"/>
              <a:t> sp.  </a:t>
            </a:r>
            <a:r>
              <a:rPr lang="en-US" b="1" dirty="0"/>
              <a:t>(Order </a:t>
            </a:r>
            <a:r>
              <a:rPr lang="en-US" b="1" dirty="0" err="1"/>
              <a:t>Prostigmata</a:t>
            </a:r>
            <a:r>
              <a:rPr lang="en-US" b="1" dirty="0"/>
              <a:t>; Family </a:t>
            </a:r>
            <a:r>
              <a:rPr lang="en-US" b="1" dirty="0" err="1"/>
              <a:t>Trombiculidae</a:t>
            </a:r>
            <a:r>
              <a:rPr lang="en-US" b="1" dirty="0"/>
              <a:t>)</a:t>
            </a:r>
            <a:br>
              <a:rPr lang="en-US" dirty="0"/>
            </a:br>
            <a:r>
              <a:rPr lang="en-US" b="1" i="1" dirty="0"/>
              <a:t> </a:t>
            </a:r>
            <a:br>
              <a:rPr lang="en-US" dirty="0"/>
            </a:br>
            <a:endParaRPr lang="en-US" dirty="0"/>
          </a:p>
        </p:txBody>
      </p:sp>
      <p:sp>
        <p:nvSpPr>
          <p:cNvPr id="3" name="Content Placeholder 2"/>
          <p:cNvSpPr>
            <a:spLocks noGrp="1"/>
          </p:cNvSpPr>
          <p:nvPr>
            <p:ph idx="1"/>
          </p:nvPr>
        </p:nvSpPr>
        <p:spPr/>
        <p:txBody>
          <a:bodyPr>
            <a:normAutofit/>
          </a:bodyPr>
          <a:lstStyle/>
          <a:p>
            <a:r>
              <a:rPr lang="en-US" dirty="0" err="1"/>
              <a:t>Trombiculid</a:t>
            </a:r>
            <a:r>
              <a:rPr lang="en-US" dirty="0"/>
              <a:t> mites transmit scrub typhus, especially in S. East Asia. </a:t>
            </a:r>
          </a:p>
          <a:p>
            <a:r>
              <a:rPr lang="en-US" dirty="0"/>
              <a:t>The </a:t>
            </a:r>
            <a:r>
              <a:rPr lang="en-US" dirty="0" err="1"/>
              <a:t>rickettsial</a:t>
            </a:r>
            <a:r>
              <a:rPr lang="en-US" dirty="0"/>
              <a:t> organism which cause  the disease can be passed through several generations of mites . </a:t>
            </a:r>
          </a:p>
          <a:p>
            <a:r>
              <a:rPr lang="en-US" dirty="0"/>
              <a:t>The bite of an infected  mite larva can also cause severe allergic dermatitis known as scrub itch.   </a:t>
            </a:r>
          </a:p>
          <a:p>
            <a:endParaRPr lang="en-US" dirty="0"/>
          </a:p>
        </p:txBody>
      </p:sp>
    </p:spTree>
    <p:extLst>
      <p:ext uri="{BB962C8B-B14F-4D97-AF65-F5344CB8AC3E}">
        <p14:creationId xmlns:p14="http://schemas.microsoft.com/office/powerpoint/2010/main" val="1512993090"/>
      </p:ext>
    </p:extLst>
  </p:cSld>
  <p:clrMapOvr>
    <a:masterClrMapping/>
  </p:clrMapOvr>
</p:sld>
</file>

<file path=ppt/slides/slide8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br>
              <a:rPr lang="en-US" b="1" i="1" dirty="0"/>
            </a:br>
            <a:r>
              <a:rPr lang="en-US" b="1" i="1" dirty="0" err="1"/>
              <a:t>Trombicula</a:t>
            </a:r>
            <a:r>
              <a:rPr lang="en-US" b="1" i="1" dirty="0"/>
              <a:t> sp.  </a:t>
            </a:r>
            <a:r>
              <a:rPr lang="en-US" b="1" dirty="0"/>
              <a:t>(Order </a:t>
            </a:r>
            <a:r>
              <a:rPr lang="en-US" b="1" dirty="0" err="1"/>
              <a:t>Prostigmata</a:t>
            </a:r>
            <a:r>
              <a:rPr lang="en-US" b="1" dirty="0"/>
              <a:t>; Family </a:t>
            </a:r>
            <a:r>
              <a:rPr lang="en-US" b="1" dirty="0" err="1"/>
              <a:t>Trombiculidae</a:t>
            </a:r>
            <a:r>
              <a:rPr lang="en-US" b="1" dirty="0"/>
              <a:t>) cont’d</a:t>
            </a:r>
            <a:br>
              <a:rPr lang="en-US" dirty="0"/>
            </a:br>
            <a:r>
              <a:rPr lang="en-US" b="1" i="1" dirty="0"/>
              <a:t> </a:t>
            </a:r>
            <a:br>
              <a:rPr lang="en-US" dirty="0"/>
            </a:br>
            <a:endParaRPr lang="en-US" dirty="0"/>
          </a:p>
        </p:txBody>
      </p:sp>
      <p:sp>
        <p:nvSpPr>
          <p:cNvPr id="3" name="Content Placeholder 2"/>
          <p:cNvSpPr>
            <a:spLocks noGrp="1"/>
          </p:cNvSpPr>
          <p:nvPr>
            <p:ph idx="1"/>
          </p:nvPr>
        </p:nvSpPr>
        <p:spPr/>
        <p:txBody>
          <a:bodyPr/>
          <a:lstStyle/>
          <a:p>
            <a:r>
              <a:rPr lang="en-US" dirty="0"/>
              <a:t>Nymph and adult mites are not parasitic; they live in the soil in areas of selected scrub vegetation; </a:t>
            </a:r>
          </a:p>
          <a:p>
            <a:r>
              <a:rPr lang="en-US" dirty="0"/>
              <a:t>the larvae are </a:t>
            </a:r>
            <a:r>
              <a:rPr lang="en-US" dirty="0" err="1"/>
              <a:t>ectoparasitic</a:t>
            </a:r>
            <a:r>
              <a:rPr lang="en-US" dirty="0"/>
              <a:t> on humans and warm-blooded  animals, sucking lymph and tissue fluids from their hosts.</a:t>
            </a:r>
          </a:p>
          <a:p>
            <a:endParaRPr lang="en-US" dirty="0"/>
          </a:p>
        </p:txBody>
      </p:sp>
    </p:spTree>
    <p:extLst>
      <p:ext uri="{BB962C8B-B14F-4D97-AF65-F5344CB8AC3E}">
        <p14:creationId xmlns:p14="http://schemas.microsoft.com/office/powerpoint/2010/main" val="662311780"/>
      </p:ext>
    </p:extLst>
  </p:cSld>
  <p:clrMapOvr>
    <a:masterClrMapping/>
  </p:clrMapOvr>
</p:sld>
</file>

<file path=ppt/slides/slide8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i="1" dirty="0"/>
            </a:br>
            <a:br>
              <a:rPr lang="en-US" b="1" i="1" dirty="0"/>
            </a:br>
            <a:r>
              <a:rPr lang="en-US" b="1" i="1" dirty="0" err="1"/>
              <a:t>Trombicula</a:t>
            </a:r>
            <a:r>
              <a:rPr lang="en-US" b="1" i="1" dirty="0"/>
              <a:t> sp.  </a:t>
            </a:r>
            <a:r>
              <a:rPr lang="en-US" b="1" dirty="0"/>
              <a:t>(Order </a:t>
            </a:r>
            <a:r>
              <a:rPr lang="en-US" b="1" dirty="0" err="1"/>
              <a:t>Prostigmata</a:t>
            </a:r>
            <a:r>
              <a:rPr lang="en-US" b="1" dirty="0"/>
              <a:t>; Family </a:t>
            </a:r>
            <a:r>
              <a:rPr lang="en-US" b="1" dirty="0" err="1"/>
              <a:t>Trombiculidae</a:t>
            </a:r>
            <a:r>
              <a:rPr lang="en-US" b="1" dirty="0"/>
              <a:t>) cont’d</a:t>
            </a:r>
            <a:br>
              <a:rPr lang="en-US" dirty="0"/>
            </a:br>
            <a:r>
              <a:rPr lang="en-US" b="1" i="1" dirty="0"/>
              <a:t> </a:t>
            </a:r>
            <a:br>
              <a:rPr lang="en-US" dirty="0"/>
            </a:br>
            <a:endParaRPr lang="en-US" dirty="0"/>
          </a:p>
        </p:txBody>
      </p:sp>
      <p:sp>
        <p:nvSpPr>
          <p:cNvPr id="3" name="Content Placeholder 2"/>
          <p:cNvSpPr>
            <a:spLocks noGrp="1"/>
          </p:cNvSpPr>
          <p:nvPr>
            <p:ph idx="1"/>
          </p:nvPr>
        </p:nvSpPr>
        <p:spPr/>
        <p:txBody>
          <a:bodyPr/>
          <a:lstStyle/>
          <a:p>
            <a:r>
              <a:rPr lang="en-US" dirty="0"/>
              <a:t>The larvae can often be found around the waist under a belt on the abdomen, or under a wrist or shoe strap. </a:t>
            </a:r>
          </a:p>
          <a:p>
            <a:r>
              <a:rPr lang="en-US" dirty="0"/>
              <a:t>The larvae drop off after several weeks and continue their development in the soil.</a:t>
            </a:r>
          </a:p>
          <a:p>
            <a:endParaRPr lang="en-US" dirty="0"/>
          </a:p>
        </p:txBody>
      </p:sp>
    </p:spTree>
    <p:extLst>
      <p:ext uri="{BB962C8B-B14F-4D97-AF65-F5344CB8AC3E}">
        <p14:creationId xmlns:p14="http://schemas.microsoft.com/office/powerpoint/2010/main" val="2424222880"/>
      </p:ext>
    </p:extLst>
  </p:cSld>
  <p:clrMapOvr>
    <a:masterClrMapping/>
  </p:clrMapOvr>
</p:sld>
</file>

<file path=ppt/slides/slide8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Sarcoptidae</a:t>
            </a:r>
            <a:r>
              <a:rPr lang="en-US" b="1" dirty="0"/>
              <a:t> (Order </a:t>
            </a:r>
            <a:r>
              <a:rPr lang="en-US" b="1" dirty="0" err="1"/>
              <a:t>Oribatida</a:t>
            </a:r>
            <a:r>
              <a:rPr lang="en-US" dirty="0"/>
              <a:t>)</a:t>
            </a:r>
            <a:br>
              <a:rPr lang="en-US" dirty="0"/>
            </a:br>
            <a:endParaRPr lang="en-US" dirty="0"/>
          </a:p>
        </p:txBody>
      </p:sp>
      <p:sp>
        <p:nvSpPr>
          <p:cNvPr id="3" name="Content Placeholder 2"/>
          <p:cNvSpPr>
            <a:spLocks noGrp="1"/>
          </p:cNvSpPr>
          <p:nvPr>
            <p:ph idx="1"/>
          </p:nvPr>
        </p:nvSpPr>
        <p:spPr/>
        <p:txBody>
          <a:bodyPr/>
          <a:lstStyle/>
          <a:p>
            <a:r>
              <a:rPr lang="en-US" dirty="0" err="1"/>
              <a:t>Sarcoptid</a:t>
            </a:r>
            <a:r>
              <a:rPr lang="en-US" dirty="0"/>
              <a:t> mites  are skin parasites  of mammals: they cause SCABIES or SARCOPTIC MANGE. </a:t>
            </a:r>
          </a:p>
          <a:p>
            <a:r>
              <a:rPr lang="en-US" dirty="0"/>
              <a:t>The mites mate on the skin of their host, males inseminating immature females; </a:t>
            </a:r>
          </a:p>
          <a:p>
            <a:r>
              <a:rPr lang="en-US" dirty="0"/>
              <a:t>eggs hatch in 3-8 days and larvae and nymphs emerge and wander on the skin surface A species is </a:t>
            </a:r>
            <a:r>
              <a:rPr lang="en-US" i="1" dirty="0" err="1"/>
              <a:t>Sarcoptes</a:t>
            </a:r>
            <a:r>
              <a:rPr lang="en-US" i="1" dirty="0"/>
              <a:t> </a:t>
            </a:r>
            <a:r>
              <a:rPr lang="en-US" i="1" dirty="0" err="1"/>
              <a:t>scabie</a:t>
            </a:r>
            <a:r>
              <a:rPr lang="en-US" dirty="0" err="1"/>
              <a:t>i</a:t>
            </a:r>
            <a:r>
              <a:rPr lang="en-US" dirty="0"/>
              <a:t> (the itch mite)</a:t>
            </a:r>
          </a:p>
          <a:p>
            <a:endParaRPr lang="en-US" dirty="0"/>
          </a:p>
        </p:txBody>
      </p:sp>
    </p:spTree>
    <p:extLst>
      <p:ext uri="{BB962C8B-B14F-4D97-AF65-F5344CB8AC3E}">
        <p14:creationId xmlns:p14="http://schemas.microsoft.com/office/powerpoint/2010/main" val="228313067"/>
      </p:ext>
    </p:extLst>
  </p:cSld>
  <p:clrMapOvr>
    <a:masterClrMapping/>
  </p:clrMapOvr>
</p:sld>
</file>

<file path=ppt/slides/slide8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Sarcoptidae</a:t>
            </a:r>
            <a:r>
              <a:rPr lang="en-US" b="1" dirty="0"/>
              <a:t> (Order </a:t>
            </a:r>
            <a:r>
              <a:rPr lang="en-US" b="1" dirty="0" err="1"/>
              <a:t>Oribatida</a:t>
            </a:r>
            <a:r>
              <a:rPr lang="en-US"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The female cuts the horny layer of the skin, and forms tortuous tunnels;</a:t>
            </a:r>
          </a:p>
          <a:p>
            <a:r>
              <a:rPr lang="en-US" dirty="0"/>
              <a:t> the </a:t>
            </a:r>
            <a:r>
              <a:rPr lang="en-US" dirty="0" err="1"/>
              <a:t>tunnelling</a:t>
            </a:r>
            <a:r>
              <a:rPr lang="en-US" dirty="0"/>
              <a:t> and the secretory and excretory products produce intense itching sensation in most infected persons</a:t>
            </a:r>
          </a:p>
          <a:p>
            <a:r>
              <a:rPr lang="en-US" dirty="0"/>
              <a:t> The skin between the fingers , breasts and shoulder blades and around the penis and in creases of the knees and elbows is most often infected. </a:t>
            </a:r>
          </a:p>
        </p:txBody>
      </p:sp>
    </p:spTree>
    <p:extLst>
      <p:ext uri="{BB962C8B-B14F-4D97-AF65-F5344CB8AC3E}">
        <p14:creationId xmlns:p14="http://schemas.microsoft.com/office/powerpoint/2010/main" val="3653910658"/>
      </p:ext>
    </p:extLst>
  </p:cSld>
  <p:clrMapOvr>
    <a:masterClrMapping/>
  </p:clrMapOvr>
</p:sld>
</file>

<file path=ppt/slides/slide8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Sarcoptidae</a:t>
            </a:r>
            <a:r>
              <a:rPr lang="en-US" b="1" dirty="0"/>
              <a:t> (Order </a:t>
            </a:r>
            <a:r>
              <a:rPr lang="en-US" b="1" dirty="0" err="1"/>
              <a:t>Oribatida</a:t>
            </a:r>
            <a:r>
              <a:rPr lang="en-US"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Scratching may cause bleeding and secondary infection. </a:t>
            </a:r>
          </a:p>
          <a:p>
            <a:r>
              <a:rPr lang="en-US" dirty="0"/>
              <a:t>The entire life cycle is, thus, completed under the skin.</a:t>
            </a:r>
          </a:p>
          <a:p>
            <a:r>
              <a:rPr lang="en-US" dirty="0" err="1"/>
              <a:t>Sracoptid</a:t>
            </a:r>
            <a:r>
              <a:rPr lang="en-US" dirty="0"/>
              <a:t> mange in domestic and wild mammals is essentially the same as in humans.</a:t>
            </a:r>
          </a:p>
          <a:p>
            <a:r>
              <a:rPr lang="en-US" dirty="0"/>
              <a:t> Hairless or short-haired regions of the body are most affected. </a:t>
            </a:r>
          </a:p>
          <a:p>
            <a:endParaRPr lang="en-US" dirty="0"/>
          </a:p>
          <a:p>
            <a:endParaRPr lang="en-US" dirty="0"/>
          </a:p>
        </p:txBody>
      </p:sp>
    </p:spTree>
    <p:extLst>
      <p:ext uri="{BB962C8B-B14F-4D97-AF65-F5344CB8AC3E}">
        <p14:creationId xmlns:p14="http://schemas.microsoft.com/office/powerpoint/2010/main" val="797586835"/>
      </p:ext>
    </p:extLst>
  </p:cSld>
  <p:clrMapOvr>
    <a:masterClrMapping/>
  </p:clrMapOvr>
</p:sld>
</file>

<file path=ppt/slides/slide8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Sarcoptidae</a:t>
            </a:r>
            <a:r>
              <a:rPr lang="en-US" b="1" dirty="0"/>
              <a:t> (Order </a:t>
            </a:r>
            <a:r>
              <a:rPr lang="en-US" b="1" dirty="0" err="1"/>
              <a:t>Oribatida</a:t>
            </a:r>
            <a:r>
              <a:rPr lang="en-US" dirty="0"/>
              <a:t>) cont’d</a:t>
            </a:r>
            <a:br>
              <a:rPr lang="en-US" dirty="0"/>
            </a:br>
            <a:endParaRPr lang="en-US" dirty="0"/>
          </a:p>
        </p:txBody>
      </p:sp>
      <p:sp>
        <p:nvSpPr>
          <p:cNvPr id="3" name="Content Placeholder 2"/>
          <p:cNvSpPr>
            <a:spLocks noGrp="1"/>
          </p:cNvSpPr>
          <p:nvPr>
            <p:ph idx="1"/>
          </p:nvPr>
        </p:nvSpPr>
        <p:spPr/>
        <p:txBody>
          <a:bodyPr/>
          <a:lstStyle/>
          <a:p>
            <a:r>
              <a:rPr lang="en-US" dirty="0"/>
              <a:t>A cycle of resurgence of scabies  infection occurs  in the world every 17- 20 years for reasons not clear but presumably due to  changing immunity in the human population.</a:t>
            </a:r>
          </a:p>
          <a:p>
            <a:r>
              <a:rPr lang="en-US" dirty="0"/>
              <a:t>Infection is readily passed on to humans who are in contact with mangy animals.</a:t>
            </a:r>
          </a:p>
        </p:txBody>
      </p:sp>
    </p:spTree>
    <p:extLst>
      <p:ext uri="{BB962C8B-B14F-4D97-AF65-F5344CB8AC3E}">
        <p14:creationId xmlns:p14="http://schemas.microsoft.com/office/powerpoint/2010/main" val="2257303915"/>
      </p:ext>
    </p:extLst>
  </p:cSld>
  <p:clrMapOvr>
    <a:masterClrMapping/>
  </p:clrMapOvr>
</p:sld>
</file>

<file path=ppt/slides/slide8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Sarcoptidae</a:t>
            </a:r>
            <a:r>
              <a:rPr lang="en-US" b="1" dirty="0"/>
              <a:t> (Order </a:t>
            </a:r>
            <a:r>
              <a:rPr lang="en-US" b="1" dirty="0" err="1"/>
              <a:t>Oribatida</a:t>
            </a:r>
            <a:r>
              <a:rPr lang="en-US" dirty="0"/>
              <a:t>) cont’d</a:t>
            </a:r>
            <a:br>
              <a:rPr lang="en-US" dirty="0"/>
            </a:br>
            <a:endParaRPr lang="en-US" dirty="0"/>
          </a:p>
        </p:txBody>
      </p:sp>
      <p:sp>
        <p:nvSpPr>
          <p:cNvPr id="3" name="Content Placeholder 2"/>
          <p:cNvSpPr>
            <a:spLocks noGrp="1"/>
          </p:cNvSpPr>
          <p:nvPr>
            <p:ph idx="1"/>
          </p:nvPr>
        </p:nvSpPr>
        <p:spPr/>
        <p:txBody>
          <a:bodyPr>
            <a:normAutofit lnSpcReduction="10000"/>
          </a:bodyPr>
          <a:lstStyle/>
          <a:p>
            <a:r>
              <a:rPr lang="en-US" dirty="0"/>
              <a:t>Ticks and mites are of immense medical and veterinary importance in that many cause diseases themselves  and many are vectors of serious pathogens. </a:t>
            </a:r>
          </a:p>
          <a:p>
            <a:r>
              <a:rPr lang="en-US" dirty="0"/>
              <a:t>All ticks are epidermal parasites  during their larval, </a:t>
            </a:r>
            <a:r>
              <a:rPr lang="en-US" dirty="0" err="1"/>
              <a:t>nymphal</a:t>
            </a:r>
            <a:r>
              <a:rPr lang="en-US" dirty="0"/>
              <a:t> and adult instars whereas many mites are </a:t>
            </a:r>
            <a:r>
              <a:rPr lang="en-US" dirty="0" err="1"/>
              <a:t>parsites</a:t>
            </a:r>
            <a:r>
              <a:rPr lang="en-US" dirty="0"/>
              <a:t> on or in the skin, respiratory system  or other organs of their hosts. </a:t>
            </a:r>
          </a:p>
        </p:txBody>
      </p:sp>
    </p:spTree>
    <p:extLst>
      <p:ext uri="{BB962C8B-B14F-4D97-AF65-F5344CB8AC3E}">
        <p14:creationId xmlns:p14="http://schemas.microsoft.com/office/powerpoint/2010/main" val="301694001"/>
      </p:ext>
    </p:extLst>
  </p:cSld>
  <p:clrMapOvr>
    <a:masterClrMapping/>
  </p:clrMapOvr>
</p:sld>
</file>

<file path=ppt/slides/slide8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b="1" dirty="0"/>
            </a:br>
            <a:r>
              <a:rPr lang="en-US" b="1" dirty="0"/>
              <a:t>Family </a:t>
            </a:r>
            <a:r>
              <a:rPr lang="en-US" b="1" dirty="0" err="1"/>
              <a:t>Sarcoptidae</a:t>
            </a:r>
            <a:r>
              <a:rPr lang="en-US" b="1" dirty="0"/>
              <a:t> (Order </a:t>
            </a:r>
            <a:r>
              <a:rPr lang="en-US" b="1" dirty="0" err="1"/>
              <a:t>Oribatida</a:t>
            </a:r>
            <a:r>
              <a:rPr lang="en-US" dirty="0"/>
              <a:t>) cont’d</a:t>
            </a:r>
            <a:br>
              <a:rPr lang="en-US" dirty="0"/>
            </a:br>
            <a:endParaRPr lang="en-US" dirty="0"/>
          </a:p>
        </p:txBody>
      </p:sp>
      <p:sp>
        <p:nvSpPr>
          <p:cNvPr id="3" name="Content Placeholder 2"/>
          <p:cNvSpPr>
            <a:spLocks noGrp="1"/>
          </p:cNvSpPr>
          <p:nvPr>
            <p:ph idx="1"/>
          </p:nvPr>
        </p:nvSpPr>
        <p:spPr/>
        <p:txBody>
          <a:bodyPr/>
          <a:lstStyle/>
          <a:p>
            <a:r>
              <a:rPr lang="en-US" dirty="0"/>
              <a:t>Some mites though not parasites of vertebrates, stimulate allergic reactions when they or their remains come into contact with a susceptible individual.</a:t>
            </a:r>
          </a:p>
          <a:p>
            <a:r>
              <a:rPr lang="en-US" dirty="0"/>
              <a:t>Ticks are present in every country of the world, but mites are even more ubiquitous as they thrive on land, in freshwater and in the oceans.</a:t>
            </a:r>
          </a:p>
          <a:p>
            <a:pPr marL="0" indent="0">
              <a:buNone/>
            </a:pPr>
            <a:endParaRPr lang="en-US" dirty="0"/>
          </a:p>
          <a:p>
            <a:endParaRPr lang="en-US" dirty="0"/>
          </a:p>
        </p:txBody>
      </p:sp>
    </p:spTree>
    <p:extLst>
      <p:ext uri="{BB962C8B-B14F-4D97-AF65-F5344CB8AC3E}">
        <p14:creationId xmlns:p14="http://schemas.microsoft.com/office/powerpoint/2010/main" val="783885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5277</TotalTime>
  <Words>46407</Words>
  <Application>Microsoft Office PowerPoint</Application>
  <PresentationFormat>On-screen Show (4:3)</PresentationFormat>
  <Paragraphs>3842</Paragraphs>
  <Slides>855</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855</vt:i4>
      </vt:variant>
    </vt:vector>
  </HeadingPairs>
  <TitlesOfParts>
    <vt:vector size="860" baseType="lpstr">
      <vt:lpstr>Arial</vt:lpstr>
      <vt:lpstr>Calibri</vt:lpstr>
      <vt:lpstr>Times New Roman</vt:lpstr>
      <vt:lpstr>Wingdings</vt:lpstr>
      <vt:lpstr>Office Theme</vt:lpstr>
      <vt:lpstr>PARASITOLOGY  BIOL 460</vt:lpstr>
      <vt:lpstr>GENERAL LECTURE TOPICS  (General Overview)</vt:lpstr>
      <vt:lpstr>(General Overview)</vt:lpstr>
      <vt:lpstr>(General Overview)</vt:lpstr>
      <vt:lpstr>(General Overview)</vt:lpstr>
      <vt:lpstr>(General Overview)</vt:lpstr>
      <vt:lpstr>General Overview</vt:lpstr>
      <vt:lpstr>General Overview</vt:lpstr>
      <vt:lpstr> TERMINOLOGY IN PARASITOLOGY (DEFINITION OF TERMS) </vt:lpstr>
      <vt:lpstr>DEFINITION OF TERMS CONT’D</vt:lpstr>
      <vt:lpstr>INTRO CONT’D</vt:lpstr>
      <vt:lpstr>INTRO CONT’D</vt:lpstr>
      <vt:lpstr>INTRO CONT’D</vt:lpstr>
      <vt:lpstr>INTRO CONT’D</vt:lpstr>
      <vt:lpstr>INTRO CONT’D</vt:lpstr>
      <vt:lpstr>INTRO CONT’D</vt:lpstr>
      <vt:lpstr>INTRO CONT’D</vt:lpstr>
      <vt:lpstr> Parasitism and Predation </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Parasitism and Predation Cont’d</vt:lpstr>
      <vt:lpstr>SOME ECOLOGICAL AND EPIDEMIOLOGICAL TERMINOLOGY IN PARASITOLOGY</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Some Ecological and Epidemiological Terms in Parasitology Cont’d</vt:lpstr>
      <vt:lpstr>Means of transmission of Pathogens</vt:lpstr>
      <vt:lpstr>Means of transmission of Pathogens Cont’d</vt:lpstr>
      <vt:lpstr>Means of transmission of Pathogens Cont’d</vt:lpstr>
      <vt:lpstr>Means of transmission of Pathogens Cont’d</vt:lpstr>
      <vt:lpstr>Means of transmission of Pathogens Cont’d</vt:lpstr>
      <vt:lpstr>Means of transmission of Pathogens Cont’d</vt:lpstr>
      <vt:lpstr>Means of transmission of Pathogens Cont’d</vt:lpstr>
      <vt:lpstr>Means of transmission of Pathogens Cont’d</vt:lpstr>
      <vt:lpstr>Means of transmission of Pathogens Cont’d</vt:lpstr>
      <vt:lpstr> PARASITISM AS A MODE OF LIFE BY PARASITES </vt:lpstr>
      <vt:lpstr>PowerPoint Presentation</vt:lpstr>
      <vt:lpstr> Niches, Habitats and Environments of Parasites on or within the host. </vt:lpstr>
      <vt:lpstr> Niches, Habitats and Environments of Parasites on or within the host cont’t </vt:lpstr>
      <vt:lpstr> Niches, Habitats and Environments of Parasites on or within the host cont’t </vt:lpstr>
      <vt:lpstr> Niches, Habitats and Environments of Parasites on or within the host con'td </vt:lpstr>
      <vt:lpstr> Niches, Habitats and Environments of Parasites on or within the host con'td </vt:lpstr>
      <vt:lpstr> Niches, Habitats and Environments of Parasites on or within the host con'td </vt:lpstr>
      <vt:lpstr> Niches, Habitats and Environments of Parasites on or within the host cont’t </vt:lpstr>
      <vt:lpstr> Niches, Habitats and Environments of Parasites on or within the host con'td </vt:lpstr>
      <vt:lpstr> Niches, Habitats and Environments of Parasites on or within the host con'td </vt:lpstr>
      <vt:lpstr> Reproductive Potential of Parasites </vt:lpstr>
      <vt:lpstr>Reproductive Potential of Parasites cont’d</vt:lpstr>
      <vt:lpstr>Reproductive Potential of Parasites cont’d</vt:lpstr>
      <vt:lpstr>Reproductive Potential of Parasites cont’d</vt:lpstr>
      <vt:lpstr>Reproductive Potential of Parasites cont’d</vt:lpstr>
      <vt:lpstr> DIAGNOSIS OF PARASITIC INFECTIONS Unit 2</vt:lpstr>
      <vt:lpstr> Faeces/Stool (Cont’d.) </vt:lpstr>
      <vt:lpstr>Structures found in faeces that may be confused with parasites</vt:lpstr>
      <vt:lpstr> Faeces/Stool (Cont’d.) </vt:lpstr>
      <vt:lpstr>Faeces/Stool (Cont’d.)</vt:lpstr>
      <vt:lpstr> Specimen in which parasites are found  (Cont’d.) </vt:lpstr>
      <vt:lpstr> Specimen in which parasites are found (Cont’d.) </vt:lpstr>
      <vt:lpstr> Specimen in which parasites are found  (Cont’d.) </vt:lpstr>
      <vt:lpstr> Specimen in which parasites are found  (Cont’d.) </vt:lpstr>
      <vt:lpstr> Specimen in which parasites are found  (Cont’d.) </vt:lpstr>
      <vt:lpstr> Specimen in which parasites are found (Cont’d.) </vt:lpstr>
      <vt:lpstr>  Specimen in which parasites are found (Cont’d.)  </vt:lpstr>
      <vt:lpstr> Specimen in which parasites are found (Cont’d.) </vt:lpstr>
      <vt:lpstr> Specimen in which parasites are found (Cont’d.) </vt:lpstr>
      <vt:lpstr> Specimen in which parasites are found (Cont’d.) </vt:lpstr>
      <vt:lpstr> Specimen in which parasites are found (Cont’d.) </vt:lpstr>
      <vt:lpstr>Specimen in which parasites are found (Cont’d.) </vt:lpstr>
      <vt:lpstr> Methods used in diagnosis</vt:lpstr>
      <vt:lpstr>PowerPoint Presentation</vt:lpstr>
      <vt:lpstr> 2. Cultural techniques (Cont’d.) </vt:lpstr>
      <vt:lpstr> 3. Immunodiagnostic techniques </vt:lpstr>
      <vt:lpstr> 3. Immunodiagnostic techniques (Cont’d.) </vt:lpstr>
      <vt:lpstr>  3. Immunodiagnostic techniques (Cont’d.)  </vt:lpstr>
      <vt:lpstr> 3. Immunodiagnostic techniques (Cont’d.) </vt:lpstr>
      <vt:lpstr> 3. Immunodiagnostic techniques (Cont’d.) </vt:lpstr>
      <vt:lpstr> 3. Immunodiagnostic techniques (Cont’d.) </vt:lpstr>
      <vt:lpstr> 3. Immunodiagnostic techniques (Cont’d.) </vt:lpstr>
      <vt:lpstr> 3. Immunodiagnostic techniques (Cont’d.) </vt:lpstr>
      <vt:lpstr> 3. Immunodiagnostic techniques (Cont’d.) </vt:lpstr>
      <vt:lpstr> Antibody/Serological Tests </vt:lpstr>
      <vt:lpstr>Antibody/Serological Tests (Cont’d.)</vt:lpstr>
      <vt:lpstr>Antibody/Serological Tests (Cont’d.)</vt:lpstr>
      <vt:lpstr>Antibody/Serological Tests (Cont’d.)</vt:lpstr>
      <vt:lpstr> Sources of Antigens for Serological Tests </vt:lpstr>
      <vt:lpstr> Sources of Antigens for Serological Tests (Cont’d.) </vt:lpstr>
      <vt:lpstr> Monoclonal Antibodies </vt:lpstr>
      <vt:lpstr> Monoclonal Antibodies (Cont’d.) </vt:lpstr>
      <vt:lpstr> Recombinant DNA (DNA probes) </vt:lpstr>
      <vt:lpstr>Recombinant DNA (Cont’d.)</vt:lpstr>
      <vt:lpstr> Antigen Test </vt:lpstr>
      <vt:lpstr> Other Tests for identification of some parasites </vt:lpstr>
      <vt:lpstr> Definition of Terms for Diagnostic Stages </vt:lpstr>
      <vt:lpstr>Definition of Terms for Diagnostic Stages (Cont’d.)</vt:lpstr>
      <vt:lpstr>Definition of Terms for Diagnostic Stages (Cont’d.)</vt:lpstr>
      <vt:lpstr>Definition of Terms for Diagnostic Stages (Cont’d.)</vt:lpstr>
      <vt:lpstr>PowerPoint Presentation</vt:lpstr>
      <vt:lpstr>The Parasitic Protozoa</vt:lpstr>
      <vt:lpstr>A. Intestinal</vt:lpstr>
      <vt:lpstr>Intestinal (cont’d)</vt:lpstr>
      <vt:lpstr>Intestinal (cont’d)</vt:lpstr>
      <vt:lpstr>INTESTINAL CONT’D</vt:lpstr>
      <vt:lpstr>INTESTINAL CONT’D</vt:lpstr>
      <vt:lpstr>Intestinal (cont’d)</vt:lpstr>
      <vt:lpstr>Intestinal (cont’d)</vt:lpstr>
      <vt:lpstr>INTESTINAL CONT’D</vt:lpstr>
      <vt:lpstr>Intestinal (cont’d)</vt:lpstr>
      <vt:lpstr>Intestinal (cont’d)</vt:lpstr>
      <vt:lpstr>Intestinal (cont’d)</vt:lpstr>
      <vt:lpstr>Intestinal (cont’d)</vt:lpstr>
      <vt:lpstr>B. Flagellates</vt:lpstr>
      <vt:lpstr>1 . Giardia lamblia cont’d</vt:lpstr>
      <vt:lpstr>1 . Giardia lamblia (cont’d)</vt:lpstr>
      <vt:lpstr>1 . Giardia lamblia (cont’d)</vt:lpstr>
      <vt:lpstr>1 . Giardia lamblia (cont’d)</vt:lpstr>
      <vt:lpstr>1 . Giardia lamblia cont’d</vt:lpstr>
      <vt:lpstr>1 . Giardia lamblia (cont’d)</vt:lpstr>
      <vt:lpstr>1 . Giardia lamblia (cont’d)</vt:lpstr>
      <vt:lpstr>2. Trichomonas vaginalis (a  Urogenital flagellate parasite)</vt:lpstr>
      <vt:lpstr>2. Trichomonas vaginalis cont’d</vt:lpstr>
      <vt:lpstr>2. Trichomonas vaginalis cont’d</vt:lpstr>
      <vt:lpstr>C. Ciliates</vt:lpstr>
      <vt:lpstr>C. Ciliates (Cont’d)</vt:lpstr>
      <vt:lpstr>C. Ciliates Cont’d</vt:lpstr>
      <vt:lpstr>C. Ciliates Cont’d</vt:lpstr>
      <vt:lpstr>C. Ciliates Cont’d</vt:lpstr>
      <vt:lpstr>D. Coccidia</vt:lpstr>
      <vt:lpstr>1. Isospora belli (Cont’d)</vt:lpstr>
      <vt:lpstr>1. Isospora belli (Cont’d)</vt:lpstr>
      <vt:lpstr>1. Isospora belli (Cont’d)</vt:lpstr>
      <vt:lpstr>1. Isospora belli (Cont’d)</vt:lpstr>
      <vt:lpstr>2. Cryptosporidium (cont’d)</vt:lpstr>
      <vt:lpstr>2. Cryptosporidium (cont’d)</vt:lpstr>
      <vt:lpstr>2. Cryptosporidium (cont’d)</vt:lpstr>
      <vt:lpstr>2. Cryptosporidium (cont’d)</vt:lpstr>
      <vt:lpstr>2. Cryptosporidium (cont’d)</vt:lpstr>
      <vt:lpstr>3. Toxoplasma gondii</vt:lpstr>
      <vt:lpstr>3. Toxoplasma gondii (cont’d)</vt:lpstr>
      <vt:lpstr>3. Toxoplasma gondii (cont’d)</vt:lpstr>
      <vt:lpstr>3. Toxoplasma gondii (cont’d)</vt:lpstr>
      <vt:lpstr>3. Toxoplasma gondii (cont’d)</vt:lpstr>
      <vt:lpstr>3. Toxoplasma gondii (cont’d)</vt:lpstr>
      <vt:lpstr>3. Toxoplasma gondii (cont’d)</vt:lpstr>
      <vt:lpstr>3. Toxoplasma gondii (cont’d)</vt:lpstr>
      <vt:lpstr>3. Toxoplasma gondii (cont’d)</vt:lpstr>
      <vt:lpstr>3. Toxoplasma gondii (cont’d)</vt:lpstr>
      <vt:lpstr>3. Toxoplasma gondii (cont’d)</vt:lpstr>
      <vt:lpstr>PARASITOLOGY (BIOL 460)</vt:lpstr>
      <vt:lpstr> LEISHMANIASIS </vt:lpstr>
      <vt:lpstr>LEISHMANIASIS CONT’D</vt:lpstr>
      <vt:lpstr>LEISHMANIASIS CONT’D</vt:lpstr>
      <vt:lpstr>LEISHMANIASIS CONT’D</vt:lpstr>
      <vt:lpstr>LEISHMANIASIS CONT’D</vt:lpstr>
      <vt:lpstr>LEISHMANIASIS CONT’D</vt:lpstr>
      <vt:lpstr> Disease caused by these parasites are of three main types </vt:lpstr>
      <vt:lpstr> Disease caused by these parasites are of three main types </vt:lpstr>
      <vt:lpstr>LEISHMANIASIS CONT’D</vt:lpstr>
      <vt:lpstr> The Leishmania parasite and leishmaniasis </vt:lpstr>
      <vt:lpstr> The Leishmania parasite and leishmaniasis cont’d </vt:lpstr>
      <vt:lpstr> The Leishmania parasite and leishmaniasis cont’d </vt:lpstr>
      <vt:lpstr> The Leishmania parasite and leishmaniasis cont’d </vt:lpstr>
      <vt:lpstr> 1. Cutaneous leishmaniasis  </vt:lpstr>
      <vt:lpstr> 1. Cutaneous leishmaniasis cont’d </vt:lpstr>
      <vt:lpstr> 1. Cutaneous leishmaniasis cont’d </vt:lpstr>
      <vt:lpstr> 2.Mucocutaneous leishmaniasis </vt:lpstr>
      <vt:lpstr> 3. Visceral leishmaniasis (Espundia) </vt:lpstr>
      <vt:lpstr> 3. Visceral leishmaniasis (Espundia) </vt:lpstr>
      <vt:lpstr>3. Visceral leishmaniasis (Espundia)</vt:lpstr>
      <vt:lpstr>3. Visceral leishmaniasis (Espundia) cont’d</vt:lpstr>
      <vt:lpstr>3. Visceral leishmaniasis (Espundia) cont’d</vt:lpstr>
      <vt:lpstr>The Disease Leishmaniasis</vt:lpstr>
      <vt:lpstr>The Disease Leishmaniasis cont’d</vt:lpstr>
      <vt:lpstr>The Disease Leishmaniasis cont’d</vt:lpstr>
      <vt:lpstr>The Disease Leishmaniasis cont’d</vt:lpstr>
      <vt:lpstr>The Disease Leishmaniasis cont’d</vt:lpstr>
      <vt:lpstr> Transmission </vt:lpstr>
      <vt:lpstr> Transmission cont’d </vt:lpstr>
      <vt:lpstr> Transmission cont’d </vt:lpstr>
      <vt:lpstr> Reservoir hosts </vt:lpstr>
      <vt:lpstr> Pathogenesis in Leishmaniasis </vt:lpstr>
      <vt:lpstr> Pathogenesis in Leishmaniasis cont’d </vt:lpstr>
      <vt:lpstr> Pathogenesis in Leishmaniasis cont’d </vt:lpstr>
      <vt:lpstr> Pathogenesis in Leishmaniasis cont’d </vt:lpstr>
      <vt:lpstr> Pathogenesis in Leishmaniasis cont’d </vt:lpstr>
      <vt:lpstr> Diagnosis </vt:lpstr>
      <vt:lpstr> TRYPANOSOMIASIS </vt:lpstr>
      <vt:lpstr>Classification</vt:lpstr>
      <vt:lpstr>Classification cont’d</vt:lpstr>
      <vt:lpstr>PowerPoint Presentation</vt:lpstr>
      <vt:lpstr> AFRICAN TRYPANOSOMIASIS </vt:lpstr>
      <vt:lpstr>AFRICAN TRYPANOSOMIASIS CONT’D</vt:lpstr>
      <vt:lpstr>AFRICAN TRYPANOSOMIASIS CONT’D</vt:lpstr>
      <vt:lpstr>AFRICAN TRYPANOSOMIASIS CONT’D</vt:lpstr>
      <vt:lpstr> Transmission </vt:lpstr>
      <vt:lpstr> Transmission cont’d </vt:lpstr>
      <vt:lpstr> Transmission cont’d </vt:lpstr>
      <vt:lpstr> Transmission cont’d </vt:lpstr>
      <vt:lpstr>AFRICAN TRYPANOSOMIASIS CONT’D</vt:lpstr>
      <vt:lpstr> Life cycle cont’d </vt:lpstr>
      <vt:lpstr> Life cycle Cont’d </vt:lpstr>
      <vt:lpstr>AFRICAN TRYPANOSOMIASIS CONT’D</vt:lpstr>
      <vt:lpstr> Symptoms/Pathology Cont’d </vt:lpstr>
      <vt:lpstr> Symptoms/Pathology Cont’d </vt:lpstr>
      <vt:lpstr> Symptoms/Pathology Cont’d </vt:lpstr>
      <vt:lpstr> Symptoms/Pathology Cont’d </vt:lpstr>
      <vt:lpstr> Symptoms/Pathology Cont’d </vt:lpstr>
      <vt:lpstr> Symptoms/Pathology Cont’d </vt:lpstr>
      <vt:lpstr> T.b gambiense and T.b rhodesiense infections </vt:lpstr>
      <vt:lpstr>T.b gambiense and T.b rhodesiense infections cont’d</vt:lpstr>
      <vt:lpstr>T.b gambiense and T.b rhodesiense infections cont’d</vt:lpstr>
      <vt:lpstr>AFRICAN TRYPANOSOMIASIS CONT’D</vt:lpstr>
      <vt:lpstr> Immunity to Infection cont’d </vt:lpstr>
      <vt:lpstr> Immunity to Infection cont’d </vt:lpstr>
      <vt:lpstr> Immunity to Infection cont’d </vt:lpstr>
      <vt:lpstr>AFRICAN TRYPANOSOMIASIS CONT’D</vt:lpstr>
      <vt:lpstr> Prevention and Control cont’d </vt:lpstr>
      <vt:lpstr>AFRICAN TRYPANOSOMIASIS CONT’D</vt:lpstr>
      <vt:lpstr> Diagnosis cont’d </vt:lpstr>
      <vt:lpstr> TRYPANOSOMA CRUZI </vt:lpstr>
      <vt:lpstr> TRYPANOSOMA CRUZI </vt:lpstr>
      <vt:lpstr> TRYPANOSOMA CRUZI </vt:lpstr>
      <vt:lpstr> TRYPANOSOMA CRUZI </vt:lpstr>
      <vt:lpstr> Transmission cont’d </vt:lpstr>
      <vt:lpstr> Transmission cont’d </vt:lpstr>
      <vt:lpstr> TRYPANOSOMA CRUZI </vt:lpstr>
      <vt:lpstr> Life cycle cont’d </vt:lpstr>
      <vt:lpstr> Life cycle cont’d </vt:lpstr>
      <vt:lpstr> Life cycle cont’d </vt:lpstr>
      <vt:lpstr> Life cycle cont’d </vt:lpstr>
      <vt:lpstr> TRYPANOSOMA CRUZI CONT’D </vt:lpstr>
      <vt:lpstr> Symptoms and pathology cont’d </vt:lpstr>
      <vt:lpstr> TRYPANOSOMA CRUZI CONT’D </vt:lpstr>
      <vt:lpstr> Acute Stage signs Cont’d </vt:lpstr>
      <vt:lpstr> Acute Stage signs Cont’d </vt:lpstr>
      <vt:lpstr> Chronic stage of disease (Trypanosomiasis) </vt:lpstr>
      <vt:lpstr> Chronic stage of disease (Trypanosomiasis) cont’d </vt:lpstr>
      <vt:lpstr> Immunity to T. cruzi infection </vt:lpstr>
      <vt:lpstr> Prevention and control  of T. cruzi  </vt:lpstr>
      <vt:lpstr> Prevention and control  of T. cruzi  </vt:lpstr>
      <vt:lpstr> Prevention and control  of T. cruzi  </vt:lpstr>
      <vt:lpstr> Diagnosis  T. cruzi  </vt:lpstr>
      <vt:lpstr> Diagnosis  T. cruzi  </vt:lpstr>
      <vt:lpstr> Xenodiagnoses of T. cruzi </vt:lpstr>
      <vt:lpstr>PARASITOLOGY (BIOL 460)</vt:lpstr>
      <vt:lpstr>PowerPoint Presentation</vt:lpstr>
      <vt:lpstr> Cestodes (Tapeworms) </vt:lpstr>
      <vt:lpstr> Members of the Order Pseudophyllidea </vt:lpstr>
      <vt:lpstr> Diphyllobothrium spp. Distribution cont’d </vt:lpstr>
      <vt:lpstr> Diphyllobothrium spp. cont’d </vt:lpstr>
      <vt:lpstr> Diphyllobothrium spp. cont’d </vt:lpstr>
      <vt:lpstr> Diphyllobothrium spp. cont’d </vt:lpstr>
      <vt:lpstr> Diphyllobothrium spp. cont’d </vt:lpstr>
      <vt:lpstr> Diphyllobothrium spp. cont’d </vt:lpstr>
      <vt:lpstr> Pathogenesis </vt:lpstr>
      <vt:lpstr> Diagnosis and treatment </vt:lpstr>
      <vt:lpstr> Diphyllobothrium spp. cont’d </vt:lpstr>
      <vt:lpstr>Prevention and control</vt:lpstr>
      <vt:lpstr> Sparganosis </vt:lpstr>
      <vt:lpstr>Sparganosis Cont’d</vt:lpstr>
      <vt:lpstr>Sparganosis Cont’d</vt:lpstr>
      <vt:lpstr>Sparganosis Cont’d</vt:lpstr>
      <vt:lpstr> Order Cyclophyllidea </vt:lpstr>
      <vt:lpstr> Taenia saginata (The Beef Tapeworm) </vt:lpstr>
      <vt:lpstr>Morphology and Biology of Taenia saginata cont’d</vt:lpstr>
      <vt:lpstr>Morphology and Biology of Taenia saginata cont’d</vt:lpstr>
      <vt:lpstr>Morphology and Biology of Taenia saginata cont’d</vt:lpstr>
      <vt:lpstr> Pathogenesis of Taenia saginata  </vt:lpstr>
      <vt:lpstr> Pathogenesis of Taenia saginata  </vt:lpstr>
      <vt:lpstr> Diagnosis and Treatment </vt:lpstr>
      <vt:lpstr> Epidemiology of Taenia saginata  </vt:lpstr>
      <vt:lpstr> Epidemiology of Taenia saginata cont’d </vt:lpstr>
      <vt:lpstr> 2. Taenia solium (Pork Tapeworm) </vt:lpstr>
      <vt:lpstr> 2. Taenia solium (Pork Tapeworm) </vt:lpstr>
      <vt:lpstr> Morphology of Taenia solium  </vt:lpstr>
      <vt:lpstr> Biology and Life Cycle of Taenia solium  </vt:lpstr>
      <vt:lpstr> Biology and Life Cycle of Taenia solium cont’d </vt:lpstr>
      <vt:lpstr> Pathology of Taenia solium  </vt:lpstr>
      <vt:lpstr>Pathology of Taenia solium Cont’d</vt:lpstr>
      <vt:lpstr>Pathology of Taenia solium Cont’d</vt:lpstr>
      <vt:lpstr>Pathology of Taenia solium Cont’d</vt:lpstr>
      <vt:lpstr>Pathology of Taenia solium Cont’d</vt:lpstr>
      <vt:lpstr>Pathology of Taenia solium Cont’d</vt:lpstr>
      <vt:lpstr>Pathology of Taenia solium Cont’d</vt:lpstr>
      <vt:lpstr>Pathology of Taenia solium Cont’d</vt:lpstr>
      <vt:lpstr> Control and Prevention </vt:lpstr>
      <vt:lpstr>Control and Prevention</vt:lpstr>
      <vt:lpstr> Diagnosis of Taenia solium Cont’d </vt:lpstr>
      <vt:lpstr> Distribution of Taenia solium  </vt:lpstr>
      <vt:lpstr> Echinococcus granulosus </vt:lpstr>
      <vt:lpstr>Echinococcus granulosus Cont’d</vt:lpstr>
      <vt:lpstr> Life cycle, Transmission and Epidemiology </vt:lpstr>
      <vt:lpstr> Life cycle, Transmission and Epidemiology cont’d </vt:lpstr>
      <vt:lpstr> Life cycle, Transmission and Epidemiology cont’d </vt:lpstr>
      <vt:lpstr>Echinococcus granulosus Cont’d</vt:lpstr>
      <vt:lpstr>Echinococcus granulosus Cont’d</vt:lpstr>
      <vt:lpstr> Pathogenesis and Symptoms </vt:lpstr>
      <vt:lpstr> Pathogenesis and Symptoms cont’d </vt:lpstr>
      <vt:lpstr> Pathogenesis and Symptoms cont’d </vt:lpstr>
      <vt:lpstr> Diagnosis and treatment </vt:lpstr>
      <vt:lpstr> Diagnosis and treatment </vt:lpstr>
      <vt:lpstr> Echinococcus multilocularis </vt:lpstr>
      <vt:lpstr> Echinococcus multilocularis cont’d </vt:lpstr>
      <vt:lpstr> Hymenolepis nana and Hymenolepis diminuta </vt:lpstr>
      <vt:lpstr> Hymenolepis nana  </vt:lpstr>
      <vt:lpstr> Hymenolepis nana cont’d </vt:lpstr>
      <vt:lpstr> Hymenolepis nana cont’d </vt:lpstr>
      <vt:lpstr> Hymenolepis nana cont’d </vt:lpstr>
      <vt:lpstr> Hymenolepis nana cont’d </vt:lpstr>
      <vt:lpstr>  Hymenolepis diminuta  </vt:lpstr>
      <vt:lpstr>   Hymenolepis diminuta cont’d   </vt:lpstr>
      <vt:lpstr> Diagnosis of Hymenolepis diminuta cont’d </vt:lpstr>
      <vt:lpstr> Hymenolepis diminuta cont’d </vt:lpstr>
      <vt:lpstr> Other Cyclophyllidean tapeworms of lesser medical importance or low occurrence </vt:lpstr>
      <vt:lpstr> Multiceps sp. Cont’d </vt:lpstr>
      <vt:lpstr> Multiceps sp. Cont’d </vt:lpstr>
      <vt:lpstr> 2. Dipylidium caninum </vt:lpstr>
      <vt:lpstr>2. Dipylidium caninum cont’d</vt:lpstr>
      <vt:lpstr>2. Dipylidium caninum cont’d</vt:lpstr>
      <vt:lpstr>2. Dipylidium caninum cont’d</vt:lpstr>
      <vt:lpstr>2. Dipylidium caninum cont’d</vt:lpstr>
      <vt:lpstr> 3. Spirometra spp. </vt:lpstr>
      <vt:lpstr> 3. Spirometra spp. Cont’d </vt:lpstr>
      <vt:lpstr> 3. Spirometra spp. Cont’d </vt:lpstr>
      <vt:lpstr> 3. Spirometra spp. Cont’d </vt:lpstr>
      <vt:lpstr> 3. Spirometra spp. Cont’d </vt:lpstr>
      <vt:lpstr> 3. Spirometra spp. Cont’d </vt:lpstr>
      <vt:lpstr> 3. Spirometra spp. Cont’d </vt:lpstr>
      <vt:lpstr>PARASITOLOGY (BIOL 460)</vt:lpstr>
      <vt:lpstr> TREMATODES (FLUKES) </vt:lpstr>
      <vt:lpstr>TREMATODES (FLUKES) CONT’D</vt:lpstr>
      <vt:lpstr>TREMATODES (FLUKES) CONT’D</vt:lpstr>
      <vt:lpstr>TREMATODES (FLUKES) CONT’D</vt:lpstr>
      <vt:lpstr>TREMATODES (FLUKES) CONT’D</vt:lpstr>
      <vt:lpstr>TREMATODES (FLUKES) CONT’D</vt:lpstr>
      <vt:lpstr>Examples by adult worm site of residence in the definitive host (human) body  and Transmission Mode </vt:lpstr>
      <vt:lpstr>PowerPoint Presentation</vt:lpstr>
      <vt:lpstr>TREMATODES (FLUKES) CONT’D</vt:lpstr>
      <vt:lpstr>TREMATODES (FLUKES) CONT’D</vt:lpstr>
      <vt:lpstr>TREMATODES (FLUKES) CONT’D</vt:lpstr>
      <vt:lpstr>TREMATODES (FLUKES) CONT’D</vt:lpstr>
      <vt:lpstr>TREMATODES (FLUKES) CONT’D</vt:lpstr>
      <vt:lpstr> 1.Opisthorchis sinensis (or Chlornorchis sinensis) </vt:lpstr>
      <vt:lpstr>PowerPoint Presentation</vt:lpstr>
      <vt:lpstr>1.Opisthorchis sinensis (or Chlornorchis sinensis)</vt:lpstr>
      <vt:lpstr>PowerPoint Presentation</vt:lpstr>
      <vt:lpstr> Life cycle of Opisthorchis sinensis  </vt:lpstr>
      <vt:lpstr> Life cycle of Opisthorchis sinensis  cont’d </vt:lpstr>
      <vt:lpstr> Life cycle of Opisthorchis sinensis  cont’d </vt:lpstr>
      <vt:lpstr> Symptoms and Pathology of Opisthorchis sinensis </vt:lpstr>
      <vt:lpstr> Symptoms and Pathology of Opisthorchis sinensis cont’d </vt:lpstr>
      <vt:lpstr> Prevention and control of Opisthorchis sinensis  </vt:lpstr>
      <vt:lpstr>1.Opisthorchis sinensis cont’d</vt:lpstr>
      <vt:lpstr>TREMATODES (FLUKES) CONT’D</vt:lpstr>
      <vt:lpstr>TREMATODES (FLUKES) CONT’D</vt:lpstr>
      <vt:lpstr> Fasciolopsis buski </vt:lpstr>
      <vt:lpstr>PowerPoint Presentation</vt:lpstr>
      <vt:lpstr>Fasciolopsis buski cont’d</vt:lpstr>
      <vt:lpstr> Life cycle of Fasciolopsis buski </vt:lpstr>
      <vt:lpstr> Life cycle of Fasciolopsis buski cont’d </vt:lpstr>
      <vt:lpstr> Life cycle of Fasciolopsis buski cont’d </vt:lpstr>
      <vt:lpstr> Symptoms and Pathology of Fasciolopsis buski  </vt:lpstr>
      <vt:lpstr> Symptoms and Pathology of Fasciolopsis buski  cont’d </vt:lpstr>
      <vt:lpstr> Prevention and Control of Fasciolopsis buski   </vt:lpstr>
      <vt:lpstr> Prevention and Control of Fasciolopsis buski  cont’d </vt:lpstr>
      <vt:lpstr> Fasciolopsis buski  cont’d</vt:lpstr>
      <vt:lpstr> Fasciola hepatica and F. gigantica </vt:lpstr>
      <vt:lpstr> Fasciola hepatica and F. gigantica </vt:lpstr>
      <vt:lpstr> Fasciola hepatica and F. gigantica </vt:lpstr>
      <vt:lpstr>  Life cycle cont’d </vt:lpstr>
      <vt:lpstr>  Life cycle cont’d </vt:lpstr>
      <vt:lpstr> Symptoms and Pathology </vt:lpstr>
      <vt:lpstr>Symptoms and Pathology cont’d</vt:lpstr>
      <vt:lpstr> Prevention and Control </vt:lpstr>
      <vt:lpstr>Fasciola hepatica and F. gigantica cont’t</vt:lpstr>
      <vt:lpstr> Heterophyes heterophyes </vt:lpstr>
      <vt:lpstr> Life Cycle of Heterophyes heterophyes </vt:lpstr>
      <vt:lpstr> Life Cycle of Heterophyes heterophyes </vt:lpstr>
      <vt:lpstr> Heterophyes heterophyes cont’d </vt:lpstr>
      <vt:lpstr> Heterophyes heterophyes cont’d </vt:lpstr>
      <vt:lpstr> Metagonimus yokogawai </vt:lpstr>
      <vt:lpstr> Metagonimus yokogawai cont’d </vt:lpstr>
      <vt:lpstr> Metagonimus yokogawai cont’d </vt:lpstr>
      <vt:lpstr> Dicroceoelium dendriticum </vt:lpstr>
      <vt:lpstr> Dicroceoelium dendriticum cont’d </vt:lpstr>
      <vt:lpstr>PARASITOLOGY (BIOL 460)</vt:lpstr>
      <vt:lpstr>PowerPoint Presentation</vt:lpstr>
      <vt:lpstr> FLUKES – THE SCHISTOSOMES </vt:lpstr>
      <vt:lpstr> FLUKES – THE SCHISTOSOMES CONT’D </vt:lpstr>
      <vt:lpstr> Five species infect humans namely: </vt:lpstr>
      <vt:lpstr> Five species infect humans cont’d </vt:lpstr>
      <vt:lpstr> S. haematobium </vt:lpstr>
      <vt:lpstr> S. haematobium cont’d </vt:lpstr>
      <vt:lpstr> S. haematobium cont’d </vt:lpstr>
      <vt:lpstr> S. haematobium cont’d </vt:lpstr>
      <vt:lpstr> S. haematobium cont’d </vt:lpstr>
      <vt:lpstr> S. haematobium cont’d </vt:lpstr>
      <vt:lpstr> S. haematobium cont’d </vt:lpstr>
      <vt:lpstr> S. haematobium cont’d </vt:lpstr>
      <vt:lpstr> S. haematobium cont’d </vt:lpstr>
      <vt:lpstr> S. haematobium cont’d </vt:lpstr>
      <vt:lpstr> S. haematobium cont’d </vt:lpstr>
      <vt:lpstr> S. haematobium cont’d </vt:lpstr>
      <vt:lpstr> Schistosoma mansoni </vt:lpstr>
      <vt:lpstr> Schistosoma mansoni </vt:lpstr>
      <vt:lpstr> Schistosoma mansoni </vt:lpstr>
      <vt:lpstr> Schistosoma mansoni </vt:lpstr>
      <vt:lpstr> S. haematobium cont’d </vt:lpstr>
      <vt:lpstr> S. haematobium cont’d </vt:lpstr>
      <vt:lpstr> S. intercalatum </vt:lpstr>
      <vt:lpstr> S. intercalatum cont’d </vt:lpstr>
      <vt:lpstr> S. intercalatum cont’d </vt:lpstr>
      <vt:lpstr> Schistosoma japonicum </vt:lpstr>
      <vt:lpstr> Schistosoma japonicum cont’d </vt:lpstr>
      <vt:lpstr> Schistosoma japonicum cont’d </vt:lpstr>
      <vt:lpstr> Schistosoma japonicum cont’d </vt:lpstr>
      <vt:lpstr> Schistosoma japonicum cont’d </vt:lpstr>
      <vt:lpstr> Schistosoma mekongi </vt:lpstr>
      <vt:lpstr> Schistosoma mekongi cont’d </vt:lpstr>
      <vt:lpstr> Infections Caused by Animal Schistosomes </vt:lpstr>
      <vt:lpstr> Infections Caused by Animal Schistosomes </vt:lpstr>
      <vt:lpstr>PARASITOLOGY (BIOL 460)</vt:lpstr>
      <vt:lpstr>PowerPoint Presentation</vt:lpstr>
      <vt:lpstr> THE HELMINTHS </vt:lpstr>
      <vt:lpstr> The Nematodes </vt:lpstr>
      <vt:lpstr> The Nematodes cont’d </vt:lpstr>
      <vt:lpstr> The Nematodes cont’d </vt:lpstr>
      <vt:lpstr> The Nematodes cont’d </vt:lpstr>
      <vt:lpstr> The Nematodes cont’d </vt:lpstr>
      <vt:lpstr> The Nematodes cont’d </vt:lpstr>
      <vt:lpstr> The Nematodes cont’d </vt:lpstr>
      <vt:lpstr> The Nematodes cont’d </vt:lpstr>
      <vt:lpstr> The Nematodes cont’d </vt:lpstr>
      <vt:lpstr> The Nematodes cont’d </vt:lpstr>
      <vt:lpstr> The Nematodes cont’d </vt:lpstr>
      <vt:lpstr> The Nematodes cont’d </vt:lpstr>
      <vt:lpstr> The Nematodes cont’d </vt:lpstr>
      <vt:lpstr> The Nematodes cont’d </vt:lpstr>
      <vt:lpstr> Features of intestinal Nematodes infecting humans </vt:lpstr>
      <vt:lpstr> Features of intestinal Nematodes infecting humans cont’d </vt:lpstr>
      <vt:lpstr> Features of intestinal Nematodes infecting humans cont’d </vt:lpstr>
      <vt:lpstr> Features of intestinal Nematodes infecting humans cont’d </vt:lpstr>
      <vt:lpstr> The Phasmidia (the phasmid nematodes) </vt:lpstr>
      <vt:lpstr> The Aphasmidia (Nematodes without phasmids) </vt:lpstr>
      <vt:lpstr> Cutaneous Larva Migrans </vt:lpstr>
      <vt:lpstr> Cutaneous Larva Migrans cont’d </vt:lpstr>
      <vt:lpstr> Visceral larva migrans </vt:lpstr>
      <vt:lpstr> Visceral larva migrans cont’d </vt:lpstr>
      <vt:lpstr> Visceral larva migrans cont’d </vt:lpstr>
      <vt:lpstr> Laboratory Diagnosis </vt:lpstr>
      <vt:lpstr> THE PARASITIC NEMATODES </vt:lpstr>
      <vt:lpstr>THE PARASITIC NEMATODES CONT’D</vt:lpstr>
      <vt:lpstr> Intestinal Nematodes </vt:lpstr>
      <vt:lpstr> Intestinal Nematodes cont’d </vt:lpstr>
      <vt:lpstr> Intestinal Nematodes cont’d </vt:lpstr>
      <vt:lpstr> Intestinal Nematodes cont’d </vt:lpstr>
      <vt:lpstr> Intestinal Nematodes cont’d </vt:lpstr>
      <vt:lpstr> The body wall of a nematode cont’d </vt:lpstr>
      <vt:lpstr> The body wall of a nematode  </vt:lpstr>
      <vt:lpstr> The body wall of a nematode  </vt:lpstr>
      <vt:lpstr> The body wall of a nematode  </vt:lpstr>
      <vt:lpstr> Effects of drugs </vt:lpstr>
      <vt:lpstr> Effects of drugs cont’d </vt:lpstr>
      <vt:lpstr> Effects of drugs cont’d </vt:lpstr>
      <vt:lpstr> Digestive system and acquisition of nutrients </vt:lpstr>
      <vt:lpstr> Digestive system and acquisition of nutrients cont’d </vt:lpstr>
      <vt:lpstr> Digestive system and acquisition of nutrients cont’d </vt:lpstr>
      <vt:lpstr> Food of nematodes parasitic in animals </vt:lpstr>
      <vt:lpstr> Notes </vt:lpstr>
      <vt:lpstr>PARASITOLOGY (BIOL 460)</vt:lpstr>
      <vt:lpstr>PowerPoint Presentation</vt:lpstr>
      <vt:lpstr> INTESTINAL NEMATODES </vt:lpstr>
      <vt:lpstr> INTESTINAL NEMATODES CONT’D </vt:lpstr>
      <vt:lpstr> INTESTINAL NEMATODES CONT’D </vt:lpstr>
      <vt:lpstr> Ascaris lumbricoides </vt:lpstr>
      <vt:lpstr> Ascaris lumbricoides cont’d </vt:lpstr>
      <vt:lpstr> Ascaris lumbricoides cont’d </vt:lpstr>
      <vt:lpstr> Ascaris lumbricoides cont’d </vt:lpstr>
      <vt:lpstr> Ascaris lumbricoides cont’d </vt:lpstr>
      <vt:lpstr> Ascaris lumbricoides cont’d </vt:lpstr>
      <vt:lpstr> Ascaris lumbricoides cont’d </vt:lpstr>
      <vt:lpstr> Ascaris lumbricoides cont’d </vt:lpstr>
      <vt:lpstr> Ascaris lumbricoides cont’d </vt:lpstr>
      <vt:lpstr> Ascaris lumbricoides cont’d </vt:lpstr>
      <vt:lpstr> Enterobius vermicularis </vt:lpstr>
      <vt:lpstr> Enterobius vermicularis cont’d </vt:lpstr>
      <vt:lpstr> Enterobius vermicularis cont’d </vt:lpstr>
      <vt:lpstr> Enterobius vermicularis cont’d </vt:lpstr>
      <vt:lpstr> Enterobius vermicularis cont’d </vt:lpstr>
      <vt:lpstr> Enterobius vermicularis cont’d </vt:lpstr>
      <vt:lpstr> Enterobius vermicularis cont’d </vt:lpstr>
      <vt:lpstr> Strongyloides stercoralis </vt:lpstr>
      <vt:lpstr> Strongyloides stercoralis cont’d </vt:lpstr>
      <vt:lpstr> Strongyloides stercoralis cont’d </vt:lpstr>
      <vt:lpstr> Strongyloides stercoralis cont’d </vt:lpstr>
      <vt:lpstr> Strongyloides stercoralis cont’d </vt:lpstr>
      <vt:lpstr> Strongyloides stercoralis cont’d </vt:lpstr>
      <vt:lpstr> Strongyloides stercoralis cont’d </vt:lpstr>
      <vt:lpstr> Strongyloides stercoralis cont’d </vt:lpstr>
      <vt:lpstr> Strongyloides stercoralis cont’d </vt:lpstr>
      <vt:lpstr> Strongyloides stercoralis cont’d </vt:lpstr>
      <vt:lpstr> Strongyloides stercoralis cont’d </vt:lpstr>
      <vt:lpstr> Strongyloides stercoralis cont’d </vt:lpstr>
      <vt:lpstr> Strongyloides stercoralis cont’d </vt:lpstr>
      <vt:lpstr> Strongyloides stercoralis cont’d </vt:lpstr>
      <vt:lpstr> Strongyloides fuelleborni </vt:lpstr>
      <vt:lpstr> Strongyloides fuelleborni Cont’d </vt:lpstr>
      <vt:lpstr> Strongyloides fuelleborni Cont’d </vt:lpstr>
      <vt:lpstr> Trichuris trichiura </vt:lpstr>
      <vt:lpstr> Trichuris trichiura cont’d </vt:lpstr>
      <vt:lpstr> Trichuris trichiura cont’d </vt:lpstr>
      <vt:lpstr> Trichuris trichiura cont’d </vt:lpstr>
      <vt:lpstr> Trichuris trichiura cont’d </vt:lpstr>
      <vt:lpstr> Trichuris trichiura cont’d </vt:lpstr>
      <vt:lpstr> Trichuris trichiura cont’d </vt:lpstr>
      <vt:lpstr> Trichostrongylus sp </vt:lpstr>
      <vt:lpstr> Trichostrongylus sp cont’d </vt:lpstr>
      <vt:lpstr> Trichostrongylus sp cont’d </vt:lpstr>
      <vt:lpstr> Trichostrongylus sp cont’d </vt:lpstr>
      <vt:lpstr> Capillaria philippinensis </vt:lpstr>
      <vt:lpstr> Capillaria philippinensis cont’d </vt:lpstr>
      <vt:lpstr> Capillaria philippinensis cont’d </vt:lpstr>
      <vt:lpstr> Capillaria philippinensis cont’d </vt:lpstr>
      <vt:lpstr> Capillaria philippinensis cont’d </vt:lpstr>
      <vt:lpstr>PARASITOLOGY (BIOL 460)</vt:lpstr>
      <vt:lpstr>PowerPoint Presentation</vt:lpstr>
      <vt:lpstr> Blood and Tissue Nematodes </vt:lpstr>
      <vt:lpstr> Blood and Tissue Nematodes cont’d </vt:lpstr>
      <vt:lpstr> Trichinella spp (Family Trichinelloidea) </vt:lpstr>
      <vt:lpstr>PowerPoint Presentation</vt:lpstr>
      <vt:lpstr> Trichinella spp (Family Trichinelloidea) cont’d </vt:lpstr>
      <vt:lpstr> Trichinella spp (Family Trichinelloidea) cont’d </vt:lpstr>
      <vt:lpstr> Biology of T. spiralis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Biology of T. spiralis cont’d </vt:lpstr>
      <vt:lpstr> Brugia spp. </vt:lpstr>
      <vt:lpstr>Brugia spp Cont’d</vt:lpstr>
      <vt:lpstr>Brugia spp Cont’d</vt:lpstr>
      <vt:lpstr>Brugia spp Cont’d</vt:lpstr>
      <vt:lpstr>Brugia spp Cont’d</vt:lpstr>
      <vt:lpstr>Brugia spp Cont’d</vt:lpstr>
      <vt:lpstr>Brugia spp Cont’d</vt:lpstr>
      <vt:lpstr> Loa loa </vt:lpstr>
      <vt:lpstr> Loa loa cont’d </vt:lpstr>
      <vt:lpstr> Loa loa cont’d </vt:lpstr>
      <vt:lpstr> Loa loa cont’d </vt:lpstr>
      <vt:lpstr> Loa loa cont’d </vt:lpstr>
      <vt:lpstr> Loa loa cont’d </vt:lpstr>
      <vt:lpstr> Loa loa cont’d </vt:lpstr>
      <vt:lpstr> Loa loa cont’d </vt:lpstr>
      <vt:lpstr> Loa loa cont’d </vt:lpstr>
      <vt:lpstr> Mansonella spp </vt:lpstr>
      <vt:lpstr>M. streptocerca</vt:lpstr>
      <vt:lpstr>M. perstans</vt:lpstr>
      <vt:lpstr>M. perstans cont’d</vt:lpstr>
      <vt:lpstr>M. ozzardi</vt:lpstr>
      <vt:lpstr>M. Ozzardi cont’d</vt:lpstr>
      <vt:lpstr>M. Ozzardi cont’d</vt:lpstr>
      <vt:lpstr>  Mansonella spp </vt:lpstr>
      <vt:lpstr> Onchocerca volvulus </vt:lpstr>
      <vt:lpstr>Onchocerca volvulus cont’d</vt:lpstr>
      <vt:lpstr>Onchocerca volvulus cont’d</vt:lpstr>
      <vt:lpstr>Onchocerca volvulus cont’d</vt:lpstr>
      <vt:lpstr>Onchocerca volvulus cont’d</vt:lpstr>
      <vt:lpstr>Onchocerca volvulus cont’d</vt:lpstr>
      <vt:lpstr>Onchocerca volvulus cont’d</vt:lpstr>
      <vt:lpstr>Onchocerca volvulus cont’d</vt:lpstr>
      <vt:lpstr>Onchocerca volvulus cont’d</vt:lpstr>
      <vt:lpstr>Onchocerca volvulus cont’d</vt:lpstr>
      <vt:lpstr>Onchocerca volvulus cont’d</vt:lpstr>
      <vt:lpstr>Onchocerca volvulus cont’d</vt:lpstr>
      <vt:lpstr> Dracunculus medinensis </vt:lpstr>
      <vt:lpstr> Dracunculus medinensis cont’d </vt:lpstr>
      <vt:lpstr> Dracunculus medinensis cont’d </vt:lpstr>
      <vt:lpstr> Dracunculus medinensis cont’d </vt:lpstr>
      <vt:lpstr> Dracunculus medinensis cont’d </vt:lpstr>
      <vt:lpstr> Dracunculus medinensis cont’d </vt:lpstr>
      <vt:lpstr> Dracunculus medinensis cont’d </vt:lpstr>
      <vt:lpstr> Dracunculus medinensis cont’d </vt:lpstr>
      <vt:lpstr> Dracunculus medinensis cont’d </vt:lpstr>
      <vt:lpstr> Dracunculus medinensis cont’d </vt:lpstr>
      <vt:lpstr> Dracunculus medinensis cont’d </vt:lpstr>
      <vt:lpstr> Wuchereria bancrofti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Wuchereria bancrofti cont’d </vt:lpstr>
      <vt:lpstr> Prevention and Control </vt:lpstr>
      <vt:lpstr>Prevention and Control cont’d</vt:lpstr>
      <vt:lpstr>Prevention and Control cont’d</vt:lpstr>
      <vt:lpstr>Diagnosis</vt:lpstr>
      <vt:lpstr> Immunodiagnosis </vt:lpstr>
      <vt:lpstr> Immunodiagnosis cont’d </vt:lpstr>
      <vt:lpstr> Flourescent antibody Test (FAT) </vt:lpstr>
      <vt:lpstr>Non-Filarial Elephantiasis </vt:lpstr>
      <vt:lpstr> Non-Filarial Elephantiasis cont’d </vt:lpstr>
      <vt:lpstr>Occult Filariasis </vt:lpstr>
      <vt:lpstr> Tropical Pulmonary Eosinophilia </vt:lpstr>
      <vt:lpstr> Tropical Pulmonary Eosinophilia cont’d </vt:lpstr>
      <vt:lpstr> Examination of Blood for W. bancrofti microfilariae </vt:lpstr>
      <vt:lpstr> Examination of Blood for W. bancrofti microfilariae cont’d </vt:lpstr>
      <vt:lpstr> Diagnosis (Immunodiagnosis) </vt:lpstr>
      <vt:lpstr> Brugia malayi </vt:lpstr>
      <vt:lpstr>  Brugia malayi cont’d  </vt:lpstr>
      <vt:lpstr>  Brugia malayi cont’d  </vt:lpstr>
      <vt:lpstr>  Brugia malayi cont’d  </vt:lpstr>
      <vt:lpstr>  Brugia malayi cont’d  </vt:lpstr>
      <vt:lpstr>  Brugia malayi cont’d  </vt:lpstr>
      <vt:lpstr>  Brugia malayi cont’d  </vt:lpstr>
      <vt:lpstr> Onchocerca volvulus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Onchocerca volvulus cont’d </vt:lpstr>
      <vt:lpstr> Trichinella spp. </vt:lpstr>
      <vt:lpstr> Trichinella spp. cont’d </vt:lpstr>
      <vt:lpstr> Trichinella spp. cont’d </vt:lpstr>
      <vt:lpstr> Trichinella spp. cont’d </vt:lpstr>
      <vt:lpstr> Trichinella spp. cont’d </vt:lpstr>
      <vt:lpstr> Trichinella spp. cont’d </vt:lpstr>
      <vt:lpstr> Trichinella spp. cont’d </vt:lpstr>
      <vt:lpstr> Trichinella spp. cont’d </vt:lpstr>
      <vt:lpstr> Trichinella spp. cont’d </vt:lpstr>
      <vt:lpstr> Dirofilaria spp </vt:lpstr>
      <vt:lpstr> Dirofilaria spp cont’d </vt:lpstr>
      <vt:lpstr> Dirofilaria spp cont’d </vt:lpstr>
      <vt:lpstr> Dirofilaria spp cont’d </vt:lpstr>
      <vt:lpstr> Dirofilaria spp cont’d </vt:lpstr>
      <vt:lpstr> Angiostrongylus spp </vt:lpstr>
      <vt:lpstr> Angiostrongylus spp cont’d </vt:lpstr>
      <vt:lpstr> Angiostrongylus spp cont’d </vt:lpstr>
      <vt:lpstr> Angiostrongylus spp cont’d </vt:lpstr>
      <vt:lpstr> Angiostrongylus spp cont’d </vt:lpstr>
      <vt:lpstr> Angiostrongylus spp cont’d </vt:lpstr>
      <vt:lpstr> Angiostrongylus spp cont’d </vt:lpstr>
      <vt:lpstr>PARASITOLOGY (BIOL 460)</vt:lpstr>
      <vt:lpstr> PARASITIC INSECTS - THE DIPTERA (FLIES) </vt:lpstr>
      <vt:lpstr> PARASITIC INSECTS - THE DIPTERA (FLIES) CONT’D </vt:lpstr>
      <vt:lpstr> PARASITIC INSECTS - THE DIPTERA (FLIES) CONT’D </vt:lpstr>
      <vt:lpstr> PARASITIC INSECTS - THE DIPTERA (FLIES) CONT’D </vt:lpstr>
      <vt:lpstr> Family Culicidae (Mosquitoes) </vt:lpstr>
      <vt:lpstr>PowerPoint Presentation</vt:lpstr>
      <vt:lpstr> Family Culicidae (Mosquitoes) Cont’d </vt:lpstr>
      <vt:lpstr> Anopheles species </vt:lpstr>
      <vt:lpstr>PowerPoint Presentation</vt:lpstr>
      <vt:lpstr> Anopheles species cont’d </vt:lpstr>
      <vt:lpstr> Culicine species </vt:lpstr>
      <vt:lpstr> Culicine species cont’d </vt:lpstr>
      <vt:lpstr> Culicine species cont’d </vt:lpstr>
      <vt:lpstr> Culicine species cont’d </vt:lpstr>
      <vt:lpstr> Culicine species cont’d </vt:lpstr>
      <vt:lpstr> Culicine species cont’d </vt:lpstr>
      <vt:lpstr> Family Psychodidae </vt:lpstr>
      <vt:lpstr> Sandflies (Phlebotomine flies) </vt:lpstr>
      <vt:lpstr> Sandflies (Phlebotomine flies) cont’d </vt:lpstr>
      <vt:lpstr> Sandflies (Phlebotomine flies) cont’d </vt:lpstr>
      <vt:lpstr> Sandflies (Phlebotomine flies) cont’d </vt:lpstr>
      <vt:lpstr> Sandflies (Phlebotomine flies) cont’d </vt:lpstr>
      <vt:lpstr> Family Simuliidae </vt:lpstr>
      <vt:lpstr>PowerPoint Presentation</vt:lpstr>
      <vt:lpstr> Family Simuliidae cont’d </vt:lpstr>
      <vt:lpstr> Family Simuliidae cont’d </vt:lpstr>
      <vt:lpstr> Family Simuliidae cont’d </vt:lpstr>
      <vt:lpstr> Family Simuliidae cont’d </vt:lpstr>
      <vt:lpstr> Family Simuliidae cont’d </vt:lpstr>
      <vt:lpstr> Family Ceratopogonidae </vt:lpstr>
      <vt:lpstr> Family Ceratopogonidae cont’d </vt:lpstr>
      <vt:lpstr> Family Ceratopogonidae cont’d </vt:lpstr>
      <vt:lpstr> Family Ceratopogonidae cont’d </vt:lpstr>
      <vt:lpstr> Family Tabanidae </vt:lpstr>
      <vt:lpstr> Family Tabanidae cont’d </vt:lpstr>
      <vt:lpstr> Family Tabanidae cont’d </vt:lpstr>
      <vt:lpstr> Family Tabanidae cont’d </vt:lpstr>
      <vt:lpstr> Family Tabanidae cont’d </vt:lpstr>
      <vt:lpstr>PowerPoint Presentation</vt:lpstr>
      <vt:lpstr> Family Tabanidae cont’d </vt:lpstr>
      <vt:lpstr> Family Tabanidae cont’d </vt:lpstr>
      <vt:lpstr> Family Tabanidae cont’d </vt:lpstr>
      <vt:lpstr> Family Tabanidae cont’d </vt:lpstr>
      <vt:lpstr> Family Tabanidae cont’d </vt:lpstr>
      <vt:lpstr> Family Glossinidae </vt:lpstr>
      <vt:lpstr> Family Glossinidae cont’d </vt:lpstr>
      <vt:lpstr> Family Glossinidae cont’d </vt:lpstr>
      <vt:lpstr> Family Glossinidae cont’d </vt:lpstr>
      <vt:lpstr> Family Glossinidae cont’d </vt:lpstr>
      <vt:lpstr> Family Glossinidae cont’d </vt:lpstr>
      <vt:lpstr> Family Glossinidae cont’d </vt:lpstr>
      <vt:lpstr> Family Muscidae </vt:lpstr>
      <vt:lpstr> Family Glossinidae cont’d </vt:lpstr>
      <vt:lpstr> Family Glossinidae cont’d </vt:lpstr>
      <vt:lpstr> Family Glossinidae cont’d </vt:lpstr>
      <vt:lpstr> Family Glossinidae cont’d </vt:lpstr>
      <vt:lpstr> Family Glossinidae cont’d </vt:lpstr>
      <vt:lpstr> Stomoxys calcitrans (the Stable fly) </vt:lpstr>
      <vt:lpstr> Stomoxys calcitrans (the Stable fly) </vt:lpstr>
      <vt:lpstr> Stomoxys calcitrans (the Stable fly) </vt:lpstr>
      <vt:lpstr> Stomoxys calcitrans (the Stable fly) </vt:lpstr>
      <vt:lpstr> Stomoxys calcitrans (the Stable fly) </vt:lpstr>
      <vt:lpstr>Haematobia species (Horn flies)</vt:lpstr>
      <vt:lpstr> Myiasis </vt:lpstr>
      <vt:lpstr> Myiasis cont’d </vt:lpstr>
      <vt:lpstr> Myiasis cont’d </vt:lpstr>
      <vt:lpstr> Family Calliphoridae </vt:lpstr>
      <vt:lpstr> Family Calliphoridae cont’d </vt:lpstr>
      <vt:lpstr> Family Calliphoridae cont’d </vt:lpstr>
      <vt:lpstr> Family Calliphoridae cont’d </vt:lpstr>
      <vt:lpstr> Family Calliphoridae cont’d </vt:lpstr>
      <vt:lpstr> Family Calliphoridae cont’d </vt:lpstr>
      <vt:lpstr> Family Calliphoridae cont’d </vt:lpstr>
      <vt:lpstr> Family Calliphoridae cont’d </vt:lpstr>
      <vt:lpstr> Family Calliphoridae cont’d </vt:lpstr>
      <vt:lpstr> Family Calliphoridae cont’d </vt:lpstr>
      <vt:lpstr> Family Calliphoridae cont’d </vt:lpstr>
      <vt:lpstr> Family Sarcophagidae (Flesh flies) </vt:lpstr>
      <vt:lpstr> Family Sarcophagidae (Flesh flies) cont’d </vt:lpstr>
      <vt:lpstr> Family Sarcophagidae (Flesh flies) cont’d </vt:lpstr>
      <vt:lpstr> Family Oestridae (Bot flies) </vt:lpstr>
      <vt:lpstr> Family Oestridae (Bot flies) cont’d </vt:lpstr>
      <vt:lpstr> Family Oestridae (Bot flies) cont’d </vt:lpstr>
      <vt:lpstr> Family Fannidae </vt:lpstr>
      <vt:lpstr> Family Fannidae cont’d </vt:lpstr>
      <vt:lpstr>PARASITOLOGY (BIOL 460)</vt:lpstr>
      <vt:lpstr> Parasitic Insects: Fleas (Order Siphonaptera) </vt:lpstr>
      <vt:lpstr>PowerPoint Presentation</vt:lpstr>
      <vt:lpstr> Parasitic Insects: Fleas (Order Siphonaptera) cont’d </vt:lpstr>
      <vt:lpstr> Parasitic Insects: Fleas (Order Siphonaptera) cont’d </vt:lpstr>
      <vt:lpstr> Parasitic Insects: Fleas (Order Siphonaptera) cont’d </vt:lpstr>
      <vt:lpstr> Parasitic Insects: Fleas (Order Siphonaptera) cont’d </vt:lpstr>
      <vt:lpstr> Development </vt:lpstr>
      <vt:lpstr> Development cont’d </vt:lpstr>
      <vt:lpstr> Development cont’d </vt:lpstr>
      <vt:lpstr> Development cont’d </vt:lpstr>
      <vt:lpstr> Host Specificity </vt:lpstr>
      <vt:lpstr> Host Specificity cont’d </vt:lpstr>
      <vt:lpstr> Host Specificity cont’d </vt:lpstr>
      <vt:lpstr> Host Specificity cont’d </vt:lpstr>
      <vt:lpstr> Families of the Order Siphonaptera Of Medical importance </vt:lpstr>
      <vt:lpstr> Families Ceratophyllidae and Leptopsyllidae cont’d </vt:lpstr>
      <vt:lpstr> Family Pulicidae </vt:lpstr>
      <vt:lpstr> Family Pulicidae cont’d </vt:lpstr>
      <vt:lpstr> Family Pulicidae cont’d </vt:lpstr>
      <vt:lpstr> Family Pulicidae cont’d </vt:lpstr>
      <vt:lpstr> Family Pulicidae cont’d </vt:lpstr>
      <vt:lpstr> Family Pulicidae cont’d </vt:lpstr>
      <vt:lpstr> Family Pulicidae cont’d </vt:lpstr>
      <vt:lpstr> Family Tungidae </vt:lpstr>
      <vt:lpstr>Family Tungidae cont’d</vt:lpstr>
      <vt:lpstr>PowerPoint Presentation</vt:lpstr>
      <vt:lpstr>Family Tungidae cont’d</vt:lpstr>
      <vt:lpstr>Family Tungidae cont’d</vt:lpstr>
      <vt:lpstr>Family Tungidae cont’d</vt:lpstr>
      <vt:lpstr> Fleas as Vectors of Plague and Typhus </vt:lpstr>
      <vt:lpstr> Plague cont’d </vt:lpstr>
      <vt:lpstr> Plague cont’d </vt:lpstr>
      <vt:lpstr> Plague cont’d </vt:lpstr>
      <vt:lpstr> Plague cont’d </vt:lpstr>
      <vt:lpstr> Plague cont’d </vt:lpstr>
      <vt:lpstr> Plague cont’d </vt:lpstr>
      <vt:lpstr> Plague cont’d </vt:lpstr>
      <vt:lpstr> Plague cont’d </vt:lpstr>
      <vt:lpstr> Murine Typhus </vt:lpstr>
      <vt:lpstr> Murine Typhus cont’d </vt:lpstr>
      <vt:lpstr> Murine Typhus cont’d </vt:lpstr>
      <vt:lpstr>PARASITOLOGY (BIOL 460)</vt:lpstr>
      <vt:lpstr> PARASITIC ARACHNIDS </vt:lpstr>
      <vt:lpstr> PARASITIC ARACHNIDS CONT’D </vt:lpstr>
      <vt:lpstr>PowerPoint Presentation</vt:lpstr>
      <vt:lpstr> PARASITIC ARACHNIDS CONT’D </vt:lpstr>
      <vt:lpstr> TICKS </vt:lpstr>
      <vt:lpstr> TICKS CONT’D </vt:lpstr>
      <vt:lpstr> TICKS CONT’D </vt:lpstr>
      <vt:lpstr> Biology of Ticks (Some Highlights only) </vt:lpstr>
      <vt:lpstr> Biology of Ticks (Some Highlights only) cont’d </vt:lpstr>
      <vt:lpstr> Biology of Ticks (Some Highlights only) cont’d </vt:lpstr>
      <vt:lpstr> Biology of Ticks (Some Highlights only) cont’d </vt:lpstr>
      <vt:lpstr>  Family Argasidae (Soft Ticks)   </vt:lpstr>
      <vt:lpstr>  Family Argasidae (Soft Ticks) cont’d   </vt:lpstr>
      <vt:lpstr>PowerPoint Presentation</vt:lpstr>
      <vt:lpstr>  Family Argasidae (Soft Ticks) cont’d   </vt:lpstr>
      <vt:lpstr>  Family Argasidae (Soft Ticks) cont’d   </vt:lpstr>
      <vt:lpstr>  Family Argasidae (Soft Ticks) cont’d   </vt:lpstr>
      <vt:lpstr> Family Ixodidae (Hard Ticks) </vt:lpstr>
      <vt:lpstr> Family Ixodidae (Hard Ticks) cont’d </vt:lpstr>
      <vt:lpstr> Family Ixodidae (Hard Ticks) cont’d </vt:lpstr>
      <vt:lpstr> Family Ixodidae (Hard Ticks) cont’d </vt:lpstr>
      <vt:lpstr> Ixodes sp. </vt:lpstr>
      <vt:lpstr> Ixodes sp. cont’d </vt:lpstr>
      <vt:lpstr> Ixodes sp. cont’d </vt:lpstr>
      <vt:lpstr> Ixodes sp. cont’d </vt:lpstr>
      <vt:lpstr> Amblyomma sp. </vt:lpstr>
      <vt:lpstr> Dermacentor sp. </vt:lpstr>
      <vt:lpstr> Dermacentor sp. cont’d </vt:lpstr>
      <vt:lpstr> Immunity to Ticks </vt:lpstr>
      <vt:lpstr> MITES </vt:lpstr>
      <vt:lpstr> MITES CONT’D </vt:lpstr>
      <vt:lpstr> MITES CONT’D </vt:lpstr>
      <vt:lpstr> MITES CONT’D </vt:lpstr>
      <vt:lpstr> MITES CONT’D </vt:lpstr>
      <vt:lpstr>  Trombicula sp.  (Order Prostigmata; Family Trombiculidae)   </vt:lpstr>
      <vt:lpstr>  Trombicula sp.  (Order Prostigmata; Family Trombiculidae) cont’d   </vt:lpstr>
      <vt:lpstr>  Trombicula sp.  (Order Prostigmata; Family Trombiculidae) cont’d   </vt:lpstr>
      <vt:lpstr> Family Sarcoptidae (Order Oribatida) </vt:lpstr>
      <vt:lpstr> Family Sarcoptidae (Order Oribatida) cont’d </vt:lpstr>
      <vt:lpstr> Family Sarcoptidae (Order Oribatida) cont’d </vt:lpstr>
      <vt:lpstr> Family Sarcoptidae (Order Oribatida) cont’d </vt:lpstr>
      <vt:lpstr> Family Sarcoptidae (Order Oribatida) cont’d </vt:lpstr>
      <vt:lpstr> Family Sarcoptidae (Order Oribatida) cont’d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PARASITOLOGY BIOL 460</dc:title>
  <dc:creator>PROFESSOR LAWSON</dc:creator>
  <cp:lastModifiedBy>Aniagyei Odame Ebenezer</cp:lastModifiedBy>
  <cp:revision>67</cp:revision>
  <dcterms:created xsi:type="dcterms:W3CDTF">2018-01-16T11:02:08Z</dcterms:created>
  <dcterms:modified xsi:type="dcterms:W3CDTF">2023-05-20T10:20:23Z</dcterms:modified>
</cp:coreProperties>
</file>