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30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6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3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2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3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3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1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0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62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1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0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F32C2-031E-40E5-97FD-2F7D08DD2B4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90121-9F8E-4EC0-AC28-C2E8DD5B0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6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600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>
                <a:solidFill>
                  <a:srgbClr val="FF0000"/>
                </a:solidFill>
              </a:rPr>
              <a:t>DIAGNOSIS </a:t>
            </a:r>
            <a:r>
              <a:rPr lang="en-US" b="1" dirty="0">
                <a:solidFill>
                  <a:srgbClr val="FF0000"/>
                </a:solidFill>
              </a:rPr>
              <a:t>OF PARASITIC INFECTIONS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Unit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 smtClean="0"/>
              <a:t>2.1 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Specimen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 which parasites are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found</a:t>
            </a:r>
          </a:p>
          <a:p>
            <a:pPr marL="0" indent="0" algn="ctr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                               1.  </a:t>
            </a:r>
            <a:r>
              <a:rPr lang="en-US" b="1" dirty="0" smtClean="0">
                <a:solidFill>
                  <a:srgbClr val="00B0F0"/>
                </a:solidFill>
              </a:rPr>
              <a:t>Faeces/Stool</a:t>
            </a:r>
          </a:p>
          <a:p>
            <a:pPr marL="0" indent="0">
              <a:buNone/>
            </a:pPr>
            <a:r>
              <a:rPr lang="en-US" b="1" dirty="0"/>
              <a:t>Protozoan parasites</a:t>
            </a:r>
            <a:r>
              <a:rPr lang="en-US" dirty="0"/>
              <a:t>, depending on type of </a:t>
            </a:r>
            <a:r>
              <a:rPr lang="en-US" dirty="0" smtClean="0"/>
              <a:t>parasite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solidFill>
                  <a:srgbClr val="00B0F0"/>
                </a:solidFill>
              </a:rPr>
              <a:t>Cyst</a:t>
            </a:r>
            <a:r>
              <a:rPr lang="en-US" dirty="0" smtClean="0"/>
              <a:t>      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Amoeba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00B0F0"/>
                </a:solidFill>
              </a:rPr>
              <a:t>Flagellate</a:t>
            </a:r>
            <a:r>
              <a:rPr lang="en-US" dirty="0" smtClean="0"/>
              <a:t>         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Ciliate</a:t>
            </a:r>
            <a:r>
              <a:rPr lang="en-US" dirty="0"/>
              <a:t> 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Oocyst</a:t>
            </a:r>
            <a:r>
              <a:rPr lang="en-US" dirty="0"/>
              <a:t> 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235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00B0F0"/>
                </a:solidFill>
              </a:rPr>
              <a:t>Faeces/Stool</a:t>
            </a:r>
            <a:r>
              <a:rPr lang="en-US" b="1" dirty="0" smtClean="0"/>
              <a:t> 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For </a:t>
            </a:r>
            <a:r>
              <a:rPr lang="en-US" dirty="0"/>
              <a:t>some parasites both their </a:t>
            </a:r>
            <a:r>
              <a:rPr lang="en-US" dirty="0">
                <a:solidFill>
                  <a:srgbClr val="00B0F0"/>
                </a:solidFill>
              </a:rPr>
              <a:t>cyst and amoeba</a:t>
            </a:r>
            <a:r>
              <a:rPr lang="en-US" dirty="0"/>
              <a:t>, or </a:t>
            </a:r>
            <a:r>
              <a:rPr lang="en-US" dirty="0">
                <a:solidFill>
                  <a:srgbClr val="00B0F0"/>
                </a:solidFill>
              </a:rPr>
              <a:t>cyst and flagellate </a:t>
            </a:r>
            <a:r>
              <a:rPr lang="en-US" dirty="0"/>
              <a:t>or </a:t>
            </a:r>
            <a:r>
              <a:rPr lang="en-US" dirty="0">
                <a:solidFill>
                  <a:srgbClr val="00B0F0"/>
                </a:solidFill>
              </a:rPr>
              <a:t>cyst and ciliate </a:t>
            </a:r>
            <a:r>
              <a:rPr lang="en-US" dirty="0"/>
              <a:t>may be found</a:t>
            </a:r>
          </a:p>
        </p:txBody>
      </p:sp>
    </p:spTree>
    <p:extLst>
      <p:ext uri="{BB962C8B-B14F-4D97-AF65-F5344CB8AC3E}">
        <p14:creationId xmlns:p14="http://schemas.microsoft.com/office/powerpoint/2010/main" val="396237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F0"/>
                </a:solidFill>
              </a:rPr>
              <a:t>Structures found in faeces that may be confused with parasites</a:t>
            </a:r>
            <a:endParaRPr lang="en-US" b="1" dirty="0">
              <a:solidFill>
                <a:srgbClr val="00B0F0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64008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7392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>
                <a:solidFill>
                  <a:srgbClr val="00B0F0"/>
                </a:solidFill>
              </a:rPr>
              <a:t>Faeces/Stool</a:t>
            </a:r>
            <a:r>
              <a:rPr lang="en-US" b="1" dirty="0"/>
              <a:t>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Helminth parasites, </a:t>
            </a:r>
            <a:r>
              <a:rPr lang="en-US" dirty="0"/>
              <a:t>depending on the type of parasites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00B050"/>
                </a:solidFill>
              </a:rPr>
              <a:t>Egg</a:t>
            </a:r>
            <a:endParaRPr lang="en-US" dirty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Segment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Egg capsule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Worm</a:t>
            </a:r>
            <a:r>
              <a:rPr lang="en-US" dirty="0"/>
              <a:t> 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Larva</a:t>
            </a:r>
            <a:r>
              <a:rPr lang="en-US" dirty="0"/>
              <a:t> 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58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B0F0"/>
                </a:solidFill>
              </a:rPr>
              <a:t>Faeces</a:t>
            </a:r>
            <a:r>
              <a:rPr lang="en-US" b="1" dirty="0">
                <a:solidFill>
                  <a:srgbClr val="00B0F0"/>
                </a:solidFill>
              </a:rPr>
              <a:t>/Stool</a:t>
            </a:r>
            <a:r>
              <a:rPr lang="en-US" b="1" dirty="0"/>
              <a:t> </a:t>
            </a:r>
            <a:r>
              <a:rPr lang="en-US" b="1" dirty="0" smtClean="0"/>
              <a:t>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For </a:t>
            </a:r>
            <a:r>
              <a:rPr lang="en-US" dirty="0"/>
              <a:t>some parasites both their </a:t>
            </a:r>
            <a:r>
              <a:rPr lang="en-US" dirty="0">
                <a:solidFill>
                  <a:srgbClr val="00B050"/>
                </a:solidFill>
              </a:rPr>
              <a:t>egg and segment </a:t>
            </a:r>
            <a:r>
              <a:rPr lang="en-US" dirty="0"/>
              <a:t>or </a:t>
            </a:r>
            <a:r>
              <a:rPr lang="en-US" dirty="0">
                <a:solidFill>
                  <a:srgbClr val="00B050"/>
                </a:solidFill>
              </a:rPr>
              <a:t>egg and capsule </a:t>
            </a:r>
            <a:r>
              <a:rPr lang="en-US" dirty="0"/>
              <a:t>or </a:t>
            </a:r>
            <a:r>
              <a:rPr lang="en-US" dirty="0">
                <a:solidFill>
                  <a:srgbClr val="00B050"/>
                </a:solidFill>
              </a:rPr>
              <a:t>egg and worm </a:t>
            </a:r>
            <a:r>
              <a:rPr lang="en-US" dirty="0"/>
              <a:t>may be found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7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Specimen </a:t>
            </a:r>
            <a:r>
              <a:rPr lang="en-US" b="1" dirty="0">
                <a:solidFill>
                  <a:srgbClr val="FF0000"/>
                </a:solidFill>
              </a:rPr>
              <a:t>in which parasites are </a:t>
            </a:r>
            <a:r>
              <a:rPr lang="en-US" b="1" dirty="0" smtClean="0">
                <a:solidFill>
                  <a:srgbClr val="FF0000"/>
                </a:solidFill>
              </a:rPr>
              <a:t>found 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 smtClean="0"/>
              <a:t>2.  </a:t>
            </a:r>
            <a:r>
              <a:rPr lang="en-US" b="1" dirty="0" smtClean="0">
                <a:solidFill>
                  <a:srgbClr val="C00000"/>
                </a:solidFill>
              </a:rPr>
              <a:t>Blood</a:t>
            </a:r>
            <a:endParaRPr lang="en-US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/>
              <a:t>Protozoan parasites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Trophozoite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Schizont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Gametocyte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Trypomastigote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Helminth parasites </a:t>
            </a:r>
            <a:r>
              <a:rPr lang="en-US" dirty="0"/>
              <a:t>(</a:t>
            </a:r>
            <a:r>
              <a:rPr lang="en-US" b="1" dirty="0"/>
              <a:t>Nematodes</a:t>
            </a:r>
            <a:r>
              <a:rPr lang="en-US" dirty="0"/>
              <a:t>)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Microfilaria</a:t>
            </a:r>
          </a:p>
        </p:txBody>
      </p:sp>
    </p:spTree>
    <p:extLst>
      <p:ext uri="{BB962C8B-B14F-4D97-AF65-F5344CB8AC3E}">
        <p14:creationId xmlns:p14="http://schemas.microsoft.com/office/powerpoint/2010/main" val="147315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Specimen </a:t>
            </a:r>
            <a:r>
              <a:rPr lang="en-US" b="1" dirty="0">
                <a:solidFill>
                  <a:srgbClr val="FF0000"/>
                </a:solidFill>
              </a:rPr>
              <a:t>in which parasites are </a:t>
            </a:r>
            <a:r>
              <a:rPr lang="en-US" b="1" dirty="0" smtClean="0">
                <a:solidFill>
                  <a:srgbClr val="FF0000"/>
                </a:solidFill>
              </a:rPr>
              <a:t>found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3. </a:t>
            </a:r>
            <a:r>
              <a:rPr lang="en-US" b="1" dirty="0">
                <a:solidFill>
                  <a:srgbClr val="7030A0"/>
                </a:solidFill>
              </a:rPr>
              <a:t>Urine</a:t>
            </a:r>
            <a:endParaRPr lang="en-US" dirty="0">
              <a:solidFill>
                <a:srgbClr val="7030A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/>
              <a:t>Protozoan parasites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Flagellate</a:t>
            </a:r>
            <a:r>
              <a:rPr lang="en-US" dirty="0"/>
              <a:t> (rarely)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Helminth parasites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00B0F0"/>
                </a:solidFill>
              </a:rPr>
              <a:t>Egg</a:t>
            </a:r>
            <a:endParaRPr lang="en-US" dirty="0">
              <a:solidFill>
                <a:srgbClr val="00B0F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Microfilaria</a:t>
            </a:r>
            <a:r>
              <a:rPr lang="en-US" dirty="0"/>
              <a:t> (rarely)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4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Specimen </a:t>
            </a:r>
            <a:r>
              <a:rPr lang="en-US" b="1" dirty="0">
                <a:solidFill>
                  <a:srgbClr val="FF0000"/>
                </a:solidFill>
              </a:rPr>
              <a:t>in which parasites are </a:t>
            </a:r>
            <a:r>
              <a:rPr lang="en-US" b="1" dirty="0" smtClean="0">
                <a:solidFill>
                  <a:srgbClr val="FF0000"/>
                </a:solidFill>
              </a:rPr>
              <a:t>found 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4. </a:t>
            </a:r>
            <a:r>
              <a:rPr lang="en-US" b="1" dirty="0">
                <a:solidFill>
                  <a:srgbClr val="92D050"/>
                </a:solidFill>
              </a:rPr>
              <a:t>Sputum</a:t>
            </a:r>
            <a:endParaRPr lang="en-US" dirty="0">
              <a:solidFill>
                <a:srgbClr val="92D05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/>
              <a:t>Helminth parasite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Egg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Flukes</a:t>
            </a:r>
            <a:r>
              <a:rPr lang="en-US" dirty="0"/>
              <a:t> (occasionally)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555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Specimen </a:t>
            </a:r>
            <a:r>
              <a:rPr lang="en-US" b="1" dirty="0">
                <a:solidFill>
                  <a:srgbClr val="FF0000"/>
                </a:solidFill>
              </a:rPr>
              <a:t>in which parasites are </a:t>
            </a:r>
            <a:r>
              <a:rPr lang="en-US" b="1" dirty="0" smtClean="0">
                <a:solidFill>
                  <a:srgbClr val="FF0000"/>
                </a:solidFill>
              </a:rPr>
              <a:t>found 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5. </a:t>
            </a:r>
            <a:r>
              <a:rPr lang="en-US" b="1" dirty="0">
                <a:solidFill>
                  <a:srgbClr val="FF3399"/>
                </a:solidFill>
              </a:rPr>
              <a:t>Cerebrospinal fluid</a:t>
            </a:r>
            <a:endParaRPr lang="en-US" dirty="0">
              <a:solidFill>
                <a:srgbClr val="FF3399"/>
              </a:solidFill>
            </a:endParaRPr>
          </a:p>
          <a:p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b="1" dirty="0"/>
              <a:t>Protozoan parasites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Trypomastigote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Amoeba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673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Specimen </a:t>
            </a:r>
            <a:r>
              <a:rPr lang="en-US" b="1" dirty="0">
                <a:solidFill>
                  <a:srgbClr val="FF0000"/>
                </a:solidFill>
              </a:rPr>
              <a:t>in which parasites are </a:t>
            </a:r>
            <a:r>
              <a:rPr lang="en-US" b="1" dirty="0" smtClean="0">
                <a:solidFill>
                  <a:srgbClr val="FF0000"/>
                </a:solidFill>
              </a:rPr>
              <a:t>found 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6. </a:t>
            </a:r>
            <a:r>
              <a:rPr lang="en-US" b="1" dirty="0">
                <a:solidFill>
                  <a:srgbClr val="0070C0"/>
                </a:solidFill>
              </a:rPr>
              <a:t>Bone marrow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b="1" dirty="0"/>
              <a:t>Protozoan parasites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FF3399"/>
                </a:solidFill>
              </a:rPr>
              <a:t>Amastigote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solidFill>
                  <a:srgbClr val="FF3399"/>
                </a:solidFill>
              </a:rPr>
              <a:t>Toxoplasm</a:t>
            </a:r>
            <a:endParaRPr lang="en-US" dirty="0">
              <a:solidFill>
                <a:srgbClr val="FF3399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40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Specimen </a:t>
            </a:r>
            <a:r>
              <a:rPr lang="en-US" b="1" dirty="0">
                <a:solidFill>
                  <a:srgbClr val="FF0000"/>
                </a:solidFill>
              </a:rPr>
              <a:t>in which parasites are </a:t>
            </a:r>
            <a:r>
              <a:rPr lang="en-US" b="1" dirty="0" smtClean="0">
                <a:solidFill>
                  <a:srgbClr val="FF0000"/>
                </a:solidFill>
              </a:rPr>
              <a:t>found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7</a:t>
            </a:r>
            <a:r>
              <a:rPr lang="en-US" b="1" dirty="0">
                <a:solidFill>
                  <a:srgbClr val="92D050"/>
                </a:solidFill>
              </a:rPr>
              <a:t>. Lymph gland Aspirate</a:t>
            </a:r>
            <a:endParaRPr lang="en-US" dirty="0">
              <a:solidFill>
                <a:srgbClr val="92D05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/>
              <a:t>Protozoan parasites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Trypomastigote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Amastigote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Toxoplasm</a:t>
            </a:r>
          </a:p>
        </p:txBody>
      </p:sp>
    </p:spTree>
    <p:extLst>
      <p:ext uri="{BB962C8B-B14F-4D97-AF65-F5344CB8AC3E}">
        <p14:creationId xmlns:p14="http://schemas.microsoft.com/office/powerpoint/2010/main" val="1571657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Specimen </a:t>
            </a:r>
            <a:r>
              <a:rPr lang="en-US" b="1" dirty="0">
                <a:solidFill>
                  <a:srgbClr val="FF0000"/>
                </a:solidFill>
              </a:rPr>
              <a:t>in which parasites are found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8.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Liver Aspirate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/>
              <a:t>Protozoan parasites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Amoeba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Amastigote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Toxoplasm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53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Specimen in which parasites are found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9. </a:t>
            </a:r>
            <a:r>
              <a:rPr lang="en-US" b="1" dirty="0">
                <a:solidFill>
                  <a:srgbClr val="7030A0"/>
                </a:solidFill>
              </a:rPr>
              <a:t>Spleen aspirate</a:t>
            </a:r>
            <a:endParaRPr lang="en-US" dirty="0">
              <a:solidFill>
                <a:srgbClr val="7030A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/>
              <a:t>Protozoan </a:t>
            </a:r>
            <a:r>
              <a:rPr lang="en-US" b="1" dirty="0" smtClean="0"/>
              <a:t>parasites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7030A0"/>
                </a:solidFill>
              </a:rPr>
              <a:t>Amastigote</a:t>
            </a:r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solidFill>
                  <a:srgbClr val="7030A0"/>
                </a:solidFill>
              </a:rPr>
              <a:t>Toxoplasm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475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Specimen in which parasites are found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10. </a:t>
            </a:r>
            <a:r>
              <a:rPr lang="en-US" b="1" dirty="0">
                <a:solidFill>
                  <a:srgbClr val="FF3399"/>
                </a:solidFill>
              </a:rPr>
              <a:t>Skin</a:t>
            </a:r>
            <a:endParaRPr lang="en-US" dirty="0">
              <a:solidFill>
                <a:srgbClr val="FF3399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/>
              <a:t>Protozoan parasites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FF3399"/>
                </a:solidFill>
              </a:rPr>
              <a:t>Amastigote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Helminth parasites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FF3399"/>
                </a:solidFill>
              </a:rPr>
              <a:t>Microfilaria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FF3399"/>
                </a:solidFill>
              </a:rPr>
              <a:t>Larva in ulcer fluid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FF3399"/>
                </a:solidFill>
              </a:rPr>
              <a:t>Egg on perianal skin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683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Specimen in which parasites are found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11. </a:t>
            </a:r>
            <a:r>
              <a:rPr lang="en-US" b="1" dirty="0">
                <a:solidFill>
                  <a:srgbClr val="FFC000"/>
                </a:solidFill>
              </a:rPr>
              <a:t>Muscle</a:t>
            </a:r>
            <a:endParaRPr lang="en-US" dirty="0">
              <a:solidFill>
                <a:srgbClr val="FFC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/>
              <a:t>Helminth parasites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FFC000"/>
                </a:solidFill>
              </a:rPr>
              <a:t>Larvae</a:t>
            </a:r>
            <a:endParaRPr lang="en-US" dirty="0">
              <a:solidFill>
                <a:srgbClr val="FFC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439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Specimen in which parasites are found </a:t>
            </a:r>
            <a:r>
              <a:rPr lang="en-US" b="1" dirty="0" smtClean="0"/>
              <a:t>(Cont’d.)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12. </a:t>
            </a:r>
            <a:r>
              <a:rPr lang="en-US" b="1" dirty="0">
                <a:solidFill>
                  <a:srgbClr val="0070C0"/>
                </a:solidFill>
              </a:rPr>
              <a:t>Rectal Scraping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/>
              <a:t>Protozoan parasites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0070C0"/>
                </a:solidFill>
              </a:rPr>
              <a:t>Amoeba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Helminth </a:t>
            </a:r>
            <a:r>
              <a:rPr lang="en-US" b="1" dirty="0"/>
              <a:t>parasites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0070C0"/>
                </a:solidFill>
              </a:rPr>
              <a:t>Egg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53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Specimen in which parasites are found </a:t>
            </a:r>
            <a:r>
              <a:rPr lang="en-US" b="1" dirty="0"/>
              <a:t>(Cont’d.)</a:t>
            </a:r>
            <a:br>
              <a:rPr lang="en-US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 smtClean="0">
                <a:solidFill>
                  <a:srgbClr val="00B0F0"/>
                </a:solidFill>
              </a:rPr>
              <a:t>13.Duodenal Aspirate</a:t>
            </a:r>
          </a:p>
          <a:p>
            <a:pPr marL="0" indent="0">
              <a:buNone/>
            </a:pPr>
            <a:r>
              <a:rPr lang="en-GB" b="1" dirty="0" smtClean="0"/>
              <a:t>Protozoan parasites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>
                <a:solidFill>
                  <a:srgbClr val="00B0F0"/>
                </a:solidFill>
              </a:rPr>
              <a:t>Flagellates</a:t>
            </a:r>
          </a:p>
          <a:p>
            <a:pPr marL="0" indent="0">
              <a:buNone/>
            </a:pPr>
            <a:r>
              <a:rPr lang="en-GB" b="1" dirty="0" smtClean="0"/>
              <a:t>Helminth parasites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>
                <a:solidFill>
                  <a:srgbClr val="00B0F0"/>
                </a:solidFill>
              </a:rPr>
              <a:t>Egg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>
                <a:solidFill>
                  <a:srgbClr val="00B0F0"/>
                </a:solidFill>
              </a:rPr>
              <a:t>lava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4256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</a:t>
            </a:r>
            <a:r>
              <a:rPr lang="en-US" b="1" dirty="0">
                <a:solidFill>
                  <a:srgbClr val="FFC000"/>
                </a:solidFill>
              </a:rPr>
              <a:t>Methods used in diagnosis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lang="en-US" b="1" dirty="0" smtClean="0"/>
              <a:t>1. 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Microscopic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examination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dirty="0"/>
              <a:t>For majority of </a:t>
            </a:r>
            <a:r>
              <a:rPr lang="en-US" dirty="0">
                <a:solidFill>
                  <a:srgbClr val="00B0F0"/>
                </a:solidFill>
              </a:rPr>
              <a:t>intestinal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urinary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blood</a:t>
            </a:r>
            <a:r>
              <a:rPr lang="en-US" dirty="0"/>
              <a:t> parasites in stained or unstained preparations</a:t>
            </a:r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u="sng" dirty="0" smtClean="0"/>
              <a:t>The </a:t>
            </a:r>
            <a:r>
              <a:rPr lang="en-US" u="sng" dirty="0"/>
              <a:t>preparations may be viewed directly or following concentration (when the parasites are few)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19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algn="ctr">
              <a:buNone/>
            </a:pPr>
            <a:r>
              <a:rPr lang="en-US" b="1" dirty="0" smtClean="0"/>
              <a:t>2. 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Cultural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techniques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u="sng" dirty="0"/>
              <a:t>Few parasitic infections </a:t>
            </a:r>
            <a:r>
              <a:rPr lang="en-US" dirty="0"/>
              <a:t>are diagnosed routinely by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cultural techniques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For example </a:t>
            </a:r>
            <a:r>
              <a:rPr lang="en-US" dirty="0">
                <a:solidFill>
                  <a:srgbClr val="00B0F0"/>
                </a:solidFill>
              </a:rPr>
              <a:t>stool or faecal culture </a:t>
            </a:r>
            <a:r>
              <a:rPr lang="en-US" dirty="0"/>
              <a:t>(</a:t>
            </a:r>
            <a:r>
              <a:rPr lang="en-US" dirty="0">
                <a:solidFill>
                  <a:srgbClr val="00B0F0"/>
                </a:solidFill>
              </a:rPr>
              <a:t>Coproculture</a:t>
            </a:r>
            <a:r>
              <a:rPr lang="en-US" dirty="0"/>
              <a:t>) </a:t>
            </a:r>
            <a:r>
              <a:rPr lang="en-US" u="sng" dirty="0"/>
              <a:t>to enable distinguishing of nematode specimens</a:t>
            </a:r>
            <a:r>
              <a:rPr lang="en-US" dirty="0"/>
              <a:t>;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the </a:t>
            </a:r>
            <a:r>
              <a:rPr lang="en-US" dirty="0"/>
              <a:t>method is necessary for identifying e.g. hookworm specimens (</a:t>
            </a:r>
            <a:r>
              <a:rPr lang="en-US" i="1" dirty="0"/>
              <a:t>Ancylostoma </a:t>
            </a:r>
            <a:r>
              <a:rPr lang="en-US" i="1" dirty="0" err="1"/>
              <a:t>sp</a:t>
            </a:r>
            <a:r>
              <a:rPr lang="en-US" dirty="0"/>
              <a:t>; </a:t>
            </a:r>
            <a:r>
              <a:rPr lang="en-US" i="1" dirty="0"/>
              <a:t>Necator sp.</a:t>
            </a:r>
            <a:r>
              <a:rPr lang="en-US" dirty="0"/>
              <a:t>, </a:t>
            </a:r>
            <a:r>
              <a:rPr lang="en-US" i="1" dirty="0"/>
              <a:t>Oesophagostomum sp</a:t>
            </a:r>
            <a:r>
              <a:rPr lang="en-US" i="1" dirty="0" smtClean="0"/>
              <a:t>.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44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2</a:t>
            </a:r>
            <a:r>
              <a:rPr lang="en-US" b="1" dirty="0"/>
              <a:t>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Cultural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techniques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u="sng" dirty="0" smtClean="0"/>
              <a:t>Culture </a:t>
            </a:r>
            <a:r>
              <a:rPr lang="en-US" u="sng" dirty="0"/>
              <a:t>of the faecal specimen leads to hatching of the eggs which develop to the </a:t>
            </a:r>
            <a:r>
              <a:rPr lang="en-US" u="sng" dirty="0">
                <a:solidFill>
                  <a:srgbClr val="00B0F0"/>
                </a:solidFill>
              </a:rPr>
              <a:t>L</a:t>
            </a:r>
            <a:r>
              <a:rPr lang="en-US" u="sng" baseline="-25000" dirty="0">
                <a:solidFill>
                  <a:srgbClr val="00B0F0"/>
                </a:solidFill>
              </a:rPr>
              <a:t>3</a:t>
            </a:r>
            <a:r>
              <a:rPr lang="en-US" u="sng" dirty="0">
                <a:solidFill>
                  <a:srgbClr val="00B0F0"/>
                </a:solidFill>
              </a:rPr>
              <a:t> larval stage</a:t>
            </a:r>
            <a:r>
              <a:rPr lang="en-US" u="sng" dirty="0"/>
              <a:t> </a:t>
            </a:r>
            <a:r>
              <a:rPr lang="en-US" b="1" dirty="0"/>
              <a:t>when the worms can be identified on the basis of their unique larval features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864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3</a:t>
            </a:r>
            <a:r>
              <a:rPr lang="en-US" b="1" dirty="0"/>
              <a:t>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Immunodiagnostic techniques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q"/>
            </a:pPr>
            <a:r>
              <a:rPr lang="en-US" dirty="0" smtClean="0"/>
              <a:t>These </a:t>
            </a:r>
            <a:r>
              <a:rPr lang="en-US" dirty="0"/>
              <a:t>are used when: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Parasites are in the tissues of internal organs and cannot be easily removed for examination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Parasites can be found in specimens only in certain stages of an infection </a:t>
            </a:r>
            <a:r>
              <a:rPr lang="en-US" dirty="0"/>
              <a:t>(e.g. in the acute, and not in the chronic stage)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Parasites are present only intermittently or in too few numbers to be easily detected in specimens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02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3</a:t>
            </a:r>
            <a:r>
              <a:rPr lang="en-US" b="1" dirty="0"/>
              <a:t>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Immunodiagnostic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techniques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The techniques used are generally </a:t>
            </a:r>
            <a:r>
              <a:rPr lang="en-US" dirty="0">
                <a:solidFill>
                  <a:srgbClr val="FF0000"/>
                </a:solidFill>
              </a:rPr>
              <a:t>complex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time-consuming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u="sng" dirty="0" smtClean="0"/>
              <a:t>Parasitic </a:t>
            </a:r>
            <a:r>
              <a:rPr lang="en-US" u="sng" dirty="0"/>
              <a:t>diseases for which immunodiagnosis is of particular value include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</a:rPr>
              <a:t>Trypanosomiasis</a:t>
            </a:r>
            <a:endParaRPr lang="en-US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>
                <a:solidFill>
                  <a:srgbClr val="C00000"/>
                </a:solidFill>
              </a:rPr>
              <a:t>Leishmaniasis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001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3.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Immunodiagnostic techniques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</a:rPr>
              <a:t>Amoebic </a:t>
            </a:r>
            <a:r>
              <a:rPr lang="en-US" dirty="0">
                <a:solidFill>
                  <a:srgbClr val="C00000"/>
                </a:solidFill>
              </a:rPr>
              <a:t>Liver abscess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</a:rPr>
              <a:t>Toxoplasmosis</a:t>
            </a:r>
            <a:endParaRPr lang="en-US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</a:rPr>
              <a:t>Hydatid </a:t>
            </a:r>
            <a:r>
              <a:rPr lang="en-US" dirty="0">
                <a:solidFill>
                  <a:srgbClr val="C00000"/>
                </a:solidFill>
              </a:rPr>
              <a:t>disease 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</a:rPr>
              <a:t>Filariasis</a:t>
            </a:r>
            <a:r>
              <a:rPr lang="en-US" dirty="0" smtClean="0"/>
              <a:t> </a:t>
            </a:r>
            <a:r>
              <a:rPr lang="en-US" dirty="0"/>
              <a:t>(Occult and chronic infections)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294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3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. Immunodiagnostic techniques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>
                <a:solidFill>
                  <a:srgbClr val="C00000"/>
                </a:solidFill>
              </a:rPr>
              <a:t>Trichinellosis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</a:rPr>
              <a:t>Toxocariasis</a:t>
            </a:r>
            <a:endParaRPr lang="en-US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>
                <a:solidFill>
                  <a:srgbClr val="C00000"/>
                </a:solidFill>
              </a:rPr>
              <a:t>Schistosomiasis</a:t>
            </a:r>
            <a:r>
              <a:rPr lang="en-US" dirty="0"/>
              <a:t> (chronic stage)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615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3.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Immunodiagnostic techniques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i="1" dirty="0"/>
              <a:t>Immunodiagnostic techniques are based on the detection of: 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Antibody in a person’s serum</a:t>
            </a:r>
            <a:r>
              <a:rPr lang="en-US" dirty="0"/>
              <a:t>, produced in response to a particular parasitic </a:t>
            </a:r>
            <a:r>
              <a:rPr lang="en-US" dirty="0" smtClean="0"/>
              <a:t>infection.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 smtClean="0"/>
              <a:t>The </a:t>
            </a:r>
            <a:r>
              <a:rPr lang="en-US" u="sng" dirty="0"/>
              <a:t>antibody may persist for a long period in the serum after an infection has ended hence the tests do not indicate whether the infection is current or long ago</a:t>
            </a:r>
            <a:r>
              <a:rPr lang="en-US" dirty="0" smtClean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</a:rPr>
              <a:t>Antibody tests need to be interpreted with care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621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3.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Immunodiagnostic techniques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Antigen, which is excreted by parasites and can be found in serum, urine, cerebrospinal fluid, faeces or other specimens</a:t>
            </a:r>
            <a:r>
              <a:rPr lang="en-US" dirty="0" smtClean="0"/>
              <a:t>.</a:t>
            </a:r>
          </a:p>
          <a:p>
            <a:pPr lvl="0">
              <a:buFont typeface="Wingdings" pitchFamily="2" charset="2"/>
              <a:buChar char="v"/>
            </a:pP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u="sng" dirty="0"/>
              <a:t>Antigen tests provide evidence of present infection </a:t>
            </a:r>
            <a:r>
              <a:rPr lang="en-US" dirty="0">
                <a:solidFill>
                  <a:srgbClr val="00B050"/>
                </a:solidFill>
              </a:rPr>
              <a:t>and are therefore of greater value than antibody tests </a:t>
            </a:r>
            <a:r>
              <a:rPr lang="en-US" dirty="0"/>
              <a:t>in clinical diagnosis of parasitic infections.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571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3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. Immunodiagnostic techniques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In </a:t>
            </a:r>
            <a:r>
              <a:rPr lang="en-US" dirty="0"/>
              <a:t>a few parasitic infections the </a:t>
            </a:r>
            <a:r>
              <a:rPr lang="en-US" dirty="0">
                <a:solidFill>
                  <a:srgbClr val="00B050"/>
                </a:solidFill>
              </a:rPr>
              <a:t>demonstration of IgM antibody helps to indicate whether an infection is a recent one</a:t>
            </a:r>
            <a:r>
              <a:rPr lang="en-US" dirty="0"/>
              <a:t>, e.g. Toxoplasmosis.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056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3.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Immunodiagnostic techniques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00B0F0"/>
                </a:solidFill>
              </a:rPr>
              <a:t>Testing </a:t>
            </a:r>
            <a:r>
              <a:rPr lang="en-US" dirty="0">
                <a:solidFill>
                  <a:srgbClr val="00B0F0"/>
                </a:solidFill>
              </a:rPr>
              <a:t>for a rising antibody titre </a:t>
            </a:r>
            <a:r>
              <a:rPr lang="en-US" dirty="0"/>
              <a:t>can be of value in </a:t>
            </a:r>
            <a:r>
              <a:rPr lang="en-US" dirty="0">
                <a:solidFill>
                  <a:srgbClr val="FF3399"/>
                </a:solidFill>
              </a:rPr>
              <a:t>indicating whether an infection is an active one </a:t>
            </a:r>
            <a:r>
              <a:rPr lang="en-US" dirty="0"/>
              <a:t>and in some sensitive tests, </a:t>
            </a:r>
            <a:r>
              <a:rPr lang="en-US" dirty="0">
                <a:solidFill>
                  <a:srgbClr val="00B050"/>
                </a:solidFill>
              </a:rPr>
              <a:t>changes in antibody titre can indicate whether a patient is responding to treatment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232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3.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Immunodiagnostic techniques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u="sng" dirty="0"/>
              <a:t>Interpretation of antibody test results needs care </a:t>
            </a:r>
            <a:r>
              <a:rPr lang="en-US" dirty="0"/>
              <a:t>because </a:t>
            </a:r>
            <a:r>
              <a:rPr lang="en-US" dirty="0">
                <a:solidFill>
                  <a:srgbClr val="C00000"/>
                </a:solidFill>
              </a:rPr>
              <a:t>false positive reactions </a:t>
            </a:r>
            <a:r>
              <a:rPr lang="en-US" dirty="0"/>
              <a:t>may occur </a:t>
            </a:r>
            <a:r>
              <a:rPr lang="en-US" u="sng" dirty="0"/>
              <a:t>due to cross-reactions with other human and animal parasitic </a:t>
            </a:r>
            <a:r>
              <a:rPr lang="en-US" u="sng" dirty="0" smtClean="0"/>
              <a:t>antigens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u="sng" dirty="0" smtClean="0"/>
              <a:t>Different </a:t>
            </a:r>
            <a:r>
              <a:rPr lang="en-US" u="sng" dirty="0"/>
              <a:t>helminthes share many antigens and hence species-specific diagnosis is not always possible</a:t>
            </a:r>
            <a:r>
              <a:rPr lang="en-US" dirty="0"/>
              <a:t>. </a:t>
            </a:r>
            <a:r>
              <a:rPr lang="en-US" dirty="0">
                <a:solidFill>
                  <a:srgbClr val="0070C0"/>
                </a:solidFill>
              </a:rPr>
              <a:t>False negative results </a:t>
            </a:r>
            <a:r>
              <a:rPr lang="en-US" dirty="0"/>
              <a:t>may occur due to an excess of antigen removing the antibody</a:t>
            </a:r>
          </a:p>
        </p:txBody>
      </p:sp>
    </p:spTree>
    <p:extLst>
      <p:ext uri="{BB962C8B-B14F-4D97-AF65-F5344CB8AC3E}">
        <p14:creationId xmlns:p14="http://schemas.microsoft.com/office/powerpoint/2010/main" val="3737389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Antibody/Serological </a:t>
            </a:r>
            <a:r>
              <a:rPr lang="en-US" b="1" dirty="0">
                <a:solidFill>
                  <a:srgbClr val="FF0000"/>
                </a:solidFill>
              </a:rPr>
              <a:t>Tests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These include: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7030A0"/>
                </a:solidFill>
              </a:rPr>
              <a:t>Rapid Slide Agglutination Test </a:t>
            </a: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RSA test</a:t>
            </a:r>
            <a:r>
              <a:rPr lang="en-US" dirty="0"/>
              <a:t>)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7030A0"/>
                </a:solidFill>
              </a:rPr>
              <a:t>Gel or Cellulose Acetate Precipitin Test </a:t>
            </a: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GCAPT</a:t>
            </a:r>
            <a:r>
              <a:rPr lang="en-US" dirty="0"/>
              <a:t>)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7030A0"/>
                </a:solidFill>
              </a:rPr>
              <a:t>Indirect Haemaglutination Test </a:t>
            </a: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IHT</a:t>
            </a:r>
            <a:r>
              <a:rPr lang="en-US" dirty="0"/>
              <a:t>)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7030A0"/>
                </a:solidFill>
              </a:rPr>
              <a:t>Complement Fixation Test </a:t>
            </a: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CFT</a:t>
            </a:r>
            <a:r>
              <a:rPr lang="en-US" dirty="0"/>
              <a:t>)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7030A0"/>
                </a:solidFill>
              </a:rPr>
              <a:t>Indirect Fluorescent Antibody Test </a:t>
            </a: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IFAT</a:t>
            </a:r>
            <a:r>
              <a:rPr lang="en-US" dirty="0"/>
              <a:t>) and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7030A0"/>
                </a:solidFill>
              </a:rPr>
              <a:t>Enzyme-linked Immunosorbent Assay </a:t>
            </a: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ELISA</a:t>
            </a:r>
            <a:r>
              <a:rPr lang="en-US" dirty="0"/>
              <a:t>)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346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Antibody/Serological </a:t>
            </a:r>
            <a:r>
              <a:rPr lang="en-US" b="1" dirty="0" smtClean="0">
                <a:solidFill>
                  <a:srgbClr val="FF0000"/>
                </a:solidFill>
              </a:rPr>
              <a:t>Tests </a:t>
            </a:r>
            <a:r>
              <a:rPr lang="en-US" b="1" dirty="0" smtClean="0"/>
              <a:t>(Cont’d.)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choice of technique depends on </a:t>
            </a:r>
            <a:r>
              <a:rPr lang="en-US" dirty="0"/>
              <a:t>a number of factors, including </a:t>
            </a:r>
            <a:r>
              <a:rPr lang="en-US" dirty="0" smtClean="0"/>
              <a:t>the 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endParaRPr lang="en-US" dirty="0" smtClean="0"/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srgbClr val="00B0F0"/>
                </a:solidFill>
              </a:rPr>
              <a:t>Parasitic </a:t>
            </a:r>
            <a:r>
              <a:rPr lang="en-US" dirty="0">
                <a:solidFill>
                  <a:srgbClr val="00B0F0"/>
                </a:solidFill>
              </a:rPr>
              <a:t>infection under investigation</a:t>
            </a:r>
            <a:endParaRPr lang="en-US" sz="2400" dirty="0">
              <a:solidFill>
                <a:srgbClr val="00B0F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>
                <a:solidFill>
                  <a:srgbClr val="00B0F0"/>
                </a:solidFill>
              </a:rPr>
              <a:t>The number of tests</a:t>
            </a:r>
            <a:endParaRPr lang="en-US" sz="2400" dirty="0">
              <a:solidFill>
                <a:srgbClr val="00B0F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>
                <a:solidFill>
                  <a:srgbClr val="00B0F0"/>
                </a:solidFill>
              </a:rPr>
              <a:t>The availability of reagents</a:t>
            </a:r>
            <a:endParaRPr lang="en-US" sz="2400" dirty="0">
              <a:solidFill>
                <a:srgbClr val="00B0F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>
                <a:solidFill>
                  <a:srgbClr val="00B0F0"/>
                </a:solidFill>
              </a:rPr>
              <a:t>Sensitivity and specificity of the test system </a:t>
            </a:r>
            <a:r>
              <a:rPr lang="en-US" dirty="0"/>
              <a:t>and </a:t>
            </a:r>
            <a:endParaRPr lang="en-US" sz="2400" dirty="0"/>
          </a:p>
          <a:p>
            <a:pPr lvl="1">
              <a:buFont typeface="Wingdings" pitchFamily="2" charset="2"/>
              <a:buChar char="Ø"/>
            </a:pPr>
            <a:r>
              <a:rPr lang="en-US" dirty="0">
                <a:solidFill>
                  <a:srgbClr val="00B0F0"/>
                </a:solidFill>
              </a:rPr>
              <a:t>The ability and facilities available in the laboratory</a:t>
            </a:r>
            <a:r>
              <a:rPr lang="en-US" dirty="0"/>
              <a:t>.</a:t>
            </a:r>
            <a:endParaRPr lang="en-US" sz="2400" dirty="0"/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656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Antibody/Serological Tests </a:t>
            </a:r>
            <a:r>
              <a:rPr lang="en-US" b="1" dirty="0" smtClean="0"/>
              <a:t>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ELISA</a:t>
            </a:r>
            <a:r>
              <a:rPr lang="en-US" dirty="0"/>
              <a:t> </a:t>
            </a:r>
            <a:r>
              <a:rPr lang="en-US" u="sng" dirty="0"/>
              <a:t>has become a standard technique in the diagnosis and epidemiological studies of the important parasitic diseases</a:t>
            </a:r>
            <a:r>
              <a:rPr lang="en-US" dirty="0"/>
              <a:t>. </a:t>
            </a:r>
            <a:r>
              <a:rPr lang="en-US" dirty="0">
                <a:solidFill>
                  <a:srgbClr val="00B0F0"/>
                </a:solidFill>
              </a:rPr>
              <a:t>It can be used to detect antibody or antigen</a:t>
            </a:r>
            <a:r>
              <a:rPr lang="en-US" dirty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ELISA</a:t>
            </a:r>
            <a:r>
              <a:rPr lang="en-US" dirty="0"/>
              <a:t> can be used to diagnose </a:t>
            </a:r>
            <a:r>
              <a:rPr lang="en-US" dirty="0" smtClean="0">
                <a:solidFill>
                  <a:srgbClr val="7030A0"/>
                </a:solidFill>
              </a:rPr>
              <a:t>malaria</a:t>
            </a:r>
            <a:r>
              <a:rPr lang="en-US" dirty="0" smtClean="0"/>
              <a:t>, </a:t>
            </a:r>
            <a:r>
              <a:rPr lang="en-US" dirty="0">
                <a:solidFill>
                  <a:srgbClr val="7030A0"/>
                </a:solidFill>
              </a:rPr>
              <a:t>amoebiasis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schistosomiasis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onchocerciasis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toxoplasmosis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echinococcosis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trypanosomiasis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leishmaniasis</a:t>
            </a:r>
            <a:r>
              <a:rPr lang="en-US" dirty="0"/>
              <a:t> and </a:t>
            </a:r>
            <a:r>
              <a:rPr lang="en-US" dirty="0">
                <a:solidFill>
                  <a:srgbClr val="7030A0"/>
                </a:solidFill>
              </a:rPr>
              <a:t>trichinellosis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667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Antibody/Serological Tests </a:t>
            </a:r>
            <a:r>
              <a:rPr lang="en-US" b="1" dirty="0" smtClean="0"/>
              <a:t>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00B0F0"/>
                </a:solidFill>
              </a:rPr>
              <a:t>ELISA</a:t>
            </a:r>
            <a:r>
              <a:rPr lang="en-US" dirty="0" smtClean="0"/>
              <a:t> </a:t>
            </a:r>
            <a:r>
              <a:rPr lang="en-US" dirty="0"/>
              <a:t>tends to be </a:t>
            </a:r>
            <a:r>
              <a:rPr lang="en-US" dirty="0">
                <a:solidFill>
                  <a:srgbClr val="FF0000"/>
                </a:solidFill>
              </a:rPr>
              <a:t>more sensitive and specific than other serological tests</a:t>
            </a:r>
            <a:r>
              <a:rPr lang="en-US" dirty="0"/>
              <a:t>,</a:t>
            </a:r>
            <a:r>
              <a:rPr lang="en-US" u="sng" dirty="0"/>
              <a:t> provides a quantitative result using a single serum dilution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can be automated in a central immunodiagnostic laboratory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10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0070C0"/>
                </a:solidFill>
              </a:rPr>
              <a:t>Sources </a:t>
            </a:r>
            <a:r>
              <a:rPr lang="en-US" b="1" dirty="0">
                <a:solidFill>
                  <a:srgbClr val="0070C0"/>
                </a:solidFill>
              </a:rPr>
              <a:t>of Antigens for Serological Tests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/>
              <a:t>Usually,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most laboratories prepare their own antigens from parasites grown in cultures or developed in laboratory animals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Only a few antigens are available from commercial sources </a:t>
            </a:r>
            <a:r>
              <a:rPr lang="en-US" u="sng" dirty="0"/>
              <a:t>but these may be very expensive and have only short shelf-lives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94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Sources of Antigens for Serological </a:t>
            </a:r>
            <a:r>
              <a:rPr lang="en-US" b="1" dirty="0" smtClean="0">
                <a:solidFill>
                  <a:srgbClr val="0070C0"/>
                </a:solidFill>
              </a:rPr>
              <a:t>Tests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Two new techniques </a:t>
            </a:r>
            <a:r>
              <a:rPr lang="en-US" dirty="0"/>
              <a:t>which are developing rapidly and </a:t>
            </a:r>
            <a:r>
              <a:rPr lang="en-US" u="sng" dirty="0"/>
              <a:t>expected to provide specific antigens for serological tests are</a:t>
            </a:r>
          </a:p>
          <a:p>
            <a:pPr lvl="0">
              <a:buFont typeface="Wingdings" pitchFamily="2" charset="2"/>
              <a:buChar char="Ø"/>
            </a:pPr>
            <a:endParaRPr lang="en-US" dirty="0" smtClean="0"/>
          </a:p>
          <a:p>
            <a:pPr lvl="0"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Monoclonal </a:t>
            </a:r>
            <a:r>
              <a:rPr lang="en-US" dirty="0">
                <a:solidFill>
                  <a:srgbClr val="FF0000"/>
                </a:solidFill>
              </a:rPr>
              <a:t>techniques </a:t>
            </a:r>
            <a:r>
              <a:rPr lang="en-US" dirty="0"/>
              <a:t>and</a:t>
            </a:r>
          </a:p>
          <a:p>
            <a:pPr lvl="0">
              <a:buFont typeface="Wingdings" pitchFamily="2" charset="2"/>
              <a:buChar char="Ø"/>
            </a:pPr>
            <a:endParaRPr lang="en-US" dirty="0" smtClean="0"/>
          </a:p>
          <a:p>
            <a:pPr lvl="0"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Recombinant </a:t>
            </a:r>
            <a:r>
              <a:rPr lang="en-US" dirty="0">
                <a:solidFill>
                  <a:srgbClr val="FF0000"/>
                </a:solidFill>
              </a:rPr>
              <a:t>techniques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461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Monoclonal </a:t>
            </a:r>
            <a:r>
              <a:rPr lang="en-US" b="1" dirty="0">
                <a:solidFill>
                  <a:srgbClr val="FF0000"/>
                </a:solidFill>
              </a:rPr>
              <a:t>Antibodies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US" u="sng" dirty="0" smtClean="0"/>
              <a:t>These </a:t>
            </a:r>
            <a:r>
              <a:rPr lang="en-US" u="sng" dirty="0"/>
              <a:t>are made by fusing </a:t>
            </a:r>
            <a:r>
              <a:rPr lang="en-US" u="sng" dirty="0">
                <a:solidFill>
                  <a:srgbClr val="FF0000"/>
                </a:solidFill>
              </a:rPr>
              <a:t>antibody producing lymphocytes</a:t>
            </a:r>
            <a:r>
              <a:rPr lang="en-US" u="sng" dirty="0"/>
              <a:t> (</a:t>
            </a:r>
            <a:r>
              <a:rPr lang="en-US" u="sng" dirty="0">
                <a:solidFill>
                  <a:srgbClr val="FF0000"/>
                </a:solidFill>
              </a:rPr>
              <a:t>B lymphocytes</a:t>
            </a:r>
            <a:r>
              <a:rPr lang="en-US" u="sng" dirty="0"/>
              <a:t>) from an immunized mouse, with a mouse myeloma cell line</a:t>
            </a:r>
            <a:r>
              <a:rPr lang="en-US" dirty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Clones of the resultant hybridomas retain both the capacity to produce the particular antibody made by the lymphocyte and also the capacity for indefinite growth </a:t>
            </a:r>
            <a:r>
              <a:rPr lang="en-US" i="1" u="sng" dirty="0"/>
              <a:t>in vitro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2597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Monoclonal </a:t>
            </a:r>
            <a:r>
              <a:rPr lang="en-US" b="1" dirty="0" smtClean="0">
                <a:solidFill>
                  <a:srgbClr val="FF0000"/>
                </a:solidFill>
              </a:rPr>
              <a:t>Antibodies </a:t>
            </a:r>
            <a:r>
              <a:rPr lang="en-US" b="1" dirty="0" smtClean="0"/>
              <a:t>(Cont’d.)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u="sng" dirty="0"/>
              <a:t>This allows the production </a:t>
            </a:r>
            <a:r>
              <a:rPr lang="en-US" i="1" u="sng" dirty="0"/>
              <a:t>in vitro</a:t>
            </a:r>
            <a:r>
              <a:rPr lang="en-US" u="sng" dirty="0"/>
              <a:t> of large quantities of a range of antibodies, each being usually against a narrow range of antigens</a:t>
            </a:r>
            <a:r>
              <a:rPr lang="en-US" dirty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If the antigens which are useful in immuno-diagnosis can be identified, the appropriate monoclonal can be used to extract and purify it, e.g. by </a:t>
            </a:r>
            <a:r>
              <a:rPr lang="en-US" dirty="0">
                <a:solidFill>
                  <a:srgbClr val="0070C0"/>
                </a:solidFill>
              </a:rPr>
              <a:t>affinity chromatography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714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Recombinant </a:t>
            </a:r>
            <a:r>
              <a:rPr lang="en-US" b="1" dirty="0">
                <a:solidFill>
                  <a:srgbClr val="FF0000"/>
                </a:solidFill>
              </a:rPr>
              <a:t>DNA </a:t>
            </a:r>
            <a:r>
              <a:rPr lang="en-US" b="1" dirty="0"/>
              <a:t>(</a:t>
            </a:r>
            <a:r>
              <a:rPr lang="en-US" b="1" dirty="0">
                <a:solidFill>
                  <a:srgbClr val="FF0000"/>
                </a:solidFill>
              </a:rPr>
              <a:t>DNA probes</a:t>
            </a:r>
            <a:r>
              <a:rPr lang="en-US" b="1" dirty="0"/>
              <a:t>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This </a:t>
            </a:r>
            <a:r>
              <a:rPr lang="en-US" dirty="0"/>
              <a:t>technique involves, </a:t>
            </a:r>
            <a:r>
              <a:rPr lang="en-US" b="1" dirty="0"/>
              <a:t>firstly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extracting and fragmenting the DNA from one organism </a:t>
            </a:r>
            <a:r>
              <a:rPr lang="en-US" b="1" dirty="0"/>
              <a:t>and hybridizing (incorporating) this </a:t>
            </a:r>
            <a:r>
              <a:rPr lang="en-US" dirty="0">
                <a:solidFill>
                  <a:srgbClr val="FF0000"/>
                </a:solidFill>
              </a:rPr>
              <a:t>with DNA fragments from another organism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801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Recombinant DNA </a:t>
            </a:r>
            <a:r>
              <a:rPr lang="en-US" b="1" dirty="0" smtClean="0"/>
              <a:t>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US" u="sng" dirty="0"/>
              <a:t>The resulting hybrids are then reinserted into the latter organism </a:t>
            </a:r>
            <a:r>
              <a:rPr lang="en-US" dirty="0"/>
              <a:t>which is known as the </a:t>
            </a:r>
            <a:r>
              <a:rPr lang="en-US" dirty="0">
                <a:solidFill>
                  <a:srgbClr val="0070C0"/>
                </a:solidFill>
              </a:rPr>
              <a:t>vector</a:t>
            </a:r>
            <a:r>
              <a:rPr lang="en-US" dirty="0"/>
              <a:t>. </a:t>
            </a: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This </a:t>
            </a:r>
            <a:r>
              <a:rPr lang="en-US" dirty="0"/>
              <a:t>is usually a </a:t>
            </a:r>
            <a:r>
              <a:rPr lang="en-US" dirty="0">
                <a:solidFill>
                  <a:srgbClr val="0070C0"/>
                </a:solidFill>
              </a:rPr>
              <a:t>virus</a:t>
            </a:r>
            <a:r>
              <a:rPr lang="en-US" dirty="0"/>
              <a:t> or a </a:t>
            </a:r>
            <a:r>
              <a:rPr lang="en-US" dirty="0">
                <a:solidFill>
                  <a:srgbClr val="0070C0"/>
                </a:solidFill>
              </a:rPr>
              <a:t>bacterial plasmid</a:t>
            </a:r>
            <a:r>
              <a:rPr lang="en-US" dirty="0"/>
              <a:t>, nearly always from </a:t>
            </a:r>
            <a:r>
              <a:rPr lang="en-US" i="1" dirty="0">
                <a:solidFill>
                  <a:srgbClr val="00B050"/>
                </a:solidFill>
              </a:rPr>
              <a:t>E. coli</a:t>
            </a:r>
            <a:r>
              <a:rPr lang="en-US" dirty="0"/>
              <a:t>, which is able to replicate itself very rapidly, thereby producing large quantities of the proteins. </a:t>
            </a: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For </a:t>
            </a:r>
            <a:r>
              <a:rPr lang="en-US" dirty="0"/>
              <a:t>example, </a:t>
            </a:r>
            <a:r>
              <a:rPr lang="en-US" dirty="0">
                <a:solidFill>
                  <a:srgbClr val="FF0000"/>
                </a:solidFill>
              </a:rPr>
              <a:t>the DNA coding for an antigenic protein in a parasite could be inserted into </a:t>
            </a:r>
            <a:r>
              <a:rPr lang="en-US" i="1" dirty="0">
                <a:solidFill>
                  <a:srgbClr val="FF0000"/>
                </a:solidFill>
              </a:rPr>
              <a:t>E. coli</a:t>
            </a:r>
            <a:r>
              <a:rPr lang="en-US" dirty="0">
                <a:solidFill>
                  <a:srgbClr val="FF0000"/>
                </a:solidFill>
              </a:rPr>
              <a:t>, which, by its rapid replication, would yield large quantities of this protein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837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0070C0"/>
                </a:solidFill>
              </a:rPr>
              <a:t>Antigen </a:t>
            </a:r>
            <a:r>
              <a:rPr lang="en-US" b="1" dirty="0">
                <a:solidFill>
                  <a:srgbClr val="0070C0"/>
                </a:solidFill>
              </a:rPr>
              <a:t>Test</a:t>
            </a:r>
            <a:r>
              <a:rPr lang="en-US" dirty="0">
                <a:solidFill>
                  <a:srgbClr val="0070C0"/>
                </a:solidFill>
              </a:rPr>
              <a:t/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solidFill>
                  <a:srgbClr val="FF0000"/>
                </a:solidFill>
              </a:rPr>
              <a:t>Monoclonal </a:t>
            </a:r>
            <a:r>
              <a:rPr lang="en-US" dirty="0">
                <a:solidFill>
                  <a:srgbClr val="FF0000"/>
                </a:solidFill>
              </a:rPr>
              <a:t>techniques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/>
              <a:t>are also used to develop highly reactive and specific antibody reagents</a:t>
            </a:r>
            <a:r>
              <a:rPr lang="en-US" dirty="0"/>
              <a:t>, especially for </a:t>
            </a:r>
            <a:r>
              <a:rPr lang="en-US" dirty="0">
                <a:solidFill>
                  <a:srgbClr val="00B0F0"/>
                </a:solidFill>
              </a:rPr>
              <a:t>ELISA</a:t>
            </a:r>
            <a:r>
              <a:rPr lang="en-US" dirty="0"/>
              <a:t> (</a:t>
            </a:r>
            <a:r>
              <a:rPr lang="en-US" dirty="0">
                <a:solidFill>
                  <a:srgbClr val="00B0F0"/>
                </a:solidFill>
              </a:rPr>
              <a:t>Sandwich assay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2834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C00000"/>
                </a:solidFill>
              </a:rPr>
              <a:t>Other </a:t>
            </a:r>
            <a:r>
              <a:rPr lang="en-US" b="1" dirty="0">
                <a:solidFill>
                  <a:srgbClr val="C00000"/>
                </a:solidFill>
              </a:rPr>
              <a:t>Tests for identification of some parasites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C00000"/>
                </a:solidFill>
              </a:rPr>
              <a:t>Biochemical </a:t>
            </a:r>
            <a:r>
              <a:rPr lang="en-US" dirty="0">
                <a:solidFill>
                  <a:srgbClr val="C00000"/>
                </a:solidFill>
              </a:rPr>
              <a:t>tests </a:t>
            </a:r>
            <a:r>
              <a:rPr lang="en-US" u="sng" dirty="0"/>
              <a:t>to detect isoenzyme and genetic characteristics</a:t>
            </a:r>
            <a:r>
              <a:rPr lang="en-US" dirty="0"/>
              <a:t>.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C00000"/>
                </a:solidFill>
              </a:rPr>
              <a:t>Enzyme </a:t>
            </a:r>
            <a:r>
              <a:rPr lang="en-US" dirty="0">
                <a:solidFill>
                  <a:srgbClr val="C00000"/>
                </a:solidFill>
              </a:rPr>
              <a:t>electrophoresis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340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C00000"/>
                </a:solidFill>
              </a:rPr>
              <a:t>Definition </a:t>
            </a:r>
            <a:r>
              <a:rPr lang="en-US" b="1" dirty="0">
                <a:solidFill>
                  <a:srgbClr val="C00000"/>
                </a:solidFill>
              </a:rPr>
              <a:t>of Terms for Diagnostic Stages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0070C0"/>
                </a:solidFill>
              </a:rPr>
              <a:t>Amastigote</a:t>
            </a:r>
            <a:r>
              <a:rPr lang="en-US" b="1" dirty="0"/>
              <a:t>:</a:t>
            </a:r>
            <a:r>
              <a:rPr lang="en-US" dirty="0"/>
              <a:t> the </a:t>
            </a:r>
            <a:r>
              <a:rPr lang="en-US" u="sng" dirty="0"/>
              <a:t>non-flagellate</a:t>
            </a:r>
            <a:r>
              <a:rPr lang="en-US" dirty="0"/>
              <a:t>, </a:t>
            </a:r>
            <a:r>
              <a:rPr lang="en-US" u="sng" dirty="0"/>
              <a:t>intracellular</a:t>
            </a:r>
            <a:r>
              <a:rPr lang="en-US" dirty="0"/>
              <a:t>, </a:t>
            </a:r>
            <a:r>
              <a:rPr lang="en-US" u="sng" dirty="0"/>
              <a:t>morphologic stage in the development of certain haemoflagellates</a:t>
            </a:r>
            <a:r>
              <a:rPr lang="en-US" dirty="0"/>
              <a:t>, </a:t>
            </a:r>
            <a:r>
              <a:rPr lang="en-US" u="sng" dirty="0">
                <a:solidFill>
                  <a:srgbClr val="0070C0"/>
                </a:solidFill>
              </a:rPr>
              <a:t>resembling the typical adult form of Leishmania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v"/>
            </a:pPr>
            <a:endParaRPr lang="en-US" b="1" dirty="0" smtClean="0"/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0070C0"/>
                </a:solidFill>
              </a:rPr>
              <a:t>Oocyst</a:t>
            </a:r>
            <a:r>
              <a:rPr lang="en-US" b="1" dirty="0"/>
              <a:t>:</a:t>
            </a:r>
            <a:r>
              <a:rPr lang="en-US" dirty="0"/>
              <a:t> the </a:t>
            </a:r>
            <a:r>
              <a:rPr lang="en-US" u="sng" dirty="0"/>
              <a:t>encysted</a:t>
            </a:r>
            <a:r>
              <a:rPr lang="en-US" dirty="0"/>
              <a:t> or </a:t>
            </a:r>
            <a:r>
              <a:rPr lang="en-US" u="sng" dirty="0"/>
              <a:t>encapsulated ookinete</a:t>
            </a:r>
            <a:r>
              <a:rPr lang="en-US" dirty="0"/>
              <a:t> (the</a:t>
            </a:r>
            <a:r>
              <a:rPr lang="en-US" u="sng" dirty="0"/>
              <a:t> fertilized form of the malarial parasite </a:t>
            </a:r>
            <a:r>
              <a:rPr lang="en-US" dirty="0"/>
              <a:t>in the body of a mosquito); </a:t>
            </a:r>
            <a:r>
              <a:rPr lang="en-US" u="sng" dirty="0">
                <a:solidFill>
                  <a:srgbClr val="0070C0"/>
                </a:solidFill>
              </a:rPr>
              <a:t>it is formed by fertilization of a macrogamete by a microgamete </a:t>
            </a:r>
            <a:r>
              <a:rPr lang="en-US" u="sng" dirty="0"/>
              <a:t>and develops into an </a:t>
            </a:r>
            <a:r>
              <a:rPr lang="en-US" dirty="0">
                <a:solidFill>
                  <a:srgbClr val="0070C0"/>
                </a:solidFill>
              </a:rPr>
              <a:t>oocyst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1451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Definition of Terms for Diagnostic </a:t>
            </a:r>
            <a:r>
              <a:rPr lang="en-US" b="1" dirty="0" smtClean="0">
                <a:solidFill>
                  <a:srgbClr val="C00000"/>
                </a:solidFill>
              </a:rPr>
              <a:t>Stages </a:t>
            </a:r>
            <a:r>
              <a:rPr lang="en-US" b="1" dirty="0" smtClean="0"/>
              <a:t>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Trophozoite</a:t>
            </a:r>
            <a:r>
              <a:rPr lang="en-US" b="1" dirty="0"/>
              <a:t>:</a:t>
            </a:r>
            <a:r>
              <a:rPr lang="en-US" dirty="0"/>
              <a:t> the </a:t>
            </a:r>
            <a:r>
              <a:rPr lang="en-US" u="sng" dirty="0"/>
              <a:t>active</a:t>
            </a:r>
            <a:r>
              <a:rPr lang="en-US" dirty="0"/>
              <a:t>, </a:t>
            </a:r>
            <a:r>
              <a:rPr lang="en-US" u="sng" dirty="0"/>
              <a:t>motile</a:t>
            </a:r>
            <a:r>
              <a:rPr lang="en-US" dirty="0"/>
              <a:t>, </a:t>
            </a:r>
            <a:r>
              <a:rPr lang="en-US" u="sng" dirty="0"/>
              <a:t>feeding stage of a protozoan organism</a:t>
            </a:r>
            <a:r>
              <a:rPr lang="en-US" dirty="0"/>
              <a:t>.</a:t>
            </a:r>
          </a:p>
          <a:p>
            <a:endParaRPr lang="en-US" b="1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Trypomastigote</a:t>
            </a:r>
            <a:r>
              <a:rPr lang="en-US" dirty="0"/>
              <a:t>: a </a:t>
            </a:r>
            <a:r>
              <a:rPr lang="en-US" u="sng" dirty="0"/>
              <a:t>morphological stage in the development of certain haemoflagellates</a:t>
            </a:r>
            <a:r>
              <a:rPr lang="en-US" dirty="0"/>
              <a:t>, </a:t>
            </a:r>
            <a:r>
              <a:rPr lang="en-US" u="sng" dirty="0">
                <a:solidFill>
                  <a:srgbClr val="0070C0"/>
                </a:solidFill>
              </a:rPr>
              <a:t>resembling the typical adult form of </a:t>
            </a:r>
            <a:r>
              <a:rPr lang="en-US" i="1" u="sng" dirty="0">
                <a:solidFill>
                  <a:srgbClr val="0070C0"/>
                </a:solidFill>
              </a:rPr>
              <a:t>Trypanosoma</a:t>
            </a:r>
            <a:r>
              <a:rPr lang="en-US" u="sng" dirty="0">
                <a:solidFill>
                  <a:srgbClr val="0070C0"/>
                </a:solidFill>
              </a:rPr>
              <a:t> </a:t>
            </a:r>
            <a:r>
              <a:rPr lang="en-US" dirty="0"/>
              <a:t>and </a:t>
            </a:r>
            <a:r>
              <a:rPr lang="en-US" u="sng" dirty="0"/>
              <a:t>characterized by having a flagellum</a:t>
            </a:r>
          </a:p>
        </p:txBody>
      </p:sp>
    </p:spTree>
    <p:extLst>
      <p:ext uri="{BB962C8B-B14F-4D97-AF65-F5344CB8AC3E}">
        <p14:creationId xmlns:p14="http://schemas.microsoft.com/office/powerpoint/2010/main" val="18794858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Definition of Terms for Diagnostic Stages </a:t>
            </a:r>
            <a:r>
              <a:rPr lang="en-US" b="1" dirty="0" smtClean="0"/>
              <a:t>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>
                <a:solidFill>
                  <a:srgbClr val="0070C0"/>
                </a:solidFill>
              </a:rPr>
              <a:t>Schizonts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u="sng" dirty="0"/>
              <a:t>the stage in the development of the malarial parasite, </a:t>
            </a:r>
            <a:r>
              <a:rPr lang="en-US" i="1" u="sng" dirty="0"/>
              <a:t>Plasmodium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following the trophozoite</a:t>
            </a:r>
            <a:r>
              <a:rPr lang="en-US" dirty="0"/>
              <a:t>, </a:t>
            </a:r>
            <a:r>
              <a:rPr lang="en-US" u="sng" dirty="0"/>
              <a:t>whose nucleus divides into many smaller nuclei, followed by the division of the cytoplasm to surround each nucleus</a:t>
            </a:r>
            <a:r>
              <a:rPr lang="en-US" dirty="0"/>
              <a:t>,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thus </a:t>
            </a:r>
            <a:r>
              <a:rPr lang="en-US" dirty="0"/>
              <a:t>forming a </a:t>
            </a:r>
            <a:r>
              <a:rPr lang="en-US" dirty="0">
                <a:solidFill>
                  <a:srgbClr val="0070C0"/>
                </a:solidFill>
              </a:rPr>
              <a:t>merozoite (merozoites).</a:t>
            </a:r>
          </a:p>
          <a:p>
            <a:pPr>
              <a:buFont typeface="Wingdings" pitchFamily="2" charset="2"/>
              <a:buChar char="v"/>
            </a:pPr>
            <a:r>
              <a:rPr lang="en-US" b="1" dirty="0">
                <a:solidFill>
                  <a:srgbClr val="0070C0"/>
                </a:solidFill>
              </a:rPr>
              <a:t>Microfilaria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u="sng" dirty="0"/>
              <a:t>the prelarval stage of the Filarioidea in the blood of humans and in the tissues of the vector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7406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Definition of Terms for Diagnostic Stages </a:t>
            </a:r>
            <a:r>
              <a:rPr lang="en-US" b="1" dirty="0" smtClean="0"/>
              <a:t>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0070C0"/>
                </a:solidFill>
              </a:rPr>
              <a:t>Toxoplasm</a:t>
            </a:r>
            <a:r>
              <a:rPr lang="en-US" b="1" dirty="0"/>
              <a:t>:</a:t>
            </a:r>
            <a:r>
              <a:rPr lang="en-US" dirty="0"/>
              <a:t> the </a:t>
            </a:r>
            <a:r>
              <a:rPr lang="en-US" dirty="0">
                <a:solidFill>
                  <a:srgbClr val="0070C0"/>
                </a:solidFill>
              </a:rPr>
              <a:t>immature stage of </a:t>
            </a:r>
            <a:r>
              <a:rPr lang="en-US" i="1" dirty="0">
                <a:solidFill>
                  <a:srgbClr val="0070C0"/>
                </a:solidFill>
              </a:rPr>
              <a:t>Toxoplasma sp.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u="sng" dirty="0"/>
              <a:t>that may be found in stained preparations of body fluids such as lymph node/gland, liver or spleen aspirates or bone marrow.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2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1419</Words>
  <Application>Microsoft Office PowerPoint</Application>
  <PresentationFormat>On-screen Show (4:3)</PresentationFormat>
  <Paragraphs>233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Wingdings</vt:lpstr>
      <vt:lpstr>Office Theme</vt:lpstr>
      <vt:lpstr> DIAGNOSIS OF PARASITIC INFECTIONS Unit 2</vt:lpstr>
      <vt:lpstr> Faeces/Stool (Cont’d.) </vt:lpstr>
      <vt:lpstr>Structures found in faeces that may be confused with parasites</vt:lpstr>
      <vt:lpstr> Faeces/Stool (Cont’d.) </vt:lpstr>
      <vt:lpstr>Faeces/Stool (Cont’d.)</vt:lpstr>
      <vt:lpstr> Specimen in which parasites are found  (Cont’d.) </vt:lpstr>
      <vt:lpstr> Specimen in which parasites are found (Cont’d.) </vt:lpstr>
      <vt:lpstr> Specimen in which parasites are found  (Cont’d.) </vt:lpstr>
      <vt:lpstr> Specimen in which parasites are found  (Cont’d.) </vt:lpstr>
      <vt:lpstr> Specimen in which parasites are found  (Cont’d.) </vt:lpstr>
      <vt:lpstr> Specimen in which parasites are found (Cont’d.) </vt:lpstr>
      <vt:lpstr>  Specimen in which parasites are found (Cont’d.)  </vt:lpstr>
      <vt:lpstr> Specimen in which parasites are found (Cont’d.) </vt:lpstr>
      <vt:lpstr> Specimen in which parasites are found (Cont’d.) </vt:lpstr>
      <vt:lpstr> Specimen in which parasites are found (Cont’d.) </vt:lpstr>
      <vt:lpstr> Specimen in which parasites are found (Cont’d.) </vt:lpstr>
      <vt:lpstr>Specimen in which parasites are found (Cont’d.) </vt:lpstr>
      <vt:lpstr> Methods used in diagnosis</vt:lpstr>
      <vt:lpstr>PowerPoint Presentation</vt:lpstr>
      <vt:lpstr> 2. Cultural techniques (Cont’d.) </vt:lpstr>
      <vt:lpstr> 3. Immunodiagnostic techniques </vt:lpstr>
      <vt:lpstr> 3. Immunodiagnostic techniques (Cont’d.) </vt:lpstr>
      <vt:lpstr>  3. Immunodiagnostic techniques (Cont’d.)  </vt:lpstr>
      <vt:lpstr> 3. Immunodiagnostic techniques (Cont’d.) </vt:lpstr>
      <vt:lpstr> 3. Immunodiagnostic techniques (Cont’d.) </vt:lpstr>
      <vt:lpstr> 3. Immunodiagnostic techniques (Cont’d.) </vt:lpstr>
      <vt:lpstr> 3. Immunodiagnostic techniques (Cont’d.) </vt:lpstr>
      <vt:lpstr> 3. Immunodiagnostic techniques (Cont’d.) </vt:lpstr>
      <vt:lpstr> 3. Immunodiagnostic techniques (Cont’d.) </vt:lpstr>
      <vt:lpstr> Antibody/Serological Tests </vt:lpstr>
      <vt:lpstr>Antibody/Serological Tests (Cont’d.)</vt:lpstr>
      <vt:lpstr>Antibody/Serological Tests (Cont’d.)</vt:lpstr>
      <vt:lpstr>Antibody/Serological Tests (Cont’d.)</vt:lpstr>
      <vt:lpstr> Sources of Antigens for Serological Tests </vt:lpstr>
      <vt:lpstr> Sources of Antigens for Serological Tests (Cont’d.) </vt:lpstr>
      <vt:lpstr> Monoclonal Antibodies </vt:lpstr>
      <vt:lpstr> Monoclonal Antibodies (Cont’d.) </vt:lpstr>
      <vt:lpstr> Recombinant DNA (DNA probes) </vt:lpstr>
      <vt:lpstr>Recombinant DNA (Cont’d.)</vt:lpstr>
      <vt:lpstr> Antigen Test </vt:lpstr>
      <vt:lpstr> Other Tests for identification of some parasites </vt:lpstr>
      <vt:lpstr> Definition of Terms for Diagnostic Stages </vt:lpstr>
      <vt:lpstr>Definition of Terms for Diagnostic Stages (Cont’d.)</vt:lpstr>
      <vt:lpstr>Definition of Terms for Diagnostic Stages (Cont’d.)</vt:lpstr>
      <vt:lpstr>Definition of Terms for Diagnostic Stages (Cont’d.)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DIAGNOSIS OF PARASITIC INFECTIONS Unit 3</dc:title>
  <dc:creator>PROFESSOR LAWSON</dc:creator>
  <cp:lastModifiedBy>E6410</cp:lastModifiedBy>
  <cp:revision>18</cp:revision>
  <dcterms:created xsi:type="dcterms:W3CDTF">2018-01-26T10:37:56Z</dcterms:created>
  <dcterms:modified xsi:type="dcterms:W3CDTF">2020-04-24T21:47:50Z</dcterms:modified>
</cp:coreProperties>
</file>