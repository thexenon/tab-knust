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339" r:id="rId8"/>
    <p:sldId id="262" r:id="rId9"/>
    <p:sldId id="263" r:id="rId10"/>
    <p:sldId id="340" r:id="rId11"/>
    <p:sldId id="264" r:id="rId12"/>
    <p:sldId id="278" r:id="rId13"/>
    <p:sldId id="279" r:id="rId14"/>
    <p:sldId id="280" r:id="rId15"/>
    <p:sldId id="265" r:id="rId16"/>
    <p:sldId id="266" r:id="rId17"/>
    <p:sldId id="267" r:id="rId18"/>
    <p:sldId id="268" r:id="rId19"/>
    <p:sldId id="269" r:id="rId20"/>
    <p:sldId id="270" r:id="rId21"/>
    <p:sldId id="271" r:id="rId22"/>
    <p:sldId id="272" r:id="rId23"/>
    <p:sldId id="273" r:id="rId24"/>
    <p:sldId id="274" r:id="rId25"/>
    <p:sldId id="338" r:id="rId26"/>
    <p:sldId id="275" r:id="rId27"/>
    <p:sldId id="276" r:id="rId28"/>
    <p:sldId id="277" r:id="rId29"/>
    <p:sldId id="281" r:id="rId30"/>
    <p:sldId id="282" r:id="rId31"/>
    <p:sldId id="283" r:id="rId32"/>
    <p:sldId id="284" r:id="rId33"/>
    <p:sldId id="285" r:id="rId34"/>
    <p:sldId id="286" r:id="rId35"/>
    <p:sldId id="287" r:id="rId36"/>
    <p:sldId id="288" r:id="rId37"/>
    <p:sldId id="289" r:id="rId38"/>
    <p:sldId id="290" r:id="rId39"/>
    <p:sldId id="291" r:id="rId40"/>
    <p:sldId id="341" r:id="rId41"/>
    <p:sldId id="292" r:id="rId42"/>
    <p:sldId id="293" r:id="rId43"/>
    <p:sldId id="294" r:id="rId44"/>
    <p:sldId id="295" r:id="rId45"/>
    <p:sldId id="296" r:id="rId46"/>
    <p:sldId id="297" r:id="rId47"/>
    <p:sldId id="298" r:id="rId48"/>
    <p:sldId id="299" r:id="rId49"/>
    <p:sldId id="300" r:id="rId50"/>
    <p:sldId id="302" r:id="rId51"/>
    <p:sldId id="303" r:id="rId52"/>
    <p:sldId id="304" r:id="rId53"/>
    <p:sldId id="305" r:id="rId54"/>
    <p:sldId id="301"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266" y="7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8E381AE-4106-4C3C-BF2E-D1B4990FE13E}" type="datetimeFigureOut">
              <a:rPr lang="en-US" smtClean="0"/>
              <a:t>4/23/2019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1509502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E381AE-4106-4C3C-BF2E-D1B4990FE13E}" type="datetimeFigureOut">
              <a:rPr lang="en-US" smtClean="0"/>
              <a:t>4/23/2019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304251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E381AE-4106-4C3C-BF2E-D1B4990FE13E}" type="datetimeFigureOut">
              <a:rPr lang="en-US" smtClean="0"/>
              <a:t>4/23/2019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1571991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8E381AE-4106-4C3C-BF2E-D1B4990FE13E}" type="datetimeFigureOut">
              <a:rPr lang="en-US" smtClean="0"/>
              <a:t>4/23/2019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2928817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8E381AE-4106-4C3C-BF2E-D1B4990FE13E}" type="datetimeFigureOut">
              <a:rPr lang="en-US" smtClean="0"/>
              <a:t>4/23/2019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123311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8E381AE-4106-4C3C-BF2E-D1B4990FE13E}" type="datetimeFigureOut">
              <a:rPr lang="en-US" smtClean="0"/>
              <a:t>4/23/2019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294056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381AE-4106-4C3C-BF2E-D1B4990FE13E}" type="datetimeFigureOut">
              <a:rPr lang="en-US" smtClean="0"/>
              <a:t>4/23/2019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2640889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E381AE-4106-4C3C-BF2E-D1B4990FE13E}" type="datetimeFigureOut">
              <a:rPr lang="en-US" smtClean="0"/>
              <a:t>4/23/2019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152804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E381AE-4106-4C3C-BF2E-D1B4990FE13E}" type="datetimeFigureOut">
              <a:rPr lang="en-US" smtClean="0"/>
              <a:t>4/23/2019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4056528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E381AE-4106-4C3C-BF2E-D1B4990FE13E}" type="datetimeFigureOut">
              <a:rPr lang="en-US" smtClean="0"/>
              <a:t>4/23/2019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4076428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E381AE-4106-4C3C-BF2E-D1B4990FE13E}" type="datetimeFigureOut">
              <a:rPr lang="en-US" smtClean="0"/>
              <a:t>4/23/2019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A29D-279B-4A9D-A0CC-FD15953869CF}" type="slidenum">
              <a:rPr lang="en-US" smtClean="0"/>
              <a:t>‹#›</a:t>
            </a:fld>
            <a:endParaRPr lang="en-US"/>
          </a:p>
        </p:txBody>
      </p:sp>
    </p:spTree>
    <p:extLst>
      <p:ext uri="{BB962C8B-B14F-4D97-AF65-F5344CB8AC3E}">
        <p14:creationId xmlns:p14="http://schemas.microsoft.com/office/powerpoint/2010/main" val="873337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E381AE-4106-4C3C-BF2E-D1B4990FE13E}" type="datetimeFigureOut">
              <a:rPr lang="en-US" smtClean="0"/>
              <a:t>4/23/2019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15A29D-279B-4A9D-A0CC-FD15953869CF}" type="slidenum">
              <a:rPr lang="en-US" smtClean="0"/>
              <a:t>‹#›</a:t>
            </a:fld>
            <a:endParaRPr lang="en-US"/>
          </a:p>
        </p:txBody>
      </p:sp>
    </p:spTree>
    <p:extLst>
      <p:ext uri="{BB962C8B-B14F-4D97-AF65-F5344CB8AC3E}">
        <p14:creationId xmlns:p14="http://schemas.microsoft.com/office/powerpoint/2010/main" val="2614950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PARASITOLOGY (BIOL 460)</a:t>
            </a:r>
            <a:endParaRPr lang="en-US" dirty="0"/>
          </a:p>
        </p:txBody>
      </p:sp>
      <p:sp>
        <p:nvSpPr>
          <p:cNvPr id="3" name="Subtitle 2"/>
          <p:cNvSpPr>
            <a:spLocks noGrp="1"/>
          </p:cNvSpPr>
          <p:nvPr>
            <p:ph type="subTitle" idx="1"/>
          </p:nvPr>
        </p:nvSpPr>
        <p:spPr/>
        <p:txBody>
          <a:bodyPr/>
          <a:lstStyle/>
          <a:p>
            <a:r>
              <a:rPr lang="en-US" dirty="0" smtClean="0"/>
              <a:t>UNIT 8 A</a:t>
            </a:r>
          </a:p>
          <a:p>
            <a:r>
              <a:rPr lang="en-US" dirty="0" smtClean="0"/>
              <a:t>PARASITIC INSECTS-THE DIPTERA (FLIES)</a:t>
            </a:r>
            <a:endParaRPr lang="en-US" dirty="0"/>
          </a:p>
        </p:txBody>
      </p:sp>
    </p:spTree>
    <p:extLst>
      <p:ext uri="{BB962C8B-B14F-4D97-AF65-F5344CB8AC3E}">
        <p14:creationId xmlns:p14="http://schemas.microsoft.com/office/powerpoint/2010/main" val="34009052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PARASITIC INSECTS - THE DIPTERA (FLIES)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smtClean="0"/>
              <a:t>The </a:t>
            </a:r>
            <a:r>
              <a:rPr lang="en-US" dirty="0" err="1"/>
              <a:t>Diptera</a:t>
            </a:r>
            <a:r>
              <a:rPr lang="en-US" dirty="0"/>
              <a:t> are by far the most medically important among all orders of insects</a:t>
            </a:r>
          </a:p>
          <a:p>
            <a:pPr lvl="0"/>
            <a:r>
              <a:rPr lang="en-US" dirty="0"/>
              <a:t>Various flies are involved in the transmission of/or the cause of disfiguring, debilitating diseases either as vectors or as parasites themselves</a:t>
            </a:r>
          </a:p>
          <a:p>
            <a:pPr lvl="0"/>
            <a:r>
              <a:rPr lang="en-US" dirty="0"/>
              <a:t>The Order (</a:t>
            </a:r>
            <a:r>
              <a:rPr lang="en-US" dirty="0" err="1"/>
              <a:t>Diptera</a:t>
            </a:r>
            <a:r>
              <a:rPr lang="en-US" dirty="0"/>
              <a:t>) is so large, containing about 120,000 species in about 140 families (according to the source)</a:t>
            </a:r>
          </a:p>
          <a:p>
            <a:endParaRPr lang="en-US" dirty="0"/>
          </a:p>
        </p:txBody>
      </p:sp>
    </p:spTree>
    <p:extLst>
      <p:ext uri="{BB962C8B-B14F-4D97-AF65-F5344CB8AC3E}">
        <p14:creationId xmlns:p14="http://schemas.microsoft.com/office/powerpoint/2010/main" val="154928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PARASITIC INSECTS - THE DIPTERA (FLIES)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Because of their numbers, and diversity of form and feeding habits, both as larvae and as adults, the structure of mouthparts also is diverse</a:t>
            </a:r>
          </a:p>
          <a:p>
            <a:pPr lvl="0"/>
            <a:r>
              <a:rPr lang="en-US" dirty="0"/>
              <a:t>The lifecycle exhibits complete metamorphosis in which there is usually the egg, larval, </a:t>
            </a:r>
            <a:r>
              <a:rPr lang="en-US" dirty="0" err="1"/>
              <a:t>pupal</a:t>
            </a:r>
            <a:r>
              <a:rPr lang="en-US" dirty="0"/>
              <a:t> and adult stages</a:t>
            </a:r>
          </a:p>
          <a:p>
            <a:pPr marL="0" indent="0">
              <a:buNone/>
            </a:pPr>
            <a:endParaRPr lang="en-US" dirty="0"/>
          </a:p>
        </p:txBody>
      </p:sp>
    </p:spTree>
    <p:extLst>
      <p:ext uri="{BB962C8B-B14F-4D97-AF65-F5344CB8AC3E}">
        <p14:creationId xmlns:p14="http://schemas.microsoft.com/office/powerpoint/2010/main" val="8861193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PARASITIC INSECTS - THE DIPTERA (FLIES)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Those involved in disease transmission or are parasitic themselves are:</a:t>
            </a:r>
          </a:p>
          <a:p>
            <a:pPr lvl="0">
              <a:buFont typeface="Wingdings" pitchFamily="2" charset="2"/>
              <a:buChar char="Ø"/>
            </a:pPr>
            <a:r>
              <a:rPr lang="en-US" dirty="0"/>
              <a:t>Mosquitoes: </a:t>
            </a:r>
            <a:r>
              <a:rPr lang="en-US" i="1" dirty="0"/>
              <a:t>Anopheles. </a:t>
            </a:r>
            <a:r>
              <a:rPr lang="en-US" i="1" dirty="0" err="1"/>
              <a:t>Culex</a:t>
            </a:r>
            <a:r>
              <a:rPr lang="en-US" i="1" dirty="0"/>
              <a:t>, </a:t>
            </a:r>
            <a:r>
              <a:rPr lang="en-US" i="1" dirty="0" err="1"/>
              <a:t>Aedes</a:t>
            </a:r>
            <a:r>
              <a:rPr lang="en-US" i="1" dirty="0"/>
              <a:t>, </a:t>
            </a:r>
            <a:r>
              <a:rPr lang="en-US" i="1" dirty="0" err="1"/>
              <a:t>Mansonia</a:t>
            </a:r>
            <a:r>
              <a:rPr lang="en-US" dirty="0"/>
              <a:t> species</a:t>
            </a:r>
          </a:p>
          <a:p>
            <a:pPr lvl="0">
              <a:buFont typeface="Wingdings" pitchFamily="2" charset="2"/>
              <a:buChar char="Ø"/>
            </a:pPr>
            <a:r>
              <a:rPr lang="en-US" dirty="0"/>
              <a:t>Sandflies</a:t>
            </a:r>
            <a:r>
              <a:rPr lang="en-US" i="1" dirty="0"/>
              <a:t>: </a:t>
            </a:r>
            <a:r>
              <a:rPr lang="en-US" i="1" dirty="0" err="1"/>
              <a:t>Phlebotomus</a:t>
            </a:r>
            <a:r>
              <a:rPr lang="en-US" i="1" dirty="0"/>
              <a:t>, </a:t>
            </a:r>
            <a:r>
              <a:rPr lang="en-US" i="1" dirty="0" err="1"/>
              <a:t>Lutzomyia</a:t>
            </a:r>
            <a:r>
              <a:rPr lang="en-US" dirty="0"/>
              <a:t> species</a:t>
            </a:r>
          </a:p>
          <a:p>
            <a:pPr lvl="0">
              <a:buFont typeface="Wingdings" pitchFamily="2" charset="2"/>
              <a:buChar char="Ø"/>
            </a:pPr>
            <a:r>
              <a:rPr lang="en-US" dirty="0"/>
              <a:t>Blackflies: </a:t>
            </a:r>
            <a:r>
              <a:rPr lang="en-US" i="1" dirty="0" err="1"/>
              <a:t>Simulium</a:t>
            </a:r>
            <a:r>
              <a:rPr lang="en-US" dirty="0"/>
              <a:t> species</a:t>
            </a:r>
          </a:p>
          <a:p>
            <a:pPr lvl="0">
              <a:buFont typeface="Wingdings" pitchFamily="2" charset="2"/>
              <a:buChar char="Ø"/>
            </a:pPr>
            <a:r>
              <a:rPr lang="en-US" dirty="0"/>
              <a:t>Horseflies: </a:t>
            </a:r>
            <a:r>
              <a:rPr lang="en-US" i="1" dirty="0" err="1"/>
              <a:t>Chrysops</a:t>
            </a:r>
            <a:r>
              <a:rPr lang="en-US" dirty="0"/>
              <a:t> species</a:t>
            </a:r>
          </a:p>
          <a:p>
            <a:pPr lvl="0">
              <a:buFont typeface="Wingdings" pitchFamily="2" charset="2"/>
              <a:buChar char="Ø"/>
            </a:pPr>
            <a:r>
              <a:rPr lang="en-US" dirty="0"/>
              <a:t>Midges: </a:t>
            </a:r>
            <a:r>
              <a:rPr lang="en-US" i="1" dirty="0" err="1"/>
              <a:t>Culicoides</a:t>
            </a:r>
            <a:r>
              <a:rPr lang="en-US" i="1" dirty="0"/>
              <a:t> </a:t>
            </a:r>
            <a:r>
              <a:rPr lang="en-US" dirty="0"/>
              <a:t>species</a:t>
            </a:r>
          </a:p>
          <a:p>
            <a:endParaRPr lang="en-US" dirty="0"/>
          </a:p>
        </p:txBody>
      </p:sp>
    </p:spTree>
    <p:extLst>
      <p:ext uri="{BB962C8B-B14F-4D97-AF65-F5344CB8AC3E}">
        <p14:creationId xmlns:p14="http://schemas.microsoft.com/office/powerpoint/2010/main" val="17807197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PARASITIC INSECTS - THE DIPTERA (FLIES)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err="1"/>
              <a:t>Tsetseflies</a:t>
            </a:r>
            <a:r>
              <a:rPr lang="en-US" dirty="0"/>
              <a:t>: </a:t>
            </a:r>
            <a:r>
              <a:rPr lang="en-US" i="1" dirty="0" err="1"/>
              <a:t>Glossina</a:t>
            </a:r>
            <a:r>
              <a:rPr lang="en-US" i="1" dirty="0"/>
              <a:t> </a:t>
            </a:r>
            <a:r>
              <a:rPr lang="en-US" dirty="0"/>
              <a:t>species</a:t>
            </a:r>
          </a:p>
          <a:p>
            <a:pPr lvl="0">
              <a:buFont typeface="Wingdings" pitchFamily="2" charset="2"/>
              <a:buChar char="Ø"/>
            </a:pPr>
            <a:r>
              <a:rPr lang="en-US" dirty="0"/>
              <a:t>Houseflies: </a:t>
            </a:r>
            <a:r>
              <a:rPr lang="en-US" i="1" dirty="0" err="1"/>
              <a:t>Musca</a:t>
            </a:r>
            <a:r>
              <a:rPr lang="en-US" i="1" dirty="0"/>
              <a:t> </a:t>
            </a:r>
            <a:r>
              <a:rPr lang="en-US" dirty="0"/>
              <a:t>species, and </a:t>
            </a:r>
          </a:p>
          <a:p>
            <a:pPr lvl="0">
              <a:buFont typeface="Wingdings" pitchFamily="2" charset="2"/>
              <a:buChar char="Ø"/>
            </a:pPr>
            <a:r>
              <a:rPr lang="en-US" dirty="0"/>
              <a:t>Blow flies</a:t>
            </a:r>
            <a:r>
              <a:rPr lang="en-US" i="1" dirty="0"/>
              <a:t>: </a:t>
            </a:r>
            <a:r>
              <a:rPr lang="en-US" i="1" dirty="0" err="1"/>
              <a:t>Chrysomya</a:t>
            </a:r>
            <a:r>
              <a:rPr lang="en-US" i="1" dirty="0"/>
              <a:t>, </a:t>
            </a:r>
            <a:r>
              <a:rPr lang="en-US" i="1" dirty="0" err="1" smtClean="0"/>
              <a:t>Cochliomyia</a:t>
            </a:r>
            <a:r>
              <a:rPr lang="en-US" i="1" dirty="0"/>
              <a:t>,</a:t>
            </a:r>
            <a:r>
              <a:rPr lang="en-US" i="1" dirty="0" smtClean="0"/>
              <a:t> </a:t>
            </a:r>
            <a:r>
              <a:rPr lang="en-US" i="1" dirty="0" err="1"/>
              <a:t>Cordilobia</a:t>
            </a:r>
            <a:r>
              <a:rPr lang="en-US" i="1" dirty="0"/>
              <a:t>, </a:t>
            </a:r>
            <a:r>
              <a:rPr lang="en-US" i="1" dirty="0" err="1"/>
              <a:t>Wohlfahrtia</a:t>
            </a:r>
            <a:r>
              <a:rPr lang="en-US" dirty="0"/>
              <a:t> and </a:t>
            </a:r>
            <a:r>
              <a:rPr lang="en-US" i="1" dirty="0" err="1"/>
              <a:t>Dermatobia</a:t>
            </a:r>
            <a:r>
              <a:rPr lang="en-US" i="1" dirty="0"/>
              <a:t> </a:t>
            </a:r>
            <a:r>
              <a:rPr lang="en-US" dirty="0"/>
              <a:t>species</a:t>
            </a:r>
          </a:p>
          <a:p>
            <a:endParaRPr lang="en-US" dirty="0"/>
          </a:p>
        </p:txBody>
      </p:sp>
    </p:spTree>
    <p:extLst>
      <p:ext uri="{BB962C8B-B14F-4D97-AF65-F5344CB8AC3E}">
        <p14:creationId xmlns:p14="http://schemas.microsoft.com/office/powerpoint/2010/main" val="14221425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Culicidae</a:t>
            </a:r>
            <a:r>
              <a:rPr lang="en-US" b="1" dirty="0" smtClean="0"/>
              <a:t> (Mosquitoes)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smtClean="0"/>
              <a:t>Are </a:t>
            </a:r>
            <a:r>
              <a:rPr lang="en-US" dirty="0"/>
              <a:t>the most widespread of the medically important insects.</a:t>
            </a:r>
          </a:p>
          <a:p>
            <a:pPr lvl="0"/>
            <a:r>
              <a:rPr lang="en-US" dirty="0"/>
              <a:t>They differ from all other flies by their scaly wings and long proboscis which, in the </a:t>
            </a:r>
            <a:r>
              <a:rPr lang="en-US" dirty="0" err="1"/>
              <a:t>femal,e</a:t>
            </a:r>
            <a:r>
              <a:rPr lang="en-US" dirty="0"/>
              <a:t> is adapted for piercing and sucking</a:t>
            </a:r>
          </a:p>
          <a:p>
            <a:pPr lvl="0"/>
            <a:r>
              <a:rPr lang="en-US" dirty="0"/>
              <a:t>The life cycle for most species, from egg to the adult takes about 10-14 days; for </a:t>
            </a:r>
            <a:r>
              <a:rPr lang="en-US" i="1" dirty="0" err="1"/>
              <a:t>Mansonia</a:t>
            </a:r>
            <a:r>
              <a:rPr lang="en-US" i="1" dirty="0"/>
              <a:t> </a:t>
            </a:r>
            <a:r>
              <a:rPr lang="en-US" dirty="0" err="1" smtClean="0"/>
              <a:t>sp</a:t>
            </a:r>
            <a:r>
              <a:rPr lang="en-US" dirty="0" smtClean="0"/>
              <a:t>,</a:t>
            </a:r>
          </a:p>
          <a:p>
            <a:pPr lvl="0"/>
            <a:r>
              <a:rPr lang="en-US" dirty="0" smtClean="0"/>
              <a:t>however</a:t>
            </a:r>
            <a:r>
              <a:rPr lang="en-US" dirty="0"/>
              <a:t>, it may take up to about three </a:t>
            </a:r>
            <a:r>
              <a:rPr lang="en-US" dirty="0" smtClean="0"/>
              <a:t>weeks.</a:t>
            </a:r>
          </a:p>
          <a:p>
            <a:pPr lvl="0"/>
            <a:r>
              <a:rPr lang="en-US" dirty="0" smtClean="0"/>
              <a:t>The </a:t>
            </a:r>
            <a:r>
              <a:rPr lang="en-US" dirty="0"/>
              <a:t>life span of the adult is generally 3-4 weeks but may be reduced in nature due to natural enemies or factors</a:t>
            </a:r>
          </a:p>
          <a:p>
            <a:endParaRPr lang="en-US" dirty="0"/>
          </a:p>
        </p:txBody>
      </p:sp>
    </p:spTree>
    <p:extLst>
      <p:ext uri="{BB962C8B-B14F-4D97-AF65-F5344CB8AC3E}">
        <p14:creationId xmlns:p14="http://schemas.microsoft.com/office/powerpoint/2010/main" val="39639715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0"/>
            <a:ext cx="9829800" cy="6858000"/>
          </a:xfrm>
        </p:spPr>
      </p:pic>
    </p:spTree>
    <p:extLst>
      <p:ext uri="{BB962C8B-B14F-4D97-AF65-F5344CB8AC3E}">
        <p14:creationId xmlns:p14="http://schemas.microsoft.com/office/powerpoint/2010/main" val="36554723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Culicidae</a:t>
            </a:r>
            <a:r>
              <a:rPr lang="en-US" b="1" dirty="0" smtClean="0"/>
              <a:t> (Mosquitoes)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Mosquitoes of medical importance are divided into</a:t>
            </a:r>
          </a:p>
          <a:p>
            <a:pPr lvl="0"/>
            <a:r>
              <a:rPr lang="en-US" dirty="0" err="1"/>
              <a:t>Anopheline</a:t>
            </a:r>
            <a:r>
              <a:rPr lang="en-US" dirty="0"/>
              <a:t> mosquitoes, e.g</a:t>
            </a:r>
            <a:r>
              <a:rPr lang="en-US" i="1" dirty="0"/>
              <a:t>. Anopheles</a:t>
            </a:r>
            <a:r>
              <a:rPr lang="en-US" dirty="0"/>
              <a:t> spp. </a:t>
            </a:r>
            <a:r>
              <a:rPr lang="en-US" dirty="0" smtClean="0"/>
              <a:t>and</a:t>
            </a:r>
            <a:endParaRPr lang="en-US" dirty="0"/>
          </a:p>
          <a:p>
            <a:pPr lvl="0"/>
            <a:r>
              <a:rPr lang="en-US" dirty="0" err="1"/>
              <a:t>Culicine</a:t>
            </a:r>
            <a:r>
              <a:rPr lang="en-US" dirty="0"/>
              <a:t> mosquitoes, e.g</a:t>
            </a:r>
            <a:r>
              <a:rPr lang="en-US" i="1" dirty="0"/>
              <a:t>.  </a:t>
            </a:r>
            <a:r>
              <a:rPr lang="en-US" i="1" dirty="0" err="1"/>
              <a:t>Aedes</a:t>
            </a:r>
            <a:r>
              <a:rPr lang="en-US" i="1" dirty="0"/>
              <a:t>, </a:t>
            </a:r>
            <a:r>
              <a:rPr lang="en-US" i="1" dirty="0" err="1"/>
              <a:t>Culex</a:t>
            </a:r>
            <a:r>
              <a:rPr lang="en-US" dirty="0"/>
              <a:t> and </a:t>
            </a:r>
            <a:r>
              <a:rPr lang="en-US" i="1" dirty="0" err="1"/>
              <a:t>Mansonia</a:t>
            </a:r>
            <a:r>
              <a:rPr lang="en-US" i="1" dirty="0"/>
              <a:t> </a:t>
            </a:r>
            <a:r>
              <a:rPr lang="en-US" dirty="0" err="1"/>
              <a:t>sp</a:t>
            </a:r>
            <a:endParaRPr lang="en-US" dirty="0"/>
          </a:p>
          <a:p>
            <a:endParaRPr lang="en-US" dirty="0"/>
          </a:p>
        </p:txBody>
      </p:sp>
    </p:spTree>
    <p:extLst>
      <p:ext uri="{BB962C8B-B14F-4D97-AF65-F5344CB8AC3E}">
        <p14:creationId xmlns:p14="http://schemas.microsoft.com/office/powerpoint/2010/main" val="12930020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Anopheles </a:t>
            </a:r>
            <a:r>
              <a:rPr lang="en-US" b="1" dirty="0" smtClean="0"/>
              <a:t>species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v"/>
            </a:pPr>
            <a:r>
              <a:rPr lang="en-US" dirty="0" smtClean="0"/>
              <a:t>They </a:t>
            </a:r>
            <a:r>
              <a:rPr lang="en-US" dirty="0"/>
              <a:t>are vectors (definitive hosts) of:</a:t>
            </a:r>
          </a:p>
          <a:p>
            <a:pPr lvl="0">
              <a:buFont typeface="Wingdings" pitchFamily="2" charset="2"/>
              <a:buChar char="Ø"/>
            </a:pPr>
            <a:r>
              <a:rPr lang="en-US" dirty="0"/>
              <a:t>Malaria parasites</a:t>
            </a:r>
          </a:p>
          <a:p>
            <a:pPr lvl="0">
              <a:buFont typeface="Wingdings" pitchFamily="2" charset="2"/>
              <a:buChar char="Ø"/>
            </a:pPr>
            <a:r>
              <a:rPr lang="en-US" dirty="0" err="1"/>
              <a:t>Bancroftian</a:t>
            </a:r>
            <a:r>
              <a:rPr lang="en-US" dirty="0"/>
              <a:t> and </a:t>
            </a:r>
            <a:r>
              <a:rPr lang="en-US" dirty="0" err="1"/>
              <a:t>Brugian</a:t>
            </a:r>
            <a:r>
              <a:rPr lang="en-US" dirty="0"/>
              <a:t> filarial parasites, and</a:t>
            </a:r>
          </a:p>
          <a:p>
            <a:pPr lvl="0">
              <a:buFont typeface="Wingdings" pitchFamily="2" charset="2"/>
              <a:buChar char="Ø"/>
            </a:pPr>
            <a:r>
              <a:rPr lang="en-US" dirty="0" err="1"/>
              <a:t>Arboviruses</a:t>
            </a:r>
            <a:r>
              <a:rPr lang="en-US" dirty="0"/>
              <a:t> that cause some febrile and encephalitic diseases.</a:t>
            </a:r>
          </a:p>
          <a:p>
            <a:pPr lvl="0"/>
            <a:r>
              <a:rPr lang="en-US" dirty="0"/>
              <a:t>Most are twilight or night feeders although a few are also day feeders</a:t>
            </a:r>
          </a:p>
          <a:p>
            <a:pPr lvl="0"/>
            <a:r>
              <a:rPr lang="en-US" dirty="0"/>
              <a:t>Some feed and rest indoors; some feed outdoor and some feed indoors and rest </a:t>
            </a:r>
            <a:r>
              <a:rPr lang="en-US" dirty="0" smtClean="0"/>
              <a:t>outdoors</a:t>
            </a:r>
            <a:endParaRPr lang="en-US" dirty="0"/>
          </a:p>
        </p:txBody>
      </p:sp>
    </p:spTree>
    <p:extLst>
      <p:ext uri="{BB962C8B-B14F-4D97-AF65-F5344CB8AC3E}">
        <p14:creationId xmlns:p14="http://schemas.microsoft.com/office/powerpoint/2010/main" val="31417382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76200"/>
            <a:ext cx="8229600" cy="6781800"/>
          </a:xfrm>
        </p:spPr>
      </p:pic>
    </p:spTree>
    <p:extLst>
      <p:ext uri="{BB962C8B-B14F-4D97-AF65-F5344CB8AC3E}">
        <p14:creationId xmlns:p14="http://schemas.microsoft.com/office/powerpoint/2010/main" val="7279672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Anopheles </a:t>
            </a:r>
            <a:r>
              <a:rPr lang="en-US" b="1" dirty="0" smtClean="0"/>
              <a:t>species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The breeding sites are very varied and include permanent or temporary pools, swamps, seepages, rice fields, tree-holes, ditches and reservoirs.</a:t>
            </a:r>
          </a:p>
          <a:p>
            <a:pPr lvl="0"/>
            <a:r>
              <a:rPr lang="en-US" dirty="0"/>
              <a:t>Some species require sunlight and some species require shade for their </a:t>
            </a:r>
            <a:r>
              <a:rPr lang="en-US" dirty="0" smtClean="0"/>
              <a:t>breeding.</a:t>
            </a:r>
            <a:endParaRPr lang="en-US" dirty="0"/>
          </a:p>
          <a:p>
            <a:pPr marL="0" indent="0">
              <a:buNone/>
            </a:pPr>
            <a:endParaRPr lang="en-US" dirty="0" smtClean="0"/>
          </a:p>
          <a:p>
            <a:endParaRPr lang="en-US" dirty="0"/>
          </a:p>
        </p:txBody>
      </p:sp>
    </p:spTree>
    <p:extLst>
      <p:ext uri="{BB962C8B-B14F-4D97-AF65-F5344CB8AC3E}">
        <p14:creationId xmlns:p14="http://schemas.microsoft.com/office/powerpoint/2010/main" val="761080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Culicine</a:t>
            </a:r>
            <a:r>
              <a:rPr lang="en-US" b="1" dirty="0" smtClean="0"/>
              <a:t> species</a:t>
            </a:r>
            <a:r>
              <a:rPr lang="en-US" dirty="0" smtClean="0"/>
              <a:t/>
            </a:r>
            <a:br>
              <a:rPr lang="en-US" dirty="0" smtClean="0"/>
            </a:br>
            <a:endParaRPr lang="en-US" dirty="0"/>
          </a:p>
        </p:txBody>
      </p:sp>
      <p:sp>
        <p:nvSpPr>
          <p:cNvPr id="3" name="Content Placeholder 2"/>
          <p:cNvSpPr>
            <a:spLocks noGrp="1"/>
          </p:cNvSpPr>
          <p:nvPr>
            <p:ph idx="1"/>
          </p:nvPr>
        </p:nvSpPr>
        <p:spPr>
          <a:xfrm>
            <a:off x="457200" y="1676400"/>
            <a:ext cx="8229600" cy="4525963"/>
          </a:xfrm>
        </p:spPr>
        <p:txBody>
          <a:bodyPr/>
          <a:lstStyle/>
          <a:p>
            <a:pPr marL="0" lvl="0" indent="0">
              <a:buNone/>
            </a:pPr>
            <a:r>
              <a:rPr lang="en-US" b="1" i="1" dirty="0" smtClean="0"/>
              <a:t>1. </a:t>
            </a:r>
            <a:r>
              <a:rPr lang="en-US" b="1" i="1" dirty="0" err="1" smtClean="0"/>
              <a:t>Aedes</a:t>
            </a:r>
            <a:r>
              <a:rPr lang="en-US" i="1" dirty="0" smtClean="0"/>
              <a:t> </a:t>
            </a:r>
            <a:r>
              <a:rPr lang="en-US" dirty="0"/>
              <a:t>mosquitoes are vectors of</a:t>
            </a:r>
          </a:p>
          <a:p>
            <a:pPr lvl="0">
              <a:buFont typeface="Wingdings" pitchFamily="2" charset="2"/>
              <a:buChar char="Ø"/>
            </a:pPr>
            <a:r>
              <a:rPr lang="en-US" dirty="0" err="1"/>
              <a:t>Bancroftian</a:t>
            </a:r>
            <a:r>
              <a:rPr lang="en-US" dirty="0"/>
              <a:t> </a:t>
            </a:r>
            <a:r>
              <a:rPr lang="en-US" dirty="0" err="1"/>
              <a:t>filariasis</a:t>
            </a:r>
            <a:endParaRPr lang="en-US" dirty="0"/>
          </a:p>
          <a:p>
            <a:pPr lvl="0">
              <a:buFont typeface="Wingdings" pitchFamily="2" charset="2"/>
              <a:buChar char="Ø"/>
            </a:pPr>
            <a:r>
              <a:rPr lang="en-US" dirty="0"/>
              <a:t>Jungle and urban yellow fever</a:t>
            </a:r>
          </a:p>
          <a:p>
            <a:pPr lvl="0">
              <a:buFont typeface="Wingdings" pitchFamily="2" charset="2"/>
              <a:buChar char="Ø"/>
            </a:pPr>
            <a:r>
              <a:rPr lang="en-US" dirty="0"/>
              <a:t>Dengue, including dengue </a:t>
            </a:r>
            <a:r>
              <a:rPr lang="en-US" dirty="0" err="1"/>
              <a:t>haemorrhagic</a:t>
            </a:r>
            <a:r>
              <a:rPr lang="en-US" dirty="0"/>
              <a:t> fever</a:t>
            </a:r>
          </a:p>
          <a:p>
            <a:pPr lvl="0">
              <a:buFont typeface="Wingdings" pitchFamily="2" charset="2"/>
              <a:buChar char="Ø"/>
            </a:pPr>
            <a:r>
              <a:rPr lang="en-US" dirty="0" err="1"/>
              <a:t>Arboviruses</a:t>
            </a:r>
            <a:r>
              <a:rPr lang="en-US" dirty="0"/>
              <a:t> of many febrile and encephalitic diseases such as yellow fever, Rift Valley Fever, </a:t>
            </a:r>
            <a:r>
              <a:rPr lang="en-US" dirty="0" err="1"/>
              <a:t>Chikungunya</a:t>
            </a:r>
            <a:r>
              <a:rPr lang="en-US" dirty="0"/>
              <a:t>, and </a:t>
            </a:r>
            <a:r>
              <a:rPr lang="en-US" dirty="0" err="1"/>
              <a:t>Sindbis</a:t>
            </a:r>
            <a:endParaRPr lang="en-US" dirty="0"/>
          </a:p>
          <a:p>
            <a:endParaRPr lang="en-US" dirty="0"/>
          </a:p>
        </p:txBody>
      </p:sp>
    </p:spTree>
    <p:extLst>
      <p:ext uri="{BB962C8B-B14F-4D97-AF65-F5344CB8AC3E}">
        <p14:creationId xmlns:p14="http://schemas.microsoft.com/office/powerpoint/2010/main" val="34283000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Culicine</a:t>
            </a:r>
            <a:r>
              <a:rPr lang="en-US" b="1" dirty="0" smtClean="0"/>
              <a:t> species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The adults are ornate with patterned legs, thorax, and abdomen; the wings are not spotted</a:t>
            </a:r>
          </a:p>
          <a:p>
            <a:pPr lvl="0"/>
            <a:r>
              <a:rPr lang="en-US" dirty="0"/>
              <a:t>They feed during the day or night, indoors and outdoors</a:t>
            </a:r>
          </a:p>
          <a:p>
            <a:pPr lvl="0"/>
            <a:r>
              <a:rPr lang="en-US" dirty="0"/>
              <a:t>Their breeding sites include stagnant water in dark tree holes, coconut shells, old tins, bamboos, pots, axils of leaves of bananas/plantain trees, mud holes made by land crabs. </a:t>
            </a:r>
            <a:endParaRPr lang="en-US" dirty="0" smtClean="0"/>
          </a:p>
          <a:p>
            <a:pPr lvl="0"/>
            <a:r>
              <a:rPr lang="en-US" dirty="0" smtClean="0"/>
              <a:t>The </a:t>
            </a:r>
            <a:r>
              <a:rPr lang="en-US" dirty="0"/>
              <a:t>forest </a:t>
            </a:r>
            <a:r>
              <a:rPr lang="en-US" dirty="0" err="1"/>
              <a:t>starins</a:t>
            </a:r>
            <a:r>
              <a:rPr lang="en-US" dirty="0"/>
              <a:t> breed high up in trees, in holes, or in bamboos.</a:t>
            </a:r>
          </a:p>
          <a:p>
            <a:pPr marL="0" indent="0">
              <a:buNone/>
            </a:pPr>
            <a:endParaRPr lang="en-US" dirty="0"/>
          </a:p>
        </p:txBody>
      </p:sp>
    </p:spTree>
    <p:extLst>
      <p:ext uri="{BB962C8B-B14F-4D97-AF65-F5344CB8AC3E}">
        <p14:creationId xmlns:p14="http://schemas.microsoft.com/office/powerpoint/2010/main" val="1864967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Culicine</a:t>
            </a:r>
            <a:r>
              <a:rPr lang="en-US" b="1" dirty="0" smtClean="0"/>
              <a:t> species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b="1" i="1" dirty="0" err="1"/>
              <a:t>Culex</a:t>
            </a:r>
            <a:r>
              <a:rPr lang="en-US" b="1" dirty="0"/>
              <a:t> </a:t>
            </a:r>
            <a:r>
              <a:rPr lang="en-US" dirty="0"/>
              <a:t>species are vectors of</a:t>
            </a:r>
          </a:p>
          <a:p>
            <a:pPr lvl="0"/>
            <a:r>
              <a:rPr lang="en-US" dirty="0" err="1"/>
              <a:t>Bancroftian</a:t>
            </a:r>
            <a:r>
              <a:rPr lang="en-US" dirty="0"/>
              <a:t> </a:t>
            </a:r>
            <a:r>
              <a:rPr lang="en-US" dirty="0" err="1"/>
              <a:t>filariasis</a:t>
            </a:r>
            <a:endParaRPr lang="en-US" dirty="0"/>
          </a:p>
          <a:p>
            <a:pPr lvl="0"/>
            <a:r>
              <a:rPr lang="en-US" dirty="0" err="1"/>
              <a:t>Arboviruses</a:t>
            </a:r>
            <a:r>
              <a:rPr lang="en-US" dirty="0"/>
              <a:t> of several febrile and encephalitic diseases</a:t>
            </a:r>
          </a:p>
          <a:p>
            <a:pPr lvl="0"/>
            <a:r>
              <a:rPr lang="en-US" dirty="0"/>
              <a:t>The adults are not ornate</a:t>
            </a:r>
          </a:p>
          <a:p>
            <a:pPr lvl="0"/>
            <a:r>
              <a:rPr lang="en-US" dirty="0"/>
              <a:t>Many are attracted to animals</a:t>
            </a:r>
          </a:p>
          <a:p>
            <a:r>
              <a:rPr lang="en-US" dirty="0"/>
              <a:t>They are mostly indoor, night feeders</a:t>
            </a:r>
          </a:p>
        </p:txBody>
      </p:sp>
    </p:spTree>
    <p:extLst>
      <p:ext uri="{BB962C8B-B14F-4D97-AF65-F5344CB8AC3E}">
        <p14:creationId xmlns:p14="http://schemas.microsoft.com/office/powerpoint/2010/main" val="14942271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Culicine</a:t>
            </a:r>
            <a:r>
              <a:rPr lang="en-US" b="1" dirty="0" smtClean="0"/>
              <a:t> species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lvl="0" indent="0">
              <a:buNone/>
            </a:pPr>
            <a:r>
              <a:rPr lang="en-US" b="1" i="1" dirty="0" smtClean="0"/>
              <a:t>2. </a:t>
            </a:r>
            <a:r>
              <a:rPr lang="en-US" b="1" i="1" dirty="0" err="1" smtClean="0"/>
              <a:t>Culex</a:t>
            </a:r>
            <a:r>
              <a:rPr lang="en-US" b="1" dirty="0" smtClean="0"/>
              <a:t> </a:t>
            </a:r>
            <a:r>
              <a:rPr lang="en-US" dirty="0"/>
              <a:t>species are vectors of</a:t>
            </a:r>
          </a:p>
          <a:p>
            <a:pPr lvl="0">
              <a:buFont typeface="Wingdings" pitchFamily="2" charset="2"/>
              <a:buChar char="Ø"/>
            </a:pPr>
            <a:r>
              <a:rPr lang="en-US" dirty="0" err="1"/>
              <a:t>Bancroftian</a:t>
            </a:r>
            <a:r>
              <a:rPr lang="en-US" dirty="0"/>
              <a:t> </a:t>
            </a:r>
            <a:r>
              <a:rPr lang="en-US" dirty="0" err="1"/>
              <a:t>filariasis</a:t>
            </a:r>
            <a:endParaRPr lang="en-US" dirty="0"/>
          </a:p>
          <a:p>
            <a:pPr lvl="0">
              <a:buFont typeface="Wingdings" pitchFamily="2" charset="2"/>
              <a:buChar char="Ø"/>
            </a:pPr>
            <a:r>
              <a:rPr lang="en-US" dirty="0" err="1"/>
              <a:t>Arboviruses</a:t>
            </a:r>
            <a:r>
              <a:rPr lang="en-US" dirty="0"/>
              <a:t> of several febrile and encephalitic diseases</a:t>
            </a:r>
          </a:p>
          <a:p>
            <a:pPr lvl="0"/>
            <a:r>
              <a:rPr lang="en-US" dirty="0"/>
              <a:t>The adults are not ornate</a:t>
            </a:r>
          </a:p>
          <a:p>
            <a:pPr lvl="0"/>
            <a:r>
              <a:rPr lang="en-US" dirty="0"/>
              <a:t>Many are attracted to animals</a:t>
            </a:r>
          </a:p>
          <a:p>
            <a:r>
              <a:rPr lang="en-US" dirty="0"/>
              <a:t>They are mostly indoor, night feeders</a:t>
            </a:r>
          </a:p>
        </p:txBody>
      </p:sp>
    </p:spTree>
    <p:extLst>
      <p:ext uri="{BB962C8B-B14F-4D97-AF65-F5344CB8AC3E}">
        <p14:creationId xmlns:p14="http://schemas.microsoft.com/office/powerpoint/2010/main" val="38069726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Culicine</a:t>
            </a:r>
            <a:r>
              <a:rPr lang="en-US" b="1" dirty="0" smtClean="0"/>
              <a:t> species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marL="0" lvl="0" indent="0">
              <a:buNone/>
            </a:pPr>
            <a:r>
              <a:rPr lang="en-US" b="1" i="1" dirty="0" smtClean="0"/>
              <a:t>3. </a:t>
            </a:r>
            <a:r>
              <a:rPr lang="en-US" b="1" i="1" dirty="0" err="1" smtClean="0"/>
              <a:t>Mansonia</a:t>
            </a:r>
            <a:r>
              <a:rPr lang="en-US" b="1" i="1" dirty="0" smtClean="0"/>
              <a:t> </a:t>
            </a:r>
            <a:r>
              <a:rPr lang="en-US" dirty="0"/>
              <a:t>species are vectors of</a:t>
            </a:r>
          </a:p>
          <a:p>
            <a:pPr>
              <a:buFont typeface="Wingdings" pitchFamily="2" charset="2"/>
              <a:buChar char="Ø"/>
            </a:pPr>
            <a:r>
              <a:rPr lang="en-US" dirty="0" err="1"/>
              <a:t>Brugian</a:t>
            </a:r>
            <a:r>
              <a:rPr lang="en-US" dirty="0"/>
              <a:t> </a:t>
            </a:r>
            <a:r>
              <a:rPr lang="en-US" dirty="0" err="1"/>
              <a:t>filariasis</a:t>
            </a:r>
            <a:r>
              <a:rPr lang="en-US" dirty="0"/>
              <a:t> and </a:t>
            </a:r>
            <a:r>
              <a:rPr lang="en-US" dirty="0" err="1"/>
              <a:t>Bancroftian</a:t>
            </a:r>
            <a:r>
              <a:rPr lang="en-US" dirty="0"/>
              <a:t> </a:t>
            </a:r>
            <a:r>
              <a:rPr lang="en-US" dirty="0" err="1"/>
              <a:t>filariasis</a:t>
            </a:r>
            <a:r>
              <a:rPr lang="en-US" dirty="0"/>
              <a:t>.</a:t>
            </a:r>
          </a:p>
          <a:p>
            <a:pPr lvl="0"/>
            <a:r>
              <a:rPr lang="en-US" dirty="0"/>
              <a:t>Adults are of moderate size and strongly built</a:t>
            </a:r>
          </a:p>
          <a:p>
            <a:pPr lvl="0"/>
            <a:r>
              <a:rPr lang="en-US" dirty="0"/>
              <a:t>They feed at night, indoors and outdoors, and during the day in swamp forests</a:t>
            </a:r>
          </a:p>
          <a:p>
            <a:pPr lvl="0"/>
            <a:r>
              <a:rPr lang="en-US" dirty="0"/>
              <a:t>They breed in swamps, paddy fields, ponds or collections of water in water plants or swamp grass</a:t>
            </a:r>
          </a:p>
          <a:p>
            <a:pPr marL="0" indent="0">
              <a:buNone/>
            </a:pPr>
            <a:endParaRPr lang="en-US" dirty="0"/>
          </a:p>
        </p:txBody>
      </p:sp>
    </p:spTree>
    <p:extLst>
      <p:ext uri="{BB962C8B-B14F-4D97-AF65-F5344CB8AC3E}">
        <p14:creationId xmlns:p14="http://schemas.microsoft.com/office/powerpoint/2010/main" val="34068109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Culicine</a:t>
            </a:r>
            <a:r>
              <a:rPr lang="en-US" b="1" dirty="0" smtClean="0"/>
              <a:t> species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The siphon of the larva is short, conically-shaped and modified for piercing submerged stems and roots of plants to obtain oxygen.</a:t>
            </a:r>
          </a:p>
          <a:p>
            <a:pPr marL="0" indent="0">
              <a:buNone/>
            </a:pPr>
            <a:endParaRPr lang="en-US" dirty="0"/>
          </a:p>
        </p:txBody>
      </p:sp>
    </p:spTree>
    <p:extLst>
      <p:ext uri="{BB962C8B-B14F-4D97-AF65-F5344CB8AC3E}">
        <p14:creationId xmlns:p14="http://schemas.microsoft.com/office/powerpoint/2010/main" val="35692396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Psychodidae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dirty="0" smtClean="0"/>
              <a:t>Two </a:t>
            </a:r>
            <a:r>
              <a:rPr lang="en-US" dirty="0"/>
              <a:t>Subfamilies are of medical importance: </a:t>
            </a:r>
            <a:r>
              <a:rPr lang="en-US" b="1" dirty="0" err="1"/>
              <a:t>Psychodinae</a:t>
            </a:r>
            <a:r>
              <a:rPr lang="en-US" b="1" dirty="0"/>
              <a:t> </a:t>
            </a:r>
            <a:r>
              <a:rPr lang="en-US" dirty="0"/>
              <a:t>which contain moth flies and are of slight parasitological importance they breed in substrates rich in decomposing organic matter; </a:t>
            </a:r>
            <a:endParaRPr lang="en-US" dirty="0" smtClean="0"/>
          </a:p>
          <a:p>
            <a:pPr>
              <a:buFont typeface="Wingdings" pitchFamily="2" charset="2"/>
              <a:buChar char="v"/>
            </a:pPr>
            <a:r>
              <a:rPr lang="en-US" dirty="0" smtClean="0"/>
              <a:t>some </a:t>
            </a:r>
            <a:r>
              <a:rPr lang="en-US" dirty="0"/>
              <a:t>are found in cesspools and drains; some are involved in the mechanical transmission of nematodes </a:t>
            </a:r>
            <a:r>
              <a:rPr lang="en-US" dirty="0" smtClean="0"/>
              <a:t>that </a:t>
            </a:r>
            <a:r>
              <a:rPr lang="en-US" dirty="0"/>
              <a:t>parasitize livestock, and </a:t>
            </a:r>
            <a:r>
              <a:rPr lang="en-US" b="1" dirty="0" err="1"/>
              <a:t>Phlebotominae</a:t>
            </a:r>
            <a:r>
              <a:rPr lang="en-US" dirty="0"/>
              <a:t> which consist of sand flies and are of great medical importance.</a:t>
            </a:r>
          </a:p>
          <a:p>
            <a:endParaRPr lang="en-US" dirty="0"/>
          </a:p>
        </p:txBody>
      </p:sp>
    </p:spTree>
    <p:extLst>
      <p:ext uri="{BB962C8B-B14F-4D97-AF65-F5344CB8AC3E}">
        <p14:creationId xmlns:p14="http://schemas.microsoft.com/office/powerpoint/2010/main" val="13042840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Sandflies (</a:t>
            </a:r>
            <a:r>
              <a:rPr lang="en-US" b="1" dirty="0" err="1" smtClean="0"/>
              <a:t>Phlebotomine</a:t>
            </a:r>
            <a:r>
              <a:rPr lang="en-US" b="1" dirty="0" smtClean="0"/>
              <a:t> flies)</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smtClean="0"/>
              <a:t>These </a:t>
            </a:r>
            <a:r>
              <a:rPr lang="en-US" dirty="0"/>
              <a:t>are vectors of</a:t>
            </a:r>
          </a:p>
          <a:p>
            <a:pPr lvl="0">
              <a:buFont typeface="Wingdings" pitchFamily="2" charset="2"/>
              <a:buChar char="Ø"/>
            </a:pPr>
            <a:r>
              <a:rPr lang="en-US" dirty="0"/>
              <a:t>Visceral </a:t>
            </a:r>
            <a:r>
              <a:rPr lang="en-US" dirty="0" err="1"/>
              <a:t>leishmaniasis</a:t>
            </a:r>
            <a:endParaRPr lang="en-US" dirty="0"/>
          </a:p>
          <a:p>
            <a:pPr lvl="0">
              <a:buFont typeface="Wingdings" pitchFamily="2" charset="2"/>
              <a:buChar char="Ø"/>
            </a:pPr>
            <a:r>
              <a:rPr lang="en-US" dirty="0"/>
              <a:t>Cutaneous </a:t>
            </a:r>
            <a:r>
              <a:rPr lang="en-US" dirty="0" err="1"/>
              <a:t>leishmaniasis</a:t>
            </a:r>
            <a:endParaRPr lang="en-US" dirty="0"/>
          </a:p>
          <a:p>
            <a:pPr lvl="0">
              <a:buFont typeface="Wingdings" pitchFamily="2" charset="2"/>
              <a:buChar char="Ø"/>
            </a:pPr>
            <a:r>
              <a:rPr lang="en-US" dirty="0" err="1"/>
              <a:t>Mucocutaneous</a:t>
            </a:r>
            <a:r>
              <a:rPr lang="en-US" dirty="0"/>
              <a:t> </a:t>
            </a:r>
            <a:r>
              <a:rPr lang="en-US" dirty="0" err="1"/>
              <a:t>leishmaniasis</a:t>
            </a:r>
            <a:endParaRPr lang="en-US" dirty="0"/>
          </a:p>
          <a:p>
            <a:pPr lvl="0">
              <a:buFont typeface="Wingdings" pitchFamily="2" charset="2"/>
              <a:buChar char="Ø"/>
            </a:pPr>
            <a:r>
              <a:rPr lang="en-US" dirty="0"/>
              <a:t>Sandfly fever</a:t>
            </a:r>
          </a:p>
          <a:p>
            <a:pPr lvl="0">
              <a:buFont typeface="Wingdings" pitchFamily="2" charset="2"/>
              <a:buChar char="Ø"/>
            </a:pPr>
            <a:r>
              <a:rPr lang="en-US" dirty="0" err="1"/>
              <a:t>Oroya</a:t>
            </a:r>
            <a:r>
              <a:rPr lang="en-US" dirty="0"/>
              <a:t> fever (also known as Carrion’s disease)</a:t>
            </a:r>
          </a:p>
          <a:p>
            <a:endParaRPr lang="en-US" dirty="0"/>
          </a:p>
        </p:txBody>
      </p:sp>
    </p:spTree>
    <p:extLst>
      <p:ext uri="{BB962C8B-B14F-4D97-AF65-F5344CB8AC3E}">
        <p14:creationId xmlns:p14="http://schemas.microsoft.com/office/powerpoint/2010/main" val="30903070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Sandflies (</a:t>
            </a:r>
            <a:r>
              <a:rPr lang="en-US" b="1" dirty="0" err="1" smtClean="0"/>
              <a:t>Phlebotomine</a:t>
            </a:r>
            <a:r>
              <a:rPr lang="en-US" b="1" dirty="0" smtClean="0"/>
              <a:t> flies) cont’d</a:t>
            </a:r>
            <a:r>
              <a:rPr lang="en-US" dirty="0" smtClean="0"/>
              <a:t/>
            </a:r>
            <a:br>
              <a:rPr lang="en-US" dirty="0" smtClean="0"/>
            </a:br>
            <a:endParaRPr lang="en-US" dirty="0"/>
          </a:p>
        </p:txBody>
      </p:sp>
      <p:sp>
        <p:nvSpPr>
          <p:cNvPr id="3" name="Content Placeholder 2"/>
          <p:cNvSpPr>
            <a:spLocks noGrp="1"/>
          </p:cNvSpPr>
          <p:nvPr>
            <p:ph idx="1"/>
          </p:nvPr>
        </p:nvSpPr>
        <p:spPr>
          <a:xfrm>
            <a:off x="457200" y="1676400"/>
            <a:ext cx="8229600" cy="4953000"/>
          </a:xfrm>
        </p:spPr>
        <p:txBody>
          <a:bodyPr>
            <a:normAutofit fontScale="92500" lnSpcReduction="20000"/>
          </a:bodyPr>
          <a:lstStyle/>
          <a:p>
            <a:pPr lvl="0"/>
            <a:r>
              <a:rPr lang="en-US" dirty="0"/>
              <a:t>They are small, hairy, yellow or grey-</a:t>
            </a:r>
            <a:r>
              <a:rPr lang="en-US" dirty="0" err="1"/>
              <a:t>coloured</a:t>
            </a:r>
            <a:r>
              <a:rPr lang="en-US" dirty="0"/>
              <a:t> insects</a:t>
            </a:r>
          </a:p>
          <a:p>
            <a:pPr lvl="0"/>
            <a:r>
              <a:rPr lang="en-US" dirty="0"/>
              <a:t>They are found in warm and hot climates, in dry desert-like regions or in humid forest areas</a:t>
            </a:r>
          </a:p>
          <a:p>
            <a:pPr lvl="0"/>
            <a:r>
              <a:rPr lang="en-US" dirty="0"/>
              <a:t>They fly near to the ground in short hop-like flights near their breeding sites</a:t>
            </a:r>
          </a:p>
          <a:p>
            <a:pPr lvl="0"/>
            <a:r>
              <a:rPr lang="en-US" dirty="0"/>
              <a:t>The female sucks blood from humans, rodents, dogs and other animals; the males feed on plant juices</a:t>
            </a:r>
          </a:p>
          <a:p>
            <a:pPr lvl="0"/>
            <a:r>
              <a:rPr lang="en-US" dirty="0"/>
              <a:t>The eggs are laid in cracks and holes in moist ground, including animal burrows and under stones and bricks</a:t>
            </a:r>
          </a:p>
          <a:p>
            <a:pPr marL="0" indent="0">
              <a:buNone/>
            </a:pPr>
            <a:endParaRPr lang="en-US" dirty="0"/>
          </a:p>
        </p:txBody>
      </p:sp>
    </p:spTree>
    <p:extLst>
      <p:ext uri="{BB962C8B-B14F-4D97-AF65-F5344CB8AC3E}">
        <p14:creationId xmlns:p14="http://schemas.microsoft.com/office/powerpoint/2010/main" val="30242257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Sandflies (</a:t>
            </a:r>
            <a:r>
              <a:rPr lang="en-US" b="1" dirty="0" err="1" smtClean="0"/>
              <a:t>Phlebotomine</a:t>
            </a:r>
            <a:r>
              <a:rPr lang="en-US" b="1" dirty="0" smtClean="0"/>
              <a:t> flies)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There are four larval stages; larvae feed on organic matter</a:t>
            </a:r>
          </a:p>
          <a:p>
            <a:pPr lvl="0"/>
            <a:r>
              <a:rPr lang="en-US" dirty="0"/>
              <a:t>From egg laying to adult emergence takes 35-60 days, depending on temperature and availability of food</a:t>
            </a:r>
          </a:p>
          <a:p>
            <a:pPr lvl="0"/>
            <a:r>
              <a:rPr lang="en-US" dirty="0"/>
              <a:t>Adult life-span is a few weeks, and it rests on tree trunks, in tree holes, on walls and in cracks and crevices.</a:t>
            </a:r>
          </a:p>
          <a:p>
            <a:pPr lvl="0"/>
            <a:r>
              <a:rPr lang="en-US" dirty="0"/>
              <a:t>Adult Sandflies feed at night or at twilight and early morning; although some feed during the day</a:t>
            </a:r>
          </a:p>
          <a:p>
            <a:pPr marL="0" indent="0">
              <a:buNone/>
            </a:pPr>
            <a:endParaRPr lang="en-US" dirty="0"/>
          </a:p>
        </p:txBody>
      </p:sp>
    </p:spTree>
    <p:extLst>
      <p:ext uri="{BB962C8B-B14F-4D97-AF65-F5344CB8AC3E}">
        <p14:creationId xmlns:p14="http://schemas.microsoft.com/office/powerpoint/2010/main" val="26591218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Sandflies (</a:t>
            </a:r>
            <a:r>
              <a:rPr lang="en-US" b="1" dirty="0" err="1" smtClean="0"/>
              <a:t>Phlebotomine</a:t>
            </a:r>
            <a:r>
              <a:rPr lang="en-US" b="1" dirty="0" smtClean="0"/>
              <a:t> flies)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a:t>They are weak flyers, navigating only short distances and are inactive when the wind is blowing; </a:t>
            </a:r>
            <a:endParaRPr lang="en-US" dirty="0" smtClean="0"/>
          </a:p>
          <a:p>
            <a:pPr lvl="0"/>
            <a:r>
              <a:rPr lang="en-US" dirty="0" smtClean="0"/>
              <a:t>they </a:t>
            </a:r>
            <a:r>
              <a:rPr lang="en-US" dirty="0"/>
              <a:t>avoid hot, dry places, however, there are desert species that thrive by hiding in dry mud cracks and burrows, emerging only during humid (night) hours which coincide with the times of human activities</a:t>
            </a:r>
          </a:p>
          <a:p>
            <a:endParaRPr lang="en-US" dirty="0"/>
          </a:p>
        </p:txBody>
      </p:sp>
    </p:spTree>
    <p:extLst>
      <p:ext uri="{BB962C8B-B14F-4D97-AF65-F5344CB8AC3E}">
        <p14:creationId xmlns:p14="http://schemas.microsoft.com/office/powerpoint/2010/main" val="42023784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Sandflies (</a:t>
            </a:r>
            <a:r>
              <a:rPr lang="en-US" b="1" dirty="0" err="1" smtClean="0"/>
              <a:t>Phlebotomine</a:t>
            </a:r>
            <a:r>
              <a:rPr lang="en-US" b="1" dirty="0" smtClean="0"/>
              <a:t> flies)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There are two generally recognized Old World genera of sandflies</a:t>
            </a:r>
            <a:r>
              <a:rPr lang="en-US" i="1" dirty="0" smtClean="0"/>
              <a:t>, </a:t>
            </a:r>
            <a:r>
              <a:rPr lang="en-US" i="1" dirty="0" err="1" smtClean="0"/>
              <a:t>Phlebotomus</a:t>
            </a:r>
            <a:r>
              <a:rPr lang="en-US" dirty="0" smtClean="0"/>
              <a:t> and </a:t>
            </a:r>
            <a:r>
              <a:rPr lang="en-US" i="1" dirty="0" err="1" smtClean="0"/>
              <a:t>Sergentomyia</a:t>
            </a:r>
            <a:r>
              <a:rPr lang="en-US" i="1" dirty="0" smtClean="0"/>
              <a:t> </a:t>
            </a:r>
            <a:r>
              <a:rPr lang="en-US" dirty="0" smtClean="0"/>
              <a:t>and one American, the genus </a:t>
            </a:r>
            <a:r>
              <a:rPr lang="en-US" i="1" dirty="0" err="1" smtClean="0"/>
              <a:t>Lutzomyia</a:t>
            </a:r>
            <a:endParaRPr lang="en-US" dirty="0" smtClean="0"/>
          </a:p>
          <a:p>
            <a:pPr lvl="0"/>
            <a:r>
              <a:rPr lang="en-US" dirty="0" err="1"/>
              <a:t>Phlebotomines</a:t>
            </a:r>
            <a:r>
              <a:rPr lang="en-US" dirty="0"/>
              <a:t> require a combination of darkness, high humidity, organic debris on which larvae feed, and possibly a sleeping host.</a:t>
            </a:r>
          </a:p>
          <a:p>
            <a:pPr marL="0" indent="0">
              <a:buNone/>
            </a:pPr>
            <a:endParaRPr lang="en-US" dirty="0"/>
          </a:p>
        </p:txBody>
      </p:sp>
    </p:spTree>
    <p:extLst>
      <p:ext uri="{BB962C8B-B14F-4D97-AF65-F5344CB8AC3E}">
        <p14:creationId xmlns:p14="http://schemas.microsoft.com/office/powerpoint/2010/main" val="15336479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Simuliidae</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4648200"/>
          </a:xfrm>
        </p:spPr>
        <p:txBody>
          <a:bodyPr>
            <a:normAutofit fontScale="92500" lnSpcReduction="20000"/>
          </a:bodyPr>
          <a:lstStyle/>
          <a:p>
            <a:pPr lvl="0"/>
            <a:r>
              <a:rPr lang="en-US" dirty="0" err="1" smtClean="0"/>
              <a:t>Simulid</a:t>
            </a:r>
            <a:r>
              <a:rPr lang="en-US" dirty="0" smtClean="0"/>
              <a:t> </a:t>
            </a:r>
            <a:r>
              <a:rPr lang="en-US" dirty="0"/>
              <a:t>flies are commonly known as black flies although many species are gray or tan</a:t>
            </a:r>
          </a:p>
          <a:p>
            <a:pPr lvl="0"/>
            <a:r>
              <a:rPr lang="en-US" dirty="0"/>
              <a:t>Their wings are broad and iridescent, with strongly developed anterior veins</a:t>
            </a:r>
          </a:p>
          <a:p>
            <a:pPr lvl="0"/>
            <a:r>
              <a:rPr lang="en-US" dirty="0"/>
              <a:t>They are small, 1.0mm-5.0mm long, the </a:t>
            </a:r>
            <a:r>
              <a:rPr lang="en-US" dirty="0" err="1"/>
              <a:t>prescutum</a:t>
            </a:r>
            <a:r>
              <a:rPr lang="en-US" dirty="0"/>
              <a:t> of their </a:t>
            </a:r>
            <a:r>
              <a:rPr lang="en-US" dirty="0" err="1"/>
              <a:t>mesonotum</a:t>
            </a:r>
            <a:r>
              <a:rPr lang="en-US" dirty="0"/>
              <a:t> is reduced, giving them a humpbacked appearance, which explains their other common name, buffalo gnat</a:t>
            </a:r>
          </a:p>
          <a:p>
            <a:pPr lvl="0"/>
            <a:r>
              <a:rPr lang="en-US" dirty="0"/>
              <a:t>Black flies are found worldwide but are most abundant in northern temperate and subarctic zones</a:t>
            </a:r>
          </a:p>
          <a:p>
            <a:endParaRPr lang="en-US" dirty="0"/>
          </a:p>
        </p:txBody>
      </p:sp>
    </p:spTree>
    <p:extLst>
      <p:ext uri="{BB962C8B-B14F-4D97-AF65-F5344CB8AC3E}">
        <p14:creationId xmlns:p14="http://schemas.microsoft.com/office/powerpoint/2010/main" val="34475927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1000" y="0"/>
            <a:ext cx="8382000" cy="6858000"/>
          </a:xfrm>
        </p:spPr>
      </p:pic>
    </p:spTree>
    <p:extLst>
      <p:ext uri="{BB962C8B-B14F-4D97-AF65-F5344CB8AC3E}">
        <p14:creationId xmlns:p14="http://schemas.microsoft.com/office/powerpoint/2010/main" val="7967798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Simuliidae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a:t>Larval development occurs only in running well-oxygenated water; </a:t>
            </a:r>
            <a:endParaRPr lang="en-US" dirty="0" smtClean="0"/>
          </a:p>
          <a:p>
            <a:pPr lvl="0"/>
            <a:r>
              <a:rPr lang="en-US" dirty="0" smtClean="0"/>
              <a:t>they </a:t>
            </a:r>
            <a:r>
              <a:rPr lang="en-US" dirty="0"/>
              <a:t>are, therefore, most numerous near rivers and streams, although they are able to travel several miles when aided by winds</a:t>
            </a:r>
          </a:p>
          <a:p>
            <a:pPr lvl="0"/>
            <a:r>
              <a:rPr lang="en-US" dirty="0"/>
              <a:t>Individuals react differently to black fly bites: few people have little or no reaction</a:t>
            </a:r>
            <a:r>
              <a:rPr lang="en-US" dirty="0" smtClean="0"/>
              <a:t>;</a:t>
            </a:r>
          </a:p>
          <a:p>
            <a:pPr lvl="0"/>
            <a:r>
              <a:rPr lang="en-US" dirty="0" smtClean="0"/>
              <a:t> </a:t>
            </a:r>
            <a:r>
              <a:rPr lang="en-US" dirty="0"/>
              <a:t>most develop local reactions in the form of reddened, itching </a:t>
            </a:r>
            <a:r>
              <a:rPr lang="en-US" dirty="0" smtClean="0"/>
              <a:t>wheals</a:t>
            </a:r>
            <a:endParaRPr lang="en-US" dirty="0"/>
          </a:p>
        </p:txBody>
      </p:sp>
    </p:spTree>
    <p:extLst>
      <p:ext uri="{BB962C8B-B14F-4D97-AF65-F5344CB8AC3E}">
        <p14:creationId xmlns:p14="http://schemas.microsoft.com/office/powerpoint/2010/main" val="2565585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Simuliidae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smtClean="0"/>
              <a:t>Black fly fever, a combination of nausea, headache, fever and swollen limbs, occur in particularly sensitive persons.</a:t>
            </a:r>
          </a:p>
          <a:p>
            <a:pPr lvl="0"/>
            <a:r>
              <a:rPr lang="en-US" dirty="0"/>
              <a:t>Black flies are vectors of </a:t>
            </a:r>
            <a:r>
              <a:rPr lang="en-US" i="1" dirty="0" err="1"/>
              <a:t>Onchocerca</a:t>
            </a:r>
            <a:r>
              <a:rPr lang="en-US" i="1" dirty="0"/>
              <a:t> volvulus</a:t>
            </a:r>
            <a:r>
              <a:rPr lang="en-US" dirty="0"/>
              <a:t>, the cause of human </a:t>
            </a:r>
            <a:r>
              <a:rPr lang="en-US" dirty="0" err="1"/>
              <a:t>onchocerciasis</a:t>
            </a:r>
            <a:r>
              <a:rPr lang="en-US" dirty="0"/>
              <a:t>. </a:t>
            </a:r>
            <a:endParaRPr lang="en-US" dirty="0" smtClean="0"/>
          </a:p>
          <a:p>
            <a:pPr lvl="0"/>
            <a:r>
              <a:rPr lang="en-US" dirty="0" smtClean="0"/>
              <a:t>The </a:t>
            </a:r>
            <a:r>
              <a:rPr lang="en-US" dirty="0"/>
              <a:t>most common vector in Africa is </a:t>
            </a:r>
            <a:r>
              <a:rPr lang="en-US" i="1" dirty="0"/>
              <a:t>S. </a:t>
            </a:r>
            <a:r>
              <a:rPr lang="en-US" i="1" dirty="0" err="1"/>
              <a:t>damnosum</a:t>
            </a:r>
            <a:r>
              <a:rPr lang="en-US" dirty="0"/>
              <a:t>, and also </a:t>
            </a:r>
            <a:r>
              <a:rPr lang="en-US" i="1" dirty="0"/>
              <a:t>S. </a:t>
            </a:r>
            <a:r>
              <a:rPr lang="en-US" i="1" dirty="0" err="1"/>
              <a:t>neavei</a:t>
            </a:r>
            <a:endParaRPr lang="en-US" dirty="0"/>
          </a:p>
          <a:p>
            <a:pPr marL="0" indent="0">
              <a:buNone/>
            </a:pPr>
            <a:endParaRPr lang="en-US" dirty="0"/>
          </a:p>
        </p:txBody>
      </p:sp>
    </p:spTree>
    <p:extLst>
      <p:ext uri="{BB962C8B-B14F-4D97-AF65-F5344CB8AC3E}">
        <p14:creationId xmlns:p14="http://schemas.microsoft.com/office/powerpoint/2010/main" val="160772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Simuliidae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In the new world</a:t>
            </a:r>
            <a:r>
              <a:rPr lang="en-US" i="1" dirty="0" smtClean="0"/>
              <a:t>, S. </a:t>
            </a:r>
            <a:r>
              <a:rPr lang="en-US" i="1" dirty="0" err="1" smtClean="0"/>
              <a:t>ochraceum</a:t>
            </a:r>
            <a:r>
              <a:rPr lang="en-US" i="1" dirty="0" smtClean="0"/>
              <a:t>, S. </a:t>
            </a:r>
            <a:r>
              <a:rPr lang="en-US" i="1" dirty="0" err="1" smtClean="0"/>
              <a:t>metallicum</a:t>
            </a:r>
            <a:r>
              <a:rPr lang="en-US" i="1" dirty="0" smtClean="0"/>
              <a:t>, S. </a:t>
            </a:r>
            <a:r>
              <a:rPr lang="en-US" i="1" dirty="0" err="1" smtClean="0"/>
              <a:t>callidum</a:t>
            </a:r>
            <a:r>
              <a:rPr lang="en-US" dirty="0" smtClean="0"/>
              <a:t> and </a:t>
            </a:r>
            <a:r>
              <a:rPr lang="en-US" i="1" dirty="0" smtClean="0"/>
              <a:t>S. </a:t>
            </a:r>
            <a:r>
              <a:rPr lang="en-US" i="1" dirty="0" err="1" smtClean="0"/>
              <a:t>exiguum</a:t>
            </a:r>
            <a:r>
              <a:rPr lang="en-US" dirty="0" smtClean="0"/>
              <a:t> are the most efficient vectors because of their preference for humans and the timing of their activity coinciding with that of humans</a:t>
            </a:r>
          </a:p>
          <a:p>
            <a:pPr lvl="0"/>
            <a:r>
              <a:rPr lang="en-US" i="1" dirty="0" err="1"/>
              <a:t>Onchocerca</a:t>
            </a:r>
            <a:r>
              <a:rPr lang="en-US" i="1" dirty="0"/>
              <a:t>. </a:t>
            </a:r>
            <a:r>
              <a:rPr lang="en-US" i="1" dirty="0" err="1"/>
              <a:t>gutterosa</a:t>
            </a:r>
            <a:r>
              <a:rPr lang="en-US" dirty="0"/>
              <a:t> commonly is transmitted to cattle by </a:t>
            </a:r>
            <a:r>
              <a:rPr lang="en-US" i="1" dirty="0"/>
              <a:t>S. </a:t>
            </a:r>
            <a:r>
              <a:rPr lang="en-US" i="1" dirty="0" err="1"/>
              <a:t>ornatum</a:t>
            </a:r>
            <a:r>
              <a:rPr lang="en-US" dirty="0"/>
              <a:t> in Europe, whilst in Australia </a:t>
            </a:r>
            <a:r>
              <a:rPr lang="en-US" i="1" dirty="0" err="1"/>
              <a:t>Simulium</a:t>
            </a:r>
            <a:r>
              <a:rPr lang="en-US" dirty="0"/>
              <a:t> and </a:t>
            </a:r>
            <a:r>
              <a:rPr lang="en-US" i="1" dirty="0" err="1"/>
              <a:t>Culicoides</a:t>
            </a:r>
            <a:r>
              <a:rPr lang="en-US" dirty="0"/>
              <a:t> </a:t>
            </a:r>
            <a:r>
              <a:rPr lang="en-US" dirty="0" err="1"/>
              <a:t>spp</a:t>
            </a:r>
            <a:r>
              <a:rPr lang="en-US" dirty="0"/>
              <a:t> infect cattle with </a:t>
            </a:r>
            <a:r>
              <a:rPr lang="en-US" i="1" dirty="0" err="1"/>
              <a:t>Onchocerca</a:t>
            </a:r>
            <a:r>
              <a:rPr lang="en-US" i="1" dirty="0"/>
              <a:t>. </a:t>
            </a:r>
            <a:r>
              <a:rPr lang="en-US" i="1" dirty="0" err="1"/>
              <a:t>gibsoni</a:t>
            </a:r>
            <a:r>
              <a:rPr lang="en-US" dirty="0"/>
              <a:t>, causing considerable loss to flesh and hides.</a:t>
            </a:r>
          </a:p>
          <a:p>
            <a:pPr marL="0" indent="0">
              <a:buNone/>
            </a:pPr>
            <a:endParaRPr lang="en-US" dirty="0"/>
          </a:p>
        </p:txBody>
      </p:sp>
    </p:spTree>
    <p:extLst>
      <p:ext uri="{BB962C8B-B14F-4D97-AF65-F5344CB8AC3E}">
        <p14:creationId xmlns:p14="http://schemas.microsoft.com/office/powerpoint/2010/main" val="3280489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Simuliidae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lvl="0"/>
            <a:r>
              <a:rPr lang="en-US" dirty="0"/>
              <a:t>Sand fly bites are painful and often cause allergic reactions. </a:t>
            </a:r>
            <a:endParaRPr lang="en-US" dirty="0" smtClean="0"/>
          </a:p>
          <a:p>
            <a:pPr lvl="0"/>
            <a:r>
              <a:rPr lang="en-US" dirty="0" smtClean="0"/>
              <a:t>The </a:t>
            </a:r>
            <a:r>
              <a:rPr lang="en-US" dirty="0"/>
              <a:t>female feed on the blood of humans and animals, tearing the skin until a blood vessel is damaged</a:t>
            </a:r>
            <a:r>
              <a:rPr lang="en-US" dirty="0" smtClean="0"/>
              <a:t>.</a:t>
            </a:r>
          </a:p>
          <a:p>
            <a:pPr lvl="0"/>
            <a:r>
              <a:rPr lang="en-US" dirty="0" smtClean="0"/>
              <a:t> </a:t>
            </a:r>
            <a:r>
              <a:rPr lang="en-US" dirty="0"/>
              <a:t>Both male and female also feed on plant juices.</a:t>
            </a:r>
          </a:p>
          <a:p>
            <a:pPr lvl="0"/>
            <a:r>
              <a:rPr lang="en-US" dirty="0"/>
              <a:t>The eggs are laid on rocks just below the surface of flowing water or on vegetation dipping into the water.</a:t>
            </a:r>
          </a:p>
          <a:p>
            <a:endParaRPr lang="en-US" dirty="0"/>
          </a:p>
        </p:txBody>
      </p:sp>
    </p:spTree>
    <p:extLst>
      <p:ext uri="{BB962C8B-B14F-4D97-AF65-F5344CB8AC3E}">
        <p14:creationId xmlns:p14="http://schemas.microsoft.com/office/powerpoint/2010/main" val="740167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Simuliidae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The larvae and pupae remain attached to rocks and dead leaves, feeding on small organic particles filtered from the water</a:t>
            </a:r>
            <a:r>
              <a:rPr lang="en-US" dirty="0" smtClean="0"/>
              <a:t>;</a:t>
            </a:r>
          </a:p>
          <a:p>
            <a:pPr lvl="0"/>
            <a:r>
              <a:rPr lang="en-US" dirty="0" smtClean="0"/>
              <a:t> </a:t>
            </a:r>
            <a:r>
              <a:rPr lang="en-US" dirty="0"/>
              <a:t>there are 6-9 larval instars.</a:t>
            </a:r>
          </a:p>
          <a:p>
            <a:pPr lvl="0"/>
            <a:r>
              <a:rPr lang="en-US" dirty="0"/>
              <a:t>Breeding peak is during the rainy season</a:t>
            </a:r>
          </a:p>
          <a:p>
            <a:endParaRPr lang="en-US" dirty="0"/>
          </a:p>
        </p:txBody>
      </p:sp>
    </p:spTree>
    <p:extLst>
      <p:ext uri="{BB962C8B-B14F-4D97-AF65-F5344CB8AC3E}">
        <p14:creationId xmlns:p14="http://schemas.microsoft.com/office/powerpoint/2010/main" val="1514677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Ceratopogonidae</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The </a:t>
            </a:r>
            <a:r>
              <a:rPr lang="en-US" dirty="0"/>
              <a:t>family comprises the biting midges, also called ‘punkies’ ‘no-see-ums’ and sand flies</a:t>
            </a:r>
          </a:p>
          <a:p>
            <a:pPr lvl="0"/>
            <a:r>
              <a:rPr lang="en-US" dirty="0"/>
              <a:t>They are very small, usually less than 1.0mm long, but ferocious insects, able to crawl through window screening.</a:t>
            </a:r>
          </a:p>
          <a:p>
            <a:pPr lvl="0"/>
            <a:r>
              <a:rPr lang="en-US" dirty="0"/>
              <a:t>Most are daytime feeders; unable to cope with blowing winds</a:t>
            </a:r>
          </a:p>
          <a:p>
            <a:endParaRPr lang="en-US" dirty="0"/>
          </a:p>
        </p:txBody>
      </p:sp>
    </p:spTree>
    <p:extLst>
      <p:ext uri="{BB962C8B-B14F-4D97-AF65-F5344CB8AC3E}">
        <p14:creationId xmlns:p14="http://schemas.microsoft.com/office/powerpoint/2010/main" val="448161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Ceratopogonidae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Most of the 60 or more genera feed on insects; members of only four genera feed on mammals, including humans: </a:t>
            </a:r>
            <a:endParaRPr lang="en-US" dirty="0" smtClean="0"/>
          </a:p>
          <a:p>
            <a:pPr lvl="0"/>
            <a:r>
              <a:rPr lang="en-US" i="1" dirty="0" err="1" smtClean="0"/>
              <a:t>Culicoides</a:t>
            </a:r>
            <a:r>
              <a:rPr lang="en-US" i="1" dirty="0"/>
              <a:t>, </a:t>
            </a:r>
            <a:r>
              <a:rPr lang="en-US" i="1" dirty="0" err="1"/>
              <a:t>Forcipomyia</a:t>
            </a:r>
            <a:r>
              <a:rPr lang="en-US" i="1" dirty="0"/>
              <a:t>, </a:t>
            </a:r>
            <a:r>
              <a:rPr lang="en-US" i="1" dirty="0" err="1"/>
              <a:t>Austroconops</a:t>
            </a:r>
            <a:r>
              <a:rPr lang="en-US" dirty="0"/>
              <a:t> and </a:t>
            </a:r>
            <a:r>
              <a:rPr lang="en-US" i="1" dirty="0" err="1"/>
              <a:t>Leptoconops</a:t>
            </a:r>
            <a:endParaRPr lang="en-US" dirty="0"/>
          </a:p>
          <a:p>
            <a:pPr lvl="0"/>
            <a:r>
              <a:rPr lang="en-US" dirty="0"/>
              <a:t>Only females feed on blood, for which the mouth parts are adapted</a:t>
            </a:r>
          </a:p>
          <a:p>
            <a:pPr lvl="0"/>
            <a:r>
              <a:rPr lang="en-US" dirty="0"/>
              <a:t>The adults have narrow wings, with few veins, often distinctly spotted, and are folded over the abdomen when at </a:t>
            </a:r>
            <a:r>
              <a:rPr lang="en-US" dirty="0" smtClean="0"/>
              <a:t>rest.</a:t>
            </a:r>
            <a:endParaRPr lang="en-US" dirty="0"/>
          </a:p>
          <a:p>
            <a:endParaRPr lang="en-US" dirty="0"/>
          </a:p>
        </p:txBody>
      </p:sp>
    </p:spTree>
    <p:extLst>
      <p:ext uri="{BB962C8B-B14F-4D97-AF65-F5344CB8AC3E}">
        <p14:creationId xmlns:p14="http://schemas.microsoft.com/office/powerpoint/2010/main" val="2024621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Ceratopogonidae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a:t>They breed in a wide variety of situations</a:t>
            </a:r>
          </a:p>
          <a:p>
            <a:pPr lvl="0"/>
            <a:r>
              <a:rPr lang="en-US" dirty="0"/>
              <a:t>Larvae are aquatic or subaquatic or develop in moist soil, tree holes, decaying vegetation, and cattle dung</a:t>
            </a:r>
          </a:p>
          <a:p>
            <a:pPr lvl="0"/>
            <a:r>
              <a:rPr lang="en-US" dirty="0"/>
              <a:t>Some species breed readily in salt or brackish water, mostly mangrove swamps and salt marshes</a:t>
            </a:r>
          </a:p>
          <a:p>
            <a:pPr lvl="0"/>
            <a:r>
              <a:rPr lang="en-US" dirty="0"/>
              <a:t>Life cycle is completed between 6 months and 3 years</a:t>
            </a:r>
          </a:p>
          <a:p>
            <a:endParaRPr lang="en-US" dirty="0"/>
          </a:p>
        </p:txBody>
      </p:sp>
    </p:spTree>
    <p:extLst>
      <p:ext uri="{BB962C8B-B14F-4D97-AF65-F5344CB8AC3E}">
        <p14:creationId xmlns:p14="http://schemas.microsoft.com/office/powerpoint/2010/main" val="3848092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Ceratopogonidae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Blood-dwelling protozoan parasites are also transmitted by </a:t>
            </a:r>
            <a:r>
              <a:rPr lang="en-US" i="1" dirty="0" err="1"/>
              <a:t>Culicoides</a:t>
            </a:r>
            <a:r>
              <a:rPr lang="en-US" i="1" dirty="0"/>
              <a:t> </a:t>
            </a:r>
            <a:r>
              <a:rPr lang="en-US" dirty="0" err="1"/>
              <a:t>spp</a:t>
            </a:r>
            <a:r>
              <a:rPr lang="en-US" dirty="0"/>
              <a:t> as are encephalitis viruses, bovine ephemeral fever and African horse sickness.</a:t>
            </a:r>
          </a:p>
          <a:p>
            <a:pPr marL="0" indent="0">
              <a:buNone/>
            </a:pPr>
            <a:endParaRPr lang="en-US" dirty="0"/>
          </a:p>
        </p:txBody>
      </p:sp>
    </p:spTree>
    <p:extLst>
      <p:ext uri="{BB962C8B-B14F-4D97-AF65-F5344CB8AC3E}">
        <p14:creationId xmlns:p14="http://schemas.microsoft.com/office/powerpoint/2010/main" val="3523019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a:t>Tabanidae</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err="1"/>
              <a:t>Tabanid</a:t>
            </a:r>
            <a:r>
              <a:rPr lang="en-US" dirty="0"/>
              <a:t> flies belong to the Sub </a:t>
            </a:r>
            <a:r>
              <a:rPr lang="en-US" dirty="0" smtClean="0"/>
              <a:t>Order </a:t>
            </a:r>
            <a:r>
              <a:rPr lang="en-US" dirty="0" err="1" smtClean="0"/>
              <a:t>Brachycera</a:t>
            </a:r>
            <a:r>
              <a:rPr lang="en-US" dirty="0"/>
              <a:t>, a group of mostly robust flies, with antennae reduced to three apparent segments, the terminal one being drawn into a sharp point, or style; wing venation is reduced</a:t>
            </a:r>
          </a:p>
          <a:p>
            <a:pPr lvl="0"/>
            <a:r>
              <a:rPr lang="en-US" dirty="0"/>
              <a:t>They are commonly known as horseflies and deer flies, and  of world wide </a:t>
            </a:r>
            <a:r>
              <a:rPr lang="en-US" dirty="0" smtClean="0"/>
              <a:t>distribution.</a:t>
            </a:r>
            <a:endParaRPr lang="en-US" dirty="0"/>
          </a:p>
          <a:p>
            <a:endParaRPr lang="en-US" dirty="0"/>
          </a:p>
        </p:txBody>
      </p:sp>
    </p:spTree>
    <p:extLst>
      <p:ext uri="{BB962C8B-B14F-4D97-AF65-F5344CB8AC3E}">
        <p14:creationId xmlns:p14="http://schemas.microsoft.com/office/powerpoint/2010/main" val="1231007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They are large, powerful flies, quest fiercely for blood (only the females feed on </a:t>
            </a:r>
            <a:r>
              <a:rPr lang="en-US" dirty="0" smtClean="0"/>
              <a:t>blood;</a:t>
            </a:r>
          </a:p>
          <a:p>
            <a:pPr lvl="0"/>
            <a:r>
              <a:rPr lang="en-US" dirty="0" smtClean="0"/>
              <a:t>males </a:t>
            </a:r>
            <a:r>
              <a:rPr lang="en-US" dirty="0"/>
              <a:t>live on plant juices-they lack mandibles), and are mainly daytime feeders</a:t>
            </a:r>
          </a:p>
          <a:p>
            <a:pPr lvl="0"/>
            <a:r>
              <a:rPr lang="en-US" dirty="0"/>
              <a:t>There are about 4000 species in 30-80 genera</a:t>
            </a:r>
          </a:p>
          <a:p>
            <a:pPr lvl="0"/>
            <a:r>
              <a:rPr lang="en-US" dirty="0" err="1"/>
              <a:t>Tabanid</a:t>
            </a:r>
            <a:r>
              <a:rPr lang="en-US" dirty="0"/>
              <a:t> flies have similar mouthparts to those of </a:t>
            </a:r>
            <a:r>
              <a:rPr lang="en-US" dirty="0" err="1"/>
              <a:t>Ceratopogonidae</a:t>
            </a:r>
            <a:r>
              <a:rPr lang="en-US" dirty="0"/>
              <a:t> and </a:t>
            </a:r>
            <a:r>
              <a:rPr lang="en-US" dirty="0" err="1"/>
              <a:t>Simulidae</a:t>
            </a:r>
            <a:r>
              <a:rPr lang="en-US" dirty="0"/>
              <a:t> but are stouter and stronger</a:t>
            </a:r>
          </a:p>
          <a:p>
            <a:pPr marL="0" indent="0">
              <a:buNone/>
            </a:pPr>
            <a:endParaRPr lang="en-US" dirty="0"/>
          </a:p>
        </p:txBody>
      </p:sp>
    </p:spTree>
    <p:extLst>
      <p:ext uri="{BB962C8B-B14F-4D97-AF65-F5344CB8AC3E}">
        <p14:creationId xmlns:p14="http://schemas.microsoft.com/office/powerpoint/2010/main" val="1918263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a:t>In biting, the  mandibles cut in a scissors-like motion, whilst maxillae pierce and rend tissues, rupturing blood vessels; </a:t>
            </a:r>
            <a:endParaRPr lang="en-US" dirty="0" smtClean="0"/>
          </a:p>
          <a:p>
            <a:pPr lvl="0"/>
            <a:r>
              <a:rPr lang="en-US" dirty="0" smtClean="0"/>
              <a:t>the </a:t>
            </a:r>
            <a:r>
              <a:rPr lang="en-US" dirty="0"/>
              <a:t>fly feeds on a pool of blood that wells into the wound (</a:t>
            </a:r>
            <a:r>
              <a:rPr lang="en-US" dirty="0" err="1"/>
              <a:t>telmophagy</a:t>
            </a:r>
            <a:r>
              <a:rPr lang="en-US" dirty="0"/>
              <a:t>)</a:t>
            </a:r>
          </a:p>
          <a:p>
            <a:pPr lvl="0"/>
            <a:r>
              <a:rPr lang="en-US" dirty="0" err="1"/>
              <a:t>Tabanids</a:t>
            </a:r>
            <a:r>
              <a:rPr lang="en-US" dirty="0"/>
              <a:t> usually breed in aquatic or near aquatic environments, although some complete larval development in soil</a:t>
            </a:r>
            <a:r>
              <a:rPr lang="en-US" dirty="0" smtClean="0"/>
              <a:t>.</a:t>
            </a:r>
            <a:endParaRPr lang="en-US" dirty="0"/>
          </a:p>
        </p:txBody>
      </p:sp>
    </p:spTree>
    <p:extLst>
      <p:ext uri="{BB962C8B-B14F-4D97-AF65-F5344CB8AC3E}">
        <p14:creationId xmlns:p14="http://schemas.microsoft.com/office/powerpoint/2010/main" val="22439792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Females generally lay between a hundred and a thousand eggs, at the edge of water or on overhanging vegetation or rocks</a:t>
            </a:r>
          </a:p>
          <a:p>
            <a:pPr lvl="0"/>
            <a:r>
              <a:rPr lang="en-US" dirty="0"/>
              <a:t>At egg-laying time, such locations may be swarming with </a:t>
            </a:r>
            <a:r>
              <a:rPr lang="en-US" dirty="0" err="1"/>
              <a:t>ovipositing</a:t>
            </a:r>
            <a:r>
              <a:rPr lang="en-US" dirty="0"/>
              <a:t> flies.</a:t>
            </a:r>
          </a:p>
          <a:p>
            <a:pPr lvl="0"/>
            <a:r>
              <a:rPr lang="en-US" dirty="0"/>
              <a:t>On hatching, larvae fall or crawl into water or burrow into mud</a:t>
            </a:r>
          </a:p>
          <a:p>
            <a:endParaRPr lang="en-US" dirty="0" smtClean="0"/>
          </a:p>
          <a:p>
            <a:endParaRPr lang="en-US" dirty="0"/>
          </a:p>
        </p:txBody>
      </p:sp>
    </p:spTree>
    <p:extLst>
      <p:ext uri="{BB962C8B-B14F-4D97-AF65-F5344CB8AC3E}">
        <p14:creationId xmlns:p14="http://schemas.microsoft.com/office/powerpoint/2010/main" val="2695934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Many feed on organic debris, but others are voracious predators on insect larvae, worms and other soft-bodied animals, including other horse fly larvae and even toads</a:t>
            </a:r>
          </a:p>
          <a:p>
            <a:pPr lvl="0"/>
            <a:r>
              <a:rPr lang="en-US" dirty="0"/>
              <a:t>Several species of horse flies are serious pests of humans and livestock</a:t>
            </a:r>
          </a:p>
          <a:p>
            <a:pPr lvl="0"/>
            <a:r>
              <a:rPr lang="en-US" dirty="0"/>
              <a:t>The name deer fly is applied to the genus </a:t>
            </a:r>
            <a:r>
              <a:rPr lang="en-US" i="1" dirty="0" err="1"/>
              <a:t>Chrysops</a:t>
            </a:r>
            <a:r>
              <a:rPr lang="en-US" dirty="0"/>
              <a:t>; </a:t>
            </a:r>
            <a:endParaRPr lang="en-US" dirty="0" smtClean="0"/>
          </a:p>
          <a:p>
            <a:pPr lvl="0"/>
            <a:r>
              <a:rPr lang="en-US" dirty="0" smtClean="0"/>
              <a:t>they </a:t>
            </a:r>
            <a:r>
              <a:rPr lang="en-US" dirty="0"/>
              <a:t>are smaller that horse flies and have brown-spotted wings</a:t>
            </a:r>
          </a:p>
          <a:p>
            <a:endParaRPr lang="en-US" dirty="0"/>
          </a:p>
        </p:txBody>
      </p:sp>
    </p:spTree>
    <p:extLst>
      <p:ext uri="{BB962C8B-B14F-4D97-AF65-F5344CB8AC3E}">
        <p14:creationId xmlns:p14="http://schemas.microsoft.com/office/powerpoint/2010/main" val="1298697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0"/>
            <a:ext cx="8534400" cy="6705600"/>
          </a:xfrm>
        </p:spPr>
      </p:pic>
    </p:spTree>
    <p:extLst>
      <p:ext uri="{BB962C8B-B14F-4D97-AF65-F5344CB8AC3E}">
        <p14:creationId xmlns:p14="http://schemas.microsoft.com/office/powerpoint/2010/main" val="1246496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Their flight is less noisy hence they bite humans more commonly</a:t>
            </a:r>
          </a:p>
          <a:p>
            <a:pPr lvl="0"/>
            <a:r>
              <a:rPr lang="en-US" dirty="0" err="1"/>
              <a:t>Tabanids</a:t>
            </a:r>
            <a:r>
              <a:rPr lang="en-US" dirty="0"/>
              <a:t> are of medical importance in the following ways:</a:t>
            </a:r>
          </a:p>
          <a:p>
            <a:pPr marL="571500" lvl="0" indent="-571500">
              <a:buFont typeface="+mj-lt"/>
              <a:buAutoNum type="romanUcPeriod"/>
            </a:pPr>
            <a:r>
              <a:rPr lang="en-US" dirty="0"/>
              <a:t>Their annoyance of humans</a:t>
            </a:r>
          </a:p>
          <a:p>
            <a:pPr marL="571500" lvl="0" indent="-571500">
              <a:buFont typeface="+mj-lt"/>
              <a:buAutoNum type="romanUcPeriod"/>
            </a:pPr>
            <a:r>
              <a:rPr lang="en-US" dirty="0"/>
              <a:t>Blood loss caused by their bites, and </a:t>
            </a:r>
          </a:p>
          <a:p>
            <a:pPr marL="571500" lvl="0" indent="-571500">
              <a:buFont typeface="+mj-lt"/>
              <a:buAutoNum type="romanUcPeriod"/>
            </a:pPr>
            <a:r>
              <a:rPr lang="en-US" dirty="0"/>
              <a:t>The infections transmitted mechanically and biologically</a:t>
            </a:r>
          </a:p>
          <a:p>
            <a:pPr marL="571500" indent="-571500">
              <a:buFont typeface="+mj-lt"/>
              <a:buAutoNum type="romanUcPeriod"/>
            </a:pPr>
            <a:endParaRPr lang="en-US" dirty="0"/>
          </a:p>
        </p:txBody>
      </p:sp>
    </p:spTree>
    <p:extLst>
      <p:ext uri="{BB962C8B-B14F-4D97-AF65-F5344CB8AC3E}">
        <p14:creationId xmlns:p14="http://schemas.microsoft.com/office/powerpoint/2010/main" val="3690951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5181600"/>
          </a:xfrm>
        </p:spPr>
        <p:txBody>
          <a:bodyPr>
            <a:normAutofit lnSpcReduction="10000"/>
          </a:bodyPr>
          <a:lstStyle/>
          <a:p>
            <a:pPr lvl="0">
              <a:buFont typeface="Wingdings" pitchFamily="2" charset="2"/>
              <a:buChar char="v"/>
            </a:pPr>
            <a:r>
              <a:rPr lang="en-US" dirty="0"/>
              <a:t>Characteristics that enhance the capability of </a:t>
            </a:r>
            <a:r>
              <a:rPr lang="en-US" dirty="0" err="1"/>
              <a:t>Tabanids</a:t>
            </a:r>
            <a:r>
              <a:rPr lang="en-US" dirty="0"/>
              <a:t> to transmit pathogens include</a:t>
            </a:r>
            <a:r>
              <a:rPr lang="en-US" dirty="0" smtClean="0"/>
              <a:t>:</a:t>
            </a:r>
          </a:p>
          <a:p>
            <a:pPr marL="571500" lvl="0" indent="-571500">
              <a:buFont typeface="+mj-lt"/>
              <a:buAutoNum type="romanUcPeriod"/>
            </a:pPr>
            <a:r>
              <a:rPr lang="en-US" dirty="0" err="1"/>
              <a:t>Anautogeny</a:t>
            </a:r>
            <a:r>
              <a:rPr lang="en-US" dirty="0"/>
              <a:t>- the necessity of blood meal for egg development, which stimulates host-seeking behavior.</a:t>
            </a:r>
          </a:p>
          <a:p>
            <a:pPr marL="571500" lvl="0" indent="-571500">
              <a:buFont typeface="+mj-lt"/>
              <a:buAutoNum type="romanUcPeriod"/>
            </a:pPr>
            <a:r>
              <a:rPr lang="en-US" dirty="0" err="1"/>
              <a:t>Telmophagy</a:t>
            </a:r>
            <a:r>
              <a:rPr lang="en-US" dirty="0"/>
              <a:t>-through which blood-dwelling pathogens can enter the pools of blood from which the flies suck</a:t>
            </a:r>
          </a:p>
          <a:p>
            <a:pPr marL="571500" lvl="0" indent="-571500">
              <a:buFont typeface="+mj-lt"/>
              <a:buAutoNum type="romanUcPeriod"/>
            </a:pPr>
            <a:r>
              <a:rPr lang="en-US" dirty="0"/>
              <a:t>Relatively large blood meals-enhancing the possibility that pathogens will be imbibed</a:t>
            </a:r>
          </a:p>
          <a:p>
            <a:pPr marL="0" lvl="0" indent="0">
              <a:buNone/>
            </a:pPr>
            <a:endParaRPr lang="en-US" dirty="0"/>
          </a:p>
          <a:p>
            <a:endParaRPr lang="en-US" dirty="0"/>
          </a:p>
        </p:txBody>
      </p:sp>
    </p:spTree>
    <p:extLst>
      <p:ext uri="{BB962C8B-B14F-4D97-AF65-F5344CB8AC3E}">
        <p14:creationId xmlns:p14="http://schemas.microsoft.com/office/powerpoint/2010/main" val="396396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lvl="0" indent="0">
              <a:buNone/>
            </a:pPr>
            <a:r>
              <a:rPr lang="en-US" dirty="0" smtClean="0"/>
              <a:t>vi. Long engorgement time-enabling pathogens to infect a fly’s tissues, and </a:t>
            </a:r>
          </a:p>
          <a:p>
            <a:pPr marL="0" lvl="0" indent="0">
              <a:buNone/>
            </a:pPr>
            <a:r>
              <a:rPr lang="en-US" dirty="0" smtClean="0"/>
              <a:t>v. Intermittent feeding behavior-increasing the chances for mechanical transmission of pathogens</a:t>
            </a:r>
          </a:p>
          <a:p>
            <a:endParaRPr lang="en-US" dirty="0"/>
          </a:p>
        </p:txBody>
      </p:sp>
    </p:spTree>
    <p:extLst>
      <p:ext uri="{BB962C8B-B14F-4D97-AF65-F5344CB8AC3E}">
        <p14:creationId xmlns:p14="http://schemas.microsoft.com/office/powerpoint/2010/main" val="164832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5334000"/>
          </a:xfrm>
        </p:spPr>
        <p:txBody>
          <a:bodyPr>
            <a:normAutofit fontScale="92500" lnSpcReduction="20000"/>
          </a:bodyPr>
          <a:lstStyle/>
          <a:p>
            <a:pPr lvl="0">
              <a:buFont typeface="Wingdings" pitchFamily="2" charset="2"/>
              <a:buChar char="v"/>
            </a:pPr>
            <a:r>
              <a:rPr lang="en-US" dirty="0" err="1"/>
              <a:t>Tabanids</a:t>
            </a:r>
            <a:r>
              <a:rPr lang="en-US" dirty="0"/>
              <a:t> transmit protozoan, helminthic, bacterial and viral diseases of animals and humans-</a:t>
            </a:r>
          </a:p>
          <a:p>
            <a:pPr lvl="0">
              <a:buFont typeface="Wingdings" pitchFamily="2" charset="2"/>
              <a:buChar char="Ø"/>
            </a:pPr>
            <a:r>
              <a:rPr lang="en-US" dirty="0"/>
              <a:t>Among protozoan diseases, two species of </a:t>
            </a:r>
            <a:r>
              <a:rPr lang="en-US" i="1" dirty="0" err="1"/>
              <a:t>Trypanosoma</a:t>
            </a:r>
            <a:r>
              <a:rPr lang="en-US" i="1" dirty="0"/>
              <a:t> </a:t>
            </a:r>
            <a:r>
              <a:rPr lang="en-US" dirty="0"/>
              <a:t>are transmitted mechanically by </a:t>
            </a:r>
            <a:r>
              <a:rPr lang="en-US" dirty="0" err="1"/>
              <a:t>Tabanids</a:t>
            </a:r>
            <a:r>
              <a:rPr lang="en-US" dirty="0"/>
              <a:t>; </a:t>
            </a:r>
            <a:endParaRPr lang="en-US" dirty="0" smtClean="0"/>
          </a:p>
          <a:p>
            <a:pPr lvl="0">
              <a:buFont typeface="Wingdings" pitchFamily="2" charset="2"/>
              <a:buChar char="Ø"/>
            </a:pPr>
            <a:r>
              <a:rPr lang="en-US" dirty="0" smtClean="0"/>
              <a:t>these </a:t>
            </a:r>
            <a:r>
              <a:rPr lang="en-US" dirty="0"/>
              <a:t>are: </a:t>
            </a:r>
            <a:r>
              <a:rPr lang="en-US" i="1" dirty="0"/>
              <a:t>T. </a:t>
            </a:r>
            <a:r>
              <a:rPr lang="en-US" i="1" dirty="0" err="1"/>
              <a:t>evansi</a:t>
            </a:r>
            <a:r>
              <a:rPr lang="en-US" dirty="0"/>
              <a:t> which causes ‘</a:t>
            </a:r>
            <a:r>
              <a:rPr lang="en-US" dirty="0" err="1"/>
              <a:t>surra</a:t>
            </a:r>
            <a:r>
              <a:rPr lang="en-US" dirty="0"/>
              <a:t>’ in many wild and domestic animals and is spread by species of </a:t>
            </a:r>
            <a:r>
              <a:rPr lang="en-US" i="1" dirty="0" err="1"/>
              <a:t>Tabanus</a:t>
            </a:r>
            <a:r>
              <a:rPr lang="en-US" dirty="0"/>
              <a:t> although other vectors may be stable flies, other genera of horse flies and vampire bats</a:t>
            </a:r>
            <a:r>
              <a:rPr lang="en-US" dirty="0" smtClean="0"/>
              <a:t>;</a:t>
            </a:r>
          </a:p>
          <a:p>
            <a:pPr lvl="0">
              <a:buFont typeface="Wingdings" pitchFamily="2" charset="2"/>
              <a:buChar char="Ø"/>
            </a:pPr>
            <a:r>
              <a:rPr lang="en-US" dirty="0" smtClean="0"/>
              <a:t> </a:t>
            </a:r>
            <a:r>
              <a:rPr lang="en-US" dirty="0"/>
              <a:t>and </a:t>
            </a:r>
            <a:r>
              <a:rPr lang="en-US" i="1" dirty="0"/>
              <a:t>T. </a:t>
            </a:r>
            <a:r>
              <a:rPr lang="en-US" i="1" dirty="0" err="1"/>
              <a:t>theileri</a:t>
            </a:r>
            <a:r>
              <a:rPr lang="en-US" dirty="0"/>
              <a:t>, a cosmopolitan parasite of cattle and antelopes</a:t>
            </a:r>
          </a:p>
          <a:p>
            <a:endParaRPr lang="en-US" dirty="0"/>
          </a:p>
        </p:txBody>
      </p:sp>
    </p:spTree>
    <p:extLst>
      <p:ext uri="{BB962C8B-B14F-4D97-AF65-F5344CB8AC3E}">
        <p14:creationId xmlns:p14="http://schemas.microsoft.com/office/powerpoint/2010/main" val="18599188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Tabanidae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err="1"/>
              <a:t>Cyclopropagative</a:t>
            </a:r>
            <a:r>
              <a:rPr lang="en-US" dirty="0"/>
              <a:t> development takes place in the gut of the insect, thus making the species involved actual intermediate hosts</a:t>
            </a:r>
          </a:p>
          <a:p>
            <a:pPr lvl="0"/>
            <a:r>
              <a:rPr lang="en-US" dirty="0"/>
              <a:t>The eye worm, </a:t>
            </a:r>
            <a:r>
              <a:rPr lang="en-US" i="1" dirty="0"/>
              <a:t>Loa </a:t>
            </a:r>
            <a:r>
              <a:rPr lang="en-US" i="1" dirty="0" err="1"/>
              <a:t>loa</a:t>
            </a:r>
            <a:r>
              <a:rPr lang="en-US" dirty="0"/>
              <a:t> is also transmitted by species of </a:t>
            </a:r>
            <a:r>
              <a:rPr lang="en-US" i="1" dirty="0" err="1"/>
              <a:t>Chrysops</a:t>
            </a:r>
            <a:r>
              <a:rPr lang="en-US" i="1" dirty="0"/>
              <a:t>.</a:t>
            </a:r>
            <a:endParaRPr lang="en-US" dirty="0"/>
          </a:p>
          <a:p>
            <a:pPr marL="0" indent="0">
              <a:buNone/>
            </a:pPr>
            <a:endParaRPr lang="en-US" dirty="0"/>
          </a:p>
        </p:txBody>
      </p:sp>
    </p:spTree>
    <p:extLst>
      <p:ext uri="{BB962C8B-B14F-4D97-AF65-F5344CB8AC3E}">
        <p14:creationId xmlns:p14="http://schemas.microsoft.com/office/powerpoint/2010/main" val="3067048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buFont typeface="Wingdings" pitchFamily="2" charset="2"/>
              <a:buChar char="v"/>
            </a:pPr>
            <a:r>
              <a:rPr lang="en-US" dirty="0" smtClean="0"/>
              <a:t>This </a:t>
            </a:r>
            <a:r>
              <a:rPr lang="en-US" dirty="0"/>
              <a:t>family contains a single genus, </a:t>
            </a:r>
            <a:r>
              <a:rPr lang="en-US" b="1" i="1" dirty="0" err="1"/>
              <a:t>Glossina</a:t>
            </a:r>
            <a:r>
              <a:rPr lang="en-US" dirty="0"/>
              <a:t>, and occurs only in Africa and two localities on the </a:t>
            </a:r>
            <a:r>
              <a:rPr lang="en-US" dirty="0" err="1"/>
              <a:t>Aratian</a:t>
            </a:r>
            <a:r>
              <a:rPr lang="en-US" dirty="0"/>
              <a:t> </a:t>
            </a:r>
            <a:r>
              <a:rPr lang="en-US" dirty="0" smtClean="0"/>
              <a:t>peninsula</a:t>
            </a:r>
            <a:r>
              <a:rPr lang="en-US" b="1" i="1" dirty="0"/>
              <a:t> </a:t>
            </a:r>
            <a:endParaRPr lang="en-US" dirty="0"/>
          </a:p>
          <a:p>
            <a:pPr marL="0" indent="0" algn="ctr">
              <a:buNone/>
            </a:pPr>
            <a:r>
              <a:rPr lang="en-US" b="1" i="1" dirty="0" err="1"/>
              <a:t>Glossina</a:t>
            </a:r>
            <a:r>
              <a:rPr lang="en-US" b="1" i="1" dirty="0"/>
              <a:t> s</a:t>
            </a:r>
            <a:r>
              <a:rPr lang="en-US" b="1" dirty="0"/>
              <a:t>pecies (Tsetse flies)</a:t>
            </a:r>
            <a:endParaRPr lang="en-US" dirty="0"/>
          </a:p>
          <a:p>
            <a:pPr lvl="0"/>
            <a:r>
              <a:rPr lang="en-US" dirty="0"/>
              <a:t>They are about 7.5mm – 14.0mm long and brownish gray; at rest, their wings cross over each other like a pair of scissors</a:t>
            </a:r>
          </a:p>
          <a:p>
            <a:pPr lvl="0"/>
            <a:r>
              <a:rPr lang="en-US" dirty="0"/>
              <a:t>The base of the proboscis is swollen into a characteristic bulb</a:t>
            </a:r>
          </a:p>
          <a:p>
            <a:pPr lvl="0"/>
            <a:r>
              <a:rPr lang="en-US" dirty="0"/>
              <a:t>The flies are daytime feeders and are visually attracted to moving objects</a:t>
            </a:r>
          </a:p>
          <a:p>
            <a:endParaRPr lang="en-US" dirty="0"/>
          </a:p>
        </p:txBody>
      </p:sp>
    </p:spTree>
    <p:extLst>
      <p:ext uri="{BB962C8B-B14F-4D97-AF65-F5344CB8AC3E}">
        <p14:creationId xmlns:p14="http://schemas.microsoft.com/office/powerpoint/2010/main" val="929917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Both sexes feed exclusively on blood of a wide variety of animals, including humans but are particularly attracted to pigs</a:t>
            </a:r>
          </a:p>
          <a:p>
            <a:pPr lvl="0"/>
            <a:r>
              <a:rPr lang="en-US" dirty="0"/>
              <a:t>The mouthparts and thus, feeding habits are much like those of stable flies</a:t>
            </a:r>
          </a:p>
          <a:p>
            <a:pPr lvl="0"/>
            <a:r>
              <a:rPr lang="en-US" dirty="0"/>
              <a:t>The flies are </a:t>
            </a:r>
            <a:r>
              <a:rPr lang="en-US" dirty="0" err="1"/>
              <a:t>larviparous</a:t>
            </a:r>
            <a:r>
              <a:rPr lang="en-US" dirty="0"/>
              <a:t> and </a:t>
            </a:r>
            <a:r>
              <a:rPr lang="en-US" dirty="0" err="1"/>
              <a:t>pupiparous</a:t>
            </a:r>
            <a:r>
              <a:rPr lang="en-US" dirty="0"/>
              <a:t>, giving birth to a single, completely developed larva at intervals, producing from 8-20 in all.</a:t>
            </a:r>
          </a:p>
          <a:p>
            <a:pPr marL="0" indent="0">
              <a:buNone/>
            </a:pPr>
            <a:endParaRPr lang="en-US" dirty="0"/>
          </a:p>
        </p:txBody>
      </p:sp>
    </p:spTree>
    <p:extLst>
      <p:ext uri="{BB962C8B-B14F-4D97-AF65-F5344CB8AC3E}">
        <p14:creationId xmlns:p14="http://schemas.microsoft.com/office/powerpoint/2010/main" val="3100591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a:t>While in the oviduct, larva feeds on secretions from specialized milk glands</a:t>
            </a:r>
            <a:r>
              <a:rPr lang="en-US" dirty="0" smtClean="0"/>
              <a:t>;</a:t>
            </a:r>
          </a:p>
          <a:p>
            <a:pPr lvl="0"/>
            <a:r>
              <a:rPr lang="en-US" dirty="0" smtClean="0"/>
              <a:t> </a:t>
            </a:r>
            <a:r>
              <a:rPr lang="en-US" dirty="0"/>
              <a:t>larvae are deposited on loose, dry soil, usually, under the shelter of some type</a:t>
            </a:r>
          </a:p>
          <a:p>
            <a:pPr lvl="0"/>
            <a:r>
              <a:rPr lang="en-US" dirty="0"/>
              <a:t>Being without </a:t>
            </a:r>
            <a:r>
              <a:rPr lang="en-US" dirty="0" err="1"/>
              <a:t>locomotor</a:t>
            </a:r>
            <a:r>
              <a:rPr lang="en-US" dirty="0"/>
              <a:t> structures, the larvae, by contraction and </a:t>
            </a:r>
            <a:r>
              <a:rPr lang="en-US" dirty="0" err="1"/>
              <a:t>extention</a:t>
            </a:r>
            <a:r>
              <a:rPr lang="en-US" dirty="0"/>
              <a:t>, burrow into a few centimeters of loose soil</a:t>
            </a:r>
          </a:p>
          <a:p>
            <a:endParaRPr lang="en-US" dirty="0"/>
          </a:p>
        </p:txBody>
      </p:sp>
    </p:spTree>
    <p:extLst>
      <p:ext uri="{BB962C8B-B14F-4D97-AF65-F5344CB8AC3E}">
        <p14:creationId xmlns:p14="http://schemas.microsoft.com/office/powerpoint/2010/main" val="18637368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The integument hardens to form a </a:t>
            </a:r>
            <a:r>
              <a:rPr lang="en-US" dirty="0" err="1" smtClean="0"/>
              <a:t>puparium</a:t>
            </a:r>
            <a:r>
              <a:rPr lang="en-US" dirty="0" smtClean="0"/>
              <a:t> within an hour of </a:t>
            </a:r>
            <a:r>
              <a:rPr lang="en-US" dirty="0" err="1" smtClean="0"/>
              <a:t>larviposition</a:t>
            </a:r>
            <a:r>
              <a:rPr lang="en-US" dirty="0" smtClean="0"/>
              <a:t>, and darkens to brownish black; pupae are barrel-shaped and have two prominent posterior lobes</a:t>
            </a:r>
          </a:p>
          <a:p>
            <a:pPr lvl="0"/>
            <a:r>
              <a:rPr lang="en-US" dirty="0"/>
              <a:t>Adults emerge within 2-4 weeks</a:t>
            </a:r>
          </a:p>
          <a:p>
            <a:pPr lvl="0"/>
            <a:r>
              <a:rPr lang="en-US" dirty="0"/>
              <a:t>Tsetse flies have chemoreceptors on their tarsi, among them </a:t>
            </a:r>
            <a:r>
              <a:rPr lang="en-US" dirty="0" err="1"/>
              <a:t>sensillae</a:t>
            </a:r>
            <a:r>
              <a:rPr lang="en-US" dirty="0"/>
              <a:t> that stimulate feeding when exposed to uric acid, </a:t>
            </a:r>
            <a:r>
              <a:rPr lang="en-US" dirty="0" err="1"/>
              <a:t>leucine</a:t>
            </a:r>
            <a:r>
              <a:rPr lang="en-US" dirty="0"/>
              <a:t>, </a:t>
            </a:r>
            <a:r>
              <a:rPr lang="en-US" dirty="0" err="1"/>
              <a:t>valine</a:t>
            </a:r>
            <a:r>
              <a:rPr lang="en-US" dirty="0"/>
              <a:t> and lactic acid (stimulatory ingredients in human </a:t>
            </a:r>
            <a:r>
              <a:rPr lang="en-US" dirty="0" err="1"/>
              <a:t>swea</a:t>
            </a:r>
            <a:r>
              <a:rPr lang="en-US" dirty="0"/>
              <a:t>)t</a:t>
            </a:r>
          </a:p>
          <a:p>
            <a:pPr marL="0" indent="0">
              <a:buNone/>
            </a:pPr>
            <a:endParaRPr lang="en-US" dirty="0"/>
          </a:p>
        </p:txBody>
      </p:sp>
    </p:spTree>
    <p:extLst>
      <p:ext uri="{BB962C8B-B14F-4D97-AF65-F5344CB8AC3E}">
        <p14:creationId xmlns:p14="http://schemas.microsoft.com/office/powerpoint/2010/main" val="2485571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Female </a:t>
            </a:r>
            <a:r>
              <a:rPr lang="en-US" i="1" dirty="0"/>
              <a:t>G. </a:t>
            </a:r>
            <a:r>
              <a:rPr lang="en-US" i="1" dirty="0" err="1"/>
              <a:t>morsitans</a:t>
            </a:r>
            <a:r>
              <a:rPr lang="en-US" dirty="0"/>
              <a:t> also respond to chemicals released by larvae before pupation by depositing larvae in moist sand where there are already larvae-the result being aggregation in shady, relatively moist areas, especially during dry seasons</a:t>
            </a:r>
          </a:p>
          <a:p>
            <a:endParaRPr lang="en-US" dirty="0"/>
          </a:p>
        </p:txBody>
      </p:sp>
    </p:spTree>
    <p:extLst>
      <p:ext uri="{BB962C8B-B14F-4D97-AF65-F5344CB8AC3E}">
        <p14:creationId xmlns:p14="http://schemas.microsoft.com/office/powerpoint/2010/main" val="26629691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Twenty-three species of </a:t>
            </a:r>
            <a:r>
              <a:rPr lang="en-US" i="1" dirty="0" err="1"/>
              <a:t>Glossina</a:t>
            </a:r>
            <a:r>
              <a:rPr lang="en-US" dirty="0"/>
              <a:t> are recognized, all but three of which are capable of </a:t>
            </a:r>
            <a:r>
              <a:rPr lang="en-US" dirty="0" err="1"/>
              <a:t>transmiting</a:t>
            </a:r>
            <a:r>
              <a:rPr lang="en-US" dirty="0"/>
              <a:t> trypanosomes of mammals</a:t>
            </a:r>
            <a:r>
              <a:rPr lang="en-US" dirty="0" smtClean="0"/>
              <a:t>;</a:t>
            </a:r>
          </a:p>
          <a:p>
            <a:pPr lvl="0"/>
            <a:r>
              <a:rPr lang="en-US" dirty="0" smtClean="0"/>
              <a:t> </a:t>
            </a:r>
            <a:r>
              <a:rPr lang="en-US" dirty="0"/>
              <a:t>six of these are of medical importance: </a:t>
            </a:r>
            <a:r>
              <a:rPr lang="en-US" i="1" dirty="0"/>
              <a:t>G.</a:t>
            </a:r>
            <a:r>
              <a:rPr lang="en-US" dirty="0"/>
              <a:t> </a:t>
            </a:r>
            <a:r>
              <a:rPr lang="en-US" i="1" dirty="0" err="1"/>
              <a:t>palpalis</a:t>
            </a:r>
            <a:r>
              <a:rPr lang="en-US" i="1" dirty="0"/>
              <a:t>, G. </a:t>
            </a:r>
            <a:r>
              <a:rPr lang="en-US" i="1" dirty="0" err="1"/>
              <a:t>fuscipes</a:t>
            </a:r>
            <a:r>
              <a:rPr lang="en-US" dirty="0"/>
              <a:t> and </a:t>
            </a:r>
            <a:r>
              <a:rPr lang="en-US" i="1" dirty="0"/>
              <a:t>G. </a:t>
            </a:r>
            <a:r>
              <a:rPr lang="en-US" i="1" dirty="0" err="1"/>
              <a:t>tachnoides</a:t>
            </a:r>
            <a:r>
              <a:rPr lang="en-US" dirty="0"/>
              <a:t> are found along rivers as primary vectors of Gambian sleeping sickness</a:t>
            </a:r>
            <a:r>
              <a:rPr lang="en-US" i="1" dirty="0"/>
              <a:t>; </a:t>
            </a:r>
            <a:endParaRPr lang="en-US" i="1" dirty="0" smtClean="0"/>
          </a:p>
          <a:p>
            <a:pPr lvl="0"/>
            <a:r>
              <a:rPr lang="en-US" i="1" dirty="0" smtClean="0"/>
              <a:t>G</a:t>
            </a:r>
            <a:r>
              <a:rPr lang="en-US" i="1" dirty="0"/>
              <a:t>. </a:t>
            </a:r>
            <a:r>
              <a:rPr lang="en-US" i="1" dirty="0" err="1"/>
              <a:t>morsitans</a:t>
            </a:r>
            <a:r>
              <a:rPr lang="en-US" i="1" dirty="0"/>
              <a:t>, G. </a:t>
            </a:r>
            <a:r>
              <a:rPr lang="en-US" i="1" dirty="0" err="1"/>
              <a:t>swynnertoni</a:t>
            </a:r>
            <a:r>
              <a:rPr lang="en-US" dirty="0"/>
              <a:t> and </a:t>
            </a:r>
            <a:r>
              <a:rPr lang="en-US" i="1" dirty="0"/>
              <a:t>G. </a:t>
            </a:r>
            <a:r>
              <a:rPr lang="en-US" i="1" dirty="0" err="1"/>
              <a:t>pallidipes</a:t>
            </a:r>
            <a:r>
              <a:rPr lang="en-US" dirty="0"/>
              <a:t> are savanna species and principal vectors of Rhodesian sleeping sickness</a:t>
            </a:r>
          </a:p>
          <a:p>
            <a:endParaRPr lang="en-US" dirty="0"/>
          </a:p>
        </p:txBody>
      </p:sp>
    </p:spTree>
    <p:extLst>
      <p:ext uri="{BB962C8B-B14F-4D97-AF65-F5344CB8AC3E}">
        <p14:creationId xmlns:p14="http://schemas.microsoft.com/office/powerpoint/2010/main" val="31547621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It is probable that all of these, as well as other several species, are able to transmit ‘</a:t>
            </a:r>
            <a:r>
              <a:rPr lang="en-US" dirty="0" err="1"/>
              <a:t>nagana</a:t>
            </a:r>
            <a:r>
              <a:rPr lang="en-US" dirty="0"/>
              <a:t>’ to cattle</a:t>
            </a:r>
          </a:p>
          <a:p>
            <a:pPr lvl="0"/>
            <a:r>
              <a:rPr lang="en-US" dirty="0"/>
              <a:t>The flies, generally, are more numerous during the rainy season.</a:t>
            </a:r>
          </a:p>
          <a:p>
            <a:pPr lvl="0"/>
            <a:r>
              <a:rPr lang="en-US" dirty="0"/>
              <a:t>The life-span is 2-3 months.</a:t>
            </a:r>
          </a:p>
          <a:p>
            <a:pPr marL="0" indent="0">
              <a:buNone/>
            </a:pPr>
            <a:endParaRPr lang="en-US" dirty="0"/>
          </a:p>
        </p:txBody>
      </p:sp>
    </p:spTree>
    <p:extLst>
      <p:ext uri="{BB962C8B-B14F-4D97-AF65-F5344CB8AC3E}">
        <p14:creationId xmlns:p14="http://schemas.microsoft.com/office/powerpoint/2010/main" val="20459231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Muscidae</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smtClean="0"/>
              <a:t>Members </a:t>
            </a:r>
            <a:r>
              <a:rPr lang="en-US" dirty="0"/>
              <a:t>are </a:t>
            </a:r>
            <a:r>
              <a:rPr lang="en-US" dirty="0" err="1"/>
              <a:t>synanthropic</a:t>
            </a:r>
            <a:r>
              <a:rPr lang="en-US" dirty="0"/>
              <a:t> (i.e. they live closely with humans and share homes, food and drinks with humans, where possible)</a:t>
            </a:r>
          </a:p>
          <a:p>
            <a:pPr lvl="0"/>
            <a:r>
              <a:rPr lang="en-US" dirty="0"/>
              <a:t>They are medium-sized, usually dull-</a:t>
            </a:r>
            <a:r>
              <a:rPr lang="en-US" dirty="0" err="1"/>
              <a:t>coloured</a:t>
            </a:r>
            <a:r>
              <a:rPr lang="en-US" dirty="0"/>
              <a:t>.</a:t>
            </a:r>
          </a:p>
          <a:p>
            <a:pPr lvl="0"/>
            <a:r>
              <a:rPr lang="en-US" dirty="0"/>
              <a:t> </a:t>
            </a:r>
            <a:r>
              <a:rPr lang="en-US" b="1" i="1" dirty="0" err="1" smtClean="0"/>
              <a:t>Musca</a:t>
            </a:r>
            <a:r>
              <a:rPr lang="en-US" b="1" i="1" dirty="0" smtClean="0"/>
              <a:t> </a:t>
            </a:r>
            <a:r>
              <a:rPr lang="en-US" b="1" i="1" dirty="0" err="1" smtClean="0"/>
              <a:t>domestica</a:t>
            </a:r>
            <a:r>
              <a:rPr lang="en-US" dirty="0" smtClean="0"/>
              <a:t> is a typical member of the family and commonly known as the House fly</a:t>
            </a:r>
          </a:p>
          <a:p>
            <a:pPr lvl="0"/>
            <a:r>
              <a:rPr lang="en-US" dirty="0" smtClean="0"/>
              <a:t>It is cosmopolitan in distribution</a:t>
            </a:r>
          </a:p>
        </p:txBody>
      </p:sp>
    </p:spTree>
    <p:extLst>
      <p:ext uri="{BB962C8B-B14F-4D97-AF65-F5344CB8AC3E}">
        <p14:creationId xmlns:p14="http://schemas.microsoft.com/office/powerpoint/2010/main" val="15105302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They breed in all kinds of organic wastes, except decaying flesh; </a:t>
            </a:r>
          </a:p>
          <a:p>
            <a:pPr lvl="0"/>
            <a:r>
              <a:rPr lang="en-US" dirty="0" err="1" smtClean="0"/>
              <a:t>faeces</a:t>
            </a:r>
            <a:r>
              <a:rPr lang="en-US" dirty="0" smtClean="0"/>
              <a:t> of any kind are preferred, although decaying milk around dairy barns, slops, around hog troughs, silages, rotten fruit and vegetables, are also attractive to them</a:t>
            </a:r>
          </a:p>
          <a:p>
            <a:pPr lvl="0"/>
            <a:endParaRPr lang="en-US" dirty="0" smtClean="0"/>
          </a:p>
          <a:p>
            <a:endParaRPr lang="en-US" dirty="0"/>
          </a:p>
        </p:txBody>
      </p:sp>
    </p:spTree>
    <p:extLst>
      <p:ext uri="{BB962C8B-B14F-4D97-AF65-F5344CB8AC3E}">
        <p14:creationId xmlns:p14="http://schemas.microsoft.com/office/powerpoint/2010/main" val="3536673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Garbage cans are a </a:t>
            </a:r>
            <a:r>
              <a:rPr lang="en-US" dirty="0" err="1"/>
              <a:t>favourable</a:t>
            </a:r>
            <a:r>
              <a:rPr lang="en-US" dirty="0"/>
              <a:t> breeding place, and rotting garbage in the tropics can become transformed into an apparently equal mass of maggots, overnight</a:t>
            </a:r>
          </a:p>
          <a:p>
            <a:pPr lvl="0"/>
            <a:r>
              <a:rPr lang="en-US" dirty="0"/>
              <a:t>Under </a:t>
            </a:r>
            <a:r>
              <a:rPr lang="en-US" dirty="0" err="1"/>
              <a:t>favourable</a:t>
            </a:r>
            <a:r>
              <a:rPr lang="en-US" dirty="0"/>
              <a:t> conditions, eggs develop into adults in 10 days</a:t>
            </a:r>
          </a:p>
          <a:p>
            <a:pPr lvl="0"/>
            <a:r>
              <a:rPr lang="en-US" dirty="0"/>
              <a:t>A female deposits 120-150 eggs in each of at least 6 lots in its </a:t>
            </a:r>
            <a:r>
              <a:rPr lang="en-US" dirty="0" smtClean="0"/>
              <a:t>life-time</a:t>
            </a:r>
          </a:p>
          <a:p>
            <a:r>
              <a:rPr lang="en-US" dirty="0" smtClean="0"/>
              <a:t>House flies are efficient disease carriers for three main reasons</a:t>
            </a:r>
          </a:p>
          <a:p>
            <a:pPr marL="0" lvl="0" indent="0">
              <a:buNone/>
            </a:pPr>
            <a:endParaRPr lang="en-US" dirty="0"/>
          </a:p>
          <a:p>
            <a:endParaRPr lang="en-US" dirty="0"/>
          </a:p>
        </p:txBody>
      </p:sp>
    </p:spTree>
    <p:extLst>
      <p:ext uri="{BB962C8B-B14F-4D97-AF65-F5344CB8AC3E}">
        <p14:creationId xmlns:p14="http://schemas.microsoft.com/office/powerpoint/2010/main" val="28611199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Their </a:t>
            </a:r>
            <a:r>
              <a:rPr lang="en-US" dirty="0"/>
              <a:t>structure </a:t>
            </a:r>
            <a:r>
              <a:rPr lang="en-US" dirty="0" err="1"/>
              <a:t>favours</a:t>
            </a:r>
            <a:r>
              <a:rPr lang="en-US" dirty="0"/>
              <a:t> carrying bacteria-the multitude of tiny hairs covering most of the body readily collects bacteria, spores, cysts and helminth eggs, and their mouthparts and feet also have sticky pads that collect such material.</a:t>
            </a:r>
          </a:p>
          <a:p>
            <a:pPr marL="571500" lvl="0" indent="-571500">
              <a:buFont typeface="+mj-lt"/>
              <a:buAutoNum type="romanLcPeriod"/>
            </a:pPr>
            <a:r>
              <a:rPr lang="en-US" dirty="0"/>
              <a:t>They relish human food and excrement alike; while feeding they also defecate and vomit the remains of their last meal. </a:t>
            </a:r>
            <a:endParaRPr lang="en-US" dirty="0" smtClean="0"/>
          </a:p>
          <a:p>
            <a:pPr marL="571500" lvl="0" indent="-571500">
              <a:buFont typeface="+mj-lt"/>
              <a:buAutoNum type="romanLcPeriod"/>
            </a:pPr>
            <a:r>
              <a:rPr lang="en-US" dirty="0" smtClean="0"/>
              <a:t>Helminth </a:t>
            </a:r>
            <a:r>
              <a:rPr lang="en-US" dirty="0"/>
              <a:t>eggs, protozoan cysts and bacteria survive the intestinal tract of </a:t>
            </a:r>
            <a:r>
              <a:rPr lang="en-US" dirty="0" smtClean="0"/>
              <a:t>flies</a:t>
            </a:r>
            <a:endParaRPr lang="en-US" dirty="0"/>
          </a:p>
        </p:txBody>
      </p:sp>
    </p:spTree>
    <p:extLst>
      <p:ext uri="{BB962C8B-B14F-4D97-AF65-F5344CB8AC3E}">
        <p14:creationId xmlns:p14="http://schemas.microsoft.com/office/powerpoint/2010/main" val="234208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dirty="0" smtClean="0"/>
              <a:t>iii.  Due to their </a:t>
            </a:r>
            <a:r>
              <a:rPr lang="en-US" dirty="0" err="1" smtClean="0"/>
              <a:t>synanthropic</a:t>
            </a:r>
            <a:r>
              <a:rPr lang="en-US" dirty="0" smtClean="0"/>
              <a:t> and powerful flight, house flies move about freely, hence are ideal vehicles for mechanical transmission of disease pathogens </a:t>
            </a:r>
          </a:p>
          <a:p>
            <a:pPr marL="571500" indent="-571500">
              <a:buFont typeface="+mj-lt"/>
              <a:buAutoNum type="romanLcPeriod"/>
            </a:pPr>
            <a:endParaRPr lang="en-US" dirty="0"/>
          </a:p>
        </p:txBody>
      </p:sp>
    </p:spTree>
    <p:extLst>
      <p:ext uri="{BB962C8B-B14F-4D97-AF65-F5344CB8AC3E}">
        <p14:creationId xmlns:p14="http://schemas.microsoft.com/office/powerpoint/2010/main" val="35491684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Glossinidae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buFont typeface="Wingdings" pitchFamily="2" charset="2"/>
              <a:buChar char="v"/>
            </a:pPr>
            <a:r>
              <a:rPr lang="en-US" dirty="0"/>
              <a:t>Diseases, or their agents, transmitted by houseflies are too numerous to be listed but they include:</a:t>
            </a:r>
          </a:p>
          <a:p>
            <a:pPr lvl="0">
              <a:buFont typeface="Wingdings" pitchFamily="2" charset="2"/>
              <a:buChar char="Ø"/>
            </a:pPr>
            <a:r>
              <a:rPr lang="en-US" dirty="0"/>
              <a:t>Most enteric diseases from faecal contamination, such as typhoid fever, cholera, polio, hepatitis, </a:t>
            </a:r>
            <a:r>
              <a:rPr lang="en-US" dirty="0" smtClean="0"/>
              <a:t>shigellosis, </a:t>
            </a:r>
            <a:r>
              <a:rPr lang="en-US" dirty="0"/>
              <a:t>salmonellosis and other dysenteries</a:t>
            </a:r>
          </a:p>
          <a:p>
            <a:pPr lvl="0">
              <a:buFont typeface="Wingdings" pitchFamily="2" charset="2"/>
              <a:buChar char="Ø"/>
            </a:pPr>
            <a:r>
              <a:rPr lang="en-US" dirty="0"/>
              <a:t>Yaws, leprosy, anthrax, trachoma, tuberculosis</a:t>
            </a:r>
          </a:p>
          <a:p>
            <a:pPr lvl="0">
              <a:buFont typeface="Wingdings" pitchFamily="2" charset="2"/>
              <a:buChar char="Ø"/>
            </a:pPr>
            <a:r>
              <a:rPr lang="en-US" dirty="0"/>
              <a:t>Worm infections such as </a:t>
            </a:r>
            <a:r>
              <a:rPr lang="en-US" dirty="0" err="1"/>
              <a:t>Ascaris</a:t>
            </a:r>
            <a:r>
              <a:rPr lang="en-US" dirty="0"/>
              <a:t> </a:t>
            </a:r>
            <a:r>
              <a:rPr lang="en-US" dirty="0" err="1"/>
              <a:t>sp</a:t>
            </a:r>
            <a:endParaRPr lang="en-US" dirty="0"/>
          </a:p>
          <a:p>
            <a:pPr lvl="0">
              <a:buFont typeface="Wingdings" pitchFamily="2" charset="2"/>
              <a:buChar char="v"/>
            </a:pPr>
            <a:r>
              <a:rPr lang="en-US" dirty="0" smtClean="0"/>
              <a:t>Several </a:t>
            </a:r>
            <a:r>
              <a:rPr lang="en-US" dirty="0"/>
              <a:t>diseases of domestic animals are also transmitted</a:t>
            </a:r>
          </a:p>
          <a:p>
            <a:endParaRPr lang="en-US" dirty="0"/>
          </a:p>
        </p:txBody>
      </p:sp>
    </p:spTree>
    <p:extLst>
      <p:ext uri="{BB962C8B-B14F-4D97-AF65-F5344CB8AC3E}">
        <p14:creationId xmlns:p14="http://schemas.microsoft.com/office/powerpoint/2010/main" val="25476842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Stomoxys</a:t>
            </a:r>
            <a:r>
              <a:rPr lang="en-US" b="1" i="1" dirty="0" smtClean="0"/>
              <a:t> </a:t>
            </a:r>
            <a:r>
              <a:rPr lang="en-US" b="1" i="1" dirty="0" err="1" smtClean="0"/>
              <a:t>calcitrans</a:t>
            </a:r>
            <a:r>
              <a:rPr lang="en-US" dirty="0" smtClean="0"/>
              <a:t> (the Stable fly)</a:t>
            </a:r>
            <a:br>
              <a:rPr lang="en-US" dirty="0" smtClean="0"/>
            </a:br>
            <a:endParaRPr lang="en-US" dirty="0"/>
          </a:p>
        </p:txBody>
      </p:sp>
      <p:sp>
        <p:nvSpPr>
          <p:cNvPr id="3" name="Content Placeholder 2"/>
          <p:cNvSpPr>
            <a:spLocks noGrp="1"/>
          </p:cNvSpPr>
          <p:nvPr>
            <p:ph idx="1"/>
          </p:nvPr>
        </p:nvSpPr>
        <p:spPr/>
        <p:txBody>
          <a:bodyPr>
            <a:normAutofit fontScale="92500"/>
          </a:bodyPr>
          <a:lstStyle/>
          <a:p>
            <a:pPr lvl="0"/>
            <a:r>
              <a:rPr lang="en-US" dirty="0" smtClean="0"/>
              <a:t>This </a:t>
            </a:r>
            <a:r>
              <a:rPr lang="en-US" dirty="0"/>
              <a:t>species is the only member of the genus </a:t>
            </a:r>
            <a:r>
              <a:rPr lang="en-US" b="1" i="1" dirty="0" err="1"/>
              <a:t>Stomoxys</a:t>
            </a:r>
            <a:r>
              <a:rPr lang="en-US" dirty="0"/>
              <a:t>; it is cosmopolitan</a:t>
            </a:r>
          </a:p>
          <a:p>
            <a:pPr lvl="0"/>
            <a:r>
              <a:rPr lang="en-US" dirty="0"/>
              <a:t>Molecular evidence points to a high level of gene flow among </a:t>
            </a:r>
            <a:r>
              <a:rPr lang="en-US" i="1" dirty="0"/>
              <a:t>S. </a:t>
            </a:r>
            <a:r>
              <a:rPr lang="en-US" i="1" dirty="0" err="1"/>
              <a:t>calcitrans</a:t>
            </a:r>
            <a:r>
              <a:rPr lang="en-US" dirty="0"/>
              <a:t> populations, suggesting equally high intercontinental mobility, though  the species occurs mostly in N. America</a:t>
            </a:r>
          </a:p>
          <a:p>
            <a:pPr lvl="0"/>
            <a:r>
              <a:rPr lang="en-US" dirty="0"/>
              <a:t>In appearance it is similar to </a:t>
            </a:r>
            <a:r>
              <a:rPr lang="en-US" i="1" dirty="0"/>
              <a:t>M. </a:t>
            </a:r>
            <a:r>
              <a:rPr lang="en-US" i="1" dirty="0" err="1"/>
              <a:t>domestica</a:t>
            </a:r>
            <a:endParaRPr lang="en-US" dirty="0"/>
          </a:p>
          <a:p>
            <a:pPr lvl="0"/>
            <a:r>
              <a:rPr lang="en-US" dirty="0"/>
              <a:t>Stable flies are daytime feeders; both sexes feed on blood.</a:t>
            </a:r>
          </a:p>
          <a:p>
            <a:endParaRPr lang="en-US" dirty="0"/>
          </a:p>
        </p:txBody>
      </p:sp>
    </p:spTree>
    <p:extLst>
      <p:ext uri="{BB962C8B-B14F-4D97-AF65-F5344CB8AC3E}">
        <p14:creationId xmlns:p14="http://schemas.microsoft.com/office/powerpoint/2010/main" val="11857601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Stomoxys</a:t>
            </a:r>
            <a:r>
              <a:rPr lang="en-US" b="1" i="1" dirty="0" smtClean="0"/>
              <a:t> </a:t>
            </a:r>
            <a:r>
              <a:rPr lang="en-US" b="1" i="1" dirty="0" err="1" smtClean="0"/>
              <a:t>calcitrans</a:t>
            </a:r>
            <a:r>
              <a:rPr lang="en-US" dirty="0" smtClean="0"/>
              <a:t> (the Stable fly)</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a:t>The labella of the mouthparts are equipped with rows of teeth that can readily pierce skin and underlying tissues</a:t>
            </a:r>
          </a:p>
          <a:p>
            <a:pPr lvl="0"/>
            <a:r>
              <a:rPr lang="en-US" dirty="0"/>
              <a:t>The flies then sponge up blood that wells into the wound</a:t>
            </a:r>
          </a:p>
          <a:p>
            <a:pPr lvl="0"/>
            <a:r>
              <a:rPr lang="en-US" dirty="0"/>
              <a:t>The flies avidly bite humans and other animals, especially cattle, horses, and prefer to breed in decaying vegetation rather than manure, though they are adaptable</a:t>
            </a:r>
          </a:p>
          <a:p>
            <a:pPr marL="0" indent="0">
              <a:buNone/>
            </a:pPr>
            <a:endParaRPr lang="en-US" dirty="0"/>
          </a:p>
        </p:txBody>
      </p:sp>
    </p:spTree>
    <p:extLst>
      <p:ext uri="{BB962C8B-B14F-4D97-AF65-F5344CB8AC3E}">
        <p14:creationId xmlns:p14="http://schemas.microsoft.com/office/powerpoint/2010/main" val="13462206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Stomoxys</a:t>
            </a:r>
            <a:r>
              <a:rPr lang="en-US" b="1" i="1" dirty="0" smtClean="0"/>
              <a:t> </a:t>
            </a:r>
            <a:r>
              <a:rPr lang="en-US" b="1" i="1" dirty="0" err="1" smtClean="0"/>
              <a:t>calcitrans</a:t>
            </a:r>
            <a:r>
              <a:rPr lang="en-US" dirty="0" smtClean="0"/>
              <a:t> (the Stable fly)</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a:t>Their attack, in large numbers on humans, is intolerable; </a:t>
            </a:r>
            <a:endParaRPr lang="en-US" dirty="0" smtClean="0"/>
          </a:p>
          <a:p>
            <a:pPr lvl="0"/>
            <a:r>
              <a:rPr lang="en-US" dirty="0" smtClean="0"/>
              <a:t>the </a:t>
            </a:r>
            <a:r>
              <a:rPr lang="en-US" dirty="0"/>
              <a:t>species is an important pest of livestock, causing weight loss, reduced milk production and damage to hides, </a:t>
            </a:r>
            <a:endParaRPr lang="en-US" dirty="0" smtClean="0"/>
          </a:p>
          <a:p>
            <a:pPr lvl="0"/>
            <a:r>
              <a:rPr lang="en-US" dirty="0" smtClean="0"/>
              <a:t>and </a:t>
            </a:r>
            <a:r>
              <a:rPr lang="en-US" dirty="0"/>
              <a:t>adult cattle death, if bitten several times</a:t>
            </a:r>
          </a:p>
          <a:p>
            <a:endParaRPr lang="en-US" dirty="0"/>
          </a:p>
        </p:txBody>
      </p:sp>
    </p:spTree>
    <p:extLst>
      <p:ext uri="{BB962C8B-B14F-4D97-AF65-F5344CB8AC3E}">
        <p14:creationId xmlns:p14="http://schemas.microsoft.com/office/powerpoint/2010/main" val="6724272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Stomoxys</a:t>
            </a:r>
            <a:r>
              <a:rPr lang="en-US" b="1" i="1" dirty="0" smtClean="0"/>
              <a:t> </a:t>
            </a:r>
            <a:r>
              <a:rPr lang="en-US" b="1" i="1" dirty="0" err="1" smtClean="0"/>
              <a:t>calcitrans</a:t>
            </a:r>
            <a:r>
              <a:rPr lang="en-US" dirty="0" smtClean="0"/>
              <a:t> (the Stable fly)</a:t>
            </a:r>
            <a:br>
              <a:rPr lang="en-US" dirty="0" smtClean="0"/>
            </a:br>
            <a:endParaRPr lang="en-US" dirty="0"/>
          </a:p>
        </p:txBody>
      </p:sp>
      <p:sp>
        <p:nvSpPr>
          <p:cNvPr id="3" name="Content Placeholder 2"/>
          <p:cNvSpPr>
            <a:spLocks noGrp="1"/>
          </p:cNvSpPr>
          <p:nvPr>
            <p:ph idx="1"/>
          </p:nvPr>
        </p:nvSpPr>
        <p:spPr/>
        <p:txBody>
          <a:bodyPr>
            <a:normAutofit fontScale="92500"/>
          </a:bodyPr>
          <a:lstStyle/>
          <a:p>
            <a:pPr lvl="0"/>
            <a:r>
              <a:rPr lang="en-US" dirty="0" smtClean="0"/>
              <a:t>Diseases transmitted by stable flies are: </a:t>
            </a:r>
            <a:r>
              <a:rPr lang="en-US" dirty="0" err="1" smtClean="0"/>
              <a:t>surra</a:t>
            </a:r>
            <a:r>
              <a:rPr lang="en-US" dirty="0" smtClean="0"/>
              <a:t>, caused by </a:t>
            </a:r>
            <a:r>
              <a:rPr lang="en-US" i="1" dirty="0" err="1" smtClean="0"/>
              <a:t>Trypanosoma</a:t>
            </a:r>
            <a:r>
              <a:rPr lang="en-US" i="1" dirty="0" smtClean="0"/>
              <a:t> </a:t>
            </a:r>
            <a:r>
              <a:rPr lang="en-US" i="1" dirty="0" err="1" smtClean="0"/>
              <a:t>evansi</a:t>
            </a:r>
            <a:r>
              <a:rPr lang="en-US" dirty="0" smtClean="0"/>
              <a:t>;</a:t>
            </a:r>
          </a:p>
          <a:p>
            <a:pPr lvl="0"/>
            <a:r>
              <a:rPr lang="en-US" dirty="0" smtClean="0"/>
              <a:t> mechanical transmission of </a:t>
            </a:r>
            <a:r>
              <a:rPr lang="en-US" i="1" dirty="0" smtClean="0"/>
              <a:t>T. </a:t>
            </a:r>
            <a:r>
              <a:rPr lang="en-US" i="1" dirty="0" err="1" smtClean="0"/>
              <a:t>brucei</a:t>
            </a:r>
            <a:r>
              <a:rPr lang="en-US" dirty="0" smtClean="0"/>
              <a:t> complex; epidemic relapsing fever, </a:t>
            </a:r>
            <a:r>
              <a:rPr lang="en-US" dirty="0" err="1" smtClean="0"/>
              <a:t>antrax</a:t>
            </a:r>
            <a:r>
              <a:rPr lang="en-US" dirty="0" smtClean="0"/>
              <a:t>, brucellosis, swine erysipelas, equine swine fever, African horse sickness and fowl </a:t>
            </a:r>
            <a:r>
              <a:rPr lang="en-US" dirty="0" err="1" smtClean="0"/>
              <a:t>pok</a:t>
            </a:r>
            <a:endParaRPr lang="en-US" dirty="0" smtClean="0"/>
          </a:p>
          <a:p>
            <a:r>
              <a:rPr lang="en-US" dirty="0"/>
              <a:t>Stable flies are intermediate hosts of the horse stomach worm, </a:t>
            </a:r>
            <a:r>
              <a:rPr lang="en-US" i="1" dirty="0" err="1"/>
              <a:t>Habronema</a:t>
            </a:r>
            <a:r>
              <a:rPr lang="en-US" i="1" dirty="0"/>
              <a:t> </a:t>
            </a:r>
            <a:r>
              <a:rPr lang="en-US" i="1" dirty="0" err="1"/>
              <a:t>microstoma</a:t>
            </a:r>
            <a:r>
              <a:rPr lang="en-US" i="1" dirty="0"/>
              <a:t>,</a:t>
            </a:r>
            <a:r>
              <a:rPr lang="en-US" dirty="0"/>
              <a:t> which infects horses when infected flies are swallowed</a:t>
            </a:r>
          </a:p>
          <a:p>
            <a:pPr marL="0" lvl="0" indent="0">
              <a:buNone/>
            </a:pPr>
            <a:endParaRPr lang="en-US" dirty="0" smtClean="0"/>
          </a:p>
          <a:p>
            <a:endParaRPr lang="en-US" dirty="0"/>
          </a:p>
        </p:txBody>
      </p:sp>
    </p:spTree>
    <p:extLst>
      <p:ext uri="{BB962C8B-B14F-4D97-AF65-F5344CB8AC3E}">
        <p14:creationId xmlns:p14="http://schemas.microsoft.com/office/powerpoint/2010/main" val="13542691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Stomoxys</a:t>
            </a:r>
            <a:r>
              <a:rPr lang="en-US" b="1" i="1" dirty="0" smtClean="0"/>
              <a:t> </a:t>
            </a:r>
            <a:r>
              <a:rPr lang="en-US" b="1" i="1" dirty="0" err="1" smtClean="0"/>
              <a:t>calcitrans</a:t>
            </a:r>
            <a:r>
              <a:rPr lang="en-US" dirty="0" smtClean="0"/>
              <a:t> (the Stable fly)</a:t>
            </a:r>
            <a:br>
              <a:rPr lang="en-US" dirty="0" smtClean="0"/>
            </a:br>
            <a:endParaRPr lang="en-US" dirty="0"/>
          </a:p>
        </p:txBody>
      </p:sp>
      <p:sp>
        <p:nvSpPr>
          <p:cNvPr id="3" name="Content Placeholder 2"/>
          <p:cNvSpPr>
            <a:spLocks noGrp="1"/>
          </p:cNvSpPr>
          <p:nvPr>
            <p:ph idx="1"/>
          </p:nvPr>
        </p:nvSpPr>
        <p:spPr/>
        <p:txBody>
          <a:bodyPr/>
          <a:lstStyle/>
          <a:p>
            <a:pPr marL="0" indent="0" algn="ctr">
              <a:buNone/>
            </a:pPr>
            <a:r>
              <a:rPr lang="en-US" b="1" dirty="0"/>
              <a:t>Control</a:t>
            </a:r>
            <a:endParaRPr lang="en-US" dirty="0"/>
          </a:p>
          <a:p>
            <a:pPr lvl="0"/>
            <a:r>
              <a:rPr lang="en-US" dirty="0"/>
              <a:t>Besides insecticides, there is also the release of parasitoid wasps, </a:t>
            </a:r>
            <a:endParaRPr lang="en-US" dirty="0" smtClean="0"/>
          </a:p>
          <a:p>
            <a:pPr lvl="0"/>
            <a:r>
              <a:rPr lang="en-US" dirty="0" smtClean="0"/>
              <a:t>e.g</a:t>
            </a:r>
            <a:r>
              <a:rPr lang="en-US" dirty="0"/>
              <a:t>. </a:t>
            </a:r>
            <a:r>
              <a:rPr lang="en-US" i="1" dirty="0" err="1"/>
              <a:t>Muscidifurax</a:t>
            </a:r>
            <a:r>
              <a:rPr lang="en-US" dirty="0"/>
              <a:t> </a:t>
            </a:r>
            <a:r>
              <a:rPr lang="en-US" i="1" dirty="0"/>
              <a:t>raptor</a:t>
            </a:r>
            <a:r>
              <a:rPr lang="en-US" dirty="0"/>
              <a:t> and solar-powered traps designed to attract both house and </a:t>
            </a:r>
            <a:r>
              <a:rPr lang="en-US" dirty="0" err="1"/>
              <a:t>stableflies</a:t>
            </a:r>
            <a:endParaRPr lang="en-US" dirty="0"/>
          </a:p>
          <a:p>
            <a:endParaRPr lang="en-US" dirty="0"/>
          </a:p>
        </p:txBody>
      </p:sp>
    </p:spTree>
    <p:extLst>
      <p:ext uri="{BB962C8B-B14F-4D97-AF65-F5344CB8AC3E}">
        <p14:creationId xmlns:p14="http://schemas.microsoft.com/office/powerpoint/2010/main" val="8987859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Haematobia</a:t>
            </a:r>
            <a:r>
              <a:rPr lang="en-US" b="1" i="1" dirty="0" smtClean="0"/>
              <a:t> species</a:t>
            </a:r>
            <a:r>
              <a:rPr lang="en-US" dirty="0" smtClean="0"/>
              <a:t> (Horn flies)</a:t>
            </a:r>
            <a:endParaRPr lang="en-US" dirty="0"/>
          </a:p>
        </p:txBody>
      </p:sp>
      <p:sp>
        <p:nvSpPr>
          <p:cNvPr id="3" name="Content Placeholder 2"/>
          <p:cNvSpPr>
            <a:spLocks noGrp="1"/>
          </p:cNvSpPr>
          <p:nvPr>
            <p:ph idx="1"/>
          </p:nvPr>
        </p:nvSpPr>
        <p:spPr/>
        <p:txBody>
          <a:bodyPr/>
          <a:lstStyle/>
          <a:p>
            <a:r>
              <a:rPr lang="en-US" b="1" i="1" dirty="0" err="1"/>
              <a:t>Haematobia</a:t>
            </a:r>
            <a:r>
              <a:rPr lang="en-US" b="1" i="1" dirty="0"/>
              <a:t> species</a:t>
            </a:r>
            <a:r>
              <a:rPr lang="en-US" dirty="0"/>
              <a:t> (Horn flies) are also known as </a:t>
            </a:r>
            <a:r>
              <a:rPr lang="en-US" b="1" i="1" dirty="0" err="1"/>
              <a:t>Hydrotaea</a:t>
            </a:r>
            <a:r>
              <a:rPr lang="en-US" b="1" i="1" dirty="0"/>
              <a:t> </a:t>
            </a:r>
            <a:r>
              <a:rPr lang="en-US" b="1" i="1" dirty="0" err="1"/>
              <a:t>irritans</a:t>
            </a:r>
            <a:r>
              <a:rPr lang="en-US" dirty="0"/>
              <a:t>, occur in the Americas, Europe, Asia Minor and Africa.</a:t>
            </a:r>
          </a:p>
          <a:p>
            <a:pPr lvl="0"/>
            <a:r>
              <a:rPr lang="en-US" dirty="0"/>
              <a:t>They  closely resemble stable flies but are more slender</a:t>
            </a:r>
          </a:p>
          <a:p>
            <a:pPr lvl="0"/>
            <a:r>
              <a:rPr lang="en-US" dirty="0"/>
              <a:t>They may bite humans but are not active fliers as stable flies; they are more of veterinary </a:t>
            </a:r>
            <a:r>
              <a:rPr lang="en-US" dirty="0" smtClean="0"/>
              <a:t>importance.</a:t>
            </a:r>
            <a:endParaRPr lang="en-US" dirty="0"/>
          </a:p>
          <a:p>
            <a:endParaRPr lang="en-US" dirty="0"/>
          </a:p>
        </p:txBody>
      </p:sp>
    </p:spTree>
    <p:extLst>
      <p:ext uri="{BB962C8B-B14F-4D97-AF65-F5344CB8AC3E}">
        <p14:creationId xmlns:p14="http://schemas.microsoft.com/office/powerpoint/2010/main" val="29328677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b="1" dirty="0" smtClean="0"/>
              <a:t/>
            </a:r>
            <a:br>
              <a:rPr lang="en-US" b="1" dirty="0" smtClean="0"/>
            </a:br>
            <a:r>
              <a:rPr lang="en-US" b="1" dirty="0" err="1" smtClean="0"/>
              <a:t>Myiasis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err="1" smtClean="0"/>
              <a:t>Myiasis</a:t>
            </a:r>
            <a:r>
              <a:rPr lang="en-US" dirty="0" smtClean="0"/>
              <a:t> </a:t>
            </a:r>
            <a:r>
              <a:rPr lang="en-US" dirty="0"/>
              <a:t>is generally, an infection/disease caused by fly maggots of various species of fly families. There are several categories of </a:t>
            </a:r>
            <a:r>
              <a:rPr lang="en-US" dirty="0" err="1"/>
              <a:t>myiasis</a:t>
            </a:r>
            <a:r>
              <a:rPr lang="en-US" dirty="0"/>
              <a:t> as in parasitism, as follows:</a:t>
            </a:r>
          </a:p>
          <a:p>
            <a:pPr marL="514350" lvl="0" indent="-514350">
              <a:buFont typeface="+mj-lt"/>
              <a:buAutoNum type="arabicPeriod"/>
            </a:pPr>
            <a:r>
              <a:rPr lang="en-US" b="1" dirty="0"/>
              <a:t>Obligatory </a:t>
            </a:r>
            <a:r>
              <a:rPr lang="en-US" b="1" dirty="0" err="1"/>
              <a:t>myiasis</a:t>
            </a:r>
            <a:r>
              <a:rPr lang="en-US" dirty="0"/>
              <a:t>-the insect depends on a period of parasitism before completing its life cycle</a:t>
            </a:r>
          </a:p>
          <a:p>
            <a:pPr marL="514350" lvl="0" indent="-514350">
              <a:buFont typeface="+mj-lt"/>
              <a:buAutoNum type="arabicPeriod"/>
            </a:pPr>
            <a:r>
              <a:rPr lang="en-US" b="1" dirty="0"/>
              <a:t>Facultative </a:t>
            </a:r>
            <a:r>
              <a:rPr lang="en-US" b="1" dirty="0" err="1"/>
              <a:t>myiasis</a:t>
            </a:r>
            <a:r>
              <a:rPr lang="en-US" dirty="0"/>
              <a:t>- a normally free-living maggot becomes parasitic when it accidentally gains entrance into a host</a:t>
            </a:r>
          </a:p>
          <a:p>
            <a:endParaRPr lang="en-US" dirty="0"/>
          </a:p>
        </p:txBody>
      </p:sp>
    </p:spTree>
    <p:extLst>
      <p:ext uri="{BB962C8B-B14F-4D97-AF65-F5344CB8AC3E}">
        <p14:creationId xmlns:p14="http://schemas.microsoft.com/office/powerpoint/2010/main" val="40425501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Myiasis</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Other terms are useful in describing the location of larvae</a:t>
            </a:r>
            <a:r>
              <a:rPr lang="en-US" dirty="0" smtClean="0"/>
              <a:t>:</a:t>
            </a:r>
          </a:p>
          <a:p>
            <a:pPr lvl="0"/>
            <a:r>
              <a:rPr lang="en-US" dirty="0" smtClean="0"/>
              <a:t> </a:t>
            </a:r>
            <a:r>
              <a:rPr lang="en-US" dirty="0"/>
              <a:t>gastric, intestinal, or rectal for invasion of the digestive system; </a:t>
            </a:r>
            <a:r>
              <a:rPr lang="en-US" b="1" dirty="0"/>
              <a:t>nasopharyngeal</a:t>
            </a:r>
            <a:r>
              <a:rPr lang="en-US" dirty="0"/>
              <a:t>, for nose, sinuses, </a:t>
            </a:r>
            <a:r>
              <a:rPr lang="en-US" dirty="0" smtClean="0"/>
              <a:t>and </a:t>
            </a:r>
            <a:r>
              <a:rPr lang="en-US" dirty="0"/>
              <a:t>pharynx</a:t>
            </a:r>
            <a:r>
              <a:rPr lang="en-US" dirty="0" smtClean="0"/>
              <a:t>;</a:t>
            </a:r>
          </a:p>
          <a:p>
            <a:pPr lvl="0"/>
            <a:r>
              <a:rPr lang="en-US" dirty="0" smtClean="0"/>
              <a:t> </a:t>
            </a:r>
            <a:r>
              <a:rPr lang="en-US" b="1" dirty="0"/>
              <a:t>cutaneous</a:t>
            </a:r>
            <a:r>
              <a:rPr lang="en-US" dirty="0"/>
              <a:t>, either creeping, when larvae burrow through the skin, or </a:t>
            </a:r>
            <a:r>
              <a:rPr lang="en-US" b="1" dirty="0" err="1"/>
              <a:t>furununcular</a:t>
            </a:r>
            <a:r>
              <a:rPr lang="en-US" dirty="0"/>
              <a:t>, if they remain in a boil-like lesion; urinary or </a:t>
            </a:r>
            <a:r>
              <a:rPr lang="en-US" b="1" dirty="0"/>
              <a:t>urogenital</a:t>
            </a:r>
            <a:r>
              <a:rPr lang="en-US" dirty="0"/>
              <a:t>; </a:t>
            </a:r>
            <a:r>
              <a:rPr lang="en-US" b="1" dirty="0"/>
              <a:t>auricular</a:t>
            </a:r>
            <a:r>
              <a:rPr lang="en-US" dirty="0"/>
              <a:t> for the ears, and </a:t>
            </a:r>
            <a:r>
              <a:rPr lang="en-US" b="1" dirty="0"/>
              <a:t>ophthalmic</a:t>
            </a:r>
            <a:r>
              <a:rPr lang="en-US" dirty="0"/>
              <a:t> for the eyes.</a:t>
            </a:r>
          </a:p>
          <a:p>
            <a:endParaRPr lang="en-US" dirty="0"/>
          </a:p>
        </p:txBody>
      </p:sp>
    </p:spTree>
    <p:extLst>
      <p:ext uri="{BB962C8B-B14F-4D97-AF65-F5344CB8AC3E}">
        <p14:creationId xmlns:p14="http://schemas.microsoft.com/office/powerpoint/2010/main" val="31985353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Myiasis</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a:t>Some larvae are intermittent blood suckers and are loosely included under the term </a:t>
            </a:r>
            <a:r>
              <a:rPr lang="en-US" dirty="0" err="1" smtClean="0"/>
              <a:t>myiasis</a:t>
            </a:r>
            <a:r>
              <a:rPr lang="en-US" dirty="0" smtClean="0"/>
              <a:t>.</a:t>
            </a:r>
          </a:p>
          <a:p>
            <a:pPr lvl="0"/>
            <a:r>
              <a:rPr lang="en-US" dirty="0" smtClean="0"/>
              <a:t> </a:t>
            </a:r>
            <a:r>
              <a:rPr lang="en-US" b="1" dirty="0"/>
              <a:t>Accidental </a:t>
            </a:r>
            <a:r>
              <a:rPr lang="en-US" b="1" dirty="0" err="1"/>
              <a:t>myiasis</a:t>
            </a:r>
            <a:r>
              <a:rPr lang="en-US" dirty="0"/>
              <a:t> is usually enteric, occurring when eggs or larvae are eaten with contaminated food or usually involves </a:t>
            </a:r>
            <a:r>
              <a:rPr lang="en-US" dirty="0" err="1"/>
              <a:t>muscoid</a:t>
            </a:r>
            <a:r>
              <a:rPr lang="en-US" dirty="0"/>
              <a:t> flies, such as </a:t>
            </a:r>
            <a:r>
              <a:rPr lang="en-US" i="1" dirty="0"/>
              <a:t>M. </a:t>
            </a:r>
            <a:r>
              <a:rPr lang="en-US" i="1" dirty="0" err="1"/>
              <a:t>domestica</a:t>
            </a:r>
            <a:r>
              <a:rPr lang="en-US" dirty="0"/>
              <a:t> and </a:t>
            </a:r>
          </a:p>
          <a:p>
            <a:pPr lvl="0"/>
            <a:r>
              <a:rPr lang="en-US" dirty="0"/>
              <a:t>The families of flies that cause </a:t>
            </a:r>
            <a:r>
              <a:rPr lang="en-US" dirty="0" err="1"/>
              <a:t>Myiasis</a:t>
            </a:r>
            <a:r>
              <a:rPr lang="en-US" dirty="0"/>
              <a:t> include:</a:t>
            </a:r>
          </a:p>
          <a:p>
            <a:pPr marL="0" indent="0">
              <a:buNone/>
            </a:pPr>
            <a:endParaRPr lang="en-US" dirty="0"/>
          </a:p>
        </p:txBody>
      </p:sp>
    </p:spTree>
    <p:extLst>
      <p:ext uri="{BB962C8B-B14F-4D97-AF65-F5344CB8AC3E}">
        <p14:creationId xmlns:p14="http://schemas.microsoft.com/office/powerpoint/2010/main" val="5849814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 </a:t>
            </a:r>
            <a:r>
              <a:rPr lang="en-US" dirty="0" smtClean="0"/>
              <a:t>The </a:t>
            </a:r>
            <a:r>
              <a:rPr lang="en-US" dirty="0"/>
              <a:t>large family of blow flies, most of which help to destroy carcasses; a few cause </a:t>
            </a:r>
            <a:r>
              <a:rPr lang="en-US" dirty="0" err="1"/>
              <a:t>myiasis</a:t>
            </a:r>
            <a:endParaRPr lang="en-US" dirty="0"/>
          </a:p>
          <a:p>
            <a:pPr lvl="0"/>
            <a:r>
              <a:rPr lang="en-US" dirty="0"/>
              <a:t>They are usually </a:t>
            </a:r>
            <a:r>
              <a:rPr lang="en-US" dirty="0" smtClean="0"/>
              <a:t>of metallic </a:t>
            </a:r>
            <a:r>
              <a:rPr lang="en-US" dirty="0"/>
              <a:t>green, blue, or copper </a:t>
            </a:r>
            <a:r>
              <a:rPr lang="en-US" dirty="0" err="1"/>
              <a:t>colour</a:t>
            </a:r>
            <a:r>
              <a:rPr lang="en-US" dirty="0"/>
              <a:t>, though some are non-metallic</a:t>
            </a:r>
          </a:p>
          <a:p>
            <a:pPr lvl="0"/>
            <a:r>
              <a:rPr lang="en-US" dirty="0"/>
              <a:t>Common species include:</a:t>
            </a:r>
          </a:p>
          <a:p>
            <a:pPr lvl="0">
              <a:buFont typeface="Wingdings" pitchFamily="2" charset="2"/>
              <a:buChar char="Ø"/>
            </a:pPr>
            <a:r>
              <a:rPr lang="en-US" i="1" dirty="0" err="1"/>
              <a:t>Calliphora</a:t>
            </a:r>
            <a:r>
              <a:rPr lang="en-US" i="1" dirty="0"/>
              <a:t> </a:t>
            </a:r>
            <a:r>
              <a:rPr lang="en-US" i="1" dirty="0" err="1"/>
              <a:t>vomitaria</a:t>
            </a:r>
            <a:r>
              <a:rPr lang="en-US" dirty="0"/>
              <a:t>- can cause </a:t>
            </a:r>
            <a:r>
              <a:rPr lang="en-US" dirty="0" err="1"/>
              <a:t>pseudomyiasis</a:t>
            </a:r>
            <a:endParaRPr lang="en-US" dirty="0"/>
          </a:p>
          <a:p>
            <a:pPr lvl="0">
              <a:buFont typeface="Wingdings" pitchFamily="2" charset="2"/>
              <a:buChar char="Ø"/>
            </a:pPr>
            <a:r>
              <a:rPr lang="en-US" i="1" dirty="0" err="1"/>
              <a:t>Phaenicia</a:t>
            </a:r>
            <a:r>
              <a:rPr lang="en-US" i="1" dirty="0"/>
              <a:t> </a:t>
            </a:r>
            <a:r>
              <a:rPr lang="en-US" i="1" dirty="0" err="1"/>
              <a:t>spp</a:t>
            </a:r>
            <a:r>
              <a:rPr lang="en-US" dirty="0"/>
              <a:t> e.g. </a:t>
            </a:r>
            <a:r>
              <a:rPr lang="en-US" i="1" dirty="0"/>
              <a:t>P. </a:t>
            </a:r>
            <a:r>
              <a:rPr lang="en-US" i="1" dirty="0" err="1"/>
              <a:t>sericata</a:t>
            </a:r>
            <a:endParaRPr lang="en-US" dirty="0"/>
          </a:p>
          <a:p>
            <a:pPr lvl="0">
              <a:buFont typeface="Wingdings" pitchFamily="2" charset="2"/>
              <a:buChar char="Ø"/>
            </a:pPr>
            <a:r>
              <a:rPr lang="en-US" i="1" dirty="0" err="1"/>
              <a:t>Lucilia</a:t>
            </a:r>
            <a:r>
              <a:rPr lang="en-US" i="1" dirty="0"/>
              <a:t> </a:t>
            </a:r>
            <a:r>
              <a:rPr lang="en-US" i="1" dirty="0" err="1"/>
              <a:t>spp</a:t>
            </a:r>
            <a:r>
              <a:rPr lang="en-US" dirty="0"/>
              <a:t> e.g. </a:t>
            </a:r>
            <a:r>
              <a:rPr lang="en-US" i="1" dirty="0"/>
              <a:t>L. </a:t>
            </a:r>
            <a:r>
              <a:rPr lang="en-US" i="1" dirty="0" err="1"/>
              <a:t>cuprina</a:t>
            </a:r>
            <a:r>
              <a:rPr lang="en-US" dirty="0"/>
              <a:t>. These cause wool strike of sheep in </a:t>
            </a:r>
            <a:r>
              <a:rPr lang="en-US" dirty="0" smtClean="0"/>
              <a:t>Australia</a:t>
            </a:r>
            <a:endParaRPr lang="en-US" dirty="0"/>
          </a:p>
        </p:txBody>
      </p:sp>
    </p:spTree>
    <p:extLst>
      <p:ext uri="{BB962C8B-B14F-4D97-AF65-F5344CB8AC3E}">
        <p14:creationId xmlns:p14="http://schemas.microsoft.com/office/powerpoint/2010/main" val="6621189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Some species of </a:t>
            </a:r>
            <a:r>
              <a:rPr lang="en-US" dirty="0" err="1" smtClean="0"/>
              <a:t>calliphorid</a:t>
            </a:r>
            <a:r>
              <a:rPr lang="en-US" dirty="0" smtClean="0"/>
              <a:t> blow flies limit infections in wounds. </a:t>
            </a:r>
          </a:p>
          <a:p>
            <a:r>
              <a:rPr lang="en-US" dirty="0" smtClean="0"/>
              <a:t>Others, such as some species of </a:t>
            </a:r>
            <a:r>
              <a:rPr lang="en-US" i="1" dirty="0" err="1" smtClean="0"/>
              <a:t>Phormia</a:t>
            </a:r>
            <a:r>
              <a:rPr lang="en-US" i="1" dirty="0" smtClean="0"/>
              <a:t>, </a:t>
            </a:r>
            <a:r>
              <a:rPr lang="en-US" i="1" dirty="0" err="1" smtClean="0"/>
              <a:t>Cochliomyia</a:t>
            </a:r>
            <a:r>
              <a:rPr lang="en-US" i="1" dirty="0" smtClean="0"/>
              <a:t> </a:t>
            </a:r>
            <a:r>
              <a:rPr lang="en-US" dirty="0" smtClean="0"/>
              <a:t>and </a:t>
            </a:r>
            <a:r>
              <a:rPr lang="en-US" i="1" dirty="0" err="1" smtClean="0"/>
              <a:t>Chrysomya</a:t>
            </a:r>
            <a:r>
              <a:rPr lang="en-US" dirty="0" smtClean="0"/>
              <a:t> are facultative parasites</a:t>
            </a:r>
          </a:p>
          <a:p>
            <a:endParaRPr lang="en-US" dirty="0" smtClean="0"/>
          </a:p>
          <a:p>
            <a:endParaRPr lang="en-US" dirty="0"/>
          </a:p>
        </p:txBody>
      </p:sp>
    </p:spTree>
    <p:extLst>
      <p:ext uri="{BB962C8B-B14F-4D97-AF65-F5344CB8AC3E}">
        <p14:creationId xmlns:p14="http://schemas.microsoft.com/office/powerpoint/2010/main" val="12591367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b="1" i="1" dirty="0" err="1"/>
              <a:t>Cochliomyia</a:t>
            </a:r>
            <a:r>
              <a:rPr lang="en-US" b="1" i="1" dirty="0"/>
              <a:t> </a:t>
            </a:r>
            <a:r>
              <a:rPr lang="en-US" b="1" i="1" dirty="0" err="1"/>
              <a:t>hominivora</a:t>
            </a:r>
            <a:r>
              <a:rPr lang="en-US" dirty="0"/>
              <a:t>- this is the New World Screw worm, one of the most important causes of </a:t>
            </a:r>
            <a:r>
              <a:rPr lang="en-US" dirty="0" err="1"/>
              <a:t>myiasis</a:t>
            </a:r>
            <a:r>
              <a:rPr lang="en-US" dirty="0"/>
              <a:t>; </a:t>
            </a:r>
            <a:endParaRPr lang="en-US" dirty="0" smtClean="0"/>
          </a:p>
          <a:p>
            <a:pPr lvl="0"/>
            <a:r>
              <a:rPr lang="en-US" dirty="0" smtClean="0"/>
              <a:t>it </a:t>
            </a:r>
            <a:r>
              <a:rPr lang="en-US" dirty="0"/>
              <a:t>is an obligate parasite, occurring throughout the </a:t>
            </a:r>
            <a:r>
              <a:rPr lang="en-US" dirty="0" err="1"/>
              <a:t>Neotropical</a:t>
            </a:r>
            <a:r>
              <a:rPr lang="en-US" dirty="0"/>
              <a:t> region</a:t>
            </a:r>
          </a:p>
          <a:p>
            <a:pPr lvl="0">
              <a:buFont typeface="Wingdings" pitchFamily="2" charset="2"/>
              <a:buChar char="Ø"/>
            </a:pPr>
            <a:r>
              <a:rPr lang="en-US" dirty="0"/>
              <a:t>It causes dermal </a:t>
            </a:r>
            <a:r>
              <a:rPr lang="en-US" dirty="0" err="1"/>
              <a:t>myiasis</a:t>
            </a:r>
            <a:r>
              <a:rPr lang="en-US" dirty="0"/>
              <a:t> in nearly any mammal as well as nasopharyngeal </a:t>
            </a:r>
            <a:r>
              <a:rPr lang="en-US" dirty="0" err="1"/>
              <a:t>myiasis</a:t>
            </a:r>
            <a:r>
              <a:rPr lang="en-US" dirty="0"/>
              <a:t> in </a:t>
            </a:r>
            <a:r>
              <a:rPr lang="en-US" dirty="0" smtClean="0"/>
              <a:t>humans</a:t>
            </a:r>
            <a:endParaRPr lang="en-US" dirty="0"/>
          </a:p>
        </p:txBody>
      </p:sp>
    </p:spTree>
    <p:extLst>
      <p:ext uri="{BB962C8B-B14F-4D97-AF65-F5344CB8AC3E}">
        <p14:creationId xmlns:p14="http://schemas.microsoft.com/office/powerpoint/2010/main" val="41323620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smtClean="0"/>
              <a:t>Adult flies are a deep, greenish-blue metallic </a:t>
            </a:r>
            <a:r>
              <a:rPr lang="en-US" dirty="0" err="1" smtClean="0"/>
              <a:t>colour</a:t>
            </a:r>
            <a:r>
              <a:rPr lang="en-US" dirty="0" smtClean="0"/>
              <a:t> with a yellow-orange, or reddish face and three dark stripes on the thorax;</a:t>
            </a:r>
          </a:p>
          <a:p>
            <a:pPr lvl="0">
              <a:buFont typeface="Wingdings" pitchFamily="2" charset="2"/>
              <a:buChar char="Ø"/>
            </a:pPr>
            <a:r>
              <a:rPr lang="en-US" dirty="0" smtClean="0"/>
              <a:t> it is difficult to differentiate </a:t>
            </a:r>
            <a:r>
              <a:rPr lang="en-US" i="1" dirty="0" smtClean="0"/>
              <a:t>C. </a:t>
            </a:r>
            <a:r>
              <a:rPr lang="en-US" i="1" dirty="0" err="1" smtClean="0"/>
              <a:t>hominivorax</a:t>
            </a:r>
            <a:r>
              <a:rPr lang="en-US" dirty="0" smtClean="0"/>
              <a:t> from </a:t>
            </a:r>
            <a:r>
              <a:rPr lang="en-US" i="1" dirty="0" smtClean="0"/>
              <a:t>C. </a:t>
            </a:r>
            <a:r>
              <a:rPr lang="en-US" i="1" dirty="0" err="1" smtClean="0"/>
              <a:t>macellaria</a:t>
            </a:r>
            <a:r>
              <a:rPr lang="en-US" dirty="0" smtClean="0"/>
              <a:t>, the secondary </a:t>
            </a:r>
            <a:r>
              <a:rPr lang="en-US" dirty="0" err="1" smtClean="0"/>
              <a:t>soreworm</a:t>
            </a:r>
            <a:r>
              <a:rPr lang="en-US" dirty="0" smtClean="0"/>
              <a:t>, which is not an important cause of </a:t>
            </a:r>
            <a:r>
              <a:rPr lang="en-US" dirty="0" err="1" smtClean="0"/>
              <a:t>myiasis</a:t>
            </a:r>
            <a:endParaRPr lang="en-US" dirty="0" smtClean="0"/>
          </a:p>
          <a:p>
            <a:endParaRPr lang="en-US" dirty="0" smtClean="0"/>
          </a:p>
          <a:p>
            <a:endParaRPr lang="en-US" dirty="0"/>
          </a:p>
        </p:txBody>
      </p:sp>
    </p:spTree>
    <p:extLst>
      <p:ext uri="{BB962C8B-B14F-4D97-AF65-F5344CB8AC3E}">
        <p14:creationId xmlns:p14="http://schemas.microsoft.com/office/powerpoint/2010/main" val="28487461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Screwworm larvae cannot penetrate intact skin, although mucous membranes of the face and genitalia are susceptible to their </a:t>
            </a:r>
            <a:r>
              <a:rPr lang="en-US" dirty="0" smtClean="0"/>
              <a:t>attack.</a:t>
            </a:r>
          </a:p>
          <a:p>
            <a:pPr lvl="0">
              <a:buFont typeface="Wingdings" pitchFamily="2" charset="2"/>
              <a:buChar char="Ø"/>
            </a:pPr>
            <a:r>
              <a:rPr lang="en-US" dirty="0" smtClean="0"/>
              <a:t>Usually </a:t>
            </a:r>
            <a:r>
              <a:rPr lang="en-US" dirty="0"/>
              <a:t>a pre-existing wound, however small, attracts the fly</a:t>
            </a:r>
          </a:p>
          <a:p>
            <a:pPr lvl="0">
              <a:buFont typeface="Wingdings" pitchFamily="2" charset="2"/>
              <a:buChar char="Ø"/>
            </a:pPr>
            <a:r>
              <a:rPr lang="en-US" dirty="0"/>
              <a:t>Generally, the more abundant the worms are in livestock, the greater the chances of human infection</a:t>
            </a:r>
          </a:p>
          <a:p>
            <a:pPr>
              <a:buFont typeface="Wingdings" pitchFamily="2" charset="2"/>
              <a:buChar char="Ø"/>
            </a:pPr>
            <a:endParaRPr lang="en-US" dirty="0"/>
          </a:p>
        </p:txBody>
      </p:sp>
    </p:spTree>
    <p:extLst>
      <p:ext uri="{BB962C8B-B14F-4D97-AF65-F5344CB8AC3E}">
        <p14:creationId xmlns:p14="http://schemas.microsoft.com/office/powerpoint/2010/main" val="15367841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lvl="0">
              <a:buFont typeface="Wingdings" pitchFamily="2" charset="2"/>
              <a:buChar char="Ø"/>
            </a:pPr>
            <a:r>
              <a:rPr lang="en-US" dirty="0"/>
              <a:t>Infection in the head can be fatal whilst urogenital infection can be grossly deforming.</a:t>
            </a:r>
          </a:p>
          <a:p>
            <a:pPr lvl="0">
              <a:buFont typeface="Wingdings" pitchFamily="2" charset="2"/>
              <a:buChar char="Ø"/>
            </a:pPr>
            <a:r>
              <a:rPr lang="en-US" dirty="0"/>
              <a:t>The best control of this pest so far developed is the use of the sterile male technique- laboratory reared and sterilized males are released to mate with wild females. </a:t>
            </a:r>
            <a:endParaRPr lang="en-US" dirty="0" smtClean="0"/>
          </a:p>
          <a:p>
            <a:pPr lvl="0">
              <a:buFont typeface="Wingdings" pitchFamily="2" charset="2"/>
              <a:buChar char="Ø"/>
            </a:pPr>
            <a:r>
              <a:rPr lang="en-US" dirty="0" smtClean="0"/>
              <a:t>Since </a:t>
            </a:r>
            <a:r>
              <a:rPr lang="en-US" dirty="0"/>
              <a:t>females of this species usually mate once, they, thus, cannot produce offspring after a sterile mating. </a:t>
            </a:r>
            <a:endParaRPr lang="en-US" dirty="0" smtClean="0"/>
          </a:p>
          <a:p>
            <a:pPr lvl="0">
              <a:buFont typeface="Wingdings" pitchFamily="2" charset="2"/>
              <a:buChar char="Ø"/>
            </a:pPr>
            <a:r>
              <a:rPr lang="en-US" i="1" dirty="0" smtClean="0"/>
              <a:t>C</a:t>
            </a:r>
            <a:r>
              <a:rPr lang="en-US" i="1" dirty="0"/>
              <a:t>. </a:t>
            </a:r>
            <a:r>
              <a:rPr lang="en-US" i="1" dirty="0" err="1"/>
              <a:t>hominivorax</a:t>
            </a:r>
            <a:r>
              <a:rPr lang="en-US" dirty="0"/>
              <a:t> has been eliminated from the US and is present only in the Mexican State of Yucatan.</a:t>
            </a:r>
          </a:p>
          <a:p>
            <a:endParaRPr lang="en-US" dirty="0"/>
          </a:p>
        </p:txBody>
      </p:sp>
    </p:spTree>
    <p:extLst>
      <p:ext uri="{BB962C8B-B14F-4D97-AF65-F5344CB8AC3E}">
        <p14:creationId xmlns:p14="http://schemas.microsoft.com/office/powerpoint/2010/main" val="15227085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a:t>The Old World Screwworm, </a:t>
            </a:r>
            <a:r>
              <a:rPr lang="en-US" b="1" i="1" dirty="0" err="1"/>
              <a:t>Chrysomya</a:t>
            </a:r>
            <a:r>
              <a:rPr lang="en-US" b="1" i="1" dirty="0"/>
              <a:t> </a:t>
            </a:r>
            <a:r>
              <a:rPr lang="en-US" b="1" i="1" dirty="0" err="1"/>
              <a:t>bezziana</a:t>
            </a:r>
            <a:r>
              <a:rPr lang="en-US" dirty="0"/>
              <a:t> occurs in Africa, India, the Philippines, Australia, and the East Indies. </a:t>
            </a:r>
            <a:endParaRPr lang="en-US" dirty="0" smtClean="0"/>
          </a:p>
          <a:p>
            <a:r>
              <a:rPr lang="en-US" dirty="0" smtClean="0"/>
              <a:t>Its </a:t>
            </a:r>
            <a:r>
              <a:rPr lang="en-US" dirty="0"/>
              <a:t>biology, veterinary importance and control strategies are almost identical to those of </a:t>
            </a:r>
            <a:r>
              <a:rPr lang="en-US" i="1" dirty="0"/>
              <a:t>Co. </a:t>
            </a:r>
            <a:r>
              <a:rPr lang="en-US" i="1" dirty="0" err="1"/>
              <a:t>hominivorax</a:t>
            </a:r>
            <a:r>
              <a:rPr lang="en-US" dirty="0"/>
              <a:t>. </a:t>
            </a:r>
            <a:endParaRPr lang="en-US" dirty="0" smtClean="0"/>
          </a:p>
          <a:p>
            <a:r>
              <a:rPr lang="en-US" dirty="0" smtClean="0"/>
              <a:t>Two </a:t>
            </a:r>
            <a:r>
              <a:rPr lang="en-US" dirty="0"/>
              <a:t>races are believed to exist, from molecular studies: one from sub-Saharan Africa and the other from Asia.</a:t>
            </a:r>
          </a:p>
          <a:p>
            <a:endParaRPr lang="en-US" dirty="0"/>
          </a:p>
        </p:txBody>
      </p:sp>
    </p:spTree>
    <p:extLst>
      <p:ext uri="{BB962C8B-B14F-4D97-AF65-F5344CB8AC3E}">
        <p14:creationId xmlns:p14="http://schemas.microsoft.com/office/powerpoint/2010/main" val="25161206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Estimates are that for sterile male control technique, it would require 250 million sterile males a week and 5 years to eliminate this pest epidemic in Queensland, Australia.</a:t>
            </a:r>
          </a:p>
          <a:p>
            <a:pPr lvl="0">
              <a:buFont typeface="Wingdings" pitchFamily="2" charset="2"/>
              <a:buChar char="Ø"/>
            </a:pPr>
            <a:r>
              <a:rPr lang="en-US" dirty="0"/>
              <a:t>There are other related species occurring in these same regions</a:t>
            </a:r>
          </a:p>
          <a:p>
            <a:pPr lvl="0">
              <a:buFont typeface="Wingdings" pitchFamily="2" charset="2"/>
              <a:buChar char="Ø"/>
            </a:pPr>
            <a:r>
              <a:rPr lang="en-US" dirty="0"/>
              <a:t>They are metallic green or blue-green in </a:t>
            </a:r>
            <a:r>
              <a:rPr lang="en-US" dirty="0" err="1"/>
              <a:t>colour</a:t>
            </a:r>
            <a:endParaRPr lang="en-US" dirty="0"/>
          </a:p>
          <a:p>
            <a:endParaRPr lang="en-US" dirty="0"/>
          </a:p>
        </p:txBody>
      </p:sp>
    </p:spTree>
    <p:extLst>
      <p:ext uri="{BB962C8B-B14F-4D97-AF65-F5344CB8AC3E}">
        <p14:creationId xmlns:p14="http://schemas.microsoft.com/office/powerpoint/2010/main" val="2481442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a:t>They burrow deep into tissues, hence producing ulcers around the eyes, ears, nose and mouth</a:t>
            </a:r>
          </a:p>
          <a:p>
            <a:pPr marL="0" indent="0">
              <a:buNone/>
            </a:pPr>
            <a:endParaRPr lang="en-US" dirty="0"/>
          </a:p>
        </p:txBody>
      </p:sp>
    </p:spTree>
    <p:extLst>
      <p:ext uri="{BB962C8B-B14F-4D97-AF65-F5344CB8AC3E}">
        <p14:creationId xmlns:p14="http://schemas.microsoft.com/office/powerpoint/2010/main" val="12112468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lvl="0" indent="0" algn="ctr">
              <a:buNone/>
            </a:pPr>
            <a:r>
              <a:rPr lang="en-US" b="1" i="1" dirty="0" err="1" smtClean="0"/>
              <a:t>Cordylobia</a:t>
            </a:r>
            <a:r>
              <a:rPr lang="en-US" b="1" i="1" dirty="0" smtClean="0"/>
              <a:t> anthropophagi</a:t>
            </a:r>
            <a:r>
              <a:rPr lang="en-US" b="1" dirty="0" smtClean="0"/>
              <a:t> (The </a:t>
            </a:r>
            <a:r>
              <a:rPr lang="en-US" b="1" dirty="0" err="1" smtClean="0"/>
              <a:t>tumbu</a:t>
            </a:r>
            <a:r>
              <a:rPr lang="en-US" b="1" dirty="0" smtClean="0"/>
              <a:t> fly)</a:t>
            </a:r>
          </a:p>
          <a:p>
            <a:pPr lvl="0">
              <a:buFont typeface="Wingdings" pitchFamily="2" charset="2"/>
              <a:buChar char="Ø"/>
            </a:pPr>
            <a:r>
              <a:rPr lang="en-US" dirty="0" smtClean="0"/>
              <a:t>This is a </a:t>
            </a:r>
            <a:r>
              <a:rPr lang="en-US" dirty="0" err="1" smtClean="0"/>
              <a:t>calliphorid</a:t>
            </a:r>
            <a:r>
              <a:rPr lang="en-US" dirty="0" smtClean="0"/>
              <a:t> restricted to Africa, south of the Sahara; the adults are yellowish</a:t>
            </a:r>
          </a:p>
          <a:p>
            <a:pPr lvl="0">
              <a:buFont typeface="Wingdings" pitchFamily="2" charset="2"/>
              <a:buChar char="Ø"/>
            </a:pPr>
            <a:r>
              <a:rPr lang="en-US" dirty="0" smtClean="0"/>
              <a:t>They are stimulated to lay eggs in soil that has been contaminated with urine</a:t>
            </a:r>
          </a:p>
          <a:p>
            <a:pPr lvl="0">
              <a:buFont typeface="Wingdings" pitchFamily="2" charset="2"/>
              <a:buChar char="Ø"/>
            </a:pPr>
            <a:r>
              <a:rPr lang="en-US" dirty="0" smtClean="0"/>
              <a:t>Many wild mammals are reservoirs</a:t>
            </a:r>
          </a:p>
          <a:p>
            <a:pPr lvl="0">
              <a:buFont typeface="Wingdings" pitchFamily="2" charset="2"/>
              <a:buChar char="Ø"/>
            </a:pPr>
            <a:r>
              <a:rPr lang="en-US" dirty="0" smtClean="0"/>
              <a:t>They cause cutaneous </a:t>
            </a:r>
            <a:r>
              <a:rPr lang="en-US" dirty="0" err="1" smtClean="0"/>
              <a:t>myiasis</a:t>
            </a:r>
            <a:endParaRPr lang="en-US" dirty="0" smtClean="0"/>
          </a:p>
          <a:p>
            <a:endParaRPr lang="en-US" dirty="0"/>
          </a:p>
        </p:txBody>
      </p:sp>
    </p:spTree>
    <p:extLst>
      <p:ext uri="{BB962C8B-B14F-4D97-AF65-F5344CB8AC3E}">
        <p14:creationId xmlns:p14="http://schemas.microsoft.com/office/powerpoint/2010/main" val="34268227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Calliphoridae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marL="0" lvl="0" indent="0" algn="ctr">
              <a:buNone/>
            </a:pPr>
            <a:r>
              <a:rPr lang="en-US" b="1" i="1" dirty="0" err="1"/>
              <a:t>Auchmeromyia</a:t>
            </a:r>
            <a:r>
              <a:rPr lang="en-US" b="1" i="1" dirty="0"/>
              <a:t> </a:t>
            </a:r>
            <a:r>
              <a:rPr lang="en-US" b="1" i="1" dirty="0" err="1"/>
              <a:t>luteola</a:t>
            </a:r>
            <a:r>
              <a:rPr lang="en-US" b="1" dirty="0"/>
              <a:t> (The Congo Floor Maggot)</a:t>
            </a:r>
          </a:p>
          <a:p>
            <a:pPr lvl="0">
              <a:buFont typeface="Wingdings" pitchFamily="2" charset="2"/>
              <a:buChar char="Ø"/>
            </a:pPr>
            <a:r>
              <a:rPr lang="en-US" dirty="0"/>
              <a:t>This is a blood-sucking species found south of  the Sahara</a:t>
            </a:r>
          </a:p>
          <a:p>
            <a:pPr lvl="0">
              <a:buFont typeface="Wingdings" pitchFamily="2" charset="2"/>
              <a:buChar char="Ø"/>
            </a:pPr>
            <a:r>
              <a:rPr lang="en-US" dirty="0"/>
              <a:t>It is the only dipteral larva known to suck human blood</a:t>
            </a:r>
          </a:p>
          <a:p>
            <a:pPr lvl="0">
              <a:buFont typeface="Wingdings" pitchFamily="2" charset="2"/>
              <a:buChar char="Ø"/>
            </a:pPr>
            <a:r>
              <a:rPr lang="en-US" dirty="0"/>
              <a:t>Eggs are laid on floor mats, dry soil or crevices in huts; larvae are quite resistant to </a:t>
            </a:r>
            <a:r>
              <a:rPr lang="en-US" dirty="0" err="1"/>
              <a:t>dessication</a:t>
            </a:r>
            <a:endParaRPr lang="en-US" dirty="0"/>
          </a:p>
          <a:p>
            <a:pPr lvl="0">
              <a:buFont typeface="Wingdings" pitchFamily="2" charset="2"/>
              <a:buChar char="Ø"/>
            </a:pPr>
            <a:r>
              <a:rPr lang="en-US" dirty="0"/>
              <a:t>They feed like bed bugs, feeding takes 15-20 </a:t>
            </a:r>
            <a:r>
              <a:rPr lang="en-US" dirty="0" err="1"/>
              <a:t>mins</a:t>
            </a:r>
            <a:endParaRPr lang="en-US" dirty="0"/>
          </a:p>
          <a:p>
            <a:pPr lvl="0">
              <a:buFont typeface="Wingdings" pitchFamily="2" charset="2"/>
              <a:buChar char="Ø"/>
            </a:pPr>
            <a:r>
              <a:rPr lang="en-US" dirty="0"/>
              <a:t>Blood-sucking maggots of birds are known</a:t>
            </a:r>
          </a:p>
          <a:p>
            <a:endParaRPr lang="en-US" dirty="0"/>
          </a:p>
        </p:txBody>
      </p:sp>
    </p:spTree>
    <p:extLst>
      <p:ext uri="{BB962C8B-B14F-4D97-AF65-F5344CB8AC3E}">
        <p14:creationId xmlns:p14="http://schemas.microsoft.com/office/powerpoint/2010/main" val="35550063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Sarcophagidae</a:t>
            </a:r>
            <a:r>
              <a:rPr lang="en-US" b="1" dirty="0" smtClean="0"/>
              <a:t> (Flesh flies)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smtClean="0"/>
              <a:t>These </a:t>
            </a:r>
            <a:r>
              <a:rPr lang="en-US" dirty="0"/>
              <a:t>are ubiquitous and closely related to the </a:t>
            </a:r>
            <a:r>
              <a:rPr lang="en-US" dirty="0" err="1"/>
              <a:t>Calliphoridae</a:t>
            </a:r>
            <a:r>
              <a:rPr lang="en-US" dirty="0"/>
              <a:t> except that they are not metallic but have abdomen checkered gray and black</a:t>
            </a:r>
          </a:p>
          <a:p>
            <a:pPr lvl="0"/>
            <a:r>
              <a:rPr lang="en-US" dirty="0"/>
              <a:t>They often parasitize insects, snails and other invertebrates</a:t>
            </a:r>
          </a:p>
          <a:p>
            <a:pPr lvl="0"/>
            <a:r>
              <a:rPr lang="en-US" dirty="0"/>
              <a:t>Most are </a:t>
            </a:r>
            <a:r>
              <a:rPr lang="en-US" dirty="0" err="1"/>
              <a:t>larviparous</a:t>
            </a:r>
            <a:r>
              <a:rPr lang="en-US" dirty="0"/>
              <a:t> and normally breed in carrion, but females deposit larvae in open wounds</a:t>
            </a:r>
          </a:p>
          <a:p>
            <a:endParaRPr lang="en-US" dirty="0"/>
          </a:p>
        </p:txBody>
      </p:sp>
    </p:spTree>
    <p:extLst>
      <p:ext uri="{BB962C8B-B14F-4D97-AF65-F5344CB8AC3E}">
        <p14:creationId xmlns:p14="http://schemas.microsoft.com/office/powerpoint/2010/main" val="18348040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Sarcophagidae</a:t>
            </a:r>
            <a:r>
              <a:rPr lang="en-US" b="1" dirty="0" smtClean="0"/>
              <a:t> (Flesh flies)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smtClean="0"/>
              <a:t>The species </a:t>
            </a:r>
            <a:r>
              <a:rPr lang="en-US" b="1" i="1" dirty="0" err="1" smtClean="0"/>
              <a:t>Sarcophaga</a:t>
            </a:r>
            <a:r>
              <a:rPr lang="en-US" b="1" i="1" dirty="0" smtClean="0"/>
              <a:t> </a:t>
            </a:r>
            <a:r>
              <a:rPr lang="en-US" b="1" i="1" dirty="0" err="1" smtClean="0"/>
              <a:t>hemorrhoidalis</a:t>
            </a:r>
            <a:r>
              <a:rPr lang="en-US" dirty="0" smtClean="0"/>
              <a:t> is widespread in the northern hemisphere but also found in the tropics;</a:t>
            </a:r>
          </a:p>
          <a:p>
            <a:pPr lvl="0"/>
            <a:r>
              <a:rPr lang="en-US" dirty="0" smtClean="0"/>
              <a:t> it looks like a large house fly except that the tip of the male abdomen is red.</a:t>
            </a:r>
          </a:p>
          <a:p>
            <a:r>
              <a:rPr lang="en-US" b="1" i="1" dirty="0" err="1"/>
              <a:t>Wohlfartia</a:t>
            </a:r>
            <a:r>
              <a:rPr lang="en-US" b="1" i="1" dirty="0"/>
              <a:t> </a:t>
            </a:r>
            <a:r>
              <a:rPr lang="en-US" b="1" i="1" dirty="0" err="1"/>
              <a:t>magnifica</a:t>
            </a:r>
            <a:r>
              <a:rPr lang="en-US" dirty="0"/>
              <a:t> is another species that is a facultative parasite of mammals in warmer areas of the Palearctic region. </a:t>
            </a:r>
            <a:endParaRPr lang="en-US" dirty="0" smtClean="0"/>
          </a:p>
          <a:p>
            <a:r>
              <a:rPr lang="en-US" dirty="0" smtClean="0"/>
              <a:t>Fatal </a:t>
            </a:r>
            <a:r>
              <a:rPr lang="en-US" dirty="0"/>
              <a:t>human cases have been reported</a:t>
            </a:r>
            <a:r>
              <a:rPr lang="en-US" dirty="0" smtClean="0"/>
              <a:t>.</a:t>
            </a:r>
            <a:endParaRPr lang="en-US" dirty="0"/>
          </a:p>
        </p:txBody>
      </p:sp>
    </p:spTree>
    <p:extLst>
      <p:ext uri="{BB962C8B-B14F-4D97-AF65-F5344CB8AC3E}">
        <p14:creationId xmlns:p14="http://schemas.microsoft.com/office/powerpoint/2010/main" val="36451036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Sarcophagidae</a:t>
            </a:r>
            <a:r>
              <a:rPr lang="en-US" b="1" dirty="0" smtClean="0"/>
              <a:t> (Flesh flies)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b="1" i="1" dirty="0" smtClean="0"/>
              <a:t>W. vigil</a:t>
            </a:r>
            <a:r>
              <a:rPr lang="en-US" b="1" dirty="0" smtClean="0"/>
              <a:t> </a:t>
            </a:r>
            <a:r>
              <a:rPr lang="en-US" dirty="0" smtClean="0"/>
              <a:t>causes cutaneous </a:t>
            </a:r>
            <a:r>
              <a:rPr lang="en-US" dirty="0" err="1" smtClean="0"/>
              <a:t>furuncular</a:t>
            </a:r>
            <a:r>
              <a:rPr lang="en-US" dirty="0" smtClean="0"/>
              <a:t> </a:t>
            </a:r>
            <a:r>
              <a:rPr lang="en-US" dirty="0" err="1" smtClean="0"/>
              <a:t>myiasis</a:t>
            </a:r>
            <a:r>
              <a:rPr lang="en-US" dirty="0" smtClean="0"/>
              <a:t> in Canada and the northern U.S</a:t>
            </a:r>
          </a:p>
          <a:p>
            <a:pPr lvl="0"/>
            <a:r>
              <a:rPr lang="en-US" dirty="0"/>
              <a:t>Larvae are deposited on </a:t>
            </a:r>
            <a:r>
              <a:rPr lang="en-US" dirty="0" err="1"/>
              <a:t>urbroken</a:t>
            </a:r>
            <a:r>
              <a:rPr lang="en-US" dirty="0"/>
              <a:t> skin, and they quickly penetrate it.</a:t>
            </a:r>
          </a:p>
          <a:p>
            <a:pPr lvl="0"/>
            <a:r>
              <a:rPr lang="en-US" dirty="0"/>
              <a:t>Human infections usually occurs in infants left unattended to, outdoors, but sleeping adults have been infected indoors</a:t>
            </a:r>
          </a:p>
          <a:p>
            <a:pPr lvl="0"/>
            <a:r>
              <a:rPr lang="en-US" dirty="0"/>
              <a:t>Rodents, rabbits and carnivores are reservoir hosts</a:t>
            </a:r>
            <a:r>
              <a:rPr lang="en-US" dirty="0" smtClean="0"/>
              <a:t>.</a:t>
            </a:r>
          </a:p>
          <a:p>
            <a:endParaRPr lang="en-US" dirty="0"/>
          </a:p>
        </p:txBody>
      </p:sp>
    </p:spTree>
    <p:extLst>
      <p:ext uri="{BB962C8B-B14F-4D97-AF65-F5344CB8AC3E}">
        <p14:creationId xmlns:p14="http://schemas.microsoft.com/office/powerpoint/2010/main" val="40850435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Oestridae</a:t>
            </a:r>
            <a:r>
              <a:rPr lang="en-US" b="1" dirty="0" smtClean="0"/>
              <a:t> (Bot flies)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i="1" dirty="0" err="1" smtClean="0"/>
              <a:t>Dermatobia</a:t>
            </a:r>
            <a:r>
              <a:rPr lang="en-US" b="1" i="1" dirty="0" smtClean="0"/>
              <a:t> </a:t>
            </a:r>
            <a:r>
              <a:rPr lang="en-US" b="1" i="1" dirty="0"/>
              <a:t>species</a:t>
            </a:r>
            <a:r>
              <a:rPr lang="en-US" dirty="0"/>
              <a:t> is the human skin bot fly; it ranges from Mexico through most of S. America, being a forest-inhabiting fly</a:t>
            </a:r>
          </a:p>
          <a:p>
            <a:pPr lvl="0"/>
            <a:r>
              <a:rPr lang="en-US" dirty="0"/>
              <a:t>It develops in the skin of almost any warm blooded animal, including birds,</a:t>
            </a:r>
          </a:p>
          <a:p>
            <a:pPr lvl="0"/>
            <a:r>
              <a:rPr lang="en-US" dirty="0"/>
              <a:t>Unlike any other </a:t>
            </a:r>
            <a:r>
              <a:rPr lang="en-US" dirty="0" err="1"/>
              <a:t>myiasis</a:t>
            </a:r>
            <a:r>
              <a:rPr lang="en-US" dirty="0"/>
              <a:t>- causing fly, </a:t>
            </a:r>
            <a:r>
              <a:rPr lang="en-US" b="1" i="1" dirty="0"/>
              <a:t>D. </a:t>
            </a:r>
            <a:r>
              <a:rPr lang="en-US" b="1" i="1" dirty="0" err="1"/>
              <a:t>hominis</a:t>
            </a:r>
            <a:r>
              <a:rPr lang="en-US" b="1" dirty="0"/>
              <a:t> </a:t>
            </a:r>
            <a:r>
              <a:rPr lang="en-US" dirty="0"/>
              <a:t>does not lay its eggs directly on a </a:t>
            </a:r>
            <a:r>
              <a:rPr lang="en-US" dirty="0" smtClean="0"/>
              <a:t>host. </a:t>
            </a:r>
          </a:p>
          <a:p>
            <a:pPr lvl="0"/>
            <a:r>
              <a:rPr lang="en-US" dirty="0" smtClean="0"/>
              <a:t>Instead, it catches another insect, such as a mosquito and glues its eggs on the side of it, with the operculated anterior end hanging down. </a:t>
            </a:r>
          </a:p>
        </p:txBody>
      </p:sp>
    </p:spTree>
    <p:extLst>
      <p:ext uri="{BB962C8B-B14F-4D97-AF65-F5344CB8AC3E}">
        <p14:creationId xmlns:p14="http://schemas.microsoft.com/office/powerpoint/2010/main" val="14866462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Oestridae</a:t>
            </a:r>
            <a:r>
              <a:rPr lang="en-US" b="1" dirty="0" smtClean="0"/>
              <a:t> (Bot flies)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At least 18 species of flies and one specie of tick are carriers, it is reported</a:t>
            </a:r>
          </a:p>
          <a:p>
            <a:r>
              <a:rPr lang="en-US" dirty="0"/>
              <a:t>When a carrier insect lands on warm skin, the eggs hatch immediately, and larvae drop onto the new host, penetrating its unbroken </a:t>
            </a:r>
            <a:r>
              <a:rPr lang="en-US" dirty="0" smtClean="0"/>
              <a:t>skin</a:t>
            </a:r>
          </a:p>
          <a:p>
            <a:r>
              <a:rPr lang="en-US" dirty="0" smtClean="0"/>
              <a:t>and </a:t>
            </a:r>
            <a:r>
              <a:rPr lang="en-US" dirty="0"/>
              <a:t>boring into the dermis and for several weeks develops; pupation is in the soil.</a:t>
            </a:r>
          </a:p>
          <a:p>
            <a:pPr marL="0" indent="0">
              <a:buNone/>
            </a:pPr>
            <a:endParaRPr lang="en-US" dirty="0" smtClean="0"/>
          </a:p>
          <a:p>
            <a:endParaRPr lang="en-US" dirty="0"/>
          </a:p>
        </p:txBody>
      </p:sp>
    </p:spTree>
    <p:extLst>
      <p:ext uri="{BB962C8B-B14F-4D97-AF65-F5344CB8AC3E}">
        <p14:creationId xmlns:p14="http://schemas.microsoft.com/office/powerpoint/2010/main" val="41812247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Oestridae</a:t>
            </a:r>
            <a:r>
              <a:rPr lang="en-US" b="1" dirty="0" smtClean="0"/>
              <a:t> (Bot flies)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The fly commonly parasitizes humans, causing painful lesions, allergic reactions and painful swellings.</a:t>
            </a:r>
          </a:p>
          <a:p>
            <a:endParaRPr lang="en-US" dirty="0"/>
          </a:p>
        </p:txBody>
      </p:sp>
    </p:spTree>
    <p:extLst>
      <p:ext uri="{BB962C8B-B14F-4D97-AF65-F5344CB8AC3E}">
        <p14:creationId xmlns:p14="http://schemas.microsoft.com/office/powerpoint/2010/main" val="36202153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Fannidae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lvl="0"/>
            <a:r>
              <a:rPr lang="en-US" dirty="0" smtClean="0"/>
              <a:t>This </a:t>
            </a:r>
            <a:r>
              <a:rPr lang="en-US" dirty="0"/>
              <a:t>contains over 260 species, majority being of the genus </a:t>
            </a:r>
            <a:r>
              <a:rPr lang="en-US" dirty="0" err="1"/>
              <a:t>Fannia</a:t>
            </a:r>
            <a:r>
              <a:rPr lang="en-US" dirty="0"/>
              <a:t>. </a:t>
            </a:r>
          </a:p>
          <a:p>
            <a:r>
              <a:rPr lang="en-US" b="1" i="1" dirty="0"/>
              <a:t>The species F. </a:t>
            </a:r>
            <a:r>
              <a:rPr lang="en-US" b="1" i="1" dirty="0" err="1"/>
              <a:t>canicularis</a:t>
            </a:r>
            <a:r>
              <a:rPr lang="en-US" b="1" i="1" dirty="0"/>
              <a:t> </a:t>
            </a:r>
            <a:r>
              <a:rPr lang="en-US" b="1" dirty="0"/>
              <a:t>is the lesser house fly</a:t>
            </a:r>
            <a:r>
              <a:rPr lang="en-US" b="1" i="1" dirty="0"/>
              <a:t>, </a:t>
            </a:r>
            <a:r>
              <a:rPr lang="en-US" dirty="0"/>
              <a:t>and resembles</a:t>
            </a:r>
            <a:r>
              <a:rPr lang="en-US" b="1" i="1" dirty="0"/>
              <a:t> </a:t>
            </a:r>
            <a:r>
              <a:rPr lang="en-US" b="1" i="1" dirty="0" err="1"/>
              <a:t>Musca</a:t>
            </a:r>
            <a:r>
              <a:rPr lang="en-US" b="1" i="1" dirty="0"/>
              <a:t> </a:t>
            </a:r>
            <a:r>
              <a:rPr lang="en-US" b="1" i="1" dirty="0" err="1"/>
              <a:t>domestica</a:t>
            </a:r>
            <a:r>
              <a:rPr lang="en-US" b="1" i="1" dirty="0"/>
              <a:t>,</a:t>
            </a:r>
            <a:r>
              <a:rPr lang="en-US" dirty="0"/>
              <a:t> except it is smaller and more slender, </a:t>
            </a:r>
            <a:endParaRPr lang="en-US" dirty="0" smtClean="0"/>
          </a:p>
          <a:p>
            <a:r>
              <a:rPr lang="en-US" dirty="0" smtClean="0"/>
              <a:t>and </a:t>
            </a:r>
            <a:r>
              <a:rPr lang="en-US" dirty="0"/>
              <a:t>dark; it has only three brown longitudinal stripes on the thorax, instead of four as in </a:t>
            </a:r>
            <a:r>
              <a:rPr lang="en-US" b="1" i="1" dirty="0"/>
              <a:t>M. </a:t>
            </a:r>
            <a:r>
              <a:rPr lang="en-US" b="1" i="1" dirty="0" err="1"/>
              <a:t>domestica</a:t>
            </a:r>
            <a:r>
              <a:rPr lang="en-US" b="1" dirty="0"/>
              <a:t>.</a:t>
            </a:r>
          </a:p>
          <a:p>
            <a:pPr lvl="0"/>
            <a:r>
              <a:rPr lang="en-US" dirty="0"/>
              <a:t>Its biology parallels that of the common house fly</a:t>
            </a:r>
          </a:p>
          <a:p>
            <a:endParaRPr lang="en-US" dirty="0"/>
          </a:p>
        </p:txBody>
      </p:sp>
    </p:spTree>
    <p:extLst>
      <p:ext uri="{BB962C8B-B14F-4D97-AF65-F5344CB8AC3E}">
        <p14:creationId xmlns:p14="http://schemas.microsoft.com/office/powerpoint/2010/main" val="7847421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Fannidae</a:t>
            </a:r>
            <a:r>
              <a:rPr lang="en-US" b="1" dirty="0" smtClean="0"/>
              <a:t>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It may enter houses freely, but is not particularly attracted to food as is </a:t>
            </a:r>
            <a:r>
              <a:rPr lang="en-US" i="1" dirty="0"/>
              <a:t>M. </a:t>
            </a:r>
            <a:r>
              <a:rPr lang="en-US" i="1" dirty="0" err="1"/>
              <a:t>domestica</a:t>
            </a:r>
            <a:r>
              <a:rPr lang="en-US" dirty="0"/>
              <a:t>, hence not a serious vector of pathogens of humans or other animals</a:t>
            </a:r>
          </a:p>
          <a:p>
            <a:pPr lvl="0"/>
            <a:r>
              <a:rPr lang="en-US" dirty="0"/>
              <a:t>The species, </a:t>
            </a:r>
            <a:r>
              <a:rPr lang="en-US" b="1" i="1" dirty="0"/>
              <a:t>F. </a:t>
            </a:r>
            <a:r>
              <a:rPr lang="en-US" b="1" i="1" dirty="0" err="1"/>
              <a:t>scalaris</a:t>
            </a:r>
            <a:r>
              <a:rPr lang="en-US" dirty="0"/>
              <a:t> </a:t>
            </a:r>
            <a:r>
              <a:rPr lang="en-US" b="1" dirty="0"/>
              <a:t>is the Latrine fly</a:t>
            </a:r>
            <a:r>
              <a:rPr lang="en-US" dirty="0"/>
              <a:t>; it breeds in fresh dung, particularly that of </a:t>
            </a:r>
            <a:r>
              <a:rPr lang="en-US" dirty="0" err="1"/>
              <a:t>swines</a:t>
            </a:r>
            <a:r>
              <a:rPr lang="en-US" dirty="0"/>
              <a:t>; it seldom enters houses.</a:t>
            </a:r>
          </a:p>
          <a:p>
            <a:pPr lvl="0"/>
            <a:r>
              <a:rPr lang="en-US" dirty="0"/>
              <a:t>Both species cause accidental </a:t>
            </a:r>
            <a:r>
              <a:rPr lang="en-US" dirty="0" err="1"/>
              <a:t>myiasis</a:t>
            </a:r>
            <a:r>
              <a:rPr lang="en-US" dirty="0"/>
              <a:t> of the rectum of humans</a:t>
            </a:r>
            <a:r>
              <a:rPr lang="en-US" dirty="0" smtClean="0"/>
              <a:t>;</a:t>
            </a:r>
          </a:p>
          <a:p>
            <a:pPr lvl="0"/>
            <a:r>
              <a:rPr lang="en-US" dirty="0" smtClean="0"/>
              <a:t> </a:t>
            </a:r>
            <a:r>
              <a:rPr lang="en-US" dirty="0"/>
              <a:t>it is presumed they lay eggs on the anus and larvae crawl into the rectum and develop there.</a:t>
            </a:r>
          </a:p>
          <a:p>
            <a:endParaRPr lang="en-US" dirty="0"/>
          </a:p>
        </p:txBody>
      </p:sp>
    </p:spTree>
    <p:extLst>
      <p:ext uri="{BB962C8B-B14F-4D97-AF65-F5344CB8AC3E}">
        <p14:creationId xmlns:p14="http://schemas.microsoft.com/office/powerpoint/2010/main" val="197662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4234</Words>
  <Application>Microsoft Office PowerPoint</Application>
  <PresentationFormat>On-screen Show (4:3)</PresentationFormat>
  <Paragraphs>360</Paragraphs>
  <Slides>86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Arial</vt:lpstr>
      <vt:lpstr>Calibri</vt:lpstr>
      <vt:lpstr>Wingdings</vt:lpstr>
      <vt:lpstr>Office Theme</vt:lpstr>
      <vt:lpstr>PARASITOLOGY (BIOL 460)</vt:lpstr>
      <vt:lpstr> PARASITIC INSECTS - THE DIPTERA (FLIES) </vt:lpstr>
      <vt:lpstr> PARASITIC INSECTS - THE DIPTERA (FLIES) CONT’D </vt:lpstr>
      <vt:lpstr> PARASITIC INSECTS - THE DIPTERA (FLIES) CONT’D </vt:lpstr>
      <vt:lpstr> PARASITIC INSECTS - THE DIPTERA (FLIES) CONT’D </vt:lpstr>
      <vt:lpstr> Family Culicidae (Mosquitoes) </vt:lpstr>
      <vt:lpstr>PowerPoint Presentation</vt:lpstr>
      <vt:lpstr> Family Culicidae (Mosquitoes) Cont’d </vt:lpstr>
      <vt:lpstr> Anopheles species </vt:lpstr>
      <vt:lpstr>PowerPoint Presentation</vt:lpstr>
      <vt:lpstr> Anopheles species cont’d </vt:lpstr>
      <vt:lpstr> Culicine species </vt:lpstr>
      <vt:lpstr> Culicine species cont’d </vt:lpstr>
      <vt:lpstr> Culicine species cont’d </vt:lpstr>
      <vt:lpstr> Culicine species cont’d </vt:lpstr>
      <vt:lpstr> Culicine species cont’d </vt:lpstr>
      <vt:lpstr> Culicine species cont’d </vt:lpstr>
      <vt:lpstr> Family Psychodidae </vt:lpstr>
      <vt:lpstr> Sandflies (Phlebotomine flies) </vt:lpstr>
      <vt:lpstr> Sandflies (Phlebotomine flies) cont’d </vt:lpstr>
      <vt:lpstr> Sandflies (Phlebotomine flies) cont’d </vt:lpstr>
      <vt:lpstr> Sandflies (Phlebotomine flies) cont’d </vt:lpstr>
      <vt:lpstr> Sandflies (Phlebotomine flies) cont’d </vt:lpstr>
      <vt:lpstr> Family Simuliidae </vt:lpstr>
      <vt:lpstr>PowerPoint Presentation</vt:lpstr>
      <vt:lpstr> Family Simuliidae cont’d </vt:lpstr>
      <vt:lpstr> Family Simuliidae cont’d </vt:lpstr>
      <vt:lpstr> Family Simuliidae cont’d </vt:lpstr>
      <vt:lpstr> Family Simuliidae cont’d </vt:lpstr>
      <vt:lpstr> Family Simuliidae cont’d </vt:lpstr>
      <vt:lpstr> Family Ceratopogonidae </vt:lpstr>
      <vt:lpstr> Family Ceratopogonidae cont’d </vt:lpstr>
      <vt:lpstr> Family Ceratopogonidae cont’d </vt:lpstr>
      <vt:lpstr> Family Ceratopogonidae cont’d </vt:lpstr>
      <vt:lpstr> Family Tabanidae </vt:lpstr>
      <vt:lpstr> Family Tabanidae cont’d </vt:lpstr>
      <vt:lpstr> Family Tabanidae cont’d </vt:lpstr>
      <vt:lpstr> Family Tabanidae cont’d </vt:lpstr>
      <vt:lpstr> Family Tabanidae cont’d </vt:lpstr>
      <vt:lpstr>PowerPoint Presentation</vt:lpstr>
      <vt:lpstr> Family Tabanidae cont’d </vt:lpstr>
      <vt:lpstr> Family Tabanidae cont’d </vt:lpstr>
      <vt:lpstr> Family Tabanidae cont’d </vt:lpstr>
      <vt:lpstr> Family Tabanidae cont’d </vt:lpstr>
      <vt:lpstr> Family Tabanidae cont’d </vt:lpstr>
      <vt:lpstr> Family Glossinidae </vt:lpstr>
      <vt:lpstr> Family Glossinidae cont’d </vt:lpstr>
      <vt:lpstr> Family Glossinidae cont’d </vt:lpstr>
      <vt:lpstr> Family Glossinidae cont’d </vt:lpstr>
      <vt:lpstr> Family Glossinidae cont’d </vt:lpstr>
      <vt:lpstr> Family Glossinidae cont’d </vt:lpstr>
      <vt:lpstr> Family Glossinidae cont’d </vt:lpstr>
      <vt:lpstr> Family Muscidae </vt:lpstr>
      <vt:lpstr> Family Glossinidae cont’d </vt:lpstr>
      <vt:lpstr> Family Glossinidae cont’d </vt:lpstr>
      <vt:lpstr> Family Glossinidae cont’d </vt:lpstr>
      <vt:lpstr> Family Glossinidae cont’d </vt:lpstr>
      <vt:lpstr> Family Glossinidae cont’d </vt:lpstr>
      <vt:lpstr> Stomoxys calcitrans (the Stable fly) </vt:lpstr>
      <vt:lpstr> Stomoxys calcitrans (the Stable fly) </vt:lpstr>
      <vt:lpstr> Stomoxys calcitrans (the Stable fly) </vt:lpstr>
      <vt:lpstr> Stomoxys calcitrans (the Stable fly) </vt:lpstr>
      <vt:lpstr> Stomoxys calcitrans (the Stable fly) </vt:lpstr>
      <vt:lpstr>Haematobia species (Horn flies)</vt:lpstr>
      <vt:lpstr> Myiasis </vt:lpstr>
      <vt:lpstr> Myiasis cont’d </vt:lpstr>
      <vt:lpstr> Myiasis cont’d </vt:lpstr>
      <vt:lpstr> Family Calliphoridae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Sarcophagidae (Flesh flies) </vt:lpstr>
      <vt:lpstr> Family Sarcophagidae (Flesh flies) cont’d </vt:lpstr>
      <vt:lpstr> Family Sarcophagidae (Flesh flies) cont’d </vt:lpstr>
      <vt:lpstr> Family Oestridae (Bot flies) </vt:lpstr>
      <vt:lpstr> Family Oestridae (Bot flies) cont’d </vt:lpstr>
      <vt:lpstr> Family Oestridae (Bot flies) cont’d </vt:lpstr>
      <vt:lpstr> Family Fannidae </vt:lpstr>
      <vt:lpstr> Family Fannidae cont’d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PARASITOLOGY (BIOL 460)</dc:title>
  <dc:creator>PROFESSOR LAWSON</dc:creator>
  <cp:lastModifiedBy>VALS</cp:lastModifiedBy>
  <cp:revision>12</cp:revision>
  <dcterms:created xsi:type="dcterms:W3CDTF">2018-04-03T10:36:35Z</dcterms:created>
  <dcterms:modified xsi:type="dcterms:W3CDTF">2019-04-23T17:37:21Z</dcterms:modified>
</cp:coreProperties>
</file>