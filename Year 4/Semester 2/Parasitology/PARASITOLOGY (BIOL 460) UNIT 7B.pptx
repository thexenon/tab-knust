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86" r:id="rId3"/>
    <p:sldId id="257" r:id="rId4"/>
    <p:sldId id="258" r:id="rId5"/>
    <p:sldId id="259" r:id="rId6"/>
    <p:sldId id="387"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89" r:id="rId74"/>
    <p:sldId id="390" r:id="rId75"/>
    <p:sldId id="391" r:id="rId76"/>
    <p:sldId id="392" r:id="rId77"/>
    <p:sldId id="393" r:id="rId78"/>
    <p:sldId id="395" r:id="rId79"/>
    <p:sldId id="396" r:id="rId80"/>
    <p:sldId id="394" r:id="rId81"/>
    <p:sldId id="397" r:id="rId82"/>
    <p:sldId id="398" r:id="rId83"/>
    <p:sldId id="399" r:id="rId84"/>
    <p:sldId id="401" r:id="rId85"/>
    <p:sldId id="402" r:id="rId86"/>
    <p:sldId id="403" r:id="rId87"/>
    <p:sldId id="407" r:id="rId88"/>
    <p:sldId id="408" r:id="rId89"/>
    <p:sldId id="404" r:id="rId90"/>
    <p:sldId id="405" r:id="rId91"/>
    <p:sldId id="409" r:id="rId92"/>
    <p:sldId id="410" r:id="rId93"/>
    <p:sldId id="406" r:id="rId94"/>
    <p:sldId id="327" r:id="rId95"/>
    <p:sldId id="328" r:id="rId96"/>
    <p:sldId id="329" r:id="rId97"/>
    <p:sldId id="330" r:id="rId98"/>
    <p:sldId id="331" r:id="rId99"/>
    <p:sldId id="332" r:id="rId100"/>
    <p:sldId id="333" r:id="rId101"/>
    <p:sldId id="334" r:id="rId102"/>
    <p:sldId id="335" r:id="rId103"/>
    <p:sldId id="336" r:id="rId104"/>
    <p:sldId id="342" r:id="rId105"/>
    <p:sldId id="337" r:id="rId106"/>
    <p:sldId id="338" r:id="rId107"/>
    <p:sldId id="343" r:id="rId108"/>
    <p:sldId id="344" r:id="rId109"/>
    <p:sldId id="339" r:id="rId110"/>
    <p:sldId id="340" r:id="rId111"/>
    <p:sldId id="341" r:id="rId112"/>
    <p:sldId id="345" r:id="rId113"/>
    <p:sldId id="346" r:id="rId114"/>
    <p:sldId id="347" r:id="rId115"/>
    <p:sldId id="348" r:id="rId116"/>
    <p:sldId id="354" r:id="rId117"/>
    <p:sldId id="349" r:id="rId118"/>
    <p:sldId id="350" r:id="rId119"/>
    <p:sldId id="351" r:id="rId120"/>
    <p:sldId id="352" r:id="rId121"/>
    <p:sldId id="353" r:id="rId122"/>
    <p:sldId id="355" r:id="rId123"/>
    <p:sldId id="356" r:id="rId124"/>
    <p:sldId id="357" r:id="rId125"/>
    <p:sldId id="358" r:id="rId126"/>
    <p:sldId id="359" r:id="rId127"/>
    <p:sldId id="360" r:id="rId128"/>
    <p:sldId id="361" r:id="rId129"/>
    <p:sldId id="362" r:id="rId130"/>
    <p:sldId id="363" r:id="rId131"/>
    <p:sldId id="364" r:id="rId132"/>
    <p:sldId id="388" r:id="rId133"/>
    <p:sldId id="368" r:id="rId134"/>
    <p:sldId id="365" r:id="rId135"/>
    <p:sldId id="370" r:id="rId136"/>
    <p:sldId id="367" r:id="rId137"/>
    <p:sldId id="371" r:id="rId138"/>
    <p:sldId id="372" r:id="rId139"/>
    <p:sldId id="373" r:id="rId140"/>
    <p:sldId id="374" r:id="rId141"/>
    <p:sldId id="375" r:id="rId142"/>
    <p:sldId id="376" r:id="rId143"/>
    <p:sldId id="377" r:id="rId144"/>
    <p:sldId id="378" r:id="rId1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2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C76E227-870C-45A2-A88F-3A072EDAA600}"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1740540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6E227-870C-45A2-A88F-3A072EDAA600}"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407539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76E227-870C-45A2-A88F-3A072EDAA600}"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159560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C76E227-870C-45A2-A88F-3A072EDAA600}"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1088596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C76E227-870C-45A2-A88F-3A072EDAA600}" type="datetimeFigureOut">
              <a:rPr lang="en-US" smtClean="0"/>
              <a:t>4/11/2018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1786357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C76E227-870C-45A2-A88F-3A072EDAA600}" type="datetimeFigureOut">
              <a:rPr lang="en-US" smtClean="0"/>
              <a:t>4/11/2018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1142282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76E227-870C-45A2-A88F-3A072EDAA600}" type="datetimeFigureOut">
              <a:rPr lang="en-US" smtClean="0"/>
              <a:t>4/11/2018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2299696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76E227-870C-45A2-A88F-3A072EDAA600}"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14365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76E227-870C-45A2-A88F-3A072EDAA600}"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1456655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6E227-870C-45A2-A88F-3A072EDAA600}"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35444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6E227-870C-45A2-A88F-3A072EDAA600}"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1E333-5FAE-43A9-AAB2-1BEABF6F20B4}" type="slidenum">
              <a:rPr lang="en-US" smtClean="0"/>
              <a:t>‹#›</a:t>
            </a:fld>
            <a:endParaRPr lang="en-US"/>
          </a:p>
        </p:txBody>
      </p:sp>
    </p:spTree>
    <p:extLst>
      <p:ext uri="{BB962C8B-B14F-4D97-AF65-F5344CB8AC3E}">
        <p14:creationId xmlns:p14="http://schemas.microsoft.com/office/powerpoint/2010/main" val="1866205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76E227-870C-45A2-A88F-3A072EDAA600}" type="datetimeFigureOut">
              <a:rPr lang="en-US" smtClean="0"/>
              <a:t>4/11/2018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B1E333-5FAE-43A9-AAB2-1BEABF6F20B4}" type="slidenum">
              <a:rPr lang="en-US" smtClean="0"/>
              <a:t>‹#›</a:t>
            </a:fld>
            <a:endParaRPr lang="en-US"/>
          </a:p>
        </p:txBody>
      </p:sp>
    </p:spTree>
    <p:extLst>
      <p:ext uri="{BB962C8B-B14F-4D97-AF65-F5344CB8AC3E}">
        <p14:creationId xmlns:p14="http://schemas.microsoft.com/office/powerpoint/2010/main" val="3229399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PARASITOLOGY (BIOL 460)</a:t>
            </a:r>
            <a:endParaRPr lang="en-US" dirty="0"/>
          </a:p>
        </p:txBody>
      </p:sp>
      <p:sp>
        <p:nvSpPr>
          <p:cNvPr id="3" name="Subtitle 2"/>
          <p:cNvSpPr>
            <a:spLocks noGrp="1"/>
          </p:cNvSpPr>
          <p:nvPr>
            <p:ph type="subTitle" idx="1"/>
          </p:nvPr>
        </p:nvSpPr>
        <p:spPr/>
        <p:txBody>
          <a:bodyPr/>
          <a:lstStyle/>
          <a:p>
            <a:r>
              <a:rPr lang="en-US" dirty="0" smtClean="0"/>
              <a:t>UNIT 7B</a:t>
            </a:r>
          </a:p>
          <a:p>
            <a:r>
              <a:rPr lang="en-US" dirty="0" smtClean="0"/>
              <a:t>BLOOD AND TISSUE NEMATODES</a:t>
            </a:r>
            <a:endParaRPr lang="en-US" dirty="0"/>
          </a:p>
        </p:txBody>
      </p:sp>
    </p:spTree>
    <p:extLst>
      <p:ext uri="{BB962C8B-B14F-4D97-AF65-F5344CB8AC3E}">
        <p14:creationId xmlns:p14="http://schemas.microsoft.com/office/powerpoint/2010/main" val="1258156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28600"/>
            <a:ext cx="8153400" cy="5638800"/>
          </a:xfrm>
        </p:spPr>
      </p:pic>
    </p:spTree>
    <p:extLst>
      <p:ext uri="{BB962C8B-B14F-4D97-AF65-F5344CB8AC3E}">
        <p14:creationId xmlns:p14="http://schemas.microsoft.com/office/powerpoint/2010/main" val="292138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Blood and Tissue Nematodes</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GB" dirty="0" smtClean="0"/>
              <a:t>Generally </a:t>
            </a:r>
            <a:r>
              <a:rPr lang="en-GB" dirty="0"/>
              <a:t>the transmission of these nematodes is through the bite of an insect, usually a mosquito or some kind of fly; </a:t>
            </a:r>
            <a:endParaRPr lang="en-GB" dirty="0" smtClean="0"/>
          </a:p>
          <a:p>
            <a:pPr>
              <a:buFont typeface="Wingdings" pitchFamily="2" charset="2"/>
              <a:buChar char="v"/>
            </a:pPr>
            <a:r>
              <a:rPr lang="en-GB" dirty="0" smtClean="0"/>
              <a:t>or </a:t>
            </a:r>
            <a:r>
              <a:rPr lang="en-GB" dirty="0"/>
              <a:t>by ingestion of a crustacean, e.g. Cyclops in infested water, or the ingestion of encysted larvae in raw or undercooked meat of infected animals (mammals) such as wild pig, warthog or bear.</a:t>
            </a:r>
            <a:endParaRPr lang="en-US" dirty="0"/>
          </a:p>
          <a:p>
            <a:endParaRPr lang="en-US" dirty="0"/>
          </a:p>
        </p:txBody>
      </p:sp>
    </p:spTree>
    <p:extLst>
      <p:ext uri="{BB962C8B-B14F-4D97-AF65-F5344CB8AC3E}">
        <p14:creationId xmlns:p14="http://schemas.microsoft.com/office/powerpoint/2010/main" val="2211906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Blood and Tissue Nematodes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lgn="just">
              <a:lnSpc>
                <a:spcPct val="115000"/>
              </a:lnSpc>
              <a:spcBef>
                <a:spcPts val="0"/>
              </a:spcBef>
              <a:buFont typeface="Wingdings" pitchFamily="2" charset="2"/>
              <a:buChar char="v"/>
            </a:pPr>
            <a:r>
              <a:rPr lang="en-GB" dirty="0" smtClean="0">
                <a:effectLst/>
                <a:latin typeface="Times New Roman"/>
                <a:ea typeface="Calibri"/>
                <a:cs typeface="Times New Roman"/>
              </a:rPr>
              <a:t>This group includes the following:</a:t>
            </a:r>
            <a:endParaRPr lang="en-US" dirty="0" smtClean="0">
              <a:effectLst/>
              <a:latin typeface="Times New Roman"/>
              <a:ea typeface="Calibri"/>
              <a:cs typeface="Times New Roman"/>
            </a:endParaRPr>
          </a:p>
          <a:p>
            <a:pPr lvl="0" algn="just">
              <a:lnSpc>
                <a:spcPct val="115000"/>
              </a:lnSpc>
              <a:spcBef>
                <a:spcPts val="0"/>
              </a:spcBef>
              <a:buFont typeface="+mj-lt"/>
              <a:buAutoNum type="alphaLcPeriod"/>
            </a:pPr>
            <a:r>
              <a:rPr lang="en-GB" dirty="0" smtClean="0">
                <a:effectLst/>
                <a:latin typeface="Times New Roman"/>
                <a:ea typeface="Calibri"/>
                <a:cs typeface="Times New Roman"/>
              </a:rPr>
              <a:t>Of major medical importance:</a:t>
            </a:r>
            <a:endParaRPr lang="en-US" dirty="0" smtClean="0">
              <a:effectLst/>
              <a:latin typeface="Times New Roman"/>
              <a:ea typeface="Calibri"/>
              <a:cs typeface="Times New Roman"/>
            </a:endParaRPr>
          </a:p>
          <a:p>
            <a:pPr marL="571500" marR="0" indent="-457200" algn="just">
              <a:lnSpc>
                <a:spcPct val="115000"/>
              </a:lnSpc>
              <a:spcBef>
                <a:spcPts val="0"/>
              </a:spcBef>
              <a:spcAft>
                <a:spcPts val="0"/>
              </a:spcAft>
              <a:buFont typeface="Wingdings" pitchFamily="2" charset="2"/>
              <a:buChar char="v"/>
            </a:pPr>
            <a:r>
              <a:rPr lang="en-GB" dirty="0" err="1" smtClean="0">
                <a:effectLst/>
                <a:latin typeface="Times New Roman"/>
                <a:ea typeface="Calibri"/>
                <a:cs typeface="Times New Roman"/>
              </a:rPr>
              <a:t>Wuchereria</a:t>
            </a:r>
            <a:endParaRPr lang="en-US" dirty="0" smtClean="0">
              <a:effectLst/>
              <a:latin typeface="Times New Roman"/>
              <a:ea typeface="Calibri"/>
              <a:cs typeface="Times New Roman"/>
            </a:endParaRPr>
          </a:p>
          <a:p>
            <a:pPr marL="571500" marR="0" indent="-457200" algn="just">
              <a:lnSpc>
                <a:spcPct val="115000"/>
              </a:lnSpc>
              <a:spcBef>
                <a:spcPts val="0"/>
              </a:spcBef>
              <a:spcAft>
                <a:spcPts val="0"/>
              </a:spcAft>
              <a:buFont typeface="Wingdings" pitchFamily="2" charset="2"/>
              <a:buChar char="v"/>
            </a:pPr>
            <a:r>
              <a:rPr lang="en-GB" dirty="0" err="1" smtClean="0">
                <a:effectLst/>
              </a:rPr>
              <a:t>Brugia</a:t>
            </a:r>
            <a:r>
              <a:rPr lang="en-GB" dirty="0" smtClean="0">
                <a:effectLst/>
              </a:rPr>
              <a:t> </a:t>
            </a:r>
          </a:p>
          <a:p>
            <a:pPr marL="571500" marR="0" indent="-457200" algn="just">
              <a:lnSpc>
                <a:spcPct val="115000"/>
              </a:lnSpc>
              <a:spcBef>
                <a:spcPts val="0"/>
              </a:spcBef>
              <a:spcAft>
                <a:spcPts val="0"/>
              </a:spcAft>
              <a:buFont typeface="Wingdings" pitchFamily="2" charset="2"/>
              <a:buChar char="v"/>
            </a:pPr>
            <a:r>
              <a:rPr lang="en-GB" dirty="0" smtClean="0">
                <a:effectLst/>
                <a:latin typeface="Times New Roman"/>
                <a:ea typeface="Calibri"/>
                <a:cs typeface="Times New Roman"/>
              </a:rPr>
              <a:t>Loa </a:t>
            </a:r>
            <a:r>
              <a:rPr lang="en-GB" dirty="0" err="1" smtClean="0">
                <a:effectLst/>
                <a:latin typeface="Times New Roman"/>
                <a:ea typeface="Calibri"/>
                <a:cs typeface="Times New Roman"/>
              </a:rPr>
              <a:t>loa</a:t>
            </a:r>
            <a:r>
              <a:rPr lang="en-GB" dirty="0" smtClean="0">
                <a:effectLst/>
                <a:latin typeface="Times New Roman"/>
                <a:ea typeface="Calibri"/>
                <a:cs typeface="Times New Roman"/>
              </a:rPr>
              <a:t>                Family </a:t>
            </a:r>
            <a:r>
              <a:rPr lang="en-GB" dirty="0" err="1" smtClean="0">
                <a:effectLst/>
                <a:latin typeface="Times New Roman"/>
                <a:ea typeface="Calibri"/>
                <a:cs typeface="Times New Roman"/>
              </a:rPr>
              <a:t>Filarioidea</a:t>
            </a:r>
            <a:endParaRPr lang="en-US" dirty="0" smtClean="0">
              <a:effectLst/>
              <a:latin typeface="Times New Roman"/>
              <a:ea typeface="Calibri"/>
              <a:cs typeface="Times New Roman"/>
            </a:endParaRPr>
          </a:p>
          <a:p>
            <a:pPr marL="571500" marR="0" indent="-457200" algn="just">
              <a:lnSpc>
                <a:spcPct val="115000"/>
              </a:lnSpc>
              <a:spcBef>
                <a:spcPts val="0"/>
              </a:spcBef>
              <a:spcAft>
                <a:spcPts val="0"/>
              </a:spcAft>
              <a:buFont typeface="Wingdings" pitchFamily="2" charset="2"/>
              <a:buChar char="v"/>
            </a:pPr>
            <a:r>
              <a:rPr lang="en-GB" dirty="0" err="1" smtClean="0">
                <a:effectLst/>
                <a:latin typeface="Times New Roman"/>
                <a:ea typeface="Calibri"/>
                <a:cs typeface="Times New Roman"/>
              </a:rPr>
              <a:t>Onchocerca</a:t>
            </a:r>
            <a:endParaRPr lang="en-US" dirty="0" smtClean="0">
              <a:effectLst/>
              <a:latin typeface="Times New Roman"/>
              <a:ea typeface="Calibri"/>
              <a:cs typeface="Times New Roman"/>
            </a:endParaRPr>
          </a:p>
          <a:p>
            <a:pPr marL="571500" marR="0" indent="-457200" algn="just">
              <a:lnSpc>
                <a:spcPct val="115000"/>
              </a:lnSpc>
              <a:spcBef>
                <a:spcPts val="0"/>
              </a:spcBef>
              <a:spcAft>
                <a:spcPts val="0"/>
              </a:spcAft>
              <a:buFont typeface="Wingdings" pitchFamily="2" charset="2"/>
              <a:buChar char="v"/>
            </a:pPr>
            <a:r>
              <a:rPr lang="en-GB" dirty="0" err="1" smtClean="0">
                <a:effectLst/>
                <a:latin typeface="Times New Roman"/>
                <a:ea typeface="Calibri"/>
                <a:cs typeface="Times New Roman"/>
              </a:rPr>
              <a:t>Dracunculus</a:t>
            </a:r>
            <a:r>
              <a:rPr lang="en-GB" dirty="0" smtClean="0">
                <a:effectLst/>
                <a:latin typeface="Times New Roman"/>
                <a:ea typeface="Calibri"/>
                <a:cs typeface="Times New Roman"/>
              </a:rPr>
              <a:t>	   -    Family </a:t>
            </a:r>
            <a:r>
              <a:rPr lang="en-GB" dirty="0" err="1" smtClean="0">
                <a:effectLst/>
                <a:latin typeface="Times New Roman"/>
                <a:ea typeface="Calibri"/>
                <a:cs typeface="Times New Roman"/>
              </a:rPr>
              <a:t>Dracunculoidea</a:t>
            </a:r>
            <a:endParaRPr lang="en-US" dirty="0" smtClean="0">
              <a:effectLst/>
              <a:latin typeface="Times New Roman"/>
              <a:ea typeface="Calibri"/>
              <a:cs typeface="Times New Roman"/>
            </a:endParaRPr>
          </a:p>
          <a:p>
            <a:pPr marL="571500" marR="0" indent="-457200" algn="just">
              <a:lnSpc>
                <a:spcPct val="115000"/>
              </a:lnSpc>
              <a:spcBef>
                <a:spcPts val="0"/>
              </a:spcBef>
              <a:spcAft>
                <a:spcPts val="800"/>
              </a:spcAft>
              <a:buFont typeface="Wingdings" pitchFamily="2" charset="2"/>
              <a:buChar char="v"/>
            </a:pPr>
            <a:r>
              <a:rPr lang="en-GB" dirty="0" err="1" smtClean="0">
                <a:effectLst/>
                <a:latin typeface="Times New Roman"/>
                <a:ea typeface="Calibri"/>
                <a:cs typeface="Times New Roman"/>
              </a:rPr>
              <a:t>Trichinella</a:t>
            </a:r>
            <a:r>
              <a:rPr lang="en-GB" dirty="0" smtClean="0">
                <a:effectLst/>
                <a:latin typeface="Times New Roman"/>
                <a:ea typeface="Calibri"/>
                <a:cs typeface="Times New Roman"/>
              </a:rPr>
              <a:t> 	   -	Family </a:t>
            </a:r>
            <a:r>
              <a:rPr lang="en-GB" dirty="0" err="1" smtClean="0">
                <a:effectLst/>
                <a:latin typeface="Times New Roman"/>
                <a:ea typeface="Calibri"/>
                <a:cs typeface="Times New Roman"/>
              </a:rPr>
              <a:t>Trichinelloidea</a:t>
            </a:r>
            <a:endParaRPr lang="en-US" dirty="0" smtClean="0">
              <a:effectLst/>
              <a:latin typeface="Times New Roman"/>
              <a:ea typeface="Calibri"/>
              <a:cs typeface="Times New Roman"/>
            </a:endParaRPr>
          </a:p>
          <a:p>
            <a:endParaRPr lang="en-US" dirty="0"/>
          </a:p>
        </p:txBody>
      </p:sp>
      <p:sp>
        <p:nvSpPr>
          <p:cNvPr id="4" name="Right Brace 3"/>
          <p:cNvSpPr/>
          <p:nvPr/>
        </p:nvSpPr>
        <p:spPr>
          <a:xfrm>
            <a:off x="3229993" y="2971800"/>
            <a:ext cx="433387" cy="1844139"/>
          </a:xfrm>
          <a:prstGeom prst="rightBrace">
            <a:avLst/>
          </a:prstGeom>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75861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i="1" dirty="0" smtClean="0"/>
              <a:t/>
            </a:r>
            <a:br>
              <a:rPr lang="en-GB" b="1" i="1" dirty="0" smtClean="0"/>
            </a:br>
            <a:r>
              <a:rPr lang="en-GB" b="1" i="1" dirty="0" err="1" smtClean="0"/>
              <a:t>Trichinella</a:t>
            </a:r>
            <a:r>
              <a:rPr lang="en-GB" b="1" dirty="0" smtClean="0"/>
              <a:t> </a:t>
            </a:r>
            <a:r>
              <a:rPr lang="en-GB" b="1" dirty="0" err="1" smtClean="0"/>
              <a:t>spp</a:t>
            </a:r>
            <a:r>
              <a:rPr lang="en-GB" b="1" dirty="0" smtClean="0"/>
              <a:t> (Family </a:t>
            </a:r>
            <a:r>
              <a:rPr lang="en-GB" b="1" dirty="0" err="1" smtClean="0"/>
              <a:t>Trichinelloidea</a:t>
            </a:r>
            <a:r>
              <a:rPr lang="en-GB" b="1" dirty="0" smtClean="0"/>
              <a:t>)</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smtClean="0"/>
              <a:t>Members </a:t>
            </a:r>
            <a:r>
              <a:rPr lang="en-GB" dirty="0"/>
              <a:t>of this family are small worms with the anterior end narrower than the rest of the body</a:t>
            </a:r>
            <a:endParaRPr lang="en-US" dirty="0"/>
          </a:p>
          <a:p>
            <a:pPr lvl="0">
              <a:buFont typeface="Wingdings" pitchFamily="2" charset="2"/>
              <a:buChar char="v"/>
            </a:pPr>
            <a:r>
              <a:rPr lang="en-GB" dirty="0"/>
              <a:t>The oesophagus is narrow, non-muscular tube without a posterior bulb</a:t>
            </a:r>
            <a:endParaRPr lang="en-US" dirty="0"/>
          </a:p>
          <a:p>
            <a:pPr lvl="0">
              <a:buFont typeface="Wingdings" pitchFamily="2" charset="2"/>
              <a:buChar char="v"/>
            </a:pPr>
            <a:r>
              <a:rPr lang="en-GB" dirty="0"/>
              <a:t>There is only one ovary in the female</a:t>
            </a:r>
            <a:endParaRPr lang="en-US" dirty="0"/>
          </a:p>
          <a:p>
            <a:pPr lvl="0">
              <a:buFont typeface="Wingdings" pitchFamily="2" charset="2"/>
              <a:buChar char="v"/>
            </a:pPr>
            <a:r>
              <a:rPr lang="en-GB" dirty="0"/>
              <a:t>The genus </a:t>
            </a:r>
            <a:r>
              <a:rPr lang="en-GB" dirty="0" err="1"/>
              <a:t>Trichinella</a:t>
            </a:r>
            <a:r>
              <a:rPr lang="en-GB" dirty="0"/>
              <a:t> belongs, along with the Genera, </a:t>
            </a:r>
            <a:r>
              <a:rPr lang="en-GB" dirty="0" err="1"/>
              <a:t>Trichuris</a:t>
            </a:r>
            <a:r>
              <a:rPr lang="en-GB" dirty="0"/>
              <a:t> and </a:t>
            </a:r>
            <a:r>
              <a:rPr lang="en-GB" dirty="0" err="1"/>
              <a:t>Capillaria</a:t>
            </a:r>
            <a:r>
              <a:rPr lang="en-GB" dirty="0"/>
              <a:t> (intestinal nematodes) to the order </a:t>
            </a:r>
            <a:r>
              <a:rPr lang="en-GB" dirty="0" err="1"/>
              <a:t>Trichinellida</a:t>
            </a:r>
            <a:r>
              <a:rPr lang="en-GB" dirty="0" smtClean="0"/>
              <a:t>.</a:t>
            </a:r>
            <a:endParaRPr lang="en-US" dirty="0"/>
          </a:p>
        </p:txBody>
      </p:sp>
    </p:spTree>
    <p:extLst>
      <p:ext uri="{BB962C8B-B14F-4D97-AF65-F5344CB8AC3E}">
        <p14:creationId xmlns:p14="http://schemas.microsoft.com/office/powerpoint/2010/main" val="182329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228600"/>
            <a:ext cx="8610600" cy="6096000"/>
          </a:xfrm>
        </p:spPr>
      </p:pic>
    </p:spTree>
    <p:extLst>
      <p:ext uri="{BB962C8B-B14F-4D97-AF65-F5344CB8AC3E}">
        <p14:creationId xmlns:p14="http://schemas.microsoft.com/office/powerpoint/2010/main" val="1963654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i="1" dirty="0" smtClean="0"/>
              <a:t/>
            </a:r>
            <a:br>
              <a:rPr lang="en-GB" b="1" i="1" dirty="0" smtClean="0"/>
            </a:br>
            <a:r>
              <a:rPr lang="en-GB" b="1" i="1" dirty="0" err="1" smtClean="0"/>
              <a:t>Trichinella</a:t>
            </a:r>
            <a:r>
              <a:rPr lang="en-GB" b="1" dirty="0" smtClean="0"/>
              <a:t> </a:t>
            </a:r>
            <a:r>
              <a:rPr lang="en-GB" b="1" dirty="0" err="1" smtClean="0"/>
              <a:t>spp</a:t>
            </a:r>
            <a:r>
              <a:rPr lang="en-GB" b="1" dirty="0" smtClean="0"/>
              <a:t> (Family </a:t>
            </a:r>
            <a:r>
              <a:rPr lang="en-GB" b="1" dirty="0" err="1" smtClean="0"/>
              <a:t>Trichinelloidea</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It is the smallest nematode parasite of humans which exhibit the most unusual life cycle and yet the most widespread and clinically important.</a:t>
            </a:r>
            <a:endParaRPr lang="en-US" dirty="0"/>
          </a:p>
          <a:p>
            <a:pPr lvl="0">
              <a:buFont typeface="Wingdings" pitchFamily="2" charset="2"/>
              <a:buChar char="v"/>
            </a:pPr>
            <a:r>
              <a:rPr lang="en-GB" i="1" dirty="0"/>
              <a:t>T. </a:t>
            </a:r>
            <a:r>
              <a:rPr lang="en-GB" i="1" dirty="0" err="1"/>
              <a:t>spiralis</a:t>
            </a:r>
            <a:r>
              <a:rPr lang="en-GB" dirty="0"/>
              <a:t> is recognised as several species, sub-species or strains with no distinct morphological difference among the </a:t>
            </a:r>
            <a:r>
              <a:rPr lang="en-GB" dirty="0" smtClean="0"/>
              <a:t>kinds;</a:t>
            </a:r>
          </a:p>
          <a:p>
            <a:pPr lvl="0">
              <a:buFont typeface="Wingdings" pitchFamily="2" charset="2"/>
              <a:buChar char="v"/>
            </a:pPr>
            <a:r>
              <a:rPr lang="en-GB" dirty="0" smtClean="0"/>
              <a:t>evidence </a:t>
            </a:r>
            <a:r>
              <a:rPr lang="en-GB" dirty="0"/>
              <a:t>suggests that there are at least eight siblings species and three distinct strains.</a:t>
            </a:r>
            <a:endParaRPr lang="en-US" dirty="0"/>
          </a:p>
          <a:p>
            <a:pPr marL="0" indent="0">
              <a:buNone/>
            </a:pPr>
            <a:endParaRPr lang="en-US" dirty="0"/>
          </a:p>
        </p:txBody>
      </p:sp>
    </p:spTree>
    <p:extLst>
      <p:ext uri="{BB962C8B-B14F-4D97-AF65-F5344CB8AC3E}">
        <p14:creationId xmlns:p14="http://schemas.microsoft.com/office/powerpoint/2010/main" val="1274879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i="1" dirty="0" smtClean="0"/>
              <a:t/>
            </a:r>
            <a:br>
              <a:rPr lang="en-GB" b="1" i="1" dirty="0" smtClean="0"/>
            </a:br>
            <a:r>
              <a:rPr lang="en-GB" b="1" i="1" dirty="0" err="1" smtClean="0"/>
              <a:t>Trichinella</a:t>
            </a:r>
            <a:r>
              <a:rPr lang="en-GB" b="1" dirty="0" smtClean="0"/>
              <a:t> </a:t>
            </a:r>
            <a:r>
              <a:rPr lang="en-GB" b="1" dirty="0" err="1" smtClean="0"/>
              <a:t>spp</a:t>
            </a:r>
            <a:r>
              <a:rPr lang="en-GB" b="1" dirty="0" smtClean="0"/>
              <a:t> (Family </a:t>
            </a:r>
            <a:r>
              <a:rPr lang="en-GB" b="1" dirty="0" err="1" smtClean="0"/>
              <a:t>Trichinelloidea</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Species and strains can be distinguished by the following </a:t>
            </a:r>
            <a:endParaRPr lang="en-US" dirty="0"/>
          </a:p>
          <a:p>
            <a:pPr lvl="1">
              <a:buFont typeface="Wingdings" pitchFamily="2" charset="2"/>
              <a:buChar char="Ø"/>
            </a:pPr>
            <a:r>
              <a:rPr lang="en-GB" dirty="0" err="1"/>
              <a:t>Alozyme</a:t>
            </a:r>
            <a:r>
              <a:rPr lang="en-GB" dirty="0"/>
              <a:t> and ribosomal DNA analysis</a:t>
            </a:r>
            <a:endParaRPr lang="en-US" dirty="0"/>
          </a:p>
          <a:p>
            <a:pPr lvl="1">
              <a:buFont typeface="Wingdings" pitchFamily="2" charset="2"/>
              <a:buChar char="Ø"/>
            </a:pPr>
            <a:r>
              <a:rPr lang="en-GB" dirty="0"/>
              <a:t>Disease produced in humans</a:t>
            </a:r>
            <a:endParaRPr lang="en-US" dirty="0"/>
          </a:p>
          <a:p>
            <a:pPr lvl="1">
              <a:buFont typeface="Wingdings" pitchFamily="2" charset="2"/>
              <a:buChar char="Ø"/>
            </a:pPr>
            <a:r>
              <a:rPr lang="en-GB" dirty="0"/>
              <a:t>Recognition of antigens by monoclonal antibodies</a:t>
            </a:r>
            <a:endParaRPr lang="en-US" dirty="0"/>
          </a:p>
          <a:p>
            <a:pPr lvl="1">
              <a:buFont typeface="Wingdings" pitchFamily="2" charset="2"/>
              <a:buChar char="Ø"/>
            </a:pPr>
            <a:r>
              <a:rPr lang="en-GB" dirty="0"/>
              <a:t>Recognition of repetitive DNA sequences amplified by PCR </a:t>
            </a:r>
            <a:endParaRPr lang="en-US" dirty="0"/>
          </a:p>
          <a:p>
            <a:pPr lvl="1">
              <a:buFont typeface="Wingdings" pitchFamily="2" charset="2"/>
              <a:buChar char="Ø"/>
            </a:pPr>
            <a:r>
              <a:rPr lang="en-GB" dirty="0"/>
              <a:t>Male and female first stage juveniles can be distinguished hence potential hybridization for putative species can be tested.</a:t>
            </a:r>
            <a:endParaRPr lang="en-US" dirty="0"/>
          </a:p>
          <a:p>
            <a:pPr marL="0" indent="0">
              <a:buNone/>
            </a:pPr>
            <a:endParaRPr lang="en-US" dirty="0"/>
          </a:p>
        </p:txBody>
      </p:sp>
    </p:spTree>
    <p:extLst>
      <p:ext uri="{BB962C8B-B14F-4D97-AF65-F5344CB8AC3E}">
        <p14:creationId xmlns:p14="http://schemas.microsoft.com/office/powerpoint/2010/main" val="1107769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smtClean="0"/>
              <a:t>This </a:t>
            </a:r>
            <a:r>
              <a:rPr lang="en-GB" dirty="0"/>
              <a:t>is unusual because the same individual animal serves as both definitive and intermediate host, with juveniles and adults in different organs</a:t>
            </a:r>
            <a:endParaRPr lang="en-US" dirty="0"/>
          </a:p>
          <a:p>
            <a:pPr lvl="0">
              <a:buFont typeface="Wingdings" pitchFamily="2" charset="2"/>
              <a:buChar char="v"/>
            </a:pPr>
            <a:r>
              <a:rPr lang="en-GB" dirty="0"/>
              <a:t>Even more bizarre is the fact that it is the world’s largest intracellular parasite:</a:t>
            </a:r>
            <a:endParaRPr lang="en-US" dirty="0"/>
          </a:p>
          <a:p>
            <a:pPr lvl="1">
              <a:buFont typeface="Wingdings" pitchFamily="2" charset="2"/>
              <a:buChar char="Ø"/>
            </a:pPr>
            <a:r>
              <a:rPr lang="en-GB" dirty="0"/>
              <a:t>Adults are intra multicellular parasite in intestinal epithelium, and juveniles reside in nurse cells, whose formation they induce themselves, in skeletal muscles.</a:t>
            </a:r>
            <a:endParaRPr lang="en-US" dirty="0"/>
          </a:p>
          <a:p>
            <a:pPr marL="0" indent="0">
              <a:buNone/>
            </a:pPr>
            <a:endParaRPr lang="en-US" dirty="0"/>
          </a:p>
        </p:txBody>
      </p:sp>
    </p:spTree>
    <p:extLst>
      <p:ext uri="{BB962C8B-B14F-4D97-AF65-F5344CB8AC3E}">
        <p14:creationId xmlns:p14="http://schemas.microsoft.com/office/powerpoint/2010/main" val="659959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5105400"/>
          </a:xfrm>
        </p:spPr>
        <p:txBody>
          <a:bodyPr>
            <a:normAutofit/>
          </a:bodyPr>
          <a:lstStyle/>
          <a:p>
            <a:pPr lvl="1">
              <a:buFont typeface="Wingdings" pitchFamily="2" charset="2"/>
              <a:buChar char="v"/>
            </a:pPr>
            <a:r>
              <a:rPr lang="en-GB" dirty="0"/>
              <a:t>Juveniles within nurse cells have an anaerobic (or </a:t>
            </a:r>
            <a:r>
              <a:rPr lang="en-GB" dirty="0" err="1"/>
              <a:t>facultatively</a:t>
            </a:r>
            <a:r>
              <a:rPr lang="en-GB" dirty="0"/>
              <a:t> anaerobic) metabolism; </a:t>
            </a:r>
            <a:endParaRPr lang="en-GB" dirty="0" smtClean="0"/>
          </a:p>
          <a:p>
            <a:pPr lvl="1">
              <a:buFont typeface="Wingdings" pitchFamily="2" charset="2"/>
              <a:buChar char="v"/>
            </a:pPr>
            <a:endParaRPr lang="en-GB" dirty="0" smtClean="0"/>
          </a:p>
          <a:p>
            <a:pPr lvl="1">
              <a:buFont typeface="Wingdings" pitchFamily="2" charset="2"/>
              <a:buChar char="v"/>
            </a:pPr>
            <a:r>
              <a:rPr lang="en-GB" dirty="0" smtClean="0"/>
              <a:t>when </a:t>
            </a:r>
            <a:r>
              <a:rPr lang="en-GB" dirty="0"/>
              <a:t>these are swallowed and reach the stomach of the host, they are released from their nurse cells </a:t>
            </a:r>
            <a:r>
              <a:rPr lang="en-GB" dirty="0" smtClean="0"/>
              <a:t>and</a:t>
            </a:r>
          </a:p>
          <a:p>
            <a:pPr lvl="1">
              <a:buFont typeface="Wingdings" pitchFamily="2" charset="2"/>
              <a:buChar char="v"/>
            </a:pPr>
            <a:endParaRPr lang="en-GB" dirty="0" smtClean="0"/>
          </a:p>
          <a:p>
            <a:pPr lvl="1">
              <a:buFont typeface="Wingdings" pitchFamily="2" charset="2"/>
              <a:buChar char="v"/>
            </a:pPr>
            <a:r>
              <a:rPr lang="en-GB" dirty="0" smtClean="0"/>
              <a:t> </a:t>
            </a:r>
            <a:r>
              <a:rPr lang="en-GB" dirty="0"/>
              <a:t>become activated and shift to aerobic metabolism characteristic of the adult.</a:t>
            </a:r>
            <a:endParaRPr lang="en-US" dirty="0"/>
          </a:p>
          <a:p>
            <a:pPr marL="0" indent="0">
              <a:buNone/>
            </a:pPr>
            <a:endParaRPr lang="en-US" dirty="0"/>
          </a:p>
        </p:txBody>
      </p:sp>
    </p:spTree>
    <p:extLst>
      <p:ext uri="{BB962C8B-B14F-4D97-AF65-F5344CB8AC3E}">
        <p14:creationId xmlns:p14="http://schemas.microsoft.com/office/powerpoint/2010/main" val="1581497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i="1" dirty="0" smtClean="0"/>
              <a:t> cont’d</a:t>
            </a:r>
            <a:r>
              <a:rPr lang="en-GB"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marL="457200" lvl="1" indent="-457200">
              <a:buFont typeface="Wingdings" pitchFamily="2" charset="2"/>
              <a:buChar char="v"/>
            </a:pPr>
            <a:r>
              <a:rPr lang="en-GB" dirty="0" smtClean="0"/>
              <a:t>They pass into the hosts small intestine where they undergo four moults, grow and copulate within the mucosal epithelium within 30-32 hours of infection</a:t>
            </a:r>
            <a:endParaRPr lang="en-US" dirty="0" smtClean="0"/>
          </a:p>
          <a:p>
            <a:pPr lvl="1">
              <a:buFont typeface="Wingdings" pitchFamily="2" charset="2"/>
              <a:buChar char="v"/>
            </a:pPr>
            <a:r>
              <a:rPr lang="en-GB" dirty="0"/>
              <a:t>The worms lie directly in the cytoplasm and thread through a serial row of intestinal cells.</a:t>
            </a:r>
            <a:endParaRPr lang="en-US" dirty="0"/>
          </a:p>
          <a:p>
            <a:pPr lvl="1">
              <a:buFont typeface="Wingdings" pitchFamily="2" charset="2"/>
              <a:buChar char="v"/>
            </a:pPr>
            <a:r>
              <a:rPr lang="en-GB" dirty="0"/>
              <a:t>A female during her stay in the intestinal epithelium gives birth to between 100s and 1000s of juvenile over a period of 4-16 weeks; </a:t>
            </a:r>
            <a:endParaRPr lang="en-GB" dirty="0" smtClean="0"/>
          </a:p>
          <a:p>
            <a:pPr lvl="1">
              <a:buFont typeface="Wingdings" pitchFamily="2" charset="2"/>
              <a:buChar char="v"/>
            </a:pPr>
            <a:r>
              <a:rPr lang="en-GB" dirty="0" smtClean="0"/>
              <a:t>eventually </a:t>
            </a:r>
            <a:r>
              <a:rPr lang="en-GB" dirty="0"/>
              <a:t>she dies and passes out of the host; males can copulate several times but then dies shortly after.</a:t>
            </a:r>
            <a:endParaRPr lang="en-US" dirty="0"/>
          </a:p>
          <a:p>
            <a:pPr marL="0" indent="0">
              <a:buNone/>
            </a:pPr>
            <a:endParaRPr lang="en-US" dirty="0"/>
          </a:p>
        </p:txBody>
      </p:sp>
    </p:spTree>
    <p:extLst>
      <p:ext uri="{BB962C8B-B14F-4D97-AF65-F5344CB8AC3E}">
        <p14:creationId xmlns:p14="http://schemas.microsoft.com/office/powerpoint/2010/main" val="2734808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1">
              <a:buFont typeface="Wingdings" pitchFamily="2" charset="2"/>
              <a:buChar char="v"/>
            </a:pPr>
            <a:r>
              <a:rPr lang="en-GB" dirty="0"/>
              <a:t>Most juveniles are carried away by the </a:t>
            </a:r>
            <a:r>
              <a:rPr lang="en-GB" dirty="0" err="1"/>
              <a:t>hepatoportal</a:t>
            </a:r>
            <a:r>
              <a:rPr lang="en-GB" dirty="0"/>
              <a:t> system through the liver and the heart, lungs and arterial system which distributes them throughout the body hence may be found literally in every kind of tissue and space</a:t>
            </a:r>
            <a:endParaRPr lang="en-US" dirty="0"/>
          </a:p>
          <a:p>
            <a:pPr lvl="1">
              <a:buFont typeface="Wingdings" pitchFamily="2" charset="2"/>
              <a:buChar char="v"/>
            </a:pPr>
            <a:r>
              <a:rPr lang="en-GB" dirty="0"/>
              <a:t>On reaching skeletal muscles, they penetrate individual fibres and in a strategy reminiscent of viruses, subvert and redirect host cell activities to their own survival.</a:t>
            </a:r>
            <a:endParaRPr lang="en-US" dirty="0"/>
          </a:p>
          <a:p>
            <a:pPr marL="0" indent="0">
              <a:buNone/>
            </a:pPr>
            <a:endParaRPr lang="en-US" dirty="0"/>
          </a:p>
        </p:txBody>
      </p:sp>
    </p:spTree>
    <p:extLst>
      <p:ext uri="{BB962C8B-B14F-4D97-AF65-F5344CB8AC3E}">
        <p14:creationId xmlns:p14="http://schemas.microsoft.com/office/powerpoint/2010/main" val="3806474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304800" y="1600200"/>
            <a:ext cx="8610600" cy="5105400"/>
          </a:xfrm>
        </p:spPr>
        <p:txBody>
          <a:bodyPr>
            <a:normAutofit/>
          </a:bodyPr>
          <a:lstStyle/>
          <a:p>
            <a:pPr marL="457200" lvl="1" indent="-457200">
              <a:buFont typeface="Wingdings" pitchFamily="2" charset="2"/>
              <a:buChar char="v"/>
            </a:pPr>
            <a:r>
              <a:rPr lang="en-GB" dirty="0"/>
              <a:t>They alter gene expression of the host cell from that of a contractile fibre to that of a muscle cell, a cell that functions in nourishing the worm</a:t>
            </a:r>
            <a:r>
              <a:rPr lang="en-GB" dirty="0" smtClean="0"/>
              <a:t>;</a:t>
            </a:r>
          </a:p>
          <a:p>
            <a:pPr marL="457200" lvl="1" indent="-457200">
              <a:buFont typeface="Wingdings" pitchFamily="2" charset="2"/>
              <a:buChar char="v"/>
            </a:pPr>
            <a:r>
              <a:rPr lang="en-GB" dirty="0" smtClean="0"/>
              <a:t> </a:t>
            </a:r>
            <a:r>
              <a:rPr lang="en-GB" dirty="0"/>
              <a:t>after the nematode enters the fibre, the fibre losses its </a:t>
            </a:r>
            <a:r>
              <a:rPr lang="en-GB" dirty="0" err="1"/>
              <a:t>myofilaments</a:t>
            </a:r>
            <a:r>
              <a:rPr lang="en-GB" dirty="0"/>
              <a:t>, but its nuclei enlarge (hypertrophy) and smooth endoplasmic reticulum increases, mitochondria degenerates </a:t>
            </a:r>
            <a:endParaRPr lang="en-GB" dirty="0" smtClean="0"/>
          </a:p>
          <a:p>
            <a:pPr marL="457200" lvl="1" indent="-457200">
              <a:buFont typeface="Wingdings" pitchFamily="2" charset="2"/>
              <a:buChar char="v"/>
            </a:pPr>
            <a:r>
              <a:rPr lang="en-GB" dirty="0" smtClean="0"/>
              <a:t>and </a:t>
            </a:r>
            <a:r>
              <a:rPr lang="en-GB" dirty="0"/>
              <a:t>eventually the entire unit becomes encapsulated with collagen secreted by the nurse cells (some species do not secrete this capsule for reasons unknown)</a:t>
            </a:r>
            <a:endParaRPr lang="en-US" dirty="0"/>
          </a:p>
          <a:p>
            <a:endParaRPr lang="en-US" dirty="0"/>
          </a:p>
        </p:txBody>
      </p:sp>
    </p:spTree>
    <p:extLst>
      <p:ext uri="{BB962C8B-B14F-4D97-AF65-F5344CB8AC3E}">
        <p14:creationId xmlns:p14="http://schemas.microsoft.com/office/powerpoint/2010/main" val="3812919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457200" lvl="1" indent="-457200">
              <a:buFont typeface="Wingdings" pitchFamily="2" charset="2"/>
              <a:buChar char="v"/>
            </a:pPr>
            <a:r>
              <a:rPr lang="en-GB" dirty="0"/>
              <a:t>Juveniles of all species however induce and </a:t>
            </a:r>
            <a:r>
              <a:rPr lang="en-GB" dirty="0" err="1"/>
              <a:t>uprergulation</a:t>
            </a:r>
            <a:r>
              <a:rPr lang="en-GB" dirty="0"/>
              <a:t> of vascular endothelial growth factor (VEGF) within their nurse cells and this stimulates angiogenesis (blood vessel development/formation) </a:t>
            </a:r>
            <a:endParaRPr lang="en-GB" dirty="0" smtClean="0"/>
          </a:p>
          <a:p>
            <a:pPr marL="457200" lvl="1" indent="-457200">
              <a:buFont typeface="Wingdings" pitchFamily="2" charset="2"/>
              <a:buChar char="v"/>
            </a:pPr>
            <a:endParaRPr lang="en-GB" dirty="0"/>
          </a:p>
          <a:p>
            <a:pPr marL="457200" lvl="1" indent="-457200">
              <a:buFont typeface="Wingdings" pitchFamily="2" charset="2"/>
              <a:buChar char="v"/>
            </a:pPr>
            <a:r>
              <a:rPr lang="en-GB" dirty="0" smtClean="0"/>
              <a:t>and </a:t>
            </a:r>
            <a:r>
              <a:rPr lang="en-GB" dirty="0"/>
              <a:t>formation of tiny blood vessels (a circulatory rete) around the parasite-nurse cell complex.</a:t>
            </a:r>
            <a:endParaRPr lang="en-US" dirty="0"/>
          </a:p>
          <a:p>
            <a:endParaRPr lang="en-US" dirty="0"/>
          </a:p>
        </p:txBody>
      </p:sp>
    </p:spTree>
    <p:extLst>
      <p:ext uri="{BB962C8B-B14F-4D97-AF65-F5344CB8AC3E}">
        <p14:creationId xmlns:p14="http://schemas.microsoft.com/office/powerpoint/2010/main" val="3495677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1">
              <a:buFont typeface="Wingdings" pitchFamily="2" charset="2"/>
              <a:buChar char="v"/>
            </a:pPr>
            <a:r>
              <a:rPr lang="en-GB" dirty="0"/>
              <a:t>Much remains to be known about how these parasites control host-gene expression</a:t>
            </a:r>
            <a:endParaRPr lang="en-US" dirty="0"/>
          </a:p>
          <a:p>
            <a:pPr lvl="1">
              <a:buFont typeface="Wingdings" pitchFamily="2" charset="2"/>
              <a:buChar char="v"/>
            </a:pPr>
            <a:endParaRPr lang="en-GB" i="1" dirty="0" smtClean="0"/>
          </a:p>
          <a:p>
            <a:pPr lvl="1">
              <a:buFont typeface="Wingdings" pitchFamily="2" charset="2"/>
              <a:buChar char="v"/>
            </a:pPr>
            <a:r>
              <a:rPr lang="en-GB" i="1" dirty="0" err="1" smtClean="0"/>
              <a:t>Trichinella</a:t>
            </a:r>
            <a:r>
              <a:rPr lang="en-GB" i="1" dirty="0" smtClean="0"/>
              <a:t> </a:t>
            </a:r>
            <a:r>
              <a:rPr lang="en-GB" i="1" dirty="0" err="1"/>
              <a:t>spiralis</a:t>
            </a:r>
            <a:r>
              <a:rPr lang="en-GB" dirty="0"/>
              <a:t> is viewed as “the worm that would be a virus” (Ref. Parasitology Today 6:193-196(1990) Elsevier T……………..Cambridge, England) </a:t>
            </a:r>
            <a:endParaRPr lang="en-US" dirty="0"/>
          </a:p>
          <a:p>
            <a:pPr marL="0" indent="0">
              <a:buNone/>
            </a:pPr>
            <a:endParaRPr lang="en-US" dirty="0"/>
          </a:p>
        </p:txBody>
      </p:sp>
    </p:spTree>
    <p:extLst>
      <p:ext uri="{BB962C8B-B14F-4D97-AF65-F5344CB8AC3E}">
        <p14:creationId xmlns:p14="http://schemas.microsoft.com/office/powerpoint/2010/main" val="2425660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GB" b="1" dirty="0"/>
              <a:t>Epidemiology and Transmission</a:t>
            </a:r>
            <a:endParaRPr lang="en-US" b="1" dirty="0"/>
          </a:p>
          <a:p>
            <a:pPr lvl="0">
              <a:buFont typeface="Wingdings" pitchFamily="2" charset="2"/>
              <a:buChar char="v"/>
            </a:pPr>
            <a:r>
              <a:rPr lang="en-GB" dirty="0" err="1"/>
              <a:t>Trichinellosis</a:t>
            </a:r>
            <a:r>
              <a:rPr lang="en-GB" dirty="0"/>
              <a:t> or trichinosis is considered a zoonotic disease because humans are scarcely important in the life of the parasite.</a:t>
            </a:r>
            <a:endParaRPr lang="en-US" dirty="0"/>
          </a:p>
          <a:p>
            <a:pPr lvl="0">
              <a:buFont typeface="Wingdings" pitchFamily="2" charset="2"/>
              <a:buChar char="v"/>
            </a:pPr>
            <a:r>
              <a:rPr lang="en-GB" dirty="0"/>
              <a:t>It is largely a parasite of swine, carnivores and rats, hence unless an infected human is eaten by a carnivorous animal or eaten by a cannibal, the parasite is at a dead end in humans.</a:t>
            </a:r>
            <a:endParaRPr lang="en-US" dirty="0"/>
          </a:p>
          <a:p>
            <a:endParaRPr lang="en-US" dirty="0"/>
          </a:p>
        </p:txBody>
      </p:sp>
    </p:spTree>
    <p:extLst>
      <p:ext uri="{BB962C8B-B14F-4D97-AF65-F5344CB8AC3E}">
        <p14:creationId xmlns:p14="http://schemas.microsoft.com/office/powerpoint/2010/main" val="3985221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itchFamily="2" charset="2"/>
              <a:buChar char="v"/>
            </a:pPr>
            <a:r>
              <a:rPr lang="en-GB" dirty="0"/>
              <a:t>The life cycle may involve pigs and rats which are around animals (domestic cycle) or wild animals (sylvatic cycle)</a:t>
            </a:r>
            <a:endParaRPr lang="en-US" dirty="0"/>
          </a:p>
          <a:p>
            <a:pPr lvl="0">
              <a:buFont typeface="Wingdings" pitchFamily="2" charset="2"/>
              <a:buChar char="v"/>
            </a:pPr>
            <a:r>
              <a:rPr lang="en-GB" dirty="0"/>
              <a:t>However on the basis of different species host preferences, from distinct epidemiological cycles may be recognized, </a:t>
            </a:r>
            <a:r>
              <a:rPr lang="en-GB" dirty="0" err="1"/>
              <a:t>viz</a:t>
            </a:r>
            <a:r>
              <a:rPr lang="en-GB" dirty="0"/>
              <a:t>:</a:t>
            </a:r>
            <a:endParaRPr lang="en-US" dirty="0"/>
          </a:p>
          <a:p>
            <a:pPr lvl="1">
              <a:buFont typeface="Wingdings" pitchFamily="2" charset="2"/>
              <a:buChar char="Ø"/>
            </a:pPr>
            <a:r>
              <a:rPr lang="en-GB" dirty="0"/>
              <a:t>Domestic</a:t>
            </a:r>
            <a:endParaRPr lang="en-US" dirty="0"/>
          </a:p>
          <a:p>
            <a:pPr lvl="1">
              <a:buFont typeface="Wingdings" pitchFamily="2" charset="2"/>
              <a:buChar char="Ø"/>
            </a:pPr>
            <a:r>
              <a:rPr lang="en-GB" dirty="0"/>
              <a:t>Sylvatic-temperate zone</a:t>
            </a:r>
            <a:endParaRPr lang="en-US" dirty="0"/>
          </a:p>
          <a:p>
            <a:pPr lvl="1">
              <a:buFont typeface="Wingdings" pitchFamily="2" charset="2"/>
              <a:buChar char="Ø"/>
            </a:pPr>
            <a:r>
              <a:rPr lang="en-GB" dirty="0"/>
              <a:t>Sylvatic-tropical variant and</a:t>
            </a:r>
            <a:endParaRPr lang="en-US" dirty="0"/>
          </a:p>
          <a:p>
            <a:pPr lvl="1">
              <a:buFont typeface="Wingdings" pitchFamily="2" charset="2"/>
              <a:buChar char="Ø"/>
            </a:pPr>
            <a:r>
              <a:rPr lang="en-GB" dirty="0"/>
              <a:t>Sylvatic-artic variant</a:t>
            </a:r>
            <a:endParaRPr lang="en-US" dirty="0"/>
          </a:p>
          <a:p>
            <a:pPr>
              <a:buFont typeface="Wingdings" pitchFamily="2" charset="2"/>
              <a:buChar char="Ø"/>
            </a:pPr>
            <a:endParaRPr lang="en-US" dirty="0"/>
          </a:p>
        </p:txBody>
      </p:sp>
    </p:spTree>
    <p:extLst>
      <p:ext uri="{BB962C8B-B14F-4D97-AF65-F5344CB8AC3E}">
        <p14:creationId xmlns:p14="http://schemas.microsoft.com/office/powerpoint/2010/main" val="3483469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marL="0" indent="0" algn="ctr">
              <a:buNone/>
            </a:pPr>
            <a:r>
              <a:rPr lang="en-GB" b="1" dirty="0"/>
              <a:t>Pathogenesis and symptoms</a:t>
            </a:r>
            <a:endParaRPr lang="en-US" b="1" dirty="0"/>
          </a:p>
          <a:p>
            <a:pPr lvl="0">
              <a:buFont typeface="Wingdings" pitchFamily="2" charset="2"/>
              <a:buChar char="v"/>
            </a:pPr>
            <a:r>
              <a:rPr lang="en-GB" dirty="0"/>
              <a:t>This may be considered in three successive stages</a:t>
            </a:r>
            <a:r>
              <a:rPr lang="en-GB" dirty="0" smtClean="0"/>
              <a:t>:</a:t>
            </a:r>
          </a:p>
          <a:p>
            <a:pPr marL="0" lvl="0" indent="0">
              <a:buNone/>
            </a:pPr>
            <a:endParaRPr lang="en-US" dirty="0"/>
          </a:p>
          <a:p>
            <a:pPr lvl="1">
              <a:buFont typeface="Wingdings" pitchFamily="2" charset="2"/>
              <a:buChar char="Ø"/>
            </a:pPr>
            <a:r>
              <a:rPr lang="en-GB" dirty="0"/>
              <a:t>Penetration of adult female into the mucosa</a:t>
            </a:r>
            <a:endParaRPr lang="en-US" dirty="0"/>
          </a:p>
          <a:p>
            <a:pPr lvl="1">
              <a:buFont typeface="Wingdings" pitchFamily="2" charset="2"/>
              <a:buChar char="Ø"/>
            </a:pPr>
            <a:r>
              <a:rPr lang="en-GB" dirty="0"/>
              <a:t>Migration of juvenile </a:t>
            </a:r>
            <a:endParaRPr lang="en-US" dirty="0"/>
          </a:p>
          <a:p>
            <a:pPr lvl="1">
              <a:buFont typeface="Wingdings" pitchFamily="2" charset="2"/>
              <a:buChar char="Ø"/>
            </a:pPr>
            <a:r>
              <a:rPr lang="en-GB" dirty="0"/>
              <a:t>Penetration and nurse cell formation</a:t>
            </a:r>
            <a:endParaRPr lang="en-US" dirty="0"/>
          </a:p>
          <a:p>
            <a:pPr marL="0" indent="0">
              <a:buNone/>
            </a:pPr>
            <a:endParaRPr lang="en-US" dirty="0"/>
          </a:p>
        </p:txBody>
      </p:sp>
    </p:spTree>
    <p:extLst>
      <p:ext uri="{BB962C8B-B14F-4D97-AF65-F5344CB8AC3E}">
        <p14:creationId xmlns:p14="http://schemas.microsoft.com/office/powerpoint/2010/main" val="2691771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smtClean="0"/>
              <a:t>First symptoms appears between 12 hours and 2 days after ingestion of infected meat;</a:t>
            </a:r>
          </a:p>
          <a:p>
            <a:pPr lvl="0">
              <a:buFont typeface="Wingdings" pitchFamily="2" charset="2"/>
              <a:buChar char="v"/>
            </a:pPr>
            <a:endParaRPr lang="en-GB" dirty="0" smtClean="0"/>
          </a:p>
          <a:p>
            <a:pPr lvl="0">
              <a:buFont typeface="Wingdings" pitchFamily="2" charset="2"/>
              <a:buChar char="v"/>
            </a:pPr>
            <a:r>
              <a:rPr lang="en-GB" dirty="0" smtClean="0"/>
              <a:t>This phase may be </a:t>
            </a:r>
            <a:r>
              <a:rPr lang="en-GB" dirty="0" err="1" smtClean="0"/>
              <a:t>inapparent</a:t>
            </a:r>
            <a:r>
              <a:rPr lang="en-GB" dirty="0" smtClean="0"/>
              <a:t> or may be misdiagnosed because of the low grade infection or vagueness of symptoms.</a:t>
            </a:r>
            <a:endParaRPr lang="en-US" dirty="0" smtClean="0"/>
          </a:p>
          <a:p>
            <a:endParaRPr lang="en-US" dirty="0"/>
          </a:p>
        </p:txBody>
      </p:sp>
    </p:spTree>
    <p:extLst>
      <p:ext uri="{BB962C8B-B14F-4D97-AF65-F5344CB8AC3E}">
        <p14:creationId xmlns:p14="http://schemas.microsoft.com/office/powerpoint/2010/main" val="1870340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Worms migrating in intestinal epithelium cause traumatic damage to host tissues; the host reacting to their waste products</a:t>
            </a:r>
            <a:endParaRPr lang="en-US" dirty="0"/>
          </a:p>
          <a:p>
            <a:pPr lvl="1">
              <a:buFont typeface="Wingdings" pitchFamily="2" charset="2"/>
              <a:buChar char="Ø"/>
            </a:pPr>
            <a:r>
              <a:rPr lang="en-GB" dirty="0"/>
              <a:t>Inflammation causes nausea vomiting, sweating and diarrhoea</a:t>
            </a:r>
            <a:endParaRPr lang="en-US" dirty="0"/>
          </a:p>
          <a:p>
            <a:pPr lvl="1">
              <a:buFont typeface="Wingdings" pitchFamily="2" charset="2"/>
              <a:buChar char="Ø"/>
            </a:pPr>
            <a:r>
              <a:rPr lang="en-GB" dirty="0"/>
              <a:t>Respiratory difficulties may occur and red blotches erupt on the skin in some cases.</a:t>
            </a:r>
            <a:endParaRPr lang="en-US" dirty="0"/>
          </a:p>
          <a:p>
            <a:pPr lvl="1">
              <a:buFont typeface="Wingdings" pitchFamily="2" charset="2"/>
              <a:buChar char="Ø"/>
            </a:pPr>
            <a:r>
              <a:rPr lang="en-GB" dirty="0"/>
              <a:t>This phase usually ends up with facial </a:t>
            </a:r>
            <a:r>
              <a:rPr lang="en-GB" dirty="0" err="1"/>
              <a:t>edems</a:t>
            </a:r>
            <a:r>
              <a:rPr lang="en-GB" dirty="0"/>
              <a:t> and fever, 5 to 7 days after first symptoms.</a:t>
            </a:r>
            <a:endParaRPr lang="en-US" dirty="0"/>
          </a:p>
          <a:p>
            <a:pPr marL="0" indent="0">
              <a:buNone/>
            </a:pPr>
            <a:endParaRPr lang="en-US" dirty="0"/>
          </a:p>
        </p:txBody>
      </p:sp>
    </p:spTree>
    <p:extLst>
      <p:ext uri="{BB962C8B-B14F-4D97-AF65-F5344CB8AC3E}">
        <p14:creationId xmlns:p14="http://schemas.microsoft.com/office/powerpoint/2010/main" val="49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1">
              <a:buFont typeface="Wingdings" pitchFamily="2" charset="2"/>
              <a:buChar char="Ø"/>
            </a:pPr>
            <a:r>
              <a:rPr lang="en-GB" dirty="0"/>
              <a:t>New born juveniles damage blood vessels, during migration during migration resulting in localized oedema especially in the face and hands.</a:t>
            </a:r>
            <a:endParaRPr lang="en-US" dirty="0"/>
          </a:p>
          <a:p>
            <a:pPr lvl="1">
              <a:buFont typeface="Wingdings" pitchFamily="2" charset="2"/>
              <a:buChar char="Ø"/>
            </a:pPr>
            <a:r>
              <a:rPr lang="en-GB" dirty="0"/>
              <a:t>Wandering juveniles many also cause pneumonia,…….,encephalitis, meningitis, nephritis, deafness, peritonitis, brain or eye damage and sub-</a:t>
            </a:r>
            <a:r>
              <a:rPr lang="en-GB" dirty="0" err="1"/>
              <a:t>conjunctival</a:t>
            </a:r>
            <a:r>
              <a:rPr lang="en-GB" dirty="0"/>
              <a:t> haemorrhage</a:t>
            </a:r>
            <a:endParaRPr lang="en-US" dirty="0"/>
          </a:p>
          <a:p>
            <a:pPr lvl="1">
              <a:buFont typeface="Wingdings" pitchFamily="2" charset="2"/>
              <a:buChar char="Ø"/>
            </a:pPr>
            <a:r>
              <a:rPr lang="en-GB" dirty="0"/>
              <a:t>Death from myocarditis may occur at this stage</a:t>
            </a:r>
            <a:endParaRPr lang="en-US" dirty="0"/>
          </a:p>
          <a:p>
            <a:pPr marL="0" indent="0">
              <a:buNone/>
            </a:pPr>
            <a:endParaRPr lang="en-US" dirty="0"/>
          </a:p>
        </p:txBody>
      </p:sp>
    </p:spTree>
    <p:extLst>
      <p:ext uri="{BB962C8B-B14F-4D97-AF65-F5344CB8AC3E}">
        <p14:creationId xmlns:p14="http://schemas.microsoft.com/office/powerpoint/2010/main" val="3511598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1">
              <a:buFont typeface="Wingdings" pitchFamily="2" charset="2"/>
              <a:buChar char="Ø"/>
            </a:pPr>
            <a:r>
              <a:rPr lang="en-GB" dirty="0"/>
              <a:t>Though juveniles do not stay in the heart, they migrate through its muscle causing local areas of necrosis and infiltration of leucocyte.</a:t>
            </a:r>
            <a:endParaRPr lang="en-US" dirty="0"/>
          </a:p>
          <a:p>
            <a:pPr lvl="1">
              <a:buFont typeface="Wingdings" pitchFamily="2" charset="2"/>
              <a:buChar char="Ø"/>
            </a:pPr>
            <a:r>
              <a:rPr lang="en-GB" dirty="0"/>
              <a:t>By the 10</a:t>
            </a:r>
            <a:r>
              <a:rPr lang="en-GB" baseline="30000" dirty="0"/>
              <a:t>th</a:t>
            </a:r>
            <a:r>
              <a:rPr lang="en-GB" dirty="0"/>
              <a:t> day after appearance of first symptoms, juveniles begin to penetrate the muscle fibre with symptoms varied and vague </a:t>
            </a:r>
            <a:endParaRPr lang="en-US" dirty="0"/>
          </a:p>
          <a:p>
            <a:pPr lvl="1">
              <a:buFont typeface="Wingdings" pitchFamily="2" charset="2"/>
              <a:buChar char="Ø"/>
            </a:pPr>
            <a:r>
              <a:rPr lang="en-GB" dirty="0"/>
              <a:t>Symptoms such as intense muscular pain, difficulty in breathing or swallowing, swelling of </a:t>
            </a:r>
            <a:r>
              <a:rPr lang="en-GB" dirty="0" err="1"/>
              <a:t>masseta</a:t>
            </a:r>
            <a:r>
              <a:rPr lang="en-GB" dirty="0"/>
              <a:t> muscle ( leading to a misdiagnosis of mumps), weakening of pulse and blood pressure, heart damage and various nervous disorders including </a:t>
            </a:r>
            <a:r>
              <a:rPr lang="en-GB" dirty="0" smtClean="0"/>
              <a:t>hallucination</a:t>
            </a:r>
            <a:endParaRPr lang="en-US" dirty="0"/>
          </a:p>
        </p:txBody>
      </p:sp>
    </p:spTree>
    <p:extLst>
      <p:ext uri="{BB962C8B-B14F-4D97-AF65-F5344CB8AC3E}">
        <p14:creationId xmlns:p14="http://schemas.microsoft.com/office/powerpoint/2010/main" val="2982242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1">
              <a:buFont typeface="Wingdings" pitchFamily="2" charset="2"/>
              <a:buChar char="Ø"/>
            </a:pPr>
            <a:r>
              <a:rPr lang="en-GB" dirty="0"/>
              <a:t>Heavy infection significantly reduces contractibility of muscles and reduces mechanical stress, work power output and fatigue resistance of the diaphragm</a:t>
            </a:r>
            <a:endParaRPr lang="en-US" dirty="0"/>
          </a:p>
          <a:p>
            <a:pPr lvl="1">
              <a:buFont typeface="Wingdings" pitchFamily="2" charset="2"/>
              <a:buChar char="Ø"/>
            </a:pPr>
            <a:endParaRPr lang="en-GB" dirty="0" smtClean="0"/>
          </a:p>
          <a:p>
            <a:pPr lvl="1">
              <a:buFont typeface="Wingdings" pitchFamily="2" charset="2"/>
              <a:buChar char="Ø"/>
            </a:pPr>
            <a:r>
              <a:rPr lang="en-GB" dirty="0" smtClean="0"/>
              <a:t>Extreme </a:t>
            </a:r>
            <a:r>
              <a:rPr lang="en-GB" dirty="0"/>
              <a:t>eosinophilia is common but may not be present even in severe cases</a:t>
            </a:r>
            <a:endParaRPr lang="en-US" dirty="0"/>
          </a:p>
          <a:p>
            <a:pPr lvl="1">
              <a:buFont typeface="Wingdings" pitchFamily="2" charset="2"/>
              <a:buChar char="Ø"/>
            </a:pPr>
            <a:r>
              <a:rPr lang="en-GB" dirty="0"/>
              <a:t>Death  is usually cause by heart failure, respiratory complications or kidney malfunction</a:t>
            </a:r>
            <a:endParaRPr lang="en-US" dirty="0"/>
          </a:p>
          <a:p>
            <a:pPr>
              <a:buFont typeface="Wingdings" pitchFamily="2" charset="2"/>
              <a:buChar char="Ø"/>
            </a:pPr>
            <a:endParaRPr lang="en-US" dirty="0"/>
          </a:p>
        </p:txBody>
      </p:sp>
    </p:spTree>
    <p:extLst>
      <p:ext uri="{BB962C8B-B14F-4D97-AF65-F5344CB8AC3E}">
        <p14:creationId xmlns:p14="http://schemas.microsoft.com/office/powerpoint/2010/main" val="3959609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GB" b="1" dirty="0"/>
              <a:t>Diagnosis and treatment</a:t>
            </a:r>
            <a:endParaRPr lang="en-US" b="1" dirty="0"/>
          </a:p>
          <a:p>
            <a:pPr lvl="0">
              <a:buFont typeface="Wingdings" pitchFamily="2" charset="2"/>
              <a:buChar char="v"/>
            </a:pPr>
            <a:r>
              <a:rPr lang="en-GB" dirty="0"/>
              <a:t>Most cases especially subclinical go undetected</a:t>
            </a:r>
            <a:endParaRPr lang="en-US" dirty="0"/>
          </a:p>
          <a:p>
            <a:pPr lvl="0">
              <a:buFont typeface="Wingdings" pitchFamily="2" charset="2"/>
              <a:buChar char="v"/>
            </a:pPr>
            <a:r>
              <a:rPr lang="en-GB" dirty="0"/>
              <a:t>Routine examination rarely detect juveniles in faeces, blood, milk or other secretions</a:t>
            </a:r>
            <a:endParaRPr lang="en-US" dirty="0"/>
          </a:p>
          <a:p>
            <a:pPr lvl="0">
              <a:buFont typeface="Wingdings" pitchFamily="2" charset="2"/>
              <a:buChar char="v"/>
            </a:pPr>
            <a:r>
              <a:rPr lang="en-GB" dirty="0"/>
              <a:t>Muscle biopsy is an accurate diagnostic (although seldom employed); pressing the tissue between glass plates and examining under low power is </a:t>
            </a:r>
            <a:r>
              <a:rPr lang="en-GB" dirty="0" smtClean="0"/>
              <a:t>useful,</a:t>
            </a:r>
          </a:p>
          <a:p>
            <a:pPr lvl="0">
              <a:buFont typeface="Wingdings" pitchFamily="2" charset="2"/>
              <a:buChar char="v"/>
            </a:pPr>
            <a:r>
              <a:rPr lang="en-GB" dirty="0" smtClean="0"/>
              <a:t> However </a:t>
            </a:r>
            <a:r>
              <a:rPr lang="en-GB" dirty="0"/>
              <a:t>if the muscle is digested in artificial gastric enzymes for several hours, this provides a much more reliable diagnostic techniques </a:t>
            </a:r>
            <a:endParaRPr lang="en-US" dirty="0"/>
          </a:p>
          <a:p>
            <a:endParaRPr lang="en-US" dirty="0"/>
          </a:p>
        </p:txBody>
      </p:sp>
    </p:spTree>
    <p:extLst>
      <p:ext uri="{BB962C8B-B14F-4D97-AF65-F5344CB8AC3E}">
        <p14:creationId xmlns:p14="http://schemas.microsoft.com/office/powerpoint/2010/main" val="91566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Biology of </a:t>
            </a:r>
            <a:r>
              <a:rPr lang="en-GB" b="1" i="1" dirty="0" smtClean="0"/>
              <a:t>T. </a:t>
            </a:r>
            <a:r>
              <a:rPr lang="en-GB" b="1" i="1" dirty="0" err="1" smtClean="0"/>
              <a:t>spiralis</a:t>
            </a:r>
            <a:r>
              <a:rPr lang="en-GB" b="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pPr lvl="0">
              <a:buFont typeface="Wingdings" pitchFamily="2" charset="2"/>
              <a:buChar char="v"/>
            </a:pPr>
            <a:r>
              <a:rPr lang="en-GB" dirty="0"/>
              <a:t>Several immune-diagnostic tests are now available </a:t>
            </a:r>
            <a:endParaRPr lang="en-US" dirty="0"/>
          </a:p>
          <a:p>
            <a:pPr lvl="0">
              <a:buFont typeface="Wingdings" pitchFamily="2" charset="2"/>
              <a:buChar char="v"/>
            </a:pPr>
            <a:r>
              <a:rPr lang="en-GB" dirty="0"/>
              <a:t>As no really satisfactory treatment is known relieving these symptoms by use of analgesics (pain relievers) and corticosteroids</a:t>
            </a:r>
            <a:endParaRPr lang="en-US" dirty="0"/>
          </a:p>
          <a:p>
            <a:pPr lvl="0">
              <a:buFont typeface="Wingdings" pitchFamily="2" charset="2"/>
              <a:buChar char="v"/>
            </a:pPr>
            <a:r>
              <a:rPr lang="en-GB" dirty="0"/>
              <a:t>Purging during the initial symptoms may dislodge females hat have not yet penetrated the intestinal epithelium; </a:t>
            </a:r>
            <a:endParaRPr lang="en-GB" dirty="0" smtClean="0"/>
          </a:p>
          <a:p>
            <a:pPr lvl="0">
              <a:buFont typeface="Wingdings" pitchFamily="2" charset="2"/>
              <a:buChar char="v"/>
            </a:pPr>
            <a:r>
              <a:rPr lang="en-GB" dirty="0" err="1" smtClean="0"/>
              <a:t>thiabendazole</a:t>
            </a:r>
            <a:r>
              <a:rPr lang="en-GB" dirty="0" smtClean="0"/>
              <a:t> </a:t>
            </a:r>
            <a:r>
              <a:rPr lang="en-GB" dirty="0"/>
              <a:t>has been shown to be effective in experimental animals</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1448453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Brugia</a:t>
            </a:r>
            <a:r>
              <a:rPr lang="en-US" b="1" i="1" dirty="0" smtClean="0"/>
              <a:t> spp.</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pPr>
              <a:buFont typeface="Wingdings" pitchFamily="2" charset="2"/>
              <a:buChar char="v"/>
            </a:pPr>
            <a:r>
              <a:rPr lang="en-US" dirty="0" smtClean="0"/>
              <a:t>Two </a:t>
            </a:r>
            <a:r>
              <a:rPr lang="en-US" dirty="0"/>
              <a:t>species </a:t>
            </a:r>
            <a:r>
              <a:rPr lang="en-US" i="1" dirty="0"/>
              <a:t>B. </a:t>
            </a:r>
            <a:r>
              <a:rPr lang="en-US" i="1" dirty="0" err="1"/>
              <a:t>malayi</a:t>
            </a:r>
            <a:r>
              <a:rPr lang="en-US" dirty="0"/>
              <a:t> and </a:t>
            </a:r>
            <a:r>
              <a:rPr lang="en-US" i="1" dirty="0"/>
              <a:t>B. </a:t>
            </a:r>
            <a:r>
              <a:rPr lang="en-US" i="1" dirty="0" err="1"/>
              <a:t>timori</a:t>
            </a:r>
            <a:r>
              <a:rPr lang="en-US" dirty="0"/>
              <a:t> cause lymphatic </a:t>
            </a:r>
            <a:r>
              <a:rPr lang="en-US" dirty="0" err="1"/>
              <a:t>filariasis</a:t>
            </a:r>
            <a:endParaRPr lang="en-US" dirty="0"/>
          </a:p>
          <a:p>
            <a:pPr marL="0" indent="0" algn="ctr">
              <a:buNone/>
            </a:pPr>
            <a:r>
              <a:rPr lang="en-US" b="1" dirty="0"/>
              <a:t>Distribution</a:t>
            </a:r>
            <a:endParaRPr lang="en-US" dirty="0"/>
          </a:p>
          <a:p>
            <a:pPr>
              <a:buFont typeface="Wingdings" pitchFamily="2" charset="2"/>
              <a:buChar char="v"/>
            </a:pPr>
            <a:r>
              <a:rPr lang="en-US" i="1" dirty="0"/>
              <a:t>B. </a:t>
            </a:r>
            <a:r>
              <a:rPr lang="en-US" i="1" dirty="0" err="1"/>
              <a:t>malayi</a:t>
            </a:r>
            <a:r>
              <a:rPr lang="en-US" dirty="0"/>
              <a:t> is endemic in parts of S. E. Asia, S. W. India, the </a:t>
            </a:r>
            <a:r>
              <a:rPr lang="en-US" dirty="0" err="1"/>
              <a:t>Phillippines</a:t>
            </a:r>
            <a:r>
              <a:rPr lang="en-US" dirty="0"/>
              <a:t>, Viet Nam, China and S. Korea</a:t>
            </a:r>
          </a:p>
          <a:p>
            <a:pPr>
              <a:buFont typeface="Wingdings" pitchFamily="2" charset="2"/>
              <a:buChar char="v"/>
            </a:pPr>
            <a:r>
              <a:rPr lang="en-US" dirty="0"/>
              <a:t>Two variants of this species are recognized, </a:t>
            </a:r>
            <a:r>
              <a:rPr lang="en-US" dirty="0" err="1"/>
              <a:t>viz</a:t>
            </a:r>
            <a:r>
              <a:rPr lang="en-US" dirty="0"/>
              <a:t>;</a:t>
            </a:r>
          </a:p>
          <a:p>
            <a:pPr marL="514350" lvl="0" indent="-514350">
              <a:buFont typeface="+mj-lt"/>
              <a:buAutoNum type="arabicPeriod"/>
            </a:pPr>
            <a:endParaRPr lang="en-US" dirty="0" smtClean="0"/>
          </a:p>
          <a:p>
            <a:pPr marL="514350" lvl="0" indent="-514350">
              <a:buFont typeface="+mj-lt"/>
              <a:buAutoNum type="arabicPeriod"/>
            </a:pPr>
            <a:r>
              <a:rPr lang="en-US" dirty="0" smtClean="0"/>
              <a:t>Periodic </a:t>
            </a:r>
            <a:r>
              <a:rPr lang="en-US" dirty="0"/>
              <a:t>(nocturnal)- the most widespread </a:t>
            </a:r>
          </a:p>
          <a:p>
            <a:pPr marL="514350" lvl="0" indent="-514350">
              <a:buFont typeface="+mj-lt"/>
              <a:buAutoNum type="arabicPeriod"/>
            </a:pPr>
            <a:r>
              <a:rPr lang="en-US" dirty="0" err="1"/>
              <a:t>Subperiodic</a:t>
            </a:r>
            <a:r>
              <a:rPr lang="en-US" dirty="0"/>
              <a:t> (nocturnal)</a:t>
            </a:r>
          </a:p>
          <a:p>
            <a:endParaRPr lang="en-US" dirty="0"/>
          </a:p>
        </p:txBody>
      </p:sp>
    </p:spTree>
    <p:extLst>
      <p:ext uri="{BB962C8B-B14F-4D97-AF65-F5344CB8AC3E}">
        <p14:creationId xmlns:p14="http://schemas.microsoft.com/office/powerpoint/2010/main" val="3597978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err="1" smtClean="0"/>
              <a:t>Brugia</a:t>
            </a:r>
            <a:r>
              <a:rPr lang="en-US" b="1" i="1" dirty="0" smtClean="0"/>
              <a:t> </a:t>
            </a:r>
            <a:r>
              <a:rPr lang="en-US" b="1" i="1" dirty="0" err="1" smtClean="0"/>
              <a:t>spp</a:t>
            </a:r>
            <a:r>
              <a:rPr lang="en-US" b="1" i="1" dirty="0" smtClean="0"/>
              <a:t> Cont’d</a:t>
            </a: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pPr>
              <a:buFont typeface="Wingdings" pitchFamily="2" charset="2"/>
              <a:buChar char="v"/>
            </a:pPr>
            <a:r>
              <a:rPr lang="en-US" i="1" dirty="0"/>
              <a:t>B. </a:t>
            </a:r>
            <a:r>
              <a:rPr lang="en-US" i="1" dirty="0" err="1"/>
              <a:t>malayi</a:t>
            </a:r>
            <a:r>
              <a:rPr lang="en-US" dirty="0"/>
              <a:t> is commonly found in open swamps and rice growing areas of coastal regions</a:t>
            </a:r>
            <a:r>
              <a:rPr lang="en-US" dirty="0" smtClean="0"/>
              <a:t>;</a:t>
            </a:r>
          </a:p>
          <a:p>
            <a:pPr>
              <a:buFont typeface="Wingdings" pitchFamily="2" charset="2"/>
              <a:buChar char="v"/>
            </a:pPr>
            <a:r>
              <a:rPr lang="en-US" dirty="0" smtClean="0"/>
              <a:t> </a:t>
            </a:r>
            <a:r>
              <a:rPr lang="en-US" dirty="0"/>
              <a:t>the </a:t>
            </a:r>
            <a:r>
              <a:rPr lang="en-US" dirty="0" err="1"/>
              <a:t>subperiodic</a:t>
            </a:r>
            <a:r>
              <a:rPr lang="en-US" dirty="0"/>
              <a:t> variant is found mostly in freshwater swamps in forests along major rivers. </a:t>
            </a:r>
            <a:endParaRPr lang="en-US" dirty="0" smtClean="0"/>
          </a:p>
          <a:p>
            <a:pPr>
              <a:buFont typeface="Wingdings" pitchFamily="2" charset="2"/>
              <a:buChar char="v"/>
            </a:pPr>
            <a:r>
              <a:rPr lang="en-US" i="1" dirty="0" smtClean="0"/>
              <a:t>B</a:t>
            </a:r>
            <a:r>
              <a:rPr lang="en-US" i="1" dirty="0"/>
              <a:t>. </a:t>
            </a:r>
            <a:r>
              <a:rPr lang="en-US" i="1" dirty="0" err="1"/>
              <a:t>timori</a:t>
            </a:r>
            <a:r>
              <a:rPr lang="en-US" dirty="0"/>
              <a:t> shows nocturnal periodicity, and is found in the lesser </a:t>
            </a:r>
            <a:r>
              <a:rPr lang="en-US" dirty="0" err="1"/>
              <a:t>Sundra</a:t>
            </a:r>
            <a:r>
              <a:rPr lang="en-US" dirty="0"/>
              <a:t> Islands of </a:t>
            </a:r>
            <a:r>
              <a:rPr lang="en-US" dirty="0" smtClean="0"/>
              <a:t>Indonesia.</a:t>
            </a:r>
          </a:p>
          <a:p>
            <a:pPr>
              <a:buFont typeface="Wingdings" pitchFamily="2" charset="2"/>
              <a:buChar char="v"/>
            </a:pPr>
            <a:r>
              <a:rPr lang="en-US" dirty="0" smtClean="0"/>
              <a:t>The </a:t>
            </a:r>
            <a:r>
              <a:rPr lang="en-US" dirty="0"/>
              <a:t>specific name is after the island of Timor, and the parasite  is found in low lying riverine and coastal areas</a:t>
            </a:r>
          </a:p>
          <a:p>
            <a:pPr>
              <a:buFont typeface="Wingdings" pitchFamily="2" charset="2"/>
              <a:buChar char="v"/>
            </a:pPr>
            <a:endParaRPr lang="en-US" dirty="0"/>
          </a:p>
        </p:txBody>
      </p:sp>
    </p:spTree>
    <p:extLst>
      <p:ext uri="{BB962C8B-B14F-4D97-AF65-F5344CB8AC3E}">
        <p14:creationId xmlns:p14="http://schemas.microsoft.com/office/powerpoint/2010/main" val="1648782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Brugia</a:t>
            </a:r>
            <a:r>
              <a:rPr lang="en-US" b="1" i="1" dirty="0" smtClean="0"/>
              <a:t> </a:t>
            </a:r>
            <a:r>
              <a:rPr lang="en-US" b="1" i="1" dirty="0" err="1" smtClean="0"/>
              <a:t>spp</a:t>
            </a:r>
            <a:r>
              <a:rPr lang="en-US" b="1" i="1" dirty="0" smtClean="0"/>
              <a:t> Cont’d</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marL="0" indent="0" algn="ctr">
              <a:buNone/>
            </a:pPr>
            <a:r>
              <a:rPr lang="en-US" b="1" dirty="0"/>
              <a:t>Transmission</a:t>
            </a:r>
            <a:endParaRPr lang="en-US" dirty="0"/>
          </a:p>
          <a:p>
            <a:pPr>
              <a:buFont typeface="Wingdings" pitchFamily="2" charset="2"/>
              <a:buChar char="v"/>
            </a:pPr>
            <a:r>
              <a:rPr lang="en-US" dirty="0"/>
              <a:t>Nocturnal periodic </a:t>
            </a:r>
            <a:r>
              <a:rPr lang="en-US" i="1" dirty="0"/>
              <a:t>B. </a:t>
            </a:r>
            <a:r>
              <a:rPr lang="en-US" i="1" dirty="0" err="1"/>
              <a:t>malayi</a:t>
            </a:r>
            <a:r>
              <a:rPr lang="en-US" dirty="0"/>
              <a:t> is transmitted mainly by </a:t>
            </a:r>
            <a:r>
              <a:rPr lang="en-US" dirty="0" err="1"/>
              <a:t>spp</a:t>
            </a:r>
            <a:r>
              <a:rPr lang="en-US" dirty="0"/>
              <a:t> of mosquitoes belonging to </a:t>
            </a:r>
            <a:r>
              <a:rPr lang="en-US" i="1" dirty="0"/>
              <a:t>Anopheles </a:t>
            </a:r>
            <a:r>
              <a:rPr lang="en-US" dirty="0"/>
              <a:t>and </a:t>
            </a:r>
            <a:r>
              <a:rPr lang="en-US" i="1" dirty="0" err="1"/>
              <a:t>Mansonia</a:t>
            </a:r>
            <a:endParaRPr lang="en-US" dirty="0"/>
          </a:p>
          <a:p>
            <a:pPr>
              <a:buFont typeface="Wingdings" pitchFamily="2" charset="2"/>
              <a:buChar char="v"/>
            </a:pPr>
            <a:r>
              <a:rPr lang="en-US" dirty="0" err="1"/>
              <a:t>Subperiodic</a:t>
            </a:r>
            <a:r>
              <a:rPr lang="en-US" dirty="0"/>
              <a:t> </a:t>
            </a:r>
            <a:r>
              <a:rPr lang="en-US" i="1" dirty="0"/>
              <a:t>B. </a:t>
            </a:r>
            <a:r>
              <a:rPr lang="en-US" i="1" dirty="0" err="1"/>
              <a:t>malayi</a:t>
            </a:r>
            <a:r>
              <a:rPr lang="en-US" dirty="0"/>
              <a:t> is transmitted by </a:t>
            </a:r>
            <a:r>
              <a:rPr lang="en-US" i="1" dirty="0" err="1"/>
              <a:t>Mansonia</a:t>
            </a:r>
            <a:r>
              <a:rPr lang="en-US" i="1" dirty="0"/>
              <a:t> </a:t>
            </a:r>
            <a:r>
              <a:rPr lang="en-US" dirty="0"/>
              <a:t>mosquitoes</a:t>
            </a:r>
            <a:r>
              <a:rPr lang="en-US" dirty="0" smtClean="0"/>
              <a:t>.</a:t>
            </a:r>
          </a:p>
          <a:p>
            <a:pPr>
              <a:buFont typeface="Wingdings" pitchFamily="2" charset="2"/>
              <a:buChar char="v"/>
            </a:pPr>
            <a:r>
              <a:rPr lang="en-US" dirty="0" smtClean="0"/>
              <a:t> </a:t>
            </a:r>
            <a:r>
              <a:rPr lang="en-US" dirty="0"/>
              <a:t>Monkeys are important reservoirs of this parasite in parts of Malaysia and nearby regions.</a:t>
            </a:r>
          </a:p>
          <a:p>
            <a:pPr>
              <a:buFont typeface="Wingdings" pitchFamily="2" charset="2"/>
              <a:buChar char="v"/>
            </a:pPr>
            <a:r>
              <a:rPr lang="en-US" dirty="0"/>
              <a:t>Domestic cats and dogs, and other animals are also thought, to be reservoir </a:t>
            </a:r>
            <a:r>
              <a:rPr lang="en-US" dirty="0" smtClean="0"/>
              <a:t>hosts.</a:t>
            </a:r>
          </a:p>
          <a:p>
            <a:pPr>
              <a:buFont typeface="Wingdings" pitchFamily="2" charset="2"/>
              <a:buChar char="v"/>
            </a:pPr>
            <a:r>
              <a:rPr lang="en-US" i="1" dirty="0" smtClean="0"/>
              <a:t>B</a:t>
            </a:r>
            <a:r>
              <a:rPr lang="en-US" i="1" dirty="0"/>
              <a:t>. </a:t>
            </a:r>
            <a:r>
              <a:rPr lang="en-US" i="1" dirty="0" err="1"/>
              <a:t>timori</a:t>
            </a:r>
            <a:r>
              <a:rPr lang="en-US" dirty="0"/>
              <a:t> is transmitted by </a:t>
            </a:r>
            <a:r>
              <a:rPr lang="en-US" i="1" dirty="0"/>
              <a:t>Anopheles </a:t>
            </a:r>
            <a:r>
              <a:rPr lang="en-US" dirty="0" smtClean="0"/>
              <a:t>mosquitoes</a:t>
            </a:r>
            <a:endParaRPr lang="en-US" dirty="0"/>
          </a:p>
        </p:txBody>
      </p:sp>
    </p:spTree>
    <p:extLst>
      <p:ext uri="{BB962C8B-B14F-4D97-AF65-F5344CB8AC3E}">
        <p14:creationId xmlns:p14="http://schemas.microsoft.com/office/powerpoint/2010/main" val="3448694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Brugia</a:t>
            </a:r>
            <a:r>
              <a:rPr lang="en-US" b="1" i="1" dirty="0" smtClean="0"/>
              <a:t> </a:t>
            </a:r>
            <a:r>
              <a:rPr lang="en-US" b="1" i="1" dirty="0" err="1" smtClean="0"/>
              <a:t>spp</a:t>
            </a:r>
            <a:r>
              <a:rPr lang="en-US" b="1" i="1" dirty="0" smtClean="0"/>
              <a:t> Cont’d</a:t>
            </a:r>
            <a:endParaRPr lang="en-US" dirty="0"/>
          </a:p>
        </p:txBody>
      </p:sp>
      <p:sp>
        <p:nvSpPr>
          <p:cNvPr id="3" name="Content Placeholder 2"/>
          <p:cNvSpPr>
            <a:spLocks noGrp="1"/>
          </p:cNvSpPr>
          <p:nvPr>
            <p:ph idx="1"/>
          </p:nvPr>
        </p:nvSpPr>
        <p:spPr>
          <a:xfrm>
            <a:off x="457200" y="1600200"/>
            <a:ext cx="8229600" cy="4800600"/>
          </a:xfrm>
        </p:spPr>
        <p:txBody>
          <a:bodyPr>
            <a:normAutofit fontScale="92500"/>
          </a:bodyPr>
          <a:lstStyle/>
          <a:p>
            <a:pPr marL="0" indent="0" algn="ctr">
              <a:buNone/>
            </a:pPr>
            <a:r>
              <a:rPr lang="en-US" b="1" dirty="0"/>
              <a:t>Life Cycle </a:t>
            </a:r>
          </a:p>
          <a:p>
            <a:pPr>
              <a:buFont typeface="Wingdings" pitchFamily="2" charset="2"/>
              <a:buChar char="v"/>
            </a:pPr>
            <a:r>
              <a:rPr lang="en-US" dirty="0" smtClean="0"/>
              <a:t>That </a:t>
            </a:r>
            <a:r>
              <a:rPr lang="en-US" dirty="0"/>
              <a:t>of </a:t>
            </a:r>
            <a:r>
              <a:rPr lang="en-US" i="1" dirty="0" err="1"/>
              <a:t>Brugia</a:t>
            </a:r>
            <a:r>
              <a:rPr lang="en-US" i="1" dirty="0"/>
              <a:t> spp</a:t>
            </a:r>
            <a:r>
              <a:rPr lang="en-US" dirty="0"/>
              <a:t>. similar to that of </a:t>
            </a:r>
            <a:r>
              <a:rPr lang="en-US" i="1" dirty="0"/>
              <a:t>W. </a:t>
            </a:r>
            <a:r>
              <a:rPr lang="en-US" i="1" dirty="0" err="1"/>
              <a:t>bancrofti</a:t>
            </a:r>
            <a:endParaRPr lang="en-US" dirty="0"/>
          </a:p>
          <a:p>
            <a:pPr marL="0" indent="0" algn="ctr">
              <a:buNone/>
            </a:pPr>
            <a:r>
              <a:rPr lang="en-US" b="1" dirty="0"/>
              <a:t>Symptoms and Pathology</a:t>
            </a:r>
            <a:endParaRPr lang="en-US" dirty="0"/>
          </a:p>
          <a:p>
            <a:pPr>
              <a:buFont typeface="Wingdings" pitchFamily="2" charset="2"/>
              <a:buChar char="v"/>
            </a:pPr>
            <a:r>
              <a:rPr lang="en-US" dirty="0"/>
              <a:t>Similar to those of </a:t>
            </a:r>
            <a:r>
              <a:rPr lang="en-US" i="1" dirty="0"/>
              <a:t>W. </a:t>
            </a:r>
            <a:r>
              <a:rPr lang="en-US" i="1" dirty="0" err="1"/>
              <a:t>bancrofti</a:t>
            </a:r>
            <a:r>
              <a:rPr lang="en-US" dirty="0"/>
              <a:t>, but symptomless carriers are common, however, symptoms tend to develop more rapidly and children are often more affected than adults. </a:t>
            </a:r>
            <a:endParaRPr lang="en-US" dirty="0" smtClean="0"/>
          </a:p>
          <a:p>
            <a:pPr>
              <a:buFont typeface="Wingdings" pitchFamily="2" charset="2"/>
              <a:buChar char="v"/>
            </a:pPr>
            <a:r>
              <a:rPr lang="en-US" dirty="0" smtClean="0"/>
              <a:t>Elephantiasis </a:t>
            </a:r>
            <a:r>
              <a:rPr lang="en-US" dirty="0"/>
              <a:t>occurs less frequently and tends to involve only the lower limbs</a:t>
            </a:r>
          </a:p>
          <a:p>
            <a:endParaRPr lang="en-US" dirty="0"/>
          </a:p>
        </p:txBody>
      </p:sp>
    </p:spTree>
    <p:extLst>
      <p:ext uri="{BB962C8B-B14F-4D97-AF65-F5344CB8AC3E}">
        <p14:creationId xmlns:p14="http://schemas.microsoft.com/office/powerpoint/2010/main" val="2337975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Brugia</a:t>
            </a:r>
            <a:r>
              <a:rPr lang="en-US" b="1" i="1" dirty="0" smtClean="0"/>
              <a:t> </a:t>
            </a:r>
            <a:r>
              <a:rPr lang="en-US" b="1" i="1" dirty="0" err="1" smtClean="0"/>
              <a:t>spp</a:t>
            </a:r>
            <a:r>
              <a:rPr lang="en-US" b="1" i="1" dirty="0" smtClean="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scrotum and spermatic cord are not usually affected and </a:t>
            </a:r>
            <a:r>
              <a:rPr lang="en-US" dirty="0" err="1"/>
              <a:t>chyluria</a:t>
            </a:r>
            <a:r>
              <a:rPr lang="en-US" dirty="0"/>
              <a:t> and hydrocele  are rarely seen.</a:t>
            </a:r>
          </a:p>
          <a:p>
            <a:pPr>
              <a:buFont typeface="Wingdings" pitchFamily="2" charset="2"/>
              <a:buChar char="v"/>
            </a:pPr>
            <a:r>
              <a:rPr lang="en-US" dirty="0"/>
              <a:t>Filarial </a:t>
            </a:r>
            <a:r>
              <a:rPr lang="en-US" dirty="0" err="1"/>
              <a:t>absceses</a:t>
            </a:r>
            <a:r>
              <a:rPr lang="en-US" dirty="0"/>
              <a:t> are common with </a:t>
            </a:r>
            <a:r>
              <a:rPr lang="en-US" i="1" dirty="0"/>
              <a:t>B. </a:t>
            </a:r>
            <a:r>
              <a:rPr lang="en-US" i="1" dirty="0" err="1"/>
              <a:t>timori</a:t>
            </a:r>
            <a:r>
              <a:rPr lang="en-US" dirty="0"/>
              <a:t> infections.</a:t>
            </a:r>
          </a:p>
          <a:p>
            <a:pPr>
              <a:buFont typeface="Wingdings" pitchFamily="2" charset="2"/>
              <a:buChar char="v"/>
            </a:pPr>
            <a:endParaRPr lang="en-US" dirty="0"/>
          </a:p>
        </p:txBody>
      </p:sp>
    </p:spTree>
    <p:extLst>
      <p:ext uri="{BB962C8B-B14F-4D97-AF65-F5344CB8AC3E}">
        <p14:creationId xmlns:p14="http://schemas.microsoft.com/office/powerpoint/2010/main" val="11650518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Brugia</a:t>
            </a:r>
            <a:r>
              <a:rPr lang="en-US" b="1" i="1" dirty="0" smtClean="0"/>
              <a:t> </a:t>
            </a:r>
            <a:r>
              <a:rPr lang="en-US" b="1" i="1" dirty="0" err="1" smtClean="0"/>
              <a:t>spp</a:t>
            </a:r>
            <a:r>
              <a:rPr lang="en-US" b="1" i="1" dirty="0" smtClean="0"/>
              <a:t> Cont’d</a:t>
            </a: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Prevention and Control</a:t>
            </a:r>
            <a:endParaRPr lang="en-US" dirty="0"/>
          </a:p>
          <a:p>
            <a:pPr>
              <a:buFont typeface="Wingdings" pitchFamily="2" charset="2"/>
              <a:buChar char="v"/>
            </a:pPr>
            <a:r>
              <a:rPr lang="en-US" dirty="0" smtClean="0"/>
              <a:t>Similar </a:t>
            </a:r>
            <a:r>
              <a:rPr lang="en-US" dirty="0"/>
              <a:t>to those for </a:t>
            </a:r>
            <a:r>
              <a:rPr lang="en-US" i="1" dirty="0"/>
              <a:t>W. </a:t>
            </a:r>
            <a:r>
              <a:rPr lang="en-US" i="1" dirty="0" err="1"/>
              <a:t>bancrofti</a:t>
            </a:r>
            <a:r>
              <a:rPr lang="en-US" dirty="0"/>
              <a:t>. </a:t>
            </a:r>
            <a:endParaRPr lang="en-US" dirty="0" smtClean="0"/>
          </a:p>
          <a:p>
            <a:pPr>
              <a:buFont typeface="Wingdings" pitchFamily="2" charset="2"/>
              <a:buChar char="v"/>
            </a:pPr>
            <a:r>
              <a:rPr lang="en-US" dirty="0" smtClean="0"/>
              <a:t> </a:t>
            </a:r>
            <a:r>
              <a:rPr lang="en-US" dirty="0"/>
              <a:t>For control of </a:t>
            </a:r>
            <a:r>
              <a:rPr lang="en-US" i="1" dirty="0" err="1"/>
              <a:t>Mansonia</a:t>
            </a:r>
            <a:r>
              <a:rPr lang="en-US" dirty="0"/>
              <a:t> mosquitoes, selective weed killers have proved </a:t>
            </a:r>
            <a:r>
              <a:rPr lang="en-US" dirty="0" smtClean="0"/>
              <a:t>most the effective (</a:t>
            </a:r>
            <a:r>
              <a:rPr lang="en-US" i="1" dirty="0" err="1" smtClean="0"/>
              <a:t>Mansonia</a:t>
            </a:r>
            <a:r>
              <a:rPr lang="en-US" i="1" dirty="0" smtClean="0"/>
              <a:t> spp</a:t>
            </a:r>
            <a:r>
              <a:rPr lang="en-US" dirty="0" smtClean="0"/>
              <a:t>. are the important vectors of </a:t>
            </a:r>
            <a:r>
              <a:rPr lang="en-US" i="1" dirty="0" smtClean="0"/>
              <a:t>B. </a:t>
            </a:r>
            <a:r>
              <a:rPr lang="en-US" i="1" dirty="0" err="1" smtClean="0"/>
              <a:t>malayi</a:t>
            </a:r>
            <a:r>
              <a:rPr lang="en-US" i="1" dirty="0" smtClean="0"/>
              <a:t>)</a:t>
            </a:r>
            <a:endParaRPr lang="en-US" dirty="0" smtClean="0"/>
          </a:p>
          <a:p>
            <a:pPr>
              <a:buFont typeface="Wingdings" pitchFamily="2" charset="2"/>
              <a:buChar char="v"/>
            </a:pPr>
            <a:r>
              <a:rPr lang="en-US" dirty="0" smtClean="0"/>
              <a:t>Where </a:t>
            </a:r>
            <a:r>
              <a:rPr lang="en-US" dirty="0"/>
              <a:t>monkeys are important reservoirs of infection, trees around settlements must be cleared.</a:t>
            </a:r>
          </a:p>
          <a:p>
            <a:endParaRPr lang="en-US" dirty="0"/>
          </a:p>
        </p:txBody>
      </p:sp>
    </p:spTree>
    <p:extLst>
      <p:ext uri="{BB962C8B-B14F-4D97-AF65-F5344CB8AC3E}">
        <p14:creationId xmlns:p14="http://schemas.microsoft.com/office/powerpoint/2010/main" val="2794117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Brugia</a:t>
            </a:r>
            <a:r>
              <a:rPr lang="en-US" b="1" i="1" dirty="0" smtClean="0"/>
              <a:t> </a:t>
            </a:r>
            <a:r>
              <a:rPr lang="en-US" b="1" i="1" dirty="0" err="1" smtClean="0"/>
              <a:t>spp</a:t>
            </a:r>
            <a:r>
              <a:rPr lang="en-US" b="1" i="1" dirty="0" smtClean="0"/>
              <a:t> Cont’d</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marL="0" indent="0" algn="ctr">
              <a:buNone/>
            </a:pPr>
            <a:r>
              <a:rPr lang="en-US" b="1" dirty="0"/>
              <a:t>Diagnosis</a:t>
            </a:r>
            <a:endParaRPr lang="en-US" dirty="0"/>
          </a:p>
          <a:p>
            <a:pPr>
              <a:buFont typeface="Wingdings" pitchFamily="2" charset="2"/>
              <a:buChar char="v"/>
            </a:pPr>
            <a:r>
              <a:rPr lang="en-US" dirty="0"/>
              <a:t>Examination of blood for </a:t>
            </a:r>
            <a:r>
              <a:rPr lang="en-US" i="1" dirty="0" err="1"/>
              <a:t>Brugia</a:t>
            </a:r>
            <a:r>
              <a:rPr lang="en-US" i="1" dirty="0"/>
              <a:t> </a:t>
            </a:r>
            <a:r>
              <a:rPr lang="en-US" dirty="0"/>
              <a:t>microfilaria; there is blood eosinophilia</a:t>
            </a:r>
          </a:p>
          <a:p>
            <a:pPr>
              <a:buFont typeface="Wingdings" pitchFamily="2" charset="2"/>
              <a:buChar char="v"/>
            </a:pPr>
            <a:r>
              <a:rPr lang="en-US" dirty="0"/>
              <a:t>Blood collection times:</a:t>
            </a:r>
          </a:p>
          <a:p>
            <a:pPr marL="514350" lvl="0" indent="-514350">
              <a:buFont typeface="+mj-lt"/>
              <a:buAutoNum type="arabicPeriod"/>
            </a:pPr>
            <a:r>
              <a:rPr lang="en-US" dirty="0"/>
              <a:t>Periodic B. </a:t>
            </a:r>
            <a:r>
              <a:rPr lang="en-US" dirty="0" err="1"/>
              <a:t>malayi</a:t>
            </a:r>
            <a:r>
              <a:rPr lang="en-US" dirty="0"/>
              <a:t> 22.00-04.00 </a:t>
            </a:r>
            <a:r>
              <a:rPr lang="en-US" dirty="0" err="1"/>
              <a:t>hrs</a:t>
            </a:r>
            <a:r>
              <a:rPr lang="en-US" dirty="0"/>
              <a:t> (24.00 </a:t>
            </a:r>
            <a:r>
              <a:rPr lang="en-US" dirty="0" err="1"/>
              <a:t>hrs</a:t>
            </a:r>
            <a:r>
              <a:rPr lang="en-US" dirty="0"/>
              <a:t>)</a:t>
            </a:r>
          </a:p>
          <a:p>
            <a:pPr marL="514350" lvl="0" indent="-514350">
              <a:buFont typeface="+mj-lt"/>
              <a:buAutoNum type="arabicPeriod"/>
            </a:pPr>
            <a:r>
              <a:rPr lang="en-US" dirty="0" err="1"/>
              <a:t>Subperiodic</a:t>
            </a:r>
            <a:r>
              <a:rPr lang="en-US" dirty="0"/>
              <a:t> B. </a:t>
            </a:r>
            <a:r>
              <a:rPr lang="en-US" dirty="0" err="1"/>
              <a:t>malayi</a:t>
            </a:r>
            <a:r>
              <a:rPr lang="en-US" dirty="0"/>
              <a:t> 20.00-22.00 (21.00 </a:t>
            </a:r>
            <a:r>
              <a:rPr lang="en-US" dirty="0" err="1"/>
              <a:t>hrs</a:t>
            </a:r>
            <a:r>
              <a:rPr lang="en-US" dirty="0"/>
              <a:t>)</a:t>
            </a:r>
          </a:p>
          <a:p>
            <a:pPr marL="514350" lvl="0" indent="-514350">
              <a:buFont typeface="+mj-lt"/>
              <a:buAutoNum type="arabicPeriod"/>
            </a:pPr>
            <a:r>
              <a:rPr lang="en-US" dirty="0"/>
              <a:t>Periodic B. </a:t>
            </a:r>
            <a:r>
              <a:rPr lang="en-US" dirty="0" err="1"/>
              <a:t>timori</a:t>
            </a:r>
            <a:r>
              <a:rPr lang="en-US" dirty="0"/>
              <a:t> 22.00-04.00 </a:t>
            </a:r>
            <a:r>
              <a:rPr lang="en-US" dirty="0" err="1"/>
              <a:t>hrs</a:t>
            </a:r>
            <a:r>
              <a:rPr lang="en-US" dirty="0"/>
              <a:t> (24.00 </a:t>
            </a:r>
            <a:r>
              <a:rPr lang="en-US" dirty="0" err="1"/>
              <a:t>hrs</a:t>
            </a:r>
            <a:r>
              <a:rPr lang="en-US" dirty="0"/>
              <a:t>)</a:t>
            </a:r>
          </a:p>
          <a:p>
            <a:pPr marL="0" indent="0">
              <a:buNone/>
            </a:pPr>
            <a:endParaRPr lang="en-US" dirty="0" smtClean="0"/>
          </a:p>
          <a:p>
            <a:pPr marL="0" indent="0">
              <a:buNone/>
            </a:pPr>
            <a:r>
              <a:rPr lang="en-US" dirty="0" smtClean="0"/>
              <a:t>Outside </a:t>
            </a:r>
            <a:r>
              <a:rPr lang="en-US" dirty="0"/>
              <a:t>these periods, microfilaria may still be present in blood but would be more difficult to detect.</a:t>
            </a:r>
          </a:p>
          <a:p>
            <a:endParaRPr lang="en-US" dirty="0"/>
          </a:p>
        </p:txBody>
      </p:sp>
    </p:spTree>
    <p:extLst>
      <p:ext uri="{BB962C8B-B14F-4D97-AF65-F5344CB8AC3E}">
        <p14:creationId xmlns:p14="http://schemas.microsoft.com/office/powerpoint/2010/main" val="3072319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smtClean="0"/>
              <a:t>The </a:t>
            </a:r>
            <a:r>
              <a:rPr lang="en-US" dirty="0"/>
              <a:t>cause of </a:t>
            </a:r>
            <a:r>
              <a:rPr lang="en-US" dirty="0" err="1"/>
              <a:t>loiasis</a:t>
            </a:r>
            <a:r>
              <a:rPr lang="en-US" dirty="0"/>
              <a:t>, a subcutaneous </a:t>
            </a:r>
            <a:r>
              <a:rPr lang="en-US" dirty="0" err="1"/>
              <a:t>filariasis</a:t>
            </a:r>
            <a:r>
              <a:rPr lang="en-US" dirty="0"/>
              <a:t> also known as ‘</a:t>
            </a:r>
            <a:r>
              <a:rPr lang="en-US" dirty="0" err="1"/>
              <a:t>Calabar</a:t>
            </a:r>
            <a:r>
              <a:rPr lang="en-US" dirty="0"/>
              <a:t> swelling’.</a:t>
            </a:r>
          </a:p>
          <a:p>
            <a:pPr>
              <a:buFont typeface="Wingdings" pitchFamily="2" charset="2"/>
              <a:buChar char="v"/>
            </a:pPr>
            <a:r>
              <a:rPr lang="en-US" dirty="0"/>
              <a:t>The parasite (adult worm) sometimes migrates across the conjunctiva or eyelid, hence referred to as the ‘eye worm’.</a:t>
            </a:r>
          </a:p>
          <a:p>
            <a:pPr marL="0" indent="0" algn="ctr">
              <a:buNone/>
            </a:pPr>
            <a:r>
              <a:rPr lang="en-US" b="1" dirty="0" smtClean="0"/>
              <a:t>Distribution</a:t>
            </a:r>
            <a:endParaRPr lang="en-US" dirty="0"/>
          </a:p>
          <a:p>
            <a:pPr>
              <a:buFont typeface="Wingdings" pitchFamily="2" charset="2"/>
              <a:buChar char="v"/>
            </a:pPr>
            <a:r>
              <a:rPr lang="en-US" dirty="0"/>
              <a:t>Restricted to the equatorial rain forest areas of West and Central Africa.</a:t>
            </a:r>
          </a:p>
          <a:p>
            <a:endParaRPr lang="en-US" dirty="0"/>
          </a:p>
        </p:txBody>
      </p:sp>
    </p:spTree>
    <p:extLst>
      <p:ext uri="{BB962C8B-B14F-4D97-AF65-F5344CB8AC3E}">
        <p14:creationId xmlns:p14="http://schemas.microsoft.com/office/powerpoint/2010/main" val="27037135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Transmission</a:t>
            </a:r>
            <a:endParaRPr lang="en-US" dirty="0"/>
          </a:p>
          <a:p>
            <a:pPr>
              <a:buFont typeface="Wingdings" pitchFamily="2" charset="2"/>
              <a:buChar char="v"/>
            </a:pPr>
            <a:r>
              <a:rPr lang="en-US" dirty="0"/>
              <a:t>By blood-sucking daytime biting </a:t>
            </a:r>
            <a:r>
              <a:rPr lang="en-US" dirty="0" err="1"/>
              <a:t>tabanid</a:t>
            </a:r>
            <a:r>
              <a:rPr lang="en-US" dirty="0"/>
              <a:t> flies of the genus. </a:t>
            </a:r>
            <a:r>
              <a:rPr lang="en-US" i="1" dirty="0" err="1"/>
              <a:t>Chrysops</a:t>
            </a:r>
            <a:r>
              <a:rPr lang="en-US" i="1" dirty="0"/>
              <a:t> </a:t>
            </a:r>
            <a:r>
              <a:rPr lang="en-US" dirty="0"/>
              <a:t>(often referred to as Mangrove flies or horseflies).</a:t>
            </a:r>
          </a:p>
          <a:p>
            <a:pPr marL="0" indent="0" algn="ctr">
              <a:buNone/>
            </a:pPr>
            <a:r>
              <a:rPr lang="en-US" b="1" dirty="0" smtClean="0"/>
              <a:t>Life </a:t>
            </a:r>
            <a:r>
              <a:rPr lang="en-US" b="1" dirty="0"/>
              <a:t>Cycle</a:t>
            </a:r>
            <a:endParaRPr lang="en-US" dirty="0"/>
          </a:p>
          <a:p>
            <a:pPr>
              <a:buFont typeface="Wingdings" pitchFamily="2" charset="2"/>
              <a:buChar char="v"/>
            </a:pPr>
            <a:r>
              <a:rPr lang="en-US" dirty="0"/>
              <a:t>Infective larvae (in large numbers) enter human skin through the deep wound made by an infected </a:t>
            </a:r>
            <a:r>
              <a:rPr lang="en-US" i="1" dirty="0" err="1"/>
              <a:t>Chrysops</a:t>
            </a:r>
            <a:r>
              <a:rPr lang="en-US" dirty="0"/>
              <a:t> fly when it sucks </a:t>
            </a:r>
            <a:r>
              <a:rPr lang="en-US" dirty="0" smtClean="0"/>
              <a:t>blood.</a:t>
            </a:r>
            <a:endParaRPr lang="en-US" dirty="0"/>
          </a:p>
          <a:p>
            <a:endParaRPr lang="en-US" dirty="0"/>
          </a:p>
        </p:txBody>
      </p:sp>
    </p:spTree>
    <p:extLst>
      <p:ext uri="{BB962C8B-B14F-4D97-AF65-F5344CB8AC3E}">
        <p14:creationId xmlns:p14="http://schemas.microsoft.com/office/powerpoint/2010/main" val="2210015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v"/>
            </a:pPr>
            <a:r>
              <a:rPr lang="en-US" dirty="0"/>
              <a:t>The larvae penetrate the sub-cutaneous connective tissues and within 12 months develop into mature male and female worms which may live for 4-12 years in the host, </a:t>
            </a:r>
            <a:endParaRPr lang="en-US" dirty="0" smtClean="0"/>
          </a:p>
          <a:p>
            <a:pPr>
              <a:buFont typeface="Wingdings" pitchFamily="2" charset="2"/>
              <a:buChar char="v"/>
            </a:pPr>
            <a:r>
              <a:rPr lang="en-US" dirty="0" smtClean="0"/>
              <a:t>wandering </a:t>
            </a:r>
            <a:r>
              <a:rPr lang="en-US" dirty="0"/>
              <a:t>in the sub-cutaneous tissue and occasionally in the conjunctiva of the eye.</a:t>
            </a:r>
          </a:p>
          <a:p>
            <a:pPr>
              <a:buFont typeface="Wingdings" pitchFamily="2" charset="2"/>
              <a:buChar char="v"/>
            </a:pPr>
            <a:r>
              <a:rPr lang="en-US" dirty="0"/>
              <a:t>Viviparous females produce sheathed microfilaria (mf) which can be found in the blood during day hours and can also be found in the tissues.</a:t>
            </a:r>
          </a:p>
          <a:p>
            <a:pPr marL="0" indent="0">
              <a:buNone/>
            </a:pPr>
            <a:endParaRPr lang="en-US" dirty="0"/>
          </a:p>
        </p:txBody>
      </p:sp>
    </p:spTree>
    <p:extLst>
      <p:ext uri="{BB962C8B-B14F-4D97-AF65-F5344CB8AC3E}">
        <p14:creationId xmlns:p14="http://schemas.microsoft.com/office/powerpoint/2010/main" val="2818645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A female </a:t>
            </a:r>
            <a:r>
              <a:rPr lang="en-US" i="1" dirty="0" err="1"/>
              <a:t>Chrysops</a:t>
            </a:r>
            <a:r>
              <a:rPr lang="en-US" dirty="0"/>
              <a:t> fly takes up the mf when sucking blood </a:t>
            </a:r>
            <a:endParaRPr lang="en-US" dirty="0" smtClean="0"/>
          </a:p>
          <a:p>
            <a:pPr>
              <a:buFont typeface="Wingdings" pitchFamily="2" charset="2"/>
              <a:buChar char="v"/>
            </a:pPr>
            <a:r>
              <a:rPr lang="en-US" dirty="0" smtClean="0"/>
              <a:t>and </a:t>
            </a:r>
            <a:r>
              <a:rPr lang="en-US" dirty="0"/>
              <a:t>in its stomach they lose their sheath, pass through the stomach wall, penetrate the thoracic muscles and develop into infective larvae in about 10 days.</a:t>
            </a:r>
          </a:p>
          <a:p>
            <a:pPr>
              <a:buFont typeface="Wingdings" pitchFamily="2" charset="2"/>
              <a:buChar char="v"/>
            </a:pPr>
            <a:r>
              <a:rPr lang="en-US" dirty="0"/>
              <a:t>Mature infective larvae migrate to the mouthparts of the insect ready to be transmitted by the fly.</a:t>
            </a:r>
          </a:p>
          <a:p>
            <a:endParaRPr lang="en-US" dirty="0"/>
          </a:p>
        </p:txBody>
      </p:sp>
    </p:spTree>
    <p:extLst>
      <p:ext uri="{BB962C8B-B14F-4D97-AF65-F5344CB8AC3E}">
        <p14:creationId xmlns:p14="http://schemas.microsoft.com/office/powerpoint/2010/main" val="1572808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lgn="ctr">
              <a:buNone/>
            </a:pPr>
            <a:r>
              <a:rPr lang="en-US" b="1" dirty="0"/>
              <a:t>Symptoms and Pathology</a:t>
            </a:r>
            <a:endParaRPr lang="en-US" dirty="0"/>
          </a:p>
          <a:p>
            <a:pPr>
              <a:buFont typeface="Wingdings" pitchFamily="2" charset="2"/>
              <a:buChar char="v"/>
            </a:pPr>
            <a:r>
              <a:rPr lang="en-US" dirty="0"/>
              <a:t>Many people infected do not develop clinical symptoms. </a:t>
            </a:r>
            <a:endParaRPr lang="en-US" dirty="0" smtClean="0"/>
          </a:p>
          <a:p>
            <a:pPr>
              <a:buFont typeface="Wingdings" pitchFamily="2" charset="2"/>
              <a:buChar char="v"/>
            </a:pPr>
            <a:r>
              <a:rPr lang="en-US" dirty="0" smtClean="0"/>
              <a:t>The </a:t>
            </a:r>
            <a:r>
              <a:rPr lang="en-US" dirty="0"/>
              <a:t>disease however, is </a:t>
            </a:r>
            <a:r>
              <a:rPr lang="en-US" dirty="0" err="1"/>
              <a:t>charaterised</a:t>
            </a:r>
            <a:r>
              <a:rPr lang="en-US" dirty="0"/>
              <a:t> by the formation of swellings (</a:t>
            </a:r>
            <a:r>
              <a:rPr lang="en-US" dirty="0" err="1"/>
              <a:t>Calabar</a:t>
            </a:r>
            <a:r>
              <a:rPr lang="en-US" dirty="0"/>
              <a:t> Swellings) which may last from a few days up to 3 weeks, measuring 3-10cm in diameter.</a:t>
            </a:r>
          </a:p>
        </p:txBody>
      </p:sp>
    </p:spTree>
    <p:extLst>
      <p:ext uri="{BB962C8B-B14F-4D97-AF65-F5344CB8AC3E}">
        <p14:creationId xmlns:p14="http://schemas.microsoft.com/office/powerpoint/2010/main" val="1011247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arms are most frequently affected, with an allergic response to adult worms migrating in the subcutaneous tissue showing as </a:t>
            </a:r>
            <a:r>
              <a:rPr lang="en-US" dirty="0" err="1"/>
              <a:t>inflammed</a:t>
            </a:r>
            <a:r>
              <a:rPr lang="en-US" dirty="0"/>
              <a:t> areas</a:t>
            </a:r>
          </a:p>
          <a:p>
            <a:pPr>
              <a:buFont typeface="Wingdings" pitchFamily="2" charset="2"/>
              <a:buChar char="v"/>
            </a:pPr>
            <a:r>
              <a:rPr lang="en-US" dirty="0"/>
              <a:t>The worms may not be present in the swellings though they may occasionally be seen migrating below the skin surface. </a:t>
            </a:r>
            <a:endParaRPr lang="en-US" dirty="0" smtClean="0"/>
          </a:p>
          <a:p>
            <a:pPr>
              <a:buFont typeface="Wingdings" pitchFamily="2" charset="2"/>
              <a:buChar char="v"/>
            </a:pPr>
            <a:endParaRPr lang="en-US" dirty="0"/>
          </a:p>
        </p:txBody>
      </p:sp>
    </p:spTree>
    <p:extLst>
      <p:ext uri="{BB962C8B-B14F-4D97-AF65-F5344CB8AC3E}">
        <p14:creationId xmlns:p14="http://schemas.microsoft.com/office/powerpoint/2010/main" val="1302601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382000" cy="4525963"/>
          </a:xfrm>
        </p:spPr>
        <p:txBody>
          <a:bodyPr>
            <a:normAutofit lnSpcReduction="10000"/>
          </a:bodyPr>
          <a:lstStyle/>
          <a:p>
            <a:pPr>
              <a:buFont typeface="Wingdings" pitchFamily="2" charset="2"/>
              <a:buChar char="v"/>
            </a:pPr>
            <a:r>
              <a:rPr lang="en-US" dirty="0"/>
              <a:t>The adult worms also migrate in </a:t>
            </a:r>
            <a:r>
              <a:rPr lang="en-US" dirty="0" err="1"/>
              <a:t>subconjunctival</a:t>
            </a:r>
            <a:r>
              <a:rPr lang="en-US" dirty="0"/>
              <a:t> tissue and may be seen under the eyelids and occasionally slowly crossing the white of the eye, </a:t>
            </a:r>
            <a:endParaRPr lang="en-US" dirty="0" smtClean="0"/>
          </a:p>
          <a:p>
            <a:pPr>
              <a:buFont typeface="Wingdings" pitchFamily="2" charset="2"/>
              <a:buChar char="v"/>
            </a:pPr>
            <a:r>
              <a:rPr lang="en-US" dirty="0" smtClean="0"/>
              <a:t>and </a:t>
            </a:r>
            <a:r>
              <a:rPr lang="en-US" dirty="0"/>
              <a:t>may cause inflammation and irritation though not blindness.</a:t>
            </a:r>
          </a:p>
          <a:p>
            <a:pPr>
              <a:buFont typeface="Wingdings" pitchFamily="2" charset="2"/>
              <a:buChar char="v"/>
            </a:pPr>
            <a:r>
              <a:rPr lang="en-US" dirty="0"/>
              <a:t>An </a:t>
            </a:r>
            <a:r>
              <a:rPr lang="en-US" dirty="0" err="1"/>
              <a:t>eosinophilic</a:t>
            </a:r>
            <a:r>
              <a:rPr lang="en-US" dirty="0"/>
              <a:t> </a:t>
            </a:r>
            <a:r>
              <a:rPr lang="en-US" dirty="0" err="1"/>
              <a:t>leucocytosis</a:t>
            </a:r>
            <a:r>
              <a:rPr lang="en-US" dirty="0"/>
              <a:t> and high </a:t>
            </a:r>
            <a:r>
              <a:rPr lang="en-US" dirty="0" err="1"/>
              <a:t>titres</a:t>
            </a:r>
            <a:r>
              <a:rPr lang="en-US" dirty="0"/>
              <a:t> of specific anti-filarial </a:t>
            </a:r>
            <a:r>
              <a:rPr lang="en-US" dirty="0" smtClean="0"/>
              <a:t>antibodies are </a:t>
            </a:r>
            <a:r>
              <a:rPr lang="en-US" dirty="0"/>
              <a:t>found in patients with the disease</a:t>
            </a:r>
          </a:p>
          <a:p>
            <a:pPr marL="0" indent="0">
              <a:buNone/>
            </a:pPr>
            <a:endParaRPr lang="en-US" dirty="0"/>
          </a:p>
        </p:txBody>
      </p:sp>
    </p:spTree>
    <p:extLst>
      <p:ext uri="{BB962C8B-B14F-4D97-AF65-F5344CB8AC3E}">
        <p14:creationId xmlns:p14="http://schemas.microsoft.com/office/powerpoint/2010/main" val="2714036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Prevention and Control</a:t>
            </a:r>
            <a:endParaRPr lang="en-US" dirty="0"/>
          </a:p>
          <a:p>
            <a:pPr lvl="0">
              <a:buFont typeface="Wingdings" pitchFamily="2" charset="2"/>
              <a:buChar char="v"/>
            </a:pPr>
            <a:r>
              <a:rPr lang="en-US" dirty="0"/>
              <a:t>Avoiding the bites of the flies by wearing protective clothing, and siting settlements, including adequate water supply, away from forest areas</a:t>
            </a:r>
          </a:p>
          <a:p>
            <a:pPr lvl="0">
              <a:buFont typeface="Wingdings" pitchFamily="2" charset="2"/>
              <a:buChar char="v"/>
            </a:pPr>
            <a:r>
              <a:rPr lang="en-US" dirty="0"/>
              <a:t>Destruction of </a:t>
            </a:r>
            <a:r>
              <a:rPr lang="en-US" i="1" dirty="0" err="1"/>
              <a:t>Chrysops</a:t>
            </a:r>
            <a:r>
              <a:rPr lang="en-US" dirty="0"/>
              <a:t> flies, e.g. by clearing vegetation to allow in sunlight, and use of insecticides</a:t>
            </a:r>
          </a:p>
          <a:p>
            <a:pPr lvl="0">
              <a:buFont typeface="Wingdings" pitchFamily="2" charset="2"/>
              <a:buChar char="v"/>
            </a:pPr>
            <a:r>
              <a:rPr lang="en-US" dirty="0"/>
              <a:t>Treating of infected individuals but with care in areas where </a:t>
            </a:r>
            <a:r>
              <a:rPr lang="en-US" i="1" dirty="0"/>
              <a:t>O.</a:t>
            </a:r>
            <a:r>
              <a:rPr lang="en-US" dirty="0"/>
              <a:t> </a:t>
            </a:r>
            <a:r>
              <a:rPr lang="en-US" i="1" dirty="0"/>
              <a:t>volvulus </a:t>
            </a:r>
            <a:r>
              <a:rPr lang="en-US" dirty="0"/>
              <a:t>also occurs</a:t>
            </a:r>
          </a:p>
          <a:p>
            <a:endParaRPr lang="en-US" dirty="0"/>
          </a:p>
        </p:txBody>
      </p:sp>
    </p:spTree>
    <p:extLst>
      <p:ext uri="{BB962C8B-B14F-4D97-AF65-F5344CB8AC3E}">
        <p14:creationId xmlns:p14="http://schemas.microsoft.com/office/powerpoint/2010/main" val="3291751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Loa </a:t>
            </a:r>
            <a:r>
              <a:rPr lang="en-US" b="1" i="1" dirty="0" err="1" smtClean="0"/>
              <a:t>loa</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pPr lvl="0">
              <a:buFont typeface="Wingdings" pitchFamily="2" charset="2"/>
              <a:buChar char="v"/>
            </a:pPr>
            <a:r>
              <a:rPr lang="en-US" dirty="0"/>
              <a:t>Detecting microfilariae in blood</a:t>
            </a:r>
          </a:p>
          <a:p>
            <a:pPr lvl="0">
              <a:buFont typeface="Wingdings" pitchFamily="2" charset="2"/>
              <a:buChar char="v"/>
            </a:pPr>
            <a:r>
              <a:rPr lang="en-US" dirty="0"/>
              <a:t>The mf may be seen in joint fluid</a:t>
            </a:r>
          </a:p>
          <a:p>
            <a:pPr lvl="0">
              <a:buFont typeface="Wingdings" pitchFamily="2" charset="2"/>
              <a:buChar char="v"/>
            </a:pPr>
            <a:r>
              <a:rPr lang="en-US" dirty="0"/>
              <a:t>Marked eosinophilia</a:t>
            </a:r>
          </a:p>
          <a:p>
            <a:pPr>
              <a:buFont typeface="Wingdings" pitchFamily="2" charset="2"/>
              <a:buChar char="v"/>
            </a:pPr>
            <a:r>
              <a:rPr lang="en-US" dirty="0"/>
              <a:t>Blood Collection Times for </a:t>
            </a:r>
            <a:r>
              <a:rPr lang="en-US" i="1" dirty="0"/>
              <a:t>L. </a:t>
            </a:r>
            <a:r>
              <a:rPr lang="en-US" i="1" dirty="0" err="1"/>
              <a:t>loa</a:t>
            </a:r>
            <a:r>
              <a:rPr lang="en-US" dirty="0"/>
              <a:t>: it has strict Diurnal periodicity hence blood collection time is 10.00-15.00hours; peak 13.00hrs</a:t>
            </a:r>
          </a:p>
          <a:p>
            <a:endParaRPr lang="en-US" dirty="0"/>
          </a:p>
        </p:txBody>
      </p:sp>
    </p:spTree>
    <p:extLst>
      <p:ext uri="{BB962C8B-B14F-4D97-AF65-F5344CB8AC3E}">
        <p14:creationId xmlns:p14="http://schemas.microsoft.com/office/powerpoint/2010/main" val="3850876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Mansonella</a:t>
            </a:r>
            <a:r>
              <a:rPr lang="en-US" b="1" i="1" dirty="0" smtClean="0"/>
              <a:t> </a:t>
            </a:r>
            <a:r>
              <a:rPr lang="en-US" b="1" i="1" dirty="0" err="1" smtClean="0"/>
              <a:t>spp</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The </a:t>
            </a:r>
            <a:r>
              <a:rPr lang="en-US" dirty="0"/>
              <a:t>species cause allergic reactions in humans. Occurs in areas where </a:t>
            </a:r>
            <a:r>
              <a:rPr lang="en-US" i="1" dirty="0"/>
              <a:t>W. </a:t>
            </a:r>
            <a:r>
              <a:rPr lang="en-US" i="1" dirty="0" err="1"/>
              <a:t>bancrofti</a:t>
            </a:r>
            <a:r>
              <a:rPr lang="en-US" i="1" dirty="0"/>
              <a:t>, L. </a:t>
            </a:r>
            <a:r>
              <a:rPr lang="en-US" i="1" dirty="0" err="1"/>
              <a:t>loa</a:t>
            </a:r>
            <a:r>
              <a:rPr lang="en-US" i="1" dirty="0"/>
              <a:t> </a:t>
            </a:r>
            <a:r>
              <a:rPr lang="en-US" dirty="0"/>
              <a:t>and </a:t>
            </a:r>
            <a:r>
              <a:rPr lang="en-US" i="1" dirty="0"/>
              <a:t>O. volvulus</a:t>
            </a:r>
            <a:r>
              <a:rPr lang="en-US" dirty="0"/>
              <a:t> also occur.</a:t>
            </a:r>
          </a:p>
          <a:p>
            <a:pPr>
              <a:buFont typeface="Wingdings" pitchFamily="2" charset="2"/>
              <a:buChar char="v"/>
            </a:pPr>
            <a:endParaRPr lang="en-US" dirty="0" smtClean="0"/>
          </a:p>
          <a:p>
            <a:pPr>
              <a:buFont typeface="Wingdings" pitchFamily="2" charset="2"/>
              <a:buChar char="v"/>
            </a:pPr>
            <a:r>
              <a:rPr lang="en-US" dirty="0" smtClean="0"/>
              <a:t>The </a:t>
            </a:r>
            <a:r>
              <a:rPr lang="en-US" dirty="0" err="1"/>
              <a:t>spp</a:t>
            </a:r>
            <a:r>
              <a:rPr lang="en-US" dirty="0"/>
              <a:t> include those that live in the skin, the blood and sometimes both blood and skin.</a:t>
            </a:r>
          </a:p>
          <a:p>
            <a:pPr>
              <a:buFont typeface="Wingdings" pitchFamily="2" charset="2"/>
              <a:buChar char="v"/>
            </a:pPr>
            <a:endParaRPr lang="en-US" dirty="0"/>
          </a:p>
        </p:txBody>
      </p:sp>
    </p:spTree>
    <p:extLst>
      <p:ext uri="{BB962C8B-B14F-4D97-AF65-F5344CB8AC3E}">
        <p14:creationId xmlns:p14="http://schemas.microsoft.com/office/powerpoint/2010/main" val="38297447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M. </a:t>
            </a:r>
            <a:r>
              <a:rPr lang="en-US" i="1" dirty="0" err="1" smtClean="0"/>
              <a:t>streptocerca</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pPr>
              <a:buFont typeface="Wingdings" pitchFamily="2" charset="2"/>
              <a:buChar char="v"/>
            </a:pPr>
            <a:r>
              <a:rPr lang="en-US" dirty="0" smtClean="0"/>
              <a:t>found </a:t>
            </a:r>
            <a:r>
              <a:rPr lang="en-US" dirty="0"/>
              <a:t>in skin, requires differentiation from </a:t>
            </a:r>
            <a:r>
              <a:rPr lang="en-US" i="1" dirty="0"/>
              <a:t>O. volvulus</a:t>
            </a:r>
            <a:r>
              <a:rPr lang="en-US" dirty="0"/>
              <a:t>. It occurs in Rain forests of Central and West Africa. </a:t>
            </a:r>
            <a:endParaRPr lang="en-US" dirty="0" smtClean="0"/>
          </a:p>
          <a:p>
            <a:pPr>
              <a:buFont typeface="Wingdings" pitchFamily="2" charset="2"/>
              <a:buChar char="v"/>
            </a:pPr>
            <a:r>
              <a:rPr lang="en-US" dirty="0" smtClean="0"/>
              <a:t>Formally </a:t>
            </a:r>
            <a:r>
              <a:rPr lang="en-US" dirty="0"/>
              <a:t>known as </a:t>
            </a:r>
            <a:r>
              <a:rPr lang="en-US" i="1" dirty="0" err="1"/>
              <a:t>Dipetalonema</a:t>
            </a:r>
            <a:r>
              <a:rPr lang="en-US" i="1" dirty="0"/>
              <a:t> </a:t>
            </a:r>
            <a:r>
              <a:rPr lang="en-US" i="1" dirty="0" err="1"/>
              <a:t>strptocerca</a:t>
            </a:r>
            <a:r>
              <a:rPr lang="en-US" i="1" dirty="0"/>
              <a:t>. </a:t>
            </a:r>
            <a:r>
              <a:rPr lang="en-US" dirty="0"/>
              <a:t>It is transmitted by </a:t>
            </a:r>
            <a:r>
              <a:rPr lang="en-US" i="1" dirty="0" err="1"/>
              <a:t>Culicoides</a:t>
            </a:r>
            <a:r>
              <a:rPr lang="en-US" dirty="0"/>
              <a:t> midges. </a:t>
            </a:r>
            <a:endParaRPr lang="en-US" dirty="0" smtClean="0"/>
          </a:p>
          <a:p>
            <a:pPr>
              <a:buFont typeface="Wingdings" pitchFamily="2" charset="2"/>
              <a:buChar char="v"/>
            </a:pPr>
            <a:r>
              <a:rPr lang="en-US" dirty="0" smtClean="0"/>
              <a:t>Adult </a:t>
            </a:r>
            <a:r>
              <a:rPr lang="en-US" dirty="0"/>
              <a:t>worms and microfilariae are found just below the skin surface usually of the upper trunk and shoulders</a:t>
            </a:r>
            <a:r>
              <a:rPr lang="en-US" dirty="0" smtClean="0"/>
              <a:t>.</a:t>
            </a:r>
          </a:p>
          <a:p>
            <a:pPr>
              <a:buFont typeface="Wingdings" pitchFamily="2" charset="2"/>
              <a:buChar char="v"/>
            </a:pPr>
            <a:r>
              <a:rPr lang="en-US" dirty="0" smtClean="0"/>
              <a:t> </a:t>
            </a:r>
            <a:r>
              <a:rPr lang="en-US" dirty="0"/>
              <a:t>Infections are without symptoms. </a:t>
            </a:r>
            <a:endParaRPr lang="en-US" dirty="0" smtClean="0"/>
          </a:p>
          <a:p>
            <a:pPr>
              <a:buFont typeface="Wingdings" pitchFamily="2" charset="2"/>
              <a:buChar char="v"/>
            </a:pPr>
            <a:r>
              <a:rPr lang="en-US" dirty="0" smtClean="0"/>
              <a:t>However </a:t>
            </a:r>
            <a:r>
              <a:rPr lang="en-US" dirty="0"/>
              <a:t>an itching dermatitis of infected areas is common. </a:t>
            </a:r>
          </a:p>
          <a:p>
            <a:endParaRPr lang="en-US" dirty="0"/>
          </a:p>
        </p:txBody>
      </p:sp>
    </p:spTree>
    <p:extLst>
      <p:ext uri="{BB962C8B-B14F-4D97-AF65-F5344CB8AC3E}">
        <p14:creationId xmlns:p14="http://schemas.microsoft.com/office/powerpoint/2010/main" val="1722764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M. </a:t>
            </a:r>
            <a:r>
              <a:rPr lang="en-US" i="1" dirty="0" err="1" smtClean="0"/>
              <a:t>perstans</a:t>
            </a: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pPr>
              <a:buFont typeface="Wingdings" pitchFamily="2" charset="2"/>
              <a:buChar char="v"/>
            </a:pPr>
            <a:r>
              <a:rPr lang="en-US" dirty="0" smtClean="0"/>
              <a:t>found </a:t>
            </a:r>
            <a:r>
              <a:rPr lang="en-US" dirty="0"/>
              <a:t>in blood; requires differentiation from </a:t>
            </a:r>
            <a:r>
              <a:rPr lang="en-US" i="1" dirty="0"/>
              <a:t>W. </a:t>
            </a:r>
            <a:r>
              <a:rPr lang="en-US" i="1" dirty="0" err="1"/>
              <a:t>bancrofti</a:t>
            </a:r>
            <a:r>
              <a:rPr lang="en-US" dirty="0"/>
              <a:t> and </a:t>
            </a:r>
            <a:r>
              <a:rPr lang="en-US" i="1" dirty="0"/>
              <a:t>L. </a:t>
            </a:r>
            <a:r>
              <a:rPr lang="en-US" i="1" dirty="0" err="1"/>
              <a:t>loa</a:t>
            </a:r>
            <a:r>
              <a:rPr lang="en-US" dirty="0"/>
              <a:t>; it is found in Tropical Africa, Central and South America</a:t>
            </a:r>
            <a:r>
              <a:rPr lang="en-US" dirty="0" smtClean="0"/>
              <a:t>.</a:t>
            </a:r>
          </a:p>
          <a:p>
            <a:pPr>
              <a:buFont typeface="Wingdings" pitchFamily="2" charset="2"/>
              <a:buChar char="v"/>
            </a:pPr>
            <a:r>
              <a:rPr lang="en-US" dirty="0" smtClean="0"/>
              <a:t> </a:t>
            </a:r>
            <a:r>
              <a:rPr lang="en-US" dirty="0"/>
              <a:t>It is also known as </a:t>
            </a:r>
            <a:r>
              <a:rPr lang="en-US" i="1" dirty="0" err="1"/>
              <a:t>Dipetalonema</a:t>
            </a:r>
            <a:r>
              <a:rPr lang="en-US" i="1" dirty="0"/>
              <a:t> </a:t>
            </a:r>
            <a:r>
              <a:rPr lang="en-US" i="1" dirty="0" err="1"/>
              <a:t>perstans</a:t>
            </a:r>
            <a:r>
              <a:rPr lang="en-US" i="1" dirty="0"/>
              <a:t>. </a:t>
            </a:r>
            <a:r>
              <a:rPr lang="en-US" dirty="0"/>
              <a:t>Several primates have been incriminated as reservoir hosts. </a:t>
            </a:r>
            <a:endParaRPr lang="en-US" dirty="0" smtClean="0"/>
          </a:p>
          <a:p>
            <a:pPr>
              <a:buFont typeface="Wingdings" pitchFamily="2" charset="2"/>
              <a:buChar char="v"/>
            </a:pPr>
            <a:r>
              <a:rPr lang="en-US" dirty="0" smtClean="0"/>
              <a:t>Adult </a:t>
            </a:r>
            <a:r>
              <a:rPr lang="en-US" dirty="0"/>
              <a:t>worms live in the coelom and produce unsheathed mf. </a:t>
            </a:r>
            <a:endParaRPr lang="en-US" dirty="0" smtClean="0"/>
          </a:p>
          <a:p>
            <a:pPr>
              <a:buFont typeface="Wingdings" pitchFamily="2" charset="2"/>
              <a:buChar char="v"/>
            </a:pPr>
            <a:r>
              <a:rPr lang="en-US" dirty="0" smtClean="0"/>
              <a:t>Intermediate </a:t>
            </a:r>
            <a:r>
              <a:rPr lang="en-US" dirty="0"/>
              <a:t>hosts are species of biting midges of the genus </a:t>
            </a:r>
            <a:r>
              <a:rPr lang="en-US" dirty="0" err="1"/>
              <a:t>Culicoides</a:t>
            </a:r>
            <a:r>
              <a:rPr lang="en-US" dirty="0"/>
              <a:t>.</a:t>
            </a:r>
          </a:p>
        </p:txBody>
      </p:sp>
    </p:spTree>
    <p:extLst>
      <p:ext uri="{BB962C8B-B14F-4D97-AF65-F5344CB8AC3E}">
        <p14:creationId xmlns:p14="http://schemas.microsoft.com/office/powerpoint/2010/main" val="21670756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M. </a:t>
            </a:r>
            <a:r>
              <a:rPr lang="en-US" i="1" dirty="0" err="1" smtClean="0"/>
              <a:t>perstans</a:t>
            </a:r>
            <a:r>
              <a:rPr lang="en-US" i="1" dirty="0" smtClean="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They appear to cause little pathological effect. However, allergic reactions with eosinophilia may occur. </a:t>
            </a:r>
            <a:endParaRPr lang="en-US" dirty="0" smtClean="0"/>
          </a:p>
          <a:p>
            <a:pPr>
              <a:buFont typeface="Wingdings" pitchFamily="2" charset="2"/>
              <a:buChar char="v"/>
            </a:pPr>
            <a:r>
              <a:rPr lang="en-US" dirty="0" smtClean="0"/>
              <a:t>Adult </a:t>
            </a:r>
            <a:r>
              <a:rPr lang="en-US" dirty="0"/>
              <a:t>worms are rarely found in humans and occasionally parasite may occur in the cerebrospinal fluid but may not cause cerebral </a:t>
            </a:r>
            <a:r>
              <a:rPr lang="en-US" dirty="0" err="1"/>
              <a:t>filariasis</a:t>
            </a:r>
            <a:r>
              <a:rPr lang="en-US" dirty="0"/>
              <a:t>.</a:t>
            </a:r>
          </a:p>
        </p:txBody>
      </p:sp>
    </p:spTree>
    <p:extLst>
      <p:ext uri="{BB962C8B-B14F-4D97-AF65-F5344CB8AC3E}">
        <p14:creationId xmlns:p14="http://schemas.microsoft.com/office/powerpoint/2010/main" val="24587202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M. </a:t>
            </a:r>
            <a:r>
              <a:rPr lang="en-US" i="1" dirty="0" err="1" smtClean="0"/>
              <a:t>ozzardi</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F</a:t>
            </a:r>
            <a:r>
              <a:rPr lang="en-US" dirty="0" smtClean="0"/>
              <a:t>ound </a:t>
            </a:r>
            <a:r>
              <a:rPr lang="en-US" dirty="0"/>
              <a:t>in blood and skin, requires differentiation from </a:t>
            </a:r>
            <a:r>
              <a:rPr lang="en-US" i="1" dirty="0"/>
              <a:t>O. volvulus</a:t>
            </a:r>
            <a:r>
              <a:rPr lang="en-US" dirty="0"/>
              <a:t> and </a:t>
            </a:r>
            <a:r>
              <a:rPr lang="en-US" i="1" dirty="0"/>
              <a:t>W. </a:t>
            </a:r>
            <a:r>
              <a:rPr lang="en-US" i="1" dirty="0" err="1"/>
              <a:t>bancrofti</a:t>
            </a:r>
            <a:r>
              <a:rPr lang="en-US" i="1" dirty="0"/>
              <a:t>.</a:t>
            </a:r>
            <a:r>
              <a:rPr lang="en-US" dirty="0"/>
              <a:t> </a:t>
            </a:r>
            <a:endParaRPr lang="en-US" dirty="0" smtClean="0"/>
          </a:p>
          <a:p>
            <a:pPr>
              <a:buFont typeface="Wingdings" pitchFamily="2" charset="2"/>
              <a:buChar char="v"/>
            </a:pPr>
            <a:r>
              <a:rPr lang="en-US" dirty="0" smtClean="0"/>
              <a:t>It </a:t>
            </a:r>
            <a:r>
              <a:rPr lang="en-US" dirty="0"/>
              <a:t>is found in West Indies, Central and South America, notably northern Argentina, the Amazon drainage, the northern coast of S. America, Central America and several islands of the West Indies; </a:t>
            </a:r>
            <a:endParaRPr lang="en-US" dirty="0" smtClean="0"/>
          </a:p>
          <a:p>
            <a:pPr>
              <a:buFont typeface="Wingdings" pitchFamily="2" charset="2"/>
              <a:buChar char="v"/>
            </a:pPr>
            <a:r>
              <a:rPr lang="en-US" dirty="0" smtClean="0"/>
              <a:t>it </a:t>
            </a:r>
            <a:r>
              <a:rPr lang="en-US" dirty="0"/>
              <a:t>has never been found in the Old World.</a:t>
            </a:r>
          </a:p>
          <a:p>
            <a:endParaRPr lang="en-US" dirty="0"/>
          </a:p>
        </p:txBody>
      </p:sp>
    </p:spTree>
    <p:extLst>
      <p:ext uri="{BB962C8B-B14F-4D97-AF65-F5344CB8AC3E}">
        <p14:creationId xmlns:p14="http://schemas.microsoft.com/office/powerpoint/2010/main" val="21010990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M. </a:t>
            </a:r>
            <a:r>
              <a:rPr lang="en-US" i="1" dirty="0" err="1" smtClean="0"/>
              <a:t>Ozzardi</a:t>
            </a:r>
            <a:r>
              <a:rPr lang="en-US" i="1" dirty="0" smtClean="0"/>
              <a:t>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Adults live in the body cavity, threaded among the mesenteries and peritoneum and in subcutaneous tissues.</a:t>
            </a:r>
          </a:p>
          <a:p>
            <a:pPr>
              <a:buFont typeface="Wingdings" pitchFamily="2" charset="2"/>
              <a:buChar char="v"/>
            </a:pPr>
            <a:r>
              <a:rPr lang="en-US" dirty="0" smtClean="0"/>
              <a:t>Its </a:t>
            </a:r>
            <a:r>
              <a:rPr lang="en-US" dirty="0"/>
              <a:t>manifestations can mimic </a:t>
            </a:r>
            <a:r>
              <a:rPr lang="en-US" dirty="0" err="1"/>
              <a:t>bancroftian</a:t>
            </a:r>
            <a:r>
              <a:rPr lang="en-US" dirty="0"/>
              <a:t> </a:t>
            </a:r>
            <a:r>
              <a:rPr lang="en-US" dirty="0" err="1"/>
              <a:t>filariasis</a:t>
            </a:r>
            <a:r>
              <a:rPr lang="en-US" dirty="0"/>
              <a:t>, which </a:t>
            </a:r>
            <a:r>
              <a:rPr lang="en-US" dirty="0" err="1"/>
              <a:t>polylymphadenitis</a:t>
            </a:r>
            <a:r>
              <a:rPr lang="en-US" dirty="0"/>
              <a:t>, </a:t>
            </a:r>
            <a:r>
              <a:rPr lang="en-US" dirty="0" err="1"/>
              <a:t>lymphadema</a:t>
            </a:r>
            <a:r>
              <a:rPr lang="en-US" dirty="0"/>
              <a:t>, elephantiasis and hepatomegaly (enlargement of the liver</a:t>
            </a:r>
            <a:r>
              <a:rPr lang="en-US" dirty="0" smtClean="0"/>
              <a:t>).</a:t>
            </a:r>
          </a:p>
          <a:p>
            <a:pPr>
              <a:buFont typeface="Wingdings" pitchFamily="2" charset="2"/>
              <a:buChar char="v"/>
            </a:pPr>
            <a:r>
              <a:rPr lang="en-US" dirty="0" smtClean="0"/>
              <a:t> </a:t>
            </a:r>
            <a:r>
              <a:rPr lang="en-US" dirty="0" err="1"/>
              <a:t>Micorfilariae</a:t>
            </a:r>
            <a:r>
              <a:rPr lang="en-US" dirty="0"/>
              <a:t> can be found in blood collected both during the day and night. </a:t>
            </a:r>
          </a:p>
        </p:txBody>
      </p:sp>
    </p:spTree>
    <p:extLst>
      <p:ext uri="{BB962C8B-B14F-4D97-AF65-F5344CB8AC3E}">
        <p14:creationId xmlns:p14="http://schemas.microsoft.com/office/powerpoint/2010/main" val="34026074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M. </a:t>
            </a:r>
            <a:r>
              <a:rPr lang="en-US" i="1" dirty="0" err="1" smtClean="0"/>
              <a:t>Ozzardi</a:t>
            </a:r>
            <a:r>
              <a:rPr lang="en-US" i="1" dirty="0" smtClean="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The infections are usually non pathogenic but may be associated with chronic arthritis and skin rashes.</a:t>
            </a:r>
          </a:p>
          <a:p>
            <a:pPr>
              <a:buFont typeface="Wingdings" pitchFamily="2" charset="2"/>
              <a:buChar char="v"/>
            </a:pPr>
            <a:r>
              <a:rPr lang="en-US" dirty="0" smtClean="0"/>
              <a:t>The intermediate hosts are species of </a:t>
            </a:r>
            <a:r>
              <a:rPr lang="en-US" i="1" dirty="0" err="1" smtClean="0"/>
              <a:t>Culicoides</a:t>
            </a:r>
            <a:r>
              <a:rPr lang="en-US" dirty="0" smtClean="0"/>
              <a:t> and </a:t>
            </a:r>
            <a:r>
              <a:rPr lang="en-US" i="1" dirty="0" err="1" smtClean="0"/>
              <a:t>Simulium</a:t>
            </a:r>
            <a:r>
              <a:rPr lang="en-US" i="1" dirty="0" smtClean="0"/>
              <a:t> </a:t>
            </a:r>
            <a:r>
              <a:rPr lang="en-US" dirty="0" smtClean="0"/>
              <a:t>black flies</a:t>
            </a:r>
          </a:p>
          <a:p>
            <a:pPr>
              <a:buFont typeface="Wingdings" pitchFamily="2" charset="2"/>
              <a:buChar char="v"/>
            </a:pPr>
            <a:endParaRPr lang="en-US" dirty="0"/>
          </a:p>
        </p:txBody>
      </p:sp>
    </p:spTree>
    <p:extLst>
      <p:ext uri="{BB962C8B-B14F-4D97-AF65-F5344CB8AC3E}">
        <p14:creationId xmlns:p14="http://schemas.microsoft.com/office/powerpoint/2010/main" val="3953769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t>
            </a:r>
            <a:r>
              <a:rPr lang="en-US" dirty="0"/>
              <a:t/>
            </a:r>
            <a:br>
              <a:rPr lang="en-US" dirty="0"/>
            </a:br>
            <a:r>
              <a:rPr lang="en-US" b="1" i="1" dirty="0" err="1"/>
              <a:t>Mansonella</a:t>
            </a:r>
            <a:r>
              <a:rPr lang="en-US" b="1" i="1" dirty="0"/>
              <a:t> </a:t>
            </a:r>
            <a:r>
              <a:rPr lang="en-US" b="1" i="1" dirty="0" err="1"/>
              <a:t>spp</a:t>
            </a:r>
            <a:r>
              <a:rPr lang="en-US" dirty="0"/>
              <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 </a:t>
            </a:r>
            <a:endParaRPr lang="en-US" dirty="0"/>
          </a:p>
          <a:p>
            <a:pPr>
              <a:buFont typeface="Wingdings" pitchFamily="2" charset="2"/>
              <a:buChar char="v"/>
            </a:pPr>
            <a:r>
              <a:rPr lang="en-US" dirty="0"/>
              <a:t>They can be diagnosed as with </a:t>
            </a:r>
            <a:r>
              <a:rPr lang="en-US" i="1" dirty="0"/>
              <a:t>W. </a:t>
            </a:r>
            <a:r>
              <a:rPr lang="en-US" i="1" dirty="0" err="1"/>
              <a:t>bancrofti</a:t>
            </a:r>
            <a:r>
              <a:rPr lang="en-US" i="1" dirty="0"/>
              <a:t>. </a:t>
            </a:r>
            <a:r>
              <a:rPr lang="en-US" dirty="0"/>
              <a:t>However they need to be differentiated using their specific features to identify them from </a:t>
            </a:r>
            <a:r>
              <a:rPr lang="en-US" dirty="0" err="1"/>
              <a:t>Bancroftian</a:t>
            </a:r>
            <a:r>
              <a:rPr lang="en-US" dirty="0"/>
              <a:t> filarial parasite and O. </a:t>
            </a:r>
            <a:r>
              <a:rPr lang="en-US" dirty="0" err="1"/>
              <a:t>vulvulus</a:t>
            </a:r>
            <a:r>
              <a:rPr lang="en-US" dirty="0"/>
              <a:t>.</a:t>
            </a:r>
          </a:p>
          <a:p>
            <a:endParaRPr lang="en-US" dirty="0"/>
          </a:p>
        </p:txBody>
      </p:sp>
    </p:spTree>
    <p:extLst>
      <p:ext uri="{BB962C8B-B14F-4D97-AF65-F5344CB8AC3E}">
        <p14:creationId xmlns:p14="http://schemas.microsoft.com/office/powerpoint/2010/main" val="28585688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Onchocerca</a:t>
            </a:r>
            <a:r>
              <a:rPr lang="en-US" b="1" i="1" dirty="0" smtClean="0"/>
              <a:t> volvulus</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This </a:t>
            </a:r>
            <a:r>
              <a:rPr lang="en-US" dirty="0"/>
              <a:t>filarial nematode causes </a:t>
            </a:r>
            <a:r>
              <a:rPr lang="en-US" dirty="0" err="1"/>
              <a:t>Onchocerciasis</a:t>
            </a:r>
            <a:r>
              <a:rPr lang="en-US" dirty="0"/>
              <a:t>, a cutaneous </a:t>
            </a:r>
            <a:r>
              <a:rPr lang="en-US" dirty="0" err="1"/>
              <a:t>filariasis</a:t>
            </a:r>
            <a:r>
              <a:rPr lang="en-US" dirty="0" smtClean="0"/>
              <a:t>.</a:t>
            </a:r>
          </a:p>
          <a:p>
            <a:pPr>
              <a:buFont typeface="Wingdings" pitchFamily="2" charset="2"/>
              <a:buChar char="v"/>
            </a:pPr>
            <a:r>
              <a:rPr lang="en-US" dirty="0" smtClean="0"/>
              <a:t> </a:t>
            </a:r>
            <a:r>
              <a:rPr lang="en-US" dirty="0"/>
              <a:t>Disease is </a:t>
            </a:r>
            <a:r>
              <a:rPr lang="en-US" dirty="0" smtClean="0"/>
              <a:t>also </a:t>
            </a:r>
            <a:r>
              <a:rPr lang="en-US" dirty="0"/>
              <a:t>known as River blindness because invasion of the eye may lead to loss of </a:t>
            </a:r>
            <a:r>
              <a:rPr lang="en-US" dirty="0" smtClean="0"/>
              <a:t>vision</a:t>
            </a:r>
            <a:r>
              <a:rPr lang="en-US" dirty="0"/>
              <a:t>. </a:t>
            </a:r>
            <a:endParaRPr lang="en-US" dirty="0" smtClean="0"/>
          </a:p>
          <a:p>
            <a:pPr>
              <a:buFont typeface="Wingdings" pitchFamily="2" charset="2"/>
              <a:buChar char="v"/>
            </a:pPr>
            <a:r>
              <a:rPr lang="en-US" dirty="0" smtClean="0"/>
              <a:t>Some </a:t>
            </a:r>
            <a:r>
              <a:rPr lang="en-US" dirty="0"/>
              <a:t>30 million people are believed to be infected, with about 500,000  people blind.</a:t>
            </a:r>
          </a:p>
          <a:p>
            <a:pPr>
              <a:buFont typeface="Wingdings" pitchFamily="2" charset="2"/>
              <a:buChar char="v"/>
            </a:pPr>
            <a:endParaRPr lang="en-US" dirty="0"/>
          </a:p>
        </p:txBody>
      </p:sp>
    </p:spTree>
    <p:extLst>
      <p:ext uri="{BB962C8B-B14F-4D97-AF65-F5344CB8AC3E}">
        <p14:creationId xmlns:p14="http://schemas.microsoft.com/office/powerpoint/2010/main" val="6519048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err="1" smtClean="0"/>
              <a:t>Onchocerca</a:t>
            </a:r>
            <a:r>
              <a:rPr lang="en-US" b="1" i="1" dirty="0" smtClean="0"/>
              <a:t> volvulus</a:t>
            </a:r>
            <a:r>
              <a:rPr lang="en-US" b="1" dirty="0" smtClean="0"/>
              <a:t> cont’d</a:t>
            </a:r>
            <a:endParaRPr lang="en-US" b="1"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Distribution</a:t>
            </a:r>
            <a:endParaRPr lang="en-US" dirty="0"/>
          </a:p>
          <a:p>
            <a:pPr>
              <a:buFont typeface="Wingdings" pitchFamily="2" charset="2"/>
              <a:buChar char="v"/>
            </a:pPr>
            <a:r>
              <a:rPr lang="en-US" dirty="0"/>
              <a:t>Along the courses of fast flowing rivers in the rain forests and savannah areas of </a:t>
            </a:r>
            <a:r>
              <a:rPr lang="en-US" dirty="0" smtClean="0"/>
              <a:t>West </a:t>
            </a:r>
            <a:r>
              <a:rPr lang="en-US" dirty="0"/>
              <a:t>and Central Africa, from Senegal (in the west) to Uganda and Ethiopia (in </a:t>
            </a:r>
            <a:r>
              <a:rPr lang="en-US" dirty="0" smtClean="0"/>
              <a:t>the </a:t>
            </a:r>
            <a:r>
              <a:rPr lang="en-US" dirty="0"/>
              <a:t>East) and as far South as Zambia.</a:t>
            </a:r>
          </a:p>
          <a:p>
            <a:pPr>
              <a:buFont typeface="Wingdings" pitchFamily="2" charset="2"/>
              <a:buChar char="v"/>
            </a:pPr>
            <a:r>
              <a:rPr lang="en-US" dirty="0"/>
              <a:t>Smaller foci occur in the Yemen, Saudi Arabia and Central America where the </a:t>
            </a:r>
            <a:r>
              <a:rPr lang="en-US" dirty="0" smtClean="0"/>
              <a:t>vectors </a:t>
            </a:r>
            <a:r>
              <a:rPr lang="en-US" i="1" dirty="0"/>
              <a:t>O. volvulus</a:t>
            </a:r>
            <a:r>
              <a:rPr lang="en-US" dirty="0"/>
              <a:t> breed in slow running streams, and in South America </a:t>
            </a:r>
            <a:r>
              <a:rPr lang="en-US" dirty="0" smtClean="0"/>
              <a:t>(</a:t>
            </a:r>
            <a:r>
              <a:rPr lang="en-US" dirty="0"/>
              <a:t>Ecuador, Brazil, Venezuela and Columbia)</a:t>
            </a:r>
          </a:p>
          <a:p>
            <a:endParaRPr lang="en-US" dirty="0"/>
          </a:p>
        </p:txBody>
      </p:sp>
    </p:spTree>
    <p:extLst>
      <p:ext uri="{BB962C8B-B14F-4D97-AF65-F5344CB8AC3E}">
        <p14:creationId xmlns:p14="http://schemas.microsoft.com/office/powerpoint/2010/main" val="31650501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p:txBody>
          <a:bodyPr/>
          <a:lstStyle/>
          <a:p>
            <a:pPr marL="0" indent="0" algn="ctr">
              <a:buNone/>
            </a:pPr>
            <a:r>
              <a:rPr lang="en-US" b="1" dirty="0"/>
              <a:t>Transmission</a:t>
            </a:r>
            <a:endParaRPr lang="en-US" dirty="0"/>
          </a:p>
          <a:p>
            <a:pPr>
              <a:buFont typeface="Wingdings" pitchFamily="2" charset="2"/>
              <a:buChar char="v"/>
            </a:pPr>
            <a:r>
              <a:rPr lang="en-US" dirty="0"/>
              <a:t>By </a:t>
            </a:r>
            <a:r>
              <a:rPr lang="en-US" i="1" dirty="0" err="1"/>
              <a:t>Simulium</a:t>
            </a:r>
            <a:r>
              <a:rPr lang="en-US" dirty="0"/>
              <a:t> blackflies when they bite humans to take blood meal. </a:t>
            </a:r>
            <a:endParaRPr lang="en-US" dirty="0" smtClean="0"/>
          </a:p>
          <a:p>
            <a:pPr>
              <a:buFont typeface="Wingdings" pitchFamily="2" charset="2"/>
              <a:buChar char="v"/>
            </a:pPr>
            <a:r>
              <a:rPr lang="en-US" dirty="0" smtClean="0"/>
              <a:t>The </a:t>
            </a:r>
            <a:r>
              <a:rPr lang="en-US" dirty="0"/>
              <a:t>infective </a:t>
            </a:r>
            <a:r>
              <a:rPr lang="en-US" dirty="0" smtClean="0"/>
              <a:t>larvae </a:t>
            </a:r>
            <a:r>
              <a:rPr lang="en-US" dirty="0"/>
              <a:t>are deposited on the skin and enter through the bite wound.</a:t>
            </a:r>
          </a:p>
          <a:p>
            <a:pPr>
              <a:buFont typeface="Wingdings" pitchFamily="2" charset="2"/>
              <a:buChar char="v"/>
            </a:pPr>
            <a:r>
              <a:rPr lang="en-US" dirty="0"/>
              <a:t>Larvae develop into male and female worms in subcutaneous tissue. Development </a:t>
            </a:r>
            <a:r>
              <a:rPr lang="en-US" dirty="0" smtClean="0"/>
              <a:t>takes </a:t>
            </a:r>
            <a:r>
              <a:rPr lang="en-US" dirty="0"/>
              <a:t>several months</a:t>
            </a:r>
          </a:p>
          <a:p>
            <a:endParaRPr lang="en-US" dirty="0"/>
          </a:p>
        </p:txBody>
      </p:sp>
    </p:spTree>
    <p:extLst>
      <p:ext uri="{BB962C8B-B14F-4D97-AF65-F5344CB8AC3E}">
        <p14:creationId xmlns:p14="http://schemas.microsoft.com/office/powerpoint/2010/main" val="371855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a:xfrm>
            <a:off x="457200" y="1600200"/>
            <a:ext cx="8229600" cy="5257800"/>
          </a:xfrm>
        </p:spPr>
        <p:txBody>
          <a:bodyPr>
            <a:normAutofit/>
          </a:bodyPr>
          <a:lstStyle/>
          <a:p>
            <a:pPr marL="0" indent="0" algn="ctr">
              <a:buNone/>
            </a:pPr>
            <a:r>
              <a:rPr lang="en-US" b="1" dirty="0"/>
              <a:t>Life Cycle</a:t>
            </a:r>
            <a:endParaRPr lang="en-US" dirty="0"/>
          </a:p>
          <a:p>
            <a:pPr>
              <a:buFont typeface="Wingdings" pitchFamily="2" charset="2"/>
              <a:buChar char="v"/>
            </a:pPr>
            <a:r>
              <a:rPr lang="en-US" dirty="0"/>
              <a:t>Adults live in subcutaneous tissue and in lymph spaces, either singly or in tangled </a:t>
            </a:r>
            <a:r>
              <a:rPr lang="en-US" dirty="0" smtClean="0"/>
              <a:t>masses</a:t>
            </a:r>
            <a:r>
              <a:rPr lang="en-US" dirty="0"/>
              <a:t>. </a:t>
            </a:r>
            <a:endParaRPr lang="en-US" dirty="0" smtClean="0"/>
          </a:p>
          <a:p>
            <a:pPr>
              <a:buFont typeface="Wingdings" pitchFamily="2" charset="2"/>
              <a:buChar char="v"/>
            </a:pPr>
            <a:r>
              <a:rPr lang="en-US" dirty="0" smtClean="0"/>
              <a:t>The </a:t>
            </a:r>
            <a:r>
              <a:rPr lang="en-US" dirty="0"/>
              <a:t>worms later become encapsulated in fibrous tissues; they may live up </a:t>
            </a:r>
            <a:r>
              <a:rPr lang="en-US" dirty="0" smtClean="0"/>
              <a:t>to </a:t>
            </a:r>
            <a:r>
              <a:rPr lang="en-US" dirty="0"/>
              <a:t>10 years or more in the host.</a:t>
            </a:r>
          </a:p>
          <a:p>
            <a:pPr marL="0" indent="0">
              <a:buNone/>
            </a:pPr>
            <a:endParaRPr lang="en-US" dirty="0"/>
          </a:p>
        </p:txBody>
      </p:sp>
    </p:spTree>
    <p:extLst>
      <p:ext uri="{BB962C8B-B14F-4D97-AF65-F5344CB8AC3E}">
        <p14:creationId xmlns:p14="http://schemas.microsoft.com/office/powerpoint/2010/main" val="11812395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Viviparous females produce many unsheathed mf (seen just below the surface of the skin in lymph spaces and in connective tissue and the fluid of nodule;</a:t>
            </a:r>
          </a:p>
          <a:p>
            <a:pPr>
              <a:buFont typeface="Wingdings" pitchFamily="2" charset="2"/>
              <a:buChar char="v"/>
            </a:pPr>
            <a:r>
              <a:rPr lang="en-US" dirty="0" smtClean="0"/>
              <a:t>mf may be found in the skin from about 7 months onwards after infection and may migrate to the eye and other organs of the body.</a:t>
            </a:r>
          </a:p>
          <a:p>
            <a:endParaRPr lang="en-US" dirty="0"/>
          </a:p>
        </p:txBody>
      </p:sp>
    </p:spTree>
    <p:extLst>
      <p:ext uri="{BB962C8B-B14F-4D97-AF65-F5344CB8AC3E}">
        <p14:creationId xmlns:p14="http://schemas.microsoft.com/office/powerpoint/2010/main" val="35024548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The mf are ingested by a blackfly and the worms pass through the stomach wall </a:t>
            </a:r>
            <a:r>
              <a:rPr lang="en-US" dirty="0" smtClean="0"/>
              <a:t>and </a:t>
            </a:r>
            <a:r>
              <a:rPr lang="en-US" dirty="0"/>
              <a:t>migrate to the thoracic muscles where they develop into infective larvae. </a:t>
            </a:r>
          </a:p>
          <a:p>
            <a:pPr>
              <a:buFont typeface="Wingdings" pitchFamily="2" charset="2"/>
              <a:buChar char="v"/>
            </a:pPr>
            <a:r>
              <a:rPr lang="en-US" dirty="0"/>
              <a:t>Development in the fly vector takes about 10 days.</a:t>
            </a:r>
          </a:p>
          <a:p>
            <a:pPr>
              <a:buFont typeface="Wingdings" pitchFamily="2" charset="2"/>
              <a:buChar char="v"/>
            </a:pPr>
            <a:r>
              <a:rPr lang="en-US" dirty="0"/>
              <a:t>Mature infective larvae migrate to the mouth-parts of the fly ready to be </a:t>
            </a:r>
            <a:r>
              <a:rPr lang="en-US" dirty="0" smtClean="0"/>
              <a:t>transmitted </a:t>
            </a:r>
            <a:r>
              <a:rPr lang="en-US" dirty="0"/>
              <a:t>when the fly next bites.</a:t>
            </a:r>
          </a:p>
          <a:p>
            <a:endParaRPr lang="en-US" dirty="0"/>
          </a:p>
        </p:txBody>
      </p:sp>
    </p:spTree>
    <p:extLst>
      <p:ext uri="{BB962C8B-B14F-4D97-AF65-F5344CB8AC3E}">
        <p14:creationId xmlns:p14="http://schemas.microsoft.com/office/powerpoint/2010/main" val="31209170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Symptoms and Pathology</a:t>
            </a:r>
            <a:endParaRPr lang="en-US" dirty="0"/>
          </a:p>
          <a:p>
            <a:pPr>
              <a:buFont typeface="Wingdings" pitchFamily="2" charset="2"/>
              <a:buChar char="v"/>
            </a:pPr>
            <a:r>
              <a:rPr lang="en-US" dirty="0"/>
              <a:t>The major symptoms caused are due to inflammatory reactions around damaged </a:t>
            </a:r>
            <a:r>
              <a:rPr lang="en-US" dirty="0" smtClean="0"/>
              <a:t>and </a:t>
            </a:r>
            <a:r>
              <a:rPr lang="en-US" dirty="0"/>
              <a:t>dead mf. </a:t>
            </a:r>
            <a:endParaRPr lang="en-US" dirty="0" smtClean="0"/>
          </a:p>
          <a:p>
            <a:pPr>
              <a:buFont typeface="Wingdings" pitchFamily="2" charset="2"/>
              <a:buChar char="v"/>
            </a:pPr>
            <a:r>
              <a:rPr lang="en-US" dirty="0" smtClean="0"/>
              <a:t>Symptoms </a:t>
            </a:r>
            <a:r>
              <a:rPr lang="en-US" dirty="0"/>
              <a:t>and pathology vary from area to area and within a </a:t>
            </a:r>
            <a:r>
              <a:rPr lang="en-US" dirty="0" smtClean="0"/>
              <a:t>particular </a:t>
            </a:r>
            <a:r>
              <a:rPr lang="en-US" dirty="0"/>
              <a:t>population, </a:t>
            </a:r>
            <a:endParaRPr lang="en-US" dirty="0" smtClean="0"/>
          </a:p>
          <a:p>
            <a:pPr>
              <a:buFont typeface="Wingdings" pitchFamily="2" charset="2"/>
              <a:buChar char="v"/>
            </a:pPr>
            <a:r>
              <a:rPr lang="en-US" dirty="0" smtClean="0"/>
              <a:t>variations </a:t>
            </a:r>
            <a:r>
              <a:rPr lang="en-US" dirty="0"/>
              <a:t>being due to parasite strain, degree and frequency </a:t>
            </a:r>
            <a:r>
              <a:rPr lang="en-US" dirty="0" smtClean="0"/>
              <a:t>of </a:t>
            </a:r>
            <a:r>
              <a:rPr lang="en-US" dirty="0"/>
              <a:t>infection and host differences (including, nutritional state, immune responses </a:t>
            </a:r>
            <a:r>
              <a:rPr lang="en-US" dirty="0" smtClean="0"/>
              <a:t>to parasite </a:t>
            </a:r>
            <a:r>
              <a:rPr lang="en-US" dirty="0"/>
              <a:t>antigens, etc. </a:t>
            </a:r>
            <a:r>
              <a:rPr lang="en-US" dirty="0" smtClean="0"/>
              <a:t>the </a:t>
            </a:r>
            <a:r>
              <a:rPr lang="en-US" dirty="0"/>
              <a:t>form of the disease found in the Savannah areas of West </a:t>
            </a:r>
          </a:p>
        </p:txBody>
      </p:sp>
    </p:spTree>
    <p:extLst>
      <p:ext uri="{BB962C8B-B14F-4D97-AF65-F5344CB8AC3E}">
        <p14:creationId xmlns:p14="http://schemas.microsoft.com/office/powerpoint/2010/main" val="27867830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v"/>
            </a:pPr>
            <a:r>
              <a:rPr lang="en-US" dirty="0" smtClean="0"/>
              <a:t>Africa is more severe than that in the forest area.</a:t>
            </a:r>
          </a:p>
          <a:p>
            <a:pPr>
              <a:buFont typeface="Wingdings" pitchFamily="2" charset="2"/>
              <a:buChar char="v"/>
            </a:pPr>
            <a:r>
              <a:rPr lang="en-US" dirty="0"/>
              <a:t>An inflammatory reaction causes the eventual encapsulation of adult worms in </a:t>
            </a:r>
            <a:r>
              <a:rPr lang="en-US" dirty="0" smtClean="0"/>
              <a:t>subcutaneous </a:t>
            </a:r>
            <a:r>
              <a:rPr lang="en-US" dirty="0"/>
              <a:t>tissue, the resulting nodules are called ‘</a:t>
            </a:r>
            <a:r>
              <a:rPr lang="en-US" dirty="0" err="1"/>
              <a:t>Onchocercomas</a:t>
            </a:r>
            <a:r>
              <a:rPr lang="en-US" dirty="0"/>
              <a:t>’.</a:t>
            </a:r>
          </a:p>
          <a:p>
            <a:pPr>
              <a:buFont typeface="Wingdings" pitchFamily="2" charset="2"/>
              <a:buChar char="v"/>
            </a:pPr>
            <a:r>
              <a:rPr lang="en-US" dirty="0"/>
              <a:t>There is an inflammatory dermatitis which may be accompanied by intense </a:t>
            </a:r>
            <a:r>
              <a:rPr lang="en-US" dirty="0" smtClean="0"/>
              <a:t>irritation</a:t>
            </a:r>
            <a:r>
              <a:rPr lang="en-US" dirty="0"/>
              <a:t>, raised papules on the skin and subsequently alteration in skin </a:t>
            </a:r>
            <a:r>
              <a:rPr lang="en-US" dirty="0" smtClean="0"/>
              <a:t>pigmentation</a:t>
            </a:r>
            <a:r>
              <a:rPr lang="en-US" dirty="0"/>
              <a:t>, giving rise to ‘</a:t>
            </a:r>
            <a:r>
              <a:rPr lang="en-US" dirty="0" err="1"/>
              <a:t>Sowda</a:t>
            </a:r>
            <a:r>
              <a:rPr lang="en-US" dirty="0"/>
              <a:t>’ (i.e. Black disease), which is a severe </a:t>
            </a:r>
            <a:r>
              <a:rPr lang="en-US" dirty="0" smtClean="0"/>
              <a:t>allergic </a:t>
            </a:r>
            <a:r>
              <a:rPr lang="en-US" dirty="0"/>
              <a:t>response.</a:t>
            </a:r>
          </a:p>
          <a:p>
            <a:endParaRPr lang="en-US" dirty="0" smtClean="0"/>
          </a:p>
          <a:p>
            <a:endParaRPr lang="en-US" dirty="0"/>
          </a:p>
        </p:txBody>
      </p:sp>
    </p:spTree>
    <p:extLst>
      <p:ext uri="{BB962C8B-B14F-4D97-AF65-F5344CB8AC3E}">
        <p14:creationId xmlns:p14="http://schemas.microsoft.com/office/powerpoint/2010/main" val="9273124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a:xfrm>
            <a:off x="457200" y="1600200"/>
            <a:ext cx="8229600" cy="4953000"/>
          </a:xfrm>
        </p:spPr>
        <p:txBody>
          <a:bodyPr>
            <a:normAutofit/>
          </a:bodyPr>
          <a:lstStyle/>
          <a:p>
            <a:pPr>
              <a:buFont typeface="Wingdings" pitchFamily="2" charset="2"/>
              <a:buChar char="v"/>
            </a:pPr>
            <a:r>
              <a:rPr lang="en-US" dirty="0"/>
              <a:t>The lymph nodes draining the limb become swollen and painful.</a:t>
            </a:r>
          </a:p>
          <a:p>
            <a:pPr>
              <a:buFont typeface="Wingdings" pitchFamily="2" charset="2"/>
              <a:buChar char="v"/>
            </a:pPr>
            <a:r>
              <a:rPr lang="en-US" dirty="0"/>
              <a:t>In chronic cases the skin loses its elasticity and becomes wrinkled (‘elephant </a:t>
            </a:r>
            <a:r>
              <a:rPr lang="en-US" dirty="0" smtClean="0"/>
              <a:t>skin</a:t>
            </a:r>
            <a:r>
              <a:rPr lang="en-US" dirty="0"/>
              <a:t>’)</a:t>
            </a:r>
          </a:p>
          <a:p>
            <a:pPr>
              <a:buFont typeface="Wingdings" pitchFamily="2" charset="2"/>
              <a:buChar char="v"/>
            </a:pPr>
            <a:r>
              <a:rPr lang="en-US" dirty="0"/>
              <a:t>When the skin around the groin is affected, ‘hanging groin’ is said to have </a:t>
            </a:r>
            <a:r>
              <a:rPr lang="en-US" dirty="0" smtClean="0"/>
              <a:t>developed</a:t>
            </a:r>
            <a:r>
              <a:rPr lang="en-US" dirty="0"/>
              <a:t>. </a:t>
            </a:r>
            <a:endParaRPr lang="en-US" dirty="0" smtClean="0"/>
          </a:p>
          <a:p>
            <a:pPr>
              <a:buFont typeface="Wingdings" pitchFamily="2" charset="2"/>
              <a:buChar char="v"/>
            </a:pPr>
            <a:r>
              <a:rPr lang="en-US" dirty="0" smtClean="0"/>
              <a:t>The </a:t>
            </a:r>
            <a:r>
              <a:rPr lang="en-US" dirty="0"/>
              <a:t>skin may develop spotted </a:t>
            </a:r>
            <a:r>
              <a:rPr lang="en-US" dirty="0" smtClean="0"/>
              <a:t>depigmentation.</a:t>
            </a:r>
          </a:p>
        </p:txBody>
      </p:sp>
    </p:spTree>
    <p:extLst>
      <p:ext uri="{BB962C8B-B14F-4D97-AF65-F5344CB8AC3E}">
        <p14:creationId xmlns:p14="http://schemas.microsoft.com/office/powerpoint/2010/main" val="501343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most serious </a:t>
            </a:r>
            <a:r>
              <a:rPr lang="en-US" dirty="0" smtClean="0"/>
              <a:t>complication </a:t>
            </a:r>
            <a:r>
              <a:rPr lang="en-US" dirty="0"/>
              <a:t>is when mf in the skin of the face migrate into the eye, to cause </a:t>
            </a:r>
            <a:r>
              <a:rPr lang="en-US" dirty="0" smtClean="0"/>
              <a:t>‘</a:t>
            </a:r>
            <a:r>
              <a:rPr lang="en-US" dirty="0"/>
              <a:t>Ocular </a:t>
            </a:r>
            <a:r>
              <a:rPr lang="en-US" dirty="0" err="1"/>
              <a:t>onchocercasis</a:t>
            </a:r>
            <a:r>
              <a:rPr lang="en-US" dirty="0"/>
              <a:t>’.</a:t>
            </a:r>
          </a:p>
          <a:p>
            <a:pPr>
              <a:buFont typeface="Wingdings" pitchFamily="2" charset="2"/>
              <a:buChar char="v"/>
            </a:pPr>
            <a:r>
              <a:rPr lang="en-US" dirty="0"/>
              <a:t>Inflammatory reactions round dead and damaged mf may cause </a:t>
            </a:r>
            <a:r>
              <a:rPr lang="en-US" dirty="0" err="1"/>
              <a:t>sclerosing</a:t>
            </a:r>
            <a:r>
              <a:rPr lang="en-US" dirty="0"/>
              <a:t> </a:t>
            </a:r>
            <a:r>
              <a:rPr lang="en-US" dirty="0" smtClean="0"/>
              <a:t>keratitis </a:t>
            </a:r>
            <a:r>
              <a:rPr lang="en-US" dirty="0"/>
              <a:t>which may lead to blindness.</a:t>
            </a:r>
          </a:p>
          <a:p>
            <a:endParaRPr lang="en-US" dirty="0"/>
          </a:p>
        </p:txBody>
      </p:sp>
    </p:spTree>
    <p:extLst>
      <p:ext uri="{BB962C8B-B14F-4D97-AF65-F5344CB8AC3E}">
        <p14:creationId xmlns:p14="http://schemas.microsoft.com/office/powerpoint/2010/main" val="30096184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p:txBody>
          <a:bodyPr/>
          <a:lstStyle/>
          <a:p>
            <a:pPr marL="0" indent="0" algn="ctr">
              <a:buNone/>
            </a:pPr>
            <a:r>
              <a:rPr lang="en-US" b="1" dirty="0"/>
              <a:t>Prevention and Control</a:t>
            </a:r>
            <a:endParaRPr lang="en-US" dirty="0"/>
          </a:p>
          <a:p>
            <a:pPr lvl="0">
              <a:buFont typeface="Wingdings" pitchFamily="2" charset="2"/>
              <a:buChar char="v"/>
            </a:pPr>
            <a:r>
              <a:rPr lang="en-US" dirty="0"/>
              <a:t>Destruction of </a:t>
            </a:r>
            <a:r>
              <a:rPr lang="en-US" dirty="0" err="1"/>
              <a:t>Simulium</a:t>
            </a:r>
            <a:r>
              <a:rPr lang="en-US" dirty="0"/>
              <a:t> larvae by application of insecticides to breeding areas, sometimes by use of aircraft.</a:t>
            </a:r>
          </a:p>
          <a:p>
            <a:pPr lvl="0">
              <a:buFont typeface="Wingdings" pitchFamily="2" charset="2"/>
              <a:buChar char="v"/>
            </a:pPr>
            <a:r>
              <a:rPr lang="en-US" dirty="0"/>
              <a:t>Avoiding </a:t>
            </a:r>
            <a:r>
              <a:rPr lang="en-US" dirty="0" err="1"/>
              <a:t>Simulium</a:t>
            </a:r>
            <a:r>
              <a:rPr lang="en-US" dirty="0"/>
              <a:t> bites by covering body parts.</a:t>
            </a:r>
          </a:p>
          <a:p>
            <a:pPr lvl="0">
              <a:buFont typeface="Wingdings" pitchFamily="2" charset="2"/>
              <a:buChar char="v"/>
            </a:pPr>
            <a:r>
              <a:rPr lang="en-US" dirty="0"/>
              <a:t>Treatment of infected persons (Note: Drugs used may cause severe reactions).</a:t>
            </a:r>
          </a:p>
          <a:p>
            <a:endParaRPr lang="en-US" dirty="0"/>
          </a:p>
        </p:txBody>
      </p:sp>
    </p:spTree>
    <p:extLst>
      <p:ext uri="{BB962C8B-B14F-4D97-AF65-F5344CB8AC3E}">
        <p14:creationId xmlns:p14="http://schemas.microsoft.com/office/powerpoint/2010/main" val="36291099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Onchocerca</a:t>
            </a:r>
            <a:r>
              <a:rPr lang="en-US" b="1" i="1" dirty="0" smtClean="0"/>
              <a:t> volvulus</a:t>
            </a:r>
            <a:r>
              <a:rPr lang="en-US" b="1" dirty="0" smtClean="0"/>
              <a:t> cont’d</a:t>
            </a: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pPr lvl="0">
              <a:buFont typeface="Wingdings" pitchFamily="2" charset="2"/>
              <a:buChar char="v"/>
            </a:pPr>
            <a:r>
              <a:rPr lang="en-US" dirty="0"/>
              <a:t>Examination of skin snips.</a:t>
            </a:r>
          </a:p>
          <a:p>
            <a:pPr lvl="0">
              <a:buFont typeface="Wingdings" pitchFamily="2" charset="2"/>
              <a:buChar char="v"/>
            </a:pPr>
            <a:r>
              <a:rPr lang="en-US" dirty="0"/>
              <a:t>In heavy infections following treatment, </a:t>
            </a:r>
            <a:r>
              <a:rPr lang="en-US" i="1" dirty="0"/>
              <a:t>O. volvulus</a:t>
            </a:r>
            <a:r>
              <a:rPr lang="en-US" dirty="0"/>
              <a:t>, mf may be found in urine, blood and most body fluids.</a:t>
            </a:r>
          </a:p>
          <a:p>
            <a:endParaRPr lang="en-US" dirty="0"/>
          </a:p>
        </p:txBody>
      </p:sp>
    </p:spTree>
    <p:extLst>
      <p:ext uri="{BB962C8B-B14F-4D97-AF65-F5344CB8AC3E}">
        <p14:creationId xmlns:p14="http://schemas.microsoft.com/office/powerpoint/2010/main" val="29083266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US" dirty="0" smtClean="0"/>
              <a:t>Also </a:t>
            </a:r>
            <a:r>
              <a:rPr lang="en-US" dirty="0"/>
              <a:t>known as Guinea Worm Infection is known as </a:t>
            </a:r>
            <a:r>
              <a:rPr lang="en-US" dirty="0" err="1"/>
              <a:t>Drancontiasis</a:t>
            </a:r>
            <a:r>
              <a:rPr lang="en-US" dirty="0"/>
              <a:t> or </a:t>
            </a:r>
            <a:r>
              <a:rPr lang="en-US" dirty="0" err="1"/>
              <a:t>Dracunculosis</a:t>
            </a:r>
            <a:r>
              <a:rPr lang="en-US" dirty="0"/>
              <a:t> or Guinea worm ulcers.</a:t>
            </a:r>
          </a:p>
          <a:p>
            <a:pPr marL="0" indent="0" algn="ctr">
              <a:buNone/>
            </a:pPr>
            <a:r>
              <a:rPr lang="en-US" b="1" dirty="0"/>
              <a:t>Distribution</a:t>
            </a:r>
            <a:endParaRPr lang="en-US" dirty="0"/>
          </a:p>
          <a:p>
            <a:pPr>
              <a:buFont typeface="Wingdings" pitchFamily="2" charset="2"/>
              <a:buChar char="v"/>
            </a:pPr>
            <a:r>
              <a:rPr lang="en-US" dirty="0"/>
              <a:t>Areas of water scarcity where shallow wells and ponds serve as source of water. </a:t>
            </a:r>
            <a:endParaRPr lang="en-US" dirty="0" smtClean="0"/>
          </a:p>
          <a:p>
            <a:pPr>
              <a:buFont typeface="Wingdings" pitchFamily="2" charset="2"/>
              <a:buChar char="v"/>
            </a:pPr>
            <a:r>
              <a:rPr lang="en-US" dirty="0" smtClean="0"/>
              <a:t>It </a:t>
            </a:r>
            <a:r>
              <a:rPr lang="en-US" dirty="0"/>
              <a:t>is endemic in India, Pakistan, parts of South America, Africa especially West Africa, Sudan Kenya, Uganda, the Middle East (Saudi Arabia, Yemen, Iran) and Burma</a:t>
            </a:r>
          </a:p>
          <a:p>
            <a:endParaRPr lang="en-US" dirty="0"/>
          </a:p>
        </p:txBody>
      </p:sp>
    </p:spTree>
    <p:extLst>
      <p:ext uri="{BB962C8B-B14F-4D97-AF65-F5344CB8AC3E}">
        <p14:creationId xmlns:p14="http://schemas.microsoft.com/office/powerpoint/2010/main" val="35287145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lgn="ctr">
              <a:buNone/>
            </a:pPr>
            <a:r>
              <a:rPr lang="en-US" b="1" dirty="0"/>
              <a:t>Transmission</a:t>
            </a:r>
            <a:endParaRPr lang="en-US" dirty="0"/>
          </a:p>
          <a:p>
            <a:pPr>
              <a:buFont typeface="Wingdings" pitchFamily="2" charset="2"/>
              <a:buChar char="v"/>
            </a:pPr>
            <a:r>
              <a:rPr lang="en-US" dirty="0"/>
              <a:t>By intake of water containing infected crustaceans belonging to the genus </a:t>
            </a:r>
            <a:r>
              <a:rPr lang="en-US" i="1" dirty="0"/>
              <a:t>Cyclops</a:t>
            </a:r>
            <a:r>
              <a:rPr lang="en-US" dirty="0"/>
              <a:t> and other related genera of water fleas.</a:t>
            </a:r>
          </a:p>
          <a:p>
            <a:pPr>
              <a:buFont typeface="Wingdings" pitchFamily="2" charset="2"/>
              <a:buChar char="v"/>
            </a:pPr>
            <a:r>
              <a:rPr lang="en-US" dirty="0"/>
              <a:t>Dogs and possibly other animals may act as reservoir hosts.</a:t>
            </a:r>
          </a:p>
          <a:p>
            <a:endParaRPr lang="en-US" dirty="0"/>
          </a:p>
        </p:txBody>
      </p:sp>
    </p:spTree>
    <p:extLst>
      <p:ext uri="{BB962C8B-B14F-4D97-AF65-F5344CB8AC3E}">
        <p14:creationId xmlns:p14="http://schemas.microsoft.com/office/powerpoint/2010/main" val="2296164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4953000"/>
          </a:xfrm>
        </p:spPr>
        <p:txBody>
          <a:bodyPr>
            <a:normAutofit fontScale="92500"/>
          </a:bodyPr>
          <a:lstStyle/>
          <a:p>
            <a:pPr marL="0" indent="0" algn="ctr">
              <a:buNone/>
            </a:pPr>
            <a:r>
              <a:rPr lang="en-US" b="1" dirty="0"/>
              <a:t>Life Cycle</a:t>
            </a:r>
            <a:endParaRPr lang="en-US" dirty="0"/>
          </a:p>
          <a:p>
            <a:pPr>
              <a:buFont typeface="Wingdings" pitchFamily="2" charset="2"/>
              <a:buChar char="v"/>
            </a:pPr>
            <a:r>
              <a:rPr lang="en-US" dirty="0"/>
              <a:t>On intake in water, the larvae are freed when the Cyclops is digested, and penetrate the duodenal wall, develops and fertilization occurs in the connective tissues.</a:t>
            </a:r>
          </a:p>
          <a:p>
            <a:pPr>
              <a:buFont typeface="Wingdings" pitchFamily="2" charset="2"/>
              <a:buChar char="v"/>
            </a:pPr>
            <a:r>
              <a:rPr lang="en-US" dirty="0"/>
              <a:t>The female worm migrates to the subcutaneous tissues (usually of the lower limbs) where within about a year it becomes fully mature. </a:t>
            </a:r>
            <a:endParaRPr lang="en-US" dirty="0" smtClean="0"/>
          </a:p>
          <a:p>
            <a:pPr>
              <a:buFont typeface="Wingdings" pitchFamily="2" charset="2"/>
              <a:buChar char="v"/>
            </a:pPr>
            <a:r>
              <a:rPr lang="en-US" dirty="0" smtClean="0"/>
              <a:t>It </a:t>
            </a:r>
            <a:r>
              <a:rPr lang="en-US" dirty="0"/>
              <a:t>buries its anterior end in the dermis of the host.</a:t>
            </a:r>
          </a:p>
        </p:txBody>
      </p:sp>
    </p:spTree>
    <p:extLst>
      <p:ext uri="{BB962C8B-B14F-4D97-AF65-F5344CB8AC3E}">
        <p14:creationId xmlns:p14="http://schemas.microsoft.com/office/powerpoint/2010/main" val="2712378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v"/>
            </a:pPr>
            <a:r>
              <a:rPr lang="en-US" dirty="0"/>
              <a:t>The skin becomes </a:t>
            </a:r>
            <a:r>
              <a:rPr lang="en-US" dirty="0" err="1"/>
              <a:t>inflammed</a:t>
            </a:r>
            <a:r>
              <a:rPr lang="en-US" dirty="0"/>
              <a:t> over the anterior of the worm and a blister forms which eventually breaks to form an ulcer</a:t>
            </a:r>
            <a:r>
              <a:rPr lang="en-US" dirty="0" smtClean="0"/>
              <a:t>.</a:t>
            </a:r>
          </a:p>
          <a:p>
            <a:pPr>
              <a:buFont typeface="Wingdings" pitchFamily="2" charset="2"/>
              <a:buChar char="v"/>
            </a:pPr>
            <a:r>
              <a:rPr lang="en-US" dirty="0" smtClean="0"/>
              <a:t> </a:t>
            </a:r>
            <a:r>
              <a:rPr lang="en-US" dirty="0"/>
              <a:t>On immersion of the affected area in fresh water the uterus of the female protrudes through the ulcer and ruptures, and large numbers of first stage larvae are released into the </a:t>
            </a:r>
            <a:r>
              <a:rPr lang="en-US" dirty="0" smtClean="0"/>
              <a:t>water.</a:t>
            </a:r>
          </a:p>
          <a:p>
            <a:pPr>
              <a:buFont typeface="Wingdings" pitchFamily="2" charset="2"/>
              <a:buChar char="v"/>
            </a:pPr>
            <a:r>
              <a:rPr lang="en-US" dirty="0" smtClean="0"/>
              <a:t>The </a:t>
            </a:r>
            <a:r>
              <a:rPr lang="en-US" dirty="0"/>
              <a:t>larvae are unable to swim but are actively motile, coiling and uncoiling.</a:t>
            </a:r>
          </a:p>
          <a:p>
            <a:pPr marL="0" indent="0">
              <a:buNone/>
            </a:pPr>
            <a:endParaRPr lang="en-US" dirty="0"/>
          </a:p>
        </p:txBody>
      </p:sp>
    </p:spTree>
    <p:extLst>
      <p:ext uri="{BB962C8B-B14F-4D97-AF65-F5344CB8AC3E}">
        <p14:creationId xmlns:p14="http://schemas.microsoft.com/office/powerpoint/2010/main" val="38092602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Discharge of the larvae takes 2-3 weeks after which the female dies and is either extruded or absorbed by host tissues.</a:t>
            </a:r>
          </a:p>
          <a:p>
            <a:pPr>
              <a:buFont typeface="Wingdings" pitchFamily="2" charset="2"/>
              <a:buChar char="v"/>
            </a:pPr>
            <a:r>
              <a:rPr lang="en-US" dirty="0"/>
              <a:t>Larvae released in water, on rupture of the ulcer, are ingested within a week by a Cyclops or related freshwater crustacean in the body of which the larvae develop into infective larvae within about 2 weeks.</a:t>
            </a:r>
          </a:p>
          <a:p>
            <a:pPr marL="0" indent="0">
              <a:buNone/>
            </a:pPr>
            <a:endParaRPr lang="en-US" dirty="0"/>
          </a:p>
        </p:txBody>
      </p:sp>
    </p:spTree>
    <p:extLst>
      <p:ext uri="{BB962C8B-B14F-4D97-AF65-F5344CB8AC3E}">
        <p14:creationId xmlns:p14="http://schemas.microsoft.com/office/powerpoint/2010/main" val="3260153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Symptoms and Pathology</a:t>
            </a:r>
            <a:endParaRPr lang="en-US" dirty="0"/>
          </a:p>
          <a:p>
            <a:pPr>
              <a:buFont typeface="Wingdings" pitchFamily="2" charset="2"/>
              <a:buChar char="v"/>
            </a:pPr>
            <a:r>
              <a:rPr lang="en-US" dirty="0"/>
              <a:t>The infection causes serious clinical symptoms especially in heavy infections which include severe pain, allergic reactions including </a:t>
            </a:r>
            <a:r>
              <a:rPr lang="en-US" dirty="0" err="1"/>
              <a:t>urticaria</a:t>
            </a:r>
            <a:r>
              <a:rPr lang="en-US" dirty="0"/>
              <a:t>, fever, nausea and vomiting.</a:t>
            </a:r>
          </a:p>
          <a:p>
            <a:pPr>
              <a:buFont typeface="Wingdings" pitchFamily="2" charset="2"/>
              <a:buChar char="v"/>
            </a:pPr>
            <a:r>
              <a:rPr lang="en-US" dirty="0"/>
              <a:t>Worm damage in the skin, may cause severe inflammation and secondary infection may occur leading to cellulitis (inflammation of cells and tissues) and possibly </a:t>
            </a:r>
            <a:r>
              <a:rPr lang="en-US" dirty="0" err="1"/>
              <a:t>septicaemia</a:t>
            </a:r>
            <a:r>
              <a:rPr lang="en-US" dirty="0"/>
              <a:t>. </a:t>
            </a:r>
            <a:endParaRPr lang="en-US" dirty="0" smtClean="0"/>
          </a:p>
          <a:p>
            <a:pPr>
              <a:buFont typeface="Wingdings" pitchFamily="2" charset="2"/>
              <a:buChar char="v"/>
            </a:pPr>
            <a:r>
              <a:rPr lang="en-US" dirty="0" smtClean="0"/>
              <a:t>Tetanus </a:t>
            </a:r>
            <a:r>
              <a:rPr lang="en-US" dirty="0"/>
              <a:t>may occur as a complication and if a joint is affected, arthritis may develop</a:t>
            </a:r>
          </a:p>
          <a:p>
            <a:endParaRPr lang="en-US" dirty="0"/>
          </a:p>
        </p:txBody>
      </p:sp>
    </p:spTree>
    <p:extLst>
      <p:ext uri="{BB962C8B-B14F-4D97-AF65-F5344CB8AC3E}">
        <p14:creationId xmlns:p14="http://schemas.microsoft.com/office/powerpoint/2010/main" val="25232717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pPr marL="0" indent="0" algn="ctr">
              <a:buNone/>
            </a:pPr>
            <a:r>
              <a:rPr lang="en-US" b="1" dirty="0"/>
              <a:t>Prevention and Control </a:t>
            </a:r>
            <a:endParaRPr lang="en-US" dirty="0"/>
          </a:p>
          <a:p>
            <a:pPr>
              <a:buFont typeface="Wingdings" pitchFamily="2" charset="2"/>
              <a:buChar char="v"/>
            </a:pPr>
            <a:r>
              <a:rPr lang="en-US" dirty="0"/>
              <a:t>This is one of the easiest parasitic diseases to prevention because the period of infectivity is usually only a few weeks, and no important animal reservoir.</a:t>
            </a:r>
          </a:p>
          <a:p>
            <a:pPr>
              <a:buFont typeface="Wingdings" pitchFamily="2" charset="2"/>
              <a:buChar char="v"/>
            </a:pPr>
            <a:r>
              <a:rPr lang="en-US" dirty="0"/>
              <a:t>Areas of transmission tend to be small and easily defined</a:t>
            </a:r>
            <a:r>
              <a:rPr lang="en-US" dirty="0" smtClean="0"/>
              <a:t>.</a:t>
            </a:r>
          </a:p>
          <a:p>
            <a:pPr>
              <a:buFont typeface="Wingdings" pitchFamily="2" charset="2"/>
              <a:buChar char="v"/>
            </a:pPr>
            <a:r>
              <a:rPr lang="en-US" dirty="0" smtClean="0"/>
              <a:t> </a:t>
            </a:r>
            <a:r>
              <a:rPr lang="en-US" dirty="0"/>
              <a:t>Once transmission is interrupted in an area for a single rainy season, infection ceases entirely unless it is re-introduced from outside.</a:t>
            </a:r>
          </a:p>
          <a:p>
            <a:endParaRPr lang="en-US" dirty="0"/>
          </a:p>
        </p:txBody>
      </p:sp>
    </p:spTree>
    <p:extLst>
      <p:ext uri="{BB962C8B-B14F-4D97-AF65-F5344CB8AC3E}">
        <p14:creationId xmlns:p14="http://schemas.microsoft.com/office/powerpoint/2010/main" val="28081651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Prevention and Control </a:t>
            </a:r>
            <a:endParaRPr lang="en-US" dirty="0"/>
          </a:p>
          <a:p>
            <a:pPr>
              <a:buFont typeface="Wingdings" pitchFamily="2" charset="2"/>
              <a:buChar char="v"/>
            </a:pPr>
            <a:r>
              <a:rPr lang="en-US" dirty="0"/>
              <a:t>This is one of the easiest parasitic diseases to prevention because the period of infectivity is usually only a few weeks, and no important animal reservoir.</a:t>
            </a:r>
          </a:p>
          <a:p>
            <a:pPr>
              <a:buFont typeface="Wingdings" pitchFamily="2" charset="2"/>
              <a:buChar char="v"/>
            </a:pPr>
            <a:r>
              <a:rPr lang="en-US" dirty="0"/>
              <a:t>Areas of transmission tend to be small and easily defined. Once transmission is interrupted in an area for a single rainy season, infection ceases entirely unless it is re-introduced from outside.</a:t>
            </a:r>
          </a:p>
          <a:p>
            <a:endParaRPr lang="en-US" dirty="0"/>
          </a:p>
        </p:txBody>
      </p:sp>
    </p:spTree>
    <p:extLst>
      <p:ext uri="{BB962C8B-B14F-4D97-AF65-F5344CB8AC3E}">
        <p14:creationId xmlns:p14="http://schemas.microsoft.com/office/powerpoint/2010/main" val="3343286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Preventive and Control measures include:</a:t>
            </a:r>
          </a:p>
          <a:p>
            <a:pPr marL="514350" lvl="0" indent="-514350">
              <a:buFont typeface="+mj-lt"/>
              <a:buAutoNum type="arabicPeriod"/>
            </a:pPr>
            <a:r>
              <a:rPr lang="en-US" dirty="0"/>
              <a:t>Preventing water sources becoming infected </a:t>
            </a:r>
          </a:p>
          <a:p>
            <a:pPr marL="514350" lvl="0" indent="-514350">
              <a:buFont typeface="+mj-lt"/>
              <a:buAutoNum type="arabicPeriod"/>
            </a:pPr>
            <a:r>
              <a:rPr lang="en-US" dirty="0"/>
              <a:t>Avoiding drinking infected water by </a:t>
            </a:r>
          </a:p>
          <a:p>
            <a:pPr marL="514350" lvl="0" indent="-514350">
              <a:buFont typeface="+mj-lt"/>
              <a:buAutoNum type="alphaLcParenR"/>
            </a:pPr>
            <a:r>
              <a:rPr lang="en-US" dirty="0"/>
              <a:t>Filtering drinking water through nylon or muslin cloth (100 mesh to 1cm) or other suitable filter to hold back the larvae</a:t>
            </a:r>
          </a:p>
          <a:p>
            <a:pPr marL="514350" lvl="0" indent="-514350">
              <a:buFont typeface="+mj-lt"/>
              <a:buAutoNum type="alphaLcParenR"/>
            </a:pPr>
            <a:r>
              <a:rPr lang="en-US" dirty="0"/>
              <a:t>Boiling drinking water and allowing it to cool before </a:t>
            </a:r>
            <a:r>
              <a:rPr lang="en-US" dirty="0" smtClean="0"/>
              <a:t>drinking</a:t>
            </a:r>
            <a:endParaRPr lang="en-US" dirty="0"/>
          </a:p>
        </p:txBody>
      </p:sp>
    </p:spTree>
    <p:extLst>
      <p:ext uri="{BB962C8B-B14F-4D97-AF65-F5344CB8AC3E}">
        <p14:creationId xmlns:p14="http://schemas.microsoft.com/office/powerpoint/2010/main" val="18767082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lvl="0" indent="0">
              <a:buNone/>
            </a:pPr>
            <a:r>
              <a:rPr lang="en-US" dirty="0" smtClean="0"/>
              <a:t>3. Destroying the intermediate host, cyclops, by using </a:t>
            </a:r>
            <a:r>
              <a:rPr lang="en-US" dirty="0" err="1" smtClean="0"/>
              <a:t>organophosphorus</a:t>
            </a:r>
            <a:r>
              <a:rPr lang="en-US" dirty="0" smtClean="0"/>
              <a:t> chemicals or chlorine in pot chlorinators</a:t>
            </a:r>
          </a:p>
          <a:p>
            <a:pPr marL="0" lvl="0" indent="0">
              <a:buNone/>
            </a:pPr>
            <a:r>
              <a:rPr lang="en-US" dirty="0" smtClean="0"/>
              <a:t>4. Covering with a water proof dressing all exposed worms in infected persons.</a:t>
            </a:r>
          </a:p>
          <a:p>
            <a:endParaRPr lang="en-US" dirty="0" smtClean="0"/>
          </a:p>
          <a:p>
            <a:endParaRPr lang="en-US" dirty="0"/>
          </a:p>
        </p:txBody>
      </p:sp>
    </p:spTree>
    <p:extLst>
      <p:ext uri="{BB962C8B-B14F-4D97-AF65-F5344CB8AC3E}">
        <p14:creationId xmlns:p14="http://schemas.microsoft.com/office/powerpoint/2010/main" val="42779240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Dracunculus</a:t>
            </a:r>
            <a:r>
              <a:rPr lang="en-US" b="1" i="1" dirty="0" smtClean="0"/>
              <a:t> </a:t>
            </a:r>
            <a:r>
              <a:rPr lang="en-US" b="1" i="1" dirty="0" err="1" smtClean="0"/>
              <a:t>medinensis</a:t>
            </a:r>
            <a:r>
              <a:rPr lang="en-US" b="1" i="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Diagnosis</a:t>
            </a:r>
            <a:endParaRPr lang="en-US" dirty="0"/>
          </a:p>
          <a:p>
            <a:pPr>
              <a:buFont typeface="Wingdings" pitchFamily="2" charset="2"/>
              <a:buChar char="v"/>
            </a:pPr>
            <a:r>
              <a:rPr lang="en-US" dirty="0"/>
              <a:t>On rupture of the blister, the anterior end of the female worm can be seen</a:t>
            </a:r>
          </a:p>
          <a:p>
            <a:pPr>
              <a:buFont typeface="Wingdings" pitchFamily="2" charset="2"/>
              <a:buChar char="v"/>
            </a:pPr>
            <a:r>
              <a:rPr lang="en-US" dirty="0"/>
              <a:t>Laboratory confirmation of diagnosis is by</a:t>
            </a:r>
          </a:p>
          <a:p>
            <a:pPr lvl="0">
              <a:buFont typeface="Wingdings" pitchFamily="2" charset="2"/>
              <a:buChar char="Ø"/>
            </a:pPr>
            <a:r>
              <a:rPr lang="en-US" dirty="0"/>
              <a:t>Placing a few drops of water on the ulcer to encourage discharge of the larvae</a:t>
            </a:r>
          </a:p>
          <a:p>
            <a:pPr lvl="0">
              <a:buFont typeface="Wingdings" pitchFamily="2" charset="2"/>
              <a:buChar char="Ø"/>
            </a:pPr>
            <a:r>
              <a:rPr lang="en-US" dirty="0"/>
              <a:t>The water is collected and transferred onto a slide and examined under 10X objective with the iris diaphragm closed sufficiently to give good contrast</a:t>
            </a:r>
          </a:p>
          <a:p>
            <a:pPr marL="0" indent="0">
              <a:buNone/>
            </a:pPr>
            <a:endParaRPr lang="en-US" dirty="0"/>
          </a:p>
        </p:txBody>
      </p:sp>
    </p:spTree>
    <p:extLst>
      <p:ext uri="{BB962C8B-B14F-4D97-AF65-F5344CB8AC3E}">
        <p14:creationId xmlns:p14="http://schemas.microsoft.com/office/powerpoint/2010/main" val="13587423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Wuchereria</a:t>
            </a:r>
            <a:r>
              <a:rPr lang="en-US" b="1" i="1" dirty="0" smtClean="0"/>
              <a:t> </a:t>
            </a:r>
            <a:r>
              <a:rPr lang="en-US" b="1" i="1" dirty="0" err="1"/>
              <a:t>bancrofti</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smtClean="0"/>
              <a:t>The </a:t>
            </a:r>
            <a:r>
              <a:rPr lang="en-US" dirty="0"/>
              <a:t>blood/tissue nematode causes lymphatic </a:t>
            </a:r>
            <a:r>
              <a:rPr lang="en-US" dirty="0" err="1"/>
              <a:t>filariasis</a:t>
            </a:r>
            <a:r>
              <a:rPr lang="en-US" dirty="0"/>
              <a:t> (also known as </a:t>
            </a:r>
            <a:r>
              <a:rPr lang="en-US" dirty="0" err="1"/>
              <a:t>bancroftian</a:t>
            </a:r>
            <a:r>
              <a:rPr lang="en-US" dirty="0"/>
              <a:t> </a:t>
            </a:r>
            <a:r>
              <a:rPr lang="en-US" dirty="0" err="1"/>
              <a:t>filariasis</a:t>
            </a:r>
            <a:r>
              <a:rPr lang="en-US" dirty="0"/>
              <a:t>, to distinguish it from the lymphatic </a:t>
            </a:r>
            <a:r>
              <a:rPr lang="en-US" dirty="0" err="1"/>
              <a:t>filariasis</a:t>
            </a:r>
            <a:r>
              <a:rPr lang="en-US" dirty="0"/>
              <a:t> caused by </a:t>
            </a:r>
            <a:r>
              <a:rPr lang="en-US" i="1" dirty="0" err="1"/>
              <a:t>Brugia</a:t>
            </a:r>
            <a:r>
              <a:rPr lang="en-US" dirty="0"/>
              <a:t> species</a:t>
            </a:r>
          </a:p>
          <a:p>
            <a:r>
              <a:rPr lang="en-US" dirty="0"/>
              <a:t>Estimates are that some 18.6 million people are infected with this nematode, the number being inclusive of both micro-</a:t>
            </a:r>
            <a:r>
              <a:rPr lang="en-US" dirty="0" err="1"/>
              <a:t>filaria</a:t>
            </a:r>
            <a:r>
              <a:rPr lang="en-US" dirty="0"/>
              <a:t> positive people and those with filarial disease who are microfilaria negative. </a:t>
            </a:r>
          </a:p>
          <a:p>
            <a:endParaRPr lang="en-US" dirty="0"/>
          </a:p>
        </p:txBody>
      </p:sp>
    </p:spTree>
    <p:extLst>
      <p:ext uri="{BB962C8B-B14F-4D97-AF65-F5344CB8AC3E}">
        <p14:creationId xmlns:p14="http://schemas.microsoft.com/office/powerpoint/2010/main" val="36063966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smtClean="0"/>
              <a:t>bancrofti</a:t>
            </a:r>
            <a:r>
              <a:rPr lang="en-US" b="1" i="1" dirty="0" smtClean="0"/>
              <a:t>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Two variants of the nematode are recognized, </a:t>
            </a:r>
            <a:r>
              <a:rPr lang="en-US" dirty="0" err="1"/>
              <a:t>viz</a:t>
            </a:r>
            <a:r>
              <a:rPr lang="en-US" dirty="0"/>
              <a:t>,</a:t>
            </a:r>
          </a:p>
          <a:p>
            <a:pPr marL="514350" lvl="0" indent="-514350">
              <a:buFont typeface="+mj-lt"/>
              <a:buAutoNum type="arabicPeriod"/>
            </a:pPr>
            <a:r>
              <a:rPr lang="en-US" dirty="0"/>
              <a:t>Periodic (Nocturnal) </a:t>
            </a:r>
            <a:r>
              <a:rPr lang="en-US" i="1" dirty="0"/>
              <a:t>W. </a:t>
            </a:r>
            <a:r>
              <a:rPr lang="en-US" i="1" dirty="0" err="1"/>
              <a:t>bancrofti</a:t>
            </a:r>
            <a:r>
              <a:rPr lang="en-US" dirty="0"/>
              <a:t>, the most widespread, and </a:t>
            </a:r>
          </a:p>
          <a:p>
            <a:pPr marL="514350" lvl="0" indent="-514350">
              <a:buFont typeface="+mj-lt"/>
              <a:buAutoNum type="arabicPeriod"/>
            </a:pPr>
            <a:r>
              <a:rPr lang="en-US" dirty="0" err="1"/>
              <a:t>Subperiodic</a:t>
            </a:r>
            <a:r>
              <a:rPr lang="en-US" dirty="0"/>
              <a:t> (Nocturnal and diurnal) </a:t>
            </a:r>
            <a:r>
              <a:rPr lang="en-US" i="1" dirty="0"/>
              <a:t>W. </a:t>
            </a:r>
            <a:r>
              <a:rPr lang="en-US" i="1" dirty="0" err="1"/>
              <a:t>bancrofti</a:t>
            </a:r>
            <a:endParaRPr lang="en-US" dirty="0"/>
          </a:p>
          <a:p>
            <a:endParaRPr lang="en-US" dirty="0"/>
          </a:p>
        </p:txBody>
      </p:sp>
    </p:spTree>
    <p:extLst>
      <p:ext uri="{BB962C8B-B14F-4D97-AF65-F5344CB8AC3E}">
        <p14:creationId xmlns:p14="http://schemas.microsoft.com/office/powerpoint/2010/main" val="10977157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Distribution</a:t>
            </a:r>
            <a:endParaRPr lang="en-US" dirty="0"/>
          </a:p>
          <a:p>
            <a:r>
              <a:rPr lang="en-US" i="1" dirty="0"/>
              <a:t>W. </a:t>
            </a:r>
            <a:r>
              <a:rPr lang="en-US" i="1" dirty="0" err="1"/>
              <a:t>bancrofti</a:t>
            </a:r>
            <a:r>
              <a:rPr lang="en-US" dirty="0"/>
              <a:t> is the most wide spread of the filarial worms with the most seriously affected areas being in India, S. E Asia, China, the east coast of Africa and the Pacific Islands</a:t>
            </a:r>
          </a:p>
          <a:p>
            <a:r>
              <a:rPr lang="en-US" dirty="0"/>
              <a:t>Periodic </a:t>
            </a:r>
            <a:r>
              <a:rPr lang="en-US" i="1" dirty="0"/>
              <a:t>W. </a:t>
            </a:r>
            <a:r>
              <a:rPr lang="en-US" i="1" dirty="0" err="1"/>
              <a:t>bancrofti</a:t>
            </a:r>
            <a:r>
              <a:rPr lang="en-US" dirty="0"/>
              <a:t> is endemic in tropical America, the </a:t>
            </a:r>
            <a:r>
              <a:rPr lang="en-US" dirty="0" err="1"/>
              <a:t>Carribean</a:t>
            </a:r>
            <a:r>
              <a:rPr lang="en-US" dirty="0"/>
              <a:t>, tropical Africa, Egypt, the Middle East, S. E Asia, southern and eastern China, the Far East and New Guinea</a:t>
            </a:r>
          </a:p>
          <a:p>
            <a:endParaRPr lang="en-US" dirty="0"/>
          </a:p>
        </p:txBody>
      </p:sp>
    </p:spTree>
    <p:extLst>
      <p:ext uri="{BB962C8B-B14F-4D97-AF65-F5344CB8AC3E}">
        <p14:creationId xmlns:p14="http://schemas.microsoft.com/office/powerpoint/2010/main" val="12477065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The diurnal </a:t>
            </a:r>
            <a:r>
              <a:rPr lang="en-US" dirty="0" err="1"/>
              <a:t>subperiodic</a:t>
            </a:r>
            <a:r>
              <a:rPr lang="en-US" dirty="0"/>
              <a:t> variant of </a:t>
            </a:r>
            <a:r>
              <a:rPr lang="en-US" i="1" dirty="0"/>
              <a:t>W. </a:t>
            </a:r>
            <a:r>
              <a:rPr lang="en-US" i="1" dirty="0" err="1"/>
              <a:t>bancrofti</a:t>
            </a:r>
            <a:r>
              <a:rPr lang="en-US" dirty="0"/>
              <a:t> is found mainly in the Eastern Pacific (Polynesia) and is often referred to as the Pacific form </a:t>
            </a:r>
          </a:p>
          <a:p>
            <a:r>
              <a:rPr lang="en-US" dirty="0"/>
              <a:t>The nocturnal </a:t>
            </a:r>
            <a:r>
              <a:rPr lang="en-US" dirty="0" err="1"/>
              <a:t>subperiodic</a:t>
            </a:r>
            <a:r>
              <a:rPr lang="en-US" dirty="0"/>
              <a:t> variant is found especially in Thailand and Vietnam.</a:t>
            </a:r>
          </a:p>
          <a:p>
            <a:r>
              <a:rPr lang="en-US" dirty="0"/>
              <a:t>In parts of S.E Asia and South India. </a:t>
            </a:r>
            <a:r>
              <a:rPr lang="en-US" i="1" dirty="0"/>
              <a:t>W. </a:t>
            </a:r>
            <a:r>
              <a:rPr lang="en-US" i="1" dirty="0" err="1"/>
              <a:t>bancrofti</a:t>
            </a:r>
            <a:r>
              <a:rPr lang="en-US" dirty="0"/>
              <a:t> is found with </a:t>
            </a:r>
            <a:r>
              <a:rPr lang="en-US" i="1" dirty="0" err="1"/>
              <a:t>Brugia</a:t>
            </a:r>
            <a:r>
              <a:rPr lang="en-US" i="1" dirty="0"/>
              <a:t> </a:t>
            </a:r>
            <a:r>
              <a:rPr lang="en-US" i="1" dirty="0" err="1"/>
              <a:t>malayi</a:t>
            </a:r>
            <a:endParaRPr lang="en-US" dirty="0"/>
          </a:p>
          <a:p>
            <a:pPr marL="0" indent="0">
              <a:buNone/>
            </a:pPr>
            <a:endParaRPr lang="en-US" dirty="0"/>
          </a:p>
        </p:txBody>
      </p:sp>
    </p:spTree>
    <p:extLst>
      <p:ext uri="{BB962C8B-B14F-4D97-AF65-F5344CB8AC3E}">
        <p14:creationId xmlns:p14="http://schemas.microsoft.com/office/powerpoint/2010/main" val="3056970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Transmission </a:t>
            </a:r>
            <a:endParaRPr lang="en-US" dirty="0"/>
          </a:p>
          <a:p>
            <a:r>
              <a:rPr lang="en-US" dirty="0"/>
              <a:t>Periodic </a:t>
            </a:r>
            <a:r>
              <a:rPr lang="en-US" i="1" dirty="0"/>
              <a:t>W. </a:t>
            </a:r>
            <a:r>
              <a:rPr lang="en-US" i="1" dirty="0" err="1"/>
              <a:t>bancrofti</a:t>
            </a:r>
            <a:r>
              <a:rPr lang="en-US" dirty="0"/>
              <a:t> is transmitted by species of mosquitoes belonging to the genera, </a:t>
            </a:r>
            <a:r>
              <a:rPr lang="en-US" i="1" dirty="0" err="1"/>
              <a:t>Culex</a:t>
            </a:r>
            <a:r>
              <a:rPr lang="en-US" i="1" dirty="0"/>
              <a:t>, Anopheles</a:t>
            </a:r>
            <a:r>
              <a:rPr lang="en-US" dirty="0"/>
              <a:t> and </a:t>
            </a:r>
            <a:r>
              <a:rPr lang="en-US" i="1" dirty="0" err="1"/>
              <a:t>Aedes</a:t>
            </a:r>
            <a:r>
              <a:rPr lang="en-US" i="1" dirty="0"/>
              <a:t> </a:t>
            </a:r>
            <a:endParaRPr lang="en-US" dirty="0"/>
          </a:p>
          <a:p>
            <a:r>
              <a:rPr lang="en-US" dirty="0" err="1"/>
              <a:t>Subperiodic</a:t>
            </a:r>
            <a:r>
              <a:rPr lang="en-US" dirty="0"/>
              <a:t> </a:t>
            </a:r>
            <a:r>
              <a:rPr lang="en-US" i="1" dirty="0"/>
              <a:t>W. </a:t>
            </a:r>
            <a:r>
              <a:rPr lang="en-US" i="1" dirty="0" err="1"/>
              <a:t>bancrofti</a:t>
            </a:r>
            <a:r>
              <a:rPr lang="en-US" dirty="0"/>
              <a:t> is transmitted by </a:t>
            </a:r>
            <a:r>
              <a:rPr lang="en-US" i="1" dirty="0" err="1"/>
              <a:t>Aedes</a:t>
            </a:r>
            <a:r>
              <a:rPr lang="en-US" dirty="0"/>
              <a:t> mosquitoes</a:t>
            </a:r>
          </a:p>
          <a:p>
            <a:endParaRPr lang="en-US" dirty="0"/>
          </a:p>
        </p:txBody>
      </p:sp>
    </p:spTree>
    <p:extLst>
      <p:ext uri="{BB962C8B-B14F-4D97-AF65-F5344CB8AC3E}">
        <p14:creationId xmlns:p14="http://schemas.microsoft.com/office/powerpoint/2010/main" val="32123931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Life Cycle</a:t>
            </a:r>
            <a:endParaRPr lang="en-US" dirty="0"/>
          </a:p>
          <a:p>
            <a:r>
              <a:rPr lang="en-US" dirty="0"/>
              <a:t>Infective larvae are deposited on human skin when an infected mosquito takes a blood </a:t>
            </a:r>
            <a:r>
              <a:rPr lang="en-US" dirty="0" smtClean="0"/>
              <a:t>meal;</a:t>
            </a:r>
          </a:p>
          <a:p>
            <a:r>
              <a:rPr lang="en-US" dirty="0" smtClean="0"/>
              <a:t>they </a:t>
            </a:r>
            <a:r>
              <a:rPr lang="en-US" dirty="0"/>
              <a:t>penetrate the skin through the bite wound and enter the peripheral blood vessels and reach the lymphatic vessels and lymph nodes</a:t>
            </a:r>
          </a:p>
          <a:p>
            <a:r>
              <a:rPr lang="en-US" dirty="0"/>
              <a:t>Development takes place in the </a:t>
            </a:r>
            <a:r>
              <a:rPr lang="en-US" dirty="0" err="1"/>
              <a:t>lymphatics</a:t>
            </a:r>
            <a:r>
              <a:rPr lang="en-US" dirty="0"/>
              <a:t> and in 3-15 months, the larvae become mature male and female worms.</a:t>
            </a:r>
          </a:p>
          <a:p>
            <a:pPr marL="0" indent="0">
              <a:buNone/>
            </a:pPr>
            <a:endParaRPr lang="en-US" dirty="0"/>
          </a:p>
        </p:txBody>
      </p:sp>
    </p:spTree>
    <p:extLst>
      <p:ext uri="{BB962C8B-B14F-4D97-AF65-F5344CB8AC3E}">
        <p14:creationId xmlns:p14="http://schemas.microsoft.com/office/powerpoint/2010/main" val="9772599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r>
              <a:rPr lang="en-US" dirty="0"/>
              <a:t>The worms can live for many years in the host depending, partly on the extent of the host’s immune response</a:t>
            </a:r>
            <a:r>
              <a:rPr lang="en-US" dirty="0" smtClean="0"/>
              <a:t>.</a:t>
            </a:r>
          </a:p>
          <a:p>
            <a:r>
              <a:rPr lang="en-US" dirty="0" smtClean="0"/>
              <a:t> </a:t>
            </a:r>
            <a:r>
              <a:rPr lang="en-US" dirty="0"/>
              <a:t>The mean lifetime is 4-6 years; in some cases, the worms can survive up to 15 years of more.</a:t>
            </a:r>
          </a:p>
          <a:p>
            <a:r>
              <a:rPr lang="en-US" dirty="0"/>
              <a:t>The adults mate and produce many sheathed larvae (which are immature and are called microfilariae; </a:t>
            </a:r>
            <a:r>
              <a:rPr lang="en-US" dirty="0" smtClean="0"/>
              <a:t>they </a:t>
            </a:r>
            <a:r>
              <a:rPr lang="en-US" dirty="0"/>
              <a:t>may be found in the blood about 1 year after infection. </a:t>
            </a:r>
            <a:endParaRPr lang="en-US" dirty="0" smtClean="0"/>
          </a:p>
          <a:p>
            <a:r>
              <a:rPr lang="en-US" dirty="0" smtClean="0"/>
              <a:t>Microfilariae </a:t>
            </a:r>
            <a:r>
              <a:rPr lang="en-US" dirty="0"/>
              <a:t>may not be detected in the blood if few worms are present.</a:t>
            </a:r>
          </a:p>
          <a:p>
            <a:endParaRPr lang="en-US" dirty="0"/>
          </a:p>
        </p:txBody>
      </p:sp>
    </p:spTree>
    <p:extLst>
      <p:ext uri="{BB962C8B-B14F-4D97-AF65-F5344CB8AC3E}">
        <p14:creationId xmlns:p14="http://schemas.microsoft.com/office/powerpoint/2010/main" val="17930206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Microfilariae are taken up by a mosquito when it bites an infected human to suck </a:t>
            </a:r>
            <a:r>
              <a:rPr lang="en-US" dirty="0" smtClean="0"/>
              <a:t>blood;</a:t>
            </a:r>
          </a:p>
          <a:p>
            <a:r>
              <a:rPr lang="en-US" dirty="0" smtClean="0"/>
              <a:t>microfilariae </a:t>
            </a:r>
            <a:r>
              <a:rPr lang="en-US" dirty="0"/>
              <a:t>not ingested die in 6 months – 2 years.</a:t>
            </a:r>
          </a:p>
          <a:p>
            <a:r>
              <a:rPr lang="en-US" dirty="0"/>
              <a:t>In the mosquito’s stomach, the microfilariae lose their sheath and migrate from the </a:t>
            </a:r>
            <a:r>
              <a:rPr lang="en-US" dirty="0" err="1"/>
              <a:t>midgut</a:t>
            </a:r>
            <a:r>
              <a:rPr lang="en-US" dirty="0"/>
              <a:t> to the thorax of the vector where they develop into infective larvae</a:t>
            </a:r>
            <a:r>
              <a:rPr lang="en-US" dirty="0" smtClean="0"/>
              <a:t>;</a:t>
            </a:r>
          </a:p>
          <a:p>
            <a:r>
              <a:rPr lang="en-US" dirty="0" smtClean="0"/>
              <a:t> </a:t>
            </a:r>
            <a:r>
              <a:rPr lang="en-US" dirty="0"/>
              <a:t>development in the mosquito takes at least 1-2 weeks at a temperature of 26</a:t>
            </a:r>
            <a:r>
              <a:rPr lang="en-US" baseline="30000" dirty="0"/>
              <a:t>o</a:t>
            </a:r>
            <a:r>
              <a:rPr lang="en-US" dirty="0"/>
              <a:t>C and RH of over 70%.</a:t>
            </a:r>
          </a:p>
          <a:p>
            <a:endParaRPr lang="en-US" dirty="0"/>
          </a:p>
        </p:txBody>
      </p:sp>
    </p:spTree>
    <p:extLst>
      <p:ext uri="{BB962C8B-B14F-4D97-AF65-F5344CB8AC3E}">
        <p14:creationId xmlns:p14="http://schemas.microsoft.com/office/powerpoint/2010/main" val="8750915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Mature infective larvae migrate to the mosquito’s mouthparts to be transmitted when the vector next takes a blood meal.</a:t>
            </a:r>
          </a:p>
          <a:p>
            <a:endParaRPr lang="en-US" dirty="0"/>
          </a:p>
        </p:txBody>
      </p:sp>
    </p:spTree>
    <p:extLst>
      <p:ext uri="{BB962C8B-B14F-4D97-AF65-F5344CB8AC3E}">
        <p14:creationId xmlns:p14="http://schemas.microsoft.com/office/powerpoint/2010/main" val="29833009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smtClean="0"/>
              <a:t>Symptoms </a:t>
            </a:r>
            <a:r>
              <a:rPr lang="en-US" b="1" dirty="0"/>
              <a:t>and Pathology</a:t>
            </a:r>
            <a:endParaRPr lang="en-US" dirty="0"/>
          </a:p>
          <a:p>
            <a:r>
              <a:rPr lang="en-US" dirty="0"/>
              <a:t>Not all infected persons develop clinical symptoms.</a:t>
            </a:r>
          </a:p>
          <a:p>
            <a:r>
              <a:rPr lang="en-US" dirty="0"/>
              <a:t>The disease is characterized by recurrent attacks of fever, with painful inflamed </a:t>
            </a:r>
            <a:r>
              <a:rPr lang="en-US" dirty="0" err="1"/>
              <a:t>lymphatics</a:t>
            </a:r>
            <a:r>
              <a:rPr lang="en-US" dirty="0"/>
              <a:t>.</a:t>
            </a:r>
          </a:p>
          <a:p>
            <a:r>
              <a:rPr lang="en-US" dirty="0"/>
              <a:t>Damage to the </a:t>
            </a:r>
            <a:r>
              <a:rPr lang="en-US" dirty="0" err="1"/>
              <a:t>lymphatics</a:t>
            </a:r>
            <a:r>
              <a:rPr lang="en-US" dirty="0"/>
              <a:t> leads to thickening and eventual blockage of the lymphatic vessels – those of the limbs, genital organs (especially those of the spermatic cord) and breasts</a:t>
            </a:r>
          </a:p>
          <a:p>
            <a:endParaRPr lang="en-US" dirty="0"/>
          </a:p>
        </p:txBody>
      </p:sp>
    </p:spTree>
    <p:extLst>
      <p:ext uri="{BB962C8B-B14F-4D97-AF65-F5344CB8AC3E}">
        <p14:creationId xmlns:p14="http://schemas.microsoft.com/office/powerpoint/2010/main" val="2244395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Obstruction to lymph flow causes swelling, fibrosis and eventually, elephantiasis (advanced lymphatic </a:t>
            </a:r>
            <a:r>
              <a:rPr lang="en-US" dirty="0" err="1"/>
              <a:t>filariasis</a:t>
            </a:r>
            <a:r>
              <a:rPr lang="en-US" dirty="0"/>
              <a:t>).</a:t>
            </a:r>
          </a:p>
          <a:p>
            <a:r>
              <a:rPr lang="en-US" dirty="0"/>
              <a:t>Symptoms of infection differ from one endemic area to another.</a:t>
            </a:r>
          </a:p>
          <a:p>
            <a:r>
              <a:rPr lang="en-US" dirty="0"/>
              <a:t>The features and pathology depend on the sites occupied by developing and mature worms, their numbers, duration of infection, </a:t>
            </a:r>
            <a:endParaRPr lang="en-US" dirty="0" smtClean="0"/>
          </a:p>
          <a:p>
            <a:r>
              <a:rPr lang="en-US" dirty="0" smtClean="0"/>
              <a:t>and </a:t>
            </a:r>
            <a:r>
              <a:rPr lang="en-US" dirty="0"/>
              <a:t>the immune responses of the host to damaged and dead worms.</a:t>
            </a:r>
          </a:p>
          <a:p>
            <a:pPr marL="0" indent="0">
              <a:buNone/>
            </a:pPr>
            <a:endParaRPr lang="en-US" dirty="0"/>
          </a:p>
        </p:txBody>
      </p:sp>
    </p:spTree>
    <p:extLst>
      <p:ext uri="{BB962C8B-B14F-4D97-AF65-F5344CB8AC3E}">
        <p14:creationId xmlns:p14="http://schemas.microsoft.com/office/powerpoint/2010/main" val="36600831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In chronic cases, usually after repeated infections, hydrocele may occur </a:t>
            </a:r>
            <a:endParaRPr lang="en-US" dirty="0" smtClean="0"/>
          </a:p>
          <a:p>
            <a:r>
              <a:rPr lang="en-US" dirty="0" smtClean="0"/>
              <a:t>and </a:t>
            </a:r>
            <a:r>
              <a:rPr lang="en-US" dirty="0"/>
              <a:t>microfilariae may, occasionally, by found in hydrocele fluid.</a:t>
            </a:r>
          </a:p>
          <a:p>
            <a:r>
              <a:rPr lang="en-US" dirty="0"/>
              <a:t>Elephantiasis, the advanced stage of the infection, is characterized by coarse thickening, hardening and cracking of the of the skin overlying enlarged </a:t>
            </a:r>
            <a:r>
              <a:rPr lang="en-US" dirty="0" err="1"/>
              <a:t>fibrosed</a:t>
            </a:r>
            <a:r>
              <a:rPr lang="en-US" dirty="0"/>
              <a:t> tissues.</a:t>
            </a:r>
          </a:p>
          <a:p>
            <a:endParaRPr lang="en-US" dirty="0"/>
          </a:p>
        </p:txBody>
      </p:sp>
    </p:spTree>
    <p:extLst>
      <p:ext uri="{BB962C8B-B14F-4D97-AF65-F5344CB8AC3E}">
        <p14:creationId xmlns:p14="http://schemas.microsoft.com/office/powerpoint/2010/main" val="2425073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t>A complication of chronic </a:t>
            </a:r>
            <a:r>
              <a:rPr lang="en-US" b="1" dirty="0" err="1"/>
              <a:t>bacncroftian</a:t>
            </a:r>
            <a:r>
              <a:rPr lang="en-US" b="1" dirty="0"/>
              <a:t> </a:t>
            </a:r>
            <a:r>
              <a:rPr lang="en-US" b="1" dirty="0" err="1"/>
              <a:t>filariasis</a:t>
            </a:r>
            <a:r>
              <a:rPr lang="en-US" b="1" dirty="0"/>
              <a:t> is CHYLURIA. </a:t>
            </a:r>
            <a:endParaRPr lang="en-US" b="1" dirty="0" smtClean="0"/>
          </a:p>
          <a:p>
            <a:r>
              <a:rPr lang="en-US" b="1" dirty="0" smtClean="0"/>
              <a:t>This </a:t>
            </a:r>
            <a:r>
              <a:rPr lang="en-US" b="1" dirty="0"/>
              <a:t>is due to the urogenital lymphatic vessels linked to those that transport </a:t>
            </a:r>
            <a:r>
              <a:rPr lang="en-US" b="1" dirty="0" err="1"/>
              <a:t>chyle</a:t>
            </a:r>
            <a:r>
              <a:rPr lang="en-US" b="1" dirty="0"/>
              <a:t> from the intestine becoming blocked and rupturing, </a:t>
            </a:r>
            <a:endParaRPr lang="en-US" b="1" dirty="0" smtClean="0"/>
          </a:p>
          <a:p>
            <a:r>
              <a:rPr lang="en-US" b="1" dirty="0" smtClean="0"/>
              <a:t>and </a:t>
            </a:r>
            <a:r>
              <a:rPr lang="en-US" b="1" dirty="0" err="1"/>
              <a:t>chyle</a:t>
            </a:r>
            <a:r>
              <a:rPr lang="en-US" b="1" dirty="0"/>
              <a:t> and occasionally blood and microfilariae appear in the urine, especially in early morning specimens.</a:t>
            </a:r>
            <a:endParaRPr lang="en-US" dirty="0"/>
          </a:p>
          <a:p>
            <a:r>
              <a:rPr lang="en-US" dirty="0"/>
              <a:t>Microfilariae are usually present in the fibrin clots which form.</a:t>
            </a:r>
          </a:p>
          <a:p>
            <a:endParaRPr lang="en-US" dirty="0"/>
          </a:p>
        </p:txBody>
      </p:sp>
    </p:spTree>
    <p:extLst>
      <p:ext uri="{BB962C8B-B14F-4D97-AF65-F5344CB8AC3E}">
        <p14:creationId xmlns:p14="http://schemas.microsoft.com/office/powerpoint/2010/main" val="24751657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Wuchereria</a:t>
            </a:r>
            <a:r>
              <a:rPr lang="en-US" b="1" i="1" dirty="0"/>
              <a:t> </a:t>
            </a:r>
            <a:r>
              <a:rPr lang="en-US" b="1" i="1" dirty="0" err="1"/>
              <a:t>bancrofti</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Most of those infected show reduced immune responses. </a:t>
            </a:r>
          </a:p>
          <a:p>
            <a:r>
              <a:rPr lang="en-US" dirty="0"/>
              <a:t>Eosinophilia is usually present.</a:t>
            </a:r>
          </a:p>
          <a:p>
            <a:r>
              <a:rPr lang="en-US" dirty="0"/>
              <a:t>Infections with </a:t>
            </a:r>
            <a:r>
              <a:rPr lang="en-US" dirty="0" err="1"/>
              <a:t>subperiodic</a:t>
            </a:r>
            <a:r>
              <a:rPr lang="en-US" dirty="0"/>
              <a:t> </a:t>
            </a:r>
            <a:r>
              <a:rPr lang="en-US" i="1" dirty="0"/>
              <a:t>W. </a:t>
            </a:r>
            <a:r>
              <a:rPr lang="en-US" i="1" dirty="0" err="1"/>
              <a:t>bancrofti</a:t>
            </a:r>
            <a:r>
              <a:rPr lang="en-US" dirty="0"/>
              <a:t> are associated with filarial abscesses.</a:t>
            </a:r>
          </a:p>
          <a:p>
            <a:endParaRPr lang="en-US" dirty="0"/>
          </a:p>
        </p:txBody>
      </p:sp>
    </p:spTree>
    <p:extLst>
      <p:ext uri="{BB962C8B-B14F-4D97-AF65-F5344CB8AC3E}">
        <p14:creationId xmlns:p14="http://schemas.microsoft.com/office/powerpoint/2010/main" val="41455417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Prevention </a:t>
            </a:r>
            <a:r>
              <a:rPr lang="en-US" b="1" dirty="0"/>
              <a:t>and Control</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514350" lvl="0" indent="-514350">
              <a:buFont typeface="+mj-lt"/>
              <a:buAutoNum type="arabicPeriod"/>
            </a:pPr>
            <a:r>
              <a:rPr lang="en-US" b="1" dirty="0" smtClean="0"/>
              <a:t>Anti-Mosquitoes </a:t>
            </a:r>
            <a:r>
              <a:rPr lang="en-US" b="1" dirty="0"/>
              <a:t>measures</a:t>
            </a:r>
            <a:endParaRPr lang="en-US" dirty="0"/>
          </a:p>
          <a:p>
            <a:pPr marL="0" indent="0">
              <a:buNone/>
            </a:pPr>
            <a:r>
              <a:rPr lang="en-US" dirty="0" smtClean="0"/>
              <a:t>The </a:t>
            </a:r>
            <a:r>
              <a:rPr lang="en-US" dirty="0"/>
              <a:t>ecology and behavior of the local vector must be studied and their breeding sites reduced or possibly eradicated.</a:t>
            </a:r>
          </a:p>
          <a:p>
            <a:r>
              <a:rPr lang="en-US" dirty="0"/>
              <a:t>Using effective insecticides; </a:t>
            </a:r>
            <a:r>
              <a:rPr lang="en-US" i="1" dirty="0" err="1"/>
              <a:t>Culex</a:t>
            </a:r>
            <a:r>
              <a:rPr lang="en-US" i="1" dirty="0"/>
              <a:t> </a:t>
            </a:r>
            <a:r>
              <a:rPr lang="en-US" i="1" dirty="0" err="1"/>
              <a:t>quinquefasciatus</a:t>
            </a:r>
            <a:r>
              <a:rPr lang="en-US" dirty="0"/>
              <a:t> the most important vector of </a:t>
            </a:r>
            <a:r>
              <a:rPr lang="en-US" i="1" dirty="0"/>
              <a:t>W. </a:t>
            </a:r>
            <a:r>
              <a:rPr lang="en-US" i="1" dirty="0" err="1"/>
              <a:t>bancrofti</a:t>
            </a:r>
            <a:r>
              <a:rPr lang="en-US" dirty="0"/>
              <a:t> is resistant to most insecticides used against it.</a:t>
            </a:r>
          </a:p>
          <a:p>
            <a:endParaRPr lang="en-US" dirty="0"/>
          </a:p>
        </p:txBody>
      </p:sp>
    </p:spTree>
    <p:extLst>
      <p:ext uri="{BB962C8B-B14F-4D97-AF65-F5344CB8AC3E}">
        <p14:creationId xmlns:p14="http://schemas.microsoft.com/office/powerpoint/2010/main" val="10025334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Prevention and </a:t>
            </a:r>
            <a:r>
              <a:rPr lang="en-US" b="1" dirty="0" smtClean="0"/>
              <a:t>Control cont’d</a:t>
            </a:r>
            <a:endParaRPr lang="en-US" dirty="0"/>
          </a:p>
        </p:txBody>
      </p:sp>
      <p:sp>
        <p:nvSpPr>
          <p:cNvPr id="3" name="Content Placeholder 2"/>
          <p:cNvSpPr>
            <a:spLocks noGrp="1"/>
          </p:cNvSpPr>
          <p:nvPr>
            <p:ph idx="1"/>
          </p:nvPr>
        </p:nvSpPr>
        <p:spPr/>
        <p:txBody>
          <a:bodyPr/>
          <a:lstStyle/>
          <a:p>
            <a:r>
              <a:rPr lang="en-US" dirty="0"/>
              <a:t>Avoiding mosquito bites by wearing suitable, protective clothing; use of mosquito/bed nets and making houses and rooms mosquito-proof</a:t>
            </a:r>
            <a:r>
              <a:rPr lang="en-US" dirty="0" smtClean="0"/>
              <a:t>;</a:t>
            </a:r>
          </a:p>
          <a:p>
            <a:r>
              <a:rPr lang="en-US" dirty="0" smtClean="0"/>
              <a:t> </a:t>
            </a:r>
            <a:r>
              <a:rPr lang="en-US" dirty="0"/>
              <a:t>the use of bed nets impregnated with </a:t>
            </a:r>
            <a:r>
              <a:rPr lang="en-US" dirty="0" err="1"/>
              <a:t>pyrethroids</a:t>
            </a:r>
            <a:r>
              <a:rPr lang="en-US" dirty="0"/>
              <a:t> has proved successful in many places.</a:t>
            </a:r>
          </a:p>
          <a:p>
            <a:endParaRPr lang="en-US" dirty="0"/>
          </a:p>
        </p:txBody>
      </p:sp>
    </p:spTree>
    <p:extLst>
      <p:ext uri="{BB962C8B-B14F-4D97-AF65-F5344CB8AC3E}">
        <p14:creationId xmlns:p14="http://schemas.microsoft.com/office/powerpoint/2010/main" val="4308284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Prevention and Control cont’d</a:t>
            </a:r>
            <a:endParaRPr lang="en-US" dirty="0"/>
          </a:p>
        </p:txBody>
      </p:sp>
      <p:sp>
        <p:nvSpPr>
          <p:cNvPr id="3" name="Content Placeholder 2"/>
          <p:cNvSpPr>
            <a:spLocks noGrp="1"/>
          </p:cNvSpPr>
          <p:nvPr>
            <p:ph idx="1"/>
          </p:nvPr>
        </p:nvSpPr>
        <p:spPr/>
        <p:txBody>
          <a:bodyPr/>
          <a:lstStyle/>
          <a:p>
            <a:pPr marL="0" lvl="0" indent="0">
              <a:buNone/>
            </a:pPr>
            <a:r>
              <a:rPr lang="en-US" b="1" dirty="0" smtClean="0"/>
              <a:t>2. Anti-parasite </a:t>
            </a:r>
            <a:r>
              <a:rPr lang="en-US" b="1" dirty="0"/>
              <a:t>measures</a:t>
            </a:r>
            <a:endParaRPr lang="en-US" dirty="0"/>
          </a:p>
          <a:p>
            <a:pPr marL="0" indent="0">
              <a:buNone/>
            </a:pPr>
            <a:r>
              <a:rPr lang="en-US" dirty="0"/>
              <a:t>Treatment of infected individuals with </a:t>
            </a:r>
            <a:r>
              <a:rPr lang="en-US" dirty="0" err="1"/>
              <a:t>Diethylcarbamazine</a:t>
            </a:r>
            <a:r>
              <a:rPr lang="en-US" dirty="0"/>
              <a:t> (DEC) as part of mass control </a:t>
            </a:r>
            <a:r>
              <a:rPr lang="en-US" dirty="0" err="1"/>
              <a:t>programmes</a:t>
            </a:r>
            <a:r>
              <a:rPr lang="en-US" dirty="0"/>
              <a:t> to prevent mosquitoes from becoming </a:t>
            </a:r>
            <a:r>
              <a:rPr lang="en-US" dirty="0" smtClean="0"/>
              <a:t>infected.</a:t>
            </a:r>
          </a:p>
          <a:p>
            <a:pPr marL="0" indent="0">
              <a:buNone/>
            </a:pPr>
            <a:r>
              <a:rPr lang="en-US" b="1" dirty="0" smtClean="0"/>
              <a:t>3. Human </a:t>
            </a:r>
            <a:r>
              <a:rPr lang="en-US" b="1" dirty="0"/>
              <a:t>measures</a:t>
            </a:r>
            <a:endParaRPr lang="en-US" dirty="0"/>
          </a:p>
          <a:p>
            <a:pPr marL="0" indent="0">
              <a:buNone/>
            </a:pPr>
            <a:r>
              <a:rPr lang="en-US" dirty="0"/>
              <a:t>Health education on the cause, early symptoms, detection and control efforts</a:t>
            </a:r>
          </a:p>
          <a:p>
            <a:endParaRPr lang="en-US" dirty="0"/>
          </a:p>
        </p:txBody>
      </p:sp>
    </p:spTree>
    <p:extLst>
      <p:ext uri="{BB962C8B-B14F-4D97-AF65-F5344CB8AC3E}">
        <p14:creationId xmlns:p14="http://schemas.microsoft.com/office/powerpoint/2010/main" val="16757734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Diagnosis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 </a:t>
            </a:r>
            <a:r>
              <a:rPr lang="en-US" dirty="0" smtClean="0"/>
              <a:t>Examination of blood microscopically for microfilariae but occasionally microfilaria may be found in </a:t>
            </a:r>
            <a:r>
              <a:rPr lang="en-US" dirty="0" err="1" smtClean="0"/>
              <a:t>chylous</a:t>
            </a:r>
            <a:r>
              <a:rPr lang="en-US" dirty="0" smtClean="0"/>
              <a:t> urine (early morning urine specimens microfilaria are usually present in the fibrin clots that form) or hydrocele fluid or lymph gland fluid.</a:t>
            </a:r>
          </a:p>
          <a:p>
            <a:r>
              <a:rPr lang="en-US" dirty="0" smtClean="0"/>
              <a:t>Blood </a:t>
            </a:r>
            <a:r>
              <a:rPr lang="en-US" dirty="0"/>
              <a:t>eosinophilia is found with </a:t>
            </a:r>
            <a:r>
              <a:rPr lang="en-US" i="1" dirty="0"/>
              <a:t>W. </a:t>
            </a:r>
            <a:r>
              <a:rPr lang="en-US" i="1" dirty="0" err="1"/>
              <a:t>bancrofti</a:t>
            </a:r>
            <a:r>
              <a:rPr lang="en-US" dirty="0"/>
              <a:t> infection</a:t>
            </a:r>
          </a:p>
          <a:p>
            <a:r>
              <a:rPr lang="en-US" dirty="0"/>
              <a:t>Examination of aspirates of hydrocele fluid or lymph gland fluid</a:t>
            </a:r>
          </a:p>
          <a:p>
            <a:endParaRPr lang="en-US" dirty="0"/>
          </a:p>
        </p:txBody>
      </p:sp>
    </p:spTree>
    <p:extLst>
      <p:ext uri="{BB962C8B-B14F-4D97-AF65-F5344CB8AC3E}">
        <p14:creationId xmlns:p14="http://schemas.microsoft.com/office/powerpoint/2010/main" val="12182845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Immunodiagnosis</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Tests </a:t>
            </a:r>
            <a:r>
              <a:rPr lang="en-US" dirty="0"/>
              <a:t>are valuable because microfilaria are often difficult to find in the blood of patients with </a:t>
            </a:r>
            <a:r>
              <a:rPr lang="en-US" dirty="0" err="1"/>
              <a:t>bancroftian</a:t>
            </a:r>
            <a:r>
              <a:rPr lang="en-US" dirty="0"/>
              <a:t> </a:t>
            </a:r>
            <a:r>
              <a:rPr lang="en-US" dirty="0" err="1"/>
              <a:t>filariasis</a:t>
            </a:r>
            <a:endParaRPr lang="en-US" dirty="0"/>
          </a:p>
          <a:p>
            <a:r>
              <a:rPr lang="en-US" dirty="0"/>
              <a:t>Such tests are not being used on a wide scale however, because of insufficient sensitivity or specificity.</a:t>
            </a:r>
          </a:p>
          <a:p>
            <a:endParaRPr lang="en-US" dirty="0"/>
          </a:p>
        </p:txBody>
      </p:sp>
    </p:spTree>
    <p:extLst>
      <p:ext uri="{BB962C8B-B14F-4D97-AF65-F5344CB8AC3E}">
        <p14:creationId xmlns:p14="http://schemas.microsoft.com/office/powerpoint/2010/main" val="13827362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Immunodiagnosis</a:t>
            </a:r>
            <a:r>
              <a:rPr lang="en-US" b="1" dirty="0" smtClean="0"/>
              <a:t>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Problems with developing serological tests for </a:t>
            </a:r>
            <a:r>
              <a:rPr lang="en-US" dirty="0" err="1"/>
              <a:t>immunodiagnosis</a:t>
            </a:r>
            <a:r>
              <a:rPr lang="en-US" dirty="0"/>
              <a:t> stem from the following:</a:t>
            </a:r>
          </a:p>
          <a:p>
            <a:pPr lvl="0"/>
            <a:r>
              <a:rPr lang="en-US" dirty="0"/>
              <a:t>Lack of laboratory models</a:t>
            </a:r>
          </a:p>
          <a:p>
            <a:pPr lvl="0"/>
            <a:r>
              <a:rPr lang="en-US" dirty="0"/>
              <a:t>Difficulty in obtaining adequate quantities of human </a:t>
            </a:r>
            <a:r>
              <a:rPr lang="en-US" dirty="0" err="1"/>
              <a:t>filarioids</a:t>
            </a:r>
            <a:r>
              <a:rPr lang="en-US" dirty="0"/>
              <a:t> from patients, and </a:t>
            </a:r>
          </a:p>
          <a:p>
            <a:pPr lvl="0"/>
            <a:r>
              <a:rPr lang="en-US" dirty="0"/>
              <a:t>The cross reactivity of all filarial antigens </a:t>
            </a:r>
          </a:p>
          <a:p>
            <a:r>
              <a:rPr lang="en-US" dirty="0"/>
              <a:t>Using animal </a:t>
            </a:r>
            <a:r>
              <a:rPr lang="en-US" dirty="0" err="1"/>
              <a:t>filariods</a:t>
            </a:r>
            <a:r>
              <a:rPr lang="en-US" dirty="0"/>
              <a:t>-antigens, the following tests have proved most promising:</a:t>
            </a:r>
          </a:p>
          <a:p>
            <a:pPr marL="0" indent="0">
              <a:buNone/>
            </a:pPr>
            <a:endParaRPr lang="en-US" dirty="0"/>
          </a:p>
        </p:txBody>
      </p:sp>
    </p:spTree>
    <p:extLst>
      <p:ext uri="{BB962C8B-B14F-4D97-AF65-F5344CB8AC3E}">
        <p14:creationId xmlns:p14="http://schemas.microsoft.com/office/powerpoint/2010/main" val="21330846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Flourescent</a:t>
            </a:r>
            <a:r>
              <a:rPr lang="en-US" b="1" dirty="0" smtClean="0"/>
              <a:t> </a:t>
            </a:r>
            <a:r>
              <a:rPr lang="en-US" b="1" dirty="0"/>
              <a:t>antibody Test (FAT)</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smtClean="0"/>
              <a:t>Enzyme-linked </a:t>
            </a:r>
            <a:r>
              <a:rPr lang="en-US" dirty="0" err="1"/>
              <a:t>immunosorbent</a:t>
            </a:r>
            <a:r>
              <a:rPr lang="en-US" dirty="0"/>
              <a:t> Assays (ELISA), using </a:t>
            </a:r>
            <a:r>
              <a:rPr lang="en-US" i="1" dirty="0" err="1"/>
              <a:t>Brugia</a:t>
            </a:r>
            <a:r>
              <a:rPr lang="en-US" i="1" dirty="0"/>
              <a:t> </a:t>
            </a:r>
            <a:r>
              <a:rPr lang="en-US" i="1" dirty="0" err="1"/>
              <a:t>pahangi</a:t>
            </a:r>
            <a:r>
              <a:rPr lang="en-US" dirty="0"/>
              <a:t> antigen</a:t>
            </a:r>
          </a:p>
          <a:p>
            <a:r>
              <a:rPr lang="en-US" dirty="0"/>
              <a:t>Monoclonal antibodies are expected to be developed to detect specific filarial antigens in blood or urine</a:t>
            </a:r>
          </a:p>
          <a:p>
            <a:r>
              <a:rPr lang="en-US" dirty="0"/>
              <a:t>The finding of circulating antigens is an indication of active infection though their absence does not exclude infection since they may have become bound to antibodies, forming immune complexes.</a:t>
            </a:r>
          </a:p>
          <a:p>
            <a:endParaRPr lang="en-US" dirty="0"/>
          </a:p>
        </p:txBody>
      </p:sp>
    </p:spTree>
    <p:extLst>
      <p:ext uri="{BB962C8B-B14F-4D97-AF65-F5344CB8AC3E}">
        <p14:creationId xmlns:p14="http://schemas.microsoft.com/office/powerpoint/2010/main" val="1982755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Non-Filarial Elephantiasis</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smtClean="0"/>
              <a:t>There </a:t>
            </a:r>
            <a:r>
              <a:rPr lang="en-US" dirty="0"/>
              <a:t>are reports of </a:t>
            </a:r>
            <a:r>
              <a:rPr lang="en-US" dirty="0" err="1"/>
              <a:t>filiariasis</a:t>
            </a:r>
            <a:r>
              <a:rPr lang="en-US" dirty="0"/>
              <a:t> due to causes other than filarial worms. </a:t>
            </a:r>
            <a:endParaRPr lang="en-US" dirty="0" smtClean="0"/>
          </a:p>
          <a:p>
            <a:pPr>
              <a:buFont typeface="Wingdings" pitchFamily="2" charset="2"/>
              <a:buChar char="v"/>
            </a:pPr>
            <a:r>
              <a:rPr lang="en-US" dirty="0" smtClean="0"/>
              <a:t>Such </a:t>
            </a:r>
            <a:r>
              <a:rPr lang="en-US" dirty="0"/>
              <a:t>causes include Tuberculosis and Siliceous deposits.</a:t>
            </a:r>
          </a:p>
          <a:p>
            <a:pPr>
              <a:buFont typeface="Wingdings" pitchFamily="2" charset="2"/>
              <a:buChar char="v"/>
            </a:pPr>
            <a:r>
              <a:rPr lang="en-US" dirty="0"/>
              <a:t>Cases of such </a:t>
            </a:r>
            <a:r>
              <a:rPr lang="en-US" dirty="0" err="1"/>
              <a:t>filariasis</a:t>
            </a:r>
            <a:r>
              <a:rPr lang="en-US" dirty="0"/>
              <a:t> are reported to be endemic in tropical countries, especially east-southern African countries and some West African countries and in India</a:t>
            </a:r>
            <a:r>
              <a:rPr lang="en-US" dirty="0" smtClean="0"/>
              <a:t>.</a:t>
            </a:r>
          </a:p>
          <a:p>
            <a:pPr>
              <a:buFont typeface="Wingdings" pitchFamily="2" charset="2"/>
              <a:buChar char="v"/>
            </a:pPr>
            <a:r>
              <a:rPr lang="en-US" dirty="0" smtClean="0"/>
              <a:t> </a:t>
            </a:r>
            <a:r>
              <a:rPr lang="en-US" dirty="0"/>
              <a:t>Usually, the lower legs are affected. </a:t>
            </a:r>
          </a:p>
        </p:txBody>
      </p:sp>
    </p:spTree>
    <p:extLst>
      <p:ext uri="{BB962C8B-B14F-4D97-AF65-F5344CB8AC3E}">
        <p14:creationId xmlns:p14="http://schemas.microsoft.com/office/powerpoint/2010/main" val="16260005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Non-Filarial Elephantiasis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There is damage to the </a:t>
            </a:r>
            <a:r>
              <a:rPr lang="en-US" dirty="0" err="1" smtClean="0"/>
              <a:t>lymphatics</a:t>
            </a:r>
            <a:r>
              <a:rPr lang="en-US" dirty="0" smtClean="0"/>
              <a:t> of the region and obstruction when the deposits are absorbed from the soil through the </a:t>
            </a:r>
            <a:r>
              <a:rPr lang="en-US" dirty="0" err="1" smtClean="0"/>
              <a:t>barefeet</a:t>
            </a:r>
            <a:r>
              <a:rPr lang="en-US" dirty="0" smtClean="0"/>
              <a:t>.</a:t>
            </a:r>
          </a:p>
          <a:p>
            <a:endParaRPr lang="en-US" dirty="0"/>
          </a:p>
        </p:txBody>
      </p:sp>
    </p:spTree>
    <p:extLst>
      <p:ext uri="{BB962C8B-B14F-4D97-AF65-F5344CB8AC3E}">
        <p14:creationId xmlns:p14="http://schemas.microsoft.com/office/powerpoint/2010/main" val="3708867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Occult </a:t>
            </a:r>
            <a:r>
              <a:rPr lang="en-US" b="1" dirty="0" err="1" smtClean="0"/>
              <a:t>Filariasis</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This </a:t>
            </a:r>
            <a:r>
              <a:rPr lang="en-US" dirty="0"/>
              <a:t>is a rare condition thought to be caused by a hypersensitivity reaction to </a:t>
            </a:r>
            <a:r>
              <a:rPr lang="en-US" dirty="0" err="1"/>
              <a:t>microfilarial</a:t>
            </a:r>
            <a:r>
              <a:rPr lang="en-US" dirty="0"/>
              <a:t> antigens</a:t>
            </a:r>
            <a:r>
              <a:rPr lang="en-US" dirty="0" smtClean="0"/>
              <a:t>.</a:t>
            </a:r>
          </a:p>
          <a:p>
            <a:pPr>
              <a:buFont typeface="Wingdings" pitchFamily="2" charset="2"/>
              <a:buChar char="v"/>
            </a:pPr>
            <a:r>
              <a:rPr lang="en-US" dirty="0" smtClean="0"/>
              <a:t> </a:t>
            </a:r>
            <a:r>
              <a:rPr lang="en-US" dirty="0"/>
              <a:t>The symptoms of lymphatic </a:t>
            </a:r>
            <a:r>
              <a:rPr lang="en-US" dirty="0" err="1"/>
              <a:t>filariasis</a:t>
            </a:r>
            <a:r>
              <a:rPr lang="en-US" dirty="0"/>
              <a:t> are not present and microfilariae are not found in the blood.</a:t>
            </a:r>
          </a:p>
          <a:p>
            <a:endParaRPr lang="en-US" dirty="0"/>
          </a:p>
        </p:txBody>
      </p:sp>
    </p:spTree>
    <p:extLst>
      <p:ext uri="{BB962C8B-B14F-4D97-AF65-F5344CB8AC3E}">
        <p14:creationId xmlns:p14="http://schemas.microsoft.com/office/powerpoint/2010/main" val="35845598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Tropical Pulmonary Eosinophilia</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This </a:t>
            </a:r>
            <a:r>
              <a:rPr lang="en-US" dirty="0"/>
              <a:t>is a form of occult </a:t>
            </a:r>
            <a:r>
              <a:rPr lang="en-US" dirty="0" err="1"/>
              <a:t>filariasis</a:t>
            </a:r>
            <a:r>
              <a:rPr lang="en-US" dirty="0"/>
              <a:t> in which there is a hypersensitive reaction to microfilariae present in the lung and lymphatic tissues</a:t>
            </a:r>
          </a:p>
          <a:p>
            <a:pPr>
              <a:buFont typeface="Wingdings" pitchFamily="2" charset="2"/>
              <a:buChar char="v"/>
            </a:pPr>
            <a:r>
              <a:rPr lang="en-US" dirty="0"/>
              <a:t>It is found particularly in </a:t>
            </a:r>
            <a:r>
              <a:rPr lang="en-US" dirty="0" err="1"/>
              <a:t>filariasis</a:t>
            </a:r>
            <a:r>
              <a:rPr lang="en-US" dirty="0"/>
              <a:t> endemic areas of India, and South-East Asia, affecting both children and adults with males being more commonly affected than females.</a:t>
            </a:r>
          </a:p>
          <a:p>
            <a:endParaRPr lang="en-US" dirty="0"/>
          </a:p>
        </p:txBody>
      </p:sp>
    </p:spTree>
    <p:extLst>
      <p:ext uri="{BB962C8B-B14F-4D97-AF65-F5344CB8AC3E}">
        <p14:creationId xmlns:p14="http://schemas.microsoft.com/office/powerpoint/2010/main" val="27700675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Tropical Pulmonary Eosinophilia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a:t>It interferes with breathing and can lead to chronic pulmonary fibrosis. Symptoms are worse at night</a:t>
            </a:r>
            <a:r>
              <a:rPr lang="en-US" dirty="0" smtClean="0"/>
              <a:t>.</a:t>
            </a:r>
          </a:p>
          <a:p>
            <a:r>
              <a:rPr lang="en-US" dirty="0" smtClean="0"/>
              <a:t> </a:t>
            </a:r>
            <a:r>
              <a:rPr lang="en-US" dirty="0"/>
              <a:t>There is marked eosinophilia, raised ESR and high levels of filarial antibody including </a:t>
            </a:r>
            <a:r>
              <a:rPr lang="en-US" dirty="0" err="1"/>
              <a:t>IgE</a:t>
            </a:r>
            <a:r>
              <a:rPr lang="en-US" dirty="0"/>
              <a:t>. </a:t>
            </a:r>
            <a:r>
              <a:rPr lang="en-US" dirty="0" err="1"/>
              <a:t>Eosinophils</a:t>
            </a:r>
            <a:r>
              <a:rPr lang="en-US" dirty="0"/>
              <a:t> often appear vacuolated.</a:t>
            </a:r>
          </a:p>
          <a:p>
            <a:endParaRPr lang="en-US" dirty="0"/>
          </a:p>
        </p:txBody>
      </p:sp>
    </p:spTree>
    <p:extLst>
      <p:ext uri="{BB962C8B-B14F-4D97-AF65-F5344CB8AC3E}">
        <p14:creationId xmlns:p14="http://schemas.microsoft.com/office/powerpoint/2010/main" val="1068907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Examination of Blood for </a:t>
            </a:r>
            <a:r>
              <a:rPr lang="en-US" b="1" i="1" dirty="0" smtClean="0"/>
              <a:t>W. </a:t>
            </a:r>
            <a:r>
              <a:rPr lang="en-US" b="1" i="1" dirty="0" err="1" smtClean="0"/>
              <a:t>bancrofti</a:t>
            </a:r>
            <a:r>
              <a:rPr lang="en-US" b="1" dirty="0" smtClean="0"/>
              <a:t> microfilariae</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Microfilariae </a:t>
            </a:r>
            <a:r>
              <a:rPr lang="en-US" dirty="0"/>
              <a:t>begin to appear in blood a year or more after infection. </a:t>
            </a:r>
            <a:endParaRPr lang="en-US" dirty="0" smtClean="0"/>
          </a:p>
          <a:p>
            <a:r>
              <a:rPr lang="en-US" dirty="0" smtClean="0"/>
              <a:t>They </a:t>
            </a:r>
            <a:r>
              <a:rPr lang="en-US" dirty="0"/>
              <a:t>are rarely found when the </a:t>
            </a:r>
            <a:r>
              <a:rPr lang="en-US" dirty="0" err="1"/>
              <a:t>lymphatics</a:t>
            </a:r>
            <a:r>
              <a:rPr lang="en-US" dirty="0"/>
              <a:t> have become obstructed.</a:t>
            </a:r>
          </a:p>
          <a:p>
            <a:r>
              <a:rPr lang="en-US" dirty="0"/>
              <a:t>Blood must be collected during the hours when the greatest number of </a:t>
            </a:r>
            <a:r>
              <a:rPr lang="en-US" dirty="0" err="1"/>
              <a:t>mfs</a:t>
            </a:r>
            <a:r>
              <a:rPr lang="en-US" dirty="0"/>
              <a:t> are likely to be present in the peripheral blood, as follows:</a:t>
            </a:r>
          </a:p>
          <a:p>
            <a:endParaRPr lang="en-US" dirty="0"/>
          </a:p>
        </p:txBody>
      </p:sp>
    </p:spTree>
    <p:extLst>
      <p:ext uri="{BB962C8B-B14F-4D97-AF65-F5344CB8AC3E}">
        <p14:creationId xmlns:p14="http://schemas.microsoft.com/office/powerpoint/2010/main" val="28696535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Examination of Blood for </a:t>
            </a:r>
            <a:r>
              <a:rPr lang="en-US" b="1" i="1" dirty="0" smtClean="0"/>
              <a:t>W. </a:t>
            </a:r>
            <a:r>
              <a:rPr lang="en-US" b="1" i="1" dirty="0" err="1" smtClean="0"/>
              <a:t>bancrofti</a:t>
            </a:r>
            <a:r>
              <a:rPr lang="en-US" b="1" dirty="0" smtClean="0"/>
              <a:t> microfilariae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514350" lvl="0" indent="-514350">
              <a:buFont typeface="+mj-lt"/>
              <a:buAutoNum type="arabicPeriod"/>
            </a:pPr>
            <a:r>
              <a:rPr lang="en-US" dirty="0"/>
              <a:t>Periodic </a:t>
            </a:r>
            <a:r>
              <a:rPr lang="en-US" i="1" dirty="0"/>
              <a:t>W. </a:t>
            </a:r>
            <a:r>
              <a:rPr lang="en-US" i="1" dirty="0" err="1" smtClean="0"/>
              <a:t>bancrofti</a:t>
            </a:r>
            <a:r>
              <a:rPr lang="en-US" i="1" dirty="0" smtClean="0"/>
              <a:t> </a:t>
            </a:r>
            <a:r>
              <a:rPr lang="en-US" dirty="0" smtClean="0"/>
              <a:t>22.00-04.00 </a:t>
            </a:r>
            <a:r>
              <a:rPr lang="en-US" dirty="0"/>
              <a:t>(peak density 24.00)</a:t>
            </a:r>
          </a:p>
          <a:p>
            <a:pPr marL="514350" lvl="0" indent="-514350">
              <a:buFont typeface="+mj-lt"/>
              <a:buAutoNum type="arabicPeriod"/>
            </a:pPr>
            <a:r>
              <a:rPr lang="en-US" dirty="0" err="1"/>
              <a:t>Subperiodic</a:t>
            </a:r>
            <a:r>
              <a:rPr lang="en-US" dirty="0"/>
              <a:t> (nocturnal) </a:t>
            </a:r>
            <a:r>
              <a:rPr lang="en-US" i="1" dirty="0"/>
              <a:t>W. </a:t>
            </a:r>
            <a:r>
              <a:rPr lang="en-US" i="1" dirty="0" err="1"/>
              <a:t>bancrofti</a:t>
            </a:r>
            <a:r>
              <a:rPr lang="en-US" dirty="0"/>
              <a:t>	20.00-22.00 (peak density 21.00 </a:t>
            </a:r>
            <a:r>
              <a:rPr lang="en-US" dirty="0" err="1"/>
              <a:t>hrs</a:t>
            </a:r>
            <a:r>
              <a:rPr lang="en-US" dirty="0"/>
              <a:t>)</a:t>
            </a:r>
          </a:p>
          <a:p>
            <a:pPr marL="514350" lvl="0" indent="-514350">
              <a:buFont typeface="+mj-lt"/>
              <a:buAutoNum type="arabicPeriod"/>
            </a:pPr>
            <a:r>
              <a:rPr lang="en-US" dirty="0" err="1"/>
              <a:t>Subperiodic</a:t>
            </a:r>
            <a:r>
              <a:rPr lang="en-US" dirty="0"/>
              <a:t> (diurnal) </a:t>
            </a:r>
            <a:r>
              <a:rPr lang="en-US" i="1" dirty="0"/>
              <a:t>W. </a:t>
            </a:r>
            <a:r>
              <a:rPr lang="en-US" i="1" dirty="0" err="1"/>
              <a:t>bancrofti</a:t>
            </a:r>
            <a:r>
              <a:rPr lang="en-US" dirty="0"/>
              <a:t> 	14.00-18.00 (peak density 16.00 </a:t>
            </a:r>
            <a:r>
              <a:rPr lang="en-US" dirty="0" err="1"/>
              <a:t>hrs</a:t>
            </a:r>
            <a:r>
              <a:rPr lang="en-US" dirty="0"/>
              <a:t>)</a:t>
            </a:r>
          </a:p>
          <a:p>
            <a:endParaRPr lang="en-US" dirty="0"/>
          </a:p>
        </p:txBody>
      </p:sp>
    </p:spTree>
    <p:extLst>
      <p:ext uri="{BB962C8B-B14F-4D97-AF65-F5344CB8AC3E}">
        <p14:creationId xmlns:p14="http://schemas.microsoft.com/office/powerpoint/2010/main" val="6450952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Diagnosis </a:t>
            </a:r>
            <a:r>
              <a:rPr lang="en-US" b="1" dirty="0"/>
              <a:t>(</a:t>
            </a:r>
            <a:r>
              <a:rPr lang="en-US" b="1" dirty="0" err="1"/>
              <a:t>Immunodiagnosis</a:t>
            </a:r>
            <a:r>
              <a:rPr lang="en-US" b="1" dirty="0"/>
              <a:t>)</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Tests </a:t>
            </a:r>
            <a:r>
              <a:rPr lang="en-US" dirty="0"/>
              <a:t>are available, the most promising being Fluorescent Antibody Tests (FAT) and Enzyme Linked </a:t>
            </a:r>
            <a:r>
              <a:rPr lang="en-US" dirty="0" err="1"/>
              <a:t>Immunosorbent</a:t>
            </a:r>
            <a:r>
              <a:rPr lang="en-US" dirty="0"/>
              <a:t> Assay (ELISA) using </a:t>
            </a:r>
            <a:r>
              <a:rPr lang="en-US" i="1" dirty="0"/>
              <a:t>B. </a:t>
            </a:r>
            <a:r>
              <a:rPr lang="en-US" i="1" dirty="0" err="1"/>
              <a:t>pahangi</a:t>
            </a:r>
            <a:r>
              <a:rPr lang="en-US" dirty="0"/>
              <a:t> antigen.</a:t>
            </a:r>
          </a:p>
          <a:p>
            <a:endParaRPr lang="en-US" dirty="0"/>
          </a:p>
        </p:txBody>
      </p:sp>
    </p:spTree>
    <p:extLst>
      <p:ext uri="{BB962C8B-B14F-4D97-AF65-F5344CB8AC3E}">
        <p14:creationId xmlns:p14="http://schemas.microsoft.com/office/powerpoint/2010/main" val="14151967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Brugia</a:t>
            </a:r>
            <a:r>
              <a:rPr lang="en-US" b="1" i="1" dirty="0" smtClean="0"/>
              <a:t> </a:t>
            </a:r>
            <a:r>
              <a:rPr lang="en-US" b="1" i="1" dirty="0" err="1"/>
              <a:t>malayi</a:t>
            </a:r>
            <a:r>
              <a:rPr lang="en-US" dirty="0"/>
              <a:t/>
            </a:r>
            <a:br>
              <a:rPr lang="en-US" dirty="0"/>
            </a:br>
            <a:endParaRPr lang="en-US" dirty="0"/>
          </a:p>
        </p:txBody>
      </p:sp>
      <p:sp>
        <p:nvSpPr>
          <p:cNvPr id="3" name="Content Placeholder 2"/>
          <p:cNvSpPr>
            <a:spLocks noGrp="1"/>
          </p:cNvSpPr>
          <p:nvPr>
            <p:ph idx="1"/>
          </p:nvPr>
        </p:nvSpPr>
        <p:spPr>
          <a:xfrm>
            <a:off x="457200" y="1600200"/>
            <a:ext cx="8229600" cy="5105400"/>
          </a:xfrm>
        </p:spPr>
        <p:txBody>
          <a:bodyPr>
            <a:normAutofit fontScale="92500"/>
          </a:bodyPr>
          <a:lstStyle/>
          <a:p>
            <a:r>
              <a:rPr lang="en-US" dirty="0" smtClean="0"/>
              <a:t>First </a:t>
            </a:r>
            <a:r>
              <a:rPr lang="en-US" dirty="0"/>
              <a:t>noticed in 1927 in the Celebes (Sulawesi- a large island of Indonesia, east of Borneo) as microfilaria different from that of W. </a:t>
            </a:r>
            <a:r>
              <a:rPr lang="en-US" dirty="0" err="1"/>
              <a:t>bancrofti</a:t>
            </a:r>
            <a:r>
              <a:rPr lang="en-US" dirty="0"/>
              <a:t> in the blood of a native.</a:t>
            </a:r>
          </a:p>
          <a:p>
            <a:r>
              <a:rPr lang="en-US" dirty="0"/>
              <a:t>The adult form was found in India in 1940 and a year later in Indonesia. It is now found in humans in China, Korea, Japan, Southeast Asia, India, Six Lanka, the East Indies and the Philippines. </a:t>
            </a:r>
            <a:endParaRPr lang="en-US" dirty="0" smtClean="0"/>
          </a:p>
          <a:p>
            <a:r>
              <a:rPr lang="en-US" dirty="0" smtClean="0"/>
              <a:t>Much </a:t>
            </a:r>
            <a:r>
              <a:rPr lang="en-US" dirty="0"/>
              <a:t>of its </a:t>
            </a:r>
            <a:r>
              <a:rPr lang="en-US" dirty="0" err="1"/>
              <a:t>distributon</a:t>
            </a:r>
            <a:r>
              <a:rPr lang="en-US" dirty="0"/>
              <a:t> overlaps that of W. </a:t>
            </a:r>
            <a:r>
              <a:rPr lang="en-US" dirty="0" err="1"/>
              <a:t>bancrofti</a:t>
            </a:r>
            <a:r>
              <a:rPr lang="en-US" dirty="0"/>
              <a:t>.</a:t>
            </a:r>
          </a:p>
          <a:p>
            <a:endParaRPr lang="en-US" dirty="0"/>
          </a:p>
        </p:txBody>
      </p:sp>
    </p:spTree>
    <p:extLst>
      <p:ext uri="{BB962C8B-B14F-4D97-AF65-F5344CB8AC3E}">
        <p14:creationId xmlns:p14="http://schemas.microsoft.com/office/powerpoint/2010/main" val="31998430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smtClean="0"/>
              <a:t/>
            </a:r>
            <a:br>
              <a:rPr lang="en-US" b="1" i="1" dirty="0" smtClean="0"/>
            </a:br>
            <a:r>
              <a:rPr lang="en-US" b="1" i="1" dirty="0" err="1" smtClean="0"/>
              <a:t>Brugia</a:t>
            </a:r>
            <a:r>
              <a:rPr lang="en-US" b="1" i="1" dirty="0" smtClean="0"/>
              <a:t> </a:t>
            </a:r>
            <a:r>
              <a:rPr lang="en-US" b="1" i="1" dirty="0" err="1" smtClean="0"/>
              <a:t>malayi</a:t>
            </a:r>
            <a:r>
              <a:rPr lang="en-US" b="1" i="1" dirty="0" smtClean="0"/>
              <a:t> cont’d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Morphology</a:t>
            </a:r>
            <a:endParaRPr lang="en-US" dirty="0"/>
          </a:p>
          <a:p>
            <a:r>
              <a:rPr lang="en-US" dirty="0"/>
              <a:t>Similar to that of W. </a:t>
            </a:r>
            <a:r>
              <a:rPr lang="en-US" dirty="0" err="1"/>
              <a:t>bancrofti</a:t>
            </a:r>
            <a:r>
              <a:rPr lang="en-US" dirty="0"/>
              <a:t>, however, the size is only about half as large</a:t>
            </a:r>
          </a:p>
          <a:p>
            <a:r>
              <a:rPr lang="en-US" dirty="0"/>
              <a:t>Males are 13.5-20.5 mm long and 70-80µm wide; the tail is curved </a:t>
            </a:r>
            <a:r>
              <a:rPr lang="en-US" dirty="0" err="1"/>
              <a:t>ventrad</a:t>
            </a:r>
            <a:r>
              <a:rPr lang="en-US" dirty="0"/>
              <a:t> and bears 3 or 4 </a:t>
            </a:r>
            <a:r>
              <a:rPr lang="en-US" dirty="0" err="1"/>
              <a:t>prs</a:t>
            </a:r>
            <a:r>
              <a:rPr lang="en-US" dirty="0"/>
              <a:t> of </a:t>
            </a:r>
            <a:r>
              <a:rPr lang="en-US" dirty="0" err="1"/>
              <a:t>adanal</a:t>
            </a:r>
            <a:r>
              <a:rPr lang="en-US" dirty="0"/>
              <a:t> and 3 or 4 </a:t>
            </a:r>
            <a:r>
              <a:rPr lang="en-US" dirty="0" err="1"/>
              <a:t>prs</a:t>
            </a:r>
            <a:r>
              <a:rPr lang="en-US" dirty="0"/>
              <a:t> of </a:t>
            </a:r>
            <a:r>
              <a:rPr lang="en-US" dirty="0" err="1"/>
              <a:t>postanal</a:t>
            </a:r>
            <a:r>
              <a:rPr lang="en-US" dirty="0"/>
              <a:t> papillae. </a:t>
            </a:r>
            <a:endParaRPr lang="en-US" dirty="0" smtClean="0"/>
          </a:p>
          <a:p>
            <a:r>
              <a:rPr lang="en-US" dirty="0" smtClean="0"/>
              <a:t>The </a:t>
            </a:r>
            <a:r>
              <a:rPr lang="en-US" dirty="0"/>
              <a:t>spicules are unequal and dissimilar, and a small gubernaculums is present</a:t>
            </a:r>
          </a:p>
          <a:p>
            <a:endParaRPr lang="en-US" dirty="0"/>
          </a:p>
        </p:txBody>
      </p:sp>
    </p:spTree>
    <p:extLst>
      <p:ext uri="{BB962C8B-B14F-4D97-AF65-F5344CB8AC3E}">
        <p14:creationId xmlns:p14="http://schemas.microsoft.com/office/powerpoint/2010/main" val="33406993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a:t/>
            </a:r>
            <a:br>
              <a:rPr lang="en-US" b="1" i="1" dirty="0"/>
            </a:br>
            <a:r>
              <a:rPr lang="en-US" b="1" i="1" dirty="0" err="1"/>
              <a:t>Brugia</a:t>
            </a:r>
            <a:r>
              <a:rPr lang="en-US" b="1" i="1" dirty="0"/>
              <a:t> </a:t>
            </a:r>
            <a:r>
              <a:rPr lang="en-US" b="1" i="1" dirty="0" err="1"/>
              <a:t>malayi</a:t>
            </a:r>
            <a:r>
              <a:rPr lang="en-US" b="1" i="1" dirty="0"/>
              <a:t> cont’d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p:txBody>
          <a:bodyPr/>
          <a:lstStyle/>
          <a:p>
            <a:r>
              <a:rPr lang="en-US" dirty="0"/>
              <a:t>Females are 80-100mm long and 240-300µm wide; the finger-like tail is covered with minute </a:t>
            </a:r>
            <a:r>
              <a:rPr lang="en-US" dirty="0" err="1"/>
              <a:t>cuticular</a:t>
            </a:r>
            <a:r>
              <a:rPr lang="en-US" dirty="0"/>
              <a:t> bosses. </a:t>
            </a:r>
            <a:endParaRPr lang="en-US" dirty="0" smtClean="0"/>
          </a:p>
          <a:p>
            <a:r>
              <a:rPr lang="en-US" dirty="0" smtClean="0"/>
              <a:t>The </a:t>
            </a:r>
            <a:r>
              <a:rPr lang="en-US" dirty="0"/>
              <a:t>vulva is near the level of the middle of the esophagus.</a:t>
            </a:r>
          </a:p>
          <a:p>
            <a:endParaRPr lang="en-US" dirty="0"/>
          </a:p>
        </p:txBody>
      </p:sp>
    </p:spTree>
    <p:extLst>
      <p:ext uri="{BB962C8B-B14F-4D97-AF65-F5344CB8AC3E}">
        <p14:creationId xmlns:p14="http://schemas.microsoft.com/office/powerpoint/2010/main" val="1688412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a:t/>
            </a:r>
            <a:br>
              <a:rPr lang="en-US" b="1" i="1" dirty="0"/>
            </a:br>
            <a:r>
              <a:rPr lang="en-US" b="1" i="1" dirty="0" err="1"/>
              <a:t>Brugia</a:t>
            </a:r>
            <a:r>
              <a:rPr lang="en-US" b="1" i="1" dirty="0"/>
              <a:t> </a:t>
            </a:r>
            <a:r>
              <a:rPr lang="en-US" b="1" i="1" dirty="0" err="1"/>
              <a:t>malayi</a:t>
            </a:r>
            <a:r>
              <a:rPr lang="en-US" b="1" i="1" dirty="0"/>
              <a:t> cont’d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Biology and Pathology</a:t>
            </a:r>
            <a:endParaRPr lang="en-US" dirty="0"/>
          </a:p>
          <a:p>
            <a:r>
              <a:rPr lang="en-US" dirty="0"/>
              <a:t>Life cycle nearly identical to that of W. </a:t>
            </a:r>
            <a:r>
              <a:rPr lang="en-US" dirty="0" err="1"/>
              <a:t>bancrofti</a:t>
            </a:r>
            <a:r>
              <a:rPr lang="en-US" dirty="0"/>
              <a:t> mosquitoes of the genera </a:t>
            </a:r>
            <a:r>
              <a:rPr lang="en-US" dirty="0" err="1"/>
              <a:t>Mansonia</a:t>
            </a:r>
            <a:r>
              <a:rPr lang="en-US" dirty="0"/>
              <a:t>, </a:t>
            </a:r>
            <a:r>
              <a:rPr lang="en-US" dirty="0" err="1"/>
              <a:t>Aedes</a:t>
            </a:r>
            <a:r>
              <a:rPr lang="en-US" dirty="0"/>
              <a:t> and </a:t>
            </a:r>
            <a:r>
              <a:rPr lang="en-US" dirty="0" err="1"/>
              <a:t>culex</a:t>
            </a:r>
            <a:r>
              <a:rPr lang="en-US" dirty="0"/>
              <a:t> are intermediate hosts.</a:t>
            </a:r>
          </a:p>
          <a:p>
            <a:r>
              <a:rPr lang="en-US" dirty="0"/>
              <a:t>Adults live in the </a:t>
            </a:r>
            <a:r>
              <a:rPr lang="en-US" dirty="0" err="1"/>
              <a:t>lymphatice</a:t>
            </a:r>
            <a:r>
              <a:rPr lang="en-US" dirty="0"/>
              <a:t> and cause the same disease symptoms as W. </a:t>
            </a:r>
            <a:r>
              <a:rPr lang="en-US" dirty="0" err="1"/>
              <a:t>bancrofti</a:t>
            </a:r>
            <a:r>
              <a:rPr lang="en-US" dirty="0"/>
              <a:t>, although elephantiasis, when it occurs, is more restricted to the legs; the genitalia are rarely </a:t>
            </a:r>
            <a:r>
              <a:rPr lang="en-US" dirty="0" smtClean="0"/>
              <a:t>affected.</a:t>
            </a:r>
            <a:endParaRPr lang="en-US" dirty="0"/>
          </a:p>
          <a:p>
            <a:endParaRPr lang="en-US" dirty="0"/>
          </a:p>
        </p:txBody>
      </p:sp>
    </p:spTree>
    <p:extLst>
      <p:ext uri="{BB962C8B-B14F-4D97-AF65-F5344CB8AC3E}">
        <p14:creationId xmlns:p14="http://schemas.microsoft.com/office/powerpoint/2010/main" val="4081190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a:t/>
            </a:r>
            <a:br>
              <a:rPr lang="en-US" b="1" i="1" dirty="0"/>
            </a:br>
            <a:r>
              <a:rPr lang="en-US" b="1" i="1" dirty="0" err="1"/>
              <a:t>Brugia</a:t>
            </a:r>
            <a:r>
              <a:rPr lang="en-US" b="1" i="1" dirty="0"/>
              <a:t> </a:t>
            </a:r>
            <a:r>
              <a:rPr lang="en-US" b="1" i="1" dirty="0" err="1"/>
              <a:t>malayi</a:t>
            </a:r>
            <a:r>
              <a:rPr lang="en-US" b="1" i="1" dirty="0"/>
              <a:t> cont’d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a:xfrm>
            <a:off x="457200" y="1600200"/>
            <a:ext cx="8458200" cy="4525963"/>
          </a:xfrm>
        </p:spPr>
        <p:txBody>
          <a:bodyPr/>
          <a:lstStyle/>
          <a:p>
            <a:r>
              <a:rPr lang="en-US" dirty="0"/>
              <a:t>The mf. Is somewhat similar to that of </a:t>
            </a:r>
            <a:r>
              <a:rPr lang="en-US" dirty="0" err="1"/>
              <a:t>Wuchereria</a:t>
            </a:r>
            <a:r>
              <a:rPr lang="en-US" dirty="0"/>
              <a:t> but differentiated by having nuclei in the tail tip. </a:t>
            </a:r>
            <a:endParaRPr lang="en-US" dirty="0" smtClean="0"/>
          </a:p>
          <a:p>
            <a:r>
              <a:rPr lang="en-US" dirty="0" smtClean="0"/>
              <a:t>There </a:t>
            </a:r>
            <a:r>
              <a:rPr lang="en-US" dirty="0"/>
              <a:t>are both periodic and </a:t>
            </a:r>
            <a:r>
              <a:rPr lang="en-US" dirty="0" err="1"/>
              <a:t>subperiodic</a:t>
            </a:r>
            <a:r>
              <a:rPr lang="en-US" dirty="0"/>
              <a:t> strains.</a:t>
            </a:r>
          </a:p>
          <a:p>
            <a:endParaRPr lang="en-US" dirty="0"/>
          </a:p>
        </p:txBody>
      </p:sp>
    </p:spTree>
    <p:extLst>
      <p:ext uri="{BB962C8B-B14F-4D97-AF65-F5344CB8AC3E}">
        <p14:creationId xmlns:p14="http://schemas.microsoft.com/office/powerpoint/2010/main" val="19639401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a:t/>
            </a:r>
            <a:br>
              <a:rPr lang="en-US" b="1" i="1" dirty="0"/>
            </a:br>
            <a:r>
              <a:rPr lang="en-US" b="1" i="1" dirty="0" err="1"/>
              <a:t>Brugia</a:t>
            </a:r>
            <a:r>
              <a:rPr lang="en-US" b="1" i="1" dirty="0"/>
              <a:t> </a:t>
            </a:r>
            <a:r>
              <a:rPr lang="en-US" b="1" i="1" dirty="0" err="1"/>
              <a:t>malayi</a:t>
            </a:r>
            <a:r>
              <a:rPr lang="en-US" b="1" i="1" dirty="0"/>
              <a:t> cont’d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Diagnosis and Treatment</a:t>
            </a:r>
            <a:endParaRPr lang="en-US" dirty="0"/>
          </a:p>
          <a:p>
            <a:r>
              <a:rPr lang="en-US" dirty="0"/>
              <a:t>As for </a:t>
            </a:r>
            <a:r>
              <a:rPr lang="en-US" dirty="0" err="1"/>
              <a:t>Wuchereria</a:t>
            </a:r>
            <a:r>
              <a:rPr lang="en-US" dirty="0"/>
              <a:t> Control is primarily by eradication of the mosquito. </a:t>
            </a:r>
            <a:endParaRPr lang="en-US" dirty="0" smtClean="0"/>
          </a:p>
          <a:p>
            <a:r>
              <a:rPr lang="en-US" dirty="0" err="1" smtClean="0"/>
              <a:t>Mansonia</a:t>
            </a:r>
            <a:r>
              <a:rPr lang="en-US" dirty="0"/>
              <a:t>, the major vector in many areas can be eliminated with herbicides as the larvae depend on aquatic plants for their source of oxygen-the larvae pierce the stems of the aquatic vegetation to tap air</a:t>
            </a:r>
            <a:r>
              <a:rPr lang="en-US" dirty="0" smtClean="0"/>
              <a:t>.</a:t>
            </a:r>
            <a:endParaRPr lang="en-US" dirty="0"/>
          </a:p>
        </p:txBody>
      </p:sp>
    </p:spTree>
    <p:extLst>
      <p:ext uri="{BB962C8B-B14F-4D97-AF65-F5344CB8AC3E}">
        <p14:creationId xmlns:p14="http://schemas.microsoft.com/office/powerpoint/2010/main" val="393943847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a:t/>
            </a:r>
            <a:br>
              <a:rPr lang="en-US" b="1" i="1" dirty="0"/>
            </a:br>
            <a:r>
              <a:rPr lang="en-US" b="1" i="1" dirty="0" err="1"/>
              <a:t>Brugia</a:t>
            </a:r>
            <a:r>
              <a:rPr lang="en-US" b="1" i="1" dirty="0"/>
              <a:t> </a:t>
            </a:r>
            <a:r>
              <a:rPr lang="en-US" b="1" i="1" dirty="0" err="1"/>
              <a:t>malayi</a:t>
            </a:r>
            <a:r>
              <a:rPr lang="en-US" b="1" i="1" dirty="0"/>
              <a:t> cont’d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p:txBody>
          <a:bodyPr/>
          <a:lstStyle/>
          <a:p>
            <a:r>
              <a:rPr lang="en-US" dirty="0"/>
              <a:t>There are other spp. of </a:t>
            </a:r>
            <a:r>
              <a:rPr lang="en-US" dirty="0" err="1"/>
              <a:t>Brugia</a:t>
            </a:r>
            <a:r>
              <a:rPr lang="en-US" dirty="0"/>
              <a:t> and these include B. </a:t>
            </a:r>
            <a:r>
              <a:rPr lang="en-US" dirty="0" err="1"/>
              <a:t>timori</a:t>
            </a:r>
            <a:r>
              <a:rPr lang="en-US" dirty="0"/>
              <a:t> in the lesser </a:t>
            </a:r>
            <a:r>
              <a:rPr lang="en-US" dirty="0" err="1"/>
              <a:t>Sunda</a:t>
            </a:r>
            <a:r>
              <a:rPr lang="en-US" dirty="0"/>
              <a:t> Islands of Southeast Indonesia and is transmitted by Anopheles </a:t>
            </a:r>
            <a:r>
              <a:rPr lang="en-US" dirty="0" err="1"/>
              <a:t>barbirostris</a:t>
            </a:r>
            <a:r>
              <a:rPr lang="en-US" dirty="0"/>
              <a:t>. </a:t>
            </a:r>
            <a:endParaRPr lang="en-US" dirty="0" smtClean="0"/>
          </a:p>
          <a:p>
            <a:r>
              <a:rPr lang="en-US" dirty="0" smtClean="0"/>
              <a:t>It </a:t>
            </a:r>
            <a:r>
              <a:rPr lang="en-US" dirty="0"/>
              <a:t>shows nocturnal </a:t>
            </a:r>
            <a:r>
              <a:rPr lang="en-US" dirty="0" smtClean="0"/>
              <a:t>periodicity.</a:t>
            </a:r>
            <a:endParaRPr lang="en-US" dirty="0"/>
          </a:p>
          <a:p>
            <a:endParaRPr lang="en-US" dirty="0"/>
          </a:p>
          <a:p>
            <a:endParaRPr lang="en-US" dirty="0"/>
          </a:p>
        </p:txBody>
      </p:sp>
    </p:spTree>
    <p:extLst>
      <p:ext uri="{BB962C8B-B14F-4D97-AF65-F5344CB8AC3E}">
        <p14:creationId xmlns:p14="http://schemas.microsoft.com/office/powerpoint/2010/main" val="657722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Onchocerca</a:t>
            </a:r>
            <a:r>
              <a:rPr lang="en-US" b="1" i="1" dirty="0" smtClean="0"/>
              <a:t> </a:t>
            </a:r>
            <a:r>
              <a:rPr lang="en-US" b="1" i="1" dirty="0"/>
              <a:t>volvulus</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a:t>
            </a:r>
            <a:r>
              <a:rPr lang="en-US" dirty="0"/>
              <a:t>filarial worm that causes </a:t>
            </a:r>
            <a:r>
              <a:rPr lang="en-US" dirty="0" err="1"/>
              <a:t>onchocerciasis</a:t>
            </a:r>
            <a:r>
              <a:rPr lang="en-US" dirty="0"/>
              <a:t> or river blindness. The disease is found in Africa, Arabia</a:t>
            </a:r>
            <a:r>
              <a:rPr lang="en-US" dirty="0" smtClean="0"/>
              <a:t>,</a:t>
            </a:r>
          </a:p>
          <a:p>
            <a:r>
              <a:rPr lang="en-US" dirty="0" smtClean="0"/>
              <a:t> </a:t>
            </a:r>
            <a:r>
              <a:rPr lang="en-US" dirty="0"/>
              <a:t>Guatemala, </a:t>
            </a:r>
            <a:r>
              <a:rPr lang="en-US" dirty="0" err="1"/>
              <a:t>Mexixo</a:t>
            </a:r>
            <a:r>
              <a:rPr lang="en-US" dirty="0"/>
              <a:t>, Venezuela and Columbia and may have a greater distribution, it being a cryptic disease that does not always manifest overt symptoms</a:t>
            </a:r>
          </a:p>
          <a:p>
            <a:r>
              <a:rPr lang="en-US" dirty="0"/>
              <a:t>Although </a:t>
            </a:r>
            <a:r>
              <a:rPr lang="en-US" dirty="0" err="1"/>
              <a:t>Onchocerciasis</a:t>
            </a:r>
            <a:r>
              <a:rPr lang="en-US" dirty="0"/>
              <a:t> is not a fatal disease it causes disfigurement and blindness in many cases.</a:t>
            </a:r>
          </a:p>
          <a:p>
            <a:endParaRPr lang="en-US" dirty="0"/>
          </a:p>
        </p:txBody>
      </p:sp>
    </p:spTree>
    <p:extLst>
      <p:ext uri="{BB962C8B-B14F-4D97-AF65-F5344CB8AC3E}">
        <p14:creationId xmlns:p14="http://schemas.microsoft.com/office/powerpoint/2010/main" val="11307806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a:t>
            </a:r>
            <a:r>
              <a:rPr lang="en-US" b="1" i="1" dirty="0" smtClean="0"/>
              <a:t>volvulus cont’d</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Morphology</a:t>
            </a:r>
            <a:endParaRPr lang="en-US" dirty="0"/>
          </a:p>
          <a:p>
            <a:r>
              <a:rPr lang="en-US" dirty="0"/>
              <a:t>Not very different from that of </a:t>
            </a:r>
            <a:r>
              <a:rPr lang="en-US" i="1" dirty="0"/>
              <a:t>W. </a:t>
            </a:r>
            <a:r>
              <a:rPr lang="en-US" i="1" dirty="0" err="1" smtClean="0"/>
              <a:t>bancrofti</a:t>
            </a:r>
            <a:r>
              <a:rPr lang="en-US" dirty="0" smtClean="0"/>
              <a:t>.</a:t>
            </a:r>
          </a:p>
          <a:p>
            <a:r>
              <a:rPr lang="en-US" dirty="0" smtClean="0"/>
              <a:t>The </a:t>
            </a:r>
            <a:r>
              <a:rPr lang="en-US" dirty="0"/>
              <a:t>worms are characteristically knotted together in pairs or groups in the subcutaneous tissues. </a:t>
            </a:r>
            <a:endParaRPr lang="en-US" dirty="0" smtClean="0"/>
          </a:p>
          <a:p>
            <a:r>
              <a:rPr lang="en-US" dirty="0"/>
              <a:t>L</a:t>
            </a:r>
            <a:r>
              <a:rPr lang="en-US" dirty="0" smtClean="0"/>
              <a:t>ips </a:t>
            </a:r>
            <a:r>
              <a:rPr lang="en-US" dirty="0"/>
              <a:t>and a </a:t>
            </a:r>
            <a:r>
              <a:rPr lang="en-US" dirty="0" err="1"/>
              <a:t>buccal</a:t>
            </a:r>
            <a:r>
              <a:rPr lang="en-US" dirty="0"/>
              <a:t> capsule are absent and two circles of four </a:t>
            </a:r>
            <a:r>
              <a:rPr lang="en-US" dirty="0" err="1"/>
              <a:t>papilae</a:t>
            </a:r>
            <a:r>
              <a:rPr lang="en-US" dirty="0"/>
              <a:t> each </a:t>
            </a:r>
            <a:r>
              <a:rPr lang="en-US" dirty="0" err="1"/>
              <a:t>surrrund</a:t>
            </a:r>
            <a:r>
              <a:rPr lang="en-US" dirty="0"/>
              <a:t> the mouth. </a:t>
            </a:r>
            <a:endParaRPr lang="en-US" dirty="0" smtClean="0"/>
          </a:p>
          <a:p>
            <a:r>
              <a:rPr lang="en-US" dirty="0" smtClean="0"/>
              <a:t>The </a:t>
            </a:r>
            <a:r>
              <a:rPr lang="en-US" dirty="0"/>
              <a:t>esophagus is not conspicuously divided. </a:t>
            </a:r>
          </a:p>
        </p:txBody>
      </p:sp>
    </p:spTree>
    <p:extLst>
      <p:ext uri="{BB962C8B-B14F-4D97-AF65-F5344CB8AC3E}">
        <p14:creationId xmlns:p14="http://schemas.microsoft.com/office/powerpoint/2010/main" val="41302029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Males are 19-42 cm long and 130-210µm wide; females are 33.5-50sm long by 270-400µm wide with the vulva just behind the posterior end of the esophagus</a:t>
            </a:r>
            <a:r>
              <a:rPr lang="en-US" dirty="0" smtClean="0"/>
              <a:t>.</a:t>
            </a:r>
          </a:p>
          <a:p>
            <a:r>
              <a:rPr lang="en-US" dirty="0" smtClean="0"/>
              <a:t> </a:t>
            </a:r>
            <a:r>
              <a:rPr lang="en-US" dirty="0"/>
              <a:t>The tail of the male is curbed </a:t>
            </a:r>
            <a:r>
              <a:rPr lang="en-US" dirty="0" err="1"/>
              <a:t>ventrad</a:t>
            </a:r>
            <a:r>
              <a:rPr lang="en-US" dirty="0"/>
              <a:t> and lacks </a:t>
            </a:r>
            <a:r>
              <a:rPr lang="en-US" dirty="0" err="1"/>
              <a:t>alae</a:t>
            </a:r>
            <a:r>
              <a:rPr lang="en-US" dirty="0"/>
              <a:t>; it bears four pairs of </a:t>
            </a:r>
            <a:r>
              <a:rPr lang="en-US" dirty="0" err="1"/>
              <a:t>adanal</a:t>
            </a:r>
            <a:r>
              <a:rPr lang="en-US" dirty="0"/>
              <a:t> and 6-8 </a:t>
            </a:r>
            <a:r>
              <a:rPr lang="en-US" dirty="0" err="1"/>
              <a:t>prs</a:t>
            </a:r>
            <a:r>
              <a:rPr lang="en-US" dirty="0"/>
              <a:t> of </a:t>
            </a:r>
            <a:r>
              <a:rPr lang="en-US" dirty="0" err="1"/>
              <a:t>postanal</a:t>
            </a:r>
            <a:r>
              <a:rPr lang="en-US" dirty="0"/>
              <a:t> papillae.</a:t>
            </a:r>
          </a:p>
          <a:p>
            <a:r>
              <a:rPr lang="en-US" dirty="0"/>
              <a:t>The mf are unsheathed.</a:t>
            </a:r>
          </a:p>
          <a:p>
            <a:endParaRPr lang="en-US" dirty="0"/>
          </a:p>
        </p:txBody>
      </p:sp>
    </p:spTree>
    <p:extLst>
      <p:ext uri="{BB962C8B-B14F-4D97-AF65-F5344CB8AC3E}">
        <p14:creationId xmlns:p14="http://schemas.microsoft.com/office/powerpoint/2010/main" val="558944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Biology</a:t>
            </a:r>
            <a:endParaRPr lang="en-US" dirty="0"/>
          </a:p>
          <a:p>
            <a:r>
              <a:rPr lang="en-US" dirty="0"/>
              <a:t>Adults worms locate under the skin, where they become encapsulated by host reactions. </a:t>
            </a:r>
            <a:endParaRPr lang="en-US" dirty="0" smtClean="0"/>
          </a:p>
          <a:p>
            <a:r>
              <a:rPr lang="en-US" dirty="0" smtClean="0"/>
              <a:t>Over </a:t>
            </a:r>
            <a:r>
              <a:rPr lang="en-US" dirty="0"/>
              <a:t>a bone such as the skull or a joint such reaction results is the formation of a nodule. </a:t>
            </a:r>
          </a:p>
          <a:p>
            <a:r>
              <a:rPr lang="en-US" dirty="0"/>
              <a:t>In Africa most infections are below the waist, whereas in C. America they are </a:t>
            </a:r>
            <a:r>
              <a:rPr lang="en-US" dirty="0" smtClean="0"/>
              <a:t>usually </a:t>
            </a:r>
            <a:r>
              <a:rPr lang="en-US" dirty="0"/>
              <a:t>a</a:t>
            </a:r>
            <a:r>
              <a:rPr lang="en-US" dirty="0" smtClean="0"/>
              <a:t>bove </a:t>
            </a:r>
            <a:r>
              <a:rPr lang="en-US" dirty="0"/>
              <a:t>the waist. </a:t>
            </a:r>
            <a:endParaRPr lang="en-US" dirty="0" smtClean="0"/>
          </a:p>
          <a:p>
            <a:r>
              <a:rPr lang="en-US" dirty="0" smtClean="0"/>
              <a:t>This </a:t>
            </a:r>
            <a:r>
              <a:rPr lang="en-US" dirty="0"/>
              <a:t>is </a:t>
            </a:r>
            <a:r>
              <a:rPr lang="en-US" dirty="0" smtClean="0"/>
              <a:t>probably an </a:t>
            </a:r>
            <a:r>
              <a:rPr lang="en-US" dirty="0"/>
              <a:t>adaptation to the biting preferences of the areas where the insects prefer to bite.</a:t>
            </a:r>
          </a:p>
          <a:p>
            <a:endParaRPr lang="en-US" dirty="0"/>
          </a:p>
        </p:txBody>
      </p:sp>
    </p:spTree>
    <p:extLst>
      <p:ext uri="{BB962C8B-B14F-4D97-AF65-F5344CB8AC3E}">
        <p14:creationId xmlns:p14="http://schemas.microsoft.com/office/powerpoint/2010/main" val="405617447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a:t>The unsheathed mf. r</a:t>
            </a:r>
            <a:r>
              <a:rPr lang="en-US" dirty="0" smtClean="0"/>
              <a:t>emain </a:t>
            </a:r>
            <a:r>
              <a:rPr lang="en-US" dirty="0"/>
              <a:t>in the skin, where they can be ingested by the black fly intermediate hosts </a:t>
            </a:r>
            <a:r>
              <a:rPr lang="en-US" i="1" dirty="0" err="1"/>
              <a:t>Simulium</a:t>
            </a:r>
            <a:r>
              <a:rPr lang="en-US" i="1" dirty="0"/>
              <a:t> spp. </a:t>
            </a:r>
            <a:endParaRPr lang="en-US" i="1" dirty="0" smtClean="0"/>
          </a:p>
          <a:p>
            <a:r>
              <a:rPr lang="en-US" dirty="0"/>
              <a:t>T</a:t>
            </a:r>
            <a:r>
              <a:rPr lang="en-US" dirty="0" smtClean="0"/>
              <a:t>he </a:t>
            </a:r>
            <a:r>
              <a:rPr lang="en-US" dirty="0"/>
              <a:t>mouthparts of this insect are not adapted for deep piercing hence much of their food consists of tissue juices, which contain numerous mf. i</a:t>
            </a:r>
            <a:r>
              <a:rPr lang="en-US" dirty="0" smtClean="0"/>
              <a:t>n </a:t>
            </a:r>
            <a:r>
              <a:rPr lang="en-US" dirty="0"/>
              <a:t>infected persons.</a:t>
            </a:r>
          </a:p>
          <a:p>
            <a:r>
              <a:rPr lang="en-US" dirty="0"/>
              <a:t>The first stage juvenile migrates from the intestinal tract of the fly to its thoracic muscles. </a:t>
            </a:r>
          </a:p>
        </p:txBody>
      </p:sp>
    </p:spTree>
    <p:extLst>
      <p:ext uri="{BB962C8B-B14F-4D97-AF65-F5344CB8AC3E}">
        <p14:creationId xmlns:p14="http://schemas.microsoft.com/office/powerpoint/2010/main" val="10946782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t>There it </a:t>
            </a:r>
            <a:r>
              <a:rPr lang="en-US" dirty="0" err="1"/>
              <a:t>moults</a:t>
            </a:r>
            <a:r>
              <a:rPr lang="en-US" dirty="0"/>
              <a:t> to the sausage stage and then </a:t>
            </a:r>
            <a:r>
              <a:rPr lang="en-US" dirty="0" err="1"/>
              <a:t>moults</a:t>
            </a:r>
            <a:r>
              <a:rPr lang="en-US" dirty="0"/>
              <a:t> again to the infective </a:t>
            </a:r>
            <a:r>
              <a:rPr lang="en-US" dirty="0" err="1"/>
              <a:t>filariform</a:t>
            </a:r>
            <a:r>
              <a:rPr lang="en-US" dirty="0"/>
              <a:t> </a:t>
            </a:r>
            <a:r>
              <a:rPr lang="en-US" dirty="0" smtClean="0"/>
              <a:t>stage.</a:t>
            </a:r>
          </a:p>
          <a:p>
            <a:r>
              <a:rPr lang="en-US" dirty="0" smtClean="0"/>
              <a:t>The </a:t>
            </a:r>
            <a:r>
              <a:rPr lang="en-US" dirty="0" err="1"/>
              <a:t>filariform</a:t>
            </a:r>
            <a:r>
              <a:rPr lang="en-US" dirty="0"/>
              <a:t> juvenile moves to the labium of the fly and can infect a new host when the insect next feeds. </a:t>
            </a:r>
            <a:endParaRPr lang="en-US" dirty="0" smtClean="0"/>
          </a:p>
          <a:p>
            <a:r>
              <a:rPr lang="en-US" dirty="0" smtClean="0"/>
              <a:t>Mature </a:t>
            </a:r>
            <a:r>
              <a:rPr lang="en-US" dirty="0"/>
              <a:t>worms appear in the skin in less than a year</a:t>
            </a:r>
            <a:r>
              <a:rPr lang="en-US" dirty="0" smtClean="0"/>
              <a:t>.</a:t>
            </a:r>
            <a:endParaRPr lang="en-US" dirty="0"/>
          </a:p>
        </p:txBody>
      </p:sp>
    </p:spTree>
    <p:extLst>
      <p:ext uri="{BB962C8B-B14F-4D97-AF65-F5344CB8AC3E}">
        <p14:creationId xmlns:p14="http://schemas.microsoft.com/office/powerpoint/2010/main" val="8540747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t>The parasite, believed to have been introduced into the Americas with the slave trade, has since mutated sufficiently to cause different clinical symptoms in its definitive host and to differ in its infectivity to various vectors and </a:t>
            </a:r>
            <a:r>
              <a:rPr lang="en-US" dirty="0" err="1"/>
              <a:t>lab.animals</a:t>
            </a:r>
            <a:r>
              <a:rPr lang="en-US" dirty="0"/>
              <a:t>- </a:t>
            </a:r>
            <a:endParaRPr lang="en-US" dirty="0" smtClean="0"/>
          </a:p>
          <a:p>
            <a:r>
              <a:rPr lang="en-US" dirty="0" smtClean="0"/>
              <a:t>An </a:t>
            </a:r>
            <a:r>
              <a:rPr lang="en-US" dirty="0"/>
              <a:t>indication of the mutability of </a:t>
            </a:r>
            <a:r>
              <a:rPr lang="en-US" dirty="0" err="1"/>
              <a:t>dioecious</a:t>
            </a:r>
            <a:r>
              <a:rPr lang="en-US" dirty="0"/>
              <a:t> parasites with high reproductive capacity. </a:t>
            </a:r>
            <a:endParaRPr lang="en-US" dirty="0" smtClean="0"/>
          </a:p>
          <a:p>
            <a:endParaRPr lang="en-US" dirty="0"/>
          </a:p>
          <a:p>
            <a:endParaRPr lang="en-US" dirty="0"/>
          </a:p>
        </p:txBody>
      </p:sp>
    </p:spTree>
    <p:extLst>
      <p:ext uri="{BB962C8B-B14F-4D97-AF65-F5344CB8AC3E}">
        <p14:creationId xmlns:p14="http://schemas.microsoft.com/office/powerpoint/2010/main" val="249608823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The parasite  is expanding in its distribution.</a:t>
            </a:r>
          </a:p>
          <a:p>
            <a:r>
              <a:rPr lang="en-US" dirty="0"/>
              <a:t>Humans, however, appears to be the only natural definitive host for O. </a:t>
            </a:r>
            <a:r>
              <a:rPr lang="en-US" dirty="0" err="1"/>
              <a:t>vovulus</a:t>
            </a:r>
            <a:r>
              <a:rPr lang="en-US" dirty="0"/>
              <a:t>.</a:t>
            </a:r>
          </a:p>
          <a:p>
            <a:endParaRPr lang="en-US" dirty="0"/>
          </a:p>
        </p:txBody>
      </p:sp>
    </p:spTree>
    <p:extLst>
      <p:ext uri="{BB962C8B-B14F-4D97-AF65-F5344CB8AC3E}">
        <p14:creationId xmlns:p14="http://schemas.microsoft.com/office/powerpoint/2010/main" val="40313567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err="1" smtClean="0"/>
              <a:t>Epidermiology</a:t>
            </a:r>
            <a:endParaRPr lang="en-US" dirty="0"/>
          </a:p>
          <a:p>
            <a:r>
              <a:rPr lang="en-US" dirty="0" err="1"/>
              <a:t>Simulium</a:t>
            </a:r>
            <a:r>
              <a:rPr lang="en-US" dirty="0"/>
              <a:t> </a:t>
            </a:r>
            <a:r>
              <a:rPr lang="en-US" dirty="0" err="1"/>
              <a:t>spp</a:t>
            </a:r>
            <a:r>
              <a:rPr lang="en-US" dirty="0"/>
              <a:t> live their larval stages only in clear, fast-flowing streams.</a:t>
            </a:r>
          </a:p>
          <a:p>
            <a:r>
              <a:rPr lang="en-US" dirty="0"/>
              <a:t>The adult flies survive only where there is high humidity and plenty of streamside </a:t>
            </a:r>
            <a:r>
              <a:rPr lang="en-US" dirty="0" smtClean="0"/>
              <a:t>vegetation.</a:t>
            </a:r>
          </a:p>
          <a:p>
            <a:r>
              <a:rPr lang="en-US" dirty="0" smtClean="0"/>
              <a:t>Wild </a:t>
            </a:r>
            <a:r>
              <a:rPr lang="en-US" dirty="0"/>
              <a:t>caught blackflies are often infected with a variety of species of </a:t>
            </a:r>
            <a:r>
              <a:rPr lang="en-US" dirty="0" err="1"/>
              <a:t>filarids</a:t>
            </a:r>
            <a:r>
              <a:rPr lang="en-US" dirty="0"/>
              <a:t>, most of which are slice unidentified, but in areas endemic with O. volvulus the juveniles can often be recognized as that species</a:t>
            </a:r>
            <a:r>
              <a:rPr lang="en-US" dirty="0" smtClean="0"/>
              <a:t>.</a:t>
            </a:r>
          </a:p>
          <a:p>
            <a:endParaRPr lang="en-US" dirty="0"/>
          </a:p>
        </p:txBody>
      </p:sp>
    </p:spTree>
    <p:extLst>
      <p:ext uri="{BB962C8B-B14F-4D97-AF65-F5344CB8AC3E}">
        <p14:creationId xmlns:p14="http://schemas.microsoft.com/office/powerpoint/2010/main" val="38894406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That foci of </a:t>
            </a:r>
            <a:r>
              <a:rPr lang="en-US" dirty="0" err="1"/>
              <a:t>onchocerciasis</a:t>
            </a:r>
            <a:r>
              <a:rPr lang="en-US" dirty="0"/>
              <a:t> occur in the arid savannah of West Africa and the desert areas along the Nile near the </a:t>
            </a:r>
            <a:r>
              <a:rPr lang="en-US" dirty="0" smtClean="0"/>
              <a:t>Egypt-Sudan </a:t>
            </a:r>
            <a:r>
              <a:rPr lang="en-US" dirty="0"/>
              <a:t>border is surprising</a:t>
            </a:r>
            <a:r>
              <a:rPr lang="en-US" dirty="0" smtClean="0"/>
              <a:t>.</a:t>
            </a:r>
          </a:p>
          <a:p>
            <a:r>
              <a:rPr lang="en-US" dirty="0" smtClean="0"/>
              <a:t> </a:t>
            </a:r>
            <a:r>
              <a:rPr lang="en-US" dirty="0"/>
              <a:t>It </a:t>
            </a:r>
            <a:r>
              <a:rPr lang="en-US" dirty="0" smtClean="0"/>
              <a:t>probably depends </a:t>
            </a:r>
            <a:r>
              <a:rPr lang="en-US" dirty="0"/>
              <a:t>on adaptations for survival of the blackfly.</a:t>
            </a:r>
          </a:p>
          <a:p>
            <a:endParaRPr lang="en-US" dirty="0"/>
          </a:p>
        </p:txBody>
      </p:sp>
    </p:spTree>
    <p:extLst>
      <p:ext uri="{BB962C8B-B14F-4D97-AF65-F5344CB8AC3E}">
        <p14:creationId xmlns:p14="http://schemas.microsoft.com/office/powerpoint/2010/main" val="330079162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Pathogenesis</a:t>
            </a:r>
            <a:endParaRPr lang="en-US" dirty="0"/>
          </a:p>
          <a:p>
            <a:r>
              <a:rPr lang="en-US" dirty="0"/>
              <a:t>Both adult worms and mf. Contribute to the pathogenesis; the adult, however, causes less </a:t>
            </a:r>
            <a:r>
              <a:rPr lang="en-US" dirty="0" err="1"/>
              <a:t>pathogy</a:t>
            </a:r>
            <a:r>
              <a:rPr lang="en-US" dirty="0"/>
              <a:t>, often with no symptoms whatever and, at the worst, stimulating the growth of palpable subcutaneous nodules called ONCHOCERCOMAS, esp. over bony prominences.</a:t>
            </a:r>
          </a:p>
          <a:p>
            <a:r>
              <a:rPr lang="en-US" dirty="0"/>
              <a:t>In the African these nodules are most frequent in the pelvic area, with a few along the spine, chest, and knees. </a:t>
            </a:r>
          </a:p>
        </p:txBody>
      </p:sp>
    </p:spTree>
    <p:extLst>
      <p:ext uri="{BB962C8B-B14F-4D97-AF65-F5344CB8AC3E}">
        <p14:creationId xmlns:p14="http://schemas.microsoft.com/office/powerpoint/2010/main" val="321223885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smtClean="0"/>
              <a:t>In C. America the nodules are mostly above the waist esp. on the neck and head.</a:t>
            </a:r>
          </a:p>
          <a:p>
            <a:r>
              <a:rPr lang="en-US" smtClean="0"/>
              <a:t> These nodules are rel. benign, causing some disfigurement but no pain or ill health. </a:t>
            </a:r>
          </a:p>
          <a:p>
            <a:r>
              <a:rPr lang="en-US" smtClean="0"/>
              <a:t>The no. of nodules may vary from one to well over a hundred. </a:t>
            </a:r>
          </a:p>
          <a:p>
            <a:r>
              <a:rPr lang="en-US" smtClean="0"/>
              <a:t>They consist of collagen fibers surrounding one to several adult worms. </a:t>
            </a:r>
          </a:p>
          <a:p>
            <a:r>
              <a:rPr lang="en-US" smtClean="0"/>
              <a:t>Rarely the nodule will degenerate to form an abscess, or the worm will become calcified.</a:t>
            </a:r>
            <a:endParaRPr lang="en-US" dirty="0"/>
          </a:p>
        </p:txBody>
      </p:sp>
    </p:spTree>
    <p:extLst>
      <p:ext uri="{BB962C8B-B14F-4D97-AF65-F5344CB8AC3E}">
        <p14:creationId xmlns:p14="http://schemas.microsoft.com/office/powerpoint/2010/main" val="15773426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dirty="0"/>
              <a:t>The parasite sometimes causes true elephantiasis and ‘hanging groin’ in some areas of Africa</a:t>
            </a:r>
            <a:r>
              <a:rPr lang="en-US" dirty="0" smtClean="0"/>
              <a:t>:</a:t>
            </a:r>
          </a:p>
          <a:p>
            <a:r>
              <a:rPr lang="en-US" dirty="0" smtClean="0"/>
              <a:t> A loss </a:t>
            </a:r>
            <a:r>
              <a:rPr lang="en-US" dirty="0"/>
              <a:t>of elasticity of the skin causes a sagging of the groin into pendulous sacs, often containing lymph nodes. </a:t>
            </a:r>
            <a:endParaRPr lang="en-US" dirty="0" smtClean="0"/>
          </a:p>
          <a:p>
            <a:r>
              <a:rPr lang="en-US" dirty="0" smtClean="0"/>
              <a:t>The </a:t>
            </a:r>
            <a:r>
              <a:rPr lang="en-US" dirty="0"/>
              <a:t>testes and scrotum are not affected and hydrocele is not present. </a:t>
            </a:r>
            <a:endParaRPr lang="en-US" dirty="0" smtClean="0"/>
          </a:p>
          <a:p>
            <a:r>
              <a:rPr lang="en-US" dirty="0" smtClean="0"/>
              <a:t>It </a:t>
            </a:r>
            <a:r>
              <a:rPr lang="en-US" dirty="0"/>
              <a:t>frequently causes hernias, especially femoral hernia, in Africa.</a:t>
            </a:r>
          </a:p>
          <a:p>
            <a:endParaRPr lang="en-US" dirty="0"/>
          </a:p>
          <a:p>
            <a:endParaRPr lang="en-US" dirty="0"/>
          </a:p>
        </p:txBody>
      </p:sp>
    </p:spTree>
    <p:extLst>
      <p:ext uri="{BB962C8B-B14F-4D97-AF65-F5344CB8AC3E}">
        <p14:creationId xmlns:p14="http://schemas.microsoft.com/office/powerpoint/2010/main" val="188389648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t>The presence of mf. in the skin often results in a severe Dermatitis caused either by allergic responses or toxic effects after the death of the juveniles.</a:t>
            </a:r>
          </a:p>
          <a:p>
            <a:r>
              <a:rPr lang="en-US" dirty="0"/>
              <a:t>The first symptom is an intense itching that may lead to secondary bacterial infection, often accompanied by </a:t>
            </a:r>
            <a:r>
              <a:rPr lang="en-US" dirty="0" err="1"/>
              <a:t>dyspigmentation</a:t>
            </a:r>
            <a:r>
              <a:rPr lang="en-US" dirty="0"/>
              <a:t> of the skin in small or extensive areas. </a:t>
            </a:r>
          </a:p>
        </p:txBody>
      </p:sp>
    </p:spTree>
    <p:extLst>
      <p:ext uri="{BB962C8B-B14F-4D97-AF65-F5344CB8AC3E}">
        <p14:creationId xmlns:p14="http://schemas.microsoft.com/office/powerpoint/2010/main" val="193692455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Onchocerca</a:t>
            </a:r>
            <a:r>
              <a:rPr lang="en-US" b="1" i="1" dirty="0"/>
              <a:t> volvulus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This is followed by a thickening, </a:t>
            </a:r>
            <a:r>
              <a:rPr lang="en-US" dirty="0" err="1"/>
              <a:t>discoluaration</a:t>
            </a:r>
            <a:r>
              <a:rPr lang="en-US" dirty="0"/>
              <a:t>, and cracking of the skin-</a:t>
            </a:r>
            <a:r>
              <a:rPr lang="en-US" dirty="0" err="1"/>
              <a:t>sympyoms</a:t>
            </a:r>
            <a:r>
              <a:rPr lang="en-US" dirty="0"/>
              <a:t> paralleling those of </a:t>
            </a:r>
            <a:r>
              <a:rPr lang="en-US" dirty="0" err="1"/>
              <a:t>avitaminosis</a:t>
            </a:r>
            <a:r>
              <a:rPr lang="en-US" dirty="0"/>
              <a:t> A and therefore thought to result from the parasite’s competition for or interference with </a:t>
            </a:r>
            <a:r>
              <a:rPr lang="en-US" dirty="0" err="1"/>
              <a:t>vit</a:t>
            </a:r>
            <a:r>
              <a:rPr lang="en-US" dirty="0"/>
              <a:t>. A metabolism. </a:t>
            </a:r>
            <a:endParaRPr lang="en-US" dirty="0" smtClean="0"/>
          </a:p>
          <a:p>
            <a:r>
              <a:rPr lang="en-US" dirty="0" smtClean="0"/>
              <a:t>Finally </a:t>
            </a:r>
            <a:r>
              <a:rPr lang="en-US" dirty="0"/>
              <a:t>there is loss of skin elasticity, giving the patient a look of premature aging.</a:t>
            </a:r>
          </a:p>
          <a:p>
            <a:r>
              <a:rPr lang="en-US" dirty="0"/>
              <a:t>Depigmentation is accentuated and may extend over large areas, especially of the legs</a:t>
            </a:r>
            <a:r>
              <a:rPr lang="en-US" dirty="0" smtClean="0"/>
              <a:t>.</a:t>
            </a:r>
          </a:p>
          <a:p>
            <a:r>
              <a:rPr lang="en-US" dirty="0" smtClean="0"/>
              <a:t> </a:t>
            </a:r>
            <a:r>
              <a:rPr lang="en-US" dirty="0"/>
              <a:t>Patients may be misdiagnosed as leprous. </a:t>
            </a:r>
          </a:p>
          <a:p>
            <a:endParaRPr lang="en-US" dirty="0"/>
          </a:p>
          <a:p>
            <a:endParaRPr lang="en-US" dirty="0"/>
          </a:p>
        </p:txBody>
      </p:sp>
    </p:spTree>
    <p:extLst>
      <p:ext uri="{BB962C8B-B14F-4D97-AF65-F5344CB8AC3E}">
        <p14:creationId xmlns:p14="http://schemas.microsoft.com/office/powerpoint/2010/main" val="208069812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Trichinella</a:t>
            </a:r>
            <a:r>
              <a:rPr lang="en-US" b="1" i="1" dirty="0" smtClean="0"/>
              <a:t> </a:t>
            </a:r>
            <a:r>
              <a:rPr lang="en-US" b="1" i="1" dirty="0"/>
              <a:t>spp.</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These </a:t>
            </a:r>
            <a:r>
              <a:rPr lang="en-US" dirty="0"/>
              <a:t>are common parasites of domestic and wild pigs’ rats and many carnivores, and humans. Human infection is called </a:t>
            </a:r>
            <a:r>
              <a:rPr lang="en-US" dirty="0" err="1"/>
              <a:t>Trichinellosis</a:t>
            </a:r>
            <a:r>
              <a:rPr lang="en-US" dirty="0"/>
              <a:t> (or Trichinosis or </a:t>
            </a:r>
            <a:r>
              <a:rPr lang="en-US" dirty="0" err="1"/>
              <a:t>Trichiniasis</a:t>
            </a:r>
            <a:r>
              <a:rPr lang="en-US" dirty="0"/>
              <a:t>) and is a zoonosis.</a:t>
            </a:r>
          </a:p>
          <a:p>
            <a:r>
              <a:rPr lang="en-US" i="1" dirty="0"/>
              <a:t>T. </a:t>
            </a:r>
            <a:r>
              <a:rPr lang="en-US" i="1" dirty="0" err="1"/>
              <a:t>spiralis</a:t>
            </a:r>
            <a:r>
              <a:rPr lang="en-US" dirty="0"/>
              <a:t> of rats, cats, dogs</a:t>
            </a:r>
          </a:p>
          <a:p>
            <a:r>
              <a:rPr lang="en-US" i="1" dirty="0"/>
              <a:t>T. native</a:t>
            </a:r>
            <a:r>
              <a:rPr lang="en-US" dirty="0"/>
              <a:t> of carnivores and marine mammals in the Arctic</a:t>
            </a:r>
          </a:p>
          <a:p>
            <a:r>
              <a:rPr lang="en-US" i="1" dirty="0"/>
              <a:t>T. </a:t>
            </a:r>
            <a:r>
              <a:rPr lang="en-US" i="1" dirty="0" err="1"/>
              <a:t>nelsoni</a:t>
            </a:r>
            <a:r>
              <a:rPr lang="en-US" dirty="0"/>
              <a:t> of carnivores and wild pigs (naturally ) in the tropics and sub-tropics</a:t>
            </a:r>
          </a:p>
          <a:p>
            <a:r>
              <a:rPr lang="en-US" dirty="0"/>
              <a:t>These </a:t>
            </a:r>
            <a:r>
              <a:rPr lang="en-US" i="1" dirty="0"/>
              <a:t>spp</a:t>
            </a:r>
            <a:r>
              <a:rPr lang="en-US" dirty="0"/>
              <a:t>. are morphologically indistinguishable.</a:t>
            </a:r>
          </a:p>
          <a:p>
            <a:endParaRPr lang="en-US" dirty="0"/>
          </a:p>
        </p:txBody>
      </p:sp>
    </p:spTree>
    <p:extLst>
      <p:ext uri="{BB962C8B-B14F-4D97-AF65-F5344CB8AC3E}">
        <p14:creationId xmlns:p14="http://schemas.microsoft.com/office/powerpoint/2010/main" val="206873587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Trichinella</a:t>
            </a:r>
            <a:r>
              <a:rPr lang="en-US" b="1" i="1" dirty="0"/>
              <a:t> spp</a:t>
            </a:r>
            <a:r>
              <a:rPr lang="en-US" b="1" i="1" dirty="0" smtClean="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Transmission</a:t>
            </a:r>
            <a:endParaRPr lang="en-US" dirty="0"/>
          </a:p>
          <a:p>
            <a:r>
              <a:rPr lang="en-US" dirty="0"/>
              <a:t>Human infection occurs by ingestion of encysted larvae in raw or insufficiently cooked meat.</a:t>
            </a:r>
          </a:p>
          <a:p>
            <a:pPr marL="0" indent="0" algn="ctr">
              <a:buNone/>
            </a:pPr>
            <a:r>
              <a:rPr lang="en-US" b="1" dirty="0"/>
              <a:t>Natural Life Cycle</a:t>
            </a:r>
            <a:endParaRPr lang="en-US" dirty="0"/>
          </a:p>
          <a:p>
            <a:r>
              <a:rPr lang="en-US" dirty="0"/>
              <a:t>The natural definitive and intermediate hosts are rodents, domestic and wild pigs, bears and other carnivores</a:t>
            </a:r>
            <a:r>
              <a:rPr lang="en-US" dirty="0" smtClean="0"/>
              <a:t>.</a:t>
            </a:r>
          </a:p>
          <a:p>
            <a:r>
              <a:rPr lang="en-US" dirty="0" smtClean="0"/>
              <a:t> </a:t>
            </a:r>
            <a:r>
              <a:rPr lang="en-US" dirty="0"/>
              <a:t>Adults and larvae are found in a single host but two hosts are required to complete the life cycle.</a:t>
            </a:r>
          </a:p>
          <a:p>
            <a:endParaRPr lang="en-US" dirty="0"/>
          </a:p>
        </p:txBody>
      </p:sp>
    </p:spTree>
    <p:extLst>
      <p:ext uri="{BB962C8B-B14F-4D97-AF65-F5344CB8AC3E}">
        <p14:creationId xmlns:p14="http://schemas.microsoft.com/office/powerpoint/2010/main" val="213460440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Trichinella</a:t>
            </a:r>
            <a:r>
              <a:rPr lang="en-US" b="1" i="1" dirty="0"/>
              <a:t> spp.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Human infection is a zoonosis and in man the life cycle ends blindly unless in cannibalism or where carnivores, such as dogs, jackals, hyenas feed on human remains. </a:t>
            </a:r>
            <a:endParaRPr lang="en-US" dirty="0" smtClean="0"/>
          </a:p>
          <a:p>
            <a:r>
              <a:rPr lang="en-US" dirty="0" smtClean="0"/>
              <a:t>Encysted </a:t>
            </a:r>
            <a:r>
              <a:rPr lang="en-US" dirty="0"/>
              <a:t>larvae can remain viable for many years.</a:t>
            </a:r>
          </a:p>
          <a:p>
            <a:endParaRPr lang="en-US" dirty="0"/>
          </a:p>
        </p:txBody>
      </p:sp>
    </p:spTree>
    <p:extLst>
      <p:ext uri="{BB962C8B-B14F-4D97-AF65-F5344CB8AC3E}">
        <p14:creationId xmlns:p14="http://schemas.microsoft.com/office/powerpoint/2010/main" val="21775631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Trichinella</a:t>
            </a:r>
            <a:r>
              <a:rPr lang="en-US" b="1" i="1" dirty="0"/>
              <a:t> spp. cont’d</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Symptoms and Pathology</a:t>
            </a:r>
            <a:endParaRPr lang="en-US" dirty="0"/>
          </a:p>
          <a:p>
            <a:r>
              <a:rPr lang="en-US" dirty="0"/>
              <a:t>Within 48hrs of intake of the parasite intake, intestine disturbances may occur. </a:t>
            </a:r>
            <a:endParaRPr lang="en-US" dirty="0" smtClean="0"/>
          </a:p>
          <a:p>
            <a:r>
              <a:rPr lang="en-US" dirty="0" smtClean="0"/>
              <a:t>These </a:t>
            </a:r>
            <a:r>
              <a:rPr lang="en-US" dirty="0"/>
              <a:t>include abdominal pain, nausea and vomiting. </a:t>
            </a:r>
          </a:p>
          <a:p>
            <a:r>
              <a:rPr lang="en-US" dirty="0"/>
              <a:t>Allergic reactions may develop during migration of the larvae and these may include fever, </a:t>
            </a:r>
            <a:r>
              <a:rPr lang="en-US" dirty="0" err="1"/>
              <a:t>oedema</a:t>
            </a:r>
            <a:r>
              <a:rPr lang="en-US" dirty="0"/>
              <a:t> of the face, headache and eosinophilia. </a:t>
            </a:r>
          </a:p>
        </p:txBody>
      </p:sp>
    </p:spTree>
    <p:extLst>
      <p:ext uri="{BB962C8B-B14F-4D97-AF65-F5344CB8AC3E}">
        <p14:creationId xmlns:p14="http://schemas.microsoft.com/office/powerpoint/2010/main" val="107779335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Trichinella</a:t>
            </a:r>
            <a:r>
              <a:rPr lang="en-US" b="1" i="1" dirty="0"/>
              <a:t> spp. cont’d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err="1"/>
              <a:t>Encystment</a:t>
            </a:r>
            <a:r>
              <a:rPr lang="en-US" dirty="0"/>
              <a:t> of the larvae often cause muscle pain. </a:t>
            </a:r>
            <a:endParaRPr lang="en-US" dirty="0" smtClean="0"/>
          </a:p>
          <a:p>
            <a:r>
              <a:rPr lang="en-US" dirty="0"/>
              <a:t>Heavy infections with widespread migration of the larvae may cause neurological disorders and occasionally a fatal myocarditis.</a:t>
            </a:r>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289603031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Trichinella</a:t>
            </a:r>
            <a:r>
              <a:rPr lang="en-US" b="1" i="1" dirty="0"/>
              <a:t> spp. cont’d</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Prevention and Control</a:t>
            </a:r>
            <a:endParaRPr lang="en-US" dirty="0"/>
          </a:p>
          <a:p>
            <a:pPr marL="514350" lvl="0" indent="-514350">
              <a:buFont typeface="+mj-lt"/>
              <a:buAutoNum type="arabicPeriod"/>
            </a:pPr>
            <a:r>
              <a:rPr lang="en-US" dirty="0"/>
              <a:t>Avoiding the eating of raw or undercooked pork of the flesh of wild animals such as bush meat (pig or warthog). </a:t>
            </a:r>
            <a:endParaRPr lang="en-US" dirty="0" smtClean="0"/>
          </a:p>
          <a:p>
            <a:r>
              <a:rPr lang="en-US" dirty="0" smtClean="0"/>
              <a:t>Meat </a:t>
            </a:r>
            <a:r>
              <a:rPr lang="en-US" dirty="0"/>
              <a:t>should be cooked right through to a </a:t>
            </a:r>
            <a:r>
              <a:rPr lang="en-US" dirty="0" err="1"/>
              <a:t>temp.of</a:t>
            </a:r>
            <a:r>
              <a:rPr lang="en-US" dirty="0"/>
              <a:t> at least 60°C; larvae can also be killed by deep freezing at -25°C for 10 days or </a:t>
            </a:r>
            <a:r>
              <a:rPr lang="en-US" dirty="0" smtClean="0"/>
              <a:t>more;</a:t>
            </a:r>
          </a:p>
          <a:p>
            <a:r>
              <a:rPr lang="en-US" dirty="0" smtClean="0"/>
              <a:t>smoking</a:t>
            </a:r>
            <a:r>
              <a:rPr lang="en-US" dirty="0"/>
              <a:t>, curing or drying of meat are not reliable methods of destroying the larvae.</a:t>
            </a:r>
          </a:p>
          <a:p>
            <a:endParaRPr lang="en-US" dirty="0"/>
          </a:p>
        </p:txBody>
      </p:sp>
    </p:spTree>
    <p:extLst>
      <p:ext uri="{BB962C8B-B14F-4D97-AF65-F5344CB8AC3E}">
        <p14:creationId xmlns:p14="http://schemas.microsoft.com/office/powerpoint/2010/main" val="336229072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Trichinella</a:t>
            </a:r>
            <a:r>
              <a:rPr lang="en-US" b="1" i="1" dirty="0"/>
              <a:t> spp. cont’d</a:t>
            </a:r>
            <a:r>
              <a:rPr lang="en-US" dirty="0"/>
              <a:t/>
            </a:r>
            <a:br>
              <a:rPr lang="en-US" dirty="0"/>
            </a:br>
            <a:endParaRPr lang="en-US" dirty="0"/>
          </a:p>
        </p:txBody>
      </p:sp>
      <p:sp>
        <p:nvSpPr>
          <p:cNvPr id="3" name="Content Placeholder 2"/>
          <p:cNvSpPr>
            <a:spLocks noGrp="1"/>
          </p:cNvSpPr>
          <p:nvPr>
            <p:ph idx="1"/>
          </p:nvPr>
        </p:nvSpPr>
        <p:spPr/>
        <p:txBody>
          <a:bodyPr/>
          <a:lstStyle/>
          <a:p>
            <a:pPr marL="0" lvl="0" indent="0">
              <a:buNone/>
            </a:pPr>
            <a:r>
              <a:rPr lang="en-US" dirty="0" smtClean="0"/>
              <a:t>2. Inspecting </a:t>
            </a:r>
            <a:r>
              <a:rPr lang="en-US" dirty="0"/>
              <a:t>meat for infective larvae; encysted larvae can remain infective for many </a:t>
            </a:r>
            <a:r>
              <a:rPr lang="en-US" dirty="0" smtClean="0"/>
              <a:t>years.</a:t>
            </a:r>
          </a:p>
          <a:p>
            <a:pPr marL="0" lvl="0" indent="0">
              <a:buNone/>
            </a:pPr>
            <a:r>
              <a:rPr lang="en-US" dirty="0" smtClean="0"/>
              <a:t>3. Not </a:t>
            </a:r>
            <a:r>
              <a:rPr lang="en-US" dirty="0"/>
              <a:t>feeding raw garbage to pigs where transmission is through pigs.</a:t>
            </a:r>
          </a:p>
          <a:p>
            <a:endParaRPr lang="en-US" dirty="0"/>
          </a:p>
        </p:txBody>
      </p:sp>
    </p:spTree>
    <p:extLst>
      <p:ext uri="{BB962C8B-B14F-4D97-AF65-F5344CB8AC3E}">
        <p14:creationId xmlns:p14="http://schemas.microsoft.com/office/powerpoint/2010/main" val="13828074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Trichinella</a:t>
            </a:r>
            <a:r>
              <a:rPr lang="en-US" b="1" i="1" dirty="0"/>
              <a:t> spp. cont’d</a:t>
            </a:r>
            <a:r>
              <a:rPr lang="en-US" dirty="0"/>
              <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pPr marL="514350" lvl="0" indent="-514350">
              <a:buFont typeface="+mj-lt"/>
              <a:buAutoNum type="arabicPeriod"/>
            </a:pPr>
            <a:r>
              <a:rPr lang="en-US" dirty="0"/>
              <a:t>Examination of striated muscle for the larvae </a:t>
            </a:r>
          </a:p>
          <a:p>
            <a:pPr marL="514350" lvl="0" indent="-514350">
              <a:buFont typeface="+mj-lt"/>
              <a:buAutoNum type="arabicPeriod"/>
            </a:pPr>
            <a:r>
              <a:rPr lang="en-US" dirty="0"/>
              <a:t>Testing serum for </a:t>
            </a:r>
            <a:r>
              <a:rPr lang="en-US" i="1" dirty="0" err="1"/>
              <a:t>Trichinella</a:t>
            </a:r>
            <a:r>
              <a:rPr lang="en-US" dirty="0"/>
              <a:t> antibodies</a:t>
            </a:r>
          </a:p>
          <a:p>
            <a:endParaRPr lang="en-US" dirty="0" smtClean="0"/>
          </a:p>
          <a:p>
            <a:r>
              <a:rPr lang="en-US" dirty="0" smtClean="0"/>
              <a:t>An </a:t>
            </a:r>
            <a:r>
              <a:rPr lang="en-US" dirty="0" err="1"/>
              <a:t>eosinophilic</a:t>
            </a:r>
            <a:r>
              <a:rPr lang="en-US" dirty="0"/>
              <a:t> </a:t>
            </a:r>
            <a:r>
              <a:rPr lang="en-US" dirty="0" err="1"/>
              <a:t>leucocytosis</a:t>
            </a:r>
            <a:r>
              <a:rPr lang="en-US" dirty="0"/>
              <a:t> may be found in the acute stage of the disease and serum amino-</a:t>
            </a:r>
            <a:r>
              <a:rPr lang="en-US" dirty="0" err="1"/>
              <a:t>transferases</a:t>
            </a:r>
            <a:r>
              <a:rPr lang="en-US" dirty="0"/>
              <a:t> are often raised.</a:t>
            </a:r>
          </a:p>
          <a:p>
            <a:endParaRPr lang="en-US" dirty="0"/>
          </a:p>
        </p:txBody>
      </p:sp>
    </p:spTree>
    <p:extLst>
      <p:ext uri="{BB962C8B-B14F-4D97-AF65-F5344CB8AC3E}">
        <p14:creationId xmlns:p14="http://schemas.microsoft.com/office/powerpoint/2010/main" val="124396702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Trichinella</a:t>
            </a:r>
            <a:r>
              <a:rPr lang="en-US" b="1" i="1" dirty="0"/>
              <a:t> spp. cont’d</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smtClean="0"/>
              <a:t>Immunity to re-infection (with Trichinosis)</a:t>
            </a:r>
          </a:p>
          <a:p>
            <a:r>
              <a:rPr lang="en-US" dirty="0" smtClean="0"/>
              <a:t>Immunity to trichinosis re-infection develops in survivors in varying degrees.</a:t>
            </a:r>
          </a:p>
          <a:p>
            <a:r>
              <a:rPr lang="en-US" dirty="0" smtClean="0"/>
              <a:t> In mice this can be </a:t>
            </a:r>
            <a:r>
              <a:rPr lang="en-US" dirty="0" err="1" smtClean="0"/>
              <a:t>passsed</a:t>
            </a:r>
            <a:r>
              <a:rPr lang="en-US" dirty="0" smtClean="0"/>
              <a:t> on by the mother to the suckling young through milk. </a:t>
            </a:r>
          </a:p>
          <a:p>
            <a:r>
              <a:rPr lang="en-US" dirty="0" smtClean="0"/>
              <a:t>In rats, suckling pulps rapidly expel </a:t>
            </a:r>
            <a:r>
              <a:rPr lang="en-US" i="1" dirty="0" smtClean="0"/>
              <a:t>T. </a:t>
            </a:r>
            <a:r>
              <a:rPr lang="en-US" i="1" dirty="0" err="1" smtClean="0"/>
              <a:t>spiralis</a:t>
            </a:r>
            <a:r>
              <a:rPr lang="en-US" i="1" dirty="0" smtClean="0"/>
              <a:t> </a:t>
            </a:r>
            <a:r>
              <a:rPr lang="en-US" dirty="0" smtClean="0"/>
              <a:t>if the mother is immune.</a:t>
            </a:r>
            <a:endParaRPr lang="en-US" dirty="0"/>
          </a:p>
        </p:txBody>
      </p:sp>
    </p:spTree>
    <p:extLst>
      <p:ext uri="{BB962C8B-B14F-4D97-AF65-F5344CB8AC3E}">
        <p14:creationId xmlns:p14="http://schemas.microsoft.com/office/powerpoint/2010/main" val="187741830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Dirofilaria</a:t>
            </a:r>
            <a:r>
              <a:rPr lang="en-US" b="1" i="1" dirty="0" smtClean="0"/>
              <a:t> </a:t>
            </a:r>
            <a:r>
              <a:rPr lang="en-US" b="1" i="1" dirty="0" err="1"/>
              <a:t>spp</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These </a:t>
            </a:r>
            <a:r>
              <a:rPr lang="en-US" dirty="0"/>
              <a:t>are normally parasites of dogs and raccoons; human infection is rare but </a:t>
            </a:r>
            <a:r>
              <a:rPr lang="en-US" i="1" dirty="0" err="1"/>
              <a:t>spp</a:t>
            </a:r>
            <a:r>
              <a:rPr lang="en-US" dirty="0"/>
              <a:t> found infecting humans include; </a:t>
            </a:r>
          </a:p>
          <a:p>
            <a:pPr marL="514350" lvl="0" indent="-514350">
              <a:buFont typeface="+mj-lt"/>
              <a:buAutoNum type="arabicPeriod"/>
            </a:pPr>
            <a:r>
              <a:rPr lang="en-US" i="1" dirty="0"/>
              <a:t>D. </a:t>
            </a:r>
            <a:r>
              <a:rPr lang="en-US" i="1" dirty="0" err="1"/>
              <a:t>immitis</a:t>
            </a:r>
            <a:r>
              <a:rPr lang="en-US" dirty="0"/>
              <a:t> (dog heartworm)</a:t>
            </a:r>
          </a:p>
          <a:p>
            <a:pPr marL="514350" lvl="0" indent="-514350">
              <a:buFont typeface="+mj-lt"/>
              <a:buAutoNum type="arabicPeriod"/>
            </a:pPr>
            <a:r>
              <a:rPr lang="en-US" i="1" dirty="0"/>
              <a:t>D. </a:t>
            </a:r>
            <a:r>
              <a:rPr lang="en-US" i="1" dirty="0" err="1"/>
              <a:t>tenius</a:t>
            </a:r>
            <a:r>
              <a:rPr lang="en-US" dirty="0"/>
              <a:t> (raccoons)</a:t>
            </a:r>
          </a:p>
          <a:p>
            <a:pPr marL="514350" lvl="0" indent="-514350">
              <a:buFont typeface="+mj-lt"/>
              <a:buAutoNum type="arabicPeriod"/>
            </a:pPr>
            <a:r>
              <a:rPr lang="en-US" i="1" dirty="0"/>
              <a:t>D. </a:t>
            </a:r>
            <a:r>
              <a:rPr lang="en-US" i="1" dirty="0" err="1"/>
              <a:t>repens</a:t>
            </a:r>
            <a:r>
              <a:rPr lang="en-US" dirty="0"/>
              <a:t> (dogs)</a:t>
            </a:r>
          </a:p>
          <a:p>
            <a:r>
              <a:rPr lang="en-US" dirty="0"/>
              <a:t>And cause pulmonary or subcutaneous diseases.</a:t>
            </a:r>
          </a:p>
          <a:p>
            <a:endParaRPr lang="en-US" dirty="0"/>
          </a:p>
        </p:txBody>
      </p:sp>
    </p:spTree>
    <p:extLst>
      <p:ext uri="{BB962C8B-B14F-4D97-AF65-F5344CB8AC3E}">
        <p14:creationId xmlns:p14="http://schemas.microsoft.com/office/powerpoint/2010/main" val="176970354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Dirofilaria</a:t>
            </a:r>
            <a:r>
              <a:rPr lang="en-US" b="1" i="1" dirty="0"/>
              <a:t> </a:t>
            </a:r>
            <a:r>
              <a:rPr lang="en-US" b="1" i="1" dirty="0" err="1" smtClean="0"/>
              <a:t>spp</a:t>
            </a:r>
            <a:r>
              <a:rPr lang="en-US" b="1" i="1" dirty="0" smtClean="0"/>
              <a:t> cont’d</a:t>
            </a:r>
            <a:r>
              <a:rPr lang="en-US" dirty="0"/>
              <a:t/>
            </a:r>
            <a:br>
              <a:rPr lang="en-US" dirty="0"/>
            </a:b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marL="0" indent="0" algn="ctr">
              <a:buNone/>
            </a:pPr>
            <a:r>
              <a:rPr lang="en-US" b="1" dirty="0"/>
              <a:t>Distribution</a:t>
            </a:r>
            <a:endParaRPr lang="en-US" dirty="0"/>
          </a:p>
          <a:p>
            <a:r>
              <a:rPr lang="en-US" dirty="0"/>
              <a:t>Japan, Australia, Southern and Eastern USA and parts of S. America.</a:t>
            </a:r>
          </a:p>
          <a:p>
            <a:pPr marL="0" indent="0" algn="ctr">
              <a:buNone/>
            </a:pPr>
            <a:r>
              <a:rPr lang="en-US" b="1" dirty="0"/>
              <a:t>Transmission</a:t>
            </a:r>
            <a:endParaRPr lang="en-US" dirty="0"/>
          </a:p>
          <a:p>
            <a:r>
              <a:rPr lang="en-US" dirty="0"/>
              <a:t>The worms are transmitted from animal hosts to humans by various species of mosquito. </a:t>
            </a:r>
            <a:endParaRPr lang="en-US" dirty="0" smtClean="0"/>
          </a:p>
          <a:p>
            <a:r>
              <a:rPr lang="en-US" dirty="0" smtClean="0"/>
              <a:t>In </a:t>
            </a:r>
            <a:r>
              <a:rPr lang="en-US" dirty="0"/>
              <a:t>humans, the larvae may develop but do not produce microfilariae. </a:t>
            </a:r>
            <a:endParaRPr lang="en-US" dirty="0" smtClean="0"/>
          </a:p>
          <a:p>
            <a:r>
              <a:rPr lang="en-US" dirty="0" smtClean="0"/>
              <a:t>In </a:t>
            </a:r>
            <a:r>
              <a:rPr lang="en-US" dirty="0"/>
              <a:t>their natural animal hosts the worms mature and produce microfilariae which circulates in the blood and are taken up by mosquitoes</a:t>
            </a:r>
          </a:p>
          <a:p>
            <a:endParaRPr lang="en-US" dirty="0"/>
          </a:p>
        </p:txBody>
      </p:sp>
    </p:spTree>
    <p:extLst>
      <p:ext uri="{BB962C8B-B14F-4D97-AF65-F5344CB8AC3E}">
        <p14:creationId xmlns:p14="http://schemas.microsoft.com/office/powerpoint/2010/main" val="6181099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Dirofilaria</a:t>
            </a:r>
            <a:r>
              <a:rPr lang="en-US" b="1" i="1" dirty="0"/>
              <a:t> </a:t>
            </a:r>
            <a:r>
              <a:rPr lang="en-US" b="1" i="1" dirty="0" err="1"/>
              <a:t>spp</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Symptoms and Pathology</a:t>
            </a:r>
            <a:endParaRPr lang="en-US" dirty="0"/>
          </a:p>
          <a:p>
            <a:r>
              <a:rPr lang="en-US" i="1" dirty="0"/>
              <a:t>D. </a:t>
            </a:r>
            <a:r>
              <a:rPr lang="en-US" i="1" dirty="0" err="1"/>
              <a:t>immitis</a:t>
            </a:r>
            <a:r>
              <a:rPr lang="en-US" dirty="0"/>
              <a:t> may cause pulmonary </a:t>
            </a:r>
            <a:r>
              <a:rPr lang="en-US" dirty="0" err="1"/>
              <a:t>dirofilariasis</a:t>
            </a:r>
            <a:r>
              <a:rPr lang="en-US" dirty="0"/>
              <a:t> with fever, chest pain, cough and occasionally </a:t>
            </a:r>
            <a:r>
              <a:rPr lang="en-US" dirty="0" err="1"/>
              <a:t>haemoptysis</a:t>
            </a:r>
            <a:r>
              <a:rPr lang="en-US" dirty="0"/>
              <a:t>.</a:t>
            </a:r>
          </a:p>
          <a:p>
            <a:r>
              <a:rPr lang="en-US" dirty="0"/>
              <a:t>Worm presence in the lung stimulates inflammation and eventually dead worm becomes surrounded by a fibrous wall; calcification may occur</a:t>
            </a:r>
          </a:p>
          <a:p>
            <a:endParaRPr lang="en-US" dirty="0"/>
          </a:p>
        </p:txBody>
      </p:sp>
    </p:spTree>
    <p:extLst>
      <p:ext uri="{BB962C8B-B14F-4D97-AF65-F5344CB8AC3E}">
        <p14:creationId xmlns:p14="http://schemas.microsoft.com/office/powerpoint/2010/main" val="15190674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Dirofilaria</a:t>
            </a:r>
            <a:r>
              <a:rPr lang="en-US" b="1" i="1" dirty="0"/>
              <a:t> </a:t>
            </a:r>
            <a:r>
              <a:rPr lang="en-US" b="1" i="1" dirty="0" err="1"/>
              <a:t>spp</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lstStyle/>
          <a:p>
            <a:r>
              <a:rPr lang="en-US" i="1" dirty="0" err="1"/>
              <a:t>D.tenuis</a:t>
            </a:r>
            <a:r>
              <a:rPr lang="en-US" dirty="0"/>
              <a:t> and </a:t>
            </a:r>
            <a:r>
              <a:rPr lang="en-US" i="1" dirty="0" err="1"/>
              <a:t>D.repens</a:t>
            </a:r>
            <a:r>
              <a:rPr lang="en-US" dirty="0"/>
              <a:t> can cause subcutaneous </a:t>
            </a:r>
            <a:r>
              <a:rPr lang="en-US" dirty="0" err="1"/>
              <a:t>dirofilariasis</a:t>
            </a:r>
            <a:r>
              <a:rPr lang="en-US" dirty="0"/>
              <a:t> with the formation of painful erythematous subcutaneous nodules especially around and in the </a:t>
            </a:r>
            <a:r>
              <a:rPr lang="en-US" dirty="0" smtClean="0"/>
              <a:t>eyes.</a:t>
            </a:r>
          </a:p>
          <a:p>
            <a:r>
              <a:rPr lang="en-US" dirty="0" smtClean="0"/>
              <a:t>Occasionally</a:t>
            </a:r>
            <a:r>
              <a:rPr lang="en-US" dirty="0"/>
              <a:t>, other parts of the body are affected such as the scrotum, breasts, arms and legs.</a:t>
            </a:r>
          </a:p>
          <a:p>
            <a:endParaRPr lang="en-US" dirty="0"/>
          </a:p>
        </p:txBody>
      </p:sp>
    </p:spTree>
    <p:extLst>
      <p:ext uri="{BB962C8B-B14F-4D97-AF65-F5344CB8AC3E}">
        <p14:creationId xmlns:p14="http://schemas.microsoft.com/office/powerpoint/2010/main" val="200673057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Dirofilaria</a:t>
            </a:r>
            <a:r>
              <a:rPr lang="en-US" b="1" i="1" dirty="0"/>
              <a:t> </a:t>
            </a:r>
            <a:r>
              <a:rPr lang="en-US" b="1" i="1" dirty="0" err="1"/>
              <a:t>spp</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r>
              <a:rPr lang="en-US" dirty="0"/>
              <a:t>By identifying the worms in the tissue sections.</a:t>
            </a:r>
          </a:p>
          <a:p>
            <a:endParaRPr lang="en-US" dirty="0"/>
          </a:p>
        </p:txBody>
      </p:sp>
    </p:spTree>
    <p:extLst>
      <p:ext uri="{BB962C8B-B14F-4D97-AF65-F5344CB8AC3E}">
        <p14:creationId xmlns:p14="http://schemas.microsoft.com/office/powerpoint/2010/main" val="255721721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Angiostrongylus</a:t>
            </a:r>
            <a:r>
              <a:rPr lang="en-US" b="1" i="1" dirty="0" smtClean="0"/>
              <a:t> </a:t>
            </a:r>
            <a:r>
              <a:rPr lang="en-US" b="1" i="1" dirty="0" err="1"/>
              <a:t>spp</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i="1" dirty="0" err="1" smtClean="0"/>
              <a:t>A.cantonensis</a:t>
            </a:r>
            <a:r>
              <a:rPr lang="en-US" dirty="0" smtClean="0"/>
              <a:t> </a:t>
            </a:r>
            <a:r>
              <a:rPr lang="en-US" dirty="0"/>
              <a:t>is a natural parasite of rodents and is often referred to as the rat </a:t>
            </a:r>
            <a:r>
              <a:rPr lang="en-US" dirty="0" smtClean="0"/>
              <a:t>lungworm.</a:t>
            </a:r>
          </a:p>
          <a:p>
            <a:r>
              <a:rPr lang="en-US" dirty="0" smtClean="0"/>
              <a:t>In </a:t>
            </a:r>
            <a:r>
              <a:rPr lang="en-US" dirty="0"/>
              <a:t>humans, it can cause </a:t>
            </a:r>
            <a:r>
              <a:rPr lang="en-US" dirty="0" err="1"/>
              <a:t>eosinophilic</a:t>
            </a:r>
            <a:r>
              <a:rPr lang="en-US" dirty="0"/>
              <a:t> </a:t>
            </a:r>
            <a:r>
              <a:rPr lang="en-US" dirty="0" err="1"/>
              <a:t>meningoencephalitis</a:t>
            </a:r>
            <a:endParaRPr lang="en-US" dirty="0"/>
          </a:p>
          <a:p>
            <a:r>
              <a:rPr lang="en-US" i="1" dirty="0" err="1"/>
              <a:t>A.costariensis</a:t>
            </a:r>
            <a:r>
              <a:rPr lang="en-US" dirty="0"/>
              <a:t> also infects rodents and in humans, it causes intestinal </a:t>
            </a:r>
            <a:r>
              <a:rPr lang="en-US" dirty="0" smtClean="0"/>
              <a:t>diseases</a:t>
            </a:r>
            <a:endParaRPr lang="en-US" dirty="0"/>
          </a:p>
        </p:txBody>
      </p:sp>
    </p:spTree>
    <p:extLst>
      <p:ext uri="{BB962C8B-B14F-4D97-AF65-F5344CB8AC3E}">
        <p14:creationId xmlns:p14="http://schemas.microsoft.com/office/powerpoint/2010/main" val="343148733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Angiostrongylus</a:t>
            </a:r>
            <a:r>
              <a:rPr lang="en-US" b="1" i="1" dirty="0"/>
              <a:t> </a:t>
            </a:r>
            <a:r>
              <a:rPr lang="en-US" b="1" i="1" dirty="0" err="1" smtClean="0"/>
              <a:t>spp</a:t>
            </a:r>
            <a:r>
              <a:rPr lang="en-US" b="1" i="1" dirty="0" smtClean="0"/>
              <a:t> cont’d</a:t>
            </a:r>
            <a:r>
              <a:rPr lang="en-US" dirty="0"/>
              <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Distribution</a:t>
            </a:r>
            <a:endParaRPr lang="en-US" dirty="0"/>
          </a:p>
          <a:p>
            <a:r>
              <a:rPr lang="en-US" dirty="0"/>
              <a:t>Many pacific islands, the Philippines, Sumatra and parts of south-east </a:t>
            </a:r>
            <a:r>
              <a:rPr lang="en-US" dirty="0" err="1"/>
              <a:t>asia</a:t>
            </a:r>
            <a:r>
              <a:rPr lang="en-US" dirty="0"/>
              <a:t> (esp. Thailand) - </a:t>
            </a:r>
            <a:r>
              <a:rPr lang="en-US" i="1" dirty="0" err="1"/>
              <a:t>A.cantonensis</a:t>
            </a:r>
            <a:endParaRPr lang="en-US" dirty="0"/>
          </a:p>
          <a:p>
            <a:r>
              <a:rPr lang="en-US" dirty="0"/>
              <a:t>Costa Rica and South America – </a:t>
            </a:r>
            <a:r>
              <a:rPr lang="en-US" i="1" dirty="0" err="1"/>
              <a:t>A.costariensis</a:t>
            </a:r>
            <a:endParaRPr lang="en-US" dirty="0"/>
          </a:p>
          <a:p>
            <a:endParaRPr lang="en-US" dirty="0"/>
          </a:p>
          <a:p>
            <a:endParaRPr lang="en-US" dirty="0"/>
          </a:p>
        </p:txBody>
      </p:sp>
    </p:spTree>
    <p:extLst>
      <p:ext uri="{BB962C8B-B14F-4D97-AF65-F5344CB8AC3E}">
        <p14:creationId xmlns:p14="http://schemas.microsoft.com/office/powerpoint/2010/main" val="57695800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Angiostrongylus</a:t>
            </a:r>
            <a:r>
              <a:rPr lang="en-US" b="1" i="1" dirty="0"/>
              <a:t> </a:t>
            </a:r>
            <a:r>
              <a:rPr lang="en-US" b="1" i="1" dirty="0" err="1"/>
              <a:t>spp</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Transmission</a:t>
            </a:r>
            <a:endParaRPr lang="en-US" dirty="0"/>
          </a:p>
          <a:p>
            <a:r>
              <a:rPr lang="en-US" dirty="0"/>
              <a:t>Humans are infected by taking in the larvae in snails (second intermediate hosts) or in freshwater prawns or crabs (carrier hosts</a:t>
            </a:r>
            <a:r>
              <a:rPr lang="en-US" dirty="0" smtClean="0"/>
              <a:t>).</a:t>
            </a:r>
          </a:p>
          <a:p>
            <a:r>
              <a:rPr lang="en-US" dirty="0" smtClean="0"/>
              <a:t> </a:t>
            </a:r>
            <a:r>
              <a:rPr lang="en-US" dirty="0"/>
              <a:t>The parasite is unable to develop into its egg-producing stage and dies in the central nervous system of its human host</a:t>
            </a:r>
            <a:r>
              <a:rPr lang="en-US" dirty="0" smtClean="0"/>
              <a:t>.</a:t>
            </a:r>
            <a:endParaRPr lang="en-US" dirty="0"/>
          </a:p>
        </p:txBody>
      </p:sp>
    </p:spTree>
    <p:extLst>
      <p:ext uri="{BB962C8B-B14F-4D97-AF65-F5344CB8AC3E}">
        <p14:creationId xmlns:p14="http://schemas.microsoft.com/office/powerpoint/2010/main" val="266132785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Angiostrongylus</a:t>
            </a:r>
            <a:r>
              <a:rPr lang="en-US" b="1" i="1" dirty="0"/>
              <a:t> </a:t>
            </a:r>
            <a:r>
              <a:rPr lang="en-US" b="1" i="1" dirty="0" err="1"/>
              <a:t>spp</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In the natural rodent hosts, the larvae migrate to the brain where they develop into adult worms; </a:t>
            </a:r>
            <a:endParaRPr lang="en-US" dirty="0" smtClean="0"/>
          </a:p>
          <a:p>
            <a:r>
              <a:rPr lang="en-US" dirty="0" smtClean="0"/>
              <a:t>eggs </a:t>
            </a:r>
            <a:r>
              <a:rPr lang="en-US" dirty="0"/>
              <a:t>are laid in the lungs and hatched larvae migrate up the trachea, are swallowed and finally excreted in the </a:t>
            </a:r>
            <a:r>
              <a:rPr lang="en-US" dirty="0" err="1"/>
              <a:t>faeces</a:t>
            </a:r>
            <a:r>
              <a:rPr lang="en-US" dirty="0"/>
              <a:t>.</a:t>
            </a:r>
          </a:p>
          <a:p>
            <a:r>
              <a:rPr lang="en-US" dirty="0"/>
              <a:t>The life cycle continues in a slug or land snail which ingests the larvae, and the cycle is completed by a rodent swallowing the infected slug or snail.</a:t>
            </a:r>
          </a:p>
          <a:p>
            <a:r>
              <a:rPr lang="en-US" dirty="0"/>
              <a:t>Crabs and freshwater prawns act as carrier hosts.</a:t>
            </a:r>
          </a:p>
          <a:p>
            <a:endParaRPr lang="en-US" dirty="0"/>
          </a:p>
          <a:p>
            <a:endParaRPr lang="en-US" dirty="0"/>
          </a:p>
        </p:txBody>
      </p:sp>
    </p:spTree>
    <p:extLst>
      <p:ext uri="{BB962C8B-B14F-4D97-AF65-F5344CB8AC3E}">
        <p14:creationId xmlns:p14="http://schemas.microsoft.com/office/powerpoint/2010/main" val="327466392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Angiostrongylus</a:t>
            </a:r>
            <a:r>
              <a:rPr lang="en-US" b="1" i="1" dirty="0"/>
              <a:t> </a:t>
            </a:r>
            <a:r>
              <a:rPr lang="en-US" b="1" i="1" dirty="0" err="1"/>
              <a:t>spp</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Symptoms and Pathology</a:t>
            </a:r>
            <a:endParaRPr lang="en-US" dirty="0"/>
          </a:p>
          <a:p>
            <a:r>
              <a:rPr lang="en-US" dirty="0"/>
              <a:t>In humans, there is an </a:t>
            </a:r>
            <a:r>
              <a:rPr lang="en-US" dirty="0" err="1"/>
              <a:t>eosinophilic</a:t>
            </a:r>
            <a:r>
              <a:rPr lang="en-US" dirty="0"/>
              <a:t> </a:t>
            </a:r>
            <a:r>
              <a:rPr lang="en-US" dirty="0" err="1"/>
              <a:t>meningoencephalitis</a:t>
            </a:r>
            <a:r>
              <a:rPr lang="en-US" dirty="0"/>
              <a:t> developing in response to toxins released from dead and degenerating worms</a:t>
            </a:r>
          </a:p>
          <a:p>
            <a:r>
              <a:rPr lang="en-US" dirty="0"/>
              <a:t>Pain, weakness of the limbs and partial facial palsy are other signs/symptoms.</a:t>
            </a:r>
          </a:p>
          <a:p>
            <a:r>
              <a:rPr lang="en-US" dirty="0"/>
              <a:t>Infection with </a:t>
            </a:r>
            <a:r>
              <a:rPr lang="en-US" i="1" dirty="0" err="1"/>
              <a:t>A.costariensis</a:t>
            </a:r>
            <a:r>
              <a:rPr lang="en-US" dirty="0"/>
              <a:t> is associated with intestinal </a:t>
            </a:r>
            <a:r>
              <a:rPr lang="en-US" dirty="0" err="1"/>
              <a:t>eosinophilic</a:t>
            </a:r>
            <a:r>
              <a:rPr lang="en-US" dirty="0"/>
              <a:t> granulomata and obstruction of the intestinal tract.</a:t>
            </a:r>
          </a:p>
          <a:p>
            <a:endParaRPr lang="en-US" dirty="0"/>
          </a:p>
        </p:txBody>
      </p:sp>
    </p:spTree>
    <p:extLst>
      <p:ext uri="{BB962C8B-B14F-4D97-AF65-F5344CB8AC3E}">
        <p14:creationId xmlns:p14="http://schemas.microsoft.com/office/powerpoint/2010/main" val="40983777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Angiostrongylus</a:t>
            </a:r>
            <a:r>
              <a:rPr lang="en-US" b="1" i="1" dirty="0"/>
              <a:t> </a:t>
            </a:r>
            <a:r>
              <a:rPr lang="en-US" b="1" i="1" dirty="0" err="1"/>
              <a:t>spp</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Prevention and Control</a:t>
            </a:r>
            <a:endParaRPr lang="en-US" dirty="0"/>
          </a:p>
          <a:p>
            <a:r>
              <a:rPr lang="en-US" dirty="0"/>
              <a:t>Avoiding intake of raw or undercooked mollusks, crabs and prawns.</a:t>
            </a:r>
          </a:p>
          <a:p>
            <a:endParaRPr lang="en-US" dirty="0" smtClean="0"/>
          </a:p>
          <a:p>
            <a:r>
              <a:rPr lang="en-US" dirty="0" smtClean="0"/>
              <a:t>The </a:t>
            </a:r>
            <a:r>
              <a:rPr lang="en-US" dirty="0"/>
              <a:t>larvae can be killed by boiling or freezing at -15°C for 12hours</a:t>
            </a:r>
          </a:p>
        </p:txBody>
      </p:sp>
    </p:spTree>
    <p:extLst>
      <p:ext uri="{BB962C8B-B14F-4D97-AF65-F5344CB8AC3E}">
        <p14:creationId xmlns:p14="http://schemas.microsoft.com/office/powerpoint/2010/main" val="276508543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r>
            <a:br>
              <a:rPr lang="en-US" b="1" i="1" dirty="0"/>
            </a:br>
            <a:r>
              <a:rPr lang="en-US" b="1" i="1" dirty="0" err="1"/>
              <a:t>Angiostrongylus</a:t>
            </a:r>
            <a:r>
              <a:rPr lang="en-US" b="1" i="1" dirty="0"/>
              <a:t> </a:t>
            </a:r>
            <a:r>
              <a:rPr lang="en-US" b="1" i="1" dirty="0" err="1"/>
              <a:t>spp</a:t>
            </a:r>
            <a:r>
              <a:rPr lang="en-US" b="1" i="1" dirty="0"/>
              <a:t> cont’d</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Diagnosis</a:t>
            </a:r>
            <a:endParaRPr lang="en-US" dirty="0"/>
          </a:p>
          <a:p>
            <a:r>
              <a:rPr lang="en-US" dirty="0"/>
              <a:t>Examination of cerebrospinal fluid and checking;</a:t>
            </a:r>
          </a:p>
          <a:p>
            <a:pPr marL="514350" lvl="0" indent="-514350">
              <a:buFont typeface="+mj-lt"/>
              <a:buAutoNum type="arabicPeriod"/>
            </a:pPr>
            <a:r>
              <a:rPr lang="en-US" dirty="0"/>
              <a:t>For cell count over 500 cells/</a:t>
            </a:r>
            <a:r>
              <a:rPr lang="en-US" dirty="0" err="1"/>
              <a:t>ul</a:t>
            </a:r>
            <a:r>
              <a:rPr lang="en-US" dirty="0"/>
              <a:t> with 50-75% of cells being </a:t>
            </a:r>
            <a:r>
              <a:rPr lang="en-US" dirty="0" err="1"/>
              <a:t>eosinophilic</a:t>
            </a:r>
            <a:r>
              <a:rPr lang="en-US" dirty="0"/>
              <a:t> (there is also a blood eosinophilia)</a:t>
            </a:r>
          </a:p>
          <a:p>
            <a:pPr marL="514350" lvl="0" indent="-514350">
              <a:buFont typeface="+mj-lt"/>
              <a:buAutoNum type="arabicPeriod"/>
            </a:pPr>
            <a:r>
              <a:rPr lang="en-US" dirty="0"/>
              <a:t>Protein level is raised</a:t>
            </a:r>
          </a:p>
          <a:p>
            <a:pPr marL="514350" lvl="0" indent="-514350">
              <a:buFont typeface="+mj-lt"/>
              <a:buAutoNum type="arabicPeriod"/>
            </a:pPr>
            <a:r>
              <a:rPr lang="en-US" dirty="0"/>
              <a:t>Glucose is reduced</a:t>
            </a:r>
          </a:p>
          <a:p>
            <a:pPr marL="514350" lvl="0" indent="-514350">
              <a:buFont typeface="+mj-lt"/>
              <a:buAutoNum type="arabicPeriod"/>
            </a:pPr>
            <a:r>
              <a:rPr lang="en-US" dirty="0"/>
              <a:t>Occasionally larvae may be found.</a:t>
            </a:r>
          </a:p>
          <a:p>
            <a:endParaRPr lang="en-US" dirty="0"/>
          </a:p>
        </p:txBody>
      </p:sp>
    </p:spTree>
    <p:extLst>
      <p:ext uri="{BB962C8B-B14F-4D97-AF65-F5344CB8AC3E}">
        <p14:creationId xmlns:p14="http://schemas.microsoft.com/office/powerpoint/2010/main" val="1278236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7518</Words>
  <Application>Microsoft Office PowerPoint</Application>
  <PresentationFormat>On-screen Show (4:3)</PresentationFormat>
  <Paragraphs>632</Paragraphs>
  <Slides>144</Slides>
  <Notes>0</Notes>
  <HiddenSlides>0</HiddenSlides>
  <MMClips>0</MMClips>
  <ScaleCrop>false</ScaleCrop>
  <HeadingPairs>
    <vt:vector size="4" baseType="variant">
      <vt:variant>
        <vt:lpstr>Theme</vt:lpstr>
      </vt:variant>
      <vt:variant>
        <vt:i4>1</vt:i4>
      </vt:variant>
      <vt:variant>
        <vt:lpstr>Slide Titles</vt:lpstr>
      </vt:variant>
      <vt:variant>
        <vt:i4>144</vt:i4>
      </vt:variant>
    </vt:vector>
  </HeadingPairs>
  <TitlesOfParts>
    <vt:vector size="145" baseType="lpstr">
      <vt:lpstr>Office Theme</vt:lpstr>
      <vt:lpstr>PARASITOLOGY (BIOL 460)</vt:lpstr>
      <vt:lpstr>PowerPoint Presentation</vt:lpstr>
      <vt:lpstr> Blood and Tissue Nematodes </vt:lpstr>
      <vt:lpstr> Blood and Tissue Nematodes cont’d </vt:lpstr>
      <vt:lpstr> Trichinella spp (Family Trichinelloidea) </vt:lpstr>
      <vt:lpstr>PowerPoint Presentation</vt:lpstr>
      <vt:lpstr> Trichinella spp (Family Trichinelloidea) cont’d </vt:lpstr>
      <vt:lpstr> Trichinella spp (Family Trichinelloidea) cont’d </vt:lpstr>
      <vt:lpstr> Biology of T. spiralis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Brugia spp. </vt:lpstr>
      <vt:lpstr>Brugia spp Cont’d</vt:lpstr>
      <vt:lpstr>Brugia spp Cont’d</vt:lpstr>
      <vt:lpstr>Brugia spp Cont’d</vt:lpstr>
      <vt:lpstr>Brugia spp Cont’d</vt:lpstr>
      <vt:lpstr>Brugia spp Cont’d</vt:lpstr>
      <vt:lpstr>Brugia spp Cont’d</vt:lpstr>
      <vt:lpstr> Loa loa </vt:lpstr>
      <vt:lpstr> Loa loa cont’d </vt:lpstr>
      <vt:lpstr> Loa loa cont’d </vt:lpstr>
      <vt:lpstr> Loa loa cont’d </vt:lpstr>
      <vt:lpstr> Loa loa cont’d </vt:lpstr>
      <vt:lpstr> Loa loa cont’d </vt:lpstr>
      <vt:lpstr> Loa loa cont’d </vt:lpstr>
      <vt:lpstr> Loa loa cont’d </vt:lpstr>
      <vt:lpstr> Loa loa cont’d </vt:lpstr>
      <vt:lpstr> Mansonella spp </vt:lpstr>
      <vt:lpstr>M. streptocerca</vt:lpstr>
      <vt:lpstr>M. perstans</vt:lpstr>
      <vt:lpstr>M. perstans cont’d</vt:lpstr>
      <vt:lpstr>M. ozzardi</vt:lpstr>
      <vt:lpstr>M. Ozzardi cont’d</vt:lpstr>
      <vt:lpstr>M. Ozzardi cont’d</vt:lpstr>
      <vt:lpstr>  Mansonella spp </vt:lpstr>
      <vt:lpstr> Onchocerca volvulus </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 Dracunculus medinensis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Wuchereria bancrofti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Prevention and Control </vt:lpstr>
      <vt:lpstr>Prevention and Control cont’d</vt:lpstr>
      <vt:lpstr>Prevention and Control cont’d</vt:lpstr>
      <vt:lpstr>Diagnosis</vt:lpstr>
      <vt:lpstr> Immunodiagnosis </vt:lpstr>
      <vt:lpstr> Immunodiagnosis cont’d </vt:lpstr>
      <vt:lpstr> Flourescent antibody Test (FAT) </vt:lpstr>
      <vt:lpstr>Non-Filarial Elephantiasis </vt:lpstr>
      <vt:lpstr> Non-Filarial Elephantiasis cont’d </vt:lpstr>
      <vt:lpstr>Occult Filariasis </vt:lpstr>
      <vt:lpstr> Tropical Pulmonary Eosinophilia </vt:lpstr>
      <vt:lpstr> Tropical Pulmonary Eosinophilia cont’d </vt:lpstr>
      <vt:lpstr> Examination of Blood for W. bancrofti microfilariae </vt:lpstr>
      <vt:lpstr> Examination of Blood for W. bancrofti microfilariae cont’d </vt:lpstr>
      <vt:lpstr> Diagnosis (Immunodiagnosis) </vt:lpstr>
      <vt:lpstr> Brugia malayi </vt:lpstr>
      <vt:lpstr>  Brugia malayi cont’d  </vt:lpstr>
      <vt:lpstr>  Brugia malayi cont’d  </vt:lpstr>
      <vt:lpstr>  Brugia malayi cont’d  </vt:lpstr>
      <vt:lpstr>  Brugia malayi cont’d  </vt:lpstr>
      <vt:lpstr>  Brugia malayi cont’d  </vt:lpstr>
      <vt:lpstr>  Brugia malayi cont’d  </vt:lpstr>
      <vt:lpstr> Onchocerca volvulus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Trichinella spp. </vt:lpstr>
      <vt:lpstr> Trichinella spp. cont’d </vt:lpstr>
      <vt:lpstr> Trichinella spp. cont’d </vt:lpstr>
      <vt:lpstr> Trichinella spp. cont’d </vt:lpstr>
      <vt:lpstr> Trichinella spp. cont’d </vt:lpstr>
      <vt:lpstr> Trichinella spp. cont’d </vt:lpstr>
      <vt:lpstr> Trichinella spp. cont’d </vt:lpstr>
      <vt:lpstr> Trichinella spp. cont’d </vt:lpstr>
      <vt:lpstr> Trichinella spp. cont’d </vt:lpstr>
      <vt:lpstr> Dirofilaria spp </vt:lpstr>
      <vt:lpstr> Dirofilaria spp cont’d </vt:lpstr>
      <vt:lpstr> Dirofilaria spp cont’d </vt:lpstr>
      <vt:lpstr> Dirofilaria spp cont’d </vt:lpstr>
      <vt:lpstr> Dirofilaria spp cont’d </vt:lpstr>
      <vt:lpstr> Angiostrongylus spp </vt:lpstr>
      <vt:lpstr> Angiostrongylus spp cont’d </vt:lpstr>
      <vt:lpstr> Angiostrongylus spp cont’d </vt:lpstr>
      <vt:lpstr> Angiostrongylus spp cont’d </vt:lpstr>
      <vt:lpstr> Angiostrongylus spp cont’d </vt:lpstr>
      <vt:lpstr> Angiostrongylus spp cont’d </vt:lpstr>
      <vt:lpstr> Angiostrongylus spp cont’d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PARASITOLOGY (BIOL 460)</dc:title>
  <dc:creator>PROFESSOR LAWSON</dc:creator>
  <cp:lastModifiedBy>PROFESSOR LAWSON</cp:lastModifiedBy>
  <cp:revision>26</cp:revision>
  <dcterms:created xsi:type="dcterms:W3CDTF">2018-03-15T12:00:25Z</dcterms:created>
  <dcterms:modified xsi:type="dcterms:W3CDTF">2018-04-11T12:34:48Z</dcterms:modified>
</cp:coreProperties>
</file>