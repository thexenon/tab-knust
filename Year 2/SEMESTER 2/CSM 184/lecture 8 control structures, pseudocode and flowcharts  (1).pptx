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4"/>
  </p:notesMasterIdLst>
  <p:sldIdLst>
    <p:sldId id="305" r:id="rId2"/>
    <p:sldId id="307" r:id="rId3"/>
    <p:sldId id="309" r:id="rId4"/>
    <p:sldId id="310" r:id="rId5"/>
    <p:sldId id="273" r:id="rId6"/>
    <p:sldId id="308" r:id="rId7"/>
    <p:sldId id="306" r:id="rId8"/>
    <p:sldId id="312" r:id="rId9"/>
    <p:sldId id="274" r:id="rId10"/>
    <p:sldId id="313" r:id="rId11"/>
    <p:sldId id="314" r:id="rId12"/>
    <p:sldId id="330" r:id="rId13"/>
    <p:sldId id="315" r:id="rId14"/>
    <p:sldId id="320" r:id="rId15"/>
    <p:sldId id="316" r:id="rId16"/>
    <p:sldId id="262" r:id="rId17"/>
    <p:sldId id="272" r:id="rId18"/>
    <p:sldId id="317" r:id="rId19"/>
    <p:sldId id="318" r:id="rId20"/>
    <p:sldId id="321" r:id="rId21"/>
    <p:sldId id="311" r:id="rId22"/>
    <p:sldId id="331" r:id="rId23"/>
    <p:sldId id="322" r:id="rId24"/>
    <p:sldId id="319" r:id="rId25"/>
    <p:sldId id="323" r:id="rId26"/>
    <p:sldId id="324" r:id="rId27"/>
    <p:sldId id="325" r:id="rId28"/>
    <p:sldId id="326" r:id="rId29"/>
    <p:sldId id="327" r:id="rId30"/>
    <p:sldId id="329" r:id="rId31"/>
    <p:sldId id="328" r:id="rId32"/>
    <p:sldId id="33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35DA9-F54F-4CDC-A957-3A9249024B10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D56C28-BDC6-47E4-A944-5AFD2D6B2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5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ABA4F-7628-4FF0-836F-7DDD2553E9D5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9292-F216-49A5-A806-06EA0C55D27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989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ABA4F-7628-4FF0-836F-7DDD2553E9D5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9292-F216-49A5-A806-06EA0C55D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31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ABA4F-7628-4FF0-836F-7DDD2553E9D5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9292-F216-49A5-A806-06EA0C55D27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78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ABA4F-7628-4FF0-836F-7DDD2553E9D5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9292-F216-49A5-A806-06EA0C55D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17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ABA4F-7628-4FF0-836F-7DDD2553E9D5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9292-F216-49A5-A806-06EA0C55D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2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ABA4F-7628-4FF0-836F-7DDD2553E9D5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9292-F216-49A5-A806-06EA0C55D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79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ABA4F-7628-4FF0-836F-7DDD2553E9D5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9292-F216-49A5-A806-06EA0C55D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4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EAABA4F-7628-4FF0-836F-7DDD2553E9D5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9DF9292-F216-49A5-A806-06EA0C55D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6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ABA4F-7628-4FF0-836F-7DDD2553E9D5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9292-F216-49A5-A806-06EA0C55D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82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ABA4F-7628-4FF0-836F-7DDD2553E9D5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9292-F216-49A5-A806-06EA0C55D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481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ABA4F-7628-4FF0-836F-7DDD2553E9D5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F9292-F216-49A5-A806-06EA0C55D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7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EAABA4F-7628-4FF0-836F-7DDD2553E9D5}" type="datetimeFigureOut">
              <a:rPr lang="en-US" smtClean="0"/>
              <a:t>6/26/2022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9DF9292-F216-49A5-A806-06EA0C55D27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10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xmlns="" id="{96487A1E-BAF4-486C-ACC9-95CFEB958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898" y="350837"/>
            <a:ext cx="8937694" cy="1477963"/>
          </a:xfrm>
        </p:spPr>
        <p:txBody>
          <a:bodyPr/>
          <a:lstStyle/>
          <a:p>
            <a:pPr algn="ctr">
              <a:defRPr/>
            </a:pPr>
            <a:r>
              <a:rPr lang="en-US" altLang="en-US" b="1" dirty="0"/>
              <a:t>FLOWCHARTS</a:t>
            </a:r>
            <a:endParaRPr lang="en-US" altLang="en-US" dirty="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xmlns="" id="{9912CF77-3E81-4837-BACA-DD3AB37E81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5617" y="1828799"/>
            <a:ext cx="11264347" cy="4465983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A lot of Our programs so far consist of just a list of commands to be done in order</a:t>
            </a:r>
          </a:p>
          <a:p>
            <a:endParaRPr lang="en-US" altLang="en-US" dirty="0"/>
          </a:p>
          <a:p>
            <a:pPr lvl="1">
              <a:lnSpc>
                <a:spcPct val="200000"/>
              </a:lnSpc>
            </a:pPr>
            <a:r>
              <a:rPr lang="en-US" altLang="en-US" sz="2200" dirty="0">
                <a:solidFill>
                  <a:srgbClr val="FF0000"/>
                </a:solidFill>
              </a:rPr>
              <a:t>The program cannot choose whether or not to perform a command</a:t>
            </a:r>
          </a:p>
          <a:p>
            <a:pPr lvl="1">
              <a:lnSpc>
                <a:spcPct val="200000"/>
              </a:lnSpc>
            </a:pPr>
            <a:r>
              <a:rPr lang="en-US" altLang="en-US" sz="2200" dirty="0">
                <a:solidFill>
                  <a:srgbClr val="FF0000"/>
                </a:solidFill>
              </a:rPr>
              <a:t>The program cannot perform the same command more than once</a:t>
            </a:r>
          </a:p>
          <a:p>
            <a:pPr lvl="1">
              <a:lnSpc>
                <a:spcPct val="200000"/>
              </a:lnSpc>
            </a:pPr>
            <a:r>
              <a:rPr lang="en-US" altLang="en-US" sz="2200" dirty="0">
                <a:solidFill>
                  <a:srgbClr val="FF0000"/>
                </a:solidFill>
              </a:rPr>
              <a:t>Such programs are extremely limited</a:t>
            </a:r>
            <a:r>
              <a:rPr lang="en-US" altLang="en-US" dirty="0"/>
              <a:t>!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r>
              <a:rPr lang="en-US" altLang="en-US" sz="3200" b="1" dirty="0">
                <a:solidFill>
                  <a:srgbClr val="00B050"/>
                </a:solidFill>
              </a:rPr>
              <a:t>Control structures allow a program to base its behavior on the values of variables</a:t>
            </a:r>
          </a:p>
          <a:p>
            <a:pPr>
              <a:buFont typeface="Wingdings" panose="05000000000000000000" pitchFamily="2" charset="2"/>
              <a:buChar char="v"/>
            </a:pPr>
            <a:endParaRPr lang="en-US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CD30A1-4801-4932-97C6-6B6E21EB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</a:rPr>
              <a:t>C</a:t>
            </a:r>
            <a:r>
              <a:rPr lang="en-US" sz="4800" b="0" i="0" u="none" strike="noStrike" baseline="0" dirty="0">
                <a:latin typeface="Times New Roman" panose="02020603050405020304" pitchFamily="18" charset="0"/>
              </a:rPr>
              <a:t>ontrol structures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B9C828-F43E-4670-9A1A-61F020291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365850" cy="4396040"/>
          </a:xfrm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Some classes of control structures are: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</a:rPr>
              <a:t>1. </a:t>
            </a:r>
            <a:r>
              <a:rPr lang="en-US" sz="1800" b="1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</a:rPr>
              <a:t>Sequence structure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• Programs executed sequentially by default</a:t>
            </a:r>
          </a:p>
          <a:p>
            <a:pPr algn="l"/>
            <a:endParaRPr lang="en-US" sz="1800" b="0" i="0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en-US" sz="1800" dirty="0">
                <a:latin typeface="Times New Roman" panose="02020603050405020304" pitchFamily="18" charset="0"/>
              </a:rPr>
              <a:t>2. </a:t>
            </a:r>
            <a:r>
              <a:rPr lang="en-US" sz="1800" b="1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</a:rPr>
              <a:t>Selection structures</a:t>
            </a:r>
          </a:p>
          <a:p>
            <a:pPr algn="l"/>
            <a:r>
              <a:rPr lang="en-US" sz="1800" b="0" i="0" u="none" strike="noStrike" baseline="0" dirty="0">
                <a:latin typeface="Courier New" panose="02070309020205020404" pitchFamily="49" charset="0"/>
              </a:rPr>
              <a:t>• </a:t>
            </a:r>
            <a:r>
              <a:rPr lang="en-US" sz="1800" b="0" i="0" u="none" strike="noStrike" baseline="0" dirty="0" err="1">
                <a:latin typeface="Courier New" panose="02070309020205020404" pitchFamily="49" charset="0"/>
              </a:rPr>
              <a:t>eg.</a:t>
            </a:r>
            <a:r>
              <a:rPr lang="en-US" sz="1800" b="0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baseline="0" dirty="0">
                <a:latin typeface="Courier New" panose="02070309020205020404" pitchFamily="49" charset="0"/>
              </a:rPr>
              <a:t>if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, </a:t>
            </a:r>
            <a:r>
              <a:rPr lang="en-US" sz="1800" b="1" i="0" u="none" strike="noStrike" baseline="0" dirty="0">
                <a:latin typeface="Courier New" panose="02070309020205020404" pitchFamily="49" charset="0"/>
              </a:rPr>
              <a:t>if/else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, </a:t>
            </a:r>
            <a:r>
              <a:rPr lang="en-US" sz="1800" b="1" i="0" u="none" strike="noStrike" baseline="0" dirty="0">
                <a:latin typeface="Courier New" panose="02070309020205020404" pitchFamily="49" charset="0"/>
              </a:rPr>
              <a:t>switch</a:t>
            </a:r>
          </a:p>
          <a:p>
            <a:pPr algn="l"/>
            <a:endParaRPr lang="en-US" sz="1800" b="1" i="0" u="none" strike="noStrike" baseline="0" dirty="0">
              <a:latin typeface="Courier New" panose="02070309020205020404" pitchFamily="49" charset="0"/>
            </a:endParaRPr>
          </a:p>
          <a:p>
            <a:pPr algn="l"/>
            <a:r>
              <a:rPr lang="en-US" sz="1800" dirty="0">
                <a:latin typeface="Times New Roman" panose="02020603050405020304" pitchFamily="18" charset="0"/>
              </a:rPr>
              <a:t>3. </a:t>
            </a:r>
            <a:r>
              <a:rPr lang="en-US" sz="1800" b="1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</a:rPr>
              <a:t>Repetition structures</a:t>
            </a:r>
          </a:p>
          <a:p>
            <a:pPr algn="l"/>
            <a:r>
              <a:rPr lang="en-US" sz="1800" b="0" i="0" u="none" strike="noStrike" baseline="0" dirty="0">
                <a:latin typeface="Courier New" panose="02070309020205020404" pitchFamily="49" charset="0"/>
              </a:rPr>
              <a:t>• </a:t>
            </a:r>
            <a:r>
              <a:rPr lang="en-US" sz="1800" b="0" i="0" u="none" strike="noStrike" baseline="0" dirty="0" err="1">
                <a:latin typeface="Courier New" panose="02070309020205020404" pitchFamily="49" charset="0"/>
              </a:rPr>
              <a:t>eg.</a:t>
            </a:r>
            <a:r>
              <a:rPr lang="en-US" sz="1800" b="0" i="0" u="none" strike="noStrike" baseline="0" dirty="0">
                <a:latin typeface="Courier New" panose="02070309020205020404" pitchFamily="49" charset="0"/>
              </a:rPr>
              <a:t> </a:t>
            </a:r>
            <a:r>
              <a:rPr lang="en-US" sz="1800" b="1" i="0" u="none" strike="noStrike" baseline="0" dirty="0">
                <a:latin typeface="Courier New" panose="02070309020205020404" pitchFamily="49" charset="0"/>
              </a:rPr>
              <a:t>while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, </a:t>
            </a:r>
            <a:r>
              <a:rPr lang="en-US" sz="1800" b="1" i="0" u="none" strike="noStrike" baseline="0" dirty="0">
                <a:latin typeface="Courier New" panose="02070309020205020404" pitchFamily="49" charset="0"/>
              </a:rPr>
              <a:t>do/while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, </a:t>
            </a:r>
            <a:r>
              <a:rPr lang="en-US" sz="1800" b="1" i="0" u="none" strike="noStrike" baseline="0" dirty="0">
                <a:latin typeface="Courier New" panose="02070309020205020404" pitchFamily="49" charset="0"/>
              </a:rPr>
              <a:t>for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745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BD154A1-7C15-4397-B761-3DBE1A6D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Selection Control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B5B52D0-C129-4191-A0E6-D994FB14A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485120" cy="4316527"/>
          </a:xfrm>
        </p:spPr>
        <p:txBody>
          <a:bodyPr>
            <a:noAutofit/>
          </a:bodyPr>
          <a:lstStyle/>
          <a:p>
            <a:pPr algn="l">
              <a:lnSpc>
                <a:spcPct val="200000"/>
              </a:lnSpc>
            </a:pPr>
            <a:r>
              <a:rPr lang="en-US" sz="30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 types of </a:t>
            </a:r>
            <a:r>
              <a:rPr lang="en-US" sz="3000" b="0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statements </a:t>
            </a:r>
            <a:r>
              <a:rPr lang="en-US" sz="30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include: </a:t>
            </a: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en-US" sz="3000" b="0" i="0" u="none" strike="noStrike" baseline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30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0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statement</a:t>
            </a: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en-US" sz="3000" b="0" i="0" u="none" strike="noStrike" baseline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30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0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 </a:t>
            </a:r>
            <a:r>
              <a:rPr lang="en-US" sz="30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30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selection statement</a:t>
            </a:r>
          </a:p>
          <a:p>
            <a:pPr marL="514350" indent="-514350" algn="l">
              <a:lnSpc>
                <a:spcPct val="200000"/>
              </a:lnSpc>
              <a:buFont typeface="+mj-lt"/>
              <a:buAutoNum type="arabicPeriod"/>
            </a:pPr>
            <a:r>
              <a:rPr lang="en-US" sz="3000" b="0" i="0" u="none" strike="noStrike" baseline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30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</a:t>
            </a:r>
            <a:r>
              <a:rPr lang="en-US" sz="30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statements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54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485EE6-706D-4599-975F-15DCAD89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Control Structures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D1ADA1-7FDF-45A8-94CB-E0F9C01DB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9292"/>
          </a:xfrm>
        </p:spPr>
        <p:txBody>
          <a:bodyPr>
            <a:no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US" sz="24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statement is called a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single-selection structure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selects or ignores a single action (group of actions)</a:t>
            </a:r>
          </a:p>
          <a:p>
            <a:pPr marL="342900" indent="-342900" algn="l">
              <a:buFont typeface="+mj-lt"/>
              <a:buAutoNum type="arabicPeriod"/>
            </a:pPr>
            <a:endParaRPr lang="en-US" sz="2400" b="0" i="0" u="none" strike="noStrike" baseline="0" dirty="0">
              <a:solidFill>
                <a:srgbClr val="3243A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The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if…else </a:t>
            </a:r>
            <a:r>
              <a:rPr lang="en-US" sz="24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 is called a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 selection structure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selects between two different action (group of actions)</a:t>
            </a:r>
          </a:p>
          <a:p>
            <a:pPr marL="342900" indent="-342900" algn="l">
              <a:buFont typeface="+mj-lt"/>
              <a:buAutoNum type="arabicPeriod"/>
            </a:pPr>
            <a:endParaRPr lang="en-US" sz="2400" dirty="0">
              <a:solidFill>
                <a:srgbClr val="3243A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endParaRPr lang="en-US" sz="2400" b="0" i="0" u="none" strike="noStrike" baseline="0" dirty="0">
              <a:solidFill>
                <a:srgbClr val="3243A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The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</a:t>
            </a:r>
            <a:r>
              <a:rPr lang="en-US" sz="24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 is called a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multiple-selection structure.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3243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selects among different actions (group of actions)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387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xmlns="" id="{042097EB-A9AD-42D5-A991-FAB7B9188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Flowchart for the </a:t>
            </a:r>
            <a:r>
              <a:rPr lang="en-US" altLang="en-US">
                <a:latin typeface="Trebuchet MS" panose="020B0603020202020204" pitchFamily="34" charset="0"/>
              </a:rPr>
              <a:t>if </a:t>
            </a:r>
            <a:r>
              <a:rPr lang="en-US" altLang="en-US"/>
              <a:t>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7846C72-8313-4890-B3A7-CF3A130CA4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19" y="3087757"/>
            <a:ext cx="5457245" cy="3102733"/>
          </a:xfrm>
        </p:spPr>
        <p:txBody>
          <a:bodyPr/>
          <a:lstStyle/>
          <a:p>
            <a:r>
              <a:rPr lang="en-US" sz="3000" b="0" i="0" u="none" strike="noStrike" baseline="0" dirty="0">
                <a:solidFill>
                  <a:srgbClr val="00B050"/>
                </a:solidFill>
                <a:latin typeface="Tahoma" panose="020B0604030504040204" pitchFamily="34" charset="0"/>
              </a:rPr>
              <a:t>If selection structure </a:t>
            </a:r>
            <a:r>
              <a:rPr lang="en-US" sz="3000" b="0" i="0" u="none" strike="noStrike" baseline="0" dirty="0">
                <a:solidFill>
                  <a:srgbClr val="1C0AC3"/>
                </a:solidFill>
                <a:latin typeface="Tahoma" panose="020B0604030504040204" pitchFamily="34" charset="0"/>
              </a:rPr>
              <a:t>performs an indicated action only when the condition is true otherwise the action is skipped</a:t>
            </a:r>
          </a:p>
          <a:p>
            <a:endParaRPr lang="en-US" dirty="0">
              <a:solidFill>
                <a:srgbClr val="1C0AC3"/>
              </a:solidFill>
              <a:latin typeface="Tahoma" panose="020B0604030504040204" pitchFamily="34" charset="0"/>
            </a:endParaRPr>
          </a:p>
          <a:p>
            <a:endParaRPr lang="en-US" dirty="0"/>
          </a:p>
        </p:txBody>
      </p:sp>
      <p:grpSp>
        <p:nvGrpSpPr>
          <p:cNvPr id="22541" name="Group 13">
            <a:extLst>
              <a:ext uri="{FF2B5EF4-FFF2-40B4-BE49-F238E27FC236}">
                <a16:creationId xmlns:a16="http://schemas.microsoft.com/office/drawing/2014/main" xmlns="" id="{9B8E33C4-55EB-4204-9034-617F07D64277}"/>
              </a:ext>
            </a:extLst>
          </p:cNvPr>
          <p:cNvGrpSpPr>
            <a:grpSpLocks/>
          </p:cNvGrpSpPr>
          <p:nvPr/>
        </p:nvGrpSpPr>
        <p:grpSpPr bwMode="auto">
          <a:xfrm>
            <a:off x="944881" y="1999491"/>
            <a:ext cx="5029200" cy="4191000"/>
            <a:chOff x="1635" y="1151"/>
            <a:chExt cx="3168" cy="2640"/>
          </a:xfrm>
        </p:grpSpPr>
        <p:sp>
          <p:nvSpPr>
            <p:cNvPr id="22532" name="AutoShape 4">
              <a:extLst>
                <a:ext uri="{FF2B5EF4-FFF2-40B4-BE49-F238E27FC236}">
                  <a16:creationId xmlns:a16="http://schemas.microsoft.com/office/drawing/2014/main" xmlns="" id="{1DC82CE5-7DD4-45D5-AF6F-E40771A2B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5" y="1919"/>
              <a:ext cx="1392" cy="672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i="1" dirty="0">
                  <a:latin typeface="Times New Roman" panose="02020603050405020304" pitchFamily="18" charset="0"/>
                </a:rPr>
                <a:t>condition?</a:t>
              </a:r>
            </a:p>
          </p:txBody>
        </p:sp>
        <p:sp>
          <p:nvSpPr>
            <p:cNvPr id="22533" name="AutoShape 5">
              <a:extLst>
                <a:ext uri="{FF2B5EF4-FFF2-40B4-BE49-F238E27FC236}">
                  <a16:creationId xmlns:a16="http://schemas.microsoft.com/office/drawing/2014/main" xmlns="" id="{2D683FED-73A6-495B-8591-AE6C7A17C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7" y="2015"/>
              <a:ext cx="1056" cy="528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i="1">
                  <a:latin typeface="Times New Roman" panose="02020603050405020304" pitchFamily="18" charset="0"/>
                </a:rPr>
                <a:t>statement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2534" name="Line 6">
              <a:extLst>
                <a:ext uri="{FF2B5EF4-FFF2-40B4-BE49-F238E27FC236}">
                  <a16:creationId xmlns:a16="http://schemas.microsoft.com/office/drawing/2014/main" xmlns="" id="{FACA92C5-306F-4A14-8561-DB8E5095A4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7" y="2255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5" name="Line 7">
              <a:extLst>
                <a:ext uri="{FF2B5EF4-FFF2-40B4-BE49-F238E27FC236}">
                  <a16:creationId xmlns:a16="http://schemas.microsoft.com/office/drawing/2014/main" xmlns="" id="{2469D397-5B12-4C83-A37F-8DEBED7C1A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5" y="1151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6" name="Line 8">
              <a:extLst>
                <a:ext uri="{FF2B5EF4-FFF2-40B4-BE49-F238E27FC236}">
                  <a16:creationId xmlns:a16="http://schemas.microsoft.com/office/drawing/2014/main" xmlns="" id="{A18C9B4B-C443-4FF2-9DB6-AFDCE366B6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168"/>
              <a:ext cx="18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7" name="Line 9">
              <a:extLst>
                <a:ext uri="{FF2B5EF4-FFF2-40B4-BE49-F238E27FC236}">
                  <a16:creationId xmlns:a16="http://schemas.microsoft.com/office/drawing/2014/main" xmlns="" id="{7A89A3FE-0AA1-4FA5-AC49-930D1AA743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2544"/>
              <a:ext cx="3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8" name="Line 10">
              <a:extLst>
                <a:ext uri="{FF2B5EF4-FFF2-40B4-BE49-F238E27FC236}">
                  <a16:creationId xmlns:a16="http://schemas.microsoft.com/office/drawing/2014/main" xmlns="" id="{C52C981B-5DDF-4785-9FB4-FEEF5D50B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5" y="2591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39" name="Text Box 11">
              <a:extLst>
                <a:ext uri="{FF2B5EF4-FFF2-40B4-BE49-F238E27FC236}">
                  <a16:creationId xmlns:a16="http://schemas.microsoft.com/office/drawing/2014/main" xmlns="" id="{978122DD-2E80-4517-8516-4C4D35EA29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5" y="1967"/>
              <a:ext cx="52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lg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true</a:t>
              </a:r>
            </a:p>
          </p:txBody>
        </p:sp>
        <p:sp>
          <p:nvSpPr>
            <p:cNvPr id="22540" name="Text Box 12">
              <a:extLst>
                <a:ext uri="{FF2B5EF4-FFF2-40B4-BE49-F238E27FC236}">
                  <a16:creationId xmlns:a16="http://schemas.microsoft.com/office/drawing/2014/main" xmlns="" id="{3CB94BFC-EDF1-4E94-BB3B-02296D671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5" y="2592"/>
              <a:ext cx="52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lg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false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BECB6810-6250-4E39-934B-5146B3224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If Selection 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885F3A4-E811-4A4F-B530-50C0AB2405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3828" y="1845733"/>
            <a:ext cx="5571212" cy="4190997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Let’s have pseudocode statement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 If student’s grade is greater than or equal to 60, Print “Passed”</a:t>
            </a:r>
          </a:p>
          <a:p>
            <a:pPr algn="l"/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studentgrade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&gt;= 60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“Passed”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</a:p>
        </p:txBody>
      </p:sp>
      <p:grpSp>
        <p:nvGrpSpPr>
          <p:cNvPr id="6" name="Group 13">
            <a:extLst>
              <a:ext uri="{FF2B5EF4-FFF2-40B4-BE49-F238E27FC236}">
                <a16:creationId xmlns:a16="http://schemas.microsoft.com/office/drawing/2014/main" xmlns="" id="{DD174913-42F5-4AA3-93E0-232AD9212D7D}"/>
              </a:ext>
            </a:extLst>
          </p:cNvPr>
          <p:cNvGrpSpPr>
            <a:grpSpLocks/>
          </p:cNvGrpSpPr>
          <p:nvPr/>
        </p:nvGrpSpPr>
        <p:grpSpPr bwMode="auto">
          <a:xfrm>
            <a:off x="6035039" y="1845734"/>
            <a:ext cx="4114800" cy="4191001"/>
            <a:chOff x="1635" y="1151"/>
            <a:chExt cx="2592" cy="2640"/>
          </a:xfrm>
        </p:grpSpPr>
        <p:sp>
          <p:nvSpPr>
            <p:cNvPr id="7" name="AutoShape 4">
              <a:extLst>
                <a:ext uri="{FF2B5EF4-FFF2-40B4-BE49-F238E27FC236}">
                  <a16:creationId xmlns:a16="http://schemas.microsoft.com/office/drawing/2014/main" xmlns="" id="{9334292C-B710-411E-B221-DF8524A2E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5" y="1919"/>
              <a:ext cx="1392" cy="672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i="1" dirty="0" err="1">
                  <a:latin typeface="Times New Roman" panose="02020603050405020304" pitchFamily="18" charset="0"/>
                </a:rPr>
                <a:t>Studentgrade</a:t>
              </a:r>
              <a:r>
                <a:rPr lang="en-US" altLang="en-US" i="1" dirty="0">
                  <a:latin typeface="Times New Roman" panose="02020603050405020304" pitchFamily="18" charset="0"/>
                </a:rPr>
                <a:t>&gt;=60</a:t>
              </a: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xmlns="" id="{2954189B-13D8-4235-A618-0BD9D468B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7" y="2255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xmlns="" id="{96D1B303-F7F9-45EA-A57E-AB6DFB1E81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5" y="1151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xmlns="" id="{4AE0586F-DF5B-4AED-B85B-B83D4D7CF4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168"/>
              <a:ext cx="18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xmlns="" id="{2C57EA83-7EC2-43DE-8B2B-592B665B45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2544"/>
              <a:ext cx="3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xmlns="" id="{23CC7F06-64F5-4192-8F88-C6BC7CF18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5" y="2591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xmlns="" id="{71574763-04F8-4C44-ACD8-87B76300D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5" y="1967"/>
              <a:ext cx="52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lg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true</a:t>
              </a:r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xmlns="" id="{155DD4BC-9BE9-482B-ABEF-8D156E6A39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5" y="2592"/>
              <a:ext cx="52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lg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false</a:t>
              </a:r>
            </a:p>
          </p:txBody>
        </p:sp>
      </p:grpSp>
      <p:sp>
        <p:nvSpPr>
          <p:cNvPr id="16" name="Parallelogram 15">
            <a:extLst>
              <a:ext uri="{FF2B5EF4-FFF2-40B4-BE49-F238E27FC236}">
                <a16:creationId xmlns:a16="http://schemas.microsoft.com/office/drawing/2014/main" xmlns="" id="{1FF6792F-D658-4F5B-8FE8-56474B16D087}"/>
              </a:ext>
            </a:extLst>
          </p:cNvPr>
          <p:cNvSpPr/>
          <p:nvPr/>
        </p:nvSpPr>
        <p:spPr>
          <a:xfrm>
            <a:off x="9387839" y="3161383"/>
            <a:ext cx="1767841" cy="861849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Passed</a:t>
            </a:r>
          </a:p>
        </p:txBody>
      </p:sp>
    </p:spTree>
    <p:extLst>
      <p:ext uri="{BB962C8B-B14F-4D97-AF65-F5344CB8AC3E}">
        <p14:creationId xmlns:p14="http://schemas.microsoft.com/office/powerpoint/2010/main" val="371916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FF840A69-41C4-4A5B-9163-0477F89E2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on If Selection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6265141-FEF1-4B0E-AC5F-024736E6A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Write a program using pseudocode and flow chart that would accept the age of a person. </a:t>
            </a:r>
          </a:p>
          <a:p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 age &gt; 18  Display a message indicating you can vote. Else Display a message indicating you can't vote. </a:t>
            </a:r>
          </a:p>
          <a:p>
            <a:endParaRPr lang="en-US" altLang="en-US" dirty="0">
              <a:solidFill>
                <a:schemeClr val="tx1"/>
              </a:solidFill>
              <a:latin typeface="Arial Unicode MS"/>
            </a:endParaRPr>
          </a:p>
          <a:p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801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6F14E7E8-EA6C-4EB1-A8EF-F1FC3126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B050"/>
                </a:solidFill>
              </a:rPr>
              <a:t>If … else </a:t>
            </a:r>
            <a:r>
              <a:rPr lang="en-US" dirty="0"/>
              <a:t>selection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436972-7988-457B-BDDA-5625FCF6B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1094720" cy="4023360"/>
          </a:xfrm>
        </p:spPr>
        <p:txBody>
          <a:bodyPr>
            <a:normAutofit/>
          </a:bodyPr>
          <a:lstStyle/>
          <a:p>
            <a:pPr algn="l"/>
            <a:endParaRPr lang="en-US" sz="3600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600" b="0" i="0" u="none" strike="noStrike" baseline="0" dirty="0">
                <a:solidFill>
                  <a:srgbClr val="1C0AC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if…else 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structure allows the programmer to specify that different action is to be performed when condition is </a:t>
            </a:r>
            <a:r>
              <a:rPr lang="en-US" sz="36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</a:t>
            </a:r>
            <a:r>
              <a:rPr lang="en-US" sz="3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when the condition is</a:t>
            </a:r>
            <a:r>
              <a:rPr lang="en-US" sz="3600" b="0" i="0" u="none" strike="noStrike" baseline="0" dirty="0">
                <a:solidFill>
                  <a:srgbClr val="1C0AC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pPr algn="l"/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395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xmlns="" id="{20DD3871-DC60-4360-93F8-EAB77E1ED5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609600"/>
            <a:ext cx="8458200" cy="838200"/>
          </a:xfrm>
        </p:spPr>
        <p:txBody>
          <a:bodyPr/>
          <a:lstStyle/>
          <a:p>
            <a:r>
              <a:rPr lang="en-US" altLang="en-US" dirty="0"/>
              <a:t>Flowchart for the </a:t>
            </a:r>
            <a:r>
              <a:rPr lang="en-US" altLang="en-US" dirty="0">
                <a:solidFill>
                  <a:srgbClr val="00B050"/>
                </a:solidFill>
              </a:rPr>
              <a:t>if-else statement</a:t>
            </a:r>
          </a:p>
        </p:txBody>
      </p:sp>
      <p:grpSp>
        <p:nvGrpSpPr>
          <p:cNvPr id="23578" name="Group 26">
            <a:extLst>
              <a:ext uri="{FF2B5EF4-FFF2-40B4-BE49-F238E27FC236}">
                <a16:creationId xmlns:a16="http://schemas.microsoft.com/office/drawing/2014/main" xmlns="" id="{FC3D8152-631E-4429-986D-433DD9BCFD00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524000"/>
            <a:ext cx="4267200" cy="4572000"/>
            <a:chOff x="864" y="960"/>
            <a:chExt cx="2688" cy="2880"/>
          </a:xfrm>
        </p:grpSpPr>
        <p:sp>
          <p:nvSpPr>
            <p:cNvPr id="23562" name="Line 10">
              <a:extLst>
                <a:ext uri="{FF2B5EF4-FFF2-40B4-BE49-F238E27FC236}">
                  <a16:creationId xmlns:a16="http://schemas.microsoft.com/office/drawing/2014/main" xmlns="" id="{44ACD137-4425-4FA7-B3C3-60121A8237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166"/>
              <a:ext cx="0" cy="6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577" name="Group 25">
              <a:extLst>
                <a:ext uri="{FF2B5EF4-FFF2-40B4-BE49-F238E27FC236}">
                  <a16:creationId xmlns:a16="http://schemas.microsoft.com/office/drawing/2014/main" xmlns="" id="{EA0274D4-1079-4769-8248-540954C86C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960"/>
              <a:ext cx="2688" cy="2208"/>
              <a:chOff x="864" y="960"/>
              <a:chExt cx="2688" cy="2208"/>
            </a:xfrm>
          </p:grpSpPr>
          <p:sp>
            <p:nvSpPr>
              <p:cNvPr id="23568" name="Line 16">
                <a:extLst>
                  <a:ext uri="{FF2B5EF4-FFF2-40B4-BE49-F238E27FC236}">
                    <a16:creationId xmlns:a16="http://schemas.microsoft.com/office/drawing/2014/main" xmlns="" id="{3A8385E6-B7D2-4246-9341-FD39AD47B9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824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56" name="AutoShape 4">
                <a:extLst>
                  <a:ext uri="{FF2B5EF4-FFF2-40B4-BE49-F238E27FC236}">
                    <a16:creationId xmlns:a16="http://schemas.microsoft.com/office/drawing/2014/main" xmlns="" id="{D788C581-11DD-4145-A611-24295DC1D7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488"/>
                <a:ext cx="1392" cy="672"/>
              </a:xfrm>
              <a:prstGeom prst="flowChartDecision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i="1">
                    <a:latin typeface="Times New Roman" panose="02020603050405020304" pitchFamily="18" charset="0"/>
                  </a:rPr>
                  <a:t>condition?</a:t>
                </a:r>
              </a:p>
            </p:txBody>
          </p:sp>
          <p:sp>
            <p:nvSpPr>
              <p:cNvPr id="23559" name="Line 7">
                <a:extLst>
                  <a:ext uri="{FF2B5EF4-FFF2-40B4-BE49-F238E27FC236}">
                    <a16:creationId xmlns:a16="http://schemas.microsoft.com/office/drawing/2014/main" xmlns="" id="{EB03004B-C71F-4F14-A460-6F4148CAA5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0" y="960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lg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3" name="Text Box 11">
                <a:extLst>
                  <a:ext uri="{FF2B5EF4-FFF2-40B4-BE49-F238E27FC236}">
                    <a16:creationId xmlns:a16="http://schemas.microsoft.com/office/drawing/2014/main" xmlns="" id="{D95C636B-C400-4D5E-A6EB-44EFB47D28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584"/>
                <a:ext cx="52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lg" len="lg"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/>
                  <a:t>true</a:t>
                </a:r>
              </a:p>
            </p:txBody>
          </p:sp>
          <p:sp>
            <p:nvSpPr>
              <p:cNvPr id="23565" name="AutoShape 13">
                <a:extLst>
                  <a:ext uri="{FF2B5EF4-FFF2-40B4-BE49-F238E27FC236}">
                    <a16:creationId xmlns:a16="http://schemas.microsoft.com/office/drawing/2014/main" xmlns="" id="{0D7C0CA5-B160-4FD8-9F59-4126274C75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256"/>
                <a:ext cx="1056" cy="52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i="1" dirty="0">
                    <a:latin typeface="Times New Roman" panose="02020603050405020304" pitchFamily="18" charset="0"/>
                  </a:rPr>
                  <a:t>statement-1</a:t>
                </a:r>
                <a:endParaRPr lang="en-US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67" name="Line 15">
                <a:extLst>
                  <a:ext uri="{FF2B5EF4-FFF2-40B4-BE49-F238E27FC236}">
                    <a16:creationId xmlns:a16="http://schemas.microsoft.com/office/drawing/2014/main" xmlns="" id="{017E19EB-D197-4CF7-95B8-110A8F4C93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824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9" name="Line 17">
                <a:extLst>
                  <a:ext uri="{FF2B5EF4-FFF2-40B4-BE49-F238E27FC236}">
                    <a16:creationId xmlns:a16="http://schemas.microsoft.com/office/drawing/2014/main" xmlns="" id="{803D4303-B93D-4EC0-8F4F-F8885AB8C1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784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70" name="Line 18">
                <a:extLst>
                  <a:ext uri="{FF2B5EF4-FFF2-40B4-BE49-F238E27FC236}">
                    <a16:creationId xmlns:a16="http://schemas.microsoft.com/office/drawing/2014/main" xmlns="" id="{8B8BAA55-A8A3-49E2-9187-518C2DF780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3166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lg" len="lg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3576" name="Group 24">
            <a:extLst>
              <a:ext uri="{FF2B5EF4-FFF2-40B4-BE49-F238E27FC236}">
                <a16:creationId xmlns:a16="http://schemas.microsoft.com/office/drawing/2014/main" xmlns="" id="{64BA4A69-C4A0-4E0E-9AED-AC203B32A713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514600"/>
            <a:ext cx="3124200" cy="2514600"/>
            <a:chOff x="2880" y="1584"/>
            <a:chExt cx="1968" cy="1584"/>
          </a:xfrm>
        </p:grpSpPr>
        <p:sp>
          <p:nvSpPr>
            <p:cNvPr id="23557" name="AutoShape 5">
              <a:extLst>
                <a:ext uri="{FF2B5EF4-FFF2-40B4-BE49-F238E27FC236}">
                  <a16:creationId xmlns:a16="http://schemas.microsoft.com/office/drawing/2014/main" xmlns="" id="{E6F211A4-55BC-4230-9311-5E69B6845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2256"/>
              <a:ext cx="1056" cy="528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i="1">
                  <a:latin typeface="Times New Roman" panose="02020603050405020304" pitchFamily="18" charset="0"/>
                </a:rPr>
                <a:t>statement-2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3558" name="Line 6">
              <a:extLst>
                <a:ext uri="{FF2B5EF4-FFF2-40B4-BE49-F238E27FC236}">
                  <a16:creationId xmlns:a16="http://schemas.microsoft.com/office/drawing/2014/main" xmlns="" id="{57ED9A9A-1A48-4A3B-AFA8-7F6DF2E7AA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82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64" name="Text Box 12">
              <a:extLst>
                <a:ext uri="{FF2B5EF4-FFF2-40B4-BE49-F238E27FC236}">
                  <a16:creationId xmlns:a16="http://schemas.microsoft.com/office/drawing/2014/main" xmlns="" id="{60DDD02A-14DB-4EC7-9481-65F44C51D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584"/>
              <a:ext cx="52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lg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false</a:t>
              </a:r>
            </a:p>
          </p:txBody>
        </p:sp>
        <p:sp>
          <p:nvSpPr>
            <p:cNvPr id="23566" name="Line 14">
              <a:extLst>
                <a:ext uri="{FF2B5EF4-FFF2-40B4-BE49-F238E27FC236}">
                  <a16:creationId xmlns:a16="http://schemas.microsoft.com/office/drawing/2014/main" xmlns="" id="{86186544-6B42-4458-9AE6-2E5841DB01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8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1" name="Line 19">
              <a:extLst>
                <a:ext uri="{FF2B5EF4-FFF2-40B4-BE49-F238E27FC236}">
                  <a16:creationId xmlns:a16="http://schemas.microsoft.com/office/drawing/2014/main" xmlns="" id="{99114799-9CE8-4EB3-A5E3-670DD0052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78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2" name="Line 20">
              <a:extLst>
                <a:ext uri="{FF2B5EF4-FFF2-40B4-BE49-F238E27FC236}">
                  <a16:creationId xmlns:a16="http://schemas.microsoft.com/office/drawing/2014/main" xmlns="" id="{CDACA180-0551-401D-B2B6-369CDB8565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3166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6F14E7E8-EA6C-4EB1-A8EF-F1FC3126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If … else selection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436972-7988-457B-BDDA-5625FCF6BC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6350" y="1845733"/>
            <a:ext cx="5438689" cy="4608073"/>
          </a:xfrm>
        </p:spPr>
        <p:txBody>
          <a:bodyPr>
            <a:noAutofit/>
          </a:bodyPr>
          <a:lstStyle/>
          <a:p>
            <a:pPr algn="l"/>
            <a:r>
              <a:rPr lang="en-US" sz="2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600" b="0" i="0" u="none" strike="noStrike" baseline="0" dirty="0">
                <a:solidFill>
                  <a:srgbClr val="1C0AC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if…else </a:t>
            </a:r>
            <a:r>
              <a:rPr lang="en-US" sz="2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 structure allows the programmer to specify that different action is to be</a:t>
            </a:r>
            <a:r>
              <a:rPr lang="en-US" sz="2600" b="0" i="0" u="none" strike="noStrik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performed when condition is </a:t>
            </a:r>
            <a:r>
              <a:rPr lang="en-US" sz="26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 </a:t>
            </a:r>
            <a:r>
              <a:rPr lang="en-US" sz="2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when the condition is</a:t>
            </a:r>
            <a:r>
              <a:rPr lang="en-US" sz="2600" b="0" i="0" u="none" strike="noStrike" baseline="0" dirty="0">
                <a:solidFill>
                  <a:srgbClr val="1C0AC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</a:p>
          <a:p>
            <a:pPr algn="l"/>
            <a:endParaRPr lang="en-US" sz="2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example: If a student’s grade is greater than or equal to 60, print passed else print failed</a:t>
            </a:r>
          </a:p>
        </p:txBody>
      </p:sp>
      <p:grpSp>
        <p:nvGrpSpPr>
          <p:cNvPr id="6" name="Group 26">
            <a:extLst>
              <a:ext uri="{FF2B5EF4-FFF2-40B4-BE49-F238E27FC236}">
                <a16:creationId xmlns:a16="http://schemas.microsoft.com/office/drawing/2014/main" xmlns="" id="{59D8FC55-3D67-4248-B208-AB238F32E2B5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1571414"/>
            <a:ext cx="3429000" cy="4572000"/>
            <a:chOff x="1392" y="960"/>
            <a:chExt cx="2160" cy="2880"/>
          </a:xfrm>
        </p:grpSpPr>
        <p:sp>
          <p:nvSpPr>
            <p:cNvPr id="7" name="Line 10">
              <a:extLst>
                <a:ext uri="{FF2B5EF4-FFF2-40B4-BE49-F238E27FC236}">
                  <a16:creationId xmlns:a16="http://schemas.microsoft.com/office/drawing/2014/main" xmlns="" id="{99B93578-4D7C-4E21-866D-D1FE332214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3166"/>
              <a:ext cx="0" cy="6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" name="Group 25">
              <a:extLst>
                <a:ext uri="{FF2B5EF4-FFF2-40B4-BE49-F238E27FC236}">
                  <a16:creationId xmlns:a16="http://schemas.microsoft.com/office/drawing/2014/main" xmlns="" id="{35884866-36B8-406F-B7E3-9127EEFB25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960"/>
              <a:ext cx="2160" cy="2208"/>
              <a:chOff x="1392" y="960"/>
              <a:chExt cx="2160" cy="2208"/>
            </a:xfrm>
          </p:grpSpPr>
          <p:sp>
            <p:nvSpPr>
              <p:cNvPr id="9" name="Line 16">
                <a:extLst>
                  <a:ext uri="{FF2B5EF4-FFF2-40B4-BE49-F238E27FC236}">
                    <a16:creationId xmlns:a16="http://schemas.microsoft.com/office/drawing/2014/main" xmlns="" id="{953B880D-EB43-4169-B62A-0E4377CB3C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824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AutoShape 4">
                <a:extLst>
                  <a:ext uri="{FF2B5EF4-FFF2-40B4-BE49-F238E27FC236}">
                    <a16:creationId xmlns:a16="http://schemas.microsoft.com/office/drawing/2014/main" xmlns="" id="{E731986C-B26B-4D2B-86B7-013BBFCA1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1488"/>
                <a:ext cx="1392" cy="672"/>
              </a:xfrm>
              <a:prstGeom prst="flowChartDecision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i="1" dirty="0" err="1">
                    <a:latin typeface="Times New Roman" panose="02020603050405020304" pitchFamily="18" charset="0"/>
                  </a:rPr>
                  <a:t>Studentgrade</a:t>
                </a:r>
                <a:r>
                  <a:rPr lang="en-US" altLang="en-US" i="1" dirty="0">
                    <a:latin typeface="Times New Roman" panose="02020603050405020304" pitchFamily="18" charset="0"/>
                  </a:rPr>
                  <a:t>&gt;=60</a:t>
                </a:r>
              </a:p>
            </p:txBody>
          </p:sp>
          <p:sp>
            <p:nvSpPr>
              <p:cNvPr id="11" name="Line 7">
                <a:extLst>
                  <a:ext uri="{FF2B5EF4-FFF2-40B4-BE49-F238E27FC236}">
                    <a16:creationId xmlns:a16="http://schemas.microsoft.com/office/drawing/2014/main" xmlns="" id="{0B7C73CC-B9FD-41DD-9F07-B8BB4E405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0" y="960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lg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Text Box 11">
                <a:extLst>
                  <a:ext uri="{FF2B5EF4-FFF2-40B4-BE49-F238E27FC236}">
                    <a16:creationId xmlns:a16="http://schemas.microsoft.com/office/drawing/2014/main" xmlns="" id="{2AFAD3B9-3C26-43C2-B540-850701B3EE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0" y="1584"/>
                <a:ext cx="528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lg" len="lg"/>
                    <a:tailEnd type="none" w="lg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/>
                  <a:t>true</a:t>
                </a:r>
              </a:p>
            </p:txBody>
          </p:sp>
          <p:sp>
            <p:nvSpPr>
              <p:cNvPr id="14" name="Line 15">
                <a:extLst>
                  <a:ext uri="{FF2B5EF4-FFF2-40B4-BE49-F238E27FC236}">
                    <a16:creationId xmlns:a16="http://schemas.microsoft.com/office/drawing/2014/main" xmlns="" id="{F837DCFB-A793-49B7-986F-CCAC4C86BC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824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17">
                <a:extLst>
                  <a:ext uri="{FF2B5EF4-FFF2-40B4-BE49-F238E27FC236}">
                    <a16:creationId xmlns:a16="http://schemas.microsoft.com/office/drawing/2014/main" xmlns="" id="{3C70953F-A362-44BC-B6E6-FD7A8B76A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784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lg" len="lg"/>
                <a:tailEnd type="non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18">
                <a:extLst>
                  <a:ext uri="{FF2B5EF4-FFF2-40B4-BE49-F238E27FC236}">
                    <a16:creationId xmlns:a16="http://schemas.microsoft.com/office/drawing/2014/main" xmlns="" id="{3DBFDF93-AFD5-489A-BA51-000ABD266F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3166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none" w="lg" len="lg"/>
                <a:tailEnd type="triangle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7" name="Group 24">
            <a:extLst>
              <a:ext uri="{FF2B5EF4-FFF2-40B4-BE49-F238E27FC236}">
                <a16:creationId xmlns:a16="http://schemas.microsoft.com/office/drawing/2014/main" xmlns="" id="{023C1E9D-52E7-4EF9-A5C9-668BEA61AF62}"/>
              </a:ext>
            </a:extLst>
          </p:cNvPr>
          <p:cNvGrpSpPr>
            <a:grpSpLocks/>
          </p:cNvGrpSpPr>
          <p:nvPr/>
        </p:nvGrpSpPr>
        <p:grpSpPr bwMode="auto">
          <a:xfrm>
            <a:off x="9258300" y="2558839"/>
            <a:ext cx="2209800" cy="2514600"/>
            <a:chOff x="2880" y="1584"/>
            <a:chExt cx="1392" cy="1584"/>
          </a:xfrm>
        </p:grpSpPr>
        <p:sp>
          <p:nvSpPr>
            <p:cNvPr id="19" name="Line 6">
              <a:extLst>
                <a:ext uri="{FF2B5EF4-FFF2-40B4-BE49-F238E27FC236}">
                  <a16:creationId xmlns:a16="http://schemas.microsoft.com/office/drawing/2014/main" xmlns="" id="{BCBC34E2-5AD9-4053-B1D0-0DEE9005B2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82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Text Box 12">
              <a:extLst>
                <a:ext uri="{FF2B5EF4-FFF2-40B4-BE49-F238E27FC236}">
                  <a16:creationId xmlns:a16="http://schemas.microsoft.com/office/drawing/2014/main" xmlns="" id="{CFFC7E1F-B642-4A98-85E9-26E469B3E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584"/>
              <a:ext cx="52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lg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false</a:t>
              </a:r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xmlns="" id="{1065DE81-62FF-4200-B768-4809CCBE4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82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xmlns="" id="{FBE81442-74FF-4029-A668-606542B82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78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xmlns="" id="{E6B51C06-38E3-4823-93C4-A311ACAF87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3166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4" name="Parallelogram 33">
            <a:extLst>
              <a:ext uri="{FF2B5EF4-FFF2-40B4-BE49-F238E27FC236}">
                <a16:creationId xmlns:a16="http://schemas.microsoft.com/office/drawing/2014/main" xmlns="" id="{79C4888A-8A92-417C-ACED-56E64E4C3C86}"/>
              </a:ext>
            </a:extLst>
          </p:cNvPr>
          <p:cNvSpPr/>
          <p:nvPr/>
        </p:nvSpPr>
        <p:spPr>
          <a:xfrm>
            <a:off x="6156963" y="3601990"/>
            <a:ext cx="1767841" cy="861849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Passed</a:t>
            </a:r>
          </a:p>
        </p:txBody>
      </p:sp>
      <p:sp>
        <p:nvSpPr>
          <p:cNvPr id="35" name="Parallelogram 34">
            <a:extLst>
              <a:ext uri="{FF2B5EF4-FFF2-40B4-BE49-F238E27FC236}">
                <a16:creationId xmlns:a16="http://schemas.microsoft.com/office/drawing/2014/main" xmlns="" id="{8394C8AD-D3CE-4811-B4EB-D66C5922B81F}"/>
              </a:ext>
            </a:extLst>
          </p:cNvPr>
          <p:cNvSpPr/>
          <p:nvPr/>
        </p:nvSpPr>
        <p:spPr>
          <a:xfrm>
            <a:off x="10363200" y="3596215"/>
            <a:ext cx="1767841" cy="861849"/>
          </a:xfrm>
          <a:prstGeom prst="parallelogram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failed</a:t>
            </a:r>
          </a:p>
        </p:txBody>
      </p:sp>
    </p:spTree>
    <p:extLst>
      <p:ext uri="{BB962C8B-B14F-4D97-AF65-F5344CB8AC3E}">
        <p14:creationId xmlns:p14="http://schemas.microsoft.com/office/powerpoint/2010/main" val="1423354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45C4B6-ECF5-46F9-AB88-94008530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0" i="0" u="none" strike="noStrike" baseline="0" dirty="0">
                <a:solidFill>
                  <a:srgbClr val="00009B"/>
                </a:solidFill>
                <a:latin typeface="Arial" panose="020B0604020202020204" pitchFamily="34" charset="0"/>
              </a:rPr>
              <a:t>Nested if …else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D91732B-C974-4A61-BEC3-A0EFA9DCDA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7808" y="1845734"/>
            <a:ext cx="6679095" cy="402336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40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if…else structure test for multiple cases by placing if…else selection structures inside if…else selection structure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4B71BEA-CC55-4247-BA6A-BABE750AB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82678" y="1845735"/>
            <a:ext cx="4810538" cy="402336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9B"/>
                </a:solidFill>
                <a:latin typeface="Tahoma" panose="020B0604030504040204" pitchFamily="34" charset="0"/>
              </a:rPr>
              <a:t>if (grade &gt;= 70)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9B"/>
                </a:solidFill>
                <a:latin typeface="Tahoma" panose="020B0604030504040204" pitchFamily="34" charset="0"/>
              </a:rPr>
              <a:t>Print A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9B"/>
                </a:solidFill>
                <a:latin typeface="Tahoma" panose="020B0604030504040204" pitchFamily="34" charset="0"/>
              </a:rPr>
              <a:t>else if (grade &gt;= 60)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9B"/>
                </a:solidFill>
                <a:latin typeface="Tahoma" panose="020B0604030504040204" pitchFamily="34" charset="0"/>
              </a:rPr>
              <a:t>Print B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9B"/>
                </a:solidFill>
                <a:latin typeface="Tahoma" panose="020B0604030504040204" pitchFamily="34" charset="0"/>
              </a:rPr>
              <a:t>else if (grade &gt;= 50)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9B"/>
                </a:solidFill>
                <a:latin typeface="Tahoma" panose="020B0604030504040204" pitchFamily="34" charset="0"/>
              </a:rPr>
              <a:t>Print C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9B"/>
                </a:solidFill>
                <a:latin typeface="Tahoma" panose="020B0604030504040204" pitchFamily="34" charset="0"/>
              </a:rPr>
              <a:t>else if (grade &gt;= 40)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9B"/>
                </a:solidFill>
                <a:latin typeface="Tahoma" panose="020B0604030504040204" pitchFamily="34" charset="0"/>
              </a:rPr>
              <a:t>Print D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9B"/>
                </a:solidFill>
                <a:latin typeface="Tahoma" panose="020B0604030504040204" pitchFamily="34" charset="0"/>
              </a:rPr>
              <a:t>else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9B"/>
                </a:solidFill>
                <a:latin typeface="Tahoma" panose="020B0604030504040204" pitchFamily="34" charset="0"/>
              </a:rPr>
              <a:t>Print F</a:t>
            </a:r>
          </a:p>
        </p:txBody>
      </p:sp>
    </p:spTree>
    <p:extLst>
      <p:ext uri="{BB962C8B-B14F-4D97-AF65-F5344CB8AC3E}">
        <p14:creationId xmlns:p14="http://schemas.microsoft.com/office/powerpoint/2010/main" val="515921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A4D3D28B-AD10-4275-B00A-47C3957E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2EF260-F73C-49AA-8ACC-56624816D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5400" dirty="0"/>
          </a:p>
          <a:p>
            <a:r>
              <a:rPr lang="en-US" sz="5400" dirty="0"/>
              <a:t>     Repetition Control Structures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517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B5F4B83B-D1EF-4FC2-872A-20B82F33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     Repetition Control Structures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7FBC40B1-C490-4912-90FA-07C7BB3FB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75" y="1845733"/>
            <a:ext cx="11847442" cy="4462301"/>
          </a:xfrm>
        </p:spPr>
        <p:txBody>
          <a:bodyPr>
            <a:normAutofit fontScale="62500" lnSpcReduction="20000"/>
          </a:bodyPr>
          <a:lstStyle/>
          <a:p>
            <a:endParaRPr lang="en-US" sz="5400" dirty="0"/>
          </a:p>
          <a:p>
            <a:pPr algn="l"/>
            <a:r>
              <a:rPr lang="en-US" sz="5400" b="0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repetition structures are created with repetition statement(s)</a:t>
            </a:r>
          </a:p>
          <a:p>
            <a:pPr algn="l"/>
            <a:endParaRPr lang="en-US" sz="5400" b="0" i="0" u="none" strike="noStrike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36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repetition statements are:</a:t>
            </a:r>
          </a:p>
          <a:p>
            <a:pPr lvl="1"/>
            <a:r>
              <a:rPr lang="en-US" sz="94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while</a:t>
            </a:r>
          </a:p>
          <a:p>
            <a:pPr lvl="1"/>
            <a:r>
              <a:rPr lang="en-US" sz="94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do…while</a:t>
            </a:r>
          </a:p>
          <a:p>
            <a:pPr lvl="1"/>
            <a:r>
              <a:rPr lang="en-US" sz="9400" b="0" i="0" u="none" strike="noStrike" baseline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For</a:t>
            </a:r>
          </a:p>
          <a:p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87691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B1AFFC-8905-4E0B-A91A-8AA574332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1F2A2C-807A-4DF2-9017-4BD648ECC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09292"/>
          </a:xfrm>
        </p:spPr>
        <p:txBody>
          <a:bodyPr>
            <a:norm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 WHILE loop is a loop that repeats while some condition is satisfied.</a:t>
            </a:r>
          </a:p>
          <a:p>
            <a:endParaRPr 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•The WHILE loop tests its condition at the beginning of every loop.</a:t>
            </a:r>
          </a:p>
          <a:p>
            <a:endParaRPr 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endParaRPr lang="en-US" sz="24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•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Arial" panose="020B0604020202020204" pitchFamily="34" charset="0"/>
              </a:rPr>
              <a:t>If the condition is false from the start, the sequence of activities contained in the loop never runs at all.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42167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4D0796-9859-4969-89D5-97F06E2B8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Control Structure (Loop)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1BA6F4-9A88-4B54-A976-F6558C62C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74616"/>
          </a:xfrm>
        </p:spPr>
        <p:txBody>
          <a:bodyPr>
            <a:normAutofit/>
          </a:bodyPr>
          <a:lstStyle/>
          <a:p>
            <a:pPr algn="l"/>
            <a:r>
              <a:rPr lang="en-US" sz="2200" b="0" i="0" u="none" strike="noStrike" baseline="0" dirty="0">
                <a:solidFill>
                  <a:schemeClr val="tx1"/>
                </a:solidFill>
                <a:latin typeface="Tahoma" panose="020B0604030504040204" pitchFamily="34" charset="0"/>
              </a:rPr>
              <a:t>A while repetition structure allows the programmer to specify that an action is to be repeated </a:t>
            </a:r>
            <a:r>
              <a:rPr lang="en-US" sz="2200" b="0" i="0" u="none" strike="noStrike" baseline="0" dirty="0">
                <a:solidFill>
                  <a:srgbClr val="FF0000"/>
                </a:solidFill>
                <a:latin typeface="Tahoma" panose="020B0604030504040204" pitchFamily="34" charset="0"/>
              </a:rPr>
              <a:t>while</a:t>
            </a:r>
            <a:r>
              <a:rPr lang="en-US" sz="2200" b="0" i="0" u="none" strike="noStrike" baseline="0" dirty="0">
                <a:solidFill>
                  <a:schemeClr val="tx1"/>
                </a:solidFill>
                <a:latin typeface="Tahoma" panose="020B0604030504040204" pitchFamily="34" charset="0"/>
              </a:rPr>
              <a:t> some condition </a:t>
            </a:r>
            <a:r>
              <a:rPr lang="en-US" sz="2200" dirty="0">
                <a:solidFill>
                  <a:srgbClr val="FF0000"/>
                </a:solidFill>
                <a:latin typeface="Tahoma" panose="020B0604030504040204" pitchFamily="34" charset="0"/>
              </a:rPr>
              <a:t>r</a:t>
            </a:r>
            <a:r>
              <a:rPr lang="en-US" sz="2200" b="0" i="0" u="none" strike="noStrike" baseline="0" dirty="0">
                <a:solidFill>
                  <a:srgbClr val="FF0000"/>
                </a:solidFill>
                <a:latin typeface="Tahoma" panose="020B0604030504040204" pitchFamily="34" charset="0"/>
              </a:rPr>
              <a:t>emains true</a:t>
            </a:r>
            <a:r>
              <a:rPr lang="en-US" sz="2200" b="0" i="0" u="none" strike="noStrike" baseline="0" dirty="0">
                <a:solidFill>
                  <a:schemeClr val="tx1"/>
                </a:solidFill>
                <a:latin typeface="Tahoma" panose="020B0604030504040204" pitchFamily="34" charset="0"/>
              </a:rPr>
              <a:t>.</a:t>
            </a:r>
            <a:endParaRPr lang="en-US" sz="2200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A55FF6F-B7F9-4702-AC27-B5001C0290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95" t="45795" r="36739" b="23079"/>
          <a:stretch/>
        </p:blipFill>
        <p:spPr>
          <a:xfrm>
            <a:off x="2047461" y="2796210"/>
            <a:ext cx="8097078" cy="317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47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xmlns="" id="{0AB19415-8F37-4AFA-8826-814EA167A9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>
                <a:solidFill>
                  <a:srgbClr val="00B050"/>
                </a:solidFill>
                <a:latin typeface="Trebuchet MS" panose="020B0603020202020204" pitchFamily="34" charset="0"/>
              </a:rPr>
              <a:t>while</a:t>
            </a:r>
            <a:r>
              <a:rPr lang="en-US" altLang="en-US" dirty="0">
                <a:solidFill>
                  <a:srgbClr val="FFFF99"/>
                </a:solidFill>
              </a:rPr>
              <a:t> </a:t>
            </a:r>
            <a:r>
              <a:rPr lang="en-US" altLang="en-US" dirty="0"/>
              <a:t>loop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xmlns="" id="{80388F5D-42E8-4CF5-ADDD-474CCADA3C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3913" y="2279374"/>
            <a:ext cx="10058400" cy="379012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/>
                </a:solidFill>
              </a:rPr>
              <a:t>This is the form of the </a:t>
            </a:r>
            <a:r>
              <a:rPr lang="en-US" alt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while</a:t>
            </a:r>
            <a:r>
              <a:rPr lang="en-US" altLang="en-US" dirty="0">
                <a:solidFill>
                  <a:schemeClr val="tx1"/>
                </a:solidFill>
              </a:rPr>
              <a:t> loop: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/>
                </a:solidFill>
              </a:rPr>
              <a:t/>
            </a:r>
            <a:br>
              <a:rPr lang="en-US" altLang="en-US" dirty="0">
                <a:solidFill>
                  <a:schemeClr val="tx1"/>
                </a:solidFill>
              </a:rPr>
            </a:br>
            <a:r>
              <a:rPr lang="en-US" altLang="en-US" dirty="0">
                <a:solidFill>
                  <a:schemeClr val="tx1"/>
                </a:solidFill>
              </a:rPr>
              <a:t>	</a:t>
            </a: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(</a:t>
            </a:r>
            <a:r>
              <a:rPr lang="en-US" alt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altLang="en-US" sz="3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35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statement(s)</a:t>
            </a:r>
            <a:endParaRPr lang="en-US" altLang="en-US" sz="3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/>
                </a:solidFill>
              </a:rPr>
              <a:t>If the </a:t>
            </a:r>
            <a:r>
              <a:rPr lang="en-US" altLang="en-US" i="1" dirty="0">
                <a:solidFill>
                  <a:schemeClr val="tx1"/>
                </a:solidFill>
              </a:rPr>
              <a:t>condition</a:t>
            </a:r>
            <a:r>
              <a:rPr lang="en-US" altLang="en-US" dirty="0">
                <a:solidFill>
                  <a:schemeClr val="tx1"/>
                </a:solidFill>
              </a:rPr>
              <a:t> is </a:t>
            </a:r>
            <a:r>
              <a:rPr lang="en-US" alt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true</a:t>
            </a:r>
            <a:r>
              <a:rPr lang="en-US" altLang="en-US" dirty="0">
                <a:solidFill>
                  <a:schemeClr val="tx1"/>
                </a:solidFill>
              </a:rPr>
              <a:t>, the </a:t>
            </a:r>
            <a:r>
              <a:rPr lang="en-US" altLang="en-US" i="1" dirty="0">
                <a:solidFill>
                  <a:schemeClr val="tx1"/>
                </a:solidFill>
              </a:rPr>
              <a:t>statement</a:t>
            </a:r>
            <a:r>
              <a:rPr lang="en-US" altLang="en-US" dirty="0">
                <a:solidFill>
                  <a:schemeClr val="tx1"/>
                </a:solidFill>
              </a:rPr>
              <a:t> is executed, then the whole thing is done again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/>
                </a:solidFill>
              </a:rPr>
              <a:t>The </a:t>
            </a:r>
            <a:r>
              <a:rPr lang="en-US" altLang="en-US" i="1" dirty="0">
                <a:solidFill>
                  <a:schemeClr val="tx1"/>
                </a:solidFill>
              </a:rPr>
              <a:t>statement</a:t>
            </a:r>
            <a:r>
              <a:rPr lang="en-US" altLang="en-US" dirty="0">
                <a:solidFill>
                  <a:schemeClr val="tx1"/>
                </a:solidFill>
              </a:rPr>
              <a:t> is executed repeatedly until the </a:t>
            </a:r>
            <a:r>
              <a:rPr lang="en-US" altLang="en-US" i="1" dirty="0">
                <a:solidFill>
                  <a:schemeClr val="tx1"/>
                </a:solidFill>
              </a:rPr>
              <a:t>condition</a:t>
            </a:r>
            <a:r>
              <a:rPr lang="en-US" altLang="en-US" dirty="0">
                <a:solidFill>
                  <a:schemeClr val="tx1"/>
                </a:solidFill>
              </a:rPr>
              <a:t> becomes </a:t>
            </a:r>
            <a:r>
              <a:rPr lang="en-US" alt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false</a:t>
            </a:r>
            <a:endParaRPr lang="en-US" altLang="en-US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tx1"/>
                </a:solidFill>
              </a:rPr>
              <a:t>If the </a:t>
            </a:r>
            <a:r>
              <a:rPr lang="en-US" altLang="en-US" i="1" dirty="0">
                <a:solidFill>
                  <a:schemeClr val="tx1"/>
                </a:solidFill>
              </a:rPr>
              <a:t>condition</a:t>
            </a:r>
            <a:r>
              <a:rPr lang="en-US" altLang="en-US" dirty="0">
                <a:solidFill>
                  <a:schemeClr val="tx1"/>
                </a:solidFill>
              </a:rPr>
              <a:t> starts out </a:t>
            </a:r>
            <a:r>
              <a:rPr lang="en-US" altLang="en-US" dirty="0">
                <a:solidFill>
                  <a:schemeClr val="tx1"/>
                </a:solidFill>
                <a:latin typeface="Trebuchet MS" panose="020B0603020202020204" pitchFamily="34" charset="0"/>
              </a:rPr>
              <a:t>false</a:t>
            </a:r>
            <a:r>
              <a:rPr lang="en-US" altLang="en-US" dirty="0">
                <a:solidFill>
                  <a:schemeClr val="tx1"/>
                </a:solidFill>
              </a:rPr>
              <a:t>, the statement is never executed at all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xmlns="" id="{B2253570-C720-4D88-BECD-CF6B6A5B9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Flowchart for the </a:t>
            </a:r>
            <a:r>
              <a:rPr lang="en-US" altLang="en-US">
                <a:latin typeface="Trebuchet MS" panose="020B0603020202020204" pitchFamily="34" charset="0"/>
              </a:rPr>
              <a:t>while</a:t>
            </a:r>
            <a:r>
              <a:rPr lang="en-US" altLang="en-US"/>
              <a:t> loop</a:t>
            </a:r>
          </a:p>
        </p:txBody>
      </p:sp>
      <p:grpSp>
        <p:nvGrpSpPr>
          <p:cNvPr id="20493" name="Group 13">
            <a:extLst>
              <a:ext uri="{FF2B5EF4-FFF2-40B4-BE49-F238E27FC236}">
                <a16:creationId xmlns:a16="http://schemas.microsoft.com/office/drawing/2014/main" xmlns="" id="{CB5D9B09-2143-4590-A22D-A2FE5FC1E940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828801"/>
            <a:ext cx="5029200" cy="3355975"/>
            <a:chOff x="1632" y="1152"/>
            <a:chExt cx="3168" cy="2114"/>
          </a:xfrm>
        </p:grpSpPr>
        <p:sp>
          <p:nvSpPr>
            <p:cNvPr id="20484" name="AutoShape 4">
              <a:extLst>
                <a:ext uri="{FF2B5EF4-FFF2-40B4-BE49-F238E27FC236}">
                  <a16:creationId xmlns:a16="http://schemas.microsoft.com/office/drawing/2014/main" xmlns="" id="{AF37E71D-F789-4BCD-A756-2D7FCC0A2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920"/>
              <a:ext cx="1392" cy="672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i="1">
                  <a:latin typeface="Times New Roman" panose="02020603050405020304" pitchFamily="18" charset="0"/>
                </a:rPr>
                <a:t>condition?</a:t>
              </a:r>
            </a:p>
          </p:txBody>
        </p:sp>
        <p:sp>
          <p:nvSpPr>
            <p:cNvPr id="20485" name="AutoShape 5">
              <a:extLst>
                <a:ext uri="{FF2B5EF4-FFF2-40B4-BE49-F238E27FC236}">
                  <a16:creationId xmlns:a16="http://schemas.microsoft.com/office/drawing/2014/main" xmlns="" id="{89037012-74EC-4295-8B6C-A4874CD3F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016"/>
              <a:ext cx="1056" cy="528"/>
            </a:xfrm>
            <a:prstGeom prst="flowChartProcess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i="1">
                  <a:latin typeface="Times New Roman" panose="02020603050405020304" pitchFamily="18" charset="0"/>
                </a:rPr>
                <a:t>statement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0486" name="Line 6">
              <a:extLst>
                <a:ext uri="{FF2B5EF4-FFF2-40B4-BE49-F238E27FC236}">
                  <a16:creationId xmlns:a16="http://schemas.microsoft.com/office/drawing/2014/main" xmlns="" id="{98E93E08-F87D-40FA-85FC-6C3A2DD037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25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7" name="Line 7">
              <a:extLst>
                <a:ext uri="{FF2B5EF4-FFF2-40B4-BE49-F238E27FC236}">
                  <a16:creationId xmlns:a16="http://schemas.microsoft.com/office/drawing/2014/main" xmlns="" id="{1FD0287E-0050-4BD3-9F3B-896F473A01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1152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8" name="Line 8">
              <a:extLst>
                <a:ext uri="{FF2B5EF4-FFF2-40B4-BE49-F238E27FC236}">
                  <a16:creationId xmlns:a16="http://schemas.microsoft.com/office/drawing/2014/main" xmlns="" id="{8D1D6D2E-33AB-4283-99E1-AFDB6D9F3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9" y="1537"/>
              <a:ext cx="18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9" name="Line 9">
              <a:extLst>
                <a:ext uri="{FF2B5EF4-FFF2-40B4-BE49-F238E27FC236}">
                  <a16:creationId xmlns:a16="http://schemas.microsoft.com/office/drawing/2014/main" xmlns="" id="{4442F941-333E-44A8-A115-FC85297F0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536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0" name="Line 10">
              <a:extLst>
                <a:ext uri="{FF2B5EF4-FFF2-40B4-BE49-F238E27FC236}">
                  <a16:creationId xmlns:a16="http://schemas.microsoft.com/office/drawing/2014/main" xmlns="" id="{DF4327DC-80B2-4443-ABD3-84A144E077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592"/>
              <a:ext cx="0" cy="6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1" name="Text Box 11">
              <a:extLst>
                <a:ext uri="{FF2B5EF4-FFF2-40B4-BE49-F238E27FC236}">
                  <a16:creationId xmlns:a16="http://schemas.microsoft.com/office/drawing/2014/main" xmlns="" id="{83ECDEC7-D410-480E-A979-432DF76A4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968"/>
              <a:ext cx="52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lg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true</a:t>
              </a:r>
            </a:p>
          </p:txBody>
        </p:sp>
        <p:sp>
          <p:nvSpPr>
            <p:cNvPr id="20492" name="Text Box 12">
              <a:extLst>
                <a:ext uri="{FF2B5EF4-FFF2-40B4-BE49-F238E27FC236}">
                  <a16:creationId xmlns:a16="http://schemas.microsoft.com/office/drawing/2014/main" xmlns="" id="{FF4FE60A-3C4D-43C2-8095-D3A40E578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688"/>
              <a:ext cx="52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lg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/>
                <a:t>false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76101D-E456-44AD-9A7B-F15DB4A1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Exercise: Write a program using </a:t>
            </a:r>
            <a:r>
              <a:rPr lang="en-US" b="1" dirty="0"/>
              <a:t>a while loop </a:t>
            </a:r>
            <a:r>
              <a:rPr lang="en-US" dirty="0"/>
              <a:t>that prints “I love computers” five (5) times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A20A8484-DC8F-42E8-8C4C-FF00C7D9225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83096" y="2149254"/>
            <a:ext cx="563482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Pseudocode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 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While count &lt; 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"I love computers!"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Increment count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Endwhile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Stop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1CA40529-FEE8-4186-A6D3-CF45DA1C2A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Exercise: Write the complete flowchart for this algorithm</a:t>
            </a:r>
          </a:p>
        </p:txBody>
      </p:sp>
    </p:spTree>
    <p:extLst>
      <p:ext uri="{BB962C8B-B14F-4D97-AF65-F5344CB8AC3E}">
        <p14:creationId xmlns:p14="http://schemas.microsoft.com/office/powerpoint/2010/main" val="552320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490579-F472-49CC-87FE-72353806D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86F25747-348E-49A1-8CBF-F6C84B46AE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82788"/>
          </a:xfrm>
        </p:spPr>
        <p:txBody>
          <a:bodyPr>
            <a:normAutofit fontScale="92500"/>
          </a:bodyPr>
          <a:lstStyle/>
          <a:p>
            <a:endParaRPr lang="en-US" sz="4000" dirty="0"/>
          </a:p>
          <a:p>
            <a:r>
              <a:rPr lang="en-US" sz="4000" dirty="0"/>
              <a:t>1. Write a computer solution in pseudocode and flowchart print the numbers 1 to 5 using while loop.</a:t>
            </a:r>
          </a:p>
          <a:p>
            <a:endParaRPr lang="en-US" sz="4000" dirty="0"/>
          </a:p>
          <a:p>
            <a:r>
              <a:rPr lang="en-US" sz="4000" dirty="0"/>
              <a:t>2.  Write a computer solution in pseudocode and flowchart to calculate the average of “N” students using the while loop</a:t>
            </a:r>
          </a:p>
        </p:txBody>
      </p:sp>
    </p:spTree>
    <p:extLst>
      <p:ext uri="{BB962C8B-B14F-4D97-AF65-F5344CB8AC3E}">
        <p14:creationId xmlns:p14="http://schemas.microsoft.com/office/powerpoint/2010/main" val="915010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827627-A301-4ABE-A40D-A0442031D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Do…While Control Structure (Loop)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7DA0B5-4070-4AF3-AF90-47E2E6A77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835" y="1845734"/>
            <a:ext cx="11145077" cy="4023360"/>
          </a:xfrm>
        </p:spPr>
        <p:txBody>
          <a:bodyPr>
            <a:normAutofit lnSpcReduction="10000"/>
          </a:bodyPr>
          <a:lstStyle/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a while loop, a do-while loop is a loop that repeats while some condition is satisfied.</a:t>
            </a:r>
          </a:p>
          <a:p>
            <a:endParaRPr lang="en-US" sz="3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32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Unlike a while loop, a do-while loop tests its condition at the end of the loop.</a:t>
            </a:r>
          </a:p>
          <a:p>
            <a:endParaRPr lang="en-US" sz="3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3200" b="1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its sequence of activities always runs at least once.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06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B2965998-9F43-461D-811F-8480838E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Do While Control 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904CC50-C508-4084-BCA8-7BF0BA4982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845733"/>
            <a:ext cx="8533780" cy="4488806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do...while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loop is similar to a while loop, except the fact that it is guaranteed to execute at least one time.</a:t>
            </a:r>
          </a:p>
          <a:p>
            <a:pPr algn="l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syntax of a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do...while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loop in C programming language is </a:t>
            </a:r>
          </a:p>
          <a:p>
            <a:pPr marL="0" indent="0">
              <a:buNone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do </a:t>
            </a:r>
          </a:p>
          <a:p>
            <a:pPr marL="0" indent="0">
              <a:buNone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statement(s); } </a:t>
            </a:r>
          </a:p>
          <a:p>
            <a:pPr marL="0" indent="0">
              <a:buNone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while( condition ); </a:t>
            </a:r>
          </a:p>
          <a:p>
            <a:pPr algn="l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500" b="0" i="0" u="none" strike="noStrike" baseline="0" dirty="0">
              <a:solidFill>
                <a:srgbClr val="00009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152E612C-8D87-4254-8909-748F798EEB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8580" y="1967866"/>
            <a:ext cx="3155227" cy="3770325"/>
          </a:xfrm>
        </p:spPr>
      </p:pic>
    </p:spTree>
    <p:extLst>
      <p:ext uri="{BB962C8B-B14F-4D97-AF65-F5344CB8AC3E}">
        <p14:creationId xmlns:p14="http://schemas.microsoft.com/office/powerpoint/2010/main" val="1455111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B2965998-9F43-461D-811F-8480838E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Do While Control Structure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904CC50-C508-4084-BCA8-7BF0BA4982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845733"/>
            <a:ext cx="8533780" cy="4488806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case the condition is true, the control goes back to the beginning of the loop.</a:t>
            </a:r>
          </a:p>
          <a:p>
            <a:pPr algn="l"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condition is false, the control breaks out of the loop.</a:t>
            </a:r>
          </a:p>
          <a:p>
            <a:pPr algn="l"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the statements inside the loop are executed before the condition is tested. </a:t>
            </a:r>
          </a:p>
          <a:p>
            <a:pPr algn="l">
              <a:buFont typeface="Wingdings" panose="05000000000000000000" pitchFamily="2" charset="2"/>
              <a:buChar char="v"/>
            </a:pPr>
            <a:endParaRPr lang="en-US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 do while loop should be used in all scenarios where the loop body needs to be executed at least once</a:t>
            </a:r>
          </a:p>
          <a:p>
            <a:pPr algn="l"/>
            <a:endParaRPr lang="en-US" sz="2400" b="0" i="0" u="none" strike="noStrike" baseline="0" dirty="0">
              <a:solidFill>
                <a:srgbClr val="00009B"/>
              </a:solidFill>
              <a:latin typeface="Tahoma" panose="020B0604030504040204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152E612C-8D87-4254-8909-748F798EEB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8580" y="1967866"/>
            <a:ext cx="3155227" cy="3770325"/>
          </a:xfrm>
        </p:spPr>
      </p:pic>
    </p:spTree>
    <p:extLst>
      <p:ext uri="{BB962C8B-B14F-4D97-AF65-F5344CB8AC3E}">
        <p14:creationId xmlns:p14="http://schemas.microsoft.com/office/powerpoint/2010/main" val="2328745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02DDB1-AD1E-47F7-A173-83C71E84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….While Example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9AFCF07A-4594-4591-B32E-4E3A476A036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583095" y="1568083"/>
            <a:ext cx="7182680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algorithm in pseudocode to print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 World two times.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do .. while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pPr marL="806958" lvl="1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 “Hello World”</a:t>
            </a:r>
          </a:p>
          <a:p>
            <a:pPr marL="806958" lvl="1" indent="-5143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1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alt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EndWhile</a:t>
            </a:r>
            <a:endParaRPr lang="en-US" alt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F70CCD4A-E13D-4202-98A9-EC3062E0150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963478" y="1753941"/>
            <a:ext cx="622852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Dry run of the program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 starts. </a:t>
            </a:r>
          </a:p>
          <a:p>
            <a:pPr marL="228600" indent="-228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initialised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2.</a:t>
            </a:r>
          </a:p>
          <a:p>
            <a:pPr marL="228600" indent="-228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Execution enters the do loop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a) "Hello World" gets printed 1st time.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b) Update is done. 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increased by 1)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Now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2.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 Condition is checked.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2 &lt; 2 yields false. 5. </a:t>
            </a:r>
          </a:p>
          <a:p>
            <a:pPr marL="228600" indent="-2286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The flow goes outside the loop.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this program will be: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Hello World </a:t>
            </a:r>
          </a:p>
        </p:txBody>
      </p:sp>
    </p:spTree>
    <p:extLst>
      <p:ext uri="{BB962C8B-B14F-4D97-AF65-F5344CB8AC3E}">
        <p14:creationId xmlns:p14="http://schemas.microsoft.com/office/powerpoint/2010/main" val="1437518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45A1DA-203A-4AD6-9193-48F823719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Do While Control Structure: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A75BC9-B6E7-44D0-9D1A-F6500F6E6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in pseudocode and flowchart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add numbers until a user enters the number zero</a:t>
            </a: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Use do … while loop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873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08F68F-B520-406C-83D8-B034FAFFC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79905A-3A7C-4FF2-9249-FCCB6D2A1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331" y="1845734"/>
            <a:ext cx="11436626" cy="402336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3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A FOR loop is a loop that repeats a specified number of times.</a:t>
            </a:r>
          </a:p>
          <a:p>
            <a:pPr>
              <a:lnSpc>
                <a:spcPct val="200000"/>
              </a:lnSpc>
            </a:pPr>
            <a:r>
              <a:rPr lang="en-US" sz="30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•The loop uses a counter to tell it how many times to run the same sequence of activities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829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7BBD64-8E7C-424A-97EC-7CE4D8AA1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31DA850-35A0-4DE8-AEBB-2309A09A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counter has the following three numeric values:</a:t>
            </a:r>
          </a:p>
          <a:p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counter value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Increment(the amount to add to the counter each time the loop runs)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counter value</a:t>
            </a:r>
          </a:p>
          <a:p>
            <a:pPr marL="0" indent="0">
              <a:buNone/>
            </a:pPr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•The loop ends when the counter reaches the final counter value, or, if there is an associated test condition, when the test condition is true.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664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00DABE-8CE2-405F-A1DE-86D495374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: Flow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AB2D5415-D94D-4499-9112-D113F7576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017" t="27238" r="33196" b="10499"/>
          <a:stretch/>
        </p:blipFill>
        <p:spPr>
          <a:xfrm>
            <a:off x="2650436" y="1794422"/>
            <a:ext cx="8362121" cy="4776975"/>
          </a:xfrm>
        </p:spPr>
      </p:pic>
    </p:spTree>
    <p:extLst>
      <p:ext uri="{BB962C8B-B14F-4D97-AF65-F5344CB8AC3E}">
        <p14:creationId xmlns:p14="http://schemas.microsoft.com/office/powerpoint/2010/main" val="2806328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0A8996-D212-43B7-9346-C77B5AE72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Loop: Pseudocode 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E6C6FA-4970-4C46-885E-E6F9BB2F0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in pseudocode and flowchart to Find Sum of Natural Numbers (1 to 100). </a:t>
            </a:r>
            <a:endParaRPr lang="en-US" b="1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CBC2215F-F7C3-4B6C-BCCF-D0C7304635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616020"/>
              </p:ext>
            </p:extLst>
          </p:nvPr>
        </p:nvGraphicFramePr>
        <p:xfrm>
          <a:off x="1096963" y="2440304"/>
          <a:ext cx="10058400" cy="3931920"/>
        </p:xfrm>
        <a:graphic>
          <a:graphicData uri="http://schemas.openxmlformats.org/drawingml/2006/table">
            <a:tbl>
              <a:tblPr/>
              <a:tblGrid>
                <a:gridCol w="493298">
                  <a:extLst>
                    <a:ext uri="{9D8B030D-6E8A-4147-A177-3AD203B41FA5}">
                      <a16:colId xmlns:a16="http://schemas.microsoft.com/office/drawing/2014/main" xmlns="" val="1885314932"/>
                    </a:ext>
                  </a:extLst>
                </a:gridCol>
                <a:gridCol w="9565102">
                  <a:extLst>
                    <a:ext uri="{9D8B030D-6E8A-4147-A177-3AD203B41FA5}">
                      <a16:colId xmlns:a16="http://schemas.microsoft.com/office/drawing/2014/main" xmlns="" val="3912967779"/>
                    </a:ext>
                  </a:extLst>
                </a:gridCol>
              </a:tblGrid>
              <a:tr h="3428789">
                <a:tc>
                  <a:txBody>
                    <a:bodyPr/>
                    <a:lstStyle/>
                    <a:p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</a:t>
                      </a:r>
                      <a:r>
                        <a:rPr lang="en-US" b="1" dirty="0"/>
                        <a:t>Pseudocode For Loop Example)</a:t>
                      </a:r>
                    </a:p>
                    <a:p>
                      <a:endParaRPr lang="en-US" dirty="0">
                        <a:effectLst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400" dirty="0">
                          <a:effectLst/>
                        </a:rPr>
                        <a:t>BEGIN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400" dirty="0">
                          <a:effectLst/>
                        </a:rPr>
                        <a:t>counter, sum=0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400" dirty="0">
                          <a:effectLst/>
                        </a:rPr>
                        <a:t>FOR counter=1 TO 100 STEP 1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400" dirty="0">
                          <a:effectLst/>
                        </a:rPr>
                        <a:t> DO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400" dirty="0">
                          <a:effectLst/>
                        </a:rPr>
                        <a:t>     sum=</a:t>
                      </a:r>
                      <a:r>
                        <a:rPr lang="en-US" sz="2400" dirty="0" err="1">
                          <a:effectLst/>
                        </a:rPr>
                        <a:t>sum+counter</a:t>
                      </a:r>
                      <a:endParaRPr lang="en-US" sz="2400" dirty="0">
                        <a:effectLst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400" dirty="0">
                          <a:effectLst/>
                        </a:rPr>
                        <a:t>ENDFOR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en-US" sz="2400" dirty="0">
                        <a:effectLst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400" dirty="0">
                          <a:effectLst/>
                        </a:rPr>
                        <a:t>OUTPUT sum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400" dirty="0">
                          <a:effectLst/>
                        </a:rPr>
                        <a:t>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4197109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xmlns="" id="{384D156C-7419-4764-98C8-C809D814572A}"/>
              </a:ext>
            </a:extLst>
          </p:cNvPr>
          <p:cNvSpPr/>
          <p:nvPr/>
        </p:nvSpPr>
        <p:spPr>
          <a:xfrm>
            <a:off x="5433391" y="3949064"/>
            <a:ext cx="4465983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Draw the flow chart</a:t>
            </a:r>
          </a:p>
        </p:txBody>
      </p:sp>
    </p:spTree>
    <p:extLst>
      <p:ext uri="{BB962C8B-B14F-4D97-AF65-F5344CB8AC3E}">
        <p14:creationId xmlns:p14="http://schemas.microsoft.com/office/powerpoint/2010/main" val="27624602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B1AADD-6D03-4AB5-A368-7C9203CD7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Loop: Pseudocode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AC475D-0151-4C13-8424-B98FAC7A4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in pseudocode and flowchart to Read 50 numbers and find their sum and average. </a:t>
            </a:r>
            <a:r>
              <a:rPr lang="en-US" b="1" dirty="0"/>
              <a:t>)</a:t>
            </a:r>
          </a:p>
          <a:p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E383424A-D09E-465C-B38B-656F89F3A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531965"/>
              </p:ext>
            </p:extLst>
          </p:nvPr>
        </p:nvGraphicFramePr>
        <p:xfrm>
          <a:off x="1066800" y="2440094"/>
          <a:ext cx="10058400" cy="4450080"/>
        </p:xfrm>
        <a:graphic>
          <a:graphicData uri="http://schemas.openxmlformats.org/drawingml/2006/table">
            <a:tbl>
              <a:tblPr/>
              <a:tblGrid>
                <a:gridCol w="625820">
                  <a:extLst>
                    <a:ext uri="{9D8B030D-6E8A-4147-A177-3AD203B41FA5}">
                      <a16:colId xmlns:a16="http://schemas.microsoft.com/office/drawing/2014/main" xmlns="" val="1091677295"/>
                    </a:ext>
                  </a:extLst>
                </a:gridCol>
                <a:gridCol w="9432580">
                  <a:extLst>
                    <a:ext uri="{9D8B030D-6E8A-4147-A177-3AD203B41FA5}">
                      <a16:colId xmlns:a16="http://schemas.microsoft.com/office/drawing/2014/main" xmlns="" val="38091540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</a:t>
                      </a:r>
                      <a:r>
                        <a:rPr lang="en-US" b="1" dirty="0"/>
                        <a:t>Pseudocode For Loop Example</a:t>
                      </a:r>
                    </a:p>
                    <a:p>
                      <a:endParaRPr lang="en-US" b="1" dirty="0">
                        <a:effectLst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500" dirty="0">
                          <a:effectLst/>
                        </a:rPr>
                        <a:t>BEGIN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500" dirty="0">
                          <a:effectLst/>
                        </a:rPr>
                        <a:t>NUMBER counter, sum=0, num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500" dirty="0">
                          <a:effectLst/>
                        </a:rPr>
                        <a:t>FOR counter=1 TO 50 STEP 1 DO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500" dirty="0">
                          <a:effectLst/>
                        </a:rPr>
                        <a:t>     OUTPUT "Enter a Number"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500" dirty="0">
                          <a:effectLst/>
                        </a:rPr>
                        <a:t>     INPUT num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500" dirty="0">
                          <a:effectLst/>
                        </a:rPr>
                        <a:t>     sum=</a:t>
                      </a:r>
                      <a:r>
                        <a:rPr lang="en-US" sz="2500" dirty="0" err="1">
                          <a:effectLst/>
                        </a:rPr>
                        <a:t>sum+num</a:t>
                      </a:r>
                      <a:endParaRPr lang="en-US" sz="2500" dirty="0">
                        <a:effectLst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500" dirty="0">
                          <a:effectLst/>
                        </a:rPr>
                        <a:t>ENDFOR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500" dirty="0">
                          <a:effectLst/>
                        </a:rPr>
                        <a:t> 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500" dirty="0">
                          <a:effectLst/>
                        </a:rPr>
                        <a:t>OUTPUT sum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2500" dirty="0">
                          <a:effectLst/>
                        </a:rPr>
                        <a:t>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136940228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xmlns="" id="{E8AB7CA2-B5D4-45D8-8967-4B57CEC81023}"/>
              </a:ext>
            </a:extLst>
          </p:cNvPr>
          <p:cNvSpPr/>
          <p:nvPr/>
        </p:nvSpPr>
        <p:spPr>
          <a:xfrm>
            <a:off x="5777947" y="4412975"/>
            <a:ext cx="4465983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Draw the flow chart</a:t>
            </a:r>
          </a:p>
        </p:txBody>
      </p:sp>
    </p:spTree>
    <p:extLst>
      <p:ext uri="{BB962C8B-B14F-4D97-AF65-F5344CB8AC3E}">
        <p14:creationId xmlns:p14="http://schemas.microsoft.com/office/powerpoint/2010/main" val="659528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DA485D-8D81-4635-AD42-E003B39B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Loop: Pseudocode 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B47237-00A9-490C-AB9B-F08C56D84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in pseudocode and flowchart to Print Numbers from 1 to n. </a:t>
            </a:r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10EE87CD-ECCD-4349-A490-3622424FF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083130"/>
              </p:ext>
            </p:extLst>
          </p:nvPr>
        </p:nvGraphicFramePr>
        <p:xfrm>
          <a:off x="1096963" y="2213113"/>
          <a:ext cx="10058400" cy="4707752"/>
        </p:xfrm>
        <a:graphic>
          <a:graphicData uri="http://schemas.openxmlformats.org/drawingml/2006/table">
            <a:tbl>
              <a:tblPr/>
              <a:tblGrid>
                <a:gridCol w="493298">
                  <a:extLst>
                    <a:ext uri="{9D8B030D-6E8A-4147-A177-3AD203B41FA5}">
                      <a16:colId xmlns:a16="http://schemas.microsoft.com/office/drawing/2014/main" xmlns="" val="2741590780"/>
                    </a:ext>
                  </a:extLst>
                </a:gridCol>
                <a:gridCol w="9565102">
                  <a:extLst>
                    <a:ext uri="{9D8B030D-6E8A-4147-A177-3AD203B41FA5}">
                      <a16:colId xmlns:a16="http://schemas.microsoft.com/office/drawing/2014/main" xmlns="" val="4132927750"/>
                    </a:ext>
                  </a:extLst>
                </a:gridCol>
              </a:tblGrid>
              <a:tr h="4707752">
                <a:tc>
                  <a:txBody>
                    <a:bodyPr/>
                    <a:lstStyle/>
                    <a:p>
                      <a:endParaRPr lang="en-US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sz="3000" dirty="0"/>
                        <a:t>(</a:t>
                      </a:r>
                      <a:r>
                        <a:rPr lang="en-US" sz="3000" b="1" dirty="0"/>
                        <a:t>Pseudocode For Loop )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3000" dirty="0">
                          <a:effectLst/>
                        </a:rPr>
                        <a:t>BEGIN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3000" dirty="0">
                          <a:effectLst/>
                        </a:rPr>
                        <a:t>NUMBER </a:t>
                      </a:r>
                      <a:r>
                        <a:rPr lang="en-US" sz="3000" dirty="0" err="1">
                          <a:effectLst/>
                        </a:rPr>
                        <a:t>counter,n</a:t>
                      </a:r>
                      <a:endParaRPr lang="en-US" sz="3000" dirty="0">
                        <a:effectLst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3000" dirty="0">
                          <a:effectLst/>
                        </a:rPr>
                        <a:t>INPUT n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3000" dirty="0">
                          <a:effectLst/>
                        </a:rPr>
                        <a:t>FOR  counter = 1 TO  n STEP 1 DO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3000" dirty="0">
                          <a:effectLst/>
                        </a:rPr>
                        <a:t>     OUTPUT counter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3000" dirty="0">
                          <a:effectLst/>
                        </a:rPr>
                        <a:t>ENDFOR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3000" dirty="0">
                          <a:effectLst/>
                        </a:rPr>
                        <a:t> 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US" sz="3000" dirty="0">
                          <a:effectLst/>
                        </a:rPr>
                        <a:t>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22653642"/>
                  </a:ext>
                </a:extLst>
              </a:tr>
            </a:tbl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xmlns="" id="{F58F7490-7C8A-4838-AE79-502A72602A31}"/>
              </a:ext>
            </a:extLst>
          </p:cNvPr>
          <p:cNvSpPr/>
          <p:nvPr/>
        </p:nvSpPr>
        <p:spPr>
          <a:xfrm>
            <a:off x="5300869" y="3429000"/>
            <a:ext cx="4465983" cy="914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Draw the flow chart</a:t>
            </a:r>
          </a:p>
        </p:txBody>
      </p:sp>
    </p:spTree>
    <p:extLst>
      <p:ext uri="{BB962C8B-B14F-4D97-AF65-F5344CB8AC3E}">
        <p14:creationId xmlns:p14="http://schemas.microsoft.com/office/powerpoint/2010/main" val="40272497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A57ECD-A610-4402-96FB-8CB145F42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370" y="222210"/>
            <a:ext cx="10058400" cy="705070"/>
          </a:xfrm>
        </p:spPr>
        <p:txBody>
          <a:bodyPr>
            <a:normAutofit fontScale="90000"/>
          </a:bodyPr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6B4F65A-199A-48A5-BAD7-62F0D404C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357" y="1184856"/>
            <a:ext cx="11423373" cy="4468969"/>
          </a:xfrm>
        </p:spPr>
        <p:txBody>
          <a:bodyPr>
            <a:normAutofit/>
          </a:bodyPr>
          <a:lstStyle/>
          <a:p>
            <a:r>
              <a:rPr lang="en-US" sz="3200" dirty="0"/>
              <a:t>1. Write a program in pseudocode and flow chart to Read 10 numbers and find sum of even numbers. Tip: Use the modulus symbol</a:t>
            </a:r>
          </a:p>
          <a:p>
            <a:endParaRPr lang="en-US" sz="3200" dirty="0"/>
          </a:p>
          <a:p>
            <a:r>
              <a:rPr lang="en-US" sz="3200" dirty="0"/>
              <a:t>2. Write a program in pseudocode and flow chart to Calculate the Sum and Average of n Number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748157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759854"/>
            <a:ext cx="10058400" cy="5109240"/>
          </a:xfrm>
        </p:spPr>
        <p:txBody>
          <a:bodyPr/>
          <a:lstStyle/>
          <a:p>
            <a:endParaRPr lang="en-US" dirty="0" smtClean="0"/>
          </a:p>
          <a:p>
            <a:r>
              <a:rPr lang="en-US" sz="2800" dirty="0" smtClean="0"/>
              <a:t>3</a:t>
            </a:r>
            <a:r>
              <a:rPr lang="en-US" sz="2800" dirty="0"/>
              <a:t>. Design the algorithm and flowchart that finds and display the larger of the two numbers given different from each other.</a:t>
            </a:r>
          </a:p>
          <a:p>
            <a:endParaRPr lang="en-US" sz="2800" dirty="0"/>
          </a:p>
          <a:p>
            <a:r>
              <a:rPr lang="en-US" sz="2800" dirty="0"/>
              <a:t>4. The voltage (V) between the poles of a conductor is equal to the product of the current (I) passing through the conductor and the resistance (R) present on the conductor. It’s demonstrated by the V = I * R formula. Write an algorithm using </a:t>
            </a:r>
            <a:r>
              <a:rPr lang="en-US" sz="2800" dirty="0" err="1"/>
              <a:t>pseudocode</a:t>
            </a:r>
            <a:r>
              <a:rPr lang="en-US" sz="2800" dirty="0"/>
              <a:t> and flowcharts to calculate the voltage between the poles of the conductor by using the formula according to the current and resistance values entered by the user.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5165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994</TotalTime>
  <Words>1427</Words>
  <Application>Microsoft Office PowerPoint</Application>
  <PresentationFormat>Widescreen</PresentationFormat>
  <Paragraphs>254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 Unicode MS</vt:lpstr>
      <vt:lpstr>Arial</vt:lpstr>
      <vt:lpstr>Calibri</vt:lpstr>
      <vt:lpstr>Calibri Light</vt:lpstr>
      <vt:lpstr>Courier New</vt:lpstr>
      <vt:lpstr>Tahoma</vt:lpstr>
      <vt:lpstr>Times New Roman</vt:lpstr>
      <vt:lpstr>Trebuchet MS</vt:lpstr>
      <vt:lpstr>Wingdings</vt:lpstr>
      <vt:lpstr>Retrospect</vt:lpstr>
      <vt:lpstr>FLOWCHARTS</vt:lpstr>
      <vt:lpstr>Control structures</vt:lpstr>
      <vt:lpstr> Selection Control Structures</vt:lpstr>
      <vt:lpstr>Selection Control Structures explained</vt:lpstr>
      <vt:lpstr>Flowchart for the if statement</vt:lpstr>
      <vt:lpstr>The If Selection Structure</vt:lpstr>
      <vt:lpstr>Exercise on If Selection</vt:lpstr>
      <vt:lpstr>The If … else selection structure</vt:lpstr>
      <vt:lpstr>Flowchart for the if-else statement</vt:lpstr>
      <vt:lpstr>The If … else selection structure</vt:lpstr>
      <vt:lpstr>Nested if …else Statement</vt:lpstr>
      <vt:lpstr>PowerPoint Presentation</vt:lpstr>
      <vt:lpstr>      Repetition Control Structures</vt:lpstr>
      <vt:lpstr>While loop</vt:lpstr>
      <vt:lpstr>While Control Structure (Loop)</vt:lpstr>
      <vt:lpstr>The while loop</vt:lpstr>
      <vt:lpstr>Flowchart for the while loop</vt:lpstr>
      <vt:lpstr>Exercise: Write a program using a while loop that prints “I love computers” five (5) times</vt:lpstr>
      <vt:lpstr>Exercise</vt:lpstr>
      <vt:lpstr>Do…While Control Structure (Loop)</vt:lpstr>
      <vt:lpstr>The Do While Control Structure</vt:lpstr>
      <vt:lpstr>The Do While Control Structure</vt:lpstr>
      <vt:lpstr>Do ….While Example</vt:lpstr>
      <vt:lpstr>The Do While Control Structure: Example</vt:lpstr>
      <vt:lpstr>For Loop</vt:lpstr>
      <vt:lpstr>For Loop</vt:lpstr>
      <vt:lpstr>For Loop : Flow chart</vt:lpstr>
      <vt:lpstr>For Loop: Pseudocode Example 1</vt:lpstr>
      <vt:lpstr>For Loop: Pseudocode Example 2</vt:lpstr>
      <vt:lpstr>For Loop: Pseudocode Example 3</vt:lpstr>
      <vt:lpstr>Exercises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Pseudocode</dc:title>
  <dc:creator>ROSY</dc:creator>
  <cp:lastModifiedBy>PABBI</cp:lastModifiedBy>
  <cp:revision>230</cp:revision>
  <dcterms:created xsi:type="dcterms:W3CDTF">2021-06-20T11:07:29Z</dcterms:created>
  <dcterms:modified xsi:type="dcterms:W3CDTF">2022-06-26T18:09:42Z</dcterms:modified>
</cp:coreProperties>
</file>