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1"/>
  </p:notesMasterIdLst>
  <p:sldIdLst>
    <p:sldId id="298" r:id="rId2"/>
    <p:sldId id="299" r:id="rId3"/>
    <p:sldId id="304" r:id="rId4"/>
    <p:sldId id="305" r:id="rId5"/>
    <p:sldId id="306" r:id="rId6"/>
    <p:sldId id="307" r:id="rId7"/>
    <p:sldId id="308" r:id="rId8"/>
    <p:sldId id="300" r:id="rId9"/>
    <p:sldId id="301" r:id="rId10"/>
    <p:sldId id="302" r:id="rId11"/>
    <p:sldId id="309" r:id="rId12"/>
    <p:sldId id="310" r:id="rId13"/>
    <p:sldId id="311" r:id="rId14"/>
    <p:sldId id="312" r:id="rId15"/>
    <p:sldId id="256" r:id="rId16"/>
    <p:sldId id="257" r:id="rId17"/>
    <p:sldId id="258" r:id="rId18"/>
    <p:sldId id="259" r:id="rId19"/>
    <p:sldId id="260" r:id="rId20"/>
    <p:sldId id="261" r:id="rId21"/>
    <p:sldId id="262" r:id="rId22"/>
    <p:sldId id="263" r:id="rId23"/>
    <p:sldId id="264" r:id="rId24"/>
    <p:sldId id="265" r:id="rId25"/>
    <p:sldId id="266"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93" r:id="rId41"/>
    <p:sldId id="286" r:id="rId42"/>
    <p:sldId id="287" r:id="rId43"/>
    <p:sldId id="288" r:id="rId44"/>
    <p:sldId id="289" r:id="rId45"/>
    <p:sldId id="290" r:id="rId46"/>
    <p:sldId id="294" r:id="rId47"/>
    <p:sldId id="295" r:id="rId48"/>
    <p:sldId id="296" r:id="rId49"/>
    <p:sldId id="297"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74" d="100"/>
          <a:sy n="74" d="100"/>
        </p:scale>
        <p:origin x="3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9C8CA6-FF55-43A2-95B9-317D9DAFF782}" type="datetimeFigureOut">
              <a:rPr lang="en-US" smtClean="0"/>
              <a:t>6/26/2022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E11FAD-AED7-4AD2-9CF8-C93385A066C2}" type="slidenum">
              <a:rPr lang="en-US" smtClean="0"/>
              <a:t>‹#›</a:t>
            </a:fld>
            <a:endParaRPr lang="en-US"/>
          </a:p>
        </p:txBody>
      </p:sp>
    </p:spTree>
    <p:extLst>
      <p:ext uri="{BB962C8B-B14F-4D97-AF65-F5344CB8AC3E}">
        <p14:creationId xmlns:p14="http://schemas.microsoft.com/office/powerpoint/2010/main" val="4140437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EB9D133-8C43-4B2E-8E89-7EA7F7E3FB6E}" type="slidenum">
              <a:rPr kumimoji="0" lang="en-US" altLang="en-US" smtClean="0"/>
              <a:pPr>
                <a:spcBef>
                  <a:spcPct val="0"/>
                </a:spcBef>
              </a:pPr>
              <a:t>3</a:t>
            </a:fld>
            <a:endParaRPr kumimoji="0" lang="en-US" altLang="en-US" smtClean="0"/>
          </a:p>
        </p:txBody>
      </p:sp>
    </p:spTree>
    <p:extLst>
      <p:ext uri="{BB962C8B-B14F-4D97-AF65-F5344CB8AC3E}">
        <p14:creationId xmlns:p14="http://schemas.microsoft.com/office/powerpoint/2010/main" val="2149930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890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93EEE16-1635-4698-9233-E31F1F5BFC99}" type="slidenum">
              <a:rPr kumimoji="0" lang="en-US" altLang="en-US" smtClean="0"/>
              <a:pPr>
                <a:spcBef>
                  <a:spcPct val="0"/>
                </a:spcBef>
              </a:pPr>
              <a:t>4</a:t>
            </a:fld>
            <a:endParaRPr kumimoji="0" lang="en-US" altLang="en-US" smtClean="0"/>
          </a:p>
        </p:txBody>
      </p:sp>
    </p:spTree>
    <p:extLst>
      <p:ext uri="{BB962C8B-B14F-4D97-AF65-F5344CB8AC3E}">
        <p14:creationId xmlns:p14="http://schemas.microsoft.com/office/powerpoint/2010/main" val="3464232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21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1BED6FC-1C83-45F3-8C6D-5FB66AC596C4}" type="slidenum">
              <a:rPr kumimoji="0" lang="en-US" altLang="en-US" smtClean="0"/>
              <a:pPr>
                <a:spcBef>
                  <a:spcPct val="0"/>
                </a:spcBef>
              </a:pPr>
              <a:t>6</a:t>
            </a:fld>
            <a:endParaRPr kumimoji="0" lang="en-US" altLang="en-US" smtClean="0"/>
          </a:p>
        </p:txBody>
      </p:sp>
    </p:spTree>
    <p:extLst>
      <p:ext uri="{BB962C8B-B14F-4D97-AF65-F5344CB8AC3E}">
        <p14:creationId xmlns:p14="http://schemas.microsoft.com/office/powerpoint/2010/main" val="2576100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42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16731DE-2FE7-42BA-8326-30D57A803472}" type="slidenum">
              <a:rPr kumimoji="0" lang="en-US" altLang="en-US" smtClean="0"/>
              <a:pPr>
                <a:spcBef>
                  <a:spcPct val="0"/>
                </a:spcBef>
              </a:pPr>
              <a:t>7</a:t>
            </a:fld>
            <a:endParaRPr kumimoji="0" lang="en-US" altLang="en-US" smtClean="0"/>
          </a:p>
        </p:txBody>
      </p:sp>
    </p:spTree>
    <p:extLst>
      <p:ext uri="{BB962C8B-B14F-4D97-AF65-F5344CB8AC3E}">
        <p14:creationId xmlns:p14="http://schemas.microsoft.com/office/powerpoint/2010/main" val="248994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2C071C7-7829-4949-89A5-7759B50D1A76}" type="slidenum">
              <a:rPr kumimoji="0" lang="en-US" altLang="en-US" smtClean="0"/>
              <a:pPr>
                <a:spcBef>
                  <a:spcPct val="0"/>
                </a:spcBef>
              </a:pPr>
              <a:t>11</a:t>
            </a:fld>
            <a:endParaRPr kumimoji="0" lang="en-US" altLang="en-US" smtClean="0"/>
          </a:p>
        </p:txBody>
      </p:sp>
    </p:spTree>
    <p:extLst>
      <p:ext uri="{BB962C8B-B14F-4D97-AF65-F5344CB8AC3E}">
        <p14:creationId xmlns:p14="http://schemas.microsoft.com/office/powerpoint/2010/main" val="2293404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64749E2-4252-478A-BFF3-8656DD8FDE88}" type="slidenum">
              <a:rPr kumimoji="0" lang="en-US" altLang="en-US" smtClean="0"/>
              <a:pPr>
                <a:spcBef>
                  <a:spcPct val="0"/>
                </a:spcBef>
              </a:pPr>
              <a:t>12</a:t>
            </a:fld>
            <a:endParaRPr kumimoji="0" lang="en-US" altLang="en-US" smtClean="0"/>
          </a:p>
        </p:txBody>
      </p:sp>
    </p:spTree>
    <p:extLst>
      <p:ext uri="{BB962C8B-B14F-4D97-AF65-F5344CB8AC3E}">
        <p14:creationId xmlns:p14="http://schemas.microsoft.com/office/powerpoint/2010/main" val="1589402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0CFBE8B-BB38-44AB-8A0F-C4872705C243}" type="slidenum">
              <a:rPr kumimoji="0" lang="en-US" altLang="en-US" smtClean="0"/>
              <a:pPr>
                <a:spcBef>
                  <a:spcPct val="0"/>
                </a:spcBef>
              </a:pPr>
              <a:t>14</a:t>
            </a:fld>
            <a:endParaRPr kumimoji="0" lang="en-US" altLang="en-US" smtClean="0"/>
          </a:p>
        </p:txBody>
      </p:sp>
    </p:spTree>
    <p:extLst>
      <p:ext uri="{BB962C8B-B14F-4D97-AF65-F5344CB8AC3E}">
        <p14:creationId xmlns:p14="http://schemas.microsoft.com/office/powerpoint/2010/main" val="582799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F26857-3C49-4201-AFD6-FE110CE5DD66}"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445368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F26857-3C49-4201-AFD6-FE110CE5DD66}"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809896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F26857-3C49-4201-AFD6-FE110CE5DD66}"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1757128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F26857-3C49-4201-AFD6-FE110CE5DD66}" type="datetimeFigureOut">
              <a:rPr lang="en-GB" smtClean="0"/>
              <a:t>26/06/2022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607942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F26857-3C49-4201-AFD6-FE110CE5DD66}" type="datetimeFigureOut">
              <a:rPr lang="en-GB" smtClean="0"/>
              <a:t>26/06/2022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2148402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F26857-3C49-4201-AFD6-FE110CE5DD66}" type="datetimeFigureOut">
              <a:rPr lang="en-GB" smtClean="0"/>
              <a:t>26/06/2022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3370646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F26857-3C49-4201-AFD6-FE110CE5DD66}" type="datetimeFigureOut">
              <a:rPr lang="en-GB" smtClean="0"/>
              <a:t>26/06/2022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2396571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EF26857-3C49-4201-AFD6-FE110CE5DD66}" type="datetimeFigureOut">
              <a:rPr lang="en-GB" smtClean="0"/>
              <a:t>26/06/2022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3644962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EF26857-3C49-4201-AFD6-FE110CE5DD66}" type="datetimeFigureOut">
              <a:rPr lang="en-GB" smtClean="0"/>
              <a:t>26/06/2022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211421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F26857-3C49-4201-AFD6-FE110CE5DD66}"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3527717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F26857-3C49-4201-AFD6-FE110CE5DD66}"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991ED3-6A58-4FF5-9EF2-68803998A430}" type="slidenum">
              <a:rPr lang="en-GB" smtClean="0"/>
              <a:t>‹#›</a:t>
            </a:fld>
            <a:endParaRPr lang="en-GB"/>
          </a:p>
        </p:txBody>
      </p:sp>
    </p:spTree>
    <p:extLst>
      <p:ext uri="{BB962C8B-B14F-4D97-AF65-F5344CB8AC3E}">
        <p14:creationId xmlns:p14="http://schemas.microsoft.com/office/powerpoint/2010/main" val="3191584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Rectangle 2"/>
          <p:cNvSpPr/>
          <p:nvPr userDrawn="1"/>
        </p:nvSpPr>
        <p:spPr>
          <a:xfrm flipV="1">
            <a:off x="1985" y="1"/>
            <a:ext cx="12192000" cy="2497593"/>
          </a:xfrm>
          <a:prstGeom prst="rect">
            <a:avLst/>
          </a:prstGeom>
          <a:gradFill flip="none" rotWithShape="1">
            <a:gsLst>
              <a:gs pos="0">
                <a:srgbClr val="B2BFBE">
                  <a:alpha val="61000"/>
                </a:srgbClr>
              </a:gs>
              <a:gs pos="85000">
                <a:srgbClr val="FFFFFF"/>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sz="1800"/>
          </a:p>
        </p:txBody>
      </p:sp>
      <p:sp>
        <p:nvSpPr>
          <p:cNvPr id="4" name="Slide Number Placeholder 2"/>
          <p:cNvSpPr txBox="1">
            <a:spLocks/>
          </p:cNvSpPr>
          <p:nvPr userDrawn="1"/>
        </p:nvSpPr>
        <p:spPr>
          <a:xfrm>
            <a:off x="8961968" y="6483351"/>
            <a:ext cx="3215217" cy="365125"/>
          </a:xfrm>
          <a:prstGeom prst="rect">
            <a:avLst/>
          </a:prstGeom>
        </p:spPr>
        <p:txBody>
          <a:bodyPr anchor="b"/>
          <a:lstStyle>
            <a:lvl1pPr defTabSz="457200">
              <a:defRPr sz="2400">
                <a:solidFill>
                  <a:schemeClr val="tx1"/>
                </a:solidFill>
                <a:latin typeface="Times New Roman" panose="02020603050405020304" pitchFamily="18" charset="0"/>
              </a:defRPr>
            </a:lvl1pPr>
            <a:lvl2pPr marL="742950" indent="-285750" defTabSz="457200">
              <a:defRPr sz="2400">
                <a:solidFill>
                  <a:schemeClr val="tx1"/>
                </a:solidFill>
                <a:latin typeface="Times New Roman" panose="02020603050405020304" pitchFamily="18" charset="0"/>
              </a:defRPr>
            </a:lvl2pPr>
            <a:lvl3pPr marL="1143000" indent="-228600" defTabSz="457200">
              <a:defRPr sz="2400">
                <a:solidFill>
                  <a:schemeClr val="tx1"/>
                </a:solidFill>
                <a:latin typeface="Times New Roman" panose="02020603050405020304" pitchFamily="18" charset="0"/>
              </a:defRPr>
            </a:lvl3pPr>
            <a:lvl4pPr marL="1600200" indent="-228600" defTabSz="457200">
              <a:defRPr sz="2400">
                <a:solidFill>
                  <a:schemeClr val="tx1"/>
                </a:solidFill>
                <a:latin typeface="Times New Roman" panose="02020603050405020304" pitchFamily="18" charset="0"/>
              </a:defRPr>
            </a:lvl4pPr>
            <a:lvl5pPr marL="2057400" indent="-228600" defTabSz="457200">
              <a:defRPr sz="2400">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defRPr/>
            </a:pPr>
            <a:fld id="{DC618DE8-3C8D-4589-9811-92EAB59466DE}" type="slidenum">
              <a:rPr lang="en-US" altLang="en-US" sz="1200" b="1" smtClean="0">
                <a:solidFill>
                  <a:srgbClr val="000000"/>
                </a:solidFill>
                <a:latin typeface="Calibri" panose="020F0502020204030204" pitchFamily="34" charset="0"/>
              </a:rPr>
              <a:pPr algn="r" eaLnBrk="1" hangingPunct="1">
                <a:defRPr/>
              </a:pPr>
              <a:t>‹#›</a:t>
            </a:fld>
            <a:endParaRPr lang="en-US" altLang="en-US" sz="1200" b="1" smtClean="0">
              <a:solidFill>
                <a:srgbClr val="000000"/>
              </a:solidFill>
              <a:latin typeface="Calibri" panose="020F0502020204030204" pitchFamily="34" charset="0"/>
            </a:endParaRPr>
          </a:p>
        </p:txBody>
      </p:sp>
      <p:sp>
        <p:nvSpPr>
          <p:cNvPr id="5" name="Footer Placeholder 1"/>
          <p:cNvSpPr txBox="1">
            <a:spLocks/>
          </p:cNvSpPr>
          <p:nvPr userDrawn="1"/>
        </p:nvSpPr>
        <p:spPr>
          <a:xfrm>
            <a:off x="1" y="6592888"/>
            <a:ext cx="8961967"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r>
              <a:rPr lang="en-US" sz="700" kern="700" spc="50" smtClean="0">
                <a:latin typeface="Arial Narrow"/>
                <a:cs typeface="Arial Narrow"/>
              </a:rPr>
              <a:t>Copyright ©2016 Cengage Learning. All Rights Reserved. May not be scanned, copied or duplicated, or posted to a publicly accessible website, in whole or in part. </a:t>
            </a:r>
            <a:endParaRPr lang="en-US" sz="700" kern="700" spc="50">
              <a:latin typeface="Arial Narrow"/>
              <a:cs typeface="Arial Narrow"/>
            </a:endParaRPr>
          </a:p>
        </p:txBody>
      </p:sp>
      <p:sp>
        <p:nvSpPr>
          <p:cNvPr id="6" name="Slide Number Placeholder 2"/>
          <p:cNvSpPr txBox="1">
            <a:spLocks/>
          </p:cNvSpPr>
          <p:nvPr userDrawn="1"/>
        </p:nvSpPr>
        <p:spPr>
          <a:xfrm>
            <a:off x="10253134" y="6483351"/>
            <a:ext cx="1502833" cy="365125"/>
          </a:xfrm>
          <a:prstGeom prst="rect">
            <a:avLst/>
          </a:prstGeom>
        </p:spPr>
        <p:txBody>
          <a:bodyPr anchor="b"/>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dirty="0" smtClean="0">
                <a:solidFill>
                  <a:srgbClr val="000000"/>
                </a:solidFill>
              </a:rPr>
              <a:t>MIS6| CH7</a:t>
            </a:r>
            <a:endParaRPr lang="en-US" sz="1200" b="1" dirty="0">
              <a:solidFill>
                <a:srgbClr val="000000"/>
              </a:solidFill>
            </a:endParaRPr>
          </a:p>
        </p:txBody>
      </p:sp>
      <p:sp>
        <p:nvSpPr>
          <p:cNvPr id="7" name="Rectangle 6"/>
          <p:cNvSpPr/>
          <p:nvPr userDrawn="1"/>
        </p:nvSpPr>
        <p:spPr>
          <a:xfrm>
            <a:off x="1" y="368300"/>
            <a:ext cx="3467100" cy="58420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sz="1800"/>
          </a:p>
        </p:txBody>
      </p:sp>
      <p:sp>
        <p:nvSpPr>
          <p:cNvPr id="8" name="TextBox 7"/>
          <p:cNvSpPr txBox="1">
            <a:spLocks noChangeArrowheads="1"/>
          </p:cNvSpPr>
          <p:nvPr userDrawn="1"/>
        </p:nvSpPr>
        <p:spPr bwMode="auto">
          <a:xfrm>
            <a:off x="2118" y="368300"/>
            <a:ext cx="193463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eaLnBrk="1" hangingPunct="1">
              <a:defRPr/>
            </a:pPr>
            <a:r>
              <a:rPr lang="en-US" altLang="en-US" sz="3200" b="1" dirty="0" smtClean="0">
                <a:solidFill>
                  <a:schemeClr val="bg1"/>
                </a:solidFill>
                <a:latin typeface="Franklin Gothic Medium" pitchFamily="34" charset="0"/>
                <a:ea typeface="Franklin Gothic Medium" pitchFamily="34" charset="0"/>
                <a:cs typeface="Franklin Gothic Medium" pitchFamily="34" charset="0"/>
              </a:rPr>
              <a:t>Exhibit</a:t>
            </a:r>
            <a:endParaRPr lang="en-US" altLang="en-US" sz="3200" b="1" i="1" dirty="0" smtClean="0">
              <a:solidFill>
                <a:schemeClr val="bg1"/>
              </a:solidFill>
              <a:latin typeface="Franklin Gothic Medium" pitchFamily="34" charset="0"/>
              <a:ea typeface="Franklin Gothic Medium" pitchFamily="34" charset="0"/>
              <a:cs typeface="Franklin Gothic Medium" pitchFamily="34" charset="0"/>
            </a:endParaRPr>
          </a:p>
        </p:txBody>
      </p:sp>
      <p:sp>
        <p:nvSpPr>
          <p:cNvPr id="2" name="Title 1"/>
          <p:cNvSpPr>
            <a:spLocks noGrp="1"/>
          </p:cNvSpPr>
          <p:nvPr>
            <p:ph type="title"/>
          </p:nvPr>
        </p:nvSpPr>
        <p:spPr>
          <a:xfrm>
            <a:off x="1937350" y="418404"/>
            <a:ext cx="10048933" cy="983201"/>
          </a:xfrm>
        </p:spPr>
        <p:txBody>
          <a:bodyPr anchor="t">
            <a:normAutofit/>
          </a:bodyPr>
          <a:lstStyle>
            <a:lvl1pPr marL="1280160" indent="-1280160" algn="l">
              <a:defRPr sz="2800" b="1">
                <a:solidFill>
                  <a:schemeClr val="tx2"/>
                </a:solidFill>
                <a:latin typeface="Franklin Gothic Medium"/>
                <a:cs typeface="Franklin Gothic Medium"/>
              </a:defRPr>
            </a:lvl1pPr>
          </a:lstStyle>
          <a:p>
            <a:r>
              <a:rPr lang="en-US" dirty="0" smtClean="0"/>
              <a:t>Click to edit Master title style</a:t>
            </a:r>
            <a:endParaRPr lang="en-US" dirty="0"/>
          </a:p>
        </p:txBody>
      </p:sp>
      <p:sp>
        <p:nvSpPr>
          <p:cNvPr id="9" name="Date Placeholder 3"/>
          <p:cNvSpPr>
            <a:spLocks noGrp="1"/>
          </p:cNvSpPr>
          <p:nvPr>
            <p:ph type="dt" sz="half" idx="10"/>
          </p:nvPr>
        </p:nvSpPr>
        <p:spPr/>
        <p:txBody>
          <a:bodyPr/>
          <a:lstStyle>
            <a:lvl1pPr>
              <a:defRPr/>
            </a:lvl1pPr>
          </a:lstStyle>
          <a:p>
            <a:pPr>
              <a:defRPr/>
            </a:pPr>
            <a:fld id="{CF9D23A6-53C5-413C-A2EF-DBDD168A93C8}" type="datetimeFigureOut">
              <a:rPr lang="en-US"/>
              <a:pPr>
                <a:defRPr/>
              </a:pPr>
              <a:t>6/26/2022</a:t>
            </a:fld>
            <a:endParaRPr lang="en-US"/>
          </a:p>
        </p:txBody>
      </p:sp>
      <p:sp>
        <p:nvSpPr>
          <p:cNvPr id="10" name="Footer Placeholder 4"/>
          <p:cNvSpPr>
            <a:spLocks noGrp="1"/>
          </p:cNvSpPr>
          <p:nvPr>
            <p:ph type="ftr" sz="quarter" idx="11"/>
          </p:nvPr>
        </p:nvSpPr>
        <p:spPr/>
        <p:txBody>
          <a:bodyPr/>
          <a:lstStyle>
            <a:lvl1pPr>
              <a:defRPr/>
            </a:lvl1pPr>
          </a:lstStyle>
          <a:p>
            <a:pPr>
              <a:defRPr/>
            </a:pPr>
            <a:endParaRPr lang="en-US"/>
          </a:p>
        </p:txBody>
      </p:sp>
      <p:sp>
        <p:nvSpPr>
          <p:cNvPr id="11" name="Slide Number Placeholder 5"/>
          <p:cNvSpPr>
            <a:spLocks noGrp="1"/>
          </p:cNvSpPr>
          <p:nvPr>
            <p:ph type="sldNum" sz="quarter" idx="12"/>
          </p:nvPr>
        </p:nvSpPr>
        <p:spPr>
          <a:xfrm>
            <a:off x="8652933" y="6356351"/>
            <a:ext cx="2844800" cy="365125"/>
          </a:xfrm>
        </p:spPr>
        <p:txBody>
          <a:bodyPr/>
          <a:lstStyle>
            <a:lvl1pPr>
              <a:defRPr/>
            </a:lvl1pPr>
          </a:lstStyle>
          <a:p>
            <a:pPr>
              <a:defRPr/>
            </a:pPr>
            <a:fld id="{F844DE84-BB67-4260-8580-49FBE866EC5C}" type="slidenum">
              <a:rPr lang="en-US" altLang="en-US"/>
              <a:pPr>
                <a:defRPr/>
              </a:pPr>
              <a:t>‹#›</a:t>
            </a:fld>
            <a:endParaRPr lang="en-US" altLang="en-US" dirty="0"/>
          </a:p>
        </p:txBody>
      </p:sp>
    </p:spTree>
    <p:extLst>
      <p:ext uri="{BB962C8B-B14F-4D97-AF65-F5344CB8AC3E}">
        <p14:creationId xmlns:p14="http://schemas.microsoft.com/office/powerpoint/2010/main" val="11826903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Rectangle 2"/>
          <p:cNvSpPr/>
          <p:nvPr userDrawn="1"/>
        </p:nvSpPr>
        <p:spPr>
          <a:xfrm flipV="1">
            <a:off x="1985" y="1"/>
            <a:ext cx="12192000" cy="2497593"/>
          </a:xfrm>
          <a:prstGeom prst="rect">
            <a:avLst/>
          </a:prstGeom>
          <a:gradFill flip="none" rotWithShape="1">
            <a:gsLst>
              <a:gs pos="0">
                <a:srgbClr val="B2BFBE">
                  <a:alpha val="61000"/>
                </a:srgbClr>
              </a:gs>
              <a:gs pos="85000">
                <a:srgbClr val="FFFFFF"/>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sz="1800"/>
          </a:p>
        </p:txBody>
      </p:sp>
      <p:sp>
        <p:nvSpPr>
          <p:cNvPr id="4" name="Slide Number Placeholder 2"/>
          <p:cNvSpPr txBox="1">
            <a:spLocks/>
          </p:cNvSpPr>
          <p:nvPr userDrawn="1"/>
        </p:nvSpPr>
        <p:spPr>
          <a:xfrm>
            <a:off x="8961968" y="6483351"/>
            <a:ext cx="3215217" cy="365125"/>
          </a:xfrm>
          <a:prstGeom prst="rect">
            <a:avLst/>
          </a:prstGeom>
        </p:spPr>
        <p:txBody>
          <a:bodyPr anchor="b"/>
          <a:lstStyle>
            <a:lvl1pPr defTabSz="457200">
              <a:defRPr sz="2400">
                <a:solidFill>
                  <a:schemeClr val="tx1"/>
                </a:solidFill>
                <a:latin typeface="Times New Roman" panose="02020603050405020304" pitchFamily="18" charset="0"/>
              </a:defRPr>
            </a:lvl1pPr>
            <a:lvl2pPr marL="742950" indent="-285750" defTabSz="457200">
              <a:defRPr sz="2400">
                <a:solidFill>
                  <a:schemeClr val="tx1"/>
                </a:solidFill>
                <a:latin typeface="Times New Roman" panose="02020603050405020304" pitchFamily="18" charset="0"/>
              </a:defRPr>
            </a:lvl2pPr>
            <a:lvl3pPr marL="1143000" indent="-228600" defTabSz="457200">
              <a:defRPr sz="2400">
                <a:solidFill>
                  <a:schemeClr val="tx1"/>
                </a:solidFill>
                <a:latin typeface="Times New Roman" panose="02020603050405020304" pitchFamily="18" charset="0"/>
              </a:defRPr>
            </a:lvl3pPr>
            <a:lvl4pPr marL="1600200" indent="-228600" defTabSz="457200">
              <a:defRPr sz="2400">
                <a:solidFill>
                  <a:schemeClr val="tx1"/>
                </a:solidFill>
                <a:latin typeface="Times New Roman" panose="02020603050405020304" pitchFamily="18" charset="0"/>
              </a:defRPr>
            </a:lvl4pPr>
            <a:lvl5pPr marL="2057400" indent="-228600" defTabSz="457200">
              <a:defRPr sz="2400">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defRPr/>
            </a:pPr>
            <a:fld id="{DC979864-671C-4533-B51A-D4BD7C2C71BF}" type="slidenum">
              <a:rPr lang="en-US" altLang="en-US" sz="1200" b="1" smtClean="0">
                <a:solidFill>
                  <a:srgbClr val="000000"/>
                </a:solidFill>
                <a:latin typeface="Calibri" panose="020F0502020204030204" pitchFamily="34" charset="0"/>
              </a:rPr>
              <a:pPr algn="r" eaLnBrk="1" hangingPunct="1">
                <a:defRPr/>
              </a:pPr>
              <a:t>‹#›</a:t>
            </a:fld>
            <a:endParaRPr lang="en-US" altLang="en-US" sz="1200" b="1" smtClean="0">
              <a:solidFill>
                <a:srgbClr val="000000"/>
              </a:solidFill>
              <a:latin typeface="Calibri" panose="020F0502020204030204" pitchFamily="34" charset="0"/>
            </a:endParaRPr>
          </a:p>
        </p:txBody>
      </p:sp>
      <p:sp>
        <p:nvSpPr>
          <p:cNvPr id="5" name="Footer Placeholder 1"/>
          <p:cNvSpPr txBox="1">
            <a:spLocks/>
          </p:cNvSpPr>
          <p:nvPr userDrawn="1"/>
        </p:nvSpPr>
        <p:spPr>
          <a:xfrm>
            <a:off x="1" y="6592888"/>
            <a:ext cx="8961967"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a:pPr>
            <a:r>
              <a:rPr lang="en-US" sz="700" kern="700" spc="50" smtClean="0">
                <a:latin typeface="Arial Narrow"/>
                <a:cs typeface="Arial Narrow"/>
              </a:rPr>
              <a:t>Copyright ©2016 Cengage Learning. All Rights Reserved. May not be scanned, copied or duplicated, or posted to a publicly accessible website, in whole or in part. </a:t>
            </a:r>
            <a:endParaRPr lang="en-US" sz="700" kern="700" spc="50">
              <a:latin typeface="Arial Narrow"/>
              <a:cs typeface="Arial Narrow"/>
            </a:endParaRPr>
          </a:p>
        </p:txBody>
      </p:sp>
      <p:sp>
        <p:nvSpPr>
          <p:cNvPr id="6" name="Slide Number Placeholder 2"/>
          <p:cNvSpPr txBox="1">
            <a:spLocks/>
          </p:cNvSpPr>
          <p:nvPr userDrawn="1"/>
        </p:nvSpPr>
        <p:spPr>
          <a:xfrm>
            <a:off x="10253134" y="6483351"/>
            <a:ext cx="1502833" cy="365125"/>
          </a:xfrm>
          <a:prstGeom prst="rect">
            <a:avLst/>
          </a:prstGeom>
        </p:spPr>
        <p:txBody>
          <a:bodyPr anchor="b"/>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dirty="0" smtClean="0">
                <a:solidFill>
                  <a:srgbClr val="000000"/>
                </a:solidFill>
              </a:rPr>
              <a:t>MIS6 | CH7</a:t>
            </a:r>
            <a:endParaRPr lang="en-US" sz="1200" b="1" dirty="0">
              <a:solidFill>
                <a:srgbClr val="000000"/>
              </a:solidFill>
            </a:endParaRPr>
          </a:p>
        </p:txBody>
      </p:sp>
      <p:sp>
        <p:nvSpPr>
          <p:cNvPr id="7" name="Rectangle 6"/>
          <p:cNvSpPr/>
          <p:nvPr userDrawn="1"/>
        </p:nvSpPr>
        <p:spPr>
          <a:xfrm>
            <a:off x="1" y="368300"/>
            <a:ext cx="3467100" cy="584200"/>
          </a:xfrm>
          <a:prstGeom prst="rect">
            <a:avLst/>
          </a:prstGeom>
          <a:solidFill>
            <a:srgbClr val="B0002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sz="1800"/>
          </a:p>
        </p:txBody>
      </p:sp>
      <p:sp>
        <p:nvSpPr>
          <p:cNvPr id="8" name="TextBox 7"/>
          <p:cNvSpPr txBox="1">
            <a:spLocks noChangeArrowheads="1"/>
          </p:cNvSpPr>
          <p:nvPr userDrawn="1"/>
        </p:nvSpPr>
        <p:spPr bwMode="auto">
          <a:xfrm>
            <a:off x="2118" y="368300"/>
            <a:ext cx="193463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eaLnBrk="1" hangingPunct="1">
              <a:defRPr/>
            </a:pPr>
            <a:r>
              <a:rPr lang="en-US" altLang="en-US" sz="3200" b="1" smtClean="0">
                <a:solidFill>
                  <a:schemeClr val="bg1"/>
                </a:solidFill>
                <a:latin typeface="Franklin Gothic Medium" pitchFamily="34" charset="0"/>
                <a:ea typeface="Franklin Gothic Medium" pitchFamily="34" charset="0"/>
                <a:cs typeface="Franklin Gothic Medium" pitchFamily="34" charset="0"/>
              </a:rPr>
              <a:t>Table</a:t>
            </a:r>
            <a:endParaRPr lang="en-US" altLang="en-US" sz="3200" b="1" i="1" smtClean="0">
              <a:solidFill>
                <a:schemeClr val="bg1"/>
              </a:solidFill>
              <a:latin typeface="Franklin Gothic Medium" pitchFamily="34" charset="0"/>
              <a:ea typeface="Franklin Gothic Medium" pitchFamily="34" charset="0"/>
              <a:cs typeface="Franklin Gothic Medium" pitchFamily="34" charset="0"/>
            </a:endParaRPr>
          </a:p>
        </p:txBody>
      </p:sp>
      <p:sp>
        <p:nvSpPr>
          <p:cNvPr id="2" name="Title 1"/>
          <p:cNvSpPr>
            <a:spLocks noGrp="1"/>
          </p:cNvSpPr>
          <p:nvPr>
            <p:ph type="title"/>
          </p:nvPr>
        </p:nvSpPr>
        <p:spPr>
          <a:xfrm>
            <a:off x="1937350" y="418404"/>
            <a:ext cx="10048933" cy="983201"/>
          </a:xfrm>
        </p:spPr>
        <p:txBody>
          <a:bodyPr anchor="t">
            <a:normAutofit/>
          </a:bodyPr>
          <a:lstStyle>
            <a:lvl1pPr marL="1280160" indent="-1280160" algn="l">
              <a:defRPr sz="2800" b="1">
                <a:solidFill>
                  <a:schemeClr val="tx2"/>
                </a:solidFill>
                <a:latin typeface="Franklin Gothic Medium"/>
                <a:cs typeface="Franklin Gothic Medium"/>
              </a:defRPr>
            </a:lvl1pPr>
          </a:lstStyle>
          <a:p>
            <a:r>
              <a:rPr lang="en-US" dirty="0" smtClean="0"/>
              <a:t>Click to edit Master title style</a:t>
            </a:r>
            <a:endParaRPr lang="en-US" dirty="0"/>
          </a:p>
        </p:txBody>
      </p:sp>
      <p:sp>
        <p:nvSpPr>
          <p:cNvPr id="9" name="Date Placeholder 3"/>
          <p:cNvSpPr>
            <a:spLocks noGrp="1"/>
          </p:cNvSpPr>
          <p:nvPr>
            <p:ph type="dt" sz="half" idx="10"/>
          </p:nvPr>
        </p:nvSpPr>
        <p:spPr/>
        <p:txBody>
          <a:bodyPr/>
          <a:lstStyle>
            <a:lvl1pPr>
              <a:defRPr/>
            </a:lvl1pPr>
          </a:lstStyle>
          <a:p>
            <a:pPr>
              <a:defRPr/>
            </a:pPr>
            <a:fld id="{2538D50B-CEA5-421E-862E-86A2F7DD32AC}" type="datetimeFigureOut">
              <a:rPr lang="en-US"/>
              <a:pPr>
                <a:defRPr/>
              </a:pPr>
              <a:t>6/26/2022</a:t>
            </a:fld>
            <a:endParaRPr lang="en-US"/>
          </a:p>
        </p:txBody>
      </p:sp>
      <p:sp>
        <p:nvSpPr>
          <p:cNvPr id="10" name="Footer Placeholder 4"/>
          <p:cNvSpPr>
            <a:spLocks noGrp="1"/>
          </p:cNvSpPr>
          <p:nvPr>
            <p:ph type="ftr" sz="quarter" idx="11"/>
          </p:nvPr>
        </p:nvSpPr>
        <p:spPr/>
        <p:txBody>
          <a:bodyPr/>
          <a:lstStyle>
            <a:lvl1pPr>
              <a:defRPr/>
            </a:lvl1pPr>
          </a:lstStyle>
          <a:p>
            <a:pPr>
              <a:defRPr/>
            </a:pPr>
            <a:endParaRPr lang="en-US"/>
          </a:p>
        </p:txBody>
      </p:sp>
      <p:sp>
        <p:nvSpPr>
          <p:cNvPr id="11" name="Slide Number Placeholder 5"/>
          <p:cNvSpPr>
            <a:spLocks noGrp="1"/>
          </p:cNvSpPr>
          <p:nvPr>
            <p:ph type="sldNum" sz="quarter" idx="12"/>
          </p:nvPr>
        </p:nvSpPr>
        <p:spPr/>
        <p:txBody>
          <a:bodyPr/>
          <a:lstStyle>
            <a:lvl1pPr>
              <a:defRPr/>
            </a:lvl1pPr>
          </a:lstStyle>
          <a:p>
            <a:pPr>
              <a:defRPr/>
            </a:pPr>
            <a:fld id="{F81B7B98-1C96-46E7-B80E-64401F551CFA}" type="slidenum">
              <a:rPr lang="en-US" altLang="en-US"/>
              <a:pPr>
                <a:defRPr/>
              </a:pPr>
              <a:t>‹#›</a:t>
            </a:fld>
            <a:endParaRPr lang="en-US" altLang="en-US" dirty="0"/>
          </a:p>
        </p:txBody>
      </p:sp>
    </p:spTree>
    <p:extLst>
      <p:ext uri="{BB962C8B-B14F-4D97-AF65-F5344CB8AC3E}">
        <p14:creationId xmlns:p14="http://schemas.microsoft.com/office/powerpoint/2010/main" val="1239466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F26857-3C49-4201-AFD6-FE110CE5DD66}" type="datetimeFigureOut">
              <a:rPr lang="en-GB" smtClean="0"/>
              <a:t>26/06/2022</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991ED3-6A58-4FF5-9EF2-68803998A430}" type="slidenum">
              <a:rPr lang="en-GB" smtClean="0"/>
              <a:t>‹#›</a:t>
            </a:fld>
            <a:endParaRPr lang="en-GB"/>
          </a:p>
        </p:txBody>
      </p:sp>
    </p:spTree>
    <p:extLst>
      <p:ext uri="{BB962C8B-B14F-4D97-AF65-F5344CB8AC3E}">
        <p14:creationId xmlns:p14="http://schemas.microsoft.com/office/powerpoint/2010/main" val="16034827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A6E49B7E-D8DB-49CC-80DB-32602A8C44AE}"/>
              </a:ext>
            </a:extLst>
          </p:cNvPr>
          <p:cNvSpPr>
            <a:spLocks noGrp="1"/>
          </p:cNvSpPr>
          <p:nvPr>
            <p:ph type="ctrTitle"/>
          </p:nvPr>
        </p:nvSpPr>
        <p:spPr/>
        <p:txBody>
          <a:bodyPr/>
          <a:lstStyle/>
          <a:p>
            <a:r>
              <a:rPr lang="en-GB" dirty="0"/>
              <a:t>Intranet</a:t>
            </a:r>
          </a:p>
        </p:txBody>
      </p:sp>
      <p:sp>
        <p:nvSpPr>
          <p:cNvPr id="5" name="Subtitle 4">
            <a:extLst>
              <a:ext uri="{FF2B5EF4-FFF2-40B4-BE49-F238E27FC236}">
                <a16:creationId xmlns:a16="http://schemas.microsoft.com/office/drawing/2014/main" xmlns="" id="{624EDAB5-3D43-43E4-B2BE-E6E63E13EA09}"/>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554231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7BEBC6-7389-4460-B7BC-EB75A5A16C6F}"/>
              </a:ext>
            </a:extLst>
          </p:cNvPr>
          <p:cNvSpPr>
            <a:spLocks noGrp="1"/>
          </p:cNvSpPr>
          <p:nvPr>
            <p:ph type="title"/>
          </p:nvPr>
        </p:nvSpPr>
        <p:spPr/>
        <p:txBody>
          <a:bodyPr/>
          <a:lstStyle/>
          <a:p>
            <a:r>
              <a:rPr lang="en-GB" dirty="0" smtClean="0"/>
              <a:t>Intranet</a:t>
            </a:r>
            <a:endParaRPr lang="en-GB" dirty="0"/>
          </a:p>
        </p:txBody>
      </p:sp>
      <p:sp>
        <p:nvSpPr>
          <p:cNvPr id="3" name="Content Placeholder 2">
            <a:extLst>
              <a:ext uri="{FF2B5EF4-FFF2-40B4-BE49-F238E27FC236}">
                <a16:creationId xmlns:a16="http://schemas.microsoft.com/office/drawing/2014/main" xmlns="" id="{D04334FB-BBDD-49EF-A4DE-7F371392B367}"/>
              </a:ext>
            </a:extLst>
          </p:cNvPr>
          <p:cNvSpPr>
            <a:spLocks noGrp="1"/>
          </p:cNvSpPr>
          <p:nvPr>
            <p:ph idx="1"/>
          </p:nvPr>
        </p:nvSpPr>
        <p:spPr>
          <a:xfrm>
            <a:off x="838200" y="1825625"/>
            <a:ext cx="10515600" cy="4614364"/>
          </a:xfrm>
        </p:spPr>
        <p:txBody>
          <a:bodyPr>
            <a:normAutofit/>
          </a:bodyPr>
          <a:lstStyle/>
          <a:p>
            <a:r>
              <a:rPr lang="en-GB" b="0" i="0" dirty="0">
                <a:effectLst/>
                <a:latin typeface="Arial" panose="020B0604020202020204" pitchFamily="34" charset="0"/>
              </a:rPr>
              <a:t>An intranet is a private network contained within an enterprise that is used to securely share company information and computing resources among </a:t>
            </a:r>
            <a:r>
              <a:rPr lang="en-GB" b="0" i="0" dirty="0" smtClean="0">
                <a:effectLst/>
                <a:latin typeface="Arial" panose="020B0604020202020204" pitchFamily="34" charset="0"/>
              </a:rPr>
              <a:t>employees</a:t>
            </a:r>
          </a:p>
          <a:p>
            <a:endParaRPr lang="en-GB" b="0" i="0" dirty="0">
              <a:effectLst/>
              <a:latin typeface="Arial" panose="020B0604020202020204" pitchFamily="34" charset="0"/>
            </a:endParaRPr>
          </a:p>
          <a:p>
            <a:r>
              <a:rPr lang="en-GB" b="0" i="0" dirty="0">
                <a:effectLst/>
                <a:latin typeface="Arial" panose="020B0604020202020204" pitchFamily="34" charset="0"/>
              </a:rPr>
              <a:t>A company-wide intranet can constitute an </a:t>
            </a:r>
            <a:r>
              <a:rPr lang="en-GB" b="0" i="0" dirty="0">
                <a:solidFill>
                  <a:srgbClr val="202122"/>
                </a:solidFill>
                <a:effectLst/>
                <a:latin typeface="Arial" panose="020B0604020202020204" pitchFamily="34" charset="0"/>
              </a:rPr>
              <a:t>important focal point of internal communication and collaboration, and provide a single starting point to access internal and external resources. </a:t>
            </a:r>
          </a:p>
          <a:p>
            <a:r>
              <a:rPr lang="en-GB" b="0" i="0" dirty="0">
                <a:solidFill>
                  <a:srgbClr val="202122"/>
                </a:solidFill>
                <a:effectLst/>
                <a:latin typeface="Arial" panose="020B0604020202020204" pitchFamily="34" charset="0"/>
              </a:rPr>
              <a:t>In its simplest form, an intranet is established with the </a:t>
            </a:r>
            <a:r>
              <a:rPr lang="en-GB" dirty="0">
                <a:solidFill>
                  <a:srgbClr val="202122"/>
                </a:solidFill>
                <a:latin typeface="Arial" panose="020B0604020202020204" pitchFamily="34" charset="0"/>
              </a:rPr>
              <a:t> </a:t>
            </a:r>
            <a:r>
              <a:rPr lang="en-GB" b="0" i="0" dirty="0" smtClean="0">
                <a:solidFill>
                  <a:srgbClr val="202122"/>
                </a:solidFill>
                <a:effectLst/>
                <a:latin typeface="Arial" panose="020B0604020202020204" pitchFamily="34" charset="0"/>
              </a:rPr>
              <a:t>technologies </a:t>
            </a:r>
            <a:r>
              <a:rPr lang="en-GB" b="0" i="0" dirty="0">
                <a:solidFill>
                  <a:srgbClr val="202122"/>
                </a:solidFill>
                <a:effectLst/>
                <a:latin typeface="Arial" panose="020B0604020202020204" pitchFamily="34" charset="0"/>
              </a:rPr>
              <a:t>for </a:t>
            </a:r>
            <a:r>
              <a:rPr lang="en-GB" b="0" i="0" u="none" strike="noStrike" dirty="0">
                <a:solidFill>
                  <a:srgbClr val="0645AD"/>
                </a:solidFill>
                <a:effectLst/>
                <a:latin typeface="Arial" panose="020B0604020202020204" pitchFamily="34" charset="0"/>
              </a:rPr>
              <a:t>local area networks</a:t>
            </a:r>
            <a:r>
              <a:rPr lang="en-GB" b="0" i="0" dirty="0">
                <a:solidFill>
                  <a:srgbClr val="202122"/>
                </a:solidFill>
                <a:effectLst/>
                <a:latin typeface="Arial" panose="020B0604020202020204" pitchFamily="34" charset="0"/>
              </a:rPr>
              <a:t> (LANs) and </a:t>
            </a:r>
            <a:r>
              <a:rPr lang="en-GB" b="0" i="0" u="none" strike="noStrike" dirty="0">
                <a:solidFill>
                  <a:srgbClr val="0645AD"/>
                </a:solidFill>
                <a:effectLst/>
                <a:latin typeface="Arial" panose="020B0604020202020204" pitchFamily="34" charset="0"/>
              </a:rPr>
              <a:t>wide area networks</a:t>
            </a:r>
            <a:r>
              <a:rPr lang="en-GB" b="0" i="0" dirty="0">
                <a:solidFill>
                  <a:srgbClr val="202122"/>
                </a:solidFill>
                <a:effectLst/>
                <a:latin typeface="Arial" panose="020B0604020202020204" pitchFamily="34" charset="0"/>
              </a:rPr>
              <a:t> (WANs)</a:t>
            </a:r>
            <a:endParaRPr lang="en-GB" dirty="0"/>
          </a:p>
        </p:txBody>
      </p:sp>
    </p:spTree>
    <p:extLst>
      <p:ext uri="{BB962C8B-B14F-4D97-AF65-F5344CB8AC3E}">
        <p14:creationId xmlns:p14="http://schemas.microsoft.com/office/powerpoint/2010/main" val="558982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2049463" y="355601"/>
            <a:ext cx="8229600" cy="803275"/>
          </a:xfrm>
        </p:spPr>
        <p:txBody>
          <a:bodyPr anchor="t"/>
          <a:lstStyle/>
          <a:p>
            <a:pPr eaLnBrk="1" hangingPunct="1"/>
            <a:r>
              <a:rPr lang="en-US" altLang="en-US" smtClean="0">
                <a:latin typeface="Franklin Gothic Medium" panose="020B0603020102020204" pitchFamily="34" charset="0"/>
                <a:ea typeface="Franklin Gothic Medium" panose="020B0603020102020204" pitchFamily="34" charset="0"/>
                <a:cs typeface="Franklin Gothic Medium" panose="020B0603020102020204" pitchFamily="34" charset="0"/>
              </a:rPr>
              <a:t>Intranets</a:t>
            </a:r>
          </a:p>
        </p:txBody>
      </p:sp>
      <p:sp>
        <p:nvSpPr>
          <p:cNvPr id="86019" name="Content Placeholder 2"/>
          <p:cNvSpPr>
            <a:spLocks noGrp="1"/>
          </p:cNvSpPr>
          <p:nvPr>
            <p:ph idx="1"/>
          </p:nvPr>
        </p:nvSpPr>
        <p:spPr>
          <a:xfrm>
            <a:off x="2517775" y="1533526"/>
            <a:ext cx="7823200" cy="4227513"/>
          </a:xfrm>
        </p:spPr>
        <p:txBody>
          <a:bodyPr/>
          <a:lstStyle/>
          <a:p>
            <a:pPr eaLnBrk="1" hangingPunct="1"/>
            <a:r>
              <a:rPr lang="en-US" altLang="en-US" smtClean="0"/>
              <a:t>Network within an organization that uses Internet protocols and technologies for:</a:t>
            </a:r>
          </a:p>
          <a:p>
            <a:pPr marL="639763" lvl="1" indent="-273050"/>
            <a:r>
              <a:rPr lang="en-US" altLang="en-US" smtClean="0"/>
              <a:t>Collecting, storing, and disseminating useful information that supports business activities</a:t>
            </a:r>
          </a:p>
          <a:p>
            <a:pPr eaLnBrk="1" hangingPunct="1"/>
            <a:r>
              <a:rPr lang="en-US" altLang="en-US" smtClean="0"/>
              <a:t>Otherwise known as corporate portals</a:t>
            </a:r>
          </a:p>
          <a:p>
            <a:pPr eaLnBrk="1" hangingPunct="1"/>
            <a:r>
              <a:rPr lang="en-US" altLang="en-US" smtClean="0"/>
              <a:t>Facilitates internal use by employees</a:t>
            </a:r>
          </a:p>
          <a:p>
            <a:pPr marL="639763" lvl="1" indent="-273050"/>
            <a:r>
              <a:rPr lang="en-US" altLang="en-US" smtClean="0"/>
              <a:t>Companies also allow trusted business partners to access their intranets </a:t>
            </a:r>
          </a:p>
        </p:txBody>
      </p:sp>
    </p:spTree>
    <p:extLst>
      <p:ext uri="{BB962C8B-B14F-4D97-AF65-F5344CB8AC3E}">
        <p14:creationId xmlns:p14="http://schemas.microsoft.com/office/powerpoint/2010/main" val="703342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a:xfrm>
            <a:off x="2049463" y="355601"/>
            <a:ext cx="8229600" cy="803275"/>
          </a:xfrm>
        </p:spPr>
        <p:txBody>
          <a:bodyPr anchor="t"/>
          <a:lstStyle/>
          <a:p>
            <a:pPr eaLnBrk="1" hangingPunct="1"/>
            <a:r>
              <a:rPr lang="en-US" altLang="en-US" smtClean="0">
                <a:latin typeface="Franklin Gothic Medium" panose="020B0603020102020204" pitchFamily="34" charset="0"/>
                <a:ea typeface="Franklin Gothic Medium" panose="020B0603020102020204" pitchFamily="34" charset="0"/>
                <a:cs typeface="Franklin Gothic Medium" panose="020B0603020102020204" pitchFamily="34" charset="0"/>
              </a:rPr>
              <a:t>Intranets</a:t>
            </a:r>
          </a:p>
        </p:txBody>
      </p:sp>
      <p:sp>
        <p:nvSpPr>
          <p:cNvPr id="88067" name="Content Placeholder 2"/>
          <p:cNvSpPr>
            <a:spLocks noGrp="1"/>
          </p:cNvSpPr>
          <p:nvPr>
            <p:ph idx="1"/>
          </p:nvPr>
        </p:nvSpPr>
        <p:spPr>
          <a:xfrm>
            <a:off x="2517775" y="1533526"/>
            <a:ext cx="7823200" cy="4227513"/>
          </a:xfrm>
        </p:spPr>
        <p:txBody>
          <a:bodyPr/>
          <a:lstStyle/>
          <a:p>
            <a:pPr eaLnBrk="1" hangingPunct="1"/>
            <a:r>
              <a:rPr lang="en-US" altLang="en-US" smtClean="0"/>
              <a:t>Uses Internet technologies to solve organizational problems</a:t>
            </a:r>
          </a:p>
          <a:p>
            <a:pPr eaLnBrk="1" hangingPunct="1"/>
            <a:r>
              <a:rPr lang="en-US" altLang="en-US" smtClean="0"/>
              <a:t>Different from an LAN</a:t>
            </a:r>
          </a:p>
          <a:p>
            <a:pPr eaLnBrk="1" hangingPunct="1"/>
            <a:r>
              <a:rPr lang="en-US" altLang="en-US" smtClean="0"/>
              <a:t>Defining and limiting access is important for security reasons</a:t>
            </a:r>
          </a:p>
        </p:txBody>
      </p:sp>
    </p:spTree>
    <p:extLst>
      <p:ext uri="{BB962C8B-B14F-4D97-AF65-F5344CB8AC3E}">
        <p14:creationId xmlns:p14="http://schemas.microsoft.com/office/powerpoint/2010/main" val="35592821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2976563" y="384175"/>
            <a:ext cx="7537450" cy="984250"/>
          </a:xfrm>
        </p:spPr>
        <p:txBody>
          <a:bodyPr/>
          <a:lstStyle/>
          <a:p>
            <a:pPr marL="1279525" indent="-1279525"/>
            <a:r>
              <a:rPr lang="en-IN" altLang="en-US" sz="3200">
                <a:solidFill>
                  <a:schemeClr val="bg1"/>
                </a:solidFill>
                <a:latin typeface="Franklin Gothic Medium" panose="020B0603020102020204" pitchFamily="34" charset="0"/>
                <a:ea typeface="Franklin Gothic Medium" panose="020B0603020102020204" pitchFamily="34" charset="0"/>
                <a:cs typeface="Franklin Gothic Medium" panose="020B0603020102020204" pitchFamily="34" charset="0"/>
              </a:rPr>
              <a:t>7.3	</a:t>
            </a:r>
            <a:r>
              <a:rPr lang="en-IN" altLang="en-US" sz="3200">
                <a:latin typeface="Franklin Gothic Medium" panose="020B0603020102020204" pitchFamily="34" charset="0"/>
                <a:ea typeface="Franklin Gothic Medium" panose="020B0603020102020204" pitchFamily="34" charset="0"/>
                <a:cs typeface="Franklin Gothic Medium" panose="020B0603020102020204" pitchFamily="34" charset="0"/>
              </a:rPr>
              <a:t>Simple Intranet Architecture</a:t>
            </a:r>
          </a:p>
        </p:txBody>
      </p:sp>
      <p:pic>
        <p:nvPicPr>
          <p:cNvPr id="90115"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44800" y="1520825"/>
            <a:ext cx="6502400" cy="473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63353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a:xfrm>
            <a:off x="2976563" y="385763"/>
            <a:ext cx="7537450" cy="982662"/>
          </a:xfrm>
        </p:spPr>
        <p:txBody>
          <a:bodyPr/>
          <a:lstStyle/>
          <a:p>
            <a:pPr marL="1279525" indent="-1279525"/>
            <a:r>
              <a:rPr lang="en-US" altLang="en-US" sz="3200">
                <a:solidFill>
                  <a:schemeClr val="bg1"/>
                </a:solidFill>
                <a:latin typeface="Franklin Gothic Medium" panose="020B0603020102020204" pitchFamily="34" charset="0"/>
                <a:ea typeface="Franklin Gothic Medium" panose="020B0603020102020204" pitchFamily="34" charset="0"/>
                <a:cs typeface="Franklin Gothic Medium" panose="020B0603020102020204" pitchFamily="34" charset="0"/>
              </a:rPr>
              <a:t>7.2	</a:t>
            </a:r>
            <a:r>
              <a:rPr lang="en-US" altLang="en-US" sz="3200">
                <a:latin typeface="Franklin Gothic Medium" panose="020B0603020102020204" pitchFamily="34" charset="0"/>
                <a:ea typeface="Franklin Gothic Medium" panose="020B0603020102020204" pitchFamily="34" charset="0"/>
                <a:cs typeface="Franklin Gothic Medium" panose="020B0603020102020204" pitchFamily="34" charset="0"/>
              </a:rPr>
              <a:t>The Internet versus Intranets</a:t>
            </a:r>
          </a:p>
        </p:txBody>
      </p:sp>
      <p:pic>
        <p:nvPicPr>
          <p:cNvPr id="91139"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611" y="2125014"/>
            <a:ext cx="10406130" cy="3953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86543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a:xfrm>
            <a:off x="2049463" y="355601"/>
            <a:ext cx="8229600" cy="803275"/>
          </a:xfrm>
        </p:spPr>
        <p:txBody>
          <a:bodyPr anchor="t">
            <a:normAutofit fontScale="90000"/>
          </a:bodyPr>
          <a:lstStyle/>
          <a:p>
            <a:pPr eaLnBrk="1" hangingPunct="1"/>
            <a:r>
              <a:rPr lang="en-US" altLang="en-US" smtClean="0">
                <a:latin typeface="Franklin Gothic Medium" panose="020B0603020102020204" pitchFamily="34" charset="0"/>
                <a:ea typeface="Franklin Gothic Medium" panose="020B0603020102020204" pitchFamily="34" charset="0"/>
                <a:cs typeface="Franklin Gothic Medium" panose="020B0603020102020204" pitchFamily="34" charset="0"/>
              </a:rPr>
              <a:t>Business Applications of an Intranet </a:t>
            </a:r>
          </a:p>
        </p:txBody>
      </p:sp>
      <p:sp>
        <p:nvSpPr>
          <p:cNvPr id="93187" name="Content Placeholder 2"/>
          <p:cNvSpPr>
            <a:spLocks noGrp="1"/>
          </p:cNvSpPr>
          <p:nvPr>
            <p:ph idx="1"/>
          </p:nvPr>
        </p:nvSpPr>
        <p:spPr>
          <a:xfrm>
            <a:off x="2517775" y="1533526"/>
            <a:ext cx="7823200" cy="4227513"/>
          </a:xfrm>
        </p:spPr>
        <p:txBody>
          <a:bodyPr/>
          <a:lstStyle/>
          <a:p>
            <a:pPr eaLnBrk="1" hangingPunct="1"/>
            <a:r>
              <a:rPr lang="en-US" altLang="en-US" dirty="0" smtClean="0"/>
              <a:t>Human resources management</a:t>
            </a:r>
          </a:p>
          <a:p>
            <a:pPr eaLnBrk="1" hangingPunct="1"/>
            <a:r>
              <a:rPr lang="en-US" altLang="en-US" dirty="0" smtClean="0"/>
              <a:t>Sales and marketing</a:t>
            </a:r>
          </a:p>
          <a:p>
            <a:pPr eaLnBrk="1" hangingPunct="1"/>
            <a:r>
              <a:rPr lang="en-US" altLang="en-US" dirty="0" smtClean="0"/>
              <a:t>Production and operations</a:t>
            </a:r>
          </a:p>
          <a:p>
            <a:pPr eaLnBrk="1" hangingPunct="1"/>
            <a:r>
              <a:rPr lang="en-US" altLang="en-US" dirty="0" smtClean="0"/>
              <a:t>Accounting and finance</a:t>
            </a:r>
          </a:p>
          <a:p>
            <a:pPr eaLnBrk="1" hangingPunct="1"/>
            <a:r>
              <a:rPr lang="en-US" altLang="en-US" dirty="0" smtClean="0"/>
              <a:t>Helps organizations move from a calendar-based, document-publishing strategy to an event based strategy</a:t>
            </a:r>
          </a:p>
          <a:p>
            <a:pPr eaLnBrk="1" hangingPunct="1"/>
            <a:r>
              <a:rPr lang="en-US" altLang="en-US" dirty="0" smtClean="0"/>
              <a:t>Reduces the costs and time of document production </a:t>
            </a:r>
          </a:p>
        </p:txBody>
      </p:sp>
    </p:spTree>
    <p:extLst>
      <p:ext uri="{BB962C8B-B14F-4D97-AF65-F5344CB8AC3E}">
        <p14:creationId xmlns:p14="http://schemas.microsoft.com/office/powerpoint/2010/main" val="28582823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54A72C-562E-43B5-97A1-734713F2A681}"/>
              </a:ext>
            </a:extLst>
          </p:cNvPr>
          <p:cNvSpPr>
            <a:spLocks noGrp="1"/>
          </p:cNvSpPr>
          <p:nvPr>
            <p:ph type="title"/>
          </p:nvPr>
        </p:nvSpPr>
        <p:spPr>
          <a:xfrm>
            <a:off x="838200" y="365125"/>
            <a:ext cx="10515600" cy="1077309"/>
          </a:xfrm>
        </p:spPr>
        <p:txBody>
          <a:bodyPr/>
          <a:lstStyle/>
          <a:p>
            <a:r>
              <a:rPr lang="en-GB" b="0" i="0" dirty="0">
                <a:solidFill>
                  <a:srgbClr val="000000"/>
                </a:solidFill>
                <a:effectLst/>
                <a:latin typeface="Linux Libertine"/>
              </a:rPr>
              <a:t>Uses and Benefits</a:t>
            </a:r>
            <a:endParaRPr lang="en-GB" dirty="0"/>
          </a:p>
        </p:txBody>
      </p:sp>
      <p:sp>
        <p:nvSpPr>
          <p:cNvPr id="3" name="Content Placeholder 2">
            <a:extLst>
              <a:ext uri="{FF2B5EF4-FFF2-40B4-BE49-F238E27FC236}">
                <a16:creationId xmlns:a16="http://schemas.microsoft.com/office/drawing/2014/main" xmlns="" id="{8F90A3BA-9796-4C8A-8932-2CB8C2DA186D}"/>
              </a:ext>
            </a:extLst>
          </p:cNvPr>
          <p:cNvSpPr>
            <a:spLocks noGrp="1"/>
          </p:cNvSpPr>
          <p:nvPr>
            <p:ph idx="1"/>
          </p:nvPr>
        </p:nvSpPr>
        <p:spPr>
          <a:xfrm>
            <a:off x="838200" y="1584102"/>
            <a:ext cx="10515600" cy="5022760"/>
          </a:xfrm>
        </p:spPr>
        <p:txBody>
          <a:bodyPr/>
          <a:lstStyle/>
          <a:p>
            <a:r>
              <a:rPr lang="en-GB" b="1" i="0" dirty="0">
                <a:solidFill>
                  <a:srgbClr val="373A40"/>
                </a:solidFill>
                <a:effectLst/>
                <a:latin typeface="Roboto" panose="020B0604020202020204" pitchFamily="2" charset="0"/>
              </a:rPr>
              <a:t>Accessing information:</a:t>
            </a:r>
            <a:r>
              <a:rPr lang="en-GB" b="0" i="0" dirty="0">
                <a:solidFill>
                  <a:srgbClr val="373A40"/>
                </a:solidFill>
                <a:effectLst/>
                <a:latin typeface="Roboto" panose="020B0604020202020204" pitchFamily="2" charset="0"/>
              </a:rPr>
              <a:t> with a content management system (CMS) and frequently integrated with an organization’s document management system (DMS), intranets can be used to centrally host and access documents, policies, and information employees require to perform their roles</a:t>
            </a:r>
            <a:r>
              <a:rPr lang="en-GB" b="0" i="0" dirty="0" smtClean="0">
                <a:solidFill>
                  <a:srgbClr val="373A40"/>
                </a:solidFill>
                <a:effectLst/>
                <a:latin typeface="Roboto" panose="020B0604020202020204" pitchFamily="2" charset="0"/>
              </a:rPr>
              <a:t>.</a:t>
            </a:r>
          </a:p>
          <a:p>
            <a:endParaRPr lang="en-GB" b="0" i="0" dirty="0">
              <a:solidFill>
                <a:srgbClr val="373A40"/>
              </a:solidFill>
              <a:effectLst/>
              <a:latin typeface="Roboto" panose="020B0604020202020204" pitchFamily="2" charset="0"/>
            </a:endParaRPr>
          </a:p>
          <a:p>
            <a:r>
              <a:rPr lang="en-GB" b="1" i="0" dirty="0">
                <a:solidFill>
                  <a:srgbClr val="373A40"/>
                </a:solidFill>
                <a:effectLst/>
                <a:latin typeface="Roboto" panose="02000000000000000000" pitchFamily="2" charset="0"/>
              </a:rPr>
              <a:t>Connecting people:</a:t>
            </a:r>
            <a:r>
              <a:rPr lang="en-GB" b="0" i="0" dirty="0">
                <a:solidFill>
                  <a:srgbClr val="373A40"/>
                </a:solidFill>
                <a:effectLst/>
                <a:latin typeface="Roboto" panose="02000000000000000000" pitchFamily="2" charset="0"/>
              </a:rPr>
              <a:t> globalized organizations and those with employees working remotely, on the frontline or across a range of office locations face challenges connecting their staff. An intranet helps colleagues find one another, connect, and communicate: building a virtual culture.</a:t>
            </a:r>
          </a:p>
          <a:p>
            <a:endParaRPr lang="en-GB" dirty="0"/>
          </a:p>
        </p:txBody>
      </p:sp>
    </p:spTree>
    <p:extLst>
      <p:ext uri="{BB962C8B-B14F-4D97-AF65-F5344CB8AC3E}">
        <p14:creationId xmlns:p14="http://schemas.microsoft.com/office/powerpoint/2010/main" val="3387283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AB79DC-1B07-4A67-A9A4-E6699B2CC55E}"/>
              </a:ext>
            </a:extLst>
          </p:cNvPr>
          <p:cNvSpPr>
            <a:spLocks noGrp="1"/>
          </p:cNvSpPr>
          <p:nvPr>
            <p:ph type="title"/>
          </p:nvPr>
        </p:nvSpPr>
        <p:spPr>
          <a:xfrm>
            <a:off x="838200" y="365126"/>
            <a:ext cx="10515600" cy="858368"/>
          </a:xfrm>
        </p:spPr>
        <p:txBody>
          <a:bodyPr/>
          <a:lstStyle/>
          <a:p>
            <a:r>
              <a:rPr lang="en-GB" b="0" i="0" dirty="0">
                <a:solidFill>
                  <a:srgbClr val="000000"/>
                </a:solidFill>
                <a:effectLst/>
                <a:latin typeface="Linux Libertine"/>
              </a:rPr>
              <a:t>Uses and Benefits</a:t>
            </a:r>
            <a:endParaRPr lang="en-GB" dirty="0"/>
          </a:p>
        </p:txBody>
      </p:sp>
      <p:sp>
        <p:nvSpPr>
          <p:cNvPr id="3" name="Content Placeholder 2">
            <a:extLst>
              <a:ext uri="{FF2B5EF4-FFF2-40B4-BE49-F238E27FC236}">
                <a16:creationId xmlns:a16="http://schemas.microsoft.com/office/drawing/2014/main" xmlns="" id="{A903A864-8A16-4424-81FF-650E9C7D2880}"/>
              </a:ext>
            </a:extLst>
          </p:cNvPr>
          <p:cNvSpPr>
            <a:spLocks noGrp="1"/>
          </p:cNvSpPr>
          <p:nvPr>
            <p:ph idx="1"/>
          </p:nvPr>
        </p:nvSpPr>
        <p:spPr>
          <a:xfrm>
            <a:off x="838200" y="1223494"/>
            <a:ext cx="10515600" cy="5306095"/>
          </a:xfrm>
        </p:spPr>
        <p:txBody>
          <a:bodyPr>
            <a:normAutofit/>
          </a:bodyPr>
          <a:lstStyle/>
          <a:p>
            <a:r>
              <a:rPr lang="en-GB" sz="3200" i="0" dirty="0">
                <a:solidFill>
                  <a:schemeClr val="tx1">
                    <a:lumMod val="95000"/>
                    <a:lumOff val="5000"/>
                  </a:schemeClr>
                </a:solidFill>
                <a:effectLst/>
                <a:latin typeface="Calibri" panose="020F0502020204030204" pitchFamily="34" charset="0"/>
                <a:cs typeface="Calibri" panose="020F0502020204030204" pitchFamily="34" charset="0"/>
              </a:rPr>
              <a:t>Knowledge management: alongside formal information and documents, organizations typically hold vast levels of knowledge amongst their employees. </a:t>
            </a:r>
          </a:p>
          <a:p>
            <a:r>
              <a:rPr lang="en-GB" sz="3200" dirty="0">
                <a:latin typeface="Calibri" panose="020F0502020204030204" pitchFamily="34" charset="0"/>
                <a:ea typeface="Roboto" panose="02000000000000000000" pitchFamily="2" charset="0"/>
                <a:cs typeface="Calibri" panose="020F0502020204030204" pitchFamily="34" charset="0"/>
              </a:rPr>
              <a:t>Completing tasks or workflows: combining forms or transactional applications with hosted information, intranets enable employees to self-serve and complete common processes</a:t>
            </a:r>
          </a:p>
          <a:p>
            <a:r>
              <a:rPr lang="en-GB" sz="3200" i="0" dirty="0">
                <a:effectLst/>
                <a:latin typeface="Calibri" panose="020F0502020204030204" pitchFamily="34" charset="0"/>
                <a:cs typeface="Calibri" panose="020F0502020204030204" pitchFamily="34" charset="0"/>
              </a:rPr>
              <a:t>Internal communications: through social and communication tools such as blogs, wikis, forums, and discussions, an intranet can be used to facilitate effective two-way internal communications between management and staff.</a:t>
            </a:r>
            <a:endParaRPr lang="en-GB" sz="3200" dirty="0">
              <a:latin typeface="Calibri" panose="020F0502020204030204" pitchFamily="34" charset="0"/>
              <a:ea typeface="Roboto" panose="02000000000000000000" pitchFamily="2" charset="0"/>
              <a:cs typeface="Calibri" panose="020F0502020204030204" pitchFamily="34" charset="0"/>
            </a:endParaRPr>
          </a:p>
          <a:p>
            <a:endParaRPr lang="en-GB" b="0" i="0" dirty="0">
              <a:solidFill>
                <a:srgbClr val="373A40"/>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92926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75495B-3C99-436E-9A1D-1DF9CFEFB3C6}"/>
              </a:ext>
            </a:extLst>
          </p:cNvPr>
          <p:cNvSpPr>
            <a:spLocks noGrp="1"/>
          </p:cNvSpPr>
          <p:nvPr>
            <p:ph type="title"/>
          </p:nvPr>
        </p:nvSpPr>
        <p:spPr>
          <a:xfrm>
            <a:off x="838200" y="365126"/>
            <a:ext cx="10515600" cy="755336"/>
          </a:xfrm>
        </p:spPr>
        <p:txBody>
          <a:bodyPr/>
          <a:lstStyle/>
          <a:p>
            <a:r>
              <a:rPr lang="en-GB" b="0" i="0" dirty="0">
                <a:solidFill>
                  <a:srgbClr val="000000"/>
                </a:solidFill>
                <a:effectLst/>
                <a:latin typeface="Linux Libertine"/>
              </a:rPr>
              <a:t>Uses and Benefits</a:t>
            </a:r>
            <a:endParaRPr lang="en-GB" dirty="0"/>
          </a:p>
        </p:txBody>
      </p:sp>
      <p:sp>
        <p:nvSpPr>
          <p:cNvPr id="3" name="Content Placeholder 2">
            <a:extLst>
              <a:ext uri="{FF2B5EF4-FFF2-40B4-BE49-F238E27FC236}">
                <a16:creationId xmlns:a16="http://schemas.microsoft.com/office/drawing/2014/main" xmlns="" id="{13723E16-EAF9-4D1A-8A73-41090689E9A8}"/>
              </a:ext>
            </a:extLst>
          </p:cNvPr>
          <p:cNvSpPr>
            <a:spLocks noGrp="1"/>
          </p:cNvSpPr>
          <p:nvPr>
            <p:ph idx="1"/>
          </p:nvPr>
        </p:nvSpPr>
        <p:spPr>
          <a:xfrm>
            <a:off x="838200" y="1120462"/>
            <a:ext cx="10515600" cy="5344732"/>
          </a:xfrm>
        </p:spPr>
        <p:txBody>
          <a:bodyPr>
            <a:normAutofit/>
          </a:bodyPr>
          <a:lstStyle/>
          <a:p>
            <a:r>
              <a:rPr lang="en-GB" sz="3200" b="1" i="0" dirty="0">
                <a:solidFill>
                  <a:srgbClr val="373A40"/>
                </a:solidFill>
                <a:effectLst/>
              </a:rPr>
              <a:t>Measuring and improving employee engagement</a:t>
            </a:r>
            <a:r>
              <a:rPr lang="en-GB" sz="3200" b="0" i="0" dirty="0">
                <a:solidFill>
                  <a:srgbClr val="373A40"/>
                </a:solidFill>
                <a:effectLst/>
              </a:rPr>
              <a:t>: it’s known to have a critical impact on business performance, yet presents one of the greatest challenges for business leaders.</a:t>
            </a:r>
          </a:p>
          <a:p>
            <a:r>
              <a:rPr lang="en-GB" sz="3200" b="1" i="0" dirty="0">
                <a:solidFill>
                  <a:srgbClr val="373A40"/>
                </a:solidFill>
                <a:effectLst/>
              </a:rPr>
              <a:t>Supporting strategic business objectives:</a:t>
            </a:r>
            <a:r>
              <a:rPr lang="en-GB" sz="3200" b="0" i="0" dirty="0">
                <a:solidFill>
                  <a:srgbClr val="373A40"/>
                </a:solidFill>
                <a:effectLst/>
              </a:rPr>
              <a:t> intranets can play an active role in support high-level business objectives</a:t>
            </a:r>
          </a:p>
          <a:p>
            <a:r>
              <a:rPr lang="en-GB" sz="3200" b="1" dirty="0">
                <a:solidFill>
                  <a:srgbClr val="202122"/>
                </a:solidFill>
                <a:effectLst/>
              </a:rPr>
              <a:t>Time</a:t>
            </a:r>
            <a:r>
              <a:rPr lang="en-GB" sz="3200" b="0" i="0" dirty="0">
                <a:solidFill>
                  <a:srgbClr val="202122"/>
                </a:solidFill>
                <a:effectLst/>
              </a:rPr>
              <a:t>: Intranets allow organizations to distribute information to employees on an </a:t>
            </a:r>
            <a:r>
              <a:rPr lang="en-GB" sz="3200" b="0" i="1" dirty="0">
                <a:solidFill>
                  <a:srgbClr val="202122"/>
                </a:solidFill>
                <a:effectLst/>
              </a:rPr>
              <a:t>as-needed</a:t>
            </a:r>
            <a:r>
              <a:rPr lang="en-GB" sz="3200" b="0" i="0" dirty="0">
                <a:solidFill>
                  <a:srgbClr val="202122"/>
                </a:solidFill>
                <a:effectLst/>
              </a:rPr>
              <a:t> basis;</a:t>
            </a:r>
          </a:p>
          <a:p>
            <a:r>
              <a:rPr lang="en-GB" sz="3200" b="1" dirty="0">
                <a:solidFill>
                  <a:srgbClr val="202122"/>
                </a:solidFill>
                <a:effectLst/>
              </a:rPr>
              <a:t>Cost-effectiveness</a:t>
            </a:r>
            <a:r>
              <a:rPr lang="en-GB" sz="3200" b="0" i="0" dirty="0">
                <a:solidFill>
                  <a:srgbClr val="202122"/>
                </a:solidFill>
                <a:effectLst/>
              </a:rPr>
              <a:t>: Users can view information and data via web-browser rather than maintaining physical documents such as procedure manuals, internal phone list and requisition forms</a:t>
            </a:r>
            <a:endParaRPr lang="en-GB" sz="3200" b="0" i="0" dirty="0">
              <a:solidFill>
                <a:srgbClr val="373A40"/>
              </a:solidFill>
              <a:effectLst/>
            </a:endParaRPr>
          </a:p>
          <a:p>
            <a:pPr marL="0" indent="0">
              <a:buNone/>
            </a:pPr>
            <a:endParaRPr lang="en-GB" sz="3200" dirty="0"/>
          </a:p>
        </p:txBody>
      </p:sp>
    </p:spTree>
    <p:extLst>
      <p:ext uri="{BB962C8B-B14F-4D97-AF65-F5344CB8AC3E}">
        <p14:creationId xmlns:p14="http://schemas.microsoft.com/office/powerpoint/2010/main" val="961263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a:xfrm>
            <a:off x="2049463" y="355601"/>
            <a:ext cx="8229600" cy="803275"/>
          </a:xfrm>
        </p:spPr>
        <p:txBody>
          <a:bodyPr anchor="t"/>
          <a:lstStyle/>
          <a:p>
            <a:pPr eaLnBrk="1" hangingPunct="1"/>
            <a:r>
              <a:rPr lang="en-US" altLang="en-US" smtClean="0">
                <a:latin typeface="Franklin Gothic Medium" panose="020B0603020102020204" pitchFamily="34" charset="0"/>
                <a:ea typeface="Franklin Gothic Medium" panose="020B0603020102020204" pitchFamily="34" charset="0"/>
                <a:cs typeface="Franklin Gothic Medium" panose="020B0603020102020204" pitchFamily="34" charset="0"/>
              </a:rPr>
              <a:t>Extranets </a:t>
            </a:r>
          </a:p>
        </p:txBody>
      </p:sp>
      <p:sp>
        <p:nvSpPr>
          <p:cNvPr id="95235" name="Content Placeholder 2"/>
          <p:cNvSpPr>
            <a:spLocks noGrp="1"/>
          </p:cNvSpPr>
          <p:nvPr>
            <p:ph idx="1"/>
          </p:nvPr>
        </p:nvSpPr>
        <p:spPr>
          <a:xfrm>
            <a:off x="1210614" y="1533526"/>
            <a:ext cx="9878096" cy="5128531"/>
          </a:xfrm>
        </p:spPr>
        <p:txBody>
          <a:bodyPr>
            <a:normAutofit/>
          </a:bodyPr>
          <a:lstStyle/>
          <a:p>
            <a:pPr eaLnBrk="1" hangingPunct="1"/>
            <a:r>
              <a:rPr lang="en-US" altLang="en-US" dirty="0" smtClean="0"/>
              <a:t>Secure network that:</a:t>
            </a:r>
          </a:p>
          <a:p>
            <a:pPr marL="639763" lvl="1" indent="-273050"/>
            <a:r>
              <a:rPr lang="en-US" altLang="en-US" sz="2800" dirty="0" smtClean="0"/>
              <a:t>Uses the Internet and Web technologies to connect intranets of business partners </a:t>
            </a:r>
          </a:p>
          <a:p>
            <a:pPr marL="639763" lvl="1" indent="-273050"/>
            <a:r>
              <a:rPr lang="en-US" altLang="en-US" sz="2800" dirty="0" smtClean="0"/>
              <a:t>Facilitates communication between organizations or between consumers</a:t>
            </a:r>
          </a:p>
          <a:p>
            <a:pPr marL="639763" lvl="1" indent="-273050"/>
            <a:endParaRPr lang="en-US" altLang="en-US" sz="2800" dirty="0"/>
          </a:p>
          <a:p>
            <a:pPr marL="639763" lvl="1" indent="-273050"/>
            <a:endParaRPr lang="en-US" altLang="en-US" sz="2800" dirty="0" smtClean="0"/>
          </a:p>
          <a:p>
            <a:pPr eaLnBrk="1" hangingPunct="1"/>
            <a:r>
              <a:rPr lang="en-US" altLang="en-US" dirty="0" smtClean="0"/>
              <a:t>Considered to be a type of inter-organizational system (IOS)</a:t>
            </a:r>
          </a:p>
          <a:p>
            <a:pPr marL="639763" lvl="1" indent="-273050"/>
            <a:r>
              <a:rPr lang="en-US" altLang="en-US" sz="2800" dirty="0" smtClean="0"/>
              <a:t>Electronic funds transfer (EFT) </a:t>
            </a:r>
          </a:p>
          <a:p>
            <a:pPr marL="639763" lvl="1" indent="-273050"/>
            <a:r>
              <a:rPr lang="en-US" altLang="en-US" sz="2800" dirty="0" smtClean="0"/>
              <a:t>Electronic data interchange (EDI) </a:t>
            </a:r>
          </a:p>
        </p:txBody>
      </p:sp>
    </p:spTree>
    <p:extLst>
      <p:ext uri="{BB962C8B-B14F-4D97-AF65-F5344CB8AC3E}">
        <p14:creationId xmlns:p14="http://schemas.microsoft.com/office/powerpoint/2010/main" val="9842491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a:xfrm>
            <a:off x="2049463" y="355601"/>
            <a:ext cx="8229600" cy="803275"/>
          </a:xfrm>
        </p:spPr>
        <p:txBody>
          <a:bodyPr anchor="t"/>
          <a:lstStyle/>
          <a:p>
            <a:pPr eaLnBrk="1" hangingPunct="1"/>
            <a:r>
              <a:rPr lang="en-US" altLang="en-US" smtClean="0">
                <a:latin typeface="Franklin Gothic Medium" panose="020B0603020102020204" pitchFamily="34" charset="0"/>
                <a:ea typeface="Franklin Gothic Medium" panose="020B0603020102020204" pitchFamily="34" charset="0"/>
                <a:cs typeface="Franklin Gothic Medium" panose="020B0603020102020204" pitchFamily="34" charset="0"/>
              </a:rPr>
              <a:t>Extranets </a:t>
            </a:r>
          </a:p>
        </p:txBody>
      </p:sp>
      <p:sp>
        <p:nvSpPr>
          <p:cNvPr id="97283" name="Content Placeholder 2"/>
          <p:cNvSpPr>
            <a:spLocks noGrp="1"/>
          </p:cNvSpPr>
          <p:nvPr>
            <p:ph idx="1"/>
          </p:nvPr>
        </p:nvSpPr>
        <p:spPr>
          <a:xfrm>
            <a:off x="2517775" y="1533526"/>
            <a:ext cx="7823200" cy="4227513"/>
          </a:xfrm>
        </p:spPr>
        <p:txBody>
          <a:bodyPr/>
          <a:lstStyle/>
          <a:p>
            <a:pPr eaLnBrk="1" hangingPunct="1"/>
            <a:r>
              <a:rPr lang="en-US" altLang="en-US" smtClean="0"/>
              <a:t>Allow companies to reduce internetworking costs and give competitive advantage</a:t>
            </a:r>
          </a:p>
          <a:p>
            <a:pPr marL="639763" lvl="1" indent="-273050"/>
            <a:r>
              <a:rPr lang="en-US" altLang="en-US" smtClean="0"/>
              <a:t>Leads to increased profits</a:t>
            </a:r>
          </a:p>
          <a:p>
            <a:pPr eaLnBrk="1" hangingPunct="1"/>
            <a:r>
              <a:rPr lang="en-US" altLang="en-US" smtClean="0"/>
              <a:t>Require a comprehensive security system and management control</a:t>
            </a:r>
          </a:p>
        </p:txBody>
      </p:sp>
    </p:spTree>
    <p:extLst>
      <p:ext uri="{BB962C8B-B14F-4D97-AF65-F5344CB8AC3E}">
        <p14:creationId xmlns:p14="http://schemas.microsoft.com/office/powerpoint/2010/main" val="25061131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a:xfrm>
            <a:off x="2976563" y="384175"/>
            <a:ext cx="7537450" cy="984250"/>
          </a:xfrm>
        </p:spPr>
        <p:txBody>
          <a:bodyPr/>
          <a:lstStyle/>
          <a:p>
            <a:pPr marL="1279525" indent="-1279525"/>
            <a:r>
              <a:rPr lang="en-IN" altLang="en-US" sz="3200">
                <a:solidFill>
                  <a:schemeClr val="bg1"/>
                </a:solidFill>
                <a:latin typeface="Franklin Gothic Medium" panose="020B0603020102020204" pitchFamily="34" charset="0"/>
                <a:ea typeface="Franklin Gothic Medium" panose="020B0603020102020204" pitchFamily="34" charset="0"/>
                <a:cs typeface="Franklin Gothic Medium" panose="020B0603020102020204" pitchFamily="34" charset="0"/>
              </a:rPr>
              <a:t>7.4	</a:t>
            </a:r>
            <a:r>
              <a:rPr lang="en-IN" altLang="en-US" sz="3200">
                <a:latin typeface="Franklin Gothic Medium" panose="020B0603020102020204" pitchFamily="34" charset="0"/>
                <a:ea typeface="Franklin Gothic Medium" panose="020B0603020102020204" pitchFamily="34" charset="0"/>
                <a:cs typeface="Franklin Gothic Medium" panose="020B0603020102020204" pitchFamily="34" charset="0"/>
              </a:rPr>
              <a:t>Simple Extranet Architecture</a:t>
            </a:r>
          </a:p>
        </p:txBody>
      </p:sp>
      <p:pic>
        <p:nvPicPr>
          <p:cNvPr id="99331"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62175" y="1574800"/>
            <a:ext cx="7867650"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39471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a:xfrm>
            <a:off x="2049463" y="355601"/>
            <a:ext cx="8229600" cy="803275"/>
          </a:xfrm>
        </p:spPr>
        <p:txBody>
          <a:bodyPr anchor="t"/>
          <a:lstStyle/>
          <a:p>
            <a:pPr eaLnBrk="1" hangingPunct="1"/>
            <a:r>
              <a:rPr lang="en-US" altLang="en-US" smtClean="0">
                <a:latin typeface="Franklin Gothic Medium" panose="020B0603020102020204" pitchFamily="34" charset="0"/>
                <a:ea typeface="Franklin Gothic Medium" panose="020B0603020102020204" pitchFamily="34" charset="0"/>
                <a:cs typeface="Franklin Gothic Medium" panose="020B0603020102020204" pitchFamily="34" charset="0"/>
              </a:rPr>
              <a:t>Advantages of Extranets</a:t>
            </a:r>
          </a:p>
        </p:txBody>
      </p:sp>
      <p:sp>
        <p:nvSpPr>
          <p:cNvPr id="100355" name="Content Placeholder 2"/>
          <p:cNvSpPr>
            <a:spLocks noGrp="1"/>
          </p:cNvSpPr>
          <p:nvPr>
            <p:ph idx="1"/>
          </p:nvPr>
        </p:nvSpPr>
        <p:spPr>
          <a:xfrm>
            <a:off x="2517775" y="1533526"/>
            <a:ext cx="7823200" cy="4227513"/>
          </a:xfrm>
        </p:spPr>
        <p:txBody>
          <a:bodyPr/>
          <a:lstStyle/>
          <a:p>
            <a:pPr marL="341313" indent="-273050"/>
            <a:r>
              <a:rPr lang="en-US" altLang="en-US" smtClean="0"/>
              <a:t>Coordination</a:t>
            </a:r>
          </a:p>
          <a:p>
            <a:pPr marL="341313" indent="-273050"/>
            <a:r>
              <a:rPr lang="en-US" altLang="en-US" smtClean="0"/>
              <a:t>Feedback</a:t>
            </a:r>
          </a:p>
          <a:p>
            <a:pPr marL="341313" indent="-273050"/>
            <a:r>
              <a:rPr lang="en-US" altLang="en-US" smtClean="0"/>
              <a:t>Consumer satisfaction</a:t>
            </a:r>
          </a:p>
          <a:p>
            <a:pPr marL="341313" indent="-273050"/>
            <a:r>
              <a:rPr lang="en-US" altLang="en-US" smtClean="0"/>
              <a:t>Cost reduction</a:t>
            </a:r>
          </a:p>
          <a:p>
            <a:pPr marL="341313" indent="-273050"/>
            <a:r>
              <a:rPr lang="en-US" altLang="en-US" smtClean="0"/>
              <a:t>Expedited communication</a:t>
            </a:r>
          </a:p>
          <a:p>
            <a:pPr marL="639763" lvl="1" indent="-273050"/>
            <a:endParaRPr lang="en-US" altLang="en-US" smtClean="0"/>
          </a:p>
        </p:txBody>
      </p:sp>
    </p:spTree>
    <p:extLst>
      <p:ext uri="{BB962C8B-B14F-4D97-AF65-F5344CB8AC3E}">
        <p14:creationId xmlns:p14="http://schemas.microsoft.com/office/powerpoint/2010/main" val="6122908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68809F-1A41-446B-9A68-FEFAB31A8E42}"/>
              </a:ext>
            </a:extLst>
          </p:cNvPr>
          <p:cNvSpPr>
            <a:spLocks noGrp="1"/>
          </p:cNvSpPr>
          <p:nvPr>
            <p:ph type="ctrTitle"/>
          </p:nvPr>
        </p:nvSpPr>
        <p:spPr/>
        <p:txBody>
          <a:bodyPr/>
          <a:lstStyle/>
          <a:p>
            <a:r>
              <a:rPr lang="en-GB" dirty="0" err="1"/>
              <a:t>WorkGroup</a:t>
            </a:r>
            <a:r>
              <a:rPr lang="en-GB" dirty="0"/>
              <a:t> Computing</a:t>
            </a:r>
          </a:p>
        </p:txBody>
      </p:sp>
    </p:spTree>
    <p:extLst>
      <p:ext uri="{BB962C8B-B14F-4D97-AF65-F5344CB8AC3E}">
        <p14:creationId xmlns:p14="http://schemas.microsoft.com/office/powerpoint/2010/main" val="2242262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FA1300-54DA-4C25-B0F6-DE7C62C24515}"/>
              </a:ext>
            </a:extLst>
          </p:cNvPr>
          <p:cNvSpPr>
            <a:spLocks noGrp="1"/>
          </p:cNvSpPr>
          <p:nvPr>
            <p:ph type="title"/>
          </p:nvPr>
        </p:nvSpPr>
        <p:spPr/>
        <p:txBody>
          <a:bodyPr/>
          <a:lstStyle/>
          <a:p>
            <a:r>
              <a:rPr lang="en-GB" dirty="0" err="1"/>
              <a:t>WorkGroup</a:t>
            </a:r>
            <a:r>
              <a:rPr lang="en-GB" dirty="0"/>
              <a:t> Computing</a:t>
            </a:r>
          </a:p>
        </p:txBody>
      </p:sp>
      <p:sp>
        <p:nvSpPr>
          <p:cNvPr id="3" name="Content Placeholder 2">
            <a:extLst>
              <a:ext uri="{FF2B5EF4-FFF2-40B4-BE49-F238E27FC236}">
                <a16:creationId xmlns:a16="http://schemas.microsoft.com/office/drawing/2014/main" xmlns="" id="{5A4A2DF8-568D-49F0-A5AF-7875D28B04D8}"/>
              </a:ext>
            </a:extLst>
          </p:cNvPr>
          <p:cNvSpPr>
            <a:spLocks noGrp="1"/>
          </p:cNvSpPr>
          <p:nvPr>
            <p:ph idx="1"/>
          </p:nvPr>
        </p:nvSpPr>
        <p:spPr/>
        <p:txBody>
          <a:bodyPr/>
          <a:lstStyle/>
          <a:p>
            <a:r>
              <a:rPr lang="en-GB" b="0" i="0" dirty="0">
                <a:solidFill>
                  <a:srgbClr val="333333"/>
                </a:solidFill>
                <a:effectLst/>
                <a:latin typeface="Arial" panose="020B0604020202020204" pitchFamily="34" charset="0"/>
              </a:rPr>
              <a:t>Workgroup computing refers to any computer system that replicates the manual work process.</a:t>
            </a:r>
          </a:p>
          <a:p>
            <a:r>
              <a:rPr lang="en-GB" b="0" i="0" dirty="0">
                <a:solidFill>
                  <a:srgbClr val="333333"/>
                </a:solidFill>
                <a:effectLst/>
                <a:latin typeface="Arial" panose="020B0604020202020204" pitchFamily="34" charset="0"/>
              </a:rPr>
              <a:t>Anytime two or more people work together sharing information on a computer system it can be defined as group computing.</a:t>
            </a:r>
            <a:endParaRPr lang="en-GB" dirty="0">
              <a:solidFill>
                <a:srgbClr val="333333"/>
              </a:solidFill>
              <a:latin typeface="Arial" panose="020B0604020202020204" pitchFamily="34" charset="0"/>
            </a:endParaRPr>
          </a:p>
          <a:p>
            <a:r>
              <a:rPr lang="en-GB" b="0" i="0" dirty="0">
                <a:solidFill>
                  <a:srgbClr val="333333"/>
                </a:solidFill>
                <a:effectLst/>
                <a:latin typeface="Arial" panose="020B0604020202020204" pitchFamily="34" charset="0"/>
              </a:rPr>
              <a:t>It is a way to electronically process human transactions.</a:t>
            </a:r>
          </a:p>
          <a:p>
            <a:r>
              <a:rPr lang="en-GB" b="0" i="0" dirty="0">
                <a:solidFill>
                  <a:srgbClr val="333333"/>
                </a:solidFill>
                <a:effectLst/>
                <a:latin typeface="Arial" panose="020B0604020202020204" pitchFamily="34" charset="0"/>
              </a:rPr>
              <a:t>The focus is on information sharing, coordination and collaboration</a:t>
            </a:r>
            <a:endParaRPr lang="en-GB" dirty="0">
              <a:solidFill>
                <a:srgbClr val="333333"/>
              </a:solidFill>
              <a:latin typeface="Arial" panose="020B0604020202020204" pitchFamily="34" charset="0"/>
            </a:endParaRPr>
          </a:p>
          <a:p>
            <a:r>
              <a:rPr lang="en-GB" b="0" i="0" dirty="0">
                <a:solidFill>
                  <a:srgbClr val="333333"/>
                </a:solidFill>
                <a:effectLst/>
                <a:latin typeface="Arial" panose="020B0604020202020204" pitchFamily="34" charset="0"/>
              </a:rPr>
              <a:t>When two people manually send letters or memos to each other, it is called a workgroup process.</a:t>
            </a:r>
            <a:endParaRPr lang="en-GB" dirty="0"/>
          </a:p>
        </p:txBody>
      </p:sp>
    </p:spTree>
    <p:extLst>
      <p:ext uri="{BB962C8B-B14F-4D97-AF65-F5344CB8AC3E}">
        <p14:creationId xmlns:p14="http://schemas.microsoft.com/office/powerpoint/2010/main" val="4100584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D2BAA9-6012-431E-8457-D06AF20B8F40}"/>
              </a:ext>
            </a:extLst>
          </p:cNvPr>
          <p:cNvSpPr>
            <a:spLocks noGrp="1"/>
          </p:cNvSpPr>
          <p:nvPr>
            <p:ph type="title"/>
          </p:nvPr>
        </p:nvSpPr>
        <p:spPr/>
        <p:txBody>
          <a:bodyPr/>
          <a:lstStyle/>
          <a:p>
            <a:r>
              <a:rPr lang="en-GB" dirty="0" err="1"/>
              <a:t>WorkGroup</a:t>
            </a:r>
            <a:r>
              <a:rPr lang="en-GB" dirty="0"/>
              <a:t> Computing</a:t>
            </a:r>
          </a:p>
        </p:txBody>
      </p:sp>
      <p:sp>
        <p:nvSpPr>
          <p:cNvPr id="3" name="Content Placeholder 2">
            <a:extLst>
              <a:ext uri="{FF2B5EF4-FFF2-40B4-BE49-F238E27FC236}">
                <a16:creationId xmlns:a16="http://schemas.microsoft.com/office/drawing/2014/main" xmlns="" id="{888140C5-48ED-4E2F-8A23-76F67CF66BAE}"/>
              </a:ext>
            </a:extLst>
          </p:cNvPr>
          <p:cNvSpPr>
            <a:spLocks noGrp="1"/>
          </p:cNvSpPr>
          <p:nvPr>
            <p:ph idx="1"/>
          </p:nvPr>
        </p:nvSpPr>
        <p:spPr/>
        <p:txBody>
          <a:bodyPr>
            <a:normAutofit lnSpcReduction="10000"/>
          </a:bodyPr>
          <a:lstStyle/>
          <a:p>
            <a:r>
              <a:rPr lang="en-GB" b="0" i="0" dirty="0">
                <a:solidFill>
                  <a:srgbClr val="333333"/>
                </a:solidFill>
                <a:effectLst/>
                <a:latin typeface="Arial" panose="020B0604020202020204" pitchFamily="34" charset="0"/>
              </a:rPr>
              <a:t>When two people send the same letters or memos using e-mail, it is referred to as workgroup computing</a:t>
            </a:r>
          </a:p>
          <a:p>
            <a:r>
              <a:rPr lang="en-GB" b="0" i="0" dirty="0">
                <a:solidFill>
                  <a:srgbClr val="333333"/>
                </a:solidFill>
                <a:effectLst/>
                <a:latin typeface="Arial" panose="020B0604020202020204" pitchFamily="34" charset="0"/>
              </a:rPr>
              <a:t>Any software that supports workgroup computing can be labelled as groupware.</a:t>
            </a:r>
            <a:endParaRPr lang="en-GB" dirty="0">
              <a:solidFill>
                <a:srgbClr val="333333"/>
              </a:solidFill>
              <a:latin typeface="Arial" panose="020B0604020202020204" pitchFamily="34" charset="0"/>
            </a:endParaRPr>
          </a:p>
          <a:p>
            <a:r>
              <a:rPr lang="en-GB" b="0" i="0" dirty="0">
                <a:solidFill>
                  <a:srgbClr val="333333"/>
                </a:solidFill>
                <a:effectLst/>
                <a:latin typeface="Arial" panose="020B0604020202020204" pitchFamily="34" charset="0"/>
              </a:rPr>
              <a:t>There are three different levels of group computing:</a:t>
            </a:r>
          </a:p>
          <a:p>
            <a:pPr marL="514350" indent="-514350">
              <a:buFont typeface="+mj-lt"/>
              <a:buAutoNum type="arabicPeriod"/>
            </a:pPr>
            <a:r>
              <a:rPr lang="en-GB" b="1" i="0" dirty="0">
                <a:solidFill>
                  <a:srgbClr val="333333"/>
                </a:solidFill>
                <a:effectLst/>
                <a:latin typeface="Arial" panose="020B0604020202020204" pitchFamily="34" charset="0"/>
              </a:rPr>
              <a:t>Individual level</a:t>
            </a:r>
          </a:p>
          <a:p>
            <a:r>
              <a:rPr lang="en-GB" b="0" i="0" dirty="0">
                <a:solidFill>
                  <a:srgbClr val="333333"/>
                </a:solidFill>
                <a:effectLst/>
                <a:latin typeface="Arial" panose="020B0604020202020204" pitchFamily="34" charset="0"/>
              </a:rPr>
              <a:t>On this level the members individually work toward a group goal but there is no group coordination</a:t>
            </a:r>
          </a:p>
          <a:p>
            <a:r>
              <a:rPr lang="en-GB" b="0" i="0" dirty="0">
                <a:solidFill>
                  <a:srgbClr val="333333"/>
                </a:solidFill>
                <a:effectLst/>
                <a:latin typeface="Arial" panose="020B0604020202020204" pitchFamily="34" charset="0"/>
              </a:rPr>
              <a:t>Members use word processors, spreadsheets and databases, but do not coordinate their efforts</a:t>
            </a:r>
          </a:p>
        </p:txBody>
      </p:sp>
    </p:spTree>
    <p:extLst>
      <p:ext uri="{BB962C8B-B14F-4D97-AF65-F5344CB8AC3E}">
        <p14:creationId xmlns:p14="http://schemas.microsoft.com/office/powerpoint/2010/main" val="1251558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B48519-D68A-4AFF-B25D-777055F76FF4}"/>
              </a:ext>
            </a:extLst>
          </p:cNvPr>
          <p:cNvSpPr>
            <a:spLocks noGrp="1"/>
          </p:cNvSpPr>
          <p:nvPr>
            <p:ph type="title"/>
          </p:nvPr>
        </p:nvSpPr>
        <p:spPr>
          <a:xfrm>
            <a:off x="838200" y="365125"/>
            <a:ext cx="10515600" cy="909883"/>
          </a:xfrm>
        </p:spPr>
        <p:txBody>
          <a:bodyPr/>
          <a:lstStyle/>
          <a:p>
            <a:r>
              <a:rPr lang="en-GB" dirty="0" err="1"/>
              <a:t>WorkGroup</a:t>
            </a:r>
            <a:r>
              <a:rPr lang="en-GB" dirty="0"/>
              <a:t> Computing</a:t>
            </a:r>
          </a:p>
        </p:txBody>
      </p:sp>
      <p:sp>
        <p:nvSpPr>
          <p:cNvPr id="3" name="Content Placeholder 2">
            <a:extLst>
              <a:ext uri="{FF2B5EF4-FFF2-40B4-BE49-F238E27FC236}">
                <a16:creationId xmlns:a16="http://schemas.microsoft.com/office/drawing/2014/main" xmlns="" id="{D89DEDD3-D919-4A27-BF1D-3A3516D5A93A}"/>
              </a:ext>
            </a:extLst>
          </p:cNvPr>
          <p:cNvSpPr>
            <a:spLocks noGrp="1"/>
          </p:cNvSpPr>
          <p:nvPr>
            <p:ph idx="1"/>
          </p:nvPr>
        </p:nvSpPr>
        <p:spPr>
          <a:xfrm>
            <a:off x="838200" y="1275008"/>
            <a:ext cx="10515600" cy="4901955"/>
          </a:xfrm>
        </p:spPr>
        <p:txBody>
          <a:bodyPr/>
          <a:lstStyle/>
          <a:p>
            <a:r>
              <a:rPr lang="en-GB" b="0" i="0" dirty="0">
                <a:solidFill>
                  <a:srgbClr val="333333"/>
                </a:solidFill>
                <a:effectLst/>
                <a:latin typeface="Arial" panose="020B0604020202020204" pitchFamily="34" charset="0"/>
              </a:rPr>
              <a:t>Here, we find duplication and lack of sharing of work that oftentimes produces inconsistent </a:t>
            </a:r>
            <a:r>
              <a:rPr lang="en-GB" b="0" i="0" dirty="0" smtClean="0">
                <a:solidFill>
                  <a:srgbClr val="333333"/>
                </a:solidFill>
                <a:effectLst/>
                <a:latin typeface="Arial" panose="020B0604020202020204" pitchFamily="34" charset="0"/>
              </a:rPr>
              <a:t>results</a:t>
            </a:r>
          </a:p>
          <a:p>
            <a:endParaRPr lang="en-GB" b="0" i="0" dirty="0">
              <a:solidFill>
                <a:srgbClr val="333333"/>
              </a:solidFill>
              <a:effectLst/>
              <a:latin typeface="Arial" panose="020B0604020202020204" pitchFamily="34" charset="0"/>
            </a:endParaRPr>
          </a:p>
          <a:p>
            <a:pPr marL="514350" indent="-514350">
              <a:buFont typeface="+mj-lt"/>
              <a:buAutoNum type="arabicPeriod" startAt="2"/>
            </a:pPr>
            <a:r>
              <a:rPr lang="en-GB" b="1" i="0" dirty="0">
                <a:solidFill>
                  <a:srgbClr val="333333"/>
                </a:solidFill>
                <a:effectLst/>
                <a:latin typeface="Arial" panose="020B0604020202020204" pitchFamily="34" charset="0"/>
              </a:rPr>
              <a:t>Coordinated effort</a:t>
            </a:r>
          </a:p>
          <a:p>
            <a:r>
              <a:rPr lang="en-GB" b="0" i="0" dirty="0">
                <a:solidFill>
                  <a:srgbClr val="333333"/>
                </a:solidFill>
                <a:effectLst/>
                <a:latin typeface="Arial" panose="020B0604020202020204" pitchFamily="34" charset="0"/>
              </a:rPr>
              <a:t>On this level, the members coordinate and actively manage the flow of work by structuring work processes</a:t>
            </a:r>
            <a:endParaRPr lang="en-GB" b="1" dirty="0">
              <a:solidFill>
                <a:srgbClr val="333333"/>
              </a:solidFill>
              <a:latin typeface="Arial" panose="020B0604020202020204" pitchFamily="34" charset="0"/>
            </a:endParaRPr>
          </a:p>
          <a:p>
            <a:r>
              <a:rPr lang="en-GB" b="0" i="0" dirty="0">
                <a:solidFill>
                  <a:srgbClr val="333333"/>
                </a:solidFill>
                <a:effectLst/>
                <a:latin typeface="Arial" panose="020B0604020202020204" pitchFamily="34" charset="0"/>
              </a:rPr>
              <a:t> It goes beyond individual automation and provides a structured work environment.</a:t>
            </a:r>
            <a:endParaRPr lang="en-GB" b="1" i="0" dirty="0">
              <a:solidFill>
                <a:srgbClr val="333333"/>
              </a:solidFill>
              <a:effectLst/>
              <a:latin typeface="Arial" panose="020B0604020202020204" pitchFamily="34" charset="0"/>
            </a:endParaRPr>
          </a:p>
          <a:p>
            <a:r>
              <a:rPr lang="en-GB" b="0" i="0" dirty="0">
                <a:solidFill>
                  <a:srgbClr val="333333"/>
                </a:solidFill>
                <a:effectLst/>
                <a:latin typeface="Arial" panose="020B0604020202020204" pitchFamily="34" charset="0"/>
              </a:rPr>
              <a:t>The structures are the processes that need to be completed for a legal function</a:t>
            </a:r>
            <a:endParaRPr lang="en-GB" b="1" dirty="0"/>
          </a:p>
        </p:txBody>
      </p:sp>
    </p:spTree>
    <p:extLst>
      <p:ext uri="{BB962C8B-B14F-4D97-AF65-F5344CB8AC3E}">
        <p14:creationId xmlns:p14="http://schemas.microsoft.com/office/powerpoint/2010/main" val="4271810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9434F9-9D4E-4AF7-BD50-C576CB8B1CF3}"/>
              </a:ext>
            </a:extLst>
          </p:cNvPr>
          <p:cNvSpPr>
            <a:spLocks noGrp="1"/>
          </p:cNvSpPr>
          <p:nvPr>
            <p:ph type="title"/>
          </p:nvPr>
        </p:nvSpPr>
        <p:spPr/>
        <p:txBody>
          <a:bodyPr/>
          <a:lstStyle/>
          <a:p>
            <a:r>
              <a:rPr lang="en-GB" dirty="0" err="1"/>
              <a:t>WorkGroup</a:t>
            </a:r>
            <a:r>
              <a:rPr lang="en-GB" dirty="0"/>
              <a:t> Computing</a:t>
            </a:r>
          </a:p>
        </p:txBody>
      </p:sp>
      <p:sp>
        <p:nvSpPr>
          <p:cNvPr id="3" name="Content Placeholder 2">
            <a:extLst>
              <a:ext uri="{FF2B5EF4-FFF2-40B4-BE49-F238E27FC236}">
                <a16:creationId xmlns:a16="http://schemas.microsoft.com/office/drawing/2014/main" xmlns="" id="{4DDC5E75-3B64-46FC-9FA2-CAAB0C1E9305}"/>
              </a:ext>
            </a:extLst>
          </p:cNvPr>
          <p:cNvSpPr>
            <a:spLocks noGrp="1"/>
          </p:cNvSpPr>
          <p:nvPr>
            <p:ph idx="1"/>
          </p:nvPr>
        </p:nvSpPr>
        <p:spPr>
          <a:xfrm>
            <a:off x="838200" y="1825625"/>
            <a:ext cx="10515600" cy="4667250"/>
          </a:xfrm>
        </p:spPr>
        <p:txBody>
          <a:bodyPr>
            <a:normAutofit/>
          </a:bodyPr>
          <a:lstStyle/>
          <a:p>
            <a:r>
              <a:rPr lang="en-GB" b="0" i="0" dirty="0" smtClean="0">
                <a:solidFill>
                  <a:srgbClr val="333333"/>
                </a:solidFill>
                <a:effectLst/>
                <a:latin typeface="Arial" panose="020B0604020202020204" pitchFamily="34" charset="0"/>
              </a:rPr>
              <a:t>The </a:t>
            </a:r>
            <a:r>
              <a:rPr lang="en-GB" b="0" i="0" dirty="0">
                <a:solidFill>
                  <a:srgbClr val="333333"/>
                </a:solidFill>
                <a:effectLst/>
                <a:latin typeface="Arial" panose="020B0604020202020204" pitchFamily="34" charset="0"/>
              </a:rPr>
              <a:t>coordinated effort focuses on the communication in the transmitting and receiving of messages.</a:t>
            </a:r>
          </a:p>
          <a:p>
            <a:r>
              <a:rPr lang="en-GB" b="0" i="0" dirty="0">
                <a:solidFill>
                  <a:srgbClr val="333333"/>
                </a:solidFill>
                <a:effectLst/>
                <a:latin typeface="Arial" panose="020B0604020202020204" pitchFamily="34" charset="0"/>
              </a:rPr>
              <a:t>The basic tool for information sharing is e-mail. </a:t>
            </a:r>
          </a:p>
          <a:p>
            <a:r>
              <a:rPr lang="en-GB" b="0" i="0" dirty="0">
                <a:solidFill>
                  <a:srgbClr val="333333"/>
                </a:solidFill>
                <a:effectLst/>
                <a:latin typeface="Arial" panose="020B0604020202020204" pitchFamily="34" charset="0"/>
              </a:rPr>
              <a:t>There are no time and place barriers. It pushes information to others</a:t>
            </a:r>
          </a:p>
          <a:p>
            <a:r>
              <a:rPr lang="en-GB" b="0" i="0" dirty="0">
                <a:solidFill>
                  <a:srgbClr val="333333"/>
                </a:solidFill>
                <a:effectLst/>
                <a:latin typeface="Arial" panose="020B0604020202020204" pitchFamily="34" charset="0"/>
              </a:rPr>
              <a:t>Other tools that support these coordinated efforts are schedulers, project managers, shared databases, and workflow automation software. </a:t>
            </a:r>
          </a:p>
          <a:p>
            <a:r>
              <a:rPr lang="en-GB" b="0" i="0" dirty="0">
                <a:solidFill>
                  <a:srgbClr val="333333"/>
                </a:solidFill>
                <a:effectLst/>
                <a:latin typeface="Arial" panose="020B0604020202020204" pitchFamily="34" charset="0"/>
              </a:rPr>
              <a:t>This may require some development or customization of commercial software packages.</a:t>
            </a:r>
            <a:endParaRPr lang="en-GB" dirty="0"/>
          </a:p>
        </p:txBody>
      </p:sp>
    </p:spTree>
    <p:extLst>
      <p:ext uri="{BB962C8B-B14F-4D97-AF65-F5344CB8AC3E}">
        <p14:creationId xmlns:p14="http://schemas.microsoft.com/office/powerpoint/2010/main" val="3393012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B62A0F-A237-49A7-A3ED-7D079439B02B}"/>
              </a:ext>
            </a:extLst>
          </p:cNvPr>
          <p:cNvSpPr>
            <a:spLocks noGrp="1"/>
          </p:cNvSpPr>
          <p:nvPr>
            <p:ph type="title"/>
          </p:nvPr>
        </p:nvSpPr>
        <p:spPr>
          <a:xfrm>
            <a:off x="838200" y="365125"/>
            <a:ext cx="10515600" cy="1057275"/>
          </a:xfrm>
        </p:spPr>
        <p:txBody>
          <a:bodyPr/>
          <a:lstStyle/>
          <a:p>
            <a:r>
              <a:rPr lang="en-GB" dirty="0" err="1"/>
              <a:t>WorkGroup</a:t>
            </a:r>
            <a:r>
              <a:rPr lang="en-GB" dirty="0"/>
              <a:t> Computing</a:t>
            </a:r>
          </a:p>
        </p:txBody>
      </p:sp>
      <p:sp>
        <p:nvSpPr>
          <p:cNvPr id="3" name="Content Placeholder 2">
            <a:extLst>
              <a:ext uri="{FF2B5EF4-FFF2-40B4-BE49-F238E27FC236}">
                <a16:creationId xmlns:a16="http://schemas.microsoft.com/office/drawing/2014/main" xmlns="" id="{A87F8224-C496-48AA-AC6A-54C4825D50E2}"/>
              </a:ext>
            </a:extLst>
          </p:cNvPr>
          <p:cNvSpPr>
            <a:spLocks noGrp="1"/>
          </p:cNvSpPr>
          <p:nvPr>
            <p:ph idx="1"/>
          </p:nvPr>
        </p:nvSpPr>
        <p:spPr>
          <a:xfrm>
            <a:off x="838200" y="1422400"/>
            <a:ext cx="10515600" cy="5070475"/>
          </a:xfrm>
        </p:spPr>
        <p:txBody>
          <a:bodyPr>
            <a:normAutofit/>
          </a:bodyPr>
          <a:lstStyle/>
          <a:p>
            <a:pPr marL="514350" indent="-514350">
              <a:buFont typeface="+mj-lt"/>
              <a:buAutoNum type="arabicPeriod" startAt="3"/>
            </a:pPr>
            <a:r>
              <a:rPr lang="en-GB" b="1" i="0" dirty="0">
                <a:solidFill>
                  <a:srgbClr val="333333"/>
                </a:solidFill>
                <a:effectLst/>
                <a:latin typeface="Arial" panose="020B0604020202020204" pitchFamily="34" charset="0"/>
              </a:rPr>
              <a:t>Collaborating</a:t>
            </a:r>
          </a:p>
          <a:p>
            <a:r>
              <a:rPr lang="en-GB" b="0" i="0" dirty="0">
                <a:solidFill>
                  <a:srgbClr val="333333"/>
                </a:solidFill>
                <a:effectLst/>
                <a:latin typeface="Arial" panose="020B0604020202020204" pitchFamily="34" charset="0"/>
              </a:rPr>
              <a:t>Members here make concerted efforts for information sharing, discussions, and obtaining other information as needed</a:t>
            </a:r>
            <a:endParaRPr lang="en-GB" b="1" dirty="0">
              <a:solidFill>
                <a:srgbClr val="333333"/>
              </a:solidFill>
              <a:latin typeface="Arial" panose="020B0604020202020204" pitchFamily="34" charset="0"/>
            </a:endParaRPr>
          </a:p>
          <a:p>
            <a:r>
              <a:rPr lang="en-GB" b="0" i="0" dirty="0">
                <a:solidFill>
                  <a:srgbClr val="333333"/>
                </a:solidFill>
                <a:effectLst/>
                <a:latin typeface="Arial" panose="020B0604020202020204" pitchFamily="34" charset="0"/>
              </a:rPr>
              <a:t>It pulls information from many different data storage areas for use by all the team members</a:t>
            </a:r>
            <a:endParaRPr lang="en-GB" b="1" i="0" dirty="0">
              <a:solidFill>
                <a:srgbClr val="333333"/>
              </a:solidFill>
              <a:effectLst/>
              <a:latin typeface="Arial" panose="020B0604020202020204" pitchFamily="34" charset="0"/>
            </a:endParaRPr>
          </a:p>
          <a:p>
            <a:r>
              <a:rPr lang="en-GB" b="0" i="0" dirty="0">
                <a:solidFill>
                  <a:srgbClr val="333333"/>
                </a:solidFill>
                <a:effectLst/>
                <a:latin typeface="Arial" panose="020B0604020202020204" pitchFamily="34" charset="0"/>
              </a:rPr>
              <a:t> It is a “virtual” workplace that allows collaborative information exchanges without the constraints of time and space</a:t>
            </a:r>
            <a:endParaRPr lang="en-GB" b="1" dirty="0">
              <a:solidFill>
                <a:srgbClr val="333333"/>
              </a:solidFill>
              <a:latin typeface="Arial" panose="020B0604020202020204" pitchFamily="34" charset="0"/>
            </a:endParaRPr>
          </a:p>
          <a:p>
            <a:r>
              <a:rPr lang="en-GB" b="0" i="0" dirty="0">
                <a:solidFill>
                  <a:srgbClr val="333333"/>
                </a:solidFill>
                <a:effectLst/>
                <a:latin typeface="Arial" panose="020B0604020202020204" pitchFamily="34" charset="0"/>
              </a:rPr>
              <a:t>Shared whiteboards, electronic brainstorming, shared editors, electronic conferencing, and electronic voting are technology tools that are supportive of this group dynamic.</a:t>
            </a:r>
            <a:endParaRPr lang="en-GB" b="1" dirty="0"/>
          </a:p>
        </p:txBody>
      </p:sp>
    </p:spTree>
    <p:extLst>
      <p:ext uri="{BB962C8B-B14F-4D97-AF65-F5344CB8AC3E}">
        <p14:creationId xmlns:p14="http://schemas.microsoft.com/office/powerpoint/2010/main" val="2353445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1A8006-D06B-4203-B26B-9EB575F8E104}"/>
              </a:ext>
            </a:extLst>
          </p:cNvPr>
          <p:cNvSpPr>
            <a:spLocks noGrp="1"/>
          </p:cNvSpPr>
          <p:nvPr>
            <p:ph type="title"/>
          </p:nvPr>
        </p:nvSpPr>
        <p:spPr>
          <a:xfrm>
            <a:off x="838200" y="365125"/>
            <a:ext cx="10515600" cy="879475"/>
          </a:xfrm>
        </p:spPr>
        <p:txBody>
          <a:bodyPr/>
          <a:lstStyle/>
          <a:p>
            <a:r>
              <a:rPr lang="en-GB" dirty="0" err="1"/>
              <a:t>WorkGroup</a:t>
            </a:r>
            <a:r>
              <a:rPr lang="en-GB" dirty="0"/>
              <a:t> Computing</a:t>
            </a:r>
          </a:p>
        </p:txBody>
      </p:sp>
      <p:sp>
        <p:nvSpPr>
          <p:cNvPr id="3" name="Content Placeholder 2">
            <a:extLst>
              <a:ext uri="{FF2B5EF4-FFF2-40B4-BE49-F238E27FC236}">
                <a16:creationId xmlns:a16="http://schemas.microsoft.com/office/drawing/2014/main" xmlns="" id="{BAD57B6F-E0BF-4B2D-BCAB-6612C086BA4B}"/>
              </a:ext>
            </a:extLst>
          </p:cNvPr>
          <p:cNvSpPr>
            <a:spLocks noGrp="1"/>
          </p:cNvSpPr>
          <p:nvPr>
            <p:ph idx="1"/>
          </p:nvPr>
        </p:nvSpPr>
        <p:spPr>
          <a:xfrm>
            <a:off x="838200" y="1244600"/>
            <a:ext cx="10515600" cy="5248275"/>
          </a:xfrm>
        </p:spPr>
        <p:txBody>
          <a:bodyPr>
            <a:normAutofit lnSpcReduction="10000"/>
          </a:bodyPr>
          <a:lstStyle/>
          <a:p>
            <a:r>
              <a:rPr lang="en-GB" b="0" i="0" dirty="0">
                <a:solidFill>
                  <a:srgbClr val="333333"/>
                </a:solidFill>
                <a:effectLst/>
                <a:latin typeface="Arial" panose="020B0604020202020204" pitchFamily="34" charset="0"/>
              </a:rPr>
              <a:t>There are several different types of group computing</a:t>
            </a:r>
          </a:p>
          <a:p>
            <a:pPr algn="just">
              <a:spcAft>
                <a:spcPts val="0"/>
              </a:spcAft>
              <a:buFont typeface="Arial" panose="020B0604020202020204" pitchFamily="34" charset="0"/>
              <a:buChar char="•"/>
            </a:pPr>
            <a:r>
              <a:rPr lang="en-GB" sz="2800" b="0" i="0" dirty="0">
                <a:solidFill>
                  <a:srgbClr val="333333"/>
                </a:solidFill>
                <a:effectLst/>
                <a:latin typeface="Arial" panose="020B0604020202020204" pitchFamily="34" charset="0"/>
              </a:rPr>
              <a:t>Teleconferencing is a meeting among people in different geographical locations using the telephone.</a:t>
            </a:r>
          </a:p>
          <a:p>
            <a:pPr algn="just">
              <a:spcAft>
                <a:spcPts val="0"/>
              </a:spcAft>
              <a:buFont typeface="Arial" panose="020B0604020202020204" pitchFamily="34" charset="0"/>
              <a:buChar char="•"/>
            </a:pPr>
            <a:r>
              <a:rPr lang="en-GB" sz="2800" b="0" i="0" dirty="0">
                <a:solidFill>
                  <a:srgbClr val="333333"/>
                </a:solidFill>
                <a:effectLst/>
                <a:latin typeface="Arial" panose="020B0604020202020204" pitchFamily="34" charset="0"/>
              </a:rPr>
              <a:t>Computer teleconferencing is a keyboard conference among several users at computers linked through a network or the Internet.</a:t>
            </a:r>
          </a:p>
          <a:p>
            <a:pPr algn="just">
              <a:spcAft>
                <a:spcPts val="0"/>
              </a:spcAft>
              <a:buFont typeface="Arial" panose="020B0604020202020204" pitchFamily="34" charset="0"/>
              <a:buChar char="•"/>
            </a:pPr>
            <a:r>
              <a:rPr lang="en-GB" sz="2800" b="0" i="0" dirty="0">
                <a:solidFill>
                  <a:srgbClr val="333333"/>
                </a:solidFill>
                <a:effectLst/>
                <a:latin typeface="Arial" panose="020B0604020202020204" pitchFamily="34" charset="0"/>
              </a:rPr>
              <a:t>Document conferencing participants not only see and hear each other, but work on text and graphic projects at the same time.</a:t>
            </a:r>
          </a:p>
          <a:p>
            <a:pPr algn="just">
              <a:spcAft>
                <a:spcPts val="0"/>
              </a:spcAft>
              <a:buFont typeface="Arial" panose="020B0604020202020204" pitchFamily="34" charset="0"/>
              <a:buChar char="•"/>
            </a:pPr>
            <a:r>
              <a:rPr lang="en-GB" b="0" i="0" dirty="0">
                <a:solidFill>
                  <a:srgbClr val="333333"/>
                </a:solidFill>
                <a:effectLst/>
                <a:latin typeface="Arial" panose="020B0604020202020204" pitchFamily="34" charset="0"/>
              </a:rPr>
              <a:t>Application sharing is allowing all the participants to run a software program that is located on one user’s machine</a:t>
            </a:r>
          </a:p>
          <a:p>
            <a:pPr algn="just">
              <a:spcAft>
                <a:spcPts val="0"/>
              </a:spcAft>
              <a:buFont typeface="Arial" panose="020B0604020202020204" pitchFamily="34" charset="0"/>
              <a:buChar char="•"/>
            </a:pPr>
            <a:r>
              <a:rPr lang="en-GB" b="0" i="0" dirty="0">
                <a:solidFill>
                  <a:srgbClr val="333333"/>
                </a:solidFill>
                <a:effectLst/>
                <a:latin typeface="Arial" panose="020B0604020202020204" pitchFamily="34" charset="0"/>
              </a:rPr>
              <a:t>Videoconferencing is where two or more people are sharing video of each other or others</a:t>
            </a:r>
            <a:endParaRPr lang="en-GB" sz="2800" b="0" i="0" dirty="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918007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670EB356-5843-47B7-820B-27C07442538D}"/>
              </a:ext>
            </a:extLst>
          </p:cNvPr>
          <p:cNvSpPr>
            <a:spLocks noGrp="1"/>
          </p:cNvSpPr>
          <p:nvPr>
            <p:ph type="ctrTitle"/>
          </p:nvPr>
        </p:nvSpPr>
        <p:spPr/>
        <p:txBody>
          <a:bodyPr/>
          <a:lstStyle/>
          <a:p>
            <a:r>
              <a:rPr lang="en-GB" dirty="0"/>
              <a:t>Electronic Data Exchange(EDI)</a:t>
            </a:r>
          </a:p>
        </p:txBody>
      </p:sp>
      <p:sp>
        <p:nvSpPr>
          <p:cNvPr id="5" name="Subtitle 4">
            <a:extLst>
              <a:ext uri="{FF2B5EF4-FFF2-40B4-BE49-F238E27FC236}">
                <a16:creationId xmlns:a16="http://schemas.microsoft.com/office/drawing/2014/main" xmlns="" id="{384E4C92-B667-4520-9DCA-7F6EF8686756}"/>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8864495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25C55C-2FAB-4060-A31F-921C0C06DA1B}"/>
              </a:ext>
            </a:extLst>
          </p:cNvPr>
          <p:cNvSpPr>
            <a:spLocks noGrp="1"/>
          </p:cNvSpPr>
          <p:nvPr>
            <p:ph type="title"/>
          </p:nvPr>
        </p:nvSpPr>
        <p:spPr/>
        <p:txBody>
          <a:bodyPr/>
          <a:lstStyle/>
          <a:p>
            <a:r>
              <a:rPr lang="en-GB" dirty="0"/>
              <a:t>Overview of EDI</a:t>
            </a:r>
          </a:p>
        </p:txBody>
      </p:sp>
      <p:sp>
        <p:nvSpPr>
          <p:cNvPr id="3" name="Content Placeholder 2">
            <a:extLst>
              <a:ext uri="{FF2B5EF4-FFF2-40B4-BE49-F238E27FC236}">
                <a16:creationId xmlns:a16="http://schemas.microsoft.com/office/drawing/2014/main" xmlns="" id="{C320E1E4-35EB-4838-A1A2-54B3DFA7B39B}"/>
              </a:ext>
            </a:extLst>
          </p:cNvPr>
          <p:cNvSpPr>
            <a:spLocks noGrp="1"/>
          </p:cNvSpPr>
          <p:nvPr>
            <p:ph idx="1"/>
          </p:nvPr>
        </p:nvSpPr>
        <p:spPr>
          <a:xfrm>
            <a:off x="838200" y="1825625"/>
            <a:ext cx="10515600" cy="4667250"/>
          </a:xfrm>
        </p:spPr>
        <p:txBody>
          <a:bodyPr>
            <a:normAutofit fontScale="92500" lnSpcReduction="20000"/>
          </a:bodyPr>
          <a:lstStyle/>
          <a:p>
            <a:r>
              <a:rPr lang="en-GB" sz="2800" b="0" i="0" dirty="0">
                <a:solidFill>
                  <a:srgbClr val="262324"/>
                </a:solidFill>
                <a:effectLst/>
                <a:latin typeface="UniversLT-Light"/>
              </a:rPr>
              <a:t>Electronic Data Interchange (EDI) is the computer-to-computer movement of routine business data in an approved standard format (e.g., ANSI ASC X12, EDIFACT or TRADACOMS)</a:t>
            </a:r>
            <a:r>
              <a:rPr lang="en-GB" dirty="0"/>
              <a:t> </a:t>
            </a:r>
          </a:p>
          <a:p>
            <a:r>
              <a:rPr lang="en-GB" sz="2800" b="0" i="0" dirty="0">
                <a:solidFill>
                  <a:srgbClr val="262324"/>
                </a:solidFill>
                <a:effectLst/>
                <a:latin typeface="UniversLT-Light"/>
              </a:rPr>
              <a:t>Companies that decide to trade business data with each other using EDI are called trading partners</a:t>
            </a:r>
            <a:r>
              <a:rPr lang="en-GB" dirty="0"/>
              <a:t> </a:t>
            </a:r>
          </a:p>
          <a:p>
            <a:r>
              <a:rPr lang="en-GB" sz="2800" b="0" i="0" dirty="0">
                <a:solidFill>
                  <a:srgbClr val="262324"/>
                </a:solidFill>
                <a:effectLst/>
                <a:latin typeface="UniversLT-Light"/>
              </a:rPr>
              <a:t>The trading partners must decide which transaction sets (EDI business documents) will be exchanged electronically,</a:t>
            </a:r>
            <a:endParaRPr lang="en-GB" dirty="0"/>
          </a:p>
          <a:p>
            <a:r>
              <a:rPr lang="en-GB" sz="2800" b="0" i="0" dirty="0">
                <a:solidFill>
                  <a:srgbClr val="262324"/>
                </a:solidFill>
                <a:effectLst/>
                <a:latin typeface="UniversLT-Light"/>
              </a:rPr>
              <a:t>what information will be included (i.e., what segments and data elements within the transaction set should be sent and received),</a:t>
            </a:r>
            <a:r>
              <a:rPr lang="en-GB" dirty="0"/>
              <a:t> </a:t>
            </a:r>
          </a:p>
          <a:p>
            <a:r>
              <a:rPr lang="en-GB" sz="2800" b="0" i="0" dirty="0">
                <a:solidFill>
                  <a:srgbClr val="262324"/>
                </a:solidFill>
                <a:effectLst/>
                <a:latin typeface="UniversLT-Light"/>
              </a:rPr>
              <a:t>and what method of communications will be used (e.g. asynchronous</a:t>
            </a:r>
            <a:br>
              <a:rPr lang="en-GB" sz="2800" b="0" i="0" dirty="0">
                <a:solidFill>
                  <a:srgbClr val="262324"/>
                </a:solidFill>
                <a:effectLst/>
                <a:latin typeface="UniversLT-Light"/>
              </a:rPr>
            </a:br>
            <a:r>
              <a:rPr lang="en-GB" sz="2800" b="0" i="0" dirty="0">
                <a:solidFill>
                  <a:srgbClr val="262324"/>
                </a:solidFill>
                <a:effectLst/>
                <a:latin typeface="UniversLT-Light"/>
              </a:rPr>
              <a:t>communications via a Value Added Network or bisynchronous direct communications)</a:t>
            </a:r>
            <a:r>
              <a:rPr lang="en-GB" dirty="0"/>
              <a:t> </a:t>
            </a:r>
          </a:p>
        </p:txBody>
      </p:sp>
    </p:spTree>
    <p:extLst>
      <p:ext uri="{BB962C8B-B14F-4D97-AF65-F5344CB8AC3E}">
        <p14:creationId xmlns:p14="http://schemas.microsoft.com/office/powerpoint/2010/main" val="2566840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E326B6-4D36-4E98-9D92-1A9B1F1FC3C0}"/>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xmlns="" id="{CB820653-431A-4E2D-8731-4D6118189D17}"/>
              </a:ext>
            </a:extLst>
          </p:cNvPr>
          <p:cNvSpPr>
            <a:spLocks noGrp="1"/>
          </p:cNvSpPr>
          <p:nvPr>
            <p:ph idx="1"/>
          </p:nvPr>
        </p:nvSpPr>
        <p:spPr/>
        <p:txBody>
          <a:bodyPr>
            <a:normAutofit fontScale="92500"/>
          </a:bodyPr>
          <a:lstStyle/>
          <a:p>
            <a:r>
              <a:rPr lang="en-GB" sz="2800" b="0" i="0" dirty="0">
                <a:solidFill>
                  <a:srgbClr val="262324"/>
                </a:solidFill>
                <a:effectLst/>
                <a:latin typeface="UniversLT-Light"/>
              </a:rPr>
              <a:t>The EDI Standard data format can be thought of as a common language that allows all companies to communicate with each other</a:t>
            </a:r>
          </a:p>
          <a:p>
            <a:r>
              <a:rPr lang="en-GB" sz="2800" b="0" i="0" dirty="0" err="1">
                <a:solidFill>
                  <a:srgbClr val="262324"/>
                </a:solidFill>
                <a:effectLst/>
                <a:latin typeface="UniversLT-Light"/>
              </a:rPr>
              <a:t>DiTranslator</a:t>
            </a:r>
            <a:r>
              <a:rPr lang="en-GB" sz="2800" b="0" i="0" dirty="0">
                <a:solidFill>
                  <a:srgbClr val="262324"/>
                </a:solidFill>
                <a:effectLst/>
                <a:latin typeface="UniversLT-Light"/>
              </a:rPr>
              <a:t> translates the data coming into and going out of your PC, so you and your trading partner will be able understand each other's data. </a:t>
            </a:r>
          </a:p>
          <a:p>
            <a:r>
              <a:rPr lang="en-GB" sz="2800" b="0" i="0" dirty="0">
                <a:solidFill>
                  <a:srgbClr val="262324"/>
                </a:solidFill>
                <a:effectLst/>
                <a:latin typeface="UniversLT-Light"/>
              </a:rPr>
              <a:t>An example of an EDI exchange could involve a buyer and a seller.</a:t>
            </a:r>
          </a:p>
          <a:p>
            <a:r>
              <a:rPr lang="en-GB" sz="2800" b="0" i="0" dirty="0">
                <a:solidFill>
                  <a:srgbClr val="262324"/>
                </a:solidFill>
                <a:effectLst/>
                <a:latin typeface="UniversLT-Light"/>
              </a:rPr>
              <a:t> Suppose the buyer identified an inventory need. </a:t>
            </a:r>
          </a:p>
          <a:p>
            <a:r>
              <a:rPr lang="en-GB" sz="2800" b="0" i="0" dirty="0">
                <a:solidFill>
                  <a:srgbClr val="262324"/>
                </a:solidFill>
                <a:effectLst/>
                <a:latin typeface="UniversLT-Light"/>
              </a:rPr>
              <a:t>A purchase order is produced by manual data entry or from data within the buyer's business application.</a:t>
            </a:r>
            <a:r>
              <a:rPr lang="en-GB" dirty="0"/>
              <a:t>  </a:t>
            </a:r>
          </a:p>
        </p:txBody>
      </p:sp>
    </p:spTree>
    <p:extLst>
      <p:ext uri="{BB962C8B-B14F-4D97-AF65-F5344CB8AC3E}">
        <p14:creationId xmlns:p14="http://schemas.microsoft.com/office/powerpoint/2010/main" val="2653551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E60EC1-D279-498B-870F-2EE4CB824830}"/>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xmlns="" id="{7F9B7A66-817F-4534-9DCD-520A5F044907}"/>
              </a:ext>
            </a:extLst>
          </p:cNvPr>
          <p:cNvSpPr>
            <a:spLocks noGrp="1"/>
          </p:cNvSpPr>
          <p:nvPr>
            <p:ph idx="1"/>
          </p:nvPr>
        </p:nvSpPr>
        <p:spPr>
          <a:xfrm>
            <a:off x="838200" y="1825625"/>
            <a:ext cx="10515600" cy="4667250"/>
          </a:xfrm>
        </p:spPr>
        <p:txBody>
          <a:bodyPr>
            <a:normAutofit fontScale="92500" lnSpcReduction="20000"/>
          </a:bodyPr>
          <a:lstStyle/>
          <a:p>
            <a:r>
              <a:rPr lang="en-GB" sz="2800" b="0" i="0" dirty="0" err="1">
                <a:solidFill>
                  <a:srgbClr val="262324"/>
                </a:solidFill>
                <a:effectLst/>
                <a:latin typeface="UniversLT-Light"/>
              </a:rPr>
              <a:t>DiTranslator</a:t>
            </a:r>
            <a:r>
              <a:rPr lang="en-GB" sz="2800" b="0" i="0" dirty="0">
                <a:solidFill>
                  <a:srgbClr val="262324"/>
                </a:solidFill>
                <a:effectLst/>
                <a:latin typeface="UniversLT-Light"/>
              </a:rPr>
              <a:t> will take this data and translate it into EDI standard format. </a:t>
            </a:r>
          </a:p>
          <a:p>
            <a:r>
              <a:rPr lang="en-GB" sz="2800" b="0" i="0" dirty="0">
                <a:solidFill>
                  <a:srgbClr val="262324"/>
                </a:solidFill>
                <a:effectLst/>
                <a:latin typeface="UniversLT-Light"/>
              </a:rPr>
              <a:t>The EDI data then passes through communications software that routes it over an electronic communications link to the seller. </a:t>
            </a:r>
          </a:p>
          <a:p>
            <a:r>
              <a:rPr lang="en-GB" sz="2800" b="0" i="0" dirty="0">
                <a:solidFill>
                  <a:srgbClr val="262324"/>
                </a:solidFill>
                <a:effectLst/>
                <a:latin typeface="UniversLT-Light"/>
              </a:rPr>
              <a:t>When the seller receives the transmission, the data is converted into a format that can be passed to the seller's order entry system or printed using their EDI software.</a:t>
            </a:r>
            <a:r>
              <a:rPr lang="en-GB" dirty="0"/>
              <a:t> </a:t>
            </a:r>
          </a:p>
          <a:p>
            <a:r>
              <a:rPr lang="en-GB" sz="2800" b="0" i="0" dirty="0">
                <a:solidFill>
                  <a:srgbClr val="262324"/>
                </a:solidFill>
                <a:effectLst/>
                <a:latin typeface="UniversLT-Light"/>
              </a:rPr>
              <a:t>Once the seller has received the data, a Functional Acknowledgment should be sent to the buyer indicating the transmission was received, and detailing any errors found when the transmission was validated against the EDI standard. </a:t>
            </a:r>
          </a:p>
          <a:p>
            <a:r>
              <a:rPr lang="en-GB" sz="2800" b="0" i="0" dirty="0">
                <a:solidFill>
                  <a:srgbClr val="262324"/>
                </a:solidFill>
                <a:effectLst/>
                <a:latin typeface="UniversLT-Light"/>
              </a:rPr>
              <a:t>Then the seller may initiate an EDI Invoice to the buyer, and perhaps the buyer will respond by acknowledging the Invoice and paying for the items with an EDI Payment Order/Remittance Advice.</a:t>
            </a:r>
            <a:r>
              <a:rPr lang="en-GB" dirty="0"/>
              <a:t> </a:t>
            </a:r>
          </a:p>
        </p:txBody>
      </p:sp>
    </p:spTree>
    <p:extLst>
      <p:ext uri="{BB962C8B-B14F-4D97-AF65-F5344CB8AC3E}">
        <p14:creationId xmlns:p14="http://schemas.microsoft.com/office/powerpoint/2010/main" val="2222000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384CD1-B05B-4F2E-BD55-8485ED7450C3}"/>
              </a:ext>
            </a:extLst>
          </p:cNvPr>
          <p:cNvSpPr>
            <a:spLocks noGrp="1"/>
          </p:cNvSpPr>
          <p:nvPr>
            <p:ph type="title"/>
          </p:nvPr>
        </p:nvSpPr>
        <p:spPr/>
        <p:txBody>
          <a:bodyPr/>
          <a:lstStyle/>
          <a:p>
            <a:r>
              <a:rPr lang="en-GB" sz="4400" b="1" i="0" dirty="0">
                <a:solidFill>
                  <a:srgbClr val="262324"/>
                </a:solidFill>
                <a:effectLst/>
                <a:latin typeface="UniversLT-Black"/>
              </a:rPr>
              <a:t>EDI and Data Communications</a:t>
            </a:r>
            <a:r>
              <a:rPr lang="en-GB" dirty="0"/>
              <a:t> </a:t>
            </a:r>
          </a:p>
        </p:txBody>
      </p:sp>
      <p:sp>
        <p:nvSpPr>
          <p:cNvPr id="3" name="Content Placeholder 2">
            <a:extLst>
              <a:ext uri="{FF2B5EF4-FFF2-40B4-BE49-F238E27FC236}">
                <a16:creationId xmlns:a16="http://schemas.microsoft.com/office/drawing/2014/main" xmlns="" id="{029FEEF6-3082-4767-AB59-891E0233E489}"/>
              </a:ext>
            </a:extLst>
          </p:cNvPr>
          <p:cNvSpPr>
            <a:spLocks noGrp="1"/>
          </p:cNvSpPr>
          <p:nvPr>
            <p:ph idx="1"/>
          </p:nvPr>
        </p:nvSpPr>
        <p:spPr>
          <a:xfrm>
            <a:off x="838200" y="1825624"/>
            <a:ext cx="10515600" cy="4854575"/>
          </a:xfrm>
        </p:spPr>
        <p:txBody>
          <a:bodyPr>
            <a:normAutofit fontScale="92500"/>
          </a:bodyPr>
          <a:lstStyle/>
          <a:p>
            <a:r>
              <a:rPr lang="en-GB" sz="2800" b="0" i="0" dirty="0">
                <a:solidFill>
                  <a:srgbClr val="262324"/>
                </a:solidFill>
                <a:effectLst/>
                <a:latin typeface="UniversLT-Light"/>
              </a:rPr>
              <a:t>Data communications is an essential ingredient in the EDI process. </a:t>
            </a:r>
          </a:p>
          <a:p>
            <a:r>
              <a:rPr lang="en-GB" sz="2800" b="0" i="0" dirty="0">
                <a:solidFill>
                  <a:srgbClr val="262324"/>
                </a:solidFill>
                <a:effectLst/>
                <a:latin typeface="UniversLT-Light"/>
              </a:rPr>
              <a:t>It is the conduit enabling you to exchange electronic business transactions with your trading partners. </a:t>
            </a:r>
          </a:p>
          <a:p>
            <a:r>
              <a:rPr lang="en-GB" sz="2800" b="0" i="0" dirty="0">
                <a:solidFill>
                  <a:srgbClr val="262324"/>
                </a:solidFill>
                <a:effectLst/>
                <a:latin typeface="UniversLT-Light"/>
              </a:rPr>
              <a:t>In the EDI model, data communications is used as a subsystem to</a:t>
            </a:r>
            <a:br>
              <a:rPr lang="en-GB" sz="2800" b="0" i="0" dirty="0">
                <a:solidFill>
                  <a:srgbClr val="262324"/>
                </a:solidFill>
                <a:effectLst/>
                <a:latin typeface="UniversLT-Light"/>
              </a:rPr>
            </a:br>
            <a:r>
              <a:rPr lang="en-GB" sz="2800" b="0" i="0" dirty="0">
                <a:solidFill>
                  <a:srgbClr val="262324"/>
                </a:solidFill>
                <a:effectLst/>
                <a:latin typeface="UniversLT-Light"/>
              </a:rPr>
              <a:t>transfer information from a source computer to a target computer.</a:t>
            </a:r>
            <a:r>
              <a:rPr lang="en-GB" dirty="0"/>
              <a:t> </a:t>
            </a:r>
          </a:p>
          <a:p>
            <a:r>
              <a:rPr lang="en-GB" sz="2800" b="0" i="0" dirty="0">
                <a:solidFill>
                  <a:srgbClr val="262324"/>
                </a:solidFill>
                <a:effectLst/>
                <a:latin typeface="UniversLT-Light"/>
              </a:rPr>
              <a:t>It is important to understand that EDI and data communications are two distinct technologies. </a:t>
            </a:r>
          </a:p>
          <a:p>
            <a:r>
              <a:rPr lang="en-GB" sz="2800" b="0" i="0" dirty="0">
                <a:solidFill>
                  <a:srgbClr val="262324"/>
                </a:solidFill>
                <a:effectLst/>
                <a:latin typeface="UniversLT-Light"/>
              </a:rPr>
              <a:t>EDI defines an encoding standard for business information. </a:t>
            </a:r>
          </a:p>
          <a:p>
            <a:r>
              <a:rPr lang="en-GB" sz="2800" b="0" i="0" dirty="0">
                <a:solidFill>
                  <a:srgbClr val="262324"/>
                </a:solidFill>
                <a:effectLst/>
                <a:latin typeface="UniversLT-Light"/>
              </a:rPr>
              <a:t>Data communications defines mechanisms to transfer this EDI encoded information between your computer and your trading partner’s computer.</a:t>
            </a:r>
            <a:r>
              <a:rPr lang="en-GB" dirty="0"/>
              <a:t> </a:t>
            </a:r>
          </a:p>
        </p:txBody>
      </p:sp>
    </p:spTree>
    <p:extLst>
      <p:ext uri="{BB962C8B-B14F-4D97-AF65-F5344CB8AC3E}">
        <p14:creationId xmlns:p14="http://schemas.microsoft.com/office/powerpoint/2010/main" val="4222697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8B1B66-F5AB-429D-894A-C38103B1AE34}"/>
              </a:ext>
            </a:extLst>
          </p:cNvPr>
          <p:cNvSpPr>
            <a:spLocks noGrp="1"/>
          </p:cNvSpPr>
          <p:nvPr>
            <p:ph type="title"/>
          </p:nvPr>
        </p:nvSpPr>
        <p:spPr/>
        <p:txBody>
          <a:bodyPr/>
          <a:lstStyle/>
          <a:p>
            <a:r>
              <a:rPr lang="en-GB" sz="4400" b="1" i="0" dirty="0">
                <a:solidFill>
                  <a:srgbClr val="262324"/>
                </a:solidFill>
                <a:effectLst/>
                <a:latin typeface="UniversLT-Black"/>
              </a:rPr>
              <a:t>EDI and Data Communications</a:t>
            </a:r>
            <a:endParaRPr lang="en-GB" dirty="0"/>
          </a:p>
        </p:txBody>
      </p:sp>
      <p:sp>
        <p:nvSpPr>
          <p:cNvPr id="3" name="Content Placeholder 2">
            <a:extLst>
              <a:ext uri="{FF2B5EF4-FFF2-40B4-BE49-F238E27FC236}">
                <a16:creationId xmlns:a16="http://schemas.microsoft.com/office/drawing/2014/main" xmlns="" id="{89B2F067-3F26-452C-ACD4-4A1093270A32}"/>
              </a:ext>
            </a:extLst>
          </p:cNvPr>
          <p:cNvSpPr>
            <a:spLocks noGrp="1"/>
          </p:cNvSpPr>
          <p:nvPr>
            <p:ph idx="1"/>
          </p:nvPr>
        </p:nvSpPr>
        <p:spPr/>
        <p:txBody>
          <a:bodyPr>
            <a:normAutofit/>
          </a:bodyPr>
          <a:lstStyle/>
          <a:p>
            <a:pPr marL="571500" indent="-571500">
              <a:buFont typeface="+mj-lt"/>
              <a:buAutoNum type="arabicPeriod"/>
            </a:pPr>
            <a:r>
              <a:rPr lang="en-GB" sz="2800" b="0" i="0" dirty="0">
                <a:solidFill>
                  <a:srgbClr val="262324"/>
                </a:solidFill>
                <a:effectLst/>
                <a:latin typeface="UniversLT-Light"/>
              </a:rPr>
              <a:t>First, your customer prepares the Purchase Order data following the language rules of EDI standards. The Purchase Order data resides at a remote location.</a:t>
            </a:r>
            <a:r>
              <a:rPr lang="en-GB" dirty="0"/>
              <a:t> </a:t>
            </a:r>
          </a:p>
          <a:p>
            <a:pPr marL="514350" indent="-514350">
              <a:buFont typeface="+mj-lt"/>
              <a:buAutoNum type="arabicPeriod"/>
            </a:pPr>
            <a:r>
              <a:rPr lang="en-GB" sz="2800" b="0" i="0" dirty="0">
                <a:solidFill>
                  <a:srgbClr val="262324"/>
                </a:solidFill>
                <a:effectLst/>
                <a:latin typeface="UniversLT-Light"/>
              </a:rPr>
              <a:t>You then launch a data communications session using </a:t>
            </a:r>
            <a:r>
              <a:rPr lang="en-GB" sz="2800" b="0" i="0" dirty="0" err="1">
                <a:solidFill>
                  <a:srgbClr val="262324"/>
                </a:solidFill>
                <a:effectLst/>
                <a:latin typeface="UniversLT-Light"/>
              </a:rPr>
              <a:t>DiTranslator</a:t>
            </a:r>
            <a:r>
              <a:rPr lang="en-GB" sz="2800" b="0" i="0" dirty="0">
                <a:solidFill>
                  <a:srgbClr val="262324"/>
                </a:solidFill>
                <a:effectLst/>
                <a:latin typeface="UniversLT-Light"/>
              </a:rPr>
              <a:t>, which connects your computer to this remote location.</a:t>
            </a:r>
          </a:p>
          <a:p>
            <a:r>
              <a:rPr lang="en-GB" sz="2800" b="0" i="0" dirty="0">
                <a:solidFill>
                  <a:srgbClr val="262324"/>
                </a:solidFill>
                <a:effectLst/>
                <a:latin typeface="UniversLT-Light"/>
              </a:rPr>
              <a:t> During this data communications session, a file transfer mechanism is used to move the Purchase Order data, already in EDI format, from the remote computer to your computer. </a:t>
            </a:r>
          </a:p>
          <a:p>
            <a:r>
              <a:rPr lang="en-GB" sz="2800" b="0" i="0" dirty="0">
                <a:solidFill>
                  <a:srgbClr val="262324"/>
                </a:solidFill>
                <a:effectLst/>
                <a:latin typeface="UniversLT-Light"/>
              </a:rPr>
              <a:t>The data communications session is then terminated.</a:t>
            </a:r>
            <a:r>
              <a:rPr lang="en-GB" dirty="0"/>
              <a:t> </a:t>
            </a:r>
          </a:p>
        </p:txBody>
      </p:sp>
    </p:spTree>
    <p:extLst>
      <p:ext uri="{BB962C8B-B14F-4D97-AF65-F5344CB8AC3E}">
        <p14:creationId xmlns:p14="http://schemas.microsoft.com/office/powerpoint/2010/main" val="3585135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FC98C0-0D06-4D4D-BCDE-964C4D7B2049}"/>
              </a:ext>
            </a:extLst>
          </p:cNvPr>
          <p:cNvSpPr>
            <a:spLocks noGrp="1"/>
          </p:cNvSpPr>
          <p:nvPr>
            <p:ph type="title"/>
          </p:nvPr>
        </p:nvSpPr>
        <p:spPr/>
        <p:txBody>
          <a:bodyPr/>
          <a:lstStyle/>
          <a:p>
            <a:r>
              <a:rPr lang="en-GB" sz="4400" b="1" i="0" dirty="0">
                <a:solidFill>
                  <a:srgbClr val="262324"/>
                </a:solidFill>
                <a:effectLst/>
                <a:latin typeface="UniversLT-Black"/>
              </a:rPr>
              <a:t>EDI and Data Communications</a:t>
            </a:r>
            <a:endParaRPr lang="en-GB" dirty="0"/>
          </a:p>
        </p:txBody>
      </p:sp>
      <p:sp>
        <p:nvSpPr>
          <p:cNvPr id="3" name="Content Placeholder 2">
            <a:extLst>
              <a:ext uri="{FF2B5EF4-FFF2-40B4-BE49-F238E27FC236}">
                <a16:creationId xmlns:a16="http://schemas.microsoft.com/office/drawing/2014/main" xmlns="" id="{1BD2B9D7-2E55-4381-95E2-3DFA21AAD747}"/>
              </a:ext>
            </a:extLst>
          </p:cNvPr>
          <p:cNvSpPr>
            <a:spLocks noGrp="1"/>
          </p:cNvSpPr>
          <p:nvPr>
            <p:ph idx="1"/>
          </p:nvPr>
        </p:nvSpPr>
        <p:spPr/>
        <p:txBody>
          <a:bodyPr>
            <a:normAutofit/>
          </a:bodyPr>
          <a:lstStyle/>
          <a:p>
            <a:pPr marL="514350" indent="-514350">
              <a:buFont typeface="+mj-lt"/>
              <a:buAutoNum type="arabicPeriod" startAt="3"/>
            </a:pPr>
            <a:r>
              <a:rPr lang="en-GB" sz="2800" b="0" i="0" dirty="0">
                <a:solidFill>
                  <a:srgbClr val="262324"/>
                </a:solidFill>
                <a:effectLst/>
                <a:latin typeface="UniversLT-Light"/>
              </a:rPr>
              <a:t>You are then able to process the Purchase Order data using </a:t>
            </a:r>
            <a:r>
              <a:rPr lang="en-GB" sz="2800" b="0" i="0" dirty="0" err="1">
                <a:solidFill>
                  <a:srgbClr val="262324"/>
                </a:solidFill>
                <a:effectLst/>
                <a:latin typeface="UniversLT-Light"/>
              </a:rPr>
              <a:t>DiTranslator</a:t>
            </a:r>
            <a:r>
              <a:rPr lang="en-GB" sz="2800" b="0" i="0" dirty="0">
                <a:solidFill>
                  <a:srgbClr val="262324"/>
                </a:solidFill>
                <a:effectLst/>
                <a:latin typeface="UniversLT-Light"/>
              </a:rPr>
              <a:t>. </a:t>
            </a:r>
          </a:p>
          <a:p>
            <a:r>
              <a:rPr lang="en-GB" sz="2800" b="0" i="0" dirty="0">
                <a:solidFill>
                  <a:srgbClr val="262324"/>
                </a:solidFill>
                <a:effectLst/>
                <a:latin typeface="UniversLT-Light"/>
              </a:rPr>
              <a:t>You may need to send an Invoice to your trading partner. In this case, you prepare the Invoice using </a:t>
            </a:r>
            <a:r>
              <a:rPr lang="en-GB" sz="2800" b="0" i="0" dirty="0" err="1">
                <a:solidFill>
                  <a:srgbClr val="262324"/>
                </a:solidFill>
                <a:effectLst/>
                <a:latin typeface="UniversLT-Light"/>
              </a:rPr>
              <a:t>DiTranslator</a:t>
            </a:r>
            <a:r>
              <a:rPr lang="en-GB" sz="2800" b="0" i="0" dirty="0">
                <a:solidFill>
                  <a:srgbClr val="262324"/>
                </a:solidFill>
                <a:effectLst/>
                <a:latin typeface="UniversLT-Light"/>
              </a:rPr>
              <a:t>.</a:t>
            </a:r>
            <a:r>
              <a:rPr lang="en-GB" dirty="0"/>
              <a:t> </a:t>
            </a:r>
          </a:p>
          <a:p>
            <a:pPr marL="514350" indent="-514350">
              <a:buFont typeface="+mj-lt"/>
              <a:buAutoNum type="arabicPeriod" startAt="4"/>
            </a:pPr>
            <a:r>
              <a:rPr lang="en-GB" sz="2800" b="0" i="0" dirty="0">
                <a:solidFill>
                  <a:srgbClr val="262324"/>
                </a:solidFill>
                <a:effectLst/>
                <a:latin typeface="UniversLT-Light"/>
              </a:rPr>
              <a:t>You then launch a communications session, which connects your computer to the remote destination.</a:t>
            </a:r>
          </a:p>
          <a:p>
            <a:r>
              <a:rPr lang="en-GB" sz="2800" b="0" i="0" dirty="0">
                <a:solidFill>
                  <a:srgbClr val="262324"/>
                </a:solidFill>
                <a:effectLst/>
                <a:latin typeface="UniversLT-Light"/>
              </a:rPr>
              <a:t> The Invoice, in EDI standard format, is moved from your computer to the remote computer during this communications session.</a:t>
            </a:r>
            <a:r>
              <a:rPr lang="en-GB" dirty="0"/>
              <a:t> </a:t>
            </a:r>
            <a:br>
              <a:rPr lang="en-GB" dirty="0"/>
            </a:br>
            <a:endParaRPr lang="en-GB" dirty="0"/>
          </a:p>
        </p:txBody>
      </p:sp>
    </p:spTree>
    <p:extLst>
      <p:ext uri="{BB962C8B-B14F-4D97-AF65-F5344CB8AC3E}">
        <p14:creationId xmlns:p14="http://schemas.microsoft.com/office/powerpoint/2010/main" val="496753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D4B49B-BD07-45FE-8EE5-C070160F6C13}"/>
              </a:ext>
            </a:extLst>
          </p:cNvPr>
          <p:cNvSpPr>
            <a:spLocks noGrp="1"/>
          </p:cNvSpPr>
          <p:nvPr>
            <p:ph type="title"/>
          </p:nvPr>
        </p:nvSpPr>
        <p:spPr/>
        <p:txBody>
          <a:bodyPr/>
          <a:lstStyle/>
          <a:p>
            <a:r>
              <a:rPr lang="en-GB" sz="4400" b="1" i="0" dirty="0">
                <a:solidFill>
                  <a:srgbClr val="262324"/>
                </a:solidFill>
                <a:effectLst/>
                <a:latin typeface="UniversLT-Black"/>
              </a:rPr>
              <a:t>EDI and Data Communications</a:t>
            </a:r>
            <a:endParaRPr lang="en-GB" dirty="0"/>
          </a:p>
        </p:txBody>
      </p:sp>
      <p:sp>
        <p:nvSpPr>
          <p:cNvPr id="3" name="Content Placeholder 2">
            <a:extLst>
              <a:ext uri="{FF2B5EF4-FFF2-40B4-BE49-F238E27FC236}">
                <a16:creationId xmlns:a16="http://schemas.microsoft.com/office/drawing/2014/main" xmlns="" id="{B8C19731-3A1E-48EB-AA74-9C574DEBD171}"/>
              </a:ext>
            </a:extLst>
          </p:cNvPr>
          <p:cNvSpPr>
            <a:spLocks noGrp="1"/>
          </p:cNvSpPr>
          <p:nvPr>
            <p:ph idx="1"/>
          </p:nvPr>
        </p:nvSpPr>
        <p:spPr/>
        <p:txBody>
          <a:bodyPr>
            <a:normAutofit fontScale="92500" lnSpcReduction="20000"/>
          </a:bodyPr>
          <a:lstStyle/>
          <a:p>
            <a:r>
              <a:rPr lang="en-GB" sz="2800" b="0" i="0" dirty="0">
                <a:solidFill>
                  <a:srgbClr val="262324"/>
                </a:solidFill>
                <a:effectLst/>
                <a:latin typeface="UniversLT-Light"/>
              </a:rPr>
              <a:t>Occasionally, EDI standards define guidelines for data communications used in an EDI process. </a:t>
            </a:r>
          </a:p>
          <a:p>
            <a:r>
              <a:rPr lang="en-GB" sz="2800" b="0" i="0" dirty="0">
                <a:solidFill>
                  <a:srgbClr val="262324"/>
                </a:solidFill>
                <a:effectLst/>
                <a:latin typeface="UniversLT-Light"/>
              </a:rPr>
              <a:t>These guidelines may include time constraints, which help assure that responses to transaction sets received will be sent within a specific time</a:t>
            </a:r>
            <a:br>
              <a:rPr lang="en-GB" sz="2800" b="0" i="0" dirty="0">
                <a:solidFill>
                  <a:srgbClr val="262324"/>
                </a:solidFill>
                <a:effectLst/>
                <a:latin typeface="UniversLT-Light"/>
              </a:rPr>
            </a:br>
            <a:r>
              <a:rPr lang="en-GB" sz="2800" b="0" i="0" dirty="0">
                <a:solidFill>
                  <a:srgbClr val="262324"/>
                </a:solidFill>
                <a:effectLst/>
                <a:latin typeface="UniversLT-Light"/>
              </a:rPr>
              <a:t>period. </a:t>
            </a:r>
          </a:p>
          <a:p>
            <a:r>
              <a:rPr lang="en-GB" sz="2800" b="0" i="0" dirty="0">
                <a:solidFill>
                  <a:srgbClr val="262324"/>
                </a:solidFill>
                <a:effectLst/>
                <a:latin typeface="UniversLT-Light"/>
              </a:rPr>
              <a:t>EDI standards also define how the sender’s address and receiver’s address are encoded. </a:t>
            </a:r>
          </a:p>
          <a:p>
            <a:r>
              <a:rPr lang="en-GB" sz="2800" b="0" i="0" dirty="0">
                <a:solidFill>
                  <a:srgbClr val="262324"/>
                </a:solidFill>
                <a:effectLst/>
                <a:latin typeface="UniversLT-Light"/>
              </a:rPr>
              <a:t>However, EDI standards do not normally define the communications, which actually cause the data to move from source to destination. </a:t>
            </a:r>
          </a:p>
          <a:p>
            <a:r>
              <a:rPr lang="en-GB" sz="2800" b="0" i="0" dirty="0">
                <a:solidFill>
                  <a:srgbClr val="262324"/>
                </a:solidFill>
                <a:effectLst/>
                <a:latin typeface="UniversLT-Light"/>
              </a:rPr>
              <a:t>A variety of data communications modules are supported by </a:t>
            </a:r>
            <a:r>
              <a:rPr lang="en-GB" sz="2800" b="0" i="0" dirty="0" err="1">
                <a:solidFill>
                  <a:srgbClr val="262324"/>
                </a:solidFill>
                <a:effectLst/>
                <a:latin typeface="UniversLT-Light"/>
              </a:rPr>
              <a:t>DiTranslator</a:t>
            </a:r>
            <a:r>
              <a:rPr lang="en-GB" sz="2800" b="0" i="0" dirty="0">
                <a:solidFill>
                  <a:srgbClr val="262324"/>
                </a:solidFill>
                <a:effectLst/>
                <a:latin typeface="UniversLT-Light"/>
              </a:rPr>
              <a:t>. You simply use the module required to link to the desired remote location</a:t>
            </a:r>
            <a:r>
              <a:rPr lang="en-GB" dirty="0"/>
              <a:t> </a:t>
            </a:r>
          </a:p>
        </p:txBody>
      </p:sp>
    </p:spTree>
    <p:extLst>
      <p:ext uri="{BB962C8B-B14F-4D97-AF65-F5344CB8AC3E}">
        <p14:creationId xmlns:p14="http://schemas.microsoft.com/office/powerpoint/2010/main" val="3460404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ECD31B-828F-495D-84AB-9F6F88B5FDC2}"/>
              </a:ext>
            </a:extLst>
          </p:cNvPr>
          <p:cNvSpPr>
            <a:spLocks noGrp="1"/>
          </p:cNvSpPr>
          <p:nvPr>
            <p:ph type="title"/>
          </p:nvPr>
        </p:nvSpPr>
        <p:spPr/>
        <p:txBody>
          <a:bodyPr/>
          <a:lstStyle/>
          <a:p>
            <a:r>
              <a:rPr lang="en-GB" sz="4400" b="1" i="0" dirty="0">
                <a:solidFill>
                  <a:srgbClr val="262324"/>
                </a:solidFill>
                <a:effectLst/>
                <a:latin typeface="UniversLT-Black"/>
              </a:rPr>
              <a:t>The Case of the Automobile Industry</a:t>
            </a:r>
            <a:r>
              <a:rPr lang="en-GB" dirty="0"/>
              <a:t> </a:t>
            </a:r>
          </a:p>
        </p:txBody>
      </p:sp>
      <p:sp>
        <p:nvSpPr>
          <p:cNvPr id="3" name="Content Placeholder 2">
            <a:extLst>
              <a:ext uri="{FF2B5EF4-FFF2-40B4-BE49-F238E27FC236}">
                <a16:creationId xmlns:a16="http://schemas.microsoft.com/office/drawing/2014/main" xmlns="" id="{F8A68F26-EEF7-4FFE-A9E7-2E76FB15C99B}"/>
              </a:ext>
            </a:extLst>
          </p:cNvPr>
          <p:cNvSpPr>
            <a:spLocks noGrp="1"/>
          </p:cNvSpPr>
          <p:nvPr>
            <p:ph idx="1"/>
          </p:nvPr>
        </p:nvSpPr>
        <p:spPr>
          <a:xfrm>
            <a:off x="838200" y="1825625"/>
            <a:ext cx="10515600" cy="4667250"/>
          </a:xfrm>
        </p:spPr>
        <p:txBody>
          <a:bodyPr>
            <a:normAutofit fontScale="92500"/>
          </a:bodyPr>
          <a:lstStyle/>
          <a:p>
            <a:r>
              <a:rPr lang="en-GB" sz="2800" b="0" i="0" dirty="0">
                <a:solidFill>
                  <a:srgbClr val="262324"/>
                </a:solidFill>
                <a:effectLst/>
                <a:latin typeface="UniversLT-Light"/>
              </a:rPr>
              <a:t>A common trait for the automobile industry in more recent times has been “just-in-time” delivery and manufacturing. </a:t>
            </a:r>
          </a:p>
          <a:p>
            <a:r>
              <a:rPr lang="en-GB" sz="2800" b="0" i="0" dirty="0">
                <a:solidFill>
                  <a:srgbClr val="262324"/>
                </a:solidFill>
                <a:effectLst/>
                <a:latin typeface="UniversLT-Light"/>
              </a:rPr>
              <a:t>Since cars are high cost items, excess inventory is costly, and there is a risk of producing units that will not move in showrooms, increasing the need for discounts and purchase incentives.</a:t>
            </a:r>
          </a:p>
          <a:p>
            <a:r>
              <a:rPr lang="en-GB" sz="2800" b="0" i="0" dirty="0">
                <a:solidFill>
                  <a:srgbClr val="262324"/>
                </a:solidFill>
                <a:effectLst/>
                <a:latin typeface="UniversLT-Light"/>
              </a:rPr>
              <a:t> As a result, automobile manufacturers have increasingly pushed the inventory risk of raw material and sub-assemblies over to their suppliers</a:t>
            </a:r>
          </a:p>
          <a:p>
            <a:r>
              <a:rPr lang="en-GB" dirty="0">
                <a:solidFill>
                  <a:srgbClr val="262324"/>
                </a:solidFill>
                <a:latin typeface="UniversLT-Light"/>
              </a:rPr>
              <a:t>R</a:t>
            </a:r>
            <a:r>
              <a:rPr lang="en-GB" sz="2800" b="0" i="0" dirty="0">
                <a:solidFill>
                  <a:srgbClr val="262324"/>
                </a:solidFill>
                <a:effectLst/>
                <a:latin typeface="UniversLT-Light"/>
              </a:rPr>
              <a:t>esulting in a massive focus on delivering materials and sub-assemblies only when needed by the manufacturers</a:t>
            </a:r>
          </a:p>
          <a:p>
            <a:r>
              <a:rPr lang="en-GB" dirty="0">
                <a:solidFill>
                  <a:srgbClr val="262324"/>
                </a:solidFill>
                <a:latin typeface="UniversLT-Light"/>
              </a:rPr>
              <a:t>This </a:t>
            </a:r>
            <a:r>
              <a:rPr lang="en-GB" sz="2800" b="0" i="0" dirty="0">
                <a:solidFill>
                  <a:srgbClr val="262324"/>
                </a:solidFill>
                <a:effectLst/>
                <a:latin typeface="UniversLT-Light"/>
              </a:rPr>
              <a:t>concept is commonly known as “just-in-time” deliveries</a:t>
            </a:r>
            <a:r>
              <a:rPr lang="en-GB" dirty="0"/>
              <a:t> </a:t>
            </a:r>
          </a:p>
        </p:txBody>
      </p:sp>
    </p:spTree>
    <p:extLst>
      <p:ext uri="{BB962C8B-B14F-4D97-AF65-F5344CB8AC3E}">
        <p14:creationId xmlns:p14="http://schemas.microsoft.com/office/powerpoint/2010/main" val="2736504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837B35-C61C-40A1-86D6-EE7B8BF64621}"/>
              </a:ext>
            </a:extLst>
          </p:cNvPr>
          <p:cNvSpPr>
            <a:spLocks noGrp="1"/>
          </p:cNvSpPr>
          <p:nvPr>
            <p:ph type="title"/>
          </p:nvPr>
        </p:nvSpPr>
        <p:spPr/>
        <p:txBody>
          <a:bodyPr/>
          <a:lstStyle/>
          <a:p>
            <a:r>
              <a:rPr lang="en-GB" sz="4400" b="1" i="0" dirty="0">
                <a:solidFill>
                  <a:srgbClr val="262324"/>
                </a:solidFill>
                <a:effectLst/>
                <a:latin typeface="UniversLT-Black"/>
              </a:rPr>
              <a:t>The Case of the Automobile Industry</a:t>
            </a:r>
            <a:r>
              <a:rPr lang="en-GB" dirty="0"/>
              <a:t> </a:t>
            </a:r>
          </a:p>
        </p:txBody>
      </p:sp>
      <p:sp>
        <p:nvSpPr>
          <p:cNvPr id="3" name="Content Placeholder 2">
            <a:extLst>
              <a:ext uri="{FF2B5EF4-FFF2-40B4-BE49-F238E27FC236}">
                <a16:creationId xmlns:a16="http://schemas.microsoft.com/office/drawing/2014/main" xmlns="" id="{A96A9809-1E61-4756-A56A-B29EFC4C7C58}"/>
              </a:ext>
            </a:extLst>
          </p:cNvPr>
          <p:cNvSpPr>
            <a:spLocks noGrp="1"/>
          </p:cNvSpPr>
          <p:nvPr>
            <p:ph idx="1"/>
          </p:nvPr>
        </p:nvSpPr>
        <p:spPr/>
        <p:txBody>
          <a:bodyPr>
            <a:normAutofit lnSpcReduction="10000"/>
          </a:bodyPr>
          <a:lstStyle/>
          <a:p>
            <a:r>
              <a:rPr lang="en-GB" sz="2800" b="0" i="0" dirty="0">
                <a:solidFill>
                  <a:srgbClr val="262324"/>
                </a:solidFill>
                <a:effectLst/>
                <a:latin typeface="UniversLT-Light"/>
              </a:rPr>
              <a:t>In fact, it is fairly common for a supplier to build a new factory and warehouse close to the automobile assembly plant in order to </a:t>
            </a:r>
            <a:r>
              <a:rPr lang="en-GB" sz="2800" b="0" i="0" dirty="0" err="1">
                <a:solidFill>
                  <a:srgbClr val="262324"/>
                </a:solidFill>
                <a:effectLst/>
                <a:latin typeface="UniversLT-Light"/>
              </a:rPr>
              <a:t>fulfill</a:t>
            </a:r>
            <a:r>
              <a:rPr lang="en-GB" sz="2800" b="0" i="0" dirty="0">
                <a:solidFill>
                  <a:srgbClr val="262324"/>
                </a:solidFill>
                <a:effectLst/>
                <a:latin typeface="UniversLT-Light"/>
              </a:rPr>
              <a:t> the terms of their contracts of delivering just-in-time.</a:t>
            </a:r>
          </a:p>
          <a:p>
            <a:r>
              <a:rPr lang="en-GB" sz="2800" b="0" i="0" dirty="0">
                <a:solidFill>
                  <a:srgbClr val="262324"/>
                </a:solidFill>
                <a:effectLst/>
                <a:latin typeface="UniversLT-Light"/>
              </a:rPr>
              <a:t> Naturally, this has also led to high demands on the information system infrastructure in both organizations. </a:t>
            </a:r>
          </a:p>
          <a:p>
            <a:r>
              <a:rPr lang="en-GB" sz="2800" b="0" i="0" dirty="0">
                <a:solidFill>
                  <a:srgbClr val="262324"/>
                </a:solidFill>
                <a:effectLst/>
                <a:latin typeface="UniversLT-Light"/>
              </a:rPr>
              <a:t>The automobile manufacturers have fully automated assembly plants, where each and every aspect of logistics, planning and purchasing is being handled by the computers</a:t>
            </a:r>
            <a:r>
              <a:rPr lang="en-GB" dirty="0"/>
              <a:t> </a:t>
            </a:r>
          </a:p>
          <a:p>
            <a:r>
              <a:rPr lang="en-GB" sz="2800" b="0" i="0" dirty="0">
                <a:solidFill>
                  <a:srgbClr val="262324"/>
                </a:solidFill>
                <a:effectLst/>
                <a:latin typeface="UniversLT-Light"/>
              </a:rPr>
              <a:t>The human involvement has been reduced to the minimum, as the risk of not having the right part at</a:t>
            </a:r>
            <a:r>
              <a:rPr lang="en-GB" dirty="0"/>
              <a:t> </a:t>
            </a:r>
            <a:r>
              <a:rPr lang="en-GB" sz="2800" b="0" i="0" dirty="0">
                <a:solidFill>
                  <a:srgbClr val="262324"/>
                </a:solidFill>
                <a:effectLst/>
                <a:latin typeface="UniversLT-Light"/>
              </a:rPr>
              <a:t>the right place at the right time, is too high</a:t>
            </a:r>
            <a:endParaRPr lang="en-GB" dirty="0"/>
          </a:p>
        </p:txBody>
      </p:sp>
    </p:spTree>
    <p:extLst>
      <p:ext uri="{BB962C8B-B14F-4D97-AF65-F5344CB8AC3E}">
        <p14:creationId xmlns:p14="http://schemas.microsoft.com/office/powerpoint/2010/main" val="3705452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92446B-45D6-46F5-8B29-2DB32E72FF96}"/>
              </a:ext>
            </a:extLst>
          </p:cNvPr>
          <p:cNvSpPr>
            <a:spLocks noGrp="1"/>
          </p:cNvSpPr>
          <p:nvPr>
            <p:ph type="title"/>
          </p:nvPr>
        </p:nvSpPr>
        <p:spPr/>
        <p:txBody>
          <a:bodyPr/>
          <a:lstStyle/>
          <a:p>
            <a:r>
              <a:rPr lang="en-GB" sz="4400" b="1" i="0" dirty="0">
                <a:solidFill>
                  <a:srgbClr val="262324"/>
                </a:solidFill>
                <a:effectLst/>
                <a:latin typeface="UniversLT-Black"/>
              </a:rPr>
              <a:t>The Case of the Automobile Industry</a:t>
            </a:r>
            <a:r>
              <a:rPr lang="en-GB" dirty="0"/>
              <a:t> </a:t>
            </a:r>
          </a:p>
        </p:txBody>
      </p:sp>
      <p:sp>
        <p:nvSpPr>
          <p:cNvPr id="3" name="Content Placeholder 2">
            <a:extLst>
              <a:ext uri="{FF2B5EF4-FFF2-40B4-BE49-F238E27FC236}">
                <a16:creationId xmlns:a16="http://schemas.microsoft.com/office/drawing/2014/main" xmlns="" id="{6FA95A5E-4BDA-4E05-9243-EB1183F45B6A}"/>
              </a:ext>
            </a:extLst>
          </p:cNvPr>
          <p:cNvSpPr>
            <a:spLocks noGrp="1"/>
          </p:cNvSpPr>
          <p:nvPr>
            <p:ph idx="1"/>
          </p:nvPr>
        </p:nvSpPr>
        <p:spPr/>
        <p:txBody>
          <a:bodyPr>
            <a:normAutofit lnSpcReduction="10000"/>
          </a:bodyPr>
          <a:lstStyle/>
          <a:p>
            <a:r>
              <a:rPr lang="en-GB" sz="2800" b="0" i="0" dirty="0">
                <a:solidFill>
                  <a:srgbClr val="262324"/>
                </a:solidFill>
                <a:effectLst/>
                <a:latin typeface="UniversLT-Light"/>
              </a:rPr>
              <a:t>Car manufacturers have demanded that their suppliers cater to this situation by instituting similar information-systems capability on their side to handle the flow of information back and forth. </a:t>
            </a:r>
          </a:p>
          <a:p>
            <a:r>
              <a:rPr lang="en-GB" sz="2800" b="0" i="0" dirty="0">
                <a:solidFill>
                  <a:srgbClr val="262324"/>
                </a:solidFill>
                <a:effectLst/>
                <a:latin typeface="UniversLT-Light"/>
              </a:rPr>
              <a:t>Most</a:t>
            </a:r>
            <a:r>
              <a:rPr lang="en-GB" dirty="0">
                <a:solidFill>
                  <a:srgbClr val="262324"/>
                </a:solidFill>
                <a:latin typeface="UniversLT-Light"/>
              </a:rPr>
              <a:t> </a:t>
            </a:r>
            <a:r>
              <a:rPr lang="en-GB" sz="2800" b="0" i="0" dirty="0">
                <a:solidFill>
                  <a:srgbClr val="262324"/>
                </a:solidFill>
                <a:effectLst/>
                <a:latin typeface="UniversLT-Light"/>
              </a:rPr>
              <a:t>supplier contracts within the automobile industry have specified time limits for the processing and response to any given exchange of information, with accompanying fines should these limits be exceeded. </a:t>
            </a:r>
          </a:p>
          <a:p>
            <a:r>
              <a:rPr lang="en-GB" sz="2800" b="0" i="0" dirty="0">
                <a:solidFill>
                  <a:srgbClr val="262324"/>
                </a:solidFill>
                <a:effectLst/>
                <a:latin typeface="UniversLT-Light"/>
              </a:rPr>
              <a:t>Some even risk the cancellation of contracts should they miss deadlines repetitively. </a:t>
            </a:r>
          </a:p>
          <a:p>
            <a:r>
              <a:rPr lang="en-GB" sz="2800" b="0" i="0" dirty="0">
                <a:solidFill>
                  <a:srgbClr val="262324"/>
                </a:solidFill>
                <a:effectLst/>
                <a:latin typeface="UniversLT-Light"/>
              </a:rPr>
              <a:t>In this environment, electronic commerce is not only an efficient tool, it is absolutely necessary in order to operate the business</a:t>
            </a:r>
            <a:r>
              <a:rPr lang="en-GB" dirty="0"/>
              <a:t> </a:t>
            </a:r>
          </a:p>
        </p:txBody>
      </p:sp>
    </p:spTree>
    <p:extLst>
      <p:ext uri="{BB962C8B-B14F-4D97-AF65-F5344CB8AC3E}">
        <p14:creationId xmlns:p14="http://schemas.microsoft.com/office/powerpoint/2010/main" val="1270417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2DF120-330D-4AD3-8E3A-25B4895B4F8F}"/>
              </a:ext>
            </a:extLst>
          </p:cNvPr>
          <p:cNvSpPr>
            <a:spLocks noGrp="1"/>
          </p:cNvSpPr>
          <p:nvPr>
            <p:ph type="title"/>
          </p:nvPr>
        </p:nvSpPr>
        <p:spPr/>
        <p:txBody>
          <a:bodyPr/>
          <a:lstStyle/>
          <a:p>
            <a:r>
              <a:rPr lang="en-GB" sz="4400" b="1" i="0" dirty="0">
                <a:solidFill>
                  <a:srgbClr val="262324"/>
                </a:solidFill>
                <a:effectLst/>
                <a:latin typeface="UniversLT-Black"/>
              </a:rPr>
              <a:t>The Case of the Automobile Industry</a:t>
            </a:r>
            <a:r>
              <a:rPr lang="en-GB" dirty="0"/>
              <a:t> </a:t>
            </a:r>
          </a:p>
        </p:txBody>
      </p:sp>
      <p:sp>
        <p:nvSpPr>
          <p:cNvPr id="3" name="Content Placeholder 2">
            <a:extLst>
              <a:ext uri="{FF2B5EF4-FFF2-40B4-BE49-F238E27FC236}">
                <a16:creationId xmlns:a16="http://schemas.microsoft.com/office/drawing/2014/main" xmlns="" id="{915C5494-80AC-4728-90E3-BD35B5E37059}"/>
              </a:ext>
            </a:extLst>
          </p:cNvPr>
          <p:cNvSpPr>
            <a:spLocks noGrp="1"/>
          </p:cNvSpPr>
          <p:nvPr>
            <p:ph idx="1"/>
          </p:nvPr>
        </p:nvSpPr>
        <p:spPr/>
        <p:txBody>
          <a:bodyPr/>
          <a:lstStyle/>
          <a:p>
            <a:r>
              <a:rPr lang="en-GB" sz="2800" b="0" i="0" dirty="0">
                <a:solidFill>
                  <a:srgbClr val="262324"/>
                </a:solidFill>
                <a:effectLst/>
                <a:latin typeface="UniversLT-Light"/>
              </a:rPr>
              <a:t>It also means that there is a very high level of integration between the information systems being used on both sides, and the exchange of data is fully automated.</a:t>
            </a:r>
          </a:p>
          <a:p>
            <a:r>
              <a:rPr lang="en-GB" sz="2800" b="0" i="0" dirty="0">
                <a:solidFill>
                  <a:srgbClr val="262324"/>
                </a:solidFill>
                <a:effectLst/>
                <a:latin typeface="UniversLT-Light"/>
              </a:rPr>
              <a:t> This characterizes the Fully Automated Electronic Commerce Solution.</a:t>
            </a:r>
            <a:r>
              <a:rPr lang="en-GB" dirty="0"/>
              <a:t> </a:t>
            </a:r>
            <a:br>
              <a:rPr lang="en-GB" dirty="0"/>
            </a:br>
            <a:endParaRPr lang="en-GB" dirty="0"/>
          </a:p>
        </p:txBody>
      </p:sp>
    </p:spTree>
    <p:extLst>
      <p:ext uri="{BB962C8B-B14F-4D97-AF65-F5344CB8AC3E}">
        <p14:creationId xmlns:p14="http://schemas.microsoft.com/office/powerpoint/2010/main" val="3167415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511060-0C0D-4235-B45F-0645C837D6CF}"/>
              </a:ext>
            </a:extLst>
          </p:cNvPr>
          <p:cNvSpPr>
            <a:spLocks noGrp="1"/>
          </p:cNvSpPr>
          <p:nvPr>
            <p:ph type="title"/>
          </p:nvPr>
        </p:nvSpPr>
        <p:spPr/>
        <p:txBody>
          <a:bodyPr/>
          <a:lstStyle/>
          <a:p>
            <a:r>
              <a:rPr lang="en-GB" sz="4400" b="1" i="0" dirty="0">
                <a:solidFill>
                  <a:srgbClr val="262324"/>
                </a:solidFill>
                <a:effectLst/>
                <a:latin typeface="UniversLT-Black"/>
              </a:rPr>
              <a:t>5 Keys to EDI Integration Success</a:t>
            </a:r>
            <a:r>
              <a:rPr lang="en-GB" dirty="0"/>
              <a:t> </a:t>
            </a:r>
          </a:p>
        </p:txBody>
      </p:sp>
      <p:sp>
        <p:nvSpPr>
          <p:cNvPr id="3" name="Content Placeholder 2">
            <a:extLst>
              <a:ext uri="{FF2B5EF4-FFF2-40B4-BE49-F238E27FC236}">
                <a16:creationId xmlns:a16="http://schemas.microsoft.com/office/drawing/2014/main" xmlns="" id="{E835B543-2163-4EAB-91C3-2B43DDC6BA25}"/>
              </a:ext>
            </a:extLst>
          </p:cNvPr>
          <p:cNvSpPr>
            <a:spLocks noGrp="1"/>
          </p:cNvSpPr>
          <p:nvPr>
            <p:ph idx="1"/>
          </p:nvPr>
        </p:nvSpPr>
        <p:spPr/>
        <p:txBody>
          <a:bodyPr>
            <a:normAutofit fontScale="92500" lnSpcReduction="10000"/>
          </a:bodyPr>
          <a:lstStyle/>
          <a:p>
            <a:r>
              <a:rPr lang="en-GB" sz="2800" b="0" i="0" dirty="0">
                <a:solidFill>
                  <a:srgbClr val="262324"/>
                </a:solidFill>
                <a:effectLst/>
                <a:latin typeface="UniversLT-Light"/>
              </a:rPr>
              <a:t>The benefits of EDI integration are well established and quantifiable both for major companies and for growing mid-market companies.</a:t>
            </a:r>
          </a:p>
          <a:p>
            <a:r>
              <a:rPr lang="en-GB" sz="2800" b="0" i="0" dirty="0">
                <a:solidFill>
                  <a:srgbClr val="262324"/>
                </a:solidFill>
                <a:effectLst/>
                <a:latin typeface="UniversLT-Light"/>
              </a:rPr>
              <a:t>The most significant benefit is that of the reduction or elimination of manual data entry and the associated costs - both in terms of manpower as well as costs associated with errors in data entry due to manual processes.</a:t>
            </a:r>
          </a:p>
          <a:p>
            <a:r>
              <a:rPr lang="en-GB" sz="2800" b="0" i="0" dirty="0">
                <a:solidFill>
                  <a:srgbClr val="262324"/>
                </a:solidFill>
                <a:effectLst/>
                <a:latin typeface="UniversLT-Light"/>
              </a:rPr>
              <a:t>As businesses begin to consider deployments of new systems they invariable also review internal processes and procedures</a:t>
            </a:r>
            <a:r>
              <a:rPr lang="en-GB" dirty="0"/>
              <a:t> </a:t>
            </a:r>
          </a:p>
          <a:p>
            <a:r>
              <a:rPr lang="en-GB" sz="2800" b="0" i="0" dirty="0">
                <a:solidFill>
                  <a:srgbClr val="262324"/>
                </a:solidFill>
                <a:effectLst/>
                <a:latin typeface="UniversLT-Light"/>
              </a:rPr>
              <a:t>Eliminating the manual data entry process required to move EDI data into ERP systems can produce significant savings for mid-market companies</a:t>
            </a:r>
            <a:r>
              <a:rPr lang="en-GB" dirty="0"/>
              <a:t> </a:t>
            </a:r>
          </a:p>
        </p:txBody>
      </p:sp>
    </p:spTree>
    <p:extLst>
      <p:ext uri="{BB962C8B-B14F-4D97-AF65-F5344CB8AC3E}">
        <p14:creationId xmlns:p14="http://schemas.microsoft.com/office/powerpoint/2010/main" val="1947638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F27DCF-8639-4AEC-9E3C-4A5A6BC2DC9F}"/>
              </a:ext>
            </a:extLst>
          </p:cNvPr>
          <p:cNvSpPr>
            <a:spLocks noGrp="1"/>
          </p:cNvSpPr>
          <p:nvPr>
            <p:ph type="title"/>
          </p:nvPr>
        </p:nvSpPr>
        <p:spPr/>
        <p:txBody>
          <a:bodyPr/>
          <a:lstStyle/>
          <a:p>
            <a:r>
              <a:rPr lang="en-GB" sz="4400" b="1" i="0" dirty="0">
                <a:solidFill>
                  <a:srgbClr val="262324"/>
                </a:solidFill>
                <a:effectLst/>
                <a:latin typeface="UniversLT-Black"/>
              </a:rPr>
              <a:t>5 Keys to EDI Integration Success</a:t>
            </a:r>
            <a:r>
              <a:rPr lang="en-GB" dirty="0"/>
              <a:t> </a:t>
            </a:r>
          </a:p>
        </p:txBody>
      </p:sp>
      <p:sp>
        <p:nvSpPr>
          <p:cNvPr id="3" name="Content Placeholder 2">
            <a:extLst>
              <a:ext uri="{FF2B5EF4-FFF2-40B4-BE49-F238E27FC236}">
                <a16:creationId xmlns:a16="http://schemas.microsoft.com/office/drawing/2014/main" xmlns="" id="{C621EF92-BD64-42EE-81D2-3E9962506BB7}"/>
              </a:ext>
            </a:extLst>
          </p:cNvPr>
          <p:cNvSpPr>
            <a:spLocks noGrp="1"/>
          </p:cNvSpPr>
          <p:nvPr>
            <p:ph idx="1"/>
          </p:nvPr>
        </p:nvSpPr>
        <p:spPr/>
        <p:txBody>
          <a:bodyPr/>
          <a:lstStyle/>
          <a:p>
            <a:r>
              <a:rPr lang="en-GB" dirty="0">
                <a:solidFill>
                  <a:srgbClr val="262324"/>
                </a:solidFill>
                <a:latin typeface="UniversLT-Light"/>
              </a:rPr>
              <a:t>T</a:t>
            </a:r>
            <a:r>
              <a:rPr lang="en-GB" sz="2800" b="0" i="0" dirty="0">
                <a:solidFill>
                  <a:srgbClr val="262324"/>
                </a:solidFill>
                <a:effectLst/>
                <a:latin typeface="UniversLT-Light"/>
              </a:rPr>
              <a:t>here is enormous costs associated with mistakes and errors that are invariably made during the manual data entry processes</a:t>
            </a:r>
          </a:p>
          <a:p>
            <a:r>
              <a:rPr lang="en-GB" dirty="0">
                <a:solidFill>
                  <a:srgbClr val="262324"/>
                </a:solidFill>
                <a:latin typeface="UniversLT-Light"/>
              </a:rPr>
              <a:t>A</a:t>
            </a:r>
            <a:r>
              <a:rPr lang="en-GB" sz="2800" b="0" i="0" dirty="0">
                <a:solidFill>
                  <a:srgbClr val="262324"/>
                </a:solidFill>
                <a:effectLst/>
                <a:latin typeface="UniversLT-Light"/>
              </a:rPr>
              <a:t>nd an integrated solution that dynamically routes data between EDI and ERP systems becomes imperative.</a:t>
            </a:r>
          </a:p>
          <a:p>
            <a:r>
              <a:rPr lang="en-GB" dirty="0">
                <a:solidFill>
                  <a:srgbClr val="262324"/>
                </a:solidFill>
                <a:latin typeface="UniversLT-Light"/>
              </a:rPr>
              <a:t>Below are the 5 keys to EDI integration success</a:t>
            </a:r>
            <a:endParaRPr lang="en-GB" dirty="0"/>
          </a:p>
        </p:txBody>
      </p:sp>
    </p:spTree>
    <p:extLst>
      <p:ext uri="{BB962C8B-B14F-4D97-AF65-F5344CB8AC3E}">
        <p14:creationId xmlns:p14="http://schemas.microsoft.com/office/powerpoint/2010/main" val="2587234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20AF51-4959-4B59-B9CC-08B27621A540}"/>
              </a:ext>
            </a:extLst>
          </p:cNvPr>
          <p:cNvSpPr>
            <a:spLocks noGrp="1"/>
          </p:cNvSpPr>
          <p:nvPr>
            <p:ph type="title"/>
          </p:nvPr>
        </p:nvSpPr>
        <p:spPr/>
        <p:txBody>
          <a:bodyPr>
            <a:normAutofit/>
          </a:bodyPr>
          <a:lstStyle/>
          <a:p>
            <a:r>
              <a:rPr lang="en-GB" sz="4400" b="1" i="0" dirty="0">
                <a:solidFill>
                  <a:srgbClr val="262324"/>
                </a:solidFill>
                <a:effectLst/>
                <a:latin typeface="UniversLT-Black"/>
              </a:rPr>
              <a:t>KEY #1 - UNDERSTAND WHAT YOU ARE GETTING YOURSELF INTO</a:t>
            </a:r>
            <a:r>
              <a:rPr lang="en-GB" dirty="0"/>
              <a:t> </a:t>
            </a:r>
          </a:p>
        </p:txBody>
      </p:sp>
      <p:sp>
        <p:nvSpPr>
          <p:cNvPr id="3" name="Content Placeholder 2">
            <a:extLst>
              <a:ext uri="{FF2B5EF4-FFF2-40B4-BE49-F238E27FC236}">
                <a16:creationId xmlns:a16="http://schemas.microsoft.com/office/drawing/2014/main" xmlns="" id="{E2F7F878-8701-45E3-B3B3-6979F60CFDF7}"/>
              </a:ext>
            </a:extLst>
          </p:cNvPr>
          <p:cNvSpPr>
            <a:spLocks noGrp="1"/>
          </p:cNvSpPr>
          <p:nvPr>
            <p:ph idx="1"/>
          </p:nvPr>
        </p:nvSpPr>
        <p:spPr/>
        <p:txBody>
          <a:bodyPr/>
          <a:lstStyle/>
          <a:p>
            <a:r>
              <a:rPr lang="en-GB" sz="2800" b="0" i="0" dirty="0">
                <a:solidFill>
                  <a:srgbClr val="262324"/>
                </a:solidFill>
                <a:effectLst/>
                <a:latin typeface="UniversLT-Light"/>
              </a:rPr>
              <a:t>The single biggest mistake mid-market companies often make in EDI integration is to underestimate the project they are about to embark on when they choose to integrate EDI. </a:t>
            </a:r>
          </a:p>
          <a:p>
            <a:r>
              <a:rPr lang="en-GB" sz="2800" b="0" i="0" dirty="0">
                <a:solidFill>
                  <a:srgbClr val="262324"/>
                </a:solidFill>
                <a:effectLst/>
                <a:latin typeface="UniversLT-Light"/>
              </a:rPr>
              <a:t>No matter what you read on vendor sites, EDI integration</a:t>
            </a:r>
            <a:br>
              <a:rPr lang="en-GB" sz="2800" b="0" i="0" dirty="0">
                <a:solidFill>
                  <a:srgbClr val="262324"/>
                </a:solidFill>
                <a:effectLst/>
                <a:latin typeface="UniversLT-Light"/>
              </a:rPr>
            </a:br>
            <a:r>
              <a:rPr lang="en-GB" sz="2800" b="0" i="0" dirty="0">
                <a:solidFill>
                  <a:srgbClr val="262324"/>
                </a:solidFill>
                <a:effectLst/>
                <a:latin typeface="UniversLT-Light"/>
              </a:rPr>
              <a:t>is complex; it requires in-depth knowledge of your data and it takes time. </a:t>
            </a:r>
          </a:p>
          <a:p>
            <a:r>
              <a:rPr lang="en-GB" sz="2800" b="0" i="0" dirty="0">
                <a:solidFill>
                  <a:srgbClr val="262324"/>
                </a:solidFill>
                <a:effectLst/>
                <a:latin typeface="UniversLT-Light"/>
              </a:rPr>
              <a:t>Being prepared for that will make you have more realistic goals of the time-frame involved, and the results you can expect</a:t>
            </a:r>
            <a:r>
              <a:rPr lang="en-GB" dirty="0"/>
              <a:t> </a:t>
            </a:r>
            <a:br>
              <a:rPr lang="en-GB" dirty="0"/>
            </a:br>
            <a:endParaRPr lang="en-GB" dirty="0"/>
          </a:p>
        </p:txBody>
      </p:sp>
    </p:spTree>
    <p:extLst>
      <p:ext uri="{BB962C8B-B14F-4D97-AF65-F5344CB8AC3E}">
        <p14:creationId xmlns:p14="http://schemas.microsoft.com/office/powerpoint/2010/main" val="1685648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9A4C9B-C9E3-4D3B-8051-CB3305CCB03B}"/>
              </a:ext>
            </a:extLst>
          </p:cNvPr>
          <p:cNvSpPr>
            <a:spLocks noGrp="1"/>
          </p:cNvSpPr>
          <p:nvPr>
            <p:ph type="title"/>
          </p:nvPr>
        </p:nvSpPr>
        <p:spPr/>
        <p:txBody>
          <a:bodyPr/>
          <a:lstStyle/>
          <a:p>
            <a:r>
              <a:rPr lang="en-GB" sz="4400" b="1" i="0" dirty="0">
                <a:solidFill>
                  <a:srgbClr val="262324"/>
                </a:solidFill>
                <a:effectLst/>
                <a:latin typeface="UniversLT-Black"/>
              </a:rPr>
              <a:t>KEY #1 - UNDERSTAND WHAT YOU ARE GETTING YOURSELF INTO</a:t>
            </a:r>
            <a:r>
              <a:rPr lang="en-GB" dirty="0"/>
              <a:t> </a:t>
            </a:r>
          </a:p>
        </p:txBody>
      </p:sp>
      <p:sp>
        <p:nvSpPr>
          <p:cNvPr id="3" name="Content Placeholder 2">
            <a:extLst>
              <a:ext uri="{FF2B5EF4-FFF2-40B4-BE49-F238E27FC236}">
                <a16:creationId xmlns:a16="http://schemas.microsoft.com/office/drawing/2014/main" xmlns="" id="{94DF70A3-17E9-4AA1-9987-957FD6E2062F}"/>
              </a:ext>
            </a:extLst>
          </p:cNvPr>
          <p:cNvSpPr>
            <a:spLocks noGrp="1"/>
          </p:cNvSpPr>
          <p:nvPr>
            <p:ph idx="1"/>
          </p:nvPr>
        </p:nvSpPr>
        <p:spPr/>
        <p:txBody>
          <a:bodyPr>
            <a:normAutofit lnSpcReduction="10000"/>
          </a:bodyPr>
          <a:lstStyle/>
          <a:p>
            <a:r>
              <a:rPr lang="en-GB" sz="2800" b="0" i="0" dirty="0">
                <a:solidFill>
                  <a:srgbClr val="262324"/>
                </a:solidFill>
                <a:effectLst/>
                <a:latin typeface="UniversLT-Light"/>
              </a:rPr>
              <a:t>The first question is: how will your process change after you integrate your data? </a:t>
            </a:r>
          </a:p>
          <a:p>
            <a:r>
              <a:rPr lang="en-GB" sz="2800" b="0" i="0" dirty="0">
                <a:solidFill>
                  <a:srgbClr val="262324"/>
                </a:solidFill>
                <a:effectLst/>
                <a:latin typeface="UniversLT-Light"/>
              </a:rPr>
              <a:t>As you think about this question, consider all aspects of how EDI data is handled today. </a:t>
            </a:r>
          </a:p>
          <a:p>
            <a:r>
              <a:rPr lang="en-GB" sz="2800" b="0" i="0" dirty="0">
                <a:solidFill>
                  <a:srgbClr val="262324"/>
                </a:solidFill>
                <a:effectLst/>
                <a:latin typeface="UniversLT-Light"/>
              </a:rPr>
              <a:t>What reports are created?</a:t>
            </a:r>
          </a:p>
          <a:p>
            <a:r>
              <a:rPr lang="en-GB" sz="2800" b="0" i="0" dirty="0">
                <a:solidFill>
                  <a:srgbClr val="262324"/>
                </a:solidFill>
                <a:effectLst/>
                <a:latin typeface="UniversLT-Light"/>
              </a:rPr>
              <a:t>How are the reports printed? How often? What data is available? What should happen next to that data? </a:t>
            </a:r>
          </a:p>
          <a:p>
            <a:r>
              <a:rPr lang="en-GB" sz="2800" b="0" i="0" dirty="0">
                <a:solidFill>
                  <a:srgbClr val="262324"/>
                </a:solidFill>
                <a:effectLst/>
                <a:latin typeface="UniversLT-Light"/>
              </a:rPr>
              <a:t>Who is responsible for it?</a:t>
            </a:r>
          </a:p>
          <a:p>
            <a:r>
              <a:rPr lang="en-GB" sz="2800" b="0" i="0" dirty="0">
                <a:solidFill>
                  <a:srgbClr val="262324"/>
                </a:solidFill>
                <a:effectLst/>
                <a:latin typeface="UniversLT-Light"/>
              </a:rPr>
              <a:t>How will all of these processes have to change after your integration is complete? </a:t>
            </a:r>
            <a:endParaRPr lang="en-GB" dirty="0"/>
          </a:p>
        </p:txBody>
      </p:sp>
    </p:spTree>
    <p:extLst>
      <p:ext uri="{BB962C8B-B14F-4D97-AF65-F5344CB8AC3E}">
        <p14:creationId xmlns:p14="http://schemas.microsoft.com/office/powerpoint/2010/main" val="36308832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DF87F6-D20E-4A1F-82F2-16368EE481C2}"/>
              </a:ext>
            </a:extLst>
          </p:cNvPr>
          <p:cNvSpPr>
            <a:spLocks noGrp="1"/>
          </p:cNvSpPr>
          <p:nvPr>
            <p:ph type="title"/>
          </p:nvPr>
        </p:nvSpPr>
        <p:spPr/>
        <p:txBody>
          <a:bodyPr/>
          <a:lstStyle/>
          <a:p>
            <a:r>
              <a:rPr lang="en-GB" sz="4400" b="1" i="0" dirty="0">
                <a:solidFill>
                  <a:srgbClr val="262324"/>
                </a:solidFill>
                <a:effectLst/>
                <a:latin typeface="UniversLT-Black"/>
              </a:rPr>
              <a:t>KEY #1 - UNDERSTAND WHAT YOU ARE GETTING YOURSELF INTO</a:t>
            </a:r>
            <a:r>
              <a:rPr lang="en-GB" dirty="0"/>
              <a:t> </a:t>
            </a:r>
          </a:p>
        </p:txBody>
      </p:sp>
      <p:sp>
        <p:nvSpPr>
          <p:cNvPr id="3" name="Content Placeholder 2">
            <a:extLst>
              <a:ext uri="{FF2B5EF4-FFF2-40B4-BE49-F238E27FC236}">
                <a16:creationId xmlns:a16="http://schemas.microsoft.com/office/drawing/2014/main" xmlns="" id="{9E781F2F-2316-47B8-A98D-F2D4081260FF}"/>
              </a:ext>
            </a:extLst>
          </p:cNvPr>
          <p:cNvSpPr>
            <a:spLocks noGrp="1"/>
          </p:cNvSpPr>
          <p:nvPr>
            <p:ph idx="1"/>
          </p:nvPr>
        </p:nvSpPr>
        <p:spPr/>
        <p:txBody>
          <a:bodyPr/>
          <a:lstStyle/>
          <a:p>
            <a:r>
              <a:rPr lang="en-GB" sz="2800" b="0" i="0" dirty="0">
                <a:solidFill>
                  <a:srgbClr val="262324"/>
                </a:solidFill>
                <a:effectLst/>
                <a:latin typeface="UniversLT-Light"/>
              </a:rPr>
              <a:t>Planning for all these types of questions will ensure that you minimize the number of surprises you have after your integration project is complete. </a:t>
            </a:r>
          </a:p>
          <a:p>
            <a:r>
              <a:rPr lang="en-GB" sz="2800" b="0" i="0" dirty="0">
                <a:solidFill>
                  <a:srgbClr val="262324"/>
                </a:solidFill>
                <a:effectLst/>
                <a:latin typeface="UniversLT-Light"/>
              </a:rPr>
              <a:t>A second key question to consider is: who will need to be involved in the integration project? </a:t>
            </a:r>
          </a:p>
          <a:p>
            <a:r>
              <a:rPr lang="en-GB" sz="2800" b="0" i="0" dirty="0">
                <a:solidFill>
                  <a:srgbClr val="262324"/>
                </a:solidFill>
                <a:effectLst/>
                <a:latin typeface="UniversLT-Light"/>
              </a:rPr>
              <a:t>This may seem like an obvious question but it’s important to consider all aspects of the project and the people that may have valuable input. </a:t>
            </a:r>
          </a:p>
          <a:p>
            <a:r>
              <a:rPr lang="en-GB" sz="2800" b="0" i="0" dirty="0">
                <a:solidFill>
                  <a:srgbClr val="262324"/>
                </a:solidFill>
                <a:effectLst/>
                <a:latin typeface="UniversLT-Light"/>
              </a:rPr>
              <a:t>Where does the expertise reside in your organization?</a:t>
            </a:r>
            <a:r>
              <a:rPr lang="en-GB" dirty="0"/>
              <a:t> </a:t>
            </a:r>
            <a:br>
              <a:rPr lang="en-GB" dirty="0"/>
            </a:br>
            <a:endParaRPr lang="en-GB" dirty="0"/>
          </a:p>
        </p:txBody>
      </p:sp>
    </p:spTree>
    <p:extLst>
      <p:ext uri="{BB962C8B-B14F-4D97-AF65-F5344CB8AC3E}">
        <p14:creationId xmlns:p14="http://schemas.microsoft.com/office/powerpoint/2010/main" val="35239419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CBDD5B-B9F3-4F1A-BAC1-B5236075B3F2}"/>
              </a:ext>
            </a:extLst>
          </p:cNvPr>
          <p:cNvSpPr>
            <a:spLocks noGrp="1"/>
          </p:cNvSpPr>
          <p:nvPr>
            <p:ph type="title"/>
          </p:nvPr>
        </p:nvSpPr>
        <p:spPr/>
        <p:txBody>
          <a:bodyPr/>
          <a:lstStyle/>
          <a:p>
            <a:r>
              <a:rPr lang="en-GB" sz="4400" b="1" i="0" dirty="0">
                <a:solidFill>
                  <a:srgbClr val="262324"/>
                </a:solidFill>
                <a:effectLst/>
                <a:latin typeface="UniversLT-Black"/>
              </a:rPr>
              <a:t>KEY #1 - UNDERSTAND WHAT YOU ARE GETTING YOURSELF INTO</a:t>
            </a:r>
            <a:r>
              <a:rPr lang="en-GB" dirty="0"/>
              <a:t> </a:t>
            </a:r>
          </a:p>
        </p:txBody>
      </p:sp>
      <p:sp>
        <p:nvSpPr>
          <p:cNvPr id="3" name="Content Placeholder 2">
            <a:extLst>
              <a:ext uri="{FF2B5EF4-FFF2-40B4-BE49-F238E27FC236}">
                <a16:creationId xmlns:a16="http://schemas.microsoft.com/office/drawing/2014/main" xmlns="" id="{8BBF7465-CD94-4588-9015-04B597B9DB65}"/>
              </a:ext>
            </a:extLst>
          </p:cNvPr>
          <p:cNvSpPr>
            <a:spLocks noGrp="1"/>
          </p:cNvSpPr>
          <p:nvPr>
            <p:ph idx="1"/>
          </p:nvPr>
        </p:nvSpPr>
        <p:spPr/>
        <p:txBody>
          <a:bodyPr>
            <a:normAutofit fontScale="92500"/>
          </a:bodyPr>
          <a:lstStyle/>
          <a:p>
            <a:r>
              <a:rPr lang="en-GB" sz="2800" b="0" i="0" dirty="0">
                <a:solidFill>
                  <a:srgbClr val="262324"/>
                </a:solidFill>
                <a:effectLst/>
                <a:latin typeface="UniversLT-Light"/>
              </a:rPr>
              <a:t>As companies grow and manual processes expand, much of the information that is vital to keeping processes functional and healthy is often undocumented and resides in the minds of the people involved</a:t>
            </a:r>
            <a:br>
              <a:rPr lang="en-GB" sz="2800" b="0" i="0" dirty="0">
                <a:solidFill>
                  <a:srgbClr val="262324"/>
                </a:solidFill>
                <a:effectLst/>
                <a:latin typeface="UniversLT-Light"/>
              </a:rPr>
            </a:br>
            <a:r>
              <a:rPr lang="en-GB" sz="2800" b="0" i="0" dirty="0">
                <a:solidFill>
                  <a:srgbClr val="262324"/>
                </a:solidFill>
                <a:effectLst/>
                <a:latin typeface="UniversLT-Light"/>
              </a:rPr>
              <a:t>with the daily work. </a:t>
            </a:r>
          </a:p>
          <a:p>
            <a:r>
              <a:rPr lang="en-GB" sz="2800" b="0" i="0" dirty="0">
                <a:solidFill>
                  <a:srgbClr val="262324"/>
                </a:solidFill>
                <a:effectLst/>
                <a:latin typeface="UniversLT-Light"/>
              </a:rPr>
              <a:t>Involving the people who do the work as early in the EDI integration planning as possible will ensure that you are exposed to all the different aspects of your manual procedures and how they will affect the integration process. </a:t>
            </a:r>
          </a:p>
          <a:p>
            <a:r>
              <a:rPr lang="en-GB" sz="2800" b="0" i="0" dirty="0">
                <a:solidFill>
                  <a:srgbClr val="262324"/>
                </a:solidFill>
                <a:effectLst/>
                <a:latin typeface="UniversLT-Light"/>
              </a:rPr>
              <a:t>An important related question is: how will these “manual operators” be affected by the EDI integration after it is complete?</a:t>
            </a:r>
            <a:r>
              <a:rPr lang="en-GB" dirty="0"/>
              <a:t> </a:t>
            </a:r>
          </a:p>
        </p:txBody>
      </p:sp>
    </p:spTree>
    <p:extLst>
      <p:ext uri="{BB962C8B-B14F-4D97-AF65-F5344CB8AC3E}">
        <p14:creationId xmlns:p14="http://schemas.microsoft.com/office/powerpoint/2010/main" val="2745745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171889-599B-4D83-9F20-E8531EC8ED51}"/>
              </a:ext>
            </a:extLst>
          </p:cNvPr>
          <p:cNvSpPr>
            <a:spLocks noGrp="1"/>
          </p:cNvSpPr>
          <p:nvPr>
            <p:ph type="title"/>
          </p:nvPr>
        </p:nvSpPr>
        <p:spPr/>
        <p:txBody>
          <a:bodyPr/>
          <a:lstStyle/>
          <a:p>
            <a:r>
              <a:rPr lang="en-GB" sz="4400" b="1" i="0" dirty="0">
                <a:solidFill>
                  <a:srgbClr val="262324"/>
                </a:solidFill>
                <a:effectLst/>
                <a:latin typeface="UniversLT-Black"/>
              </a:rPr>
              <a:t>KEY #2 - START, LEARN, CORRECT, EXPAND</a:t>
            </a:r>
            <a:r>
              <a:rPr lang="en-GB" dirty="0"/>
              <a:t> </a:t>
            </a:r>
          </a:p>
        </p:txBody>
      </p:sp>
      <p:sp>
        <p:nvSpPr>
          <p:cNvPr id="3" name="Content Placeholder 2">
            <a:extLst>
              <a:ext uri="{FF2B5EF4-FFF2-40B4-BE49-F238E27FC236}">
                <a16:creationId xmlns:a16="http://schemas.microsoft.com/office/drawing/2014/main" xmlns="" id="{67C215F7-E61E-47B6-BB44-C9209644F4C0}"/>
              </a:ext>
            </a:extLst>
          </p:cNvPr>
          <p:cNvSpPr>
            <a:spLocks noGrp="1"/>
          </p:cNvSpPr>
          <p:nvPr>
            <p:ph idx="1"/>
          </p:nvPr>
        </p:nvSpPr>
        <p:spPr/>
        <p:txBody>
          <a:bodyPr>
            <a:normAutofit/>
          </a:bodyPr>
          <a:lstStyle/>
          <a:p>
            <a:r>
              <a:rPr lang="en-GB" sz="2800" b="0" i="0" dirty="0">
                <a:solidFill>
                  <a:srgbClr val="262324"/>
                </a:solidFill>
                <a:effectLst/>
                <a:latin typeface="UniversLT-Light"/>
              </a:rPr>
              <a:t>Any EDI integration project is going to have initial problems. </a:t>
            </a:r>
          </a:p>
          <a:p>
            <a:r>
              <a:rPr lang="en-GB" dirty="0">
                <a:solidFill>
                  <a:srgbClr val="262324"/>
                </a:solidFill>
                <a:latin typeface="UniversLT-Light"/>
              </a:rPr>
              <a:t>Y</a:t>
            </a:r>
            <a:r>
              <a:rPr lang="en-GB" sz="2800" b="0" i="0" dirty="0">
                <a:solidFill>
                  <a:srgbClr val="262324"/>
                </a:solidFill>
                <a:effectLst/>
                <a:latin typeface="UniversLT-Light"/>
              </a:rPr>
              <a:t>ou can plan as much as you want but you will always find that there are challenges in your EDI integration project that you simply did not foresee.</a:t>
            </a:r>
          </a:p>
          <a:p>
            <a:r>
              <a:rPr lang="en-GB" sz="2800" b="0" i="0" dirty="0">
                <a:solidFill>
                  <a:srgbClr val="262324"/>
                </a:solidFill>
                <a:effectLst/>
                <a:latin typeface="UniversLT-Light"/>
              </a:rPr>
              <a:t>For this reason, it is critical that you follow a process that allows for mistakes and unforeseen challenges. </a:t>
            </a:r>
          </a:p>
          <a:p>
            <a:r>
              <a:rPr lang="en-GB" sz="2800" b="0" i="0" dirty="0">
                <a:solidFill>
                  <a:srgbClr val="262324"/>
                </a:solidFill>
                <a:effectLst/>
                <a:latin typeface="UniversLT-Light"/>
              </a:rPr>
              <a:t>As your EDI integration project proceeds, you will notice that it is significantly easier to deal with unexpected circumstances on a</a:t>
            </a:r>
            <a:br>
              <a:rPr lang="en-GB" sz="2800" b="0" i="0" dirty="0">
                <a:solidFill>
                  <a:srgbClr val="262324"/>
                </a:solidFill>
                <a:effectLst/>
                <a:latin typeface="UniversLT-Light"/>
              </a:rPr>
            </a:br>
            <a:r>
              <a:rPr lang="en-GB" sz="2800" b="0" i="0" dirty="0">
                <a:solidFill>
                  <a:srgbClr val="262324"/>
                </a:solidFill>
                <a:effectLst/>
                <a:latin typeface="UniversLT-Light"/>
              </a:rPr>
              <a:t>small scale than it is on a large scale</a:t>
            </a:r>
            <a:r>
              <a:rPr lang="en-GB" dirty="0"/>
              <a:t> </a:t>
            </a:r>
          </a:p>
        </p:txBody>
      </p:sp>
    </p:spTree>
    <p:extLst>
      <p:ext uri="{BB962C8B-B14F-4D97-AF65-F5344CB8AC3E}">
        <p14:creationId xmlns:p14="http://schemas.microsoft.com/office/powerpoint/2010/main" val="37056588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EF5535-534B-4AC0-8489-B2A1C72059DA}"/>
              </a:ext>
            </a:extLst>
          </p:cNvPr>
          <p:cNvSpPr>
            <a:spLocks noGrp="1"/>
          </p:cNvSpPr>
          <p:nvPr>
            <p:ph type="title"/>
          </p:nvPr>
        </p:nvSpPr>
        <p:spPr/>
        <p:txBody>
          <a:bodyPr/>
          <a:lstStyle/>
          <a:p>
            <a:r>
              <a:rPr lang="en-GB" sz="4400" b="1" i="0" dirty="0">
                <a:solidFill>
                  <a:srgbClr val="262324"/>
                </a:solidFill>
                <a:effectLst/>
                <a:latin typeface="UniversLT-Black"/>
              </a:rPr>
              <a:t>KEY #2 - START, LEARN, CORRECT, EXPAND</a:t>
            </a:r>
            <a:r>
              <a:rPr lang="en-GB" dirty="0"/>
              <a:t> </a:t>
            </a:r>
          </a:p>
        </p:txBody>
      </p:sp>
      <p:sp>
        <p:nvSpPr>
          <p:cNvPr id="3" name="Content Placeholder 2">
            <a:extLst>
              <a:ext uri="{FF2B5EF4-FFF2-40B4-BE49-F238E27FC236}">
                <a16:creationId xmlns:a16="http://schemas.microsoft.com/office/drawing/2014/main" xmlns="" id="{1673AFDB-C62D-4BEE-ADA3-DCDA28578FB7}"/>
              </a:ext>
            </a:extLst>
          </p:cNvPr>
          <p:cNvSpPr>
            <a:spLocks noGrp="1"/>
          </p:cNvSpPr>
          <p:nvPr>
            <p:ph idx="1"/>
          </p:nvPr>
        </p:nvSpPr>
        <p:spPr/>
        <p:txBody>
          <a:bodyPr>
            <a:normAutofit lnSpcReduction="10000"/>
          </a:bodyPr>
          <a:lstStyle/>
          <a:p>
            <a:r>
              <a:rPr lang="en-GB" sz="2800" b="0" i="0" dirty="0">
                <a:solidFill>
                  <a:srgbClr val="262324"/>
                </a:solidFill>
                <a:effectLst/>
                <a:latin typeface="UniversLT-Light"/>
              </a:rPr>
              <a:t>Through the process of implementation, review, and re-implementation, problems will be ironed out and your chances of success will be maximized when the larger integration project is embarked upon. </a:t>
            </a:r>
          </a:p>
          <a:p>
            <a:r>
              <a:rPr lang="en-GB" sz="2800" b="0" i="0" dirty="0">
                <a:solidFill>
                  <a:srgbClr val="262324"/>
                </a:solidFill>
                <a:effectLst/>
                <a:latin typeface="UniversLT-Light"/>
              </a:rPr>
              <a:t>As you start on the larger EDI integration plan, be sure to set it up so</a:t>
            </a:r>
            <a:br>
              <a:rPr lang="en-GB" sz="2800" b="0" i="0" dirty="0">
                <a:solidFill>
                  <a:srgbClr val="262324"/>
                </a:solidFill>
                <a:effectLst/>
                <a:latin typeface="UniversLT-Light"/>
              </a:rPr>
            </a:br>
            <a:r>
              <a:rPr lang="en-GB" sz="2800" b="0" i="0" dirty="0">
                <a:solidFill>
                  <a:srgbClr val="262324"/>
                </a:solidFill>
                <a:effectLst/>
                <a:latin typeface="UniversLT-Light"/>
              </a:rPr>
              <a:t>that the integration happens in stages; don’t attempt to do everything at once. </a:t>
            </a:r>
          </a:p>
          <a:p>
            <a:r>
              <a:rPr lang="en-GB" sz="2800" b="0" i="0" dirty="0">
                <a:solidFill>
                  <a:srgbClr val="262324"/>
                </a:solidFill>
                <a:effectLst/>
                <a:latin typeface="UniversLT-Light"/>
              </a:rPr>
              <a:t>Stage your integration so that each set of data that can be segmented is handled as an individual mini-project</a:t>
            </a:r>
            <a:r>
              <a:rPr lang="en-GB" dirty="0"/>
              <a:t> </a:t>
            </a:r>
            <a:br>
              <a:rPr lang="en-GB" dirty="0"/>
            </a:br>
            <a:endParaRPr lang="en-GB" dirty="0"/>
          </a:p>
        </p:txBody>
      </p:sp>
    </p:spTree>
    <p:extLst>
      <p:ext uri="{BB962C8B-B14F-4D97-AF65-F5344CB8AC3E}">
        <p14:creationId xmlns:p14="http://schemas.microsoft.com/office/powerpoint/2010/main" val="41645960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E00E3C-90CC-47F8-8735-A40483222D2D}"/>
              </a:ext>
            </a:extLst>
          </p:cNvPr>
          <p:cNvSpPr>
            <a:spLocks noGrp="1"/>
          </p:cNvSpPr>
          <p:nvPr>
            <p:ph type="title"/>
          </p:nvPr>
        </p:nvSpPr>
        <p:spPr/>
        <p:txBody>
          <a:bodyPr/>
          <a:lstStyle/>
          <a:p>
            <a:r>
              <a:rPr lang="en-GB" sz="4400" b="1" i="0" dirty="0">
                <a:solidFill>
                  <a:srgbClr val="262324"/>
                </a:solidFill>
                <a:effectLst/>
                <a:latin typeface="UniversLT-Black"/>
              </a:rPr>
              <a:t>KEY #3 - IT’s ALL ABOUT THE DATA</a:t>
            </a:r>
            <a:r>
              <a:rPr lang="en-GB" dirty="0"/>
              <a:t> </a:t>
            </a:r>
          </a:p>
        </p:txBody>
      </p:sp>
      <p:sp>
        <p:nvSpPr>
          <p:cNvPr id="3" name="Content Placeholder 2">
            <a:extLst>
              <a:ext uri="{FF2B5EF4-FFF2-40B4-BE49-F238E27FC236}">
                <a16:creationId xmlns:a16="http://schemas.microsoft.com/office/drawing/2014/main" xmlns="" id="{6A10280D-A312-4549-81F4-60813C7FB234}"/>
              </a:ext>
            </a:extLst>
          </p:cNvPr>
          <p:cNvSpPr>
            <a:spLocks noGrp="1"/>
          </p:cNvSpPr>
          <p:nvPr>
            <p:ph idx="1"/>
          </p:nvPr>
        </p:nvSpPr>
        <p:spPr/>
        <p:txBody>
          <a:bodyPr>
            <a:normAutofit/>
          </a:bodyPr>
          <a:lstStyle/>
          <a:p>
            <a:r>
              <a:rPr lang="en-GB" sz="2800" b="0" i="0" dirty="0">
                <a:solidFill>
                  <a:srgbClr val="262324"/>
                </a:solidFill>
                <a:effectLst/>
                <a:latin typeface="UniversLT-Light"/>
              </a:rPr>
              <a:t>For mid-market companies one of the biggest implementation challenges often deals with data. </a:t>
            </a:r>
          </a:p>
          <a:p>
            <a:r>
              <a:rPr lang="en-GB" sz="2800" b="0" i="0" dirty="0">
                <a:solidFill>
                  <a:srgbClr val="262324"/>
                </a:solidFill>
                <a:effectLst/>
                <a:latin typeface="UniversLT-Light"/>
              </a:rPr>
              <a:t>There are two aspects of the data you are going to be dealing with that you need to consider: data cleanliness and subject-matter expertise</a:t>
            </a:r>
            <a:r>
              <a:rPr lang="en-GB" dirty="0"/>
              <a:t> </a:t>
            </a:r>
          </a:p>
          <a:p>
            <a:r>
              <a:rPr lang="en-GB" sz="2800" b="0" i="0" dirty="0">
                <a:solidFill>
                  <a:srgbClr val="262324"/>
                </a:solidFill>
                <a:effectLst/>
                <a:latin typeface="UniversLT-Light"/>
              </a:rPr>
              <a:t>Data cleanliness simply means that before you embark on your EDI integration project you should consider the state of your data and how it will impact the project</a:t>
            </a:r>
          </a:p>
          <a:p>
            <a:r>
              <a:rPr lang="en-GB" sz="2800" b="0" i="0" dirty="0">
                <a:solidFill>
                  <a:srgbClr val="262324"/>
                </a:solidFill>
                <a:effectLst/>
                <a:latin typeface="UniversLT-Light"/>
              </a:rPr>
              <a:t>More specifically, think about issues like duplication or inaccurate data</a:t>
            </a:r>
            <a:r>
              <a:rPr lang="en-GB" dirty="0"/>
              <a:t> </a:t>
            </a:r>
          </a:p>
        </p:txBody>
      </p:sp>
    </p:spTree>
    <p:extLst>
      <p:ext uri="{BB962C8B-B14F-4D97-AF65-F5344CB8AC3E}">
        <p14:creationId xmlns:p14="http://schemas.microsoft.com/office/powerpoint/2010/main" val="21192113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A5E94D-4A61-4E62-B231-AE2F2D179E27}"/>
              </a:ext>
            </a:extLst>
          </p:cNvPr>
          <p:cNvSpPr>
            <a:spLocks noGrp="1"/>
          </p:cNvSpPr>
          <p:nvPr>
            <p:ph type="title"/>
          </p:nvPr>
        </p:nvSpPr>
        <p:spPr/>
        <p:txBody>
          <a:bodyPr/>
          <a:lstStyle/>
          <a:p>
            <a:r>
              <a:rPr lang="en-GB" sz="4400" b="1" i="0" dirty="0">
                <a:solidFill>
                  <a:srgbClr val="262324"/>
                </a:solidFill>
                <a:effectLst/>
                <a:latin typeface="UniversLT-Black"/>
              </a:rPr>
              <a:t>KEY #3 - IT’s ALL ABOUT THE DATA</a:t>
            </a:r>
            <a:r>
              <a:rPr lang="en-GB" dirty="0"/>
              <a:t> </a:t>
            </a:r>
          </a:p>
        </p:txBody>
      </p:sp>
      <p:sp>
        <p:nvSpPr>
          <p:cNvPr id="3" name="Content Placeholder 2">
            <a:extLst>
              <a:ext uri="{FF2B5EF4-FFF2-40B4-BE49-F238E27FC236}">
                <a16:creationId xmlns:a16="http://schemas.microsoft.com/office/drawing/2014/main" xmlns="" id="{B53D09A0-EBFD-4465-9EC1-FFEA4B299730}"/>
              </a:ext>
            </a:extLst>
          </p:cNvPr>
          <p:cNvSpPr>
            <a:spLocks noGrp="1"/>
          </p:cNvSpPr>
          <p:nvPr>
            <p:ph idx="1"/>
          </p:nvPr>
        </p:nvSpPr>
        <p:spPr/>
        <p:txBody>
          <a:bodyPr>
            <a:normAutofit/>
          </a:bodyPr>
          <a:lstStyle/>
          <a:p>
            <a:r>
              <a:rPr lang="en-GB" sz="2800" b="0" i="0" dirty="0">
                <a:solidFill>
                  <a:srgbClr val="262324"/>
                </a:solidFill>
                <a:effectLst/>
                <a:latin typeface="UniversLT-Light"/>
              </a:rPr>
              <a:t>A second aspect of managing data that mid-market companies often have trouble with is access to a subject-matter</a:t>
            </a:r>
            <a:br>
              <a:rPr lang="en-GB" sz="2800" b="0" i="0" dirty="0">
                <a:solidFill>
                  <a:srgbClr val="262324"/>
                </a:solidFill>
                <a:effectLst/>
                <a:latin typeface="UniversLT-Light"/>
              </a:rPr>
            </a:br>
            <a:r>
              <a:rPr lang="en-GB" sz="2800" b="0" i="0" dirty="0">
                <a:solidFill>
                  <a:srgbClr val="262324"/>
                </a:solidFill>
                <a:effectLst/>
                <a:latin typeface="UniversLT-Light"/>
              </a:rPr>
              <a:t>expert.</a:t>
            </a:r>
          </a:p>
          <a:p>
            <a:r>
              <a:rPr lang="en-GB" sz="2800" b="0" i="0" dirty="0">
                <a:solidFill>
                  <a:srgbClr val="262324"/>
                </a:solidFill>
                <a:effectLst/>
                <a:latin typeface="UniversLT-Light"/>
              </a:rPr>
              <a:t> It’s important to understand that whether you are doing the data integration with consultants or with services provided by your EDI integration vendor, their subject matter expertise is data integration - not necessarily the systems involved</a:t>
            </a:r>
            <a:r>
              <a:rPr lang="en-GB" dirty="0"/>
              <a:t> </a:t>
            </a:r>
          </a:p>
          <a:p>
            <a:r>
              <a:rPr lang="en-GB" sz="2800" b="0" i="0" dirty="0">
                <a:solidFill>
                  <a:srgbClr val="262324"/>
                </a:solidFill>
                <a:effectLst/>
                <a:latin typeface="UniversLT-Light"/>
              </a:rPr>
              <a:t>For this reason you will need access to someone who is familiar with your ERP and your EDI systems to be able to answer technical questions as they arise during the project. </a:t>
            </a:r>
            <a:endParaRPr lang="en-GB" dirty="0"/>
          </a:p>
        </p:txBody>
      </p:sp>
    </p:spTree>
    <p:extLst>
      <p:ext uri="{BB962C8B-B14F-4D97-AF65-F5344CB8AC3E}">
        <p14:creationId xmlns:p14="http://schemas.microsoft.com/office/powerpoint/2010/main" val="2145080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EE69A0-EF96-4AFA-A5FE-56CAD23EAA4F}"/>
              </a:ext>
            </a:extLst>
          </p:cNvPr>
          <p:cNvSpPr>
            <a:spLocks noGrp="1"/>
          </p:cNvSpPr>
          <p:nvPr>
            <p:ph type="title"/>
          </p:nvPr>
        </p:nvSpPr>
        <p:spPr/>
        <p:txBody>
          <a:bodyPr/>
          <a:lstStyle/>
          <a:p>
            <a:r>
              <a:rPr lang="en-GB" sz="4400" b="1" i="0" dirty="0">
                <a:solidFill>
                  <a:srgbClr val="262324"/>
                </a:solidFill>
                <a:effectLst/>
                <a:latin typeface="UniversLT-Black"/>
              </a:rPr>
              <a:t>KEY #4 - SELECTING THE RIGHT SOFTWARE</a:t>
            </a:r>
            <a:r>
              <a:rPr lang="en-GB" dirty="0"/>
              <a:t> </a:t>
            </a:r>
          </a:p>
        </p:txBody>
      </p:sp>
      <p:sp>
        <p:nvSpPr>
          <p:cNvPr id="3" name="Content Placeholder 2">
            <a:extLst>
              <a:ext uri="{FF2B5EF4-FFF2-40B4-BE49-F238E27FC236}">
                <a16:creationId xmlns:a16="http://schemas.microsoft.com/office/drawing/2014/main" xmlns="" id="{F43BF236-C4E2-47A8-BB8C-1A9036F01D60}"/>
              </a:ext>
            </a:extLst>
          </p:cNvPr>
          <p:cNvSpPr>
            <a:spLocks noGrp="1"/>
          </p:cNvSpPr>
          <p:nvPr>
            <p:ph idx="1"/>
          </p:nvPr>
        </p:nvSpPr>
        <p:spPr/>
        <p:txBody>
          <a:bodyPr>
            <a:normAutofit fontScale="92500"/>
          </a:bodyPr>
          <a:lstStyle/>
          <a:p>
            <a:r>
              <a:rPr lang="en-GB" sz="2800" b="0" i="0" dirty="0">
                <a:solidFill>
                  <a:srgbClr val="262324"/>
                </a:solidFill>
                <a:effectLst/>
                <a:latin typeface="UniversLT-Light"/>
              </a:rPr>
              <a:t>As you embark on your vendor and software selection process, consider several key issues about the software you select that will help you narrow your field.</a:t>
            </a:r>
          </a:p>
          <a:p>
            <a:r>
              <a:rPr lang="en-GB" sz="2800" b="1" i="0" dirty="0">
                <a:solidFill>
                  <a:srgbClr val="262324"/>
                </a:solidFill>
                <a:effectLst/>
                <a:latin typeface="UniversLT-Bold"/>
              </a:rPr>
              <a:t>Q1 What is my budget?</a:t>
            </a:r>
            <a:r>
              <a:rPr lang="en-GB" dirty="0"/>
              <a:t> </a:t>
            </a:r>
          </a:p>
          <a:p>
            <a:r>
              <a:rPr lang="en-GB" sz="2800" b="0" i="0" dirty="0">
                <a:solidFill>
                  <a:srgbClr val="262324"/>
                </a:solidFill>
                <a:effectLst/>
                <a:latin typeface="UniversLT-Light"/>
              </a:rPr>
              <a:t>Most companies tend to over budget, and the reason for this is two-fold: </a:t>
            </a:r>
          </a:p>
          <a:p>
            <a:r>
              <a:rPr lang="en-GB" sz="2800" b="0" i="0" dirty="0">
                <a:solidFill>
                  <a:srgbClr val="262324"/>
                </a:solidFill>
                <a:effectLst/>
                <a:latin typeface="UniversLT-Light"/>
              </a:rPr>
              <a:t>Firstly</a:t>
            </a:r>
            <a:r>
              <a:rPr lang="en-GB" sz="2800" b="1" i="0" dirty="0">
                <a:solidFill>
                  <a:srgbClr val="262324"/>
                </a:solidFill>
                <a:effectLst/>
                <a:latin typeface="UniversLT-Light"/>
              </a:rPr>
              <a:t>, scope-creep </a:t>
            </a:r>
            <a:r>
              <a:rPr lang="en-GB" sz="2800" b="0" i="0" dirty="0">
                <a:solidFill>
                  <a:srgbClr val="262324"/>
                </a:solidFill>
                <a:effectLst/>
                <a:latin typeface="UniversLT-Light"/>
              </a:rPr>
              <a:t>is responsible for a significant part of the problem companies that haven’t prepared properly have to adjust for changing circumstances</a:t>
            </a:r>
            <a:r>
              <a:rPr lang="en-GB" dirty="0"/>
              <a:t> </a:t>
            </a:r>
          </a:p>
          <a:p>
            <a:r>
              <a:rPr lang="en-GB" sz="2800" b="0" i="0" dirty="0">
                <a:solidFill>
                  <a:srgbClr val="262324"/>
                </a:solidFill>
                <a:effectLst/>
                <a:latin typeface="UniversLT-Light"/>
              </a:rPr>
              <a:t>The second reason</a:t>
            </a:r>
            <a:r>
              <a:rPr lang="en-GB" dirty="0"/>
              <a:t> </a:t>
            </a:r>
            <a:r>
              <a:rPr lang="en-GB" sz="2800" b="0" i="0" dirty="0">
                <a:solidFill>
                  <a:srgbClr val="262324"/>
                </a:solidFill>
                <a:effectLst/>
                <a:latin typeface="UniversLT-Light"/>
              </a:rPr>
              <a:t>is related with poor planning regarding software</a:t>
            </a:r>
            <a:r>
              <a:rPr lang="en-GB" dirty="0"/>
              <a:t> </a:t>
            </a:r>
          </a:p>
        </p:txBody>
      </p:sp>
    </p:spTree>
    <p:extLst>
      <p:ext uri="{BB962C8B-B14F-4D97-AF65-F5344CB8AC3E}">
        <p14:creationId xmlns:p14="http://schemas.microsoft.com/office/powerpoint/2010/main" val="28035219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90344C-AABE-4218-96DF-3D8E34BF9C0A}"/>
              </a:ext>
            </a:extLst>
          </p:cNvPr>
          <p:cNvSpPr>
            <a:spLocks noGrp="1"/>
          </p:cNvSpPr>
          <p:nvPr>
            <p:ph type="title"/>
          </p:nvPr>
        </p:nvSpPr>
        <p:spPr/>
        <p:txBody>
          <a:bodyPr/>
          <a:lstStyle/>
          <a:p>
            <a:r>
              <a:rPr lang="en-GB" sz="4400" b="1" i="0" dirty="0">
                <a:solidFill>
                  <a:srgbClr val="262324"/>
                </a:solidFill>
                <a:effectLst/>
                <a:latin typeface="UniversLT-Black"/>
              </a:rPr>
              <a:t>KEY #4 - SELECTING THE RIGHT SOFTWARE</a:t>
            </a:r>
            <a:r>
              <a:rPr lang="en-GB" dirty="0"/>
              <a:t> </a:t>
            </a:r>
          </a:p>
        </p:txBody>
      </p:sp>
      <p:sp>
        <p:nvSpPr>
          <p:cNvPr id="3" name="Content Placeholder 2">
            <a:extLst>
              <a:ext uri="{FF2B5EF4-FFF2-40B4-BE49-F238E27FC236}">
                <a16:creationId xmlns:a16="http://schemas.microsoft.com/office/drawing/2014/main" xmlns="" id="{A1DC823D-644E-421D-9B79-E263223AFBE8}"/>
              </a:ext>
            </a:extLst>
          </p:cNvPr>
          <p:cNvSpPr>
            <a:spLocks noGrp="1"/>
          </p:cNvSpPr>
          <p:nvPr>
            <p:ph idx="1"/>
          </p:nvPr>
        </p:nvSpPr>
        <p:spPr>
          <a:xfrm>
            <a:off x="838200" y="1825625"/>
            <a:ext cx="10515600" cy="4667250"/>
          </a:xfrm>
        </p:spPr>
        <p:txBody>
          <a:bodyPr>
            <a:normAutofit/>
          </a:bodyPr>
          <a:lstStyle/>
          <a:p>
            <a:r>
              <a:rPr lang="en-GB" sz="2800" b="1" i="0" dirty="0">
                <a:solidFill>
                  <a:srgbClr val="262324"/>
                </a:solidFill>
                <a:effectLst/>
                <a:latin typeface="UniversLT-Bold"/>
              </a:rPr>
              <a:t>Q2 Who will do the integration work?</a:t>
            </a:r>
            <a:r>
              <a:rPr lang="en-GB" dirty="0"/>
              <a:t> </a:t>
            </a:r>
          </a:p>
          <a:p>
            <a:r>
              <a:rPr lang="en-GB" sz="2800" b="0" i="0" dirty="0">
                <a:solidFill>
                  <a:srgbClr val="262324"/>
                </a:solidFill>
                <a:effectLst/>
                <a:latin typeface="UniversLT-Light"/>
              </a:rPr>
              <a:t>Learning how to work with data integration packages is not something you should embark on unless you plan on having that subject-matter expertise inhouse even after your integration is completed</a:t>
            </a:r>
            <a:r>
              <a:rPr lang="en-GB" dirty="0"/>
              <a:t> </a:t>
            </a:r>
          </a:p>
          <a:p>
            <a:r>
              <a:rPr lang="en-GB" sz="2800" b="1" i="0" dirty="0">
                <a:solidFill>
                  <a:srgbClr val="262324"/>
                </a:solidFill>
                <a:effectLst/>
                <a:latin typeface="UniversLT-Bold"/>
              </a:rPr>
              <a:t>Q3 What formats will you need to support?</a:t>
            </a:r>
            <a:r>
              <a:rPr lang="en-GB" dirty="0"/>
              <a:t> </a:t>
            </a:r>
          </a:p>
          <a:p>
            <a:r>
              <a:rPr lang="en-GB" sz="2800" b="0" i="0" dirty="0">
                <a:solidFill>
                  <a:srgbClr val="262324"/>
                </a:solidFill>
                <a:effectLst/>
                <a:latin typeface="UniversLT-Light"/>
              </a:rPr>
              <a:t>Understanding the file formats involved in your EDI integration project goes back to having a subject-matter expert available. </a:t>
            </a:r>
          </a:p>
          <a:p>
            <a:r>
              <a:rPr lang="en-GB" sz="2800" b="0" i="0" dirty="0">
                <a:solidFill>
                  <a:srgbClr val="262324"/>
                </a:solidFill>
                <a:effectLst/>
                <a:latin typeface="UniversLT-Light"/>
              </a:rPr>
              <a:t>How does your ERP system import and export data? Via a flat-file? Proprietary format?</a:t>
            </a:r>
            <a:r>
              <a:rPr lang="en-GB" dirty="0"/>
              <a:t> </a:t>
            </a:r>
          </a:p>
        </p:txBody>
      </p:sp>
    </p:spTree>
    <p:extLst>
      <p:ext uri="{BB962C8B-B14F-4D97-AF65-F5344CB8AC3E}">
        <p14:creationId xmlns:p14="http://schemas.microsoft.com/office/powerpoint/2010/main" val="30416310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5A7566-939D-441E-B60D-850F4FB7EED8}"/>
              </a:ext>
            </a:extLst>
          </p:cNvPr>
          <p:cNvSpPr>
            <a:spLocks noGrp="1"/>
          </p:cNvSpPr>
          <p:nvPr>
            <p:ph type="title"/>
          </p:nvPr>
        </p:nvSpPr>
        <p:spPr/>
        <p:txBody>
          <a:bodyPr/>
          <a:lstStyle/>
          <a:p>
            <a:r>
              <a:rPr lang="en-GB" sz="4400" b="1" i="0" dirty="0">
                <a:solidFill>
                  <a:srgbClr val="262324"/>
                </a:solidFill>
                <a:effectLst/>
                <a:latin typeface="UniversLT-Black"/>
              </a:rPr>
              <a:t>KEY #4 - SELECTING THE RIGHT SOFTWARE</a:t>
            </a:r>
            <a:r>
              <a:rPr lang="en-GB" dirty="0"/>
              <a:t> </a:t>
            </a:r>
          </a:p>
        </p:txBody>
      </p:sp>
      <p:sp>
        <p:nvSpPr>
          <p:cNvPr id="3" name="Content Placeholder 2">
            <a:extLst>
              <a:ext uri="{FF2B5EF4-FFF2-40B4-BE49-F238E27FC236}">
                <a16:creationId xmlns:a16="http://schemas.microsoft.com/office/drawing/2014/main" xmlns="" id="{39B80D61-9B90-4D0E-9FE0-D9E202674EE4}"/>
              </a:ext>
            </a:extLst>
          </p:cNvPr>
          <p:cNvSpPr>
            <a:spLocks noGrp="1"/>
          </p:cNvSpPr>
          <p:nvPr>
            <p:ph idx="1"/>
          </p:nvPr>
        </p:nvSpPr>
        <p:spPr/>
        <p:txBody>
          <a:bodyPr/>
          <a:lstStyle/>
          <a:p>
            <a:r>
              <a:rPr lang="en-GB" sz="2800" b="1" i="0" dirty="0">
                <a:solidFill>
                  <a:srgbClr val="262324"/>
                </a:solidFill>
                <a:effectLst/>
                <a:latin typeface="UniversLT-Bold"/>
              </a:rPr>
              <a:t>Q4 How fast does it need to be?</a:t>
            </a:r>
            <a:r>
              <a:rPr lang="en-GB" dirty="0"/>
              <a:t> </a:t>
            </a:r>
          </a:p>
          <a:p>
            <a:r>
              <a:rPr lang="en-GB" sz="2800" b="0" i="0" dirty="0">
                <a:solidFill>
                  <a:srgbClr val="262324"/>
                </a:solidFill>
                <a:effectLst/>
                <a:latin typeface="UniversLT-Light"/>
              </a:rPr>
              <a:t>The speed of EDI integration software is a factor that mid-market companies don’t often consider. </a:t>
            </a:r>
          </a:p>
          <a:p>
            <a:r>
              <a:rPr lang="en-GB" sz="2800" b="0" i="0" dirty="0">
                <a:solidFill>
                  <a:srgbClr val="262324"/>
                </a:solidFill>
                <a:effectLst/>
                <a:latin typeface="UniversLT-Light"/>
              </a:rPr>
              <a:t>As the business grows, your data volumes will expand exponentially; and since data integration is not an easy process you want to ensure that your systems will be able to handle the expanded data volume without having to re-architect your EDI integration solution.</a:t>
            </a:r>
            <a:r>
              <a:rPr lang="en-GB" dirty="0"/>
              <a:t> </a:t>
            </a:r>
          </a:p>
        </p:txBody>
      </p:sp>
    </p:spTree>
    <p:extLst>
      <p:ext uri="{BB962C8B-B14F-4D97-AF65-F5344CB8AC3E}">
        <p14:creationId xmlns:p14="http://schemas.microsoft.com/office/powerpoint/2010/main" val="3929128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3DA960-65A3-415B-8672-C612620C8BAE}"/>
              </a:ext>
            </a:extLst>
          </p:cNvPr>
          <p:cNvSpPr>
            <a:spLocks noGrp="1"/>
          </p:cNvSpPr>
          <p:nvPr>
            <p:ph type="title"/>
          </p:nvPr>
        </p:nvSpPr>
        <p:spPr/>
        <p:txBody>
          <a:bodyPr/>
          <a:lstStyle/>
          <a:p>
            <a:r>
              <a:rPr lang="en-GB" sz="4400" b="1" i="0" dirty="0">
                <a:solidFill>
                  <a:srgbClr val="262324"/>
                </a:solidFill>
                <a:effectLst/>
                <a:latin typeface="UniversLT-Black"/>
              </a:rPr>
              <a:t>KEY #5 - SELECTING THE RIGHT VENDOR</a:t>
            </a:r>
            <a:r>
              <a:rPr lang="en-GB" dirty="0"/>
              <a:t> </a:t>
            </a:r>
          </a:p>
        </p:txBody>
      </p:sp>
      <p:sp>
        <p:nvSpPr>
          <p:cNvPr id="3" name="Content Placeholder 2">
            <a:extLst>
              <a:ext uri="{FF2B5EF4-FFF2-40B4-BE49-F238E27FC236}">
                <a16:creationId xmlns:a16="http://schemas.microsoft.com/office/drawing/2014/main" xmlns="" id="{1A81BE2C-39D4-4479-B204-7F7C8A54E43E}"/>
              </a:ext>
            </a:extLst>
          </p:cNvPr>
          <p:cNvSpPr>
            <a:spLocks noGrp="1"/>
          </p:cNvSpPr>
          <p:nvPr>
            <p:ph idx="1"/>
          </p:nvPr>
        </p:nvSpPr>
        <p:spPr/>
        <p:txBody>
          <a:bodyPr>
            <a:normAutofit fontScale="92500" lnSpcReduction="10000"/>
          </a:bodyPr>
          <a:lstStyle/>
          <a:p>
            <a:r>
              <a:rPr lang="en-GB" sz="2800" b="0" i="0" dirty="0">
                <a:solidFill>
                  <a:srgbClr val="262324"/>
                </a:solidFill>
                <a:effectLst/>
                <a:latin typeface="UniversLT-Light"/>
              </a:rPr>
              <a:t>Choosing the right EDI integration vendor is the fifth, and in some cases, the most critical aspect of your EDI integration planning. </a:t>
            </a:r>
          </a:p>
          <a:p>
            <a:r>
              <a:rPr lang="en-GB" sz="2800" b="0" i="0" dirty="0">
                <a:solidFill>
                  <a:srgbClr val="262324"/>
                </a:solidFill>
                <a:effectLst/>
                <a:latin typeface="UniversLT-Light"/>
              </a:rPr>
              <a:t>As you seek a vendor, consider a number of key criteria:</a:t>
            </a:r>
            <a:r>
              <a:rPr lang="en-GB" dirty="0"/>
              <a:t> </a:t>
            </a:r>
          </a:p>
          <a:p>
            <a:r>
              <a:rPr lang="en-GB" sz="2800" b="1" i="0" dirty="0">
                <a:solidFill>
                  <a:srgbClr val="262324"/>
                </a:solidFill>
                <a:effectLst/>
                <a:latin typeface="UniversLT-Bold"/>
              </a:rPr>
              <a:t>Q1 How much experience in integrating EDI does the vendor have?</a:t>
            </a:r>
            <a:r>
              <a:rPr lang="en-GB" dirty="0"/>
              <a:t> </a:t>
            </a:r>
          </a:p>
          <a:p>
            <a:r>
              <a:rPr lang="en-GB" sz="2800" b="0" i="0" dirty="0">
                <a:solidFill>
                  <a:srgbClr val="262324"/>
                </a:solidFill>
                <a:effectLst/>
                <a:latin typeface="UniversLT-Light"/>
              </a:rPr>
              <a:t>There are many vendors of data integration packages; however, working with EDI integration requires a specific skill set and introduces a set of challenges that are unique to EDI integration</a:t>
            </a:r>
            <a:r>
              <a:rPr lang="en-GB" dirty="0"/>
              <a:t> </a:t>
            </a:r>
            <a:br>
              <a:rPr lang="en-GB" dirty="0"/>
            </a:br>
            <a:r>
              <a:rPr lang="en-GB" dirty="0"/>
              <a:t/>
            </a:r>
            <a:br>
              <a:rPr lang="en-GB" dirty="0"/>
            </a:br>
            <a:r>
              <a:rPr lang="en-GB" dirty="0"/>
              <a:t/>
            </a:r>
            <a:br>
              <a:rPr lang="en-GB" dirty="0"/>
            </a:br>
            <a:endParaRPr lang="en-GB" dirty="0"/>
          </a:p>
        </p:txBody>
      </p:sp>
    </p:spTree>
    <p:extLst>
      <p:ext uri="{BB962C8B-B14F-4D97-AF65-F5344CB8AC3E}">
        <p14:creationId xmlns:p14="http://schemas.microsoft.com/office/powerpoint/2010/main" val="37609327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47FE09-B779-4658-A433-316A34AB4473}"/>
              </a:ext>
            </a:extLst>
          </p:cNvPr>
          <p:cNvSpPr>
            <a:spLocks noGrp="1"/>
          </p:cNvSpPr>
          <p:nvPr>
            <p:ph type="title"/>
          </p:nvPr>
        </p:nvSpPr>
        <p:spPr/>
        <p:txBody>
          <a:bodyPr/>
          <a:lstStyle/>
          <a:p>
            <a:r>
              <a:rPr lang="en-GB" sz="4400" b="1" i="0" dirty="0">
                <a:solidFill>
                  <a:srgbClr val="262324"/>
                </a:solidFill>
                <a:effectLst/>
                <a:latin typeface="UniversLT-Black"/>
              </a:rPr>
              <a:t>KEY #5 - SELECTING THE RIGHT VENDOR</a:t>
            </a:r>
            <a:r>
              <a:rPr lang="en-GB" dirty="0"/>
              <a:t> </a:t>
            </a:r>
          </a:p>
        </p:txBody>
      </p:sp>
      <p:sp>
        <p:nvSpPr>
          <p:cNvPr id="3" name="Content Placeholder 2">
            <a:extLst>
              <a:ext uri="{FF2B5EF4-FFF2-40B4-BE49-F238E27FC236}">
                <a16:creationId xmlns:a16="http://schemas.microsoft.com/office/drawing/2014/main" xmlns="" id="{BF04E20F-0095-4991-82A8-52B418C32A80}"/>
              </a:ext>
            </a:extLst>
          </p:cNvPr>
          <p:cNvSpPr>
            <a:spLocks noGrp="1"/>
          </p:cNvSpPr>
          <p:nvPr>
            <p:ph idx="1"/>
          </p:nvPr>
        </p:nvSpPr>
        <p:spPr/>
        <p:txBody>
          <a:bodyPr>
            <a:normAutofit fontScale="92500" lnSpcReduction="20000"/>
          </a:bodyPr>
          <a:lstStyle/>
          <a:p>
            <a:r>
              <a:rPr lang="en-GB" sz="2800" b="1" i="0" dirty="0">
                <a:solidFill>
                  <a:srgbClr val="262324"/>
                </a:solidFill>
                <a:effectLst/>
                <a:latin typeface="UniversLT-Bold"/>
              </a:rPr>
              <a:t>Q2 What is the vendor’s primary market focus?</a:t>
            </a:r>
            <a:r>
              <a:rPr lang="en-GB" dirty="0"/>
              <a:t> </a:t>
            </a:r>
          </a:p>
          <a:p>
            <a:r>
              <a:rPr lang="en-GB" sz="2800" b="0" i="0" dirty="0">
                <a:solidFill>
                  <a:srgbClr val="262324"/>
                </a:solidFill>
                <a:effectLst/>
                <a:latin typeface="UniversLT-Light"/>
              </a:rPr>
              <a:t>Do they primarily focus on enterprise customers? If that’s their main area of focus, how much attention will you be able to get as a mid-market organization? Will you be on the top of the priority list if there</a:t>
            </a:r>
            <a:br>
              <a:rPr lang="en-GB" sz="2800" b="0" i="0" dirty="0">
                <a:solidFill>
                  <a:srgbClr val="262324"/>
                </a:solidFill>
                <a:effectLst/>
                <a:latin typeface="UniversLT-Light"/>
              </a:rPr>
            </a:br>
            <a:r>
              <a:rPr lang="en-GB" sz="2800" b="0" i="0" dirty="0">
                <a:solidFill>
                  <a:srgbClr val="262324"/>
                </a:solidFill>
                <a:effectLst/>
                <a:latin typeface="UniversLT-Light"/>
              </a:rPr>
              <a:t>are any problems? Are you going to get access to the best resources the vendor has available?</a:t>
            </a:r>
          </a:p>
          <a:p>
            <a:r>
              <a:rPr lang="en-GB" sz="2800" b="1" i="0" dirty="0">
                <a:solidFill>
                  <a:srgbClr val="262324"/>
                </a:solidFill>
                <a:effectLst/>
                <a:latin typeface="UniversLT-Bold"/>
              </a:rPr>
              <a:t>Q3 Will you have access to professional services?</a:t>
            </a:r>
          </a:p>
          <a:p>
            <a:r>
              <a:rPr lang="en-GB" sz="2800" b="0" i="0" dirty="0">
                <a:solidFill>
                  <a:srgbClr val="262324"/>
                </a:solidFill>
                <a:effectLst/>
                <a:latin typeface="UniversLT-Light"/>
              </a:rPr>
              <a:t>it’s important to have ready access to professional services from the software vendor</a:t>
            </a:r>
            <a:r>
              <a:rPr lang="en-GB" dirty="0"/>
              <a:t> </a:t>
            </a:r>
          </a:p>
          <a:p>
            <a:r>
              <a:rPr lang="en-GB" sz="2800" b="0" i="0" dirty="0">
                <a:solidFill>
                  <a:srgbClr val="262324"/>
                </a:solidFill>
                <a:effectLst/>
                <a:latin typeface="UniversLT-Light"/>
              </a:rPr>
              <a:t>The reason for this is you may rely on them for training, or you may end up needing their expertise to help you resolve a challenging part of your project</a:t>
            </a:r>
            <a:r>
              <a:rPr lang="en-GB" dirty="0"/>
              <a:t> </a:t>
            </a:r>
          </a:p>
        </p:txBody>
      </p:sp>
    </p:spTree>
    <p:extLst>
      <p:ext uri="{BB962C8B-B14F-4D97-AF65-F5344CB8AC3E}">
        <p14:creationId xmlns:p14="http://schemas.microsoft.com/office/powerpoint/2010/main" val="16177267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2FAD23-5E41-4A5B-BA2F-523A2ECFF03F}"/>
              </a:ext>
            </a:extLst>
          </p:cNvPr>
          <p:cNvSpPr>
            <a:spLocks noGrp="1"/>
          </p:cNvSpPr>
          <p:nvPr>
            <p:ph type="title"/>
          </p:nvPr>
        </p:nvSpPr>
        <p:spPr/>
        <p:txBody>
          <a:bodyPr/>
          <a:lstStyle/>
          <a:p>
            <a:r>
              <a:rPr lang="en-GB" sz="4400" b="1" i="0" dirty="0">
                <a:solidFill>
                  <a:srgbClr val="262324"/>
                </a:solidFill>
                <a:effectLst/>
                <a:latin typeface="UniversLT-Black"/>
              </a:rPr>
              <a:t>KEY #5 - SELECTING THE RIGHT VENDOR</a:t>
            </a:r>
            <a:r>
              <a:rPr lang="en-GB" dirty="0"/>
              <a:t> </a:t>
            </a:r>
          </a:p>
        </p:txBody>
      </p:sp>
      <p:sp>
        <p:nvSpPr>
          <p:cNvPr id="3" name="Content Placeholder 2">
            <a:extLst>
              <a:ext uri="{FF2B5EF4-FFF2-40B4-BE49-F238E27FC236}">
                <a16:creationId xmlns:a16="http://schemas.microsoft.com/office/drawing/2014/main" xmlns="" id="{FAD9FACC-0574-4DE5-9004-D87660788BAA}"/>
              </a:ext>
            </a:extLst>
          </p:cNvPr>
          <p:cNvSpPr>
            <a:spLocks noGrp="1"/>
          </p:cNvSpPr>
          <p:nvPr>
            <p:ph idx="1"/>
          </p:nvPr>
        </p:nvSpPr>
        <p:spPr/>
        <p:txBody>
          <a:bodyPr>
            <a:normAutofit fontScale="92500"/>
          </a:bodyPr>
          <a:lstStyle/>
          <a:p>
            <a:r>
              <a:rPr lang="en-GB" sz="2800" b="1" i="0" dirty="0">
                <a:solidFill>
                  <a:srgbClr val="262324"/>
                </a:solidFill>
                <a:effectLst/>
                <a:latin typeface="UniversLT-Bold"/>
              </a:rPr>
              <a:t>Q4 Do you have access to more than one integration package?</a:t>
            </a:r>
            <a:endParaRPr lang="en-GB" b="1" dirty="0">
              <a:solidFill>
                <a:srgbClr val="262324"/>
              </a:solidFill>
              <a:latin typeface="UniversLT-Bold"/>
            </a:endParaRPr>
          </a:p>
          <a:p>
            <a:r>
              <a:rPr lang="en-GB" sz="2800" b="0" i="0" dirty="0">
                <a:solidFill>
                  <a:srgbClr val="262324"/>
                </a:solidFill>
                <a:effectLst/>
                <a:latin typeface="UniversLT-Light"/>
              </a:rPr>
              <a:t>As you talk to possible software vendors, make sure they have products that span both ends of the spectrum in a way that allows you to start with low-end packages and migrate upwards as your</a:t>
            </a:r>
            <a:br>
              <a:rPr lang="en-GB" sz="2800" b="0" i="0" dirty="0">
                <a:solidFill>
                  <a:srgbClr val="262324"/>
                </a:solidFill>
                <a:effectLst/>
                <a:latin typeface="UniversLT-Light"/>
              </a:rPr>
            </a:br>
            <a:r>
              <a:rPr lang="en-GB" sz="2800" b="0" i="0" dirty="0">
                <a:solidFill>
                  <a:srgbClr val="262324"/>
                </a:solidFill>
                <a:effectLst/>
                <a:latin typeface="UniversLT-Light"/>
              </a:rPr>
              <a:t>needs grow over time.</a:t>
            </a:r>
            <a:r>
              <a:rPr lang="en-GB" dirty="0"/>
              <a:t> </a:t>
            </a:r>
          </a:p>
          <a:p>
            <a:r>
              <a:rPr lang="en-GB" sz="2800" b="1" i="0" dirty="0">
                <a:solidFill>
                  <a:srgbClr val="262324"/>
                </a:solidFill>
                <a:effectLst/>
                <a:latin typeface="UniversLT-Bold"/>
              </a:rPr>
              <a:t>Q5 Are you getting too many promises?</a:t>
            </a:r>
            <a:r>
              <a:rPr lang="en-GB" dirty="0"/>
              <a:t> </a:t>
            </a:r>
          </a:p>
          <a:p>
            <a:r>
              <a:rPr lang="en-GB" sz="2800" b="0" i="0" dirty="0">
                <a:solidFill>
                  <a:srgbClr val="262324"/>
                </a:solidFill>
                <a:effectLst/>
                <a:latin typeface="UniversLT-Light"/>
              </a:rPr>
              <a:t>t’s common practice in the EDI integration business to promise first and deal with repercussions later.</a:t>
            </a:r>
          </a:p>
          <a:p>
            <a:r>
              <a:rPr lang="en-GB" sz="2800" b="0" i="0" dirty="0">
                <a:solidFill>
                  <a:srgbClr val="262324"/>
                </a:solidFill>
                <a:effectLst/>
                <a:latin typeface="UniversLT-Light"/>
              </a:rPr>
              <a:t> Be wary of software vendors that seem to be able to deliver on all of your requirements without any concerns</a:t>
            </a:r>
            <a:r>
              <a:rPr lang="en-GB" dirty="0"/>
              <a:t> </a:t>
            </a:r>
          </a:p>
        </p:txBody>
      </p:sp>
    </p:spTree>
    <p:extLst>
      <p:ext uri="{BB962C8B-B14F-4D97-AF65-F5344CB8AC3E}">
        <p14:creationId xmlns:p14="http://schemas.microsoft.com/office/powerpoint/2010/main" val="28644090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284</TotalTime>
  <Words>2841</Words>
  <Application>Microsoft Office PowerPoint</Application>
  <PresentationFormat>Widescreen</PresentationFormat>
  <Paragraphs>244</Paragraphs>
  <Slides>49</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49</vt:i4>
      </vt:variant>
    </vt:vector>
  </HeadingPairs>
  <TitlesOfParts>
    <vt:vector size="61" baseType="lpstr">
      <vt:lpstr>Arial</vt:lpstr>
      <vt:lpstr>Arial Narrow</vt:lpstr>
      <vt:lpstr>Calibri</vt:lpstr>
      <vt:lpstr>Calibri Light</vt:lpstr>
      <vt:lpstr>Franklin Gothic Medium</vt:lpstr>
      <vt:lpstr>Linux Libertine</vt:lpstr>
      <vt:lpstr>Roboto</vt:lpstr>
      <vt:lpstr>Times New Roman</vt:lpstr>
      <vt:lpstr>UniversLT-Black</vt:lpstr>
      <vt:lpstr>UniversLT-Bold</vt:lpstr>
      <vt:lpstr>UniversLT-Light</vt:lpstr>
      <vt:lpstr>Office Theme</vt:lpstr>
      <vt:lpstr>Intranet</vt:lpstr>
      <vt:lpstr>Intranet</vt:lpstr>
      <vt:lpstr>Intranets</vt:lpstr>
      <vt:lpstr>Intranets</vt:lpstr>
      <vt:lpstr>7.3 Simple Intranet Architecture</vt:lpstr>
      <vt:lpstr>7.2 The Internet versus Intranets</vt:lpstr>
      <vt:lpstr>Business Applications of an Intranet </vt:lpstr>
      <vt:lpstr>Uses and Benefits</vt:lpstr>
      <vt:lpstr>Uses and Benefits</vt:lpstr>
      <vt:lpstr>Uses and Benefits</vt:lpstr>
      <vt:lpstr>Extranets </vt:lpstr>
      <vt:lpstr>Extranets </vt:lpstr>
      <vt:lpstr>7.4 Simple Extranet Architecture</vt:lpstr>
      <vt:lpstr>Advantages of Extranets</vt:lpstr>
      <vt:lpstr>WorkGroup Computing</vt:lpstr>
      <vt:lpstr>WorkGroup Computing</vt:lpstr>
      <vt:lpstr>WorkGroup Computing</vt:lpstr>
      <vt:lpstr>WorkGroup Computing</vt:lpstr>
      <vt:lpstr>WorkGroup Computing</vt:lpstr>
      <vt:lpstr>WorkGroup Computing</vt:lpstr>
      <vt:lpstr>WorkGroup Computing</vt:lpstr>
      <vt:lpstr>Electronic Data Exchange(EDI)</vt:lpstr>
      <vt:lpstr>Overview of EDI</vt:lpstr>
      <vt:lpstr>PowerPoint Presentation</vt:lpstr>
      <vt:lpstr>PowerPoint Presentation</vt:lpstr>
      <vt:lpstr>EDI and Data Communications </vt:lpstr>
      <vt:lpstr>EDI and Data Communications</vt:lpstr>
      <vt:lpstr>EDI and Data Communications</vt:lpstr>
      <vt:lpstr>EDI and Data Communications</vt:lpstr>
      <vt:lpstr>The Case of the Automobile Industry </vt:lpstr>
      <vt:lpstr>The Case of the Automobile Industry </vt:lpstr>
      <vt:lpstr>The Case of the Automobile Industry </vt:lpstr>
      <vt:lpstr>The Case of the Automobile Industry </vt:lpstr>
      <vt:lpstr>5 Keys to EDI Integration Success </vt:lpstr>
      <vt:lpstr>5 Keys to EDI Integration Success </vt:lpstr>
      <vt:lpstr>KEY #1 - UNDERSTAND WHAT YOU ARE GETTING YOURSELF INTO </vt:lpstr>
      <vt:lpstr>KEY #1 - UNDERSTAND WHAT YOU ARE GETTING YOURSELF INTO </vt:lpstr>
      <vt:lpstr>KEY #1 - UNDERSTAND WHAT YOU ARE GETTING YOURSELF INTO </vt:lpstr>
      <vt:lpstr>KEY #1 - UNDERSTAND WHAT YOU ARE GETTING YOURSELF INTO </vt:lpstr>
      <vt:lpstr>KEY #2 - START, LEARN, CORRECT, EXPAND </vt:lpstr>
      <vt:lpstr>KEY #2 - START, LEARN, CORRECT, EXPAND </vt:lpstr>
      <vt:lpstr>KEY #3 - IT’s ALL ABOUT THE DATA </vt:lpstr>
      <vt:lpstr>KEY #3 - IT’s ALL ABOUT THE DATA </vt:lpstr>
      <vt:lpstr>KEY #4 - SELECTING THE RIGHT SOFTWARE </vt:lpstr>
      <vt:lpstr>KEY #4 - SELECTING THE RIGHT SOFTWARE </vt:lpstr>
      <vt:lpstr>KEY #4 - SELECTING THE RIGHT SOFTWARE </vt:lpstr>
      <vt:lpstr>KEY #5 - SELECTING THE RIGHT VENDOR </vt:lpstr>
      <vt:lpstr>KEY #5 - SELECTING THE RIGHT VENDOR </vt:lpstr>
      <vt:lpstr>KEY #5 - SELECTING THE RIGHT VENDOR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WorkGroup Computing</dc:title>
  <dc:creator>Jay Nyce</dc:creator>
  <cp:lastModifiedBy>PABBI</cp:lastModifiedBy>
  <cp:revision>35</cp:revision>
  <dcterms:created xsi:type="dcterms:W3CDTF">2021-05-30T06:37:21Z</dcterms:created>
  <dcterms:modified xsi:type="dcterms:W3CDTF">2022-06-26T18:10:09Z</dcterms:modified>
</cp:coreProperties>
</file>