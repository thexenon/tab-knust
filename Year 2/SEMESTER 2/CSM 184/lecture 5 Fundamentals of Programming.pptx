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0" r:id="rId3"/>
    <p:sldId id="257" r:id="rId4"/>
    <p:sldId id="267" r:id="rId5"/>
    <p:sldId id="271" r:id="rId6"/>
    <p:sldId id="272" r:id="rId7"/>
    <p:sldId id="268" r:id="rId8"/>
    <p:sldId id="273" r:id="rId9"/>
    <p:sldId id="261" r:id="rId10"/>
    <p:sldId id="262" r:id="rId11"/>
    <p:sldId id="263" r:id="rId12"/>
    <p:sldId id="264" r:id="rId13"/>
    <p:sldId id="265" r:id="rId14"/>
    <p:sldId id="269" r:id="rId15"/>
    <p:sldId id="275" r:id="rId16"/>
    <p:sldId id="276" r:id="rId17"/>
    <p:sldId id="277" r:id="rId18"/>
    <p:sldId id="283" r:id="rId19"/>
    <p:sldId id="284" r:id="rId20"/>
    <p:sldId id="285" r:id="rId21"/>
    <p:sldId id="259" r:id="rId22"/>
    <p:sldId id="281" r:id="rId23"/>
    <p:sldId id="282" r:id="rId24"/>
    <p:sldId id="286" r:id="rId25"/>
    <p:sldId id="297" r:id="rId26"/>
    <p:sldId id="287" r:id="rId27"/>
    <p:sldId id="288" r:id="rId28"/>
    <p:sldId id="289" r:id="rId29"/>
    <p:sldId id="293" r:id="rId30"/>
    <p:sldId id="290" r:id="rId31"/>
    <p:sldId id="291" r:id="rId32"/>
    <p:sldId id="292" r:id="rId33"/>
    <p:sldId id="294" r:id="rId34"/>
    <p:sldId id="295" r:id="rId35"/>
    <p:sldId id="296" r:id="rId36"/>
    <p:sldId id="260" r:id="rId37"/>
    <p:sldId id="298" r:id="rId38"/>
    <p:sldId id="299" r:id="rId39"/>
    <p:sldId id="300" r:id="rId40"/>
    <p:sldId id="301" r:id="rId41"/>
    <p:sldId id="302" r:id="rId42"/>
    <p:sldId id="303" r:id="rId43"/>
    <p:sldId id="305" r:id="rId44"/>
    <p:sldId id="306" r:id="rId45"/>
    <p:sldId id="278" r:id="rId46"/>
    <p:sldId id="307" r:id="rId47"/>
    <p:sldId id="308" r:id="rId48"/>
    <p:sldId id="310" r:id="rId49"/>
    <p:sldId id="311" r:id="rId50"/>
    <p:sldId id="280" r:id="rId51"/>
    <p:sldId id="312"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42" d="100"/>
          <a:sy n="42" d="100"/>
        </p:scale>
        <p:origin x="72" y="7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E842AE-305F-4EA0-86C7-D4DA42717757}" type="datetimeFigureOut">
              <a:rPr lang="en-US" smtClean="0"/>
              <a:t>7/25/2021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915D6B-7F97-4F6D-A6C6-2330DD98516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8954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E842AE-305F-4EA0-86C7-D4DA42717757}" type="datetimeFigureOut">
              <a:rPr lang="en-US" smtClean="0"/>
              <a:t>7/25/2021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893618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E842AE-305F-4EA0-86C7-D4DA42717757}" type="datetimeFigureOut">
              <a:rPr lang="en-US" smtClean="0"/>
              <a:t>7/25/2021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915D6B-7F97-4F6D-A6C6-2330DD98516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511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E842AE-305F-4EA0-86C7-D4DA42717757}" type="datetimeFigureOut">
              <a:rPr lang="en-US" smtClean="0"/>
              <a:t>7/25/2021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390799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E842AE-305F-4EA0-86C7-D4DA42717757}" type="datetimeFigureOut">
              <a:rPr lang="en-US" smtClean="0"/>
              <a:t>7/25/2021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1672916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E842AE-305F-4EA0-86C7-D4DA42717757}" type="datetimeFigureOut">
              <a:rPr lang="en-US" smtClean="0"/>
              <a:t>7/25/2021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850159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2E842AE-305F-4EA0-86C7-D4DA42717757}" type="datetimeFigureOut">
              <a:rPr lang="en-US" smtClean="0"/>
              <a:t>7/25/2021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906460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2E842AE-305F-4EA0-86C7-D4DA42717757}" type="datetimeFigureOut">
              <a:rPr lang="en-US" smtClean="0"/>
              <a:t>7/25/2021</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5915D6B-7F97-4F6D-A6C6-2330DD98516F}" type="slidenum">
              <a:rPr lang="en-US" smtClean="0"/>
              <a:t>‹#›</a:t>
            </a:fld>
            <a:endParaRPr lang="en-US"/>
          </a:p>
        </p:txBody>
      </p:sp>
    </p:spTree>
    <p:extLst>
      <p:ext uri="{BB962C8B-B14F-4D97-AF65-F5344CB8AC3E}">
        <p14:creationId xmlns:p14="http://schemas.microsoft.com/office/powerpoint/2010/main" val="3841487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E842AE-305F-4EA0-86C7-D4DA42717757}" type="datetimeFigureOut">
              <a:rPr lang="en-US" smtClean="0"/>
              <a:t>7/25/2021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3112177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E842AE-305F-4EA0-86C7-D4DA42717757}" type="datetimeFigureOut">
              <a:rPr lang="en-US" smtClean="0"/>
              <a:t>7/25/2021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2033063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E842AE-305F-4EA0-86C7-D4DA42717757}" type="datetimeFigureOut">
              <a:rPr lang="en-US" smtClean="0"/>
              <a:t>7/25/2021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915D6B-7F97-4F6D-A6C6-2330DD98516F}" type="slidenum">
              <a:rPr lang="en-US" smtClean="0"/>
              <a:t>‹#›</a:t>
            </a:fld>
            <a:endParaRPr lang="en-US"/>
          </a:p>
        </p:txBody>
      </p:sp>
    </p:spTree>
    <p:extLst>
      <p:ext uri="{BB962C8B-B14F-4D97-AF65-F5344CB8AC3E}">
        <p14:creationId xmlns:p14="http://schemas.microsoft.com/office/powerpoint/2010/main" val="306400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E842AE-305F-4EA0-86C7-D4DA42717757}" type="datetimeFigureOut">
              <a:rPr lang="en-US" smtClean="0"/>
              <a:t>7/25/2021</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5915D6B-7F97-4F6D-A6C6-2330DD98516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5750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934E7-4E17-42E9-B34C-78C9D28084DA}"/>
              </a:ext>
            </a:extLst>
          </p:cNvPr>
          <p:cNvSpPr>
            <a:spLocks noGrp="1"/>
          </p:cNvSpPr>
          <p:nvPr>
            <p:ph type="ctrTitle"/>
          </p:nvPr>
        </p:nvSpPr>
        <p:spPr/>
        <p:txBody>
          <a:bodyPr/>
          <a:lstStyle/>
          <a:p>
            <a:r>
              <a:rPr lang="en-US" dirty="0"/>
              <a:t>Fundamentals of Programming</a:t>
            </a:r>
          </a:p>
        </p:txBody>
      </p:sp>
      <p:sp>
        <p:nvSpPr>
          <p:cNvPr id="3" name="Subtitle 2">
            <a:extLst>
              <a:ext uri="{FF2B5EF4-FFF2-40B4-BE49-F238E27FC236}">
                <a16:creationId xmlns:a16="http://schemas.microsoft.com/office/drawing/2014/main" id="{3ADC1266-8EF9-4004-98D2-E68FCEA5E39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2777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 Why?</a:t>
            </a:r>
          </a:p>
        </p:txBody>
      </p:sp>
      <p:sp>
        <p:nvSpPr>
          <p:cNvPr id="3" name="Content Placeholder 2"/>
          <p:cNvSpPr>
            <a:spLocks noGrp="1"/>
          </p:cNvSpPr>
          <p:nvPr>
            <p:ph idx="1"/>
          </p:nvPr>
        </p:nvSpPr>
        <p:spPr>
          <a:xfrm>
            <a:off x="838200" y="1825625"/>
            <a:ext cx="10515600" cy="4773958"/>
          </a:xfrm>
        </p:spPr>
        <p:txBody>
          <a:bodyPr>
            <a:noAutofit/>
          </a:bodyPr>
          <a:lstStyle/>
          <a:p>
            <a:r>
              <a:rPr lang="en-US" sz="3200" dirty="0"/>
              <a:t>Computers are used for many different purposes in many different situations.</a:t>
            </a:r>
          </a:p>
          <a:p>
            <a:endParaRPr lang="en-US" sz="3200" dirty="0"/>
          </a:p>
          <a:p>
            <a:pPr lvl="1"/>
            <a:r>
              <a:rPr lang="en-US" sz="3200" dirty="0"/>
              <a:t>But, how can they be so versatile?</a:t>
            </a:r>
          </a:p>
          <a:p>
            <a:pPr lvl="2"/>
            <a:r>
              <a:rPr lang="en-US" sz="3200" dirty="0"/>
              <a:t>Answer:  They can be programmed</a:t>
            </a:r>
          </a:p>
          <a:p>
            <a:pPr lvl="2"/>
            <a:endParaRPr lang="en-US" sz="3200" dirty="0"/>
          </a:p>
          <a:p>
            <a:r>
              <a:rPr lang="en-US" sz="3200" dirty="0"/>
              <a:t>The ability for a computer to be programmed allows it to do whatever their programs tell them what to do.</a:t>
            </a:r>
          </a:p>
          <a:p>
            <a:r>
              <a:rPr lang="en-US" sz="3200" dirty="0"/>
              <a:t>.</a:t>
            </a:r>
          </a:p>
        </p:txBody>
      </p:sp>
    </p:spTree>
    <p:extLst>
      <p:ext uri="{BB962C8B-B14F-4D97-AF65-F5344CB8AC3E}">
        <p14:creationId xmlns:p14="http://schemas.microsoft.com/office/powerpoint/2010/main" val="250325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909AF-3633-47AC-B65F-86D1B315F394}"/>
              </a:ext>
            </a:extLst>
          </p:cNvPr>
          <p:cNvSpPr>
            <a:spLocks noGrp="1"/>
          </p:cNvSpPr>
          <p:nvPr>
            <p:ph type="title"/>
          </p:nvPr>
        </p:nvSpPr>
        <p:spPr>
          <a:xfrm>
            <a:off x="838200" y="365125"/>
            <a:ext cx="10515600" cy="660111"/>
          </a:xfrm>
        </p:spPr>
        <p:txBody>
          <a:bodyPr>
            <a:normAutofit fontScale="90000"/>
          </a:bodyPr>
          <a:lstStyle/>
          <a:p>
            <a:pPr algn="ctr"/>
            <a:r>
              <a:rPr lang="en-US" dirty="0"/>
              <a:t>Program</a:t>
            </a:r>
          </a:p>
        </p:txBody>
      </p:sp>
      <p:sp>
        <p:nvSpPr>
          <p:cNvPr id="3" name="Content Placeholder 2">
            <a:extLst>
              <a:ext uri="{FF2B5EF4-FFF2-40B4-BE49-F238E27FC236}">
                <a16:creationId xmlns:a16="http://schemas.microsoft.com/office/drawing/2014/main" id="{9D365190-B0F6-4989-A956-DED77DF2EE1E}"/>
              </a:ext>
            </a:extLst>
          </p:cNvPr>
          <p:cNvSpPr>
            <a:spLocks noGrp="1"/>
          </p:cNvSpPr>
          <p:nvPr>
            <p:ph idx="1"/>
          </p:nvPr>
        </p:nvSpPr>
        <p:spPr>
          <a:xfrm>
            <a:off x="838200" y="1868557"/>
            <a:ext cx="10515600" cy="4308406"/>
          </a:xfrm>
        </p:spPr>
        <p:txBody>
          <a:bodyPr>
            <a:noAutofit/>
          </a:bodyPr>
          <a:lstStyle/>
          <a:p>
            <a:pPr algn="l">
              <a:buFont typeface="Wingdings" panose="05000000000000000000" pitchFamily="2" charset="2"/>
              <a:buChar char="v"/>
            </a:pPr>
            <a:r>
              <a:rPr lang="en-US" sz="3000" b="1" i="0" u="none" strike="noStrike" baseline="0" dirty="0">
                <a:latin typeface="Times New Roman" panose="02020603050405020304" pitchFamily="18" charset="0"/>
              </a:rPr>
              <a:t>A program is a set of instructions that tells the computer what to do. </a:t>
            </a:r>
          </a:p>
          <a:p>
            <a:pPr algn="l">
              <a:buFont typeface="Wingdings" panose="05000000000000000000" pitchFamily="2" charset="2"/>
              <a:buChar char="v"/>
            </a:pPr>
            <a:endParaRPr lang="en-US" sz="3000" b="1" dirty="0">
              <a:latin typeface="Times New Roman" panose="02020603050405020304" pitchFamily="18" charset="0"/>
            </a:endParaRPr>
          </a:p>
          <a:p>
            <a:pPr algn="l">
              <a:buFont typeface="Wingdings" panose="05000000000000000000" pitchFamily="2" charset="2"/>
              <a:buChar char="v"/>
            </a:pPr>
            <a:r>
              <a:rPr lang="en-US" sz="3000" dirty="0"/>
              <a:t>Computer program - is a list of instructions that the computer follows to properly accept input, correctly process them and present the results in the most understandable way. </a:t>
            </a:r>
          </a:p>
          <a:p>
            <a:pPr algn="l">
              <a:buFont typeface="Wingdings" panose="05000000000000000000" pitchFamily="2" charset="2"/>
              <a:buChar char="v"/>
            </a:pPr>
            <a:endParaRPr lang="en-US" sz="3000" b="1" i="0" u="none" strike="noStrike" baseline="0" dirty="0">
              <a:latin typeface="Times New Roman" panose="02020603050405020304" pitchFamily="18" charset="0"/>
            </a:endParaRPr>
          </a:p>
          <a:p>
            <a:pPr>
              <a:buFont typeface="Wingdings" panose="05000000000000000000" pitchFamily="2" charset="2"/>
              <a:buChar char="v"/>
            </a:pPr>
            <a:r>
              <a:rPr lang="en-US" sz="3000" dirty="0"/>
              <a:t>A computer cannot do anything unless it has a program to tell it what to do.</a:t>
            </a:r>
          </a:p>
          <a:p>
            <a:pPr algn="l">
              <a:buFont typeface="Wingdings" panose="05000000000000000000" pitchFamily="2" charset="2"/>
              <a:buChar char="v"/>
            </a:pPr>
            <a:endParaRPr lang="en-US" b="1" i="0" u="none" strike="noStrike" baseline="0" dirty="0">
              <a:latin typeface="Times New Roman" panose="02020603050405020304" pitchFamily="18" charset="0"/>
            </a:endParaRPr>
          </a:p>
          <a:p>
            <a:pPr algn="l">
              <a:buFont typeface="Wingdings" panose="05000000000000000000" pitchFamily="2" charset="2"/>
              <a:buChar char="v"/>
            </a:pPr>
            <a:endParaRPr lang="en-US" dirty="0">
              <a:latin typeface="Times New Roman" panose="02020603050405020304" pitchFamily="18" charset="0"/>
            </a:endParaRPr>
          </a:p>
        </p:txBody>
      </p:sp>
    </p:spTree>
    <p:extLst>
      <p:ext uri="{BB962C8B-B14F-4D97-AF65-F5344CB8AC3E}">
        <p14:creationId xmlns:p14="http://schemas.microsoft.com/office/powerpoint/2010/main" val="105373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AB82B-2782-4980-958D-66C3B7AAE8D2}"/>
              </a:ext>
            </a:extLst>
          </p:cNvPr>
          <p:cNvSpPr>
            <a:spLocks noGrp="1"/>
          </p:cNvSpPr>
          <p:nvPr>
            <p:ph type="title"/>
          </p:nvPr>
        </p:nvSpPr>
        <p:spPr/>
        <p:txBody>
          <a:bodyPr/>
          <a:lstStyle/>
          <a:p>
            <a:r>
              <a:rPr lang="en-US" dirty="0"/>
              <a:t>Computer Programming</a:t>
            </a:r>
          </a:p>
        </p:txBody>
      </p:sp>
      <p:sp>
        <p:nvSpPr>
          <p:cNvPr id="3" name="Content Placeholder 2">
            <a:extLst>
              <a:ext uri="{FF2B5EF4-FFF2-40B4-BE49-F238E27FC236}">
                <a16:creationId xmlns:a16="http://schemas.microsoft.com/office/drawing/2014/main" id="{FE8363EB-60CC-415C-A0D2-1F1415674096}"/>
              </a:ext>
            </a:extLst>
          </p:cNvPr>
          <p:cNvSpPr>
            <a:spLocks noGrp="1"/>
          </p:cNvSpPr>
          <p:nvPr>
            <p:ph idx="1"/>
          </p:nvPr>
        </p:nvSpPr>
        <p:spPr>
          <a:xfrm>
            <a:off x="838200" y="1825625"/>
            <a:ext cx="11145982" cy="4893830"/>
          </a:xfrm>
        </p:spPr>
        <p:txBody>
          <a:bodyPr>
            <a:normAutofit/>
          </a:bodyPr>
          <a:lstStyle/>
          <a:p>
            <a:pPr algn="l"/>
            <a:r>
              <a:rPr lang="en-US" sz="2800" b="1" i="0" u="none" strike="noStrike" baseline="0" dirty="0">
                <a:latin typeface="Times New Roman" panose="02020603050405020304" pitchFamily="18" charset="0"/>
              </a:rPr>
              <a:t>Computer programming (often shortened to programming or coding), is the process of writing, testing, debugging/troubleshooting and maintaining act of instructions (source code) for solving a problem with the computer.</a:t>
            </a:r>
          </a:p>
          <a:p>
            <a:pPr algn="l"/>
            <a:endParaRPr lang="en-US" sz="2800" b="0" i="0" u="none" strike="noStrike" baseline="0" dirty="0">
              <a:latin typeface="Times New Roman" panose="02020603050405020304" pitchFamily="18" charset="0"/>
            </a:endParaRPr>
          </a:p>
          <a:p>
            <a:pPr algn="l"/>
            <a:r>
              <a:rPr lang="en-US" sz="2800" b="0" i="0" u="none" strike="noStrike" baseline="0" dirty="0">
                <a:latin typeface="Times New Roman" panose="02020603050405020304" pitchFamily="18" charset="0"/>
              </a:rPr>
              <a:t>The purpose of programming is to create a program that exhibits a certain described behavior (customization). </a:t>
            </a:r>
          </a:p>
          <a:p>
            <a:pPr algn="l"/>
            <a:endParaRPr lang="en-US" sz="2800" dirty="0">
              <a:latin typeface="Times New Roman" panose="02020603050405020304" pitchFamily="18" charset="0"/>
            </a:endParaRPr>
          </a:p>
          <a:p>
            <a:pPr algn="l"/>
            <a:r>
              <a:rPr lang="en-US" sz="2800" b="0" i="0" u="none" strike="noStrike" baseline="0" dirty="0">
                <a:latin typeface="Times New Roman" panose="02020603050405020304" pitchFamily="18" charset="0"/>
              </a:rPr>
              <a:t>The process of writing source code requires expertise in many different subjects, including knowledge of the application domain. </a:t>
            </a:r>
          </a:p>
          <a:p>
            <a:endParaRPr lang="en-US" sz="2800" dirty="0"/>
          </a:p>
        </p:txBody>
      </p:sp>
    </p:spTree>
    <p:extLst>
      <p:ext uri="{BB962C8B-B14F-4D97-AF65-F5344CB8AC3E}">
        <p14:creationId xmlns:p14="http://schemas.microsoft.com/office/powerpoint/2010/main" val="166198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a:t>
            </a:r>
          </a:p>
        </p:txBody>
      </p:sp>
      <p:sp>
        <p:nvSpPr>
          <p:cNvPr id="3" name="Content Placeholder 2"/>
          <p:cNvSpPr>
            <a:spLocks noGrp="1"/>
          </p:cNvSpPr>
          <p:nvPr>
            <p:ph idx="1"/>
          </p:nvPr>
        </p:nvSpPr>
        <p:spPr>
          <a:xfrm>
            <a:off x="838199" y="1825625"/>
            <a:ext cx="11115261" cy="4919732"/>
          </a:xfrm>
        </p:spPr>
        <p:txBody>
          <a:bodyPr>
            <a:normAutofit/>
          </a:bodyPr>
          <a:lstStyle/>
          <a:p>
            <a:r>
              <a:rPr lang="en-US" sz="3000" dirty="0"/>
              <a:t>Programs are used to operate the components of a computer, solve problems or satisfy a want/need.</a:t>
            </a:r>
          </a:p>
          <a:p>
            <a:endParaRPr lang="en-US" sz="3000" dirty="0"/>
          </a:p>
          <a:p>
            <a:pPr lvl="1"/>
            <a:r>
              <a:rPr lang="en-US" sz="3000" dirty="0"/>
              <a:t>How long will it take me to get home if I drive </a:t>
            </a:r>
            <a:r>
              <a:rPr lang="en-US" sz="3000" i="1" dirty="0"/>
              <a:t>x</a:t>
            </a:r>
            <a:r>
              <a:rPr lang="en-US" sz="3000" dirty="0"/>
              <a:t> miles per hour?</a:t>
            </a:r>
          </a:p>
          <a:p>
            <a:pPr lvl="1"/>
            <a:endParaRPr lang="en-US" sz="3000" dirty="0"/>
          </a:p>
          <a:p>
            <a:pPr lvl="1"/>
            <a:r>
              <a:rPr lang="en-US" sz="3000" dirty="0"/>
              <a:t>I want to be able to tell my friends what I am doing right now.</a:t>
            </a:r>
          </a:p>
          <a:p>
            <a:pPr lvl="1"/>
            <a:endParaRPr lang="en-US" sz="3000" dirty="0"/>
          </a:p>
          <a:p>
            <a:pPr lvl="1"/>
            <a:r>
              <a:rPr lang="en-US" sz="3000" dirty="0"/>
              <a:t>I want to be able to chat with my friends over the internet</a:t>
            </a:r>
          </a:p>
        </p:txBody>
      </p:sp>
    </p:spTree>
    <p:extLst>
      <p:ext uri="{BB962C8B-B14F-4D97-AF65-F5344CB8AC3E}">
        <p14:creationId xmlns:p14="http://schemas.microsoft.com/office/powerpoint/2010/main" val="2645574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a:t>
            </a:r>
          </a:p>
        </p:txBody>
      </p:sp>
      <p:sp>
        <p:nvSpPr>
          <p:cNvPr id="3" name="Content Placeholder 2"/>
          <p:cNvSpPr>
            <a:spLocks noGrp="1"/>
          </p:cNvSpPr>
          <p:nvPr>
            <p:ph idx="1"/>
          </p:nvPr>
        </p:nvSpPr>
        <p:spPr>
          <a:xfrm>
            <a:off x="838199" y="1825625"/>
            <a:ext cx="11115261" cy="4919732"/>
          </a:xfrm>
        </p:spPr>
        <p:txBody>
          <a:bodyPr>
            <a:normAutofit/>
          </a:bodyPr>
          <a:lstStyle/>
          <a:p>
            <a:r>
              <a:rPr lang="en-US" sz="2800" dirty="0"/>
              <a:t>Computer Programming is both an Art and a Science</a:t>
            </a:r>
          </a:p>
          <a:p>
            <a:pPr lvl="1"/>
            <a:r>
              <a:rPr lang="en-US" sz="2800" dirty="0"/>
              <a:t>Every aspect of a program must be carefully designed</a:t>
            </a:r>
          </a:p>
          <a:p>
            <a:pPr lvl="1"/>
            <a:endParaRPr lang="en-US" sz="2800" dirty="0"/>
          </a:p>
          <a:p>
            <a:pPr lvl="1"/>
            <a:endParaRPr lang="en-US" sz="2800" dirty="0"/>
          </a:p>
          <a:p>
            <a:r>
              <a:rPr lang="en-US" sz="2800" dirty="0"/>
              <a:t>As an art, programming takes creativity and problem solving.</a:t>
            </a:r>
          </a:p>
          <a:p>
            <a:pPr lvl="1"/>
            <a:r>
              <a:rPr lang="en-US" sz="2800" dirty="0"/>
              <a:t>There is often no one correct way to solve a problem.</a:t>
            </a:r>
          </a:p>
          <a:p>
            <a:pPr lvl="1"/>
            <a:endParaRPr lang="en-US" sz="2800" dirty="0"/>
          </a:p>
          <a:p>
            <a:pPr lvl="1"/>
            <a:endParaRPr lang="en-US" sz="2800" dirty="0"/>
          </a:p>
          <a:p>
            <a:r>
              <a:rPr lang="en-US" sz="2800" dirty="0"/>
              <a:t>As a science, there are formal and proven methods to go about creating a programming.</a:t>
            </a:r>
          </a:p>
        </p:txBody>
      </p:sp>
    </p:spTree>
    <p:extLst>
      <p:ext uri="{BB962C8B-B14F-4D97-AF65-F5344CB8AC3E}">
        <p14:creationId xmlns:p14="http://schemas.microsoft.com/office/powerpoint/2010/main" val="3155407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201A-71AF-4A1A-B71C-452A518B7504}"/>
              </a:ext>
            </a:extLst>
          </p:cNvPr>
          <p:cNvSpPr>
            <a:spLocks noGrp="1"/>
          </p:cNvSpPr>
          <p:nvPr>
            <p:ph type="title"/>
          </p:nvPr>
        </p:nvSpPr>
        <p:spPr/>
        <p:txBody>
          <a:bodyPr/>
          <a:lstStyle/>
          <a:p>
            <a:r>
              <a:rPr lang="en-US" dirty="0"/>
              <a:t>Steps in computer programming</a:t>
            </a:r>
          </a:p>
        </p:txBody>
      </p:sp>
      <p:sp>
        <p:nvSpPr>
          <p:cNvPr id="3" name="Content Placeholder 2">
            <a:extLst>
              <a:ext uri="{FF2B5EF4-FFF2-40B4-BE49-F238E27FC236}">
                <a16:creationId xmlns:a16="http://schemas.microsoft.com/office/drawing/2014/main" id="{AAB3D486-A059-4F00-BEE3-BD12D9AF4232}"/>
              </a:ext>
            </a:extLst>
          </p:cNvPr>
          <p:cNvSpPr>
            <a:spLocks noGrp="1"/>
          </p:cNvSpPr>
          <p:nvPr>
            <p:ph idx="1"/>
          </p:nvPr>
        </p:nvSpPr>
        <p:spPr>
          <a:xfrm>
            <a:off x="838200" y="1881809"/>
            <a:ext cx="10515600" cy="4744278"/>
          </a:xfrm>
        </p:spPr>
        <p:txBody>
          <a:bodyPr>
            <a:noAutofit/>
          </a:bodyPr>
          <a:lstStyle/>
          <a:p>
            <a:pPr algn="l"/>
            <a:r>
              <a:rPr lang="en-US" sz="2600" b="0" i="0" u="none" strike="noStrike" baseline="0" dirty="0">
                <a:latin typeface="Times New Roman" panose="02020603050405020304" pitchFamily="18" charset="0"/>
              </a:rPr>
              <a:t>To achieve this aim, you may proceed as follows.</a:t>
            </a:r>
          </a:p>
          <a:p>
            <a:pPr algn="l"/>
            <a:endParaRPr lang="en-US" sz="2600" b="0" i="0" u="none" strike="noStrike" baseline="0" dirty="0">
              <a:latin typeface="Times New Roman" panose="02020603050405020304" pitchFamily="18" charset="0"/>
            </a:endParaRPr>
          </a:p>
          <a:p>
            <a:pPr marL="514350" indent="-514350" algn="l">
              <a:buAutoNum type="arabicPeriod"/>
            </a:pPr>
            <a:r>
              <a:rPr lang="en-US" sz="2600" b="0" i="0" u="none" strike="noStrike" baseline="0" dirty="0">
                <a:latin typeface="Times New Roman" panose="02020603050405020304" pitchFamily="18" charset="0"/>
              </a:rPr>
              <a:t>First, understand </a:t>
            </a:r>
            <a:r>
              <a:rPr lang="en-US" sz="2600" b="1" i="0" u="none" strike="noStrike" baseline="0" dirty="0">
                <a:latin typeface="Times New Roman" panose="02020603050405020304" pitchFamily="18" charset="0"/>
              </a:rPr>
              <a:t>the problem </a:t>
            </a:r>
            <a:r>
              <a:rPr lang="en-US" sz="2600" b="0" i="0" u="none" strike="noStrike" baseline="0" dirty="0">
                <a:latin typeface="Times New Roman" panose="02020603050405020304" pitchFamily="18" charset="0"/>
              </a:rPr>
              <a:t>clearly:- Decide what you want to be calculated by the computer.</a:t>
            </a:r>
          </a:p>
          <a:p>
            <a:pPr marL="514350" indent="-514350" algn="l">
              <a:buAutoNum type="arabicPeriod"/>
            </a:pPr>
            <a:endParaRPr lang="en-US" sz="2600" b="0" i="0" u="none" strike="noStrike" baseline="0" dirty="0">
              <a:latin typeface="Times New Roman" panose="02020603050405020304" pitchFamily="18" charset="0"/>
            </a:endParaRPr>
          </a:p>
          <a:p>
            <a:pPr marL="0" indent="0">
              <a:buNone/>
            </a:pPr>
            <a:r>
              <a:rPr lang="en-US" sz="2600" b="0" i="0" u="none" strike="noStrike" baseline="0" dirty="0">
                <a:latin typeface="Times New Roman" panose="02020603050405020304" pitchFamily="18" charset="0"/>
              </a:rPr>
              <a:t>What will be the </a:t>
            </a:r>
            <a:r>
              <a:rPr lang="en-US" sz="2600" b="1" i="0" u="none" strike="noStrike" baseline="0" dirty="0">
                <a:latin typeface="Times New Roman" panose="02020603050405020304" pitchFamily="18" charset="0"/>
              </a:rPr>
              <a:t>input data </a:t>
            </a:r>
            <a:r>
              <a:rPr lang="en-US" sz="2600" b="0" i="0" u="none" strike="noStrike" baseline="0" dirty="0">
                <a:latin typeface="Times New Roman" panose="02020603050405020304" pitchFamily="18" charset="0"/>
              </a:rPr>
              <a:t>required? (if any). This is the problem formulation</a:t>
            </a:r>
          </a:p>
          <a:p>
            <a:pPr marL="0" indent="0">
              <a:buNone/>
            </a:pPr>
            <a:endParaRPr lang="en-US" sz="2600" b="0" i="0" u="none" strike="noStrike" baseline="0" dirty="0">
              <a:latin typeface="Times New Roman" panose="02020603050405020304" pitchFamily="18" charset="0"/>
            </a:endParaRPr>
          </a:p>
        </p:txBody>
      </p:sp>
    </p:spTree>
    <p:extLst>
      <p:ext uri="{BB962C8B-B14F-4D97-AF65-F5344CB8AC3E}">
        <p14:creationId xmlns:p14="http://schemas.microsoft.com/office/powerpoint/2010/main" val="2437799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201A-71AF-4A1A-B71C-452A518B7504}"/>
              </a:ext>
            </a:extLst>
          </p:cNvPr>
          <p:cNvSpPr>
            <a:spLocks noGrp="1"/>
          </p:cNvSpPr>
          <p:nvPr>
            <p:ph type="title"/>
          </p:nvPr>
        </p:nvSpPr>
        <p:spPr/>
        <p:txBody>
          <a:bodyPr/>
          <a:lstStyle/>
          <a:p>
            <a:r>
              <a:rPr lang="en-US" dirty="0"/>
              <a:t>Steps in computer programming</a:t>
            </a:r>
          </a:p>
        </p:txBody>
      </p:sp>
      <p:sp>
        <p:nvSpPr>
          <p:cNvPr id="3" name="Content Placeholder 2">
            <a:extLst>
              <a:ext uri="{FF2B5EF4-FFF2-40B4-BE49-F238E27FC236}">
                <a16:creationId xmlns:a16="http://schemas.microsoft.com/office/drawing/2014/main" id="{AAB3D486-A059-4F00-BEE3-BD12D9AF4232}"/>
              </a:ext>
            </a:extLst>
          </p:cNvPr>
          <p:cNvSpPr>
            <a:spLocks noGrp="1"/>
          </p:cNvSpPr>
          <p:nvPr>
            <p:ph idx="1"/>
          </p:nvPr>
        </p:nvSpPr>
        <p:spPr>
          <a:xfrm>
            <a:off x="838200" y="1881809"/>
            <a:ext cx="10515600" cy="4744278"/>
          </a:xfrm>
        </p:spPr>
        <p:txBody>
          <a:bodyPr>
            <a:noAutofit/>
          </a:bodyPr>
          <a:lstStyle/>
          <a:p>
            <a:pPr marL="0" indent="0" algn="l">
              <a:buNone/>
            </a:pPr>
            <a:r>
              <a:rPr lang="en-US" sz="2600" b="0" i="0" u="none" strike="noStrike" baseline="0" dirty="0">
                <a:latin typeface="Times New Roman" panose="02020603050405020304" pitchFamily="18" charset="0"/>
              </a:rPr>
              <a:t>2. </a:t>
            </a:r>
            <a:r>
              <a:rPr lang="en-US" sz="2600" b="0" i="0" u="none" strike="noStrike" baseline="0" dirty="0">
                <a:solidFill>
                  <a:srgbClr val="00B050"/>
                </a:solidFill>
                <a:latin typeface="Times New Roman" panose="02020603050405020304" pitchFamily="18" charset="0"/>
              </a:rPr>
              <a:t>Write the steps of computation that are necessary to arrive at the solution. This is setting up the algorithm.</a:t>
            </a:r>
          </a:p>
          <a:p>
            <a:pPr marL="0" indent="0" algn="l">
              <a:buNone/>
            </a:pPr>
            <a:endParaRPr lang="en-US" sz="2600" b="0" i="0" u="none" strike="noStrike" baseline="0" dirty="0">
              <a:latin typeface="Times New Roman" panose="02020603050405020304" pitchFamily="18" charset="0"/>
            </a:endParaRPr>
          </a:p>
          <a:p>
            <a:pPr marL="0" indent="0" algn="l">
              <a:buNone/>
            </a:pPr>
            <a:r>
              <a:rPr lang="en-US" sz="2600" b="0" i="0" u="none" strike="noStrike" baseline="0" dirty="0">
                <a:latin typeface="Times New Roman" panose="02020603050405020304" pitchFamily="18" charset="0"/>
              </a:rPr>
              <a:t>3. Prepare a </a:t>
            </a:r>
            <a:r>
              <a:rPr lang="en-US" sz="2600" b="1" i="0" u="none" strike="noStrike" baseline="0" dirty="0">
                <a:latin typeface="Times New Roman" panose="02020603050405020304" pitchFamily="18" charset="0"/>
              </a:rPr>
              <a:t>flowchart</a:t>
            </a:r>
            <a:r>
              <a:rPr lang="en-US" sz="2600" b="0" i="0" u="none" strike="noStrike" baseline="0" dirty="0">
                <a:latin typeface="Times New Roman" panose="02020603050405020304" pitchFamily="18" charset="0"/>
              </a:rPr>
              <a:t> corresponding to the algorithm.</a:t>
            </a:r>
          </a:p>
          <a:p>
            <a:pPr marL="0" indent="0" algn="l">
              <a:buNone/>
            </a:pPr>
            <a:endParaRPr lang="en-US" sz="2600" dirty="0">
              <a:latin typeface="Times New Roman" panose="02020603050405020304" pitchFamily="18" charset="0"/>
            </a:endParaRPr>
          </a:p>
          <a:p>
            <a:pPr marL="0" indent="0" algn="l">
              <a:buNone/>
            </a:pPr>
            <a:endParaRPr lang="en-US" sz="2600" b="0" i="0" u="none" strike="noStrike" baseline="0" dirty="0">
              <a:latin typeface="Times New Roman" panose="02020603050405020304" pitchFamily="18" charset="0"/>
            </a:endParaRPr>
          </a:p>
          <a:p>
            <a:pPr marL="0" indent="0" algn="l">
              <a:buNone/>
            </a:pPr>
            <a:r>
              <a:rPr lang="en-US" sz="2600" b="0" i="0" u="none" strike="noStrike" baseline="0" dirty="0">
                <a:latin typeface="Times New Roman" panose="02020603050405020304" pitchFamily="18" charset="0"/>
              </a:rPr>
              <a:t>4. Develop the computer program. Test and run it on the computer.</a:t>
            </a:r>
            <a:endParaRPr lang="en-US" sz="2600" dirty="0"/>
          </a:p>
        </p:txBody>
      </p:sp>
    </p:spTree>
    <p:extLst>
      <p:ext uri="{BB962C8B-B14F-4D97-AF65-F5344CB8AC3E}">
        <p14:creationId xmlns:p14="http://schemas.microsoft.com/office/powerpoint/2010/main" val="2664391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DFA57-C2B2-494A-A404-47157E046FEB}"/>
              </a:ext>
            </a:extLst>
          </p:cNvPr>
          <p:cNvSpPr>
            <a:spLocks noGrp="1"/>
          </p:cNvSpPr>
          <p:nvPr>
            <p:ph type="title"/>
          </p:nvPr>
        </p:nvSpPr>
        <p:spPr/>
        <p:txBody>
          <a:bodyPr/>
          <a:lstStyle/>
          <a:p>
            <a:r>
              <a:rPr lang="en-US" dirty="0"/>
              <a:t>What is a programming language?</a:t>
            </a:r>
          </a:p>
        </p:txBody>
      </p:sp>
      <p:sp>
        <p:nvSpPr>
          <p:cNvPr id="3" name="Content Placeholder 2">
            <a:extLst>
              <a:ext uri="{FF2B5EF4-FFF2-40B4-BE49-F238E27FC236}">
                <a16:creationId xmlns:a16="http://schemas.microsoft.com/office/drawing/2014/main" id="{C153265C-53C5-426F-98F0-E9A59705D680}"/>
              </a:ext>
            </a:extLst>
          </p:cNvPr>
          <p:cNvSpPr>
            <a:spLocks noGrp="1"/>
          </p:cNvSpPr>
          <p:nvPr>
            <p:ph idx="1"/>
          </p:nvPr>
        </p:nvSpPr>
        <p:spPr>
          <a:xfrm>
            <a:off x="1097280" y="1845734"/>
            <a:ext cx="10670650" cy="4422544"/>
          </a:xfrm>
        </p:spPr>
        <p:txBody>
          <a:bodyPr>
            <a:normAutofit/>
          </a:bodyPr>
          <a:lstStyle/>
          <a:p>
            <a:pPr>
              <a:buFont typeface="Wingdings" panose="05000000000000000000" pitchFamily="2" charset="2"/>
              <a:buChar char="v"/>
            </a:pPr>
            <a:r>
              <a:rPr lang="en-US" altLang="en-US" sz="2800" dirty="0"/>
              <a:t>A programming language is a set of rules that provides a way of telling a computer what operations to perform.</a:t>
            </a:r>
          </a:p>
          <a:p>
            <a:pPr>
              <a:buFont typeface="Wingdings" panose="05000000000000000000" pitchFamily="2" charset="2"/>
              <a:buChar char="v"/>
            </a:pPr>
            <a:endParaRPr lang="en-US" altLang="en-US" sz="2800" dirty="0"/>
          </a:p>
          <a:p>
            <a:pPr>
              <a:buFont typeface="Wingdings" panose="05000000000000000000" pitchFamily="2" charset="2"/>
              <a:buChar char="v"/>
            </a:pPr>
            <a:r>
              <a:rPr lang="da-DK" altLang="en-US" sz="2800" dirty="0"/>
              <a:t>A programming language is a set of rules for communicating an algorithm</a:t>
            </a:r>
          </a:p>
          <a:p>
            <a:pPr>
              <a:buFont typeface="Wingdings" panose="05000000000000000000" pitchFamily="2" charset="2"/>
              <a:buChar char="v"/>
            </a:pPr>
            <a:endParaRPr lang="da-DK" altLang="en-US" sz="2800" dirty="0"/>
          </a:p>
          <a:p>
            <a:pPr>
              <a:buFont typeface="Wingdings" panose="05000000000000000000" pitchFamily="2" charset="2"/>
              <a:buChar char="v"/>
            </a:pPr>
            <a:r>
              <a:rPr lang="da-DK" altLang="en-US" sz="2800" dirty="0"/>
              <a:t>It provides a linguistic framework for describing computations</a:t>
            </a:r>
            <a:endParaRPr lang="en-US" altLang="en-US" sz="2800" dirty="0"/>
          </a:p>
          <a:p>
            <a:endParaRPr lang="en-US" sz="2800" dirty="0"/>
          </a:p>
        </p:txBody>
      </p:sp>
    </p:spTree>
    <p:extLst>
      <p:ext uri="{BB962C8B-B14F-4D97-AF65-F5344CB8AC3E}">
        <p14:creationId xmlns:p14="http://schemas.microsoft.com/office/powerpoint/2010/main" val="2474386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FF0FC-E28B-48D9-B819-A3B8D309BD26}"/>
              </a:ext>
            </a:extLst>
          </p:cNvPr>
          <p:cNvSpPr>
            <a:spLocks noGrp="1"/>
          </p:cNvSpPr>
          <p:nvPr>
            <p:ph type="title"/>
          </p:nvPr>
        </p:nvSpPr>
        <p:spPr/>
        <p:txBody>
          <a:bodyPr/>
          <a:lstStyle/>
          <a:p>
            <a:r>
              <a:rPr lang="en-US" dirty="0"/>
              <a:t>Programming Language vs English</a:t>
            </a:r>
          </a:p>
        </p:txBody>
      </p:sp>
      <p:sp>
        <p:nvSpPr>
          <p:cNvPr id="3" name="Content Placeholder 2">
            <a:extLst>
              <a:ext uri="{FF2B5EF4-FFF2-40B4-BE49-F238E27FC236}">
                <a16:creationId xmlns:a16="http://schemas.microsoft.com/office/drawing/2014/main" id="{0ECAF445-8B34-4CFB-8925-C5DFD5EA0AA4}"/>
              </a:ext>
            </a:extLst>
          </p:cNvPr>
          <p:cNvSpPr>
            <a:spLocks noGrp="1"/>
          </p:cNvSpPr>
          <p:nvPr>
            <p:ph idx="1"/>
          </p:nvPr>
        </p:nvSpPr>
        <p:spPr>
          <a:xfrm>
            <a:off x="1097280" y="1845733"/>
            <a:ext cx="10058400" cy="4502057"/>
          </a:xfrm>
        </p:spPr>
        <p:txBody>
          <a:bodyPr>
            <a:noAutofit/>
          </a:bodyPr>
          <a:lstStyle/>
          <a:p>
            <a:pPr>
              <a:buFont typeface="Wingdings" panose="05000000000000000000" pitchFamily="2" charset="2"/>
              <a:buChar char="v"/>
            </a:pPr>
            <a:r>
              <a:rPr lang="en-US" altLang="en-US" sz="2800" dirty="0"/>
              <a:t>English is a </a:t>
            </a:r>
            <a:r>
              <a:rPr lang="en-US" altLang="en-US" sz="2800" dirty="0">
                <a:solidFill>
                  <a:srgbClr val="333399"/>
                </a:solidFill>
              </a:rPr>
              <a:t>natural language</a:t>
            </a:r>
            <a:r>
              <a:rPr lang="en-US" altLang="en-US" sz="2800" dirty="0"/>
              <a:t>.  It has words, symbols and grammatical rules.</a:t>
            </a:r>
          </a:p>
          <a:p>
            <a:pPr>
              <a:buFont typeface="Wingdings" panose="05000000000000000000" pitchFamily="2" charset="2"/>
              <a:buChar char="v"/>
            </a:pPr>
            <a:endParaRPr lang="en-US" altLang="en-US" sz="2800" dirty="0"/>
          </a:p>
          <a:p>
            <a:pPr>
              <a:buFont typeface="Wingdings" panose="05000000000000000000" pitchFamily="2" charset="2"/>
              <a:buChar char="v"/>
            </a:pPr>
            <a:r>
              <a:rPr lang="en-US" altLang="en-US" sz="2800" dirty="0"/>
              <a:t>A programming language also has words, symbols and rules of grammar.</a:t>
            </a:r>
          </a:p>
          <a:p>
            <a:pPr>
              <a:buFont typeface="Wingdings" panose="05000000000000000000" pitchFamily="2" charset="2"/>
              <a:buChar char="v"/>
            </a:pPr>
            <a:endParaRPr lang="en-US" altLang="en-US" sz="2800" dirty="0"/>
          </a:p>
          <a:p>
            <a:pPr>
              <a:buFont typeface="Wingdings" panose="05000000000000000000" pitchFamily="2" charset="2"/>
              <a:buChar char="v"/>
            </a:pPr>
            <a:r>
              <a:rPr lang="en-US" altLang="en-US" sz="2800" dirty="0"/>
              <a:t>The grammatical rules are called </a:t>
            </a:r>
            <a:r>
              <a:rPr lang="en-US" altLang="en-US" sz="2800" dirty="0">
                <a:solidFill>
                  <a:srgbClr val="333399"/>
                </a:solidFill>
              </a:rPr>
              <a:t>syntax</a:t>
            </a:r>
            <a:r>
              <a:rPr lang="en-US" altLang="en-US" sz="2800" dirty="0"/>
              <a:t>.</a:t>
            </a:r>
          </a:p>
          <a:p>
            <a:pPr>
              <a:buFont typeface="Wingdings" panose="05000000000000000000" pitchFamily="2" charset="2"/>
              <a:buChar char="v"/>
            </a:pPr>
            <a:endParaRPr lang="en-US" altLang="en-US" sz="2800" dirty="0"/>
          </a:p>
          <a:p>
            <a:pPr>
              <a:buFont typeface="Wingdings" panose="05000000000000000000" pitchFamily="2" charset="2"/>
              <a:buChar char="v"/>
            </a:pPr>
            <a:r>
              <a:rPr lang="en-US" altLang="en-US" sz="2800" dirty="0"/>
              <a:t>Each programming language has a different set of syntax rules.</a:t>
            </a:r>
          </a:p>
          <a:p>
            <a:endParaRPr lang="en-US" sz="2800" dirty="0"/>
          </a:p>
        </p:txBody>
      </p:sp>
    </p:spTree>
    <p:extLst>
      <p:ext uri="{BB962C8B-B14F-4D97-AF65-F5344CB8AC3E}">
        <p14:creationId xmlns:p14="http://schemas.microsoft.com/office/powerpoint/2010/main" val="60031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05BFF-09E2-4626-8B75-32D4476393BF}"/>
              </a:ext>
            </a:extLst>
          </p:cNvPr>
          <p:cNvSpPr>
            <a:spLocks noGrp="1"/>
          </p:cNvSpPr>
          <p:nvPr>
            <p:ph type="title"/>
          </p:nvPr>
        </p:nvSpPr>
        <p:spPr/>
        <p:txBody>
          <a:bodyPr/>
          <a:lstStyle/>
          <a:p>
            <a:r>
              <a:rPr lang="en-US" dirty="0"/>
              <a:t>Programming Languages</a:t>
            </a:r>
          </a:p>
        </p:txBody>
      </p:sp>
      <p:sp>
        <p:nvSpPr>
          <p:cNvPr id="3" name="Content Placeholder 2">
            <a:extLst>
              <a:ext uri="{FF2B5EF4-FFF2-40B4-BE49-F238E27FC236}">
                <a16:creationId xmlns:a16="http://schemas.microsoft.com/office/drawing/2014/main" id="{A482FF6C-C259-47F4-A697-7047AB341511}"/>
              </a:ext>
            </a:extLst>
          </p:cNvPr>
          <p:cNvSpPr>
            <a:spLocks noGrp="1"/>
          </p:cNvSpPr>
          <p:nvPr>
            <p:ph idx="1"/>
          </p:nvPr>
        </p:nvSpPr>
        <p:spPr>
          <a:xfrm>
            <a:off x="1097280" y="1845734"/>
            <a:ext cx="10058400" cy="4237014"/>
          </a:xfrm>
        </p:spPr>
        <p:txBody>
          <a:bodyPr/>
          <a:lstStyle/>
          <a:p>
            <a:pPr>
              <a:buFont typeface="Wingdings" panose="05000000000000000000" pitchFamily="2" charset="2"/>
              <a:buChar char="v"/>
            </a:pPr>
            <a:r>
              <a:rPr lang="en-US" altLang="en-US" sz="2800" dirty="0"/>
              <a:t>Programming languages have evolved over time as better ways have been developed to design them.</a:t>
            </a:r>
          </a:p>
          <a:p>
            <a:pPr>
              <a:buFont typeface="Wingdings" panose="05000000000000000000" pitchFamily="2" charset="2"/>
              <a:buChar char="v"/>
            </a:pPr>
            <a:endParaRPr lang="en-US" altLang="en-US" sz="2800" dirty="0"/>
          </a:p>
          <a:p>
            <a:pPr lvl="1">
              <a:buFont typeface="Wingdings" panose="05000000000000000000" pitchFamily="2" charset="2"/>
              <a:buChar char="v"/>
            </a:pPr>
            <a:r>
              <a:rPr lang="en-US" altLang="en-US" sz="2400" dirty="0"/>
              <a:t>First programming languages were developed in the 1950s</a:t>
            </a:r>
          </a:p>
          <a:p>
            <a:pPr lvl="1">
              <a:buFont typeface="Wingdings" panose="05000000000000000000" pitchFamily="2" charset="2"/>
              <a:buChar char="v"/>
            </a:pPr>
            <a:r>
              <a:rPr lang="en-US" altLang="en-US" sz="2400" dirty="0"/>
              <a:t>Since then thousands of languages have been developed</a:t>
            </a:r>
          </a:p>
          <a:p>
            <a:pPr lvl="1">
              <a:buFont typeface="Wingdings" panose="05000000000000000000" pitchFamily="2" charset="2"/>
              <a:buChar char="v"/>
            </a:pPr>
            <a:endParaRPr lang="en-US" altLang="en-US" sz="2400" dirty="0"/>
          </a:p>
          <a:p>
            <a:pPr>
              <a:buFont typeface="Wingdings" panose="05000000000000000000" pitchFamily="2" charset="2"/>
              <a:buChar char="v"/>
            </a:pPr>
            <a:r>
              <a:rPr lang="en-US" altLang="en-US" sz="2800" dirty="0"/>
              <a:t>Different programming languages are designed for different types of programs.</a:t>
            </a:r>
          </a:p>
          <a:p>
            <a:endParaRPr lang="en-US" dirty="0"/>
          </a:p>
        </p:txBody>
      </p:sp>
    </p:spTree>
    <p:extLst>
      <p:ext uri="{BB962C8B-B14F-4D97-AF65-F5344CB8AC3E}">
        <p14:creationId xmlns:p14="http://schemas.microsoft.com/office/powerpoint/2010/main" val="2120577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61CCB-2FDC-49E5-A65D-CABF67B21CA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59F1413-7785-4837-9180-0D5699538B95}"/>
              </a:ext>
            </a:extLst>
          </p:cNvPr>
          <p:cNvPicPr>
            <a:picLocks noGrp="1" noChangeAspect="1"/>
          </p:cNvPicPr>
          <p:nvPr>
            <p:ph idx="1"/>
          </p:nvPr>
        </p:nvPicPr>
        <p:blipFill rotWithShape="1">
          <a:blip r:embed="rId2"/>
          <a:srcRect l="34426" t="24908" r="21000" b="16188"/>
          <a:stretch/>
        </p:blipFill>
        <p:spPr>
          <a:xfrm>
            <a:off x="1891146" y="193964"/>
            <a:ext cx="8970818" cy="6471101"/>
          </a:xfrm>
        </p:spPr>
      </p:pic>
    </p:spTree>
    <p:extLst>
      <p:ext uri="{BB962C8B-B14F-4D97-AF65-F5344CB8AC3E}">
        <p14:creationId xmlns:p14="http://schemas.microsoft.com/office/powerpoint/2010/main" val="2237657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8226B-B969-4854-A220-783BB8F72429}"/>
              </a:ext>
            </a:extLst>
          </p:cNvPr>
          <p:cNvSpPr>
            <a:spLocks noGrp="1"/>
          </p:cNvSpPr>
          <p:nvPr>
            <p:ph type="title"/>
          </p:nvPr>
        </p:nvSpPr>
        <p:spPr/>
        <p:txBody>
          <a:bodyPr/>
          <a:lstStyle/>
          <a:p>
            <a:r>
              <a:rPr lang="en-US" dirty="0"/>
              <a:t>Types of programming Languages</a:t>
            </a:r>
          </a:p>
        </p:txBody>
      </p:sp>
      <p:sp>
        <p:nvSpPr>
          <p:cNvPr id="3" name="Content Placeholder 2">
            <a:extLst>
              <a:ext uri="{FF2B5EF4-FFF2-40B4-BE49-F238E27FC236}">
                <a16:creationId xmlns:a16="http://schemas.microsoft.com/office/drawing/2014/main" id="{665436A9-D197-40DB-9A56-5909004E915B}"/>
              </a:ext>
            </a:extLst>
          </p:cNvPr>
          <p:cNvSpPr>
            <a:spLocks noGrp="1"/>
          </p:cNvSpPr>
          <p:nvPr>
            <p:ph idx="1"/>
          </p:nvPr>
        </p:nvSpPr>
        <p:spPr>
          <a:xfrm>
            <a:off x="838200" y="1825625"/>
            <a:ext cx="10515600" cy="4667250"/>
          </a:xfrm>
        </p:spPr>
        <p:txBody>
          <a:bodyPr>
            <a:noAutofit/>
          </a:bodyPr>
          <a:lstStyle/>
          <a:p>
            <a:pPr>
              <a:lnSpc>
                <a:spcPct val="200000"/>
              </a:lnSpc>
            </a:pPr>
            <a:r>
              <a:rPr lang="en-US" sz="2800" dirty="0"/>
              <a:t>1. Machine Language</a:t>
            </a:r>
          </a:p>
          <a:p>
            <a:pPr>
              <a:lnSpc>
                <a:spcPct val="200000"/>
              </a:lnSpc>
            </a:pPr>
            <a:r>
              <a:rPr lang="en-US" sz="2800" dirty="0"/>
              <a:t>2. Assembly Language</a:t>
            </a:r>
          </a:p>
          <a:p>
            <a:pPr>
              <a:lnSpc>
                <a:spcPct val="200000"/>
              </a:lnSpc>
            </a:pPr>
            <a:r>
              <a:rPr lang="en-US" sz="2800" dirty="0"/>
              <a:t>3. High level languages</a:t>
            </a:r>
          </a:p>
        </p:txBody>
      </p:sp>
    </p:spTree>
    <p:extLst>
      <p:ext uri="{BB962C8B-B14F-4D97-AF65-F5344CB8AC3E}">
        <p14:creationId xmlns:p14="http://schemas.microsoft.com/office/powerpoint/2010/main" val="3682200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1E770-8152-4CB7-B5D5-ECDF42D89DC8}"/>
              </a:ext>
            </a:extLst>
          </p:cNvPr>
          <p:cNvSpPr>
            <a:spLocks noGrp="1"/>
          </p:cNvSpPr>
          <p:nvPr>
            <p:ph type="title"/>
          </p:nvPr>
        </p:nvSpPr>
        <p:spPr/>
        <p:txBody>
          <a:bodyPr/>
          <a:lstStyle/>
          <a:p>
            <a:r>
              <a:rPr lang="en-US" dirty="0"/>
              <a:t>Machine Language</a:t>
            </a:r>
          </a:p>
        </p:txBody>
      </p:sp>
      <p:sp>
        <p:nvSpPr>
          <p:cNvPr id="3" name="Content Placeholder 2">
            <a:extLst>
              <a:ext uri="{FF2B5EF4-FFF2-40B4-BE49-F238E27FC236}">
                <a16:creationId xmlns:a16="http://schemas.microsoft.com/office/drawing/2014/main" id="{604658DE-2D86-4CCA-8437-923A856DF098}"/>
              </a:ext>
            </a:extLst>
          </p:cNvPr>
          <p:cNvSpPr>
            <a:spLocks noGrp="1"/>
          </p:cNvSpPr>
          <p:nvPr>
            <p:ph idx="1"/>
          </p:nvPr>
        </p:nvSpPr>
        <p:spPr>
          <a:xfrm>
            <a:off x="1097280" y="1845734"/>
            <a:ext cx="10058400" cy="4422544"/>
          </a:xfrm>
        </p:spPr>
        <p:txBody>
          <a:bodyPr>
            <a:noAutofit/>
          </a:bodyPr>
          <a:lstStyle/>
          <a:p>
            <a:pPr>
              <a:buFont typeface="Wingdings" panose="05000000000000000000" pitchFamily="2" charset="2"/>
              <a:buChar char="v"/>
            </a:pPr>
            <a:r>
              <a:rPr lang="en-US" sz="2800" dirty="0"/>
              <a:t>Machine language is sometimes referred to as machine code or object code</a:t>
            </a:r>
          </a:p>
          <a:p>
            <a:pPr>
              <a:buFont typeface="Wingdings" panose="05000000000000000000" pitchFamily="2" charset="2"/>
              <a:buChar char="v"/>
            </a:pPr>
            <a:endParaRPr lang="en-US" sz="2800" dirty="0"/>
          </a:p>
          <a:p>
            <a:pPr>
              <a:buFont typeface="Wingdings" panose="05000000000000000000" pitchFamily="2" charset="2"/>
              <a:buChar char="v"/>
            </a:pPr>
            <a:r>
              <a:rPr lang="en-US" sz="2800" dirty="0"/>
              <a:t> machine language is a collection of binary digits or bits that the computer reads and interprets.</a:t>
            </a:r>
          </a:p>
          <a:p>
            <a:pPr>
              <a:buFont typeface="Wingdings" panose="05000000000000000000" pitchFamily="2" charset="2"/>
              <a:buChar char="v"/>
            </a:pPr>
            <a:r>
              <a:rPr lang="en-US" sz="2800" dirty="0"/>
              <a:t> Machine language is the only language a computer is capable of understanding</a:t>
            </a:r>
          </a:p>
          <a:p>
            <a:pPr>
              <a:buFont typeface="Wingdings" panose="05000000000000000000" pitchFamily="2" charset="2"/>
              <a:buChar char="v"/>
            </a:pPr>
            <a:r>
              <a:rPr lang="en-US" altLang="en-US" sz="2800" dirty="0"/>
              <a:t>While easily understood by computers, machine languages are almost impossible for humans to use because they consist entirely of numbers. </a:t>
            </a:r>
          </a:p>
          <a:p>
            <a:endParaRPr lang="en-US" sz="2800" dirty="0"/>
          </a:p>
        </p:txBody>
      </p:sp>
    </p:spTree>
    <p:extLst>
      <p:ext uri="{BB962C8B-B14F-4D97-AF65-F5344CB8AC3E}">
        <p14:creationId xmlns:p14="http://schemas.microsoft.com/office/powerpoint/2010/main" val="45960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3EE7-4894-4909-A10A-2545104E3BFE}"/>
              </a:ext>
            </a:extLst>
          </p:cNvPr>
          <p:cNvSpPr>
            <a:spLocks noGrp="1"/>
          </p:cNvSpPr>
          <p:nvPr>
            <p:ph type="title"/>
          </p:nvPr>
        </p:nvSpPr>
        <p:spPr/>
        <p:txBody>
          <a:bodyPr/>
          <a:lstStyle/>
          <a:p>
            <a:r>
              <a:rPr lang="en-US" dirty="0"/>
              <a:t>Internal Data Representation</a:t>
            </a:r>
          </a:p>
        </p:txBody>
      </p:sp>
      <p:sp>
        <p:nvSpPr>
          <p:cNvPr id="3" name="Content Placeholder 2">
            <a:extLst>
              <a:ext uri="{FF2B5EF4-FFF2-40B4-BE49-F238E27FC236}">
                <a16:creationId xmlns:a16="http://schemas.microsoft.com/office/drawing/2014/main" id="{288C0916-7B89-4E69-B68B-F9A5DAEDF937}"/>
              </a:ext>
            </a:extLst>
          </p:cNvPr>
          <p:cNvSpPr>
            <a:spLocks noGrp="1"/>
          </p:cNvSpPr>
          <p:nvPr>
            <p:ph idx="1"/>
          </p:nvPr>
        </p:nvSpPr>
        <p:spPr>
          <a:xfrm>
            <a:off x="1097280" y="1845734"/>
            <a:ext cx="10058400" cy="4369536"/>
          </a:xfrm>
        </p:spPr>
        <p:txBody>
          <a:bodyPr>
            <a:noAutofit/>
          </a:bodyPr>
          <a:lstStyle/>
          <a:p>
            <a:pPr>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The two common binary coding schemes normally used in data representation are the ASCII –and EBCDIC –codes.</a:t>
            </a:r>
          </a:p>
          <a:p>
            <a:pPr>
              <a:buFont typeface="Wingdings" panose="05000000000000000000" pitchFamily="2" charset="2"/>
              <a:buChar char="v"/>
            </a:pPr>
            <a:endParaRPr lang="en-US" sz="2600" b="0" i="0" u="none" strike="noStrike" baseline="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-ASCII, which is an acronym for </a:t>
            </a:r>
            <a:r>
              <a:rPr lang="en-US" sz="2600" b="0" i="1" u="none" strike="noStrike" baseline="0" dirty="0">
                <a:solidFill>
                  <a:srgbClr val="000000"/>
                </a:solidFill>
                <a:latin typeface="Times New Roman" panose="02020603050405020304" pitchFamily="18" charset="0"/>
                <a:cs typeface="Times New Roman" panose="02020603050405020304" pitchFamily="18" charset="0"/>
              </a:rPr>
              <a:t>American Standard Code for </a:t>
            </a:r>
            <a:r>
              <a:rPr lang="en-US" sz="2600" b="0" i="1" u="none" strike="noStrike" baseline="0">
                <a:solidFill>
                  <a:srgbClr val="000000"/>
                </a:solidFill>
                <a:latin typeface="Times New Roman" panose="02020603050405020304" pitchFamily="18" charset="0"/>
                <a:cs typeface="Times New Roman" panose="02020603050405020304" pitchFamily="18" charset="0"/>
              </a:rPr>
              <a:t>Information Interchange </a:t>
            </a:r>
            <a:r>
              <a:rPr lang="en-US" sz="2600" b="0" i="0" u="none" strike="noStrike" baseline="0">
                <a:solidFill>
                  <a:srgbClr val="000000"/>
                </a:solidFill>
                <a:latin typeface="Times New Roman" panose="02020603050405020304" pitchFamily="18" charset="0"/>
                <a:cs typeface="Times New Roman" panose="02020603050405020304" pitchFamily="18" charset="0"/>
              </a:rPr>
              <a:t>was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later extended to accommodate more special characters and the latter version was referred to as extended ASCII or ASCII-8.</a:t>
            </a:r>
          </a:p>
          <a:p>
            <a:pPr>
              <a:buFont typeface="Wingdings" panose="05000000000000000000" pitchFamily="2" charset="2"/>
              <a:buChar char="v"/>
            </a:pPr>
            <a:endParaRPr lang="en-US" sz="26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 -The latest of the versions is the ASCII-16 coding scheme which uses 16 bits. ASCII is the most widely coding scheme used in microcomputers.</a:t>
            </a: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35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3035-2254-416D-AB92-6B417D2BE4A2}"/>
              </a:ext>
            </a:extLst>
          </p:cNvPr>
          <p:cNvSpPr>
            <a:spLocks noGrp="1"/>
          </p:cNvSpPr>
          <p:nvPr>
            <p:ph type="title"/>
          </p:nvPr>
        </p:nvSpPr>
        <p:spPr/>
        <p:txBody>
          <a:bodyPr/>
          <a:lstStyle/>
          <a:p>
            <a:r>
              <a:rPr lang="en-US" dirty="0"/>
              <a:t>Internal Data Representation</a:t>
            </a:r>
          </a:p>
        </p:txBody>
      </p:sp>
      <p:sp>
        <p:nvSpPr>
          <p:cNvPr id="3" name="Content Placeholder 2">
            <a:extLst>
              <a:ext uri="{FF2B5EF4-FFF2-40B4-BE49-F238E27FC236}">
                <a16:creationId xmlns:a16="http://schemas.microsoft.com/office/drawing/2014/main" id="{3C966A11-0D9D-4CA7-93C1-3D088D0D4054}"/>
              </a:ext>
            </a:extLst>
          </p:cNvPr>
          <p:cNvSpPr>
            <a:spLocks noGrp="1"/>
          </p:cNvSpPr>
          <p:nvPr>
            <p:ph idx="1"/>
          </p:nvPr>
        </p:nvSpPr>
        <p:spPr/>
        <p:txBody>
          <a:bodyPr>
            <a:noAutofit/>
          </a:bodyPr>
          <a:lstStyle/>
          <a:p>
            <a:pPr>
              <a:buFont typeface="Wingdings" panose="05000000000000000000" pitchFamily="2" charset="2"/>
              <a:buChar char="v"/>
            </a:pPr>
            <a:r>
              <a:rPr lang="en-US" sz="2800" b="0" i="0" u="none" strike="noStrike" baseline="0" dirty="0">
                <a:solidFill>
                  <a:srgbClr val="000000"/>
                </a:solidFill>
                <a:latin typeface="Calibri" panose="020F0502020204030204" pitchFamily="34" charset="0"/>
              </a:rPr>
              <a:t>-Unicode or ASCII-16 which is a version of ASCII uses 2 bytes (16 bits) to represent a character, instead of 1 byte (8 bits) and therefore can handle 65,536 characters rather than just 256 </a:t>
            </a:r>
          </a:p>
          <a:p>
            <a:pPr>
              <a:buFont typeface="Wingdings" panose="05000000000000000000" pitchFamily="2" charset="2"/>
              <a:buChar char="v"/>
            </a:pPr>
            <a:endParaRPr lang="en-US" sz="280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EBCDIC stands for </a:t>
            </a:r>
            <a:r>
              <a:rPr lang="en-US" sz="2800" b="0" i="1" u="none" strike="noStrike" baseline="0" dirty="0">
                <a:solidFill>
                  <a:srgbClr val="000000"/>
                </a:solidFill>
                <a:latin typeface="Calibri" panose="020F0502020204030204" pitchFamily="34" charset="0"/>
              </a:rPr>
              <a:t>Extended Binary Coded Decimal Interchange </a:t>
            </a:r>
            <a:r>
              <a:rPr lang="en-US" sz="2800" b="0" i="1" u="none" strike="noStrike" baseline="0" dirty="0" err="1">
                <a:solidFill>
                  <a:srgbClr val="000000"/>
                </a:solidFill>
                <a:latin typeface="Calibri" panose="020F0502020204030204" pitchFamily="34" charset="0"/>
              </a:rPr>
              <a:t>Code</a:t>
            </a:r>
            <a:r>
              <a:rPr lang="en-US" sz="2800" b="0" i="0" u="none" strike="noStrike" baseline="0" dirty="0" err="1">
                <a:solidFill>
                  <a:srgbClr val="000000"/>
                </a:solidFill>
                <a:latin typeface="Calibri" panose="020F0502020204030204" pitchFamily="34" charset="0"/>
              </a:rPr>
              <a:t>is</a:t>
            </a:r>
            <a:r>
              <a:rPr lang="en-US" sz="2800" b="0" i="0" u="none" strike="noStrike" baseline="0" dirty="0">
                <a:solidFill>
                  <a:srgbClr val="000000"/>
                </a:solidFill>
                <a:latin typeface="Calibri" panose="020F0502020204030204" pitchFamily="34" charset="0"/>
              </a:rPr>
              <a:t> the most widely used scheme in mainframe computers. </a:t>
            </a:r>
          </a:p>
          <a:p>
            <a:pPr>
              <a:buFont typeface="Wingdings" panose="05000000000000000000" pitchFamily="2" charset="2"/>
              <a:buChar char="v"/>
            </a:pPr>
            <a:endParaRPr lang="en-US" sz="280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Calibri" panose="020F0502020204030204" pitchFamily="34" charset="0"/>
              </a:rPr>
              <a:t>Table 1.1 shows the codes for the uppercase alphabetic letters and numerical digits, 0 to 9. (See Table 1.1)</a:t>
            </a:r>
          </a:p>
          <a:p>
            <a:endParaRPr lang="en-US" sz="2800" dirty="0"/>
          </a:p>
        </p:txBody>
      </p:sp>
    </p:spTree>
    <p:extLst>
      <p:ext uri="{BB962C8B-B14F-4D97-AF65-F5344CB8AC3E}">
        <p14:creationId xmlns:p14="http://schemas.microsoft.com/office/powerpoint/2010/main" val="1009201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0BE60-E9B3-4BF0-A4A5-EA74F8AA449E}"/>
              </a:ext>
            </a:extLst>
          </p:cNvPr>
          <p:cNvSpPr>
            <a:spLocks noGrp="1"/>
          </p:cNvSpPr>
          <p:nvPr>
            <p:ph type="title"/>
          </p:nvPr>
        </p:nvSpPr>
        <p:spPr>
          <a:xfrm>
            <a:off x="1097280" y="286603"/>
            <a:ext cx="10058400" cy="390141"/>
          </a:xfrm>
        </p:spPr>
        <p:txBody>
          <a:bodyPr>
            <a:normAutofit fontScale="90000"/>
          </a:bodyPr>
          <a:lstStyle/>
          <a:p>
            <a:r>
              <a:rPr lang="en-US" dirty="0"/>
              <a:t>Table 1.1</a:t>
            </a:r>
          </a:p>
        </p:txBody>
      </p:sp>
      <p:pic>
        <p:nvPicPr>
          <p:cNvPr id="5" name="Content Placeholder 4">
            <a:extLst>
              <a:ext uri="{FF2B5EF4-FFF2-40B4-BE49-F238E27FC236}">
                <a16:creationId xmlns:a16="http://schemas.microsoft.com/office/drawing/2014/main" id="{E762C27B-0B54-4A74-91A6-9CB502020B7E}"/>
              </a:ext>
            </a:extLst>
          </p:cNvPr>
          <p:cNvPicPr>
            <a:picLocks noGrp="1" noChangeAspect="1"/>
          </p:cNvPicPr>
          <p:nvPr>
            <p:ph idx="1"/>
          </p:nvPr>
        </p:nvPicPr>
        <p:blipFill rotWithShape="1">
          <a:blip r:embed="rId2"/>
          <a:srcRect l="12535" t="31850" r="31900" b="11158"/>
          <a:stretch/>
        </p:blipFill>
        <p:spPr>
          <a:xfrm>
            <a:off x="1097280" y="481673"/>
            <a:ext cx="10058400" cy="5800345"/>
          </a:xfrm>
        </p:spPr>
      </p:pic>
    </p:spTree>
    <p:extLst>
      <p:ext uri="{BB962C8B-B14F-4D97-AF65-F5344CB8AC3E}">
        <p14:creationId xmlns:p14="http://schemas.microsoft.com/office/powerpoint/2010/main" val="3261301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4B29B-1C17-42BB-9F47-F1F0D983D37C}"/>
              </a:ext>
            </a:extLst>
          </p:cNvPr>
          <p:cNvSpPr>
            <a:spLocks noGrp="1"/>
          </p:cNvSpPr>
          <p:nvPr>
            <p:ph type="title"/>
          </p:nvPr>
        </p:nvSpPr>
        <p:spPr/>
        <p:txBody>
          <a:bodyPr/>
          <a:lstStyle/>
          <a:p>
            <a:r>
              <a:rPr lang="en-US" dirty="0"/>
              <a:t>Advantages of Machine Language</a:t>
            </a:r>
          </a:p>
        </p:txBody>
      </p:sp>
      <p:sp>
        <p:nvSpPr>
          <p:cNvPr id="3" name="Content Placeholder 2">
            <a:extLst>
              <a:ext uri="{FF2B5EF4-FFF2-40B4-BE49-F238E27FC236}">
                <a16:creationId xmlns:a16="http://schemas.microsoft.com/office/drawing/2014/main" id="{AF54FED6-B408-465F-B9F4-AD453F8D51F4}"/>
              </a:ext>
            </a:extLst>
          </p:cNvPr>
          <p:cNvSpPr>
            <a:spLocks noGrp="1"/>
          </p:cNvSpPr>
          <p:nvPr>
            <p:ph idx="1"/>
          </p:nvPr>
        </p:nvSpPr>
        <p:spPr/>
        <p:txBody>
          <a:bodyPr>
            <a:normAutofit/>
          </a:bodyPr>
          <a:lstStyle/>
          <a:p>
            <a:pPr marL="457200" indent="-457200">
              <a:buFont typeface="+mj-lt"/>
              <a:buAutoNum type="arabicPeriod"/>
            </a:pPr>
            <a:r>
              <a:rPr lang="en-US" sz="2800" b="1" dirty="0"/>
              <a:t>Machine language</a:t>
            </a:r>
            <a:r>
              <a:rPr lang="en-US" sz="2800" dirty="0"/>
              <a:t> makes fast and efficient use of the </a:t>
            </a:r>
            <a:r>
              <a:rPr lang="en-US" sz="2800" b="1" dirty="0"/>
              <a:t>computer</a:t>
            </a:r>
            <a:r>
              <a:rPr lang="en-US" sz="2800" dirty="0"/>
              <a:t>.</a:t>
            </a:r>
          </a:p>
          <a:p>
            <a:pPr marL="457200" indent="-457200">
              <a:buFont typeface="+mj-lt"/>
              <a:buAutoNum type="arabicPeriod"/>
            </a:pPr>
            <a:endParaRPr lang="en-US" sz="2800" dirty="0"/>
          </a:p>
          <a:p>
            <a:pPr marL="457200" indent="-457200">
              <a:buFont typeface="+mj-lt"/>
              <a:buAutoNum type="arabicPeriod"/>
            </a:pPr>
            <a:r>
              <a:rPr lang="en-US" sz="2800" dirty="0"/>
              <a:t>This language is fastest in terms of execution in the sense that it does not need to be translated.</a:t>
            </a:r>
          </a:p>
          <a:p>
            <a:pPr marL="457200" indent="-457200">
              <a:buFont typeface="+mj-lt"/>
              <a:buAutoNum type="arabicPeriod"/>
            </a:pPr>
            <a:endParaRPr lang="en-US" sz="2800" dirty="0"/>
          </a:p>
          <a:p>
            <a:pPr marL="457200" indent="-457200">
              <a:buFont typeface="+mj-lt"/>
              <a:buAutoNum type="arabicPeriod"/>
            </a:pPr>
            <a:r>
              <a:rPr lang="en-US" sz="2800" dirty="0"/>
              <a:t>It requires no translator to translate the </a:t>
            </a:r>
            <a:r>
              <a:rPr lang="en-US" sz="2800" b="1" dirty="0"/>
              <a:t>code</a:t>
            </a:r>
            <a:r>
              <a:rPr lang="en-US" sz="2800" dirty="0"/>
              <a:t>. It is directly understood by the </a:t>
            </a:r>
            <a:r>
              <a:rPr lang="en-US" sz="2800" b="1" dirty="0"/>
              <a:t>computer</a:t>
            </a:r>
            <a:r>
              <a:rPr lang="en-US" sz="2800" dirty="0"/>
              <a:t>.</a:t>
            </a:r>
          </a:p>
        </p:txBody>
      </p:sp>
    </p:spTree>
    <p:extLst>
      <p:ext uri="{BB962C8B-B14F-4D97-AF65-F5344CB8AC3E}">
        <p14:creationId xmlns:p14="http://schemas.microsoft.com/office/powerpoint/2010/main" val="1290714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2F09-48C2-4B58-B466-CB9A194B2A8D}"/>
              </a:ext>
            </a:extLst>
          </p:cNvPr>
          <p:cNvSpPr>
            <a:spLocks noGrp="1"/>
          </p:cNvSpPr>
          <p:nvPr>
            <p:ph type="title"/>
          </p:nvPr>
        </p:nvSpPr>
        <p:spPr/>
        <p:txBody>
          <a:bodyPr/>
          <a:lstStyle/>
          <a:p>
            <a:r>
              <a:rPr lang="en-US" dirty="0"/>
              <a:t>Disadvantages of machine language</a:t>
            </a:r>
          </a:p>
        </p:txBody>
      </p:sp>
      <p:sp>
        <p:nvSpPr>
          <p:cNvPr id="3" name="Content Placeholder 2">
            <a:extLst>
              <a:ext uri="{FF2B5EF4-FFF2-40B4-BE49-F238E27FC236}">
                <a16:creationId xmlns:a16="http://schemas.microsoft.com/office/drawing/2014/main" id="{D9A76C60-5F9B-409E-BBB2-5AF450C85894}"/>
              </a:ext>
            </a:extLst>
          </p:cNvPr>
          <p:cNvSpPr>
            <a:spLocks noGrp="1"/>
          </p:cNvSpPr>
          <p:nvPr>
            <p:ph idx="1"/>
          </p:nvPr>
        </p:nvSpPr>
        <p:spPr>
          <a:xfrm>
            <a:off x="1097279" y="1845733"/>
            <a:ext cx="10869433" cy="4475553"/>
          </a:xfrm>
        </p:spPr>
        <p:txBody>
          <a:bodyPr>
            <a:normAutofit fontScale="92500"/>
          </a:bodyPr>
          <a:lstStyle/>
          <a:p>
            <a:pPr>
              <a:lnSpc>
                <a:spcPct val="200000"/>
              </a:lnSpc>
            </a:pPr>
            <a:r>
              <a:rPr lang="en-US" sz="2400" b="1" dirty="0"/>
              <a:t>1. Machine Dependent : </a:t>
            </a:r>
            <a:r>
              <a:rPr lang="en-US" sz="2400" dirty="0"/>
              <a:t>Program written in machine language are machine dependent and hence program developed for one system does not execute on other system.</a:t>
            </a:r>
          </a:p>
          <a:p>
            <a:pPr>
              <a:lnSpc>
                <a:spcPct val="200000"/>
              </a:lnSpc>
            </a:pPr>
            <a:br>
              <a:rPr lang="en-US" sz="2800" dirty="0"/>
            </a:br>
            <a:r>
              <a:rPr lang="en-US" sz="2800" dirty="0"/>
              <a:t>2. </a:t>
            </a:r>
            <a:r>
              <a:rPr lang="en-US" sz="2400" b="1" dirty="0"/>
              <a:t>Complex Language for Programming : </a:t>
            </a:r>
            <a:r>
              <a:rPr lang="en-US" sz="2400" dirty="0"/>
              <a:t>Since machine language consists only sequence of 0s and 1s, so it is very difficult for programmer to remember and write each instructions</a:t>
            </a:r>
            <a:endParaRPr lang="en-US" sz="2800" dirty="0"/>
          </a:p>
        </p:txBody>
      </p:sp>
    </p:spTree>
    <p:extLst>
      <p:ext uri="{BB962C8B-B14F-4D97-AF65-F5344CB8AC3E}">
        <p14:creationId xmlns:p14="http://schemas.microsoft.com/office/powerpoint/2010/main" val="273670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42F09-48C2-4B58-B466-CB9A194B2A8D}"/>
              </a:ext>
            </a:extLst>
          </p:cNvPr>
          <p:cNvSpPr>
            <a:spLocks noGrp="1"/>
          </p:cNvSpPr>
          <p:nvPr>
            <p:ph type="title"/>
          </p:nvPr>
        </p:nvSpPr>
        <p:spPr/>
        <p:txBody>
          <a:bodyPr/>
          <a:lstStyle/>
          <a:p>
            <a:r>
              <a:rPr lang="en-US" dirty="0"/>
              <a:t>Disadvantages of machine language</a:t>
            </a:r>
          </a:p>
        </p:txBody>
      </p:sp>
      <p:sp>
        <p:nvSpPr>
          <p:cNvPr id="3" name="Content Placeholder 2">
            <a:extLst>
              <a:ext uri="{FF2B5EF4-FFF2-40B4-BE49-F238E27FC236}">
                <a16:creationId xmlns:a16="http://schemas.microsoft.com/office/drawing/2014/main" id="{D9A76C60-5F9B-409E-BBB2-5AF450C85894}"/>
              </a:ext>
            </a:extLst>
          </p:cNvPr>
          <p:cNvSpPr>
            <a:spLocks noGrp="1"/>
          </p:cNvSpPr>
          <p:nvPr>
            <p:ph idx="1"/>
          </p:nvPr>
        </p:nvSpPr>
        <p:spPr>
          <a:xfrm>
            <a:off x="1097279" y="1845733"/>
            <a:ext cx="10869433" cy="4475553"/>
          </a:xfrm>
        </p:spPr>
        <p:txBody>
          <a:bodyPr>
            <a:normAutofit/>
          </a:bodyPr>
          <a:lstStyle/>
          <a:p>
            <a:pPr>
              <a:lnSpc>
                <a:spcPct val="200000"/>
              </a:lnSpc>
            </a:pPr>
            <a:r>
              <a:rPr lang="en-US" sz="2400" b="1" dirty="0"/>
              <a:t>3. Error Prone : </a:t>
            </a:r>
            <a:r>
              <a:rPr lang="en-US" sz="2400" dirty="0"/>
              <a:t>While programming using machine language everything need to be expressed in sequence of 0s and 1s which is very tedious task. So errors are frequently occurred while programming using machine language</a:t>
            </a:r>
          </a:p>
          <a:p>
            <a:pPr>
              <a:lnSpc>
                <a:spcPct val="200000"/>
              </a:lnSpc>
            </a:pPr>
            <a:endParaRPr lang="en-US" sz="2400" dirty="0"/>
          </a:p>
          <a:p>
            <a:pPr>
              <a:lnSpc>
                <a:spcPct val="200000"/>
              </a:lnSpc>
            </a:pPr>
            <a:r>
              <a:rPr lang="en-US" sz="2400" dirty="0"/>
              <a:t>4. </a:t>
            </a:r>
            <a:r>
              <a:rPr lang="en-US" sz="2400" b="1" dirty="0"/>
              <a:t>Time Consuming : </a:t>
            </a:r>
            <a:r>
              <a:rPr lang="en-US" sz="2400" dirty="0"/>
              <a:t>Writing program in machine language is time consuming process.</a:t>
            </a:r>
            <a:endParaRPr lang="en-US" sz="2800" dirty="0"/>
          </a:p>
        </p:txBody>
      </p:sp>
    </p:spTree>
    <p:extLst>
      <p:ext uri="{BB962C8B-B14F-4D97-AF65-F5344CB8AC3E}">
        <p14:creationId xmlns:p14="http://schemas.microsoft.com/office/powerpoint/2010/main" val="3325536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86ED-C81B-4960-9867-C554B7F6D015}"/>
              </a:ext>
            </a:extLst>
          </p:cNvPr>
          <p:cNvSpPr>
            <a:spLocks noGrp="1"/>
          </p:cNvSpPr>
          <p:nvPr>
            <p:ph type="title"/>
          </p:nvPr>
        </p:nvSpPr>
        <p:spPr/>
        <p:txBody>
          <a:bodyPr/>
          <a:lstStyle/>
          <a:p>
            <a:r>
              <a:rPr lang="en-US" dirty="0"/>
              <a:t>Assembly Language</a:t>
            </a:r>
          </a:p>
        </p:txBody>
      </p:sp>
      <p:sp>
        <p:nvSpPr>
          <p:cNvPr id="3" name="Content Placeholder 2">
            <a:extLst>
              <a:ext uri="{FF2B5EF4-FFF2-40B4-BE49-F238E27FC236}">
                <a16:creationId xmlns:a16="http://schemas.microsoft.com/office/drawing/2014/main" id="{72C6F32B-3C22-4CBF-9BF4-CB15A703B429}"/>
              </a:ext>
            </a:extLst>
          </p:cNvPr>
          <p:cNvSpPr>
            <a:spLocks noGrp="1"/>
          </p:cNvSpPr>
          <p:nvPr>
            <p:ph idx="1"/>
          </p:nvPr>
        </p:nvSpPr>
        <p:spPr>
          <a:xfrm>
            <a:off x="1097280" y="1845733"/>
            <a:ext cx="10776668" cy="4462301"/>
          </a:xfrm>
        </p:spPr>
        <p:txBody>
          <a:bodyPr>
            <a:normAutofit/>
          </a:bodyPr>
          <a:lstStyle/>
          <a:p>
            <a:pPr>
              <a:buFont typeface="Wingdings" panose="05000000000000000000" pitchFamily="2" charset="2"/>
              <a:buChar char="v"/>
            </a:pPr>
            <a:r>
              <a:rPr lang="en-US" sz="2800" dirty="0"/>
              <a:t>Each personal computer has a microprocessor that manages the computer's arithmetical, logical, and control activities.</a:t>
            </a:r>
          </a:p>
          <a:p>
            <a:pPr>
              <a:buFont typeface="Wingdings" panose="05000000000000000000" pitchFamily="2" charset="2"/>
              <a:buChar char="v"/>
            </a:pPr>
            <a:endParaRPr lang="en-US" sz="2800" dirty="0"/>
          </a:p>
          <a:p>
            <a:pPr>
              <a:buFont typeface="Wingdings" panose="05000000000000000000" pitchFamily="2" charset="2"/>
              <a:buChar char="v"/>
            </a:pPr>
            <a:r>
              <a:rPr lang="en-US" sz="2800" dirty="0"/>
              <a:t>Each family of processors has its own set of instructions for handling various operations such as getting input from keyboard, displaying information on screen and performing various other jobs. </a:t>
            </a:r>
          </a:p>
          <a:p>
            <a:pPr>
              <a:buFont typeface="Wingdings" panose="05000000000000000000" pitchFamily="2" charset="2"/>
              <a:buChar char="v"/>
            </a:pPr>
            <a:endParaRPr lang="en-US" sz="2800" dirty="0"/>
          </a:p>
          <a:p>
            <a:pPr>
              <a:buFont typeface="Wingdings" panose="05000000000000000000" pitchFamily="2" charset="2"/>
              <a:buChar char="v"/>
            </a:pPr>
            <a:r>
              <a:rPr lang="en-US" sz="2800" dirty="0"/>
              <a:t>These set of instructions are called 'machine language instructions'.</a:t>
            </a:r>
          </a:p>
          <a:p>
            <a:endParaRPr lang="en-US" sz="2800" dirty="0"/>
          </a:p>
        </p:txBody>
      </p:sp>
    </p:spTree>
    <p:extLst>
      <p:ext uri="{BB962C8B-B14F-4D97-AF65-F5344CB8AC3E}">
        <p14:creationId xmlns:p14="http://schemas.microsoft.com/office/powerpoint/2010/main" val="276352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86ED-C81B-4960-9867-C554B7F6D015}"/>
              </a:ext>
            </a:extLst>
          </p:cNvPr>
          <p:cNvSpPr>
            <a:spLocks noGrp="1"/>
          </p:cNvSpPr>
          <p:nvPr>
            <p:ph type="title"/>
          </p:nvPr>
        </p:nvSpPr>
        <p:spPr/>
        <p:txBody>
          <a:bodyPr/>
          <a:lstStyle/>
          <a:p>
            <a:r>
              <a:rPr lang="en-US" dirty="0"/>
              <a:t>Assembly Language</a:t>
            </a:r>
          </a:p>
        </p:txBody>
      </p:sp>
      <p:sp>
        <p:nvSpPr>
          <p:cNvPr id="3" name="Content Placeholder 2">
            <a:extLst>
              <a:ext uri="{FF2B5EF4-FFF2-40B4-BE49-F238E27FC236}">
                <a16:creationId xmlns:a16="http://schemas.microsoft.com/office/drawing/2014/main" id="{72C6F32B-3C22-4CBF-9BF4-CB15A703B429}"/>
              </a:ext>
            </a:extLst>
          </p:cNvPr>
          <p:cNvSpPr>
            <a:spLocks noGrp="1"/>
          </p:cNvSpPr>
          <p:nvPr>
            <p:ph idx="1"/>
          </p:nvPr>
        </p:nvSpPr>
        <p:spPr>
          <a:xfrm>
            <a:off x="1097280" y="1845733"/>
            <a:ext cx="10776668" cy="4462301"/>
          </a:xfrm>
        </p:spPr>
        <p:txBody>
          <a:bodyPr>
            <a:normAutofit/>
          </a:bodyPr>
          <a:lstStyle/>
          <a:p>
            <a:pPr>
              <a:buFont typeface="Wingdings" panose="05000000000000000000" pitchFamily="2" charset="2"/>
              <a:buChar char="v"/>
            </a:pPr>
            <a:r>
              <a:rPr lang="en-US" sz="2800" dirty="0"/>
              <a:t>A processor understands only machine language instructions, which are strings of 1's and 0’s. </a:t>
            </a:r>
          </a:p>
          <a:p>
            <a:pPr>
              <a:buFont typeface="Wingdings" panose="05000000000000000000" pitchFamily="2" charset="2"/>
              <a:buChar char="v"/>
            </a:pPr>
            <a:endParaRPr lang="en-US" sz="2800" dirty="0"/>
          </a:p>
          <a:p>
            <a:pPr>
              <a:buFont typeface="Wingdings" panose="05000000000000000000" pitchFamily="2" charset="2"/>
              <a:buChar char="v"/>
            </a:pPr>
            <a:r>
              <a:rPr lang="en-US" sz="2800" dirty="0">
                <a:solidFill>
                  <a:srgbClr val="FF0000"/>
                </a:solidFill>
              </a:rPr>
              <a:t>However, machine language is too obscure and complex for using in software development.</a:t>
            </a:r>
          </a:p>
          <a:p>
            <a:pPr>
              <a:buFont typeface="Wingdings" panose="05000000000000000000" pitchFamily="2" charset="2"/>
              <a:buChar char="v"/>
            </a:pPr>
            <a:endParaRPr lang="en-US" sz="2800" dirty="0">
              <a:solidFill>
                <a:srgbClr val="FF0000"/>
              </a:solidFill>
            </a:endParaRPr>
          </a:p>
          <a:p>
            <a:pPr>
              <a:buFont typeface="Wingdings" panose="05000000000000000000" pitchFamily="2" charset="2"/>
              <a:buChar char="v"/>
            </a:pPr>
            <a:r>
              <a:rPr lang="en-US" sz="2800" dirty="0"/>
              <a:t> </a:t>
            </a:r>
            <a:r>
              <a:rPr lang="en-US" sz="2800" b="1" dirty="0"/>
              <a:t>So, the low-level assembly language is designed for a specific family of processors that represents </a:t>
            </a:r>
            <a:r>
              <a:rPr lang="en-US" sz="2800" b="1" dirty="0">
                <a:solidFill>
                  <a:srgbClr val="00B050"/>
                </a:solidFill>
              </a:rPr>
              <a:t>various instructions in symbolic code </a:t>
            </a:r>
            <a:r>
              <a:rPr lang="en-US" sz="2800" b="1" dirty="0"/>
              <a:t>and a more understandable form.</a:t>
            </a:r>
          </a:p>
          <a:p>
            <a:endParaRPr lang="en-US" sz="2800" dirty="0"/>
          </a:p>
        </p:txBody>
      </p:sp>
    </p:spTree>
    <p:extLst>
      <p:ext uri="{BB962C8B-B14F-4D97-AF65-F5344CB8AC3E}">
        <p14:creationId xmlns:p14="http://schemas.microsoft.com/office/powerpoint/2010/main" val="1069508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1663-5121-4BC7-88A7-ED2FEFEA1E31}"/>
              </a:ext>
            </a:extLst>
          </p:cNvPr>
          <p:cNvSpPr>
            <a:spLocks noGrp="1"/>
          </p:cNvSpPr>
          <p:nvPr>
            <p:ph type="title"/>
          </p:nvPr>
        </p:nvSpPr>
        <p:spPr/>
        <p:txBody>
          <a:bodyPr/>
          <a:lstStyle/>
          <a:p>
            <a:r>
              <a:rPr lang="en-US" dirty="0"/>
              <a:t>Assembly Language</a:t>
            </a:r>
          </a:p>
        </p:txBody>
      </p:sp>
      <p:sp>
        <p:nvSpPr>
          <p:cNvPr id="3" name="Content Placeholder 2">
            <a:extLst>
              <a:ext uri="{FF2B5EF4-FFF2-40B4-BE49-F238E27FC236}">
                <a16:creationId xmlns:a16="http://schemas.microsoft.com/office/drawing/2014/main" id="{940D6FBF-FB23-4C54-9347-85BB23093208}"/>
              </a:ext>
            </a:extLst>
          </p:cNvPr>
          <p:cNvSpPr>
            <a:spLocks noGrp="1"/>
          </p:cNvSpPr>
          <p:nvPr>
            <p:ph idx="1"/>
          </p:nvPr>
        </p:nvSpPr>
        <p:spPr>
          <a:xfrm>
            <a:off x="1097280" y="1845734"/>
            <a:ext cx="10058400" cy="4409292"/>
          </a:xfrm>
        </p:spPr>
        <p:txBody>
          <a:bodyPr>
            <a:normAutofit/>
          </a:bodyPr>
          <a:lstStyle/>
          <a:p>
            <a:pPr>
              <a:buFont typeface="Wingdings" panose="05000000000000000000" pitchFamily="2" charset="2"/>
              <a:buChar char="v"/>
            </a:pPr>
            <a:r>
              <a:rPr lang="en-US" sz="3000" dirty="0">
                <a:solidFill>
                  <a:srgbClr val="FF0000"/>
                </a:solidFill>
              </a:rPr>
              <a:t>Instruction formed by using 1s and 0s i.e. using binary numbers are hard to remember and it is tedious to program using it.</a:t>
            </a:r>
          </a:p>
          <a:p>
            <a:pPr>
              <a:buFont typeface="Wingdings" panose="05000000000000000000" pitchFamily="2" charset="2"/>
              <a:buChar char="v"/>
            </a:pPr>
            <a:endParaRPr lang="en-US" dirty="0"/>
          </a:p>
          <a:p>
            <a:pPr>
              <a:buFont typeface="Wingdings" panose="05000000000000000000" pitchFamily="2" charset="2"/>
              <a:buChar char="v"/>
            </a:pPr>
            <a:endParaRPr lang="en-US" b="1" dirty="0"/>
          </a:p>
          <a:p>
            <a:pPr>
              <a:buFont typeface="Wingdings" panose="05000000000000000000" pitchFamily="2" charset="2"/>
              <a:buChar char="v"/>
            </a:pPr>
            <a:endParaRPr lang="en-US" b="1" dirty="0"/>
          </a:p>
          <a:p>
            <a:pPr>
              <a:buFont typeface="Wingdings" panose="05000000000000000000" pitchFamily="2" charset="2"/>
              <a:buChar char="v"/>
            </a:pPr>
            <a:r>
              <a:rPr lang="en-US" sz="2800" b="1" dirty="0"/>
              <a:t> In assembly language the binary bits are replaced by certain keywords which are known as </a:t>
            </a:r>
            <a:r>
              <a:rPr lang="en-US" sz="3600" b="1" dirty="0">
                <a:solidFill>
                  <a:srgbClr val="00B050"/>
                </a:solidFill>
              </a:rPr>
              <a:t>mnemonic.</a:t>
            </a:r>
          </a:p>
          <a:p>
            <a:endParaRPr lang="en-US" dirty="0"/>
          </a:p>
        </p:txBody>
      </p:sp>
    </p:spTree>
    <p:extLst>
      <p:ext uri="{BB962C8B-B14F-4D97-AF65-F5344CB8AC3E}">
        <p14:creationId xmlns:p14="http://schemas.microsoft.com/office/powerpoint/2010/main" val="995896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F1663-5121-4BC7-88A7-ED2FEFEA1E31}"/>
              </a:ext>
            </a:extLst>
          </p:cNvPr>
          <p:cNvSpPr>
            <a:spLocks noGrp="1"/>
          </p:cNvSpPr>
          <p:nvPr>
            <p:ph type="title"/>
          </p:nvPr>
        </p:nvSpPr>
        <p:spPr/>
        <p:txBody>
          <a:bodyPr/>
          <a:lstStyle/>
          <a:p>
            <a:r>
              <a:rPr lang="en-US" dirty="0"/>
              <a:t>Assembly Language</a:t>
            </a:r>
          </a:p>
        </p:txBody>
      </p:sp>
      <p:sp>
        <p:nvSpPr>
          <p:cNvPr id="3" name="Content Placeholder 2">
            <a:extLst>
              <a:ext uri="{FF2B5EF4-FFF2-40B4-BE49-F238E27FC236}">
                <a16:creationId xmlns:a16="http://schemas.microsoft.com/office/drawing/2014/main" id="{940D6FBF-FB23-4C54-9347-85BB23093208}"/>
              </a:ext>
            </a:extLst>
          </p:cNvPr>
          <p:cNvSpPr>
            <a:spLocks noGrp="1"/>
          </p:cNvSpPr>
          <p:nvPr>
            <p:ph idx="1"/>
          </p:nvPr>
        </p:nvSpPr>
        <p:spPr>
          <a:xfrm>
            <a:off x="1097280" y="1845734"/>
            <a:ext cx="10058400" cy="4409292"/>
          </a:xfrm>
        </p:spPr>
        <p:txBody>
          <a:bodyPr>
            <a:normAutofit/>
          </a:bodyPr>
          <a:lstStyle/>
          <a:p>
            <a:endParaRPr lang="en-US" dirty="0"/>
          </a:p>
          <a:p>
            <a:r>
              <a:rPr lang="en-US" dirty="0"/>
              <a:t> </a:t>
            </a:r>
            <a:r>
              <a:rPr lang="en-US" sz="2800" dirty="0">
                <a:solidFill>
                  <a:srgbClr val="00B050"/>
                </a:solidFill>
              </a:rPr>
              <a:t>These mnemonics are abbreviated letters which are much easier to remember.</a:t>
            </a:r>
          </a:p>
          <a:p>
            <a:endParaRPr lang="en-US" sz="2800" dirty="0"/>
          </a:p>
          <a:p>
            <a:r>
              <a:rPr lang="en-US" sz="2800" dirty="0"/>
              <a:t>In the above example, if 0100000011001100 is instruction used to add two numbers</a:t>
            </a:r>
            <a:r>
              <a:rPr lang="en-US" sz="2800" b="1" dirty="0"/>
              <a:t>, then ADD would be the easiest mnemonic to remember for i</a:t>
            </a:r>
            <a:r>
              <a:rPr lang="en-US" sz="2800" dirty="0"/>
              <a:t>t. </a:t>
            </a:r>
          </a:p>
          <a:p>
            <a:endParaRPr lang="en-US" sz="2800" dirty="0"/>
          </a:p>
          <a:p>
            <a:r>
              <a:rPr lang="en-US" sz="2800" dirty="0"/>
              <a:t>This language is easier to learn than machine language</a:t>
            </a:r>
          </a:p>
        </p:txBody>
      </p:sp>
    </p:spTree>
    <p:extLst>
      <p:ext uri="{BB962C8B-B14F-4D97-AF65-F5344CB8AC3E}">
        <p14:creationId xmlns:p14="http://schemas.microsoft.com/office/powerpoint/2010/main" val="456546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DDED2-C012-41F7-B545-BEF42451030C}"/>
              </a:ext>
            </a:extLst>
          </p:cNvPr>
          <p:cNvSpPr>
            <a:spLocks noGrp="1"/>
          </p:cNvSpPr>
          <p:nvPr>
            <p:ph type="title"/>
          </p:nvPr>
        </p:nvSpPr>
        <p:spPr/>
        <p:txBody>
          <a:bodyPr/>
          <a:lstStyle/>
          <a:p>
            <a:r>
              <a:rPr lang="en-US" dirty="0"/>
              <a:t>Assembler</a:t>
            </a:r>
          </a:p>
        </p:txBody>
      </p:sp>
      <p:sp>
        <p:nvSpPr>
          <p:cNvPr id="3" name="Content Placeholder 2">
            <a:extLst>
              <a:ext uri="{FF2B5EF4-FFF2-40B4-BE49-F238E27FC236}">
                <a16:creationId xmlns:a16="http://schemas.microsoft.com/office/drawing/2014/main" id="{3077D856-76FD-456A-A76C-DE31E4E3EF2F}"/>
              </a:ext>
            </a:extLst>
          </p:cNvPr>
          <p:cNvSpPr>
            <a:spLocks noGrp="1"/>
          </p:cNvSpPr>
          <p:nvPr>
            <p:ph idx="1"/>
          </p:nvPr>
        </p:nvSpPr>
        <p:spPr>
          <a:xfrm>
            <a:off x="1097280" y="1845734"/>
            <a:ext cx="10058400" cy="4369536"/>
          </a:xfrm>
        </p:spPr>
        <p:txBody>
          <a:bodyPr>
            <a:normAutofit lnSpcReduction="10000"/>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This type of software translates and assembles a program written in assembly code into machine (object) code. </a:t>
            </a:r>
          </a:p>
          <a:p>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•The assembler translates the symbolic function codes into the equivalent machine operation code.</a:t>
            </a: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E.g. DIV SUM, NUMB</a:t>
            </a:r>
          </a:p>
          <a:p>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•After assembling, the object program is retained on a storage device in machine code.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45459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D67FE-F296-45C7-981A-2571BD3B19FF}"/>
              </a:ext>
            </a:extLst>
          </p:cNvPr>
          <p:cNvSpPr>
            <a:spLocks noGrp="1"/>
          </p:cNvSpPr>
          <p:nvPr>
            <p:ph type="title"/>
          </p:nvPr>
        </p:nvSpPr>
        <p:spPr/>
        <p:txBody>
          <a:bodyPr/>
          <a:lstStyle/>
          <a:p>
            <a:r>
              <a:rPr lang="en-US" dirty="0"/>
              <a:t>Assembler</a:t>
            </a:r>
          </a:p>
        </p:txBody>
      </p:sp>
      <p:sp>
        <p:nvSpPr>
          <p:cNvPr id="3" name="Content Placeholder 2">
            <a:extLst>
              <a:ext uri="{FF2B5EF4-FFF2-40B4-BE49-F238E27FC236}">
                <a16:creationId xmlns:a16="http://schemas.microsoft.com/office/drawing/2014/main" id="{4870D23D-5F49-407E-AEB4-215C441B6375}"/>
              </a:ext>
            </a:extLst>
          </p:cNvPr>
          <p:cNvSpPr>
            <a:spLocks noGrp="1"/>
          </p:cNvSpPr>
          <p:nvPr>
            <p:ph idx="1"/>
          </p:nvPr>
        </p:nvSpPr>
        <p:spPr/>
        <p:txBody>
          <a:bodyPr>
            <a:normAutofit/>
          </a:bodyPr>
          <a:lstStyle/>
          <a:p>
            <a:pPr>
              <a:buFont typeface="Wingdings" panose="05000000000000000000" pitchFamily="2" charset="2"/>
              <a:buChar char="v"/>
            </a:pPr>
            <a:r>
              <a:rPr lang="en-US" sz="2800" b="1" dirty="0"/>
              <a:t>An assembler is used to convert programs written in assembly language into machine language.</a:t>
            </a:r>
          </a:p>
          <a:p>
            <a:pPr>
              <a:buFont typeface="Wingdings" panose="05000000000000000000" pitchFamily="2" charset="2"/>
              <a:buChar char="v"/>
            </a:pPr>
            <a:r>
              <a:rPr lang="en-US" sz="2800" dirty="0"/>
              <a:t> It is still faster as compared to high level language but slower than lowest level language (Machine language) due to the requirement of translation.</a:t>
            </a:r>
          </a:p>
          <a:p>
            <a:pPr>
              <a:buFont typeface="Wingdings" panose="05000000000000000000" pitchFamily="2" charset="2"/>
              <a:buChar char="v"/>
            </a:pPr>
            <a:endParaRPr lang="en-US" sz="2800" dirty="0"/>
          </a:p>
        </p:txBody>
      </p:sp>
      <p:pic>
        <p:nvPicPr>
          <p:cNvPr id="5" name="Picture 4">
            <a:extLst>
              <a:ext uri="{FF2B5EF4-FFF2-40B4-BE49-F238E27FC236}">
                <a16:creationId xmlns:a16="http://schemas.microsoft.com/office/drawing/2014/main" id="{8EB5EEF8-D41D-4E09-8309-396376ED246F}"/>
              </a:ext>
            </a:extLst>
          </p:cNvPr>
          <p:cNvPicPr>
            <a:picLocks noChangeAspect="1"/>
          </p:cNvPicPr>
          <p:nvPr/>
        </p:nvPicPr>
        <p:blipFill rotWithShape="1">
          <a:blip r:embed="rId2"/>
          <a:srcRect l="28153" t="34583" r="30543" b="41251"/>
          <a:stretch/>
        </p:blipFill>
        <p:spPr>
          <a:xfrm>
            <a:off x="3061251" y="3909392"/>
            <a:ext cx="7129671" cy="2345286"/>
          </a:xfrm>
          <a:prstGeom prst="rect">
            <a:avLst/>
          </a:prstGeom>
        </p:spPr>
      </p:pic>
      <p:sp>
        <p:nvSpPr>
          <p:cNvPr id="6" name="TextBox 5">
            <a:extLst>
              <a:ext uri="{FF2B5EF4-FFF2-40B4-BE49-F238E27FC236}">
                <a16:creationId xmlns:a16="http://schemas.microsoft.com/office/drawing/2014/main" id="{7DC3E4F0-A1FF-4AE4-B81C-A7C59EE64506}"/>
              </a:ext>
            </a:extLst>
          </p:cNvPr>
          <p:cNvSpPr txBox="1"/>
          <p:nvPr/>
        </p:nvSpPr>
        <p:spPr>
          <a:xfrm>
            <a:off x="3829878" y="6109252"/>
            <a:ext cx="7752522" cy="369332"/>
          </a:xfrm>
          <a:prstGeom prst="rect">
            <a:avLst/>
          </a:prstGeom>
          <a:noFill/>
        </p:spPr>
        <p:txBody>
          <a:bodyPr wrap="square" rtlCol="0">
            <a:spAutoFit/>
          </a:bodyPr>
          <a:lstStyle/>
          <a:p>
            <a:r>
              <a:rPr lang="en-US" dirty="0"/>
              <a:t>https://www.codesansar.com/computer-basics/assembly-language.htm</a:t>
            </a:r>
          </a:p>
        </p:txBody>
      </p:sp>
    </p:spTree>
    <p:extLst>
      <p:ext uri="{BB962C8B-B14F-4D97-AF65-F5344CB8AC3E}">
        <p14:creationId xmlns:p14="http://schemas.microsoft.com/office/powerpoint/2010/main" val="3467823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4B382-13B5-4DA6-8F13-045FAEFFC823}"/>
              </a:ext>
            </a:extLst>
          </p:cNvPr>
          <p:cNvSpPr>
            <a:spLocks noGrp="1"/>
          </p:cNvSpPr>
          <p:nvPr>
            <p:ph type="title"/>
          </p:nvPr>
        </p:nvSpPr>
        <p:spPr/>
        <p:txBody>
          <a:bodyPr/>
          <a:lstStyle/>
          <a:p>
            <a:r>
              <a:rPr lang="en-US" b="1" dirty="0"/>
              <a:t>Advantages of Assembly Language</a:t>
            </a:r>
            <a:endParaRPr lang="en-US" dirty="0"/>
          </a:p>
        </p:txBody>
      </p:sp>
      <p:sp>
        <p:nvSpPr>
          <p:cNvPr id="3" name="Content Placeholder 2">
            <a:extLst>
              <a:ext uri="{FF2B5EF4-FFF2-40B4-BE49-F238E27FC236}">
                <a16:creationId xmlns:a16="http://schemas.microsoft.com/office/drawing/2014/main" id="{C73B5020-057E-4721-BFE3-F5717603E757}"/>
              </a:ext>
            </a:extLst>
          </p:cNvPr>
          <p:cNvSpPr>
            <a:spLocks noGrp="1"/>
          </p:cNvSpPr>
          <p:nvPr>
            <p:ph idx="1"/>
          </p:nvPr>
        </p:nvSpPr>
        <p:spPr>
          <a:xfrm>
            <a:off x="1097280" y="1845734"/>
            <a:ext cx="10058400" cy="4568318"/>
          </a:xfrm>
        </p:spPr>
        <p:txBody>
          <a:bodyPr>
            <a:noAutofit/>
          </a:bodyPr>
          <a:lstStyle/>
          <a:p>
            <a:r>
              <a:rPr lang="en-US" sz="2800" b="1" dirty="0"/>
              <a:t>1. Easy to Understand and Use: </a:t>
            </a:r>
            <a:r>
              <a:rPr lang="en-US" sz="2800" dirty="0"/>
              <a:t>Assembly language uses mnemonic codes which are easy to use and remember. </a:t>
            </a:r>
          </a:p>
          <a:p>
            <a:r>
              <a:rPr lang="en-US" sz="2800" dirty="0">
                <a:solidFill>
                  <a:srgbClr val="00B050"/>
                </a:solidFill>
              </a:rPr>
              <a:t>So, errors which can occur while writing program using assembly language are less as compared to writing program using machine language. </a:t>
            </a:r>
          </a:p>
          <a:p>
            <a:r>
              <a:rPr lang="en-US" sz="2800" b="1" dirty="0"/>
              <a:t>Also, assembler provides a way to locate and correct errors.</a:t>
            </a:r>
          </a:p>
          <a:p>
            <a:endParaRPr lang="en-US" sz="2800" dirty="0"/>
          </a:p>
          <a:p>
            <a:r>
              <a:rPr lang="en-US" sz="2800" dirty="0"/>
              <a:t>2. </a:t>
            </a:r>
            <a:r>
              <a:rPr lang="en-US" sz="2800" b="1" dirty="0"/>
              <a:t>Speed: </a:t>
            </a:r>
            <a:r>
              <a:rPr lang="en-US" sz="2800" dirty="0"/>
              <a:t>Program written in assembly language executes faster than program written high level language.</a:t>
            </a:r>
          </a:p>
        </p:txBody>
      </p:sp>
    </p:spTree>
    <p:extLst>
      <p:ext uri="{BB962C8B-B14F-4D97-AF65-F5344CB8AC3E}">
        <p14:creationId xmlns:p14="http://schemas.microsoft.com/office/powerpoint/2010/main" val="328890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0A1F0-1FC1-434F-B002-545E402F4660}"/>
              </a:ext>
            </a:extLst>
          </p:cNvPr>
          <p:cNvSpPr>
            <a:spLocks noGrp="1"/>
          </p:cNvSpPr>
          <p:nvPr>
            <p:ph type="title"/>
          </p:nvPr>
        </p:nvSpPr>
        <p:spPr/>
        <p:txBody>
          <a:bodyPr/>
          <a:lstStyle/>
          <a:p>
            <a:r>
              <a:rPr lang="en-US" b="1" dirty="0"/>
              <a:t>Disadvantages of Assembly Language</a:t>
            </a:r>
            <a:endParaRPr lang="en-US" dirty="0"/>
          </a:p>
        </p:txBody>
      </p:sp>
      <p:sp>
        <p:nvSpPr>
          <p:cNvPr id="3" name="Content Placeholder 2">
            <a:extLst>
              <a:ext uri="{FF2B5EF4-FFF2-40B4-BE49-F238E27FC236}">
                <a16:creationId xmlns:a16="http://schemas.microsoft.com/office/drawing/2014/main" id="{0F3493F1-FC2C-4F2B-9A7F-C210C928CDF4}"/>
              </a:ext>
            </a:extLst>
          </p:cNvPr>
          <p:cNvSpPr>
            <a:spLocks noGrp="1"/>
          </p:cNvSpPr>
          <p:nvPr>
            <p:ph idx="1"/>
          </p:nvPr>
        </p:nvSpPr>
        <p:spPr/>
        <p:txBody>
          <a:bodyPr/>
          <a:lstStyle/>
          <a:p>
            <a:r>
              <a:rPr lang="en-US" dirty="0"/>
              <a:t>1. </a:t>
            </a:r>
            <a:r>
              <a:rPr lang="en-US" b="1" dirty="0"/>
              <a:t>Machine Dependent: </a:t>
            </a:r>
            <a:r>
              <a:rPr lang="en-US" dirty="0"/>
              <a:t>Program written in assembly language are machine dependent and hence program developed for one system does not execute on other system.</a:t>
            </a:r>
          </a:p>
          <a:p>
            <a:endParaRPr lang="en-US" dirty="0"/>
          </a:p>
          <a:p>
            <a:r>
              <a:rPr lang="en-US" dirty="0"/>
              <a:t>2. </a:t>
            </a:r>
            <a:r>
              <a:rPr lang="en-US" b="1" dirty="0"/>
              <a:t>Difficult to Learn :</a:t>
            </a:r>
            <a:r>
              <a:rPr lang="en-US" dirty="0"/>
              <a:t>Since assembly language is machine dependent so every type of computer architecture requires a different assembly language. Programmer need to study and understand different mnemonic code according to the architecture used.</a:t>
            </a:r>
          </a:p>
          <a:p>
            <a:endParaRPr lang="en-US" dirty="0"/>
          </a:p>
          <a:p>
            <a:r>
              <a:rPr lang="en-US" dirty="0"/>
              <a:t>3. </a:t>
            </a:r>
            <a:r>
              <a:rPr lang="en-US" b="1" dirty="0"/>
              <a:t>Slow Program Development Time: </a:t>
            </a:r>
            <a:r>
              <a:rPr lang="en-US" dirty="0"/>
              <a:t>Developing program in assembly language is slow process as compared to high level language.</a:t>
            </a:r>
          </a:p>
        </p:txBody>
      </p:sp>
    </p:spTree>
    <p:extLst>
      <p:ext uri="{BB962C8B-B14F-4D97-AF65-F5344CB8AC3E}">
        <p14:creationId xmlns:p14="http://schemas.microsoft.com/office/powerpoint/2010/main" val="1406242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39B0F-C520-4DD0-8E73-314AD2C9F57C}"/>
              </a:ext>
            </a:extLst>
          </p:cNvPr>
          <p:cNvSpPr>
            <a:spLocks noGrp="1"/>
          </p:cNvSpPr>
          <p:nvPr>
            <p:ph type="title"/>
          </p:nvPr>
        </p:nvSpPr>
        <p:spPr/>
        <p:txBody>
          <a:bodyPr/>
          <a:lstStyle/>
          <a:p>
            <a:r>
              <a:rPr lang="en-US" dirty="0"/>
              <a:t>High Level Programming Languages</a:t>
            </a:r>
          </a:p>
        </p:txBody>
      </p:sp>
      <p:sp>
        <p:nvSpPr>
          <p:cNvPr id="3" name="Content Placeholder 2">
            <a:extLst>
              <a:ext uri="{FF2B5EF4-FFF2-40B4-BE49-F238E27FC236}">
                <a16:creationId xmlns:a16="http://schemas.microsoft.com/office/drawing/2014/main" id="{FC980D90-BD38-47EE-910D-5FB8ED00641A}"/>
              </a:ext>
            </a:extLst>
          </p:cNvPr>
          <p:cNvSpPr>
            <a:spLocks noGrp="1"/>
          </p:cNvSpPr>
          <p:nvPr>
            <p:ph idx="1"/>
          </p:nvPr>
        </p:nvSpPr>
        <p:spPr/>
        <p:txBody>
          <a:bodyPr>
            <a:noAutofit/>
          </a:bodyPr>
          <a:lstStyle/>
          <a:p>
            <a:r>
              <a:rPr lang="en-US" sz="2800" dirty="0"/>
              <a:t>High-level programming languages are so-called third-generation languages,</a:t>
            </a:r>
          </a:p>
          <a:p>
            <a:pPr lvl="1"/>
            <a:r>
              <a:rPr lang="en-US" sz="2600" dirty="0"/>
              <a:t> whereas low-level languages can be described as first-generation (machine code) and</a:t>
            </a:r>
          </a:p>
          <a:p>
            <a:pPr lvl="1"/>
            <a:r>
              <a:rPr lang="en-US" sz="2600" dirty="0"/>
              <a:t> second-generation (assembly language) languages. </a:t>
            </a:r>
          </a:p>
          <a:p>
            <a:endParaRPr lang="en-US" sz="2800" dirty="0"/>
          </a:p>
          <a:p>
            <a:r>
              <a:rPr lang="en-US" sz="2800" dirty="0"/>
              <a:t>This is because high-level programming languages were invented after machine code and assembly language.</a:t>
            </a:r>
          </a:p>
          <a:p>
            <a:endParaRPr lang="en-US" sz="2800" dirty="0"/>
          </a:p>
          <a:p>
            <a:r>
              <a:rPr lang="en-US" sz="2800" dirty="0"/>
              <a:t>. </a:t>
            </a:r>
          </a:p>
          <a:p>
            <a:endParaRPr lang="en-US" sz="2800" dirty="0"/>
          </a:p>
        </p:txBody>
      </p:sp>
    </p:spTree>
    <p:extLst>
      <p:ext uri="{BB962C8B-B14F-4D97-AF65-F5344CB8AC3E}">
        <p14:creationId xmlns:p14="http://schemas.microsoft.com/office/powerpoint/2010/main" val="341159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310D5-16B1-41B5-9383-1EFFE19E80FD}"/>
              </a:ext>
            </a:extLst>
          </p:cNvPr>
          <p:cNvSpPr>
            <a:spLocks noGrp="1"/>
          </p:cNvSpPr>
          <p:nvPr>
            <p:ph type="title"/>
          </p:nvPr>
        </p:nvSpPr>
        <p:spPr/>
        <p:txBody>
          <a:bodyPr/>
          <a:lstStyle/>
          <a:p>
            <a:r>
              <a:rPr lang="en-US" dirty="0"/>
              <a:t>High Level Languages</a:t>
            </a:r>
          </a:p>
        </p:txBody>
      </p:sp>
      <p:sp>
        <p:nvSpPr>
          <p:cNvPr id="3" name="Content Placeholder 2">
            <a:extLst>
              <a:ext uri="{FF2B5EF4-FFF2-40B4-BE49-F238E27FC236}">
                <a16:creationId xmlns:a16="http://schemas.microsoft.com/office/drawing/2014/main" id="{7B1005C6-57D3-4C41-BA6F-C4B0A9BDAEAC}"/>
              </a:ext>
            </a:extLst>
          </p:cNvPr>
          <p:cNvSpPr>
            <a:spLocks noGrp="1"/>
          </p:cNvSpPr>
          <p:nvPr>
            <p:ph idx="1"/>
          </p:nvPr>
        </p:nvSpPr>
        <p:spPr>
          <a:xfrm>
            <a:off x="1097280" y="1845733"/>
            <a:ext cx="10058400" cy="4488805"/>
          </a:xfrm>
        </p:spPr>
        <p:txBody>
          <a:bodyPr>
            <a:noAutofit/>
          </a:bodyPr>
          <a:lstStyle/>
          <a:p>
            <a:pPr>
              <a:buFont typeface="Wingdings" panose="05000000000000000000" pitchFamily="2" charset="2"/>
              <a:buChar char="v"/>
            </a:pPr>
            <a:r>
              <a:rPr lang="en-US" sz="2600" dirty="0"/>
              <a:t>High level language is much closer to human language</a:t>
            </a:r>
          </a:p>
          <a:p>
            <a:pPr>
              <a:buFont typeface="Wingdings" panose="05000000000000000000" pitchFamily="2" charset="2"/>
              <a:buChar char="v"/>
            </a:pPr>
            <a:endParaRPr lang="en-US" sz="2600" dirty="0"/>
          </a:p>
          <a:p>
            <a:pPr>
              <a:buFont typeface="Wingdings" panose="05000000000000000000" pitchFamily="2" charset="2"/>
              <a:buChar char="v"/>
            </a:pPr>
            <a:r>
              <a:rPr lang="en-US" sz="2800" dirty="0"/>
              <a:t>High level languages are written in a form that is close to our human language, enabling to programmer to just focus on the problem being solved.</a:t>
            </a:r>
          </a:p>
          <a:p>
            <a:pPr marL="0" indent="0">
              <a:buNone/>
            </a:pPr>
            <a:endParaRPr lang="en-US" sz="2600" dirty="0"/>
          </a:p>
          <a:p>
            <a:pPr>
              <a:buFont typeface="Wingdings" panose="05000000000000000000" pitchFamily="2" charset="2"/>
              <a:buChar char="v"/>
            </a:pPr>
            <a:r>
              <a:rPr lang="en-US" sz="2600" dirty="0"/>
              <a:t>High level languages are often not dependent of the particular type of computer used (i.e. more portable) and has its own set of rules called syntax. </a:t>
            </a:r>
          </a:p>
          <a:p>
            <a:endParaRPr lang="en-US" sz="2600" dirty="0"/>
          </a:p>
        </p:txBody>
      </p:sp>
    </p:spTree>
    <p:extLst>
      <p:ext uri="{BB962C8B-B14F-4D97-AF65-F5344CB8AC3E}">
        <p14:creationId xmlns:p14="http://schemas.microsoft.com/office/powerpoint/2010/main" val="3607447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310D5-16B1-41B5-9383-1EFFE19E80FD}"/>
              </a:ext>
            </a:extLst>
          </p:cNvPr>
          <p:cNvSpPr>
            <a:spLocks noGrp="1"/>
          </p:cNvSpPr>
          <p:nvPr>
            <p:ph type="title"/>
          </p:nvPr>
        </p:nvSpPr>
        <p:spPr/>
        <p:txBody>
          <a:bodyPr/>
          <a:lstStyle/>
          <a:p>
            <a:r>
              <a:rPr lang="en-US" dirty="0"/>
              <a:t>High Level Languages</a:t>
            </a:r>
          </a:p>
        </p:txBody>
      </p:sp>
      <p:sp>
        <p:nvSpPr>
          <p:cNvPr id="3" name="Content Placeholder 2">
            <a:extLst>
              <a:ext uri="{FF2B5EF4-FFF2-40B4-BE49-F238E27FC236}">
                <a16:creationId xmlns:a16="http://schemas.microsoft.com/office/drawing/2014/main" id="{7B1005C6-57D3-4C41-BA6F-C4B0A9BDAEAC}"/>
              </a:ext>
            </a:extLst>
          </p:cNvPr>
          <p:cNvSpPr>
            <a:spLocks noGrp="1"/>
          </p:cNvSpPr>
          <p:nvPr>
            <p:ph idx="1"/>
          </p:nvPr>
        </p:nvSpPr>
        <p:spPr>
          <a:xfrm>
            <a:off x="1097280" y="1845733"/>
            <a:ext cx="10058400" cy="4488805"/>
          </a:xfrm>
        </p:spPr>
        <p:txBody>
          <a:bodyPr>
            <a:noAutofit/>
          </a:bodyPr>
          <a:lstStyle/>
          <a:p>
            <a:endParaRPr lang="en-US" sz="2600" dirty="0"/>
          </a:p>
          <a:p>
            <a:pPr>
              <a:buFont typeface="Wingdings" panose="05000000000000000000" pitchFamily="2" charset="2"/>
              <a:buChar char="v"/>
            </a:pPr>
            <a:r>
              <a:rPr lang="en-US" sz="2600" dirty="0"/>
              <a:t>Its main advantage is that it is easier to read, write and maintain. </a:t>
            </a:r>
          </a:p>
          <a:p>
            <a:pPr>
              <a:buFont typeface="Wingdings" panose="05000000000000000000" pitchFamily="2" charset="2"/>
              <a:buChar char="v"/>
            </a:pPr>
            <a:endParaRPr lang="en-US" sz="2600" dirty="0"/>
          </a:p>
          <a:p>
            <a:pPr>
              <a:buFont typeface="Wingdings" panose="05000000000000000000" pitchFamily="2" charset="2"/>
              <a:buChar char="v"/>
            </a:pPr>
            <a:r>
              <a:rPr lang="en-US" sz="2600" dirty="0"/>
              <a:t>The first high level programming languages were designed in the 1950s. </a:t>
            </a:r>
          </a:p>
          <a:p>
            <a:pPr>
              <a:buFont typeface="Wingdings" panose="05000000000000000000" pitchFamily="2" charset="2"/>
              <a:buChar char="v"/>
            </a:pPr>
            <a:endParaRPr lang="en-US" sz="2600" dirty="0"/>
          </a:p>
          <a:p>
            <a:pPr>
              <a:buFont typeface="Wingdings" panose="05000000000000000000" pitchFamily="2" charset="2"/>
              <a:buChar char="v"/>
            </a:pPr>
            <a:endParaRPr lang="en-US" sz="2600" dirty="0"/>
          </a:p>
          <a:p>
            <a:pPr>
              <a:buFont typeface="Wingdings" panose="05000000000000000000" pitchFamily="2" charset="2"/>
              <a:buChar char="v"/>
            </a:pPr>
            <a:r>
              <a:rPr lang="en-US" sz="2600" dirty="0"/>
              <a:t>Now there are dozens of such languages available such as BASIC, COBOL, C, C++, FORTRAN, LISP, PASCAL, prolog, etc.</a:t>
            </a:r>
          </a:p>
        </p:txBody>
      </p:sp>
    </p:spTree>
    <p:extLst>
      <p:ext uri="{BB962C8B-B14F-4D97-AF65-F5344CB8AC3E}">
        <p14:creationId xmlns:p14="http://schemas.microsoft.com/office/powerpoint/2010/main" val="397176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1E78-9420-4ADA-B0CB-B9C254AD1825}"/>
              </a:ext>
            </a:extLst>
          </p:cNvPr>
          <p:cNvSpPr>
            <a:spLocks noGrp="1"/>
          </p:cNvSpPr>
          <p:nvPr>
            <p:ph type="title"/>
          </p:nvPr>
        </p:nvSpPr>
        <p:spPr/>
        <p:txBody>
          <a:bodyPr/>
          <a:lstStyle/>
          <a:p>
            <a:r>
              <a:rPr lang="en-US" dirty="0"/>
              <a:t>Compilers and Interpreters</a:t>
            </a:r>
          </a:p>
        </p:txBody>
      </p:sp>
      <p:sp>
        <p:nvSpPr>
          <p:cNvPr id="3" name="Content Placeholder 2">
            <a:extLst>
              <a:ext uri="{FF2B5EF4-FFF2-40B4-BE49-F238E27FC236}">
                <a16:creationId xmlns:a16="http://schemas.microsoft.com/office/drawing/2014/main" id="{BBC27EB6-CE5B-4A91-B7C6-A2B3B9ADD386}"/>
              </a:ext>
            </a:extLst>
          </p:cNvPr>
          <p:cNvSpPr>
            <a:spLocks noGrp="1"/>
          </p:cNvSpPr>
          <p:nvPr>
            <p:ph idx="1"/>
          </p:nvPr>
        </p:nvSpPr>
        <p:spPr/>
        <p:txBody>
          <a:bodyPr>
            <a:normAutofit/>
          </a:bodyPr>
          <a:lstStyle/>
          <a:p>
            <a:r>
              <a:rPr lang="en-US" sz="2800" b="1" dirty="0"/>
              <a:t>Compiler or interpreter is used to convert high level language to machine language</a:t>
            </a:r>
            <a:r>
              <a:rPr lang="en-US" sz="2800" dirty="0"/>
              <a:t>.</a:t>
            </a:r>
          </a:p>
        </p:txBody>
      </p:sp>
      <p:pic>
        <p:nvPicPr>
          <p:cNvPr id="5" name="Picture 4">
            <a:extLst>
              <a:ext uri="{FF2B5EF4-FFF2-40B4-BE49-F238E27FC236}">
                <a16:creationId xmlns:a16="http://schemas.microsoft.com/office/drawing/2014/main" id="{ABF8D729-712B-42D8-8B3A-9FC9DFBF336E}"/>
              </a:ext>
            </a:extLst>
          </p:cNvPr>
          <p:cNvPicPr>
            <a:picLocks noChangeAspect="1"/>
          </p:cNvPicPr>
          <p:nvPr/>
        </p:nvPicPr>
        <p:blipFill rotWithShape="1">
          <a:blip r:embed="rId2"/>
          <a:srcRect l="29456" t="48115" r="31304" b="31005"/>
          <a:stretch/>
        </p:blipFill>
        <p:spPr>
          <a:xfrm>
            <a:off x="779228" y="2821718"/>
            <a:ext cx="10186137" cy="3047376"/>
          </a:xfrm>
          <a:prstGeom prst="rect">
            <a:avLst/>
          </a:prstGeom>
        </p:spPr>
      </p:pic>
    </p:spTree>
    <p:extLst>
      <p:ext uri="{BB962C8B-B14F-4D97-AF65-F5344CB8AC3E}">
        <p14:creationId xmlns:p14="http://schemas.microsoft.com/office/powerpoint/2010/main" val="3632440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DB0B7-0DAA-464C-99DE-3B49D6F401F5}"/>
              </a:ext>
            </a:extLst>
          </p:cNvPr>
          <p:cNvSpPr>
            <a:spLocks noGrp="1"/>
          </p:cNvSpPr>
          <p:nvPr>
            <p:ph type="title"/>
          </p:nvPr>
        </p:nvSpPr>
        <p:spPr/>
        <p:txBody>
          <a:bodyPr/>
          <a:lstStyle/>
          <a:p>
            <a:r>
              <a:rPr lang="en-US" dirty="0"/>
              <a:t>Advantages of High Level Languages</a:t>
            </a:r>
          </a:p>
        </p:txBody>
      </p:sp>
      <p:sp>
        <p:nvSpPr>
          <p:cNvPr id="3" name="Content Placeholder 2">
            <a:extLst>
              <a:ext uri="{FF2B5EF4-FFF2-40B4-BE49-F238E27FC236}">
                <a16:creationId xmlns:a16="http://schemas.microsoft.com/office/drawing/2014/main" id="{9F9A1A74-F3ED-4A26-B96F-7933E857D3C3}"/>
              </a:ext>
            </a:extLst>
          </p:cNvPr>
          <p:cNvSpPr>
            <a:spLocks noGrp="1"/>
          </p:cNvSpPr>
          <p:nvPr>
            <p:ph idx="1"/>
          </p:nvPr>
        </p:nvSpPr>
        <p:spPr>
          <a:xfrm>
            <a:off x="1097279" y="1845734"/>
            <a:ext cx="10842929" cy="4023360"/>
          </a:xfrm>
        </p:spPr>
        <p:txBody>
          <a:bodyPr>
            <a:noAutofit/>
          </a:bodyPr>
          <a:lstStyle/>
          <a:p>
            <a:r>
              <a:rPr lang="en-US" sz="2800" b="1" dirty="0"/>
              <a:t>1. Easy to Use and Understand : </a:t>
            </a:r>
            <a:r>
              <a:rPr lang="en-US" sz="2800" dirty="0"/>
              <a:t>High level language uses English like words and they are closer to natural language which makes easy to learn and understand. Programmer need not to understand detailed computer architecture for writing programs using high level language.</a:t>
            </a:r>
          </a:p>
          <a:p>
            <a:endParaRPr lang="en-US" sz="2800" dirty="0"/>
          </a:p>
          <a:p>
            <a:pPr marL="0" indent="0">
              <a:buNone/>
            </a:pPr>
            <a:endParaRPr lang="en-US" sz="2800" dirty="0"/>
          </a:p>
          <a:p>
            <a:r>
              <a:rPr lang="en-US" sz="2800" b="1" dirty="0"/>
              <a:t>2. Machine Independent : </a:t>
            </a:r>
            <a:r>
              <a:rPr lang="en-US" sz="2800" dirty="0"/>
              <a:t>Programs written in high level language are portable and hence program written using high level language can be executed on any type of computer with little or no modification at all.</a:t>
            </a:r>
          </a:p>
          <a:p>
            <a:endParaRPr lang="en-US" sz="2800" dirty="0"/>
          </a:p>
        </p:txBody>
      </p:sp>
    </p:spTree>
    <p:extLst>
      <p:ext uri="{BB962C8B-B14F-4D97-AF65-F5344CB8AC3E}">
        <p14:creationId xmlns:p14="http://schemas.microsoft.com/office/powerpoint/2010/main" val="2112462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DB0B7-0DAA-464C-99DE-3B49D6F401F5}"/>
              </a:ext>
            </a:extLst>
          </p:cNvPr>
          <p:cNvSpPr>
            <a:spLocks noGrp="1"/>
          </p:cNvSpPr>
          <p:nvPr>
            <p:ph type="title"/>
          </p:nvPr>
        </p:nvSpPr>
        <p:spPr/>
        <p:txBody>
          <a:bodyPr/>
          <a:lstStyle/>
          <a:p>
            <a:r>
              <a:rPr lang="en-US" dirty="0"/>
              <a:t>Advantages of High Level Languages</a:t>
            </a:r>
          </a:p>
        </p:txBody>
      </p:sp>
      <p:sp>
        <p:nvSpPr>
          <p:cNvPr id="3" name="Content Placeholder 2">
            <a:extLst>
              <a:ext uri="{FF2B5EF4-FFF2-40B4-BE49-F238E27FC236}">
                <a16:creationId xmlns:a16="http://schemas.microsoft.com/office/drawing/2014/main" id="{9F9A1A74-F3ED-4A26-B96F-7933E857D3C3}"/>
              </a:ext>
            </a:extLst>
          </p:cNvPr>
          <p:cNvSpPr>
            <a:spLocks noGrp="1"/>
          </p:cNvSpPr>
          <p:nvPr>
            <p:ph idx="1"/>
          </p:nvPr>
        </p:nvSpPr>
        <p:spPr>
          <a:xfrm>
            <a:off x="1097280" y="1845734"/>
            <a:ext cx="10058400" cy="4422544"/>
          </a:xfrm>
        </p:spPr>
        <p:txBody>
          <a:bodyPr>
            <a:noAutofit/>
          </a:bodyPr>
          <a:lstStyle/>
          <a:p>
            <a:endParaRPr lang="en-US" sz="2800" dirty="0"/>
          </a:p>
          <a:p>
            <a:r>
              <a:rPr lang="en-US" sz="2800" b="1" dirty="0"/>
              <a:t>3. Debugging is Easy : </a:t>
            </a:r>
            <a:r>
              <a:rPr lang="en-US" sz="2800" dirty="0"/>
              <a:t>High level language makes easier to write and debug a program and gives the programmer time to think about overall logic rather than thinking about program code. Because of the use of compilers and interpreters, errors can be detected and located easily.</a:t>
            </a:r>
          </a:p>
          <a:p>
            <a:endParaRPr lang="en-US" sz="2800" dirty="0"/>
          </a:p>
          <a:p>
            <a:r>
              <a:rPr lang="en-US" sz="2800" b="1" dirty="0"/>
              <a:t>4. Easy to Maintain Program :</a:t>
            </a:r>
            <a:r>
              <a:rPr lang="en-US" sz="2800" dirty="0"/>
              <a:t> Modification and maintenance of program written in high level language is easy compared low level language.</a:t>
            </a:r>
          </a:p>
        </p:txBody>
      </p:sp>
    </p:spTree>
    <p:extLst>
      <p:ext uri="{BB962C8B-B14F-4D97-AF65-F5344CB8AC3E}">
        <p14:creationId xmlns:p14="http://schemas.microsoft.com/office/powerpoint/2010/main" val="4227800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DB0B7-0DAA-464C-99DE-3B49D6F401F5}"/>
              </a:ext>
            </a:extLst>
          </p:cNvPr>
          <p:cNvSpPr>
            <a:spLocks noGrp="1"/>
          </p:cNvSpPr>
          <p:nvPr>
            <p:ph type="title"/>
          </p:nvPr>
        </p:nvSpPr>
        <p:spPr/>
        <p:txBody>
          <a:bodyPr/>
          <a:lstStyle/>
          <a:p>
            <a:r>
              <a:rPr lang="en-US" dirty="0"/>
              <a:t>Disadvantages of High Level Languages</a:t>
            </a:r>
          </a:p>
        </p:txBody>
      </p:sp>
      <p:sp>
        <p:nvSpPr>
          <p:cNvPr id="3" name="Content Placeholder 2">
            <a:extLst>
              <a:ext uri="{FF2B5EF4-FFF2-40B4-BE49-F238E27FC236}">
                <a16:creationId xmlns:a16="http://schemas.microsoft.com/office/drawing/2014/main" id="{9F9A1A74-F3ED-4A26-B96F-7933E857D3C3}"/>
              </a:ext>
            </a:extLst>
          </p:cNvPr>
          <p:cNvSpPr>
            <a:spLocks noGrp="1"/>
          </p:cNvSpPr>
          <p:nvPr>
            <p:ph idx="1"/>
          </p:nvPr>
        </p:nvSpPr>
        <p:spPr>
          <a:xfrm>
            <a:off x="1097280" y="1845734"/>
            <a:ext cx="10058400" cy="4422544"/>
          </a:xfrm>
        </p:spPr>
        <p:txBody>
          <a:bodyPr>
            <a:noAutofit/>
          </a:bodyPr>
          <a:lstStyle/>
          <a:p>
            <a:r>
              <a:rPr lang="en-US" sz="2400" b="1" dirty="0"/>
              <a:t>1</a:t>
            </a:r>
            <a:r>
              <a:rPr lang="en-US" sz="2800" b="1" dirty="0"/>
              <a:t>. Poor Control on Hardware:</a:t>
            </a:r>
            <a:r>
              <a:rPr lang="en-US" sz="2800" dirty="0"/>
              <a:t> Since high level languages are away from hardware and programmer does not need to be aware of hardware, accessing and controlling hardware directly is difficult.</a:t>
            </a:r>
          </a:p>
          <a:p>
            <a:endParaRPr lang="en-US" sz="2800" dirty="0"/>
          </a:p>
          <a:p>
            <a:r>
              <a:rPr lang="en-US" sz="2800" dirty="0"/>
              <a:t>2. </a:t>
            </a:r>
            <a:r>
              <a:rPr lang="en-US" sz="2800" b="1" dirty="0"/>
              <a:t>Slow Execution:</a:t>
            </a:r>
            <a:r>
              <a:rPr lang="en-US" sz="2800" dirty="0"/>
              <a:t> Program written in high level language need to be translated to machine language. This translation process increases the execution time of program.</a:t>
            </a:r>
          </a:p>
        </p:txBody>
      </p:sp>
    </p:spTree>
    <p:extLst>
      <p:ext uri="{BB962C8B-B14F-4D97-AF65-F5344CB8AC3E}">
        <p14:creationId xmlns:p14="http://schemas.microsoft.com/office/powerpoint/2010/main" val="3812925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D866A-CFBE-44E7-9142-B6CCF256C59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63724F4-3DE8-49FA-A337-DE707AD06AB7}"/>
              </a:ext>
            </a:extLst>
          </p:cNvPr>
          <p:cNvPicPr>
            <a:picLocks noGrp="1" noChangeAspect="1"/>
          </p:cNvPicPr>
          <p:nvPr>
            <p:ph idx="1"/>
          </p:nvPr>
        </p:nvPicPr>
        <p:blipFill rotWithShape="1">
          <a:blip r:embed="rId2"/>
          <a:srcRect l="16525" t="36848" r="34068" b="14597"/>
          <a:stretch/>
        </p:blipFill>
        <p:spPr>
          <a:xfrm>
            <a:off x="561020" y="365125"/>
            <a:ext cx="11069960" cy="6116556"/>
          </a:xfrm>
        </p:spPr>
      </p:pic>
    </p:spTree>
    <p:extLst>
      <p:ext uri="{BB962C8B-B14F-4D97-AF65-F5344CB8AC3E}">
        <p14:creationId xmlns:p14="http://schemas.microsoft.com/office/powerpoint/2010/main" val="4080529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3095-8024-4479-AB42-9DC786333165}"/>
              </a:ext>
            </a:extLst>
          </p:cNvPr>
          <p:cNvSpPr>
            <a:spLocks noGrp="1"/>
          </p:cNvSpPr>
          <p:nvPr>
            <p:ph type="title"/>
          </p:nvPr>
        </p:nvSpPr>
        <p:spPr/>
        <p:txBody>
          <a:bodyPr/>
          <a:lstStyle/>
          <a:p>
            <a:r>
              <a:rPr lang="en-US" dirty="0"/>
              <a:t>Language Translators</a:t>
            </a:r>
          </a:p>
        </p:txBody>
      </p:sp>
      <p:sp>
        <p:nvSpPr>
          <p:cNvPr id="3" name="Content Placeholder 2">
            <a:extLst>
              <a:ext uri="{FF2B5EF4-FFF2-40B4-BE49-F238E27FC236}">
                <a16:creationId xmlns:a16="http://schemas.microsoft.com/office/drawing/2014/main" id="{55CF6F8B-939A-40B8-8264-45174B85353E}"/>
              </a:ext>
            </a:extLst>
          </p:cNvPr>
          <p:cNvSpPr>
            <a:spLocks noGrp="1"/>
          </p:cNvSpPr>
          <p:nvPr>
            <p:ph idx="1"/>
          </p:nvPr>
        </p:nvSpPr>
        <p:spPr>
          <a:xfrm>
            <a:off x="1097279" y="1845734"/>
            <a:ext cx="10750163" cy="4369536"/>
          </a:xfrm>
        </p:spPr>
        <p:txBody>
          <a:bodyPr>
            <a:normAutofit fontScale="92500" lnSpcReduction="10000"/>
          </a:bodyPr>
          <a:lstStyle/>
          <a:p>
            <a:pPr algn="l"/>
            <a:endParaRPr lang="en-US" sz="1800" b="0" i="0" u="none" strike="noStrike" baseline="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Calibri" panose="020F0502020204030204" pitchFamily="34" charset="0"/>
              </a:rPr>
              <a:t>Language translators are generally used by Computer Programmers.</a:t>
            </a:r>
          </a:p>
          <a:p>
            <a:pPr>
              <a:buFont typeface="Wingdings" panose="05000000000000000000" pitchFamily="2" charset="2"/>
              <a:buChar char="v"/>
            </a:pPr>
            <a:endParaRPr lang="en-US" sz="2800" b="0" i="0" u="none" strike="noStrike" baseline="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These programmers normally write Computer Programs using languages such as COBOL, FORTRAN, C++, Visual Basic, </a:t>
            </a:r>
            <a:r>
              <a:rPr lang="en-US" sz="2800" b="0" i="0" u="none" strike="noStrike" baseline="0" dirty="0" err="1">
                <a:solidFill>
                  <a:srgbClr val="000000"/>
                </a:solidFill>
                <a:latin typeface="Calibri" panose="020F0502020204030204" pitchFamily="34" charset="0"/>
              </a:rPr>
              <a:t>etc</a:t>
            </a:r>
            <a:r>
              <a:rPr lang="en-US" sz="2800" b="0" i="0" u="none" strike="noStrike" baseline="0" dirty="0">
                <a:solidFill>
                  <a:srgbClr val="000000"/>
                </a:solidFill>
                <a:latin typeface="Calibri" panose="020F0502020204030204" pitchFamily="34" charset="0"/>
              </a:rPr>
              <a:t> in which instructions are written close to mathematical and English-like expressions. </a:t>
            </a:r>
          </a:p>
          <a:p>
            <a:pPr>
              <a:buFont typeface="Wingdings" panose="05000000000000000000" pitchFamily="2" charset="2"/>
              <a:buChar char="v"/>
            </a:pPr>
            <a:r>
              <a:rPr lang="en-US" sz="2800" b="0" i="0" u="none" strike="noStrike" baseline="0" dirty="0">
                <a:solidFill>
                  <a:srgbClr val="000000"/>
                </a:solidFill>
                <a:latin typeface="Calibri" panose="020F0502020204030204" pitchFamily="34" charset="0"/>
              </a:rPr>
              <a:t>E.g. </a:t>
            </a:r>
            <a:r>
              <a:rPr lang="en-US" sz="2800" b="0" i="0" u="none" strike="noStrike" baseline="0" dirty="0" err="1">
                <a:solidFill>
                  <a:srgbClr val="000000"/>
                </a:solidFill>
                <a:latin typeface="Calibri" panose="020F0502020204030204" pitchFamily="34" charset="0"/>
              </a:rPr>
              <a:t>NetPay</a:t>
            </a:r>
            <a:r>
              <a:rPr lang="en-US" sz="2800" b="0" i="0" u="none" strike="noStrike" baseline="0" dirty="0">
                <a:solidFill>
                  <a:srgbClr val="000000"/>
                </a:solidFill>
                <a:latin typeface="Calibri" panose="020F0502020204030204" pitchFamily="34" charset="0"/>
              </a:rPr>
              <a:t>= </a:t>
            </a:r>
            <a:r>
              <a:rPr lang="en-US" sz="2800" b="0" i="0" u="none" strike="noStrike" baseline="0" dirty="0" err="1">
                <a:solidFill>
                  <a:srgbClr val="000000"/>
                </a:solidFill>
                <a:latin typeface="Calibri" panose="020F0502020204030204" pitchFamily="34" charset="0"/>
              </a:rPr>
              <a:t>GrossPay</a:t>
            </a:r>
            <a:r>
              <a:rPr lang="en-US" sz="2800" b="0" i="0" u="none" strike="noStrike" baseline="0" dirty="0">
                <a:solidFill>
                  <a:srgbClr val="000000"/>
                </a:solidFill>
                <a:latin typeface="Calibri" panose="020F0502020204030204" pitchFamily="34" charset="0"/>
              </a:rPr>
              <a:t>-Deductions</a:t>
            </a:r>
          </a:p>
          <a:p>
            <a:pPr>
              <a:buFont typeface="Wingdings" panose="05000000000000000000" pitchFamily="2" charset="2"/>
              <a:buChar char="v"/>
            </a:pPr>
            <a:endParaRPr lang="en-US" sz="2800" b="0" i="0" u="none" strike="noStrike" baseline="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These instructions tend to be meaningful to the programmer and not the computer as the computer understands only the machine language. </a:t>
            </a:r>
          </a:p>
          <a:p>
            <a:endParaRPr lang="en-US" dirty="0"/>
          </a:p>
        </p:txBody>
      </p:sp>
    </p:spTree>
    <p:extLst>
      <p:ext uri="{BB962C8B-B14F-4D97-AF65-F5344CB8AC3E}">
        <p14:creationId xmlns:p14="http://schemas.microsoft.com/office/powerpoint/2010/main" val="70680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BEA58-C8B0-4C67-8A24-268529593387}"/>
              </a:ext>
            </a:extLst>
          </p:cNvPr>
          <p:cNvSpPr>
            <a:spLocks noGrp="1"/>
          </p:cNvSpPr>
          <p:nvPr>
            <p:ph type="title"/>
          </p:nvPr>
        </p:nvSpPr>
        <p:spPr/>
        <p:txBody>
          <a:bodyPr/>
          <a:lstStyle/>
          <a:p>
            <a:r>
              <a:rPr lang="en-US" dirty="0"/>
              <a:t>Language Translators</a:t>
            </a:r>
          </a:p>
        </p:txBody>
      </p:sp>
      <p:sp>
        <p:nvSpPr>
          <p:cNvPr id="3" name="Content Placeholder 2">
            <a:extLst>
              <a:ext uri="{FF2B5EF4-FFF2-40B4-BE49-F238E27FC236}">
                <a16:creationId xmlns:a16="http://schemas.microsoft.com/office/drawing/2014/main" id="{B7707E4F-6C3D-4666-9A98-D5D8185BE6DC}"/>
              </a:ext>
            </a:extLst>
          </p:cNvPr>
          <p:cNvSpPr>
            <a:spLocks noGrp="1"/>
          </p:cNvSpPr>
          <p:nvPr>
            <p:ph idx="1"/>
          </p:nvPr>
        </p:nvSpPr>
        <p:spPr>
          <a:xfrm>
            <a:off x="1097280" y="1845733"/>
            <a:ext cx="10058400" cy="4608075"/>
          </a:xfrm>
        </p:spPr>
        <p:txBody>
          <a:bodyPr>
            <a:noAutofit/>
          </a:bodyPr>
          <a:lstStyle/>
          <a:p>
            <a:r>
              <a:rPr lang="en-US" sz="2800" b="0" i="0" u="none" strike="noStrike" baseline="0" dirty="0">
                <a:solidFill>
                  <a:srgbClr val="000000"/>
                </a:solidFill>
                <a:latin typeface="Times New Roman" panose="02020603050405020304" pitchFamily="18" charset="0"/>
                <a:cs typeface="Times New Roman" panose="02020603050405020304" pitchFamily="18" charset="0"/>
              </a:rPr>
              <a:t>Since the program is not in the language that the Computer has been designed to understand, there is the need to have a program translator.</a:t>
            </a:r>
          </a:p>
          <a:p>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•A program translator may be defined as any computer package capable of translating a source program written in either a high level language or an assembly language into a machine language. </a:t>
            </a:r>
          </a:p>
          <a:p>
            <a:endParaRPr lang="en-US" sz="28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800" b="0" i="0" u="none" strike="noStrike" baseline="0" dirty="0">
                <a:solidFill>
                  <a:srgbClr val="000000"/>
                </a:solidFill>
                <a:latin typeface="Times New Roman" panose="02020603050405020304" pitchFamily="18" charset="0"/>
                <a:cs typeface="Times New Roman" panose="02020603050405020304" pitchFamily="18" charset="0"/>
              </a:rPr>
              <a:t>•</a:t>
            </a:r>
            <a:r>
              <a:rPr lang="en-US" sz="2800" b="1" i="0" u="none" strike="noStrike" baseline="0" dirty="0">
                <a:solidFill>
                  <a:srgbClr val="000000"/>
                </a:solidFill>
                <a:latin typeface="Times New Roman" panose="02020603050405020304" pitchFamily="18" charset="0"/>
                <a:cs typeface="Times New Roman" panose="02020603050405020304" pitchFamily="18" charset="0"/>
              </a:rPr>
              <a:t>There are three types of program translators namely Compilers, Interpreters and Assemblers. </a:t>
            </a:r>
          </a:p>
          <a:p>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0714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BDC6D-0265-4745-8DF4-578D4EBD1E56}"/>
              </a:ext>
            </a:extLst>
          </p:cNvPr>
          <p:cNvSpPr>
            <a:spLocks noGrp="1"/>
          </p:cNvSpPr>
          <p:nvPr>
            <p:ph type="title"/>
          </p:nvPr>
        </p:nvSpPr>
        <p:spPr/>
        <p:txBody>
          <a:bodyPr/>
          <a:lstStyle/>
          <a:p>
            <a:r>
              <a:rPr lang="en-US" dirty="0"/>
              <a:t>Interpreter</a:t>
            </a:r>
          </a:p>
        </p:txBody>
      </p:sp>
      <p:sp>
        <p:nvSpPr>
          <p:cNvPr id="3" name="Content Placeholder 2">
            <a:extLst>
              <a:ext uri="{FF2B5EF4-FFF2-40B4-BE49-F238E27FC236}">
                <a16:creationId xmlns:a16="http://schemas.microsoft.com/office/drawing/2014/main" id="{A5D0A480-3CBD-4DAA-9E3F-2972F8517F20}"/>
              </a:ext>
            </a:extLst>
          </p:cNvPr>
          <p:cNvSpPr>
            <a:spLocks noGrp="1"/>
          </p:cNvSpPr>
          <p:nvPr>
            <p:ph idx="1"/>
          </p:nvPr>
        </p:nvSpPr>
        <p:spPr>
          <a:xfrm>
            <a:off x="1097280" y="1845734"/>
            <a:ext cx="10604390" cy="4422544"/>
          </a:xfrm>
        </p:spPr>
        <p:txBody>
          <a:bodyPr>
            <a:noAutofit/>
          </a:bodyPr>
          <a:lstStyle/>
          <a:p>
            <a:r>
              <a:rPr lang="en-US" sz="2400" b="0" i="0" u="none" strike="noStrike" baseline="0" dirty="0">
                <a:solidFill>
                  <a:srgbClr val="000000"/>
                </a:solidFill>
                <a:latin typeface="Times New Roman" panose="02020603050405020304" pitchFamily="18" charset="0"/>
                <a:cs typeface="Times New Roman" panose="02020603050405020304" pitchFamily="18" charset="0"/>
              </a:rPr>
              <a:t>Every program instruction is translated or interpreted on each occasion the program is run (not just once initially as with assemblers and compilers).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•If any statement does not conform to or violates the rules or grammar (syntax) of the language an error message is displayed on the screen.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•Until this error is corrected, program execution cannot proceed and this has the disadvantage of slowing down the running of the program. </a:t>
            </a:r>
          </a:p>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•An interpreter, however, allows errors to be corrected more quickly than a compiler which prints a (long) list of errors which have to be corrected as a whole rather than individually before program execution can continue.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101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BDC6D-0265-4745-8DF4-578D4EBD1E56}"/>
              </a:ext>
            </a:extLst>
          </p:cNvPr>
          <p:cNvSpPr>
            <a:spLocks noGrp="1"/>
          </p:cNvSpPr>
          <p:nvPr>
            <p:ph type="title"/>
          </p:nvPr>
        </p:nvSpPr>
        <p:spPr/>
        <p:txBody>
          <a:bodyPr/>
          <a:lstStyle/>
          <a:p>
            <a:r>
              <a:rPr lang="en-US" dirty="0"/>
              <a:t>Interpreter</a:t>
            </a:r>
          </a:p>
        </p:txBody>
      </p:sp>
      <p:sp>
        <p:nvSpPr>
          <p:cNvPr id="3" name="Content Placeholder 2">
            <a:extLst>
              <a:ext uri="{FF2B5EF4-FFF2-40B4-BE49-F238E27FC236}">
                <a16:creationId xmlns:a16="http://schemas.microsoft.com/office/drawing/2014/main" id="{A5D0A480-3CBD-4DAA-9E3F-2972F8517F20}"/>
              </a:ext>
            </a:extLst>
          </p:cNvPr>
          <p:cNvSpPr>
            <a:spLocks noGrp="1"/>
          </p:cNvSpPr>
          <p:nvPr>
            <p:ph idx="1"/>
          </p:nvPr>
        </p:nvSpPr>
        <p:spPr>
          <a:xfrm>
            <a:off x="1097280" y="1845734"/>
            <a:ext cx="10604390" cy="4422544"/>
          </a:xfrm>
        </p:spPr>
        <p:txBody>
          <a:bodyPr>
            <a:noAutofit/>
          </a:bodyPr>
          <a:lstStyle/>
          <a:p>
            <a:endParaRPr lang="en-US" sz="2400"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b="0" i="0" u="none" strike="noStrike" baseline="0" dirty="0">
                <a:solidFill>
                  <a:srgbClr val="000000"/>
                </a:solidFill>
                <a:latin typeface="Times New Roman" panose="02020603050405020304" pitchFamily="18" charset="0"/>
                <a:cs typeface="Times New Roman" panose="02020603050405020304" pitchFamily="18" charset="0"/>
              </a:rPr>
              <a:t>•An interpreter, however, allows errors to be corrected more quickly than a compiler which prints a (long) list of errors which have to be corrected as a whole rather than individually before program execution can continue. </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0014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82B08-2CF9-4FCF-BC7F-56E108359423}"/>
              </a:ext>
            </a:extLst>
          </p:cNvPr>
          <p:cNvSpPr>
            <a:spLocks noGrp="1"/>
          </p:cNvSpPr>
          <p:nvPr>
            <p:ph type="title"/>
          </p:nvPr>
        </p:nvSpPr>
        <p:spPr/>
        <p:txBody>
          <a:bodyPr/>
          <a:lstStyle/>
          <a:p>
            <a:r>
              <a:rPr lang="en-US" sz="4800" b="0" i="0" u="none" strike="noStrike" baseline="0" dirty="0">
                <a:solidFill>
                  <a:srgbClr val="000000"/>
                </a:solidFill>
                <a:latin typeface="Calibri" panose="020F0502020204030204" pitchFamily="34" charset="0"/>
              </a:rPr>
              <a:t>ASSEMBLER </a:t>
            </a:r>
            <a:endParaRPr lang="en-US" dirty="0"/>
          </a:p>
        </p:txBody>
      </p:sp>
      <p:sp>
        <p:nvSpPr>
          <p:cNvPr id="3" name="Content Placeholder 2">
            <a:extLst>
              <a:ext uri="{FF2B5EF4-FFF2-40B4-BE49-F238E27FC236}">
                <a16:creationId xmlns:a16="http://schemas.microsoft.com/office/drawing/2014/main" id="{028017D3-EF97-4D99-8EDE-10840D071B98}"/>
              </a:ext>
            </a:extLst>
          </p:cNvPr>
          <p:cNvSpPr>
            <a:spLocks noGrp="1"/>
          </p:cNvSpPr>
          <p:nvPr>
            <p:ph idx="1"/>
          </p:nvPr>
        </p:nvSpPr>
        <p:spPr>
          <a:xfrm>
            <a:off x="1097280" y="1872237"/>
            <a:ext cx="10058400" cy="4475553"/>
          </a:xfrm>
        </p:spPr>
        <p:txBody>
          <a:bodyPr>
            <a:normAutofit lnSpcReduction="10000"/>
          </a:bodyPr>
          <a:lstStyle/>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•As mentioned earlier, </a:t>
            </a:r>
            <a:r>
              <a:rPr lang="en-US" sz="2800" b="0" i="0" u="none" strike="noStrike" baseline="0" dirty="0">
                <a:solidFill>
                  <a:srgbClr val="000000"/>
                </a:solidFill>
                <a:latin typeface="Calibri" panose="020F0502020204030204" pitchFamily="34" charset="0"/>
              </a:rPr>
              <a:t>This type of software translates and assembles a program written in assembly code into machine (object) code. </a:t>
            </a:r>
          </a:p>
          <a:p>
            <a:pPr>
              <a:buFont typeface="Wingdings" panose="05000000000000000000" pitchFamily="2" charset="2"/>
              <a:buChar char="v"/>
            </a:pPr>
            <a:endParaRPr lang="en-US" sz="2800" b="0" i="0" u="none" strike="noStrike" baseline="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The assembler translates the symbolic function codes into the equivalent machine operation code.</a:t>
            </a:r>
          </a:p>
          <a:p>
            <a:pPr>
              <a:buFont typeface="Wingdings" panose="05000000000000000000" pitchFamily="2" charset="2"/>
              <a:buChar char="v"/>
            </a:pPr>
            <a:r>
              <a:rPr lang="en-US" sz="2800" b="0" i="0" u="none" strike="noStrike" baseline="0" dirty="0">
                <a:solidFill>
                  <a:srgbClr val="000000"/>
                </a:solidFill>
                <a:latin typeface="Calibri" panose="020F0502020204030204" pitchFamily="34" charset="0"/>
              </a:rPr>
              <a:t>E.g. DIV SUM, NUMB</a:t>
            </a:r>
          </a:p>
          <a:p>
            <a:pPr>
              <a:buFont typeface="Wingdings" panose="05000000000000000000" pitchFamily="2" charset="2"/>
              <a:buChar char="v"/>
            </a:pPr>
            <a:endParaRPr lang="en-US" sz="2800" b="0" i="0" u="none" strike="noStrike" baseline="0" dirty="0">
              <a:solidFill>
                <a:srgbClr val="000000"/>
              </a:solidFill>
              <a:latin typeface="Calibri" panose="020F0502020204030204" pitchFamily="34" charset="0"/>
            </a:endParaRPr>
          </a:p>
          <a:p>
            <a:pPr>
              <a:buFont typeface="Wingdings" panose="05000000000000000000" pitchFamily="2" charset="2"/>
              <a:buChar char="v"/>
            </a:pPr>
            <a:r>
              <a:rPr lang="en-US" sz="2800" b="0" i="0" u="none" strike="noStrike" baseline="0" dirty="0">
                <a:solidFill>
                  <a:srgbClr val="000000"/>
                </a:solidFill>
                <a:latin typeface="Arial" panose="020B0604020202020204" pitchFamily="34" charset="0"/>
              </a:rPr>
              <a:t>•</a:t>
            </a:r>
            <a:r>
              <a:rPr lang="en-US" sz="2800" b="0" i="0" u="none" strike="noStrike" baseline="0" dirty="0">
                <a:solidFill>
                  <a:srgbClr val="000000"/>
                </a:solidFill>
                <a:latin typeface="Calibri" panose="020F0502020204030204" pitchFamily="34" charset="0"/>
              </a:rPr>
              <a:t>After assembling, the object program is retained on a storage device in machine code. </a:t>
            </a:r>
          </a:p>
          <a:p>
            <a:endParaRPr lang="en-US" sz="2800" dirty="0"/>
          </a:p>
        </p:txBody>
      </p:sp>
    </p:spTree>
    <p:extLst>
      <p:ext uri="{BB962C8B-B14F-4D97-AF65-F5344CB8AC3E}">
        <p14:creationId xmlns:p14="http://schemas.microsoft.com/office/powerpoint/2010/main" val="1133305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372AA-96BE-4465-959C-170F987F3D52}"/>
              </a:ext>
            </a:extLst>
          </p:cNvPr>
          <p:cNvSpPr>
            <a:spLocks noGrp="1"/>
          </p:cNvSpPr>
          <p:nvPr>
            <p:ph type="title"/>
          </p:nvPr>
        </p:nvSpPr>
        <p:spPr/>
        <p:txBody>
          <a:bodyPr/>
          <a:lstStyle/>
          <a:p>
            <a:r>
              <a:rPr lang="en-US" dirty="0"/>
              <a:t>Compiler</a:t>
            </a:r>
          </a:p>
        </p:txBody>
      </p:sp>
      <p:sp>
        <p:nvSpPr>
          <p:cNvPr id="3" name="Content Placeholder 2">
            <a:extLst>
              <a:ext uri="{FF2B5EF4-FFF2-40B4-BE49-F238E27FC236}">
                <a16:creationId xmlns:a16="http://schemas.microsoft.com/office/drawing/2014/main" id="{65BF3F13-3FFA-4150-9DF2-2A0DEBB1F15A}"/>
              </a:ext>
            </a:extLst>
          </p:cNvPr>
          <p:cNvSpPr>
            <a:spLocks noGrp="1"/>
          </p:cNvSpPr>
          <p:nvPr>
            <p:ph idx="1"/>
          </p:nvPr>
        </p:nvSpPr>
        <p:spPr/>
        <p:txBody>
          <a:bodyPr>
            <a:normAutofit/>
          </a:bodyPr>
          <a:lstStyle/>
          <a:p>
            <a:r>
              <a:rPr lang="en-US" sz="2800" dirty="0"/>
              <a:t>A </a:t>
            </a:r>
            <a:r>
              <a:rPr lang="en-US" sz="2800" i="1" dirty="0"/>
              <a:t>compiler</a:t>
            </a:r>
            <a:r>
              <a:rPr lang="en-US" sz="2800" dirty="0"/>
              <a:t> is a program that translates a source program written in some high-level programming language (such as Java) into machine </a:t>
            </a:r>
          </a:p>
          <a:p>
            <a:endParaRPr lang="en-US" sz="2800" dirty="0"/>
          </a:p>
          <a:p>
            <a:r>
              <a:rPr lang="en-US" sz="2800" dirty="0"/>
              <a:t>The generated machine code can be later executed many times against different data each time.</a:t>
            </a:r>
          </a:p>
          <a:p>
            <a:endParaRPr lang="en-US" sz="2800" dirty="0"/>
          </a:p>
          <a:p>
            <a:r>
              <a:rPr lang="en-US" sz="2800" dirty="0"/>
              <a:t> </a:t>
            </a:r>
          </a:p>
        </p:txBody>
      </p:sp>
    </p:spTree>
    <p:extLst>
      <p:ext uri="{BB962C8B-B14F-4D97-AF65-F5344CB8AC3E}">
        <p14:creationId xmlns:p14="http://schemas.microsoft.com/office/powerpoint/2010/main" val="4497442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6487A1E-BAF4-486C-ACC9-95CFEB958A5D}"/>
              </a:ext>
            </a:extLst>
          </p:cNvPr>
          <p:cNvSpPr>
            <a:spLocks noGrp="1" noChangeArrowheads="1"/>
          </p:cNvSpPr>
          <p:nvPr>
            <p:ph type="title"/>
          </p:nvPr>
        </p:nvSpPr>
        <p:spPr>
          <a:xfrm>
            <a:off x="2286898" y="350837"/>
            <a:ext cx="8937694" cy="1477963"/>
          </a:xfrm>
        </p:spPr>
        <p:txBody>
          <a:bodyPr/>
          <a:lstStyle/>
          <a:p>
            <a:pPr algn="ctr">
              <a:defRPr/>
            </a:pPr>
            <a:r>
              <a:rPr lang="en-US" altLang="en-US" b="1" dirty="0"/>
              <a:t>ALGORITHMS</a:t>
            </a:r>
            <a:endParaRPr lang="en-US" altLang="en-US" dirty="0"/>
          </a:p>
        </p:txBody>
      </p:sp>
      <p:sp>
        <p:nvSpPr>
          <p:cNvPr id="9219" name="Rectangle 3">
            <a:extLst>
              <a:ext uri="{FF2B5EF4-FFF2-40B4-BE49-F238E27FC236}">
                <a16:creationId xmlns:a16="http://schemas.microsoft.com/office/drawing/2014/main" id="{9912CF77-3E81-4837-BACA-DD3AB37E8129}"/>
              </a:ext>
            </a:extLst>
          </p:cNvPr>
          <p:cNvSpPr>
            <a:spLocks noGrp="1" noChangeArrowheads="1"/>
          </p:cNvSpPr>
          <p:nvPr>
            <p:ph idx="1"/>
          </p:nvPr>
        </p:nvSpPr>
        <p:spPr>
          <a:xfrm>
            <a:off x="715617" y="1828799"/>
            <a:ext cx="11264347" cy="4465983"/>
          </a:xfrm>
        </p:spPr>
        <p:txBody>
          <a:bodyPr/>
          <a:lstStyle/>
          <a:p>
            <a:r>
              <a:rPr lang="en-US" altLang="en-US" sz="2800" dirty="0"/>
              <a:t>Computer programming can be divided into two phases:</a:t>
            </a:r>
          </a:p>
          <a:p>
            <a:endParaRPr lang="en-US" altLang="en-US" sz="2800" b="1" i="1" dirty="0"/>
          </a:p>
          <a:p>
            <a:r>
              <a:rPr lang="en-US" altLang="en-US" sz="2800" b="1" i="1" dirty="0"/>
              <a:t>Problem solving phase</a:t>
            </a:r>
            <a:endParaRPr lang="en-US" altLang="en-US" sz="2800" dirty="0"/>
          </a:p>
          <a:p>
            <a:pPr lvl="1"/>
            <a:r>
              <a:rPr lang="en-US" altLang="en-US" sz="2400" dirty="0"/>
              <a:t>Make an ordered sequence of steps that solves a problem.</a:t>
            </a:r>
          </a:p>
          <a:p>
            <a:pPr lvl="1"/>
            <a:r>
              <a:rPr lang="en-US" altLang="en-US" sz="4000" dirty="0"/>
              <a:t>This sequence of steps is called an </a:t>
            </a:r>
            <a:r>
              <a:rPr lang="en-US" altLang="en-US" sz="4000" b="1" i="1" dirty="0"/>
              <a:t>algorithm.</a:t>
            </a:r>
          </a:p>
          <a:p>
            <a:pPr lvl="1"/>
            <a:endParaRPr lang="en-US" altLang="en-US" sz="2400" b="1" i="1" dirty="0"/>
          </a:p>
          <a:p>
            <a:pPr lvl="1"/>
            <a:endParaRPr lang="en-US" altLang="en-US" sz="2400" dirty="0"/>
          </a:p>
          <a:p>
            <a:r>
              <a:rPr lang="en-US" altLang="en-US" sz="2800" b="1" i="1" dirty="0"/>
              <a:t>Implementation phase</a:t>
            </a:r>
            <a:r>
              <a:rPr lang="en-US" altLang="en-US" sz="2800" dirty="0"/>
              <a:t> </a:t>
            </a:r>
          </a:p>
          <a:p>
            <a:pPr lvl="1"/>
            <a:r>
              <a:rPr lang="en-US" altLang="en-US" sz="2400" dirty="0"/>
              <a:t>Implement using a programming language.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D3841AA-DB80-4ECE-B1B8-CF229F78B50A}"/>
              </a:ext>
            </a:extLst>
          </p:cNvPr>
          <p:cNvSpPr>
            <a:spLocks noGrp="1" noChangeArrowheads="1"/>
          </p:cNvSpPr>
          <p:nvPr>
            <p:ph type="title"/>
          </p:nvPr>
        </p:nvSpPr>
        <p:spPr/>
        <p:txBody>
          <a:bodyPr/>
          <a:lstStyle/>
          <a:p>
            <a:r>
              <a:rPr lang="en-US" altLang="en-US" sz="4000" b="1" u="sng">
                <a:latin typeface="Arial" panose="020B0604020202020204" pitchFamily="34" charset="0"/>
              </a:rPr>
              <a:t>Algorithm:</a:t>
            </a:r>
          </a:p>
        </p:txBody>
      </p:sp>
      <p:sp>
        <p:nvSpPr>
          <p:cNvPr id="36867" name="Rectangle 3">
            <a:extLst>
              <a:ext uri="{FF2B5EF4-FFF2-40B4-BE49-F238E27FC236}">
                <a16:creationId xmlns:a16="http://schemas.microsoft.com/office/drawing/2014/main" id="{3E095807-B278-452B-9FC7-05B1426DAF08}"/>
              </a:ext>
            </a:extLst>
          </p:cNvPr>
          <p:cNvSpPr>
            <a:spLocks noGrp="1" noChangeArrowheads="1"/>
          </p:cNvSpPr>
          <p:nvPr>
            <p:ph type="body" idx="1"/>
          </p:nvPr>
        </p:nvSpPr>
        <p:spPr>
          <a:xfrm>
            <a:off x="397566" y="1737360"/>
            <a:ext cx="11926956" cy="5140325"/>
          </a:xfrm>
        </p:spPr>
        <p:txBody>
          <a:bodyPr/>
          <a:lstStyle/>
          <a:p>
            <a:pPr marL="571500" indent="-571500">
              <a:buNone/>
            </a:pPr>
            <a:r>
              <a:rPr lang="en-US" altLang="en-US" sz="3400" dirty="0"/>
              <a:t>    </a:t>
            </a:r>
            <a:r>
              <a:rPr lang="en-US" altLang="en-US" sz="2400" dirty="0"/>
              <a:t>The algorithm is part of the blueprint or plan for the computer program, an algorithm is:</a:t>
            </a:r>
          </a:p>
          <a:p>
            <a:pPr marL="571500" indent="-571500">
              <a:buNone/>
            </a:pPr>
            <a:r>
              <a:rPr lang="en-US" altLang="en-US" sz="2800" dirty="0"/>
              <a:t>      </a:t>
            </a:r>
            <a:r>
              <a:rPr lang="en-US" altLang="en-US" sz="2400" i="1" dirty="0"/>
              <a:t>“An effective procedure for solving a class of problems in a finite number of steps.”</a:t>
            </a:r>
          </a:p>
          <a:p>
            <a:pPr marL="571500" indent="-571500">
              <a:buNone/>
            </a:pPr>
            <a:endParaRPr lang="en-US" altLang="en-US" sz="2400" i="1" dirty="0"/>
          </a:p>
          <a:p>
            <a:pPr marL="571500" indent="-571500">
              <a:buNone/>
            </a:pPr>
            <a:r>
              <a:rPr lang="en-US" altLang="en-US" sz="2800" dirty="0"/>
              <a:t>      </a:t>
            </a:r>
            <a:r>
              <a:rPr lang="en-US" altLang="en-US" sz="2400" dirty="0">
                <a:solidFill>
                  <a:srgbClr val="00B050"/>
                </a:solidFill>
              </a:rPr>
              <a:t>Every algorithm should have the following 5 characteristic feature:</a:t>
            </a:r>
          </a:p>
          <a:p>
            <a:pPr marL="1404938" lvl="3" indent="-381000">
              <a:buSzPct val="90000"/>
              <a:buFont typeface="Wingdings" panose="05000000000000000000" pitchFamily="2" charset="2"/>
              <a:buAutoNum type="arabicPeriod"/>
            </a:pPr>
            <a:r>
              <a:rPr lang="en-US" altLang="en-US" sz="2200" dirty="0"/>
              <a:t>Input</a:t>
            </a:r>
          </a:p>
          <a:p>
            <a:pPr marL="1404938" lvl="3" indent="-381000">
              <a:buSzPct val="90000"/>
              <a:buFont typeface="Wingdings" panose="05000000000000000000" pitchFamily="2" charset="2"/>
              <a:buAutoNum type="arabicPeriod"/>
            </a:pPr>
            <a:r>
              <a:rPr lang="en-US" altLang="en-US" sz="2200" dirty="0"/>
              <a:t>Output</a:t>
            </a:r>
          </a:p>
          <a:p>
            <a:pPr marL="1404938" lvl="3" indent="-381000">
              <a:buSzPct val="90000"/>
              <a:buFont typeface="Wingdings" panose="05000000000000000000" pitchFamily="2" charset="2"/>
              <a:buAutoNum type="arabicPeriod"/>
            </a:pPr>
            <a:r>
              <a:rPr lang="en-US" altLang="en-US" sz="2200" dirty="0"/>
              <a:t>Definiteness</a:t>
            </a:r>
          </a:p>
          <a:p>
            <a:pPr marL="1404938" lvl="3" indent="-381000">
              <a:buSzPct val="90000"/>
              <a:buFont typeface="Wingdings" panose="05000000000000000000" pitchFamily="2" charset="2"/>
              <a:buAutoNum type="arabicPeriod"/>
            </a:pPr>
            <a:r>
              <a:rPr lang="en-US" altLang="en-US" sz="2200" dirty="0"/>
              <a:t>Effectiveness</a:t>
            </a:r>
          </a:p>
          <a:p>
            <a:pPr marL="1404938" lvl="3" indent="-381000">
              <a:buSzPct val="90000"/>
              <a:buFont typeface="Wingdings" panose="05000000000000000000" pitchFamily="2" charset="2"/>
              <a:buAutoNum type="arabicPeriod"/>
            </a:pPr>
            <a:r>
              <a:rPr lang="en-US" altLang="en-US" sz="2200" dirty="0"/>
              <a:t>Termination </a:t>
            </a:r>
            <a:endParaRPr lang="en-US" alt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72712-22B1-4B0C-B3B2-615F5FF2CEB6}"/>
              </a:ext>
            </a:extLst>
          </p:cNvPr>
          <p:cNvSpPr>
            <a:spLocks noGrp="1"/>
          </p:cNvSpPr>
          <p:nvPr>
            <p:ph type="title"/>
          </p:nvPr>
        </p:nvSpPr>
        <p:spPr/>
        <p:txBody>
          <a:bodyPr/>
          <a:lstStyle/>
          <a:p>
            <a:r>
              <a:rPr lang="en-US" dirty="0"/>
              <a:t>Algorithms</a:t>
            </a:r>
          </a:p>
        </p:txBody>
      </p:sp>
      <p:sp>
        <p:nvSpPr>
          <p:cNvPr id="3" name="Content Placeholder 2">
            <a:extLst>
              <a:ext uri="{FF2B5EF4-FFF2-40B4-BE49-F238E27FC236}">
                <a16:creationId xmlns:a16="http://schemas.microsoft.com/office/drawing/2014/main" id="{B2C24C05-AA05-4261-8C7F-4289060D7A3F}"/>
              </a:ext>
            </a:extLst>
          </p:cNvPr>
          <p:cNvSpPr>
            <a:spLocks noGrp="1"/>
          </p:cNvSpPr>
          <p:nvPr>
            <p:ph idx="1"/>
          </p:nvPr>
        </p:nvSpPr>
        <p:spPr/>
        <p:txBody>
          <a:bodyPr>
            <a:normAutofit/>
          </a:bodyPr>
          <a:lstStyle/>
          <a:p>
            <a:pPr algn="l"/>
            <a:r>
              <a:rPr lang="en-US" sz="2800" b="1" i="0" u="none" strike="noStrike" baseline="0" dirty="0">
                <a:solidFill>
                  <a:srgbClr val="365F92"/>
                </a:solidFill>
                <a:latin typeface="Times New Roman" panose="02020603050405020304" pitchFamily="18" charset="0"/>
              </a:rPr>
              <a:t>Features of an Algorithm</a:t>
            </a:r>
          </a:p>
          <a:p>
            <a:pPr algn="l"/>
            <a:r>
              <a:rPr lang="en-US" sz="2800" b="0" i="0" u="none" strike="noStrike" baseline="0" dirty="0">
                <a:solidFill>
                  <a:srgbClr val="000000"/>
                </a:solidFill>
                <a:latin typeface="Times New Roman" panose="02020603050405020304" pitchFamily="18" charset="0"/>
              </a:rPr>
              <a:t>1. It should be simple</a:t>
            </a:r>
          </a:p>
          <a:p>
            <a:pPr algn="l"/>
            <a:r>
              <a:rPr lang="en-US" sz="2800" b="0" i="0" u="none" strike="noStrike" baseline="0" dirty="0">
                <a:solidFill>
                  <a:srgbClr val="000000"/>
                </a:solidFill>
                <a:latin typeface="Times New Roman" panose="02020603050405020304" pitchFamily="18" charset="0"/>
              </a:rPr>
              <a:t>2. It should be clear with no ambiguity</a:t>
            </a:r>
          </a:p>
          <a:p>
            <a:pPr algn="l"/>
            <a:r>
              <a:rPr lang="en-US" sz="2800" b="0" i="0" u="none" strike="noStrike" baseline="0" dirty="0">
                <a:solidFill>
                  <a:srgbClr val="000000"/>
                </a:solidFill>
                <a:latin typeface="Times New Roman" panose="02020603050405020304" pitchFamily="18" charset="0"/>
              </a:rPr>
              <a:t>3. It should head to unique solution of the problem</a:t>
            </a:r>
          </a:p>
          <a:p>
            <a:pPr algn="l"/>
            <a:r>
              <a:rPr lang="en-US" sz="2800" b="0" i="0" u="none" strike="noStrike" baseline="0" dirty="0">
                <a:solidFill>
                  <a:srgbClr val="000000"/>
                </a:solidFill>
                <a:latin typeface="Times New Roman" panose="02020603050405020304" pitchFamily="18" charset="0"/>
              </a:rPr>
              <a:t>4. It should involve a finite number of steps to arrive at a solution</a:t>
            </a:r>
          </a:p>
          <a:p>
            <a:pPr algn="l"/>
            <a:r>
              <a:rPr lang="en-US" sz="2800" b="0" i="0" u="none" strike="noStrike" baseline="0" dirty="0">
                <a:solidFill>
                  <a:srgbClr val="000000"/>
                </a:solidFill>
                <a:latin typeface="Times New Roman" panose="02020603050405020304" pitchFamily="18" charset="0"/>
              </a:rPr>
              <a:t>5. It should have the capability to handle unexpected situation.</a:t>
            </a:r>
            <a:endParaRPr lang="en-US" sz="2800" dirty="0"/>
          </a:p>
        </p:txBody>
      </p:sp>
    </p:spTree>
    <p:extLst>
      <p:ext uri="{BB962C8B-B14F-4D97-AF65-F5344CB8AC3E}">
        <p14:creationId xmlns:p14="http://schemas.microsoft.com/office/powerpoint/2010/main" val="37189437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5D36-C781-4338-A135-AED46401C4CE}"/>
              </a:ext>
            </a:extLst>
          </p:cNvPr>
          <p:cNvSpPr>
            <a:spLocks noGrp="1"/>
          </p:cNvSpPr>
          <p:nvPr>
            <p:ph type="title"/>
          </p:nvPr>
        </p:nvSpPr>
        <p:spPr/>
        <p:txBody>
          <a:bodyPr/>
          <a:lstStyle/>
          <a:p>
            <a:r>
              <a:rPr lang="en-US" dirty="0"/>
              <a:t>Class activities</a:t>
            </a:r>
          </a:p>
        </p:txBody>
      </p:sp>
      <p:sp>
        <p:nvSpPr>
          <p:cNvPr id="3" name="Content Placeholder 2">
            <a:extLst>
              <a:ext uri="{FF2B5EF4-FFF2-40B4-BE49-F238E27FC236}">
                <a16:creationId xmlns:a16="http://schemas.microsoft.com/office/drawing/2014/main" id="{C674DAAF-B113-4DA9-9BAE-3E9D9CF77653}"/>
              </a:ext>
            </a:extLst>
          </p:cNvPr>
          <p:cNvSpPr>
            <a:spLocks noGrp="1"/>
          </p:cNvSpPr>
          <p:nvPr>
            <p:ph idx="1"/>
          </p:nvPr>
        </p:nvSpPr>
        <p:spPr/>
        <p:txBody>
          <a:bodyPr>
            <a:normAutofit/>
          </a:bodyPr>
          <a:lstStyle/>
          <a:p>
            <a:r>
              <a:rPr lang="en-US" sz="2800" dirty="0"/>
              <a:t>Write and algorithm to:</a:t>
            </a:r>
          </a:p>
          <a:p>
            <a:endParaRPr lang="en-US" sz="2800" dirty="0"/>
          </a:p>
          <a:p>
            <a:r>
              <a:rPr lang="en-US" sz="2800" dirty="0"/>
              <a:t>1. Withdraw 500 cedis from an ATM machine</a:t>
            </a:r>
          </a:p>
          <a:p>
            <a:r>
              <a:rPr lang="en-US" sz="2800" dirty="0"/>
              <a:t>2. fry egg</a:t>
            </a:r>
          </a:p>
          <a:p>
            <a:r>
              <a:rPr lang="en-US" sz="2800" dirty="0"/>
              <a:t>3. find the average of two numbers</a:t>
            </a:r>
          </a:p>
          <a:p>
            <a:endParaRPr lang="en-US" sz="2800" dirty="0"/>
          </a:p>
        </p:txBody>
      </p:sp>
    </p:spTree>
    <p:extLst>
      <p:ext uri="{BB962C8B-B14F-4D97-AF65-F5344CB8AC3E}">
        <p14:creationId xmlns:p14="http://schemas.microsoft.com/office/powerpoint/2010/main" val="36384993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29D30-1D84-4F76-A25E-1D19C67BB346}"/>
              </a:ext>
            </a:extLst>
          </p:cNvPr>
          <p:cNvSpPr>
            <a:spLocks noGrp="1"/>
          </p:cNvSpPr>
          <p:nvPr>
            <p:ph type="title"/>
          </p:nvPr>
        </p:nvSpPr>
        <p:spPr/>
        <p:txBody>
          <a:bodyPr/>
          <a:lstStyle/>
          <a:p>
            <a:r>
              <a:rPr lang="en-US" dirty="0"/>
              <a:t>Why do we need algorithms?</a:t>
            </a:r>
          </a:p>
        </p:txBody>
      </p:sp>
      <p:sp>
        <p:nvSpPr>
          <p:cNvPr id="3" name="Content Placeholder 2">
            <a:extLst>
              <a:ext uri="{FF2B5EF4-FFF2-40B4-BE49-F238E27FC236}">
                <a16:creationId xmlns:a16="http://schemas.microsoft.com/office/drawing/2014/main" id="{1F1822F1-DEA5-490A-9BE0-9B52AF286921}"/>
              </a:ext>
            </a:extLst>
          </p:cNvPr>
          <p:cNvSpPr>
            <a:spLocks noGrp="1"/>
          </p:cNvSpPr>
          <p:nvPr>
            <p:ph idx="1"/>
          </p:nvPr>
        </p:nvSpPr>
        <p:spPr>
          <a:xfrm>
            <a:off x="579120" y="1845733"/>
            <a:ext cx="11094720" cy="4725663"/>
          </a:xfrm>
        </p:spPr>
        <p:txBody>
          <a:bodyPr>
            <a:noAutofit/>
          </a:bodyPr>
          <a:lstStyle/>
          <a:p>
            <a:r>
              <a:rPr lang="en-US" sz="2400" dirty="0"/>
              <a:t>If we wish to build a house, we need to design it first.</a:t>
            </a:r>
          </a:p>
          <a:p>
            <a:r>
              <a:rPr lang="en-US" sz="2400" dirty="0"/>
              <a:t> • Can you think of some possible consequences of not designing a house before building it?</a:t>
            </a:r>
          </a:p>
          <a:p>
            <a:endParaRPr lang="en-US" sz="2400" dirty="0"/>
          </a:p>
          <a:p>
            <a:r>
              <a:rPr lang="en-US" sz="2400" dirty="0"/>
              <a:t> • Similarly, computer programs (especially large and complex ones) need to be designed before they are written. </a:t>
            </a:r>
          </a:p>
          <a:p>
            <a:r>
              <a:rPr lang="en-US" sz="2400" dirty="0"/>
              <a:t>Can you think of some possible consequences of not designing a program before building it?</a:t>
            </a:r>
          </a:p>
          <a:p>
            <a:r>
              <a:rPr lang="en-US" sz="2400" dirty="0"/>
              <a:t> • </a:t>
            </a:r>
            <a:r>
              <a:rPr lang="en-US" sz="2400" b="1" dirty="0"/>
              <a:t>One of the things considered when designing a computer program is the </a:t>
            </a:r>
            <a:r>
              <a:rPr lang="en-US" sz="2400" b="1" dirty="0">
                <a:solidFill>
                  <a:srgbClr val="00B050"/>
                </a:solidFill>
              </a:rPr>
              <a:t>algorithm </a:t>
            </a:r>
            <a:r>
              <a:rPr lang="en-US" sz="2400" b="1" dirty="0"/>
              <a:t>which it will be based on.</a:t>
            </a:r>
          </a:p>
        </p:txBody>
      </p:sp>
    </p:spTree>
    <p:extLst>
      <p:ext uri="{BB962C8B-B14F-4D97-AF65-F5344CB8AC3E}">
        <p14:creationId xmlns:p14="http://schemas.microsoft.com/office/powerpoint/2010/main" val="2960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FFE4D9AF-0A8A-4CE1-9EC2-7E412DC6AEFE}"/>
              </a:ext>
            </a:extLst>
          </p:cNvPr>
          <p:cNvSpPr>
            <a:spLocks noGrp="1" noChangeArrowheads="1"/>
          </p:cNvSpPr>
          <p:nvPr>
            <p:ph type="title"/>
          </p:nvPr>
        </p:nvSpPr>
        <p:spPr/>
        <p:txBody>
          <a:bodyPr/>
          <a:lstStyle/>
          <a:p>
            <a:r>
              <a:rPr lang="en-US" altLang="en-US"/>
              <a:t>Types of Operations</a:t>
            </a:r>
          </a:p>
        </p:txBody>
      </p:sp>
      <p:sp>
        <p:nvSpPr>
          <p:cNvPr id="27651" name="Rectangle 3">
            <a:extLst>
              <a:ext uri="{FF2B5EF4-FFF2-40B4-BE49-F238E27FC236}">
                <a16:creationId xmlns:a16="http://schemas.microsoft.com/office/drawing/2014/main" id="{27FB9653-DD71-449B-B4EA-8A5270B71D3F}"/>
              </a:ext>
            </a:extLst>
          </p:cNvPr>
          <p:cNvSpPr>
            <a:spLocks noGrp="1" noChangeArrowheads="1"/>
          </p:cNvSpPr>
          <p:nvPr>
            <p:ph type="body" idx="1"/>
          </p:nvPr>
        </p:nvSpPr>
        <p:spPr>
          <a:xfrm>
            <a:off x="503583" y="1752600"/>
            <a:ext cx="11582399" cy="4800600"/>
          </a:xfrm>
        </p:spPr>
        <p:txBody>
          <a:bodyPr>
            <a:normAutofit lnSpcReduction="10000"/>
          </a:bodyPr>
          <a:lstStyle/>
          <a:p>
            <a:pPr>
              <a:lnSpc>
                <a:spcPct val="90000"/>
              </a:lnSpc>
            </a:pPr>
            <a:r>
              <a:rPr lang="en-US" altLang="en-US" sz="2800" dirty="0"/>
              <a:t>Basic operations </a:t>
            </a:r>
            <a:r>
              <a:rPr lang="en-US" altLang="en-US" sz="2800" dirty="0" err="1"/>
              <a:t>eg.</a:t>
            </a:r>
            <a:r>
              <a:rPr lang="en-US" altLang="en-US" sz="2800" dirty="0"/>
              <a:t> </a:t>
            </a:r>
          </a:p>
          <a:p>
            <a:pPr lvl="1">
              <a:lnSpc>
                <a:spcPct val="90000"/>
              </a:lnSpc>
            </a:pPr>
            <a:r>
              <a:rPr lang="en-US" altLang="en-US" sz="2400" dirty="0"/>
              <a:t>Wet hair</a:t>
            </a:r>
          </a:p>
          <a:p>
            <a:pPr lvl="1">
              <a:lnSpc>
                <a:spcPct val="90000"/>
              </a:lnSpc>
            </a:pPr>
            <a:r>
              <a:rPr lang="en-US" altLang="en-US" sz="2400" dirty="0"/>
              <a:t>Rinse</a:t>
            </a:r>
          </a:p>
          <a:p>
            <a:pPr lvl="1">
              <a:lnSpc>
                <a:spcPct val="90000"/>
              </a:lnSpc>
            </a:pPr>
            <a:r>
              <a:rPr lang="en-US" altLang="en-US" sz="2400" dirty="0"/>
              <a:t>Turn on VCR</a:t>
            </a:r>
          </a:p>
          <a:p>
            <a:pPr lvl="1">
              <a:lnSpc>
                <a:spcPct val="90000"/>
              </a:lnSpc>
            </a:pPr>
            <a:endParaRPr lang="en-US" altLang="en-US" sz="2400" dirty="0"/>
          </a:p>
          <a:p>
            <a:pPr>
              <a:lnSpc>
                <a:spcPct val="90000"/>
              </a:lnSpc>
            </a:pPr>
            <a:r>
              <a:rPr lang="en-US" altLang="en-US" sz="2800" dirty="0"/>
              <a:t>Conditional operations</a:t>
            </a:r>
          </a:p>
          <a:p>
            <a:pPr lvl="1">
              <a:lnSpc>
                <a:spcPct val="90000"/>
              </a:lnSpc>
            </a:pPr>
            <a:r>
              <a:rPr lang="en-US" altLang="en-US" sz="2400" dirty="0"/>
              <a:t>If flour is too dry add water</a:t>
            </a:r>
          </a:p>
          <a:p>
            <a:pPr>
              <a:lnSpc>
                <a:spcPct val="90000"/>
              </a:lnSpc>
            </a:pPr>
            <a:endParaRPr lang="en-US" altLang="en-US" sz="2800" dirty="0"/>
          </a:p>
          <a:p>
            <a:pPr>
              <a:lnSpc>
                <a:spcPct val="90000"/>
              </a:lnSpc>
            </a:pPr>
            <a:r>
              <a:rPr lang="en-US" altLang="en-US" sz="2800" dirty="0"/>
              <a:t>Repeat/looping operations</a:t>
            </a:r>
          </a:p>
          <a:p>
            <a:pPr lvl="1">
              <a:lnSpc>
                <a:spcPct val="90000"/>
              </a:lnSpc>
            </a:pPr>
            <a:r>
              <a:rPr lang="en-US" altLang="en-US" sz="2400" dirty="0"/>
              <a:t>Repeat step 1 and 2 three times</a:t>
            </a:r>
          </a:p>
          <a:p>
            <a:pPr lvl="1">
              <a:lnSpc>
                <a:spcPct val="90000"/>
              </a:lnSpc>
            </a:pPr>
            <a:r>
              <a:rPr lang="en-US" altLang="en-US" sz="2400" dirty="0"/>
              <a:t>Repeat steps 2,3,4,…10 until  flour becomes soft.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F641B2E-2372-45EA-BAB8-CB4A6A67C2E0}"/>
              </a:ext>
            </a:extLst>
          </p:cNvPr>
          <p:cNvSpPr>
            <a:spLocks noGrp="1" noChangeArrowheads="1"/>
          </p:cNvSpPr>
          <p:nvPr>
            <p:ph type="title"/>
          </p:nvPr>
        </p:nvSpPr>
        <p:spPr/>
        <p:txBody>
          <a:bodyPr/>
          <a:lstStyle/>
          <a:p>
            <a:r>
              <a:rPr lang="en-US" altLang="en-US"/>
              <a:t>Expressing algorithms</a:t>
            </a:r>
          </a:p>
        </p:txBody>
      </p:sp>
      <p:sp>
        <p:nvSpPr>
          <p:cNvPr id="34819" name="Rectangle 3">
            <a:extLst>
              <a:ext uri="{FF2B5EF4-FFF2-40B4-BE49-F238E27FC236}">
                <a16:creationId xmlns:a16="http://schemas.microsoft.com/office/drawing/2014/main" id="{50C8F870-7F48-4A1A-9991-E6E1C67DFA23}"/>
              </a:ext>
            </a:extLst>
          </p:cNvPr>
          <p:cNvSpPr>
            <a:spLocks noGrp="1" noChangeArrowheads="1"/>
          </p:cNvSpPr>
          <p:nvPr>
            <p:ph type="body" idx="1"/>
          </p:nvPr>
        </p:nvSpPr>
        <p:spPr/>
        <p:txBody>
          <a:bodyPr/>
          <a:lstStyle/>
          <a:p>
            <a:pPr>
              <a:lnSpc>
                <a:spcPct val="90000"/>
              </a:lnSpc>
            </a:pPr>
            <a:r>
              <a:rPr lang="en-US" altLang="en-US" sz="2800" dirty="0"/>
              <a:t>Is natural language good? </a:t>
            </a:r>
          </a:p>
          <a:p>
            <a:pPr lvl="1">
              <a:lnSpc>
                <a:spcPct val="90000"/>
              </a:lnSpc>
            </a:pPr>
            <a:r>
              <a:rPr lang="en-US" altLang="en-US" sz="2400" dirty="0"/>
              <a:t>For daily life, yes…but for CS is lacks structure and would be hard to follow</a:t>
            </a:r>
          </a:p>
          <a:p>
            <a:pPr lvl="1">
              <a:lnSpc>
                <a:spcPct val="90000"/>
              </a:lnSpc>
            </a:pPr>
            <a:r>
              <a:rPr lang="en-US" altLang="en-US" sz="2400" dirty="0"/>
              <a:t>Too rich, ambiguous, depends on context</a:t>
            </a:r>
          </a:p>
          <a:p>
            <a:pPr lvl="1">
              <a:lnSpc>
                <a:spcPct val="90000"/>
              </a:lnSpc>
            </a:pPr>
            <a:endParaRPr lang="en-US" altLang="en-US" sz="2400" dirty="0"/>
          </a:p>
          <a:p>
            <a:pPr>
              <a:lnSpc>
                <a:spcPct val="90000"/>
              </a:lnSpc>
            </a:pPr>
            <a:r>
              <a:rPr lang="en-US" altLang="en-US" sz="2800" dirty="0"/>
              <a:t>How about a programming language? </a:t>
            </a:r>
          </a:p>
          <a:p>
            <a:pPr lvl="1">
              <a:lnSpc>
                <a:spcPct val="90000"/>
              </a:lnSpc>
            </a:pPr>
            <a:r>
              <a:rPr lang="en-US" altLang="en-US" sz="2400" dirty="0"/>
              <a:t>Good, but not when we try to solve a </a:t>
            </a:r>
            <a:r>
              <a:rPr lang="en-US" altLang="en-US" sz="2400" dirty="0" err="1"/>
              <a:t>problem..we</a:t>
            </a:r>
            <a:r>
              <a:rPr lang="en-US" altLang="en-US" sz="2400" dirty="0"/>
              <a:t> want to think at an abstract level</a:t>
            </a:r>
          </a:p>
          <a:p>
            <a:pPr lvl="1">
              <a:lnSpc>
                <a:spcPct val="90000"/>
              </a:lnSpc>
            </a:pPr>
            <a:r>
              <a:rPr lang="en-US" altLang="en-US" sz="2400" dirty="0"/>
              <a:t>It shifts the emphasis from how to solve the problem to tedious details of syntax and grammar.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81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481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8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0D67-C16C-4B60-B92F-8BB56F01EF99}"/>
              </a:ext>
            </a:extLst>
          </p:cNvPr>
          <p:cNvSpPr>
            <a:spLocks noGrp="1"/>
          </p:cNvSpPr>
          <p:nvPr>
            <p:ph type="title"/>
          </p:nvPr>
        </p:nvSpPr>
        <p:spPr/>
        <p:txBody>
          <a:bodyPr/>
          <a:lstStyle/>
          <a:p>
            <a:r>
              <a:rPr lang="en-US" dirty="0"/>
              <a:t>Methods used to represent algorithms</a:t>
            </a:r>
          </a:p>
        </p:txBody>
      </p:sp>
      <p:sp>
        <p:nvSpPr>
          <p:cNvPr id="3" name="Content Placeholder 2">
            <a:extLst>
              <a:ext uri="{FF2B5EF4-FFF2-40B4-BE49-F238E27FC236}">
                <a16:creationId xmlns:a16="http://schemas.microsoft.com/office/drawing/2014/main" id="{FA8D2EB6-055E-410B-A137-854D09E1E4B4}"/>
              </a:ext>
            </a:extLst>
          </p:cNvPr>
          <p:cNvSpPr>
            <a:spLocks noGrp="1"/>
          </p:cNvSpPr>
          <p:nvPr>
            <p:ph idx="1"/>
          </p:nvPr>
        </p:nvSpPr>
        <p:spPr/>
        <p:txBody>
          <a:bodyPr>
            <a:normAutofit/>
          </a:bodyPr>
          <a:lstStyle/>
          <a:p>
            <a:pPr algn="l"/>
            <a:r>
              <a:rPr lang="en-US" sz="2800" b="0" i="0" u="none" strike="noStrike" baseline="0" dirty="0">
                <a:latin typeface="Times New Roman" panose="02020603050405020304" pitchFamily="18" charset="0"/>
              </a:rPr>
              <a:t>The following methods could be used to represent an algorithm.</a:t>
            </a:r>
          </a:p>
          <a:p>
            <a:pPr algn="l"/>
            <a:endParaRPr lang="en-US" sz="2800" b="0" i="0" u="none" strike="noStrike" baseline="0" dirty="0">
              <a:latin typeface="Times New Roman" panose="02020603050405020304" pitchFamily="18" charset="0"/>
            </a:endParaRPr>
          </a:p>
          <a:p>
            <a:pPr algn="l">
              <a:buFont typeface="Wingdings" panose="05000000000000000000" pitchFamily="2" charset="2"/>
              <a:buChar char="v"/>
            </a:pPr>
            <a:r>
              <a:rPr lang="en-US" sz="2800" b="0" i="0" u="none" strike="noStrike" baseline="0" dirty="0">
                <a:latin typeface="Times New Roman" panose="02020603050405020304" pitchFamily="18" charset="0"/>
              </a:rPr>
              <a:t>Methods of Flowchart</a:t>
            </a:r>
          </a:p>
          <a:p>
            <a:pPr algn="l">
              <a:buFont typeface="Wingdings" panose="05000000000000000000" pitchFamily="2" charset="2"/>
              <a:buChar char="v"/>
            </a:pPr>
            <a:r>
              <a:rPr lang="en-US" sz="2800" b="0" i="0" u="none" strike="noStrike" baseline="0" dirty="0">
                <a:latin typeface="Wingdings" panose="05000000000000000000" pitchFamily="2" charset="2"/>
              </a:rPr>
              <a:t> </a:t>
            </a:r>
            <a:r>
              <a:rPr lang="en-US" sz="2800" b="0" i="0" u="none" strike="noStrike" baseline="0" dirty="0">
                <a:latin typeface="Times New Roman" panose="02020603050405020304" pitchFamily="18" charset="0"/>
              </a:rPr>
              <a:t>Methods of Pseudo code</a:t>
            </a:r>
          </a:p>
          <a:p>
            <a:pPr algn="l">
              <a:buFont typeface="Wingdings" panose="05000000000000000000" pitchFamily="2" charset="2"/>
              <a:buChar char="v"/>
            </a:pPr>
            <a:r>
              <a:rPr lang="en-US" sz="2800" b="0" i="0" u="none" strike="noStrike" baseline="0" dirty="0">
                <a:latin typeface="Wingdings" panose="05000000000000000000" pitchFamily="2" charset="2"/>
              </a:rPr>
              <a:t> </a:t>
            </a:r>
            <a:r>
              <a:rPr lang="en-US" sz="2800" b="0" i="0" u="none" strike="noStrike" baseline="0" dirty="0">
                <a:latin typeface="Times New Roman" panose="02020603050405020304" pitchFamily="18" charset="0"/>
              </a:rPr>
              <a:t>Methods of Decision table</a:t>
            </a:r>
          </a:p>
          <a:p>
            <a:pPr algn="l">
              <a:buFont typeface="Wingdings" panose="05000000000000000000" pitchFamily="2" charset="2"/>
              <a:buChar char="v"/>
            </a:pPr>
            <a:r>
              <a:rPr lang="en-US" sz="2800" b="0" i="0" u="none" strike="noStrike" baseline="0" dirty="0">
                <a:latin typeface="Wingdings" panose="05000000000000000000" pitchFamily="2" charset="2"/>
              </a:rPr>
              <a:t> </a:t>
            </a:r>
            <a:r>
              <a:rPr lang="en-US" sz="2800" b="0" i="0" u="none" strike="noStrike" baseline="0" dirty="0">
                <a:latin typeface="Times New Roman" panose="02020603050405020304" pitchFamily="18" charset="0"/>
              </a:rPr>
              <a:t>Methods of Data flow Diagram (DFD)</a:t>
            </a:r>
            <a:endParaRPr lang="en-US" sz="2800" dirty="0"/>
          </a:p>
        </p:txBody>
      </p:sp>
    </p:spTree>
    <p:extLst>
      <p:ext uri="{BB962C8B-B14F-4D97-AF65-F5344CB8AC3E}">
        <p14:creationId xmlns:p14="http://schemas.microsoft.com/office/powerpoint/2010/main" val="23392664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4EF43-B429-42F2-81B0-7171B3E6209E}"/>
              </a:ext>
            </a:extLst>
          </p:cNvPr>
          <p:cNvSpPr>
            <a:spLocks noGrp="1"/>
          </p:cNvSpPr>
          <p:nvPr>
            <p:ph type="title"/>
          </p:nvPr>
        </p:nvSpPr>
        <p:spPr/>
        <p:txBody>
          <a:bodyPr/>
          <a:lstStyle/>
          <a:p>
            <a:r>
              <a:rPr lang="en-US" dirty="0"/>
              <a:t>Pseudocode</a:t>
            </a:r>
          </a:p>
        </p:txBody>
      </p:sp>
      <p:sp>
        <p:nvSpPr>
          <p:cNvPr id="3" name="Content Placeholder 2">
            <a:extLst>
              <a:ext uri="{FF2B5EF4-FFF2-40B4-BE49-F238E27FC236}">
                <a16:creationId xmlns:a16="http://schemas.microsoft.com/office/drawing/2014/main" id="{A1640F26-59F2-4BF7-8651-DB74B2B188E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4680401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265</TotalTime>
  <Words>2799</Words>
  <Application>Microsoft Office PowerPoint</Application>
  <PresentationFormat>Widescreen</PresentationFormat>
  <Paragraphs>301</Paragraphs>
  <Slides>51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Arial</vt:lpstr>
      <vt:lpstr>Calibri</vt:lpstr>
      <vt:lpstr>Calibri Light</vt:lpstr>
      <vt:lpstr>Times New Roman</vt:lpstr>
      <vt:lpstr>Wingdings</vt:lpstr>
      <vt:lpstr>Retrospect</vt:lpstr>
      <vt:lpstr>Fundamentals of Programming</vt:lpstr>
      <vt:lpstr>Programming – Why?</vt:lpstr>
      <vt:lpstr>Program</vt:lpstr>
      <vt:lpstr>Computer Programming</vt:lpstr>
      <vt:lpstr>Programming</vt:lpstr>
      <vt:lpstr>Programming</vt:lpstr>
      <vt:lpstr>Steps in computer programming</vt:lpstr>
      <vt:lpstr>Steps in computer programming</vt:lpstr>
      <vt:lpstr>What is a programming language?</vt:lpstr>
      <vt:lpstr>Programming Language vs English</vt:lpstr>
      <vt:lpstr>Programming Languages</vt:lpstr>
      <vt:lpstr>PowerPoint Presentation</vt:lpstr>
      <vt:lpstr>Types of programming Languages</vt:lpstr>
      <vt:lpstr>Machine Language</vt:lpstr>
      <vt:lpstr>Internal Data Representation</vt:lpstr>
      <vt:lpstr>Internal Data Representation</vt:lpstr>
      <vt:lpstr>Table 1.1</vt:lpstr>
      <vt:lpstr>Advantages of Machine Language</vt:lpstr>
      <vt:lpstr>Disadvantages of machine language</vt:lpstr>
      <vt:lpstr>Disadvantages of machine language</vt:lpstr>
      <vt:lpstr>Assembly Language</vt:lpstr>
      <vt:lpstr>Assembly Language</vt:lpstr>
      <vt:lpstr>Assembly Language</vt:lpstr>
      <vt:lpstr>Assembly Language</vt:lpstr>
      <vt:lpstr>Assembler</vt:lpstr>
      <vt:lpstr>Assembler</vt:lpstr>
      <vt:lpstr>Advantages of Assembly Language</vt:lpstr>
      <vt:lpstr>Disadvantages of Assembly Language</vt:lpstr>
      <vt:lpstr>High Level Programming Languages</vt:lpstr>
      <vt:lpstr>High Level Languages</vt:lpstr>
      <vt:lpstr>High Level Languages</vt:lpstr>
      <vt:lpstr>Compilers and Interpreters</vt:lpstr>
      <vt:lpstr>Advantages of High Level Languages</vt:lpstr>
      <vt:lpstr>Advantages of High Level Languages</vt:lpstr>
      <vt:lpstr>Disadvantages of High Level Languages</vt:lpstr>
      <vt:lpstr>PowerPoint Presentation</vt:lpstr>
      <vt:lpstr>Language Translators</vt:lpstr>
      <vt:lpstr>Language Translators</vt:lpstr>
      <vt:lpstr>Interpreter</vt:lpstr>
      <vt:lpstr>Interpreter</vt:lpstr>
      <vt:lpstr>ASSEMBLER </vt:lpstr>
      <vt:lpstr>Compiler</vt:lpstr>
      <vt:lpstr>ALGORITHMS</vt:lpstr>
      <vt:lpstr>Algorithm:</vt:lpstr>
      <vt:lpstr>Algorithms</vt:lpstr>
      <vt:lpstr>Class activities</vt:lpstr>
      <vt:lpstr>Why do we need algorithms?</vt:lpstr>
      <vt:lpstr>Types of Operations</vt:lpstr>
      <vt:lpstr>Expressing algorithms</vt:lpstr>
      <vt:lpstr>Methods used to represent algorithms</vt:lpstr>
      <vt:lpstr>Pseudocode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ROSY</dc:creator>
  <cp:lastModifiedBy>ROSY</cp:lastModifiedBy>
  <cp:revision>72</cp:revision>
  <dcterms:created xsi:type="dcterms:W3CDTF">2021-06-13T18:34:08Z</dcterms:created>
  <dcterms:modified xsi:type="dcterms:W3CDTF">2021-07-25T21:19:06Z</dcterms:modified>
</cp:coreProperties>
</file>