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305" r:id="rId2"/>
    <p:sldId id="258" r:id="rId3"/>
    <p:sldId id="346" r:id="rId4"/>
    <p:sldId id="365" r:id="rId5"/>
    <p:sldId id="348" r:id="rId6"/>
    <p:sldId id="357" r:id="rId7"/>
    <p:sldId id="366" r:id="rId8"/>
    <p:sldId id="349" r:id="rId9"/>
    <p:sldId id="360" r:id="rId10"/>
    <p:sldId id="350" r:id="rId11"/>
    <p:sldId id="361" r:id="rId12"/>
    <p:sldId id="362" r:id="rId13"/>
    <p:sldId id="3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D35DA9-F54F-4CDC-A957-3A9249024B10}" type="datetimeFigureOut">
              <a:rPr lang="en-US" smtClean="0"/>
              <a:t>7/14/2021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D56C28-BDC6-47E4-A944-5AFD2D6B22C0}" type="slidenum">
              <a:rPr lang="en-US" smtClean="0"/>
              <a:t>‹#›</a:t>
            </a:fld>
            <a:endParaRPr lang="en-US"/>
          </a:p>
        </p:txBody>
      </p:sp>
    </p:spTree>
    <p:extLst>
      <p:ext uri="{BB962C8B-B14F-4D97-AF65-F5344CB8AC3E}">
        <p14:creationId xmlns:p14="http://schemas.microsoft.com/office/powerpoint/2010/main" val="4099859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A7CA62C2-C6B0-427A-B1FC-CA38900BE0DA}"/>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462B44F3-5DA1-4814-9044-6D2432310E6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3796" name="Slide Number Placeholder 3">
            <a:extLst>
              <a:ext uri="{FF2B5EF4-FFF2-40B4-BE49-F238E27FC236}">
                <a16:creationId xmlns:a16="http://schemas.microsoft.com/office/drawing/2014/main" id="{2B7067E8-4764-49EC-8883-67759CCF86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kumimoji="1" sz="1200">
                <a:solidFill>
                  <a:schemeClr val="tx1"/>
                </a:solidFill>
                <a:latin typeface="Arial" panose="020B0604020202020204" pitchFamily="34" charset="0"/>
              </a:defRPr>
            </a:lvl1pPr>
            <a:lvl2pPr marL="742950" indent="-285750" algn="l" eaLnBrk="0" hangingPunct="0">
              <a:spcBef>
                <a:spcPct val="30000"/>
              </a:spcBef>
              <a:defRPr kumimoji="1" sz="1200">
                <a:solidFill>
                  <a:schemeClr val="tx1"/>
                </a:solidFill>
                <a:latin typeface="Arial" panose="020B0604020202020204" pitchFamily="34" charset="0"/>
              </a:defRPr>
            </a:lvl2pPr>
            <a:lvl3pPr marL="1143000" indent="-228600" algn="l" eaLnBrk="0" hangingPunct="0">
              <a:spcBef>
                <a:spcPct val="30000"/>
              </a:spcBef>
              <a:defRPr kumimoji="1" sz="1200">
                <a:solidFill>
                  <a:schemeClr val="tx1"/>
                </a:solidFill>
                <a:latin typeface="Arial" panose="020B0604020202020204" pitchFamily="34" charset="0"/>
              </a:defRPr>
            </a:lvl3pPr>
            <a:lvl4pPr marL="1600200" indent="-228600" algn="l" eaLnBrk="0" hangingPunct="0">
              <a:spcBef>
                <a:spcPct val="30000"/>
              </a:spcBef>
              <a:defRPr kumimoji="1" sz="1200">
                <a:solidFill>
                  <a:schemeClr val="tx1"/>
                </a:solidFill>
                <a:latin typeface="Arial" panose="020B0604020202020204" pitchFamily="34" charset="0"/>
              </a:defRPr>
            </a:lvl4pPr>
            <a:lvl5pPr marL="2057400" indent="-228600" algn="l" eaLnBrk="0" hangingPunct="0">
              <a:spcBef>
                <a:spcPct val="30000"/>
              </a:spcBef>
              <a:defRPr kumimoji="1" sz="1200">
                <a:solidFill>
                  <a:schemeClr val="tx1"/>
                </a:solidFill>
                <a:latin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defRPr>
            </a:lvl9pPr>
          </a:lstStyle>
          <a:p>
            <a:pPr algn="r" eaLnBrk="1" hangingPunct="1">
              <a:spcBef>
                <a:spcPct val="0"/>
              </a:spcBef>
            </a:pPr>
            <a:fld id="{9F8B90E2-E168-4363-B376-FA2A47760F8D}" type="slidenum">
              <a:rPr kumimoji="0" lang="en-US" altLang="en-US"/>
              <a:pPr algn="r" eaLnBrk="1" hangingPunct="1">
                <a:spcBef>
                  <a:spcPct val="0"/>
                </a:spcBef>
              </a:pPr>
              <a:t>3</a:t>
            </a:fld>
            <a:endParaRPr kumimoji="0"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A5194BD1-7A69-4792-818D-340BAD213C4F}"/>
              </a:ext>
            </a:extLst>
          </p:cNvPr>
          <p:cNvSpPr>
            <a:spLocks noGrp="1" noRot="1" noChangeAspect="1" noTextEdit="1"/>
          </p:cNvSpPr>
          <p:nvPr>
            <p:ph type="sldImg"/>
          </p:nvPr>
        </p:nvSpPr>
        <p:spPr>
          <a:ln/>
        </p:spPr>
      </p:sp>
      <p:sp>
        <p:nvSpPr>
          <p:cNvPr id="35843" name="Notes Placeholder 2">
            <a:extLst>
              <a:ext uri="{FF2B5EF4-FFF2-40B4-BE49-F238E27FC236}">
                <a16:creationId xmlns:a16="http://schemas.microsoft.com/office/drawing/2014/main" id="{26E79DE9-9DDA-46F1-9CE5-8628CDCB7B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5844" name="Slide Number Placeholder 3">
            <a:extLst>
              <a:ext uri="{FF2B5EF4-FFF2-40B4-BE49-F238E27FC236}">
                <a16:creationId xmlns:a16="http://schemas.microsoft.com/office/drawing/2014/main" id="{8E43FC16-53C5-4AB5-9667-027C375A617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kumimoji="1" sz="1200">
                <a:solidFill>
                  <a:schemeClr val="tx1"/>
                </a:solidFill>
                <a:latin typeface="Arial" panose="020B0604020202020204" pitchFamily="34" charset="0"/>
              </a:defRPr>
            </a:lvl1pPr>
            <a:lvl2pPr marL="742950" indent="-285750" algn="l" eaLnBrk="0" hangingPunct="0">
              <a:spcBef>
                <a:spcPct val="30000"/>
              </a:spcBef>
              <a:defRPr kumimoji="1" sz="1200">
                <a:solidFill>
                  <a:schemeClr val="tx1"/>
                </a:solidFill>
                <a:latin typeface="Arial" panose="020B0604020202020204" pitchFamily="34" charset="0"/>
              </a:defRPr>
            </a:lvl2pPr>
            <a:lvl3pPr marL="1143000" indent="-228600" algn="l" eaLnBrk="0" hangingPunct="0">
              <a:spcBef>
                <a:spcPct val="30000"/>
              </a:spcBef>
              <a:defRPr kumimoji="1" sz="1200">
                <a:solidFill>
                  <a:schemeClr val="tx1"/>
                </a:solidFill>
                <a:latin typeface="Arial" panose="020B0604020202020204" pitchFamily="34" charset="0"/>
              </a:defRPr>
            </a:lvl3pPr>
            <a:lvl4pPr marL="1600200" indent="-228600" algn="l" eaLnBrk="0" hangingPunct="0">
              <a:spcBef>
                <a:spcPct val="30000"/>
              </a:spcBef>
              <a:defRPr kumimoji="1" sz="1200">
                <a:solidFill>
                  <a:schemeClr val="tx1"/>
                </a:solidFill>
                <a:latin typeface="Arial" panose="020B0604020202020204" pitchFamily="34" charset="0"/>
              </a:defRPr>
            </a:lvl4pPr>
            <a:lvl5pPr marL="2057400" indent="-228600" algn="l" eaLnBrk="0" hangingPunct="0">
              <a:spcBef>
                <a:spcPct val="30000"/>
              </a:spcBef>
              <a:defRPr kumimoji="1" sz="1200">
                <a:solidFill>
                  <a:schemeClr val="tx1"/>
                </a:solidFill>
                <a:latin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defRPr>
            </a:lvl9pPr>
          </a:lstStyle>
          <a:p>
            <a:pPr algn="r" eaLnBrk="1" hangingPunct="1">
              <a:spcBef>
                <a:spcPct val="0"/>
              </a:spcBef>
            </a:pPr>
            <a:fld id="{E3D66B7A-BE87-4DC3-A2FA-3CE40EE132D6}" type="slidenum">
              <a:rPr kumimoji="0" lang="en-US" altLang="en-US"/>
              <a:pPr algn="r" eaLnBrk="1" hangingPunct="1">
                <a:spcBef>
                  <a:spcPct val="0"/>
                </a:spcBef>
              </a:pPr>
              <a:t>5</a:t>
            </a:fld>
            <a:endParaRPr kumimoji="0"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8A06E13F-A5B3-43BE-B2FE-228FB19A8AF8}"/>
              </a:ext>
            </a:extLst>
          </p:cNvPr>
          <p:cNvSpPr>
            <a:spLocks noGrp="1" noRot="1" noChangeAspect="1" noTextEdit="1"/>
          </p:cNvSpPr>
          <p:nvPr>
            <p:ph type="sldImg"/>
          </p:nvPr>
        </p:nvSpPr>
        <p:spPr>
          <a:ln/>
        </p:spPr>
      </p:sp>
      <p:sp>
        <p:nvSpPr>
          <p:cNvPr id="43011" name="Notes Placeholder 2">
            <a:extLst>
              <a:ext uri="{FF2B5EF4-FFF2-40B4-BE49-F238E27FC236}">
                <a16:creationId xmlns:a16="http://schemas.microsoft.com/office/drawing/2014/main" id="{C37DB8DD-55F4-4AFD-93FA-1C0BBA0AD5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3012" name="Slide Number Placeholder 3">
            <a:extLst>
              <a:ext uri="{FF2B5EF4-FFF2-40B4-BE49-F238E27FC236}">
                <a16:creationId xmlns:a16="http://schemas.microsoft.com/office/drawing/2014/main" id="{E1B2D648-A91A-4514-9CE5-185259FD46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kumimoji="1" sz="1200">
                <a:solidFill>
                  <a:schemeClr val="tx1"/>
                </a:solidFill>
                <a:latin typeface="Arial" panose="020B0604020202020204" pitchFamily="34" charset="0"/>
              </a:defRPr>
            </a:lvl1pPr>
            <a:lvl2pPr marL="742950" indent="-285750" algn="l" eaLnBrk="0" hangingPunct="0">
              <a:spcBef>
                <a:spcPct val="30000"/>
              </a:spcBef>
              <a:defRPr kumimoji="1" sz="1200">
                <a:solidFill>
                  <a:schemeClr val="tx1"/>
                </a:solidFill>
                <a:latin typeface="Arial" panose="020B0604020202020204" pitchFamily="34" charset="0"/>
              </a:defRPr>
            </a:lvl2pPr>
            <a:lvl3pPr marL="1143000" indent="-228600" algn="l" eaLnBrk="0" hangingPunct="0">
              <a:spcBef>
                <a:spcPct val="30000"/>
              </a:spcBef>
              <a:defRPr kumimoji="1" sz="1200">
                <a:solidFill>
                  <a:schemeClr val="tx1"/>
                </a:solidFill>
                <a:latin typeface="Arial" panose="020B0604020202020204" pitchFamily="34" charset="0"/>
              </a:defRPr>
            </a:lvl3pPr>
            <a:lvl4pPr marL="1600200" indent="-228600" algn="l" eaLnBrk="0" hangingPunct="0">
              <a:spcBef>
                <a:spcPct val="30000"/>
              </a:spcBef>
              <a:defRPr kumimoji="1" sz="1200">
                <a:solidFill>
                  <a:schemeClr val="tx1"/>
                </a:solidFill>
                <a:latin typeface="Arial" panose="020B0604020202020204" pitchFamily="34" charset="0"/>
              </a:defRPr>
            </a:lvl4pPr>
            <a:lvl5pPr marL="2057400" indent="-228600" algn="l" eaLnBrk="0" hangingPunct="0">
              <a:spcBef>
                <a:spcPct val="30000"/>
              </a:spcBef>
              <a:defRPr kumimoji="1" sz="1200">
                <a:solidFill>
                  <a:schemeClr val="tx1"/>
                </a:solidFill>
                <a:latin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defRPr>
            </a:lvl9pPr>
          </a:lstStyle>
          <a:p>
            <a:pPr algn="r" eaLnBrk="1" hangingPunct="1">
              <a:spcBef>
                <a:spcPct val="0"/>
              </a:spcBef>
            </a:pPr>
            <a:fld id="{4C323AA8-3D0B-488A-8215-75BA8CC7701A}" type="slidenum">
              <a:rPr kumimoji="0" lang="en-US" altLang="en-US"/>
              <a:pPr algn="r" eaLnBrk="1" hangingPunct="1">
                <a:spcBef>
                  <a:spcPct val="0"/>
                </a:spcBef>
              </a:pPr>
              <a:t>6</a:t>
            </a:fld>
            <a:endParaRPr kumimoji="0"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3C741AB3-A451-4142-A176-EDE4F53E8E94}"/>
              </a:ext>
            </a:extLst>
          </p:cNvPr>
          <p:cNvSpPr>
            <a:spLocks noGrp="1" noRot="1" noChangeAspect="1" noTextEdit="1"/>
          </p:cNvSpPr>
          <p:nvPr>
            <p:ph type="sldImg"/>
          </p:nvPr>
        </p:nvSpPr>
        <p:spPr>
          <a:ln/>
        </p:spPr>
      </p:sp>
      <p:sp>
        <p:nvSpPr>
          <p:cNvPr id="46083" name="Notes Placeholder 2">
            <a:extLst>
              <a:ext uri="{FF2B5EF4-FFF2-40B4-BE49-F238E27FC236}">
                <a16:creationId xmlns:a16="http://schemas.microsoft.com/office/drawing/2014/main" id="{A25EDEF5-FFF4-4A34-9F34-420BF2E35B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6084" name="Slide Number Placeholder 3">
            <a:extLst>
              <a:ext uri="{FF2B5EF4-FFF2-40B4-BE49-F238E27FC236}">
                <a16:creationId xmlns:a16="http://schemas.microsoft.com/office/drawing/2014/main" id="{62E3AA94-3A34-417E-A313-A52E467895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kumimoji="1" sz="1200">
                <a:solidFill>
                  <a:schemeClr val="tx1"/>
                </a:solidFill>
                <a:latin typeface="Arial" panose="020B0604020202020204" pitchFamily="34" charset="0"/>
              </a:defRPr>
            </a:lvl1pPr>
            <a:lvl2pPr marL="742950" indent="-285750" algn="l" eaLnBrk="0" hangingPunct="0">
              <a:spcBef>
                <a:spcPct val="30000"/>
              </a:spcBef>
              <a:defRPr kumimoji="1" sz="1200">
                <a:solidFill>
                  <a:schemeClr val="tx1"/>
                </a:solidFill>
                <a:latin typeface="Arial" panose="020B0604020202020204" pitchFamily="34" charset="0"/>
              </a:defRPr>
            </a:lvl2pPr>
            <a:lvl3pPr marL="1143000" indent="-228600" algn="l" eaLnBrk="0" hangingPunct="0">
              <a:spcBef>
                <a:spcPct val="30000"/>
              </a:spcBef>
              <a:defRPr kumimoji="1" sz="1200">
                <a:solidFill>
                  <a:schemeClr val="tx1"/>
                </a:solidFill>
                <a:latin typeface="Arial" panose="020B0604020202020204" pitchFamily="34" charset="0"/>
              </a:defRPr>
            </a:lvl3pPr>
            <a:lvl4pPr marL="1600200" indent="-228600" algn="l" eaLnBrk="0" hangingPunct="0">
              <a:spcBef>
                <a:spcPct val="30000"/>
              </a:spcBef>
              <a:defRPr kumimoji="1" sz="1200">
                <a:solidFill>
                  <a:schemeClr val="tx1"/>
                </a:solidFill>
                <a:latin typeface="Arial" panose="020B0604020202020204" pitchFamily="34" charset="0"/>
              </a:defRPr>
            </a:lvl4pPr>
            <a:lvl5pPr marL="2057400" indent="-228600" algn="l" eaLnBrk="0" hangingPunct="0">
              <a:spcBef>
                <a:spcPct val="30000"/>
              </a:spcBef>
              <a:defRPr kumimoji="1" sz="1200">
                <a:solidFill>
                  <a:schemeClr val="tx1"/>
                </a:solidFill>
                <a:latin typeface="Arial" panose="020B0604020202020204" pitchFamily="34" charset="0"/>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defRPr>
            </a:lvl9pPr>
          </a:lstStyle>
          <a:p>
            <a:pPr algn="r" eaLnBrk="1" hangingPunct="1">
              <a:spcBef>
                <a:spcPct val="0"/>
              </a:spcBef>
            </a:pPr>
            <a:fld id="{8701AEFE-0E76-4FD6-8D67-EFF13B0D7A71}" type="slidenum">
              <a:rPr kumimoji="0" lang="en-US" altLang="en-US"/>
              <a:pPr algn="r" eaLnBrk="1" hangingPunct="1">
                <a:spcBef>
                  <a:spcPct val="0"/>
                </a:spcBef>
              </a:pPr>
              <a:t>9</a:t>
            </a:fld>
            <a:endParaRPr kumimoji="0"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AABA4F-7628-4FF0-836F-7DDD2553E9D5}" type="datetimeFigureOut">
              <a:rPr lang="en-US" smtClean="0"/>
              <a:t>7/14/2021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8989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AABA4F-7628-4FF0-836F-7DDD2553E9D5}" type="datetimeFigureOut">
              <a:rPr lang="en-US" smtClean="0"/>
              <a:t>7/14/2021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2455631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AABA4F-7628-4FF0-836F-7DDD2553E9D5}" type="datetimeFigureOut">
              <a:rPr lang="en-US" smtClean="0"/>
              <a:t>7/14/2021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78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AABA4F-7628-4FF0-836F-7DDD2553E9D5}" type="datetimeFigureOut">
              <a:rPr lang="en-US" smtClean="0"/>
              <a:t>7/14/2021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826317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AABA4F-7628-4FF0-836F-7DDD2553E9D5}" type="datetimeFigureOut">
              <a:rPr lang="en-US" smtClean="0"/>
              <a:t>7/14/2021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2055325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AABA4F-7628-4FF0-836F-7DDD2553E9D5}" type="datetimeFigureOut">
              <a:rPr lang="en-US" smtClean="0"/>
              <a:t>7/14/2021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3006979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EAABA4F-7628-4FF0-836F-7DDD2553E9D5}" type="datetimeFigureOut">
              <a:rPr lang="en-US" smtClean="0"/>
              <a:t>7/14/2021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67514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EAABA4F-7628-4FF0-836F-7DDD2553E9D5}" type="datetimeFigureOut">
              <a:rPr lang="en-US" smtClean="0"/>
              <a:t>7/14/2021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9DF9292-F216-49A5-A806-06EA0C55D27B}" type="slidenum">
              <a:rPr lang="en-US" smtClean="0"/>
              <a:t>‹#›</a:t>
            </a:fld>
            <a:endParaRPr lang="en-US"/>
          </a:p>
        </p:txBody>
      </p:sp>
    </p:spTree>
    <p:extLst>
      <p:ext uri="{BB962C8B-B14F-4D97-AF65-F5344CB8AC3E}">
        <p14:creationId xmlns:p14="http://schemas.microsoft.com/office/powerpoint/2010/main" val="2466269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AABA4F-7628-4FF0-836F-7DDD2553E9D5}" type="datetimeFigureOut">
              <a:rPr lang="en-US" smtClean="0"/>
              <a:t>7/14/2021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149728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AABA4F-7628-4FF0-836F-7DDD2553E9D5}" type="datetimeFigureOut">
              <a:rPr lang="en-US" smtClean="0"/>
              <a:t>7/14/2021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4169481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AABA4F-7628-4FF0-836F-7DDD2553E9D5}" type="datetimeFigureOut">
              <a:rPr lang="en-US" smtClean="0"/>
              <a:t>7/14/2021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DF9292-F216-49A5-A806-06EA0C55D27B}" type="slidenum">
              <a:rPr lang="en-US" smtClean="0"/>
              <a:t>‹#›</a:t>
            </a:fld>
            <a:endParaRPr lang="en-US"/>
          </a:p>
        </p:txBody>
      </p:sp>
    </p:spTree>
    <p:extLst>
      <p:ext uri="{BB962C8B-B14F-4D97-AF65-F5344CB8AC3E}">
        <p14:creationId xmlns:p14="http://schemas.microsoft.com/office/powerpoint/2010/main" val="2220078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EAABA4F-7628-4FF0-836F-7DDD2553E9D5}" type="datetimeFigureOut">
              <a:rPr lang="en-US" smtClean="0"/>
              <a:t>7/14/2021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9DF9292-F216-49A5-A806-06EA0C55D27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61011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6487A1E-BAF4-486C-ACC9-95CFEB958A5D}"/>
              </a:ext>
            </a:extLst>
          </p:cNvPr>
          <p:cNvSpPr>
            <a:spLocks noGrp="1" noChangeArrowheads="1"/>
          </p:cNvSpPr>
          <p:nvPr>
            <p:ph type="title"/>
          </p:nvPr>
        </p:nvSpPr>
        <p:spPr>
          <a:xfrm>
            <a:off x="2286898" y="350837"/>
            <a:ext cx="8937694" cy="1477963"/>
          </a:xfrm>
        </p:spPr>
        <p:txBody>
          <a:bodyPr/>
          <a:lstStyle/>
          <a:p>
            <a:pPr algn="ctr">
              <a:defRPr/>
            </a:pPr>
            <a:r>
              <a:rPr lang="en-US" altLang="en-US" b="1" dirty="0"/>
              <a:t>FLOWCHARTS</a:t>
            </a:r>
            <a:endParaRPr lang="en-US" altLang="en-US" dirty="0"/>
          </a:p>
        </p:txBody>
      </p:sp>
      <p:sp>
        <p:nvSpPr>
          <p:cNvPr id="9219" name="Rectangle 3">
            <a:extLst>
              <a:ext uri="{FF2B5EF4-FFF2-40B4-BE49-F238E27FC236}">
                <a16:creationId xmlns:a16="http://schemas.microsoft.com/office/drawing/2014/main" id="{9912CF77-3E81-4837-BACA-DD3AB37E8129}"/>
              </a:ext>
            </a:extLst>
          </p:cNvPr>
          <p:cNvSpPr>
            <a:spLocks noGrp="1" noChangeArrowheads="1"/>
          </p:cNvSpPr>
          <p:nvPr>
            <p:ph idx="1"/>
          </p:nvPr>
        </p:nvSpPr>
        <p:spPr>
          <a:xfrm>
            <a:off x="715617" y="1828799"/>
            <a:ext cx="11264347" cy="4465983"/>
          </a:xfrm>
        </p:spPr>
        <p:txBody>
          <a:bodyPr>
            <a:normAutofit/>
          </a:bodyPr>
          <a:lstStyle/>
          <a:p>
            <a:pPr>
              <a:buFont typeface="Wingdings" panose="05000000000000000000" pitchFamily="2" charset="2"/>
              <a:buChar char="v"/>
            </a:pPr>
            <a:r>
              <a:rPr lang="en-US" altLang="en-US" sz="3200" dirty="0"/>
              <a:t>From the previous lecture, we learnt that there are many ways of specifying an algorithm and these include </a:t>
            </a:r>
            <a:r>
              <a:rPr lang="en-US" altLang="en-US" sz="3200" b="1" dirty="0"/>
              <a:t>pseudocodes and flowcharts.</a:t>
            </a:r>
          </a:p>
          <a:p>
            <a:pPr>
              <a:buFont typeface="Wingdings" panose="05000000000000000000" pitchFamily="2" charset="2"/>
              <a:buChar char="v"/>
            </a:pPr>
            <a:endParaRPr lang="en-US" altLang="en-US" sz="3200" dirty="0"/>
          </a:p>
          <a:p>
            <a:pPr>
              <a:buFont typeface="Wingdings" panose="05000000000000000000" pitchFamily="2" charset="2"/>
              <a:buChar char="v"/>
            </a:pPr>
            <a:r>
              <a:rPr lang="en-US" altLang="en-US" sz="3200" dirty="0"/>
              <a:t>We discussed pseudocode in the previous lecture so this lecture will focus on flowcharts.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3740" y="780848"/>
            <a:ext cx="8843285" cy="628377"/>
          </a:xfrm>
          <a:prstGeom prst="rect">
            <a:avLst/>
          </a:prstGeom>
        </p:spPr>
        <p:txBody>
          <a:bodyPr vert="horz" wrap="square" lIns="0" tIns="12700" rIns="0" bIns="0" rtlCol="0" anchor="ctr">
            <a:spAutoFit/>
          </a:bodyPr>
          <a:lstStyle/>
          <a:p>
            <a:pPr marL="12700">
              <a:lnSpc>
                <a:spcPct val="100000"/>
              </a:lnSpc>
              <a:spcBef>
                <a:spcPts val="100"/>
              </a:spcBef>
            </a:pPr>
            <a:r>
              <a:rPr sz="4000" spc="-5" dirty="0">
                <a:solidFill>
                  <a:srgbClr val="000000"/>
                </a:solidFill>
              </a:rPr>
              <a:t>METHODS </a:t>
            </a:r>
            <a:r>
              <a:rPr sz="4000" dirty="0">
                <a:solidFill>
                  <a:srgbClr val="000000"/>
                </a:solidFill>
              </a:rPr>
              <a:t>OF </a:t>
            </a:r>
            <a:r>
              <a:rPr sz="4000" spc="-5" dirty="0">
                <a:solidFill>
                  <a:srgbClr val="000000"/>
                </a:solidFill>
              </a:rPr>
              <a:t>SPECIFYING</a:t>
            </a:r>
            <a:r>
              <a:rPr sz="4000" spc="350" dirty="0">
                <a:solidFill>
                  <a:srgbClr val="000000"/>
                </a:solidFill>
              </a:rPr>
              <a:t> </a:t>
            </a:r>
            <a:r>
              <a:rPr sz="4000" dirty="0">
                <a:solidFill>
                  <a:srgbClr val="000000"/>
                </a:solidFill>
              </a:rPr>
              <a:t>ALGORITHM</a:t>
            </a:r>
            <a:endParaRPr sz="4000" dirty="0"/>
          </a:p>
        </p:txBody>
      </p:sp>
      <p:sp>
        <p:nvSpPr>
          <p:cNvPr id="3" name="object 3"/>
          <p:cNvSpPr txBox="1"/>
          <p:nvPr/>
        </p:nvSpPr>
        <p:spPr>
          <a:xfrm>
            <a:off x="450575" y="2242185"/>
            <a:ext cx="11396868" cy="2390398"/>
          </a:xfrm>
          <a:prstGeom prst="rect">
            <a:avLst/>
          </a:prstGeom>
        </p:spPr>
        <p:txBody>
          <a:bodyPr vert="horz" wrap="square" lIns="0" tIns="12700" rIns="0" bIns="0" rtlCol="0">
            <a:spAutoFit/>
          </a:bodyPr>
          <a:lstStyle/>
          <a:p>
            <a:pPr>
              <a:lnSpc>
                <a:spcPct val="100000"/>
              </a:lnSpc>
              <a:buClr>
                <a:srgbClr val="FD8537"/>
              </a:buClr>
            </a:pPr>
            <a:endParaRPr lang="en-US" sz="3550" dirty="0">
              <a:latin typeface="Arial"/>
              <a:cs typeface="Arial"/>
            </a:endParaRPr>
          </a:p>
          <a:p>
            <a:pPr>
              <a:lnSpc>
                <a:spcPct val="100000"/>
              </a:lnSpc>
              <a:buClr>
                <a:srgbClr val="FD8537"/>
              </a:buClr>
              <a:buFont typeface="Wingdings"/>
              <a:buChar char=""/>
            </a:pPr>
            <a:endParaRPr lang="en-US" sz="3550" dirty="0">
              <a:latin typeface="Arial"/>
              <a:cs typeface="Arial"/>
            </a:endParaRPr>
          </a:p>
          <a:p>
            <a:pPr>
              <a:lnSpc>
                <a:spcPct val="100000"/>
              </a:lnSpc>
              <a:buClr>
                <a:srgbClr val="FD8537"/>
              </a:buClr>
              <a:buFont typeface="Wingdings"/>
              <a:buChar char=""/>
            </a:pPr>
            <a:endParaRPr sz="3550" dirty="0">
              <a:latin typeface="Arial"/>
              <a:cs typeface="Arial"/>
            </a:endParaRPr>
          </a:p>
          <a:p>
            <a:pPr marL="286385" marR="5080" indent="-274320" algn="just">
              <a:buClr>
                <a:srgbClr val="FD8537"/>
              </a:buClr>
              <a:buSzPct val="68750"/>
              <a:buFont typeface="Wingdings"/>
              <a:buChar char=""/>
              <a:tabLst>
                <a:tab pos="287020" algn="l"/>
              </a:tabLst>
            </a:pPr>
            <a:r>
              <a:rPr sz="2400" b="1" spc="-5" dirty="0">
                <a:latin typeface="Arial"/>
                <a:cs typeface="Arial"/>
              </a:rPr>
              <a:t>Flowchart </a:t>
            </a:r>
            <a:r>
              <a:rPr sz="2400" dirty="0">
                <a:latin typeface="Arial"/>
                <a:cs typeface="Arial"/>
              </a:rPr>
              <a:t>- </a:t>
            </a:r>
            <a:r>
              <a:rPr sz="2400" spc="-5" dirty="0">
                <a:latin typeface="Arial"/>
                <a:cs typeface="Arial"/>
              </a:rPr>
              <a:t>a traditional </a:t>
            </a:r>
            <a:r>
              <a:rPr sz="2400" b="1" dirty="0">
                <a:solidFill>
                  <a:srgbClr val="00B050"/>
                </a:solidFill>
                <a:latin typeface="Arial"/>
                <a:cs typeface="Arial"/>
              </a:rPr>
              <a:t>graphical </a:t>
            </a:r>
            <a:r>
              <a:rPr sz="2400" b="1" spc="-5" dirty="0">
                <a:solidFill>
                  <a:srgbClr val="00B050"/>
                </a:solidFill>
                <a:latin typeface="Arial"/>
                <a:cs typeface="Arial"/>
              </a:rPr>
              <a:t>tool with </a:t>
            </a:r>
            <a:r>
              <a:rPr sz="2400" b="1" dirty="0">
                <a:solidFill>
                  <a:srgbClr val="00B050"/>
                </a:solidFill>
                <a:latin typeface="Arial"/>
                <a:cs typeface="Arial"/>
              </a:rPr>
              <a:t>standardized  </a:t>
            </a:r>
            <a:r>
              <a:rPr sz="2400" b="1" spc="-5" dirty="0">
                <a:solidFill>
                  <a:srgbClr val="00B050"/>
                </a:solidFill>
                <a:latin typeface="Arial"/>
                <a:cs typeface="Arial"/>
              </a:rPr>
              <a:t>symbols</a:t>
            </a:r>
            <a:r>
              <a:rPr lang="en-US" sz="2400" spc="-5" dirty="0">
                <a:latin typeface="Arial"/>
                <a:cs typeface="Arial"/>
              </a:rPr>
              <a:t> that</a:t>
            </a:r>
            <a:r>
              <a:rPr sz="2400" spc="-5" dirty="0">
                <a:latin typeface="Arial"/>
                <a:cs typeface="Arial"/>
              </a:rPr>
              <a:t> </a:t>
            </a:r>
            <a:r>
              <a:rPr lang="en-US" sz="2400" spc="-5" dirty="0">
                <a:latin typeface="Arial"/>
                <a:cs typeface="Arial"/>
              </a:rPr>
              <a:t>s</a:t>
            </a:r>
            <a:r>
              <a:rPr sz="2400" spc="-5" dirty="0">
                <a:latin typeface="Arial"/>
                <a:cs typeface="Arial"/>
              </a:rPr>
              <a:t>how</a:t>
            </a:r>
            <a:r>
              <a:rPr lang="en-US" sz="2400" spc="-5" dirty="0">
                <a:latin typeface="Arial"/>
                <a:cs typeface="Arial"/>
              </a:rPr>
              <a:t>s</a:t>
            </a:r>
            <a:r>
              <a:rPr sz="2400" spc="-5" dirty="0">
                <a:latin typeface="Arial"/>
                <a:cs typeface="Arial"/>
              </a:rPr>
              <a:t> </a:t>
            </a:r>
            <a:r>
              <a:rPr sz="2400" dirty="0">
                <a:latin typeface="Arial"/>
                <a:cs typeface="Arial"/>
              </a:rPr>
              <a:t>the </a:t>
            </a:r>
            <a:r>
              <a:rPr sz="2400" spc="-5" dirty="0">
                <a:latin typeface="Arial"/>
                <a:cs typeface="Arial"/>
              </a:rPr>
              <a:t>sequence of </a:t>
            </a:r>
            <a:r>
              <a:rPr sz="2400" dirty="0">
                <a:latin typeface="Arial"/>
                <a:cs typeface="Arial"/>
              </a:rPr>
              <a:t>steps </a:t>
            </a:r>
            <a:r>
              <a:rPr sz="2400" spc="-5" dirty="0">
                <a:latin typeface="Arial"/>
                <a:cs typeface="Arial"/>
              </a:rPr>
              <a:t>in an</a:t>
            </a:r>
            <a:r>
              <a:rPr sz="2400" spc="50" dirty="0">
                <a:latin typeface="Arial"/>
                <a:cs typeface="Arial"/>
              </a:rPr>
              <a:t> </a:t>
            </a:r>
            <a:r>
              <a:rPr sz="2400" spc="-5" dirty="0">
                <a:latin typeface="Arial"/>
                <a:cs typeface="Arial"/>
              </a:rPr>
              <a:t>algorithm.</a:t>
            </a:r>
            <a:endParaRPr sz="2400" dirty="0">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43BF6883-167A-4DB2-B0C0-D2615BF5AA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accent2"/>
              </a:buClr>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Char char="•"/>
              <a:defRPr sz="2800">
                <a:solidFill>
                  <a:schemeClr val="tx1"/>
                </a:solidFill>
                <a:latin typeface="Arial" panose="020B0604020202020204" pitchFamily="34" charset="0"/>
              </a:defRPr>
            </a:lvl2pPr>
            <a:lvl3pPr marL="1143000" indent="-228600" algn="l" eaLnBrk="0" hangingPunct="0">
              <a:spcBef>
                <a:spcPct val="20000"/>
              </a:spcBef>
              <a:buClr>
                <a:schemeClr val="accent2"/>
              </a:buClr>
              <a:buChar char="•"/>
              <a:defRPr sz="2400">
                <a:solidFill>
                  <a:schemeClr val="tx1"/>
                </a:solidFill>
                <a:latin typeface="Arial" panose="020B0604020202020204" pitchFamily="34" charset="0"/>
              </a:defRPr>
            </a:lvl3pPr>
            <a:lvl4pPr marL="1600200" indent="-228600" algn="l" eaLnBrk="0" hangingPunct="0">
              <a:spcBef>
                <a:spcPct val="20000"/>
              </a:spcBef>
              <a:buClr>
                <a:schemeClr val="accent2"/>
              </a:buClr>
              <a:buChar char="•"/>
              <a:defRPr sz="2000">
                <a:solidFill>
                  <a:schemeClr val="tx1"/>
                </a:solidFill>
                <a:latin typeface="Arial" panose="020B0604020202020204" pitchFamily="34" charset="0"/>
              </a:defRPr>
            </a:lvl4pPr>
            <a:lvl5pPr marL="2057400" indent="-228600" algn="l" eaLnBrk="0" hangingPunct="0">
              <a:spcBef>
                <a:spcPct val="20000"/>
              </a:spcBef>
              <a:buClr>
                <a:schemeClr val="accent2"/>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9pPr>
          </a:lstStyle>
          <a:p>
            <a:pPr algn="r" eaLnBrk="1" hangingPunct="1">
              <a:spcBef>
                <a:spcPct val="0"/>
              </a:spcBef>
              <a:buClrTx/>
              <a:buFontTx/>
              <a:buNone/>
            </a:pPr>
            <a:fld id="{731F9B70-424A-40F8-B104-EFE536652EDB}" type="slidenum">
              <a:rPr lang="en-US" altLang="en-US" sz="1400"/>
              <a:pPr algn="r" eaLnBrk="1" hangingPunct="1">
                <a:spcBef>
                  <a:spcPct val="0"/>
                </a:spcBef>
                <a:buClrTx/>
                <a:buFontTx/>
                <a:buNone/>
              </a:pPr>
              <a:t>3</a:t>
            </a:fld>
            <a:endParaRPr lang="en-US" altLang="en-US" sz="1400"/>
          </a:p>
        </p:txBody>
      </p:sp>
      <p:sp>
        <p:nvSpPr>
          <p:cNvPr id="8195" name="Rectangle 2">
            <a:extLst>
              <a:ext uri="{FF2B5EF4-FFF2-40B4-BE49-F238E27FC236}">
                <a16:creationId xmlns:a16="http://schemas.microsoft.com/office/drawing/2014/main" id="{78671187-2707-47E6-A4EF-1765EDAE82DA}"/>
              </a:ext>
            </a:extLst>
          </p:cNvPr>
          <p:cNvSpPr>
            <a:spLocks noGrp="1" noChangeArrowheads="1"/>
          </p:cNvSpPr>
          <p:nvPr>
            <p:ph type="title"/>
          </p:nvPr>
        </p:nvSpPr>
        <p:spPr/>
        <p:txBody>
          <a:bodyPr/>
          <a:lstStyle/>
          <a:p>
            <a:pPr eaLnBrk="1" hangingPunct="1"/>
            <a:r>
              <a:rPr lang="en-US" altLang="en-US"/>
              <a:t>Flowcharts</a:t>
            </a:r>
            <a:endParaRPr lang="en-US" altLang="en-US" i="1"/>
          </a:p>
        </p:txBody>
      </p:sp>
      <p:sp>
        <p:nvSpPr>
          <p:cNvPr id="195587" name="Rectangle 3">
            <a:extLst>
              <a:ext uri="{FF2B5EF4-FFF2-40B4-BE49-F238E27FC236}">
                <a16:creationId xmlns:a16="http://schemas.microsoft.com/office/drawing/2014/main" id="{B9592AA4-6808-4D42-99A3-E5C597D301A9}"/>
              </a:ext>
            </a:extLst>
          </p:cNvPr>
          <p:cNvSpPr>
            <a:spLocks noGrp="1" noChangeArrowheads="1"/>
          </p:cNvSpPr>
          <p:nvPr>
            <p:ph type="body" idx="1"/>
          </p:nvPr>
        </p:nvSpPr>
        <p:spPr>
          <a:xfrm>
            <a:off x="1097280" y="1845734"/>
            <a:ext cx="10692938" cy="4023360"/>
          </a:xfrm>
        </p:spPr>
        <p:txBody>
          <a:bodyPr>
            <a:normAutofit/>
          </a:bodyPr>
          <a:lstStyle/>
          <a:p>
            <a:pPr eaLnBrk="1" hangingPunct="1"/>
            <a:endParaRPr lang="en-US" altLang="en-US" sz="4400" dirty="0"/>
          </a:p>
          <a:p>
            <a:pPr eaLnBrk="1" hangingPunct="1"/>
            <a:r>
              <a:rPr lang="en-US" altLang="en-US" sz="4400" dirty="0"/>
              <a:t>Flowcharts graphically depict the logical steps to carry out a task and show how the steps relate to each other.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7">
                                            <p:txEl>
                                              <p:pRg st="1" end="1"/>
                                            </p:txEl>
                                          </p:spTgt>
                                        </p:tgtEl>
                                        <p:attrNameLst>
                                          <p:attrName>style.visibility</p:attrName>
                                        </p:attrNameLst>
                                      </p:cBhvr>
                                      <p:to>
                                        <p:strVal val="visible"/>
                                      </p:to>
                                    </p:set>
                                    <p:animEffect transition="in" filter="wipe(left)">
                                      <p:cBhvr>
                                        <p:cTn id="7" dur="500"/>
                                        <p:tgtEl>
                                          <p:spTgt spid="1955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896F5AA-4E0C-4CE4-9ECE-74F2DDF2B61B}"/>
              </a:ext>
            </a:extLst>
          </p:cNvPr>
          <p:cNvPicPr>
            <a:picLocks noGrp="1" noChangeAspect="1"/>
          </p:cNvPicPr>
          <p:nvPr>
            <p:ph idx="1"/>
          </p:nvPr>
        </p:nvPicPr>
        <p:blipFill rotWithShape="1">
          <a:blip r:embed="rId2"/>
          <a:srcRect l="10312" t="23285" r="21529" b="8193"/>
          <a:stretch/>
        </p:blipFill>
        <p:spPr>
          <a:xfrm>
            <a:off x="850790" y="159026"/>
            <a:ext cx="10925298" cy="6175169"/>
          </a:xfrm>
        </p:spPr>
      </p:pic>
    </p:spTree>
    <p:extLst>
      <p:ext uri="{BB962C8B-B14F-4D97-AF65-F5344CB8AC3E}">
        <p14:creationId xmlns:p14="http://schemas.microsoft.com/office/powerpoint/2010/main" val="2786235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DC17CD75-CC9D-4166-BA2A-2802DC8830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accent2"/>
              </a:buClr>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Char char="•"/>
              <a:defRPr sz="2800">
                <a:solidFill>
                  <a:schemeClr val="tx1"/>
                </a:solidFill>
                <a:latin typeface="Arial" panose="020B0604020202020204" pitchFamily="34" charset="0"/>
              </a:defRPr>
            </a:lvl2pPr>
            <a:lvl3pPr marL="1143000" indent="-228600" algn="l" eaLnBrk="0" hangingPunct="0">
              <a:spcBef>
                <a:spcPct val="20000"/>
              </a:spcBef>
              <a:buClr>
                <a:schemeClr val="accent2"/>
              </a:buClr>
              <a:buChar char="•"/>
              <a:defRPr sz="2400">
                <a:solidFill>
                  <a:schemeClr val="tx1"/>
                </a:solidFill>
                <a:latin typeface="Arial" panose="020B0604020202020204" pitchFamily="34" charset="0"/>
              </a:defRPr>
            </a:lvl3pPr>
            <a:lvl4pPr marL="1600200" indent="-228600" algn="l" eaLnBrk="0" hangingPunct="0">
              <a:spcBef>
                <a:spcPct val="20000"/>
              </a:spcBef>
              <a:buClr>
                <a:schemeClr val="accent2"/>
              </a:buClr>
              <a:buChar char="•"/>
              <a:defRPr sz="2000">
                <a:solidFill>
                  <a:schemeClr val="tx1"/>
                </a:solidFill>
                <a:latin typeface="Arial" panose="020B0604020202020204" pitchFamily="34" charset="0"/>
              </a:defRPr>
            </a:lvl4pPr>
            <a:lvl5pPr marL="2057400" indent="-228600" algn="l" eaLnBrk="0" hangingPunct="0">
              <a:spcBef>
                <a:spcPct val="20000"/>
              </a:spcBef>
              <a:buClr>
                <a:schemeClr val="accent2"/>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9pPr>
          </a:lstStyle>
          <a:p>
            <a:pPr algn="r" eaLnBrk="1" hangingPunct="1">
              <a:spcBef>
                <a:spcPct val="0"/>
              </a:spcBef>
              <a:buClrTx/>
              <a:buFontTx/>
              <a:buNone/>
            </a:pPr>
            <a:fld id="{EE585613-4920-4E53-AF1E-FDF04A6F1F90}" type="slidenum">
              <a:rPr lang="en-US" altLang="en-US" sz="1400"/>
              <a:pPr algn="r" eaLnBrk="1" hangingPunct="1">
                <a:spcBef>
                  <a:spcPct val="0"/>
                </a:spcBef>
                <a:buClrTx/>
                <a:buFontTx/>
                <a:buNone/>
              </a:pPr>
              <a:t>5</a:t>
            </a:fld>
            <a:endParaRPr lang="en-US" altLang="en-US" sz="1400"/>
          </a:p>
        </p:txBody>
      </p:sp>
      <p:sp>
        <p:nvSpPr>
          <p:cNvPr id="10243" name="Rectangle 2">
            <a:extLst>
              <a:ext uri="{FF2B5EF4-FFF2-40B4-BE49-F238E27FC236}">
                <a16:creationId xmlns:a16="http://schemas.microsoft.com/office/drawing/2014/main" id="{88E3A366-A899-4C75-B1DD-9928365518C1}"/>
              </a:ext>
            </a:extLst>
          </p:cNvPr>
          <p:cNvSpPr>
            <a:spLocks noGrp="1" noChangeArrowheads="1"/>
          </p:cNvSpPr>
          <p:nvPr>
            <p:ph type="title"/>
          </p:nvPr>
        </p:nvSpPr>
        <p:spPr/>
        <p:txBody>
          <a:bodyPr/>
          <a:lstStyle/>
          <a:p>
            <a:pPr eaLnBrk="1" hangingPunct="1"/>
            <a:r>
              <a:rPr lang="en-US" altLang="en-US"/>
              <a:t>Flowchart symbols continued</a:t>
            </a:r>
          </a:p>
        </p:txBody>
      </p:sp>
      <p:pic>
        <p:nvPicPr>
          <p:cNvPr id="10244" name="Picture 4" descr="AACWQOD0">
            <a:extLst>
              <a:ext uri="{FF2B5EF4-FFF2-40B4-BE49-F238E27FC236}">
                <a16:creationId xmlns:a16="http://schemas.microsoft.com/office/drawing/2014/main" id="{4E7DD65E-311E-4E5B-BAA8-B91733F2C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2362200"/>
            <a:ext cx="8393113"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356495D8-5B28-4F1F-B59B-51042537FC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accent2"/>
              </a:buClr>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Char char="•"/>
              <a:defRPr sz="2800">
                <a:solidFill>
                  <a:schemeClr val="tx1"/>
                </a:solidFill>
                <a:latin typeface="Arial" panose="020B0604020202020204" pitchFamily="34" charset="0"/>
              </a:defRPr>
            </a:lvl2pPr>
            <a:lvl3pPr marL="1143000" indent="-228600" algn="l" eaLnBrk="0" hangingPunct="0">
              <a:spcBef>
                <a:spcPct val="20000"/>
              </a:spcBef>
              <a:buClr>
                <a:schemeClr val="accent2"/>
              </a:buClr>
              <a:buChar char="•"/>
              <a:defRPr sz="2400">
                <a:solidFill>
                  <a:schemeClr val="tx1"/>
                </a:solidFill>
                <a:latin typeface="Arial" panose="020B0604020202020204" pitchFamily="34" charset="0"/>
              </a:defRPr>
            </a:lvl3pPr>
            <a:lvl4pPr marL="1600200" indent="-228600" algn="l" eaLnBrk="0" hangingPunct="0">
              <a:spcBef>
                <a:spcPct val="20000"/>
              </a:spcBef>
              <a:buClr>
                <a:schemeClr val="accent2"/>
              </a:buClr>
              <a:buChar char="•"/>
              <a:defRPr sz="2000">
                <a:solidFill>
                  <a:schemeClr val="tx1"/>
                </a:solidFill>
                <a:latin typeface="Arial" panose="020B0604020202020204" pitchFamily="34" charset="0"/>
              </a:defRPr>
            </a:lvl4pPr>
            <a:lvl5pPr marL="2057400" indent="-228600" algn="l" eaLnBrk="0" hangingPunct="0">
              <a:spcBef>
                <a:spcPct val="20000"/>
              </a:spcBef>
              <a:buClr>
                <a:schemeClr val="accent2"/>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9pPr>
          </a:lstStyle>
          <a:p>
            <a:pPr algn="r" eaLnBrk="1" hangingPunct="1">
              <a:spcBef>
                <a:spcPct val="0"/>
              </a:spcBef>
              <a:buClrTx/>
              <a:buFontTx/>
              <a:buNone/>
            </a:pPr>
            <a:fld id="{D1F25439-D6C1-4B66-9F8E-0CDAAF71CF25}" type="slidenum">
              <a:rPr lang="en-US" altLang="en-US" sz="1400"/>
              <a:pPr algn="r" eaLnBrk="1" hangingPunct="1">
                <a:spcBef>
                  <a:spcPct val="0"/>
                </a:spcBef>
                <a:buClrTx/>
                <a:buFontTx/>
                <a:buNone/>
              </a:pPr>
              <a:t>6</a:t>
            </a:fld>
            <a:endParaRPr lang="en-US" altLang="en-US" sz="1400"/>
          </a:p>
        </p:txBody>
      </p:sp>
      <p:sp>
        <p:nvSpPr>
          <p:cNvPr id="17411" name="Rectangle 2">
            <a:extLst>
              <a:ext uri="{FF2B5EF4-FFF2-40B4-BE49-F238E27FC236}">
                <a16:creationId xmlns:a16="http://schemas.microsoft.com/office/drawing/2014/main" id="{AC67CE27-6EE0-42D8-AAA2-E4A8DAA5B740}"/>
              </a:ext>
            </a:extLst>
          </p:cNvPr>
          <p:cNvSpPr>
            <a:spLocks noGrp="1" noChangeArrowheads="1"/>
          </p:cNvSpPr>
          <p:nvPr>
            <p:ph type="title"/>
          </p:nvPr>
        </p:nvSpPr>
        <p:spPr>
          <a:xfrm>
            <a:off x="2874964" y="609600"/>
            <a:ext cx="7793037" cy="1143000"/>
          </a:xfrm>
        </p:spPr>
        <p:txBody>
          <a:bodyPr/>
          <a:lstStyle/>
          <a:p>
            <a:pPr eaLnBrk="1" hangingPunct="1"/>
            <a:r>
              <a:rPr lang="en-US" altLang="en-US"/>
              <a:t>Decision flow chart</a:t>
            </a:r>
          </a:p>
        </p:txBody>
      </p:sp>
      <p:pic>
        <p:nvPicPr>
          <p:cNvPr id="17412" name="Picture 4" descr="AACWQOG0">
            <a:extLst>
              <a:ext uri="{FF2B5EF4-FFF2-40B4-BE49-F238E27FC236}">
                <a16:creationId xmlns:a16="http://schemas.microsoft.com/office/drawing/2014/main" id="{7DAA6D85-0E5C-4AEB-B5BB-BBBB487A61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2133600"/>
            <a:ext cx="7650163"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A559-E89E-470E-A6F8-A7C6C306CDA3}"/>
              </a:ext>
            </a:extLst>
          </p:cNvPr>
          <p:cNvSpPr>
            <a:spLocks noGrp="1"/>
          </p:cNvSpPr>
          <p:nvPr>
            <p:ph type="title"/>
          </p:nvPr>
        </p:nvSpPr>
        <p:spPr/>
        <p:txBody>
          <a:bodyPr/>
          <a:lstStyle/>
          <a:p>
            <a:r>
              <a:rPr lang="en-US" dirty="0"/>
              <a:t>Flowchart – Example 1</a:t>
            </a:r>
          </a:p>
        </p:txBody>
      </p:sp>
      <p:sp>
        <p:nvSpPr>
          <p:cNvPr id="3" name="Content Placeholder 2">
            <a:extLst>
              <a:ext uri="{FF2B5EF4-FFF2-40B4-BE49-F238E27FC236}">
                <a16:creationId xmlns:a16="http://schemas.microsoft.com/office/drawing/2014/main" id="{E80EB516-4E9F-4F91-B824-71222F87A2F4}"/>
              </a:ext>
            </a:extLst>
          </p:cNvPr>
          <p:cNvSpPr>
            <a:spLocks noGrp="1"/>
          </p:cNvSpPr>
          <p:nvPr>
            <p:ph idx="1"/>
          </p:nvPr>
        </p:nvSpPr>
        <p:spPr>
          <a:xfrm>
            <a:off x="1097280" y="1845734"/>
            <a:ext cx="10058400" cy="4555066"/>
          </a:xfrm>
        </p:spPr>
        <p:txBody>
          <a:bodyPr/>
          <a:lstStyle/>
          <a:p>
            <a:pPr marL="0" indent="0">
              <a:buNone/>
            </a:pPr>
            <a:r>
              <a:rPr lang="en-US" sz="3000" b="0" i="0" u="none" strike="noStrike" baseline="0" dirty="0">
                <a:solidFill>
                  <a:srgbClr val="000000"/>
                </a:solidFill>
                <a:latin typeface="Times New Roman" panose="02020603050405020304" pitchFamily="18" charset="0"/>
              </a:rPr>
              <a:t>Write an algorithm, using pseudocode and a flowchart to inputs two numbers and find sum of these numbers. </a:t>
            </a:r>
          </a:p>
          <a:p>
            <a:endParaRPr lang="en-US" dirty="0"/>
          </a:p>
        </p:txBody>
      </p:sp>
      <p:pic>
        <p:nvPicPr>
          <p:cNvPr id="5" name="Picture 4">
            <a:extLst>
              <a:ext uri="{FF2B5EF4-FFF2-40B4-BE49-F238E27FC236}">
                <a16:creationId xmlns:a16="http://schemas.microsoft.com/office/drawing/2014/main" id="{BF889F45-3E70-472A-86C4-FC4B043F2B4A}"/>
              </a:ext>
            </a:extLst>
          </p:cNvPr>
          <p:cNvPicPr>
            <a:picLocks noChangeAspect="1"/>
          </p:cNvPicPr>
          <p:nvPr/>
        </p:nvPicPr>
        <p:blipFill rotWithShape="1">
          <a:blip r:embed="rId2"/>
          <a:srcRect l="10435" t="34969" r="28587" b="9545"/>
          <a:stretch/>
        </p:blipFill>
        <p:spPr>
          <a:xfrm>
            <a:off x="1974573" y="2705800"/>
            <a:ext cx="7434470" cy="3803374"/>
          </a:xfrm>
          <a:prstGeom prst="rect">
            <a:avLst/>
          </a:prstGeom>
        </p:spPr>
      </p:pic>
    </p:spTree>
    <p:extLst>
      <p:ext uri="{BB962C8B-B14F-4D97-AF65-F5344CB8AC3E}">
        <p14:creationId xmlns:p14="http://schemas.microsoft.com/office/powerpoint/2010/main" val="3865237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E7855B-AC74-43E6-A11F-10614C3BD14E}"/>
              </a:ext>
            </a:extLst>
          </p:cNvPr>
          <p:cNvSpPr>
            <a:spLocks noGrp="1"/>
          </p:cNvSpPr>
          <p:nvPr>
            <p:ph type="title"/>
          </p:nvPr>
        </p:nvSpPr>
        <p:spPr>
          <a:xfrm>
            <a:off x="296486" y="286603"/>
            <a:ext cx="6162502" cy="1450757"/>
          </a:xfrm>
        </p:spPr>
        <p:txBody>
          <a:bodyPr/>
          <a:lstStyle/>
          <a:p>
            <a:r>
              <a:rPr lang="en-US" dirty="0"/>
              <a:t>Flowchart – Example 2</a:t>
            </a:r>
          </a:p>
        </p:txBody>
      </p:sp>
      <p:sp>
        <p:nvSpPr>
          <p:cNvPr id="5" name="Content Placeholder 4">
            <a:extLst>
              <a:ext uri="{FF2B5EF4-FFF2-40B4-BE49-F238E27FC236}">
                <a16:creationId xmlns:a16="http://schemas.microsoft.com/office/drawing/2014/main" id="{83D54F60-A340-468F-AA73-C9325ED1264B}"/>
              </a:ext>
            </a:extLst>
          </p:cNvPr>
          <p:cNvSpPr>
            <a:spLocks noGrp="1"/>
          </p:cNvSpPr>
          <p:nvPr>
            <p:ph sz="half" idx="1"/>
          </p:nvPr>
        </p:nvSpPr>
        <p:spPr>
          <a:xfrm>
            <a:off x="207818" y="1845734"/>
            <a:ext cx="5827221" cy="4361102"/>
          </a:xfrm>
        </p:spPr>
        <p:txBody>
          <a:bodyPr/>
          <a:lstStyle/>
          <a:p>
            <a:endParaRPr lang="en-US" dirty="0"/>
          </a:p>
          <a:p>
            <a:endParaRPr lang="en-US" dirty="0"/>
          </a:p>
          <a:p>
            <a:endParaRPr lang="en-US" dirty="0"/>
          </a:p>
          <a:p>
            <a:r>
              <a:rPr lang="en-US" sz="2500" b="1" dirty="0"/>
              <a:t>Write an algorithm using flowchart to find the average of three numbers</a:t>
            </a:r>
          </a:p>
        </p:txBody>
      </p:sp>
      <p:pic>
        <p:nvPicPr>
          <p:cNvPr id="8" name="Content Placeholder 7">
            <a:extLst>
              <a:ext uri="{FF2B5EF4-FFF2-40B4-BE49-F238E27FC236}">
                <a16:creationId xmlns:a16="http://schemas.microsoft.com/office/drawing/2014/main" id="{94882DDE-D4BC-4A67-93B9-0534AD703E22}"/>
              </a:ext>
            </a:extLst>
          </p:cNvPr>
          <p:cNvPicPr>
            <a:picLocks noGrp="1" noChangeAspect="1"/>
          </p:cNvPicPr>
          <p:nvPr>
            <p:ph sz="half" idx="2"/>
          </p:nvPr>
        </p:nvPicPr>
        <p:blipFill rotWithShape="1">
          <a:blip r:embed="rId2"/>
          <a:srcRect l="13519" t="20832" r="65030" b="38900"/>
          <a:stretch/>
        </p:blipFill>
        <p:spPr>
          <a:xfrm>
            <a:off x="6805352" y="62345"/>
            <a:ext cx="4652357" cy="6219101"/>
          </a:xfrm>
        </p:spPr>
      </p:pic>
    </p:spTree>
    <p:extLst>
      <p:ext uri="{BB962C8B-B14F-4D97-AF65-F5344CB8AC3E}">
        <p14:creationId xmlns:p14="http://schemas.microsoft.com/office/powerpoint/2010/main" val="1004952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AC215B09-8FEC-4109-9171-656F0E8B7817}"/>
              </a:ext>
            </a:extLst>
          </p:cNvPr>
          <p:cNvSpPr>
            <a:spLocks noGrp="1" noChangeArrowheads="1"/>
          </p:cNvSpPr>
          <p:nvPr>
            <p:ph type="title"/>
          </p:nvPr>
        </p:nvSpPr>
        <p:spPr/>
        <p:txBody>
          <a:bodyPr/>
          <a:lstStyle/>
          <a:p>
            <a:pPr eaLnBrk="1" hangingPunct="1"/>
            <a:r>
              <a:rPr lang="en-US" altLang="en-US" dirty="0"/>
              <a:t>Flowchart ----- Example 3</a:t>
            </a:r>
          </a:p>
        </p:txBody>
      </p:sp>
      <p:sp>
        <p:nvSpPr>
          <p:cNvPr id="2" name="Content Placeholder 1">
            <a:extLst>
              <a:ext uri="{FF2B5EF4-FFF2-40B4-BE49-F238E27FC236}">
                <a16:creationId xmlns:a16="http://schemas.microsoft.com/office/drawing/2014/main" id="{30220998-42FF-4363-B083-3E7D49B522C2}"/>
              </a:ext>
            </a:extLst>
          </p:cNvPr>
          <p:cNvSpPr>
            <a:spLocks noGrp="1"/>
          </p:cNvSpPr>
          <p:nvPr>
            <p:ph sz="half" idx="1"/>
          </p:nvPr>
        </p:nvSpPr>
        <p:spPr>
          <a:xfrm>
            <a:off x="437860" y="1845734"/>
            <a:ext cx="6766504" cy="4458084"/>
          </a:xfrm>
        </p:spPr>
        <p:txBody>
          <a:bodyPr>
            <a:noAutofit/>
          </a:bodyPr>
          <a:lstStyle/>
          <a:p>
            <a:pPr eaLnBrk="1" hangingPunct="1">
              <a:buFontTx/>
              <a:buNone/>
            </a:pPr>
            <a:r>
              <a:rPr lang="en-US" altLang="en-US" sz="2600" b="1" dirty="0">
                <a:latin typeface="Times New Roman" panose="02020603050405020304" pitchFamily="18" charset="0"/>
                <a:cs typeface="Times New Roman" panose="02020603050405020304" pitchFamily="18" charset="0"/>
              </a:rPr>
              <a:t>Program</a:t>
            </a:r>
            <a:r>
              <a:rPr lang="en-US" altLang="en-US" sz="2600" dirty="0">
                <a:latin typeface="Times New Roman" panose="02020603050405020304" pitchFamily="18" charset="0"/>
                <a:cs typeface="Times New Roman" panose="02020603050405020304" pitchFamily="18" charset="0"/>
              </a:rPr>
              <a:t>: Determine the direction of a numbered NYC street</a:t>
            </a:r>
          </a:p>
          <a:p>
            <a:pPr eaLnBrk="1" hangingPunct="1">
              <a:buFontTx/>
              <a:buNone/>
            </a:pPr>
            <a:endParaRPr lang="en-US" altLang="en-US" sz="2600" dirty="0">
              <a:latin typeface="Times New Roman" panose="02020603050405020304" pitchFamily="18" charset="0"/>
              <a:cs typeface="Times New Roman" panose="02020603050405020304" pitchFamily="18" charset="0"/>
            </a:endParaRPr>
          </a:p>
          <a:p>
            <a:pPr eaLnBrk="1" hangingPunct="1">
              <a:buFontTx/>
              <a:buNone/>
            </a:pPr>
            <a:r>
              <a:rPr lang="en-US" altLang="en-US" sz="2600" dirty="0">
                <a:latin typeface="Times New Roman" panose="02020603050405020304" pitchFamily="18" charset="0"/>
                <a:cs typeface="Times New Roman" panose="02020603050405020304" pitchFamily="18" charset="0"/>
              </a:rPr>
              <a:t>Get street</a:t>
            </a:r>
          </a:p>
          <a:p>
            <a:pPr lvl="1">
              <a:buNone/>
            </a:pPr>
            <a:r>
              <a:rPr lang="en-US" altLang="en-US" sz="2400" dirty="0">
                <a:latin typeface="Times New Roman" panose="02020603050405020304" pitchFamily="18" charset="0"/>
                <a:cs typeface="Times New Roman" panose="02020603050405020304" pitchFamily="18" charset="0"/>
              </a:rPr>
              <a:t>If street is even Then</a:t>
            </a:r>
          </a:p>
          <a:p>
            <a:pPr lvl="1">
              <a:buNone/>
            </a:pPr>
            <a:r>
              <a:rPr lang="en-US" altLang="en-US" sz="2400" dirty="0">
                <a:latin typeface="Times New Roman" panose="02020603050405020304" pitchFamily="18" charset="0"/>
                <a:cs typeface="Times New Roman" panose="02020603050405020304" pitchFamily="18" charset="0"/>
              </a:rPr>
              <a:t>  Display Eastbound</a:t>
            </a:r>
          </a:p>
          <a:p>
            <a:pPr eaLnBrk="1" hangingPunct="1">
              <a:buFontTx/>
              <a:buNone/>
            </a:pPr>
            <a:r>
              <a:rPr lang="en-US" altLang="en-US" sz="2600" dirty="0">
                <a:latin typeface="Times New Roman" panose="02020603050405020304" pitchFamily="18" charset="0"/>
                <a:cs typeface="Times New Roman" panose="02020603050405020304" pitchFamily="18" charset="0"/>
              </a:rPr>
              <a:t>Else</a:t>
            </a:r>
          </a:p>
          <a:p>
            <a:pPr eaLnBrk="1" hangingPunct="1">
              <a:buFontTx/>
              <a:buNone/>
            </a:pPr>
            <a:r>
              <a:rPr lang="en-US" altLang="en-US" sz="2600" dirty="0">
                <a:latin typeface="Times New Roman" panose="02020603050405020304" pitchFamily="18" charset="0"/>
                <a:cs typeface="Times New Roman" panose="02020603050405020304" pitchFamily="18" charset="0"/>
              </a:rPr>
              <a:t>  Display Westbound</a:t>
            </a:r>
          </a:p>
          <a:p>
            <a:pPr eaLnBrk="1" hangingPunct="1">
              <a:buFontTx/>
              <a:buNone/>
            </a:pPr>
            <a:r>
              <a:rPr lang="en-US" altLang="en-US" sz="2600" dirty="0">
                <a:latin typeface="Times New Roman" panose="02020603050405020304" pitchFamily="18" charset="0"/>
                <a:cs typeface="Times New Roman" panose="02020603050405020304" pitchFamily="18" charset="0"/>
              </a:rPr>
              <a:t>End If</a:t>
            </a:r>
          </a:p>
          <a:p>
            <a:endParaRPr lang="en-US" sz="2600" dirty="0">
              <a:latin typeface="Times New Roman" panose="02020603050405020304" pitchFamily="18" charset="0"/>
              <a:cs typeface="Times New Roman" panose="02020603050405020304" pitchFamily="18" charset="0"/>
            </a:endParaRPr>
          </a:p>
        </p:txBody>
      </p:sp>
      <p:sp>
        <p:nvSpPr>
          <p:cNvPr id="20482" name="Slide Number Placeholder 5">
            <a:extLst>
              <a:ext uri="{FF2B5EF4-FFF2-40B4-BE49-F238E27FC236}">
                <a16:creationId xmlns:a16="http://schemas.microsoft.com/office/drawing/2014/main" id="{6B73847C-4704-48C3-947E-02F2560990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accent2"/>
              </a:buClr>
              <a:buChar char="•"/>
              <a:defRPr sz="3200">
                <a:solidFill>
                  <a:schemeClr val="tx1"/>
                </a:solidFill>
                <a:latin typeface="Arial" panose="020B0604020202020204" pitchFamily="34" charset="0"/>
              </a:defRPr>
            </a:lvl1pPr>
            <a:lvl2pPr marL="742950" indent="-285750" algn="l" eaLnBrk="0" hangingPunct="0">
              <a:spcBef>
                <a:spcPct val="20000"/>
              </a:spcBef>
              <a:buClr>
                <a:schemeClr val="accent2"/>
              </a:buClr>
              <a:buChar char="•"/>
              <a:defRPr sz="2800">
                <a:solidFill>
                  <a:schemeClr val="tx1"/>
                </a:solidFill>
                <a:latin typeface="Arial" panose="020B0604020202020204" pitchFamily="34" charset="0"/>
              </a:defRPr>
            </a:lvl2pPr>
            <a:lvl3pPr marL="1143000" indent="-228600" algn="l" eaLnBrk="0" hangingPunct="0">
              <a:spcBef>
                <a:spcPct val="20000"/>
              </a:spcBef>
              <a:buClr>
                <a:schemeClr val="accent2"/>
              </a:buClr>
              <a:buChar char="•"/>
              <a:defRPr sz="2400">
                <a:solidFill>
                  <a:schemeClr val="tx1"/>
                </a:solidFill>
                <a:latin typeface="Arial" panose="020B0604020202020204" pitchFamily="34" charset="0"/>
              </a:defRPr>
            </a:lvl3pPr>
            <a:lvl4pPr marL="1600200" indent="-228600" algn="l" eaLnBrk="0" hangingPunct="0">
              <a:spcBef>
                <a:spcPct val="20000"/>
              </a:spcBef>
              <a:buClr>
                <a:schemeClr val="accent2"/>
              </a:buClr>
              <a:buChar char="•"/>
              <a:defRPr sz="2000">
                <a:solidFill>
                  <a:schemeClr val="tx1"/>
                </a:solidFill>
                <a:latin typeface="Arial" panose="020B0604020202020204" pitchFamily="34" charset="0"/>
              </a:defRPr>
            </a:lvl4pPr>
            <a:lvl5pPr marL="2057400" indent="-228600" algn="l" eaLnBrk="0" hangingPunct="0">
              <a:spcBef>
                <a:spcPct val="20000"/>
              </a:spcBef>
              <a:buClr>
                <a:schemeClr val="accent2"/>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Arial" panose="020B0604020202020204" pitchFamily="34" charset="0"/>
              </a:defRPr>
            </a:lvl9pPr>
          </a:lstStyle>
          <a:p>
            <a:pPr algn="r" eaLnBrk="1" hangingPunct="1">
              <a:spcBef>
                <a:spcPct val="0"/>
              </a:spcBef>
              <a:buClrTx/>
              <a:buFontTx/>
              <a:buNone/>
            </a:pPr>
            <a:fld id="{5784E923-D1D5-485D-A153-90F42247F8E2}" type="slidenum">
              <a:rPr lang="en-US" altLang="en-US" sz="1400"/>
              <a:pPr algn="r" eaLnBrk="1" hangingPunct="1">
                <a:spcBef>
                  <a:spcPct val="0"/>
                </a:spcBef>
                <a:buClrTx/>
                <a:buFontTx/>
                <a:buNone/>
              </a:pPr>
              <a:t>9</a:t>
            </a:fld>
            <a:endParaRPr lang="en-US" altLang="en-US" sz="1400"/>
          </a:p>
        </p:txBody>
      </p:sp>
      <p:pic>
        <p:nvPicPr>
          <p:cNvPr id="20484" name="Picture 4" descr="AACWQOH0">
            <a:extLst>
              <a:ext uri="{FF2B5EF4-FFF2-40B4-BE49-F238E27FC236}">
                <a16:creationId xmlns:a16="http://schemas.microsoft.com/office/drawing/2014/main" id="{1563312B-B626-4A0E-BA10-9C18667DA6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1565" y="1607129"/>
            <a:ext cx="4092575"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Arrow Connector 4">
            <a:extLst>
              <a:ext uri="{FF2B5EF4-FFF2-40B4-BE49-F238E27FC236}">
                <a16:creationId xmlns:a16="http://schemas.microsoft.com/office/drawing/2014/main" id="{8F5B90E5-53C0-4A4E-BF42-98EE70D6550C}"/>
              </a:ext>
            </a:extLst>
          </p:cNvPr>
          <p:cNvCxnSpPr>
            <a:cxnSpLocks/>
          </p:cNvCxnSpPr>
          <p:nvPr/>
        </p:nvCxnSpPr>
        <p:spPr>
          <a:xfrm flipV="1">
            <a:off x="3574473" y="3095401"/>
            <a:ext cx="5347854" cy="1757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2FEDFE-7094-4E6E-B03D-34170B5FB953}"/>
              </a:ext>
            </a:extLst>
          </p:cNvPr>
          <p:cNvSpPr txBox="1"/>
          <p:nvPr/>
        </p:nvSpPr>
        <p:spPr>
          <a:xfrm>
            <a:off x="4197927" y="3494699"/>
            <a:ext cx="2078182" cy="646331"/>
          </a:xfrm>
          <a:prstGeom prst="rect">
            <a:avLst/>
          </a:prstGeom>
          <a:noFill/>
        </p:spPr>
        <p:txBody>
          <a:bodyPr wrap="square" rtlCol="0">
            <a:spAutoFit/>
          </a:bodyPr>
          <a:lstStyle/>
          <a:p>
            <a:r>
              <a:rPr lang="en-US" dirty="0"/>
              <a:t>Flowchart for the program segment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3CB9D3-6F7F-443F-94E9-119D2DCF38B6}"/>
              </a:ext>
            </a:extLst>
          </p:cNvPr>
          <p:cNvSpPr>
            <a:spLocks noGrp="1"/>
          </p:cNvSpPr>
          <p:nvPr>
            <p:ph type="title"/>
          </p:nvPr>
        </p:nvSpPr>
        <p:spPr/>
        <p:txBody>
          <a:bodyPr/>
          <a:lstStyle/>
          <a:p>
            <a:r>
              <a:rPr lang="en-US" dirty="0"/>
              <a:t>Flowchart – Exercise 1</a:t>
            </a:r>
          </a:p>
        </p:txBody>
      </p:sp>
      <p:sp>
        <p:nvSpPr>
          <p:cNvPr id="8" name="Content Placeholder 7">
            <a:extLst>
              <a:ext uri="{FF2B5EF4-FFF2-40B4-BE49-F238E27FC236}">
                <a16:creationId xmlns:a16="http://schemas.microsoft.com/office/drawing/2014/main" id="{78A38A72-849E-45A6-8B80-C91653749583}"/>
              </a:ext>
            </a:extLst>
          </p:cNvPr>
          <p:cNvSpPr>
            <a:spLocks noGrp="1"/>
          </p:cNvSpPr>
          <p:nvPr>
            <p:ph idx="1"/>
          </p:nvPr>
        </p:nvSpPr>
        <p:spPr>
          <a:xfrm>
            <a:off x="249382" y="1845734"/>
            <a:ext cx="11790218" cy="4023360"/>
          </a:xfrm>
        </p:spPr>
        <p:txBody>
          <a:bodyPr/>
          <a:lstStyle/>
          <a:p>
            <a:endParaRPr lang="en-US" sz="3000" b="0" i="0" u="none" strike="noStrike" baseline="0" dirty="0">
              <a:solidFill>
                <a:srgbClr val="000000"/>
              </a:solidFill>
              <a:latin typeface="Times New Roman" panose="02020603050405020304" pitchFamily="18" charset="0"/>
              <a:cs typeface="Times New Roman" panose="02020603050405020304" pitchFamily="18" charset="0"/>
            </a:endParaRPr>
          </a:p>
          <a:p>
            <a:endParaRPr lang="en-US" sz="3000" dirty="0">
              <a:solidFill>
                <a:srgbClr val="000000"/>
              </a:solidFill>
              <a:latin typeface="Times New Roman" panose="02020603050405020304" pitchFamily="18" charset="0"/>
              <a:cs typeface="Times New Roman" panose="02020603050405020304" pitchFamily="18" charset="0"/>
            </a:endParaRPr>
          </a:p>
          <a:p>
            <a:r>
              <a:rPr lang="en-US" sz="3000" b="0" i="0" u="none" strike="noStrike" baseline="0" dirty="0">
                <a:solidFill>
                  <a:srgbClr val="000000"/>
                </a:solidFill>
                <a:latin typeface="Times New Roman" panose="02020603050405020304" pitchFamily="18" charset="0"/>
                <a:cs typeface="Times New Roman" panose="02020603050405020304" pitchFamily="18" charset="0"/>
              </a:rPr>
              <a:t>Write an algorithm using </a:t>
            </a:r>
            <a:r>
              <a:rPr lang="en-US" sz="3000" b="1" i="0" u="none" strike="noStrike" baseline="0" dirty="0">
                <a:solidFill>
                  <a:srgbClr val="000000"/>
                </a:solidFill>
                <a:latin typeface="Times New Roman" panose="02020603050405020304" pitchFamily="18" charset="0"/>
                <a:cs typeface="Times New Roman" panose="02020603050405020304" pitchFamily="18" charset="0"/>
              </a:rPr>
              <a:t>pseudocode and flowchart </a:t>
            </a:r>
            <a:r>
              <a:rPr lang="en-US" sz="3000" b="0" i="0" u="none" strike="noStrike" baseline="0" dirty="0">
                <a:solidFill>
                  <a:srgbClr val="000000"/>
                </a:solidFill>
                <a:latin typeface="Times New Roman" panose="02020603050405020304" pitchFamily="18" charset="0"/>
                <a:cs typeface="Times New Roman" panose="02020603050405020304" pitchFamily="18" charset="0"/>
              </a:rPr>
              <a:t>to determine a student’s final grade and indicate he or she passed or failed. The final grade is calculated as the average of four marks. If the final grade is below 40, print fail else print pass.</a:t>
            </a:r>
          </a:p>
          <a:p>
            <a:endParaRPr lang="en-US" dirty="0"/>
          </a:p>
        </p:txBody>
      </p:sp>
    </p:spTree>
    <p:extLst>
      <p:ext uri="{BB962C8B-B14F-4D97-AF65-F5344CB8AC3E}">
        <p14:creationId xmlns:p14="http://schemas.microsoft.com/office/powerpoint/2010/main" val="2374764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C78FF-D1AF-45DA-9C3F-11DE8C27D7F1}"/>
              </a:ext>
            </a:extLst>
          </p:cNvPr>
          <p:cNvSpPr>
            <a:spLocks noGrp="1"/>
          </p:cNvSpPr>
          <p:nvPr>
            <p:ph type="title"/>
          </p:nvPr>
        </p:nvSpPr>
        <p:spPr/>
        <p:txBody>
          <a:bodyPr/>
          <a:lstStyle/>
          <a:p>
            <a:r>
              <a:rPr lang="en-US" dirty="0"/>
              <a:t>Flowchart – Exercise 2</a:t>
            </a:r>
          </a:p>
        </p:txBody>
      </p:sp>
      <p:sp>
        <p:nvSpPr>
          <p:cNvPr id="3" name="Content Placeholder 2">
            <a:extLst>
              <a:ext uri="{FF2B5EF4-FFF2-40B4-BE49-F238E27FC236}">
                <a16:creationId xmlns:a16="http://schemas.microsoft.com/office/drawing/2014/main" id="{138FB753-CC63-42E2-AAE9-A6C691C3B87E}"/>
              </a:ext>
            </a:extLst>
          </p:cNvPr>
          <p:cNvSpPr>
            <a:spLocks noGrp="1"/>
          </p:cNvSpPr>
          <p:nvPr>
            <p:ph idx="1"/>
          </p:nvPr>
        </p:nvSpPr>
        <p:spPr>
          <a:xfrm>
            <a:off x="526473" y="1845734"/>
            <a:ext cx="11180617" cy="4023360"/>
          </a:xfrm>
        </p:spPr>
        <p:txBody>
          <a:bodyPr>
            <a:normAutofit/>
          </a:bodyPr>
          <a:lstStyle/>
          <a:p>
            <a:endParaRPr lang="en-US" sz="4000" b="0" i="0" u="none" strike="noStrike" baseline="0" dirty="0">
              <a:solidFill>
                <a:srgbClr val="000000"/>
              </a:solidFill>
              <a:latin typeface="Arial" panose="020B0604020202020204" pitchFamily="34" charset="0"/>
            </a:endParaRPr>
          </a:p>
          <a:p>
            <a:r>
              <a:rPr lang="en-US" sz="4000" b="0" i="0" u="none" strike="noStrike" baseline="0" dirty="0">
                <a:solidFill>
                  <a:srgbClr val="000000"/>
                </a:solidFill>
                <a:latin typeface="Arial" panose="020B0604020202020204" pitchFamily="34" charset="0"/>
              </a:rPr>
              <a:t>Write an algorithm in pseudocode and draw a flowchart to convert the length in feet to centimeter.</a:t>
            </a:r>
          </a:p>
          <a:p>
            <a:endParaRPr lang="en-US" sz="4000" dirty="0"/>
          </a:p>
          <a:p>
            <a:r>
              <a:rPr lang="en-US" sz="4000" dirty="0"/>
              <a:t>Tip: 1 foot = 30.48cm</a:t>
            </a:r>
          </a:p>
        </p:txBody>
      </p:sp>
    </p:spTree>
    <p:extLst>
      <p:ext uri="{BB962C8B-B14F-4D97-AF65-F5344CB8AC3E}">
        <p14:creationId xmlns:p14="http://schemas.microsoft.com/office/powerpoint/2010/main" val="4100162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33EC2-4F83-4723-B13C-854C9EAABC1D}"/>
              </a:ext>
            </a:extLst>
          </p:cNvPr>
          <p:cNvSpPr>
            <a:spLocks noGrp="1"/>
          </p:cNvSpPr>
          <p:nvPr>
            <p:ph type="title"/>
          </p:nvPr>
        </p:nvSpPr>
        <p:spPr/>
        <p:txBody>
          <a:bodyPr/>
          <a:lstStyle/>
          <a:p>
            <a:r>
              <a:rPr lang="en-US" dirty="0"/>
              <a:t>Flowchart – Exercise 3</a:t>
            </a:r>
          </a:p>
        </p:txBody>
      </p:sp>
      <p:sp>
        <p:nvSpPr>
          <p:cNvPr id="3" name="Content Placeholder 2">
            <a:extLst>
              <a:ext uri="{FF2B5EF4-FFF2-40B4-BE49-F238E27FC236}">
                <a16:creationId xmlns:a16="http://schemas.microsoft.com/office/drawing/2014/main" id="{EC178296-3CA2-4F4A-9198-B8D2C37CE21D}"/>
              </a:ext>
            </a:extLst>
          </p:cNvPr>
          <p:cNvSpPr>
            <a:spLocks noGrp="1"/>
          </p:cNvSpPr>
          <p:nvPr>
            <p:ph idx="1"/>
          </p:nvPr>
        </p:nvSpPr>
        <p:spPr>
          <a:xfrm>
            <a:off x="1097280" y="1845734"/>
            <a:ext cx="10498372" cy="4223762"/>
          </a:xfrm>
        </p:spPr>
        <p:txBody>
          <a:bodyPr>
            <a:normAutofit/>
          </a:bodyPr>
          <a:lstStyle/>
          <a:p>
            <a:endParaRPr lang="en-US" sz="4000" i="0" u="none" strike="noStrike" baseline="0" dirty="0">
              <a:solidFill>
                <a:srgbClr val="000000"/>
              </a:solidFill>
              <a:latin typeface="Arial" panose="020B0604020202020204" pitchFamily="34" charset="0"/>
            </a:endParaRPr>
          </a:p>
          <a:p>
            <a:r>
              <a:rPr lang="en-US" sz="4000" i="0" u="none" strike="noStrike" baseline="0" dirty="0">
                <a:solidFill>
                  <a:srgbClr val="000000"/>
                </a:solidFill>
                <a:latin typeface="Arial" panose="020B0604020202020204" pitchFamily="34" charset="0"/>
              </a:rPr>
              <a:t>Write an algorithm in pseudocode and draw a flowchart for a program that will read the two sides of a rectangle and calculate its area.</a:t>
            </a:r>
            <a:endParaRPr lang="en-US" sz="4000" dirty="0"/>
          </a:p>
        </p:txBody>
      </p:sp>
    </p:spTree>
    <p:extLst>
      <p:ext uri="{BB962C8B-B14F-4D97-AF65-F5344CB8AC3E}">
        <p14:creationId xmlns:p14="http://schemas.microsoft.com/office/powerpoint/2010/main" val="3353875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58B37-4347-4CC6-9638-1180E2674854}"/>
              </a:ext>
            </a:extLst>
          </p:cNvPr>
          <p:cNvSpPr>
            <a:spLocks noGrp="1"/>
          </p:cNvSpPr>
          <p:nvPr>
            <p:ph type="title"/>
          </p:nvPr>
        </p:nvSpPr>
        <p:spPr/>
        <p:txBody>
          <a:bodyPr/>
          <a:lstStyle/>
          <a:p>
            <a:r>
              <a:rPr lang="en-US" dirty="0"/>
              <a:t>Flowchart – Exercise 4</a:t>
            </a:r>
          </a:p>
        </p:txBody>
      </p:sp>
      <p:sp>
        <p:nvSpPr>
          <p:cNvPr id="3" name="Content Placeholder 2">
            <a:extLst>
              <a:ext uri="{FF2B5EF4-FFF2-40B4-BE49-F238E27FC236}">
                <a16:creationId xmlns:a16="http://schemas.microsoft.com/office/drawing/2014/main" id="{CC117D36-EF63-491F-9283-34F2A5F121AE}"/>
              </a:ext>
            </a:extLst>
          </p:cNvPr>
          <p:cNvSpPr>
            <a:spLocks noGrp="1"/>
          </p:cNvSpPr>
          <p:nvPr>
            <p:ph idx="1"/>
          </p:nvPr>
        </p:nvSpPr>
        <p:spPr>
          <a:xfrm>
            <a:off x="1097279" y="1845734"/>
            <a:ext cx="10697155" cy="4023360"/>
          </a:xfrm>
        </p:spPr>
        <p:txBody>
          <a:bodyPr/>
          <a:lstStyle/>
          <a:p>
            <a:endParaRPr lang="en-US" sz="40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4000" b="0" i="0" u="none" strike="noStrike" baseline="0" dirty="0">
                <a:solidFill>
                  <a:srgbClr val="000000"/>
                </a:solidFill>
                <a:latin typeface="Times New Roman" panose="02020603050405020304" pitchFamily="18" charset="0"/>
                <a:cs typeface="Times New Roman" panose="02020603050405020304" pitchFamily="18" charset="0"/>
              </a:rPr>
              <a:t>Write an algorithm that reads two values, determines the largest value and prints the largest value with an identifying message.</a:t>
            </a:r>
          </a:p>
          <a:p>
            <a:endParaRPr lang="en-US" dirty="0"/>
          </a:p>
        </p:txBody>
      </p:sp>
    </p:spTree>
    <p:extLst>
      <p:ext uri="{BB962C8B-B14F-4D97-AF65-F5344CB8AC3E}">
        <p14:creationId xmlns:p14="http://schemas.microsoft.com/office/powerpoint/2010/main" val="102730219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628</TotalTime>
  <Words>311</Words>
  <Application>Microsoft Office PowerPoint</Application>
  <PresentationFormat>Widescreen</PresentationFormat>
  <Paragraphs>54</Paragraphs>
  <Slides>13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Retrospect</vt:lpstr>
      <vt:lpstr>FLOWCHARTS</vt:lpstr>
      <vt:lpstr>METHODS OF SPECIFYING ALGORITHM</vt:lpstr>
      <vt:lpstr>Flowcharts</vt:lpstr>
      <vt:lpstr>PowerPoint Presentation</vt:lpstr>
      <vt:lpstr>Flowchart symbols continued</vt:lpstr>
      <vt:lpstr>Decision flow chart</vt:lpstr>
      <vt:lpstr>Flowchart – Example 1</vt:lpstr>
      <vt:lpstr>Flowchart – Example 2</vt:lpstr>
      <vt:lpstr>Flowchart ----- Example 3</vt:lpstr>
      <vt:lpstr>Flowchart – Exercise 1</vt:lpstr>
      <vt:lpstr>Flowchart – Exercise 2</vt:lpstr>
      <vt:lpstr>Flowchart – Exercise 3</vt:lpstr>
      <vt:lpstr>Flowchart – Exercise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Pseudocode</dc:title>
  <dc:creator>ROSY</dc:creator>
  <cp:lastModifiedBy>ROSY</cp:lastModifiedBy>
  <cp:revision>126</cp:revision>
  <dcterms:created xsi:type="dcterms:W3CDTF">2021-06-20T11:07:29Z</dcterms:created>
  <dcterms:modified xsi:type="dcterms:W3CDTF">2021-07-14T10:14:52Z</dcterms:modified>
</cp:coreProperties>
</file>