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sldIdLst>
    <p:sldId id="256" r:id="rId2"/>
    <p:sldId id="257" r:id="rId3"/>
    <p:sldId id="309" r:id="rId4"/>
    <p:sldId id="293" r:id="rId5"/>
    <p:sldId id="314" r:id="rId6"/>
    <p:sldId id="315" r:id="rId7"/>
    <p:sldId id="316" r:id="rId8"/>
    <p:sldId id="317" r:id="rId9"/>
    <p:sldId id="318" r:id="rId10"/>
    <p:sldId id="319" r:id="rId11"/>
    <p:sldId id="259" r:id="rId12"/>
    <p:sldId id="289" r:id="rId13"/>
    <p:sldId id="262" r:id="rId14"/>
    <p:sldId id="310" r:id="rId15"/>
    <p:sldId id="311" r:id="rId16"/>
    <p:sldId id="323" r:id="rId17"/>
    <p:sldId id="312" r:id="rId18"/>
    <p:sldId id="263" r:id="rId19"/>
    <p:sldId id="313" r:id="rId20"/>
    <p:sldId id="264" r:id="rId21"/>
    <p:sldId id="265" r:id="rId22"/>
    <p:sldId id="320" r:id="rId23"/>
    <p:sldId id="266" r:id="rId24"/>
    <p:sldId id="321"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32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4359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0970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9579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0294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7100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958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12637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66848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1293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5640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03105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8997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3446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3012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4819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871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133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6/9/2021</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7184815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C32A-D85A-4068-88E7-E34E9666D2B5}"/>
              </a:ext>
            </a:extLst>
          </p:cNvPr>
          <p:cNvSpPr>
            <a:spLocks noGrp="1"/>
          </p:cNvSpPr>
          <p:nvPr>
            <p:ph type="ctrTitle"/>
          </p:nvPr>
        </p:nvSpPr>
        <p:spPr/>
        <p:txBody>
          <a:bodyPr/>
          <a:lstStyle/>
          <a:p>
            <a:r>
              <a:rPr lang="en-GB" dirty="0"/>
              <a:t>E-COMMERCE</a:t>
            </a:r>
          </a:p>
        </p:txBody>
      </p:sp>
      <p:sp>
        <p:nvSpPr>
          <p:cNvPr id="3" name="Subtitle 2">
            <a:extLst>
              <a:ext uri="{FF2B5EF4-FFF2-40B4-BE49-F238E27FC236}">
                <a16:creationId xmlns:a16="http://schemas.microsoft.com/office/drawing/2014/main" id="{E266FB66-130D-4C53-946E-CB3C7D37E0F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662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14B16-383B-4C8B-BDED-463BC16C0851}"/>
              </a:ext>
            </a:extLst>
          </p:cNvPr>
          <p:cNvSpPr>
            <a:spLocks noGrp="1"/>
          </p:cNvSpPr>
          <p:nvPr>
            <p:ph type="title"/>
          </p:nvPr>
        </p:nvSpPr>
        <p:spPr>
          <a:xfrm>
            <a:off x="1484310" y="469232"/>
            <a:ext cx="10018713" cy="830179"/>
          </a:xfrm>
        </p:spPr>
        <p:txBody>
          <a:bodyPr/>
          <a:lstStyle/>
          <a:p>
            <a:r>
              <a:rPr lang="en-GB" dirty="0"/>
              <a:t>E-Commerce</a:t>
            </a:r>
          </a:p>
        </p:txBody>
      </p:sp>
      <p:sp>
        <p:nvSpPr>
          <p:cNvPr id="3" name="Content Placeholder 2">
            <a:extLst>
              <a:ext uri="{FF2B5EF4-FFF2-40B4-BE49-F238E27FC236}">
                <a16:creationId xmlns:a16="http://schemas.microsoft.com/office/drawing/2014/main" id="{9FAE0DC5-5381-47CA-AF32-CBB08A5C183C}"/>
              </a:ext>
            </a:extLst>
          </p:cNvPr>
          <p:cNvSpPr>
            <a:spLocks noGrp="1"/>
          </p:cNvSpPr>
          <p:nvPr>
            <p:ph idx="1"/>
          </p:nvPr>
        </p:nvSpPr>
        <p:spPr>
          <a:xfrm>
            <a:off x="1484310" y="1299411"/>
            <a:ext cx="10430599" cy="4872789"/>
          </a:xfrm>
        </p:spPr>
        <p:txBody>
          <a:bodyPr>
            <a:normAutofit/>
          </a:bodyPr>
          <a:lstStyle/>
          <a:p>
            <a:r>
              <a:rPr lang="en-GB" sz="2000" b="1" i="1" dirty="0">
                <a:solidFill>
                  <a:srgbClr val="000000"/>
                </a:solidFill>
                <a:effectLst/>
                <a:latin typeface="Times New Roman" panose="02020603050405020304" pitchFamily="18" charset="0"/>
              </a:rPr>
              <a:t>Electronic Commerce (EC) </a:t>
            </a:r>
            <a:r>
              <a:rPr lang="en-GB" sz="2000" b="0" i="1" dirty="0">
                <a:solidFill>
                  <a:srgbClr val="000000"/>
                </a:solidFill>
                <a:effectLst/>
                <a:latin typeface="Times New Roman" panose="02020603050405020304" pitchFamily="18" charset="0"/>
              </a:rPr>
              <a:t>is where business transactions take place via telecommunications</a:t>
            </a:r>
            <a:br>
              <a:rPr lang="en-GB" sz="2000" b="0" i="1" dirty="0">
                <a:solidFill>
                  <a:srgbClr val="000000"/>
                </a:solidFill>
                <a:effectLst/>
                <a:latin typeface="Times New Roman" panose="02020603050405020304" pitchFamily="18" charset="0"/>
              </a:rPr>
            </a:br>
            <a:r>
              <a:rPr lang="en-GB" sz="2000" b="0" i="1" dirty="0">
                <a:solidFill>
                  <a:srgbClr val="000000"/>
                </a:solidFill>
                <a:effectLst/>
                <a:latin typeface="Times New Roman" panose="02020603050405020304" pitchFamily="18" charset="0"/>
              </a:rPr>
              <a:t>networks, especially the Internet.</a:t>
            </a:r>
            <a:r>
              <a:rPr lang="en-GB" sz="2800" dirty="0"/>
              <a:t> </a:t>
            </a:r>
          </a:p>
          <a:p>
            <a:endParaRPr lang="en-GB" sz="2800" dirty="0"/>
          </a:p>
          <a:p>
            <a:r>
              <a:rPr lang="en-GB" sz="2000" b="1" i="1" dirty="0">
                <a:solidFill>
                  <a:srgbClr val="000000"/>
                </a:solidFill>
                <a:effectLst/>
                <a:latin typeface="Times New Roman" panose="02020603050405020304" pitchFamily="18" charset="0"/>
              </a:rPr>
              <a:t>Electronic commerce </a:t>
            </a:r>
            <a:r>
              <a:rPr lang="en-GB" sz="2000" b="0" i="1" dirty="0">
                <a:solidFill>
                  <a:srgbClr val="000000"/>
                </a:solidFill>
                <a:effectLst/>
                <a:latin typeface="Times New Roman" panose="02020603050405020304" pitchFamily="18" charset="0"/>
              </a:rPr>
              <a:t>describes the buying and selling of products, services, and information via</a:t>
            </a:r>
            <a:br>
              <a:rPr lang="en-GB" sz="2000" b="0" i="1" dirty="0">
                <a:solidFill>
                  <a:srgbClr val="000000"/>
                </a:solidFill>
                <a:effectLst/>
                <a:latin typeface="Times New Roman" panose="02020603050405020304" pitchFamily="18" charset="0"/>
              </a:rPr>
            </a:br>
            <a:r>
              <a:rPr lang="en-GB" sz="2000" b="0" i="1" dirty="0">
                <a:solidFill>
                  <a:srgbClr val="000000"/>
                </a:solidFill>
                <a:effectLst/>
                <a:latin typeface="Times New Roman" panose="02020603050405020304" pitchFamily="18" charset="0"/>
              </a:rPr>
              <a:t>computer networks including the Internet.</a:t>
            </a:r>
            <a:r>
              <a:rPr lang="en-GB" sz="2800" dirty="0"/>
              <a:t> </a:t>
            </a:r>
          </a:p>
        </p:txBody>
      </p:sp>
    </p:spTree>
    <p:extLst>
      <p:ext uri="{BB962C8B-B14F-4D97-AF65-F5344CB8AC3E}">
        <p14:creationId xmlns:p14="http://schemas.microsoft.com/office/powerpoint/2010/main" val="3953391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14B16-383B-4C8B-BDED-463BC16C0851}"/>
              </a:ext>
            </a:extLst>
          </p:cNvPr>
          <p:cNvSpPr>
            <a:spLocks noGrp="1"/>
          </p:cNvSpPr>
          <p:nvPr>
            <p:ph type="title"/>
          </p:nvPr>
        </p:nvSpPr>
        <p:spPr>
          <a:xfrm>
            <a:off x="1484310" y="469232"/>
            <a:ext cx="10018713" cy="830179"/>
          </a:xfrm>
        </p:spPr>
        <p:txBody>
          <a:bodyPr/>
          <a:lstStyle/>
          <a:p>
            <a:r>
              <a:rPr lang="en-GB" dirty="0"/>
              <a:t>E-Commerce</a:t>
            </a:r>
          </a:p>
        </p:txBody>
      </p:sp>
      <p:sp>
        <p:nvSpPr>
          <p:cNvPr id="3" name="Content Placeholder 2">
            <a:extLst>
              <a:ext uri="{FF2B5EF4-FFF2-40B4-BE49-F238E27FC236}">
                <a16:creationId xmlns:a16="http://schemas.microsoft.com/office/drawing/2014/main" id="{9FAE0DC5-5381-47CA-AF32-CBB08A5C183C}"/>
              </a:ext>
            </a:extLst>
          </p:cNvPr>
          <p:cNvSpPr>
            <a:spLocks noGrp="1"/>
          </p:cNvSpPr>
          <p:nvPr>
            <p:ph idx="1"/>
          </p:nvPr>
        </p:nvSpPr>
        <p:spPr>
          <a:xfrm>
            <a:off x="1484310" y="1299411"/>
            <a:ext cx="10018713" cy="4872789"/>
          </a:xfrm>
        </p:spPr>
        <p:txBody>
          <a:bodyPr>
            <a:normAutofit/>
          </a:bodyPr>
          <a:lstStyle/>
          <a:p>
            <a:r>
              <a:rPr lang="en-GB" sz="2000" b="0" i="0" dirty="0">
                <a:solidFill>
                  <a:srgbClr val="000000"/>
                </a:solidFill>
                <a:effectLst/>
                <a:latin typeface="Times New Roman" panose="02020603050405020304" pitchFamily="18" charset="0"/>
              </a:rPr>
              <a:t>Since transactions go through the internet and the Web, the terms I-commerce (Internet commerce), </a:t>
            </a:r>
            <a:r>
              <a:rPr lang="en-GB" sz="2000" b="1" i="1" dirty="0" err="1">
                <a:solidFill>
                  <a:srgbClr val="00B050"/>
                </a:solidFill>
                <a:effectLst/>
                <a:latin typeface="Times New Roman" panose="02020603050405020304" pitchFamily="18" charset="0"/>
              </a:rPr>
              <a:t>icommerce</a:t>
            </a:r>
            <a:r>
              <a:rPr lang="en-GB" sz="2000" b="0" i="1" dirty="0">
                <a:solidFill>
                  <a:srgbClr val="000000"/>
                </a:solidFill>
                <a:effectLst/>
                <a:latin typeface="Times New Roman" panose="02020603050405020304" pitchFamily="18" charset="0"/>
              </a:rPr>
              <a:t> </a:t>
            </a:r>
            <a:r>
              <a:rPr lang="en-GB" sz="2000" b="0" i="0" dirty="0">
                <a:solidFill>
                  <a:srgbClr val="000000"/>
                </a:solidFill>
                <a:effectLst/>
                <a:latin typeface="Times New Roman" panose="02020603050405020304" pitchFamily="18" charset="0"/>
              </a:rPr>
              <a:t>and even </a:t>
            </a:r>
            <a:r>
              <a:rPr lang="en-GB" sz="2000" b="1" i="0" dirty="0" err="1">
                <a:solidFill>
                  <a:srgbClr val="00B050"/>
                </a:solidFill>
                <a:effectLst/>
                <a:latin typeface="Times New Roman" panose="02020603050405020304" pitchFamily="18" charset="0"/>
              </a:rPr>
              <a:t>Webcommerce</a:t>
            </a:r>
            <a:r>
              <a:rPr lang="en-GB" sz="2000" b="0" i="0" dirty="0">
                <a:solidFill>
                  <a:srgbClr val="000000"/>
                </a:solidFill>
                <a:effectLst/>
                <a:latin typeface="Times New Roman" panose="02020603050405020304" pitchFamily="18" charset="0"/>
              </a:rPr>
              <a:t> have been suggested but are now very rarely used</a:t>
            </a:r>
          </a:p>
          <a:p>
            <a:endParaRPr lang="en-GB" sz="2000" b="0" i="0" dirty="0">
              <a:solidFill>
                <a:srgbClr val="000000"/>
              </a:solidFill>
              <a:effectLst/>
              <a:latin typeface="Times New Roman" panose="02020603050405020304" pitchFamily="18" charset="0"/>
            </a:endParaRPr>
          </a:p>
          <a:p>
            <a:r>
              <a:rPr lang="en-GB" sz="2000" b="0" i="0" dirty="0">
                <a:solidFill>
                  <a:srgbClr val="000000"/>
                </a:solidFill>
                <a:effectLst/>
                <a:latin typeface="Times New Roman" panose="02020603050405020304" pitchFamily="18" charset="0"/>
              </a:rPr>
              <a:t>Other terms that are used for online retail selling include </a:t>
            </a:r>
            <a:r>
              <a:rPr lang="en-GB" sz="2000" b="0" i="0" dirty="0">
                <a:solidFill>
                  <a:srgbClr val="00B050"/>
                </a:solidFill>
                <a:effectLst/>
                <a:latin typeface="Times New Roman" panose="02020603050405020304" pitchFamily="18" charset="0"/>
              </a:rPr>
              <a:t>e-tailing, virtual-stores or cyber stores. </a:t>
            </a:r>
          </a:p>
          <a:p>
            <a:endParaRPr lang="en-GB" sz="2000" dirty="0">
              <a:solidFill>
                <a:srgbClr val="000000"/>
              </a:solidFill>
              <a:latin typeface="Times New Roman" panose="02020603050405020304" pitchFamily="18" charset="0"/>
            </a:endParaRPr>
          </a:p>
          <a:p>
            <a:endParaRPr lang="en-GB" sz="2000" b="0" i="0" dirty="0">
              <a:solidFill>
                <a:srgbClr val="000000"/>
              </a:solidFill>
              <a:effectLst/>
              <a:latin typeface="Times New Roman" panose="02020603050405020304" pitchFamily="18" charset="0"/>
            </a:endParaRPr>
          </a:p>
          <a:p>
            <a:r>
              <a:rPr lang="en-GB" sz="2000" b="0" i="0" dirty="0">
                <a:solidFill>
                  <a:srgbClr val="000000"/>
                </a:solidFill>
                <a:effectLst/>
                <a:latin typeface="Times New Roman" panose="02020603050405020304" pitchFamily="18" charset="0"/>
              </a:rPr>
              <a:t>A collection of these virtual stores is sometimes gathered into a  ‘virtual mall’ or  ‘cybermall’.</a:t>
            </a:r>
            <a:r>
              <a:rPr lang="en-GB" sz="2800" dirty="0"/>
              <a:t> </a:t>
            </a:r>
          </a:p>
        </p:txBody>
      </p:sp>
    </p:spTree>
    <p:extLst>
      <p:ext uri="{BB962C8B-B14F-4D97-AF65-F5344CB8AC3E}">
        <p14:creationId xmlns:p14="http://schemas.microsoft.com/office/powerpoint/2010/main" val="147719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a:bodyPr>
          <a:lstStyle/>
          <a:p>
            <a:r>
              <a:rPr lang="en-GB" sz="4000" b="1" i="0" dirty="0">
                <a:solidFill>
                  <a:srgbClr val="000000"/>
                </a:solidFill>
                <a:effectLst/>
                <a:latin typeface="Times New Roman" panose="02020603050405020304" pitchFamily="18" charset="0"/>
              </a:rPr>
              <a:t>ELECTRONIC-BUSINESS</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444454" cy="4632156"/>
          </a:xfrm>
        </p:spPr>
        <p:txBody>
          <a:bodyPr>
            <a:normAutofit/>
          </a:bodyPr>
          <a:lstStyle/>
          <a:p>
            <a:r>
              <a:rPr lang="en-GB" sz="2000" b="0" i="1" dirty="0">
                <a:solidFill>
                  <a:srgbClr val="000000"/>
                </a:solidFill>
                <a:effectLst/>
                <a:latin typeface="Times New Roman" panose="02020603050405020304" pitchFamily="18" charset="0"/>
              </a:rPr>
              <a:t>E-business </a:t>
            </a:r>
            <a:r>
              <a:rPr lang="en-GB" sz="2000" b="0" i="0" dirty="0">
                <a:solidFill>
                  <a:srgbClr val="000000"/>
                </a:solidFill>
                <a:effectLst/>
                <a:latin typeface="Times New Roman" panose="02020603050405020304" pitchFamily="18" charset="0"/>
              </a:rPr>
              <a:t>is the conduct of business on the Internet, not only buying and selling but also</a:t>
            </a:r>
            <a:br>
              <a:rPr lang="en-GB" sz="2000" b="0" i="0" dirty="0">
                <a:solidFill>
                  <a:srgbClr val="000000"/>
                </a:solidFill>
                <a:effectLst/>
                <a:latin typeface="Times New Roman" panose="02020603050405020304" pitchFamily="18" charset="0"/>
              </a:rPr>
            </a:br>
            <a:r>
              <a:rPr lang="en-GB" sz="2000" b="0" i="0" dirty="0">
                <a:solidFill>
                  <a:srgbClr val="000000"/>
                </a:solidFill>
                <a:effectLst/>
                <a:latin typeface="Times New Roman" panose="02020603050405020304" pitchFamily="18" charset="0"/>
              </a:rPr>
              <a:t>servicing customers and collaborating with business partners.</a:t>
            </a:r>
            <a:r>
              <a:rPr lang="en-GB" sz="2800" dirty="0"/>
              <a:t> </a:t>
            </a:r>
          </a:p>
          <a:p>
            <a:endParaRPr lang="en-GB" sz="2800" dirty="0"/>
          </a:p>
          <a:p>
            <a:r>
              <a:rPr lang="en-GB" sz="2000" b="0" i="1" dirty="0">
                <a:solidFill>
                  <a:srgbClr val="000000"/>
                </a:solidFill>
                <a:effectLst/>
                <a:latin typeface="Times New Roman" panose="02020603050405020304" pitchFamily="18" charset="0"/>
              </a:rPr>
              <a:t>E-business </a:t>
            </a:r>
            <a:r>
              <a:rPr lang="en-GB" sz="2000" b="0" i="0" dirty="0">
                <a:solidFill>
                  <a:srgbClr val="000000"/>
                </a:solidFill>
                <a:effectLst/>
                <a:latin typeface="Times New Roman" panose="02020603050405020304" pitchFamily="18" charset="0"/>
              </a:rPr>
              <a:t>is </a:t>
            </a:r>
            <a:r>
              <a:rPr lang="en-GB" sz="2000" b="1" i="0" dirty="0">
                <a:solidFill>
                  <a:srgbClr val="000000"/>
                </a:solidFill>
                <a:effectLst/>
                <a:latin typeface="Times New Roman" panose="02020603050405020304" pitchFamily="18" charset="0"/>
              </a:rPr>
              <a:t>the transformation of key business processes through the use of Internet</a:t>
            </a:r>
            <a:br>
              <a:rPr lang="en-GB" sz="2000" b="1" i="0" dirty="0">
                <a:solidFill>
                  <a:srgbClr val="000000"/>
                </a:solidFill>
                <a:effectLst/>
                <a:latin typeface="Times New Roman" panose="02020603050405020304" pitchFamily="18" charset="0"/>
              </a:rPr>
            </a:br>
            <a:r>
              <a:rPr lang="en-GB" sz="2000" b="1" i="0" dirty="0">
                <a:solidFill>
                  <a:srgbClr val="000000"/>
                </a:solidFill>
                <a:effectLst/>
                <a:latin typeface="Times New Roman" panose="02020603050405020304" pitchFamily="18" charset="0"/>
              </a:rPr>
              <a:t>technologies. </a:t>
            </a:r>
            <a:r>
              <a:rPr lang="en-GB" sz="2000" b="0" i="0" dirty="0">
                <a:solidFill>
                  <a:srgbClr val="000000"/>
                </a:solidFill>
                <a:effectLst/>
                <a:latin typeface="Times New Roman" panose="02020603050405020304" pitchFamily="18" charset="0"/>
              </a:rPr>
              <a:t>An e-business is a company that can adapt to constant and continual change.</a:t>
            </a:r>
          </a:p>
          <a:p>
            <a:endParaRPr lang="en-GB" sz="2800" dirty="0"/>
          </a:p>
        </p:txBody>
      </p:sp>
    </p:spTree>
    <p:extLst>
      <p:ext uri="{BB962C8B-B14F-4D97-AF65-F5344CB8AC3E}">
        <p14:creationId xmlns:p14="http://schemas.microsoft.com/office/powerpoint/2010/main" val="3970998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sz="quarter" idx="1"/>
          </p:nvPr>
        </p:nvSpPr>
        <p:spPr>
          <a:xfrm>
            <a:off x="1981200" y="304800"/>
            <a:ext cx="8229600" cy="6248400"/>
          </a:xfrm>
        </p:spPr>
        <p:txBody>
          <a:bodyPr/>
          <a:lstStyle/>
          <a:p>
            <a:pPr algn="ctr" eaLnBrk="1" hangingPunct="1">
              <a:buFont typeface="Wingdings" pitchFamily="2" charset="2"/>
              <a:buNone/>
            </a:pPr>
            <a:endParaRPr lang="en-US" sz="5400" dirty="0"/>
          </a:p>
          <a:p>
            <a:pPr algn="ctr" eaLnBrk="1" hangingPunct="1">
              <a:buFont typeface="Wingdings" pitchFamily="2" charset="2"/>
              <a:buNone/>
            </a:pPr>
            <a:r>
              <a:rPr lang="en-US" sz="5400" dirty="0"/>
              <a:t>Brief</a:t>
            </a:r>
          </a:p>
          <a:p>
            <a:pPr algn="ctr" eaLnBrk="1" hangingPunct="1">
              <a:buFont typeface="Wingdings" pitchFamily="2" charset="2"/>
              <a:buNone/>
            </a:pPr>
            <a:r>
              <a:rPr lang="en-US" sz="5400" dirty="0"/>
              <a:t>History</a:t>
            </a:r>
          </a:p>
          <a:p>
            <a:pPr algn="ctr" eaLnBrk="1" hangingPunct="1">
              <a:buFont typeface="Wingdings" pitchFamily="2" charset="2"/>
              <a:buNone/>
            </a:pPr>
            <a:r>
              <a:rPr lang="en-US" sz="5400" dirty="0"/>
              <a:t>Of</a:t>
            </a:r>
          </a:p>
          <a:p>
            <a:pPr algn="ctr" eaLnBrk="1" hangingPunct="1">
              <a:buFont typeface="Wingdings" pitchFamily="2" charset="2"/>
              <a:buNone/>
            </a:pPr>
            <a:r>
              <a:rPr lang="en-US" sz="5400" dirty="0"/>
              <a:t>E-Commerce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sz="quarter" idx="1"/>
          </p:nvPr>
        </p:nvSpPr>
        <p:spPr>
          <a:xfrm>
            <a:off x="1524000" y="304800"/>
            <a:ext cx="9144000" cy="6324600"/>
          </a:xfrm>
        </p:spPr>
        <p:txBody>
          <a:bodyPr/>
          <a:lstStyle/>
          <a:p>
            <a:pPr eaLnBrk="1" hangingPunct="1"/>
            <a:r>
              <a:rPr lang="en-US" sz="2800" dirty="0"/>
              <a:t>1970s: Electronic Funds Transfer (EFT)</a:t>
            </a:r>
          </a:p>
          <a:p>
            <a:pPr lvl="1" eaLnBrk="1" hangingPunct="1"/>
            <a:r>
              <a:rPr lang="en-US" sz="2400" dirty="0"/>
              <a:t>Used by the </a:t>
            </a:r>
            <a:r>
              <a:rPr lang="en-US" sz="2400" b="1" dirty="0">
                <a:solidFill>
                  <a:srgbClr val="FF0000"/>
                </a:solidFill>
              </a:rPr>
              <a:t>banking industry </a:t>
            </a:r>
            <a:r>
              <a:rPr lang="en-US" sz="2400" dirty="0"/>
              <a:t>to exchange account information over secured networks</a:t>
            </a:r>
          </a:p>
          <a:p>
            <a:pPr eaLnBrk="1" hangingPunct="1"/>
            <a:r>
              <a:rPr lang="en-US" sz="2800" dirty="0"/>
              <a:t>Late 1970s and early 1980s: Electronic Data Interchange (EDI) for e-commerce within companies</a:t>
            </a:r>
          </a:p>
          <a:p>
            <a:pPr lvl="1" eaLnBrk="1" hangingPunct="1"/>
            <a:r>
              <a:rPr lang="en-US" sz="2400" dirty="0"/>
              <a:t>Used by businesses to transmit data from one business to another</a:t>
            </a:r>
          </a:p>
          <a:p>
            <a:pPr eaLnBrk="1" hangingPunct="1"/>
            <a:r>
              <a:rPr lang="en-US" sz="2800" dirty="0"/>
              <a:t>1990s: the World Wide Web on the  Internet provided easy-to-use technology for information publishing and dissemination</a:t>
            </a:r>
          </a:p>
          <a:p>
            <a:pPr lvl="1" eaLnBrk="1" hangingPunct="1"/>
            <a:r>
              <a:rPr lang="en-US" sz="2400" dirty="0"/>
              <a:t>Cheaper to do business (economies of scale)</a:t>
            </a:r>
          </a:p>
          <a:p>
            <a:pPr lvl="1" eaLnBrk="1" hangingPunct="1"/>
            <a:r>
              <a:rPr lang="en-US" sz="2400" dirty="0"/>
              <a:t>Enable diverse business activities (economies of scope)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810000" y="274638"/>
            <a:ext cx="6400800" cy="3763962"/>
          </a:xfrm>
        </p:spPr>
        <p:txBody>
          <a:bodyPr/>
          <a:lstStyle/>
          <a:p>
            <a:pPr>
              <a:defRPr/>
            </a:pPr>
            <a:r>
              <a:rPr lang="en-US" dirty="0"/>
              <a:t>The Process</a:t>
            </a:r>
            <a:br>
              <a:rPr lang="en-US" dirty="0"/>
            </a:br>
            <a:r>
              <a:rPr lang="en-US" dirty="0"/>
              <a:t>Of</a:t>
            </a:r>
            <a:br>
              <a:rPr lang="en-US" dirty="0"/>
            </a:br>
            <a:r>
              <a:rPr lang="en-US" dirty="0"/>
              <a:t>E-Commerce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sz="quarter" idx="1"/>
          </p:nvPr>
        </p:nvSpPr>
        <p:spPr>
          <a:xfrm>
            <a:off x="1752600" y="457200"/>
            <a:ext cx="8229600" cy="5867400"/>
          </a:xfrm>
        </p:spPr>
        <p:txBody>
          <a:bodyPr/>
          <a:lstStyle/>
          <a:p>
            <a:pPr eaLnBrk="1" hangingPunct="1">
              <a:lnSpc>
                <a:spcPct val="90000"/>
              </a:lnSpc>
            </a:pPr>
            <a:r>
              <a:rPr lang="en-US" dirty="0"/>
              <a:t>A consumer uses Web browser to connect to the home page of a merchant's Web site on the Internet.</a:t>
            </a:r>
          </a:p>
          <a:p>
            <a:pPr marL="0" indent="0">
              <a:lnSpc>
                <a:spcPct val="90000"/>
              </a:lnSpc>
              <a:buNone/>
            </a:pPr>
            <a:endParaRPr lang="en-US" dirty="0"/>
          </a:p>
          <a:p>
            <a:pPr eaLnBrk="1" hangingPunct="1">
              <a:lnSpc>
                <a:spcPct val="90000"/>
              </a:lnSpc>
            </a:pPr>
            <a:r>
              <a:rPr lang="en-US" dirty="0"/>
              <a:t>The consumer browses the catalog of products featured on the site and selects items to purchase. The selected items are placed in the electronic equivalent of a shopping cart or electronic basket</a:t>
            </a:r>
          </a:p>
          <a:p>
            <a:pPr marL="0" indent="0">
              <a:lnSpc>
                <a:spcPct val="90000"/>
              </a:lnSpc>
              <a:buNone/>
            </a:pPr>
            <a:endParaRPr lang="en-US" dirty="0"/>
          </a:p>
          <a:p>
            <a:pPr eaLnBrk="1" hangingPunct="1">
              <a:lnSpc>
                <a:spcPct val="90000"/>
              </a:lnSpc>
            </a:pPr>
            <a:r>
              <a:rPr lang="en-US" dirty="0"/>
              <a:t>When the consumer is ready to complete the purchase of selected items, she provides a bill-to and ship-to address for purchase and delivery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sz="quarter" idx="1"/>
          </p:nvPr>
        </p:nvSpPr>
        <p:spPr>
          <a:xfrm>
            <a:off x="1981200" y="228600"/>
            <a:ext cx="8229600" cy="6019800"/>
          </a:xfrm>
        </p:spPr>
        <p:txBody>
          <a:bodyPr/>
          <a:lstStyle/>
          <a:p>
            <a:pPr eaLnBrk="1" hangingPunct="1"/>
            <a:r>
              <a:rPr lang="en-US" dirty="0"/>
              <a:t>When the merchant's Web server receives this information, it computes the total cost of the order--including tax, shipping, and handling charges--and then displays the total to the customer.</a:t>
            </a:r>
          </a:p>
          <a:p>
            <a:pPr eaLnBrk="1" hangingPunct="1"/>
            <a:endParaRPr lang="en-US" dirty="0"/>
          </a:p>
          <a:p>
            <a:pPr eaLnBrk="1" hangingPunct="1"/>
            <a:endParaRPr lang="en-US" dirty="0"/>
          </a:p>
          <a:p>
            <a:pPr eaLnBrk="1" hangingPunct="1"/>
            <a:r>
              <a:rPr lang="en-US" dirty="0"/>
              <a:t>The customer can now provide payment information, such as a credit card number, and then submit the order.</a:t>
            </a:r>
          </a:p>
          <a:p>
            <a:pPr eaLnBrk="1" hangingPunct="1">
              <a:buFont typeface="Wingdings" pitchFamily="2" charset="2"/>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sz="quarter" idx="1"/>
          </p:nvPr>
        </p:nvSpPr>
        <p:spPr>
          <a:xfrm>
            <a:off x="1981200" y="685800"/>
            <a:ext cx="8229600" cy="5410200"/>
          </a:xfrm>
        </p:spPr>
        <p:txBody>
          <a:bodyPr/>
          <a:lstStyle/>
          <a:p>
            <a:pPr eaLnBrk="1" hangingPunct="1"/>
            <a:r>
              <a:rPr lang="en-US" dirty="0"/>
              <a:t>When the credit card number is validated and the order is completed at the Commerce Server site, the merchant's site displays a receipt confirming the customer's purchase.</a:t>
            </a:r>
          </a:p>
          <a:p>
            <a:pPr eaLnBrk="1" hangingPunct="1"/>
            <a:endParaRPr lang="en-US" dirty="0"/>
          </a:p>
          <a:p>
            <a:pPr eaLnBrk="1" hangingPunct="1"/>
            <a:r>
              <a:rPr lang="en-US" dirty="0"/>
              <a:t>The Commerce Server site then forwards the order to a Processing Network for payment processing and fulfillment.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609600" y="685801"/>
            <a:ext cx="11489635" cy="854242"/>
          </a:xfrm>
        </p:spPr>
        <p:txBody>
          <a:bodyPr>
            <a:normAutofit fontScale="90000"/>
          </a:bodyPr>
          <a:lstStyle/>
          <a:p>
            <a:r>
              <a:rPr lang="en-GB" dirty="0"/>
              <a:t> DISTINCTION BETWEEN E-COMMERCE AND E-BUSINESS</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2"/>
            <a:ext cx="10614925" cy="4860757"/>
          </a:xfrm>
        </p:spPr>
        <p:txBody>
          <a:bodyPr>
            <a:normAutofit/>
          </a:bodyPr>
          <a:lstStyle/>
          <a:p>
            <a:r>
              <a:rPr lang="en-GB" b="1" dirty="0">
                <a:solidFill>
                  <a:srgbClr val="000000"/>
                </a:solidFill>
                <a:latin typeface="Times New Roman" panose="02020603050405020304" pitchFamily="18" charset="0"/>
              </a:rPr>
              <a:t>E</a:t>
            </a:r>
            <a:r>
              <a:rPr lang="en-GB" b="1" i="0" dirty="0">
                <a:solidFill>
                  <a:srgbClr val="000000"/>
                </a:solidFill>
                <a:effectLst/>
                <a:latin typeface="Times New Roman" panose="02020603050405020304" pitchFamily="18" charset="0"/>
              </a:rPr>
              <a:t>lectronic commerce </a:t>
            </a:r>
            <a:r>
              <a:rPr lang="en-GB" b="0" i="0" dirty="0">
                <a:solidFill>
                  <a:srgbClr val="000000"/>
                </a:solidFill>
                <a:effectLst/>
                <a:latin typeface="Times New Roman" panose="02020603050405020304" pitchFamily="18" charset="0"/>
              </a:rPr>
              <a:t>can be broadly defined as the exchange of merchandise (whether tangible or intangible) on a large scale sometimes between different countries using an electronic medium – namely the Internet</a:t>
            </a:r>
            <a:r>
              <a:rPr lang="en-GB" dirty="0"/>
              <a:t> </a:t>
            </a:r>
          </a:p>
          <a:p>
            <a:endParaRPr lang="en-GB" dirty="0"/>
          </a:p>
          <a:p>
            <a:r>
              <a:rPr lang="en-GB" b="1" i="0" dirty="0">
                <a:solidFill>
                  <a:srgbClr val="000000"/>
                </a:solidFill>
                <a:effectLst/>
                <a:latin typeface="Times New Roman" panose="02020603050405020304" pitchFamily="18" charset="0"/>
              </a:rPr>
              <a:t>E-business</a:t>
            </a:r>
            <a:r>
              <a:rPr lang="en-GB" b="0" i="0" dirty="0">
                <a:solidFill>
                  <a:srgbClr val="000000"/>
                </a:solidFill>
                <a:effectLst/>
                <a:latin typeface="Times New Roman" panose="02020603050405020304" pitchFamily="18" charset="0"/>
              </a:rPr>
              <a:t> can broadly be defined as the processes or areas involved in the running and operation of an organisation that are electronic or digital in nature. </a:t>
            </a:r>
          </a:p>
          <a:p>
            <a:pPr lvl="1"/>
            <a:r>
              <a:rPr lang="en-GB" sz="2400" b="0" i="0" dirty="0">
                <a:solidFill>
                  <a:srgbClr val="000000"/>
                </a:solidFill>
                <a:effectLst/>
                <a:latin typeface="Times New Roman" panose="02020603050405020304" pitchFamily="18" charset="0"/>
              </a:rPr>
              <a:t>These include direct business activities such as marketing, sales and human resource management but also indirect activities such as business process re-engineering and change management</a:t>
            </a:r>
            <a:r>
              <a:rPr lang="en-GB" sz="2400" dirty="0"/>
              <a:t> </a:t>
            </a:r>
          </a:p>
          <a:p>
            <a:pPr lvl="1"/>
            <a:endParaRPr lang="en-GB" sz="2400" dirty="0"/>
          </a:p>
          <a:p>
            <a:pPr lvl="1"/>
            <a:endParaRPr lang="en-GB" sz="2400" dirty="0"/>
          </a:p>
        </p:txBody>
      </p:sp>
    </p:spTree>
    <p:extLst>
      <p:ext uri="{BB962C8B-B14F-4D97-AF65-F5344CB8AC3E}">
        <p14:creationId xmlns:p14="http://schemas.microsoft.com/office/powerpoint/2010/main" val="1476998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a:bodyPr>
          <a:lstStyle/>
          <a:p>
            <a:r>
              <a:rPr lang="en-GB" sz="4000" b="1" i="0" dirty="0">
                <a:solidFill>
                  <a:srgbClr val="000000"/>
                </a:solidFill>
                <a:effectLst/>
                <a:latin typeface="Times New Roman" panose="02020603050405020304" pitchFamily="18" charset="0"/>
              </a:rPr>
              <a:t>THE KEY DRIVERS</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2"/>
            <a:ext cx="10469151" cy="5192061"/>
          </a:xfrm>
        </p:spPr>
        <p:txBody>
          <a:bodyPr/>
          <a:lstStyle/>
          <a:p>
            <a:r>
              <a:rPr lang="en-GB" sz="1800" b="0" i="0" dirty="0">
                <a:solidFill>
                  <a:srgbClr val="000000"/>
                </a:solidFill>
                <a:effectLst/>
                <a:latin typeface="Times New Roman" panose="02020603050405020304" pitchFamily="18" charset="0"/>
              </a:rPr>
              <a:t>It is important to identify the </a:t>
            </a:r>
            <a:r>
              <a:rPr lang="en-GB" sz="1800" b="1" i="0" dirty="0">
                <a:solidFill>
                  <a:srgbClr val="000000"/>
                </a:solidFill>
                <a:effectLst/>
                <a:latin typeface="Times New Roman" panose="02020603050405020304" pitchFamily="18" charset="0"/>
              </a:rPr>
              <a:t>key drivers of e-commerce </a:t>
            </a:r>
            <a:r>
              <a:rPr lang="en-GB" sz="1800" b="0" i="0" dirty="0">
                <a:solidFill>
                  <a:srgbClr val="000000"/>
                </a:solidFill>
                <a:effectLst/>
                <a:latin typeface="Times New Roman" panose="02020603050405020304" pitchFamily="18" charset="0"/>
              </a:rPr>
              <a:t>to allow a comparison between different</a:t>
            </a:r>
            <a:br>
              <a:rPr lang="en-GB" sz="1800" b="0" i="0" dirty="0">
                <a:solidFill>
                  <a:srgbClr val="000000"/>
                </a:solidFill>
                <a:effectLst/>
                <a:latin typeface="Times New Roman" panose="02020603050405020304" pitchFamily="18" charset="0"/>
              </a:rPr>
            </a:br>
            <a:r>
              <a:rPr lang="en-GB" sz="1800" b="0" i="0" dirty="0">
                <a:solidFill>
                  <a:srgbClr val="000000"/>
                </a:solidFill>
                <a:effectLst/>
                <a:latin typeface="Times New Roman" panose="02020603050405020304" pitchFamily="18" charset="0"/>
              </a:rPr>
              <a:t>countries</a:t>
            </a:r>
            <a:r>
              <a:rPr lang="en-GB" dirty="0"/>
              <a:t> </a:t>
            </a:r>
          </a:p>
          <a:p>
            <a:r>
              <a:rPr lang="en-GB" sz="1800" b="1" i="1" dirty="0">
                <a:solidFill>
                  <a:srgbClr val="000000"/>
                </a:solidFill>
                <a:effectLst/>
                <a:latin typeface="Times New Roman" panose="02020603050405020304" pitchFamily="18" charset="0"/>
              </a:rPr>
              <a:t>Technological factors </a:t>
            </a:r>
            <a:r>
              <a:rPr lang="en-GB" sz="1800" b="0" i="1" dirty="0">
                <a:solidFill>
                  <a:srgbClr val="000000"/>
                </a:solidFill>
                <a:effectLst/>
                <a:latin typeface="Times New Roman" panose="02020603050405020304" pitchFamily="18" charset="0"/>
              </a:rPr>
              <a:t>– </a:t>
            </a:r>
            <a:r>
              <a:rPr lang="en-GB" sz="1800" b="0" i="0" dirty="0">
                <a:solidFill>
                  <a:srgbClr val="000000"/>
                </a:solidFill>
                <a:effectLst/>
                <a:latin typeface="Times New Roman" panose="02020603050405020304" pitchFamily="18" charset="0"/>
              </a:rPr>
              <a:t>The degree of advancement of the telecommunications infrastructure which provides access to the new technology for business and consumers.</a:t>
            </a:r>
            <a:r>
              <a:rPr lang="en-GB" dirty="0"/>
              <a:t> </a:t>
            </a:r>
          </a:p>
          <a:p>
            <a:r>
              <a:rPr lang="en-GB" sz="1800" b="1" i="1" dirty="0">
                <a:solidFill>
                  <a:srgbClr val="000000"/>
                </a:solidFill>
                <a:effectLst/>
                <a:latin typeface="Times New Roman" panose="02020603050405020304" pitchFamily="18" charset="0"/>
              </a:rPr>
              <a:t>Political factors </a:t>
            </a:r>
            <a:r>
              <a:rPr lang="en-GB" sz="1800" b="0" i="1" dirty="0">
                <a:solidFill>
                  <a:srgbClr val="000000"/>
                </a:solidFill>
                <a:effectLst/>
                <a:latin typeface="Times New Roman" panose="02020603050405020304" pitchFamily="18" charset="0"/>
              </a:rPr>
              <a:t>– </a:t>
            </a:r>
            <a:r>
              <a:rPr lang="en-GB" sz="1800" b="0" i="0" dirty="0">
                <a:solidFill>
                  <a:srgbClr val="000000"/>
                </a:solidFill>
                <a:effectLst/>
                <a:latin typeface="Times New Roman" panose="02020603050405020304" pitchFamily="18" charset="0"/>
              </a:rPr>
              <a:t>including the role of government in creating government legislation,</a:t>
            </a:r>
            <a:br>
              <a:rPr lang="en-GB" sz="1800" b="0" i="0" dirty="0">
                <a:solidFill>
                  <a:srgbClr val="000000"/>
                </a:solidFill>
                <a:effectLst/>
                <a:latin typeface="Times New Roman" panose="02020603050405020304" pitchFamily="18" charset="0"/>
              </a:rPr>
            </a:br>
            <a:r>
              <a:rPr lang="en-GB" sz="1800" b="0" i="0" dirty="0">
                <a:solidFill>
                  <a:srgbClr val="000000"/>
                </a:solidFill>
                <a:effectLst/>
                <a:latin typeface="Times New Roman" panose="02020603050405020304" pitchFamily="18" charset="0"/>
              </a:rPr>
              <a:t>initiatives and funding to support the use and development of e-commerce and information technology</a:t>
            </a:r>
          </a:p>
          <a:p>
            <a:r>
              <a:rPr lang="en-GB" sz="1800" b="1" i="1" dirty="0">
                <a:solidFill>
                  <a:srgbClr val="000000"/>
                </a:solidFill>
                <a:effectLst/>
                <a:latin typeface="Times New Roman" panose="02020603050405020304" pitchFamily="18" charset="0"/>
              </a:rPr>
              <a:t>Social factors </a:t>
            </a:r>
            <a:r>
              <a:rPr lang="en-GB" sz="1800" b="0" i="0" dirty="0">
                <a:solidFill>
                  <a:srgbClr val="000000"/>
                </a:solidFill>
                <a:effectLst/>
                <a:latin typeface="Times New Roman" panose="02020603050405020304" pitchFamily="18" charset="0"/>
              </a:rPr>
              <a:t>– incorporating the level and advancement in IT education and training</a:t>
            </a:r>
            <a:br>
              <a:rPr lang="en-GB" sz="1800" b="0" i="0" dirty="0">
                <a:solidFill>
                  <a:srgbClr val="000000"/>
                </a:solidFill>
                <a:effectLst/>
                <a:latin typeface="Times New Roman" panose="02020603050405020304" pitchFamily="18" charset="0"/>
              </a:rPr>
            </a:br>
            <a:r>
              <a:rPr lang="en-GB" sz="1800" b="0" i="0" dirty="0">
                <a:solidFill>
                  <a:srgbClr val="000000"/>
                </a:solidFill>
                <a:effectLst/>
                <a:latin typeface="Times New Roman" panose="02020603050405020304" pitchFamily="18" charset="0"/>
              </a:rPr>
              <a:t>which will enable both potential buyers and the workforce to understand and use the new</a:t>
            </a:r>
            <a:br>
              <a:rPr lang="en-GB" sz="1800" b="0" i="0" dirty="0">
                <a:solidFill>
                  <a:srgbClr val="000000"/>
                </a:solidFill>
                <a:effectLst/>
                <a:latin typeface="Times New Roman" panose="02020603050405020304" pitchFamily="18" charset="0"/>
              </a:rPr>
            </a:br>
            <a:r>
              <a:rPr lang="en-GB" sz="1800" b="0" i="0" dirty="0">
                <a:solidFill>
                  <a:srgbClr val="000000"/>
                </a:solidFill>
                <a:effectLst/>
                <a:latin typeface="Times New Roman" panose="02020603050405020304" pitchFamily="18" charset="0"/>
              </a:rPr>
              <a:t>technology</a:t>
            </a:r>
            <a:r>
              <a:rPr lang="en-GB" dirty="0"/>
              <a:t>  </a:t>
            </a:r>
          </a:p>
          <a:p>
            <a:r>
              <a:rPr lang="en-GB" sz="1800" b="1" i="1" dirty="0">
                <a:solidFill>
                  <a:srgbClr val="000000"/>
                </a:solidFill>
                <a:effectLst/>
                <a:latin typeface="Times New Roman" panose="02020603050405020304" pitchFamily="18" charset="0"/>
              </a:rPr>
              <a:t>Economic factors </a:t>
            </a:r>
            <a:r>
              <a:rPr lang="en-GB" sz="1800" b="0" i="1" dirty="0">
                <a:solidFill>
                  <a:srgbClr val="000000"/>
                </a:solidFill>
                <a:effectLst/>
                <a:latin typeface="Times New Roman" panose="02020603050405020304" pitchFamily="18" charset="0"/>
              </a:rPr>
              <a:t>– </a:t>
            </a:r>
            <a:r>
              <a:rPr lang="en-GB" sz="1800" b="0" i="0" dirty="0">
                <a:solidFill>
                  <a:srgbClr val="000000"/>
                </a:solidFill>
                <a:effectLst/>
                <a:latin typeface="Times New Roman" panose="02020603050405020304" pitchFamily="18" charset="0"/>
              </a:rPr>
              <a:t>including the general wealth and commercial health of the nation and</a:t>
            </a:r>
            <a:br>
              <a:rPr lang="en-GB" sz="1800" b="0" i="0" dirty="0">
                <a:solidFill>
                  <a:srgbClr val="000000"/>
                </a:solidFill>
                <a:effectLst/>
                <a:latin typeface="Times New Roman" panose="02020603050405020304" pitchFamily="18" charset="0"/>
              </a:rPr>
            </a:br>
            <a:r>
              <a:rPr lang="en-GB" sz="1800" b="0" i="0" dirty="0">
                <a:solidFill>
                  <a:srgbClr val="000000"/>
                </a:solidFill>
                <a:effectLst/>
                <a:latin typeface="Times New Roman" panose="02020603050405020304" pitchFamily="18" charset="0"/>
              </a:rPr>
              <a:t>the elements that contribute to it. </a:t>
            </a:r>
            <a:endParaRPr lang="en-GB" dirty="0"/>
          </a:p>
        </p:txBody>
      </p:sp>
    </p:spTree>
    <p:extLst>
      <p:ext uri="{BB962C8B-B14F-4D97-AF65-F5344CB8AC3E}">
        <p14:creationId xmlns:p14="http://schemas.microsoft.com/office/powerpoint/2010/main" val="369108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a:bodyPr>
          <a:lstStyle/>
          <a:p>
            <a:r>
              <a:rPr lang="en-GB" sz="4000" b="1" i="0" dirty="0">
                <a:solidFill>
                  <a:srgbClr val="000000"/>
                </a:solidFill>
                <a:effectLst/>
                <a:latin typeface="Times New Roman" panose="02020603050405020304" pitchFamily="18" charset="0"/>
              </a:rPr>
              <a:t>LEVELS OF ELECTRONIC-COMMERCE</a:t>
            </a:r>
            <a:r>
              <a:rPr lang="en-GB" dirty="0"/>
              <a:t> </a:t>
            </a:r>
            <a:endParaRPr lang="en-GB" b="1"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a:bodyPr>
          <a:lstStyle/>
          <a:p>
            <a:r>
              <a:rPr lang="en-GB" sz="1800" dirty="0">
                <a:solidFill>
                  <a:srgbClr val="000000"/>
                </a:solidFill>
                <a:latin typeface="Times New Roman" panose="02020603050405020304" pitchFamily="18" charset="0"/>
              </a:rPr>
              <a:t>E-Commerce</a:t>
            </a:r>
            <a:r>
              <a:rPr lang="en-GB" sz="1800" b="0" i="0" dirty="0">
                <a:solidFill>
                  <a:srgbClr val="000000"/>
                </a:solidFill>
                <a:effectLst/>
                <a:latin typeface="Times New Roman" panose="02020603050405020304" pitchFamily="18" charset="0"/>
              </a:rPr>
              <a:t> is carried out primarily in five levels, and the main aspect of ecommerce is a merchant selling products or service to the consumers</a:t>
            </a:r>
            <a:r>
              <a:rPr lang="en-GB" dirty="0"/>
              <a:t> </a:t>
            </a:r>
          </a:p>
          <a:p>
            <a:r>
              <a:rPr lang="en-GB" sz="1800" dirty="0">
                <a:solidFill>
                  <a:srgbClr val="000000"/>
                </a:solidFill>
                <a:latin typeface="Times New Roman" panose="02020603050405020304" pitchFamily="18" charset="0"/>
              </a:rPr>
              <a:t>T</a:t>
            </a:r>
            <a:r>
              <a:rPr lang="en-GB" sz="1800" b="0" i="0" dirty="0">
                <a:solidFill>
                  <a:srgbClr val="000000"/>
                </a:solidFill>
                <a:effectLst/>
                <a:latin typeface="Times New Roman" panose="02020603050405020304" pitchFamily="18" charset="0"/>
              </a:rPr>
              <a:t>he following are some popular ecommerce models used by companies engaged in e-commerce</a:t>
            </a:r>
            <a:r>
              <a:rPr lang="en-GB" dirty="0"/>
              <a:t> </a:t>
            </a:r>
          </a:p>
          <a:p>
            <a:endParaRPr lang="en-GB" dirty="0"/>
          </a:p>
          <a:p>
            <a:pPr marL="457200" indent="-457200">
              <a:buSzPct val="80000"/>
              <a:buFont typeface="+mj-lt"/>
              <a:buAutoNum type="arabicPeriod"/>
            </a:pPr>
            <a:r>
              <a:rPr lang="en-GB" sz="2000" b="1" i="0" dirty="0">
                <a:solidFill>
                  <a:srgbClr val="000000"/>
                </a:solidFill>
                <a:effectLst/>
                <a:latin typeface="Times New Roman" panose="02020603050405020304" pitchFamily="18" charset="0"/>
              </a:rPr>
              <a:t>Business to Business E-commerce (B2B)</a:t>
            </a:r>
            <a:r>
              <a:rPr lang="en-GB" sz="2000" dirty="0"/>
              <a:t> </a:t>
            </a:r>
          </a:p>
          <a:p>
            <a:pPr marL="514350" indent="-514350">
              <a:buSzPct val="80000"/>
              <a:buFont typeface="+mj-lt"/>
              <a:buAutoNum type="arabicPeriod"/>
            </a:pPr>
            <a:r>
              <a:rPr lang="en-GB" sz="2000" b="1" i="0" dirty="0">
                <a:solidFill>
                  <a:srgbClr val="000000"/>
                </a:solidFill>
                <a:effectLst/>
                <a:latin typeface="Times New Roman" panose="02020603050405020304" pitchFamily="18" charset="0"/>
              </a:rPr>
              <a:t>Business to Consumers E-commerce (B2C)</a:t>
            </a:r>
            <a:r>
              <a:rPr lang="en-GB" sz="2000" dirty="0"/>
              <a:t> </a:t>
            </a:r>
          </a:p>
          <a:p>
            <a:pPr marL="514350" indent="-514350">
              <a:buSzPct val="80000"/>
              <a:buFont typeface="+mj-lt"/>
              <a:buAutoNum type="arabicPeriod"/>
            </a:pPr>
            <a:r>
              <a:rPr lang="en-GB" sz="2000" b="1" i="0" dirty="0">
                <a:solidFill>
                  <a:srgbClr val="000000"/>
                </a:solidFill>
                <a:effectLst/>
                <a:latin typeface="Times New Roman" panose="02020603050405020304" pitchFamily="18" charset="0"/>
              </a:rPr>
              <a:t>Consumer-to-Consumer E-commerce (C2C)</a:t>
            </a:r>
            <a:r>
              <a:rPr lang="en-GB" sz="2000" dirty="0"/>
              <a:t> </a:t>
            </a:r>
          </a:p>
          <a:p>
            <a:pPr marL="457200" indent="-457200">
              <a:buSzPct val="80000"/>
              <a:buFont typeface="+mj-lt"/>
              <a:buAutoNum type="arabicPeriod"/>
            </a:pPr>
            <a:r>
              <a:rPr lang="en-GB" sz="2000" b="1" i="0" dirty="0">
                <a:solidFill>
                  <a:srgbClr val="000000"/>
                </a:solidFill>
                <a:effectLst/>
                <a:latin typeface="Times New Roman" panose="02020603050405020304" pitchFamily="18" charset="0"/>
              </a:rPr>
              <a:t>Consumer-to-Business E-commerce (C2B)</a:t>
            </a:r>
            <a:r>
              <a:rPr lang="en-GB" sz="2000" dirty="0"/>
              <a:t> </a:t>
            </a:r>
          </a:p>
          <a:p>
            <a:pPr marL="514350" indent="-514350">
              <a:buSzPct val="80000"/>
              <a:buFont typeface="+mj-lt"/>
              <a:buAutoNum type="arabicPeriod"/>
            </a:pPr>
            <a:r>
              <a:rPr lang="en-GB" sz="2000" b="1" i="0" dirty="0">
                <a:solidFill>
                  <a:srgbClr val="000000"/>
                </a:solidFill>
                <a:effectLst/>
                <a:latin typeface="Times New Roman" panose="02020603050405020304" pitchFamily="18" charset="0"/>
              </a:rPr>
              <a:t>Business to Employees E-commerce (B2E)</a:t>
            </a:r>
            <a:r>
              <a:rPr lang="en-GB" sz="2000" dirty="0"/>
              <a:t> </a:t>
            </a:r>
            <a:endParaRPr lang="en-GB" sz="2000" b="0" i="0" dirty="0">
              <a:solidFill>
                <a:srgbClr val="000000"/>
              </a:solidFill>
              <a:effectLst/>
              <a:latin typeface="Times New Roman" panose="02020603050405020304" pitchFamily="18" charset="0"/>
            </a:endParaRPr>
          </a:p>
          <a:p>
            <a:pPr marL="514350" indent="-514350">
              <a:buSzPct val="80000"/>
              <a:buFont typeface="+mj-lt"/>
              <a:buAutoNum type="arabicPeriod"/>
            </a:pPr>
            <a:endParaRPr lang="en-GB" dirty="0"/>
          </a:p>
        </p:txBody>
      </p:sp>
    </p:spTree>
    <p:extLst>
      <p:ext uri="{BB962C8B-B14F-4D97-AF65-F5344CB8AC3E}">
        <p14:creationId xmlns:p14="http://schemas.microsoft.com/office/powerpoint/2010/main" val="3578744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a:bodyPr>
          <a:lstStyle/>
          <a:p>
            <a:r>
              <a:rPr lang="en-GB" sz="4000" b="1" i="0" dirty="0">
                <a:solidFill>
                  <a:srgbClr val="000000"/>
                </a:solidFill>
                <a:effectLst/>
                <a:latin typeface="Times New Roman" panose="02020603050405020304" pitchFamily="18" charset="0"/>
              </a:rPr>
              <a:t>LEVELS OF ELECTRONIC-COMMERCE</a:t>
            </a:r>
            <a:r>
              <a:rPr lang="en-GB" dirty="0"/>
              <a:t> </a:t>
            </a:r>
            <a:endParaRPr lang="en-GB" b="1"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2"/>
            <a:ext cx="10444454" cy="5068575"/>
          </a:xfrm>
        </p:spPr>
        <p:txBody>
          <a:bodyPr>
            <a:normAutofit/>
          </a:bodyPr>
          <a:lstStyle/>
          <a:p>
            <a:r>
              <a:rPr lang="en-GB" sz="1800" dirty="0">
                <a:solidFill>
                  <a:srgbClr val="000000"/>
                </a:solidFill>
                <a:latin typeface="Times New Roman" panose="02020603050405020304" pitchFamily="18" charset="0"/>
              </a:rPr>
              <a:t>E-Commerce</a:t>
            </a:r>
            <a:r>
              <a:rPr lang="en-GB" sz="1800" b="0" i="0" dirty="0">
                <a:solidFill>
                  <a:srgbClr val="000000"/>
                </a:solidFill>
                <a:effectLst/>
                <a:latin typeface="Times New Roman" panose="02020603050405020304" pitchFamily="18" charset="0"/>
              </a:rPr>
              <a:t> is carried out primarily in five levels, and the main aspect of ecommerce is a merchant selling products or service to the consumers</a:t>
            </a:r>
            <a:r>
              <a:rPr lang="en-GB" dirty="0"/>
              <a:t> </a:t>
            </a:r>
          </a:p>
          <a:p>
            <a:r>
              <a:rPr lang="en-GB" sz="1800" dirty="0">
                <a:solidFill>
                  <a:srgbClr val="000000"/>
                </a:solidFill>
                <a:latin typeface="Times New Roman" panose="02020603050405020304" pitchFamily="18" charset="0"/>
              </a:rPr>
              <a:t>T</a:t>
            </a:r>
            <a:r>
              <a:rPr lang="en-GB" sz="1800" b="0" i="0" dirty="0">
                <a:solidFill>
                  <a:srgbClr val="000000"/>
                </a:solidFill>
                <a:effectLst/>
                <a:latin typeface="Times New Roman" panose="02020603050405020304" pitchFamily="18" charset="0"/>
              </a:rPr>
              <a:t>he following are some popular ecommerce models used by companies engaged in e-commerce</a:t>
            </a:r>
            <a:r>
              <a:rPr lang="en-GB" dirty="0"/>
              <a:t> </a:t>
            </a:r>
          </a:p>
          <a:p>
            <a:endParaRPr lang="en-GB" dirty="0"/>
          </a:p>
          <a:p>
            <a:pPr marL="457200" indent="-457200">
              <a:buSzPct val="80000"/>
              <a:buFont typeface="+mj-lt"/>
              <a:buAutoNum type="romanLcPeriod"/>
            </a:pPr>
            <a:r>
              <a:rPr lang="en-GB" sz="1800" b="1" i="0" dirty="0">
                <a:solidFill>
                  <a:srgbClr val="000000"/>
                </a:solidFill>
                <a:effectLst/>
                <a:latin typeface="Times New Roman" panose="02020603050405020304" pitchFamily="18" charset="0"/>
              </a:rPr>
              <a:t>Business to Business E-commerce (B2B)</a:t>
            </a:r>
            <a:r>
              <a:rPr lang="en-GB" dirty="0"/>
              <a:t> </a:t>
            </a:r>
          </a:p>
          <a:p>
            <a:r>
              <a:rPr lang="en-US" altLang="en-US" dirty="0"/>
              <a:t>	Transactions between businesses conducted electronically over the Internet, extranets, intranets, or private networks</a:t>
            </a:r>
          </a:p>
          <a:p>
            <a:r>
              <a:rPr lang="en-US" dirty="0"/>
              <a:t>B2B is defined as the sales of goods or services between businesses via online channels</a:t>
            </a:r>
            <a:endParaRPr lang="en-GB" dirty="0"/>
          </a:p>
        </p:txBody>
      </p:sp>
    </p:spTree>
    <p:extLst>
      <p:ext uri="{BB962C8B-B14F-4D97-AF65-F5344CB8AC3E}">
        <p14:creationId xmlns:p14="http://schemas.microsoft.com/office/powerpoint/2010/main" val="765689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a:bodyPr>
          <a:lstStyle/>
          <a:p>
            <a:r>
              <a:rPr lang="en-GB" sz="4000" b="1" i="0" dirty="0">
                <a:solidFill>
                  <a:srgbClr val="000000"/>
                </a:solidFill>
                <a:effectLst/>
                <a:latin typeface="Times New Roman" panose="02020603050405020304" pitchFamily="18" charset="0"/>
              </a:rPr>
              <a:t>LEVELS OF ELECTRONIC-COMMERCE</a:t>
            </a:r>
            <a:r>
              <a:rPr lang="en-GB" dirty="0"/>
              <a:t> </a:t>
            </a:r>
            <a:endParaRPr lang="en-GB" b="1"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a:bodyPr>
          <a:lstStyle/>
          <a:p>
            <a:pPr marL="514350" indent="-514350">
              <a:buSzPct val="80000"/>
              <a:buFont typeface="+mj-lt"/>
              <a:buAutoNum type="romanLcPeriod" startAt="2"/>
            </a:pPr>
            <a:r>
              <a:rPr lang="en-GB" sz="1800" b="1" i="0" dirty="0">
                <a:solidFill>
                  <a:srgbClr val="000000"/>
                </a:solidFill>
                <a:effectLst/>
                <a:latin typeface="Times New Roman" panose="02020603050405020304" pitchFamily="18" charset="0"/>
              </a:rPr>
              <a:t>Business to Consumers E-commerce (B2C)</a:t>
            </a:r>
            <a:r>
              <a:rPr lang="en-GB" dirty="0"/>
              <a:t> </a:t>
            </a:r>
          </a:p>
          <a:p>
            <a:r>
              <a:rPr lang="en-GB" sz="1800" b="0" i="0" dirty="0">
                <a:solidFill>
                  <a:srgbClr val="000000"/>
                </a:solidFill>
                <a:effectLst/>
                <a:latin typeface="Times New Roman" panose="02020603050405020304" pitchFamily="18" charset="0"/>
              </a:rPr>
              <a:t>B2C is the most popular form of e-commerce. </a:t>
            </a:r>
          </a:p>
          <a:p>
            <a:r>
              <a:rPr lang="en-US" sz="1800" b="0" i="0" dirty="0">
                <a:solidFill>
                  <a:srgbClr val="000000"/>
                </a:solidFill>
                <a:effectLst/>
                <a:latin typeface="Times New Roman" panose="02020603050405020304" pitchFamily="18" charset="0"/>
              </a:rPr>
              <a:t>B2C (business-to-consumer) e-commerce is the online sale of products or services of a business to consumers.</a:t>
            </a:r>
          </a:p>
          <a:p>
            <a:r>
              <a:rPr lang="en-US" sz="1800" b="0" i="0" dirty="0">
                <a:solidFill>
                  <a:srgbClr val="000000"/>
                </a:solidFill>
                <a:effectLst/>
                <a:latin typeface="Times New Roman" panose="02020603050405020304" pitchFamily="18" charset="0"/>
              </a:rPr>
              <a:t>B2C provides direct trade between the company and consumers. </a:t>
            </a:r>
            <a:endParaRPr lang="en-GB" dirty="0"/>
          </a:p>
        </p:txBody>
      </p:sp>
    </p:spTree>
    <p:extLst>
      <p:ext uri="{BB962C8B-B14F-4D97-AF65-F5344CB8AC3E}">
        <p14:creationId xmlns:p14="http://schemas.microsoft.com/office/powerpoint/2010/main" val="2714259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0B9A8-CD18-431B-942E-F9201D2F226D}"/>
              </a:ext>
            </a:extLst>
          </p:cNvPr>
          <p:cNvSpPr>
            <a:spLocks noGrp="1"/>
          </p:cNvSpPr>
          <p:nvPr>
            <p:ph type="title"/>
          </p:nvPr>
        </p:nvSpPr>
        <p:spPr/>
        <p:txBody>
          <a:bodyPr/>
          <a:lstStyle/>
          <a:p>
            <a:r>
              <a:rPr lang="en-US" dirty="0"/>
              <a:t>Difference between B2B and B2C E-Commerce</a:t>
            </a:r>
          </a:p>
        </p:txBody>
      </p:sp>
      <p:sp>
        <p:nvSpPr>
          <p:cNvPr id="3" name="Content Placeholder 2">
            <a:extLst>
              <a:ext uri="{FF2B5EF4-FFF2-40B4-BE49-F238E27FC236}">
                <a16:creationId xmlns:a16="http://schemas.microsoft.com/office/drawing/2014/main" id="{6A6B425B-B3A6-4F37-AF6F-D1BDD065842F}"/>
              </a:ext>
            </a:extLst>
          </p:cNvPr>
          <p:cNvSpPr>
            <a:spLocks noGrp="1"/>
          </p:cNvSpPr>
          <p:nvPr>
            <p:ph idx="1"/>
          </p:nvPr>
        </p:nvSpPr>
        <p:spPr>
          <a:xfrm>
            <a:off x="1304201" y="2119743"/>
            <a:ext cx="10018713" cy="4599711"/>
          </a:xfrm>
        </p:spPr>
        <p:txBody>
          <a:bodyPr>
            <a:normAutofit/>
          </a:bodyPr>
          <a:lstStyle/>
          <a:p>
            <a:r>
              <a:rPr lang="en-US" dirty="0"/>
              <a:t>B2C customers tend to make smaller orders and quicker buying decisions, while B2B customers are willing to spend weeks researching vendors before making a purchase.</a:t>
            </a:r>
          </a:p>
          <a:p>
            <a:r>
              <a:rPr lang="en-US" dirty="0"/>
              <a:t>B2B businesses form long-lasting relationships with customers, and their customers are less likely to impulse buy from the first company that sparks their interest.</a:t>
            </a:r>
          </a:p>
          <a:p>
            <a:endParaRPr lang="en-US" dirty="0"/>
          </a:p>
          <a:p>
            <a:r>
              <a:rPr lang="en-US" dirty="0"/>
              <a:t> In B2C e-commerce, the buying process is often driven by emotions: B2C customers want products that improve their lives and make them happy.</a:t>
            </a:r>
          </a:p>
          <a:p>
            <a:endParaRPr lang="en-US" dirty="0"/>
          </a:p>
        </p:txBody>
      </p:sp>
    </p:spTree>
    <p:extLst>
      <p:ext uri="{BB962C8B-B14F-4D97-AF65-F5344CB8AC3E}">
        <p14:creationId xmlns:p14="http://schemas.microsoft.com/office/powerpoint/2010/main" val="1525128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a:bodyPr>
          <a:lstStyle/>
          <a:p>
            <a:r>
              <a:rPr lang="en-GB" sz="4000" b="1" i="0" dirty="0">
                <a:solidFill>
                  <a:srgbClr val="000000"/>
                </a:solidFill>
                <a:effectLst/>
                <a:latin typeface="Times New Roman" panose="02020603050405020304" pitchFamily="18" charset="0"/>
              </a:rPr>
              <a:t>LEVELS OF ELECTRONIC-COMMERCE</a:t>
            </a:r>
            <a:r>
              <a:rPr lang="en-GB" dirty="0"/>
              <a:t> </a:t>
            </a:r>
            <a:endParaRPr lang="en-GB" b="1"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a:bodyPr>
          <a:lstStyle/>
          <a:p>
            <a:pPr marL="514350" indent="-514350">
              <a:buSzPct val="80000"/>
              <a:buFont typeface="+mj-lt"/>
              <a:buAutoNum type="romanLcPeriod" startAt="3"/>
            </a:pPr>
            <a:r>
              <a:rPr lang="en-GB" sz="3200" b="1" i="0" dirty="0">
                <a:solidFill>
                  <a:srgbClr val="000000"/>
                </a:solidFill>
                <a:effectLst/>
                <a:latin typeface="Times New Roman" panose="02020603050405020304" pitchFamily="18" charset="0"/>
              </a:rPr>
              <a:t>Consumer-to-Consumer E-commerce (C2C)</a:t>
            </a:r>
            <a:r>
              <a:rPr lang="en-GB" sz="3200" dirty="0"/>
              <a:t> </a:t>
            </a:r>
          </a:p>
          <a:p>
            <a:pPr>
              <a:buSzPct val="80000"/>
            </a:pPr>
            <a:r>
              <a:rPr lang="en-GB" sz="3200" dirty="0">
                <a:solidFill>
                  <a:srgbClr val="000000"/>
                </a:solidFill>
                <a:latin typeface="Times New Roman" panose="02020603050405020304" pitchFamily="18" charset="0"/>
              </a:rPr>
              <a:t>In this model, if</a:t>
            </a:r>
            <a:r>
              <a:rPr lang="en-GB" sz="3200" b="0" i="0" dirty="0">
                <a:solidFill>
                  <a:srgbClr val="000000"/>
                </a:solidFill>
                <a:effectLst/>
                <a:latin typeface="Times New Roman" panose="02020603050405020304" pitchFamily="18" charset="0"/>
              </a:rPr>
              <a:t> anyone wants to sell anything, all one has to do is post a message on the site, giving details of the product and the expected price and wait for an interested customer to turn up and buy it</a:t>
            </a:r>
            <a:r>
              <a:rPr lang="en-GB" sz="3200" dirty="0"/>
              <a:t> </a:t>
            </a:r>
          </a:p>
        </p:txBody>
      </p:sp>
    </p:spTree>
    <p:extLst>
      <p:ext uri="{BB962C8B-B14F-4D97-AF65-F5344CB8AC3E}">
        <p14:creationId xmlns:p14="http://schemas.microsoft.com/office/powerpoint/2010/main" val="3587857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LEVELS OF ELECTRONIC-COMMERCE</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2"/>
            <a:ext cx="10319763" cy="5123993"/>
          </a:xfrm>
        </p:spPr>
        <p:txBody>
          <a:bodyPr>
            <a:normAutofit/>
          </a:bodyPr>
          <a:lstStyle/>
          <a:p>
            <a:pPr marL="400050" indent="-400050">
              <a:buSzPct val="80000"/>
              <a:buFont typeface="+mj-lt"/>
              <a:buAutoNum type="romanLcPeriod" startAt="4"/>
            </a:pPr>
            <a:r>
              <a:rPr lang="en-GB" sz="3200" b="1" i="0" dirty="0">
                <a:solidFill>
                  <a:srgbClr val="000000"/>
                </a:solidFill>
                <a:effectLst/>
                <a:latin typeface="Times New Roman" panose="02020603050405020304" pitchFamily="18" charset="0"/>
              </a:rPr>
              <a:t>Consumer-to-Business E-commerce (C2B)</a:t>
            </a:r>
            <a:r>
              <a:rPr lang="en-GB" sz="3200" dirty="0"/>
              <a:t> </a:t>
            </a:r>
          </a:p>
          <a:p>
            <a:pPr>
              <a:buSzPct val="80000"/>
            </a:pPr>
            <a:r>
              <a:rPr lang="en-US" sz="2400" b="1" dirty="0"/>
              <a:t>A consumer-to-business model, or C2B, is a type of commerce where a consumer or end user provides a product or service to an organization.</a:t>
            </a:r>
          </a:p>
          <a:p>
            <a:pPr>
              <a:buSzPct val="80000"/>
            </a:pPr>
            <a:r>
              <a:rPr lang="en-US" dirty="0"/>
              <a:t>Consumer-to-business (C2B) is a business model where an end user or consumer makes a product or service that an organization uses to complete a business process or gain competitive advantage.</a:t>
            </a:r>
            <a:endParaRPr lang="en-US" sz="2400" b="1" dirty="0"/>
          </a:p>
          <a:p>
            <a:pPr marL="0" indent="0">
              <a:buSzPct val="80000"/>
              <a:buNone/>
            </a:pPr>
            <a:endParaRPr lang="en-GB" sz="3200" dirty="0"/>
          </a:p>
          <a:p>
            <a:r>
              <a:rPr lang="en-GB" sz="2200" b="0" i="0" dirty="0">
                <a:solidFill>
                  <a:srgbClr val="000000"/>
                </a:solidFill>
                <a:effectLst/>
                <a:latin typeface="Times New Roman" panose="02020603050405020304" pitchFamily="18" charset="0"/>
              </a:rPr>
              <a:t>An example of C2B model of e-commerce is the site </a:t>
            </a:r>
            <a:r>
              <a:rPr lang="en-GB" sz="2200" b="0" i="0" dirty="0" err="1">
                <a:solidFill>
                  <a:srgbClr val="000000"/>
                </a:solidFill>
                <a:effectLst/>
                <a:latin typeface="Times New Roman" panose="02020603050405020304" pitchFamily="18" charset="0"/>
              </a:rPr>
              <a:t>Priceline.Com</a:t>
            </a:r>
            <a:r>
              <a:rPr lang="en-GB" sz="2200" b="0" i="0" dirty="0">
                <a:solidFill>
                  <a:srgbClr val="000000"/>
                </a:solidFill>
                <a:effectLst/>
                <a:latin typeface="Times New Roman" panose="02020603050405020304" pitchFamily="18" charset="0"/>
              </a:rPr>
              <a:t>, which allows prospective airline travellers, tourists in need of hotel reservations etc. to visit its websites and indicate their preferred price for travel between any two cities</a:t>
            </a:r>
            <a:r>
              <a:rPr lang="en-GB" sz="2200" dirty="0"/>
              <a:t> </a:t>
            </a:r>
          </a:p>
        </p:txBody>
      </p:sp>
    </p:spTree>
    <p:extLst>
      <p:ext uri="{BB962C8B-B14F-4D97-AF65-F5344CB8AC3E}">
        <p14:creationId xmlns:p14="http://schemas.microsoft.com/office/powerpoint/2010/main" val="1594608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LEVELS OF ELECTRONIC-COMMERCE</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Autofit/>
          </a:bodyPr>
          <a:lstStyle/>
          <a:p>
            <a:pPr marL="514350" indent="-514350">
              <a:buSzPct val="80000"/>
              <a:buFont typeface="+mj-lt"/>
              <a:buAutoNum type="romanLcPeriod" startAt="5"/>
            </a:pPr>
            <a:r>
              <a:rPr lang="en-GB" sz="2200" b="1" i="0" dirty="0">
                <a:solidFill>
                  <a:srgbClr val="000000"/>
                </a:solidFill>
                <a:effectLst/>
                <a:latin typeface="Times New Roman" panose="02020603050405020304" pitchFamily="18" charset="0"/>
              </a:rPr>
              <a:t>Business to Employees E-commerce (B2E)</a:t>
            </a:r>
            <a:r>
              <a:rPr lang="en-GB" sz="2200" dirty="0"/>
              <a:t> </a:t>
            </a:r>
          </a:p>
          <a:p>
            <a:pPr>
              <a:buSzPct val="80000"/>
              <a:buFont typeface="Wingdings" panose="05000000000000000000" pitchFamily="2" charset="2"/>
              <a:buChar char="v"/>
            </a:pPr>
            <a:r>
              <a:rPr lang="en-US" sz="2200" b="0" i="0" dirty="0">
                <a:solidFill>
                  <a:srgbClr val="000000"/>
                </a:solidFill>
                <a:effectLst/>
                <a:latin typeface="Times New Roman" panose="02020603050405020304" pitchFamily="18" charset="0"/>
              </a:rPr>
              <a:t>With B2E, the target is not companies, but their own employees.</a:t>
            </a:r>
          </a:p>
          <a:p>
            <a:pPr>
              <a:buSzPct val="80000"/>
              <a:buFont typeface="Wingdings" panose="05000000000000000000" pitchFamily="2" charset="2"/>
              <a:buChar char="v"/>
            </a:pPr>
            <a:endParaRPr lang="en-US" sz="2200" b="0" i="0" dirty="0">
              <a:solidFill>
                <a:srgbClr val="000000"/>
              </a:solidFill>
              <a:effectLst/>
              <a:latin typeface="Times New Roman" panose="02020603050405020304" pitchFamily="18" charset="0"/>
            </a:endParaRPr>
          </a:p>
          <a:p>
            <a:pPr>
              <a:buSzPct val="80000"/>
              <a:buFont typeface="Wingdings" panose="05000000000000000000" pitchFamily="2" charset="2"/>
              <a:buChar char="v"/>
            </a:pPr>
            <a:r>
              <a:rPr lang="en-US" sz="2200" b="0" i="0" dirty="0">
                <a:solidFill>
                  <a:srgbClr val="000000"/>
                </a:solidFill>
                <a:effectLst/>
                <a:latin typeface="Times New Roman" panose="02020603050405020304" pitchFamily="18" charset="0"/>
              </a:rPr>
              <a:t>A B2E strategy covers everything a business can do to attract, recruit, onboard, train, empower and retain employees.</a:t>
            </a:r>
          </a:p>
          <a:p>
            <a:pPr>
              <a:buSzPct val="80000"/>
              <a:buFont typeface="Wingdings" panose="05000000000000000000" pitchFamily="2" charset="2"/>
              <a:buChar char="v"/>
            </a:pPr>
            <a:r>
              <a:rPr lang="en-US" sz="2200" b="0" i="0" dirty="0">
                <a:solidFill>
                  <a:srgbClr val="000000"/>
                </a:solidFill>
                <a:effectLst/>
                <a:latin typeface="Times New Roman" panose="02020603050405020304" pitchFamily="18" charset="0"/>
              </a:rPr>
              <a:t>In a broader and vaster sense, B2E tries to encompass all those aspects that businesses do for attracting and retaining competent staff in a highly competitive market.</a:t>
            </a:r>
          </a:p>
          <a:p>
            <a:pPr>
              <a:buSzPct val="80000"/>
              <a:buFont typeface="Wingdings" panose="05000000000000000000" pitchFamily="2" charset="2"/>
              <a:buChar char="v"/>
            </a:pPr>
            <a:endParaRPr lang="en-US" sz="2200" dirty="0">
              <a:solidFill>
                <a:srgbClr val="000000"/>
              </a:solidFill>
              <a:latin typeface="Times New Roman" panose="02020603050405020304" pitchFamily="18" charset="0"/>
            </a:endParaRPr>
          </a:p>
          <a:p>
            <a:pPr>
              <a:buSzPct val="80000"/>
              <a:buFont typeface="Wingdings" panose="05000000000000000000" pitchFamily="2" charset="2"/>
              <a:buChar char="v"/>
            </a:pPr>
            <a:r>
              <a:rPr lang="en-US" sz="2200" b="0" i="0" dirty="0">
                <a:solidFill>
                  <a:srgbClr val="000000"/>
                </a:solidFill>
                <a:effectLst/>
                <a:latin typeface="Times New Roman" panose="02020603050405020304" pitchFamily="18" charset="0"/>
              </a:rPr>
              <a:t> Flexible working hours, bonuses, opportunities for education, aggressive recruiting are some strategies that a business incorporates as a part of the business-to-employee strategy.</a:t>
            </a:r>
            <a:endParaRPr lang="en-GB" sz="2200"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570029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416141" cy="854242"/>
          </a:xfrm>
        </p:spPr>
        <p:txBody>
          <a:bodyPr>
            <a:normAutofit fontScale="90000"/>
          </a:bodyPr>
          <a:lstStyle/>
          <a:p>
            <a:r>
              <a:rPr lang="en-GB" sz="4000" b="1" i="0" dirty="0">
                <a:solidFill>
                  <a:srgbClr val="000000"/>
                </a:solidFill>
                <a:effectLst/>
                <a:latin typeface="Times New Roman" panose="02020603050405020304" pitchFamily="18" charset="0"/>
              </a:rPr>
              <a:t>THE BENEFITS OF ELECTRONIC-COMMERCE</a:t>
            </a:r>
            <a:r>
              <a:rPr lang="en-GB" dirty="0"/>
              <a:t>  </a:t>
            </a:r>
            <a:r>
              <a:rPr lang="en-GB" sz="4000" b="1" i="0" dirty="0">
                <a:solidFill>
                  <a:srgbClr val="000000"/>
                </a:solidFill>
                <a:effectLst/>
                <a:latin typeface="Times New Roman" panose="02020603050405020304" pitchFamily="18" charset="0"/>
              </a:rPr>
              <a:t>TO ORGANIZATIONS</a:t>
            </a:r>
            <a:r>
              <a:rPr lang="en-GB" dirty="0"/>
              <a:t> </a:t>
            </a:r>
            <a:br>
              <a:rPr lang="en-GB" dirty="0"/>
            </a:br>
            <a:endParaRPr lang="en-GB"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lnSpcReduction="10000"/>
          </a:bodyPr>
          <a:lstStyle/>
          <a:p>
            <a:r>
              <a:rPr lang="en-GB" sz="1800" b="1" i="0" dirty="0">
                <a:solidFill>
                  <a:srgbClr val="000000"/>
                </a:solidFill>
                <a:effectLst/>
                <a:latin typeface="Times New Roman" panose="02020603050405020304" pitchFamily="18" charset="0"/>
              </a:rPr>
              <a:t>Benefits of e-commerce to organizations</a:t>
            </a:r>
            <a:r>
              <a:rPr lang="en-GB" dirty="0"/>
              <a:t> </a:t>
            </a:r>
          </a:p>
          <a:p>
            <a:r>
              <a:rPr lang="en-GB" sz="1800" b="1" i="1" dirty="0">
                <a:solidFill>
                  <a:srgbClr val="000000"/>
                </a:solidFill>
                <a:effectLst/>
                <a:latin typeface="Times New Roman" panose="02020603050405020304" pitchFamily="18" charset="0"/>
              </a:rPr>
              <a:t>International marketplace.</a:t>
            </a:r>
            <a:r>
              <a:rPr lang="en-GB" dirty="0"/>
              <a:t> </a:t>
            </a:r>
            <a:r>
              <a:rPr lang="en-GB" sz="1800" b="0" i="0" dirty="0">
                <a:solidFill>
                  <a:srgbClr val="000000"/>
                </a:solidFill>
                <a:effectLst/>
                <a:latin typeface="Times New Roman" panose="02020603050405020304" pitchFamily="18" charset="0"/>
              </a:rPr>
              <a:t>By becoming e-commerce enabled, businesses now have access to people all around the world.</a:t>
            </a:r>
            <a:r>
              <a:rPr lang="en-GB" dirty="0"/>
              <a:t> </a:t>
            </a:r>
          </a:p>
          <a:p>
            <a:r>
              <a:rPr lang="en-GB" sz="1800" b="1" i="1" dirty="0">
                <a:solidFill>
                  <a:srgbClr val="000000"/>
                </a:solidFill>
                <a:effectLst/>
                <a:latin typeface="Times New Roman" panose="02020603050405020304" pitchFamily="18" charset="0"/>
              </a:rPr>
              <a:t>Operational cost savings</a:t>
            </a:r>
            <a:r>
              <a:rPr lang="en-GB" sz="1800" b="0" i="0" dirty="0">
                <a:solidFill>
                  <a:srgbClr val="000000"/>
                </a:solidFill>
                <a:effectLst/>
                <a:latin typeface="Times New Roman" panose="02020603050405020304" pitchFamily="18" charset="0"/>
              </a:rPr>
              <a:t>. The cost of creating, processing, distributing, storing and retrieving paper based information has decreased.</a:t>
            </a:r>
            <a:r>
              <a:rPr lang="en-GB" dirty="0"/>
              <a:t> </a:t>
            </a:r>
          </a:p>
          <a:p>
            <a:r>
              <a:rPr lang="en-GB" sz="1800" b="1" i="1" dirty="0">
                <a:solidFill>
                  <a:srgbClr val="000000"/>
                </a:solidFill>
                <a:effectLst/>
                <a:latin typeface="Times New Roman" panose="02020603050405020304" pitchFamily="18" charset="0"/>
              </a:rPr>
              <a:t>Mass customisation</a:t>
            </a:r>
            <a:r>
              <a:rPr lang="en-GB" sz="1800" b="0" i="0" dirty="0">
                <a:solidFill>
                  <a:srgbClr val="000000"/>
                </a:solidFill>
                <a:effectLst/>
                <a:latin typeface="Times New Roman" panose="02020603050405020304" pitchFamily="18" charset="0"/>
              </a:rPr>
              <a:t>.</a:t>
            </a:r>
            <a:r>
              <a:rPr lang="en-GB" dirty="0"/>
              <a:t> </a:t>
            </a:r>
            <a:r>
              <a:rPr lang="en-GB" sz="1800" b="0" i="0" dirty="0">
                <a:solidFill>
                  <a:srgbClr val="000000"/>
                </a:solidFill>
                <a:effectLst/>
                <a:latin typeface="Times New Roman" panose="02020603050405020304" pitchFamily="18" charset="0"/>
              </a:rPr>
              <a:t>The pull-type processing allows for products and services to be customised to the customer‘s requirements.</a:t>
            </a:r>
            <a:r>
              <a:rPr lang="en-GB" dirty="0"/>
              <a:t> </a:t>
            </a:r>
          </a:p>
          <a:p>
            <a:r>
              <a:rPr lang="en-GB" sz="1800" b="1" i="1" dirty="0">
                <a:solidFill>
                  <a:srgbClr val="000000"/>
                </a:solidFill>
                <a:effectLst/>
                <a:latin typeface="Times New Roman" panose="02020603050405020304" pitchFamily="18" charset="0"/>
              </a:rPr>
              <a:t>Enables reduced inventories </a:t>
            </a:r>
            <a:r>
              <a:rPr lang="en-GB" sz="1800" b="0" i="0" dirty="0">
                <a:solidFill>
                  <a:srgbClr val="000000"/>
                </a:solidFill>
                <a:effectLst/>
                <a:latin typeface="Times New Roman" panose="02020603050405020304" pitchFamily="18" charset="0"/>
              </a:rPr>
              <a:t>and overheads by facilitating ‘pull‘-type supply chain management</a:t>
            </a:r>
            <a:r>
              <a:rPr lang="en-GB" dirty="0"/>
              <a:t> - </a:t>
            </a:r>
            <a:r>
              <a:rPr lang="en-GB" sz="1800" b="0" i="0" dirty="0">
                <a:solidFill>
                  <a:srgbClr val="000000"/>
                </a:solidFill>
                <a:effectLst/>
                <a:latin typeface="Times New Roman" panose="02020603050405020304" pitchFamily="18" charset="0"/>
              </a:rPr>
              <a:t>this is based on collecting the customer order and then delivering through JIT (just-in-time) manufacturing</a:t>
            </a:r>
            <a:r>
              <a:rPr lang="en-GB" dirty="0"/>
              <a:t> </a:t>
            </a:r>
          </a:p>
          <a:p>
            <a:r>
              <a:rPr lang="en-GB" sz="1800" b="1" i="1" dirty="0">
                <a:solidFill>
                  <a:srgbClr val="000000"/>
                </a:solidFill>
                <a:effectLst/>
                <a:latin typeface="Times New Roman" panose="02020603050405020304" pitchFamily="18" charset="0"/>
              </a:rPr>
              <a:t>Lower telecommunications cost. </a:t>
            </a:r>
            <a:r>
              <a:rPr lang="en-GB" sz="1800" b="0" i="0" dirty="0">
                <a:solidFill>
                  <a:srgbClr val="000000"/>
                </a:solidFill>
                <a:effectLst/>
                <a:latin typeface="Times New Roman" panose="02020603050405020304" pitchFamily="18" charset="0"/>
              </a:rPr>
              <a:t>The Internet is much cheaper than value added networks (VANs) which were based on leasing telephone lines for the sole use of the organisation and its authorised partners</a:t>
            </a:r>
            <a:r>
              <a:rPr lang="en-GB" dirty="0"/>
              <a:t> </a:t>
            </a:r>
          </a:p>
        </p:txBody>
      </p:sp>
    </p:spTree>
    <p:extLst>
      <p:ext uri="{BB962C8B-B14F-4D97-AF65-F5344CB8AC3E}">
        <p14:creationId xmlns:p14="http://schemas.microsoft.com/office/powerpoint/2010/main" val="2086557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906472" cy="854242"/>
          </a:xfrm>
        </p:spPr>
        <p:txBody>
          <a:bodyPr>
            <a:normAutofit fontScale="90000"/>
          </a:bodyPr>
          <a:lstStyle/>
          <a:p>
            <a:r>
              <a:rPr lang="en-GB" sz="4000" b="1" i="0" dirty="0">
                <a:solidFill>
                  <a:srgbClr val="000000"/>
                </a:solidFill>
                <a:effectLst/>
                <a:latin typeface="Times New Roman" panose="02020603050405020304" pitchFamily="18" charset="0"/>
              </a:rPr>
              <a:t>THE BENEFITS OF ELECTRONIC-COMMERCE</a:t>
            </a:r>
            <a:r>
              <a:rPr lang="en-GB" dirty="0"/>
              <a:t>  </a:t>
            </a:r>
            <a:r>
              <a:rPr lang="en-GB" sz="4000" b="1" i="0" dirty="0">
                <a:solidFill>
                  <a:srgbClr val="000000"/>
                </a:solidFill>
                <a:effectLst/>
                <a:latin typeface="Times New Roman" panose="02020603050405020304" pitchFamily="18" charset="0"/>
              </a:rPr>
              <a:t>TO ORGANIZATIONS</a:t>
            </a:r>
            <a:endParaRPr lang="en-GB"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548664" cy="4632156"/>
          </a:xfrm>
        </p:spPr>
        <p:txBody>
          <a:bodyPr>
            <a:normAutofit/>
          </a:bodyPr>
          <a:lstStyle/>
          <a:p>
            <a:r>
              <a:rPr lang="en-GB" sz="2800" b="1" i="1" dirty="0">
                <a:solidFill>
                  <a:srgbClr val="000000"/>
                </a:solidFill>
                <a:effectLst/>
                <a:latin typeface="Times New Roman" panose="02020603050405020304" pitchFamily="18" charset="0"/>
              </a:rPr>
              <a:t>Digitisation of products and processes</a:t>
            </a:r>
            <a:r>
              <a:rPr lang="en-GB" sz="2800" b="0" i="0" dirty="0">
                <a:solidFill>
                  <a:srgbClr val="000000"/>
                </a:solidFill>
                <a:effectLst/>
                <a:latin typeface="Times New Roman" panose="02020603050405020304" pitchFamily="18" charset="0"/>
              </a:rPr>
              <a:t>. Particularly in the case of software and music/video products, which can be downloaded or e-mailed directly to customers via the Internet in digital or electronic format.</a:t>
            </a:r>
            <a:r>
              <a:rPr lang="en-GB" sz="2800" dirty="0"/>
              <a:t> </a:t>
            </a:r>
          </a:p>
          <a:p>
            <a:endParaRPr lang="en-GB" sz="2800" dirty="0"/>
          </a:p>
          <a:p>
            <a:r>
              <a:rPr lang="en-GB" sz="2800" b="1" i="1" dirty="0">
                <a:solidFill>
                  <a:srgbClr val="000000"/>
                </a:solidFill>
                <a:effectLst/>
                <a:latin typeface="Times New Roman" panose="02020603050405020304" pitchFamily="18" charset="0"/>
              </a:rPr>
              <a:t>No more 24-hour-time constraints</a:t>
            </a:r>
            <a:r>
              <a:rPr lang="en-GB" sz="2800" b="0" i="0" dirty="0">
                <a:solidFill>
                  <a:srgbClr val="000000"/>
                </a:solidFill>
                <a:effectLst/>
                <a:latin typeface="Times New Roman" panose="02020603050405020304" pitchFamily="18" charset="0"/>
              </a:rPr>
              <a:t>. Businesses can be contacted by or contact customers or suppliers at any time.</a:t>
            </a:r>
            <a:r>
              <a:rPr lang="en-GB" sz="2800" dirty="0"/>
              <a:t> </a:t>
            </a:r>
          </a:p>
        </p:txBody>
      </p:sp>
    </p:spTree>
    <p:extLst>
      <p:ext uri="{BB962C8B-B14F-4D97-AF65-F5344CB8AC3E}">
        <p14:creationId xmlns:p14="http://schemas.microsoft.com/office/powerpoint/2010/main" val="3071213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4C3-200A-406C-9ED9-BBB77666A5AE}"/>
              </a:ext>
            </a:extLst>
          </p:cNvPr>
          <p:cNvSpPr>
            <a:spLocks noGrp="1"/>
          </p:cNvSpPr>
          <p:nvPr>
            <p:ph type="title"/>
          </p:nvPr>
        </p:nvSpPr>
        <p:spPr>
          <a:xfrm>
            <a:off x="1484311" y="685801"/>
            <a:ext cx="10575167" cy="1315278"/>
          </a:xfrm>
        </p:spPr>
        <p:txBody>
          <a:bodyPr>
            <a:normAutofit fontScale="90000"/>
          </a:bodyPr>
          <a:lstStyle/>
          <a:p>
            <a:r>
              <a:rPr lang="en-GB" sz="4000" b="1" i="0" dirty="0">
                <a:solidFill>
                  <a:srgbClr val="000000"/>
                </a:solidFill>
                <a:effectLst/>
                <a:latin typeface="Times New Roman" panose="02020603050405020304" pitchFamily="18" charset="0"/>
              </a:rPr>
              <a:t>BENEFITS OF E-COMMERCE TO CONSUMERS</a:t>
            </a:r>
            <a:r>
              <a:rPr lang="en-GB" dirty="0"/>
              <a:t> </a:t>
            </a:r>
            <a:br>
              <a:rPr lang="en-GB" dirty="0"/>
            </a:br>
            <a:endParaRPr lang="en-US" dirty="0"/>
          </a:p>
        </p:txBody>
      </p:sp>
      <p:sp>
        <p:nvSpPr>
          <p:cNvPr id="3" name="Content Placeholder 2">
            <a:extLst>
              <a:ext uri="{FF2B5EF4-FFF2-40B4-BE49-F238E27FC236}">
                <a16:creationId xmlns:a16="http://schemas.microsoft.com/office/drawing/2014/main" id="{EA16E959-223B-42B0-8C4C-0A4FFAAFCD41}"/>
              </a:ext>
            </a:extLst>
          </p:cNvPr>
          <p:cNvSpPr>
            <a:spLocks noGrp="1"/>
          </p:cNvSpPr>
          <p:nvPr>
            <p:ph idx="1"/>
          </p:nvPr>
        </p:nvSpPr>
        <p:spPr/>
        <p:txBody>
          <a:bodyPr>
            <a:noAutofit/>
          </a:bodyPr>
          <a:lstStyle/>
          <a:p>
            <a:r>
              <a:rPr lang="en-GB" sz="2600" b="1" i="1" dirty="0">
                <a:solidFill>
                  <a:srgbClr val="000000"/>
                </a:solidFill>
                <a:effectLst/>
                <a:latin typeface="Times New Roman" panose="02020603050405020304" pitchFamily="18" charset="0"/>
              </a:rPr>
              <a:t>24/7 access</a:t>
            </a:r>
            <a:r>
              <a:rPr lang="en-GB" sz="2600" b="0" i="0" dirty="0">
                <a:solidFill>
                  <a:srgbClr val="000000"/>
                </a:solidFill>
                <a:effectLst/>
                <a:latin typeface="Times New Roman" panose="02020603050405020304" pitchFamily="18" charset="0"/>
              </a:rPr>
              <a:t>. Enables customers to shop or conduct other transactions 24 hours a day, all year</a:t>
            </a:r>
            <a:br>
              <a:rPr lang="en-GB" sz="2600" b="0" i="0" dirty="0">
                <a:solidFill>
                  <a:srgbClr val="000000"/>
                </a:solidFill>
                <a:effectLst/>
                <a:latin typeface="Times New Roman" panose="02020603050405020304" pitchFamily="18" charset="0"/>
              </a:rPr>
            </a:br>
            <a:r>
              <a:rPr lang="en-GB" sz="2600" b="0" i="0" dirty="0">
                <a:solidFill>
                  <a:srgbClr val="000000"/>
                </a:solidFill>
                <a:effectLst/>
                <a:latin typeface="Times New Roman" panose="02020603050405020304" pitchFamily="18" charset="0"/>
              </a:rPr>
              <a:t>round from almost any location</a:t>
            </a:r>
            <a:r>
              <a:rPr lang="en-GB" sz="2600" dirty="0"/>
              <a:t> </a:t>
            </a:r>
          </a:p>
          <a:p>
            <a:endParaRPr lang="en-GB" sz="2600" dirty="0"/>
          </a:p>
          <a:p>
            <a:r>
              <a:rPr lang="en-GB" sz="2600" b="1" i="1" dirty="0">
                <a:solidFill>
                  <a:srgbClr val="000000"/>
                </a:solidFill>
                <a:effectLst/>
                <a:latin typeface="Times New Roman" panose="02020603050405020304" pitchFamily="18" charset="0"/>
              </a:rPr>
              <a:t>More choices</a:t>
            </a:r>
            <a:r>
              <a:rPr lang="en-GB" sz="2600" b="0" i="0" dirty="0">
                <a:solidFill>
                  <a:srgbClr val="000000"/>
                </a:solidFill>
                <a:effectLst/>
                <a:latin typeface="Times New Roman" panose="02020603050405020304" pitchFamily="18" charset="0"/>
              </a:rPr>
              <a:t>. Customers not only have a whole range of products that they can choose from and</a:t>
            </a:r>
            <a:br>
              <a:rPr lang="en-GB" sz="2600" b="0" i="0" dirty="0">
                <a:solidFill>
                  <a:srgbClr val="000000"/>
                </a:solidFill>
                <a:effectLst/>
                <a:latin typeface="Times New Roman" panose="02020603050405020304" pitchFamily="18" charset="0"/>
              </a:rPr>
            </a:br>
            <a:r>
              <a:rPr lang="en-GB" sz="2600" b="0" i="0" dirty="0">
                <a:solidFill>
                  <a:srgbClr val="000000"/>
                </a:solidFill>
                <a:effectLst/>
                <a:latin typeface="Times New Roman" panose="02020603050405020304" pitchFamily="18" charset="0"/>
              </a:rPr>
              <a:t>customise, but also an international selection of suppliers</a:t>
            </a:r>
            <a:r>
              <a:rPr lang="en-GB" sz="2600" dirty="0"/>
              <a:t> </a:t>
            </a:r>
          </a:p>
          <a:p>
            <a:endParaRPr lang="en-US" sz="2600" dirty="0"/>
          </a:p>
        </p:txBody>
      </p:sp>
    </p:spTree>
    <p:extLst>
      <p:ext uri="{BB962C8B-B14F-4D97-AF65-F5344CB8AC3E}">
        <p14:creationId xmlns:p14="http://schemas.microsoft.com/office/powerpoint/2010/main" val="1684816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548663" cy="854242"/>
          </a:xfrm>
        </p:spPr>
        <p:txBody>
          <a:bodyPr>
            <a:normAutofit fontScale="90000"/>
          </a:bodyPr>
          <a:lstStyle/>
          <a:p>
            <a:r>
              <a:rPr lang="en-GB" sz="4000" b="1" i="0" dirty="0">
                <a:solidFill>
                  <a:srgbClr val="000000"/>
                </a:solidFill>
                <a:effectLst/>
                <a:latin typeface="Times New Roman" panose="02020603050405020304" pitchFamily="18" charset="0"/>
              </a:rPr>
              <a:t>BENEFITS OF E-COMMERCE TO CONSUMERS</a:t>
            </a:r>
            <a:r>
              <a:rPr lang="en-GB" dirty="0"/>
              <a:t> </a:t>
            </a:r>
            <a:br>
              <a:rPr lang="en-GB" dirty="0"/>
            </a:br>
            <a:endParaRPr lang="en-GB"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a:bodyPr>
          <a:lstStyle/>
          <a:p>
            <a:r>
              <a:rPr lang="en-GB" sz="2200" b="1" i="1" dirty="0">
                <a:solidFill>
                  <a:srgbClr val="000000"/>
                </a:solidFill>
                <a:effectLst/>
                <a:latin typeface="Times New Roman" panose="02020603050405020304" pitchFamily="18" charset="0"/>
              </a:rPr>
              <a:t>Price comparisons</a:t>
            </a:r>
            <a:r>
              <a:rPr lang="en-GB" sz="2200" b="0" i="0" dirty="0">
                <a:solidFill>
                  <a:srgbClr val="000000"/>
                </a:solidFill>
                <a:effectLst/>
                <a:latin typeface="Times New Roman" panose="02020603050405020304" pitchFamily="18" charset="0"/>
              </a:rPr>
              <a:t>. Customers can ‘shop‘ around the world and conduct comparisons by visiting different sites, or by visiting a single site where prices are aggregated from a number of providers and compared</a:t>
            </a:r>
            <a:r>
              <a:rPr lang="en-GB" sz="2200" dirty="0"/>
              <a:t> </a:t>
            </a:r>
          </a:p>
          <a:p>
            <a:endParaRPr lang="en-GB" sz="2200" dirty="0"/>
          </a:p>
          <a:p>
            <a:r>
              <a:rPr lang="en-GB" sz="2200" b="1" i="1" dirty="0">
                <a:solidFill>
                  <a:srgbClr val="000000"/>
                </a:solidFill>
                <a:effectLst/>
                <a:latin typeface="Times New Roman" panose="02020603050405020304" pitchFamily="18" charset="0"/>
              </a:rPr>
              <a:t>Improved delivery processes</a:t>
            </a:r>
            <a:r>
              <a:rPr lang="en-GB" sz="2200" b="0" i="0" dirty="0">
                <a:solidFill>
                  <a:srgbClr val="000000"/>
                </a:solidFill>
                <a:effectLst/>
                <a:latin typeface="Times New Roman" panose="02020603050405020304" pitchFamily="18" charset="0"/>
              </a:rPr>
              <a:t>. This can range from the immediate delivery of digitised or electronic good</a:t>
            </a:r>
            <a:r>
              <a:rPr lang="en-GB" sz="2200" dirty="0"/>
              <a:t> </a:t>
            </a:r>
            <a:r>
              <a:rPr lang="en-GB" sz="2200" b="0" i="0" dirty="0">
                <a:solidFill>
                  <a:srgbClr val="000000"/>
                </a:solidFill>
                <a:effectLst/>
                <a:latin typeface="Times New Roman" panose="02020603050405020304" pitchFamily="18" charset="0"/>
              </a:rPr>
              <a:t>to the on-line tracking of the progress of packages being delivered by mail or courier.</a:t>
            </a:r>
            <a:r>
              <a:rPr lang="en-GB" sz="2200" dirty="0"/>
              <a:t> </a:t>
            </a:r>
          </a:p>
          <a:p>
            <a:endParaRPr lang="en-GB" sz="2200" dirty="0"/>
          </a:p>
          <a:p>
            <a:r>
              <a:rPr lang="en-GB" sz="2200" b="1" i="1" dirty="0">
                <a:solidFill>
                  <a:srgbClr val="000000"/>
                </a:solidFill>
                <a:effectLst/>
                <a:latin typeface="Times New Roman" panose="02020603050405020304" pitchFamily="18" charset="0"/>
              </a:rPr>
              <a:t>An environment of competition </a:t>
            </a:r>
            <a:r>
              <a:rPr lang="en-GB" sz="2200" b="0" i="0" dirty="0">
                <a:solidFill>
                  <a:srgbClr val="000000"/>
                </a:solidFill>
                <a:effectLst/>
                <a:latin typeface="Times New Roman" panose="02020603050405020304" pitchFamily="18" charset="0"/>
              </a:rPr>
              <a:t>where substantial discounts can be found or value added, as different retailers vie for customers</a:t>
            </a:r>
            <a:r>
              <a:rPr lang="en-GB" sz="2200" dirty="0"/>
              <a:t> </a:t>
            </a:r>
          </a:p>
        </p:txBody>
      </p:sp>
    </p:spTree>
    <p:extLst>
      <p:ext uri="{BB962C8B-B14F-4D97-AF65-F5344CB8AC3E}">
        <p14:creationId xmlns:p14="http://schemas.microsoft.com/office/powerpoint/2010/main" val="1526224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70CA-BB54-4857-8B8F-712364B6C17A}"/>
              </a:ext>
            </a:extLst>
          </p:cNvPr>
          <p:cNvSpPr>
            <a:spLocks noGrp="1"/>
          </p:cNvSpPr>
          <p:nvPr>
            <p:ph type="title"/>
          </p:nvPr>
        </p:nvSpPr>
        <p:spPr>
          <a:xfrm>
            <a:off x="1484311" y="685801"/>
            <a:ext cx="10018713" cy="1116496"/>
          </a:xfrm>
        </p:spPr>
        <p:txBody>
          <a:bodyPr>
            <a:normAutofit fontScale="90000"/>
          </a:bodyPr>
          <a:lstStyle/>
          <a:p>
            <a:r>
              <a:rPr lang="en-GB" sz="4000" b="1" i="0" dirty="0">
                <a:solidFill>
                  <a:srgbClr val="000000"/>
                </a:solidFill>
                <a:effectLst/>
                <a:latin typeface="Times New Roman" panose="02020603050405020304" pitchFamily="18" charset="0"/>
              </a:rPr>
              <a:t>BENEFITS OF E-COMMERCE TO SOCIETY</a:t>
            </a:r>
            <a:r>
              <a:rPr lang="en-GB" dirty="0"/>
              <a:t> </a:t>
            </a:r>
            <a:br>
              <a:rPr lang="en-GB" dirty="0"/>
            </a:br>
            <a:endParaRPr lang="en-US" dirty="0"/>
          </a:p>
        </p:txBody>
      </p:sp>
      <p:sp>
        <p:nvSpPr>
          <p:cNvPr id="3" name="Content Placeholder 2">
            <a:extLst>
              <a:ext uri="{FF2B5EF4-FFF2-40B4-BE49-F238E27FC236}">
                <a16:creationId xmlns:a16="http://schemas.microsoft.com/office/drawing/2014/main" id="{9B0AE9EE-FA3A-4E55-8AB3-8C4E03C30FCC}"/>
              </a:ext>
            </a:extLst>
          </p:cNvPr>
          <p:cNvSpPr>
            <a:spLocks noGrp="1"/>
          </p:cNvSpPr>
          <p:nvPr>
            <p:ph idx="1"/>
          </p:nvPr>
        </p:nvSpPr>
        <p:spPr>
          <a:xfrm>
            <a:off x="1484310" y="1417983"/>
            <a:ext cx="10018713" cy="4373217"/>
          </a:xfrm>
        </p:spPr>
        <p:txBody>
          <a:bodyPr/>
          <a:lstStyle/>
          <a:p>
            <a:r>
              <a:rPr lang="en-GB" sz="2400" b="0" i="1" dirty="0">
                <a:solidFill>
                  <a:srgbClr val="000000"/>
                </a:solidFill>
                <a:effectLst/>
                <a:latin typeface="Times New Roman" panose="02020603050405020304" pitchFamily="18" charset="0"/>
              </a:rPr>
              <a:t>Enables more flexible working practices. </a:t>
            </a:r>
            <a:r>
              <a:rPr lang="en-GB" sz="2400" b="0" i="0" dirty="0">
                <a:solidFill>
                  <a:srgbClr val="000000"/>
                </a:solidFill>
                <a:effectLst/>
                <a:latin typeface="Times New Roman" panose="02020603050405020304" pitchFamily="18" charset="0"/>
              </a:rPr>
              <a:t>which enhances the quality of life for a whole host of</a:t>
            </a:r>
            <a:r>
              <a:rPr lang="en-GB" dirty="0">
                <a:solidFill>
                  <a:srgbClr val="000000"/>
                </a:solidFill>
                <a:latin typeface="Times New Roman" panose="02020603050405020304" pitchFamily="18" charset="0"/>
              </a:rPr>
              <a:t> </a:t>
            </a:r>
            <a:r>
              <a:rPr lang="en-GB" sz="2400" b="0" i="0" dirty="0">
                <a:solidFill>
                  <a:srgbClr val="000000"/>
                </a:solidFill>
                <a:effectLst/>
                <a:latin typeface="Times New Roman" panose="02020603050405020304" pitchFamily="18" charset="0"/>
              </a:rPr>
              <a:t>people in society, enabling them to work from home</a:t>
            </a:r>
            <a:r>
              <a:rPr lang="en-GB" dirty="0"/>
              <a:t>  </a:t>
            </a:r>
          </a:p>
          <a:p>
            <a:endParaRPr lang="en-GB" dirty="0"/>
          </a:p>
          <a:p>
            <a:endParaRPr lang="en-GB" dirty="0"/>
          </a:p>
          <a:p>
            <a:endParaRPr lang="en-GB" dirty="0"/>
          </a:p>
          <a:p>
            <a:r>
              <a:rPr lang="en-GB" sz="2400" b="0" i="1" dirty="0">
                <a:solidFill>
                  <a:srgbClr val="000000"/>
                </a:solidFill>
                <a:effectLst/>
                <a:latin typeface="Times New Roman" panose="02020603050405020304" pitchFamily="18" charset="0"/>
              </a:rPr>
              <a:t>Facilitates delivery of public services.</a:t>
            </a:r>
            <a:r>
              <a:rPr lang="en-GB" dirty="0"/>
              <a:t> </a:t>
            </a:r>
            <a:r>
              <a:rPr lang="en-GB" sz="2400" b="0" i="0" dirty="0">
                <a:solidFill>
                  <a:srgbClr val="000000"/>
                </a:solidFill>
                <a:effectLst/>
                <a:latin typeface="Times New Roman" panose="02020603050405020304" pitchFamily="18" charset="0"/>
              </a:rPr>
              <a:t>For example, health services available over the Internet</a:t>
            </a:r>
            <a:r>
              <a:rPr lang="en-GB" dirty="0"/>
              <a:t> </a:t>
            </a:r>
          </a:p>
          <a:p>
            <a:endParaRPr lang="en-US" dirty="0"/>
          </a:p>
        </p:txBody>
      </p:sp>
    </p:spTree>
    <p:extLst>
      <p:ext uri="{BB962C8B-B14F-4D97-AF65-F5344CB8AC3E}">
        <p14:creationId xmlns:p14="http://schemas.microsoft.com/office/powerpoint/2010/main" val="2013605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fontScale="90000"/>
          </a:bodyPr>
          <a:lstStyle/>
          <a:p>
            <a:r>
              <a:rPr lang="en-GB" sz="4000" b="1" i="0" dirty="0">
                <a:solidFill>
                  <a:srgbClr val="000000"/>
                </a:solidFill>
                <a:effectLst/>
                <a:latin typeface="Times New Roman" panose="02020603050405020304" pitchFamily="18" charset="0"/>
              </a:rPr>
              <a:t>LIMITATIONS OF ELECTRONIC-COMMERCE</a:t>
            </a:r>
            <a:r>
              <a:rPr lang="en-GB" dirty="0"/>
              <a:t> </a:t>
            </a:r>
            <a:r>
              <a:rPr lang="en-GB" sz="4000" b="1" i="0" dirty="0">
                <a:solidFill>
                  <a:srgbClr val="000000"/>
                </a:solidFill>
                <a:effectLst/>
                <a:latin typeface="Times New Roman" panose="02020603050405020304" pitchFamily="18" charset="0"/>
              </a:rPr>
              <a:t>TO ORGANIZATIONS</a:t>
            </a:r>
            <a:r>
              <a:rPr lang="en-GB" dirty="0"/>
              <a:t> </a:t>
            </a:r>
            <a:br>
              <a:rPr lang="en-GB" dirty="0"/>
            </a:br>
            <a:endParaRPr lang="en-GB"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Autofit/>
          </a:bodyPr>
          <a:lstStyle/>
          <a:p>
            <a:r>
              <a:rPr lang="en-GB" sz="2200" b="0" i="1" dirty="0">
                <a:solidFill>
                  <a:srgbClr val="FF0000"/>
                </a:solidFill>
                <a:effectLst/>
                <a:latin typeface="Times New Roman" panose="02020603050405020304" pitchFamily="18" charset="0"/>
              </a:rPr>
              <a:t>Lack of sufficient system security, reliability, standards and communication protocols</a:t>
            </a:r>
            <a:r>
              <a:rPr lang="en-GB" sz="2200" dirty="0">
                <a:solidFill>
                  <a:srgbClr val="FF0000"/>
                </a:solidFill>
              </a:rPr>
              <a:t> </a:t>
            </a:r>
          </a:p>
          <a:p>
            <a:r>
              <a:rPr lang="en-GB" sz="2200" b="0" i="1" dirty="0">
                <a:solidFill>
                  <a:srgbClr val="FF0000"/>
                </a:solidFill>
                <a:effectLst/>
                <a:latin typeface="Times New Roman" panose="02020603050405020304" pitchFamily="18" charset="0"/>
              </a:rPr>
              <a:t>Rapidly evolving and changing technology</a:t>
            </a:r>
            <a:r>
              <a:rPr lang="en-GB" sz="2200" b="0" i="0" dirty="0">
                <a:solidFill>
                  <a:srgbClr val="000000"/>
                </a:solidFill>
                <a:effectLst/>
                <a:latin typeface="Times New Roman" panose="02020603050405020304" pitchFamily="18" charset="0"/>
              </a:rPr>
              <a:t>, so there is always a feeling of trying to ‘catch up‘ and not be left behind</a:t>
            </a:r>
          </a:p>
          <a:p>
            <a:r>
              <a:rPr lang="en-GB" sz="2200" b="0" i="1" dirty="0">
                <a:solidFill>
                  <a:srgbClr val="FF0000"/>
                </a:solidFill>
                <a:effectLst/>
                <a:latin typeface="Times New Roman" panose="02020603050405020304" pitchFamily="18" charset="0"/>
              </a:rPr>
              <a:t>Under pressure to innovate </a:t>
            </a:r>
            <a:r>
              <a:rPr lang="en-GB" sz="2200" b="0" i="0" dirty="0">
                <a:solidFill>
                  <a:srgbClr val="000000"/>
                </a:solidFill>
                <a:effectLst/>
                <a:latin typeface="Times New Roman" panose="02020603050405020304" pitchFamily="18" charset="0"/>
              </a:rPr>
              <a:t>and develop business models to exploit the new opportunities which sometimes leads to strategies detrimental to the organisation</a:t>
            </a:r>
            <a:r>
              <a:rPr lang="en-GB" sz="2200" dirty="0"/>
              <a:t> </a:t>
            </a:r>
          </a:p>
          <a:p>
            <a:r>
              <a:rPr lang="en-GB" sz="2200" b="0" i="1" dirty="0">
                <a:solidFill>
                  <a:srgbClr val="FF0000"/>
                </a:solidFill>
                <a:effectLst/>
                <a:latin typeface="Times New Roman" panose="02020603050405020304" pitchFamily="18" charset="0"/>
              </a:rPr>
              <a:t>Facing increased competition </a:t>
            </a:r>
            <a:r>
              <a:rPr lang="en-GB" sz="2200" b="0" i="0" dirty="0">
                <a:solidFill>
                  <a:srgbClr val="000000"/>
                </a:solidFill>
                <a:effectLst/>
                <a:latin typeface="Times New Roman" panose="02020603050405020304" pitchFamily="18" charset="0"/>
              </a:rPr>
              <a:t>from both national and international competitors</a:t>
            </a:r>
            <a:r>
              <a:rPr lang="en-GB" sz="2200" dirty="0"/>
              <a:t> </a:t>
            </a:r>
          </a:p>
          <a:p>
            <a:r>
              <a:rPr lang="en-GB" sz="2200" b="0" i="1" dirty="0">
                <a:solidFill>
                  <a:srgbClr val="FF0000"/>
                </a:solidFill>
                <a:effectLst/>
                <a:latin typeface="Times New Roman" panose="02020603050405020304" pitchFamily="18" charset="0"/>
              </a:rPr>
              <a:t>Problems with compatibility of older and ‘newer’ technology</a:t>
            </a:r>
            <a:r>
              <a:rPr lang="en-GB" sz="2200" b="0" i="1" dirty="0">
                <a:solidFill>
                  <a:srgbClr val="000000"/>
                </a:solidFill>
                <a:effectLst/>
                <a:latin typeface="Times New Roman" panose="02020603050405020304" pitchFamily="18" charset="0"/>
              </a:rPr>
              <a:t>.</a:t>
            </a:r>
            <a:r>
              <a:rPr lang="en-GB" sz="2200" dirty="0"/>
              <a:t> </a:t>
            </a:r>
            <a:r>
              <a:rPr lang="en-GB" sz="2200" b="0" i="0" dirty="0">
                <a:solidFill>
                  <a:srgbClr val="000000"/>
                </a:solidFill>
                <a:effectLst/>
                <a:latin typeface="Times New Roman" panose="02020603050405020304" pitchFamily="18" charset="0"/>
              </a:rPr>
              <a:t>There are problems where older</a:t>
            </a:r>
            <a:br>
              <a:rPr lang="en-GB" sz="2200" b="0" i="0" dirty="0">
                <a:solidFill>
                  <a:srgbClr val="000000"/>
                </a:solidFill>
                <a:effectLst/>
                <a:latin typeface="Times New Roman" panose="02020603050405020304" pitchFamily="18" charset="0"/>
              </a:rPr>
            </a:br>
            <a:r>
              <a:rPr lang="en-GB" sz="2200" b="0" i="0" dirty="0">
                <a:solidFill>
                  <a:srgbClr val="000000"/>
                </a:solidFill>
                <a:effectLst/>
                <a:latin typeface="Times New Roman" panose="02020603050405020304" pitchFamily="18" charset="0"/>
              </a:rPr>
              <a:t>business systems cannot communicate with web-based and Internet infrastructures, leading to</a:t>
            </a:r>
            <a:br>
              <a:rPr lang="en-GB" sz="2200" b="0" i="0" dirty="0">
                <a:solidFill>
                  <a:srgbClr val="000000"/>
                </a:solidFill>
                <a:effectLst/>
                <a:latin typeface="Times New Roman" panose="02020603050405020304" pitchFamily="18" charset="0"/>
              </a:rPr>
            </a:br>
            <a:r>
              <a:rPr lang="en-GB" sz="2200" b="0" i="0" dirty="0">
                <a:solidFill>
                  <a:srgbClr val="000000"/>
                </a:solidFill>
                <a:effectLst/>
                <a:latin typeface="Times New Roman" panose="02020603050405020304" pitchFamily="18" charset="0"/>
              </a:rPr>
              <a:t>some organisations running almost two independent systems where data cannot be shared.</a:t>
            </a:r>
            <a:r>
              <a:rPr lang="en-GB" sz="2200" dirty="0"/>
              <a:t> </a:t>
            </a:r>
          </a:p>
        </p:txBody>
      </p:sp>
    </p:spTree>
    <p:extLst>
      <p:ext uri="{BB962C8B-B14F-4D97-AF65-F5344CB8AC3E}">
        <p14:creationId xmlns:p14="http://schemas.microsoft.com/office/powerpoint/2010/main" val="2738203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fontScale="90000"/>
          </a:bodyPr>
          <a:lstStyle/>
          <a:p>
            <a:r>
              <a:rPr lang="en-GB" sz="4000" b="1" i="0" dirty="0">
                <a:solidFill>
                  <a:srgbClr val="000000"/>
                </a:solidFill>
                <a:effectLst/>
                <a:latin typeface="Times New Roman" panose="02020603050405020304" pitchFamily="18" charset="0"/>
              </a:rPr>
              <a:t>LIMITATIONS OF E-COMMERCE TO CONSUMERS</a:t>
            </a:r>
            <a:r>
              <a:rPr lang="en-GB" dirty="0"/>
              <a:t> </a:t>
            </a:r>
            <a:br>
              <a:rPr lang="en-GB" dirty="0"/>
            </a:br>
            <a:endParaRPr lang="en-GB"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707690" cy="4632156"/>
          </a:xfrm>
        </p:spPr>
        <p:txBody>
          <a:bodyPr>
            <a:noAutofit/>
          </a:bodyPr>
          <a:lstStyle/>
          <a:p>
            <a:r>
              <a:rPr lang="en-GB" sz="2200" b="0" i="1" dirty="0">
                <a:solidFill>
                  <a:srgbClr val="FF0000"/>
                </a:solidFill>
                <a:effectLst/>
                <a:latin typeface="Times New Roman" panose="02020603050405020304" pitchFamily="18" charset="0"/>
              </a:rPr>
              <a:t>Computing equipment </a:t>
            </a:r>
            <a:r>
              <a:rPr lang="en-GB" sz="2200" b="0" i="0" dirty="0">
                <a:solidFill>
                  <a:srgbClr val="000000"/>
                </a:solidFill>
                <a:effectLst/>
                <a:latin typeface="Times New Roman" panose="02020603050405020304" pitchFamily="18" charset="0"/>
              </a:rPr>
              <a:t>is needed for individuals to participate in the new ‘digital‘ economy, which means an initial capital cost to customers.</a:t>
            </a:r>
            <a:r>
              <a:rPr lang="en-GB" sz="2200" dirty="0"/>
              <a:t> </a:t>
            </a:r>
          </a:p>
          <a:p>
            <a:r>
              <a:rPr lang="en-GB" sz="2200" b="0" i="1" dirty="0">
                <a:solidFill>
                  <a:srgbClr val="FF0000"/>
                </a:solidFill>
                <a:effectLst/>
                <a:latin typeface="Times New Roman" panose="02020603050405020304" pitchFamily="18" charset="0"/>
              </a:rPr>
              <a:t>A basic technical knowledge </a:t>
            </a:r>
            <a:r>
              <a:rPr lang="en-GB" sz="2200" b="0" i="0" dirty="0">
                <a:solidFill>
                  <a:srgbClr val="000000"/>
                </a:solidFill>
                <a:effectLst/>
                <a:latin typeface="Times New Roman" panose="02020603050405020304" pitchFamily="18" charset="0"/>
              </a:rPr>
              <a:t>is required of both computing equipment and navigation of the Internet and the World Wide Web.</a:t>
            </a:r>
            <a:r>
              <a:rPr lang="en-GB" sz="2200" dirty="0"/>
              <a:t> </a:t>
            </a:r>
          </a:p>
          <a:p>
            <a:r>
              <a:rPr lang="en-GB" sz="2200" b="0" i="1" dirty="0">
                <a:solidFill>
                  <a:srgbClr val="FF0000"/>
                </a:solidFill>
                <a:effectLst/>
                <a:latin typeface="Times New Roman" panose="02020603050405020304" pitchFamily="18" charset="0"/>
              </a:rPr>
              <a:t>Cost of access to the Internet</a:t>
            </a:r>
            <a:r>
              <a:rPr lang="en-GB" sz="2200" b="0" i="0" dirty="0">
                <a:solidFill>
                  <a:srgbClr val="000000"/>
                </a:solidFill>
                <a:effectLst/>
                <a:latin typeface="Times New Roman" panose="02020603050405020304" pitchFamily="18" charset="0"/>
              </a:rPr>
              <a:t>, whether dial-up or broadband tariffs.</a:t>
            </a:r>
            <a:r>
              <a:rPr lang="en-GB" sz="2200" dirty="0"/>
              <a:t> </a:t>
            </a:r>
          </a:p>
          <a:p>
            <a:r>
              <a:rPr lang="en-GB" sz="2200" b="0" i="1" dirty="0">
                <a:solidFill>
                  <a:srgbClr val="FF0000"/>
                </a:solidFill>
                <a:effectLst/>
                <a:latin typeface="Times New Roman" panose="02020603050405020304" pitchFamily="18" charset="0"/>
              </a:rPr>
              <a:t>Cost of computing equipment</a:t>
            </a:r>
            <a:r>
              <a:rPr lang="en-GB" sz="2200" b="0" i="0" dirty="0">
                <a:solidFill>
                  <a:srgbClr val="000000"/>
                </a:solidFill>
                <a:effectLst/>
                <a:latin typeface="Times New Roman" panose="02020603050405020304" pitchFamily="18" charset="0"/>
              </a:rPr>
              <a:t>. Not just the initial cost of buying equipment but making sure that</a:t>
            </a:r>
            <a:br>
              <a:rPr lang="en-GB" sz="2200" b="0" i="0" dirty="0">
                <a:solidFill>
                  <a:srgbClr val="000000"/>
                </a:solidFill>
                <a:effectLst/>
                <a:latin typeface="Times New Roman" panose="02020603050405020304" pitchFamily="18" charset="0"/>
              </a:rPr>
            </a:br>
            <a:r>
              <a:rPr lang="en-GB" sz="2200" b="0" i="0" dirty="0">
                <a:solidFill>
                  <a:srgbClr val="000000"/>
                </a:solidFill>
                <a:effectLst/>
                <a:latin typeface="Times New Roman" panose="02020603050405020304" pitchFamily="18" charset="0"/>
              </a:rPr>
              <a:t>the technology is updated regularly </a:t>
            </a:r>
          </a:p>
          <a:p>
            <a:r>
              <a:rPr lang="en-GB" sz="2200" b="0" i="1" dirty="0">
                <a:solidFill>
                  <a:srgbClr val="FF0000"/>
                </a:solidFill>
                <a:effectLst/>
                <a:latin typeface="Times New Roman" panose="02020603050405020304" pitchFamily="18" charset="0"/>
              </a:rPr>
              <a:t>Lack of security and privacy of personal data</a:t>
            </a:r>
            <a:r>
              <a:rPr lang="en-GB" sz="2200" b="0" i="0" dirty="0">
                <a:solidFill>
                  <a:srgbClr val="000000"/>
                </a:solidFill>
                <a:effectLst/>
                <a:latin typeface="Times New Roman" panose="02020603050405020304" pitchFamily="18" charset="0"/>
              </a:rPr>
              <a:t>.</a:t>
            </a:r>
            <a:r>
              <a:rPr lang="en-GB" sz="2200" dirty="0"/>
              <a:t> </a:t>
            </a:r>
          </a:p>
          <a:p>
            <a:r>
              <a:rPr lang="en-GB" sz="2200" b="0" i="1" dirty="0">
                <a:solidFill>
                  <a:srgbClr val="FF0000"/>
                </a:solidFill>
                <a:effectLst/>
                <a:latin typeface="Times New Roman" panose="02020603050405020304" pitchFamily="18" charset="0"/>
              </a:rPr>
              <a:t>Physical contact and relationships </a:t>
            </a:r>
            <a:r>
              <a:rPr lang="en-GB" sz="2200" b="0" i="1" dirty="0">
                <a:solidFill>
                  <a:srgbClr val="000000"/>
                </a:solidFill>
                <a:effectLst/>
                <a:latin typeface="Times New Roman" panose="02020603050405020304" pitchFamily="18" charset="0"/>
              </a:rPr>
              <a:t>are replaced by electronic processes</a:t>
            </a:r>
            <a:r>
              <a:rPr lang="en-GB" sz="2200" b="0" i="0" dirty="0">
                <a:solidFill>
                  <a:srgbClr val="000000"/>
                </a:solidFill>
                <a:effectLst/>
                <a:latin typeface="Times New Roman" panose="02020603050405020304" pitchFamily="18" charset="0"/>
              </a:rPr>
              <a:t>. </a:t>
            </a:r>
          </a:p>
          <a:p>
            <a:r>
              <a:rPr lang="en-GB" sz="2200" b="0" i="1" dirty="0">
                <a:solidFill>
                  <a:srgbClr val="FF0000"/>
                </a:solidFill>
                <a:effectLst/>
                <a:latin typeface="Times New Roman" panose="02020603050405020304" pitchFamily="18" charset="0"/>
              </a:rPr>
              <a:t>A lack of trust </a:t>
            </a:r>
            <a:r>
              <a:rPr lang="en-GB" sz="2200" b="0" i="1" dirty="0">
                <a:solidFill>
                  <a:srgbClr val="000000"/>
                </a:solidFill>
                <a:effectLst/>
                <a:latin typeface="Times New Roman" panose="02020603050405020304" pitchFamily="18" charset="0"/>
              </a:rPr>
              <a:t>because they are interacting with faceless computers</a:t>
            </a:r>
            <a:r>
              <a:rPr lang="en-GB" sz="2200" b="0" i="0" dirty="0">
                <a:solidFill>
                  <a:srgbClr val="000000"/>
                </a:solidFill>
                <a:effectLst/>
                <a:latin typeface="Times New Roman" panose="02020603050405020304" pitchFamily="18" charset="0"/>
              </a:rPr>
              <a:t>.</a:t>
            </a:r>
            <a:r>
              <a:rPr lang="en-GB" sz="2200" dirty="0"/>
              <a:t> </a:t>
            </a:r>
          </a:p>
        </p:txBody>
      </p:sp>
    </p:spTree>
    <p:extLst>
      <p:ext uri="{BB962C8B-B14F-4D97-AF65-F5344CB8AC3E}">
        <p14:creationId xmlns:p14="http://schemas.microsoft.com/office/powerpoint/2010/main" val="1556389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fontScale="90000"/>
          </a:bodyPr>
          <a:lstStyle/>
          <a:p>
            <a:r>
              <a:rPr lang="en-GB" sz="4000" b="1" i="0" dirty="0">
                <a:solidFill>
                  <a:srgbClr val="000000"/>
                </a:solidFill>
                <a:effectLst/>
                <a:latin typeface="Times New Roman" panose="02020603050405020304" pitchFamily="18" charset="0"/>
              </a:rPr>
              <a:t>Limitations of e-commerce to society</a:t>
            </a:r>
            <a:r>
              <a:rPr lang="en-GB" dirty="0"/>
              <a:t> </a:t>
            </a:r>
            <a:br>
              <a:rPr lang="en-GB" dirty="0"/>
            </a:br>
            <a:endParaRPr lang="en-GB"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Autofit/>
          </a:bodyPr>
          <a:lstStyle/>
          <a:p>
            <a:r>
              <a:rPr lang="en-GB" sz="2200" b="0" i="1" dirty="0">
                <a:solidFill>
                  <a:srgbClr val="FF0000"/>
                </a:solidFill>
                <a:effectLst/>
                <a:latin typeface="Times New Roman" panose="02020603050405020304" pitchFamily="18" charset="0"/>
              </a:rPr>
              <a:t>Breakdown in human interaction</a:t>
            </a:r>
            <a:r>
              <a:rPr lang="en-GB" sz="2200" b="0" i="0" dirty="0">
                <a:solidFill>
                  <a:srgbClr val="FF0000"/>
                </a:solidFill>
                <a:effectLst/>
                <a:latin typeface="Times New Roman" panose="02020603050405020304" pitchFamily="18" charset="0"/>
              </a:rPr>
              <a:t>.</a:t>
            </a:r>
            <a:r>
              <a:rPr lang="en-GB" sz="2200" dirty="0">
                <a:solidFill>
                  <a:srgbClr val="FF0000"/>
                </a:solidFill>
              </a:rPr>
              <a:t> </a:t>
            </a:r>
          </a:p>
          <a:p>
            <a:r>
              <a:rPr lang="en-GB" sz="2200" b="0" i="1" dirty="0">
                <a:solidFill>
                  <a:srgbClr val="FF0000"/>
                </a:solidFill>
                <a:effectLst/>
                <a:latin typeface="Times New Roman" panose="02020603050405020304" pitchFamily="18" charset="0"/>
              </a:rPr>
              <a:t>Social division</a:t>
            </a:r>
            <a:r>
              <a:rPr lang="en-GB" sz="2200" b="0" i="0" dirty="0">
                <a:solidFill>
                  <a:srgbClr val="000000"/>
                </a:solidFill>
                <a:effectLst/>
                <a:latin typeface="Times New Roman" panose="02020603050405020304" pitchFamily="18" charset="0"/>
              </a:rPr>
              <a:t>. There is a potential danger that there will be an increase in the social divide</a:t>
            </a:r>
            <a:br>
              <a:rPr lang="en-GB" sz="2200" b="0" i="0" dirty="0">
                <a:solidFill>
                  <a:srgbClr val="000000"/>
                </a:solidFill>
                <a:effectLst/>
                <a:latin typeface="Times New Roman" panose="02020603050405020304" pitchFamily="18" charset="0"/>
              </a:rPr>
            </a:br>
            <a:r>
              <a:rPr lang="en-GB" sz="2200" b="0" i="0" dirty="0">
                <a:solidFill>
                  <a:srgbClr val="000000"/>
                </a:solidFill>
                <a:effectLst/>
                <a:latin typeface="Times New Roman" panose="02020603050405020304" pitchFamily="18" charset="0"/>
              </a:rPr>
              <a:t>between technical haves and have-nots</a:t>
            </a:r>
            <a:r>
              <a:rPr lang="en-GB" sz="2200" dirty="0"/>
              <a:t> </a:t>
            </a:r>
          </a:p>
          <a:p>
            <a:r>
              <a:rPr lang="en-GB" sz="2200" b="0" i="1" dirty="0">
                <a:solidFill>
                  <a:srgbClr val="FF0000"/>
                </a:solidFill>
                <a:effectLst/>
                <a:latin typeface="Times New Roman" panose="02020603050405020304" pitchFamily="18" charset="0"/>
              </a:rPr>
              <a:t>Reliance on telecommunications infrastructure, power and IT skills</a:t>
            </a:r>
            <a:r>
              <a:rPr lang="en-GB" sz="2200" b="0" i="0" dirty="0">
                <a:solidFill>
                  <a:srgbClr val="000000"/>
                </a:solidFill>
                <a:effectLst/>
                <a:latin typeface="Times New Roman" panose="02020603050405020304" pitchFamily="18" charset="0"/>
              </a:rPr>
              <a:t>, which in developing countries nullifies the benefits when power, advanced telecommunications infrastructures and IT skills are unavailable or scarce or underdeveloped</a:t>
            </a:r>
            <a:r>
              <a:rPr lang="en-GB" sz="2200" dirty="0"/>
              <a:t> </a:t>
            </a:r>
          </a:p>
          <a:p>
            <a:r>
              <a:rPr lang="en-GB" sz="2200" b="0" i="1" dirty="0">
                <a:solidFill>
                  <a:srgbClr val="FF0000"/>
                </a:solidFill>
                <a:effectLst/>
                <a:latin typeface="Times New Roman" panose="02020603050405020304" pitchFamily="18" charset="0"/>
              </a:rPr>
              <a:t>Wasted resources</a:t>
            </a:r>
            <a:r>
              <a:rPr lang="en-GB" sz="2200" b="0" i="1" dirty="0">
                <a:solidFill>
                  <a:srgbClr val="000000"/>
                </a:solidFill>
                <a:effectLst/>
                <a:latin typeface="Times New Roman" panose="02020603050405020304" pitchFamily="18" charset="0"/>
              </a:rPr>
              <a:t>. </a:t>
            </a:r>
            <a:r>
              <a:rPr lang="en-GB" sz="2200" b="0" i="0" dirty="0">
                <a:solidFill>
                  <a:srgbClr val="000000"/>
                </a:solidFill>
                <a:effectLst/>
                <a:latin typeface="Times New Roman" panose="02020603050405020304" pitchFamily="18" charset="0"/>
              </a:rPr>
              <a:t>As new technology dates quickly how do you dispose of all the old computers, keyboards, monitors, speakers and other hardware or software?</a:t>
            </a:r>
          </a:p>
          <a:p>
            <a:r>
              <a:rPr lang="en-GB" sz="2200" b="0" i="1" dirty="0">
                <a:solidFill>
                  <a:srgbClr val="FF0000"/>
                </a:solidFill>
                <a:effectLst/>
                <a:latin typeface="Times New Roman" panose="02020603050405020304" pitchFamily="18" charset="0"/>
              </a:rPr>
              <a:t>Facilitates Just-In-Time manufacturing</a:t>
            </a:r>
            <a:r>
              <a:rPr lang="en-GB" sz="2200" b="0" i="0" dirty="0">
                <a:solidFill>
                  <a:srgbClr val="000000"/>
                </a:solidFill>
                <a:effectLst/>
                <a:latin typeface="Times New Roman" panose="02020603050405020304" pitchFamily="18" charset="0"/>
              </a:rPr>
              <a:t>. This could potentially cripple an economy in times of crisis as stocks are kept to a minimum and delivery patterns are based on pre-set levels of stock which last for days rather than weeks</a:t>
            </a:r>
            <a:r>
              <a:rPr lang="en-GB" sz="2200" dirty="0"/>
              <a:t> </a:t>
            </a:r>
          </a:p>
        </p:txBody>
      </p:sp>
    </p:spTree>
    <p:extLst>
      <p:ext uri="{BB962C8B-B14F-4D97-AF65-F5344CB8AC3E}">
        <p14:creationId xmlns:p14="http://schemas.microsoft.com/office/powerpoint/2010/main" val="894661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fontScale="90000"/>
          </a:bodyPr>
          <a:lstStyle/>
          <a:p>
            <a:r>
              <a:rPr lang="en-GB" sz="4000" b="1" i="0" dirty="0">
                <a:solidFill>
                  <a:srgbClr val="000000"/>
                </a:solidFill>
                <a:effectLst/>
                <a:latin typeface="Times New Roman" panose="02020603050405020304" pitchFamily="18" charset="0"/>
              </a:rPr>
              <a:t>BUSINESS TO BUSINESS E-COMMERCE (B2B)</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884820"/>
          </a:xfrm>
        </p:spPr>
        <p:txBody>
          <a:bodyPr>
            <a:normAutofit/>
          </a:bodyPr>
          <a:lstStyle/>
          <a:p>
            <a:r>
              <a:rPr lang="en-GB" b="0" i="0" dirty="0">
                <a:solidFill>
                  <a:srgbClr val="000000"/>
                </a:solidFill>
                <a:effectLst/>
                <a:latin typeface="Times New Roman" panose="02020603050405020304" pitchFamily="18" charset="0"/>
              </a:rPr>
              <a:t>In a B2B transaction, the interaction is between businesses.</a:t>
            </a:r>
            <a:r>
              <a:rPr lang="en-GB" dirty="0"/>
              <a:t> </a:t>
            </a:r>
          </a:p>
          <a:p>
            <a:pPr marL="0" indent="0">
              <a:buNone/>
            </a:pPr>
            <a:endParaRPr lang="en-GB" dirty="0"/>
          </a:p>
          <a:p>
            <a:r>
              <a:rPr lang="en-GB" b="0" i="0" dirty="0">
                <a:solidFill>
                  <a:srgbClr val="000000"/>
                </a:solidFill>
                <a:effectLst/>
                <a:latin typeface="Times New Roman" panose="02020603050405020304" pitchFamily="18" charset="0"/>
              </a:rPr>
              <a:t>Business to Business e-commerce provides small and medium enterprises (SMES) with an excellent opportunity to access new markets, improve customer service and reduce costs</a:t>
            </a:r>
            <a:r>
              <a:rPr lang="en-GB" dirty="0"/>
              <a:t> </a:t>
            </a:r>
          </a:p>
          <a:p>
            <a:endParaRPr lang="en-GB" dirty="0"/>
          </a:p>
          <a:p>
            <a:r>
              <a:rPr lang="en-GB" b="0" i="0" dirty="0">
                <a:solidFill>
                  <a:srgbClr val="000000"/>
                </a:solidFill>
                <a:effectLst/>
                <a:latin typeface="Times New Roman" panose="02020603050405020304" pitchFamily="18" charset="0"/>
              </a:rPr>
              <a:t>B2B transactions are however relatively high value in nature and organisations are slow to change their traditional systems for the supply chain management.</a:t>
            </a:r>
            <a:r>
              <a:rPr lang="en-GB" dirty="0"/>
              <a:t> </a:t>
            </a:r>
          </a:p>
        </p:txBody>
      </p:sp>
    </p:spTree>
    <p:extLst>
      <p:ext uri="{BB962C8B-B14F-4D97-AF65-F5344CB8AC3E}">
        <p14:creationId xmlns:p14="http://schemas.microsoft.com/office/powerpoint/2010/main" val="1543041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a:bodyPr>
          <a:lstStyle/>
          <a:p>
            <a:r>
              <a:rPr lang="en-GB" sz="4000" b="1" i="0" dirty="0">
                <a:solidFill>
                  <a:srgbClr val="000000"/>
                </a:solidFill>
                <a:effectLst/>
                <a:latin typeface="Times New Roman" panose="02020603050405020304" pitchFamily="18" charset="0"/>
              </a:rPr>
              <a:t>B2B MODELS</a:t>
            </a:r>
            <a:r>
              <a:rPr lang="en-GB" dirty="0"/>
              <a:t> </a:t>
            </a:r>
            <a:endParaRPr lang="en-GB" b="1" dirty="0"/>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lnSpcReduction="10000"/>
          </a:bodyPr>
          <a:lstStyle/>
          <a:p>
            <a:r>
              <a:rPr lang="en-GB" sz="1800" b="1" i="0" dirty="0">
                <a:solidFill>
                  <a:srgbClr val="000000"/>
                </a:solidFill>
                <a:effectLst/>
                <a:latin typeface="Times New Roman" panose="02020603050405020304" pitchFamily="18" charset="0"/>
              </a:rPr>
              <a:t>There are four different types of B2B models available which are as follows:</a:t>
            </a:r>
            <a:r>
              <a:rPr lang="en-GB" dirty="0"/>
              <a:t> </a:t>
            </a:r>
          </a:p>
          <a:p>
            <a:pPr marL="457200" indent="-457200">
              <a:buSzPct val="80000"/>
              <a:buFont typeface="+mj-lt"/>
              <a:buAutoNum type="arabicPeriod"/>
            </a:pPr>
            <a:r>
              <a:rPr lang="en-GB" sz="1800" b="1" i="0" dirty="0">
                <a:solidFill>
                  <a:srgbClr val="000000"/>
                </a:solidFill>
                <a:effectLst/>
                <a:latin typeface="Times New Roman" panose="02020603050405020304" pitchFamily="18" charset="0"/>
              </a:rPr>
              <a:t>Direct Connection Model</a:t>
            </a:r>
            <a:r>
              <a:rPr lang="en-GB" dirty="0"/>
              <a:t> </a:t>
            </a:r>
          </a:p>
          <a:p>
            <a:pPr>
              <a:buSzPct val="100000"/>
              <a:buFont typeface="Arial" panose="020B0604020202020204" pitchFamily="34" charset="0"/>
              <a:buChar char="•"/>
            </a:pPr>
            <a:r>
              <a:rPr lang="en-GB" sz="1800" b="0" i="0" dirty="0">
                <a:solidFill>
                  <a:srgbClr val="000000"/>
                </a:solidFill>
                <a:effectLst/>
                <a:latin typeface="Times New Roman" panose="02020603050405020304" pitchFamily="18" charset="0"/>
              </a:rPr>
              <a:t>In the direct model your business connects directly to each of your trading partners for sending</a:t>
            </a:r>
            <a:br>
              <a:rPr lang="en-GB" sz="1800" b="0" i="0" dirty="0">
                <a:solidFill>
                  <a:srgbClr val="000000"/>
                </a:solidFill>
                <a:effectLst/>
                <a:latin typeface="Times New Roman" panose="02020603050405020304" pitchFamily="18" charset="0"/>
              </a:rPr>
            </a:br>
            <a:r>
              <a:rPr lang="en-GB" sz="1800" b="0" i="0" dirty="0">
                <a:solidFill>
                  <a:srgbClr val="000000"/>
                </a:solidFill>
                <a:effectLst/>
                <a:latin typeface="Times New Roman" panose="02020603050405020304" pitchFamily="18" charset="0"/>
              </a:rPr>
              <a:t>and receiving electronic documents</a:t>
            </a:r>
            <a:r>
              <a:rPr lang="en-GB" dirty="0"/>
              <a:t> </a:t>
            </a:r>
          </a:p>
          <a:p>
            <a:pPr>
              <a:buSzPct val="100000"/>
              <a:buFont typeface="Arial" panose="020B0604020202020204" pitchFamily="34" charset="0"/>
              <a:buChar char="•"/>
            </a:pPr>
            <a:r>
              <a:rPr lang="en-GB" sz="1800" b="0" i="0" dirty="0">
                <a:solidFill>
                  <a:srgbClr val="00B050"/>
                </a:solidFill>
                <a:effectLst/>
                <a:latin typeface="Times New Roman" panose="02020603050405020304" pitchFamily="18" charset="0"/>
              </a:rPr>
              <a:t>Your IT organization is responsible for all mapping, translation, technical support and tracking documents.</a:t>
            </a:r>
            <a:r>
              <a:rPr lang="en-GB" dirty="0">
                <a:solidFill>
                  <a:srgbClr val="00B050"/>
                </a:solidFill>
              </a:rPr>
              <a:t> </a:t>
            </a:r>
          </a:p>
          <a:p>
            <a:pPr>
              <a:buSzPct val="100000"/>
              <a:buFont typeface="Arial" panose="020B0604020202020204" pitchFamily="34" charset="0"/>
              <a:buChar char="•"/>
            </a:pPr>
            <a:r>
              <a:rPr lang="en-GB" sz="1800" b="0" i="0" dirty="0">
                <a:solidFill>
                  <a:srgbClr val="000000"/>
                </a:solidFill>
                <a:effectLst/>
                <a:latin typeface="Times New Roman" panose="02020603050405020304" pitchFamily="18" charset="0"/>
              </a:rPr>
              <a:t>But, as the size of your community grows, you need more resources to implement and support</a:t>
            </a:r>
            <a:br>
              <a:rPr lang="en-GB" sz="1800" b="0" i="0" dirty="0">
                <a:solidFill>
                  <a:srgbClr val="000000"/>
                </a:solidFill>
                <a:effectLst/>
                <a:latin typeface="Times New Roman" panose="02020603050405020304" pitchFamily="18" charset="0"/>
              </a:rPr>
            </a:br>
            <a:r>
              <a:rPr lang="en-GB" sz="1800" b="0" i="0" dirty="0">
                <a:solidFill>
                  <a:srgbClr val="000000"/>
                </a:solidFill>
                <a:effectLst/>
                <a:latin typeface="Times New Roman" panose="02020603050405020304" pitchFamily="18" charset="0"/>
              </a:rPr>
              <a:t>each new trading partner.</a:t>
            </a:r>
            <a:r>
              <a:rPr lang="en-GB" dirty="0"/>
              <a:t> </a:t>
            </a:r>
          </a:p>
          <a:p>
            <a:pPr>
              <a:buSzPct val="100000"/>
              <a:buFont typeface="Arial" panose="020B0604020202020204" pitchFamily="34" charset="0"/>
              <a:buChar char="•"/>
            </a:pPr>
            <a:r>
              <a:rPr lang="en-GB" sz="1800" b="0" i="0" dirty="0">
                <a:solidFill>
                  <a:srgbClr val="000000"/>
                </a:solidFill>
                <a:effectLst/>
                <a:latin typeface="Times New Roman" panose="02020603050405020304" pitchFamily="18" charset="0"/>
              </a:rPr>
              <a:t>You need to continually monitor communications, manage trading partner calls and resolve issues quickly</a:t>
            </a:r>
            <a:r>
              <a:rPr lang="en-GB" dirty="0"/>
              <a:t> </a:t>
            </a:r>
          </a:p>
          <a:p>
            <a:pPr>
              <a:buSzPct val="100000"/>
              <a:buFont typeface="Arial" panose="020B0604020202020204" pitchFamily="34" charset="0"/>
              <a:buChar char="•"/>
            </a:pPr>
            <a:r>
              <a:rPr lang="en-GB" sz="1800" b="0" i="0" dirty="0">
                <a:solidFill>
                  <a:srgbClr val="000000"/>
                </a:solidFill>
                <a:effectLst/>
                <a:latin typeface="Times New Roman" panose="02020603050405020304" pitchFamily="18" charset="0"/>
              </a:rPr>
              <a:t>Adding to the complexity, trading partners frequently insist on using different protocols, particularly if they are also trading with other enterprises</a:t>
            </a:r>
            <a:r>
              <a:rPr lang="en-GB" dirty="0"/>
              <a:t> </a:t>
            </a:r>
          </a:p>
        </p:txBody>
      </p:sp>
    </p:spTree>
    <p:extLst>
      <p:ext uri="{BB962C8B-B14F-4D97-AF65-F5344CB8AC3E}">
        <p14:creationId xmlns:p14="http://schemas.microsoft.com/office/powerpoint/2010/main" val="1483224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B2B MODELS</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a:bodyPr>
          <a:lstStyle/>
          <a:p>
            <a:r>
              <a:rPr lang="en-GB" sz="1800" b="0" i="0" dirty="0">
                <a:solidFill>
                  <a:srgbClr val="000000"/>
                </a:solidFill>
                <a:effectLst/>
                <a:latin typeface="Times New Roman" panose="02020603050405020304" pitchFamily="18" charset="0"/>
              </a:rPr>
              <a:t>The graphic below illustrates the direct B2B scenario.</a:t>
            </a:r>
            <a:r>
              <a:rPr lang="en-GB" dirty="0"/>
              <a:t> </a:t>
            </a:r>
          </a:p>
          <a:p>
            <a:endParaRPr lang="en-GB" dirty="0"/>
          </a:p>
          <a:p>
            <a:endParaRPr lang="en-GB" dirty="0"/>
          </a:p>
          <a:p>
            <a:endParaRPr lang="en-GB" dirty="0"/>
          </a:p>
          <a:p>
            <a:endParaRPr lang="en-GB" dirty="0"/>
          </a:p>
          <a:p>
            <a:endParaRPr lang="en-GB" dirty="0"/>
          </a:p>
          <a:p>
            <a:endParaRPr lang="en-GB" dirty="0"/>
          </a:p>
          <a:p>
            <a:endParaRPr lang="en-GB" dirty="0"/>
          </a:p>
          <a:p>
            <a:r>
              <a:rPr lang="en-GB" sz="1800" b="0" i="0" dirty="0">
                <a:solidFill>
                  <a:srgbClr val="000000"/>
                </a:solidFill>
                <a:effectLst/>
                <a:latin typeface="Times New Roman" panose="02020603050405020304" pitchFamily="18" charset="0"/>
              </a:rPr>
              <a:t>This model is sometimes called the ―spaghetti model, or the ―spider model‖ because of its complexity</a:t>
            </a:r>
            <a:r>
              <a:rPr lang="en-GB" dirty="0"/>
              <a:t> </a:t>
            </a:r>
          </a:p>
        </p:txBody>
      </p:sp>
      <p:pic>
        <p:nvPicPr>
          <p:cNvPr id="5" name="Picture 4">
            <a:extLst>
              <a:ext uri="{FF2B5EF4-FFF2-40B4-BE49-F238E27FC236}">
                <a16:creationId xmlns:a16="http://schemas.microsoft.com/office/drawing/2014/main" id="{6E22E0AB-53DD-4E7E-B71F-AFEA1ED70335}"/>
              </a:ext>
            </a:extLst>
          </p:cNvPr>
          <p:cNvPicPr>
            <a:picLocks noChangeAspect="1"/>
          </p:cNvPicPr>
          <p:nvPr/>
        </p:nvPicPr>
        <p:blipFill>
          <a:blip r:embed="rId2"/>
          <a:stretch>
            <a:fillRect/>
          </a:stretch>
        </p:blipFill>
        <p:spPr>
          <a:xfrm>
            <a:off x="2763252" y="2310064"/>
            <a:ext cx="6665495" cy="3007893"/>
          </a:xfrm>
          <a:prstGeom prst="rect">
            <a:avLst/>
          </a:prstGeom>
        </p:spPr>
      </p:pic>
    </p:spTree>
    <p:extLst>
      <p:ext uri="{BB962C8B-B14F-4D97-AF65-F5344CB8AC3E}">
        <p14:creationId xmlns:p14="http://schemas.microsoft.com/office/powerpoint/2010/main" val="428187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B2B MODELS</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2"/>
            <a:ext cx="10018713" cy="5317957"/>
          </a:xfrm>
        </p:spPr>
        <p:txBody>
          <a:bodyPr>
            <a:normAutofit fontScale="92500"/>
          </a:bodyPr>
          <a:lstStyle/>
          <a:p>
            <a:pPr marL="457200" indent="-457200">
              <a:buSzPct val="100000"/>
              <a:buFont typeface="+mj-lt"/>
              <a:buAutoNum type="arabicPeriod" startAt="2"/>
            </a:pPr>
            <a:r>
              <a:rPr lang="en-GB" sz="1800" b="1" i="0" dirty="0">
                <a:solidFill>
                  <a:srgbClr val="000000"/>
                </a:solidFill>
                <a:effectLst/>
                <a:latin typeface="Times New Roman" panose="02020603050405020304" pitchFamily="18" charset="0"/>
              </a:rPr>
              <a:t>Network Model</a:t>
            </a:r>
            <a:r>
              <a:rPr lang="en-GB" dirty="0"/>
              <a:t> </a:t>
            </a:r>
          </a:p>
          <a:p>
            <a:pPr>
              <a:buSzPct val="100000"/>
            </a:pPr>
            <a:r>
              <a:rPr lang="en-GB" sz="1800" b="0" i="0" dirty="0">
                <a:solidFill>
                  <a:srgbClr val="000000"/>
                </a:solidFill>
                <a:effectLst/>
                <a:latin typeface="Times New Roman" panose="02020603050405020304" pitchFamily="18" charset="0"/>
              </a:rPr>
              <a:t>To avoid the complexity of the direct model, </a:t>
            </a:r>
            <a:r>
              <a:rPr lang="en-GB" sz="1800" b="1" i="0" dirty="0">
                <a:solidFill>
                  <a:srgbClr val="000000"/>
                </a:solidFill>
                <a:effectLst/>
                <a:latin typeface="Times New Roman" panose="02020603050405020304" pitchFamily="18" charset="0"/>
              </a:rPr>
              <a:t>many companies decide to work exclusively through a B2B Service Provider</a:t>
            </a:r>
            <a:r>
              <a:rPr lang="en-GB" sz="1800" b="0" i="0" dirty="0">
                <a:solidFill>
                  <a:srgbClr val="000000"/>
                </a:solidFill>
                <a:effectLst/>
                <a:latin typeface="Times New Roman" panose="02020603050405020304" pitchFamily="18" charset="0"/>
              </a:rPr>
              <a:t>, which, in the days prior to the internet, was referred to as a Value-Added Network (VAN). </a:t>
            </a:r>
          </a:p>
          <a:p>
            <a:pPr>
              <a:buSzPct val="100000"/>
            </a:pPr>
            <a:endParaRPr lang="en-GB" sz="1800" b="0" i="0" dirty="0">
              <a:solidFill>
                <a:srgbClr val="000000"/>
              </a:solidFill>
              <a:effectLst/>
              <a:latin typeface="Times New Roman" panose="02020603050405020304" pitchFamily="18" charset="0"/>
            </a:endParaRPr>
          </a:p>
          <a:p>
            <a:pPr>
              <a:buSzPct val="100000"/>
            </a:pPr>
            <a:r>
              <a:rPr lang="en-GB" sz="1800" b="0" i="0" dirty="0">
                <a:solidFill>
                  <a:srgbClr val="000000"/>
                </a:solidFill>
                <a:effectLst/>
                <a:latin typeface="Times New Roman" panose="02020603050405020304" pitchFamily="18" charset="0"/>
              </a:rPr>
              <a:t>In this model, you have a single connection to the Service Provider using whatever protocol you prefer – e.g. AS2, SFTP, FTPS, FTP over VPN, </a:t>
            </a:r>
            <a:r>
              <a:rPr lang="en-GB" sz="1800" b="0" i="0" dirty="0" err="1">
                <a:solidFill>
                  <a:srgbClr val="000000"/>
                </a:solidFill>
                <a:effectLst/>
                <a:latin typeface="Times New Roman" panose="02020603050405020304" pitchFamily="18" charset="0"/>
              </a:rPr>
              <a:t>RosettaNet</a:t>
            </a:r>
            <a:r>
              <a:rPr lang="en-GB" dirty="0"/>
              <a:t> </a:t>
            </a:r>
          </a:p>
          <a:p>
            <a:pPr>
              <a:buSzPct val="100000"/>
            </a:pPr>
            <a:endParaRPr lang="en-GB" dirty="0"/>
          </a:p>
          <a:p>
            <a:pPr>
              <a:buSzPct val="100000"/>
            </a:pPr>
            <a:r>
              <a:rPr lang="en-GB" sz="1800" b="0" i="0" dirty="0">
                <a:solidFill>
                  <a:srgbClr val="000000"/>
                </a:solidFill>
                <a:effectLst/>
                <a:latin typeface="Times New Roman" panose="02020603050405020304" pitchFamily="18" charset="0"/>
              </a:rPr>
              <a:t>Likewise, your trading partners connect to the Service Provider, each selecting the connectivity protocol that best meets its company‘s requirements.</a:t>
            </a:r>
            <a:r>
              <a:rPr lang="en-GB" dirty="0"/>
              <a:t> </a:t>
            </a:r>
          </a:p>
          <a:p>
            <a:pPr>
              <a:buSzPct val="100000"/>
            </a:pPr>
            <a:endParaRPr lang="en-GB" dirty="0"/>
          </a:p>
          <a:p>
            <a:pPr>
              <a:buSzPct val="100000"/>
            </a:pPr>
            <a:r>
              <a:rPr lang="en-GB" sz="1800" b="0" i="0" dirty="0">
                <a:solidFill>
                  <a:srgbClr val="000000"/>
                </a:solidFill>
                <a:effectLst/>
                <a:latin typeface="Times New Roman" panose="02020603050405020304" pitchFamily="18" charset="0"/>
              </a:rPr>
              <a:t>The Service Provider facilitates the exchange of electronic documents via its network.</a:t>
            </a:r>
            <a:r>
              <a:rPr lang="en-GB" dirty="0"/>
              <a:t> </a:t>
            </a:r>
          </a:p>
          <a:p>
            <a:pPr>
              <a:buSzPct val="100000"/>
            </a:pPr>
            <a:endParaRPr lang="en-GB" dirty="0"/>
          </a:p>
          <a:p>
            <a:pPr>
              <a:buSzPct val="100000"/>
            </a:pPr>
            <a:r>
              <a:rPr lang="en-GB" sz="1800" b="0" i="0" dirty="0">
                <a:solidFill>
                  <a:srgbClr val="000000"/>
                </a:solidFill>
                <a:effectLst/>
                <a:latin typeface="Times New Roman" panose="02020603050405020304" pitchFamily="18" charset="0"/>
              </a:rPr>
              <a:t>The graphic below illustrates the network model of B2B.</a:t>
            </a:r>
            <a:r>
              <a:rPr lang="en-GB" dirty="0"/>
              <a:t> </a:t>
            </a:r>
          </a:p>
        </p:txBody>
      </p:sp>
    </p:spTree>
    <p:extLst>
      <p:ext uri="{BB962C8B-B14F-4D97-AF65-F5344CB8AC3E}">
        <p14:creationId xmlns:p14="http://schemas.microsoft.com/office/powerpoint/2010/main" val="1299870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B2B MODELS</a:t>
            </a:r>
            <a:r>
              <a:rPr lang="en-GB" dirty="0"/>
              <a:t> </a:t>
            </a:r>
          </a:p>
        </p:txBody>
      </p:sp>
      <p:pic>
        <p:nvPicPr>
          <p:cNvPr id="5" name="Content Placeholder 4">
            <a:extLst>
              <a:ext uri="{FF2B5EF4-FFF2-40B4-BE49-F238E27FC236}">
                <a16:creationId xmlns:a16="http://schemas.microsoft.com/office/drawing/2014/main" id="{F1B96671-B74A-4AA0-9E6C-4B956451F38F}"/>
              </a:ext>
            </a:extLst>
          </p:cNvPr>
          <p:cNvPicPr>
            <a:picLocks noGrp="1" noChangeAspect="1"/>
          </p:cNvPicPr>
          <p:nvPr>
            <p:ph idx="1"/>
          </p:nvPr>
        </p:nvPicPr>
        <p:blipFill>
          <a:blip r:embed="rId2"/>
          <a:stretch>
            <a:fillRect/>
          </a:stretch>
        </p:blipFill>
        <p:spPr>
          <a:xfrm>
            <a:off x="2811379" y="1708484"/>
            <a:ext cx="6569241" cy="3441031"/>
          </a:xfrm>
        </p:spPr>
      </p:pic>
    </p:spTree>
    <p:extLst>
      <p:ext uri="{BB962C8B-B14F-4D97-AF65-F5344CB8AC3E}">
        <p14:creationId xmlns:p14="http://schemas.microsoft.com/office/powerpoint/2010/main" val="3051201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B2B MODELS</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lstStyle/>
          <a:p>
            <a:pPr marL="342900" indent="-342900">
              <a:buSzPct val="100000"/>
              <a:buFont typeface="+mj-lt"/>
              <a:buAutoNum type="arabicPeriod" startAt="3"/>
            </a:pPr>
            <a:r>
              <a:rPr lang="en-GB" sz="4000" b="1" i="0" dirty="0">
                <a:solidFill>
                  <a:srgbClr val="000000"/>
                </a:solidFill>
                <a:effectLst/>
                <a:latin typeface="Times New Roman" panose="02020603050405020304" pitchFamily="18" charset="0"/>
              </a:rPr>
              <a:t>Hybrid Model</a:t>
            </a:r>
            <a:r>
              <a:rPr lang="en-GB" sz="4000" dirty="0"/>
              <a:t> </a:t>
            </a:r>
          </a:p>
          <a:p>
            <a:pPr>
              <a:buSzPct val="100000"/>
            </a:pPr>
            <a:r>
              <a:rPr lang="en-GB" sz="1800" b="0" i="0" dirty="0">
                <a:solidFill>
                  <a:srgbClr val="000000"/>
                </a:solidFill>
                <a:effectLst/>
                <a:latin typeface="Times New Roman" panose="02020603050405020304" pitchFamily="18" charset="0"/>
              </a:rPr>
              <a:t>The hybrid approach to B2B is a combination of the direct and network models</a:t>
            </a:r>
            <a:r>
              <a:rPr lang="en-GB" dirty="0"/>
              <a:t> </a:t>
            </a:r>
          </a:p>
          <a:p>
            <a:pPr>
              <a:buSzPct val="100000"/>
            </a:pPr>
            <a:endParaRPr lang="en-GB" dirty="0"/>
          </a:p>
          <a:p>
            <a:pPr>
              <a:buSzPct val="100000"/>
            </a:pPr>
            <a:r>
              <a:rPr lang="en-GB" sz="1800" dirty="0">
                <a:solidFill>
                  <a:srgbClr val="00B050"/>
                </a:solidFill>
                <a:latin typeface="Times New Roman" panose="02020603050405020304" pitchFamily="18" charset="0"/>
              </a:rPr>
              <a:t>B</a:t>
            </a:r>
            <a:r>
              <a:rPr lang="en-GB" sz="1800" b="0" i="0" dirty="0">
                <a:solidFill>
                  <a:srgbClr val="00B050"/>
                </a:solidFill>
                <a:effectLst/>
                <a:latin typeface="Times New Roman" panose="02020603050405020304" pitchFamily="18" charset="0"/>
              </a:rPr>
              <a:t>usinesses will connect directly via the internet to their trading partners with whom they do the highest volume of transactions, using one or two preferred protocols, </a:t>
            </a:r>
            <a:r>
              <a:rPr lang="en-GB" sz="1800" b="0" i="0" dirty="0">
                <a:solidFill>
                  <a:srgbClr val="FF0000"/>
                </a:solidFill>
                <a:effectLst/>
                <a:latin typeface="Times New Roman" panose="02020603050405020304" pitchFamily="18" charset="0"/>
              </a:rPr>
              <a:t>in order to save on Service Provider transaction fees</a:t>
            </a:r>
            <a:r>
              <a:rPr lang="en-GB" dirty="0">
                <a:solidFill>
                  <a:srgbClr val="FF0000"/>
                </a:solidFill>
              </a:rPr>
              <a:t> ‘</a:t>
            </a:r>
          </a:p>
          <a:p>
            <a:pPr>
              <a:buSzPct val="100000"/>
            </a:pPr>
            <a:endParaRPr lang="en-GB" dirty="0"/>
          </a:p>
          <a:p>
            <a:pPr>
              <a:buSzPct val="100000"/>
            </a:pPr>
            <a:r>
              <a:rPr lang="en-GB" sz="1800" b="0" i="0" dirty="0">
                <a:solidFill>
                  <a:srgbClr val="000000"/>
                </a:solidFill>
                <a:effectLst/>
                <a:latin typeface="Times New Roman" panose="02020603050405020304" pitchFamily="18" charset="0"/>
              </a:rPr>
              <a:t>For large communities, the hybrid model is much more commonly used today</a:t>
            </a:r>
            <a:r>
              <a:rPr lang="en-GB" dirty="0"/>
              <a:t> </a:t>
            </a:r>
          </a:p>
          <a:p>
            <a:pPr>
              <a:buSzPct val="100000"/>
            </a:pPr>
            <a:r>
              <a:rPr lang="en-GB" sz="1800" b="0" i="0" dirty="0">
                <a:solidFill>
                  <a:srgbClr val="000000"/>
                </a:solidFill>
                <a:effectLst/>
                <a:latin typeface="Times New Roman" panose="02020603050405020304" pitchFamily="18" charset="0"/>
              </a:rPr>
              <a:t>The graphic below illustrates the </a:t>
            </a:r>
            <a:r>
              <a:rPr lang="en-GB" sz="1800" b="0" i="1" dirty="0">
                <a:solidFill>
                  <a:srgbClr val="000000"/>
                </a:solidFill>
                <a:effectLst/>
                <a:latin typeface="Times New Roman" panose="02020603050405020304" pitchFamily="18" charset="0"/>
              </a:rPr>
              <a:t>hybrid </a:t>
            </a:r>
            <a:r>
              <a:rPr lang="en-GB" sz="1800" b="0" i="0" dirty="0">
                <a:solidFill>
                  <a:srgbClr val="000000"/>
                </a:solidFill>
                <a:effectLst/>
                <a:latin typeface="Times New Roman" panose="02020603050405020304" pitchFamily="18" charset="0"/>
              </a:rPr>
              <a:t>model of B2B</a:t>
            </a:r>
            <a:r>
              <a:rPr lang="en-GB" dirty="0"/>
              <a:t> </a:t>
            </a:r>
          </a:p>
        </p:txBody>
      </p:sp>
    </p:spTree>
    <p:extLst>
      <p:ext uri="{BB962C8B-B14F-4D97-AF65-F5344CB8AC3E}">
        <p14:creationId xmlns:p14="http://schemas.microsoft.com/office/powerpoint/2010/main" val="12032762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B2B MODELS</a:t>
            </a:r>
            <a:r>
              <a:rPr lang="en-GB" dirty="0"/>
              <a:t> </a:t>
            </a:r>
          </a:p>
        </p:txBody>
      </p:sp>
      <p:pic>
        <p:nvPicPr>
          <p:cNvPr id="5" name="Content Placeholder 4">
            <a:extLst>
              <a:ext uri="{FF2B5EF4-FFF2-40B4-BE49-F238E27FC236}">
                <a16:creationId xmlns:a16="http://schemas.microsoft.com/office/drawing/2014/main" id="{F12D59A3-04B3-4381-BE79-9ECA721196F3}"/>
              </a:ext>
            </a:extLst>
          </p:cNvPr>
          <p:cNvPicPr>
            <a:picLocks noGrp="1" noChangeAspect="1"/>
          </p:cNvPicPr>
          <p:nvPr>
            <p:ph idx="1"/>
          </p:nvPr>
        </p:nvPicPr>
        <p:blipFill>
          <a:blip r:embed="rId2"/>
          <a:stretch>
            <a:fillRect/>
          </a:stretch>
        </p:blipFill>
        <p:spPr>
          <a:xfrm>
            <a:off x="2983832" y="1997243"/>
            <a:ext cx="6112041" cy="3898232"/>
          </a:xfrm>
        </p:spPr>
      </p:pic>
    </p:spTree>
    <p:extLst>
      <p:ext uri="{BB962C8B-B14F-4D97-AF65-F5344CB8AC3E}">
        <p14:creationId xmlns:p14="http://schemas.microsoft.com/office/powerpoint/2010/main" val="37694068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lstStyle/>
          <a:p>
            <a:r>
              <a:rPr lang="en-GB" sz="4000" b="1" i="0" dirty="0">
                <a:solidFill>
                  <a:srgbClr val="000000"/>
                </a:solidFill>
                <a:effectLst/>
                <a:latin typeface="Times New Roman" panose="02020603050405020304" pitchFamily="18" charset="0"/>
              </a:rPr>
              <a:t>B2B MODELS</a:t>
            </a:r>
            <a:r>
              <a:rPr lang="en-GB" dirty="0"/>
              <a:t> </a:t>
            </a:r>
          </a:p>
        </p:txBody>
      </p:sp>
      <p:sp>
        <p:nvSpPr>
          <p:cNvPr id="3" name="Content Placeholder 2">
            <a:extLst>
              <a:ext uri="{FF2B5EF4-FFF2-40B4-BE49-F238E27FC236}">
                <a16:creationId xmlns:a16="http://schemas.microsoft.com/office/drawing/2014/main" id="{71CBEF5B-0685-4DA0-AA7E-E8E85CB7E90A}"/>
              </a:ext>
            </a:extLst>
          </p:cNvPr>
          <p:cNvSpPr>
            <a:spLocks noGrp="1"/>
          </p:cNvSpPr>
          <p:nvPr>
            <p:ph idx="1"/>
          </p:nvPr>
        </p:nvSpPr>
        <p:spPr>
          <a:xfrm>
            <a:off x="1484310" y="1540043"/>
            <a:ext cx="10018713" cy="4632156"/>
          </a:xfrm>
        </p:spPr>
        <p:txBody>
          <a:bodyPr>
            <a:normAutofit/>
          </a:bodyPr>
          <a:lstStyle/>
          <a:p>
            <a:pPr marL="457200" indent="-457200">
              <a:buSzPct val="100000"/>
              <a:buFont typeface="+mj-lt"/>
              <a:buAutoNum type="arabicPeriod" startAt="4"/>
            </a:pPr>
            <a:r>
              <a:rPr lang="en-GB" sz="3200" b="1" i="0" dirty="0">
                <a:solidFill>
                  <a:srgbClr val="000000"/>
                </a:solidFill>
                <a:effectLst/>
                <a:latin typeface="Times New Roman" panose="02020603050405020304" pitchFamily="18" charset="0"/>
              </a:rPr>
              <a:t>Managed Model</a:t>
            </a:r>
            <a:r>
              <a:rPr lang="en-GB" sz="3200" dirty="0"/>
              <a:t> </a:t>
            </a:r>
          </a:p>
          <a:p>
            <a:pPr>
              <a:buSzPct val="100000"/>
            </a:pPr>
            <a:r>
              <a:rPr lang="en-GB" sz="1800" b="1" i="0" dirty="0">
                <a:solidFill>
                  <a:srgbClr val="000000"/>
                </a:solidFill>
                <a:effectLst/>
                <a:latin typeface="Times New Roman" panose="02020603050405020304" pitchFamily="18" charset="0"/>
              </a:rPr>
              <a:t>In the managed model, the business outsources the entire B2B process to an external Service</a:t>
            </a:r>
            <a:br>
              <a:rPr lang="en-GB" sz="1800" b="1" i="0" dirty="0">
                <a:solidFill>
                  <a:srgbClr val="000000"/>
                </a:solidFill>
                <a:effectLst/>
                <a:latin typeface="Times New Roman" panose="02020603050405020304" pitchFamily="18" charset="0"/>
              </a:rPr>
            </a:br>
            <a:r>
              <a:rPr lang="en-GB" sz="1800" b="1" i="0" dirty="0">
                <a:solidFill>
                  <a:srgbClr val="000000"/>
                </a:solidFill>
                <a:effectLst/>
                <a:latin typeface="Times New Roman" panose="02020603050405020304" pitchFamily="18" charset="0"/>
              </a:rPr>
              <a:t>Provider. </a:t>
            </a:r>
          </a:p>
          <a:p>
            <a:pPr>
              <a:buSzPct val="100000"/>
            </a:pPr>
            <a:r>
              <a:rPr lang="en-GB" sz="1800" b="0" i="0" dirty="0">
                <a:solidFill>
                  <a:srgbClr val="000000"/>
                </a:solidFill>
                <a:effectLst/>
                <a:latin typeface="Times New Roman" panose="02020603050405020304" pitchFamily="18" charset="0"/>
              </a:rPr>
              <a:t>This greatly reduces resource requirements, expenses and complexity</a:t>
            </a:r>
            <a:r>
              <a:rPr lang="en-GB" dirty="0"/>
              <a:t> </a:t>
            </a:r>
          </a:p>
          <a:p>
            <a:pPr>
              <a:buSzPct val="100000"/>
            </a:pPr>
            <a:r>
              <a:rPr lang="en-GB" sz="1800" b="1" i="0" dirty="0">
                <a:solidFill>
                  <a:srgbClr val="92D050"/>
                </a:solidFill>
                <a:effectLst/>
                <a:latin typeface="Times New Roman" panose="02020603050405020304" pitchFamily="18" charset="0"/>
              </a:rPr>
              <a:t>The Service Provider receives your business documents directly from your ERP system (SAP, Oracle, etc.) and then assumes responsibility for all the mapping, translation, technical support, data </a:t>
            </a:r>
            <a:r>
              <a:rPr lang="en-GB" sz="1800" b="1" i="0" dirty="0" err="1">
                <a:solidFill>
                  <a:srgbClr val="92D050"/>
                </a:solidFill>
                <a:effectLst/>
                <a:latin typeface="Times New Roman" panose="02020603050405020304" pitchFamily="18" charset="0"/>
              </a:rPr>
              <a:t>center</a:t>
            </a:r>
            <a:r>
              <a:rPr lang="en-GB" sz="1800" b="1" i="0" dirty="0">
                <a:solidFill>
                  <a:srgbClr val="92D050"/>
                </a:solidFill>
                <a:effectLst/>
                <a:latin typeface="Times New Roman" panose="02020603050405020304" pitchFamily="18" charset="0"/>
              </a:rPr>
              <a:t> operations and document tracking</a:t>
            </a:r>
            <a:r>
              <a:rPr lang="en-GB" b="1" dirty="0">
                <a:solidFill>
                  <a:srgbClr val="92D050"/>
                </a:solidFill>
              </a:rPr>
              <a:t> </a:t>
            </a:r>
          </a:p>
          <a:p>
            <a:pPr>
              <a:buSzPct val="100000"/>
            </a:pPr>
            <a:r>
              <a:rPr lang="en-GB" sz="1800" b="0" i="0" dirty="0">
                <a:solidFill>
                  <a:srgbClr val="000000"/>
                </a:solidFill>
                <a:effectLst/>
                <a:latin typeface="Times New Roman" panose="02020603050405020304" pitchFamily="18" charset="0"/>
              </a:rPr>
              <a:t>Once documents are ready for delivery to your trading partners, the service provider delivers them either directly to the partners or via the network, depending on the individual trading partner requirements.</a:t>
            </a:r>
            <a:r>
              <a:rPr lang="en-GB" dirty="0"/>
              <a:t> </a:t>
            </a:r>
          </a:p>
          <a:p>
            <a:pPr>
              <a:buSzPct val="100000"/>
            </a:pPr>
            <a:r>
              <a:rPr lang="en-GB" sz="1800" b="0" i="0" dirty="0">
                <a:solidFill>
                  <a:srgbClr val="000000"/>
                </a:solidFill>
                <a:effectLst/>
                <a:latin typeface="Times New Roman" panose="02020603050405020304" pitchFamily="18" charset="0"/>
              </a:rPr>
              <a:t>The graphic below illustrates the </a:t>
            </a:r>
            <a:r>
              <a:rPr lang="en-GB" sz="1800" b="0" i="1" dirty="0">
                <a:solidFill>
                  <a:srgbClr val="000000"/>
                </a:solidFill>
                <a:effectLst/>
                <a:latin typeface="Times New Roman" panose="02020603050405020304" pitchFamily="18" charset="0"/>
              </a:rPr>
              <a:t>managed </a:t>
            </a:r>
            <a:r>
              <a:rPr lang="en-GB" sz="1800" b="0" i="0" dirty="0">
                <a:solidFill>
                  <a:srgbClr val="000000"/>
                </a:solidFill>
                <a:effectLst/>
                <a:latin typeface="Times New Roman" panose="02020603050405020304" pitchFamily="18" charset="0"/>
              </a:rPr>
              <a:t>model.</a:t>
            </a:r>
            <a:r>
              <a:rPr lang="en-GB" dirty="0"/>
              <a:t> </a:t>
            </a:r>
          </a:p>
        </p:txBody>
      </p:sp>
    </p:spTree>
    <p:extLst>
      <p:ext uri="{BB962C8B-B14F-4D97-AF65-F5344CB8AC3E}">
        <p14:creationId xmlns:p14="http://schemas.microsoft.com/office/powerpoint/2010/main" val="858257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FCDA-6696-46A3-92A3-EEC2016F360E}"/>
              </a:ext>
            </a:extLst>
          </p:cNvPr>
          <p:cNvSpPr>
            <a:spLocks noGrp="1"/>
          </p:cNvSpPr>
          <p:nvPr>
            <p:ph type="title"/>
          </p:nvPr>
        </p:nvSpPr>
        <p:spPr>
          <a:xfrm>
            <a:off x="1484311" y="685801"/>
            <a:ext cx="10018713" cy="854242"/>
          </a:xfrm>
        </p:spPr>
        <p:txBody>
          <a:bodyPr>
            <a:normAutofit fontScale="90000"/>
          </a:bodyPr>
          <a:lstStyle/>
          <a:p>
            <a:r>
              <a:rPr lang="en-GB" sz="4000" b="1" i="0" dirty="0">
                <a:solidFill>
                  <a:srgbClr val="000000"/>
                </a:solidFill>
                <a:effectLst/>
                <a:latin typeface="Times New Roman" panose="02020603050405020304" pitchFamily="18" charset="0"/>
              </a:rPr>
              <a:t>B2B MODELS (Managed Model</a:t>
            </a:r>
            <a:r>
              <a:rPr lang="en-GB" sz="4000" dirty="0"/>
              <a:t> )</a:t>
            </a:r>
            <a:br>
              <a:rPr lang="en-GB" sz="4000" dirty="0"/>
            </a:br>
            <a:r>
              <a:rPr lang="en-GB" dirty="0"/>
              <a:t> </a:t>
            </a:r>
          </a:p>
        </p:txBody>
      </p:sp>
      <p:pic>
        <p:nvPicPr>
          <p:cNvPr id="5" name="Picture 4">
            <a:extLst>
              <a:ext uri="{FF2B5EF4-FFF2-40B4-BE49-F238E27FC236}">
                <a16:creationId xmlns:a16="http://schemas.microsoft.com/office/drawing/2014/main" id="{C316BF23-D941-4F42-ACAC-5C3A0BE02AD5}"/>
              </a:ext>
            </a:extLst>
          </p:cNvPr>
          <p:cNvPicPr>
            <a:picLocks noChangeAspect="1"/>
          </p:cNvPicPr>
          <p:nvPr/>
        </p:nvPicPr>
        <p:blipFill>
          <a:blip r:embed="rId2"/>
          <a:stretch>
            <a:fillRect/>
          </a:stretch>
        </p:blipFill>
        <p:spPr>
          <a:xfrm>
            <a:off x="2983832" y="1900989"/>
            <a:ext cx="6497052" cy="3558044"/>
          </a:xfrm>
          <a:prstGeom prst="rect">
            <a:avLst/>
          </a:prstGeom>
        </p:spPr>
      </p:pic>
    </p:spTree>
    <p:extLst>
      <p:ext uri="{BB962C8B-B14F-4D97-AF65-F5344CB8AC3E}">
        <p14:creationId xmlns:p14="http://schemas.microsoft.com/office/powerpoint/2010/main" val="889759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A2E90-AF29-4C9A-A667-376A7E7F94AD}"/>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9A009913-8D8D-47DB-812D-AB115E05F7CD}"/>
              </a:ext>
            </a:extLst>
          </p:cNvPr>
          <p:cNvSpPr>
            <a:spLocks noGrp="1"/>
          </p:cNvSpPr>
          <p:nvPr>
            <p:ph idx="1"/>
          </p:nvPr>
        </p:nvSpPr>
        <p:spPr>
          <a:xfrm>
            <a:off x="861391" y="2666999"/>
            <a:ext cx="11502887" cy="3124201"/>
          </a:xfrm>
        </p:spPr>
        <p:txBody>
          <a:bodyPr/>
          <a:lstStyle/>
          <a:p>
            <a:r>
              <a:rPr lang="en-US" sz="4400" b="1" dirty="0"/>
              <a:t>What role does weather play in e-commerce operations?</a:t>
            </a:r>
          </a:p>
          <a:p>
            <a:endParaRPr lang="en-US" dirty="0"/>
          </a:p>
          <a:p>
            <a:r>
              <a:rPr lang="en-US" dirty="0"/>
              <a:t>https://www.linkedin.com/pulse/what-role-does-weather-play-e-commerce-operations-ulrich-thonemann/</a:t>
            </a:r>
          </a:p>
        </p:txBody>
      </p:sp>
    </p:spTree>
    <p:extLst>
      <p:ext uri="{BB962C8B-B14F-4D97-AF65-F5344CB8AC3E}">
        <p14:creationId xmlns:p14="http://schemas.microsoft.com/office/powerpoint/2010/main" val="4784904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1375</TotalTime>
  <Words>2553</Words>
  <Application>Microsoft Office PowerPoint</Application>
  <PresentationFormat>Widescreen</PresentationFormat>
  <Paragraphs>199</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Corbel</vt:lpstr>
      <vt:lpstr>Times New Roman</vt:lpstr>
      <vt:lpstr>Wingdings</vt:lpstr>
      <vt:lpstr>Parallax</vt:lpstr>
      <vt:lpstr>E-COMMERCE</vt:lpstr>
      <vt:lpstr>E-Commerce</vt:lpstr>
      <vt:lpstr>E-Commerce</vt:lpstr>
      <vt:lpstr>ELECTRONIC-BUSINESS </vt:lpstr>
      <vt:lpstr>PowerPoint Presentation</vt:lpstr>
      <vt:lpstr>PowerPoint Presentation</vt:lpstr>
      <vt:lpstr>The Process Of E-Commerce</vt:lpstr>
      <vt:lpstr>PowerPoint Presentation</vt:lpstr>
      <vt:lpstr>PowerPoint Presentation</vt:lpstr>
      <vt:lpstr>PowerPoint Presentation</vt:lpstr>
      <vt:lpstr> DISTINCTION BETWEEN E-COMMERCE AND E-BUSINESS</vt:lpstr>
      <vt:lpstr>THE KEY DRIVERS </vt:lpstr>
      <vt:lpstr>LEVELS OF ELECTRONIC-COMMERCE </vt:lpstr>
      <vt:lpstr>LEVELS OF ELECTRONIC-COMMERCE </vt:lpstr>
      <vt:lpstr>LEVELS OF ELECTRONIC-COMMERCE </vt:lpstr>
      <vt:lpstr>Difference between B2B and B2C E-Commerce</vt:lpstr>
      <vt:lpstr>LEVELS OF ELECTRONIC-COMMERCE </vt:lpstr>
      <vt:lpstr>LEVELS OF ELECTRONIC-COMMERCE </vt:lpstr>
      <vt:lpstr>LEVELS OF ELECTRONIC-COMMERCE </vt:lpstr>
      <vt:lpstr>THE BENEFITS OF ELECTRONIC-COMMERCE  TO ORGANIZATIONS  </vt:lpstr>
      <vt:lpstr>THE BENEFITS OF ELECTRONIC-COMMERCE  TO ORGANIZATIONS</vt:lpstr>
      <vt:lpstr>BENEFITS OF E-COMMERCE TO CONSUMERS  </vt:lpstr>
      <vt:lpstr>BENEFITS OF E-COMMERCE TO CONSUMERS  </vt:lpstr>
      <vt:lpstr>BENEFITS OF E-COMMERCE TO SOCIETY  </vt:lpstr>
      <vt:lpstr>LIMITATIONS OF ELECTRONIC-COMMERCE TO ORGANIZATIONS  </vt:lpstr>
      <vt:lpstr>LIMITATIONS OF E-COMMERCE TO CONSUMERS  </vt:lpstr>
      <vt:lpstr>Limitations of e-commerce to society  </vt:lpstr>
      <vt:lpstr>BUSINESS TO BUSINESS E-COMMERCE (B2B) </vt:lpstr>
      <vt:lpstr>B2B MODELS </vt:lpstr>
      <vt:lpstr>B2B MODELS </vt:lpstr>
      <vt:lpstr>B2B MODELS </vt:lpstr>
      <vt:lpstr>B2B MODELS </vt:lpstr>
      <vt:lpstr>B2B MODELS </vt:lpstr>
      <vt:lpstr>B2B MODELS </vt:lpstr>
      <vt:lpstr>B2B MODELS </vt:lpstr>
      <vt:lpstr>B2B MODELS (Managed Model )  </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dc:title>
  <dc:creator>Jay Nyce</dc:creator>
  <cp:lastModifiedBy>ROSY</cp:lastModifiedBy>
  <cp:revision>84</cp:revision>
  <dcterms:created xsi:type="dcterms:W3CDTF">2021-06-06T11:32:46Z</dcterms:created>
  <dcterms:modified xsi:type="dcterms:W3CDTF">2021-06-09T13:46:33Z</dcterms:modified>
</cp:coreProperties>
</file>