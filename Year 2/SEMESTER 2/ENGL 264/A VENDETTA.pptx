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58" r:id="rId5"/>
    <p:sldId id="259" r:id="rId6"/>
    <p:sldId id="260" r:id="rId7"/>
    <p:sldId id="270" r:id="rId8"/>
    <p:sldId id="262" r:id="rId9"/>
    <p:sldId id="265" r:id="rId10"/>
    <p:sldId id="266" r:id="rId11"/>
    <p:sldId id="264"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1" autoAdjust="0"/>
    <p:restoredTop sz="94660"/>
  </p:normalViewPr>
  <p:slideViewPr>
    <p:cSldViewPr snapToGrid="0">
      <p:cViewPr varScale="1">
        <p:scale>
          <a:sx n="103" d="100"/>
          <a:sy n="103" d="100"/>
        </p:scale>
        <p:origin x="150"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13F3ADF6-1AFD-44C2-A76A-F5C71B6C65DB}" type="datetimeFigureOut">
              <a:rPr lang="en-GB" smtClean="0"/>
              <a:t>13/05/2021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F0FF96F-0A61-49B9-B5AB-BA5A18B71298}" type="slidenum">
              <a:rPr lang="en-GB" smtClean="0"/>
              <a:t>‹#›</a:t>
            </a:fld>
            <a:endParaRPr lang="en-GB"/>
          </a:p>
        </p:txBody>
      </p:sp>
    </p:spTree>
    <p:extLst>
      <p:ext uri="{BB962C8B-B14F-4D97-AF65-F5344CB8AC3E}">
        <p14:creationId xmlns:p14="http://schemas.microsoft.com/office/powerpoint/2010/main" val="3913059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3F3ADF6-1AFD-44C2-A76A-F5C71B6C65DB}" type="datetimeFigureOut">
              <a:rPr lang="en-GB" smtClean="0"/>
              <a:t>13/05/2021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F0FF96F-0A61-49B9-B5AB-BA5A18B71298}" type="slidenum">
              <a:rPr lang="en-GB" smtClean="0"/>
              <a:t>‹#›</a:t>
            </a:fld>
            <a:endParaRPr lang="en-GB"/>
          </a:p>
        </p:txBody>
      </p:sp>
    </p:spTree>
    <p:extLst>
      <p:ext uri="{BB962C8B-B14F-4D97-AF65-F5344CB8AC3E}">
        <p14:creationId xmlns:p14="http://schemas.microsoft.com/office/powerpoint/2010/main" val="4194940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F3ADF6-1AFD-44C2-A76A-F5C71B6C65DB}" type="datetimeFigureOut">
              <a:rPr lang="en-GB" smtClean="0"/>
              <a:t>13/05/2021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F0FF96F-0A61-49B9-B5AB-BA5A18B71298}" type="slidenum">
              <a:rPr lang="en-GB" smtClean="0"/>
              <a:t>‹#›</a:t>
            </a:fld>
            <a:endParaRPr lang="en-GB"/>
          </a:p>
        </p:txBody>
      </p:sp>
    </p:spTree>
    <p:extLst>
      <p:ext uri="{BB962C8B-B14F-4D97-AF65-F5344CB8AC3E}">
        <p14:creationId xmlns:p14="http://schemas.microsoft.com/office/powerpoint/2010/main" val="1585080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13F3ADF6-1AFD-44C2-A76A-F5C71B6C65DB}" type="datetimeFigureOut">
              <a:rPr lang="en-GB" smtClean="0"/>
              <a:t>13/05/2021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F0FF96F-0A61-49B9-B5AB-BA5A18B71298}" type="slidenum">
              <a:rPr lang="en-GB" smtClean="0"/>
              <a:t>‹#›</a:t>
            </a:fld>
            <a:endParaRPr lang="en-GB"/>
          </a:p>
        </p:txBody>
      </p:sp>
    </p:spTree>
    <p:extLst>
      <p:ext uri="{BB962C8B-B14F-4D97-AF65-F5344CB8AC3E}">
        <p14:creationId xmlns:p14="http://schemas.microsoft.com/office/powerpoint/2010/main" val="2931305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13F3ADF6-1AFD-44C2-A76A-F5C71B6C65DB}" type="datetimeFigureOut">
              <a:rPr lang="en-GB" smtClean="0"/>
              <a:t>13/05/2021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F0FF96F-0A61-49B9-B5AB-BA5A18B71298}" type="slidenum">
              <a:rPr lang="en-GB" smtClean="0"/>
              <a:t>‹#›</a:t>
            </a:fld>
            <a:endParaRPr lang="en-GB"/>
          </a:p>
        </p:txBody>
      </p:sp>
    </p:spTree>
    <p:extLst>
      <p:ext uri="{BB962C8B-B14F-4D97-AF65-F5344CB8AC3E}">
        <p14:creationId xmlns:p14="http://schemas.microsoft.com/office/powerpoint/2010/main" val="4045055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13F3ADF6-1AFD-44C2-A76A-F5C71B6C65DB}" type="datetimeFigureOut">
              <a:rPr lang="en-GB" smtClean="0"/>
              <a:t>13/05/2021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F0FF96F-0A61-49B9-B5AB-BA5A18B71298}" type="slidenum">
              <a:rPr lang="en-GB" smtClean="0"/>
              <a:t>‹#›</a:t>
            </a:fld>
            <a:endParaRPr lang="en-GB"/>
          </a:p>
        </p:txBody>
      </p:sp>
    </p:spTree>
    <p:extLst>
      <p:ext uri="{BB962C8B-B14F-4D97-AF65-F5344CB8AC3E}">
        <p14:creationId xmlns:p14="http://schemas.microsoft.com/office/powerpoint/2010/main" val="1324969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F3ADF6-1AFD-44C2-A76A-F5C71B6C65DB}" type="datetimeFigureOut">
              <a:rPr lang="en-GB" smtClean="0"/>
              <a:t>13/05/2021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F0FF96F-0A61-49B9-B5AB-BA5A18B71298}" type="slidenum">
              <a:rPr lang="en-GB" smtClean="0"/>
              <a:t>‹#›</a:t>
            </a:fld>
            <a:endParaRPr lang="en-GB"/>
          </a:p>
        </p:txBody>
      </p:sp>
    </p:spTree>
    <p:extLst>
      <p:ext uri="{BB962C8B-B14F-4D97-AF65-F5344CB8AC3E}">
        <p14:creationId xmlns:p14="http://schemas.microsoft.com/office/powerpoint/2010/main" val="3179713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3F3ADF6-1AFD-44C2-A76A-F5C71B6C65DB}" type="datetimeFigureOut">
              <a:rPr lang="en-GB" smtClean="0"/>
              <a:t>13/05/2021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F0FF96F-0A61-49B9-B5AB-BA5A18B71298}" type="slidenum">
              <a:rPr lang="en-GB" smtClean="0"/>
              <a:t>‹#›</a:t>
            </a:fld>
            <a:endParaRPr lang="en-GB"/>
          </a:p>
        </p:txBody>
      </p:sp>
    </p:spTree>
    <p:extLst>
      <p:ext uri="{BB962C8B-B14F-4D97-AF65-F5344CB8AC3E}">
        <p14:creationId xmlns:p14="http://schemas.microsoft.com/office/powerpoint/2010/main" val="3926663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3F3ADF6-1AFD-44C2-A76A-F5C71B6C65DB}" type="datetimeFigureOut">
              <a:rPr lang="en-GB" smtClean="0"/>
              <a:t>13/05/2021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F0FF96F-0A61-49B9-B5AB-BA5A18B71298}" type="slidenum">
              <a:rPr lang="en-GB" smtClean="0"/>
              <a:t>‹#›</a:t>
            </a:fld>
            <a:endParaRPr lang="en-GB"/>
          </a:p>
        </p:txBody>
      </p:sp>
    </p:spTree>
    <p:extLst>
      <p:ext uri="{BB962C8B-B14F-4D97-AF65-F5344CB8AC3E}">
        <p14:creationId xmlns:p14="http://schemas.microsoft.com/office/powerpoint/2010/main" val="2259327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3F3ADF6-1AFD-44C2-A76A-F5C71B6C65DB}" type="datetimeFigureOut">
              <a:rPr lang="en-GB" smtClean="0"/>
              <a:t>13/05/2021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F0FF96F-0A61-49B9-B5AB-BA5A18B71298}" type="slidenum">
              <a:rPr lang="en-GB" smtClean="0"/>
              <a:t>‹#›</a:t>
            </a:fld>
            <a:endParaRPr lang="en-GB"/>
          </a:p>
        </p:txBody>
      </p:sp>
    </p:spTree>
    <p:extLst>
      <p:ext uri="{BB962C8B-B14F-4D97-AF65-F5344CB8AC3E}">
        <p14:creationId xmlns:p14="http://schemas.microsoft.com/office/powerpoint/2010/main" val="1669193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3F3ADF6-1AFD-44C2-A76A-F5C71B6C65DB}" type="datetimeFigureOut">
              <a:rPr lang="en-GB" smtClean="0"/>
              <a:t>13/05/2021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F0FF96F-0A61-49B9-B5AB-BA5A18B71298}" type="slidenum">
              <a:rPr lang="en-GB" smtClean="0"/>
              <a:t>‹#›</a:t>
            </a:fld>
            <a:endParaRPr lang="en-GB"/>
          </a:p>
        </p:txBody>
      </p:sp>
    </p:spTree>
    <p:extLst>
      <p:ext uri="{BB962C8B-B14F-4D97-AF65-F5344CB8AC3E}">
        <p14:creationId xmlns:p14="http://schemas.microsoft.com/office/powerpoint/2010/main" val="838550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F3ADF6-1AFD-44C2-A76A-F5C71B6C65DB}" type="datetimeFigureOut">
              <a:rPr lang="en-GB" smtClean="0"/>
              <a:t>13/05/2021</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0FF96F-0A61-49B9-B5AB-BA5A18B71298}" type="slidenum">
              <a:rPr lang="en-GB" smtClean="0"/>
              <a:t>‹#›</a:t>
            </a:fld>
            <a:endParaRPr lang="en-GB"/>
          </a:p>
        </p:txBody>
      </p:sp>
    </p:spTree>
    <p:extLst>
      <p:ext uri="{BB962C8B-B14F-4D97-AF65-F5344CB8AC3E}">
        <p14:creationId xmlns:p14="http://schemas.microsoft.com/office/powerpoint/2010/main" val="1614672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dirty="0">
                <a:latin typeface="Arial" panose="020B0604020202020204" pitchFamily="34" charset="0"/>
                <a:cs typeface="Arial" panose="020B0604020202020204" pitchFamily="34" charset="0"/>
              </a:rPr>
              <a:t>A VENDETTA</a:t>
            </a:r>
          </a:p>
        </p:txBody>
      </p:sp>
      <p:sp>
        <p:nvSpPr>
          <p:cNvPr id="3" name="Subtitle 2"/>
          <p:cNvSpPr>
            <a:spLocks noGrp="1"/>
          </p:cNvSpPr>
          <p:nvPr>
            <p:ph type="subTitle" idx="1"/>
          </p:nvPr>
        </p:nvSpPr>
        <p:spPr/>
        <p:txBody>
          <a:bodyPr/>
          <a:lstStyle/>
          <a:p>
            <a:r>
              <a:rPr lang="en-US" b="1" dirty="0">
                <a:latin typeface="Arial" panose="020B0604020202020204" pitchFamily="34" charset="0"/>
                <a:cs typeface="Arial" panose="020B0604020202020204" pitchFamily="34" charset="0"/>
              </a:rPr>
              <a:t>GUY DE MAUPASSANT</a:t>
            </a:r>
            <a:endParaRPr lang="en-GB"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7635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SYNOPSIS</a:t>
            </a:r>
            <a:endParaRPr lang="en-GB"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GB" dirty="0">
                <a:latin typeface="Arial" panose="020B0604020202020204" pitchFamily="34" charset="0"/>
                <a:cs typeface="Arial" panose="020B0604020202020204" pitchFamily="34" charset="0"/>
              </a:rPr>
              <a:t>The story is about an old woman who lives in a village with her son and their dog.</a:t>
            </a:r>
          </a:p>
          <a:p>
            <a:r>
              <a:rPr lang="en-GB" dirty="0">
                <a:latin typeface="Arial" panose="020B0604020202020204" pitchFamily="34" charset="0"/>
                <a:cs typeface="Arial" panose="020B0604020202020204" pitchFamily="34" charset="0"/>
              </a:rPr>
              <a:t>One day her son was killed by a young man who fled to another village.</a:t>
            </a:r>
          </a:p>
          <a:p>
            <a:r>
              <a:rPr lang="en-GB" dirty="0">
                <a:latin typeface="Arial" panose="020B0604020202020204" pitchFamily="34" charset="0"/>
                <a:cs typeface="Arial" panose="020B0604020202020204" pitchFamily="34" charset="0"/>
              </a:rPr>
              <a:t>The old woman swore to take revenge on the person who killed her son.</a:t>
            </a:r>
          </a:p>
          <a:p>
            <a:pPr algn="just"/>
            <a:r>
              <a:rPr lang="en-GB" dirty="0">
                <a:latin typeface="Arial" panose="020B0604020202020204" pitchFamily="34" charset="0"/>
                <a:cs typeface="Arial" panose="020B0604020202020204" pitchFamily="34" charset="0"/>
              </a:rPr>
              <a:t>She trained her dog with a dummy and later she went to the village where the murderer ran off to and the dog attacked and killed him.</a:t>
            </a:r>
          </a:p>
        </p:txBody>
      </p:sp>
    </p:spTree>
    <p:extLst>
      <p:ext uri="{BB962C8B-B14F-4D97-AF65-F5344CB8AC3E}">
        <p14:creationId xmlns:p14="http://schemas.microsoft.com/office/powerpoint/2010/main" val="1649158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THEMES</a:t>
            </a:r>
          </a:p>
        </p:txBody>
      </p:sp>
      <p:sp>
        <p:nvSpPr>
          <p:cNvPr id="3" name="Content Placeholder 2"/>
          <p:cNvSpPr>
            <a:spLocks noGrp="1"/>
          </p:cNvSpPr>
          <p:nvPr>
            <p:ph idx="1"/>
          </p:nvPr>
        </p:nvSpPr>
        <p:spPr/>
        <p:txBody>
          <a:bodyPr>
            <a:normAutofit fontScale="92500" lnSpcReduction="10000"/>
          </a:bodyPr>
          <a:lstStyle/>
          <a:p>
            <a:pPr algn="just"/>
            <a:r>
              <a:rPr lang="en-GB" dirty="0">
                <a:latin typeface="Arial" panose="020B0604020202020204" pitchFamily="34" charset="0"/>
                <a:cs typeface="Arial" panose="020B0604020202020204" pitchFamily="34" charset="0"/>
              </a:rPr>
              <a:t>A major theme of “A Vendetta” is revenge. The story covers two aspects of revenge. The first is that the quest for revenge can become all consuming: </a:t>
            </a:r>
            <a:r>
              <a:rPr lang="en-GB" i="1" dirty="0">
                <a:latin typeface="Arial" panose="020B0604020202020204" pitchFamily="34" charset="0"/>
                <a:cs typeface="Arial" panose="020B0604020202020204" pitchFamily="34" charset="0"/>
              </a:rPr>
              <a:t>All alone, all day long, seated at her window, she was looking over there and thinking of revenge. She no longer slept at night; she had neither rest nor peace of mind; she thought persistently</a:t>
            </a:r>
            <a:r>
              <a:rPr lang="en-GB" dirty="0">
                <a:latin typeface="Arial" panose="020B0604020202020204" pitchFamily="34" charset="0"/>
                <a:cs typeface="Arial" panose="020B0604020202020204" pitchFamily="34" charset="0"/>
              </a:rPr>
              <a:t>. </a:t>
            </a:r>
          </a:p>
          <a:p>
            <a:pPr algn="just"/>
            <a:r>
              <a:rPr lang="en-GB" dirty="0">
                <a:latin typeface="Arial" panose="020B0604020202020204" pitchFamily="34" charset="0"/>
                <a:cs typeface="Arial" panose="020B0604020202020204" pitchFamily="34" charset="0"/>
              </a:rPr>
              <a:t>The second is that once achieved, revenge can be sweet: </a:t>
            </a:r>
            <a:r>
              <a:rPr lang="en-GB" i="1" dirty="0">
                <a:latin typeface="Arial" panose="020B0604020202020204" pitchFamily="34" charset="0"/>
                <a:cs typeface="Arial" panose="020B0604020202020204" pitchFamily="34" charset="0"/>
              </a:rPr>
              <a:t>At nightfall the old woman was at home again. She slept well that night.</a:t>
            </a:r>
          </a:p>
          <a:p>
            <a:pPr algn="just"/>
            <a:r>
              <a:rPr lang="en-GB" dirty="0">
                <a:latin typeface="Arial" panose="020B0604020202020204" pitchFamily="34" charset="0"/>
                <a:cs typeface="Arial" panose="020B0604020202020204" pitchFamily="34" charset="0"/>
              </a:rPr>
              <a:t>Another major theme is the savagery, the injustice and the cruelty of vendetta. Note the involvement of the innocent dog.</a:t>
            </a:r>
          </a:p>
          <a:p>
            <a:pPr algn="just"/>
            <a:r>
              <a:rPr lang="en-GB" dirty="0">
                <a:latin typeface="Arial" panose="020B0604020202020204" pitchFamily="34" charset="0"/>
                <a:cs typeface="Arial" panose="020B0604020202020204" pitchFamily="34" charset="0"/>
              </a:rPr>
              <a:t>There is also the theme of your sin finding you out. You may run but you cannot hide from your sin. </a:t>
            </a:r>
          </a:p>
          <a:p>
            <a:endParaRPr lang="en-GB" dirty="0"/>
          </a:p>
        </p:txBody>
      </p:sp>
    </p:spTree>
    <p:extLst>
      <p:ext uri="{BB962C8B-B14F-4D97-AF65-F5344CB8AC3E}">
        <p14:creationId xmlns:p14="http://schemas.microsoft.com/office/powerpoint/2010/main" val="22243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THE TITLE</a:t>
            </a:r>
          </a:p>
        </p:txBody>
      </p:sp>
      <p:sp>
        <p:nvSpPr>
          <p:cNvPr id="3" name="Content Placeholder 2"/>
          <p:cNvSpPr>
            <a:spLocks noGrp="1"/>
          </p:cNvSpPr>
          <p:nvPr>
            <p:ph idx="1"/>
          </p:nvPr>
        </p:nvSpPr>
        <p:spPr/>
        <p:txBody>
          <a:bodyPr>
            <a:normAutofit fontScale="92500"/>
          </a:bodyPr>
          <a:lstStyle/>
          <a:p>
            <a:pPr algn="just"/>
            <a:r>
              <a:rPr lang="en-GB" dirty="0">
                <a:latin typeface="Arial" panose="020B0604020202020204" pitchFamily="34" charset="0"/>
                <a:cs typeface="Arial" panose="020B0604020202020204" pitchFamily="34" charset="0"/>
              </a:rPr>
              <a:t>A vendetta is a blood feud or a bitter quarrel in which the family of a murdered person seeks vengeance on the murderer and his family.</a:t>
            </a:r>
          </a:p>
          <a:p>
            <a:pPr algn="just"/>
            <a:r>
              <a:rPr lang="en-GB" dirty="0">
                <a:latin typeface="Arial" panose="020B0604020202020204" pitchFamily="34" charset="0"/>
                <a:cs typeface="Arial" panose="020B0604020202020204" pitchFamily="34" charset="0"/>
              </a:rPr>
              <a:t>The “code of vendetta”, which called for the killing of anyone who wronged a family’s honour, was an important aspect of Corsican culture throughout the 18th and 19th centuries.</a:t>
            </a:r>
          </a:p>
          <a:p>
            <a:pPr algn="just"/>
            <a:r>
              <a:rPr lang="en-GB" dirty="0">
                <a:latin typeface="Arial" panose="020B0604020202020204" pitchFamily="34" charset="0"/>
                <a:cs typeface="Arial" panose="020B0604020202020204" pitchFamily="34" charset="0"/>
              </a:rPr>
              <a:t>This was an honour code, meaning that a family would suffer great shame or dishonour if it did not take vengeance against another family that had wronged it. Under the code, vengeance must always be sought irrespective of whether the action that led to the wrong was accidental or justified. Because of this, killing and retribution between families could continue for generations. </a:t>
            </a:r>
          </a:p>
        </p:txBody>
      </p:sp>
    </p:spTree>
    <p:extLst>
      <p:ext uri="{BB962C8B-B14F-4D97-AF65-F5344CB8AC3E}">
        <p14:creationId xmlns:p14="http://schemas.microsoft.com/office/powerpoint/2010/main" val="3663314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SETTING</a:t>
            </a:r>
          </a:p>
        </p:txBody>
      </p:sp>
      <p:sp>
        <p:nvSpPr>
          <p:cNvPr id="3" name="Content Placeholder 2"/>
          <p:cNvSpPr>
            <a:spLocks noGrp="1"/>
          </p:cNvSpPr>
          <p:nvPr>
            <p:ph idx="1"/>
          </p:nvPr>
        </p:nvSpPr>
        <p:spPr/>
        <p:txBody>
          <a:bodyPr/>
          <a:lstStyle/>
          <a:p>
            <a:pPr algn="just"/>
            <a:r>
              <a:rPr lang="en-GB" dirty="0">
                <a:latin typeface="Arial" panose="020B0604020202020204" pitchFamily="34" charset="0"/>
                <a:cs typeface="Arial" panose="020B0604020202020204" pitchFamily="34" charset="0"/>
              </a:rPr>
              <a:t>The story is set in two locations. The action begins in the village of Bonifacio on the southern tip of the French island of Corsica and ends in the village of </a:t>
            </a:r>
            <a:r>
              <a:rPr lang="en-GB" dirty="0" err="1">
                <a:latin typeface="Arial" panose="020B0604020202020204" pitchFamily="34" charset="0"/>
                <a:cs typeface="Arial" panose="020B0604020202020204" pitchFamily="34" charset="0"/>
              </a:rPr>
              <a:t>Longosardo</a:t>
            </a:r>
            <a:r>
              <a:rPr lang="en-GB" dirty="0">
                <a:latin typeface="Arial" panose="020B0604020202020204" pitchFamily="34" charset="0"/>
                <a:cs typeface="Arial" panose="020B0604020202020204" pitchFamily="34" charset="0"/>
              </a:rPr>
              <a:t>, situated across a narrow channel on the Italian island of Sardinia. </a:t>
            </a:r>
          </a:p>
          <a:p>
            <a:pPr algn="just"/>
            <a:r>
              <a:rPr lang="en-GB" dirty="0">
                <a:latin typeface="Arial" panose="020B0604020202020204" pitchFamily="34" charset="0"/>
                <a:cs typeface="Arial" panose="020B0604020202020204" pitchFamily="34" charset="0"/>
              </a:rPr>
              <a:t>We are told that many Corsican criminals go to live in </a:t>
            </a:r>
            <a:r>
              <a:rPr lang="en-GB" dirty="0" err="1">
                <a:latin typeface="Arial" panose="020B0604020202020204" pitchFamily="34" charset="0"/>
                <a:cs typeface="Arial" panose="020B0604020202020204" pitchFamily="34" charset="0"/>
              </a:rPr>
              <a:t>Longosardo</a:t>
            </a:r>
            <a:r>
              <a:rPr lang="en-GB" dirty="0">
                <a:latin typeface="Arial" panose="020B0604020202020204" pitchFamily="34" charset="0"/>
                <a:cs typeface="Arial" panose="020B0604020202020204" pitchFamily="34" charset="0"/>
              </a:rPr>
              <a:t> when pursued by French police. </a:t>
            </a:r>
          </a:p>
          <a:p>
            <a:pPr algn="just"/>
            <a:r>
              <a:rPr lang="en-GB" dirty="0">
                <a:latin typeface="Arial" panose="020B0604020202020204" pitchFamily="34" charset="0"/>
                <a:cs typeface="Arial" panose="020B0604020202020204" pitchFamily="34" charset="0"/>
              </a:rPr>
              <a:t>The police could not help the widow because her son’s killer had fled to another country. The only way she could seek justice was to swear a vendetta and take action herself.</a:t>
            </a:r>
          </a:p>
          <a:p>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1282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SETTING</a:t>
            </a:r>
          </a:p>
        </p:txBody>
      </p:sp>
      <p:sp>
        <p:nvSpPr>
          <p:cNvPr id="3" name="Content Placeholder 2"/>
          <p:cNvSpPr>
            <a:spLocks noGrp="1"/>
          </p:cNvSpPr>
          <p:nvPr>
            <p:ph idx="1"/>
          </p:nvPr>
        </p:nvSpPr>
        <p:spPr/>
        <p:txBody>
          <a:bodyPr>
            <a:normAutofit fontScale="92500"/>
          </a:bodyPr>
          <a:lstStyle/>
          <a:p>
            <a:pPr algn="just"/>
            <a:r>
              <a:rPr lang="en-GB" dirty="0">
                <a:latin typeface="Arial" panose="020B0604020202020204" pitchFamily="34" charset="0"/>
                <a:cs typeface="Arial" panose="020B0604020202020204" pitchFamily="34" charset="0"/>
              </a:rPr>
              <a:t>Maupassant uses his description of the physical and weather setting to establish the tone and mood at the beginning of the story. He writes that the houses </a:t>
            </a:r>
            <a:r>
              <a:rPr lang="en-GB" i="1" dirty="0">
                <a:latin typeface="Arial" panose="020B0604020202020204" pitchFamily="34" charset="0"/>
                <a:cs typeface="Arial" panose="020B0604020202020204" pitchFamily="34" charset="0"/>
              </a:rPr>
              <a:t>look like the nests of wild birds, clinging to this peak, overlooking this terrible passage. The wind, which blows uninterruptedly, has swept bare the forbidding coast; it drives through the narrow straits and lays waste both sides. </a:t>
            </a:r>
            <a:endParaRPr lang="en-GB" dirty="0">
              <a:latin typeface="Arial" panose="020B0604020202020204" pitchFamily="34" charset="0"/>
              <a:cs typeface="Arial" panose="020B0604020202020204" pitchFamily="34" charset="0"/>
            </a:endParaRPr>
          </a:p>
          <a:p>
            <a:pPr algn="just"/>
            <a:r>
              <a:rPr lang="en-GB" dirty="0">
                <a:latin typeface="Arial" panose="020B0604020202020204" pitchFamily="34" charset="0"/>
                <a:cs typeface="Arial" panose="020B0604020202020204" pitchFamily="34" charset="0"/>
              </a:rPr>
              <a:t>This suggests that the village is a harsh, dangerous place to live. The tone is threatening, the mood dark and depressing and this reflects the events of the story.</a:t>
            </a:r>
          </a:p>
          <a:p>
            <a:pPr algn="just"/>
            <a:r>
              <a:rPr lang="en-GB" dirty="0">
                <a:latin typeface="Arial" panose="020B0604020202020204" pitchFamily="34" charset="0"/>
                <a:cs typeface="Arial" panose="020B0604020202020204" pitchFamily="34" charset="0"/>
              </a:rPr>
              <a:t>The widow’s house and her windows faced </a:t>
            </a:r>
            <a:r>
              <a:rPr lang="en-GB" dirty="0" err="1">
                <a:latin typeface="Arial" panose="020B0604020202020204" pitchFamily="34" charset="0"/>
                <a:cs typeface="Arial" panose="020B0604020202020204" pitchFamily="34" charset="0"/>
              </a:rPr>
              <a:t>Longosardo</a:t>
            </a:r>
            <a:r>
              <a:rPr lang="en-GB" dirty="0">
                <a:latin typeface="Arial" panose="020B0604020202020204" pitchFamily="34" charset="0"/>
                <a:cs typeface="Arial" panose="020B0604020202020204" pitchFamily="34" charset="0"/>
              </a:rPr>
              <a:t> and she could look everyday at where her enemy was.</a:t>
            </a:r>
          </a:p>
          <a:p>
            <a:endParaRPr lang="en-GB" dirty="0"/>
          </a:p>
        </p:txBody>
      </p:sp>
    </p:spTree>
    <p:extLst>
      <p:ext uri="{BB962C8B-B14F-4D97-AF65-F5344CB8AC3E}">
        <p14:creationId xmlns:p14="http://schemas.microsoft.com/office/powerpoint/2010/main" val="316505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54B6A-FD32-40BA-8C3A-94402EE18867}"/>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CONFLICT</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FACD366-9303-4F45-9A62-70280B40CADC}"/>
              </a:ext>
            </a:extLst>
          </p:cNvPr>
          <p:cNvSpPr>
            <a:spLocks noGrp="1"/>
          </p:cNvSpPr>
          <p:nvPr>
            <p:ph idx="1"/>
          </p:nvPr>
        </p:nvSpPr>
        <p:spPr/>
        <p:txBody>
          <a:bodyPr/>
          <a:lstStyle/>
          <a:p>
            <a:pPr algn="just"/>
            <a:r>
              <a:rPr lang="en-US" dirty="0">
                <a:latin typeface="Arial" panose="020B0604020202020204" pitchFamily="34" charset="0"/>
                <a:cs typeface="Arial" panose="020B0604020202020204" pitchFamily="34" charset="0"/>
              </a:rPr>
              <a:t>Plot in a story deals with the series of events in the story: what happened next and why.</a:t>
            </a:r>
          </a:p>
          <a:p>
            <a:pPr algn="just"/>
            <a:r>
              <a:rPr lang="en-US" dirty="0">
                <a:latin typeface="Arial" panose="020B0604020202020204" pitchFamily="34" charset="0"/>
                <a:cs typeface="Arial" panose="020B0604020202020204" pitchFamily="34" charset="0"/>
              </a:rPr>
              <a:t>The main conflict which has not been clearly stated in the story is the feud between the </a:t>
            </a:r>
            <a:r>
              <a:rPr lang="en-US" dirty="0" err="1">
                <a:latin typeface="Arial" panose="020B0604020202020204" pitchFamily="34" charset="0"/>
                <a:cs typeface="Arial" panose="020B0604020202020204" pitchFamily="34" charset="0"/>
              </a:rPr>
              <a:t>Saverinis</a:t>
            </a:r>
            <a:r>
              <a:rPr lang="en-US" dirty="0">
                <a:latin typeface="Arial" panose="020B0604020202020204" pitchFamily="34" charset="0"/>
                <a:cs typeface="Arial" panose="020B0604020202020204" pitchFamily="34" charset="0"/>
              </a:rPr>
              <a:t> and the </a:t>
            </a:r>
            <a:r>
              <a:rPr lang="en-US" dirty="0" err="1">
                <a:latin typeface="Arial" panose="020B0604020202020204" pitchFamily="34" charset="0"/>
                <a:cs typeface="Arial" panose="020B0604020202020204" pitchFamily="34" charset="0"/>
              </a:rPr>
              <a:t>Ravolatis</a:t>
            </a:r>
            <a:r>
              <a:rPr lang="en-US" dirty="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There is also the internal conflict in the old woman when the body of her son was brought home as to how she was exact revenge being old and weak.</a:t>
            </a:r>
          </a:p>
          <a:p>
            <a:pPr algn="just"/>
            <a:r>
              <a:rPr lang="en-US" dirty="0">
                <a:latin typeface="Arial" panose="020B0604020202020204" pitchFamily="34" charset="0"/>
                <a:cs typeface="Arial" panose="020B0604020202020204" pitchFamily="34" charset="0"/>
              </a:rPr>
              <a:t>Finally, there is the conflict the old woman set up between the dog and the dummy, with the dummy eventually becoming Nicolas </a:t>
            </a:r>
            <a:r>
              <a:rPr lang="en-US" dirty="0" err="1">
                <a:latin typeface="Arial" panose="020B0604020202020204" pitchFamily="34" charset="0"/>
                <a:cs typeface="Arial" panose="020B0604020202020204" pitchFamily="34" charset="0"/>
              </a:rPr>
              <a:t>Ravolati</a:t>
            </a:r>
            <a:r>
              <a:rPr lang="en-US" dirty="0">
                <a:latin typeface="Arial" panose="020B0604020202020204" pitchFamily="34" charset="0"/>
                <a:cs typeface="Arial" panose="020B0604020202020204" pitchFamily="34" charset="0"/>
              </a:rPr>
              <a:t>.</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20938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CHARACTERS</a:t>
            </a:r>
          </a:p>
        </p:txBody>
      </p:sp>
      <p:sp>
        <p:nvSpPr>
          <p:cNvPr id="3" name="Content Placeholder 2"/>
          <p:cNvSpPr>
            <a:spLocks noGrp="1"/>
          </p:cNvSpPr>
          <p:nvPr>
            <p:ph idx="1"/>
          </p:nvPr>
        </p:nvSpPr>
        <p:spPr/>
        <p:txBody>
          <a:bodyPr>
            <a:normAutofit lnSpcReduction="10000"/>
          </a:bodyPr>
          <a:lstStyle/>
          <a:p>
            <a:r>
              <a:rPr lang="en-GB" dirty="0"/>
              <a:t>Minor Characters in the story: </a:t>
            </a:r>
          </a:p>
          <a:p>
            <a:pPr marL="514350" indent="-514350">
              <a:buAutoNum type="arabicPeriod"/>
            </a:pPr>
            <a:r>
              <a:rPr lang="en-GB" dirty="0"/>
              <a:t>Paolo </a:t>
            </a:r>
            <a:r>
              <a:rPr lang="en-GB" dirty="0" err="1"/>
              <a:t>Saverini</a:t>
            </a:r>
            <a:r>
              <a:rPr lang="en-GB" dirty="0"/>
              <a:t> who dies before the story begins.</a:t>
            </a:r>
          </a:p>
          <a:p>
            <a:pPr marL="514350" indent="-514350">
              <a:buAutoNum type="arabicPeriod"/>
            </a:pPr>
            <a:r>
              <a:rPr lang="en-GB" dirty="0"/>
              <a:t>Antoine </a:t>
            </a:r>
            <a:r>
              <a:rPr lang="en-GB" dirty="0" err="1"/>
              <a:t>Saverini</a:t>
            </a:r>
            <a:r>
              <a:rPr lang="en-GB" dirty="0"/>
              <a:t>, the young man who was treacherously murdered.</a:t>
            </a:r>
          </a:p>
          <a:p>
            <a:pPr marL="514350" indent="-514350">
              <a:buAutoNum type="arabicPeriod"/>
            </a:pPr>
            <a:r>
              <a:rPr lang="en-GB" dirty="0"/>
              <a:t>Nicolas </a:t>
            </a:r>
            <a:r>
              <a:rPr lang="en-GB" dirty="0" err="1"/>
              <a:t>Ravolati</a:t>
            </a:r>
            <a:r>
              <a:rPr lang="en-GB" dirty="0"/>
              <a:t>, the man who killed Antoine… but was he really the villain of the story? </a:t>
            </a:r>
          </a:p>
          <a:p>
            <a:pPr marL="514350" indent="-514350">
              <a:buAutoNum type="arabicPeriod"/>
            </a:pPr>
            <a:r>
              <a:rPr lang="en-GB" dirty="0"/>
              <a:t>The neighbour who provided the widow with straw. </a:t>
            </a:r>
          </a:p>
          <a:p>
            <a:pPr marL="514350" indent="-514350">
              <a:buAutoNum type="arabicPeriod"/>
            </a:pPr>
            <a:r>
              <a:rPr lang="en-GB" dirty="0"/>
              <a:t>The fisherman who took her to </a:t>
            </a:r>
            <a:r>
              <a:rPr lang="en-GB" dirty="0" err="1"/>
              <a:t>Longosardo</a:t>
            </a:r>
            <a:r>
              <a:rPr lang="en-GB" dirty="0"/>
              <a:t>. </a:t>
            </a:r>
          </a:p>
          <a:p>
            <a:pPr marL="514350" indent="-514350">
              <a:buAutoNum type="arabicPeriod"/>
            </a:pPr>
            <a:r>
              <a:rPr lang="en-GB" dirty="0"/>
              <a:t>The person in the baker’s shop who directed her to Nicolas. </a:t>
            </a:r>
          </a:p>
          <a:p>
            <a:pPr marL="514350" indent="-514350">
              <a:buAutoNum type="arabicPeriod"/>
            </a:pPr>
            <a:r>
              <a:rPr lang="en-GB" dirty="0"/>
              <a:t>The two neighbours who saw an old beggar leaving Nicolas’s shop.</a:t>
            </a:r>
          </a:p>
          <a:p>
            <a:endParaRPr lang="en-GB" dirty="0"/>
          </a:p>
        </p:txBody>
      </p:sp>
    </p:spTree>
    <p:extLst>
      <p:ext uri="{BB962C8B-B14F-4D97-AF65-F5344CB8AC3E}">
        <p14:creationId xmlns:p14="http://schemas.microsoft.com/office/powerpoint/2010/main" val="1924631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MAJOR CHARACTERS</a:t>
            </a:r>
          </a:p>
        </p:txBody>
      </p:sp>
      <p:sp>
        <p:nvSpPr>
          <p:cNvPr id="3" name="Content Placeholder 2"/>
          <p:cNvSpPr>
            <a:spLocks noGrp="1"/>
          </p:cNvSpPr>
          <p:nvPr>
            <p:ph idx="1"/>
          </p:nvPr>
        </p:nvSpPr>
        <p:spPr/>
        <p:txBody>
          <a:bodyPr>
            <a:normAutofit fontScale="92500" lnSpcReduction="20000"/>
          </a:bodyPr>
          <a:lstStyle/>
          <a:p>
            <a:r>
              <a:rPr lang="en-GB" dirty="0">
                <a:latin typeface="Arial" panose="020B0604020202020204" pitchFamily="34" charset="0"/>
                <a:cs typeface="Arial" panose="020B0604020202020204" pitchFamily="34" charset="0"/>
              </a:rPr>
              <a:t>The Widow: She is a frail, lonely old woman.</a:t>
            </a:r>
          </a:p>
          <a:p>
            <a:pPr algn="just"/>
            <a:r>
              <a:rPr lang="en-GB" dirty="0">
                <a:latin typeface="Arial" panose="020B0604020202020204" pitchFamily="34" charset="0"/>
                <a:cs typeface="Arial" panose="020B0604020202020204" pitchFamily="34" charset="0"/>
              </a:rPr>
              <a:t>She is a determined character: “There, there, you shall be avenged, my little one, my boy, my poor child. Sleep, sleep, you shall be avenged, do you hear! Your mother swears it! And your mother always keeps her word; you know she does.”</a:t>
            </a:r>
          </a:p>
          <a:p>
            <a:pPr algn="just"/>
            <a:r>
              <a:rPr lang="en-GB" dirty="0">
                <a:latin typeface="Arial" panose="020B0604020202020204" pitchFamily="34" charset="0"/>
                <a:cs typeface="Arial" panose="020B0604020202020204" pitchFamily="34" charset="0"/>
              </a:rPr>
              <a:t>She is very religious: "She meditated on it till morning, then, rising at the approach of day, she went to church. She prayed, kneeling on the stones, prostrate before God, begging Him to aid her, to sustain her, to grant her poor worn-out body the strength necessary to avenge her son.”</a:t>
            </a:r>
          </a:p>
          <a:p>
            <a:pPr algn="just"/>
            <a:r>
              <a:rPr lang="en-GB" dirty="0">
                <a:latin typeface="Arial" panose="020B0604020202020204" pitchFamily="34" charset="0"/>
                <a:cs typeface="Arial" panose="020B0604020202020204" pitchFamily="34" charset="0"/>
              </a:rPr>
              <a:t>“When she judged that the time was come, Mother </a:t>
            </a:r>
            <a:r>
              <a:rPr lang="en-GB" dirty="0" err="1">
                <a:latin typeface="Arial" panose="020B0604020202020204" pitchFamily="34" charset="0"/>
                <a:cs typeface="Arial" panose="020B0604020202020204" pitchFamily="34" charset="0"/>
              </a:rPr>
              <a:t>Saverini</a:t>
            </a:r>
            <a:r>
              <a:rPr lang="en-GB" dirty="0">
                <a:latin typeface="Arial" panose="020B0604020202020204" pitchFamily="34" charset="0"/>
                <a:cs typeface="Arial" panose="020B0604020202020204" pitchFamily="34" charset="0"/>
              </a:rPr>
              <a:t> went to confession and took communion one Sunday morning with an ecstatic fervour.”</a:t>
            </a:r>
          </a:p>
          <a:p>
            <a:endParaRPr lang="en-GB" dirty="0"/>
          </a:p>
        </p:txBody>
      </p:sp>
    </p:spTree>
    <p:extLst>
      <p:ext uri="{BB962C8B-B14F-4D97-AF65-F5344CB8AC3E}">
        <p14:creationId xmlns:p14="http://schemas.microsoft.com/office/powerpoint/2010/main" val="3302214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MAJOR CHARACTERS</a:t>
            </a:r>
          </a:p>
        </p:txBody>
      </p:sp>
      <p:sp>
        <p:nvSpPr>
          <p:cNvPr id="3" name="Content Placeholder 2"/>
          <p:cNvSpPr>
            <a:spLocks noGrp="1"/>
          </p:cNvSpPr>
          <p:nvPr>
            <p:ph idx="1"/>
          </p:nvPr>
        </p:nvSpPr>
        <p:spPr/>
        <p:txBody>
          <a:bodyPr>
            <a:normAutofit/>
          </a:bodyPr>
          <a:lstStyle/>
          <a:p>
            <a:pPr algn="just"/>
            <a:r>
              <a:rPr lang="en-GB" dirty="0">
                <a:latin typeface="Arial" panose="020B0604020202020204" pitchFamily="34" charset="0"/>
                <a:cs typeface="Arial" panose="020B0604020202020204" pitchFamily="34" charset="0"/>
              </a:rPr>
              <a:t>She is quite decisive and dispassionate.</a:t>
            </a:r>
          </a:p>
          <a:p>
            <a:pPr algn="just"/>
            <a:r>
              <a:rPr lang="en-GB" dirty="0" err="1">
                <a:latin typeface="Arial" panose="020B0604020202020204" pitchFamily="34" charset="0"/>
                <a:cs typeface="Arial" panose="020B0604020202020204" pitchFamily="34" charset="0"/>
              </a:rPr>
              <a:t>Semillante</a:t>
            </a:r>
            <a:r>
              <a:rPr lang="en-GB" dirty="0">
                <a:latin typeface="Arial" panose="020B0604020202020204" pitchFamily="34" charset="0"/>
                <a:cs typeface="Arial" panose="020B0604020202020204" pitchFamily="34" charset="0"/>
              </a:rPr>
              <a:t> the pet dog. The dog loved its master and mourned for him in an emotional and almost human manner. “Since her master had gone, she often howled thus, as though she were calling him, as though her animal soul, inconsolable, had retained an ineffaceable memory of him.”</a:t>
            </a:r>
          </a:p>
          <a:p>
            <a:pPr algn="just"/>
            <a:r>
              <a:rPr lang="en-GB" dirty="0">
                <a:latin typeface="Arial" panose="020B0604020202020204" pitchFamily="34" charset="0"/>
                <a:cs typeface="Arial" panose="020B0604020202020204" pitchFamily="34" charset="0"/>
              </a:rPr>
              <a:t>Then </a:t>
            </a:r>
            <a:r>
              <a:rPr lang="en-GB" dirty="0" err="1">
                <a:latin typeface="Arial" panose="020B0604020202020204" pitchFamily="34" charset="0"/>
                <a:cs typeface="Arial" panose="020B0604020202020204" pitchFamily="34" charset="0"/>
              </a:rPr>
              <a:t>Semillante</a:t>
            </a:r>
            <a:r>
              <a:rPr lang="en-GB" dirty="0">
                <a:latin typeface="Arial" panose="020B0604020202020204" pitchFamily="34" charset="0"/>
                <a:cs typeface="Arial" panose="020B0604020202020204" pitchFamily="34" charset="0"/>
              </a:rPr>
              <a:t> began to howl once more. She uttered long cries, monotonous, heart-rending, horrible cries.</a:t>
            </a:r>
          </a:p>
          <a:p>
            <a:pPr algn="just"/>
            <a:r>
              <a:rPr lang="en-GB" dirty="0">
                <a:latin typeface="Arial" panose="020B0604020202020204" pitchFamily="34" charset="0"/>
                <a:cs typeface="Arial" panose="020B0604020202020204" pitchFamily="34" charset="0"/>
              </a:rPr>
              <a:t>The dog obediently and dutifully took lessons from the old woman and was eventually the instrument of revenge.</a:t>
            </a:r>
          </a:p>
          <a:p>
            <a:endParaRPr lang="en-GB" dirty="0"/>
          </a:p>
          <a:p>
            <a:endParaRPr lang="en-GB" dirty="0"/>
          </a:p>
        </p:txBody>
      </p:sp>
    </p:spTree>
    <p:extLst>
      <p:ext uri="{BB962C8B-B14F-4D97-AF65-F5344CB8AC3E}">
        <p14:creationId xmlns:p14="http://schemas.microsoft.com/office/powerpoint/2010/main" val="236861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POINT OF VIEW</a:t>
            </a:r>
          </a:p>
        </p:txBody>
      </p:sp>
      <p:sp>
        <p:nvSpPr>
          <p:cNvPr id="3" name="Content Placeholder 2"/>
          <p:cNvSpPr>
            <a:spLocks noGrp="1"/>
          </p:cNvSpPr>
          <p:nvPr>
            <p:ph idx="1"/>
          </p:nvPr>
        </p:nvSpPr>
        <p:spPr/>
        <p:txBody>
          <a:bodyPr/>
          <a:lstStyle/>
          <a:p>
            <a:pPr algn="just"/>
            <a:r>
              <a:rPr lang="en-GB" dirty="0"/>
              <a:t>“A Vendetta” is told in the third person by a limited omniscient narrator. We only hear the story from the widow’s point of view. We are only getting one version of events. We are made to feel sorry for the poor old woman left alone in the world after her only child is murdered. </a:t>
            </a:r>
          </a:p>
          <a:p>
            <a:pPr algn="just"/>
            <a:r>
              <a:rPr lang="en-GB" dirty="0"/>
              <a:t>One evening, after a </a:t>
            </a:r>
            <a:r>
              <a:rPr lang="en-GB" u="sng" dirty="0"/>
              <a:t>quarrel</a:t>
            </a:r>
            <a:r>
              <a:rPr lang="en-GB" dirty="0"/>
              <a:t>, Antoine </a:t>
            </a:r>
            <a:r>
              <a:rPr lang="en-GB" dirty="0" err="1"/>
              <a:t>Saverini</a:t>
            </a:r>
            <a:r>
              <a:rPr lang="en-GB" dirty="0"/>
              <a:t> was </a:t>
            </a:r>
            <a:r>
              <a:rPr lang="en-GB" u="sng" dirty="0"/>
              <a:t>treacherously</a:t>
            </a:r>
            <a:r>
              <a:rPr lang="en-GB" dirty="0"/>
              <a:t> slain by a knife-thrust from Nicolas </a:t>
            </a:r>
            <a:r>
              <a:rPr lang="en-GB" dirty="0" err="1"/>
              <a:t>Ravolati</a:t>
            </a:r>
            <a:r>
              <a:rPr lang="en-GB" dirty="0"/>
              <a:t>, who </a:t>
            </a:r>
            <a:r>
              <a:rPr lang="en-GB" u="sng" dirty="0"/>
              <a:t>got away </a:t>
            </a:r>
            <a:r>
              <a:rPr lang="en-GB" dirty="0"/>
              <a:t>to Sardinia the same night.</a:t>
            </a:r>
          </a:p>
          <a:p>
            <a:pPr algn="just"/>
            <a:endParaRPr lang="en-GB" dirty="0"/>
          </a:p>
          <a:p>
            <a:pPr algn="just"/>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2456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OTHER TECHNICAL DEVICES</a:t>
            </a:r>
          </a:p>
        </p:txBody>
      </p:sp>
      <p:sp>
        <p:nvSpPr>
          <p:cNvPr id="3" name="Content Placeholder 2"/>
          <p:cNvSpPr>
            <a:spLocks noGrp="1"/>
          </p:cNvSpPr>
          <p:nvPr>
            <p:ph idx="1"/>
          </p:nvPr>
        </p:nvSpPr>
        <p:spPr/>
        <p:txBody>
          <a:bodyPr>
            <a:normAutofit fontScale="92500" lnSpcReduction="20000"/>
          </a:bodyPr>
          <a:lstStyle/>
          <a:p>
            <a:pPr algn="just"/>
            <a:r>
              <a:rPr lang="en-GB" dirty="0">
                <a:latin typeface="Arial" panose="020B0604020202020204" pitchFamily="34" charset="0"/>
                <a:cs typeface="Arial" panose="020B0604020202020204" pitchFamily="34" charset="0"/>
              </a:rPr>
              <a:t>Disguise: The old woman disguised herself when she went for the revenge. </a:t>
            </a:r>
          </a:p>
          <a:p>
            <a:pPr algn="just"/>
            <a:r>
              <a:rPr lang="en-GB" dirty="0">
                <a:latin typeface="Arial" panose="020B0604020202020204" pitchFamily="34" charset="0"/>
                <a:cs typeface="Arial" panose="020B0604020202020204" pitchFamily="34" charset="0"/>
              </a:rPr>
              <a:t>Suspense: “… she swore vendetta against him.” We wonder how a weak old woman was going to accomplish this.</a:t>
            </a:r>
          </a:p>
          <a:p>
            <a:pPr algn="just"/>
            <a:r>
              <a:rPr lang="en-GB" dirty="0">
                <a:latin typeface="Arial" panose="020B0604020202020204" pitchFamily="34" charset="0"/>
                <a:cs typeface="Arial" panose="020B0604020202020204" pitchFamily="34" charset="0"/>
              </a:rPr>
              <a:t>Pathos: The creation of sympathy or pity for a particular character or situation. In this story, the old woman has a lot of sympathy.</a:t>
            </a:r>
          </a:p>
          <a:p>
            <a:r>
              <a:rPr lang="en-GB" dirty="0">
                <a:latin typeface="Arial" panose="020B0604020202020204" pitchFamily="34" charset="0"/>
                <a:cs typeface="Arial" panose="020B0604020202020204" pitchFamily="34" charset="0"/>
              </a:rPr>
              <a:t>The Structure:</a:t>
            </a:r>
          </a:p>
          <a:p>
            <a:pPr algn="just"/>
            <a:r>
              <a:rPr lang="en-GB" dirty="0">
                <a:latin typeface="Arial" panose="020B0604020202020204" pitchFamily="34" charset="0"/>
                <a:cs typeface="Arial" panose="020B0604020202020204" pitchFamily="34" charset="0"/>
              </a:rPr>
              <a:t>The Beginning: Description of the setting, the killing of Antoine </a:t>
            </a:r>
            <a:r>
              <a:rPr lang="en-GB" dirty="0" err="1">
                <a:latin typeface="Arial" panose="020B0604020202020204" pitchFamily="34" charset="0"/>
                <a:cs typeface="Arial" panose="020B0604020202020204" pitchFamily="34" charset="0"/>
              </a:rPr>
              <a:t>Saverini</a:t>
            </a:r>
            <a:r>
              <a:rPr lang="en-GB" dirty="0">
                <a:latin typeface="Arial" panose="020B0604020202020204" pitchFamily="34" charset="0"/>
                <a:cs typeface="Arial" panose="020B0604020202020204" pitchFamily="34" charset="0"/>
              </a:rPr>
              <a:t>, and the mourning process up to the point where the widow </a:t>
            </a:r>
            <a:r>
              <a:rPr lang="en-GB" dirty="0" err="1">
                <a:latin typeface="Arial" panose="020B0604020202020204" pitchFamily="34" charset="0"/>
                <a:cs typeface="Arial" panose="020B0604020202020204" pitchFamily="34" charset="0"/>
              </a:rPr>
              <a:t>Saverini</a:t>
            </a:r>
            <a:r>
              <a:rPr lang="en-GB" dirty="0">
                <a:latin typeface="Arial" panose="020B0604020202020204" pitchFamily="34" charset="0"/>
                <a:cs typeface="Arial" panose="020B0604020202020204" pitchFamily="34" charset="0"/>
              </a:rPr>
              <a:t> swears her vendetta: </a:t>
            </a:r>
          </a:p>
          <a:p>
            <a:r>
              <a:rPr lang="en-GB" dirty="0">
                <a:latin typeface="Arial" panose="020B0604020202020204" pitchFamily="34" charset="0"/>
                <a:cs typeface="Arial" panose="020B0604020202020204" pitchFamily="34" charset="0"/>
              </a:rPr>
              <a:t>The Climax: The killing of Nicolas </a:t>
            </a:r>
            <a:r>
              <a:rPr lang="en-GB" dirty="0" err="1">
                <a:latin typeface="Arial" panose="020B0604020202020204" pitchFamily="34" charset="0"/>
                <a:cs typeface="Arial" panose="020B0604020202020204" pitchFamily="34" charset="0"/>
              </a:rPr>
              <a:t>Ravolati</a:t>
            </a:r>
            <a:r>
              <a:rPr lang="en-GB" dirty="0">
                <a:latin typeface="Arial" panose="020B0604020202020204" pitchFamily="34" charset="0"/>
                <a:cs typeface="Arial" panose="020B0604020202020204" pitchFamily="34" charset="0"/>
              </a:rPr>
              <a:t>.</a:t>
            </a:r>
          </a:p>
          <a:p>
            <a:r>
              <a:rPr lang="en-GB" dirty="0">
                <a:latin typeface="Arial" panose="020B0604020202020204" pitchFamily="34" charset="0"/>
                <a:cs typeface="Arial" panose="020B0604020202020204" pitchFamily="34" charset="0"/>
              </a:rPr>
              <a:t>The Ending: The old woman at peace.</a:t>
            </a:r>
          </a:p>
        </p:txBody>
      </p:sp>
    </p:spTree>
    <p:extLst>
      <p:ext uri="{BB962C8B-B14F-4D97-AF65-F5344CB8AC3E}">
        <p14:creationId xmlns:p14="http://schemas.microsoft.com/office/powerpoint/2010/main" val="1912050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FIGURES OF SPEECH</a:t>
            </a:r>
          </a:p>
        </p:txBody>
      </p:sp>
      <p:sp>
        <p:nvSpPr>
          <p:cNvPr id="3" name="Content Placeholder 2"/>
          <p:cNvSpPr>
            <a:spLocks noGrp="1"/>
          </p:cNvSpPr>
          <p:nvPr>
            <p:ph idx="1"/>
          </p:nvPr>
        </p:nvSpPr>
        <p:spPr/>
        <p:txBody>
          <a:bodyPr>
            <a:normAutofit lnSpcReduction="10000"/>
          </a:bodyPr>
          <a:lstStyle/>
          <a:p>
            <a:pPr algn="just"/>
            <a:r>
              <a:rPr lang="en-GB" dirty="0">
                <a:latin typeface="Arial" panose="020B0604020202020204" pitchFamily="34" charset="0"/>
                <a:cs typeface="Arial" panose="020B0604020202020204" pitchFamily="34" charset="0"/>
              </a:rPr>
              <a:t>Some figures of speech have been used effectively in describing the setting.</a:t>
            </a:r>
            <a:r>
              <a:rPr lang="en-GB" dirty="0"/>
              <a:t> </a:t>
            </a:r>
          </a:p>
          <a:p>
            <a:pPr algn="just"/>
            <a:r>
              <a:rPr lang="en-GB" dirty="0"/>
              <a:t>Personification: “</a:t>
            </a:r>
            <a:r>
              <a:rPr lang="en-GB" dirty="0">
                <a:latin typeface="Arial" panose="020B0604020202020204" pitchFamily="34" charset="0"/>
                <a:cs typeface="Arial" panose="020B0604020202020204" pitchFamily="34" charset="0"/>
              </a:rPr>
              <a:t>The </a:t>
            </a:r>
            <a:r>
              <a:rPr lang="en-GB" u="sng" dirty="0" err="1">
                <a:latin typeface="Arial" panose="020B0604020202020204" pitchFamily="34" charset="0"/>
                <a:cs typeface="Arial" panose="020B0604020202020204" pitchFamily="34" charset="0"/>
              </a:rPr>
              <a:t>unresting</a:t>
            </a:r>
            <a:r>
              <a:rPr lang="en-GB" dirty="0">
                <a:latin typeface="Arial" panose="020B0604020202020204" pitchFamily="34" charset="0"/>
                <a:cs typeface="Arial" panose="020B0604020202020204" pitchFamily="34" charset="0"/>
              </a:rPr>
              <a:t> wind </a:t>
            </a:r>
            <a:r>
              <a:rPr lang="en-GB" u="sng" dirty="0">
                <a:latin typeface="Arial" panose="020B0604020202020204" pitchFamily="34" charset="0"/>
                <a:cs typeface="Arial" panose="020B0604020202020204" pitchFamily="34" charset="0"/>
              </a:rPr>
              <a:t>harasses</a:t>
            </a:r>
            <a:r>
              <a:rPr lang="en-GB" dirty="0">
                <a:latin typeface="Arial" panose="020B0604020202020204" pitchFamily="34" charset="0"/>
                <a:cs typeface="Arial" panose="020B0604020202020204" pitchFamily="34" charset="0"/>
              </a:rPr>
              <a:t> the sea and </a:t>
            </a:r>
            <a:r>
              <a:rPr lang="en-GB" u="sng" dirty="0">
                <a:latin typeface="Arial" panose="020B0604020202020204" pitchFamily="34" charset="0"/>
                <a:cs typeface="Arial" panose="020B0604020202020204" pitchFamily="34" charset="0"/>
              </a:rPr>
              <a:t>eats</a:t>
            </a:r>
            <a:r>
              <a:rPr lang="en-GB" dirty="0">
                <a:latin typeface="Arial" panose="020B0604020202020204" pitchFamily="34" charset="0"/>
                <a:cs typeface="Arial" panose="020B0604020202020204" pitchFamily="34" charset="0"/>
              </a:rPr>
              <a:t> away the bare shore, </a:t>
            </a:r>
            <a:r>
              <a:rPr lang="en-GB" u="sng" dirty="0">
                <a:latin typeface="Arial" panose="020B0604020202020204" pitchFamily="34" charset="0"/>
                <a:cs typeface="Arial" panose="020B0604020202020204" pitchFamily="34" charset="0"/>
              </a:rPr>
              <a:t>clad</a:t>
            </a:r>
            <a:r>
              <a:rPr lang="en-GB" dirty="0">
                <a:latin typeface="Arial" panose="020B0604020202020204" pitchFamily="34" charset="0"/>
                <a:cs typeface="Arial" panose="020B0604020202020204" pitchFamily="34" charset="0"/>
              </a:rPr>
              <a:t> with a sparse covering of grass; it rushes into the ravine and raves its two sides.”</a:t>
            </a:r>
            <a:r>
              <a:rPr lang="en-GB" dirty="0"/>
              <a:t> </a:t>
            </a:r>
            <a:r>
              <a:rPr lang="en-GB" dirty="0">
                <a:latin typeface="Arial" panose="020B0604020202020204" pitchFamily="34" charset="0"/>
                <a:cs typeface="Arial" panose="020B0604020202020204" pitchFamily="34" charset="0"/>
              </a:rPr>
              <a:t>The widow </a:t>
            </a:r>
            <a:r>
              <a:rPr lang="en-GB" dirty="0" err="1">
                <a:latin typeface="Arial" panose="020B0604020202020204" pitchFamily="34" charset="0"/>
                <a:cs typeface="Arial" panose="020B0604020202020204" pitchFamily="34" charset="0"/>
              </a:rPr>
              <a:t>Saverini's</a:t>
            </a:r>
            <a:r>
              <a:rPr lang="en-GB" dirty="0">
                <a:latin typeface="Arial" panose="020B0604020202020204" pitchFamily="34" charset="0"/>
                <a:cs typeface="Arial" panose="020B0604020202020204" pitchFamily="34" charset="0"/>
              </a:rPr>
              <a:t> house </a:t>
            </a:r>
            <a:r>
              <a:rPr lang="en-GB" u="sng" dirty="0">
                <a:latin typeface="Arial" panose="020B0604020202020204" pitchFamily="34" charset="0"/>
                <a:cs typeface="Arial" panose="020B0604020202020204" pitchFamily="34" charset="0"/>
              </a:rPr>
              <a:t>held for dear life </a:t>
            </a:r>
            <a:r>
              <a:rPr lang="en-GB" dirty="0">
                <a:latin typeface="Arial" panose="020B0604020202020204" pitchFamily="34" charset="0"/>
                <a:cs typeface="Arial" panose="020B0604020202020204" pitchFamily="34" charset="0"/>
              </a:rPr>
              <a:t>to the very edge of the cliff.</a:t>
            </a:r>
            <a:r>
              <a:rPr lang="en-GB" dirty="0"/>
              <a:t> </a:t>
            </a:r>
            <a:endParaRPr lang="en-GB" dirty="0">
              <a:latin typeface="Arial" panose="020B0604020202020204" pitchFamily="34" charset="0"/>
              <a:cs typeface="Arial" panose="020B0604020202020204" pitchFamily="34" charset="0"/>
            </a:endParaRPr>
          </a:p>
          <a:p>
            <a:pPr algn="just"/>
            <a:r>
              <a:rPr lang="en-GB" dirty="0">
                <a:latin typeface="Arial" panose="020B0604020202020204" pitchFamily="34" charset="0"/>
                <a:cs typeface="Arial" panose="020B0604020202020204" pitchFamily="34" charset="0"/>
              </a:rPr>
              <a:t>Simile: Upon the white mountain the group of houses form a whiter patch still. They look like the nests of wild birds, perched so upon the rock. </a:t>
            </a:r>
          </a:p>
          <a:p>
            <a:pPr algn="just"/>
            <a:r>
              <a:rPr lang="en-GB" dirty="0">
                <a:latin typeface="Arial" panose="020B0604020202020204" pitchFamily="34" charset="0"/>
                <a:cs typeface="Arial" panose="020B0604020202020204" pitchFamily="34" charset="0"/>
              </a:rPr>
              <a:t>Then in talking about how the woman and the dog treat the dead son the writer uses repetition and onomatopoeia.</a:t>
            </a:r>
          </a:p>
        </p:txBody>
      </p:sp>
    </p:spTree>
    <p:extLst>
      <p:ext uri="{BB962C8B-B14F-4D97-AF65-F5344CB8AC3E}">
        <p14:creationId xmlns:p14="http://schemas.microsoft.com/office/powerpoint/2010/main" val="3118575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EXAMPLES</a:t>
            </a:r>
          </a:p>
        </p:txBody>
      </p:sp>
      <p:sp>
        <p:nvSpPr>
          <p:cNvPr id="3" name="Content Placeholder 2"/>
          <p:cNvSpPr>
            <a:spLocks noGrp="1"/>
          </p:cNvSpPr>
          <p:nvPr>
            <p:ph idx="1"/>
          </p:nvPr>
        </p:nvSpPr>
        <p:spPr/>
        <p:txBody>
          <a:bodyPr/>
          <a:lstStyle/>
          <a:p>
            <a:pPr algn="just"/>
            <a:r>
              <a:rPr lang="en-GB"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t>
            </a:r>
            <a:r>
              <a:rPr lang="en-GB" u="sng" dirty="0">
                <a:latin typeface="Arial" panose="020B0604020202020204" pitchFamily="34" charset="0"/>
                <a:cs typeface="Arial" panose="020B0604020202020204" pitchFamily="34" charset="0"/>
              </a:rPr>
              <a:t>There, there</a:t>
            </a:r>
            <a:r>
              <a:rPr lang="en-GB" dirty="0">
                <a:latin typeface="Arial" panose="020B0604020202020204" pitchFamily="34" charset="0"/>
                <a:cs typeface="Arial" panose="020B0604020202020204" pitchFamily="34" charset="0"/>
              </a:rPr>
              <a:t>, you shall be avenged, </a:t>
            </a:r>
            <a:r>
              <a:rPr lang="en-GB" u="sng" dirty="0">
                <a:latin typeface="Arial" panose="020B0604020202020204" pitchFamily="34" charset="0"/>
                <a:cs typeface="Arial" panose="020B0604020202020204" pitchFamily="34" charset="0"/>
              </a:rPr>
              <a:t>my little one, my boy, my poor child</a:t>
            </a:r>
            <a:r>
              <a:rPr lang="en-GB" dirty="0">
                <a:latin typeface="Arial" panose="020B0604020202020204" pitchFamily="34" charset="0"/>
                <a:cs typeface="Arial" panose="020B0604020202020204" pitchFamily="34" charset="0"/>
              </a:rPr>
              <a:t>. </a:t>
            </a:r>
            <a:r>
              <a:rPr lang="en-GB" u="sng" dirty="0">
                <a:latin typeface="Arial" panose="020B0604020202020204" pitchFamily="34" charset="0"/>
                <a:cs typeface="Arial" panose="020B0604020202020204" pitchFamily="34" charset="0"/>
              </a:rPr>
              <a:t>Sleep, sleep</a:t>
            </a:r>
            <a:r>
              <a:rPr lang="en-GB" dirty="0">
                <a:latin typeface="Arial" panose="020B0604020202020204" pitchFamily="34" charset="0"/>
                <a:cs typeface="Arial" panose="020B0604020202020204" pitchFamily="34" charset="0"/>
              </a:rPr>
              <a:t>, you shall be avenged, do you hear! </a:t>
            </a:r>
            <a:r>
              <a:rPr lang="en-GB" u="sng" dirty="0">
                <a:latin typeface="Arial" panose="020B0604020202020204" pitchFamily="34" charset="0"/>
                <a:cs typeface="Arial" panose="020B0604020202020204" pitchFamily="34" charset="0"/>
              </a:rPr>
              <a:t>Your mother </a:t>
            </a:r>
            <a:r>
              <a:rPr lang="en-GB" dirty="0">
                <a:latin typeface="Arial" panose="020B0604020202020204" pitchFamily="34" charset="0"/>
                <a:cs typeface="Arial" panose="020B0604020202020204" pitchFamily="34" charset="0"/>
              </a:rPr>
              <a:t>swears it! And </a:t>
            </a:r>
            <a:r>
              <a:rPr lang="en-GB" u="sng" dirty="0">
                <a:latin typeface="Arial" panose="020B0604020202020204" pitchFamily="34" charset="0"/>
                <a:cs typeface="Arial" panose="020B0604020202020204" pitchFamily="34" charset="0"/>
              </a:rPr>
              <a:t>your mother </a:t>
            </a:r>
            <a:r>
              <a:rPr lang="en-GB" dirty="0">
                <a:latin typeface="Arial" panose="020B0604020202020204" pitchFamily="34" charset="0"/>
                <a:cs typeface="Arial" panose="020B0604020202020204" pitchFamily="34" charset="0"/>
              </a:rPr>
              <a:t>always keeps her word; you know she does.“</a:t>
            </a:r>
          </a:p>
          <a:p>
            <a:pPr algn="just"/>
            <a:r>
              <a:rPr lang="en-GB" dirty="0">
                <a:latin typeface="Arial" panose="020B0604020202020204" pitchFamily="34" charset="0"/>
                <a:cs typeface="Arial" panose="020B0604020202020204" pitchFamily="34" charset="0"/>
              </a:rPr>
              <a:t>She would have no one stay with her, and shut herself up with the body, together with the </a:t>
            </a:r>
            <a:r>
              <a:rPr lang="en-GB" u="sng" dirty="0">
                <a:latin typeface="Arial" panose="020B0604020202020204" pitchFamily="34" charset="0"/>
                <a:cs typeface="Arial" panose="020B0604020202020204" pitchFamily="34" charset="0"/>
              </a:rPr>
              <a:t>howling</a:t>
            </a:r>
            <a:r>
              <a:rPr lang="en-GB" dirty="0">
                <a:latin typeface="Arial" panose="020B0604020202020204" pitchFamily="34" charset="0"/>
                <a:cs typeface="Arial" panose="020B0604020202020204" pitchFamily="34" charset="0"/>
              </a:rPr>
              <a:t> dog. The animal </a:t>
            </a:r>
            <a:r>
              <a:rPr lang="en-GB" u="sng" dirty="0">
                <a:latin typeface="Arial" panose="020B0604020202020204" pitchFamily="34" charset="0"/>
                <a:cs typeface="Arial" panose="020B0604020202020204" pitchFamily="34" charset="0"/>
              </a:rPr>
              <a:t>howled</a:t>
            </a:r>
            <a:r>
              <a:rPr lang="en-GB" dirty="0">
                <a:latin typeface="Arial" panose="020B0604020202020204" pitchFamily="34" charset="0"/>
                <a:cs typeface="Arial" panose="020B0604020202020204" pitchFamily="34" charset="0"/>
              </a:rPr>
              <a:t> continuously,</a:t>
            </a:r>
          </a:p>
          <a:p>
            <a:pPr algn="just"/>
            <a:r>
              <a:rPr lang="en-GB" dirty="0">
                <a:latin typeface="Arial" panose="020B0604020202020204" pitchFamily="34" charset="0"/>
                <a:cs typeface="Arial" panose="020B0604020202020204" pitchFamily="34" charset="0"/>
              </a:rPr>
              <a:t>Then </a:t>
            </a:r>
            <a:r>
              <a:rPr lang="en-GB" dirty="0" err="1">
                <a:latin typeface="Arial" panose="020B0604020202020204" pitchFamily="34" charset="0"/>
                <a:cs typeface="Arial" panose="020B0604020202020204" pitchFamily="34" charset="0"/>
              </a:rPr>
              <a:t>Semillante</a:t>
            </a:r>
            <a:r>
              <a:rPr lang="en-GB" dirty="0">
                <a:latin typeface="Arial" panose="020B0604020202020204" pitchFamily="34" charset="0"/>
                <a:cs typeface="Arial" panose="020B0604020202020204" pitchFamily="34" charset="0"/>
              </a:rPr>
              <a:t> began to </a:t>
            </a:r>
            <a:r>
              <a:rPr lang="en-GB" u="sng" dirty="0">
                <a:latin typeface="Arial" panose="020B0604020202020204" pitchFamily="34" charset="0"/>
                <a:cs typeface="Arial" panose="020B0604020202020204" pitchFamily="34" charset="0"/>
              </a:rPr>
              <a:t>howl</a:t>
            </a:r>
            <a:r>
              <a:rPr lang="en-GB" dirty="0">
                <a:latin typeface="Arial" panose="020B0604020202020204" pitchFamily="34" charset="0"/>
                <a:cs typeface="Arial" panose="020B0604020202020204" pitchFamily="34" charset="0"/>
              </a:rPr>
              <a:t> once more. She uttered </a:t>
            </a:r>
            <a:r>
              <a:rPr lang="en-GB" u="sng" dirty="0">
                <a:latin typeface="Arial" panose="020B0604020202020204" pitchFamily="34" charset="0"/>
                <a:cs typeface="Arial" panose="020B0604020202020204" pitchFamily="34" charset="0"/>
              </a:rPr>
              <a:t>long cries, monotonous, heart-rending, horrible</a:t>
            </a:r>
            <a:r>
              <a:rPr lang="en-GB" dirty="0">
                <a:latin typeface="Arial" panose="020B0604020202020204" pitchFamily="34" charset="0"/>
                <a:cs typeface="Arial" panose="020B0604020202020204" pitchFamily="34" charset="0"/>
              </a:rPr>
              <a:t> cries.</a:t>
            </a:r>
          </a:p>
          <a:p>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15351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TotalTime>
  <Words>1469</Words>
  <Application>Microsoft Office PowerPoint</Application>
  <PresentationFormat>Widescreen</PresentationFormat>
  <Paragraphs>68</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A VENDETTA</vt:lpstr>
      <vt:lpstr>SYNOPSIS</vt:lpstr>
      <vt:lpstr>THEMES</vt:lpstr>
      <vt:lpstr>THE TITLE</vt:lpstr>
      <vt:lpstr>SETTING</vt:lpstr>
      <vt:lpstr>SETTING</vt:lpstr>
      <vt:lpstr>CONFLICT</vt:lpstr>
      <vt:lpstr>CHARACTERS</vt:lpstr>
      <vt:lpstr>MAJOR CHARACTERS</vt:lpstr>
      <vt:lpstr>MAJOR CHARACTERS</vt:lpstr>
      <vt:lpstr>POINT OF VIEW</vt:lpstr>
      <vt:lpstr>OTHER TECHNICAL DEVICES</vt:lpstr>
      <vt:lpstr>FIGURES OF SPEECH</vt:lpstr>
      <vt:lpstr>EXAMPLES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LITERATURE IN ENGLISH</dc:title>
  <dc:creator>John Aning</dc:creator>
  <cp:lastModifiedBy>johnaning53@outlook.com</cp:lastModifiedBy>
  <cp:revision>60</cp:revision>
  <dcterms:created xsi:type="dcterms:W3CDTF">2020-01-25T20:51:55Z</dcterms:created>
  <dcterms:modified xsi:type="dcterms:W3CDTF">2021-05-13T13:29:26Z</dcterms:modified>
</cp:coreProperties>
</file>