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4" r:id="rId4"/>
    <p:sldId id="257" r:id="rId5"/>
    <p:sldId id="258" r:id="rId6"/>
    <p:sldId id="259" r:id="rId7"/>
    <p:sldId id="265" r:id="rId8"/>
    <p:sldId id="266" r:id="rId9"/>
    <p:sldId id="260" r:id="rId10"/>
    <p:sldId id="263" r:id="rId11"/>
    <p:sldId id="267"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106" d="100"/>
          <a:sy n="106" d="100"/>
        </p:scale>
        <p:origin x="1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DB0C74D-5D53-4904-A208-27979D8B7BF4}"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394169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DB0C74D-5D53-4904-A208-27979D8B7BF4}"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337246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0C74D-5D53-4904-A208-27979D8B7BF4}"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2176267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DB0C74D-5D53-4904-A208-27979D8B7BF4}"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4053214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DB0C74D-5D53-4904-A208-27979D8B7BF4}" type="datetimeFigureOut">
              <a:rPr lang="en-GB" smtClean="0"/>
              <a:t>15/06/2021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2386967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DB0C74D-5D53-4904-A208-27979D8B7BF4}" type="datetimeFigureOut">
              <a:rPr lang="en-GB" smtClean="0"/>
              <a:t>15/06/2021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2572191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B0C74D-5D53-4904-A208-27979D8B7BF4}" type="datetimeFigureOut">
              <a:rPr lang="en-GB" smtClean="0"/>
              <a:t>15/06/2021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3006807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0C74D-5D53-4904-A208-27979D8B7BF4}"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118284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0C74D-5D53-4904-A208-27979D8B7BF4}"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2749037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DB0C74D-5D53-4904-A208-27979D8B7BF4}"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1050228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DB0C74D-5D53-4904-A208-27979D8B7BF4}"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F436162-C2B8-4A2B-A0CA-07F6B0A3B84C}" type="slidenum">
              <a:rPr lang="en-GB" smtClean="0"/>
              <a:t>‹#›</a:t>
            </a:fld>
            <a:endParaRPr lang="en-GB"/>
          </a:p>
        </p:txBody>
      </p:sp>
    </p:spTree>
    <p:extLst>
      <p:ext uri="{BB962C8B-B14F-4D97-AF65-F5344CB8AC3E}">
        <p14:creationId xmlns:p14="http://schemas.microsoft.com/office/powerpoint/2010/main" val="299736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0C74D-5D53-4904-A208-27979D8B7BF4}" type="datetimeFigureOut">
              <a:rPr lang="en-GB" smtClean="0"/>
              <a:t>15/06/2021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436162-C2B8-4A2B-A0CA-07F6B0A3B84C}" type="slidenum">
              <a:rPr lang="en-GB" smtClean="0"/>
              <a:t>‹#›</a:t>
            </a:fld>
            <a:endParaRPr lang="en-GB"/>
          </a:p>
        </p:txBody>
      </p:sp>
    </p:spTree>
    <p:extLst>
      <p:ext uri="{BB962C8B-B14F-4D97-AF65-F5344CB8AC3E}">
        <p14:creationId xmlns:p14="http://schemas.microsoft.com/office/powerpoint/2010/main" val="2674364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latin typeface="Arial" panose="020B0604020202020204" pitchFamily="34" charset="0"/>
                <a:cs typeface="Arial" panose="020B0604020202020204" pitchFamily="34" charset="0"/>
              </a:rPr>
              <a:t>HOME SWEET HOME</a:t>
            </a:r>
          </a:p>
        </p:txBody>
      </p:sp>
      <p:sp>
        <p:nvSpPr>
          <p:cNvPr id="3" name="Subtitle 2"/>
          <p:cNvSpPr>
            <a:spLocks noGrp="1"/>
          </p:cNvSpPr>
          <p:nvPr>
            <p:ph type="subTitle" idx="1"/>
          </p:nvPr>
        </p:nvSpPr>
        <p:spPr/>
        <p:txBody>
          <a:bodyPr/>
          <a:lstStyle/>
          <a:p>
            <a:r>
              <a:rPr lang="en-GB" b="1" dirty="0">
                <a:latin typeface="Arial" panose="020B0604020202020204" pitchFamily="34" charset="0"/>
                <a:cs typeface="Arial" panose="020B0604020202020204" pitchFamily="34" charset="0"/>
              </a:rPr>
              <a:t>KEN SARO WIWA</a:t>
            </a:r>
          </a:p>
        </p:txBody>
      </p:sp>
    </p:spTree>
    <p:extLst>
      <p:ext uri="{BB962C8B-B14F-4D97-AF65-F5344CB8AC3E}">
        <p14:creationId xmlns:p14="http://schemas.microsoft.com/office/powerpoint/2010/main" val="3607796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 AUTHOR</a:t>
            </a:r>
          </a:p>
        </p:txBody>
      </p:sp>
      <p:sp>
        <p:nvSpPr>
          <p:cNvPr id="3" name="Content Placeholder 2"/>
          <p:cNvSpPr>
            <a:spLocks noGrp="1"/>
          </p:cNvSpPr>
          <p:nvPr>
            <p:ph idx="1"/>
          </p:nvPr>
        </p:nvSpPr>
        <p:spPr/>
        <p:txBody>
          <a:bodyPr>
            <a:noAutofit/>
          </a:bodyPr>
          <a:lstStyle/>
          <a:p>
            <a:pPr algn="just"/>
            <a:r>
              <a:rPr lang="en-US" b="0" i="0" u="none" strike="noStrike" baseline="0" dirty="0" err="1">
                <a:latin typeface="Arial" panose="020B0604020202020204" pitchFamily="34" charset="0"/>
                <a:cs typeface="Arial" panose="020B0604020202020204" pitchFamily="34" charset="0"/>
              </a:rPr>
              <a:t>Kenule</a:t>
            </a:r>
            <a:r>
              <a:rPr lang="en-US" b="0" i="0" u="none" strike="noStrike" baseline="0" dirty="0">
                <a:latin typeface="Arial" panose="020B0604020202020204" pitchFamily="34" charset="0"/>
                <a:cs typeface="Arial" panose="020B0604020202020204" pitchFamily="34" charset="0"/>
              </a:rPr>
              <a:t> Beeson ‘Ken’ </a:t>
            </a:r>
            <a:r>
              <a:rPr lang="en-US" b="0" i="0" u="none" strike="noStrike" baseline="0" dirty="0" err="1">
                <a:latin typeface="Arial" panose="020B0604020202020204" pitchFamily="34" charset="0"/>
                <a:cs typeface="Arial" panose="020B0604020202020204" pitchFamily="34" charset="0"/>
              </a:rPr>
              <a:t>Saro-Wiwa</a:t>
            </a:r>
            <a:r>
              <a:rPr lang="en-US" b="0" i="0" u="none" strike="noStrike" baseline="0" dirty="0">
                <a:latin typeface="Arial" panose="020B0604020202020204" pitchFamily="34" charset="0"/>
                <a:cs typeface="Arial" panose="020B0604020202020204" pitchFamily="34" charset="0"/>
              </a:rPr>
              <a:t> was born on10thOctober,1941</a:t>
            </a:r>
          </a:p>
          <a:p>
            <a:pPr marL="0" indent="0" algn="just">
              <a:buNone/>
            </a:pPr>
            <a:r>
              <a:rPr lang="en-US" b="0" i="0" u="none" strike="noStrike" baseline="0" dirty="0">
                <a:latin typeface="Arial" panose="020B0604020202020204" pitchFamily="34" charset="0"/>
                <a:cs typeface="Arial" panose="020B0604020202020204" pitchFamily="34" charset="0"/>
              </a:rPr>
              <a:t>  at </a:t>
            </a:r>
            <a:r>
              <a:rPr lang="en-US" b="0" i="0" u="none" strike="noStrike" baseline="0" dirty="0" err="1">
                <a:latin typeface="Arial" panose="020B0604020202020204" pitchFamily="34" charset="0"/>
                <a:cs typeface="Arial" panose="020B0604020202020204" pitchFamily="34" charset="0"/>
              </a:rPr>
              <a:t>Bori</a:t>
            </a:r>
            <a:r>
              <a:rPr lang="en-US" b="0" i="0" u="none" strike="noStrike" baseline="0" dirty="0">
                <a:latin typeface="Arial" panose="020B0604020202020204" pitchFamily="34" charset="0"/>
                <a:cs typeface="Arial" panose="020B0604020202020204" pitchFamily="34" charset="0"/>
              </a:rPr>
              <a:t> in the River State of Nigeria. He was the son of Chief Jim      </a:t>
            </a:r>
            <a:r>
              <a:rPr lang="en-US" b="0" i="0" u="none" strike="noStrike" baseline="0" dirty="0" err="1">
                <a:latin typeface="Arial" panose="020B0604020202020204" pitchFamily="34" charset="0"/>
                <a:cs typeface="Arial" panose="020B0604020202020204" pitchFamily="34" charset="0"/>
              </a:rPr>
              <a:t>Wiwa</a:t>
            </a:r>
            <a:r>
              <a:rPr lang="en-US" b="0" i="0" u="none" strike="noStrike" baseline="0" dirty="0">
                <a:latin typeface="Arial" panose="020B0604020202020204" pitchFamily="34" charset="0"/>
                <a:cs typeface="Arial" panose="020B0604020202020204" pitchFamily="34" charset="0"/>
              </a:rPr>
              <a:t>, a forest ranger and his third wife, </a:t>
            </a:r>
            <a:r>
              <a:rPr lang="en-US" b="0" i="0" u="none" strike="noStrike" baseline="0" dirty="0" err="1">
                <a:latin typeface="Arial" panose="020B0604020202020204" pitchFamily="34" charset="0"/>
                <a:cs typeface="Arial" panose="020B0604020202020204" pitchFamily="34" charset="0"/>
              </a:rPr>
              <a:t>Widu</a:t>
            </a:r>
            <a:r>
              <a:rPr lang="en-US" b="0" i="0" u="none" strike="noStrike" baseline="0" dirty="0">
                <a:latin typeface="Arial" panose="020B0604020202020204" pitchFamily="34" charset="0"/>
                <a:cs typeface="Arial" panose="020B0604020202020204" pitchFamily="34" charset="0"/>
              </a:rPr>
              <a:t>. He was married </a:t>
            </a:r>
            <a:r>
              <a:rPr lang="en-GB" b="0" i="0" u="none" strike="noStrike" baseline="0" dirty="0">
                <a:latin typeface="Arial" panose="020B0604020202020204" pitchFamily="34" charset="0"/>
                <a:cs typeface="Arial" panose="020B0604020202020204" pitchFamily="34" charset="0"/>
              </a:rPr>
              <a:t>to Maria </a:t>
            </a:r>
            <a:r>
              <a:rPr lang="en-GB" b="0" i="0" u="none" strike="noStrike" baseline="0" dirty="0" err="1">
                <a:latin typeface="Arial" panose="020B0604020202020204" pitchFamily="34" charset="0"/>
                <a:cs typeface="Arial" panose="020B0604020202020204" pitchFamily="34" charset="0"/>
              </a:rPr>
              <a:t>Saro</a:t>
            </a:r>
            <a:r>
              <a:rPr lang="en-GB" b="0" i="0" u="none" strike="noStrike" baseline="0" dirty="0">
                <a:latin typeface="Arial" panose="020B0604020202020204" pitchFamily="34" charset="0"/>
                <a:cs typeface="Arial" panose="020B0604020202020204" pitchFamily="34" charset="0"/>
              </a:rPr>
              <a:t>.</a:t>
            </a:r>
          </a:p>
          <a:p>
            <a:pPr algn="just"/>
            <a:r>
              <a:rPr lang="en-US" b="0" i="0" u="none" strike="noStrike" baseline="0" dirty="0">
                <a:latin typeface="Arial" panose="020B0604020202020204" pitchFamily="34" charset="0"/>
                <a:cs typeface="Arial" panose="020B0604020202020204" pitchFamily="34" charset="0"/>
              </a:rPr>
              <a:t>Ken </a:t>
            </a:r>
            <a:r>
              <a:rPr lang="en-US" b="0" i="0" u="none" strike="noStrike" baseline="0" dirty="0" err="1">
                <a:latin typeface="Arial" panose="020B0604020202020204" pitchFamily="34" charset="0"/>
                <a:cs typeface="Arial" panose="020B0604020202020204" pitchFamily="34" charset="0"/>
              </a:rPr>
              <a:t>Saro</a:t>
            </a:r>
            <a:r>
              <a:rPr lang="en-US" b="0" i="0" u="none" strike="noStrike" baseline="0" dirty="0">
                <a:latin typeface="Arial" panose="020B0604020202020204" pitchFamily="34" charset="0"/>
                <a:cs typeface="Arial" panose="020B0604020202020204" pitchFamily="34" charset="0"/>
              </a:rPr>
              <a:t> </a:t>
            </a:r>
            <a:r>
              <a:rPr lang="en-US" b="0" i="0" u="none" strike="noStrike" baseline="0" dirty="0" err="1">
                <a:latin typeface="Arial" panose="020B0604020202020204" pitchFamily="34" charset="0"/>
                <a:cs typeface="Arial" panose="020B0604020202020204" pitchFamily="34" charset="0"/>
              </a:rPr>
              <a:t>Wiwa</a:t>
            </a:r>
            <a:r>
              <a:rPr lang="en-US" b="0" i="0" u="none" strike="noStrike" baseline="0" dirty="0">
                <a:latin typeface="Arial" panose="020B0604020202020204" pitchFamily="34" charset="0"/>
                <a:cs typeface="Arial" panose="020B0604020202020204" pitchFamily="34" charset="0"/>
              </a:rPr>
              <a:t> was a writer, an environmental activist. He showed exemplary courage in striving for civil, economic and environmental rights of the </a:t>
            </a:r>
            <a:r>
              <a:rPr lang="en-US" b="0" i="0" u="none" strike="noStrike" baseline="0" dirty="0" err="1">
                <a:latin typeface="Arial" panose="020B0604020202020204" pitchFamily="34" charset="0"/>
                <a:cs typeface="Arial" panose="020B0604020202020204" pitchFamily="34" charset="0"/>
              </a:rPr>
              <a:t>Ogori</a:t>
            </a:r>
            <a:r>
              <a:rPr lang="en-US" b="0" i="0" u="none" strike="noStrike" baseline="0" dirty="0">
                <a:latin typeface="Arial" panose="020B0604020202020204" pitchFamily="34" charset="0"/>
                <a:cs typeface="Arial" panose="020B0604020202020204" pitchFamily="34" charset="0"/>
              </a:rPr>
              <a:t> people, an ethnic minority in Nigeria, whose homeland is the source of Nigeria’s crude oil extraction and which has suffered neglect by the ruling government.</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7915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9E19-73AB-490E-B2A8-A91A443DE326}"/>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AUTHOR</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4BA78F7-A4D4-4C1B-906C-302ED9029BAE}"/>
              </a:ext>
            </a:extLst>
          </p:cNvPr>
          <p:cNvSpPr>
            <a:spLocks noGrp="1"/>
          </p:cNvSpPr>
          <p:nvPr>
            <p:ph idx="1"/>
          </p:nvPr>
        </p:nvSpPr>
        <p:spPr/>
        <p:txBody>
          <a:bodyPr>
            <a:noAutofit/>
          </a:bodyPr>
          <a:lstStyle/>
          <a:p>
            <a:pPr algn="just"/>
            <a:r>
              <a:rPr lang="en-US" b="0" i="0" u="none" strike="noStrike" baseline="0" dirty="0">
                <a:latin typeface="Arial" panose="020B0604020202020204" pitchFamily="34" charset="0"/>
                <a:cs typeface="Arial" panose="020B0604020202020204" pitchFamily="34" charset="0"/>
              </a:rPr>
              <a:t>Initially as spokesperson and then as President of the movement for the Survival of the Ogoni People(MOSOP), </a:t>
            </a:r>
            <a:r>
              <a:rPr lang="en-US" b="0" i="0" u="none" strike="noStrike" baseline="0" dirty="0" err="1">
                <a:latin typeface="Arial" panose="020B0604020202020204" pitchFamily="34" charset="0"/>
                <a:cs typeface="Arial" panose="020B0604020202020204" pitchFamily="34" charset="0"/>
              </a:rPr>
              <a:t>Saro-Wiwa</a:t>
            </a:r>
            <a:r>
              <a:rPr lang="en-US" b="0" i="0" u="none" strike="noStrike" baseline="0" dirty="0">
                <a:latin typeface="Arial" panose="020B0604020202020204" pitchFamily="34" charset="0"/>
                <a:cs typeface="Arial" panose="020B0604020202020204" pitchFamily="34" charset="0"/>
              </a:rPr>
              <a:t> led a non-violent campaign against environmental degradation of the land and waters of </a:t>
            </a:r>
            <a:r>
              <a:rPr lang="en-US" b="0" i="0" u="none" strike="noStrike" baseline="0" dirty="0" err="1">
                <a:latin typeface="Arial" panose="020B0604020202020204" pitchFamily="34" charset="0"/>
                <a:cs typeface="Arial" panose="020B0604020202020204" pitchFamily="34" charset="0"/>
              </a:rPr>
              <a:t>Ogoniland</a:t>
            </a:r>
            <a:r>
              <a:rPr lang="en-US" b="0" i="0" u="none" strike="noStrike" baseline="0" dirty="0">
                <a:latin typeface="Arial" panose="020B0604020202020204" pitchFamily="34" charset="0"/>
                <a:cs typeface="Arial" panose="020B0604020202020204" pitchFamily="34" charset="0"/>
              </a:rPr>
              <a:t> by the Royal Dutch Shell Company. He was also an outspoken critic of the Nigeria government which he viewed as reluctant to enforce environmental regulations on foreign petroleum companies</a:t>
            </a:r>
            <a:r>
              <a:rPr lang="en-GB" b="0" i="0" u="none" strike="noStrike" baseline="0" dirty="0">
                <a:latin typeface="Arial" panose="020B0604020202020204" pitchFamily="34" charset="0"/>
                <a:cs typeface="Arial" panose="020B0604020202020204" pitchFamily="34" charset="0"/>
              </a:rPr>
              <a:t>.</a:t>
            </a:r>
          </a:p>
          <a:p>
            <a:pPr algn="just"/>
            <a:r>
              <a:rPr lang="en-US" b="0" i="0" u="none" strike="noStrike" baseline="0" dirty="0">
                <a:latin typeface="Arial" panose="020B0604020202020204" pitchFamily="34" charset="0"/>
                <a:cs typeface="Arial" panose="020B0604020202020204" pitchFamily="34" charset="0"/>
              </a:rPr>
              <a:t>The military dictatorship led by General Sani Abacha had him arrested after he was accused of masterminding the gruesome murder of four Ogoni chiefs at a pro-government meeting. He was executed by hanging on 10th November, 1995 at Port Harcourt at the age of 54.</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324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SYNOPSIS</a:t>
            </a:r>
          </a:p>
        </p:txBody>
      </p:sp>
      <p:sp>
        <p:nvSpPr>
          <p:cNvPr id="3" name="Content Placeholder 2"/>
          <p:cNvSpPr>
            <a:spLocks noGrp="1"/>
          </p:cNvSpPr>
          <p:nvPr>
            <p:ph idx="1"/>
          </p:nvPr>
        </p:nvSpPr>
        <p:spPr/>
        <p:txBody>
          <a:bodyPr>
            <a:normAutofit/>
          </a:bodyPr>
          <a:lstStyle/>
          <a:p>
            <a:pPr algn="just"/>
            <a:r>
              <a:rPr lang="en-US" b="0" i="0" u="none" strike="noStrike" baseline="0" dirty="0">
                <a:latin typeface="Arial" panose="020B0604020202020204" pitchFamily="34" charset="0"/>
                <a:cs typeface="Arial" panose="020B0604020202020204" pitchFamily="34" charset="0"/>
              </a:rPr>
              <a:t>‘Home Sweet Home’ is a story about a young, educated Nigerian girl returning home to her native village, </a:t>
            </a:r>
            <a:r>
              <a:rPr lang="en-US" b="0" i="0" u="none" strike="noStrike" baseline="0" dirty="0" err="1">
                <a:latin typeface="Arial" panose="020B0604020202020204" pitchFamily="34" charset="0"/>
                <a:cs typeface="Arial" panose="020B0604020202020204" pitchFamily="34" charset="0"/>
              </a:rPr>
              <a:t>Dukana</a:t>
            </a:r>
            <a:r>
              <a:rPr lang="en-US" b="0" i="0" u="none" strike="noStrike" baseline="0" dirty="0">
                <a:latin typeface="Arial" panose="020B0604020202020204" pitchFamily="34" charset="0"/>
                <a:cs typeface="Arial" panose="020B0604020202020204" pitchFamily="34" charset="0"/>
              </a:rPr>
              <a:t>, after concluding her studies in the city. Her aim is to be a teacher in her alma mater, St. Dominic’s school because she believes in giving back her services to the community.</a:t>
            </a:r>
          </a:p>
          <a:p>
            <a:pPr algn="just"/>
            <a:r>
              <a:rPr lang="en-US" b="0" i="0" u="none" strike="noStrike" baseline="0" dirty="0">
                <a:latin typeface="Arial" panose="020B0604020202020204" pitchFamily="34" charset="0"/>
                <a:cs typeface="Arial" panose="020B0604020202020204" pitchFamily="34" charset="0"/>
              </a:rPr>
              <a:t>During the long journey home, she reminisces about her mother and her childhood friend, Sira. </a:t>
            </a:r>
          </a:p>
          <a:p>
            <a:pPr algn="just"/>
            <a:r>
              <a:rPr lang="en-US" b="0" i="0" u="none" strike="noStrike" baseline="0" dirty="0">
                <a:latin typeface="Arial" panose="020B0604020202020204" pitchFamily="34" charset="0"/>
                <a:cs typeface="Arial" panose="020B0604020202020204" pitchFamily="34" charset="0"/>
              </a:rPr>
              <a:t>The narrator becomes helpless to find that her best friend, Sira had given birth to twins who had died and that she had been driven from the village for bearing twins.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3122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 TITLE</a:t>
            </a:r>
          </a:p>
        </p:txBody>
      </p:sp>
      <p:sp>
        <p:nvSpPr>
          <p:cNvPr id="3" name="Content Placeholder 2"/>
          <p:cNvSpPr>
            <a:spLocks noGrp="1"/>
          </p:cNvSpPr>
          <p:nvPr>
            <p:ph idx="1"/>
          </p:nvPr>
        </p:nvSpPr>
        <p:spPr/>
        <p:txBody>
          <a:bodyPr/>
          <a:lstStyle/>
          <a:p>
            <a:pPr algn="just"/>
            <a:r>
              <a:rPr lang="en-GB" dirty="0">
                <a:latin typeface="Arial" panose="020B0604020202020204" pitchFamily="34" charset="0"/>
                <a:cs typeface="Arial" panose="020B0604020202020204" pitchFamily="34" charset="0"/>
              </a:rPr>
              <a:t>There are two levels at which we can take the title: literal and ironical</a:t>
            </a:r>
          </a:p>
          <a:p>
            <a:pPr algn="just"/>
            <a:r>
              <a:rPr lang="en-GB" dirty="0">
                <a:latin typeface="Arial" panose="020B0604020202020204" pitchFamily="34" charset="0"/>
                <a:cs typeface="Arial" panose="020B0604020202020204" pitchFamily="34" charset="0"/>
              </a:rPr>
              <a:t>Literally, for everyone who comes from </a:t>
            </a:r>
            <a:r>
              <a:rPr lang="en-GB" dirty="0" err="1">
                <a:latin typeface="Arial" panose="020B0604020202020204" pitchFamily="34" charset="0"/>
                <a:cs typeface="Arial" panose="020B0604020202020204" pitchFamily="34" charset="0"/>
              </a:rPr>
              <a:t>Dukana</a:t>
            </a:r>
            <a:r>
              <a:rPr lang="en-GB" dirty="0">
                <a:latin typeface="Arial" panose="020B0604020202020204" pitchFamily="34" charset="0"/>
                <a:cs typeface="Arial" panose="020B0604020202020204" pitchFamily="34" charset="0"/>
              </a:rPr>
              <a:t>, home is home which ‘means that it is far better than all those places you have visited or read about … and its mud houses greater and more beautiful than the palaces of kings and queens of other lands. </a:t>
            </a:r>
          </a:p>
          <a:p>
            <a:pPr algn="just"/>
            <a:r>
              <a:rPr lang="en-GB" dirty="0">
                <a:latin typeface="Arial" panose="020B0604020202020204" pitchFamily="34" charset="0"/>
                <a:cs typeface="Arial" panose="020B0604020202020204" pitchFamily="34" charset="0"/>
              </a:rPr>
              <a:t>In the story, however, </a:t>
            </a:r>
            <a:r>
              <a:rPr lang="en-GB" dirty="0" err="1">
                <a:latin typeface="Arial" panose="020B0604020202020204" pitchFamily="34" charset="0"/>
                <a:cs typeface="Arial" panose="020B0604020202020204" pitchFamily="34" charset="0"/>
              </a:rPr>
              <a:t>Dukana</a:t>
            </a:r>
            <a:r>
              <a:rPr lang="en-GB" dirty="0">
                <a:latin typeface="Arial" panose="020B0604020202020204" pitchFamily="34" charset="0"/>
                <a:cs typeface="Arial" panose="020B0604020202020204" pitchFamily="34" charset="0"/>
              </a:rPr>
              <a:t> does not have many positives and this makes the title ironical.</a:t>
            </a:r>
          </a:p>
        </p:txBody>
      </p:sp>
    </p:spTree>
    <p:extLst>
      <p:ext uri="{BB962C8B-B14F-4D97-AF65-F5344CB8AC3E}">
        <p14:creationId xmlns:p14="http://schemas.microsoft.com/office/powerpoint/2010/main" val="1507050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THEMES</a:t>
            </a:r>
          </a:p>
        </p:txBody>
      </p:sp>
      <p:sp>
        <p:nvSpPr>
          <p:cNvPr id="3" name="Content Placeholder 2"/>
          <p:cNvSpPr>
            <a:spLocks noGrp="1"/>
          </p:cNvSpPr>
          <p:nvPr>
            <p:ph idx="1"/>
          </p:nvPr>
        </p:nvSpPr>
        <p:spPr/>
        <p:txBody>
          <a:bodyPr>
            <a:normAutofit fontScale="92500" lnSpcReduction="10000"/>
          </a:bodyPr>
          <a:lstStyle/>
          <a:p>
            <a:pPr algn="just"/>
            <a:r>
              <a:rPr lang="en-GB" dirty="0">
                <a:latin typeface="Arial" panose="020B0604020202020204" pitchFamily="34" charset="0"/>
                <a:cs typeface="Arial" panose="020B0604020202020204" pitchFamily="34" charset="0"/>
              </a:rPr>
              <a:t>There is no place like home is a dominant theme of the story. We should express pride and satisfaction with wherever we come from. The young lady shows this trait by deciding to come back and help her people.</a:t>
            </a:r>
          </a:p>
          <a:p>
            <a:pPr algn="just"/>
            <a:r>
              <a:rPr lang="en-GB" dirty="0">
                <a:latin typeface="Arial" panose="020B0604020202020204" pitchFamily="34" charset="0"/>
                <a:cs typeface="Arial" panose="020B0604020202020204" pitchFamily="34" charset="0"/>
              </a:rPr>
              <a:t>The story expresses the positives of traditional culture. The communal aspects of the culture has been emphasised positively. The pride with which the people of </a:t>
            </a:r>
            <a:r>
              <a:rPr lang="en-GB" dirty="0" err="1">
                <a:latin typeface="Arial" panose="020B0604020202020204" pitchFamily="34" charset="0"/>
                <a:cs typeface="Arial" panose="020B0604020202020204" pitchFamily="34" charset="0"/>
              </a:rPr>
              <a:t>Dukana</a:t>
            </a:r>
            <a:r>
              <a:rPr lang="en-GB" dirty="0">
                <a:latin typeface="Arial" panose="020B0604020202020204" pitchFamily="34" charset="0"/>
                <a:cs typeface="Arial" panose="020B0604020202020204" pitchFamily="34" charset="0"/>
              </a:rPr>
              <a:t> talk about their village. The river which is the people’s source of drinking water has been deified.</a:t>
            </a:r>
          </a:p>
          <a:p>
            <a:pPr algn="just"/>
            <a:r>
              <a:rPr lang="en-GB" dirty="0">
                <a:latin typeface="Arial" panose="020B0604020202020204" pitchFamily="34" charset="0"/>
                <a:cs typeface="Arial" panose="020B0604020202020204" pitchFamily="34" charset="0"/>
              </a:rPr>
              <a:t>The negatives: The case of twins and their mother has been highlighted. School girls who are withdrawn from school to go and produce children is also remarked on.</a:t>
            </a:r>
          </a:p>
        </p:txBody>
      </p:sp>
    </p:spTree>
    <p:extLst>
      <p:ext uri="{BB962C8B-B14F-4D97-AF65-F5344CB8AC3E}">
        <p14:creationId xmlns:p14="http://schemas.microsoft.com/office/powerpoint/2010/main" val="3158617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2EBA-2E98-4BC9-BC5E-A45C0E4827E8}"/>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49D39BD-4EE1-42B2-A0A8-BA7DAD34BEE2}"/>
              </a:ext>
            </a:extLst>
          </p:cNvPr>
          <p:cNvSpPr>
            <a:spLocks noGrp="1"/>
          </p:cNvSpPr>
          <p:nvPr>
            <p:ph idx="1"/>
          </p:nvPr>
        </p:nvSpPr>
        <p:spPr/>
        <p:txBody>
          <a:bodyPr/>
          <a:lstStyle/>
          <a:p>
            <a:pPr algn="just"/>
            <a:r>
              <a:rPr lang="en-GB" dirty="0">
                <a:latin typeface="Arial" panose="020B0604020202020204" pitchFamily="34" charset="0"/>
                <a:cs typeface="Arial" panose="020B0604020202020204" pitchFamily="34" charset="0"/>
              </a:rPr>
              <a:t>The story is also about the exploitation of natural resources without a corresponding improvement of the lives of the people.</a:t>
            </a:r>
          </a:p>
          <a:p>
            <a:pPr algn="just"/>
            <a:r>
              <a:rPr lang="en-GB" dirty="0">
                <a:latin typeface="Arial" panose="020B0604020202020204" pitchFamily="34" charset="0"/>
                <a:cs typeface="Arial" panose="020B0604020202020204" pitchFamily="34" charset="0"/>
              </a:rPr>
              <a:t>The story also balances development with ecological preservation.</a:t>
            </a:r>
          </a:p>
          <a:p>
            <a:pPr algn="just"/>
            <a:r>
              <a:rPr lang="en-US" sz="2800" b="0" i="0" u="none" strike="noStrike" baseline="0" dirty="0">
                <a:latin typeface="Roboto-Regular"/>
              </a:rPr>
              <a:t>‘Home Sweet Home’ also explores the issue of service to one’s community. This is portrayed by the narrator’s enthusiasm about returning home to teach. </a:t>
            </a:r>
          </a:p>
          <a:p>
            <a:pPr algn="just"/>
            <a:r>
              <a:rPr lang="en-US" sz="2800" b="0" i="0" u="none" strike="noStrike" baseline="0" dirty="0">
                <a:latin typeface="Roboto-Regular"/>
              </a:rPr>
              <a:t>Again, the narrator is seen as agent of change ‘You’re going to change the life of the </a:t>
            </a:r>
            <a:r>
              <a:rPr lang="en-GB" sz="2800" b="0" i="0" u="none" strike="noStrike" baseline="0" dirty="0">
                <a:latin typeface="Roboto-Regular"/>
              </a:rPr>
              <a:t>women in </a:t>
            </a:r>
            <a:r>
              <a:rPr lang="en-GB" sz="2800" b="0" i="0" u="none" strike="noStrike" baseline="0" dirty="0" err="1">
                <a:latin typeface="Roboto-Regular"/>
              </a:rPr>
              <a:t>Dukana</a:t>
            </a:r>
            <a:r>
              <a:rPr lang="en-GB" sz="2800" b="0" i="0" u="none" strike="noStrike" baseline="0" dirty="0">
                <a:latin typeface="Roboto-Regular"/>
              </a:rPr>
              <a:t>’.</a:t>
            </a:r>
            <a:endParaRPr lang="en-GB"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3152458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BC44D-9B98-4098-80AB-451AC2F32E9A}"/>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SETTING</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BEC232B-1655-41CC-8D65-FFC36E9E6930}"/>
              </a:ext>
            </a:extLst>
          </p:cNvPr>
          <p:cNvSpPr>
            <a:spLocks noGrp="1"/>
          </p:cNvSpPr>
          <p:nvPr>
            <p:ph idx="1"/>
          </p:nvPr>
        </p:nvSpPr>
        <p:spPr/>
        <p:txBody>
          <a:bodyPr>
            <a:normAutofit/>
          </a:bodyPr>
          <a:lstStyle/>
          <a:p>
            <a:pPr algn="just"/>
            <a:r>
              <a:rPr lang="en-US" b="0" i="0" u="none" strike="noStrike" baseline="0" dirty="0">
                <a:latin typeface="Arial" panose="020B0604020202020204" pitchFamily="34" charset="0"/>
                <a:cs typeface="Arial" panose="020B0604020202020204" pitchFamily="34" charset="0"/>
              </a:rPr>
              <a:t>The story is set in a village called </a:t>
            </a:r>
            <a:r>
              <a:rPr lang="en-US" b="0" i="0" u="none" strike="noStrike" baseline="0" dirty="0" err="1">
                <a:latin typeface="Arial" panose="020B0604020202020204" pitchFamily="34" charset="0"/>
                <a:cs typeface="Arial" panose="020B0604020202020204" pitchFamily="34" charset="0"/>
              </a:rPr>
              <a:t>Dukana</a:t>
            </a:r>
            <a:r>
              <a:rPr lang="en-US" b="0" i="0" u="none" strike="noStrike" baseline="0" dirty="0">
                <a:latin typeface="Arial" panose="020B0604020202020204" pitchFamily="34" charset="0"/>
                <a:cs typeface="Arial" panose="020B0604020202020204" pitchFamily="34" charset="0"/>
              </a:rPr>
              <a:t> in Nigeria during the post-colonial period. It is set in the tropical rain forest of the Niger Delta area of Nigeria. It has a population of about three to four thousand people living in poor and deprived conditions. </a:t>
            </a:r>
          </a:p>
          <a:p>
            <a:pPr algn="just"/>
            <a:r>
              <a:rPr lang="en-US" b="0" i="0" u="none" strike="noStrike" baseline="0" dirty="0">
                <a:latin typeface="Arial" panose="020B0604020202020204" pitchFamily="34" charset="0"/>
                <a:cs typeface="Arial" panose="020B0604020202020204" pitchFamily="34" charset="0"/>
              </a:rPr>
              <a:t>The natives are emaciated, illiterate and suffer from malnutrition and disease. They are deprived of social amenities such as a clinic, a good school, pipe-borne water and electricity. Their lives are said to be nasty, brutish and short. </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733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TECHNIQUES</a:t>
            </a:r>
          </a:p>
        </p:txBody>
      </p:sp>
      <p:sp>
        <p:nvSpPr>
          <p:cNvPr id="3" name="Content Placeholder 2"/>
          <p:cNvSpPr>
            <a:spLocks noGrp="1"/>
          </p:cNvSpPr>
          <p:nvPr>
            <p:ph idx="1"/>
          </p:nvPr>
        </p:nvSpPr>
        <p:spPr/>
        <p:txBody>
          <a:bodyPr>
            <a:normAutofit/>
          </a:bodyPr>
          <a:lstStyle/>
          <a:p>
            <a:pPr algn="just"/>
            <a:r>
              <a:rPr lang="en-GB" sz="2400" dirty="0">
                <a:latin typeface="Arial" panose="020B0604020202020204" pitchFamily="34" charset="0"/>
                <a:cs typeface="Arial" panose="020B0604020202020204" pitchFamily="34" charset="0"/>
              </a:rPr>
              <a:t>The vehicle which connects the village with the outside world is named </a:t>
            </a:r>
            <a:r>
              <a:rPr lang="en-GB" sz="2400" dirty="0" err="1">
                <a:latin typeface="Arial" panose="020B0604020202020204" pitchFamily="34" charset="0"/>
                <a:cs typeface="Arial" panose="020B0604020202020204" pitchFamily="34" charset="0"/>
              </a:rPr>
              <a:t>Progres</a:t>
            </a:r>
            <a:r>
              <a:rPr lang="en-GB" sz="2400" dirty="0">
                <a:latin typeface="Arial" panose="020B0604020202020204" pitchFamily="34" charset="0"/>
                <a:cs typeface="Arial" panose="020B0604020202020204" pitchFamily="34" charset="0"/>
              </a:rPr>
              <a:t>. I</a:t>
            </a:r>
            <a:r>
              <a:rPr lang="en-US" sz="2400" b="0" i="0" u="none" strike="noStrike" baseline="0" dirty="0">
                <a:latin typeface="Arial" panose="020B0604020202020204" pitchFamily="34" charset="0"/>
                <a:cs typeface="Arial" panose="020B0604020202020204" pitchFamily="34" charset="0"/>
              </a:rPr>
              <a:t>t is wrongly spelt to draw attention to the fact that development is not complete in the village. ‘</a:t>
            </a:r>
            <a:r>
              <a:rPr lang="en-US" sz="2400" b="0" i="0" u="none" strike="noStrike" baseline="0" dirty="0" err="1">
                <a:latin typeface="Arial" panose="020B0604020202020204" pitchFamily="34" charset="0"/>
                <a:cs typeface="Arial" panose="020B0604020202020204" pitchFamily="34" charset="0"/>
              </a:rPr>
              <a:t>Progres</a:t>
            </a:r>
            <a:r>
              <a:rPr lang="en-US" sz="2400" b="0" i="0" u="none" strike="noStrike" baseline="0" dirty="0">
                <a:latin typeface="Arial" panose="020B0604020202020204" pitchFamily="34" charset="0"/>
                <a:cs typeface="Arial" panose="020B0604020202020204" pitchFamily="34" charset="0"/>
              </a:rPr>
              <a:t>’ therefore highlights the exact opposite of the original meaning intended</a:t>
            </a:r>
            <a:r>
              <a:rPr lang="en-GB" sz="2400" dirty="0">
                <a:latin typeface="Arial" panose="020B0604020202020204" pitchFamily="34" charset="0"/>
                <a:cs typeface="Arial" panose="020B0604020202020204" pitchFamily="34" charset="0"/>
              </a:rPr>
              <a:t>.</a:t>
            </a:r>
          </a:p>
          <a:p>
            <a:pPr algn="just"/>
            <a:r>
              <a:rPr lang="en-GB" sz="2400" dirty="0">
                <a:latin typeface="Arial" panose="020B0604020202020204" pitchFamily="34" charset="0"/>
                <a:cs typeface="Arial" panose="020B0604020202020204" pitchFamily="34" charset="0"/>
              </a:rPr>
              <a:t>The story has been told from the first person point of view. The main character tells her own story and she is objective in her narration.</a:t>
            </a:r>
          </a:p>
          <a:p>
            <a:pPr algn="just"/>
            <a:r>
              <a:rPr lang="en-GB" sz="2400" dirty="0">
                <a:latin typeface="Arial" panose="020B0604020202020204" pitchFamily="34" charset="0"/>
                <a:cs typeface="Arial" panose="020B0604020202020204" pitchFamily="34" charset="0"/>
              </a:rPr>
              <a:t>There is contrast between </a:t>
            </a:r>
            <a:r>
              <a:rPr lang="en-GB" sz="2400" dirty="0" err="1">
                <a:latin typeface="Arial" panose="020B0604020202020204" pitchFamily="34" charset="0"/>
                <a:cs typeface="Arial" panose="020B0604020202020204" pitchFamily="34" charset="0"/>
              </a:rPr>
              <a:t>Dukana</a:t>
            </a:r>
            <a:r>
              <a:rPr lang="en-GB" sz="2400" dirty="0">
                <a:latin typeface="Arial" panose="020B0604020202020204" pitchFamily="34" charset="0"/>
                <a:cs typeface="Arial" panose="020B0604020202020204" pitchFamily="34" charset="0"/>
              </a:rPr>
              <a:t> and other places and the educated lady and her friend whose education is truncated. The educated one is yet to have a baby while her friend already had four and was pregnant at the last visit. While the educated one has had exposure to civilization, the other had remained and had even been banished further inland across the river.</a:t>
            </a:r>
          </a:p>
        </p:txBody>
      </p:sp>
    </p:spTree>
    <p:extLst>
      <p:ext uri="{BB962C8B-B14F-4D97-AF65-F5344CB8AC3E}">
        <p14:creationId xmlns:p14="http://schemas.microsoft.com/office/powerpoint/2010/main" val="276578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TECHNIQUES</a:t>
            </a:r>
          </a:p>
        </p:txBody>
      </p:sp>
      <p:sp>
        <p:nvSpPr>
          <p:cNvPr id="3" name="Content Placeholder 2"/>
          <p:cNvSpPr>
            <a:spLocks noGrp="1"/>
          </p:cNvSpPr>
          <p:nvPr>
            <p:ph idx="1"/>
          </p:nvPr>
        </p:nvSpPr>
        <p:spPr/>
        <p:txBody>
          <a:bodyPr/>
          <a:lstStyle/>
          <a:p>
            <a:pPr algn="just"/>
            <a:r>
              <a:rPr lang="en-GB" dirty="0">
                <a:latin typeface="Arial" panose="020B0604020202020204" pitchFamily="34" charset="0"/>
                <a:cs typeface="Arial" panose="020B0604020202020204" pitchFamily="34" charset="0"/>
              </a:rPr>
              <a:t>There is the stream of consciousness technique through which the reader is installed in the mind of the character and we get to know what she is thinking.</a:t>
            </a:r>
          </a:p>
          <a:p>
            <a:pPr algn="just"/>
            <a:r>
              <a:rPr lang="en-GB" dirty="0">
                <a:latin typeface="Arial" panose="020B0604020202020204" pitchFamily="34" charset="0"/>
                <a:cs typeface="Arial" panose="020B0604020202020204" pitchFamily="34" charset="0"/>
              </a:rPr>
              <a:t>The language is simple and highly decorated. There are many figures of speech and other language devices. ‘</a:t>
            </a:r>
            <a:r>
              <a:rPr lang="en-GB" dirty="0" err="1">
                <a:latin typeface="Arial" panose="020B0604020202020204" pitchFamily="34" charset="0"/>
                <a:cs typeface="Arial" panose="020B0604020202020204" pitchFamily="34" charset="0"/>
              </a:rPr>
              <a:t>Progres</a:t>
            </a:r>
            <a:r>
              <a:rPr lang="en-GB" dirty="0">
                <a:latin typeface="Arial" panose="020B0604020202020204" pitchFamily="34" charset="0"/>
                <a:cs typeface="Arial" panose="020B0604020202020204" pitchFamily="34" charset="0"/>
              </a:rPr>
              <a:t> spluttered lazily … ailing man. The opposites in the first paragraph of the second page. Then there are rhetorical questions and apt descriptions.</a:t>
            </a:r>
          </a:p>
          <a:p>
            <a:pPr algn="just"/>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42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FEA8-BFDA-4803-8372-C030D9400270}"/>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FIGURES OF SPEECH</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2AC9CC8-48F3-4190-879B-9AF1B871D360}"/>
              </a:ext>
            </a:extLst>
          </p:cNvPr>
          <p:cNvSpPr>
            <a:spLocks noGrp="1"/>
          </p:cNvSpPr>
          <p:nvPr>
            <p:ph idx="1"/>
          </p:nvPr>
        </p:nvSpPr>
        <p:spPr/>
        <p:txBody>
          <a:bodyPr>
            <a:normAutofit lnSpcReduction="10000"/>
          </a:bodyPr>
          <a:lstStyle/>
          <a:p>
            <a:r>
              <a:rPr lang="en-US" dirty="0"/>
              <a:t>Hyperbole: </a:t>
            </a:r>
            <a:r>
              <a:rPr lang="en-US" sz="2400" b="0" i="0" u="none" strike="noStrike" baseline="0" dirty="0">
                <a:latin typeface="Arial" panose="020B0604020202020204" pitchFamily="34" charset="0"/>
                <a:cs typeface="Arial" panose="020B0604020202020204" pitchFamily="34" charset="0"/>
              </a:rPr>
              <a:t>I should think </a:t>
            </a:r>
            <a:r>
              <a:rPr lang="en-US" sz="2400" b="0" i="0" u="none" strike="noStrike" baseline="0" dirty="0" err="1">
                <a:latin typeface="Arial" panose="020B0604020202020204" pitchFamily="34" charset="0"/>
                <a:cs typeface="Arial" panose="020B0604020202020204" pitchFamily="34" charset="0"/>
              </a:rPr>
              <a:t>Dukana</a:t>
            </a:r>
            <a:r>
              <a:rPr lang="en-US" sz="2400" b="0" i="0" u="none" strike="noStrike" baseline="0" dirty="0">
                <a:latin typeface="Arial" panose="020B0604020202020204" pitchFamily="34" charset="0"/>
                <a:cs typeface="Arial" panose="020B0604020202020204" pitchFamily="34" charset="0"/>
              </a:rPr>
              <a:t> will be floating on a sea of wealth.</a:t>
            </a:r>
          </a:p>
          <a:p>
            <a:pPr algn="l"/>
            <a:r>
              <a:rPr lang="en-US" sz="2400" dirty="0">
                <a:latin typeface="Arial" panose="020B0604020202020204" pitchFamily="34" charset="0"/>
                <a:cs typeface="Arial" panose="020B0604020202020204" pitchFamily="34" charset="0"/>
              </a:rPr>
              <a:t>Personification: </a:t>
            </a:r>
            <a:r>
              <a:rPr lang="en-US" sz="2400" b="0" i="0" u="none" strike="noStrike" baseline="0" dirty="0">
                <a:latin typeface="Arial" panose="020B0604020202020204" pitchFamily="34" charset="0"/>
                <a:cs typeface="Arial" panose="020B0604020202020204" pitchFamily="34" charset="0"/>
              </a:rPr>
              <a:t>… darkness </a:t>
            </a:r>
            <a:r>
              <a:rPr lang="en-US" sz="2400" b="0" i="0" u="sng" strike="noStrike" baseline="0" dirty="0">
                <a:latin typeface="Arial" panose="020B0604020202020204" pitchFamily="34" charset="0"/>
                <a:cs typeface="Arial" panose="020B0604020202020204" pitchFamily="34" charset="0"/>
              </a:rPr>
              <a:t>swallowing</a:t>
            </a:r>
            <a:r>
              <a:rPr lang="en-US" sz="2400" b="0" i="0" u="none" strike="noStrike" baseline="0" dirty="0">
                <a:latin typeface="Arial" panose="020B0604020202020204" pitchFamily="34" charset="0"/>
                <a:cs typeface="Arial" panose="020B0604020202020204" pitchFamily="34" charset="0"/>
              </a:rPr>
              <a:t> them as they disappeared from Mama’s </a:t>
            </a:r>
            <a:r>
              <a:rPr lang="en-GB" sz="2400" b="0" i="0" u="none" strike="noStrike" baseline="0" dirty="0">
                <a:latin typeface="Arial" panose="020B0604020202020204" pitchFamily="34" charset="0"/>
                <a:cs typeface="Arial" panose="020B0604020202020204" pitchFamily="34" charset="0"/>
              </a:rPr>
              <a:t>house.</a:t>
            </a:r>
          </a:p>
          <a:p>
            <a:pPr algn="just"/>
            <a:r>
              <a:rPr lang="en-US" sz="2400" b="0" i="0" u="none" strike="noStrike" baseline="0" dirty="0">
                <a:latin typeface="Arial" panose="020B0604020202020204" pitchFamily="34" charset="0"/>
                <a:cs typeface="Arial" panose="020B0604020202020204" pitchFamily="34" charset="0"/>
              </a:rPr>
              <a:t>We drove past </a:t>
            </a:r>
            <a:r>
              <a:rPr lang="en-US" sz="2400" b="0" i="0" u="sng" strike="noStrike" baseline="0" dirty="0">
                <a:latin typeface="Arial" panose="020B0604020202020204" pitchFamily="34" charset="0"/>
                <a:cs typeface="Arial" panose="020B0604020202020204" pitchFamily="34" charset="0"/>
              </a:rPr>
              <a:t>sleepy</a:t>
            </a:r>
            <a:r>
              <a:rPr lang="en-US" sz="2400" b="0" i="0" u="none" strike="noStrike" baseline="0" dirty="0">
                <a:latin typeface="Arial" panose="020B0604020202020204" pitchFamily="34" charset="0"/>
                <a:cs typeface="Arial" panose="020B0604020202020204" pitchFamily="34" charset="0"/>
              </a:rPr>
              <a:t> little villages hacked out of the forest, </a:t>
            </a:r>
            <a:r>
              <a:rPr lang="en-US" sz="2400" b="0" i="0" u="sng" strike="noStrike" baseline="0" dirty="0">
                <a:latin typeface="Arial" panose="020B0604020202020204" pitchFamily="34" charset="0"/>
                <a:cs typeface="Arial" panose="020B0604020202020204" pitchFamily="34" charset="0"/>
              </a:rPr>
              <a:t>fondly embracing</a:t>
            </a:r>
            <a:r>
              <a:rPr lang="en-US" sz="2400" b="0" i="0" u="none" strike="noStrike" baseline="0" dirty="0">
                <a:latin typeface="Arial" panose="020B0604020202020204" pitchFamily="34" charset="0"/>
                <a:cs typeface="Arial" panose="020B0604020202020204" pitchFamily="34" charset="0"/>
              </a:rPr>
              <a:t> the earth and foliage.</a:t>
            </a:r>
          </a:p>
          <a:p>
            <a:pPr algn="just"/>
            <a:r>
              <a:rPr lang="en-GB" sz="2400" dirty="0">
                <a:latin typeface="Arial" panose="020B0604020202020204" pitchFamily="34" charset="0"/>
                <a:cs typeface="Arial" panose="020B0604020202020204" pitchFamily="34" charset="0"/>
              </a:rPr>
              <a:t>Contrast: There is</a:t>
            </a:r>
            <a:r>
              <a:rPr lang="en-US" sz="1800" b="0" i="0" u="none" strike="noStrike" baseline="0" dirty="0">
                <a:latin typeface="Roboto-Regular"/>
              </a:rPr>
              <a:t> </a:t>
            </a:r>
            <a:r>
              <a:rPr lang="en-US" sz="2400" b="0" i="0" u="none" strike="noStrike" baseline="0" dirty="0">
                <a:latin typeface="Arial" panose="020B0604020202020204" pitchFamily="34" charset="0"/>
                <a:cs typeface="Arial" panose="020B0604020202020204" pitchFamily="34" charset="0"/>
              </a:rPr>
              <a:t>contrast in the different classes of people the Narrator should tolerate. </a:t>
            </a:r>
            <a:r>
              <a:rPr lang="en-US" sz="2400" b="0" i="0" u="none" strike="noStrike" baseline="0" dirty="0" err="1">
                <a:latin typeface="Arial" panose="020B0604020202020204" pitchFamily="34" charset="0"/>
                <a:cs typeface="Arial" panose="020B0604020202020204" pitchFamily="34" charset="0"/>
              </a:rPr>
              <a:t>Eg</a:t>
            </a:r>
            <a:r>
              <a:rPr lang="en-US" sz="2400" b="0" i="0" u="none" strike="noStrike" baseline="0" dirty="0">
                <a:latin typeface="Arial" panose="020B0604020202020204" pitchFamily="34" charset="0"/>
                <a:cs typeface="Arial" panose="020B0604020202020204" pitchFamily="34" charset="0"/>
              </a:rPr>
              <a:t>; the rich/poor, the strong/weak, the ‘juju’ priest and the Christian evangelist, the wicked/kind.</a:t>
            </a:r>
          </a:p>
          <a:p>
            <a:pPr algn="just"/>
            <a:r>
              <a:rPr lang="en-US" sz="2400" dirty="0">
                <a:latin typeface="Arial" panose="020B0604020202020204" pitchFamily="34" charset="0"/>
                <a:cs typeface="Arial" panose="020B0604020202020204" pitchFamily="34" charset="0"/>
              </a:rPr>
              <a:t>Onomatopoeia: </a:t>
            </a:r>
            <a:r>
              <a:rPr lang="en-US" sz="2400" b="0" i="0" u="none" strike="noStrike" baseline="0" dirty="0">
                <a:latin typeface="Arial" panose="020B0604020202020204" pitchFamily="34" charset="0"/>
                <a:cs typeface="Arial" panose="020B0604020202020204" pitchFamily="34" charset="0"/>
              </a:rPr>
              <a:t>In the story, some words have been used in writing that contain sounds that are similar to noises they describe. </a:t>
            </a:r>
            <a:r>
              <a:rPr lang="en-GB" sz="2400" b="0" i="0" u="none" strike="noStrike" baseline="0" dirty="0">
                <a:latin typeface="Arial" panose="020B0604020202020204" pitchFamily="34" charset="0"/>
                <a:cs typeface="Arial" panose="020B0604020202020204" pitchFamily="34" charset="0"/>
              </a:rPr>
              <a:t>‘</a:t>
            </a:r>
            <a:r>
              <a:rPr lang="en-GB" sz="2400" b="0" i="0" u="none" strike="noStrike" baseline="0" dirty="0" err="1">
                <a:latin typeface="Arial" panose="020B0604020202020204" pitchFamily="34" charset="0"/>
                <a:cs typeface="Arial" panose="020B0604020202020204" pitchFamily="34" charset="0"/>
              </a:rPr>
              <a:t>Progres</a:t>
            </a:r>
            <a:r>
              <a:rPr lang="en-GB" sz="2400" b="0" i="0" u="none" strike="noStrike" baseline="0" dirty="0">
                <a:latin typeface="Arial" panose="020B0604020202020204" pitchFamily="34" charset="0"/>
                <a:cs typeface="Arial" panose="020B0604020202020204" pitchFamily="34" charset="0"/>
              </a:rPr>
              <a:t>’, spluttered lazily down… </a:t>
            </a:r>
            <a:r>
              <a:rPr lang="en-US" sz="2400" b="0" i="0" u="none" strike="noStrike" baseline="0" dirty="0">
                <a:latin typeface="Arial" panose="020B0604020202020204" pitchFamily="34" charset="0"/>
                <a:cs typeface="Arial" panose="020B0604020202020204" pitchFamily="34" charset="0"/>
              </a:rPr>
              <a:t>…hooting of owls, burping of toads, the humming of night birds.</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2871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CHARACTERS</a:t>
            </a:r>
          </a:p>
        </p:txBody>
      </p:sp>
      <p:sp>
        <p:nvSpPr>
          <p:cNvPr id="3" name="Content Placeholder 2"/>
          <p:cNvSpPr>
            <a:spLocks noGrp="1"/>
          </p:cNvSpPr>
          <p:nvPr>
            <p:ph idx="1"/>
          </p:nvPr>
        </p:nvSpPr>
        <p:spPr/>
        <p:txBody>
          <a:bodyPr>
            <a:noAutofit/>
          </a:bodyPr>
          <a:lstStyle/>
          <a:p>
            <a:pPr algn="just"/>
            <a:r>
              <a:rPr lang="en-US" b="0" i="0" u="none" strike="noStrike" baseline="0" dirty="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n</a:t>
            </a:r>
            <a:r>
              <a:rPr lang="en-US" b="0" i="0" u="none" strike="noStrike" baseline="0" dirty="0">
                <a:latin typeface="Arial" panose="020B0604020202020204" pitchFamily="34" charset="0"/>
                <a:cs typeface="Arial" panose="020B0604020202020204" pitchFamily="34" charset="0"/>
              </a:rPr>
              <a:t>arrator of the story is not mentioned by name.</a:t>
            </a:r>
          </a:p>
          <a:p>
            <a:pPr algn="just"/>
            <a:r>
              <a:rPr lang="en-US" b="0" i="0" u="none" strike="noStrike" baseline="0" dirty="0">
                <a:latin typeface="Arial" panose="020B0604020202020204" pitchFamily="34" charset="0"/>
                <a:cs typeface="Arial" panose="020B0604020202020204" pitchFamily="34" charset="0"/>
              </a:rPr>
              <a:t>Mama, the mother of the main character.</a:t>
            </a:r>
          </a:p>
          <a:p>
            <a:pPr algn="just"/>
            <a:r>
              <a:rPr lang="en-US" b="0" i="0" u="none" strike="noStrike" baseline="0" dirty="0">
                <a:latin typeface="Arial" panose="020B0604020202020204" pitchFamily="34" charset="0"/>
                <a:cs typeface="Arial" panose="020B0604020202020204" pitchFamily="34" charset="0"/>
              </a:rPr>
              <a:t>Sira, the main character’s best friend.</a:t>
            </a:r>
          </a:p>
          <a:p>
            <a:pPr algn="just"/>
            <a:r>
              <a:rPr lang="en-US" b="0" i="0" u="none" strike="noStrike" baseline="0" dirty="0" err="1">
                <a:latin typeface="Arial" panose="020B0604020202020204" pitchFamily="34" charset="0"/>
                <a:cs typeface="Arial" panose="020B0604020202020204" pitchFamily="34" charset="0"/>
              </a:rPr>
              <a:t>Waale</a:t>
            </a:r>
            <a:r>
              <a:rPr lang="en-US" b="0" i="0" u="none" strike="noStrike" baseline="0" dirty="0">
                <a:latin typeface="Arial" panose="020B0604020202020204" pitchFamily="34" charset="0"/>
                <a:cs typeface="Arial" panose="020B0604020202020204" pitchFamily="34" charset="0"/>
              </a:rPr>
              <a:t>, Sira’s mother. </a:t>
            </a:r>
          </a:p>
          <a:p>
            <a:pPr algn="just"/>
            <a:r>
              <a:rPr lang="en-US" b="0" i="0" u="none" strike="noStrike" baseline="0" dirty="0" err="1">
                <a:latin typeface="Arial" panose="020B0604020202020204" pitchFamily="34" charset="0"/>
                <a:cs typeface="Arial" panose="020B0604020202020204" pitchFamily="34" charset="0"/>
              </a:rPr>
              <a:t>Duzia</a:t>
            </a:r>
            <a:r>
              <a:rPr lang="en-US" b="0" i="0" u="none" strike="noStrike" baseline="0" dirty="0">
                <a:latin typeface="Arial" panose="020B0604020202020204" pitchFamily="34" charset="0"/>
                <a:cs typeface="Arial" panose="020B0604020202020204" pitchFamily="34" charset="0"/>
              </a:rPr>
              <a:t>- </a:t>
            </a:r>
            <a:r>
              <a:rPr lang="en-US" b="0" i="0" u="none" strike="noStrike" baseline="0">
                <a:latin typeface="Arial" panose="020B0604020202020204" pitchFamily="34" charset="0"/>
                <a:cs typeface="Arial" panose="020B0604020202020204" pitchFamily="34" charset="0"/>
              </a:rPr>
              <a:t>A physically </a:t>
            </a:r>
            <a:r>
              <a:rPr lang="en-US" b="0" i="0" u="none" strike="noStrike" baseline="0" dirty="0">
                <a:latin typeface="Arial" panose="020B0604020202020204" pitchFamily="34" charset="0"/>
                <a:cs typeface="Arial" panose="020B0604020202020204" pitchFamily="34" charset="0"/>
              </a:rPr>
              <a:t>challenged man who sits in </a:t>
            </a:r>
            <a:r>
              <a:rPr lang="en-US" b="0" i="0" u="none" strike="noStrike" baseline="0" dirty="0" err="1">
                <a:latin typeface="Arial" panose="020B0604020202020204" pitchFamily="34" charset="0"/>
                <a:cs typeface="Arial" panose="020B0604020202020204" pitchFamily="34" charset="0"/>
              </a:rPr>
              <a:t>Dukana</a:t>
            </a:r>
            <a:r>
              <a:rPr lang="en-US" b="0" i="0" u="none" strike="noStrike" baseline="0" dirty="0">
                <a:latin typeface="Arial" panose="020B0604020202020204" pitchFamily="34" charset="0"/>
                <a:cs typeface="Arial" panose="020B0604020202020204" pitchFamily="34" charset="0"/>
              </a:rPr>
              <a:t> town square. Very humorous and good natured.</a:t>
            </a:r>
          </a:p>
          <a:p>
            <a:pPr algn="just"/>
            <a:r>
              <a:rPr lang="en-GB" b="0" i="0" u="none" strike="noStrike" baseline="0" dirty="0">
                <a:latin typeface="Arial" panose="020B0604020202020204" pitchFamily="34" charset="0"/>
                <a:cs typeface="Arial" panose="020B0604020202020204" pitchFamily="34" charset="0"/>
              </a:rPr>
              <a:t>Bom- His friend.</a:t>
            </a:r>
          </a:p>
          <a:p>
            <a:pPr algn="just"/>
            <a:r>
              <a:rPr lang="en-US" b="0" i="0" u="none" strike="noStrike" baseline="0" dirty="0">
                <a:latin typeface="Arial" panose="020B0604020202020204" pitchFamily="34" charset="0"/>
                <a:cs typeface="Arial" panose="020B0604020202020204" pitchFamily="34" charset="0"/>
              </a:rPr>
              <a:t>The driver of “</a:t>
            </a:r>
            <a:r>
              <a:rPr lang="en-US" b="0" i="0" u="none" strike="noStrike" baseline="0" dirty="0" err="1">
                <a:latin typeface="Arial" panose="020B0604020202020204" pitchFamily="34" charset="0"/>
                <a:cs typeface="Arial" panose="020B0604020202020204" pitchFamily="34" charset="0"/>
              </a:rPr>
              <a:t>Progres</a:t>
            </a:r>
            <a:r>
              <a:rPr lang="en-US" b="0" i="0" u="none" strike="noStrike" baseline="0" dirty="0">
                <a:latin typeface="Arial" panose="020B0604020202020204" pitchFamily="34" charset="0"/>
                <a:cs typeface="Arial" panose="020B0604020202020204" pitchFamily="34" charset="0"/>
              </a:rPr>
              <a:t>” who is proud and irritating.</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562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1152</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Roboto-Regular</vt:lpstr>
      <vt:lpstr>Office Theme</vt:lpstr>
      <vt:lpstr>HOME SWEET HOME</vt:lpstr>
      <vt:lpstr>THE AUTHOR</vt:lpstr>
      <vt:lpstr>THE AUTHOR</vt:lpstr>
      <vt:lpstr>SYNOPSIS</vt:lpstr>
      <vt:lpstr>THE TITLE</vt:lpstr>
      <vt:lpstr>THEMES</vt:lpstr>
      <vt:lpstr>THEMES</vt:lpstr>
      <vt:lpstr>SETTING</vt:lpstr>
      <vt:lpstr>TECHNIQUES</vt:lpstr>
      <vt:lpstr>TECHNIQUES</vt:lpstr>
      <vt:lpstr>FIGURES OF SPEECH</vt:lpstr>
      <vt:lpstr>CHARACTERS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 SWEET HOME</dc:title>
  <dc:creator>John Aning</dc:creator>
  <cp:lastModifiedBy>johnaning53@outlook.com</cp:lastModifiedBy>
  <cp:revision>39</cp:revision>
  <dcterms:created xsi:type="dcterms:W3CDTF">2020-03-03T09:00:48Z</dcterms:created>
  <dcterms:modified xsi:type="dcterms:W3CDTF">2021-06-15T16:39:48Z</dcterms:modified>
</cp:coreProperties>
</file>