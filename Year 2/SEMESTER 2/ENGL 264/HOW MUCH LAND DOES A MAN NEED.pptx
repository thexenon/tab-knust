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72" r:id="rId5"/>
    <p:sldId id="265" r:id="rId6"/>
    <p:sldId id="273" r:id="rId7"/>
    <p:sldId id="264" r:id="rId8"/>
    <p:sldId id="260" r:id="rId9"/>
    <p:sldId id="267" r:id="rId10"/>
    <p:sldId id="268" r:id="rId11"/>
    <p:sldId id="269" r:id="rId12"/>
    <p:sldId id="270" r:id="rId13"/>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81" autoAdjust="0"/>
    <p:restoredTop sz="94660"/>
  </p:normalViewPr>
  <p:slideViewPr>
    <p:cSldViewPr snapToGrid="0">
      <p:cViewPr varScale="1">
        <p:scale>
          <a:sx n="103" d="100"/>
          <a:sy n="103" d="100"/>
        </p:scale>
        <p:origin x="150" y="1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B0B81FD1-10EF-4B32-B1EE-4DD91CA5974C}" type="datetimeFigureOut">
              <a:rPr lang="en-GB" smtClean="0"/>
              <a:t>15/06/2021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71C371C-400D-438D-90F5-730C7B03CDC7}" type="slidenum">
              <a:rPr lang="en-GB" smtClean="0"/>
              <a:t>‹#›</a:t>
            </a:fld>
            <a:endParaRPr lang="en-GB"/>
          </a:p>
        </p:txBody>
      </p:sp>
    </p:spTree>
    <p:extLst>
      <p:ext uri="{BB962C8B-B14F-4D97-AF65-F5344CB8AC3E}">
        <p14:creationId xmlns:p14="http://schemas.microsoft.com/office/powerpoint/2010/main" val="10341173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0B81FD1-10EF-4B32-B1EE-4DD91CA5974C}" type="datetimeFigureOut">
              <a:rPr lang="en-GB" smtClean="0"/>
              <a:t>15/06/2021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71C371C-400D-438D-90F5-730C7B03CDC7}" type="slidenum">
              <a:rPr lang="en-GB" smtClean="0"/>
              <a:t>‹#›</a:t>
            </a:fld>
            <a:endParaRPr lang="en-GB"/>
          </a:p>
        </p:txBody>
      </p:sp>
    </p:spTree>
    <p:extLst>
      <p:ext uri="{BB962C8B-B14F-4D97-AF65-F5344CB8AC3E}">
        <p14:creationId xmlns:p14="http://schemas.microsoft.com/office/powerpoint/2010/main" val="4443415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B81FD1-10EF-4B32-B1EE-4DD91CA5974C}" type="datetimeFigureOut">
              <a:rPr lang="en-GB" smtClean="0"/>
              <a:t>15/06/2021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71C371C-400D-438D-90F5-730C7B03CDC7}" type="slidenum">
              <a:rPr lang="en-GB" smtClean="0"/>
              <a:t>‹#›</a:t>
            </a:fld>
            <a:endParaRPr lang="en-GB"/>
          </a:p>
        </p:txBody>
      </p:sp>
    </p:spTree>
    <p:extLst>
      <p:ext uri="{BB962C8B-B14F-4D97-AF65-F5344CB8AC3E}">
        <p14:creationId xmlns:p14="http://schemas.microsoft.com/office/powerpoint/2010/main" val="22746843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B0B81FD1-10EF-4B32-B1EE-4DD91CA5974C}" type="datetimeFigureOut">
              <a:rPr lang="en-GB" smtClean="0"/>
              <a:t>15/06/2021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71C371C-400D-438D-90F5-730C7B03CDC7}" type="slidenum">
              <a:rPr lang="en-GB" smtClean="0"/>
              <a:t>‹#›</a:t>
            </a:fld>
            <a:endParaRPr lang="en-GB"/>
          </a:p>
        </p:txBody>
      </p:sp>
    </p:spTree>
    <p:extLst>
      <p:ext uri="{BB962C8B-B14F-4D97-AF65-F5344CB8AC3E}">
        <p14:creationId xmlns:p14="http://schemas.microsoft.com/office/powerpoint/2010/main" val="18982323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B0B81FD1-10EF-4B32-B1EE-4DD91CA5974C}" type="datetimeFigureOut">
              <a:rPr lang="en-GB" smtClean="0"/>
              <a:t>15/06/2021</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071C371C-400D-438D-90F5-730C7B03CDC7}" type="slidenum">
              <a:rPr lang="en-GB" smtClean="0"/>
              <a:t>‹#›</a:t>
            </a:fld>
            <a:endParaRPr lang="en-GB"/>
          </a:p>
        </p:txBody>
      </p:sp>
    </p:spTree>
    <p:extLst>
      <p:ext uri="{BB962C8B-B14F-4D97-AF65-F5344CB8AC3E}">
        <p14:creationId xmlns:p14="http://schemas.microsoft.com/office/powerpoint/2010/main" val="23684082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B0B81FD1-10EF-4B32-B1EE-4DD91CA5974C}" type="datetimeFigureOut">
              <a:rPr lang="en-GB" smtClean="0"/>
              <a:t>15/06/2021</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071C371C-400D-438D-90F5-730C7B03CDC7}" type="slidenum">
              <a:rPr lang="en-GB" smtClean="0"/>
              <a:t>‹#›</a:t>
            </a:fld>
            <a:endParaRPr lang="en-GB"/>
          </a:p>
        </p:txBody>
      </p:sp>
    </p:spTree>
    <p:extLst>
      <p:ext uri="{BB962C8B-B14F-4D97-AF65-F5344CB8AC3E}">
        <p14:creationId xmlns:p14="http://schemas.microsoft.com/office/powerpoint/2010/main" val="32115520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B81FD1-10EF-4B32-B1EE-4DD91CA5974C}" type="datetimeFigureOut">
              <a:rPr lang="en-GB" smtClean="0"/>
              <a:t>15/06/2021</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071C371C-400D-438D-90F5-730C7B03CDC7}" type="slidenum">
              <a:rPr lang="en-GB" smtClean="0"/>
              <a:t>‹#›</a:t>
            </a:fld>
            <a:endParaRPr lang="en-GB"/>
          </a:p>
        </p:txBody>
      </p:sp>
    </p:spTree>
    <p:extLst>
      <p:ext uri="{BB962C8B-B14F-4D97-AF65-F5344CB8AC3E}">
        <p14:creationId xmlns:p14="http://schemas.microsoft.com/office/powerpoint/2010/main" val="6299486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0B81FD1-10EF-4B32-B1EE-4DD91CA5974C}" type="datetimeFigureOut">
              <a:rPr lang="en-GB" smtClean="0"/>
              <a:t>15/06/2021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71C371C-400D-438D-90F5-730C7B03CDC7}" type="slidenum">
              <a:rPr lang="en-GB" smtClean="0"/>
              <a:t>‹#›</a:t>
            </a:fld>
            <a:endParaRPr lang="en-GB"/>
          </a:p>
        </p:txBody>
      </p:sp>
    </p:spTree>
    <p:extLst>
      <p:ext uri="{BB962C8B-B14F-4D97-AF65-F5344CB8AC3E}">
        <p14:creationId xmlns:p14="http://schemas.microsoft.com/office/powerpoint/2010/main" val="2687541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0B81FD1-10EF-4B32-B1EE-4DD91CA5974C}" type="datetimeFigureOut">
              <a:rPr lang="en-GB" smtClean="0"/>
              <a:t>15/06/2021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71C371C-400D-438D-90F5-730C7B03CDC7}" type="slidenum">
              <a:rPr lang="en-GB" smtClean="0"/>
              <a:t>‹#›</a:t>
            </a:fld>
            <a:endParaRPr lang="en-GB"/>
          </a:p>
        </p:txBody>
      </p:sp>
    </p:spTree>
    <p:extLst>
      <p:ext uri="{BB962C8B-B14F-4D97-AF65-F5344CB8AC3E}">
        <p14:creationId xmlns:p14="http://schemas.microsoft.com/office/powerpoint/2010/main" val="5678094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0B81FD1-10EF-4B32-B1EE-4DD91CA5974C}" type="datetimeFigureOut">
              <a:rPr lang="en-GB" smtClean="0"/>
              <a:t>15/06/2021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71C371C-400D-438D-90F5-730C7B03CDC7}" type="slidenum">
              <a:rPr lang="en-GB" smtClean="0"/>
              <a:t>‹#›</a:t>
            </a:fld>
            <a:endParaRPr lang="en-GB"/>
          </a:p>
        </p:txBody>
      </p:sp>
    </p:spTree>
    <p:extLst>
      <p:ext uri="{BB962C8B-B14F-4D97-AF65-F5344CB8AC3E}">
        <p14:creationId xmlns:p14="http://schemas.microsoft.com/office/powerpoint/2010/main" val="34159919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0B81FD1-10EF-4B32-B1EE-4DD91CA5974C}" type="datetimeFigureOut">
              <a:rPr lang="en-GB" smtClean="0"/>
              <a:t>15/06/2021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71C371C-400D-438D-90F5-730C7B03CDC7}" type="slidenum">
              <a:rPr lang="en-GB" smtClean="0"/>
              <a:t>‹#›</a:t>
            </a:fld>
            <a:endParaRPr lang="en-GB"/>
          </a:p>
        </p:txBody>
      </p:sp>
    </p:spTree>
    <p:extLst>
      <p:ext uri="{BB962C8B-B14F-4D97-AF65-F5344CB8AC3E}">
        <p14:creationId xmlns:p14="http://schemas.microsoft.com/office/powerpoint/2010/main" val="29134464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B81FD1-10EF-4B32-B1EE-4DD91CA5974C}" type="datetimeFigureOut">
              <a:rPr lang="en-GB" smtClean="0"/>
              <a:t>15/06/2021</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1C371C-400D-438D-90F5-730C7B03CDC7}" type="slidenum">
              <a:rPr lang="en-GB" smtClean="0"/>
              <a:t>‹#›</a:t>
            </a:fld>
            <a:endParaRPr lang="en-GB"/>
          </a:p>
        </p:txBody>
      </p:sp>
    </p:spTree>
    <p:extLst>
      <p:ext uri="{BB962C8B-B14F-4D97-AF65-F5344CB8AC3E}">
        <p14:creationId xmlns:p14="http://schemas.microsoft.com/office/powerpoint/2010/main" val="16858561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b="1" dirty="0">
                <a:latin typeface="Arial" panose="020B0604020202020204" pitchFamily="34" charset="0"/>
                <a:cs typeface="Arial" panose="020B0604020202020204" pitchFamily="34" charset="0"/>
              </a:rPr>
              <a:t>HOW MUCH LAND DOES A MAN NEED?</a:t>
            </a:r>
          </a:p>
        </p:txBody>
      </p:sp>
      <p:sp>
        <p:nvSpPr>
          <p:cNvPr id="3" name="Subtitle 2"/>
          <p:cNvSpPr>
            <a:spLocks noGrp="1"/>
          </p:cNvSpPr>
          <p:nvPr>
            <p:ph type="subTitle" idx="1"/>
          </p:nvPr>
        </p:nvSpPr>
        <p:spPr/>
        <p:txBody>
          <a:bodyPr/>
          <a:lstStyle/>
          <a:p>
            <a:r>
              <a:rPr lang="en-GB" b="1" dirty="0">
                <a:latin typeface="Arial" panose="020B0604020202020204" pitchFamily="34" charset="0"/>
                <a:cs typeface="Arial" panose="020B0604020202020204" pitchFamily="34" charset="0"/>
              </a:rPr>
              <a:t>LEO TOLSTOY</a:t>
            </a:r>
          </a:p>
        </p:txBody>
      </p:sp>
    </p:spTree>
    <p:extLst>
      <p:ext uri="{BB962C8B-B14F-4D97-AF65-F5344CB8AC3E}">
        <p14:creationId xmlns:p14="http://schemas.microsoft.com/office/powerpoint/2010/main" val="24015949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latin typeface="Arial" panose="020B0604020202020204" pitchFamily="34" charset="0"/>
                <a:cs typeface="Arial" panose="020B0604020202020204" pitchFamily="34" charset="0"/>
              </a:rPr>
              <a:t>THE TITLE</a:t>
            </a:r>
          </a:p>
        </p:txBody>
      </p:sp>
      <p:sp>
        <p:nvSpPr>
          <p:cNvPr id="3" name="Content Placeholder 2"/>
          <p:cNvSpPr>
            <a:spLocks noGrp="1"/>
          </p:cNvSpPr>
          <p:nvPr>
            <p:ph idx="1"/>
          </p:nvPr>
        </p:nvSpPr>
        <p:spPr/>
        <p:txBody>
          <a:bodyPr/>
          <a:lstStyle/>
          <a:p>
            <a:r>
              <a:rPr lang="en-GB" dirty="0"/>
              <a:t>The plot revolves around </a:t>
            </a:r>
            <a:r>
              <a:rPr lang="en-GB" dirty="0" err="1"/>
              <a:t>Pahom</a:t>
            </a:r>
            <a:r>
              <a:rPr lang="en-GB" dirty="0"/>
              <a:t>, a Russian peasant, who acquires more and more land in an attempt to gain power and wealth. </a:t>
            </a:r>
          </a:p>
          <a:p>
            <a:r>
              <a:rPr lang="en-GB" dirty="0"/>
              <a:t>Tolstoy poses a provocative question in the title, which the narrator answers in the final line of the story. </a:t>
            </a:r>
          </a:p>
          <a:p>
            <a:r>
              <a:rPr lang="en-GB" dirty="0"/>
              <a:t>When </a:t>
            </a:r>
            <a:r>
              <a:rPr lang="en-GB" dirty="0" err="1"/>
              <a:t>Pahom</a:t>
            </a:r>
            <a:r>
              <a:rPr lang="en-GB" dirty="0"/>
              <a:t> dies in an ill-fated attempt to cover as much land as possible in a day, he only needs the burial ground of six feet.</a:t>
            </a:r>
          </a:p>
          <a:p>
            <a:endParaRPr lang="en-GB" dirty="0"/>
          </a:p>
        </p:txBody>
      </p:sp>
    </p:spTree>
    <p:extLst>
      <p:ext uri="{BB962C8B-B14F-4D97-AF65-F5344CB8AC3E}">
        <p14:creationId xmlns:p14="http://schemas.microsoft.com/office/powerpoint/2010/main" val="2525695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latin typeface="Arial" panose="020B0604020202020204" pitchFamily="34" charset="0"/>
                <a:cs typeface="Arial" panose="020B0604020202020204" pitchFamily="34" charset="0"/>
              </a:rPr>
              <a:t>PLOT SUMMARY – PART 1</a:t>
            </a:r>
          </a:p>
        </p:txBody>
      </p:sp>
      <p:sp>
        <p:nvSpPr>
          <p:cNvPr id="3" name="Content Placeholder 2"/>
          <p:cNvSpPr>
            <a:spLocks noGrp="1"/>
          </p:cNvSpPr>
          <p:nvPr>
            <p:ph idx="1"/>
          </p:nvPr>
        </p:nvSpPr>
        <p:spPr/>
        <p:txBody>
          <a:bodyPr>
            <a:normAutofit lnSpcReduction="10000"/>
          </a:bodyPr>
          <a:lstStyle/>
          <a:p>
            <a:pPr algn="just"/>
            <a:r>
              <a:rPr lang="en-GB" dirty="0">
                <a:latin typeface="Arial" panose="020B0604020202020204" pitchFamily="34" charset="0"/>
                <a:cs typeface="Arial" panose="020B0604020202020204" pitchFamily="34" charset="0"/>
              </a:rPr>
              <a:t>A wealthy elder sister visits her younger sister, a peasant and brags about her lavish lifestyle and mocks her sister's poverty. But the younger sister retorts that her way of life is more secure since the elder sister may lose her wealth. Money, she adds, leads to dangerous temptations like gambling, women and drinking.</a:t>
            </a:r>
          </a:p>
          <a:p>
            <a:pPr algn="just" fontAlgn="base"/>
            <a:r>
              <a:rPr lang="en-GB" dirty="0" err="1"/>
              <a:t>Pahom</a:t>
            </a:r>
            <a:r>
              <a:rPr lang="en-GB" dirty="0"/>
              <a:t>, the younger sister's husband and a peasant farmer, is listening. He longs for more land, however, and thinks if he had enough land, he wouldn't even fear the Devil.</a:t>
            </a:r>
          </a:p>
          <a:p>
            <a:pPr fontAlgn="base"/>
            <a:r>
              <a:rPr lang="en-GB" dirty="0"/>
              <a:t>But the Devil is hiding in the house and hears </a:t>
            </a:r>
            <a:r>
              <a:rPr lang="en-GB" dirty="0" err="1"/>
              <a:t>Pahom's</a:t>
            </a:r>
            <a:r>
              <a:rPr lang="en-GB" dirty="0"/>
              <a:t> thoughts. He resolves to get the best of </a:t>
            </a:r>
            <a:r>
              <a:rPr lang="en-GB" dirty="0" err="1"/>
              <a:t>Pahom</a:t>
            </a:r>
            <a:r>
              <a:rPr lang="en-GB" dirty="0"/>
              <a:t> by tempting him with land.</a:t>
            </a:r>
          </a:p>
          <a:p>
            <a:pPr algn="just"/>
            <a:endParaRPr lang="en-GB" dirty="0">
              <a:latin typeface="Arial" panose="020B0604020202020204" pitchFamily="34" charset="0"/>
              <a:cs typeface="Arial" panose="020B0604020202020204" pitchFamily="34" charset="0"/>
            </a:endParaRPr>
          </a:p>
          <a:p>
            <a:endParaRPr lang="en-GB"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746700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5690C-F54D-4C29-822E-A3B50E9E9DB2}"/>
              </a:ext>
            </a:extLst>
          </p:cNvPr>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PAHOM AND LAND</a:t>
            </a:r>
            <a:endParaRPr lang="en-GB"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2B53FA23-AAAF-4716-A641-599678302595}"/>
              </a:ext>
            </a:extLst>
          </p:cNvPr>
          <p:cNvSpPr>
            <a:spLocks noGrp="1"/>
          </p:cNvSpPr>
          <p:nvPr>
            <p:ph idx="1"/>
          </p:nvPr>
        </p:nvSpPr>
        <p:spPr/>
        <p:txBody>
          <a:bodyPr>
            <a:normAutofit/>
          </a:bodyPr>
          <a:lstStyle/>
          <a:p>
            <a:pPr algn="just"/>
            <a:r>
              <a:rPr lang="en-GB" dirty="0">
                <a:latin typeface="Arial" panose="020B0604020202020204" pitchFamily="34" charset="0"/>
                <a:cs typeface="Arial" panose="020B0604020202020204" pitchFamily="34" charset="0"/>
              </a:rPr>
              <a:t>A landowner near </a:t>
            </a:r>
            <a:r>
              <a:rPr lang="en-GB" dirty="0" err="1">
                <a:latin typeface="Arial" panose="020B0604020202020204" pitchFamily="34" charset="0"/>
                <a:cs typeface="Arial" panose="020B0604020202020204" pitchFamily="34" charset="0"/>
              </a:rPr>
              <a:t>Pahom's</a:t>
            </a:r>
            <a:r>
              <a:rPr lang="en-GB" dirty="0">
                <a:latin typeface="Arial" panose="020B0604020202020204" pitchFamily="34" charset="0"/>
                <a:cs typeface="Arial" panose="020B0604020202020204" pitchFamily="34" charset="0"/>
              </a:rPr>
              <a:t> peasant commune decides to sell her privately owned land.</a:t>
            </a:r>
          </a:p>
          <a:p>
            <a:pPr algn="just"/>
            <a:r>
              <a:rPr lang="en-GB" dirty="0" err="1">
                <a:latin typeface="Arial" panose="020B0604020202020204" pitchFamily="34" charset="0"/>
                <a:cs typeface="Arial" panose="020B0604020202020204" pitchFamily="34" charset="0"/>
              </a:rPr>
              <a:t>Pahom</a:t>
            </a:r>
            <a:r>
              <a:rPr lang="en-GB" dirty="0">
                <a:latin typeface="Arial" panose="020B0604020202020204" pitchFamily="34" charset="0"/>
                <a:cs typeface="Arial" panose="020B0604020202020204" pitchFamily="34" charset="0"/>
              </a:rPr>
              <a:t> and his wife save money and buy a 40-acre farm on the landowner's estate. </a:t>
            </a:r>
            <a:r>
              <a:rPr lang="en-GB" dirty="0" err="1">
                <a:latin typeface="Arial" panose="020B0604020202020204" pitchFamily="34" charset="0"/>
                <a:cs typeface="Arial" panose="020B0604020202020204" pitchFamily="34" charset="0"/>
              </a:rPr>
              <a:t>Pahom</a:t>
            </a:r>
            <a:r>
              <a:rPr lang="en-GB" dirty="0">
                <a:latin typeface="Arial" panose="020B0604020202020204" pitchFamily="34" charset="0"/>
                <a:cs typeface="Arial" panose="020B0604020202020204" pitchFamily="34" charset="0"/>
              </a:rPr>
              <a:t> is excited; he's never had his own land before.</a:t>
            </a:r>
          </a:p>
          <a:p>
            <a:pPr algn="just"/>
            <a:r>
              <a:rPr lang="en-GB" dirty="0" err="1">
                <a:latin typeface="Arial" panose="020B0604020202020204" pitchFamily="34" charset="0"/>
                <a:cs typeface="Arial" panose="020B0604020202020204" pitchFamily="34" charset="0"/>
              </a:rPr>
              <a:t>Pahom</a:t>
            </a:r>
            <a:r>
              <a:rPr lang="en-GB" dirty="0">
                <a:latin typeface="Arial" panose="020B0604020202020204" pitchFamily="34" charset="0"/>
                <a:cs typeface="Arial" panose="020B0604020202020204" pitchFamily="34" charset="0"/>
              </a:rPr>
              <a:t> applies and is accepted into a commune in the new village. He "[stands] treat to the Elders," a ritual in which he pays for their food, drink, and entertainment. His 125 acres make him wealthier than ever. </a:t>
            </a:r>
          </a:p>
          <a:p>
            <a:pPr algn="just"/>
            <a:r>
              <a:rPr lang="en-GB" dirty="0">
                <a:latin typeface="Arial" panose="020B0604020202020204" pitchFamily="34" charset="0"/>
                <a:cs typeface="Arial" panose="020B0604020202020204" pitchFamily="34" charset="0"/>
              </a:rPr>
              <a:t>After three years he's close to buying 1,300 acres of his own. </a:t>
            </a:r>
            <a:endParaRPr lang="en-GB" dirty="0"/>
          </a:p>
          <a:p>
            <a:pPr algn="just"/>
            <a:endParaRPr lang="en-GB" dirty="0">
              <a:latin typeface="Arial" panose="020B0604020202020204" pitchFamily="34" charset="0"/>
              <a:cs typeface="Arial" panose="020B0604020202020204" pitchFamily="34" charset="0"/>
            </a:endParaRPr>
          </a:p>
          <a:p>
            <a:endParaRPr lang="en-GB" dirty="0">
              <a:latin typeface="Arial" panose="020B0604020202020204" pitchFamily="34" charset="0"/>
              <a:cs typeface="Arial" panose="020B0604020202020204" pitchFamily="34" charset="0"/>
            </a:endParaRPr>
          </a:p>
          <a:p>
            <a:endParaRPr lang="en-GB" dirty="0"/>
          </a:p>
        </p:txBody>
      </p:sp>
    </p:spTree>
    <p:extLst>
      <p:ext uri="{BB962C8B-B14F-4D97-AF65-F5344CB8AC3E}">
        <p14:creationId xmlns:p14="http://schemas.microsoft.com/office/powerpoint/2010/main" val="14612371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latin typeface="Arial" panose="020B0604020202020204" pitchFamily="34" charset="0"/>
                <a:cs typeface="Arial" panose="020B0604020202020204" pitchFamily="34" charset="0"/>
              </a:rPr>
              <a:t>PAHOM AND LAND</a:t>
            </a:r>
          </a:p>
        </p:txBody>
      </p:sp>
      <p:sp>
        <p:nvSpPr>
          <p:cNvPr id="3" name="Content Placeholder 2"/>
          <p:cNvSpPr>
            <a:spLocks noGrp="1"/>
          </p:cNvSpPr>
          <p:nvPr>
            <p:ph idx="1"/>
          </p:nvPr>
        </p:nvSpPr>
        <p:spPr/>
        <p:txBody>
          <a:bodyPr/>
          <a:lstStyle/>
          <a:p>
            <a:pPr algn="just" fontAlgn="base"/>
            <a:r>
              <a:rPr lang="en-GB" dirty="0" err="1">
                <a:latin typeface="Arial" panose="020B0604020202020204" pitchFamily="34" charset="0"/>
                <a:cs typeface="Arial" panose="020B0604020202020204" pitchFamily="34" charset="0"/>
              </a:rPr>
              <a:t>Pahom</a:t>
            </a:r>
            <a:r>
              <a:rPr lang="en-GB" dirty="0">
                <a:latin typeface="Arial" panose="020B0604020202020204" pitchFamily="34" charset="0"/>
                <a:cs typeface="Arial" panose="020B0604020202020204" pitchFamily="34" charset="0"/>
              </a:rPr>
              <a:t> and the </a:t>
            </a:r>
            <a:r>
              <a:rPr lang="en-GB" dirty="0" err="1">
                <a:latin typeface="Arial" panose="020B0604020202020204" pitchFamily="34" charset="0"/>
                <a:cs typeface="Arial" panose="020B0604020202020204" pitchFamily="34" charset="0"/>
              </a:rPr>
              <a:t>Bashkirs</a:t>
            </a:r>
            <a:r>
              <a:rPr lang="en-GB" dirty="0">
                <a:latin typeface="Arial" panose="020B0604020202020204" pitchFamily="34" charset="0"/>
                <a:cs typeface="Arial" panose="020B0604020202020204" pitchFamily="34" charset="0"/>
              </a:rPr>
              <a:t> arrive at a steppe, or large treeless plain, just before sunrise. After giving the Chief 1,000 </a:t>
            </a:r>
            <a:r>
              <a:rPr lang="en-GB" dirty="0" err="1">
                <a:latin typeface="Arial" panose="020B0604020202020204" pitchFamily="34" charset="0"/>
                <a:cs typeface="Arial" panose="020B0604020202020204" pitchFamily="34" charset="0"/>
              </a:rPr>
              <a:t>rubles</a:t>
            </a:r>
            <a:r>
              <a:rPr lang="en-GB" dirty="0">
                <a:latin typeface="Arial" panose="020B0604020202020204" pitchFamily="34" charset="0"/>
                <a:cs typeface="Arial" panose="020B0604020202020204" pitchFamily="34" charset="0"/>
              </a:rPr>
              <a:t>, </a:t>
            </a:r>
            <a:r>
              <a:rPr lang="en-GB" dirty="0" err="1">
                <a:latin typeface="Arial" panose="020B0604020202020204" pitchFamily="34" charset="0"/>
                <a:cs typeface="Arial" panose="020B0604020202020204" pitchFamily="34" charset="0"/>
              </a:rPr>
              <a:t>Pahom</a:t>
            </a:r>
            <a:r>
              <a:rPr lang="en-GB" dirty="0">
                <a:latin typeface="Arial" panose="020B0604020202020204" pitchFamily="34" charset="0"/>
                <a:cs typeface="Arial" panose="020B0604020202020204" pitchFamily="34" charset="0"/>
              </a:rPr>
              <a:t> prepares for the journey, bringing bread and water with him. He decides to go toward the rising sun.</a:t>
            </a:r>
          </a:p>
          <a:p>
            <a:pPr algn="just" fontAlgn="base"/>
            <a:r>
              <a:rPr lang="en-GB" dirty="0">
                <a:latin typeface="Arial" panose="020B0604020202020204" pitchFamily="34" charset="0"/>
                <a:cs typeface="Arial" panose="020B0604020202020204" pitchFamily="34" charset="0"/>
              </a:rPr>
              <a:t>As the day begins, </a:t>
            </a:r>
            <a:r>
              <a:rPr lang="en-GB" dirty="0" err="1">
                <a:latin typeface="Arial" panose="020B0604020202020204" pitchFamily="34" charset="0"/>
                <a:cs typeface="Arial" panose="020B0604020202020204" pitchFamily="34" charset="0"/>
              </a:rPr>
              <a:t>Pahom</a:t>
            </a:r>
            <a:r>
              <a:rPr lang="en-GB" dirty="0">
                <a:latin typeface="Arial" panose="020B0604020202020204" pitchFamily="34" charset="0"/>
                <a:cs typeface="Arial" panose="020B0604020202020204" pitchFamily="34" charset="0"/>
              </a:rPr>
              <a:t> walks at a regular pace. He soon notices the land gets better the farther he travels. The rising heat makes him tired, and he wants to stop and rest. Still, he convinces himself to keep going. By mid-afternoon he reluctantly turns around, worried if he keeps going, he will go too far to return.</a:t>
            </a:r>
          </a:p>
          <a:p>
            <a:pPr algn="just"/>
            <a:endParaRPr lang="en-GB"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776210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F13A3-6EBE-4B71-BAED-8F854A53FB28}"/>
              </a:ext>
            </a:extLst>
          </p:cNvPr>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THE ROLE OF THE DEVIL</a:t>
            </a:r>
            <a:endParaRPr lang="en-GB"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4DD7EDF7-FBAC-40B4-BC44-9ACA6B7035E6}"/>
              </a:ext>
            </a:extLst>
          </p:cNvPr>
          <p:cNvSpPr>
            <a:spLocks noGrp="1"/>
          </p:cNvSpPr>
          <p:nvPr>
            <p:ph idx="1"/>
          </p:nvPr>
        </p:nvSpPr>
        <p:spPr/>
        <p:txBody>
          <a:bodyPr>
            <a:normAutofit lnSpcReduction="10000"/>
          </a:bodyPr>
          <a:lstStyle/>
          <a:p>
            <a:pPr algn="just"/>
            <a:r>
              <a:rPr lang="en-GB" dirty="0">
                <a:latin typeface="Arial" panose="020B0604020202020204" pitchFamily="34" charset="0"/>
                <a:cs typeface="Arial" panose="020B0604020202020204" pitchFamily="34" charset="0"/>
              </a:rPr>
              <a:t>At first he and the other peasants in his commune try to buy the land collectively. The Devil tempts them to argue, however, and they can't agree on a price.</a:t>
            </a:r>
          </a:p>
          <a:p>
            <a:pPr algn="just"/>
            <a:r>
              <a:rPr lang="en-GB" dirty="0">
                <a:latin typeface="Arial" panose="020B0604020202020204" pitchFamily="34" charset="0"/>
                <a:cs typeface="Arial" panose="020B0604020202020204" pitchFamily="34" charset="0"/>
              </a:rPr>
              <a:t>One day </a:t>
            </a:r>
            <a:r>
              <a:rPr lang="en-GB" dirty="0" err="1">
                <a:latin typeface="Arial" panose="020B0604020202020204" pitchFamily="34" charset="0"/>
                <a:cs typeface="Arial" panose="020B0604020202020204" pitchFamily="34" charset="0"/>
              </a:rPr>
              <a:t>Pahom</a:t>
            </a:r>
            <a:r>
              <a:rPr lang="en-GB" dirty="0">
                <a:latin typeface="Arial" panose="020B0604020202020204" pitchFamily="34" charset="0"/>
                <a:cs typeface="Arial" panose="020B0604020202020204" pitchFamily="34" charset="0"/>
              </a:rPr>
              <a:t> hosts a visiting peasant who lives beyond the Volga River. The visitor tells </a:t>
            </a:r>
            <a:r>
              <a:rPr lang="en-GB" dirty="0" err="1">
                <a:latin typeface="Arial" panose="020B0604020202020204" pitchFamily="34" charset="0"/>
                <a:cs typeface="Arial" panose="020B0604020202020204" pitchFamily="34" charset="0"/>
              </a:rPr>
              <a:t>Pahom</a:t>
            </a:r>
            <a:r>
              <a:rPr lang="en-GB" dirty="0">
                <a:latin typeface="Arial" panose="020B0604020202020204" pitchFamily="34" charset="0"/>
                <a:cs typeface="Arial" panose="020B0604020202020204" pitchFamily="34" charset="0"/>
              </a:rPr>
              <a:t> about the cheap and fertile farmland beyond the Volga.</a:t>
            </a:r>
          </a:p>
          <a:p>
            <a:pPr algn="just"/>
            <a:r>
              <a:rPr lang="en-GB" dirty="0">
                <a:latin typeface="Arial" panose="020B0604020202020204" pitchFamily="34" charset="0"/>
                <a:cs typeface="Arial" panose="020B0604020202020204" pitchFamily="34" charset="0"/>
              </a:rPr>
              <a:t>Then he hosts a land dealer who is traveling from a settlement belonging to the Bashkirs, a nomadic Turkic tribe in eastern Russia. The dealer claims the Bashkirs are selling virgin soil for less than two cents an acre. </a:t>
            </a:r>
            <a:r>
              <a:rPr lang="en-GB" dirty="0" err="1">
                <a:latin typeface="Arial" panose="020B0604020202020204" pitchFamily="34" charset="0"/>
                <a:cs typeface="Arial" panose="020B0604020202020204" pitchFamily="34" charset="0"/>
              </a:rPr>
              <a:t>Pahom</a:t>
            </a:r>
            <a:r>
              <a:rPr lang="en-GB" dirty="0">
                <a:latin typeface="Arial" panose="020B0604020202020204" pitchFamily="34" charset="0"/>
                <a:cs typeface="Arial" panose="020B0604020202020204" pitchFamily="34" charset="0"/>
              </a:rPr>
              <a:t> is intrigued by the good land and the low price.</a:t>
            </a:r>
          </a:p>
          <a:p>
            <a:pPr algn="just"/>
            <a:endParaRPr lang="en-GB" dirty="0"/>
          </a:p>
        </p:txBody>
      </p:sp>
    </p:spTree>
    <p:extLst>
      <p:ext uri="{BB962C8B-B14F-4D97-AF65-F5344CB8AC3E}">
        <p14:creationId xmlns:p14="http://schemas.microsoft.com/office/powerpoint/2010/main" val="6499190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latin typeface="Arial" panose="020B0604020202020204" pitchFamily="34" charset="0"/>
                <a:cs typeface="Arial" panose="020B0604020202020204" pitchFamily="34" charset="0"/>
              </a:rPr>
              <a:t>PART 7</a:t>
            </a:r>
          </a:p>
        </p:txBody>
      </p:sp>
      <p:sp>
        <p:nvSpPr>
          <p:cNvPr id="3" name="Content Placeholder 2"/>
          <p:cNvSpPr>
            <a:spLocks noGrp="1"/>
          </p:cNvSpPr>
          <p:nvPr>
            <p:ph idx="1"/>
          </p:nvPr>
        </p:nvSpPr>
        <p:spPr/>
        <p:txBody>
          <a:bodyPr>
            <a:normAutofit fontScale="92500"/>
          </a:bodyPr>
          <a:lstStyle/>
          <a:p>
            <a:pPr algn="just" fontAlgn="base"/>
            <a:r>
              <a:rPr lang="en-GB" dirty="0">
                <a:latin typeface="Arial" panose="020B0604020202020204" pitchFamily="34" charset="0"/>
                <a:cs typeface="Arial" panose="020B0604020202020204" pitchFamily="34" charset="0"/>
              </a:rPr>
              <a:t>That night </a:t>
            </a:r>
            <a:r>
              <a:rPr lang="en-GB" dirty="0" err="1">
                <a:latin typeface="Arial" panose="020B0604020202020204" pitchFamily="34" charset="0"/>
                <a:cs typeface="Arial" panose="020B0604020202020204" pitchFamily="34" charset="0"/>
              </a:rPr>
              <a:t>Pahom</a:t>
            </a:r>
            <a:r>
              <a:rPr lang="en-GB" dirty="0">
                <a:latin typeface="Arial" panose="020B0604020202020204" pitchFamily="34" charset="0"/>
                <a:cs typeface="Arial" panose="020B0604020202020204" pitchFamily="34" charset="0"/>
              </a:rPr>
              <a:t> can hardly sleep. He plans to cover 35 miles the next day. He imagines all the farming he can accomplish once the land is his.</a:t>
            </a:r>
          </a:p>
          <a:p>
            <a:pPr algn="just" fontAlgn="base"/>
            <a:r>
              <a:rPr lang="en-GB" dirty="0">
                <a:latin typeface="Arial" panose="020B0604020202020204" pitchFamily="34" charset="0"/>
                <a:cs typeface="Arial" panose="020B0604020202020204" pitchFamily="34" charset="0"/>
              </a:rPr>
              <a:t>Before dawn he dreams the Chief is sitting outside his tent laughing. The Chief becomes the dealer who told him about the Bashkir land. The dealer turns into the peasant who urged him to go beyond the Volga. </a:t>
            </a:r>
          </a:p>
          <a:p>
            <a:pPr algn="just" fontAlgn="base"/>
            <a:r>
              <a:rPr lang="en-GB" dirty="0">
                <a:latin typeface="Arial" panose="020B0604020202020204" pitchFamily="34" charset="0"/>
                <a:cs typeface="Arial" panose="020B0604020202020204" pitchFamily="34" charset="0"/>
              </a:rPr>
              <a:t>Finally the peasant becomes the Devil, who is "chuckling." In front of the Devil lies a dead man, and </a:t>
            </a:r>
            <a:r>
              <a:rPr lang="en-GB" dirty="0" err="1">
                <a:latin typeface="Arial" panose="020B0604020202020204" pitchFamily="34" charset="0"/>
                <a:cs typeface="Arial" panose="020B0604020202020204" pitchFamily="34" charset="0"/>
              </a:rPr>
              <a:t>Pahom</a:t>
            </a:r>
            <a:r>
              <a:rPr lang="en-GB" dirty="0">
                <a:latin typeface="Arial" panose="020B0604020202020204" pitchFamily="34" charset="0"/>
                <a:cs typeface="Arial" panose="020B0604020202020204" pitchFamily="34" charset="0"/>
              </a:rPr>
              <a:t> is shocked to realize the dead man is himself. He wakes horrified. But he quickly dismisses the dream, eager to begin measuring his land. He gathers the </a:t>
            </a:r>
            <a:r>
              <a:rPr lang="en-GB" dirty="0" err="1">
                <a:latin typeface="Arial" panose="020B0604020202020204" pitchFamily="34" charset="0"/>
                <a:cs typeface="Arial" panose="020B0604020202020204" pitchFamily="34" charset="0"/>
              </a:rPr>
              <a:t>Bashkirs</a:t>
            </a:r>
            <a:r>
              <a:rPr lang="en-GB" dirty="0">
                <a:latin typeface="Arial" panose="020B0604020202020204" pitchFamily="34" charset="0"/>
                <a:cs typeface="Arial" panose="020B0604020202020204" pitchFamily="34" charset="0"/>
              </a:rPr>
              <a:t>.</a:t>
            </a:r>
          </a:p>
          <a:p>
            <a:endParaRPr lang="en-GB" dirty="0"/>
          </a:p>
        </p:txBody>
      </p:sp>
    </p:spTree>
    <p:extLst>
      <p:ext uri="{BB962C8B-B14F-4D97-AF65-F5344CB8AC3E}">
        <p14:creationId xmlns:p14="http://schemas.microsoft.com/office/powerpoint/2010/main" val="8779939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T</a:t>
            </a:r>
            <a:r>
              <a:rPr lang="en-GB" b="1" dirty="0">
                <a:latin typeface="Arial" panose="020B0604020202020204" pitchFamily="34" charset="0"/>
                <a:cs typeface="Arial" panose="020B0604020202020204" pitchFamily="34" charset="0"/>
              </a:rPr>
              <a:t>HE CORROSIVE POWER OF LAND</a:t>
            </a:r>
          </a:p>
        </p:txBody>
      </p:sp>
      <p:sp>
        <p:nvSpPr>
          <p:cNvPr id="3" name="Content Placeholder 2"/>
          <p:cNvSpPr>
            <a:spLocks noGrp="1"/>
          </p:cNvSpPr>
          <p:nvPr>
            <p:ph idx="1"/>
          </p:nvPr>
        </p:nvSpPr>
        <p:spPr/>
        <p:txBody>
          <a:bodyPr>
            <a:normAutofit/>
          </a:bodyPr>
          <a:lstStyle/>
          <a:p>
            <a:pPr algn="just" fontAlgn="base"/>
            <a:r>
              <a:rPr lang="en-GB" dirty="0">
                <a:latin typeface="Arial" panose="020B0604020202020204" pitchFamily="34" charset="0"/>
                <a:cs typeface="Arial" panose="020B0604020202020204" pitchFamily="34" charset="0"/>
              </a:rPr>
              <a:t>As a landowner </a:t>
            </a:r>
            <a:r>
              <a:rPr lang="en-GB" dirty="0" err="1">
                <a:latin typeface="Arial" panose="020B0604020202020204" pitchFamily="34" charset="0"/>
                <a:cs typeface="Arial" panose="020B0604020202020204" pitchFamily="34" charset="0"/>
              </a:rPr>
              <a:t>Pahom’s</a:t>
            </a:r>
            <a:r>
              <a:rPr lang="en-GB" dirty="0">
                <a:latin typeface="Arial" panose="020B0604020202020204" pitchFamily="34" charset="0"/>
                <a:cs typeface="Arial" panose="020B0604020202020204" pitchFamily="34" charset="0"/>
              </a:rPr>
              <a:t> neighbours' animals now graze on his property constantly. Eventually, though, he complains to the District Court. His neighbours are punished with fines and they resent </a:t>
            </a:r>
            <a:r>
              <a:rPr lang="en-GB" dirty="0" err="1">
                <a:latin typeface="Arial" panose="020B0604020202020204" pitchFamily="34" charset="0"/>
                <a:cs typeface="Arial" panose="020B0604020202020204" pitchFamily="34" charset="0"/>
              </a:rPr>
              <a:t>Pahom</a:t>
            </a:r>
            <a:r>
              <a:rPr lang="en-GB" dirty="0">
                <a:latin typeface="Arial" panose="020B0604020202020204" pitchFamily="34" charset="0"/>
                <a:cs typeface="Arial" panose="020B0604020202020204" pitchFamily="34" charset="0"/>
              </a:rPr>
              <a:t>. </a:t>
            </a:r>
          </a:p>
          <a:p>
            <a:pPr algn="just" fontAlgn="base"/>
            <a:r>
              <a:rPr lang="en-GB" dirty="0">
                <a:latin typeface="Arial" panose="020B0604020202020204" pitchFamily="34" charset="0"/>
                <a:cs typeface="Arial" panose="020B0604020202020204" pitchFamily="34" charset="0"/>
              </a:rPr>
              <a:t>An unknown culprit cuts down trees on his property, and </a:t>
            </a:r>
            <a:r>
              <a:rPr lang="en-GB" dirty="0" err="1">
                <a:latin typeface="Arial" panose="020B0604020202020204" pitchFamily="34" charset="0"/>
                <a:cs typeface="Arial" panose="020B0604020202020204" pitchFamily="34" charset="0"/>
              </a:rPr>
              <a:t>Pahom</a:t>
            </a:r>
            <a:r>
              <a:rPr lang="en-GB" dirty="0">
                <a:latin typeface="Arial" panose="020B0604020202020204" pitchFamily="34" charset="0"/>
                <a:cs typeface="Arial" panose="020B0604020202020204" pitchFamily="34" charset="0"/>
              </a:rPr>
              <a:t> falsely accuses a peasant named Simon. </a:t>
            </a:r>
          </a:p>
          <a:p>
            <a:pPr algn="just" fontAlgn="base"/>
            <a:r>
              <a:rPr lang="en-GB" dirty="0">
                <a:latin typeface="Arial" panose="020B0604020202020204" pitchFamily="34" charset="0"/>
                <a:cs typeface="Arial" panose="020B0604020202020204" pitchFamily="34" charset="0"/>
              </a:rPr>
              <a:t>He accuses the elders who sat on the case as being corrupt. So even though he had land he was not happy.</a:t>
            </a:r>
          </a:p>
          <a:p>
            <a:pPr algn="just" fontAlgn="base"/>
            <a:r>
              <a:rPr lang="en-GB" dirty="0" err="1">
                <a:latin typeface="Arial" panose="020B0604020202020204" pitchFamily="34" charset="0"/>
                <a:cs typeface="Arial" panose="020B0604020202020204" pitchFamily="34" charset="0"/>
              </a:rPr>
              <a:t>Pahom</a:t>
            </a:r>
            <a:r>
              <a:rPr lang="en-GB" dirty="0">
                <a:latin typeface="Arial" panose="020B0604020202020204" pitchFamily="34" charset="0"/>
                <a:cs typeface="Arial" panose="020B0604020202020204" pitchFamily="34" charset="0"/>
              </a:rPr>
              <a:t> and his wife hire their son out as a labourer while they save to buy land.</a:t>
            </a:r>
          </a:p>
          <a:p>
            <a:pPr algn="just" fontAlgn="base"/>
            <a:endParaRPr lang="en-GB" dirty="0">
              <a:latin typeface="Arial" panose="020B0604020202020204" pitchFamily="34" charset="0"/>
              <a:cs typeface="Arial" panose="020B0604020202020204" pitchFamily="34" charset="0"/>
            </a:endParaRPr>
          </a:p>
          <a:p>
            <a:endParaRPr lang="en-GB" dirty="0"/>
          </a:p>
        </p:txBody>
      </p:sp>
    </p:spTree>
    <p:extLst>
      <p:ext uri="{BB962C8B-B14F-4D97-AF65-F5344CB8AC3E}">
        <p14:creationId xmlns:p14="http://schemas.microsoft.com/office/powerpoint/2010/main" val="14644145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latin typeface="Arial" panose="020B0604020202020204" pitchFamily="34" charset="0"/>
                <a:cs typeface="Arial" panose="020B0604020202020204" pitchFamily="34" charset="0"/>
              </a:rPr>
              <a:t>THEMES</a:t>
            </a:r>
          </a:p>
        </p:txBody>
      </p:sp>
      <p:sp>
        <p:nvSpPr>
          <p:cNvPr id="3" name="Content Placeholder 2"/>
          <p:cNvSpPr>
            <a:spLocks noGrp="1"/>
          </p:cNvSpPr>
          <p:nvPr>
            <p:ph idx="1"/>
          </p:nvPr>
        </p:nvSpPr>
        <p:spPr/>
        <p:txBody>
          <a:bodyPr>
            <a:normAutofit fontScale="92500" lnSpcReduction="20000"/>
          </a:bodyPr>
          <a:lstStyle/>
          <a:p>
            <a:pPr algn="just" fontAlgn="base"/>
            <a:r>
              <a:rPr lang="en-GB" dirty="0">
                <a:latin typeface="Arial" panose="020B0604020202020204" pitchFamily="34" charset="0"/>
                <a:cs typeface="Arial" panose="020B0604020202020204" pitchFamily="34" charset="0"/>
              </a:rPr>
              <a:t>Greed and over-ambition can corrupt and endanger lives. </a:t>
            </a:r>
          </a:p>
          <a:p>
            <a:pPr algn="just" fontAlgn="base"/>
            <a:r>
              <a:rPr lang="en-GB" dirty="0">
                <a:latin typeface="Arial" panose="020B0604020202020204" pitchFamily="34" charset="0"/>
                <a:cs typeface="Arial" panose="020B0604020202020204" pitchFamily="34" charset="0"/>
              </a:rPr>
              <a:t>The desire for upward mobility in class to achieve independence, power and freedom brings temptation and danger.</a:t>
            </a:r>
          </a:p>
          <a:p>
            <a:pPr algn="just" fontAlgn="base"/>
            <a:r>
              <a:rPr lang="en-GB" dirty="0">
                <a:latin typeface="Arial" panose="020B0604020202020204" pitchFamily="34" charset="0"/>
                <a:cs typeface="Arial" panose="020B0604020202020204" pitchFamily="34" charset="0"/>
              </a:rPr>
              <a:t>Rural life is spiritually purer than the luxury of the wealthy and the urban dweller.</a:t>
            </a:r>
          </a:p>
          <a:p>
            <a:pPr algn="just" fontAlgn="base"/>
            <a:r>
              <a:rPr lang="en-GB" dirty="0">
                <a:latin typeface="Arial" panose="020B0604020202020204" pitchFamily="34" charset="0"/>
                <a:cs typeface="Arial" panose="020B0604020202020204" pitchFamily="34" charset="0"/>
              </a:rPr>
              <a:t>The story also discusses the need for the recognition of divine power over human lives. </a:t>
            </a:r>
            <a:r>
              <a:rPr lang="en-GB" dirty="0" err="1">
                <a:latin typeface="Arial" panose="020B0604020202020204" pitchFamily="34" charset="0"/>
                <a:cs typeface="Arial" panose="020B0604020202020204" pitchFamily="34" charset="0"/>
              </a:rPr>
              <a:t>Pahom</a:t>
            </a:r>
            <a:r>
              <a:rPr lang="en-GB" dirty="0">
                <a:latin typeface="Arial" panose="020B0604020202020204" pitchFamily="34" charset="0"/>
                <a:cs typeface="Arial" panose="020B0604020202020204" pitchFamily="34" charset="0"/>
              </a:rPr>
              <a:t> thinks that if he has enough land for himself and his descendants life would be pleasant. He did not think about the nearness of death.</a:t>
            </a:r>
          </a:p>
          <a:p>
            <a:pPr algn="just" fontAlgn="base"/>
            <a:r>
              <a:rPr lang="en-GB" dirty="0">
                <a:latin typeface="Arial" panose="020B0604020202020204" pitchFamily="34" charset="0"/>
                <a:cs typeface="Arial" panose="020B0604020202020204" pitchFamily="34" charset="0"/>
              </a:rPr>
              <a:t>There are many evils of competition and private ownership of property – capitalism.</a:t>
            </a:r>
          </a:p>
          <a:p>
            <a:pPr algn="just" fontAlgn="base"/>
            <a:r>
              <a:rPr lang="en-GB" dirty="0">
                <a:latin typeface="Arial" panose="020B0604020202020204" pitchFamily="34" charset="0"/>
                <a:cs typeface="Arial" panose="020B0604020202020204" pitchFamily="34" charset="0"/>
              </a:rPr>
              <a:t>The Devil can appear in many guises. The Bible says he can transform himself into an angel of light.</a:t>
            </a:r>
          </a:p>
          <a:p>
            <a:pPr marL="0" indent="0">
              <a:buNone/>
            </a:pPr>
            <a:endParaRPr lang="en-GB"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990550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latin typeface="Arial" panose="020B0604020202020204" pitchFamily="34" charset="0"/>
                <a:cs typeface="Arial" panose="020B0604020202020204" pitchFamily="34" charset="0"/>
              </a:rPr>
              <a:t>TECHNIQUES</a:t>
            </a:r>
          </a:p>
        </p:txBody>
      </p:sp>
      <p:sp>
        <p:nvSpPr>
          <p:cNvPr id="3" name="Content Placeholder 2"/>
          <p:cNvSpPr>
            <a:spLocks noGrp="1"/>
          </p:cNvSpPr>
          <p:nvPr>
            <p:ph idx="1"/>
          </p:nvPr>
        </p:nvSpPr>
        <p:spPr/>
        <p:txBody>
          <a:bodyPr>
            <a:normAutofit lnSpcReduction="10000"/>
          </a:bodyPr>
          <a:lstStyle/>
          <a:p>
            <a:pPr algn="just"/>
            <a:r>
              <a:rPr lang="en-GB" dirty="0">
                <a:latin typeface="Arial" panose="020B0604020202020204" pitchFamily="34" charset="0"/>
                <a:cs typeface="Arial" panose="020B0604020202020204" pitchFamily="34" charset="0"/>
              </a:rPr>
              <a:t>The story has a rural setting and life should have been relaxed and peaceful but instead </a:t>
            </a:r>
            <a:r>
              <a:rPr lang="en-GB" dirty="0" err="1">
                <a:latin typeface="Arial" panose="020B0604020202020204" pitchFamily="34" charset="0"/>
                <a:cs typeface="Arial" panose="020B0604020202020204" pitchFamily="34" charset="0"/>
              </a:rPr>
              <a:t>Pahom’s</a:t>
            </a:r>
            <a:r>
              <a:rPr lang="en-GB" dirty="0">
                <a:latin typeface="Arial" panose="020B0604020202020204" pitchFamily="34" charset="0"/>
                <a:cs typeface="Arial" panose="020B0604020202020204" pitchFamily="34" charset="0"/>
              </a:rPr>
              <a:t> life is a struggle to acquire more and </a:t>
            </a:r>
            <a:r>
              <a:rPr lang="en-GB">
                <a:latin typeface="Arial" panose="020B0604020202020204" pitchFamily="34" charset="0"/>
                <a:cs typeface="Arial" panose="020B0604020202020204" pitchFamily="34" charset="0"/>
              </a:rPr>
              <a:t>more.</a:t>
            </a:r>
          </a:p>
          <a:p>
            <a:pPr algn="just"/>
            <a:r>
              <a:rPr lang="en-GB">
                <a:latin typeface="Arial" panose="020B0604020202020204" pitchFamily="34" charset="0"/>
                <a:cs typeface="Arial" panose="020B0604020202020204" pitchFamily="34" charset="0"/>
              </a:rPr>
              <a:t>Foreshadowing</a:t>
            </a:r>
            <a:r>
              <a:rPr lang="en-GB" dirty="0">
                <a:latin typeface="Arial" panose="020B0604020202020204" pitchFamily="34" charset="0"/>
                <a:cs typeface="Arial" panose="020B0604020202020204" pitchFamily="34" charset="0"/>
              </a:rPr>
              <a:t>: There are two examples. His wife states: Tomorrow the Evil One may tempt your husband. </a:t>
            </a:r>
            <a:r>
              <a:rPr lang="en-GB" dirty="0" err="1">
                <a:latin typeface="Arial" panose="020B0604020202020204" pitchFamily="34" charset="0"/>
                <a:cs typeface="Arial" panose="020B0604020202020204" pitchFamily="34" charset="0"/>
              </a:rPr>
              <a:t>Pahom’s</a:t>
            </a:r>
            <a:r>
              <a:rPr lang="en-GB" dirty="0">
                <a:latin typeface="Arial" panose="020B0604020202020204" pitchFamily="34" charset="0"/>
                <a:cs typeface="Arial" panose="020B0604020202020204" pitchFamily="34" charset="0"/>
              </a:rPr>
              <a:t> dream foretells his eventual destiny.</a:t>
            </a:r>
          </a:p>
          <a:p>
            <a:pPr algn="just"/>
            <a:r>
              <a:rPr lang="en-GB" dirty="0">
                <a:latin typeface="Arial" panose="020B0604020202020204" pitchFamily="34" charset="0"/>
                <a:cs typeface="Arial" panose="020B0604020202020204" pitchFamily="34" charset="0"/>
              </a:rPr>
              <a:t>Tolstoy uses a third-person objective narrator. The narrator describes events in the story realistically.</a:t>
            </a:r>
          </a:p>
          <a:p>
            <a:pPr algn="just"/>
            <a:r>
              <a:rPr lang="en-GB" dirty="0">
                <a:latin typeface="Arial" panose="020B0604020202020204" pitchFamily="34" charset="0"/>
                <a:cs typeface="Arial" panose="020B0604020202020204" pitchFamily="34" charset="0"/>
              </a:rPr>
              <a:t>Tolstoy was a writer with a distinctly Christian religious worldview. The Devil, a common force of spiritual evil in the Christian tradition, is the story's primary antagonist. </a:t>
            </a:r>
          </a:p>
        </p:txBody>
      </p:sp>
    </p:spTree>
    <p:extLst>
      <p:ext uri="{BB962C8B-B14F-4D97-AF65-F5344CB8AC3E}">
        <p14:creationId xmlns:p14="http://schemas.microsoft.com/office/powerpoint/2010/main" val="560698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latin typeface="Arial" panose="020B0604020202020204" pitchFamily="34" charset="0"/>
                <a:cs typeface="Arial" panose="020B0604020202020204" pitchFamily="34" charset="0"/>
              </a:rPr>
              <a:t>TECHNIQUES</a:t>
            </a:r>
            <a:endParaRPr lang="en-GB" dirty="0"/>
          </a:p>
        </p:txBody>
      </p:sp>
      <p:sp>
        <p:nvSpPr>
          <p:cNvPr id="3" name="Content Placeholder 2"/>
          <p:cNvSpPr>
            <a:spLocks noGrp="1"/>
          </p:cNvSpPr>
          <p:nvPr>
            <p:ph idx="1"/>
          </p:nvPr>
        </p:nvSpPr>
        <p:spPr/>
        <p:txBody>
          <a:bodyPr>
            <a:normAutofit/>
          </a:bodyPr>
          <a:lstStyle/>
          <a:p>
            <a:pPr algn="just"/>
            <a:r>
              <a:rPr lang="en-GB" dirty="0">
                <a:latin typeface="Arial" panose="020B0604020202020204" pitchFamily="34" charset="0"/>
                <a:cs typeface="Arial" panose="020B0604020202020204" pitchFamily="34" charset="0"/>
              </a:rPr>
              <a:t>The story is a tragedy. The tragic hero is </a:t>
            </a:r>
            <a:r>
              <a:rPr lang="en-GB" dirty="0" err="1">
                <a:latin typeface="Arial" panose="020B0604020202020204" pitchFamily="34" charset="0"/>
                <a:cs typeface="Arial" panose="020B0604020202020204" pitchFamily="34" charset="0"/>
              </a:rPr>
              <a:t>Pahom</a:t>
            </a:r>
            <a:r>
              <a:rPr lang="en-GB" dirty="0">
                <a:latin typeface="Arial" panose="020B0604020202020204" pitchFamily="34" charset="0"/>
                <a:cs typeface="Arial" panose="020B0604020202020204" pitchFamily="34" charset="0"/>
              </a:rPr>
              <a:t>. His pride and greed are the tragic flaws. The villain in the story, the one who pushes </a:t>
            </a:r>
            <a:r>
              <a:rPr lang="en-GB" dirty="0" err="1">
                <a:latin typeface="Arial" panose="020B0604020202020204" pitchFamily="34" charset="0"/>
                <a:cs typeface="Arial" panose="020B0604020202020204" pitchFamily="34" charset="0"/>
              </a:rPr>
              <a:t>Pahom</a:t>
            </a:r>
            <a:r>
              <a:rPr lang="en-GB" dirty="0">
                <a:latin typeface="Arial" panose="020B0604020202020204" pitchFamily="34" charset="0"/>
                <a:cs typeface="Arial" panose="020B0604020202020204" pitchFamily="34" charset="0"/>
              </a:rPr>
              <a:t> to death is the devil. </a:t>
            </a:r>
          </a:p>
          <a:p>
            <a:pPr algn="just"/>
            <a:r>
              <a:rPr lang="en-GB" dirty="0">
                <a:latin typeface="Arial" panose="020B0604020202020204" pitchFamily="34" charset="0"/>
                <a:cs typeface="Arial" panose="020B0604020202020204" pitchFamily="34" charset="0"/>
              </a:rPr>
              <a:t>The story is a didactic story which teaches a moral lesson.</a:t>
            </a:r>
          </a:p>
          <a:p>
            <a:pPr algn="just"/>
            <a:r>
              <a:rPr lang="en-GB" dirty="0">
                <a:latin typeface="Arial" panose="020B0604020202020204" pitchFamily="34" charset="0"/>
                <a:cs typeface="Arial" panose="020B0604020202020204" pitchFamily="34" charset="0"/>
              </a:rPr>
              <a:t>Tolstoy uses dark </a:t>
            </a:r>
            <a:r>
              <a:rPr lang="en-GB" dirty="0" err="1">
                <a:latin typeface="Arial" panose="020B0604020202020204" pitchFamily="34" charset="0"/>
                <a:cs typeface="Arial" panose="020B0604020202020204" pitchFamily="34" charset="0"/>
              </a:rPr>
              <a:t>humor</a:t>
            </a:r>
            <a:r>
              <a:rPr lang="en-GB" dirty="0">
                <a:latin typeface="Arial" panose="020B0604020202020204" pitchFamily="34" charset="0"/>
                <a:cs typeface="Arial" panose="020B0604020202020204" pitchFamily="34" charset="0"/>
              </a:rPr>
              <a:t> and verbal irony: despite </a:t>
            </a:r>
            <a:r>
              <a:rPr lang="en-GB" dirty="0" err="1">
                <a:latin typeface="Arial" panose="020B0604020202020204" pitchFamily="34" charset="0"/>
                <a:cs typeface="Arial" panose="020B0604020202020204" pitchFamily="34" charset="0"/>
              </a:rPr>
              <a:t>Pahom's</a:t>
            </a:r>
            <a:r>
              <a:rPr lang="en-GB" dirty="0">
                <a:latin typeface="Arial" panose="020B0604020202020204" pitchFamily="34" charset="0"/>
                <a:cs typeface="Arial" panose="020B0604020202020204" pitchFamily="34" charset="0"/>
              </a:rPr>
              <a:t> long quest for land, he really only needed enough land for his burial. In Tolstoy's view, wealth and land ownership are futile. </a:t>
            </a:r>
            <a:r>
              <a:rPr lang="en-GB" dirty="0" err="1">
                <a:latin typeface="Arial" panose="020B0604020202020204" pitchFamily="34" charset="0"/>
                <a:cs typeface="Arial" panose="020B0604020202020204" pitchFamily="34" charset="0"/>
              </a:rPr>
              <a:t>Pahom</a:t>
            </a:r>
            <a:r>
              <a:rPr lang="en-GB" dirty="0">
                <a:latin typeface="Arial" panose="020B0604020202020204" pitchFamily="34" charset="0"/>
                <a:cs typeface="Arial" panose="020B0604020202020204" pitchFamily="34" charset="0"/>
              </a:rPr>
              <a:t> can't keep his land or his life forever.</a:t>
            </a:r>
          </a:p>
          <a:p>
            <a:pPr algn="just"/>
            <a:endParaRPr lang="en-GB" dirty="0"/>
          </a:p>
        </p:txBody>
      </p:sp>
    </p:spTree>
    <p:extLst>
      <p:ext uri="{BB962C8B-B14F-4D97-AF65-F5344CB8AC3E}">
        <p14:creationId xmlns:p14="http://schemas.microsoft.com/office/powerpoint/2010/main" val="2824701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latin typeface="Arial" panose="020B0604020202020204" pitchFamily="34" charset="0"/>
                <a:cs typeface="Arial" panose="020B0604020202020204" pitchFamily="34" charset="0"/>
              </a:rPr>
              <a:t>CHARACTERS</a:t>
            </a:r>
          </a:p>
        </p:txBody>
      </p:sp>
      <p:sp>
        <p:nvSpPr>
          <p:cNvPr id="3" name="Content Placeholder 2"/>
          <p:cNvSpPr>
            <a:spLocks noGrp="1"/>
          </p:cNvSpPr>
          <p:nvPr>
            <p:ph idx="1"/>
          </p:nvPr>
        </p:nvSpPr>
        <p:spPr/>
        <p:txBody>
          <a:bodyPr>
            <a:normAutofit fontScale="92500" lnSpcReduction="20000"/>
          </a:bodyPr>
          <a:lstStyle/>
          <a:p>
            <a:pPr algn="just"/>
            <a:r>
              <a:rPr lang="en-GB" dirty="0" err="1">
                <a:latin typeface="Arial" panose="020B0604020202020204" pitchFamily="34" charset="0"/>
                <a:cs typeface="Arial" panose="020B0604020202020204" pitchFamily="34" charset="0"/>
              </a:rPr>
              <a:t>Pahom</a:t>
            </a:r>
            <a:r>
              <a:rPr lang="en-GB" dirty="0">
                <a:latin typeface="Arial" panose="020B0604020202020204" pitchFamily="34" charset="0"/>
                <a:cs typeface="Arial" panose="020B0604020202020204" pitchFamily="34" charset="0"/>
              </a:rPr>
              <a:t> is a peasant farmer in 19th-century Russia who wants to increase his wealth. He travels to three different farms in an attempt to own more profitable land.</a:t>
            </a:r>
            <a:endParaRPr lang="en-GB" u="sng" dirty="0">
              <a:latin typeface="Arial" panose="020B0604020202020204" pitchFamily="34" charset="0"/>
              <a:cs typeface="Arial" panose="020B0604020202020204" pitchFamily="34" charset="0"/>
            </a:endParaRPr>
          </a:p>
          <a:p>
            <a:pPr algn="just"/>
            <a:r>
              <a:rPr lang="en-GB" dirty="0">
                <a:latin typeface="Arial" panose="020B0604020202020204" pitchFamily="34" charset="0"/>
                <a:cs typeface="Arial" panose="020B0604020202020204" pitchFamily="34" charset="0"/>
              </a:rPr>
              <a:t>The Devil is a character based on the spirit of evil in Christian mythology. He tempts </a:t>
            </a:r>
            <a:r>
              <a:rPr lang="en-GB" dirty="0" err="1">
                <a:latin typeface="Arial" panose="020B0604020202020204" pitchFamily="34" charset="0"/>
                <a:cs typeface="Arial" panose="020B0604020202020204" pitchFamily="34" charset="0"/>
              </a:rPr>
              <a:t>Pahom</a:t>
            </a:r>
            <a:r>
              <a:rPr lang="en-GB" dirty="0">
                <a:latin typeface="Arial" panose="020B0604020202020204" pitchFamily="34" charset="0"/>
                <a:cs typeface="Arial" panose="020B0604020202020204" pitchFamily="34" charset="0"/>
              </a:rPr>
              <a:t> to desire more material possessions. The Devil and </a:t>
            </a:r>
            <a:r>
              <a:rPr lang="en-GB" dirty="0" err="1">
                <a:latin typeface="Arial" panose="020B0604020202020204" pitchFamily="34" charset="0"/>
                <a:cs typeface="Arial" panose="020B0604020202020204" pitchFamily="34" charset="0"/>
              </a:rPr>
              <a:t>Pahom</a:t>
            </a:r>
            <a:r>
              <a:rPr lang="en-GB" dirty="0">
                <a:latin typeface="Arial" panose="020B0604020202020204" pitchFamily="34" charset="0"/>
                <a:cs typeface="Arial" panose="020B0604020202020204" pitchFamily="34" charset="0"/>
              </a:rPr>
              <a:t> are the only two characters who appear in all the nine parts of the story.</a:t>
            </a:r>
          </a:p>
          <a:p>
            <a:pPr algn="just"/>
            <a:r>
              <a:rPr lang="en-GB" dirty="0">
                <a:latin typeface="Arial" panose="020B0604020202020204" pitchFamily="34" charset="0"/>
                <a:cs typeface="Arial" panose="020B0604020202020204" pitchFamily="34" charset="0"/>
              </a:rPr>
              <a:t>The peasant tells </a:t>
            </a:r>
            <a:r>
              <a:rPr lang="en-GB" dirty="0" err="1">
                <a:latin typeface="Arial" panose="020B0604020202020204" pitchFamily="34" charset="0"/>
                <a:cs typeface="Arial" panose="020B0604020202020204" pitchFamily="34" charset="0"/>
              </a:rPr>
              <a:t>Pahom</a:t>
            </a:r>
            <a:r>
              <a:rPr lang="en-GB" dirty="0">
                <a:latin typeface="Arial" panose="020B0604020202020204" pitchFamily="34" charset="0"/>
                <a:cs typeface="Arial" panose="020B0604020202020204" pitchFamily="34" charset="0"/>
              </a:rPr>
              <a:t> about good land deals in a commune beyond the Volga River.</a:t>
            </a:r>
          </a:p>
          <a:p>
            <a:pPr algn="just"/>
            <a:r>
              <a:rPr lang="en-GB" dirty="0">
                <a:latin typeface="Arial" panose="020B0604020202020204" pitchFamily="34" charset="0"/>
                <a:cs typeface="Arial" panose="020B0604020202020204" pitchFamily="34" charset="0"/>
              </a:rPr>
              <a:t>The dealer tells </a:t>
            </a:r>
            <a:r>
              <a:rPr lang="en-GB" dirty="0" err="1">
                <a:latin typeface="Arial" panose="020B0604020202020204" pitchFamily="34" charset="0"/>
                <a:cs typeface="Arial" panose="020B0604020202020204" pitchFamily="34" charset="0"/>
              </a:rPr>
              <a:t>Pahom</a:t>
            </a:r>
            <a:r>
              <a:rPr lang="en-GB" dirty="0">
                <a:latin typeface="Arial" panose="020B0604020202020204" pitchFamily="34" charset="0"/>
                <a:cs typeface="Arial" panose="020B0604020202020204" pitchFamily="34" charset="0"/>
              </a:rPr>
              <a:t> about the plentiful Bashkir land.</a:t>
            </a:r>
          </a:p>
          <a:p>
            <a:pPr algn="just"/>
            <a:r>
              <a:rPr lang="en-GB" dirty="0">
                <a:latin typeface="Arial" panose="020B0604020202020204" pitchFamily="34" charset="0"/>
                <a:cs typeface="Arial" panose="020B0604020202020204" pitchFamily="34" charset="0"/>
              </a:rPr>
              <a:t>The Chief is the head of the Bashkir tent village. He makes a deal with </a:t>
            </a:r>
            <a:r>
              <a:rPr lang="en-GB" dirty="0" err="1">
                <a:latin typeface="Arial" panose="020B0604020202020204" pitchFamily="34" charset="0"/>
                <a:cs typeface="Arial" panose="020B0604020202020204" pitchFamily="34" charset="0"/>
              </a:rPr>
              <a:t>Pahom</a:t>
            </a:r>
            <a:r>
              <a:rPr lang="en-GB" dirty="0">
                <a:latin typeface="Arial" panose="020B0604020202020204" pitchFamily="34" charset="0"/>
                <a:cs typeface="Arial" panose="020B0604020202020204" pitchFamily="34" charset="0"/>
              </a:rPr>
              <a:t> in the second half of the story.</a:t>
            </a:r>
          </a:p>
          <a:p>
            <a:pPr algn="just"/>
            <a:endParaRPr lang="en-GB" dirty="0">
              <a:latin typeface="Arial" panose="020B0604020202020204" pitchFamily="34" charset="0"/>
              <a:cs typeface="Arial" panose="020B0604020202020204" pitchFamily="34" charset="0"/>
            </a:endParaRPr>
          </a:p>
          <a:p>
            <a:pPr algn="just"/>
            <a:endParaRPr lang="en-GB"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583256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319</TotalTime>
  <Words>1243</Words>
  <Application>Microsoft Office PowerPoint</Application>
  <PresentationFormat>Widescreen</PresentationFormat>
  <Paragraphs>54</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HOW MUCH LAND DOES A MAN NEED?</vt:lpstr>
      <vt:lpstr>THE TITLE</vt:lpstr>
      <vt:lpstr>PLOT SUMMARY – PART 1</vt:lpstr>
      <vt:lpstr>PAHOM AND LAND</vt:lpstr>
      <vt:lpstr>PAHOM AND LAND</vt:lpstr>
      <vt:lpstr>THE ROLE OF THE DEVIL</vt:lpstr>
      <vt:lpstr>PART 7</vt:lpstr>
      <vt:lpstr>THE CORROSIVE POWER OF LAND</vt:lpstr>
      <vt:lpstr>THEMES</vt:lpstr>
      <vt:lpstr>TECHNIQUES</vt:lpstr>
      <vt:lpstr>TECHNIQUES</vt:lpstr>
      <vt:lpstr>CHARACTERS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MUCH LAND DOES A MAN NEED?</dc:title>
  <dc:creator>John Aning</dc:creator>
  <cp:lastModifiedBy>johnaning53@outlook.com</cp:lastModifiedBy>
  <cp:revision>53</cp:revision>
  <cp:lastPrinted>2021-06-07T15:12:33Z</cp:lastPrinted>
  <dcterms:created xsi:type="dcterms:W3CDTF">2020-02-25T19:58:09Z</dcterms:created>
  <dcterms:modified xsi:type="dcterms:W3CDTF">2021-06-15T16:17:35Z</dcterms:modified>
</cp:coreProperties>
</file>