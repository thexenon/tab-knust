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1" r:id="rId5"/>
    <p:sldId id="272" r:id="rId6"/>
    <p:sldId id="262" r:id="rId7"/>
    <p:sldId id="263" r:id="rId8"/>
    <p:sldId id="273" r:id="rId9"/>
    <p:sldId id="264" r:id="rId10"/>
    <p:sldId id="274" r:id="rId11"/>
    <p:sldId id="275" r:id="rId12"/>
    <p:sldId id="265" r:id="rId13"/>
    <p:sldId id="266" r:id="rId14"/>
    <p:sldId id="267" r:id="rId15"/>
    <p:sldId id="268" r:id="rId16"/>
    <p:sldId id="276" r:id="rId17"/>
    <p:sldId id="277" r:id="rId18"/>
    <p:sldId id="278" r:id="rId19"/>
    <p:sldId id="270" r:id="rId20"/>
    <p:sldId id="27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9794D1F-D2A8-46C4-9FD6-B0827E946CB7}" type="datetimeFigureOut">
              <a:rPr lang="en-US" smtClean="0"/>
              <a:pPr/>
              <a:t>20-May-21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01244-BC90-4CFF-9345-6B385376B4F1}" type="slidenum">
              <a:rPr lang="en-US" smtClean="0"/>
              <a:pPr/>
              <a:t>‹#›</a:t>
            </a:fld>
            <a:endParaRPr lang="en-US"/>
          </a:p>
        </p:txBody>
      </p:sp>
    </p:spTree>
    <p:extLst>
      <p:ext uri="{BB962C8B-B14F-4D97-AF65-F5344CB8AC3E}">
        <p14:creationId xmlns:p14="http://schemas.microsoft.com/office/powerpoint/2010/main" xmlns="" val="4143018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794D1F-D2A8-46C4-9FD6-B0827E946CB7}" type="datetimeFigureOut">
              <a:rPr lang="en-US" smtClean="0"/>
              <a:pPr/>
              <a:t>20-May-21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01244-BC90-4CFF-9345-6B385376B4F1}" type="slidenum">
              <a:rPr lang="en-US" smtClean="0"/>
              <a:pPr/>
              <a:t>‹#›</a:t>
            </a:fld>
            <a:endParaRPr lang="en-US"/>
          </a:p>
        </p:txBody>
      </p:sp>
    </p:spTree>
    <p:extLst>
      <p:ext uri="{BB962C8B-B14F-4D97-AF65-F5344CB8AC3E}">
        <p14:creationId xmlns:p14="http://schemas.microsoft.com/office/powerpoint/2010/main" xmlns="" val="944934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9794D1F-D2A8-46C4-9FD6-B0827E946CB7}" type="datetimeFigureOut">
              <a:rPr lang="en-US" smtClean="0"/>
              <a:pPr/>
              <a:t>20-May-21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01244-BC90-4CFF-9345-6B385376B4F1}" type="slidenum">
              <a:rPr lang="en-US" smtClean="0"/>
              <a:pPr/>
              <a:t>‹#›</a:t>
            </a:fld>
            <a:endParaRPr lang="en-US"/>
          </a:p>
        </p:txBody>
      </p:sp>
    </p:spTree>
    <p:extLst>
      <p:ext uri="{BB962C8B-B14F-4D97-AF65-F5344CB8AC3E}">
        <p14:creationId xmlns:p14="http://schemas.microsoft.com/office/powerpoint/2010/main" xmlns="" val="3817623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9794D1F-D2A8-46C4-9FD6-B0827E946CB7}" type="datetimeFigureOut">
              <a:rPr lang="en-US" smtClean="0"/>
              <a:pPr/>
              <a:t>20-May-21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F01244-BC90-4CFF-9345-6B385376B4F1}" type="slidenum">
              <a:rPr lang="en-US" smtClean="0"/>
              <a:pPr/>
              <a:t>‹#›</a:t>
            </a:fld>
            <a:endParaRPr lang="en-US"/>
          </a:p>
        </p:txBody>
      </p:sp>
    </p:spTree>
    <p:extLst>
      <p:ext uri="{BB962C8B-B14F-4D97-AF65-F5344CB8AC3E}">
        <p14:creationId xmlns:p14="http://schemas.microsoft.com/office/powerpoint/2010/main" xmlns="" val="3862298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9794D1F-D2A8-46C4-9FD6-B0827E946CB7}" type="datetimeFigureOut">
              <a:rPr lang="en-US" smtClean="0"/>
              <a:pPr/>
              <a:t>20-May-21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F01244-BC90-4CFF-9345-6B385376B4F1}" type="slidenum">
              <a:rPr lang="en-US" smtClean="0"/>
              <a:pPr/>
              <a:t>‹#›</a:t>
            </a:fld>
            <a:endParaRPr lang="en-US"/>
          </a:p>
        </p:txBody>
      </p:sp>
    </p:spTree>
    <p:extLst>
      <p:ext uri="{BB962C8B-B14F-4D97-AF65-F5344CB8AC3E}">
        <p14:creationId xmlns:p14="http://schemas.microsoft.com/office/powerpoint/2010/main" xmlns="" val="1258707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9794D1F-D2A8-46C4-9FD6-B0827E946CB7}" type="datetimeFigureOut">
              <a:rPr lang="en-US" smtClean="0"/>
              <a:pPr/>
              <a:t>20-May-21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F01244-BC90-4CFF-9345-6B385376B4F1}" type="slidenum">
              <a:rPr lang="en-US" smtClean="0"/>
              <a:pPr/>
              <a:t>‹#›</a:t>
            </a:fld>
            <a:endParaRPr lang="en-US"/>
          </a:p>
        </p:txBody>
      </p:sp>
    </p:spTree>
    <p:extLst>
      <p:ext uri="{BB962C8B-B14F-4D97-AF65-F5344CB8AC3E}">
        <p14:creationId xmlns:p14="http://schemas.microsoft.com/office/powerpoint/2010/main" xmlns="" val="919901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794D1F-D2A8-46C4-9FD6-B0827E946CB7}" type="datetimeFigureOut">
              <a:rPr lang="en-US" smtClean="0"/>
              <a:pPr/>
              <a:t>20-May-21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F01244-BC90-4CFF-9345-6B385376B4F1}" type="slidenum">
              <a:rPr lang="en-US" smtClean="0"/>
              <a:pPr/>
              <a:t>‹#›</a:t>
            </a:fld>
            <a:endParaRPr lang="en-US"/>
          </a:p>
        </p:txBody>
      </p:sp>
    </p:spTree>
    <p:extLst>
      <p:ext uri="{BB962C8B-B14F-4D97-AF65-F5344CB8AC3E}">
        <p14:creationId xmlns:p14="http://schemas.microsoft.com/office/powerpoint/2010/main" xmlns="" val="1281881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794D1F-D2A8-46C4-9FD6-B0827E946CB7}" type="datetimeFigureOut">
              <a:rPr lang="en-US" smtClean="0"/>
              <a:pPr/>
              <a:t>20-May-21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F01244-BC90-4CFF-9345-6B385376B4F1}" type="slidenum">
              <a:rPr lang="en-US" smtClean="0"/>
              <a:pPr/>
              <a:t>‹#›</a:t>
            </a:fld>
            <a:endParaRPr lang="en-US"/>
          </a:p>
        </p:txBody>
      </p:sp>
    </p:spTree>
    <p:extLst>
      <p:ext uri="{BB962C8B-B14F-4D97-AF65-F5344CB8AC3E}">
        <p14:creationId xmlns:p14="http://schemas.microsoft.com/office/powerpoint/2010/main" xmlns="" val="3782251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794D1F-D2A8-46C4-9FD6-B0827E946CB7}" type="datetimeFigureOut">
              <a:rPr lang="en-US" smtClean="0"/>
              <a:pPr/>
              <a:t>20-May-21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F01244-BC90-4CFF-9345-6B385376B4F1}" type="slidenum">
              <a:rPr lang="en-US" smtClean="0"/>
              <a:pPr/>
              <a:t>‹#›</a:t>
            </a:fld>
            <a:endParaRPr lang="en-US"/>
          </a:p>
        </p:txBody>
      </p:sp>
    </p:spTree>
    <p:extLst>
      <p:ext uri="{BB962C8B-B14F-4D97-AF65-F5344CB8AC3E}">
        <p14:creationId xmlns:p14="http://schemas.microsoft.com/office/powerpoint/2010/main" xmlns="" val="2858724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794D1F-D2A8-46C4-9FD6-B0827E946CB7}" type="datetimeFigureOut">
              <a:rPr lang="en-US" smtClean="0"/>
              <a:pPr/>
              <a:t>20-May-21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01244-BC90-4CFF-9345-6B385376B4F1}" type="slidenum">
              <a:rPr lang="en-US" smtClean="0"/>
              <a:pPr/>
              <a:t>‹#›</a:t>
            </a:fld>
            <a:endParaRPr lang="en-US"/>
          </a:p>
        </p:txBody>
      </p:sp>
    </p:spTree>
    <p:extLst>
      <p:ext uri="{BB962C8B-B14F-4D97-AF65-F5344CB8AC3E}">
        <p14:creationId xmlns:p14="http://schemas.microsoft.com/office/powerpoint/2010/main" xmlns="" val="880119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794D1F-D2A8-46C4-9FD6-B0827E946CB7}" type="datetimeFigureOut">
              <a:rPr lang="en-US" smtClean="0"/>
              <a:pPr/>
              <a:t>20-May-21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F01244-BC90-4CFF-9345-6B385376B4F1}" type="slidenum">
              <a:rPr lang="en-US" smtClean="0"/>
              <a:pPr/>
              <a:t>‹#›</a:t>
            </a:fld>
            <a:endParaRPr lang="en-US"/>
          </a:p>
        </p:txBody>
      </p:sp>
    </p:spTree>
    <p:extLst>
      <p:ext uri="{BB962C8B-B14F-4D97-AF65-F5344CB8AC3E}">
        <p14:creationId xmlns:p14="http://schemas.microsoft.com/office/powerpoint/2010/main" xmlns="" val="85072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794D1F-D2A8-46C4-9FD6-B0827E946CB7}" type="datetimeFigureOut">
              <a:rPr lang="en-US" smtClean="0"/>
              <a:pPr/>
              <a:t>20-May-21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F01244-BC90-4CFF-9345-6B385376B4F1}" type="slidenum">
              <a:rPr lang="en-US" smtClean="0"/>
              <a:pPr/>
              <a:t>‹#›</a:t>
            </a:fld>
            <a:endParaRPr lang="en-US"/>
          </a:p>
        </p:txBody>
      </p:sp>
    </p:spTree>
    <p:extLst>
      <p:ext uri="{BB962C8B-B14F-4D97-AF65-F5344CB8AC3E}">
        <p14:creationId xmlns:p14="http://schemas.microsoft.com/office/powerpoint/2010/main" xmlns="" val="910301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04800"/>
            <a:ext cx="4724400" cy="1143000"/>
          </a:xfrm>
        </p:spPr>
        <p:txBody>
          <a:bodyPr/>
          <a:lstStyle/>
          <a:p>
            <a:endParaRPr lang="en-US" dirty="0"/>
          </a:p>
        </p:txBody>
      </p:sp>
      <p:pic>
        <p:nvPicPr>
          <p:cNvPr id="4" name="Picture 2" descr="August Comte 1798 - 1857 "/>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57841" y="1600200"/>
            <a:ext cx="4690559" cy="4525963"/>
          </a:xfrm>
          <a:prstGeom prst="rect">
            <a:avLst/>
          </a:prstGeom>
          <a:noFill/>
          <a:extLst>
            <a:ext uri="{909E8E84-426E-40DD-AFC4-6F175D3DCCD1}">
              <a14:hiddenFill xmlns:a14="http://schemas.microsoft.com/office/drawing/2010/main" xmlns="">
                <a:solidFill>
                  <a:srgbClr val="FFFFFF"/>
                </a:solidFill>
              </a14:hiddenFill>
            </a:ext>
          </a:extLst>
        </p:spPr>
      </p:pic>
      <p:pic>
        <p:nvPicPr>
          <p:cNvPr id="2050" name="Picture 2" descr="Image result for auguste comte"/>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24000" y="228600"/>
            <a:ext cx="4724400" cy="308610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6027799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Brief Background</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pPr lvl="1">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Born </a:t>
            </a:r>
            <a:r>
              <a:rPr lang="en-US" dirty="0">
                <a:latin typeface="Times New Roman" panose="02020603050405020304" pitchFamily="18" charset="0"/>
                <a:cs typeface="Times New Roman" panose="02020603050405020304" pitchFamily="18" charset="0"/>
              </a:rPr>
              <a:t>on January 19, 1798 in Montpellier, France. </a:t>
            </a:r>
            <a:endParaRPr lang="en-US" dirty="0" smtClean="0">
              <a:latin typeface="Times New Roman" panose="02020603050405020304" pitchFamily="18" charset="0"/>
              <a:cs typeface="Times New Roman" panose="02020603050405020304" pitchFamily="18" charset="0"/>
            </a:endParaRPr>
          </a:p>
          <a:p>
            <a:pPr marL="457200" lvl="1" indent="0">
              <a:buNone/>
            </a:pP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Very </a:t>
            </a:r>
            <a:r>
              <a:rPr lang="en-US" dirty="0">
                <a:latin typeface="Times New Roman" panose="02020603050405020304" pitchFamily="18" charset="0"/>
                <a:cs typeface="Times New Roman" panose="02020603050405020304" pitchFamily="18" charset="0"/>
              </a:rPr>
              <a:t>early in his school career he lost the faith of his parents (monarchism and Catholicism</a:t>
            </a:r>
            <a:r>
              <a:rPr lang="en-US" dirty="0" smtClean="0">
                <a:latin typeface="Times New Roman" panose="02020603050405020304" pitchFamily="18" charset="0"/>
                <a:cs typeface="Times New Roman" panose="02020603050405020304" pitchFamily="18" charset="0"/>
              </a:rPr>
              <a:t>).</a:t>
            </a:r>
          </a:p>
          <a:p>
            <a:pPr marL="457200" lvl="1" indent="0">
              <a:buNone/>
            </a:pP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Substituted </a:t>
            </a:r>
            <a:r>
              <a:rPr lang="en-US" dirty="0">
                <a:latin typeface="Times New Roman" panose="02020603050405020304" pitchFamily="18" charset="0"/>
                <a:cs typeface="Times New Roman" panose="02020603050405020304" pitchFamily="18" charset="0"/>
              </a:rPr>
              <a:t>for republican faith in liberty. The only teacher who made a very strong impression on the young Comte was his professor of mathematics, Daniel </a:t>
            </a:r>
            <a:r>
              <a:rPr lang="en-US" dirty="0" err="1">
                <a:latin typeface="Times New Roman" panose="02020603050405020304" pitchFamily="18" charset="0"/>
                <a:cs typeface="Times New Roman" panose="02020603050405020304" pitchFamily="18" charset="0"/>
              </a:rPr>
              <a:t>Encontre</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457200" lvl="1" indent="0">
              <a:buNone/>
            </a:pP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Socially</a:t>
            </a:r>
            <a:r>
              <a:rPr lang="en-US" dirty="0">
                <a:latin typeface="Times New Roman" panose="02020603050405020304" pitchFamily="18" charset="0"/>
                <a:cs typeface="Times New Roman" panose="02020603050405020304" pitchFamily="18" charset="0"/>
              </a:rPr>
              <a:t>, Comte was disturbed by the destructive effects of the French revolution and the Industrial revolution. </a:t>
            </a:r>
            <a:endParaRPr lang="en-US" dirty="0" smtClean="0">
              <a:latin typeface="Times New Roman" panose="02020603050405020304" pitchFamily="18" charset="0"/>
              <a:cs typeface="Times New Roman" panose="02020603050405020304" pitchFamily="18" charset="0"/>
            </a:endParaRPr>
          </a:p>
          <a:p>
            <a:pPr marL="457200" lvl="1" indent="0">
              <a:buNone/>
            </a:pP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He </a:t>
            </a:r>
            <a:r>
              <a:rPr lang="en-US" dirty="0">
                <a:latin typeface="Times New Roman" panose="02020603050405020304" pitchFamily="18" charset="0"/>
                <a:cs typeface="Times New Roman" panose="02020603050405020304" pitchFamily="18" charset="0"/>
              </a:rPr>
              <a:t>wanted to contribute his quota to restoring order through the development of a theoretical science of society</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695030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Work: Sociology as Science </a:t>
            </a:r>
            <a:endParaRPr lang="en-US" b="1" dirty="0"/>
          </a:p>
        </p:txBody>
      </p:sp>
      <p:sp>
        <p:nvSpPr>
          <p:cNvPr id="3" name="Content Placeholder 2"/>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He first called it </a:t>
            </a:r>
            <a:r>
              <a:rPr lang="en-US" i="1" dirty="0">
                <a:latin typeface="Times New Roman" panose="02020603050405020304" pitchFamily="18" charset="0"/>
                <a:cs typeface="Times New Roman" panose="02020603050405020304" pitchFamily="18" charset="0"/>
              </a:rPr>
              <a:t>SOCIAL PHYSICS</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Later replaced with Sociology because of a Belgian social statistician, </a:t>
            </a:r>
            <a:r>
              <a:rPr lang="en-US" dirty="0" err="1">
                <a:latin typeface="Times New Roman" panose="02020603050405020304" pitchFamily="18" charset="0"/>
                <a:cs typeface="Times New Roman" panose="02020603050405020304" pitchFamily="18" charset="0"/>
              </a:rPr>
              <a:t>Adolphe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Quetelet</a:t>
            </a:r>
            <a:r>
              <a:rPr lang="en-US" dirty="0">
                <a:latin typeface="Times New Roman" panose="02020603050405020304" pitchFamily="18" charset="0"/>
                <a:cs typeface="Times New Roman" panose="02020603050405020304" pitchFamily="18" charset="0"/>
              </a:rPr>
              <a:t>, who ‘stole’ the term from him (Comte).</a:t>
            </a:r>
          </a:p>
          <a:p>
            <a:r>
              <a:rPr lang="en-US" i="1" dirty="0">
                <a:latin typeface="Times New Roman" panose="02020603050405020304" pitchFamily="18" charset="0"/>
                <a:cs typeface="Times New Roman" panose="02020603050405020304" pitchFamily="18" charset="0"/>
              </a:rPr>
              <a:t>Sociology: </a:t>
            </a:r>
            <a:r>
              <a:rPr lang="en-US" dirty="0">
                <a:latin typeface="Times New Roman" panose="02020603050405020304" pitchFamily="18" charset="0"/>
                <a:cs typeface="Times New Roman" panose="02020603050405020304" pitchFamily="18" charset="0"/>
              </a:rPr>
              <a:t>a hybrid term comprising Latin and Greek expressions. </a:t>
            </a:r>
          </a:p>
          <a:p>
            <a:r>
              <a:rPr lang="en-US" i="1" dirty="0" err="1">
                <a:latin typeface="Times New Roman" panose="02020603050405020304" pitchFamily="18" charset="0"/>
                <a:cs typeface="Times New Roman" panose="02020603050405020304" pitchFamily="18" charset="0"/>
              </a:rPr>
              <a:t>Socius</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Latin term meaning friend, companion or associate. </a:t>
            </a:r>
          </a:p>
          <a:p>
            <a:r>
              <a:rPr lang="en-US" i="1" dirty="0">
                <a:latin typeface="Times New Roman" panose="02020603050405020304" pitchFamily="18" charset="0"/>
                <a:cs typeface="Times New Roman" panose="02020603050405020304" pitchFamily="18" charset="0"/>
              </a:rPr>
              <a:t>Logos</a:t>
            </a:r>
            <a:r>
              <a:rPr lang="en-US" dirty="0">
                <a:latin typeface="Times New Roman" panose="02020603050405020304" pitchFamily="18" charset="0"/>
                <a:cs typeface="Times New Roman" panose="02020603050405020304" pitchFamily="18" charset="0"/>
              </a:rPr>
              <a:t> or </a:t>
            </a:r>
            <a:r>
              <a:rPr lang="en-US" i="1" dirty="0">
                <a:latin typeface="Times New Roman" panose="02020603050405020304" pitchFamily="18" charset="0"/>
                <a:cs typeface="Times New Roman" panose="02020603050405020304" pitchFamily="18" charset="0"/>
              </a:rPr>
              <a:t>ology</a:t>
            </a:r>
            <a:r>
              <a:rPr lang="en-US" dirty="0">
                <a:latin typeface="Times New Roman" panose="02020603050405020304" pitchFamily="18" charset="0"/>
                <a:cs typeface="Times New Roman" panose="02020603050405020304" pitchFamily="18" charset="0"/>
              </a:rPr>
              <a:t>: the study of, doctrine, discourse or theory. </a:t>
            </a:r>
          </a:p>
          <a:p>
            <a:r>
              <a:rPr lang="en-US" dirty="0">
                <a:latin typeface="Times New Roman" panose="02020603050405020304" pitchFamily="18" charset="0"/>
                <a:cs typeface="Times New Roman" panose="02020603050405020304" pitchFamily="18" charset="0"/>
              </a:rPr>
              <a:t>Thus, </a:t>
            </a:r>
            <a:r>
              <a:rPr lang="en-US" i="1" dirty="0" err="1">
                <a:latin typeface="Times New Roman" panose="02020603050405020304" pitchFamily="18" charset="0"/>
                <a:cs typeface="Times New Roman" panose="02020603050405020304" pitchFamily="18" charset="0"/>
              </a:rPr>
              <a:t>socius</a:t>
            </a:r>
            <a:r>
              <a:rPr lang="en-US" i="1" dirty="0">
                <a:latin typeface="Times New Roman" panose="02020603050405020304" pitchFamily="18" charset="0"/>
                <a:cs typeface="Times New Roman" panose="02020603050405020304" pitchFamily="18" charset="0"/>
              </a:rPr>
              <a:t> + logos = sociology</a:t>
            </a:r>
            <a:r>
              <a:rPr lang="en-US" dirty="0">
                <a:latin typeface="Times New Roman" panose="02020603050405020304" pitchFamily="18" charset="0"/>
                <a:cs typeface="Times New Roman" panose="02020603050405020304" pitchFamily="18" charset="0"/>
              </a:rPr>
              <a:t>, literally means the study of companionship or groups of human beings (</a:t>
            </a:r>
            <a:r>
              <a:rPr lang="en-US" dirty="0" err="1">
                <a:latin typeface="Times New Roman" panose="02020603050405020304" pitchFamily="18" charset="0"/>
                <a:cs typeface="Times New Roman" panose="02020603050405020304" pitchFamily="18" charset="0"/>
              </a:rPr>
              <a:t>Rawat</a:t>
            </a:r>
            <a:r>
              <a:rPr lang="en-US" dirty="0">
                <a:latin typeface="Times New Roman" panose="02020603050405020304" pitchFamily="18" charset="0"/>
                <a:cs typeface="Times New Roman" panose="02020603050405020304" pitchFamily="18" charset="0"/>
              </a:rPr>
              <a:t>, 2009).</a:t>
            </a:r>
          </a:p>
        </p:txBody>
      </p:sp>
    </p:spTree>
    <p:extLst>
      <p:ext uri="{BB962C8B-B14F-4D97-AF65-F5344CB8AC3E}">
        <p14:creationId xmlns:p14="http://schemas.microsoft.com/office/powerpoint/2010/main" xmlns="" val="15023687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Subject Matter</a:t>
            </a:r>
            <a:endParaRPr lang="en-US" dirty="0"/>
          </a:p>
        </p:txBody>
      </p:sp>
      <p:sp>
        <p:nvSpPr>
          <p:cNvPr id="3" name="Content Placeholder 2"/>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Sociology shares affinity with biology; hence society is a social organism. </a:t>
            </a:r>
          </a:p>
          <a:p>
            <a:r>
              <a:rPr lang="en-US" dirty="0">
                <a:latin typeface="Times New Roman" panose="02020603050405020304" pitchFamily="18" charset="0"/>
                <a:cs typeface="Times New Roman" panose="02020603050405020304" pitchFamily="18" charset="0"/>
              </a:rPr>
              <a:t>Biology decomposes the living organism: cells, tissues, and organs</a:t>
            </a:r>
          </a:p>
          <a:p>
            <a:r>
              <a:rPr lang="en-US" dirty="0">
                <a:latin typeface="Times New Roman" panose="02020603050405020304" pitchFamily="18" charset="0"/>
                <a:cs typeface="Times New Roman" panose="02020603050405020304" pitchFamily="18" charset="0"/>
              </a:rPr>
              <a:t>Sociology decomposes society into: families, castes, social institutions</a:t>
            </a:r>
          </a:p>
          <a:p>
            <a:r>
              <a:rPr lang="en-US" dirty="0">
                <a:latin typeface="Times New Roman" panose="02020603050405020304" pitchFamily="18" charset="0"/>
                <a:cs typeface="Times New Roman" panose="02020603050405020304" pitchFamily="18" charset="0"/>
              </a:rPr>
              <a:t>Comte refuses to see individuals as elementary parts of society. The scientific spirit forbids that. </a:t>
            </a:r>
          </a:p>
          <a:p>
            <a:r>
              <a:rPr lang="en-US" dirty="0">
                <a:latin typeface="Times New Roman" panose="02020603050405020304" pitchFamily="18" charset="0"/>
                <a:cs typeface="Times New Roman" panose="02020603050405020304" pitchFamily="18" charset="0"/>
              </a:rPr>
              <a:t>The true social unit is the family reducible to the elementary couple. </a:t>
            </a:r>
          </a:p>
          <a:p>
            <a:r>
              <a:rPr lang="en-US" dirty="0">
                <a:latin typeface="Times New Roman" panose="02020603050405020304" pitchFamily="18" charset="0"/>
                <a:cs typeface="Times New Roman" panose="02020603050405020304" pitchFamily="18" charset="0"/>
              </a:rPr>
              <a:t>Families become tribes, tribes become nations. </a:t>
            </a:r>
          </a:p>
        </p:txBody>
      </p:sp>
    </p:spTree>
    <p:extLst>
      <p:ext uri="{BB962C8B-B14F-4D97-AF65-F5344CB8AC3E}">
        <p14:creationId xmlns:p14="http://schemas.microsoft.com/office/powerpoint/2010/main" xmlns="" val="35434892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Subject </a:t>
            </a:r>
            <a:r>
              <a:rPr lang="en-US" b="1" dirty="0" smtClean="0"/>
              <a:t>Matter Cont’d</a:t>
            </a:r>
            <a:endParaRPr lang="en-US" dirty="0"/>
          </a:p>
        </p:txBody>
      </p:sp>
      <p:pic>
        <p:nvPicPr>
          <p:cNvPr id="409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62000" y="1600200"/>
            <a:ext cx="7391399" cy="48006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0248433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Subject </a:t>
            </a:r>
            <a:r>
              <a:rPr lang="en-US" b="1" dirty="0" smtClean="0"/>
              <a:t>Matter Cont’d</a:t>
            </a:r>
            <a:endParaRPr lang="en-US" dirty="0"/>
          </a:p>
        </p:txBody>
      </p:sp>
      <p:sp>
        <p:nvSpPr>
          <p:cNvPr id="3" name="Content Placeholder 2"/>
          <p:cNvSpPr>
            <a:spLocks noGrp="1"/>
          </p:cNvSpPr>
          <p:nvPr>
            <p:ph idx="1"/>
          </p:nvPr>
        </p:nvSpPr>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Thus the sociologist should be interested in analyzing the causes of stability and change in society. In other words, </a:t>
            </a:r>
            <a:r>
              <a:rPr lang="en-US" b="1" dirty="0">
                <a:latin typeface="Times New Roman" panose="02020603050405020304" pitchFamily="18" charset="0"/>
                <a:cs typeface="Times New Roman" panose="02020603050405020304" pitchFamily="18" charset="0"/>
              </a:rPr>
              <a:t>social statics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social dynamics.</a:t>
            </a:r>
          </a:p>
          <a:p>
            <a:r>
              <a:rPr lang="en-US" b="1" dirty="0">
                <a:latin typeface="Times New Roman" panose="02020603050405020304" pitchFamily="18" charset="0"/>
                <a:cs typeface="Times New Roman" panose="02020603050405020304" pitchFamily="18" charset="0"/>
              </a:rPr>
              <a:t>Social statics</a:t>
            </a:r>
            <a:r>
              <a:rPr lang="en-US" dirty="0">
                <a:latin typeface="Times New Roman" panose="02020603050405020304" pitchFamily="18" charset="0"/>
                <a:cs typeface="Times New Roman" panose="02020603050405020304" pitchFamily="18" charset="0"/>
              </a:rPr>
              <a:t>: Social processes or aspects of social life which bring about order, peace and harmony in society. E.g. language, family, religion, division of labour, etc.</a:t>
            </a:r>
          </a:p>
          <a:p>
            <a:r>
              <a:rPr lang="en-US" b="1" dirty="0">
                <a:latin typeface="Times New Roman" panose="02020603050405020304" pitchFamily="18" charset="0"/>
                <a:cs typeface="Times New Roman" panose="02020603050405020304" pitchFamily="18" charset="0"/>
              </a:rPr>
              <a:t>social dynamics</a:t>
            </a:r>
            <a:r>
              <a:rPr lang="en-US" dirty="0">
                <a:latin typeface="Times New Roman" panose="02020603050405020304" pitchFamily="18" charset="0"/>
                <a:cs typeface="Times New Roman" panose="02020603050405020304" pitchFamily="18" charset="0"/>
              </a:rPr>
              <a:t>: Social processes or aspects of social life which bring about social change or progress in society. E.g. technology, cultural diffusion, war, science, etc</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1925709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anose="02020603050405020304" pitchFamily="18" charset="0"/>
                <a:cs typeface="Times New Roman" panose="02020603050405020304" pitchFamily="18" charset="0"/>
              </a:rPr>
              <a:t>Preferred Methods of Inquiry (Methodology)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The methodology of Sociology is the same as it is for the Natural Sciences:</a:t>
            </a:r>
          </a:p>
          <a:p>
            <a:pPr marL="971550" lvl="1" indent="-514350">
              <a:buFont typeface="+mj-lt"/>
              <a:buAutoNum type="arabicPeriod"/>
            </a:pPr>
            <a:r>
              <a:rPr lang="en-NZ" dirty="0" smtClean="0">
                <a:latin typeface="Times New Roman" panose="02020603050405020304" pitchFamily="18" charset="0"/>
                <a:cs typeface="Times New Roman" panose="02020603050405020304" pitchFamily="18" charset="0"/>
              </a:rPr>
              <a:t>Observation</a:t>
            </a:r>
          </a:p>
          <a:p>
            <a:pPr marL="971550" lvl="1" indent="-514350">
              <a:buFont typeface="+mj-lt"/>
              <a:buAutoNum type="arabicPeriod"/>
            </a:pPr>
            <a:r>
              <a:rPr lang="en-NZ" dirty="0" smtClean="0">
                <a:latin typeface="Times New Roman" panose="02020603050405020304" pitchFamily="18" charset="0"/>
                <a:cs typeface="Times New Roman" panose="02020603050405020304" pitchFamily="18" charset="0"/>
              </a:rPr>
              <a:t>Experimentation</a:t>
            </a:r>
          </a:p>
          <a:p>
            <a:pPr marL="971550" lvl="1" indent="-514350">
              <a:buFont typeface="+mj-lt"/>
              <a:buAutoNum type="arabicPeriod"/>
            </a:pPr>
            <a:r>
              <a:rPr lang="en-NZ" dirty="0" smtClean="0">
                <a:latin typeface="Times New Roman" panose="02020603050405020304" pitchFamily="18" charset="0"/>
                <a:cs typeface="Times New Roman" panose="02020603050405020304" pitchFamily="18" charset="0"/>
              </a:rPr>
              <a:t>comparison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9519972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Methodology Cont’d</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10000"/>
          </a:bodyPr>
          <a:lstStyle/>
          <a:p>
            <a:pPr marL="514350" indent="-514350">
              <a:buFont typeface="+mj-lt"/>
              <a:buAutoNum type="arabicPeriod"/>
            </a:pPr>
            <a:r>
              <a:rPr lang="en-US" dirty="0" smtClean="0">
                <a:latin typeface="Times New Roman" panose="02020603050405020304" pitchFamily="18" charset="0"/>
                <a:cs typeface="Times New Roman" panose="02020603050405020304" pitchFamily="18" charset="0"/>
              </a:rPr>
              <a:t>Observation: Means the direct observation of the human </a:t>
            </a:r>
            <a:r>
              <a:rPr lang="en-US" dirty="0" err="1" smtClean="0">
                <a:latin typeface="Times New Roman" panose="02020603050405020304" pitchFamily="18" charset="0"/>
                <a:cs typeface="Times New Roman" panose="02020603050405020304" pitchFamily="18" charset="0"/>
              </a:rPr>
              <a:t>behaviour</a:t>
            </a:r>
            <a:r>
              <a:rPr lang="en-US" dirty="0" smtClean="0">
                <a:latin typeface="Times New Roman" panose="02020603050405020304" pitchFamily="18" charset="0"/>
                <a:cs typeface="Times New Roman" panose="02020603050405020304" pitchFamily="18" charset="0"/>
              </a:rPr>
              <a:t>, guided by a preliminary theory of what you expect to observe, i.e. some hypotheses.  </a:t>
            </a:r>
          </a:p>
          <a:p>
            <a:pPr marL="514350" indent="-514350">
              <a:buFont typeface="+mj-lt"/>
              <a:buAutoNum type="arabicPeriod"/>
            </a:pPr>
            <a:r>
              <a:rPr lang="en-US" dirty="0" smtClean="0">
                <a:latin typeface="Times New Roman" panose="02020603050405020304" pitchFamily="18" charset="0"/>
                <a:cs typeface="Times New Roman" panose="02020603050405020304" pitchFamily="18" charset="0"/>
              </a:rPr>
              <a:t>Experimentation: Direct experimentation not possible in sociology. But variation in circumstances or situation of people just to see their reaction. </a:t>
            </a:r>
          </a:p>
          <a:p>
            <a:pPr marL="514350" indent="-514350">
              <a:buFont typeface="+mj-lt"/>
              <a:buAutoNum type="arabicPeriod"/>
            </a:pPr>
            <a:r>
              <a:rPr lang="en-US" dirty="0" smtClean="0">
                <a:latin typeface="Times New Roman" panose="02020603050405020304" pitchFamily="18" charset="0"/>
                <a:cs typeface="Times New Roman" panose="02020603050405020304" pitchFamily="18" charset="0"/>
              </a:rPr>
              <a:t>and Comparison: human with animal societies gives clues to the first germs of the social relations and to the borderlines between the human and the animal. </a:t>
            </a:r>
          </a:p>
        </p:txBody>
      </p:sp>
    </p:spTree>
    <p:extLst>
      <p:ext uri="{BB962C8B-B14F-4D97-AF65-F5344CB8AC3E}">
        <p14:creationId xmlns:p14="http://schemas.microsoft.com/office/powerpoint/2010/main" xmlns="" val="4341999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atin typeface="Times New Roman" panose="02020603050405020304" pitchFamily="18" charset="0"/>
                <a:cs typeface="Times New Roman" panose="02020603050405020304" pitchFamily="18" charset="0"/>
              </a:rPr>
              <a:t>Methodology Cont’d</a:t>
            </a:r>
            <a:endParaRPr lang="en-US" dirty="0"/>
          </a:p>
        </p:txBody>
      </p:sp>
      <p:pic>
        <p:nvPicPr>
          <p:cNvPr id="5123"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57840" y="1600200"/>
            <a:ext cx="6824159" cy="452596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6461561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atin typeface="Times New Roman" panose="02020603050405020304" pitchFamily="18" charset="0"/>
                <a:cs typeface="Times New Roman" panose="02020603050405020304" pitchFamily="18" charset="0"/>
              </a:rPr>
              <a:t>Methodology Cont’d</a:t>
            </a:r>
            <a:endParaRPr lang="en-US" dirty="0"/>
          </a:p>
        </p:txBody>
      </p:sp>
      <p:pic>
        <p:nvPicPr>
          <p:cNvPr id="614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57841" y="1600200"/>
            <a:ext cx="6028318" cy="452596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3155839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atin typeface="Times New Roman" panose="02020603050405020304" pitchFamily="18" charset="0"/>
                <a:cs typeface="Times New Roman" panose="02020603050405020304" pitchFamily="18" charset="0"/>
              </a:rPr>
              <a:t>Methodology Cont’d</a:t>
            </a:r>
            <a:endParaRPr lang="en-US" dirty="0"/>
          </a:p>
        </p:txBody>
      </p:sp>
      <p:pic>
        <p:nvPicPr>
          <p:cNvPr id="717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57841" y="1600200"/>
            <a:ext cx="6028318" cy="452596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1416231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Law of Three </a:t>
            </a:r>
            <a:r>
              <a:rPr lang="en-US" b="1" dirty="0" smtClean="0">
                <a:latin typeface="Times New Roman" panose="02020603050405020304" pitchFamily="18" charset="0"/>
                <a:cs typeface="Times New Roman" panose="02020603050405020304" pitchFamily="18" charset="0"/>
              </a:rPr>
              <a:t>Stages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Comte emerged with this central conception, </a:t>
            </a:r>
            <a:r>
              <a:rPr lang="en-US" b="1" i="1" dirty="0">
                <a:latin typeface="Times New Roman" panose="02020603050405020304" pitchFamily="18" charset="0"/>
                <a:cs typeface="Times New Roman" panose="02020603050405020304" pitchFamily="18" charset="0"/>
              </a:rPr>
              <a:t>The Law of Human Progress</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to explain the development of human groups or the entire human race. </a:t>
            </a:r>
          </a:p>
          <a:p>
            <a:r>
              <a:rPr lang="en-US" dirty="0">
                <a:latin typeface="Times New Roman" panose="02020603050405020304" pitchFamily="18" charset="0"/>
                <a:cs typeface="Times New Roman" panose="02020603050405020304" pitchFamily="18" charset="0"/>
              </a:rPr>
              <a:t>He retraces this law in </a:t>
            </a:r>
            <a:r>
              <a:rPr lang="en-US" b="1" dirty="0">
                <a:latin typeface="Times New Roman" panose="02020603050405020304" pitchFamily="18" charset="0"/>
                <a:cs typeface="Times New Roman" panose="02020603050405020304" pitchFamily="18" charset="0"/>
              </a:rPr>
              <a:t>ontogeny,</a:t>
            </a:r>
            <a:r>
              <a:rPr lang="en-US" dirty="0">
                <a:latin typeface="Times New Roman" panose="02020603050405020304" pitchFamily="18" charset="0"/>
                <a:cs typeface="Times New Roman" panose="02020603050405020304" pitchFamily="18" charset="0"/>
              </a:rPr>
              <a:t> the development of the individual human organism. </a:t>
            </a:r>
          </a:p>
          <a:p>
            <a:r>
              <a:rPr lang="en-US" dirty="0">
                <a:latin typeface="Times New Roman" panose="02020603050405020304" pitchFamily="18" charset="0"/>
                <a:cs typeface="Times New Roman" panose="02020603050405020304" pitchFamily="18" charset="0"/>
              </a:rPr>
              <a:t>A devout believer in childhood, doubt and experiment at adolescence and a natural philosopher in adulthood. Mankind in its growth has traversed these three major stages in succession. </a:t>
            </a:r>
          </a:p>
          <a:p>
            <a:r>
              <a:rPr lang="en-US" dirty="0">
                <a:latin typeface="Times New Roman" panose="02020603050405020304" pitchFamily="18" charset="0"/>
                <a:cs typeface="Times New Roman" panose="02020603050405020304" pitchFamily="18" charset="0"/>
              </a:rPr>
              <a:t>In the same vein, every society evolves in three stages successively.</a:t>
            </a:r>
          </a:p>
        </p:txBody>
      </p:sp>
    </p:spTree>
    <p:extLst>
      <p:ext uri="{BB962C8B-B14F-4D97-AF65-F5344CB8AC3E}">
        <p14:creationId xmlns:p14="http://schemas.microsoft.com/office/powerpoint/2010/main" xmlns="" val="39567207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The </a:t>
            </a:r>
            <a:r>
              <a:rPr lang="en-US" b="1" dirty="0" smtClean="0">
                <a:latin typeface="Times New Roman" panose="02020603050405020304" pitchFamily="18" charset="0"/>
                <a:cs typeface="Times New Roman" panose="02020603050405020304" pitchFamily="18" charset="0"/>
              </a:rPr>
              <a:t>Theological </a:t>
            </a:r>
            <a:r>
              <a:rPr lang="en-US" b="1" dirty="0">
                <a:latin typeface="Times New Roman" panose="02020603050405020304" pitchFamily="18" charset="0"/>
                <a:cs typeface="Times New Roman" panose="02020603050405020304" pitchFamily="18" charset="0"/>
              </a:rPr>
              <a:t>S</a:t>
            </a:r>
            <a:r>
              <a:rPr lang="en-US" b="1" dirty="0" smtClean="0">
                <a:latin typeface="Times New Roman" panose="02020603050405020304" pitchFamily="18" charset="0"/>
                <a:cs typeface="Times New Roman" panose="02020603050405020304" pitchFamily="18" charset="0"/>
              </a:rPr>
              <a:t>tage</a:t>
            </a:r>
            <a:r>
              <a:rPr lang="en-US"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The human mind, seeking the essential nature of beings, the first and final causes (the origin and purpose) of all phenomena; attributes causes to the action of supernatural beings (religion). </a:t>
            </a:r>
          </a:p>
          <a:p>
            <a:r>
              <a:rPr lang="en-US" dirty="0">
                <a:latin typeface="Times New Roman" panose="02020603050405020304" pitchFamily="18" charset="0"/>
                <a:cs typeface="Times New Roman" panose="02020603050405020304" pitchFamily="18" charset="0"/>
              </a:rPr>
              <a:t>Comte subdivides this stage into three sub-stages</a:t>
            </a:r>
          </a:p>
          <a:p>
            <a:r>
              <a:rPr lang="en-US" b="1" dirty="0">
                <a:latin typeface="Times New Roman" panose="02020603050405020304" pitchFamily="18" charset="0"/>
                <a:cs typeface="Times New Roman" panose="02020603050405020304" pitchFamily="18" charset="0"/>
              </a:rPr>
              <a:t>Fetishism</a:t>
            </a:r>
            <a:r>
              <a:rPr lang="en-US" dirty="0">
                <a:latin typeface="Times New Roman" panose="02020603050405020304" pitchFamily="18" charset="0"/>
                <a:cs typeface="Times New Roman" panose="02020603050405020304" pitchFamily="18" charset="0"/>
              </a:rPr>
              <a:t>: Worship of objects such as trees, stones, rivers, mountains.</a:t>
            </a:r>
          </a:p>
          <a:p>
            <a:r>
              <a:rPr lang="en-US" b="1" dirty="0">
                <a:latin typeface="Times New Roman" panose="02020603050405020304" pitchFamily="18" charset="0"/>
                <a:cs typeface="Times New Roman" panose="02020603050405020304" pitchFamily="18" charset="0"/>
              </a:rPr>
              <a:t>Polytheism: </a:t>
            </a:r>
            <a:r>
              <a:rPr lang="en-US" dirty="0">
                <a:latin typeface="Times New Roman" panose="02020603050405020304" pitchFamily="18" charset="0"/>
                <a:cs typeface="Times New Roman" panose="02020603050405020304" pitchFamily="18" charset="0"/>
              </a:rPr>
              <a:t>Belief in many gods at the same time. </a:t>
            </a:r>
          </a:p>
          <a:p>
            <a:r>
              <a:rPr lang="en-US" b="1" dirty="0">
                <a:latin typeface="Times New Roman" panose="02020603050405020304" pitchFamily="18" charset="0"/>
                <a:cs typeface="Times New Roman" panose="02020603050405020304" pitchFamily="18" charset="0"/>
              </a:rPr>
              <a:t>Monotheism</a:t>
            </a:r>
            <a:r>
              <a:rPr lang="en-US" dirty="0">
                <a:latin typeface="Times New Roman" panose="02020603050405020304" pitchFamily="18" charset="0"/>
                <a:cs typeface="Times New Roman" panose="02020603050405020304" pitchFamily="18" charset="0"/>
              </a:rPr>
              <a:t>: Belief in single divinity – </a:t>
            </a:r>
            <a:r>
              <a:rPr lang="en-US" dirty="0" err="1">
                <a:latin typeface="Times New Roman" panose="02020603050405020304" pitchFamily="18" charset="0"/>
                <a:cs typeface="Times New Roman" panose="02020603050405020304" pitchFamily="18" charset="0"/>
              </a:rPr>
              <a:t>islam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xnity</a:t>
            </a:r>
            <a:r>
              <a:rPr lang="en-US" dirty="0">
                <a:latin typeface="Times New Roman" panose="02020603050405020304" pitchFamily="18" charset="0"/>
                <a:cs typeface="Times New Roman" panose="02020603050405020304" pitchFamily="18" charset="0"/>
              </a:rPr>
              <a:t>, etc. </a:t>
            </a:r>
          </a:p>
          <a:p>
            <a:r>
              <a:rPr lang="en-US" dirty="0">
                <a:latin typeface="Times New Roman" panose="02020603050405020304" pitchFamily="18" charset="0"/>
                <a:cs typeface="Times New Roman" panose="02020603050405020304" pitchFamily="18" charset="0"/>
              </a:rPr>
              <a:t>All phenomena – social, physical, health, economic, political; is explained from the point of view of the supernatural or religion.  </a:t>
            </a:r>
          </a:p>
        </p:txBody>
      </p:sp>
    </p:spTree>
    <p:extLst>
      <p:ext uri="{BB962C8B-B14F-4D97-AF65-F5344CB8AC3E}">
        <p14:creationId xmlns:p14="http://schemas.microsoft.com/office/powerpoint/2010/main" xmlns="" val="2221942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a:t>
            </a:r>
            <a:r>
              <a:rPr lang="en-US" b="1" dirty="0" smtClean="0"/>
              <a:t>Metaphysical </a:t>
            </a:r>
            <a:r>
              <a:rPr lang="en-US" b="1" dirty="0"/>
              <a:t>S</a:t>
            </a:r>
            <a:r>
              <a:rPr lang="en-US" b="1" dirty="0" smtClean="0"/>
              <a:t>tage</a:t>
            </a:r>
            <a:r>
              <a:rPr lang="en-US" b="1" dirty="0"/>
              <a:t>:</a:t>
            </a:r>
            <a:endParaRPr lang="en-US" dirty="0"/>
          </a:p>
        </p:txBody>
      </p:sp>
      <p:sp>
        <p:nvSpPr>
          <p:cNvPr id="3" name="Content Placeholder 2"/>
          <p:cNvSpPr>
            <a:spLocks noGrp="1"/>
          </p:cNvSpPr>
          <p:nvPr>
            <p:ph idx="1"/>
          </p:nvPr>
        </p:nvSpPr>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The mind supposes abstract forces, veritable entities (that is, personified abstractions) capable of producing all phenomena.</a:t>
            </a:r>
          </a:p>
          <a:p>
            <a:r>
              <a:rPr lang="en-US" dirty="0">
                <a:latin typeface="Times New Roman" panose="02020603050405020304" pitchFamily="18" charset="0"/>
                <a:cs typeface="Times New Roman" panose="02020603050405020304" pitchFamily="18" charset="0"/>
              </a:rPr>
              <a:t>Explanations of social occurrences are sought from </a:t>
            </a:r>
          </a:p>
          <a:p>
            <a:r>
              <a:rPr lang="en-US" dirty="0">
                <a:latin typeface="Times New Roman" panose="02020603050405020304" pitchFamily="18" charset="0"/>
                <a:cs typeface="Times New Roman" panose="02020603050405020304" pitchFamily="18" charset="0"/>
              </a:rPr>
              <a:t>Fate: Programmed, predetermined, unalterable, right from the source.  </a:t>
            </a:r>
          </a:p>
          <a:p>
            <a:r>
              <a:rPr lang="en-US" dirty="0">
                <a:latin typeface="Times New Roman" panose="02020603050405020304" pitchFamily="18" charset="0"/>
                <a:cs typeface="Times New Roman" panose="02020603050405020304" pitchFamily="18" charset="0"/>
              </a:rPr>
              <a:t>Luck: Good fortune </a:t>
            </a:r>
          </a:p>
          <a:p>
            <a:r>
              <a:rPr lang="en-US" dirty="0">
                <a:latin typeface="Times New Roman" panose="02020603050405020304" pitchFamily="18" charset="0"/>
                <a:cs typeface="Times New Roman" panose="02020603050405020304" pitchFamily="18" charset="0"/>
              </a:rPr>
              <a:t>Chance: Probability, could be good or bad.  </a:t>
            </a:r>
          </a:p>
          <a:p>
            <a:r>
              <a:rPr lang="en-US" dirty="0">
                <a:latin typeface="Times New Roman" panose="02020603050405020304" pitchFamily="18" charset="0"/>
                <a:cs typeface="Times New Roman" panose="02020603050405020304" pitchFamily="18" charset="0"/>
              </a:rPr>
              <a:t>and Destiny: May be changed </a:t>
            </a:r>
          </a:p>
          <a:p>
            <a:r>
              <a:rPr lang="en-US" dirty="0">
                <a:latin typeface="Times New Roman" panose="02020603050405020304" pitchFamily="18" charset="0"/>
                <a:cs typeface="Times New Roman" panose="02020603050405020304" pitchFamily="18" charset="0"/>
              </a:rPr>
              <a:t>There is doubt and disbelief in the supernatural. </a:t>
            </a:r>
          </a:p>
          <a:p>
            <a:r>
              <a:rPr lang="en-US" dirty="0">
                <a:latin typeface="Times New Roman" panose="02020603050405020304" pitchFamily="18" charset="0"/>
                <a:cs typeface="Times New Roman" panose="02020603050405020304" pitchFamily="18" charset="0"/>
              </a:rPr>
              <a:t>For instance, when one dies, it is explained that it is natural to die once you are born. Or death is our fate and not a supernatural event</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8820810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The </a:t>
            </a:r>
            <a:r>
              <a:rPr lang="en-US" b="1" dirty="0" smtClean="0">
                <a:latin typeface="Times New Roman" panose="02020603050405020304" pitchFamily="18" charset="0"/>
                <a:cs typeface="Times New Roman" panose="02020603050405020304" pitchFamily="18" charset="0"/>
              </a:rPr>
              <a:t>Positivistic </a:t>
            </a:r>
            <a:r>
              <a:rPr lang="en-US" b="1" dirty="0">
                <a:latin typeface="Times New Roman" panose="02020603050405020304" pitchFamily="18" charset="0"/>
                <a:cs typeface="Times New Roman" panose="02020603050405020304" pitchFamily="18" charset="0"/>
              </a:rPr>
              <a:t>S</a:t>
            </a:r>
            <a:r>
              <a:rPr lang="en-US" b="1" dirty="0" smtClean="0">
                <a:latin typeface="Times New Roman" panose="02020603050405020304" pitchFamily="18" charset="0"/>
                <a:cs typeface="Times New Roman" panose="02020603050405020304" pitchFamily="18" charset="0"/>
              </a:rPr>
              <a:t>tage</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The mind has given over the vain search after Absolute notions, the origin and destination of the universe, and the causes of phenomena, and applies itself to the study of their laws. </a:t>
            </a:r>
          </a:p>
          <a:p>
            <a:r>
              <a:rPr lang="en-US" dirty="0">
                <a:latin typeface="Times New Roman" panose="02020603050405020304" pitchFamily="18" charset="0"/>
                <a:cs typeface="Times New Roman" panose="02020603050405020304" pitchFamily="18" charset="0"/>
              </a:rPr>
              <a:t>Scientific methods of enquiry are applied to unravel the causes of events and their explanations. At this stage, traditional religion becomes irrelevant as source of explanation of social phenomena. </a:t>
            </a:r>
          </a:p>
          <a:p>
            <a:r>
              <a:rPr lang="en-US" dirty="0">
                <a:latin typeface="Times New Roman" panose="02020603050405020304" pitchFamily="18" charset="0"/>
                <a:cs typeface="Times New Roman" panose="02020603050405020304" pitchFamily="18" charset="0"/>
              </a:rPr>
              <a:t>Scientific laws and explanations developed by human wisdom become the order of the day. </a:t>
            </a:r>
          </a:p>
          <a:p>
            <a:r>
              <a:rPr lang="en-US" dirty="0">
                <a:latin typeface="Times New Roman" panose="02020603050405020304" pitchFamily="18" charset="0"/>
                <a:cs typeface="Times New Roman" panose="02020603050405020304" pitchFamily="18" charset="0"/>
              </a:rPr>
              <a:t>Comte argues that not only would science (sociology) solve social problems, it would have the capacity to predict future occurrences and prescribe preventive methods.  </a:t>
            </a:r>
          </a:p>
          <a:p>
            <a:r>
              <a:rPr lang="en-US" dirty="0">
                <a:latin typeface="Times New Roman" panose="02020603050405020304" pitchFamily="18" charset="0"/>
                <a:cs typeface="Times New Roman" panose="02020603050405020304" pitchFamily="18" charset="0"/>
              </a:rPr>
              <a:t>Thus, sociologists would form a Royal Priesthood of Humanity and take positions in the economy, politics, health, etc. to serve people.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3605837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The Scientific Stages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NZ" dirty="0" smtClean="0">
                <a:latin typeface="Times New Roman" panose="02020603050405020304" pitchFamily="18" charset="0"/>
                <a:cs typeface="Times New Roman" panose="02020603050405020304" pitchFamily="18" charset="0"/>
              </a:rPr>
              <a:t>Scientific knowledge also passes through stages similar to societies. Each stage building on the knowledgebase of its predecessor. Different sciences evolve at different rates. First there was astronomy, then physics, chemistry, biology, and finally sociology.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7794487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The Scientific Stages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
            </a:pPr>
            <a:r>
              <a:rPr lang="en-NZ" dirty="0" smtClean="0">
                <a:latin typeface="Times New Roman" panose="02020603050405020304" pitchFamily="18" charset="0"/>
                <a:cs typeface="Times New Roman" panose="02020603050405020304" pitchFamily="18" charset="0"/>
              </a:rPr>
              <a:t>Each science in the series is based on the prior development of the once preceding it; each is more complex than the last.</a:t>
            </a:r>
          </a:p>
          <a:p>
            <a:pPr>
              <a:buFont typeface="Wingdings" panose="05000000000000000000" pitchFamily="2" charset="2"/>
              <a:buChar char="§"/>
            </a:pPr>
            <a:r>
              <a:rPr lang="en-NZ" dirty="0" smtClean="0">
                <a:latin typeface="Times New Roman" panose="02020603050405020304" pitchFamily="18" charset="0"/>
                <a:cs typeface="Times New Roman" panose="02020603050405020304" pitchFamily="18" charset="0"/>
              </a:rPr>
              <a:t>The social sciences are the most complex of all and the highest in the hierarchy.</a:t>
            </a:r>
          </a:p>
          <a:p>
            <a:pPr>
              <a:buFont typeface="Wingdings" panose="05000000000000000000" pitchFamily="2" charset="2"/>
              <a:buChar char="§"/>
            </a:pPr>
            <a:r>
              <a:rPr lang="en-NZ" dirty="0" smtClean="0">
                <a:latin typeface="Times New Roman" panose="02020603050405020304" pitchFamily="18" charset="0"/>
                <a:cs typeface="Times New Roman" panose="02020603050405020304" pitchFamily="18" charset="0"/>
              </a:rPr>
              <a:t>Sociology offers the completion of the positive method. All other are preparatory to it.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4566836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The Scientific Stages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According to him, sociology shares an affinity with biology in the sense that whereas biology studies the physical human body, the sociology studies the social body formed by society. </a:t>
            </a:r>
          </a:p>
          <a:p>
            <a:r>
              <a:rPr lang="en-US" dirty="0" smtClean="0">
                <a:latin typeface="Times New Roman" panose="02020603050405020304" pitchFamily="18" charset="0"/>
                <a:cs typeface="Times New Roman" panose="02020603050405020304" pitchFamily="18" charset="0"/>
              </a:rPr>
              <a:t>However, sociology is more complex because its subject matter, man, is very dynamic. Hence, sociology should be seen as the Queen of the sciences in the hierarchy:</a:t>
            </a:r>
          </a:p>
        </p:txBody>
      </p:sp>
    </p:spTree>
    <p:extLst>
      <p:ext uri="{BB962C8B-B14F-4D97-AF65-F5344CB8AC3E}">
        <p14:creationId xmlns:p14="http://schemas.microsoft.com/office/powerpoint/2010/main" xmlns="" val="26136449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2D13747-EE14-4672-95E5-6AFA610A0907}"/>
              </a:ext>
            </a:extLst>
          </p:cNvPr>
          <p:cNvSpPr>
            <a:spLocks noGrp="1"/>
          </p:cNvSpPr>
          <p:nvPr>
            <p:ph type="title"/>
          </p:nvPr>
        </p:nvSpPr>
        <p:spPr/>
        <p:txBody>
          <a:bodyPr>
            <a:normAutofit/>
          </a:bodyPr>
          <a:lstStyle/>
          <a:p>
            <a:r>
              <a:rPr lang="en-US" b="1" dirty="0"/>
              <a:t>The Hierarchy of the </a:t>
            </a:r>
            <a:r>
              <a:rPr lang="en-US" b="1" dirty="0" smtClean="0"/>
              <a:t>Sciences. </a:t>
            </a:r>
            <a:endParaRPr lang="en-US" dirty="0"/>
          </a:p>
        </p:txBody>
      </p:sp>
      <p:sp>
        <p:nvSpPr>
          <p:cNvPr id="3" name="Content Placeholder 2">
            <a:extLst>
              <a:ext uri="{FF2B5EF4-FFF2-40B4-BE49-F238E27FC236}">
                <a16:creationId xmlns="" xmlns:a16="http://schemas.microsoft.com/office/drawing/2014/main" id="{080954B3-D974-460C-9A3B-5BD8C1205833}"/>
              </a:ext>
            </a:extLst>
          </p:cNvPr>
          <p:cNvSpPr>
            <a:spLocks noGrp="1"/>
          </p:cNvSpPr>
          <p:nvPr>
            <p:ph idx="1"/>
          </p:nvPr>
        </p:nvSpPr>
        <p:spPr/>
        <p:txBody>
          <a:bodyPr>
            <a:normAutofit fontScale="92500" lnSpcReduction="10000"/>
          </a:bodyPr>
          <a:lstStyle/>
          <a:p>
            <a:pPr marL="571500" indent="-571500">
              <a:buFont typeface="+mj-lt"/>
              <a:buAutoNum type="romanLcPeriod"/>
            </a:pPr>
            <a:r>
              <a:rPr lang="en-US" dirty="0">
                <a:latin typeface="Times New Roman" panose="02020603050405020304" pitchFamily="18" charset="0"/>
                <a:cs typeface="Times New Roman" panose="02020603050405020304" pitchFamily="18" charset="0"/>
              </a:rPr>
              <a:t>Sociology</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Biology</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Chemistry</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Physics</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Mechanics</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Astronomy</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Mathematics</a:t>
            </a:r>
          </a:p>
          <a:p>
            <a:r>
              <a:rPr lang="en-US" dirty="0">
                <a:latin typeface="Times New Roman" panose="02020603050405020304" pitchFamily="18" charset="0"/>
                <a:cs typeface="Times New Roman" panose="02020603050405020304" pitchFamily="18" charset="0"/>
              </a:rPr>
              <a:t>Mathematics, according to Comte, is not a science but rather a tool used by all the scientists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1065307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DISCUSSION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Critically examine the ideas of Comte on society and sociology as a science. </a:t>
            </a:r>
          </a:p>
        </p:txBody>
      </p:sp>
    </p:spTree>
    <p:extLst>
      <p:ext uri="{BB962C8B-B14F-4D97-AF65-F5344CB8AC3E}">
        <p14:creationId xmlns:p14="http://schemas.microsoft.com/office/powerpoint/2010/main" xmlns="" val="3088565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1159</Words>
  <Application>Microsoft Office PowerPoint</Application>
  <PresentationFormat>On-screen Show (4:3)</PresentationFormat>
  <Paragraphs>88</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Brief Background</vt:lpstr>
      <vt:lpstr>The Work: Sociology as Science </vt:lpstr>
      <vt:lpstr>The Subject Matter</vt:lpstr>
      <vt:lpstr>The Subject Matter Cont’d</vt:lpstr>
      <vt:lpstr>The Subject Matter Cont’d</vt:lpstr>
      <vt:lpstr>Preferred Methods of Inquiry (Methodology)</vt:lpstr>
      <vt:lpstr>Methodology Cont’d</vt:lpstr>
      <vt:lpstr>Methodology Cont’d</vt:lpstr>
      <vt:lpstr>Methodology Cont’d</vt:lpstr>
      <vt:lpstr>Methodology Cont’d</vt:lpstr>
      <vt:lpstr>The Law of Three Stages</vt:lpstr>
      <vt:lpstr>The Theological Stage:</vt:lpstr>
      <vt:lpstr>The Metaphysical Stage:</vt:lpstr>
      <vt:lpstr>The Positivistic Stage:</vt:lpstr>
      <vt:lpstr>The Scientific Stages</vt:lpstr>
      <vt:lpstr>The Scientific Stages</vt:lpstr>
      <vt:lpstr>The Scientific Stages</vt:lpstr>
      <vt:lpstr>The Hierarchy of the Sciences. </vt:lpstr>
      <vt:lpstr>DISCUSSION</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Slow</cp:lastModifiedBy>
  <cp:revision>32</cp:revision>
  <dcterms:created xsi:type="dcterms:W3CDTF">2020-01-30T05:56:54Z</dcterms:created>
  <dcterms:modified xsi:type="dcterms:W3CDTF">2021-05-20T12:49:03Z</dcterms:modified>
</cp:coreProperties>
</file>