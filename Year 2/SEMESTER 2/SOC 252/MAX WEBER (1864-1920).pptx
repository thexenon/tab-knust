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0" r:id="rId2"/>
    <p:sldId id="257" r:id="rId3"/>
    <p:sldId id="258" r:id="rId4"/>
    <p:sldId id="271" r:id="rId5"/>
    <p:sldId id="259" r:id="rId6"/>
    <p:sldId id="272" r:id="rId7"/>
    <p:sldId id="273" r:id="rId8"/>
    <p:sldId id="274" r:id="rId9"/>
    <p:sldId id="275" r:id="rId10"/>
    <p:sldId id="263" r:id="rId11"/>
    <p:sldId id="264" r:id="rId12"/>
    <p:sldId id="265" r:id="rId13"/>
    <p:sldId id="266" r:id="rId14"/>
    <p:sldId id="276" r:id="rId15"/>
    <p:sldId id="267" r:id="rId16"/>
    <p:sldId id="268" r:id="rId17"/>
    <p:sldId id="269"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0" d="100"/>
          <a:sy n="110" d="100"/>
        </p:scale>
        <p:origin x="-164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E91930C-EDDB-4D22-99D3-069CFDBE3B66}" type="datetimeFigureOut">
              <a:rPr lang="en-US" smtClean="0"/>
              <a:t>3/12/2020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84C598-8A91-43FD-B0BD-491286048D59}" type="slidenum">
              <a:rPr lang="en-US" smtClean="0"/>
              <a:t>‹#›</a:t>
            </a:fld>
            <a:endParaRPr lang="en-US"/>
          </a:p>
        </p:txBody>
      </p:sp>
    </p:spTree>
    <p:extLst>
      <p:ext uri="{BB962C8B-B14F-4D97-AF65-F5344CB8AC3E}">
        <p14:creationId xmlns:p14="http://schemas.microsoft.com/office/powerpoint/2010/main" val="3839219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E91930C-EDDB-4D22-99D3-069CFDBE3B66}" type="datetimeFigureOut">
              <a:rPr lang="en-US" smtClean="0"/>
              <a:t>3/12/2020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84C598-8A91-43FD-B0BD-491286048D59}" type="slidenum">
              <a:rPr lang="en-US" smtClean="0"/>
              <a:t>‹#›</a:t>
            </a:fld>
            <a:endParaRPr lang="en-US"/>
          </a:p>
        </p:txBody>
      </p:sp>
    </p:spTree>
    <p:extLst>
      <p:ext uri="{BB962C8B-B14F-4D97-AF65-F5344CB8AC3E}">
        <p14:creationId xmlns:p14="http://schemas.microsoft.com/office/powerpoint/2010/main" val="3418370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E91930C-EDDB-4D22-99D3-069CFDBE3B66}" type="datetimeFigureOut">
              <a:rPr lang="en-US" smtClean="0"/>
              <a:t>3/12/2020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84C598-8A91-43FD-B0BD-491286048D59}" type="slidenum">
              <a:rPr lang="en-US" smtClean="0"/>
              <a:t>‹#›</a:t>
            </a:fld>
            <a:endParaRPr lang="en-US"/>
          </a:p>
        </p:txBody>
      </p:sp>
    </p:spTree>
    <p:extLst>
      <p:ext uri="{BB962C8B-B14F-4D97-AF65-F5344CB8AC3E}">
        <p14:creationId xmlns:p14="http://schemas.microsoft.com/office/powerpoint/2010/main" val="20962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E91930C-EDDB-4D22-99D3-069CFDBE3B66}" type="datetimeFigureOut">
              <a:rPr lang="en-US" smtClean="0"/>
              <a:t>3/12/2020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84C598-8A91-43FD-B0BD-491286048D59}" type="slidenum">
              <a:rPr lang="en-US" smtClean="0"/>
              <a:t>‹#›</a:t>
            </a:fld>
            <a:endParaRPr lang="en-US"/>
          </a:p>
        </p:txBody>
      </p:sp>
    </p:spTree>
    <p:extLst>
      <p:ext uri="{BB962C8B-B14F-4D97-AF65-F5344CB8AC3E}">
        <p14:creationId xmlns:p14="http://schemas.microsoft.com/office/powerpoint/2010/main" val="876341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E91930C-EDDB-4D22-99D3-069CFDBE3B66}" type="datetimeFigureOut">
              <a:rPr lang="en-US" smtClean="0"/>
              <a:t>3/12/2020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84C598-8A91-43FD-B0BD-491286048D59}" type="slidenum">
              <a:rPr lang="en-US" smtClean="0"/>
              <a:t>‹#›</a:t>
            </a:fld>
            <a:endParaRPr lang="en-US"/>
          </a:p>
        </p:txBody>
      </p:sp>
    </p:spTree>
    <p:extLst>
      <p:ext uri="{BB962C8B-B14F-4D97-AF65-F5344CB8AC3E}">
        <p14:creationId xmlns:p14="http://schemas.microsoft.com/office/powerpoint/2010/main" val="35757368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E91930C-EDDB-4D22-99D3-069CFDBE3B66}" type="datetimeFigureOut">
              <a:rPr lang="en-US" smtClean="0"/>
              <a:t>3/12/2020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84C598-8A91-43FD-B0BD-491286048D59}" type="slidenum">
              <a:rPr lang="en-US" smtClean="0"/>
              <a:t>‹#›</a:t>
            </a:fld>
            <a:endParaRPr lang="en-US"/>
          </a:p>
        </p:txBody>
      </p:sp>
    </p:spTree>
    <p:extLst>
      <p:ext uri="{BB962C8B-B14F-4D97-AF65-F5344CB8AC3E}">
        <p14:creationId xmlns:p14="http://schemas.microsoft.com/office/powerpoint/2010/main" val="4116868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91930C-EDDB-4D22-99D3-069CFDBE3B66}" type="datetimeFigureOut">
              <a:rPr lang="en-US" smtClean="0"/>
              <a:t>3/12/2020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84C598-8A91-43FD-B0BD-491286048D59}" type="slidenum">
              <a:rPr lang="en-US" smtClean="0"/>
              <a:t>‹#›</a:t>
            </a:fld>
            <a:endParaRPr lang="en-US"/>
          </a:p>
        </p:txBody>
      </p:sp>
    </p:spTree>
    <p:extLst>
      <p:ext uri="{BB962C8B-B14F-4D97-AF65-F5344CB8AC3E}">
        <p14:creationId xmlns:p14="http://schemas.microsoft.com/office/powerpoint/2010/main" val="1166952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E91930C-EDDB-4D22-99D3-069CFDBE3B66}" type="datetimeFigureOut">
              <a:rPr lang="en-US" smtClean="0"/>
              <a:t>3/12/2020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84C598-8A91-43FD-B0BD-491286048D59}" type="slidenum">
              <a:rPr lang="en-US" smtClean="0"/>
              <a:t>‹#›</a:t>
            </a:fld>
            <a:endParaRPr lang="en-US"/>
          </a:p>
        </p:txBody>
      </p:sp>
    </p:spTree>
    <p:extLst>
      <p:ext uri="{BB962C8B-B14F-4D97-AF65-F5344CB8AC3E}">
        <p14:creationId xmlns:p14="http://schemas.microsoft.com/office/powerpoint/2010/main" val="39108420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E91930C-EDDB-4D22-99D3-069CFDBE3B66}" type="datetimeFigureOut">
              <a:rPr lang="en-US" smtClean="0"/>
              <a:t>3/12/2020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84C598-8A91-43FD-B0BD-491286048D59}" type="slidenum">
              <a:rPr lang="en-US" smtClean="0"/>
              <a:t>‹#›</a:t>
            </a:fld>
            <a:endParaRPr lang="en-US"/>
          </a:p>
        </p:txBody>
      </p:sp>
    </p:spTree>
    <p:extLst>
      <p:ext uri="{BB962C8B-B14F-4D97-AF65-F5344CB8AC3E}">
        <p14:creationId xmlns:p14="http://schemas.microsoft.com/office/powerpoint/2010/main" val="3833878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E91930C-EDDB-4D22-99D3-069CFDBE3B66}" type="datetimeFigureOut">
              <a:rPr lang="en-US" smtClean="0"/>
              <a:t>3/12/2020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84C598-8A91-43FD-B0BD-491286048D59}" type="slidenum">
              <a:rPr lang="en-US" smtClean="0"/>
              <a:t>‹#›</a:t>
            </a:fld>
            <a:endParaRPr lang="en-US"/>
          </a:p>
        </p:txBody>
      </p:sp>
    </p:spTree>
    <p:extLst>
      <p:ext uri="{BB962C8B-B14F-4D97-AF65-F5344CB8AC3E}">
        <p14:creationId xmlns:p14="http://schemas.microsoft.com/office/powerpoint/2010/main" val="1944591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E91930C-EDDB-4D22-99D3-069CFDBE3B66}" type="datetimeFigureOut">
              <a:rPr lang="en-US" smtClean="0"/>
              <a:t>3/12/2020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84C598-8A91-43FD-B0BD-491286048D59}" type="slidenum">
              <a:rPr lang="en-US" smtClean="0"/>
              <a:t>‹#›</a:t>
            </a:fld>
            <a:endParaRPr lang="en-US"/>
          </a:p>
        </p:txBody>
      </p:sp>
    </p:spTree>
    <p:extLst>
      <p:ext uri="{BB962C8B-B14F-4D97-AF65-F5344CB8AC3E}">
        <p14:creationId xmlns:p14="http://schemas.microsoft.com/office/powerpoint/2010/main" val="8394047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91930C-EDDB-4D22-99D3-069CFDBE3B66}" type="datetimeFigureOut">
              <a:rPr lang="en-US" smtClean="0"/>
              <a:t>3/12/2020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84C598-8A91-43FD-B0BD-491286048D59}" type="slidenum">
              <a:rPr lang="en-US" smtClean="0"/>
              <a:t>‹#›</a:t>
            </a:fld>
            <a:endParaRPr lang="en-US"/>
          </a:p>
        </p:txBody>
      </p:sp>
    </p:spTree>
    <p:extLst>
      <p:ext uri="{BB962C8B-B14F-4D97-AF65-F5344CB8AC3E}">
        <p14:creationId xmlns:p14="http://schemas.microsoft.com/office/powerpoint/2010/main" val="27912465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1143000"/>
          </a:xfrm>
        </p:spPr>
        <p:txBody>
          <a:bodyPr/>
          <a:lstStyle/>
          <a:p>
            <a:r>
              <a:rPr lang="en-US" b="1" dirty="0" smtClean="0">
                <a:latin typeface="Times New Roman" panose="02020603050405020304" pitchFamily="18" charset="0"/>
                <a:cs typeface="Times New Roman" panose="02020603050405020304" pitchFamily="18" charset="0"/>
              </a:rPr>
              <a:t>MAX WEBER (1864-1920) </a:t>
            </a:r>
            <a:endParaRPr lang="en-US" dirty="0">
              <a:latin typeface="Times New Roman" panose="02020603050405020304" pitchFamily="18" charset="0"/>
              <a:cs typeface="Times New Roman" panose="02020603050405020304" pitchFamily="18" charset="0"/>
            </a:endParaRP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676400"/>
            <a:ext cx="8229600" cy="4876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763349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F64B053-EEDB-4F85-833A-611A326EB259}"/>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MAX WEBER (1864-1920) </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05B21846-FAD8-4C78-8080-362DFD40F8B1}"/>
              </a:ext>
            </a:extLst>
          </p:cNvPr>
          <p:cNvSpPr>
            <a:spLocks noGrp="1"/>
          </p:cNvSpPr>
          <p:nvPr>
            <p:ph idx="1"/>
          </p:nvPr>
        </p:nvSpPr>
        <p:spPr/>
        <p:txBody>
          <a:bodyPr>
            <a:normAutofit/>
          </a:bodyPr>
          <a:lstStyle/>
          <a:p>
            <a:r>
              <a:rPr lang="en-US" sz="3600" dirty="0">
                <a:latin typeface="Times New Roman" panose="02020603050405020304" pitchFamily="18" charset="0"/>
                <a:cs typeface="Times New Roman" panose="02020603050405020304" pitchFamily="18" charset="0"/>
              </a:rPr>
              <a:t>Born on April 21, 1864. Protestant  </a:t>
            </a:r>
            <a:r>
              <a:rPr lang="en-US" sz="3600" dirty="0" smtClean="0">
                <a:latin typeface="Times New Roman" panose="02020603050405020304" pitchFamily="18" charset="0"/>
                <a:cs typeface="Times New Roman" panose="02020603050405020304" pitchFamily="18" charset="0"/>
              </a:rPr>
              <a:t>parents, refugees </a:t>
            </a:r>
            <a:r>
              <a:rPr lang="en-US" sz="3600" dirty="0">
                <a:latin typeface="Times New Roman" panose="02020603050405020304" pitchFamily="18" charset="0"/>
                <a:cs typeface="Times New Roman" panose="02020603050405020304" pitchFamily="18" charset="0"/>
              </a:rPr>
              <a:t>from Catholic persecution. His teachers complained about his lack of respect for their authority</a:t>
            </a:r>
            <a:r>
              <a:rPr lang="en-US" sz="3600" dirty="0" smtClean="0">
                <a:latin typeface="Times New Roman" panose="02020603050405020304" pitchFamily="18" charset="0"/>
                <a:cs typeface="Times New Roman" panose="02020603050405020304" pitchFamily="18" charset="0"/>
              </a:rPr>
              <a:t>.</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89918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93A396F-2E5A-4EDF-B470-E9BC6FF62DCF}"/>
              </a:ext>
            </a:extLst>
          </p:cNvPr>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The Work</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8B474B12-FB92-42D7-B70E-088883EFB4FE}"/>
              </a:ext>
            </a:extLst>
          </p:cNvPr>
          <p:cNvSpPr>
            <a:spLocks noGrp="1"/>
          </p:cNvSpPr>
          <p:nvPr>
            <p:ph idx="1"/>
          </p:nvPr>
        </p:nvSpPr>
        <p:spPr/>
        <p:txBody>
          <a:bodyPr>
            <a:normAutofit fontScale="92500" lnSpcReduction="10000"/>
          </a:bodyPr>
          <a:lstStyle/>
          <a:p>
            <a:r>
              <a:rPr lang="en-US" sz="4000" dirty="0">
                <a:latin typeface="Times New Roman" panose="02020603050405020304" pitchFamily="18" charset="0"/>
                <a:cs typeface="Times New Roman" panose="02020603050405020304" pitchFamily="18" charset="0"/>
              </a:rPr>
              <a:t>Max Weber conceived of sociology as a comprehensive science of </a:t>
            </a:r>
            <a:r>
              <a:rPr lang="en-US" sz="4000" b="1" dirty="0">
                <a:latin typeface="Times New Roman" panose="02020603050405020304" pitchFamily="18" charset="0"/>
                <a:cs typeface="Times New Roman" panose="02020603050405020304" pitchFamily="18" charset="0"/>
              </a:rPr>
              <a:t>social action</a:t>
            </a:r>
            <a:r>
              <a:rPr lang="en-US" sz="4000" dirty="0">
                <a:latin typeface="Times New Roman" panose="02020603050405020304" pitchFamily="18" charset="0"/>
                <a:cs typeface="Times New Roman" panose="02020603050405020304" pitchFamily="18" charset="0"/>
              </a:rPr>
              <a:t>. </a:t>
            </a:r>
          </a:p>
          <a:p>
            <a:r>
              <a:rPr lang="en-US" sz="4000" dirty="0">
                <a:latin typeface="Times New Roman" panose="02020603050405020304" pitchFamily="18" charset="0"/>
                <a:cs typeface="Times New Roman" panose="02020603050405020304" pitchFamily="18" charset="0"/>
              </a:rPr>
              <a:t>His analysis focused on individual human actors. </a:t>
            </a:r>
          </a:p>
          <a:p>
            <a:r>
              <a:rPr lang="en-US" sz="4000" dirty="0">
                <a:latin typeface="Times New Roman" panose="02020603050405020304" pitchFamily="18" charset="0"/>
                <a:cs typeface="Times New Roman" panose="02020603050405020304" pitchFamily="18" charset="0"/>
              </a:rPr>
              <a:t>Differed from many of his predecessors whose sociology was conceived in social-structural terms</a:t>
            </a:r>
          </a:p>
          <a:p>
            <a:r>
              <a:rPr lang="en-US" sz="4000" dirty="0">
                <a:latin typeface="Times New Roman" panose="02020603050405020304" pitchFamily="18" charset="0"/>
                <a:cs typeface="Times New Roman" panose="02020603050405020304" pitchFamily="18" charset="0"/>
              </a:rPr>
              <a:t>What then, is social action?</a:t>
            </a:r>
            <a:r>
              <a:rPr lang="en-US" dirty="0"/>
              <a:t> </a:t>
            </a:r>
          </a:p>
        </p:txBody>
      </p:sp>
    </p:spTree>
    <p:extLst>
      <p:ext uri="{BB962C8B-B14F-4D97-AF65-F5344CB8AC3E}">
        <p14:creationId xmlns:p14="http://schemas.microsoft.com/office/powerpoint/2010/main" val="74796199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smtClean="0">
                <a:latin typeface="Times New Roman" panose="02020603050405020304" pitchFamily="18" charset="0"/>
                <a:cs typeface="Times New Roman" panose="02020603050405020304" pitchFamily="18" charset="0"/>
              </a:rPr>
              <a:t>Social Action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NZ" dirty="0" smtClean="0">
                <a:latin typeface="Times New Roman" panose="02020603050405020304" pitchFamily="18" charset="0"/>
                <a:cs typeface="Times New Roman" panose="02020603050405020304" pitchFamily="18" charset="0"/>
              </a:rPr>
              <a:t>Behaviour of the individual during interactions as much as the individual attaches subjective meaning.</a:t>
            </a:r>
          </a:p>
          <a:p>
            <a:r>
              <a:rPr lang="en-NZ" dirty="0">
                <a:latin typeface="Times New Roman" panose="02020603050405020304" pitchFamily="18" charset="0"/>
                <a:cs typeface="Times New Roman" panose="02020603050405020304" pitchFamily="18" charset="0"/>
              </a:rPr>
              <a:t> Sociological analysis would have to examine social action within a context of social interaction, and would have to be interpretive, not viewing people as object just driven by impersonal forces.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9697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5301024-0256-4B04-AF73-4FC918AC4302}"/>
              </a:ext>
            </a:extLst>
          </p:cNvPr>
          <p:cNvSpPr>
            <a:spLocks noGrp="1"/>
          </p:cNvSpPr>
          <p:nvPr>
            <p:ph type="title"/>
          </p:nvPr>
        </p:nvSpPr>
        <p:spPr/>
        <p:txBody>
          <a:bodyPr>
            <a:normAutofit/>
          </a:bodyPr>
          <a:lstStyle/>
          <a:p>
            <a:r>
              <a:rPr lang="en-US" b="1" dirty="0" smtClean="0"/>
              <a:t>Types of Social Action </a:t>
            </a:r>
            <a:endParaRPr lang="en-US" b="1" dirty="0"/>
          </a:p>
        </p:txBody>
      </p:sp>
      <p:sp>
        <p:nvSpPr>
          <p:cNvPr id="3" name="Content Placeholder 2">
            <a:extLst>
              <a:ext uri="{FF2B5EF4-FFF2-40B4-BE49-F238E27FC236}">
                <a16:creationId xmlns="" xmlns:a16="http://schemas.microsoft.com/office/drawing/2014/main" id="{B6357F53-4271-4673-9081-2E41FEC14ABF}"/>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Four types namely:</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Goal-oriented rational action</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Value-oriented rational action</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Affective action</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Traditional action</a:t>
            </a:r>
          </a:p>
          <a:p>
            <a:r>
              <a:rPr lang="en-US" dirty="0">
                <a:latin typeface="Times New Roman" panose="02020603050405020304" pitchFamily="18" charset="0"/>
                <a:cs typeface="Times New Roman" panose="02020603050405020304" pitchFamily="18" charset="0"/>
              </a:rPr>
              <a:t>Modern society requires goal-oriented rational action in its major institutions – pol, econ, </a:t>
            </a:r>
            <a:r>
              <a:rPr lang="en-US" dirty="0" err="1">
                <a:latin typeface="Times New Roman" panose="02020603050405020304" pitchFamily="18" charset="0"/>
                <a:cs typeface="Times New Roman" panose="02020603050405020304" pitchFamily="18" charset="0"/>
              </a:rPr>
              <a:t>edu</a:t>
            </a:r>
            <a:r>
              <a:rPr lang="en-US" dirty="0">
                <a:latin typeface="Times New Roman" panose="02020603050405020304" pitchFamily="18" charset="0"/>
                <a:cs typeface="Times New Roman" panose="02020603050405020304" pitchFamily="18" charset="0"/>
              </a:rPr>
              <a:t>, health, etc. </a:t>
            </a:r>
          </a:p>
        </p:txBody>
      </p:sp>
    </p:spTree>
    <p:extLst>
      <p:ext uri="{BB962C8B-B14F-4D97-AF65-F5344CB8AC3E}">
        <p14:creationId xmlns:p14="http://schemas.microsoft.com/office/powerpoint/2010/main" val="3871543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Authority </a:t>
            </a:r>
            <a:endParaRPr lang="en-NZ" dirty="0"/>
          </a:p>
        </p:txBody>
      </p:sp>
      <p:sp>
        <p:nvSpPr>
          <p:cNvPr id="3" name="Content Placeholder 2"/>
          <p:cNvSpPr>
            <a:spLocks noGrp="1"/>
          </p:cNvSpPr>
          <p:nvPr>
            <p:ph idx="1"/>
          </p:nvPr>
        </p:nvSpPr>
        <p:spPr/>
        <p:txBody>
          <a:bodyPr/>
          <a:lstStyle/>
          <a:p>
            <a:pPr marL="0" indent="0">
              <a:buNone/>
            </a:pPr>
            <a:r>
              <a:rPr lang="en-NZ" b="1" dirty="0">
                <a:latin typeface="Times New Roman" panose="02020603050405020304" pitchFamily="18" charset="0"/>
                <a:cs typeface="Times New Roman" panose="02020603050405020304" pitchFamily="18" charset="0"/>
              </a:rPr>
              <a:t>Three types of </a:t>
            </a:r>
            <a:r>
              <a:rPr lang="en-NZ" b="1" dirty="0" smtClean="0">
                <a:latin typeface="Times New Roman" panose="02020603050405020304" pitchFamily="18" charset="0"/>
                <a:cs typeface="Times New Roman" panose="02020603050405020304" pitchFamily="18" charset="0"/>
              </a:rPr>
              <a:t>authority:</a:t>
            </a:r>
            <a:endParaRPr lang="en-NZ" b="1" dirty="0">
              <a:latin typeface="Times New Roman" panose="02020603050405020304" pitchFamily="18" charset="0"/>
              <a:cs typeface="Times New Roman" panose="02020603050405020304" pitchFamily="18" charset="0"/>
            </a:endParaRPr>
          </a:p>
          <a:p>
            <a:r>
              <a:rPr lang="en-NZ" dirty="0" smtClean="0">
                <a:latin typeface="Times New Roman" panose="02020603050405020304" pitchFamily="18" charset="0"/>
                <a:cs typeface="Times New Roman" panose="02020603050405020304" pitchFamily="18" charset="0"/>
              </a:rPr>
              <a:t>Traditional </a:t>
            </a:r>
            <a:r>
              <a:rPr lang="en-NZ" dirty="0" smtClean="0">
                <a:latin typeface="Times New Roman" panose="02020603050405020304" pitchFamily="18" charset="0"/>
                <a:cs typeface="Times New Roman" panose="02020603050405020304" pitchFamily="18" charset="0"/>
              </a:rPr>
              <a:t>Authority</a:t>
            </a:r>
          </a:p>
          <a:p>
            <a:r>
              <a:rPr lang="en-NZ" dirty="0" smtClean="0">
                <a:latin typeface="Times New Roman" panose="02020603050405020304" pitchFamily="18" charset="0"/>
                <a:cs typeface="Times New Roman" panose="02020603050405020304" pitchFamily="18" charset="0"/>
              </a:rPr>
              <a:t>Charismatic Authority</a:t>
            </a:r>
          </a:p>
          <a:p>
            <a:r>
              <a:rPr lang="en-NZ" dirty="0" smtClean="0">
                <a:latin typeface="Times New Roman" panose="02020603050405020304" pitchFamily="18" charset="0"/>
                <a:cs typeface="Times New Roman" panose="02020603050405020304" pitchFamily="18" charset="0"/>
              </a:rPr>
              <a:t>Rational/Legal Authority</a:t>
            </a:r>
            <a:endParaRPr lang="en-N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473890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smtClean="0">
                <a:latin typeface="Times New Roman" panose="02020603050405020304" pitchFamily="18" charset="0"/>
                <a:cs typeface="Times New Roman" panose="02020603050405020304" pitchFamily="18" charset="0"/>
              </a:rPr>
              <a:t>Traditional Authority</a:t>
            </a:r>
            <a:endParaRPr lang="en-NZ"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NZ" dirty="0" smtClean="0">
                <a:latin typeface="Times New Roman" panose="02020603050405020304" pitchFamily="18" charset="0"/>
                <a:cs typeface="Times New Roman" panose="02020603050405020304" pitchFamily="18" charset="0"/>
              </a:rPr>
              <a:t>Patriarchy</a:t>
            </a:r>
          </a:p>
          <a:p>
            <a:r>
              <a:rPr lang="en-NZ" dirty="0" smtClean="0">
                <a:latin typeface="Times New Roman" panose="02020603050405020304" pitchFamily="18" charset="0"/>
                <a:cs typeface="Times New Roman" panose="02020603050405020304" pitchFamily="18" charset="0"/>
              </a:rPr>
              <a:t>Rule over others without question</a:t>
            </a:r>
          </a:p>
          <a:p>
            <a:r>
              <a:rPr lang="en-NZ" dirty="0" smtClean="0">
                <a:latin typeface="Times New Roman" panose="02020603050405020304" pitchFamily="18" charset="0"/>
                <a:cs typeface="Times New Roman" panose="02020603050405020304" pitchFamily="18" charset="0"/>
              </a:rPr>
              <a:t>Handed down from the past</a:t>
            </a:r>
          </a:p>
          <a:p>
            <a:r>
              <a:rPr lang="en-NZ" dirty="0" smtClean="0">
                <a:latin typeface="Times New Roman" panose="02020603050405020304" pitchFamily="18" charset="0"/>
                <a:cs typeface="Times New Roman" panose="02020603050405020304" pitchFamily="18" charset="0"/>
              </a:rPr>
              <a:t>Given legitimacy by customs</a:t>
            </a:r>
          </a:p>
          <a:p>
            <a:r>
              <a:rPr lang="en-NZ" dirty="0" smtClean="0">
                <a:latin typeface="Times New Roman" panose="02020603050405020304" pitchFamily="18" charset="0"/>
                <a:cs typeface="Times New Roman" panose="02020603050405020304" pitchFamily="18" charset="0"/>
              </a:rPr>
              <a:t>We’ve always done it this way</a:t>
            </a:r>
            <a:endParaRPr lang="en-N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92284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smtClean="0">
                <a:latin typeface="Times New Roman" panose="02020603050405020304" pitchFamily="18" charset="0"/>
                <a:cs typeface="Times New Roman" panose="02020603050405020304" pitchFamily="18" charset="0"/>
              </a:rPr>
              <a:t>Charismatic Authority</a:t>
            </a:r>
            <a:endParaRPr lang="en-NZ"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NZ" dirty="0" smtClean="0">
                <a:latin typeface="Times New Roman" panose="02020603050405020304" pitchFamily="18" charset="0"/>
                <a:cs typeface="Times New Roman" panose="02020603050405020304" pitchFamily="18" charset="0"/>
              </a:rPr>
              <a:t>Worship</a:t>
            </a:r>
          </a:p>
          <a:p>
            <a:r>
              <a:rPr lang="en-NZ" dirty="0" smtClean="0">
                <a:latin typeface="Times New Roman" panose="02020603050405020304" pitchFamily="18" charset="0"/>
                <a:cs typeface="Times New Roman" panose="02020603050405020304" pitchFamily="18" charset="0"/>
              </a:rPr>
              <a:t>Good and bad charisma</a:t>
            </a:r>
          </a:p>
          <a:p>
            <a:r>
              <a:rPr lang="en-NZ" dirty="0" smtClean="0">
                <a:latin typeface="Times New Roman" panose="02020603050405020304" pitchFamily="18" charset="0"/>
                <a:cs typeface="Times New Roman" panose="02020603050405020304" pitchFamily="18" charset="0"/>
              </a:rPr>
              <a:t>Given legitimacy by leaders magical powers, revelations</a:t>
            </a:r>
          </a:p>
          <a:p>
            <a:r>
              <a:rPr lang="en-NZ" dirty="0" smtClean="0">
                <a:latin typeface="Times New Roman" panose="02020603050405020304" pitchFamily="18" charset="0"/>
                <a:cs typeface="Times New Roman" panose="02020603050405020304" pitchFamily="18" charset="0"/>
              </a:rPr>
              <a:t>Do it because you want to appease </a:t>
            </a:r>
            <a:r>
              <a:rPr lang="en-NZ" dirty="0" smtClean="0">
                <a:latin typeface="Times New Roman" panose="02020603050405020304" pitchFamily="18" charset="0"/>
                <a:cs typeface="Times New Roman" panose="02020603050405020304" pitchFamily="18" charset="0"/>
              </a:rPr>
              <a:t>me</a:t>
            </a:r>
            <a:endParaRPr lang="en-N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731716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smtClean="0"/>
              <a:t>Legal/Rational </a:t>
            </a:r>
            <a:r>
              <a:rPr lang="en-NZ" b="1" dirty="0"/>
              <a:t>A</a:t>
            </a:r>
            <a:r>
              <a:rPr lang="en-NZ" b="1" dirty="0" smtClean="0"/>
              <a:t>uthority</a:t>
            </a:r>
            <a:endParaRPr lang="en-NZ" b="1" dirty="0"/>
          </a:p>
        </p:txBody>
      </p:sp>
      <p:sp>
        <p:nvSpPr>
          <p:cNvPr id="3" name="Content Placeholder 2"/>
          <p:cNvSpPr>
            <a:spLocks noGrp="1"/>
          </p:cNvSpPr>
          <p:nvPr>
            <p:ph idx="1"/>
          </p:nvPr>
        </p:nvSpPr>
        <p:spPr/>
        <p:txBody>
          <a:bodyPr/>
          <a:lstStyle/>
          <a:p>
            <a:r>
              <a:rPr lang="en-NZ" dirty="0" smtClean="0"/>
              <a:t>Elected leaders</a:t>
            </a:r>
          </a:p>
          <a:p>
            <a:r>
              <a:rPr lang="en-NZ" dirty="0" smtClean="0"/>
              <a:t>Status allows them to rule us</a:t>
            </a:r>
          </a:p>
          <a:p>
            <a:r>
              <a:rPr lang="en-NZ" dirty="0" smtClean="0"/>
              <a:t>Electing anchors legitimacy</a:t>
            </a:r>
          </a:p>
          <a:p>
            <a:r>
              <a:rPr lang="en-NZ" dirty="0" smtClean="0"/>
              <a:t>Central to the rational society</a:t>
            </a:r>
          </a:p>
          <a:p>
            <a:r>
              <a:rPr lang="en-NZ" dirty="0" smtClean="0"/>
              <a:t>Do it because you accept me as your leader</a:t>
            </a:r>
            <a:endParaRPr lang="en-NZ" dirty="0"/>
          </a:p>
        </p:txBody>
      </p:sp>
    </p:spTree>
    <p:extLst>
      <p:ext uri="{BB962C8B-B14F-4D97-AF65-F5344CB8AC3E}">
        <p14:creationId xmlns:p14="http://schemas.microsoft.com/office/powerpoint/2010/main" val="7641505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F0E5A2B-796D-4D32-8669-B8F6C8FD2E7D}"/>
              </a:ext>
            </a:extLst>
          </p:cNvPr>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Bureaucracy </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594822FD-8ECD-4905-A3D1-8F35A03D0218}"/>
              </a:ext>
            </a:extLst>
          </p:cNvPr>
          <p:cNvSpPr>
            <a:spLocks noGrp="1"/>
          </p:cNvSpPr>
          <p:nvPr>
            <p:ph idx="1"/>
          </p:nvPr>
        </p:nvSpPr>
        <p:spPr/>
        <p:txBody>
          <a:bodyPr>
            <a:normAutofit lnSpcReduction="10000"/>
          </a:bodyPr>
          <a:lstStyle/>
          <a:p>
            <a:r>
              <a:rPr lang="en-US" dirty="0" smtClean="0">
                <a:latin typeface="Times New Roman" panose="02020603050405020304" pitchFamily="18" charset="0"/>
                <a:cs typeface="Times New Roman" panose="02020603050405020304" pitchFamily="18" charset="0"/>
              </a:rPr>
              <a:t>Use </a:t>
            </a:r>
            <a:r>
              <a:rPr lang="en-US" dirty="0">
                <a:latin typeface="Times New Roman" panose="02020603050405020304" pitchFamily="18" charset="0"/>
                <a:cs typeface="Times New Roman" panose="02020603050405020304" pitchFamily="18" charset="0"/>
              </a:rPr>
              <a:t>of rational principles in formal organizations to rank offices in a hierarchical order with operations characterized by impersonal rules in politics, economy, health, education, etc.</a:t>
            </a:r>
          </a:p>
          <a:p>
            <a:r>
              <a:rPr lang="en-US" dirty="0">
                <a:latin typeface="Times New Roman" panose="02020603050405020304" pitchFamily="18" charset="0"/>
                <a:cs typeface="Times New Roman" panose="02020603050405020304" pitchFamily="18" charset="0"/>
              </a:rPr>
              <a:t>It is a principle of the modern society which ensures large scale planning  and predictability.</a:t>
            </a:r>
          </a:p>
          <a:p>
            <a:r>
              <a:rPr lang="en-US" dirty="0">
                <a:latin typeface="Times New Roman" panose="02020603050405020304" pitchFamily="18" charset="0"/>
                <a:cs typeface="Times New Roman" panose="02020603050405020304" pitchFamily="18" charset="0"/>
              </a:rPr>
              <a:t>It has functions and dysfunctions, as noted by Weber. </a:t>
            </a:r>
          </a:p>
        </p:txBody>
      </p:sp>
    </p:spTree>
    <p:extLst>
      <p:ext uri="{BB962C8B-B14F-4D97-AF65-F5344CB8AC3E}">
        <p14:creationId xmlns:p14="http://schemas.microsoft.com/office/powerpoint/2010/main" val="41604589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3570A63-F81F-4A72-AB02-7016CF3E30FD}"/>
              </a:ext>
            </a:extLst>
          </p:cNvPr>
          <p:cNvSpPr>
            <a:spLocks noGrp="1"/>
          </p:cNvSpPr>
          <p:nvPr>
            <p:ph type="title"/>
          </p:nvPr>
        </p:nvSpPr>
        <p:spPr/>
        <p:txBody>
          <a:bodyPr>
            <a:normAutofit/>
          </a:bodyPr>
          <a:lstStyle/>
          <a:p>
            <a:r>
              <a:rPr lang="en-US" b="1" dirty="0" smtClean="0">
                <a:latin typeface="Times New Roman" panose="02020603050405020304" pitchFamily="18" charset="0"/>
                <a:cs typeface="Times New Roman" panose="02020603050405020304" pitchFamily="18" charset="0"/>
              </a:rPr>
              <a:t>Features/Characteristics </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82C3A8D2-6180-4C86-AB43-26D4C087E363}"/>
              </a:ext>
            </a:extLst>
          </p:cNvPr>
          <p:cNvSpPr>
            <a:spLocks noGrp="1"/>
          </p:cNvSpPr>
          <p:nvPr>
            <p:ph idx="1"/>
          </p:nvPr>
        </p:nvSpPr>
        <p:spPr/>
        <p:txBody>
          <a:bodyPr>
            <a:normAutofit fontScale="77500" lnSpcReduction="20000"/>
          </a:bodyPr>
          <a:lstStyle/>
          <a:p>
            <a:pPr marL="514350" indent="-514350">
              <a:buFont typeface="+mj-lt"/>
              <a:buAutoNum type="arabicPeriod"/>
            </a:pPr>
            <a:r>
              <a:rPr lang="en-US" sz="3300" dirty="0" smtClean="0">
                <a:latin typeface="Times New Roman" panose="02020603050405020304" pitchFamily="18" charset="0"/>
                <a:cs typeface="Times New Roman" panose="02020603050405020304" pitchFamily="18" charset="0"/>
              </a:rPr>
              <a:t>There </a:t>
            </a:r>
            <a:r>
              <a:rPr lang="en-US" sz="3300" dirty="0">
                <a:latin typeface="Times New Roman" panose="02020603050405020304" pitchFamily="18" charset="0"/>
                <a:cs typeface="Times New Roman" panose="02020603050405020304" pitchFamily="18" charset="0"/>
              </a:rPr>
              <a:t>are fixed rules, that is, by laws or administrative regulations. There is no room for personal and interpersonal feelings or considerations. </a:t>
            </a:r>
          </a:p>
          <a:p>
            <a:pPr marL="514350" indent="-514350">
              <a:buFont typeface="+mj-lt"/>
              <a:buAutoNum type="arabicPeriod"/>
            </a:pPr>
            <a:r>
              <a:rPr lang="en-US" sz="3300" dirty="0">
                <a:latin typeface="Times New Roman" panose="02020603050405020304" pitchFamily="18" charset="0"/>
                <a:cs typeface="Times New Roman" panose="02020603050405020304" pitchFamily="18" charset="0"/>
              </a:rPr>
              <a:t>Hierarchy of authority, firmly ordered system of super- and subordination. </a:t>
            </a:r>
          </a:p>
          <a:p>
            <a:pPr marL="514350" indent="-514350">
              <a:buFont typeface="+mj-lt"/>
              <a:buAutoNum type="arabicPeriod"/>
            </a:pPr>
            <a:r>
              <a:rPr lang="en-US" sz="3300" dirty="0" smtClean="0">
                <a:latin typeface="Times New Roman" panose="02020603050405020304" pitchFamily="18" charset="0"/>
                <a:cs typeface="Times New Roman" panose="02020603050405020304" pitchFamily="18" charset="0"/>
              </a:rPr>
              <a:t>Filing </a:t>
            </a:r>
            <a:r>
              <a:rPr lang="en-US" sz="3300" dirty="0">
                <a:latin typeface="Times New Roman" panose="02020603050405020304" pitchFamily="18" charset="0"/>
                <a:cs typeface="Times New Roman" panose="02020603050405020304" pitchFamily="18" charset="0"/>
              </a:rPr>
              <a:t>written documents, black and white records. Books don’t lie.  </a:t>
            </a:r>
          </a:p>
          <a:p>
            <a:pPr marL="514350" indent="-514350">
              <a:buFont typeface="+mj-lt"/>
              <a:buAutoNum type="arabicPeriod"/>
            </a:pPr>
            <a:r>
              <a:rPr lang="en-US" sz="3300" dirty="0">
                <a:latin typeface="Times New Roman" panose="02020603050405020304" pitchFamily="18" charset="0"/>
                <a:cs typeface="Times New Roman" panose="02020603050405020304" pitchFamily="18" charset="0"/>
              </a:rPr>
              <a:t>Appointment and promotion to offices based on merit and expert training. </a:t>
            </a:r>
          </a:p>
          <a:p>
            <a:pPr marL="514350" indent="-514350">
              <a:buFont typeface="+mj-lt"/>
              <a:buAutoNum type="arabicPeriod"/>
            </a:pPr>
            <a:r>
              <a:rPr lang="en-US" sz="3300" dirty="0">
                <a:latin typeface="Times New Roman" panose="02020603050405020304" pitchFamily="18" charset="0"/>
                <a:cs typeface="Times New Roman" panose="02020603050405020304" pitchFamily="18" charset="0"/>
              </a:rPr>
              <a:t>There is a clear separation of official life from private life. </a:t>
            </a:r>
            <a:endParaRPr lang="en-US" dirty="0"/>
          </a:p>
        </p:txBody>
      </p:sp>
    </p:spTree>
    <p:extLst>
      <p:ext uri="{BB962C8B-B14F-4D97-AF65-F5344CB8AC3E}">
        <p14:creationId xmlns:p14="http://schemas.microsoft.com/office/powerpoint/2010/main" val="37268989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84E6084-78A0-45A5-B098-47706E8039D1}"/>
              </a:ext>
            </a:extLst>
          </p:cNvPr>
          <p:cNvSpPr>
            <a:spLocks noGrp="1"/>
          </p:cNvSpPr>
          <p:nvPr>
            <p:ph type="title"/>
          </p:nvPr>
        </p:nvSpPr>
        <p:spPr/>
        <p:txBody>
          <a:bodyPr>
            <a:normAutofit/>
          </a:bodyPr>
          <a:lstStyle/>
          <a:p>
            <a:r>
              <a:rPr lang="en-US" b="1" dirty="0" smtClean="0">
                <a:latin typeface="Times New Roman" panose="02020603050405020304" pitchFamily="18" charset="0"/>
                <a:cs typeface="Times New Roman" panose="02020603050405020304" pitchFamily="18" charset="0"/>
              </a:rPr>
              <a:t>Functions of Bureaucracy </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70D74275-5FFA-4120-A8F0-FF60EDE6538F}"/>
              </a:ext>
            </a:extLst>
          </p:cNvPr>
          <p:cNvSpPr>
            <a:spLocks noGrp="1"/>
          </p:cNvSpPr>
          <p:nvPr>
            <p:ph idx="1"/>
          </p:nvPr>
        </p:nvSpPr>
        <p:spPr/>
        <p:txBody>
          <a:bodyPr>
            <a:normAutofit/>
          </a:bodyPr>
          <a:lstStyle/>
          <a:p>
            <a:pPr marL="514350" indent="-514350">
              <a:buFont typeface="+mj-lt"/>
              <a:buAutoNum type="arabicPeriod"/>
            </a:pPr>
            <a:r>
              <a:rPr lang="en-US" sz="4000" dirty="0">
                <a:latin typeface="Times New Roman" panose="02020603050405020304" pitchFamily="18" charset="0"/>
                <a:cs typeface="Times New Roman" panose="02020603050405020304" pitchFamily="18" charset="0"/>
              </a:rPr>
              <a:t>Makes large-scale planning possible  </a:t>
            </a:r>
          </a:p>
          <a:p>
            <a:pPr marL="514350" indent="-514350">
              <a:buFont typeface="+mj-lt"/>
              <a:buAutoNum type="arabicPeriod"/>
            </a:pPr>
            <a:r>
              <a:rPr lang="en-US" sz="4000" dirty="0">
                <a:latin typeface="Times New Roman" panose="02020603050405020304" pitchFamily="18" charset="0"/>
                <a:cs typeface="Times New Roman" panose="02020603050405020304" pitchFamily="18" charset="0"/>
              </a:rPr>
              <a:t>Mobilization of resources </a:t>
            </a:r>
          </a:p>
          <a:p>
            <a:pPr marL="514350" indent="-514350">
              <a:buFont typeface="+mj-lt"/>
              <a:buAutoNum type="arabicPeriod"/>
            </a:pPr>
            <a:r>
              <a:rPr lang="en-US" sz="4000" dirty="0">
                <a:latin typeface="Times New Roman" panose="02020603050405020304" pitchFamily="18" charset="0"/>
                <a:cs typeface="Times New Roman" panose="02020603050405020304" pitchFamily="18" charset="0"/>
              </a:rPr>
              <a:t>Calculability of results </a:t>
            </a:r>
          </a:p>
          <a:p>
            <a:pPr marL="514350" indent="-514350">
              <a:buFont typeface="+mj-lt"/>
              <a:buAutoNum type="arabicPeriod"/>
            </a:pPr>
            <a:r>
              <a:rPr lang="en-US" sz="4000" dirty="0">
                <a:latin typeface="Times New Roman" panose="02020603050405020304" pitchFamily="18" charset="0"/>
                <a:cs typeface="Times New Roman" panose="02020603050405020304" pitchFamily="18" charset="0"/>
              </a:rPr>
              <a:t>Greater precision </a:t>
            </a:r>
          </a:p>
          <a:p>
            <a:pPr marL="514350" indent="-514350">
              <a:buFont typeface="+mj-lt"/>
              <a:buAutoNum type="arabicPeriod"/>
            </a:pPr>
            <a:r>
              <a:rPr lang="en-US" sz="4000" dirty="0">
                <a:latin typeface="Times New Roman" panose="02020603050405020304" pitchFamily="18" charset="0"/>
                <a:cs typeface="Times New Roman" panose="02020603050405020304" pitchFamily="18" charset="0"/>
              </a:rPr>
              <a:t>Speed in the operations of officials  </a:t>
            </a:r>
          </a:p>
          <a:p>
            <a:endParaRPr 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50710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C426B5C-9A5C-4290-B0F7-4382A7DF6284}"/>
              </a:ext>
            </a:extLst>
          </p:cNvPr>
          <p:cNvSpPr>
            <a:spLocks noGrp="1"/>
          </p:cNvSpPr>
          <p:nvPr>
            <p:ph type="title"/>
          </p:nvPr>
        </p:nvSpPr>
        <p:spPr/>
        <p:txBody>
          <a:bodyPr>
            <a:normAutofit/>
          </a:bodyPr>
          <a:lstStyle/>
          <a:p>
            <a:r>
              <a:rPr lang="en-US" b="1" dirty="0" smtClean="0">
                <a:latin typeface="Times New Roman" panose="02020603050405020304" pitchFamily="18" charset="0"/>
                <a:cs typeface="Times New Roman" panose="02020603050405020304" pitchFamily="18" charset="0"/>
              </a:rPr>
              <a:t>Dysfunctions of Bureaucracy </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9E37CA18-2E02-4719-A24B-C301BA6ED055}"/>
              </a:ext>
            </a:extLst>
          </p:cNvPr>
          <p:cNvSpPr>
            <a:spLocks noGrp="1"/>
          </p:cNvSpPr>
          <p:nvPr>
            <p:ph idx="1"/>
          </p:nvPr>
        </p:nvSpPr>
        <p:spPr/>
        <p:txBody>
          <a:bodyPr>
            <a:normAutofit fontScale="92500" lnSpcReduction="20000"/>
          </a:bodyPr>
          <a:lstStyle/>
          <a:p>
            <a:pPr marL="514350" indent="-514350">
              <a:buFont typeface="+mj-lt"/>
              <a:buAutoNum type="arabicPeriod"/>
            </a:pPr>
            <a:endParaRPr lang="en-US" dirty="0"/>
          </a:p>
          <a:p>
            <a:pPr marL="514350" indent="-514350">
              <a:buFont typeface="+mj-lt"/>
              <a:buAutoNum type="arabicPeriod"/>
            </a:pPr>
            <a:r>
              <a:rPr lang="en-US" sz="3600" dirty="0">
                <a:latin typeface="Times New Roman" panose="02020603050405020304" pitchFamily="18" charset="0"/>
                <a:cs typeface="Times New Roman" panose="02020603050405020304" pitchFamily="18" charset="0"/>
              </a:rPr>
              <a:t>Difficulty in dealing with individual particularities  </a:t>
            </a:r>
          </a:p>
          <a:p>
            <a:pPr marL="514350" indent="-514350">
              <a:buFont typeface="+mj-lt"/>
              <a:buAutoNum type="arabicPeriod"/>
            </a:pPr>
            <a:r>
              <a:rPr lang="en-US" sz="3600" dirty="0">
                <a:latin typeface="Times New Roman" panose="02020603050405020304" pitchFamily="18" charset="0"/>
                <a:cs typeface="Times New Roman" panose="02020603050405020304" pitchFamily="18" charset="0"/>
              </a:rPr>
              <a:t>Leads to depersonalization </a:t>
            </a:r>
          </a:p>
          <a:p>
            <a:pPr marL="514350" indent="-514350">
              <a:buFont typeface="+mj-lt"/>
              <a:buAutoNum type="arabicPeriod"/>
            </a:pPr>
            <a:r>
              <a:rPr lang="en-US" sz="3600" dirty="0">
                <a:latin typeface="Times New Roman" panose="02020603050405020304" pitchFamily="18" charset="0"/>
                <a:cs typeface="Times New Roman" panose="02020603050405020304" pitchFamily="18" charset="0"/>
              </a:rPr>
              <a:t>Alienation from means of production </a:t>
            </a:r>
          </a:p>
          <a:p>
            <a:pPr marL="514350" indent="-514350">
              <a:buFont typeface="+mj-lt"/>
              <a:buAutoNum type="arabicPeriod"/>
            </a:pPr>
            <a:r>
              <a:rPr lang="en-US" sz="3600" dirty="0">
                <a:latin typeface="Times New Roman" panose="02020603050405020304" pitchFamily="18" charset="0"/>
                <a:cs typeface="Times New Roman" panose="02020603050405020304" pitchFamily="18" charset="0"/>
              </a:rPr>
              <a:t>Limits human freedom. Iron cage. Prison.  </a:t>
            </a:r>
          </a:p>
          <a:p>
            <a:pPr marL="514350" indent="-514350">
              <a:buFont typeface="+mj-lt"/>
              <a:buAutoNum type="arabicPeriod"/>
            </a:pPr>
            <a:r>
              <a:rPr lang="en-US" sz="3600" dirty="0">
                <a:latin typeface="Times New Roman" panose="02020603050405020304" pitchFamily="18" charset="0"/>
                <a:cs typeface="Times New Roman" panose="02020603050405020304" pitchFamily="18" charset="0"/>
              </a:rPr>
              <a:t>Prevents individual initiative. Non-innovative. </a:t>
            </a:r>
          </a:p>
          <a:p>
            <a:pPr marL="514350" indent="-514350">
              <a:buFont typeface="+mj-lt"/>
              <a:buAutoNum type="arabicPeriod"/>
            </a:pPr>
            <a:r>
              <a:rPr lang="en-US" sz="3600" dirty="0">
                <a:latin typeface="Times New Roman" panose="02020603050405020304" pitchFamily="18" charset="0"/>
                <a:cs typeface="Times New Roman" panose="02020603050405020304" pitchFamily="18" charset="0"/>
              </a:rPr>
              <a:t>Boredom </a:t>
            </a:r>
          </a:p>
          <a:p>
            <a:pPr marL="514350" indent="-514350">
              <a:buFont typeface="+mj-lt"/>
              <a:buAutoNum type="arabicPeriod"/>
            </a:pPr>
            <a:endParaRPr lang="en-US" dirty="0"/>
          </a:p>
        </p:txBody>
      </p:sp>
    </p:spTree>
    <p:extLst>
      <p:ext uri="{BB962C8B-B14F-4D97-AF65-F5344CB8AC3E}">
        <p14:creationId xmlns:p14="http://schemas.microsoft.com/office/powerpoint/2010/main" val="1191525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latin typeface="Times New Roman" panose="02020603050405020304" pitchFamily="18" charset="0"/>
                <a:cs typeface="Times New Roman" panose="02020603050405020304" pitchFamily="18" charset="0"/>
              </a:rPr>
              <a:t>Rationalization and Disenchantment </a:t>
            </a:r>
            <a:endParaRPr lang="en-US"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14500" y="1958181"/>
            <a:ext cx="5715000" cy="381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135391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B1D5AAC-E176-45E6-BAC8-51A52E7A1315}"/>
              </a:ext>
            </a:extLst>
          </p:cNvPr>
          <p:cNvSpPr>
            <a:spLocks noGrp="1"/>
          </p:cNvSpPr>
          <p:nvPr>
            <p:ph type="title"/>
          </p:nvPr>
        </p:nvSpPr>
        <p:spPr/>
        <p:txBody>
          <a:bodyPr>
            <a:normAutofit fontScale="90000"/>
          </a:bodyPr>
          <a:lstStyle/>
          <a:p>
            <a:r>
              <a:rPr lang="en-US" b="1" dirty="0" smtClean="0">
                <a:latin typeface="Times New Roman" panose="02020603050405020304" pitchFamily="18" charset="0"/>
                <a:cs typeface="Times New Roman" panose="02020603050405020304" pitchFamily="18" charset="0"/>
              </a:rPr>
              <a:t>Rationalization and Disenchantment </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4B232EA5-213D-436A-86F8-BED3E31A2DA8}"/>
              </a:ext>
            </a:extLst>
          </p:cNvPr>
          <p:cNvSpPr>
            <a:spLocks noGrp="1"/>
          </p:cNvSpPr>
          <p:nvPr>
            <p:ph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The world of modernity has deserted the gods. </a:t>
            </a:r>
          </a:p>
          <a:p>
            <a:r>
              <a:rPr lang="en-US" dirty="0">
                <a:latin typeface="Times New Roman" panose="02020603050405020304" pitchFamily="18" charset="0"/>
                <a:cs typeface="Times New Roman" panose="02020603050405020304" pitchFamily="18" charset="0"/>
              </a:rPr>
              <a:t>The modern man has chased them away with rationalization, calculability and predictability of what in an earlier age had been governed by chance, feeling, passion, and commitment, by personal appeal and personal fealty (fidelity), grace and by the ethics of charismatic heroes. </a:t>
            </a:r>
          </a:p>
          <a:p>
            <a:r>
              <a:rPr lang="en-US" dirty="0">
                <a:latin typeface="Times New Roman" panose="02020603050405020304" pitchFamily="18" charset="0"/>
                <a:cs typeface="Times New Roman" panose="02020603050405020304" pitchFamily="18" charset="0"/>
              </a:rPr>
              <a:t>The more a society modernizes the more the gods shy away from man. </a:t>
            </a:r>
          </a:p>
        </p:txBody>
      </p:sp>
    </p:spTree>
    <p:extLst>
      <p:ext uri="{BB962C8B-B14F-4D97-AF65-F5344CB8AC3E}">
        <p14:creationId xmlns:p14="http://schemas.microsoft.com/office/powerpoint/2010/main" val="36116250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14F7E60-31DF-4175-BDDD-F76F5C09E12E}"/>
              </a:ext>
            </a:extLst>
          </p:cNvPr>
          <p:cNvSpPr>
            <a:spLocks noGrp="1"/>
          </p:cNvSpPr>
          <p:nvPr>
            <p:ph type="title"/>
          </p:nvPr>
        </p:nvSpPr>
        <p:spPr/>
        <p:txBody>
          <a:bodyPr>
            <a:normAutofit/>
          </a:bodyPr>
          <a:lstStyle/>
          <a:p>
            <a:r>
              <a:rPr lang="en-US" b="1" dirty="0" smtClean="0">
                <a:latin typeface="Times New Roman" panose="02020603050405020304" pitchFamily="18" charset="0"/>
                <a:cs typeface="Times New Roman" panose="02020603050405020304" pitchFamily="18" charset="0"/>
              </a:rPr>
              <a:t>Views </a:t>
            </a:r>
            <a:r>
              <a:rPr lang="en-US" b="1" dirty="0">
                <a:latin typeface="Times New Roman" panose="02020603050405020304" pitchFamily="18" charset="0"/>
                <a:cs typeface="Times New Roman" panose="02020603050405020304" pitchFamily="18" charset="0"/>
              </a:rPr>
              <a:t>o</a:t>
            </a:r>
            <a:r>
              <a:rPr lang="en-US" b="1" dirty="0" smtClean="0">
                <a:latin typeface="Times New Roman" panose="02020603050405020304" pitchFamily="18" charset="0"/>
                <a:cs typeface="Times New Roman" panose="02020603050405020304" pitchFamily="18" charset="0"/>
              </a:rPr>
              <a:t>n Class, Status and Power</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5697B468-E4D0-4584-8CE4-B673CE5D7C47}"/>
              </a:ext>
            </a:extLst>
          </p:cNvPr>
          <p:cNvSpPr>
            <a:spLocks noGrp="1"/>
          </p:cNvSpPr>
          <p:nvPr>
            <p:ph idx="1"/>
          </p:nvPr>
        </p:nvSpPr>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Class: a group of individuals who share a similar position in a capitalist economy. They receive similar economic rewards. A person’s class is basically their market situation. 4 classes as noted by </a:t>
            </a:r>
            <a:r>
              <a:rPr lang="en-US" dirty="0" err="1">
                <a:latin typeface="Times New Roman" panose="02020603050405020304" pitchFamily="18" charset="0"/>
                <a:cs typeface="Times New Roman" panose="02020603050405020304" pitchFamily="18" charset="0"/>
              </a:rPr>
              <a:t>Haralambos</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Holborn</a:t>
            </a:r>
            <a:r>
              <a:rPr lang="en-US" dirty="0">
                <a:latin typeface="Times New Roman" panose="02020603050405020304" pitchFamily="18" charset="0"/>
                <a:cs typeface="Times New Roman" panose="02020603050405020304" pitchFamily="18" charset="0"/>
              </a:rPr>
              <a:t> (2004)</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the propertied upper class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the property less white-collar workers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the petty bourgeoisie-the small property owners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the manual working class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89943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F2EDD8F-2D51-4A8B-ABBF-8F380E5C3678}"/>
              </a:ext>
            </a:extLst>
          </p:cNvPr>
          <p:cNvSpPr>
            <a:spLocks noGrp="1"/>
          </p:cNvSpPr>
          <p:nvPr>
            <p:ph type="title"/>
          </p:nvPr>
        </p:nvSpPr>
        <p:spPr/>
        <p:txBody>
          <a:bodyPr>
            <a:normAutofit fontScale="90000"/>
          </a:bodyPr>
          <a:lstStyle/>
          <a:p>
            <a:r>
              <a:rPr lang="en-US" b="1" dirty="0" smtClean="0">
                <a:latin typeface="Times New Roman" panose="02020603050405020304" pitchFamily="18" charset="0"/>
                <a:cs typeface="Times New Roman" panose="02020603050405020304" pitchFamily="18" charset="0"/>
              </a:rPr>
              <a:t>Views on Class, Status and Power Cont. </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E22CE28F-C7B0-4249-BACD-B56DE171A27B}"/>
              </a:ext>
            </a:extLst>
          </p:cNvPr>
          <p:cNvSpPr>
            <a:spLocks noGrp="1"/>
          </p:cNvSpPr>
          <p:nvPr>
            <p:ph idx="1"/>
          </p:nvPr>
        </p:nvSpPr>
        <p:spPr/>
        <p:txBody>
          <a:bodyPr>
            <a:normAutofit fontScale="92500" lnSpcReduction="20000"/>
          </a:bodyPr>
          <a:lstStyle/>
          <a:p>
            <a:r>
              <a:rPr lang="en-US" sz="4000" dirty="0">
                <a:latin typeface="Times New Roman" panose="02020603050405020304" pitchFamily="18" charset="0"/>
                <a:cs typeface="Times New Roman" panose="02020603050405020304" pitchFamily="18" charset="0"/>
              </a:rPr>
              <a:t>Status: The amount of social honour, respect, recognition, given to a person by virtue of their ‘good lifestyle’ in society. E.g. Castes, Apartheid, Race, </a:t>
            </a:r>
            <a:r>
              <a:rPr lang="en-US" sz="4000" dirty="0" err="1">
                <a:latin typeface="Times New Roman" panose="02020603050405020304" pitchFamily="18" charset="0"/>
                <a:cs typeface="Times New Roman" panose="02020603050405020304" pitchFamily="18" charset="0"/>
              </a:rPr>
              <a:t>Colour</a:t>
            </a:r>
            <a:r>
              <a:rPr lang="en-US" sz="4000" dirty="0">
                <a:latin typeface="Times New Roman" panose="02020603050405020304" pitchFamily="18" charset="0"/>
                <a:cs typeface="Times New Roman" panose="02020603050405020304" pitchFamily="18" charset="0"/>
              </a:rPr>
              <a:t>, etc.</a:t>
            </a:r>
          </a:p>
          <a:p>
            <a:r>
              <a:rPr lang="en-US" sz="4000" dirty="0">
                <a:latin typeface="Times New Roman" panose="02020603050405020304" pitchFamily="18" charset="0"/>
                <a:cs typeface="Times New Roman" panose="02020603050405020304" pitchFamily="18" charset="0"/>
              </a:rPr>
              <a:t>Power: The ability of a man or group of men to have their will realized even against the resistance of others in a social situation. </a:t>
            </a:r>
          </a:p>
          <a:p>
            <a:endParaRPr 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58427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352</TotalTime>
  <Words>632</Words>
  <Application>Microsoft Office PowerPoint</Application>
  <PresentationFormat>On-screen Show (4:3)</PresentationFormat>
  <Paragraphs>78</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MAX WEBER (1864-1920) </vt:lpstr>
      <vt:lpstr>MAX WEBER (1864-1920) </vt:lpstr>
      <vt:lpstr>The Work</vt:lpstr>
      <vt:lpstr>Social Action</vt:lpstr>
      <vt:lpstr>Types of Social Action </vt:lpstr>
      <vt:lpstr>Authority </vt:lpstr>
      <vt:lpstr>Traditional Authority</vt:lpstr>
      <vt:lpstr>Charismatic Authority</vt:lpstr>
      <vt:lpstr>Legal/Rational Authority</vt:lpstr>
      <vt:lpstr>Bureaucracy </vt:lpstr>
      <vt:lpstr>Features/Characteristics </vt:lpstr>
      <vt:lpstr>Functions of Bureaucracy </vt:lpstr>
      <vt:lpstr>Dysfunctions of Bureaucracy </vt:lpstr>
      <vt:lpstr>Rationalization and Disenchantment </vt:lpstr>
      <vt:lpstr>Rationalization and Disenchantment </vt:lpstr>
      <vt:lpstr>Views on Class, Status and Power</vt:lpstr>
      <vt:lpstr>Views on Class, Status and Power Cont. </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MAX WEBER (1864-1920) </dc:title>
  <dc:creator>Microsoft</dc:creator>
  <cp:lastModifiedBy>Microsoft</cp:lastModifiedBy>
  <cp:revision>27</cp:revision>
  <dcterms:created xsi:type="dcterms:W3CDTF">2020-02-27T13:29:34Z</dcterms:created>
  <dcterms:modified xsi:type="dcterms:W3CDTF">2020-03-12T12:06:30Z</dcterms:modified>
</cp:coreProperties>
</file>