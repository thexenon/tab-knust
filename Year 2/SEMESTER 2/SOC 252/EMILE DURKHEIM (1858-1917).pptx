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72" r:id="rId2"/>
    <p:sldId id="257" r:id="rId3"/>
    <p:sldId id="258" r:id="rId4"/>
    <p:sldId id="259" r:id="rId5"/>
    <p:sldId id="260" r:id="rId6"/>
    <p:sldId id="261" r:id="rId7"/>
    <p:sldId id="262" r:id="rId8"/>
    <p:sldId id="263" r:id="rId9"/>
    <p:sldId id="264" r:id="rId10"/>
    <p:sldId id="265" r:id="rId11"/>
    <p:sldId id="266" r:id="rId12"/>
    <p:sldId id="267" r:id="rId13"/>
    <p:sldId id="273" r:id="rId14"/>
    <p:sldId id="274" r:id="rId15"/>
    <p:sldId id="268" r:id="rId16"/>
    <p:sldId id="275" r:id="rId17"/>
    <p:sldId id="276" r:id="rId18"/>
    <p:sldId id="277" r:id="rId19"/>
    <p:sldId id="270" r:id="rId20"/>
    <p:sldId id="271" r:id="rId21"/>
    <p:sldId id="27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6CDDB-6330-484B-8F06-0DD8633715B0}" type="datetimeFigureOut">
              <a:rPr lang="en-US" smtClean="0"/>
              <a:pPr/>
              <a:t>23-Jun-21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B4F558-5E58-4FF4-AB1A-45896ACABDE2}" type="slidenum">
              <a:rPr lang="en-US" smtClean="0"/>
              <a:pPr/>
              <a:t>‹#›</a:t>
            </a:fld>
            <a:endParaRPr lang="en-US"/>
          </a:p>
        </p:txBody>
      </p:sp>
    </p:spTree>
    <p:extLst>
      <p:ext uri="{BB962C8B-B14F-4D97-AF65-F5344CB8AC3E}">
        <p14:creationId xmlns:p14="http://schemas.microsoft.com/office/powerpoint/2010/main" xmlns="" val="53510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B4F558-5E58-4FF4-AB1A-45896ACABDE2}" type="slidenum">
              <a:rPr lang="en-US" smtClean="0"/>
              <a:pPr/>
              <a:t>3</a:t>
            </a:fld>
            <a:endParaRPr lang="en-US"/>
          </a:p>
        </p:txBody>
      </p:sp>
    </p:spTree>
    <p:extLst>
      <p:ext uri="{BB962C8B-B14F-4D97-AF65-F5344CB8AC3E}">
        <p14:creationId xmlns:p14="http://schemas.microsoft.com/office/powerpoint/2010/main" xmlns="" val="1695322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5FDF4B6-CB60-4516-AC6F-08A0FD54B525}" type="datetimeFigureOut">
              <a:rPr lang="en-US" smtClean="0"/>
              <a:pPr/>
              <a:t>23-Jun-21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279754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FDF4B6-CB60-4516-AC6F-08A0FD54B525}" type="datetimeFigureOut">
              <a:rPr lang="en-US" smtClean="0"/>
              <a:pPr/>
              <a:t>23-Jun-21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164123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5FDF4B6-CB60-4516-AC6F-08A0FD54B525}" type="datetimeFigureOut">
              <a:rPr lang="en-US" smtClean="0"/>
              <a:pPr/>
              <a:t>23-Jun-21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2221426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5FDF4B6-CB60-4516-AC6F-08A0FD54B525}" type="datetimeFigureOut">
              <a:rPr lang="en-US" smtClean="0"/>
              <a:pPr/>
              <a:t>23-Jun-21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409714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5FDF4B6-CB60-4516-AC6F-08A0FD54B525}" type="datetimeFigureOut">
              <a:rPr lang="en-US" smtClean="0"/>
              <a:pPr/>
              <a:t>23-Jun-21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2272762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5FDF4B6-CB60-4516-AC6F-08A0FD54B525}" type="datetimeFigureOut">
              <a:rPr lang="en-US" smtClean="0"/>
              <a:pPr/>
              <a:t>23-Jun-21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194296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FDF4B6-CB60-4516-AC6F-08A0FD54B525}" type="datetimeFigureOut">
              <a:rPr lang="en-US" smtClean="0"/>
              <a:pPr/>
              <a:t>23-Jun-21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3164863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FDF4B6-CB60-4516-AC6F-08A0FD54B525}" type="datetimeFigureOut">
              <a:rPr lang="en-US" smtClean="0"/>
              <a:pPr/>
              <a:t>23-Jun-21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2513142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FDF4B6-CB60-4516-AC6F-08A0FD54B525}" type="datetimeFigureOut">
              <a:rPr lang="en-US" smtClean="0"/>
              <a:pPr/>
              <a:t>23-Jun-21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275198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FDF4B6-CB60-4516-AC6F-08A0FD54B525}" type="datetimeFigureOut">
              <a:rPr lang="en-US" smtClean="0"/>
              <a:pPr/>
              <a:t>23-Jun-21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679642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FDF4B6-CB60-4516-AC6F-08A0FD54B525}" type="datetimeFigureOut">
              <a:rPr lang="en-US" smtClean="0"/>
              <a:pPr/>
              <a:t>23-Jun-21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99906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FDF4B6-CB60-4516-AC6F-08A0FD54B525}" type="datetimeFigureOut">
              <a:rPr lang="en-US" smtClean="0"/>
              <a:pPr/>
              <a:t>23-Jun-21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DFF82E-5488-4B10-B975-471E7DA663C8}" type="slidenum">
              <a:rPr lang="en-US" smtClean="0"/>
              <a:pPr/>
              <a:t>‹#›</a:t>
            </a:fld>
            <a:endParaRPr lang="en-US"/>
          </a:p>
        </p:txBody>
      </p:sp>
    </p:spTree>
    <p:extLst>
      <p:ext uri="{BB962C8B-B14F-4D97-AF65-F5344CB8AC3E}">
        <p14:creationId xmlns:p14="http://schemas.microsoft.com/office/powerpoint/2010/main" xmlns="" val="3151698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EMILE DURKHEIM (1858-1917)</a:t>
            </a:r>
            <a:endParaRPr lang="en-US" b="1" dirty="0">
              <a:latin typeface="Times New Roman" panose="02020603050405020304" pitchFamily="18" charset="0"/>
              <a:cs typeface="Times New Roman" panose="02020603050405020304" pitchFamily="18" charset="0"/>
            </a:endParaRP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114800" y="1600200"/>
            <a:ext cx="4525963" cy="45259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28600" y="1600200"/>
            <a:ext cx="3962400" cy="449579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895823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EMILE DURKHEIM (1858-1917)</a:t>
            </a:r>
            <a:endParaRPr lang="en-US" dirty="0"/>
          </a:p>
        </p:txBody>
      </p:sp>
      <p:sp>
        <p:nvSpPr>
          <p:cNvPr id="3" name="Content Placeholder 2"/>
          <p:cNvSpPr>
            <a:spLocks noGrp="1"/>
          </p:cNvSpPr>
          <p:nvPr>
            <p:ph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Born at </a:t>
            </a:r>
            <a:r>
              <a:rPr lang="en-US" dirty="0" err="1">
                <a:latin typeface="Times New Roman" panose="02020603050405020304" pitchFamily="18" charset="0"/>
                <a:cs typeface="Times New Roman" panose="02020603050405020304" pitchFamily="18" charset="0"/>
              </a:rPr>
              <a:t>Epinal</a:t>
            </a:r>
            <a:r>
              <a:rPr lang="en-US" dirty="0">
                <a:latin typeface="Times New Roman" panose="02020603050405020304" pitchFamily="18" charset="0"/>
                <a:cs typeface="Times New Roman" panose="02020603050405020304" pitchFamily="18" charset="0"/>
              </a:rPr>
              <a:t> in Loraine, French; on April 15, 1858. </a:t>
            </a:r>
          </a:p>
          <a:p>
            <a:r>
              <a:rPr lang="en-US" dirty="0">
                <a:latin typeface="Times New Roman" panose="02020603050405020304" pitchFamily="18" charset="0"/>
                <a:cs typeface="Times New Roman" panose="02020603050405020304" pitchFamily="18" charset="0"/>
              </a:rPr>
              <a:t>Attended </a:t>
            </a:r>
            <a:r>
              <a:rPr lang="en-US" i="1" dirty="0" err="1">
                <a:latin typeface="Times New Roman" panose="02020603050405020304" pitchFamily="18" charset="0"/>
                <a:cs typeface="Times New Roman" panose="02020603050405020304" pitchFamily="18" charset="0"/>
              </a:rPr>
              <a:t>Ecole</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Normale</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Superieure</a:t>
            </a:r>
            <a:r>
              <a:rPr lang="en-US" dirty="0">
                <a:latin typeface="Times New Roman" panose="02020603050405020304" pitchFamily="18" charset="0"/>
                <a:cs typeface="Times New Roman" panose="02020603050405020304" pitchFamily="18" charset="0"/>
              </a:rPr>
              <a:t>, the traditional training ground for the intellectual elite of France. </a:t>
            </a:r>
          </a:p>
          <a:p>
            <a:r>
              <a:rPr lang="en-US" dirty="0">
                <a:latin typeface="Times New Roman" panose="02020603050405020304" pitchFamily="18" charset="0"/>
                <a:cs typeface="Times New Roman" panose="02020603050405020304" pitchFamily="18" charset="0"/>
              </a:rPr>
              <a:t>Son of a rabbi and descending from a long line of rabbis, he decided to follow the family tradition and become a rabbi. </a:t>
            </a:r>
          </a:p>
          <a:p>
            <a:r>
              <a:rPr lang="en-US" dirty="0">
                <a:latin typeface="Times New Roman" panose="02020603050405020304" pitchFamily="18" charset="0"/>
                <a:cs typeface="Times New Roman" panose="02020603050405020304" pitchFamily="18" charset="0"/>
              </a:rPr>
              <a:t>Studied Hebrew, the Old Testament, and the Talmud</a:t>
            </a:r>
          </a:p>
          <a:p>
            <a:r>
              <a:rPr lang="en-US" dirty="0">
                <a:latin typeface="Times New Roman" panose="02020603050405020304" pitchFamily="18" charset="0"/>
                <a:cs typeface="Times New Roman" panose="02020603050405020304" pitchFamily="18" charset="0"/>
              </a:rPr>
              <a:t>Had a mystical experience under the influence of a Catholic woman teacher, that led to an interest in Catholicism.</a:t>
            </a:r>
          </a:p>
        </p:txBody>
      </p:sp>
    </p:spTree>
    <p:extLst>
      <p:ext uri="{BB962C8B-B14F-4D97-AF65-F5344CB8AC3E}">
        <p14:creationId xmlns:p14="http://schemas.microsoft.com/office/powerpoint/2010/main" xmlns="" val="2505730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Work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overall doctrine: the study of society must eschew reductionism</a:t>
            </a:r>
          </a:p>
          <a:p>
            <a:r>
              <a:rPr lang="en-US" dirty="0">
                <a:latin typeface="Times New Roman" panose="02020603050405020304" pitchFamily="18" charset="0"/>
                <a:cs typeface="Times New Roman" panose="02020603050405020304" pitchFamily="18" charset="0"/>
              </a:rPr>
              <a:t>Social phenomena must be viewed as </a:t>
            </a:r>
            <a:r>
              <a:rPr lang="en-US" i="1" dirty="0">
                <a:latin typeface="Times New Roman" panose="02020603050405020304" pitchFamily="18" charset="0"/>
                <a:cs typeface="Times New Roman" panose="02020603050405020304" pitchFamily="18" charset="0"/>
              </a:rPr>
              <a:t>sui generis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Rejecting </a:t>
            </a:r>
            <a:r>
              <a:rPr lang="en-US" dirty="0" err="1">
                <a:latin typeface="Times New Roman" panose="02020603050405020304" pitchFamily="18" charset="0"/>
                <a:cs typeface="Times New Roman" panose="02020603050405020304" pitchFamily="18" charset="0"/>
              </a:rPr>
              <a:t>biologistic</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psychologistic</a:t>
            </a:r>
            <a:r>
              <a:rPr lang="en-US" dirty="0">
                <a:latin typeface="Times New Roman" panose="02020603050405020304" pitchFamily="18" charset="0"/>
                <a:cs typeface="Times New Roman" panose="02020603050405020304" pitchFamily="18" charset="0"/>
              </a:rPr>
              <a:t> interpretations of social problems. </a:t>
            </a:r>
          </a:p>
          <a:p>
            <a:r>
              <a:rPr lang="en-US" dirty="0">
                <a:latin typeface="Times New Roman" panose="02020603050405020304" pitchFamily="18" charset="0"/>
                <a:cs typeface="Times New Roman" panose="02020603050405020304" pitchFamily="18" charset="0"/>
              </a:rPr>
              <a:t>Social phenomena are "social facts" and these are the subject matter of sociology.</a:t>
            </a:r>
          </a:p>
        </p:txBody>
      </p:sp>
    </p:spTree>
    <p:extLst>
      <p:ext uri="{BB962C8B-B14F-4D97-AF65-F5344CB8AC3E}">
        <p14:creationId xmlns:p14="http://schemas.microsoft.com/office/powerpoint/2010/main" xmlns="" val="4154590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Social </a:t>
            </a:r>
            <a:r>
              <a:rPr lang="en-US" b="1" dirty="0" smtClean="0">
                <a:latin typeface="Times New Roman" panose="02020603050405020304" pitchFamily="18" charset="0"/>
                <a:cs typeface="Times New Roman" panose="02020603050405020304" pitchFamily="18" charset="0"/>
              </a:rPr>
              <a:t>Facts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They consist of manners of acting, thinking and feeling external to the individual, which are invested with a coercive power by virtue of which they exercise control over him. </a:t>
            </a:r>
          </a:p>
          <a:p>
            <a:r>
              <a:rPr lang="en-US" dirty="0">
                <a:latin typeface="Times New Roman" panose="02020603050405020304" pitchFamily="18" charset="0"/>
                <a:cs typeface="Times New Roman" panose="02020603050405020304" pitchFamily="18" charset="0"/>
              </a:rPr>
              <a:t>A social fact is any way of acting, whether fixed or not, capable of exerting over the individual an external constraint. </a:t>
            </a:r>
          </a:p>
          <a:p>
            <a:r>
              <a:rPr lang="en-US" dirty="0">
                <a:latin typeface="Times New Roman" panose="02020603050405020304" pitchFamily="18" charset="0"/>
                <a:cs typeface="Times New Roman" panose="02020603050405020304" pitchFamily="18" charset="0"/>
              </a:rPr>
              <a:t>Examples of social facts include rules of professional conduct, religious observances, the family, public morality, social institutions like political parties, educational institutions, the economy, health, etc.</a:t>
            </a:r>
          </a:p>
        </p:txBody>
      </p:sp>
    </p:spTree>
    <p:extLst>
      <p:ext uri="{BB962C8B-B14F-4D97-AF65-F5344CB8AC3E}">
        <p14:creationId xmlns:p14="http://schemas.microsoft.com/office/powerpoint/2010/main" xmlns="" val="23748659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Characteristics of </a:t>
            </a:r>
            <a:r>
              <a:rPr lang="en-US" b="1" dirty="0" smtClean="0">
                <a:latin typeface="Times New Roman" panose="02020603050405020304" pitchFamily="18" charset="0"/>
                <a:cs typeface="Times New Roman" panose="02020603050405020304" pitchFamily="18" charset="0"/>
              </a:rPr>
              <a:t>Social </a:t>
            </a:r>
            <a:r>
              <a:rPr lang="en-US" b="1" dirty="0">
                <a:latin typeface="Times New Roman" panose="02020603050405020304" pitchFamily="18" charset="0"/>
                <a:cs typeface="Times New Roman" panose="02020603050405020304" pitchFamily="18" charset="0"/>
              </a:rPr>
              <a:t>F</a:t>
            </a:r>
            <a:r>
              <a:rPr lang="en-US" b="1" dirty="0" smtClean="0">
                <a:latin typeface="Times New Roman" panose="02020603050405020304" pitchFamily="18" charset="0"/>
                <a:cs typeface="Times New Roman" panose="02020603050405020304" pitchFamily="18" charset="0"/>
              </a:rPr>
              <a:t>acts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GB" dirty="0">
                <a:latin typeface="Times New Roman" panose="02020603050405020304" pitchFamily="18" charset="0"/>
                <a:cs typeface="Times New Roman" panose="02020603050405020304" pitchFamily="18" charset="0"/>
              </a:rPr>
              <a:t>There are four major characteristics of social facts:</a:t>
            </a:r>
            <a:endParaRPr lang="en-US" dirty="0">
              <a:latin typeface="Times New Roman" panose="02020603050405020304" pitchFamily="18" charset="0"/>
              <a:cs typeface="Times New Roman" panose="02020603050405020304" pitchFamily="18" charset="0"/>
            </a:endParaRPr>
          </a:p>
          <a:p>
            <a:pPr marL="514350" lvl="0" indent="-514350">
              <a:buFont typeface="+mj-lt"/>
              <a:buAutoNum type="arabicPeriod"/>
            </a:pPr>
            <a:r>
              <a:rPr lang="en-GB" dirty="0">
                <a:latin typeface="Times New Roman" panose="02020603050405020304" pitchFamily="18" charset="0"/>
                <a:cs typeface="Times New Roman" panose="02020603050405020304" pitchFamily="18" charset="0"/>
              </a:rPr>
              <a:t>They have distinctive social characteristics and determinants which are not amenable to explanation on either the biological or psychological level</a:t>
            </a:r>
            <a:endParaRPr lang="en-US" dirty="0">
              <a:latin typeface="Times New Roman" panose="02020603050405020304" pitchFamily="18" charset="0"/>
              <a:cs typeface="Times New Roman" panose="02020603050405020304" pitchFamily="18" charset="0"/>
            </a:endParaRPr>
          </a:p>
          <a:p>
            <a:pPr marL="514350" lvl="0" indent="-514350">
              <a:buFont typeface="+mj-lt"/>
              <a:buAutoNum type="arabicPeriod"/>
            </a:pPr>
            <a:r>
              <a:rPr lang="en-GB" dirty="0">
                <a:latin typeface="Times New Roman" panose="02020603050405020304" pitchFamily="18" charset="0"/>
                <a:cs typeface="Times New Roman" panose="02020603050405020304" pitchFamily="18" charset="0"/>
              </a:rPr>
              <a:t>They are external to the individual</a:t>
            </a:r>
            <a:endParaRPr lang="en-US" dirty="0">
              <a:latin typeface="Times New Roman" panose="02020603050405020304" pitchFamily="18" charset="0"/>
              <a:cs typeface="Times New Roman" panose="02020603050405020304" pitchFamily="18" charset="0"/>
            </a:endParaRPr>
          </a:p>
          <a:p>
            <a:pPr marL="514350" lvl="0" indent="-514350">
              <a:buFont typeface="+mj-lt"/>
              <a:buAutoNum type="arabicPeriod"/>
            </a:pPr>
            <a:r>
              <a:rPr lang="en-GB" dirty="0">
                <a:latin typeface="Times New Roman" panose="02020603050405020304" pitchFamily="18" charset="0"/>
                <a:cs typeface="Times New Roman" panose="02020603050405020304" pitchFamily="18" charset="0"/>
              </a:rPr>
              <a:t>They endure through time outlasting any set or group of individuals</a:t>
            </a:r>
            <a:endParaRPr lang="en-US" dirty="0">
              <a:latin typeface="Times New Roman" panose="02020603050405020304" pitchFamily="18" charset="0"/>
              <a:cs typeface="Times New Roman" panose="02020603050405020304" pitchFamily="18" charset="0"/>
            </a:endParaRPr>
          </a:p>
          <a:p>
            <a:pPr marL="514350" lvl="0" indent="-514350">
              <a:buFont typeface="+mj-lt"/>
              <a:buAutoNum type="arabicPeriod"/>
            </a:pPr>
            <a:r>
              <a:rPr lang="en-GB" dirty="0">
                <a:latin typeface="Times New Roman" panose="02020603050405020304" pitchFamily="18" charset="0"/>
                <a:cs typeface="Times New Roman" panose="02020603050405020304" pitchFamily="18" charset="0"/>
              </a:rPr>
              <a:t>They are endowed with coercive power, imposing themselves upon him, independent of his will</a:t>
            </a:r>
            <a:r>
              <a:rPr lang="en-GB"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117111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Methodology </a:t>
            </a:r>
          </a:p>
        </p:txBody>
      </p:sp>
      <p:sp>
        <p:nvSpPr>
          <p:cNvPr id="3" name="Content Placeholder 2"/>
          <p:cNvSpPr>
            <a:spLocks noGrp="1"/>
          </p:cNvSpPr>
          <p:nvPr>
            <p:ph idx="1"/>
          </p:nvPr>
        </p:nvSpPr>
        <p:spPr/>
        <p:txBody>
          <a:bodyPr>
            <a:normAutofit fontScale="77500" lnSpcReduction="20000"/>
          </a:bodyPr>
          <a:lstStyle/>
          <a:p>
            <a:r>
              <a:rPr lang="en-GB" dirty="0">
                <a:latin typeface="Times New Roman" panose="02020603050405020304" pitchFamily="18" charset="0"/>
                <a:cs typeface="Times New Roman" panose="02020603050405020304" pitchFamily="18" charset="0"/>
              </a:rPr>
              <a:t>His methodology consists of formulating rules to help single out social facts.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First, in observing social facts preconceptions must be eradicated.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Second, the subject matter should be social facts.</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Comparative method is the method suitable to sociology. To him causation is a necessary relation between a prior and a subsequent state of phenomena and can be determined only by comparing the two states.</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There is also the need to engage in functional analysis. This entails the examination of the function of the social fact to maintain the social whole</a:t>
            </a:r>
            <a:r>
              <a:rPr lang="en-GB"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499339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Social </a:t>
            </a:r>
            <a:r>
              <a:rPr lang="en-US" b="1" dirty="0" smtClean="0">
                <a:latin typeface="Times New Roman" panose="02020603050405020304" pitchFamily="18" charset="0"/>
                <a:cs typeface="Times New Roman" panose="02020603050405020304" pitchFamily="18" charset="0"/>
              </a:rPr>
              <a:t>Solidarity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GB" dirty="0">
                <a:latin typeface="Times New Roman" panose="02020603050405020304" pitchFamily="18" charset="0"/>
                <a:cs typeface="Times New Roman" panose="02020603050405020304" pitchFamily="18" charset="0"/>
              </a:rPr>
              <a:t>This is a classic study of social solidarity that is what holds society together and keeps it from disintegrating, which was developed in his book, </a:t>
            </a:r>
            <a:r>
              <a:rPr lang="en-GB" i="1" dirty="0">
                <a:latin typeface="Times New Roman" panose="02020603050405020304" pitchFamily="18" charset="0"/>
                <a:cs typeface="Times New Roman" panose="02020603050405020304" pitchFamily="18" charset="0"/>
              </a:rPr>
              <a:t>‘The Division of </a:t>
            </a:r>
            <a:r>
              <a:rPr lang="en-GB" i="1" dirty="0" smtClean="0">
                <a:latin typeface="Times New Roman" panose="02020603050405020304" pitchFamily="18" charset="0"/>
                <a:cs typeface="Times New Roman" panose="02020603050405020304" pitchFamily="18" charset="0"/>
              </a:rPr>
              <a:t>Labour </a:t>
            </a:r>
            <a:r>
              <a:rPr lang="en-GB" i="1" dirty="0">
                <a:latin typeface="Times New Roman" panose="02020603050405020304" pitchFamily="18" charset="0"/>
                <a:cs typeface="Times New Roman" panose="02020603050405020304" pitchFamily="18" charset="0"/>
              </a:rPr>
              <a:t>in Society’ (1893).</a:t>
            </a:r>
          </a:p>
          <a:p>
            <a:r>
              <a:rPr lang="en-GB" dirty="0">
                <a:latin typeface="Times New Roman" panose="02020603050405020304" pitchFamily="18" charset="0"/>
                <a:cs typeface="Times New Roman" panose="02020603050405020304" pitchFamily="18" charset="0"/>
              </a:rPr>
              <a:t>He sought in this work to explain division of labour from a societal perspective.</a:t>
            </a:r>
            <a:r>
              <a:rPr lang="en-GB" i="1" dirty="0">
                <a:latin typeface="Times New Roman" panose="02020603050405020304" pitchFamily="18" charset="0"/>
                <a:cs typeface="Times New Roman" panose="02020603050405020304" pitchFamily="18" charset="0"/>
              </a:rPr>
              <a:t> </a:t>
            </a:r>
          </a:p>
          <a:p>
            <a:r>
              <a:rPr lang="en-GB" dirty="0">
                <a:latin typeface="Times New Roman" panose="02020603050405020304" pitchFamily="18" charset="0"/>
                <a:cs typeface="Times New Roman" panose="02020603050405020304" pitchFamily="18" charset="0"/>
              </a:rPr>
              <a:t>He distinguished between mechanical and organic solidarity</a:t>
            </a:r>
            <a:r>
              <a:rPr lang="en-GB"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1697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Mechanical S</a:t>
            </a:r>
            <a:r>
              <a:rPr lang="en-US" b="1" dirty="0" smtClean="0">
                <a:latin typeface="Times New Roman" panose="02020603050405020304" pitchFamily="18" charset="0"/>
                <a:cs typeface="Times New Roman" panose="02020603050405020304" pitchFamily="18" charset="0"/>
              </a:rPr>
              <a:t>olidarity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US" dirty="0"/>
              <a:t>Solidarity based on sameness, commonness, likeness, similarities. </a:t>
            </a:r>
          </a:p>
          <a:p>
            <a:r>
              <a:rPr lang="en-US" dirty="0"/>
              <a:t>Individual differences are minimized and the members of society are much alike in their devotion to the common </a:t>
            </a:r>
            <a:r>
              <a:rPr lang="en-US" dirty="0" smtClean="0"/>
              <a:t>goal. </a:t>
            </a:r>
            <a:endParaRPr lang="en-US" dirty="0"/>
          </a:p>
          <a:p>
            <a:r>
              <a:rPr lang="en-US" dirty="0"/>
              <a:t>Thus, resemblance in beliefs and practices, occupation, language, dressing, food, housing, etc. as seen in </a:t>
            </a:r>
            <a:r>
              <a:rPr lang="en-US" dirty="0" err="1"/>
              <a:t>villagual</a:t>
            </a:r>
            <a:r>
              <a:rPr lang="en-US" dirty="0"/>
              <a:t>, ancient, pre-modern, rural, pre-industrial, archaic societies. </a:t>
            </a:r>
          </a:p>
          <a:p>
            <a:r>
              <a:rPr lang="en-US" dirty="0"/>
              <a:t>Violation of the collective conscience is met with harsh punishment.</a:t>
            </a:r>
          </a:p>
          <a:p>
            <a:endParaRPr lang="en-US" dirty="0"/>
          </a:p>
        </p:txBody>
      </p:sp>
    </p:spTree>
    <p:extLst>
      <p:ext uri="{BB962C8B-B14F-4D97-AF65-F5344CB8AC3E}">
        <p14:creationId xmlns:p14="http://schemas.microsoft.com/office/powerpoint/2010/main" xmlns="" val="3749651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Organic </a:t>
            </a:r>
            <a:r>
              <a:rPr lang="en-US" b="1" dirty="0" smtClean="0">
                <a:latin typeface="Times New Roman" panose="02020603050405020304" pitchFamily="18" charset="0"/>
                <a:cs typeface="Times New Roman" panose="02020603050405020304" pitchFamily="18" charset="0"/>
              </a:rPr>
              <a:t>Solidarity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Solidarity based on differences, division of labour and </a:t>
            </a:r>
            <a:r>
              <a:rPr lang="en-US" dirty="0" smtClean="0">
                <a:latin typeface="Times New Roman" panose="02020603050405020304" pitchFamily="18" charset="0"/>
                <a:cs typeface="Times New Roman" panose="02020603050405020304" pitchFamily="18" charset="0"/>
              </a:rPr>
              <a:t>specialization.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Increasing </a:t>
            </a:r>
            <a:r>
              <a:rPr lang="en-US" dirty="0" smtClean="0">
                <a:latin typeface="Times New Roman" panose="02020603050405020304" pitchFamily="18" charset="0"/>
                <a:cs typeface="Times New Roman" panose="02020603050405020304" pitchFamily="18" charset="0"/>
              </a:rPr>
              <a:t>differentiation </a:t>
            </a:r>
            <a:r>
              <a:rPr lang="en-US" dirty="0">
                <a:latin typeface="Times New Roman" panose="02020603050405020304" pitchFamily="18" charset="0"/>
                <a:cs typeface="Times New Roman" panose="02020603050405020304" pitchFamily="18" charset="0"/>
              </a:rPr>
              <a:t>comes with increasing interdependence as parts of an organism inter-depend for the survival of the whole. </a:t>
            </a:r>
          </a:p>
          <a:p>
            <a:r>
              <a:rPr lang="en-US" dirty="0">
                <a:latin typeface="Times New Roman" panose="02020603050405020304" pitchFamily="18" charset="0"/>
                <a:cs typeface="Times New Roman" panose="02020603050405020304" pitchFamily="18" charset="0"/>
              </a:rPr>
              <a:t>Thus, we have specialist doctors, farmers, labourers, builders, drivers, teachers, etc. each one of these categories of people has a special domain that only he or she is officially sanctioned to perform. </a:t>
            </a:r>
          </a:p>
          <a:p>
            <a:r>
              <a:rPr lang="en-US" dirty="0">
                <a:latin typeface="Times New Roman" panose="02020603050405020304" pitchFamily="18" charset="0"/>
                <a:cs typeface="Times New Roman" panose="02020603050405020304" pitchFamily="18" charset="0"/>
              </a:rPr>
              <a:t>Thus, the physician buys his meat from the butcher and the butcher seeks medical care from the physician. </a:t>
            </a:r>
          </a:p>
          <a:p>
            <a:r>
              <a:rPr lang="en-US" dirty="0">
                <a:latin typeface="Times New Roman" panose="02020603050405020304" pitchFamily="18" charset="0"/>
                <a:cs typeface="Times New Roman" panose="02020603050405020304" pitchFamily="18" charset="0"/>
              </a:rPr>
              <a:t>There is division of labour and specialization which naturally call for interdependence (solidarity).</a:t>
            </a:r>
          </a:p>
        </p:txBody>
      </p:sp>
    </p:spTree>
    <p:extLst>
      <p:ext uri="{BB962C8B-B14F-4D97-AF65-F5344CB8AC3E}">
        <p14:creationId xmlns:p14="http://schemas.microsoft.com/office/powerpoint/2010/main" xmlns="" val="1379585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Individual </a:t>
            </a:r>
            <a:r>
              <a:rPr lang="en-US" b="1" dirty="0">
                <a:latin typeface="Times New Roman" panose="02020603050405020304" pitchFamily="18" charset="0"/>
                <a:cs typeface="Times New Roman" panose="02020603050405020304" pitchFamily="18" charset="0"/>
              </a:rPr>
              <a:t>and </a:t>
            </a:r>
            <a:r>
              <a:rPr lang="en-US" b="1" dirty="0" smtClean="0">
                <a:latin typeface="Times New Roman" panose="02020603050405020304" pitchFamily="18" charset="0"/>
                <a:cs typeface="Times New Roman" panose="02020603050405020304" pitchFamily="18" charset="0"/>
              </a:rPr>
              <a:t>Society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Men were creatures whose desires were unlimited. Unlike other animals, they are not satiated when their biological needs are fulfilled. </a:t>
            </a:r>
          </a:p>
          <a:p>
            <a:r>
              <a:rPr lang="en-US" dirty="0">
                <a:latin typeface="Times New Roman" panose="02020603050405020304" pitchFamily="18" charset="0"/>
                <a:cs typeface="Times New Roman" panose="02020603050405020304" pitchFamily="18" charset="0"/>
              </a:rPr>
              <a:t>"The more one has, the more one wants: insatiability</a:t>
            </a:r>
          </a:p>
          <a:p>
            <a:r>
              <a:rPr lang="en-US" dirty="0">
                <a:latin typeface="Times New Roman" panose="02020603050405020304" pitchFamily="18" charset="0"/>
                <a:cs typeface="Times New Roman" panose="02020603050405020304" pitchFamily="18" charset="0"/>
              </a:rPr>
              <a:t>Desires can only be held in check by external controls, that is, by societal control. </a:t>
            </a:r>
          </a:p>
          <a:p>
            <a:r>
              <a:rPr lang="en-US" dirty="0">
                <a:latin typeface="Times New Roman" panose="02020603050405020304" pitchFamily="18" charset="0"/>
                <a:cs typeface="Times New Roman" panose="02020603050405020304" pitchFamily="18" charset="0"/>
              </a:rPr>
              <a:t>When social regulations break down, the controlling influence of society on individual propensities is no longer effective and individuals are left to their own devices. </a:t>
            </a:r>
          </a:p>
          <a:p>
            <a:r>
              <a:rPr lang="en-US" dirty="0">
                <a:latin typeface="Times New Roman" panose="02020603050405020304" pitchFamily="18" charset="0"/>
                <a:cs typeface="Times New Roman" panose="02020603050405020304" pitchFamily="18" charset="0"/>
              </a:rPr>
              <a:t>Such a state of affairs Durkheim calls </a:t>
            </a:r>
            <a:r>
              <a:rPr lang="en-US" i="1" dirty="0">
                <a:latin typeface="Times New Roman" panose="02020603050405020304" pitchFamily="18" charset="0"/>
                <a:cs typeface="Times New Roman" panose="02020603050405020304" pitchFamily="18" charset="0"/>
              </a:rPr>
              <a:t>anomie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Individual desires are no longer regulated by common norms and where, as a consequence, individuals are left without moral guidance in the pursuit of their goals. </a:t>
            </a:r>
          </a:p>
        </p:txBody>
      </p:sp>
    </p:spTree>
    <p:extLst>
      <p:ext uri="{BB962C8B-B14F-4D97-AF65-F5344CB8AC3E}">
        <p14:creationId xmlns:p14="http://schemas.microsoft.com/office/powerpoint/2010/main" xmlns="" val="350758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Suicide </a:t>
            </a:r>
          </a:p>
        </p:txBody>
      </p:sp>
      <p:sp>
        <p:nvSpPr>
          <p:cNvPr id="3" name="Content Placeholder 2"/>
          <p:cNvSpPr>
            <a:spLocks noGrp="1"/>
          </p:cNvSpPr>
          <p:nvPr>
            <p:ph idx="1"/>
          </p:nvPr>
        </p:nvSpPr>
        <p:spPr/>
        <p:txBody>
          <a:bodyPr>
            <a:normAutofit fontScale="92500" lnSpcReduction="10000"/>
          </a:bodyPr>
          <a:lstStyle/>
          <a:p>
            <a:r>
              <a:rPr lang="en-US" dirty="0"/>
              <a:t>There are no societies in which suicide does not occur. </a:t>
            </a:r>
          </a:p>
          <a:p>
            <a:r>
              <a:rPr lang="en-US" dirty="0"/>
              <a:t>This indicates that suicides may be considered a "normal," that is, a regular, occurrence. </a:t>
            </a:r>
          </a:p>
          <a:p>
            <a:r>
              <a:rPr lang="en-US" dirty="0"/>
              <a:t>However, sudden spurts in the suicide rates of certain groups or total societies are "abnormal" and constitute a disintegration of forces at work in a social structure.</a:t>
            </a:r>
          </a:p>
          <a:p>
            <a:r>
              <a:rPr lang="en-US" dirty="0"/>
              <a:t>Distinguished types of suicide according to the relation of the actor to his society. </a:t>
            </a:r>
          </a:p>
        </p:txBody>
      </p:sp>
    </p:spTree>
    <p:extLst>
      <p:ext uri="{BB962C8B-B14F-4D97-AF65-F5344CB8AC3E}">
        <p14:creationId xmlns:p14="http://schemas.microsoft.com/office/powerpoint/2010/main" xmlns="" val="1385121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Suicide: Level of Integration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When people </a:t>
            </a:r>
            <a:r>
              <a:rPr lang="en-US" dirty="0">
                <a:latin typeface="Times New Roman" panose="02020603050405020304" pitchFamily="18" charset="0"/>
                <a:cs typeface="Times New Roman" panose="02020603050405020304" pitchFamily="18" charset="0"/>
              </a:rPr>
              <a:t>become "detached from society," when they are thrown upon their own devices and loosen the bonds that previously had tied them to their fellow, they are prone to </a:t>
            </a:r>
          </a:p>
          <a:p>
            <a:r>
              <a:rPr lang="en-US" i="1" dirty="0" smtClean="0">
                <a:latin typeface="Times New Roman" panose="02020603050405020304" pitchFamily="18" charset="0"/>
                <a:cs typeface="Times New Roman" panose="02020603050405020304" pitchFamily="18" charset="0"/>
              </a:rPr>
              <a:t>Egoistic</a:t>
            </a:r>
            <a:r>
              <a:rPr lang="en-US" dirty="0" smtClean="0">
                <a:latin typeface="Times New Roman" panose="02020603050405020304" pitchFamily="18" charset="0"/>
                <a:cs typeface="Times New Roman" panose="02020603050405020304" pitchFamily="18" charset="0"/>
              </a:rPr>
              <a:t>/individualistic</a:t>
            </a:r>
          </a:p>
          <a:p>
            <a:r>
              <a:rPr lang="en-US" dirty="0" smtClean="0">
                <a:latin typeface="Times New Roman" panose="02020603050405020304" pitchFamily="18" charset="0"/>
                <a:cs typeface="Times New Roman" panose="02020603050405020304" pitchFamily="18" charset="0"/>
              </a:rPr>
              <a:t> Altruistic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4004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Egoistic Suicide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a:latin typeface="Times New Roman" panose="02020603050405020304" pitchFamily="18" charset="0"/>
                <a:cs typeface="Times New Roman" panose="02020603050405020304" pitchFamily="18" charset="0"/>
              </a:rPr>
              <a:t>The people who have lost group attachment, they commit suicide because of frustration</a:t>
            </a:r>
            <a:r>
              <a:rPr lang="en-NZ" dirty="0" smtClean="0">
                <a:latin typeface="Times New Roman" panose="02020603050405020304" pitchFamily="18" charset="0"/>
                <a:cs typeface="Times New Roman" panose="02020603050405020304" pitchFamily="18" charset="0"/>
              </a:rPr>
              <a:t>.</a:t>
            </a:r>
          </a:p>
          <a:p>
            <a:r>
              <a:rPr lang="en-NZ" dirty="0">
                <a:latin typeface="Times New Roman" panose="02020603050405020304" pitchFamily="18" charset="0"/>
                <a:cs typeface="Times New Roman" panose="02020603050405020304" pitchFamily="18" charset="0"/>
              </a:rPr>
              <a:t>So egoistic suicide implies that the person commits suicide when he thinks primarily of himself when he is not integrated into the social group</a:t>
            </a:r>
            <a:r>
              <a:rPr lang="en-NZ" dirty="0" smtClean="0">
                <a:latin typeface="Times New Roman" panose="02020603050405020304" pitchFamily="18" charset="0"/>
                <a:cs typeface="Times New Roman" panose="02020603050405020304" pitchFamily="18" charset="0"/>
              </a:rPr>
              <a:t>.</a:t>
            </a:r>
          </a:p>
          <a:p>
            <a:r>
              <a:rPr lang="en-NZ" dirty="0" smtClean="0">
                <a:latin typeface="Times New Roman" panose="02020603050405020304" pitchFamily="18" charset="0"/>
                <a:cs typeface="Times New Roman" panose="02020603050405020304" pitchFamily="18" charset="0"/>
              </a:rPr>
              <a:t>E.g. </a:t>
            </a:r>
            <a:r>
              <a:rPr lang="en-US" dirty="0" smtClean="0">
                <a:latin typeface="Times New Roman" panose="02020603050405020304" pitchFamily="18" charset="0"/>
                <a:cs typeface="Times New Roman" panose="02020603050405020304" pitchFamily="18" charset="0"/>
              </a:rPr>
              <a:t>catholic vs. protestants, married vs. unmarried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620346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Altruistic Suicide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a:latin typeface="Times New Roman" panose="02020603050405020304" pitchFamily="18" charset="0"/>
                <a:cs typeface="Times New Roman" panose="02020603050405020304" pitchFamily="18" charset="0"/>
              </a:rPr>
              <a:t>But in case of altruistic suicide, social integration is too strong. </a:t>
            </a:r>
            <a:endParaRPr lang="en-NZ" dirty="0" smtClean="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More </a:t>
            </a:r>
            <a:r>
              <a:rPr lang="en-NZ" dirty="0">
                <a:latin typeface="Times New Roman" panose="02020603050405020304" pitchFamily="18" charset="0"/>
                <a:cs typeface="Times New Roman" panose="02020603050405020304" pitchFamily="18" charset="0"/>
              </a:rPr>
              <a:t>generally, the persons committing altruistic suicide feel that it is their duty to do so</a:t>
            </a:r>
            <a:r>
              <a:rPr lang="en-NZ" dirty="0" smtClean="0">
                <a:latin typeface="Times New Roman" panose="02020603050405020304" pitchFamily="18" charset="0"/>
                <a:cs typeface="Times New Roman" panose="02020603050405020304" pitchFamily="18" charset="0"/>
              </a:rPr>
              <a:t>.</a:t>
            </a:r>
          </a:p>
          <a:p>
            <a:r>
              <a:rPr lang="en-NZ" dirty="0" smtClean="0">
                <a:latin typeface="Times New Roman" panose="02020603050405020304" pitchFamily="18" charset="0"/>
                <a:cs typeface="Times New Roman" panose="02020603050405020304" pitchFamily="18" charset="0"/>
              </a:rPr>
              <a:t>E.g. </a:t>
            </a:r>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rmy officers</a:t>
            </a:r>
          </a:p>
        </p:txBody>
      </p:sp>
    </p:spTree>
    <p:extLst>
      <p:ext uri="{BB962C8B-B14F-4D97-AF65-F5344CB8AC3E}">
        <p14:creationId xmlns:p14="http://schemas.microsoft.com/office/powerpoint/2010/main" xmlns="" val="916917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Suicide: Level of Regulation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societal regulation is too high or too </a:t>
            </a:r>
            <a:r>
              <a:rPr lang="en-US" dirty="0" smtClean="0">
                <a:latin typeface="Times New Roman" panose="02020603050405020304" pitchFamily="18" charset="0"/>
                <a:cs typeface="Times New Roman" panose="02020603050405020304" pitchFamily="18" charset="0"/>
              </a:rPr>
              <a:t>low, </a:t>
            </a:r>
            <a:r>
              <a:rPr lang="en-US" dirty="0">
                <a:latin typeface="Times New Roman" panose="02020603050405020304" pitchFamily="18" charset="0"/>
                <a:cs typeface="Times New Roman" panose="02020603050405020304" pitchFamily="18" charset="0"/>
              </a:rPr>
              <a:t>it leads to </a:t>
            </a:r>
          </a:p>
          <a:p>
            <a:r>
              <a:rPr lang="en-US" b="1" dirty="0">
                <a:latin typeface="Times New Roman" panose="02020603050405020304" pitchFamily="18" charset="0"/>
                <a:cs typeface="Times New Roman" panose="02020603050405020304" pitchFamily="18" charset="0"/>
              </a:rPr>
              <a:t>Anomic </a:t>
            </a:r>
            <a:r>
              <a:rPr lang="en-US" b="1" dirty="0" smtClean="0">
                <a:latin typeface="Times New Roman" panose="02020603050405020304" pitchFamily="18" charset="0"/>
                <a:cs typeface="Times New Roman" panose="02020603050405020304" pitchFamily="18" charset="0"/>
              </a:rPr>
              <a:t>suicide</a:t>
            </a:r>
            <a:endParaRPr lang="en-US"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Fatalistic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33865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Anomic Suicide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NZ" dirty="0">
                <a:latin typeface="Times New Roman" panose="02020603050405020304" pitchFamily="18" charset="0"/>
                <a:cs typeface="Times New Roman" panose="02020603050405020304" pitchFamily="18" charset="0"/>
              </a:rPr>
              <a:t>This type of suicide is more likely to occur when regulation is too weak. It is caused due to extreme frustration of an individual</a:t>
            </a:r>
            <a:r>
              <a:rPr lang="en-NZ" dirty="0" smtClean="0">
                <a:latin typeface="Times New Roman" panose="02020603050405020304" pitchFamily="18" charset="0"/>
                <a:cs typeface="Times New Roman" panose="02020603050405020304" pitchFamily="18" charset="0"/>
              </a:rPr>
              <a:t>.</a:t>
            </a:r>
          </a:p>
          <a:p>
            <a:r>
              <a:rPr lang="en-NZ" dirty="0">
                <a:latin typeface="Times New Roman" panose="02020603050405020304" pitchFamily="18" charset="0"/>
                <a:cs typeface="Times New Roman" panose="02020603050405020304" pitchFamily="18" charset="0"/>
              </a:rPr>
              <a:t>Anomic is a chronic state of affairs in the modern socio-economic system. It occurs during industrial or financial crises. He showed that there was a high rate of anomic suicide among the wealthy as well as divorced persons as most of them are not in a positive to adjust themselves to violent changes in their life system and set up.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43455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Fatalistic Suicide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a:t>It is more likely to occur when regulation is excessive. </a:t>
            </a:r>
            <a:endParaRPr lang="en-NZ" dirty="0" smtClean="0"/>
          </a:p>
          <a:p>
            <a:r>
              <a:rPr lang="en-NZ" dirty="0" smtClean="0"/>
              <a:t>Durkheim </a:t>
            </a:r>
            <a:r>
              <a:rPr lang="en-NZ" dirty="0"/>
              <a:t>described that persons more likely commit fatalistic suicide whose future is pitilessly blocked and whose passions are violently chocked. </a:t>
            </a:r>
            <a:endParaRPr lang="en-US" dirty="0"/>
          </a:p>
        </p:txBody>
      </p:sp>
    </p:spTree>
    <p:extLst>
      <p:ext uri="{BB962C8B-B14F-4D97-AF65-F5344CB8AC3E}">
        <p14:creationId xmlns:p14="http://schemas.microsoft.com/office/powerpoint/2010/main" xmlns="" val="3321387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Religion </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anose="02020603050405020304" pitchFamily="18" charset="0"/>
                <a:cs typeface="Times New Roman" panose="02020603050405020304" pitchFamily="18" charset="0"/>
              </a:rPr>
              <a:t>A religion is a unified system of beliefs and practices relative to sacred things, that is to say, things set apart and forbidden--beliefs and practices which unite in one single moral community called a Church, all those who adhere to them.</a:t>
            </a:r>
          </a:p>
          <a:p>
            <a:r>
              <a:rPr lang="en-US" dirty="0" smtClean="0">
                <a:latin typeface="Times New Roman" panose="02020603050405020304" pitchFamily="18" charset="0"/>
                <a:cs typeface="Times New Roman" panose="02020603050405020304" pitchFamily="18" charset="0"/>
              </a:rPr>
              <a:t>Religious phenomena emerge in any society when a separation is made between the sphere of the profane and the sphere of the sacred </a:t>
            </a:r>
          </a:p>
          <a:p>
            <a:r>
              <a:rPr lang="en-US" dirty="0" smtClean="0">
                <a:latin typeface="Times New Roman" panose="02020603050405020304" pitchFamily="18" charset="0"/>
                <a:cs typeface="Times New Roman" panose="02020603050405020304" pitchFamily="18" charset="0"/>
              </a:rPr>
              <a:t>An object is intrinsically neither sacred nor profane. </a:t>
            </a:r>
          </a:p>
          <a:p>
            <a:r>
              <a:rPr lang="en-US" dirty="0" smtClean="0">
                <a:latin typeface="Times New Roman" panose="02020603050405020304" pitchFamily="18" charset="0"/>
                <a:cs typeface="Times New Roman" panose="02020603050405020304" pitchFamily="18" charset="0"/>
              </a:rPr>
              <a:t>The wine at mass has sacred ritual significance to the extent that it is considered by the believer to symbolize the blood of Christ; in this context it is plainly not a beverage.</a:t>
            </a:r>
          </a:p>
        </p:txBody>
      </p:sp>
    </p:spTree>
    <p:extLst>
      <p:ext uri="{BB962C8B-B14F-4D97-AF65-F5344CB8AC3E}">
        <p14:creationId xmlns:p14="http://schemas.microsoft.com/office/powerpoint/2010/main" xmlns="" val="622756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Functions of Religion </a:t>
            </a:r>
          </a:p>
        </p:txBody>
      </p:sp>
      <p:sp>
        <p:nvSpPr>
          <p:cNvPr id="3" name="Content Placeholder 2"/>
          <p:cNvSpPr>
            <a:spLocks noGrp="1"/>
          </p:cNvSpPr>
          <p:nvPr>
            <p:ph idx="1"/>
          </p:nvPr>
        </p:nvSpPr>
        <p:spPr/>
        <p:txBody>
          <a:bodyPr>
            <a:normAutofit fontScale="92500"/>
          </a:bodyPr>
          <a:lstStyle/>
          <a:p>
            <a:r>
              <a:rPr lang="en-US" dirty="0">
                <a:latin typeface="Times New Roman" panose="02020603050405020304" pitchFamily="18" charset="0"/>
                <a:cs typeface="Times New Roman" panose="02020603050405020304" pitchFamily="18" charset="0"/>
              </a:rPr>
              <a:t>Durkheim did not follow Saint-Simon and Comte in attempting to institute a new humanitarian cult.</a:t>
            </a:r>
          </a:p>
          <a:p>
            <a:r>
              <a:rPr lang="en-US" dirty="0">
                <a:latin typeface="Times New Roman" panose="02020603050405020304" pitchFamily="18" charset="0"/>
                <a:cs typeface="Times New Roman" panose="02020603050405020304" pitchFamily="18" charset="0"/>
              </a:rPr>
              <a:t>Durkheim classified four major functions of religion as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Disciplinary,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Cohesive,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Vitalizing, and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Euphoric social forces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6800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Crime and </a:t>
            </a:r>
            <a:r>
              <a:rPr lang="en-US" b="1" dirty="0" smtClean="0">
                <a:latin typeface="Times New Roman" panose="02020603050405020304" pitchFamily="18" charset="0"/>
                <a:cs typeface="Times New Roman" panose="02020603050405020304" pitchFamily="18" charset="0"/>
              </a:rPr>
              <a:t>Punishment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t>Crime is normal in that no society could enforce total conformity to its injunctions, and if society could, it would be so repressive as to leave no leeway for the social contributions of individuals. </a:t>
            </a:r>
          </a:p>
          <a:p>
            <a:r>
              <a:rPr lang="en-US" dirty="0"/>
              <a:t>Deviance from the norms of society is necessary if society is to remain flexible and open to change and new </a:t>
            </a:r>
            <a:r>
              <a:rPr lang="en-US" dirty="0" smtClean="0"/>
              <a:t>adaptations</a:t>
            </a:r>
            <a:endParaRPr lang="en-US" dirty="0"/>
          </a:p>
        </p:txBody>
      </p:sp>
    </p:spTree>
    <p:extLst>
      <p:ext uri="{BB962C8B-B14F-4D97-AF65-F5344CB8AC3E}">
        <p14:creationId xmlns:p14="http://schemas.microsoft.com/office/powerpoint/2010/main" xmlns="" val="2190056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Durkheim identified indirect functions that are no less important. Crime and punishment together bring about </a:t>
            </a:r>
          </a:p>
          <a:p>
            <a:pPr marL="914400" lvl="1" indent="-514350">
              <a:buFont typeface="+mj-lt"/>
              <a:buAutoNum type="arabicPeriod"/>
            </a:pPr>
            <a:r>
              <a:rPr lang="en-US" smtClean="0"/>
              <a:t>Social change </a:t>
            </a:r>
            <a:endParaRPr lang="en-US" dirty="0" smtClean="0"/>
          </a:p>
          <a:p>
            <a:pPr marL="914400" lvl="1" indent="-514350">
              <a:buFont typeface="+mj-lt"/>
              <a:buAutoNum type="arabicPeriod"/>
            </a:pPr>
            <a:r>
              <a:rPr lang="en-US" dirty="0" smtClean="0"/>
              <a:t>Social unity </a:t>
            </a:r>
          </a:p>
          <a:p>
            <a:pPr marL="914400" lvl="1" indent="-514350">
              <a:buFont typeface="+mj-lt"/>
              <a:buAutoNum type="arabicPeriod"/>
            </a:pPr>
            <a:r>
              <a:rPr lang="en-US" dirty="0" smtClean="0"/>
              <a:t>Occupation </a:t>
            </a:r>
          </a:p>
          <a:p>
            <a:pPr marL="914400" lvl="1" indent="-514350">
              <a:buFont typeface="+mj-lt"/>
              <a:buAutoNum type="arabicPeriod"/>
            </a:pPr>
            <a:r>
              <a:rPr lang="en-US" dirty="0" smtClean="0"/>
              <a:t>Income. </a:t>
            </a:r>
          </a:p>
          <a:p>
            <a:r>
              <a:rPr lang="en-US" dirty="0" smtClean="0"/>
              <a:t>However, beyond a certain level (10% plus) crime renders a society pathological. </a:t>
            </a:r>
          </a:p>
        </p:txBody>
      </p:sp>
    </p:spTree>
    <p:extLst>
      <p:ext uri="{BB962C8B-B14F-4D97-AF65-F5344CB8AC3E}">
        <p14:creationId xmlns:p14="http://schemas.microsoft.com/office/powerpoint/2010/main" xmlns="" val="3229804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4688</TotalTime>
  <Words>1385</Words>
  <Application>Microsoft Office PowerPoint</Application>
  <PresentationFormat>On-screen Show (4:3)</PresentationFormat>
  <Paragraphs>99</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EMILE DURKHEIM (1858-1917)</vt:lpstr>
      <vt:lpstr>EMILE DURKHEIM (1858-1917)</vt:lpstr>
      <vt:lpstr>The Work </vt:lpstr>
      <vt:lpstr>Social Facts</vt:lpstr>
      <vt:lpstr>Characteristics of Social Facts</vt:lpstr>
      <vt:lpstr>Methodology </vt:lpstr>
      <vt:lpstr>Social Solidarity </vt:lpstr>
      <vt:lpstr>Mechanical Solidarity</vt:lpstr>
      <vt:lpstr>Organic Solidarity</vt:lpstr>
      <vt:lpstr>The Individual and Society </vt:lpstr>
      <vt:lpstr>Suicide </vt:lpstr>
      <vt:lpstr>Suicide: Level of Integration</vt:lpstr>
      <vt:lpstr>Egoistic Suicide</vt:lpstr>
      <vt:lpstr>Altruistic Suicide</vt:lpstr>
      <vt:lpstr>Suicide: Level of Regulation</vt:lpstr>
      <vt:lpstr>Anomic Suicide</vt:lpstr>
      <vt:lpstr>Fatalistic Suicide</vt:lpstr>
      <vt:lpstr>Religion </vt:lpstr>
      <vt:lpstr>Functions of Religion </vt:lpstr>
      <vt:lpstr>Crime and Punishment </vt:lpstr>
      <vt:lpstr>Slide 21</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EMILE DURKHEIM (1858-1917)</dc:title>
  <dc:creator>Microsoft</dc:creator>
  <cp:lastModifiedBy>Slow</cp:lastModifiedBy>
  <cp:revision>26</cp:revision>
  <dcterms:created xsi:type="dcterms:W3CDTF">2020-02-24T06:50:47Z</dcterms:created>
  <dcterms:modified xsi:type="dcterms:W3CDTF">2021-06-23T16:24:15Z</dcterms:modified>
</cp:coreProperties>
</file>