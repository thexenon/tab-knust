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7" r:id="rId2"/>
    <p:sldId id="263" r:id="rId3"/>
    <p:sldId id="262" r:id="rId4"/>
    <p:sldId id="259" r:id="rId5"/>
    <p:sldId id="261" r:id="rId6"/>
    <p:sldId id="260" r:id="rId7"/>
    <p:sldId id="264" r:id="rId8"/>
    <p:sldId id="265" r:id="rId9"/>
    <p:sldId id="266" r:id="rId10"/>
    <p:sldId id="267" r:id="rId11"/>
    <p:sldId id="279" r:id="rId12"/>
    <p:sldId id="268" r:id="rId13"/>
    <p:sldId id="280" r:id="rId14"/>
    <p:sldId id="269" r:id="rId15"/>
    <p:sldId id="270" r:id="rId16"/>
    <p:sldId id="271" r:id="rId17"/>
    <p:sldId id="272" r:id="rId18"/>
    <p:sldId id="273" r:id="rId19"/>
    <p:sldId id="275" r:id="rId20"/>
    <p:sldId id="276" r:id="rId21"/>
    <p:sldId id="277" r:id="rId22"/>
    <p:sldId id="278"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4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227D89F-5DEC-4582-90CD-DF7786F9793B}" type="datetimeFigureOut">
              <a:rPr lang="en-US" smtClean="0"/>
              <a:t>2/6/2020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43EDF57-5B38-4D9B-A33B-BC3971791C28}" type="slidenum">
              <a:rPr lang="en-US" smtClean="0"/>
              <a:t>‹#›</a:t>
            </a:fld>
            <a:endParaRPr lang="en-US"/>
          </a:p>
        </p:txBody>
      </p:sp>
    </p:spTree>
    <p:extLst>
      <p:ext uri="{BB962C8B-B14F-4D97-AF65-F5344CB8AC3E}">
        <p14:creationId xmlns:p14="http://schemas.microsoft.com/office/powerpoint/2010/main" val="2740433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a:p>
        </p:txBody>
      </p:sp>
      <p:sp>
        <p:nvSpPr>
          <p:cNvPr id="4" name="Slide Number Placeholder 3"/>
          <p:cNvSpPr>
            <a:spLocks noGrp="1"/>
          </p:cNvSpPr>
          <p:nvPr>
            <p:ph type="sldNum" sz="quarter" idx="10"/>
          </p:nvPr>
        </p:nvSpPr>
        <p:spPr/>
        <p:txBody>
          <a:bodyPr/>
          <a:lstStyle/>
          <a:p>
            <a:fld id="{F46A7257-637B-48DE-B523-5C927C9C10DE}" type="slidenum">
              <a:rPr lang="en-US" smtClean="0"/>
              <a:pPr/>
              <a:t>4</a:t>
            </a:fld>
            <a:endParaRPr lang="en-US"/>
          </a:p>
        </p:txBody>
      </p:sp>
    </p:spTree>
    <p:extLst>
      <p:ext uri="{BB962C8B-B14F-4D97-AF65-F5344CB8AC3E}">
        <p14:creationId xmlns:p14="http://schemas.microsoft.com/office/powerpoint/2010/main" val="4282458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a:p>
        </p:txBody>
      </p:sp>
      <p:sp>
        <p:nvSpPr>
          <p:cNvPr id="4" name="Slide Number Placeholder 3"/>
          <p:cNvSpPr>
            <a:spLocks noGrp="1"/>
          </p:cNvSpPr>
          <p:nvPr>
            <p:ph type="sldNum" sz="quarter" idx="10"/>
          </p:nvPr>
        </p:nvSpPr>
        <p:spPr/>
        <p:txBody>
          <a:bodyPr/>
          <a:lstStyle/>
          <a:p>
            <a:fld id="{F46A7257-637B-48DE-B523-5C927C9C10DE}" type="slidenum">
              <a:rPr lang="en-US" smtClean="0"/>
              <a:pPr/>
              <a:t>6</a:t>
            </a:fld>
            <a:endParaRPr lang="en-US"/>
          </a:p>
        </p:txBody>
      </p:sp>
    </p:spTree>
    <p:extLst>
      <p:ext uri="{BB962C8B-B14F-4D97-AF65-F5344CB8AC3E}">
        <p14:creationId xmlns:p14="http://schemas.microsoft.com/office/powerpoint/2010/main" val="3705380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43EDF57-5B38-4D9B-A33B-BC3971791C28}" type="slidenum">
              <a:rPr lang="en-US" smtClean="0"/>
              <a:t>10</a:t>
            </a:fld>
            <a:endParaRPr lang="en-US"/>
          </a:p>
        </p:txBody>
      </p:sp>
    </p:spTree>
    <p:extLst>
      <p:ext uri="{BB962C8B-B14F-4D97-AF65-F5344CB8AC3E}">
        <p14:creationId xmlns:p14="http://schemas.microsoft.com/office/powerpoint/2010/main" val="18577209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927E7D9-D637-45F8-B2D3-0595EF58E4E5}" type="datetimeFigureOut">
              <a:rPr lang="en-US" smtClean="0"/>
              <a:t>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C937D-1A8E-49CF-BF48-924078DB2476}" type="slidenum">
              <a:rPr lang="en-US" smtClean="0"/>
              <a:t>‹#›</a:t>
            </a:fld>
            <a:endParaRPr lang="en-US"/>
          </a:p>
        </p:txBody>
      </p:sp>
    </p:spTree>
    <p:extLst>
      <p:ext uri="{BB962C8B-B14F-4D97-AF65-F5344CB8AC3E}">
        <p14:creationId xmlns:p14="http://schemas.microsoft.com/office/powerpoint/2010/main" val="3682648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927E7D9-D637-45F8-B2D3-0595EF58E4E5}" type="datetimeFigureOut">
              <a:rPr lang="en-US" smtClean="0"/>
              <a:t>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C937D-1A8E-49CF-BF48-924078DB2476}" type="slidenum">
              <a:rPr lang="en-US" smtClean="0"/>
              <a:t>‹#›</a:t>
            </a:fld>
            <a:endParaRPr lang="en-US"/>
          </a:p>
        </p:txBody>
      </p:sp>
    </p:spTree>
    <p:extLst>
      <p:ext uri="{BB962C8B-B14F-4D97-AF65-F5344CB8AC3E}">
        <p14:creationId xmlns:p14="http://schemas.microsoft.com/office/powerpoint/2010/main" val="26144441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927E7D9-D637-45F8-B2D3-0595EF58E4E5}" type="datetimeFigureOut">
              <a:rPr lang="en-US" smtClean="0"/>
              <a:t>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C937D-1A8E-49CF-BF48-924078DB2476}" type="slidenum">
              <a:rPr lang="en-US" smtClean="0"/>
              <a:t>‹#›</a:t>
            </a:fld>
            <a:endParaRPr lang="en-US"/>
          </a:p>
        </p:txBody>
      </p:sp>
    </p:spTree>
    <p:extLst>
      <p:ext uri="{BB962C8B-B14F-4D97-AF65-F5344CB8AC3E}">
        <p14:creationId xmlns:p14="http://schemas.microsoft.com/office/powerpoint/2010/main" val="2564887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927E7D9-D637-45F8-B2D3-0595EF58E4E5}" type="datetimeFigureOut">
              <a:rPr lang="en-US" smtClean="0"/>
              <a:t>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C937D-1A8E-49CF-BF48-924078DB2476}" type="slidenum">
              <a:rPr lang="en-US" smtClean="0"/>
              <a:t>‹#›</a:t>
            </a:fld>
            <a:endParaRPr lang="en-US"/>
          </a:p>
        </p:txBody>
      </p:sp>
    </p:spTree>
    <p:extLst>
      <p:ext uri="{BB962C8B-B14F-4D97-AF65-F5344CB8AC3E}">
        <p14:creationId xmlns:p14="http://schemas.microsoft.com/office/powerpoint/2010/main" val="414253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927E7D9-D637-45F8-B2D3-0595EF58E4E5}" type="datetimeFigureOut">
              <a:rPr lang="en-US" smtClean="0"/>
              <a:t>2/6/2020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ABC937D-1A8E-49CF-BF48-924078DB2476}" type="slidenum">
              <a:rPr lang="en-US" smtClean="0"/>
              <a:t>‹#›</a:t>
            </a:fld>
            <a:endParaRPr lang="en-US"/>
          </a:p>
        </p:txBody>
      </p:sp>
    </p:spTree>
    <p:extLst>
      <p:ext uri="{BB962C8B-B14F-4D97-AF65-F5344CB8AC3E}">
        <p14:creationId xmlns:p14="http://schemas.microsoft.com/office/powerpoint/2010/main" val="3393184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927E7D9-D637-45F8-B2D3-0595EF58E4E5}" type="datetimeFigureOut">
              <a:rPr lang="en-US" smtClean="0"/>
              <a:t>2/6/2020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BC937D-1A8E-49CF-BF48-924078DB2476}" type="slidenum">
              <a:rPr lang="en-US" smtClean="0"/>
              <a:t>‹#›</a:t>
            </a:fld>
            <a:endParaRPr lang="en-US"/>
          </a:p>
        </p:txBody>
      </p:sp>
    </p:spTree>
    <p:extLst>
      <p:ext uri="{BB962C8B-B14F-4D97-AF65-F5344CB8AC3E}">
        <p14:creationId xmlns:p14="http://schemas.microsoft.com/office/powerpoint/2010/main" val="3698531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27E7D9-D637-45F8-B2D3-0595EF58E4E5}" type="datetimeFigureOut">
              <a:rPr lang="en-US" smtClean="0"/>
              <a:t>2/6/2020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ABC937D-1A8E-49CF-BF48-924078DB2476}" type="slidenum">
              <a:rPr lang="en-US" smtClean="0"/>
              <a:t>‹#›</a:t>
            </a:fld>
            <a:endParaRPr lang="en-US"/>
          </a:p>
        </p:txBody>
      </p:sp>
    </p:spTree>
    <p:extLst>
      <p:ext uri="{BB962C8B-B14F-4D97-AF65-F5344CB8AC3E}">
        <p14:creationId xmlns:p14="http://schemas.microsoft.com/office/powerpoint/2010/main" val="1710141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927E7D9-D637-45F8-B2D3-0595EF58E4E5}" type="datetimeFigureOut">
              <a:rPr lang="en-US" smtClean="0"/>
              <a:t>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C937D-1A8E-49CF-BF48-924078DB2476}" type="slidenum">
              <a:rPr lang="en-US" smtClean="0"/>
              <a:t>‹#›</a:t>
            </a:fld>
            <a:endParaRPr lang="en-US"/>
          </a:p>
        </p:txBody>
      </p:sp>
    </p:spTree>
    <p:extLst>
      <p:ext uri="{BB962C8B-B14F-4D97-AF65-F5344CB8AC3E}">
        <p14:creationId xmlns:p14="http://schemas.microsoft.com/office/powerpoint/2010/main" val="7477276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927E7D9-D637-45F8-B2D3-0595EF58E4E5}" type="datetimeFigureOut">
              <a:rPr lang="en-US" smtClean="0"/>
              <a:t>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C937D-1A8E-49CF-BF48-924078DB2476}" type="slidenum">
              <a:rPr lang="en-US" smtClean="0"/>
              <a:t>‹#›</a:t>
            </a:fld>
            <a:endParaRPr lang="en-US"/>
          </a:p>
        </p:txBody>
      </p:sp>
    </p:spTree>
    <p:extLst>
      <p:ext uri="{BB962C8B-B14F-4D97-AF65-F5344CB8AC3E}">
        <p14:creationId xmlns:p14="http://schemas.microsoft.com/office/powerpoint/2010/main" val="1212474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927E7D9-D637-45F8-B2D3-0595EF58E4E5}" type="datetimeFigureOut">
              <a:rPr lang="en-US" smtClean="0"/>
              <a:t>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C937D-1A8E-49CF-BF48-924078DB2476}" type="slidenum">
              <a:rPr lang="en-US" smtClean="0"/>
              <a:t>‹#›</a:t>
            </a:fld>
            <a:endParaRPr lang="en-US"/>
          </a:p>
        </p:txBody>
      </p:sp>
    </p:spTree>
    <p:extLst>
      <p:ext uri="{BB962C8B-B14F-4D97-AF65-F5344CB8AC3E}">
        <p14:creationId xmlns:p14="http://schemas.microsoft.com/office/powerpoint/2010/main" val="512398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927E7D9-D637-45F8-B2D3-0595EF58E4E5}" type="datetimeFigureOut">
              <a:rPr lang="en-US" smtClean="0"/>
              <a:t>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C937D-1A8E-49CF-BF48-924078DB2476}" type="slidenum">
              <a:rPr lang="en-US" smtClean="0"/>
              <a:t>‹#›</a:t>
            </a:fld>
            <a:endParaRPr lang="en-US"/>
          </a:p>
        </p:txBody>
      </p:sp>
    </p:spTree>
    <p:extLst>
      <p:ext uri="{BB962C8B-B14F-4D97-AF65-F5344CB8AC3E}">
        <p14:creationId xmlns:p14="http://schemas.microsoft.com/office/powerpoint/2010/main" val="352300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27E7D9-D637-45F8-B2D3-0595EF58E4E5}" type="datetimeFigureOut">
              <a:rPr lang="en-US" smtClean="0"/>
              <a:t>2/6/2020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BC937D-1A8E-49CF-BF48-924078DB2476}" type="slidenum">
              <a:rPr lang="en-US" smtClean="0"/>
              <a:t>‹#›</a:t>
            </a:fld>
            <a:endParaRPr lang="en-US"/>
          </a:p>
        </p:txBody>
      </p:sp>
    </p:spTree>
    <p:extLst>
      <p:ext uri="{BB962C8B-B14F-4D97-AF65-F5344CB8AC3E}">
        <p14:creationId xmlns:p14="http://schemas.microsoft.com/office/powerpoint/2010/main" val="1407486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KARL MARX (1818-1883)</a:t>
            </a:r>
            <a:endParaRPr lang="en-US" dirty="0"/>
          </a:p>
        </p:txBody>
      </p:sp>
      <p:sp>
        <p:nvSpPr>
          <p:cNvPr id="3" name="Content Placeholder 2"/>
          <p:cNvSpPr>
            <a:spLocks noGrp="1"/>
          </p:cNvSpPr>
          <p:nvPr>
            <p:ph idx="1"/>
          </p:nvPr>
        </p:nvSpPr>
        <p:spPr/>
        <p:txBody>
          <a:bodyPr>
            <a:normAutofit fontScale="92500" lnSpcReduction="10000"/>
          </a:bodyPr>
          <a:lstStyle/>
          <a:p>
            <a:r>
              <a:rPr lang="en-NZ" dirty="0">
                <a:latin typeface="Times New Roman" panose="02020603050405020304" pitchFamily="18" charset="0"/>
                <a:cs typeface="Times New Roman" panose="02020603050405020304" pitchFamily="18" charset="0"/>
              </a:rPr>
              <a:t>Karl Marx was a philosopher, a social scientist and also a historian. </a:t>
            </a:r>
            <a:endParaRPr lang="en-NZ" dirty="0" smtClean="0">
              <a:latin typeface="Times New Roman" panose="02020603050405020304" pitchFamily="18" charset="0"/>
              <a:cs typeface="Times New Roman" panose="02020603050405020304" pitchFamily="18" charset="0"/>
            </a:endParaRPr>
          </a:p>
          <a:p>
            <a:r>
              <a:rPr lang="en-NZ" dirty="0" smtClean="0">
                <a:latin typeface="Times New Roman" panose="02020603050405020304" pitchFamily="18" charset="0"/>
                <a:cs typeface="Times New Roman" panose="02020603050405020304" pitchFamily="18" charset="0"/>
              </a:rPr>
              <a:t>He </a:t>
            </a:r>
            <a:r>
              <a:rPr lang="en-NZ" dirty="0">
                <a:latin typeface="Times New Roman" panose="02020603050405020304" pitchFamily="18" charset="0"/>
                <a:cs typeface="Times New Roman" panose="02020603050405020304" pitchFamily="18" charset="0"/>
              </a:rPr>
              <a:t>is also known as a revolutionary whose ideas and theories are known as scientific socialism or Marxism</a:t>
            </a:r>
            <a:r>
              <a:rPr lang="en-NZ" dirty="0" smtClean="0">
                <a:latin typeface="Times New Roman" panose="02020603050405020304" pitchFamily="18" charset="0"/>
                <a:cs typeface="Times New Roman" panose="02020603050405020304" pitchFamily="18" charset="0"/>
              </a:rPr>
              <a:t>.</a:t>
            </a:r>
          </a:p>
          <a:p>
            <a:r>
              <a:rPr lang="en-NZ" dirty="0" smtClean="0">
                <a:latin typeface="Times New Roman" panose="02020603050405020304" pitchFamily="18" charset="0"/>
                <a:cs typeface="Times New Roman" panose="02020603050405020304" pitchFamily="18" charset="0"/>
              </a:rPr>
              <a:t>He developed a body of thought that would inspire major social movements, initiate revolutionary social change across the globe, and provide the foundation for many socialist or communist governments.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77305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KARL MARX (1818-1883)</a:t>
            </a:r>
            <a:endParaRPr lang="en-US" dirty="0"/>
          </a:p>
        </p:txBody>
      </p:sp>
      <p:sp>
        <p:nvSpPr>
          <p:cNvPr id="3" name="Content Placeholder 2"/>
          <p:cNvSpPr>
            <a:spLocks noGrp="1"/>
          </p:cNvSpPr>
          <p:nvPr>
            <p:ph idx="1"/>
          </p:nvPr>
        </p:nvSpPr>
        <p:spPr/>
        <p:txBody>
          <a:bodyPr>
            <a:normAutofit/>
          </a:bodyPr>
          <a:lstStyle/>
          <a:p>
            <a:r>
              <a:rPr lang="en-NZ" dirty="0">
                <a:latin typeface="Times New Roman" panose="02020603050405020304" pitchFamily="18" charset="0"/>
                <a:cs typeface="Times New Roman" panose="02020603050405020304" pitchFamily="18" charset="0"/>
              </a:rPr>
              <a:t>It is due to the economic part of society that all the other sections the social, cultural and political sectors of society function. </a:t>
            </a:r>
            <a:endParaRPr lang="en-NZ" dirty="0" smtClean="0">
              <a:latin typeface="Times New Roman" panose="02020603050405020304" pitchFamily="18" charset="0"/>
              <a:cs typeface="Times New Roman" panose="02020603050405020304" pitchFamily="18" charset="0"/>
            </a:endParaRPr>
          </a:p>
          <a:p>
            <a:r>
              <a:rPr lang="en-NZ" dirty="0" smtClean="0">
                <a:latin typeface="Times New Roman" panose="02020603050405020304" pitchFamily="18" charset="0"/>
                <a:cs typeface="Times New Roman" panose="02020603050405020304" pitchFamily="18" charset="0"/>
              </a:rPr>
              <a:t>All </a:t>
            </a:r>
            <a:r>
              <a:rPr lang="en-NZ" dirty="0">
                <a:latin typeface="Times New Roman" panose="02020603050405020304" pitchFamily="18" charset="0"/>
                <a:cs typeface="Times New Roman" panose="02020603050405020304" pitchFamily="18" charset="0"/>
              </a:rPr>
              <a:t>of these sectors are driven by the economic relations within society. </a:t>
            </a:r>
            <a:endParaRPr lang="en-NZ" dirty="0" smtClean="0">
              <a:latin typeface="Times New Roman" panose="02020603050405020304" pitchFamily="18" charset="0"/>
              <a:cs typeface="Times New Roman" panose="02020603050405020304" pitchFamily="18" charset="0"/>
            </a:endParaRPr>
          </a:p>
          <a:p>
            <a:r>
              <a:rPr lang="en-NZ" dirty="0" smtClean="0">
                <a:latin typeface="Times New Roman" panose="02020603050405020304" pitchFamily="18" charset="0"/>
                <a:cs typeface="Times New Roman" panose="02020603050405020304" pitchFamily="18" charset="0"/>
              </a:rPr>
              <a:t>The </a:t>
            </a:r>
            <a:r>
              <a:rPr lang="en-NZ" dirty="0">
                <a:latin typeface="Times New Roman" panose="02020603050405020304" pitchFamily="18" charset="0"/>
                <a:cs typeface="Times New Roman" panose="02020603050405020304" pitchFamily="18" charset="0"/>
              </a:rPr>
              <a:t>relations between people involved in production and maintaining subsistence are the most fundamental within a society.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14549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NZ" b="1" dirty="0" smtClean="0">
                <a:latin typeface="Times New Roman" panose="02020603050405020304" pitchFamily="18" charset="0"/>
                <a:cs typeface="Times New Roman" panose="02020603050405020304" pitchFamily="18" charset="0"/>
              </a:rPr>
              <a:t>Key questions asked by Marxist Sociology </a:t>
            </a:r>
            <a:r>
              <a:rPr lang="en-NZ" b="1" dirty="0">
                <a:latin typeface="Times New Roman" panose="02020603050405020304" pitchFamily="18" charset="0"/>
                <a:cs typeface="Times New Roman" panose="02020603050405020304" pitchFamily="18" charset="0"/>
              </a:rPr>
              <a:t>I</a:t>
            </a:r>
            <a:r>
              <a:rPr lang="en-NZ" b="1" dirty="0" smtClean="0">
                <a:latin typeface="Times New Roman" panose="02020603050405020304" pitchFamily="18" charset="0"/>
                <a:cs typeface="Times New Roman" panose="02020603050405020304" pitchFamily="18" charset="0"/>
              </a:rPr>
              <a:t>nclude:</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NZ" dirty="0" smtClean="0">
                <a:latin typeface="Times New Roman" panose="02020603050405020304" pitchFamily="18" charset="0"/>
                <a:cs typeface="Times New Roman" panose="02020603050405020304" pitchFamily="18" charset="0"/>
              </a:rPr>
              <a:t>how does the capital control the workers?</a:t>
            </a:r>
          </a:p>
          <a:p>
            <a:r>
              <a:rPr lang="en-NZ" dirty="0" smtClean="0">
                <a:latin typeface="Times New Roman" panose="02020603050405020304" pitchFamily="18" charset="0"/>
                <a:cs typeface="Times New Roman" panose="02020603050405020304" pitchFamily="18" charset="0"/>
              </a:rPr>
              <a:t>how does the mode of production influence the social class?</a:t>
            </a:r>
          </a:p>
          <a:p>
            <a:r>
              <a:rPr lang="en-NZ" dirty="0" smtClean="0">
                <a:latin typeface="Times New Roman" panose="02020603050405020304" pitchFamily="18" charset="0"/>
                <a:cs typeface="Times New Roman" panose="02020603050405020304" pitchFamily="18" charset="0"/>
              </a:rPr>
              <a:t>what is the relation between workers, capital, the state and our culture?</a:t>
            </a:r>
          </a:p>
          <a:p>
            <a:r>
              <a:rPr lang="en-NZ" dirty="0" smtClean="0">
                <a:latin typeface="Times New Roman" panose="02020603050405020304" pitchFamily="18" charset="0"/>
                <a:cs typeface="Times New Roman" panose="02020603050405020304" pitchFamily="18" charset="0"/>
              </a:rPr>
              <a:t>how do economic factors influence inequalities, including those related to gender and race?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5130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457200" y="277813"/>
            <a:ext cx="8229600" cy="1143000"/>
          </a:xfrm>
          <a:prstGeom prst="rect">
            <a:avLst/>
          </a:prstGeom>
        </p:spPr>
        <p:txBody>
          <a:bodyP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1" hangingPunct="1"/>
            <a:r>
              <a:rPr lang="en-NZ" sz="4400" b="1" dirty="0">
                <a:solidFill>
                  <a:schemeClr val="tx2"/>
                </a:solidFill>
                <a:effectLst>
                  <a:outerShdw blurRad="38100" dist="38100" dir="2700000" algn="tl">
                    <a:srgbClr val="000000"/>
                  </a:outerShdw>
                </a:effectLst>
              </a:rPr>
              <a:t>Class as History</a:t>
            </a:r>
            <a:r>
              <a:rPr lang="en-NZ" altLang="en-US" sz="4400" b="1" dirty="0">
                <a:solidFill>
                  <a:schemeClr val="tx2"/>
                </a:solidFill>
                <a:effectLst>
                  <a:outerShdw blurRad="38100" dist="38100" dir="2700000" algn="tl">
                    <a:srgbClr val="000000"/>
                  </a:outerShdw>
                </a:effectLst>
              </a:rPr>
              <a:t>’</a:t>
            </a:r>
            <a:r>
              <a:rPr lang="en-NZ" sz="4400" b="1" dirty="0">
                <a:solidFill>
                  <a:schemeClr val="tx2"/>
                </a:solidFill>
                <a:effectLst>
                  <a:outerShdw blurRad="38100" dist="38100" dir="2700000" algn="tl">
                    <a:srgbClr val="000000"/>
                  </a:outerShdw>
                </a:effectLst>
              </a:rPr>
              <a:t>s Motor</a:t>
            </a:r>
            <a:endParaRPr lang="en-GB" sz="4400" b="1" dirty="0">
              <a:solidFill>
                <a:schemeClr val="tx2"/>
              </a:solidFill>
              <a:effectLst>
                <a:outerShdw blurRad="38100" dist="38100" dir="2700000" algn="tl">
                  <a:srgbClr val="000000"/>
                </a:outerShdw>
              </a:effectLst>
            </a:endParaRPr>
          </a:p>
        </p:txBody>
      </p:sp>
      <p:sp>
        <p:nvSpPr>
          <p:cNvPr id="4" name="Rectangle 3"/>
          <p:cNvSpPr txBox="1">
            <a:spLocks noChangeArrowheads="1"/>
          </p:cNvSpPr>
          <p:nvPr/>
        </p:nvSpPr>
        <p:spPr>
          <a:xfrm>
            <a:off x="457200" y="1600200"/>
            <a:ext cx="8229600" cy="4530725"/>
          </a:xfrm>
          <a:prstGeom prst="rect">
            <a:avLst/>
          </a:prstGeom>
        </p:spPr>
        <p:txBody>
          <a:bodyPr/>
          <a:lstStyle>
            <a:lvl1pPr marL="342900" indent="-342900"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indent="0" eaLnBrk="1" hangingPunct="1">
              <a:spcBef>
                <a:spcPct val="20000"/>
              </a:spcBef>
              <a:buClr>
                <a:schemeClr val="hlink"/>
              </a:buClr>
              <a:buSzPct val="60000"/>
            </a:pPr>
            <a:r>
              <a:rPr lang="en-NZ" altLang="en-US" sz="3200" dirty="0">
                <a:effectLst>
                  <a:outerShdw blurRad="38100" dist="38100" dir="2700000" algn="tl">
                    <a:srgbClr val="FFFFFF"/>
                  </a:outerShdw>
                </a:effectLst>
              </a:rPr>
              <a:t>“</a:t>
            </a:r>
            <a:r>
              <a:rPr lang="en-NZ" sz="3200" dirty="0">
                <a:effectLst>
                  <a:outerShdw blurRad="38100" dist="38100" dir="2700000" algn="tl">
                    <a:srgbClr val="FFFFFF"/>
                  </a:outerShdw>
                </a:effectLst>
              </a:rPr>
              <a:t>The history of all hitherto existing society is a history of class struggles. Freeman and slave, patrician and plebeian, lord and serf, guild-master and journeyman, in a word oppressor and oppressed, carried on an uninterrupted, now hidden, now open fight, a fight that each time ended in a revolutionary re-constitution of society at large, or in the common ruin of the contending </a:t>
            </a:r>
            <a:r>
              <a:rPr lang="en-NZ" sz="3200" u="sng" dirty="0">
                <a:effectLst>
                  <a:outerShdw blurRad="38100" dist="38100" dir="2700000" algn="tl">
                    <a:srgbClr val="FFFFFF"/>
                  </a:outerShdw>
                </a:effectLst>
              </a:rPr>
              <a:t>classes</a:t>
            </a:r>
            <a:r>
              <a:rPr lang="en-NZ" altLang="en-US" sz="3200" dirty="0">
                <a:effectLst>
                  <a:outerShdw blurRad="38100" dist="38100" dir="2700000" algn="tl">
                    <a:srgbClr val="FFFFFF"/>
                  </a:outerShdw>
                </a:effectLst>
              </a:rPr>
              <a:t>”</a:t>
            </a:r>
            <a:r>
              <a:rPr lang="en-NZ" sz="3200" dirty="0">
                <a:effectLst>
                  <a:outerShdw blurRad="38100" dist="38100" dir="2700000" algn="tl">
                    <a:srgbClr val="FFFFFF"/>
                  </a:outerShdw>
                </a:effectLst>
              </a:rPr>
              <a:t> (Marx 1978: 473-4).</a:t>
            </a:r>
            <a:endParaRPr lang="en-GB" sz="3200" dirty="0">
              <a:effectLst>
                <a:outerShdw blurRad="38100" dist="38100" dir="2700000" algn="tl">
                  <a:srgbClr val="FFFFFF"/>
                </a:outerShdw>
              </a:effectLst>
            </a:endParaRPr>
          </a:p>
        </p:txBody>
      </p:sp>
      <p:sp>
        <p:nvSpPr>
          <p:cNvPr id="6" name="Slide Number Placeholder 1"/>
          <p:cNvSpPr txBox="1">
            <a:spLocks/>
          </p:cNvSpPr>
          <p:nvPr/>
        </p:nvSpPr>
        <p:spPr bwMode="auto">
          <a:xfrm>
            <a:off x="8739188" y="6581775"/>
            <a:ext cx="382587" cy="276225"/>
          </a:xfrm>
          <a:prstGeom prst="rect">
            <a:avLst/>
          </a:prstGeom>
          <a:noFill/>
          <a:ln w="9525">
            <a:noFill/>
            <a:miter lim="800000"/>
            <a:headEnd/>
            <a:tailEnd/>
          </a:ln>
          <a:effectLst/>
        </p:spPr>
        <p:txBody>
          <a:bodyP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r" eaLnBrk="1" hangingPunct="1"/>
            <a:fld id="{E7609DE3-377C-44AD-834F-735333D1C773}" type="slidenum">
              <a:rPr lang="en-GB" sz="1400">
                <a:effectLst>
                  <a:outerShdw blurRad="38100" dist="38100" dir="2700000" algn="tl">
                    <a:srgbClr val="FFFFFF"/>
                  </a:outerShdw>
                </a:effectLst>
              </a:rPr>
              <a:pPr algn="r" eaLnBrk="1" hangingPunct="1"/>
              <a:t>4</a:t>
            </a:fld>
            <a:endParaRPr lang="en-GB" sz="1400">
              <a:effectLst>
                <a:outerShdw blurRad="38100" dist="38100" dir="2700000" algn="tl">
                  <a:srgbClr val="FFFFFF"/>
                </a:outerShdw>
              </a:effectLst>
            </a:endParaRPr>
          </a:p>
        </p:txBody>
      </p:sp>
    </p:spTree>
    <p:extLst>
      <p:ext uri="{BB962C8B-B14F-4D97-AF65-F5344CB8AC3E}">
        <p14:creationId xmlns:p14="http://schemas.microsoft.com/office/powerpoint/2010/main" val="6551560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NZ" b="1" dirty="0" smtClean="0">
                <a:latin typeface="Times New Roman" panose="02020603050405020304" pitchFamily="18" charset="0"/>
                <a:cs typeface="Times New Roman" panose="02020603050405020304" pitchFamily="18" charset="0"/>
              </a:rPr>
              <a:t>Key Concepts of Marxist Sociology </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NZ" dirty="0">
                <a:latin typeface="Times New Roman" panose="02020603050405020304" pitchFamily="18" charset="0"/>
                <a:cs typeface="Times New Roman" panose="02020603050405020304" pitchFamily="18" charset="0"/>
              </a:rPr>
              <a:t>H</a:t>
            </a:r>
            <a:r>
              <a:rPr lang="en-NZ" dirty="0" smtClean="0">
                <a:latin typeface="Times New Roman" panose="02020603050405020304" pitchFamily="18" charset="0"/>
                <a:cs typeface="Times New Roman" panose="02020603050405020304" pitchFamily="18" charset="0"/>
              </a:rPr>
              <a:t>istorical materialism</a:t>
            </a:r>
          </a:p>
          <a:p>
            <a:r>
              <a:rPr lang="en-NZ" dirty="0" smtClean="0">
                <a:latin typeface="Times New Roman" panose="02020603050405020304" pitchFamily="18" charset="0"/>
                <a:cs typeface="Times New Roman" panose="02020603050405020304" pitchFamily="18" charset="0"/>
              </a:rPr>
              <a:t> Mode of production </a:t>
            </a:r>
          </a:p>
          <a:p>
            <a:r>
              <a:rPr lang="en-NZ" dirty="0">
                <a:latin typeface="Times New Roman" panose="02020603050405020304" pitchFamily="18" charset="0"/>
                <a:cs typeface="Times New Roman" panose="02020603050405020304" pitchFamily="18" charset="0"/>
              </a:rPr>
              <a:t>T</a:t>
            </a:r>
            <a:r>
              <a:rPr lang="en-NZ" dirty="0" smtClean="0">
                <a:latin typeface="Times New Roman" panose="02020603050405020304" pitchFamily="18" charset="0"/>
                <a:cs typeface="Times New Roman" panose="02020603050405020304" pitchFamily="18" charset="0"/>
              </a:rPr>
              <a:t>he relation between capital and labour</a:t>
            </a:r>
          </a:p>
          <a:p>
            <a:r>
              <a:rPr lang="en-NZ" dirty="0" smtClean="0">
                <a:latin typeface="Times New Roman" panose="02020603050405020304" pitchFamily="18" charset="0"/>
                <a:cs typeface="Times New Roman" panose="02020603050405020304" pitchFamily="18" charset="0"/>
              </a:rPr>
              <a:t>Alienation </a:t>
            </a:r>
          </a:p>
          <a:p>
            <a:r>
              <a:rPr lang="en-NZ" dirty="0">
                <a:effectLst>
                  <a:outerShdw blurRad="38100" dist="38100" dir="2700000" algn="tl">
                    <a:srgbClr val="FFFFFF"/>
                  </a:outerShdw>
                </a:effectLst>
                <a:latin typeface="Times New Roman" panose="02020603050405020304" pitchFamily="18" charset="0"/>
                <a:cs typeface="Times New Roman" panose="02020603050405020304" pitchFamily="18" charset="0"/>
              </a:rPr>
              <a:t>C</a:t>
            </a:r>
            <a:r>
              <a:rPr lang="en-NZ" dirty="0" smtClean="0">
                <a:effectLst>
                  <a:outerShdw blurRad="38100" dist="38100" dir="2700000" algn="tl">
                    <a:srgbClr val="FFFFFF"/>
                  </a:outerShdw>
                </a:effectLst>
                <a:latin typeface="Times New Roman" panose="02020603050405020304" pitchFamily="18" charset="0"/>
                <a:cs typeface="Times New Roman" panose="02020603050405020304" pitchFamily="18" charset="0"/>
              </a:rPr>
              <a:t>lass polarisation</a:t>
            </a:r>
          </a:p>
          <a:p>
            <a:r>
              <a:rPr lang="en-NZ" dirty="0" smtClean="0">
                <a:effectLst>
                  <a:outerShdw blurRad="38100" dist="38100" dir="2700000" algn="tl">
                    <a:srgbClr val="FFFFFF"/>
                  </a:outerShdw>
                </a:effectLst>
                <a:latin typeface="Times New Roman" panose="02020603050405020304" pitchFamily="18" charset="0"/>
                <a:cs typeface="Times New Roman" panose="02020603050405020304" pitchFamily="18" charset="0"/>
              </a:rPr>
              <a:t>False consciousness</a:t>
            </a:r>
          </a:p>
          <a:p>
            <a:r>
              <a:rPr lang="en-NZ" dirty="0" smtClean="0">
                <a:effectLst>
                  <a:outerShdw blurRad="38100" dist="38100" dir="2700000" algn="tl">
                    <a:srgbClr val="FFFFFF"/>
                  </a:outerShdw>
                </a:effectLst>
                <a:latin typeface="Times New Roman" panose="02020603050405020304" pitchFamily="18" charset="0"/>
                <a:cs typeface="Times New Roman" panose="02020603050405020304" pitchFamily="18" charset="0"/>
              </a:rPr>
              <a:t>Class consciousness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005320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457200" y="277813"/>
            <a:ext cx="8229600" cy="919162"/>
          </a:xfrm>
          <a:prstGeom prst="rect">
            <a:avLst/>
          </a:prstGeom>
        </p:spPr>
        <p:txBody>
          <a:bodyPr/>
          <a:lst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ＭＳ Ｐゴシック" charset="0"/>
                <a:cs typeface="+mj-cs"/>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Times New Roman" pitchFamily="18" charset="0"/>
                <a:ea typeface="ＭＳ Ｐゴシック" charset="0"/>
                <a:cs typeface="Arial" charset="0"/>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Times New Roman" pitchFamily="18" charset="0"/>
                <a:ea typeface="ＭＳ Ｐゴシック" charset="0"/>
                <a:cs typeface="Arial" charset="0"/>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Times New Roman" pitchFamily="18" charset="0"/>
                <a:ea typeface="ＭＳ Ｐゴシック" charset="0"/>
                <a:cs typeface="Arial" charset="0"/>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Times New Roman" pitchFamily="18" charset="0"/>
                <a:ea typeface="ＭＳ Ｐゴシック" charset="0"/>
                <a:cs typeface="Arial" charset="0"/>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Times New Roman" pitchFamily="18" charset="0"/>
                <a:cs typeface="Arial"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Times New Roman" pitchFamily="18" charset="0"/>
                <a:cs typeface="Arial"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Times New Roman" pitchFamily="18" charset="0"/>
                <a:cs typeface="Arial"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Times New Roman" pitchFamily="18" charset="0"/>
                <a:cs typeface="Arial" charset="0"/>
              </a:defRPr>
            </a:lvl9pPr>
          </a:lstStyle>
          <a:p>
            <a:pPr eaLnBrk="1" hangingPunct="1">
              <a:defRPr/>
            </a:pPr>
            <a:r>
              <a:rPr lang="en-NZ" dirty="0" smtClean="0">
                <a:latin typeface="Times New Roman" panose="02020603050405020304" pitchFamily="18" charset="0"/>
                <a:cs typeface="Times New Roman" panose="02020603050405020304" pitchFamily="18" charset="0"/>
              </a:rPr>
              <a:t>Historical Materialism</a:t>
            </a:r>
            <a:endParaRPr lang="en-GB" dirty="0" smtClean="0">
              <a:latin typeface="Times New Roman" panose="02020603050405020304" pitchFamily="18" charset="0"/>
              <a:cs typeface="Times New Roman" panose="02020603050405020304" pitchFamily="18" charset="0"/>
            </a:endParaRPr>
          </a:p>
        </p:txBody>
      </p:sp>
      <p:sp>
        <p:nvSpPr>
          <p:cNvPr id="4" name="Rectangle 3"/>
          <p:cNvSpPr txBox="1">
            <a:spLocks noChangeArrowheads="1"/>
          </p:cNvSpPr>
          <p:nvPr/>
        </p:nvSpPr>
        <p:spPr>
          <a:xfrm>
            <a:off x="468313" y="1196975"/>
            <a:ext cx="8229600" cy="4176713"/>
          </a:xfrm>
          <a:prstGeom prst="rect">
            <a:avLst/>
          </a:prstGeom>
        </p:spPr>
        <p:txBody>
          <a:bodyPr/>
          <a:lstStyle>
            <a:lvl1pPr marL="342900" indent="-342900"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lnSpc>
                <a:spcPct val="90000"/>
              </a:lnSpc>
              <a:spcBef>
                <a:spcPct val="20000"/>
              </a:spcBef>
              <a:buClr>
                <a:schemeClr val="hlink"/>
              </a:buClr>
              <a:buSzPct val="60000"/>
              <a:buFont typeface="Wingdings" pitchFamily="2" charset="2"/>
              <a:buChar char="n"/>
            </a:pPr>
            <a:r>
              <a:rPr lang="en-NZ" sz="2800" dirty="0">
                <a:effectLst>
                  <a:outerShdw blurRad="38100" dist="38100" dir="2700000" algn="tl">
                    <a:srgbClr val="FFFFFF"/>
                  </a:outerShdw>
                </a:effectLst>
              </a:rPr>
              <a:t>If production is the key to understanding human society, any sociological analysis should begin with how any given society organises its </a:t>
            </a:r>
            <a:r>
              <a:rPr lang="en-NZ" sz="2800" dirty="0" smtClean="0">
                <a:effectLst>
                  <a:outerShdw blurRad="38100" dist="38100" dir="2700000" algn="tl">
                    <a:srgbClr val="FFFFFF"/>
                  </a:outerShdw>
                </a:effectLst>
              </a:rPr>
              <a:t>production.</a:t>
            </a:r>
            <a:endParaRPr lang="en-NZ" sz="2800" dirty="0">
              <a:effectLst>
                <a:outerShdw blurRad="38100" dist="38100" dir="2700000" algn="tl">
                  <a:srgbClr val="FFFFFF"/>
                </a:outerShdw>
              </a:effectLst>
            </a:endParaRPr>
          </a:p>
          <a:p>
            <a:pPr eaLnBrk="1" hangingPunct="1">
              <a:lnSpc>
                <a:spcPct val="90000"/>
              </a:lnSpc>
              <a:spcBef>
                <a:spcPct val="20000"/>
              </a:spcBef>
              <a:buClr>
                <a:schemeClr val="hlink"/>
              </a:buClr>
              <a:buSzPct val="60000"/>
              <a:buFont typeface="Wingdings" pitchFamily="2" charset="2"/>
              <a:buChar char="n"/>
            </a:pPr>
            <a:r>
              <a:rPr lang="en-NZ" sz="2800" dirty="0">
                <a:effectLst>
                  <a:outerShdw blurRad="38100" dist="38100" dir="2700000" algn="tl">
                    <a:srgbClr val="FFFFFF"/>
                  </a:outerShdw>
                </a:effectLst>
              </a:rPr>
              <a:t>Marx believed that production was also the key to understanding social </a:t>
            </a:r>
            <a:r>
              <a:rPr lang="en-NZ" sz="2800" dirty="0" smtClean="0">
                <a:effectLst>
                  <a:outerShdw blurRad="38100" dist="38100" dir="2700000" algn="tl">
                    <a:srgbClr val="FFFFFF"/>
                  </a:outerShdw>
                </a:effectLst>
              </a:rPr>
              <a:t>change.</a:t>
            </a:r>
            <a:endParaRPr lang="en-NZ" sz="2800" dirty="0">
              <a:effectLst>
                <a:outerShdw blurRad="38100" dist="38100" dir="2700000" algn="tl">
                  <a:srgbClr val="FFFFFF"/>
                </a:outerShdw>
              </a:effectLst>
            </a:endParaRPr>
          </a:p>
          <a:p>
            <a:pPr eaLnBrk="1" hangingPunct="1">
              <a:lnSpc>
                <a:spcPct val="90000"/>
              </a:lnSpc>
              <a:spcBef>
                <a:spcPct val="20000"/>
              </a:spcBef>
              <a:buClr>
                <a:schemeClr val="hlink"/>
              </a:buClr>
              <a:buSzPct val="60000"/>
              <a:buFont typeface="Wingdings" pitchFamily="2" charset="2"/>
              <a:buChar char="n"/>
            </a:pPr>
            <a:r>
              <a:rPr lang="en-NZ" sz="2800" dirty="0">
                <a:effectLst>
                  <a:outerShdw blurRad="38100" dist="38100" dir="2700000" algn="tl">
                    <a:srgbClr val="FFFFFF"/>
                  </a:outerShdw>
                </a:effectLst>
              </a:rPr>
              <a:t>Marx</a:t>
            </a:r>
            <a:r>
              <a:rPr lang="en-NZ" altLang="en-US" sz="2800" dirty="0">
                <a:effectLst>
                  <a:outerShdw blurRad="38100" dist="38100" dir="2700000" algn="tl">
                    <a:srgbClr val="FFFFFF"/>
                  </a:outerShdw>
                </a:effectLst>
              </a:rPr>
              <a:t>’</a:t>
            </a:r>
            <a:r>
              <a:rPr lang="en-NZ" sz="2800" dirty="0">
                <a:effectLst>
                  <a:outerShdw blurRad="38100" dist="38100" dir="2700000" algn="tl">
                    <a:srgbClr val="FFFFFF"/>
                  </a:outerShdw>
                </a:effectLst>
              </a:rPr>
              <a:t>s methodology of using production relations to understand human history and society is known as </a:t>
            </a:r>
            <a:r>
              <a:rPr lang="en-NZ" sz="2800" b="1" dirty="0">
                <a:effectLst>
                  <a:outerShdw blurRad="38100" dist="38100" dir="2700000" algn="tl">
                    <a:srgbClr val="FFFFFF"/>
                  </a:outerShdw>
                </a:effectLst>
              </a:rPr>
              <a:t>Historical</a:t>
            </a:r>
            <a:r>
              <a:rPr lang="en-NZ" sz="2800" dirty="0">
                <a:effectLst>
                  <a:outerShdw blurRad="38100" dist="38100" dir="2700000" algn="tl">
                    <a:srgbClr val="FFFFFF"/>
                  </a:outerShdw>
                </a:effectLst>
              </a:rPr>
              <a:t> </a:t>
            </a:r>
            <a:r>
              <a:rPr lang="en-NZ" sz="2800" b="1" dirty="0" smtClean="0">
                <a:effectLst>
                  <a:outerShdw blurRad="38100" dist="38100" dir="2700000" algn="tl">
                    <a:srgbClr val="FFFFFF"/>
                  </a:outerShdw>
                </a:effectLst>
              </a:rPr>
              <a:t>Materialism</a:t>
            </a:r>
            <a:endParaRPr lang="en-GB" sz="2800" dirty="0">
              <a:effectLst>
                <a:outerShdw blurRad="38100" dist="38100" dir="2700000" algn="tl">
                  <a:srgbClr val="FFFFFF"/>
                </a:outerShdw>
              </a:effectLst>
            </a:endParaRPr>
          </a:p>
        </p:txBody>
      </p:sp>
      <p:sp>
        <p:nvSpPr>
          <p:cNvPr id="6" name="Slide Number Placeholder 1"/>
          <p:cNvSpPr txBox="1">
            <a:spLocks/>
          </p:cNvSpPr>
          <p:nvPr/>
        </p:nvSpPr>
        <p:spPr bwMode="auto">
          <a:xfrm>
            <a:off x="8728075" y="6565900"/>
            <a:ext cx="382588" cy="277813"/>
          </a:xfrm>
          <a:prstGeom prst="rect">
            <a:avLst/>
          </a:prstGeom>
          <a:noFill/>
          <a:ln w="9525">
            <a:noFill/>
            <a:miter lim="800000"/>
            <a:headEnd/>
            <a:tailEnd/>
          </a:ln>
          <a:effectLst/>
        </p:spPr>
        <p:txBody>
          <a:bodyP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r" eaLnBrk="1" hangingPunct="1"/>
            <a:fld id="{FE96C4E3-6BF7-4300-B150-AF5A296D7079}" type="slidenum">
              <a:rPr lang="en-GB" sz="1400">
                <a:effectLst>
                  <a:outerShdw blurRad="38100" dist="38100" dir="2700000" algn="tl">
                    <a:srgbClr val="FFFFFF"/>
                  </a:outerShdw>
                </a:effectLst>
              </a:rPr>
              <a:pPr algn="r" eaLnBrk="1" hangingPunct="1"/>
              <a:t>6</a:t>
            </a:fld>
            <a:endParaRPr lang="en-GB" sz="1400">
              <a:effectLst>
                <a:outerShdw blurRad="38100" dist="38100" dir="2700000" algn="tl">
                  <a:srgbClr val="FFFFFF"/>
                </a:outerShdw>
              </a:effectLst>
            </a:endParaRPr>
          </a:p>
        </p:txBody>
      </p:sp>
    </p:spTree>
    <p:extLst>
      <p:ext uri="{BB962C8B-B14F-4D97-AF65-F5344CB8AC3E}">
        <p14:creationId xmlns:p14="http://schemas.microsoft.com/office/powerpoint/2010/main" val="61811590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NZ" b="1" dirty="0" smtClean="0">
                <a:latin typeface="Times New Roman" panose="02020603050405020304" pitchFamily="18" charset="0"/>
                <a:cs typeface="Times New Roman" panose="02020603050405020304" pitchFamily="18" charset="0"/>
              </a:rPr>
              <a:t>Historical Materialism</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b="1" dirty="0" smtClean="0">
                <a:latin typeface="Times New Roman" panose="02020603050405020304" pitchFamily="18" charset="0"/>
                <a:cs typeface="Times New Roman" panose="02020603050405020304" pitchFamily="18" charset="0"/>
              </a:rPr>
              <a:t>Primitive Communism</a:t>
            </a:r>
            <a:endParaRPr lang="en-NZ" dirty="0" smtClean="0">
              <a:latin typeface="Times New Roman" panose="02020603050405020304" pitchFamily="18" charset="0"/>
              <a:cs typeface="Times New Roman" panose="02020603050405020304" pitchFamily="18" charset="0"/>
            </a:endParaRPr>
          </a:p>
          <a:p>
            <a:r>
              <a:rPr lang="en-NZ" dirty="0" smtClean="0">
                <a:latin typeface="Times New Roman" panose="02020603050405020304" pitchFamily="18" charset="0"/>
                <a:cs typeface="Times New Roman" panose="02020603050405020304" pitchFamily="18" charset="0"/>
              </a:rPr>
              <a:t>Man truly sets himself apart from the animals only when he starts producing (and reproducing) the necessities of life, commonly called the means of subsistence. </a:t>
            </a:r>
          </a:p>
          <a:p>
            <a:r>
              <a:rPr lang="en-NZ" dirty="0" smtClean="0">
                <a:latin typeface="Times New Roman" panose="02020603050405020304" pitchFamily="18" charset="0"/>
                <a:cs typeface="Times New Roman" panose="02020603050405020304" pitchFamily="18" charset="0"/>
              </a:rPr>
              <a:t>What is decisive here is the common ownership of the means of production. Hence the description: ‘Primitive Communism’.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66879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smtClean="0">
                <a:latin typeface="Times New Roman" panose="02020603050405020304" pitchFamily="18" charset="0"/>
                <a:cs typeface="Times New Roman" panose="02020603050405020304" pitchFamily="18" charset="0"/>
              </a:rPr>
              <a:t>Historical Materialism</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marL="0" indent="0">
              <a:buNone/>
            </a:pPr>
            <a:r>
              <a:rPr lang="en-US" b="1" dirty="0" smtClean="0">
                <a:latin typeface="Times New Roman" panose="02020603050405020304" pitchFamily="18" charset="0"/>
                <a:cs typeface="Times New Roman" panose="02020603050405020304" pitchFamily="18" charset="0"/>
              </a:rPr>
              <a:t>Slavery</a:t>
            </a:r>
            <a:endParaRPr lang="en-NZ" dirty="0" smtClean="0">
              <a:latin typeface="Times New Roman" panose="02020603050405020304" pitchFamily="18" charset="0"/>
              <a:cs typeface="Times New Roman" panose="02020603050405020304" pitchFamily="18" charset="0"/>
            </a:endParaRPr>
          </a:p>
          <a:p>
            <a:r>
              <a:rPr lang="en-NZ" dirty="0" smtClean="0">
                <a:latin typeface="Times New Roman" panose="02020603050405020304" pitchFamily="18" charset="0"/>
                <a:cs typeface="Times New Roman" panose="02020603050405020304" pitchFamily="18" charset="0"/>
              </a:rPr>
              <a:t>The means of production now included slaves, people, who were the actual property of the </a:t>
            </a:r>
            <a:r>
              <a:rPr lang="en-NZ" dirty="0" err="1" smtClean="0">
                <a:latin typeface="Times New Roman" panose="02020603050405020304" pitchFamily="18" charset="0"/>
                <a:cs typeface="Times New Roman" panose="02020603050405020304" pitchFamily="18" charset="0"/>
              </a:rPr>
              <a:t>slaveowner</a:t>
            </a:r>
            <a:r>
              <a:rPr lang="en-NZ" dirty="0" smtClean="0">
                <a:latin typeface="Times New Roman" panose="02020603050405020304" pitchFamily="18" charset="0"/>
                <a:cs typeface="Times New Roman" panose="02020603050405020304" pitchFamily="18" charset="0"/>
              </a:rPr>
              <a:t>, as were his tools. The small populations of the new </a:t>
            </a:r>
            <a:r>
              <a:rPr lang="en-NZ" dirty="0" err="1" smtClean="0">
                <a:latin typeface="Times New Roman" panose="02020603050405020304" pitchFamily="18" charset="0"/>
                <a:cs typeface="Times New Roman" panose="02020603050405020304" pitchFamily="18" charset="0"/>
              </a:rPr>
              <a:t>slaveowning</a:t>
            </a:r>
            <a:r>
              <a:rPr lang="en-NZ" dirty="0" smtClean="0">
                <a:latin typeface="Times New Roman" panose="02020603050405020304" pitchFamily="18" charset="0"/>
                <a:cs typeface="Times New Roman" panose="02020603050405020304" pitchFamily="18" charset="0"/>
              </a:rPr>
              <a:t> societies did not allow for more than a few slaves from within them. Hence, war became the main source of slaves, to meet the requirements of the </a:t>
            </a:r>
            <a:r>
              <a:rPr lang="en-NZ" dirty="0" err="1" smtClean="0">
                <a:latin typeface="Times New Roman" panose="02020603050405020304" pitchFamily="18" charset="0"/>
                <a:cs typeface="Times New Roman" panose="02020603050405020304" pitchFamily="18" charset="0"/>
              </a:rPr>
              <a:t>slaveowners</a:t>
            </a:r>
            <a:r>
              <a:rPr lang="en-NZ" dirty="0" smtClean="0">
                <a:latin typeface="Times New Roman" panose="02020603050405020304" pitchFamily="18" charset="0"/>
                <a:cs typeface="Times New Roman" panose="02020603050405020304" pitchFamily="18" charset="0"/>
              </a:rPr>
              <a:t> for greater supplies of labour.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326783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smtClean="0">
                <a:latin typeface="Times New Roman" panose="02020603050405020304" pitchFamily="18" charset="0"/>
                <a:cs typeface="Times New Roman" panose="02020603050405020304" pitchFamily="18" charset="0"/>
              </a:rPr>
              <a:t>Historical Materialism</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20000"/>
          </a:bodyPr>
          <a:lstStyle/>
          <a:p>
            <a:pPr marL="0" indent="0">
              <a:buNone/>
            </a:pPr>
            <a:r>
              <a:rPr lang="en-US" b="1" dirty="0" smtClean="0">
                <a:latin typeface="Times New Roman" panose="02020603050405020304" pitchFamily="18" charset="0"/>
                <a:cs typeface="Times New Roman" panose="02020603050405020304" pitchFamily="18" charset="0"/>
              </a:rPr>
              <a:t>Feudalism</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From slavery, </a:t>
            </a:r>
            <a:r>
              <a:rPr lang="en-NZ" dirty="0">
                <a:latin typeface="Times New Roman" panose="02020603050405020304" pitchFamily="18" charset="0"/>
                <a:cs typeface="Times New Roman" panose="02020603050405020304" pitchFamily="18" charset="0"/>
              </a:rPr>
              <a:t>t</a:t>
            </a:r>
            <a:r>
              <a:rPr lang="en-NZ" dirty="0" smtClean="0">
                <a:latin typeface="Times New Roman" panose="02020603050405020304" pitchFamily="18" charset="0"/>
                <a:cs typeface="Times New Roman" panose="02020603050405020304" pitchFamily="18" charset="0"/>
              </a:rPr>
              <a:t>he great </a:t>
            </a:r>
            <a:r>
              <a:rPr lang="en-NZ" dirty="0" err="1" smtClean="0">
                <a:latin typeface="Times New Roman" panose="02020603050405020304" pitchFamily="18" charset="0"/>
                <a:cs typeface="Times New Roman" panose="02020603050405020304" pitchFamily="18" charset="0"/>
              </a:rPr>
              <a:t>slaveowners</a:t>
            </a:r>
            <a:r>
              <a:rPr lang="en-NZ" dirty="0" smtClean="0">
                <a:latin typeface="Times New Roman" panose="02020603050405020304" pitchFamily="18" charset="0"/>
                <a:cs typeface="Times New Roman" panose="02020603050405020304" pitchFamily="18" charset="0"/>
              </a:rPr>
              <a:t>’ estates fell into the hands of a few big land and money owners.</a:t>
            </a:r>
          </a:p>
          <a:p>
            <a:r>
              <a:rPr lang="en-NZ" dirty="0" smtClean="0">
                <a:latin typeface="Times New Roman" panose="02020603050405020304" pitchFamily="18" charset="0"/>
                <a:cs typeface="Times New Roman" panose="02020603050405020304" pitchFamily="18" charset="0"/>
              </a:rPr>
              <a:t>Kings and a landowning nobility arose, seizing land and re-allocating part of it to dependent peasants and serfs who, in return, worked their landlord’s land for nothing except the right for each to work a small plot for himself and his family, and for ‘protection’ by his ruler from other predators, including greedy officials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24115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smtClean="0">
                <a:latin typeface="Times New Roman" panose="02020603050405020304" pitchFamily="18" charset="0"/>
                <a:cs typeface="Times New Roman" panose="02020603050405020304" pitchFamily="18" charset="0"/>
              </a:rPr>
              <a:t>Historical Materialism</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b="1" dirty="0" smtClean="0">
                <a:latin typeface="Times New Roman" panose="02020603050405020304" pitchFamily="18" charset="0"/>
                <a:cs typeface="Times New Roman" panose="02020603050405020304" pitchFamily="18" charset="0"/>
              </a:rPr>
              <a:t>Capitalism</a:t>
            </a:r>
            <a:endParaRPr lang="en-NZ" dirty="0" smtClean="0"/>
          </a:p>
          <a:p>
            <a:r>
              <a:rPr lang="en-NZ" dirty="0" smtClean="0"/>
              <a:t>This new class of </a:t>
            </a:r>
            <a:r>
              <a:rPr lang="en-NZ" dirty="0" err="1" smtClean="0"/>
              <a:t>propertyless</a:t>
            </a:r>
            <a:r>
              <a:rPr lang="en-NZ" dirty="0" smtClean="0"/>
              <a:t> urban workers had nothing to sell but their ability to work and, deprived of their own means of production, were forced to work for the new capitalist class, the owners of the means of production.</a:t>
            </a:r>
            <a:endParaRPr lang="en-US" dirty="0"/>
          </a:p>
        </p:txBody>
      </p:sp>
    </p:spTree>
    <p:extLst>
      <p:ext uri="{BB962C8B-B14F-4D97-AF65-F5344CB8AC3E}">
        <p14:creationId xmlns:p14="http://schemas.microsoft.com/office/powerpoint/2010/main" val="3806469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smtClean="0">
                <a:latin typeface="Times New Roman" panose="02020603050405020304" pitchFamily="18" charset="0"/>
                <a:cs typeface="Times New Roman" panose="02020603050405020304" pitchFamily="18" charset="0"/>
              </a:rPr>
              <a:t>Historical Materialism</a:t>
            </a:r>
            <a:endParaRPr lang="en-US"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Relationship between the classes is an exploitative one: feudal societies – exploitation took the form of direct transfer of produce from peasantry (serfs) to the aristocracy. Modern society’s exploitation is more subtle: surplus </a:t>
            </a:r>
            <a:r>
              <a:rPr lang="en-US" dirty="0" err="1">
                <a:latin typeface="Times New Roman" panose="02020603050405020304" pitchFamily="18" charset="0"/>
                <a:cs typeface="Times New Roman" panose="02020603050405020304" pitchFamily="18" charset="0"/>
              </a:rPr>
              <a:t>labour</a:t>
            </a:r>
            <a:r>
              <a:rPr lang="en-US" dirty="0">
                <a:latin typeface="Times New Roman" panose="02020603050405020304" pitchFamily="18" charset="0"/>
                <a:cs typeface="Times New Roman" panose="02020603050405020304" pitchFamily="18" charset="0"/>
              </a:rPr>
              <a:t> happens through worker producing more than he/she is required to repay the cost of hiring them.</a:t>
            </a:r>
          </a:p>
        </p:txBody>
      </p:sp>
    </p:spTree>
    <p:extLst>
      <p:ext uri="{BB962C8B-B14F-4D97-AF65-F5344CB8AC3E}">
        <p14:creationId xmlns:p14="http://schemas.microsoft.com/office/powerpoint/2010/main" val="41453119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NZ" b="1" dirty="0">
                <a:latin typeface="Times New Roman" panose="02020603050405020304" pitchFamily="18" charset="0"/>
                <a:cs typeface="Times New Roman" panose="02020603050405020304" pitchFamily="18" charset="0"/>
              </a:rPr>
              <a:t>M</a:t>
            </a:r>
            <a:r>
              <a:rPr lang="en-NZ" b="1" dirty="0" smtClean="0">
                <a:latin typeface="Times New Roman" panose="02020603050405020304" pitchFamily="18" charset="0"/>
                <a:cs typeface="Times New Roman" panose="02020603050405020304" pitchFamily="18" charset="0"/>
              </a:rPr>
              <a:t>ode of Production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NZ" dirty="0" smtClean="0"/>
              <a:t>It is a common feature of human society in all periods of history that it can only exist by producing the necessities of life, such as food, clothing and shelter. </a:t>
            </a:r>
          </a:p>
          <a:p>
            <a:r>
              <a:rPr lang="en-NZ" dirty="0" smtClean="0"/>
              <a:t>In this very process of producing, people randomly form definite relationships. </a:t>
            </a:r>
            <a:endParaRPr lang="en-US" dirty="0"/>
          </a:p>
        </p:txBody>
      </p:sp>
    </p:spTree>
    <p:extLst>
      <p:ext uri="{BB962C8B-B14F-4D97-AF65-F5344CB8AC3E}">
        <p14:creationId xmlns:p14="http://schemas.microsoft.com/office/powerpoint/2010/main" val="3149952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smtClean="0">
                <a:latin typeface="Times New Roman" panose="02020603050405020304" pitchFamily="18" charset="0"/>
                <a:cs typeface="Times New Roman" panose="02020603050405020304" pitchFamily="18" charset="0"/>
              </a:rPr>
              <a:t>Mode of Production</a:t>
            </a:r>
            <a:endParaRPr lang="en-US" dirty="0"/>
          </a:p>
        </p:txBody>
      </p:sp>
      <p:sp>
        <p:nvSpPr>
          <p:cNvPr id="3" name="Content Placeholder 2"/>
          <p:cNvSpPr>
            <a:spLocks noGrp="1"/>
          </p:cNvSpPr>
          <p:nvPr>
            <p:ph idx="1"/>
          </p:nvPr>
        </p:nvSpPr>
        <p:spPr/>
        <p:txBody>
          <a:bodyPr/>
          <a:lstStyle/>
          <a:p>
            <a:r>
              <a:rPr lang="en-NZ" dirty="0" smtClean="0">
                <a:latin typeface="Times New Roman" panose="02020603050405020304" pitchFamily="18" charset="0"/>
                <a:cs typeface="Times New Roman" panose="02020603050405020304" pitchFamily="18" charset="0"/>
              </a:rPr>
              <a:t>These are called ‘relations of production’ or, more briefly, ‘production relations,’ and they concern how people stand towards the means of production; whether they own them in common, as under Communism, or whether one class owns them and can thus exploit another class as under slavery, feudalism and capitalism.</a:t>
            </a:r>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7940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smtClean="0">
                <a:latin typeface="Times New Roman" panose="02020603050405020304" pitchFamily="18" charset="0"/>
                <a:cs typeface="Times New Roman" panose="02020603050405020304" pitchFamily="18" charset="0"/>
              </a:rPr>
              <a:t>Mode of Production,</a:t>
            </a:r>
            <a:endParaRPr lang="en-US" dirty="0"/>
          </a:p>
        </p:txBody>
      </p:sp>
      <p:sp>
        <p:nvSpPr>
          <p:cNvPr id="3" name="Content Placeholder 2"/>
          <p:cNvSpPr>
            <a:spLocks noGrp="1"/>
          </p:cNvSpPr>
          <p:nvPr>
            <p:ph idx="1"/>
          </p:nvPr>
        </p:nvSpPr>
        <p:spPr/>
        <p:txBody>
          <a:bodyPr>
            <a:normAutofit fontScale="92500" lnSpcReduction="20000"/>
          </a:bodyPr>
          <a:lstStyle/>
          <a:p>
            <a:r>
              <a:rPr lang="en-NZ" dirty="0" smtClean="0"/>
              <a:t>Whatever the epoch, these production relations form the foundation, the basis or economic structure of society. </a:t>
            </a:r>
          </a:p>
          <a:p>
            <a:r>
              <a:rPr lang="en-NZ" dirty="0" smtClean="0"/>
              <a:t>Under communism, primitive or advanced, the basis is classless, because the means of production are socially owned. </a:t>
            </a:r>
          </a:p>
          <a:p>
            <a:r>
              <a:rPr lang="en-NZ" dirty="0" smtClean="0"/>
              <a:t>Under slavery, the basis is the dominant production relations of </a:t>
            </a:r>
            <a:r>
              <a:rPr lang="en-NZ" dirty="0" err="1" smtClean="0"/>
              <a:t>slaveowners</a:t>
            </a:r>
            <a:r>
              <a:rPr lang="en-NZ" dirty="0" smtClean="0"/>
              <a:t> to slaves; under feudalism, it is those of feudal lords to serfs, and under capitalism, those of capitalists to workers.</a:t>
            </a:r>
            <a:endParaRPr lang="en-US" dirty="0"/>
          </a:p>
        </p:txBody>
      </p:sp>
    </p:spTree>
    <p:extLst>
      <p:ext uri="{BB962C8B-B14F-4D97-AF65-F5344CB8AC3E}">
        <p14:creationId xmlns:p14="http://schemas.microsoft.com/office/powerpoint/2010/main" val="260250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latin typeface="Times New Roman" panose="02020603050405020304" pitchFamily="18" charset="0"/>
                <a:cs typeface="Times New Roman" panose="02020603050405020304" pitchFamily="18" charset="0"/>
              </a:rPr>
              <a:t>Mode of </a:t>
            </a:r>
            <a:r>
              <a:rPr lang="en-NZ" b="1" dirty="0" smtClean="0">
                <a:latin typeface="Times New Roman" panose="02020603050405020304" pitchFamily="18" charset="0"/>
                <a:cs typeface="Times New Roman" panose="02020603050405020304" pitchFamily="18" charset="0"/>
              </a:rPr>
              <a:t>Production</a:t>
            </a:r>
            <a:endParaRPr lang="en-NZ"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p:txBody>
          <a:bodyPr/>
          <a:lstStyle/>
          <a:p>
            <a:r>
              <a:rPr lang="en-NZ" b="1" dirty="0" smtClean="0">
                <a:latin typeface="Times New Roman" panose="02020603050405020304" pitchFamily="18" charset="0"/>
                <a:cs typeface="Times New Roman" panose="02020603050405020304" pitchFamily="18" charset="0"/>
              </a:rPr>
              <a:t>Means of Production:</a:t>
            </a:r>
          </a:p>
          <a:p>
            <a:pPr>
              <a:buNone/>
            </a:pPr>
            <a:endParaRPr lang="en-NZ" dirty="0" smtClean="0">
              <a:latin typeface="Times New Roman" panose="02020603050405020304" pitchFamily="18" charset="0"/>
              <a:cs typeface="Times New Roman" panose="02020603050405020304" pitchFamily="18" charset="0"/>
            </a:endParaRPr>
          </a:p>
          <a:p>
            <a:pPr marL="0" indent="0">
              <a:buNone/>
            </a:pPr>
            <a:r>
              <a:rPr lang="en-NZ" dirty="0" smtClean="0">
                <a:latin typeface="Times New Roman" panose="02020603050405020304" pitchFamily="18" charset="0"/>
                <a:cs typeface="Times New Roman" panose="02020603050405020304" pitchFamily="18" charset="0"/>
              </a:rPr>
              <a:t>How does the society produce goods and services.</a:t>
            </a:r>
            <a:endParaRPr lang="en-NZ"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half" idx="2"/>
          </p:nvPr>
        </p:nvSpPr>
        <p:spPr/>
        <p:txBody>
          <a:bodyPr/>
          <a:lstStyle/>
          <a:p>
            <a:r>
              <a:rPr lang="en-NZ" b="1" dirty="0" smtClean="0">
                <a:latin typeface="Times New Roman" panose="02020603050405020304" pitchFamily="18" charset="0"/>
                <a:cs typeface="Times New Roman" panose="02020603050405020304" pitchFamily="18" charset="0"/>
              </a:rPr>
              <a:t>Relations of production: </a:t>
            </a:r>
          </a:p>
          <a:p>
            <a:endParaRPr lang="en-NZ" dirty="0" smtClean="0">
              <a:latin typeface="Times New Roman" panose="02020603050405020304" pitchFamily="18" charset="0"/>
              <a:cs typeface="Times New Roman" panose="02020603050405020304" pitchFamily="18" charset="0"/>
            </a:endParaRPr>
          </a:p>
          <a:p>
            <a:pPr>
              <a:buNone/>
            </a:pPr>
            <a:r>
              <a:rPr lang="en-NZ" dirty="0" smtClean="0">
                <a:latin typeface="Times New Roman" panose="02020603050405020304" pitchFamily="18" charset="0"/>
                <a:cs typeface="Times New Roman" panose="02020603050405020304" pitchFamily="18" charset="0"/>
              </a:rPr>
              <a:t>Who owns and controls society’s resources.</a:t>
            </a:r>
            <a:endParaRPr lang="en-N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814351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smtClean="0">
                <a:effectLst>
                  <a:outerShdw blurRad="38100" dist="38100" dir="2700000" algn="tl">
                    <a:srgbClr val="FFFFFF"/>
                  </a:outerShdw>
                </a:effectLst>
                <a:latin typeface="Times New Roman" panose="02020603050405020304" pitchFamily="18" charset="0"/>
                <a:cs typeface="Times New Roman" panose="02020603050405020304" pitchFamily="18" charset="0"/>
              </a:rPr>
              <a:t>Class Polarisation</a:t>
            </a:r>
            <a:endParaRPr lang="en-NZ" dirty="0"/>
          </a:p>
        </p:txBody>
      </p:sp>
      <p:sp>
        <p:nvSpPr>
          <p:cNvPr id="3" name="Content Placeholder 2"/>
          <p:cNvSpPr>
            <a:spLocks noGrp="1"/>
          </p:cNvSpPr>
          <p:nvPr>
            <p:ph idx="1"/>
          </p:nvPr>
        </p:nvSpPr>
        <p:spPr/>
        <p:txBody>
          <a:bodyPr/>
          <a:lstStyle/>
          <a:p>
            <a:r>
              <a:rPr lang="en-NZ" dirty="0" smtClean="0">
                <a:latin typeface="Times New Roman" panose="02020603050405020304" pitchFamily="18" charset="0"/>
                <a:cs typeface="Times New Roman" panose="02020603050405020304" pitchFamily="18" charset="0"/>
              </a:rPr>
              <a:t>Class position is rooted in the relationship to the means of production, that is, systems of stratification originate from relationships of groups to means of production.</a:t>
            </a:r>
            <a:endParaRPr lang="en-N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939401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NZ" b="1" dirty="0" smtClean="0">
                <a:effectLst>
                  <a:outerShdw blurRad="38100" dist="38100" dir="2700000" algn="tl">
                    <a:srgbClr val="FFFFFF"/>
                  </a:outerShdw>
                </a:effectLst>
                <a:latin typeface="Times New Roman" panose="02020603050405020304" pitchFamily="18" charset="0"/>
                <a:cs typeface="Times New Roman" panose="02020603050405020304" pitchFamily="18" charset="0"/>
              </a:rPr>
              <a:t>Class Polarisation</a:t>
            </a:r>
            <a:endParaRPr lang="en-NZ"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p:txBody>
          <a:bodyPr/>
          <a:lstStyle/>
          <a:p>
            <a:r>
              <a:rPr lang="en-NZ" b="1" dirty="0" smtClean="0">
                <a:latin typeface="Times New Roman" panose="02020603050405020304" pitchFamily="18" charset="0"/>
                <a:cs typeface="Times New Roman" panose="02020603050405020304" pitchFamily="18" charset="0"/>
              </a:rPr>
              <a:t>Bourgeoisie (exploiter): </a:t>
            </a:r>
          </a:p>
          <a:p>
            <a:pPr>
              <a:buNone/>
            </a:pPr>
            <a:endParaRPr lang="en-NZ" dirty="0" smtClean="0">
              <a:latin typeface="Times New Roman" panose="02020603050405020304" pitchFamily="18" charset="0"/>
              <a:cs typeface="Times New Roman" panose="02020603050405020304" pitchFamily="18" charset="0"/>
            </a:endParaRPr>
          </a:p>
          <a:p>
            <a:pPr marL="0" indent="0">
              <a:buNone/>
            </a:pPr>
            <a:r>
              <a:rPr lang="en-NZ" dirty="0" smtClean="0">
                <a:latin typeface="Times New Roman" panose="02020603050405020304" pitchFamily="18" charset="0"/>
                <a:cs typeface="Times New Roman" panose="02020603050405020304" pitchFamily="18" charset="0"/>
              </a:rPr>
              <a:t>They own and control means of production</a:t>
            </a:r>
          </a:p>
          <a:p>
            <a:pPr marL="0" indent="0">
              <a:buNone/>
            </a:pPr>
            <a:endParaRPr lang="en-NZ"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half" idx="2"/>
          </p:nvPr>
        </p:nvSpPr>
        <p:spPr/>
        <p:txBody>
          <a:bodyPr/>
          <a:lstStyle/>
          <a:p>
            <a:r>
              <a:rPr lang="en-NZ" b="1" dirty="0" smtClean="0">
                <a:latin typeface="Times New Roman" panose="02020603050405020304" pitchFamily="18" charset="0"/>
                <a:cs typeface="Times New Roman" panose="02020603050405020304" pitchFamily="18" charset="0"/>
              </a:rPr>
              <a:t>Proletariat (exploited):</a:t>
            </a:r>
          </a:p>
          <a:p>
            <a:endParaRPr lang="en-NZ" dirty="0" smtClean="0">
              <a:latin typeface="Times New Roman" panose="02020603050405020304" pitchFamily="18" charset="0"/>
              <a:cs typeface="Times New Roman" panose="02020603050405020304" pitchFamily="18" charset="0"/>
            </a:endParaRPr>
          </a:p>
          <a:p>
            <a:pPr>
              <a:buNone/>
            </a:pPr>
            <a:endParaRPr lang="en-NZ" dirty="0" smtClean="0">
              <a:latin typeface="Times New Roman" panose="02020603050405020304" pitchFamily="18" charset="0"/>
              <a:cs typeface="Times New Roman" panose="02020603050405020304" pitchFamily="18" charset="0"/>
            </a:endParaRPr>
          </a:p>
          <a:p>
            <a:pPr marL="0" indent="0">
              <a:buNone/>
            </a:pPr>
            <a:r>
              <a:rPr lang="en-NZ" dirty="0" smtClean="0">
                <a:latin typeface="Times New Roman" panose="02020603050405020304" pitchFamily="18" charset="0"/>
                <a:cs typeface="Times New Roman" panose="02020603050405020304" pitchFamily="18" charset="0"/>
              </a:rPr>
              <a:t>Does not own and control means of production</a:t>
            </a:r>
            <a:endParaRPr lang="en-N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5470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8229600" cy="1143000"/>
          </a:xfrm>
        </p:spPr>
        <p:txBody>
          <a:bodyPr/>
          <a:lstStyle/>
          <a:p>
            <a:r>
              <a:rPr lang="en-NZ" b="1" dirty="0" smtClean="0">
                <a:effectLst>
                  <a:outerShdw blurRad="38100" dist="38100" dir="2700000" algn="tl">
                    <a:srgbClr val="FFFFFF"/>
                  </a:outerShdw>
                </a:effectLst>
                <a:latin typeface="Times New Roman" panose="02020603050405020304" pitchFamily="18" charset="0"/>
                <a:cs typeface="Times New Roman" panose="02020603050405020304" pitchFamily="18" charset="0"/>
              </a:rPr>
              <a:t>Class Polarisation</a:t>
            </a:r>
            <a:endParaRPr lang="en-NZ" dirty="0"/>
          </a:p>
        </p:txBody>
      </p:sp>
      <p:sp>
        <p:nvSpPr>
          <p:cNvPr id="3" name="Content Placeholder 2"/>
          <p:cNvSpPr>
            <a:spLocks noGrp="1"/>
          </p:cNvSpPr>
          <p:nvPr>
            <p:ph idx="1"/>
          </p:nvPr>
        </p:nvSpPr>
        <p:spPr>
          <a:xfrm>
            <a:off x="457200" y="1196752"/>
            <a:ext cx="8229600" cy="4929411"/>
          </a:xfrm>
        </p:spPr>
        <p:txBody>
          <a:bodyPr>
            <a:normAutofit/>
          </a:bodyPr>
          <a:lstStyle/>
          <a:p>
            <a:r>
              <a:rPr lang="en-NZ" dirty="0" smtClean="0">
                <a:latin typeface="Times New Roman" panose="02020603050405020304" pitchFamily="18" charset="0"/>
                <a:cs typeface="Times New Roman" panose="02020603050405020304" pitchFamily="18" charset="0"/>
              </a:rPr>
              <a:t>The relationship between these two are characterised by exploitation.</a:t>
            </a:r>
          </a:p>
          <a:p>
            <a:endParaRPr lang="en-NZ" dirty="0">
              <a:latin typeface="Times New Roman" panose="02020603050405020304" pitchFamily="18" charset="0"/>
              <a:cs typeface="Times New Roman" panose="02020603050405020304" pitchFamily="18" charset="0"/>
            </a:endParaRPr>
          </a:p>
          <a:p>
            <a:r>
              <a:rPr lang="en-NZ" dirty="0" smtClean="0">
                <a:latin typeface="Times New Roman" panose="02020603050405020304" pitchFamily="18" charset="0"/>
                <a:cs typeface="Times New Roman" panose="02020603050405020304" pitchFamily="18" charset="0"/>
              </a:rPr>
              <a:t>Exploitation: an economic process that occurs when one party compels another to give up more than it receives in return.</a:t>
            </a:r>
          </a:p>
          <a:p>
            <a:r>
              <a:rPr lang="en-NZ" dirty="0" smtClean="0">
                <a:latin typeface="Times New Roman" panose="02020603050405020304" pitchFamily="18" charset="0"/>
                <a:cs typeface="Times New Roman" panose="02020603050405020304" pitchFamily="18" charset="0"/>
              </a:rPr>
              <a:t>In capitalism, the bourgeoisie exist and enjoy a common lifestyle because of their exploitative relationship with the proletariat.</a:t>
            </a:r>
            <a:endParaRPr lang="en-N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335569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Alienation </a:t>
            </a:r>
          </a:p>
        </p:txBody>
      </p:sp>
      <p:sp>
        <p:nvSpPr>
          <p:cNvPr id="3" name="Content Placeholder 2"/>
          <p:cNvSpPr>
            <a:spLocks noGrp="1"/>
          </p:cNvSpPr>
          <p:nvPr>
            <p:ph idx="1"/>
          </p:nvPr>
        </p:nvSpPr>
        <p:spPr/>
        <p:txBody>
          <a:bodyPr>
            <a:noAutofit/>
          </a:bodyPr>
          <a:lstStyle/>
          <a:p>
            <a:r>
              <a:rPr lang="en-US" sz="2800" dirty="0">
                <a:latin typeface="Times New Roman" panose="02020603050405020304" pitchFamily="18" charset="0"/>
                <a:cs typeface="Times New Roman" panose="02020603050405020304" pitchFamily="18" charset="0"/>
              </a:rPr>
              <a:t>Alienation is the condition in which the creations of man stand against him as alien forces and thus, control his destiny. </a:t>
            </a:r>
          </a:p>
          <a:p>
            <a:r>
              <a:rPr lang="en-US" sz="2800" dirty="0">
                <a:latin typeface="Times New Roman" panose="02020603050405020304" pitchFamily="18" charset="0"/>
                <a:cs typeface="Times New Roman" panose="02020603050405020304" pitchFamily="18" charset="0"/>
              </a:rPr>
              <a:t>To Marx, all major institutional spheres in capitalist society, such as religion, the state, and political economy, were marked by a condition of alienation. </a:t>
            </a:r>
          </a:p>
          <a:p>
            <a:r>
              <a:rPr lang="en-US" sz="2800" dirty="0">
                <a:latin typeface="Times New Roman" panose="02020603050405020304" pitchFamily="18" charset="0"/>
                <a:cs typeface="Times New Roman" panose="02020603050405020304" pitchFamily="18" charset="0"/>
              </a:rPr>
              <a:t>Alienation hence confronts man in the whole world of institutions in which he is enmeshed</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088844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Alienation in the </a:t>
            </a:r>
            <a:r>
              <a:rPr lang="en-US" b="1" dirty="0" smtClean="0">
                <a:latin typeface="Times New Roman" panose="02020603050405020304" pitchFamily="18" charset="0"/>
                <a:cs typeface="Times New Roman" panose="02020603050405020304" pitchFamily="18" charset="0"/>
              </a:rPr>
              <a:t>Workplace </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20000"/>
          </a:bodyPr>
          <a:lstStyle/>
          <a:p>
            <a:pPr marL="514350" indent="-514350">
              <a:buFont typeface="+mj-lt"/>
              <a:buAutoNum type="arabicPeriod"/>
            </a:pPr>
            <a:r>
              <a:rPr lang="en-US" b="1" dirty="0" smtClean="0">
                <a:latin typeface="Times New Roman" panose="02020603050405020304" pitchFamily="18" charset="0"/>
                <a:cs typeface="Times New Roman" panose="02020603050405020304" pitchFamily="18" charset="0"/>
              </a:rPr>
              <a:t>Object </a:t>
            </a:r>
            <a:r>
              <a:rPr lang="en-US" b="1" dirty="0">
                <a:latin typeface="Times New Roman" panose="02020603050405020304" pitchFamily="18" charset="0"/>
                <a:cs typeface="Times New Roman" panose="02020603050405020304" pitchFamily="18" charset="0"/>
              </a:rPr>
              <a:t>he produces: </a:t>
            </a:r>
            <a:r>
              <a:rPr lang="en-US" dirty="0">
                <a:latin typeface="Times New Roman" panose="02020603050405020304" pitchFamily="18" charset="0"/>
                <a:cs typeface="Times New Roman" panose="02020603050405020304" pitchFamily="18" charset="0"/>
              </a:rPr>
              <a:t>products belongs to Owner in exchange for poor wages and salary (exploitation). Transported and sold for profit (surplus value).</a:t>
            </a:r>
          </a:p>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Process of production: </a:t>
            </a:r>
            <a:r>
              <a:rPr lang="en-US" dirty="0">
                <a:latin typeface="Times New Roman" panose="02020603050405020304" pitchFamily="18" charset="0"/>
                <a:cs typeface="Times New Roman" panose="02020603050405020304" pitchFamily="18" charset="0"/>
              </a:rPr>
              <a:t>conditions at work determined by Owner.  </a:t>
            </a:r>
          </a:p>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Community of his fellows: </a:t>
            </a:r>
            <a:r>
              <a:rPr lang="en-US" dirty="0">
                <a:latin typeface="Times New Roman" panose="02020603050405020304" pitchFamily="18" charset="0"/>
                <a:cs typeface="Times New Roman" panose="02020603050405020304" pitchFamily="18" charset="0"/>
              </a:rPr>
              <a:t>Division of labour, specialization, competition; among workers. Work no longer natural and enjoyable. Divide and rule tactics deepens alienation.  </a:t>
            </a:r>
          </a:p>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Himself:</a:t>
            </a:r>
            <a:r>
              <a:rPr lang="en-US" dirty="0">
                <a:latin typeface="Times New Roman" panose="02020603050405020304" pitchFamily="18" charset="0"/>
                <a:cs typeface="Times New Roman" panose="02020603050405020304" pitchFamily="18" charset="0"/>
              </a:rPr>
              <a:t> Can’t take initiative, natural faculties replaced by machines, e.g. calculator, computer, robot, etc. competes and outsmarts man – unemployment. </a:t>
            </a:r>
          </a:p>
          <a:p>
            <a:endParaRPr lang="en-US" dirty="0"/>
          </a:p>
        </p:txBody>
      </p:sp>
    </p:spTree>
    <p:extLst>
      <p:ext uri="{BB962C8B-B14F-4D97-AF65-F5344CB8AC3E}">
        <p14:creationId xmlns:p14="http://schemas.microsoft.com/office/powerpoint/2010/main" val="334380118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t>F</a:t>
            </a:r>
            <a:r>
              <a:rPr lang="en-NZ" b="1" dirty="0" smtClean="0"/>
              <a:t>alse Consciousness</a:t>
            </a:r>
            <a:endParaRPr lang="en-US" dirty="0"/>
          </a:p>
        </p:txBody>
      </p:sp>
      <p:sp>
        <p:nvSpPr>
          <p:cNvPr id="3" name="Content Placeholder 2"/>
          <p:cNvSpPr>
            <a:spLocks noGrp="1"/>
          </p:cNvSpPr>
          <p:nvPr>
            <p:ph idx="1"/>
          </p:nvPr>
        </p:nvSpPr>
        <p:spPr/>
        <p:txBody>
          <a:bodyPr>
            <a:normAutofit fontScale="85000" lnSpcReduction="10000"/>
          </a:bodyPr>
          <a:lstStyle/>
          <a:p>
            <a:r>
              <a:rPr lang="en-NZ" dirty="0" smtClean="0"/>
              <a:t>False </a:t>
            </a:r>
            <a:r>
              <a:rPr lang="en-NZ" dirty="0"/>
              <a:t>consciousness is a condition in which the beliefs, ideals, or ideology of a person are not in the person’s own best interest</a:t>
            </a:r>
            <a:r>
              <a:rPr lang="en-NZ" dirty="0" smtClean="0"/>
              <a:t>.</a:t>
            </a:r>
          </a:p>
          <a:p>
            <a:r>
              <a:rPr lang="en-NZ" dirty="0" smtClean="0"/>
              <a:t> It </a:t>
            </a:r>
            <a:r>
              <a:rPr lang="en-NZ" dirty="0"/>
              <a:t>is the ideology of the dominant class (here, the bourgeoisie capitalists) that is imposed upon the proletariat. </a:t>
            </a:r>
            <a:endParaRPr lang="en-NZ" dirty="0" smtClean="0"/>
          </a:p>
          <a:p>
            <a:r>
              <a:rPr lang="en-NZ" dirty="0" smtClean="0"/>
              <a:t>E.g. the </a:t>
            </a:r>
            <a:r>
              <a:rPr lang="en-NZ" dirty="0"/>
              <a:t>emphasis of competition over cooperation, or of hard work being its own reward, clearly benefit the owners of industry. Therefore, workers are less likely to question their place in society and assume individual responsibility for existing conditions.</a:t>
            </a:r>
            <a:endParaRPr lang="en-US" dirty="0"/>
          </a:p>
        </p:txBody>
      </p:sp>
    </p:spTree>
    <p:extLst>
      <p:ext uri="{BB962C8B-B14F-4D97-AF65-F5344CB8AC3E}">
        <p14:creationId xmlns:p14="http://schemas.microsoft.com/office/powerpoint/2010/main" val="32992923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latin typeface="Times New Roman" panose="02020603050405020304" pitchFamily="18" charset="0"/>
                <a:cs typeface="Times New Roman" panose="02020603050405020304" pitchFamily="18" charset="0"/>
              </a:rPr>
              <a:t>C</a:t>
            </a:r>
            <a:r>
              <a:rPr lang="en-NZ" b="1" dirty="0" smtClean="0">
                <a:latin typeface="Times New Roman" panose="02020603050405020304" pitchFamily="18" charset="0"/>
                <a:cs typeface="Times New Roman" panose="02020603050405020304" pitchFamily="18" charset="0"/>
              </a:rPr>
              <a:t>lass Consciousness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NZ" dirty="0" smtClean="0"/>
              <a:t>According to </a:t>
            </a:r>
            <a:r>
              <a:rPr lang="en-NZ" dirty="0" err="1" smtClean="0"/>
              <a:t>marx</a:t>
            </a:r>
            <a:r>
              <a:rPr lang="en-NZ" smtClean="0"/>
              <a:t>, instead </a:t>
            </a:r>
            <a:r>
              <a:rPr lang="en-NZ" dirty="0"/>
              <a:t>of existing as a “class in itself,” the proletariat must become a “class for itself” in order to produce social change (Marx and Engels 1848), meaning that instead of just being an inert strata of society, the class could become an advocate for social improvements. Only once society entered this state of political consciousness would it be ready for a social revolution.</a:t>
            </a:r>
            <a:endParaRPr lang="en-US" dirty="0"/>
          </a:p>
        </p:txBody>
      </p:sp>
    </p:spTree>
    <p:extLst>
      <p:ext uri="{BB962C8B-B14F-4D97-AF65-F5344CB8AC3E}">
        <p14:creationId xmlns:p14="http://schemas.microsoft.com/office/powerpoint/2010/main" val="2327954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154</TotalTime>
  <Words>1349</Words>
  <Application>Microsoft Office PowerPoint</Application>
  <PresentationFormat>On-screen Show (4:3)</PresentationFormat>
  <Paragraphs>94</Paragraphs>
  <Slides>22</Slides>
  <Notes>3</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KARL MARX (1818-1883)</vt:lpstr>
      <vt:lpstr>KARL MARX (1818-1883)</vt:lpstr>
      <vt:lpstr>Key questions asked by Marxist Sociology Include:</vt:lpstr>
      <vt:lpstr>PowerPoint Presentation</vt:lpstr>
      <vt:lpstr>Key Concepts of Marxist Sociology </vt:lpstr>
      <vt:lpstr>PowerPoint Presentation</vt:lpstr>
      <vt:lpstr>Historical Materialism</vt:lpstr>
      <vt:lpstr>Historical Materialism</vt:lpstr>
      <vt:lpstr>Historical Materialism</vt:lpstr>
      <vt:lpstr>Historical Materialism</vt:lpstr>
      <vt:lpstr>Historical Materialism</vt:lpstr>
      <vt:lpstr>Mode of Production</vt:lpstr>
      <vt:lpstr>Mode of Production</vt:lpstr>
      <vt:lpstr>Mode of Production,</vt:lpstr>
      <vt:lpstr>Mode of Production</vt:lpstr>
      <vt:lpstr>Class Polarisation</vt:lpstr>
      <vt:lpstr>Class Polarisation</vt:lpstr>
      <vt:lpstr>Class Polarisation</vt:lpstr>
      <vt:lpstr>Alienation </vt:lpstr>
      <vt:lpstr>Alienation in the Workplace </vt:lpstr>
      <vt:lpstr>False Consciousness</vt:lpstr>
      <vt:lpstr>Class Consciousness</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dc:creator>
  <cp:lastModifiedBy>Microsoft</cp:lastModifiedBy>
  <cp:revision>61</cp:revision>
  <dcterms:created xsi:type="dcterms:W3CDTF">2020-02-06T09:40:14Z</dcterms:created>
  <dcterms:modified xsi:type="dcterms:W3CDTF">2020-02-06T12:15:06Z</dcterms:modified>
</cp:coreProperties>
</file>