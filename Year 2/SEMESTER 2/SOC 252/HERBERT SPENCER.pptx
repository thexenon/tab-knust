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75" r:id="rId8"/>
    <p:sldId id="272" r:id="rId9"/>
    <p:sldId id="268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940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6908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0085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734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243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492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3838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13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993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177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37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3E2AE-216A-4F55-99A3-6B2C06E4E7E6}" type="datetimeFigureOut">
              <a:rPr lang="en-US" smtClean="0"/>
              <a:pPr/>
              <a:t>27-May-21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2ECB2-7EB0-4DBD-B6D6-21A547211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000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HERBERT SPENCER (1820-1903)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47266" y="1600200"/>
            <a:ext cx="444946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61870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HERBERT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SPENCER (1820-1903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background: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Born on April 27, 1820, in Derby, Britain.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Sickling and weak at childhood, did not attend a regular school.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Father educated him 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home: mathematics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natural sciences.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17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unfit for a university career, followed his scientific interests by joining the staff of the London and Birmingham Railway as an engineer.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5879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octrine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change from a state of relatively indefinite, incoherent, homogeneity to a state of relatively definite, coherent, heterogeneity.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involves progressive change from  incoherence to coherence (increasing integration in form).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increasing integration is the movement from homogeneity to heterogeneity (increasing differentiation of parts and functions).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there is a movement from confusion to order, from indeterminacy to determined order (from the indefinite to the definite).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was the universal law of progress, whether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inorganic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super-organic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(social).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5322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octrine cont.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is the master key to the riddles of the universe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‘There can be no complete acceptance of sociology as a science, so long as the belief in a social order not conforming to natural law, survives.’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analogies occupy a privileged position in all of Spencer's sociological reasoning.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He, however, draws attention to the limitations of such analogies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indicating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and differences between the organic and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superorganic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56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(Classification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ocieties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is but a collective name for a number of individuals.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differentiation and complex interdependence of parts in societies necessitate a regulating system for coordination.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Spencer classifies societies based on their: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complexity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internal regulation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achieved through Comparison (methodology).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689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Classification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omplexity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societies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compounding yet in these societies, e.g. families.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societies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Families combine into clans through conquest or peaceful cooperation or both. E.g.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oyoko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aduana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 Akan. There is increased division of labour and political organization. Structures and functions are therefore more complex than in simple societies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compound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Clans unify into tribes. Politics, law, economic activities, knowledge and art become more complex.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Trebly compound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Tribes finally unify into states, nations; thus, increasing the complexity in structures and functions.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stages of compounding and re-compounding have to be passed through in succession.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714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2. Classification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Societies Based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Degree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Regulation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Militant Society (Compulsory Cooperation)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Society (Voluntary Cooperation)</a:t>
            </a:r>
          </a:p>
        </p:txBody>
      </p:sp>
    </p:spTree>
    <p:extLst>
      <p:ext uri="{BB962C8B-B14F-4D97-AF65-F5344CB8AC3E}">
        <p14:creationId xmlns:p14="http://schemas.microsoft.com/office/powerpoint/2010/main" xmlns="" val="250595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185278657"/>
              </p:ext>
            </p:extLst>
          </p:nvPr>
        </p:nvGraphicFramePr>
        <p:xfrm>
          <a:off x="76200" y="152400"/>
          <a:ext cx="8915399" cy="638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680"/>
                <a:gridCol w="2249680"/>
                <a:gridCol w="4416039"/>
              </a:tblGrid>
              <a:tr h="43139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Characteristic</a:t>
                      </a:r>
                      <a:endParaRPr lang="en-US" sz="1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Militant society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Industrial Society</a:t>
                      </a:r>
                      <a:endParaRPr lang="en-US" sz="1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</a:tr>
              <a:tr h="88927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Dominant function or activity</a:t>
                      </a:r>
                      <a:endParaRPr lang="en-US" sz="1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Corporate defensive and offensive activity for preservation and aggrandizement. 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Peaceful, mutual rendering of individual </a:t>
                      </a:r>
                      <a:r>
                        <a:rPr lang="en-US" sz="1200" dirty="0" smtClean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services</a:t>
                      </a: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</a:p>
                  </a:txBody>
                  <a:tcPr marL="51435" marR="51435" marT="0" marB="0"/>
                </a:tc>
              </a:tr>
              <a:tr h="106713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Principle of social coordination</a:t>
                      </a:r>
                      <a:endParaRPr lang="en-US" sz="1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Compulsory cooperation; regimentation by enforcement of orders; both positive and negative regulation of activity.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Voluntary cooperation; regulation by contract and principles of justice; only negative regulation of activity.</a:t>
                      </a:r>
                    </a:p>
                  </a:txBody>
                  <a:tcPr marL="51435" marR="51435" marT="0" marB="0"/>
                </a:tc>
              </a:tr>
              <a:tr h="76910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Relations between state and the individual</a:t>
                      </a:r>
                      <a:endParaRPr lang="en-US" sz="12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Individuals exist for the benefit of the state; restraints on liberty, property and mobility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State exists for benefit of individuals; freedom; few restraints on property and mobility </a:t>
                      </a:r>
                    </a:p>
                  </a:txBody>
                  <a:tcPr marL="51435" marR="51435" marT="0" marB="0"/>
                </a:tc>
              </a:tr>
              <a:tr h="640281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Relations between state and other organizations 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All organizations public; private organizations excluded.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Private organizations encouraged.</a:t>
                      </a:r>
                    </a:p>
                  </a:txBody>
                  <a:tcPr marL="51435" marR="51435" marT="0" marB="0"/>
                </a:tc>
              </a:tr>
              <a:tr h="46190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Structure of state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Centralized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Decentralized </a:t>
                      </a:r>
                    </a:p>
                  </a:txBody>
                  <a:tcPr marL="51435" marR="51435" marT="0" marB="0"/>
                </a:tc>
              </a:tr>
              <a:tr h="65702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Structure of social stratification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Fixity of rank, occupation and locality; inheritance of positions.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Plasticity and openness of rank, occupation and locality; movement between positions.</a:t>
                      </a:r>
                    </a:p>
                  </a:txBody>
                  <a:tcPr marL="51435" marR="51435" marT="0" marB="0"/>
                </a:tc>
              </a:tr>
              <a:tr h="73632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Type of economic activity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Economic autonomy and self-sufficiency; little external trade; protectionism.   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Loss of economic autonomy; interdependence via peaceful trade; free trade.</a:t>
                      </a:r>
                    </a:p>
                  </a:txBody>
                  <a:tcPr marL="51435" marR="51435" marT="0" marB="0"/>
                </a:tc>
              </a:tr>
              <a:tr h="73632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i="1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Valued social and personal characteristics</a:t>
                      </a:r>
                      <a:endParaRPr lang="en-US" sz="12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Patriotism; courage; reverence; loyalty; obedience; faith in authority and discipline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dirty="0"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Independence; respect for others; resistance to coercion; individual initiative; truthfulness; kindness. </a:t>
                      </a:r>
                    </a:p>
                  </a:txBody>
                  <a:tcPr marL="51435" marR="5143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11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Organismic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Z" dirty="0" smtClean="0"/>
              <a:t>He developed the </a:t>
            </a:r>
            <a:r>
              <a:rPr lang="en-NZ" dirty="0"/>
              <a:t>tendency to see society as an </a:t>
            </a:r>
            <a:r>
              <a:rPr lang="en-NZ" dirty="0" smtClean="0"/>
              <a:t>organism</a:t>
            </a:r>
            <a:r>
              <a:rPr lang="en-NZ" dirty="0"/>
              <a:t> </a:t>
            </a:r>
            <a:r>
              <a:rPr lang="en-NZ" dirty="0" smtClean="0"/>
              <a:t>in his theory of organic analogy.</a:t>
            </a:r>
          </a:p>
          <a:p>
            <a:r>
              <a:rPr lang="en-NZ" dirty="0"/>
              <a:t>He was concerned with overall structure of society, the interrelationship of the parts of society, and the functions of the parts for each other as well as for the system as a whole</a:t>
            </a:r>
            <a:r>
              <a:rPr lang="en-NZ" dirty="0" smtClean="0"/>
              <a:t>.</a:t>
            </a:r>
          </a:p>
          <a:p>
            <a:r>
              <a:rPr lang="en-NZ" dirty="0"/>
              <a:t>He had compared the society with a living organism by taking into account the following 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1576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Organismic Analogy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Comte, Spencer conceived of society as a biological organism.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Spencer ‘living together arose because, on the average, it proved more advantageous to each than living apart.’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combination [of individuals] is maintenance of conditions more satisfactory to living than the combined persons would otherwise have.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quality of a society ,to a large extent, depends on the quality of the individuals who formed it.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way of coming at a true theory of society, but by inquiry into the nature of its component individuals.’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properties of the units determine the properties of the aggregate.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688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b/n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Organic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uperorganic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Increase in size and structure (visible growth).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Close relationship in its parts and organs.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Importance of the whole in both society and living organism.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centre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control in both society and living organism.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Both follow similar processes and methods for its efficient functioning.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268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b/n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Organic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uperorganic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Degree of connectedness: Parts of the organism are encased in a skin whereas societal parts are dispersed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Level of consciousness and voluntarism: Consciousness in the organism is concentrated at one part whereas it is dispersed in society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Mode of contact and interaction: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superorganic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relies on symbols/language for communication whereas the organic does not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NZ" dirty="0"/>
              <a:t>The parts of the society are capable of independent existence but the parts of living organism are incapable of independent existence.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8425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Non-intervention and Survival of the Fittest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Spencer argued that society must be free from the meddling of governments and reformers.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should only provide protection of the rights of the individual against outside enemies.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else should be left to the free initiative of individuals making contracts and agreements with one another.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least intelligent groups and individuals die off naturally; hence, the general level of intelligence is bound to rise gradually.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who are unfit to live will be selected by nature to die off thus purifying the society of poverty, weakness, disease, hunger, malnutrition,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785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1118</Words>
  <Application>Microsoft Office PowerPoint</Application>
  <PresentationFormat>On-screen Show (4:3)</PresentationFormat>
  <Paragraphs>90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HERBERT SPENCER (1820-1903)</vt:lpstr>
      <vt:lpstr>HERBERT SPENCER (1820-1903)</vt:lpstr>
      <vt:lpstr> The Evolutionary Doctrine  </vt:lpstr>
      <vt:lpstr>The Evolutionary Doctrine cont. </vt:lpstr>
      <vt:lpstr>Social Types (Classification of Societies)</vt:lpstr>
      <vt:lpstr>1. Classification by Evolutionary Complexity</vt:lpstr>
      <vt:lpstr>2. Classification of Societies Based on the Degree of Regulation</vt:lpstr>
      <vt:lpstr>Slide 8</vt:lpstr>
      <vt:lpstr>Organismic Analogy</vt:lpstr>
      <vt:lpstr>3. Organismic Analogy</vt:lpstr>
      <vt:lpstr>Similarities b/n the Organic and Superorganic </vt:lpstr>
      <vt:lpstr>Differences b/n the Organic and Superorganic</vt:lpstr>
      <vt:lpstr>Non-intervention and Survival of the Fittest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HERBERT SPENCER (1820-1903)</dc:title>
  <dc:creator>Microsoft</dc:creator>
  <cp:lastModifiedBy>Slow</cp:lastModifiedBy>
  <cp:revision>27</cp:revision>
  <dcterms:created xsi:type="dcterms:W3CDTF">2020-02-19T10:12:41Z</dcterms:created>
  <dcterms:modified xsi:type="dcterms:W3CDTF">2021-05-27T13:16:51Z</dcterms:modified>
</cp:coreProperties>
</file>