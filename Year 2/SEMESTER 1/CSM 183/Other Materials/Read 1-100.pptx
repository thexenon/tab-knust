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6.jpg" ContentType="image/jpg"/>
  <Override PartName="/ppt/media/image27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6.jpg" ContentType="image/jpg"/>
  <Override PartName="/ppt/media/image39.jpg" ContentType="image/jpg"/>
  <Override PartName="/ppt/media/image46.jpg" ContentType="image/jpg"/>
  <Override PartName="/ppt/media/image47.jpg" ContentType="image/jpg"/>
  <Override PartName="/ppt/media/image57.jpg" ContentType="image/jpg"/>
  <Override PartName="/ppt/media/image58.jpg" ContentType="image/jpg"/>
  <Override PartName="/ppt/media/image59.jpg" ContentType="image/jpg"/>
  <Override PartName="/ppt/media/image6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448" r:id="rId43"/>
    <p:sldId id="297" r:id="rId44"/>
    <p:sldId id="449" r:id="rId45"/>
    <p:sldId id="298" r:id="rId46"/>
    <p:sldId id="450" r:id="rId47"/>
    <p:sldId id="299" r:id="rId48"/>
    <p:sldId id="451" r:id="rId49"/>
    <p:sldId id="300" r:id="rId50"/>
    <p:sldId id="452" r:id="rId51"/>
    <p:sldId id="301" r:id="rId52"/>
    <p:sldId id="302" r:id="rId53"/>
    <p:sldId id="453" r:id="rId54"/>
    <p:sldId id="303" r:id="rId55"/>
    <p:sldId id="454" r:id="rId56"/>
    <p:sldId id="304" r:id="rId57"/>
    <p:sldId id="305" r:id="rId58"/>
    <p:sldId id="457" r:id="rId59"/>
    <p:sldId id="306" r:id="rId60"/>
    <p:sldId id="455" r:id="rId61"/>
    <p:sldId id="307" r:id="rId62"/>
    <p:sldId id="308" r:id="rId63"/>
    <p:sldId id="309" r:id="rId64"/>
    <p:sldId id="456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  <p:sldId id="343" r:id="rId99"/>
    <p:sldId id="344" r:id="rId100"/>
    <p:sldId id="345" r:id="rId101"/>
    <p:sldId id="346" r:id="rId102"/>
    <p:sldId id="347" r:id="rId103"/>
    <p:sldId id="348" r:id="rId104"/>
    <p:sldId id="349" r:id="rId105"/>
    <p:sldId id="350" r:id="rId106"/>
    <p:sldId id="351" r:id="rId107"/>
    <p:sldId id="352" r:id="rId108"/>
    <p:sldId id="353" r:id="rId109"/>
    <p:sldId id="354" r:id="rId110"/>
    <p:sldId id="355" r:id="rId111"/>
    <p:sldId id="356" r:id="rId112"/>
    <p:sldId id="357" r:id="rId113"/>
    <p:sldId id="358" r:id="rId114"/>
    <p:sldId id="359" r:id="rId115"/>
    <p:sldId id="360" r:id="rId116"/>
    <p:sldId id="361" r:id="rId117"/>
    <p:sldId id="362" r:id="rId118"/>
    <p:sldId id="363" r:id="rId119"/>
    <p:sldId id="364" r:id="rId120"/>
    <p:sldId id="365" r:id="rId121"/>
    <p:sldId id="366" r:id="rId122"/>
    <p:sldId id="367" r:id="rId123"/>
    <p:sldId id="368" r:id="rId124"/>
    <p:sldId id="369" r:id="rId125"/>
    <p:sldId id="370" r:id="rId126"/>
    <p:sldId id="371" r:id="rId127"/>
    <p:sldId id="372" r:id="rId128"/>
    <p:sldId id="373" r:id="rId129"/>
    <p:sldId id="374" r:id="rId130"/>
    <p:sldId id="375" r:id="rId131"/>
    <p:sldId id="376" r:id="rId132"/>
    <p:sldId id="377" r:id="rId133"/>
    <p:sldId id="378" r:id="rId134"/>
    <p:sldId id="379" r:id="rId135"/>
    <p:sldId id="380" r:id="rId136"/>
    <p:sldId id="381" r:id="rId137"/>
    <p:sldId id="382" r:id="rId138"/>
    <p:sldId id="383" r:id="rId139"/>
    <p:sldId id="384" r:id="rId140"/>
    <p:sldId id="385" r:id="rId141"/>
    <p:sldId id="386" r:id="rId142"/>
    <p:sldId id="387" r:id="rId143"/>
    <p:sldId id="388" r:id="rId144"/>
    <p:sldId id="389" r:id="rId145"/>
    <p:sldId id="390" r:id="rId146"/>
    <p:sldId id="391" r:id="rId147"/>
    <p:sldId id="392" r:id="rId148"/>
    <p:sldId id="393" r:id="rId149"/>
    <p:sldId id="394" r:id="rId150"/>
    <p:sldId id="395" r:id="rId151"/>
    <p:sldId id="396" r:id="rId152"/>
    <p:sldId id="397" r:id="rId153"/>
    <p:sldId id="398" r:id="rId154"/>
    <p:sldId id="399" r:id="rId155"/>
    <p:sldId id="400" r:id="rId156"/>
    <p:sldId id="401" r:id="rId157"/>
    <p:sldId id="402" r:id="rId158"/>
    <p:sldId id="403" r:id="rId159"/>
    <p:sldId id="404" r:id="rId160"/>
    <p:sldId id="405" r:id="rId161"/>
    <p:sldId id="406" r:id="rId162"/>
    <p:sldId id="407" r:id="rId163"/>
    <p:sldId id="408" r:id="rId164"/>
    <p:sldId id="409" r:id="rId165"/>
    <p:sldId id="410" r:id="rId166"/>
    <p:sldId id="411" r:id="rId167"/>
    <p:sldId id="412" r:id="rId168"/>
    <p:sldId id="413" r:id="rId169"/>
    <p:sldId id="414" r:id="rId170"/>
    <p:sldId id="415" r:id="rId171"/>
    <p:sldId id="416" r:id="rId172"/>
    <p:sldId id="417" r:id="rId173"/>
    <p:sldId id="418" r:id="rId174"/>
    <p:sldId id="419" r:id="rId175"/>
    <p:sldId id="420" r:id="rId176"/>
    <p:sldId id="421" r:id="rId177"/>
    <p:sldId id="422" r:id="rId178"/>
    <p:sldId id="423" r:id="rId179"/>
    <p:sldId id="424" r:id="rId180"/>
    <p:sldId id="425" r:id="rId181"/>
    <p:sldId id="426" r:id="rId182"/>
    <p:sldId id="427" r:id="rId183"/>
    <p:sldId id="428" r:id="rId184"/>
    <p:sldId id="429" r:id="rId185"/>
    <p:sldId id="430" r:id="rId186"/>
    <p:sldId id="431" r:id="rId187"/>
    <p:sldId id="432" r:id="rId188"/>
    <p:sldId id="433" r:id="rId189"/>
    <p:sldId id="434" r:id="rId190"/>
    <p:sldId id="435" r:id="rId191"/>
    <p:sldId id="436" r:id="rId192"/>
    <p:sldId id="437" r:id="rId193"/>
    <p:sldId id="438" r:id="rId194"/>
    <p:sldId id="439" r:id="rId195"/>
    <p:sldId id="440" r:id="rId196"/>
    <p:sldId id="441" r:id="rId197"/>
    <p:sldId id="442" r:id="rId198"/>
    <p:sldId id="443" r:id="rId199"/>
    <p:sldId id="444" r:id="rId200"/>
    <p:sldId id="445" r:id="rId201"/>
    <p:sldId id="446" r:id="rId202"/>
    <p:sldId id="447" r:id="rId203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3" autoAdjust="0"/>
    <p:restoredTop sz="94660"/>
  </p:normalViewPr>
  <p:slideViewPr>
    <p:cSldViewPr>
      <p:cViewPr varScale="1">
        <p:scale>
          <a:sx n="58" d="100"/>
          <a:sy n="58" d="100"/>
        </p:scale>
        <p:origin x="116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tableStyles" Target="tableStyle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8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8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70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75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6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58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8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7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/>
              <a:t>Department </a:t>
            </a:r>
            <a:r>
              <a:rPr lang="en-US" spc="-5"/>
              <a:t>of Computer Science,</a:t>
            </a:r>
            <a:r>
              <a:rPr lang="en-US" spc="-100"/>
              <a:t> </a:t>
            </a:r>
            <a:r>
              <a:rPr lang="en-US"/>
              <a:t>KNUST-</a:t>
            </a:r>
          </a:p>
          <a:p>
            <a:pPr algn="ctr">
              <a:lnSpc>
                <a:spcPct val="100000"/>
              </a:lnSpc>
            </a:pPr>
            <a:r>
              <a:rPr lang="en-US" spc="-5"/>
              <a:t>Kumasi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4126" y="461899"/>
            <a:ext cx="25565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SO</a:t>
            </a:r>
            <a:r>
              <a:rPr spc="5" dirty="0"/>
              <a:t>F</a:t>
            </a:r>
            <a:r>
              <a:rPr spc="-5" dirty="0"/>
              <a:t>T</a:t>
            </a:r>
            <a:r>
              <a:rPr spc="-200" dirty="0"/>
              <a:t>W</a:t>
            </a:r>
            <a:r>
              <a:rPr dirty="0"/>
              <a:t>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043" y="1048969"/>
            <a:ext cx="8305800" cy="4739631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268605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Software consists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step-by-step </a:t>
            </a:r>
            <a:r>
              <a:rPr sz="3200" spc="-10" dirty="0">
                <a:latin typeface="Carlito"/>
                <a:cs typeface="Carlito"/>
              </a:rPr>
              <a:t>instructions  that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20" dirty="0">
                <a:latin typeface="Carlito"/>
                <a:cs typeface="Carlito"/>
              </a:rPr>
              <a:t>follows </a:t>
            </a:r>
            <a:r>
              <a:rPr sz="3200" spc="-30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perform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task </a:t>
            </a:r>
            <a:r>
              <a:rPr sz="3200" spc="-5" dirty="0">
                <a:latin typeface="Carlito"/>
                <a:cs typeface="Carlito"/>
              </a:rPr>
              <a:t>or  </a:t>
            </a:r>
            <a:r>
              <a:rPr sz="3200" spc="-10" dirty="0">
                <a:latin typeface="Carlito"/>
                <a:cs typeface="Carlito"/>
              </a:rPr>
              <a:t>solve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problem.</a:t>
            </a:r>
            <a:endParaRPr sz="3200" dirty="0">
              <a:latin typeface="Carlito"/>
              <a:cs typeface="Carlito"/>
            </a:endParaRPr>
          </a:p>
          <a:p>
            <a:pPr marL="355600" marR="123189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15" dirty="0">
                <a:latin typeface="Carlito"/>
                <a:cs typeface="Carlito"/>
              </a:rPr>
              <a:t>“Soft”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5" dirty="0">
                <a:latin typeface="Carlito"/>
                <a:cs typeface="Carlito"/>
              </a:rPr>
              <a:t>sense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instructions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not  </a:t>
            </a:r>
            <a:r>
              <a:rPr sz="3200" spc="-10" dirty="0">
                <a:latin typeface="Carlito"/>
                <a:cs typeface="Carlito"/>
              </a:rPr>
              <a:t>touchable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30" dirty="0">
                <a:latin typeface="Carlito"/>
                <a:cs typeface="Carlito"/>
              </a:rPr>
              <a:t>way </a:t>
            </a:r>
            <a:r>
              <a:rPr sz="3200" spc="-20" dirty="0">
                <a:latin typeface="Carlito"/>
                <a:cs typeface="Carlito"/>
              </a:rPr>
              <a:t>hardware </a:t>
            </a:r>
            <a:r>
              <a:rPr sz="3200" spc="-10" dirty="0">
                <a:latin typeface="Carlito"/>
                <a:cs typeface="Carlito"/>
              </a:rPr>
              <a:t>components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are.</a:t>
            </a:r>
            <a:endParaRPr lang="en-US" sz="3200" dirty="0">
              <a:latin typeface="Carlito"/>
              <a:cs typeface="Carlito"/>
            </a:endParaRPr>
          </a:p>
          <a:p>
            <a:pPr marL="355600" marR="123189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4000" dirty="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Note that </a:t>
            </a:r>
            <a:r>
              <a:rPr sz="3200" spc="-15" dirty="0">
                <a:latin typeface="Carlito"/>
                <a:cs typeface="Carlito"/>
              </a:rPr>
              <a:t>software </a:t>
            </a:r>
            <a:r>
              <a:rPr sz="3200" spc="-5" dirty="0">
                <a:latin typeface="Carlito"/>
                <a:cs typeface="Carlito"/>
              </a:rPr>
              <a:t>basically </a:t>
            </a:r>
            <a:r>
              <a:rPr sz="3200" spc="-15" dirty="0">
                <a:latin typeface="Carlito"/>
                <a:cs typeface="Carlito"/>
              </a:rPr>
              <a:t>consists </a:t>
            </a:r>
            <a:r>
              <a:rPr sz="3200" spc="-5" dirty="0">
                <a:latin typeface="Carlito"/>
                <a:cs typeface="Carlito"/>
              </a:rPr>
              <a:t>of 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spc="-10" dirty="0">
                <a:latin typeface="Carlito"/>
                <a:cs typeface="Carlito"/>
              </a:rPr>
              <a:t>(electronically coded instructions), 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not </a:t>
            </a:r>
            <a:r>
              <a:rPr sz="3200" spc="-15" dirty="0">
                <a:latin typeface="Carlito"/>
                <a:cs typeface="Carlito"/>
              </a:rPr>
              <a:t>data. </a:t>
            </a:r>
            <a:r>
              <a:rPr sz="3200" spc="-5" dirty="0">
                <a:latin typeface="Carlito"/>
                <a:cs typeface="Carlito"/>
              </a:rPr>
              <a:t>Hence, </a:t>
            </a:r>
            <a:r>
              <a:rPr sz="3200" spc="-15" dirty="0">
                <a:latin typeface="Carlito"/>
                <a:cs typeface="Carlito"/>
              </a:rPr>
              <a:t>software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spc="-55" dirty="0">
                <a:latin typeface="Carlito"/>
                <a:cs typeface="Carlito"/>
              </a:rPr>
              <a:t>“run”,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20" dirty="0">
                <a:latin typeface="Carlito"/>
                <a:cs typeface="Carlito"/>
              </a:rPr>
              <a:t>data 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35" dirty="0">
                <a:latin typeface="Carlito"/>
                <a:cs typeface="Carlito"/>
              </a:rPr>
              <a:t>“processed”.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0000"/>
            <a:lum/>
          </a:blip>
          <a:srcRect/>
          <a:stretch>
            <a:fillRect l="25000" t="24000" r="2000" b="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4413" y="76276"/>
            <a:ext cx="2557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SOFT</a:t>
            </a:r>
            <a:r>
              <a:rPr spc="-190" dirty="0"/>
              <a:t>W</a:t>
            </a:r>
            <a:r>
              <a:rPr dirty="0"/>
              <a:t>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939545"/>
            <a:ext cx="8468360" cy="53086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260350" indent="-343535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20" dirty="0">
                <a:latin typeface="Carlito"/>
                <a:cs typeface="Carlito"/>
              </a:rPr>
              <a:t>Principally, </a:t>
            </a:r>
            <a:r>
              <a:rPr sz="3200" spc="-15" dirty="0">
                <a:latin typeface="Carlito"/>
                <a:cs typeface="Carlito"/>
              </a:rPr>
              <a:t>software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be classified </a:t>
            </a:r>
            <a:r>
              <a:rPr sz="3200" spc="-20" dirty="0">
                <a:latin typeface="Carlito"/>
                <a:cs typeface="Carlito"/>
              </a:rPr>
              <a:t>into </a:t>
            </a:r>
            <a:r>
              <a:rPr sz="3200" spc="-5" dirty="0">
                <a:latin typeface="Carlito"/>
                <a:cs typeface="Carlito"/>
              </a:rPr>
              <a:t>these  </a:t>
            </a:r>
            <a:r>
              <a:rPr sz="3200" spc="-15" dirty="0">
                <a:latin typeface="Carlito"/>
                <a:cs typeface="Carlito"/>
              </a:rPr>
              <a:t>categories:</a:t>
            </a:r>
            <a:endParaRPr sz="3200" dirty="0">
              <a:latin typeface="Carlito"/>
              <a:cs typeface="Carlito"/>
            </a:endParaRPr>
          </a:p>
          <a:p>
            <a:pPr marL="926465" lvl="1" indent="-457200">
              <a:lnSpc>
                <a:spcPct val="100000"/>
              </a:lnSpc>
              <a:spcBef>
                <a:spcPts val="295"/>
              </a:spcBef>
              <a:buFont typeface="Arial" panose="020B0604020202020204" pitchFamily="34" charset="0"/>
              <a:buChar char="•"/>
              <a:tabLst>
                <a:tab pos="836930" algn="l"/>
                <a:tab pos="837565" algn="l"/>
              </a:tabLst>
            </a:pPr>
            <a:r>
              <a:rPr sz="2800" spc="-25" dirty="0">
                <a:latin typeface="Carlito"/>
                <a:cs typeface="Carlito"/>
              </a:rPr>
              <a:t>System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software</a:t>
            </a:r>
            <a:endParaRPr sz="2800" dirty="0">
              <a:latin typeface="Carlito"/>
              <a:cs typeface="Carlito"/>
            </a:endParaRPr>
          </a:p>
          <a:p>
            <a:pPr marL="926465" lvl="1" indent="-4572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sz="2800" spc="-10" dirty="0">
                <a:latin typeface="Carlito"/>
                <a:cs typeface="Carlito"/>
              </a:rPr>
              <a:t>Applications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software</a:t>
            </a:r>
            <a:endParaRPr sz="2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 dirty="0">
              <a:latin typeface="Carlito"/>
              <a:cs typeface="Carlito"/>
            </a:endParaRPr>
          </a:p>
          <a:p>
            <a:pPr marL="756285" marR="5080">
              <a:lnSpc>
                <a:spcPct val="90000"/>
              </a:lnSpc>
            </a:pPr>
            <a:r>
              <a:rPr sz="2800" spc="-30" dirty="0">
                <a:latin typeface="Carlito"/>
                <a:cs typeface="Carlito"/>
              </a:rPr>
              <a:t>System </a:t>
            </a:r>
            <a:r>
              <a:rPr sz="2800" spc="-15" dirty="0">
                <a:latin typeface="Carlito"/>
                <a:cs typeface="Carlito"/>
              </a:rPr>
              <a:t>software </a:t>
            </a:r>
            <a:r>
              <a:rPr sz="2800" spc="-5" dirty="0">
                <a:latin typeface="Carlito"/>
                <a:cs typeface="Carlito"/>
              </a:rPr>
              <a:t>is a </a:t>
            </a:r>
            <a:r>
              <a:rPr sz="2800" spc="-15" dirty="0">
                <a:latin typeface="Carlito"/>
                <a:cs typeface="Carlito"/>
              </a:rPr>
              <a:t>suite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computer </a:t>
            </a:r>
            <a:r>
              <a:rPr sz="2800" spc="-20" dirty="0">
                <a:latin typeface="Carlito"/>
                <a:cs typeface="Carlito"/>
              </a:rPr>
              <a:t>programs </a:t>
            </a:r>
            <a:r>
              <a:rPr sz="2800" spc="-10" dirty="0">
                <a:latin typeface="Carlito"/>
                <a:cs typeface="Carlito"/>
              </a:rPr>
              <a:t>that 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manage the basic </a:t>
            </a:r>
            <a:r>
              <a:rPr sz="2800" spc="-15" dirty="0">
                <a:latin typeface="Carlito"/>
                <a:cs typeface="Carlito"/>
              </a:rPr>
              <a:t>operations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the  </a:t>
            </a:r>
            <a:r>
              <a:rPr sz="2800" spc="-15" dirty="0">
                <a:latin typeface="Carlito"/>
                <a:cs typeface="Carlito"/>
              </a:rPr>
              <a:t>computer </a:t>
            </a:r>
            <a:r>
              <a:rPr sz="2800" spc="-5" dirty="0">
                <a:latin typeface="Carlito"/>
                <a:cs typeface="Carlito"/>
              </a:rPr>
              <a:t>and also </a:t>
            </a:r>
            <a:r>
              <a:rPr sz="2800" dirty="0">
                <a:latin typeface="Carlito"/>
                <a:cs typeface="Carlito"/>
              </a:rPr>
              <a:t>act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20" dirty="0">
                <a:latin typeface="Carlito"/>
                <a:cs typeface="Carlito"/>
              </a:rPr>
              <a:t>interface </a:t>
            </a:r>
            <a:r>
              <a:rPr sz="2800" spc="-10" dirty="0">
                <a:latin typeface="Carlito"/>
                <a:cs typeface="Carlito"/>
              </a:rPr>
              <a:t>between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user  </a:t>
            </a:r>
            <a:r>
              <a:rPr sz="2800" spc="-5" dirty="0">
                <a:latin typeface="Carlito"/>
                <a:cs typeface="Carlito"/>
              </a:rPr>
              <a:t>and the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45" dirty="0">
                <a:latin typeface="Carlito"/>
                <a:cs typeface="Carlito"/>
              </a:rPr>
              <a:t>computer.</a:t>
            </a:r>
            <a:endParaRPr sz="2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00" dirty="0">
              <a:latin typeface="Carlito"/>
              <a:cs typeface="Carlito"/>
            </a:endParaRPr>
          </a:p>
          <a:p>
            <a:pPr marL="756285" marR="1078230">
              <a:lnSpc>
                <a:spcPts val="3030"/>
              </a:lnSpc>
              <a:spcBef>
                <a:spcPts val="5"/>
              </a:spcBef>
            </a:pPr>
            <a:r>
              <a:rPr sz="2800" spc="-25" dirty="0">
                <a:latin typeface="Carlito"/>
                <a:cs typeface="Carlito"/>
              </a:rPr>
              <a:t>System </a:t>
            </a:r>
            <a:r>
              <a:rPr sz="2800" spc="-15" dirty="0">
                <a:latin typeface="Carlito"/>
                <a:cs typeface="Carlito"/>
              </a:rPr>
              <a:t>software </a:t>
            </a:r>
            <a:r>
              <a:rPr sz="2800" spc="-5" dirty="0">
                <a:latin typeface="Carlito"/>
                <a:cs typeface="Carlito"/>
              </a:rPr>
              <a:t>is also the </a:t>
            </a:r>
            <a:r>
              <a:rPr sz="2800" spc="-20" dirty="0">
                <a:latin typeface="Carlito"/>
                <a:cs typeface="Carlito"/>
              </a:rPr>
              <a:t>platform </a:t>
            </a:r>
            <a:r>
              <a:rPr sz="2800" spc="-5" dirty="0">
                <a:latin typeface="Carlito"/>
                <a:cs typeface="Carlito"/>
              </a:rPr>
              <a:t>on which  </a:t>
            </a:r>
            <a:r>
              <a:rPr sz="2800" spc="-10" dirty="0">
                <a:latin typeface="Carlito"/>
                <a:cs typeface="Carlito"/>
              </a:rPr>
              <a:t>applications </a:t>
            </a:r>
            <a:r>
              <a:rPr sz="2800" spc="-15" dirty="0">
                <a:latin typeface="Carlito"/>
                <a:cs typeface="Carlito"/>
              </a:rPr>
              <a:t>software are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run.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SYSTEM</a:t>
            </a:r>
            <a:r>
              <a:rPr spc="-45" dirty="0"/>
              <a:t> </a:t>
            </a:r>
            <a:r>
              <a:rPr spc="-25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471"/>
            <a:ext cx="7717790" cy="432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Without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10" dirty="0">
                <a:latin typeface="Carlito"/>
                <a:cs typeface="Carlito"/>
              </a:rPr>
              <a:t>software </a:t>
            </a:r>
            <a:r>
              <a:rPr sz="3000" spc="-15" dirty="0">
                <a:latin typeface="Carlito"/>
                <a:cs typeface="Carlito"/>
              </a:rPr>
              <a:t>you won‘t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dirty="0">
                <a:latin typeface="Carlito"/>
                <a:cs typeface="Carlito"/>
              </a:rPr>
              <a:t>able 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run </a:t>
            </a:r>
            <a:r>
              <a:rPr sz="3000" spc="-20" dirty="0">
                <a:latin typeface="Carlito"/>
                <a:cs typeface="Carlito"/>
              </a:rPr>
              <a:t>any </a:t>
            </a:r>
            <a:r>
              <a:rPr sz="3000" spc="-10" dirty="0">
                <a:latin typeface="Carlito"/>
                <a:cs typeface="Carlito"/>
              </a:rPr>
              <a:t>application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software.</a:t>
            </a:r>
            <a:endParaRPr sz="3000" dirty="0">
              <a:latin typeface="Carlito"/>
              <a:cs typeface="Carlito"/>
            </a:endParaRPr>
          </a:p>
          <a:p>
            <a:pPr marL="355600" marR="6731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While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are </a:t>
            </a:r>
            <a:r>
              <a:rPr sz="3000" spc="-5" dirty="0">
                <a:latin typeface="Carlito"/>
                <a:cs typeface="Carlito"/>
              </a:rPr>
              <a:t>using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dirty="0">
                <a:latin typeface="Carlito"/>
                <a:cs typeface="Carlito"/>
              </a:rPr>
              <a:t>running  </a:t>
            </a:r>
            <a:r>
              <a:rPr sz="3000" spc="-5" dirty="0">
                <a:latin typeface="Carlito"/>
                <a:cs typeface="Carlito"/>
              </a:rPr>
              <a:t>application </a:t>
            </a:r>
            <a:r>
              <a:rPr sz="3000" spc="-10" dirty="0">
                <a:latin typeface="Carlito"/>
                <a:cs typeface="Carlito"/>
              </a:rPr>
              <a:t>software,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10" dirty="0">
                <a:latin typeface="Carlito"/>
                <a:cs typeface="Carlito"/>
              </a:rPr>
              <a:t>software </a:t>
            </a:r>
            <a:r>
              <a:rPr sz="3000" dirty="0">
                <a:latin typeface="Carlito"/>
                <a:cs typeface="Carlito"/>
              </a:rPr>
              <a:t>is in  the </a:t>
            </a:r>
            <a:r>
              <a:rPr sz="3000" spc="-10" dirty="0">
                <a:latin typeface="Carlito"/>
                <a:cs typeface="Carlito"/>
              </a:rPr>
              <a:t>background </a:t>
            </a:r>
            <a:r>
              <a:rPr sz="3000" dirty="0">
                <a:latin typeface="Carlito"/>
                <a:cs typeface="Carlito"/>
              </a:rPr>
              <a:t>making </a:t>
            </a:r>
            <a:r>
              <a:rPr sz="3000" spc="-15" dirty="0">
                <a:latin typeface="Carlito"/>
                <a:cs typeface="Carlito"/>
              </a:rPr>
              <a:t>sure </a:t>
            </a:r>
            <a:r>
              <a:rPr sz="3000" spc="-5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hardware  </a:t>
            </a:r>
            <a:r>
              <a:rPr sz="3000" spc="-5" dirty="0">
                <a:latin typeface="Carlito"/>
                <a:cs typeface="Carlito"/>
              </a:rPr>
              <a:t>carries out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tasks you want </a:t>
            </a:r>
            <a:r>
              <a:rPr sz="3000" spc="-10" dirty="0">
                <a:latin typeface="Carlito"/>
                <a:cs typeface="Carlito"/>
              </a:rPr>
              <a:t>to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perform.</a:t>
            </a:r>
            <a:endParaRPr sz="3000" dirty="0">
              <a:latin typeface="Carlito"/>
              <a:cs typeface="Carlito"/>
            </a:endParaRPr>
          </a:p>
          <a:p>
            <a:pPr marL="355600" marR="21717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Because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10" dirty="0">
                <a:latin typeface="Carlito"/>
                <a:cs typeface="Carlito"/>
              </a:rPr>
              <a:t>software </a:t>
            </a:r>
            <a:r>
              <a:rPr sz="3000" dirty="0">
                <a:latin typeface="Carlito"/>
                <a:cs typeface="Carlito"/>
              </a:rPr>
              <a:t>is the </a:t>
            </a:r>
            <a:r>
              <a:rPr sz="3000" spc="-5" dirty="0">
                <a:latin typeface="Carlito"/>
                <a:cs typeface="Carlito"/>
              </a:rPr>
              <a:t>closest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5" dirty="0">
                <a:latin typeface="Carlito"/>
                <a:cs typeface="Carlito"/>
              </a:rPr>
              <a:t>hardware, </a:t>
            </a:r>
            <a:r>
              <a:rPr sz="3000" dirty="0">
                <a:latin typeface="Carlito"/>
                <a:cs typeface="Carlito"/>
              </a:rPr>
              <a:t>it </a:t>
            </a:r>
            <a:r>
              <a:rPr sz="3000" spc="-10" dirty="0">
                <a:latin typeface="Carlito"/>
                <a:cs typeface="Carlito"/>
              </a:rPr>
              <a:t>must </a:t>
            </a:r>
            <a:r>
              <a:rPr sz="3000" spc="-5" dirty="0">
                <a:latin typeface="Carlito"/>
                <a:cs typeface="Carlito"/>
              </a:rPr>
              <a:t>handle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number of </a:t>
            </a:r>
            <a:r>
              <a:rPr sz="3000" spc="-10" dirty="0">
                <a:latin typeface="Carlito"/>
                <a:cs typeface="Carlito"/>
              </a:rPr>
              <a:t>difficult 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tedious </a:t>
            </a:r>
            <a:r>
              <a:rPr sz="3000" spc="-15" dirty="0">
                <a:latin typeface="Carlito"/>
                <a:cs typeface="Carlito"/>
              </a:rPr>
              <a:t>tasks </a:t>
            </a:r>
            <a:r>
              <a:rPr sz="3000" spc="-5" dirty="0">
                <a:latin typeface="Carlito"/>
                <a:cs typeface="Carlito"/>
              </a:rPr>
              <a:t>that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include:</a:t>
            </a:r>
            <a:endParaRPr sz="3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SYSTEM</a:t>
            </a:r>
            <a:r>
              <a:rPr spc="-45" dirty="0"/>
              <a:t> </a:t>
            </a:r>
            <a:r>
              <a:rPr spc="-25" dirty="0"/>
              <a:t>SOFTWARE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00786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/>
              <a:t>a) </a:t>
            </a:r>
            <a:r>
              <a:rPr sz="3200" spc="-25" dirty="0"/>
              <a:t>System </a:t>
            </a:r>
            <a:r>
              <a:rPr sz="3200" spc="-10" dirty="0"/>
              <a:t>Initialization: Initialization process  </a:t>
            </a:r>
            <a:r>
              <a:rPr sz="3200" spc="-5" dirty="0"/>
              <a:t>that </a:t>
            </a:r>
            <a:r>
              <a:rPr sz="3200" spc="-30" dirty="0"/>
              <a:t>takes </a:t>
            </a:r>
            <a:r>
              <a:rPr sz="3200" spc="-5" dirty="0"/>
              <a:t>place </a:t>
            </a:r>
            <a:r>
              <a:rPr sz="3200" spc="5" dirty="0"/>
              <a:t>on </a:t>
            </a:r>
            <a:r>
              <a:rPr sz="3200" spc="-10" dirty="0"/>
              <a:t>switching </a:t>
            </a:r>
            <a:r>
              <a:rPr sz="3200" spc="-5" dirty="0"/>
              <a:t>on </a:t>
            </a:r>
            <a:r>
              <a:rPr sz="3200" dirty="0"/>
              <a:t>the </a:t>
            </a:r>
            <a:r>
              <a:rPr sz="3200" spc="-10" dirty="0"/>
              <a:t>computer  </a:t>
            </a:r>
            <a:r>
              <a:rPr sz="3200" spc="-25" dirty="0"/>
              <a:t>system.</a:t>
            </a:r>
            <a:endParaRPr sz="3200" dirty="0"/>
          </a:p>
          <a:p>
            <a:pPr marL="355600" marR="198755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5" dirty="0"/>
              <a:t>At </a:t>
            </a:r>
            <a:r>
              <a:rPr sz="3200" dirty="0"/>
              <a:t>this </a:t>
            </a:r>
            <a:r>
              <a:rPr sz="3200" spc="-10" dirty="0"/>
              <a:t>point, </a:t>
            </a:r>
            <a:r>
              <a:rPr sz="3200" dirty="0"/>
              <a:t>the </a:t>
            </a:r>
            <a:r>
              <a:rPr sz="3200" spc="-30" dirty="0"/>
              <a:t>system </a:t>
            </a:r>
            <a:r>
              <a:rPr sz="3200" spc="-10" dirty="0"/>
              <a:t>software </a:t>
            </a:r>
            <a:r>
              <a:rPr sz="3200" spc="-20" dirty="0"/>
              <a:t>stores </a:t>
            </a:r>
            <a:r>
              <a:rPr sz="3200" dirty="0"/>
              <a:t>the  </a:t>
            </a:r>
            <a:r>
              <a:rPr sz="3200" spc="-15" dirty="0"/>
              <a:t>hardware </a:t>
            </a:r>
            <a:r>
              <a:rPr sz="3200" spc="-10" dirty="0"/>
              <a:t>configurations, </a:t>
            </a:r>
            <a:r>
              <a:rPr sz="3200" spc="-30" dirty="0"/>
              <a:t>for </a:t>
            </a:r>
            <a:r>
              <a:rPr sz="3200" spc="-15" dirty="0"/>
              <a:t>example </a:t>
            </a:r>
            <a:r>
              <a:rPr sz="3200" dirty="0"/>
              <a:t>type </a:t>
            </a:r>
            <a:r>
              <a:rPr sz="3200" spc="5" dirty="0"/>
              <a:t>of  </a:t>
            </a:r>
            <a:r>
              <a:rPr sz="3200" spc="-5" dirty="0"/>
              <a:t>monitor </a:t>
            </a:r>
            <a:r>
              <a:rPr sz="3200" dirty="0"/>
              <a:t>and </a:t>
            </a:r>
            <a:r>
              <a:rPr sz="3200" spc="-5" dirty="0"/>
              <a:t>amount of </a:t>
            </a:r>
            <a:r>
              <a:rPr sz="3200" spc="-10" dirty="0"/>
              <a:t>internal </a:t>
            </a:r>
            <a:r>
              <a:rPr sz="3200" dirty="0"/>
              <a:t>memory  </a:t>
            </a:r>
            <a:r>
              <a:rPr sz="3200" spc="-10" dirty="0"/>
              <a:t>available, </a:t>
            </a:r>
            <a:r>
              <a:rPr sz="3200" dirty="0"/>
              <a:t>and loads the </a:t>
            </a:r>
            <a:r>
              <a:rPr sz="3200" spc="-10" dirty="0"/>
              <a:t>operating</a:t>
            </a:r>
            <a:r>
              <a:rPr sz="3200" spc="20" dirty="0"/>
              <a:t> </a:t>
            </a:r>
            <a:r>
              <a:rPr sz="3200" spc="-25" dirty="0"/>
              <a:t>system.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SYSTEM</a:t>
            </a:r>
            <a:r>
              <a:rPr spc="-45" dirty="0"/>
              <a:t> </a:t>
            </a:r>
            <a:r>
              <a:rPr spc="-25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7922259" cy="44615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14732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b) </a:t>
            </a:r>
            <a:r>
              <a:rPr sz="3000" dirty="0">
                <a:latin typeface="Carlito"/>
                <a:cs typeface="Carlito"/>
              </a:rPr>
              <a:t>Managing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10" dirty="0">
                <a:latin typeface="Carlito"/>
                <a:cs typeface="Carlito"/>
              </a:rPr>
              <a:t>Resources: </a:t>
            </a: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spc="-10" dirty="0">
                <a:latin typeface="Carlito"/>
                <a:cs typeface="Carlito"/>
              </a:rPr>
              <a:t>task entails  </a:t>
            </a:r>
            <a:r>
              <a:rPr sz="3000" spc="-15" dirty="0">
                <a:latin typeface="Carlito"/>
                <a:cs typeface="Carlito"/>
              </a:rPr>
              <a:t>controlling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20" dirty="0">
                <a:latin typeface="Carlito"/>
                <a:cs typeface="Carlito"/>
              </a:rPr>
              <a:t>execution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application  </a:t>
            </a:r>
            <a:r>
              <a:rPr sz="3000" spc="-10" dirty="0">
                <a:latin typeface="Carlito"/>
                <a:cs typeface="Carlito"/>
              </a:rPr>
              <a:t>software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coordinating how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various  </a:t>
            </a:r>
            <a:r>
              <a:rPr sz="3000" spc="-15" dirty="0">
                <a:latin typeface="Carlito"/>
                <a:cs typeface="Carlito"/>
              </a:rPr>
              <a:t>peripherals </a:t>
            </a:r>
            <a:r>
              <a:rPr sz="3000" spc="-10" dirty="0">
                <a:latin typeface="Carlito"/>
                <a:cs typeface="Carlito"/>
              </a:rPr>
              <a:t>work</a:t>
            </a:r>
            <a:r>
              <a:rPr sz="3000" spc="30" dirty="0">
                <a:latin typeface="Carlito"/>
                <a:cs typeface="Carlito"/>
              </a:rPr>
              <a:t> </a:t>
            </a:r>
            <a:r>
              <a:rPr sz="3000" spc="-40" dirty="0">
                <a:latin typeface="Carlito"/>
                <a:cs typeface="Carlito"/>
              </a:rPr>
              <a:t>together.</a:t>
            </a:r>
            <a:endParaRPr sz="3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800" dirty="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c) </a:t>
            </a:r>
            <a:r>
              <a:rPr sz="3000" spc="-5" dirty="0">
                <a:latin typeface="Carlito"/>
                <a:cs typeface="Carlito"/>
              </a:rPr>
              <a:t>Utilities: These </a:t>
            </a:r>
            <a:r>
              <a:rPr sz="3000" spc="-15" dirty="0">
                <a:latin typeface="Carlito"/>
                <a:cs typeface="Carlito"/>
              </a:rPr>
              <a:t>are subprograms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spc="-5" dirty="0">
                <a:latin typeface="Carlito"/>
                <a:cs typeface="Carlito"/>
              </a:rPr>
              <a:t>manage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interface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20" dirty="0">
                <a:latin typeface="Carlito"/>
                <a:cs typeface="Carlito"/>
              </a:rPr>
              <a:t>storage </a:t>
            </a:r>
            <a:r>
              <a:rPr sz="3000" spc="-5" dirty="0">
                <a:latin typeface="Carlito"/>
                <a:cs typeface="Carlito"/>
              </a:rPr>
              <a:t>devices </a:t>
            </a:r>
            <a:r>
              <a:rPr sz="3000" spc="-30" dirty="0">
                <a:latin typeface="Carlito"/>
                <a:cs typeface="Carlito"/>
              </a:rPr>
              <a:t>like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hard </a:t>
            </a:r>
            <a:r>
              <a:rPr sz="3000" spc="-5" dirty="0">
                <a:latin typeface="Carlito"/>
                <a:cs typeface="Carlito"/>
              </a:rPr>
              <a:t>disk  </a:t>
            </a:r>
            <a:r>
              <a:rPr sz="3000" dirty="0">
                <a:latin typeface="Carlito"/>
                <a:cs typeface="Carlito"/>
              </a:rPr>
              <a:t>and the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CD-ROM.</a:t>
            </a:r>
            <a:endParaRPr sz="3000" dirty="0">
              <a:latin typeface="Carlito"/>
              <a:cs typeface="Carlito"/>
            </a:endParaRPr>
          </a:p>
          <a:p>
            <a:pPr marL="355600" marR="422275" indent="-342900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They </a:t>
            </a:r>
            <a:r>
              <a:rPr sz="3000" dirty="0">
                <a:latin typeface="Carlito"/>
                <a:cs typeface="Carlito"/>
              </a:rPr>
              <a:t>also </a:t>
            </a:r>
            <a:r>
              <a:rPr sz="3000" spc="-5" dirty="0">
                <a:latin typeface="Carlito"/>
                <a:cs typeface="Carlito"/>
              </a:rPr>
              <a:t>handle such </a:t>
            </a:r>
            <a:r>
              <a:rPr sz="3000" spc="-10" dirty="0">
                <a:latin typeface="Carlito"/>
                <a:cs typeface="Carlito"/>
              </a:rPr>
              <a:t>tasks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10" dirty="0">
                <a:latin typeface="Carlito"/>
                <a:cs typeface="Carlito"/>
              </a:rPr>
              <a:t>file </a:t>
            </a:r>
            <a:r>
              <a:rPr sz="3000" spc="-20" dirty="0">
                <a:latin typeface="Carlito"/>
                <a:cs typeface="Carlito"/>
              </a:rPr>
              <a:t>storage </a:t>
            </a:r>
            <a:r>
              <a:rPr sz="3000" dirty="0">
                <a:latin typeface="Carlito"/>
                <a:cs typeface="Carlito"/>
              </a:rPr>
              <a:t>and  </a:t>
            </a:r>
            <a:r>
              <a:rPr sz="3000" spc="-15" dirty="0">
                <a:latin typeface="Carlito"/>
                <a:cs typeface="Carlito"/>
              </a:rPr>
              <a:t>retrievals, </a:t>
            </a:r>
            <a:r>
              <a:rPr sz="3000" spc="-10" dirty="0">
                <a:latin typeface="Carlito"/>
                <a:cs typeface="Carlito"/>
              </a:rPr>
              <a:t>file </a:t>
            </a:r>
            <a:r>
              <a:rPr sz="3000" spc="-5" dirty="0">
                <a:latin typeface="Carlito"/>
                <a:cs typeface="Carlito"/>
              </a:rPr>
              <a:t>copying,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disk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formatting.</a:t>
            </a:r>
            <a:endParaRPr sz="3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SYSTEM</a:t>
            </a:r>
            <a:r>
              <a:rPr spc="-45" dirty="0"/>
              <a:t> </a:t>
            </a:r>
            <a:r>
              <a:rPr spc="-25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9178"/>
            <a:ext cx="7677784" cy="42214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62230" indent="-342900">
              <a:lnSpc>
                <a:spcPct val="9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d) Handling </a:t>
            </a:r>
            <a:r>
              <a:rPr sz="3200" dirty="0">
                <a:latin typeface="Carlito"/>
                <a:cs typeface="Carlito"/>
              </a:rPr>
              <a:t>Input / </a:t>
            </a:r>
            <a:r>
              <a:rPr sz="3200" spc="-5" dirty="0">
                <a:latin typeface="Carlito"/>
                <a:cs typeface="Carlito"/>
              </a:rPr>
              <a:t>Output: This </a:t>
            </a:r>
            <a:r>
              <a:rPr sz="3200" spc="-10" dirty="0">
                <a:latin typeface="Carlito"/>
                <a:cs typeface="Carlito"/>
              </a:rPr>
              <a:t>entails  </a:t>
            </a:r>
            <a:r>
              <a:rPr sz="3200" spc="-5" dirty="0">
                <a:latin typeface="Carlito"/>
                <a:cs typeface="Carlito"/>
              </a:rPr>
              <a:t>responsibilities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dirty="0">
                <a:latin typeface="Carlito"/>
                <a:cs typeface="Carlito"/>
              </a:rPr>
              <a:t>input and </a:t>
            </a:r>
            <a:r>
              <a:rPr sz="3200" spc="-5" dirty="0">
                <a:latin typeface="Carlito"/>
                <a:cs typeface="Carlito"/>
              </a:rPr>
              <a:t>output such </a:t>
            </a:r>
            <a:r>
              <a:rPr sz="3200" dirty="0">
                <a:latin typeface="Carlito"/>
                <a:cs typeface="Carlito"/>
              </a:rPr>
              <a:t>as  </a:t>
            </a:r>
            <a:r>
              <a:rPr sz="3200" spc="-5" dirty="0">
                <a:latin typeface="Carlito"/>
                <a:cs typeface="Carlito"/>
              </a:rPr>
              <a:t>reading </a:t>
            </a:r>
            <a:r>
              <a:rPr sz="3200" spc="-15" dirty="0">
                <a:latin typeface="Carlito"/>
                <a:cs typeface="Carlito"/>
              </a:rPr>
              <a:t>characters from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25" dirty="0">
                <a:latin typeface="Carlito"/>
                <a:cs typeface="Carlito"/>
              </a:rPr>
              <a:t>keyboard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10" dirty="0">
                <a:latin typeface="Carlito"/>
                <a:cs typeface="Carlito"/>
              </a:rPr>
              <a:t>displaying </a:t>
            </a:r>
            <a:r>
              <a:rPr sz="3200" dirty="0">
                <a:latin typeface="Carlito"/>
                <a:cs typeface="Carlito"/>
              </a:rPr>
              <a:t>them on the</a:t>
            </a:r>
            <a:r>
              <a:rPr sz="3200" spc="5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screen.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4050" dirty="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As a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60" dirty="0">
                <a:latin typeface="Carlito"/>
                <a:cs typeface="Carlito"/>
              </a:rPr>
              <a:t>user,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dirty="0">
                <a:latin typeface="Carlito"/>
                <a:cs typeface="Carlito"/>
              </a:rPr>
              <a:t>will </a:t>
            </a:r>
            <a:r>
              <a:rPr sz="3200" spc="-20" dirty="0">
                <a:latin typeface="Carlito"/>
                <a:cs typeface="Carlito"/>
              </a:rPr>
              <a:t>have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use 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spc="-10" dirty="0">
                <a:latin typeface="Carlito"/>
                <a:cs typeface="Carlito"/>
              </a:rPr>
              <a:t>software, </a:t>
            </a:r>
            <a:r>
              <a:rPr sz="3200" dirty="0">
                <a:latin typeface="Carlito"/>
                <a:cs typeface="Carlito"/>
              </a:rPr>
              <a:t>it is </a:t>
            </a:r>
            <a:r>
              <a:rPr sz="3200" spc="-20" dirty="0">
                <a:latin typeface="Carlito"/>
                <a:cs typeface="Carlito"/>
              </a:rPr>
              <a:t>therefore </a:t>
            </a:r>
            <a:r>
              <a:rPr sz="3200" spc="-5" dirty="0">
                <a:latin typeface="Carlito"/>
                <a:cs typeface="Carlito"/>
              </a:rPr>
              <a:t>important </a:t>
            </a:r>
            <a:r>
              <a:rPr sz="3200" spc="-20" dirty="0">
                <a:latin typeface="Carlito"/>
                <a:cs typeface="Carlito"/>
              </a:rPr>
              <a:t>to  </a:t>
            </a:r>
            <a:r>
              <a:rPr sz="3200" spc="-15" dirty="0">
                <a:latin typeface="Carlito"/>
                <a:cs typeface="Carlito"/>
              </a:rPr>
              <a:t>understand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role 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20" dirty="0">
                <a:latin typeface="Carlito"/>
                <a:cs typeface="Carlito"/>
              </a:rPr>
              <a:t>plays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10" dirty="0">
                <a:latin typeface="Carlito"/>
                <a:cs typeface="Carlito"/>
              </a:rPr>
              <a:t>computer  </a:t>
            </a:r>
            <a:r>
              <a:rPr sz="3200" spc="-25" dirty="0">
                <a:latin typeface="Carlito"/>
                <a:cs typeface="Carlito"/>
              </a:rPr>
              <a:t>system.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SYSTEM</a:t>
            </a:r>
            <a:r>
              <a:rPr spc="-45" dirty="0"/>
              <a:t> </a:t>
            </a:r>
            <a:r>
              <a:rPr spc="-25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3385" y="1242929"/>
            <a:ext cx="8317230" cy="47044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rlito"/>
                <a:cs typeface="Carlito"/>
              </a:rPr>
              <a:t>System </a:t>
            </a:r>
            <a:r>
              <a:rPr sz="3200" spc="-15" dirty="0">
                <a:latin typeface="Carlito"/>
                <a:cs typeface="Carlito"/>
              </a:rPr>
              <a:t>software </a:t>
            </a:r>
            <a:r>
              <a:rPr sz="3200" spc="-5" dirty="0">
                <a:latin typeface="Carlito"/>
                <a:cs typeface="Carlito"/>
              </a:rPr>
              <a:t>comprises </a:t>
            </a:r>
            <a:r>
              <a:rPr sz="3200" dirty="0">
                <a:latin typeface="Carlito"/>
                <a:cs typeface="Carlito"/>
              </a:rPr>
              <a:t>of a </a:t>
            </a:r>
            <a:r>
              <a:rPr sz="3200" spc="-15" dirty="0">
                <a:latin typeface="Carlito"/>
                <a:cs typeface="Carlito"/>
              </a:rPr>
              <a:t>large </a:t>
            </a:r>
            <a:r>
              <a:rPr sz="3200" spc="-5" dirty="0">
                <a:latin typeface="Carlito"/>
                <a:cs typeface="Carlito"/>
              </a:rPr>
              <a:t>number of 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5" dirty="0">
                <a:latin typeface="Carlito"/>
                <a:cs typeface="Carlito"/>
              </a:rPr>
              <a:t>units </a:t>
            </a:r>
            <a:r>
              <a:rPr sz="3200" spc="-10" dirty="0">
                <a:latin typeface="Carlito"/>
                <a:cs typeface="Carlito"/>
              </a:rPr>
              <a:t>that can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0" dirty="0">
                <a:latin typeface="Carlito"/>
                <a:cs typeface="Carlito"/>
              </a:rPr>
              <a:t>grouped </a:t>
            </a:r>
            <a:r>
              <a:rPr sz="3200" spc="-25" dirty="0">
                <a:latin typeface="Carlito"/>
                <a:cs typeface="Carlito"/>
              </a:rPr>
              <a:t>into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5" dirty="0">
                <a:latin typeface="Carlito"/>
                <a:cs typeface="Carlito"/>
              </a:rPr>
              <a:t>following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categories:</a:t>
            </a:r>
            <a:endParaRPr lang="en-US" sz="3200" spc="-15" dirty="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dirty="0">
              <a:latin typeface="Carlito"/>
              <a:cs typeface="Carlito"/>
            </a:endParaRPr>
          </a:p>
          <a:p>
            <a:pPr marL="1041400" marR="768985" lvl="1" indent="-571500">
              <a:buFont typeface="+mj-lt"/>
              <a:buAutoNum type="romanUcPeriod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Operating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dirty="0">
                <a:latin typeface="Carlito"/>
                <a:cs typeface="Carlito"/>
              </a:rPr>
              <a:t>and BIOS </a:t>
            </a:r>
            <a:r>
              <a:rPr sz="3200" spc="-5" dirty="0">
                <a:latin typeface="Carlito"/>
                <a:cs typeface="Carlito"/>
              </a:rPr>
              <a:t>(Basic </a:t>
            </a:r>
            <a:r>
              <a:rPr sz="3200" dirty="0">
                <a:latin typeface="Carlito"/>
                <a:cs typeface="Carlito"/>
              </a:rPr>
              <a:t>Input /  </a:t>
            </a:r>
            <a:r>
              <a:rPr sz="3200" spc="-5" dirty="0">
                <a:latin typeface="Carlito"/>
                <a:cs typeface="Carlito"/>
              </a:rPr>
              <a:t>Output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system)</a:t>
            </a:r>
            <a:endParaRPr sz="3200" dirty="0">
              <a:latin typeface="Carlito"/>
              <a:cs typeface="Carlito"/>
            </a:endParaRPr>
          </a:p>
          <a:p>
            <a:pPr marL="1041400" lvl="1" indent="-571500">
              <a:spcBef>
                <a:spcPts val="770"/>
              </a:spcBef>
              <a:buFont typeface="+mj-lt"/>
              <a:buAutoNum type="romanUcPeriod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Device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Drivers</a:t>
            </a:r>
            <a:endParaRPr sz="3200" dirty="0">
              <a:latin typeface="Carlito"/>
              <a:cs typeface="Carlito"/>
            </a:endParaRPr>
          </a:p>
          <a:p>
            <a:pPr marL="1041400" lvl="1" indent="-571500">
              <a:spcBef>
                <a:spcPts val="770"/>
              </a:spcBef>
              <a:buFont typeface="+mj-lt"/>
              <a:buAutoNum type="romanUcPeriod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Utility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programs</a:t>
            </a:r>
            <a:endParaRPr sz="3200" dirty="0">
              <a:latin typeface="Carlito"/>
              <a:cs typeface="Carlito"/>
            </a:endParaRPr>
          </a:p>
          <a:p>
            <a:pPr marL="1041400" lvl="1" indent="-571500">
              <a:spcBef>
                <a:spcPts val="770"/>
              </a:spcBef>
              <a:buFont typeface="+mj-lt"/>
              <a:buAutoNum type="romanUcPeriod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Language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Translators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0000"/>
            <a:lum/>
          </a:blip>
          <a:srcRect/>
          <a:stretch>
            <a:fillRect l="1000" t="13000" r="-37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336541" y="6556959"/>
            <a:ext cx="4718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K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umasi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3010" y="187197"/>
            <a:ext cx="40328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Operating</a:t>
            </a:r>
            <a:r>
              <a:rPr spc="-90" dirty="0"/>
              <a:t> </a:t>
            </a:r>
            <a:r>
              <a:rPr spc="-3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7500" y="1232153"/>
            <a:ext cx="8355965" cy="535813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68300" marR="17780" indent="-343535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68300" algn="l"/>
                <a:tab pos="3689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system, </a:t>
            </a:r>
            <a:r>
              <a:rPr sz="3000" spc="-5" dirty="0">
                <a:latin typeface="Carlito"/>
                <a:cs typeface="Carlito"/>
              </a:rPr>
              <a:t>popularly </a:t>
            </a:r>
            <a:r>
              <a:rPr sz="3000" spc="-25" dirty="0">
                <a:latin typeface="Carlito"/>
                <a:cs typeface="Carlito"/>
              </a:rPr>
              <a:t>referred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5" dirty="0">
                <a:latin typeface="Carlito"/>
                <a:cs typeface="Carlito"/>
              </a:rPr>
              <a:t>OS </a:t>
            </a:r>
            <a:r>
              <a:rPr sz="3000" dirty="0">
                <a:latin typeface="Carlito"/>
                <a:cs typeface="Carlito"/>
              </a:rPr>
              <a:t>is  the </a:t>
            </a:r>
            <a:r>
              <a:rPr sz="3000" spc="-10" dirty="0">
                <a:latin typeface="Carlito"/>
                <a:cs typeface="Carlito"/>
              </a:rPr>
              <a:t>most important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15" dirty="0">
                <a:latin typeface="Carlito"/>
                <a:cs typeface="Carlito"/>
              </a:rPr>
              <a:t>software  </a:t>
            </a:r>
            <a:r>
              <a:rPr sz="3000" spc="-10" dirty="0">
                <a:latin typeface="Carlito"/>
                <a:cs typeface="Carlito"/>
              </a:rPr>
              <a:t>components.</a:t>
            </a:r>
            <a:endParaRPr sz="3000" dirty="0">
              <a:latin typeface="Carlito"/>
              <a:cs typeface="Carlito"/>
            </a:endParaRPr>
          </a:p>
          <a:p>
            <a:pPr marL="368300" indent="-343535">
              <a:lnSpc>
                <a:spcPts val="3420"/>
              </a:lnSpc>
              <a:spcBef>
                <a:spcPts val="315"/>
              </a:spcBef>
              <a:buFont typeface="Arial"/>
              <a:buChar char="•"/>
              <a:tabLst>
                <a:tab pos="368300" algn="l"/>
                <a:tab pos="3689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10" dirty="0">
                <a:latin typeface="Carlito"/>
                <a:cs typeface="Carlito"/>
              </a:rPr>
              <a:t>can be described </a:t>
            </a:r>
            <a:r>
              <a:rPr sz="3000" dirty="0">
                <a:latin typeface="Carlito"/>
                <a:cs typeface="Carlito"/>
              </a:rPr>
              <a:t>as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the</a:t>
            </a:r>
          </a:p>
          <a:p>
            <a:pPr marL="368300">
              <a:lnSpc>
                <a:spcPts val="3420"/>
              </a:lnSpc>
            </a:pPr>
            <a:r>
              <a:rPr sz="3000" i="1" spc="-15" dirty="0">
                <a:latin typeface="Carlito"/>
                <a:cs typeface="Carlito"/>
              </a:rPr>
              <a:t>intelligence </a:t>
            </a:r>
            <a:r>
              <a:rPr sz="3000" i="1" spc="-5" dirty="0">
                <a:latin typeface="Carlito"/>
                <a:cs typeface="Carlito"/>
              </a:rPr>
              <a:t>of </a:t>
            </a:r>
            <a:r>
              <a:rPr sz="3000" i="1" dirty="0">
                <a:latin typeface="Carlito"/>
                <a:cs typeface="Carlito"/>
              </a:rPr>
              <a:t>the</a:t>
            </a:r>
            <a:r>
              <a:rPr sz="3000" i="1" spc="-5" dirty="0">
                <a:latin typeface="Carlito"/>
                <a:cs typeface="Carlito"/>
              </a:rPr>
              <a:t> </a:t>
            </a:r>
            <a:r>
              <a:rPr sz="3000" spc="-45" dirty="0">
                <a:latin typeface="Carlito"/>
                <a:cs typeface="Carlito"/>
              </a:rPr>
              <a:t>computer.</a:t>
            </a:r>
            <a:endParaRPr sz="3000" dirty="0">
              <a:latin typeface="Carlito"/>
              <a:cs typeface="Carlito"/>
            </a:endParaRPr>
          </a:p>
          <a:p>
            <a:pPr marL="368300" marR="78740" indent="-343535" algn="just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68935" algn="l"/>
              </a:tabLst>
            </a:pPr>
            <a:r>
              <a:rPr sz="3000" dirty="0">
                <a:latin typeface="Carlito"/>
                <a:cs typeface="Carlito"/>
              </a:rPr>
              <a:t>All the </a:t>
            </a:r>
            <a:r>
              <a:rPr sz="3000" spc="-25" dirty="0">
                <a:latin typeface="Carlito"/>
                <a:cs typeface="Carlito"/>
              </a:rPr>
              <a:t>“common </a:t>
            </a:r>
            <a:r>
              <a:rPr sz="3000" spc="-5" dirty="0">
                <a:latin typeface="Carlito"/>
                <a:cs typeface="Carlito"/>
              </a:rPr>
              <a:t>sense”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spc="-15" dirty="0">
                <a:latin typeface="Carlito"/>
                <a:cs typeface="Carlito"/>
              </a:rPr>
              <a:t>exhibits </a:t>
            </a:r>
            <a:r>
              <a:rPr sz="3000" dirty="0">
                <a:latin typeface="Carlito"/>
                <a:cs typeface="Carlito"/>
              </a:rPr>
              <a:t>is  </a:t>
            </a:r>
            <a:r>
              <a:rPr sz="3000" spc="-5" dirty="0">
                <a:latin typeface="Carlito"/>
                <a:cs typeface="Carlito"/>
              </a:rPr>
              <a:t>due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30" dirty="0">
                <a:latin typeface="Carlito"/>
                <a:cs typeface="Carlito"/>
              </a:rPr>
              <a:t>system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spc="-5" dirty="0">
                <a:latin typeface="Carlito"/>
                <a:cs typeface="Carlito"/>
              </a:rPr>
              <a:t>runs </a:t>
            </a:r>
            <a:r>
              <a:rPr sz="3000" dirty="0">
                <a:latin typeface="Carlito"/>
                <a:cs typeface="Carlito"/>
              </a:rPr>
              <a:t>it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dirty="0">
                <a:latin typeface="Carlito"/>
                <a:cs typeface="Carlito"/>
              </a:rPr>
              <a:t>runs </a:t>
            </a:r>
            <a:r>
              <a:rPr sz="3000" spc="-5" dirty="0">
                <a:latin typeface="Carlito"/>
                <a:cs typeface="Carlito"/>
              </a:rPr>
              <a:t>on  </a:t>
            </a:r>
            <a:r>
              <a:rPr sz="3000" dirty="0">
                <a:latin typeface="Carlito"/>
                <a:cs typeface="Carlito"/>
              </a:rPr>
              <a:t>it.</a:t>
            </a:r>
          </a:p>
          <a:p>
            <a:pPr marL="368300" marR="56515" indent="-343535" algn="just">
              <a:lnSpc>
                <a:spcPts val="3240"/>
              </a:lnSpc>
              <a:spcBef>
                <a:spcPts val="725"/>
              </a:spcBef>
              <a:buFont typeface="Arial"/>
              <a:buChar char="•"/>
              <a:tabLst>
                <a:tab pos="368935" algn="l"/>
              </a:tabLst>
            </a:pPr>
            <a:r>
              <a:rPr sz="3000" dirty="0">
                <a:latin typeface="Carlito"/>
                <a:cs typeface="Carlito"/>
              </a:rPr>
              <a:t>It </a:t>
            </a:r>
            <a:r>
              <a:rPr sz="3000" spc="-5" dirty="0">
                <a:latin typeface="Carlito"/>
                <a:cs typeface="Carlito"/>
              </a:rPr>
              <a:t>serves </a:t>
            </a:r>
            <a:r>
              <a:rPr sz="3000" dirty="0">
                <a:latin typeface="Carlito"/>
                <a:cs typeface="Carlito"/>
              </a:rPr>
              <a:t>as the </a:t>
            </a:r>
            <a:r>
              <a:rPr sz="3000" spc="-20" dirty="0">
                <a:latin typeface="Carlito"/>
                <a:cs typeface="Carlito"/>
              </a:rPr>
              <a:t>interface </a:t>
            </a:r>
            <a:r>
              <a:rPr sz="3000" spc="-10" dirty="0">
                <a:latin typeface="Carlito"/>
                <a:cs typeface="Carlito"/>
              </a:rPr>
              <a:t>between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user </a:t>
            </a:r>
            <a:r>
              <a:rPr sz="3000" dirty="0">
                <a:latin typeface="Carlito"/>
                <a:cs typeface="Carlito"/>
              </a:rPr>
              <a:t>and the  </a:t>
            </a:r>
            <a:r>
              <a:rPr sz="3000" spc="-5" dirty="0">
                <a:latin typeface="Carlito"/>
                <a:cs typeface="Carlito"/>
              </a:rPr>
              <a:t>machine </a:t>
            </a:r>
            <a:r>
              <a:rPr sz="3000" dirty="0">
                <a:latin typeface="Carlito"/>
                <a:cs typeface="Carlito"/>
              </a:rPr>
              <a:t>and also </a:t>
            </a:r>
            <a:r>
              <a:rPr sz="3000" spc="-10" dirty="0">
                <a:latin typeface="Carlito"/>
                <a:cs typeface="Carlito"/>
              </a:rPr>
              <a:t>enables communication between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computer </a:t>
            </a:r>
            <a:r>
              <a:rPr sz="3000" dirty="0">
                <a:latin typeface="Carlito"/>
                <a:cs typeface="Carlito"/>
              </a:rPr>
              <a:t>and its </a:t>
            </a:r>
            <a:r>
              <a:rPr sz="3000" spc="-5" dirty="0">
                <a:latin typeface="Carlito"/>
                <a:cs typeface="Carlito"/>
              </a:rPr>
              <a:t>connecting </a:t>
            </a:r>
            <a:r>
              <a:rPr sz="3000" spc="-15" dirty="0">
                <a:latin typeface="Carlito"/>
                <a:cs typeface="Carlito"/>
              </a:rPr>
              <a:t>peripherals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or</a:t>
            </a:r>
            <a:r>
              <a:rPr lang="en-US" sz="3000" dirty="0">
                <a:latin typeface="Carlito"/>
                <a:cs typeface="Carlito"/>
              </a:rPr>
              <a:t> </a:t>
            </a:r>
            <a:r>
              <a:rPr sz="4500" spc="-82" baseline="11111" dirty="0">
                <a:latin typeface="Carlito"/>
                <a:cs typeface="Carlito"/>
              </a:rPr>
              <a:t>e</a:t>
            </a:r>
            <a:r>
              <a:rPr sz="4500" spc="-7" baseline="11111" dirty="0">
                <a:latin typeface="Carlito"/>
                <a:cs typeface="Carlito"/>
              </a:rPr>
              <a:t>x</a:t>
            </a:r>
            <a:r>
              <a:rPr sz="4500" spc="-37" baseline="11111" dirty="0">
                <a:latin typeface="Carlito"/>
                <a:cs typeface="Carlito"/>
              </a:rPr>
              <a:t>t</a:t>
            </a:r>
            <a:r>
              <a:rPr sz="4500" baseline="11111" dirty="0">
                <a:latin typeface="Carlito"/>
                <a:cs typeface="Carlito"/>
              </a:rPr>
              <a:t>e</a:t>
            </a:r>
            <a:r>
              <a:rPr sz="4500" spc="-15" baseline="11111" dirty="0">
                <a:latin typeface="Carlito"/>
                <a:cs typeface="Carlito"/>
              </a:rPr>
              <a:t>r</a:t>
            </a:r>
            <a:r>
              <a:rPr sz="4500" spc="-7" baseline="11111" dirty="0">
                <a:latin typeface="Carlito"/>
                <a:cs typeface="Carlito"/>
              </a:rPr>
              <a:t>na</a:t>
            </a:r>
            <a:r>
              <a:rPr sz="4500" baseline="11111" dirty="0">
                <a:latin typeface="Carlito"/>
                <a:cs typeface="Carlito"/>
              </a:rPr>
              <a:t>l</a:t>
            </a:r>
            <a:r>
              <a:rPr sz="4500" spc="-7" baseline="11111" dirty="0">
                <a:latin typeface="Carlito"/>
                <a:cs typeface="Carlito"/>
              </a:rPr>
              <a:t> d</a:t>
            </a:r>
            <a:r>
              <a:rPr sz="4500" spc="-37" baseline="11111" dirty="0">
                <a:latin typeface="Carlito"/>
                <a:cs typeface="Carlito"/>
              </a:rPr>
              <a:t>e</a:t>
            </a:r>
            <a:r>
              <a:rPr sz="4500" baseline="11111" dirty="0">
                <a:latin typeface="Carlito"/>
                <a:cs typeface="Carlito"/>
              </a:rPr>
              <a:t>vic</a:t>
            </a:r>
            <a:r>
              <a:rPr sz="4500" spc="-15" baseline="11111" dirty="0">
                <a:latin typeface="Carlito"/>
                <a:cs typeface="Carlito"/>
              </a:rPr>
              <a:t>e</a:t>
            </a:r>
            <a:r>
              <a:rPr sz="4500" spc="-7" baseline="11111" dirty="0">
                <a:latin typeface="Carlito"/>
                <a:cs typeface="Carlito"/>
              </a:rPr>
              <a:t>s</a:t>
            </a:r>
            <a:r>
              <a:rPr sz="4500" spc="-120" baseline="11111" dirty="0">
                <a:latin typeface="Carlito"/>
                <a:cs typeface="Carlito"/>
              </a:rPr>
              <a:t>.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De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ar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t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ment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o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f 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Co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mpu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t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er</a:t>
            </a:r>
            <a:r>
              <a:rPr sz="1200" spc="-3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Scie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c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e,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KNU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S</a:t>
            </a:r>
            <a:r>
              <a:rPr sz="1200" spc="15" dirty="0">
                <a:solidFill>
                  <a:srgbClr val="888888"/>
                </a:solidFill>
                <a:latin typeface="Carlito"/>
                <a:cs typeface="Carlito"/>
              </a:rPr>
              <a:t>T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-</a:t>
            </a:r>
            <a:endParaRPr sz="12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5632" y="461899"/>
            <a:ext cx="58712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Major </a:t>
            </a:r>
            <a:r>
              <a:rPr spc="-5" dirty="0"/>
              <a:t>functions of </a:t>
            </a:r>
            <a:r>
              <a:rPr dirty="0"/>
              <a:t>the</a:t>
            </a:r>
            <a:r>
              <a:rPr spc="-45" dirty="0"/>
              <a:t> </a:t>
            </a:r>
            <a:r>
              <a:rPr spc="-5" dirty="0"/>
              <a:t>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7905115" cy="459867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293370" indent="-342900">
              <a:lnSpc>
                <a:spcPct val="80000"/>
              </a:lnSpc>
              <a:spcBef>
                <a:spcPts val="8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It </a:t>
            </a:r>
            <a:r>
              <a:rPr sz="3000" spc="-5" dirty="0">
                <a:latin typeface="Carlito"/>
                <a:cs typeface="Carlito"/>
              </a:rPr>
              <a:t>serves </a:t>
            </a:r>
            <a:r>
              <a:rPr sz="3000" dirty="0">
                <a:latin typeface="Carlito"/>
                <a:cs typeface="Carlito"/>
              </a:rPr>
              <a:t>as the </a:t>
            </a:r>
            <a:r>
              <a:rPr sz="3000" spc="-15" dirty="0">
                <a:latin typeface="Carlito"/>
                <a:cs typeface="Carlito"/>
              </a:rPr>
              <a:t>interface </a:t>
            </a:r>
            <a:r>
              <a:rPr sz="3000" spc="-10" dirty="0">
                <a:latin typeface="Carlito"/>
                <a:cs typeface="Carlito"/>
              </a:rPr>
              <a:t>between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user </a:t>
            </a:r>
            <a:r>
              <a:rPr sz="3000" dirty="0">
                <a:latin typeface="Carlito"/>
                <a:cs typeface="Carlito"/>
              </a:rPr>
              <a:t>and  the </a:t>
            </a:r>
            <a:r>
              <a:rPr sz="3000" spc="-5" dirty="0">
                <a:latin typeface="Carlito"/>
                <a:cs typeface="Carlito"/>
              </a:rPr>
              <a:t>machine </a:t>
            </a:r>
            <a:r>
              <a:rPr sz="3000" dirty="0">
                <a:latin typeface="Carlito"/>
                <a:cs typeface="Carlito"/>
              </a:rPr>
              <a:t>and also </a:t>
            </a:r>
            <a:r>
              <a:rPr sz="3000" spc="-5" dirty="0">
                <a:latin typeface="Carlito"/>
                <a:cs typeface="Carlito"/>
              </a:rPr>
              <a:t>enables communication  </a:t>
            </a:r>
            <a:r>
              <a:rPr sz="3000" spc="-10" dirty="0">
                <a:latin typeface="Carlito"/>
                <a:cs typeface="Carlito"/>
              </a:rPr>
              <a:t>between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dirty="0">
                <a:latin typeface="Carlito"/>
                <a:cs typeface="Carlito"/>
              </a:rPr>
              <a:t>and its </a:t>
            </a:r>
            <a:r>
              <a:rPr sz="3000" spc="-5" dirty="0">
                <a:latin typeface="Carlito"/>
                <a:cs typeface="Carlito"/>
              </a:rPr>
              <a:t>connecting  </a:t>
            </a:r>
            <a:r>
              <a:rPr sz="3000" spc="-15" dirty="0">
                <a:latin typeface="Carlito"/>
                <a:cs typeface="Carlito"/>
              </a:rPr>
              <a:t>peripherals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external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devices.</a:t>
            </a:r>
            <a:endParaRPr sz="30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Manages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resources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computer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by</a:t>
            </a:r>
            <a:endParaRPr sz="3000" dirty="0">
              <a:latin typeface="Carlito"/>
              <a:cs typeface="Carlito"/>
            </a:endParaRPr>
          </a:p>
          <a:p>
            <a:pPr marL="213360" indent="-201295">
              <a:lnSpc>
                <a:spcPct val="100000"/>
              </a:lnSpc>
              <a:buChar char="-"/>
              <a:tabLst>
                <a:tab pos="213995" algn="l"/>
              </a:tabLst>
            </a:pPr>
            <a:r>
              <a:rPr sz="3000" spc="-10" dirty="0">
                <a:latin typeface="Carlito"/>
                <a:cs typeface="Carlito"/>
              </a:rPr>
              <a:t>Allocating </a:t>
            </a:r>
            <a:r>
              <a:rPr sz="3000" spc="-15" dirty="0">
                <a:latin typeface="Carlito"/>
                <a:cs typeface="Carlito"/>
              </a:rPr>
              <a:t>resources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5" dirty="0">
                <a:latin typeface="Carlito"/>
                <a:cs typeface="Carlito"/>
              </a:rPr>
              <a:t>use </a:t>
            </a:r>
            <a:r>
              <a:rPr sz="3000" spc="-15" dirty="0">
                <a:latin typeface="Carlito"/>
                <a:cs typeface="Carlito"/>
              </a:rPr>
              <a:t>by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users</a:t>
            </a:r>
            <a:endParaRPr sz="3000" dirty="0">
              <a:latin typeface="Carlito"/>
              <a:cs typeface="Carlito"/>
            </a:endParaRPr>
          </a:p>
          <a:p>
            <a:pPr marL="213360" indent="-201295">
              <a:lnSpc>
                <a:spcPct val="100000"/>
              </a:lnSpc>
              <a:spcBef>
                <a:spcPts val="5"/>
              </a:spcBef>
              <a:buChar char="-"/>
              <a:tabLst>
                <a:tab pos="213995" algn="l"/>
              </a:tabLst>
            </a:pPr>
            <a:r>
              <a:rPr sz="3000" spc="-10" dirty="0">
                <a:latin typeface="Carlito"/>
                <a:cs typeface="Carlito"/>
              </a:rPr>
              <a:t>Reclaiming </a:t>
            </a:r>
            <a:r>
              <a:rPr sz="3000" spc="-15" dirty="0">
                <a:latin typeface="Carlito"/>
                <a:cs typeface="Carlito"/>
              </a:rPr>
              <a:t>resources </a:t>
            </a:r>
            <a:r>
              <a:rPr sz="3000" spc="-10" dirty="0">
                <a:latin typeface="Carlito"/>
                <a:cs typeface="Carlito"/>
              </a:rPr>
              <a:t>after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use</a:t>
            </a:r>
            <a:endParaRPr sz="3000" dirty="0">
              <a:latin typeface="Carlito"/>
              <a:cs typeface="Carlito"/>
            </a:endParaRPr>
          </a:p>
          <a:p>
            <a:pPr marL="355600" marR="5080" indent="-342900">
              <a:lnSpc>
                <a:spcPts val="2880"/>
              </a:lnSpc>
              <a:spcBef>
                <a:spcPts val="695"/>
              </a:spcBef>
              <a:buChar char="-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Deciding on </a:t>
            </a:r>
            <a:r>
              <a:rPr sz="3000" dirty="0">
                <a:latin typeface="Carlito"/>
                <a:cs typeface="Carlito"/>
              </a:rPr>
              <a:t>who is </a:t>
            </a:r>
            <a:r>
              <a:rPr sz="3000" spc="-10" dirty="0">
                <a:latin typeface="Carlito"/>
                <a:cs typeface="Carlito"/>
              </a:rPr>
              <a:t>allocated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resource to </a:t>
            </a:r>
            <a:r>
              <a:rPr sz="3000" spc="-5" dirty="0">
                <a:latin typeface="Carlito"/>
                <a:cs typeface="Carlito"/>
              </a:rPr>
              <a:t>use </a:t>
            </a:r>
            <a:r>
              <a:rPr sz="3000" spc="-10" dirty="0">
                <a:latin typeface="Carlito"/>
                <a:cs typeface="Carlito"/>
              </a:rPr>
              <a:t>at  </a:t>
            </a:r>
            <a:r>
              <a:rPr sz="3000" spc="-20" dirty="0">
                <a:latin typeface="Carlito"/>
                <a:cs typeface="Carlito"/>
              </a:rPr>
              <a:t>any </a:t>
            </a:r>
            <a:r>
              <a:rPr sz="3000" spc="-5" dirty="0">
                <a:latin typeface="Carlito"/>
                <a:cs typeface="Carlito"/>
              </a:rPr>
              <a:t>given </a:t>
            </a:r>
            <a:r>
              <a:rPr sz="3000" dirty="0">
                <a:latin typeface="Carlito"/>
                <a:cs typeface="Carlito"/>
              </a:rPr>
              <a:t>time </a:t>
            </a:r>
            <a:r>
              <a:rPr sz="3000" spc="-10" dirty="0">
                <a:latin typeface="Carlito"/>
                <a:cs typeface="Carlito"/>
              </a:rPr>
              <a:t>if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resource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not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sharable.</a:t>
            </a:r>
            <a:endParaRPr sz="3000" dirty="0">
              <a:latin typeface="Carlito"/>
              <a:cs typeface="Carlito"/>
            </a:endParaRPr>
          </a:p>
          <a:p>
            <a:pPr marL="355600" marR="525780" indent="-342900">
              <a:lnSpc>
                <a:spcPts val="288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Responsible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dirty="0">
                <a:latin typeface="Carlito"/>
                <a:cs typeface="Carlito"/>
              </a:rPr>
              <a:t>loading </a:t>
            </a:r>
            <a:r>
              <a:rPr sz="3000" spc="-10" dirty="0">
                <a:latin typeface="Carlito"/>
                <a:cs typeface="Carlito"/>
              </a:rPr>
              <a:t>application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other  </a:t>
            </a:r>
            <a:r>
              <a:rPr sz="3000" spc="-15" dirty="0">
                <a:latin typeface="Carlito"/>
                <a:cs typeface="Carlito"/>
              </a:rPr>
              <a:t>programs into </a:t>
            </a:r>
            <a:r>
              <a:rPr sz="3000" dirty="0">
                <a:latin typeface="Carlito"/>
                <a:cs typeface="Carlito"/>
              </a:rPr>
              <a:t>memory </a:t>
            </a:r>
            <a:r>
              <a:rPr sz="3000" spc="-5" dirty="0">
                <a:latin typeface="Carlito"/>
                <a:cs typeface="Carlito"/>
              </a:rPr>
              <a:t>when</a:t>
            </a:r>
            <a:r>
              <a:rPr sz="3000" spc="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needed.</a:t>
            </a:r>
            <a:endParaRPr sz="3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985" y="461899"/>
            <a:ext cx="4032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Operating</a:t>
            </a:r>
            <a:r>
              <a:rPr spc="-90" dirty="0"/>
              <a:t> </a:t>
            </a:r>
            <a:r>
              <a:rPr spc="-3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7958455" cy="43243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5080" indent="-342900">
              <a:lnSpc>
                <a:spcPts val="2880"/>
              </a:lnSpc>
              <a:spcBef>
                <a:spcPts val="7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10" dirty="0">
                <a:latin typeface="Carlito"/>
                <a:cs typeface="Carlito"/>
              </a:rPr>
              <a:t>gets </a:t>
            </a:r>
            <a:r>
              <a:rPr sz="3000" dirty="0">
                <a:latin typeface="Carlito"/>
                <a:cs typeface="Carlito"/>
              </a:rPr>
              <a:t>loaded </a:t>
            </a:r>
            <a:r>
              <a:rPr sz="3000" spc="-15" dirty="0">
                <a:latin typeface="Carlito"/>
                <a:cs typeface="Carlito"/>
              </a:rPr>
              <a:t>into </a:t>
            </a:r>
            <a:r>
              <a:rPr sz="3000" dirty="0">
                <a:latin typeface="Carlito"/>
                <a:cs typeface="Carlito"/>
              </a:rPr>
              <a:t>the RAM</a:t>
            </a:r>
            <a:r>
              <a:rPr sz="3000" spc="-10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–  the main memory – </a:t>
            </a:r>
            <a:r>
              <a:rPr sz="3000" spc="-5" dirty="0">
                <a:latin typeface="Carlito"/>
                <a:cs typeface="Carlito"/>
              </a:rPr>
              <a:t>upon </a:t>
            </a:r>
            <a:r>
              <a:rPr sz="3000" spc="10" dirty="0">
                <a:latin typeface="Carlito"/>
                <a:cs typeface="Carlito"/>
              </a:rPr>
              <a:t>“booting”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45" dirty="0">
                <a:latin typeface="Carlito"/>
                <a:cs typeface="Carlito"/>
              </a:rPr>
              <a:t>computer.</a:t>
            </a:r>
            <a:endParaRPr sz="3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550" dirty="0">
              <a:latin typeface="Carlito"/>
              <a:cs typeface="Carlito"/>
            </a:endParaRPr>
          </a:p>
          <a:p>
            <a:pPr marL="355600" marR="99695" indent="-342900">
              <a:lnSpc>
                <a:spcPct val="8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Booting </a:t>
            </a:r>
            <a:r>
              <a:rPr sz="3000" spc="-35" dirty="0">
                <a:latin typeface="Carlito"/>
                <a:cs typeface="Carlito"/>
              </a:rPr>
              <a:t>refers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process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switching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the main </a:t>
            </a:r>
            <a:r>
              <a:rPr sz="3000" spc="-10" dirty="0">
                <a:latin typeface="Carlito"/>
                <a:cs typeface="Carlito"/>
              </a:rPr>
              <a:t>power </a:t>
            </a:r>
            <a:r>
              <a:rPr sz="3000" spc="-5" dirty="0">
                <a:latin typeface="Carlito"/>
                <a:cs typeface="Carlito"/>
              </a:rPr>
              <a:t>supply </a:t>
            </a:r>
            <a:r>
              <a:rPr sz="3000" dirty="0">
                <a:latin typeface="Carlito"/>
                <a:cs typeface="Carlito"/>
              </a:rPr>
              <a:t>and  </a:t>
            </a:r>
            <a:r>
              <a:rPr sz="3000" spc="-5" dirty="0">
                <a:latin typeface="Carlito"/>
                <a:cs typeface="Carlito"/>
              </a:rPr>
              <a:t>triggering </a:t>
            </a:r>
            <a:r>
              <a:rPr sz="3000" spc="-10" dirty="0">
                <a:latin typeface="Carlito"/>
                <a:cs typeface="Carlito"/>
              </a:rPr>
              <a:t>off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20" dirty="0">
                <a:latin typeface="Carlito"/>
                <a:cs typeface="Carlito"/>
              </a:rPr>
              <a:t>execution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i="1" spc="-10" dirty="0">
                <a:latin typeface="Carlito"/>
                <a:cs typeface="Carlito"/>
              </a:rPr>
              <a:t>bootstrap  </a:t>
            </a:r>
            <a:r>
              <a:rPr sz="3000" i="1" dirty="0">
                <a:latin typeface="Carlito"/>
                <a:cs typeface="Carlito"/>
              </a:rPr>
              <a:t>loader </a:t>
            </a:r>
            <a:r>
              <a:rPr sz="3000" i="1" spc="-5" dirty="0">
                <a:latin typeface="Carlito"/>
                <a:cs typeface="Carlito"/>
              </a:rPr>
              <a:t>or boot </a:t>
            </a:r>
            <a:r>
              <a:rPr sz="3000" i="1" dirty="0">
                <a:latin typeface="Carlito"/>
                <a:cs typeface="Carlito"/>
              </a:rPr>
              <a:t>routine – </a:t>
            </a:r>
            <a:r>
              <a:rPr sz="3000" i="1" spc="-5" dirty="0">
                <a:latin typeface="Carlito"/>
                <a:cs typeface="Carlito"/>
              </a:rPr>
              <a:t>instructions </a:t>
            </a:r>
            <a:r>
              <a:rPr sz="3000" spc="-10" dirty="0">
                <a:latin typeface="Carlito"/>
                <a:cs typeface="Carlito"/>
              </a:rPr>
              <a:t>wired </a:t>
            </a:r>
            <a:r>
              <a:rPr sz="3000" spc="-15" dirty="0">
                <a:latin typeface="Carlito"/>
                <a:cs typeface="Carlito"/>
              </a:rPr>
              <a:t>into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ROM </a:t>
            </a:r>
            <a:r>
              <a:rPr sz="3000" dirty="0">
                <a:latin typeface="Carlito"/>
                <a:cs typeface="Carlito"/>
              </a:rPr>
              <a:t>which in turn loads the </a:t>
            </a:r>
            <a:r>
              <a:rPr sz="3000" spc="-15" dirty="0">
                <a:latin typeface="Carlito"/>
                <a:cs typeface="Carlito"/>
              </a:rPr>
              <a:t>operating 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5" dirty="0">
                <a:latin typeface="Carlito"/>
                <a:cs typeface="Carlito"/>
              </a:rPr>
              <a:t>automatically </a:t>
            </a:r>
            <a:r>
              <a:rPr sz="3000" spc="-15" dirty="0">
                <a:latin typeface="Carlito"/>
                <a:cs typeface="Carlito"/>
              </a:rPr>
              <a:t>into </a:t>
            </a:r>
            <a:r>
              <a:rPr sz="3000" dirty="0">
                <a:latin typeface="Carlito"/>
                <a:cs typeface="Carlito"/>
              </a:rPr>
              <a:t>the RAM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dirty="0">
                <a:latin typeface="Carlito"/>
                <a:cs typeface="Carlito"/>
              </a:rPr>
              <a:t>main  memory </a:t>
            </a:r>
            <a:r>
              <a:rPr sz="3000" spc="-5" dirty="0">
                <a:latin typeface="Carlito"/>
                <a:cs typeface="Carlito"/>
              </a:rPr>
              <a:t>(usually </a:t>
            </a:r>
            <a:r>
              <a:rPr sz="3000" spc="-15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hard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disk).</a:t>
            </a:r>
            <a:endParaRPr sz="3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985" y="461899"/>
            <a:ext cx="4032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Operating</a:t>
            </a:r>
            <a:r>
              <a:rPr spc="-90" dirty="0"/>
              <a:t> </a:t>
            </a:r>
            <a:r>
              <a:rPr spc="-3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0" y="1587195"/>
            <a:ext cx="8127365" cy="456311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10" dirty="0">
                <a:latin typeface="Carlito"/>
                <a:cs typeface="Carlito"/>
              </a:rPr>
              <a:t>process </a:t>
            </a:r>
            <a:r>
              <a:rPr sz="3200" spc="-5" dirty="0">
                <a:latin typeface="Carlito"/>
                <a:cs typeface="Carlito"/>
              </a:rPr>
              <a:t>other </a:t>
            </a:r>
            <a:r>
              <a:rPr sz="3200" spc="-15" dirty="0">
                <a:latin typeface="Carlito"/>
                <a:cs typeface="Carlito"/>
              </a:rPr>
              <a:t>programs, </a:t>
            </a:r>
            <a:r>
              <a:rPr sz="3200" spc="-10" dirty="0">
                <a:latin typeface="Carlito"/>
                <a:cs typeface="Carlito"/>
              </a:rPr>
              <a:t>diagnostic  routines </a:t>
            </a:r>
            <a:r>
              <a:rPr sz="3200" dirty="0">
                <a:latin typeface="Carlito"/>
                <a:cs typeface="Carlito"/>
              </a:rPr>
              <a:t>also </a:t>
            </a:r>
            <a:r>
              <a:rPr sz="3200" spc="-15" dirty="0">
                <a:latin typeface="Carlito"/>
                <a:cs typeface="Carlito"/>
              </a:rPr>
              <a:t>starts </a:t>
            </a:r>
            <a:r>
              <a:rPr sz="3200" spc="-5" dirty="0">
                <a:latin typeface="Carlito"/>
                <a:cs typeface="Carlito"/>
              </a:rPr>
              <a:t>up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25" dirty="0">
                <a:latin typeface="Carlito"/>
                <a:cs typeface="Carlito"/>
              </a:rPr>
              <a:t>test </a:t>
            </a:r>
            <a:r>
              <a:rPr sz="3200" dirty="0">
                <a:latin typeface="Carlito"/>
                <a:cs typeface="Carlito"/>
              </a:rPr>
              <a:t>the main  </a:t>
            </a:r>
            <a:r>
              <a:rPr sz="3200" spc="-35" dirty="0">
                <a:latin typeface="Carlito"/>
                <a:cs typeface="Carlito"/>
              </a:rPr>
              <a:t>memory,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central </a:t>
            </a:r>
            <a:r>
              <a:rPr sz="3200" spc="-10" dirty="0">
                <a:latin typeface="Carlito"/>
                <a:cs typeface="Carlito"/>
              </a:rPr>
              <a:t>processing </a:t>
            </a:r>
            <a:r>
              <a:rPr sz="3200" spc="-5" dirty="0">
                <a:latin typeface="Carlito"/>
                <a:cs typeface="Carlito"/>
              </a:rPr>
              <a:t>unit,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other  parts of the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30" dirty="0">
                <a:latin typeface="Carlito"/>
                <a:cs typeface="Carlito"/>
              </a:rPr>
              <a:t>make </a:t>
            </a:r>
            <a:r>
              <a:rPr sz="3200" spc="-15" dirty="0">
                <a:latin typeface="Carlito"/>
                <a:cs typeface="Carlito"/>
              </a:rPr>
              <a:t>sure </a:t>
            </a:r>
            <a:r>
              <a:rPr sz="3200" spc="-10" dirty="0">
                <a:latin typeface="Carlito"/>
                <a:cs typeface="Carlito"/>
              </a:rPr>
              <a:t>they are </a:t>
            </a:r>
            <a:r>
              <a:rPr sz="3200" dirty="0">
                <a:latin typeface="Carlito"/>
                <a:cs typeface="Carlito"/>
              </a:rPr>
              <a:t>all  </a:t>
            </a:r>
            <a:r>
              <a:rPr sz="3200" spc="-5" dirty="0">
                <a:latin typeface="Carlito"/>
                <a:cs typeface="Carlito"/>
              </a:rPr>
              <a:t>running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35" dirty="0">
                <a:latin typeface="Carlito"/>
                <a:cs typeface="Carlito"/>
              </a:rPr>
              <a:t>properly.</a:t>
            </a:r>
            <a:endParaRPr sz="3200" dirty="0">
              <a:latin typeface="Carlito"/>
              <a:cs typeface="Carlito"/>
            </a:endParaRPr>
          </a:p>
          <a:p>
            <a:pPr marL="355600" marR="6350" indent="-342900">
              <a:lnSpc>
                <a:spcPct val="9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Finally other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spc="-5" dirty="0">
                <a:latin typeface="Carlito"/>
                <a:cs typeface="Carlito"/>
              </a:rPr>
              <a:t>known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device </a:t>
            </a:r>
            <a:r>
              <a:rPr sz="3200" spc="-20" dirty="0">
                <a:latin typeface="Carlito"/>
                <a:cs typeface="Carlito"/>
              </a:rPr>
              <a:t>drivers 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25" dirty="0">
                <a:latin typeface="Carlito"/>
                <a:cs typeface="Carlito"/>
              </a:rPr>
              <a:t>stored </a:t>
            </a:r>
            <a:r>
              <a:rPr sz="3200" spc="-5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main memory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5" dirty="0">
                <a:latin typeface="Carlito"/>
                <a:cs typeface="Carlito"/>
              </a:rPr>
              <a:t>help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15" dirty="0">
                <a:latin typeface="Carlito"/>
                <a:cs typeface="Carlito"/>
              </a:rPr>
              <a:t>interpret,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15" dirty="0">
                <a:latin typeface="Carlito"/>
                <a:cs typeface="Carlito"/>
              </a:rPr>
              <a:t>example, </a:t>
            </a:r>
            <a:r>
              <a:rPr sz="3200" spc="-25" dirty="0">
                <a:latin typeface="Carlito"/>
                <a:cs typeface="Carlito"/>
              </a:rPr>
              <a:t>keyboard  </a:t>
            </a:r>
            <a:r>
              <a:rPr sz="3200" spc="-20" dirty="0">
                <a:latin typeface="Carlito"/>
                <a:cs typeface="Carlito"/>
              </a:rPr>
              <a:t>characters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10" dirty="0">
                <a:latin typeface="Carlito"/>
                <a:cs typeface="Carlito"/>
              </a:rPr>
              <a:t>transmit </a:t>
            </a:r>
            <a:r>
              <a:rPr sz="3200" spc="-20" dirty="0">
                <a:latin typeface="Carlito"/>
                <a:cs typeface="Carlito"/>
              </a:rPr>
              <a:t>characters 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display  </a:t>
            </a:r>
            <a:r>
              <a:rPr sz="3200" spc="-10" dirty="0">
                <a:latin typeface="Carlito"/>
                <a:cs typeface="Carlito"/>
              </a:rPr>
              <a:t>screen.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985" y="461899"/>
            <a:ext cx="4032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Operating</a:t>
            </a:r>
            <a:r>
              <a:rPr spc="-90" dirty="0"/>
              <a:t> </a:t>
            </a:r>
            <a:r>
              <a:rPr spc="-3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3852F7-E5C2-4863-B7E9-A79CE7D09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085850"/>
            <a:ext cx="7696200" cy="5772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985" y="461899"/>
            <a:ext cx="4032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Operating</a:t>
            </a:r>
            <a:r>
              <a:rPr spc="-90" dirty="0"/>
              <a:t> </a:t>
            </a:r>
            <a:r>
              <a:rPr spc="-3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227582"/>
            <a:ext cx="8387715" cy="50990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97485" indent="-342900">
              <a:lnSpc>
                <a:spcPct val="9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operating </a:t>
            </a:r>
            <a:r>
              <a:rPr sz="3200" spc="-25" dirty="0">
                <a:latin typeface="Carlito"/>
                <a:cs typeface="Carlito"/>
              </a:rPr>
              <a:t>systems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spc="-5" dirty="0">
                <a:latin typeface="Carlito"/>
                <a:cs typeface="Carlito"/>
              </a:rPr>
              <a:t>then on </a:t>
            </a:r>
            <a:r>
              <a:rPr sz="3200" spc="-30" dirty="0">
                <a:latin typeface="Carlito"/>
                <a:cs typeface="Carlito"/>
              </a:rPr>
              <a:t>takes </a:t>
            </a:r>
            <a:r>
              <a:rPr sz="3200" spc="-15" dirty="0">
                <a:latin typeface="Carlito"/>
                <a:cs typeface="Carlito"/>
              </a:rPr>
              <a:t>over  </a:t>
            </a:r>
            <a:r>
              <a:rPr sz="3200" dirty="0">
                <a:latin typeface="Carlito"/>
                <a:cs typeface="Carlito"/>
              </a:rPr>
              <a:t>the time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time </a:t>
            </a:r>
            <a:r>
              <a:rPr sz="3200" spc="-5" dirty="0">
                <a:latin typeface="Carlito"/>
                <a:cs typeface="Carlito"/>
              </a:rPr>
              <a:t>running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the </a:t>
            </a:r>
            <a:r>
              <a:rPr sz="3200" spc="-30" dirty="0">
                <a:latin typeface="Carlito"/>
                <a:cs typeface="Carlito"/>
              </a:rPr>
              <a:t>affairs </a:t>
            </a:r>
            <a:r>
              <a:rPr sz="3200" dirty="0">
                <a:latin typeface="Carlito"/>
                <a:cs typeface="Carlito"/>
              </a:rPr>
              <a:t>of the 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spc="-10" dirty="0">
                <a:latin typeface="Carlito"/>
                <a:cs typeface="Carlito"/>
              </a:rPr>
              <a:t>communicating </a:t>
            </a:r>
            <a:r>
              <a:rPr sz="3200" dirty="0">
                <a:latin typeface="Carlito"/>
                <a:cs typeface="Carlito"/>
              </a:rPr>
              <a:t>with the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15" dirty="0">
                <a:latin typeface="Carlito"/>
                <a:cs typeface="Carlito"/>
              </a:rPr>
              <a:t>performing complex tasks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file, </a:t>
            </a:r>
            <a:r>
              <a:rPr sz="3200" spc="-10" dirty="0">
                <a:latin typeface="Carlito"/>
                <a:cs typeface="Carlito"/>
              </a:rPr>
              <a:t>task,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5" dirty="0">
                <a:latin typeface="Carlito"/>
                <a:cs typeface="Carlito"/>
              </a:rPr>
              <a:t>job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management.</a:t>
            </a:r>
            <a:endParaRPr sz="3200" dirty="0">
              <a:latin typeface="Carlito"/>
              <a:cs typeface="Carlito"/>
            </a:endParaRPr>
          </a:p>
          <a:p>
            <a:pPr marL="355600" marR="264160" indent="-342900">
              <a:lnSpc>
                <a:spcPct val="9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File management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involves storing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keeping  track </a:t>
            </a:r>
            <a:r>
              <a:rPr sz="3200" spc="-5" dirty="0">
                <a:latin typeface="Carlito"/>
                <a:cs typeface="Carlito"/>
              </a:rPr>
              <a:t>of file </a:t>
            </a:r>
            <a:r>
              <a:rPr sz="3200" spc="-10" dirty="0">
                <a:latin typeface="Carlito"/>
                <a:cs typeface="Carlito"/>
              </a:rPr>
              <a:t>locations </a:t>
            </a:r>
            <a:r>
              <a:rPr sz="3200" spc="-5" dirty="0">
                <a:latin typeface="Carlito"/>
                <a:cs typeface="Carlito"/>
              </a:rPr>
              <a:t>on disk, </a:t>
            </a:r>
            <a:r>
              <a:rPr sz="3200" dirty="0">
                <a:latin typeface="Carlito"/>
                <a:cs typeface="Carlito"/>
              </a:rPr>
              <a:t>loading </a:t>
            </a:r>
            <a:r>
              <a:rPr sz="3200" spc="-5" dirty="0">
                <a:latin typeface="Carlito"/>
                <a:cs typeface="Carlito"/>
              </a:rPr>
              <a:t>files </a:t>
            </a:r>
            <a:r>
              <a:rPr sz="3200" spc="-25" dirty="0">
                <a:latin typeface="Carlito"/>
                <a:cs typeface="Carlito"/>
              </a:rPr>
              <a:t>form  </a:t>
            </a:r>
            <a:r>
              <a:rPr sz="3200" spc="-5" dirty="0">
                <a:latin typeface="Carlito"/>
                <a:cs typeface="Carlito"/>
              </a:rPr>
              <a:t>disk </a:t>
            </a:r>
            <a:r>
              <a:rPr sz="3200" spc="-20" dirty="0">
                <a:latin typeface="Carlito"/>
                <a:cs typeface="Carlito"/>
              </a:rPr>
              <a:t>into </a:t>
            </a:r>
            <a:r>
              <a:rPr sz="3200" dirty="0">
                <a:latin typeface="Carlito"/>
                <a:cs typeface="Carlito"/>
              </a:rPr>
              <a:t>the main memory and </a:t>
            </a:r>
            <a:r>
              <a:rPr sz="3200" spc="-10" dirty="0">
                <a:latin typeface="Carlito"/>
                <a:cs typeface="Carlito"/>
              </a:rPr>
              <a:t>deleting</a:t>
            </a:r>
            <a:r>
              <a:rPr sz="3200" spc="7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files.</a:t>
            </a:r>
            <a:endParaRPr sz="3200" dirty="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u="heavy" spc="-6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Task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management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involves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simultaneously  running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more </a:t>
            </a:r>
            <a:r>
              <a:rPr sz="3200" spc="-5" dirty="0">
                <a:latin typeface="Carlito"/>
                <a:cs typeface="Carlito"/>
              </a:rPr>
              <a:t>than </a:t>
            </a:r>
            <a:r>
              <a:rPr sz="3200" dirty="0">
                <a:latin typeface="Carlito"/>
                <a:cs typeface="Carlito"/>
              </a:rPr>
              <a:t>one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dirty="0">
                <a:latin typeface="Carlito"/>
                <a:cs typeface="Carlito"/>
              </a:rPr>
              <a:t>and servicing  the </a:t>
            </a:r>
            <a:r>
              <a:rPr sz="3200" spc="-5" dirty="0">
                <a:latin typeface="Carlito"/>
                <a:cs typeface="Carlito"/>
              </a:rPr>
              <a:t>need of such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programs.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985" y="461899"/>
            <a:ext cx="4032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Operating</a:t>
            </a:r>
            <a:r>
              <a:rPr spc="-90" dirty="0"/>
              <a:t> </a:t>
            </a:r>
            <a:r>
              <a:rPr spc="-3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8042909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Job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management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entails </a:t>
            </a:r>
            <a:r>
              <a:rPr sz="3200" dirty="0">
                <a:latin typeface="Carlito"/>
                <a:cs typeface="Carlito"/>
              </a:rPr>
              <a:t>managing </a:t>
            </a:r>
            <a:r>
              <a:rPr sz="3200" spc="-10" dirty="0">
                <a:latin typeface="Carlito"/>
                <a:cs typeface="Carlito"/>
              </a:rPr>
              <a:t>units </a:t>
            </a:r>
            <a:r>
              <a:rPr sz="3200" spc="-5" dirty="0">
                <a:latin typeface="Carlito"/>
                <a:cs typeface="Carlito"/>
              </a:rPr>
              <a:t>of  </a:t>
            </a:r>
            <a:r>
              <a:rPr sz="3200" spc="-10" dirty="0">
                <a:latin typeface="Carlito"/>
                <a:cs typeface="Carlito"/>
              </a:rPr>
              <a:t>work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0" dirty="0">
                <a:latin typeface="Carlito"/>
                <a:cs typeface="Carlito"/>
              </a:rPr>
              <a:t>processed. Here </a:t>
            </a:r>
            <a:r>
              <a:rPr sz="3200" spc="-5" dirty="0">
                <a:latin typeface="Carlito"/>
                <a:cs typeface="Carlito"/>
              </a:rPr>
              <a:t>job </a:t>
            </a:r>
            <a:r>
              <a:rPr sz="3200" dirty="0">
                <a:latin typeface="Carlito"/>
                <a:cs typeface="Carlito"/>
              </a:rPr>
              <a:t>means a  </a:t>
            </a:r>
            <a:r>
              <a:rPr sz="3200" spc="-5" dirty="0">
                <a:latin typeface="Carlito"/>
                <a:cs typeface="Carlito"/>
              </a:rPr>
              <a:t>specified </a:t>
            </a:r>
            <a:r>
              <a:rPr sz="3200" spc="-10" dirty="0">
                <a:latin typeface="Carlito"/>
                <a:cs typeface="Carlito"/>
              </a:rPr>
              <a:t>operation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10" dirty="0">
                <a:latin typeface="Carlito"/>
                <a:cs typeface="Carlito"/>
              </a:rPr>
              <a:t>saving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document  or </a:t>
            </a:r>
            <a:r>
              <a:rPr sz="3200" spc="-10" dirty="0">
                <a:latin typeface="Carlito"/>
                <a:cs typeface="Carlito"/>
              </a:rPr>
              <a:t>organizing </a:t>
            </a:r>
            <a:r>
              <a:rPr sz="3200" spc="-20" dirty="0">
                <a:latin typeface="Carlito"/>
                <a:cs typeface="Carlito"/>
              </a:rPr>
              <a:t>data into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8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document.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019" y="187197"/>
            <a:ext cx="403732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Operating</a:t>
            </a:r>
            <a:r>
              <a:rPr spc="-55" dirty="0"/>
              <a:t> </a:t>
            </a:r>
            <a:r>
              <a:rPr spc="-3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299158"/>
            <a:ext cx="8488680" cy="48558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255270" indent="-343535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Another </a:t>
            </a:r>
            <a:r>
              <a:rPr sz="3200" spc="-10" dirty="0">
                <a:latin typeface="Carlito"/>
                <a:cs typeface="Carlito"/>
              </a:rPr>
              <a:t>important task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operating </a:t>
            </a:r>
            <a:r>
              <a:rPr sz="3200" spc="-30" dirty="0">
                <a:latin typeface="Carlito"/>
                <a:cs typeface="Carlito"/>
              </a:rPr>
              <a:t>system  </a:t>
            </a:r>
            <a:r>
              <a:rPr sz="3200" dirty="0">
                <a:latin typeface="Carlito"/>
                <a:cs typeface="Carlito"/>
              </a:rPr>
              <a:t>is the </a:t>
            </a:r>
            <a:r>
              <a:rPr sz="3200" spc="-5" dirty="0">
                <a:latin typeface="Carlito"/>
                <a:cs typeface="Carlito"/>
              </a:rPr>
              <a:t>basic </a:t>
            </a:r>
            <a:r>
              <a:rPr sz="3200" dirty="0">
                <a:latin typeface="Carlito"/>
                <a:cs typeface="Carlito"/>
              </a:rPr>
              <a:t>input </a:t>
            </a:r>
            <a:r>
              <a:rPr sz="3200" spc="-15" dirty="0">
                <a:latin typeface="Carlito"/>
                <a:cs typeface="Carlito"/>
              </a:rPr>
              <a:t>/output </a:t>
            </a:r>
            <a:r>
              <a:rPr sz="3200" spc="-30" dirty="0">
                <a:latin typeface="Carlito"/>
                <a:cs typeface="Carlito"/>
              </a:rPr>
              <a:t>system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(BIOS).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4000" dirty="0">
              <a:latin typeface="Carlito"/>
              <a:cs typeface="Carlito"/>
            </a:endParaRPr>
          </a:p>
          <a:p>
            <a:pPr marL="355600" marR="5080" indent="-343535">
              <a:lnSpc>
                <a:spcPct val="9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spc="-15" dirty="0">
                <a:latin typeface="Carlito"/>
                <a:cs typeface="Carlito"/>
              </a:rPr>
              <a:t>consists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dirty="0">
                <a:latin typeface="Carlito"/>
                <a:cs typeface="Carlito"/>
              </a:rPr>
              <a:t>modules </a:t>
            </a:r>
            <a:r>
              <a:rPr sz="3200" spc="-5" dirty="0">
                <a:latin typeface="Carlito"/>
                <a:cs typeface="Carlito"/>
              </a:rPr>
              <a:t>that manage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connecting peripherals </a:t>
            </a:r>
            <a:r>
              <a:rPr sz="3200" spc="-5" dirty="0">
                <a:latin typeface="Carlito"/>
                <a:cs typeface="Carlito"/>
              </a:rPr>
              <a:t>or devices such </a:t>
            </a:r>
            <a:r>
              <a:rPr sz="3200" dirty="0">
                <a:latin typeface="Carlito"/>
                <a:cs typeface="Carlito"/>
              </a:rPr>
              <a:t>as the  </a:t>
            </a:r>
            <a:r>
              <a:rPr sz="3200" spc="-20" dirty="0">
                <a:latin typeface="Carlito"/>
                <a:cs typeface="Carlito"/>
              </a:rPr>
              <a:t>keyboard, </a:t>
            </a:r>
            <a:r>
              <a:rPr sz="3200" spc="-40" dirty="0">
                <a:latin typeface="Carlito"/>
                <a:cs typeface="Carlito"/>
              </a:rPr>
              <a:t>monitor, </a:t>
            </a:r>
            <a:r>
              <a:rPr sz="3200" spc="-5" dirty="0">
                <a:latin typeface="Carlito"/>
                <a:cs typeface="Carlito"/>
              </a:rPr>
              <a:t>disk </a:t>
            </a:r>
            <a:r>
              <a:rPr sz="3200" spc="-10" dirty="0">
                <a:latin typeface="Carlito"/>
                <a:cs typeface="Carlito"/>
              </a:rPr>
              <a:t>drives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parallel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5" dirty="0">
                <a:latin typeface="Carlito"/>
                <a:cs typeface="Carlito"/>
              </a:rPr>
              <a:t>serial ports.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4100" dirty="0">
              <a:latin typeface="Carlito"/>
              <a:cs typeface="Carlito"/>
            </a:endParaRPr>
          </a:p>
          <a:p>
            <a:pPr marL="355600" marR="202565" indent="-343535">
              <a:lnSpc>
                <a:spcPts val="346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BIOS also </a:t>
            </a:r>
            <a:r>
              <a:rPr sz="3200" spc="-5" dirty="0">
                <a:latin typeface="Carlito"/>
                <a:cs typeface="Carlito"/>
              </a:rPr>
              <a:t>manages some </a:t>
            </a:r>
            <a:r>
              <a:rPr sz="3200" spc="-10" dirty="0">
                <a:latin typeface="Carlito"/>
                <a:cs typeface="Carlito"/>
              </a:rPr>
              <a:t>internal </a:t>
            </a:r>
            <a:r>
              <a:rPr sz="3200" spc="-15" dirty="0">
                <a:latin typeface="Carlito"/>
                <a:cs typeface="Carlito"/>
              </a:rPr>
              <a:t>settings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the  computer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20" dirty="0">
                <a:latin typeface="Carlito"/>
                <a:cs typeface="Carlito"/>
              </a:rPr>
              <a:t>date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time.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985" y="461899"/>
            <a:ext cx="4032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Operating</a:t>
            </a:r>
            <a:r>
              <a:rPr spc="-90" dirty="0"/>
              <a:t> </a:t>
            </a:r>
            <a:r>
              <a:rPr spc="-3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95020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rlito"/>
                <a:cs typeface="Carlito"/>
              </a:rPr>
              <a:t>Actually, </a:t>
            </a:r>
            <a:r>
              <a:rPr sz="3200" dirty="0">
                <a:latin typeface="Carlito"/>
                <a:cs typeface="Carlito"/>
              </a:rPr>
              <a:t>this </a:t>
            </a:r>
            <a:r>
              <a:rPr sz="3200" spc="-5" dirty="0">
                <a:latin typeface="Carlito"/>
                <a:cs typeface="Carlito"/>
              </a:rPr>
              <a:t>part of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operating </a:t>
            </a:r>
            <a:r>
              <a:rPr sz="3200" spc="-30" dirty="0">
                <a:latin typeface="Carlito"/>
                <a:cs typeface="Carlito"/>
              </a:rPr>
              <a:t>system  </a:t>
            </a:r>
            <a:r>
              <a:rPr sz="3200" spc="-5" dirty="0">
                <a:latin typeface="Carlito"/>
                <a:cs typeface="Carlito"/>
              </a:rPr>
              <a:t>resides </a:t>
            </a:r>
            <a:r>
              <a:rPr sz="3200" spc="-10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ROM </a:t>
            </a:r>
            <a:r>
              <a:rPr sz="3200" dirty="0">
                <a:latin typeface="Carlito"/>
                <a:cs typeface="Carlito"/>
              </a:rPr>
              <a:t>and runs the </a:t>
            </a:r>
            <a:r>
              <a:rPr sz="3200" spc="-5" dirty="0">
                <a:latin typeface="Carlito"/>
                <a:cs typeface="Carlito"/>
              </a:rPr>
              <a:t>diagnostic  </a:t>
            </a:r>
            <a:r>
              <a:rPr sz="3200" spc="-20" dirty="0">
                <a:latin typeface="Carlito"/>
                <a:cs typeface="Carlito"/>
              </a:rPr>
              <a:t>test </a:t>
            </a:r>
            <a:r>
              <a:rPr sz="3200" spc="-5" dirty="0">
                <a:latin typeface="Carlito"/>
                <a:cs typeface="Carlito"/>
              </a:rPr>
              <a:t>upon booting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15" dirty="0">
                <a:latin typeface="Carlito"/>
                <a:cs typeface="Carlito"/>
              </a:rPr>
              <a:t>after </a:t>
            </a:r>
            <a:r>
              <a:rPr sz="3200" dirty="0">
                <a:latin typeface="Carlito"/>
                <a:cs typeface="Carlito"/>
              </a:rPr>
              <a:t>which it  then loads the </a:t>
            </a:r>
            <a:r>
              <a:rPr sz="3200" spc="-15" dirty="0">
                <a:latin typeface="Carlito"/>
                <a:cs typeface="Carlito"/>
              </a:rPr>
              <a:t>rest </a:t>
            </a:r>
            <a:r>
              <a:rPr sz="3200" spc="-5" dirty="0">
                <a:latin typeface="Carlito"/>
                <a:cs typeface="Carlito"/>
              </a:rPr>
              <a:t>of the </a:t>
            </a:r>
            <a:r>
              <a:rPr sz="3200" spc="-10" dirty="0">
                <a:latin typeface="Carlito"/>
                <a:cs typeface="Carlito"/>
              </a:rPr>
              <a:t>operating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system.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49809"/>
            <a:ext cx="734148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7870" marR="5080" indent="-199580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Common </a:t>
            </a:r>
            <a:r>
              <a:rPr sz="4000" spc="-20" dirty="0"/>
              <a:t>Operating </a:t>
            </a:r>
            <a:r>
              <a:rPr sz="4000" spc="-25" dirty="0"/>
              <a:t>Systems:  </a:t>
            </a:r>
            <a:r>
              <a:rPr sz="4000" spc="-20" dirty="0"/>
              <a:t>Platforms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972425" cy="41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operating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dirty="0">
                <a:latin typeface="Carlito"/>
                <a:cs typeface="Carlito"/>
              </a:rPr>
              <a:t>is running is  </a:t>
            </a:r>
            <a:r>
              <a:rPr sz="3200" spc="-10" dirty="0">
                <a:latin typeface="Carlito"/>
                <a:cs typeface="Carlito"/>
              </a:rPr>
              <a:t>often </a:t>
            </a:r>
            <a:r>
              <a:rPr sz="3200" spc="-25" dirty="0">
                <a:latin typeface="Carlito"/>
                <a:cs typeface="Carlito"/>
              </a:rPr>
              <a:t>referred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as its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platform.</a:t>
            </a:r>
            <a:endParaRPr sz="3200" dirty="0">
              <a:latin typeface="Carlito"/>
              <a:cs typeface="Carlito"/>
            </a:endParaRPr>
          </a:p>
          <a:p>
            <a:pPr marL="355600" marR="26162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5" dirty="0">
                <a:latin typeface="Carlito"/>
                <a:cs typeface="Carlito"/>
              </a:rPr>
              <a:t>However,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operating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be  </a:t>
            </a:r>
            <a:r>
              <a:rPr sz="3200" dirty="0">
                <a:latin typeface="Carlito"/>
                <a:cs typeface="Carlito"/>
              </a:rPr>
              <a:t>run </a:t>
            </a:r>
            <a:r>
              <a:rPr sz="3200" spc="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dirty="0">
                <a:latin typeface="Carlito"/>
                <a:cs typeface="Carlito"/>
              </a:rPr>
              <a:t>also </a:t>
            </a:r>
            <a:r>
              <a:rPr sz="3200" spc="-5" dirty="0">
                <a:latin typeface="Carlito"/>
                <a:cs typeface="Carlito"/>
              </a:rPr>
              <a:t>depends on </a:t>
            </a:r>
            <a:r>
              <a:rPr sz="3200" dirty="0">
                <a:latin typeface="Carlito"/>
                <a:cs typeface="Carlito"/>
              </a:rPr>
              <a:t>the type  or </a:t>
            </a:r>
            <a:r>
              <a:rPr sz="3200" spc="-15" dirty="0">
                <a:latin typeface="Carlito"/>
                <a:cs typeface="Carlito"/>
              </a:rPr>
              <a:t>brand </a:t>
            </a:r>
            <a:r>
              <a:rPr sz="3200" spc="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its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processor.</a:t>
            </a:r>
            <a:endParaRPr sz="3200" dirty="0">
              <a:latin typeface="Carlito"/>
              <a:cs typeface="Carlito"/>
            </a:endParaRPr>
          </a:p>
          <a:p>
            <a:pPr marL="355600" marR="14795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20" dirty="0">
                <a:latin typeface="Carlito"/>
                <a:cs typeface="Carlito"/>
              </a:rPr>
              <a:t>Therefore, </a:t>
            </a:r>
            <a:r>
              <a:rPr sz="3200" b="1" dirty="0">
                <a:latin typeface="Carlito"/>
                <a:cs typeface="Carlito"/>
              </a:rPr>
              <a:t>a </a:t>
            </a:r>
            <a:r>
              <a:rPr sz="3200" b="1" spc="-10" dirty="0">
                <a:latin typeface="Carlito"/>
                <a:cs typeface="Carlito"/>
              </a:rPr>
              <a:t>computer </a:t>
            </a:r>
            <a:r>
              <a:rPr sz="3200" b="1" spc="-15" dirty="0">
                <a:latin typeface="Carlito"/>
                <a:cs typeface="Carlito"/>
              </a:rPr>
              <a:t>platform </a:t>
            </a:r>
            <a:r>
              <a:rPr sz="3200" b="1" dirty="0">
                <a:latin typeface="Carlito"/>
                <a:cs typeface="Carlito"/>
              </a:rPr>
              <a:t>is </a:t>
            </a:r>
            <a:r>
              <a:rPr sz="3200" b="1" spc="-10" dirty="0">
                <a:latin typeface="Carlito"/>
                <a:cs typeface="Carlito"/>
              </a:rPr>
              <a:t>defined </a:t>
            </a:r>
            <a:r>
              <a:rPr sz="3200" b="1" spc="-5" dirty="0">
                <a:latin typeface="Carlito"/>
                <a:cs typeface="Carlito"/>
              </a:rPr>
              <a:t>by  </a:t>
            </a:r>
            <a:r>
              <a:rPr sz="3200" b="1" dirty="0">
                <a:latin typeface="Carlito"/>
                <a:cs typeface="Carlito"/>
              </a:rPr>
              <a:t>its </a:t>
            </a:r>
            <a:r>
              <a:rPr sz="3200" b="1" spc="-10" dirty="0">
                <a:latin typeface="Carlito"/>
                <a:cs typeface="Carlito"/>
              </a:rPr>
              <a:t>processor </a:t>
            </a:r>
            <a:r>
              <a:rPr sz="3200" b="1" dirty="0">
                <a:latin typeface="Carlito"/>
                <a:cs typeface="Carlito"/>
              </a:rPr>
              <a:t>model and its </a:t>
            </a:r>
            <a:r>
              <a:rPr sz="3200" b="1" spc="-10" dirty="0">
                <a:latin typeface="Carlito"/>
                <a:cs typeface="Carlito"/>
              </a:rPr>
              <a:t>operating</a:t>
            </a:r>
            <a:r>
              <a:rPr sz="3200" b="1" spc="10" dirty="0">
                <a:latin typeface="Carlito"/>
                <a:cs typeface="Carlito"/>
              </a:rPr>
              <a:t> </a:t>
            </a:r>
            <a:r>
              <a:rPr sz="3200" b="1" spc="-25" dirty="0">
                <a:latin typeface="Carlito"/>
                <a:cs typeface="Carlito"/>
              </a:rPr>
              <a:t>system.</a:t>
            </a:r>
            <a:endParaRPr sz="3200" b="1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30200" y="291211"/>
            <a:ext cx="8121650" cy="59772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ct val="90000"/>
              </a:lnSpc>
              <a:spcBef>
                <a:spcPts val="48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dirty="0">
                <a:latin typeface="Carlito"/>
                <a:cs typeface="Carlito"/>
              </a:rPr>
              <a:t>type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processor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dirty="0">
                <a:latin typeface="Carlito"/>
                <a:cs typeface="Carlito"/>
              </a:rPr>
              <a:t>in a </a:t>
            </a:r>
            <a:r>
              <a:rPr sz="3200" spc="-15" dirty="0">
                <a:latin typeface="Carlito"/>
                <a:cs typeface="Carlito"/>
              </a:rPr>
              <a:t>computer  </a:t>
            </a:r>
            <a:r>
              <a:rPr sz="3200" spc="-10" dirty="0">
                <a:latin typeface="Carlito"/>
                <a:cs typeface="Carlito"/>
              </a:rPr>
              <a:t>determines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type </a:t>
            </a:r>
            <a:r>
              <a:rPr sz="3200" dirty="0">
                <a:latin typeface="Carlito"/>
                <a:cs typeface="Carlito"/>
              </a:rPr>
              <a:t>of machine </a:t>
            </a:r>
            <a:r>
              <a:rPr sz="3200" spc="-5" dirty="0">
                <a:latin typeface="Carlito"/>
                <a:cs typeface="Carlito"/>
              </a:rPr>
              <a:t>language </a:t>
            </a:r>
            <a:r>
              <a:rPr sz="3200" dirty="0">
                <a:latin typeface="Carlito"/>
                <a:cs typeface="Carlito"/>
              </a:rPr>
              <a:t>it  </a:t>
            </a:r>
            <a:r>
              <a:rPr sz="3200" spc="-5" dirty="0">
                <a:latin typeface="Carlito"/>
                <a:cs typeface="Carlito"/>
              </a:rPr>
              <a:t>uses, </a:t>
            </a:r>
            <a:r>
              <a:rPr sz="3200" dirty="0">
                <a:latin typeface="Carlito"/>
                <a:cs typeface="Carlito"/>
              </a:rPr>
              <a:t>and the </a:t>
            </a:r>
            <a:r>
              <a:rPr sz="3200" spc="-15" dirty="0">
                <a:latin typeface="Carlito"/>
                <a:cs typeface="Carlito"/>
              </a:rPr>
              <a:t>computer‘s operating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dirty="0">
                <a:latin typeface="Carlito"/>
                <a:cs typeface="Carlito"/>
              </a:rPr>
              <a:t>is  </a:t>
            </a:r>
            <a:r>
              <a:rPr sz="3200" spc="-15" dirty="0">
                <a:latin typeface="Carlito"/>
                <a:cs typeface="Carlito"/>
              </a:rPr>
              <a:t>created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work </a:t>
            </a:r>
            <a:r>
              <a:rPr sz="3200" dirty="0">
                <a:latin typeface="Carlito"/>
                <a:cs typeface="Carlito"/>
              </a:rPr>
              <a:t>with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type </a:t>
            </a:r>
            <a:r>
              <a:rPr sz="3200" spc="-5" dirty="0">
                <a:latin typeface="Carlito"/>
                <a:cs typeface="Carlito"/>
              </a:rPr>
              <a:t>of  machine language </a:t>
            </a:r>
            <a:r>
              <a:rPr sz="3200" spc="-10" dirty="0">
                <a:latin typeface="Carlito"/>
                <a:cs typeface="Carlito"/>
              </a:rPr>
              <a:t>thereby defining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5" dirty="0">
                <a:latin typeface="Carlito"/>
                <a:cs typeface="Carlito"/>
              </a:rPr>
              <a:t>computer‘s </a:t>
            </a:r>
            <a:r>
              <a:rPr sz="3200" spc="-20" dirty="0">
                <a:latin typeface="Carlito"/>
                <a:cs typeface="Carlito"/>
              </a:rPr>
              <a:t>platform </a:t>
            </a:r>
            <a:r>
              <a:rPr sz="3200" dirty="0">
                <a:latin typeface="Carlito"/>
                <a:cs typeface="Carlito"/>
              </a:rPr>
              <a:t>– the type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architecture  </a:t>
            </a:r>
            <a:r>
              <a:rPr sz="3200" spc="-5" dirty="0">
                <a:latin typeface="Carlito"/>
                <a:cs typeface="Carlito"/>
              </a:rPr>
              <a:t>of the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5" dirty="0">
                <a:latin typeface="Carlito"/>
                <a:cs typeface="Carlito"/>
              </a:rPr>
              <a:t>or </a:t>
            </a:r>
            <a:r>
              <a:rPr sz="3200" spc="-15" dirty="0">
                <a:latin typeface="Carlito"/>
                <a:cs typeface="Carlito"/>
              </a:rPr>
              <a:t>family </a:t>
            </a:r>
            <a:r>
              <a:rPr sz="3200" dirty="0">
                <a:latin typeface="Carlito"/>
                <a:cs typeface="Carlito"/>
              </a:rPr>
              <a:t>–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dirty="0">
                <a:latin typeface="Carlito"/>
                <a:cs typeface="Carlito"/>
              </a:rPr>
              <a:t>IBM PC  or </a:t>
            </a:r>
            <a:r>
              <a:rPr sz="3200" spc="-5" dirty="0">
                <a:latin typeface="Carlito"/>
                <a:cs typeface="Carlito"/>
              </a:rPr>
              <a:t>Apple</a:t>
            </a:r>
            <a:r>
              <a:rPr sz="3200" spc="-10" dirty="0">
                <a:latin typeface="Carlito"/>
                <a:cs typeface="Carlito"/>
              </a:rPr>
              <a:t> Macintosh.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50" dirty="0">
              <a:latin typeface="Carlito"/>
              <a:cs typeface="Carlito"/>
            </a:endParaRPr>
          </a:p>
          <a:p>
            <a:pPr marL="355600" marR="440055" indent="-343535">
              <a:lnSpc>
                <a:spcPct val="9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Without some </a:t>
            </a:r>
            <a:r>
              <a:rPr sz="3200" spc="-25" dirty="0">
                <a:latin typeface="Carlito"/>
                <a:cs typeface="Carlito"/>
              </a:rPr>
              <a:t>form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modification or  </a:t>
            </a:r>
            <a:r>
              <a:rPr sz="3200" spc="-20" dirty="0">
                <a:latin typeface="Carlito"/>
                <a:cs typeface="Carlito"/>
              </a:rPr>
              <a:t>conversion, </a:t>
            </a:r>
            <a:r>
              <a:rPr sz="3200" spc="-15" dirty="0">
                <a:latin typeface="Carlito"/>
                <a:cs typeface="Carlito"/>
              </a:rPr>
              <a:t>software created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5" dirty="0">
                <a:latin typeface="Carlito"/>
                <a:cs typeface="Carlito"/>
              </a:rPr>
              <a:t>one type </a:t>
            </a:r>
            <a:r>
              <a:rPr sz="3200" dirty="0">
                <a:latin typeface="Carlito"/>
                <a:cs typeface="Carlito"/>
              </a:rPr>
              <a:t>of  </a:t>
            </a:r>
            <a:r>
              <a:rPr sz="3200" spc="-20" dirty="0">
                <a:latin typeface="Carlito"/>
                <a:cs typeface="Carlito"/>
              </a:rPr>
              <a:t>platform </a:t>
            </a:r>
            <a:r>
              <a:rPr sz="3200" dirty="0">
                <a:latin typeface="Carlito"/>
                <a:cs typeface="Carlito"/>
              </a:rPr>
              <a:t>will </a:t>
            </a:r>
            <a:r>
              <a:rPr sz="3200" spc="-5" dirty="0">
                <a:latin typeface="Carlito"/>
                <a:cs typeface="Carlito"/>
              </a:rPr>
              <a:t>not </a:t>
            </a:r>
            <a:r>
              <a:rPr sz="3200" spc="-10" dirty="0">
                <a:latin typeface="Carlito"/>
                <a:cs typeface="Carlito"/>
              </a:rPr>
              <a:t>work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5" dirty="0">
                <a:latin typeface="Carlito"/>
                <a:cs typeface="Carlito"/>
              </a:rPr>
              <a:t>or run on </a:t>
            </a:r>
            <a:r>
              <a:rPr sz="3200" dirty="0">
                <a:latin typeface="Carlito"/>
                <a:cs typeface="Carlito"/>
              </a:rPr>
              <a:t>another  </a:t>
            </a:r>
            <a:r>
              <a:rPr sz="3200" spc="-15" dirty="0">
                <a:latin typeface="Carlito"/>
                <a:cs typeface="Carlito"/>
              </a:rPr>
              <a:t>platform.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74370" y="339978"/>
            <a:ext cx="8183880" cy="4611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69545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Once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20" dirty="0">
                <a:latin typeface="Carlito"/>
                <a:cs typeface="Carlito"/>
              </a:rPr>
              <a:t>understand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platform, you </a:t>
            </a:r>
            <a:r>
              <a:rPr sz="3200" spc="-10" dirty="0">
                <a:latin typeface="Carlito"/>
                <a:cs typeface="Carlito"/>
              </a:rPr>
              <a:t>can  </a:t>
            </a:r>
            <a:r>
              <a:rPr sz="3200" spc="-5" dirty="0">
                <a:latin typeface="Carlito"/>
                <a:cs typeface="Carlito"/>
              </a:rPr>
              <a:t>begin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understand </a:t>
            </a:r>
            <a:r>
              <a:rPr sz="3200" spc="-5" dirty="0">
                <a:latin typeface="Carlito"/>
                <a:cs typeface="Carlito"/>
              </a:rPr>
              <a:t>what particular </a:t>
            </a:r>
            <a:r>
              <a:rPr sz="3200" spc="-10" dirty="0">
                <a:latin typeface="Carlito"/>
                <a:cs typeface="Carlito"/>
              </a:rPr>
              <a:t>computer 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capable of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what </a:t>
            </a:r>
            <a:r>
              <a:rPr sz="3200" dirty="0">
                <a:latin typeface="Carlito"/>
                <a:cs typeface="Carlito"/>
              </a:rPr>
              <a:t>type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tasks </a:t>
            </a:r>
            <a:r>
              <a:rPr sz="3200" spc="-10" dirty="0">
                <a:latin typeface="Carlito"/>
                <a:cs typeface="Carlito"/>
              </a:rPr>
              <a:t>it  can </a:t>
            </a:r>
            <a:r>
              <a:rPr sz="3200" spc="-5" dirty="0">
                <a:latin typeface="Carlito"/>
                <a:cs typeface="Carlito"/>
              </a:rPr>
              <a:t>be used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05" dirty="0">
                <a:latin typeface="Carlito"/>
                <a:cs typeface="Carlito"/>
              </a:rPr>
              <a:t>for.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44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As a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60" dirty="0">
                <a:latin typeface="Carlito"/>
                <a:cs typeface="Carlito"/>
              </a:rPr>
              <a:t>user,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addition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learning how 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use </a:t>
            </a:r>
            <a:r>
              <a:rPr sz="3200" spc="-10" dirty="0">
                <a:latin typeface="Carlito"/>
                <a:cs typeface="Carlito"/>
              </a:rPr>
              <a:t>your </a:t>
            </a:r>
            <a:r>
              <a:rPr sz="3200" spc="-5" dirty="0">
                <a:latin typeface="Carlito"/>
                <a:cs typeface="Carlito"/>
              </a:rPr>
              <a:t>application </a:t>
            </a:r>
            <a:r>
              <a:rPr sz="3200" spc="-10" dirty="0">
                <a:latin typeface="Carlito"/>
                <a:cs typeface="Carlito"/>
              </a:rPr>
              <a:t>software, </a:t>
            </a:r>
            <a:r>
              <a:rPr sz="3200" spc="-15" dirty="0">
                <a:latin typeface="Carlito"/>
                <a:cs typeface="Carlito"/>
              </a:rPr>
              <a:t>you must  </a:t>
            </a:r>
            <a:r>
              <a:rPr sz="3200" dirty="0">
                <a:latin typeface="Carlito"/>
                <a:cs typeface="Carlito"/>
              </a:rPr>
              <a:t>learn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some </a:t>
            </a:r>
            <a:r>
              <a:rPr sz="3200" spc="-10" dirty="0">
                <a:latin typeface="Carlito"/>
                <a:cs typeface="Carlito"/>
              </a:rPr>
              <a:t>degree,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operating </a:t>
            </a:r>
            <a:r>
              <a:rPr sz="3200" spc="-30" dirty="0">
                <a:latin typeface="Carlito"/>
                <a:cs typeface="Carlito"/>
              </a:rPr>
              <a:t>system  </a:t>
            </a:r>
            <a:r>
              <a:rPr sz="3200" spc="-5" dirty="0">
                <a:latin typeface="Carlito"/>
                <a:cs typeface="Carlito"/>
              </a:rPr>
              <a:t>with </a:t>
            </a:r>
            <a:r>
              <a:rPr sz="3200" dirty="0">
                <a:latin typeface="Carlito"/>
                <a:cs typeface="Carlito"/>
              </a:rPr>
              <a:t>which </a:t>
            </a:r>
            <a:r>
              <a:rPr sz="3200" spc="-5" dirty="0">
                <a:latin typeface="Carlito"/>
                <a:cs typeface="Carlito"/>
              </a:rPr>
              <a:t>they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work.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3149" y="192150"/>
            <a:ext cx="599694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7870" marR="5080" indent="-199580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Common </a:t>
            </a:r>
            <a:r>
              <a:rPr sz="4000" spc="-20" dirty="0"/>
              <a:t>Operating </a:t>
            </a:r>
            <a:r>
              <a:rPr sz="4000" spc="-25" dirty="0"/>
              <a:t>Systems:  </a:t>
            </a:r>
            <a:r>
              <a:rPr sz="4000" spc="-20" dirty="0"/>
              <a:t>Platforms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563751"/>
            <a:ext cx="7712075" cy="4860946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3535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95" dirty="0">
                <a:latin typeface="Carlito"/>
                <a:cs typeface="Carlito"/>
              </a:rPr>
              <a:t>Today,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dirty="0">
                <a:latin typeface="Carlito"/>
                <a:cs typeface="Carlito"/>
              </a:rPr>
              <a:t>than </a:t>
            </a:r>
            <a:r>
              <a:rPr sz="3000" spc="-5" dirty="0">
                <a:latin typeface="Carlito"/>
                <a:cs typeface="Carlito"/>
              </a:rPr>
              <a:t>half of </a:t>
            </a:r>
            <a:r>
              <a:rPr sz="3000" spc="-15" dirty="0">
                <a:latin typeface="Carlito"/>
                <a:cs typeface="Carlito"/>
              </a:rPr>
              <a:t>microcomputers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world </a:t>
            </a:r>
            <a:r>
              <a:rPr sz="3000" dirty="0">
                <a:latin typeface="Carlito"/>
                <a:cs typeface="Carlito"/>
              </a:rPr>
              <a:t>run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spc="-10" dirty="0">
                <a:latin typeface="Carlito"/>
                <a:cs typeface="Carlito"/>
              </a:rPr>
              <a:t>Microsoft Windows.</a:t>
            </a:r>
            <a:endParaRPr sz="3000" dirty="0">
              <a:latin typeface="Carlito"/>
              <a:cs typeface="Carlito"/>
            </a:endParaRPr>
          </a:p>
          <a:p>
            <a:pPr marL="355600" marR="278765" indent="-343535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45" dirty="0">
                <a:latin typeface="Carlito"/>
                <a:cs typeface="Carlito"/>
              </a:rPr>
              <a:t>However, </a:t>
            </a:r>
            <a:r>
              <a:rPr sz="3000" spc="-5" dirty="0">
                <a:latin typeface="Carlito"/>
                <a:cs typeface="Carlito"/>
              </a:rPr>
              <a:t>popular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systems </a:t>
            </a:r>
            <a:r>
              <a:rPr sz="3000" spc="-15" dirty="0">
                <a:latin typeface="Carlito"/>
                <a:cs typeface="Carlito"/>
              </a:rPr>
              <a:t>available  </a:t>
            </a:r>
            <a:r>
              <a:rPr sz="3000" spc="-5" dirty="0">
                <a:latin typeface="Carlito"/>
                <a:cs typeface="Carlito"/>
              </a:rPr>
              <a:t>include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following:</a:t>
            </a:r>
            <a:endParaRPr sz="30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dirty="0">
                <a:latin typeface="Carlito"/>
                <a:cs typeface="Carlito"/>
              </a:rPr>
              <a:t>DOS</a:t>
            </a:r>
          </a:p>
          <a:p>
            <a:pPr marL="355600" indent="-3435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0" dirty="0">
                <a:latin typeface="Carlito"/>
                <a:cs typeface="Carlito"/>
              </a:rPr>
              <a:t>Windows</a:t>
            </a:r>
            <a:r>
              <a:rPr sz="3000" spc="-5" dirty="0">
                <a:latin typeface="Carlito"/>
                <a:cs typeface="Carlito"/>
              </a:rPr>
              <a:t> 3.X/95/NT/98/Me/2000/Xp/7/8</a:t>
            </a:r>
            <a:endParaRPr sz="30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O/S2</a:t>
            </a:r>
            <a:endParaRPr lang="en-US" sz="3000" spc="-5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0" dirty="0">
                <a:latin typeface="Carlito"/>
                <a:cs typeface="Carlito"/>
              </a:rPr>
              <a:t>Unix</a:t>
            </a:r>
            <a:r>
              <a:rPr lang="en-US" sz="3000" spc="-5" dirty="0">
                <a:latin typeface="Carlito"/>
                <a:cs typeface="Carlito"/>
              </a:rPr>
              <a:t>/Linux</a:t>
            </a:r>
          </a:p>
          <a:p>
            <a:pPr marL="355600" indent="-3435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3000" dirty="0">
                <a:latin typeface="Carlito"/>
                <a:cs typeface="Carlito"/>
              </a:rPr>
              <a:t>Mac</a:t>
            </a:r>
            <a:r>
              <a:rPr lang="en-US" sz="3000" spc="-20" dirty="0">
                <a:latin typeface="Carlito"/>
                <a:cs typeface="Carlito"/>
              </a:rPr>
              <a:t> </a:t>
            </a:r>
            <a:r>
              <a:rPr lang="en-US" sz="3000" spc="-5" dirty="0">
                <a:latin typeface="Carlito"/>
                <a:cs typeface="Carlito"/>
              </a:rPr>
              <a:t>OS</a:t>
            </a:r>
            <a:endParaRPr lang="en-US" sz="30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3000" spc="-30" dirty="0">
                <a:latin typeface="Carlito"/>
                <a:cs typeface="Carlito"/>
              </a:rPr>
              <a:t>NetWare</a:t>
            </a:r>
            <a:endParaRPr lang="en-US" sz="3000" dirty="0">
              <a:latin typeface="Carlito"/>
              <a:cs typeface="Carli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84270-35CE-4D9F-ACA6-FB99C99CB1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6" r="20501" b="7837"/>
          <a:stretch/>
        </p:blipFill>
        <p:spPr>
          <a:xfrm>
            <a:off x="2133600" y="5410200"/>
            <a:ext cx="441541" cy="5097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531FC8-A072-4847-8268-6281B6C95A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7333" y1="30778" x2="37333" y2="30778"/>
                        <a14:foregroundMark x1="82222" y1="30111" x2="82222" y2="30111"/>
                        <a14:foregroundMark x1="23444" y1="64556" x2="23444" y2="64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294" t="11692" r="9817" b="12753"/>
          <a:stretch/>
        </p:blipFill>
        <p:spPr>
          <a:xfrm>
            <a:off x="7266563" y="3886200"/>
            <a:ext cx="607051" cy="523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6F5E7A-AA6C-45C6-9FC5-403E5AB1B6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370" y="4833552"/>
            <a:ext cx="541230" cy="6409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C75187-2E88-468C-8888-C54C7218ACE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7" t="39340" r="23352" b="35787"/>
          <a:stretch/>
        </p:blipFill>
        <p:spPr>
          <a:xfrm>
            <a:off x="1573149" y="4381608"/>
            <a:ext cx="1455801" cy="4852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4569EB-2468-4235-A728-D216E9EA2C5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5987848"/>
            <a:ext cx="358128" cy="4852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5FC81E-FE13-44CC-9DEE-4F2C363DF8CB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33"/>
          <a:stretch/>
        </p:blipFill>
        <p:spPr>
          <a:xfrm>
            <a:off x="1573149" y="3342441"/>
            <a:ext cx="914403" cy="5867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9033" y="461899"/>
            <a:ext cx="32645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Device</a:t>
            </a:r>
            <a:r>
              <a:rPr spc="-70" dirty="0"/>
              <a:t> </a:t>
            </a:r>
            <a:r>
              <a:rPr spc="-20" dirty="0"/>
              <a:t>Drivers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232153"/>
            <a:ext cx="8411845" cy="47815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1490345" indent="-343535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Device </a:t>
            </a:r>
            <a:r>
              <a:rPr sz="3000" spc="-20" dirty="0">
                <a:latin typeface="Carlito"/>
                <a:cs typeface="Carlito"/>
              </a:rPr>
              <a:t>drivers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spc="-10" dirty="0">
                <a:latin typeface="Carlito"/>
                <a:cs typeface="Carlito"/>
              </a:rPr>
              <a:t>viewed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15" dirty="0">
                <a:latin typeface="Carlito"/>
                <a:cs typeface="Carlito"/>
              </a:rPr>
              <a:t>“divisional  </a:t>
            </a:r>
            <a:r>
              <a:rPr sz="3000" spc="-40" dirty="0">
                <a:latin typeface="Carlito"/>
                <a:cs typeface="Carlito"/>
              </a:rPr>
              <a:t>managers”.</a:t>
            </a:r>
            <a:endParaRPr sz="3000">
              <a:latin typeface="Carlito"/>
              <a:cs typeface="Carlito"/>
            </a:endParaRPr>
          </a:p>
          <a:p>
            <a:pPr marL="355600" marR="5080" indent="-343535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When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buy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5" dirty="0">
                <a:latin typeface="Carlito"/>
                <a:cs typeface="Carlito"/>
              </a:rPr>
              <a:t>external </a:t>
            </a:r>
            <a:r>
              <a:rPr sz="3000" spc="-5" dirty="0">
                <a:latin typeface="Carlito"/>
                <a:cs typeface="Carlito"/>
              </a:rPr>
              <a:t>device such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15" dirty="0">
                <a:latin typeface="Carlito"/>
                <a:cs typeface="Carlito"/>
              </a:rPr>
              <a:t>printer </a:t>
            </a:r>
            <a:r>
              <a:rPr sz="3000" spc="-10" dirty="0">
                <a:latin typeface="Carlito"/>
                <a:cs typeface="Carlito"/>
              </a:rPr>
              <a:t>to  connect </a:t>
            </a:r>
            <a:r>
              <a:rPr sz="3000" spc="-15" dirty="0">
                <a:latin typeface="Carlito"/>
                <a:cs typeface="Carlito"/>
              </a:rPr>
              <a:t>to your </a:t>
            </a:r>
            <a:r>
              <a:rPr sz="3000" spc="-40" dirty="0">
                <a:latin typeface="Carlito"/>
                <a:cs typeface="Carlito"/>
              </a:rPr>
              <a:t>computer,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computer to </a:t>
            </a:r>
            <a:r>
              <a:rPr sz="3000" spc="-5" dirty="0">
                <a:latin typeface="Carlito"/>
                <a:cs typeface="Carlito"/>
              </a:rPr>
              <a:t>be  </a:t>
            </a:r>
            <a:r>
              <a:rPr sz="3000" dirty="0">
                <a:latin typeface="Carlito"/>
                <a:cs typeface="Carlito"/>
              </a:rPr>
              <a:t>able </a:t>
            </a:r>
            <a:r>
              <a:rPr sz="3000" spc="-10" dirty="0">
                <a:latin typeface="Carlito"/>
                <a:cs typeface="Carlito"/>
              </a:rPr>
              <a:t>to work </a:t>
            </a:r>
            <a:r>
              <a:rPr sz="3000" spc="-5" dirty="0">
                <a:latin typeface="Carlito"/>
                <a:cs typeface="Carlito"/>
              </a:rPr>
              <a:t>with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device, there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be </a:t>
            </a:r>
            <a:r>
              <a:rPr sz="3000" spc="-5" dirty="0">
                <a:latin typeface="Carlito"/>
                <a:cs typeface="Carlito"/>
              </a:rPr>
              <a:t>some  </a:t>
            </a:r>
            <a:r>
              <a:rPr sz="3000" spc="-20" dirty="0">
                <a:latin typeface="Carlito"/>
                <a:cs typeface="Carlito"/>
              </a:rPr>
              <a:t>form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communication between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device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-10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45" dirty="0">
                <a:latin typeface="Carlito"/>
                <a:cs typeface="Carlito"/>
              </a:rPr>
              <a:t>computer.</a:t>
            </a:r>
            <a:endParaRPr sz="3000">
              <a:latin typeface="Carlito"/>
              <a:cs typeface="Carlito"/>
            </a:endParaRPr>
          </a:p>
          <a:p>
            <a:pPr marL="355600" marR="70485" indent="-343535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35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enable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spc="-10" dirty="0">
                <a:latin typeface="Carlito"/>
                <a:cs typeface="Carlito"/>
              </a:rPr>
              <a:t>communication,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device </a:t>
            </a:r>
            <a:r>
              <a:rPr sz="3000" spc="-10" dirty="0">
                <a:latin typeface="Carlito"/>
                <a:cs typeface="Carlito"/>
              </a:rPr>
              <a:t>needs </a:t>
            </a:r>
            <a:r>
              <a:rPr sz="3000" spc="-15" dirty="0">
                <a:latin typeface="Carlito"/>
                <a:cs typeface="Carlito"/>
              </a:rPr>
              <a:t>to  “introduce </a:t>
            </a:r>
            <a:r>
              <a:rPr sz="3000" spc="15" dirty="0">
                <a:latin typeface="Carlito"/>
                <a:cs typeface="Carlito"/>
              </a:rPr>
              <a:t>itself”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computer in </a:t>
            </a:r>
            <a:r>
              <a:rPr sz="3000" dirty="0">
                <a:latin typeface="Carlito"/>
                <a:cs typeface="Carlito"/>
              </a:rPr>
              <a:t>some </a:t>
            </a:r>
            <a:r>
              <a:rPr sz="3000" spc="-30" dirty="0">
                <a:latin typeface="Carlito"/>
                <a:cs typeface="Carlito"/>
              </a:rPr>
              <a:t>way  </a:t>
            </a:r>
            <a:r>
              <a:rPr sz="3000" spc="-5" dirty="0">
                <a:latin typeface="Carlito"/>
                <a:cs typeface="Carlito"/>
              </a:rPr>
              <a:t>specifying </a:t>
            </a:r>
            <a:r>
              <a:rPr sz="3000" dirty="0">
                <a:latin typeface="Carlito"/>
                <a:cs typeface="Carlito"/>
              </a:rPr>
              <a:t>its </a:t>
            </a:r>
            <a:r>
              <a:rPr sz="3000" spc="-15" dirty="0">
                <a:latin typeface="Carlito"/>
                <a:cs typeface="Carlito"/>
              </a:rPr>
              <a:t>nature </a:t>
            </a:r>
            <a:r>
              <a:rPr sz="3000" dirty="0">
                <a:latin typeface="Carlito"/>
                <a:cs typeface="Carlito"/>
              </a:rPr>
              <a:t>and the </a:t>
            </a:r>
            <a:r>
              <a:rPr sz="3000" spc="-20" dirty="0">
                <a:latin typeface="Carlito"/>
                <a:cs typeface="Carlito"/>
              </a:rPr>
              <a:t>“form </a:t>
            </a:r>
            <a:r>
              <a:rPr sz="3000" spc="-5" dirty="0">
                <a:latin typeface="Carlito"/>
                <a:cs typeface="Carlito"/>
              </a:rPr>
              <a:t>of language </a:t>
            </a:r>
            <a:r>
              <a:rPr sz="3000" dirty="0">
                <a:latin typeface="Carlito"/>
                <a:cs typeface="Carlito"/>
              </a:rPr>
              <a:t>it  </a:t>
            </a:r>
            <a:r>
              <a:rPr sz="3000" spc="-45" dirty="0">
                <a:latin typeface="Carlito"/>
                <a:cs typeface="Carlito"/>
              </a:rPr>
              <a:t>speaks”.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267970"/>
            <a:ext cx="7840980" cy="568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62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spc="-10" dirty="0">
                <a:latin typeface="Carlito"/>
                <a:cs typeface="Carlito"/>
              </a:rPr>
              <a:t>introduction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done </a:t>
            </a:r>
            <a:r>
              <a:rPr sz="3200" spc="-10" dirty="0">
                <a:latin typeface="Carlito"/>
                <a:cs typeface="Carlito"/>
              </a:rPr>
              <a:t>by </a:t>
            </a:r>
            <a:r>
              <a:rPr sz="3200" spc="-5" dirty="0">
                <a:latin typeface="Carlito"/>
                <a:cs typeface="Carlito"/>
              </a:rPr>
              <a:t>special </a:t>
            </a:r>
            <a:r>
              <a:rPr sz="3200" spc="-10" dirty="0">
                <a:latin typeface="Carlito"/>
                <a:cs typeface="Carlito"/>
              </a:rPr>
              <a:t>software  </a:t>
            </a:r>
            <a:r>
              <a:rPr sz="3200" spc="-5" dirty="0">
                <a:latin typeface="Carlito"/>
                <a:cs typeface="Carlito"/>
              </a:rPr>
              <a:t>called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device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55" dirty="0">
                <a:latin typeface="Carlito"/>
                <a:cs typeface="Carlito"/>
              </a:rPr>
              <a:t>driver.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Device </a:t>
            </a:r>
            <a:r>
              <a:rPr sz="3200" spc="-15" dirty="0">
                <a:latin typeface="Carlito"/>
                <a:cs typeface="Carlito"/>
              </a:rPr>
              <a:t>drivers </a:t>
            </a:r>
            <a:r>
              <a:rPr sz="3200" spc="-5" dirty="0">
                <a:latin typeface="Carlito"/>
                <a:cs typeface="Carlito"/>
              </a:rPr>
              <a:t>comprise </a:t>
            </a:r>
            <a:r>
              <a:rPr sz="3200" spc="-15" dirty="0">
                <a:latin typeface="Carlito"/>
                <a:cs typeface="Carlito"/>
              </a:rPr>
              <a:t>software programs  </a:t>
            </a:r>
            <a:r>
              <a:rPr sz="3200" spc="-5" dirty="0">
                <a:latin typeface="Carlito"/>
                <a:cs typeface="Carlito"/>
              </a:rPr>
              <a:t>that support specific </a:t>
            </a:r>
            <a:r>
              <a:rPr sz="3200" spc="-10" dirty="0">
                <a:latin typeface="Carlito"/>
                <a:cs typeface="Carlito"/>
              </a:rPr>
              <a:t>peripheral </a:t>
            </a:r>
            <a:r>
              <a:rPr sz="3200" spc="-5" dirty="0">
                <a:latin typeface="Carlito"/>
                <a:cs typeface="Carlito"/>
              </a:rPr>
              <a:t>devices, such 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15" dirty="0">
                <a:latin typeface="Carlito"/>
                <a:cs typeface="Carlito"/>
              </a:rPr>
              <a:t>printers, </a:t>
            </a:r>
            <a:r>
              <a:rPr sz="3200" spc="-10" dirty="0">
                <a:latin typeface="Carlito"/>
                <a:cs typeface="Carlito"/>
              </a:rPr>
              <a:t>CD-ROM drives, </a:t>
            </a:r>
            <a:r>
              <a:rPr sz="3200" dirty="0">
                <a:latin typeface="Carlito"/>
                <a:cs typeface="Carlito"/>
              </a:rPr>
              <a:t>mice, and </a:t>
            </a:r>
            <a:r>
              <a:rPr sz="3200" spc="-15" dirty="0">
                <a:latin typeface="Carlito"/>
                <a:cs typeface="Carlito"/>
              </a:rPr>
              <a:t>display  </a:t>
            </a:r>
            <a:r>
              <a:rPr sz="3200" spc="-5" dirty="0">
                <a:latin typeface="Carlito"/>
                <a:cs typeface="Carlito"/>
              </a:rPr>
              <a:t>adapter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cards.</a:t>
            </a:r>
            <a:endParaRPr sz="3200">
              <a:latin typeface="Carlito"/>
              <a:cs typeface="Carlito"/>
            </a:endParaRPr>
          </a:p>
          <a:p>
            <a:pPr marL="355600" marR="25336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operating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spc="-5" dirty="0">
                <a:latin typeface="Carlito"/>
                <a:cs typeface="Carlito"/>
              </a:rPr>
              <a:t>commands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0" dirty="0">
                <a:latin typeface="Carlito"/>
                <a:cs typeface="Carlito"/>
              </a:rPr>
              <a:t>driver,  </a:t>
            </a:r>
            <a:r>
              <a:rPr sz="3200" dirty="0">
                <a:latin typeface="Carlito"/>
                <a:cs typeface="Carlito"/>
              </a:rPr>
              <a:t>which in turn </a:t>
            </a:r>
            <a:r>
              <a:rPr sz="3200" spc="-5" dirty="0">
                <a:latin typeface="Carlito"/>
                <a:cs typeface="Carlito"/>
              </a:rPr>
              <a:t>commands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peripheral  devices.</a:t>
            </a:r>
            <a:endParaRPr sz="3200">
              <a:latin typeface="Carlito"/>
              <a:cs typeface="Carlito"/>
            </a:endParaRPr>
          </a:p>
          <a:p>
            <a:pPr marL="355600" marR="86423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47040" algn="l"/>
                <a:tab pos="447675" algn="l"/>
              </a:tabLst>
            </a:pPr>
            <a:r>
              <a:rPr dirty="0"/>
              <a:t>	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15" dirty="0">
                <a:latin typeface="Carlito"/>
                <a:cs typeface="Carlito"/>
              </a:rPr>
              <a:t>contains </a:t>
            </a:r>
            <a:r>
              <a:rPr sz="3200" spc="-5" dirty="0">
                <a:latin typeface="Carlito"/>
                <a:cs typeface="Carlito"/>
              </a:rPr>
              <a:t>directions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5" dirty="0">
                <a:latin typeface="Carlito"/>
                <a:cs typeface="Carlito"/>
              </a:rPr>
              <a:t>device-specific  </a:t>
            </a:r>
            <a:r>
              <a:rPr sz="3200" spc="-15" dirty="0">
                <a:latin typeface="Carlito"/>
                <a:cs typeface="Carlito"/>
              </a:rPr>
              <a:t>software drivers.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700277"/>
            <a:ext cx="7985125" cy="4513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rlito"/>
                <a:cs typeface="Carlito"/>
              </a:rPr>
              <a:t>Latest </a:t>
            </a:r>
            <a:r>
              <a:rPr sz="3200" spc="-15" dirty="0">
                <a:latin typeface="Carlito"/>
                <a:cs typeface="Carlito"/>
              </a:rPr>
              <a:t>versions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spc="-10" dirty="0">
                <a:latin typeface="Carlito"/>
                <a:cs typeface="Carlito"/>
              </a:rPr>
              <a:t>come packaged  </a:t>
            </a:r>
            <a:r>
              <a:rPr sz="3200" dirty="0">
                <a:latin typeface="Carlito"/>
                <a:cs typeface="Carlito"/>
              </a:rPr>
              <a:t>with </a:t>
            </a:r>
            <a:r>
              <a:rPr sz="3200" spc="-10" dirty="0">
                <a:latin typeface="Carlito"/>
                <a:cs typeface="Carlito"/>
              </a:rPr>
              <a:t>hundreds </a:t>
            </a:r>
            <a:r>
              <a:rPr sz="3200" spc="-5" dirty="0">
                <a:latin typeface="Carlito"/>
                <a:cs typeface="Carlito"/>
              </a:rPr>
              <a:t>of device </a:t>
            </a:r>
            <a:r>
              <a:rPr sz="3200" spc="-15" dirty="0">
                <a:latin typeface="Carlito"/>
                <a:cs typeface="Carlito"/>
              </a:rPr>
              <a:t>drivers from </a:t>
            </a:r>
            <a:r>
              <a:rPr sz="3200" spc="-25" dirty="0">
                <a:latin typeface="Carlito"/>
                <a:cs typeface="Carlito"/>
              </a:rPr>
              <a:t>different  </a:t>
            </a:r>
            <a:r>
              <a:rPr sz="3200" spc="-15" dirty="0">
                <a:latin typeface="Carlito"/>
                <a:cs typeface="Carlito"/>
              </a:rPr>
              <a:t>manufacturers </a:t>
            </a:r>
            <a:r>
              <a:rPr sz="3200" dirty="0">
                <a:latin typeface="Carlito"/>
                <a:cs typeface="Carlito"/>
              </a:rPr>
              <a:t>so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if </a:t>
            </a:r>
            <a:r>
              <a:rPr sz="3200" spc="-15" dirty="0">
                <a:latin typeface="Carlito"/>
                <a:cs typeface="Carlito"/>
              </a:rPr>
              <a:t>you are </a:t>
            </a:r>
            <a:r>
              <a:rPr sz="3200" dirty="0">
                <a:latin typeface="Carlito"/>
                <a:cs typeface="Carlito"/>
              </a:rPr>
              <a:t>running  </a:t>
            </a: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spc="-10" dirty="0">
                <a:latin typeface="Carlito"/>
                <a:cs typeface="Carlito"/>
              </a:rPr>
              <a:t>you </a:t>
            </a:r>
            <a:r>
              <a:rPr sz="3200" spc="-15" dirty="0">
                <a:latin typeface="Carlito"/>
                <a:cs typeface="Carlito"/>
              </a:rPr>
              <a:t>just </a:t>
            </a:r>
            <a:r>
              <a:rPr sz="3200" spc="-5" dirty="0">
                <a:latin typeface="Carlito"/>
                <a:cs typeface="Carlito"/>
              </a:rPr>
              <a:t>connect </a:t>
            </a:r>
            <a:r>
              <a:rPr sz="3200" spc="-10" dirty="0">
                <a:latin typeface="Carlito"/>
                <a:cs typeface="Carlito"/>
              </a:rPr>
              <a:t>most </a:t>
            </a:r>
            <a:r>
              <a:rPr sz="3200" spc="-5" dirty="0">
                <a:latin typeface="Carlito"/>
                <a:cs typeface="Carlito"/>
              </a:rPr>
              <a:t>devices </a:t>
            </a:r>
            <a:r>
              <a:rPr sz="3200" spc="-20" dirty="0">
                <a:latin typeface="Carlito"/>
                <a:cs typeface="Carlito"/>
              </a:rPr>
              <a:t>to  </a:t>
            </a:r>
            <a:r>
              <a:rPr sz="3200" spc="-10" dirty="0">
                <a:latin typeface="Carlito"/>
                <a:cs typeface="Carlito"/>
              </a:rPr>
              <a:t>your computer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off </a:t>
            </a:r>
            <a:r>
              <a:rPr sz="3200" spc="-10" dirty="0">
                <a:latin typeface="Carlito"/>
                <a:cs typeface="Carlito"/>
              </a:rPr>
              <a:t>you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go.</a:t>
            </a:r>
            <a:endParaRPr sz="3200">
              <a:latin typeface="Carlito"/>
              <a:cs typeface="Carlito"/>
            </a:endParaRPr>
          </a:p>
          <a:p>
            <a:pPr marL="355600" marR="11176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Devices that </a:t>
            </a:r>
            <a:r>
              <a:rPr sz="3200" spc="-10" dirty="0">
                <a:latin typeface="Carlito"/>
                <a:cs typeface="Carlito"/>
              </a:rPr>
              <a:t>gets automatically </a:t>
            </a:r>
            <a:r>
              <a:rPr sz="3200" spc="-15" dirty="0">
                <a:latin typeface="Carlito"/>
                <a:cs typeface="Carlito"/>
              </a:rPr>
              <a:t>recognized </a:t>
            </a:r>
            <a:r>
              <a:rPr sz="3200" spc="-10" dirty="0">
                <a:latin typeface="Carlito"/>
                <a:cs typeface="Carlito"/>
              </a:rPr>
              <a:t>by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Computer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dirty="0">
                <a:latin typeface="Carlito"/>
                <a:cs typeface="Carlito"/>
              </a:rPr>
              <a:t>known as </a:t>
            </a:r>
            <a:r>
              <a:rPr sz="3200" spc="-5" dirty="0">
                <a:latin typeface="Carlito"/>
                <a:cs typeface="Carlito"/>
              </a:rPr>
              <a:t>plug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20" dirty="0">
                <a:latin typeface="Carlito"/>
                <a:cs typeface="Carlito"/>
              </a:rPr>
              <a:t>play  </a:t>
            </a:r>
            <a:r>
              <a:rPr sz="3200" dirty="0">
                <a:latin typeface="Carlito"/>
                <a:cs typeface="Carlito"/>
              </a:rPr>
              <a:t>devices.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drivers </a:t>
            </a:r>
            <a:r>
              <a:rPr sz="3200" spc="-25" dirty="0">
                <a:latin typeface="Carlito"/>
                <a:cs typeface="Carlito"/>
              </a:rPr>
              <a:t>for </a:t>
            </a:r>
            <a:r>
              <a:rPr sz="3200" spc="-5" dirty="0">
                <a:latin typeface="Carlito"/>
                <a:cs typeface="Carlito"/>
              </a:rPr>
              <a:t>such devices </a:t>
            </a:r>
            <a:r>
              <a:rPr sz="3200" spc="-15" dirty="0">
                <a:latin typeface="Carlito"/>
                <a:cs typeface="Carlito"/>
              </a:rPr>
              <a:t>are  </a:t>
            </a:r>
            <a:r>
              <a:rPr sz="3200" dirty="0">
                <a:latin typeface="Carlito"/>
                <a:cs typeface="Carlito"/>
              </a:rPr>
              <a:t>added as </a:t>
            </a:r>
            <a:r>
              <a:rPr sz="3200" spc="-5" dirty="0">
                <a:latin typeface="Carlito"/>
                <a:cs typeface="Carlito"/>
              </a:rPr>
              <a:t>part of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operating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system.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0000"/>
            <a:lum/>
          </a:blip>
          <a:srcRect/>
          <a:stretch>
            <a:fillRect l="-2000" t="3000" b="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317" y="187197"/>
            <a:ext cx="36766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Utility</a:t>
            </a:r>
            <a:r>
              <a:rPr spc="-45" dirty="0"/>
              <a:t> </a:t>
            </a:r>
            <a:r>
              <a:rPr spc="-20" dirty="0"/>
              <a:t>Programs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276350"/>
            <a:ext cx="8353425" cy="43351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Utility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dirty="0">
                <a:latin typeface="Carlito"/>
                <a:cs typeface="Carlito"/>
              </a:rPr>
              <a:t>act </a:t>
            </a:r>
            <a:r>
              <a:rPr sz="3200" spc="-35" dirty="0">
                <a:latin typeface="Carlito"/>
                <a:cs typeface="Carlito"/>
              </a:rPr>
              <a:t>like </a:t>
            </a:r>
            <a:r>
              <a:rPr sz="3200" spc="-5" dirty="0">
                <a:latin typeface="Carlito"/>
                <a:cs typeface="Carlito"/>
              </a:rPr>
              <a:t>domestic</a:t>
            </a:r>
            <a:r>
              <a:rPr sz="3200" spc="7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aids.</a:t>
            </a:r>
            <a:endParaRPr lang="en-US" sz="3200" spc="-5" dirty="0">
              <a:latin typeface="Carlito"/>
              <a:cs typeface="Carlito"/>
            </a:endParaRPr>
          </a:p>
          <a:p>
            <a:pPr marL="12700">
              <a:spcBef>
                <a:spcPts val="105"/>
              </a:spcBef>
              <a:tabLst>
                <a:tab pos="354965" algn="l"/>
                <a:tab pos="355600" algn="l"/>
              </a:tabLst>
            </a:pPr>
            <a:endParaRPr sz="4400" dirty="0">
              <a:latin typeface="Carlito"/>
              <a:cs typeface="Carlito"/>
            </a:endParaRPr>
          </a:p>
          <a:p>
            <a:pPr marL="355600" marR="5080" indent="-342900"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In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25" dirty="0">
                <a:latin typeface="Carlito"/>
                <a:cs typeface="Carlito"/>
              </a:rPr>
              <a:t>systems, </a:t>
            </a:r>
            <a:r>
              <a:rPr sz="3200" spc="-5" dirty="0">
                <a:latin typeface="Carlito"/>
                <a:cs typeface="Carlito"/>
              </a:rPr>
              <a:t>utility </a:t>
            </a:r>
            <a:r>
              <a:rPr sz="3200" spc="-15" dirty="0">
                <a:latin typeface="Carlito"/>
                <a:cs typeface="Carlito"/>
              </a:rPr>
              <a:t>programs are  </a:t>
            </a:r>
            <a:r>
              <a:rPr sz="3200" spc="-10" dirty="0">
                <a:latin typeface="Carlito"/>
                <a:cs typeface="Carlito"/>
              </a:rPr>
              <a:t>generally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support, </a:t>
            </a:r>
            <a:r>
              <a:rPr sz="3200" dirty="0">
                <a:latin typeface="Carlito"/>
                <a:cs typeface="Carlito"/>
              </a:rPr>
              <a:t>enhance, or </a:t>
            </a:r>
            <a:r>
              <a:rPr sz="3200" spc="-15" dirty="0">
                <a:latin typeface="Carlito"/>
                <a:cs typeface="Carlito"/>
              </a:rPr>
              <a:t>expand  existing programs </a:t>
            </a:r>
            <a:r>
              <a:rPr sz="3200" spc="-5" dirty="0">
                <a:latin typeface="Carlito"/>
                <a:cs typeface="Carlito"/>
              </a:rPr>
              <a:t>built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10" dirty="0">
                <a:latin typeface="Carlito"/>
                <a:cs typeface="Carlito"/>
              </a:rPr>
              <a:t>common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purposes.</a:t>
            </a:r>
            <a:endParaRPr lang="en-US" sz="3200" spc="-5" dirty="0">
              <a:latin typeface="Carlito"/>
              <a:cs typeface="Carlito"/>
            </a:endParaRPr>
          </a:p>
          <a:p>
            <a:pPr marL="12700" marR="5080">
              <a:tabLst>
                <a:tab pos="354965" algn="l"/>
                <a:tab pos="355600" algn="l"/>
              </a:tabLst>
            </a:pPr>
            <a:endParaRPr sz="4400" dirty="0">
              <a:latin typeface="Carlito"/>
              <a:cs typeface="Carlito"/>
            </a:endParaRPr>
          </a:p>
          <a:p>
            <a:pPr marL="355600" marR="804545" indent="-342900"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They </a:t>
            </a:r>
            <a:r>
              <a:rPr sz="3200" spc="-15" dirty="0">
                <a:latin typeface="Carlito"/>
                <a:cs typeface="Carlito"/>
              </a:rPr>
              <a:t>perform </a:t>
            </a:r>
            <a:r>
              <a:rPr sz="3200" spc="-20" dirty="0">
                <a:latin typeface="Carlito"/>
                <a:cs typeface="Carlito"/>
              </a:rPr>
              <a:t>tasks </a:t>
            </a:r>
            <a:r>
              <a:rPr sz="3200" spc="-25" dirty="0">
                <a:latin typeface="Carlito"/>
                <a:cs typeface="Carlito"/>
              </a:rPr>
              <a:t>like: </a:t>
            </a:r>
            <a:r>
              <a:rPr sz="3200" spc="-30" dirty="0">
                <a:latin typeface="Carlito"/>
                <a:cs typeface="Carlito"/>
              </a:rPr>
              <a:t>system </a:t>
            </a:r>
            <a:r>
              <a:rPr sz="3200" spc="-5" dirty="0">
                <a:latin typeface="Carlito"/>
                <a:cs typeface="Carlito"/>
              </a:rPr>
              <a:t>diagnostics,  </a:t>
            </a:r>
            <a:r>
              <a:rPr sz="3200" spc="-10" dirty="0">
                <a:latin typeface="Carlito"/>
                <a:cs typeface="Carlito"/>
              </a:rPr>
              <a:t>backup, </a:t>
            </a:r>
            <a:r>
              <a:rPr sz="3200" spc="-20" dirty="0">
                <a:latin typeface="Carlito"/>
                <a:cs typeface="Carlito"/>
              </a:rPr>
              <a:t>data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35" dirty="0">
                <a:latin typeface="Carlito"/>
                <a:cs typeface="Carlito"/>
              </a:rPr>
              <a:t>recovery.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267970"/>
            <a:ext cx="7893050" cy="4611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rlito"/>
                <a:cs typeface="Carlito"/>
              </a:rPr>
              <a:t>System </a:t>
            </a:r>
            <a:r>
              <a:rPr sz="3200" spc="-5" dirty="0">
                <a:latin typeface="Carlito"/>
                <a:cs typeface="Carlito"/>
              </a:rPr>
              <a:t>diagnostics: </a:t>
            </a:r>
            <a:r>
              <a:rPr sz="3200" dirty="0">
                <a:latin typeface="Carlito"/>
                <a:cs typeface="Carlito"/>
              </a:rPr>
              <a:t>In addition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basic  diagnostic </a:t>
            </a:r>
            <a:r>
              <a:rPr sz="3200" spc="-10" dirty="0">
                <a:latin typeface="Carlito"/>
                <a:cs typeface="Carlito"/>
              </a:rPr>
              <a:t>routines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spc="-15" dirty="0">
                <a:latin typeface="Carlito"/>
                <a:cs typeface="Carlito"/>
              </a:rPr>
              <a:t>performed </a:t>
            </a:r>
            <a:r>
              <a:rPr sz="3200" spc="-5" dirty="0">
                <a:latin typeface="Carlito"/>
                <a:cs typeface="Carlito"/>
              </a:rPr>
              <a:t>by  </a:t>
            </a:r>
            <a:r>
              <a:rPr sz="3200" dirty="0">
                <a:latin typeface="Carlito"/>
                <a:cs typeface="Carlito"/>
              </a:rPr>
              <a:t>BIOS, </a:t>
            </a:r>
            <a:r>
              <a:rPr sz="3200" spc="-5" dirty="0">
                <a:latin typeface="Carlito"/>
                <a:cs typeface="Carlito"/>
              </a:rPr>
              <a:t>more </a:t>
            </a:r>
            <a:r>
              <a:rPr sz="3200" spc="-15" dirty="0">
                <a:latin typeface="Carlito"/>
                <a:cs typeface="Carlito"/>
              </a:rPr>
              <a:t>sophisticated </a:t>
            </a:r>
            <a:r>
              <a:rPr sz="3200" spc="-5" dirty="0">
                <a:latin typeface="Carlito"/>
                <a:cs typeface="Carlito"/>
              </a:rPr>
              <a:t>diagnostics  </a:t>
            </a:r>
            <a:r>
              <a:rPr sz="3200" spc="-15" dirty="0">
                <a:latin typeface="Carlito"/>
                <a:cs typeface="Carlito"/>
              </a:rPr>
              <a:t>programs are </a:t>
            </a:r>
            <a:r>
              <a:rPr sz="3200" spc="-10" dirty="0">
                <a:latin typeface="Carlito"/>
                <a:cs typeface="Carlito"/>
              </a:rPr>
              <a:t>provided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25" dirty="0">
                <a:latin typeface="Carlito"/>
                <a:cs typeface="Carlito"/>
              </a:rPr>
              <a:t>form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55" dirty="0">
                <a:latin typeface="Carlito"/>
                <a:cs typeface="Carlito"/>
              </a:rPr>
              <a:t> </a:t>
            </a:r>
            <a:r>
              <a:rPr sz="3200" spc="-30" dirty="0">
                <a:latin typeface="Carlito"/>
                <a:cs typeface="Carlito"/>
              </a:rPr>
              <a:t>utility.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4400">
              <a:latin typeface="Carlito"/>
              <a:cs typeface="Carlito"/>
            </a:endParaRPr>
          </a:p>
          <a:p>
            <a:pPr marL="355600" marR="80073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diagnostic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spc="-10" dirty="0">
                <a:latin typeface="Carlito"/>
                <a:cs typeface="Carlito"/>
              </a:rPr>
              <a:t>compiles </a:t>
            </a:r>
            <a:r>
              <a:rPr sz="3200" spc="-5" dirty="0">
                <a:latin typeface="Carlito"/>
                <a:cs typeface="Carlito"/>
              </a:rPr>
              <a:t>technical  </a:t>
            </a:r>
            <a:r>
              <a:rPr sz="3200" spc="-15" dirty="0">
                <a:latin typeface="Carlito"/>
                <a:cs typeface="Carlito"/>
              </a:rPr>
              <a:t>information </a:t>
            </a:r>
            <a:r>
              <a:rPr sz="3200" dirty="0">
                <a:latin typeface="Carlito"/>
                <a:cs typeface="Carlito"/>
              </a:rPr>
              <a:t>about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15" dirty="0">
                <a:latin typeface="Carlito"/>
                <a:cs typeface="Carlito"/>
              </a:rPr>
              <a:t>hardware,  </a:t>
            </a:r>
            <a:r>
              <a:rPr sz="3200" dirty="0">
                <a:latin typeface="Carlito"/>
                <a:cs typeface="Carlito"/>
              </a:rPr>
              <a:t>including </a:t>
            </a:r>
            <a:r>
              <a:rPr sz="3200" spc="-10" dirty="0">
                <a:latin typeface="Carlito"/>
                <a:cs typeface="Carlito"/>
              </a:rPr>
              <a:t>peripherals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be used </a:t>
            </a:r>
            <a:r>
              <a:rPr sz="3200" spc="-15" dirty="0">
                <a:latin typeface="Carlito"/>
                <a:cs typeface="Carlito"/>
              </a:rPr>
              <a:t>to  </a:t>
            </a:r>
            <a:r>
              <a:rPr sz="3200" spc="-5" dirty="0">
                <a:latin typeface="Carlito"/>
                <a:cs typeface="Carlito"/>
              </a:rPr>
              <a:t>diagnose </a:t>
            </a:r>
            <a:r>
              <a:rPr sz="3200" spc="-20" dirty="0">
                <a:latin typeface="Carlito"/>
                <a:cs typeface="Carlito"/>
              </a:rPr>
              <a:t>any </a:t>
            </a:r>
            <a:r>
              <a:rPr sz="3200" spc="-5" dirty="0">
                <a:latin typeface="Carlito"/>
                <a:cs typeface="Carlito"/>
              </a:rPr>
              <a:t>technical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problem.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146761"/>
            <a:ext cx="7752080" cy="607504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109220" indent="-342900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Data </a:t>
            </a:r>
            <a:r>
              <a:rPr sz="3200" spc="-10" dirty="0">
                <a:latin typeface="Carlito"/>
                <a:cs typeface="Carlito"/>
              </a:rPr>
              <a:t>Recovery: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computing </a:t>
            </a: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20" dirty="0">
                <a:latin typeface="Carlito"/>
                <a:cs typeface="Carlito"/>
              </a:rPr>
              <a:t>always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danger of </a:t>
            </a:r>
            <a:r>
              <a:rPr sz="3200" dirty="0">
                <a:latin typeface="Carlito"/>
                <a:cs typeface="Carlito"/>
              </a:rPr>
              <a:t>losing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spc="-5" dirty="0">
                <a:latin typeface="Carlito"/>
                <a:cs typeface="Carlito"/>
              </a:rPr>
              <a:t>due sudden  technical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problem.</a:t>
            </a:r>
            <a:endParaRPr sz="3200">
              <a:latin typeface="Carlito"/>
              <a:cs typeface="Carlito"/>
            </a:endParaRPr>
          </a:p>
          <a:p>
            <a:pPr marL="355600" marR="1158240" indent="-342900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Hence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need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dirty="0">
                <a:latin typeface="Carlito"/>
                <a:cs typeface="Carlito"/>
              </a:rPr>
              <a:t>a kind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30" dirty="0">
                <a:latin typeface="Carlito"/>
                <a:cs typeface="Carlito"/>
              </a:rPr>
              <a:t>“disaster  </a:t>
            </a:r>
            <a:r>
              <a:rPr sz="3200" spc="5" dirty="0">
                <a:latin typeface="Carlito"/>
                <a:cs typeface="Carlito"/>
              </a:rPr>
              <a:t>management” </a:t>
            </a:r>
            <a:r>
              <a:rPr sz="3200" dirty="0">
                <a:latin typeface="Carlito"/>
                <a:cs typeface="Carlito"/>
              </a:rPr>
              <a:t>mechanism.</a:t>
            </a:r>
            <a:endParaRPr sz="3200">
              <a:latin typeface="Carlito"/>
              <a:cs typeface="Carlito"/>
            </a:endParaRPr>
          </a:p>
          <a:p>
            <a:pPr marL="355600" marR="170815" indent="-342900">
              <a:lnSpc>
                <a:spcPct val="9000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Data </a:t>
            </a:r>
            <a:r>
              <a:rPr sz="3200" spc="-10" dirty="0">
                <a:latin typeface="Carlito"/>
                <a:cs typeface="Carlito"/>
              </a:rPr>
              <a:t>recovery </a:t>
            </a:r>
            <a:r>
              <a:rPr sz="3200" spc="-5" dirty="0">
                <a:latin typeface="Carlito"/>
                <a:cs typeface="Carlito"/>
              </a:rPr>
              <a:t>utilities </a:t>
            </a:r>
            <a:r>
              <a:rPr sz="3200" spc="-10" dirty="0">
                <a:latin typeface="Carlito"/>
                <a:cs typeface="Carlito"/>
              </a:rPr>
              <a:t>provide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services  and is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spc="-20" dirty="0">
                <a:latin typeface="Carlito"/>
                <a:cs typeface="Carlito"/>
              </a:rPr>
              <a:t>restore data </a:t>
            </a:r>
            <a:r>
              <a:rPr sz="3200" spc="-5" dirty="0">
                <a:latin typeface="Carlito"/>
                <a:cs typeface="Carlito"/>
              </a:rPr>
              <a:t>that has been  </a:t>
            </a:r>
            <a:r>
              <a:rPr sz="3200" spc="-15" dirty="0">
                <a:latin typeface="Carlito"/>
                <a:cs typeface="Carlito"/>
              </a:rPr>
              <a:t>physically </a:t>
            </a:r>
            <a:r>
              <a:rPr sz="3200" spc="-5" dirty="0">
                <a:latin typeface="Carlito"/>
                <a:cs typeface="Carlito"/>
              </a:rPr>
              <a:t>damaged or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corrupted.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This damaged could </a:t>
            </a:r>
            <a:r>
              <a:rPr sz="3200" dirty="0">
                <a:latin typeface="Carlito"/>
                <a:cs typeface="Carlito"/>
              </a:rPr>
              <a:t>be as </a:t>
            </a:r>
            <a:r>
              <a:rPr sz="3200" spc="-5" dirty="0">
                <a:latin typeface="Carlito"/>
                <a:cs typeface="Carlito"/>
              </a:rPr>
              <a:t>result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hardware  failure </a:t>
            </a:r>
            <a:r>
              <a:rPr sz="3200" spc="-30" dirty="0">
                <a:latin typeface="Carlito"/>
                <a:cs typeface="Carlito"/>
              </a:rPr>
              <a:t>like </a:t>
            </a:r>
            <a:r>
              <a:rPr sz="3200" dirty="0">
                <a:latin typeface="Carlito"/>
                <a:cs typeface="Carlito"/>
              </a:rPr>
              <a:t>the crushing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hard </a:t>
            </a:r>
            <a:r>
              <a:rPr sz="3200" spc="-5" dirty="0">
                <a:latin typeface="Carlito"/>
                <a:cs typeface="Carlito"/>
              </a:rPr>
              <a:t>disk,  occurrence of </a:t>
            </a:r>
            <a:r>
              <a:rPr sz="3200" spc="-10" dirty="0">
                <a:latin typeface="Carlito"/>
                <a:cs typeface="Carlito"/>
              </a:rPr>
              <a:t>power </a:t>
            </a:r>
            <a:r>
              <a:rPr sz="3200" spc="-5" dirty="0">
                <a:latin typeface="Carlito"/>
                <a:cs typeface="Carlito"/>
              </a:rPr>
              <a:t>fluctuations during  </a:t>
            </a:r>
            <a:r>
              <a:rPr sz="3200" spc="-10" dirty="0">
                <a:latin typeface="Carlito"/>
                <a:cs typeface="Carlito"/>
              </a:rPr>
              <a:t>read/write operation </a:t>
            </a:r>
            <a:r>
              <a:rPr sz="3200" spc="-5" dirty="0">
                <a:latin typeface="Carlito"/>
                <a:cs typeface="Carlito"/>
              </a:rPr>
              <a:t>or </a:t>
            </a:r>
            <a:r>
              <a:rPr sz="3200" spc="-10" dirty="0">
                <a:latin typeface="Carlito"/>
                <a:cs typeface="Carlito"/>
              </a:rPr>
              <a:t>even by </a:t>
            </a:r>
            <a:r>
              <a:rPr sz="3200" dirty="0">
                <a:latin typeface="Carlito"/>
                <a:cs typeface="Carlito"/>
              </a:rPr>
              <a:t>virus  </a:t>
            </a:r>
            <a:r>
              <a:rPr sz="3200" spc="-15" dirty="0">
                <a:latin typeface="Carlito"/>
                <a:cs typeface="Carlito"/>
              </a:rPr>
              <a:t>infection.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195529"/>
            <a:ext cx="8002905" cy="617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746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Virus </a:t>
            </a:r>
            <a:r>
              <a:rPr sz="3200" spc="-10" dirty="0">
                <a:latin typeface="Carlito"/>
                <a:cs typeface="Carlito"/>
              </a:rPr>
              <a:t>Protection: </a:t>
            </a:r>
            <a:r>
              <a:rPr sz="3200" spc="-60" dirty="0">
                <a:latin typeface="Carlito"/>
                <a:cs typeface="Carlito"/>
              </a:rPr>
              <a:t>We </a:t>
            </a:r>
            <a:r>
              <a:rPr sz="3200" spc="-20" dirty="0">
                <a:latin typeface="Carlito"/>
                <a:cs typeface="Carlito"/>
              </a:rPr>
              <a:t>have </a:t>
            </a:r>
            <a:r>
              <a:rPr sz="3200" spc="-10" dirty="0">
                <a:latin typeface="Carlito"/>
                <a:cs typeface="Carlito"/>
              </a:rPr>
              <a:t>come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be </a:t>
            </a:r>
            <a:r>
              <a:rPr sz="3200" spc="-5" dirty="0">
                <a:latin typeface="Carlito"/>
                <a:cs typeface="Carlito"/>
              </a:rPr>
              <a:t>living </a:t>
            </a:r>
            <a:r>
              <a:rPr sz="3200" dirty="0">
                <a:latin typeface="Carlito"/>
                <a:cs typeface="Carlito"/>
              </a:rPr>
              <a:t>in  a </a:t>
            </a:r>
            <a:r>
              <a:rPr sz="3200" spc="-10" dirty="0">
                <a:latin typeface="Carlito"/>
                <a:cs typeface="Carlito"/>
              </a:rPr>
              <a:t>dangerous world </a:t>
            </a:r>
            <a:r>
              <a:rPr sz="3200" dirty="0">
                <a:latin typeface="Carlito"/>
                <a:cs typeface="Carlito"/>
              </a:rPr>
              <a:t>as a </a:t>
            </a:r>
            <a:r>
              <a:rPr sz="3200" spc="-5" dirty="0">
                <a:latin typeface="Carlito"/>
                <a:cs typeface="Carlito"/>
              </a:rPr>
              <a:t>result of our own  deeds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misdeeds,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just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human  beings,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not  </a:t>
            </a:r>
            <a:r>
              <a:rPr sz="3200" spc="-10" dirty="0">
                <a:latin typeface="Carlito"/>
                <a:cs typeface="Carlito"/>
              </a:rPr>
              <a:t>left </a:t>
            </a:r>
            <a:r>
              <a:rPr sz="3200" spc="-5" dirty="0">
                <a:latin typeface="Carlito"/>
                <a:cs typeface="Carlito"/>
              </a:rPr>
              <a:t>out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susceptibility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virus</a:t>
            </a:r>
            <a:r>
              <a:rPr sz="3200" spc="8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infections.</a:t>
            </a:r>
            <a:endParaRPr sz="320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  <a:buChar char="-"/>
              <a:tabLst>
                <a:tab pos="229235" algn="l"/>
              </a:tabLst>
            </a:pPr>
            <a:r>
              <a:rPr sz="3200" dirty="0">
                <a:latin typeface="Carlito"/>
                <a:cs typeface="Carlito"/>
              </a:rPr>
              <a:t>A virus – in the </a:t>
            </a:r>
            <a:r>
              <a:rPr sz="3200" spc="-5" dirty="0">
                <a:latin typeface="Carlito"/>
                <a:cs typeface="Carlito"/>
              </a:rPr>
              <a:t>world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20" dirty="0">
                <a:latin typeface="Carlito"/>
                <a:cs typeface="Carlito"/>
              </a:rPr>
              <a:t>computers </a:t>
            </a:r>
            <a:r>
              <a:rPr sz="3200" dirty="0">
                <a:latin typeface="Carlito"/>
                <a:cs typeface="Carlito"/>
              </a:rPr>
              <a:t>– </a:t>
            </a:r>
            <a:r>
              <a:rPr sz="3200" spc="-15" dirty="0">
                <a:latin typeface="Carlito"/>
                <a:cs typeface="Carlito"/>
              </a:rPr>
              <a:t>consists  </a:t>
            </a:r>
            <a:r>
              <a:rPr sz="3200" spc="-5" dirty="0">
                <a:latin typeface="Carlito"/>
                <a:cs typeface="Carlito"/>
              </a:rPr>
              <a:t>of hidden, </a:t>
            </a:r>
            <a:r>
              <a:rPr sz="3200" spc="-10" dirty="0">
                <a:latin typeface="Carlito"/>
                <a:cs typeface="Carlito"/>
              </a:rPr>
              <a:t>destructive </a:t>
            </a:r>
            <a:r>
              <a:rPr sz="3200" spc="-15" dirty="0">
                <a:latin typeface="Carlito"/>
                <a:cs typeface="Carlito"/>
              </a:rPr>
              <a:t>programming </a:t>
            </a:r>
            <a:r>
              <a:rPr sz="3200" spc="-5" dirty="0">
                <a:latin typeface="Carlito"/>
                <a:cs typeface="Carlito"/>
              </a:rPr>
              <a:t>instructions 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buried within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20" dirty="0">
                <a:latin typeface="Carlito"/>
                <a:cs typeface="Carlito"/>
              </a:rPr>
              <a:t>data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file.</a:t>
            </a:r>
            <a:endParaRPr sz="3200">
              <a:latin typeface="Carlito"/>
              <a:cs typeface="Carlito"/>
            </a:endParaRPr>
          </a:p>
          <a:p>
            <a:pPr marL="12700" marR="184785">
              <a:lnSpc>
                <a:spcPct val="100000"/>
              </a:lnSpc>
              <a:spcBef>
                <a:spcPts val="775"/>
              </a:spcBef>
              <a:buChar char="-"/>
              <a:tabLst>
                <a:tab pos="229235" algn="l"/>
              </a:tabLst>
            </a:pPr>
            <a:r>
              <a:rPr sz="3200" spc="-10" dirty="0">
                <a:latin typeface="Carlito"/>
                <a:cs typeface="Carlito"/>
              </a:rPr>
              <a:t>Often, </a:t>
            </a:r>
            <a:r>
              <a:rPr sz="3200" spc="-5" dirty="0">
                <a:latin typeface="Carlito"/>
                <a:cs typeface="Carlito"/>
              </a:rPr>
              <a:t>they multiply </a:t>
            </a:r>
            <a:r>
              <a:rPr sz="3200" spc="-10" dirty="0">
                <a:latin typeface="Carlito"/>
                <a:cs typeface="Carlito"/>
              </a:rPr>
              <a:t>by copying </a:t>
            </a:r>
            <a:r>
              <a:rPr sz="3200" spc="-5" dirty="0">
                <a:latin typeface="Carlito"/>
                <a:cs typeface="Carlito"/>
              </a:rPr>
              <a:t>themselves </a:t>
            </a:r>
            <a:r>
              <a:rPr sz="3200" spc="-20" dirty="0">
                <a:latin typeface="Carlito"/>
                <a:cs typeface="Carlito"/>
              </a:rPr>
              <a:t>to  </a:t>
            </a:r>
            <a:r>
              <a:rPr sz="3200" spc="-5" dirty="0">
                <a:latin typeface="Carlito"/>
                <a:cs typeface="Carlito"/>
              </a:rPr>
              <a:t>other </a:t>
            </a:r>
            <a:r>
              <a:rPr sz="3200" spc="-15" dirty="0">
                <a:latin typeface="Carlito"/>
                <a:cs typeface="Carlito"/>
              </a:rPr>
              <a:t>programs, </a:t>
            </a:r>
            <a:r>
              <a:rPr sz="3200" spc="-10" dirty="0">
                <a:latin typeface="Carlito"/>
                <a:cs typeface="Carlito"/>
              </a:rPr>
              <a:t>causing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havoc.</a:t>
            </a:r>
            <a:endParaRPr sz="3200">
              <a:latin typeface="Carlito"/>
              <a:cs typeface="Carlito"/>
            </a:endParaRPr>
          </a:p>
          <a:p>
            <a:pPr marL="12700" marR="351790">
              <a:lnSpc>
                <a:spcPct val="100000"/>
              </a:lnSpc>
              <a:spcBef>
                <a:spcPts val="770"/>
              </a:spcBef>
              <a:buChar char="-"/>
              <a:tabLst>
                <a:tab pos="229235" algn="l"/>
              </a:tabLst>
            </a:pPr>
            <a:r>
              <a:rPr sz="3200" spc="-5" dirty="0">
                <a:latin typeface="Carlito"/>
                <a:cs typeface="Carlito"/>
              </a:rPr>
              <a:t>Other times </a:t>
            </a:r>
            <a:r>
              <a:rPr sz="3200" spc="-30" dirty="0">
                <a:latin typeface="Carlito"/>
                <a:cs typeface="Carlito"/>
              </a:rPr>
              <a:t>too, 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20" dirty="0">
                <a:latin typeface="Carlito"/>
                <a:cs typeface="Carlito"/>
              </a:rPr>
              <a:t>destroy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spc="-5" dirty="0">
                <a:latin typeface="Carlito"/>
                <a:cs typeface="Carlito"/>
              </a:rPr>
              <a:t>and 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dirty="0">
                <a:latin typeface="Carlito"/>
                <a:cs typeface="Carlito"/>
              </a:rPr>
              <a:t>and wipe </a:t>
            </a:r>
            <a:r>
              <a:rPr sz="3200" spc="-5" dirty="0">
                <a:latin typeface="Carlito"/>
                <a:cs typeface="Carlito"/>
              </a:rPr>
              <a:t>out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hard </a:t>
            </a:r>
            <a:r>
              <a:rPr sz="3200" spc="-5" dirty="0">
                <a:latin typeface="Carlito"/>
                <a:cs typeface="Carlito"/>
              </a:rPr>
              <a:t>disk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clean.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58267" y="151333"/>
            <a:ext cx="8608060" cy="60166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59"/>
              </a:spcBef>
              <a:buChar char="-"/>
              <a:tabLst>
                <a:tab pos="213995" algn="l"/>
              </a:tabLst>
            </a:pP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spc="-5" dirty="0">
                <a:latin typeface="Carlito"/>
                <a:cs typeface="Carlito"/>
              </a:rPr>
              <a:t>virus </a:t>
            </a:r>
            <a:r>
              <a:rPr sz="3000" spc="-10" dirty="0">
                <a:latin typeface="Carlito"/>
                <a:cs typeface="Carlito"/>
              </a:rPr>
              <a:t>spread </a:t>
            </a:r>
            <a:r>
              <a:rPr sz="3000" spc="-5" dirty="0">
                <a:latin typeface="Carlito"/>
                <a:cs typeface="Carlito"/>
              </a:rPr>
              <a:t>when </a:t>
            </a:r>
            <a:r>
              <a:rPr sz="3000" spc="-10" dirty="0">
                <a:latin typeface="Carlito"/>
                <a:cs typeface="Carlito"/>
              </a:rPr>
              <a:t>people </a:t>
            </a:r>
            <a:r>
              <a:rPr sz="3000" spc="-25" dirty="0">
                <a:latin typeface="Carlito"/>
                <a:cs typeface="Carlito"/>
              </a:rPr>
              <a:t>exchange storage  </a:t>
            </a:r>
            <a:r>
              <a:rPr sz="3000" spc="-10" dirty="0">
                <a:latin typeface="Carlito"/>
                <a:cs typeface="Carlito"/>
              </a:rPr>
              <a:t>devices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5" dirty="0">
                <a:latin typeface="Carlito"/>
                <a:cs typeface="Carlito"/>
              </a:rPr>
              <a:t>pen </a:t>
            </a:r>
            <a:r>
              <a:rPr sz="3000" spc="-10" dirty="0">
                <a:latin typeface="Carlito"/>
                <a:cs typeface="Carlito"/>
              </a:rPr>
              <a:t>drives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download </a:t>
            </a:r>
            <a:r>
              <a:rPr sz="3000" spc="-20" dirty="0">
                <a:latin typeface="Carlito"/>
                <a:cs typeface="Carlito"/>
              </a:rPr>
              <a:t>(make </a:t>
            </a:r>
            <a:r>
              <a:rPr sz="3000" spc="-10" dirty="0">
                <a:latin typeface="Carlito"/>
                <a:cs typeface="Carlito"/>
              </a:rPr>
              <a:t>copies  </a:t>
            </a:r>
            <a:r>
              <a:rPr sz="3000" spc="10" dirty="0">
                <a:latin typeface="Carlito"/>
                <a:cs typeface="Carlito"/>
              </a:rPr>
              <a:t>of) </a:t>
            </a:r>
            <a:r>
              <a:rPr sz="3000" spc="-10" dirty="0">
                <a:latin typeface="Carlito"/>
                <a:cs typeface="Carlito"/>
              </a:rPr>
              <a:t>files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spc="-15" dirty="0">
                <a:latin typeface="Carlito"/>
                <a:cs typeface="Carlito"/>
              </a:rPr>
              <a:t>networks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internet just  </a:t>
            </a:r>
            <a:r>
              <a:rPr sz="3000" spc="-25" dirty="0">
                <a:latin typeface="Carlito"/>
                <a:cs typeface="Carlito"/>
              </a:rPr>
              <a:t>any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55" dirty="0">
                <a:latin typeface="Carlito"/>
                <a:cs typeface="Carlito"/>
              </a:rPr>
              <a:t>how.</a:t>
            </a:r>
            <a:endParaRPr sz="3000">
              <a:latin typeface="Carlito"/>
              <a:cs typeface="Carlito"/>
            </a:endParaRPr>
          </a:p>
          <a:p>
            <a:pPr marL="12700" marR="196850">
              <a:lnSpc>
                <a:spcPts val="3240"/>
              </a:lnSpc>
              <a:spcBef>
                <a:spcPts val="770"/>
              </a:spcBef>
              <a:buChar char="-"/>
              <a:tabLst>
                <a:tab pos="213995" algn="l"/>
              </a:tabLst>
            </a:pPr>
            <a:r>
              <a:rPr sz="3000" spc="-5" dirty="0">
                <a:latin typeface="Carlito"/>
                <a:cs typeface="Carlito"/>
              </a:rPr>
              <a:t>Antivirus </a:t>
            </a:r>
            <a:r>
              <a:rPr sz="3000" spc="-10" dirty="0">
                <a:latin typeface="Carlito"/>
                <a:cs typeface="Carlito"/>
              </a:rPr>
              <a:t>utility </a:t>
            </a:r>
            <a:r>
              <a:rPr sz="3000" spc="-20" dirty="0">
                <a:latin typeface="Carlito"/>
                <a:cs typeface="Carlito"/>
              </a:rPr>
              <a:t>program </a:t>
            </a:r>
            <a:r>
              <a:rPr sz="3000" spc="-5" dirty="0">
                <a:latin typeface="Carlito"/>
                <a:cs typeface="Carlito"/>
              </a:rPr>
              <a:t>scans </a:t>
            </a:r>
            <a:r>
              <a:rPr sz="3000" spc="-15" dirty="0">
                <a:latin typeface="Carlito"/>
                <a:cs typeface="Carlito"/>
              </a:rPr>
              <a:t>hard </a:t>
            </a:r>
            <a:r>
              <a:rPr sz="3000" spc="-10" dirty="0">
                <a:latin typeface="Carlito"/>
                <a:cs typeface="Carlito"/>
              </a:rPr>
              <a:t>disks, pen drives,  </a:t>
            </a:r>
            <a:r>
              <a:rPr sz="3000" dirty="0">
                <a:latin typeface="Carlito"/>
                <a:cs typeface="Carlito"/>
              </a:rPr>
              <a:t>and memory </a:t>
            </a:r>
            <a:r>
              <a:rPr sz="3000" spc="-10" dirty="0">
                <a:latin typeface="Carlito"/>
                <a:cs typeface="Carlito"/>
              </a:rPr>
              <a:t>to detect, give </a:t>
            </a:r>
            <a:r>
              <a:rPr sz="3000" spc="-15" dirty="0">
                <a:latin typeface="Carlito"/>
                <a:cs typeface="Carlito"/>
              </a:rPr>
              <a:t>information </a:t>
            </a:r>
            <a:r>
              <a:rPr sz="3000" spc="-5" dirty="0">
                <a:latin typeface="Carlito"/>
                <a:cs typeface="Carlito"/>
              </a:rPr>
              <a:t>of possible  virus </a:t>
            </a:r>
            <a:r>
              <a:rPr sz="3000" spc="-40" dirty="0">
                <a:latin typeface="Carlito"/>
                <a:cs typeface="Carlito"/>
              </a:rPr>
              <a:t>behavior,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20" dirty="0">
                <a:latin typeface="Carlito"/>
                <a:cs typeface="Carlito"/>
              </a:rPr>
              <a:t>destroy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viruses.</a:t>
            </a:r>
            <a:endParaRPr sz="3000">
              <a:latin typeface="Carlito"/>
              <a:cs typeface="Carlito"/>
            </a:endParaRPr>
          </a:p>
          <a:p>
            <a:pPr marL="355600" marR="168275" indent="-342900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Backup: </a:t>
            </a:r>
            <a:r>
              <a:rPr sz="3000" spc="-15" dirty="0">
                <a:latin typeface="Carlito"/>
                <a:cs typeface="Carlito"/>
              </a:rPr>
              <a:t>For </a:t>
            </a:r>
            <a:r>
              <a:rPr sz="3000" spc="-25" dirty="0">
                <a:latin typeface="Carlito"/>
                <a:cs typeface="Carlito"/>
              </a:rPr>
              <a:t>fear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ever persisting </a:t>
            </a:r>
            <a:r>
              <a:rPr sz="3000" spc="-5" dirty="0">
                <a:latin typeface="Carlito"/>
                <a:cs typeface="Carlito"/>
              </a:rPr>
              <a:t>menace of </a:t>
            </a:r>
            <a:r>
              <a:rPr sz="3000" spc="-20" dirty="0">
                <a:latin typeface="Carlito"/>
                <a:cs typeface="Carlito"/>
              </a:rPr>
              <a:t>data  </a:t>
            </a:r>
            <a:r>
              <a:rPr sz="3000" dirty="0">
                <a:latin typeface="Carlito"/>
                <a:cs typeface="Carlito"/>
              </a:rPr>
              <a:t>loss </a:t>
            </a:r>
            <a:r>
              <a:rPr sz="3000" spc="-5" dirty="0">
                <a:latin typeface="Carlito"/>
                <a:cs typeface="Carlito"/>
              </a:rPr>
              <a:t>due </a:t>
            </a:r>
            <a:r>
              <a:rPr sz="3000" spc="-20" dirty="0">
                <a:latin typeface="Carlito"/>
                <a:cs typeface="Carlito"/>
              </a:rPr>
              <a:t>unforeseen </a:t>
            </a:r>
            <a:r>
              <a:rPr sz="3000" spc="-10" dirty="0">
                <a:latin typeface="Carlito"/>
                <a:cs typeface="Carlito"/>
              </a:rPr>
              <a:t>circumstances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dirty="0">
                <a:latin typeface="Carlito"/>
                <a:cs typeface="Carlito"/>
              </a:rPr>
              <a:t>as those  </a:t>
            </a:r>
            <a:r>
              <a:rPr sz="3000" spc="-5" dirty="0">
                <a:latin typeface="Carlito"/>
                <a:cs typeface="Carlito"/>
              </a:rPr>
              <a:t>mentioned </a:t>
            </a:r>
            <a:r>
              <a:rPr sz="3000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previous </a:t>
            </a:r>
            <a:r>
              <a:rPr sz="3000" spc="-5" dirty="0">
                <a:latin typeface="Carlito"/>
                <a:cs typeface="Carlito"/>
              </a:rPr>
              <a:t>sections, </a:t>
            </a:r>
            <a:r>
              <a:rPr sz="3000" spc="-10" dirty="0">
                <a:latin typeface="Carlito"/>
                <a:cs typeface="Carlito"/>
              </a:rPr>
              <a:t>it important </a:t>
            </a:r>
            <a:r>
              <a:rPr sz="3000" spc="-15" dirty="0">
                <a:latin typeface="Carlito"/>
                <a:cs typeface="Carlito"/>
              </a:rPr>
              <a:t>to  </a:t>
            </a:r>
            <a:r>
              <a:rPr sz="3000" spc="-25" dirty="0">
                <a:latin typeface="Carlito"/>
                <a:cs typeface="Carlito"/>
              </a:rPr>
              <a:t>always </a:t>
            </a:r>
            <a:r>
              <a:rPr sz="3000" spc="-10" dirty="0">
                <a:latin typeface="Carlito"/>
                <a:cs typeface="Carlito"/>
              </a:rPr>
              <a:t>backup </a:t>
            </a:r>
            <a:r>
              <a:rPr sz="3000" dirty="0">
                <a:latin typeface="Carlito"/>
                <a:cs typeface="Carlito"/>
              </a:rPr>
              <a:t>– </a:t>
            </a:r>
            <a:r>
              <a:rPr sz="3000" spc="-25" dirty="0">
                <a:latin typeface="Carlito"/>
                <a:cs typeface="Carlito"/>
              </a:rPr>
              <a:t>make </a:t>
            </a:r>
            <a:r>
              <a:rPr sz="3000" spc="-15" dirty="0">
                <a:latin typeface="Carlito"/>
                <a:cs typeface="Carlito"/>
              </a:rPr>
              <a:t>duplicate </a:t>
            </a:r>
            <a:r>
              <a:rPr sz="3000" spc="-10" dirty="0">
                <a:latin typeface="Carlito"/>
                <a:cs typeface="Carlito"/>
              </a:rPr>
              <a:t>copies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–  </a:t>
            </a:r>
            <a:r>
              <a:rPr sz="3000" spc="-10" dirty="0">
                <a:latin typeface="Carlito"/>
                <a:cs typeface="Carlito"/>
              </a:rPr>
              <a:t>important </a:t>
            </a:r>
            <a:r>
              <a:rPr sz="3000" spc="-20" dirty="0">
                <a:latin typeface="Carlito"/>
                <a:cs typeface="Carlito"/>
              </a:rPr>
              <a:t>programs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files, so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in the </a:t>
            </a:r>
            <a:r>
              <a:rPr sz="3000" spc="-20" dirty="0">
                <a:latin typeface="Carlito"/>
                <a:cs typeface="Carlito"/>
              </a:rPr>
              <a:t>event </a:t>
            </a:r>
            <a:r>
              <a:rPr sz="3000" spc="-5" dirty="0">
                <a:latin typeface="Carlito"/>
                <a:cs typeface="Carlito"/>
              </a:rPr>
              <a:t>of  </a:t>
            </a:r>
            <a:r>
              <a:rPr sz="3000" spc="-20" dirty="0">
                <a:latin typeface="Carlito"/>
                <a:cs typeface="Carlito"/>
              </a:rPr>
              <a:t>any </a:t>
            </a:r>
            <a:r>
              <a:rPr sz="3000" dirty="0">
                <a:latin typeface="Carlito"/>
                <a:cs typeface="Carlito"/>
              </a:rPr>
              <a:t>loss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20" dirty="0">
                <a:latin typeface="Carlito"/>
                <a:cs typeface="Carlito"/>
              </a:rPr>
              <a:t>data you </a:t>
            </a:r>
            <a:r>
              <a:rPr sz="3000" spc="-5" dirty="0">
                <a:latin typeface="Carlito"/>
                <a:cs typeface="Carlito"/>
              </a:rPr>
              <a:t>can </a:t>
            </a:r>
            <a:r>
              <a:rPr sz="3000" spc="-20" dirty="0">
                <a:latin typeface="Carlito"/>
                <a:cs typeface="Carlito"/>
              </a:rPr>
              <a:t>fall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duplicate </a:t>
            </a:r>
            <a:r>
              <a:rPr sz="3000" spc="-10" dirty="0">
                <a:latin typeface="Carlito"/>
                <a:cs typeface="Carlito"/>
              </a:rPr>
              <a:t>copies  </a:t>
            </a:r>
            <a:r>
              <a:rPr sz="3000" spc="-15" dirty="0">
                <a:latin typeface="Carlito"/>
                <a:cs typeface="Carlito"/>
              </a:rPr>
              <a:t>to recover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files.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219201"/>
            <a:ext cx="7839075" cy="59772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Backup: </a:t>
            </a:r>
            <a:r>
              <a:rPr sz="3200" spc="-15" dirty="0">
                <a:latin typeface="Carlito"/>
                <a:cs typeface="Carlito"/>
              </a:rPr>
              <a:t>For </a:t>
            </a:r>
            <a:r>
              <a:rPr sz="3200" spc="-25" dirty="0">
                <a:latin typeface="Carlito"/>
                <a:cs typeface="Carlito"/>
              </a:rPr>
              <a:t>fear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ever </a:t>
            </a:r>
            <a:r>
              <a:rPr sz="3200" spc="-15" dirty="0">
                <a:latin typeface="Carlito"/>
                <a:cs typeface="Carlito"/>
              </a:rPr>
              <a:t>persisting </a:t>
            </a:r>
            <a:r>
              <a:rPr sz="3200" dirty="0">
                <a:latin typeface="Carlito"/>
                <a:cs typeface="Carlito"/>
              </a:rPr>
              <a:t>menace </a:t>
            </a:r>
            <a:r>
              <a:rPr sz="3200" spc="-5" dirty="0">
                <a:latin typeface="Carlito"/>
                <a:cs typeface="Carlito"/>
              </a:rPr>
              <a:t>of 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dirty="0">
                <a:latin typeface="Carlito"/>
                <a:cs typeface="Carlito"/>
              </a:rPr>
              <a:t>loss </a:t>
            </a:r>
            <a:r>
              <a:rPr sz="3200" spc="-5" dirty="0">
                <a:latin typeface="Carlito"/>
                <a:cs typeface="Carlito"/>
              </a:rPr>
              <a:t>due </a:t>
            </a:r>
            <a:r>
              <a:rPr sz="3200" spc="-15" dirty="0">
                <a:latin typeface="Carlito"/>
                <a:cs typeface="Carlito"/>
              </a:rPr>
              <a:t>unforeseen </a:t>
            </a:r>
            <a:r>
              <a:rPr sz="3200" spc="-10" dirty="0">
                <a:latin typeface="Carlito"/>
                <a:cs typeface="Carlito"/>
              </a:rPr>
              <a:t>circumstances </a:t>
            </a:r>
            <a:r>
              <a:rPr sz="3200" spc="-5" dirty="0">
                <a:latin typeface="Carlito"/>
                <a:cs typeface="Carlito"/>
              </a:rPr>
              <a:t>such  </a:t>
            </a:r>
            <a:r>
              <a:rPr sz="3200" dirty="0">
                <a:latin typeface="Carlito"/>
                <a:cs typeface="Carlito"/>
              </a:rPr>
              <a:t>as those </a:t>
            </a:r>
            <a:r>
              <a:rPr sz="3200" spc="-5" dirty="0">
                <a:latin typeface="Carlito"/>
                <a:cs typeface="Carlito"/>
              </a:rPr>
              <a:t>mentioned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previous sections, </a:t>
            </a:r>
            <a:r>
              <a:rPr sz="3200" dirty="0">
                <a:latin typeface="Carlito"/>
                <a:cs typeface="Carlito"/>
              </a:rPr>
              <a:t>it  </a:t>
            </a:r>
            <a:r>
              <a:rPr sz="3200" spc="-5" dirty="0">
                <a:latin typeface="Carlito"/>
                <a:cs typeface="Carlito"/>
              </a:rPr>
              <a:t>important </a:t>
            </a:r>
            <a:r>
              <a:rPr sz="3200" spc="-20" dirty="0">
                <a:latin typeface="Carlito"/>
                <a:cs typeface="Carlito"/>
              </a:rPr>
              <a:t>to always </a:t>
            </a:r>
            <a:r>
              <a:rPr sz="3200" spc="-10" dirty="0">
                <a:latin typeface="Carlito"/>
                <a:cs typeface="Carlito"/>
              </a:rPr>
              <a:t>backup </a:t>
            </a:r>
            <a:r>
              <a:rPr sz="3200" dirty="0">
                <a:latin typeface="Carlito"/>
                <a:cs typeface="Carlito"/>
              </a:rPr>
              <a:t>– </a:t>
            </a:r>
            <a:r>
              <a:rPr sz="3200" spc="-30" dirty="0">
                <a:latin typeface="Carlito"/>
                <a:cs typeface="Carlito"/>
              </a:rPr>
              <a:t>make </a:t>
            </a:r>
            <a:r>
              <a:rPr sz="3200" spc="-15" dirty="0">
                <a:latin typeface="Carlito"/>
                <a:cs typeface="Carlito"/>
              </a:rPr>
              <a:t>duplicate  </a:t>
            </a:r>
            <a:r>
              <a:rPr sz="3200" spc="-10" dirty="0">
                <a:latin typeface="Carlito"/>
                <a:cs typeface="Carlito"/>
              </a:rPr>
              <a:t>copies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– </a:t>
            </a:r>
            <a:r>
              <a:rPr sz="3200" spc="-5" dirty="0">
                <a:latin typeface="Carlito"/>
                <a:cs typeface="Carlito"/>
              </a:rPr>
              <a:t>important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files, so  that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10" dirty="0">
                <a:latin typeface="Carlito"/>
                <a:cs typeface="Carlito"/>
              </a:rPr>
              <a:t>event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20" dirty="0">
                <a:latin typeface="Carlito"/>
                <a:cs typeface="Carlito"/>
              </a:rPr>
              <a:t>any </a:t>
            </a:r>
            <a:r>
              <a:rPr sz="3200" dirty="0">
                <a:latin typeface="Carlito"/>
                <a:cs typeface="Carlito"/>
              </a:rPr>
              <a:t>loss </a:t>
            </a:r>
            <a:r>
              <a:rPr sz="3200" spc="5" dirty="0">
                <a:latin typeface="Carlito"/>
                <a:cs typeface="Carlito"/>
              </a:rPr>
              <a:t>of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can  </a:t>
            </a:r>
            <a:r>
              <a:rPr sz="3200" spc="-15" dirty="0">
                <a:latin typeface="Carlito"/>
                <a:cs typeface="Carlito"/>
              </a:rPr>
              <a:t>fall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duplicate </a:t>
            </a:r>
            <a:r>
              <a:rPr sz="3200" spc="-10" dirty="0">
                <a:latin typeface="Carlito"/>
                <a:cs typeface="Carlito"/>
              </a:rPr>
              <a:t>copies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recover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5" dirty="0">
                <a:latin typeface="Carlito"/>
                <a:cs typeface="Carlito"/>
              </a:rPr>
              <a:t>files.</a:t>
            </a:r>
            <a:endParaRPr sz="3200">
              <a:latin typeface="Carlito"/>
              <a:cs typeface="Carlito"/>
            </a:endParaRPr>
          </a:p>
          <a:p>
            <a:pPr marL="355600" marR="502920" indent="-342900">
              <a:lnSpc>
                <a:spcPct val="90000"/>
              </a:lnSpc>
              <a:spcBef>
                <a:spcPts val="770"/>
              </a:spcBef>
              <a:buFont typeface="Arial"/>
              <a:buChar char="•"/>
              <a:tabLst>
                <a:tab pos="447040" algn="l"/>
                <a:tab pos="447675" algn="l"/>
              </a:tabLst>
            </a:pPr>
            <a:r>
              <a:rPr dirty="0"/>
              <a:t>	</a:t>
            </a:r>
            <a:r>
              <a:rPr sz="3200" spc="-15" dirty="0">
                <a:latin typeface="Carlito"/>
                <a:cs typeface="Carlito"/>
              </a:rPr>
              <a:t>Defragmentation: After </a:t>
            </a:r>
            <a:r>
              <a:rPr sz="3200" spc="-20" dirty="0">
                <a:latin typeface="Carlito"/>
                <a:cs typeface="Carlito"/>
              </a:rPr>
              <a:t>several </a:t>
            </a:r>
            <a:r>
              <a:rPr sz="3200" spc="-25" dirty="0">
                <a:latin typeface="Carlito"/>
                <a:cs typeface="Carlito"/>
              </a:rPr>
              <a:t>save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10" dirty="0">
                <a:latin typeface="Carlito"/>
                <a:cs typeface="Carlito"/>
              </a:rPr>
              <a:t>delete operations, there </a:t>
            </a:r>
            <a:r>
              <a:rPr sz="3200" spc="-5" dirty="0">
                <a:latin typeface="Carlito"/>
                <a:cs typeface="Carlito"/>
              </a:rPr>
              <a:t>remain </a:t>
            </a:r>
            <a:r>
              <a:rPr sz="3200" spc="-15" dirty="0">
                <a:latin typeface="Carlito"/>
                <a:cs typeface="Carlito"/>
              </a:rPr>
              <a:t>many  </a:t>
            </a:r>
            <a:r>
              <a:rPr sz="3200" spc="-20" dirty="0">
                <a:latin typeface="Carlito"/>
                <a:cs typeface="Carlito"/>
              </a:rPr>
              <a:t>scattered </a:t>
            </a:r>
            <a:r>
              <a:rPr sz="3200" spc="-10" dirty="0">
                <a:latin typeface="Carlito"/>
                <a:cs typeface="Carlito"/>
              </a:rPr>
              <a:t>areas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20" dirty="0">
                <a:latin typeface="Carlito"/>
                <a:cs typeface="Carlito"/>
              </a:rPr>
              <a:t>stored data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spc="-15" dirty="0">
                <a:latin typeface="Carlito"/>
                <a:cs typeface="Carlito"/>
              </a:rPr>
              <a:t>too  </a:t>
            </a:r>
            <a:r>
              <a:rPr sz="3200" spc="-5" dirty="0">
                <a:latin typeface="Carlito"/>
                <a:cs typeface="Carlito"/>
              </a:rPr>
              <a:t>small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be used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productively.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3200" dirty="0">
                <a:latin typeface="Carlito"/>
                <a:cs typeface="Carlito"/>
              </a:rPr>
              <a:t>- </a:t>
            </a: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25" dirty="0">
                <a:latin typeface="Carlito"/>
                <a:cs typeface="Carlito"/>
              </a:rPr>
              <a:t>referred to </a:t>
            </a:r>
            <a:r>
              <a:rPr sz="3200" dirty="0">
                <a:latin typeface="Carlito"/>
                <a:cs typeface="Carlito"/>
              </a:rPr>
              <a:t>as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fragmentation.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83540" y="484124"/>
            <a:ext cx="8279765" cy="402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6098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High </a:t>
            </a:r>
            <a:r>
              <a:rPr sz="3200" spc="-10" dirty="0">
                <a:latin typeface="Carlito"/>
                <a:cs typeface="Carlito"/>
              </a:rPr>
              <a:t>degree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fragmentation </a:t>
            </a:r>
            <a:r>
              <a:rPr sz="3200" spc="-5" dirty="0">
                <a:latin typeface="Carlito"/>
                <a:cs typeface="Carlito"/>
              </a:rPr>
              <a:t>causes the 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run </a:t>
            </a:r>
            <a:r>
              <a:rPr sz="3200" spc="-10" dirty="0">
                <a:latin typeface="Carlito"/>
                <a:cs typeface="Carlito"/>
              </a:rPr>
              <a:t>slower </a:t>
            </a:r>
            <a:r>
              <a:rPr sz="3200" dirty="0">
                <a:latin typeface="Carlito"/>
                <a:cs typeface="Carlito"/>
              </a:rPr>
              <a:t>than if all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dirty="0">
                <a:latin typeface="Carlito"/>
                <a:cs typeface="Carlito"/>
              </a:rPr>
              <a:t>in a </a:t>
            </a:r>
            <a:r>
              <a:rPr sz="3200" spc="-5" dirty="0">
                <a:latin typeface="Carlito"/>
                <a:cs typeface="Carlito"/>
              </a:rPr>
              <a:t>file  </a:t>
            </a:r>
            <a:r>
              <a:rPr sz="3200" spc="-15" dirty="0">
                <a:latin typeface="Carlito"/>
                <a:cs typeface="Carlito"/>
              </a:rPr>
              <a:t>were </a:t>
            </a:r>
            <a:r>
              <a:rPr sz="3200" spc="-20" dirty="0">
                <a:latin typeface="Carlito"/>
                <a:cs typeface="Carlito"/>
              </a:rPr>
              <a:t>stored </a:t>
            </a:r>
            <a:r>
              <a:rPr sz="3200" spc="-10" dirty="0">
                <a:latin typeface="Carlito"/>
                <a:cs typeface="Carlito"/>
              </a:rPr>
              <a:t>together in </a:t>
            </a:r>
            <a:r>
              <a:rPr sz="3200" dirty="0">
                <a:latin typeface="Carlito"/>
                <a:cs typeface="Carlito"/>
              </a:rPr>
              <a:t>one</a:t>
            </a:r>
            <a:r>
              <a:rPr sz="3200" spc="-10" dirty="0">
                <a:latin typeface="Carlito"/>
                <a:cs typeface="Carlito"/>
              </a:rPr>
              <a:t> location.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Utility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spc="-5" dirty="0">
                <a:latin typeface="Carlito"/>
                <a:cs typeface="Carlito"/>
              </a:rPr>
              <a:t>known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20" dirty="0">
                <a:latin typeface="Carlito"/>
                <a:cs typeface="Carlito"/>
              </a:rPr>
              <a:t>defraggers </a:t>
            </a:r>
            <a:r>
              <a:rPr sz="3200" spc="-15" dirty="0">
                <a:latin typeface="Carlito"/>
                <a:cs typeface="Carlito"/>
              </a:rPr>
              <a:t>provide  </a:t>
            </a:r>
            <a:r>
              <a:rPr sz="3200" dirty="0">
                <a:latin typeface="Carlito"/>
                <a:cs typeface="Carlito"/>
              </a:rPr>
              <a:t>the service of </a:t>
            </a:r>
            <a:r>
              <a:rPr sz="3200" spc="-15" dirty="0">
                <a:latin typeface="Carlito"/>
                <a:cs typeface="Carlito"/>
              </a:rPr>
              <a:t>defragmenting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disk, thus  </a:t>
            </a:r>
            <a:r>
              <a:rPr sz="3200" spc="-10" dirty="0">
                <a:latin typeface="Carlito"/>
                <a:cs typeface="Carlito"/>
              </a:rPr>
              <a:t>rearranging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spc="-5" dirty="0">
                <a:latin typeface="Carlito"/>
                <a:cs typeface="Carlito"/>
              </a:rPr>
              <a:t>so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spc="-5" dirty="0">
                <a:latin typeface="Carlito"/>
                <a:cs typeface="Carlito"/>
              </a:rPr>
              <a:t>units of 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file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repositioned </a:t>
            </a:r>
            <a:r>
              <a:rPr sz="3200" spc="-10" dirty="0">
                <a:latin typeface="Carlito"/>
                <a:cs typeface="Carlito"/>
              </a:rPr>
              <a:t>together </a:t>
            </a:r>
            <a:r>
              <a:rPr sz="3200" spc="-5" dirty="0">
                <a:latin typeface="Carlito"/>
                <a:cs typeface="Carlito"/>
              </a:rPr>
              <a:t>contiguously  </a:t>
            </a:r>
            <a:r>
              <a:rPr sz="3200" dirty="0">
                <a:latin typeface="Carlito"/>
                <a:cs typeface="Carlito"/>
              </a:rPr>
              <a:t>in one </a:t>
            </a:r>
            <a:r>
              <a:rPr sz="3200" spc="-5" dirty="0">
                <a:latin typeface="Carlito"/>
                <a:cs typeface="Carlito"/>
              </a:rPr>
              <a:t>position </a:t>
            </a:r>
            <a:r>
              <a:rPr sz="3200" dirty="0">
                <a:latin typeface="Carlito"/>
                <a:cs typeface="Carlito"/>
              </a:rPr>
              <a:t>on the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disk.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7067" y="33604"/>
            <a:ext cx="47885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Language</a:t>
            </a:r>
            <a:r>
              <a:rPr spc="-40" dirty="0"/>
              <a:t> </a:t>
            </a:r>
            <a:r>
              <a:rPr spc="-50" dirty="0"/>
              <a:t>Translators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795274"/>
            <a:ext cx="8010525" cy="56362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20395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Language </a:t>
            </a:r>
            <a:r>
              <a:rPr sz="3200" spc="-20" dirty="0">
                <a:latin typeface="Carlito"/>
                <a:cs typeface="Carlito"/>
              </a:rPr>
              <a:t>translators </a:t>
            </a:r>
            <a:r>
              <a:rPr sz="3200" spc="-10" dirty="0">
                <a:latin typeface="Carlito"/>
                <a:cs typeface="Carlito"/>
              </a:rPr>
              <a:t>are generally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spc="-10" dirty="0">
                <a:latin typeface="Carlito"/>
                <a:cs typeface="Carlito"/>
              </a:rPr>
              <a:t>by  Computer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Programmers.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715"/>
              </a:spcBef>
              <a:buFont typeface="Arial"/>
              <a:buChar char="•"/>
              <a:tabLst>
                <a:tab pos="447040" algn="l"/>
                <a:tab pos="447675" algn="l"/>
              </a:tabLst>
            </a:pPr>
            <a:r>
              <a:rPr dirty="0"/>
              <a:t>	</a:t>
            </a:r>
            <a:r>
              <a:rPr sz="3200" spc="-5" dirty="0">
                <a:latin typeface="Carlito"/>
                <a:cs typeface="Carlito"/>
              </a:rPr>
              <a:t>These </a:t>
            </a:r>
            <a:r>
              <a:rPr sz="3200" spc="-20" dirty="0">
                <a:latin typeface="Carlito"/>
                <a:cs typeface="Carlito"/>
              </a:rPr>
              <a:t>programmers </a:t>
            </a:r>
            <a:r>
              <a:rPr sz="3200" spc="-5" dirty="0">
                <a:latin typeface="Carlito"/>
                <a:cs typeface="Carlito"/>
              </a:rPr>
              <a:t>normally </a:t>
            </a:r>
            <a:r>
              <a:rPr sz="3200" spc="-10" dirty="0">
                <a:latin typeface="Carlito"/>
                <a:cs typeface="Carlito"/>
              </a:rPr>
              <a:t>write Computer 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spc="-5" dirty="0">
                <a:latin typeface="Carlito"/>
                <a:cs typeface="Carlito"/>
              </a:rPr>
              <a:t>using </a:t>
            </a:r>
            <a:r>
              <a:rPr sz="3200" dirty="0">
                <a:latin typeface="Carlito"/>
                <a:cs typeface="Carlito"/>
              </a:rPr>
              <a:t>languages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COBOL,  </a:t>
            </a:r>
            <a:r>
              <a:rPr sz="3200" spc="-10" dirty="0">
                <a:latin typeface="Carlito"/>
                <a:cs typeface="Carlito"/>
              </a:rPr>
              <a:t>FORTRAN, </a:t>
            </a:r>
            <a:r>
              <a:rPr sz="3200" dirty="0">
                <a:latin typeface="Carlito"/>
                <a:cs typeface="Carlito"/>
              </a:rPr>
              <a:t>C++, </a:t>
            </a:r>
            <a:r>
              <a:rPr sz="3200" spc="-5" dirty="0">
                <a:latin typeface="Carlito"/>
                <a:cs typeface="Carlito"/>
              </a:rPr>
              <a:t>Visual </a:t>
            </a:r>
            <a:r>
              <a:rPr sz="3200" dirty="0">
                <a:latin typeface="Carlito"/>
                <a:cs typeface="Carlito"/>
              </a:rPr>
              <a:t>Basic, </a:t>
            </a:r>
            <a:r>
              <a:rPr sz="3200" spc="-20" dirty="0">
                <a:latin typeface="Carlito"/>
                <a:cs typeface="Carlito"/>
              </a:rPr>
              <a:t>etc </a:t>
            </a:r>
            <a:r>
              <a:rPr sz="3200" dirty="0">
                <a:latin typeface="Carlito"/>
                <a:cs typeface="Carlito"/>
              </a:rPr>
              <a:t>in which  </a:t>
            </a:r>
            <a:r>
              <a:rPr sz="3200" spc="-5" dirty="0">
                <a:latin typeface="Carlito"/>
                <a:cs typeface="Carlito"/>
              </a:rPr>
              <a:t>instructions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spc="-15" dirty="0">
                <a:latin typeface="Carlito"/>
                <a:cs typeface="Carlito"/>
              </a:rPr>
              <a:t>written </a:t>
            </a:r>
            <a:r>
              <a:rPr sz="3200" dirty="0">
                <a:latin typeface="Carlito"/>
                <a:cs typeface="Carlito"/>
              </a:rPr>
              <a:t>close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mathematical 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English-like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expressions.</a:t>
            </a:r>
            <a:endParaRPr sz="32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3200" spc="5" dirty="0">
                <a:latin typeface="Carlito"/>
                <a:cs typeface="Carlito"/>
              </a:rPr>
              <a:t>E.g. </a:t>
            </a:r>
            <a:r>
              <a:rPr sz="3200" spc="-25" dirty="0">
                <a:latin typeface="Carlito"/>
                <a:cs typeface="Carlito"/>
              </a:rPr>
              <a:t>NetPay </a:t>
            </a:r>
            <a:r>
              <a:rPr sz="3200" dirty="0">
                <a:latin typeface="Carlito"/>
                <a:cs typeface="Carlito"/>
              </a:rPr>
              <a:t>= </a:t>
            </a:r>
            <a:r>
              <a:rPr sz="3200" spc="-25" dirty="0">
                <a:latin typeface="Carlito"/>
                <a:cs typeface="Carlito"/>
              </a:rPr>
              <a:t>GrossPay </a:t>
            </a:r>
            <a:r>
              <a:rPr sz="3200" dirty="0">
                <a:latin typeface="Carlito"/>
                <a:cs typeface="Carlito"/>
              </a:rPr>
              <a:t>-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Deductions</a:t>
            </a:r>
            <a:endParaRPr sz="3200">
              <a:latin typeface="Carlito"/>
              <a:cs typeface="Carlito"/>
            </a:endParaRPr>
          </a:p>
          <a:p>
            <a:pPr marL="355600" marR="107314" indent="-342900">
              <a:lnSpc>
                <a:spcPct val="9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These instructions </a:t>
            </a:r>
            <a:r>
              <a:rPr sz="3200" spc="-10" dirty="0">
                <a:latin typeface="Carlito"/>
                <a:cs typeface="Carlito"/>
              </a:rPr>
              <a:t>tend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be meaningful </a:t>
            </a:r>
            <a:r>
              <a:rPr sz="3200" spc="-20" dirty="0">
                <a:latin typeface="Carlito"/>
                <a:cs typeface="Carlito"/>
              </a:rPr>
              <a:t>to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programmer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not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dirty="0">
                <a:latin typeface="Carlito"/>
                <a:cs typeface="Carlito"/>
              </a:rPr>
              <a:t>as the 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15" dirty="0">
                <a:latin typeface="Carlito"/>
                <a:cs typeface="Carlito"/>
              </a:rPr>
              <a:t>understands </a:t>
            </a:r>
            <a:r>
              <a:rPr sz="3200" spc="-5" dirty="0">
                <a:latin typeface="Carlito"/>
                <a:cs typeface="Carlito"/>
              </a:rPr>
              <a:t>only </a:t>
            </a:r>
            <a:r>
              <a:rPr sz="3200" dirty="0">
                <a:latin typeface="Carlito"/>
                <a:cs typeface="Carlito"/>
              </a:rPr>
              <a:t>the machine  language.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83540" y="339978"/>
            <a:ext cx="8355965" cy="5099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Since the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not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5" dirty="0">
                <a:latin typeface="Carlito"/>
                <a:cs typeface="Carlito"/>
              </a:rPr>
              <a:t>language that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5" dirty="0">
                <a:latin typeface="Carlito"/>
                <a:cs typeface="Carlito"/>
              </a:rPr>
              <a:t>has been designed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understand,  </a:t>
            </a: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dirty="0">
                <a:latin typeface="Carlito"/>
                <a:cs typeface="Carlito"/>
              </a:rPr>
              <a:t>is the </a:t>
            </a:r>
            <a:r>
              <a:rPr sz="3200" spc="-5" dirty="0">
                <a:latin typeface="Carlito"/>
                <a:cs typeface="Carlito"/>
              </a:rPr>
              <a:t>need </a:t>
            </a:r>
            <a:r>
              <a:rPr sz="3200" spc="-25" dirty="0">
                <a:latin typeface="Carlito"/>
                <a:cs typeface="Carlito"/>
              </a:rPr>
              <a:t>to have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20" dirty="0">
                <a:latin typeface="Carlito"/>
                <a:cs typeface="Carlito"/>
              </a:rPr>
              <a:t>program</a:t>
            </a:r>
            <a:r>
              <a:rPr sz="3200" spc="55" dirty="0">
                <a:latin typeface="Carlito"/>
                <a:cs typeface="Carlito"/>
              </a:rPr>
              <a:t> </a:t>
            </a:r>
            <a:r>
              <a:rPr sz="3200" spc="-45" dirty="0">
                <a:latin typeface="Carlito"/>
                <a:cs typeface="Carlito"/>
              </a:rPr>
              <a:t>translator.</a:t>
            </a:r>
            <a:endParaRPr sz="3200">
              <a:latin typeface="Carlito"/>
              <a:cs typeface="Carlito"/>
            </a:endParaRPr>
          </a:p>
          <a:p>
            <a:pPr marL="355600" marR="66230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46405" algn="l"/>
                <a:tab pos="447040" algn="l"/>
              </a:tabLst>
            </a:pPr>
            <a:r>
              <a:rPr dirty="0"/>
              <a:t>	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5" dirty="0">
                <a:latin typeface="Carlito"/>
                <a:cs typeface="Carlito"/>
              </a:rPr>
              <a:t>program translator </a:t>
            </a:r>
            <a:r>
              <a:rPr sz="3200" spc="-20" dirty="0">
                <a:latin typeface="Carlito"/>
                <a:cs typeface="Carlito"/>
              </a:rPr>
              <a:t>may </a:t>
            </a:r>
            <a:r>
              <a:rPr sz="3200" dirty="0">
                <a:latin typeface="Carlito"/>
                <a:cs typeface="Carlito"/>
              </a:rPr>
              <a:t>be </a:t>
            </a:r>
            <a:r>
              <a:rPr sz="3200" spc="-10" dirty="0">
                <a:latin typeface="Carlito"/>
                <a:cs typeface="Carlito"/>
              </a:rPr>
              <a:t>defined </a:t>
            </a:r>
            <a:r>
              <a:rPr sz="3200" spc="5" dirty="0">
                <a:latin typeface="Carlito"/>
                <a:cs typeface="Carlito"/>
              </a:rPr>
              <a:t>as </a:t>
            </a:r>
            <a:r>
              <a:rPr sz="3200" spc="-20" dirty="0">
                <a:latin typeface="Carlito"/>
                <a:cs typeface="Carlito"/>
              </a:rPr>
              <a:t>any 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15" dirty="0">
                <a:latin typeface="Carlito"/>
                <a:cs typeface="Carlito"/>
              </a:rPr>
              <a:t>package </a:t>
            </a:r>
            <a:r>
              <a:rPr sz="3200" spc="-5" dirty="0">
                <a:latin typeface="Carlito"/>
                <a:cs typeface="Carlito"/>
              </a:rPr>
              <a:t>capable of </a:t>
            </a:r>
            <a:r>
              <a:rPr sz="3200" spc="-10" dirty="0">
                <a:latin typeface="Carlito"/>
                <a:cs typeface="Carlito"/>
              </a:rPr>
              <a:t>translating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10" dirty="0">
                <a:latin typeface="Carlito"/>
                <a:cs typeface="Carlito"/>
              </a:rPr>
              <a:t>source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15" dirty="0">
                <a:latin typeface="Carlito"/>
                <a:cs typeface="Carlito"/>
              </a:rPr>
              <a:t>written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either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high </a:t>
            </a:r>
            <a:r>
              <a:rPr sz="3200" spc="-10" dirty="0">
                <a:latin typeface="Carlito"/>
                <a:cs typeface="Carlito"/>
              </a:rPr>
              <a:t>level  </a:t>
            </a:r>
            <a:r>
              <a:rPr sz="3200" spc="-5" dirty="0">
                <a:latin typeface="Carlito"/>
                <a:cs typeface="Carlito"/>
              </a:rPr>
              <a:t>language </a:t>
            </a:r>
            <a:r>
              <a:rPr sz="3200" dirty="0">
                <a:latin typeface="Carlito"/>
                <a:cs typeface="Carlito"/>
              </a:rPr>
              <a:t>or an </a:t>
            </a:r>
            <a:r>
              <a:rPr sz="3200" spc="-5" dirty="0">
                <a:latin typeface="Carlito"/>
                <a:cs typeface="Carlito"/>
              </a:rPr>
              <a:t>assembly language </a:t>
            </a:r>
            <a:r>
              <a:rPr sz="3200" spc="-20" dirty="0">
                <a:latin typeface="Carlito"/>
                <a:cs typeface="Carlito"/>
              </a:rPr>
              <a:t>into </a:t>
            </a:r>
            <a:r>
              <a:rPr sz="3200" dirty="0">
                <a:latin typeface="Carlito"/>
                <a:cs typeface="Carlito"/>
              </a:rPr>
              <a:t>a  machine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language.</a:t>
            </a:r>
            <a:endParaRPr sz="3200">
              <a:latin typeface="Carlito"/>
              <a:cs typeface="Carlito"/>
            </a:endParaRPr>
          </a:p>
          <a:p>
            <a:pPr marL="355600" marR="8382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10" dirty="0">
                <a:latin typeface="Carlito"/>
                <a:cs typeface="Carlito"/>
              </a:rPr>
              <a:t>three </a:t>
            </a:r>
            <a:r>
              <a:rPr sz="3200" spc="-5" dirty="0">
                <a:latin typeface="Carlito"/>
                <a:cs typeface="Carlito"/>
              </a:rPr>
              <a:t>types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20" dirty="0">
                <a:latin typeface="Carlito"/>
                <a:cs typeface="Carlito"/>
              </a:rPr>
              <a:t>program translators  </a:t>
            </a:r>
            <a:r>
              <a:rPr sz="3200" spc="-5" dirty="0">
                <a:latin typeface="Carlito"/>
                <a:cs typeface="Carlito"/>
              </a:rPr>
              <a:t>namely </a:t>
            </a:r>
            <a:r>
              <a:rPr sz="3200" spc="-10" dirty="0">
                <a:latin typeface="Carlito"/>
                <a:cs typeface="Carlito"/>
              </a:rPr>
              <a:t>Compilers, </a:t>
            </a:r>
            <a:r>
              <a:rPr sz="3200" spc="-20" dirty="0">
                <a:latin typeface="Carlito"/>
                <a:cs typeface="Carlito"/>
              </a:rPr>
              <a:t>Interpreters </a:t>
            </a:r>
            <a:r>
              <a:rPr sz="3200" spc="-5" dirty="0">
                <a:latin typeface="Carlito"/>
                <a:cs typeface="Carlito"/>
              </a:rPr>
              <a:t>and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Assemblers.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4336541" y="6556959"/>
            <a:ext cx="4718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K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umasi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7713" y="187197"/>
            <a:ext cx="30924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INTERPRETER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5197"/>
            <a:ext cx="8059420" cy="51295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281305" indent="-342900">
              <a:lnSpc>
                <a:spcPct val="90000"/>
              </a:lnSpc>
              <a:spcBef>
                <a:spcPts val="4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rlito"/>
                <a:cs typeface="Carlito"/>
              </a:rPr>
              <a:t>Every </a:t>
            </a:r>
            <a:r>
              <a:rPr sz="2700" spc="-20" dirty="0">
                <a:latin typeface="Carlito"/>
                <a:cs typeface="Carlito"/>
              </a:rPr>
              <a:t>program </a:t>
            </a:r>
            <a:r>
              <a:rPr sz="2700" spc="-10" dirty="0">
                <a:latin typeface="Carlito"/>
                <a:cs typeface="Carlito"/>
              </a:rPr>
              <a:t>instruction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translated </a:t>
            </a:r>
            <a:r>
              <a:rPr sz="2700" spc="-5" dirty="0">
                <a:latin typeface="Carlito"/>
                <a:cs typeface="Carlito"/>
              </a:rPr>
              <a:t>or </a:t>
            </a:r>
            <a:r>
              <a:rPr sz="2700" spc="-15" dirty="0">
                <a:latin typeface="Carlito"/>
                <a:cs typeface="Carlito"/>
              </a:rPr>
              <a:t>interpreted  </a:t>
            </a:r>
            <a:r>
              <a:rPr sz="2700" spc="-5" dirty="0">
                <a:latin typeface="Carlito"/>
                <a:cs typeface="Carlito"/>
              </a:rPr>
              <a:t>on </a:t>
            </a:r>
            <a:r>
              <a:rPr sz="2700" dirty="0">
                <a:latin typeface="Carlito"/>
                <a:cs typeface="Carlito"/>
              </a:rPr>
              <a:t>each </a:t>
            </a:r>
            <a:r>
              <a:rPr sz="2700" spc="-5" dirty="0">
                <a:latin typeface="Carlito"/>
                <a:cs typeface="Carlito"/>
              </a:rPr>
              <a:t>occasion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20" dirty="0">
                <a:latin typeface="Carlito"/>
                <a:cs typeface="Carlito"/>
              </a:rPr>
              <a:t>program </a:t>
            </a:r>
            <a:r>
              <a:rPr sz="2700" dirty="0">
                <a:latin typeface="Carlito"/>
                <a:cs typeface="Carlito"/>
              </a:rPr>
              <a:t>is run </a:t>
            </a:r>
            <a:r>
              <a:rPr sz="2700" spc="-5" dirty="0">
                <a:latin typeface="Carlito"/>
                <a:cs typeface="Carlito"/>
              </a:rPr>
              <a:t>(not </a:t>
            </a:r>
            <a:r>
              <a:rPr sz="2700" spc="-10" dirty="0">
                <a:latin typeface="Carlito"/>
                <a:cs typeface="Carlito"/>
              </a:rPr>
              <a:t>just </a:t>
            </a:r>
            <a:r>
              <a:rPr sz="2700" spc="-5" dirty="0">
                <a:latin typeface="Carlito"/>
                <a:cs typeface="Carlito"/>
              </a:rPr>
              <a:t>once  </a:t>
            </a:r>
            <a:r>
              <a:rPr sz="2700" dirty="0">
                <a:latin typeface="Carlito"/>
                <a:cs typeface="Carlito"/>
              </a:rPr>
              <a:t>initially as with </a:t>
            </a:r>
            <a:r>
              <a:rPr sz="2700" spc="-10" dirty="0">
                <a:latin typeface="Carlito"/>
                <a:cs typeface="Carlito"/>
              </a:rPr>
              <a:t>assemblers </a:t>
            </a:r>
            <a:r>
              <a:rPr sz="2700" dirty="0">
                <a:latin typeface="Carlito"/>
                <a:cs typeface="Carlito"/>
              </a:rPr>
              <a:t>and</a:t>
            </a:r>
            <a:r>
              <a:rPr sz="2700" spc="-7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compilers).</a:t>
            </a:r>
            <a:endParaRPr sz="2700">
              <a:latin typeface="Carlito"/>
              <a:cs typeface="Carlito"/>
            </a:endParaRPr>
          </a:p>
          <a:p>
            <a:pPr marL="355600" marR="452755" indent="-342900">
              <a:lnSpc>
                <a:spcPts val="2920"/>
              </a:lnSpc>
              <a:spcBef>
                <a:spcPts val="6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If </a:t>
            </a:r>
            <a:r>
              <a:rPr sz="2700" spc="-20" dirty="0">
                <a:latin typeface="Carlito"/>
                <a:cs typeface="Carlito"/>
              </a:rPr>
              <a:t>any statement </a:t>
            </a:r>
            <a:r>
              <a:rPr sz="2700" spc="-5" dirty="0">
                <a:latin typeface="Carlito"/>
                <a:cs typeface="Carlito"/>
              </a:rPr>
              <a:t>does not </a:t>
            </a:r>
            <a:r>
              <a:rPr sz="2700" spc="-15" dirty="0">
                <a:latin typeface="Carlito"/>
                <a:cs typeface="Carlito"/>
              </a:rPr>
              <a:t>conform to </a:t>
            </a:r>
            <a:r>
              <a:rPr sz="2700" dirty="0">
                <a:latin typeface="Carlito"/>
                <a:cs typeface="Carlito"/>
              </a:rPr>
              <a:t>or </a:t>
            </a:r>
            <a:r>
              <a:rPr sz="2700" spc="-5" dirty="0">
                <a:latin typeface="Carlito"/>
                <a:cs typeface="Carlito"/>
              </a:rPr>
              <a:t>violates </a:t>
            </a:r>
            <a:r>
              <a:rPr sz="2700" dirty="0">
                <a:latin typeface="Carlito"/>
                <a:cs typeface="Carlito"/>
              </a:rPr>
              <a:t>the  rules </a:t>
            </a:r>
            <a:r>
              <a:rPr sz="2700" spc="-5" dirty="0">
                <a:latin typeface="Carlito"/>
                <a:cs typeface="Carlito"/>
              </a:rPr>
              <a:t>or </a:t>
            </a:r>
            <a:r>
              <a:rPr sz="2700" spc="-10" dirty="0">
                <a:latin typeface="Carlito"/>
                <a:cs typeface="Carlito"/>
              </a:rPr>
              <a:t>grammar </a:t>
            </a:r>
            <a:r>
              <a:rPr sz="2700" spc="-20" dirty="0">
                <a:latin typeface="Carlito"/>
                <a:cs typeface="Carlito"/>
              </a:rPr>
              <a:t>(syntax) </a:t>
            </a:r>
            <a:r>
              <a:rPr sz="2700" spc="-5" dirty="0">
                <a:latin typeface="Carlito"/>
                <a:cs typeface="Carlito"/>
              </a:rPr>
              <a:t>of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language </a:t>
            </a:r>
            <a:r>
              <a:rPr sz="2700" dirty="0">
                <a:latin typeface="Carlito"/>
                <a:cs typeface="Carlito"/>
              </a:rPr>
              <a:t>an </a:t>
            </a:r>
            <a:r>
              <a:rPr sz="2700" spc="-15" dirty="0">
                <a:latin typeface="Carlito"/>
                <a:cs typeface="Carlito"/>
              </a:rPr>
              <a:t>error  </a:t>
            </a:r>
            <a:r>
              <a:rPr sz="2700" spc="-5" dirty="0">
                <a:latin typeface="Carlito"/>
                <a:cs typeface="Carlito"/>
              </a:rPr>
              <a:t>message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displayed </a:t>
            </a:r>
            <a:r>
              <a:rPr sz="2700" spc="-5" dirty="0">
                <a:latin typeface="Carlito"/>
                <a:cs typeface="Carlito"/>
              </a:rPr>
              <a:t>on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screen.</a:t>
            </a:r>
            <a:endParaRPr sz="27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5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rlito"/>
                <a:cs typeface="Carlito"/>
              </a:rPr>
              <a:t>Until </a:t>
            </a:r>
            <a:r>
              <a:rPr sz="2700" dirty="0">
                <a:latin typeface="Carlito"/>
                <a:cs typeface="Carlito"/>
              </a:rPr>
              <a:t>this </a:t>
            </a:r>
            <a:r>
              <a:rPr sz="2700" spc="-15" dirty="0">
                <a:latin typeface="Carlito"/>
                <a:cs typeface="Carlito"/>
              </a:rPr>
              <a:t>error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corrected, </a:t>
            </a:r>
            <a:r>
              <a:rPr sz="2700" spc="-20" dirty="0">
                <a:latin typeface="Carlito"/>
                <a:cs typeface="Carlito"/>
              </a:rPr>
              <a:t>program </a:t>
            </a:r>
            <a:r>
              <a:rPr sz="2700" spc="-15" dirty="0">
                <a:latin typeface="Carlito"/>
                <a:cs typeface="Carlito"/>
              </a:rPr>
              <a:t>execution </a:t>
            </a:r>
            <a:r>
              <a:rPr sz="2700" spc="-5" dirty="0">
                <a:latin typeface="Carlito"/>
                <a:cs typeface="Carlito"/>
              </a:rPr>
              <a:t>cannot  </a:t>
            </a:r>
            <a:r>
              <a:rPr sz="2700" spc="-10" dirty="0">
                <a:latin typeface="Carlito"/>
                <a:cs typeface="Carlito"/>
              </a:rPr>
              <a:t>proceed </a:t>
            </a:r>
            <a:r>
              <a:rPr sz="2700" dirty="0">
                <a:latin typeface="Carlito"/>
                <a:cs typeface="Carlito"/>
              </a:rPr>
              <a:t>and this </a:t>
            </a:r>
            <a:r>
              <a:rPr sz="2700" spc="-5" dirty="0">
                <a:latin typeface="Carlito"/>
                <a:cs typeface="Carlito"/>
              </a:rPr>
              <a:t>has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disadvantage </a:t>
            </a:r>
            <a:r>
              <a:rPr sz="2700" spc="-5" dirty="0">
                <a:latin typeface="Carlito"/>
                <a:cs typeface="Carlito"/>
              </a:rPr>
              <a:t>of slowing down  </a:t>
            </a:r>
            <a:r>
              <a:rPr sz="2700" dirty="0">
                <a:latin typeface="Carlito"/>
                <a:cs typeface="Carlito"/>
              </a:rPr>
              <a:t>the running of </a:t>
            </a:r>
            <a:r>
              <a:rPr sz="2700" spc="-10" dirty="0">
                <a:latin typeface="Carlito"/>
                <a:cs typeface="Carlito"/>
              </a:rPr>
              <a:t>the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program.</a:t>
            </a:r>
            <a:endParaRPr sz="2700">
              <a:latin typeface="Carlito"/>
              <a:cs typeface="Carlito"/>
            </a:endParaRPr>
          </a:p>
          <a:p>
            <a:pPr marL="355600" marR="163830" indent="-342900" algn="just">
              <a:lnSpc>
                <a:spcPct val="900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An </a:t>
            </a:r>
            <a:r>
              <a:rPr sz="2700" spc="-35" dirty="0">
                <a:latin typeface="Carlito"/>
                <a:cs typeface="Carlito"/>
              </a:rPr>
              <a:t>interpreter, </a:t>
            </a:r>
            <a:r>
              <a:rPr sz="2700" spc="-40" dirty="0">
                <a:latin typeface="Carlito"/>
                <a:cs typeface="Carlito"/>
              </a:rPr>
              <a:t>however, </a:t>
            </a:r>
            <a:r>
              <a:rPr sz="2700" spc="-10" dirty="0">
                <a:latin typeface="Carlito"/>
                <a:cs typeface="Carlito"/>
              </a:rPr>
              <a:t>allows </a:t>
            </a:r>
            <a:r>
              <a:rPr sz="2700" spc="-20" dirty="0">
                <a:latin typeface="Carlito"/>
                <a:cs typeface="Carlito"/>
              </a:rPr>
              <a:t>errors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be </a:t>
            </a:r>
            <a:r>
              <a:rPr sz="2700" spc="-15" dirty="0">
                <a:latin typeface="Carlito"/>
                <a:cs typeface="Carlito"/>
              </a:rPr>
              <a:t>corrected  </a:t>
            </a:r>
            <a:r>
              <a:rPr sz="2700" spc="-10" dirty="0">
                <a:latin typeface="Carlito"/>
                <a:cs typeface="Carlito"/>
              </a:rPr>
              <a:t>more </a:t>
            </a:r>
            <a:r>
              <a:rPr sz="2700" spc="-5" dirty="0">
                <a:latin typeface="Carlito"/>
                <a:cs typeface="Carlito"/>
              </a:rPr>
              <a:t>quickly </a:t>
            </a:r>
            <a:r>
              <a:rPr sz="2700" spc="-10" dirty="0">
                <a:latin typeface="Carlito"/>
                <a:cs typeface="Carlito"/>
              </a:rPr>
              <a:t>than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compiler </a:t>
            </a:r>
            <a:r>
              <a:rPr sz="2700" dirty="0">
                <a:latin typeface="Carlito"/>
                <a:cs typeface="Carlito"/>
              </a:rPr>
              <a:t>which </a:t>
            </a:r>
            <a:r>
              <a:rPr sz="2700" spc="-10" dirty="0">
                <a:latin typeface="Carlito"/>
                <a:cs typeface="Carlito"/>
              </a:rPr>
              <a:t>prints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5" dirty="0">
                <a:latin typeface="Carlito"/>
                <a:cs typeface="Carlito"/>
              </a:rPr>
              <a:t>(long) </a:t>
            </a:r>
            <a:r>
              <a:rPr sz="2700" spc="-10" dirty="0">
                <a:latin typeface="Carlito"/>
                <a:cs typeface="Carlito"/>
              </a:rPr>
              <a:t>list  </a:t>
            </a:r>
            <a:r>
              <a:rPr sz="2700" spc="-5" dirty="0">
                <a:latin typeface="Carlito"/>
                <a:cs typeface="Carlito"/>
              </a:rPr>
              <a:t>of </a:t>
            </a:r>
            <a:r>
              <a:rPr sz="2700" spc="-20" dirty="0">
                <a:latin typeface="Carlito"/>
                <a:cs typeface="Carlito"/>
              </a:rPr>
              <a:t>errors </a:t>
            </a:r>
            <a:r>
              <a:rPr sz="2700" dirty="0">
                <a:latin typeface="Carlito"/>
                <a:cs typeface="Carlito"/>
              </a:rPr>
              <a:t>which </a:t>
            </a:r>
            <a:r>
              <a:rPr sz="2700" spc="-20" dirty="0">
                <a:latin typeface="Carlito"/>
                <a:cs typeface="Carlito"/>
              </a:rPr>
              <a:t>have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be </a:t>
            </a:r>
            <a:r>
              <a:rPr sz="2700" spc="-15" dirty="0">
                <a:latin typeface="Carlito"/>
                <a:cs typeface="Carlito"/>
              </a:rPr>
              <a:t>corrected </a:t>
            </a:r>
            <a:r>
              <a:rPr sz="2700" dirty="0">
                <a:latin typeface="Carlito"/>
                <a:cs typeface="Carlito"/>
              </a:rPr>
              <a:t>as a whole </a:t>
            </a:r>
            <a:r>
              <a:rPr sz="2700" spc="-15" dirty="0">
                <a:latin typeface="Carlito"/>
                <a:cs typeface="Carlito"/>
              </a:rPr>
              <a:t>rather  </a:t>
            </a:r>
            <a:r>
              <a:rPr sz="2700" dirty="0">
                <a:latin typeface="Carlito"/>
                <a:cs typeface="Carlito"/>
              </a:rPr>
              <a:t>than </a:t>
            </a:r>
            <a:r>
              <a:rPr sz="2700" spc="-5" dirty="0">
                <a:latin typeface="Carlito"/>
                <a:cs typeface="Carlito"/>
              </a:rPr>
              <a:t>individually </a:t>
            </a:r>
            <a:r>
              <a:rPr sz="2700" spc="-25" dirty="0">
                <a:latin typeface="Carlito"/>
                <a:cs typeface="Carlito"/>
              </a:rPr>
              <a:t>before </a:t>
            </a:r>
            <a:r>
              <a:rPr sz="2700" spc="-20" dirty="0">
                <a:latin typeface="Carlito"/>
                <a:cs typeface="Carlito"/>
              </a:rPr>
              <a:t>program </a:t>
            </a:r>
            <a:r>
              <a:rPr sz="2700" spc="-15" dirty="0">
                <a:latin typeface="Carlito"/>
                <a:cs typeface="Carlito"/>
              </a:rPr>
              <a:t>execution</a:t>
            </a:r>
            <a:r>
              <a:rPr sz="2700" spc="2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can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6157671"/>
            <a:ext cx="133858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>
                <a:latin typeface="Carlito"/>
                <a:cs typeface="Carlito"/>
              </a:rPr>
              <a:t>c</a:t>
            </a:r>
            <a:r>
              <a:rPr sz="2700" spc="-5" dirty="0">
                <a:latin typeface="Carlito"/>
                <a:cs typeface="Carlito"/>
              </a:rPr>
              <a:t>o</a:t>
            </a:r>
            <a:r>
              <a:rPr sz="2700" spc="-20" dirty="0">
                <a:latin typeface="Carlito"/>
                <a:cs typeface="Carlito"/>
              </a:rPr>
              <a:t>n</a:t>
            </a:r>
            <a:r>
              <a:rPr sz="2700" dirty="0">
                <a:latin typeface="Carlito"/>
                <a:cs typeface="Carlito"/>
              </a:rPr>
              <a:t>tinue.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4502" y="6335674"/>
            <a:ext cx="2635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Department 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of Computer Science,</a:t>
            </a:r>
            <a:r>
              <a:rPr sz="1200" spc="-10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KNUST-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5663" y="69545"/>
            <a:ext cx="27362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ASSEMBLER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60195"/>
            <a:ext cx="8068309" cy="4709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dirty="0">
                <a:latin typeface="Carlito"/>
                <a:cs typeface="Carlito"/>
              </a:rPr>
              <a:t>type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software translates </a:t>
            </a:r>
            <a:r>
              <a:rPr sz="3200" dirty="0">
                <a:latin typeface="Carlito"/>
                <a:cs typeface="Carlito"/>
              </a:rPr>
              <a:t>and assembles  a </a:t>
            </a:r>
            <a:r>
              <a:rPr sz="3200" spc="-15" dirty="0">
                <a:latin typeface="Carlito"/>
                <a:cs typeface="Carlito"/>
              </a:rPr>
              <a:t>program written </a:t>
            </a:r>
            <a:r>
              <a:rPr sz="3200" dirty="0">
                <a:latin typeface="Carlito"/>
                <a:cs typeface="Carlito"/>
              </a:rPr>
              <a:t>in assembly </a:t>
            </a:r>
            <a:r>
              <a:rPr sz="3200" spc="-5" dirty="0">
                <a:latin typeface="Carlito"/>
                <a:cs typeface="Carlito"/>
              </a:rPr>
              <a:t>code </a:t>
            </a:r>
            <a:r>
              <a:rPr sz="3200" spc="-15" dirty="0">
                <a:latin typeface="Carlito"/>
                <a:cs typeface="Carlito"/>
              </a:rPr>
              <a:t>into  </a:t>
            </a:r>
            <a:r>
              <a:rPr sz="3200" dirty="0">
                <a:latin typeface="Carlito"/>
                <a:cs typeface="Carlito"/>
              </a:rPr>
              <a:t>machine </a:t>
            </a:r>
            <a:r>
              <a:rPr sz="3200" spc="-5" dirty="0">
                <a:latin typeface="Carlito"/>
                <a:cs typeface="Carlito"/>
              </a:rPr>
              <a:t>(object)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code.</a:t>
            </a:r>
            <a:endParaRPr sz="3200">
              <a:latin typeface="Carlito"/>
              <a:cs typeface="Carlito"/>
            </a:endParaRPr>
          </a:p>
          <a:p>
            <a:pPr marL="355600" marR="53975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assembler </a:t>
            </a:r>
            <a:r>
              <a:rPr sz="3200" spc="-15" dirty="0">
                <a:latin typeface="Carlito"/>
                <a:cs typeface="Carlito"/>
              </a:rPr>
              <a:t>translates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symbolic  function </a:t>
            </a:r>
            <a:r>
              <a:rPr sz="3200" spc="-10" dirty="0">
                <a:latin typeface="Carlito"/>
                <a:cs typeface="Carlito"/>
              </a:rPr>
              <a:t>codes </a:t>
            </a:r>
            <a:r>
              <a:rPr sz="3200" spc="-20" dirty="0">
                <a:latin typeface="Carlito"/>
                <a:cs typeface="Carlito"/>
              </a:rPr>
              <a:t>into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equivalent </a:t>
            </a:r>
            <a:r>
              <a:rPr sz="3200" dirty="0">
                <a:latin typeface="Carlito"/>
                <a:cs typeface="Carlito"/>
              </a:rPr>
              <a:t>machine  </a:t>
            </a:r>
            <a:r>
              <a:rPr sz="3200" spc="-10" dirty="0">
                <a:latin typeface="Carlito"/>
                <a:cs typeface="Carlito"/>
              </a:rPr>
              <a:t>operation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code.</a:t>
            </a:r>
            <a:endParaRPr sz="3200">
              <a:latin typeface="Carlito"/>
              <a:cs typeface="Carlito"/>
            </a:endParaRPr>
          </a:p>
          <a:p>
            <a:pPr marL="933450">
              <a:lnSpc>
                <a:spcPct val="100000"/>
              </a:lnSpc>
              <a:spcBef>
                <a:spcPts val="770"/>
              </a:spcBef>
            </a:pPr>
            <a:r>
              <a:rPr sz="3200" spc="5" dirty="0">
                <a:latin typeface="Carlito"/>
                <a:cs typeface="Carlito"/>
              </a:rPr>
              <a:t>E.g. </a:t>
            </a:r>
            <a:r>
              <a:rPr sz="3200" spc="-5" dirty="0">
                <a:latin typeface="Carlito"/>
                <a:cs typeface="Carlito"/>
              </a:rPr>
              <a:t>DIV SUM,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NUMB</a:t>
            </a:r>
            <a:endParaRPr sz="3200">
              <a:latin typeface="Carlito"/>
              <a:cs typeface="Carlito"/>
            </a:endParaRPr>
          </a:p>
          <a:p>
            <a:pPr marL="355600" marR="12827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47040" algn="l"/>
                <a:tab pos="447675" algn="l"/>
              </a:tabLst>
            </a:pPr>
            <a:r>
              <a:rPr dirty="0"/>
              <a:t>	</a:t>
            </a:r>
            <a:r>
              <a:rPr sz="3200" spc="-15" dirty="0">
                <a:latin typeface="Carlito"/>
                <a:cs typeface="Carlito"/>
              </a:rPr>
              <a:t>After </a:t>
            </a:r>
            <a:r>
              <a:rPr sz="3200" dirty="0">
                <a:latin typeface="Carlito"/>
                <a:cs typeface="Carlito"/>
              </a:rPr>
              <a:t>assembling, the </a:t>
            </a:r>
            <a:r>
              <a:rPr sz="3200" spc="-5" dirty="0">
                <a:latin typeface="Carlito"/>
                <a:cs typeface="Carlito"/>
              </a:rPr>
              <a:t>object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10" dirty="0">
                <a:latin typeface="Carlito"/>
                <a:cs typeface="Carlito"/>
              </a:rPr>
              <a:t>is  retained </a:t>
            </a:r>
            <a:r>
              <a:rPr sz="3200" dirty="0">
                <a:latin typeface="Carlito"/>
                <a:cs typeface="Carlito"/>
              </a:rPr>
              <a:t>on a </a:t>
            </a:r>
            <a:r>
              <a:rPr sz="3200" spc="-25" dirty="0">
                <a:latin typeface="Carlito"/>
                <a:cs typeface="Carlito"/>
              </a:rPr>
              <a:t>storage </a:t>
            </a:r>
            <a:r>
              <a:rPr sz="3200" spc="-5" dirty="0">
                <a:latin typeface="Carlito"/>
                <a:cs typeface="Carlito"/>
              </a:rPr>
              <a:t>device </a:t>
            </a:r>
            <a:r>
              <a:rPr sz="3200" dirty="0">
                <a:latin typeface="Carlito"/>
                <a:cs typeface="Carlito"/>
              </a:rPr>
              <a:t>in machine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code.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267970"/>
            <a:ext cx="7894320" cy="5099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47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rlito"/>
                <a:cs typeface="Carlito"/>
              </a:rPr>
              <a:t>Errors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diagnosed during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assembly  </a:t>
            </a:r>
            <a:r>
              <a:rPr sz="3200" spc="-10" dirty="0">
                <a:latin typeface="Carlito"/>
                <a:cs typeface="Carlito"/>
              </a:rPr>
              <a:t>process. </a:t>
            </a: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5" dirty="0">
                <a:latin typeface="Carlito"/>
                <a:cs typeface="Carlito"/>
              </a:rPr>
              <a:t>once only </a:t>
            </a:r>
            <a:r>
              <a:rPr sz="3200" spc="-10" dirty="0">
                <a:latin typeface="Carlito"/>
                <a:cs typeface="Carlito"/>
              </a:rPr>
              <a:t>process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does  not </a:t>
            </a:r>
            <a:r>
              <a:rPr sz="3200" spc="-20" dirty="0">
                <a:latin typeface="Carlito"/>
                <a:cs typeface="Carlito"/>
              </a:rPr>
              <a:t>have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5" dirty="0">
                <a:latin typeface="Carlito"/>
                <a:cs typeface="Carlito"/>
              </a:rPr>
              <a:t>performed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time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dirty="0">
                <a:latin typeface="Carlito"/>
                <a:cs typeface="Carlito"/>
              </a:rPr>
              <a:t>is run as with an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interpreter.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44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Assembly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spc="-10" dirty="0">
                <a:latin typeface="Carlito"/>
                <a:cs typeface="Carlito"/>
              </a:rPr>
              <a:t>tend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run </a:t>
            </a:r>
            <a:r>
              <a:rPr sz="3200" spc="-25" dirty="0">
                <a:latin typeface="Carlito"/>
                <a:cs typeface="Carlito"/>
              </a:rPr>
              <a:t>faster </a:t>
            </a:r>
            <a:r>
              <a:rPr sz="3200" dirty="0">
                <a:latin typeface="Carlito"/>
                <a:cs typeface="Carlito"/>
              </a:rPr>
              <a:t>than  </a:t>
            </a:r>
            <a:r>
              <a:rPr sz="3200" spc="-15" dirty="0">
                <a:latin typeface="Carlito"/>
                <a:cs typeface="Carlito"/>
              </a:rPr>
              <a:t>interpreted </a:t>
            </a:r>
            <a:r>
              <a:rPr sz="3200" spc="-5" dirty="0">
                <a:latin typeface="Carlito"/>
                <a:cs typeface="Carlito"/>
              </a:rPr>
              <a:t>ones, because </a:t>
            </a:r>
            <a:r>
              <a:rPr sz="3200" dirty="0">
                <a:latin typeface="Carlito"/>
                <a:cs typeface="Carlito"/>
              </a:rPr>
              <a:t>assembly language  is </a:t>
            </a:r>
            <a:r>
              <a:rPr sz="3200" spc="-5" dirty="0">
                <a:latin typeface="Carlito"/>
                <a:cs typeface="Carlito"/>
              </a:rPr>
              <a:t>low </a:t>
            </a:r>
            <a:r>
              <a:rPr sz="3200" spc="-10" dirty="0">
                <a:latin typeface="Carlito"/>
                <a:cs typeface="Carlito"/>
              </a:rPr>
              <a:t>level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nearer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machine </a:t>
            </a:r>
            <a:r>
              <a:rPr sz="3200" spc="-10" dirty="0">
                <a:latin typeface="Carlito"/>
                <a:cs typeface="Carlito"/>
              </a:rPr>
              <a:t>code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25" dirty="0">
                <a:latin typeface="Carlito"/>
                <a:cs typeface="Carlito"/>
              </a:rPr>
              <a:t>fewer </a:t>
            </a:r>
            <a:r>
              <a:rPr sz="3200" spc="-5" dirty="0">
                <a:latin typeface="Carlito"/>
                <a:cs typeface="Carlito"/>
              </a:rPr>
              <a:t>instructions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necessary </a:t>
            </a:r>
            <a:r>
              <a:rPr sz="3200" spc="-20" dirty="0">
                <a:latin typeface="Carlito"/>
                <a:cs typeface="Carlito"/>
              </a:rPr>
              <a:t>to  </a:t>
            </a:r>
            <a:r>
              <a:rPr sz="3200" spc="-5" dirty="0">
                <a:latin typeface="Carlito"/>
                <a:cs typeface="Carlito"/>
              </a:rPr>
              <a:t>accomplish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desired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result.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7565" y="40639"/>
            <a:ext cx="24098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COMPILER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083005"/>
            <a:ext cx="8388985" cy="50996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5080" indent="-343535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compiler has </a:t>
            </a:r>
            <a:r>
              <a:rPr sz="3200" spc="-10" dirty="0">
                <a:latin typeface="Carlito"/>
                <a:cs typeface="Carlito"/>
              </a:rPr>
              <a:t>more </a:t>
            </a:r>
            <a:r>
              <a:rPr sz="3200" spc="-5" dirty="0">
                <a:latin typeface="Carlito"/>
                <a:cs typeface="Carlito"/>
              </a:rPr>
              <a:t>capabilities </a:t>
            </a:r>
            <a:r>
              <a:rPr sz="3200" dirty="0">
                <a:latin typeface="Carlito"/>
                <a:cs typeface="Carlito"/>
              </a:rPr>
              <a:t>than an  </a:t>
            </a:r>
            <a:r>
              <a:rPr sz="3200" spc="-5" dirty="0">
                <a:latin typeface="Carlito"/>
                <a:cs typeface="Carlito"/>
              </a:rPr>
              <a:t>assembler because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10" dirty="0">
                <a:latin typeface="Carlito"/>
                <a:cs typeface="Carlito"/>
              </a:rPr>
              <a:t>source </a:t>
            </a:r>
            <a:r>
              <a:rPr sz="3200" spc="-20" dirty="0">
                <a:latin typeface="Carlito"/>
                <a:cs typeface="Carlito"/>
              </a:rPr>
              <a:t>program  </a:t>
            </a:r>
            <a:r>
              <a:rPr sz="3200" spc="-5" dirty="0">
                <a:latin typeface="Carlito"/>
                <a:cs typeface="Carlito"/>
              </a:rPr>
              <a:t>instruction </a:t>
            </a:r>
            <a:r>
              <a:rPr sz="3200" spc="-20" dirty="0">
                <a:latin typeface="Carlito"/>
                <a:cs typeface="Carlito"/>
              </a:rPr>
              <a:t>generates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number of </a:t>
            </a:r>
            <a:r>
              <a:rPr sz="3200" dirty="0">
                <a:latin typeface="Carlito"/>
                <a:cs typeface="Carlito"/>
              </a:rPr>
              <a:t>machine </a:t>
            </a:r>
            <a:r>
              <a:rPr sz="3200" spc="-10" dirty="0">
                <a:latin typeface="Carlito"/>
                <a:cs typeface="Carlito"/>
              </a:rPr>
              <a:t>code  instructions.</a:t>
            </a:r>
            <a:endParaRPr sz="3200">
              <a:latin typeface="Carlito"/>
              <a:cs typeface="Carlito"/>
            </a:endParaRPr>
          </a:p>
          <a:p>
            <a:pPr marL="355600" marR="263525" indent="-343535">
              <a:lnSpc>
                <a:spcPct val="9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compiled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25" dirty="0">
                <a:latin typeface="Carlito"/>
                <a:cs typeface="Carlito"/>
              </a:rPr>
              <a:t>may </a:t>
            </a:r>
            <a:r>
              <a:rPr sz="3200" dirty="0">
                <a:latin typeface="Carlito"/>
                <a:cs typeface="Carlito"/>
              </a:rPr>
              <a:t>not </a:t>
            </a:r>
            <a:r>
              <a:rPr sz="3200" spc="-5" dirty="0">
                <a:latin typeface="Carlito"/>
                <a:cs typeface="Carlito"/>
              </a:rPr>
              <a:t>be so </a:t>
            </a:r>
            <a:r>
              <a:rPr sz="3200" spc="-15" dirty="0">
                <a:latin typeface="Carlito"/>
                <a:cs typeface="Carlito"/>
              </a:rPr>
              <a:t>efficient </a:t>
            </a:r>
            <a:r>
              <a:rPr sz="3200" spc="-10" dirty="0">
                <a:latin typeface="Carlito"/>
                <a:cs typeface="Carlito"/>
              </a:rPr>
              <a:t>in  </a:t>
            </a:r>
            <a:r>
              <a:rPr sz="3200" dirty="0">
                <a:latin typeface="Carlito"/>
                <a:cs typeface="Carlito"/>
              </a:rPr>
              <a:t>the time </a:t>
            </a:r>
            <a:r>
              <a:rPr sz="3200" spc="-30" dirty="0">
                <a:latin typeface="Carlito"/>
                <a:cs typeface="Carlito"/>
              </a:rPr>
              <a:t>taken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process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task </a:t>
            </a:r>
            <a:r>
              <a:rPr sz="3200" spc="-5" dirty="0">
                <a:latin typeface="Carlito"/>
                <a:cs typeface="Carlito"/>
              </a:rPr>
              <a:t>because </a:t>
            </a:r>
            <a:r>
              <a:rPr sz="3200" dirty="0">
                <a:latin typeface="Carlito"/>
                <a:cs typeface="Carlito"/>
              </a:rPr>
              <a:t>of the  </a:t>
            </a:r>
            <a:r>
              <a:rPr sz="3200" spc="-15" dirty="0">
                <a:latin typeface="Carlito"/>
                <a:cs typeface="Carlito"/>
              </a:rPr>
              <a:t>nature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high </a:t>
            </a:r>
            <a:r>
              <a:rPr sz="3200" spc="-10" dirty="0">
                <a:latin typeface="Carlito"/>
                <a:cs typeface="Carlito"/>
              </a:rPr>
              <a:t>level </a:t>
            </a:r>
            <a:r>
              <a:rPr sz="3200" spc="-5" dirty="0">
                <a:latin typeface="Carlito"/>
                <a:cs typeface="Carlito"/>
              </a:rPr>
              <a:t>language used, </a:t>
            </a:r>
            <a:r>
              <a:rPr sz="3200" spc="-10" dirty="0">
                <a:latin typeface="Carlito"/>
                <a:cs typeface="Carlito"/>
              </a:rPr>
              <a:t>COBOL  </a:t>
            </a:r>
            <a:r>
              <a:rPr sz="3200" spc="-30" dirty="0">
                <a:latin typeface="Carlito"/>
                <a:cs typeface="Carlito"/>
              </a:rPr>
              <a:t>for</a:t>
            </a:r>
            <a:r>
              <a:rPr sz="3200" spc="-10" dirty="0">
                <a:latin typeface="Carlito"/>
                <a:cs typeface="Carlito"/>
              </a:rPr>
              <a:t> instance.</a:t>
            </a:r>
            <a:endParaRPr sz="3200">
              <a:latin typeface="Carlito"/>
              <a:cs typeface="Carlito"/>
            </a:endParaRPr>
          </a:p>
          <a:p>
            <a:pPr marL="355600" marR="449580" indent="-343535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spc="-10" dirty="0">
                <a:latin typeface="Carlito"/>
                <a:cs typeface="Carlito"/>
              </a:rPr>
              <a:t>results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10" dirty="0">
                <a:latin typeface="Carlito"/>
                <a:cs typeface="Carlito"/>
              </a:rPr>
              <a:t>more detailed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less </a:t>
            </a:r>
            <a:r>
              <a:rPr sz="3200" spc="-10" dirty="0">
                <a:latin typeface="Carlito"/>
                <a:cs typeface="Carlito"/>
              </a:rPr>
              <a:t>direct  </a:t>
            </a:r>
            <a:r>
              <a:rPr sz="3200" spc="-5" dirty="0">
                <a:latin typeface="Carlito"/>
                <a:cs typeface="Carlito"/>
              </a:rPr>
              <a:t>instructions </a:t>
            </a:r>
            <a:r>
              <a:rPr sz="3200" dirty="0">
                <a:latin typeface="Carlito"/>
                <a:cs typeface="Carlito"/>
              </a:rPr>
              <a:t>than those </a:t>
            </a:r>
            <a:r>
              <a:rPr sz="3200" spc="-20" dirty="0">
                <a:latin typeface="Carlito"/>
                <a:cs typeface="Carlito"/>
              </a:rPr>
              <a:t>generated </a:t>
            </a:r>
            <a:r>
              <a:rPr sz="3200" spc="-10" dirty="0">
                <a:latin typeface="Carlito"/>
                <a:cs typeface="Carlito"/>
              </a:rPr>
              <a:t>by </a:t>
            </a:r>
            <a:r>
              <a:rPr sz="3200" dirty="0">
                <a:latin typeface="Carlito"/>
                <a:cs typeface="Carlito"/>
              </a:rPr>
              <a:t>an  </a:t>
            </a:r>
            <a:r>
              <a:rPr sz="3200" spc="-5" dirty="0">
                <a:latin typeface="Carlito"/>
                <a:cs typeface="Carlito"/>
              </a:rPr>
              <a:t>assembled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15" dirty="0">
                <a:latin typeface="Carlito"/>
                <a:cs typeface="Carlito"/>
              </a:rPr>
              <a:t>written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assembly</a:t>
            </a:r>
            <a:r>
              <a:rPr sz="3200" spc="6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code.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535" y="187197"/>
            <a:ext cx="56845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APPLICATION </a:t>
            </a:r>
            <a:r>
              <a:rPr spc="-25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563751"/>
            <a:ext cx="8472170" cy="47815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3535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0" dirty="0">
                <a:latin typeface="Carlito"/>
                <a:cs typeface="Carlito"/>
              </a:rPr>
              <a:t>Application </a:t>
            </a:r>
            <a:r>
              <a:rPr sz="3000" spc="-15" dirty="0">
                <a:latin typeface="Carlito"/>
                <a:cs typeface="Carlito"/>
              </a:rPr>
              <a:t>software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special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spc="-20" dirty="0">
                <a:latin typeface="Carlito"/>
                <a:cs typeface="Carlito"/>
              </a:rPr>
              <a:t>programs 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specifically designed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written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15" dirty="0">
                <a:latin typeface="Carlito"/>
                <a:cs typeface="Carlito"/>
              </a:rPr>
              <a:t>perform  </a:t>
            </a:r>
            <a:r>
              <a:rPr sz="3000" spc="-5" dirty="0">
                <a:latin typeface="Carlito"/>
                <a:cs typeface="Carlito"/>
              </a:rPr>
              <a:t>specific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tasks.</a:t>
            </a:r>
            <a:endParaRPr sz="3000">
              <a:latin typeface="Carlito"/>
              <a:cs typeface="Carlito"/>
            </a:endParaRPr>
          </a:p>
          <a:p>
            <a:pPr marL="355600" marR="358140" indent="-343535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These </a:t>
            </a:r>
            <a:r>
              <a:rPr sz="3000" spc="-15" dirty="0">
                <a:latin typeface="Carlito"/>
                <a:cs typeface="Carlito"/>
              </a:rPr>
              <a:t>software </a:t>
            </a:r>
            <a:r>
              <a:rPr sz="3000" spc="-10" dirty="0">
                <a:latin typeface="Carlito"/>
                <a:cs typeface="Carlito"/>
              </a:rPr>
              <a:t>can be acquired directly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5" dirty="0">
                <a:latin typeface="Carlito"/>
                <a:cs typeface="Carlito"/>
              </a:rPr>
              <a:t>software manufacturers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companies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even  </a:t>
            </a:r>
            <a:r>
              <a:rPr sz="3000" spc="-15" dirty="0">
                <a:latin typeface="Carlito"/>
                <a:cs typeface="Carlito"/>
              </a:rPr>
              <a:t>vendors </a:t>
            </a:r>
            <a:r>
              <a:rPr sz="3000" spc="-10" dirty="0">
                <a:latin typeface="Carlito"/>
                <a:cs typeface="Carlito"/>
              </a:rPr>
              <a:t>that specialized </a:t>
            </a:r>
            <a:r>
              <a:rPr sz="3000" dirty="0">
                <a:latin typeface="Carlito"/>
                <a:cs typeface="Carlito"/>
              </a:rPr>
              <a:t>in the </a:t>
            </a:r>
            <a:r>
              <a:rPr sz="3000" spc="-5" dirty="0">
                <a:latin typeface="Carlito"/>
                <a:cs typeface="Carlito"/>
              </a:rPr>
              <a:t>sale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support of  </a:t>
            </a:r>
            <a:r>
              <a:rPr sz="3000" spc="-15" dirty="0">
                <a:latin typeface="Carlito"/>
                <a:cs typeface="Carlito"/>
              </a:rPr>
              <a:t>microcomputer </a:t>
            </a:r>
            <a:r>
              <a:rPr sz="3000" spc="-20" dirty="0">
                <a:latin typeface="Carlito"/>
                <a:cs typeface="Carlito"/>
              </a:rPr>
              <a:t>hardware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software.</a:t>
            </a:r>
            <a:endParaRPr sz="3000">
              <a:latin typeface="Carlito"/>
              <a:cs typeface="Carlito"/>
            </a:endParaRPr>
          </a:p>
          <a:p>
            <a:pPr marL="355600" marR="46990" indent="-343535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There are </a:t>
            </a:r>
            <a:r>
              <a:rPr sz="3000" dirty="0">
                <a:latin typeface="Carlito"/>
                <a:cs typeface="Carlito"/>
              </a:rPr>
              <a:t>thousands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20" dirty="0">
                <a:latin typeface="Carlito"/>
                <a:cs typeface="Carlito"/>
              </a:rPr>
              <a:t>programs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choose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–  </a:t>
            </a:r>
            <a:r>
              <a:rPr sz="3000" spc="-15" dirty="0">
                <a:latin typeface="Carlito"/>
                <a:cs typeface="Carlito"/>
              </a:rPr>
              <a:t>games </a:t>
            </a:r>
            <a:r>
              <a:rPr sz="3000" spc="-5" dirty="0">
                <a:latin typeface="Carlito"/>
                <a:cs typeface="Carlito"/>
              </a:rPr>
              <a:t>alone </a:t>
            </a:r>
            <a:r>
              <a:rPr sz="3000" spc="-10" dirty="0">
                <a:latin typeface="Carlito"/>
                <a:cs typeface="Carlito"/>
              </a:rPr>
              <a:t>numbered over </a:t>
            </a:r>
            <a:r>
              <a:rPr sz="3000" dirty="0">
                <a:latin typeface="Carlito"/>
                <a:cs typeface="Carlito"/>
              </a:rPr>
              <a:t>2500 – and some </a:t>
            </a:r>
            <a:r>
              <a:rPr sz="3000" spc="-5" dirty="0">
                <a:latin typeface="Carlito"/>
                <a:cs typeface="Carlito"/>
              </a:rPr>
              <a:t>of  </a:t>
            </a:r>
            <a:r>
              <a:rPr sz="3000" dirty="0">
                <a:latin typeface="Carlito"/>
                <a:cs typeface="Carlito"/>
              </a:rPr>
              <a:t>them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25" dirty="0">
                <a:latin typeface="Carlito"/>
                <a:cs typeface="Carlito"/>
              </a:rPr>
              <a:t>make life </a:t>
            </a:r>
            <a:r>
              <a:rPr sz="3000" spc="-5" dirty="0">
                <a:latin typeface="Carlito"/>
                <a:cs typeface="Carlito"/>
              </a:rPr>
              <a:t>easier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spc="-15" dirty="0">
                <a:latin typeface="Carlito"/>
                <a:cs typeface="Carlito"/>
              </a:rPr>
              <a:t>productive </a:t>
            </a:r>
            <a:r>
              <a:rPr sz="3000" dirty="0">
                <a:latin typeface="Carlito"/>
                <a:cs typeface="Carlito"/>
              </a:rPr>
              <a:t>than 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can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imagine.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267970"/>
            <a:ext cx="8208645" cy="3928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Application </a:t>
            </a:r>
            <a:r>
              <a:rPr sz="3200" spc="-15" dirty="0">
                <a:latin typeface="Carlito"/>
                <a:cs typeface="Carlito"/>
              </a:rPr>
              <a:t>software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dirty="0">
                <a:latin typeface="Carlito"/>
                <a:cs typeface="Carlito"/>
              </a:rPr>
              <a:t>those </a:t>
            </a:r>
            <a:r>
              <a:rPr sz="3200" spc="-5" dirty="0">
                <a:latin typeface="Carlito"/>
                <a:cs typeface="Carlito"/>
              </a:rPr>
              <a:t>designed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be  used by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specific purpose. </a:t>
            </a:r>
            <a:r>
              <a:rPr sz="3200" spc="-20" dirty="0">
                <a:latin typeface="Carlito"/>
                <a:cs typeface="Carlito"/>
              </a:rPr>
              <a:t>For  </a:t>
            </a:r>
            <a:r>
              <a:rPr sz="3200" spc="-15" dirty="0">
                <a:latin typeface="Carlito"/>
                <a:cs typeface="Carlito"/>
              </a:rPr>
              <a:t>example, </a:t>
            </a:r>
            <a:r>
              <a:rPr sz="3200" dirty="0">
                <a:latin typeface="Carlito"/>
                <a:cs typeface="Carlito"/>
              </a:rPr>
              <a:t>if a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dirty="0">
                <a:latin typeface="Carlito"/>
                <a:cs typeface="Carlito"/>
              </a:rPr>
              <a:t>wishes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type a </a:t>
            </a:r>
            <a:r>
              <a:rPr sz="3200" spc="-5" dirty="0">
                <a:latin typeface="Carlito"/>
                <a:cs typeface="Carlito"/>
              </a:rPr>
              <a:t>document,  </a:t>
            </a:r>
            <a:r>
              <a:rPr sz="3200" dirty="0">
                <a:latin typeface="Carlito"/>
                <a:cs typeface="Carlito"/>
              </a:rPr>
              <a:t>then </a:t>
            </a:r>
            <a:r>
              <a:rPr sz="3200" spc="-15" dirty="0">
                <a:latin typeface="Carlito"/>
                <a:cs typeface="Carlito"/>
              </a:rPr>
              <a:t>he/she </a:t>
            </a:r>
            <a:r>
              <a:rPr sz="3200" spc="-10" dirty="0">
                <a:latin typeface="Carlito"/>
                <a:cs typeface="Carlito"/>
              </a:rPr>
              <a:t>would </a:t>
            </a:r>
            <a:r>
              <a:rPr sz="3200" dirty="0">
                <a:latin typeface="Carlito"/>
                <a:cs typeface="Carlito"/>
              </a:rPr>
              <a:t>need a </a:t>
            </a:r>
            <a:r>
              <a:rPr sz="3200" spc="-45" dirty="0">
                <a:latin typeface="Carlito"/>
                <a:cs typeface="Carlito"/>
              </a:rPr>
              <a:t>Word </a:t>
            </a:r>
            <a:r>
              <a:rPr sz="3200" spc="-10" dirty="0">
                <a:latin typeface="Carlito"/>
                <a:cs typeface="Carlito"/>
              </a:rPr>
              <a:t>Processor  </a:t>
            </a:r>
            <a:r>
              <a:rPr sz="3200" dirty="0">
                <a:latin typeface="Carlito"/>
                <a:cs typeface="Carlito"/>
              </a:rPr>
              <a:t>which is an </a:t>
            </a:r>
            <a:r>
              <a:rPr sz="3200" spc="-5" dirty="0">
                <a:latin typeface="Carlito"/>
                <a:cs typeface="Carlito"/>
              </a:rPr>
              <a:t>application </a:t>
            </a:r>
            <a:r>
              <a:rPr sz="3200" spc="-15" dirty="0">
                <a:latin typeface="Carlito"/>
                <a:cs typeface="Carlito"/>
              </a:rPr>
              <a:t>software </a:t>
            </a:r>
            <a:r>
              <a:rPr sz="3200" spc="-5" dirty="0">
                <a:latin typeface="Carlito"/>
                <a:cs typeface="Carlito"/>
              </a:rPr>
              <a:t>that allows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use his/her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dirty="0">
                <a:latin typeface="Carlito"/>
                <a:cs typeface="Carlito"/>
              </a:rPr>
              <a:t>in the  </a:t>
            </a:r>
            <a:r>
              <a:rPr sz="3200" spc="-5" dirty="0">
                <a:latin typeface="Carlito"/>
                <a:cs typeface="Carlito"/>
              </a:rPr>
              <a:t>same </a:t>
            </a:r>
            <a:r>
              <a:rPr sz="3200" dirty="0">
                <a:latin typeface="Carlito"/>
                <a:cs typeface="Carlito"/>
              </a:rPr>
              <a:t>manner as </a:t>
            </a:r>
            <a:r>
              <a:rPr sz="3200" spc="-10" dirty="0">
                <a:latin typeface="Carlito"/>
                <a:cs typeface="Carlito"/>
              </a:rPr>
              <a:t>he/she would </a:t>
            </a:r>
            <a:r>
              <a:rPr sz="3200" spc="-20" dirty="0">
                <a:latin typeface="Carlito"/>
                <a:cs typeface="Carlito"/>
              </a:rPr>
              <a:t>have </a:t>
            </a:r>
            <a:r>
              <a:rPr sz="3200" spc="-5" dirty="0">
                <a:latin typeface="Carlito"/>
                <a:cs typeface="Carlito"/>
              </a:rPr>
              <a:t>done using 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35" dirty="0">
                <a:latin typeface="Carlito"/>
                <a:cs typeface="Carlito"/>
              </a:rPr>
              <a:t>typewriter.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4102" y="52197"/>
            <a:ext cx="6782434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6340" marR="5080" indent="-245427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Common </a:t>
            </a:r>
            <a:r>
              <a:rPr sz="4000" spc="-20" dirty="0"/>
              <a:t>Features </a:t>
            </a:r>
            <a:r>
              <a:rPr sz="4000" spc="-5" dirty="0"/>
              <a:t>of </a:t>
            </a:r>
            <a:r>
              <a:rPr sz="4000" spc="-15" dirty="0"/>
              <a:t>Application  Software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8012430" cy="45561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Since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advent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0" dirty="0">
                <a:latin typeface="Carlito"/>
                <a:cs typeface="Carlito"/>
              </a:rPr>
              <a:t>systems,  </a:t>
            </a:r>
            <a:r>
              <a:rPr sz="3000" dirty="0">
                <a:latin typeface="Carlito"/>
                <a:cs typeface="Carlito"/>
              </a:rPr>
              <a:t>all window </a:t>
            </a:r>
            <a:r>
              <a:rPr sz="3000" spc="-5" dirty="0">
                <a:latin typeface="Carlito"/>
                <a:cs typeface="Carlito"/>
              </a:rPr>
              <a:t>based application </a:t>
            </a:r>
            <a:r>
              <a:rPr sz="3000" spc="-10" dirty="0">
                <a:latin typeface="Carlito"/>
                <a:cs typeface="Carlito"/>
              </a:rPr>
              <a:t>software developed  </a:t>
            </a:r>
            <a:r>
              <a:rPr sz="3000" spc="-15" dirty="0">
                <a:latin typeface="Carlito"/>
                <a:cs typeface="Carlito"/>
              </a:rPr>
              <a:t>exhibit many </a:t>
            </a:r>
            <a:r>
              <a:rPr sz="3000" spc="-5" dirty="0">
                <a:latin typeface="Carlito"/>
                <a:cs typeface="Carlito"/>
              </a:rPr>
              <a:t>similarities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functionalities </a:t>
            </a:r>
            <a:r>
              <a:rPr sz="3000" spc="-10" dirty="0">
                <a:latin typeface="Carlito"/>
                <a:cs typeface="Carlito"/>
              </a:rPr>
              <a:t>that  are </a:t>
            </a:r>
            <a:r>
              <a:rPr sz="3000" spc="-15" dirty="0">
                <a:latin typeface="Carlito"/>
                <a:cs typeface="Carlito"/>
              </a:rPr>
              <a:t>characterized </a:t>
            </a:r>
            <a:r>
              <a:rPr sz="3000" spc="-10" dirty="0">
                <a:latin typeface="Carlito"/>
                <a:cs typeface="Carlito"/>
              </a:rPr>
              <a:t>by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underlying </a:t>
            </a:r>
            <a:r>
              <a:rPr sz="3000" spc="-15" dirty="0">
                <a:latin typeface="Carlito"/>
                <a:cs typeface="Carlito"/>
              </a:rPr>
              <a:t>operating  </a:t>
            </a:r>
            <a:r>
              <a:rPr sz="3000" spc="-35" dirty="0">
                <a:latin typeface="Carlito"/>
                <a:cs typeface="Carlito"/>
              </a:rPr>
              <a:t>system‘s </a:t>
            </a:r>
            <a:r>
              <a:rPr sz="3000" spc="-10" dirty="0">
                <a:latin typeface="Carlito"/>
                <a:cs typeface="Carlito"/>
              </a:rPr>
              <a:t>graphical </a:t>
            </a:r>
            <a:r>
              <a:rPr sz="3000" spc="-5" dirty="0">
                <a:latin typeface="Carlito"/>
                <a:cs typeface="Carlito"/>
              </a:rPr>
              <a:t>user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interface.</a:t>
            </a:r>
            <a:endParaRPr sz="3000">
              <a:latin typeface="Carlito"/>
              <a:cs typeface="Carlito"/>
            </a:endParaRPr>
          </a:p>
          <a:p>
            <a:pPr marL="355600" marR="314325" indent="-342900">
              <a:lnSpc>
                <a:spcPts val="324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Some </a:t>
            </a:r>
            <a:r>
              <a:rPr sz="3000" spc="-5" dirty="0">
                <a:latin typeface="Carlito"/>
                <a:cs typeface="Carlito"/>
              </a:rPr>
              <a:t>common </a:t>
            </a:r>
            <a:r>
              <a:rPr sz="3000" spc="-20" dirty="0">
                <a:latin typeface="Carlito"/>
                <a:cs typeface="Carlito"/>
              </a:rPr>
              <a:t>features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application </a:t>
            </a:r>
            <a:r>
              <a:rPr sz="3000" spc="-15" dirty="0">
                <a:latin typeface="Carlito"/>
                <a:cs typeface="Carlito"/>
              </a:rPr>
              <a:t>software  </a:t>
            </a:r>
            <a:r>
              <a:rPr sz="3000" spc="-10" dirty="0">
                <a:latin typeface="Carlito"/>
                <a:cs typeface="Carlito"/>
              </a:rPr>
              <a:t>are</a:t>
            </a:r>
            <a:endParaRPr sz="3000">
              <a:latin typeface="Carlito"/>
              <a:cs typeface="Carlito"/>
            </a:endParaRPr>
          </a:p>
          <a:p>
            <a:pPr marL="671195" lvl="1" indent="-316230">
              <a:lnSpc>
                <a:spcPct val="100000"/>
              </a:lnSpc>
              <a:spcBef>
                <a:spcPts val="340"/>
              </a:spcBef>
              <a:buFont typeface="Arial"/>
              <a:buChar char="■"/>
              <a:tabLst>
                <a:tab pos="671830" algn="l"/>
              </a:tabLst>
            </a:pPr>
            <a:r>
              <a:rPr sz="3000" spc="-10" dirty="0">
                <a:latin typeface="Carlito"/>
                <a:cs typeface="Carlito"/>
              </a:rPr>
              <a:t>Windows</a:t>
            </a:r>
            <a:endParaRPr sz="3000">
              <a:latin typeface="Carlito"/>
              <a:cs typeface="Carlito"/>
            </a:endParaRPr>
          </a:p>
          <a:p>
            <a:pPr marL="671195" lvl="1" indent="-316230">
              <a:lnSpc>
                <a:spcPct val="100000"/>
              </a:lnSpc>
              <a:spcBef>
                <a:spcPts val="360"/>
              </a:spcBef>
              <a:buFont typeface="Arial"/>
              <a:buChar char="■"/>
              <a:tabLst>
                <a:tab pos="671830" algn="l"/>
              </a:tabLst>
            </a:pPr>
            <a:r>
              <a:rPr sz="3000" spc="-15" dirty="0">
                <a:latin typeface="Carlito"/>
                <a:cs typeface="Carlito"/>
              </a:rPr>
              <a:t>Scroll</a:t>
            </a:r>
            <a:r>
              <a:rPr sz="3000" spc="-9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bar</a:t>
            </a:r>
            <a:endParaRPr sz="3000">
              <a:latin typeface="Carlito"/>
              <a:cs typeface="Carlito"/>
            </a:endParaRPr>
          </a:p>
          <a:p>
            <a:pPr marL="671195" lvl="1" indent="-316230">
              <a:lnSpc>
                <a:spcPct val="100000"/>
              </a:lnSpc>
              <a:spcBef>
                <a:spcPts val="360"/>
              </a:spcBef>
              <a:buFont typeface="Arial"/>
              <a:buChar char="■"/>
              <a:tabLst>
                <a:tab pos="671830" algn="l"/>
              </a:tabLst>
            </a:pPr>
            <a:r>
              <a:rPr sz="3000" spc="-5" dirty="0">
                <a:latin typeface="Carlito"/>
                <a:cs typeface="Carlito"/>
              </a:rPr>
              <a:t>On-line Help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Menu/Screen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89203" y="245846"/>
            <a:ext cx="4455795" cy="587946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870"/>
              </a:spcBef>
              <a:buFont typeface="Arial"/>
              <a:buChar char="■"/>
              <a:tabLst>
                <a:tab pos="351790" algn="l"/>
              </a:tabLst>
            </a:pPr>
            <a:r>
              <a:rPr sz="3200" dirty="0">
                <a:latin typeface="Carlito"/>
                <a:cs typeface="Carlito"/>
              </a:rPr>
              <a:t>Menus / Menu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bar</a:t>
            </a:r>
            <a:endParaRPr sz="3200">
              <a:latin typeface="Carlito"/>
              <a:cs typeface="Carlito"/>
            </a:endParaRPr>
          </a:p>
          <a:p>
            <a:pPr marL="351155" indent="-339090">
              <a:lnSpc>
                <a:spcPct val="100000"/>
              </a:lnSpc>
              <a:spcBef>
                <a:spcPts val="770"/>
              </a:spcBef>
              <a:buFont typeface="Arial"/>
              <a:buChar char="■"/>
              <a:tabLst>
                <a:tab pos="351790" algn="l"/>
              </a:tabLst>
            </a:pPr>
            <a:r>
              <a:rPr sz="3200" spc="-5" dirty="0">
                <a:latin typeface="Carlito"/>
                <a:cs typeface="Carlito"/>
              </a:rPr>
              <a:t>Dialog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box</a:t>
            </a:r>
            <a:endParaRPr sz="3200">
              <a:latin typeface="Carlito"/>
              <a:cs typeface="Carlito"/>
            </a:endParaRPr>
          </a:p>
          <a:p>
            <a:pPr marL="351155" indent="-339090">
              <a:lnSpc>
                <a:spcPct val="100000"/>
              </a:lnSpc>
              <a:spcBef>
                <a:spcPts val="765"/>
              </a:spcBef>
              <a:buFont typeface="Arial"/>
              <a:buChar char="■"/>
              <a:tabLst>
                <a:tab pos="351790" algn="l"/>
              </a:tabLst>
            </a:pPr>
            <a:r>
              <a:rPr sz="3200" spc="-10" dirty="0">
                <a:latin typeface="Carlito"/>
                <a:cs typeface="Carlito"/>
              </a:rPr>
              <a:t>Icons</a:t>
            </a:r>
            <a:endParaRPr sz="3200">
              <a:latin typeface="Carlito"/>
              <a:cs typeface="Carlito"/>
            </a:endParaRPr>
          </a:p>
          <a:p>
            <a:pPr marL="351155" indent="-339090">
              <a:lnSpc>
                <a:spcPct val="100000"/>
              </a:lnSpc>
              <a:spcBef>
                <a:spcPts val="770"/>
              </a:spcBef>
              <a:buFont typeface="Arial"/>
              <a:buChar char="■"/>
              <a:tabLst>
                <a:tab pos="351790" algn="l"/>
              </a:tabLst>
            </a:pPr>
            <a:r>
              <a:rPr sz="3200" spc="-10" dirty="0">
                <a:latin typeface="Carlito"/>
                <a:cs typeface="Carlito"/>
              </a:rPr>
              <a:t>Macros</a:t>
            </a:r>
            <a:endParaRPr sz="3200">
              <a:latin typeface="Carlito"/>
              <a:cs typeface="Carlito"/>
            </a:endParaRPr>
          </a:p>
          <a:p>
            <a:pPr marL="351155" indent="-339090">
              <a:lnSpc>
                <a:spcPct val="100000"/>
              </a:lnSpc>
              <a:spcBef>
                <a:spcPts val="770"/>
              </a:spcBef>
              <a:buFont typeface="Arial"/>
              <a:buChar char="■"/>
              <a:tabLst>
                <a:tab pos="351790" algn="l"/>
              </a:tabLst>
            </a:pPr>
            <a:r>
              <a:rPr sz="3200" spc="-75" dirty="0">
                <a:latin typeface="Carlito"/>
                <a:cs typeface="Carlito"/>
              </a:rPr>
              <a:t>Tool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Buttons</a:t>
            </a:r>
            <a:endParaRPr sz="3200">
              <a:latin typeface="Carlito"/>
              <a:cs typeface="Carlito"/>
            </a:endParaRPr>
          </a:p>
          <a:p>
            <a:pPr marL="351155" indent="-339090">
              <a:lnSpc>
                <a:spcPct val="100000"/>
              </a:lnSpc>
              <a:spcBef>
                <a:spcPts val="770"/>
              </a:spcBef>
              <a:buFont typeface="Arial"/>
              <a:buChar char="■"/>
              <a:tabLst>
                <a:tab pos="351790" algn="l"/>
              </a:tabLst>
            </a:pPr>
            <a:r>
              <a:rPr sz="3200" spc="-5" dirty="0">
                <a:latin typeface="Carlito"/>
                <a:cs typeface="Carlito"/>
              </a:rPr>
              <a:t>OLE</a:t>
            </a:r>
            <a:endParaRPr sz="3200">
              <a:latin typeface="Carlito"/>
              <a:cs typeface="Carlito"/>
            </a:endParaRPr>
          </a:p>
          <a:p>
            <a:pPr marL="351155" indent="-339090">
              <a:lnSpc>
                <a:spcPct val="100000"/>
              </a:lnSpc>
              <a:spcBef>
                <a:spcPts val="770"/>
              </a:spcBef>
              <a:buFont typeface="Arial"/>
              <a:buChar char="■"/>
              <a:tabLst>
                <a:tab pos="351790" algn="l"/>
              </a:tabLst>
            </a:pPr>
            <a:r>
              <a:rPr sz="3200" spc="-50" dirty="0">
                <a:latin typeface="Carlito"/>
                <a:cs typeface="Carlito"/>
              </a:rPr>
              <a:t>Toolbars</a:t>
            </a:r>
            <a:endParaRPr sz="3200">
              <a:latin typeface="Carlito"/>
              <a:cs typeface="Carlito"/>
            </a:endParaRPr>
          </a:p>
          <a:p>
            <a:pPr marL="351155" indent="-339090">
              <a:lnSpc>
                <a:spcPct val="100000"/>
              </a:lnSpc>
              <a:spcBef>
                <a:spcPts val="765"/>
              </a:spcBef>
              <a:buFont typeface="Arial"/>
              <a:buChar char="■"/>
              <a:tabLst>
                <a:tab pos="351790" algn="l"/>
              </a:tabLst>
            </a:pPr>
            <a:r>
              <a:rPr sz="3200" spc="-10" dirty="0">
                <a:latin typeface="Carlito"/>
                <a:cs typeface="Carlito"/>
              </a:rPr>
              <a:t>Clipboard</a:t>
            </a:r>
            <a:endParaRPr sz="3200">
              <a:latin typeface="Carlito"/>
              <a:cs typeface="Carlito"/>
            </a:endParaRPr>
          </a:p>
          <a:p>
            <a:pPr marL="351155" indent="-339090">
              <a:lnSpc>
                <a:spcPct val="100000"/>
              </a:lnSpc>
              <a:spcBef>
                <a:spcPts val="770"/>
              </a:spcBef>
              <a:buFont typeface="Arial"/>
              <a:buChar char="■"/>
              <a:tabLst>
                <a:tab pos="351790" algn="l"/>
              </a:tabLst>
            </a:pPr>
            <a:r>
              <a:rPr sz="3200" spc="-25" dirty="0">
                <a:latin typeface="Carlito"/>
                <a:cs typeface="Carlito"/>
              </a:rPr>
              <a:t>Cursors</a:t>
            </a:r>
            <a:endParaRPr sz="3200">
              <a:latin typeface="Carlito"/>
              <a:cs typeface="Carlito"/>
            </a:endParaRPr>
          </a:p>
          <a:p>
            <a:pPr marL="351155" indent="-339090">
              <a:lnSpc>
                <a:spcPct val="100000"/>
              </a:lnSpc>
              <a:spcBef>
                <a:spcPts val="770"/>
              </a:spcBef>
              <a:buFont typeface="Arial"/>
              <a:buChar char="■"/>
              <a:tabLst>
                <a:tab pos="351790" algn="l"/>
              </a:tabLst>
            </a:pPr>
            <a:r>
              <a:rPr sz="3200" spc="-10" dirty="0">
                <a:latin typeface="Carlito"/>
                <a:cs typeface="Carlito"/>
              </a:rPr>
              <a:t>tutorial </a:t>
            </a:r>
            <a:r>
              <a:rPr sz="3200" dirty="0">
                <a:latin typeface="Carlito"/>
                <a:cs typeface="Carlito"/>
              </a:rPr>
              <a:t>/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documentation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314237"/>
            <a:ext cx="8063865" cy="529463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200" spc="-5" dirty="0">
                <a:latin typeface="Carlito"/>
                <a:cs typeface="Carlito"/>
              </a:rPr>
              <a:t>Windows:</a:t>
            </a:r>
            <a:endParaRPr sz="3200">
              <a:latin typeface="Carlito"/>
              <a:cs typeface="Carlito"/>
            </a:endParaRPr>
          </a:p>
          <a:p>
            <a:pPr marL="355600" marR="273685" algn="just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Carlito"/>
                <a:cs typeface="Carlito"/>
              </a:rPr>
              <a:t>A window is a </a:t>
            </a:r>
            <a:r>
              <a:rPr sz="3200" spc="-10" dirty="0">
                <a:latin typeface="Carlito"/>
                <a:cs typeface="Carlito"/>
              </a:rPr>
              <a:t>rectangular screen </a:t>
            </a:r>
            <a:r>
              <a:rPr sz="3200" spc="-15" dirty="0">
                <a:latin typeface="Carlito"/>
                <a:cs typeface="Carlito"/>
              </a:rPr>
              <a:t>display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a  running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5" dirty="0">
                <a:latin typeface="Carlito"/>
                <a:cs typeface="Carlito"/>
              </a:rPr>
              <a:t>opened document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5" dirty="0">
                <a:latin typeface="Carlito"/>
                <a:cs typeface="Carlito"/>
              </a:rPr>
              <a:t>file  </a:t>
            </a:r>
            <a:r>
              <a:rPr sz="3200" dirty="0">
                <a:latin typeface="Carlito"/>
                <a:cs typeface="Carlito"/>
              </a:rPr>
              <a:t>with a </a:t>
            </a:r>
            <a:r>
              <a:rPr sz="3200" spc="-5" dirty="0">
                <a:latin typeface="Carlito"/>
                <a:cs typeface="Carlito"/>
              </a:rPr>
              <a:t>title bar on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top.</a:t>
            </a:r>
            <a:endParaRPr sz="3200">
              <a:latin typeface="Carlito"/>
              <a:cs typeface="Carlito"/>
            </a:endParaRPr>
          </a:p>
          <a:p>
            <a:pPr marL="355600" marR="5080">
              <a:lnSpc>
                <a:spcPct val="100000"/>
              </a:lnSpc>
              <a:spcBef>
                <a:spcPts val="770"/>
              </a:spcBef>
            </a:pPr>
            <a:r>
              <a:rPr sz="3200" spc="-15" dirty="0">
                <a:latin typeface="Carlito"/>
                <a:cs typeface="Carlito"/>
              </a:rPr>
              <a:t>Several </a:t>
            </a: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spc="-20" dirty="0">
                <a:latin typeface="Carlito"/>
                <a:cs typeface="Carlito"/>
              </a:rPr>
              <a:t>may </a:t>
            </a:r>
            <a:r>
              <a:rPr sz="3200" spc="-15" dirty="0">
                <a:latin typeface="Carlito"/>
                <a:cs typeface="Carlito"/>
              </a:rPr>
              <a:t>overlay </a:t>
            </a:r>
            <a:r>
              <a:rPr sz="3200" dirty="0">
                <a:latin typeface="Carlito"/>
                <a:cs typeface="Carlito"/>
              </a:rPr>
              <a:t>each other </a:t>
            </a:r>
            <a:r>
              <a:rPr sz="3200" spc="-5" dirty="0">
                <a:latin typeface="Carlito"/>
                <a:cs typeface="Carlito"/>
              </a:rPr>
              <a:t>or  cascaded </a:t>
            </a:r>
            <a:r>
              <a:rPr sz="3200" dirty="0">
                <a:latin typeface="Carlito"/>
                <a:cs typeface="Carlito"/>
              </a:rPr>
              <a:t>alongside one another </a:t>
            </a:r>
            <a:r>
              <a:rPr sz="3200" spc="-5" dirty="0">
                <a:latin typeface="Carlito"/>
                <a:cs typeface="Carlito"/>
              </a:rPr>
              <a:t>depending on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number of </a:t>
            </a:r>
            <a:r>
              <a:rPr sz="3200" spc="-15" dirty="0">
                <a:latin typeface="Carlito"/>
                <a:cs typeface="Carlito"/>
              </a:rPr>
              <a:t>executing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task.</a:t>
            </a:r>
            <a:endParaRPr sz="3200">
              <a:latin typeface="Carlito"/>
              <a:cs typeface="Carlito"/>
            </a:endParaRPr>
          </a:p>
          <a:p>
            <a:pPr marL="355600" marR="24765">
              <a:lnSpc>
                <a:spcPct val="100000"/>
              </a:lnSpc>
              <a:spcBef>
                <a:spcPts val="770"/>
              </a:spcBef>
            </a:pPr>
            <a:r>
              <a:rPr sz="3200" spc="-15" dirty="0">
                <a:latin typeface="Carlito"/>
                <a:cs typeface="Carlito"/>
              </a:rPr>
              <a:t>Each </a:t>
            </a:r>
            <a:r>
              <a:rPr sz="3200" dirty="0">
                <a:latin typeface="Carlito"/>
                <a:cs typeface="Carlito"/>
              </a:rPr>
              <a:t>window </a:t>
            </a:r>
            <a:r>
              <a:rPr sz="3200" spc="-15" dirty="0">
                <a:latin typeface="Carlito"/>
                <a:cs typeface="Carlito"/>
              </a:rPr>
              <a:t>may </a:t>
            </a:r>
            <a:r>
              <a:rPr sz="3200" spc="-5" dirty="0">
                <a:latin typeface="Carlito"/>
                <a:cs typeface="Carlito"/>
              </a:rPr>
              <a:t>show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25" dirty="0">
                <a:latin typeface="Carlito"/>
                <a:cs typeface="Carlito"/>
              </a:rPr>
              <a:t>different </a:t>
            </a:r>
            <a:r>
              <a:rPr sz="3200" spc="-5" dirty="0">
                <a:latin typeface="Carlito"/>
                <a:cs typeface="Carlito"/>
              </a:rPr>
              <a:t>application  </a:t>
            </a:r>
            <a:r>
              <a:rPr sz="3200" spc="-40" dirty="0">
                <a:latin typeface="Carlito"/>
                <a:cs typeface="Carlito"/>
              </a:rPr>
              <a:t>display,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a </a:t>
            </a:r>
            <a:r>
              <a:rPr sz="3200" spc="-15" dirty="0">
                <a:latin typeface="Carlito"/>
                <a:cs typeface="Carlito"/>
              </a:rPr>
              <a:t>word </a:t>
            </a:r>
            <a:r>
              <a:rPr sz="3200" spc="-10" dirty="0">
                <a:latin typeface="Carlito"/>
                <a:cs typeface="Carlito"/>
              </a:rPr>
              <a:t>processing </a:t>
            </a:r>
            <a:r>
              <a:rPr sz="3200" spc="-5" dirty="0">
                <a:latin typeface="Carlito"/>
                <a:cs typeface="Carlito"/>
              </a:rPr>
              <a:t>document  </a:t>
            </a:r>
            <a:r>
              <a:rPr sz="3200" dirty="0">
                <a:latin typeface="Carlito"/>
                <a:cs typeface="Carlito"/>
              </a:rPr>
              <a:t>and a </a:t>
            </a:r>
            <a:r>
              <a:rPr sz="3200" spc="-5" dirty="0">
                <a:latin typeface="Carlito"/>
                <a:cs typeface="Carlito"/>
              </a:rPr>
              <a:t>spreadsheet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document.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6033B9-C66F-4344-834E-31F0FFC7C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905000"/>
            <a:ext cx="7391400" cy="454047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4660300-0F5D-46A7-B62E-71810486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461899"/>
            <a:ext cx="6096000" cy="1354217"/>
          </a:xfrm>
        </p:spPr>
        <p:txBody>
          <a:bodyPr/>
          <a:lstStyle/>
          <a:p>
            <a:pPr algn="ctr"/>
            <a:r>
              <a:rPr lang="en-GB" dirty="0"/>
              <a:t>Window of a Program</a:t>
            </a:r>
          </a:p>
        </p:txBody>
      </p:sp>
    </p:spTree>
    <p:extLst>
      <p:ext uri="{BB962C8B-B14F-4D97-AF65-F5344CB8AC3E}">
        <p14:creationId xmlns:p14="http://schemas.microsoft.com/office/powerpoint/2010/main" val="3869166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30200" y="242798"/>
            <a:ext cx="8389620" cy="578167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Menu/Menu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bar:</a:t>
            </a:r>
            <a:endParaRPr sz="3200">
              <a:latin typeface="Carlito"/>
              <a:cs typeface="Carlito"/>
            </a:endParaRPr>
          </a:p>
          <a:p>
            <a:pPr marL="355600" marR="27559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menu </a:t>
            </a:r>
            <a:r>
              <a:rPr sz="3200" spc="-5" dirty="0">
                <a:latin typeface="Carlito"/>
                <a:cs typeface="Carlito"/>
              </a:rPr>
              <a:t>bar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20" dirty="0">
                <a:latin typeface="Carlito"/>
                <a:cs typeface="Carlito"/>
              </a:rPr>
              <a:t>row </a:t>
            </a:r>
            <a:r>
              <a:rPr sz="3200" spc="-5" dirty="0">
                <a:latin typeface="Carlito"/>
                <a:cs typeface="Carlito"/>
              </a:rPr>
              <a:t>of menu options </a:t>
            </a:r>
            <a:r>
              <a:rPr sz="3200" spc="-15" dirty="0">
                <a:latin typeface="Carlito"/>
                <a:cs typeface="Carlito"/>
              </a:rPr>
              <a:t>displayed  </a:t>
            </a:r>
            <a:r>
              <a:rPr sz="3200" spc="-10" dirty="0">
                <a:latin typeface="Carlito"/>
                <a:cs typeface="Carlito"/>
              </a:rPr>
              <a:t>across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top </a:t>
            </a:r>
            <a:r>
              <a:rPr sz="3200" spc="-5" dirty="0">
                <a:latin typeface="Carlito"/>
                <a:cs typeface="Carlito"/>
              </a:rPr>
              <a:t>or the </a:t>
            </a:r>
            <a:r>
              <a:rPr sz="3200" spc="-20" dirty="0">
                <a:latin typeface="Carlito"/>
                <a:cs typeface="Carlito"/>
              </a:rPr>
              <a:t>bottom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screen.</a:t>
            </a:r>
            <a:endParaRPr sz="3200">
              <a:latin typeface="Carlito"/>
              <a:cs typeface="Carlito"/>
            </a:endParaRPr>
          </a:p>
          <a:p>
            <a:pPr marL="355600" marR="155575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menu is a </a:t>
            </a:r>
            <a:r>
              <a:rPr sz="3200" spc="-10" dirty="0">
                <a:latin typeface="Carlito"/>
                <a:cs typeface="Carlito"/>
              </a:rPr>
              <a:t>list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command </a:t>
            </a:r>
            <a:r>
              <a:rPr sz="3200" spc="-5" dirty="0">
                <a:latin typeface="Carlito"/>
                <a:cs typeface="Carlito"/>
              </a:rPr>
              <a:t>options </a:t>
            </a:r>
            <a:r>
              <a:rPr sz="3200" dirty="0">
                <a:latin typeface="Carlito"/>
                <a:cs typeface="Carlito"/>
              </a:rPr>
              <a:t>or choices.  </a:t>
            </a:r>
            <a:r>
              <a:rPr sz="3200" spc="-30" dirty="0">
                <a:latin typeface="Carlito"/>
                <a:cs typeface="Carlito"/>
              </a:rPr>
              <a:t>Various </a:t>
            </a:r>
            <a:r>
              <a:rPr sz="3200" spc="-15" dirty="0">
                <a:latin typeface="Carlito"/>
                <a:cs typeface="Carlito"/>
              </a:rPr>
              <a:t>tasks </a:t>
            </a:r>
            <a:r>
              <a:rPr sz="3200" spc="-10" dirty="0">
                <a:latin typeface="Carlito"/>
                <a:cs typeface="Carlito"/>
              </a:rPr>
              <a:t>that can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5" dirty="0">
                <a:latin typeface="Carlito"/>
                <a:cs typeface="Carlito"/>
              </a:rPr>
              <a:t>performed </a:t>
            </a:r>
            <a:r>
              <a:rPr sz="3200" spc="-10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an  </a:t>
            </a:r>
            <a:r>
              <a:rPr sz="3200" spc="-10" dirty="0">
                <a:latin typeface="Carlito"/>
                <a:cs typeface="Carlito"/>
              </a:rPr>
              <a:t>application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10" dirty="0">
                <a:latin typeface="Carlito"/>
                <a:cs typeface="Carlito"/>
              </a:rPr>
              <a:t>grouped </a:t>
            </a:r>
            <a:r>
              <a:rPr sz="3200" spc="-5" dirty="0">
                <a:latin typeface="Carlito"/>
                <a:cs typeface="Carlito"/>
              </a:rPr>
              <a:t>under </a:t>
            </a:r>
            <a:r>
              <a:rPr sz="3200" spc="-25" dirty="0">
                <a:latin typeface="Carlito"/>
                <a:cs typeface="Carlito"/>
              </a:rPr>
              <a:t>different </a:t>
            </a:r>
            <a:r>
              <a:rPr sz="3200" spc="-5" dirty="0">
                <a:latin typeface="Carlito"/>
                <a:cs typeface="Carlito"/>
              </a:rPr>
              <a:t>names  or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titles.</a:t>
            </a:r>
            <a:endParaRPr sz="32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45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perform </a:t>
            </a:r>
            <a:r>
              <a:rPr sz="3200" spc="-5" dirty="0">
                <a:latin typeface="Carlito"/>
                <a:cs typeface="Carlito"/>
              </a:rPr>
              <a:t>some particular </a:t>
            </a:r>
            <a:r>
              <a:rPr sz="3200" spc="-10" dirty="0">
                <a:latin typeface="Carlito"/>
                <a:cs typeface="Carlito"/>
              </a:rPr>
              <a:t>task, </a:t>
            </a:r>
            <a:r>
              <a:rPr sz="3200" dirty="0">
                <a:latin typeface="Carlito"/>
                <a:cs typeface="Carlito"/>
              </a:rPr>
              <a:t>click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dirty="0">
                <a:latin typeface="Carlito"/>
                <a:cs typeface="Carlito"/>
              </a:rPr>
              <a:t>mouse  </a:t>
            </a:r>
            <a:r>
              <a:rPr sz="3200" spc="-20" dirty="0">
                <a:latin typeface="Carlito"/>
                <a:cs typeface="Carlito"/>
              </a:rPr>
              <a:t>button </a:t>
            </a:r>
            <a:r>
              <a:rPr sz="3200" dirty="0">
                <a:latin typeface="Carlito"/>
                <a:cs typeface="Carlito"/>
              </a:rPr>
              <a:t>on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dirty="0">
                <a:latin typeface="Carlito"/>
                <a:cs typeface="Carlito"/>
              </a:rPr>
              <a:t>menu </a:t>
            </a:r>
            <a:r>
              <a:rPr sz="3200" spc="-5" dirty="0">
                <a:latin typeface="Carlito"/>
                <a:cs typeface="Carlito"/>
              </a:rPr>
              <a:t>option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open the menu  </a:t>
            </a:r>
            <a:r>
              <a:rPr sz="3200" spc="-10" dirty="0">
                <a:latin typeface="Carlito"/>
                <a:cs typeface="Carlito"/>
              </a:rPr>
              <a:t>containing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task </a:t>
            </a:r>
            <a:r>
              <a:rPr sz="3200" dirty="0">
                <a:latin typeface="Carlito"/>
                <a:cs typeface="Carlito"/>
              </a:rPr>
              <a:t>and then </a:t>
            </a:r>
            <a:r>
              <a:rPr sz="3200" spc="-5" dirty="0">
                <a:latin typeface="Carlito"/>
                <a:cs typeface="Carlito"/>
              </a:rPr>
              <a:t>select </a:t>
            </a:r>
            <a:r>
              <a:rPr sz="3200" spc="-15" dirty="0">
                <a:latin typeface="Carlito"/>
                <a:cs typeface="Carlito"/>
              </a:rPr>
              <a:t>that  </a:t>
            </a:r>
            <a:r>
              <a:rPr sz="3200" spc="-5" dirty="0">
                <a:latin typeface="Carlito"/>
                <a:cs typeface="Carlito"/>
              </a:rPr>
              <a:t>particular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task.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FD342C-74BD-418E-87F6-172E897BE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371600"/>
            <a:ext cx="6324600" cy="44957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FC45ED4-DC4F-4908-B3C4-B9EF902F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Menu</a:t>
            </a:r>
          </a:p>
        </p:txBody>
      </p:sp>
    </p:spTree>
    <p:extLst>
      <p:ext uri="{BB962C8B-B14F-4D97-AF65-F5344CB8AC3E}">
        <p14:creationId xmlns:p14="http://schemas.microsoft.com/office/powerpoint/2010/main" val="14166497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71043" y="314237"/>
            <a:ext cx="8326120" cy="548957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Icons:</a:t>
            </a:r>
            <a:endParaRPr sz="3200">
              <a:latin typeface="Carlito"/>
              <a:cs typeface="Carlito"/>
            </a:endParaRPr>
          </a:p>
          <a:p>
            <a:pPr marL="355600" marR="762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An </a:t>
            </a:r>
            <a:r>
              <a:rPr sz="3200" spc="-10" dirty="0">
                <a:latin typeface="Carlito"/>
                <a:cs typeface="Carlito"/>
              </a:rPr>
              <a:t>icon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5" dirty="0">
                <a:latin typeface="Carlito"/>
                <a:cs typeface="Carlito"/>
              </a:rPr>
              <a:t>small on-screen </a:t>
            </a:r>
            <a:r>
              <a:rPr sz="3200" spc="-10" dirty="0">
                <a:latin typeface="Carlito"/>
                <a:cs typeface="Carlito"/>
              </a:rPr>
              <a:t>pictorial </a:t>
            </a:r>
            <a:r>
              <a:rPr sz="3200" spc="-5" dirty="0">
                <a:latin typeface="Carlito"/>
                <a:cs typeface="Carlito"/>
              </a:rPr>
              <a:t>object </a:t>
            </a:r>
            <a:r>
              <a:rPr sz="3200" spc="-10" dirty="0">
                <a:latin typeface="Carlito"/>
                <a:cs typeface="Carlito"/>
              </a:rPr>
              <a:t>that  represents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dirty="0">
                <a:latin typeface="Carlito"/>
                <a:cs typeface="Carlito"/>
              </a:rPr>
              <a:t>or a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file.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Icons </a:t>
            </a:r>
            <a:r>
              <a:rPr sz="3200" spc="-5" dirty="0">
                <a:latin typeface="Carlito"/>
                <a:cs typeface="Carlito"/>
              </a:rPr>
              <a:t>serve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short-cut </a:t>
            </a:r>
            <a:r>
              <a:rPr sz="3200" spc="-30" dirty="0">
                <a:latin typeface="Carlito"/>
                <a:cs typeface="Carlito"/>
              </a:rPr>
              <a:t>way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access the </a:t>
            </a:r>
            <a:r>
              <a:rPr sz="3200" spc="-15" dirty="0">
                <a:latin typeface="Carlito"/>
                <a:cs typeface="Carlito"/>
              </a:rPr>
              <a:t>target  programs </a:t>
            </a:r>
            <a:r>
              <a:rPr sz="3200" spc="-5" dirty="0">
                <a:latin typeface="Carlito"/>
                <a:cs typeface="Carlito"/>
              </a:rPr>
              <a:t>or files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20" dirty="0">
                <a:latin typeface="Carlito"/>
                <a:cs typeface="Carlito"/>
              </a:rPr>
              <a:t>therefore </a:t>
            </a:r>
            <a:r>
              <a:rPr sz="3200" spc="-30" dirty="0">
                <a:latin typeface="Carlito"/>
                <a:cs typeface="Carlito"/>
              </a:rPr>
              <a:t>referred </a:t>
            </a:r>
            <a:r>
              <a:rPr sz="3200" spc="-25" dirty="0">
                <a:latin typeface="Carlito"/>
                <a:cs typeface="Carlito"/>
              </a:rPr>
              <a:t>to  </a:t>
            </a:r>
            <a:r>
              <a:rPr sz="3200" dirty="0">
                <a:latin typeface="Carlito"/>
                <a:cs typeface="Carlito"/>
              </a:rPr>
              <a:t>as</a:t>
            </a:r>
            <a:r>
              <a:rPr sz="3200" spc="-5" dirty="0">
                <a:latin typeface="Carlito"/>
                <a:cs typeface="Carlito"/>
              </a:rPr>
              <a:t> short-cuts.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44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75" dirty="0">
                <a:latin typeface="Carlito"/>
                <a:cs typeface="Carlito"/>
              </a:rPr>
              <a:t>Tool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buttons:</a:t>
            </a:r>
            <a:endParaRPr sz="3200">
              <a:latin typeface="Carlito"/>
              <a:cs typeface="Carlito"/>
            </a:endParaRPr>
          </a:p>
          <a:p>
            <a:pPr marL="355600" marR="2971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These </a:t>
            </a:r>
            <a:r>
              <a:rPr sz="3200" spc="-10" dirty="0">
                <a:latin typeface="Carlito"/>
                <a:cs typeface="Carlito"/>
              </a:rPr>
              <a:t>simulated </a:t>
            </a:r>
            <a:r>
              <a:rPr sz="3200" spc="-20" dirty="0">
                <a:latin typeface="Carlito"/>
                <a:cs typeface="Carlito"/>
              </a:rPr>
              <a:t>buttons </a:t>
            </a:r>
            <a:r>
              <a:rPr sz="3200" spc="-15" dirty="0">
                <a:latin typeface="Carlito"/>
                <a:cs typeface="Carlito"/>
              </a:rPr>
              <a:t>are provided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serve 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quick </a:t>
            </a:r>
            <a:r>
              <a:rPr sz="3200" spc="-30" dirty="0">
                <a:latin typeface="Carlito"/>
                <a:cs typeface="Carlito"/>
              </a:rPr>
              <a:t>way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executing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commands.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6DBB06-6CCF-48F6-BDF4-005E528834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04"/>
          <a:stretch/>
        </p:blipFill>
        <p:spPr>
          <a:xfrm>
            <a:off x="1428750" y="1676400"/>
            <a:ext cx="6286500" cy="38861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28D2C87-8D54-40F7-8309-BB1A1035E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5082197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71043" y="507238"/>
            <a:ext cx="8413750" cy="57334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They are often </a:t>
            </a:r>
            <a:r>
              <a:rPr sz="3200" spc="-5" dirty="0">
                <a:latin typeface="Carlito"/>
                <a:cs typeface="Carlito"/>
              </a:rPr>
              <a:t>small </a:t>
            </a:r>
            <a:r>
              <a:rPr sz="3200" spc="-10" dirty="0">
                <a:latin typeface="Carlito"/>
                <a:cs typeface="Carlito"/>
              </a:rPr>
              <a:t>graphic </a:t>
            </a:r>
            <a:r>
              <a:rPr sz="3200" spc="-5" dirty="0">
                <a:latin typeface="Carlito"/>
                <a:cs typeface="Carlito"/>
              </a:rPr>
              <a:t>objects </a:t>
            </a:r>
            <a:r>
              <a:rPr sz="3200" spc="-15" dirty="0">
                <a:latin typeface="Carlito"/>
                <a:cs typeface="Carlito"/>
              </a:rPr>
              <a:t>arranged </a:t>
            </a:r>
            <a:r>
              <a:rPr sz="3200" spc="-5" dirty="0">
                <a:latin typeface="Carlito"/>
                <a:cs typeface="Carlito"/>
              </a:rPr>
              <a:t>on  </a:t>
            </a:r>
            <a:r>
              <a:rPr sz="3200" spc="-15" dirty="0">
                <a:latin typeface="Carlito"/>
                <a:cs typeface="Carlito"/>
              </a:rPr>
              <a:t>toolbars.</a:t>
            </a:r>
            <a:endParaRPr sz="3200">
              <a:latin typeface="Carlito"/>
              <a:cs typeface="Carlito"/>
            </a:endParaRPr>
          </a:p>
          <a:p>
            <a:pPr marL="355600" marR="1094105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75" dirty="0">
                <a:latin typeface="Carlito"/>
                <a:cs typeface="Carlito"/>
              </a:rPr>
              <a:t>Tool </a:t>
            </a:r>
            <a:r>
              <a:rPr sz="3200" spc="-20" dirty="0">
                <a:latin typeface="Carlito"/>
                <a:cs typeface="Carlito"/>
              </a:rPr>
              <a:t>buttons </a:t>
            </a:r>
            <a:r>
              <a:rPr sz="3200" dirty="0">
                <a:latin typeface="Carlito"/>
                <a:cs typeface="Carlito"/>
              </a:rPr>
              <a:t>when </a:t>
            </a:r>
            <a:r>
              <a:rPr sz="3200" spc="-20" dirty="0">
                <a:latin typeface="Carlito"/>
                <a:cs typeface="Carlito"/>
              </a:rPr>
              <a:t>clicked </a:t>
            </a:r>
            <a:r>
              <a:rPr sz="3200" dirty="0">
                <a:latin typeface="Carlito"/>
                <a:cs typeface="Carlito"/>
              </a:rPr>
              <a:t>with the mouse  </a:t>
            </a:r>
            <a:r>
              <a:rPr sz="3200" spc="-10" dirty="0">
                <a:latin typeface="Carlito"/>
                <a:cs typeface="Carlito"/>
              </a:rPr>
              <a:t>triggers </a:t>
            </a:r>
            <a:r>
              <a:rPr sz="3200" spc="-15" dirty="0">
                <a:latin typeface="Carlito"/>
                <a:cs typeface="Carlito"/>
              </a:rPr>
              <a:t>off execution </a:t>
            </a:r>
            <a:r>
              <a:rPr sz="3200" spc="-5" dirty="0">
                <a:latin typeface="Carlito"/>
                <a:cs typeface="Carlito"/>
              </a:rPr>
              <a:t>of the commands  </a:t>
            </a:r>
            <a:r>
              <a:rPr sz="3200" spc="-10" dirty="0">
                <a:latin typeface="Carlito"/>
                <a:cs typeface="Carlito"/>
              </a:rPr>
              <a:t>associated </a:t>
            </a:r>
            <a:r>
              <a:rPr sz="3200" dirty="0">
                <a:latin typeface="Carlito"/>
                <a:cs typeface="Carlito"/>
              </a:rPr>
              <a:t>with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them.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75" dirty="0">
                <a:latin typeface="Carlito"/>
                <a:cs typeface="Carlito"/>
              </a:rPr>
              <a:t>Tool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bars:</a:t>
            </a:r>
            <a:endParaRPr sz="3200">
              <a:latin typeface="Carlito"/>
              <a:cs typeface="Carlito"/>
            </a:endParaRPr>
          </a:p>
          <a:p>
            <a:pPr marL="355600" marR="28575" indent="-342900">
              <a:lnSpc>
                <a:spcPct val="90000"/>
              </a:lnSpc>
              <a:spcBef>
                <a:spcPts val="765"/>
              </a:spcBef>
              <a:buFont typeface="Arial"/>
              <a:buChar char="•"/>
              <a:tabLst>
                <a:tab pos="446405" algn="l"/>
                <a:tab pos="447040" algn="l"/>
              </a:tabLst>
            </a:pPr>
            <a:r>
              <a:rPr dirty="0"/>
              <a:t>	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toolbar </a:t>
            </a:r>
            <a:r>
              <a:rPr sz="3200" dirty="0">
                <a:latin typeface="Carlito"/>
                <a:cs typeface="Carlito"/>
              </a:rPr>
              <a:t>is an </a:t>
            </a:r>
            <a:r>
              <a:rPr sz="3200" spc="-5" dirty="0">
                <a:latin typeface="Carlito"/>
                <a:cs typeface="Carlito"/>
              </a:rPr>
              <a:t>arrear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on-screen </a:t>
            </a:r>
            <a:r>
              <a:rPr sz="3200" spc="-15" dirty="0">
                <a:latin typeface="Carlito"/>
                <a:cs typeface="Carlito"/>
              </a:rPr>
              <a:t>tool buttons,  displayed </a:t>
            </a:r>
            <a:r>
              <a:rPr sz="3200" spc="-5" dirty="0">
                <a:latin typeface="Carlito"/>
                <a:cs typeface="Carlito"/>
              </a:rPr>
              <a:t>below the </a:t>
            </a:r>
            <a:r>
              <a:rPr sz="3200" dirty="0">
                <a:latin typeface="Carlito"/>
                <a:cs typeface="Carlito"/>
              </a:rPr>
              <a:t>menu </a:t>
            </a:r>
            <a:r>
              <a:rPr sz="3200" spc="-75" dirty="0">
                <a:latin typeface="Carlito"/>
                <a:cs typeface="Carlito"/>
              </a:rPr>
              <a:t>bar,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spc="-25" dirty="0">
                <a:latin typeface="Carlito"/>
                <a:cs typeface="Carlito"/>
              </a:rPr>
              <a:t>to  </a:t>
            </a:r>
            <a:r>
              <a:rPr sz="3200" spc="-15" dirty="0">
                <a:latin typeface="Carlito"/>
                <a:cs typeface="Carlito"/>
              </a:rPr>
              <a:t>activate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variety </a:t>
            </a:r>
            <a:r>
              <a:rPr sz="3200" spc="-5" dirty="0">
                <a:latin typeface="Carlito"/>
                <a:cs typeface="Carlito"/>
              </a:rPr>
              <a:t>of functions of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applications  </a:t>
            </a:r>
            <a:r>
              <a:rPr sz="3200" spc="-15" dirty="0">
                <a:latin typeface="Carlito"/>
                <a:cs typeface="Carlito"/>
              </a:rPr>
              <a:t>program.</a:t>
            </a:r>
            <a:endParaRPr sz="3200">
              <a:latin typeface="Carlito"/>
              <a:cs typeface="Carlito"/>
            </a:endParaRPr>
          </a:p>
          <a:p>
            <a:pPr marL="355600" marR="461009" indent="-342900">
              <a:lnSpc>
                <a:spcPts val="3460"/>
              </a:lnSpc>
              <a:spcBef>
                <a:spcPts val="81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They </a:t>
            </a:r>
            <a:r>
              <a:rPr sz="3200" spc="-5" dirty="0">
                <a:latin typeface="Carlito"/>
                <a:cs typeface="Carlito"/>
              </a:rPr>
              <a:t>can be </a:t>
            </a:r>
            <a:r>
              <a:rPr sz="3200" spc="-20" dirty="0">
                <a:latin typeface="Carlito"/>
                <a:cs typeface="Carlito"/>
              </a:rPr>
              <a:t>customized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move </a:t>
            </a:r>
            <a:r>
              <a:rPr sz="3200" spc="-10" dirty="0">
                <a:latin typeface="Carlito"/>
                <a:cs typeface="Carlito"/>
              </a:rPr>
              <a:t>around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screen.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E931-2AEF-4EE8-A1BA-8358D497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61899"/>
            <a:ext cx="6477000" cy="1354217"/>
          </a:xfrm>
        </p:spPr>
        <p:txBody>
          <a:bodyPr/>
          <a:lstStyle/>
          <a:p>
            <a:r>
              <a:rPr lang="en-GB" dirty="0"/>
              <a:t>Toolbars and Tool Buttons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9B933F-BB41-4C2D-A9EF-41B098088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97817"/>
            <a:ext cx="7850609" cy="348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389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242798"/>
            <a:ext cx="7750809" cy="470852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rlito"/>
                <a:cs typeface="Carlito"/>
              </a:rPr>
              <a:t>Cursors:</a:t>
            </a:r>
            <a:endParaRPr sz="3200">
              <a:latin typeface="Carlito"/>
              <a:cs typeface="Carlito"/>
            </a:endParaRPr>
          </a:p>
          <a:p>
            <a:pPr marL="355600" marR="19431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50" dirty="0">
                <a:latin typeface="Carlito"/>
                <a:cs typeface="Carlito"/>
              </a:rPr>
              <a:t>cursor, </a:t>
            </a:r>
            <a:r>
              <a:rPr sz="3200" spc="-5" dirty="0">
                <a:latin typeface="Carlito"/>
                <a:cs typeface="Carlito"/>
              </a:rPr>
              <a:t>sometimes </a:t>
            </a:r>
            <a:r>
              <a:rPr sz="3200" spc="-25" dirty="0">
                <a:latin typeface="Carlito"/>
                <a:cs typeface="Carlito"/>
              </a:rPr>
              <a:t>referred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as the  </a:t>
            </a:r>
            <a:r>
              <a:rPr sz="3200" spc="-5" dirty="0">
                <a:latin typeface="Carlito"/>
                <a:cs typeface="Carlito"/>
              </a:rPr>
              <a:t>insertion </a:t>
            </a:r>
            <a:r>
              <a:rPr sz="3200" spc="-10" dirty="0">
                <a:latin typeface="Carlito"/>
                <a:cs typeface="Carlito"/>
              </a:rPr>
              <a:t>point, </a:t>
            </a:r>
            <a:r>
              <a:rPr sz="3200" dirty="0">
                <a:latin typeface="Carlito"/>
                <a:cs typeface="Carlito"/>
              </a:rPr>
              <a:t>is the </a:t>
            </a:r>
            <a:r>
              <a:rPr sz="3200" spc="-5" dirty="0">
                <a:latin typeface="Carlito"/>
                <a:cs typeface="Carlito"/>
              </a:rPr>
              <a:t>blinking </a:t>
            </a:r>
            <a:r>
              <a:rPr sz="3200" spc="-10" dirty="0">
                <a:latin typeface="Carlito"/>
                <a:cs typeface="Carlito"/>
              </a:rPr>
              <a:t>movable  vertical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20" dirty="0">
                <a:latin typeface="Carlito"/>
                <a:cs typeface="Carlito"/>
              </a:rPr>
              <a:t>horizontal </a:t>
            </a:r>
            <a:r>
              <a:rPr sz="3200" spc="-5" dirty="0">
                <a:latin typeface="Carlito"/>
                <a:cs typeface="Carlito"/>
              </a:rPr>
              <a:t>line </a:t>
            </a:r>
            <a:r>
              <a:rPr sz="3200" spc="-10" dirty="0">
                <a:latin typeface="Carlito"/>
                <a:cs typeface="Carlito"/>
              </a:rPr>
              <a:t>symbol </a:t>
            </a:r>
            <a:r>
              <a:rPr sz="3200" dirty="0">
                <a:latin typeface="Carlito"/>
                <a:cs typeface="Carlito"/>
              </a:rPr>
              <a:t>on the  </a:t>
            </a:r>
            <a:r>
              <a:rPr sz="3200" spc="-10" dirty="0">
                <a:latin typeface="Carlito"/>
                <a:cs typeface="Carlito"/>
              </a:rPr>
              <a:t>screen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spc="-10" dirty="0">
                <a:latin typeface="Carlito"/>
                <a:cs typeface="Carlito"/>
              </a:rPr>
              <a:t>indicates </a:t>
            </a:r>
            <a:r>
              <a:rPr sz="3200" spc="-5" dirty="0">
                <a:latin typeface="Carlito"/>
                <a:cs typeface="Carlito"/>
              </a:rPr>
              <a:t>where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next </a:t>
            </a:r>
            <a:r>
              <a:rPr sz="3200" spc="-15" dirty="0">
                <a:latin typeface="Carlito"/>
                <a:cs typeface="Carlito"/>
              </a:rPr>
              <a:t>data </a:t>
            </a:r>
            <a:r>
              <a:rPr sz="3200" dirty="0">
                <a:latin typeface="Carlito"/>
                <a:cs typeface="Carlito"/>
              </a:rPr>
              <a:t>is  </a:t>
            </a:r>
            <a:r>
              <a:rPr sz="3200" spc="-15" dirty="0">
                <a:latin typeface="Carlito"/>
                <a:cs typeface="Carlito"/>
              </a:rPr>
              <a:t>entered.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80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can move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cursor </a:t>
            </a:r>
            <a:r>
              <a:rPr sz="3200" spc="-10" dirty="0">
                <a:latin typeface="Carlito"/>
                <a:cs typeface="Carlito"/>
              </a:rPr>
              <a:t>around </a:t>
            </a:r>
            <a:r>
              <a:rPr sz="3200" spc="-5" dirty="0">
                <a:latin typeface="Carlito"/>
                <a:cs typeface="Carlito"/>
              </a:rPr>
              <a:t>using </a:t>
            </a:r>
            <a:r>
              <a:rPr sz="3200" dirty="0">
                <a:latin typeface="Carlito"/>
                <a:cs typeface="Carlito"/>
              </a:rPr>
              <a:t>either  the mouse </a:t>
            </a:r>
            <a:r>
              <a:rPr sz="3200" spc="5" dirty="0">
                <a:latin typeface="Carlito"/>
                <a:cs typeface="Carlito"/>
              </a:rPr>
              <a:t>or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directional </a:t>
            </a:r>
            <a:r>
              <a:rPr sz="3200" spc="-15" dirty="0">
                <a:latin typeface="Carlito"/>
                <a:cs typeface="Carlito"/>
              </a:rPr>
              <a:t>arrows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20" dirty="0">
                <a:latin typeface="Carlito"/>
                <a:cs typeface="Carlito"/>
              </a:rPr>
              <a:t>keyboard.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395F5A-A320-4D5E-AA60-2CDABC4AC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55" y="1762124"/>
            <a:ext cx="5876545" cy="431558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99FB654-0FBC-4AFE-8740-E0DE8954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Cursors</a:t>
            </a:r>
          </a:p>
        </p:txBody>
      </p:sp>
    </p:spTree>
    <p:extLst>
      <p:ext uri="{BB962C8B-B14F-4D97-AF65-F5344CB8AC3E}">
        <p14:creationId xmlns:p14="http://schemas.microsoft.com/office/powerpoint/2010/main" val="11308747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314237"/>
            <a:ext cx="8050530" cy="529463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Scrollbars: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Scrolling </a:t>
            </a:r>
            <a:r>
              <a:rPr sz="3200" dirty="0">
                <a:latin typeface="Carlito"/>
                <a:cs typeface="Carlito"/>
              </a:rPr>
              <a:t>is the </a:t>
            </a:r>
            <a:r>
              <a:rPr sz="3200" spc="-30" dirty="0">
                <a:latin typeface="Carlito"/>
                <a:cs typeface="Carlito"/>
              </a:rPr>
              <a:t>way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quickly </a:t>
            </a:r>
            <a:r>
              <a:rPr sz="3200" spc="-10" dirty="0">
                <a:latin typeface="Carlito"/>
                <a:cs typeface="Carlito"/>
              </a:rPr>
              <a:t>move through  </a:t>
            </a:r>
            <a:r>
              <a:rPr sz="3200" spc="-15" dirty="0">
                <a:latin typeface="Carlito"/>
                <a:cs typeface="Carlito"/>
              </a:rPr>
              <a:t>text </a:t>
            </a:r>
            <a:r>
              <a:rPr sz="3200" spc="-10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document </a:t>
            </a:r>
            <a:r>
              <a:rPr sz="3200" dirty="0">
                <a:latin typeface="Carlito"/>
                <a:cs typeface="Carlito"/>
              </a:rPr>
              <a:t>or the </a:t>
            </a:r>
            <a:r>
              <a:rPr sz="3200" spc="-10" dirty="0">
                <a:latin typeface="Carlito"/>
                <a:cs typeface="Carlito"/>
              </a:rPr>
              <a:t>active </a:t>
            </a:r>
            <a:r>
              <a:rPr sz="3200" spc="-5" dirty="0">
                <a:latin typeface="Carlito"/>
                <a:cs typeface="Carlito"/>
              </a:rPr>
              <a:t>file </a:t>
            </a:r>
            <a:r>
              <a:rPr sz="3200" spc="-15" dirty="0">
                <a:latin typeface="Carlito"/>
                <a:cs typeface="Carlito"/>
              </a:rPr>
              <a:t>upward </a:t>
            </a:r>
            <a:r>
              <a:rPr sz="3200" spc="-5" dirty="0">
                <a:latin typeface="Carlito"/>
                <a:cs typeface="Carlito"/>
              </a:rPr>
              <a:t>or  </a:t>
            </a:r>
            <a:r>
              <a:rPr sz="3200" spc="-15" dirty="0">
                <a:latin typeface="Carlito"/>
                <a:cs typeface="Carlito"/>
              </a:rPr>
              <a:t>downward.</a:t>
            </a:r>
            <a:endParaRPr sz="3200">
              <a:latin typeface="Carlito"/>
              <a:cs typeface="Carlito"/>
            </a:endParaRPr>
          </a:p>
          <a:p>
            <a:pPr marL="355600" marR="25781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Using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directional </a:t>
            </a:r>
            <a:r>
              <a:rPr sz="3200" spc="-10" dirty="0">
                <a:latin typeface="Carlito"/>
                <a:cs typeface="Carlito"/>
              </a:rPr>
              <a:t>arrow </a:t>
            </a:r>
            <a:r>
              <a:rPr sz="3200" spc="-40" dirty="0">
                <a:latin typeface="Carlito"/>
                <a:cs typeface="Carlito"/>
              </a:rPr>
              <a:t>keys </a:t>
            </a:r>
            <a:r>
              <a:rPr sz="3200" spc="-5" dirty="0">
                <a:latin typeface="Carlito"/>
                <a:cs typeface="Carlito"/>
              </a:rPr>
              <a:t>or </a:t>
            </a:r>
            <a:r>
              <a:rPr sz="3200" dirty="0">
                <a:latin typeface="Carlito"/>
                <a:cs typeface="Carlito"/>
              </a:rPr>
              <a:t>a mouse, 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can scroll through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display </a:t>
            </a:r>
            <a:r>
              <a:rPr sz="3200" spc="-10" dirty="0">
                <a:latin typeface="Carlito"/>
                <a:cs typeface="Carlito"/>
              </a:rPr>
              <a:t>screen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20" dirty="0">
                <a:latin typeface="Carlito"/>
                <a:cs typeface="Carlito"/>
              </a:rPr>
              <a:t>into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text </a:t>
            </a:r>
            <a:r>
              <a:rPr sz="3200" spc="-10" dirty="0">
                <a:latin typeface="Carlito"/>
                <a:cs typeface="Carlito"/>
              </a:rPr>
              <a:t>above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75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below.</a:t>
            </a:r>
            <a:endParaRPr sz="3200">
              <a:latin typeface="Carlito"/>
              <a:cs typeface="Carlito"/>
            </a:endParaRPr>
          </a:p>
          <a:p>
            <a:pPr marL="355600" marR="10541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5" dirty="0">
                <a:latin typeface="Carlito"/>
                <a:cs typeface="Carlito"/>
              </a:rPr>
              <a:t>However, </a:t>
            </a:r>
            <a:r>
              <a:rPr sz="3200" dirty="0">
                <a:latin typeface="Carlito"/>
                <a:cs typeface="Carlito"/>
              </a:rPr>
              <a:t>when </a:t>
            </a:r>
            <a:r>
              <a:rPr sz="3200" spc="-10" dirty="0">
                <a:latin typeface="Carlito"/>
                <a:cs typeface="Carlito"/>
              </a:rPr>
              <a:t>you </a:t>
            </a:r>
            <a:r>
              <a:rPr sz="3200" spc="-20" dirty="0">
                <a:latin typeface="Carlito"/>
                <a:cs typeface="Carlito"/>
              </a:rPr>
              <a:t>have to </a:t>
            </a:r>
            <a:r>
              <a:rPr sz="3200" spc="-15" dirty="0">
                <a:latin typeface="Carlito"/>
                <a:cs typeface="Carlito"/>
              </a:rPr>
              <a:t>scroll </a:t>
            </a:r>
            <a:r>
              <a:rPr sz="3200" spc="-10" dirty="0">
                <a:latin typeface="Carlito"/>
                <a:cs typeface="Carlito"/>
              </a:rPr>
              <a:t>through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15" dirty="0">
                <a:latin typeface="Carlito"/>
                <a:cs typeface="Carlito"/>
              </a:rPr>
              <a:t>large </a:t>
            </a:r>
            <a:r>
              <a:rPr sz="3200" spc="-5" dirty="0">
                <a:latin typeface="Carlito"/>
                <a:cs typeface="Carlito"/>
              </a:rPr>
              <a:t>file that spans </a:t>
            </a:r>
            <a:r>
              <a:rPr sz="3200" spc="-15" dirty="0">
                <a:latin typeface="Carlito"/>
                <a:cs typeface="Carlito"/>
              </a:rPr>
              <a:t>many </a:t>
            </a:r>
            <a:r>
              <a:rPr sz="3200" spc="-5" dirty="0">
                <a:latin typeface="Carlito"/>
                <a:cs typeface="Carlito"/>
              </a:rPr>
              <a:t>pages, </a:t>
            </a:r>
            <a:r>
              <a:rPr sz="3200" dirty="0">
                <a:latin typeface="Carlito"/>
                <a:cs typeface="Carlito"/>
              </a:rPr>
              <a:t>it is easier </a:t>
            </a:r>
            <a:r>
              <a:rPr sz="3200" spc="-25" dirty="0">
                <a:latin typeface="Carlito"/>
                <a:cs typeface="Carlito"/>
              </a:rPr>
              <a:t>to  </a:t>
            </a:r>
            <a:r>
              <a:rPr sz="3200" spc="-5" dirty="0">
                <a:latin typeface="Carlito"/>
                <a:cs typeface="Carlito"/>
              </a:rPr>
              <a:t>using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scrollbars.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195529"/>
            <a:ext cx="7960995" cy="617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39001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10" dirty="0">
                <a:latin typeface="Carlito"/>
                <a:cs typeface="Carlito"/>
              </a:rPr>
              <a:t>vertical </a:t>
            </a:r>
            <a:r>
              <a:rPr sz="3200" spc="-15" dirty="0">
                <a:latin typeface="Carlito"/>
                <a:cs typeface="Carlito"/>
              </a:rPr>
              <a:t>scrollbars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well </a:t>
            </a:r>
            <a:r>
              <a:rPr sz="3200" dirty="0">
                <a:latin typeface="Carlito"/>
                <a:cs typeface="Carlito"/>
              </a:rPr>
              <a:t>as  </a:t>
            </a:r>
            <a:r>
              <a:rPr sz="3200" spc="-15" dirty="0">
                <a:latin typeface="Carlito"/>
                <a:cs typeface="Carlito"/>
              </a:rPr>
              <a:t>horizontal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scrollbars.</a:t>
            </a:r>
            <a:endParaRPr sz="3200">
              <a:latin typeface="Carlito"/>
              <a:cs typeface="Carlito"/>
            </a:endParaRPr>
          </a:p>
          <a:p>
            <a:pPr marL="355600" marR="22796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rlito"/>
                <a:cs typeface="Carlito"/>
              </a:rPr>
              <a:t>Vertical </a:t>
            </a:r>
            <a:r>
              <a:rPr sz="3200" spc="-15" dirty="0">
                <a:latin typeface="Carlito"/>
                <a:cs typeface="Carlito"/>
              </a:rPr>
              <a:t>scrollbars </a:t>
            </a:r>
            <a:r>
              <a:rPr sz="3200" spc="-10" dirty="0">
                <a:latin typeface="Carlito"/>
                <a:cs typeface="Carlito"/>
              </a:rPr>
              <a:t>often </a:t>
            </a:r>
            <a:r>
              <a:rPr sz="3200" dirty="0">
                <a:latin typeface="Carlito"/>
                <a:cs typeface="Carlito"/>
              </a:rPr>
              <a:t>appear </a:t>
            </a:r>
            <a:r>
              <a:rPr sz="3200" spc="-5" dirty="0">
                <a:latin typeface="Carlito"/>
                <a:cs typeface="Carlito"/>
              </a:rPr>
              <a:t>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right  side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the document </a:t>
            </a:r>
            <a:r>
              <a:rPr sz="3200" spc="-10" dirty="0">
                <a:latin typeface="Carlito"/>
                <a:cs typeface="Carlito"/>
              </a:rPr>
              <a:t>screen </a:t>
            </a:r>
            <a:r>
              <a:rPr sz="3200" spc="-5" dirty="0">
                <a:latin typeface="Carlito"/>
                <a:cs typeface="Carlito"/>
              </a:rPr>
              <a:t>small </a:t>
            </a:r>
            <a:r>
              <a:rPr sz="3200" dirty="0">
                <a:latin typeface="Carlito"/>
                <a:cs typeface="Carlito"/>
              </a:rPr>
              <a:t>triangular  </a:t>
            </a:r>
            <a:r>
              <a:rPr sz="3200" spc="-15" dirty="0">
                <a:latin typeface="Carlito"/>
                <a:cs typeface="Carlito"/>
              </a:rPr>
              <a:t>arrows </a:t>
            </a:r>
            <a:r>
              <a:rPr sz="3200" spc="-5" dirty="0">
                <a:latin typeface="Carlito"/>
                <a:cs typeface="Carlito"/>
              </a:rPr>
              <a:t>pointing up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down.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45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scroll </a:t>
            </a:r>
            <a:r>
              <a:rPr sz="3200" spc="-5" dirty="0">
                <a:latin typeface="Carlito"/>
                <a:cs typeface="Carlito"/>
              </a:rPr>
              <a:t>up </a:t>
            </a:r>
            <a:r>
              <a:rPr sz="3200" dirty="0">
                <a:latin typeface="Carlito"/>
                <a:cs typeface="Carlito"/>
              </a:rPr>
              <a:t>(or </a:t>
            </a:r>
            <a:r>
              <a:rPr sz="3200" spc="-5" dirty="0">
                <a:latin typeface="Carlito"/>
                <a:cs typeface="Carlito"/>
              </a:rPr>
              <a:t>view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bottom </a:t>
            </a:r>
            <a:r>
              <a:rPr sz="3200" spc="-5" dirty="0">
                <a:latin typeface="Carlito"/>
                <a:cs typeface="Carlito"/>
              </a:rPr>
              <a:t>part of  document), simply </a:t>
            </a:r>
            <a:r>
              <a:rPr sz="3200" dirty="0">
                <a:latin typeface="Carlito"/>
                <a:cs typeface="Carlito"/>
              </a:rPr>
              <a:t>click the </a:t>
            </a:r>
            <a:r>
              <a:rPr sz="3200" spc="-5" dirty="0">
                <a:latin typeface="Carlito"/>
                <a:cs typeface="Carlito"/>
              </a:rPr>
              <a:t>left </a:t>
            </a:r>
            <a:r>
              <a:rPr sz="3200" dirty="0">
                <a:latin typeface="Carlito"/>
                <a:cs typeface="Carlito"/>
              </a:rPr>
              <a:t>mouse </a:t>
            </a:r>
            <a:r>
              <a:rPr sz="3200" spc="-20" dirty="0">
                <a:latin typeface="Carlito"/>
                <a:cs typeface="Carlito"/>
              </a:rPr>
              <a:t>button  </a:t>
            </a:r>
            <a:r>
              <a:rPr sz="3200" dirty="0">
                <a:latin typeface="Carlito"/>
                <a:cs typeface="Carlito"/>
              </a:rPr>
              <a:t>on the </a:t>
            </a:r>
            <a:r>
              <a:rPr sz="3200" spc="-10" dirty="0">
                <a:latin typeface="Carlito"/>
                <a:cs typeface="Carlito"/>
              </a:rPr>
              <a:t>down-pointing </a:t>
            </a:r>
            <a:r>
              <a:rPr sz="3200" spc="-5" dirty="0">
                <a:latin typeface="Carlito"/>
                <a:cs typeface="Carlito"/>
              </a:rPr>
              <a:t>small triangular </a:t>
            </a:r>
            <a:r>
              <a:rPr sz="3200" spc="-15" dirty="0">
                <a:latin typeface="Carlito"/>
                <a:cs typeface="Carlito"/>
              </a:rPr>
              <a:t>arrow 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scrollbar.</a:t>
            </a:r>
            <a:endParaRPr sz="3200">
              <a:latin typeface="Carlito"/>
              <a:cs typeface="Carlito"/>
            </a:endParaRPr>
          </a:p>
          <a:p>
            <a:pPr marL="355600" marR="8572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4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view the </a:t>
            </a:r>
            <a:r>
              <a:rPr sz="3200" spc="-15" dirty="0">
                <a:latin typeface="Carlito"/>
                <a:cs typeface="Carlito"/>
              </a:rPr>
              <a:t>top </a:t>
            </a:r>
            <a:r>
              <a:rPr sz="3200" spc="-5" dirty="0">
                <a:latin typeface="Carlito"/>
                <a:cs typeface="Carlito"/>
              </a:rPr>
              <a:t>part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document </a:t>
            </a:r>
            <a:r>
              <a:rPr sz="3200" spc="-15" dirty="0">
                <a:latin typeface="Carlito"/>
                <a:cs typeface="Carlito"/>
              </a:rPr>
              <a:t>scroll </a:t>
            </a:r>
            <a:r>
              <a:rPr sz="3200" spc="-5" dirty="0">
                <a:latin typeface="Carlito"/>
                <a:cs typeface="Carlito"/>
              </a:rPr>
              <a:t>down  </a:t>
            </a:r>
            <a:r>
              <a:rPr sz="3200" spc="-10" dirty="0">
                <a:latin typeface="Carlito"/>
                <a:cs typeface="Carlito"/>
              </a:rPr>
              <a:t>by </a:t>
            </a:r>
            <a:r>
              <a:rPr sz="3200" spc="-5" dirty="0">
                <a:latin typeface="Carlito"/>
                <a:cs typeface="Carlito"/>
              </a:rPr>
              <a:t>clicking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up-pointing small </a:t>
            </a:r>
            <a:r>
              <a:rPr sz="3200" dirty="0">
                <a:latin typeface="Carlito"/>
                <a:cs typeface="Carlito"/>
              </a:rPr>
              <a:t>triangular  </a:t>
            </a:r>
            <a:r>
              <a:rPr sz="3200" spc="-10" dirty="0">
                <a:latin typeface="Carlito"/>
                <a:cs typeface="Carlito"/>
              </a:rPr>
              <a:t>arrow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scrollbar.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4B7A7C-E340-4D4B-A1DC-BB58D54FF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Scroll Bar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B9CB8-84E0-485F-B58B-0A320BCE23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0" b="33946"/>
          <a:stretch/>
        </p:blipFill>
        <p:spPr>
          <a:xfrm>
            <a:off x="1590601" y="1350001"/>
            <a:ext cx="6263178" cy="440088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0C20A41-DADB-4D97-AD97-B2A9C0B46C52}"/>
              </a:ext>
            </a:extLst>
          </p:cNvPr>
          <p:cNvSpPr/>
          <p:nvPr/>
        </p:nvSpPr>
        <p:spPr>
          <a:xfrm rot="21105356">
            <a:off x="4545420" y="3069277"/>
            <a:ext cx="2743200" cy="4572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AAF0FB-E547-4E34-9C10-95AD6AEA5063}"/>
              </a:ext>
            </a:extLst>
          </p:cNvPr>
          <p:cNvSpPr/>
          <p:nvPr/>
        </p:nvSpPr>
        <p:spPr>
          <a:xfrm>
            <a:off x="7550001" y="2344796"/>
            <a:ext cx="303778" cy="28100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883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30200" y="267970"/>
            <a:ext cx="7737475" cy="578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714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20" dirty="0">
                <a:latin typeface="Carlito"/>
                <a:cs typeface="Carlito"/>
              </a:rPr>
              <a:t>Horizontal </a:t>
            </a:r>
            <a:r>
              <a:rPr sz="3200" spc="-15" dirty="0">
                <a:latin typeface="Carlito"/>
                <a:cs typeface="Carlito"/>
              </a:rPr>
              <a:t>scrollbars </a:t>
            </a:r>
            <a:r>
              <a:rPr sz="3200" spc="-10" dirty="0">
                <a:latin typeface="Carlito"/>
                <a:cs typeface="Carlito"/>
              </a:rPr>
              <a:t>often </a:t>
            </a:r>
            <a:r>
              <a:rPr sz="3200" dirty="0">
                <a:latin typeface="Carlito"/>
                <a:cs typeface="Carlito"/>
              </a:rPr>
              <a:t>appear </a:t>
            </a:r>
            <a:r>
              <a:rPr sz="3200" spc="-5" dirty="0">
                <a:latin typeface="Carlito"/>
                <a:cs typeface="Carlito"/>
              </a:rPr>
              <a:t>below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10" dirty="0">
                <a:latin typeface="Carlito"/>
                <a:cs typeface="Carlito"/>
              </a:rPr>
              <a:t>document </a:t>
            </a:r>
            <a:r>
              <a:rPr sz="3200" spc="-5" dirty="0">
                <a:latin typeface="Carlito"/>
                <a:cs typeface="Carlito"/>
              </a:rPr>
              <a:t>window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scroll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document </a:t>
            </a:r>
            <a:r>
              <a:rPr sz="3200" spc="-5" dirty="0">
                <a:latin typeface="Carlito"/>
                <a:cs typeface="Carlito"/>
              </a:rPr>
              <a:t>window right or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left.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4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Dialog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box</a:t>
            </a:r>
            <a:r>
              <a:rPr sz="3200" i="1" spc="-15" dirty="0">
                <a:latin typeface="Carlito"/>
                <a:cs typeface="Carlito"/>
              </a:rPr>
              <a:t>:</a:t>
            </a:r>
            <a:endParaRPr sz="32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dialog </a:t>
            </a:r>
            <a:r>
              <a:rPr sz="3200" spc="-20" dirty="0">
                <a:latin typeface="Carlito"/>
                <a:cs typeface="Carlito"/>
              </a:rPr>
              <a:t>box </a:t>
            </a:r>
            <a:r>
              <a:rPr sz="3200" dirty="0">
                <a:latin typeface="Carlito"/>
                <a:cs typeface="Carlito"/>
              </a:rPr>
              <a:t>is a window </a:t>
            </a:r>
            <a:r>
              <a:rPr sz="3200" spc="-10" dirty="0">
                <a:latin typeface="Carlito"/>
                <a:cs typeface="Carlito"/>
              </a:rPr>
              <a:t>through </a:t>
            </a:r>
            <a:r>
              <a:rPr sz="3200" dirty="0">
                <a:latin typeface="Carlito"/>
                <a:cs typeface="Carlito"/>
              </a:rPr>
              <a:t>which the 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spc="-10" dirty="0">
                <a:latin typeface="Carlito"/>
                <a:cs typeface="Carlito"/>
              </a:rPr>
              <a:t>provides </a:t>
            </a:r>
            <a:r>
              <a:rPr sz="3200" spc="-5" dirty="0">
                <a:latin typeface="Carlito"/>
                <a:cs typeface="Carlito"/>
              </a:rPr>
              <a:t>some </a:t>
            </a:r>
            <a:r>
              <a:rPr sz="3200" dirty="0">
                <a:latin typeface="Carlito"/>
                <a:cs typeface="Carlito"/>
              </a:rPr>
              <a:t>needed </a:t>
            </a:r>
            <a:r>
              <a:rPr sz="3200" spc="-15" dirty="0">
                <a:latin typeface="Carlito"/>
                <a:cs typeface="Carlito"/>
              </a:rPr>
              <a:t>information </a:t>
            </a:r>
            <a:r>
              <a:rPr sz="3200" spc="-10" dirty="0">
                <a:latin typeface="Carlito"/>
                <a:cs typeface="Carlito"/>
              </a:rPr>
              <a:t>that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5" dirty="0">
                <a:latin typeface="Carlito"/>
                <a:cs typeface="Carlito"/>
              </a:rPr>
              <a:t>or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application </a:t>
            </a:r>
            <a:r>
              <a:rPr sz="3200" spc="-20" dirty="0">
                <a:latin typeface="Carlito"/>
                <a:cs typeface="Carlito"/>
              </a:rPr>
              <a:t>program  </a:t>
            </a:r>
            <a:r>
              <a:rPr sz="3200" spc="-15" dirty="0">
                <a:latin typeface="Carlito"/>
                <a:cs typeface="Carlito"/>
              </a:rPr>
              <a:t>require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perform </a:t>
            </a:r>
            <a:r>
              <a:rPr sz="3200" spc="-5" dirty="0">
                <a:latin typeface="Carlito"/>
                <a:cs typeface="Carlito"/>
              </a:rPr>
              <a:t>some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task.</a:t>
            </a:r>
            <a:endParaRPr sz="3200">
              <a:latin typeface="Carlito"/>
              <a:cs typeface="Carlito"/>
            </a:endParaRPr>
          </a:p>
          <a:p>
            <a:pPr marL="355600" marR="478790" indent="-343535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It also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display </a:t>
            </a:r>
            <a:r>
              <a:rPr sz="3200" spc="-10" dirty="0">
                <a:latin typeface="Carlito"/>
                <a:cs typeface="Carlito"/>
              </a:rPr>
              <a:t>helpful </a:t>
            </a:r>
            <a:r>
              <a:rPr sz="3200" spc="-5" dirty="0">
                <a:latin typeface="Carlito"/>
                <a:cs typeface="Carlito"/>
              </a:rPr>
              <a:t>messages </a:t>
            </a:r>
            <a:r>
              <a:rPr sz="3200" spc="-20" dirty="0">
                <a:latin typeface="Carlito"/>
                <a:cs typeface="Carlito"/>
              </a:rPr>
              <a:t>at  </a:t>
            </a:r>
            <a:r>
              <a:rPr sz="3200" dirty="0">
                <a:latin typeface="Carlito"/>
                <a:cs typeface="Carlito"/>
              </a:rPr>
              <a:t>times.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C249E0-8612-41E3-A215-028C25F18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854397"/>
            <a:ext cx="7696200" cy="314920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2C036C6-3E89-416E-A07D-897C7DA9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Dialog Box</a:t>
            </a:r>
          </a:p>
        </p:txBody>
      </p:sp>
    </p:spTree>
    <p:extLst>
      <p:ext uri="{BB962C8B-B14F-4D97-AF65-F5344CB8AC3E}">
        <p14:creationId xmlns:p14="http://schemas.microsoft.com/office/powerpoint/2010/main" val="12030713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484124"/>
            <a:ext cx="7998459" cy="5099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Macros: </a:t>
            </a:r>
            <a:r>
              <a:rPr sz="3200" spc="-5" dirty="0">
                <a:latin typeface="Carlito"/>
                <a:cs typeface="Carlito"/>
              </a:rPr>
              <a:t>Series of </a:t>
            </a:r>
            <a:r>
              <a:rPr sz="3200" spc="-25" dirty="0">
                <a:latin typeface="Carlito"/>
                <a:cs typeface="Carlito"/>
              </a:rPr>
              <a:t>steps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20" dirty="0">
                <a:latin typeface="Carlito"/>
                <a:cs typeface="Carlito"/>
              </a:rPr>
              <a:t>may </a:t>
            </a:r>
            <a:r>
              <a:rPr sz="3200" spc="-5" dirty="0">
                <a:latin typeface="Carlito"/>
                <a:cs typeface="Carlito"/>
              </a:rPr>
              <a:t>be needed </a:t>
            </a:r>
            <a:r>
              <a:rPr sz="3200" spc="-25" dirty="0">
                <a:latin typeface="Carlito"/>
                <a:cs typeface="Carlito"/>
              </a:rPr>
              <a:t>to  </a:t>
            </a:r>
            <a:r>
              <a:rPr sz="3200" spc="-15" dirty="0">
                <a:latin typeface="Carlito"/>
                <a:cs typeface="Carlito"/>
              </a:rPr>
              <a:t>perform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task </a:t>
            </a:r>
            <a:r>
              <a:rPr sz="3200" spc="-5" dirty="0">
                <a:latin typeface="Carlito"/>
                <a:cs typeface="Carlito"/>
              </a:rPr>
              <a:t>can be </a:t>
            </a:r>
            <a:r>
              <a:rPr sz="3200" spc="-10" dirty="0">
                <a:latin typeface="Carlito"/>
                <a:cs typeface="Carlito"/>
              </a:rPr>
              <a:t>grouped together </a:t>
            </a:r>
            <a:r>
              <a:rPr sz="3200" dirty="0">
                <a:latin typeface="Carlito"/>
                <a:cs typeface="Carlito"/>
              </a:rPr>
              <a:t>in a  </a:t>
            </a:r>
            <a:r>
              <a:rPr sz="3200" spc="-30" dirty="0">
                <a:latin typeface="Carlito"/>
                <a:cs typeface="Carlito"/>
              </a:rPr>
              <a:t>way </a:t>
            </a:r>
            <a:r>
              <a:rPr sz="3200" dirty="0">
                <a:latin typeface="Carlito"/>
                <a:cs typeface="Carlito"/>
              </a:rPr>
              <a:t>and the </a:t>
            </a:r>
            <a:r>
              <a:rPr sz="3200" spc="-10" dirty="0">
                <a:latin typeface="Carlito"/>
                <a:cs typeface="Carlito"/>
              </a:rPr>
              <a:t>entire routine </a:t>
            </a:r>
            <a:r>
              <a:rPr sz="3200" dirty="0">
                <a:latin typeface="Carlito"/>
                <a:cs typeface="Carlito"/>
              </a:rPr>
              <a:t>assigned a  </a:t>
            </a:r>
            <a:r>
              <a:rPr sz="3200" spc="-40" dirty="0">
                <a:latin typeface="Carlito"/>
                <a:cs typeface="Carlito"/>
              </a:rPr>
              <a:t>keystroke.</a:t>
            </a:r>
            <a:endParaRPr sz="3200">
              <a:latin typeface="Carlito"/>
              <a:cs typeface="Carlito"/>
            </a:endParaRPr>
          </a:p>
          <a:p>
            <a:pPr marL="12700" marR="233679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arlito"/>
                <a:cs typeface="Carlito"/>
              </a:rPr>
              <a:t>Pressing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Ctrl </a:t>
            </a:r>
            <a:r>
              <a:rPr sz="3200" spc="-45" dirty="0">
                <a:latin typeface="Carlito"/>
                <a:cs typeface="Carlito"/>
              </a:rPr>
              <a:t>key </a:t>
            </a:r>
            <a:r>
              <a:rPr sz="3200" dirty="0">
                <a:latin typeface="Carlito"/>
                <a:cs typeface="Carlito"/>
              </a:rPr>
              <a:t>on the </a:t>
            </a:r>
            <a:r>
              <a:rPr sz="3200" spc="-25" dirty="0">
                <a:latin typeface="Carlito"/>
                <a:cs typeface="Carlito"/>
              </a:rPr>
              <a:t>keyboard </a:t>
            </a:r>
            <a:r>
              <a:rPr sz="3200" dirty="0">
                <a:latin typeface="Carlito"/>
                <a:cs typeface="Carlito"/>
              </a:rPr>
              <a:t>in  </a:t>
            </a:r>
            <a:r>
              <a:rPr sz="3200" spc="-10" dirty="0">
                <a:latin typeface="Carlito"/>
                <a:cs typeface="Carlito"/>
              </a:rPr>
              <a:t>combination </a:t>
            </a:r>
            <a:r>
              <a:rPr sz="3200" dirty="0">
                <a:latin typeface="Carlito"/>
                <a:cs typeface="Carlito"/>
              </a:rPr>
              <a:t>with the </a:t>
            </a:r>
            <a:r>
              <a:rPr sz="3200" spc="-5" dirty="0">
                <a:latin typeface="Carlito"/>
                <a:cs typeface="Carlito"/>
              </a:rPr>
              <a:t>assigned </a:t>
            </a:r>
            <a:r>
              <a:rPr sz="3200" spc="-45" dirty="0">
                <a:latin typeface="Carlito"/>
                <a:cs typeface="Carlito"/>
              </a:rPr>
              <a:t>key </a:t>
            </a:r>
            <a:r>
              <a:rPr sz="3200" spc="-10" dirty="0">
                <a:latin typeface="Carlito"/>
                <a:cs typeface="Carlito"/>
              </a:rPr>
              <a:t>triggers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20" dirty="0">
                <a:latin typeface="Carlito"/>
                <a:cs typeface="Carlito"/>
              </a:rPr>
              <a:t>execution </a:t>
            </a:r>
            <a:r>
              <a:rPr sz="3200" spc="-5" dirty="0">
                <a:latin typeface="Carlito"/>
                <a:cs typeface="Carlito"/>
              </a:rPr>
              <a:t>of the </a:t>
            </a:r>
            <a:r>
              <a:rPr sz="3200" spc="-15" dirty="0">
                <a:latin typeface="Carlito"/>
                <a:cs typeface="Carlito"/>
              </a:rPr>
              <a:t>programmed routine </a:t>
            </a:r>
            <a:r>
              <a:rPr sz="3200" dirty="0">
                <a:latin typeface="Carlito"/>
                <a:cs typeface="Carlito"/>
              </a:rPr>
              <a:t>assigned 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keystroke.</a:t>
            </a:r>
            <a:endParaRPr sz="3200">
              <a:latin typeface="Carlito"/>
              <a:cs typeface="Carlito"/>
            </a:endParaRPr>
          </a:p>
          <a:p>
            <a:pPr marL="12700" marR="866775">
              <a:lnSpc>
                <a:spcPct val="100000"/>
              </a:lnSpc>
              <a:spcBef>
                <a:spcPts val="775"/>
              </a:spcBef>
            </a:pPr>
            <a:r>
              <a:rPr sz="3200" spc="-5" dirty="0">
                <a:latin typeface="Carlito"/>
                <a:cs typeface="Carlito"/>
              </a:rPr>
              <a:t>These </a:t>
            </a:r>
            <a:r>
              <a:rPr sz="3200" spc="-15" dirty="0">
                <a:latin typeface="Carlito"/>
                <a:cs typeface="Carlito"/>
              </a:rPr>
              <a:t>programmed </a:t>
            </a:r>
            <a:r>
              <a:rPr sz="3200" spc="-20" dirty="0">
                <a:latin typeface="Carlito"/>
                <a:cs typeface="Carlito"/>
              </a:rPr>
              <a:t>steps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30" dirty="0">
                <a:latin typeface="Carlito"/>
                <a:cs typeface="Carlito"/>
              </a:rPr>
              <a:t>referred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as  </a:t>
            </a:r>
            <a:r>
              <a:rPr sz="3200" spc="-10" dirty="0">
                <a:latin typeface="Carlito"/>
                <a:cs typeface="Carlito"/>
              </a:rPr>
              <a:t>macros.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171043"/>
            <a:ext cx="7914005" cy="57816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OLE </a:t>
            </a:r>
            <a:r>
              <a:rPr sz="3200" dirty="0">
                <a:latin typeface="Carlito"/>
                <a:cs typeface="Carlito"/>
              </a:rPr>
              <a:t>(Object </a:t>
            </a:r>
            <a:r>
              <a:rPr sz="3200" spc="-5" dirty="0">
                <a:latin typeface="Carlito"/>
                <a:cs typeface="Carlito"/>
              </a:rPr>
              <a:t>Link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Embedding):</a:t>
            </a:r>
            <a:endParaRPr sz="3200">
              <a:latin typeface="Carlito"/>
              <a:cs typeface="Carlito"/>
            </a:endParaRPr>
          </a:p>
          <a:p>
            <a:pPr marL="355600" marR="28575" indent="-342900">
              <a:lnSpc>
                <a:spcPct val="90000"/>
              </a:lnSpc>
              <a:spcBef>
                <a:spcPts val="770"/>
              </a:spcBef>
              <a:buFont typeface="Arial"/>
              <a:buChar char="•"/>
              <a:tabLst>
                <a:tab pos="447040" algn="l"/>
                <a:tab pos="447675" algn="l"/>
              </a:tabLst>
            </a:pPr>
            <a:r>
              <a:rPr dirty="0"/>
              <a:t>	</a:t>
            </a: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spc="-25" dirty="0">
                <a:latin typeface="Carlito"/>
                <a:cs typeface="Carlito"/>
              </a:rPr>
              <a:t>feature </a:t>
            </a:r>
            <a:r>
              <a:rPr sz="3200" dirty="0">
                <a:latin typeface="Carlito"/>
                <a:cs typeface="Carlito"/>
              </a:rPr>
              <a:t>enables the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spc="-3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link </a:t>
            </a:r>
            <a:r>
              <a:rPr sz="3200" spc="-15" dirty="0">
                <a:latin typeface="Carlito"/>
                <a:cs typeface="Carlito"/>
              </a:rPr>
              <a:t>and/or  </a:t>
            </a:r>
            <a:r>
              <a:rPr sz="3200" dirty="0">
                <a:latin typeface="Carlito"/>
                <a:cs typeface="Carlito"/>
              </a:rPr>
              <a:t>embed </a:t>
            </a:r>
            <a:r>
              <a:rPr sz="3200" spc="-5" dirty="0">
                <a:latin typeface="Carlito"/>
                <a:cs typeface="Carlito"/>
              </a:rPr>
              <a:t>document </a:t>
            </a:r>
            <a:r>
              <a:rPr sz="3200" dirty="0">
                <a:latin typeface="Carlito"/>
                <a:cs typeface="Carlito"/>
              </a:rPr>
              <a:t>of one </a:t>
            </a:r>
            <a:r>
              <a:rPr sz="3200" spc="-5" dirty="0">
                <a:latin typeface="Carlito"/>
                <a:cs typeface="Carlito"/>
              </a:rPr>
              <a:t>application </a:t>
            </a:r>
            <a:r>
              <a:rPr sz="3200" spc="-15" dirty="0">
                <a:latin typeface="Carlito"/>
                <a:cs typeface="Carlito"/>
              </a:rPr>
              <a:t>program 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a </a:t>
            </a:r>
            <a:r>
              <a:rPr sz="3200" spc="-5" dirty="0">
                <a:latin typeface="Carlito"/>
                <a:cs typeface="Carlito"/>
              </a:rPr>
              <a:t>spreadsheet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or </a:t>
            </a:r>
            <a:r>
              <a:rPr sz="3200" dirty="0">
                <a:latin typeface="Carlito"/>
                <a:cs typeface="Carlito"/>
              </a:rPr>
              <a:t>in another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20" dirty="0">
                <a:latin typeface="Carlito"/>
                <a:cs typeface="Carlito"/>
              </a:rPr>
              <a:t>word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processor.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ts val="3460"/>
              </a:lnSpc>
              <a:spcBef>
                <a:spcPts val="8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Changes </a:t>
            </a:r>
            <a:r>
              <a:rPr sz="3200" dirty="0">
                <a:latin typeface="Carlito"/>
                <a:cs typeface="Carlito"/>
              </a:rPr>
              <a:t>made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embedded object </a:t>
            </a:r>
            <a:r>
              <a:rPr sz="3200" spc="-30" dirty="0">
                <a:latin typeface="Carlito"/>
                <a:cs typeface="Carlito"/>
              </a:rPr>
              <a:t>affect  </a:t>
            </a:r>
            <a:r>
              <a:rPr sz="3200" spc="-5" dirty="0">
                <a:latin typeface="Carlito"/>
                <a:cs typeface="Carlito"/>
              </a:rPr>
              <a:t>only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document that </a:t>
            </a:r>
            <a:r>
              <a:rPr sz="3200" spc="-15" dirty="0">
                <a:latin typeface="Carlito"/>
                <a:cs typeface="Carlito"/>
              </a:rPr>
              <a:t>contains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it.</a:t>
            </a:r>
            <a:endParaRPr sz="3200">
              <a:latin typeface="Carlito"/>
              <a:cs typeface="Carlito"/>
            </a:endParaRPr>
          </a:p>
          <a:p>
            <a:pPr marL="355600" marR="13335" indent="-342900">
              <a:lnSpc>
                <a:spcPct val="90000"/>
              </a:lnSpc>
              <a:spcBef>
                <a:spcPts val="7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If the object </a:t>
            </a:r>
            <a:r>
              <a:rPr sz="3200" spc="-15" dirty="0">
                <a:latin typeface="Carlito"/>
                <a:cs typeface="Carlito"/>
              </a:rPr>
              <a:t>was rather </a:t>
            </a:r>
            <a:r>
              <a:rPr sz="3200" spc="-20" dirty="0">
                <a:latin typeface="Carlito"/>
                <a:cs typeface="Carlito"/>
              </a:rPr>
              <a:t>linked, </a:t>
            </a:r>
            <a:r>
              <a:rPr sz="3200" dirty="0">
                <a:latin typeface="Carlito"/>
                <a:cs typeface="Carlito"/>
              </a:rPr>
              <a:t>then changes  made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object </a:t>
            </a:r>
            <a:r>
              <a:rPr sz="3200" spc="-10" dirty="0">
                <a:latin typeface="Carlito"/>
                <a:cs typeface="Carlito"/>
              </a:rPr>
              <a:t>are automatically </a:t>
            </a:r>
            <a:r>
              <a:rPr sz="3200" dirty="0">
                <a:latin typeface="Carlito"/>
                <a:cs typeface="Carlito"/>
              </a:rPr>
              <a:t>made in  all the </a:t>
            </a:r>
            <a:r>
              <a:rPr sz="3200" spc="-20" dirty="0">
                <a:latin typeface="Carlito"/>
                <a:cs typeface="Carlito"/>
              </a:rPr>
              <a:t>linked </a:t>
            </a:r>
            <a:r>
              <a:rPr sz="3200" spc="-5" dirty="0">
                <a:latin typeface="Carlito"/>
                <a:cs typeface="Carlito"/>
              </a:rPr>
              <a:t>documents that </a:t>
            </a:r>
            <a:r>
              <a:rPr sz="3200" spc="-15" dirty="0">
                <a:latin typeface="Carlito"/>
                <a:cs typeface="Carlito"/>
              </a:rPr>
              <a:t>contain</a:t>
            </a:r>
            <a:r>
              <a:rPr sz="3200" spc="6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it.</a:t>
            </a:r>
            <a:endParaRPr sz="3200">
              <a:latin typeface="Carlito"/>
              <a:cs typeface="Carlito"/>
            </a:endParaRPr>
          </a:p>
          <a:p>
            <a:pPr marL="355600" marR="71755" indent="-342900">
              <a:lnSpc>
                <a:spcPts val="3460"/>
              </a:lnSpc>
              <a:spcBef>
                <a:spcPts val="8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Thus OLE </a:t>
            </a:r>
            <a:r>
              <a:rPr sz="3200" spc="-15" dirty="0">
                <a:latin typeface="Carlito"/>
                <a:cs typeface="Carlito"/>
              </a:rPr>
              <a:t>facilitates </a:t>
            </a:r>
            <a:r>
              <a:rPr sz="3200" spc="-5" dirty="0">
                <a:latin typeface="Carlito"/>
                <a:cs typeface="Carlito"/>
              </a:rPr>
              <a:t>sharing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manipulating  of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information.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78F96-46CB-4697-97BD-F9A239139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771649"/>
            <a:ext cx="6654800" cy="445359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B3506A5-E71F-4267-BFA4-C84CC9DB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8600" y="533400"/>
            <a:ext cx="6096000" cy="67710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Link to a file in word</a:t>
            </a:r>
          </a:p>
        </p:txBody>
      </p:sp>
    </p:spTree>
    <p:extLst>
      <p:ext uri="{BB962C8B-B14F-4D97-AF65-F5344CB8AC3E}">
        <p14:creationId xmlns:p14="http://schemas.microsoft.com/office/powerpoint/2010/main" val="4807636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71043" y="267970"/>
            <a:ext cx="8364855" cy="568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93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An </a:t>
            </a:r>
            <a:r>
              <a:rPr sz="3200" spc="-5" dirty="0">
                <a:latin typeface="Carlito"/>
                <a:cs typeface="Carlito"/>
              </a:rPr>
              <a:t>object </a:t>
            </a:r>
            <a:r>
              <a:rPr sz="3200" spc="-25" dirty="0">
                <a:latin typeface="Carlito"/>
                <a:cs typeface="Carlito"/>
              </a:rPr>
              <a:t>may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document, worksheet, picture  </a:t>
            </a:r>
            <a:r>
              <a:rPr sz="3200" spc="-5" dirty="0">
                <a:latin typeface="Carlito"/>
                <a:cs typeface="Carlito"/>
              </a:rPr>
              <a:t>or </a:t>
            </a:r>
            <a:r>
              <a:rPr sz="3200" spc="-15" dirty="0">
                <a:latin typeface="Carlito"/>
                <a:cs typeface="Carlito"/>
              </a:rPr>
              <a:t>even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sound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recording.</a:t>
            </a:r>
            <a:endParaRPr sz="32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Clipboard:</a:t>
            </a:r>
            <a:endParaRPr sz="32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arlito"/>
                <a:cs typeface="Carlito"/>
              </a:rPr>
              <a:t>During </a:t>
            </a:r>
            <a:r>
              <a:rPr sz="3200" spc="-10" dirty="0">
                <a:latin typeface="Carlito"/>
                <a:cs typeface="Carlito"/>
              </a:rPr>
              <a:t>working </a:t>
            </a:r>
            <a:r>
              <a:rPr sz="3200" spc="-5" dirty="0">
                <a:latin typeface="Carlito"/>
                <a:cs typeface="Carlito"/>
              </a:rPr>
              <a:t>sessions, 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5" dirty="0">
                <a:latin typeface="Carlito"/>
                <a:cs typeface="Carlito"/>
              </a:rPr>
              <a:t>sometimes </a:t>
            </a:r>
            <a:r>
              <a:rPr sz="3200" spc="-10" dirty="0">
                <a:latin typeface="Carlito"/>
                <a:cs typeface="Carlito"/>
              </a:rPr>
              <a:t>become  </a:t>
            </a:r>
            <a:r>
              <a:rPr sz="3200" spc="-5" dirty="0">
                <a:latin typeface="Carlito"/>
                <a:cs typeface="Carlito"/>
              </a:rPr>
              <a:t>necessary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copy </a:t>
            </a:r>
            <a:r>
              <a:rPr sz="3200" dirty="0">
                <a:latin typeface="Carlito"/>
                <a:cs typeface="Carlito"/>
              </a:rPr>
              <a:t>an </a:t>
            </a:r>
            <a:r>
              <a:rPr sz="3200" spc="-10" dirty="0">
                <a:latin typeface="Carlito"/>
                <a:cs typeface="Carlito"/>
              </a:rPr>
              <a:t>item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5" dirty="0">
                <a:latin typeface="Carlito"/>
                <a:cs typeface="Carlito"/>
              </a:rPr>
              <a:t>part </a:t>
            </a:r>
            <a:r>
              <a:rPr sz="3200" dirty="0">
                <a:latin typeface="Carlito"/>
                <a:cs typeface="Carlito"/>
              </a:rPr>
              <a:t>of a </a:t>
            </a:r>
            <a:r>
              <a:rPr sz="3200" spc="-5" dirty="0">
                <a:latin typeface="Carlito"/>
                <a:cs typeface="Carlito"/>
              </a:rPr>
              <a:t>document 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spc="-5" dirty="0">
                <a:latin typeface="Carlito"/>
                <a:cs typeface="Carlito"/>
              </a:rPr>
              <a:t>one </a:t>
            </a:r>
            <a:r>
              <a:rPr sz="3200" spc="-10" dirty="0">
                <a:latin typeface="Carlito"/>
                <a:cs typeface="Carlito"/>
              </a:rPr>
              <a:t>document </a:t>
            </a:r>
            <a:r>
              <a:rPr sz="3200" dirty="0">
                <a:latin typeface="Carlito"/>
                <a:cs typeface="Carlito"/>
              </a:rPr>
              <a:t>and then </a:t>
            </a:r>
            <a:r>
              <a:rPr sz="3200" spc="-20" dirty="0">
                <a:latin typeface="Carlito"/>
                <a:cs typeface="Carlito"/>
              </a:rPr>
              <a:t>paste 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20" dirty="0">
                <a:latin typeface="Carlito"/>
                <a:cs typeface="Carlito"/>
              </a:rPr>
              <a:t>into </a:t>
            </a:r>
            <a:r>
              <a:rPr sz="3200" dirty="0">
                <a:latin typeface="Carlito"/>
                <a:cs typeface="Carlito"/>
              </a:rPr>
              <a:t>another  </a:t>
            </a:r>
            <a:r>
              <a:rPr sz="3200" spc="-5" dirty="0">
                <a:latin typeface="Carlito"/>
                <a:cs typeface="Carlito"/>
              </a:rPr>
              <a:t>document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10" dirty="0">
                <a:latin typeface="Carlito"/>
                <a:cs typeface="Carlito"/>
              </a:rPr>
              <a:t>application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15" dirty="0">
                <a:latin typeface="Carlito"/>
                <a:cs typeface="Carlito"/>
              </a:rPr>
              <a:t>even </a:t>
            </a:r>
            <a:r>
              <a:rPr sz="3200" dirty="0">
                <a:latin typeface="Carlito"/>
                <a:cs typeface="Carlito"/>
              </a:rPr>
              <a:t>in another </a:t>
            </a:r>
            <a:r>
              <a:rPr sz="3200" spc="-5" dirty="0">
                <a:latin typeface="Carlito"/>
                <a:cs typeface="Carlito"/>
              </a:rPr>
              <a:t>part  of the same document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25" dirty="0">
                <a:latin typeface="Carlito"/>
                <a:cs typeface="Carlito"/>
              </a:rPr>
              <a:t>save </a:t>
            </a:r>
            <a:r>
              <a:rPr sz="3200" spc="-5" dirty="0">
                <a:latin typeface="Carlito"/>
                <a:cs typeface="Carlito"/>
              </a:rPr>
              <a:t>time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65" dirty="0">
                <a:latin typeface="Carlito"/>
                <a:cs typeface="Carlito"/>
              </a:rPr>
              <a:t> </a:t>
            </a:r>
            <a:r>
              <a:rPr sz="3200" spc="-55" dirty="0">
                <a:latin typeface="Carlito"/>
                <a:cs typeface="Carlito"/>
              </a:rPr>
              <a:t>labor.</a:t>
            </a:r>
            <a:endParaRPr sz="3200" dirty="0">
              <a:latin typeface="Carlito"/>
              <a:cs typeface="Carlito"/>
            </a:endParaRPr>
          </a:p>
          <a:p>
            <a:pPr marL="12700" marR="69850">
              <a:lnSpc>
                <a:spcPct val="100000"/>
              </a:lnSpc>
              <a:spcBef>
                <a:spcPts val="775"/>
              </a:spcBef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area </a:t>
            </a:r>
            <a:r>
              <a:rPr sz="3200" dirty="0">
                <a:latin typeface="Carlito"/>
                <a:cs typeface="Carlito"/>
              </a:rPr>
              <a:t>in the memory </a:t>
            </a:r>
            <a:r>
              <a:rPr sz="3200" spc="-5" dirty="0">
                <a:latin typeface="Carlito"/>
                <a:cs typeface="Carlito"/>
              </a:rPr>
              <a:t>where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copied </a:t>
            </a:r>
            <a:r>
              <a:rPr sz="3200" spc="-15" dirty="0">
                <a:latin typeface="Carlito"/>
                <a:cs typeface="Carlito"/>
              </a:rPr>
              <a:t>item </a:t>
            </a:r>
            <a:r>
              <a:rPr sz="3200" dirty="0">
                <a:latin typeface="Carlito"/>
                <a:cs typeface="Carlito"/>
              </a:rPr>
              <a:t>is  </a:t>
            </a:r>
            <a:r>
              <a:rPr sz="3200" spc="-5" dirty="0">
                <a:latin typeface="Carlito"/>
                <a:cs typeface="Carlito"/>
              </a:rPr>
              <a:t>held </a:t>
            </a:r>
            <a:r>
              <a:rPr sz="3200" spc="-10" dirty="0">
                <a:latin typeface="Carlito"/>
                <a:cs typeface="Carlito"/>
              </a:rPr>
              <a:t>temporarily </a:t>
            </a:r>
            <a:r>
              <a:rPr sz="3200" spc="-25" dirty="0">
                <a:latin typeface="Carlito"/>
                <a:cs typeface="Carlito"/>
              </a:rPr>
              <a:t>before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even </a:t>
            </a:r>
            <a:r>
              <a:rPr sz="3200" spc="-20" dirty="0">
                <a:latin typeface="Carlito"/>
                <a:cs typeface="Carlito"/>
              </a:rPr>
              <a:t>after </a:t>
            </a:r>
            <a:r>
              <a:rPr sz="3200" dirty="0">
                <a:latin typeface="Carlito"/>
                <a:cs typeface="Carlito"/>
              </a:rPr>
              <a:t>it is </a:t>
            </a:r>
            <a:r>
              <a:rPr sz="3200" spc="-15" dirty="0">
                <a:latin typeface="Carlito"/>
                <a:cs typeface="Carlito"/>
              </a:rPr>
              <a:t>pasted 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destination </a:t>
            </a:r>
            <a:r>
              <a:rPr sz="3200" dirty="0">
                <a:latin typeface="Carlito"/>
                <a:cs typeface="Carlito"/>
              </a:rPr>
              <a:t>is known as the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clipboard.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B5D79-A1CE-4E8F-8181-78D532B0C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752600"/>
            <a:ext cx="6934199" cy="44958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9A23EDE-493F-44A0-B2DF-AC31C6A9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Clipboard</a:t>
            </a:r>
          </a:p>
        </p:txBody>
      </p:sp>
    </p:spTree>
    <p:extLst>
      <p:ext uri="{BB962C8B-B14F-4D97-AF65-F5344CB8AC3E}">
        <p14:creationId xmlns:p14="http://schemas.microsoft.com/office/powerpoint/2010/main" val="11552099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83540" y="387197"/>
            <a:ext cx="8394065" cy="57816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35" dirty="0">
                <a:latin typeface="Carlito"/>
                <a:cs typeface="Carlito"/>
              </a:rPr>
              <a:t>Tutorial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Documentation:</a:t>
            </a:r>
            <a:endParaRPr sz="320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770"/>
              </a:spcBef>
            </a:pPr>
            <a:r>
              <a:rPr sz="3200" spc="-5" dirty="0">
                <a:latin typeface="Carlito"/>
                <a:cs typeface="Carlito"/>
              </a:rPr>
              <a:t>This resembles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on-line Help but </a:t>
            </a:r>
            <a:r>
              <a:rPr sz="3200" spc="-15" dirty="0">
                <a:latin typeface="Carlito"/>
                <a:cs typeface="Carlito"/>
              </a:rPr>
              <a:t>rather </a:t>
            </a:r>
            <a:r>
              <a:rPr sz="3200" dirty="0">
                <a:latin typeface="Carlito"/>
                <a:cs typeface="Carlito"/>
              </a:rPr>
              <a:t>acts </a:t>
            </a:r>
            <a:r>
              <a:rPr sz="3200" spc="-30" dirty="0">
                <a:latin typeface="Carlito"/>
                <a:cs typeface="Carlito"/>
              </a:rPr>
              <a:t>like  </a:t>
            </a:r>
            <a:r>
              <a:rPr sz="3200" dirty="0">
                <a:latin typeface="Carlito"/>
                <a:cs typeface="Carlito"/>
              </a:rPr>
              <a:t>an </a:t>
            </a:r>
            <a:r>
              <a:rPr sz="3200" spc="-5" dirty="0">
                <a:latin typeface="Carlito"/>
                <a:cs typeface="Carlito"/>
              </a:rPr>
              <a:t>electronic </a:t>
            </a:r>
            <a:r>
              <a:rPr sz="3200" spc="-10" dirty="0">
                <a:latin typeface="Carlito"/>
                <a:cs typeface="Carlito"/>
              </a:rPr>
              <a:t>instruction </a:t>
            </a:r>
            <a:r>
              <a:rPr sz="3200" spc="-5" dirty="0">
                <a:latin typeface="Carlito"/>
                <a:cs typeface="Carlito"/>
              </a:rPr>
              <a:t>book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10" dirty="0">
                <a:latin typeface="Carlito"/>
                <a:cs typeface="Carlito"/>
              </a:rPr>
              <a:t>that  </a:t>
            </a:r>
            <a:r>
              <a:rPr sz="3200" spc="-35" dirty="0">
                <a:latin typeface="Carlito"/>
                <a:cs typeface="Carlito"/>
              </a:rPr>
              <a:t>takes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through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prescribed </a:t>
            </a:r>
            <a:r>
              <a:rPr sz="3200" spc="-5" dirty="0">
                <a:latin typeface="Carlito"/>
                <a:cs typeface="Carlito"/>
              </a:rPr>
              <a:t>series of </a:t>
            </a:r>
            <a:r>
              <a:rPr sz="3200" spc="-20" dirty="0">
                <a:latin typeface="Carlito"/>
                <a:cs typeface="Carlito"/>
              </a:rPr>
              <a:t>steps to  </a:t>
            </a:r>
            <a:r>
              <a:rPr sz="3200" spc="-5" dirty="0">
                <a:latin typeface="Carlito"/>
                <a:cs typeface="Carlito"/>
              </a:rPr>
              <a:t>help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dirty="0">
                <a:latin typeface="Carlito"/>
                <a:cs typeface="Carlito"/>
              </a:rPr>
              <a:t>learn </a:t>
            </a:r>
            <a:r>
              <a:rPr sz="3200" spc="-5" dirty="0">
                <a:latin typeface="Carlito"/>
                <a:cs typeface="Carlito"/>
              </a:rPr>
              <a:t>the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product.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3200" spc="-35" dirty="0">
                <a:latin typeface="Carlito"/>
                <a:cs typeface="Carlito"/>
              </a:rPr>
              <a:t>Tutorials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10" dirty="0">
                <a:latin typeface="Carlito"/>
                <a:cs typeface="Carlito"/>
              </a:rPr>
              <a:t>supplemented </a:t>
            </a:r>
            <a:r>
              <a:rPr sz="3200" dirty="0">
                <a:latin typeface="Carlito"/>
                <a:cs typeface="Carlito"/>
              </a:rPr>
              <a:t>with</a:t>
            </a:r>
            <a:r>
              <a:rPr sz="3200" spc="8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documentation.</a:t>
            </a:r>
            <a:endParaRPr sz="3200">
              <a:latin typeface="Carlito"/>
              <a:cs typeface="Carlito"/>
            </a:endParaRPr>
          </a:p>
          <a:p>
            <a:pPr marL="12700" marR="916940">
              <a:lnSpc>
                <a:spcPct val="90000"/>
              </a:lnSpc>
              <a:spcBef>
                <a:spcPts val="770"/>
              </a:spcBef>
            </a:pPr>
            <a:r>
              <a:rPr sz="3200" spc="-10" dirty="0">
                <a:latin typeface="Carlito"/>
                <a:cs typeface="Carlito"/>
              </a:rPr>
              <a:t>Documentation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dirty="0">
                <a:latin typeface="Carlito"/>
                <a:cs typeface="Carlito"/>
              </a:rPr>
              <a:t>manual </a:t>
            </a:r>
            <a:r>
              <a:rPr sz="3200" spc="-5" dirty="0">
                <a:latin typeface="Carlito"/>
                <a:cs typeface="Carlito"/>
              </a:rPr>
              <a:t>or </a:t>
            </a:r>
            <a:r>
              <a:rPr sz="3200" spc="-25" dirty="0">
                <a:latin typeface="Carlito"/>
                <a:cs typeface="Carlito"/>
              </a:rPr>
              <a:t>reference  </a:t>
            </a:r>
            <a:r>
              <a:rPr sz="3200" dirty="0">
                <a:latin typeface="Carlito"/>
                <a:cs typeface="Carlito"/>
              </a:rPr>
              <a:t>manual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20" dirty="0">
                <a:latin typeface="Carlito"/>
                <a:cs typeface="Carlito"/>
              </a:rPr>
              <a:t>narrative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graphical  </a:t>
            </a:r>
            <a:r>
              <a:rPr sz="3200" spc="-5" dirty="0">
                <a:latin typeface="Carlito"/>
                <a:cs typeface="Carlito"/>
              </a:rPr>
              <a:t>description of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program.</a:t>
            </a:r>
            <a:endParaRPr sz="3200">
              <a:latin typeface="Carlito"/>
              <a:cs typeface="Carlito"/>
            </a:endParaRPr>
          </a:p>
          <a:p>
            <a:pPr marL="12700" marR="491490">
              <a:lnSpc>
                <a:spcPct val="90000"/>
              </a:lnSpc>
              <a:spcBef>
                <a:spcPts val="770"/>
              </a:spcBef>
            </a:pPr>
            <a:r>
              <a:rPr sz="3200" dirty="0">
                <a:latin typeface="Carlito"/>
                <a:cs typeface="Carlito"/>
              </a:rPr>
              <a:t>It </a:t>
            </a:r>
            <a:r>
              <a:rPr sz="3200" spc="-20" dirty="0">
                <a:latin typeface="Carlito"/>
                <a:cs typeface="Carlito"/>
              </a:rPr>
              <a:t>may </a:t>
            </a:r>
            <a:r>
              <a:rPr sz="3200" spc="-5" dirty="0">
                <a:latin typeface="Carlito"/>
                <a:cs typeface="Carlito"/>
              </a:rPr>
              <a:t>be instructional but </a:t>
            </a:r>
            <a:r>
              <a:rPr sz="3200" spc="-10" dirty="0">
                <a:latin typeface="Carlito"/>
                <a:cs typeface="Carlito"/>
              </a:rPr>
              <a:t>often </a:t>
            </a:r>
            <a:r>
              <a:rPr sz="3200" spc="-20" dirty="0">
                <a:latin typeface="Carlito"/>
                <a:cs typeface="Carlito"/>
              </a:rPr>
              <a:t>features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5" dirty="0">
                <a:latin typeface="Carlito"/>
                <a:cs typeface="Carlito"/>
              </a:rPr>
              <a:t>functions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10" dirty="0">
                <a:latin typeface="Carlito"/>
                <a:cs typeface="Carlito"/>
              </a:rPr>
              <a:t>grouped by </a:t>
            </a:r>
            <a:r>
              <a:rPr sz="3200" spc="-15" dirty="0">
                <a:latin typeface="Carlito"/>
                <a:cs typeface="Carlito"/>
              </a:rPr>
              <a:t>category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25" dirty="0">
                <a:latin typeface="Carlito"/>
                <a:cs typeface="Carlito"/>
              </a:rPr>
              <a:t>reference  </a:t>
            </a:r>
            <a:r>
              <a:rPr sz="3200" spc="-5" dirty="0">
                <a:latin typeface="Carlito"/>
                <a:cs typeface="Carlito"/>
              </a:rPr>
              <a:t>purposes.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83540" y="291211"/>
            <a:ext cx="8281034" cy="61728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spc="-10" dirty="0">
                <a:latin typeface="Carlito"/>
                <a:cs typeface="Carlito"/>
              </a:rPr>
              <a:t>Documentation </a:t>
            </a:r>
            <a:r>
              <a:rPr sz="3200" spc="-20" dirty="0">
                <a:latin typeface="Carlito"/>
                <a:cs typeface="Carlito"/>
              </a:rPr>
              <a:t>may </a:t>
            </a:r>
            <a:r>
              <a:rPr sz="3200" spc="-10" dirty="0">
                <a:latin typeface="Carlito"/>
                <a:cs typeface="Carlito"/>
              </a:rPr>
              <a:t>come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booklet </a:t>
            </a:r>
            <a:r>
              <a:rPr sz="3200" spc="-25" dirty="0">
                <a:latin typeface="Carlito"/>
                <a:cs typeface="Carlito"/>
              </a:rPr>
              <a:t>form </a:t>
            </a:r>
            <a:r>
              <a:rPr sz="3200" spc="-5" dirty="0">
                <a:latin typeface="Carlito"/>
                <a:cs typeface="Carlito"/>
              </a:rPr>
              <a:t>or on  </a:t>
            </a:r>
            <a:r>
              <a:rPr sz="3200" spc="-30" dirty="0">
                <a:latin typeface="Carlito"/>
                <a:cs typeface="Carlito"/>
              </a:rPr>
              <a:t>diskette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5" dirty="0">
                <a:latin typeface="Carlito"/>
                <a:cs typeface="Carlito"/>
              </a:rPr>
              <a:t>CD-ROM; </a:t>
            </a:r>
            <a:r>
              <a:rPr sz="3200" dirty="0">
                <a:latin typeface="Carlito"/>
                <a:cs typeface="Carlito"/>
              </a:rPr>
              <a:t>it is </a:t>
            </a:r>
            <a:r>
              <a:rPr sz="3200" spc="-5" dirty="0">
                <a:latin typeface="Carlito"/>
                <a:cs typeface="Carlito"/>
              </a:rPr>
              <a:t>sometimes </a:t>
            </a:r>
            <a:r>
              <a:rPr sz="3200" dirty="0">
                <a:latin typeface="Carlito"/>
                <a:cs typeface="Carlito"/>
              </a:rPr>
              <a:t>also </a:t>
            </a:r>
            <a:r>
              <a:rPr sz="3200" spc="-10" dirty="0">
                <a:latin typeface="Carlito"/>
                <a:cs typeface="Carlito"/>
              </a:rPr>
              <a:t>available  </a:t>
            </a:r>
            <a:r>
              <a:rPr sz="3200" spc="-5" dirty="0">
                <a:latin typeface="Carlito"/>
                <a:cs typeface="Carlito"/>
              </a:rPr>
              <a:t>on-line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spc="-5" dirty="0">
                <a:latin typeface="Carlito"/>
                <a:cs typeface="Carlito"/>
              </a:rPr>
              <a:t>the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35" dirty="0">
                <a:latin typeface="Carlito"/>
                <a:cs typeface="Carlito"/>
              </a:rPr>
              <a:t>manufacturer.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On-line Help </a:t>
            </a:r>
            <a:r>
              <a:rPr sz="3200" dirty="0">
                <a:latin typeface="Carlito"/>
                <a:cs typeface="Carlito"/>
              </a:rPr>
              <a:t>Menu and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Screen:</a:t>
            </a:r>
            <a:endParaRPr sz="3200">
              <a:latin typeface="Carlito"/>
              <a:cs typeface="Carlito"/>
            </a:endParaRPr>
          </a:p>
          <a:p>
            <a:pPr marL="12700" marR="30480" indent="91440">
              <a:lnSpc>
                <a:spcPct val="90000"/>
              </a:lnSpc>
              <a:spcBef>
                <a:spcPts val="770"/>
              </a:spcBef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Help </a:t>
            </a:r>
            <a:r>
              <a:rPr sz="3200" dirty="0">
                <a:latin typeface="Carlito"/>
                <a:cs typeface="Carlito"/>
              </a:rPr>
              <a:t>menu </a:t>
            </a:r>
            <a:r>
              <a:rPr sz="3200" spc="-35" dirty="0">
                <a:latin typeface="Carlito"/>
                <a:cs typeface="Carlito"/>
              </a:rPr>
              <a:t>offers </a:t>
            </a:r>
            <a:r>
              <a:rPr sz="3200" dirty="0">
                <a:latin typeface="Carlito"/>
                <a:cs typeface="Carlito"/>
              </a:rPr>
              <a:t>a choice </a:t>
            </a:r>
            <a:r>
              <a:rPr sz="3200" spc="-5" dirty="0">
                <a:latin typeface="Carlito"/>
                <a:cs typeface="Carlito"/>
              </a:rPr>
              <a:t>of help </a:t>
            </a:r>
            <a:r>
              <a:rPr sz="3200" spc="-10" dirty="0">
                <a:latin typeface="Carlito"/>
                <a:cs typeface="Carlito"/>
              </a:rPr>
              <a:t>screens </a:t>
            </a:r>
            <a:r>
              <a:rPr sz="3200" dirty="0">
                <a:latin typeface="Carlito"/>
                <a:cs typeface="Carlito"/>
              </a:rPr>
              <a:t>–  </a:t>
            </a:r>
            <a:r>
              <a:rPr sz="3200" spc="-5" dirty="0">
                <a:latin typeface="Carlito"/>
                <a:cs typeface="Carlito"/>
              </a:rPr>
              <a:t>specific </a:t>
            </a:r>
            <a:r>
              <a:rPr sz="3200" spc="-15" dirty="0">
                <a:latin typeface="Carlito"/>
                <a:cs typeface="Carlito"/>
              </a:rPr>
              <a:t>display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explanations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how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perform  </a:t>
            </a:r>
            <a:r>
              <a:rPr sz="3200" spc="-5" dirty="0">
                <a:latin typeface="Carlito"/>
                <a:cs typeface="Carlito"/>
              </a:rPr>
              <a:t>various </a:t>
            </a:r>
            <a:r>
              <a:rPr sz="3200" spc="-15" dirty="0">
                <a:latin typeface="Carlito"/>
                <a:cs typeface="Carlito"/>
              </a:rPr>
              <a:t>tasks,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15" dirty="0">
                <a:latin typeface="Carlito"/>
                <a:cs typeface="Carlito"/>
              </a:rPr>
              <a:t>setting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page </a:t>
            </a:r>
            <a:r>
              <a:rPr sz="3200" spc="-5" dirty="0">
                <a:latin typeface="Carlito"/>
                <a:cs typeface="Carlito"/>
              </a:rPr>
              <a:t>lay-out of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10" dirty="0">
                <a:latin typeface="Carlito"/>
                <a:cs typeface="Carlito"/>
              </a:rPr>
              <a:t>document, </a:t>
            </a:r>
            <a:r>
              <a:rPr sz="3200" dirty="0">
                <a:latin typeface="Carlito"/>
                <a:cs typeface="Carlito"/>
              </a:rPr>
              <a:t>embedding </a:t>
            </a:r>
            <a:r>
              <a:rPr sz="3200" spc="-10" dirty="0">
                <a:latin typeface="Carlito"/>
                <a:cs typeface="Carlito"/>
              </a:rPr>
              <a:t>picture </a:t>
            </a:r>
            <a:r>
              <a:rPr sz="3200" spc="-5" dirty="0">
                <a:latin typeface="Carlito"/>
                <a:cs typeface="Carlito"/>
              </a:rPr>
              <a:t>objects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many  </a:t>
            </a:r>
            <a:r>
              <a:rPr sz="3200" spc="-10" dirty="0">
                <a:latin typeface="Carlito"/>
                <a:cs typeface="Carlito"/>
              </a:rPr>
              <a:t>more.</a:t>
            </a:r>
            <a:endParaRPr sz="3200">
              <a:latin typeface="Carlito"/>
              <a:cs typeface="Carlito"/>
            </a:endParaRPr>
          </a:p>
          <a:p>
            <a:pPr marL="12700" marR="384810">
              <a:lnSpc>
                <a:spcPts val="3460"/>
              </a:lnSpc>
              <a:spcBef>
                <a:spcPts val="815"/>
              </a:spcBef>
            </a:pPr>
            <a:r>
              <a:rPr sz="3200" spc="-5" dirty="0">
                <a:latin typeface="Carlito"/>
                <a:cs typeface="Carlito"/>
              </a:rPr>
              <a:t>On-line help </a:t>
            </a:r>
            <a:r>
              <a:rPr sz="3200" spc="-10" dirty="0">
                <a:latin typeface="Carlito"/>
                <a:cs typeface="Carlito"/>
              </a:rPr>
              <a:t>screens mostly can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5" dirty="0">
                <a:latin typeface="Carlito"/>
                <a:cs typeface="Carlito"/>
              </a:rPr>
              <a:t>displayed </a:t>
            </a:r>
            <a:r>
              <a:rPr sz="3200" spc="-10" dirty="0">
                <a:latin typeface="Carlito"/>
                <a:cs typeface="Carlito"/>
              </a:rPr>
              <a:t>by  </a:t>
            </a:r>
            <a:r>
              <a:rPr sz="3200" spc="-5" dirty="0">
                <a:latin typeface="Carlito"/>
                <a:cs typeface="Carlito"/>
              </a:rPr>
              <a:t>opening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Help </a:t>
            </a:r>
            <a:r>
              <a:rPr sz="3200" dirty="0">
                <a:latin typeface="Carlito"/>
                <a:cs typeface="Carlito"/>
              </a:rPr>
              <a:t>menu on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dirty="0">
                <a:latin typeface="Carlito"/>
                <a:cs typeface="Carlito"/>
              </a:rPr>
              <a:t>menu </a:t>
            </a:r>
            <a:r>
              <a:rPr sz="3200" spc="-5" dirty="0">
                <a:latin typeface="Carlito"/>
                <a:cs typeface="Carlito"/>
              </a:rPr>
              <a:t>bar or  clicking on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F1 function </a:t>
            </a:r>
            <a:r>
              <a:rPr sz="3200" spc="-45" dirty="0">
                <a:latin typeface="Carlito"/>
                <a:cs typeface="Carlito"/>
              </a:rPr>
              <a:t>key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8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keyboard.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8739" y="600557"/>
            <a:ext cx="8940165" cy="265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spc="-5" dirty="0">
                <a:latin typeface="Carlito"/>
                <a:cs typeface="Carlito"/>
              </a:rPr>
              <a:t>Help </a:t>
            </a:r>
            <a:r>
              <a:rPr sz="3200" spc="-10" dirty="0">
                <a:latin typeface="Carlito"/>
                <a:cs typeface="Carlito"/>
              </a:rPr>
              <a:t>screens serve </a:t>
            </a:r>
            <a:r>
              <a:rPr sz="3200" spc="-35" dirty="0">
                <a:latin typeface="Carlito"/>
                <a:cs typeface="Carlito"/>
              </a:rPr>
              <a:t>like </a:t>
            </a:r>
            <a:r>
              <a:rPr sz="3200" spc="-5" dirty="0">
                <a:latin typeface="Carlito"/>
                <a:cs typeface="Carlito"/>
              </a:rPr>
              <a:t>electronic </a:t>
            </a:r>
            <a:r>
              <a:rPr sz="3200" spc="-25" dirty="0">
                <a:latin typeface="Carlito"/>
                <a:cs typeface="Carlito"/>
              </a:rPr>
              <a:t>reference </a:t>
            </a:r>
            <a:r>
              <a:rPr sz="3200" dirty="0">
                <a:latin typeface="Carlito"/>
                <a:cs typeface="Carlito"/>
              </a:rPr>
              <a:t>manual.  </a:t>
            </a:r>
            <a:r>
              <a:rPr sz="3200" spc="-5" dirty="0">
                <a:latin typeface="Carlito"/>
                <a:cs typeface="Carlito"/>
              </a:rPr>
              <a:t>Sometimes, on-line help </a:t>
            </a:r>
            <a:r>
              <a:rPr sz="3200" spc="-20" dirty="0">
                <a:latin typeface="Carlito"/>
                <a:cs typeface="Carlito"/>
              </a:rPr>
              <a:t>may </a:t>
            </a:r>
            <a:r>
              <a:rPr sz="3200" dirty="0">
                <a:latin typeface="Carlito"/>
                <a:cs typeface="Carlito"/>
              </a:rPr>
              <a:t>also </a:t>
            </a:r>
            <a:r>
              <a:rPr sz="3200" spc="-10" dirty="0">
                <a:latin typeface="Carlito"/>
                <a:cs typeface="Carlito"/>
              </a:rPr>
              <a:t>come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25" dirty="0">
                <a:latin typeface="Carlito"/>
                <a:cs typeface="Carlito"/>
              </a:rPr>
              <a:t>form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endParaRPr sz="3200">
              <a:latin typeface="Carlito"/>
              <a:cs typeface="Carlito"/>
            </a:endParaRPr>
          </a:p>
          <a:p>
            <a:pPr marL="12700" marR="65151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20" dirty="0">
                <a:latin typeface="Carlito"/>
                <a:cs typeface="Carlito"/>
              </a:rPr>
              <a:t>wizard </a:t>
            </a:r>
            <a:r>
              <a:rPr sz="3200" dirty="0">
                <a:latin typeface="Carlito"/>
                <a:cs typeface="Carlito"/>
              </a:rPr>
              <a:t>– </a:t>
            </a:r>
            <a:r>
              <a:rPr sz="3200" spc="-5" dirty="0">
                <a:latin typeface="Carlito"/>
                <a:cs typeface="Carlito"/>
              </a:rPr>
              <a:t>in-built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15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leads the </a:t>
            </a:r>
            <a:r>
              <a:rPr sz="3200" spc="-5" dirty="0">
                <a:latin typeface="Carlito"/>
                <a:cs typeface="Carlito"/>
              </a:rPr>
              <a:t>user  </a:t>
            </a:r>
            <a:r>
              <a:rPr sz="3200" spc="-10" dirty="0">
                <a:latin typeface="Carlito"/>
                <a:cs typeface="Carlito"/>
              </a:rPr>
              <a:t>through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series of </a:t>
            </a:r>
            <a:r>
              <a:rPr sz="3200" spc="-10" dirty="0">
                <a:latin typeface="Carlito"/>
                <a:cs typeface="Carlito"/>
              </a:rPr>
              <a:t>questions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determine </a:t>
            </a:r>
            <a:r>
              <a:rPr sz="3200" spc="-15" dirty="0">
                <a:latin typeface="Carlito"/>
                <a:cs typeface="Carlito"/>
              </a:rPr>
              <a:t>exactly  </a:t>
            </a:r>
            <a:r>
              <a:rPr sz="3200" spc="-5" dirty="0">
                <a:latin typeface="Carlito"/>
                <a:cs typeface="Carlito"/>
              </a:rPr>
              <a:t>what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user‘s problem really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is.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38E491-F316-4CE0-9EDB-6C9DA9008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057400"/>
            <a:ext cx="5791199" cy="400740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4D4F1C7-BE22-479B-AFD2-5CDFA725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Help Menu</a:t>
            </a:r>
          </a:p>
        </p:txBody>
      </p:sp>
    </p:spTree>
    <p:extLst>
      <p:ext uri="{BB962C8B-B14F-4D97-AF65-F5344CB8AC3E}">
        <p14:creationId xmlns:p14="http://schemas.microsoft.com/office/powerpoint/2010/main" val="31488019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3285" y="279653"/>
            <a:ext cx="61245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Word </a:t>
            </a:r>
            <a:r>
              <a:rPr spc="-10" dirty="0"/>
              <a:t>Processing</a:t>
            </a:r>
            <a:r>
              <a:rPr dirty="0"/>
              <a:t> </a:t>
            </a:r>
            <a:r>
              <a:rPr spc="-15" dirty="0"/>
              <a:t>Software: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793355" cy="412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4490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traditional </a:t>
            </a:r>
            <a:r>
              <a:rPr sz="3200" dirty="0">
                <a:latin typeface="Carlito"/>
                <a:cs typeface="Carlito"/>
              </a:rPr>
              <a:t>machine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dirty="0">
                <a:latin typeface="Carlito"/>
                <a:cs typeface="Carlito"/>
              </a:rPr>
              <a:t>typing </a:t>
            </a:r>
            <a:r>
              <a:rPr sz="3200" spc="-5" dirty="0">
                <a:latin typeface="Carlito"/>
                <a:cs typeface="Carlito"/>
              </a:rPr>
              <a:t>out  documents </a:t>
            </a:r>
            <a:r>
              <a:rPr sz="3200" spc="-10" dirty="0">
                <a:latin typeface="Carlito"/>
                <a:cs typeface="Carlito"/>
              </a:rPr>
              <a:t>was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35" dirty="0">
                <a:latin typeface="Carlito"/>
                <a:cs typeface="Carlito"/>
              </a:rPr>
              <a:t>typewriter.</a:t>
            </a:r>
            <a:endParaRPr sz="3200">
              <a:latin typeface="Carlito"/>
              <a:cs typeface="Carlito"/>
            </a:endParaRPr>
          </a:p>
          <a:p>
            <a:pPr marL="355600" marR="22034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5" dirty="0">
                <a:latin typeface="Carlito"/>
                <a:cs typeface="Carlito"/>
              </a:rPr>
              <a:t>However, </a:t>
            </a:r>
            <a:r>
              <a:rPr sz="3200" dirty="0">
                <a:latin typeface="Carlito"/>
                <a:cs typeface="Carlito"/>
              </a:rPr>
              <a:t>the machine has long </a:t>
            </a:r>
            <a:r>
              <a:rPr sz="3200" spc="-15" dirty="0">
                <a:latin typeface="Carlito"/>
                <a:cs typeface="Carlito"/>
              </a:rPr>
              <a:t>out-lived </a:t>
            </a:r>
            <a:r>
              <a:rPr sz="3200" dirty="0">
                <a:latin typeface="Carlito"/>
                <a:cs typeface="Carlito"/>
              </a:rPr>
              <a:t>its  </a:t>
            </a:r>
            <a:r>
              <a:rPr sz="3200" spc="-10" dirty="0">
                <a:latin typeface="Carlito"/>
                <a:cs typeface="Carlito"/>
              </a:rPr>
              <a:t>usefulness.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5" dirty="0">
                <a:latin typeface="Carlito"/>
                <a:cs typeface="Carlito"/>
              </a:rPr>
              <a:t>Word </a:t>
            </a:r>
            <a:r>
              <a:rPr sz="3200" spc="-10" dirty="0">
                <a:latin typeface="Carlito"/>
                <a:cs typeface="Carlito"/>
              </a:rPr>
              <a:t>processing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dirty="0">
                <a:latin typeface="Carlito"/>
                <a:cs typeface="Carlito"/>
              </a:rPr>
              <a:t>also </a:t>
            </a:r>
            <a:r>
              <a:rPr sz="3200" spc="-10" dirty="0">
                <a:latin typeface="Carlito"/>
                <a:cs typeface="Carlito"/>
              </a:rPr>
              <a:t>come </a:t>
            </a:r>
            <a:r>
              <a:rPr sz="3200" dirty="0">
                <a:latin typeface="Carlito"/>
                <a:cs typeface="Carlito"/>
              </a:rPr>
              <a:t>with  </a:t>
            </a:r>
            <a:r>
              <a:rPr sz="3200" spc="-15" dirty="0">
                <a:latin typeface="Carlito"/>
                <a:cs typeface="Carlito"/>
              </a:rPr>
              <a:t>several </a:t>
            </a:r>
            <a:r>
              <a:rPr sz="3200" spc="-20" dirty="0">
                <a:latin typeface="Carlito"/>
                <a:cs typeface="Carlito"/>
              </a:rPr>
              <a:t>features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20" dirty="0">
                <a:latin typeface="Carlito"/>
                <a:cs typeface="Carlito"/>
              </a:rPr>
              <a:t>“dressing </a:t>
            </a:r>
            <a:r>
              <a:rPr sz="3200" spc="-5" dirty="0">
                <a:latin typeface="Carlito"/>
                <a:cs typeface="Carlito"/>
              </a:rPr>
              <a:t>up” documents  </a:t>
            </a:r>
            <a:r>
              <a:rPr sz="3200" dirty="0">
                <a:latin typeface="Carlito"/>
                <a:cs typeface="Carlito"/>
              </a:rPr>
              <a:t>with </a:t>
            </a:r>
            <a:r>
              <a:rPr sz="3200" spc="-5" dirty="0">
                <a:latin typeface="Carlito"/>
                <a:cs typeface="Carlito"/>
              </a:rPr>
              <a:t>variable margins, </a:t>
            </a:r>
            <a:r>
              <a:rPr sz="3200" spc="-25" dirty="0">
                <a:latin typeface="Carlito"/>
                <a:cs typeface="Carlito"/>
              </a:rPr>
              <a:t>font </a:t>
            </a:r>
            <a:r>
              <a:rPr sz="3200" dirty="0">
                <a:latin typeface="Carlito"/>
                <a:cs typeface="Carlito"/>
              </a:rPr>
              <a:t>types and </a:t>
            </a:r>
            <a:r>
              <a:rPr sz="3200" spc="-15" dirty="0">
                <a:latin typeface="Carlito"/>
                <a:cs typeface="Carlito"/>
              </a:rPr>
              <a:t>sizes, 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styles.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484124"/>
            <a:ext cx="8045450" cy="4611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779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All </a:t>
            </a:r>
            <a:r>
              <a:rPr sz="3200" dirty="0">
                <a:latin typeface="Carlito"/>
                <a:cs typeface="Carlito"/>
              </a:rPr>
              <a:t>these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be done by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user on </a:t>
            </a:r>
            <a:r>
              <a:rPr sz="3200" spc="-10" dirty="0">
                <a:latin typeface="Carlito"/>
                <a:cs typeface="Carlito"/>
              </a:rPr>
              <a:t>screen </a:t>
            </a:r>
            <a:r>
              <a:rPr sz="3200" dirty="0">
                <a:latin typeface="Carlito"/>
                <a:cs typeface="Carlito"/>
              </a:rPr>
              <a:t>in  </a:t>
            </a:r>
            <a:r>
              <a:rPr sz="3200" spc="10" dirty="0">
                <a:latin typeface="Carlito"/>
                <a:cs typeface="Carlito"/>
              </a:rPr>
              <a:t>“wysiwyg”– </a:t>
            </a:r>
            <a:r>
              <a:rPr sz="3200" spc="-5" dirty="0">
                <a:latin typeface="Carlito"/>
                <a:cs typeface="Carlito"/>
              </a:rPr>
              <a:t>what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see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what </a:t>
            </a:r>
            <a:r>
              <a:rPr sz="3200" spc="-15" dirty="0">
                <a:latin typeface="Carlito"/>
                <a:cs typeface="Carlito"/>
              </a:rPr>
              <a:t>you get </a:t>
            </a:r>
            <a:r>
              <a:rPr sz="3200" dirty="0">
                <a:latin typeface="Carlito"/>
                <a:cs typeface="Carlito"/>
              </a:rPr>
              <a:t>–  </a:t>
            </a:r>
            <a:r>
              <a:rPr sz="3200" spc="-10" dirty="0">
                <a:latin typeface="Carlito"/>
                <a:cs typeface="Carlito"/>
              </a:rPr>
              <a:t>fashion, </a:t>
            </a:r>
            <a:r>
              <a:rPr sz="3200" dirty="0">
                <a:latin typeface="Carlito"/>
                <a:cs typeface="Carlito"/>
              </a:rPr>
              <a:t>meaning the </a:t>
            </a:r>
            <a:r>
              <a:rPr sz="3200" spc="-5" dirty="0">
                <a:latin typeface="Carlito"/>
                <a:cs typeface="Carlito"/>
              </a:rPr>
              <a:t>screen </a:t>
            </a:r>
            <a:r>
              <a:rPr sz="3200" spc="-15" dirty="0">
                <a:latin typeface="Carlito"/>
                <a:cs typeface="Carlito"/>
              </a:rPr>
              <a:t>displays  </a:t>
            </a:r>
            <a:r>
              <a:rPr sz="3200" spc="-5" dirty="0">
                <a:latin typeface="Carlito"/>
                <a:cs typeface="Carlito"/>
              </a:rPr>
              <a:t>documents </a:t>
            </a:r>
            <a:r>
              <a:rPr sz="3200" spc="-15" dirty="0">
                <a:latin typeface="Carlito"/>
                <a:cs typeface="Carlito"/>
              </a:rPr>
              <a:t>exactly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it </a:t>
            </a:r>
            <a:r>
              <a:rPr sz="3200" dirty="0">
                <a:latin typeface="Carlito"/>
                <a:cs typeface="Carlito"/>
              </a:rPr>
              <a:t>will look when  </a:t>
            </a:r>
            <a:r>
              <a:rPr sz="3200" spc="-10" dirty="0">
                <a:latin typeface="Carlito"/>
                <a:cs typeface="Carlito"/>
              </a:rPr>
              <a:t>printed.</a:t>
            </a:r>
            <a:endParaRPr sz="3200">
              <a:latin typeface="Carlito"/>
              <a:cs typeface="Carlito"/>
            </a:endParaRPr>
          </a:p>
          <a:p>
            <a:pPr marL="355600" marR="68135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5" dirty="0">
                <a:latin typeface="Carlito"/>
                <a:cs typeface="Carlito"/>
              </a:rPr>
              <a:t>Word </a:t>
            </a:r>
            <a:r>
              <a:rPr sz="3200" spc="-10" dirty="0">
                <a:latin typeface="Carlito"/>
                <a:cs typeface="Carlito"/>
              </a:rPr>
              <a:t>processing </a:t>
            </a:r>
            <a:r>
              <a:rPr sz="3200" spc="-35" dirty="0">
                <a:latin typeface="Carlito"/>
                <a:cs typeface="Carlito"/>
              </a:rPr>
              <a:t>offers </a:t>
            </a:r>
            <a:r>
              <a:rPr sz="3200" dirty="0">
                <a:latin typeface="Carlito"/>
                <a:cs typeface="Carlito"/>
              </a:rPr>
              <a:t>additional </a:t>
            </a:r>
            <a:r>
              <a:rPr sz="3200" spc="-20" dirty="0">
                <a:latin typeface="Carlito"/>
                <a:cs typeface="Carlito"/>
              </a:rPr>
              <a:t>features 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spelling </a:t>
            </a:r>
            <a:r>
              <a:rPr sz="3200" spc="-20" dirty="0">
                <a:latin typeface="Carlito"/>
                <a:cs typeface="Carlito"/>
              </a:rPr>
              <a:t>checkers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thesaurus.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Among </a:t>
            </a:r>
            <a:r>
              <a:rPr sz="3200" spc="-5" dirty="0">
                <a:latin typeface="Carlito"/>
                <a:cs typeface="Carlito"/>
              </a:rPr>
              <a:t>popular </a:t>
            </a:r>
            <a:r>
              <a:rPr sz="3200" spc="-20" dirty="0">
                <a:latin typeface="Carlito"/>
                <a:cs typeface="Carlito"/>
              </a:rPr>
              <a:t>word </a:t>
            </a:r>
            <a:r>
              <a:rPr sz="3200" spc="-15" dirty="0">
                <a:latin typeface="Carlito"/>
                <a:cs typeface="Carlito"/>
              </a:rPr>
              <a:t>processors </a:t>
            </a:r>
            <a:r>
              <a:rPr sz="3200" spc="-10" dirty="0">
                <a:latin typeface="Carlito"/>
                <a:cs typeface="Carlito"/>
              </a:rPr>
              <a:t>are Microsoft  </a:t>
            </a:r>
            <a:r>
              <a:rPr sz="3200" spc="-35" dirty="0">
                <a:latin typeface="Carlito"/>
                <a:cs typeface="Carlito"/>
              </a:rPr>
              <a:t>Word, </a:t>
            </a:r>
            <a:r>
              <a:rPr sz="3200" spc="-5" dirty="0">
                <a:latin typeface="Carlito"/>
                <a:cs typeface="Carlito"/>
              </a:rPr>
              <a:t>Lotus </a:t>
            </a:r>
            <a:r>
              <a:rPr sz="3200" spc="-45" dirty="0">
                <a:latin typeface="Carlito"/>
                <a:cs typeface="Carlito"/>
              </a:rPr>
              <a:t>Word </a:t>
            </a:r>
            <a:r>
              <a:rPr sz="3200" spc="-30" dirty="0">
                <a:latin typeface="Carlito"/>
                <a:cs typeface="Carlito"/>
              </a:rPr>
              <a:t>Pro,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110" dirty="0">
                <a:latin typeface="Carlito"/>
                <a:cs typeface="Carlito"/>
              </a:rPr>
              <a:t> </a:t>
            </a:r>
            <a:r>
              <a:rPr sz="3200" spc="-30" dirty="0">
                <a:latin typeface="Carlito"/>
                <a:cs typeface="Carlito"/>
              </a:rPr>
              <a:t>WordPerfect.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1F88ED-770B-4558-A38C-CC1F31DB0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52412"/>
            <a:ext cx="8839200" cy="63531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6632" y="279653"/>
            <a:ext cx="5170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Spreadsheet</a:t>
            </a:r>
            <a:r>
              <a:rPr spc="-55" dirty="0"/>
              <a:t> </a:t>
            </a:r>
            <a:r>
              <a:rPr spc="-15" dirty="0"/>
              <a:t>Software: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471"/>
            <a:ext cx="7719059" cy="432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3204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35" dirty="0">
                <a:latin typeface="Carlito"/>
                <a:cs typeface="Carlito"/>
              </a:rPr>
              <a:t>Traditionally,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spreadsheet was </a:t>
            </a:r>
            <a:r>
              <a:rPr sz="3000" dirty="0">
                <a:latin typeface="Carlito"/>
                <a:cs typeface="Carlito"/>
              </a:rPr>
              <a:t>a grid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20" dirty="0">
                <a:latin typeface="Carlito"/>
                <a:cs typeface="Carlito"/>
              </a:rPr>
              <a:t>rows 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columns, </a:t>
            </a:r>
            <a:r>
              <a:rPr sz="3000" spc="-15" dirty="0">
                <a:latin typeface="Carlito"/>
                <a:cs typeface="Carlito"/>
              </a:rPr>
              <a:t>printed </a:t>
            </a:r>
            <a:r>
              <a:rPr sz="3000" spc="-5" dirty="0">
                <a:latin typeface="Carlito"/>
                <a:cs typeface="Carlito"/>
              </a:rPr>
              <a:t>on special </a:t>
            </a:r>
            <a:r>
              <a:rPr sz="3000" spc="-10" dirty="0">
                <a:latin typeface="Carlito"/>
                <a:cs typeface="Carlito"/>
              </a:rPr>
              <a:t>green </a:t>
            </a:r>
            <a:r>
              <a:rPr sz="3000" spc="-50" dirty="0">
                <a:latin typeface="Carlito"/>
                <a:cs typeface="Carlito"/>
              </a:rPr>
              <a:t>paper,  </a:t>
            </a:r>
            <a:r>
              <a:rPr sz="3000" dirty="0">
                <a:latin typeface="Carlito"/>
                <a:cs typeface="Carlito"/>
              </a:rPr>
              <a:t>which </a:t>
            </a:r>
            <a:r>
              <a:rPr sz="3000" spc="-15" dirty="0">
                <a:latin typeface="Carlito"/>
                <a:cs typeface="Carlito"/>
              </a:rPr>
              <a:t>was </a:t>
            </a:r>
            <a:r>
              <a:rPr sz="3000" spc="-5" dirty="0">
                <a:latin typeface="Carlito"/>
                <a:cs typeface="Carlito"/>
              </a:rPr>
              <a:t>used </a:t>
            </a:r>
            <a:r>
              <a:rPr sz="3000" spc="-10" dirty="0">
                <a:latin typeface="Carlito"/>
                <a:cs typeface="Carlito"/>
              </a:rPr>
              <a:t>by accountants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others </a:t>
            </a:r>
            <a:r>
              <a:rPr sz="3000" spc="-15" dirty="0">
                <a:latin typeface="Carlito"/>
                <a:cs typeface="Carlito"/>
              </a:rPr>
              <a:t>to  </a:t>
            </a:r>
            <a:r>
              <a:rPr sz="3000" spc="-10" dirty="0">
                <a:latin typeface="Carlito"/>
                <a:cs typeface="Carlito"/>
              </a:rPr>
              <a:t>produce </a:t>
            </a:r>
            <a:r>
              <a:rPr sz="3000" spc="-5" dirty="0">
                <a:latin typeface="Carlito"/>
                <a:cs typeface="Carlito"/>
              </a:rPr>
              <a:t>financial </a:t>
            </a:r>
            <a:r>
              <a:rPr sz="3000" spc="-10" dirty="0">
                <a:latin typeface="Carlito"/>
                <a:cs typeface="Carlito"/>
              </a:rPr>
              <a:t>projections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-5" dirty="0">
                <a:latin typeface="Carlito"/>
                <a:cs typeface="Carlito"/>
              </a:rPr>
              <a:t> reports.</a:t>
            </a:r>
            <a:endParaRPr sz="3000">
              <a:latin typeface="Carlito"/>
              <a:cs typeface="Carlito"/>
            </a:endParaRPr>
          </a:p>
          <a:p>
            <a:pPr marL="355600" marR="18605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Accounting </a:t>
            </a:r>
            <a:r>
              <a:rPr sz="3000" spc="-10" dirty="0">
                <a:latin typeface="Carlito"/>
                <a:cs typeface="Carlito"/>
              </a:rPr>
              <a:t>personnel </a:t>
            </a:r>
            <a:r>
              <a:rPr sz="3000" spc="-5" dirty="0">
                <a:latin typeface="Carlito"/>
                <a:cs typeface="Carlito"/>
              </a:rPr>
              <a:t>using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spreadsheet  often </a:t>
            </a:r>
            <a:r>
              <a:rPr sz="3000" spc="-5" dirty="0">
                <a:latin typeface="Carlito"/>
                <a:cs typeface="Carlito"/>
              </a:rPr>
              <a:t>spend </a:t>
            </a:r>
            <a:r>
              <a:rPr sz="3000" dirty="0">
                <a:latin typeface="Carlito"/>
                <a:cs typeface="Carlito"/>
              </a:rPr>
              <a:t>long </a:t>
            </a:r>
            <a:r>
              <a:rPr sz="3000" spc="-15" dirty="0">
                <a:latin typeface="Carlito"/>
                <a:cs typeface="Carlito"/>
              </a:rPr>
              <a:t>hours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25" dirty="0">
                <a:latin typeface="Carlito"/>
                <a:cs typeface="Carlito"/>
              </a:rPr>
              <a:t>days </a:t>
            </a:r>
            <a:r>
              <a:rPr sz="3000" spc="-5" dirty="0">
                <a:latin typeface="Carlito"/>
                <a:cs typeface="Carlito"/>
              </a:rPr>
              <a:t>penciling </a:t>
            </a:r>
            <a:r>
              <a:rPr sz="3000" spc="-20" dirty="0">
                <a:latin typeface="Carlito"/>
                <a:cs typeface="Carlito"/>
              </a:rPr>
              <a:t>tiny  </a:t>
            </a:r>
            <a:r>
              <a:rPr sz="3000" spc="-15" dirty="0">
                <a:latin typeface="Carlito"/>
                <a:cs typeface="Carlito"/>
              </a:rPr>
              <a:t>numbers into </a:t>
            </a:r>
            <a:r>
              <a:rPr sz="3000" spc="-10" dirty="0">
                <a:latin typeface="Carlito"/>
                <a:cs typeface="Carlito"/>
              </a:rPr>
              <a:t>countless </a:t>
            </a:r>
            <a:r>
              <a:rPr sz="3000" spc="-15" dirty="0">
                <a:latin typeface="Carlito"/>
                <a:cs typeface="Carlito"/>
              </a:rPr>
              <a:t>tiny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rectangles.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When one </a:t>
            </a:r>
            <a:r>
              <a:rPr sz="3000" spc="-10" dirty="0">
                <a:latin typeface="Carlito"/>
                <a:cs typeface="Carlito"/>
              </a:rPr>
              <a:t>figure </a:t>
            </a:r>
            <a:r>
              <a:rPr sz="3000" spc="-5" dirty="0">
                <a:latin typeface="Carlito"/>
                <a:cs typeface="Carlito"/>
              </a:rPr>
              <a:t>changed, </a:t>
            </a:r>
            <a:r>
              <a:rPr sz="3000" dirty="0">
                <a:latin typeface="Carlito"/>
                <a:cs typeface="Carlito"/>
              </a:rPr>
              <a:t>all the </a:t>
            </a:r>
            <a:r>
              <a:rPr sz="3000" spc="-10" dirty="0">
                <a:latin typeface="Carlito"/>
                <a:cs typeface="Carlito"/>
              </a:rPr>
              <a:t>computations 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sheet </a:t>
            </a:r>
            <a:r>
              <a:rPr sz="3000" spc="-5" dirty="0">
                <a:latin typeface="Carlito"/>
                <a:cs typeface="Carlito"/>
              </a:rPr>
              <a:t>had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be done </a:t>
            </a:r>
            <a:r>
              <a:rPr sz="3000" dirty="0">
                <a:latin typeface="Carlito"/>
                <a:cs typeface="Carlito"/>
              </a:rPr>
              <a:t>all </a:t>
            </a:r>
            <a:r>
              <a:rPr sz="3000" spc="-10" dirty="0">
                <a:latin typeface="Carlito"/>
                <a:cs typeface="Carlito"/>
              </a:rPr>
              <a:t>over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again.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76DEC-7120-4619-9902-C3085019B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43780"/>
            <a:ext cx="8839200" cy="6370439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83540" y="917194"/>
            <a:ext cx="8368665" cy="478155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102235" indent="-342900">
              <a:lnSpc>
                <a:spcPct val="80000"/>
              </a:lnSpc>
              <a:spcBef>
                <a:spcPts val="8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An </a:t>
            </a:r>
            <a:r>
              <a:rPr sz="3000" spc="-10" dirty="0">
                <a:latin typeface="Carlito"/>
                <a:cs typeface="Carlito"/>
              </a:rPr>
              <a:t>electronic spreadsheet allows </a:t>
            </a:r>
            <a:r>
              <a:rPr sz="3000" spc="-15" dirty="0">
                <a:latin typeface="Carlito"/>
                <a:cs typeface="Carlito"/>
              </a:rPr>
              <a:t>users to </a:t>
            </a:r>
            <a:r>
              <a:rPr sz="3000" spc="-20" dirty="0">
                <a:latin typeface="Carlito"/>
                <a:cs typeface="Carlito"/>
              </a:rPr>
              <a:t>create  </a:t>
            </a:r>
            <a:r>
              <a:rPr sz="3000" spc="-10" dirty="0">
                <a:latin typeface="Carlito"/>
                <a:cs typeface="Carlito"/>
              </a:rPr>
              <a:t>tables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financial schedules </a:t>
            </a:r>
            <a:r>
              <a:rPr sz="3000" spc="-10" dirty="0">
                <a:latin typeface="Carlito"/>
                <a:cs typeface="Carlito"/>
              </a:rPr>
              <a:t>by </a:t>
            </a:r>
            <a:r>
              <a:rPr sz="3000" spc="-15" dirty="0">
                <a:latin typeface="Carlito"/>
                <a:cs typeface="Carlito"/>
              </a:rPr>
              <a:t>entering </a:t>
            </a:r>
            <a:r>
              <a:rPr sz="3000" spc="-20" dirty="0">
                <a:latin typeface="Carlito"/>
                <a:cs typeface="Carlito"/>
              </a:rPr>
              <a:t>data </a:t>
            </a:r>
            <a:r>
              <a:rPr sz="3000" spc="-15" dirty="0">
                <a:latin typeface="Carlito"/>
                <a:cs typeface="Carlito"/>
              </a:rPr>
              <a:t>into  </a:t>
            </a:r>
            <a:r>
              <a:rPr sz="3000" spc="-20" dirty="0">
                <a:latin typeface="Carlito"/>
                <a:cs typeface="Carlito"/>
              </a:rPr>
              <a:t>rows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columns </a:t>
            </a:r>
            <a:r>
              <a:rPr sz="3000" spc="-15" dirty="0">
                <a:latin typeface="Carlito"/>
                <a:cs typeface="Carlito"/>
              </a:rPr>
              <a:t>arranged </a:t>
            </a:r>
            <a:r>
              <a:rPr sz="3000" dirty="0">
                <a:latin typeface="Carlito"/>
                <a:cs typeface="Carlito"/>
              </a:rPr>
              <a:t>as a </a:t>
            </a:r>
            <a:r>
              <a:rPr sz="3000" spc="-5" dirty="0">
                <a:latin typeface="Carlito"/>
                <a:cs typeface="Carlito"/>
              </a:rPr>
              <a:t>grid on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display  </a:t>
            </a:r>
            <a:r>
              <a:rPr sz="3000" spc="-10" dirty="0">
                <a:latin typeface="Carlito"/>
                <a:cs typeface="Carlito"/>
              </a:rPr>
              <a:t>screen.</a:t>
            </a:r>
            <a:endParaRPr sz="3000">
              <a:latin typeface="Carlito"/>
              <a:cs typeface="Carlito"/>
            </a:endParaRPr>
          </a:p>
          <a:p>
            <a:pPr marL="355600" marR="337820" indent="-342900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electronic spreadsheet is </a:t>
            </a:r>
            <a:r>
              <a:rPr sz="3000" spc="-15" dirty="0">
                <a:latin typeface="Carlito"/>
                <a:cs typeface="Carlito"/>
              </a:rPr>
              <a:t>computerized </a:t>
            </a:r>
            <a:r>
              <a:rPr sz="3000" dirty="0">
                <a:latin typeface="Carlito"/>
                <a:cs typeface="Carlito"/>
              </a:rPr>
              <a:t>and  </a:t>
            </a:r>
            <a:r>
              <a:rPr sz="3000" spc="-15" dirty="0">
                <a:latin typeface="Carlito"/>
                <a:cs typeface="Carlito"/>
              </a:rPr>
              <a:t>largely incorporates </a:t>
            </a:r>
            <a:r>
              <a:rPr sz="3000" spc="-5" dirty="0">
                <a:latin typeface="Carlito"/>
                <a:cs typeface="Carlito"/>
              </a:rPr>
              <a:t>automation of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computations.</a:t>
            </a:r>
            <a:endParaRPr sz="30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spc="-15" dirty="0">
                <a:latin typeface="Carlito"/>
                <a:cs typeface="Carlito"/>
              </a:rPr>
              <a:t>software </a:t>
            </a:r>
            <a:r>
              <a:rPr sz="3000" spc="-10" dirty="0">
                <a:latin typeface="Carlito"/>
                <a:cs typeface="Carlito"/>
              </a:rPr>
              <a:t>tool </a:t>
            </a:r>
            <a:r>
              <a:rPr sz="3000" spc="-5" dirty="0">
                <a:latin typeface="Carlito"/>
                <a:cs typeface="Carlito"/>
              </a:rPr>
              <a:t>quickly </a:t>
            </a:r>
            <a:r>
              <a:rPr sz="3000" spc="-10" dirty="0">
                <a:latin typeface="Carlito"/>
                <a:cs typeface="Carlito"/>
              </a:rPr>
              <a:t>became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most </a:t>
            </a:r>
            <a:r>
              <a:rPr sz="3000" spc="-5" dirty="0">
                <a:latin typeface="Carlito"/>
                <a:cs typeface="Carlito"/>
              </a:rPr>
              <a:t>popular  small-business </a:t>
            </a:r>
            <a:r>
              <a:rPr sz="3000" spc="-20" dirty="0">
                <a:latin typeface="Carlito"/>
                <a:cs typeface="Carlito"/>
              </a:rPr>
              <a:t>program,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spc="-10" dirty="0">
                <a:latin typeface="Carlito"/>
                <a:cs typeface="Carlito"/>
              </a:rPr>
              <a:t>been </a:t>
            </a:r>
            <a:r>
              <a:rPr sz="3000" spc="-5" dirty="0">
                <a:latin typeface="Carlito"/>
                <a:cs typeface="Carlito"/>
              </a:rPr>
              <a:t>held </a:t>
            </a:r>
            <a:r>
              <a:rPr sz="3000" spc="-10" dirty="0">
                <a:latin typeface="Carlito"/>
                <a:cs typeface="Carlito"/>
              </a:rPr>
              <a:t>directly  responsible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dirty="0">
                <a:latin typeface="Carlito"/>
                <a:cs typeface="Carlito"/>
              </a:rPr>
              <a:t>making the </a:t>
            </a:r>
            <a:r>
              <a:rPr sz="3000" spc="-10" dirty="0">
                <a:latin typeface="Carlito"/>
                <a:cs typeface="Carlito"/>
              </a:rPr>
              <a:t>microcomputer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widely  used </a:t>
            </a:r>
            <a:r>
              <a:rPr sz="3000" spc="-10" dirty="0">
                <a:latin typeface="Carlito"/>
                <a:cs typeface="Carlito"/>
              </a:rPr>
              <a:t>business tool.</a:t>
            </a:r>
            <a:endParaRPr sz="3000">
              <a:latin typeface="Carlito"/>
              <a:cs typeface="Carlito"/>
            </a:endParaRPr>
          </a:p>
          <a:p>
            <a:pPr marL="355600" marR="256540" indent="-342900" algn="just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5600" algn="l"/>
              </a:tabLst>
            </a:pPr>
            <a:r>
              <a:rPr sz="3000" spc="-95" dirty="0">
                <a:latin typeface="Carlito"/>
                <a:cs typeface="Carlito"/>
              </a:rPr>
              <a:t>Today,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principal spreadsheet </a:t>
            </a:r>
            <a:r>
              <a:rPr sz="3000" spc="-20" dirty="0">
                <a:latin typeface="Carlito"/>
                <a:cs typeface="Carlito"/>
              </a:rPr>
              <a:t>programs </a:t>
            </a:r>
            <a:r>
              <a:rPr sz="3000" spc="-5" dirty="0">
                <a:latin typeface="Carlito"/>
                <a:cs typeface="Carlito"/>
              </a:rPr>
              <a:t>include  </a:t>
            </a:r>
            <a:r>
              <a:rPr sz="3000" spc="-10" dirty="0">
                <a:latin typeface="Carlito"/>
                <a:cs typeface="Carlito"/>
              </a:rPr>
              <a:t>Microsoft </a:t>
            </a:r>
            <a:r>
              <a:rPr sz="3000" spc="-20" dirty="0">
                <a:latin typeface="Carlito"/>
                <a:cs typeface="Carlito"/>
              </a:rPr>
              <a:t>Excel, </a:t>
            </a:r>
            <a:r>
              <a:rPr sz="3000" spc="-5" dirty="0">
                <a:latin typeface="Carlito"/>
                <a:cs typeface="Carlito"/>
              </a:rPr>
              <a:t>Lotus </a:t>
            </a:r>
            <a:r>
              <a:rPr sz="3000" spc="5" dirty="0">
                <a:latin typeface="Carlito"/>
                <a:cs typeface="Carlito"/>
              </a:rPr>
              <a:t>1-2-3,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Quatro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Pro.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1342" y="279653"/>
            <a:ext cx="52330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Presentation</a:t>
            </a:r>
            <a:r>
              <a:rPr spc="-50" dirty="0"/>
              <a:t> </a:t>
            </a:r>
            <a:r>
              <a:rPr spc="-15" dirty="0"/>
              <a:t>Software: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8051800" cy="423291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Presentation software are software </a:t>
            </a:r>
            <a:r>
              <a:rPr sz="3000" spc="-5" dirty="0">
                <a:latin typeface="Carlito"/>
                <a:cs typeface="Carlito"/>
              </a:rPr>
              <a:t>tools  designed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use </a:t>
            </a:r>
            <a:r>
              <a:rPr sz="3000" spc="-10" dirty="0">
                <a:latin typeface="Carlito"/>
                <a:cs typeface="Carlito"/>
              </a:rPr>
              <a:t>graphics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data/information 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other </a:t>
            </a:r>
            <a:r>
              <a:rPr sz="3000" spc="-10" dirty="0">
                <a:latin typeface="Carlito"/>
                <a:cs typeface="Carlito"/>
              </a:rPr>
              <a:t>applications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software </a:t>
            </a:r>
            <a:r>
              <a:rPr sz="3000" spc="-5" dirty="0">
                <a:latin typeface="Carlito"/>
                <a:cs typeface="Carlito"/>
              </a:rPr>
              <a:t>tools </a:t>
            </a:r>
            <a:r>
              <a:rPr sz="3000" spc="-15" dirty="0">
                <a:latin typeface="Carlito"/>
                <a:cs typeface="Carlito"/>
              </a:rPr>
              <a:t>to  communicate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20" dirty="0">
                <a:latin typeface="Carlito"/>
                <a:cs typeface="Carlito"/>
              </a:rPr>
              <a:t>make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presentation to </a:t>
            </a:r>
            <a:r>
              <a:rPr sz="3000" spc="-5" dirty="0">
                <a:latin typeface="Carlito"/>
                <a:cs typeface="Carlito"/>
              </a:rPr>
              <a:t>audience  such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5" dirty="0">
                <a:latin typeface="Carlito"/>
                <a:cs typeface="Carlito"/>
              </a:rPr>
              <a:t>clients, supervisors, </a:t>
            </a:r>
            <a:r>
              <a:rPr sz="3000" spc="-15" dirty="0">
                <a:latin typeface="Carlito"/>
                <a:cs typeface="Carlito"/>
              </a:rPr>
              <a:t>directors,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even  students </a:t>
            </a:r>
            <a:r>
              <a:rPr sz="3000" dirty="0">
                <a:latin typeface="Carlito"/>
                <a:cs typeface="Carlito"/>
              </a:rPr>
              <a:t>in a </a:t>
            </a:r>
            <a:r>
              <a:rPr sz="3000" spc="-10" dirty="0">
                <a:latin typeface="Carlito"/>
                <a:cs typeface="Carlito"/>
              </a:rPr>
              <a:t>lecture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theatre.</a:t>
            </a:r>
            <a:endParaRPr sz="3000">
              <a:latin typeface="Carlito"/>
              <a:cs typeface="Carlito"/>
            </a:endParaRPr>
          </a:p>
          <a:p>
            <a:pPr marL="355600" marR="41275" indent="-3429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Presentations software </a:t>
            </a:r>
            <a:r>
              <a:rPr sz="3000" spc="-20" dirty="0">
                <a:latin typeface="Carlito"/>
                <a:cs typeface="Carlito"/>
              </a:rPr>
              <a:t>may </a:t>
            </a:r>
            <a:r>
              <a:rPr sz="3000" spc="-25" dirty="0">
                <a:latin typeface="Carlito"/>
                <a:cs typeface="Carlito"/>
              </a:rPr>
              <a:t>make </a:t>
            </a:r>
            <a:r>
              <a:rPr sz="3000" spc="-5" dirty="0">
                <a:latin typeface="Carlito"/>
                <a:cs typeface="Carlito"/>
              </a:rPr>
              <a:t>use of </a:t>
            </a:r>
            <a:r>
              <a:rPr sz="3000" dirty="0">
                <a:latin typeface="Carlito"/>
                <a:cs typeface="Carlito"/>
              </a:rPr>
              <a:t>some  </a:t>
            </a:r>
            <a:r>
              <a:rPr sz="3000" spc="-5" dirty="0">
                <a:latin typeface="Carlito"/>
                <a:cs typeface="Carlito"/>
              </a:rPr>
              <a:t>analytical </a:t>
            </a:r>
            <a:r>
              <a:rPr sz="3000" spc="-10" dirty="0">
                <a:latin typeface="Carlito"/>
                <a:cs typeface="Carlito"/>
              </a:rPr>
              <a:t>graphics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dirty="0">
                <a:latin typeface="Carlito"/>
                <a:cs typeface="Carlito"/>
              </a:rPr>
              <a:t>as charts </a:t>
            </a:r>
            <a:r>
              <a:rPr sz="3000" spc="-5" dirty="0">
                <a:latin typeface="Carlito"/>
                <a:cs typeface="Carlito"/>
              </a:rPr>
              <a:t>but </a:t>
            </a:r>
            <a:r>
              <a:rPr sz="3000" spc="-10" dirty="0">
                <a:latin typeface="Carlito"/>
                <a:cs typeface="Carlito"/>
              </a:rPr>
              <a:t>they </a:t>
            </a:r>
            <a:r>
              <a:rPr sz="3000" spc="-5" dirty="0">
                <a:latin typeface="Carlito"/>
                <a:cs typeface="Carlito"/>
              </a:rPr>
              <a:t>usually  </a:t>
            </a:r>
            <a:r>
              <a:rPr sz="3000" dirty="0">
                <a:latin typeface="Carlito"/>
                <a:cs typeface="Carlito"/>
              </a:rPr>
              <a:t>look </a:t>
            </a:r>
            <a:r>
              <a:rPr sz="3000" spc="-5" dirty="0">
                <a:latin typeface="Carlito"/>
                <a:cs typeface="Carlito"/>
              </a:rPr>
              <a:t>much </a:t>
            </a:r>
            <a:r>
              <a:rPr sz="3000" spc="-10" dirty="0">
                <a:latin typeface="Carlito"/>
                <a:cs typeface="Carlito"/>
              </a:rPr>
              <a:t>more sophisticated, </a:t>
            </a:r>
            <a:r>
              <a:rPr sz="3000" dirty="0">
                <a:latin typeface="Carlito"/>
                <a:cs typeface="Carlito"/>
              </a:rPr>
              <a:t>using, </a:t>
            </a:r>
            <a:r>
              <a:rPr sz="3000" spc="-25" dirty="0">
                <a:latin typeface="Carlito"/>
                <a:cs typeface="Carlito"/>
              </a:rPr>
              <a:t>for  </a:t>
            </a:r>
            <a:r>
              <a:rPr sz="3000" spc="-10" dirty="0">
                <a:latin typeface="Carlito"/>
                <a:cs typeface="Carlito"/>
              </a:rPr>
              <a:t>instance, </a:t>
            </a:r>
            <a:r>
              <a:rPr sz="3000" spc="-25" dirty="0">
                <a:latin typeface="Carlito"/>
                <a:cs typeface="Carlito"/>
              </a:rPr>
              <a:t>different </a:t>
            </a:r>
            <a:r>
              <a:rPr sz="3000" spc="-10" dirty="0">
                <a:latin typeface="Carlito"/>
                <a:cs typeface="Carlito"/>
              </a:rPr>
              <a:t>texturing </a:t>
            </a:r>
            <a:r>
              <a:rPr sz="3000" spc="-15" dirty="0">
                <a:latin typeface="Carlito"/>
                <a:cs typeface="Carlito"/>
              </a:rPr>
              <a:t>patterns, </a:t>
            </a:r>
            <a:r>
              <a:rPr sz="3000" spc="-50" dirty="0">
                <a:latin typeface="Carlito"/>
                <a:cs typeface="Carlito"/>
              </a:rPr>
              <a:t>color, </a:t>
            </a:r>
            <a:r>
              <a:rPr sz="3000" dirty="0">
                <a:latin typeface="Carlito"/>
                <a:cs typeface="Carlito"/>
              </a:rPr>
              <a:t>and  </a:t>
            </a:r>
            <a:r>
              <a:rPr sz="3000" spc="-15" dirty="0">
                <a:latin typeface="Carlito"/>
                <a:cs typeface="Carlito"/>
              </a:rPr>
              <a:t>three-dimensionality.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71043" y="411556"/>
            <a:ext cx="8413115" cy="568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6865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Presentation </a:t>
            </a:r>
            <a:r>
              <a:rPr sz="3200" spc="-10" dirty="0">
                <a:latin typeface="Carlito"/>
                <a:cs typeface="Carlito"/>
              </a:rPr>
              <a:t>graphics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output </a:t>
            </a:r>
            <a:r>
              <a:rPr sz="3200" dirty="0">
                <a:latin typeface="Carlito"/>
                <a:cs typeface="Carlito"/>
              </a:rPr>
              <a:t>as 35mm  </a:t>
            </a:r>
            <a:r>
              <a:rPr sz="3200" spc="-5" dirty="0">
                <a:latin typeface="Carlito"/>
                <a:cs typeface="Carlito"/>
              </a:rPr>
              <a:t>slides, </a:t>
            </a:r>
            <a:r>
              <a:rPr sz="3200" dirty="0">
                <a:latin typeface="Carlito"/>
                <a:cs typeface="Carlito"/>
              </a:rPr>
              <a:t>which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5" dirty="0">
                <a:latin typeface="Carlito"/>
                <a:cs typeface="Carlito"/>
              </a:rPr>
              <a:t>projected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screen </a:t>
            </a:r>
            <a:r>
              <a:rPr sz="3200" spc="-5" dirty="0">
                <a:latin typeface="Carlito"/>
                <a:cs typeface="Carlito"/>
              </a:rPr>
              <a:t>or  </a:t>
            </a:r>
            <a:r>
              <a:rPr sz="3200" spc="-15" dirty="0">
                <a:latin typeface="Carlito"/>
                <a:cs typeface="Carlito"/>
              </a:rPr>
              <a:t>displayed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5" dirty="0">
                <a:latin typeface="Carlito"/>
                <a:cs typeface="Carlito"/>
              </a:rPr>
              <a:t>large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monitor.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Presentation software packages often </a:t>
            </a:r>
            <a:r>
              <a:rPr sz="3200" spc="-10" dirty="0">
                <a:latin typeface="Carlito"/>
                <a:cs typeface="Carlito"/>
              </a:rPr>
              <a:t>come </a:t>
            </a:r>
            <a:r>
              <a:rPr sz="3200" dirty="0">
                <a:latin typeface="Carlito"/>
                <a:cs typeface="Carlito"/>
              </a:rPr>
              <a:t>with  </a:t>
            </a:r>
            <a:r>
              <a:rPr sz="3200" spc="-5" dirty="0">
                <a:latin typeface="Carlito"/>
                <a:cs typeface="Carlito"/>
              </a:rPr>
              <a:t>slide </a:t>
            </a:r>
            <a:r>
              <a:rPr sz="3200" spc="-15" dirty="0">
                <a:latin typeface="Carlito"/>
                <a:cs typeface="Carlito"/>
              </a:rPr>
              <a:t>sorters, </a:t>
            </a:r>
            <a:r>
              <a:rPr sz="3200" spc="-5" dirty="0">
                <a:latin typeface="Carlito"/>
                <a:cs typeface="Carlito"/>
              </a:rPr>
              <a:t>which </a:t>
            </a:r>
            <a:r>
              <a:rPr sz="3200" spc="-15" dirty="0">
                <a:latin typeface="Carlito"/>
                <a:cs typeface="Carlito"/>
              </a:rPr>
              <a:t>group </a:t>
            </a:r>
            <a:r>
              <a:rPr sz="3200" spc="-10" dirty="0">
                <a:latin typeface="Carlito"/>
                <a:cs typeface="Carlito"/>
              </a:rPr>
              <a:t>together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25" dirty="0">
                <a:latin typeface="Carlito"/>
                <a:cs typeface="Carlito"/>
              </a:rPr>
              <a:t>dozen </a:t>
            </a:r>
            <a:r>
              <a:rPr sz="3200" spc="-5" dirty="0">
                <a:latin typeface="Carlito"/>
                <a:cs typeface="Carlito"/>
              </a:rPr>
              <a:t>or  </a:t>
            </a:r>
            <a:r>
              <a:rPr sz="3200" spc="-10" dirty="0">
                <a:latin typeface="Carlito"/>
                <a:cs typeface="Carlito"/>
              </a:rPr>
              <a:t>more </a:t>
            </a:r>
            <a:r>
              <a:rPr sz="3200" spc="-5" dirty="0">
                <a:latin typeface="Carlito"/>
                <a:cs typeface="Carlito"/>
              </a:rPr>
              <a:t>slides </a:t>
            </a:r>
            <a:r>
              <a:rPr sz="3200" dirty="0">
                <a:latin typeface="Carlito"/>
                <a:cs typeface="Carlito"/>
              </a:rPr>
              <a:t>in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miniature.</a:t>
            </a:r>
            <a:endParaRPr sz="3200">
              <a:latin typeface="Carlito"/>
              <a:cs typeface="Carlito"/>
            </a:endParaRPr>
          </a:p>
          <a:p>
            <a:pPr marL="355600" marR="8826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person </a:t>
            </a:r>
            <a:r>
              <a:rPr sz="3200" spc="-5" dirty="0">
                <a:latin typeface="Carlito"/>
                <a:cs typeface="Carlito"/>
              </a:rPr>
              <a:t>making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presentation </a:t>
            </a:r>
            <a:r>
              <a:rPr sz="3200" spc="-5" dirty="0">
                <a:latin typeface="Carlito"/>
                <a:cs typeface="Carlito"/>
              </a:rPr>
              <a:t>can use </a:t>
            </a:r>
            <a:r>
              <a:rPr sz="3200" dirty="0">
                <a:latin typeface="Carlito"/>
                <a:cs typeface="Carlito"/>
              </a:rPr>
              <a:t>the  mouse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click a </a:t>
            </a:r>
            <a:r>
              <a:rPr sz="3200" spc="-5" dirty="0">
                <a:latin typeface="Carlito"/>
                <a:cs typeface="Carlito"/>
              </a:rPr>
              <a:t>slide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bring </a:t>
            </a:r>
            <a:r>
              <a:rPr sz="3200" dirty="0">
                <a:latin typeface="Carlito"/>
                <a:cs typeface="Carlito"/>
              </a:rPr>
              <a:t>it up </a:t>
            </a:r>
            <a:r>
              <a:rPr sz="3200" spc="-30" dirty="0">
                <a:latin typeface="Carlito"/>
                <a:cs typeface="Carlito"/>
              </a:rPr>
              <a:t>for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viewing.</a:t>
            </a:r>
            <a:endParaRPr sz="3200">
              <a:latin typeface="Carlito"/>
              <a:cs typeface="Carlito"/>
            </a:endParaRPr>
          </a:p>
          <a:p>
            <a:pPr marL="355600" marR="47561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Some </a:t>
            </a:r>
            <a:r>
              <a:rPr sz="3200" dirty="0">
                <a:latin typeface="Carlito"/>
                <a:cs typeface="Carlito"/>
              </a:rPr>
              <a:t>also </a:t>
            </a:r>
            <a:r>
              <a:rPr sz="3200" spc="-5" dirty="0">
                <a:latin typeface="Carlito"/>
                <a:cs typeface="Carlito"/>
              </a:rPr>
              <a:t>include </a:t>
            </a:r>
            <a:r>
              <a:rPr sz="3200" dirty="0">
                <a:latin typeface="Carlito"/>
                <a:cs typeface="Carlito"/>
              </a:rPr>
              <a:t>clip art </a:t>
            </a:r>
            <a:r>
              <a:rPr sz="3200" spc="-5" dirty="0">
                <a:latin typeface="Carlito"/>
                <a:cs typeface="Carlito"/>
              </a:rPr>
              <a:t>(grouped </a:t>
            </a:r>
            <a:r>
              <a:rPr sz="3200" dirty="0">
                <a:latin typeface="Carlito"/>
                <a:cs typeface="Carlito"/>
              </a:rPr>
              <a:t>art </a:t>
            </a:r>
            <a:r>
              <a:rPr sz="3200" spc="-10" dirty="0">
                <a:latin typeface="Carlito"/>
                <a:cs typeface="Carlito"/>
              </a:rPr>
              <a:t>works)  that can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0" dirty="0">
                <a:latin typeface="Carlito"/>
                <a:cs typeface="Carlito"/>
              </a:rPr>
              <a:t>electronically </a:t>
            </a:r>
            <a:r>
              <a:rPr sz="3200" dirty="0">
                <a:latin typeface="Carlito"/>
                <a:cs typeface="Carlito"/>
              </a:rPr>
              <a:t>cut and </a:t>
            </a:r>
            <a:r>
              <a:rPr sz="3200" spc="-15" dirty="0">
                <a:latin typeface="Carlito"/>
                <a:cs typeface="Carlito"/>
              </a:rPr>
              <a:t>pasted </a:t>
            </a:r>
            <a:r>
              <a:rPr sz="3200" spc="-20" dirty="0">
                <a:latin typeface="Carlito"/>
                <a:cs typeface="Carlito"/>
              </a:rPr>
              <a:t>into 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graphics.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1607946"/>
            <a:ext cx="7941309" cy="3050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Depending on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40" dirty="0">
                <a:latin typeface="Carlito"/>
                <a:cs typeface="Carlito"/>
              </a:rPr>
              <a:t>system‘s </a:t>
            </a:r>
            <a:r>
              <a:rPr sz="3200" spc="-25" dirty="0">
                <a:latin typeface="Carlito"/>
                <a:cs typeface="Carlito"/>
              </a:rPr>
              <a:t>capability,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can  </a:t>
            </a:r>
            <a:r>
              <a:rPr sz="3200" dirty="0">
                <a:latin typeface="Carlito"/>
                <a:cs typeface="Carlito"/>
              </a:rPr>
              <a:t>add </a:t>
            </a:r>
            <a:r>
              <a:rPr sz="3200" spc="-15" dirty="0">
                <a:latin typeface="Carlito"/>
                <a:cs typeface="Carlito"/>
              </a:rPr>
              <a:t>text, </a:t>
            </a:r>
            <a:r>
              <a:rPr sz="3200" spc="-10" dirty="0">
                <a:latin typeface="Carlito"/>
                <a:cs typeface="Carlito"/>
              </a:rPr>
              <a:t>animated </a:t>
            </a:r>
            <a:r>
              <a:rPr sz="3200" spc="-5" dirty="0">
                <a:latin typeface="Carlito"/>
                <a:cs typeface="Carlito"/>
              </a:rPr>
              <a:t>sequences,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8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sound.</a:t>
            </a:r>
            <a:endParaRPr sz="3200">
              <a:latin typeface="Carlito"/>
              <a:cs typeface="Carlito"/>
            </a:endParaRPr>
          </a:p>
          <a:p>
            <a:pPr marL="355600" marR="11239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Examples </a:t>
            </a:r>
            <a:r>
              <a:rPr sz="3200" spc="-5" dirty="0">
                <a:latin typeface="Carlito"/>
                <a:cs typeface="Carlito"/>
              </a:rPr>
              <a:t>of well-known </a:t>
            </a:r>
            <a:r>
              <a:rPr sz="3200" spc="-15" dirty="0">
                <a:latin typeface="Carlito"/>
                <a:cs typeface="Carlito"/>
              </a:rPr>
              <a:t>presentation  software </a:t>
            </a:r>
            <a:r>
              <a:rPr sz="3200" spc="-10" dirty="0">
                <a:latin typeface="Carlito"/>
                <a:cs typeface="Carlito"/>
              </a:rPr>
              <a:t>packages are Microsoft </a:t>
            </a:r>
            <a:r>
              <a:rPr sz="3200" spc="-20" dirty="0">
                <a:latin typeface="Carlito"/>
                <a:cs typeface="Carlito"/>
              </a:rPr>
              <a:t>PowerPoint,  </a:t>
            </a:r>
            <a:r>
              <a:rPr sz="3200" spc="-5" dirty="0">
                <a:latin typeface="Carlito"/>
                <a:cs typeface="Carlito"/>
              </a:rPr>
              <a:t>Aldus </a:t>
            </a:r>
            <a:r>
              <a:rPr sz="3200" spc="-15" dirty="0">
                <a:latin typeface="Carlito"/>
                <a:cs typeface="Carlito"/>
              </a:rPr>
              <a:t>Persuasion, </a:t>
            </a:r>
            <a:r>
              <a:rPr sz="3200" spc="-5" dirty="0">
                <a:latin typeface="Carlito"/>
                <a:cs typeface="Carlito"/>
              </a:rPr>
              <a:t>Lotus Freelance Graphics,  </a:t>
            </a:r>
            <a:r>
              <a:rPr sz="3200" dirty="0">
                <a:latin typeface="Carlito"/>
                <a:cs typeface="Carlito"/>
              </a:rPr>
              <a:t>and SPC </a:t>
            </a:r>
            <a:r>
              <a:rPr sz="3200" spc="-15" dirty="0">
                <a:latin typeface="Carlito"/>
                <a:cs typeface="Carlito"/>
              </a:rPr>
              <a:t>Harvard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Graphics.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A44A9-86A3-4972-AC00-8993655B0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90019"/>
            <a:ext cx="8382000" cy="6040933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787" y="53416"/>
            <a:ext cx="8510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Database </a:t>
            </a:r>
            <a:r>
              <a:rPr sz="4000" spc="-10" dirty="0"/>
              <a:t>Management </a:t>
            </a:r>
            <a:r>
              <a:rPr sz="4000" spc="-35" dirty="0"/>
              <a:t>System</a:t>
            </a:r>
            <a:r>
              <a:rPr sz="4000" spc="-25" dirty="0"/>
              <a:t> </a:t>
            </a:r>
            <a:r>
              <a:rPr sz="4000" spc="-15" dirty="0"/>
              <a:t>Software: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9178"/>
            <a:ext cx="7991475" cy="42214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45795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Generally </a:t>
            </a:r>
            <a:r>
              <a:rPr sz="3200" dirty="0">
                <a:latin typeface="Carlito"/>
                <a:cs typeface="Carlito"/>
              </a:rPr>
              <a:t>speaking, a </a:t>
            </a:r>
            <a:r>
              <a:rPr sz="3200" spc="-10" dirty="0">
                <a:latin typeface="Carlito"/>
                <a:cs typeface="Carlito"/>
              </a:rPr>
              <a:t>database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20" dirty="0">
                <a:latin typeface="Carlito"/>
                <a:cs typeface="Carlito"/>
              </a:rPr>
              <a:t>any  </a:t>
            </a:r>
            <a:r>
              <a:rPr sz="3200" spc="-5" dirty="0">
                <a:latin typeface="Carlito"/>
                <a:cs typeface="Carlito"/>
              </a:rPr>
              <a:t>electronically </a:t>
            </a:r>
            <a:r>
              <a:rPr sz="3200" spc="-20" dirty="0">
                <a:latin typeface="Carlito"/>
                <a:cs typeface="Carlito"/>
              </a:rPr>
              <a:t>stored </a:t>
            </a:r>
            <a:r>
              <a:rPr sz="3200" spc="-5" dirty="0">
                <a:latin typeface="Carlito"/>
                <a:cs typeface="Carlito"/>
              </a:rPr>
              <a:t>collection of </a:t>
            </a:r>
            <a:r>
              <a:rPr sz="3200" spc="-15" dirty="0">
                <a:latin typeface="Carlito"/>
                <a:cs typeface="Carlito"/>
              </a:rPr>
              <a:t>data </a:t>
            </a:r>
            <a:r>
              <a:rPr sz="3200" dirty="0">
                <a:latin typeface="Carlito"/>
                <a:cs typeface="Carlito"/>
              </a:rPr>
              <a:t>in a  </a:t>
            </a:r>
            <a:r>
              <a:rPr sz="3200" spc="-10" dirty="0">
                <a:latin typeface="Carlito"/>
                <a:cs typeface="Carlito"/>
              </a:rPr>
              <a:t>computer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system.</a:t>
            </a:r>
            <a:endParaRPr sz="3200">
              <a:latin typeface="Carlito"/>
              <a:cs typeface="Carlito"/>
            </a:endParaRPr>
          </a:p>
          <a:p>
            <a:pPr marL="355600" marR="29972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4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10" dirty="0">
                <a:latin typeface="Carlito"/>
                <a:cs typeface="Carlito"/>
              </a:rPr>
              <a:t>more </a:t>
            </a:r>
            <a:r>
              <a:rPr sz="3200" spc="-5" dirty="0">
                <a:latin typeface="Carlito"/>
                <a:cs typeface="Carlito"/>
              </a:rPr>
              <a:t>specific </a:t>
            </a:r>
            <a:r>
              <a:rPr sz="3200" spc="-45" dirty="0">
                <a:latin typeface="Carlito"/>
                <a:cs typeface="Carlito"/>
              </a:rPr>
              <a:t>however,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database can  </a:t>
            </a:r>
            <a:r>
              <a:rPr sz="3200" spc="-5" dirty="0">
                <a:latin typeface="Carlito"/>
                <a:cs typeface="Carlito"/>
              </a:rPr>
              <a:t>be described </a:t>
            </a:r>
            <a:r>
              <a:rPr sz="3200" dirty="0">
                <a:latin typeface="Carlito"/>
                <a:cs typeface="Carlito"/>
              </a:rPr>
              <a:t>as a </a:t>
            </a:r>
            <a:r>
              <a:rPr sz="3200" spc="-5" dirty="0">
                <a:latin typeface="Carlito"/>
                <a:cs typeface="Carlito"/>
              </a:rPr>
              <a:t>collection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interrelated  </a:t>
            </a:r>
            <a:r>
              <a:rPr sz="3200" spc="-5" dirty="0">
                <a:latin typeface="Carlito"/>
                <a:cs typeface="Carlito"/>
              </a:rPr>
              <a:t>files </a:t>
            </a:r>
            <a:r>
              <a:rPr sz="3200" dirty="0">
                <a:latin typeface="Carlito"/>
                <a:cs typeface="Carlito"/>
              </a:rPr>
              <a:t>in a </a:t>
            </a:r>
            <a:r>
              <a:rPr sz="3200" spc="-10" dirty="0">
                <a:latin typeface="Carlito"/>
                <a:cs typeface="Carlito"/>
              </a:rPr>
              <a:t>computer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system.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7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These </a:t>
            </a:r>
            <a:r>
              <a:rPr sz="3200" spc="-10" dirty="0">
                <a:latin typeface="Carlito"/>
                <a:cs typeface="Carlito"/>
              </a:rPr>
              <a:t>computer-based </a:t>
            </a:r>
            <a:r>
              <a:rPr sz="3200" spc="-5" dirty="0">
                <a:latin typeface="Carlito"/>
                <a:cs typeface="Carlito"/>
              </a:rPr>
              <a:t>files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spc="-25" dirty="0">
                <a:latin typeface="Carlito"/>
                <a:cs typeface="Carlito"/>
              </a:rPr>
              <a:t>organized  </a:t>
            </a:r>
            <a:r>
              <a:rPr sz="3200" spc="-10" dirty="0">
                <a:latin typeface="Carlito"/>
                <a:cs typeface="Carlito"/>
              </a:rPr>
              <a:t>according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their </a:t>
            </a:r>
            <a:r>
              <a:rPr sz="3200" spc="-5" dirty="0">
                <a:latin typeface="Carlito"/>
                <a:cs typeface="Carlito"/>
              </a:rPr>
              <a:t>common elements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5" dirty="0">
                <a:latin typeface="Carlito"/>
                <a:cs typeface="Carlito"/>
              </a:rPr>
              <a:t>fields,  </a:t>
            </a:r>
            <a:r>
              <a:rPr sz="3200" spc="-15" dirty="0">
                <a:latin typeface="Carlito"/>
                <a:cs typeface="Carlito"/>
              </a:rPr>
              <a:t>easy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retrieval.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1607946"/>
            <a:ext cx="800671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Database </a:t>
            </a:r>
            <a:r>
              <a:rPr sz="3200" spc="-5" dirty="0">
                <a:latin typeface="Carlito"/>
                <a:cs typeface="Carlito"/>
              </a:rPr>
              <a:t>Management </a:t>
            </a:r>
            <a:r>
              <a:rPr sz="3200" spc="-20" dirty="0">
                <a:latin typeface="Carlito"/>
                <a:cs typeface="Carlito"/>
              </a:rPr>
              <a:t>System </a:t>
            </a:r>
            <a:r>
              <a:rPr sz="3200" spc="-5" dirty="0">
                <a:latin typeface="Carlito"/>
                <a:cs typeface="Carlito"/>
              </a:rPr>
              <a:t>(DBMS)  </a:t>
            </a:r>
            <a:r>
              <a:rPr sz="3200" spc="-10" dirty="0">
                <a:latin typeface="Carlito"/>
                <a:cs typeface="Carlito"/>
              </a:rPr>
              <a:t>software, </a:t>
            </a:r>
            <a:r>
              <a:rPr sz="3200" spc="-20" dirty="0">
                <a:latin typeface="Carlito"/>
                <a:cs typeface="Carlito"/>
              </a:rPr>
              <a:t>therefore,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15" dirty="0">
                <a:latin typeface="Carlito"/>
                <a:cs typeface="Carlito"/>
              </a:rPr>
              <a:t>controls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structure </a:t>
            </a:r>
            <a:r>
              <a:rPr sz="3200" spc="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database </a:t>
            </a:r>
            <a:r>
              <a:rPr sz="3200" dirty="0">
                <a:latin typeface="Carlito"/>
                <a:cs typeface="Carlito"/>
              </a:rPr>
              <a:t>and access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5" dirty="0">
                <a:latin typeface="Carlito"/>
                <a:cs typeface="Carlito"/>
              </a:rPr>
              <a:t>data.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C83959-9C05-40C6-8E72-DF1A29540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" y="727132"/>
            <a:ext cx="8686800" cy="488632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83540" y="999490"/>
            <a:ext cx="8312150" cy="533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DBMS has </a:t>
            </a:r>
            <a:r>
              <a:rPr sz="3000" spc="-20" dirty="0">
                <a:latin typeface="Carlito"/>
                <a:cs typeface="Carlito"/>
              </a:rPr>
              <a:t>several </a:t>
            </a:r>
            <a:r>
              <a:rPr sz="3000" spc="-15" dirty="0">
                <a:latin typeface="Carlito"/>
                <a:cs typeface="Carlito"/>
              </a:rPr>
              <a:t>advantages </a:t>
            </a:r>
            <a:r>
              <a:rPr sz="3000" spc="-10" dirty="0">
                <a:latin typeface="Carlito"/>
                <a:cs typeface="Carlito"/>
              </a:rPr>
              <a:t>over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traditional  </a:t>
            </a:r>
            <a:r>
              <a:rPr sz="3000" spc="-5" dirty="0">
                <a:latin typeface="Carlito"/>
                <a:cs typeface="Carlito"/>
              </a:rPr>
              <a:t>file </a:t>
            </a:r>
            <a:r>
              <a:rPr sz="3000" spc="-10" dirty="0">
                <a:latin typeface="Carlito"/>
                <a:cs typeface="Carlito"/>
              </a:rPr>
              <a:t>managers </a:t>
            </a:r>
            <a:r>
              <a:rPr sz="3000" spc="-5" dirty="0">
                <a:latin typeface="Carlito"/>
                <a:cs typeface="Carlito"/>
              </a:rPr>
              <a:t>or flat-file </a:t>
            </a:r>
            <a:r>
              <a:rPr sz="3000" spc="-10" dirty="0">
                <a:latin typeface="Carlito"/>
                <a:cs typeface="Carlito"/>
              </a:rPr>
              <a:t>management</a:t>
            </a:r>
            <a:r>
              <a:rPr sz="3000" spc="-50" dirty="0">
                <a:latin typeface="Carlito"/>
                <a:cs typeface="Carlito"/>
              </a:rPr>
              <a:t> </a:t>
            </a:r>
            <a:r>
              <a:rPr sz="3000" spc="-25" dirty="0">
                <a:latin typeface="Carlito"/>
                <a:cs typeface="Carlito"/>
              </a:rPr>
              <a:t>system.</a:t>
            </a:r>
            <a:endParaRPr sz="3000">
              <a:latin typeface="Carlito"/>
              <a:cs typeface="Carlito"/>
            </a:endParaRPr>
          </a:p>
          <a:p>
            <a:pPr marL="355600" marR="15621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DBMS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dirty="0">
                <a:latin typeface="Carlito"/>
                <a:cs typeface="Carlito"/>
              </a:rPr>
              <a:t>access </a:t>
            </a:r>
            <a:r>
              <a:rPr sz="3000" spc="-20" dirty="0">
                <a:latin typeface="Carlito"/>
                <a:cs typeface="Carlito"/>
              </a:rPr>
              <a:t>several </a:t>
            </a:r>
            <a:r>
              <a:rPr sz="3000" spc="-10" dirty="0">
                <a:latin typeface="Carlito"/>
                <a:cs typeface="Carlito"/>
              </a:rPr>
              <a:t>files </a:t>
            </a:r>
            <a:r>
              <a:rPr sz="3000" spc="-15" dirty="0">
                <a:latin typeface="Carlito"/>
                <a:cs typeface="Carlito"/>
              </a:rPr>
              <a:t>at </a:t>
            </a:r>
            <a:r>
              <a:rPr sz="3000" spc="-5" dirty="0">
                <a:latin typeface="Carlito"/>
                <a:cs typeface="Carlito"/>
              </a:rPr>
              <a:t>one </a:t>
            </a:r>
            <a:r>
              <a:rPr sz="3000" dirty="0">
                <a:latin typeface="Carlito"/>
                <a:cs typeface="Carlito"/>
              </a:rPr>
              <a:t>time as  </a:t>
            </a:r>
            <a:r>
              <a:rPr sz="3000" spc="-15" dirty="0">
                <a:latin typeface="Carlito"/>
                <a:cs typeface="Carlito"/>
              </a:rPr>
              <a:t>against </a:t>
            </a:r>
            <a:r>
              <a:rPr sz="3000" spc="-10" dirty="0">
                <a:latin typeface="Carlito"/>
                <a:cs typeface="Carlito"/>
              </a:rPr>
              <a:t>file </a:t>
            </a:r>
            <a:r>
              <a:rPr sz="3000" spc="-5" dirty="0">
                <a:latin typeface="Carlito"/>
                <a:cs typeface="Carlito"/>
              </a:rPr>
              <a:t>manager </a:t>
            </a:r>
            <a:r>
              <a:rPr sz="3000" spc="-10" dirty="0">
                <a:latin typeface="Carlito"/>
                <a:cs typeface="Carlito"/>
              </a:rPr>
              <a:t>that can </a:t>
            </a:r>
            <a:r>
              <a:rPr sz="3000" dirty="0">
                <a:latin typeface="Carlito"/>
                <a:cs typeface="Carlito"/>
              </a:rPr>
              <a:t>access </a:t>
            </a:r>
            <a:r>
              <a:rPr sz="3000" spc="-5" dirty="0">
                <a:latin typeface="Carlito"/>
                <a:cs typeface="Carlito"/>
              </a:rPr>
              <a:t>only one </a:t>
            </a:r>
            <a:r>
              <a:rPr sz="3000" spc="-10" dirty="0">
                <a:latin typeface="Carlito"/>
                <a:cs typeface="Carlito"/>
              </a:rPr>
              <a:t>file </a:t>
            </a:r>
            <a:r>
              <a:rPr sz="3000" dirty="0">
                <a:latin typeface="Carlito"/>
                <a:cs typeface="Carlito"/>
              </a:rPr>
              <a:t>a  time.</a:t>
            </a:r>
            <a:endParaRPr sz="3000">
              <a:latin typeface="Carlito"/>
              <a:cs typeface="Carlito"/>
            </a:endParaRPr>
          </a:p>
          <a:p>
            <a:pPr marL="355600" marR="7112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Also,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can not </a:t>
            </a:r>
            <a:r>
              <a:rPr sz="3000" spc="-20" dirty="0">
                <a:latin typeface="Carlito"/>
                <a:cs typeface="Carlito"/>
              </a:rPr>
              <a:t>extract </a:t>
            </a:r>
            <a:r>
              <a:rPr sz="3000" spc="-15" dirty="0">
                <a:latin typeface="Carlito"/>
                <a:cs typeface="Carlito"/>
              </a:rPr>
              <a:t>information </a:t>
            </a:r>
            <a:r>
              <a:rPr sz="3000" spc="-10" dirty="0">
                <a:latin typeface="Carlito"/>
                <a:cs typeface="Carlito"/>
              </a:rPr>
              <a:t>across more  </a:t>
            </a:r>
            <a:r>
              <a:rPr sz="3000" dirty="0">
                <a:latin typeface="Carlito"/>
                <a:cs typeface="Carlito"/>
              </a:rPr>
              <a:t>than </a:t>
            </a:r>
            <a:r>
              <a:rPr sz="3000" spc="-5" dirty="0">
                <a:latin typeface="Carlito"/>
                <a:cs typeface="Carlito"/>
              </a:rPr>
              <a:t>one file </a:t>
            </a:r>
            <a:r>
              <a:rPr sz="3000" dirty="0">
                <a:latin typeface="Carlito"/>
                <a:cs typeface="Carlito"/>
              </a:rPr>
              <a:t>with the </a:t>
            </a:r>
            <a:r>
              <a:rPr sz="3000" spc="-10" dirty="0">
                <a:latin typeface="Carlito"/>
                <a:cs typeface="Carlito"/>
              </a:rPr>
              <a:t>flat-file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dirty="0">
                <a:latin typeface="Carlito"/>
                <a:cs typeface="Carlito"/>
              </a:rPr>
              <a:t>while </a:t>
            </a: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spc="-10" dirty="0">
                <a:latin typeface="Carlito"/>
                <a:cs typeface="Carlito"/>
              </a:rPr>
              <a:t>can  </a:t>
            </a:r>
            <a:r>
              <a:rPr sz="3000" spc="-5" dirty="0">
                <a:latin typeface="Carlito"/>
                <a:cs typeface="Carlito"/>
              </a:rPr>
              <a:t>be easily </a:t>
            </a:r>
            <a:r>
              <a:rPr sz="3000" spc="-10" dirty="0">
                <a:latin typeface="Carlito"/>
                <a:cs typeface="Carlito"/>
              </a:rPr>
              <a:t>accomplished </a:t>
            </a:r>
            <a:r>
              <a:rPr sz="3000" spc="-5" dirty="0">
                <a:latin typeface="Carlito"/>
                <a:cs typeface="Carlito"/>
              </a:rPr>
              <a:t>with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DBMS.</a:t>
            </a:r>
            <a:endParaRPr sz="3000">
              <a:latin typeface="Carlito"/>
              <a:cs typeface="Carlito"/>
            </a:endParaRPr>
          </a:p>
          <a:p>
            <a:pPr marL="355600" marR="55054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rlito"/>
                <a:cs typeface="Carlito"/>
              </a:rPr>
              <a:t>For </a:t>
            </a:r>
            <a:r>
              <a:rPr sz="3000" spc="-20" dirty="0">
                <a:latin typeface="Carlito"/>
                <a:cs typeface="Carlito"/>
              </a:rPr>
              <a:t>example, </a:t>
            </a:r>
            <a:r>
              <a:rPr sz="3000" spc="-5" dirty="0">
                <a:latin typeface="Carlito"/>
                <a:cs typeface="Carlito"/>
              </a:rPr>
              <a:t>using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file manager or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flat-file  </a:t>
            </a:r>
            <a:r>
              <a:rPr sz="3000" spc="-25" dirty="0">
                <a:latin typeface="Carlito"/>
                <a:cs typeface="Carlito"/>
              </a:rPr>
              <a:t>system,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could call </a:t>
            </a:r>
            <a:r>
              <a:rPr sz="3000" spc="-5" dirty="0">
                <a:latin typeface="Carlito"/>
                <a:cs typeface="Carlito"/>
              </a:rPr>
              <a:t>up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list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all </a:t>
            </a:r>
            <a:r>
              <a:rPr sz="3000" spc="-15" dirty="0">
                <a:latin typeface="Carlito"/>
                <a:cs typeface="Carlito"/>
              </a:rPr>
              <a:t>Faculty </a:t>
            </a:r>
            <a:r>
              <a:rPr sz="3000" spc="-5" dirty="0">
                <a:latin typeface="Carlito"/>
                <a:cs typeface="Carlito"/>
              </a:rPr>
              <a:t>of  Science</a:t>
            </a:r>
            <a:r>
              <a:rPr sz="3000" spc="-3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students.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83540" y="997965"/>
            <a:ext cx="832040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8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could </a:t>
            </a:r>
            <a:r>
              <a:rPr sz="3200" dirty="0">
                <a:latin typeface="Carlito"/>
                <a:cs typeface="Carlito"/>
              </a:rPr>
              <a:t>also </a:t>
            </a:r>
            <a:r>
              <a:rPr sz="3200" spc="-5" dirty="0">
                <a:latin typeface="Carlito"/>
                <a:cs typeface="Carlito"/>
              </a:rPr>
              <a:t>call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list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all </a:t>
            </a:r>
            <a:r>
              <a:rPr sz="3200" spc="-10" dirty="0">
                <a:latin typeface="Carlito"/>
                <a:cs typeface="Carlito"/>
              </a:rPr>
              <a:t>Africa </a:t>
            </a:r>
            <a:r>
              <a:rPr sz="3200" spc="-5" dirty="0">
                <a:latin typeface="Carlito"/>
                <a:cs typeface="Carlito"/>
              </a:rPr>
              <a:t>Hall  </a:t>
            </a:r>
            <a:r>
              <a:rPr sz="3200" spc="-10" dirty="0">
                <a:latin typeface="Carlito"/>
                <a:cs typeface="Carlito"/>
              </a:rPr>
              <a:t>students. </a:t>
            </a:r>
            <a:r>
              <a:rPr sz="3200" dirty="0">
                <a:latin typeface="Carlito"/>
                <a:cs typeface="Carlito"/>
              </a:rPr>
              <a:t>But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could </a:t>
            </a:r>
            <a:r>
              <a:rPr sz="3200" spc="-5" dirty="0">
                <a:latin typeface="Carlito"/>
                <a:cs typeface="Carlito"/>
              </a:rPr>
              <a:t>not </a:t>
            </a:r>
            <a:r>
              <a:rPr sz="3200" spc="-15" dirty="0">
                <a:latin typeface="Carlito"/>
                <a:cs typeface="Carlito"/>
              </a:rPr>
              <a:t>extract </a:t>
            </a:r>
            <a:r>
              <a:rPr sz="3200" spc="-5" dirty="0">
                <a:latin typeface="Carlito"/>
                <a:cs typeface="Carlito"/>
              </a:rPr>
              <a:t>all </a:t>
            </a:r>
            <a:r>
              <a:rPr sz="3200" spc="-15" dirty="0">
                <a:latin typeface="Carlito"/>
                <a:cs typeface="Carlito"/>
              </a:rPr>
              <a:t>Faculty </a:t>
            </a:r>
            <a:r>
              <a:rPr sz="3200" dirty="0">
                <a:latin typeface="Carlito"/>
                <a:cs typeface="Carlito"/>
              </a:rPr>
              <a:t>of  </a:t>
            </a:r>
            <a:r>
              <a:rPr sz="3200" spc="-5" dirty="0">
                <a:latin typeface="Carlito"/>
                <a:cs typeface="Carlito"/>
              </a:rPr>
              <a:t>Science </a:t>
            </a:r>
            <a:r>
              <a:rPr sz="3200" spc="-10" dirty="0">
                <a:latin typeface="Carlito"/>
                <a:cs typeface="Carlito"/>
              </a:rPr>
              <a:t>students resident in Africa </a:t>
            </a:r>
            <a:r>
              <a:rPr sz="3200" spc="-5" dirty="0">
                <a:latin typeface="Carlito"/>
                <a:cs typeface="Carlito"/>
              </a:rPr>
              <a:t>Hall.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DBMS  </a:t>
            </a:r>
            <a:r>
              <a:rPr sz="3200" spc="-10" dirty="0">
                <a:latin typeface="Carlito"/>
                <a:cs typeface="Carlito"/>
              </a:rPr>
              <a:t>allows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do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even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more.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627710"/>
            <a:ext cx="7944484" cy="5099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Databases </a:t>
            </a:r>
            <a:r>
              <a:rPr sz="3200" spc="-15" dirty="0">
                <a:latin typeface="Carlito"/>
                <a:cs typeface="Carlito"/>
              </a:rPr>
              <a:t>are getting </a:t>
            </a:r>
            <a:r>
              <a:rPr sz="3200" spc="-10" dirty="0">
                <a:latin typeface="Carlito"/>
                <a:cs typeface="Carlito"/>
              </a:rPr>
              <a:t>more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more  sophisticated. </a:t>
            </a:r>
            <a:r>
              <a:rPr sz="3200" dirty="0">
                <a:latin typeface="Carlito"/>
                <a:cs typeface="Carlito"/>
              </a:rPr>
              <a:t>Some </a:t>
            </a:r>
            <a:r>
              <a:rPr sz="3200" spc="-20" dirty="0">
                <a:latin typeface="Carlito"/>
                <a:cs typeface="Carlito"/>
              </a:rPr>
              <a:t>years </a:t>
            </a:r>
            <a:r>
              <a:rPr sz="3200" spc="-5" dirty="0">
                <a:latin typeface="Carlito"/>
                <a:cs typeface="Carlito"/>
              </a:rPr>
              <a:t>back, </a:t>
            </a:r>
            <a:r>
              <a:rPr sz="3200" spc="-10" dirty="0">
                <a:latin typeface="Carlito"/>
                <a:cs typeface="Carlito"/>
              </a:rPr>
              <a:t>they </a:t>
            </a:r>
            <a:r>
              <a:rPr sz="3200" dirty="0">
                <a:latin typeface="Carlito"/>
                <a:cs typeface="Carlito"/>
              </a:rPr>
              <a:t>included  </a:t>
            </a:r>
            <a:r>
              <a:rPr sz="3200" spc="-5" dirty="0">
                <a:latin typeface="Carlito"/>
                <a:cs typeface="Carlito"/>
              </a:rPr>
              <a:t>only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text.</a:t>
            </a:r>
            <a:endParaRPr sz="3200">
              <a:latin typeface="Carlito"/>
              <a:cs typeface="Carlito"/>
            </a:endParaRPr>
          </a:p>
          <a:p>
            <a:pPr marL="355600" marR="146685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95" dirty="0">
                <a:latin typeface="Carlito"/>
                <a:cs typeface="Carlito"/>
              </a:rPr>
              <a:t>Today, </a:t>
            </a:r>
            <a:r>
              <a:rPr sz="3200" spc="-5" dirty="0">
                <a:latin typeface="Carlito"/>
                <a:cs typeface="Carlito"/>
              </a:rPr>
              <a:t>they </a:t>
            </a:r>
            <a:r>
              <a:rPr sz="3200" spc="-15" dirty="0">
                <a:latin typeface="Carlito"/>
                <a:cs typeface="Carlito"/>
              </a:rPr>
              <a:t>incorporate </a:t>
            </a:r>
            <a:r>
              <a:rPr sz="3200" spc="-5" dirty="0">
                <a:latin typeface="Carlito"/>
                <a:cs typeface="Carlito"/>
              </a:rPr>
              <a:t>new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dirty="0">
                <a:latin typeface="Carlito"/>
                <a:cs typeface="Carlito"/>
              </a:rPr>
              <a:t>types – </a:t>
            </a:r>
            <a:r>
              <a:rPr sz="3200" spc="-5" dirty="0">
                <a:latin typeface="Carlito"/>
                <a:cs typeface="Carlito"/>
              </a:rPr>
              <a:t>not  only </a:t>
            </a:r>
            <a:r>
              <a:rPr sz="3200" spc="-15" dirty="0">
                <a:latin typeface="Carlito"/>
                <a:cs typeface="Carlito"/>
              </a:rPr>
              <a:t>texts </a:t>
            </a:r>
            <a:r>
              <a:rPr sz="3200" spc="-5" dirty="0">
                <a:latin typeface="Carlito"/>
                <a:cs typeface="Carlito"/>
              </a:rPr>
              <a:t>but </a:t>
            </a:r>
            <a:r>
              <a:rPr sz="3200" dirty="0">
                <a:latin typeface="Carlito"/>
                <a:cs typeface="Carlito"/>
              </a:rPr>
              <a:t>also </a:t>
            </a:r>
            <a:r>
              <a:rPr sz="3200" spc="-10" dirty="0">
                <a:latin typeface="Carlito"/>
                <a:cs typeface="Carlito"/>
              </a:rPr>
              <a:t>pictures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even </a:t>
            </a:r>
            <a:r>
              <a:rPr sz="3200" spc="-5" dirty="0">
                <a:latin typeface="Carlito"/>
                <a:cs typeface="Carlito"/>
              </a:rPr>
              <a:t>sound, 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animation.</a:t>
            </a:r>
            <a:endParaRPr sz="3200">
              <a:latin typeface="Carlito"/>
              <a:cs typeface="Carlito"/>
            </a:endParaRPr>
          </a:p>
          <a:p>
            <a:pPr marL="355600" marR="15684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Some </a:t>
            </a:r>
            <a:r>
              <a:rPr sz="3200" spc="-5" dirty="0">
                <a:latin typeface="Carlito"/>
                <a:cs typeface="Carlito"/>
              </a:rPr>
              <a:t>popular </a:t>
            </a:r>
            <a:r>
              <a:rPr sz="3200" spc="-10" dirty="0">
                <a:latin typeface="Carlito"/>
                <a:cs typeface="Carlito"/>
              </a:rPr>
              <a:t>database </a:t>
            </a:r>
            <a:r>
              <a:rPr sz="3200" spc="-5" dirty="0">
                <a:latin typeface="Carlito"/>
                <a:cs typeface="Carlito"/>
              </a:rPr>
              <a:t>management  </a:t>
            </a:r>
            <a:r>
              <a:rPr sz="3200" spc="-15" dirty="0">
                <a:latin typeface="Carlito"/>
                <a:cs typeface="Carlito"/>
              </a:rPr>
              <a:t>software </a:t>
            </a:r>
            <a:r>
              <a:rPr sz="3200" dirty="0">
                <a:latin typeface="Carlito"/>
                <a:cs typeface="Carlito"/>
              </a:rPr>
              <a:t>include </a:t>
            </a:r>
            <a:r>
              <a:rPr sz="3200" spc="-10" dirty="0">
                <a:latin typeface="Carlito"/>
                <a:cs typeface="Carlito"/>
              </a:rPr>
              <a:t>Microsoft </a:t>
            </a:r>
            <a:r>
              <a:rPr sz="3200" dirty="0">
                <a:latin typeface="Carlito"/>
                <a:cs typeface="Carlito"/>
              </a:rPr>
              <a:t>Access, </a:t>
            </a:r>
            <a:r>
              <a:rPr sz="3200" spc="-10" dirty="0">
                <a:latin typeface="Carlito"/>
                <a:cs typeface="Carlito"/>
              </a:rPr>
              <a:t>Microsoft  </a:t>
            </a:r>
            <a:r>
              <a:rPr sz="3200" spc="-5" dirty="0">
                <a:latin typeface="Carlito"/>
                <a:cs typeface="Carlito"/>
              </a:rPr>
              <a:t>Visual </a:t>
            </a:r>
            <a:r>
              <a:rPr sz="3200" spc="-30" dirty="0">
                <a:latin typeface="Carlito"/>
                <a:cs typeface="Carlito"/>
              </a:rPr>
              <a:t>FoxPro, </a:t>
            </a:r>
            <a:r>
              <a:rPr sz="3200" spc="-25" dirty="0">
                <a:latin typeface="Carlito"/>
                <a:cs typeface="Carlito"/>
              </a:rPr>
              <a:t>Paradox,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Claris </a:t>
            </a:r>
            <a:r>
              <a:rPr sz="3200" spc="-20" dirty="0">
                <a:latin typeface="Carlito"/>
                <a:cs typeface="Carlito"/>
              </a:rPr>
              <a:t>Filemaker  </a:t>
            </a:r>
            <a:r>
              <a:rPr sz="3200" spc="-15" dirty="0">
                <a:latin typeface="Carlito"/>
                <a:cs typeface="Carlito"/>
              </a:rPr>
              <a:t>Pro.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1861" y="18364"/>
            <a:ext cx="4530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Statistical</a:t>
            </a:r>
            <a:r>
              <a:rPr spc="-80" dirty="0"/>
              <a:t> </a:t>
            </a:r>
            <a:r>
              <a:rPr spc="-20" dirty="0"/>
              <a:t>Packages: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29970"/>
            <a:ext cx="8323580" cy="478155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25400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These </a:t>
            </a:r>
            <a:r>
              <a:rPr sz="3000" spc="-15" dirty="0">
                <a:latin typeface="Carlito"/>
                <a:cs typeface="Carlito"/>
              </a:rPr>
              <a:t>packages are </a:t>
            </a:r>
            <a:r>
              <a:rPr sz="3000" spc="-5" dirty="0">
                <a:latin typeface="Carlito"/>
                <a:cs typeface="Carlito"/>
              </a:rPr>
              <a:t>used by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spc="-15" dirty="0">
                <a:latin typeface="Carlito"/>
                <a:cs typeface="Carlito"/>
              </a:rPr>
              <a:t>users </a:t>
            </a:r>
            <a:r>
              <a:rPr sz="3000" spc="-25" dirty="0">
                <a:latin typeface="Carlito"/>
                <a:cs typeface="Carlito"/>
              </a:rPr>
              <a:t>for  </a:t>
            </a:r>
            <a:r>
              <a:rPr sz="3000" spc="-15" dirty="0">
                <a:latin typeface="Carlito"/>
                <a:cs typeface="Carlito"/>
              </a:rPr>
              <a:t>statistical </a:t>
            </a:r>
            <a:r>
              <a:rPr sz="3000" spc="-5" dirty="0">
                <a:latin typeface="Carlito"/>
                <a:cs typeface="Carlito"/>
              </a:rPr>
              <a:t>analysis </a:t>
            </a:r>
            <a:r>
              <a:rPr sz="3000" dirty="0">
                <a:latin typeface="Carlito"/>
                <a:cs typeface="Carlito"/>
              </a:rPr>
              <a:t>and also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5" dirty="0">
                <a:latin typeface="Carlito"/>
                <a:cs typeface="Carlito"/>
              </a:rPr>
              <a:t>producing </a:t>
            </a:r>
            <a:r>
              <a:rPr sz="3000" spc="-25" dirty="0">
                <a:latin typeface="Carlito"/>
                <a:cs typeface="Carlito"/>
              </a:rPr>
              <a:t>different  </a:t>
            </a:r>
            <a:r>
              <a:rPr sz="3000" dirty="0">
                <a:latin typeface="Carlito"/>
                <a:cs typeface="Carlito"/>
              </a:rPr>
              <a:t>types </a:t>
            </a:r>
            <a:r>
              <a:rPr sz="3000" spc="-5" dirty="0">
                <a:latin typeface="Carlito"/>
                <a:cs typeface="Carlito"/>
              </a:rPr>
              <a:t>of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graphs.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rlito"/>
                <a:cs typeface="Carlito"/>
              </a:rPr>
              <a:t>They </a:t>
            </a:r>
            <a:r>
              <a:rPr sz="3000" spc="-10" dirty="0">
                <a:latin typeface="Carlito"/>
                <a:cs typeface="Carlito"/>
              </a:rPr>
              <a:t>can be used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5" dirty="0">
                <a:latin typeface="Carlito"/>
                <a:cs typeface="Carlito"/>
              </a:rPr>
              <a:t>performing </a:t>
            </a:r>
            <a:r>
              <a:rPr sz="3000" spc="-10" dirty="0">
                <a:latin typeface="Carlito"/>
                <a:cs typeface="Carlito"/>
              </a:rPr>
              <a:t>regression  </a:t>
            </a:r>
            <a:r>
              <a:rPr sz="3000" spc="-5" dirty="0">
                <a:latin typeface="Carlito"/>
                <a:cs typeface="Carlito"/>
              </a:rPr>
              <a:t>analysis, </a:t>
            </a:r>
            <a:r>
              <a:rPr sz="3000" spc="-10" dirty="0">
                <a:latin typeface="Carlito"/>
                <a:cs typeface="Carlito"/>
              </a:rPr>
              <a:t>computation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statistical </a:t>
            </a:r>
            <a:r>
              <a:rPr sz="3000" spc="-20" dirty="0">
                <a:latin typeface="Carlito"/>
                <a:cs typeface="Carlito"/>
              </a:rPr>
              <a:t>parameters </a:t>
            </a:r>
            <a:r>
              <a:rPr sz="3000" spc="-5" dirty="0">
                <a:latin typeface="Carlito"/>
                <a:cs typeface="Carlito"/>
              </a:rPr>
              <a:t>such  </a:t>
            </a:r>
            <a:r>
              <a:rPr sz="3000" dirty="0">
                <a:latin typeface="Carlito"/>
                <a:cs typeface="Carlito"/>
              </a:rPr>
              <a:t>as the mean, </a:t>
            </a:r>
            <a:r>
              <a:rPr sz="3000" spc="-5" dirty="0">
                <a:latin typeface="Carlito"/>
                <a:cs typeface="Carlito"/>
              </a:rPr>
              <a:t>median, </a:t>
            </a:r>
            <a:r>
              <a:rPr sz="3000" spc="-15" dirty="0">
                <a:latin typeface="Carlito"/>
                <a:cs typeface="Carlito"/>
              </a:rPr>
              <a:t>standard </a:t>
            </a:r>
            <a:r>
              <a:rPr sz="3000" spc="-10" dirty="0">
                <a:latin typeface="Carlito"/>
                <a:cs typeface="Carlito"/>
              </a:rPr>
              <a:t>deviation, </a:t>
            </a:r>
            <a:r>
              <a:rPr sz="3000" spc="-15" dirty="0">
                <a:latin typeface="Carlito"/>
                <a:cs typeface="Carlito"/>
              </a:rPr>
              <a:t>kurtosis,  skewness, etc.</a:t>
            </a:r>
            <a:endParaRPr sz="3000">
              <a:latin typeface="Carlito"/>
              <a:cs typeface="Carlito"/>
            </a:endParaRPr>
          </a:p>
          <a:p>
            <a:pPr marL="355600" marR="219710" indent="-342900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rlito"/>
                <a:cs typeface="Carlito"/>
              </a:rPr>
              <a:t>They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dirty="0">
                <a:latin typeface="Carlito"/>
                <a:cs typeface="Carlito"/>
              </a:rPr>
              <a:t>also </a:t>
            </a:r>
            <a:r>
              <a:rPr sz="3000" spc="-5" dirty="0">
                <a:latin typeface="Carlito"/>
                <a:cs typeface="Carlito"/>
              </a:rPr>
              <a:t>be used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5" dirty="0">
                <a:latin typeface="Carlito"/>
                <a:cs typeface="Carlito"/>
              </a:rPr>
              <a:t>solving </a:t>
            </a:r>
            <a:r>
              <a:rPr sz="3000" spc="-20" dirty="0">
                <a:latin typeface="Carlito"/>
                <a:cs typeface="Carlito"/>
              </a:rPr>
              <a:t>systems </a:t>
            </a:r>
            <a:r>
              <a:rPr sz="3000" spc="-5" dirty="0">
                <a:latin typeface="Carlito"/>
                <a:cs typeface="Carlito"/>
              </a:rPr>
              <a:t>of linear  equations, </a:t>
            </a:r>
            <a:r>
              <a:rPr sz="3000" spc="-15" dirty="0">
                <a:latin typeface="Carlito"/>
                <a:cs typeface="Carlito"/>
              </a:rPr>
              <a:t>etc. </a:t>
            </a:r>
            <a:r>
              <a:rPr sz="3000" spc="-25" dirty="0">
                <a:latin typeface="Carlito"/>
                <a:cs typeface="Carlito"/>
              </a:rPr>
              <a:t>Typical </a:t>
            </a:r>
            <a:r>
              <a:rPr sz="3000" spc="-15" dirty="0">
                <a:latin typeface="Carlito"/>
                <a:cs typeface="Carlito"/>
              </a:rPr>
              <a:t>examples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statistical  packages are </a:t>
            </a:r>
            <a:r>
              <a:rPr sz="3000" spc="-5" dirty="0">
                <a:latin typeface="Carlito"/>
                <a:cs typeface="Carlito"/>
              </a:rPr>
              <a:t>SPSS </a:t>
            </a:r>
            <a:r>
              <a:rPr sz="3000" dirty="0">
                <a:latin typeface="Carlito"/>
                <a:cs typeface="Carlito"/>
              </a:rPr>
              <a:t>PC+, </a:t>
            </a:r>
            <a:r>
              <a:rPr sz="3000" spc="-5" dirty="0">
                <a:latin typeface="Carlito"/>
                <a:cs typeface="Carlito"/>
              </a:rPr>
              <a:t>MathLab, </a:t>
            </a:r>
            <a:r>
              <a:rPr sz="3000" spc="-35" dirty="0">
                <a:latin typeface="Carlito"/>
                <a:cs typeface="Carlito"/>
              </a:rPr>
              <a:t>MINITAB,  </a:t>
            </a:r>
            <a:r>
              <a:rPr sz="3000" spc="-40" dirty="0">
                <a:latin typeface="Carlito"/>
                <a:cs typeface="Carlito"/>
              </a:rPr>
              <a:t>MATHEMATICA, </a:t>
            </a:r>
            <a:r>
              <a:rPr sz="3000" spc="-10" dirty="0">
                <a:latin typeface="Carlito"/>
                <a:cs typeface="Carlito"/>
              </a:rPr>
              <a:t>SAS,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etc.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457" y="423113"/>
            <a:ext cx="4897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Accounting</a:t>
            </a:r>
            <a:r>
              <a:rPr spc="-30" dirty="0"/>
              <a:t> </a:t>
            </a:r>
            <a:r>
              <a:rPr spc="-25" dirty="0"/>
              <a:t>Packages: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710054"/>
            <a:ext cx="839787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These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packages designed to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spc="-10" dirty="0">
                <a:latin typeface="Carlito"/>
                <a:cs typeface="Carlito"/>
              </a:rPr>
              <a:t>used by  Companies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individuals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0" dirty="0">
                <a:latin typeface="Carlito"/>
                <a:cs typeface="Carlito"/>
              </a:rPr>
              <a:t>accounting</a:t>
            </a:r>
            <a:r>
              <a:rPr sz="3000" spc="3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purposes.</a:t>
            </a:r>
            <a:endParaRPr sz="3000">
              <a:latin typeface="Carlito"/>
              <a:cs typeface="Carlito"/>
            </a:endParaRPr>
          </a:p>
          <a:p>
            <a:pPr marL="355600" marR="63563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Thus, </a:t>
            </a:r>
            <a:r>
              <a:rPr sz="3000" dirty="0">
                <a:latin typeface="Carlito"/>
                <a:cs typeface="Carlito"/>
              </a:rPr>
              <a:t>these </a:t>
            </a:r>
            <a:r>
              <a:rPr sz="3000" spc="-15" dirty="0">
                <a:latin typeface="Carlito"/>
                <a:cs typeface="Carlito"/>
              </a:rPr>
              <a:t>packages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5" dirty="0">
                <a:latin typeface="Carlito"/>
                <a:cs typeface="Carlito"/>
              </a:rPr>
              <a:t>be used </a:t>
            </a:r>
            <a:r>
              <a:rPr sz="3000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preparing  documents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40" dirty="0">
                <a:latin typeface="Carlito"/>
                <a:cs typeface="Carlito"/>
              </a:rPr>
              <a:t>Trial </a:t>
            </a:r>
            <a:r>
              <a:rPr sz="3000" dirty="0">
                <a:latin typeface="Carlito"/>
                <a:cs typeface="Carlito"/>
              </a:rPr>
              <a:t>Balance, Balance </a:t>
            </a:r>
            <a:r>
              <a:rPr sz="3000" spc="-10" dirty="0">
                <a:latin typeface="Carlito"/>
                <a:cs typeface="Carlito"/>
              </a:rPr>
              <a:t>sheet,  </a:t>
            </a:r>
            <a:r>
              <a:rPr sz="3000" spc="-15" dirty="0">
                <a:latin typeface="Carlito"/>
                <a:cs typeface="Carlito"/>
              </a:rPr>
              <a:t>Statement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account, </a:t>
            </a:r>
            <a:r>
              <a:rPr sz="3000" spc="-15" dirty="0">
                <a:latin typeface="Carlito"/>
                <a:cs typeface="Carlito"/>
              </a:rPr>
              <a:t>Invoices,</a:t>
            </a:r>
            <a:r>
              <a:rPr sz="3000" spc="-7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etc.</a:t>
            </a:r>
            <a:endParaRPr sz="3000">
              <a:latin typeface="Carlito"/>
              <a:cs typeface="Carlito"/>
            </a:endParaRPr>
          </a:p>
          <a:p>
            <a:pPr marL="355600" marR="10160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rlito"/>
                <a:cs typeface="Carlito"/>
              </a:rPr>
              <a:t>They </a:t>
            </a:r>
            <a:r>
              <a:rPr sz="3000" spc="-10" dirty="0">
                <a:latin typeface="Carlito"/>
                <a:cs typeface="Carlito"/>
              </a:rPr>
              <a:t>can be </a:t>
            </a:r>
            <a:r>
              <a:rPr sz="3000" spc="-5" dirty="0">
                <a:latin typeface="Carlito"/>
                <a:cs typeface="Carlito"/>
              </a:rPr>
              <a:t>used by individuals </a:t>
            </a:r>
            <a:r>
              <a:rPr sz="3000" spc="-10" dirty="0">
                <a:latin typeface="Carlito"/>
                <a:cs typeface="Carlito"/>
              </a:rPr>
              <a:t>at </a:t>
            </a:r>
            <a:r>
              <a:rPr sz="3000" spc="-5" dirty="0">
                <a:latin typeface="Carlito"/>
                <a:cs typeface="Carlito"/>
              </a:rPr>
              <a:t>home </a:t>
            </a:r>
            <a:r>
              <a:rPr sz="3000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tracking  </a:t>
            </a:r>
            <a:r>
              <a:rPr sz="3000" spc="-5" dirty="0">
                <a:latin typeface="Carlito"/>
                <a:cs typeface="Carlito"/>
              </a:rPr>
              <a:t>their daily transactions or </a:t>
            </a:r>
            <a:r>
              <a:rPr sz="3000" spc="-10" dirty="0">
                <a:latin typeface="Carlito"/>
                <a:cs typeface="Carlito"/>
              </a:rPr>
              <a:t>income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expenditure.</a:t>
            </a:r>
            <a:endParaRPr sz="3000">
              <a:latin typeface="Carlito"/>
              <a:cs typeface="Carlito"/>
            </a:endParaRPr>
          </a:p>
          <a:p>
            <a:pPr marL="355600" marR="33782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Examples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these </a:t>
            </a:r>
            <a:r>
              <a:rPr sz="3000" spc="-10" dirty="0">
                <a:latin typeface="Carlito"/>
                <a:cs typeface="Carlito"/>
              </a:rPr>
              <a:t>packages </a:t>
            </a:r>
            <a:r>
              <a:rPr sz="3000" spc="-15" dirty="0">
                <a:latin typeface="Carlito"/>
                <a:cs typeface="Carlito"/>
              </a:rPr>
              <a:t>are SAGE </a:t>
            </a:r>
            <a:r>
              <a:rPr sz="3000" spc="-5" dirty="0">
                <a:latin typeface="Carlito"/>
                <a:cs typeface="Carlito"/>
              </a:rPr>
              <a:t>Accounting,  CA-Simply Accounting, </a:t>
            </a:r>
            <a:r>
              <a:rPr sz="3000" dirty="0">
                <a:latin typeface="Carlito"/>
                <a:cs typeface="Carlito"/>
              </a:rPr>
              <a:t>MS </a:t>
            </a:r>
            <a:r>
              <a:rPr sz="3000" spc="-45" dirty="0">
                <a:latin typeface="Carlito"/>
                <a:cs typeface="Carlito"/>
              </a:rPr>
              <a:t>Money, </a:t>
            </a:r>
            <a:r>
              <a:rPr sz="3000" spc="-15" dirty="0">
                <a:latin typeface="Carlito"/>
                <a:cs typeface="Carlito"/>
              </a:rPr>
              <a:t>Quicken,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etc.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8629" y="279653"/>
            <a:ext cx="5956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Communication</a:t>
            </a:r>
            <a:r>
              <a:rPr spc="-20" dirty="0"/>
              <a:t> </a:t>
            </a:r>
            <a:r>
              <a:rPr spc="-25" dirty="0"/>
              <a:t>Packages: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7790815" cy="44615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These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software packages </a:t>
            </a:r>
            <a:r>
              <a:rPr sz="3000" spc="-5" dirty="0">
                <a:latin typeface="Carlito"/>
                <a:cs typeface="Carlito"/>
              </a:rPr>
              <a:t>that allow two or  </a:t>
            </a:r>
            <a:r>
              <a:rPr sz="3000" spc="-10" dirty="0">
                <a:latin typeface="Carlito"/>
                <a:cs typeface="Carlito"/>
              </a:rPr>
              <a:t>more Computer </a:t>
            </a:r>
            <a:r>
              <a:rPr sz="3000" spc="-15" dirty="0">
                <a:latin typeface="Carlito"/>
                <a:cs typeface="Carlito"/>
              </a:rPr>
              <a:t>users </a:t>
            </a:r>
            <a:r>
              <a:rPr sz="3000" spc="-10" dirty="0">
                <a:latin typeface="Carlito"/>
                <a:cs typeface="Carlito"/>
              </a:rPr>
              <a:t>to communicate </a:t>
            </a:r>
            <a:r>
              <a:rPr sz="3000" dirty="0">
                <a:latin typeface="Carlito"/>
                <a:cs typeface="Carlito"/>
              </a:rPr>
              <a:t>with </a:t>
            </a:r>
            <a:r>
              <a:rPr sz="3000" spc="-5" dirty="0">
                <a:latin typeface="Carlito"/>
                <a:cs typeface="Carlito"/>
              </a:rPr>
              <a:t>one  </a:t>
            </a:r>
            <a:r>
              <a:rPr sz="3000" dirty="0">
                <a:latin typeface="Carlito"/>
                <a:cs typeface="Carlito"/>
              </a:rPr>
              <a:t>another </a:t>
            </a:r>
            <a:r>
              <a:rPr sz="3000" spc="-5" dirty="0">
                <a:latin typeface="Carlito"/>
                <a:cs typeface="Carlito"/>
              </a:rPr>
              <a:t>if </a:t>
            </a:r>
            <a:r>
              <a:rPr sz="3000" dirty="0">
                <a:latin typeface="Carlito"/>
                <a:cs typeface="Carlito"/>
              </a:rPr>
              <a:t>the necessary </a:t>
            </a:r>
            <a:r>
              <a:rPr sz="3000" spc="-15" dirty="0">
                <a:latin typeface="Carlito"/>
                <a:cs typeface="Carlito"/>
              </a:rPr>
              <a:t>hardware </a:t>
            </a:r>
            <a:r>
              <a:rPr sz="3000" spc="-10" dirty="0">
                <a:latin typeface="Carlito"/>
                <a:cs typeface="Carlito"/>
              </a:rPr>
              <a:t>components  are </a:t>
            </a:r>
            <a:r>
              <a:rPr sz="3000" dirty="0">
                <a:latin typeface="Carlito"/>
                <a:cs typeface="Carlito"/>
              </a:rPr>
              <a:t>in</a:t>
            </a:r>
            <a:r>
              <a:rPr sz="3000" spc="-5" dirty="0">
                <a:latin typeface="Carlito"/>
                <a:cs typeface="Carlito"/>
              </a:rPr>
              <a:t> place.</a:t>
            </a:r>
            <a:endParaRPr sz="3000">
              <a:latin typeface="Carlito"/>
              <a:cs typeface="Carlito"/>
            </a:endParaRPr>
          </a:p>
          <a:p>
            <a:pPr marL="355600" marR="33655" indent="-342900">
              <a:lnSpc>
                <a:spcPts val="324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Examples </a:t>
            </a:r>
            <a:r>
              <a:rPr sz="3000" spc="-5" dirty="0">
                <a:latin typeface="Carlito"/>
                <a:cs typeface="Carlito"/>
              </a:rPr>
              <a:t>of these </a:t>
            </a:r>
            <a:r>
              <a:rPr sz="3000" spc="-10" dirty="0">
                <a:latin typeface="Carlito"/>
                <a:cs typeface="Carlito"/>
              </a:rPr>
              <a:t>packages are Derlina </a:t>
            </a:r>
            <a:r>
              <a:rPr sz="3000" spc="-25" dirty="0">
                <a:latin typeface="Carlito"/>
                <a:cs typeface="Carlito"/>
              </a:rPr>
              <a:t>WinFax,  </a:t>
            </a:r>
            <a:r>
              <a:rPr sz="3000" dirty="0">
                <a:latin typeface="Carlito"/>
                <a:cs typeface="Carlito"/>
              </a:rPr>
              <a:t>EUDORA, INTERNET in a </a:t>
            </a:r>
            <a:r>
              <a:rPr sz="3000" spc="-20" dirty="0">
                <a:latin typeface="Carlito"/>
                <a:cs typeface="Carlito"/>
              </a:rPr>
              <a:t>Box,</a:t>
            </a:r>
            <a:r>
              <a:rPr sz="3000" spc="-3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etc.</a:t>
            </a:r>
            <a:endParaRPr sz="3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40" dirty="0">
                <a:latin typeface="Carlito"/>
                <a:cs typeface="Carlito"/>
              </a:rPr>
              <a:t>Web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Browsers:</a:t>
            </a:r>
            <a:endParaRPr sz="3000">
              <a:latin typeface="Carlito"/>
              <a:cs typeface="Carlito"/>
            </a:endParaRPr>
          </a:p>
          <a:p>
            <a:pPr marL="355600" marR="309880" indent="-342900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spc="-5" dirty="0">
                <a:latin typeface="Carlito"/>
                <a:cs typeface="Carlito"/>
              </a:rPr>
              <a:t>These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packages that </a:t>
            </a:r>
            <a:r>
              <a:rPr sz="3000" spc="-5" dirty="0">
                <a:latin typeface="Carlito"/>
                <a:cs typeface="Carlito"/>
              </a:rPr>
              <a:t>enable one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surf</a:t>
            </a:r>
            <a:r>
              <a:rPr sz="3000" spc="-1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or  </a:t>
            </a:r>
            <a:r>
              <a:rPr sz="3000" spc="-20" dirty="0">
                <a:latin typeface="Carlito"/>
                <a:cs typeface="Carlito"/>
              </a:rPr>
              <a:t>browse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internet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0" dirty="0">
                <a:latin typeface="Carlito"/>
                <a:cs typeface="Carlito"/>
              </a:rPr>
              <a:t>data, information,  </a:t>
            </a:r>
            <a:r>
              <a:rPr sz="3000" spc="-5" dirty="0">
                <a:latin typeface="Carlito"/>
                <a:cs typeface="Carlito"/>
              </a:rPr>
              <a:t>chatting, sending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receiving </a:t>
            </a:r>
            <a:r>
              <a:rPr sz="3000" dirty="0">
                <a:latin typeface="Carlito"/>
                <a:cs typeface="Carlito"/>
              </a:rPr>
              <a:t>emails,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etc.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1607946"/>
            <a:ext cx="7963534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Some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commonly used web </a:t>
            </a:r>
            <a:r>
              <a:rPr sz="3200" spc="-20" dirty="0">
                <a:latin typeface="Carlito"/>
                <a:cs typeface="Carlito"/>
              </a:rPr>
              <a:t>browsers 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spc="-45" dirty="0">
                <a:latin typeface="Carlito"/>
                <a:cs typeface="Carlito"/>
              </a:rPr>
              <a:t>Yahoo, </a:t>
            </a:r>
            <a:r>
              <a:rPr sz="3200" spc="-5" dirty="0">
                <a:latin typeface="Carlito"/>
                <a:cs typeface="Carlito"/>
              </a:rPr>
              <a:t>Netscape, </a:t>
            </a:r>
            <a:r>
              <a:rPr sz="3200" spc="-35" dirty="0">
                <a:latin typeface="Carlito"/>
                <a:cs typeface="Carlito"/>
              </a:rPr>
              <a:t>Explorer, </a:t>
            </a:r>
            <a:r>
              <a:rPr sz="3200" spc="-10" dirty="0">
                <a:latin typeface="Carlito"/>
                <a:cs typeface="Carlito"/>
              </a:rPr>
              <a:t>Mozilla </a:t>
            </a:r>
            <a:r>
              <a:rPr sz="3200" spc="-25" dirty="0">
                <a:latin typeface="Carlito"/>
                <a:cs typeface="Carlito"/>
              </a:rPr>
              <a:t>Firefox,  </a:t>
            </a:r>
            <a:r>
              <a:rPr sz="3200" dirty="0">
                <a:latin typeface="Carlito"/>
                <a:cs typeface="Carlito"/>
              </a:rPr>
              <a:t>Google,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etc.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280" y="461899"/>
            <a:ext cx="54076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8011795" cy="43243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62865" indent="-342900">
              <a:lnSpc>
                <a:spcPts val="2880"/>
              </a:lnSpc>
              <a:spcBef>
                <a:spcPts val="7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network is </a:t>
            </a:r>
            <a:r>
              <a:rPr sz="3000" spc="-5" dirty="0">
                <a:latin typeface="Carlito"/>
                <a:cs typeface="Carlito"/>
              </a:rPr>
              <a:t>basically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combination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hardware 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software </a:t>
            </a:r>
            <a:r>
              <a:rPr sz="3000" spc="-5" dirty="0">
                <a:latin typeface="Carlito"/>
                <a:cs typeface="Carlito"/>
              </a:rPr>
              <a:t>that send </a:t>
            </a:r>
            <a:r>
              <a:rPr sz="3000" spc="-15" dirty="0">
                <a:latin typeface="Carlito"/>
                <a:cs typeface="Carlito"/>
              </a:rPr>
              <a:t>data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one </a:t>
            </a:r>
            <a:r>
              <a:rPr sz="3000" spc="-10" dirty="0">
                <a:latin typeface="Carlito"/>
                <a:cs typeface="Carlito"/>
              </a:rPr>
              <a:t>computer  to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40" dirty="0">
                <a:latin typeface="Carlito"/>
                <a:cs typeface="Carlito"/>
              </a:rPr>
              <a:t>another.</a:t>
            </a:r>
            <a:endParaRPr sz="3000">
              <a:latin typeface="Carlito"/>
              <a:cs typeface="Carlito"/>
            </a:endParaRPr>
          </a:p>
          <a:p>
            <a:pPr marL="355600" marR="103505" indent="-342900">
              <a:lnSpc>
                <a:spcPts val="2880"/>
              </a:lnSpc>
              <a:spcBef>
                <a:spcPts val="720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dirty="0">
                <a:latin typeface="Carlito"/>
                <a:cs typeface="Carlito"/>
              </a:rPr>
              <a:t>It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dirty="0">
                <a:latin typeface="Carlito"/>
                <a:cs typeface="Carlito"/>
              </a:rPr>
              <a:t>also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spc="-10" dirty="0">
                <a:latin typeface="Carlito"/>
                <a:cs typeface="Carlito"/>
              </a:rPr>
              <a:t>defined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5" dirty="0">
                <a:latin typeface="Carlito"/>
                <a:cs typeface="Carlito"/>
              </a:rPr>
              <a:t>two or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spc="-20" dirty="0">
                <a:latin typeface="Carlito"/>
                <a:cs typeface="Carlito"/>
              </a:rPr>
              <a:t>computers  </a:t>
            </a:r>
            <a:r>
              <a:rPr sz="3000" spc="-5" dirty="0">
                <a:latin typeface="Carlito"/>
                <a:cs typeface="Carlito"/>
              </a:rPr>
              <a:t>that </a:t>
            </a:r>
            <a:r>
              <a:rPr sz="3000" spc="-10" dirty="0">
                <a:latin typeface="Carlito"/>
                <a:cs typeface="Carlito"/>
              </a:rPr>
              <a:t>are connected to </a:t>
            </a:r>
            <a:r>
              <a:rPr sz="3000" dirty="0">
                <a:latin typeface="Carlito"/>
                <a:cs typeface="Carlito"/>
              </a:rPr>
              <a:t>each </a:t>
            </a:r>
            <a:r>
              <a:rPr sz="3000" spc="-5" dirty="0">
                <a:latin typeface="Carlito"/>
                <a:cs typeface="Carlito"/>
              </a:rPr>
              <a:t>other </a:t>
            </a:r>
            <a:r>
              <a:rPr sz="3000" spc="-10" dirty="0">
                <a:latin typeface="Carlito"/>
                <a:cs typeface="Carlito"/>
              </a:rPr>
              <a:t>to share </a:t>
            </a:r>
            <a:r>
              <a:rPr sz="3000" dirty="0">
                <a:latin typeface="Carlito"/>
                <a:cs typeface="Carlito"/>
              </a:rPr>
              <a:t>and  </a:t>
            </a:r>
            <a:r>
              <a:rPr sz="3000" spc="-20" dirty="0">
                <a:latin typeface="Carlito"/>
                <a:cs typeface="Carlito"/>
              </a:rPr>
              <a:t>exchange</a:t>
            </a:r>
            <a:r>
              <a:rPr sz="3000" spc="-15" dirty="0">
                <a:latin typeface="Carlito"/>
                <a:cs typeface="Carlito"/>
              </a:rPr>
              <a:t> data.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80000"/>
              </a:lnSpc>
              <a:spcBef>
                <a:spcPts val="7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hardware </a:t>
            </a:r>
            <a:r>
              <a:rPr sz="3000" spc="-10" dirty="0">
                <a:latin typeface="Carlito"/>
                <a:cs typeface="Carlito"/>
              </a:rPr>
              <a:t>consist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20" dirty="0">
                <a:latin typeface="Carlito"/>
                <a:cs typeface="Carlito"/>
              </a:rPr>
              <a:t>physical </a:t>
            </a:r>
            <a:r>
              <a:rPr sz="3000" spc="-10" dirty="0">
                <a:latin typeface="Carlito"/>
                <a:cs typeface="Carlito"/>
              </a:rPr>
              <a:t>components  </a:t>
            </a:r>
            <a:r>
              <a:rPr sz="3000" spc="-5" dirty="0">
                <a:latin typeface="Carlito"/>
                <a:cs typeface="Carlito"/>
              </a:rPr>
              <a:t>that carries </a:t>
            </a:r>
            <a:r>
              <a:rPr sz="3000" spc="-20" dirty="0">
                <a:latin typeface="Carlito"/>
                <a:cs typeface="Carlito"/>
              </a:rPr>
              <a:t>data </a:t>
            </a:r>
            <a:r>
              <a:rPr sz="3000" spc="-5" dirty="0">
                <a:latin typeface="Carlito"/>
                <a:cs typeface="Carlito"/>
              </a:rPr>
              <a:t>or signals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spc="-5" dirty="0">
                <a:latin typeface="Carlito"/>
                <a:cs typeface="Carlito"/>
              </a:rPr>
              <a:t>one </a:t>
            </a:r>
            <a:r>
              <a:rPr sz="3000" spc="-10" dirty="0">
                <a:latin typeface="Carlito"/>
                <a:cs typeface="Carlito"/>
              </a:rPr>
              <a:t>point to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5" dirty="0">
                <a:latin typeface="Carlito"/>
                <a:cs typeface="Carlito"/>
              </a:rPr>
              <a:t>other </a:t>
            </a:r>
            <a:r>
              <a:rPr sz="3000" dirty="0">
                <a:latin typeface="Carlito"/>
                <a:cs typeface="Carlito"/>
              </a:rPr>
              <a:t>while the </a:t>
            </a:r>
            <a:r>
              <a:rPr sz="3000" spc="-10" dirty="0">
                <a:latin typeface="Carlito"/>
                <a:cs typeface="Carlito"/>
              </a:rPr>
              <a:t>software are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instructions </a:t>
            </a:r>
            <a:r>
              <a:rPr sz="3000" spc="-10" dirty="0">
                <a:latin typeface="Carlito"/>
                <a:cs typeface="Carlito"/>
              </a:rPr>
              <a:t>that  </a:t>
            </a:r>
            <a:r>
              <a:rPr sz="3000" spc="-20" dirty="0">
                <a:latin typeface="Carlito"/>
                <a:cs typeface="Carlito"/>
              </a:rPr>
              <a:t>make </a:t>
            </a:r>
            <a:r>
              <a:rPr sz="3000" dirty="0">
                <a:latin typeface="Carlito"/>
                <a:cs typeface="Carlito"/>
              </a:rPr>
              <a:t>the services </a:t>
            </a:r>
            <a:r>
              <a:rPr sz="3000" spc="-15" dirty="0">
                <a:latin typeface="Carlito"/>
                <a:cs typeface="Carlito"/>
              </a:rPr>
              <a:t>expected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network  </a:t>
            </a:r>
            <a:r>
              <a:rPr sz="3000" spc="-5" dirty="0">
                <a:latin typeface="Carlito"/>
                <a:cs typeface="Carlito"/>
              </a:rPr>
              <a:t>possible.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280" y="461899"/>
            <a:ext cx="54076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8018145" cy="412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4193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computer network must </a:t>
            </a:r>
            <a:r>
              <a:rPr sz="3200" dirty="0">
                <a:latin typeface="Carlito"/>
                <a:cs typeface="Carlito"/>
              </a:rPr>
              <a:t>meet a </a:t>
            </a:r>
            <a:r>
              <a:rPr sz="3200" spc="-5" dirty="0">
                <a:latin typeface="Carlito"/>
                <a:cs typeface="Carlito"/>
              </a:rPr>
              <a:t>number of  criteria, notable </a:t>
            </a:r>
            <a:r>
              <a:rPr sz="3200" dirty="0">
                <a:latin typeface="Carlito"/>
                <a:cs typeface="Carlito"/>
              </a:rPr>
              <a:t>among these </a:t>
            </a:r>
            <a:r>
              <a:rPr sz="3200" spc="-10" dirty="0">
                <a:latin typeface="Carlito"/>
                <a:cs typeface="Carlito"/>
              </a:rPr>
              <a:t>are  performance, </a:t>
            </a:r>
            <a:r>
              <a:rPr sz="3200" spc="-5" dirty="0">
                <a:latin typeface="Carlito"/>
                <a:cs typeface="Carlito"/>
              </a:rPr>
              <a:t>security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reliability.</a:t>
            </a:r>
            <a:endParaRPr sz="3200">
              <a:latin typeface="Carlito"/>
              <a:cs typeface="Carlito"/>
            </a:endParaRPr>
          </a:p>
          <a:p>
            <a:pPr marL="355600" marR="3175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i="1" spc="-15" dirty="0">
                <a:latin typeface="Carlito"/>
                <a:cs typeface="Carlito"/>
              </a:rPr>
              <a:t>Performance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normally measured in </a:t>
            </a:r>
            <a:r>
              <a:rPr sz="3200" spc="-10" dirty="0">
                <a:latin typeface="Carlito"/>
                <a:cs typeface="Carlito"/>
              </a:rPr>
              <a:t>terms </a:t>
            </a:r>
            <a:r>
              <a:rPr sz="3200" dirty="0">
                <a:latin typeface="Carlito"/>
                <a:cs typeface="Carlito"/>
              </a:rPr>
              <a:t>of  </a:t>
            </a:r>
            <a:r>
              <a:rPr sz="3200" spc="-10" dirty="0">
                <a:latin typeface="Carlito"/>
                <a:cs typeface="Carlito"/>
              </a:rPr>
              <a:t>transit </a:t>
            </a:r>
            <a:r>
              <a:rPr sz="3200" spc="-5" dirty="0">
                <a:latin typeface="Carlito"/>
                <a:cs typeface="Carlito"/>
              </a:rPr>
              <a:t>time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response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time.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performance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network can </a:t>
            </a:r>
            <a:r>
              <a:rPr sz="3200" spc="-5" dirty="0">
                <a:latin typeface="Carlito"/>
                <a:cs typeface="Carlito"/>
              </a:rPr>
              <a:t>be </a:t>
            </a:r>
            <a:r>
              <a:rPr sz="3200" spc="-25" dirty="0">
                <a:latin typeface="Carlito"/>
                <a:cs typeface="Carlito"/>
              </a:rPr>
              <a:t>affected  </a:t>
            </a:r>
            <a:r>
              <a:rPr sz="3200" spc="-5" dirty="0">
                <a:latin typeface="Carlito"/>
                <a:cs typeface="Carlito"/>
              </a:rPr>
              <a:t>by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number </a:t>
            </a:r>
            <a:r>
              <a:rPr sz="3200" dirty="0">
                <a:latin typeface="Carlito"/>
                <a:cs typeface="Carlito"/>
              </a:rPr>
              <a:t>of people on the </a:t>
            </a:r>
            <a:r>
              <a:rPr sz="3200" spc="-10" dirty="0">
                <a:latin typeface="Carlito"/>
                <a:cs typeface="Carlito"/>
              </a:rPr>
              <a:t>network at </a:t>
            </a:r>
            <a:r>
              <a:rPr sz="3200" dirty="0">
                <a:latin typeface="Carlito"/>
                <a:cs typeface="Carlito"/>
              </a:rPr>
              <a:t>a  time, the </a:t>
            </a:r>
            <a:r>
              <a:rPr sz="3200" spc="-5" dirty="0">
                <a:latin typeface="Carlito"/>
                <a:cs typeface="Carlito"/>
              </a:rPr>
              <a:t>transmission </a:t>
            </a:r>
            <a:r>
              <a:rPr sz="3200" dirty="0">
                <a:latin typeface="Carlito"/>
                <a:cs typeface="Carlito"/>
              </a:rPr>
              <a:t>medium,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etc.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280" y="461899"/>
            <a:ext cx="54076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7840980" cy="43243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5080" indent="-342900">
              <a:lnSpc>
                <a:spcPts val="2880"/>
              </a:lnSpc>
              <a:spcBef>
                <a:spcPts val="7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i="1" spc="-5" dirty="0">
                <a:latin typeface="Carlito"/>
                <a:cs typeface="Carlito"/>
              </a:rPr>
              <a:t>Security </a:t>
            </a:r>
            <a:r>
              <a:rPr sz="3000" spc="-10" dirty="0">
                <a:latin typeface="Carlito"/>
                <a:cs typeface="Carlito"/>
              </a:rPr>
              <a:t>basically deals </a:t>
            </a:r>
            <a:r>
              <a:rPr sz="3000" dirty="0">
                <a:latin typeface="Carlito"/>
                <a:cs typeface="Carlito"/>
              </a:rPr>
              <a:t>with </a:t>
            </a:r>
            <a:r>
              <a:rPr sz="3000" spc="-15" dirty="0">
                <a:latin typeface="Carlito"/>
                <a:cs typeface="Carlito"/>
              </a:rPr>
              <a:t>preventing  </a:t>
            </a:r>
            <a:r>
              <a:rPr sz="3000" spc="-10" dirty="0">
                <a:latin typeface="Carlito"/>
                <a:cs typeface="Carlito"/>
              </a:rPr>
              <a:t>unauthorized </a:t>
            </a:r>
            <a:r>
              <a:rPr sz="3000" spc="-15" dirty="0">
                <a:latin typeface="Carlito"/>
                <a:cs typeface="Carlito"/>
              </a:rPr>
              <a:t>users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access, </a:t>
            </a:r>
            <a:r>
              <a:rPr sz="3000" spc="-15" dirty="0">
                <a:latin typeface="Carlito"/>
                <a:cs typeface="Carlito"/>
              </a:rPr>
              <a:t>update </a:t>
            </a:r>
            <a:r>
              <a:rPr sz="3000" spc="-5" dirty="0">
                <a:latin typeface="Carlito"/>
                <a:cs typeface="Carlito"/>
              </a:rPr>
              <a:t>or damage  </a:t>
            </a:r>
            <a:r>
              <a:rPr sz="3000" spc="-15" dirty="0">
                <a:latin typeface="Carlito"/>
                <a:cs typeface="Carlito"/>
              </a:rPr>
              <a:t>data.</a:t>
            </a:r>
            <a:endParaRPr sz="3000">
              <a:latin typeface="Carlito"/>
              <a:cs typeface="Carlito"/>
            </a:endParaRPr>
          </a:p>
          <a:p>
            <a:pPr marL="12700" marR="1066800">
              <a:lnSpc>
                <a:spcPts val="2880"/>
              </a:lnSpc>
              <a:spcBef>
                <a:spcPts val="720"/>
              </a:spcBef>
            </a:pPr>
            <a:r>
              <a:rPr sz="3000" dirty="0">
                <a:latin typeface="Carlito"/>
                <a:cs typeface="Carlito"/>
              </a:rPr>
              <a:t>It also </a:t>
            </a:r>
            <a:r>
              <a:rPr sz="3000" spc="-5" dirty="0">
                <a:latin typeface="Carlito"/>
                <a:cs typeface="Carlito"/>
              </a:rPr>
              <a:t>deals with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policies </a:t>
            </a:r>
            <a:r>
              <a:rPr sz="3000" spc="-10" dirty="0">
                <a:latin typeface="Carlito"/>
                <a:cs typeface="Carlito"/>
              </a:rPr>
              <a:t>needed </a:t>
            </a:r>
            <a:r>
              <a:rPr sz="3000" spc="-25" dirty="0">
                <a:latin typeface="Carlito"/>
                <a:cs typeface="Carlito"/>
              </a:rPr>
              <a:t>for  </a:t>
            </a:r>
            <a:r>
              <a:rPr sz="3000" spc="-10" dirty="0">
                <a:latin typeface="Carlito"/>
                <a:cs typeface="Carlito"/>
              </a:rPr>
              <a:t>implementation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procedures </a:t>
            </a:r>
            <a:r>
              <a:rPr sz="3000" spc="-10" dirty="0">
                <a:latin typeface="Carlito"/>
                <a:cs typeface="Carlito"/>
              </a:rPr>
              <a:t>needed </a:t>
            </a:r>
            <a:r>
              <a:rPr sz="3000" spc="-25" dirty="0">
                <a:latin typeface="Carlito"/>
                <a:cs typeface="Carlito"/>
              </a:rPr>
              <a:t>for  </a:t>
            </a:r>
            <a:r>
              <a:rPr sz="3000" spc="-15" dirty="0">
                <a:latin typeface="Carlito"/>
                <a:cs typeface="Carlito"/>
              </a:rPr>
              <a:t>recovery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spc="-10" dirty="0">
                <a:latin typeface="Carlito"/>
                <a:cs typeface="Carlito"/>
              </a:rPr>
              <a:t>breaches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20" dirty="0">
                <a:latin typeface="Carlito"/>
                <a:cs typeface="Carlito"/>
              </a:rPr>
              <a:t>data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loses.</a:t>
            </a:r>
            <a:endParaRPr sz="3000">
              <a:latin typeface="Carlito"/>
              <a:cs typeface="Carlito"/>
            </a:endParaRPr>
          </a:p>
          <a:p>
            <a:pPr marL="355600" marR="156210" indent="-342900">
              <a:lnSpc>
                <a:spcPts val="288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i="1" spc="-10" dirty="0">
                <a:latin typeface="Carlito"/>
                <a:cs typeface="Carlito"/>
              </a:rPr>
              <a:t>Reliability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usually </a:t>
            </a:r>
            <a:r>
              <a:rPr sz="3000" spc="-5" dirty="0">
                <a:latin typeface="Carlito"/>
                <a:cs typeface="Carlito"/>
              </a:rPr>
              <a:t>measured </a:t>
            </a:r>
            <a:r>
              <a:rPr sz="3000" spc="-15" dirty="0">
                <a:latin typeface="Carlito"/>
                <a:cs typeface="Carlito"/>
              </a:rPr>
              <a:t>by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frequency  </a:t>
            </a:r>
            <a:r>
              <a:rPr sz="3000" spc="-10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which </a:t>
            </a:r>
            <a:r>
              <a:rPr sz="3000" spc="-20" dirty="0">
                <a:latin typeface="Carlito"/>
                <a:cs typeface="Carlito"/>
              </a:rPr>
              <a:t>failure </a:t>
            </a:r>
            <a:r>
              <a:rPr sz="3000" spc="-10" dirty="0">
                <a:latin typeface="Carlito"/>
                <a:cs typeface="Carlito"/>
              </a:rPr>
              <a:t>occurs, </a:t>
            </a:r>
            <a:r>
              <a:rPr sz="3000" dirty="0">
                <a:latin typeface="Carlito"/>
                <a:cs typeface="Carlito"/>
              </a:rPr>
              <a:t>the time </a:t>
            </a:r>
            <a:r>
              <a:rPr sz="3000" spc="-10" dirty="0">
                <a:latin typeface="Carlito"/>
                <a:cs typeface="Carlito"/>
              </a:rPr>
              <a:t>it </a:t>
            </a:r>
            <a:r>
              <a:rPr sz="3000" spc="-25" dirty="0">
                <a:latin typeface="Carlito"/>
                <a:cs typeface="Carlito"/>
              </a:rPr>
              <a:t>takes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network </a:t>
            </a:r>
            <a:r>
              <a:rPr sz="3000" spc="-15" dirty="0">
                <a:latin typeface="Carlito"/>
                <a:cs typeface="Carlito"/>
              </a:rPr>
              <a:t>to recover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0" dirty="0">
                <a:latin typeface="Carlito"/>
                <a:cs typeface="Carlito"/>
              </a:rPr>
              <a:t>failure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5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the</a:t>
            </a:r>
            <a:endParaRPr sz="3000">
              <a:latin typeface="Carlito"/>
              <a:cs typeface="Carlito"/>
            </a:endParaRPr>
          </a:p>
          <a:p>
            <a:pPr marL="355600" marR="1110615">
              <a:lnSpc>
                <a:spcPts val="2880"/>
              </a:lnSpc>
            </a:pPr>
            <a:r>
              <a:rPr sz="3000" spc="-15" dirty="0">
                <a:latin typeface="Carlito"/>
                <a:cs typeface="Carlito"/>
              </a:rPr>
              <a:t>network‘s </a:t>
            </a:r>
            <a:r>
              <a:rPr sz="3000" spc="-10" dirty="0">
                <a:latin typeface="Carlito"/>
                <a:cs typeface="Carlito"/>
              </a:rPr>
              <a:t>robustness </a:t>
            </a:r>
            <a:r>
              <a:rPr sz="3000" dirty="0">
                <a:latin typeface="Carlito"/>
                <a:cs typeface="Carlito"/>
              </a:rPr>
              <a:t>in an </a:t>
            </a:r>
            <a:r>
              <a:rPr sz="3000" spc="-10" dirty="0">
                <a:latin typeface="Carlito"/>
                <a:cs typeface="Carlito"/>
              </a:rPr>
              <a:t>emergency </a:t>
            </a:r>
            <a:r>
              <a:rPr sz="3000" spc="-5" dirty="0">
                <a:latin typeface="Carlito"/>
                <a:cs typeface="Carlito"/>
              </a:rPr>
              <a:t>or  </a:t>
            </a:r>
            <a:r>
              <a:rPr sz="3000" spc="-45" dirty="0">
                <a:latin typeface="Carlito"/>
                <a:cs typeface="Carlito"/>
              </a:rPr>
              <a:t>disaster.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166" y="461899"/>
            <a:ext cx="7646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TYPES </a:t>
            </a:r>
            <a:r>
              <a:rPr spc="-5" dirty="0"/>
              <a:t>OF </a:t>
            </a:r>
            <a:r>
              <a:rPr spc="-10" dirty="0"/>
              <a:t>COMPUTER</a:t>
            </a:r>
            <a:r>
              <a:rPr spc="-4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051001"/>
            <a:ext cx="8368665" cy="523938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88265">
              <a:lnSpc>
                <a:spcPct val="80000"/>
              </a:lnSpc>
              <a:spcBef>
                <a:spcPts val="819"/>
              </a:spcBef>
            </a:pPr>
            <a:r>
              <a:rPr sz="3000" dirty="0">
                <a:latin typeface="Carlito"/>
                <a:cs typeface="Carlito"/>
              </a:rPr>
              <a:t>As </a:t>
            </a:r>
            <a:r>
              <a:rPr sz="3000" spc="-5" dirty="0">
                <a:latin typeface="Carlito"/>
                <a:cs typeface="Carlito"/>
              </a:rPr>
              <a:t>mentioned </a:t>
            </a:r>
            <a:r>
              <a:rPr sz="3000" spc="-40" dirty="0">
                <a:latin typeface="Carlito"/>
                <a:cs typeface="Carlito"/>
              </a:rPr>
              <a:t>earlier,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network </a:t>
            </a:r>
            <a:r>
              <a:rPr sz="3000" spc="-15" dirty="0">
                <a:latin typeface="Carlito"/>
                <a:cs typeface="Carlito"/>
              </a:rPr>
              <a:t>consists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two </a:t>
            </a:r>
            <a:r>
              <a:rPr sz="3000" spc="-5" dirty="0">
                <a:latin typeface="Carlito"/>
                <a:cs typeface="Carlito"/>
              </a:rPr>
              <a:t>or  </a:t>
            </a:r>
            <a:r>
              <a:rPr sz="3000" spc="-10" dirty="0">
                <a:latin typeface="Carlito"/>
                <a:cs typeface="Carlito"/>
              </a:rPr>
              <a:t>more devices that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5" dirty="0">
                <a:latin typeface="Carlito"/>
                <a:cs typeface="Carlito"/>
              </a:rPr>
              <a:t>been </a:t>
            </a:r>
            <a:r>
              <a:rPr sz="3000" spc="-10" dirty="0">
                <a:latin typeface="Carlito"/>
                <a:cs typeface="Carlito"/>
              </a:rPr>
              <a:t>connected through links 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send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receive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data.</a:t>
            </a:r>
            <a:endParaRPr sz="3000">
              <a:latin typeface="Carlito"/>
              <a:cs typeface="Carlito"/>
            </a:endParaRPr>
          </a:p>
          <a:p>
            <a:pPr marL="12700" marR="1388110">
              <a:lnSpc>
                <a:spcPts val="2880"/>
              </a:lnSpc>
              <a:spcBef>
                <a:spcPts val="695"/>
              </a:spcBef>
            </a:pP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link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simply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communication </a:t>
            </a:r>
            <a:r>
              <a:rPr sz="3000" spc="-25" dirty="0">
                <a:latin typeface="Carlito"/>
                <a:cs typeface="Carlito"/>
              </a:rPr>
              <a:t>pathway for  </a:t>
            </a:r>
            <a:r>
              <a:rPr sz="3000" spc="-20" dirty="0">
                <a:latin typeface="Carlito"/>
                <a:cs typeface="Carlito"/>
              </a:rPr>
              <a:t>transferring </a:t>
            </a:r>
            <a:r>
              <a:rPr sz="3000" spc="-15" dirty="0">
                <a:latin typeface="Carlito"/>
                <a:cs typeface="Carlito"/>
              </a:rPr>
              <a:t>data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spc="-5" dirty="0">
                <a:latin typeface="Carlito"/>
                <a:cs typeface="Carlito"/>
              </a:rPr>
              <a:t>one device </a:t>
            </a:r>
            <a:r>
              <a:rPr sz="3000" spc="-15" dirty="0">
                <a:latin typeface="Carlito"/>
                <a:cs typeface="Carlito"/>
              </a:rPr>
              <a:t>to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40" dirty="0">
                <a:latin typeface="Carlito"/>
                <a:cs typeface="Carlito"/>
              </a:rPr>
              <a:t>another.</a:t>
            </a:r>
            <a:endParaRPr sz="3000">
              <a:latin typeface="Carlito"/>
              <a:cs typeface="Carlito"/>
            </a:endParaRPr>
          </a:p>
          <a:p>
            <a:pPr marL="12700" marR="289560">
              <a:lnSpc>
                <a:spcPct val="80000"/>
              </a:lnSpc>
              <a:spcBef>
                <a:spcPts val="750"/>
              </a:spcBef>
            </a:pPr>
            <a:r>
              <a:rPr sz="3000" spc="-15" dirty="0">
                <a:latin typeface="Carlito"/>
                <a:cs typeface="Carlito"/>
              </a:rPr>
              <a:t>There are </a:t>
            </a:r>
            <a:r>
              <a:rPr sz="3000" spc="-10" dirty="0">
                <a:latin typeface="Carlito"/>
                <a:cs typeface="Carlito"/>
              </a:rPr>
              <a:t>basically two </a:t>
            </a:r>
            <a:r>
              <a:rPr sz="3000" spc="-5" dirty="0">
                <a:latin typeface="Carlito"/>
                <a:cs typeface="Carlito"/>
              </a:rPr>
              <a:t>types of connections </a:t>
            </a:r>
            <a:r>
              <a:rPr sz="3000" spc="-10" dirty="0">
                <a:latin typeface="Carlito"/>
                <a:cs typeface="Carlito"/>
              </a:rPr>
              <a:t>namely  point-to-point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multipoint</a:t>
            </a:r>
            <a:r>
              <a:rPr sz="3000" spc="-3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connections.</a:t>
            </a:r>
            <a:endParaRPr sz="3000">
              <a:latin typeface="Carlito"/>
              <a:cs typeface="Carlito"/>
            </a:endParaRPr>
          </a:p>
          <a:p>
            <a:pPr marL="355600" marR="213995" indent="-342900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rlito"/>
                <a:cs typeface="Carlito"/>
              </a:rPr>
              <a:t>For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point-to-point </a:t>
            </a:r>
            <a:r>
              <a:rPr sz="3000" spc="-5" dirty="0">
                <a:latin typeface="Carlito"/>
                <a:cs typeface="Carlito"/>
              </a:rPr>
              <a:t>connection, </a:t>
            </a:r>
            <a:r>
              <a:rPr sz="3000" spc="-10" dirty="0">
                <a:latin typeface="Carlito"/>
                <a:cs typeface="Carlito"/>
              </a:rPr>
              <a:t>there </a:t>
            </a:r>
            <a:r>
              <a:rPr sz="3000" dirty="0">
                <a:latin typeface="Carlito"/>
                <a:cs typeface="Carlito"/>
              </a:rPr>
              <a:t>is a  </a:t>
            </a:r>
            <a:r>
              <a:rPr sz="3000" spc="-15" dirty="0">
                <a:latin typeface="Carlito"/>
                <a:cs typeface="Carlito"/>
              </a:rPr>
              <a:t>dedicated </a:t>
            </a:r>
            <a:r>
              <a:rPr sz="3000" spc="-5" dirty="0">
                <a:latin typeface="Carlito"/>
                <a:cs typeface="Carlito"/>
              </a:rPr>
              <a:t>link </a:t>
            </a:r>
            <a:r>
              <a:rPr sz="3000" spc="-10" dirty="0">
                <a:latin typeface="Carlito"/>
                <a:cs typeface="Carlito"/>
              </a:rPr>
              <a:t>between two devices </a:t>
            </a:r>
            <a:r>
              <a:rPr sz="3000" dirty="0">
                <a:latin typeface="Carlito"/>
                <a:cs typeface="Carlito"/>
              </a:rPr>
              <a:t>and the </a:t>
            </a:r>
            <a:r>
              <a:rPr sz="3000" spc="-15" dirty="0">
                <a:latin typeface="Carlito"/>
                <a:cs typeface="Carlito"/>
              </a:rPr>
              <a:t>entire  </a:t>
            </a:r>
            <a:r>
              <a:rPr sz="3000" spc="-5" dirty="0">
                <a:latin typeface="Carlito"/>
                <a:cs typeface="Carlito"/>
              </a:rPr>
              <a:t>capacity 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link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set </a:t>
            </a:r>
            <a:r>
              <a:rPr sz="3000" dirty="0">
                <a:latin typeface="Carlito"/>
                <a:cs typeface="Carlito"/>
              </a:rPr>
              <a:t>aside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0" dirty="0">
                <a:latin typeface="Carlito"/>
                <a:cs typeface="Carlito"/>
              </a:rPr>
              <a:t>transmission  between </a:t>
            </a:r>
            <a:r>
              <a:rPr sz="3000" spc="-5" dirty="0">
                <a:latin typeface="Carlito"/>
                <a:cs typeface="Carlito"/>
              </a:rPr>
              <a:t>these </a:t>
            </a:r>
            <a:r>
              <a:rPr sz="3000" spc="-10" dirty="0">
                <a:latin typeface="Carlito"/>
                <a:cs typeface="Carlito"/>
              </a:rPr>
              <a:t>two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devices.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80000"/>
              </a:lnSpc>
              <a:spcBef>
                <a:spcPts val="7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multipoint connection on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other hand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one</a:t>
            </a:r>
            <a:r>
              <a:rPr sz="3000" spc="-114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in  which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dirty="0">
                <a:latin typeface="Carlito"/>
                <a:cs typeface="Carlito"/>
              </a:rPr>
              <a:t>than </a:t>
            </a:r>
            <a:r>
              <a:rPr sz="3000" spc="-10" dirty="0">
                <a:latin typeface="Carlito"/>
                <a:cs typeface="Carlito"/>
              </a:rPr>
              <a:t>two devices </a:t>
            </a:r>
            <a:r>
              <a:rPr sz="3000" spc="-15" dirty="0">
                <a:latin typeface="Carlito"/>
                <a:cs typeface="Carlito"/>
              </a:rPr>
              <a:t>share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common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link.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280" y="461899"/>
            <a:ext cx="54076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COMPUTER</a:t>
            </a:r>
            <a:r>
              <a:rPr spc="-60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81050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multipoint connection </a:t>
            </a:r>
            <a:r>
              <a:rPr sz="3200" dirty="0">
                <a:latin typeface="Carlito"/>
                <a:cs typeface="Carlito"/>
              </a:rPr>
              <a:t>on the other hand is  </a:t>
            </a:r>
            <a:r>
              <a:rPr sz="3200" spc="-5" dirty="0">
                <a:latin typeface="Carlito"/>
                <a:cs typeface="Carlito"/>
              </a:rPr>
              <a:t>one </a:t>
            </a:r>
            <a:r>
              <a:rPr sz="3200" dirty="0">
                <a:latin typeface="Carlito"/>
                <a:cs typeface="Carlito"/>
              </a:rPr>
              <a:t>in which </a:t>
            </a:r>
            <a:r>
              <a:rPr sz="3200" spc="-10" dirty="0">
                <a:latin typeface="Carlito"/>
                <a:cs typeface="Carlito"/>
              </a:rPr>
              <a:t>more </a:t>
            </a:r>
            <a:r>
              <a:rPr sz="3200" dirty="0">
                <a:latin typeface="Carlito"/>
                <a:cs typeface="Carlito"/>
              </a:rPr>
              <a:t>than </a:t>
            </a:r>
            <a:r>
              <a:rPr sz="3200" spc="-10" dirty="0">
                <a:latin typeface="Carlito"/>
                <a:cs typeface="Carlito"/>
              </a:rPr>
              <a:t>two </a:t>
            </a:r>
            <a:r>
              <a:rPr sz="3200" spc="-5" dirty="0">
                <a:latin typeface="Carlito"/>
                <a:cs typeface="Carlito"/>
              </a:rPr>
              <a:t>devices </a:t>
            </a:r>
            <a:r>
              <a:rPr sz="3200" spc="-10" dirty="0">
                <a:latin typeface="Carlito"/>
                <a:cs typeface="Carlito"/>
              </a:rPr>
              <a:t>share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5" dirty="0">
                <a:latin typeface="Carlito"/>
                <a:cs typeface="Carlito"/>
              </a:rPr>
              <a:t>common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link.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5401" y="461899"/>
            <a:ext cx="50139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NETWORK</a:t>
            </a:r>
            <a:r>
              <a:rPr spc="-35" dirty="0"/>
              <a:t> </a:t>
            </a:r>
            <a:r>
              <a:rPr spc="-40" dirty="0"/>
              <a:t>TOPOLOGY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471"/>
            <a:ext cx="802259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16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network </a:t>
            </a:r>
            <a:r>
              <a:rPr sz="3000" spc="-5" dirty="0">
                <a:latin typeface="Carlito"/>
                <a:cs typeface="Carlito"/>
              </a:rPr>
              <a:t>topology </a:t>
            </a:r>
            <a:r>
              <a:rPr sz="3000" spc="-35" dirty="0">
                <a:latin typeface="Carlito"/>
                <a:cs typeface="Carlito"/>
              </a:rPr>
              <a:t>refers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35" dirty="0">
                <a:latin typeface="Carlito"/>
                <a:cs typeface="Carlito"/>
              </a:rPr>
              <a:t>way </a:t>
            </a:r>
            <a:r>
              <a:rPr sz="3000" dirty="0">
                <a:latin typeface="Carlito"/>
                <a:cs typeface="Carlito"/>
              </a:rPr>
              <a:t>in </a:t>
            </a:r>
            <a:r>
              <a:rPr sz="3000" spc="-5" dirty="0">
                <a:latin typeface="Carlito"/>
                <a:cs typeface="Carlito"/>
              </a:rPr>
              <a:t>which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network </a:t>
            </a:r>
            <a:r>
              <a:rPr sz="3000" spc="-5" dirty="0">
                <a:latin typeface="Carlito"/>
                <a:cs typeface="Carlito"/>
              </a:rPr>
              <a:t>devices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connected to </a:t>
            </a:r>
            <a:r>
              <a:rPr sz="3000" dirty="0">
                <a:latin typeface="Carlito"/>
                <a:cs typeface="Carlito"/>
              </a:rPr>
              <a:t>each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spc="-55" dirty="0">
                <a:latin typeface="Carlito"/>
                <a:cs typeface="Carlito"/>
              </a:rPr>
              <a:t>other.</a:t>
            </a:r>
            <a:endParaRPr sz="3000">
              <a:latin typeface="Carlito"/>
              <a:cs typeface="Carlito"/>
            </a:endParaRPr>
          </a:p>
          <a:p>
            <a:pPr marL="355600" marR="41275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When two or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spc="-5" dirty="0">
                <a:latin typeface="Carlito"/>
                <a:cs typeface="Carlito"/>
              </a:rPr>
              <a:t>devices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connected they  </a:t>
            </a:r>
            <a:r>
              <a:rPr sz="3000" spc="-20" dirty="0">
                <a:latin typeface="Carlito"/>
                <a:cs typeface="Carlito"/>
              </a:rPr>
              <a:t>form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link, </a:t>
            </a:r>
            <a:r>
              <a:rPr sz="3000" dirty="0">
                <a:latin typeface="Carlito"/>
                <a:cs typeface="Carlito"/>
              </a:rPr>
              <a:t>and one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more links </a:t>
            </a:r>
            <a:r>
              <a:rPr sz="3000" spc="-20" dirty="0">
                <a:latin typeface="Carlito"/>
                <a:cs typeface="Carlito"/>
              </a:rPr>
              <a:t>form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25" dirty="0">
                <a:latin typeface="Carlito"/>
                <a:cs typeface="Carlito"/>
              </a:rPr>
              <a:t>topology.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dirty="0">
                <a:latin typeface="Carlito"/>
                <a:cs typeface="Carlito"/>
              </a:rPr>
              <a:t>In a </a:t>
            </a:r>
            <a:r>
              <a:rPr sz="3000" spc="-10" dirty="0">
                <a:latin typeface="Carlito"/>
                <a:cs typeface="Carlito"/>
              </a:rPr>
              <a:t>network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devices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normally </a:t>
            </a:r>
            <a:r>
              <a:rPr sz="3000" spc="-25" dirty="0">
                <a:latin typeface="Carlito"/>
                <a:cs typeface="Carlito"/>
              </a:rPr>
              <a:t>referred </a:t>
            </a:r>
            <a:r>
              <a:rPr sz="3000" spc="-10" dirty="0">
                <a:latin typeface="Carlito"/>
                <a:cs typeface="Carlito"/>
              </a:rPr>
              <a:t>to 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5" dirty="0">
                <a:latin typeface="Carlito"/>
                <a:cs typeface="Carlito"/>
              </a:rPr>
              <a:t>nodes.</a:t>
            </a:r>
            <a:endParaRPr sz="3000">
              <a:latin typeface="Carlito"/>
              <a:cs typeface="Carlito"/>
            </a:endParaRPr>
          </a:p>
          <a:p>
            <a:pPr marL="355600" marR="2286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There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5" dirty="0">
                <a:latin typeface="Carlito"/>
                <a:cs typeface="Carlito"/>
              </a:rPr>
              <a:t>basically </a:t>
            </a:r>
            <a:r>
              <a:rPr sz="3000" spc="-20" dirty="0">
                <a:latin typeface="Carlito"/>
                <a:cs typeface="Carlito"/>
              </a:rPr>
              <a:t>four </a:t>
            </a:r>
            <a:r>
              <a:rPr sz="3000" dirty="0">
                <a:latin typeface="Carlito"/>
                <a:cs typeface="Carlito"/>
              </a:rPr>
              <a:t>main types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networking  </a:t>
            </a:r>
            <a:r>
              <a:rPr sz="3000" dirty="0">
                <a:latin typeface="Carlito"/>
                <a:cs typeface="Carlito"/>
              </a:rPr>
              <a:t>and these </a:t>
            </a:r>
            <a:r>
              <a:rPr sz="3000" spc="-10" dirty="0">
                <a:latin typeface="Carlito"/>
                <a:cs typeface="Carlito"/>
              </a:rPr>
              <a:t>are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i="1" spc="-5" dirty="0">
                <a:latin typeface="Carlito"/>
                <a:cs typeface="Carlito"/>
              </a:rPr>
              <a:t>mesh, </a:t>
            </a:r>
            <a:r>
              <a:rPr sz="3000" i="1" spc="-60" dirty="0">
                <a:latin typeface="Carlito"/>
                <a:cs typeface="Carlito"/>
              </a:rPr>
              <a:t>star, </a:t>
            </a:r>
            <a:r>
              <a:rPr sz="3000" i="1" dirty="0">
                <a:latin typeface="Carlito"/>
                <a:cs typeface="Carlito"/>
              </a:rPr>
              <a:t>bus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-85" dirty="0">
                <a:latin typeface="Carlito"/>
                <a:cs typeface="Carlito"/>
              </a:rPr>
              <a:t> </a:t>
            </a:r>
            <a:r>
              <a:rPr sz="3000" i="1" dirty="0">
                <a:latin typeface="Carlito"/>
                <a:cs typeface="Carlito"/>
              </a:rPr>
              <a:t>ring</a:t>
            </a:r>
            <a:r>
              <a:rPr sz="3000" dirty="0"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677" y="496950"/>
            <a:ext cx="3629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MESH</a:t>
            </a:r>
            <a:r>
              <a:rPr sz="4000" spc="-55" dirty="0"/>
              <a:t> </a:t>
            </a:r>
            <a:r>
              <a:rPr sz="4000" spc="-45" dirty="0"/>
              <a:t>TOPOLOGY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616190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0579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In a mesh </a:t>
            </a:r>
            <a:r>
              <a:rPr sz="3200" spc="-5" dirty="0">
                <a:latin typeface="Carlito"/>
                <a:cs typeface="Carlito"/>
              </a:rPr>
              <a:t>topology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device has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10" dirty="0">
                <a:latin typeface="Carlito"/>
                <a:cs typeface="Carlito"/>
              </a:rPr>
              <a:t>dedicated point-to-point </a:t>
            </a:r>
            <a:r>
              <a:rPr sz="3200" spc="-5" dirty="0">
                <a:latin typeface="Carlito"/>
                <a:cs typeface="Carlito"/>
              </a:rPr>
              <a:t>link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all </a:t>
            </a:r>
            <a:r>
              <a:rPr sz="3200" spc="-5" dirty="0">
                <a:latin typeface="Carlito"/>
                <a:cs typeface="Carlito"/>
              </a:rPr>
              <a:t>other  devices </a:t>
            </a:r>
            <a:r>
              <a:rPr sz="3200" dirty="0">
                <a:latin typeface="Carlito"/>
                <a:cs typeface="Carlito"/>
              </a:rPr>
              <a:t>in the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network.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other </a:t>
            </a:r>
            <a:r>
              <a:rPr sz="3200" spc="-15" dirty="0">
                <a:latin typeface="Carlito"/>
                <a:cs typeface="Carlito"/>
              </a:rPr>
              <a:t>words, </a:t>
            </a: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10" dirty="0">
                <a:latin typeface="Carlito"/>
                <a:cs typeface="Carlito"/>
              </a:rPr>
              <a:t>direct </a:t>
            </a:r>
            <a:r>
              <a:rPr sz="3200" spc="-5" dirty="0">
                <a:latin typeface="Carlito"/>
                <a:cs typeface="Carlito"/>
              </a:rPr>
              <a:t>connection  between every </a:t>
            </a:r>
            <a:r>
              <a:rPr sz="3200" spc="-10" dirty="0">
                <a:latin typeface="Carlito"/>
                <a:cs typeface="Carlito"/>
              </a:rPr>
              <a:t>two </a:t>
            </a:r>
            <a:r>
              <a:rPr sz="3200" spc="-5" dirty="0">
                <a:latin typeface="Carlito"/>
                <a:cs typeface="Carlito"/>
              </a:rPr>
              <a:t>devices </a:t>
            </a:r>
            <a:r>
              <a:rPr sz="3200" dirty="0">
                <a:latin typeface="Carlito"/>
                <a:cs typeface="Carlito"/>
              </a:rPr>
              <a:t>on the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network.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typical </a:t>
            </a:r>
            <a:r>
              <a:rPr sz="3200" dirty="0">
                <a:latin typeface="Carlito"/>
                <a:cs typeface="Carlito"/>
              </a:rPr>
              <a:t>mesh </a:t>
            </a:r>
            <a:r>
              <a:rPr sz="3200" spc="-5" dirty="0">
                <a:latin typeface="Carlito"/>
                <a:cs typeface="Carlito"/>
              </a:rPr>
              <a:t>topology </a:t>
            </a:r>
            <a:r>
              <a:rPr sz="3200" dirty="0">
                <a:latin typeface="Carlito"/>
                <a:cs typeface="Carlito"/>
              </a:rPr>
              <a:t>is as </a:t>
            </a:r>
            <a:r>
              <a:rPr sz="3200" spc="-5" dirty="0">
                <a:latin typeface="Carlito"/>
                <a:cs typeface="Carlito"/>
              </a:rPr>
              <a:t>shown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below: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1369" y="461899"/>
            <a:ext cx="40036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MESH</a:t>
            </a:r>
            <a:r>
              <a:rPr spc="-70" dirty="0"/>
              <a:t> </a:t>
            </a:r>
            <a:r>
              <a:rPr spc="-35" dirty="0"/>
              <a:t>TOPOLOGY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143000"/>
            <a:ext cx="6858000" cy="541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0622" y="461899"/>
            <a:ext cx="37630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STAR</a:t>
            </a:r>
            <a:r>
              <a:rPr spc="-80" dirty="0"/>
              <a:t> </a:t>
            </a:r>
            <a:r>
              <a:rPr spc="-35" dirty="0"/>
              <a:t>TOPOLOGY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8023225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In a </a:t>
            </a:r>
            <a:r>
              <a:rPr sz="3200" spc="-20" dirty="0">
                <a:latin typeface="Carlito"/>
                <a:cs typeface="Carlito"/>
              </a:rPr>
              <a:t>star </a:t>
            </a:r>
            <a:r>
              <a:rPr sz="3200" spc="-30" dirty="0">
                <a:latin typeface="Carlito"/>
                <a:cs typeface="Carlito"/>
              </a:rPr>
              <a:t>topology,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device has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dedicated  point-to-point </a:t>
            </a:r>
            <a:r>
              <a:rPr sz="3200" spc="-5" dirty="0">
                <a:latin typeface="Carlito"/>
                <a:cs typeface="Carlito"/>
              </a:rPr>
              <a:t>link only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hub;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5" dirty="0">
                <a:latin typeface="Carlito"/>
                <a:cs typeface="Carlito"/>
              </a:rPr>
              <a:t>central  </a:t>
            </a:r>
            <a:r>
              <a:rPr sz="3200" spc="-40" dirty="0">
                <a:latin typeface="Carlito"/>
                <a:cs typeface="Carlito"/>
              </a:rPr>
              <a:t>controller.</a:t>
            </a:r>
            <a:endParaRPr sz="3200">
              <a:latin typeface="Carlito"/>
              <a:cs typeface="Carlito"/>
            </a:endParaRPr>
          </a:p>
          <a:p>
            <a:pPr marL="355600" marR="12065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other </a:t>
            </a:r>
            <a:r>
              <a:rPr sz="3200" spc="-15" dirty="0">
                <a:latin typeface="Carlito"/>
                <a:cs typeface="Carlito"/>
              </a:rPr>
              <a:t>words, </a:t>
            </a: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no </a:t>
            </a:r>
            <a:r>
              <a:rPr sz="3200" spc="-10" dirty="0">
                <a:latin typeface="Carlito"/>
                <a:cs typeface="Carlito"/>
              </a:rPr>
              <a:t>direct </a:t>
            </a:r>
            <a:r>
              <a:rPr sz="3200" spc="-5" dirty="0">
                <a:latin typeface="Carlito"/>
                <a:cs typeface="Carlito"/>
              </a:rPr>
              <a:t>link between  </a:t>
            </a:r>
            <a:r>
              <a:rPr sz="3200" spc="-20" dirty="0">
                <a:latin typeface="Carlito"/>
                <a:cs typeface="Carlito"/>
              </a:rPr>
              <a:t>any </a:t>
            </a:r>
            <a:r>
              <a:rPr sz="3200" spc="-5" dirty="0">
                <a:latin typeface="Carlito"/>
                <a:cs typeface="Carlito"/>
              </a:rPr>
              <a:t>two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devices.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typical </a:t>
            </a:r>
            <a:r>
              <a:rPr sz="3200" spc="-20" dirty="0">
                <a:latin typeface="Carlito"/>
                <a:cs typeface="Carlito"/>
              </a:rPr>
              <a:t>star </a:t>
            </a:r>
            <a:r>
              <a:rPr sz="3200" spc="-5" dirty="0">
                <a:latin typeface="Carlito"/>
                <a:cs typeface="Carlito"/>
              </a:rPr>
              <a:t>topology </a:t>
            </a:r>
            <a:r>
              <a:rPr sz="3200" dirty="0">
                <a:latin typeface="Carlito"/>
                <a:cs typeface="Carlito"/>
              </a:rPr>
              <a:t>is as </a:t>
            </a:r>
            <a:r>
              <a:rPr sz="3200" spc="-5" dirty="0">
                <a:latin typeface="Carlito"/>
                <a:cs typeface="Carlito"/>
              </a:rPr>
              <a:t>shown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below: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0908" y="187197"/>
            <a:ext cx="37630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STAR</a:t>
            </a:r>
            <a:r>
              <a:rPr spc="-80" dirty="0"/>
              <a:t> </a:t>
            </a:r>
            <a:r>
              <a:rPr spc="-35" dirty="0"/>
              <a:t>TOPOLOGY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091183"/>
            <a:ext cx="7936992" cy="53440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633" y="461899"/>
            <a:ext cx="35706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BUS</a:t>
            </a:r>
            <a:r>
              <a:rPr spc="-85" dirty="0"/>
              <a:t> </a:t>
            </a:r>
            <a:r>
              <a:rPr spc="-35" dirty="0"/>
              <a:t>TOPOLOGY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693025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91465" indent="-34290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In a </a:t>
            </a:r>
            <a:r>
              <a:rPr sz="3200" spc="-5" dirty="0">
                <a:latin typeface="Carlito"/>
                <a:cs typeface="Carlito"/>
              </a:rPr>
              <a:t>bus topology one </a:t>
            </a:r>
            <a:r>
              <a:rPr sz="3200" dirty="0">
                <a:latin typeface="Carlito"/>
                <a:cs typeface="Carlito"/>
              </a:rPr>
              <a:t>long </a:t>
            </a:r>
            <a:r>
              <a:rPr sz="3200" spc="-5" dirty="0">
                <a:latin typeface="Carlito"/>
                <a:cs typeface="Carlito"/>
              </a:rPr>
              <a:t>cable called the  bus cable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link </a:t>
            </a:r>
            <a:r>
              <a:rPr sz="3200" dirty="0">
                <a:latin typeface="Carlito"/>
                <a:cs typeface="Carlito"/>
              </a:rPr>
              <a:t>all the </a:t>
            </a:r>
            <a:r>
              <a:rPr sz="3200" spc="-5" dirty="0">
                <a:latin typeface="Carlito"/>
                <a:cs typeface="Carlito"/>
              </a:rPr>
              <a:t>devices </a:t>
            </a:r>
            <a:r>
              <a:rPr sz="3200" spc="-10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5" dirty="0">
                <a:latin typeface="Carlito"/>
                <a:cs typeface="Carlito"/>
              </a:rPr>
              <a:t>link.</a:t>
            </a:r>
            <a:endParaRPr sz="3200">
              <a:latin typeface="Carlito"/>
              <a:cs typeface="Carlito"/>
            </a:endParaRPr>
          </a:p>
          <a:p>
            <a:pPr marL="447040" indent="-434975" algn="just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447675" algn="l"/>
              </a:tabLst>
            </a:pPr>
            <a:r>
              <a:rPr sz="3200" spc="-5" dirty="0">
                <a:latin typeface="Carlito"/>
                <a:cs typeface="Carlito"/>
              </a:rPr>
              <a:t>The bus </a:t>
            </a:r>
            <a:r>
              <a:rPr sz="3200" spc="-10" dirty="0">
                <a:latin typeface="Carlito"/>
                <a:cs typeface="Carlito"/>
              </a:rPr>
              <a:t>topology </a:t>
            </a:r>
            <a:r>
              <a:rPr sz="3200" dirty="0">
                <a:latin typeface="Carlito"/>
                <a:cs typeface="Carlito"/>
              </a:rPr>
              <a:t>is a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multipoint.</a:t>
            </a:r>
            <a:endParaRPr sz="32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device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10" dirty="0">
                <a:latin typeface="Carlito"/>
                <a:cs typeface="Carlito"/>
              </a:rPr>
              <a:t>connected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bus cable by  </a:t>
            </a:r>
            <a:r>
              <a:rPr sz="3200" spc="-15" dirty="0">
                <a:latin typeface="Carlito"/>
                <a:cs typeface="Carlito"/>
              </a:rPr>
              <a:t>drop </a:t>
            </a:r>
            <a:r>
              <a:rPr sz="3200" spc="-5" dirty="0">
                <a:latin typeface="Carlito"/>
                <a:cs typeface="Carlito"/>
              </a:rPr>
              <a:t>lines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connectors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(taps)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633" y="461899"/>
            <a:ext cx="35706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BUS</a:t>
            </a:r>
            <a:r>
              <a:rPr spc="-85" dirty="0"/>
              <a:t> </a:t>
            </a:r>
            <a:r>
              <a:rPr spc="-35" dirty="0"/>
              <a:t>TOPOLOGY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655233"/>
            <a:ext cx="7487411" cy="333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59" y="836675"/>
            <a:ext cx="8641080" cy="5544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620268"/>
            <a:ext cx="8569452" cy="5977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548640"/>
            <a:ext cx="8497824" cy="5832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7750" y="496950"/>
            <a:ext cx="74441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THE </a:t>
            </a:r>
            <a:r>
              <a:rPr sz="4000" spc="-20" dirty="0"/>
              <a:t>WINDOWS </a:t>
            </a:r>
            <a:r>
              <a:rPr sz="4000" spc="-45" dirty="0"/>
              <a:t>OPERATING</a:t>
            </a:r>
            <a:r>
              <a:rPr sz="4000" spc="70" dirty="0"/>
              <a:t> </a:t>
            </a:r>
            <a:r>
              <a:rPr sz="4000" spc="-25" dirty="0"/>
              <a:t>SYSTEM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7988300" cy="44157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702945" indent="-342900">
              <a:lnSpc>
                <a:spcPts val="2880"/>
              </a:lnSpc>
              <a:spcBef>
                <a:spcPts val="7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Whenever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new computer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purchased, </a:t>
            </a:r>
            <a:r>
              <a:rPr sz="3000" dirty="0">
                <a:latin typeface="Carlito"/>
                <a:cs typeface="Carlito"/>
              </a:rPr>
              <a:t>an 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spc="-10" dirty="0">
                <a:latin typeface="Carlito"/>
                <a:cs typeface="Carlito"/>
              </a:rPr>
              <a:t>installed </a:t>
            </a:r>
            <a:r>
              <a:rPr sz="3000" dirty="0">
                <a:latin typeface="Carlito"/>
                <a:cs typeface="Carlito"/>
              </a:rPr>
              <a:t>on the 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spc="-25" dirty="0">
                <a:latin typeface="Carlito"/>
                <a:cs typeface="Carlito"/>
              </a:rPr>
              <a:t>before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Computer can </a:t>
            </a:r>
            <a:r>
              <a:rPr sz="3000" spc="-5" dirty="0">
                <a:latin typeface="Carlito"/>
                <a:cs typeface="Carlito"/>
              </a:rPr>
              <a:t>be</a:t>
            </a:r>
            <a:r>
              <a:rPr sz="3000" spc="1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used.</a:t>
            </a:r>
            <a:endParaRPr sz="3000">
              <a:latin typeface="Carlito"/>
              <a:cs typeface="Carlito"/>
            </a:endParaRPr>
          </a:p>
          <a:p>
            <a:pPr marL="355600" marR="157480" indent="-342900">
              <a:lnSpc>
                <a:spcPts val="288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One 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most </a:t>
            </a:r>
            <a:r>
              <a:rPr sz="3000" spc="-5" dirty="0">
                <a:latin typeface="Carlito"/>
                <a:cs typeface="Carlito"/>
              </a:rPr>
              <a:t>popular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Windows.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dirty="0">
                <a:latin typeface="Carlito"/>
                <a:cs typeface="Carlito"/>
              </a:rPr>
              <a:t>is a </a:t>
            </a:r>
            <a:r>
              <a:rPr sz="3000" spc="-10" dirty="0">
                <a:latin typeface="Carlito"/>
                <a:cs typeface="Carlito"/>
              </a:rPr>
              <a:t>software package </a:t>
            </a:r>
            <a:r>
              <a:rPr sz="3000" spc="-5" dirty="0">
                <a:latin typeface="Carlito"/>
                <a:cs typeface="Carlito"/>
              </a:rPr>
              <a:t>that  enables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to communicate </a:t>
            </a:r>
            <a:r>
              <a:rPr sz="3000" dirty="0">
                <a:latin typeface="Carlito"/>
                <a:cs typeface="Carlito"/>
              </a:rPr>
              <a:t>with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computer  by </a:t>
            </a:r>
            <a:r>
              <a:rPr sz="3000" spc="-30" dirty="0">
                <a:latin typeface="Carlito"/>
                <a:cs typeface="Carlito"/>
              </a:rPr>
              <a:t>way </a:t>
            </a:r>
            <a:r>
              <a:rPr sz="3000" dirty="0">
                <a:latin typeface="Carlito"/>
                <a:cs typeface="Carlito"/>
              </a:rPr>
              <a:t>of running </a:t>
            </a:r>
            <a:r>
              <a:rPr sz="3000" spc="-5" dirty="0">
                <a:latin typeface="Carlito"/>
                <a:cs typeface="Carlito"/>
              </a:rPr>
              <a:t>application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programs.</a:t>
            </a:r>
            <a:endParaRPr sz="3000">
              <a:latin typeface="Carlito"/>
              <a:cs typeface="Carlito"/>
            </a:endParaRPr>
          </a:p>
          <a:p>
            <a:pPr marL="355600" marR="27305" indent="-3429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rlito"/>
                <a:cs typeface="Carlito"/>
              </a:rPr>
              <a:t>There </a:t>
            </a:r>
            <a:r>
              <a:rPr sz="3000" spc="-10" dirty="0">
                <a:latin typeface="Carlito"/>
                <a:cs typeface="Carlito"/>
              </a:rPr>
              <a:t>are </a:t>
            </a:r>
            <a:r>
              <a:rPr sz="3000" spc="-25" dirty="0">
                <a:latin typeface="Carlito"/>
                <a:cs typeface="Carlito"/>
              </a:rPr>
              <a:t>different </a:t>
            </a:r>
            <a:r>
              <a:rPr sz="3000" spc="-15" dirty="0">
                <a:latin typeface="Carlito"/>
                <a:cs typeface="Carlito"/>
              </a:rPr>
              <a:t>versions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spc="-5" dirty="0">
                <a:latin typeface="Carlito"/>
                <a:cs typeface="Carlito"/>
              </a:rPr>
              <a:t>such 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dirty="0">
                <a:latin typeface="Carlito"/>
                <a:cs typeface="Carlito"/>
              </a:rPr>
              <a:t>98,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dirty="0">
                <a:latin typeface="Carlito"/>
                <a:cs typeface="Carlito"/>
              </a:rPr>
              <a:t>2000,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spc="-125" dirty="0">
                <a:latin typeface="Carlito"/>
                <a:cs typeface="Carlito"/>
              </a:rPr>
              <a:t>XP, 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spc="-15" dirty="0">
                <a:latin typeface="Carlito"/>
                <a:cs typeface="Carlito"/>
              </a:rPr>
              <a:t>Vista,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dirty="0">
                <a:latin typeface="Carlito"/>
                <a:cs typeface="Carlito"/>
              </a:rPr>
              <a:t>7,</a:t>
            </a:r>
            <a:r>
              <a:rPr sz="3000" spc="6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etc.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170" y="461899"/>
            <a:ext cx="75857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Windows </a:t>
            </a:r>
            <a:r>
              <a:rPr dirty="0"/>
              <a:t>as an </a:t>
            </a:r>
            <a:r>
              <a:rPr spc="-15" dirty="0"/>
              <a:t>Operating</a:t>
            </a:r>
            <a:r>
              <a:rPr spc="-65" dirty="0"/>
              <a:t> </a:t>
            </a:r>
            <a:r>
              <a:rPr spc="-3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471"/>
            <a:ext cx="7900034" cy="423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5654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20" dirty="0">
                <a:latin typeface="Carlito"/>
                <a:cs typeface="Carlito"/>
              </a:rPr>
              <a:t>Unlike </a:t>
            </a:r>
            <a:r>
              <a:rPr sz="3000" spc="-5" dirty="0">
                <a:latin typeface="Carlito"/>
                <a:cs typeface="Carlito"/>
              </a:rPr>
              <a:t>Disk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5" dirty="0">
                <a:latin typeface="Carlito"/>
                <a:cs typeface="Carlito"/>
              </a:rPr>
              <a:t>(DOS) that </a:t>
            </a:r>
            <a:r>
              <a:rPr sz="3000" spc="-10" dirty="0">
                <a:latin typeface="Carlito"/>
                <a:cs typeface="Carlito"/>
              </a:rPr>
              <a:t>allows 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run a </a:t>
            </a:r>
            <a:r>
              <a:rPr sz="3000" spc="-5" dirty="0">
                <a:latin typeface="Carlito"/>
                <a:cs typeface="Carlito"/>
              </a:rPr>
              <a:t>single application </a:t>
            </a:r>
            <a:r>
              <a:rPr sz="3000" spc="-15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a time, the 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5" dirty="0">
                <a:latin typeface="Carlito"/>
                <a:cs typeface="Carlito"/>
              </a:rPr>
              <a:t>has multitasking  capabilities, </a:t>
            </a:r>
            <a:r>
              <a:rPr sz="3000" dirty="0">
                <a:latin typeface="Carlito"/>
                <a:cs typeface="Carlito"/>
              </a:rPr>
              <a:t>meaning </a:t>
            </a:r>
            <a:r>
              <a:rPr sz="3000" spc="-5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it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dirty="0">
                <a:latin typeface="Carlito"/>
                <a:cs typeface="Carlito"/>
              </a:rPr>
              <a:t>run </a:t>
            </a:r>
            <a:r>
              <a:rPr sz="3000" spc="-20" dirty="0">
                <a:latin typeface="Carlito"/>
                <a:cs typeface="Carlito"/>
              </a:rPr>
              <a:t>several  </a:t>
            </a:r>
            <a:r>
              <a:rPr sz="3000" spc="-5" dirty="0">
                <a:latin typeface="Carlito"/>
                <a:cs typeface="Carlito"/>
              </a:rPr>
              <a:t>application </a:t>
            </a:r>
            <a:r>
              <a:rPr sz="3000" spc="-15" dirty="0">
                <a:latin typeface="Carlito"/>
                <a:cs typeface="Carlito"/>
              </a:rPr>
              <a:t>programs </a:t>
            </a:r>
            <a:r>
              <a:rPr sz="3000" spc="-10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same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time.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spc="-15" dirty="0">
                <a:latin typeface="Carlito"/>
                <a:cs typeface="Carlito"/>
              </a:rPr>
              <a:t>For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purpose of this </a:t>
            </a:r>
            <a:r>
              <a:rPr sz="3000" spc="-20" dirty="0">
                <a:latin typeface="Carlito"/>
                <a:cs typeface="Carlito"/>
              </a:rPr>
              <a:t>course </a:t>
            </a:r>
            <a:r>
              <a:rPr sz="3000" spc="-15" dirty="0">
                <a:latin typeface="Carlito"/>
                <a:cs typeface="Carlito"/>
              </a:rPr>
              <a:t>we </a:t>
            </a:r>
            <a:r>
              <a:rPr sz="3000" dirty="0">
                <a:latin typeface="Carlito"/>
                <a:cs typeface="Carlito"/>
              </a:rPr>
              <a:t>will </a:t>
            </a:r>
            <a:r>
              <a:rPr sz="3000" spc="-10" dirty="0">
                <a:latin typeface="Carlito"/>
                <a:cs typeface="Carlito"/>
              </a:rPr>
              <a:t>consider  Windows </a:t>
            </a:r>
            <a:r>
              <a:rPr sz="3000" dirty="0">
                <a:solidFill>
                  <a:srgbClr val="FF0000"/>
                </a:solidFill>
                <a:latin typeface="Carlito"/>
                <a:cs typeface="Carlito"/>
              </a:rPr>
              <a:t>7 </a:t>
            </a:r>
            <a:r>
              <a:rPr sz="3000" dirty="0">
                <a:latin typeface="Carlito"/>
                <a:cs typeface="Carlito"/>
              </a:rPr>
              <a:t>as it is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spc="-5" dirty="0">
                <a:latin typeface="Carlito"/>
                <a:cs typeface="Carlito"/>
              </a:rPr>
              <a:t>popular </a:t>
            </a:r>
            <a:r>
              <a:rPr sz="3000" dirty="0">
                <a:latin typeface="Carlito"/>
                <a:cs typeface="Carlito"/>
              </a:rPr>
              <a:t>than the </a:t>
            </a:r>
            <a:r>
              <a:rPr sz="3000" spc="-5" dirty="0">
                <a:latin typeface="Carlito"/>
                <a:cs typeface="Carlito"/>
              </a:rPr>
              <a:t>other  </a:t>
            </a:r>
            <a:r>
              <a:rPr sz="3000" spc="-15" dirty="0">
                <a:latin typeface="Carlito"/>
                <a:cs typeface="Carlito"/>
              </a:rPr>
              <a:t>versions. </a:t>
            </a:r>
            <a:r>
              <a:rPr sz="3000" spc="-20" dirty="0">
                <a:latin typeface="Carlito"/>
                <a:cs typeface="Carlito"/>
              </a:rPr>
              <a:t>Every </a:t>
            </a:r>
            <a:r>
              <a:rPr sz="3000" spc="-15" dirty="0">
                <a:latin typeface="Carlito"/>
                <a:cs typeface="Carlito"/>
              </a:rPr>
              <a:t>operating </a:t>
            </a:r>
            <a:r>
              <a:rPr sz="3000" spc="-25" dirty="0">
                <a:latin typeface="Carlito"/>
                <a:cs typeface="Carlito"/>
              </a:rPr>
              <a:t>system </a:t>
            </a:r>
            <a:r>
              <a:rPr sz="3000" spc="-10" dirty="0">
                <a:latin typeface="Carlito"/>
                <a:cs typeface="Carlito"/>
              </a:rPr>
              <a:t>must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dirty="0">
                <a:latin typeface="Carlito"/>
                <a:cs typeface="Carlito"/>
              </a:rPr>
              <a:t>able </a:t>
            </a:r>
            <a:r>
              <a:rPr sz="3000" spc="-15" dirty="0">
                <a:latin typeface="Carlito"/>
                <a:cs typeface="Carlito"/>
              </a:rPr>
              <a:t>to  perform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following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functions: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170" y="461899"/>
            <a:ext cx="75857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Windows </a:t>
            </a:r>
            <a:r>
              <a:rPr dirty="0"/>
              <a:t>as an </a:t>
            </a:r>
            <a:r>
              <a:rPr spc="-15" dirty="0"/>
              <a:t>Operating</a:t>
            </a:r>
            <a:r>
              <a:rPr spc="-65" dirty="0"/>
              <a:t> </a:t>
            </a:r>
            <a:r>
              <a:rPr spc="-3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471"/>
            <a:ext cx="776859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096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Manage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Computer resources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dirty="0">
                <a:latin typeface="Carlito"/>
                <a:cs typeface="Carlito"/>
              </a:rPr>
              <a:t>as the  </a:t>
            </a:r>
            <a:r>
              <a:rPr sz="3000" spc="-30" dirty="0">
                <a:latin typeface="Carlito"/>
                <a:cs typeface="Carlito"/>
              </a:rPr>
              <a:t>memory,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35" dirty="0">
                <a:latin typeface="Carlito"/>
                <a:cs typeface="Carlito"/>
              </a:rPr>
              <a:t>processor, </a:t>
            </a:r>
            <a:r>
              <a:rPr sz="3000" spc="-15" dirty="0">
                <a:latin typeface="Carlito"/>
                <a:cs typeface="Carlito"/>
              </a:rPr>
              <a:t>date </a:t>
            </a:r>
            <a:r>
              <a:rPr sz="3000" spc="-5" dirty="0">
                <a:latin typeface="Carlito"/>
                <a:cs typeface="Carlito"/>
              </a:rPr>
              <a:t>files </a:t>
            </a:r>
            <a:r>
              <a:rPr sz="3000" dirty="0">
                <a:latin typeface="Carlito"/>
                <a:cs typeface="Carlito"/>
              </a:rPr>
              <a:t>and the </a:t>
            </a:r>
            <a:r>
              <a:rPr sz="3000" spc="-5" dirty="0">
                <a:latin typeface="Carlito"/>
                <a:cs typeface="Carlito"/>
              </a:rPr>
              <a:t>other  </a:t>
            </a:r>
            <a:r>
              <a:rPr sz="3000" spc="-15" dirty="0">
                <a:latin typeface="Carlito"/>
                <a:cs typeface="Carlito"/>
              </a:rPr>
              <a:t>hardware</a:t>
            </a:r>
            <a:r>
              <a:rPr sz="3000" spc="-5" dirty="0">
                <a:latin typeface="Carlito"/>
                <a:cs typeface="Carlito"/>
              </a:rPr>
              <a:t> devices.</a:t>
            </a:r>
            <a:endParaRPr sz="3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Allocate resources </a:t>
            </a:r>
            <a:r>
              <a:rPr sz="3000" spc="-25" dirty="0">
                <a:latin typeface="Carlito"/>
                <a:cs typeface="Carlito"/>
              </a:rPr>
              <a:t>for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use.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spc="-10" dirty="0">
                <a:latin typeface="Carlito"/>
                <a:cs typeface="Carlito"/>
              </a:rPr>
              <a:t>Must </a:t>
            </a:r>
            <a:r>
              <a:rPr sz="3000" spc="-25" dirty="0">
                <a:latin typeface="Carlito"/>
                <a:cs typeface="Carlito"/>
              </a:rPr>
              <a:t>have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policy such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15" dirty="0">
                <a:latin typeface="Carlito"/>
                <a:cs typeface="Carlito"/>
              </a:rPr>
              <a:t>round robin, first-in-  first-out, </a:t>
            </a:r>
            <a:r>
              <a:rPr sz="3000" spc="-20" dirty="0">
                <a:latin typeface="Carlito"/>
                <a:cs typeface="Carlito"/>
              </a:rPr>
              <a:t>etc </a:t>
            </a:r>
            <a:r>
              <a:rPr sz="3000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deciding </a:t>
            </a:r>
            <a:r>
              <a:rPr sz="3000" dirty="0">
                <a:latin typeface="Carlito"/>
                <a:cs typeface="Carlito"/>
              </a:rPr>
              <a:t>who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15" dirty="0">
                <a:latin typeface="Carlito"/>
                <a:cs typeface="Carlito"/>
              </a:rPr>
              <a:t>allocate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10" dirty="0">
                <a:latin typeface="Carlito"/>
                <a:cs typeface="Carlito"/>
              </a:rPr>
              <a:t>resource to </a:t>
            </a:r>
            <a:r>
              <a:rPr sz="3000" dirty="0">
                <a:latin typeface="Carlito"/>
                <a:cs typeface="Carlito"/>
              </a:rPr>
              <a:t>when </a:t>
            </a:r>
            <a:r>
              <a:rPr sz="3000" spc="-5" dirty="0">
                <a:latin typeface="Carlito"/>
                <a:cs typeface="Carlito"/>
              </a:rPr>
              <a:t>multiple </a:t>
            </a:r>
            <a:r>
              <a:rPr sz="3000" spc="-10" dirty="0">
                <a:latin typeface="Carlito"/>
                <a:cs typeface="Carlito"/>
              </a:rPr>
              <a:t>requests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5" dirty="0">
                <a:latin typeface="Carlito"/>
                <a:cs typeface="Carlito"/>
              </a:rPr>
              <a:t>particular </a:t>
            </a:r>
            <a:r>
              <a:rPr sz="3000" spc="-15" dirty="0">
                <a:latin typeface="Carlito"/>
                <a:cs typeface="Carlito"/>
              </a:rPr>
              <a:t>resource </a:t>
            </a:r>
            <a:r>
              <a:rPr sz="3000" spc="-10" dirty="0">
                <a:latin typeface="Carlito"/>
                <a:cs typeface="Carlito"/>
              </a:rPr>
              <a:t>are </a:t>
            </a:r>
            <a:r>
              <a:rPr sz="3000" dirty="0">
                <a:latin typeface="Carlito"/>
                <a:cs typeface="Carlito"/>
              </a:rPr>
              <a:t>made </a:t>
            </a:r>
            <a:r>
              <a:rPr sz="3000" spc="-15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same</a:t>
            </a:r>
            <a:r>
              <a:rPr sz="3000" spc="1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time.</a:t>
            </a:r>
            <a:endParaRPr sz="3000">
              <a:latin typeface="Carlito"/>
              <a:cs typeface="Carlito"/>
            </a:endParaRPr>
          </a:p>
          <a:p>
            <a:pPr marL="440690" indent="-42862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sz="3000" spc="-10" dirty="0">
                <a:latin typeface="Carlito"/>
                <a:cs typeface="Carlito"/>
              </a:rPr>
              <a:t>Reclaim </a:t>
            </a:r>
            <a:r>
              <a:rPr sz="3000" spc="-15" dirty="0">
                <a:latin typeface="Carlito"/>
                <a:cs typeface="Carlito"/>
              </a:rPr>
              <a:t>resources </a:t>
            </a:r>
            <a:r>
              <a:rPr sz="3000" spc="-10" dirty="0">
                <a:latin typeface="Carlito"/>
                <a:cs typeface="Carlito"/>
              </a:rPr>
              <a:t>after use.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417" y="461899"/>
            <a:ext cx="55175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Windows </a:t>
            </a:r>
            <a:r>
              <a:rPr dirty="0"/>
              <a:t>7</a:t>
            </a:r>
            <a:r>
              <a:rPr spc="-55" dirty="0"/>
              <a:t> </a:t>
            </a:r>
            <a:r>
              <a:rPr spc="-15" dirty="0"/>
              <a:t>Desktop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7757795" cy="44615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783590" indent="-34290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All the </a:t>
            </a:r>
            <a:r>
              <a:rPr sz="3000" spc="-25" dirty="0">
                <a:latin typeface="Carlito"/>
                <a:cs typeface="Carlito"/>
              </a:rPr>
              <a:t>different </a:t>
            </a:r>
            <a:r>
              <a:rPr sz="3000" spc="-15" dirty="0">
                <a:latin typeface="Carlito"/>
                <a:cs typeface="Carlito"/>
              </a:rPr>
              <a:t>versions </a:t>
            </a:r>
            <a:r>
              <a:rPr sz="3000" spc="-5" dirty="0">
                <a:latin typeface="Carlito"/>
                <a:cs typeface="Carlito"/>
              </a:rPr>
              <a:t>of Windows use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10" dirty="0">
                <a:latin typeface="Carlito"/>
                <a:cs typeface="Carlito"/>
              </a:rPr>
              <a:t>desktop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standard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interface.</a:t>
            </a:r>
            <a:endParaRPr sz="3000">
              <a:latin typeface="Carlito"/>
              <a:cs typeface="Carlito"/>
            </a:endParaRPr>
          </a:p>
          <a:p>
            <a:pPr marL="355600" marR="64135" indent="-342900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Think 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desktop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5" dirty="0">
                <a:latin typeface="Carlito"/>
                <a:cs typeface="Carlito"/>
              </a:rPr>
              <a:t>workspaces </a:t>
            </a:r>
            <a:r>
              <a:rPr sz="3000" spc="-10" dirty="0">
                <a:latin typeface="Carlito"/>
                <a:cs typeface="Carlito"/>
              </a:rPr>
              <a:t>where </a:t>
            </a:r>
            <a:r>
              <a:rPr sz="3000" spc="-15" dirty="0">
                <a:latin typeface="Carlito"/>
                <a:cs typeface="Carlito"/>
              </a:rPr>
              <a:t>you 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dirty="0">
                <a:latin typeface="Carlito"/>
                <a:cs typeface="Carlito"/>
              </a:rPr>
              <a:t>access </a:t>
            </a:r>
            <a:r>
              <a:rPr sz="3000" spc="-5" dirty="0">
                <a:latin typeface="Carlito"/>
                <a:cs typeface="Carlito"/>
              </a:rPr>
              <a:t>everything that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spc="-15" dirty="0">
                <a:latin typeface="Carlito"/>
                <a:cs typeface="Carlito"/>
              </a:rPr>
              <a:t>your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45" dirty="0">
                <a:latin typeface="Carlito"/>
                <a:cs typeface="Carlito"/>
              </a:rPr>
              <a:t>computer.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rlito"/>
                <a:cs typeface="Carlito"/>
              </a:rPr>
              <a:t>For </a:t>
            </a:r>
            <a:r>
              <a:rPr sz="3000" spc="-20" dirty="0">
                <a:latin typeface="Carlito"/>
                <a:cs typeface="Carlito"/>
              </a:rPr>
              <a:t>example, </a:t>
            </a:r>
            <a:r>
              <a:rPr sz="3000" spc="-5" dirty="0">
                <a:latin typeface="Carlito"/>
                <a:cs typeface="Carlito"/>
              </a:rPr>
              <a:t>using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desktop </a:t>
            </a:r>
            <a:r>
              <a:rPr sz="3000" dirty="0">
                <a:latin typeface="Carlito"/>
                <a:cs typeface="Carlito"/>
              </a:rPr>
              <a:t>it </a:t>
            </a:r>
            <a:r>
              <a:rPr sz="3000" spc="-1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possible </a:t>
            </a:r>
            <a:r>
              <a:rPr sz="3000" spc="-10" dirty="0">
                <a:latin typeface="Carlito"/>
                <a:cs typeface="Carlito"/>
              </a:rPr>
              <a:t>to  </a:t>
            </a:r>
            <a:r>
              <a:rPr sz="3000" dirty="0">
                <a:latin typeface="Carlito"/>
                <a:cs typeface="Carlito"/>
              </a:rPr>
              <a:t>access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5" dirty="0">
                <a:latin typeface="Carlito"/>
                <a:cs typeface="Carlito"/>
              </a:rPr>
              <a:t>disk </a:t>
            </a:r>
            <a:r>
              <a:rPr sz="3000" spc="-10" dirty="0">
                <a:latin typeface="Carlito"/>
                <a:cs typeface="Carlito"/>
              </a:rPr>
              <a:t>drive, </a:t>
            </a:r>
            <a:r>
              <a:rPr sz="3000" dirty="0">
                <a:latin typeface="Carlito"/>
                <a:cs typeface="Carlito"/>
              </a:rPr>
              <a:t>run an </a:t>
            </a:r>
            <a:r>
              <a:rPr sz="3000" spc="-5" dirty="0">
                <a:latin typeface="Carlito"/>
                <a:cs typeface="Carlito"/>
              </a:rPr>
              <a:t>application  </a:t>
            </a:r>
            <a:r>
              <a:rPr sz="3000" spc="-15" dirty="0">
                <a:latin typeface="Carlito"/>
                <a:cs typeface="Carlito"/>
              </a:rPr>
              <a:t>program, </a:t>
            </a:r>
            <a:r>
              <a:rPr sz="3000" dirty="0">
                <a:latin typeface="Carlito"/>
                <a:cs typeface="Carlito"/>
              </a:rPr>
              <a:t>access the </a:t>
            </a:r>
            <a:r>
              <a:rPr sz="3000" spc="-15" dirty="0">
                <a:latin typeface="Carlito"/>
                <a:cs typeface="Carlito"/>
              </a:rPr>
              <a:t>internet, </a:t>
            </a:r>
            <a:r>
              <a:rPr sz="3000" spc="-5" dirty="0">
                <a:latin typeface="Carlito"/>
                <a:cs typeface="Carlito"/>
              </a:rPr>
              <a:t>change </a:t>
            </a:r>
            <a:r>
              <a:rPr sz="3000" spc="-15" dirty="0">
                <a:latin typeface="Carlito"/>
                <a:cs typeface="Carlito"/>
              </a:rPr>
              <a:t>your  </a:t>
            </a:r>
            <a:r>
              <a:rPr sz="3000" spc="-10" dirty="0">
                <a:latin typeface="Carlito"/>
                <a:cs typeface="Carlito"/>
              </a:rPr>
              <a:t>computer settings,</a:t>
            </a:r>
            <a:r>
              <a:rPr sz="3000" spc="-15" dirty="0">
                <a:latin typeface="Carlito"/>
                <a:cs typeface="Carlito"/>
              </a:rPr>
              <a:t> etc.</a:t>
            </a:r>
            <a:endParaRPr sz="3000">
              <a:latin typeface="Carlito"/>
              <a:cs typeface="Carlito"/>
            </a:endParaRPr>
          </a:p>
          <a:p>
            <a:pPr marL="355600" marR="166370" indent="-342900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desktop contains three </a:t>
            </a:r>
            <a:r>
              <a:rPr sz="3000" dirty="0">
                <a:latin typeface="Carlito"/>
                <a:cs typeface="Carlito"/>
              </a:rPr>
              <a:t>main </a:t>
            </a:r>
            <a:r>
              <a:rPr sz="3000" spc="-10" dirty="0">
                <a:latin typeface="Carlito"/>
                <a:cs typeface="Carlito"/>
              </a:rPr>
              <a:t>items </a:t>
            </a:r>
            <a:r>
              <a:rPr sz="3000" spc="-5" dirty="0">
                <a:latin typeface="Carlito"/>
                <a:cs typeface="Carlito"/>
              </a:rPr>
              <a:t>namely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start button,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taskbar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-3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icons.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417" y="461899"/>
            <a:ext cx="55175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Windows </a:t>
            </a:r>
            <a:r>
              <a:rPr dirty="0"/>
              <a:t>7</a:t>
            </a:r>
            <a:r>
              <a:rPr spc="-55" dirty="0"/>
              <a:t> </a:t>
            </a:r>
            <a:r>
              <a:rPr spc="-15" dirty="0"/>
              <a:t>Desktop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9178"/>
            <a:ext cx="8020050" cy="46602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361950" indent="-342900">
              <a:lnSpc>
                <a:spcPts val="3460"/>
              </a:lnSpc>
              <a:spcBef>
                <a:spcPts val="535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i="1" spc="-15" dirty="0">
                <a:latin typeface="Carlito"/>
                <a:cs typeface="Carlito"/>
              </a:rPr>
              <a:t>Start button</a:t>
            </a:r>
            <a:r>
              <a:rPr sz="3200" spc="-15" dirty="0">
                <a:latin typeface="Carlito"/>
                <a:cs typeface="Carlito"/>
              </a:rPr>
              <a:t>: </a:t>
            </a: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dirty="0">
                <a:latin typeface="Carlito"/>
                <a:cs typeface="Carlito"/>
              </a:rPr>
              <a:t>is the </a:t>
            </a:r>
            <a:r>
              <a:rPr sz="3200" spc="-10" dirty="0">
                <a:latin typeface="Carlito"/>
                <a:cs typeface="Carlito"/>
              </a:rPr>
              <a:t>most important </a:t>
            </a:r>
            <a:r>
              <a:rPr sz="3200" spc="-15" dirty="0">
                <a:latin typeface="Carlito"/>
                <a:cs typeface="Carlito"/>
              </a:rPr>
              <a:t>tool  you </a:t>
            </a:r>
            <a:r>
              <a:rPr sz="3200" dirty="0">
                <a:latin typeface="Carlito"/>
                <a:cs typeface="Carlito"/>
              </a:rPr>
              <a:t>will </a:t>
            </a:r>
            <a:r>
              <a:rPr sz="3200" spc="-5" dirty="0">
                <a:latin typeface="Carlito"/>
                <a:cs typeface="Carlito"/>
              </a:rPr>
              <a:t>frequently use </a:t>
            </a:r>
            <a:r>
              <a:rPr sz="3200" dirty="0">
                <a:latin typeface="Carlito"/>
                <a:cs typeface="Carlito"/>
              </a:rPr>
              <a:t>while </a:t>
            </a:r>
            <a:r>
              <a:rPr sz="3200" spc="-5" dirty="0">
                <a:latin typeface="Carlito"/>
                <a:cs typeface="Carlito"/>
              </a:rPr>
              <a:t>working </a:t>
            </a:r>
            <a:r>
              <a:rPr sz="3200" dirty="0">
                <a:latin typeface="Carlito"/>
                <a:cs typeface="Carlito"/>
              </a:rPr>
              <a:t>in  </a:t>
            </a: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dirty="0">
                <a:latin typeface="Carlito"/>
                <a:cs typeface="Carlito"/>
              </a:rPr>
              <a:t>7.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710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spc="-5" dirty="0">
                <a:latin typeface="Carlito"/>
                <a:cs typeface="Carlito"/>
              </a:rPr>
              <a:t>Whenever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start button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15" dirty="0">
                <a:latin typeface="Carlito"/>
                <a:cs typeface="Carlito"/>
              </a:rPr>
              <a:t>clicked, 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5" dirty="0">
                <a:latin typeface="Carlito"/>
                <a:cs typeface="Carlito"/>
              </a:rPr>
              <a:t>gives 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option of </a:t>
            </a:r>
            <a:r>
              <a:rPr sz="3200" dirty="0">
                <a:latin typeface="Carlito"/>
                <a:cs typeface="Carlito"/>
              </a:rPr>
              <a:t>running a </a:t>
            </a:r>
            <a:r>
              <a:rPr sz="3200" spc="-15" dirty="0">
                <a:latin typeface="Carlito"/>
                <a:cs typeface="Carlito"/>
              </a:rPr>
              <a:t>program, </a:t>
            </a:r>
            <a:r>
              <a:rPr sz="3200" spc="5" dirty="0">
                <a:latin typeface="Carlito"/>
                <a:cs typeface="Carlito"/>
              </a:rPr>
              <a:t>logging  </a:t>
            </a:r>
            <a:r>
              <a:rPr sz="3200" spc="-15" dirty="0">
                <a:latin typeface="Carlito"/>
                <a:cs typeface="Carlito"/>
              </a:rPr>
              <a:t>off </a:t>
            </a:r>
            <a:r>
              <a:rPr sz="3200" dirty="0">
                <a:latin typeface="Carlito"/>
                <a:cs typeface="Carlito"/>
              </a:rPr>
              <a:t>so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another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use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Computer  </a:t>
            </a:r>
            <a:r>
              <a:rPr sz="3200" dirty="0">
                <a:latin typeface="Carlito"/>
                <a:cs typeface="Carlito"/>
              </a:rPr>
              <a:t>and turning </a:t>
            </a:r>
            <a:r>
              <a:rPr sz="3200" spc="-10" dirty="0">
                <a:latin typeface="Carlito"/>
                <a:cs typeface="Carlito"/>
              </a:rPr>
              <a:t>your computer </a:t>
            </a:r>
            <a:r>
              <a:rPr sz="3200" spc="-15" dirty="0">
                <a:latin typeface="Carlito"/>
                <a:cs typeface="Carlito"/>
              </a:rPr>
              <a:t>off </a:t>
            </a:r>
            <a:r>
              <a:rPr sz="3200" dirty="0">
                <a:latin typeface="Carlito"/>
                <a:cs typeface="Carlito"/>
              </a:rPr>
              <a:t>when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no  longer </a:t>
            </a:r>
            <a:r>
              <a:rPr sz="3200" spc="-10" dirty="0">
                <a:latin typeface="Carlito"/>
                <a:cs typeface="Carlito"/>
              </a:rPr>
              <a:t>wants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use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it.</a:t>
            </a:r>
            <a:endParaRPr sz="3200">
              <a:latin typeface="Carlito"/>
              <a:cs typeface="Carlito"/>
            </a:endParaRPr>
          </a:p>
          <a:p>
            <a:pPr marL="355600" marR="64135" indent="-342900">
              <a:lnSpc>
                <a:spcPts val="3460"/>
              </a:lnSpc>
              <a:spcBef>
                <a:spcPts val="815"/>
              </a:spcBef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sz="3200" i="1" spc="-40" dirty="0">
                <a:latin typeface="Carlito"/>
                <a:cs typeface="Carlito"/>
              </a:rPr>
              <a:t>Taskbar</a:t>
            </a:r>
            <a:r>
              <a:rPr sz="3200" spc="-40" dirty="0">
                <a:latin typeface="Carlito"/>
                <a:cs typeface="Carlito"/>
              </a:rPr>
              <a:t>: </a:t>
            </a:r>
            <a:r>
              <a:rPr sz="3200" spc="-5" dirty="0">
                <a:latin typeface="Carlito"/>
                <a:cs typeface="Carlito"/>
              </a:rPr>
              <a:t>This bar </a:t>
            </a:r>
            <a:r>
              <a:rPr sz="3200" dirty="0">
                <a:latin typeface="Carlito"/>
                <a:cs typeface="Carlito"/>
              </a:rPr>
              <a:t>enables a </a:t>
            </a:r>
            <a:r>
              <a:rPr sz="3200" spc="-15" dirty="0">
                <a:latin typeface="Carlito"/>
                <a:cs typeface="Carlito"/>
              </a:rPr>
              <a:t>computer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spc="-25" dirty="0">
                <a:latin typeface="Carlito"/>
                <a:cs typeface="Carlito"/>
              </a:rPr>
              <a:t>to  </a:t>
            </a:r>
            <a:r>
              <a:rPr sz="3200" spc="-10" dirty="0">
                <a:latin typeface="Carlito"/>
                <a:cs typeface="Carlito"/>
              </a:rPr>
              <a:t>switch </a:t>
            </a:r>
            <a:r>
              <a:rPr sz="3200" spc="-5" dirty="0">
                <a:latin typeface="Carlito"/>
                <a:cs typeface="Carlito"/>
              </a:rPr>
              <a:t>between open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windows.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417" y="461899"/>
            <a:ext cx="55175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Windows </a:t>
            </a:r>
            <a:r>
              <a:rPr dirty="0"/>
              <a:t>7</a:t>
            </a:r>
            <a:r>
              <a:rPr spc="-55" dirty="0"/>
              <a:t> </a:t>
            </a:r>
            <a:r>
              <a:rPr spc="-15" dirty="0"/>
              <a:t>Desktop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471"/>
            <a:ext cx="7960359" cy="423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Remember </a:t>
            </a:r>
            <a:r>
              <a:rPr sz="3000" spc="-15" dirty="0">
                <a:latin typeface="Carlito"/>
                <a:cs typeface="Carlito"/>
              </a:rPr>
              <a:t>we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0" dirty="0">
                <a:latin typeface="Carlito"/>
                <a:cs typeface="Carlito"/>
              </a:rPr>
              <a:t>already </a:t>
            </a:r>
            <a:r>
              <a:rPr sz="3000" dirty="0">
                <a:latin typeface="Carlito"/>
                <a:cs typeface="Carlito"/>
              </a:rPr>
              <a:t>said </a:t>
            </a:r>
            <a:r>
              <a:rPr sz="3000" spc="-5" dirty="0">
                <a:latin typeface="Carlito"/>
                <a:cs typeface="Carlito"/>
              </a:rPr>
              <a:t>that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dirty="0">
                <a:latin typeface="Carlito"/>
                <a:cs typeface="Carlito"/>
              </a:rPr>
              <a:t>is  </a:t>
            </a:r>
            <a:r>
              <a:rPr sz="3000" spc="-5" dirty="0">
                <a:latin typeface="Carlito"/>
                <a:cs typeface="Carlito"/>
              </a:rPr>
              <a:t>multitasking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20" dirty="0">
                <a:latin typeface="Carlito"/>
                <a:cs typeface="Carlito"/>
              </a:rPr>
              <a:t>therefore </a:t>
            </a:r>
            <a:r>
              <a:rPr sz="3000" spc="-5" dirty="0">
                <a:latin typeface="Carlito"/>
                <a:cs typeface="Carlito"/>
              </a:rPr>
              <a:t>one can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5" dirty="0">
                <a:latin typeface="Carlito"/>
                <a:cs typeface="Carlito"/>
              </a:rPr>
              <a:t>number of </a:t>
            </a:r>
            <a:r>
              <a:rPr sz="3000" spc="-15" dirty="0">
                <a:latin typeface="Carlito"/>
                <a:cs typeface="Carlito"/>
              </a:rPr>
              <a:t>programs </a:t>
            </a:r>
            <a:r>
              <a:rPr sz="3000" spc="-5" dirty="0">
                <a:latin typeface="Carlito"/>
                <a:cs typeface="Carlito"/>
              </a:rPr>
              <a:t>opened </a:t>
            </a:r>
            <a:r>
              <a:rPr sz="3000" spc="-10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same time  </a:t>
            </a:r>
            <a:r>
              <a:rPr sz="3000" dirty="0">
                <a:latin typeface="Carlito"/>
                <a:cs typeface="Carlito"/>
              </a:rPr>
              <a:t>and is the </a:t>
            </a:r>
            <a:r>
              <a:rPr sz="3000" spc="-5" dirty="0">
                <a:latin typeface="Carlito"/>
                <a:cs typeface="Carlito"/>
              </a:rPr>
              <a:t>taskbar that </a:t>
            </a:r>
            <a:r>
              <a:rPr sz="3000" spc="-20" dirty="0">
                <a:latin typeface="Carlito"/>
                <a:cs typeface="Carlito"/>
              </a:rPr>
              <a:t>makes </a:t>
            </a:r>
            <a:r>
              <a:rPr sz="3000" dirty="0">
                <a:latin typeface="Carlito"/>
                <a:cs typeface="Carlito"/>
              </a:rPr>
              <a:t>it </a:t>
            </a:r>
            <a:r>
              <a:rPr sz="3000" spc="-5" dirty="0">
                <a:latin typeface="Carlito"/>
                <a:cs typeface="Carlito"/>
              </a:rPr>
              <a:t>possible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5" dirty="0">
                <a:latin typeface="Carlito"/>
                <a:cs typeface="Carlito"/>
              </a:rPr>
              <a:t>you  </a:t>
            </a:r>
            <a:r>
              <a:rPr sz="3000" spc="-10" dirty="0">
                <a:latin typeface="Carlito"/>
                <a:cs typeface="Carlito"/>
              </a:rPr>
              <a:t>to switch between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programs.</a:t>
            </a:r>
            <a:endParaRPr sz="3000">
              <a:latin typeface="Carlito"/>
              <a:cs typeface="Carlito"/>
            </a:endParaRPr>
          </a:p>
          <a:p>
            <a:pPr marL="355600" marR="64135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Icons </a:t>
            </a:r>
            <a:r>
              <a:rPr sz="3000" spc="-5" dirty="0">
                <a:latin typeface="Carlito"/>
                <a:cs typeface="Carlito"/>
              </a:rPr>
              <a:t>(or </a:t>
            </a:r>
            <a:r>
              <a:rPr sz="3000" spc="-10" dirty="0">
                <a:latin typeface="Carlito"/>
                <a:cs typeface="Carlito"/>
              </a:rPr>
              <a:t>graphical pictures): </a:t>
            </a:r>
            <a:r>
              <a:rPr sz="3000" spc="-5" dirty="0">
                <a:latin typeface="Carlito"/>
                <a:cs typeface="Carlito"/>
              </a:rPr>
              <a:t>These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5" dirty="0">
                <a:latin typeface="Carlito"/>
                <a:cs typeface="Carlito"/>
              </a:rPr>
              <a:t>normally  </a:t>
            </a:r>
            <a:r>
              <a:rPr sz="3000" dirty="0">
                <a:latin typeface="Carlito"/>
                <a:cs typeface="Carlito"/>
              </a:rPr>
              <a:t>small </a:t>
            </a:r>
            <a:r>
              <a:rPr sz="3000" spc="-10" dirty="0">
                <a:latin typeface="Carlito"/>
                <a:cs typeface="Carlito"/>
              </a:rPr>
              <a:t>graphical </a:t>
            </a:r>
            <a:r>
              <a:rPr sz="3000" spc="-5" dirty="0">
                <a:latin typeface="Carlito"/>
                <a:cs typeface="Carlito"/>
              </a:rPr>
              <a:t>images or </a:t>
            </a:r>
            <a:r>
              <a:rPr sz="3000" spc="-10" dirty="0">
                <a:latin typeface="Carlito"/>
                <a:cs typeface="Carlito"/>
              </a:rPr>
              <a:t>pictures </a:t>
            </a:r>
            <a:r>
              <a:rPr sz="3000" spc="-5" dirty="0">
                <a:latin typeface="Carlito"/>
                <a:cs typeface="Carlito"/>
              </a:rPr>
              <a:t>that </a:t>
            </a:r>
            <a:r>
              <a:rPr sz="3000" spc="-15" dirty="0">
                <a:latin typeface="Carlito"/>
                <a:cs typeface="Carlito"/>
              </a:rPr>
              <a:t>represent  </a:t>
            </a:r>
            <a:r>
              <a:rPr sz="3000" spc="-5" dirty="0">
                <a:latin typeface="Carlito"/>
                <a:cs typeface="Carlito"/>
              </a:rPr>
              <a:t>applications, files,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other parts of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5" dirty="0">
                <a:latin typeface="Carlito"/>
                <a:cs typeface="Carlito"/>
              </a:rPr>
              <a:t>operating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system.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417" y="461899"/>
            <a:ext cx="55175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Windows </a:t>
            </a:r>
            <a:r>
              <a:rPr dirty="0"/>
              <a:t>7</a:t>
            </a:r>
            <a:r>
              <a:rPr spc="-55" dirty="0"/>
              <a:t> </a:t>
            </a:r>
            <a:r>
              <a:rPr spc="-15" dirty="0"/>
              <a:t>Desktop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89749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For example, </a:t>
            </a:r>
            <a:r>
              <a:rPr sz="3200" spc="-5" dirty="0">
                <a:latin typeface="Carlito"/>
                <a:cs typeface="Carlito"/>
              </a:rPr>
              <a:t>one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spc="-10" dirty="0">
                <a:latin typeface="Carlito"/>
                <a:cs typeface="Carlito"/>
              </a:rPr>
              <a:t>icons </a:t>
            </a:r>
            <a:r>
              <a:rPr sz="3200" dirty="0">
                <a:latin typeface="Carlito"/>
                <a:cs typeface="Carlito"/>
              </a:rPr>
              <a:t>is the </a:t>
            </a:r>
            <a:r>
              <a:rPr sz="3200" spc="-10" dirty="0">
                <a:latin typeface="Carlito"/>
                <a:cs typeface="Carlito"/>
              </a:rPr>
              <a:t>Recycle  </a:t>
            </a:r>
            <a:r>
              <a:rPr sz="3200" dirty="0">
                <a:latin typeface="Carlito"/>
                <a:cs typeface="Carlito"/>
              </a:rPr>
              <a:t>Bin </a:t>
            </a:r>
            <a:r>
              <a:rPr sz="3200" spc="-5" dirty="0">
                <a:latin typeface="Carlito"/>
                <a:cs typeface="Carlito"/>
              </a:rPr>
              <a:t>where </a:t>
            </a:r>
            <a:r>
              <a:rPr sz="3200" dirty="0">
                <a:latin typeface="Carlito"/>
                <a:cs typeface="Carlito"/>
              </a:rPr>
              <a:t>all </a:t>
            </a:r>
            <a:r>
              <a:rPr sz="3200" spc="-5" dirty="0">
                <a:latin typeface="Carlito"/>
                <a:cs typeface="Carlito"/>
              </a:rPr>
              <a:t>files that </a:t>
            </a:r>
            <a:r>
              <a:rPr sz="3200" spc="-10" dirty="0">
                <a:latin typeface="Carlito"/>
                <a:cs typeface="Carlito"/>
              </a:rPr>
              <a:t>are deleted are  temporary </a:t>
            </a:r>
            <a:r>
              <a:rPr sz="3200" spc="-20" dirty="0">
                <a:latin typeface="Carlito"/>
                <a:cs typeface="Carlito"/>
              </a:rPr>
              <a:t>stored, </a:t>
            </a:r>
            <a:r>
              <a:rPr sz="3200" dirty="0">
                <a:latin typeface="Carlito"/>
                <a:cs typeface="Carlito"/>
              </a:rPr>
              <a:t>another is </a:t>
            </a:r>
            <a:r>
              <a:rPr sz="3200" spc="-30" dirty="0">
                <a:latin typeface="Carlito"/>
                <a:cs typeface="Carlito"/>
              </a:rPr>
              <a:t>my </a:t>
            </a:r>
            <a:r>
              <a:rPr sz="3200" spc="-5" dirty="0">
                <a:latin typeface="Carlito"/>
                <a:cs typeface="Carlito"/>
              </a:rPr>
              <a:t>Computer  </a:t>
            </a:r>
            <a:r>
              <a:rPr sz="3200" dirty="0">
                <a:latin typeface="Carlito"/>
                <a:cs typeface="Carlito"/>
              </a:rPr>
              <a:t>which </a:t>
            </a:r>
            <a:r>
              <a:rPr sz="3200" spc="-20" dirty="0">
                <a:latin typeface="Carlito"/>
                <a:cs typeface="Carlito"/>
              </a:rPr>
              <a:t>makes 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5" dirty="0">
                <a:latin typeface="Carlito"/>
                <a:cs typeface="Carlito"/>
              </a:rPr>
              <a:t>possible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access </a:t>
            </a:r>
            <a:r>
              <a:rPr sz="3200" spc="-15" dirty="0">
                <a:latin typeface="Carlito"/>
                <a:cs typeface="Carlito"/>
              </a:rPr>
              <a:t>information  </a:t>
            </a:r>
            <a:r>
              <a:rPr sz="3200" dirty="0">
                <a:latin typeface="Carlito"/>
                <a:cs typeface="Carlito"/>
              </a:rPr>
              <a:t>on the </a:t>
            </a:r>
            <a:r>
              <a:rPr sz="3200" spc="-25" dirty="0">
                <a:latin typeface="Carlito"/>
                <a:cs typeface="Carlito"/>
              </a:rPr>
              <a:t>different </a:t>
            </a:r>
            <a:r>
              <a:rPr sz="3200" spc="-10" dirty="0">
                <a:latin typeface="Carlito"/>
                <a:cs typeface="Carlito"/>
              </a:rPr>
              <a:t>drives </a:t>
            </a:r>
            <a:r>
              <a:rPr sz="3200" spc="5" dirty="0">
                <a:latin typeface="Carlito"/>
                <a:cs typeface="Carlito"/>
              </a:rPr>
              <a:t>of </a:t>
            </a:r>
            <a:r>
              <a:rPr sz="3200" spc="-15" dirty="0">
                <a:latin typeface="Carlito"/>
                <a:cs typeface="Carlito"/>
              </a:rPr>
              <a:t>your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45" dirty="0">
                <a:latin typeface="Carlito"/>
                <a:cs typeface="Carlito"/>
              </a:rPr>
              <a:t>computer.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417" y="461899"/>
            <a:ext cx="55175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Windows </a:t>
            </a:r>
            <a:r>
              <a:rPr dirty="0"/>
              <a:t>7</a:t>
            </a:r>
            <a:r>
              <a:rPr spc="-55" dirty="0"/>
              <a:t> </a:t>
            </a:r>
            <a:r>
              <a:rPr spc="-15" dirty="0"/>
              <a:t>Desktop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/>
          <p:nvPr/>
        </p:nvSpPr>
        <p:spPr>
          <a:xfrm>
            <a:off x="547116" y="1600200"/>
            <a:ext cx="8049768" cy="4925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2729" y="461899"/>
            <a:ext cx="35547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10" dirty="0"/>
              <a:t>Start</a:t>
            </a:r>
            <a:r>
              <a:rPr spc="-75" dirty="0"/>
              <a:t> </a:t>
            </a:r>
            <a:r>
              <a:rPr dirty="0"/>
              <a:t>Menu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4960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/>
              <a:t>The </a:t>
            </a:r>
            <a:r>
              <a:rPr sz="3200" spc="-15" dirty="0"/>
              <a:t>start </a:t>
            </a:r>
            <a:r>
              <a:rPr sz="3200" dirty="0"/>
              <a:t>menu is </a:t>
            </a:r>
            <a:r>
              <a:rPr sz="3200" spc="-5" dirty="0"/>
              <a:t>basically used </a:t>
            </a:r>
            <a:r>
              <a:rPr sz="3200" spc="-20" dirty="0"/>
              <a:t>to </a:t>
            </a:r>
            <a:r>
              <a:rPr sz="3200" spc="-15" dirty="0"/>
              <a:t>explore  </a:t>
            </a:r>
            <a:r>
              <a:rPr sz="3200" spc="-5" dirty="0"/>
              <a:t>Windows.</a:t>
            </a:r>
            <a:endParaRPr sz="3200"/>
          </a:p>
          <a:p>
            <a:pPr marL="355600" marR="434975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/>
              <a:t>Also, </a:t>
            </a:r>
            <a:r>
              <a:rPr sz="3200" spc="-20" dirty="0"/>
              <a:t>any </a:t>
            </a:r>
            <a:r>
              <a:rPr sz="3200" spc="-5" dirty="0"/>
              <a:t>application </a:t>
            </a:r>
            <a:r>
              <a:rPr sz="3200" spc="-15" dirty="0"/>
              <a:t>program </a:t>
            </a:r>
            <a:r>
              <a:rPr sz="3200" spc="-10" dirty="0"/>
              <a:t>that </a:t>
            </a:r>
            <a:r>
              <a:rPr sz="3200" spc="-5" dirty="0"/>
              <a:t>does not  </a:t>
            </a:r>
            <a:r>
              <a:rPr sz="3200" spc="-20" dirty="0"/>
              <a:t>have </a:t>
            </a:r>
            <a:r>
              <a:rPr sz="3200" dirty="0"/>
              <a:t>a </a:t>
            </a:r>
            <a:r>
              <a:rPr sz="3200" spc="-10" dirty="0"/>
              <a:t>shortcut </a:t>
            </a:r>
            <a:r>
              <a:rPr sz="3200" dirty="0"/>
              <a:t>on the </a:t>
            </a:r>
            <a:r>
              <a:rPr sz="3200" spc="-10" dirty="0"/>
              <a:t>desktop can </a:t>
            </a:r>
            <a:r>
              <a:rPr sz="3200" spc="-5" dirty="0"/>
              <a:t>only be  </a:t>
            </a:r>
            <a:r>
              <a:rPr sz="3200" dirty="0"/>
              <a:t>run by </a:t>
            </a:r>
            <a:r>
              <a:rPr sz="3200" spc="-25" dirty="0"/>
              <a:t>first </a:t>
            </a:r>
            <a:r>
              <a:rPr sz="3200" dirty="0"/>
              <a:t>clicking </a:t>
            </a:r>
            <a:r>
              <a:rPr sz="3200" spc="-10" dirty="0"/>
              <a:t>at </a:t>
            </a:r>
            <a:r>
              <a:rPr sz="3200" dirty="0"/>
              <a:t>the </a:t>
            </a:r>
            <a:r>
              <a:rPr sz="3200" spc="-15" dirty="0"/>
              <a:t>start </a:t>
            </a:r>
            <a:r>
              <a:rPr sz="3200" dirty="0"/>
              <a:t>and then  </a:t>
            </a:r>
            <a:r>
              <a:rPr sz="3200" spc="-5" dirty="0"/>
              <a:t>selecting </a:t>
            </a:r>
            <a:r>
              <a:rPr sz="3200" dirty="0"/>
              <a:t>the </a:t>
            </a:r>
            <a:r>
              <a:rPr sz="3200" spc="-15" dirty="0"/>
              <a:t>appropriate</a:t>
            </a:r>
            <a:r>
              <a:rPr sz="3200" spc="15" dirty="0"/>
              <a:t> </a:t>
            </a:r>
            <a:r>
              <a:rPr sz="3200" spc="-5" dirty="0"/>
              <a:t>options.</a:t>
            </a:r>
            <a:endParaRPr sz="3200"/>
          </a:p>
          <a:p>
            <a:pPr marL="355600" indent="-342900">
              <a:lnSpc>
                <a:spcPts val="359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/>
              <a:t>The </a:t>
            </a:r>
            <a:r>
              <a:rPr sz="3200" spc="-15" dirty="0"/>
              <a:t>start </a:t>
            </a:r>
            <a:r>
              <a:rPr sz="3200" dirty="0"/>
              <a:t>menu </a:t>
            </a:r>
            <a:r>
              <a:rPr sz="3200" spc="-10" dirty="0"/>
              <a:t>appears </a:t>
            </a:r>
            <a:r>
              <a:rPr sz="3200" dirty="0"/>
              <a:t>when the </a:t>
            </a:r>
            <a:r>
              <a:rPr sz="3200" spc="-20" dirty="0"/>
              <a:t>start</a:t>
            </a:r>
            <a:r>
              <a:rPr sz="3200" spc="50" dirty="0"/>
              <a:t> </a:t>
            </a:r>
            <a:r>
              <a:rPr sz="3200" spc="-20" dirty="0"/>
              <a:t>button</a:t>
            </a:r>
            <a:endParaRPr sz="3200"/>
          </a:p>
          <a:p>
            <a:pPr marL="626745" algn="ctr">
              <a:lnSpc>
                <a:spcPts val="1910"/>
              </a:lnSpc>
            </a:pPr>
            <a:r>
              <a:rPr sz="1800" b="1" spc="-5" dirty="0">
                <a:latin typeface="Carlito"/>
                <a:cs typeface="Carlito"/>
              </a:rPr>
              <a:t>The</a:t>
            </a:r>
            <a:r>
              <a:rPr sz="1800" b="1" spc="-10" dirty="0">
                <a:latin typeface="Carlito"/>
                <a:cs typeface="Carlito"/>
              </a:rPr>
              <a:t> </a:t>
            </a:r>
            <a:r>
              <a:rPr sz="1800" b="1" spc="-5" dirty="0">
                <a:latin typeface="Carlito"/>
                <a:cs typeface="Carlito"/>
              </a:rPr>
              <a:t>Start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5030216"/>
            <a:ext cx="1592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is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clicked.</a:t>
            </a:r>
            <a:endParaRPr sz="32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5411" y="4783709"/>
            <a:ext cx="3889375" cy="1742439"/>
            <a:chOff x="2915411" y="4783709"/>
            <a:chExt cx="3889375" cy="1742439"/>
          </a:xfrm>
        </p:grpSpPr>
        <p:sp>
          <p:nvSpPr>
            <p:cNvPr id="5" name="object 5"/>
            <p:cNvSpPr/>
            <p:nvPr/>
          </p:nvSpPr>
          <p:spPr>
            <a:xfrm>
              <a:off x="2915411" y="5300472"/>
              <a:ext cx="3889247" cy="12252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8317" y="4798314"/>
              <a:ext cx="1800225" cy="1028700"/>
            </a:xfrm>
            <a:custGeom>
              <a:avLst/>
              <a:gdLst/>
              <a:ahLst/>
              <a:cxnLst/>
              <a:rect l="l" t="t" r="r" b="b"/>
              <a:pathLst>
                <a:path w="1800225" h="1028700">
                  <a:moveTo>
                    <a:pt x="0" y="514350"/>
                  </a:moveTo>
                  <a:lnTo>
                    <a:pt x="7578" y="447290"/>
                  </a:lnTo>
                  <a:lnTo>
                    <a:pt x="29682" y="382840"/>
                  </a:lnTo>
                  <a:lnTo>
                    <a:pt x="65361" y="321542"/>
                  </a:lnTo>
                  <a:lnTo>
                    <a:pt x="113667" y="263937"/>
                  </a:lnTo>
                  <a:lnTo>
                    <a:pt x="142258" y="236689"/>
                  </a:lnTo>
                  <a:lnTo>
                    <a:pt x="173650" y="210568"/>
                  </a:lnTo>
                  <a:lnTo>
                    <a:pt x="207724" y="185640"/>
                  </a:lnTo>
                  <a:lnTo>
                    <a:pt x="244361" y="161975"/>
                  </a:lnTo>
                  <a:lnTo>
                    <a:pt x="283443" y="139640"/>
                  </a:lnTo>
                  <a:lnTo>
                    <a:pt x="324851" y="118703"/>
                  </a:lnTo>
                  <a:lnTo>
                    <a:pt x="368466" y="99230"/>
                  </a:lnTo>
                  <a:lnTo>
                    <a:pt x="414170" y="81291"/>
                  </a:lnTo>
                  <a:lnTo>
                    <a:pt x="461844" y="64952"/>
                  </a:lnTo>
                  <a:lnTo>
                    <a:pt x="511370" y="50282"/>
                  </a:lnTo>
                  <a:lnTo>
                    <a:pt x="562628" y="37348"/>
                  </a:lnTo>
                  <a:lnTo>
                    <a:pt x="615500" y="26218"/>
                  </a:lnTo>
                  <a:lnTo>
                    <a:pt x="669868" y="16960"/>
                  </a:lnTo>
                  <a:lnTo>
                    <a:pt x="725613" y="9642"/>
                  </a:lnTo>
                  <a:lnTo>
                    <a:pt x="782616" y="4330"/>
                  </a:lnTo>
                  <a:lnTo>
                    <a:pt x="840758" y="1093"/>
                  </a:lnTo>
                  <a:lnTo>
                    <a:pt x="899922" y="0"/>
                  </a:lnTo>
                  <a:lnTo>
                    <a:pt x="959085" y="1093"/>
                  </a:lnTo>
                  <a:lnTo>
                    <a:pt x="1017227" y="4330"/>
                  </a:lnTo>
                  <a:lnTo>
                    <a:pt x="1074230" y="9642"/>
                  </a:lnTo>
                  <a:lnTo>
                    <a:pt x="1129975" y="16960"/>
                  </a:lnTo>
                  <a:lnTo>
                    <a:pt x="1184343" y="26218"/>
                  </a:lnTo>
                  <a:lnTo>
                    <a:pt x="1237215" y="37348"/>
                  </a:lnTo>
                  <a:lnTo>
                    <a:pt x="1288473" y="50282"/>
                  </a:lnTo>
                  <a:lnTo>
                    <a:pt x="1337999" y="64952"/>
                  </a:lnTo>
                  <a:lnTo>
                    <a:pt x="1385673" y="81291"/>
                  </a:lnTo>
                  <a:lnTo>
                    <a:pt x="1431377" y="99230"/>
                  </a:lnTo>
                  <a:lnTo>
                    <a:pt x="1474992" y="118703"/>
                  </a:lnTo>
                  <a:lnTo>
                    <a:pt x="1516400" y="139640"/>
                  </a:lnTo>
                  <a:lnTo>
                    <a:pt x="1555482" y="161975"/>
                  </a:lnTo>
                  <a:lnTo>
                    <a:pt x="1592119" y="185640"/>
                  </a:lnTo>
                  <a:lnTo>
                    <a:pt x="1626193" y="210568"/>
                  </a:lnTo>
                  <a:lnTo>
                    <a:pt x="1657585" y="236689"/>
                  </a:lnTo>
                  <a:lnTo>
                    <a:pt x="1686176" y="263937"/>
                  </a:lnTo>
                  <a:lnTo>
                    <a:pt x="1711848" y="292244"/>
                  </a:lnTo>
                  <a:lnTo>
                    <a:pt x="1753959" y="351763"/>
                  </a:lnTo>
                  <a:lnTo>
                    <a:pt x="1782969" y="414705"/>
                  </a:lnTo>
                  <a:lnTo>
                    <a:pt x="1797929" y="480527"/>
                  </a:lnTo>
                  <a:lnTo>
                    <a:pt x="1799844" y="514350"/>
                  </a:lnTo>
                  <a:lnTo>
                    <a:pt x="1797929" y="548167"/>
                  </a:lnTo>
                  <a:lnTo>
                    <a:pt x="1782969" y="613983"/>
                  </a:lnTo>
                  <a:lnTo>
                    <a:pt x="1753959" y="676921"/>
                  </a:lnTo>
                  <a:lnTo>
                    <a:pt x="1711848" y="736439"/>
                  </a:lnTo>
                  <a:lnTo>
                    <a:pt x="1686176" y="764745"/>
                  </a:lnTo>
                  <a:lnTo>
                    <a:pt x="1657585" y="791993"/>
                  </a:lnTo>
                  <a:lnTo>
                    <a:pt x="1626193" y="818115"/>
                  </a:lnTo>
                  <a:lnTo>
                    <a:pt x="1592119" y="843043"/>
                  </a:lnTo>
                  <a:lnTo>
                    <a:pt x="1555482" y="866709"/>
                  </a:lnTo>
                  <a:lnTo>
                    <a:pt x="1516400" y="889045"/>
                  </a:lnTo>
                  <a:lnTo>
                    <a:pt x="1474992" y="909984"/>
                  </a:lnTo>
                  <a:lnTo>
                    <a:pt x="1431377" y="929458"/>
                  </a:lnTo>
                  <a:lnTo>
                    <a:pt x="1385673" y="947399"/>
                  </a:lnTo>
                  <a:lnTo>
                    <a:pt x="1337999" y="963739"/>
                  </a:lnTo>
                  <a:lnTo>
                    <a:pt x="1288473" y="978410"/>
                  </a:lnTo>
                  <a:lnTo>
                    <a:pt x="1237215" y="991346"/>
                  </a:lnTo>
                  <a:lnTo>
                    <a:pt x="1184343" y="1002477"/>
                  </a:lnTo>
                  <a:lnTo>
                    <a:pt x="1129975" y="1011736"/>
                  </a:lnTo>
                  <a:lnTo>
                    <a:pt x="1074230" y="1019056"/>
                  </a:lnTo>
                  <a:lnTo>
                    <a:pt x="1017227" y="1024368"/>
                  </a:lnTo>
                  <a:lnTo>
                    <a:pt x="959085" y="1027605"/>
                  </a:lnTo>
                  <a:lnTo>
                    <a:pt x="899922" y="1028700"/>
                  </a:lnTo>
                  <a:lnTo>
                    <a:pt x="840758" y="1027605"/>
                  </a:lnTo>
                  <a:lnTo>
                    <a:pt x="782616" y="1024368"/>
                  </a:lnTo>
                  <a:lnTo>
                    <a:pt x="725613" y="1019056"/>
                  </a:lnTo>
                  <a:lnTo>
                    <a:pt x="669868" y="1011736"/>
                  </a:lnTo>
                  <a:lnTo>
                    <a:pt x="615500" y="1002477"/>
                  </a:lnTo>
                  <a:lnTo>
                    <a:pt x="562628" y="991346"/>
                  </a:lnTo>
                  <a:lnTo>
                    <a:pt x="511370" y="978410"/>
                  </a:lnTo>
                  <a:lnTo>
                    <a:pt x="461844" y="963739"/>
                  </a:lnTo>
                  <a:lnTo>
                    <a:pt x="414170" y="947399"/>
                  </a:lnTo>
                  <a:lnTo>
                    <a:pt x="368466" y="929458"/>
                  </a:lnTo>
                  <a:lnTo>
                    <a:pt x="324851" y="909984"/>
                  </a:lnTo>
                  <a:lnTo>
                    <a:pt x="283443" y="889045"/>
                  </a:lnTo>
                  <a:lnTo>
                    <a:pt x="244361" y="866709"/>
                  </a:lnTo>
                  <a:lnTo>
                    <a:pt x="207724" y="843043"/>
                  </a:lnTo>
                  <a:lnTo>
                    <a:pt x="173650" y="818115"/>
                  </a:lnTo>
                  <a:lnTo>
                    <a:pt x="142258" y="791993"/>
                  </a:lnTo>
                  <a:lnTo>
                    <a:pt x="113667" y="764745"/>
                  </a:lnTo>
                  <a:lnTo>
                    <a:pt x="87995" y="736439"/>
                  </a:lnTo>
                  <a:lnTo>
                    <a:pt x="45884" y="676921"/>
                  </a:lnTo>
                  <a:lnTo>
                    <a:pt x="16874" y="613983"/>
                  </a:lnTo>
                  <a:lnTo>
                    <a:pt x="1914" y="548167"/>
                  </a:lnTo>
                  <a:lnTo>
                    <a:pt x="0" y="514350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10836" y="5244465"/>
            <a:ext cx="672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rlito"/>
                <a:cs typeface="Carlito"/>
              </a:rPr>
              <a:t>bu</a:t>
            </a:r>
            <a:r>
              <a:rPr sz="1800" b="1" spc="-25" dirty="0">
                <a:latin typeface="Carlito"/>
                <a:cs typeface="Carlito"/>
              </a:rPr>
              <a:t>t</a:t>
            </a:r>
            <a:r>
              <a:rPr sz="1800" b="1" spc="-15" dirty="0">
                <a:latin typeface="Carlito"/>
                <a:cs typeface="Carlito"/>
              </a:rPr>
              <a:t>t</a:t>
            </a:r>
            <a:r>
              <a:rPr sz="1800" b="1" dirty="0">
                <a:latin typeface="Carlito"/>
                <a:cs typeface="Carlito"/>
              </a:rPr>
              <a:t>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92246" y="5576315"/>
            <a:ext cx="1014730" cy="525780"/>
          </a:xfrm>
          <a:custGeom>
            <a:avLst/>
            <a:gdLst/>
            <a:ahLst/>
            <a:cxnLst/>
            <a:rect l="l" t="t" r="r" b="b"/>
            <a:pathLst>
              <a:path w="1014729" h="525779">
                <a:moveTo>
                  <a:pt x="81914" y="403517"/>
                </a:moveTo>
                <a:lnTo>
                  <a:pt x="72898" y="405396"/>
                </a:lnTo>
                <a:lnTo>
                  <a:pt x="68455" y="412280"/>
                </a:lnTo>
                <a:lnTo>
                  <a:pt x="0" y="517042"/>
                </a:lnTo>
                <a:lnTo>
                  <a:pt x="133095" y="525627"/>
                </a:lnTo>
                <a:lnTo>
                  <a:pt x="139953" y="519569"/>
                </a:lnTo>
                <a:lnTo>
                  <a:pt x="140108" y="517144"/>
                </a:lnTo>
                <a:lnTo>
                  <a:pt x="32130" y="517144"/>
                </a:lnTo>
                <a:lnTo>
                  <a:pt x="19176" y="491236"/>
                </a:lnTo>
                <a:lnTo>
                  <a:pt x="67070" y="467289"/>
                </a:lnTo>
                <a:lnTo>
                  <a:pt x="92837" y="427939"/>
                </a:lnTo>
                <a:lnTo>
                  <a:pt x="97154" y="421246"/>
                </a:lnTo>
                <a:lnTo>
                  <a:pt x="95250" y="412280"/>
                </a:lnTo>
                <a:lnTo>
                  <a:pt x="88645" y="407898"/>
                </a:lnTo>
                <a:lnTo>
                  <a:pt x="81914" y="403517"/>
                </a:lnTo>
                <a:close/>
              </a:path>
              <a:path w="1014729" h="525779">
                <a:moveTo>
                  <a:pt x="67070" y="467289"/>
                </a:moveTo>
                <a:lnTo>
                  <a:pt x="19176" y="491236"/>
                </a:lnTo>
                <a:lnTo>
                  <a:pt x="32130" y="517144"/>
                </a:lnTo>
                <a:lnTo>
                  <a:pt x="42189" y="512114"/>
                </a:lnTo>
                <a:lnTo>
                  <a:pt x="37718" y="512114"/>
                </a:lnTo>
                <a:lnTo>
                  <a:pt x="26542" y="489737"/>
                </a:lnTo>
                <a:lnTo>
                  <a:pt x="52371" y="489737"/>
                </a:lnTo>
                <a:lnTo>
                  <a:pt x="67070" y="467289"/>
                </a:lnTo>
                <a:close/>
              </a:path>
              <a:path w="1014729" h="525779">
                <a:moveTo>
                  <a:pt x="80033" y="493192"/>
                </a:moveTo>
                <a:lnTo>
                  <a:pt x="32130" y="517144"/>
                </a:lnTo>
                <a:lnTo>
                  <a:pt x="140108" y="517144"/>
                </a:lnTo>
                <a:lnTo>
                  <a:pt x="140969" y="503618"/>
                </a:lnTo>
                <a:lnTo>
                  <a:pt x="134874" y="496735"/>
                </a:lnTo>
                <a:lnTo>
                  <a:pt x="80033" y="493192"/>
                </a:lnTo>
                <a:close/>
              </a:path>
              <a:path w="1014729" h="525779">
                <a:moveTo>
                  <a:pt x="26542" y="489737"/>
                </a:moveTo>
                <a:lnTo>
                  <a:pt x="37718" y="512114"/>
                </a:lnTo>
                <a:lnTo>
                  <a:pt x="51323" y="491338"/>
                </a:lnTo>
                <a:lnTo>
                  <a:pt x="26542" y="489737"/>
                </a:lnTo>
                <a:close/>
              </a:path>
              <a:path w="1014729" h="525779">
                <a:moveTo>
                  <a:pt x="51323" y="491338"/>
                </a:moveTo>
                <a:lnTo>
                  <a:pt x="37718" y="512114"/>
                </a:lnTo>
                <a:lnTo>
                  <a:pt x="42189" y="512114"/>
                </a:lnTo>
                <a:lnTo>
                  <a:pt x="80033" y="493192"/>
                </a:lnTo>
                <a:lnTo>
                  <a:pt x="51323" y="491338"/>
                </a:lnTo>
                <a:close/>
              </a:path>
              <a:path w="1014729" h="525779">
                <a:moveTo>
                  <a:pt x="1001649" y="0"/>
                </a:moveTo>
                <a:lnTo>
                  <a:pt x="67070" y="467289"/>
                </a:lnTo>
                <a:lnTo>
                  <a:pt x="51323" y="491338"/>
                </a:lnTo>
                <a:lnTo>
                  <a:pt x="80033" y="493192"/>
                </a:lnTo>
                <a:lnTo>
                  <a:pt x="1014602" y="25908"/>
                </a:lnTo>
                <a:lnTo>
                  <a:pt x="1001649" y="0"/>
                </a:lnTo>
                <a:close/>
              </a:path>
              <a:path w="1014729" h="525779">
                <a:moveTo>
                  <a:pt x="52371" y="489737"/>
                </a:moveTo>
                <a:lnTo>
                  <a:pt x="26542" y="489737"/>
                </a:lnTo>
                <a:lnTo>
                  <a:pt x="51323" y="491338"/>
                </a:lnTo>
                <a:lnTo>
                  <a:pt x="52371" y="4897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2729" y="461899"/>
            <a:ext cx="35547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10" dirty="0"/>
              <a:t>Start</a:t>
            </a:r>
            <a:r>
              <a:rPr spc="-75" dirty="0"/>
              <a:t> </a:t>
            </a:r>
            <a:r>
              <a:rPr dirty="0"/>
              <a:t>Menu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7882255" cy="42786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10668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When the </a:t>
            </a:r>
            <a:r>
              <a:rPr sz="3000" spc="-15" dirty="0">
                <a:latin typeface="Carlito"/>
                <a:cs typeface="Carlito"/>
              </a:rPr>
              <a:t>start </a:t>
            </a:r>
            <a:r>
              <a:rPr sz="3000" dirty="0">
                <a:latin typeface="Carlito"/>
                <a:cs typeface="Carlito"/>
              </a:rPr>
              <a:t>menu </a:t>
            </a:r>
            <a:r>
              <a:rPr sz="3000" spc="-5" dirty="0">
                <a:latin typeface="Carlito"/>
                <a:cs typeface="Carlito"/>
              </a:rPr>
              <a:t>opens,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dirty="0">
                <a:latin typeface="Carlito"/>
                <a:cs typeface="Carlito"/>
              </a:rPr>
              <a:t>will </a:t>
            </a:r>
            <a:r>
              <a:rPr sz="3000" spc="-5" dirty="0">
                <a:latin typeface="Carlito"/>
                <a:cs typeface="Carlito"/>
              </a:rPr>
              <a:t>see on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left </a:t>
            </a:r>
            <a:r>
              <a:rPr sz="3000" spc="-5" dirty="0">
                <a:latin typeface="Carlito"/>
                <a:cs typeface="Carlito"/>
              </a:rPr>
              <a:t>side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list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programs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computer  </a:t>
            </a:r>
            <a:r>
              <a:rPr sz="3000" dirty="0">
                <a:latin typeface="Carlito"/>
                <a:cs typeface="Carlito"/>
              </a:rPr>
              <a:t>and the </a:t>
            </a:r>
            <a:r>
              <a:rPr sz="3000" spc="-10" dirty="0">
                <a:latin typeface="Carlito"/>
                <a:cs typeface="Carlito"/>
              </a:rPr>
              <a:t>right </a:t>
            </a:r>
            <a:r>
              <a:rPr sz="3000" spc="-5" dirty="0">
                <a:latin typeface="Carlito"/>
                <a:cs typeface="Carlito"/>
              </a:rPr>
              <a:t>side gives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dirty="0">
                <a:latin typeface="Carlito"/>
                <a:cs typeface="Carlito"/>
              </a:rPr>
              <a:t>access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5" dirty="0">
                <a:latin typeface="Carlito"/>
                <a:cs typeface="Carlito"/>
              </a:rPr>
              <a:t>common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spc="-20" dirty="0">
                <a:latin typeface="Carlito"/>
                <a:cs typeface="Carlito"/>
              </a:rPr>
              <a:t>folders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dirty="0">
                <a:latin typeface="Carlito"/>
                <a:cs typeface="Carlito"/>
              </a:rPr>
              <a:t>as My  </a:t>
            </a:r>
            <a:r>
              <a:rPr sz="3000" spc="-5" dirty="0">
                <a:latin typeface="Carlito"/>
                <a:cs typeface="Carlito"/>
              </a:rPr>
              <a:t>Documents, </a:t>
            </a:r>
            <a:r>
              <a:rPr sz="3000" spc="-15" dirty="0">
                <a:latin typeface="Carlito"/>
                <a:cs typeface="Carlito"/>
              </a:rPr>
              <a:t>Control </a:t>
            </a:r>
            <a:r>
              <a:rPr sz="3000" spc="-10" dirty="0">
                <a:latin typeface="Carlito"/>
                <a:cs typeface="Carlito"/>
              </a:rPr>
              <a:t>Panel, </a:t>
            </a:r>
            <a:r>
              <a:rPr sz="3000" spc="-5" dirty="0">
                <a:latin typeface="Carlito"/>
                <a:cs typeface="Carlito"/>
              </a:rPr>
              <a:t>Help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Support,  </a:t>
            </a:r>
            <a:r>
              <a:rPr sz="3000" spc="-10" dirty="0">
                <a:latin typeface="Carlito"/>
                <a:cs typeface="Carlito"/>
              </a:rPr>
              <a:t>Search,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Run.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dirty="0">
                <a:latin typeface="Carlito"/>
                <a:cs typeface="Carlito"/>
              </a:rPr>
              <a:t>All </a:t>
            </a:r>
            <a:r>
              <a:rPr sz="3000" spc="-15" dirty="0">
                <a:latin typeface="Carlito"/>
                <a:cs typeface="Carlito"/>
              </a:rPr>
              <a:t>Programs </a:t>
            </a:r>
            <a:r>
              <a:rPr sz="3000" dirty="0">
                <a:latin typeface="Carlito"/>
                <a:cs typeface="Carlito"/>
              </a:rPr>
              <a:t>when </a:t>
            </a:r>
            <a:r>
              <a:rPr sz="3000" spc="-10" dirty="0">
                <a:latin typeface="Carlito"/>
                <a:cs typeface="Carlito"/>
              </a:rPr>
              <a:t>highlighted </a:t>
            </a:r>
            <a:r>
              <a:rPr sz="3000" spc="-5" dirty="0">
                <a:latin typeface="Carlito"/>
                <a:cs typeface="Carlito"/>
              </a:rPr>
              <a:t>gives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5" dirty="0">
                <a:latin typeface="Carlito"/>
                <a:cs typeface="Carlito"/>
              </a:rPr>
              <a:t>pop-up </a:t>
            </a:r>
            <a:r>
              <a:rPr sz="3000" dirty="0">
                <a:latin typeface="Carlito"/>
                <a:cs typeface="Carlito"/>
              </a:rPr>
              <a:t>menu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all </a:t>
            </a:r>
            <a:r>
              <a:rPr sz="3000" spc="-10" dirty="0">
                <a:latin typeface="Carlito"/>
                <a:cs typeface="Carlito"/>
              </a:rPr>
              <a:t>application </a:t>
            </a:r>
            <a:r>
              <a:rPr sz="3000" spc="-20" dirty="0">
                <a:latin typeface="Carlito"/>
                <a:cs typeface="Carlito"/>
              </a:rPr>
              <a:t>programs </a:t>
            </a:r>
            <a:r>
              <a:rPr sz="3000" dirty="0">
                <a:latin typeface="Carlito"/>
                <a:cs typeface="Carlito"/>
              </a:rPr>
              <a:t>and  </a:t>
            </a:r>
            <a:r>
              <a:rPr sz="3000" spc="-5" dirty="0">
                <a:latin typeface="Carlito"/>
                <a:cs typeface="Carlito"/>
              </a:rPr>
              <a:t>utility </a:t>
            </a:r>
            <a:r>
              <a:rPr sz="3000" spc="-15" dirty="0">
                <a:latin typeface="Carlito"/>
                <a:cs typeface="Carlito"/>
              </a:rPr>
              <a:t>programs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5" dirty="0">
                <a:latin typeface="Carlito"/>
                <a:cs typeface="Carlito"/>
              </a:rPr>
              <a:t>been </a:t>
            </a:r>
            <a:r>
              <a:rPr sz="3000" spc="-10" dirty="0">
                <a:latin typeface="Carlito"/>
                <a:cs typeface="Carlito"/>
              </a:rPr>
              <a:t>installed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spc="-15" dirty="0">
                <a:latin typeface="Carlito"/>
                <a:cs typeface="Carlito"/>
              </a:rPr>
              <a:t>your  </a:t>
            </a:r>
            <a:r>
              <a:rPr sz="3000" spc="-45" dirty="0">
                <a:latin typeface="Carlito"/>
                <a:cs typeface="Carlito"/>
              </a:rPr>
              <a:t>computer.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2729" y="461899"/>
            <a:ext cx="35547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10" dirty="0"/>
              <a:t>Start</a:t>
            </a:r>
            <a:r>
              <a:rPr spc="-75" dirty="0"/>
              <a:t> </a:t>
            </a:r>
            <a:r>
              <a:rPr dirty="0"/>
              <a:t>Menu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5" y="1253693"/>
            <a:ext cx="4258310" cy="44659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One </a:t>
            </a:r>
            <a:r>
              <a:rPr sz="3200" spc="-10" dirty="0">
                <a:latin typeface="Carlito"/>
                <a:cs typeface="Carlito"/>
              </a:rPr>
              <a:t>good </a:t>
            </a:r>
            <a:r>
              <a:rPr sz="3200" dirty="0">
                <a:latin typeface="Carlito"/>
                <a:cs typeface="Carlito"/>
              </a:rPr>
              <a:t>thing about  the </a:t>
            </a:r>
            <a:r>
              <a:rPr sz="3200" spc="-20" dirty="0">
                <a:latin typeface="Carlito"/>
                <a:cs typeface="Carlito"/>
              </a:rPr>
              <a:t>start </a:t>
            </a:r>
            <a:r>
              <a:rPr sz="3200" dirty="0">
                <a:latin typeface="Carlito"/>
                <a:cs typeface="Carlito"/>
              </a:rPr>
              <a:t>menu is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it  is able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30" dirty="0">
                <a:latin typeface="Carlito"/>
                <a:cs typeface="Carlito"/>
              </a:rPr>
              <a:t>keep </a:t>
            </a:r>
            <a:r>
              <a:rPr sz="3200" spc="-15" dirty="0">
                <a:latin typeface="Carlito"/>
                <a:cs typeface="Carlito"/>
              </a:rPr>
              <a:t>track </a:t>
            </a:r>
            <a:r>
              <a:rPr sz="3200" spc="-5" dirty="0">
                <a:latin typeface="Carlito"/>
                <a:cs typeface="Carlito"/>
              </a:rPr>
              <a:t>of  </a:t>
            </a:r>
            <a:r>
              <a:rPr sz="3200" spc="-10" dirty="0">
                <a:latin typeface="Carlito"/>
                <a:cs typeface="Carlito"/>
              </a:rPr>
              <a:t>items </a:t>
            </a:r>
            <a:r>
              <a:rPr sz="3200" spc="-15" dirty="0">
                <a:latin typeface="Carlito"/>
                <a:cs typeface="Carlito"/>
              </a:rPr>
              <a:t>you've </a:t>
            </a:r>
            <a:r>
              <a:rPr sz="3200" spc="-10" dirty="0">
                <a:latin typeface="Carlito"/>
                <a:cs typeface="Carlito"/>
              </a:rPr>
              <a:t>recently  </a:t>
            </a:r>
            <a:r>
              <a:rPr sz="3200" spc="-5" dirty="0">
                <a:latin typeface="Carlito"/>
                <a:cs typeface="Carlito"/>
              </a:rPr>
              <a:t>opened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places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icon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Start </a:t>
            </a:r>
            <a:r>
              <a:rPr sz="3200" dirty="0">
                <a:latin typeface="Carlito"/>
                <a:cs typeface="Carlito"/>
              </a:rPr>
              <a:t>menu  </a:t>
            </a:r>
            <a:r>
              <a:rPr sz="3200" spc="-5" dirty="0">
                <a:latin typeface="Carlito"/>
                <a:cs typeface="Carlito"/>
              </a:rPr>
              <a:t>so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dirty="0">
                <a:latin typeface="Carlito"/>
                <a:cs typeface="Carlito"/>
              </a:rPr>
              <a:t>easily  </a:t>
            </a:r>
            <a:r>
              <a:rPr sz="3200" spc="-5" dirty="0">
                <a:latin typeface="Carlito"/>
                <a:cs typeface="Carlito"/>
              </a:rPr>
              <a:t>open </a:t>
            </a:r>
            <a:r>
              <a:rPr sz="3200" dirty="0">
                <a:latin typeface="Carlito"/>
                <a:cs typeface="Carlito"/>
              </a:rPr>
              <a:t>it the </a:t>
            </a:r>
            <a:r>
              <a:rPr sz="3200" spc="-10" dirty="0">
                <a:latin typeface="Carlito"/>
                <a:cs typeface="Carlito"/>
              </a:rPr>
              <a:t>next </a:t>
            </a:r>
            <a:r>
              <a:rPr sz="3200" spc="-5" dirty="0">
                <a:latin typeface="Carlito"/>
                <a:cs typeface="Carlito"/>
              </a:rPr>
              <a:t>time 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open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Start  </a:t>
            </a:r>
            <a:r>
              <a:rPr sz="3200" dirty="0">
                <a:latin typeface="Carlito"/>
                <a:cs typeface="Carlito"/>
              </a:rPr>
              <a:t>menu.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" y="1269491"/>
            <a:ext cx="3887724" cy="5183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9244" y="56769"/>
            <a:ext cx="21748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65" dirty="0"/>
              <a:t> </a:t>
            </a:r>
            <a:r>
              <a:rPr spc="-15" dirty="0"/>
              <a:t>Icons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195578"/>
            <a:ext cx="8278495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These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small </a:t>
            </a:r>
            <a:r>
              <a:rPr sz="3000" spc="-10" dirty="0">
                <a:latin typeface="Carlito"/>
                <a:cs typeface="Carlito"/>
              </a:rPr>
              <a:t>pictures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8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desktop.</a:t>
            </a:r>
            <a:endParaRPr sz="30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Some 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icons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25" dirty="0">
                <a:latin typeface="Carlito"/>
                <a:cs typeface="Carlito"/>
              </a:rPr>
              <a:t>for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objects.</a:t>
            </a:r>
            <a:endParaRPr sz="3000">
              <a:latin typeface="Carlito"/>
              <a:cs typeface="Carlito"/>
            </a:endParaRPr>
          </a:p>
          <a:p>
            <a:pPr marL="355600" marR="36830" indent="-343535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spc="-5" dirty="0">
                <a:latin typeface="Carlito"/>
                <a:cs typeface="Carlito"/>
              </a:rPr>
              <a:t>Object </a:t>
            </a:r>
            <a:r>
              <a:rPr sz="3000" spc="-10" dirty="0">
                <a:latin typeface="Carlito"/>
                <a:cs typeface="Carlito"/>
              </a:rPr>
              <a:t>icons </a:t>
            </a:r>
            <a:r>
              <a:rPr sz="3000" spc="-5" dirty="0">
                <a:latin typeface="Carlito"/>
                <a:cs typeface="Carlito"/>
              </a:rPr>
              <a:t>allow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open </a:t>
            </a:r>
            <a:r>
              <a:rPr sz="3000" spc="-20" dirty="0">
                <a:latin typeface="Carlito"/>
                <a:cs typeface="Carlito"/>
              </a:rPr>
              <a:t>programs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files.  </a:t>
            </a:r>
            <a:r>
              <a:rPr sz="3000" spc="-10" dirty="0">
                <a:latin typeface="Carlito"/>
                <a:cs typeface="Carlito"/>
              </a:rPr>
              <a:t>Examples </a:t>
            </a:r>
            <a:r>
              <a:rPr sz="3000" spc="-5" dirty="0">
                <a:latin typeface="Carlito"/>
                <a:cs typeface="Carlito"/>
              </a:rPr>
              <a:t>of object </a:t>
            </a:r>
            <a:r>
              <a:rPr sz="3000" spc="-10" dirty="0">
                <a:latin typeface="Carlito"/>
                <a:cs typeface="Carlito"/>
              </a:rPr>
              <a:t>icons </a:t>
            </a:r>
            <a:r>
              <a:rPr sz="3000" spc="-5" dirty="0">
                <a:latin typeface="Carlito"/>
                <a:cs typeface="Carlito"/>
              </a:rPr>
              <a:t>include </a:t>
            </a:r>
            <a:r>
              <a:rPr sz="3000" dirty="0">
                <a:latin typeface="Carlito"/>
                <a:cs typeface="Carlito"/>
              </a:rPr>
              <a:t>My </a:t>
            </a:r>
            <a:r>
              <a:rPr sz="3000" spc="-40" dirty="0">
                <a:latin typeface="Carlito"/>
                <a:cs typeface="Carlito"/>
              </a:rPr>
              <a:t>Computer,  </a:t>
            </a:r>
            <a:r>
              <a:rPr sz="3000" spc="-15" dirty="0">
                <a:latin typeface="Carlito"/>
                <a:cs typeface="Carlito"/>
              </a:rPr>
              <a:t>Recycle </a:t>
            </a:r>
            <a:r>
              <a:rPr sz="3000" spc="-5" dirty="0">
                <a:latin typeface="Carlito"/>
                <a:cs typeface="Carlito"/>
              </a:rPr>
              <a:t>Bin,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Internet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45" dirty="0">
                <a:latin typeface="Carlito"/>
                <a:cs typeface="Carlito"/>
              </a:rPr>
              <a:t>Explorer.</a:t>
            </a:r>
            <a:endParaRPr sz="3000">
              <a:latin typeface="Carlito"/>
              <a:cs typeface="Carlito"/>
            </a:endParaRPr>
          </a:p>
          <a:p>
            <a:pPr marL="355600" marR="361950" indent="-343535">
              <a:lnSpc>
                <a:spcPts val="288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dirty="0">
                <a:latin typeface="Carlito"/>
                <a:cs typeface="Carlito"/>
              </a:rPr>
              <a:t>Non </a:t>
            </a:r>
            <a:r>
              <a:rPr sz="3000" spc="-5" dirty="0">
                <a:latin typeface="Carlito"/>
                <a:cs typeface="Carlito"/>
              </a:rPr>
              <a:t>object </a:t>
            </a:r>
            <a:r>
              <a:rPr sz="3000" spc="-10" dirty="0">
                <a:latin typeface="Carlito"/>
                <a:cs typeface="Carlito"/>
              </a:rPr>
              <a:t>icons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10" dirty="0">
                <a:latin typeface="Carlito"/>
                <a:cs typeface="Carlito"/>
              </a:rPr>
              <a:t>normally shortcut icons </a:t>
            </a:r>
            <a:r>
              <a:rPr sz="3000" dirty="0">
                <a:latin typeface="Carlito"/>
                <a:cs typeface="Carlito"/>
              </a:rPr>
              <a:t>and  these </a:t>
            </a:r>
            <a:r>
              <a:rPr sz="3000" spc="-5" dirty="0">
                <a:latin typeface="Carlito"/>
                <a:cs typeface="Carlito"/>
              </a:rPr>
              <a:t>allow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run </a:t>
            </a:r>
            <a:r>
              <a:rPr sz="3000" spc="-10" dirty="0">
                <a:latin typeface="Carlito"/>
                <a:cs typeface="Carlito"/>
              </a:rPr>
              <a:t>application </a:t>
            </a:r>
            <a:r>
              <a:rPr sz="3000" spc="-20" dirty="0">
                <a:latin typeface="Carlito"/>
                <a:cs typeface="Carlito"/>
              </a:rPr>
              <a:t>programs </a:t>
            </a:r>
            <a:r>
              <a:rPr sz="3000" spc="-5" dirty="0">
                <a:latin typeface="Carlito"/>
                <a:cs typeface="Carlito"/>
              </a:rPr>
              <a:t>or  open files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30" dirty="0">
                <a:latin typeface="Carlito"/>
                <a:cs typeface="Carlito"/>
              </a:rPr>
              <a:t>quickly.</a:t>
            </a:r>
            <a:endParaRPr sz="3000">
              <a:latin typeface="Carlito"/>
              <a:cs typeface="Carlito"/>
            </a:endParaRPr>
          </a:p>
          <a:p>
            <a:pPr marL="355600" marR="5080" indent="-343535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shortcut icons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dirty="0">
                <a:latin typeface="Carlito"/>
                <a:cs typeface="Carlito"/>
              </a:rPr>
              <a:t>those </a:t>
            </a:r>
            <a:r>
              <a:rPr sz="3000" spc="-5" dirty="0">
                <a:latin typeface="Carlito"/>
                <a:cs typeface="Carlito"/>
              </a:rPr>
              <a:t>with </a:t>
            </a:r>
            <a:r>
              <a:rPr sz="3000" spc="-15" dirty="0">
                <a:latin typeface="Carlito"/>
                <a:cs typeface="Carlito"/>
              </a:rPr>
              <a:t>little arrow </a:t>
            </a:r>
            <a:r>
              <a:rPr sz="3000" dirty="0">
                <a:latin typeface="Carlito"/>
                <a:cs typeface="Carlito"/>
              </a:rPr>
              <a:t>in </a:t>
            </a:r>
            <a:r>
              <a:rPr sz="3000" spc="-5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left </a:t>
            </a:r>
            <a:r>
              <a:rPr sz="3000" spc="-55" dirty="0">
                <a:latin typeface="Carlito"/>
                <a:cs typeface="Carlito"/>
              </a:rPr>
              <a:t>corner.</a:t>
            </a:r>
            <a:endParaRPr sz="3000">
              <a:latin typeface="Carlito"/>
              <a:cs typeface="Carlito"/>
            </a:endParaRPr>
          </a:p>
          <a:p>
            <a:pPr marL="355600" marR="859790" indent="-343535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Adding or </a:t>
            </a:r>
            <a:r>
              <a:rPr sz="3000" spc="-10" dirty="0">
                <a:latin typeface="Carlito"/>
                <a:cs typeface="Carlito"/>
              </a:rPr>
              <a:t>deleting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5" dirty="0">
                <a:latin typeface="Carlito"/>
                <a:cs typeface="Carlito"/>
              </a:rPr>
              <a:t>icon </a:t>
            </a:r>
            <a:r>
              <a:rPr sz="3000" spc="-10" dirty="0">
                <a:latin typeface="Carlito"/>
                <a:cs typeface="Carlito"/>
              </a:rPr>
              <a:t>does </a:t>
            </a:r>
            <a:r>
              <a:rPr sz="3000" spc="-5" dirty="0">
                <a:latin typeface="Carlito"/>
                <a:cs typeface="Carlito"/>
              </a:rPr>
              <a:t>not </a:t>
            </a:r>
            <a:r>
              <a:rPr sz="3000" spc="-25" dirty="0">
                <a:latin typeface="Carlito"/>
                <a:cs typeface="Carlito"/>
              </a:rPr>
              <a:t>affect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20" dirty="0">
                <a:latin typeface="Carlito"/>
                <a:cs typeface="Carlito"/>
              </a:rPr>
              <a:t>programs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computer but </a:t>
            </a:r>
            <a:r>
              <a:rPr sz="3000" spc="-15" dirty="0">
                <a:latin typeface="Carlito"/>
                <a:cs typeface="Carlito"/>
              </a:rPr>
              <a:t>just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3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link.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3366" y="461899"/>
            <a:ext cx="74917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Opening </a:t>
            </a:r>
            <a:r>
              <a:rPr dirty="0"/>
              <a:t>a </a:t>
            </a:r>
            <a:r>
              <a:rPr spc="-25" dirty="0"/>
              <a:t>program </a:t>
            </a:r>
            <a:r>
              <a:rPr spc="-5" dirty="0"/>
              <a:t>using </a:t>
            </a:r>
            <a:r>
              <a:rPr dirty="0"/>
              <a:t>an</a:t>
            </a:r>
            <a:r>
              <a:rPr spc="-10" dirty="0"/>
              <a:t> icon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734934" cy="3733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There are </a:t>
            </a:r>
            <a:r>
              <a:rPr sz="3200" spc="-15" dirty="0">
                <a:latin typeface="Carlito"/>
                <a:cs typeface="Carlito"/>
              </a:rPr>
              <a:t>many </a:t>
            </a:r>
            <a:r>
              <a:rPr sz="3200" spc="-30" dirty="0">
                <a:latin typeface="Carlito"/>
                <a:cs typeface="Carlito"/>
              </a:rPr>
              <a:t>ways </a:t>
            </a:r>
            <a:r>
              <a:rPr sz="3200" spc="-5" dirty="0">
                <a:latin typeface="Carlito"/>
                <a:cs typeface="Carlito"/>
              </a:rPr>
              <a:t>that one can </a:t>
            </a:r>
            <a:r>
              <a:rPr sz="3200" dirty="0">
                <a:latin typeface="Carlito"/>
                <a:cs typeface="Carlito"/>
              </a:rPr>
              <a:t>run a  </a:t>
            </a:r>
            <a:r>
              <a:rPr sz="3200" spc="-15" dirty="0">
                <a:latin typeface="Carlito"/>
                <a:cs typeface="Carlito"/>
              </a:rPr>
              <a:t>program. </a:t>
            </a:r>
            <a:r>
              <a:rPr sz="3200" dirty="0">
                <a:latin typeface="Carlito"/>
                <a:cs typeface="Carlito"/>
              </a:rPr>
              <a:t>If the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spc="-5" dirty="0">
                <a:latin typeface="Carlito"/>
                <a:cs typeface="Carlito"/>
              </a:rPr>
              <a:t>has </a:t>
            </a:r>
            <a:r>
              <a:rPr sz="3200" dirty="0">
                <a:latin typeface="Carlito"/>
                <a:cs typeface="Carlito"/>
              </a:rPr>
              <a:t>an </a:t>
            </a:r>
            <a:r>
              <a:rPr sz="3200" spc="-10" dirty="0">
                <a:latin typeface="Carlito"/>
                <a:cs typeface="Carlito"/>
              </a:rPr>
              <a:t>icon, </a:t>
            </a:r>
            <a:r>
              <a:rPr sz="3200" dirty="0">
                <a:latin typeface="Carlito"/>
                <a:cs typeface="Carlito"/>
              </a:rPr>
              <a:t>then its  </a:t>
            </a:r>
            <a:r>
              <a:rPr sz="3200" spc="-10" dirty="0">
                <a:latin typeface="Carlito"/>
                <a:cs typeface="Carlito"/>
              </a:rPr>
              <a:t>best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open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spc="-5" dirty="0">
                <a:latin typeface="Carlito"/>
                <a:cs typeface="Carlito"/>
              </a:rPr>
              <a:t>using </a:t>
            </a:r>
            <a:r>
              <a:rPr sz="3200" dirty="0">
                <a:latin typeface="Carlito"/>
                <a:cs typeface="Carlito"/>
              </a:rPr>
              <a:t>its</a:t>
            </a:r>
            <a:r>
              <a:rPr sz="3200" spc="7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icon.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4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do</a:t>
            </a:r>
            <a:r>
              <a:rPr sz="3200" spc="14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that,</a:t>
            </a:r>
            <a:endParaRPr sz="3200">
              <a:latin typeface="Carlito"/>
              <a:cs typeface="Carlito"/>
            </a:endParaRPr>
          </a:p>
          <a:p>
            <a:pPr marL="355600" marR="103251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47040" algn="l"/>
                <a:tab pos="447675" algn="l"/>
              </a:tabLst>
            </a:pPr>
            <a:r>
              <a:rPr dirty="0"/>
              <a:t>	</a:t>
            </a:r>
            <a:r>
              <a:rPr sz="3200" dirty="0">
                <a:latin typeface="Carlito"/>
                <a:cs typeface="Carlito"/>
              </a:rPr>
              <a:t>Place </a:t>
            </a:r>
            <a:r>
              <a:rPr sz="3200" spc="-10" dirty="0">
                <a:latin typeface="Carlito"/>
                <a:cs typeface="Carlito"/>
              </a:rPr>
              <a:t>your </a:t>
            </a:r>
            <a:r>
              <a:rPr sz="3200" spc="-5" dirty="0">
                <a:latin typeface="Carlito"/>
                <a:cs typeface="Carlito"/>
              </a:rPr>
              <a:t>mouse </a:t>
            </a:r>
            <a:r>
              <a:rPr sz="3200" spc="-10" dirty="0">
                <a:latin typeface="Carlito"/>
                <a:cs typeface="Carlito"/>
              </a:rPr>
              <a:t>over the icon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the  </a:t>
            </a:r>
            <a:r>
              <a:rPr sz="3200" spc="-15" dirty="0">
                <a:latin typeface="Carlito"/>
                <a:cs typeface="Carlito"/>
              </a:rPr>
              <a:t>program you </a:t>
            </a:r>
            <a:r>
              <a:rPr sz="3200" spc="-10" dirty="0">
                <a:latin typeface="Carlito"/>
                <a:cs typeface="Carlito"/>
              </a:rPr>
              <a:t>intend </a:t>
            </a:r>
            <a:r>
              <a:rPr sz="3200" spc="-20" dirty="0">
                <a:latin typeface="Carlito"/>
                <a:cs typeface="Carlito"/>
              </a:rPr>
              <a:t>to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open.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Then, double-click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icon.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0592" y="187197"/>
            <a:ext cx="2722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70" dirty="0"/>
              <a:t> </a:t>
            </a:r>
            <a:r>
              <a:rPr spc="-50" dirty="0"/>
              <a:t>Taskbar</a:t>
            </a:r>
          </a:p>
        </p:txBody>
      </p:sp>
      <p:sp>
        <p:nvSpPr>
          <p:cNvPr id="3" name="object 3"/>
          <p:cNvSpPr/>
          <p:nvPr/>
        </p:nvSpPr>
        <p:spPr>
          <a:xfrm>
            <a:off x="5652515" y="5661659"/>
            <a:ext cx="3200399" cy="11963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6039" y="1015745"/>
            <a:ext cx="8747125" cy="554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6383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taskbar </a:t>
            </a:r>
            <a:r>
              <a:rPr sz="3200" dirty="0">
                <a:latin typeface="Carlito"/>
                <a:cs typeface="Carlito"/>
              </a:rPr>
              <a:t>is the </a:t>
            </a:r>
            <a:r>
              <a:rPr sz="3200" spc="-5" dirty="0">
                <a:latin typeface="Carlito"/>
                <a:cs typeface="Carlito"/>
              </a:rPr>
              <a:t>small blue bar </a:t>
            </a:r>
            <a:r>
              <a:rPr sz="3200" spc="-10" dirty="0">
                <a:latin typeface="Carlito"/>
                <a:cs typeface="Carlito"/>
              </a:rPr>
              <a:t>that appears </a:t>
            </a:r>
            <a:r>
              <a:rPr sz="3200" spc="-15" dirty="0">
                <a:latin typeface="Carlito"/>
                <a:cs typeface="Carlito"/>
              </a:rPr>
              <a:t>you  </a:t>
            </a:r>
            <a:r>
              <a:rPr sz="3200" spc="-5" dirty="0">
                <a:latin typeface="Carlito"/>
                <a:cs typeface="Carlito"/>
              </a:rPr>
              <a:t>see </a:t>
            </a:r>
            <a:r>
              <a:rPr sz="3200" spc="-15" dirty="0">
                <a:latin typeface="Carlito"/>
                <a:cs typeface="Carlito"/>
              </a:rPr>
              <a:t>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20" dirty="0">
                <a:latin typeface="Carlito"/>
                <a:cs typeface="Carlito"/>
              </a:rPr>
              <a:t>bottom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your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desktop.</a:t>
            </a:r>
            <a:endParaRPr sz="3200">
              <a:latin typeface="Carlito"/>
              <a:cs typeface="Carlito"/>
            </a:endParaRPr>
          </a:p>
          <a:p>
            <a:pPr marL="368300" marR="41783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3200" dirty="0">
                <a:latin typeface="Carlito"/>
                <a:cs typeface="Carlito"/>
              </a:rPr>
              <a:t>It </a:t>
            </a:r>
            <a:r>
              <a:rPr sz="3200" spc="-15" dirty="0">
                <a:latin typeface="Carlito"/>
                <a:cs typeface="Carlito"/>
              </a:rPr>
              <a:t>contains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Start </a:t>
            </a:r>
            <a:r>
              <a:rPr sz="3200" dirty="0">
                <a:latin typeface="Carlito"/>
                <a:cs typeface="Carlito"/>
              </a:rPr>
              <a:t>menu and the Quick </a:t>
            </a:r>
            <a:r>
              <a:rPr sz="3200" spc="-5" dirty="0">
                <a:latin typeface="Carlito"/>
                <a:cs typeface="Carlito"/>
              </a:rPr>
              <a:t>Launch  </a:t>
            </a:r>
            <a:r>
              <a:rPr sz="3200" spc="-75" dirty="0">
                <a:latin typeface="Carlito"/>
                <a:cs typeface="Carlito"/>
              </a:rPr>
              <a:t>bar, </a:t>
            </a:r>
            <a:r>
              <a:rPr sz="3200" dirty="0">
                <a:latin typeface="Carlito"/>
                <a:cs typeface="Carlito"/>
              </a:rPr>
              <a:t>which </a:t>
            </a:r>
            <a:r>
              <a:rPr sz="3200" spc="-15" dirty="0">
                <a:latin typeface="Carlito"/>
                <a:cs typeface="Carlito"/>
              </a:rPr>
              <a:t>contains </a:t>
            </a:r>
            <a:r>
              <a:rPr sz="3200" spc="-5" dirty="0">
                <a:latin typeface="Carlito"/>
                <a:cs typeface="Carlito"/>
              </a:rPr>
              <a:t>icons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15" dirty="0">
                <a:latin typeface="Carlito"/>
                <a:cs typeface="Carlito"/>
              </a:rPr>
              <a:t>Internet </a:t>
            </a:r>
            <a:r>
              <a:rPr sz="3200" spc="-40" dirty="0">
                <a:latin typeface="Carlito"/>
                <a:cs typeface="Carlito"/>
              </a:rPr>
              <a:t>Explorer,  </a:t>
            </a: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dirty="0">
                <a:latin typeface="Carlito"/>
                <a:cs typeface="Carlito"/>
              </a:rPr>
              <a:t>Media </a:t>
            </a:r>
            <a:r>
              <a:rPr sz="3200" spc="-55" dirty="0">
                <a:latin typeface="Carlito"/>
                <a:cs typeface="Carlito"/>
              </a:rPr>
              <a:t>Player,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Windows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Explorer</a:t>
            </a:r>
            <a:endParaRPr sz="3200">
              <a:latin typeface="Carlito"/>
              <a:cs typeface="Carlito"/>
            </a:endParaRPr>
          </a:p>
          <a:p>
            <a:pPr marL="3683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3200" spc="-5" dirty="0">
                <a:latin typeface="Carlito"/>
                <a:cs typeface="Carlito"/>
              </a:rPr>
              <a:t>Show </a:t>
            </a:r>
            <a:r>
              <a:rPr sz="3200" spc="-15" dirty="0">
                <a:latin typeface="Carlito"/>
                <a:cs typeface="Carlito"/>
              </a:rPr>
              <a:t>Desktop appears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25" dirty="0">
                <a:latin typeface="Carlito"/>
                <a:cs typeface="Carlito"/>
              </a:rPr>
              <a:t>far </a:t>
            </a:r>
            <a:r>
              <a:rPr sz="3200" spc="-10" dirty="0">
                <a:latin typeface="Carlito"/>
                <a:cs typeface="Carlito"/>
              </a:rPr>
              <a:t>right </a:t>
            </a:r>
            <a:r>
              <a:rPr sz="3200" spc="-5" dirty="0">
                <a:latin typeface="Carlito"/>
                <a:cs typeface="Carlito"/>
              </a:rPr>
              <a:t>hand</a:t>
            </a:r>
            <a:r>
              <a:rPr sz="3200" spc="17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corner</a:t>
            </a:r>
            <a:endParaRPr sz="3200">
              <a:latin typeface="Carlito"/>
              <a:cs typeface="Carlito"/>
            </a:endParaRPr>
          </a:p>
          <a:p>
            <a:pPr marL="3683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3200" spc="-5" dirty="0">
                <a:latin typeface="Carlito"/>
                <a:cs typeface="Carlito"/>
              </a:rPr>
              <a:t>Click </a:t>
            </a:r>
            <a:r>
              <a:rPr sz="3200" dirty="0">
                <a:latin typeface="Carlito"/>
                <a:cs typeface="Carlito"/>
              </a:rPr>
              <a:t>an </a:t>
            </a:r>
            <a:r>
              <a:rPr sz="3200" spc="-10" dirty="0">
                <a:latin typeface="Carlito"/>
                <a:cs typeface="Carlito"/>
              </a:rPr>
              <a:t>icon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open a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program.</a:t>
            </a:r>
            <a:endParaRPr sz="3200">
              <a:latin typeface="Carlito"/>
              <a:cs typeface="Carlito"/>
            </a:endParaRPr>
          </a:p>
          <a:p>
            <a:pPr marL="368300" marR="37528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3200" spc="-5" dirty="0">
                <a:latin typeface="Carlito"/>
                <a:cs typeface="Carlito"/>
              </a:rPr>
              <a:t>Click Show </a:t>
            </a:r>
            <a:r>
              <a:rPr sz="3200" spc="-15" dirty="0">
                <a:latin typeface="Carlito"/>
                <a:cs typeface="Carlito"/>
              </a:rPr>
              <a:t>Desktop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quickly view </a:t>
            </a:r>
            <a:r>
              <a:rPr sz="3200" spc="-10" dirty="0">
                <a:latin typeface="Carlito"/>
                <a:cs typeface="Carlito"/>
              </a:rPr>
              <a:t>your </a:t>
            </a:r>
            <a:r>
              <a:rPr sz="3200" spc="-15" dirty="0">
                <a:latin typeface="Carlito"/>
                <a:cs typeface="Carlito"/>
              </a:rPr>
              <a:t>desktop  </a:t>
            </a:r>
            <a:r>
              <a:rPr sz="3200" spc="-5" dirty="0">
                <a:latin typeface="Carlito"/>
                <a:cs typeface="Carlito"/>
              </a:rPr>
              <a:t>without closing </a:t>
            </a:r>
            <a:r>
              <a:rPr sz="3200" spc="-20" dirty="0">
                <a:latin typeface="Carlito"/>
                <a:cs typeface="Carlito"/>
              </a:rPr>
              <a:t>any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spc="-5" dirty="0">
                <a:latin typeface="Carlito"/>
                <a:cs typeface="Carlito"/>
              </a:rPr>
              <a:t>or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windows.</a:t>
            </a:r>
            <a:endParaRPr sz="3200">
              <a:latin typeface="Carlito"/>
              <a:cs typeface="Carlito"/>
            </a:endParaRPr>
          </a:p>
          <a:p>
            <a:pPr marL="1861185">
              <a:lnSpc>
                <a:spcPts val="1939"/>
              </a:lnSpc>
              <a:spcBef>
                <a:spcPts val="1925"/>
              </a:spcBef>
            </a:pP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The Start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button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and Quick</a:t>
            </a:r>
            <a:r>
              <a:rPr sz="1800" b="1" spc="-35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Lunch</a:t>
            </a:r>
            <a:endParaRPr sz="1800">
              <a:latin typeface="Carlito"/>
              <a:cs typeface="Carlito"/>
            </a:endParaRPr>
          </a:p>
          <a:p>
            <a:pPr marL="1861185">
              <a:lnSpc>
                <a:spcPts val="1939"/>
              </a:lnSpc>
            </a:pPr>
            <a:r>
              <a:rPr sz="2700" b="1" spc="-7" baseline="-13888" dirty="0">
                <a:solidFill>
                  <a:srgbClr val="0D090F"/>
                </a:solidFill>
                <a:latin typeface="Carlito"/>
                <a:cs typeface="Carlito"/>
              </a:rPr>
              <a:t>toolbar </a:t>
            </a:r>
            <a:r>
              <a:rPr sz="2700" b="1" baseline="-13888" dirty="0">
                <a:solidFill>
                  <a:srgbClr val="0D090F"/>
                </a:solidFill>
                <a:latin typeface="Carlito"/>
                <a:cs typeface="Carlito"/>
              </a:rPr>
              <a:t>on </a:t>
            </a:r>
            <a:r>
              <a:rPr sz="2700" b="1" spc="-292" baseline="-13888" dirty="0">
                <a:solidFill>
                  <a:srgbClr val="0D090F"/>
                </a:solidFill>
                <a:latin typeface="Carlito"/>
                <a:cs typeface="Carlito"/>
              </a:rPr>
              <a:t>task</a:t>
            </a:r>
            <a:r>
              <a:rPr sz="1200" spc="-195" dirty="0">
                <a:solidFill>
                  <a:srgbClr val="888888"/>
                </a:solidFill>
                <a:latin typeface="Carlito"/>
                <a:cs typeface="Carlito"/>
              </a:rPr>
              <a:t>D</a:t>
            </a:r>
            <a:r>
              <a:rPr sz="2700" b="1" spc="-292" baseline="-13888" dirty="0">
                <a:solidFill>
                  <a:srgbClr val="0D090F"/>
                </a:solidFill>
                <a:latin typeface="Carlito"/>
                <a:cs typeface="Carlito"/>
              </a:rPr>
              <a:t>b</a:t>
            </a:r>
            <a:r>
              <a:rPr sz="1200" spc="-195" dirty="0">
                <a:solidFill>
                  <a:srgbClr val="888888"/>
                </a:solidFill>
                <a:latin typeface="Carlito"/>
                <a:cs typeface="Carlito"/>
              </a:rPr>
              <a:t>ep</a:t>
            </a:r>
            <a:r>
              <a:rPr sz="2700" b="1" spc="-292" baseline="-13888" dirty="0">
                <a:solidFill>
                  <a:srgbClr val="0D090F"/>
                </a:solidFill>
                <a:latin typeface="Carlito"/>
                <a:cs typeface="Carlito"/>
              </a:rPr>
              <a:t>a</a:t>
            </a:r>
            <a:r>
              <a:rPr sz="1200" spc="-195" dirty="0">
                <a:solidFill>
                  <a:srgbClr val="888888"/>
                </a:solidFill>
                <a:latin typeface="Carlito"/>
                <a:cs typeface="Carlito"/>
              </a:rPr>
              <a:t>ar</a:t>
            </a:r>
            <a:r>
              <a:rPr sz="2700" b="1" spc="-292" baseline="-13888" dirty="0">
                <a:solidFill>
                  <a:srgbClr val="0D090F"/>
                </a:solidFill>
                <a:latin typeface="Carlito"/>
                <a:cs typeface="Carlito"/>
              </a:rPr>
              <a:t>r</a:t>
            </a:r>
            <a:r>
              <a:rPr sz="1200" spc="-195" dirty="0">
                <a:solidFill>
                  <a:srgbClr val="888888"/>
                </a:solidFill>
                <a:latin typeface="Carlito"/>
                <a:cs typeface="Carlito"/>
              </a:rPr>
              <a:t>tment 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of Computer Science,</a:t>
            </a:r>
            <a:r>
              <a:rPr sz="1200" spc="-5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KNUST-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6541" y="6556959"/>
            <a:ext cx="4718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K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umasi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329" y="4699"/>
            <a:ext cx="2722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45" dirty="0"/>
              <a:t> </a:t>
            </a:r>
            <a:r>
              <a:rPr spc="-55" dirty="0"/>
              <a:t>Taskbar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988313"/>
            <a:ext cx="458533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20" dirty="0">
                <a:latin typeface="Carlito"/>
                <a:cs typeface="Carlito"/>
              </a:rPr>
              <a:t>box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right </a:t>
            </a:r>
            <a:r>
              <a:rPr sz="3200" dirty="0">
                <a:latin typeface="Carlito"/>
                <a:cs typeface="Carlito"/>
              </a:rPr>
              <a:t>is  </a:t>
            </a:r>
            <a:r>
              <a:rPr sz="3200" spc="-5" dirty="0">
                <a:latin typeface="Carlito"/>
                <a:cs typeface="Carlito"/>
              </a:rPr>
              <a:t>called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Notification  Area. </a:t>
            </a: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spc="-10" dirty="0">
                <a:latin typeface="Carlito"/>
                <a:cs typeface="Carlito"/>
              </a:rPr>
              <a:t>area shows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the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04" y="2451607"/>
            <a:ext cx="458978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rlito"/>
                <a:cs typeface="Carlito"/>
              </a:rPr>
              <a:t>clock and </a:t>
            </a:r>
            <a:r>
              <a:rPr sz="3200" spc="-20" dirty="0">
                <a:latin typeface="Carlito"/>
                <a:cs typeface="Carlito"/>
              </a:rPr>
              <a:t>several </a:t>
            </a:r>
            <a:r>
              <a:rPr sz="3200" spc="-5" dirty="0">
                <a:latin typeface="Carlito"/>
                <a:cs typeface="Carlito"/>
              </a:rPr>
              <a:t>other  </a:t>
            </a:r>
            <a:r>
              <a:rPr sz="3200" spc="-10" dirty="0">
                <a:latin typeface="Carlito"/>
                <a:cs typeface="Carlito"/>
              </a:rPr>
              <a:t>icons </a:t>
            </a:r>
            <a:r>
              <a:rPr sz="3200" spc="-5" dirty="0">
                <a:latin typeface="Carlito"/>
                <a:cs typeface="Carlito"/>
              </a:rPr>
              <a:t>depending </a:t>
            </a:r>
            <a:r>
              <a:rPr sz="3200" dirty="0">
                <a:latin typeface="Carlito"/>
                <a:cs typeface="Carlito"/>
              </a:rPr>
              <a:t>on </a:t>
            </a:r>
            <a:r>
              <a:rPr sz="3200" spc="-5" dirty="0">
                <a:latin typeface="Carlito"/>
                <a:cs typeface="Carlito"/>
              </a:rPr>
              <a:t>what  one has </a:t>
            </a:r>
            <a:r>
              <a:rPr sz="3200" spc="-10" dirty="0">
                <a:latin typeface="Carlito"/>
                <a:cs typeface="Carlito"/>
              </a:rPr>
              <a:t>installed </a:t>
            </a:r>
            <a:r>
              <a:rPr sz="3200" spc="-5" dirty="0">
                <a:latin typeface="Carlito"/>
                <a:cs typeface="Carlito"/>
              </a:rPr>
              <a:t>on his/her  </a:t>
            </a:r>
            <a:r>
              <a:rPr sz="3200" spc="-50" dirty="0">
                <a:latin typeface="Carlito"/>
                <a:cs typeface="Carlito"/>
              </a:rPr>
              <a:t>computer.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52515" y="1772411"/>
            <a:ext cx="3250691" cy="60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03772" y="2655570"/>
            <a:ext cx="2719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Notification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Area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on</a:t>
            </a:r>
            <a:r>
              <a:rPr sz="1800" b="1" spc="-85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spc="-20" dirty="0">
                <a:solidFill>
                  <a:srgbClr val="0D090F"/>
                </a:solidFill>
                <a:latin typeface="Carlito"/>
                <a:cs typeface="Carlito"/>
              </a:rPr>
              <a:t>Taskbar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6541" y="6556959"/>
            <a:ext cx="4718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K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umasi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903" y="4819269"/>
            <a:ext cx="784987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For example, if you have installed yahoo messenger 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and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an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anti virus </a:t>
            </a:r>
            <a:r>
              <a:rPr sz="2800" b="1" spc="-15" dirty="0">
                <a:solidFill>
                  <a:srgbClr val="0D090F"/>
                </a:solidFill>
                <a:latin typeface="Times New Roman"/>
                <a:cs typeface="Times New Roman"/>
              </a:rPr>
              <a:t>software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on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your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computer then  icons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for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these </a:t>
            </a:r>
            <a:r>
              <a:rPr sz="2800" b="1" spc="-10" dirty="0">
                <a:solidFill>
                  <a:srgbClr val="0D090F"/>
                </a:solidFill>
                <a:latin typeface="Times New Roman"/>
                <a:cs typeface="Times New Roman"/>
              </a:rPr>
              <a:t>will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also appear in the Notification  A</a:t>
            </a:r>
            <a:r>
              <a:rPr sz="2800" b="1" spc="-65" dirty="0">
                <a:solidFill>
                  <a:srgbClr val="0D090F"/>
                </a:solidFill>
                <a:latin typeface="Times New Roman"/>
                <a:cs typeface="Times New Roman"/>
              </a:rPr>
              <a:t>r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ea</a:t>
            </a:r>
            <a:r>
              <a:rPr sz="2800" b="1" spc="5" dirty="0">
                <a:solidFill>
                  <a:srgbClr val="0D090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det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a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ili</a:t>
            </a:r>
            <a:r>
              <a:rPr sz="2800" b="1" spc="5" dirty="0">
                <a:solidFill>
                  <a:srgbClr val="0D090F"/>
                </a:solidFill>
                <a:latin typeface="Times New Roman"/>
                <a:cs typeface="Times New Roman"/>
              </a:rPr>
              <a:t>n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g</a:t>
            </a:r>
            <a:r>
              <a:rPr sz="2800" b="1" spc="-10" dirty="0">
                <a:solidFill>
                  <a:srgbClr val="0D090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h</a:t>
            </a:r>
            <a:r>
              <a:rPr sz="2800" b="1" spc="-85" dirty="0">
                <a:solidFill>
                  <a:srgbClr val="0D090F"/>
                </a:solidFill>
                <a:latin typeface="Times New Roman"/>
                <a:cs typeface="Times New Roman"/>
              </a:rPr>
              <a:t>e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D</a:t>
            </a:r>
            <a:r>
              <a:rPr sz="1800" spc="-847" baseline="-11574" dirty="0">
                <a:solidFill>
                  <a:srgbClr val="888888"/>
                </a:solidFill>
                <a:latin typeface="Carlito"/>
                <a:cs typeface="Carlito"/>
              </a:rPr>
              <a:t>e</a:t>
            </a:r>
            <a:r>
              <a:rPr sz="2800" b="1" spc="-530" dirty="0">
                <a:solidFill>
                  <a:srgbClr val="0D090F"/>
                </a:solidFill>
                <a:latin typeface="Times New Roman"/>
                <a:cs typeface="Times New Roman"/>
              </a:rPr>
              <a:t>s</a:t>
            </a:r>
            <a:r>
              <a:rPr sz="1800" spc="-165" baseline="-11574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2800" b="1" spc="-825" dirty="0">
                <a:solidFill>
                  <a:srgbClr val="0D090F"/>
                </a:solidFill>
                <a:latin typeface="Times New Roman"/>
                <a:cs typeface="Times New Roman"/>
              </a:rPr>
              <a:t>t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a</a:t>
            </a:r>
            <a:r>
              <a:rPr sz="1800" spc="-247" baseline="-11574" dirty="0">
                <a:solidFill>
                  <a:srgbClr val="888888"/>
                </a:solidFill>
                <a:latin typeface="Carlito"/>
                <a:cs typeface="Carlito"/>
              </a:rPr>
              <a:t>r</a:t>
            </a:r>
            <a:r>
              <a:rPr sz="2800" b="1" spc="-1240" dirty="0">
                <a:solidFill>
                  <a:srgbClr val="0D090F"/>
                </a:solidFill>
                <a:latin typeface="Times New Roman"/>
                <a:cs typeface="Times New Roman"/>
              </a:rPr>
              <a:t>a</a:t>
            </a:r>
            <a:r>
              <a:rPr sz="1800" spc="7" baseline="-11574" dirty="0">
                <a:solidFill>
                  <a:srgbClr val="888888"/>
                </a:solidFill>
                <a:latin typeface="Carlito"/>
                <a:cs typeface="Carlito"/>
              </a:rPr>
              <a:t>t</a:t>
            </a:r>
            <a:r>
              <a:rPr sz="1800" spc="-202" baseline="-11574" dirty="0">
                <a:solidFill>
                  <a:srgbClr val="888888"/>
                </a:solidFill>
                <a:latin typeface="Carlito"/>
                <a:cs typeface="Carlito"/>
              </a:rPr>
              <a:t>m</a:t>
            </a:r>
            <a:r>
              <a:rPr sz="2800" b="1" spc="-805" dirty="0">
                <a:solidFill>
                  <a:srgbClr val="0D090F"/>
                </a:solidFill>
                <a:latin typeface="Times New Roman"/>
                <a:cs typeface="Times New Roman"/>
              </a:rPr>
              <a:t>t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e</a:t>
            </a:r>
            <a:r>
              <a:rPr sz="1800" spc="-637" baseline="-11574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2800" b="1" spc="-1140" dirty="0">
                <a:solidFill>
                  <a:srgbClr val="0D090F"/>
                </a:solidFill>
                <a:latin typeface="Times New Roman"/>
                <a:cs typeface="Times New Roman"/>
              </a:rPr>
              <a:t>u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t</a:t>
            </a:r>
            <a:r>
              <a:rPr sz="1800" spc="-60" baseline="-11574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800" spc="-209" baseline="-11574" dirty="0">
                <a:solidFill>
                  <a:srgbClr val="888888"/>
                </a:solidFill>
                <a:latin typeface="Carlito"/>
                <a:cs typeface="Carlito"/>
              </a:rPr>
              <a:t>o</a:t>
            </a:r>
            <a:r>
              <a:rPr sz="2800" b="1" spc="-960" dirty="0">
                <a:solidFill>
                  <a:srgbClr val="0D090F"/>
                </a:solidFill>
                <a:latin typeface="Times New Roman"/>
                <a:cs typeface="Times New Roman"/>
              </a:rPr>
              <a:t>s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f </a:t>
            </a:r>
            <a:r>
              <a:rPr sz="1800" spc="-7" baseline="-11574" dirty="0">
                <a:solidFill>
                  <a:srgbClr val="888888"/>
                </a:solidFill>
                <a:latin typeface="Carlito"/>
                <a:cs typeface="Carlito"/>
              </a:rPr>
              <a:t>C</a:t>
            </a:r>
            <a:r>
              <a:rPr sz="1800" spc="-397" baseline="-11574" dirty="0">
                <a:solidFill>
                  <a:srgbClr val="888888"/>
                </a:solidFill>
                <a:latin typeface="Carlito"/>
                <a:cs typeface="Carlito"/>
              </a:rPr>
              <a:t>o</a:t>
            </a:r>
            <a:r>
              <a:rPr sz="2800" b="1" spc="-1140" dirty="0">
                <a:solidFill>
                  <a:srgbClr val="0D090F"/>
                </a:solidFill>
                <a:latin typeface="Times New Roman"/>
                <a:cs typeface="Times New Roman"/>
              </a:rPr>
              <a:t>o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m</a:t>
            </a:r>
            <a:r>
              <a:rPr sz="1800" spc="-690" baseline="-11574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2800" b="1" spc="-475" dirty="0">
                <a:solidFill>
                  <a:srgbClr val="0D090F"/>
                </a:solidFill>
                <a:latin typeface="Times New Roman"/>
                <a:cs typeface="Times New Roman"/>
              </a:rPr>
              <a:t>f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u</a:t>
            </a:r>
            <a:r>
              <a:rPr sz="1800" spc="-15" baseline="-11574" dirty="0">
                <a:solidFill>
                  <a:srgbClr val="888888"/>
                </a:solidFill>
                <a:latin typeface="Carlito"/>
                <a:cs typeface="Carlito"/>
              </a:rPr>
              <a:t>t</a:t>
            </a:r>
            <a:r>
              <a:rPr sz="1800" spc="-675" baseline="-11574" dirty="0">
                <a:solidFill>
                  <a:srgbClr val="888888"/>
                </a:solidFill>
                <a:latin typeface="Carlito"/>
                <a:cs typeface="Carlito"/>
              </a:rPr>
              <a:t>e</a:t>
            </a:r>
            <a:r>
              <a:rPr sz="2800" b="1" spc="-490" dirty="0">
                <a:solidFill>
                  <a:srgbClr val="0D090F"/>
                </a:solidFill>
                <a:latin typeface="Times New Roman"/>
                <a:cs typeface="Times New Roman"/>
              </a:rPr>
              <a:t>t</a:t>
            </a:r>
            <a:r>
              <a:rPr sz="1800" spc="97" baseline="-11574" dirty="0">
                <a:solidFill>
                  <a:srgbClr val="888888"/>
                </a:solidFill>
                <a:latin typeface="Carlito"/>
                <a:cs typeface="Carlito"/>
              </a:rPr>
              <a:t>r</a:t>
            </a:r>
            <a:r>
              <a:rPr sz="2800" b="1" spc="-1385" dirty="0">
                <a:solidFill>
                  <a:srgbClr val="0D090F"/>
                </a:solidFill>
                <a:latin typeface="Times New Roman"/>
                <a:cs typeface="Times New Roman"/>
              </a:rPr>
              <a:t>h</a:t>
            </a:r>
            <a:r>
              <a:rPr sz="1800" spc="-7" baseline="-11574" dirty="0">
                <a:solidFill>
                  <a:srgbClr val="888888"/>
                </a:solidFill>
                <a:latin typeface="Carlito"/>
                <a:cs typeface="Carlito"/>
              </a:rPr>
              <a:t>Sci</a:t>
            </a:r>
            <a:r>
              <a:rPr sz="1800" spc="-817" baseline="-11574" dirty="0">
                <a:solidFill>
                  <a:srgbClr val="888888"/>
                </a:solidFill>
                <a:latin typeface="Carlito"/>
                <a:cs typeface="Carlito"/>
              </a:rPr>
              <a:t>e</a:t>
            </a:r>
            <a:r>
              <a:rPr sz="2800" b="1" spc="-705" dirty="0">
                <a:solidFill>
                  <a:srgbClr val="0D090F"/>
                </a:solidFill>
                <a:latin typeface="Times New Roman"/>
                <a:cs typeface="Times New Roman"/>
              </a:rPr>
              <a:t>e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1800" spc="-667" baseline="-11574" dirty="0">
                <a:solidFill>
                  <a:srgbClr val="888888"/>
                </a:solidFill>
                <a:latin typeface="Carlito"/>
                <a:cs typeface="Carlito"/>
              </a:rPr>
              <a:t>c</a:t>
            </a:r>
            <a:r>
              <a:rPr sz="2800" b="1" spc="-655" dirty="0">
                <a:solidFill>
                  <a:srgbClr val="0D090F"/>
                </a:solidFill>
                <a:latin typeface="Times New Roman"/>
                <a:cs typeface="Times New Roman"/>
              </a:rPr>
              <a:t>s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e</a:t>
            </a:r>
            <a:r>
              <a:rPr sz="1800" spc="-375" baseline="-11574" dirty="0">
                <a:solidFill>
                  <a:srgbClr val="888888"/>
                </a:solidFill>
                <a:latin typeface="Carlito"/>
                <a:cs typeface="Carlito"/>
              </a:rPr>
              <a:t>,</a:t>
            </a:r>
            <a:r>
              <a:rPr sz="2800" b="1" spc="-720" dirty="0">
                <a:solidFill>
                  <a:srgbClr val="0D090F"/>
                </a:solidFill>
                <a:latin typeface="Times New Roman"/>
                <a:cs typeface="Times New Roman"/>
              </a:rPr>
              <a:t>e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KN</a:t>
            </a:r>
            <a:r>
              <a:rPr sz="1800" spc="-1155" baseline="-11574" dirty="0">
                <a:solidFill>
                  <a:srgbClr val="888888"/>
                </a:solidFill>
                <a:latin typeface="Carlito"/>
                <a:cs typeface="Carlito"/>
              </a:rPr>
              <a:t>U</a:t>
            </a:r>
            <a:r>
              <a:rPr sz="2800" b="1" spc="-325" dirty="0">
                <a:solidFill>
                  <a:srgbClr val="0D090F"/>
                </a:solidFill>
                <a:latin typeface="Times New Roman"/>
                <a:cs typeface="Times New Roman"/>
              </a:rPr>
              <a:t>s</a:t>
            </a:r>
            <a:r>
              <a:rPr sz="1800" spc="-352" baseline="-11574" dirty="0">
                <a:solidFill>
                  <a:srgbClr val="888888"/>
                </a:solidFill>
                <a:latin typeface="Carlito"/>
                <a:cs typeface="Carlito"/>
              </a:rPr>
              <a:t>S</a:t>
            </a:r>
            <a:r>
              <a:rPr sz="2800" b="1" spc="-1185" dirty="0">
                <a:solidFill>
                  <a:srgbClr val="0D090F"/>
                </a:solidFill>
                <a:latin typeface="Times New Roman"/>
                <a:cs typeface="Times New Roman"/>
              </a:rPr>
              <a:t>o</a:t>
            </a:r>
            <a:r>
              <a:rPr sz="1800" spc="22" baseline="-11574" dirty="0">
                <a:solidFill>
                  <a:srgbClr val="888888"/>
                </a:solidFill>
                <a:latin typeface="Carlito"/>
                <a:cs typeface="Carlito"/>
              </a:rPr>
              <a:t>T</a:t>
            </a:r>
            <a:r>
              <a:rPr sz="1800" baseline="-11574" dirty="0">
                <a:solidFill>
                  <a:srgbClr val="888888"/>
                </a:solidFill>
                <a:latin typeface="Carlito"/>
                <a:cs typeface="Carlito"/>
              </a:rPr>
              <a:t>-</a:t>
            </a:r>
            <a:r>
              <a:rPr sz="1800" spc="-89" baseline="-11574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f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t</a:t>
            </a:r>
            <a:r>
              <a:rPr sz="2800" b="1" spc="-35" dirty="0">
                <a:solidFill>
                  <a:srgbClr val="0D090F"/>
                </a:solidFill>
                <a:latin typeface="Times New Roman"/>
                <a:cs typeface="Times New Roman"/>
              </a:rPr>
              <a:t>w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a</a:t>
            </a:r>
            <a:r>
              <a:rPr sz="2800" b="1" spc="-55" dirty="0">
                <a:solidFill>
                  <a:srgbClr val="0D090F"/>
                </a:solidFill>
                <a:latin typeface="Times New Roman"/>
                <a:cs typeface="Times New Roman"/>
              </a:rPr>
              <a:t>r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329" y="40639"/>
            <a:ext cx="2722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45" dirty="0"/>
              <a:t> </a:t>
            </a:r>
            <a:r>
              <a:rPr spc="-55" dirty="0"/>
              <a:t>Taskbar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83005"/>
            <a:ext cx="8261350" cy="519747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323215" indent="-342900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solidFill>
                  <a:srgbClr val="0D090F"/>
                </a:solidFill>
                <a:latin typeface="Carlito"/>
                <a:cs typeface="Carlito"/>
              </a:rPr>
              <a:t>Also,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when </a:t>
            </a:r>
            <a:r>
              <a:rPr sz="3200" spc="-15" dirty="0">
                <a:solidFill>
                  <a:srgbClr val="0D090F"/>
                </a:solidFill>
                <a:latin typeface="Carlito"/>
                <a:cs typeface="Carlito"/>
              </a:rPr>
              <a:t>you are </a:t>
            </a:r>
            <a:r>
              <a:rPr sz="3200" spc="-5" dirty="0">
                <a:solidFill>
                  <a:srgbClr val="0D090F"/>
                </a:solidFill>
                <a:latin typeface="Carlito"/>
                <a:cs typeface="Carlito"/>
              </a:rPr>
              <a:t>printing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a </a:t>
            </a:r>
            <a:r>
              <a:rPr sz="3200" spc="-5" dirty="0">
                <a:solidFill>
                  <a:srgbClr val="0D090F"/>
                </a:solidFill>
                <a:latin typeface="Carlito"/>
                <a:cs typeface="Carlito"/>
              </a:rPr>
              <a:t>document,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the  </a:t>
            </a:r>
            <a:r>
              <a:rPr sz="3200" spc="-15" dirty="0">
                <a:solidFill>
                  <a:srgbClr val="0D090F"/>
                </a:solidFill>
                <a:latin typeface="Carlito"/>
                <a:cs typeface="Carlito"/>
              </a:rPr>
              <a:t>printer </a:t>
            </a:r>
            <a:r>
              <a:rPr sz="3200" spc="-10" dirty="0">
                <a:solidFill>
                  <a:srgbClr val="0D090F"/>
                </a:solidFill>
                <a:latin typeface="Carlito"/>
                <a:cs typeface="Carlito"/>
              </a:rPr>
              <a:t>icon appears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and </a:t>
            </a:r>
            <a:r>
              <a:rPr sz="3200" spc="-10" dirty="0">
                <a:solidFill>
                  <a:srgbClr val="0D090F"/>
                </a:solidFill>
                <a:latin typeface="Carlito"/>
                <a:cs typeface="Carlito"/>
              </a:rPr>
              <a:t>disappears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when the  </a:t>
            </a:r>
            <a:r>
              <a:rPr sz="3200" spc="-15" dirty="0">
                <a:solidFill>
                  <a:srgbClr val="0D090F"/>
                </a:solidFill>
                <a:latin typeface="Carlito"/>
                <a:cs typeface="Carlito"/>
              </a:rPr>
              <a:t>printer </a:t>
            </a:r>
            <a:r>
              <a:rPr sz="3200" spc="-5" dirty="0">
                <a:solidFill>
                  <a:srgbClr val="0D090F"/>
                </a:solidFill>
                <a:latin typeface="Carlito"/>
                <a:cs typeface="Carlito"/>
              </a:rPr>
              <a:t>finishes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with the</a:t>
            </a:r>
            <a:r>
              <a:rPr sz="3200" spc="5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3200" spc="-5" dirty="0">
                <a:solidFill>
                  <a:srgbClr val="0D090F"/>
                </a:solidFill>
                <a:latin typeface="Carlito"/>
                <a:cs typeface="Carlito"/>
              </a:rPr>
              <a:t>printing.</a:t>
            </a:r>
            <a:endParaRPr sz="3200">
              <a:latin typeface="Carlito"/>
              <a:cs typeface="Carlito"/>
            </a:endParaRPr>
          </a:p>
          <a:p>
            <a:pPr marL="355600" marR="344170" indent="-342900" algn="just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10" dirty="0">
                <a:solidFill>
                  <a:srgbClr val="0D090F"/>
                </a:solidFill>
                <a:latin typeface="Carlito"/>
                <a:cs typeface="Carlito"/>
              </a:rPr>
              <a:t>Microsoft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and </a:t>
            </a:r>
            <a:r>
              <a:rPr sz="3200" spc="-5" dirty="0">
                <a:solidFill>
                  <a:srgbClr val="0D090F"/>
                </a:solidFill>
                <a:latin typeface="Carlito"/>
                <a:cs typeface="Carlito"/>
              </a:rPr>
              <a:t>other </a:t>
            </a:r>
            <a:r>
              <a:rPr sz="3200" spc="-10" dirty="0">
                <a:solidFill>
                  <a:srgbClr val="0D090F"/>
                </a:solidFill>
                <a:latin typeface="Carlito"/>
                <a:cs typeface="Carlito"/>
              </a:rPr>
              <a:t>software developers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also  </a:t>
            </a:r>
            <a:r>
              <a:rPr sz="3200" spc="-5" dirty="0">
                <a:solidFill>
                  <a:srgbClr val="0D090F"/>
                </a:solidFill>
                <a:latin typeface="Carlito"/>
                <a:cs typeface="Carlito"/>
              </a:rPr>
              <a:t>use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the </a:t>
            </a:r>
            <a:r>
              <a:rPr sz="3200" spc="-5" dirty="0">
                <a:solidFill>
                  <a:srgbClr val="0D090F"/>
                </a:solidFill>
                <a:latin typeface="Carlito"/>
                <a:cs typeface="Carlito"/>
              </a:rPr>
              <a:t>Notification </a:t>
            </a:r>
            <a:r>
              <a:rPr sz="3200" spc="-10" dirty="0">
                <a:solidFill>
                  <a:srgbClr val="0D090F"/>
                </a:solidFill>
                <a:latin typeface="Carlito"/>
                <a:cs typeface="Carlito"/>
              </a:rPr>
              <a:t>Area </a:t>
            </a:r>
            <a:r>
              <a:rPr sz="3200" spc="-20" dirty="0">
                <a:solidFill>
                  <a:srgbClr val="0D090F"/>
                </a:solidFill>
                <a:latin typeface="Carlito"/>
                <a:cs typeface="Carlito"/>
              </a:rPr>
              <a:t>to </a:t>
            </a:r>
            <a:r>
              <a:rPr sz="3200" spc="-5" dirty="0">
                <a:solidFill>
                  <a:srgbClr val="0D090F"/>
                </a:solidFill>
                <a:latin typeface="Carlito"/>
                <a:cs typeface="Carlito"/>
              </a:rPr>
              <a:t>remind </a:t>
            </a:r>
            <a:r>
              <a:rPr sz="3200" spc="-10" dirty="0">
                <a:solidFill>
                  <a:srgbClr val="0D090F"/>
                </a:solidFill>
                <a:latin typeface="Carlito"/>
                <a:cs typeface="Carlito"/>
              </a:rPr>
              <a:t>you </a:t>
            </a:r>
            <a:r>
              <a:rPr sz="3200" dirty="0">
                <a:solidFill>
                  <a:srgbClr val="0D090F"/>
                </a:solidFill>
                <a:latin typeface="Carlito"/>
                <a:cs typeface="Carlito"/>
              </a:rPr>
              <a:t>when  </a:t>
            </a:r>
            <a:r>
              <a:rPr sz="3200" spc="-15" dirty="0">
                <a:solidFill>
                  <a:srgbClr val="0D090F"/>
                </a:solidFill>
                <a:latin typeface="Carlito"/>
                <a:cs typeface="Carlito"/>
              </a:rPr>
              <a:t>software </a:t>
            </a:r>
            <a:r>
              <a:rPr sz="3200" spc="-10" dirty="0">
                <a:solidFill>
                  <a:srgbClr val="0D090F"/>
                </a:solidFill>
                <a:latin typeface="Carlito"/>
                <a:cs typeface="Carlito"/>
              </a:rPr>
              <a:t>updates </a:t>
            </a:r>
            <a:r>
              <a:rPr sz="3200" spc="-15" dirty="0">
                <a:solidFill>
                  <a:srgbClr val="0D090F"/>
                </a:solidFill>
                <a:latin typeface="Carlito"/>
                <a:cs typeface="Carlito"/>
              </a:rPr>
              <a:t>are </a:t>
            </a:r>
            <a:r>
              <a:rPr sz="3200" spc="-10" dirty="0">
                <a:solidFill>
                  <a:srgbClr val="0D090F"/>
                </a:solidFill>
                <a:latin typeface="Carlito"/>
                <a:cs typeface="Carlito"/>
              </a:rPr>
              <a:t>available </a:t>
            </a:r>
            <a:r>
              <a:rPr sz="3200" spc="-30" dirty="0">
                <a:solidFill>
                  <a:srgbClr val="0D090F"/>
                </a:solidFill>
                <a:latin typeface="Carlito"/>
                <a:cs typeface="Carlito"/>
              </a:rPr>
              <a:t>for</a:t>
            </a:r>
            <a:r>
              <a:rPr sz="3200" spc="5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3200" spc="-5" dirty="0">
                <a:solidFill>
                  <a:srgbClr val="0D090F"/>
                </a:solidFill>
                <a:latin typeface="Carlito"/>
                <a:cs typeface="Carlito"/>
              </a:rPr>
              <a:t>download.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Whenever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dirty="0">
                <a:latin typeface="Carlito"/>
                <a:cs typeface="Carlito"/>
              </a:rPr>
              <a:t>open or </a:t>
            </a:r>
            <a:r>
              <a:rPr sz="3200" spc="-10" dirty="0">
                <a:latin typeface="Carlito"/>
                <a:cs typeface="Carlito"/>
              </a:rPr>
              <a:t>minimize </a:t>
            </a:r>
            <a:r>
              <a:rPr sz="3200" dirty="0">
                <a:latin typeface="Carlito"/>
                <a:cs typeface="Carlito"/>
              </a:rPr>
              <a:t>a window or  </a:t>
            </a:r>
            <a:r>
              <a:rPr sz="3200" spc="-15" dirty="0">
                <a:latin typeface="Carlito"/>
                <a:cs typeface="Carlito"/>
              </a:rPr>
              <a:t>program,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rectangular </a:t>
            </a:r>
            <a:r>
              <a:rPr sz="3200" spc="-20" dirty="0">
                <a:latin typeface="Carlito"/>
                <a:cs typeface="Carlito"/>
              </a:rPr>
              <a:t>button </a:t>
            </a:r>
            <a:r>
              <a:rPr sz="3200" spc="-10" dirty="0">
                <a:latin typeface="Carlito"/>
                <a:cs typeface="Carlito"/>
              </a:rPr>
              <a:t>appears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5" dirty="0">
                <a:latin typeface="Carlito"/>
                <a:cs typeface="Carlito"/>
              </a:rPr>
              <a:t>taskbar that </a:t>
            </a:r>
            <a:r>
              <a:rPr sz="3200" spc="-10" dirty="0">
                <a:latin typeface="Carlito"/>
                <a:cs typeface="Carlito"/>
              </a:rPr>
              <a:t>shows </a:t>
            </a:r>
            <a:r>
              <a:rPr sz="3200" spc="-5" dirty="0">
                <a:latin typeface="Carlito"/>
                <a:cs typeface="Carlito"/>
              </a:rPr>
              <a:t>the name </a:t>
            </a:r>
            <a:r>
              <a:rPr sz="3200" dirty="0">
                <a:latin typeface="Carlito"/>
                <a:cs typeface="Carlito"/>
              </a:rPr>
              <a:t>of the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application.</a:t>
            </a:r>
            <a:endParaRPr sz="3200">
              <a:latin typeface="Carlito"/>
              <a:cs typeface="Carlito"/>
            </a:endParaRPr>
          </a:p>
          <a:p>
            <a:pPr marL="355600" marR="539115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5" dirty="0">
                <a:latin typeface="Carlito"/>
                <a:cs typeface="Carlito"/>
              </a:rPr>
              <a:t>However, </a:t>
            </a:r>
            <a:r>
              <a:rPr sz="3200" dirty="0">
                <a:latin typeface="Carlito"/>
                <a:cs typeface="Carlito"/>
              </a:rPr>
              <a:t>these </a:t>
            </a:r>
            <a:r>
              <a:rPr sz="3200" spc="-20" dirty="0">
                <a:latin typeface="Carlito"/>
                <a:cs typeface="Carlito"/>
              </a:rPr>
              <a:t>buttons </a:t>
            </a:r>
            <a:r>
              <a:rPr sz="3200" spc="-5" dirty="0">
                <a:latin typeface="Carlito"/>
                <a:cs typeface="Carlito"/>
              </a:rPr>
              <a:t>disappear </a:t>
            </a:r>
            <a:r>
              <a:rPr sz="3200" dirty="0">
                <a:latin typeface="Carlito"/>
                <a:cs typeface="Carlito"/>
              </a:rPr>
              <a:t>when </a:t>
            </a:r>
            <a:r>
              <a:rPr sz="3200" spc="-15" dirty="0">
                <a:latin typeface="Carlito"/>
                <a:cs typeface="Carlito"/>
              </a:rPr>
              <a:t>you  </a:t>
            </a:r>
            <a:r>
              <a:rPr sz="3200" dirty="0">
                <a:latin typeface="Carlito"/>
                <a:cs typeface="Carlito"/>
              </a:rPr>
              <a:t>close a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30" dirty="0">
                <a:latin typeface="Carlito"/>
                <a:cs typeface="Carlito"/>
              </a:rPr>
              <a:t>window.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476" y="69545"/>
            <a:ext cx="6520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Log </a:t>
            </a:r>
            <a:r>
              <a:rPr spc="-10" dirty="0"/>
              <a:t>On/Off </a:t>
            </a:r>
            <a:r>
              <a:rPr dirty="0"/>
              <a:t>and </a:t>
            </a:r>
            <a:r>
              <a:rPr spc="-15" dirty="0"/>
              <a:t>Switch</a:t>
            </a:r>
            <a:r>
              <a:rPr spc="-50" dirty="0"/>
              <a:t> </a:t>
            </a:r>
            <a:r>
              <a:rPr spc="-15" dirty="0"/>
              <a:t>Users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087577"/>
            <a:ext cx="8408670" cy="528510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79120" indent="-343535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25" dirty="0">
                <a:latin typeface="Carlito"/>
                <a:cs typeface="Carlito"/>
              </a:rPr>
              <a:t>Any </a:t>
            </a:r>
            <a:r>
              <a:rPr sz="3000" spc="-10" dirty="0">
                <a:latin typeface="Carlito"/>
                <a:cs typeface="Carlito"/>
              </a:rPr>
              <a:t>Computer that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running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dirty="0">
                <a:latin typeface="Carlito"/>
                <a:cs typeface="Carlito"/>
              </a:rPr>
              <a:t>7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5" dirty="0">
                <a:latin typeface="Carlito"/>
                <a:cs typeface="Carlito"/>
              </a:rPr>
              <a:t>be  used by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dirty="0">
                <a:latin typeface="Carlito"/>
                <a:cs typeface="Carlito"/>
              </a:rPr>
              <a:t>than </a:t>
            </a:r>
            <a:r>
              <a:rPr sz="3000" spc="-5" dirty="0">
                <a:latin typeface="Carlito"/>
                <a:cs typeface="Carlito"/>
              </a:rPr>
              <a:t>one </a:t>
            </a:r>
            <a:r>
              <a:rPr sz="3000" spc="-15" dirty="0">
                <a:latin typeface="Carlito"/>
                <a:cs typeface="Carlito"/>
              </a:rPr>
              <a:t>person at 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time.</a:t>
            </a:r>
            <a:endParaRPr sz="3000">
              <a:latin typeface="Carlito"/>
              <a:cs typeface="Carlito"/>
            </a:endParaRPr>
          </a:p>
          <a:p>
            <a:pPr marL="355600" marR="461645" indent="-343535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For </a:t>
            </a:r>
            <a:r>
              <a:rPr sz="3000" spc="-20" dirty="0">
                <a:latin typeface="Carlito"/>
                <a:cs typeface="Carlito"/>
              </a:rPr>
              <a:t>example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20" dirty="0">
                <a:latin typeface="Carlito"/>
                <a:cs typeface="Carlito"/>
              </a:rPr>
              <a:t>may have </a:t>
            </a:r>
            <a:r>
              <a:rPr sz="3000" spc="-5" dirty="0">
                <a:latin typeface="Carlito"/>
                <a:cs typeface="Carlito"/>
              </a:rPr>
              <a:t>one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dirty="0">
                <a:latin typeface="Carlito"/>
                <a:cs typeface="Carlito"/>
              </a:rPr>
              <a:t>in </a:t>
            </a:r>
            <a:r>
              <a:rPr sz="3000" spc="-15" dirty="0">
                <a:latin typeface="Carlito"/>
                <a:cs typeface="Carlito"/>
              </a:rPr>
              <a:t>your  room </a:t>
            </a:r>
            <a:r>
              <a:rPr sz="3000" spc="-10" dirty="0">
                <a:latin typeface="Carlito"/>
                <a:cs typeface="Carlito"/>
              </a:rPr>
              <a:t>shared by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your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mates.</a:t>
            </a:r>
            <a:endParaRPr sz="3000">
              <a:latin typeface="Carlito"/>
              <a:cs typeface="Carlito"/>
            </a:endParaRPr>
          </a:p>
          <a:p>
            <a:pPr marL="355600" marR="113664" indent="-343535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dirty="0">
                <a:latin typeface="Carlito"/>
                <a:cs typeface="Carlito"/>
              </a:rPr>
              <a:t>In </a:t>
            </a:r>
            <a:r>
              <a:rPr sz="3000" spc="-15" dirty="0">
                <a:latin typeface="Carlito"/>
                <a:cs typeface="Carlito"/>
              </a:rPr>
              <a:t>order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30" dirty="0">
                <a:latin typeface="Carlito"/>
                <a:cs typeface="Carlito"/>
              </a:rPr>
              <a:t>keep </a:t>
            </a:r>
            <a:r>
              <a:rPr sz="3000" spc="-25" dirty="0">
                <a:latin typeface="Carlito"/>
                <a:cs typeface="Carlito"/>
              </a:rPr>
              <a:t>record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each </a:t>
            </a:r>
            <a:r>
              <a:rPr sz="3000" spc="-15" dirty="0">
                <a:latin typeface="Carlito"/>
                <a:cs typeface="Carlito"/>
              </a:rPr>
              <a:t>others information 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shared Computer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unique  settings, </a:t>
            </a:r>
            <a:r>
              <a:rPr sz="3000" spc="-5" dirty="0">
                <a:latin typeface="Carlito"/>
                <a:cs typeface="Carlito"/>
              </a:rPr>
              <a:t>email </a:t>
            </a:r>
            <a:r>
              <a:rPr sz="3000" spc="-10" dirty="0">
                <a:latin typeface="Carlito"/>
                <a:cs typeface="Carlito"/>
              </a:rPr>
              <a:t>account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documents, </a:t>
            </a:r>
            <a:r>
              <a:rPr sz="3000" spc="-15" dirty="0">
                <a:latin typeface="Carlito"/>
                <a:cs typeface="Carlito"/>
              </a:rPr>
              <a:t>Windows </a:t>
            </a:r>
            <a:r>
              <a:rPr sz="3000" dirty="0">
                <a:latin typeface="Carlito"/>
                <a:cs typeface="Carlito"/>
              </a:rPr>
              <a:t>7  </a:t>
            </a:r>
            <a:r>
              <a:rPr sz="3000" spc="-10" dirty="0">
                <a:latin typeface="Carlito"/>
                <a:cs typeface="Carlito"/>
              </a:rPr>
              <a:t>allows </a:t>
            </a:r>
            <a:r>
              <a:rPr sz="3000" spc="-15" dirty="0">
                <a:latin typeface="Carlito"/>
                <a:cs typeface="Carlito"/>
              </a:rPr>
              <a:t>everyone </a:t>
            </a:r>
            <a:r>
              <a:rPr sz="3000" dirty="0">
                <a:latin typeface="Carlito"/>
                <a:cs typeface="Carlito"/>
              </a:rPr>
              <a:t>who </a:t>
            </a:r>
            <a:r>
              <a:rPr sz="3000" spc="-5" dirty="0">
                <a:latin typeface="Carlito"/>
                <a:cs typeface="Carlito"/>
              </a:rPr>
              <a:t>uses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computer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25" dirty="0">
                <a:latin typeface="Carlito"/>
                <a:cs typeface="Carlito"/>
              </a:rPr>
              <a:t>have  </a:t>
            </a:r>
            <a:r>
              <a:rPr sz="3000" spc="-20" dirty="0">
                <a:latin typeface="Carlito"/>
                <a:cs typeface="Carlito"/>
              </a:rPr>
              <a:t>separate </a:t>
            </a:r>
            <a:r>
              <a:rPr sz="3000" spc="-10" dirty="0">
                <a:latin typeface="Carlito"/>
                <a:cs typeface="Carlito"/>
              </a:rPr>
              <a:t>computer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accounts.</a:t>
            </a:r>
            <a:endParaRPr sz="3000">
              <a:latin typeface="Carlito"/>
              <a:cs typeface="Carlito"/>
            </a:endParaRPr>
          </a:p>
          <a:p>
            <a:pPr marL="355600" marR="5080" indent="-343535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3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use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account,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dirty="0">
                <a:latin typeface="Carlito"/>
                <a:cs typeface="Carlito"/>
              </a:rPr>
              <a:t>will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log on and </a:t>
            </a:r>
            <a:r>
              <a:rPr sz="3000" spc="-20" dirty="0">
                <a:latin typeface="Carlito"/>
                <a:cs typeface="Carlito"/>
              </a:rPr>
              <a:t>you  </a:t>
            </a:r>
            <a:r>
              <a:rPr sz="3000" dirty="0">
                <a:latin typeface="Carlito"/>
                <a:cs typeface="Carlito"/>
              </a:rPr>
              <a:t>will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log </a:t>
            </a:r>
            <a:r>
              <a:rPr sz="3000" spc="-10" dirty="0">
                <a:latin typeface="Carlito"/>
                <a:cs typeface="Carlito"/>
              </a:rPr>
              <a:t>off after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0" dirty="0">
                <a:latin typeface="Carlito"/>
                <a:cs typeface="Carlito"/>
              </a:rPr>
              <a:t>finished </a:t>
            </a:r>
            <a:r>
              <a:rPr sz="3000" spc="-5" dirty="0">
                <a:latin typeface="Carlito"/>
                <a:cs typeface="Carlito"/>
              </a:rPr>
              <a:t>using  </a:t>
            </a:r>
            <a:r>
              <a:rPr sz="3000" spc="-15" dirty="0">
                <a:latin typeface="Carlito"/>
                <a:cs typeface="Carlito"/>
              </a:rPr>
              <a:t>your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45" dirty="0">
                <a:latin typeface="Carlito"/>
                <a:cs typeface="Carlito"/>
              </a:rPr>
              <a:t>computer.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476" y="4699"/>
            <a:ext cx="65195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Log </a:t>
            </a:r>
            <a:r>
              <a:rPr spc="-10" dirty="0"/>
              <a:t>On/Off </a:t>
            </a:r>
            <a:r>
              <a:rPr dirty="0"/>
              <a:t>and </a:t>
            </a:r>
            <a:r>
              <a:rPr spc="-20" dirty="0"/>
              <a:t>Switch</a:t>
            </a:r>
            <a:r>
              <a:rPr spc="-15" dirty="0"/>
              <a:t> Users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271727"/>
            <a:ext cx="8381365" cy="51974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398780" indent="-343535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dirty="0">
                <a:latin typeface="Carlito"/>
                <a:cs typeface="Carlito"/>
              </a:rPr>
              <a:t>7 </a:t>
            </a:r>
            <a:r>
              <a:rPr sz="3200" spc="-10" dirty="0">
                <a:latin typeface="Carlito"/>
                <a:cs typeface="Carlito"/>
              </a:rPr>
              <a:t>even </a:t>
            </a:r>
            <a:r>
              <a:rPr sz="3200" dirty="0">
                <a:latin typeface="Carlito"/>
                <a:cs typeface="Carlito"/>
              </a:rPr>
              <a:t>enables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log </a:t>
            </a:r>
            <a:r>
              <a:rPr sz="3200" spc="-15" dirty="0">
                <a:latin typeface="Carlito"/>
                <a:cs typeface="Carlito"/>
              </a:rPr>
              <a:t>off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5" dirty="0">
                <a:latin typeface="Carlito"/>
                <a:cs typeface="Carlito"/>
              </a:rPr>
              <a:t>so someone else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dirty="0">
                <a:latin typeface="Carlito"/>
                <a:cs typeface="Carlito"/>
              </a:rPr>
              <a:t>log </a:t>
            </a:r>
            <a:r>
              <a:rPr sz="3200" spc="-5" dirty="0">
                <a:latin typeface="Carlito"/>
                <a:cs typeface="Carlito"/>
              </a:rPr>
              <a:t>on without  </a:t>
            </a:r>
            <a:r>
              <a:rPr sz="3200" spc="-10" dirty="0">
                <a:latin typeface="Carlito"/>
                <a:cs typeface="Carlito"/>
              </a:rPr>
              <a:t>having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20" dirty="0">
                <a:latin typeface="Carlito"/>
                <a:cs typeface="Carlito"/>
              </a:rPr>
              <a:t>restart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computer.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rlito"/>
                <a:cs typeface="Carlito"/>
              </a:rPr>
              <a:t>Switching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dirty="0">
                <a:latin typeface="Carlito"/>
                <a:cs typeface="Carlito"/>
              </a:rPr>
              <a:t>means changing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users.</a:t>
            </a:r>
            <a:endParaRPr sz="3200">
              <a:latin typeface="Carlito"/>
              <a:cs typeface="Carlito"/>
            </a:endParaRPr>
          </a:p>
          <a:p>
            <a:pPr marL="355600" marR="381635" indent="-343535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rlito"/>
                <a:cs typeface="Carlito"/>
              </a:rPr>
              <a:t>Note that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particular </a:t>
            </a:r>
            <a:r>
              <a:rPr sz="3200" dirty="0">
                <a:latin typeface="Carlito"/>
                <a:cs typeface="Carlito"/>
              </a:rPr>
              <a:t>PC </a:t>
            </a:r>
            <a:r>
              <a:rPr sz="3200" spc="-5" dirty="0">
                <a:latin typeface="Carlito"/>
                <a:cs typeface="Carlito"/>
              </a:rPr>
              <a:t>only </a:t>
            </a:r>
            <a:r>
              <a:rPr sz="3200" dirty="0">
                <a:latin typeface="Carlito"/>
                <a:cs typeface="Carlito"/>
              </a:rPr>
              <a:t>one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spc="-10" dirty="0">
                <a:latin typeface="Carlito"/>
                <a:cs typeface="Carlito"/>
              </a:rPr>
              <a:t>can  </a:t>
            </a:r>
            <a:r>
              <a:rPr sz="3200" spc="-5" dirty="0">
                <a:latin typeface="Carlito"/>
                <a:cs typeface="Carlito"/>
              </a:rPr>
              <a:t>use the </a:t>
            </a:r>
            <a:r>
              <a:rPr sz="3200" spc="-10" dirty="0">
                <a:latin typeface="Carlito"/>
                <a:cs typeface="Carlito"/>
              </a:rPr>
              <a:t>Computer at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time.</a:t>
            </a:r>
            <a:endParaRPr sz="3200">
              <a:latin typeface="Carlito"/>
              <a:cs typeface="Carlito"/>
            </a:endParaRPr>
          </a:p>
          <a:p>
            <a:pPr marL="355600" marR="5080" indent="-343535">
              <a:lnSpc>
                <a:spcPct val="90000"/>
              </a:lnSpc>
              <a:spcBef>
                <a:spcPts val="7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45" dirty="0">
                <a:latin typeface="Carlito"/>
                <a:cs typeface="Carlito"/>
              </a:rPr>
              <a:t>However, </a:t>
            </a:r>
            <a:r>
              <a:rPr sz="3200" dirty="0">
                <a:latin typeface="Carlito"/>
                <a:cs typeface="Carlito"/>
              </a:rPr>
              <a:t>if </a:t>
            </a:r>
            <a:r>
              <a:rPr sz="3200" spc="-5" dirty="0">
                <a:latin typeface="Carlito"/>
                <a:cs typeface="Carlito"/>
              </a:rPr>
              <a:t>two or </a:t>
            </a:r>
            <a:r>
              <a:rPr sz="3200" spc="-10" dirty="0">
                <a:latin typeface="Carlito"/>
                <a:cs typeface="Carlito"/>
              </a:rPr>
              <a:t>more </a:t>
            </a:r>
            <a:r>
              <a:rPr sz="3200" spc="-5" dirty="0">
                <a:latin typeface="Carlito"/>
                <a:cs typeface="Carlito"/>
              </a:rPr>
              <a:t>people </a:t>
            </a:r>
            <a:r>
              <a:rPr sz="3200" spc="-25" dirty="0">
                <a:latin typeface="Carlito"/>
                <a:cs typeface="Carlito"/>
              </a:rPr>
              <a:t>have </a:t>
            </a:r>
            <a:r>
              <a:rPr sz="3200" spc="-5" dirty="0">
                <a:latin typeface="Carlito"/>
                <a:cs typeface="Carlito"/>
              </a:rPr>
              <a:t>already </a:t>
            </a:r>
            <a:r>
              <a:rPr sz="3200" dirty="0">
                <a:latin typeface="Carlito"/>
                <a:cs typeface="Carlito"/>
              </a:rPr>
              <a:t>log 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same </a:t>
            </a:r>
            <a:r>
              <a:rPr sz="3200" spc="-40" dirty="0">
                <a:latin typeface="Carlito"/>
                <a:cs typeface="Carlito"/>
              </a:rPr>
              <a:t>Computer, </a:t>
            </a:r>
            <a:r>
              <a:rPr sz="3200" spc="-5" dirty="0">
                <a:latin typeface="Carlito"/>
                <a:cs typeface="Carlito"/>
              </a:rPr>
              <a:t>only one of them </a:t>
            </a:r>
            <a:r>
              <a:rPr sz="3200" spc="-10" dirty="0">
                <a:latin typeface="Carlito"/>
                <a:cs typeface="Carlito"/>
              </a:rPr>
              <a:t>can  </a:t>
            </a:r>
            <a:r>
              <a:rPr sz="3200" dirty="0">
                <a:latin typeface="Carlito"/>
                <a:cs typeface="Carlito"/>
              </a:rPr>
              <a:t>be </a:t>
            </a:r>
            <a:r>
              <a:rPr sz="3200" spc="-10" dirty="0">
                <a:latin typeface="Carlito"/>
                <a:cs typeface="Carlito"/>
              </a:rPr>
              <a:t>active at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time, </a:t>
            </a:r>
            <a:r>
              <a:rPr sz="3200" spc="-20" dirty="0">
                <a:latin typeface="Carlito"/>
                <a:cs typeface="Carlito"/>
              </a:rPr>
              <a:t>therefore, </a:t>
            </a:r>
            <a:r>
              <a:rPr sz="3200" spc="-10" dirty="0">
                <a:latin typeface="Carlito"/>
                <a:cs typeface="Carlito"/>
              </a:rPr>
              <a:t>anytime </a:t>
            </a:r>
            <a:r>
              <a:rPr sz="3200" spc="-5" dirty="0">
                <a:latin typeface="Carlito"/>
                <a:cs typeface="Carlito"/>
              </a:rPr>
              <a:t>someone  </a:t>
            </a:r>
            <a:r>
              <a:rPr sz="3200" dirty="0">
                <a:latin typeface="Carlito"/>
                <a:cs typeface="Carlito"/>
              </a:rPr>
              <a:t>else </a:t>
            </a:r>
            <a:r>
              <a:rPr sz="3200" spc="-10" dirty="0">
                <a:latin typeface="Carlito"/>
                <a:cs typeface="Carlito"/>
              </a:rPr>
              <a:t>intends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use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15" dirty="0">
                <a:latin typeface="Carlito"/>
                <a:cs typeface="Carlito"/>
              </a:rPr>
              <a:t>he/she must  </a:t>
            </a:r>
            <a:r>
              <a:rPr sz="3200" spc="-10" dirty="0">
                <a:latin typeface="Carlito"/>
                <a:cs typeface="Carlito"/>
              </a:rPr>
              <a:t>switch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his/her </a:t>
            </a:r>
            <a:r>
              <a:rPr sz="3200" spc="-10" dirty="0">
                <a:latin typeface="Carlito"/>
                <a:cs typeface="Carlito"/>
              </a:rPr>
              <a:t>account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45" dirty="0">
                <a:latin typeface="Carlito"/>
                <a:cs typeface="Carlito"/>
              </a:rPr>
              <a:t>Computer.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476" y="4699"/>
            <a:ext cx="65195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Log </a:t>
            </a:r>
            <a:r>
              <a:rPr spc="-10" dirty="0"/>
              <a:t>On/Off </a:t>
            </a:r>
            <a:r>
              <a:rPr dirty="0"/>
              <a:t>and </a:t>
            </a:r>
            <a:r>
              <a:rPr spc="-20" dirty="0"/>
              <a:t>Switch</a:t>
            </a:r>
            <a:r>
              <a:rPr spc="-15" dirty="0"/>
              <a:t> Users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219606"/>
            <a:ext cx="7706359" cy="258064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4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shut down, </a:t>
            </a:r>
            <a:r>
              <a:rPr sz="3200" spc="-20" dirty="0">
                <a:latin typeface="Carlito"/>
                <a:cs typeface="Carlito"/>
              </a:rPr>
              <a:t>restart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10" dirty="0">
                <a:latin typeface="Carlito"/>
                <a:cs typeface="Carlito"/>
              </a:rPr>
              <a:t>switch</a:t>
            </a:r>
            <a:r>
              <a:rPr sz="3200" spc="14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users,</a:t>
            </a:r>
            <a:endParaRPr sz="3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rlito"/>
                <a:cs typeface="Carlito"/>
              </a:rPr>
              <a:t>Click the </a:t>
            </a:r>
            <a:r>
              <a:rPr sz="2800" spc="-15" dirty="0">
                <a:latin typeface="Carlito"/>
                <a:cs typeface="Carlito"/>
              </a:rPr>
              <a:t>Windows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button.</a:t>
            </a:r>
            <a:endParaRPr sz="28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rlito"/>
                <a:cs typeface="Carlito"/>
              </a:rPr>
              <a:t>Click “Shut </a:t>
            </a:r>
            <a:r>
              <a:rPr sz="2800" spc="-10" dirty="0">
                <a:latin typeface="Carlito"/>
                <a:cs typeface="Carlito"/>
              </a:rPr>
              <a:t>down” </a:t>
            </a:r>
            <a:r>
              <a:rPr sz="2800" spc="-5" dirty="0">
                <a:latin typeface="Carlito"/>
                <a:cs typeface="Carlito"/>
              </a:rPr>
              <a:t>one time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immediately shut  down </a:t>
            </a:r>
            <a:r>
              <a:rPr sz="2800" spc="-20" dirty="0">
                <a:latin typeface="Carlito"/>
                <a:cs typeface="Carlito"/>
              </a:rPr>
              <a:t>your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45" dirty="0">
                <a:latin typeface="Carlito"/>
                <a:cs typeface="Carlito"/>
              </a:rPr>
              <a:t>computer.</a:t>
            </a:r>
            <a:endParaRPr sz="28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rlito"/>
                <a:cs typeface="Carlito"/>
              </a:rPr>
              <a:t>Or Click the </a:t>
            </a:r>
            <a:r>
              <a:rPr sz="2800" spc="-15" dirty="0">
                <a:latin typeface="Carlito"/>
                <a:cs typeface="Carlito"/>
              </a:rPr>
              <a:t>arrow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15" dirty="0">
                <a:latin typeface="Carlito"/>
                <a:cs typeface="Carlito"/>
              </a:rPr>
              <a:t>more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options.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76276"/>
            <a:ext cx="8038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Log </a:t>
            </a:r>
            <a:r>
              <a:rPr spc="-10" dirty="0"/>
              <a:t>On/Off </a:t>
            </a:r>
            <a:r>
              <a:rPr spc="-15" dirty="0"/>
              <a:t>,Switch Users </a:t>
            </a:r>
            <a:r>
              <a:rPr dirty="0"/>
              <a:t>or</a:t>
            </a:r>
            <a:r>
              <a:rPr spc="10" dirty="0"/>
              <a:t> </a:t>
            </a:r>
            <a:r>
              <a:rPr spc="-25" dirty="0"/>
              <a:t>Restart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043" y="1035253"/>
            <a:ext cx="45212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114" dirty="0">
                <a:latin typeface="Carlito"/>
                <a:cs typeface="Carlito"/>
              </a:rPr>
              <a:t>To </a:t>
            </a:r>
            <a:r>
              <a:rPr sz="2500" spc="-5" dirty="0">
                <a:latin typeface="Carlito"/>
                <a:cs typeface="Carlito"/>
              </a:rPr>
              <a:t>log </a:t>
            </a:r>
            <a:r>
              <a:rPr sz="2500" spc="-20" dirty="0">
                <a:latin typeface="Carlito"/>
                <a:cs typeface="Carlito"/>
              </a:rPr>
              <a:t>off/switch </a:t>
            </a:r>
            <a:r>
              <a:rPr sz="2500" spc="-15" dirty="0">
                <a:latin typeface="Carlito"/>
                <a:cs typeface="Carlito"/>
              </a:rPr>
              <a:t>users </a:t>
            </a:r>
            <a:r>
              <a:rPr sz="2500" dirty="0">
                <a:latin typeface="Carlito"/>
                <a:cs typeface="Carlito"/>
              </a:rPr>
              <a:t>or</a:t>
            </a:r>
            <a:r>
              <a:rPr sz="2500" spc="114" dirty="0">
                <a:latin typeface="Carlito"/>
                <a:cs typeface="Carlito"/>
              </a:rPr>
              <a:t> </a:t>
            </a:r>
            <a:r>
              <a:rPr sz="2500" spc="-15" dirty="0">
                <a:latin typeface="Carlito"/>
                <a:cs typeface="Carlito"/>
              </a:rPr>
              <a:t>restart</a:t>
            </a:r>
            <a:endParaRPr sz="25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4711" y="1700783"/>
            <a:ext cx="7408545" cy="4825365"/>
            <a:chOff x="1124711" y="1700783"/>
            <a:chExt cx="7408545" cy="4825365"/>
          </a:xfrm>
        </p:grpSpPr>
        <p:sp>
          <p:nvSpPr>
            <p:cNvPr id="5" name="object 5"/>
            <p:cNvSpPr/>
            <p:nvPr/>
          </p:nvSpPr>
          <p:spPr>
            <a:xfrm>
              <a:off x="1129283" y="2574036"/>
              <a:ext cx="1525905" cy="669290"/>
            </a:xfrm>
            <a:custGeom>
              <a:avLst/>
              <a:gdLst/>
              <a:ahLst/>
              <a:cxnLst/>
              <a:rect l="l" t="t" r="r" b="b"/>
              <a:pathLst>
                <a:path w="1525905" h="669289">
                  <a:moveTo>
                    <a:pt x="1446784" y="0"/>
                  </a:moveTo>
                  <a:lnTo>
                    <a:pt x="78778" y="0"/>
                  </a:lnTo>
                  <a:lnTo>
                    <a:pt x="50139" y="6096"/>
                  </a:lnTo>
                  <a:lnTo>
                    <a:pt x="24345" y="30352"/>
                  </a:lnTo>
                  <a:lnTo>
                    <a:pt x="7162" y="66928"/>
                  </a:lnTo>
                  <a:lnTo>
                    <a:pt x="0" y="111505"/>
                  </a:lnTo>
                  <a:lnTo>
                    <a:pt x="0" y="557529"/>
                  </a:lnTo>
                  <a:lnTo>
                    <a:pt x="5727" y="598042"/>
                  </a:lnTo>
                  <a:lnTo>
                    <a:pt x="21488" y="634618"/>
                  </a:lnTo>
                  <a:lnTo>
                    <a:pt x="47269" y="658876"/>
                  </a:lnTo>
                  <a:lnTo>
                    <a:pt x="78778" y="669036"/>
                  </a:lnTo>
                  <a:lnTo>
                    <a:pt x="1446784" y="669036"/>
                  </a:lnTo>
                  <a:lnTo>
                    <a:pt x="1475359" y="660908"/>
                  </a:lnTo>
                  <a:lnTo>
                    <a:pt x="1501140" y="638683"/>
                  </a:lnTo>
                  <a:lnTo>
                    <a:pt x="1518411" y="602106"/>
                  </a:lnTo>
                  <a:lnTo>
                    <a:pt x="1525523" y="557529"/>
                  </a:lnTo>
                  <a:lnTo>
                    <a:pt x="1525523" y="111505"/>
                  </a:lnTo>
                  <a:lnTo>
                    <a:pt x="1519809" y="70992"/>
                  </a:lnTo>
                  <a:lnTo>
                    <a:pt x="1504061" y="34416"/>
                  </a:lnTo>
                  <a:lnTo>
                    <a:pt x="1478280" y="8127"/>
                  </a:lnTo>
                  <a:lnTo>
                    <a:pt x="1446784" y="0"/>
                  </a:lnTo>
                  <a:close/>
                </a:path>
              </a:pathLst>
            </a:custGeom>
            <a:solidFill>
              <a:srgbClr val="C5D9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29283" y="2574036"/>
              <a:ext cx="1525905" cy="669290"/>
            </a:xfrm>
            <a:custGeom>
              <a:avLst/>
              <a:gdLst/>
              <a:ahLst/>
              <a:cxnLst/>
              <a:rect l="l" t="t" r="r" b="b"/>
              <a:pathLst>
                <a:path w="1525905" h="669289">
                  <a:moveTo>
                    <a:pt x="0" y="111505"/>
                  </a:moveTo>
                  <a:lnTo>
                    <a:pt x="7162" y="66928"/>
                  </a:lnTo>
                  <a:lnTo>
                    <a:pt x="24345" y="30352"/>
                  </a:lnTo>
                  <a:lnTo>
                    <a:pt x="50139" y="6096"/>
                  </a:lnTo>
                  <a:lnTo>
                    <a:pt x="78778" y="0"/>
                  </a:lnTo>
                  <a:lnTo>
                    <a:pt x="1446784" y="0"/>
                  </a:lnTo>
                  <a:lnTo>
                    <a:pt x="1478280" y="8127"/>
                  </a:lnTo>
                  <a:lnTo>
                    <a:pt x="1504061" y="34416"/>
                  </a:lnTo>
                  <a:lnTo>
                    <a:pt x="1519809" y="70992"/>
                  </a:lnTo>
                  <a:lnTo>
                    <a:pt x="1525523" y="111505"/>
                  </a:lnTo>
                  <a:lnTo>
                    <a:pt x="1525523" y="557529"/>
                  </a:lnTo>
                  <a:lnTo>
                    <a:pt x="1518411" y="602106"/>
                  </a:lnTo>
                  <a:lnTo>
                    <a:pt x="1501140" y="638683"/>
                  </a:lnTo>
                  <a:lnTo>
                    <a:pt x="1475359" y="660908"/>
                  </a:lnTo>
                  <a:lnTo>
                    <a:pt x="1446784" y="669036"/>
                  </a:lnTo>
                  <a:lnTo>
                    <a:pt x="78778" y="669036"/>
                  </a:lnTo>
                  <a:lnTo>
                    <a:pt x="47269" y="658876"/>
                  </a:lnTo>
                  <a:lnTo>
                    <a:pt x="21488" y="634618"/>
                  </a:lnTo>
                  <a:lnTo>
                    <a:pt x="5727" y="598042"/>
                  </a:lnTo>
                  <a:lnTo>
                    <a:pt x="0" y="557529"/>
                  </a:lnTo>
                  <a:lnTo>
                    <a:pt x="0" y="111505"/>
                  </a:lnTo>
                  <a:close/>
                </a:path>
              </a:pathLst>
            </a:custGeom>
            <a:ln w="9144">
              <a:solidFill>
                <a:srgbClr val="C5D9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41319" y="1700783"/>
              <a:ext cx="5591556" cy="48249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48712" y="3069335"/>
              <a:ext cx="3378835" cy="1988185"/>
            </a:xfrm>
            <a:custGeom>
              <a:avLst/>
              <a:gdLst/>
              <a:ahLst/>
              <a:cxnLst/>
              <a:rect l="l" t="t" r="r" b="b"/>
              <a:pathLst>
                <a:path w="3378835" h="1988185">
                  <a:moveTo>
                    <a:pt x="3378708" y="1967484"/>
                  </a:moveTo>
                  <a:lnTo>
                    <a:pt x="3252724" y="1762633"/>
                  </a:lnTo>
                  <a:lnTo>
                    <a:pt x="3225419" y="1855978"/>
                  </a:lnTo>
                  <a:lnTo>
                    <a:pt x="11430" y="0"/>
                  </a:lnTo>
                  <a:lnTo>
                    <a:pt x="0" y="38481"/>
                  </a:lnTo>
                  <a:lnTo>
                    <a:pt x="3213989" y="1894459"/>
                  </a:lnTo>
                  <a:lnTo>
                    <a:pt x="3186811" y="1987804"/>
                  </a:lnTo>
                  <a:lnTo>
                    <a:pt x="3378708" y="19674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476" y="4699"/>
            <a:ext cx="65195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Log </a:t>
            </a:r>
            <a:r>
              <a:rPr spc="-10" dirty="0"/>
              <a:t>On/Off </a:t>
            </a:r>
            <a:r>
              <a:rPr dirty="0"/>
              <a:t>and </a:t>
            </a:r>
            <a:r>
              <a:rPr spc="-20" dirty="0"/>
              <a:t>Switch</a:t>
            </a:r>
            <a:r>
              <a:rPr spc="-15" dirty="0"/>
              <a:t> Users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239723"/>
            <a:ext cx="8519795" cy="505650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316230" indent="-343535">
              <a:lnSpc>
                <a:spcPct val="80000"/>
              </a:lnSpc>
              <a:spcBef>
                <a:spcPts val="81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b="1" spc="-15" dirty="0">
                <a:latin typeface="Carlito"/>
                <a:cs typeface="Carlito"/>
              </a:rPr>
              <a:t>Switch </a:t>
            </a:r>
            <a:r>
              <a:rPr sz="3000" b="1" dirty="0">
                <a:latin typeface="Carlito"/>
                <a:cs typeface="Carlito"/>
              </a:rPr>
              <a:t>User </a:t>
            </a:r>
            <a:r>
              <a:rPr sz="3000" spc="-10" dirty="0">
                <a:latin typeface="Carlito"/>
                <a:cs typeface="Carlito"/>
              </a:rPr>
              <a:t>allows </a:t>
            </a:r>
            <a:r>
              <a:rPr sz="3000" spc="-5" dirty="0">
                <a:latin typeface="Carlito"/>
                <a:cs typeface="Carlito"/>
              </a:rPr>
              <a:t>someone else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log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45" dirty="0">
                <a:latin typeface="Carlito"/>
                <a:cs typeface="Carlito"/>
              </a:rPr>
              <a:t>computer. </a:t>
            </a:r>
            <a:r>
              <a:rPr sz="3000" dirty="0">
                <a:latin typeface="Carlito"/>
                <a:cs typeface="Carlito"/>
              </a:rPr>
              <a:t>If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dirty="0">
                <a:latin typeface="Carlito"/>
                <a:cs typeface="Carlito"/>
              </a:rPr>
              <a:t>choose </a:t>
            </a:r>
            <a:r>
              <a:rPr sz="3000" spc="-15" dirty="0">
                <a:latin typeface="Carlito"/>
                <a:cs typeface="Carlito"/>
              </a:rPr>
              <a:t>to Switch </a:t>
            </a:r>
            <a:r>
              <a:rPr sz="3000" spc="-55" dirty="0">
                <a:latin typeface="Carlito"/>
                <a:cs typeface="Carlito"/>
              </a:rPr>
              <a:t>User, </a:t>
            </a:r>
            <a:r>
              <a:rPr sz="3000" spc="-15" dirty="0">
                <a:latin typeface="Carlito"/>
                <a:cs typeface="Carlito"/>
              </a:rPr>
              <a:t>your  </a:t>
            </a:r>
            <a:r>
              <a:rPr sz="3000" spc="-10" dirty="0">
                <a:latin typeface="Carlito"/>
                <a:cs typeface="Carlito"/>
              </a:rPr>
              <a:t>applications </a:t>
            </a:r>
            <a:r>
              <a:rPr sz="3000" spc="-5" dirty="0">
                <a:latin typeface="Carlito"/>
                <a:cs typeface="Carlito"/>
              </a:rPr>
              <a:t>will </a:t>
            </a:r>
            <a:r>
              <a:rPr sz="3000" spc="-10" dirty="0">
                <a:latin typeface="Carlito"/>
                <a:cs typeface="Carlito"/>
              </a:rPr>
              <a:t>continue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run in the </a:t>
            </a:r>
            <a:r>
              <a:rPr sz="3000" spc="-10" dirty="0">
                <a:latin typeface="Carlito"/>
                <a:cs typeface="Carlito"/>
              </a:rPr>
              <a:t>background  </a:t>
            </a:r>
            <a:r>
              <a:rPr sz="3000" spc="-5" dirty="0">
                <a:latin typeface="Carlito"/>
                <a:cs typeface="Carlito"/>
              </a:rPr>
              <a:t>while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new user </a:t>
            </a:r>
            <a:r>
              <a:rPr sz="3000" dirty="0">
                <a:latin typeface="Carlito"/>
                <a:cs typeface="Carlito"/>
              </a:rPr>
              <a:t>logs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on.</a:t>
            </a:r>
            <a:endParaRPr sz="3000">
              <a:latin typeface="Carlito"/>
              <a:cs typeface="Carlito"/>
            </a:endParaRPr>
          </a:p>
          <a:p>
            <a:pPr marL="355600" marR="5080" indent="-343535">
              <a:lnSpc>
                <a:spcPts val="2880"/>
              </a:lnSpc>
              <a:spcBef>
                <a:spcPts val="7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dirty="0">
                <a:latin typeface="Carlito"/>
                <a:cs typeface="Carlito"/>
              </a:rPr>
              <a:t>If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choose </a:t>
            </a:r>
            <a:r>
              <a:rPr sz="3000" b="1" dirty="0">
                <a:latin typeface="Carlito"/>
                <a:cs typeface="Carlito"/>
              </a:rPr>
              <a:t>Log </a:t>
            </a:r>
            <a:r>
              <a:rPr sz="3000" b="1" spc="-5" dirty="0">
                <a:latin typeface="Carlito"/>
                <a:cs typeface="Carlito"/>
              </a:rPr>
              <a:t>Off</a:t>
            </a:r>
            <a:r>
              <a:rPr sz="3000" spc="-5" dirty="0">
                <a:latin typeface="Carlito"/>
                <a:cs typeface="Carlito"/>
              </a:rPr>
              <a:t>,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applications </a:t>
            </a:r>
            <a:r>
              <a:rPr sz="3000" spc="-5" dirty="0">
                <a:latin typeface="Carlito"/>
                <a:cs typeface="Carlito"/>
              </a:rPr>
              <a:t>will </a:t>
            </a:r>
            <a:r>
              <a:rPr sz="3000" dirty="0">
                <a:latin typeface="Carlito"/>
                <a:cs typeface="Carlito"/>
              </a:rPr>
              <a:t>close  and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will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log on </a:t>
            </a:r>
            <a:r>
              <a:rPr sz="3000" dirty="0">
                <a:latin typeface="Carlito"/>
                <a:cs typeface="Carlito"/>
              </a:rPr>
              <a:t>and run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applications  </a:t>
            </a:r>
            <a:r>
              <a:rPr sz="3000" spc="-15" dirty="0">
                <a:latin typeface="Carlito"/>
                <a:cs typeface="Carlito"/>
              </a:rPr>
              <a:t>again </a:t>
            </a:r>
            <a:r>
              <a:rPr sz="3000" dirty="0">
                <a:latin typeface="Carlito"/>
                <a:cs typeface="Carlito"/>
              </a:rPr>
              <a:t>if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do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so.</a:t>
            </a:r>
            <a:endParaRPr sz="3000">
              <a:latin typeface="Carlito"/>
              <a:cs typeface="Carlito"/>
            </a:endParaRPr>
          </a:p>
          <a:p>
            <a:pPr marL="355600" marR="150495" indent="-343535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dirty="0">
                <a:latin typeface="Carlito"/>
                <a:cs typeface="Carlito"/>
              </a:rPr>
              <a:t>In </a:t>
            </a:r>
            <a:r>
              <a:rPr sz="3000" spc="-25" dirty="0">
                <a:latin typeface="Carlito"/>
                <a:cs typeface="Carlito"/>
              </a:rPr>
              <a:t>any </a:t>
            </a:r>
            <a:r>
              <a:rPr sz="3000" spc="-5" dirty="0">
                <a:latin typeface="Carlito"/>
                <a:cs typeface="Carlito"/>
              </a:rPr>
              <a:t>case, </a:t>
            </a:r>
            <a:r>
              <a:rPr sz="3000" spc="-15" dirty="0">
                <a:latin typeface="Carlito"/>
                <a:cs typeface="Carlito"/>
              </a:rPr>
              <a:t>you are </a:t>
            </a:r>
            <a:r>
              <a:rPr sz="3000" spc="-25" dirty="0">
                <a:latin typeface="Carlito"/>
                <a:cs typeface="Carlito"/>
              </a:rPr>
              <a:t>taken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dirty="0">
                <a:latin typeface="Carlito"/>
                <a:cs typeface="Carlito"/>
              </a:rPr>
              <a:t>7 </a:t>
            </a:r>
            <a:r>
              <a:rPr sz="3000" spc="-5" dirty="0">
                <a:latin typeface="Carlito"/>
                <a:cs typeface="Carlito"/>
              </a:rPr>
              <a:t>Log-on  </a:t>
            </a:r>
            <a:r>
              <a:rPr sz="3000" spc="-10" dirty="0">
                <a:latin typeface="Carlito"/>
                <a:cs typeface="Carlito"/>
              </a:rPr>
              <a:t>screen </a:t>
            </a:r>
            <a:r>
              <a:rPr sz="3000" spc="-15" dirty="0">
                <a:latin typeface="Carlito"/>
                <a:cs typeface="Carlito"/>
              </a:rPr>
              <a:t>where you are </a:t>
            </a:r>
            <a:r>
              <a:rPr sz="3000" spc="-20" dirty="0">
                <a:latin typeface="Carlito"/>
                <a:cs typeface="Carlito"/>
              </a:rPr>
              <a:t>prompted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15" dirty="0">
                <a:latin typeface="Carlito"/>
                <a:cs typeface="Carlito"/>
              </a:rPr>
              <a:t>enter your  </a:t>
            </a:r>
            <a:r>
              <a:rPr sz="3000" spc="-10" dirty="0">
                <a:latin typeface="Carlito"/>
                <a:cs typeface="Carlito"/>
              </a:rPr>
              <a:t>username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password. Note that </a:t>
            </a:r>
            <a:r>
              <a:rPr sz="3000" dirty="0">
                <a:latin typeface="Carlito"/>
                <a:cs typeface="Carlito"/>
              </a:rPr>
              <a:t>if the </a:t>
            </a:r>
            <a:r>
              <a:rPr sz="3000" spc="-5" dirty="0">
                <a:latin typeface="Carlito"/>
                <a:cs typeface="Carlito"/>
              </a:rPr>
              <a:t>username  </a:t>
            </a:r>
            <a:r>
              <a:rPr sz="3000" spc="-10" dirty="0">
                <a:latin typeface="Carlito"/>
                <a:cs typeface="Carlito"/>
              </a:rPr>
              <a:t>and/or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password provided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incorrect Windows  </a:t>
            </a:r>
            <a:r>
              <a:rPr sz="3000" dirty="0">
                <a:latin typeface="Carlito"/>
                <a:cs typeface="Carlito"/>
              </a:rPr>
              <a:t>7 </a:t>
            </a:r>
            <a:r>
              <a:rPr sz="3000" spc="-5" dirty="0">
                <a:latin typeface="Carlito"/>
                <a:cs typeface="Carlito"/>
              </a:rPr>
              <a:t>will </a:t>
            </a:r>
            <a:r>
              <a:rPr sz="3000" spc="-25" dirty="0">
                <a:latin typeface="Carlito"/>
                <a:cs typeface="Carlito"/>
              </a:rPr>
              <a:t>deny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dirty="0">
                <a:latin typeface="Carlito"/>
                <a:cs typeface="Carlito"/>
              </a:rPr>
              <a:t>access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45" dirty="0">
                <a:latin typeface="Carlito"/>
                <a:cs typeface="Carlito"/>
              </a:rPr>
              <a:t>Computer. </a:t>
            </a:r>
            <a:r>
              <a:rPr sz="3000" spc="-80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must  </a:t>
            </a:r>
            <a:r>
              <a:rPr sz="3000" spc="-25" dirty="0">
                <a:latin typeface="Carlito"/>
                <a:cs typeface="Carlito"/>
              </a:rPr>
              <a:t>therefore </a:t>
            </a:r>
            <a:r>
              <a:rPr sz="3000" spc="-10" dirty="0">
                <a:latin typeface="Carlito"/>
                <a:cs typeface="Carlito"/>
              </a:rPr>
              <a:t>remember </a:t>
            </a:r>
            <a:r>
              <a:rPr sz="3000" spc="-15" dirty="0">
                <a:latin typeface="Carlito"/>
                <a:cs typeface="Carlito"/>
              </a:rPr>
              <a:t>your password at </a:t>
            </a:r>
            <a:r>
              <a:rPr sz="3000" dirty="0">
                <a:latin typeface="Carlito"/>
                <a:cs typeface="Carlito"/>
              </a:rPr>
              <a:t>all</a:t>
            </a:r>
            <a:r>
              <a:rPr sz="3000" spc="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times.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6214" y="105613"/>
            <a:ext cx="622744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78989" marR="5080" indent="-2066925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Turning </a:t>
            </a:r>
            <a:r>
              <a:rPr sz="4000" spc="-20" dirty="0"/>
              <a:t>Off </a:t>
            </a:r>
            <a:r>
              <a:rPr sz="4000" spc="-5" dirty="0"/>
              <a:t>and </a:t>
            </a:r>
            <a:r>
              <a:rPr sz="4000" spc="-20" dirty="0"/>
              <a:t>Restarting </a:t>
            </a:r>
            <a:r>
              <a:rPr sz="4000" spc="-5" dirty="0"/>
              <a:t>the  </a:t>
            </a:r>
            <a:r>
              <a:rPr sz="4000" spc="-10" dirty="0"/>
              <a:t>Computer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1671954"/>
            <a:ext cx="8274050" cy="438848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ts val="292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20" dirty="0">
                <a:latin typeface="Carlito"/>
                <a:cs typeface="Carlito"/>
              </a:rPr>
              <a:t>Any </a:t>
            </a:r>
            <a:r>
              <a:rPr sz="2700" dirty="0">
                <a:latin typeface="Carlito"/>
                <a:cs typeface="Carlito"/>
              </a:rPr>
              <a:t>time </a:t>
            </a:r>
            <a:r>
              <a:rPr sz="2700" spc="-15" dirty="0">
                <a:latin typeface="Carlito"/>
                <a:cs typeface="Carlito"/>
              </a:rPr>
              <a:t>you </a:t>
            </a:r>
            <a:r>
              <a:rPr sz="2700" dirty="0">
                <a:latin typeface="Carlito"/>
                <a:cs typeface="Carlito"/>
              </a:rPr>
              <a:t>finished </a:t>
            </a:r>
            <a:r>
              <a:rPr sz="2700" spc="-5" dirty="0">
                <a:latin typeface="Carlito"/>
                <a:cs typeface="Carlito"/>
              </a:rPr>
              <a:t>using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35" dirty="0">
                <a:latin typeface="Carlito"/>
                <a:cs typeface="Carlito"/>
              </a:rPr>
              <a:t>Computer, </a:t>
            </a:r>
            <a:r>
              <a:rPr sz="2700" spc="-15" dirty="0">
                <a:latin typeface="Carlito"/>
                <a:cs typeface="Carlito"/>
              </a:rPr>
              <a:t>you </a:t>
            </a:r>
            <a:r>
              <a:rPr sz="2700" spc="-10" dirty="0">
                <a:latin typeface="Carlito"/>
                <a:cs typeface="Carlito"/>
              </a:rPr>
              <a:t>must </a:t>
            </a:r>
            <a:r>
              <a:rPr sz="2700" spc="-5" dirty="0">
                <a:latin typeface="Carlito"/>
                <a:cs typeface="Carlito"/>
              </a:rPr>
              <a:t>turn </a:t>
            </a:r>
            <a:r>
              <a:rPr sz="2700" dirty="0">
                <a:latin typeface="Carlito"/>
                <a:cs typeface="Carlito"/>
              </a:rPr>
              <a:t>it  </a:t>
            </a:r>
            <a:r>
              <a:rPr sz="2700" spc="-50" dirty="0">
                <a:latin typeface="Carlito"/>
                <a:cs typeface="Carlito"/>
              </a:rPr>
              <a:t>off.</a:t>
            </a:r>
            <a:endParaRPr sz="2700">
              <a:latin typeface="Carlito"/>
              <a:cs typeface="Carlito"/>
            </a:endParaRPr>
          </a:p>
          <a:p>
            <a:pPr marL="355600" marR="356870" indent="-342900">
              <a:lnSpc>
                <a:spcPts val="292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following </a:t>
            </a:r>
            <a:r>
              <a:rPr sz="2700" dirty="0">
                <a:latin typeface="Carlito"/>
                <a:cs typeface="Carlito"/>
              </a:rPr>
              <a:t>is the </a:t>
            </a:r>
            <a:r>
              <a:rPr sz="2700" spc="-15" dirty="0">
                <a:latin typeface="Carlito"/>
                <a:cs typeface="Carlito"/>
              </a:rPr>
              <a:t>correct procedure </a:t>
            </a:r>
            <a:r>
              <a:rPr sz="2700" spc="-25" dirty="0">
                <a:latin typeface="Carlito"/>
                <a:cs typeface="Carlito"/>
              </a:rPr>
              <a:t>for </a:t>
            </a:r>
            <a:r>
              <a:rPr sz="2700" spc="-5" dirty="0">
                <a:latin typeface="Carlito"/>
                <a:cs typeface="Carlito"/>
              </a:rPr>
              <a:t>turning </a:t>
            </a:r>
            <a:r>
              <a:rPr sz="2700" spc="-10" dirty="0">
                <a:latin typeface="Carlito"/>
                <a:cs typeface="Carlito"/>
              </a:rPr>
              <a:t>off </a:t>
            </a:r>
            <a:r>
              <a:rPr sz="2700" dirty="0">
                <a:latin typeface="Carlito"/>
                <a:cs typeface="Carlito"/>
              </a:rPr>
              <a:t>a  </a:t>
            </a:r>
            <a:r>
              <a:rPr sz="2700" spc="-40" dirty="0">
                <a:latin typeface="Carlito"/>
                <a:cs typeface="Carlito"/>
              </a:rPr>
              <a:t>Computer.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20" dirty="0">
                <a:latin typeface="Carlito"/>
                <a:cs typeface="Carlito"/>
              </a:rPr>
              <a:t>Failure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do so </a:t>
            </a:r>
            <a:r>
              <a:rPr sz="2700" spc="-20" dirty="0">
                <a:latin typeface="Carlito"/>
                <a:cs typeface="Carlito"/>
              </a:rPr>
              <a:t>may </a:t>
            </a:r>
            <a:r>
              <a:rPr sz="2700" spc="-10" dirty="0">
                <a:latin typeface="Carlito"/>
                <a:cs typeface="Carlito"/>
              </a:rPr>
              <a:t>at </a:t>
            </a:r>
            <a:r>
              <a:rPr sz="2700" dirty="0">
                <a:latin typeface="Carlito"/>
                <a:cs typeface="Carlito"/>
              </a:rPr>
              <a:t>times </a:t>
            </a:r>
            <a:r>
              <a:rPr sz="2700" spc="-10" dirty="0">
                <a:latin typeface="Carlito"/>
                <a:cs typeface="Carlito"/>
              </a:rPr>
              <a:t>result </a:t>
            </a:r>
            <a:r>
              <a:rPr sz="2700" dirty="0">
                <a:latin typeface="Carlito"/>
                <a:cs typeface="Carlito"/>
              </a:rPr>
              <a:t>in loss </a:t>
            </a:r>
            <a:r>
              <a:rPr sz="2700" spc="-5" dirty="0">
                <a:latin typeface="Carlito"/>
                <a:cs typeface="Carlito"/>
              </a:rPr>
              <a:t>of </a:t>
            </a:r>
            <a:r>
              <a:rPr sz="2700" spc="-20" dirty="0">
                <a:latin typeface="Carlito"/>
                <a:cs typeface="Carlito"/>
              </a:rPr>
              <a:t>data </a:t>
            </a:r>
            <a:r>
              <a:rPr sz="2700" spc="-5" dirty="0">
                <a:latin typeface="Carlito"/>
                <a:cs typeface="Carlito"/>
              </a:rPr>
              <a:t>or file.</a:t>
            </a:r>
            <a:endParaRPr sz="2700">
              <a:latin typeface="Carlito"/>
              <a:cs typeface="Carlito"/>
            </a:endParaRPr>
          </a:p>
          <a:p>
            <a:pPr marL="355600" marR="88265" indent="-342900">
              <a:lnSpc>
                <a:spcPct val="9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  <a:tab pos="2059305" algn="l"/>
              </a:tabLst>
            </a:pPr>
            <a:r>
              <a:rPr sz="2700" spc="-20" dirty="0">
                <a:latin typeface="Carlito"/>
                <a:cs typeface="Carlito"/>
              </a:rPr>
              <a:t>For </a:t>
            </a:r>
            <a:r>
              <a:rPr sz="2700" spc="-15" dirty="0">
                <a:latin typeface="Carlito"/>
                <a:cs typeface="Carlito"/>
              </a:rPr>
              <a:t>example, </a:t>
            </a:r>
            <a:r>
              <a:rPr sz="2700" spc="-5" dirty="0">
                <a:latin typeface="Carlito"/>
                <a:cs typeface="Carlito"/>
              </a:rPr>
              <a:t>whenever </a:t>
            </a:r>
            <a:r>
              <a:rPr sz="2700" spc="-15" dirty="0">
                <a:latin typeface="Carlito"/>
                <a:cs typeface="Carlito"/>
              </a:rPr>
              <a:t>you </a:t>
            </a:r>
            <a:r>
              <a:rPr sz="2700" spc="-5" dirty="0">
                <a:latin typeface="Carlito"/>
                <a:cs typeface="Carlito"/>
              </a:rPr>
              <a:t>turn </a:t>
            </a:r>
            <a:r>
              <a:rPr sz="2700" spc="-15" dirty="0">
                <a:latin typeface="Carlito"/>
                <a:cs typeface="Carlito"/>
              </a:rPr>
              <a:t>your computer </a:t>
            </a:r>
            <a:r>
              <a:rPr sz="2700" spc="-10" dirty="0">
                <a:latin typeface="Carlito"/>
                <a:cs typeface="Carlito"/>
              </a:rPr>
              <a:t>off </a:t>
            </a:r>
            <a:r>
              <a:rPr sz="2700" spc="-15" dirty="0">
                <a:latin typeface="Carlito"/>
                <a:cs typeface="Carlito"/>
              </a:rPr>
              <a:t>by  </a:t>
            </a:r>
            <a:r>
              <a:rPr sz="2700" spc="-10" dirty="0">
                <a:latin typeface="Carlito"/>
                <a:cs typeface="Carlito"/>
              </a:rPr>
              <a:t>switching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power off </a:t>
            </a:r>
            <a:r>
              <a:rPr sz="2700" spc="-15" dirty="0">
                <a:latin typeface="Carlito"/>
                <a:cs typeface="Carlito"/>
              </a:rPr>
              <a:t>you are likely </a:t>
            </a:r>
            <a:r>
              <a:rPr sz="2700" spc="-20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damage </a:t>
            </a:r>
            <a:r>
              <a:rPr sz="2700" spc="-15" dirty="0">
                <a:latin typeface="Carlito"/>
                <a:cs typeface="Carlito"/>
              </a:rPr>
              <a:t>your  </a:t>
            </a:r>
            <a:r>
              <a:rPr sz="2700" spc="-5" dirty="0">
                <a:latin typeface="Carlito"/>
                <a:cs typeface="Carlito"/>
              </a:rPr>
              <a:t>Windows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7	</a:t>
            </a:r>
            <a:r>
              <a:rPr sz="2700" spc="-10" dirty="0">
                <a:latin typeface="Carlito"/>
                <a:cs typeface="Carlito"/>
              </a:rPr>
              <a:t>settings </a:t>
            </a:r>
            <a:r>
              <a:rPr sz="2700" dirty="0">
                <a:latin typeface="Carlito"/>
                <a:cs typeface="Carlito"/>
              </a:rPr>
              <a:t>and the </a:t>
            </a:r>
            <a:r>
              <a:rPr sz="2700" spc="-15" dirty="0">
                <a:latin typeface="Carlito"/>
                <a:cs typeface="Carlito"/>
              </a:rPr>
              <a:t>next </a:t>
            </a:r>
            <a:r>
              <a:rPr sz="2700" dirty="0">
                <a:latin typeface="Carlito"/>
                <a:cs typeface="Carlito"/>
              </a:rPr>
              <a:t>time </a:t>
            </a:r>
            <a:r>
              <a:rPr sz="2700" spc="-15" dirty="0">
                <a:latin typeface="Carlito"/>
                <a:cs typeface="Carlito"/>
              </a:rPr>
              <a:t>you </a:t>
            </a:r>
            <a:r>
              <a:rPr sz="2700" dirty="0">
                <a:latin typeface="Carlito"/>
                <a:cs typeface="Carlito"/>
              </a:rPr>
              <a:t>turn </a:t>
            </a:r>
            <a:r>
              <a:rPr sz="2700" spc="-15" dirty="0">
                <a:latin typeface="Carlito"/>
                <a:cs typeface="Carlito"/>
              </a:rPr>
              <a:t>your  </a:t>
            </a:r>
            <a:r>
              <a:rPr sz="2700" spc="-10" dirty="0">
                <a:latin typeface="Carlito"/>
                <a:cs typeface="Carlito"/>
              </a:rPr>
              <a:t>Computer </a:t>
            </a:r>
            <a:r>
              <a:rPr sz="2700" spc="-5" dirty="0">
                <a:latin typeface="Carlito"/>
                <a:cs typeface="Carlito"/>
              </a:rPr>
              <a:t>on Windows </a:t>
            </a:r>
            <a:r>
              <a:rPr sz="2700" dirty="0">
                <a:latin typeface="Carlito"/>
                <a:cs typeface="Carlito"/>
              </a:rPr>
              <a:t>7 will </a:t>
            </a:r>
            <a:r>
              <a:rPr sz="2700" spc="-10" dirty="0">
                <a:latin typeface="Carlito"/>
                <a:cs typeface="Carlito"/>
              </a:rPr>
              <a:t>display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5" dirty="0">
                <a:latin typeface="Carlito"/>
                <a:cs typeface="Carlito"/>
              </a:rPr>
              <a:t>message </a:t>
            </a:r>
            <a:r>
              <a:rPr sz="2700" spc="-10" dirty="0">
                <a:latin typeface="Carlito"/>
                <a:cs typeface="Carlito"/>
              </a:rPr>
              <a:t>that </a:t>
            </a:r>
            <a:r>
              <a:rPr sz="2700" spc="-15" dirty="0">
                <a:latin typeface="Carlito"/>
                <a:cs typeface="Carlito"/>
              </a:rPr>
              <a:t>you  </a:t>
            </a:r>
            <a:r>
              <a:rPr sz="2700" spc="-5" dirty="0">
                <a:latin typeface="Carlito"/>
                <a:cs typeface="Carlito"/>
              </a:rPr>
              <a:t>did not turn </a:t>
            </a:r>
            <a:r>
              <a:rPr sz="2700" spc="-10" dirty="0">
                <a:latin typeface="Carlito"/>
                <a:cs typeface="Carlito"/>
              </a:rPr>
              <a:t>off </a:t>
            </a:r>
            <a:r>
              <a:rPr sz="2700" spc="-15" dirty="0">
                <a:latin typeface="Carlito"/>
                <a:cs typeface="Carlito"/>
              </a:rPr>
              <a:t>your </a:t>
            </a:r>
            <a:r>
              <a:rPr sz="2700" spc="-10" dirty="0">
                <a:latin typeface="Carlito"/>
                <a:cs typeface="Carlito"/>
              </a:rPr>
              <a:t>computer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proper </a:t>
            </a:r>
            <a:r>
              <a:rPr sz="2700" spc="-30" dirty="0">
                <a:latin typeface="Carlito"/>
                <a:cs typeface="Carlito"/>
              </a:rPr>
              <a:t>way </a:t>
            </a:r>
            <a:r>
              <a:rPr sz="2700" dirty="0">
                <a:latin typeface="Carlito"/>
                <a:cs typeface="Carlito"/>
              </a:rPr>
              <a:t>and will  </a:t>
            </a:r>
            <a:r>
              <a:rPr sz="2700" spc="-15" dirty="0">
                <a:latin typeface="Carlito"/>
                <a:cs typeface="Carlito"/>
              </a:rPr>
              <a:t>you </a:t>
            </a:r>
            <a:r>
              <a:rPr sz="2700" spc="-20" dirty="0">
                <a:latin typeface="Carlito"/>
                <a:cs typeface="Carlito"/>
              </a:rPr>
              <a:t>like </a:t>
            </a:r>
            <a:r>
              <a:rPr sz="2700" spc="-15" dirty="0">
                <a:latin typeface="Carlito"/>
                <a:cs typeface="Carlito"/>
              </a:rPr>
              <a:t>to start your </a:t>
            </a:r>
            <a:r>
              <a:rPr sz="2700" spc="-10" dirty="0">
                <a:latin typeface="Carlito"/>
                <a:cs typeface="Carlito"/>
              </a:rPr>
              <a:t>computer </a:t>
            </a:r>
            <a:r>
              <a:rPr sz="2700" dirty="0">
                <a:latin typeface="Carlito"/>
                <a:cs typeface="Carlito"/>
              </a:rPr>
              <a:t>in a </a:t>
            </a:r>
            <a:r>
              <a:rPr sz="2700" spc="-25" dirty="0">
                <a:latin typeface="Carlito"/>
                <a:cs typeface="Carlito"/>
              </a:rPr>
              <a:t>‘</a:t>
            </a:r>
            <a:r>
              <a:rPr sz="2700" spc="-25" dirty="0">
                <a:solidFill>
                  <a:srgbClr val="FF0000"/>
                </a:solidFill>
                <a:latin typeface="Carlito"/>
                <a:cs typeface="Carlito"/>
              </a:rPr>
              <a:t>safe</a:t>
            </a:r>
            <a:r>
              <a:rPr sz="2700" spc="-25" dirty="0">
                <a:latin typeface="Carlito"/>
                <a:cs typeface="Carlito"/>
              </a:rPr>
              <a:t>’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mode?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5800" y="192150"/>
            <a:ext cx="622681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79625" marR="5080" indent="-2066925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Turning </a:t>
            </a:r>
            <a:r>
              <a:rPr sz="4000" spc="-20" dirty="0"/>
              <a:t>Off </a:t>
            </a:r>
            <a:r>
              <a:rPr sz="4000" spc="-5" dirty="0"/>
              <a:t>and </a:t>
            </a:r>
            <a:r>
              <a:rPr sz="4000" spc="-20" dirty="0"/>
              <a:t>Restarting </a:t>
            </a:r>
            <a:r>
              <a:rPr sz="4000" spc="-5" dirty="0"/>
              <a:t>the  </a:t>
            </a:r>
            <a:r>
              <a:rPr sz="4000" spc="-10" dirty="0"/>
              <a:t>Computer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7749540" cy="48583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2900" algn="just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sz="3000" spc="-130" dirty="0">
                <a:latin typeface="Carlito"/>
                <a:cs typeface="Carlito"/>
              </a:rPr>
              <a:t>To </a:t>
            </a:r>
            <a:r>
              <a:rPr sz="3000" spc="-15" dirty="0">
                <a:latin typeface="Carlito"/>
                <a:cs typeface="Carlito"/>
              </a:rPr>
              <a:t>restart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computer: Most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time, </a:t>
            </a:r>
            <a:r>
              <a:rPr sz="3000" spc="-10" dirty="0">
                <a:latin typeface="Carlito"/>
                <a:cs typeface="Carlito"/>
              </a:rPr>
              <a:t>after 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0" dirty="0">
                <a:latin typeface="Carlito"/>
                <a:cs typeface="Carlito"/>
              </a:rPr>
              <a:t>installed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new </a:t>
            </a:r>
            <a:r>
              <a:rPr sz="3000" spc="-10" dirty="0">
                <a:latin typeface="Carlito"/>
                <a:cs typeface="Carlito"/>
              </a:rPr>
              <a:t>driver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5" dirty="0">
                <a:latin typeface="Carlito"/>
                <a:cs typeface="Carlito"/>
              </a:rPr>
              <a:t>program, you  are prompted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20" dirty="0">
                <a:latin typeface="Carlito"/>
                <a:cs typeface="Carlito"/>
              </a:rPr>
              <a:t>re-start </a:t>
            </a:r>
            <a:r>
              <a:rPr sz="3000" spc="-15" dirty="0">
                <a:latin typeface="Carlito"/>
                <a:cs typeface="Carlito"/>
              </a:rPr>
              <a:t>your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spc="-45" dirty="0">
                <a:latin typeface="Carlito"/>
                <a:cs typeface="Carlito"/>
              </a:rPr>
              <a:t>computer.</a:t>
            </a:r>
            <a:endParaRPr sz="3000">
              <a:latin typeface="Carlito"/>
              <a:cs typeface="Carlito"/>
            </a:endParaRPr>
          </a:p>
          <a:p>
            <a:pPr marL="355600" marR="74295" indent="-342900">
              <a:lnSpc>
                <a:spcPts val="324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enable the </a:t>
            </a:r>
            <a:r>
              <a:rPr sz="3000" spc="-10" dirty="0">
                <a:latin typeface="Carlito"/>
                <a:cs typeface="Carlito"/>
              </a:rPr>
              <a:t>Computer to </a:t>
            </a:r>
            <a:r>
              <a:rPr sz="3000" spc="-20" dirty="0">
                <a:latin typeface="Carlito"/>
                <a:cs typeface="Carlito"/>
              </a:rPr>
              <a:t>recognize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new </a:t>
            </a:r>
            <a:r>
              <a:rPr sz="3000" spc="-5" dirty="0">
                <a:latin typeface="Carlito"/>
                <a:cs typeface="Carlito"/>
              </a:rPr>
              <a:t>device </a:t>
            </a:r>
            <a:r>
              <a:rPr sz="3000" dirty="0">
                <a:latin typeface="Carlito"/>
                <a:cs typeface="Carlito"/>
              </a:rPr>
              <a:t>whose </a:t>
            </a:r>
            <a:r>
              <a:rPr sz="3000" spc="-15" dirty="0">
                <a:latin typeface="Carlito"/>
                <a:cs typeface="Carlito"/>
              </a:rPr>
              <a:t>drivers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0" dirty="0">
                <a:latin typeface="Carlito"/>
                <a:cs typeface="Carlito"/>
              </a:rPr>
              <a:t>just </a:t>
            </a:r>
            <a:r>
              <a:rPr sz="3000" spc="-5" dirty="0">
                <a:latin typeface="Carlito"/>
                <a:cs typeface="Carlito"/>
              </a:rPr>
              <a:t>been  </a:t>
            </a:r>
            <a:r>
              <a:rPr sz="3000" spc="-10" dirty="0">
                <a:latin typeface="Carlito"/>
                <a:cs typeface="Carlito"/>
              </a:rPr>
              <a:t>installed.</a:t>
            </a:r>
            <a:endParaRPr sz="3000">
              <a:latin typeface="Carlito"/>
              <a:cs typeface="Carlito"/>
            </a:endParaRPr>
          </a:p>
          <a:p>
            <a:pPr marL="355600" marR="303530" indent="-342900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procedure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5" dirty="0">
                <a:latin typeface="Carlito"/>
                <a:cs typeface="Carlito"/>
              </a:rPr>
              <a:t>re-starting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computer is </a:t>
            </a:r>
            <a:r>
              <a:rPr sz="3000" dirty="0">
                <a:latin typeface="Carlito"/>
                <a:cs typeface="Carlito"/>
              </a:rPr>
              <a:t>as  </a:t>
            </a:r>
            <a:r>
              <a:rPr sz="3000" spc="-20" dirty="0">
                <a:latin typeface="Carlito"/>
                <a:cs typeface="Carlito"/>
              </a:rPr>
              <a:t>follows:</a:t>
            </a:r>
            <a:endParaRPr sz="30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rlito"/>
                <a:cs typeface="Carlito"/>
              </a:rPr>
              <a:t>Click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b="1" spc="-5" dirty="0">
                <a:latin typeface="Carlito"/>
                <a:cs typeface="Carlito"/>
              </a:rPr>
              <a:t>Start</a:t>
            </a:r>
            <a:r>
              <a:rPr sz="2600" b="1" spc="-35" dirty="0">
                <a:latin typeface="Carlito"/>
                <a:cs typeface="Carlito"/>
              </a:rPr>
              <a:t> </a:t>
            </a:r>
            <a:r>
              <a:rPr sz="2600" b="1" spc="-5" dirty="0">
                <a:latin typeface="Carlito"/>
                <a:cs typeface="Carlito"/>
              </a:rPr>
              <a:t>menu</a:t>
            </a:r>
            <a:r>
              <a:rPr sz="2600" spc="-5" dirty="0">
                <a:latin typeface="Carlito"/>
                <a:cs typeface="Carlito"/>
              </a:rPr>
              <a:t>.</a:t>
            </a:r>
            <a:endParaRPr sz="26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rlito"/>
                <a:cs typeface="Carlito"/>
              </a:rPr>
              <a:t>Click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arrow </a:t>
            </a:r>
            <a:r>
              <a:rPr sz="2600" spc="-15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right 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shut down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spc="-15" dirty="0">
                <a:latin typeface="Carlito"/>
                <a:cs typeface="Carlito"/>
              </a:rPr>
              <a:t>button</a:t>
            </a:r>
            <a:endParaRPr sz="26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rlito"/>
                <a:cs typeface="Carlito"/>
              </a:rPr>
              <a:t>Click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Restart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option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4501" y="461899"/>
            <a:ext cx="41783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Running</a:t>
            </a:r>
            <a:r>
              <a:rPr spc="-50" dirty="0"/>
              <a:t> </a:t>
            </a:r>
            <a:r>
              <a:rPr spc="-20" dirty="0"/>
              <a:t>Programs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9178"/>
            <a:ext cx="8004809" cy="43186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402590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Running a </a:t>
            </a:r>
            <a:r>
              <a:rPr sz="3200" spc="-10" dirty="0">
                <a:latin typeface="Carlito"/>
                <a:cs typeface="Carlito"/>
              </a:rPr>
              <a:t>Computer </a:t>
            </a:r>
            <a:r>
              <a:rPr sz="3200" spc="-5" dirty="0">
                <a:latin typeface="Carlito"/>
                <a:cs typeface="Carlito"/>
              </a:rPr>
              <a:t>(application) </a:t>
            </a:r>
            <a:r>
              <a:rPr sz="3200" spc="-15" dirty="0">
                <a:latin typeface="Carlito"/>
                <a:cs typeface="Carlito"/>
              </a:rPr>
              <a:t>Programs  </a:t>
            </a:r>
            <a:r>
              <a:rPr sz="3200" dirty="0">
                <a:latin typeface="Carlito"/>
                <a:cs typeface="Carlito"/>
              </a:rPr>
              <a:t>enable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do </a:t>
            </a:r>
            <a:r>
              <a:rPr sz="3200" spc="-10" dirty="0">
                <a:latin typeface="Carlito"/>
                <a:cs typeface="Carlito"/>
              </a:rPr>
              <a:t>work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45" dirty="0">
                <a:latin typeface="Carlito"/>
                <a:cs typeface="Carlito"/>
              </a:rPr>
              <a:t>computer.</a:t>
            </a:r>
            <a:endParaRPr sz="3200">
              <a:latin typeface="Carlito"/>
              <a:cs typeface="Carlito"/>
            </a:endParaRPr>
          </a:p>
          <a:p>
            <a:pPr marL="355600" marR="13081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On </a:t>
            </a:r>
            <a:r>
              <a:rPr sz="3200" spc="-10" dirty="0">
                <a:latin typeface="Carlito"/>
                <a:cs typeface="Carlito"/>
              </a:rPr>
              <a:t>your Computer </a:t>
            </a:r>
            <a:r>
              <a:rPr sz="3200" spc="-5" dirty="0">
                <a:latin typeface="Carlito"/>
                <a:cs typeface="Carlito"/>
              </a:rPr>
              <a:t>every application </a:t>
            </a:r>
            <a:r>
              <a:rPr sz="3200" spc="-15" dirty="0">
                <a:latin typeface="Carlito"/>
                <a:cs typeface="Carlito"/>
              </a:rPr>
              <a:t>program  </a:t>
            </a:r>
            <a:r>
              <a:rPr sz="3200" spc="-5" dirty="0">
                <a:latin typeface="Carlito"/>
                <a:cs typeface="Carlito"/>
              </a:rPr>
              <a:t>has </a:t>
            </a:r>
            <a:r>
              <a:rPr sz="3200" dirty="0">
                <a:latin typeface="Carlito"/>
                <a:cs typeface="Carlito"/>
              </a:rPr>
              <a:t>been </a:t>
            </a:r>
            <a:r>
              <a:rPr sz="3200" spc="-10" dirty="0">
                <a:latin typeface="Carlito"/>
                <a:cs typeface="Carlito"/>
              </a:rPr>
              <a:t>installed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particular</a:t>
            </a:r>
            <a:r>
              <a:rPr sz="3200" spc="8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work.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For example, </a:t>
            </a:r>
            <a:r>
              <a:rPr sz="3200" spc="-10" dirty="0">
                <a:latin typeface="Carlito"/>
                <a:cs typeface="Carlito"/>
              </a:rPr>
              <a:t>if you intend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type a </a:t>
            </a:r>
            <a:r>
              <a:rPr sz="3200" spc="-5" dirty="0">
                <a:latin typeface="Carlito"/>
                <a:cs typeface="Carlito"/>
              </a:rPr>
              <a:t>document  </a:t>
            </a:r>
            <a:r>
              <a:rPr sz="3200" dirty="0">
                <a:latin typeface="Carlito"/>
                <a:cs typeface="Carlito"/>
              </a:rPr>
              <a:t>then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dirty="0">
                <a:latin typeface="Carlito"/>
                <a:cs typeface="Carlito"/>
              </a:rPr>
              <a:t>will </a:t>
            </a:r>
            <a:r>
              <a:rPr sz="3200" spc="-20" dirty="0">
                <a:latin typeface="Carlito"/>
                <a:cs typeface="Carlito"/>
              </a:rPr>
              <a:t>have to </a:t>
            </a:r>
            <a:r>
              <a:rPr sz="3200" spc="-10" dirty="0">
                <a:latin typeface="Carlito"/>
                <a:cs typeface="Carlito"/>
              </a:rPr>
              <a:t>install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20" dirty="0">
                <a:latin typeface="Carlito"/>
                <a:cs typeface="Carlito"/>
              </a:rPr>
              <a:t>word </a:t>
            </a:r>
            <a:r>
              <a:rPr sz="3200" spc="-10" dirty="0">
                <a:latin typeface="Carlito"/>
                <a:cs typeface="Carlito"/>
              </a:rPr>
              <a:t>processor 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10" dirty="0">
                <a:latin typeface="Carlito"/>
                <a:cs typeface="Carlito"/>
              </a:rPr>
              <a:t>Microsoft </a:t>
            </a:r>
            <a:r>
              <a:rPr sz="3200" spc="-45" dirty="0">
                <a:latin typeface="Carlito"/>
                <a:cs typeface="Carlito"/>
              </a:rPr>
              <a:t>Word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spc="-10" dirty="0">
                <a:latin typeface="Carlito"/>
                <a:cs typeface="Carlito"/>
              </a:rPr>
              <a:t>your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45" dirty="0">
                <a:latin typeface="Carlito"/>
                <a:cs typeface="Carlito"/>
              </a:rPr>
              <a:t>Computer.</a:t>
            </a:r>
            <a:endParaRPr sz="3200">
              <a:latin typeface="Carlito"/>
              <a:cs typeface="Carlito"/>
            </a:endParaRPr>
          </a:p>
          <a:p>
            <a:pPr marL="355600" marR="478155" indent="-342900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80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easily </a:t>
            </a:r>
            <a:r>
              <a:rPr sz="3200" dirty="0">
                <a:latin typeface="Carlito"/>
                <a:cs typeface="Carlito"/>
              </a:rPr>
              <a:t>run a </a:t>
            </a:r>
            <a:r>
              <a:rPr sz="3200" spc="-15" dirty="0">
                <a:latin typeface="Carlito"/>
                <a:cs typeface="Carlito"/>
              </a:rPr>
              <a:t>program from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Start  </a:t>
            </a:r>
            <a:r>
              <a:rPr sz="3200" dirty="0">
                <a:latin typeface="Carlito"/>
                <a:cs typeface="Carlito"/>
              </a:rPr>
              <a:t>menu </a:t>
            </a:r>
            <a:r>
              <a:rPr sz="3200" spc="-5" dirty="0">
                <a:latin typeface="Carlito"/>
                <a:cs typeface="Carlito"/>
              </a:rPr>
              <a:t>using </a:t>
            </a:r>
            <a:r>
              <a:rPr sz="3200" dirty="0">
                <a:latin typeface="Carlito"/>
                <a:cs typeface="Carlito"/>
              </a:rPr>
              <a:t>the All </a:t>
            </a:r>
            <a:r>
              <a:rPr sz="3200" spc="-15" dirty="0">
                <a:latin typeface="Carlito"/>
                <a:cs typeface="Carlito"/>
              </a:rPr>
              <a:t>Programs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button.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1023" y="121742"/>
            <a:ext cx="41751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Running</a:t>
            </a:r>
            <a:r>
              <a:rPr spc="-70" dirty="0"/>
              <a:t> </a:t>
            </a:r>
            <a:r>
              <a:rPr spc="-20" dirty="0"/>
              <a:t>Programs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67459"/>
            <a:ext cx="7766684" cy="487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3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run a </a:t>
            </a:r>
            <a:r>
              <a:rPr sz="3000" spc="-20" dirty="0">
                <a:latin typeface="Carlito"/>
                <a:cs typeface="Carlito"/>
              </a:rPr>
              <a:t>program </a:t>
            </a:r>
            <a:r>
              <a:rPr sz="3000" spc="-5" dirty="0">
                <a:latin typeface="Carlito"/>
                <a:cs typeface="Carlito"/>
              </a:rPr>
              <a:t>using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Start</a:t>
            </a:r>
            <a:r>
              <a:rPr sz="3000" spc="12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menu:</a:t>
            </a:r>
            <a:endParaRPr sz="3000">
              <a:latin typeface="Carlito"/>
              <a:cs typeface="Carlito"/>
            </a:endParaRPr>
          </a:p>
          <a:p>
            <a:pPr marL="440690" indent="-428625">
              <a:lnSpc>
                <a:spcPct val="100000"/>
              </a:lnSpc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sz="3000" spc="-5" dirty="0">
                <a:latin typeface="Carlito"/>
                <a:cs typeface="Carlito"/>
              </a:rPr>
              <a:t>Click </a:t>
            </a:r>
            <a:r>
              <a:rPr sz="3000" spc="-10" dirty="0">
                <a:latin typeface="Carlito"/>
                <a:cs typeface="Carlito"/>
              </a:rPr>
              <a:t>Start.</a:t>
            </a:r>
            <a:endParaRPr sz="3000">
              <a:latin typeface="Carlito"/>
              <a:cs typeface="Carlito"/>
            </a:endParaRPr>
          </a:p>
          <a:p>
            <a:pPr marL="355600" marR="86360" indent="-3429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Click </a:t>
            </a:r>
            <a:r>
              <a:rPr sz="3000" dirty="0">
                <a:latin typeface="Carlito"/>
                <a:cs typeface="Carlito"/>
              </a:rPr>
              <a:t>All </a:t>
            </a:r>
            <a:r>
              <a:rPr sz="3000" spc="-15" dirty="0">
                <a:latin typeface="Carlito"/>
                <a:cs typeface="Carlito"/>
              </a:rPr>
              <a:t>Programs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move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mouse </a:t>
            </a:r>
            <a:r>
              <a:rPr sz="3000" spc="-10" dirty="0">
                <a:latin typeface="Carlito"/>
                <a:cs typeface="Carlito"/>
              </a:rPr>
              <a:t>pointer  over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20" dirty="0">
                <a:latin typeface="Carlito"/>
                <a:cs typeface="Carlito"/>
              </a:rPr>
              <a:t>program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intend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run </a:t>
            </a:r>
            <a:r>
              <a:rPr sz="3000" spc="-5" dirty="0">
                <a:latin typeface="Carlito"/>
                <a:cs typeface="Carlito"/>
              </a:rPr>
              <a:t>(it </a:t>
            </a:r>
            <a:r>
              <a:rPr sz="3000" dirty="0">
                <a:latin typeface="Carlito"/>
                <a:cs typeface="Carlito"/>
              </a:rPr>
              <a:t>turns  </a:t>
            </a:r>
            <a:r>
              <a:rPr sz="3000" spc="-10" dirty="0">
                <a:latin typeface="Carlito"/>
                <a:cs typeface="Carlito"/>
              </a:rPr>
              <a:t>blue).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Click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run the </a:t>
            </a:r>
            <a:r>
              <a:rPr sz="3000" spc="-20" dirty="0">
                <a:latin typeface="Carlito"/>
                <a:cs typeface="Carlito"/>
              </a:rPr>
              <a:t>program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0" dirty="0">
                <a:latin typeface="Carlito"/>
                <a:cs typeface="Carlito"/>
              </a:rPr>
              <a:t>highlighted.  (Note </a:t>
            </a:r>
            <a:r>
              <a:rPr sz="3000" spc="-5" dirty="0">
                <a:latin typeface="Carlito"/>
                <a:cs typeface="Carlito"/>
              </a:rPr>
              <a:t>that </a:t>
            </a:r>
            <a:r>
              <a:rPr sz="3000" spc="-15" dirty="0">
                <a:latin typeface="Carlito"/>
                <a:cs typeface="Carlito"/>
              </a:rPr>
              <a:t>programs </a:t>
            </a:r>
            <a:r>
              <a:rPr sz="3000" dirty="0">
                <a:latin typeface="Carlito"/>
                <a:cs typeface="Carlito"/>
              </a:rPr>
              <a:t>with small </a:t>
            </a:r>
            <a:r>
              <a:rPr sz="3000" spc="-5" dirty="0">
                <a:latin typeface="Carlito"/>
                <a:cs typeface="Carlito"/>
              </a:rPr>
              <a:t>black </a:t>
            </a:r>
            <a:r>
              <a:rPr sz="3000" spc="-15" dirty="0">
                <a:latin typeface="Carlito"/>
                <a:cs typeface="Carlito"/>
              </a:rPr>
              <a:t>arrows  </a:t>
            </a:r>
            <a:r>
              <a:rPr sz="3000" spc="-5" dirty="0">
                <a:latin typeface="Carlito"/>
                <a:cs typeface="Carlito"/>
              </a:rPr>
              <a:t>beside them will open another cascading </a:t>
            </a:r>
            <a:r>
              <a:rPr sz="3000" dirty="0">
                <a:latin typeface="Carlito"/>
                <a:cs typeface="Carlito"/>
              </a:rPr>
              <a:t>menu.  </a:t>
            </a:r>
            <a:r>
              <a:rPr sz="3000" spc="-10" dirty="0">
                <a:latin typeface="Carlito"/>
                <a:cs typeface="Carlito"/>
              </a:rPr>
              <a:t>Just </a:t>
            </a:r>
            <a:r>
              <a:rPr sz="3000" spc="-20" dirty="0">
                <a:latin typeface="Carlito"/>
                <a:cs typeface="Carlito"/>
              </a:rPr>
              <a:t>drag </a:t>
            </a:r>
            <a:r>
              <a:rPr sz="3000" spc="-10" dirty="0">
                <a:latin typeface="Carlito"/>
                <a:cs typeface="Carlito"/>
              </a:rPr>
              <a:t>your </a:t>
            </a:r>
            <a:r>
              <a:rPr sz="3000" spc="-5" dirty="0">
                <a:latin typeface="Carlito"/>
                <a:cs typeface="Carlito"/>
              </a:rPr>
              <a:t>mouse </a:t>
            </a:r>
            <a:r>
              <a:rPr sz="3000" spc="-10" dirty="0">
                <a:latin typeface="Carlito"/>
                <a:cs typeface="Carlito"/>
              </a:rPr>
              <a:t>pointer to </a:t>
            </a:r>
            <a:r>
              <a:rPr sz="3000" spc="-25" dirty="0">
                <a:latin typeface="Carlito"/>
                <a:cs typeface="Carlito"/>
              </a:rPr>
              <a:t>make </a:t>
            </a:r>
            <a:r>
              <a:rPr sz="3000" spc="-15" dirty="0">
                <a:latin typeface="Carlito"/>
                <a:cs typeface="Carlito"/>
              </a:rPr>
              <a:t>your  </a:t>
            </a:r>
            <a:r>
              <a:rPr sz="3000" spc="-5" dirty="0">
                <a:latin typeface="Carlito"/>
                <a:cs typeface="Carlito"/>
              </a:rPr>
              <a:t>selection.)</a:t>
            </a:r>
            <a:endParaRPr sz="3000">
              <a:latin typeface="Carlito"/>
              <a:cs typeface="Carlito"/>
            </a:endParaRPr>
          </a:p>
          <a:p>
            <a:pPr marL="355600" marR="225425" indent="-342900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  <a:tab pos="355600" algn="l"/>
                <a:tab pos="4796155" algn="l"/>
              </a:tabLst>
            </a:pPr>
            <a:r>
              <a:rPr sz="3000" spc="-13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close a</a:t>
            </a:r>
            <a:r>
              <a:rPr sz="3000" spc="145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program,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click	the </a:t>
            </a:r>
            <a:r>
              <a:rPr sz="3000" spc="-10" dirty="0">
                <a:latin typeface="Carlito"/>
                <a:cs typeface="Carlito"/>
              </a:rPr>
              <a:t>located </a:t>
            </a:r>
            <a:r>
              <a:rPr sz="3000" spc="-15" dirty="0">
                <a:latin typeface="Carlito"/>
                <a:cs typeface="Carlito"/>
              </a:rPr>
              <a:t>at</a:t>
            </a:r>
            <a:r>
              <a:rPr sz="3000" spc="-14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top right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30" dirty="0">
                <a:latin typeface="Carlito"/>
                <a:cs typeface="Carlito"/>
              </a:rPr>
              <a:t>window.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88408" y="5373623"/>
            <a:ext cx="381000" cy="353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59" y="0"/>
            <a:ext cx="73914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3335" marR="5080" indent="-254127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Launching </a:t>
            </a:r>
            <a:r>
              <a:rPr sz="4000" spc="-15" dirty="0"/>
              <a:t>Microsoft </a:t>
            </a:r>
            <a:r>
              <a:rPr sz="4000" spc="-65" dirty="0"/>
              <a:t>Word </a:t>
            </a:r>
            <a:r>
              <a:rPr sz="4000" spc="-20" dirty="0"/>
              <a:t>from </a:t>
            </a:r>
            <a:r>
              <a:rPr sz="4000" spc="-5" dirty="0"/>
              <a:t>the  </a:t>
            </a:r>
            <a:r>
              <a:rPr sz="4000" spc="-15" dirty="0"/>
              <a:t>Start</a:t>
            </a:r>
            <a:r>
              <a:rPr sz="4000" spc="-10" dirty="0"/>
              <a:t> </a:t>
            </a:r>
            <a:r>
              <a:rPr sz="4000" spc="-5" dirty="0"/>
              <a:t>menu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/>
          <p:nvPr/>
        </p:nvSpPr>
        <p:spPr>
          <a:xfrm>
            <a:off x="533400" y="1219200"/>
            <a:ext cx="5486400" cy="5512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56629" y="1465529"/>
            <a:ext cx="160147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Figure7.7 The  windows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7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Start  menu with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All 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Programs</a:t>
            </a:r>
            <a:r>
              <a:rPr sz="1800" b="1" spc="-10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option 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selected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134" y="192150"/>
            <a:ext cx="7392034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3335" marR="5080" indent="-254127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Launching </a:t>
            </a:r>
            <a:r>
              <a:rPr sz="4000" spc="-15" dirty="0"/>
              <a:t>Microsoft </a:t>
            </a:r>
            <a:r>
              <a:rPr sz="4000" spc="-65" dirty="0"/>
              <a:t>Word </a:t>
            </a:r>
            <a:r>
              <a:rPr sz="4000" spc="-20" dirty="0"/>
              <a:t>from </a:t>
            </a:r>
            <a:r>
              <a:rPr sz="4000" spc="-5" dirty="0"/>
              <a:t>the  </a:t>
            </a:r>
            <a:r>
              <a:rPr sz="4000" spc="-15" dirty="0"/>
              <a:t>Start</a:t>
            </a:r>
            <a:r>
              <a:rPr sz="4000" spc="-10" dirty="0"/>
              <a:t> </a:t>
            </a:r>
            <a:r>
              <a:rPr sz="4000" spc="-5" dirty="0"/>
              <a:t>menu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7981315" cy="423291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26415" indent="-342900">
              <a:lnSpc>
                <a:spcPct val="80000"/>
              </a:lnSpc>
              <a:spcBef>
                <a:spcPts val="8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3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run the </a:t>
            </a:r>
            <a:r>
              <a:rPr sz="3000" spc="-10" dirty="0">
                <a:latin typeface="Carlito"/>
                <a:cs typeface="Carlito"/>
              </a:rPr>
              <a:t>Microsoft </a:t>
            </a:r>
            <a:r>
              <a:rPr sz="3000" spc="-45" dirty="0">
                <a:latin typeface="Carlito"/>
                <a:cs typeface="Carlito"/>
              </a:rPr>
              <a:t>Word </a:t>
            </a:r>
            <a:r>
              <a:rPr sz="3000" dirty="0">
                <a:latin typeface="Carlito"/>
                <a:cs typeface="Carlito"/>
              </a:rPr>
              <a:t>2007 these </a:t>
            </a:r>
            <a:r>
              <a:rPr sz="3000" spc="-10" dirty="0">
                <a:latin typeface="Carlito"/>
                <a:cs typeface="Carlito"/>
              </a:rPr>
              <a:t>are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20" dirty="0">
                <a:latin typeface="Carlito"/>
                <a:cs typeface="Carlito"/>
              </a:rPr>
              <a:t>steps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needed:</a:t>
            </a:r>
            <a:endParaRPr sz="3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Click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Start</a:t>
            </a:r>
            <a:endParaRPr sz="3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Select/Highlight </a:t>
            </a:r>
            <a:r>
              <a:rPr sz="3000" dirty="0">
                <a:latin typeface="Carlito"/>
                <a:cs typeface="Carlito"/>
              </a:rPr>
              <a:t>All </a:t>
            </a:r>
            <a:r>
              <a:rPr sz="3000" spc="-20" dirty="0">
                <a:latin typeface="Carlito"/>
                <a:cs typeface="Carlito"/>
              </a:rPr>
              <a:t>program </a:t>
            </a:r>
            <a:r>
              <a:rPr sz="3000" dirty="0">
                <a:latin typeface="Carlito"/>
                <a:cs typeface="Carlito"/>
              </a:rPr>
              <a:t>(it turns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blue)</a:t>
            </a:r>
            <a:endParaRPr sz="3000">
              <a:latin typeface="Carlito"/>
              <a:cs typeface="Carlito"/>
            </a:endParaRPr>
          </a:p>
          <a:p>
            <a:pPr marL="355600" marR="194945" indent="-3429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Move </a:t>
            </a:r>
            <a:r>
              <a:rPr sz="3000" spc="-5" dirty="0">
                <a:latin typeface="Carlito"/>
                <a:cs typeface="Carlito"/>
              </a:rPr>
              <a:t>mouse </a:t>
            </a:r>
            <a:r>
              <a:rPr sz="3000" spc="-10" dirty="0">
                <a:latin typeface="Carlito"/>
                <a:cs typeface="Carlito"/>
              </a:rPr>
              <a:t>pointer over to Microsoft Office </a:t>
            </a:r>
            <a:r>
              <a:rPr sz="3000" spc="-5" dirty="0">
                <a:latin typeface="Carlito"/>
                <a:cs typeface="Carlito"/>
              </a:rPr>
              <a:t>(it  </a:t>
            </a:r>
            <a:r>
              <a:rPr sz="3000" dirty="0">
                <a:latin typeface="Carlito"/>
                <a:cs typeface="Carlito"/>
              </a:rPr>
              <a:t>turns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blue)</a:t>
            </a:r>
            <a:endParaRPr sz="3000">
              <a:latin typeface="Carlito"/>
              <a:cs typeface="Carlito"/>
            </a:endParaRPr>
          </a:p>
          <a:p>
            <a:pPr marL="355600" marR="5715" indent="-342900">
              <a:lnSpc>
                <a:spcPts val="2880"/>
              </a:lnSpc>
              <a:spcBef>
                <a:spcPts val="700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spc="-10" dirty="0">
                <a:latin typeface="Carlito"/>
                <a:cs typeface="Carlito"/>
              </a:rPr>
              <a:t>Move </a:t>
            </a:r>
            <a:r>
              <a:rPr sz="3000" dirty="0">
                <a:latin typeface="Carlito"/>
                <a:cs typeface="Carlito"/>
              </a:rPr>
              <a:t>mouse </a:t>
            </a:r>
            <a:r>
              <a:rPr sz="3000" spc="-15" dirty="0">
                <a:latin typeface="Carlito"/>
                <a:cs typeface="Carlito"/>
              </a:rPr>
              <a:t>pointer </a:t>
            </a:r>
            <a:r>
              <a:rPr sz="3000" spc="-10" dirty="0">
                <a:latin typeface="Carlito"/>
                <a:cs typeface="Carlito"/>
              </a:rPr>
              <a:t>over Microsoft Office </a:t>
            </a:r>
            <a:r>
              <a:rPr sz="3000" spc="-45" dirty="0">
                <a:latin typeface="Carlito"/>
                <a:cs typeface="Carlito"/>
              </a:rPr>
              <a:t>Word  </a:t>
            </a:r>
            <a:r>
              <a:rPr sz="3000" dirty="0">
                <a:latin typeface="Carlito"/>
                <a:cs typeface="Carlito"/>
              </a:rPr>
              <a:t>2007 (it turns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blue)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ts val="288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Click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highlighted Microsoft Office </a:t>
            </a:r>
            <a:r>
              <a:rPr sz="3000" spc="-40" dirty="0">
                <a:latin typeface="Carlito"/>
                <a:cs typeface="Carlito"/>
              </a:rPr>
              <a:t>Word </a:t>
            </a:r>
            <a:r>
              <a:rPr sz="3000" dirty="0">
                <a:latin typeface="Carlito"/>
                <a:cs typeface="Carlito"/>
              </a:rPr>
              <a:t>2007,  and the </a:t>
            </a:r>
            <a:r>
              <a:rPr sz="3000" spc="-5" dirty="0">
                <a:latin typeface="Carlito"/>
                <a:cs typeface="Carlito"/>
              </a:rPr>
              <a:t>application </a:t>
            </a:r>
            <a:r>
              <a:rPr sz="3000" dirty="0">
                <a:latin typeface="Carlito"/>
                <a:cs typeface="Carlito"/>
              </a:rPr>
              <a:t>will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run.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3400" y="461899"/>
            <a:ext cx="6536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Windows </a:t>
            </a:r>
            <a:r>
              <a:rPr dirty="0"/>
              <a:t>7 </a:t>
            </a:r>
            <a:r>
              <a:rPr spc="-20" dirty="0"/>
              <a:t>Bars </a:t>
            </a:r>
            <a:r>
              <a:rPr dirty="0"/>
              <a:t>and</a:t>
            </a:r>
            <a:r>
              <a:rPr spc="-40" dirty="0"/>
              <a:t> </a:t>
            </a:r>
            <a:r>
              <a:rPr spc="-20" dirty="0"/>
              <a:t>Buttons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/>
          <p:nvPr/>
        </p:nvSpPr>
        <p:spPr>
          <a:xfrm>
            <a:off x="396240" y="1269491"/>
            <a:ext cx="4968240" cy="4681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1140" y="1299158"/>
            <a:ext cx="8473440" cy="503999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711825" marR="5080" indent="-342900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5711825" algn="l"/>
                <a:tab pos="5712460" algn="l"/>
                <a:tab pos="7439025" algn="l"/>
              </a:tabLst>
            </a:pPr>
            <a:r>
              <a:rPr sz="3200" spc="-5" dirty="0">
                <a:latin typeface="Carlito"/>
                <a:cs typeface="Carlito"/>
              </a:rPr>
              <a:t>Windows	</a:t>
            </a:r>
            <a:r>
              <a:rPr sz="3200" spc="-10" dirty="0">
                <a:latin typeface="Carlito"/>
                <a:cs typeface="Carlito"/>
              </a:rPr>
              <a:t>got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its  </a:t>
            </a:r>
            <a:r>
              <a:rPr sz="3200" spc="-5" dirty="0">
                <a:latin typeface="Carlito"/>
                <a:cs typeface="Carlito"/>
              </a:rPr>
              <a:t>name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spc="-5" dirty="0">
                <a:latin typeface="Carlito"/>
                <a:cs typeface="Carlito"/>
              </a:rPr>
              <a:t>one  of its </a:t>
            </a:r>
            <a:r>
              <a:rPr sz="3200" spc="-10" dirty="0">
                <a:latin typeface="Carlito"/>
                <a:cs typeface="Carlito"/>
              </a:rPr>
              <a:t>most </a:t>
            </a:r>
            <a:r>
              <a:rPr sz="3200" spc="-5" dirty="0">
                <a:latin typeface="Carlito"/>
                <a:cs typeface="Carlito"/>
              </a:rPr>
              <a:t>basic  elements: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35" dirty="0">
                <a:latin typeface="Carlito"/>
                <a:cs typeface="Carlito"/>
              </a:rPr>
              <a:t>window.</a:t>
            </a:r>
            <a:endParaRPr sz="3200">
              <a:latin typeface="Carlito"/>
              <a:cs typeface="Carlito"/>
            </a:endParaRPr>
          </a:p>
          <a:p>
            <a:pPr marL="5711825" marR="15240" indent="-342900">
              <a:lnSpc>
                <a:spcPct val="90000"/>
              </a:lnSpc>
              <a:spcBef>
                <a:spcPts val="765"/>
              </a:spcBef>
              <a:buFont typeface="Arial"/>
              <a:buChar char="•"/>
              <a:tabLst>
                <a:tab pos="5711825" algn="l"/>
                <a:tab pos="571246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rectangular  work area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15" dirty="0">
                <a:latin typeface="Carlito"/>
                <a:cs typeface="Carlito"/>
              </a:rPr>
              <a:t>program, </a:t>
            </a:r>
            <a:r>
              <a:rPr sz="3200" spc="-5" dirty="0">
                <a:latin typeface="Carlito"/>
                <a:cs typeface="Carlito"/>
              </a:rPr>
              <a:t>file, or  other </a:t>
            </a:r>
            <a:r>
              <a:rPr sz="3200" spc="-10" dirty="0">
                <a:latin typeface="Carlito"/>
                <a:cs typeface="Carlito"/>
              </a:rPr>
              <a:t>task </a:t>
            </a:r>
            <a:r>
              <a:rPr sz="3200" dirty="0">
                <a:latin typeface="Carlito"/>
                <a:cs typeface="Carlito"/>
              </a:rPr>
              <a:t>is  </a:t>
            </a:r>
            <a:r>
              <a:rPr sz="3200" spc="-5" dirty="0">
                <a:latin typeface="Carlito"/>
                <a:cs typeface="Carlito"/>
              </a:rPr>
              <a:t>called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-85" dirty="0">
                <a:latin typeface="Carlito"/>
                <a:cs typeface="Carlito"/>
              </a:rPr>
              <a:t> </a:t>
            </a:r>
            <a:r>
              <a:rPr sz="3200" spc="-30" dirty="0">
                <a:latin typeface="Carlito"/>
                <a:cs typeface="Carlito"/>
              </a:rPr>
              <a:t>window.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Microsoft </a:t>
            </a:r>
            <a:r>
              <a:rPr sz="1800" b="1" spc="-25" dirty="0">
                <a:solidFill>
                  <a:srgbClr val="0D090F"/>
                </a:solidFill>
                <a:latin typeface="Carlito"/>
                <a:cs typeface="Carlito"/>
              </a:rPr>
              <a:t>Word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Initial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Screen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showing a</a:t>
            </a:r>
            <a:r>
              <a:rPr sz="1800" b="1" spc="-10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blank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6370573"/>
            <a:ext cx="10750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spc="-75" dirty="0">
                <a:solidFill>
                  <a:srgbClr val="0D090F"/>
                </a:solidFill>
                <a:latin typeface="Carlito"/>
                <a:cs typeface="Carlito"/>
              </a:rPr>
              <a:t>W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or</a:t>
            </a:r>
            <a:r>
              <a:rPr sz="1800" b="1" spc="-15" dirty="0">
                <a:solidFill>
                  <a:srgbClr val="0D090F"/>
                </a:solidFill>
                <a:latin typeface="Carlito"/>
                <a:cs typeface="Carlito"/>
              </a:rPr>
              <a:t>k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s</a:t>
            </a:r>
            <a:r>
              <a:rPr sz="1800" b="1" spc="5" dirty="0">
                <a:solidFill>
                  <a:srgbClr val="0D090F"/>
                </a:solidFill>
                <a:latin typeface="Carlito"/>
                <a:cs typeface="Carlito"/>
              </a:rPr>
              <a:t>p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ace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3400" y="461899"/>
            <a:ext cx="6536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Windows </a:t>
            </a:r>
            <a:r>
              <a:rPr dirty="0"/>
              <a:t>7 </a:t>
            </a:r>
            <a:r>
              <a:rPr spc="-20" dirty="0"/>
              <a:t>Bars </a:t>
            </a:r>
            <a:r>
              <a:rPr dirty="0"/>
              <a:t>and</a:t>
            </a:r>
            <a:r>
              <a:rPr spc="-40" dirty="0"/>
              <a:t> </a:t>
            </a:r>
            <a:r>
              <a:rPr spc="-20" dirty="0"/>
              <a:t>Buttons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9178"/>
            <a:ext cx="8008620" cy="47574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203200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spc="-10" dirty="0">
                <a:latin typeface="Carlito"/>
                <a:cs typeface="Carlito"/>
              </a:rPr>
              <a:t>going through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steps </a:t>
            </a:r>
            <a:r>
              <a:rPr sz="3200" spc="-10" dirty="0">
                <a:latin typeface="Carlito"/>
                <a:cs typeface="Carlito"/>
              </a:rPr>
              <a:t>above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run  </a:t>
            </a:r>
            <a:r>
              <a:rPr sz="3200" spc="-10" dirty="0">
                <a:latin typeface="Carlito"/>
                <a:cs typeface="Carlito"/>
              </a:rPr>
              <a:t>Microsoft Office </a:t>
            </a:r>
            <a:r>
              <a:rPr sz="3200" spc="-45" dirty="0">
                <a:latin typeface="Carlito"/>
                <a:cs typeface="Carlito"/>
              </a:rPr>
              <a:t>Word </a:t>
            </a:r>
            <a:r>
              <a:rPr sz="3200" spc="-5" dirty="0">
                <a:latin typeface="Carlito"/>
                <a:cs typeface="Carlito"/>
              </a:rPr>
              <a:t>2007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15" dirty="0">
                <a:latin typeface="Carlito"/>
                <a:cs typeface="Carlito"/>
              </a:rPr>
              <a:t>example, you  </a:t>
            </a:r>
            <a:r>
              <a:rPr sz="3200" dirty="0">
                <a:latin typeface="Carlito"/>
                <a:cs typeface="Carlito"/>
              </a:rPr>
              <a:t>will </a:t>
            </a:r>
            <a:r>
              <a:rPr sz="3200" spc="-10" dirty="0">
                <a:latin typeface="Carlito"/>
                <a:cs typeface="Carlito"/>
              </a:rPr>
              <a:t>obtain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screen (window)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left.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three </a:t>
            </a:r>
            <a:r>
              <a:rPr sz="3200" spc="-15" dirty="0">
                <a:latin typeface="Carlito"/>
                <a:cs typeface="Carlito"/>
              </a:rPr>
              <a:t>buttons </a:t>
            </a:r>
            <a:r>
              <a:rPr sz="3200" spc="-10" dirty="0">
                <a:latin typeface="Carlito"/>
                <a:cs typeface="Carlito"/>
              </a:rPr>
              <a:t>at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top </a:t>
            </a:r>
            <a:r>
              <a:rPr sz="3200" spc="-10" dirty="0">
                <a:latin typeface="Carlito"/>
                <a:cs typeface="Carlito"/>
              </a:rPr>
              <a:t>left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the  window </a:t>
            </a:r>
            <a:r>
              <a:rPr sz="3200" spc="-5" dirty="0">
                <a:latin typeface="Carlito"/>
                <a:cs typeface="Carlito"/>
              </a:rPr>
              <a:t>(title bar) </a:t>
            </a:r>
            <a:r>
              <a:rPr sz="3200" spc="-10" dirty="0">
                <a:latin typeface="Carlito"/>
                <a:cs typeface="Carlito"/>
              </a:rPr>
              <a:t>are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dirty="0">
                <a:latin typeface="Carlito"/>
                <a:cs typeface="Carlito"/>
              </a:rPr>
              <a:t>7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buttons.</a:t>
            </a:r>
            <a:endParaRPr sz="3200">
              <a:latin typeface="Carlito"/>
              <a:cs typeface="Carlito"/>
            </a:endParaRPr>
          </a:p>
          <a:p>
            <a:pPr marL="355600" marR="28702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white area </a:t>
            </a:r>
            <a:r>
              <a:rPr sz="3200" spc="-5" dirty="0">
                <a:latin typeface="Carlito"/>
                <a:cs typeface="Carlito"/>
              </a:rPr>
              <a:t>inside </a:t>
            </a:r>
            <a:r>
              <a:rPr sz="3200" dirty="0">
                <a:latin typeface="Carlito"/>
                <a:cs typeface="Carlito"/>
              </a:rPr>
              <a:t>the window is the  </a:t>
            </a:r>
            <a:r>
              <a:rPr sz="3200" spc="-10" dirty="0">
                <a:latin typeface="Carlito"/>
                <a:cs typeface="Carlito"/>
              </a:rPr>
              <a:t>workspace </a:t>
            </a:r>
            <a:r>
              <a:rPr sz="3200" spc="-5" dirty="0">
                <a:latin typeface="Carlito"/>
                <a:cs typeface="Carlito"/>
              </a:rPr>
              <a:t>where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do </a:t>
            </a:r>
            <a:r>
              <a:rPr sz="3200" spc="-10" dirty="0">
                <a:latin typeface="Carlito"/>
                <a:cs typeface="Carlito"/>
              </a:rPr>
              <a:t>your work </a:t>
            </a:r>
            <a:r>
              <a:rPr sz="3200" dirty="0">
                <a:latin typeface="Carlito"/>
                <a:cs typeface="Carlito"/>
              </a:rPr>
              <a:t>with the  </a:t>
            </a:r>
            <a:r>
              <a:rPr sz="3200" spc="-15" dirty="0">
                <a:latin typeface="Carlito"/>
                <a:cs typeface="Carlito"/>
              </a:rPr>
              <a:t>program, </a:t>
            </a:r>
            <a:r>
              <a:rPr sz="3200" spc="-5" dirty="0">
                <a:latin typeface="Carlito"/>
                <a:cs typeface="Carlito"/>
              </a:rPr>
              <a:t>such </a:t>
            </a:r>
            <a:r>
              <a:rPr sz="3200" dirty="0">
                <a:latin typeface="Carlito"/>
                <a:cs typeface="Carlito"/>
              </a:rPr>
              <a:t>as typing a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60" dirty="0">
                <a:latin typeface="Carlito"/>
                <a:cs typeface="Carlito"/>
              </a:rPr>
              <a:t>letter.</a:t>
            </a:r>
            <a:endParaRPr sz="3200">
              <a:latin typeface="Carlito"/>
              <a:cs typeface="Carlito"/>
            </a:endParaRPr>
          </a:p>
          <a:p>
            <a:pPr marL="355600" marR="6604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Note that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workspace appears </a:t>
            </a:r>
            <a:r>
              <a:rPr sz="3200" spc="-25" dirty="0">
                <a:latin typeface="Carlito"/>
                <a:cs typeface="Carlito"/>
              </a:rPr>
              <a:t>different </a:t>
            </a:r>
            <a:r>
              <a:rPr sz="3200" spc="-30" dirty="0">
                <a:latin typeface="Carlito"/>
                <a:cs typeface="Carlito"/>
              </a:rPr>
              <a:t>for  </a:t>
            </a:r>
            <a:r>
              <a:rPr sz="3200" spc="-25" dirty="0">
                <a:latin typeface="Carlito"/>
                <a:cs typeface="Carlito"/>
              </a:rPr>
              <a:t>different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programs.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3400" y="461899"/>
            <a:ext cx="6536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Windows </a:t>
            </a:r>
            <a:r>
              <a:rPr dirty="0"/>
              <a:t>7 </a:t>
            </a:r>
            <a:r>
              <a:rPr spc="-20" dirty="0"/>
              <a:t>Bars </a:t>
            </a:r>
            <a:r>
              <a:rPr dirty="0"/>
              <a:t>and</a:t>
            </a:r>
            <a:r>
              <a:rPr spc="-40" dirty="0"/>
              <a:t> </a:t>
            </a:r>
            <a:r>
              <a:rPr spc="-20" dirty="0"/>
              <a:t>Buttons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732395" cy="3050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303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There are </a:t>
            </a:r>
            <a:r>
              <a:rPr sz="3200" spc="-15" dirty="0">
                <a:latin typeface="Carlito"/>
                <a:cs typeface="Carlito"/>
              </a:rPr>
              <a:t>several </a:t>
            </a:r>
            <a:r>
              <a:rPr sz="3200" spc="-5" dirty="0">
                <a:latin typeface="Carlito"/>
                <a:cs typeface="Carlito"/>
              </a:rPr>
              <a:t>other </a:t>
            </a:r>
            <a:r>
              <a:rPr sz="3200" spc="-15" dirty="0">
                <a:latin typeface="Carlito"/>
                <a:cs typeface="Carlito"/>
              </a:rPr>
              <a:t>several </a:t>
            </a:r>
            <a:r>
              <a:rPr sz="3200" spc="-5" dirty="0">
                <a:latin typeface="Carlito"/>
                <a:cs typeface="Carlito"/>
              </a:rPr>
              <a:t>Windows  </a:t>
            </a:r>
            <a:r>
              <a:rPr sz="3200" spc="-10" dirty="0">
                <a:latin typeface="Carlito"/>
                <a:cs typeface="Carlito"/>
              </a:rPr>
              <a:t>tools, </a:t>
            </a:r>
            <a:r>
              <a:rPr sz="3200" dirty="0">
                <a:latin typeface="Carlito"/>
                <a:cs typeface="Carlito"/>
              </a:rPr>
              <a:t>menus, and </a:t>
            </a:r>
            <a:r>
              <a:rPr sz="3200" spc="-5" dirty="0">
                <a:latin typeface="Carlito"/>
                <a:cs typeface="Carlito"/>
              </a:rPr>
              <a:t>commands that </a:t>
            </a:r>
            <a:r>
              <a:rPr sz="3200" spc="-30" dirty="0">
                <a:latin typeface="Carlito"/>
                <a:cs typeface="Carlito"/>
              </a:rPr>
              <a:t>make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operating </a:t>
            </a:r>
            <a:r>
              <a:rPr sz="3200" spc="-30" dirty="0">
                <a:latin typeface="Carlito"/>
                <a:cs typeface="Carlito"/>
              </a:rPr>
              <a:t>system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easy-to-use.</a:t>
            </a:r>
            <a:endParaRPr sz="32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title </a:t>
            </a:r>
            <a:r>
              <a:rPr sz="3200" dirty="0">
                <a:latin typeface="Carlito"/>
                <a:cs typeface="Carlito"/>
              </a:rPr>
              <a:t>bar is the </a:t>
            </a:r>
            <a:r>
              <a:rPr sz="3200" spc="-15" dirty="0">
                <a:latin typeface="Carlito"/>
                <a:cs typeface="Carlito"/>
              </a:rPr>
              <a:t>horizontal </a:t>
            </a:r>
            <a:r>
              <a:rPr sz="3200" spc="-5" dirty="0">
                <a:latin typeface="Carlito"/>
                <a:cs typeface="Carlito"/>
              </a:rPr>
              <a:t>blue </a:t>
            </a:r>
            <a:r>
              <a:rPr sz="3200" dirty="0">
                <a:latin typeface="Carlito"/>
                <a:cs typeface="Carlito"/>
              </a:rPr>
              <a:t>bar </a:t>
            </a:r>
            <a:r>
              <a:rPr sz="3200" spc="-10" dirty="0">
                <a:latin typeface="Carlito"/>
                <a:cs typeface="Carlito"/>
              </a:rPr>
              <a:t>at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5" dirty="0">
                <a:latin typeface="Carlito"/>
                <a:cs typeface="Carlito"/>
              </a:rPr>
              <a:t>top </a:t>
            </a:r>
            <a:r>
              <a:rPr sz="3200" dirty="0">
                <a:latin typeface="Carlito"/>
                <a:cs typeface="Carlito"/>
              </a:rPr>
              <a:t>of a </a:t>
            </a:r>
            <a:r>
              <a:rPr sz="3200" spc="-35" dirty="0">
                <a:latin typeface="Carlito"/>
                <a:cs typeface="Carlito"/>
              </a:rPr>
              <a:t>window. </a:t>
            </a:r>
            <a:r>
              <a:rPr sz="3200" spc="-20" dirty="0">
                <a:latin typeface="Carlito"/>
                <a:cs typeface="Carlito"/>
              </a:rPr>
              <a:t>By </a:t>
            </a:r>
            <a:r>
              <a:rPr sz="3200" spc="-10" dirty="0">
                <a:latin typeface="Carlito"/>
                <a:cs typeface="Carlito"/>
              </a:rPr>
              <a:t>default, 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15" dirty="0">
                <a:latin typeface="Carlito"/>
                <a:cs typeface="Carlito"/>
              </a:rPr>
              <a:t>displays </a:t>
            </a:r>
            <a:r>
              <a:rPr sz="3200" spc="-10" dirty="0">
                <a:latin typeface="Carlito"/>
                <a:cs typeface="Carlito"/>
              </a:rPr>
              <a:t>white  </a:t>
            </a:r>
            <a:r>
              <a:rPr sz="3200" spc="-20" dirty="0">
                <a:latin typeface="Carlito"/>
                <a:cs typeface="Carlito"/>
              </a:rPr>
              <a:t>text </a:t>
            </a:r>
            <a:r>
              <a:rPr sz="3200" spc="-5" dirty="0">
                <a:latin typeface="Carlito"/>
                <a:cs typeface="Carlito"/>
              </a:rPr>
              <a:t>on blue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background.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9160" y="4940808"/>
            <a:ext cx="6841235" cy="609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8509" y="5752591"/>
            <a:ext cx="34721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The Title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Bar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at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the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top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of a</a:t>
            </a:r>
            <a:r>
              <a:rPr sz="1800" b="1" spc="-75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Window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3814" y="187197"/>
            <a:ext cx="65366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Windows </a:t>
            </a:r>
            <a:r>
              <a:rPr dirty="0"/>
              <a:t>7 </a:t>
            </a:r>
            <a:r>
              <a:rPr spc="-20" dirty="0"/>
              <a:t>Bars </a:t>
            </a:r>
            <a:r>
              <a:rPr dirty="0"/>
              <a:t>and</a:t>
            </a:r>
            <a:r>
              <a:rPr spc="-40" dirty="0"/>
              <a:t> </a:t>
            </a:r>
            <a:r>
              <a:rPr spc="-20" dirty="0"/>
              <a:t>Buttons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1350974"/>
            <a:ext cx="7423784" cy="3525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5" dirty="0">
                <a:latin typeface="Carlito"/>
                <a:cs typeface="Carlito"/>
              </a:rPr>
              <a:t>menu </a:t>
            </a:r>
            <a:r>
              <a:rPr sz="2800" spc="-20" dirty="0">
                <a:latin typeface="Carlito"/>
                <a:cs typeface="Carlito"/>
              </a:rPr>
              <a:t>button </a:t>
            </a:r>
            <a:r>
              <a:rPr sz="2800" spc="-5" dirty="0">
                <a:latin typeface="Carlito"/>
                <a:cs typeface="Carlito"/>
              </a:rPr>
              <a:t>is the </a:t>
            </a:r>
            <a:r>
              <a:rPr sz="2800" spc="-10" dirty="0">
                <a:latin typeface="Carlito"/>
                <a:cs typeface="Carlito"/>
              </a:rPr>
              <a:t>icon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far  </a:t>
            </a:r>
            <a:r>
              <a:rPr sz="2800" spc="-15" dirty="0">
                <a:latin typeface="Carlito"/>
                <a:cs typeface="Carlito"/>
              </a:rPr>
              <a:t>left </a:t>
            </a:r>
            <a:r>
              <a:rPr sz="2800" spc="-5" dirty="0">
                <a:latin typeface="Carlito"/>
                <a:cs typeface="Carlito"/>
              </a:rPr>
              <a:t>end of the title </a:t>
            </a:r>
            <a:r>
              <a:rPr sz="2800" spc="-80" dirty="0">
                <a:latin typeface="Carlito"/>
                <a:cs typeface="Carlito"/>
              </a:rPr>
              <a:t>bar. </a:t>
            </a: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5" dirty="0">
                <a:latin typeface="Carlito"/>
                <a:cs typeface="Carlito"/>
              </a:rPr>
              <a:t>menu </a:t>
            </a:r>
            <a:r>
              <a:rPr sz="2800" spc="-20" dirty="0">
                <a:latin typeface="Carlito"/>
                <a:cs typeface="Carlito"/>
              </a:rPr>
              <a:t>button  </a:t>
            </a:r>
            <a:r>
              <a:rPr sz="2800" spc="-10" dirty="0">
                <a:latin typeface="Carlito"/>
                <a:cs typeface="Carlito"/>
              </a:rPr>
              <a:t>opens </a:t>
            </a:r>
            <a:r>
              <a:rPr sz="2800" spc="-5" dirty="0">
                <a:latin typeface="Carlito"/>
                <a:cs typeface="Carlito"/>
              </a:rPr>
              <a:t>a menu </a:t>
            </a:r>
            <a:r>
              <a:rPr sz="2800" spc="-20" dirty="0">
                <a:latin typeface="Carlito"/>
                <a:cs typeface="Carlito"/>
              </a:rPr>
              <a:t>you </a:t>
            </a:r>
            <a:r>
              <a:rPr sz="2800" spc="-10" dirty="0">
                <a:latin typeface="Carlito"/>
                <a:cs typeface="Carlito"/>
              </a:rPr>
              <a:t>can use </a:t>
            </a:r>
            <a:r>
              <a:rPr sz="2800" spc="-20" dirty="0">
                <a:latin typeface="Carlito"/>
                <a:cs typeface="Carlito"/>
              </a:rPr>
              <a:t>to control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165" dirty="0">
                <a:latin typeface="Carlito"/>
                <a:cs typeface="Carlito"/>
              </a:rPr>
              <a:t> </a:t>
            </a:r>
            <a:r>
              <a:rPr sz="2800" spc="-35" dirty="0">
                <a:latin typeface="Carlito"/>
                <a:cs typeface="Carlito"/>
              </a:rPr>
              <a:t>window.</a:t>
            </a:r>
            <a:endParaRPr sz="2800">
              <a:latin typeface="Carlito"/>
              <a:cs typeface="Carlito"/>
            </a:endParaRPr>
          </a:p>
          <a:p>
            <a:pPr marL="241300" marR="35560" indent="-228600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Close </a:t>
            </a:r>
            <a:r>
              <a:rPr sz="2800" spc="-20" dirty="0">
                <a:latin typeface="Carlito"/>
                <a:cs typeface="Carlito"/>
              </a:rPr>
              <a:t>button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far </a:t>
            </a:r>
            <a:r>
              <a:rPr sz="2800" spc="-10" dirty="0">
                <a:latin typeface="Carlito"/>
                <a:cs typeface="Carlito"/>
              </a:rPr>
              <a:t>right </a:t>
            </a:r>
            <a:r>
              <a:rPr sz="2800" spc="-5" dirty="0">
                <a:latin typeface="Carlito"/>
                <a:cs typeface="Carlito"/>
              </a:rPr>
              <a:t>end of the </a:t>
            </a:r>
            <a:r>
              <a:rPr sz="2800" spc="-10" dirty="0">
                <a:latin typeface="Carlito"/>
                <a:cs typeface="Carlito"/>
              </a:rPr>
              <a:t>title  </a:t>
            </a:r>
            <a:r>
              <a:rPr sz="2800" spc="-80" dirty="0">
                <a:latin typeface="Carlito"/>
                <a:cs typeface="Carlito"/>
              </a:rPr>
              <a:t>bar.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0" dirty="0">
                <a:latin typeface="Carlito"/>
                <a:cs typeface="Carlito"/>
              </a:rPr>
              <a:t>is usually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red </a:t>
            </a:r>
            <a:r>
              <a:rPr sz="2800" spc="-30" dirty="0">
                <a:latin typeface="Carlito"/>
                <a:cs typeface="Carlito"/>
              </a:rPr>
              <a:t>box </a:t>
            </a:r>
            <a:r>
              <a:rPr sz="2800" spc="-5" dirty="0">
                <a:latin typeface="Carlito"/>
                <a:cs typeface="Carlito"/>
              </a:rPr>
              <a:t>with an X in it. It is </a:t>
            </a:r>
            <a:r>
              <a:rPr sz="2800" spc="-10" dirty="0">
                <a:latin typeface="Carlito"/>
                <a:cs typeface="Carlito"/>
              </a:rPr>
              <a:t>used 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close a </a:t>
            </a:r>
            <a:r>
              <a:rPr sz="2800" spc="-10" dirty="0">
                <a:latin typeface="Carlito"/>
                <a:cs typeface="Carlito"/>
              </a:rPr>
              <a:t>window whenever one does not </a:t>
            </a:r>
            <a:r>
              <a:rPr sz="2800" spc="-15" dirty="0">
                <a:latin typeface="Carlito"/>
                <a:cs typeface="Carlito"/>
              </a:rPr>
              <a:t>intend 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use the </a:t>
            </a:r>
            <a:r>
              <a:rPr sz="2800" spc="-10" dirty="0">
                <a:latin typeface="Carlito"/>
                <a:cs typeface="Carlito"/>
              </a:rPr>
              <a:t>window again </a:t>
            </a:r>
            <a:r>
              <a:rPr sz="2800" spc="-15" dirty="0">
                <a:latin typeface="Carlito"/>
                <a:cs typeface="Carlito"/>
              </a:rPr>
              <a:t>by just </a:t>
            </a:r>
            <a:r>
              <a:rPr sz="2800" spc="-5" dirty="0">
                <a:latin typeface="Carlito"/>
                <a:cs typeface="Carlito"/>
              </a:rPr>
              <a:t>clicking the </a:t>
            </a:r>
            <a:r>
              <a:rPr sz="2800" spc="-10" dirty="0">
                <a:latin typeface="Carlito"/>
                <a:cs typeface="Carlito"/>
              </a:rPr>
              <a:t>Close  </a:t>
            </a:r>
            <a:r>
              <a:rPr sz="2800" spc="-20" dirty="0">
                <a:latin typeface="Carlito"/>
                <a:cs typeface="Carlito"/>
              </a:rPr>
              <a:t>button.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8620" y="1772411"/>
            <a:ext cx="955548" cy="91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031" y="2997707"/>
            <a:ext cx="1039368" cy="9646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9495" y="5733288"/>
            <a:ext cx="2667000" cy="7025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19447" y="5680049"/>
            <a:ext cx="42964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The </a:t>
            </a:r>
            <a:r>
              <a:rPr sz="1800" b="1" spc="-15" dirty="0">
                <a:solidFill>
                  <a:srgbClr val="0D090F"/>
                </a:solidFill>
                <a:latin typeface="Carlito"/>
                <a:cs typeface="Carlito"/>
              </a:rPr>
              <a:t>first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two left buttons shown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here are</a:t>
            </a:r>
            <a:r>
              <a:rPr sz="1800" b="1" spc="-7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the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Minimize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and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Maximize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buttons</a:t>
            </a:r>
            <a:r>
              <a:rPr sz="1800" b="1" spc="-18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spc="-15" dirty="0">
                <a:solidFill>
                  <a:srgbClr val="0D090F"/>
                </a:solidFill>
                <a:latin typeface="Carlito"/>
                <a:cs typeface="Carlito"/>
              </a:rPr>
              <a:t>respectively.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522" y="564007"/>
            <a:ext cx="80454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Minimizing, </a:t>
            </a:r>
            <a:r>
              <a:rPr sz="3200" spc="-5" dirty="0"/>
              <a:t>Maximizing, </a:t>
            </a:r>
            <a:r>
              <a:rPr sz="3200" dirty="0"/>
              <a:t>and </a:t>
            </a:r>
            <a:r>
              <a:rPr sz="3200" spc="-20" dirty="0"/>
              <a:t>Restoring</a:t>
            </a:r>
            <a:r>
              <a:rPr sz="3200" spc="65" dirty="0"/>
              <a:t> </a:t>
            </a:r>
            <a:r>
              <a:rPr sz="3200" spc="-5" dirty="0"/>
              <a:t>Windows</a:t>
            </a:r>
            <a:endParaRPr sz="32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55085" y="1422019"/>
            <a:ext cx="5266690" cy="432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604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With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spc="-125" dirty="0">
                <a:latin typeface="Carlito"/>
                <a:cs typeface="Carlito"/>
              </a:rPr>
              <a:t>XP,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can  </a:t>
            </a:r>
            <a:r>
              <a:rPr sz="3000" dirty="0">
                <a:latin typeface="Carlito"/>
                <a:cs typeface="Carlito"/>
              </a:rPr>
              <a:t>easily </a:t>
            </a:r>
            <a:r>
              <a:rPr sz="3000" spc="-10" dirty="0">
                <a:latin typeface="Carlito"/>
                <a:cs typeface="Carlito"/>
              </a:rPr>
              <a:t>enlarge, </a:t>
            </a:r>
            <a:r>
              <a:rPr sz="3000" spc="-5" dirty="0">
                <a:latin typeface="Carlito"/>
                <a:cs typeface="Carlito"/>
              </a:rPr>
              <a:t>hide, </a:t>
            </a:r>
            <a:r>
              <a:rPr sz="3000" dirty="0">
                <a:latin typeface="Carlito"/>
                <a:cs typeface="Carlito"/>
              </a:rPr>
              <a:t>or </a:t>
            </a:r>
            <a:r>
              <a:rPr sz="3000" spc="-5" dirty="0">
                <a:latin typeface="Carlito"/>
                <a:cs typeface="Carlito"/>
              </a:rPr>
              <a:t>shrink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5" dirty="0">
                <a:latin typeface="Carlito"/>
                <a:cs typeface="Carlito"/>
              </a:rPr>
              <a:t>window using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Minimize,  Maximize,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20" dirty="0">
                <a:latin typeface="Carlito"/>
                <a:cs typeface="Carlito"/>
              </a:rPr>
              <a:t>Restore</a:t>
            </a:r>
            <a:r>
              <a:rPr sz="3000" spc="-7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buttons.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Minimize button </a:t>
            </a:r>
            <a:r>
              <a:rPr sz="3000" dirty="0">
                <a:latin typeface="Carlito"/>
                <a:cs typeface="Carlito"/>
              </a:rPr>
              <a:t>is the  </a:t>
            </a:r>
            <a:r>
              <a:rPr sz="3000" spc="-10" dirty="0">
                <a:latin typeface="Carlito"/>
                <a:cs typeface="Carlito"/>
              </a:rPr>
              <a:t>leftmost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three </a:t>
            </a:r>
            <a:r>
              <a:rPr sz="3000" spc="-15" dirty="0">
                <a:latin typeface="Carlito"/>
                <a:cs typeface="Carlito"/>
              </a:rPr>
              <a:t>buttons at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right </a:t>
            </a:r>
            <a:r>
              <a:rPr sz="3000" dirty="0">
                <a:latin typeface="Carlito"/>
                <a:cs typeface="Carlito"/>
              </a:rPr>
              <a:t>end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title</a:t>
            </a:r>
            <a:r>
              <a:rPr sz="3000" spc="-60" dirty="0">
                <a:latin typeface="Carlito"/>
                <a:cs typeface="Carlito"/>
              </a:rPr>
              <a:t> </a:t>
            </a:r>
            <a:r>
              <a:rPr sz="3000" spc="-80" dirty="0">
                <a:latin typeface="Carlito"/>
                <a:cs typeface="Carlito"/>
              </a:rPr>
              <a:t>bar.</a:t>
            </a:r>
            <a:endParaRPr sz="3000">
              <a:latin typeface="Carlito"/>
              <a:cs typeface="Carlito"/>
            </a:endParaRPr>
          </a:p>
          <a:p>
            <a:pPr marL="355600" marR="1143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spc="-15" dirty="0">
                <a:latin typeface="Carlito"/>
                <a:cs typeface="Carlito"/>
              </a:rPr>
              <a:t>button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small dash (or  </a:t>
            </a:r>
            <a:r>
              <a:rPr sz="3000" dirty="0">
                <a:latin typeface="Carlito"/>
                <a:cs typeface="Carlito"/>
              </a:rPr>
              <a:t>minus </a:t>
            </a:r>
            <a:r>
              <a:rPr sz="3000" spc="-5" dirty="0">
                <a:latin typeface="Carlito"/>
                <a:cs typeface="Carlito"/>
              </a:rPr>
              <a:t>sign).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1295400"/>
            <a:ext cx="2514600" cy="1330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" y="2971800"/>
            <a:ext cx="2563368" cy="1447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340" y="4972050"/>
            <a:ext cx="21824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Figure7.10 Minimize, 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Maximize,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and</a:t>
            </a:r>
            <a:r>
              <a:rPr sz="1800" b="1" spc="-55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spc="-20" dirty="0">
                <a:solidFill>
                  <a:srgbClr val="0D090F"/>
                </a:solidFill>
                <a:latin typeface="Carlito"/>
                <a:cs typeface="Carlito"/>
              </a:rPr>
              <a:t>Restore 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buttons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85648" y="178688"/>
            <a:ext cx="8045450" cy="619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Minimizing, </a:t>
            </a:r>
            <a:r>
              <a:rPr sz="3200" spc="-5" dirty="0">
                <a:latin typeface="Carlito"/>
                <a:cs typeface="Carlito"/>
              </a:rPr>
              <a:t>Maximizing,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20" dirty="0">
                <a:latin typeface="Carlito"/>
                <a:cs typeface="Carlito"/>
              </a:rPr>
              <a:t>Restoring</a:t>
            </a:r>
            <a:r>
              <a:rPr sz="3200" spc="6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Windows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900">
              <a:latin typeface="Carlito"/>
              <a:cs typeface="Carlito"/>
            </a:endParaRPr>
          </a:p>
          <a:p>
            <a:pPr marL="405765" marR="165100" indent="-342900">
              <a:lnSpc>
                <a:spcPct val="100000"/>
              </a:lnSpc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Minimize </a:t>
            </a:r>
            <a:r>
              <a:rPr sz="3200" spc="-20" dirty="0">
                <a:latin typeface="Carlito"/>
                <a:cs typeface="Carlito"/>
              </a:rPr>
              <a:t>button </a:t>
            </a:r>
            <a:r>
              <a:rPr sz="3200" spc="-10" dirty="0">
                <a:latin typeface="Carlito"/>
                <a:cs typeface="Carlito"/>
              </a:rPr>
              <a:t>shrinks </a:t>
            </a:r>
            <a:r>
              <a:rPr sz="3200" dirty="0">
                <a:latin typeface="Carlito"/>
                <a:cs typeface="Carlito"/>
              </a:rPr>
              <a:t>the window and  </a:t>
            </a:r>
            <a:r>
              <a:rPr sz="3200" spc="-5" dirty="0">
                <a:latin typeface="Carlito"/>
                <a:cs typeface="Carlito"/>
              </a:rPr>
              <a:t>places </a:t>
            </a:r>
            <a:r>
              <a:rPr sz="3200" dirty="0">
                <a:latin typeface="Carlito"/>
                <a:cs typeface="Carlito"/>
              </a:rPr>
              <a:t>it on the </a:t>
            </a:r>
            <a:r>
              <a:rPr sz="3200" spc="-5" dirty="0">
                <a:latin typeface="Carlito"/>
                <a:cs typeface="Carlito"/>
              </a:rPr>
              <a:t>taskbar </a:t>
            </a:r>
            <a:r>
              <a:rPr sz="3200" dirty="0">
                <a:latin typeface="Carlito"/>
                <a:cs typeface="Carlito"/>
              </a:rPr>
              <a:t>while </a:t>
            </a:r>
            <a:r>
              <a:rPr sz="3200" spc="-5" dirty="0">
                <a:latin typeface="Carlito"/>
                <a:cs typeface="Carlito"/>
              </a:rPr>
              <a:t>leaving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dirty="0">
                <a:latin typeface="Carlito"/>
                <a:cs typeface="Carlito"/>
              </a:rPr>
              <a:t>running </a:t>
            </a:r>
            <a:r>
              <a:rPr sz="3200" spc="-10" dirty="0">
                <a:latin typeface="Carlito"/>
                <a:cs typeface="Carlito"/>
              </a:rPr>
              <a:t>at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5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background.</a:t>
            </a:r>
            <a:endParaRPr sz="3200">
              <a:latin typeface="Carlito"/>
              <a:cs typeface="Carlito"/>
            </a:endParaRPr>
          </a:p>
          <a:p>
            <a:pPr marL="405765" marR="4127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Maximize </a:t>
            </a:r>
            <a:r>
              <a:rPr sz="3200" spc="-20" dirty="0">
                <a:latin typeface="Carlito"/>
                <a:cs typeface="Carlito"/>
              </a:rPr>
              <a:t>button </a:t>
            </a:r>
            <a:r>
              <a:rPr sz="3200" dirty="0">
                <a:latin typeface="Carlito"/>
                <a:cs typeface="Carlito"/>
              </a:rPr>
              <a:t>which is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immediate </a:t>
            </a:r>
            <a:r>
              <a:rPr sz="3200" spc="-5" dirty="0">
                <a:latin typeface="Carlito"/>
                <a:cs typeface="Carlito"/>
              </a:rPr>
              <a:t>right </a:t>
            </a:r>
            <a:r>
              <a:rPr sz="3200" dirty="0">
                <a:latin typeface="Carlito"/>
                <a:cs typeface="Carlito"/>
              </a:rPr>
              <a:t>of the </a:t>
            </a:r>
            <a:r>
              <a:rPr sz="3200" spc="-10" dirty="0">
                <a:latin typeface="Carlito"/>
                <a:cs typeface="Carlito"/>
              </a:rPr>
              <a:t>minimize </a:t>
            </a:r>
            <a:r>
              <a:rPr sz="3200" spc="-15" dirty="0">
                <a:latin typeface="Carlito"/>
                <a:cs typeface="Carlito"/>
              </a:rPr>
              <a:t>button, </a:t>
            </a:r>
            <a:r>
              <a:rPr sz="3200" spc="-5" dirty="0">
                <a:latin typeface="Carlito"/>
                <a:cs typeface="Carlito"/>
              </a:rPr>
              <a:t>looks  </a:t>
            </a:r>
            <a:r>
              <a:rPr sz="3200" spc="-30" dirty="0">
                <a:latin typeface="Carlito"/>
                <a:cs typeface="Carlito"/>
              </a:rPr>
              <a:t>like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small </a:t>
            </a:r>
            <a:r>
              <a:rPr sz="3200" spc="-40" dirty="0">
                <a:latin typeface="Carlito"/>
                <a:cs typeface="Carlito"/>
              </a:rPr>
              <a:t>window, </a:t>
            </a:r>
            <a:r>
              <a:rPr sz="3200" dirty="0">
                <a:latin typeface="Carlito"/>
                <a:cs typeface="Carlito"/>
              </a:rPr>
              <a:t>It is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enlarge </a:t>
            </a:r>
            <a:r>
              <a:rPr sz="3200" dirty="0">
                <a:latin typeface="Carlito"/>
                <a:cs typeface="Carlito"/>
              </a:rPr>
              <a:t>a  window </a:t>
            </a:r>
            <a:r>
              <a:rPr sz="3200" spc="-15" dirty="0">
                <a:latin typeface="Carlito"/>
                <a:cs typeface="Carlito"/>
              </a:rPr>
              <a:t>to cover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entire desktop</a:t>
            </a:r>
            <a:r>
              <a:rPr sz="3200" spc="-5" dirty="0">
                <a:latin typeface="Carlito"/>
                <a:cs typeface="Carlito"/>
              </a:rPr>
              <a:t> (screen).</a:t>
            </a:r>
            <a:endParaRPr sz="3200">
              <a:latin typeface="Carlito"/>
              <a:cs typeface="Carlito"/>
            </a:endParaRPr>
          </a:p>
          <a:p>
            <a:pPr marL="405765" marR="346075" indent="-342900" algn="just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406400" algn="l"/>
              </a:tabLst>
            </a:pPr>
            <a:r>
              <a:rPr sz="3200" spc="-10" dirty="0">
                <a:latin typeface="Carlito"/>
                <a:cs typeface="Carlito"/>
              </a:rPr>
              <a:t>After </a:t>
            </a:r>
            <a:r>
              <a:rPr sz="3200" dirty="0">
                <a:latin typeface="Carlito"/>
                <a:cs typeface="Carlito"/>
              </a:rPr>
              <a:t>a window is </a:t>
            </a:r>
            <a:r>
              <a:rPr sz="3200" spc="-15" dirty="0">
                <a:latin typeface="Carlito"/>
                <a:cs typeface="Carlito"/>
              </a:rPr>
              <a:t>maximized,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Maximize  </a:t>
            </a:r>
            <a:r>
              <a:rPr sz="3200" spc="-20" dirty="0">
                <a:latin typeface="Carlito"/>
                <a:cs typeface="Carlito"/>
              </a:rPr>
              <a:t>button </a:t>
            </a:r>
            <a:r>
              <a:rPr sz="3200" dirty="0">
                <a:latin typeface="Carlito"/>
                <a:cs typeface="Carlito"/>
              </a:rPr>
              <a:t>changes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25" dirty="0">
                <a:latin typeface="Carlito"/>
                <a:cs typeface="Carlito"/>
              </a:rPr>
              <a:t>Restore </a:t>
            </a:r>
            <a:r>
              <a:rPr sz="3200" spc="-20" dirty="0">
                <a:latin typeface="Carlito"/>
                <a:cs typeface="Carlito"/>
              </a:rPr>
              <a:t>button </a:t>
            </a:r>
            <a:r>
              <a:rPr sz="3200" dirty="0">
                <a:latin typeface="Carlito"/>
                <a:cs typeface="Carlito"/>
              </a:rPr>
              <a:t>which  </a:t>
            </a:r>
            <a:r>
              <a:rPr sz="3200" spc="-5" dirty="0">
                <a:latin typeface="Carlito"/>
                <a:cs typeface="Carlito"/>
              </a:rPr>
              <a:t>looks </a:t>
            </a:r>
            <a:r>
              <a:rPr sz="3200" spc="-35" dirty="0">
                <a:latin typeface="Carlito"/>
                <a:cs typeface="Carlito"/>
              </a:rPr>
              <a:t>like </a:t>
            </a:r>
            <a:r>
              <a:rPr sz="3200" spc="-10" dirty="0">
                <a:latin typeface="Carlito"/>
                <a:cs typeface="Carlito"/>
              </a:rPr>
              <a:t>two </a:t>
            </a: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dirty="0">
                <a:latin typeface="Carlito"/>
                <a:cs typeface="Carlito"/>
              </a:rPr>
              <a:t>near </a:t>
            </a:r>
            <a:r>
              <a:rPr sz="3200" spc="-5" dirty="0">
                <a:latin typeface="Carlito"/>
                <a:cs typeface="Carlito"/>
              </a:rPr>
              <a:t>one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another.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564007"/>
            <a:ext cx="8056880" cy="4582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rlito"/>
                <a:cs typeface="Carlito"/>
              </a:rPr>
              <a:t>Minimizing, </a:t>
            </a:r>
            <a:r>
              <a:rPr sz="3200" spc="-5" dirty="0">
                <a:latin typeface="Carlito"/>
                <a:cs typeface="Carlito"/>
              </a:rPr>
              <a:t>Maximizing,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20" dirty="0">
                <a:latin typeface="Carlito"/>
                <a:cs typeface="Carlito"/>
              </a:rPr>
              <a:t>Restoring</a:t>
            </a:r>
            <a:r>
              <a:rPr sz="3200" spc="6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Windows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50">
              <a:latin typeface="Carlito"/>
              <a:cs typeface="Carlito"/>
            </a:endParaRPr>
          </a:p>
          <a:p>
            <a:pPr marL="355600" marR="13970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If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dirty="0">
                <a:latin typeface="Carlito"/>
                <a:cs typeface="Carlito"/>
              </a:rPr>
              <a:t>click the </a:t>
            </a:r>
            <a:r>
              <a:rPr sz="3200" spc="-25" dirty="0">
                <a:latin typeface="Carlito"/>
                <a:cs typeface="Carlito"/>
              </a:rPr>
              <a:t>Restore </a:t>
            </a:r>
            <a:r>
              <a:rPr sz="3200" spc="-15" dirty="0">
                <a:latin typeface="Carlito"/>
                <a:cs typeface="Carlito"/>
              </a:rPr>
              <a:t>button,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maximized  </a:t>
            </a:r>
            <a:r>
              <a:rPr sz="3200" dirty="0">
                <a:latin typeface="Carlito"/>
                <a:cs typeface="Carlito"/>
              </a:rPr>
              <a:t>window </a:t>
            </a:r>
            <a:r>
              <a:rPr sz="3200" spc="-10" dirty="0">
                <a:latin typeface="Carlito"/>
                <a:cs typeface="Carlito"/>
              </a:rPr>
              <a:t>shrinks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its </a:t>
            </a:r>
            <a:r>
              <a:rPr sz="3200" spc="-5" dirty="0">
                <a:latin typeface="Carlito"/>
                <a:cs typeface="Carlito"/>
              </a:rPr>
              <a:t>previous </a:t>
            </a:r>
            <a:r>
              <a:rPr sz="3200" spc="-25" dirty="0">
                <a:latin typeface="Carlito"/>
                <a:cs typeface="Carlito"/>
              </a:rPr>
              <a:t>size </a:t>
            </a:r>
            <a:r>
              <a:rPr sz="3200" spc="-5" dirty="0">
                <a:latin typeface="Carlito"/>
                <a:cs typeface="Carlito"/>
              </a:rPr>
              <a:t>(the </a:t>
            </a:r>
            <a:r>
              <a:rPr sz="3200" spc="-25" dirty="0">
                <a:latin typeface="Carlito"/>
                <a:cs typeface="Carlito"/>
              </a:rPr>
              <a:t>size </a:t>
            </a:r>
            <a:r>
              <a:rPr sz="3200" dirty="0">
                <a:latin typeface="Carlito"/>
                <a:cs typeface="Carlito"/>
              </a:rPr>
              <a:t>it  </a:t>
            </a:r>
            <a:r>
              <a:rPr sz="3200" spc="-10" dirty="0">
                <a:latin typeface="Carlito"/>
                <a:cs typeface="Carlito"/>
              </a:rPr>
              <a:t>was </a:t>
            </a:r>
            <a:r>
              <a:rPr sz="3200" spc="-25" dirty="0">
                <a:latin typeface="Carlito"/>
                <a:cs typeface="Carlito"/>
              </a:rPr>
              <a:t>before </a:t>
            </a:r>
            <a:r>
              <a:rPr sz="3200" spc="-15" dirty="0">
                <a:latin typeface="Carlito"/>
                <a:cs typeface="Carlito"/>
              </a:rPr>
              <a:t>you maximized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it).</a:t>
            </a:r>
            <a:endParaRPr sz="3200">
              <a:latin typeface="Carlito"/>
              <a:cs typeface="Carlito"/>
            </a:endParaRPr>
          </a:p>
          <a:p>
            <a:pPr marL="355600" marR="27559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Note that </a:t>
            </a:r>
            <a:r>
              <a:rPr sz="3200" dirty="0">
                <a:latin typeface="Carlito"/>
                <a:cs typeface="Carlito"/>
              </a:rPr>
              <a:t>when a window is </a:t>
            </a:r>
            <a:r>
              <a:rPr sz="3200" spc="-15" dirty="0">
                <a:latin typeface="Carlito"/>
                <a:cs typeface="Carlito"/>
              </a:rPr>
              <a:t>maximized, you 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double </a:t>
            </a:r>
            <a:r>
              <a:rPr sz="3200" dirty="0">
                <a:latin typeface="Carlito"/>
                <a:cs typeface="Carlito"/>
              </a:rPr>
              <a:t>click the </a:t>
            </a:r>
            <a:r>
              <a:rPr sz="3200" spc="-5" dirty="0">
                <a:latin typeface="Carlito"/>
                <a:cs typeface="Carlito"/>
              </a:rPr>
              <a:t>title bar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spc="-20" dirty="0">
                <a:latin typeface="Carlito"/>
                <a:cs typeface="Carlito"/>
              </a:rPr>
              <a:t>restore </a:t>
            </a:r>
            <a:r>
              <a:rPr sz="3200" dirty="0">
                <a:latin typeface="Carlito"/>
                <a:cs typeface="Carlito"/>
              </a:rPr>
              <a:t>the  window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its </a:t>
            </a:r>
            <a:r>
              <a:rPr sz="3200" spc="-5" dirty="0">
                <a:latin typeface="Carlito"/>
                <a:cs typeface="Carlito"/>
              </a:rPr>
              <a:t>previous </a:t>
            </a:r>
            <a:r>
              <a:rPr sz="3200" spc="-25" dirty="0">
                <a:latin typeface="Carlito"/>
                <a:cs typeface="Carlito"/>
              </a:rPr>
              <a:t>size </a:t>
            </a:r>
            <a:r>
              <a:rPr sz="3200" dirty="0">
                <a:latin typeface="Carlito"/>
                <a:cs typeface="Carlito"/>
              </a:rPr>
              <a:t>and if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double  </a:t>
            </a:r>
            <a:r>
              <a:rPr sz="3200" dirty="0">
                <a:latin typeface="Carlito"/>
                <a:cs typeface="Carlito"/>
              </a:rPr>
              <a:t>click </a:t>
            </a:r>
            <a:r>
              <a:rPr sz="3200" spc="-10" dirty="0">
                <a:latin typeface="Carlito"/>
                <a:cs typeface="Carlito"/>
              </a:rPr>
              <a:t>again </a:t>
            </a:r>
            <a:r>
              <a:rPr sz="3200" dirty="0">
                <a:latin typeface="Carlito"/>
                <a:cs typeface="Carlito"/>
              </a:rPr>
              <a:t>the window will </a:t>
            </a:r>
            <a:r>
              <a:rPr sz="3200" spc="-5" dirty="0">
                <a:latin typeface="Carlito"/>
                <a:cs typeface="Carlito"/>
              </a:rPr>
              <a:t>be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maximized.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8445" y="121742"/>
            <a:ext cx="3564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Sizing</a:t>
            </a:r>
            <a:r>
              <a:rPr spc="-70" dirty="0"/>
              <a:t> </a:t>
            </a:r>
            <a:r>
              <a:rPr spc="-5" dirty="0"/>
              <a:t>Windows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1295400"/>
            <a:ext cx="3145536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053541"/>
            <a:ext cx="8218805" cy="543306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480435" marR="97155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479800" algn="l"/>
                <a:tab pos="3480435" algn="l"/>
              </a:tabLst>
            </a:pPr>
            <a:r>
              <a:rPr sz="3000" spc="-5" dirty="0">
                <a:latin typeface="Carlito"/>
                <a:cs typeface="Carlito"/>
              </a:rPr>
              <a:t>Sometimes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might </a:t>
            </a:r>
            <a:r>
              <a:rPr sz="3000" spc="-20" dirty="0">
                <a:latin typeface="Carlito"/>
                <a:cs typeface="Carlito"/>
              </a:rPr>
              <a:t>want </a:t>
            </a:r>
            <a:r>
              <a:rPr sz="3000" spc="-15" dirty="0">
                <a:latin typeface="Carlito"/>
                <a:cs typeface="Carlito"/>
              </a:rPr>
              <a:t>to  </a:t>
            </a:r>
            <a:r>
              <a:rPr sz="3000" spc="-5" dirty="0">
                <a:latin typeface="Carlito"/>
                <a:cs typeface="Carlito"/>
              </a:rPr>
              <a:t>see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opened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spc="-5" dirty="0">
                <a:latin typeface="Carlito"/>
                <a:cs typeface="Carlito"/>
              </a:rPr>
              <a:t>on 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10" dirty="0">
                <a:latin typeface="Carlito"/>
                <a:cs typeface="Carlito"/>
              </a:rPr>
              <a:t>screen </a:t>
            </a:r>
            <a:r>
              <a:rPr sz="3000" spc="-15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same</a:t>
            </a:r>
            <a:r>
              <a:rPr sz="3000" spc="-9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time.</a:t>
            </a:r>
            <a:endParaRPr sz="3000">
              <a:latin typeface="Carlito"/>
              <a:cs typeface="Carlito"/>
            </a:endParaRPr>
          </a:p>
          <a:p>
            <a:pPr marL="3480435" marR="5080" indent="-342900" algn="just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480435" algn="l"/>
              </a:tabLst>
            </a:pPr>
            <a:r>
              <a:rPr sz="3000" dirty="0">
                <a:latin typeface="Carlito"/>
                <a:cs typeface="Carlito"/>
              </a:rPr>
              <a:t>If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use </a:t>
            </a:r>
            <a:r>
              <a:rPr sz="3000" spc="-15" dirty="0">
                <a:latin typeface="Carlito"/>
                <a:cs typeface="Carlito"/>
              </a:rPr>
              <a:t>maximize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25" dirty="0">
                <a:latin typeface="Carlito"/>
                <a:cs typeface="Carlito"/>
              </a:rPr>
              <a:t>restore 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can </a:t>
            </a:r>
            <a:r>
              <a:rPr sz="3000" spc="-10" dirty="0">
                <a:latin typeface="Carlito"/>
                <a:cs typeface="Carlito"/>
              </a:rPr>
              <a:t>only </a:t>
            </a:r>
            <a:r>
              <a:rPr sz="3000" spc="-5" dirty="0">
                <a:latin typeface="Carlito"/>
                <a:cs typeface="Carlito"/>
              </a:rPr>
              <a:t>see one </a:t>
            </a:r>
            <a:r>
              <a:rPr sz="3000" spc="-10" dirty="0">
                <a:latin typeface="Carlito"/>
                <a:cs typeface="Carlito"/>
              </a:rPr>
              <a:t>screen </a:t>
            </a:r>
            <a:r>
              <a:rPr sz="3000" spc="-15" dirty="0">
                <a:latin typeface="Carlito"/>
                <a:cs typeface="Carlito"/>
              </a:rPr>
              <a:t>at  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time.</a:t>
            </a:r>
            <a:endParaRPr sz="3000">
              <a:latin typeface="Carlito"/>
              <a:cs typeface="Carlito"/>
            </a:endParaRPr>
          </a:p>
          <a:p>
            <a:pPr marL="12700" marR="266700">
              <a:lnSpc>
                <a:spcPct val="100000"/>
              </a:lnSpc>
              <a:spcBef>
                <a:spcPts val="1945"/>
              </a:spcBef>
            </a:pPr>
            <a:r>
              <a:rPr sz="2800" b="1" spc="-40" dirty="0">
                <a:solidFill>
                  <a:srgbClr val="0D090F"/>
                </a:solidFill>
                <a:latin typeface="Times New Roman"/>
                <a:cs typeface="Times New Roman"/>
              </a:rPr>
              <a:t>However,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you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can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manually </a:t>
            </a:r>
            <a:r>
              <a:rPr sz="2800" b="1" spc="-20" dirty="0">
                <a:solidFill>
                  <a:srgbClr val="0D090F"/>
                </a:solidFill>
                <a:latin typeface="Times New Roman"/>
                <a:cs typeface="Times New Roman"/>
              </a:rPr>
              <a:t>resize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the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open </a:t>
            </a:r>
            <a:r>
              <a:rPr sz="2800" b="1" spc="-10" dirty="0">
                <a:solidFill>
                  <a:srgbClr val="0D090F"/>
                </a:solidFill>
                <a:latin typeface="Times New Roman"/>
                <a:cs typeface="Times New Roman"/>
              </a:rPr>
              <a:t>windows 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so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that you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can see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all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of them at the same</a:t>
            </a:r>
            <a:r>
              <a:rPr sz="2800" b="1" spc="15" dirty="0">
                <a:solidFill>
                  <a:srgbClr val="0D090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  <a:p>
            <a:pPr marL="12700" marR="342900">
              <a:lnSpc>
                <a:spcPct val="100000"/>
              </a:lnSpc>
            </a:pPr>
            <a:r>
              <a:rPr sz="2800" b="1" spc="-10" dirty="0">
                <a:solidFill>
                  <a:srgbClr val="0D090F"/>
                </a:solidFill>
                <a:latin typeface="Times New Roman"/>
                <a:cs typeface="Times New Roman"/>
              </a:rPr>
              <a:t>Sizing window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is </a:t>
            </a:r>
            <a:r>
              <a:rPr sz="2800" b="1" dirty="0">
                <a:solidFill>
                  <a:srgbClr val="0D090F"/>
                </a:solidFill>
                <a:latin typeface="Times New Roman"/>
                <a:cs typeface="Times New Roman"/>
              </a:rPr>
              <a:t>slightly </a:t>
            </a:r>
            <a:r>
              <a:rPr sz="2800" b="1" spc="-10" dirty="0">
                <a:solidFill>
                  <a:srgbClr val="0D090F"/>
                </a:solidFill>
                <a:latin typeface="Times New Roman"/>
                <a:cs typeface="Times New Roman"/>
              </a:rPr>
              <a:t>different </a:t>
            </a:r>
            <a:r>
              <a:rPr sz="2800" b="1" spc="-15" dirty="0">
                <a:solidFill>
                  <a:srgbClr val="0D090F"/>
                </a:solidFill>
                <a:latin typeface="Times New Roman"/>
                <a:cs typeface="Times New Roman"/>
              </a:rPr>
              <a:t>from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minimizing,  </a:t>
            </a:r>
            <a:r>
              <a:rPr sz="2800" b="1" spc="-10" dirty="0">
                <a:solidFill>
                  <a:srgbClr val="0D090F"/>
                </a:solidFill>
                <a:latin typeface="Times New Roman"/>
                <a:cs typeface="Times New Roman"/>
              </a:rPr>
              <a:t>restoring,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or</a:t>
            </a:r>
            <a:r>
              <a:rPr sz="2800" b="1" spc="-55" dirty="0">
                <a:solidFill>
                  <a:srgbClr val="0D090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D090F"/>
                </a:solidFill>
                <a:latin typeface="Times New Roman"/>
                <a:cs typeface="Times New Roman"/>
              </a:rPr>
              <a:t>maximizing.</a:t>
            </a:r>
            <a:endParaRPr sz="2800">
              <a:latin typeface="Times New Roman"/>
              <a:cs typeface="Times New Roman"/>
            </a:endParaRPr>
          </a:p>
          <a:p>
            <a:pPr marL="12700" marR="1526540">
              <a:lnSpc>
                <a:spcPts val="3379"/>
              </a:lnSpc>
              <a:spcBef>
                <a:spcPts val="15"/>
              </a:spcBef>
            </a:pPr>
            <a:r>
              <a:rPr sz="2800" b="1" spc="-15" dirty="0">
                <a:solidFill>
                  <a:srgbClr val="0D090F"/>
                </a:solidFill>
                <a:latin typeface="Carlito"/>
                <a:cs typeface="Carlito"/>
              </a:rPr>
              <a:t>Note: </a:t>
            </a:r>
            <a:r>
              <a:rPr sz="2800" b="1" spc="-80" dirty="0">
                <a:solidFill>
                  <a:srgbClr val="0D090F"/>
                </a:solidFill>
                <a:latin typeface="Carlito"/>
                <a:cs typeface="Carlito"/>
              </a:rPr>
              <a:t>You </a:t>
            </a:r>
            <a:r>
              <a:rPr sz="2800" b="1" spc="-10" dirty="0">
                <a:solidFill>
                  <a:srgbClr val="0D090F"/>
                </a:solidFill>
                <a:latin typeface="Carlito"/>
                <a:cs typeface="Carlito"/>
              </a:rPr>
              <a:t>cannot </a:t>
            </a:r>
            <a:r>
              <a:rPr sz="2800" b="1" spc="-15" dirty="0">
                <a:solidFill>
                  <a:srgbClr val="0D090F"/>
                </a:solidFill>
                <a:latin typeface="Carlito"/>
                <a:cs typeface="Carlito"/>
              </a:rPr>
              <a:t>size </a:t>
            </a:r>
            <a:r>
              <a:rPr sz="2800" b="1" spc="-5" dirty="0">
                <a:solidFill>
                  <a:srgbClr val="0D090F"/>
                </a:solidFill>
                <a:latin typeface="Carlito"/>
                <a:cs typeface="Carlito"/>
              </a:rPr>
              <a:t>a </a:t>
            </a:r>
            <a:r>
              <a:rPr sz="2800" b="1" spc="-10" dirty="0">
                <a:solidFill>
                  <a:srgbClr val="0D090F"/>
                </a:solidFill>
                <a:latin typeface="Carlito"/>
                <a:cs typeface="Carlito"/>
              </a:rPr>
              <a:t>window </a:t>
            </a:r>
            <a:r>
              <a:rPr sz="2800" b="1" spc="-5" dirty="0">
                <a:solidFill>
                  <a:srgbClr val="0D090F"/>
                </a:solidFill>
                <a:latin typeface="Carlito"/>
                <a:cs typeface="Carlito"/>
              </a:rPr>
              <a:t>if it has been  </a:t>
            </a:r>
            <a:r>
              <a:rPr sz="2800" b="1" spc="-15" dirty="0">
                <a:solidFill>
                  <a:srgbClr val="0D090F"/>
                </a:solidFill>
                <a:latin typeface="Carlito"/>
                <a:cs typeface="Carlito"/>
              </a:rPr>
              <a:t>maximized.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8445" y="105613"/>
            <a:ext cx="3564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Sizing</a:t>
            </a:r>
            <a:r>
              <a:rPr spc="-70" dirty="0"/>
              <a:t> </a:t>
            </a:r>
            <a:r>
              <a:rPr spc="-5" dirty="0"/>
              <a:t>Windows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8030"/>
            <a:ext cx="8060055" cy="49187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30" dirty="0">
                <a:latin typeface="Carlito"/>
                <a:cs typeface="Carlito"/>
              </a:rPr>
              <a:t>To </a:t>
            </a:r>
            <a:r>
              <a:rPr sz="3000" spc="-20" dirty="0">
                <a:latin typeface="Carlito"/>
                <a:cs typeface="Carlito"/>
              </a:rPr>
              <a:t>resize 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135" dirty="0">
                <a:latin typeface="Carlito"/>
                <a:cs typeface="Carlito"/>
              </a:rPr>
              <a:t> </a:t>
            </a:r>
            <a:r>
              <a:rPr sz="3000" spc="-40" dirty="0">
                <a:latin typeface="Carlito"/>
                <a:cs typeface="Carlito"/>
              </a:rPr>
              <a:t>window,</a:t>
            </a:r>
            <a:endParaRPr sz="3000">
              <a:latin typeface="Carlito"/>
              <a:cs typeface="Carlito"/>
            </a:endParaRPr>
          </a:p>
          <a:p>
            <a:pPr marL="355600" marR="926465" indent="-342900">
              <a:lnSpc>
                <a:spcPts val="324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Move </a:t>
            </a:r>
            <a:r>
              <a:rPr sz="3000" dirty="0">
                <a:latin typeface="Carlito"/>
                <a:cs typeface="Carlito"/>
              </a:rPr>
              <a:t>the mouse </a:t>
            </a:r>
            <a:r>
              <a:rPr sz="3000" spc="-15" dirty="0">
                <a:latin typeface="Carlito"/>
                <a:cs typeface="Carlito"/>
              </a:rPr>
              <a:t>pointer </a:t>
            </a:r>
            <a:r>
              <a:rPr sz="3000" spc="-10" dirty="0">
                <a:latin typeface="Carlito"/>
                <a:cs typeface="Carlito"/>
              </a:rPr>
              <a:t>over </a:t>
            </a:r>
            <a:r>
              <a:rPr sz="3000" spc="-20" dirty="0">
                <a:latin typeface="Carlito"/>
                <a:cs typeface="Carlito"/>
              </a:rPr>
              <a:t>any </a:t>
            </a:r>
            <a:r>
              <a:rPr sz="3000" spc="-10" dirty="0">
                <a:latin typeface="Carlito"/>
                <a:cs typeface="Carlito"/>
              </a:rPr>
              <a:t>corner </a:t>
            </a:r>
            <a:r>
              <a:rPr sz="3000" dirty="0">
                <a:latin typeface="Carlito"/>
                <a:cs typeface="Carlito"/>
              </a:rPr>
              <a:t>or  </a:t>
            </a:r>
            <a:r>
              <a:rPr sz="3000" spc="-10" dirty="0">
                <a:latin typeface="Carlito"/>
                <a:cs typeface="Carlito"/>
              </a:rPr>
              <a:t>border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spc="-30" dirty="0">
                <a:latin typeface="Carlito"/>
                <a:cs typeface="Carlito"/>
              </a:rPr>
              <a:t>window.</a:t>
            </a:r>
            <a:endParaRPr sz="3000">
              <a:latin typeface="Carlito"/>
              <a:cs typeface="Carlito"/>
            </a:endParaRPr>
          </a:p>
          <a:p>
            <a:pPr marL="355600" marR="15240" indent="-342900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dirty="0">
                <a:latin typeface="Carlito"/>
                <a:cs typeface="Carlito"/>
              </a:rPr>
              <a:t>mouse </a:t>
            </a:r>
            <a:r>
              <a:rPr sz="3000" spc="-15" dirty="0">
                <a:latin typeface="Carlito"/>
                <a:cs typeface="Carlito"/>
              </a:rPr>
              <a:t>pointer </a:t>
            </a:r>
            <a:r>
              <a:rPr sz="3000" spc="-5" dirty="0">
                <a:latin typeface="Carlito"/>
                <a:cs typeface="Carlito"/>
              </a:rPr>
              <a:t>changes </a:t>
            </a:r>
            <a:r>
              <a:rPr sz="3000" spc="-15" dirty="0">
                <a:latin typeface="Carlito"/>
                <a:cs typeface="Carlito"/>
              </a:rPr>
              <a:t>into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double-headed  arrow </a:t>
            </a:r>
            <a:r>
              <a:rPr sz="3000" spc="-5" dirty="0">
                <a:latin typeface="Carlito"/>
                <a:cs typeface="Carlito"/>
              </a:rPr>
              <a:t>pointing either up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down, </a:t>
            </a:r>
            <a:r>
              <a:rPr sz="3000" spc="-10" dirty="0">
                <a:latin typeface="Carlito"/>
                <a:cs typeface="Carlito"/>
              </a:rPr>
              <a:t>left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right,  or </a:t>
            </a:r>
            <a:r>
              <a:rPr sz="3000" spc="-10" dirty="0">
                <a:latin typeface="Carlito"/>
                <a:cs typeface="Carlito"/>
              </a:rPr>
              <a:t>diagonal </a:t>
            </a:r>
            <a:r>
              <a:rPr sz="3000" dirty="0">
                <a:latin typeface="Carlito"/>
                <a:cs typeface="Carlito"/>
              </a:rPr>
              <a:t>if the mouse </a:t>
            </a:r>
            <a:r>
              <a:rPr sz="3000" spc="-15" dirty="0">
                <a:latin typeface="Carlito"/>
                <a:cs typeface="Carlito"/>
              </a:rPr>
              <a:t>pointer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move </a:t>
            </a:r>
            <a:r>
              <a:rPr sz="3000" spc="-10" dirty="0">
                <a:latin typeface="Carlito"/>
                <a:cs typeface="Carlito"/>
              </a:rPr>
              <a:t>over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5" dirty="0">
                <a:latin typeface="Carlito"/>
                <a:cs typeface="Carlito"/>
              </a:rPr>
              <a:t>bottom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top, </a:t>
            </a:r>
            <a:r>
              <a:rPr sz="3000" spc="-15" dirty="0">
                <a:latin typeface="Carlito"/>
                <a:cs typeface="Carlito"/>
              </a:rPr>
              <a:t>left </a:t>
            </a:r>
            <a:r>
              <a:rPr sz="3000" spc="-5" dirty="0">
                <a:latin typeface="Carlito"/>
                <a:cs typeface="Carlito"/>
              </a:rPr>
              <a:t>or right, or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corner  </a:t>
            </a:r>
            <a:r>
              <a:rPr sz="3000" spc="-20" dirty="0">
                <a:latin typeface="Carlito"/>
                <a:cs typeface="Carlito"/>
              </a:rPr>
              <a:t>respectively.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80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should </a:t>
            </a:r>
            <a:r>
              <a:rPr sz="3000" spc="-25" dirty="0">
                <a:latin typeface="Carlito"/>
                <a:cs typeface="Carlito"/>
              </a:rPr>
              <a:t>always </a:t>
            </a:r>
            <a:r>
              <a:rPr sz="3000" spc="-20" dirty="0">
                <a:latin typeface="Carlito"/>
                <a:cs typeface="Carlito"/>
              </a:rPr>
              <a:t>make </a:t>
            </a:r>
            <a:r>
              <a:rPr sz="3000" spc="-15" dirty="0">
                <a:latin typeface="Carlito"/>
                <a:cs typeface="Carlito"/>
              </a:rPr>
              <a:t>sure </a:t>
            </a:r>
            <a:r>
              <a:rPr sz="3000" spc="-5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the mouse  </a:t>
            </a:r>
            <a:r>
              <a:rPr sz="3000" spc="-15" dirty="0">
                <a:latin typeface="Carlito"/>
                <a:cs typeface="Carlito"/>
              </a:rPr>
              <a:t>pointer </a:t>
            </a:r>
            <a:r>
              <a:rPr sz="3000" spc="-5" dirty="0">
                <a:latin typeface="Carlito"/>
                <a:cs typeface="Carlito"/>
              </a:rPr>
              <a:t>changes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double-headed </a:t>
            </a:r>
            <a:r>
              <a:rPr sz="3000" spc="-15" dirty="0">
                <a:latin typeface="Carlito"/>
                <a:cs typeface="Carlito"/>
              </a:rPr>
              <a:t>arrow </a:t>
            </a:r>
            <a:r>
              <a:rPr sz="3000" spc="-25" dirty="0">
                <a:latin typeface="Carlito"/>
                <a:cs typeface="Carlito"/>
              </a:rPr>
              <a:t>before 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proceed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next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step.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8157" y="461899"/>
            <a:ext cx="35648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Sizing</a:t>
            </a:r>
            <a:r>
              <a:rPr spc="-70" dirty="0"/>
              <a:t> </a:t>
            </a:r>
            <a:r>
              <a:rPr spc="-5" dirty="0"/>
              <a:t>Windows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50735"/>
            <a:ext cx="7884159" cy="500189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Click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hold down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left </a:t>
            </a:r>
            <a:r>
              <a:rPr sz="3200" dirty="0">
                <a:latin typeface="Carlito"/>
                <a:cs typeface="Carlito"/>
              </a:rPr>
              <a:t>mouse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button.</a:t>
            </a:r>
            <a:endParaRPr sz="3200">
              <a:latin typeface="Carlito"/>
              <a:cs typeface="Carlito"/>
            </a:endParaRPr>
          </a:p>
          <a:p>
            <a:pPr marL="355600" marR="48831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rlito"/>
                <a:cs typeface="Carlito"/>
              </a:rPr>
              <a:t>Drag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double-headed </a:t>
            </a:r>
            <a:r>
              <a:rPr sz="3200" spc="-15" dirty="0">
                <a:latin typeface="Carlito"/>
                <a:cs typeface="Carlito"/>
              </a:rPr>
              <a:t>arrow </a:t>
            </a:r>
            <a:r>
              <a:rPr sz="3200" spc="-5" dirty="0">
                <a:latin typeface="Carlito"/>
                <a:cs typeface="Carlito"/>
              </a:rPr>
              <a:t>out or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20" dirty="0">
                <a:latin typeface="Carlito"/>
                <a:cs typeface="Carlito"/>
              </a:rPr>
              <a:t>to  </a:t>
            </a:r>
            <a:r>
              <a:rPr sz="3200" spc="-30" dirty="0">
                <a:latin typeface="Carlito"/>
                <a:cs typeface="Carlito"/>
              </a:rPr>
              <a:t>make </a:t>
            </a:r>
            <a:r>
              <a:rPr sz="3200" dirty="0">
                <a:latin typeface="Carlito"/>
                <a:cs typeface="Carlito"/>
              </a:rPr>
              <a:t>the window </a:t>
            </a:r>
            <a:r>
              <a:rPr sz="3200" spc="-15" dirty="0">
                <a:latin typeface="Carlito"/>
                <a:cs typeface="Carlito"/>
              </a:rPr>
              <a:t>larger </a:t>
            </a:r>
            <a:r>
              <a:rPr sz="3200" spc="-5" dirty="0">
                <a:latin typeface="Carlito"/>
                <a:cs typeface="Carlito"/>
              </a:rPr>
              <a:t>or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45" dirty="0">
                <a:latin typeface="Carlito"/>
                <a:cs typeface="Carlito"/>
              </a:rPr>
              <a:t>smaller.</a:t>
            </a:r>
            <a:endParaRPr sz="3200">
              <a:latin typeface="Carlito"/>
              <a:cs typeface="Carlito"/>
            </a:endParaRPr>
          </a:p>
          <a:p>
            <a:pPr marL="355600" marR="11620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Release </a:t>
            </a:r>
            <a:r>
              <a:rPr sz="3200" dirty="0">
                <a:latin typeface="Carlito"/>
                <a:cs typeface="Carlito"/>
              </a:rPr>
              <a:t>the mouse </a:t>
            </a:r>
            <a:r>
              <a:rPr sz="3200" spc="-15" dirty="0">
                <a:latin typeface="Carlito"/>
                <a:cs typeface="Carlito"/>
              </a:rPr>
              <a:t>button </a:t>
            </a:r>
            <a:r>
              <a:rPr sz="3200" dirty="0">
                <a:latin typeface="Carlito"/>
                <a:cs typeface="Carlito"/>
              </a:rPr>
              <a:t>when the window  is the </a:t>
            </a:r>
            <a:r>
              <a:rPr sz="3200" spc="-20" dirty="0">
                <a:latin typeface="Carlito"/>
                <a:cs typeface="Carlito"/>
              </a:rPr>
              <a:t>size </a:t>
            </a:r>
            <a:r>
              <a:rPr sz="3200" spc="-15" dirty="0">
                <a:latin typeface="Carlito"/>
                <a:cs typeface="Carlito"/>
              </a:rPr>
              <a:t>you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want.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solidFill>
                  <a:srgbClr val="FF0000"/>
                </a:solidFill>
                <a:latin typeface="Carlito"/>
                <a:cs typeface="Carlito"/>
              </a:rPr>
              <a:t>Alternatively</a:t>
            </a:r>
            <a:r>
              <a:rPr sz="3200" spc="-25" dirty="0">
                <a:latin typeface="Carlito"/>
                <a:cs typeface="Carlito"/>
              </a:rPr>
              <a:t>,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spc="-5" dirty="0">
                <a:latin typeface="Carlito"/>
                <a:cs typeface="Carlito"/>
              </a:rPr>
              <a:t>also </a:t>
            </a:r>
            <a:r>
              <a:rPr sz="3200" spc="-25" dirty="0">
                <a:latin typeface="Carlito"/>
                <a:cs typeface="Carlito"/>
              </a:rPr>
              <a:t>resize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window by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following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method: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Right </a:t>
            </a:r>
            <a:r>
              <a:rPr sz="3200" dirty="0">
                <a:latin typeface="Carlito"/>
                <a:cs typeface="Carlito"/>
              </a:rPr>
              <a:t>click </a:t>
            </a:r>
            <a:r>
              <a:rPr sz="3200" spc="-20" dirty="0">
                <a:latin typeface="Carlito"/>
                <a:cs typeface="Carlito"/>
              </a:rPr>
              <a:t>any </a:t>
            </a:r>
            <a:r>
              <a:rPr sz="3200" spc="-5" dirty="0">
                <a:latin typeface="Carlito"/>
                <a:cs typeface="Carlito"/>
              </a:rPr>
              <a:t>blank </a:t>
            </a:r>
            <a:r>
              <a:rPr sz="3200" spc="-10" dirty="0">
                <a:latin typeface="Carlito"/>
                <a:cs typeface="Carlito"/>
              </a:rPr>
              <a:t>area </a:t>
            </a:r>
            <a:r>
              <a:rPr sz="3200" dirty="0">
                <a:latin typeface="Carlito"/>
                <a:cs typeface="Carlito"/>
              </a:rPr>
              <a:t>of the </a:t>
            </a:r>
            <a:r>
              <a:rPr sz="3200" spc="-5" dirty="0">
                <a:latin typeface="Carlito"/>
                <a:cs typeface="Carlito"/>
              </a:rPr>
              <a:t>title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85" dirty="0">
                <a:latin typeface="Carlito"/>
                <a:cs typeface="Carlito"/>
              </a:rPr>
              <a:t>bar.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Select </a:t>
            </a:r>
            <a:r>
              <a:rPr sz="3200" spc="-10" dirty="0">
                <a:latin typeface="Carlito"/>
                <a:cs typeface="Carlito"/>
              </a:rPr>
              <a:t>move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dirty="0">
                <a:latin typeface="Carlito"/>
                <a:cs typeface="Carlito"/>
              </a:rPr>
              <a:t>the menu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options.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8157" y="461899"/>
            <a:ext cx="35648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Sizing</a:t>
            </a:r>
            <a:r>
              <a:rPr spc="-70" dirty="0"/>
              <a:t> </a:t>
            </a:r>
            <a:r>
              <a:rPr spc="-5" dirty="0"/>
              <a:t>Windows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471"/>
            <a:ext cx="7917180" cy="487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Press </a:t>
            </a:r>
            <a:r>
              <a:rPr sz="3000" dirty="0">
                <a:latin typeface="Carlito"/>
                <a:cs typeface="Carlito"/>
              </a:rPr>
              <a:t>either the </a:t>
            </a:r>
            <a:r>
              <a:rPr sz="3000" spc="-5" dirty="0">
                <a:latin typeface="Carlito"/>
                <a:cs typeface="Carlito"/>
              </a:rPr>
              <a:t>Up </a:t>
            </a:r>
            <a:r>
              <a:rPr sz="3000" dirty="0">
                <a:latin typeface="Carlito"/>
                <a:cs typeface="Carlito"/>
              </a:rPr>
              <a:t>or </a:t>
            </a:r>
            <a:r>
              <a:rPr sz="3000" spc="-5" dirty="0">
                <a:latin typeface="Carlito"/>
                <a:cs typeface="Carlito"/>
              </a:rPr>
              <a:t>Down </a:t>
            </a:r>
            <a:r>
              <a:rPr sz="3000" spc="-10" dirty="0">
                <a:latin typeface="Carlito"/>
                <a:cs typeface="Carlito"/>
              </a:rPr>
              <a:t>arrow </a:t>
            </a:r>
            <a:r>
              <a:rPr sz="3000" spc="-40" dirty="0">
                <a:latin typeface="Carlito"/>
                <a:cs typeface="Carlito"/>
              </a:rPr>
              <a:t>key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your  </a:t>
            </a:r>
            <a:r>
              <a:rPr sz="3000" spc="-20" dirty="0">
                <a:latin typeface="Carlito"/>
                <a:cs typeface="Carlito"/>
              </a:rPr>
              <a:t>keyboard </a:t>
            </a:r>
            <a:r>
              <a:rPr sz="3000" dirty="0">
                <a:latin typeface="Carlito"/>
                <a:cs typeface="Carlito"/>
              </a:rPr>
              <a:t>if </a:t>
            </a:r>
            <a:r>
              <a:rPr sz="3000" spc="-15" dirty="0">
                <a:latin typeface="Carlito"/>
                <a:cs typeface="Carlito"/>
              </a:rPr>
              <a:t>you want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window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be longer or  </a:t>
            </a:r>
            <a:r>
              <a:rPr sz="3000" spc="-45" dirty="0">
                <a:latin typeface="Carlito"/>
                <a:cs typeface="Carlito"/>
              </a:rPr>
              <a:t>shorter.</a:t>
            </a:r>
            <a:endParaRPr sz="3000">
              <a:latin typeface="Carlito"/>
              <a:cs typeface="Carlito"/>
            </a:endParaRPr>
          </a:p>
          <a:p>
            <a:pPr marL="355600" marR="15494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80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are to press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left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right arrow </a:t>
            </a:r>
            <a:r>
              <a:rPr sz="3000" spc="-40" dirty="0">
                <a:latin typeface="Carlito"/>
                <a:cs typeface="Carlito"/>
              </a:rPr>
              <a:t>key </a:t>
            </a:r>
            <a:r>
              <a:rPr sz="3000" dirty="0">
                <a:latin typeface="Carlito"/>
                <a:cs typeface="Carlito"/>
              </a:rPr>
              <a:t>if  </a:t>
            </a:r>
            <a:r>
              <a:rPr sz="3000" spc="-15" dirty="0">
                <a:latin typeface="Carlito"/>
                <a:cs typeface="Carlito"/>
              </a:rPr>
              <a:t>you want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window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dirty="0">
                <a:latin typeface="Carlito"/>
                <a:cs typeface="Carlito"/>
              </a:rPr>
              <a:t>wider </a:t>
            </a:r>
            <a:r>
              <a:rPr sz="3000" spc="-5" dirty="0">
                <a:latin typeface="Carlito"/>
                <a:cs typeface="Carlito"/>
              </a:rPr>
              <a:t>or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45" dirty="0">
                <a:latin typeface="Carlito"/>
                <a:cs typeface="Carlito"/>
              </a:rPr>
              <a:t>narrower.</a:t>
            </a:r>
            <a:endParaRPr sz="3000">
              <a:latin typeface="Carlito"/>
              <a:cs typeface="Carlito"/>
            </a:endParaRPr>
          </a:p>
          <a:p>
            <a:pPr marL="355600" marR="8001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This locks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one side of </a:t>
            </a:r>
            <a:r>
              <a:rPr sz="3000" dirty="0">
                <a:latin typeface="Carlito"/>
                <a:cs typeface="Carlito"/>
              </a:rPr>
              <a:t>the window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5" dirty="0">
                <a:latin typeface="Carlito"/>
                <a:cs typeface="Carlito"/>
              </a:rPr>
              <a:t>mouse </a:t>
            </a:r>
            <a:r>
              <a:rPr sz="3000" spc="-10" dirty="0">
                <a:latin typeface="Carlito"/>
                <a:cs typeface="Carlito"/>
              </a:rPr>
              <a:t>pointer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as the </a:t>
            </a:r>
            <a:r>
              <a:rPr sz="3000" spc="-5" dirty="0">
                <a:latin typeface="Carlito"/>
                <a:cs typeface="Carlito"/>
              </a:rPr>
              <a:t>mouse </a:t>
            </a:r>
            <a:r>
              <a:rPr sz="3000" spc="-10" dirty="0">
                <a:latin typeface="Carlito"/>
                <a:cs typeface="Carlito"/>
              </a:rPr>
              <a:t>pointer </a:t>
            </a:r>
            <a:r>
              <a:rPr sz="3000" dirty="0">
                <a:latin typeface="Carlito"/>
                <a:cs typeface="Carlito"/>
              </a:rPr>
              <a:t>is  </a:t>
            </a:r>
            <a:r>
              <a:rPr sz="3000" spc="-5" dirty="0">
                <a:latin typeface="Carlito"/>
                <a:cs typeface="Carlito"/>
              </a:rPr>
              <a:t>moved </a:t>
            </a:r>
            <a:r>
              <a:rPr sz="3000" spc="-10" dirty="0">
                <a:latin typeface="Carlito"/>
                <a:cs typeface="Carlito"/>
              </a:rPr>
              <a:t>around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window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resize.</a:t>
            </a:r>
            <a:endParaRPr sz="3000">
              <a:latin typeface="Carlito"/>
              <a:cs typeface="Carlito"/>
            </a:endParaRPr>
          </a:p>
          <a:p>
            <a:pPr marL="355600" marR="81597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Click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left </a:t>
            </a:r>
            <a:r>
              <a:rPr sz="3000" spc="-15" dirty="0">
                <a:latin typeface="Carlito"/>
                <a:cs typeface="Carlito"/>
              </a:rPr>
              <a:t>button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mouse </a:t>
            </a:r>
            <a:r>
              <a:rPr sz="3000" dirty="0">
                <a:latin typeface="Carlito"/>
                <a:cs typeface="Carlito"/>
              </a:rPr>
              <a:t>when</a:t>
            </a:r>
            <a:r>
              <a:rPr sz="3000" spc="-9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desired </a:t>
            </a:r>
            <a:r>
              <a:rPr sz="3000" spc="-20" dirty="0">
                <a:latin typeface="Carlito"/>
                <a:cs typeface="Carlito"/>
              </a:rPr>
              <a:t>size </a:t>
            </a:r>
            <a:r>
              <a:rPr sz="3000" dirty="0">
                <a:latin typeface="Carlito"/>
                <a:cs typeface="Carlito"/>
              </a:rPr>
              <a:t>is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obtained.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8157" y="461899"/>
            <a:ext cx="35648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Sizing</a:t>
            </a:r>
            <a:r>
              <a:rPr spc="-70" dirty="0"/>
              <a:t> </a:t>
            </a:r>
            <a:r>
              <a:rPr spc="-5" dirty="0"/>
              <a:t>Windows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69747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rlito"/>
                <a:cs typeface="Carlito"/>
              </a:rPr>
              <a:t>Before </a:t>
            </a:r>
            <a:r>
              <a:rPr sz="3200" spc="-5" dirty="0">
                <a:latin typeface="Carlito"/>
                <a:cs typeface="Carlito"/>
              </a:rPr>
              <a:t>clicking </a:t>
            </a:r>
            <a:r>
              <a:rPr sz="3200" spc="-10" dirty="0">
                <a:latin typeface="Carlito"/>
                <a:cs typeface="Carlito"/>
              </a:rPr>
              <a:t>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left </a:t>
            </a:r>
            <a:r>
              <a:rPr sz="3200" dirty="0">
                <a:latin typeface="Carlito"/>
                <a:cs typeface="Carlito"/>
              </a:rPr>
              <a:t>mouse </a:t>
            </a:r>
            <a:r>
              <a:rPr sz="3200" spc="-15" dirty="0">
                <a:latin typeface="Carlito"/>
                <a:cs typeface="Carlito"/>
              </a:rPr>
              <a:t>button, you  </a:t>
            </a:r>
            <a:r>
              <a:rPr sz="3200" spc="-10" dirty="0">
                <a:latin typeface="Carlito"/>
                <a:cs typeface="Carlito"/>
              </a:rPr>
              <a:t>can press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escape (Esc) </a:t>
            </a:r>
            <a:r>
              <a:rPr sz="3200" spc="-45" dirty="0">
                <a:latin typeface="Carlito"/>
                <a:cs typeface="Carlito"/>
              </a:rPr>
              <a:t>key </a:t>
            </a:r>
            <a:r>
              <a:rPr sz="3200" dirty="0">
                <a:latin typeface="Carlito"/>
                <a:cs typeface="Carlito"/>
              </a:rPr>
              <a:t>if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change  </a:t>
            </a:r>
            <a:r>
              <a:rPr sz="3200" spc="-10" dirty="0">
                <a:latin typeface="Carlito"/>
                <a:cs typeface="Carlito"/>
              </a:rPr>
              <a:t>your </a:t>
            </a:r>
            <a:r>
              <a:rPr sz="3200" spc="-5" dirty="0">
                <a:latin typeface="Carlito"/>
                <a:cs typeface="Carlito"/>
              </a:rPr>
              <a:t>mind </a:t>
            </a:r>
            <a:r>
              <a:rPr sz="3200" dirty="0">
                <a:latin typeface="Carlito"/>
                <a:cs typeface="Carlito"/>
              </a:rPr>
              <a:t>on </a:t>
            </a:r>
            <a:r>
              <a:rPr sz="3200" spc="-5" dirty="0">
                <a:latin typeface="Carlito"/>
                <a:cs typeface="Carlito"/>
              </a:rPr>
              <a:t>resizing </a:t>
            </a:r>
            <a:r>
              <a:rPr sz="3200" dirty="0">
                <a:latin typeface="Carlito"/>
                <a:cs typeface="Carlito"/>
              </a:rPr>
              <a:t>so as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return </a:t>
            </a:r>
            <a:r>
              <a:rPr sz="3200" spc="-10" dirty="0">
                <a:latin typeface="Carlito"/>
                <a:cs typeface="Carlito"/>
              </a:rPr>
              <a:t>your  </a:t>
            </a:r>
            <a:r>
              <a:rPr sz="3200" dirty="0">
                <a:latin typeface="Carlito"/>
                <a:cs typeface="Carlito"/>
              </a:rPr>
              <a:t>window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its </a:t>
            </a:r>
            <a:r>
              <a:rPr sz="3200" spc="-5" dirty="0">
                <a:latin typeface="Carlito"/>
                <a:cs typeface="Carlito"/>
              </a:rPr>
              <a:t>initial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size.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9486" y="274396"/>
            <a:ext cx="41706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Moving a</a:t>
            </a:r>
            <a:r>
              <a:rPr spc="-70" dirty="0"/>
              <a:t> </a:t>
            </a:r>
            <a:r>
              <a:rPr dirty="0"/>
              <a:t>Window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219200"/>
            <a:ext cx="8229600" cy="4514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5894628"/>
            <a:ext cx="3856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D090F"/>
                </a:solidFill>
                <a:latin typeface="Carlito"/>
                <a:cs typeface="Carlito"/>
              </a:rPr>
              <a:t>Two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Windows placed side by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side on</a:t>
            </a:r>
            <a:r>
              <a:rPr sz="1800" b="1" spc="-10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the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6226098"/>
            <a:ext cx="8089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Des</a:t>
            </a:r>
            <a:r>
              <a:rPr sz="1800" b="1" spc="-15" dirty="0">
                <a:solidFill>
                  <a:srgbClr val="0D090F"/>
                </a:solidFill>
                <a:latin typeface="Carlito"/>
                <a:cs typeface="Carlito"/>
              </a:rPr>
              <a:t>kt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op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9073" y="461899"/>
            <a:ext cx="41668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Moving a</a:t>
            </a:r>
            <a:r>
              <a:rPr spc="-75" dirty="0"/>
              <a:t> </a:t>
            </a:r>
            <a:r>
              <a:rPr dirty="0"/>
              <a:t>Window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8007350" cy="47815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257810" indent="-34290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Sometimes one window </a:t>
            </a:r>
            <a:r>
              <a:rPr sz="3000" spc="-20" dirty="0">
                <a:latin typeface="Carlito"/>
                <a:cs typeface="Carlito"/>
              </a:rPr>
              <a:t>may </a:t>
            </a:r>
            <a:r>
              <a:rPr sz="3000" spc="-10" dirty="0">
                <a:latin typeface="Carlito"/>
                <a:cs typeface="Carlito"/>
              </a:rPr>
              <a:t>obscure </a:t>
            </a:r>
            <a:r>
              <a:rPr sz="3000" dirty="0">
                <a:latin typeface="Carlito"/>
                <a:cs typeface="Carlito"/>
              </a:rPr>
              <a:t>another  window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0" dirty="0">
                <a:latin typeface="Carlito"/>
                <a:cs typeface="Carlito"/>
              </a:rPr>
              <a:t>item </a:t>
            </a:r>
            <a:r>
              <a:rPr sz="3000" spc="-20" dirty="0">
                <a:latin typeface="Carlito"/>
                <a:cs typeface="Carlito"/>
              </a:rPr>
              <a:t>you </a:t>
            </a:r>
            <a:r>
              <a:rPr sz="3000" spc="-15" dirty="0">
                <a:latin typeface="Carlito"/>
                <a:cs typeface="Carlito"/>
              </a:rPr>
              <a:t>want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click </a:t>
            </a:r>
            <a:r>
              <a:rPr sz="3000" spc="-5" dirty="0">
                <a:latin typeface="Carlito"/>
                <a:cs typeface="Carlito"/>
              </a:rPr>
              <a:t>on or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45" dirty="0">
                <a:latin typeface="Carlito"/>
                <a:cs typeface="Carlito"/>
              </a:rPr>
              <a:t>view.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rlito"/>
                <a:cs typeface="Carlito"/>
              </a:rPr>
              <a:t>For example, </a:t>
            </a:r>
            <a:r>
              <a:rPr sz="3000" dirty="0">
                <a:latin typeface="Carlito"/>
                <a:cs typeface="Carlito"/>
              </a:rPr>
              <a:t>if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dirty="0">
                <a:latin typeface="Carlito"/>
                <a:cs typeface="Carlito"/>
              </a:rPr>
              <a:t>open </a:t>
            </a:r>
            <a:r>
              <a:rPr sz="3000" spc="-10" dirty="0">
                <a:latin typeface="Carlito"/>
                <a:cs typeface="Carlito"/>
              </a:rPr>
              <a:t>two windows </a:t>
            </a:r>
            <a:r>
              <a:rPr sz="3000" spc="-5" dirty="0">
                <a:latin typeface="Carlito"/>
                <a:cs typeface="Carlito"/>
              </a:rPr>
              <a:t>(of </a:t>
            </a:r>
            <a:r>
              <a:rPr sz="3000" spc="-10" dirty="0">
                <a:latin typeface="Carlito"/>
                <a:cs typeface="Carlito"/>
              </a:rPr>
              <a:t>two  </a:t>
            </a:r>
            <a:r>
              <a:rPr sz="3000" spc="-5" dirty="0">
                <a:latin typeface="Carlito"/>
                <a:cs typeface="Carlito"/>
              </a:rPr>
              <a:t>disk </a:t>
            </a:r>
            <a:r>
              <a:rPr sz="3000" spc="-10" dirty="0">
                <a:latin typeface="Carlito"/>
                <a:cs typeface="Carlito"/>
              </a:rPr>
              <a:t>drives)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you want </a:t>
            </a:r>
            <a:r>
              <a:rPr sz="3000" spc="-10" dirty="0">
                <a:latin typeface="Carlito"/>
                <a:cs typeface="Carlito"/>
              </a:rPr>
              <a:t>to copy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file </a:t>
            </a:r>
            <a:r>
              <a:rPr sz="3000" spc="-15" dirty="0">
                <a:latin typeface="Carlito"/>
                <a:cs typeface="Carlito"/>
              </a:rPr>
              <a:t>from </a:t>
            </a:r>
            <a:r>
              <a:rPr sz="3000" spc="-5" dirty="0">
                <a:latin typeface="Carlito"/>
                <a:cs typeface="Carlito"/>
              </a:rPr>
              <a:t>one  </a:t>
            </a:r>
            <a:r>
              <a:rPr sz="3000" dirty="0">
                <a:latin typeface="Carlito"/>
                <a:cs typeface="Carlito"/>
              </a:rPr>
              <a:t>window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0" dirty="0">
                <a:latin typeface="Carlito"/>
                <a:cs typeface="Carlito"/>
              </a:rPr>
              <a:t>other, </a:t>
            </a:r>
            <a:r>
              <a:rPr sz="3000" dirty="0">
                <a:latin typeface="Carlito"/>
                <a:cs typeface="Carlito"/>
              </a:rPr>
              <a:t>it will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spc="-15" dirty="0">
                <a:latin typeface="Carlito"/>
                <a:cs typeface="Carlito"/>
              </a:rPr>
              <a:t>easy </a:t>
            </a:r>
            <a:r>
              <a:rPr sz="3000" spc="-10" dirty="0">
                <a:latin typeface="Carlito"/>
                <a:cs typeface="Carlito"/>
              </a:rPr>
              <a:t>if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two  windows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5" dirty="0">
                <a:latin typeface="Carlito"/>
                <a:cs typeface="Carlito"/>
              </a:rPr>
              <a:t>be </a:t>
            </a:r>
            <a:r>
              <a:rPr sz="3000" spc="-10" dirty="0">
                <a:latin typeface="Carlito"/>
                <a:cs typeface="Carlito"/>
              </a:rPr>
              <a:t>seen at </a:t>
            </a:r>
            <a:r>
              <a:rPr sz="3000" dirty="0">
                <a:latin typeface="Carlito"/>
                <a:cs typeface="Carlito"/>
              </a:rPr>
              <a:t>the same time </a:t>
            </a:r>
            <a:r>
              <a:rPr sz="3000" spc="-5" dirty="0">
                <a:latin typeface="Carlito"/>
                <a:cs typeface="Carlito"/>
              </a:rPr>
              <a:t>(as shown  above).</a:t>
            </a:r>
            <a:endParaRPr sz="3000">
              <a:latin typeface="Carlito"/>
              <a:cs typeface="Carlito"/>
            </a:endParaRPr>
          </a:p>
          <a:p>
            <a:pPr marL="355600" marR="78740" indent="-342900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20" dirty="0">
                <a:latin typeface="Carlito"/>
                <a:cs typeface="Carlito"/>
              </a:rPr>
              <a:t>Therefore, </a:t>
            </a:r>
            <a:r>
              <a:rPr sz="3000" dirty="0">
                <a:latin typeface="Carlito"/>
                <a:cs typeface="Carlito"/>
              </a:rPr>
              <a:t>if </a:t>
            </a:r>
            <a:r>
              <a:rPr sz="3000" spc="-5" dirty="0">
                <a:latin typeface="Carlito"/>
                <a:cs typeface="Carlito"/>
              </a:rPr>
              <a:t>one 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windows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overlapping  on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other window </a:t>
            </a:r>
            <a:r>
              <a:rPr sz="3000" dirty="0">
                <a:latin typeface="Carlito"/>
                <a:cs typeface="Carlito"/>
              </a:rPr>
              <a:t>then </a:t>
            </a:r>
            <a:r>
              <a:rPr sz="3000" spc="-5" dirty="0">
                <a:latin typeface="Carlito"/>
                <a:cs typeface="Carlito"/>
              </a:rPr>
              <a:t>one or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spc="-5" dirty="0">
                <a:latin typeface="Carlito"/>
                <a:cs typeface="Carlito"/>
              </a:rPr>
              <a:t>of the  windows </a:t>
            </a:r>
            <a:r>
              <a:rPr sz="3000" spc="-10" dirty="0">
                <a:latin typeface="Carlito"/>
                <a:cs typeface="Carlito"/>
              </a:rPr>
              <a:t>must </a:t>
            </a:r>
            <a:r>
              <a:rPr sz="3000" spc="-5" dirty="0">
                <a:latin typeface="Carlito"/>
                <a:cs typeface="Carlito"/>
              </a:rPr>
              <a:t>be moved so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all </a:t>
            </a:r>
            <a:r>
              <a:rPr sz="3000" spc="-5" dirty="0">
                <a:latin typeface="Carlito"/>
                <a:cs typeface="Carlito"/>
              </a:rPr>
              <a:t>windows </a:t>
            </a:r>
            <a:r>
              <a:rPr sz="3000" spc="-10" dirty="0">
                <a:latin typeface="Carlito"/>
                <a:cs typeface="Carlito"/>
              </a:rPr>
              <a:t>can  </a:t>
            </a:r>
            <a:r>
              <a:rPr sz="3000" spc="-5" dirty="0">
                <a:latin typeface="Carlito"/>
                <a:cs typeface="Carlito"/>
              </a:rPr>
              <a:t>be see </a:t>
            </a:r>
            <a:r>
              <a:rPr sz="3000" spc="-10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the same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time.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9073" y="461899"/>
            <a:ext cx="41668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Moving a</a:t>
            </a:r>
            <a:r>
              <a:rPr spc="-75" dirty="0"/>
              <a:t> </a:t>
            </a:r>
            <a:r>
              <a:rPr dirty="0"/>
              <a:t>Window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0223"/>
            <a:ext cx="7960359" cy="42233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20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move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100" dirty="0">
                <a:latin typeface="Carlito"/>
                <a:cs typeface="Carlito"/>
              </a:rPr>
              <a:t> </a:t>
            </a:r>
            <a:r>
              <a:rPr sz="2700" spc="-35" dirty="0">
                <a:latin typeface="Carlito"/>
                <a:cs typeface="Carlito"/>
              </a:rPr>
              <a:t>window,</a:t>
            </a:r>
            <a:endParaRPr sz="2700">
              <a:latin typeface="Carlito"/>
              <a:cs typeface="Carlito"/>
            </a:endParaRPr>
          </a:p>
          <a:p>
            <a:pPr marL="355600" marR="243204" indent="-342900">
              <a:lnSpc>
                <a:spcPts val="2920"/>
              </a:lnSpc>
              <a:spcBef>
                <a:spcPts val="6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Place the mouse </a:t>
            </a:r>
            <a:r>
              <a:rPr sz="2700" spc="-10" dirty="0">
                <a:latin typeface="Carlito"/>
                <a:cs typeface="Carlito"/>
              </a:rPr>
              <a:t>pointer over </a:t>
            </a:r>
            <a:r>
              <a:rPr sz="2700" dirty="0">
                <a:latin typeface="Carlito"/>
                <a:cs typeface="Carlito"/>
              </a:rPr>
              <a:t>the title </a:t>
            </a:r>
            <a:r>
              <a:rPr sz="2700" spc="-5" dirty="0">
                <a:latin typeface="Carlito"/>
                <a:cs typeface="Carlito"/>
              </a:rPr>
              <a:t>bar </a:t>
            </a:r>
            <a:r>
              <a:rPr sz="2700" spc="-10" dirty="0">
                <a:latin typeface="Carlito"/>
                <a:cs typeface="Carlito"/>
              </a:rPr>
              <a:t>(at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145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top  </a:t>
            </a:r>
            <a:r>
              <a:rPr sz="2700" spc="-5" dirty="0">
                <a:latin typeface="Carlito"/>
                <a:cs typeface="Carlito"/>
              </a:rPr>
              <a:t>of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1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window).</a:t>
            </a:r>
            <a:endParaRPr sz="2700">
              <a:latin typeface="Carlito"/>
              <a:cs typeface="Carlito"/>
            </a:endParaRPr>
          </a:p>
          <a:p>
            <a:pPr marL="355600" marR="5080" indent="-342900">
              <a:lnSpc>
                <a:spcPts val="2920"/>
              </a:lnSpc>
              <a:spcBef>
                <a:spcPts val="640"/>
              </a:spcBef>
              <a:buFont typeface="Arial"/>
              <a:buChar char="•"/>
              <a:tabLst>
                <a:tab pos="433070" algn="l"/>
                <a:tab pos="433705" algn="l"/>
              </a:tabLst>
            </a:pPr>
            <a:r>
              <a:rPr dirty="0"/>
              <a:t>	</a:t>
            </a:r>
            <a:r>
              <a:rPr sz="2700" spc="-5" dirty="0">
                <a:latin typeface="Carlito"/>
                <a:cs typeface="Carlito"/>
              </a:rPr>
              <a:t>Click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5" dirty="0">
                <a:latin typeface="Carlito"/>
                <a:cs typeface="Carlito"/>
              </a:rPr>
              <a:t>hold down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left </a:t>
            </a:r>
            <a:r>
              <a:rPr sz="2700" dirty="0">
                <a:latin typeface="Carlito"/>
                <a:cs typeface="Carlito"/>
              </a:rPr>
              <a:t>mouse </a:t>
            </a:r>
            <a:r>
              <a:rPr sz="2700" spc="-15" dirty="0">
                <a:latin typeface="Carlito"/>
                <a:cs typeface="Carlito"/>
              </a:rPr>
              <a:t>button. </a:t>
            </a:r>
            <a:r>
              <a:rPr sz="2700" spc="-10" dirty="0">
                <a:latin typeface="Carlito"/>
                <a:cs typeface="Carlito"/>
              </a:rPr>
              <a:t>(Note</a:t>
            </a:r>
            <a:r>
              <a:rPr sz="2700" spc="-12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that  </a:t>
            </a:r>
            <a:r>
              <a:rPr sz="2700" spc="-15" dirty="0">
                <a:latin typeface="Carlito"/>
                <a:cs typeface="Carlito"/>
              </a:rPr>
              <a:t>you </a:t>
            </a:r>
            <a:r>
              <a:rPr sz="2700" spc="-5" dirty="0">
                <a:latin typeface="Carlito"/>
                <a:cs typeface="Carlito"/>
              </a:rPr>
              <a:t>cannot move </a:t>
            </a:r>
            <a:r>
              <a:rPr sz="2700" dirty="0">
                <a:latin typeface="Carlito"/>
                <a:cs typeface="Carlito"/>
              </a:rPr>
              <a:t>a window </a:t>
            </a:r>
            <a:r>
              <a:rPr sz="2700" spc="-10" dirty="0">
                <a:latin typeface="Carlito"/>
                <a:cs typeface="Carlito"/>
              </a:rPr>
              <a:t>that </a:t>
            </a:r>
            <a:r>
              <a:rPr sz="2700" spc="-5" dirty="0">
                <a:latin typeface="Carlito"/>
                <a:cs typeface="Carlito"/>
              </a:rPr>
              <a:t>has been</a:t>
            </a:r>
            <a:r>
              <a:rPr sz="2700" spc="-10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maximized)</a:t>
            </a:r>
            <a:endParaRPr sz="2700">
              <a:latin typeface="Carlito"/>
              <a:cs typeface="Carlito"/>
            </a:endParaRPr>
          </a:p>
          <a:p>
            <a:pPr marL="355600" marR="297815" indent="-342900">
              <a:lnSpc>
                <a:spcPts val="292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20" dirty="0">
                <a:latin typeface="Carlito"/>
                <a:cs typeface="Carlito"/>
              </a:rPr>
              <a:t>Drag </a:t>
            </a:r>
            <a:r>
              <a:rPr sz="2700" dirty="0">
                <a:latin typeface="Carlito"/>
                <a:cs typeface="Carlito"/>
              </a:rPr>
              <a:t>the window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place </a:t>
            </a:r>
            <a:r>
              <a:rPr sz="2700" spc="-10" dirty="0">
                <a:latin typeface="Carlito"/>
                <a:cs typeface="Carlito"/>
              </a:rPr>
              <a:t>where </a:t>
            </a:r>
            <a:r>
              <a:rPr sz="2700" spc="-15" dirty="0">
                <a:latin typeface="Carlito"/>
                <a:cs typeface="Carlito"/>
              </a:rPr>
              <a:t>you want </a:t>
            </a:r>
            <a:r>
              <a:rPr sz="2700" dirty="0">
                <a:latin typeface="Carlito"/>
                <a:cs typeface="Carlito"/>
              </a:rPr>
              <a:t>it and  </a:t>
            </a:r>
            <a:r>
              <a:rPr sz="2700" spc="-10" dirty="0">
                <a:latin typeface="Carlito"/>
                <a:cs typeface="Carlito"/>
              </a:rPr>
              <a:t>release </a:t>
            </a:r>
            <a:r>
              <a:rPr sz="2700" dirty="0">
                <a:latin typeface="Carlito"/>
                <a:cs typeface="Carlito"/>
              </a:rPr>
              <a:t>the mouse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button.</a:t>
            </a:r>
            <a:endParaRPr sz="2700">
              <a:latin typeface="Carlito"/>
              <a:cs typeface="Carlito"/>
            </a:endParaRPr>
          </a:p>
          <a:p>
            <a:pPr marL="355600" marR="738505" indent="-342900">
              <a:lnSpc>
                <a:spcPts val="292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20" dirty="0">
                <a:latin typeface="Carlito"/>
                <a:cs typeface="Carlito"/>
              </a:rPr>
              <a:t>Alternatively, </a:t>
            </a:r>
            <a:r>
              <a:rPr sz="2700" spc="-15" dirty="0">
                <a:latin typeface="Carlito"/>
                <a:cs typeface="Carlito"/>
              </a:rPr>
              <a:t>you </a:t>
            </a:r>
            <a:r>
              <a:rPr sz="2700" spc="-10" dirty="0">
                <a:latin typeface="Carlito"/>
                <a:cs typeface="Carlito"/>
              </a:rPr>
              <a:t>can </a:t>
            </a:r>
            <a:r>
              <a:rPr sz="2700" dirty="0">
                <a:latin typeface="Carlito"/>
                <a:cs typeface="Carlito"/>
              </a:rPr>
              <a:t>also </a:t>
            </a:r>
            <a:r>
              <a:rPr sz="2700" spc="-5" dirty="0">
                <a:latin typeface="Carlito"/>
                <a:cs typeface="Carlito"/>
              </a:rPr>
              <a:t>move </a:t>
            </a:r>
            <a:r>
              <a:rPr sz="2700" dirty="0">
                <a:latin typeface="Carlito"/>
                <a:cs typeface="Carlito"/>
              </a:rPr>
              <a:t>a window </a:t>
            </a:r>
            <a:r>
              <a:rPr sz="2700" spc="-10" dirty="0">
                <a:latin typeface="Carlito"/>
                <a:cs typeface="Carlito"/>
              </a:rPr>
              <a:t>by the  following </a:t>
            </a:r>
            <a:r>
              <a:rPr sz="2700" spc="-5" dirty="0">
                <a:latin typeface="Carlito"/>
                <a:cs typeface="Carlito"/>
              </a:rPr>
              <a:t>method: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Right </a:t>
            </a:r>
            <a:r>
              <a:rPr sz="2700" dirty="0">
                <a:latin typeface="Carlito"/>
                <a:cs typeface="Carlito"/>
              </a:rPr>
              <a:t>click </a:t>
            </a:r>
            <a:r>
              <a:rPr sz="2700" spc="-10" dirty="0">
                <a:latin typeface="Carlito"/>
                <a:cs typeface="Carlito"/>
              </a:rPr>
              <a:t>at </a:t>
            </a:r>
            <a:r>
              <a:rPr sz="2700" spc="-15" dirty="0">
                <a:latin typeface="Carlito"/>
                <a:cs typeface="Carlito"/>
              </a:rPr>
              <a:t>any </a:t>
            </a:r>
            <a:r>
              <a:rPr sz="2700" spc="-5" dirty="0">
                <a:latin typeface="Carlito"/>
                <a:cs typeface="Carlito"/>
              </a:rPr>
              <a:t>blank </a:t>
            </a:r>
            <a:r>
              <a:rPr sz="2700" spc="-10" dirty="0">
                <a:latin typeface="Carlito"/>
                <a:cs typeface="Carlito"/>
              </a:rPr>
              <a:t>area </a:t>
            </a:r>
            <a:r>
              <a:rPr sz="2700" spc="-5" dirty="0">
                <a:latin typeface="Carlito"/>
                <a:cs typeface="Carlito"/>
              </a:rPr>
              <a:t>of </a:t>
            </a:r>
            <a:r>
              <a:rPr sz="2700" dirty="0">
                <a:latin typeface="Carlito"/>
                <a:cs typeface="Carlito"/>
              </a:rPr>
              <a:t>the title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bar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9073" y="461899"/>
            <a:ext cx="41668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Moving a</a:t>
            </a:r>
            <a:r>
              <a:rPr spc="-75" dirty="0"/>
              <a:t> </a:t>
            </a:r>
            <a:r>
              <a:rPr dirty="0"/>
              <a:t>Window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8030"/>
            <a:ext cx="8068309" cy="45072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Select </a:t>
            </a:r>
            <a:r>
              <a:rPr sz="3000" spc="-10" dirty="0">
                <a:latin typeface="Carlito"/>
                <a:cs typeface="Carlito"/>
              </a:rPr>
              <a:t>move </a:t>
            </a:r>
            <a:r>
              <a:rPr sz="3000" spc="-20" dirty="0">
                <a:latin typeface="Carlito"/>
                <a:cs typeface="Carlito"/>
              </a:rPr>
              <a:t>from </a:t>
            </a:r>
            <a:r>
              <a:rPr sz="3000" dirty="0">
                <a:latin typeface="Carlito"/>
                <a:cs typeface="Carlito"/>
              </a:rPr>
              <a:t>the menu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options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ts val="324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Press </a:t>
            </a:r>
            <a:r>
              <a:rPr sz="3000" spc="-20" dirty="0">
                <a:latin typeface="Carlito"/>
                <a:cs typeface="Carlito"/>
              </a:rPr>
              <a:t>any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cursor </a:t>
            </a:r>
            <a:r>
              <a:rPr sz="3000" spc="-15" dirty="0">
                <a:latin typeface="Carlito"/>
                <a:cs typeface="Carlito"/>
              </a:rPr>
              <a:t>control </a:t>
            </a:r>
            <a:r>
              <a:rPr sz="3000" spc="-10" dirty="0">
                <a:latin typeface="Carlito"/>
                <a:cs typeface="Carlito"/>
              </a:rPr>
              <a:t>movement </a:t>
            </a:r>
            <a:r>
              <a:rPr sz="3000" spc="-15" dirty="0">
                <a:latin typeface="Carlito"/>
                <a:cs typeface="Carlito"/>
              </a:rPr>
              <a:t>(arrow)  </a:t>
            </a:r>
            <a:r>
              <a:rPr sz="3000" spc="-40" dirty="0">
                <a:latin typeface="Carlito"/>
                <a:cs typeface="Carlito"/>
              </a:rPr>
              <a:t>keys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your </a:t>
            </a:r>
            <a:r>
              <a:rPr sz="3000" spc="-20" dirty="0">
                <a:latin typeface="Carlito"/>
                <a:cs typeface="Carlito"/>
              </a:rPr>
              <a:t>keyboard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lock the </a:t>
            </a:r>
            <a:r>
              <a:rPr sz="3000" spc="-10" dirty="0">
                <a:latin typeface="Carlito"/>
                <a:cs typeface="Carlito"/>
              </a:rPr>
              <a:t>window to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5" dirty="0">
                <a:latin typeface="Carlito"/>
                <a:cs typeface="Carlito"/>
              </a:rPr>
              <a:t>mouse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spc="-50" dirty="0">
                <a:latin typeface="Carlito"/>
                <a:cs typeface="Carlito"/>
              </a:rPr>
              <a:t>pointer.</a:t>
            </a:r>
            <a:endParaRPr sz="3000">
              <a:latin typeface="Carlito"/>
              <a:cs typeface="Carlito"/>
            </a:endParaRPr>
          </a:p>
          <a:p>
            <a:pPr marL="355600" marR="114300" indent="-342900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spc="-10" dirty="0">
                <a:latin typeface="Carlito"/>
                <a:cs typeface="Carlito"/>
              </a:rPr>
              <a:t>Simply move </a:t>
            </a:r>
            <a:r>
              <a:rPr sz="3000" dirty="0">
                <a:latin typeface="Carlito"/>
                <a:cs typeface="Carlito"/>
              </a:rPr>
              <a:t>the mouse </a:t>
            </a:r>
            <a:r>
              <a:rPr sz="3000" spc="-15" dirty="0">
                <a:latin typeface="Carlito"/>
                <a:cs typeface="Carlito"/>
              </a:rPr>
              <a:t>pointer </a:t>
            </a:r>
            <a:r>
              <a:rPr sz="3000" spc="-10" dirty="0">
                <a:latin typeface="Carlito"/>
                <a:cs typeface="Carlito"/>
              </a:rPr>
              <a:t>where </a:t>
            </a:r>
            <a:r>
              <a:rPr sz="3000" spc="-15" dirty="0">
                <a:latin typeface="Carlito"/>
                <a:cs typeface="Carlito"/>
              </a:rPr>
              <a:t>you want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window to </a:t>
            </a:r>
            <a:r>
              <a:rPr sz="3000" spc="-5" dirty="0">
                <a:latin typeface="Carlito"/>
                <a:cs typeface="Carlito"/>
              </a:rPr>
              <a:t>be. </a:t>
            </a:r>
            <a:r>
              <a:rPr sz="3000" spc="-10" dirty="0">
                <a:latin typeface="Carlito"/>
                <a:cs typeface="Carlito"/>
              </a:rPr>
              <a:t>Note </a:t>
            </a:r>
            <a:r>
              <a:rPr sz="3000" spc="-5" dirty="0">
                <a:latin typeface="Carlito"/>
                <a:cs typeface="Carlito"/>
              </a:rPr>
              <a:t>that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move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5" dirty="0">
                <a:latin typeface="Carlito"/>
                <a:cs typeface="Carlito"/>
              </a:rPr>
              <a:t>mouse </a:t>
            </a:r>
            <a:r>
              <a:rPr sz="3000" spc="-10" dirty="0">
                <a:latin typeface="Carlito"/>
                <a:cs typeface="Carlito"/>
              </a:rPr>
              <a:t>pointer </a:t>
            </a:r>
            <a:r>
              <a:rPr sz="3000" spc="-15" dirty="0">
                <a:latin typeface="Carlito"/>
                <a:cs typeface="Carlito"/>
              </a:rPr>
              <a:t>anywhere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desktop </a:t>
            </a:r>
            <a:r>
              <a:rPr sz="3000" dirty="0">
                <a:latin typeface="Carlito"/>
                <a:cs typeface="Carlito"/>
              </a:rPr>
              <a:t>the  window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be moved moves</a:t>
            </a:r>
            <a:r>
              <a:rPr sz="3000" spc="-30" dirty="0">
                <a:latin typeface="Carlito"/>
                <a:cs typeface="Carlito"/>
              </a:rPr>
              <a:t> </a:t>
            </a:r>
            <a:r>
              <a:rPr sz="3000" spc="-25" dirty="0">
                <a:latin typeface="Carlito"/>
                <a:cs typeface="Carlito"/>
              </a:rPr>
              <a:t>accordingly.</a:t>
            </a:r>
            <a:endParaRPr sz="3000">
              <a:latin typeface="Carlito"/>
              <a:cs typeface="Carlito"/>
            </a:endParaRPr>
          </a:p>
          <a:p>
            <a:pPr marL="355600" marR="964565" indent="-342900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Click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left button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mouse </a:t>
            </a:r>
            <a:r>
              <a:rPr sz="3000" spc="-5" dirty="0">
                <a:latin typeface="Carlito"/>
                <a:cs typeface="Carlito"/>
              </a:rPr>
              <a:t>when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desired </a:t>
            </a:r>
            <a:r>
              <a:rPr sz="3000" spc="-5" dirty="0">
                <a:latin typeface="Carlito"/>
                <a:cs typeface="Carlito"/>
              </a:rPr>
              <a:t>position </a:t>
            </a:r>
            <a:r>
              <a:rPr sz="3000" dirty="0">
                <a:latin typeface="Carlito"/>
                <a:cs typeface="Carlito"/>
              </a:rPr>
              <a:t>is</a:t>
            </a:r>
            <a:r>
              <a:rPr sz="3000" spc="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obtained.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9073" y="461899"/>
            <a:ext cx="41668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Moving a</a:t>
            </a:r>
            <a:r>
              <a:rPr spc="-75" dirty="0"/>
              <a:t> </a:t>
            </a:r>
            <a:r>
              <a:rPr dirty="0"/>
              <a:t>Window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69747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rlito"/>
                <a:cs typeface="Carlito"/>
              </a:rPr>
              <a:t>Before </a:t>
            </a:r>
            <a:r>
              <a:rPr sz="3200" spc="-5" dirty="0">
                <a:latin typeface="Carlito"/>
                <a:cs typeface="Carlito"/>
              </a:rPr>
              <a:t>clicking </a:t>
            </a:r>
            <a:r>
              <a:rPr sz="3200" spc="-10" dirty="0">
                <a:latin typeface="Carlito"/>
                <a:cs typeface="Carlito"/>
              </a:rPr>
              <a:t>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left </a:t>
            </a:r>
            <a:r>
              <a:rPr sz="3200" dirty="0">
                <a:latin typeface="Carlito"/>
                <a:cs typeface="Carlito"/>
              </a:rPr>
              <a:t>mouse </a:t>
            </a:r>
            <a:r>
              <a:rPr sz="3200" spc="-15" dirty="0">
                <a:latin typeface="Carlito"/>
                <a:cs typeface="Carlito"/>
              </a:rPr>
              <a:t>button, you  </a:t>
            </a:r>
            <a:r>
              <a:rPr sz="3200" spc="-10" dirty="0">
                <a:latin typeface="Carlito"/>
                <a:cs typeface="Carlito"/>
              </a:rPr>
              <a:t>can press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escape (Esc) </a:t>
            </a:r>
            <a:r>
              <a:rPr sz="3200" spc="-45" dirty="0">
                <a:latin typeface="Carlito"/>
                <a:cs typeface="Carlito"/>
              </a:rPr>
              <a:t>key </a:t>
            </a:r>
            <a:r>
              <a:rPr sz="3200" dirty="0">
                <a:latin typeface="Carlito"/>
                <a:cs typeface="Carlito"/>
              </a:rPr>
              <a:t>if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change  </a:t>
            </a:r>
            <a:r>
              <a:rPr sz="3200" spc="-10" dirty="0">
                <a:latin typeface="Carlito"/>
                <a:cs typeface="Carlito"/>
              </a:rPr>
              <a:t>your </a:t>
            </a:r>
            <a:r>
              <a:rPr sz="3200" spc="-5" dirty="0">
                <a:latin typeface="Carlito"/>
                <a:cs typeface="Carlito"/>
              </a:rPr>
              <a:t>mind </a:t>
            </a:r>
            <a:r>
              <a:rPr sz="3200" dirty="0">
                <a:latin typeface="Carlito"/>
                <a:cs typeface="Carlito"/>
              </a:rPr>
              <a:t>on moving the window so as </a:t>
            </a:r>
            <a:r>
              <a:rPr sz="3200" spc="-20" dirty="0">
                <a:latin typeface="Carlito"/>
                <a:cs typeface="Carlito"/>
              </a:rPr>
              <a:t>to  </a:t>
            </a:r>
            <a:r>
              <a:rPr sz="3200" spc="-10" dirty="0">
                <a:latin typeface="Carlito"/>
                <a:cs typeface="Carlito"/>
              </a:rPr>
              <a:t>return your </a:t>
            </a:r>
            <a:r>
              <a:rPr sz="3200" dirty="0">
                <a:latin typeface="Carlito"/>
                <a:cs typeface="Carlito"/>
              </a:rPr>
              <a:t>window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its </a:t>
            </a:r>
            <a:r>
              <a:rPr sz="3200" spc="-5" dirty="0">
                <a:latin typeface="Carlito"/>
                <a:cs typeface="Carlito"/>
              </a:rPr>
              <a:t>initial</a:t>
            </a:r>
            <a:r>
              <a:rPr sz="3200" spc="5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position.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7492" y="461899"/>
            <a:ext cx="65913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Switching Between</a:t>
            </a:r>
            <a:r>
              <a:rPr spc="-65" dirty="0"/>
              <a:t> </a:t>
            </a:r>
            <a:r>
              <a:rPr spc="-5" dirty="0"/>
              <a:t>Windows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910195" cy="4611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dirty="0">
                <a:latin typeface="Carlito"/>
                <a:cs typeface="Carlito"/>
              </a:rPr>
              <a:t>7 </a:t>
            </a:r>
            <a:r>
              <a:rPr sz="3200" spc="-5" dirty="0">
                <a:latin typeface="Carlito"/>
                <a:cs typeface="Carlito"/>
              </a:rPr>
              <a:t>allows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20" dirty="0">
                <a:latin typeface="Carlito"/>
                <a:cs typeface="Carlito"/>
              </a:rPr>
              <a:t>to have </a:t>
            </a:r>
            <a:r>
              <a:rPr sz="3200" spc="-10" dirty="0">
                <a:latin typeface="Carlito"/>
                <a:cs typeface="Carlito"/>
              </a:rPr>
              <a:t>more </a:t>
            </a:r>
            <a:r>
              <a:rPr sz="3200" dirty="0">
                <a:latin typeface="Carlito"/>
                <a:cs typeface="Carlito"/>
              </a:rPr>
              <a:t>than </a:t>
            </a:r>
            <a:r>
              <a:rPr sz="3200" spc="-5" dirty="0">
                <a:latin typeface="Carlito"/>
                <a:cs typeface="Carlito"/>
              </a:rPr>
              <a:t>one 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spc="-5" dirty="0">
                <a:latin typeface="Carlito"/>
                <a:cs typeface="Carlito"/>
              </a:rPr>
              <a:t>or </a:t>
            </a:r>
            <a:r>
              <a:rPr sz="3200" dirty="0">
                <a:latin typeface="Carlito"/>
                <a:cs typeface="Carlito"/>
              </a:rPr>
              <a:t>window </a:t>
            </a:r>
            <a:r>
              <a:rPr sz="3200" spc="-5" dirty="0">
                <a:latin typeface="Carlito"/>
                <a:cs typeface="Carlito"/>
              </a:rPr>
              <a:t>opened </a:t>
            </a:r>
            <a:r>
              <a:rPr sz="3200" spc="-10" dirty="0">
                <a:latin typeface="Carlito"/>
                <a:cs typeface="Carlito"/>
              </a:rPr>
              <a:t>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same time  </a:t>
            </a:r>
            <a:r>
              <a:rPr sz="3200" dirty="0">
                <a:latin typeface="Carlito"/>
                <a:cs typeface="Carlito"/>
              </a:rPr>
              <a:t>so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dirty="0">
                <a:latin typeface="Carlito"/>
                <a:cs typeface="Carlito"/>
              </a:rPr>
              <a:t>easily </a:t>
            </a:r>
            <a:r>
              <a:rPr sz="3200" spc="-10" dirty="0">
                <a:latin typeface="Carlito"/>
                <a:cs typeface="Carlito"/>
              </a:rPr>
              <a:t>move </a:t>
            </a:r>
            <a:r>
              <a:rPr sz="3200" spc="-5" dirty="0">
                <a:latin typeface="Carlito"/>
                <a:cs typeface="Carlito"/>
              </a:rPr>
              <a:t>between open  windows </a:t>
            </a:r>
            <a:r>
              <a:rPr sz="3200" dirty="0">
                <a:latin typeface="Carlito"/>
                <a:cs typeface="Carlito"/>
              </a:rPr>
              <a:t>if the </a:t>
            </a:r>
            <a:r>
              <a:rPr sz="3200" spc="-5" dirty="0">
                <a:latin typeface="Carlito"/>
                <a:cs typeface="Carlito"/>
              </a:rPr>
              <a:t>need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be.</a:t>
            </a:r>
            <a:endParaRPr sz="3200">
              <a:latin typeface="Carlito"/>
              <a:cs typeface="Carlito"/>
            </a:endParaRPr>
          </a:p>
          <a:p>
            <a:pPr marL="355600" marR="2794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dirty="0">
                <a:latin typeface="Carlito"/>
                <a:cs typeface="Carlito"/>
              </a:rPr>
              <a:t>window </a:t>
            </a:r>
            <a:r>
              <a:rPr sz="3200" spc="-10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select becomes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active  </a:t>
            </a:r>
            <a:r>
              <a:rPr sz="3200" spc="-30" dirty="0">
                <a:latin typeface="Carlito"/>
                <a:cs typeface="Carlito"/>
              </a:rPr>
              <a:t>window. </a:t>
            </a:r>
            <a:r>
              <a:rPr sz="3200" spc="-14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know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a window is </a:t>
            </a:r>
            <a:r>
              <a:rPr sz="3200" spc="-5" dirty="0">
                <a:latin typeface="Carlito"/>
                <a:cs typeface="Carlito"/>
              </a:rPr>
              <a:t>active on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desktop, </a:t>
            </a:r>
            <a:r>
              <a:rPr sz="3200" dirty="0">
                <a:latin typeface="Carlito"/>
                <a:cs typeface="Carlito"/>
              </a:rPr>
              <a:t>its title </a:t>
            </a:r>
            <a:r>
              <a:rPr sz="3200" spc="-5" dirty="0">
                <a:latin typeface="Carlito"/>
                <a:cs typeface="Carlito"/>
              </a:rPr>
              <a:t>bar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deep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blue.</a:t>
            </a:r>
            <a:endParaRPr sz="3200">
              <a:latin typeface="Carlito"/>
              <a:cs typeface="Carlito"/>
            </a:endParaRPr>
          </a:p>
          <a:p>
            <a:pPr marL="355600" marR="63881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When a window is </a:t>
            </a:r>
            <a:r>
              <a:rPr sz="3200" spc="-5" dirty="0">
                <a:latin typeface="Carlito"/>
                <a:cs typeface="Carlito"/>
              </a:rPr>
              <a:t>inactive, </a:t>
            </a:r>
            <a:r>
              <a:rPr sz="3200" dirty="0">
                <a:latin typeface="Carlito"/>
                <a:cs typeface="Carlito"/>
              </a:rPr>
              <a:t>the title </a:t>
            </a:r>
            <a:r>
              <a:rPr sz="3200" spc="-5" dirty="0">
                <a:latin typeface="Carlito"/>
                <a:cs typeface="Carlito"/>
              </a:rPr>
              <a:t>bar </a:t>
            </a:r>
            <a:r>
              <a:rPr sz="3200" dirty="0">
                <a:latin typeface="Carlito"/>
                <a:cs typeface="Carlito"/>
              </a:rPr>
              <a:t>is  </a:t>
            </a:r>
            <a:r>
              <a:rPr sz="3200" spc="-5" dirty="0">
                <a:latin typeface="Carlito"/>
                <a:cs typeface="Carlito"/>
              </a:rPr>
              <a:t>light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blue.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4336541" y="6556959"/>
            <a:ext cx="4718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K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umasi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7492" y="461899"/>
            <a:ext cx="65913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Switching Between</a:t>
            </a:r>
            <a:r>
              <a:rPr spc="-65" dirty="0"/>
              <a:t> </a:t>
            </a:r>
            <a:r>
              <a:rPr spc="-5" dirty="0"/>
              <a:t>Windows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8334375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30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switch between </a:t>
            </a:r>
            <a:r>
              <a:rPr sz="3000" spc="-5" dirty="0">
                <a:latin typeface="Carlito"/>
                <a:cs typeface="Carlito"/>
              </a:rPr>
              <a:t>windows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dirty="0">
                <a:latin typeface="Carlito"/>
                <a:cs typeface="Carlito"/>
              </a:rPr>
              <a:t>will </a:t>
            </a:r>
            <a:r>
              <a:rPr sz="3000" spc="-20" dirty="0">
                <a:latin typeface="Carlito"/>
                <a:cs typeface="Carlito"/>
              </a:rPr>
              <a:t>have</a:t>
            </a:r>
            <a:r>
              <a:rPr sz="3000" spc="10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to</a:t>
            </a:r>
            <a:endParaRPr sz="3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Open </a:t>
            </a:r>
            <a:r>
              <a:rPr sz="3000" dirty="0">
                <a:latin typeface="Carlito"/>
                <a:cs typeface="Carlito"/>
              </a:rPr>
              <a:t>all the </a:t>
            </a:r>
            <a:r>
              <a:rPr sz="3000" spc="-15" dirty="0">
                <a:latin typeface="Carlito"/>
                <a:cs typeface="Carlito"/>
              </a:rPr>
              <a:t>required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windows.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spc="-25" dirty="0">
                <a:latin typeface="Carlito"/>
                <a:cs typeface="Carlito"/>
              </a:rPr>
              <a:t>Size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windows, </a:t>
            </a:r>
            <a:r>
              <a:rPr sz="3000" dirty="0">
                <a:latin typeface="Carlito"/>
                <a:cs typeface="Carlito"/>
              </a:rPr>
              <a:t>if </a:t>
            </a:r>
            <a:r>
              <a:rPr sz="3000" spc="-25" dirty="0">
                <a:latin typeface="Carlito"/>
                <a:cs typeface="Carlito"/>
              </a:rPr>
              <a:t>necessary, </a:t>
            </a:r>
            <a:r>
              <a:rPr sz="3000" spc="-5" dirty="0">
                <a:latin typeface="Carlito"/>
                <a:cs typeface="Carlito"/>
              </a:rPr>
              <a:t>so </a:t>
            </a:r>
            <a:r>
              <a:rPr sz="3000" spc="-10" dirty="0">
                <a:latin typeface="Carlito"/>
                <a:cs typeface="Carlito"/>
              </a:rPr>
              <a:t>they </a:t>
            </a:r>
            <a:r>
              <a:rPr sz="3000" spc="-15" dirty="0">
                <a:latin typeface="Carlito"/>
                <a:cs typeface="Carlito"/>
              </a:rPr>
              <a:t>are </a:t>
            </a:r>
            <a:r>
              <a:rPr sz="3000" spc="-5" dirty="0">
                <a:latin typeface="Carlito"/>
                <a:cs typeface="Carlito"/>
              </a:rPr>
              <a:t>open on 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desktop.</a:t>
            </a:r>
            <a:endParaRPr sz="3000">
              <a:latin typeface="Carlito"/>
              <a:cs typeface="Carlito"/>
            </a:endParaRPr>
          </a:p>
          <a:p>
            <a:pPr marL="355600" marR="118110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Click on </a:t>
            </a:r>
            <a:r>
              <a:rPr sz="3000" spc="-20" dirty="0">
                <a:latin typeface="Carlito"/>
                <a:cs typeface="Carlito"/>
              </a:rPr>
              <a:t>any </a:t>
            </a:r>
            <a:r>
              <a:rPr sz="3000" spc="-5" dirty="0">
                <a:latin typeface="Carlito"/>
                <a:cs typeface="Carlito"/>
              </a:rPr>
              <a:t>part of </a:t>
            </a:r>
            <a:r>
              <a:rPr sz="3000" dirty="0">
                <a:latin typeface="Carlito"/>
                <a:cs typeface="Carlito"/>
              </a:rPr>
              <a:t>the window </a:t>
            </a:r>
            <a:r>
              <a:rPr sz="3000" spc="-15" dirty="0">
                <a:latin typeface="Carlito"/>
                <a:cs typeface="Carlito"/>
              </a:rPr>
              <a:t>you want </a:t>
            </a:r>
            <a:r>
              <a:rPr sz="3000" spc="-10" dirty="0">
                <a:latin typeface="Carlito"/>
                <a:cs typeface="Carlito"/>
              </a:rPr>
              <a:t>to work  </a:t>
            </a:r>
            <a:r>
              <a:rPr sz="3000" dirty="0">
                <a:latin typeface="Carlito"/>
                <a:cs typeface="Carlito"/>
              </a:rPr>
              <a:t>with and this </a:t>
            </a:r>
            <a:r>
              <a:rPr sz="3000" spc="-5" dirty="0">
                <a:latin typeface="Carlito"/>
                <a:cs typeface="Carlito"/>
              </a:rPr>
              <a:t>will </a:t>
            </a:r>
            <a:r>
              <a:rPr sz="3000" spc="-25" dirty="0">
                <a:latin typeface="Carlito"/>
                <a:cs typeface="Carlito"/>
              </a:rPr>
              <a:t>make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window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active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one.</a:t>
            </a:r>
            <a:endParaRPr sz="3000">
              <a:latin typeface="Carlito"/>
              <a:cs typeface="Carlito"/>
            </a:endParaRPr>
          </a:p>
          <a:p>
            <a:pPr marL="355600" marR="295275" indent="-342900">
              <a:lnSpc>
                <a:spcPts val="2880"/>
              </a:lnSpc>
              <a:spcBef>
                <a:spcPts val="7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30" dirty="0">
                <a:latin typeface="Carlito"/>
                <a:cs typeface="Carlito"/>
              </a:rPr>
              <a:t>To </a:t>
            </a:r>
            <a:r>
              <a:rPr sz="3000" spc="-25" dirty="0">
                <a:latin typeface="Carlito"/>
                <a:cs typeface="Carlito"/>
              </a:rPr>
              <a:t>make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5" dirty="0">
                <a:latin typeface="Carlito"/>
                <a:cs typeface="Carlito"/>
              </a:rPr>
              <a:t>different </a:t>
            </a:r>
            <a:r>
              <a:rPr sz="3000" dirty="0">
                <a:latin typeface="Carlito"/>
                <a:cs typeface="Carlito"/>
              </a:rPr>
              <a:t>window the </a:t>
            </a:r>
            <a:r>
              <a:rPr sz="3000" spc="-5" dirty="0">
                <a:latin typeface="Carlito"/>
                <a:cs typeface="Carlito"/>
              </a:rPr>
              <a:t>active one simple  </a:t>
            </a:r>
            <a:r>
              <a:rPr sz="3000" spc="-15" dirty="0">
                <a:latin typeface="Carlito"/>
                <a:cs typeface="Carlito"/>
              </a:rPr>
              <a:t>repeat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third </a:t>
            </a:r>
            <a:r>
              <a:rPr sz="3000" spc="-15" dirty="0">
                <a:latin typeface="Carlito"/>
                <a:cs typeface="Carlito"/>
              </a:rPr>
              <a:t>step </a:t>
            </a:r>
            <a:r>
              <a:rPr sz="3000" spc="-5" dirty="0">
                <a:latin typeface="Carlito"/>
                <a:cs typeface="Carlito"/>
              </a:rPr>
              <a:t>above.</a:t>
            </a:r>
            <a:endParaRPr sz="3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OR</a:t>
            </a:r>
            <a:endParaRPr sz="3000">
              <a:latin typeface="Carlito"/>
              <a:cs typeface="Carlito"/>
            </a:endParaRPr>
          </a:p>
          <a:p>
            <a:pPr marL="355600" marR="167005" indent="-3429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Simple </a:t>
            </a:r>
            <a:r>
              <a:rPr sz="3000" dirty="0">
                <a:latin typeface="Carlito"/>
                <a:cs typeface="Carlito"/>
              </a:rPr>
              <a:t>click the </a:t>
            </a:r>
            <a:r>
              <a:rPr sz="3000" spc="-15" dirty="0">
                <a:latin typeface="Carlito"/>
                <a:cs typeface="Carlito"/>
              </a:rPr>
              <a:t>required </a:t>
            </a:r>
            <a:r>
              <a:rPr sz="3000" spc="-10" dirty="0">
                <a:latin typeface="Carlito"/>
                <a:cs typeface="Carlito"/>
              </a:rPr>
              <a:t>program/window </a:t>
            </a:r>
            <a:r>
              <a:rPr sz="3000" spc="-15" dirty="0">
                <a:latin typeface="Carlito"/>
                <a:cs typeface="Carlito"/>
              </a:rPr>
              <a:t>button 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taskbar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15" dirty="0">
                <a:latin typeface="Carlito"/>
                <a:cs typeface="Carlito"/>
              </a:rPr>
              <a:t>activate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window </a:t>
            </a:r>
            <a:r>
              <a:rPr sz="3000" spc="-15" dirty="0">
                <a:latin typeface="Carlito"/>
                <a:cs typeface="Carlito"/>
              </a:rPr>
              <a:t>you want </a:t>
            </a:r>
            <a:r>
              <a:rPr sz="3000" spc="-10" dirty="0">
                <a:latin typeface="Carlito"/>
                <a:cs typeface="Carlito"/>
              </a:rPr>
              <a:t>to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6099759"/>
            <a:ext cx="167322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rlito"/>
                <a:cs typeface="Carlito"/>
              </a:rPr>
              <a:t>work</a:t>
            </a:r>
            <a:r>
              <a:rPr sz="3000" spc="-8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with.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4502" y="6335674"/>
            <a:ext cx="2635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Department 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of Computer Science,</a:t>
            </a:r>
            <a:r>
              <a:rPr sz="1200" spc="-10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KNUST-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7492" y="461899"/>
            <a:ext cx="65913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Switching Between</a:t>
            </a:r>
            <a:r>
              <a:rPr spc="-65" dirty="0"/>
              <a:t> </a:t>
            </a:r>
            <a:r>
              <a:rPr spc="-5" dirty="0"/>
              <a:t>Windows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502486"/>
            <a:ext cx="8368030" cy="3051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rlito"/>
                <a:cs typeface="Carlito"/>
              </a:rPr>
              <a:t>Unlike </a:t>
            </a:r>
            <a:r>
              <a:rPr sz="3200" spc="-5" dirty="0">
                <a:latin typeface="Carlito"/>
                <a:cs typeface="Carlito"/>
              </a:rPr>
              <a:t>previous </a:t>
            </a:r>
            <a:r>
              <a:rPr sz="3200" spc="-15" dirty="0">
                <a:latin typeface="Carlito"/>
                <a:cs typeface="Carlito"/>
              </a:rPr>
              <a:t>versions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Windows, </a:t>
            </a:r>
            <a:r>
              <a:rPr sz="3200" spc="-10" dirty="0">
                <a:latin typeface="Carlito"/>
                <a:cs typeface="Carlito"/>
              </a:rPr>
              <a:t>Windows7  </a:t>
            </a:r>
            <a:r>
              <a:rPr sz="3200" spc="-25" dirty="0">
                <a:latin typeface="Carlito"/>
                <a:cs typeface="Carlito"/>
              </a:rPr>
              <a:t>keeps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taskbar </a:t>
            </a:r>
            <a:r>
              <a:rPr sz="3200" spc="-15" dirty="0">
                <a:latin typeface="Carlito"/>
                <a:cs typeface="Carlito"/>
              </a:rPr>
              <a:t>from getting too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cluttered.</a:t>
            </a:r>
            <a:endParaRPr sz="3200">
              <a:latin typeface="Carlito"/>
              <a:cs typeface="Carlito"/>
            </a:endParaRPr>
          </a:p>
          <a:p>
            <a:pPr marL="355600" marR="11747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It </a:t>
            </a:r>
            <a:r>
              <a:rPr sz="3200" spc="-15" dirty="0">
                <a:latin typeface="Carlito"/>
                <a:cs typeface="Carlito"/>
              </a:rPr>
              <a:t>groups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buttons </a:t>
            </a:r>
            <a:r>
              <a:rPr sz="3200" dirty="0">
                <a:latin typeface="Carlito"/>
                <a:cs typeface="Carlito"/>
              </a:rPr>
              <a:t>when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open </a:t>
            </a:r>
            <a:r>
              <a:rPr sz="3200" spc="-15" dirty="0">
                <a:latin typeface="Carlito"/>
                <a:cs typeface="Carlito"/>
              </a:rPr>
              <a:t>too many  </a:t>
            </a:r>
            <a:r>
              <a:rPr sz="3200" spc="-5" dirty="0">
                <a:latin typeface="Carlito"/>
                <a:cs typeface="Carlito"/>
              </a:rPr>
              <a:t>windows such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all the </a:t>
            </a:r>
            <a:r>
              <a:rPr sz="3200" spc="-5" dirty="0">
                <a:latin typeface="Carlito"/>
                <a:cs typeface="Carlito"/>
              </a:rPr>
              <a:t>names cannot </a:t>
            </a:r>
            <a:r>
              <a:rPr sz="3200" dirty="0">
                <a:latin typeface="Carlito"/>
                <a:cs typeface="Carlito"/>
              </a:rPr>
              <a:t>appear  </a:t>
            </a:r>
            <a:r>
              <a:rPr sz="3200" spc="-5" dirty="0">
                <a:latin typeface="Carlito"/>
                <a:cs typeface="Carlito"/>
              </a:rPr>
              <a:t>on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task </a:t>
            </a:r>
            <a:r>
              <a:rPr sz="3200" spc="-85" dirty="0">
                <a:latin typeface="Carlito"/>
                <a:cs typeface="Carlito"/>
              </a:rPr>
              <a:t>bar. </a:t>
            </a:r>
            <a:r>
              <a:rPr sz="3200" spc="-15" dirty="0">
                <a:latin typeface="Carlito"/>
                <a:cs typeface="Carlito"/>
              </a:rPr>
              <a:t>For example, </a:t>
            </a:r>
            <a:r>
              <a:rPr sz="3200" dirty="0">
                <a:latin typeface="Carlito"/>
                <a:cs typeface="Carlito"/>
              </a:rPr>
              <a:t>when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open  </a:t>
            </a:r>
            <a:r>
              <a:rPr sz="3200" spc="-15" dirty="0">
                <a:latin typeface="Carlito"/>
                <a:cs typeface="Carlito"/>
              </a:rPr>
              <a:t>word, you </a:t>
            </a:r>
            <a:r>
              <a:rPr sz="3200" spc="-5" dirty="0">
                <a:latin typeface="Carlito"/>
                <a:cs typeface="Carlito"/>
              </a:rPr>
              <a:t>will see </a:t>
            </a:r>
            <a:r>
              <a:rPr sz="3200" dirty="0">
                <a:latin typeface="Carlito"/>
                <a:cs typeface="Carlito"/>
              </a:rPr>
              <a:t>one </a:t>
            </a:r>
            <a:r>
              <a:rPr sz="3200" spc="-20" dirty="0">
                <a:latin typeface="Carlito"/>
                <a:cs typeface="Carlito"/>
              </a:rPr>
              <a:t>button </a:t>
            </a:r>
            <a:r>
              <a:rPr sz="3200" dirty="0">
                <a:latin typeface="Carlito"/>
                <a:cs typeface="Carlito"/>
              </a:rPr>
              <a:t>on the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taskbar.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84120" y="1053083"/>
            <a:ext cx="4206239" cy="4463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79014" y="5748020"/>
            <a:ext cx="3625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D090F"/>
                </a:solidFill>
                <a:latin typeface="Carlito"/>
                <a:cs typeface="Carlito"/>
              </a:rPr>
              <a:t>Grouped </a:t>
            </a:r>
            <a:r>
              <a:rPr sz="2400" b="1" spc="-10" dirty="0">
                <a:solidFill>
                  <a:srgbClr val="0D090F"/>
                </a:solidFill>
                <a:latin typeface="Carlito"/>
                <a:cs typeface="Carlito"/>
              </a:rPr>
              <a:t>Buttons </a:t>
            </a:r>
            <a:r>
              <a:rPr sz="2400" b="1" dirty="0">
                <a:solidFill>
                  <a:srgbClr val="0D090F"/>
                </a:solidFill>
                <a:latin typeface="Carlito"/>
                <a:cs typeface="Carlito"/>
              </a:rPr>
              <a:t>on</a:t>
            </a:r>
            <a:r>
              <a:rPr sz="2400" b="1" spc="-6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2400" b="1" spc="-30" dirty="0">
                <a:solidFill>
                  <a:srgbClr val="0D090F"/>
                </a:solidFill>
                <a:latin typeface="Carlito"/>
                <a:cs typeface="Carlito"/>
              </a:rPr>
              <a:t>Taskbar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7492" y="461899"/>
            <a:ext cx="65913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Switching Between</a:t>
            </a:r>
            <a:r>
              <a:rPr spc="-65" dirty="0"/>
              <a:t> </a:t>
            </a:r>
            <a:r>
              <a:rPr spc="-5" dirty="0"/>
              <a:t>Windows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7948295" cy="441579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45" dirty="0">
                <a:latin typeface="Carlito"/>
                <a:cs typeface="Carlito"/>
              </a:rPr>
              <a:t>However, </a:t>
            </a:r>
            <a:r>
              <a:rPr sz="3000" dirty="0">
                <a:latin typeface="Carlito"/>
                <a:cs typeface="Carlito"/>
              </a:rPr>
              <a:t>if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0" dirty="0">
                <a:latin typeface="Carlito"/>
                <a:cs typeface="Carlito"/>
              </a:rPr>
              <a:t>three </a:t>
            </a: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dirty="0">
                <a:latin typeface="Carlito"/>
                <a:cs typeface="Carlito"/>
              </a:rPr>
              <a:t>email  </a:t>
            </a:r>
            <a:r>
              <a:rPr sz="3000" spc="-5" dirty="0">
                <a:latin typeface="Carlito"/>
                <a:cs typeface="Carlito"/>
              </a:rPr>
              <a:t>message windows open, one </a:t>
            </a:r>
            <a:r>
              <a:rPr sz="3000" spc="-15" dirty="0">
                <a:latin typeface="Carlito"/>
                <a:cs typeface="Carlito"/>
              </a:rPr>
              <a:t>button represents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Outlook </a:t>
            </a:r>
            <a:r>
              <a:rPr sz="3000" spc="-10" dirty="0">
                <a:latin typeface="Carlito"/>
                <a:cs typeface="Carlito"/>
              </a:rPr>
              <a:t>Express's </a:t>
            </a:r>
            <a:r>
              <a:rPr sz="3000" spc="-5" dirty="0">
                <a:latin typeface="Carlito"/>
                <a:cs typeface="Carlito"/>
              </a:rPr>
              <a:t>open windows </a:t>
            </a:r>
            <a:r>
              <a:rPr sz="3000" dirty="0">
                <a:latin typeface="Carlito"/>
                <a:cs typeface="Carlito"/>
              </a:rPr>
              <a:t>as </a:t>
            </a:r>
            <a:r>
              <a:rPr sz="3000" spc="-5" dirty="0">
                <a:latin typeface="Carlito"/>
                <a:cs typeface="Carlito"/>
              </a:rPr>
              <a:t>shown </a:t>
            </a:r>
            <a:r>
              <a:rPr sz="3000" dirty="0">
                <a:latin typeface="Carlito"/>
                <a:cs typeface="Carlito"/>
              </a:rPr>
              <a:t>in  the </a:t>
            </a:r>
            <a:r>
              <a:rPr sz="3000" spc="-10" dirty="0">
                <a:latin typeface="Carlito"/>
                <a:cs typeface="Carlito"/>
              </a:rPr>
              <a:t>figure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left.</a:t>
            </a:r>
            <a:endParaRPr sz="3000">
              <a:latin typeface="Carlito"/>
              <a:cs typeface="Carlito"/>
            </a:endParaRPr>
          </a:p>
          <a:p>
            <a:pPr marL="355600" marR="44450" indent="-3429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80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5" dirty="0">
                <a:latin typeface="Carlito"/>
                <a:cs typeface="Carlito"/>
              </a:rPr>
              <a:t>open </a:t>
            </a:r>
            <a:r>
              <a:rPr sz="3000" spc="-20" dirty="0">
                <a:latin typeface="Carlito"/>
                <a:cs typeface="Carlito"/>
              </a:rPr>
              <a:t>any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windows by </a:t>
            </a:r>
            <a:r>
              <a:rPr sz="3000" spc="-20" dirty="0">
                <a:latin typeface="Carlito"/>
                <a:cs typeface="Carlito"/>
              </a:rPr>
              <a:t>first </a:t>
            </a:r>
            <a:r>
              <a:rPr sz="3000" dirty="0">
                <a:latin typeface="Carlito"/>
                <a:cs typeface="Carlito"/>
              </a:rPr>
              <a:t>clicking  </a:t>
            </a:r>
            <a:r>
              <a:rPr sz="3000" spc="-10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Outlook </a:t>
            </a:r>
            <a:r>
              <a:rPr sz="3000" spc="-10" dirty="0">
                <a:latin typeface="Carlito"/>
                <a:cs typeface="Carlito"/>
              </a:rPr>
              <a:t>Express </a:t>
            </a:r>
            <a:r>
              <a:rPr sz="3000" spc="-15" dirty="0">
                <a:latin typeface="Carlito"/>
                <a:cs typeface="Carlito"/>
              </a:rPr>
              <a:t>button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task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80" dirty="0">
                <a:latin typeface="Carlito"/>
                <a:cs typeface="Carlito"/>
              </a:rPr>
              <a:t>bar.</a:t>
            </a:r>
            <a:endParaRPr sz="3000">
              <a:latin typeface="Carlito"/>
              <a:cs typeface="Carlito"/>
            </a:endParaRPr>
          </a:p>
          <a:p>
            <a:pPr marL="355600" marR="952500" indent="-342900">
              <a:lnSpc>
                <a:spcPts val="2880"/>
              </a:lnSpc>
              <a:spcBef>
                <a:spcPts val="700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spc="-10" dirty="0">
                <a:latin typeface="Carlito"/>
                <a:cs typeface="Carlito"/>
              </a:rPr>
              <a:t>pops </a:t>
            </a:r>
            <a:r>
              <a:rPr sz="3000" spc="-5" dirty="0">
                <a:latin typeface="Carlito"/>
                <a:cs typeface="Carlito"/>
              </a:rPr>
              <a:t>up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list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open windows </a:t>
            </a:r>
            <a:r>
              <a:rPr sz="3000" spc="-5" dirty="0">
                <a:latin typeface="Carlito"/>
                <a:cs typeface="Carlito"/>
              </a:rPr>
              <a:t>within  Outlook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Express.</a:t>
            </a:r>
            <a:endParaRPr sz="3000">
              <a:latin typeface="Carlito"/>
              <a:cs typeface="Carlito"/>
            </a:endParaRPr>
          </a:p>
          <a:p>
            <a:pPr marL="355600" marR="168910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440690" algn="l"/>
                <a:tab pos="441325" algn="l"/>
              </a:tabLst>
            </a:pPr>
            <a:r>
              <a:rPr dirty="0"/>
              <a:t>	</a:t>
            </a:r>
            <a:r>
              <a:rPr sz="3000" spc="-10" dirty="0">
                <a:latin typeface="Carlito"/>
                <a:cs typeface="Carlito"/>
              </a:rPr>
              <a:t>Simply move </a:t>
            </a:r>
            <a:r>
              <a:rPr sz="3000" dirty="0">
                <a:latin typeface="Carlito"/>
                <a:cs typeface="Carlito"/>
              </a:rPr>
              <a:t>the mouse </a:t>
            </a:r>
            <a:r>
              <a:rPr sz="3000" spc="-15" dirty="0">
                <a:latin typeface="Carlito"/>
                <a:cs typeface="Carlito"/>
              </a:rPr>
              <a:t>pointer </a:t>
            </a:r>
            <a:r>
              <a:rPr sz="3000" spc="-10" dirty="0">
                <a:latin typeface="Carlito"/>
                <a:cs typeface="Carlito"/>
              </a:rPr>
              <a:t>over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required </a:t>
            </a:r>
            <a:r>
              <a:rPr sz="3000" spc="-5" dirty="0">
                <a:latin typeface="Carlito"/>
                <a:cs typeface="Carlito"/>
              </a:rPr>
              <a:t>window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click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left </a:t>
            </a:r>
            <a:r>
              <a:rPr sz="3000" spc="-15" dirty="0">
                <a:latin typeface="Carlito"/>
                <a:cs typeface="Carlito"/>
              </a:rPr>
              <a:t>button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5" dirty="0">
                <a:latin typeface="Carlito"/>
                <a:cs typeface="Carlito"/>
              </a:rPr>
              <a:t>mouse.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893" y="496950"/>
            <a:ext cx="79032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Switching </a:t>
            </a:r>
            <a:r>
              <a:rPr sz="4000" spc="-5" dirty="0"/>
              <a:t>Using the </a:t>
            </a:r>
            <a:r>
              <a:rPr sz="4000" spc="-20" dirty="0"/>
              <a:t>Keyboard</a:t>
            </a:r>
            <a:r>
              <a:rPr sz="4000" spc="-10" dirty="0"/>
              <a:t> Method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7737475" cy="414147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290830" indent="-342900">
              <a:lnSpc>
                <a:spcPts val="2880"/>
              </a:lnSpc>
              <a:spcBef>
                <a:spcPts val="7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When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dirty="0">
                <a:latin typeface="Carlito"/>
                <a:cs typeface="Carlito"/>
              </a:rPr>
              <a:t>than </a:t>
            </a:r>
            <a:r>
              <a:rPr sz="3000" spc="-5" dirty="0">
                <a:latin typeface="Carlito"/>
                <a:cs typeface="Carlito"/>
              </a:rPr>
              <a:t>one </a:t>
            </a:r>
            <a:r>
              <a:rPr sz="3000" dirty="0">
                <a:latin typeface="Carlito"/>
                <a:cs typeface="Carlito"/>
              </a:rPr>
              <a:t>window </a:t>
            </a:r>
            <a:r>
              <a:rPr sz="3000" spc="-5" dirty="0">
                <a:latin typeface="Carlito"/>
                <a:cs typeface="Carlito"/>
              </a:rPr>
              <a:t>open, 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dirty="0">
                <a:latin typeface="Carlito"/>
                <a:cs typeface="Carlito"/>
              </a:rPr>
              <a:t>also </a:t>
            </a:r>
            <a:r>
              <a:rPr sz="3000" spc="-10" dirty="0">
                <a:latin typeface="Carlito"/>
                <a:cs typeface="Carlito"/>
              </a:rPr>
              <a:t>switch between </a:t>
            </a:r>
            <a:r>
              <a:rPr sz="3000" dirty="0">
                <a:latin typeface="Carlito"/>
                <a:cs typeface="Carlito"/>
              </a:rPr>
              <a:t>them </a:t>
            </a:r>
            <a:r>
              <a:rPr sz="3000" spc="-5" dirty="0">
                <a:latin typeface="Carlito"/>
                <a:cs typeface="Carlito"/>
              </a:rPr>
              <a:t>using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20" dirty="0">
                <a:latin typeface="Carlito"/>
                <a:cs typeface="Carlito"/>
              </a:rPr>
              <a:t>keyboard.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ts val="288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Using the </a:t>
            </a:r>
            <a:r>
              <a:rPr sz="3000" spc="-5" dirty="0">
                <a:latin typeface="Carlito"/>
                <a:cs typeface="Carlito"/>
              </a:rPr>
              <a:t>mouse </a:t>
            </a:r>
            <a:r>
              <a:rPr sz="3000" spc="-10" dirty="0">
                <a:latin typeface="Carlito"/>
                <a:cs typeface="Carlito"/>
              </a:rPr>
              <a:t>is </a:t>
            </a:r>
            <a:r>
              <a:rPr sz="3000" spc="-20" dirty="0">
                <a:latin typeface="Carlito"/>
                <a:cs typeface="Carlito"/>
              </a:rPr>
              <a:t>faster </a:t>
            </a:r>
            <a:r>
              <a:rPr sz="3000" spc="-15" dirty="0">
                <a:latin typeface="Carlito"/>
                <a:cs typeface="Carlito"/>
              </a:rPr>
              <a:t>however </a:t>
            </a:r>
            <a:r>
              <a:rPr sz="3000" dirty="0">
                <a:latin typeface="Carlito"/>
                <a:cs typeface="Carlito"/>
              </a:rPr>
              <a:t>if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do not  </a:t>
            </a:r>
            <a:r>
              <a:rPr sz="3000" spc="-20" dirty="0">
                <a:latin typeface="Carlito"/>
                <a:cs typeface="Carlito"/>
              </a:rPr>
              <a:t>have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mouse then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20" dirty="0">
                <a:latin typeface="Carlito"/>
                <a:cs typeface="Carlito"/>
              </a:rPr>
              <a:t>may have </a:t>
            </a:r>
            <a:r>
              <a:rPr sz="3000" spc="-1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use </a:t>
            </a:r>
            <a:r>
              <a:rPr sz="3000" spc="-15" dirty="0">
                <a:latin typeface="Carlito"/>
                <a:cs typeface="Carlito"/>
              </a:rPr>
              <a:t>your  </a:t>
            </a:r>
            <a:r>
              <a:rPr sz="3000" spc="-20" dirty="0">
                <a:latin typeface="Carlito"/>
                <a:cs typeface="Carlito"/>
              </a:rPr>
              <a:t>keyboard.</a:t>
            </a:r>
            <a:endParaRPr sz="3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3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do so using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114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keyboard,</a:t>
            </a:r>
            <a:endParaRPr sz="3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Open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required programs </a:t>
            </a:r>
            <a:r>
              <a:rPr sz="3000" spc="-5" dirty="0">
                <a:latin typeface="Carlito"/>
                <a:cs typeface="Carlito"/>
              </a:rPr>
              <a:t>or</a:t>
            </a:r>
            <a:r>
              <a:rPr sz="3000" spc="3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windows.</a:t>
            </a:r>
            <a:endParaRPr sz="3000">
              <a:latin typeface="Carlito"/>
              <a:cs typeface="Carlito"/>
            </a:endParaRPr>
          </a:p>
          <a:p>
            <a:pPr marL="355600" marR="131445" indent="-342900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Press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hold down </a:t>
            </a:r>
            <a:r>
              <a:rPr sz="3000" dirty="0">
                <a:latin typeface="Carlito"/>
                <a:cs typeface="Carlito"/>
              </a:rPr>
              <a:t>the Alt </a:t>
            </a:r>
            <a:r>
              <a:rPr sz="3000" spc="-45" dirty="0">
                <a:latin typeface="Carlito"/>
                <a:cs typeface="Carlito"/>
              </a:rPr>
              <a:t>key </a:t>
            </a:r>
            <a:r>
              <a:rPr sz="3000" spc="-5" dirty="0">
                <a:latin typeface="Carlito"/>
                <a:cs typeface="Carlito"/>
              </a:rPr>
              <a:t>while </a:t>
            </a:r>
            <a:r>
              <a:rPr sz="3000" spc="-10" dirty="0">
                <a:latin typeface="Carlito"/>
                <a:cs typeface="Carlito"/>
              </a:rPr>
              <a:t>pressing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85" dirty="0">
                <a:latin typeface="Carlito"/>
                <a:cs typeface="Carlito"/>
              </a:rPr>
              <a:t>Tab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spc="-80" dirty="0">
                <a:latin typeface="Carlito"/>
                <a:cs typeface="Carlito"/>
              </a:rPr>
              <a:t>key.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893" y="496950"/>
            <a:ext cx="79032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Switching </a:t>
            </a:r>
            <a:r>
              <a:rPr sz="4000" spc="-5" dirty="0"/>
              <a:t>Using the </a:t>
            </a:r>
            <a:r>
              <a:rPr sz="4000" spc="-20" dirty="0"/>
              <a:t>Keyboard</a:t>
            </a:r>
            <a:r>
              <a:rPr sz="4000" spc="-10" dirty="0"/>
              <a:t> Method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877175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52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 menu </a:t>
            </a:r>
            <a:r>
              <a:rPr sz="3200" spc="-10" dirty="0">
                <a:latin typeface="Carlito"/>
                <a:cs typeface="Carlito"/>
              </a:rPr>
              <a:t>containing </a:t>
            </a:r>
            <a:r>
              <a:rPr sz="3200" dirty="0">
                <a:latin typeface="Carlito"/>
                <a:cs typeface="Carlito"/>
              </a:rPr>
              <a:t>all </a:t>
            </a:r>
            <a:r>
              <a:rPr sz="3200" spc="-5" dirty="0">
                <a:latin typeface="Carlito"/>
                <a:cs typeface="Carlito"/>
              </a:rPr>
              <a:t>files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program </a:t>
            </a:r>
            <a:r>
              <a:rPr sz="3200" spc="-10" dirty="0">
                <a:latin typeface="Carlito"/>
                <a:cs typeface="Carlito"/>
              </a:rPr>
              <a:t>icons  </a:t>
            </a:r>
            <a:r>
              <a:rPr sz="3200" spc="-45" dirty="0">
                <a:latin typeface="Carlito"/>
                <a:cs typeface="Carlito"/>
              </a:rPr>
              <a:t>appear.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While holding </a:t>
            </a:r>
            <a:r>
              <a:rPr sz="3200" spc="-5" dirty="0">
                <a:latin typeface="Carlito"/>
                <a:cs typeface="Carlito"/>
              </a:rPr>
              <a:t>down </a:t>
            </a:r>
            <a:r>
              <a:rPr sz="3200" dirty="0">
                <a:latin typeface="Carlito"/>
                <a:cs typeface="Carlito"/>
              </a:rPr>
              <a:t>the Alt </a:t>
            </a:r>
            <a:r>
              <a:rPr sz="3200" spc="-90" dirty="0">
                <a:latin typeface="Carlito"/>
                <a:cs typeface="Carlito"/>
              </a:rPr>
              <a:t>key, </a:t>
            </a:r>
            <a:r>
              <a:rPr sz="3200" spc="-30" dirty="0">
                <a:latin typeface="Carlito"/>
                <a:cs typeface="Carlito"/>
              </a:rPr>
              <a:t>keep </a:t>
            </a:r>
            <a:r>
              <a:rPr sz="3200" spc="-35" dirty="0">
                <a:latin typeface="Carlito"/>
                <a:cs typeface="Carlito"/>
              </a:rPr>
              <a:t>Tabbing 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window </a:t>
            </a:r>
            <a:r>
              <a:rPr sz="3200" spc="-15" dirty="0">
                <a:latin typeface="Carlito"/>
                <a:cs typeface="Carlito"/>
              </a:rPr>
              <a:t>you want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view </a:t>
            </a:r>
            <a:r>
              <a:rPr sz="3200" spc="-5" dirty="0">
                <a:latin typeface="Carlito"/>
                <a:cs typeface="Carlito"/>
              </a:rPr>
              <a:t>or open.  Once </a:t>
            </a:r>
            <a:r>
              <a:rPr sz="3200" dirty="0">
                <a:latin typeface="Carlito"/>
                <a:cs typeface="Carlito"/>
              </a:rPr>
              <a:t>it is </a:t>
            </a:r>
            <a:r>
              <a:rPr sz="3200" spc="-10" dirty="0">
                <a:latin typeface="Carlito"/>
                <a:cs typeface="Carlito"/>
              </a:rPr>
              <a:t>selected, </a:t>
            </a:r>
            <a:r>
              <a:rPr sz="3200" spc="-5" dirty="0">
                <a:latin typeface="Carlito"/>
                <a:cs typeface="Carlito"/>
              </a:rPr>
              <a:t>release both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35" dirty="0">
                <a:latin typeface="Carlito"/>
                <a:cs typeface="Carlito"/>
              </a:rPr>
              <a:t>keys.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369" y="461899"/>
            <a:ext cx="79108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More </a:t>
            </a:r>
            <a:r>
              <a:rPr spc="-5" dirty="0"/>
              <a:t>Windows </a:t>
            </a:r>
            <a:r>
              <a:rPr dirty="0"/>
              <a:t>7 </a:t>
            </a:r>
            <a:r>
              <a:rPr spc="-15" dirty="0"/>
              <a:t>Bars </a:t>
            </a:r>
            <a:r>
              <a:rPr dirty="0"/>
              <a:t>and</a:t>
            </a:r>
            <a:r>
              <a:rPr spc="-15" dirty="0"/>
              <a:t> Buttons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86892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dirty="0">
                <a:latin typeface="Carlito"/>
                <a:cs typeface="Carlito"/>
              </a:rPr>
              <a:t>menu </a:t>
            </a:r>
            <a:r>
              <a:rPr sz="3200" spc="-5" dirty="0">
                <a:latin typeface="Carlito"/>
                <a:cs typeface="Carlito"/>
              </a:rPr>
              <a:t>bar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5" dirty="0">
                <a:latin typeface="Carlito"/>
                <a:cs typeface="Carlito"/>
              </a:rPr>
              <a:t>very important bar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lies  </a:t>
            </a:r>
            <a:r>
              <a:rPr sz="3200" spc="-15" dirty="0">
                <a:latin typeface="Carlito"/>
                <a:cs typeface="Carlito"/>
              </a:rPr>
              <a:t>just </a:t>
            </a:r>
            <a:r>
              <a:rPr sz="3200" spc="-5" dirty="0">
                <a:latin typeface="Carlito"/>
                <a:cs typeface="Carlito"/>
              </a:rPr>
              <a:t>below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title </a:t>
            </a:r>
            <a:r>
              <a:rPr sz="3200" spc="-85" dirty="0">
                <a:latin typeface="Carlito"/>
                <a:cs typeface="Carlito"/>
              </a:rPr>
              <a:t>bar. 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15" dirty="0">
                <a:latin typeface="Carlito"/>
                <a:cs typeface="Carlito"/>
              </a:rPr>
              <a:t>contains</a:t>
            </a:r>
            <a:r>
              <a:rPr sz="3200" spc="15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several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539" y="2697505"/>
            <a:ext cx="7471409" cy="40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3200" dirty="0">
                <a:latin typeface="Carlito"/>
                <a:cs typeface="Carlito"/>
              </a:rPr>
              <a:t>menus, which </a:t>
            </a:r>
            <a:r>
              <a:rPr sz="3200" spc="-5" dirty="0">
                <a:latin typeface="Carlito"/>
                <a:cs typeface="Carlito"/>
              </a:rPr>
              <a:t>let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see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5" dirty="0">
                <a:latin typeface="Carlito"/>
                <a:cs typeface="Carlito"/>
              </a:rPr>
              <a:t>list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commands.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" y="2667000"/>
            <a:ext cx="8534400" cy="1071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9740" y="4199382"/>
            <a:ext cx="24047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D090F"/>
                </a:solidFill>
                <a:latin typeface="Carlito"/>
                <a:cs typeface="Carlito"/>
              </a:rPr>
              <a:t>The Menu</a:t>
            </a:r>
            <a:r>
              <a:rPr sz="3200" b="1" spc="-7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3200" b="1" dirty="0">
                <a:solidFill>
                  <a:srgbClr val="0D090F"/>
                </a:solidFill>
                <a:latin typeface="Carlito"/>
                <a:cs typeface="Carlito"/>
              </a:rPr>
              <a:t>Bar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369" y="350977"/>
            <a:ext cx="79127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More </a:t>
            </a:r>
            <a:r>
              <a:rPr spc="-5" dirty="0"/>
              <a:t>Windows </a:t>
            </a:r>
            <a:r>
              <a:rPr dirty="0"/>
              <a:t>7 </a:t>
            </a:r>
            <a:r>
              <a:rPr spc="-15" dirty="0"/>
              <a:t>Bars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Buttons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9148" y="1591766"/>
            <a:ext cx="4890135" cy="469074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Some menu </a:t>
            </a:r>
            <a:r>
              <a:rPr sz="3000" spc="-5" dirty="0">
                <a:latin typeface="Carlito"/>
                <a:cs typeface="Carlito"/>
              </a:rPr>
              <a:t>options </a:t>
            </a:r>
            <a:r>
              <a:rPr sz="3000" spc="-15" dirty="0">
                <a:latin typeface="Carlito"/>
                <a:cs typeface="Carlito"/>
              </a:rPr>
              <a:t>are  followed </a:t>
            </a:r>
            <a:r>
              <a:rPr sz="3000" spc="-10" dirty="0">
                <a:latin typeface="Carlito"/>
                <a:cs typeface="Carlito"/>
              </a:rPr>
              <a:t>by </a:t>
            </a:r>
            <a:r>
              <a:rPr sz="3000" spc="-5" dirty="0">
                <a:latin typeface="Carlito"/>
                <a:cs typeface="Carlito"/>
              </a:rPr>
              <a:t>ellipsis, </a:t>
            </a:r>
            <a:r>
              <a:rPr sz="3000" spc="-65" dirty="0">
                <a:latin typeface="Carlito"/>
                <a:cs typeface="Carlito"/>
              </a:rPr>
              <a:t>or...  </a:t>
            </a:r>
            <a:r>
              <a:rPr sz="3000" spc="-5" dirty="0">
                <a:latin typeface="Carlito"/>
                <a:cs typeface="Carlito"/>
              </a:rPr>
              <a:t>Choosing </a:t>
            </a:r>
            <a:r>
              <a:rPr sz="3000" dirty="0">
                <a:latin typeface="Carlito"/>
                <a:cs typeface="Carlito"/>
              </a:rPr>
              <a:t>a menu </a:t>
            </a:r>
            <a:r>
              <a:rPr sz="3000" spc="-5" dirty="0">
                <a:latin typeface="Carlito"/>
                <a:cs typeface="Carlito"/>
              </a:rPr>
              <a:t>option  </a:t>
            </a:r>
            <a:r>
              <a:rPr sz="3000" spc="-15" dirty="0">
                <a:latin typeface="Carlito"/>
                <a:cs typeface="Carlito"/>
              </a:rPr>
              <a:t>followed </a:t>
            </a:r>
            <a:r>
              <a:rPr sz="3000" spc="-10" dirty="0">
                <a:latin typeface="Carlito"/>
                <a:cs typeface="Carlito"/>
              </a:rPr>
              <a:t>by </a:t>
            </a:r>
            <a:r>
              <a:rPr sz="3000" spc="-5" dirty="0">
                <a:latin typeface="Carlito"/>
                <a:cs typeface="Carlito"/>
              </a:rPr>
              <a:t>ellipses will open 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solidFill>
                  <a:srgbClr val="FF0000"/>
                </a:solidFill>
                <a:latin typeface="Carlito"/>
                <a:cs typeface="Carlito"/>
              </a:rPr>
              <a:t>dialog </a:t>
            </a:r>
            <a:r>
              <a:rPr sz="3000" spc="-20" dirty="0">
                <a:solidFill>
                  <a:srgbClr val="FF0000"/>
                </a:solidFill>
                <a:latin typeface="Carlito"/>
                <a:cs typeface="Carlito"/>
              </a:rPr>
              <a:t>box</a:t>
            </a:r>
            <a:r>
              <a:rPr sz="3000" spc="-20" dirty="0">
                <a:latin typeface="Carlito"/>
                <a:cs typeface="Carlito"/>
              </a:rPr>
              <a:t>, </a:t>
            </a:r>
            <a:r>
              <a:rPr sz="3000" dirty="0">
                <a:latin typeface="Carlito"/>
                <a:cs typeface="Carlito"/>
              </a:rPr>
              <a:t>which </a:t>
            </a:r>
            <a:r>
              <a:rPr sz="3000" spc="-25" dirty="0">
                <a:latin typeface="Carlito"/>
                <a:cs typeface="Carlito"/>
              </a:rPr>
              <a:t>feature  </a:t>
            </a:r>
            <a:r>
              <a:rPr sz="3000" spc="-10" dirty="0">
                <a:latin typeface="Carlito"/>
                <a:cs typeface="Carlito"/>
              </a:rPr>
              <a:t>helpful </a:t>
            </a:r>
            <a:r>
              <a:rPr sz="3000" spc="-5" dirty="0">
                <a:latin typeface="Carlito"/>
                <a:cs typeface="Carlito"/>
              </a:rPr>
              <a:t>tools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help </a:t>
            </a:r>
            <a:r>
              <a:rPr sz="3000" spc="-15" dirty="0">
                <a:latin typeface="Carlito"/>
                <a:cs typeface="Carlito"/>
              </a:rPr>
              <a:t>you  perform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tasks.</a:t>
            </a:r>
            <a:endParaRPr sz="3000">
              <a:latin typeface="Carlito"/>
              <a:cs typeface="Carlito"/>
            </a:endParaRPr>
          </a:p>
          <a:p>
            <a:pPr marL="355600" marR="57785" indent="-342900">
              <a:lnSpc>
                <a:spcPct val="9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Choosing </a:t>
            </a:r>
            <a:r>
              <a:rPr sz="3000" dirty="0">
                <a:latin typeface="Carlito"/>
                <a:cs typeface="Carlito"/>
              </a:rPr>
              <a:t>a menu </a:t>
            </a:r>
            <a:r>
              <a:rPr sz="3000" spc="-5" dirty="0">
                <a:latin typeface="Carlito"/>
                <a:cs typeface="Carlito"/>
              </a:rPr>
              <a:t>option  </a:t>
            </a:r>
            <a:r>
              <a:rPr sz="3000" spc="-15" dirty="0">
                <a:latin typeface="Carlito"/>
                <a:cs typeface="Carlito"/>
              </a:rPr>
              <a:t>followed </a:t>
            </a:r>
            <a:r>
              <a:rPr sz="3000" spc="-10" dirty="0">
                <a:latin typeface="Carlito"/>
                <a:cs typeface="Carlito"/>
              </a:rPr>
              <a:t>by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0" dirty="0">
                <a:latin typeface="Carlito"/>
                <a:cs typeface="Carlito"/>
              </a:rPr>
              <a:t>arrow </a:t>
            </a:r>
            <a:r>
              <a:rPr sz="3000" spc="-5" dirty="0">
                <a:latin typeface="Carlito"/>
                <a:cs typeface="Carlito"/>
              </a:rPr>
              <a:t>head  </a:t>
            </a:r>
            <a:r>
              <a:rPr sz="3000" spc="-15" dirty="0">
                <a:latin typeface="Carlito"/>
                <a:cs typeface="Carlito"/>
              </a:rPr>
              <a:t>displays </a:t>
            </a:r>
            <a:r>
              <a:rPr sz="3000" dirty="0">
                <a:solidFill>
                  <a:srgbClr val="FF0000"/>
                </a:solidFill>
                <a:latin typeface="Carlito"/>
                <a:cs typeface="Carlito"/>
              </a:rPr>
              <a:t>another </a:t>
            </a:r>
            <a:r>
              <a:rPr sz="3000" spc="-10" dirty="0">
                <a:solidFill>
                  <a:srgbClr val="FF0000"/>
                </a:solidFill>
                <a:latin typeface="Carlito"/>
                <a:cs typeface="Carlito"/>
              </a:rPr>
              <a:t>set </a:t>
            </a:r>
            <a:r>
              <a:rPr sz="3000" spc="-5" dirty="0">
                <a:solidFill>
                  <a:srgbClr val="FF0000"/>
                </a:solidFill>
                <a:latin typeface="Carlito"/>
                <a:cs typeface="Carlito"/>
              </a:rPr>
              <a:t>of</a:t>
            </a:r>
            <a:r>
              <a:rPr sz="3000" spc="-6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rlito"/>
                <a:cs typeface="Carlito"/>
              </a:rPr>
              <a:t>menu  options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choose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from.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1066800"/>
            <a:ext cx="3124200" cy="4666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4370" y="5896457"/>
            <a:ext cx="288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Menu options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showing</a:t>
            </a:r>
            <a:r>
              <a:rPr sz="1800" b="1" spc="-105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ellipsis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370" y="6228232"/>
            <a:ext cx="16173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and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arrow</a:t>
            </a:r>
            <a:r>
              <a:rPr sz="1800" b="1" spc="-8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heads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369" y="461899"/>
            <a:ext cx="79108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More </a:t>
            </a:r>
            <a:r>
              <a:rPr spc="-5" dirty="0"/>
              <a:t>Windows </a:t>
            </a:r>
            <a:r>
              <a:rPr dirty="0"/>
              <a:t>7 </a:t>
            </a:r>
            <a:r>
              <a:rPr spc="-15" dirty="0"/>
              <a:t>Bars </a:t>
            </a:r>
            <a:r>
              <a:rPr dirty="0"/>
              <a:t>and</a:t>
            </a:r>
            <a:r>
              <a:rPr spc="-15" dirty="0"/>
              <a:t> Buttons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8006080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Some </a:t>
            </a:r>
            <a:r>
              <a:rPr sz="3200" spc="-5" dirty="0">
                <a:latin typeface="Carlito"/>
                <a:cs typeface="Carlito"/>
              </a:rPr>
              <a:t>Windows </a:t>
            </a:r>
            <a:r>
              <a:rPr sz="3200" dirty="0">
                <a:latin typeface="Carlito"/>
                <a:cs typeface="Carlito"/>
              </a:rPr>
              <a:t>7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spc="-5" dirty="0">
                <a:latin typeface="Carlito"/>
                <a:cs typeface="Carlito"/>
              </a:rPr>
              <a:t>(such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10" dirty="0">
                <a:latin typeface="Carlito"/>
                <a:cs typeface="Carlito"/>
              </a:rPr>
              <a:t>Microsoft  </a:t>
            </a:r>
            <a:r>
              <a:rPr sz="3200" spc="-45" dirty="0">
                <a:latin typeface="Carlito"/>
                <a:cs typeface="Carlito"/>
              </a:rPr>
              <a:t>Word </a:t>
            </a:r>
            <a:r>
              <a:rPr sz="3200" spc="-20" dirty="0">
                <a:latin typeface="Carlito"/>
                <a:cs typeface="Carlito"/>
              </a:rPr>
              <a:t>have </a:t>
            </a:r>
            <a:r>
              <a:rPr sz="3200" spc="-15" dirty="0">
                <a:latin typeface="Carlito"/>
                <a:cs typeface="Carlito"/>
              </a:rPr>
              <a:t>toolbars </a:t>
            </a:r>
            <a:r>
              <a:rPr sz="3200" spc="-10" dirty="0">
                <a:latin typeface="Carlito"/>
                <a:cs typeface="Carlito"/>
              </a:rPr>
              <a:t>across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top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30" dirty="0">
                <a:latin typeface="Carlito"/>
                <a:cs typeface="Carlito"/>
              </a:rPr>
              <a:t>window.</a:t>
            </a:r>
            <a:endParaRPr sz="3200">
              <a:latin typeface="Carlito"/>
              <a:cs typeface="Carlito"/>
            </a:endParaRPr>
          </a:p>
          <a:p>
            <a:pPr marL="355600" marR="52959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toolbar </a:t>
            </a:r>
            <a:r>
              <a:rPr sz="3200" spc="-15" dirty="0">
                <a:latin typeface="Carlito"/>
                <a:cs typeface="Carlito"/>
              </a:rPr>
              <a:t>buttons </a:t>
            </a:r>
            <a:r>
              <a:rPr sz="3200" spc="-5" dirty="0">
                <a:latin typeface="Carlito"/>
                <a:cs typeface="Carlito"/>
              </a:rPr>
              <a:t>allow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print, </a:t>
            </a:r>
            <a:r>
              <a:rPr sz="3200" dirty="0">
                <a:latin typeface="Carlito"/>
                <a:cs typeface="Carlito"/>
              </a:rPr>
              <a:t>cut,  </a:t>
            </a:r>
            <a:r>
              <a:rPr sz="3200" spc="-15" dirty="0">
                <a:latin typeface="Carlito"/>
                <a:cs typeface="Carlito"/>
              </a:rPr>
              <a:t>paste, </a:t>
            </a:r>
            <a:r>
              <a:rPr sz="3200" dirty="0">
                <a:latin typeface="Carlito"/>
                <a:cs typeface="Carlito"/>
              </a:rPr>
              <a:t>or do </a:t>
            </a:r>
            <a:r>
              <a:rPr sz="3200" spc="-5" dirty="0">
                <a:latin typeface="Carlito"/>
                <a:cs typeface="Carlito"/>
              </a:rPr>
              <a:t>other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tasks.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options </a:t>
            </a:r>
            <a:r>
              <a:rPr sz="3200" spc="-10" dirty="0">
                <a:latin typeface="Carlito"/>
                <a:cs typeface="Carlito"/>
              </a:rPr>
              <a:t>vary </a:t>
            </a:r>
            <a:r>
              <a:rPr sz="3200" spc="-5" dirty="0">
                <a:latin typeface="Carlito"/>
                <a:cs typeface="Carlito"/>
              </a:rPr>
              <a:t>depending on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7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program.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5904" y="4940808"/>
            <a:ext cx="7889748" cy="129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0442" y="6373774"/>
            <a:ext cx="483997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60"/>
              </a:lnSpc>
            </a:pPr>
            <a:r>
              <a:rPr sz="2700" b="1" spc="-7" baseline="-16975" dirty="0">
                <a:solidFill>
                  <a:srgbClr val="0D090F"/>
                </a:solidFill>
                <a:latin typeface="Carlito"/>
                <a:cs typeface="Carlito"/>
              </a:rPr>
              <a:t>Microsoft </a:t>
            </a:r>
            <a:r>
              <a:rPr sz="2700" b="1" spc="-37" baseline="-16975" dirty="0">
                <a:solidFill>
                  <a:srgbClr val="0D090F"/>
                </a:solidFill>
                <a:latin typeface="Carlito"/>
                <a:cs typeface="Carlito"/>
              </a:rPr>
              <a:t>Word </a:t>
            </a:r>
            <a:r>
              <a:rPr sz="2700" b="1" spc="-52" baseline="-16975" dirty="0">
                <a:solidFill>
                  <a:srgbClr val="0D090F"/>
                </a:solidFill>
                <a:latin typeface="Carlito"/>
                <a:cs typeface="Carlito"/>
              </a:rPr>
              <a:t>Toolbar</a:t>
            </a:r>
            <a:r>
              <a:rPr sz="1200" spc="-35" dirty="0">
                <a:solidFill>
                  <a:srgbClr val="888888"/>
                </a:solidFill>
                <a:latin typeface="Carlito"/>
                <a:cs typeface="Carlito"/>
              </a:rPr>
              <a:t>Department 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of Computer Science,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KNUST-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36541" y="6556959"/>
            <a:ext cx="4718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K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umasi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6591" y="50038"/>
            <a:ext cx="193928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Scrolling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/>
          <p:nvPr/>
        </p:nvSpPr>
        <p:spPr>
          <a:xfrm>
            <a:off x="228600" y="1219200"/>
            <a:ext cx="8534400" cy="45857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370" y="5968695"/>
            <a:ext cx="3360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Window showing </a:t>
            </a:r>
            <a:r>
              <a:rPr sz="1800" b="1" spc="-10" dirty="0">
                <a:solidFill>
                  <a:srgbClr val="0D090F"/>
                </a:solidFill>
                <a:latin typeface="Carlito"/>
                <a:cs typeface="Carlito"/>
              </a:rPr>
              <a:t>vertical </a:t>
            </a:r>
            <a:r>
              <a:rPr sz="1800" b="1" spc="-5" dirty="0">
                <a:solidFill>
                  <a:srgbClr val="0D090F"/>
                </a:solidFill>
                <a:latin typeface="Carlito"/>
                <a:cs typeface="Carlito"/>
              </a:rPr>
              <a:t>Scroll</a:t>
            </a:r>
            <a:r>
              <a:rPr sz="1800" b="1" spc="-100" dirty="0">
                <a:solidFill>
                  <a:srgbClr val="0D090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D090F"/>
                </a:solidFill>
                <a:latin typeface="Carlito"/>
                <a:cs typeface="Carlito"/>
              </a:rPr>
              <a:t>Bar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4336541" y="6556959"/>
            <a:ext cx="4718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K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umasi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854" y="85801"/>
            <a:ext cx="1941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Scrolling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77873"/>
            <a:ext cx="805497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735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rlito"/>
                <a:cs typeface="Carlito"/>
              </a:rPr>
              <a:t>Whenever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particular </a:t>
            </a:r>
            <a:r>
              <a:rPr sz="3000" spc="-45" dirty="0">
                <a:latin typeface="Carlito"/>
                <a:cs typeface="Carlito"/>
              </a:rPr>
              <a:t>window, </a:t>
            </a:r>
            <a:r>
              <a:rPr sz="3000" spc="-5" dirty="0">
                <a:latin typeface="Carlito"/>
                <a:cs typeface="Carlito"/>
              </a:rPr>
              <a:t>one cannot  see </a:t>
            </a:r>
            <a:r>
              <a:rPr sz="3000" dirty="0">
                <a:latin typeface="Carlito"/>
                <a:cs typeface="Carlito"/>
              </a:rPr>
              <a:t>all the </a:t>
            </a:r>
            <a:r>
              <a:rPr sz="3000" spc="-10" dirty="0">
                <a:latin typeface="Carlito"/>
                <a:cs typeface="Carlito"/>
              </a:rPr>
              <a:t>information </a:t>
            </a:r>
            <a:r>
              <a:rPr sz="3000" spc="-5" dirty="0">
                <a:latin typeface="Carlito"/>
                <a:cs typeface="Carlito"/>
              </a:rPr>
              <a:t>within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window </a:t>
            </a:r>
            <a:r>
              <a:rPr sz="3000" spc="-15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the  same time, </a:t>
            </a:r>
            <a:r>
              <a:rPr sz="3000" spc="-10" dirty="0">
                <a:latin typeface="Carlito"/>
                <a:cs typeface="Carlito"/>
              </a:rPr>
              <a:t>Windows </a:t>
            </a:r>
            <a:r>
              <a:rPr sz="3000" spc="-15" dirty="0">
                <a:latin typeface="Carlito"/>
                <a:cs typeface="Carlito"/>
              </a:rPr>
              <a:t>displays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scroll </a:t>
            </a:r>
            <a:r>
              <a:rPr sz="3000" spc="-5" dirty="0">
                <a:latin typeface="Carlito"/>
                <a:cs typeface="Carlito"/>
              </a:rPr>
              <a:t>bar </a:t>
            </a:r>
            <a:r>
              <a:rPr sz="3000" spc="-10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right </a:t>
            </a:r>
            <a:r>
              <a:rPr sz="3000" spc="-5" dirty="0">
                <a:latin typeface="Carlito"/>
                <a:cs typeface="Carlito"/>
              </a:rPr>
              <a:t>side or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bottom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15" dirty="0">
                <a:latin typeface="Carlito"/>
                <a:cs typeface="Carlito"/>
              </a:rPr>
              <a:t> </a:t>
            </a:r>
            <a:r>
              <a:rPr sz="3000" spc="-30" dirty="0">
                <a:latin typeface="Carlito"/>
                <a:cs typeface="Carlito"/>
              </a:rPr>
              <a:t>window.</a:t>
            </a:r>
            <a:endParaRPr sz="30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25" dirty="0">
                <a:latin typeface="Carlito"/>
                <a:cs typeface="Carlito"/>
              </a:rPr>
              <a:t>make </a:t>
            </a:r>
            <a:r>
              <a:rPr sz="3000" dirty="0">
                <a:latin typeface="Carlito"/>
                <a:cs typeface="Carlito"/>
              </a:rPr>
              <a:t>it </a:t>
            </a:r>
            <a:r>
              <a:rPr sz="3000" spc="-5" dirty="0">
                <a:latin typeface="Carlito"/>
                <a:cs typeface="Carlito"/>
              </a:rPr>
              <a:t>possible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5" dirty="0">
                <a:latin typeface="Carlito"/>
                <a:cs typeface="Carlito"/>
              </a:rPr>
              <a:t>you </a:t>
            </a:r>
            <a:r>
              <a:rPr sz="3000" spc="-5" dirty="0">
                <a:latin typeface="Carlito"/>
                <a:cs typeface="Carlito"/>
              </a:rPr>
              <a:t>view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hidden  information by </a:t>
            </a:r>
            <a:r>
              <a:rPr sz="3000" spc="-5" dirty="0">
                <a:latin typeface="Carlito"/>
                <a:cs typeface="Carlito"/>
              </a:rPr>
              <a:t>either </a:t>
            </a:r>
            <a:r>
              <a:rPr sz="3000" dirty="0">
                <a:latin typeface="Carlito"/>
                <a:cs typeface="Carlito"/>
              </a:rPr>
              <a:t>moving the </a:t>
            </a:r>
            <a:r>
              <a:rPr sz="3000" spc="-10" dirty="0">
                <a:latin typeface="Carlito"/>
                <a:cs typeface="Carlito"/>
              </a:rPr>
              <a:t>vertical  scrollbar </a:t>
            </a:r>
            <a:r>
              <a:rPr sz="3000" spc="-5" dirty="0">
                <a:latin typeface="Carlito"/>
                <a:cs typeface="Carlito"/>
              </a:rPr>
              <a:t>up or down, or by moving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horizontal  </a:t>
            </a:r>
            <a:r>
              <a:rPr sz="3000" spc="-10" dirty="0">
                <a:latin typeface="Carlito"/>
                <a:cs typeface="Carlito"/>
              </a:rPr>
              <a:t>scroll </a:t>
            </a:r>
            <a:r>
              <a:rPr sz="3000" spc="-5" dirty="0">
                <a:latin typeface="Carlito"/>
                <a:cs typeface="Carlito"/>
              </a:rPr>
              <a:t>bar </a:t>
            </a:r>
            <a:r>
              <a:rPr sz="3000" spc="-10" dirty="0">
                <a:latin typeface="Carlito"/>
                <a:cs typeface="Carlito"/>
              </a:rPr>
              <a:t>left </a:t>
            </a:r>
            <a:r>
              <a:rPr sz="3000" spc="-5" dirty="0">
                <a:latin typeface="Carlito"/>
                <a:cs typeface="Carlito"/>
              </a:rPr>
              <a:t>or right </a:t>
            </a:r>
            <a:r>
              <a:rPr sz="3000" spc="-10" dirty="0">
                <a:latin typeface="Carlito"/>
                <a:cs typeface="Carlito"/>
              </a:rPr>
              <a:t>depending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spc="-10" dirty="0">
                <a:latin typeface="Carlito"/>
                <a:cs typeface="Carlito"/>
              </a:rPr>
              <a:t>where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hidden information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is.</a:t>
            </a:r>
            <a:endParaRPr sz="3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rlito"/>
                <a:cs typeface="Carlito"/>
              </a:rPr>
              <a:t>It is </a:t>
            </a:r>
            <a:r>
              <a:rPr sz="3000" spc="-5" dirty="0">
                <a:latin typeface="Carlito"/>
                <a:cs typeface="Carlito"/>
              </a:rPr>
              <a:t>especially </a:t>
            </a:r>
            <a:r>
              <a:rPr sz="3000" spc="-15" dirty="0">
                <a:latin typeface="Carlito"/>
                <a:cs typeface="Carlito"/>
              </a:rPr>
              <a:t>convenient </a:t>
            </a:r>
            <a:r>
              <a:rPr sz="3000" dirty="0">
                <a:latin typeface="Carlito"/>
                <a:cs typeface="Carlito"/>
              </a:rPr>
              <a:t>when </a:t>
            </a:r>
            <a:r>
              <a:rPr sz="3000" spc="-5" dirty="0">
                <a:latin typeface="Carlito"/>
                <a:cs typeface="Carlito"/>
              </a:rPr>
              <a:t>viewing 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long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6033922"/>
            <a:ext cx="17024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rlito"/>
                <a:cs typeface="Carlito"/>
              </a:rPr>
              <a:t>document.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4502" y="6335674"/>
            <a:ext cx="2635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Department 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of Computer Science,</a:t>
            </a:r>
            <a:r>
              <a:rPr sz="1200" spc="-10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KNUST-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0450" y="461899"/>
            <a:ext cx="19405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Scrolling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74761" rIns="0" bIns="0" rtlCol="0">
            <a:spAutoFit/>
          </a:bodyPr>
          <a:lstStyle/>
          <a:p>
            <a:pPr marL="2081530" marR="2805430">
              <a:lnSpc>
                <a:spcPct val="110000"/>
              </a:lnSpc>
              <a:spcBef>
                <a:spcPts val="95"/>
              </a:spcBef>
            </a:pPr>
            <a:r>
              <a:rPr spc="-15" dirty="0"/>
              <a:t>arrow to scroll </a:t>
            </a:r>
            <a:r>
              <a:rPr spc="-5" dirty="0"/>
              <a:t>up.  </a:t>
            </a:r>
            <a:r>
              <a:rPr spc="-15" dirty="0"/>
              <a:t>arrow </a:t>
            </a:r>
            <a:r>
              <a:rPr spc="-20" dirty="0"/>
              <a:t>to </a:t>
            </a:r>
            <a:r>
              <a:rPr spc="-15" dirty="0"/>
              <a:t>scroll</a:t>
            </a:r>
            <a:r>
              <a:rPr spc="-25" dirty="0"/>
              <a:t> </a:t>
            </a:r>
            <a:r>
              <a:rPr spc="-5" dirty="0"/>
              <a:t>down.</a:t>
            </a:r>
          </a:p>
          <a:p>
            <a:pPr marL="2081530" marR="5080">
              <a:lnSpc>
                <a:spcPct val="110000"/>
              </a:lnSpc>
              <a:spcBef>
                <a:spcPts val="5"/>
              </a:spcBef>
            </a:pPr>
            <a:r>
              <a:rPr spc="-15" dirty="0"/>
              <a:t>arrows </a:t>
            </a:r>
            <a:r>
              <a:rPr spc="-20" dirty="0"/>
              <a:t>to </a:t>
            </a:r>
            <a:r>
              <a:rPr spc="-15" dirty="0"/>
              <a:t>scroll </a:t>
            </a:r>
            <a:r>
              <a:rPr spc="-5" dirty="0"/>
              <a:t>up one </a:t>
            </a:r>
            <a:r>
              <a:rPr spc="-10" dirty="0"/>
              <a:t>page at </a:t>
            </a:r>
            <a:r>
              <a:rPr dirty="0"/>
              <a:t>a </a:t>
            </a:r>
            <a:r>
              <a:rPr spc="-5" dirty="0"/>
              <a:t>time.  </a:t>
            </a:r>
            <a:r>
              <a:rPr spc="-15" dirty="0"/>
              <a:t>arrows </a:t>
            </a:r>
            <a:r>
              <a:rPr spc="-20" dirty="0"/>
              <a:t>to </a:t>
            </a:r>
            <a:r>
              <a:rPr spc="-15" dirty="0"/>
              <a:t>scroll </a:t>
            </a:r>
            <a:r>
              <a:rPr spc="-5" dirty="0"/>
              <a:t>down one </a:t>
            </a:r>
            <a:r>
              <a:rPr spc="-10" dirty="0"/>
              <a:t>page at </a:t>
            </a:r>
            <a:r>
              <a:rPr dirty="0"/>
              <a:t>a time.  </a:t>
            </a:r>
            <a:r>
              <a:rPr spc="-15" dirty="0"/>
              <a:t>button </a:t>
            </a:r>
            <a:r>
              <a:rPr spc="-20" dirty="0"/>
              <a:t>to </a:t>
            </a:r>
            <a:r>
              <a:rPr dirty="0"/>
              <a:t>open a </a:t>
            </a:r>
            <a:r>
              <a:rPr spc="-20" dirty="0"/>
              <a:t>browse</a:t>
            </a:r>
            <a:r>
              <a:rPr spc="-40" dirty="0"/>
              <a:t> </a:t>
            </a:r>
            <a:r>
              <a:rPr dirty="0"/>
              <a:t>menu.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0223"/>
            <a:ext cx="7719059" cy="36474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20" dirty="0">
                <a:latin typeface="Carlito"/>
                <a:cs typeface="Carlito"/>
              </a:rPr>
              <a:t>To</a:t>
            </a:r>
            <a:r>
              <a:rPr sz="2700" spc="-10" dirty="0">
                <a:latin typeface="Carlito"/>
                <a:cs typeface="Carlito"/>
              </a:rPr>
              <a:t> scroll,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Click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Click</a:t>
            </a:r>
            <a:r>
              <a:rPr sz="2700" spc="-9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Click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Click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Click</a:t>
            </a:r>
            <a:r>
              <a:rPr sz="2700" spc="-9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OR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Click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20" dirty="0">
                <a:latin typeface="Carlito"/>
                <a:cs typeface="Carlito"/>
              </a:rPr>
              <a:t>drag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scroll </a:t>
            </a:r>
            <a:r>
              <a:rPr sz="2700" spc="-20" dirty="0">
                <a:latin typeface="Carlito"/>
                <a:cs typeface="Carlito"/>
              </a:rPr>
              <a:t>bars to </a:t>
            </a:r>
            <a:r>
              <a:rPr sz="2700" spc="-5" dirty="0">
                <a:latin typeface="Carlito"/>
                <a:cs typeface="Carlito"/>
              </a:rPr>
              <a:t>view </a:t>
            </a:r>
            <a:r>
              <a:rPr sz="2700" spc="-15" dirty="0">
                <a:latin typeface="Carlito"/>
                <a:cs typeface="Carlito"/>
              </a:rPr>
              <a:t>your</a:t>
            </a:r>
            <a:r>
              <a:rPr sz="2700" spc="6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document.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3516" y="2180844"/>
            <a:ext cx="342900" cy="30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45287" y="2615619"/>
            <a:ext cx="283028" cy="2830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185416" y="2994469"/>
            <a:ext cx="401320" cy="789940"/>
            <a:chOff x="2185416" y="2994469"/>
            <a:chExt cx="401320" cy="789940"/>
          </a:xfrm>
        </p:grpSpPr>
        <p:sp>
          <p:nvSpPr>
            <p:cNvPr id="8" name="object 8"/>
            <p:cNvSpPr/>
            <p:nvPr/>
          </p:nvSpPr>
          <p:spPr>
            <a:xfrm>
              <a:off x="2185416" y="2994469"/>
              <a:ext cx="381000" cy="4086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05228" y="3403092"/>
              <a:ext cx="381000" cy="3809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194560" y="4010950"/>
            <a:ext cx="381000" cy="3537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3801" y="934973"/>
            <a:ext cx="3674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The </a:t>
            </a:r>
            <a:r>
              <a:rPr sz="4000" spc="-20" dirty="0"/>
              <a:t>Control</a:t>
            </a:r>
            <a:r>
              <a:rPr sz="4000" spc="-35" dirty="0"/>
              <a:t> </a:t>
            </a:r>
            <a:r>
              <a:rPr sz="4000" spc="-25" dirty="0"/>
              <a:t>Panel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836801"/>
            <a:ext cx="725360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Control Panel </a:t>
            </a:r>
            <a:r>
              <a:rPr sz="2400" spc="-10" dirty="0">
                <a:latin typeface="Carlito"/>
                <a:cs typeface="Carlito"/>
              </a:rPr>
              <a:t>provides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number of </a:t>
            </a:r>
            <a:r>
              <a:rPr sz="2400" spc="-10" dirty="0">
                <a:latin typeface="Carlito"/>
                <a:cs typeface="Carlito"/>
              </a:rPr>
              <a:t>tools that </a:t>
            </a:r>
            <a:r>
              <a:rPr sz="2400" spc="-5" dirty="0">
                <a:latin typeface="Carlito"/>
                <a:cs typeface="Carlito"/>
              </a:rPr>
              <a:t>helps  </a:t>
            </a:r>
            <a:r>
              <a:rPr sz="2400" spc="-10" dirty="0">
                <a:latin typeface="Carlito"/>
                <a:cs typeface="Carlito"/>
              </a:rPr>
              <a:t>you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customize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appearance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functionalities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add and </a:t>
            </a:r>
            <a:r>
              <a:rPr sz="2400" spc="-15" dirty="0">
                <a:latin typeface="Carlito"/>
                <a:cs typeface="Carlito"/>
              </a:rPr>
              <a:t>remove programs to/from </a:t>
            </a:r>
            <a:r>
              <a:rPr sz="2400" spc="-10" dirty="0">
                <a:latin typeface="Carlito"/>
                <a:cs typeface="Carlito"/>
              </a:rPr>
              <a:t>your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set up </a:t>
            </a:r>
            <a:r>
              <a:rPr sz="2400" spc="-10" dirty="0">
                <a:latin typeface="Carlito"/>
                <a:cs typeface="Carlito"/>
              </a:rPr>
              <a:t>your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and also </a:t>
            </a:r>
            <a:r>
              <a:rPr sz="2400" spc="-15" dirty="0">
                <a:latin typeface="Carlito"/>
                <a:cs typeface="Carlito"/>
              </a:rPr>
              <a:t>to create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remove </a:t>
            </a:r>
            <a:r>
              <a:rPr sz="2400" spc="-5" dirty="0">
                <a:latin typeface="Carlito"/>
                <a:cs typeface="Carlito"/>
              </a:rPr>
              <a:t>user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accounts.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It also </a:t>
            </a:r>
            <a:r>
              <a:rPr sz="2400" spc="-10" dirty="0">
                <a:latin typeface="Carlito"/>
                <a:cs typeface="Carlito"/>
              </a:rPr>
              <a:t>provides </a:t>
            </a:r>
            <a:r>
              <a:rPr sz="2400" dirty="0">
                <a:latin typeface="Carlito"/>
                <a:cs typeface="Carlito"/>
              </a:rPr>
              <a:t>a means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‘troubleshoot’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your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problems </a:t>
            </a:r>
            <a:r>
              <a:rPr sz="2400" dirty="0">
                <a:latin typeface="Carlito"/>
                <a:cs typeface="Carlito"/>
              </a:rPr>
              <a:t>and their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solutions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030350"/>
            <a:ext cx="69297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0" dirty="0"/>
              <a:t>To </a:t>
            </a:r>
            <a:r>
              <a:rPr sz="2200" spc="-5" dirty="0"/>
              <a:t>do </a:t>
            </a:r>
            <a:r>
              <a:rPr sz="2200" spc="-15" dirty="0"/>
              <a:t>any </a:t>
            </a:r>
            <a:r>
              <a:rPr sz="2200" spc="-5" dirty="0"/>
              <a:t>of the functions </a:t>
            </a:r>
            <a:r>
              <a:rPr sz="2200" spc="-10" dirty="0"/>
              <a:t>mentioned above, </a:t>
            </a:r>
            <a:r>
              <a:rPr sz="2200" spc="-15" dirty="0"/>
              <a:t>you </a:t>
            </a:r>
            <a:r>
              <a:rPr sz="2200" spc="-5" dirty="0"/>
              <a:t>will </a:t>
            </a:r>
            <a:r>
              <a:rPr sz="2200" spc="-20" dirty="0"/>
              <a:t>have</a:t>
            </a:r>
            <a:r>
              <a:rPr sz="2200" spc="204" dirty="0"/>
              <a:t> </a:t>
            </a:r>
            <a:r>
              <a:rPr sz="2200" spc="-20" dirty="0"/>
              <a:t>to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365630"/>
            <a:ext cx="7038975" cy="4225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Click </a:t>
            </a:r>
            <a:r>
              <a:rPr sz="2200" b="1" spc="-10" dirty="0">
                <a:latin typeface="Carlito"/>
                <a:cs typeface="Carlito"/>
              </a:rPr>
              <a:t>Start</a:t>
            </a:r>
            <a:r>
              <a:rPr sz="2200" spc="-10" dirty="0">
                <a:latin typeface="Carlito"/>
                <a:cs typeface="Carlito"/>
              </a:rPr>
              <a:t>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Click </a:t>
            </a:r>
            <a:r>
              <a:rPr sz="2200" b="1" spc="-15" dirty="0">
                <a:latin typeface="Carlito"/>
                <a:cs typeface="Carlito"/>
              </a:rPr>
              <a:t>Control </a:t>
            </a:r>
            <a:r>
              <a:rPr sz="2200" b="1" spc="-20" dirty="0">
                <a:latin typeface="Carlito"/>
                <a:cs typeface="Carlito"/>
              </a:rPr>
              <a:t>Panel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open the </a:t>
            </a:r>
            <a:r>
              <a:rPr sz="2200" spc="-15" dirty="0">
                <a:latin typeface="Carlito"/>
                <a:cs typeface="Carlito"/>
              </a:rPr>
              <a:t>control </a:t>
            </a:r>
            <a:r>
              <a:rPr sz="2200" spc="-10" dirty="0">
                <a:latin typeface="Carlito"/>
                <a:cs typeface="Carlito"/>
              </a:rPr>
              <a:t>panel</a:t>
            </a:r>
            <a:r>
              <a:rPr sz="2200" spc="150" dirty="0">
                <a:latin typeface="Carlito"/>
                <a:cs typeface="Carlito"/>
              </a:rPr>
              <a:t> </a:t>
            </a:r>
            <a:r>
              <a:rPr sz="2200" spc="-25" dirty="0">
                <a:latin typeface="Carlito"/>
                <a:cs typeface="Carlito"/>
              </a:rPr>
              <a:t>window.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OR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30" dirty="0">
                <a:latin typeface="Carlito"/>
                <a:cs typeface="Carlito"/>
              </a:rPr>
              <a:t>Type </a:t>
            </a:r>
            <a:r>
              <a:rPr sz="2200" b="1" spc="-15" dirty="0">
                <a:latin typeface="Carlito"/>
                <a:cs typeface="Carlito"/>
              </a:rPr>
              <a:t>Control </a:t>
            </a:r>
            <a:r>
              <a:rPr sz="2200" b="1" spc="-20" dirty="0">
                <a:latin typeface="Carlito"/>
                <a:cs typeface="Carlito"/>
              </a:rPr>
              <a:t>Panel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Search </a:t>
            </a:r>
            <a:r>
              <a:rPr sz="2200" spc="-20" dirty="0">
                <a:latin typeface="Carlito"/>
                <a:cs typeface="Carlito"/>
              </a:rPr>
              <a:t>box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Start</a:t>
            </a:r>
            <a:r>
              <a:rPr sz="2200" spc="204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menu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OR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Double-click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Control </a:t>
            </a:r>
            <a:r>
              <a:rPr sz="2200" spc="-10" dirty="0">
                <a:latin typeface="Carlito"/>
                <a:cs typeface="Carlito"/>
              </a:rPr>
              <a:t>panel icon </a:t>
            </a:r>
            <a:r>
              <a:rPr sz="2200" spc="-5" dirty="0">
                <a:latin typeface="Carlito"/>
                <a:cs typeface="Carlito"/>
              </a:rPr>
              <a:t>on </a:t>
            </a:r>
            <a:r>
              <a:rPr sz="2200" spc="-10" dirty="0">
                <a:latin typeface="Carlito"/>
                <a:cs typeface="Carlito"/>
              </a:rPr>
              <a:t>the desk</a:t>
            </a:r>
            <a:r>
              <a:rPr sz="2200" spc="6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top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150">
              <a:latin typeface="Carlito"/>
              <a:cs typeface="Carlito"/>
            </a:endParaRPr>
          </a:p>
          <a:p>
            <a:pPr marL="355600" indent="-342900">
              <a:lnSpc>
                <a:spcPts val="237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Windows </a:t>
            </a:r>
            <a:r>
              <a:rPr sz="2200" spc="-5" dirty="0">
                <a:latin typeface="Carlito"/>
                <a:cs typeface="Carlito"/>
              </a:rPr>
              <a:t>7 </a:t>
            </a:r>
            <a:r>
              <a:rPr sz="2200" spc="-10" dirty="0">
                <a:latin typeface="Carlito"/>
                <a:cs typeface="Carlito"/>
              </a:rPr>
              <a:t>there are three </a:t>
            </a:r>
            <a:r>
              <a:rPr sz="2200" spc="-20" dirty="0">
                <a:latin typeface="Carlito"/>
                <a:cs typeface="Carlito"/>
              </a:rPr>
              <a:t>different </a:t>
            </a:r>
            <a:r>
              <a:rPr sz="2200" spc="-10" dirty="0">
                <a:latin typeface="Carlito"/>
                <a:cs typeface="Carlito"/>
              </a:rPr>
              <a:t>views </a:t>
            </a:r>
            <a:r>
              <a:rPr sz="2200" spc="-5" dirty="0">
                <a:latin typeface="Carlito"/>
                <a:cs typeface="Carlito"/>
              </a:rPr>
              <a:t>of the</a:t>
            </a:r>
            <a:r>
              <a:rPr sz="2200" spc="114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control</a:t>
            </a:r>
            <a:endParaRPr sz="2200">
              <a:latin typeface="Carlito"/>
              <a:cs typeface="Carlito"/>
            </a:endParaRPr>
          </a:p>
          <a:p>
            <a:pPr marL="355600">
              <a:lnSpc>
                <a:spcPts val="2375"/>
              </a:lnSpc>
            </a:pPr>
            <a:r>
              <a:rPr sz="2200" spc="-5" dirty="0">
                <a:latin typeface="Carlito"/>
                <a:cs typeface="Carlito"/>
              </a:rPr>
              <a:t>panel</a:t>
            </a:r>
            <a:r>
              <a:rPr sz="2200" spc="-2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namely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category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view</a:t>
            </a:r>
            <a:endParaRPr sz="20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rlito"/>
                <a:cs typeface="Carlito"/>
              </a:rPr>
              <a:t>small icons view</a:t>
            </a:r>
            <a:r>
              <a:rPr sz="2000" spc="1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and</a:t>
            </a:r>
            <a:endParaRPr sz="2000">
              <a:latin typeface="Carlito"/>
              <a:cs typeface="Carlito"/>
            </a:endParaRPr>
          </a:p>
          <a:p>
            <a:pPr marL="756285" lvl="1" indent="-287020">
              <a:lnSpc>
                <a:spcPts val="2395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rlito"/>
                <a:cs typeface="Carlito"/>
              </a:rPr>
              <a:t>large </a:t>
            </a:r>
            <a:r>
              <a:rPr sz="2000" spc="-5" dirty="0">
                <a:latin typeface="Carlito"/>
                <a:cs typeface="Carlito"/>
              </a:rPr>
              <a:t>icons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view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ts val="263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as shown on the </a:t>
            </a:r>
            <a:r>
              <a:rPr sz="2200" spc="-15" dirty="0">
                <a:latin typeface="Carlito"/>
                <a:cs typeface="Carlito"/>
              </a:rPr>
              <a:t>next</a:t>
            </a:r>
            <a:r>
              <a:rPr sz="2200" spc="1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slide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744" y="1272539"/>
            <a:ext cx="7144511" cy="4034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1493" y="5469128"/>
            <a:ext cx="2954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Category </a:t>
            </a:r>
            <a:r>
              <a:rPr sz="1800" spc="-30" dirty="0">
                <a:latin typeface="Times New Roman"/>
                <a:cs typeface="Times New Roman"/>
              </a:rPr>
              <a:t>View </a:t>
            </a:r>
            <a:r>
              <a:rPr sz="1800" dirty="0">
                <a:latin typeface="Times New Roman"/>
                <a:cs typeface="Times New Roman"/>
              </a:rPr>
              <a:t>of Control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panel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3332" y="1074419"/>
            <a:ext cx="6117335" cy="4181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92325" y="5452364"/>
            <a:ext cx="161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Small Icon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View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30350"/>
            <a:ext cx="7720330" cy="4585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If the view is</a:t>
            </a:r>
            <a:r>
              <a:rPr sz="2200" spc="1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Icons,</a:t>
            </a:r>
            <a:endParaRPr sz="2200">
              <a:latin typeface="Carlito"/>
              <a:cs typeface="Carlito"/>
            </a:endParaRPr>
          </a:p>
          <a:p>
            <a:pPr marL="355600" marR="368935" indent="-342900">
              <a:lnSpc>
                <a:spcPts val="211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the window </a:t>
            </a:r>
            <a:r>
              <a:rPr sz="2200" spc="-10" dirty="0">
                <a:latin typeface="Carlito"/>
                <a:cs typeface="Carlito"/>
              </a:rPr>
              <a:t>presents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b="1" spc="-10" dirty="0">
                <a:latin typeface="Carlito"/>
                <a:cs typeface="Carlito"/>
              </a:rPr>
              <a:t>List </a:t>
            </a:r>
            <a:r>
              <a:rPr sz="2200" b="1" spc="-5" dirty="0">
                <a:latin typeface="Carlito"/>
                <a:cs typeface="Carlito"/>
              </a:rPr>
              <a:t>of </a:t>
            </a:r>
            <a:r>
              <a:rPr sz="2200" b="1" spc="-45" dirty="0">
                <a:latin typeface="Carlito"/>
                <a:cs typeface="Carlito"/>
              </a:rPr>
              <a:t>Tasks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related </a:t>
            </a:r>
            <a:r>
              <a:rPr sz="2200" b="1" spc="-15" dirty="0">
                <a:latin typeface="Carlito"/>
                <a:cs typeface="Carlito"/>
              </a:rPr>
              <a:t>Control </a:t>
            </a:r>
            <a:r>
              <a:rPr sz="2200" b="1" spc="-20" dirty="0">
                <a:latin typeface="Carlito"/>
                <a:cs typeface="Carlito"/>
              </a:rPr>
              <a:t>Panel  </a:t>
            </a:r>
            <a:r>
              <a:rPr sz="2200" b="1" spc="-10" dirty="0">
                <a:latin typeface="Carlito"/>
                <a:cs typeface="Carlito"/>
              </a:rPr>
              <a:t>icons</a:t>
            </a:r>
            <a:r>
              <a:rPr sz="2200" spc="-10" dirty="0">
                <a:latin typeface="Carlito"/>
                <a:cs typeface="Carlito"/>
              </a:rPr>
              <a:t>.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00" spc="-5" dirty="0">
                <a:latin typeface="Carlito"/>
                <a:cs typeface="Carlito"/>
              </a:rPr>
              <a:t>If the view is </a:t>
            </a:r>
            <a:r>
              <a:rPr sz="2200" spc="-15" dirty="0">
                <a:latin typeface="Carlito"/>
                <a:cs typeface="Carlito"/>
              </a:rPr>
              <a:t>category</a:t>
            </a:r>
            <a:r>
              <a:rPr sz="2200" spc="4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then</a:t>
            </a:r>
            <a:endParaRPr sz="2200">
              <a:latin typeface="Carlito"/>
              <a:cs typeface="Carlito"/>
            </a:endParaRPr>
          </a:p>
          <a:p>
            <a:pPr marL="355600" marR="5080" indent="-342900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windows present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categories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which the </a:t>
            </a:r>
            <a:r>
              <a:rPr sz="2200" spc="-10" dirty="0">
                <a:latin typeface="Carlito"/>
                <a:cs typeface="Carlito"/>
              </a:rPr>
              <a:t>list </a:t>
            </a:r>
            <a:r>
              <a:rPr sz="2200" spc="-5" dirty="0">
                <a:latin typeface="Carlito"/>
                <a:cs typeface="Carlito"/>
              </a:rPr>
              <a:t>of </a:t>
            </a:r>
            <a:r>
              <a:rPr sz="2200" spc="-15" dirty="0">
                <a:latin typeface="Carlito"/>
                <a:cs typeface="Carlito"/>
              </a:rPr>
              <a:t>tasks </a:t>
            </a:r>
            <a:r>
              <a:rPr sz="2200" spc="-10" dirty="0">
                <a:latin typeface="Carlito"/>
                <a:cs typeface="Carlito"/>
              </a:rPr>
              <a:t>belongs  </a:t>
            </a:r>
            <a:r>
              <a:rPr sz="2200" spc="-15" dirty="0">
                <a:latin typeface="Carlito"/>
                <a:cs typeface="Carlito"/>
              </a:rPr>
              <a:t>to.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600">
              <a:latin typeface="Carlito"/>
              <a:cs typeface="Carlito"/>
            </a:endParaRPr>
          </a:p>
          <a:p>
            <a:pPr marL="355600" marR="1029969" indent="-342900">
              <a:lnSpc>
                <a:spcPct val="8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45" dirty="0">
                <a:latin typeface="Carlito"/>
                <a:cs typeface="Carlito"/>
              </a:rPr>
              <a:t>Task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Control Panel </a:t>
            </a:r>
            <a:r>
              <a:rPr sz="2200" spc="-10" dirty="0">
                <a:latin typeface="Carlito"/>
                <a:cs typeface="Carlito"/>
              </a:rPr>
              <a:t>icons </a:t>
            </a:r>
            <a:r>
              <a:rPr sz="2200" spc="-15" dirty="0">
                <a:latin typeface="Carlito"/>
                <a:cs typeface="Carlito"/>
              </a:rPr>
              <a:t>perform </a:t>
            </a:r>
            <a:r>
              <a:rPr sz="2200" spc="-10" dirty="0">
                <a:latin typeface="Carlito"/>
                <a:cs typeface="Carlito"/>
              </a:rPr>
              <a:t>basically </a:t>
            </a:r>
            <a:r>
              <a:rPr sz="2200" spc="-5" dirty="0">
                <a:latin typeface="Carlito"/>
                <a:cs typeface="Carlito"/>
              </a:rPr>
              <a:t>the same  functions.</a:t>
            </a:r>
            <a:endParaRPr sz="2200">
              <a:latin typeface="Carlito"/>
              <a:cs typeface="Carlito"/>
            </a:endParaRPr>
          </a:p>
          <a:p>
            <a:pPr marL="355600" marR="49530" indent="-342900">
              <a:lnSpc>
                <a:spcPts val="211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If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5" dirty="0">
                <a:latin typeface="Carlito"/>
                <a:cs typeface="Carlito"/>
              </a:rPr>
              <a:t>look </a:t>
            </a:r>
            <a:r>
              <a:rPr sz="2200" spc="-15" dirty="0">
                <a:latin typeface="Carlito"/>
                <a:cs typeface="Carlito"/>
              </a:rPr>
              <a:t>at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left side </a:t>
            </a:r>
            <a:r>
              <a:rPr sz="2200" spc="-5" dirty="0">
                <a:latin typeface="Carlito"/>
                <a:cs typeface="Carlito"/>
              </a:rPr>
              <a:t>of the </a:t>
            </a:r>
            <a:r>
              <a:rPr sz="2200" spc="-35" dirty="0">
                <a:latin typeface="Carlito"/>
                <a:cs typeface="Carlito"/>
              </a:rPr>
              <a:t>window,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5" dirty="0">
                <a:latin typeface="Carlito"/>
                <a:cs typeface="Carlito"/>
              </a:rPr>
              <a:t>will </a:t>
            </a:r>
            <a:r>
              <a:rPr sz="2200" spc="-10" dirty="0">
                <a:latin typeface="Carlito"/>
                <a:cs typeface="Carlito"/>
              </a:rPr>
              <a:t>notice that </a:t>
            </a:r>
            <a:r>
              <a:rPr sz="2200" spc="-5" dirty="0">
                <a:latin typeface="Carlito"/>
                <a:cs typeface="Carlito"/>
              </a:rPr>
              <a:t>the  </a:t>
            </a:r>
            <a:r>
              <a:rPr sz="2200" b="1" spc="-5" dirty="0">
                <a:latin typeface="Carlito"/>
                <a:cs typeface="Carlito"/>
              </a:rPr>
              <a:t>See Also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b="1" spc="-20" dirty="0">
                <a:latin typeface="Carlito"/>
                <a:cs typeface="Carlito"/>
              </a:rPr>
              <a:t>Troubleshooters </a:t>
            </a:r>
            <a:r>
              <a:rPr sz="2200" spc="-5" dirty="0">
                <a:latin typeface="Carlito"/>
                <a:cs typeface="Carlito"/>
              </a:rPr>
              <a:t>dialog </a:t>
            </a:r>
            <a:r>
              <a:rPr sz="2200" spc="-25" dirty="0">
                <a:latin typeface="Carlito"/>
                <a:cs typeface="Carlito"/>
              </a:rPr>
              <a:t>boxes </a:t>
            </a:r>
            <a:r>
              <a:rPr sz="2200" spc="-15" dirty="0">
                <a:latin typeface="Carlito"/>
                <a:cs typeface="Carlito"/>
              </a:rPr>
              <a:t>provides several  </a:t>
            </a:r>
            <a:r>
              <a:rPr sz="2200" spc="-10" dirty="0">
                <a:latin typeface="Carlito"/>
                <a:cs typeface="Carlito"/>
              </a:rPr>
              <a:t>more </a:t>
            </a:r>
            <a:r>
              <a:rPr sz="2200" spc="-15" dirty="0">
                <a:latin typeface="Carlito"/>
                <a:cs typeface="Carlito"/>
              </a:rPr>
              <a:t>related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options.</a:t>
            </a:r>
            <a:endParaRPr sz="2200">
              <a:latin typeface="Carlito"/>
              <a:cs typeface="Carlito"/>
            </a:endParaRPr>
          </a:p>
          <a:p>
            <a:pPr marL="355600" marR="309245" indent="-342900" algn="just">
              <a:lnSpc>
                <a:spcPts val="211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</a:tabLst>
            </a:pPr>
            <a:r>
              <a:rPr sz="2200" spc="-10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switch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any </a:t>
            </a:r>
            <a:r>
              <a:rPr sz="2200" spc="-10" dirty="0">
                <a:latin typeface="Carlito"/>
                <a:cs typeface="Carlito"/>
              </a:rPr>
              <a:t>view simply </a:t>
            </a:r>
            <a:r>
              <a:rPr sz="2200" spc="-5" dirty="0">
                <a:latin typeface="Carlito"/>
                <a:cs typeface="Carlito"/>
              </a:rPr>
              <a:t>look </a:t>
            </a:r>
            <a:r>
              <a:rPr sz="2200" spc="-15" dirty="0">
                <a:latin typeface="Carlito"/>
                <a:cs typeface="Carlito"/>
              </a:rPr>
              <a:t>at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top </a:t>
            </a:r>
            <a:r>
              <a:rPr sz="2200" spc="-10" dirty="0">
                <a:latin typeface="Carlito"/>
                <a:cs typeface="Carlito"/>
              </a:rPr>
              <a:t>right </a:t>
            </a:r>
            <a:r>
              <a:rPr sz="2200" spc="-5" dirty="0">
                <a:latin typeface="Carlito"/>
                <a:cs typeface="Carlito"/>
              </a:rPr>
              <a:t>hand </a:t>
            </a:r>
            <a:r>
              <a:rPr sz="2200" spc="-10" dirty="0">
                <a:latin typeface="Carlito"/>
                <a:cs typeface="Carlito"/>
              </a:rPr>
              <a:t>side </a:t>
            </a:r>
            <a:r>
              <a:rPr sz="2200" dirty="0">
                <a:latin typeface="Carlito"/>
                <a:cs typeface="Carlito"/>
              </a:rPr>
              <a:t>of  </a:t>
            </a:r>
            <a:r>
              <a:rPr sz="2200" spc="-10" dirty="0">
                <a:latin typeface="Carlito"/>
                <a:cs typeface="Carlito"/>
              </a:rPr>
              <a:t>your </a:t>
            </a:r>
            <a:r>
              <a:rPr sz="2200" spc="-15" dirty="0">
                <a:latin typeface="Carlito"/>
                <a:cs typeface="Carlito"/>
              </a:rPr>
              <a:t>current </a:t>
            </a:r>
            <a:r>
              <a:rPr sz="2200" spc="-5" dirty="0">
                <a:latin typeface="Carlito"/>
                <a:cs typeface="Carlito"/>
              </a:rPr>
              <a:t>window and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5" dirty="0">
                <a:latin typeface="Carlito"/>
                <a:cs typeface="Carlito"/>
              </a:rPr>
              <a:t>will </a:t>
            </a:r>
            <a:r>
              <a:rPr sz="2200" spc="-10" dirty="0">
                <a:latin typeface="Carlito"/>
                <a:cs typeface="Carlito"/>
              </a:rPr>
              <a:t>see View By: Click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arrow  </a:t>
            </a:r>
            <a:r>
              <a:rPr sz="2200" spc="-5" dirty="0">
                <a:latin typeface="Carlito"/>
                <a:cs typeface="Carlito"/>
              </a:rPr>
              <a:t>head, and select the option </a:t>
            </a:r>
            <a:r>
              <a:rPr sz="2200" spc="-15" dirty="0">
                <a:latin typeface="Carlito"/>
                <a:cs typeface="Carlito"/>
              </a:rPr>
              <a:t>you</a:t>
            </a:r>
            <a:r>
              <a:rPr sz="2200" spc="1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want.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36446"/>
            <a:ext cx="7432675" cy="411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Carlito"/>
                <a:cs typeface="Carlito"/>
              </a:rPr>
              <a:t>Setting </a:t>
            </a:r>
            <a:r>
              <a:rPr sz="2000" b="1" spc="-15" dirty="0">
                <a:latin typeface="Carlito"/>
                <a:cs typeface="Carlito"/>
              </a:rPr>
              <a:t>Date </a:t>
            </a:r>
            <a:r>
              <a:rPr sz="2000" b="1" dirty="0">
                <a:latin typeface="Carlito"/>
                <a:cs typeface="Carlito"/>
              </a:rPr>
              <a:t>and</a:t>
            </a:r>
            <a:r>
              <a:rPr sz="2000" b="1" spc="-1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Time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ts val="216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40" dirty="0">
                <a:latin typeface="Carlito"/>
                <a:cs typeface="Carlito"/>
              </a:rPr>
              <a:t>Your </a:t>
            </a:r>
            <a:r>
              <a:rPr sz="2000" spc="-5" dirty="0">
                <a:latin typeface="Carlito"/>
                <a:cs typeface="Carlito"/>
              </a:rPr>
              <a:t>Computer has </a:t>
            </a:r>
            <a:r>
              <a:rPr sz="2000" dirty="0">
                <a:latin typeface="Carlito"/>
                <a:cs typeface="Carlito"/>
              </a:rPr>
              <a:t>an </a:t>
            </a:r>
            <a:r>
              <a:rPr sz="2000" spc="-5" dirty="0">
                <a:latin typeface="Carlito"/>
                <a:cs typeface="Carlito"/>
              </a:rPr>
              <a:t>internal </a:t>
            </a:r>
            <a:r>
              <a:rPr sz="2000" dirty="0">
                <a:latin typeface="Carlito"/>
                <a:cs typeface="Carlito"/>
              </a:rPr>
              <a:t>clock </a:t>
            </a:r>
            <a:r>
              <a:rPr sz="2000" spc="-5" dirty="0">
                <a:latin typeface="Carlito"/>
                <a:cs typeface="Carlito"/>
              </a:rPr>
              <a:t>that </a:t>
            </a:r>
            <a:r>
              <a:rPr sz="2000" spc="-15" dirty="0">
                <a:latin typeface="Carlito"/>
                <a:cs typeface="Carlito"/>
              </a:rPr>
              <a:t>keeps </a:t>
            </a:r>
            <a:r>
              <a:rPr sz="2000" spc="-10" dirty="0">
                <a:latin typeface="Carlito"/>
                <a:cs typeface="Carlito"/>
              </a:rPr>
              <a:t>track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date</a:t>
            </a:r>
            <a:r>
              <a:rPr sz="2000" spc="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and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ts val="2160"/>
              </a:lnSpc>
            </a:pPr>
            <a:r>
              <a:rPr sz="2000" spc="-5" dirty="0">
                <a:latin typeface="Carlito"/>
                <a:cs typeface="Carlito"/>
              </a:rPr>
              <a:t>time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5" dirty="0">
                <a:latin typeface="Carlito"/>
                <a:cs typeface="Carlito"/>
              </a:rPr>
              <a:t>is normally </a:t>
            </a:r>
            <a:r>
              <a:rPr sz="2000" spc="-10" dirty="0">
                <a:latin typeface="Carlito"/>
                <a:cs typeface="Carlito"/>
              </a:rPr>
              <a:t>displayed at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bottom </a:t>
            </a:r>
            <a:r>
              <a:rPr sz="2000" spc="-5" dirty="0">
                <a:latin typeface="Carlito"/>
                <a:cs typeface="Carlito"/>
              </a:rPr>
              <a:t>left </a:t>
            </a:r>
            <a:r>
              <a:rPr sz="2000" dirty="0">
                <a:latin typeface="Carlito"/>
                <a:cs typeface="Carlito"/>
              </a:rPr>
              <a:t>of the</a:t>
            </a:r>
            <a:r>
              <a:rPr sz="2000" spc="40" dirty="0">
                <a:latin typeface="Carlito"/>
                <a:cs typeface="Carlito"/>
              </a:rPr>
              <a:t> </a:t>
            </a:r>
            <a:r>
              <a:rPr sz="2000" spc="-30" dirty="0">
                <a:latin typeface="Carlito"/>
                <a:cs typeface="Carlito"/>
              </a:rPr>
              <a:t>taskbar.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b="1" spc="-85" dirty="0">
                <a:latin typeface="Carlito"/>
                <a:cs typeface="Carlito"/>
              </a:rPr>
              <a:t>To </a:t>
            </a:r>
            <a:r>
              <a:rPr sz="2000" b="1" spc="-5" dirty="0">
                <a:latin typeface="Carlito"/>
                <a:cs typeface="Carlito"/>
              </a:rPr>
              <a:t>change </a:t>
            </a:r>
            <a:r>
              <a:rPr sz="2000" b="1" dirty="0">
                <a:latin typeface="Carlito"/>
                <a:cs typeface="Carlito"/>
              </a:rPr>
              <a:t>the time and</a:t>
            </a:r>
            <a:r>
              <a:rPr sz="2000" b="1" spc="25" dirty="0">
                <a:latin typeface="Carlito"/>
                <a:cs typeface="Carlito"/>
              </a:rPr>
              <a:t> </a:t>
            </a:r>
            <a:r>
              <a:rPr sz="2000" b="1" spc="-15" dirty="0">
                <a:latin typeface="Carlito"/>
                <a:cs typeface="Carlito"/>
              </a:rPr>
              <a:t>date:</a:t>
            </a:r>
            <a:endParaRPr sz="2000">
              <a:latin typeface="Carlito"/>
              <a:cs typeface="Carlito"/>
            </a:endParaRPr>
          </a:p>
          <a:p>
            <a:pPr marL="355600" marR="518159" indent="-342900">
              <a:lnSpc>
                <a:spcPts val="1920"/>
              </a:lnSpc>
              <a:spcBef>
                <a:spcPts val="46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In the </a:t>
            </a:r>
            <a:r>
              <a:rPr sz="2000" spc="-10" dirty="0">
                <a:latin typeface="Carlito"/>
                <a:cs typeface="Carlito"/>
              </a:rPr>
              <a:t>Category </a:t>
            </a:r>
            <a:r>
              <a:rPr sz="2000" spc="-5" dirty="0">
                <a:latin typeface="Carlito"/>
                <a:cs typeface="Carlito"/>
              </a:rPr>
              <a:t>view </a:t>
            </a:r>
            <a:r>
              <a:rPr sz="2000" dirty="0">
                <a:latin typeface="Carlito"/>
                <a:cs typeface="Carlito"/>
              </a:rPr>
              <a:t>, click </a:t>
            </a:r>
            <a:r>
              <a:rPr sz="2000" b="1" spc="-15" dirty="0">
                <a:latin typeface="Carlito"/>
                <a:cs typeface="Carlito"/>
              </a:rPr>
              <a:t>Date, </a:t>
            </a:r>
            <a:r>
              <a:rPr sz="2000" b="1" dirty="0">
                <a:latin typeface="Carlito"/>
                <a:cs typeface="Carlito"/>
              </a:rPr>
              <a:t>Time, </a:t>
            </a:r>
            <a:r>
              <a:rPr sz="2000" b="1" spc="-5" dirty="0">
                <a:latin typeface="Carlito"/>
                <a:cs typeface="Carlito"/>
              </a:rPr>
              <a:t>Language, </a:t>
            </a:r>
            <a:r>
              <a:rPr sz="2000" b="1" dirty="0">
                <a:latin typeface="Carlito"/>
                <a:cs typeface="Carlito"/>
              </a:rPr>
              <a:t>and </a:t>
            </a:r>
            <a:r>
              <a:rPr sz="2000" b="1" spc="-10" dirty="0">
                <a:latin typeface="Carlito"/>
                <a:cs typeface="Carlito"/>
              </a:rPr>
              <a:t>Regional  </a:t>
            </a:r>
            <a:r>
              <a:rPr sz="2000" b="1" dirty="0">
                <a:latin typeface="Carlito"/>
                <a:cs typeface="Carlito"/>
              </a:rPr>
              <a:t>Options</a:t>
            </a:r>
            <a:r>
              <a:rPr sz="2000" dirty="0">
                <a:latin typeface="Carlito"/>
                <a:cs typeface="Carlito"/>
              </a:rPr>
              <a:t>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Under Pick a </a:t>
            </a:r>
            <a:r>
              <a:rPr sz="2000" spc="-35" dirty="0">
                <a:latin typeface="Carlito"/>
                <a:cs typeface="Carlito"/>
              </a:rPr>
              <a:t>Task, </a:t>
            </a:r>
            <a:r>
              <a:rPr sz="2000" dirty="0">
                <a:latin typeface="Carlito"/>
                <a:cs typeface="Carlito"/>
              </a:rPr>
              <a:t>click </a:t>
            </a:r>
            <a:r>
              <a:rPr sz="2000" b="1" spc="-10" dirty="0">
                <a:latin typeface="Carlito"/>
                <a:cs typeface="Carlito"/>
              </a:rPr>
              <a:t>Change </a:t>
            </a:r>
            <a:r>
              <a:rPr sz="2000" b="1" dirty="0">
                <a:latin typeface="Carlito"/>
                <a:cs typeface="Carlito"/>
              </a:rPr>
              <a:t>the </a:t>
            </a:r>
            <a:r>
              <a:rPr sz="2000" b="1" spc="-15" dirty="0">
                <a:latin typeface="Carlito"/>
                <a:cs typeface="Carlito"/>
              </a:rPr>
              <a:t>date </a:t>
            </a:r>
            <a:r>
              <a:rPr sz="2000" b="1" dirty="0">
                <a:latin typeface="Carlito"/>
                <a:cs typeface="Carlito"/>
              </a:rPr>
              <a:t>and</a:t>
            </a:r>
            <a:r>
              <a:rPr sz="2000" b="1" spc="45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time</a:t>
            </a:r>
            <a:r>
              <a:rPr sz="2000" dirty="0">
                <a:latin typeface="Carlito"/>
                <a:cs typeface="Carlito"/>
              </a:rPr>
              <a:t>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b="1" spc="-15" dirty="0">
                <a:latin typeface="Carlito"/>
                <a:cs typeface="Carlito"/>
              </a:rPr>
              <a:t>Date </a:t>
            </a:r>
            <a:r>
              <a:rPr sz="2000" b="1" dirty="0">
                <a:latin typeface="Carlito"/>
                <a:cs typeface="Carlito"/>
              </a:rPr>
              <a:t>and </a:t>
            </a:r>
            <a:r>
              <a:rPr sz="2000" b="1" spc="-5" dirty="0">
                <a:latin typeface="Carlito"/>
                <a:cs typeface="Carlito"/>
              </a:rPr>
              <a:t>Time Properties </a:t>
            </a:r>
            <a:r>
              <a:rPr sz="2000" spc="-5" dirty="0">
                <a:latin typeface="Carlito"/>
                <a:cs typeface="Carlito"/>
              </a:rPr>
              <a:t>dialog </a:t>
            </a:r>
            <a:r>
              <a:rPr sz="2000" spc="-15" dirty="0">
                <a:latin typeface="Carlito"/>
                <a:cs typeface="Carlito"/>
              </a:rPr>
              <a:t>box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opens.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Use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b="1" spc="-5" dirty="0">
                <a:latin typeface="Carlito"/>
                <a:cs typeface="Carlito"/>
              </a:rPr>
              <a:t>drop </a:t>
            </a:r>
            <a:r>
              <a:rPr sz="2000" b="1" dirty="0">
                <a:latin typeface="Carlito"/>
                <a:cs typeface="Carlito"/>
              </a:rPr>
              <a:t>down </a:t>
            </a:r>
            <a:r>
              <a:rPr sz="2000" b="1" spc="-10" dirty="0">
                <a:latin typeface="Carlito"/>
                <a:cs typeface="Carlito"/>
              </a:rPr>
              <a:t>box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set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month </a:t>
            </a:r>
            <a:r>
              <a:rPr sz="2000" dirty="0">
                <a:latin typeface="Carlito"/>
                <a:cs typeface="Carlito"/>
              </a:rPr>
              <a:t>and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2000" spc="-50" dirty="0">
                <a:latin typeface="Carlito"/>
                <a:cs typeface="Carlito"/>
              </a:rPr>
              <a:t>year.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Click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correct </a:t>
            </a:r>
            <a:r>
              <a:rPr sz="2000" spc="-15" dirty="0">
                <a:latin typeface="Carlito"/>
                <a:cs typeface="Carlito"/>
              </a:rPr>
              <a:t>date </a:t>
            </a:r>
            <a:r>
              <a:rPr sz="2000" spc="-5" dirty="0">
                <a:latin typeface="Carlito"/>
                <a:cs typeface="Carlito"/>
              </a:rPr>
              <a:t>on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15" dirty="0">
                <a:latin typeface="Carlito"/>
                <a:cs typeface="Carlito"/>
              </a:rPr>
              <a:t> </a:t>
            </a:r>
            <a:r>
              <a:rPr sz="2000" spc="-25" dirty="0">
                <a:latin typeface="Carlito"/>
                <a:cs typeface="Carlito"/>
              </a:rPr>
              <a:t>calendar.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Click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5" dirty="0">
                <a:latin typeface="Carlito"/>
                <a:cs typeface="Carlito"/>
              </a:rPr>
              <a:t>select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current </a:t>
            </a:r>
            <a:r>
              <a:rPr sz="2000" dirty="0">
                <a:latin typeface="Carlito"/>
                <a:cs typeface="Carlito"/>
              </a:rPr>
              <a:t>time </a:t>
            </a:r>
            <a:r>
              <a:rPr sz="2000" spc="-10" dirty="0">
                <a:latin typeface="Carlito"/>
                <a:cs typeface="Carlito"/>
              </a:rPr>
              <a:t>to </a:t>
            </a:r>
            <a:r>
              <a:rPr sz="2000" spc="-20" dirty="0">
                <a:latin typeface="Carlito"/>
                <a:cs typeface="Carlito"/>
              </a:rPr>
              <a:t>make </a:t>
            </a:r>
            <a:r>
              <a:rPr sz="2000" dirty="0">
                <a:latin typeface="Carlito"/>
                <a:cs typeface="Carlito"/>
              </a:rPr>
              <a:t>a</a:t>
            </a:r>
            <a:r>
              <a:rPr sz="2000" spc="6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change.</a:t>
            </a:r>
            <a:endParaRPr sz="2000">
              <a:latin typeface="Carlito"/>
              <a:cs typeface="Carlito"/>
            </a:endParaRPr>
          </a:p>
          <a:p>
            <a:pPr marL="355600" marR="194310" indent="-342900">
              <a:lnSpc>
                <a:spcPts val="1920"/>
              </a:lnSpc>
              <a:spcBef>
                <a:spcPts val="46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If </a:t>
            </a:r>
            <a:r>
              <a:rPr sz="2000" spc="-15" dirty="0">
                <a:latin typeface="Carlito"/>
                <a:cs typeface="Carlito"/>
              </a:rPr>
              <a:t>necessary, </a:t>
            </a:r>
            <a:r>
              <a:rPr sz="2000" dirty="0">
                <a:latin typeface="Carlito"/>
                <a:cs typeface="Carlito"/>
              </a:rPr>
              <a:t>click the </a:t>
            </a:r>
            <a:r>
              <a:rPr sz="2000" b="1" spc="-5" dirty="0">
                <a:latin typeface="Carlito"/>
                <a:cs typeface="Carlito"/>
              </a:rPr>
              <a:t>Time Zone </a:t>
            </a:r>
            <a:r>
              <a:rPr sz="2000" spc="-10" dirty="0">
                <a:latin typeface="Carlito"/>
                <a:cs typeface="Carlito"/>
              </a:rPr>
              <a:t>tab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5" dirty="0">
                <a:latin typeface="Carlito"/>
                <a:cs typeface="Carlito"/>
              </a:rPr>
              <a:t>use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5" dirty="0">
                <a:latin typeface="Carlito"/>
                <a:cs typeface="Carlito"/>
              </a:rPr>
              <a:t>drop </a:t>
            </a:r>
            <a:r>
              <a:rPr sz="2000" spc="-5" dirty="0">
                <a:latin typeface="Carlito"/>
                <a:cs typeface="Carlito"/>
              </a:rPr>
              <a:t>down </a:t>
            </a:r>
            <a:r>
              <a:rPr sz="2000" spc="-15" dirty="0">
                <a:latin typeface="Carlito"/>
                <a:cs typeface="Carlito"/>
              </a:rPr>
              <a:t>box to  </a:t>
            </a:r>
            <a:r>
              <a:rPr sz="2000" dirty="0">
                <a:latin typeface="Carlito"/>
                <a:cs typeface="Carlito"/>
              </a:rPr>
              <a:t>change the </a:t>
            </a:r>
            <a:r>
              <a:rPr sz="2000" spc="-5" dirty="0">
                <a:latin typeface="Carlito"/>
                <a:cs typeface="Carlito"/>
              </a:rPr>
              <a:t>time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zone.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Click </a:t>
            </a:r>
            <a:r>
              <a:rPr sz="2000" b="1" dirty="0">
                <a:latin typeface="Carlito"/>
                <a:cs typeface="Carlito"/>
              </a:rPr>
              <a:t>OK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close the </a:t>
            </a:r>
            <a:r>
              <a:rPr sz="2000" spc="-5" dirty="0">
                <a:latin typeface="Carlito"/>
                <a:cs typeface="Carlito"/>
              </a:rPr>
              <a:t>dialog </a:t>
            </a:r>
            <a:r>
              <a:rPr sz="2000" spc="-15" dirty="0">
                <a:latin typeface="Carlito"/>
                <a:cs typeface="Carlito"/>
              </a:rPr>
              <a:t>box.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984986"/>
            <a:ext cx="7057390" cy="226949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10" dirty="0">
                <a:latin typeface="Carlito"/>
                <a:cs typeface="Carlito"/>
              </a:rPr>
              <a:t>Alternatively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5" dirty="0">
                <a:latin typeface="Carlito"/>
                <a:cs typeface="Carlito"/>
              </a:rPr>
              <a:t>Right-click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time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10" dirty="0">
                <a:latin typeface="Carlito"/>
                <a:cs typeface="Carlito"/>
              </a:rPr>
              <a:t>lower </a:t>
            </a:r>
            <a:r>
              <a:rPr sz="3200" spc="-5" dirty="0">
                <a:latin typeface="Carlito"/>
                <a:cs typeface="Carlito"/>
              </a:rPr>
              <a:t>right on  </a:t>
            </a:r>
            <a:r>
              <a:rPr sz="3200" spc="-10" dirty="0">
                <a:latin typeface="Carlito"/>
                <a:cs typeface="Carlito"/>
              </a:rPr>
              <a:t>your </a:t>
            </a:r>
            <a:r>
              <a:rPr sz="3200" spc="-15" dirty="0">
                <a:latin typeface="Carlito"/>
                <a:cs typeface="Carlito"/>
              </a:rPr>
              <a:t>desktop.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Choose </a:t>
            </a:r>
            <a:r>
              <a:rPr sz="3200" b="1" spc="-10" dirty="0">
                <a:latin typeface="Carlito"/>
                <a:cs typeface="Carlito"/>
              </a:rPr>
              <a:t>Adjust</a:t>
            </a:r>
            <a:r>
              <a:rPr sz="3200" b="1" spc="-30" dirty="0">
                <a:latin typeface="Carlito"/>
                <a:cs typeface="Carlito"/>
              </a:rPr>
              <a:t> </a:t>
            </a:r>
            <a:r>
              <a:rPr sz="3200" b="1" spc="-20" dirty="0">
                <a:latin typeface="Carlito"/>
                <a:cs typeface="Carlito"/>
              </a:rPr>
              <a:t>Date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633" y="3326129"/>
            <a:ext cx="2019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rlito"/>
                <a:cs typeface="Carlito"/>
              </a:rPr>
              <a:t>x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3326129"/>
            <a:ext cx="3832225" cy="1586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b="1" spc="-15" dirty="0">
                <a:latin typeface="Carlito"/>
                <a:cs typeface="Carlito"/>
              </a:rPr>
              <a:t>Date </a:t>
            </a:r>
            <a:r>
              <a:rPr sz="3200" b="1" dirty="0">
                <a:latin typeface="Carlito"/>
                <a:cs typeface="Carlito"/>
              </a:rPr>
              <a:t>and </a:t>
            </a:r>
            <a:r>
              <a:rPr sz="3200" b="1" spc="-5" dirty="0">
                <a:latin typeface="Carlito"/>
                <a:cs typeface="Carlito"/>
              </a:rPr>
              <a:t>Time</a:t>
            </a:r>
            <a:r>
              <a:rPr sz="3200" b="1" spc="-100" dirty="0">
                <a:latin typeface="Carlito"/>
                <a:cs typeface="Carlito"/>
              </a:rPr>
              <a:t> </a:t>
            </a:r>
            <a:r>
              <a:rPr sz="3200" b="1" spc="-5" dirty="0">
                <a:latin typeface="Carlito"/>
                <a:cs typeface="Carlito"/>
              </a:rPr>
              <a:t>P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Carlito"/>
                <a:cs typeface="Carlito"/>
              </a:rPr>
              <a:t>opens.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rlito"/>
                <a:cs typeface="Carlito"/>
              </a:rPr>
              <a:t>Follow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last </a:t>
            </a:r>
            <a:r>
              <a:rPr sz="3200" dirty="0">
                <a:latin typeface="Carlito"/>
                <a:cs typeface="Carlito"/>
              </a:rPr>
              <a:t>4 </a:t>
            </a:r>
            <a:r>
              <a:rPr sz="3200" spc="-30" dirty="0">
                <a:latin typeface="Carlito"/>
                <a:cs typeface="Carlito"/>
              </a:rPr>
              <a:t>ste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4646" y="2854731"/>
            <a:ext cx="3330575" cy="2066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3045"/>
              </a:lnSpc>
            </a:pPr>
            <a:r>
              <a:rPr sz="3200" b="1" spc="-5" dirty="0">
                <a:latin typeface="Carlito"/>
                <a:cs typeface="Carlito"/>
              </a:rPr>
              <a:t>/Time</a:t>
            </a:r>
            <a:r>
              <a:rPr sz="3200" spc="-5" dirty="0">
                <a:latin typeface="Carlito"/>
                <a:cs typeface="Carlito"/>
              </a:rPr>
              <a:t>.</a:t>
            </a:r>
            <a:endParaRPr sz="3200">
              <a:latin typeface="Carlito"/>
              <a:cs typeface="Carlito"/>
            </a:endParaRPr>
          </a:p>
          <a:p>
            <a:pPr marL="181610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latin typeface="Carlito"/>
                <a:cs typeface="Carlito"/>
              </a:rPr>
              <a:t>roperties </a:t>
            </a:r>
            <a:r>
              <a:rPr sz="3200" spc="-5" dirty="0">
                <a:latin typeface="Carlito"/>
                <a:cs typeface="Carlito"/>
              </a:rPr>
              <a:t>dialog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bo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75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r>
              <a:rPr sz="3200" spc="-10" dirty="0">
                <a:latin typeface="Carlito"/>
                <a:cs typeface="Carlito"/>
              </a:rPr>
              <a:t>ps</a:t>
            </a:r>
            <a:r>
              <a:rPr sz="3200" spc="-5" dirty="0">
                <a:latin typeface="Carlito"/>
                <a:cs typeface="Carlito"/>
              </a:rPr>
              <a:t> above.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66259" y="2602992"/>
            <a:ext cx="3378708" cy="3189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057" y="1048638"/>
            <a:ext cx="33115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5" dirty="0">
                <a:latin typeface="Carlito"/>
                <a:cs typeface="Carlito"/>
              </a:rPr>
              <a:t>Changing the</a:t>
            </a:r>
            <a:r>
              <a:rPr sz="2600" b="1" spc="-30" dirty="0">
                <a:latin typeface="Carlito"/>
                <a:cs typeface="Carlito"/>
              </a:rPr>
              <a:t> </a:t>
            </a:r>
            <a:r>
              <a:rPr sz="2600" b="1" spc="-15" dirty="0">
                <a:latin typeface="Carlito"/>
                <a:cs typeface="Carlito"/>
              </a:rPr>
              <a:t>Wallpaper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1057" y="1447927"/>
            <a:ext cx="7708900" cy="380111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125095" indent="-343535" algn="just">
              <a:lnSpc>
                <a:spcPct val="794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100" b="1" spc="-10" dirty="0">
                <a:latin typeface="Carlito"/>
                <a:cs typeface="Carlito"/>
              </a:rPr>
              <a:t>Wallpaper </a:t>
            </a:r>
            <a:r>
              <a:rPr sz="2100" dirty="0">
                <a:latin typeface="Carlito"/>
                <a:cs typeface="Carlito"/>
              </a:rPr>
              <a:t>is the </a:t>
            </a:r>
            <a:r>
              <a:rPr sz="2100" spc="-10" dirty="0">
                <a:latin typeface="Carlito"/>
                <a:cs typeface="Carlito"/>
              </a:rPr>
              <a:t>background </a:t>
            </a:r>
            <a:r>
              <a:rPr sz="2100" spc="-5" dirty="0">
                <a:latin typeface="Carlito"/>
                <a:cs typeface="Carlito"/>
              </a:rPr>
              <a:t>image that appears on </a:t>
            </a:r>
            <a:r>
              <a:rPr sz="2100" spc="-10" dirty="0">
                <a:latin typeface="Carlito"/>
                <a:cs typeface="Carlito"/>
              </a:rPr>
              <a:t>your desktop.  Windows </a:t>
            </a:r>
            <a:r>
              <a:rPr sz="2100" dirty="0">
                <a:latin typeface="Carlito"/>
                <a:cs typeface="Carlito"/>
              </a:rPr>
              <a:t>7 </a:t>
            </a:r>
            <a:r>
              <a:rPr sz="2100" spc="-25" dirty="0">
                <a:latin typeface="Carlito"/>
                <a:cs typeface="Carlito"/>
              </a:rPr>
              <a:t>offers </a:t>
            </a:r>
            <a:r>
              <a:rPr sz="2100" spc="-10" dirty="0">
                <a:latin typeface="Carlito"/>
                <a:cs typeface="Carlito"/>
              </a:rPr>
              <a:t>many </a:t>
            </a:r>
            <a:r>
              <a:rPr sz="2100" spc="-5" dirty="0">
                <a:latin typeface="Carlito"/>
                <a:cs typeface="Carlito"/>
              </a:rPr>
              <a:t>wallpaper </a:t>
            </a:r>
            <a:r>
              <a:rPr sz="2100" dirty="0">
                <a:latin typeface="Carlito"/>
                <a:cs typeface="Carlito"/>
              </a:rPr>
              <a:t>choices </a:t>
            </a:r>
            <a:r>
              <a:rPr sz="2100" spc="-5" dirty="0">
                <a:latin typeface="Carlito"/>
                <a:cs typeface="Carlito"/>
              </a:rPr>
              <a:t>that </a:t>
            </a:r>
            <a:r>
              <a:rPr sz="2100" spc="-15" dirty="0">
                <a:latin typeface="Carlito"/>
                <a:cs typeface="Carlito"/>
              </a:rPr>
              <a:t>you </a:t>
            </a:r>
            <a:r>
              <a:rPr sz="2100" spc="-5" dirty="0">
                <a:latin typeface="Carlito"/>
                <a:cs typeface="Carlito"/>
              </a:rPr>
              <a:t>can select </a:t>
            </a:r>
            <a:r>
              <a:rPr sz="2100" spc="-15" dirty="0">
                <a:latin typeface="Carlito"/>
                <a:cs typeface="Carlito"/>
              </a:rPr>
              <a:t>from  </a:t>
            </a:r>
            <a:r>
              <a:rPr sz="2100" dirty="0">
                <a:latin typeface="Carlito"/>
                <a:cs typeface="Carlito"/>
              </a:rPr>
              <a:t>if </a:t>
            </a:r>
            <a:r>
              <a:rPr sz="2100" spc="-10" dirty="0">
                <a:latin typeface="Carlito"/>
                <a:cs typeface="Carlito"/>
              </a:rPr>
              <a:t>you </a:t>
            </a:r>
            <a:r>
              <a:rPr sz="2100" spc="-5" dirty="0">
                <a:latin typeface="Carlito"/>
                <a:cs typeface="Carlito"/>
              </a:rPr>
              <a:t>don’t </a:t>
            </a:r>
            <a:r>
              <a:rPr sz="2100" spc="-20" dirty="0">
                <a:latin typeface="Carlito"/>
                <a:cs typeface="Carlito"/>
              </a:rPr>
              <a:t>like </a:t>
            </a:r>
            <a:r>
              <a:rPr sz="2100" spc="-10" dirty="0">
                <a:latin typeface="Carlito"/>
                <a:cs typeface="Carlito"/>
              </a:rPr>
              <a:t>your current wall</a:t>
            </a:r>
            <a:r>
              <a:rPr sz="2100" spc="45" dirty="0">
                <a:latin typeface="Carlito"/>
                <a:cs typeface="Carlito"/>
              </a:rPr>
              <a:t> </a:t>
            </a:r>
            <a:r>
              <a:rPr sz="2100" dirty="0">
                <a:latin typeface="Carlito"/>
                <a:cs typeface="Carlito"/>
              </a:rPr>
              <a:t>paper</a:t>
            </a:r>
            <a:r>
              <a:rPr sz="2500" dirty="0">
                <a:latin typeface="Carlito"/>
                <a:cs typeface="Carlito"/>
              </a:rPr>
              <a:t>.</a:t>
            </a: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245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100" spc="-100" dirty="0">
                <a:latin typeface="Carlito"/>
                <a:cs typeface="Carlito"/>
              </a:rPr>
              <a:t>To </a:t>
            </a:r>
            <a:r>
              <a:rPr sz="2100" spc="-5" dirty="0">
                <a:latin typeface="Carlito"/>
                <a:cs typeface="Carlito"/>
              </a:rPr>
              <a:t>change </a:t>
            </a:r>
            <a:r>
              <a:rPr sz="2100" dirty="0">
                <a:latin typeface="Carlito"/>
                <a:cs typeface="Carlito"/>
              </a:rPr>
              <a:t>the</a:t>
            </a:r>
            <a:r>
              <a:rPr sz="2100" spc="100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wallpaper</a:t>
            </a:r>
            <a:r>
              <a:rPr sz="2500" spc="-5" dirty="0">
                <a:latin typeface="Carlito"/>
                <a:cs typeface="Carlito"/>
              </a:rPr>
              <a:t>,</a:t>
            </a:r>
            <a:endParaRPr sz="2500">
              <a:latin typeface="Carlito"/>
              <a:cs typeface="Carlito"/>
            </a:endParaRPr>
          </a:p>
          <a:p>
            <a:pPr marL="355600" indent="-343535">
              <a:lnSpc>
                <a:spcPts val="27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spc="-10" dirty="0">
                <a:latin typeface="Carlito"/>
                <a:cs typeface="Carlito"/>
              </a:rPr>
              <a:t>Under </a:t>
            </a:r>
            <a:r>
              <a:rPr sz="2500" spc="-5" dirty="0">
                <a:latin typeface="Carlito"/>
                <a:cs typeface="Carlito"/>
              </a:rPr>
              <a:t>Pick a </a:t>
            </a:r>
            <a:r>
              <a:rPr sz="2500" spc="-10" dirty="0">
                <a:latin typeface="Carlito"/>
                <a:cs typeface="Carlito"/>
              </a:rPr>
              <a:t>Category </a:t>
            </a:r>
            <a:r>
              <a:rPr sz="2500" spc="-5" dirty="0">
                <a:latin typeface="Carlito"/>
                <a:cs typeface="Carlito"/>
              </a:rPr>
              <a:t>in the </a:t>
            </a:r>
            <a:r>
              <a:rPr sz="2500" spc="-15" dirty="0">
                <a:latin typeface="Carlito"/>
                <a:cs typeface="Carlito"/>
              </a:rPr>
              <a:t>Control Panel </a:t>
            </a:r>
            <a:r>
              <a:rPr sz="2500" spc="-35" dirty="0">
                <a:latin typeface="Carlito"/>
                <a:cs typeface="Carlito"/>
              </a:rPr>
              <a:t>window,</a:t>
            </a:r>
            <a:r>
              <a:rPr sz="2500" spc="125" dirty="0">
                <a:latin typeface="Carlito"/>
                <a:cs typeface="Carlito"/>
              </a:rPr>
              <a:t> </a:t>
            </a:r>
            <a:r>
              <a:rPr sz="2500" spc="-5" dirty="0">
                <a:latin typeface="Carlito"/>
                <a:cs typeface="Carlito"/>
              </a:rPr>
              <a:t>click</a:t>
            </a:r>
            <a:endParaRPr sz="2500">
              <a:latin typeface="Carlito"/>
              <a:cs typeface="Carlito"/>
            </a:endParaRPr>
          </a:p>
          <a:p>
            <a:pPr marL="355600">
              <a:lnSpc>
                <a:spcPts val="2700"/>
              </a:lnSpc>
            </a:pPr>
            <a:r>
              <a:rPr sz="2500" b="1" spc="-10" dirty="0">
                <a:latin typeface="Carlito"/>
                <a:cs typeface="Carlito"/>
              </a:rPr>
              <a:t>Appearance </a:t>
            </a:r>
            <a:r>
              <a:rPr sz="2500" b="1" spc="-5" dirty="0">
                <a:latin typeface="Carlito"/>
                <a:cs typeface="Carlito"/>
              </a:rPr>
              <a:t>and</a:t>
            </a:r>
            <a:r>
              <a:rPr sz="2500" b="1" dirty="0">
                <a:latin typeface="Carlito"/>
                <a:cs typeface="Carlito"/>
              </a:rPr>
              <a:t> </a:t>
            </a:r>
            <a:r>
              <a:rPr sz="2500" b="1" spc="-10" dirty="0">
                <a:latin typeface="Carlito"/>
                <a:cs typeface="Carlito"/>
              </a:rPr>
              <a:t>Personalization</a:t>
            </a:r>
            <a:r>
              <a:rPr sz="2500" spc="-10" dirty="0">
                <a:latin typeface="Carlito"/>
                <a:cs typeface="Carlito"/>
              </a:rPr>
              <a:t>.</a:t>
            </a:r>
            <a:endParaRPr sz="25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spc="-10" dirty="0">
                <a:latin typeface="Carlito"/>
                <a:cs typeface="Carlito"/>
              </a:rPr>
              <a:t>Under </a:t>
            </a:r>
            <a:r>
              <a:rPr sz="2500" spc="-5" dirty="0">
                <a:latin typeface="Carlito"/>
                <a:cs typeface="Carlito"/>
              </a:rPr>
              <a:t>Pick a </a:t>
            </a:r>
            <a:r>
              <a:rPr sz="2500" spc="-45" dirty="0">
                <a:latin typeface="Carlito"/>
                <a:cs typeface="Carlito"/>
              </a:rPr>
              <a:t>Task, </a:t>
            </a:r>
            <a:r>
              <a:rPr sz="2500" spc="-5" dirty="0">
                <a:latin typeface="Carlito"/>
                <a:cs typeface="Carlito"/>
              </a:rPr>
              <a:t>click </a:t>
            </a:r>
            <a:r>
              <a:rPr sz="2500" b="1" spc="-10" dirty="0">
                <a:latin typeface="Carlito"/>
                <a:cs typeface="Carlito"/>
              </a:rPr>
              <a:t>Change </a:t>
            </a:r>
            <a:r>
              <a:rPr sz="2500" b="1" spc="-5" dirty="0">
                <a:latin typeface="Carlito"/>
                <a:cs typeface="Carlito"/>
              </a:rPr>
              <a:t>the </a:t>
            </a:r>
            <a:r>
              <a:rPr sz="2500" b="1" spc="-10" dirty="0">
                <a:latin typeface="Carlito"/>
                <a:cs typeface="Carlito"/>
              </a:rPr>
              <a:t>desktop</a:t>
            </a:r>
            <a:r>
              <a:rPr sz="2500" b="1" spc="140" dirty="0">
                <a:latin typeface="Carlito"/>
                <a:cs typeface="Carlito"/>
              </a:rPr>
              <a:t> </a:t>
            </a:r>
            <a:r>
              <a:rPr sz="2500" b="1" spc="-5" dirty="0">
                <a:latin typeface="Carlito"/>
                <a:cs typeface="Carlito"/>
              </a:rPr>
              <a:t>background</a:t>
            </a:r>
            <a:r>
              <a:rPr sz="2500" spc="-5" dirty="0">
                <a:latin typeface="Carlito"/>
                <a:cs typeface="Carlito"/>
              </a:rPr>
              <a:t>.</a:t>
            </a: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Carlito"/>
              <a:cs typeface="Carlito"/>
            </a:endParaRPr>
          </a:p>
          <a:p>
            <a:pPr marL="12700" marR="227965">
              <a:lnSpc>
                <a:spcPts val="2400"/>
              </a:lnSpc>
            </a:pPr>
            <a:r>
              <a:rPr sz="2500" spc="-10" dirty="0">
                <a:latin typeface="Carlito"/>
                <a:cs typeface="Carlito"/>
              </a:rPr>
              <a:t>The </a:t>
            </a:r>
            <a:r>
              <a:rPr sz="2500" b="1" spc="-15" dirty="0">
                <a:latin typeface="Carlito"/>
                <a:cs typeface="Carlito"/>
              </a:rPr>
              <a:t>Display </a:t>
            </a:r>
            <a:r>
              <a:rPr sz="2500" b="1" spc="-10" dirty="0">
                <a:latin typeface="Carlito"/>
                <a:cs typeface="Carlito"/>
              </a:rPr>
              <a:t>Properties </a:t>
            </a:r>
            <a:r>
              <a:rPr sz="2500" spc="-5" dirty="0">
                <a:latin typeface="Carlito"/>
                <a:cs typeface="Carlito"/>
              </a:rPr>
              <a:t>dialog </a:t>
            </a:r>
            <a:r>
              <a:rPr sz="2500" spc="-25" dirty="0">
                <a:latin typeface="Carlito"/>
                <a:cs typeface="Carlito"/>
              </a:rPr>
              <a:t>box </a:t>
            </a:r>
            <a:r>
              <a:rPr sz="2500" spc="-10" dirty="0">
                <a:latin typeface="Carlito"/>
                <a:cs typeface="Carlito"/>
              </a:rPr>
              <a:t>opens </a:t>
            </a:r>
            <a:r>
              <a:rPr sz="2500" spc="-5" dirty="0">
                <a:latin typeface="Carlito"/>
                <a:cs typeface="Carlito"/>
              </a:rPr>
              <a:t>with the </a:t>
            </a:r>
            <a:r>
              <a:rPr sz="2500" spc="-10" dirty="0">
                <a:latin typeface="Carlito"/>
                <a:cs typeface="Carlito"/>
              </a:rPr>
              <a:t>Desktop  </a:t>
            </a:r>
            <a:r>
              <a:rPr sz="2500" spc="-15" dirty="0">
                <a:latin typeface="Carlito"/>
                <a:cs typeface="Carlito"/>
              </a:rPr>
              <a:t>tab </a:t>
            </a:r>
            <a:r>
              <a:rPr sz="2500" spc="-10" dirty="0">
                <a:latin typeface="Carlito"/>
                <a:cs typeface="Carlito"/>
              </a:rPr>
              <a:t>selected </a:t>
            </a:r>
            <a:r>
              <a:rPr sz="2500" spc="-5" dirty="0">
                <a:latin typeface="Carlito"/>
                <a:cs typeface="Carlito"/>
              </a:rPr>
              <a:t>as </a:t>
            </a:r>
            <a:r>
              <a:rPr sz="2500" spc="-10" dirty="0">
                <a:latin typeface="Carlito"/>
                <a:cs typeface="Carlito"/>
              </a:rPr>
              <a:t>shown </a:t>
            </a:r>
            <a:r>
              <a:rPr sz="2500" spc="-5" dirty="0">
                <a:latin typeface="Carlito"/>
                <a:cs typeface="Carlito"/>
              </a:rPr>
              <a:t>on the </a:t>
            </a:r>
            <a:r>
              <a:rPr sz="2500" spc="-15" dirty="0">
                <a:latin typeface="Carlito"/>
                <a:cs typeface="Carlito"/>
              </a:rPr>
              <a:t>next</a:t>
            </a:r>
            <a:r>
              <a:rPr sz="2500" spc="6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slide.</a:t>
            </a:r>
            <a:endParaRPr sz="2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8224" y="1158239"/>
            <a:ext cx="3880103" cy="4466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45914" y="1343355"/>
            <a:ext cx="403161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84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•The </a:t>
            </a:r>
            <a:r>
              <a:rPr sz="1800" spc="-10" dirty="0">
                <a:latin typeface="Carlito"/>
                <a:cs typeface="Carlito"/>
              </a:rPr>
              <a:t>Display Properties </a:t>
            </a:r>
            <a:r>
              <a:rPr sz="1800" spc="-5" dirty="0">
                <a:latin typeface="Carlito"/>
                <a:cs typeface="Carlito"/>
              </a:rPr>
              <a:t>dialog </a:t>
            </a:r>
            <a:r>
              <a:rPr sz="1800" spc="-15" dirty="0">
                <a:latin typeface="Carlito"/>
                <a:cs typeface="Carlito"/>
              </a:rPr>
              <a:t>box </a:t>
            </a:r>
            <a:r>
              <a:rPr sz="1800" spc="-5" dirty="0">
                <a:latin typeface="Carlito"/>
                <a:cs typeface="Carlito"/>
              </a:rPr>
              <a:t>opens  with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Desktop tab </a:t>
            </a:r>
            <a:r>
              <a:rPr sz="1800" spc="-5" dirty="0">
                <a:latin typeface="Carlito"/>
                <a:cs typeface="Carlito"/>
              </a:rPr>
              <a:t>selected </a:t>
            </a:r>
            <a:r>
              <a:rPr sz="1800" dirty="0">
                <a:latin typeface="Carlito"/>
                <a:cs typeface="Carlito"/>
              </a:rPr>
              <a:t>as </a:t>
            </a:r>
            <a:r>
              <a:rPr sz="1800" spc="-5" dirty="0">
                <a:latin typeface="Carlito"/>
                <a:cs typeface="Carlito"/>
              </a:rPr>
              <a:t>shown on 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left.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rlito"/>
              <a:cs typeface="Carlito"/>
            </a:endParaRPr>
          </a:p>
          <a:p>
            <a:pPr marL="12700" marR="428625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In the </a:t>
            </a:r>
            <a:r>
              <a:rPr sz="1800" spc="-5" dirty="0">
                <a:latin typeface="Carlito"/>
                <a:cs typeface="Carlito"/>
              </a:rPr>
              <a:t>Background </a:t>
            </a:r>
            <a:r>
              <a:rPr sz="1800" spc="-15" dirty="0">
                <a:latin typeface="Carlito"/>
                <a:cs typeface="Carlito"/>
              </a:rPr>
              <a:t>box, </a:t>
            </a:r>
            <a:r>
              <a:rPr sz="1800" spc="-10" dirty="0">
                <a:latin typeface="Carlito"/>
                <a:cs typeface="Carlito"/>
              </a:rPr>
              <a:t>click </a:t>
            </a:r>
            <a:r>
              <a:rPr sz="1800" spc="-5" dirty="0">
                <a:latin typeface="Carlito"/>
                <a:cs typeface="Carlito"/>
              </a:rPr>
              <a:t>or use </a:t>
            </a:r>
            <a:r>
              <a:rPr sz="1800" dirty="0">
                <a:latin typeface="Carlito"/>
                <a:cs typeface="Carlito"/>
              </a:rPr>
              <a:t>the  </a:t>
            </a:r>
            <a:r>
              <a:rPr sz="1800" spc="-10" dirty="0">
                <a:latin typeface="Carlito"/>
                <a:cs typeface="Carlito"/>
              </a:rPr>
              <a:t>arrow </a:t>
            </a:r>
            <a:r>
              <a:rPr sz="1800" spc="-25" dirty="0">
                <a:latin typeface="Carlito"/>
                <a:cs typeface="Carlito"/>
              </a:rPr>
              <a:t>keys </a:t>
            </a:r>
            <a:r>
              <a:rPr sz="1800" spc="-10" dirty="0">
                <a:latin typeface="Carlito"/>
                <a:cs typeface="Carlito"/>
              </a:rPr>
              <a:t>to </a:t>
            </a:r>
            <a:r>
              <a:rPr sz="1800" spc="-5" dirty="0">
                <a:latin typeface="Carlito"/>
                <a:cs typeface="Carlito"/>
              </a:rPr>
              <a:t>view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3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choices.</a:t>
            </a:r>
            <a:endParaRPr sz="180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buChar char="•"/>
              <a:tabLst>
                <a:tab pos="927100" algn="l"/>
                <a:tab pos="927735" algn="l"/>
              </a:tabLst>
            </a:pPr>
            <a:r>
              <a:rPr sz="1800" dirty="0">
                <a:latin typeface="Carlito"/>
                <a:cs typeface="Carlito"/>
              </a:rPr>
              <a:t>Use the </a:t>
            </a:r>
            <a:r>
              <a:rPr sz="1800" spc="-10" dirty="0">
                <a:latin typeface="Carlito"/>
                <a:cs typeface="Carlito"/>
              </a:rPr>
              <a:t>drop </a:t>
            </a:r>
            <a:r>
              <a:rPr sz="1800" spc="-5" dirty="0">
                <a:latin typeface="Carlito"/>
                <a:cs typeface="Carlito"/>
              </a:rPr>
              <a:t>down </a:t>
            </a:r>
            <a:r>
              <a:rPr sz="1800" spc="-20" dirty="0">
                <a:latin typeface="Carlito"/>
                <a:cs typeface="Carlito"/>
              </a:rPr>
              <a:t>boxes </a:t>
            </a:r>
            <a:r>
              <a:rPr sz="1800" spc="-10" dirty="0">
                <a:latin typeface="Carlito"/>
                <a:cs typeface="Carlito"/>
              </a:rPr>
              <a:t>to alter  wallpaper </a:t>
            </a:r>
            <a:r>
              <a:rPr sz="1800" spc="-5" dirty="0">
                <a:latin typeface="Carlito"/>
                <a:cs typeface="Carlito"/>
              </a:rPr>
              <a:t>position or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spc="-40" dirty="0">
                <a:latin typeface="Carlito"/>
                <a:cs typeface="Carlito"/>
              </a:rPr>
              <a:t>color.</a:t>
            </a:r>
            <a:endParaRPr sz="1800">
              <a:latin typeface="Carlito"/>
              <a:cs typeface="Carlito"/>
            </a:endParaRPr>
          </a:p>
          <a:p>
            <a:pPr marL="927100" indent="-915035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800" spc="-10" dirty="0">
                <a:latin typeface="Carlito"/>
                <a:cs typeface="Carlito"/>
              </a:rPr>
              <a:t>Click </a:t>
            </a:r>
            <a:r>
              <a:rPr sz="1800" spc="-5" dirty="0">
                <a:latin typeface="Carlito"/>
                <a:cs typeface="Carlito"/>
              </a:rPr>
              <a:t>OK </a:t>
            </a:r>
            <a:r>
              <a:rPr sz="1800" spc="-10" dirty="0">
                <a:latin typeface="Carlito"/>
                <a:cs typeface="Carlito"/>
              </a:rPr>
              <a:t>to </a:t>
            </a:r>
            <a:r>
              <a:rPr sz="1800" spc="-5" dirty="0">
                <a:latin typeface="Carlito"/>
                <a:cs typeface="Carlito"/>
              </a:rPr>
              <a:t>close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5" dirty="0">
                <a:latin typeface="Carlito"/>
                <a:cs typeface="Carlito"/>
              </a:rPr>
              <a:t>dialog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box.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5" dirty="0">
                <a:latin typeface="Carlito"/>
                <a:cs typeface="Carlito"/>
              </a:rPr>
              <a:t>Alternatively,</a:t>
            </a:r>
            <a:endParaRPr sz="1800">
              <a:latin typeface="Carlito"/>
              <a:cs typeface="Carlito"/>
            </a:endParaRPr>
          </a:p>
          <a:p>
            <a:pPr marL="12700" marR="10287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800" spc="-10" dirty="0">
                <a:latin typeface="Carlito"/>
                <a:cs typeface="Carlito"/>
              </a:rPr>
              <a:t>Click Browse to </a:t>
            </a:r>
            <a:r>
              <a:rPr sz="1800" dirty="0">
                <a:latin typeface="Carlito"/>
                <a:cs typeface="Carlito"/>
              </a:rPr>
              <a:t>choose a </a:t>
            </a:r>
            <a:r>
              <a:rPr sz="1800" spc="-10" dirty="0">
                <a:latin typeface="Carlito"/>
                <a:cs typeface="Carlito"/>
              </a:rPr>
              <a:t>picture  from </a:t>
            </a:r>
            <a:r>
              <a:rPr sz="1800" dirty="0">
                <a:latin typeface="Carlito"/>
                <a:cs typeface="Carlito"/>
              </a:rPr>
              <a:t>the My </a:t>
            </a:r>
            <a:r>
              <a:rPr sz="1800" spc="-10" dirty="0">
                <a:latin typeface="Carlito"/>
                <a:cs typeface="Carlito"/>
              </a:rPr>
              <a:t>Pictures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folder</a:t>
            </a:r>
            <a:endParaRPr sz="1800">
              <a:latin typeface="Carlito"/>
              <a:cs typeface="Carlito"/>
            </a:endParaRPr>
          </a:p>
          <a:p>
            <a:pPr marL="12700" marR="4826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800" spc="-10" dirty="0">
                <a:latin typeface="Carlito"/>
                <a:cs typeface="Carlito"/>
              </a:rPr>
              <a:t>Click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5" dirty="0">
                <a:latin typeface="Carlito"/>
                <a:cs typeface="Carlito"/>
              </a:rPr>
              <a:t>Customize </a:t>
            </a:r>
            <a:r>
              <a:rPr sz="1800" spc="-10" dirty="0">
                <a:latin typeface="Carlito"/>
                <a:cs typeface="Carlito"/>
              </a:rPr>
              <a:t>Desktop  button to alter your desktop icons </a:t>
            </a:r>
            <a:r>
              <a:rPr sz="1800" spc="-5" dirty="0">
                <a:latin typeface="Carlito"/>
                <a:cs typeface="Carlito"/>
              </a:rPr>
              <a:t>or  </a:t>
            </a:r>
            <a:r>
              <a:rPr sz="1800" spc="-10" dirty="0">
                <a:latin typeface="Carlito"/>
                <a:cs typeface="Carlito"/>
              </a:rPr>
              <a:t>display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web </a:t>
            </a:r>
            <a:r>
              <a:rPr sz="1800" spc="-5" dirty="0">
                <a:latin typeface="Carlito"/>
                <a:cs typeface="Carlito"/>
              </a:rPr>
              <a:t>page on </a:t>
            </a:r>
            <a:r>
              <a:rPr sz="1800" spc="-10" dirty="0">
                <a:latin typeface="Carlito"/>
                <a:cs typeface="Carlito"/>
              </a:rPr>
              <a:t>your</a:t>
            </a:r>
            <a:r>
              <a:rPr sz="1800" spc="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desktop.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969232"/>
            <a:ext cx="7693659" cy="452564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300" b="1" dirty="0">
                <a:latin typeface="Carlito"/>
                <a:cs typeface="Carlito"/>
              </a:rPr>
              <a:t>Changing the</a:t>
            </a:r>
            <a:r>
              <a:rPr sz="3300" b="1" spc="-5" dirty="0">
                <a:latin typeface="Carlito"/>
                <a:cs typeface="Carlito"/>
              </a:rPr>
              <a:t> </a:t>
            </a:r>
            <a:r>
              <a:rPr sz="3300" b="1" spc="-15" dirty="0">
                <a:latin typeface="Carlito"/>
                <a:cs typeface="Carlito"/>
              </a:rPr>
              <a:t>Screensaver</a:t>
            </a:r>
            <a:endParaRPr sz="3300">
              <a:latin typeface="Carlito"/>
              <a:cs typeface="Carlito"/>
            </a:endParaRPr>
          </a:p>
          <a:p>
            <a:pPr marL="355600" marR="194310" indent="-3429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  <a:tab pos="355600" algn="l"/>
                <a:tab pos="6041390" algn="l"/>
              </a:tabLst>
            </a:pPr>
            <a:r>
              <a:rPr sz="2400" dirty="0">
                <a:latin typeface="Carlito"/>
                <a:cs typeface="Carlito"/>
              </a:rPr>
              <a:t>In the early </a:t>
            </a:r>
            <a:r>
              <a:rPr sz="2400" spc="-20" dirty="0">
                <a:latin typeface="Carlito"/>
                <a:cs typeface="Carlito"/>
              </a:rPr>
              <a:t>days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computers,</a:t>
            </a:r>
            <a:r>
              <a:rPr sz="2400" spc="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Screen </a:t>
            </a:r>
            <a:r>
              <a:rPr sz="2400" spc="-20" dirty="0">
                <a:latin typeface="Carlito"/>
                <a:cs typeface="Carlito"/>
              </a:rPr>
              <a:t>savers	</a:t>
            </a:r>
            <a:r>
              <a:rPr sz="2400" spc="-15" dirty="0">
                <a:latin typeface="Carlito"/>
                <a:cs typeface="Carlito"/>
              </a:rPr>
              <a:t>were </a:t>
            </a:r>
            <a:r>
              <a:rPr sz="2400" spc="-5" dirty="0">
                <a:latin typeface="Carlito"/>
                <a:cs typeface="Carlito"/>
              </a:rPr>
              <a:t>use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  prevent </a:t>
            </a:r>
            <a:r>
              <a:rPr sz="2400" spc="-5" dirty="0">
                <a:latin typeface="Carlito"/>
                <a:cs typeface="Carlito"/>
              </a:rPr>
              <a:t>images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5" dirty="0">
                <a:latin typeface="Carlito"/>
                <a:cs typeface="Carlito"/>
              </a:rPr>
              <a:t>being burned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35" dirty="0">
                <a:latin typeface="Carlito"/>
                <a:cs typeface="Carlito"/>
              </a:rPr>
              <a:t>monitor.</a:t>
            </a:r>
            <a:endParaRPr sz="24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80" dirty="0">
                <a:latin typeface="Carlito"/>
                <a:cs typeface="Carlito"/>
              </a:rPr>
              <a:t>Today, </a:t>
            </a:r>
            <a:r>
              <a:rPr sz="2400" spc="-10" dirty="0">
                <a:latin typeface="Carlito"/>
                <a:cs typeface="Carlito"/>
              </a:rPr>
              <a:t>screen </a:t>
            </a:r>
            <a:r>
              <a:rPr sz="2400" spc="-20" dirty="0">
                <a:latin typeface="Carlito"/>
                <a:cs typeface="Carlito"/>
              </a:rPr>
              <a:t>savers </a:t>
            </a:r>
            <a:r>
              <a:rPr sz="2400" spc="-10" dirty="0">
                <a:latin typeface="Carlito"/>
                <a:cs typeface="Carlito"/>
              </a:rPr>
              <a:t>entertain </a:t>
            </a:r>
            <a:r>
              <a:rPr sz="2400" spc="-5" dirty="0">
                <a:latin typeface="Carlito"/>
                <a:cs typeface="Carlito"/>
              </a:rPr>
              <a:t>us, </a:t>
            </a:r>
            <a:r>
              <a:rPr sz="2400" spc="-10" dirty="0">
                <a:latin typeface="Carlito"/>
                <a:cs typeface="Carlito"/>
              </a:rPr>
              <a:t>by providing </a:t>
            </a:r>
            <a:r>
              <a:rPr sz="2400" spc="-5" dirty="0">
                <a:latin typeface="Carlito"/>
                <a:cs typeface="Carlito"/>
              </a:rPr>
              <a:t>some  </a:t>
            </a:r>
            <a:r>
              <a:rPr sz="2400" spc="-10" dirty="0">
                <a:latin typeface="Carlito"/>
                <a:cs typeface="Carlito"/>
              </a:rPr>
              <a:t>privacy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preventing unauthorized </a:t>
            </a:r>
            <a:r>
              <a:rPr sz="2400" spc="-5" dirty="0">
                <a:latin typeface="Carlito"/>
                <a:cs typeface="Carlito"/>
              </a:rPr>
              <a:t>user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spc="-10" dirty="0">
                <a:latin typeface="Carlito"/>
                <a:cs typeface="Carlito"/>
              </a:rPr>
              <a:t>your  computer </a:t>
            </a:r>
            <a:r>
              <a:rPr sz="2400" dirty="0">
                <a:latin typeface="Carlito"/>
                <a:cs typeface="Carlito"/>
              </a:rPr>
              <a:t>if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5" dirty="0">
                <a:latin typeface="Carlito"/>
                <a:cs typeface="Carlito"/>
              </a:rPr>
              <a:t>should </a:t>
            </a:r>
            <a:r>
              <a:rPr sz="2400" spc="-15" dirty="0">
                <a:latin typeface="Carlito"/>
                <a:cs typeface="Carlito"/>
              </a:rPr>
              <a:t>leave </a:t>
            </a:r>
            <a:r>
              <a:rPr sz="2400" spc="-10" dirty="0">
                <a:latin typeface="Carlito"/>
                <a:cs typeface="Carlito"/>
              </a:rPr>
              <a:t>your computer unattended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some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time.</a:t>
            </a:r>
            <a:endParaRPr sz="2400">
              <a:latin typeface="Carlito"/>
              <a:cs typeface="Carlito"/>
            </a:endParaRPr>
          </a:p>
          <a:p>
            <a:pPr marL="355600" marR="343535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rlito"/>
                <a:cs typeface="Carlito"/>
              </a:rPr>
              <a:t>There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35" dirty="0">
                <a:latin typeface="Carlito"/>
                <a:cs typeface="Carlito"/>
              </a:rPr>
              <a:t>‘on </a:t>
            </a:r>
            <a:r>
              <a:rPr sz="2400" spc="-5" dirty="0">
                <a:latin typeface="Carlito"/>
                <a:cs typeface="Carlito"/>
              </a:rPr>
              <a:t>resume, </a:t>
            </a:r>
            <a:r>
              <a:rPr sz="2400" spc="-15" dirty="0">
                <a:latin typeface="Carlito"/>
                <a:cs typeface="Carlito"/>
              </a:rPr>
              <a:t>password </a:t>
            </a:r>
            <a:r>
              <a:rPr sz="2400" spc="-30" dirty="0">
                <a:latin typeface="Carlito"/>
                <a:cs typeface="Carlito"/>
              </a:rPr>
              <a:t>protected’, </a:t>
            </a:r>
            <a:r>
              <a:rPr sz="2400" dirty="0">
                <a:latin typeface="Carlito"/>
                <a:cs typeface="Carlito"/>
              </a:rPr>
              <a:t>when enabled  which will </a:t>
            </a:r>
            <a:r>
              <a:rPr sz="2400" spc="-15" dirty="0">
                <a:latin typeface="Carlito"/>
                <a:cs typeface="Carlito"/>
              </a:rPr>
              <a:t>prompt </a:t>
            </a:r>
            <a:r>
              <a:rPr sz="2400" spc="-10" dirty="0">
                <a:latin typeface="Carlito"/>
                <a:cs typeface="Carlito"/>
              </a:rPr>
              <a:t>whoever intends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password </a:t>
            </a:r>
            <a:r>
              <a:rPr sz="2400" dirty="0">
                <a:latin typeface="Carlito"/>
                <a:cs typeface="Carlito"/>
              </a:rPr>
              <a:t>and access will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5" dirty="0">
                <a:latin typeface="Carlito"/>
                <a:cs typeface="Carlito"/>
              </a:rPr>
              <a:t>granted </a:t>
            </a:r>
            <a:r>
              <a:rPr sz="2400" dirty="0">
                <a:latin typeface="Carlito"/>
                <a:cs typeface="Carlito"/>
              </a:rPr>
              <a:t>if </a:t>
            </a:r>
            <a:r>
              <a:rPr sz="2400" spc="-5" dirty="0">
                <a:latin typeface="Carlito"/>
                <a:cs typeface="Carlito"/>
              </a:rPr>
              <a:t>only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5" dirty="0">
                <a:latin typeface="Carlito"/>
                <a:cs typeface="Carlito"/>
              </a:rPr>
              <a:t>password </a:t>
            </a:r>
            <a:r>
              <a:rPr sz="2400" spc="-10" dirty="0">
                <a:latin typeface="Carlito"/>
                <a:cs typeface="Carlito"/>
              </a:rPr>
              <a:t>provided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correct.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080642"/>
            <a:ext cx="60515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45" dirty="0"/>
              <a:t>To </a:t>
            </a:r>
            <a:r>
              <a:rPr sz="3300" spc="-5" dirty="0"/>
              <a:t>set </a:t>
            </a:r>
            <a:r>
              <a:rPr sz="3300" spc="-15" dirty="0"/>
              <a:t>your </a:t>
            </a:r>
            <a:r>
              <a:rPr sz="3300" spc="-10" dirty="0"/>
              <a:t>screen </a:t>
            </a:r>
            <a:r>
              <a:rPr sz="3300" spc="-20" dirty="0"/>
              <a:t>saver</a:t>
            </a:r>
            <a:r>
              <a:rPr sz="3300" spc="45" dirty="0"/>
              <a:t> </a:t>
            </a:r>
            <a:r>
              <a:rPr sz="3300" spc="-10" dirty="0"/>
              <a:t>properties,</a:t>
            </a:r>
            <a:endParaRPr sz="33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2193794"/>
            <a:ext cx="7208520" cy="28238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700" spc="-5" dirty="0">
                <a:latin typeface="Carlito"/>
                <a:cs typeface="Carlito"/>
              </a:rPr>
              <a:t>Under Pick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10" dirty="0">
                <a:latin typeface="Carlito"/>
                <a:cs typeface="Carlito"/>
              </a:rPr>
              <a:t> </a:t>
            </a:r>
            <a:r>
              <a:rPr sz="2700" spc="-35" dirty="0">
                <a:latin typeface="Carlito"/>
                <a:cs typeface="Carlito"/>
              </a:rPr>
              <a:t>Category,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click </a:t>
            </a:r>
            <a:r>
              <a:rPr sz="2700" b="1" spc="-10" dirty="0">
                <a:latin typeface="Carlito"/>
                <a:cs typeface="Carlito"/>
              </a:rPr>
              <a:t>Appearance </a:t>
            </a:r>
            <a:r>
              <a:rPr sz="2700" b="1" dirty="0">
                <a:latin typeface="Carlito"/>
                <a:cs typeface="Carlito"/>
              </a:rPr>
              <a:t>and</a:t>
            </a:r>
            <a:r>
              <a:rPr sz="2700" b="1" spc="15" dirty="0">
                <a:latin typeface="Carlito"/>
                <a:cs typeface="Carlito"/>
              </a:rPr>
              <a:t> </a:t>
            </a:r>
            <a:r>
              <a:rPr sz="2700" b="1" spc="-5" dirty="0">
                <a:latin typeface="Carlito"/>
                <a:cs typeface="Carlito"/>
              </a:rPr>
              <a:t>Themes</a:t>
            </a:r>
            <a:r>
              <a:rPr sz="2700" spc="-5" dirty="0">
                <a:latin typeface="Carlito"/>
                <a:cs typeface="Carlito"/>
              </a:rPr>
              <a:t>.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Under Pick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45" dirty="0">
                <a:latin typeface="Carlito"/>
                <a:cs typeface="Carlito"/>
              </a:rPr>
              <a:t>Task, </a:t>
            </a:r>
            <a:r>
              <a:rPr sz="2700" dirty="0">
                <a:latin typeface="Carlito"/>
                <a:cs typeface="Carlito"/>
              </a:rPr>
              <a:t>click </a:t>
            </a:r>
            <a:r>
              <a:rPr sz="2700" b="1" spc="-5" dirty="0">
                <a:latin typeface="Carlito"/>
                <a:cs typeface="Carlito"/>
              </a:rPr>
              <a:t>Choose </a:t>
            </a:r>
            <a:r>
              <a:rPr sz="2700" b="1" dirty="0">
                <a:latin typeface="Carlito"/>
                <a:cs typeface="Carlito"/>
              </a:rPr>
              <a:t>a </a:t>
            </a:r>
            <a:r>
              <a:rPr sz="2700" b="1" spc="-10" dirty="0">
                <a:latin typeface="Carlito"/>
                <a:cs typeface="Carlito"/>
              </a:rPr>
              <a:t>screen</a:t>
            </a:r>
            <a:r>
              <a:rPr sz="2700" b="1" spc="15" dirty="0">
                <a:latin typeface="Carlito"/>
                <a:cs typeface="Carlito"/>
              </a:rPr>
              <a:t> </a:t>
            </a:r>
            <a:r>
              <a:rPr sz="2700" b="1" spc="-10" dirty="0">
                <a:latin typeface="Carlito"/>
                <a:cs typeface="Carlito"/>
              </a:rPr>
              <a:t>saver</a:t>
            </a:r>
            <a:r>
              <a:rPr sz="2700" spc="-10" dirty="0">
                <a:latin typeface="Carlito"/>
                <a:cs typeface="Carlito"/>
              </a:rPr>
              <a:t>.</a:t>
            </a:r>
            <a:endParaRPr sz="27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The </a:t>
            </a:r>
            <a:r>
              <a:rPr sz="2700" b="1" spc="-15" dirty="0">
                <a:latin typeface="Carlito"/>
                <a:cs typeface="Carlito"/>
              </a:rPr>
              <a:t>Display </a:t>
            </a:r>
            <a:r>
              <a:rPr sz="2700" b="1" spc="-10" dirty="0">
                <a:latin typeface="Carlito"/>
                <a:cs typeface="Carlito"/>
              </a:rPr>
              <a:t>Properties </a:t>
            </a:r>
            <a:r>
              <a:rPr sz="2700" spc="-5" dirty="0">
                <a:latin typeface="Carlito"/>
                <a:cs typeface="Carlito"/>
              </a:rPr>
              <a:t>dialog </a:t>
            </a:r>
            <a:r>
              <a:rPr sz="2700" spc="-20" dirty="0">
                <a:latin typeface="Carlito"/>
                <a:cs typeface="Carlito"/>
              </a:rPr>
              <a:t>box </a:t>
            </a:r>
            <a:r>
              <a:rPr sz="2700" spc="-5" dirty="0">
                <a:latin typeface="Carlito"/>
                <a:cs typeface="Carlito"/>
              </a:rPr>
              <a:t>opens </a:t>
            </a:r>
            <a:r>
              <a:rPr sz="2700" dirty="0">
                <a:latin typeface="Carlito"/>
                <a:cs typeface="Carlito"/>
              </a:rPr>
              <a:t>with </a:t>
            </a:r>
            <a:r>
              <a:rPr sz="2700" spc="-10" dirty="0">
                <a:latin typeface="Carlito"/>
                <a:cs typeface="Carlito"/>
              </a:rPr>
              <a:t>the  </a:t>
            </a:r>
            <a:r>
              <a:rPr sz="2700" b="1" spc="-10" dirty="0">
                <a:latin typeface="Carlito"/>
                <a:cs typeface="Carlito"/>
              </a:rPr>
              <a:t>Screen </a:t>
            </a:r>
            <a:r>
              <a:rPr sz="2700" b="1" spc="-20" dirty="0">
                <a:latin typeface="Carlito"/>
                <a:cs typeface="Carlito"/>
              </a:rPr>
              <a:t>Saver </a:t>
            </a:r>
            <a:r>
              <a:rPr sz="2700" spc="-15" dirty="0">
                <a:latin typeface="Carlito"/>
                <a:cs typeface="Carlito"/>
              </a:rPr>
              <a:t>tab </a:t>
            </a:r>
            <a:r>
              <a:rPr sz="2700" spc="-10" dirty="0">
                <a:latin typeface="Carlito"/>
                <a:cs typeface="Carlito"/>
              </a:rPr>
              <a:t>selected </a:t>
            </a:r>
            <a:r>
              <a:rPr sz="2700" dirty="0">
                <a:latin typeface="Carlito"/>
                <a:cs typeface="Carlito"/>
              </a:rPr>
              <a:t>as </a:t>
            </a:r>
            <a:r>
              <a:rPr sz="2700" spc="-5" dirty="0">
                <a:latin typeface="Carlito"/>
                <a:cs typeface="Carlito"/>
              </a:rPr>
              <a:t>shown on </a:t>
            </a:r>
            <a:r>
              <a:rPr sz="2700" spc="-1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next  </a:t>
            </a:r>
            <a:r>
              <a:rPr sz="2700" spc="-5" dirty="0">
                <a:latin typeface="Carlito"/>
                <a:cs typeface="Carlito"/>
              </a:rPr>
              <a:t>slide.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4988" y="1056132"/>
            <a:ext cx="3645408" cy="436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45584" y="1351534"/>
            <a:ext cx="1117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Carlito"/>
                <a:cs typeface="Carlito"/>
              </a:rPr>
              <a:t>•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59984" y="1257046"/>
            <a:ext cx="27571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/>
              <a:t>Click </a:t>
            </a:r>
            <a:r>
              <a:rPr sz="2100" dirty="0"/>
              <a:t>the </a:t>
            </a:r>
            <a:r>
              <a:rPr sz="2100" b="1" spc="-10" dirty="0">
                <a:latin typeface="Carlito"/>
                <a:cs typeface="Carlito"/>
              </a:rPr>
              <a:t>arrow </a:t>
            </a:r>
            <a:r>
              <a:rPr sz="2100" spc="-10" dirty="0"/>
              <a:t>to </a:t>
            </a:r>
            <a:r>
              <a:rPr sz="2100" spc="-5" dirty="0"/>
              <a:t>open</a:t>
            </a:r>
            <a:r>
              <a:rPr sz="2100" spc="-50" dirty="0"/>
              <a:t> </a:t>
            </a:r>
            <a:r>
              <a:rPr sz="2100" dirty="0"/>
              <a:t>a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45584" y="1577085"/>
            <a:ext cx="4181475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625">
              <a:lnSpc>
                <a:spcPct val="100000"/>
              </a:lnSpc>
              <a:spcBef>
                <a:spcPts val="100"/>
              </a:spcBef>
            </a:pPr>
            <a:r>
              <a:rPr sz="2100" spc="-15" dirty="0">
                <a:latin typeface="Carlito"/>
                <a:cs typeface="Carlito"/>
              </a:rPr>
              <a:t>drop </a:t>
            </a:r>
            <a:r>
              <a:rPr sz="2100" spc="-5" dirty="0">
                <a:latin typeface="Carlito"/>
                <a:cs typeface="Carlito"/>
              </a:rPr>
              <a:t>down </a:t>
            </a:r>
            <a:r>
              <a:rPr sz="2100" spc="-15" dirty="0">
                <a:latin typeface="Carlito"/>
                <a:cs typeface="Carlito"/>
              </a:rPr>
              <a:t>box. </a:t>
            </a:r>
            <a:r>
              <a:rPr sz="2100" spc="-5" dirty="0">
                <a:latin typeface="Carlito"/>
                <a:cs typeface="Carlito"/>
              </a:rPr>
              <a:t>Click or use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15" dirty="0">
                <a:latin typeface="Carlito"/>
                <a:cs typeface="Carlito"/>
              </a:rPr>
              <a:t>arrow  </a:t>
            </a:r>
            <a:r>
              <a:rPr sz="2100" spc="-30" dirty="0">
                <a:latin typeface="Carlito"/>
                <a:cs typeface="Carlito"/>
              </a:rPr>
              <a:t>keys </a:t>
            </a:r>
            <a:r>
              <a:rPr sz="2100" spc="-15" dirty="0">
                <a:latin typeface="Carlito"/>
                <a:cs typeface="Carlito"/>
              </a:rPr>
              <a:t>to </a:t>
            </a:r>
            <a:r>
              <a:rPr sz="2100" spc="-5" dirty="0">
                <a:latin typeface="Carlito"/>
                <a:cs typeface="Carlito"/>
              </a:rPr>
              <a:t>view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5" dirty="0">
                <a:latin typeface="Carlito"/>
                <a:cs typeface="Carlito"/>
              </a:rPr>
              <a:t>choices. </a:t>
            </a:r>
            <a:r>
              <a:rPr sz="2100" spc="-65" dirty="0">
                <a:latin typeface="Carlito"/>
                <a:cs typeface="Carlito"/>
              </a:rPr>
              <a:t>Or, </a:t>
            </a:r>
            <a:r>
              <a:rPr sz="2100" spc="-5" dirty="0">
                <a:latin typeface="Carlito"/>
                <a:cs typeface="Carlito"/>
              </a:rPr>
              <a:t>click  </a:t>
            </a:r>
            <a:r>
              <a:rPr sz="2100" b="1" spc="-15" dirty="0">
                <a:latin typeface="Carlito"/>
                <a:cs typeface="Carlito"/>
              </a:rPr>
              <a:t>Preview </a:t>
            </a:r>
            <a:r>
              <a:rPr sz="2100" spc="-10" dirty="0">
                <a:latin typeface="Carlito"/>
                <a:cs typeface="Carlito"/>
              </a:rPr>
              <a:t>to </a:t>
            </a:r>
            <a:r>
              <a:rPr sz="2100" spc="-5" dirty="0">
                <a:latin typeface="Carlito"/>
                <a:cs typeface="Carlito"/>
              </a:rPr>
              <a:t>view </a:t>
            </a:r>
            <a:r>
              <a:rPr sz="2100" dirty="0">
                <a:latin typeface="Carlito"/>
                <a:cs typeface="Carlito"/>
              </a:rPr>
              <a:t>each </a:t>
            </a:r>
            <a:r>
              <a:rPr sz="2100" spc="-5" dirty="0">
                <a:latin typeface="Carlito"/>
                <a:cs typeface="Carlito"/>
              </a:rPr>
              <a:t>option on </a:t>
            </a:r>
            <a:r>
              <a:rPr sz="2100" spc="-10" dirty="0">
                <a:latin typeface="Carlito"/>
                <a:cs typeface="Carlito"/>
              </a:rPr>
              <a:t>your  computer screen. Press </a:t>
            </a:r>
            <a:r>
              <a:rPr sz="2100" spc="-15" dirty="0">
                <a:latin typeface="Carlito"/>
                <a:cs typeface="Carlito"/>
              </a:rPr>
              <a:t>any </a:t>
            </a:r>
            <a:r>
              <a:rPr sz="2100" spc="-30" dirty="0">
                <a:latin typeface="Carlito"/>
                <a:cs typeface="Carlito"/>
              </a:rPr>
              <a:t>key </a:t>
            </a:r>
            <a:r>
              <a:rPr sz="2100" spc="-5" dirty="0">
                <a:latin typeface="Carlito"/>
                <a:cs typeface="Carlito"/>
              </a:rPr>
              <a:t>on  </a:t>
            </a:r>
            <a:r>
              <a:rPr sz="2100" spc="-10" dirty="0">
                <a:latin typeface="Carlito"/>
                <a:cs typeface="Carlito"/>
              </a:rPr>
              <a:t>your </a:t>
            </a:r>
            <a:r>
              <a:rPr sz="2100" spc="-15" dirty="0">
                <a:latin typeface="Carlito"/>
                <a:cs typeface="Carlito"/>
              </a:rPr>
              <a:t>keyboard to </a:t>
            </a:r>
            <a:r>
              <a:rPr sz="2100" spc="-10" dirty="0">
                <a:latin typeface="Carlito"/>
                <a:cs typeface="Carlito"/>
              </a:rPr>
              <a:t>return to </a:t>
            </a:r>
            <a:r>
              <a:rPr sz="2100" spc="-5" dirty="0">
                <a:latin typeface="Carlito"/>
                <a:cs typeface="Carlito"/>
              </a:rPr>
              <a:t>the dialog  </a:t>
            </a:r>
            <a:r>
              <a:rPr sz="2100" spc="-15" dirty="0">
                <a:latin typeface="Carlito"/>
                <a:cs typeface="Carlito"/>
              </a:rPr>
              <a:t>box.</a:t>
            </a:r>
            <a:endParaRPr sz="2100">
              <a:latin typeface="Carlito"/>
              <a:cs typeface="Carlito"/>
            </a:endParaRPr>
          </a:p>
          <a:p>
            <a:pPr marL="12700" marR="17780">
              <a:lnSpc>
                <a:spcPct val="100000"/>
              </a:lnSpc>
              <a:spcBef>
                <a:spcPts val="5"/>
              </a:spcBef>
              <a:buChar char="•"/>
              <a:tabLst>
                <a:tab pos="926465" algn="l"/>
                <a:tab pos="927100" algn="l"/>
              </a:tabLst>
            </a:pPr>
            <a:r>
              <a:rPr sz="2100" spc="-5" dirty="0">
                <a:latin typeface="Carlito"/>
                <a:cs typeface="Carlito"/>
              </a:rPr>
              <a:t>Click </a:t>
            </a:r>
            <a:r>
              <a:rPr sz="2100" b="1" spc="-5" dirty="0">
                <a:latin typeface="Carlito"/>
                <a:cs typeface="Carlito"/>
              </a:rPr>
              <a:t>Settings </a:t>
            </a:r>
            <a:r>
              <a:rPr sz="2100" spc="-10" dirty="0">
                <a:latin typeface="Carlito"/>
                <a:cs typeface="Carlito"/>
              </a:rPr>
              <a:t>to </a:t>
            </a:r>
            <a:r>
              <a:rPr sz="2100" spc="-15" dirty="0">
                <a:latin typeface="Carlito"/>
                <a:cs typeface="Carlito"/>
              </a:rPr>
              <a:t>customize 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5" dirty="0">
                <a:latin typeface="Carlito"/>
                <a:cs typeface="Carlito"/>
              </a:rPr>
              <a:t>appearance or </a:t>
            </a:r>
            <a:r>
              <a:rPr sz="2100" spc="-10" dirty="0">
                <a:latin typeface="Carlito"/>
                <a:cs typeface="Carlito"/>
              </a:rPr>
              <a:t>your </a:t>
            </a:r>
            <a:r>
              <a:rPr sz="2100" spc="-5" dirty="0">
                <a:latin typeface="Carlito"/>
                <a:cs typeface="Carlito"/>
              </a:rPr>
              <a:t>chosen </a:t>
            </a:r>
            <a:r>
              <a:rPr sz="2100" spc="-10" dirty="0">
                <a:latin typeface="Carlito"/>
                <a:cs typeface="Carlito"/>
              </a:rPr>
              <a:t>screen  </a:t>
            </a:r>
            <a:r>
              <a:rPr sz="2100" spc="-50" dirty="0">
                <a:latin typeface="Carlito"/>
                <a:cs typeface="Carlito"/>
              </a:rPr>
              <a:t>saver.</a:t>
            </a:r>
            <a:endParaRPr sz="210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100" dirty="0">
                <a:latin typeface="Carlito"/>
                <a:cs typeface="Carlito"/>
              </a:rPr>
              <a:t>In the </a:t>
            </a:r>
            <a:r>
              <a:rPr sz="2100" b="1" spc="-20" dirty="0">
                <a:latin typeface="Carlito"/>
                <a:cs typeface="Carlito"/>
              </a:rPr>
              <a:t>Wait </a:t>
            </a:r>
            <a:r>
              <a:rPr sz="2100" spc="-15" dirty="0">
                <a:latin typeface="Carlito"/>
                <a:cs typeface="Carlito"/>
              </a:rPr>
              <a:t>box, </a:t>
            </a:r>
            <a:r>
              <a:rPr sz="2100" spc="-5" dirty="0">
                <a:latin typeface="Carlito"/>
                <a:cs typeface="Carlito"/>
              </a:rPr>
              <a:t>determine  </a:t>
            </a:r>
            <a:r>
              <a:rPr sz="2100" spc="-10" dirty="0">
                <a:latin typeface="Carlito"/>
                <a:cs typeface="Carlito"/>
              </a:rPr>
              <a:t>how many </a:t>
            </a:r>
            <a:r>
              <a:rPr sz="2100" spc="-5" dirty="0">
                <a:latin typeface="Carlito"/>
                <a:cs typeface="Carlito"/>
              </a:rPr>
              <a:t>minutes should pass </a:t>
            </a:r>
            <a:r>
              <a:rPr sz="2100" spc="-20" dirty="0">
                <a:latin typeface="Carlito"/>
                <a:cs typeface="Carlito"/>
              </a:rPr>
              <a:t>before  </a:t>
            </a:r>
            <a:r>
              <a:rPr sz="2100" spc="-10" dirty="0">
                <a:latin typeface="Carlito"/>
                <a:cs typeface="Carlito"/>
              </a:rPr>
              <a:t>your screen </a:t>
            </a:r>
            <a:r>
              <a:rPr sz="2100" spc="-15" dirty="0">
                <a:latin typeface="Carlito"/>
                <a:cs typeface="Carlito"/>
              </a:rPr>
              <a:t>saver </a:t>
            </a:r>
            <a:r>
              <a:rPr sz="2100" dirty="0">
                <a:latin typeface="Carlito"/>
                <a:cs typeface="Carlito"/>
              </a:rPr>
              <a:t>turns</a:t>
            </a:r>
            <a:r>
              <a:rPr sz="2100" spc="35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on.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5584" y="5418226"/>
            <a:ext cx="38677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indent="-914400">
              <a:lnSpc>
                <a:spcPct val="100000"/>
              </a:lnSpc>
              <a:spcBef>
                <a:spcPts val="100"/>
              </a:spcBef>
              <a:buChar char="•"/>
              <a:tabLst>
                <a:tab pos="926465" algn="l"/>
                <a:tab pos="927100" algn="l"/>
              </a:tabLst>
            </a:pPr>
            <a:r>
              <a:rPr sz="2100" spc="-5" dirty="0">
                <a:latin typeface="Carlito"/>
                <a:cs typeface="Carlito"/>
              </a:rPr>
              <a:t>Click </a:t>
            </a:r>
            <a:r>
              <a:rPr sz="2100" b="1" spc="-5" dirty="0">
                <a:latin typeface="Carlito"/>
                <a:cs typeface="Carlito"/>
              </a:rPr>
              <a:t>OK </a:t>
            </a:r>
            <a:r>
              <a:rPr sz="2100" spc="-15" dirty="0">
                <a:latin typeface="Carlito"/>
                <a:cs typeface="Carlito"/>
              </a:rPr>
              <a:t>to </a:t>
            </a:r>
            <a:r>
              <a:rPr sz="2100" spc="-5" dirty="0">
                <a:latin typeface="Carlito"/>
                <a:cs typeface="Carlito"/>
              </a:rPr>
              <a:t>close </a:t>
            </a:r>
            <a:r>
              <a:rPr sz="2100" dirty="0">
                <a:latin typeface="Carlito"/>
                <a:cs typeface="Carlito"/>
              </a:rPr>
              <a:t>the</a:t>
            </a:r>
            <a:r>
              <a:rPr sz="2100" spc="10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dialog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5584" y="5738876"/>
            <a:ext cx="17379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5" dirty="0">
                <a:latin typeface="Carlito"/>
                <a:cs typeface="Carlito"/>
              </a:rPr>
              <a:t>box </a:t>
            </a:r>
            <a:r>
              <a:rPr sz="2100" dirty="0">
                <a:latin typeface="Carlito"/>
                <a:cs typeface="Carlito"/>
              </a:rPr>
              <a:t>when</a:t>
            </a:r>
            <a:r>
              <a:rPr sz="2100" spc="-70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done</a:t>
            </a:r>
            <a:r>
              <a:rPr sz="1350" spc="-5" dirty="0">
                <a:latin typeface="Carlito"/>
                <a:cs typeface="Carlito"/>
              </a:rPr>
              <a:t>.</a:t>
            </a:r>
            <a:endParaRPr sz="135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4985" y="5442915"/>
            <a:ext cx="3830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Display Properties </a:t>
            </a:r>
            <a:r>
              <a:rPr sz="1800" spc="-5" dirty="0">
                <a:latin typeface="Carlito"/>
                <a:cs typeface="Carlito"/>
              </a:rPr>
              <a:t>dialog </a:t>
            </a:r>
            <a:r>
              <a:rPr sz="1800" spc="-15" dirty="0">
                <a:latin typeface="Carlito"/>
                <a:cs typeface="Carlito"/>
              </a:rPr>
              <a:t>box </a:t>
            </a:r>
            <a:r>
              <a:rPr sz="1800" spc="-5" dirty="0">
                <a:latin typeface="Carlito"/>
                <a:cs typeface="Carlito"/>
              </a:rPr>
              <a:t>with </a:t>
            </a:r>
            <a:r>
              <a:rPr sz="1800" spc="-10" dirty="0">
                <a:latin typeface="Carlito"/>
                <a:cs typeface="Carlito"/>
              </a:rPr>
              <a:t>screen  saver tab</a:t>
            </a:r>
            <a:r>
              <a:rPr sz="1800" spc="-5" dirty="0">
                <a:latin typeface="Carlito"/>
                <a:cs typeface="Carlito"/>
              </a:rPr>
              <a:t> selected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4404" y="1007363"/>
            <a:ext cx="3896867" cy="4337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79441" y="1292097"/>
            <a:ext cx="3926204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spc="-5" dirty="0"/>
              <a:t>The taskbar has </a:t>
            </a:r>
            <a:r>
              <a:rPr sz="2100" dirty="0"/>
              <a:t>a </a:t>
            </a:r>
            <a:r>
              <a:rPr sz="2100" spc="-15" dirty="0"/>
              <a:t>default </a:t>
            </a:r>
            <a:r>
              <a:rPr sz="2100" spc="-10" dirty="0"/>
              <a:t>settings </a:t>
            </a:r>
            <a:r>
              <a:rPr sz="2100" spc="-5" dirty="0"/>
              <a:t>or  appearance; </a:t>
            </a:r>
            <a:r>
              <a:rPr sz="2100" spc="-35" dirty="0"/>
              <a:t>however, </a:t>
            </a:r>
            <a:r>
              <a:rPr sz="2100" spc="-15" dirty="0"/>
              <a:t>you </a:t>
            </a:r>
            <a:r>
              <a:rPr sz="2100" spc="-5" dirty="0"/>
              <a:t>can  </a:t>
            </a:r>
            <a:r>
              <a:rPr sz="2100" spc="-15" dirty="0"/>
              <a:t>customize </a:t>
            </a:r>
            <a:r>
              <a:rPr sz="2100" dirty="0"/>
              <a:t>the </a:t>
            </a:r>
            <a:r>
              <a:rPr sz="2100" spc="-5" dirty="0"/>
              <a:t>taskbar </a:t>
            </a:r>
            <a:r>
              <a:rPr sz="2100" spc="-10" dirty="0"/>
              <a:t>to </a:t>
            </a:r>
            <a:r>
              <a:rPr sz="2100" spc="-5" dirty="0"/>
              <a:t>appear </a:t>
            </a:r>
            <a:r>
              <a:rPr sz="2100" dirty="0"/>
              <a:t>the  </a:t>
            </a:r>
            <a:r>
              <a:rPr sz="2100" spc="-20" dirty="0"/>
              <a:t>way </a:t>
            </a:r>
            <a:r>
              <a:rPr sz="2100" spc="-15" dirty="0"/>
              <a:t>you </a:t>
            </a:r>
            <a:r>
              <a:rPr sz="2100" spc="-10" dirty="0"/>
              <a:t>want. </a:t>
            </a:r>
            <a:r>
              <a:rPr sz="2100" spc="-100" dirty="0"/>
              <a:t>To </a:t>
            </a:r>
            <a:r>
              <a:rPr sz="2100" spc="-5" dirty="0"/>
              <a:t>do so</a:t>
            </a:r>
            <a:r>
              <a:rPr sz="2100" spc="105" dirty="0"/>
              <a:t> </a:t>
            </a:r>
            <a:r>
              <a:rPr sz="2100" spc="-25" dirty="0"/>
              <a:t>simply,</a:t>
            </a:r>
            <a:endParaRPr sz="21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9441" y="2572639"/>
            <a:ext cx="4198620" cy="290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908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926465" algn="l"/>
                <a:tab pos="927100" algn="l"/>
              </a:tabLst>
            </a:pPr>
            <a:r>
              <a:rPr sz="2100" dirty="0">
                <a:latin typeface="Carlito"/>
                <a:cs typeface="Carlito"/>
              </a:rPr>
              <a:t>Under </a:t>
            </a:r>
            <a:r>
              <a:rPr sz="2100" spc="-5" dirty="0">
                <a:latin typeface="Carlito"/>
                <a:cs typeface="Carlito"/>
              </a:rPr>
              <a:t>Pick </a:t>
            </a:r>
            <a:r>
              <a:rPr sz="2100" dirty="0">
                <a:latin typeface="Carlito"/>
                <a:cs typeface="Carlito"/>
              </a:rPr>
              <a:t>a </a:t>
            </a:r>
            <a:r>
              <a:rPr sz="2100" spc="-25" dirty="0">
                <a:latin typeface="Carlito"/>
                <a:cs typeface="Carlito"/>
              </a:rPr>
              <a:t>Category, </a:t>
            </a:r>
            <a:r>
              <a:rPr sz="2100" spc="-5" dirty="0">
                <a:latin typeface="Carlito"/>
                <a:cs typeface="Carlito"/>
              </a:rPr>
              <a:t>click  Appearance </a:t>
            </a:r>
            <a:r>
              <a:rPr sz="2100" dirty="0">
                <a:latin typeface="Carlito"/>
                <a:cs typeface="Carlito"/>
              </a:rPr>
              <a:t>and</a:t>
            </a:r>
            <a:r>
              <a:rPr sz="2100" spc="-30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Themes.</a:t>
            </a:r>
            <a:endParaRPr sz="2100">
              <a:latin typeface="Carlito"/>
              <a:cs typeface="Carlito"/>
            </a:endParaRPr>
          </a:p>
          <a:p>
            <a:pPr marL="12700" marR="387350" algn="just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100" dirty="0">
                <a:latin typeface="Carlito"/>
                <a:cs typeface="Carlito"/>
              </a:rPr>
              <a:t>Under </a:t>
            </a:r>
            <a:r>
              <a:rPr sz="2100" spc="-5" dirty="0">
                <a:latin typeface="Carlito"/>
                <a:cs typeface="Carlito"/>
              </a:rPr>
              <a:t>Pick </a:t>
            </a:r>
            <a:r>
              <a:rPr sz="2100" dirty="0">
                <a:latin typeface="Carlito"/>
                <a:cs typeface="Carlito"/>
              </a:rPr>
              <a:t>a </a:t>
            </a:r>
            <a:r>
              <a:rPr sz="2100" spc="-15" dirty="0">
                <a:latin typeface="Carlito"/>
                <a:cs typeface="Carlito"/>
              </a:rPr>
              <a:t>Control Panel  </a:t>
            </a:r>
            <a:r>
              <a:rPr sz="2100" spc="-5" dirty="0">
                <a:latin typeface="Carlito"/>
                <a:cs typeface="Carlito"/>
              </a:rPr>
              <a:t>icon, click </a:t>
            </a:r>
            <a:r>
              <a:rPr sz="2100" spc="-25" dirty="0">
                <a:latin typeface="Carlito"/>
                <a:cs typeface="Carlito"/>
              </a:rPr>
              <a:t>Taskbar </a:t>
            </a:r>
            <a:r>
              <a:rPr sz="2100" dirty="0">
                <a:latin typeface="Carlito"/>
                <a:cs typeface="Carlito"/>
              </a:rPr>
              <a:t>and </a:t>
            </a:r>
            <a:r>
              <a:rPr sz="2100" spc="-10" dirty="0">
                <a:latin typeface="Carlito"/>
                <a:cs typeface="Carlito"/>
              </a:rPr>
              <a:t>Start</a:t>
            </a:r>
            <a:r>
              <a:rPr sz="2100" spc="-60" dirty="0">
                <a:latin typeface="Carlito"/>
                <a:cs typeface="Carlito"/>
              </a:rPr>
              <a:t> </a:t>
            </a:r>
            <a:r>
              <a:rPr sz="2100" dirty="0">
                <a:latin typeface="Carlito"/>
                <a:cs typeface="Carlito"/>
              </a:rPr>
              <a:t>Menu.</a:t>
            </a:r>
            <a:endParaRPr sz="2100">
              <a:latin typeface="Carlito"/>
              <a:cs typeface="Carlito"/>
            </a:endParaRPr>
          </a:p>
          <a:p>
            <a:pPr marL="12700" marR="202565" algn="just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100" spc="-5" dirty="0">
                <a:latin typeface="Carlito"/>
                <a:cs typeface="Carlito"/>
              </a:rPr>
              <a:t>The </a:t>
            </a:r>
            <a:r>
              <a:rPr sz="2100" spc="-25" dirty="0">
                <a:latin typeface="Carlito"/>
                <a:cs typeface="Carlito"/>
              </a:rPr>
              <a:t>Taskbar </a:t>
            </a:r>
            <a:r>
              <a:rPr sz="2100" dirty="0">
                <a:latin typeface="Carlito"/>
                <a:cs typeface="Carlito"/>
              </a:rPr>
              <a:t>and </a:t>
            </a:r>
            <a:r>
              <a:rPr sz="2100" spc="-10" dirty="0">
                <a:latin typeface="Carlito"/>
                <a:cs typeface="Carlito"/>
              </a:rPr>
              <a:t>Start </a:t>
            </a:r>
            <a:r>
              <a:rPr sz="2100" dirty="0">
                <a:latin typeface="Carlito"/>
                <a:cs typeface="Carlito"/>
              </a:rPr>
              <a:t>Menu  </a:t>
            </a:r>
            <a:r>
              <a:rPr sz="2100" spc="-10" dirty="0">
                <a:latin typeface="Carlito"/>
                <a:cs typeface="Carlito"/>
              </a:rPr>
              <a:t>Properties </a:t>
            </a:r>
            <a:r>
              <a:rPr sz="2100" spc="-5" dirty="0">
                <a:latin typeface="Carlito"/>
                <a:cs typeface="Carlito"/>
              </a:rPr>
              <a:t>dialog </a:t>
            </a:r>
            <a:r>
              <a:rPr sz="2100" spc="-15" dirty="0">
                <a:latin typeface="Carlito"/>
                <a:cs typeface="Carlito"/>
              </a:rPr>
              <a:t>box </a:t>
            </a:r>
            <a:r>
              <a:rPr sz="2100" spc="-5" dirty="0">
                <a:latin typeface="Carlito"/>
                <a:cs typeface="Carlito"/>
              </a:rPr>
              <a:t>opens </a:t>
            </a:r>
            <a:r>
              <a:rPr sz="2100" dirty="0">
                <a:latin typeface="Carlito"/>
                <a:cs typeface="Carlito"/>
              </a:rPr>
              <a:t>with the  </a:t>
            </a:r>
            <a:r>
              <a:rPr sz="2100" spc="-25" dirty="0">
                <a:latin typeface="Carlito"/>
                <a:cs typeface="Carlito"/>
              </a:rPr>
              <a:t>Taskbar </a:t>
            </a:r>
            <a:r>
              <a:rPr sz="2100" spc="-10" dirty="0">
                <a:latin typeface="Carlito"/>
                <a:cs typeface="Carlito"/>
              </a:rPr>
              <a:t>tab</a:t>
            </a:r>
            <a:r>
              <a:rPr sz="2100" spc="-15" dirty="0">
                <a:latin typeface="Carlito"/>
                <a:cs typeface="Carlito"/>
              </a:rPr>
              <a:t> </a:t>
            </a:r>
            <a:r>
              <a:rPr sz="2100" spc="-10" dirty="0">
                <a:latin typeface="Carlito"/>
                <a:cs typeface="Carlito"/>
              </a:rPr>
              <a:t>displayed.</a:t>
            </a:r>
            <a:endParaRPr sz="2100">
              <a:latin typeface="Carlito"/>
              <a:cs typeface="Carlito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926465" algn="l"/>
                <a:tab pos="927100" algn="l"/>
              </a:tabLst>
            </a:pPr>
            <a:r>
              <a:rPr sz="2100" spc="-5" dirty="0">
                <a:latin typeface="Carlito"/>
                <a:cs typeface="Carlito"/>
              </a:rPr>
              <a:t>Use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10" dirty="0">
                <a:latin typeface="Carlito"/>
                <a:cs typeface="Carlito"/>
              </a:rPr>
              <a:t>checkboxes to  </a:t>
            </a:r>
            <a:r>
              <a:rPr sz="2100" spc="-15" dirty="0">
                <a:latin typeface="Carlito"/>
                <a:cs typeface="Carlito"/>
              </a:rPr>
              <a:t>customize </a:t>
            </a:r>
            <a:r>
              <a:rPr sz="2100" dirty="0">
                <a:latin typeface="Carlito"/>
                <a:cs typeface="Carlito"/>
              </a:rPr>
              <a:t>its </a:t>
            </a:r>
            <a:r>
              <a:rPr sz="2100" spc="-5" dirty="0">
                <a:latin typeface="Carlito"/>
                <a:cs typeface="Carlito"/>
              </a:rPr>
              <a:t>appearance </a:t>
            </a:r>
            <a:r>
              <a:rPr sz="2100" dirty="0">
                <a:latin typeface="Carlito"/>
                <a:cs typeface="Carlito"/>
              </a:rPr>
              <a:t>and </a:t>
            </a:r>
            <a:r>
              <a:rPr sz="2100" spc="-5" dirty="0">
                <a:latin typeface="Carlito"/>
                <a:cs typeface="Carlito"/>
              </a:rPr>
              <a:t>click</a:t>
            </a:r>
            <a:r>
              <a:rPr sz="2100" spc="-60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OK.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2839" y="5363057"/>
            <a:ext cx="3359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rlito"/>
                <a:cs typeface="Carlito"/>
              </a:rPr>
              <a:t>Taskbar </a:t>
            </a:r>
            <a:r>
              <a:rPr sz="1800" dirty="0">
                <a:latin typeface="Carlito"/>
                <a:cs typeface="Carlito"/>
              </a:rPr>
              <a:t>and </a:t>
            </a:r>
            <a:r>
              <a:rPr sz="1800" spc="-10" dirty="0">
                <a:latin typeface="Carlito"/>
                <a:cs typeface="Carlito"/>
              </a:rPr>
              <a:t>Start </a:t>
            </a:r>
            <a:r>
              <a:rPr sz="1800" dirty="0">
                <a:latin typeface="Carlito"/>
                <a:cs typeface="Carlito"/>
              </a:rPr>
              <a:t>menu </a:t>
            </a:r>
            <a:r>
              <a:rPr sz="1800" spc="-10" dirty="0">
                <a:latin typeface="Carlito"/>
                <a:cs typeface="Carlito"/>
              </a:rPr>
              <a:t>Properties  </a:t>
            </a:r>
            <a:r>
              <a:rPr sz="1800" spc="-5" dirty="0">
                <a:latin typeface="Carlito"/>
                <a:cs typeface="Carlito"/>
              </a:rPr>
              <a:t>dialog </a:t>
            </a:r>
            <a:r>
              <a:rPr sz="1800" spc="-15" dirty="0">
                <a:latin typeface="Carlito"/>
                <a:cs typeface="Carlito"/>
              </a:rPr>
              <a:t>box </a:t>
            </a:r>
            <a:r>
              <a:rPr sz="1800" spc="-5" dirty="0">
                <a:latin typeface="Carlito"/>
                <a:cs typeface="Carlito"/>
              </a:rPr>
              <a:t>with taskbar </a:t>
            </a:r>
            <a:r>
              <a:rPr sz="1800" spc="-10" dirty="0">
                <a:latin typeface="Carlito"/>
                <a:cs typeface="Carlito"/>
              </a:rPr>
              <a:t>tab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selected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3133" y="992835"/>
            <a:ext cx="3698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Carlito"/>
                <a:cs typeface="Carlito"/>
              </a:rPr>
              <a:t>File</a:t>
            </a:r>
            <a:r>
              <a:rPr sz="4000" b="1" spc="-60" dirty="0">
                <a:latin typeface="Carlito"/>
                <a:cs typeface="Carlito"/>
              </a:rPr>
              <a:t> </a:t>
            </a:r>
            <a:r>
              <a:rPr sz="4000" b="1" spc="-15" dirty="0">
                <a:latin typeface="Carlito"/>
                <a:cs typeface="Carlito"/>
              </a:rPr>
              <a:t>Management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118" y="1690496"/>
            <a:ext cx="829183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b="1" dirty="0">
                <a:latin typeface="Carlito"/>
                <a:cs typeface="Carlito"/>
              </a:rPr>
              <a:t>Files </a:t>
            </a:r>
            <a:r>
              <a:rPr sz="1500" spc="-10" dirty="0">
                <a:latin typeface="Carlito"/>
                <a:cs typeface="Carlito"/>
              </a:rPr>
              <a:t>are </a:t>
            </a:r>
            <a:r>
              <a:rPr sz="1500" spc="-5" dirty="0">
                <a:latin typeface="Carlito"/>
                <a:cs typeface="Carlito"/>
              </a:rPr>
              <a:t>collections of </a:t>
            </a:r>
            <a:r>
              <a:rPr sz="1500" spc="-10" dirty="0">
                <a:latin typeface="Carlito"/>
                <a:cs typeface="Carlito"/>
              </a:rPr>
              <a:t>related information stored </a:t>
            </a:r>
            <a:r>
              <a:rPr sz="1500" spc="-5" dirty="0">
                <a:latin typeface="Carlito"/>
                <a:cs typeface="Carlito"/>
              </a:rPr>
              <a:t>on </a:t>
            </a:r>
            <a:r>
              <a:rPr sz="1500" dirty="0">
                <a:latin typeface="Carlito"/>
                <a:cs typeface="Carlito"/>
              </a:rPr>
              <a:t>a</a:t>
            </a:r>
            <a:r>
              <a:rPr sz="1500" spc="-35" dirty="0">
                <a:latin typeface="Carlito"/>
                <a:cs typeface="Carlito"/>
              </a:rPr>
              <a:t> </a:t>
            </a:r>
            <a:r>
              <a:rPr sz="1500" spc="-25" dirty="0">
                <a:latin typeface="Carlito"/>
                <a:cs typeface="Carlito"/>
              </a:rPr>
              <a:t>computer.</a:t>
            </a:r>
            <a:endParaRPr sz="1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spc="-10" dirty="0">
                <a:latin typeface="Carlito"/>
                <a:cs typeface="Carlito"/>
              </a:rPr>
              <a:t>There are </a:t>
            </a:r>
            <a:r>
              <a:rPr sz="1500" spc="-5" dirty="0">
                <a:latin typeface="Carlito"/>
                <a:cs typeface="Carlito"/>
              </a:rPr>
              <a:t>many </a:t>
            </a:r>
            <a:r>
              <a:rPr sz="1500" spc="-10" dirty="0">
                <a:latin typeface="Carlito"/>
                <a:cs typeface="Carlito"/>
              </a:rPr>
              <a:t>different </a:t>
            </a:r>
            <a:r>
              <a:rPr sz="1500" dirty="0">
                <a:latin typeface="Carlito"/>
                <a:cs typeface="Carlito"/>
              </a:rPr>
              <a:t>types </a:t>
            </a:r>
            <a:r>
              <a:rPr sz="1500" spc="-5" dirty="0">
                <a:latin typeface="Carlito"/>
                <a:cs typeface="Carlito"/>
              </a:rPr>
              <a:t>of files,</a:t>
            </a:r>
            <a:r>
              <a:rPr sz="1500" spc="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including</a:t>
            </a:r>
            <a:endParaRPr sz="1500">
              <a:latin typeface="Carlito"/>
              <a:cs typeface="Carlito"/>
            </a:endParaRPr>
          </a:p>
          <a:p>
            <a:pPr marL="794385" lvl="1" indent="-3251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94385" algn="l"/>
                <a:tab pos="795020" algn="l"/>
              </a:tabLst>
            </a:pPr>
            <a:r>
              <a:rPr sz="1300" spc="-10" dirty="0">
                <a:latin typeface="Carlito"/>
                <a:cs typeface="Carlito"/>
              </a:rPr>
              <a:t>operating </a:t>
            </a:r>
            <a:r>
              <a:rPr sz="1300" spc="-15" dirty="0">
                <a:latin typeface="Carlito"/>
                <a:cs typeface="Carlito"/>
              </a:rPr>
              <a:t>system</a:t>
            </a:r>
            <a:r>
              <a:rPr sz="1300" spc="50" dirty="0">
                <a:latin typeface="Carlito"/>
                <a:cs typeface="Carlito"/>
              </a:rPr>
              <a:t> </a:t>
            </a:r>
            <a:r>
              <a:rPr sz="1300" spc="-5" dirty="0">
                <a:latin typeface="Carlito"/>
                <a:cs typeface="Carlito"/>
              </a:rPr>
              <a:t>files,</a:t>
            </a:r>
            <a:endParaRPr sz="13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rlito"/>
                <a:cs typeface="Carlito"/>
              </a:rPr>
              <a:t>program </a:t>
            </a:r>
            <a:r>
              <a:rPr sz="1300" spc="-5" dirty="0">
                <a:latin typeface="Carlito"/>
                <a:cs typeface="Carlito"/>
              </a:rPr>
              <a:t>files,</a:t>
            </a:r>
            <a:r>
              <a:rPr sz="1300" spc="25" dirty="0">
                <a:latin typeface="Carlito"/>
                <a:cs typeface="Carlito"/>
              </a:rPr>
              <a:t> </a:t>
            </a:r>
            <a:r>
              <a:rPr sz="1300" spc="-5" dirty="0">
                <a:latin typeface="Carlito"/>
                <a:cs typeface="Carlito"/>
              </a:rPr>
              <a:t>and</a:t>
            </a:r>
            <a:endParaRPr sz="1300">
              <a:latin typeface="Carlito"/>
              <a:cs typeface="Carlito"/>
            </a:endParaRPr>
          </a:p>
          <a:p>
            <a:pPr marL="756285" lvl="1" indent="-287020">
              <a:lnSpc>
                <a:spcPts val="1555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rlito"/>
                <a:cs typeface="Carlito"/>
              </a:rPr>
              <a:t>your personal</a:t>
            </a:r>
            <a:r>
              <a:rPr sz="1300" spc="30" dirty="0">
                <a:latin typeface="Carlito"/>
                <a:cs typeface="Carlito"/>
              </a:rPr>
              <a:t> </a:t>
            </a:r>
            <a:r>
              <a:rPr sz="1300" spc="-5" dirty="0">
                <a:latin typeface="Carlito"/>
                <a:cs typeface="Carlito"/>
              </a:rPr>
              <a:t>files.</a:t>
            </a:r>
            <a:endParaRPr sz="1300">
              <a:latin typeface="Carlito"/>
              <a:cs typeface="Carlito"/>
            </a:endParaRPr>
          </a:p>
          <a:p>
            <a:pPr marL="355600" marR="5080" indent="-342900">
              <a:lnSpc>
                <a:spcPct val="80000"/>
              </a:lnSpc>
              <a:spcBef>
                <a:spcPts val="3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spc="-15" dirty="0">
                <a:latin typeface="Carlito"/>
                <a:cs typeface="Carlito"/>
              </a:rPr>
              <a:t>Different </a:t>
            </a:r>
            <a:r>
              <a:rPr sz="1500" dirty="0">
                <a:latin typeface="Carlito"/>
                <a:cs typeface="Carlito"/>
              </a:rPr>
              <a:t>types </a:t>
            </a:r>
            <a:r>
              <a:rPr sz="1500" spc="-5" dirty="0">
                <a:latin typeface="Carlito"/>
                <a:cs typeface="Carlito"/>
              </a:rPr>
              <a:t>of files </a:t>
            </a:r>
            <a:r>
              <a:rPr sz="1500" spc="-15" dirty="0">
                <a:latin typeface="Carlito"/>
                <a:cs typeface="Carlito"/>
              </a:rPr>
              <a:t>store </a:t>
            </a:r>
            <a:r>
              <a:rPr sz="1500" spc="-10" dirty="0">
                <a:latin typeface="Carlito"/>
                <a:cs typeface="Carlito"/>
              </a:rPr>
              <a:t>different </a:t>
            </a:r>
            <a:r>
              <a:rPr sz="1500" dirty="0">
                <a:latin typeface="Carlito"/>
                <a:cs typeface="Carlito"/>
              </a:rPr>
              <a:t>types </a:t>
            </a:r>
            <a:r>
              <a:rPr sz="1500" spc="-5" dirty="0">
                <a:latin typeface="Carlito"/>
                <a:cs typeface="Carlito"/>
              </a:rPr>
              <a:t>of </a:t>
            </a:r>
            <a:r>
              <a:rPr sz="1500" spc="-10" dirty="0">
                <a:latin typeface="Carlito"/>
                <a:cs typeface="Carlito"/>
              </a:rPr>
              <a:t>information. Each </a:t>
            </a:r>
            <a:r>
              <a:rPr sz="1500" spc="-5" dirty="0">
                <a:latin typeface="Carlito"/>
                <a:cs typeface="Carlito"/>
              </a:rPr>
              <a:t>file </a:t>
            </a:r>
            <a:r>
              <a:rPr sz="1500" dirty="0">
                <a:latin typeface="Carlito"/>
                <a:cs typeface="Carlito"/>
              </a:rPr>
              <a:t>is </a:t>
            </a:r>
            <a:r>
              <a:rPr sz="1500" spc="-5" dirty="0">
                <a:latin typeface="Carlito"/>
                <a:cs typeface="Carlito"/>
              </a:rPr>
              <a:t>given </a:t>
            </a:r>
            <a:r>
              <a:rPr sz="1500" dirty="0">
                <a:latin typeface="Carlito"/>
                <a:cs typeface="Carlito"/>
              </a:rPr>
              <a:t>a </a:t>
            </a:r>
            <a:r>
              <a:rPr sz="1500" b="1" spc="-5" dirty="0">
                <a:latin typeface="Carlito"/>
                <a:cs typeface="Carlito"/>
              </a:rPr>
              <a:t>filename </a:t>
            </a:r>
            <a:r>
              <a:rPr sz="1500" dirty="0">
                <a:latin typeface="Carlito"/>
                <a:cs typeface="Carlito"/>
              </a:rPr>
              <a:t>and has a  </a:t>
            </a:r>
            <a:r>
              <a:rPr sz="1500" spc="-5" dirty="0">
                <a:latin typeface="Carlito"/>
                <a:cs typeface="Carlito"/>
              </a:rPr>
              <a:t>three0r </a:t>
            </a:r>
            <a:r>
              <a:rPr sz="1500" spc="-10" dirty="0">
                <a:latin typeface="Carlito"/>
                <a:cs typeface="Carlito"/>
              </a:rPr>
              <a:t>four-letter </a:t>
            </a:r>
            <a:r>
              <a:rPr sz="1500" b="1" dirty="0">
                <a:latin typeface="Carlito"/>
                <a:cs typeface="Carlito"/>
              </a:rPr>
              <a:t>file </a:t>
            </a:r>
            <a:r>
              <a:rPr sz="1500" b="1" spc="-10" dirty="0">
                <a:latin typeface="Carlito"/>
                <a:cs typeface="Carlito"/>
              </a:rPr>
              <a:t>extension </a:t>
            </a:r>
            <a:r>
              <a:rPr sz="1500" spc="-5" dirty="0">
                <a:latin typeface="Carlito"/>
                <a:cs typeface="Carlito"/>
              </a:rPr>
              <a:t>that identifies </a:t>
            </a:r>
            <a:r>
              <a:rPr sz="1500" dirty="0">
                <a:latin typeface="Carlito"/>
                <a:cs typeface="Carlito"/>
              </a:rPr>
              <a:t>the </a:t>
            </a:r>
            <a:r>
              <a:rPr sz="1500" spc="-5" dirty="0">
                <a:latin typeface="Carlito"/>
                <a:cs typeface="Carlito"/>
              </a:rPr>
              <a:t>file </a:t>
            </a:r>
            <a:r>
              <a:rPr sz="1500" dirty="0">
                <a:latin typeface="Carlito"/>
                <a:cs typeface="Carlito"/>
              </a:rPr>
              <a:t>type. </a:t>
            </a:r>
            <a:r>
              <a:rPr sz="1500" spc="-5" dirty="0">
                <a:latin typeface="Carlito"/>
                <a:cs typeface="Carlito"/>
              </a:rPr>
              <a:t>(The filename </a:t>
            </a:r>
            <a:r>
              <a:rPr sz="1500" dirty="0">
                <a:latin typeface="Carlito"/>
                <a:cs typeface="Carlito"/>
              </a:rPr>
              <a:t>and </a:t>
            </a:r>
            <a:r>
              <a:rPr sz="1500" spc="-5" dirty="0">
                <a:latin typeface="Carlito"/>
                <a:cs typeface="Carlito"/>
              </a:rPr>
              <a:t>filename </a:t>
            </a:r>
            <a:r>
              <a:rPr sz="1500" spc="-10" dirty="0">
                <a:latin typeface="Carlito"/>
                <a:cs typeface="Carlito"/>
              </a:rPr>
              <a:t>extension are  separated </a:t>
            </a:r>
            <a:r>
              <a:rPr sz="1500" spc="-5" dirty="0">
                <a:latin typeface="Carlito"/>
                <a:cs typeface="Carlito"/>
              </a:rPr>
              <a:t>by </a:t>
            </a:r>
            <a:r>
              <a:rPr sz="1500" dirty="0">
                <a:latin typeface="Carlito"/>
                <a:cs typeface="Carlito"/>
              </a:rPr>
              <a:t>a</a:t>
            </a:r>
            <a:r>
              <a:rPr sz="1500" spc="-3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period.)</a:t>
            </a:r>
            <a:endParaRPr sz="1500">
              <a:latin typeface="Carlito"/>
              <a:cs typeface="Carlito"/>
            </a:endParaRPr>
          </a:p>
          <a:p>
            <a:pPr marL="355600" marR="28575" indent="-342900">
              <a:lnSpc>
                <a:spcPts val="1440"/>
              </a:lnSpc>
              <a:spcBef>
                <a:spcPts val="3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spc="-15" dirty="0">
                <a:latin typeface="Carlito"/>
                <a:cs typeface="Carlito"/>
              </a:rPr>
              <a:t>For </a:t>
            </a:r>
            <a:r>
              <a:rPr sz="1500" spc="-10" dirty="0">
                <a:latin typeface="Carlito"/>
                <a:cs typeface="Carlito"/>
              </a:rPr>
              <a:t>example, </a:t>
            </a:r>
            <a:r>
              <a:rPr sz="1500" dirty="0">
                <a:latin typeface="Carlito"/>
                <a:cs typeface="Carlito"/>
              </a:rPr>
              <a:t>a </a:t>
            </a:r>
            <a:r>
              <a:rPr sz="1500" spc="-5" dirty="0">
                <a:latin typeface="Carlito"/>
                <a:cs typeface="Carlito"/>
              </a:rPr>
              <a:t>document </a:t>
            </a:r>
            <a:r>
              <a:rPr sz="1500" spc="-10" dirty="0">
                <a:latin typeface="Carlito"/>
                <a:cs typeface="Carlito"/>
              </a:rPr>
              <a:t>created </a:t>
            </a:r>
            <a:r>
              <a:rPr sz="1500" spc="-5" dirty="0">
                <a:latin typeface="Carlito"/>
                <a:cs typeface="Carlito"/>
              </a:rPr>
              <a:t>using Microsoft </a:t>
            </a:r>
            <a:r>
              <a:rPr sz="1500" spc="-25" dirty="0">
                <a:latin typeface="Carlito"/>
                <a:cs typeface="Carlito"/>
              </a:rPr>
              <a:t>Word </a:t>
            </a:r>
            <a:r>
              <a:rPr sz="1500" spc="-5" dirty="0">
                <a:latin typeface="Carlito"/>
                <a:cs typeface="Carlito"/>
              </a:rPr>
              <a:t>might </a:t>
            </a:r>
            <a:r>
              <a:rPr sz="1500" spc="-15" dirty="0">
                <a:latin typeface="Carlito"/>
                <a:cs typeface="Carlito"/>
              </a:rPr>
              <a:t>have </a:t>
            </a:r>
            <a:r>
              <a:rPr sz="1500" dirty="0">
                <a:latin typeface="Carlito"/>
                <a:cs typeface="Carlito"/>
              </a:rPr>
              <a:t>the </a:t>
            </a:r>
            <a:r>
              <a:rPr sz="1500" spc="-5" dirty="0">
                <a:latin typeface="Carlito"/>
                <a:cs typeface="Carlito"/>
              </a:rPr>
              <a:t>file </a:t>
            </a:r>
            <a:r>
              <a:rPr sz="1500" dirty="0">
                <a:latin typeface="Carlito"/>
                <a:cs typeface="Carlito"/>
              </a:rPr>
              <a:t>name, </a:t>
            </a:r>
            <a:r>
              <a:rPr sz="1500" b="1" spc="-5" dirty="0">
                <a:latin typeface="Carlito"/>
                <a:cs typeface="Carlito"/>
              </a:rPr>
              <a:t>CSM183 </a:t>
            </a:r>
            <a:r>
              <a:rPr sz="1500" b="1" spc="-10" dirty="0">
                <a:latin typeface="Carlito"/>
                <a:cs typeface="Carlito"/>
              </a:rPr>
              <a:t>Notes.doc</a:t>
            </a:r>
            <a:r>
              <a:rPr sz="1500" spc="-10" dirty="0">
                <a:latin typeface="Carlito"/>
                <a:cs typeface="Carlito"/>
              </a:rPr>
              <a:t>.  </a:t>
            </a:r>
            <a:r>
              <a:rPr sz="1500" spc="-5" dirty="0">
                <a:latin typeface="Carlito"/>
                <a:cs typeface="Carlito"/>
              </a:rPr>
              <a:t>Some of </a:t>
            </a:r>
            <a:r>
              <a:rPr sz="1500" dirty="0">
                <a:latin typeface="Carlito"/>
                <a:cs typeface="Carlito"/>
              </a:rPr>
              <a:t>the </a:t>
            </a:r>
            <a:r>
              <a:rPr sz="1500" spc="-5" dirty="0">
                <a:latin typeface="Carlito"/>
                <a:cs typeface="Carlito"/>
              </a:rPr>
              <a:t>common file extensions </a:t>
            </a:r>
            <a:r>
              <a:rPr sz="1500" spc="-10" dirty="0">
                <a:latin typeface="Carlito"/>
                <a:cs typeface="Carlito"/>
              </a:rPr>
              <a:t>are </a:t>
            </a:r>
            <a:r>
              <a:rPr sz="1500" dirty="0">
                <a:latin typeface="Carlito"/>
                <a:cs typeface="Carlito"/>
              </a:rPr>
              <a:t>as</a:t>
            </a:r>
            <a:r>
              <a:rPr sz="1500" spc="-5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follows:</a:t>
            </a:r>
            <a:endParaRPr sz="1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b="1" spc="-5" dirty="0">
                <a:latin typeface="Carlito"/>
                <a:cs typeface="Carlito"/>
              </a:rPr>
              <a:t>doc</a:t>
            </a:r>
            <a:r>
              <a:rPr sz="1500" spc="-5" dirty="0">
                <a:latin typeface="Carlito"/>
                <a:cs typeface="Carlito"/>
              </a:rPr>
              <a:t>: </a:t>
            </a:r>
            <a:r>
              <a:rPr sz="1500" spc="-25" dirty="0">
                <a:latin typeface="Carlito"/>
                <a:cs typeface="Carlito"/>
              </a:rPr>
              <a:t>Word </a:t>
            </a:r>
            <a:r>
              <a:rPr sz="1500" spc="-5" dirty="0">
                <a:latin typeface="Carlito"/>
                <a:cs typeface="Carlito"/>
              </a:rPr>
              <a:t>or </a:t>
            </a:r>
            <a:r>
              <a:rPr sz="1500" spc="-20" dirty="0">
                <a:latin typeface="Carlito"/>
                <a:cs typeface="Carlito"/>
              </a:rPr>
              <a:t>WordPad </a:t>
            </a:r>
            <a:r>
              <a:rPr sz="1500" spc="-5" dirty="0">
                <a:latin typeface="Carlito"/>
                <a:cs typeface="Carlito"/>
              </a:rPr>
              <a:t>document or </a:t>
            </a:r>
            <a:r>
              <a:rPr sz="1500" b="1" spc="-5" dirty="0">
                <a:latin typeface="Carlito"/>
                <a:cs typeface="Carlito"/>
              </a:rPr>
              <a:t>docx: </a:t>
            </a:r>
            <a:r>
              <a:rPr sz="1500" b="1" spc="-10" dirty="0">
                <a:latin typeface="Carlito"/>
                <a:cs typeface="Carlito"/>
              </a:rPr>
              <a:t>for </a:t>
            </a:r>
            <a:r>
              <a:rPr sz="1500" spc="-25" dirty="0">
                <a:latin typeface="Carlito"/>
                <a:cs typeface="Carlito"/>
              </a:rPr>
              <a:t>Word</a:t>
            </a:r>
            <a:r>
              <a:rPr sz="1500" spc="30" dirty="0">
                <a:latin typeface="Carlito"/>
                <a:cs typeface="Carlito"/>
              </a:rPr>
              <a:t> </a:t>
            </a:r>
            <a:r>
              <a:rPr sz="1500" spc="-5" dirty="0">
                <a:latin typeface="Carlito"/>
                <a:cs typeface="Carlito"/>
              </a:rPr>
              <a:t>2007</a:t>
            </a:r>
            <a:endParaRPr sz="1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b="1" spc="-5" dirty="0">
                <a:latin typeface="Carlito"/>
                <a:cs typeface="Carlito"/>
              </a:rPr>
              <a:t>txt</a:t>
            </a:r>
            <a:r>
              <a:rPr sz="1500" spc="-5" dirty="0">
                <a:latin typeface="Carlito"/>
                <a:cs typeface="Carlito"/>
              </a:rPr>
              <a:t>: </a:t>
            </a:r>
            <a:r>
              <a:rPr sz="1500" spc="-15" dirty="0">
                <a:latin typeface="Carlito"/>
                <a:cs typeface="Carlito"/>
              </a:rPr>
              <a:t>text </a:t>
            </a:r>
            <a:r>
              <a:rPr sz="1500" spc="-5" dirty="0">
                <a:latin typeface="Carlito"/>
                <a:cs typeface="Carlito"/>
              </a:rPr>
              <a:t>file </a:t>
            </a:r>
            <a:r>
              <a:rPr sz="1500" spc="-10" dirty="0">
                <a:latin typeface="Carlito"/>
                <a:cs typeface="Carlito"/>
              </a:rPr>
              <a:t>example </a:t>
            </a:r>
            <a:r>
              <a:rPr sz="1500" spc="-5" dirty="0">
                <a:latin typeface="Carlito"/>
                <a:cs typeface="Carlito"/>
              </a:rPr>
              <a:t>document </a:t>
            </a:r>
            <a:r>
              <a:rPr sz="1500" spc="-10" dirty="0">
                <a:latin typeface="Carlito"/>
                <a:cs typeface="Carlito"/>
              </a:rPr>
              <a:t>created </a:t>
            </a:r>
            <a:r>
              <a:rPr sz="1500" spc="-5" dirty="0">
                <a:latin typeface="Carlito"/>
                <a:cs typeface="Carlito"/>
              </a:rPr>
              <a:t>with note or </a:t>
            </a:r>
            <a:r>
              <a:rPr sz="1500" spc="-15" dirty="0">
                <a:latin typeface="Carlito"/>
                <a:cs typeface="Carlito"/>
              </a:rPr>
              <a:t>save </a:t>
            </a:r>
            <a:r>
              <a:rPr sz="1500" dirty="0">
                <a:latin typeface="Carlito"/>
                <a:cs typeface="Carlito"/>
              </a:rPr>
              <a:t>as a plain </a:t>
            </a:r>
            <a:r>
              <a:rPr sz="1500" spc="-15" dirty="0">
                <a:latin typeface="Carlito"/>
                <a:cs typeface="Carlito"/>
              </a:rPr>
              <a:t>text </a:t>
            </a:r>
            <a:r>
              <a:rPr sz="1500" spc="-5" dirty="0">
                <a:latin typeface="Carlito"/>
                <a:cs typeface="Carlito"/>
              </a:rPr>
              <a:t>file by </a:t>
            </a:r>
            <a:r>
              <a:rPr sz="1500" spc="-10" dirty="0">
                <a:latin typeface="Carlito"/>
                <a:cs typeface="Carlito"/>
              </a:rPr>
              <a:t>word </a:t>
            </a:r>
            <a:r>
              <a:rPr sz="1500" spc="-5" dirty="0">
                <a:latin typeface="Carlito"/>
                <a:cs typeface="Carlito"/>
              </a:rPr>
              <a:t>or </a:t>
            </a:r>
            <a:r>
              <a:rPr sz="1500" spc="-15" dirty="0">
                <a:latin typeface="Carlito"/>
                <a:cs typeface="Carlito"/>
              </a:rPr>
              <a:t>word</a:t>
            </a:r>
            <a:r>
              <a:rPr sz="1500" spc="75" dirty="0">
                <a:latin typeface="Carlito"/>
                <a:cs typeface="Carlito"/>
              </a:rPr>
              <a:t> </a:t>
            </a:r>
            <a:r>
              <a:rPr sz="1500" spc="-5" dirty="0">
                <a:latin typeface="Carlito"/>
                <a:cs typeface="Carlito"/>
              </a:rPr>
              <a:t>pad.</a:t>
            </a:r>
            <a:endParaRPr sz="1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b="1" dirty="0">
                <a:latin typeface="Carlito"/>
                <a:cs typeface="Carlito"/>
              </a:rPr>
              <a:t>eml</a:t>
            </a:r>
            <a:r>
              <a:rPr sz="1500" dirty="0">
                <a:latin typeface="Carlito"/>
                <a:cs typeface="Carlito"/>
              </a:rPr>
              <a:t>: </a:t>
            </a:r>
            <a:r>
              <a:rPr sz="1500" spc="-5" dirty="0">
                <a:latin typeface="Carlito"/>
                <a:cs typeface="Carlito"/>
              </a:rPr>
              <a:t>Email</a:t>
            </a:r>
            <a:r>
              <a:rPr sz="1500" spc="-20" dirty="0">
                <a:latin typeface="Carlito"/>
                <a:cs typeface="Carlito"/>
              </a:rPr>
              <a:t> </a:t>
            </a:r>
            <a:r>
              <a:rPr sz="1500" spc="-5" dirty="0">
                <a:latin typeface="Carlito"/>
                <a:cs typeface="Carlito"/>
              </a:rPr>
              <a:t>file</a:t>
            </a:r>
            <a:endParaRPr sz="1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b="1" spc="-5" dirty="0">
                <a:latin typeface="Carlito"/>
                <a:cs typeface="Carlito"/>
              </a:rPr>
              <a:t>xls</a:t>
            </a:r>
            <a:r>
              <a:rPr sz="1500" spc="-5" dirty="0">
                <a:latin typeface="Carlito"/>
                <a:cs typeface="Carlito"/>
              </a:rPr>
              <a:t>: </a:t>
            </a:r>
            <a:r>
              <a:rPr sz="1500" spc="-10" dirty="0">
                <a:latin typeface="Carlito"/>
                <a:cs typeface="Carlito"/>
              </a:rPr>
              <a:t>Excel </a:t>
            </a:r>
            <a:r>
              <a:rPr sz="1500" spc="-5" dirty="0">
                <a:latin typeface="Carlito"/>
                <a:cs typeface="Carlito"/>
              </a:rPr>
              <a:t>spreadsheet or xlsx </a:t>
            </a:r>
            <a:r>
              <a:rPr sz="1500" spc="-10" dirty="0">
                <a:latin typeface="Carlito"/>
                <a:cs typeface="Carlito"/>
              </a:rPr>
              <a:t>(Excel</a:t>
            </a:r>
            <a:r>
              <a:rPr sz="1500" spc="40" dirty="0">
                <a:latin typeface="Carlito"/>
                <a:cs typeface="Carlito"/>
              </a:rPr>
              <a:t> </a:t>
            </a:r>
            <a:r>
              <a:rPr sz="1500" spc="-5" dirty="0">
                <a:latin typeface="Carlito"/>
                <a:cs typeface="Carlito"/>
              </a:rPr>
              <a:t>2007)</a:t>
            </a:r>
            <a:endParaRPr sz="1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b="1" spc="-10" dirty="0">
                <a:latin typeface="Carlito"/>
                <a:cs typeface="Carlito"/>
              </a:rPr>
              <a:t>htm </a:t>
            </a:r>
            <a:r>
              <a:rPr sz="1500" b="1" dirty="0">
                <a:latin typeface="Carlito"/>
                <a:cs typeface="Carlito"/>
              </a:rPr>
              <a:t>or </a:t>
            </a:r>
            <a:r>
              <a:rPr sz="1500" b="1" spc="-5" dirty="0">
                <a:latin typeface="Carlito"/>
                <a:cs typeface="Carlito"/>
              </a:rPr>
              <a:t>html</a:t>
            </a:r>
            <a:r>
              <a:rPr sz="1500" spc="-5" dirty="0">
                <a:latin typeface="Carlito"/>
                <a:cs typeface="Carlito"/>
              </a:rPr>
              <a:t>: HTML file </a:t>
            </a:r>
            <a:r>
              <a:rPr sz="1500" spc="-10" dirty="0">
                <a:latin typeface="Carlito"/>
                <a:cs typeface="Carlito"/>
              </a:rPr>
              <a:t>(web</a:t>
            </a:r>
            <a:r>
              <a:rPr sz="1500" spc="30" dirty="0">
                <a:latin typeface="Carlito"/>
                <a:cs typeface="Carlito"/>
              </a:rPr>
              <a:t> </a:t>
            </a:r>
            <a:r>
              <a:rPr sz="1500" spc="-5" dirty="0">
                <a:latin typeface="Carlito"/>
                <a:cs typeface="Carlito"/>
              </a:rPr>
              <a:t>page)</a:t>
            </a:r>
            <a:endParaRPr sz="1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b="1" spc="-5" dirty="0">
                <a:latin typeface="Carlito"/>
                <a:cs typeface="Carlito"/>
              </a:rPr>
              <a:t>ppt</a:t>
            </a:r>
            <a:r>
              <a:rPr sz="1500" spc="-5" dirty="0">
                <a:latin typeface="Carlito"/>
                <a:cs typeface="Carlito"/>
              </a:rPr>
              <a:t>: </a:t>
            </a:r>
            <a:r>
              <a:rPr sz="1500" spc="-10" dirty="0">
                <a:latin typeface="Carlito"/>
                <a:cs typeface="Carlito"/>
              </a:rPr>
              <a:t>PowerPoint presentation </a:t>
            </a:r>
            <a:r>
              <a:rPr sz="1500" spc="-5" dirty="0">
                <a:latin typeface="Carlito"/>
                <a:cs typeface="Carlito"/>
              </a:rPr>
              <a:t>or pptx (power point</a:t>
            </a:r>
            <a:r>
              <a:rPr sz="1500" spc="-60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2007)</a:t>
            </a:r>
            <a:endParaRPr sz="1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500" b="1" spc="-5" dirty="0">
                <a:latin typeface="Carlito"/>
                <a:cs typeface="Carlito"/>
              </a:rPr>
              <a:t>mbd</a:t>
            </a:r>
            <a:r>
              <a:rPr sz="1500" spc="-5" dirty="0">
                <a:latin typeface="Carlito"/>
                <a:cs typeface="Carlito"/>
              </a:rPr>
              <a:t>: Access</a:t>
            </a:r>
            <a:r>
              <a:rPr sz="1500" dirty="0">
                <a:latin typeface="Carlito"/>
                <a:cs typeface="Carlito"/>
              </a:rPr>
              <a:t> </a:t>
            </a:r>
            <a:r>
              <a:rPr sz="1500" spc="-5" dirty="0">
                <a:latin typeface="Carlito"/>
                <a:cs typeface="Carlito"/>
              </a:rPr>
              <a:t>database</a:t>
            </a:r>
            <a:endParaRPr sz="1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33398"/>
            <a:ext cx="7725409" cy="1552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20"/>
              </a:lnSpc>
              <a:spcBef>
                <a:spcPts val="100"/>
              </a:spcBef>
            </a:pPr>
            <a:r>
              <a:rPr sz="2100" spc="-5" dirty="0">
                <a:latin typeface="Carlito"/>
                <a:cs typeface="Carlito"/>
              </a:rPr>
              <a:t>Creating, Renaming, </a:t>
            </a:r>
            <a:r>
              <a:rPr sz="2100" dirty="0">
                <a:latin typeface="Carlito"/>
                <a:cs typeface="Carlito"/>
              </a:rPr>
              <a:t>and </a:t>
            </a:r>
            <a:r>
              <a:rPr sz="2100" spc="-5" dirty="0">
                <a:latin typeface="Carlito"/>
                <a:cs typeface="Carlito"/>
              </a:rPr>
              <a:t>Deleting</a:t>
            </a:r>
            <a:r>
              <a:rPr sz="2100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Files</a:t>
            </a:r>
            <a:endParaRPr sz="2100">
              <a:latin typeface="Carlito"/>
              <a:cs typeface="Carlito"/>
            </a:endParaRPr>
          </a:p>
          <a:p>
            <a:pPr marL="12700">
              <a:lnSpc>
                <a:spcPts val="2375"/>
              </a:lnSpc>
            </a:pPr>
            <a:r>
              <a:rPr sz="2200" spc="-5" dirty="0">
                <a:latin typeface="Carlito"/>
                <a:cs typeface="Carlito"/>
              </a:rPr>
              <a:t>Normally </a:t>
            </a:r>
            <a:r>
              <a:rPr sz="2200" spc="-15" dirty="0">
                <a:latin typeface="Carlito"/>
                <a:cs typeface="Carlito"/>
              </a:rPr>
              <a:t>you must </a:t>
            </a:r>
            <a:r>
              <a:rPr sz="2200" spc="-10" dirty="0">
                <a:latin typeface="Carlito"/>
                <a:cs typeface="Carlito"/>
              </a:rPr>
              <a:t>give </a:t>
            </a:r>
            <a:r>
              <a:rPr sz="2200" spc="-5" dirty="0">
                <a:latin typeface="Carlito"/>
                <a:cs typeface="Carlito"/>
              </a:rPr>
              <a:t>meaningful </a:t>
            </a:r>
            <a:r>
              <a:rPr sz="2200" spc="-10" dirty="0">
                <a:latin typeface="Carlito"/>
                <a:cs typeface="Carlito"/>
              </a:rPr>
              <a:t>names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your files </a:t>
            </a:r>
            <a:r>
              <a:rPr sz="2200" spc="-5" dirty="0">
                <a:latin typeface="Carlito"/>
                <a:cs typeface="Carlito"/>
              </a:rPr>
              <a:t>so </a:t>
            </a:r>
            <a:r>
              <a:rPr sz="2200" spc="-15" dirty="0">
                <a:latin typeface="Carlito"/>
                <a:cs typeface="Carlito"/>
              </a:rPr>
              <a:t>that</a:t>
            </a:r>
            <a:r>
              <a:rPr sz="2200" spc="18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by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375"/>
              </a:lnSpc>
            </a:pPr>
            <a:r>
              <a:rPr sz="2200" spc="-10" dirty="0">
                <a:latin typeface="Carlito"/>
                <a:cs typeface="Carlito"/>
              </a:rPr>
              <a:t>just </a:t>
            </a:r>
            <a:r>
              <a:rPr sz="2200" spc="-5" dirty="0">
                <a:latin typeface="Carlito"/>
                <a:cs typeface="Carlito"/>
              </a:rPr>
              <a:t>the name </a:t>
            </a:r>
            <a:r>
              <a:rPr sz="2200" spc="-15" dirty="0">
                <a:latin typeface="Carlito"/>
                <a:cs typeface="Carlito"/>
              </a:rPr>
              <a:t>you can </a:t>
            </a:r>
            <a:r>
              <a:rPr sz="2200" spc="-5" dirty="0">
                <a:latin typeface="Carlito"/>
                <a:cs typeface="Carlito"/>
              </a:rPr>
              <a:t>easily </a:t>
            </a:r>
            <a:r>
              <a:rPr sz="2200" spc="-10" dirty="0">
                <a:latin typeface="Carlito"/>
                <a:cs typeface="Carlito"/>
              </a:rPr>
              <a:t>tell what </a:t>
            </a:r>
            <a:r>
              <a:rPr sz="2200" spc="-5" dirty="0">
                <a:latin typeface="Carlito"/>
                <a:cs typeface="Carlito"/>
              </a:rPr>
              <a:t>the file is all</a:t>
            </a:r>
            <a:r>
              <a:rPr sz="2200" spc="9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about.</a:t>
            </a:r>
            <a:endParaRPr sz="2200">
              <a:latin typeface="Carlito"/>
              <a:cs typeface="Carlito"/>
            </a:endParaRPr>
          </a:p>
          <a:p>
            <a:pPr marL="12700" marR="5080">
              <a:lnSpc>
                <a:spcPct val="80000"/>
              </a:lnSpc>
              <a:spcBef>
                <a:spcPts val="530"/>
              </a:spcBef>
            </a:pPr>
            <a:r>
              <a:rPr sz="2200" spc="-5" dirty="0">
                <a:latin typeface="Carlito"/>
                <a:cs typeface="Carlito"/>
              </a:rPr>
              <a:t>With </a:t>
            </a:r>
            <a:r>
              <a:rPr sz="2200" spc="-10" dirty="0">
                <a:latin typeface="Carlito"/>
                <a:cs typeface="Carlito"/>
              </a:rPr>
              <a:t>Windows </a:t>
            </a:r>
            <a:r>
              <a:rPr sz="2200" spc="-5" dirty="0">
                <a:latin typeface="Carlito"/>
                <a:cs typeface="Carlito"/>
              </a:rPr>
              <a:t>7, </a:t>
            </a:r>
            <a:r>
              <a:rPr sz="2200" spc="-15" dirty="0">
                <a:latin typeface="Carlito"/>
                <a:cs typeface="Carlito"/>
              </a:rPr>
              <a:t>you can </a:t>
            </a:r>
            <a:r>
              <a:rPr sz="2200" spc="-20" dirty="0">
                <a:latin typeface="Carlito"/>
                <a:cs typeface="Carlito"/>
              </a:rPr>
              <a:t>create </a:t>
            </a:r>
            <a:r>
              <a:rPr sz="2200" spc="-5" dirty="0">
                <a:latin typeface="Carlito"/>
                <a:cs typeface="Carlito"/>
              </a:rPr>
              <a:t>a file </a:t>
            </a:r>
            <a:r>
              <a:rPr sz="2200" spc="-10" dirty="0">
                <a:latin typeface="Carlito"/>
                <a:cs typeface="Carlito"/>
              </a:rPr>
              <a:t>using </a:t>
            </a:r>
            <a:r>
              <a:rPr sz="2200" spc="-20" dirty="0">
                <a:latin typeface="Carlito"/>
                <a:cs typeface="Carlito"/>
              </a:rPr>
              <a:t>different </a:t>
            </a:r>
            <a:r>
              <a:rPr sz="2200" spc="-15" dirty="0">
                <a:latin typeface="Carlito"/>
                <a:cs typeface="Carlito"/>
              </a:rPr>
              <a:t>programs </a:t>
            </a:r>
            <a:r>
              <a:rPr sz="2200" spc="-10" dirty="0">
                <a:latin typeface="Carlito"/>
                <a:cs typeface="Carlito"/>
              </a:rPr>
              <a:t>such  </a:t>
            </a:r>
            <a:r>
              <a:rPr sz="2200" spc="-5" dirty="0">
                <a:latin typeface="Carlito"/>
                <a:cs typeface="Carlito"/>
              </a:rPr>
              <a:t>as </a:t>
            </a:r>
            <a:r>
              <a:rPr sz="2200" spc="-30" dirty="0">
                <a:latin typeface="Carlito"/>
                <a:cs typeface="Carlito"/>
              </a:rPr>
              <a:t>WordPad </a:t>
            </a:r>
            <a:r>
              <a:rPr sz="2200" spc="-5" dirty="0">
                <a:latin typeface="Carlito"/>
                <a:cs typeface="Carlito"/>
              </a:rPr>
              <a:t>or Notepad. </a:t>
            </a:r>
            <a:r>
              <a:rPr sz="2200" spc="-100" dirty="0">
                <a:latin typeface="Carlito"/>
                <a:cs typeface="Carlito"/>
              </a:rPr>
              <a:t>To </a:t>
            </a:r>
            <a:r>
              <a:rPr sz="2200" spc="-20" dirty="0">
                <a:latin typeface="Carlito"/>
                <a:cs typeface="Carlito"/>
              </a:rPr>
              <a:t>create </a:t>
            </a:r>
            <a:r>
              <a:rPr sz="2200" spc="-5" dirty="0">
                <a:latin typeface="Carlito"/>
                <a:cs typeface="Carlito"/>
              </a:rPr>
              <a:t>a file </a:t>
            </a:r>
            <a:r>
              <a:rPr sz="2200" spc="-10" dirty="0">
                <a:latin typeface="Carlito"/>
                <a:cs typeface="Carlito"/>
              </a:rPr>
              <a:t>using</a:t>
            </a:r>
            <a:r>
              <a:rPr sz="2200" spc="18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Notepad: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2560700"/>
            <a:ext cx="164465" cy="237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1916" y="2560700"/>
            <a:ext cx="5800090" cy="237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rlito"/>
                <a:cs typeface="Carlito"/>
              </a:rPr>
              <a:t>Click</a:t>
            </a:r>
            <a:r>
              <a:rPr sz="2200" spc="-2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Start.</a:t>
            </a:r>
            <a:endParaRPr sz="2200">
              <a:latin typeface="Carlito"/>
              <a:cs typeface="Carlito"/>
            </a:endParaRPr>
          </a:p>
          <a:p>
            <a:pPr marL="12700" marR="655955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Choose All </a:t>
            </a:r>
            <a:r>
              <a:rPr sz="2200" spc="-15" dirty="0">
                <a:latin typeface="Carlito"/>
                <a:cs typeface="Carlito"/>
              </a:rPr>
              <a:t>Programs </a:t>
            </a:r>
            <a:r>
              <a:rPr sz="2200" spc="-5" dirty="0">
                <a:latin typeface="Carlito"/>
                <a:cs typeface="Carlito"/>
              </a:rPr>
              <a:t>- Accessories - </a:t>
            </a:r>
            <a:r>
              <a:rPr sz="2200" spc="-10" dirty="0">
                <a:latin typeface="Carlito"/>
                <a:cs typeface="Carlito"/>
              </a:rPr>
              <a:t>Notepad.  Notepad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opens.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25" dirty="0">
                <a:latin typeface="Carlito"/>
                <a:cs typeface="Carlito"/>
              </a:rPr>
              <a:t>Type, </a:t>
            </a:r>
            <a:r>
              <a:rPr sz="2200" spc="-5" dirty="0">
                <a:latin typeface="Carlito"/>
                <a:cs typeface="Carlito"/>
              </a:rPr>
              <a:t>"This is </a:t>
            </a:r>
            <a:r>
              <a:rPr sz="2200" spc="-25" dirty="0">
                <a:latin typeface="Carlito"/>
                <a:cs typeface="Carlito"/>
              </a:rPr>
              <a:t>my </a:t>
            </a:r>
            <a:r>
              <a:rPr sz="2200" spc="-15" dirty="0">
                <a:latin typeface="Carlito"/>
                <a:cs typeface="Carlito"/>
              </a:rPr>
              <a:t>new</a:t>
            </a:r>
            <a:r>
              <a:rPr sz="2200" spc="10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document."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Choose File </a:t>
            </a:r>
            <a:r>
              <a:rPr sz="2200" spc="-20" dirty="0">
                <a:latin typeface="Carlito"/>
                <a:cs typeface="Carlito"/>
              </a:rPr>
              <a:t>Save </a:t>
            </a:r>
            <a:r>
              <a:rPr sz="2200" spc="-15" dirty="0">
                <a:latin typeface="Carlito"/>
                <a:cs typeface="Carlito"/>
              </a:rPr>
              <a:t>from </a:t>
            </a:r>
            <a:r>
              <a:rPr sz="2200" spc="-5" dirty="0">
                <a:latin typeface="Carlito"/>
                <a:cs typeface="Carlito"/>
              </a:rPr>
              <a:t>the menu bar </a:t>
            </a:r>
            <a:r>
              <a:rPr sz="2200" spc="-10" dirty="0">
                <a:latin typeface="Carlito"/>
                <a:cs typeface="Carlito"/>
              </a:rPr>
              <a:t>(Ctrl </a:t>
            </a:r>
            <a:r>
              <a:rPr sz="2200" spc="-5" dirty="0">
                <a:latin typeface="Carlito"/>
                <a:cs typeface="Carlito"/>
              </a:rPr>
              <a:t>+</a:t>
            </a:r>
            <a:r>
              <a:rPr sz="2200" spc="7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S).</a:t>
            </a:r>
            <a:endParaRPr sz="220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20" dirty="0">
                <a:latin typeface="Carlito"/>
                <a:cs typeface="Carlito"/>
              </a:rPr>
              <a:t>Save </a:t>
            </a:r>
            <a:r>
              <a:rPr sz="2200" spc="-5" dirty="0">
                <a:latin typeface="Carlito"/>
                <a:cs typeface="Carlito"/>
              </a:rPr>
              <a:t>As dialog </a:t>
            </a:r>
            <a:r>
              <a:rPr sz="2200" spc="-20" dirty="0">
                <a:latin typeface="Carlito"/>
                <a:cs typeface="Carlito"/>
              </a:rPr>
              <a:t>box </a:t>
            </a:r>
            <a:r>
              <a:rPr sz="2200" spc="-10" dirty="0">
                <a:latin typeface="Carlito"/>
                <a:cs typeface="Carlito"/>
              </a:rPr>
              <a:t>appears </a:t>
            </a:r>
            <a:r>
              <a:rPr sz="2200" spc="-5" dirty="0">
                <a:latin typeface="Carlito"/>
                <a:cs typeface="Carlito"/>
              </a:rPr>
              <a:t>as on the </a:t>
            </a:r>
            <a:r>
              <a:rPr sz="2200" spc="-15" dirty="0">
                <a:latin typeface="Carlito"/>
                <a:cs typeface="Carlito"/>
              </a:rPr>
              <a:t>next </a:t>
            </a:r>
            <a:r>
              <a:rPr sz="2200" spc="-10" dirty="0">
                <a:latin typeface="Carlito"/>
                <a:cs typeface="Carlito"/>
              </a:rPr>
              <a:t>slide  </a:t>
            </a:r>
            <a:r>
              <a:rPr sz="2200" spc="-20" dirty="0">
                <a:latin typeface="Carlito"/>
                <a:cs typeface="Carlito"/>
              </a:rPr>
              <a:t>Save </a:t>
            </a:r>
            <a:r>
              <a:rPr sz="2200" spc="-10" dirty="0">
                <a:latin typeface="Carlito"/>
                <a:cs typeface="Carlito"/>
              </a:rPr>
              <a:t>your </a:t>
            </a:r>
            <a:r>
              <a:rPr sz="2200" spc="-5" dirty="0">
                <a:latin typeface="Carlito"/>
                <a:cs typeface="Carlito"/>
              </a:rPr>
              <a:t>file </a:t>
            </a:r>
            <a:r>
              <a:rPr sz="2200" spc="-15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5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desktop.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5928" y="1225295"/>
            <a:ext cx="4296155" cy="4072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47817" y="1237234"/>
            <a:ext cx="30632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Name </a:t>
            </a:r>
            <a:r>
              <a:rPr sz="2700" spc="-15" dirty="0"/>
              <a:t>your</a:t>
            </a:r>
            <a:r>
              <a:rPr sz="2700" spc="-80" dirty="0"/>
              <a:t> </a:t>
            </a:r>
            <a:r>
              <a:rPr sz="2700" spc="-10" dirty="0"/>
              <a:t>document  “new</a:t>
            </a:r>
            <a:r>
              <a:rPr sz="2700" spc="-35" dirty="0"/>
              <a:t> </a:t>
            </a:r>
            <a:r>
              <a:rPr sz="2700" spc="-25" dirty="0"/>
              <a:t>document.”</a:t>
            </a:r>
            <a:endParaRPr sz="27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47817" y="2060575"/>
            <a:ext cx="3689985" cy="290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Char char="•"/>
              <a:tabLst>
                <a:tab pos="926465" algn="l"/>
                <a:tab pos="927100" algn="l"/>
              </a:tabLst>
            </a:pPr>
            <a:r>
              <a:rPr sz="2700" dirty="0">
                <a:latin typeface="Carlito"/>
                <a:cs typeface="Carlito"/>
              </a:rPr>
              <a:t>In </a:t>
            </a:r>
            <a:r>
              <a:rPr sz="2700" spc="-10" dirty="0">
                <a:latin typeface="Carlito"/>
                <a:cs typeface="Carlito"/>
              </a:rPr>
              <a:t>the </a:t>
            </a:r>
            <a:r>
              <a:rPr sz="2700" b="1" spc="-20" dirty="0">
                <a:latin typeface="Carlito"/>
                <a:cs typeface="Carlito"/>
              </a:rPr>
              <a:t>Save </a:t>
            </a:r>
            <a:r>
              <a:rPr sz="2700" b="1" dirty="0">
                <a:latin typeface="Carlito"/>
                <a:cs typeface="Carlito"/>
              </a:rPr>
              <a:t>as type  </a:t>
            </a:r>
            <a:r>
              <a:rPr sz="2700" spc="-20" dirty="0">
                <a:latin typeface="Carlito"/>
                <a:cs typeface="Carlito"/>
              </a:rPr>
              <a:t>drop </a:t>
            </a:r>
            <a:r>
              <a:rPr sz="2700" spc="-5" dirty="0">
                <a:latin typeface="Carlito"/>
                <a:cs typeface="Carlito"/>
              </a:rPr>
              <a:t>down </a:t>
            </a:r>
            <a:r>
              <a:rPr sz="2700" spc="-15" dirty="0">
                <a:latin typeface="Carlito"/>
                <a:cs typeface="Carlito"/>
              </a:rPr>
              <a:t>box, </a:t>
            </a:r>
            <a:r>
              <a:rPr sz="2700" spc="-5" dirty="0">
                <a:latin typeface="Carlito"/>
                <a:cs typeface="Carlito"/>
              </a:rPr>
              <a:t>be </a:t>
            </a:r>
            <a:r>
              <a:rPr sz="2700" spc="-20" dirty="0">
                <a:latin typeface="Carlito"/>
                <a:cs typeface="Carlito"/>
              </a:rPr>
              <a:t>sure  </a:t>
            </a:r>
            <a:r>
              <a:rPr sz="2700" spc="-15" dirty="0">
                <a:latin typeface="Carlito"/>
                <a:cs typeface="Carlito"/>
              </a:rPr>
              <a:t>your </a:t>
            </a:r>
            <a:r>
              <a:rPr sz="2700" spc="-10" dirty="0">
                <a:latin typeface="Carlito"/>
                <a:cs typeface="Carlito"/>
              </a:rPr>
              <a:t>document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saved </a:t>
            </a:r>
            <a:r>
              <a:rPr sz="2700" spc="-10" dirty="0">
                <a:latin typeface="Carlito"/>
                <a:cs typeface="Carlito"/>
              </a:rPr>
              <a:t>as 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20" dirty="0">
                <a:latin typeface="Carlito"/>
                <a:cs typeface="Carlito"/>
              </a:rPr>
              <a:t>text </a:t>
            </a:r>
            <a:r>
              <a:rPr sz="2700" spc="-10" dirty="0">
                <a:latin typeface="Carlito"/>
                <a:cs typeface="Carlito"/>
              </a:rPr>
              <a:t>document.</a:t>
            </a:r>
            <a:endParaRPr sz="2700">
              <a:latin typeface="Carlito"/>
              <a:cs typeface="Carlito"/>
            </a:endParaRPr>
          </a:p>
          <a:p>
            <a:pPr marL="12700" marR="80645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700" spc="-5" dirty="0">
                <a:latin typeface="Carlito"/>
                <a:cs typeface="Carlito"/>
              </a:rPr>
              <a:t>Click </a:t>
            </a:r>
            <a:r>
              <a:rPr sz="2700" b="1" spc="-20" dirty="0">
                <a:latin typeface="Carlito"/>
                <a:cs typeface="Carlito"/>
              </a:rPr>
              <a:t>Save</a:t>
            </a:r>
            <a:r>
              <a:rPr sz="2700" spc="-20" dirty="0">
                <a:latin typeface="Carlito"/>
                <a:cs typeface="Carlito"/>
              </a:rPr>
              <a:t>. </a:t>
            </a:r>
            <a:r>
              <a:rPr sz="2700" spc="-55" dirty="0">
                <a:latin typeface="Carlito"/>
                <a:cs typeface="Carlito"/>
              </a:rPr>
              <a:t>Your </a:t>
            </a:r>
            <a:r>
              <a:rPr sz="2700" spc="-5" dirty="0">
                <a:latin typeface="Carlito"/>
                <a:cs typeface="Carlito"/>
              </a:rPr>
              <a:t>file 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5" dirty="0">
                <a:latin typeface="Carlito"/>
                <a:cs typeface="Carlito"/>
              </a:rPr>
              <a:t>now </a:t>
            </a:r>
            <a:r>
              <a:rPr sz="2700" spc="-15" dirty="0">
                <a:latin typeface="Carlito"/>
                <a:cs typeface="Carlito"/>
              </a:rPr>
              <a:t>saved to </a:t>
            </a:r>
            <a:r>
              <a:rPr sz="2700" spc="-10" dirty="0">
                <a:latin typeface="Carlito"/>
                <a:cs typeface="Carlito"/>
              </a:rPr>
              <a:t>the  desktop.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3463" y="5315508"/>
            <a:ext cx="24758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latin typeface="Carlito"/>
                <a:cs typeface="Carlito"/>
              </a:rPr>
              <a:t>The </a:t>
            </a:r>
            <a:r>
              <a:rPr sz="2100" spc="-20" dirty="0">
                <a:latin typeface="Carlito"/>
                <a:cs typeface="Carlito"/>
              </a:rPr>
              <a:t>Save </a:t>
            </a:r>
            <a:r>
              <a:rPr sz="2100" dirty="0">
                <a:latin typeface="Carlito"/>
                <a:cs typeface="Carlito"/>
              </a:rPr>
              <a:t>As </a:t>
            </a:r>
            <a:r>
              <a:rPr sz="2100" spc="-5" dirty="0">
                <a:latin typeface="Carlito"/>
                <a:cs typeface="Carlito"/>
              </a:rPr>
              <a:t>dialog</a:t>
            </a:r>
            <a:r>
              <a:rPr sz="2100" spc="-15" dirty="0">
                <a:latin typeface="Carlito"/>
                <a:cs typeface="Carlito"/>
              </a:rPr>
              <a:t> box</a:t>
            </a:r>
            <a:endParaRPr sz="21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925" y="1060831"/>
            <a:ext cx="821182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rlito"/>
                <a:cs typeface="Carlito"/>
              </a:rPr>
              <a:t>Once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20" dirty="0">
                <a:latin typeface="Carlito"/>
                <a:cs typeface="Carlito"/>
              </a:rPr>
              <a:t>have </a:t>
            </a:r>
            <a:r>
              <a:rPr sz="2000" spc="-10" dirty="0">
                <a:latin typeface="Carlito"/>
                <a:cs typeface="Carlito"/>
              </a:rPr>
              <a:t>created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file,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5" dirty="0">
                <a:latin typeface="Carlito"/>
                <a:cs typeface="Carlito"/>
              </a:rPr>
              <a:t>can rename it </a:t>
            </a:r>
            <a:r>
              <a:rPr sz="2000" dirty="0">
                <a:latin typeface="Carlito"/>
                <a:cs typeface="Carlito"/>
              </a:rPr>
              <a:t>if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dirty="0">
                <a:latin typeface="Carlito"/>
                <a:cs typeface="Carlito"/>
              </a:rPr>
              <a:t>think </a:t>
            </a:r>
            <a:r>
              <a:rPr sz="2000" spc="-5" dirty="0">
                <a:latin typeface="Carlito"/>
                <a:cs typeface="Carlito"/>
              </a:rPr>
              <a:t>that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current </a:t>
            </a:r>
            <a:r>
              <a:rPr sz="2000" spc="-5" dirty="0">
                <a:latin typeface="Carlito"/>
                <a:cs typeface="Carlito"/>
              </a:rPr>
              <a:t>file  name does not help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easily identify what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file </a:t>
            </a:r>
            <a:r>
              <a:rPr sz="2000" dirty="0">
                <a:latin typeface="Carlito"/>
                <a:cs typeface="Carlito"/>
              </a:rPr>
              <a:t>is all</a:t>
            </a:r>
            <a:r>
              <a:rPr sz="2000" spc="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about.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6925" y="1676780"/>
            <a:ext cx="23317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20" dirty="0"/>
              <a:t>To </a:t>
            </a:r>
            <a:r>
              <a:rPr sz="2700" spc="-10" dirty="0"/>
              <a:t>rename </a:t>
            </a:r>
            <a:r>
              <a:rPr sz="2700" dirty="0"/>
              <a:t>a</a:t>
            </a:r>
            <a:r>
              <a:rPr sz="2700" spc="15" dirty="0"/>
              <a:t> </a:t>
            </a:r>
            <a:r>
              <a:rPr sz="2700" dirty="0"/>
              <a:t>file,</a:t>
            </a:r>
            <a:endParaRPr sz="27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91075" y="2227833"/>
            <a:ext cx="1094740" cy="1701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565"/>
              </a:lnSpc>
            </a:pPr>
            <a:r>
              <a:rPr sz="2700" dirty="0">
                <a:latin typeface="Carlito"/>
                <a:cs typeface="Carlito"/>
              </a:rPr>
              <a:t>a</a:t>
            </a:r>
            <a:r>
              <a:rPr sz="2700" spc="-95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folder</a:t>
            </a:r>
            <a:endParaRPr sz="27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7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r>
              <a:rPr sz="2700" dirty="0">
                <a:latin typeface="Carlito"/>
                <a:cs typeface="Carlito"/>
              </a:rPr>
              <a:t>o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be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925" y="2088602"/>
            <a:ext cx="6910705" cy="31121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927100" indent="-915035">
              <a:lnSpc>
                <a:spcPct val="100000"/>
              </a:lnSpc>
              <a:spcBef>
                <a:spcPts val="420"/>
              </a:spcBef>
              <a:buChar char="•"/>
              <a:tabLst>
                <a:tab pos="927100" algn="l"/>
                <a:tab pos="927735" algn="l"/>
              </a:tabLst>
            </a:pPr>
            <a:r>
              <a:rPr sz="2700" spc="-15" dirty="0">
                <a:latin typeface="Carlito"/>
                <a:cs typeface="Carlito"/>
              </a:rPr>
              <a:t>Locate your </a:t>
            </a:r>
            <a:r>
              <a:rPr sz="2700" spc="-5" dirty="0">
                <a:latin typeface="Carlito"/>
                <a:cs typeface="Carlito"/>
              </a:rPr>
              <a:t>file </a:t>
            </a:r>
            <a:r>
              <a:rPr sz="2700" dirty="0">
                <a:latin typeface="Carlito"/>
                <a:cs typeface="Carlito"/>
              </a:rPr>
              <a:t>either </a:t>
            </a:r>
            <a:r>
              <a:rPr sz="2700" spc="-5" dirty="0">
                <a:latin typeface="Carlito"/>
                <a:cs typeface="Carlito"/>
              </a:rPr>
              <a:t>on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desktop </a:t>
            </a:r>
            <a:r>
              <a:rPr sz="2700" spc="-5" dirty="0">
                <a:latin typeface="Carlito"/>
                <a:cs typeface="Carlito"/>
              </a:rPr>
              <a:t>or</a:t>
            </a:r>
            <a:r>
              <a:rPr sz="2700" spc="-11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in</a:t>
            </a:r>
            <a:endParaRPr sz="2700">
              <a:latin typeface="Carlito"/>
              <a:cs typeface="Carlito"/>
            </a:endParaRPr>
          </a:p>
          <a:p>
            <a:pPr marL="927100" indent="-915035">
              <a:lnSpc>
                <a:spcPct val="100000"/>
              </a:lnSpc>
              <a:spcBef>
                <a:spcPts val="325"/>
              </a:spcBef>
              <a:buFont typeface="Carlito"/>
              <a:buChar char="•"/>
              <a:tabLst>
                <a:tab pos="927100" algn="l"/>
                <a:tab pos="927735" algn="l"/>
              </a:tabLst>
            </a:pPr>
            <a:r>
              <a:rPr sz="2700" b="1" spc="-5" dirty="0">
                <a:latin typeface="Carlito"/>
                <a:cs typeface="Carlito"/>
              </a:rPr>
              <a:t>Right-click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file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icon.</a:t>
            </a:r>
            <a:endParaRPr sz="2700">
              <a:latin typeface="Carlito"/>
              <a:cs typeface="Carlito"/>
            </a:endParaRPr>
          </a:p>
          <a:p>
            <a:pPr marL="927100" indent="-915035">
              <a:lnSpc>
                <a:spcPct val="100000"/>
              </a:lnSpc>
              <a:spcBef>
                <a:spcPts val="325"/>
              </a:spcBef>
              <a:buChar char="•"/>
              <a:tabLst>
                <a:tab pos="927100" algn="l"/>
                <a:tab pos="927735" algn="l"/>
              </a:tabLst>
            </a:pPr>
            <a:r>
              <a:rPr sz="2700" spc="-5" dirty="0">
                <a:latin typeface="Carlito"/>
                <a:cs typeface="Carlito"/>
              </a:rPr>
              <a:t>Choose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b="1" spc="-10" dirty="0">
                <a:latin typeface="Carlito"/>
                <a:cs typeface="Carlito"/>
              </a:rPr>
              <a:t>Rename</a:t>
            </a:r>
            <a:r>
              <a:rPr sz="2700" spc="-10" dirty="0">
                <a:latin typeface="Carlito"/>
                <a:cs typeface="Carlito"/>
              </a:rPr>
              <a:t>.</a:t>
            </a:r>
            <a:endParaRPr sz="2700">
              <a:latin typeface="Carlito"/>
              <a:cs typeface="Carlito"/>
            </a:endParaRPr>
          </a:p>
          <a:p>
            <a:pPr marL="12700" marR="5080">
              <a:lnSpc>
                <a:spcPts val="2920"/>
              </a:lnSpc>
              <a:spcBef>
                <a:spcPts val="690"/>
              </a:spcBef>
              <a:buChar char="•"/>
              <a:tabLst>
                <a:tab pos="927100" algn="l"/>
                <a:tab pos="927735" algn="l"/>
              </a:tabLst>
            </a:pPr>
            <a:r>
              <a:rPr sz="2700" spc="-5" dirty="0">
                <a:latin typeface="Carlito"/>
                <a:cs typeface="Carlito"/>
              </a:rPr>
              <a:t>The filename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b="1" spc="-10" dirty="0">
                <a:latin typeface="Carlito"/>
                <a:cs typeface="Carlito"/>
              </a:rPr>
              <a:t>highlighted </a:t>
            </a:r>
            <a:r>
              <a:rPr sz="2700" b="1" dirty="0">
                <a:latin typeface="Carlito"/>
                <a:cs typeface="Carlito"/>
              </a:rPr>
              <a:t>in blue</a:t>
            </a:r>
            <a:r>
              <a:rPr sz="2700" dirty="0">
                <a:latin typeface="Carlito"/>
                <a:cs typeface="Carlito"/>
              </a:rPr>
              <a:t>, </a:t>
            </a:r>
            <a:r>
              <a:rPr sz="2700" spc="-10" dirty="0">
                <a:latin typeface="Carlito"/>
                <a:cs typeface="Carlito"/>
              </a:rPr>
              <a:t>ready </a:t>
            </a:r>
            <a:r>
              <a:rPr sz="2700" dirty="0">
                <a:latin typeface="Carlito"/>
                <a:cs typeface="Carlito"/>
              </a:rPr>
              <a:t>t  </a:t>
            </a:r>
            <a:r>
              <a:rPr sz="2700" spc="-10" dirty="0">
                <a:latin typeface="Carlito"/>
                <a:cs typeface="Carlito"/>
              </a:rPr>
              <a:t>retyped.</a:t>
            </a:r>
            <a:endParaRPr sz="2700">
              <a:latin typeface="Carlito"/>
              <a:cs typeface="Carlito"/>
            </a:endParaRPr>
          </a:p>
          <a:p>
            <a:pPr marL="927100" indent="-915035">
              <a:lnSpc>
                <a:spcPct val="100000"/>
              </a:lnSpc>
              <a:spcBef>
                <a:spcPts val="275"/>
              </a:spcBef>
              <a:buChar char="•"/>
              <a:tabLst>
                <a:tab pos="927100" algn="l"/>
                <a:tab pos="927735" algn="l"/>
              </a:tabLst>
            </a:pPr>
            <a:r>
              <a:rPr sz="2700" spc="-30" dirty="0">
                <a:latin typeface="Carlito"/>
                <a:cs typeface="Carlito"/>
              </a:rPr>
              <a:t>Type </a:t>
            </a:r>
            <a:r>
              <a:rPr sz="2700" b="1" dirty="0">
                <a:latin typeface="Carlito"/>
                <a:cs typeface="Carlito"/>
              </a:rPr>
              <a:t>a </a:t>
            </a:r>
            <a:r>
              <a:rPr sz="2700" b="1" spc="-5" dirty="0">
                <a:latin typeface="Carlito"/>
                <a:cs typeface="Carlito"/>
              </a:rPr>
              <a:t>new </a:t>
            </a:r>
            <a:r>
              <a:rPr sz="2700" b="1" dirty="0">
                <a:latin typeface="Carlito"/>
                <a:cs typeface="Carlito"/>
              </a:rPr>
              <a:t>name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0" dirty="0">
                <a:latin typeface="Carlito"/>
                <a:cs typeface="Carlito"/>
              </a:rPr>
              <a:t>press</a:t>
            </a:r>
            <a:r>
              <a:rPr sz="2700" spc="-45" dirty="0">
                <a:latin typeface="Carlito"/>
                <a:cs typeface="Carlito"/>
              </a:rPr>
              <a:t> </a:t>
            </a:r>
            <a:r>
              <a:rPr sz="2700" spc="-60" dirty="0">
                <a:latin typeface="Carlito"/>
                <a:cs typeface="Carlito"/>
              </a:rPr>
              <a:t>Enter.</a:t>
            </a:r>
            <a:endParaRPr sz="2700">
              <a:latin typeface="Carlito"/>
              <a:cs typeface="Carlito"/>
            </a:endParaRPr>
          </a:p>
          <a:p>
            <a:pPr marL="927100" indent="-915035">
              <a:lnSpc>
                <a:spcPct val="100000"/>
              </a:lnSpc>
              <a:spcBef>
                <a:spcPts val="325"/>
              </a:spcBef>
              <a:buChar char="•"/>
              <a:tabLst>
                <a:tab pos="927100" algn="l"/>
                <a:tab pos="927735" algn="l"/>
              </a:tabLst>
            </a:pPr>
            <a:r>
              <a:rPr sz="2700" spc="-5" dirty="0">
                <a:latin typeface="Carlito"/>
                <a:cs typeface="Carlito"/>
              </a:rPr>
              <a:t>The file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b="1" spc="-10" dirty="0">
                <a:latin typeface="Carlito"/>
                <a:cs typeface="Carlito"/>
              </a:rPr>
              <a:t>renamed</a:t>
            </a:r>
            <a:r>
              <a:rPr sz="2700" spc="-10" dirty="0">
                <a:latin typeface="Carlito"/>
                <a:cs typeface="Carlito"/>
              </a:rPr>
              <a:t>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76159" y="2212848"/>
            <a:ext cx="1472183" cy="3110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976845"/>
            <a:ext cx="7684134" cy="391731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OR</a:t>
            </a:r>
            <a:endParaRPr sz="3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Carlito"/>
                <a:cs typeface="Carlito"/>
              </a:rPr>
              <a:t>Locate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dirty="0">
                <a:latin typeface="Carlito"/>
                <a:cs typeface="Carlito"/>
              </a:rPr>
              <a:t>either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desktop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in a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folder</a:t>
            </a:r>
            <a:endParaRPr sz="24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  <a:tab pos="3226435" algn="l"/>
              </a:tabLst>
            </a:pPr>
            <a:r>
              <a:rPr sz="2400" spc="-5" dirty="0">
                <a:latin typeface="Carlito"/>
                <a:cs typeface="Carlito"/>
              </a:rPr>
              <a:t>Click slowly on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file	name </a:t>
            </a:r>
            <a:r>
              <a:rPr sz="2400" dirty="0">
                <a:latin typeface="Carlito"/>
                <a:cs typeface="Carlito"/>
              </a:rPr>
              <a:t>twice </a:t>
            </a:r>
            <a:r>
              <a:rPr sz="2400" spc="-5" dirty="0">
                <a:latin typeface="Carlito"/>
                <a:cs typeface="Carlito"/>
              </a:rPr>
              <a:t>(not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1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icon)</a:t>
            </a:r>
            <a:endParaRPr sz="2400">
              <a:latin typeface="Carlito"/>
              <a:cs typeface="Carlito"/>
            </a:endParaRPr>
          </a:p>
          <a:p>
            <a:pPr marL="355600" marR="2032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current </a:t>
            </a:r>
            <a:r>
              <a:rPr sz="2400" spc="-5" dirty="0">
                <a:latin typeface="Carlito"/>
                <a:cs typeface="Carlito"/>
              </a:rPr>
              <a:t>file name </a:t>
            </a: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5" dirty="0">
                <a:latin typeface="Carlito"/>
                <a:cs typeface="Carlito"/>
              </a:rPr>
              <a:t>be selected. </a:t>
            </a:r>
            <a:r>
              <a:rPr sz="2400" dirty="0">
                <a:latin typeface="Carlito"/>
                <a:cs typeface="Carlito"/>
              </a:rPr>
              <a:t>It will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white  </a:t>
            </a:r>
            <a:r>
              <a:rPr sz="2400" spc="-10" dirty="0">
                <a:latin typeface="Carlito"/>
                <a:cs typeface="Carlito"/>
              </a:rPr>
              <a:t>rectangle </a:t>
            </a:r>
            <a:r>
              <a:rPr sz="2400" dirty="0">
                <a:latin typeface="Carlito"/>
                <a:cs typeface="Carlito"/>
              </a:rPr>
              <a:t>and the </a:t>
            </a:r>
            <a:r>
              <a:rPr sz="2400" spc="-5" dirty="0">
                <a:latin typeface="Carlito"/>
                <a:cs typeface="Carlito"/>
              </a:rPr>
              <a:t>filename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blue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background.</a:t>
            </a:r>
            <a:endParaRPr sz="24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cursor </a:t>
            </a:r>
            <a:r>
              <a:rPr sz="2400" spc="-30" dirty="0">
                <a:latin typeface="Carlito"/>
                <a:cs typeface="Carlito"/>
              </a:rPr>
              <a:t>keys </a:t>
            </a:r>
            <a:r>
              <a:rPr sz="2400" spc="-15" dirty="0">
                <a:latin typeface="Carlito"/>
                <a:cs typeface="Carlito"/>
              </a:rPr>
              <a:t>to move </a:t>
            </a:r>
            <a:r>
              <a:rPr sz="2400" spc="-10" dirty="0">
                <a:latin typeface="Carlito"/>
                <a:cs typeface="Carlito"/>
              </a:rPr>
              <a:t>around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effect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change or  simply </a:t>
            </a:r>
            <a:r>
              <a:rPr sz="2400" dirty="0">
                <a:latin typeface="Carlito"/>
                <a:cs typeface="Carlito"/>
              </a:rPr>
              <a:t>type the </a:t>
            </a:r>
            <a:r>
              <a:rPr sz="2400" spc="-5" dirty="0">
                <a:latin typeface="Carlito"/>
                <a:cs typeface="Carlito"/>
              </a:rPr>
              <a:t>new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name.</a:t>
            </a:r>
            <a:endParaRPr sz="2400">
              <a:latin typeface="Carlito"/>
              <a:cs typeface="Carlito"/>
            </a:endParaRPr>
          </a:p>
          <a:p>
            <a:pPr marL="355600" marR="26797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Click </a:t>
            </a:r>
            <a:r>
              <a:rPr sz="2400" spc="-10" dirty="0">
                <a:latin typeface="Carlito"/>
                <a:cs typeface="Carlito"/>
              </a:rPr>
              <a:t>anywhere </a:t>
            </a:r>
            <a:r>
              <a:rPr sz="2400" spc="-5" dirty="0">
                <a:latin typeface="Carlito"/>
                <a:cs typeface="Carlito"/>
              </a:rPr>
              <a:t>outside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name </a:t>
            </a:r>
            <a:r>
              <a:rPr sz="2400" spc="-10" dirty="0">
                <a:latin typeface="Carlito"/>
                <a:cs typeface="Carlito"/>
              </a:rPr>
              <a:t>rectangle </a:t>
            </a:r>
            <a:r>
              <a:rPr sz="2400" spc="-20" dirty="0">
                <a:latin typeface="Carlito"/>
                <a:cs typeface="Carlito"/>
              </a:rPr>
              <a:t>box </a:t>
            </a:r>
            <a:r>
              <a:rPr sz="2400" dirty="0">
                <a:latin typeface="Carlito"/>
                <a:cs typeface="Carlito"/>
              </a:rPr>
              <a:t>when  </a:t>
            </a:r>
            <a:r>
              <a:rPr sz="2400" spc="-5" dirty="0">
                <a:latin typeface="Carlito"/>
                <a:cs typeface="Carlito"/>
              </a:rPr>
              <a:t>done.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1030350"/>
            <a:ext cx="17513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delete 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8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file: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365630"/>
            <a:ext cx="16446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1916" y="1365630"/>
            <a:ext cx="264858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Carlito"/>
                <a:cs typeface="Carlito"/>
              </a:rPr>
              <a:t>Locate </a:t>
            </a:r>
            <a:r>
              <a:rPr sz="2200" spc="-10" dirty="0">
                <a:latin typeface="Carlito"/>
                <a:cs typeface="Carlito"/>
              </a:rPr>
              <a:t>your</a:t>
            </a:r>
            <a:r>
              <a:rPr sz="2200" spc="-2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file</a:t>
            </a:r>
            <a:endParaRPr sz="220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Right-click </a:t>
            </a:r>
            <a:r>
              <a:rPr sz="2200" spc="-5" dirty="0">
                <a:latin typeface="Carlito"/>
                <a:cs typeface="Carlito"/>
              </a:rPr>
              <a:t>the file </a:t>
            </a:r>
            <a:r>
              <a:rPr sz="2200" spc="-10" dirty="0">
                <a:latin typeface="Carlito"/>
                <a:cs typeface="Carlito"/>
              </a:rPr>
              <a:t>icon.  </a:t>
            </a:r>
            <a:r>
              <a:rPr sz="2200" spc="-5" dirty="0">
                <a:latin typeface="Carlito"/>
                <a:cs typeface="Carlito"/>
              </a:rPr>
              <a:t>Choose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Delete.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42" y="2371724"/>
            <a:ext cx="747268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6465" indent="-914400">
              <a:lnSpc>
                <a:spcPts val="2375"/>
              </a:lnSpc>
              <a:spcBef>
                <a:spcPts val="95"/>
              </a:spcBef>
              <a:buChar char="•"/>
              <a:tabLst>
                <a:tab pos="926465" algn="l"/>
                <a:tab pos="927100" algn="l"/>
              </a:tabLst>
            </a:pP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Confirm File </a:t>
            </a:r>
            <a:r>
              <a:rPr sz="2200" spc="-15" dirty="0">
                <a:latin typeface="Carlito"/>
                <a:cs typeface="Carlito"/>
              </a:rPr>
              <a:t>Delete </a:t>
            </a:r>
            <a:r>
              <a:rPr sz="2200" spc="-5" dirty="0">
                <a:latin typeface="Carlito"/>
                <a:cs typeface="Carlito"/>
              </a:rPr>
              <a:t>dialog </a:t>
            </a:r>
            <a:r>
              <a:rPr sz="2200" spc="-20" dirty="0">
                <a:latin typeface="Carlito"/>
                <a:cs typeface="Carlito"/>
              </a:rPr>
              <a:t>box </a:t>
            </a:r>
            <a:r>
              <a:rPr sz="2200" spc="-10" dirty="0">
                <a:latin typeface="Carlito"/>
                <a:cs typeface="Carlito"/>
              </a:rPr>
              <a:t>appears </a:t>
            </a:r>
            <a:r>
              <a:rPr sz="2200" spc="-5" dirty="0">
                <a:latin typeface="Carlito"/>
                <a:cs typeface="Carlito"/>
              </a:rPr>
              <a:t>asking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5" dirty="0">
                <a:latin typeface="Carlito"/>
                <a:cs typeface="Carlito"/>
              </a:rPr>
              <a:t>if</a:t>
            </a:r>
            <a:r>
              <a:rPr sz="2200" spc="13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you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375"/>
              </a:lnSpc>
            </a:pPr>
            <a:r>
              <a:rPr sz="2200" spc="-10" dirty="0">
                <a:latin typeface="Carlito"/>
                <a:cs typeface="Carlito"/>
              </a:rPr>
              <a:t>are sure </a:t>
            </a:r>
            <a:r>
              <a:rPr sz="2200" spc="-15" dirty="0">
                <a:latin typeface="Carlito"/>
                <a:cs typeface="Carlito"/>
              </a:rPr>
              <a:t>you want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send the file </a:t>
            </a:r>
            <a:r>
              <a:rPr sz="2200" spc="-15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Recycle</a:t>
            </a:r>
            <a:r>
              <a:rPr sz="2200" spc="11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Bin.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242" y="2975610"/>
            <a:ext cx="1390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1916" y="2975610"/>
            <a:ext cx="40233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Choose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45" dirty="0">
                <a:latin typeface="Carlito"/>
                <a:cs typeface="Carlito"/>
              </a:rPr>
              <a:t>Yes.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5" dirty="0">
                <a:latin typeface="Carlito"/>
                <a:cs typeface="Carlito"/>
              </a:rPr>
              <a:t>file is </a:t>
            </a:r>
            <a:r>
              <a:rPr sz="2200" spc="-15" dirty="0">
                <a:latin typeface="Carlito"/>
                <a:cs typeface="Carlito"/>
              </a:rPr>
              <a:t>moved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Recycle</a:t>
            </a:r>
            <a:r>
              <a:rPr sz="2200" spc="9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Bin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0242" y="3646170"/>
            <a:ext cx="3359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rlito"/>
                <a:cs typeface="Carlito"/>
              </a:rPr>
              <a:t>OR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242" y="3981145"/>
            <a:ext cx="1390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1916" y="3981145"/>
            <a:ext cx="66789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Carlito"/>
                <a:cs typeface="Carlito"/>
              </a:rPr>
              <a:t>Locate </a:t>
            </a:r>
            <a:r>
              <a:rPr sz="2200" spc="-10" dirty="0">
                <a:latin typeface="Carlito"/>
                <a:cs typeface="Carlito"/>
              </a:rPr>
              <a:t>your </a:t>
            </a:r>
            <a:r>
              <a:rPr sz="2200" spc="-5" dirty="0">
                <a:latin typeface="Carlito"/>
                <a:cs typeface="Carlito"/>
              </a:rPr>
              <a:t>file and </a:t>
            </a:r>
            <a:r>
              <a:rPr sz="2200" spc="-10" dirty="0">
                <a:latin typeface="Carlito"/>
                <a:cs typeface="Carlito"/>
              </a:rPr>
              <a:t>click </a:t>
            </a:r>
            <a:r>
              <a:rPr sz="2200" spc="-5" dirty="0">
                <a:latin typeface="Carlito"/>
                <a:cs typeface="Carlito"/>
              </a:rPr>
              <a:t>the file </a:t>
            </a:r>
            <a:r>
              <a:rPr sz="2200" spc="-10" dirty="0">
                <a:latin typeface="Carlito"/>
                <a:cs typeface="Carlito"/>
              </a:rPr>
              <a:t>icon </a:t>
            </a:r>
            <a:r>
              <a:rPr sz="2200" spc="-5" dirty="0">
                <a:latin typeface="Carlito"/>
                <a:cs typeface="Carlito"/>
              </a:rPr>
              <a:t>or the file name</a:t>
            </a:r>
            <a:r>
              <a:rPr sz="2200" spc="8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once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542" y="4316984"/>
            <a:ext cx="7553959" cy="6286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625"/>
              </a:spcBef>
              <a:buChar char="•"/>
              <a:tabLst>
                <a:tab pos="926465" algn="l"/>
                <a:tab pos="927100" algn="l"/>
              </a:tabLst>
            </a:pPr>
            <a:r>
              <a:rPr sz="2200" spc="-10" dirty="0">
                <a:latin typeface="Carlito"/>
                <a:cs typeface="Carlito"/>
              </a:rPr>
              <a:t>Press the </a:t>
            </a:r>
            <a:r>
              <a:rPr sz="2200" spc="-15" dirty="0">
                <a:latin typeface="Carlito"/>
                <a:cs typeface="Carlito"/>
              </a:rPr>
              <a:t>delete </a:t>
            </a:r>
            <a:r>
              <a:rPr sz="2200" spc="-35" dirty="0">
                <a:latin typeface="Carlito"/>
                <a:cs typeface="Carlito"/>
              </a:rPr>
              <a:t>key </a:t>
            </a:r>
            <a:r>
              <a:rPr sz="2200" spc="-5" dirty="0">
                <a:latin typeface="Carlito"/>
                <a:cs typeface="Carlito"/>
              </a:rPr>
              <a:t>on </a:t>
            </a:r>
            <a:r>
              <a:rPr sz="2200" spc="-10" dirty="0">
                <a:latin typeface="Carlito"/>
                <a:cs typeface="Carlito"/>
              </a:rPr>
              <a:t>your </a:t>
            </a:r>
            <a:r>
              <a:rPr sz="2200" spc="-15" dirty="0">
                <a:latin typeface="Carlito"/>
                <a:cs typeface="Carlito"/>
              </a:rPr>
              <a:t>keyboard. </a:t>
            </a:r>
            <a:r>
              <a:rPr sz="2200" spc="-65" dirty="0">
                <a:latin typeface="Carlito"/>
                <a:cs typeface="Carlito"/>
              </a:rPr>
              <a:t>You </a:t>
            </a:r>
            <a:r>
              <a:rPr sz="2200" spc="-5" dirty="0">
                <a:latin typeface="Carlito"/>
                <a:cs typeface="Carlito"/>
              </a:rPr>
              <a:t>will also </a:t>
            </a:r>
            <a:r>
              <a:rPr sz="2200" spc="-10" dirty="0">
                <a:latin typeface="Carlito"/>
                <a:cs typeface="Carlito"/>
              </a:rPr>
              <a:t>obtain 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confirm </a:t>
            </a:r>
            <a:r>
              <a:rPr sz="2200" spc="-5" dirty="0">
                <a:latin typeface="Carlito"/>
                <a:cs typeface="Carlito"/>
              </a:rPr>
              <a:t>file </a:t>
            </a:r>
            <a:r>
              <a:rPr sz="2200" spc="-15" dirty="0">
                <a:latin typeface="Carlito"/>
                <a:cs typeface="Carlito"/>
              </a:rPr>
              <a:t>delete </a:t>
            </a:r>
            <a:r>
              <a:rPr sz="2200" spc="-20" dirty="0">
                <a:latin typeface="Carlito"/>
                <a:cs typeface="Carlito"/>
              </a:rPr>
              <a:t>box </a:t>
            </a:r>
            <a:r>
              <a:rPr sz="2200" dirty="0">
                <a:latin typeface="Carlito"/>
                <a:cs typeface="Carlito"/>
              </a:rPr>
              <a:t>as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above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50891" y="1074419"/>
            <a:ext cx="4047744" cy="1472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663065"/>
            <a:ext cx="11734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35" dirty="0">
                <a:latin typeface="Carlito"/>
                <a:cs typeface="Carlito"/>
              </a:rPr>
              <a:t>F</a:t>
            </a:r>
            <a:r>
              <a:rPr sz="3000" b="1" dirty="0">
                <a:latin typeface="Carlito"/>
                <a:cs typeface="Carlito"/>
              </a:rPr>
              <a:t>o</a:t>
            </a:r>
            <a:r>
              <a:rPr sz="3000" b="1" spc="-15" dirty="0">
                <a:latin typeface="Carlito"/>
                <a:cs typeface="Carlito"/>
              </a:rPr>
              <a:t>l</a:t>
            </a:r>
            <a:r>
              <a:rPr sz="3000" b="1" dirty="0">
                <a:latin typeface="Carlito"/>
                <a:cs typeface="Carlito"/>
              </a:rPr>
              <a:t>de</a:t>
            </a:r>
            <a:r>
              <a:rPr sz="3000" b="1" spc="-35" dirty="0">
                <a:latin typeface="Carlito"/>
                <a:cs typeface="Carlito"/>
              </a:rPr>
              <a:t>r</a:t>
            </a:r>
            <a:r>
              <a:rPr sz="3000" b="1" dirty="0">
                <a:latin typeface="Carlito"/>
                <a:cs typeface="Carlito"/>
              </a:rPr>
              <a:t>s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2197989"/>
            <a:ext cx="7531734" cy="302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19075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just </a:t>
            </a:r>
            <a:r>
              <a:rPr sz="2400" spc="-20" dirty="0">
                <a:latin typeface="Carlito"/>
                <a:cs typeface="Carlito"/>
              </a:rPr>
              <a:t>like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file cabinet. </a:t>
            </a: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15" dirty="0">
                <a:latin typeface="Carlito"/>
                <a:cs typeface="Carlito"/>
              </a:rPr>
              <a:t>create many 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dirty="0">
                <a:latin typeface="Carlito"/>
                <a:cs typeface="Carlito"/>
              </a:rPr>
              <a:t>its </a:t>
            </a:r>
            <a:r>
              <a:rPr sz="2400" spc="-10" dirty="0">
                <a:latin typeface="Carlito"/>
                <a:cs typeface="Carlito"/>
              </a:rPr>
              <a:t>difficult at </a:t>
            </a:r>
            <a:r>
              <a:rPr sz="2400" dirty="0">
                <a:latin typeface="Carlito"/>
                <a:cs typeface="Carlito"/>
              </a:rPr>
              <a:t>times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find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scan  through </a:t>
            </a:r>
            <a:r>
              <a:rPr sz="2400" dirty="0">
                <a:latin typeface="Carlito"/>
                <a:cs typeface="Carlito"/>
              </a:rPr>
              <a:t>all the </a:t>
            </a:r>
            <a:r>
              <a:rPr sz="2400" spc="-5" dirty="0">
                <a:latin typeface="Carlito"/>
                <a:cs typeface="Carlito"/>
              </a:rPr>
              <a:t>files. </a:t>
            </a:r>
            <a:r>
              <a:rPr sz="2400" spc="-114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keep </a:t>
            </a:r>
            <a:r>
              <a:rPr sz="2400" spc="-10" dirty="0">
                <a:latin typeface="Carlito"/>
                <a:cs typeface="Carlito"/>
              </a:rPr>
              <a:t>your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organized, create  </a:t>
            </a:r>
            <a:r>
              <a:rPr sz="2400" spc="-5" dirty="0">
                <a:latin typeface="Carlito"/>
                <a:cs typeface="Carlito"/>
              </a:rPr>
              <a:t>need </a:t>
            </a:r>
            <a:r>
              <a:rPr sz="2400" spc="-15" dirty="0">
                <a:latin typeface="Carlito"/>
                <a:cs typeface="Carlito"/>
              </a:rPr>
              <a:t>to create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folders</a:t>
            </a:r>
            <a:r>
              <a:rPr sz="2400" spc="-10" dirty="0">
                <a:latin typeface="Carlito"/>
                <a:cs typeface="Carlito"/>
              </a:rPr>
              <a:t>.</a:t>
            </a:r>
            <a:endParaRPr sz="24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7 </a:t>
            </a: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spc="-10" dirty="0">
                <a:latin typeface="Carlito"/>
                <a:cs typeface="Carlito"/>
              </a:rPr>
              <a:t>various </a:t>
            </a:r>
            <a:r>
              <a:rPr sz="2400" spc="-20" dirty="0">
                <a:latin typeface="Carlito"/>
                <a:cs typeface="Carlito"/>
              </a:rPr>
              <a:t>folders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manage </a:t>
            </a:r>
            <a:r>
              <a:rPr sz="2400" b="1" spc="-5" dirty="0">
                <a:latin typeface="Carlito"/>
                <a:cs typeface="Carlito"/>
              </a:rPr>
              <a:t>files</a:t>
            </a:r>
            <a:r>
              <a:rPr sz="2400" spc="-5" dirty="0">
                <a:latin typeface="Carlito"/>
                <a:cs typeface="Carlito"/>
              </a:rPr>
              <a:t>.  </a:t>
            </a:r>
            <a:r>
              <a:rPr sz="2400" spc="-10" dirty="0">
                <a:latin typeface="Carlito"/>
                <a:cs typeface="Carlito"/>
              </a:rPr>
              <a:t>Each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dirty="0">
                <a:latin typeface="Carlito"/>
                <a:cs typeface="Carlito"/>
              </a:rPr>
              <a:t>is then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keep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15" dirty="0">
                <a:latin typeface="Carlito"/>
                <a:cs typeface="Carlito"/>
              </a:rPr>
              <a:t>are related </a:t>
            </a:r>
            <a:r>
              <a:rPr sz="2400" spc="-5" dirty="0">
                <a:latin typeface="Carlito"/>
                <a:cs typeface="Carlito"/>
              </a:rPr>
              <a:t>so  </a:t>
            </a:r>
            <a:r>
              <a:rPr sz="2400" spc="-10" dirty="0">
                <a:latin typeface="Carlito"/>
                <a:cs typeface="Carlito"/>
              </a:rPr>
              <a:t>that you can </a:t>
            </a:r>
            <a:r>
              <a:rPr sz="2400" spc="-5" dirty="0">
                <a:latin typeface="Carlito"/>
                <a:cs typeface="Carlito"/>
              </a:rPr>
              <a:t>find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dirty="0">
                <a:latin typeface="Carlito"/>
                <a:cs typeface="Carlito"/>
              </a:rPr>
              <a:t>within a </a:t>
            </a:r>
            <a:r>
              <a:rPr sz="2400" spc="-5" dirty="0">
                <a:latin typeface="Carlito"/>
                <a:cs typeface="Carlito"/>
              </a:rPr>
              <a:t>short </a:t>
            </a:r>
            <a:r>
              <a:rPr sz="2400" dirty="0">
                <a:latin typeface="Carlito"/>
                <a:cs typeface="Carlito"/>
              </a:rPr>
              <a:t>time as </a:t>
            </a:r>
            <a:r>
              <a:rPr sz="2400" spc="-10" dirty="0">
                <a:latin typeface="Carlito"/>
                <a:cs typeface="Carlito"/>
              </a:rPr>
              <a:t>there </a:t>
            </a:r>
            <a:r>
              <a:rPr sz="2400" spc="-15" dirty="0">
                <a:latin typeface="Carlito"/>
                <a:cs typeface="Carlito"/>
              </a:rPr>
              <a:t>may  </a:t>
            </a:r>
            <a:r>
              <a:rPr sz="2400" spc="-5" dirty="0">
                <a:latin typeface="Carlito"/>
                <a:cs typeface="Carlito"/>
              </a:rPr>
              <a:t>not be </a:t>
            </a:r>
            <a:r>
              <a:rPr sz="2400" spc="-10" dirty="0">
                <a:latin typeface="Carlito"/>
                <a:cs typeface="Carlito"/>
              </a:rPr>
              <a:t>too </a:t>
            </a:r>
            <a:r>
              <a:rPr sz="2400" spc="-15" dirty="0">
                <a:latin typeface="Carlito"/>
                <a:cs typeface="Carlito"/>
              </a:rPr>
              <a:t>many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that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45" dirty="0">
                <a:latin typeface="Carlito"/>
                <a:cs typeface="Carlito"/>
              </a:rPr>
              <a:t>folder.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083690"/>
            <a:ext cx="62369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35" dirty="0">
                <a:latin typeface="Carlito"/>
                <a:cs typeface="Carlito"/>
              </a:rPr>
              <a:t>To </a:t>
            </a:r>
            <a:r>
              <a:rPr sz="3000" b="1" spc="-5" dirty="0">
                <a:latin typeface="Carlito"/>
                <a:cs typeface="Carlito"/>
              </a:rPr>
              <a:t>open </a:t>
            </a:r>
            <a:r>
              <a:rPr sz="3000" b="1" dirty="0">
                <a:latin typeface="Carlito"/>
                <a:cs typeface="Carlito"/>
              </a:rPr>
              <a:t>and </a:t>
            </a:r>
            <a:r>
              <a:rPr sz="3000" b="1" spc="-10" dirty="0">
                <a:latin typeface="Carlito"/>
                <a:cs typeface="Carlito"/>
              </a:rPr>
              <a:t>view </a:t>
            </a:r>
            <a:r>
              <a:rPr sz="3000" b="1" dirty="0">
                <a:latin typeface="Carlito"/>
                <a:cs typeface="Carlito"/>
              </a:rPr>
              <a:t>the </a:t>
            </a:r>
            <a:r>
              <a:rPr sz="3000" b="1" spc="-15" dirty="0">
                <a:latin typeface="Carlito"/>
                <a:cs typeface="Carlito"/>
              </a:rPr>
              <a:t>contents </a:t>
            </a:r>
            <a:r>
              <a:rPr sz="3000" b="1" dirty="0">
                <a:latin typeface="Carlito"/>
                <a:cs typeface="Carlito"/>
              </a:rPr>
              <a:t>of a</a:t>
            </a:r>
            <a:r>
              <a:rPr sz="3000" b="1" spc="75" dirty="0">
                <a:latin typeface="Carlito"/>
                <a:cs typeface="Carlito"/>
              </a:rPr>
              <a:t> </a:t>
            </a:r>
            <a:r>
              <a:rPr sz="3000" b="1" spc="-10" dirty="0">
                <a:latin typeface="Carlito"/>
                <a:cs typeface="Carlito"/>
              </a:rPr>
              <a:t>file: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618869"/>
            <a:ext cx="7720965" cy="353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1402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Carlito"/>
                <a:cs typeface="Carlito"/>
              </a:rPr>
              <a:t>Locate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dirty="0">
                <a:latin typeface="Carlito"/>
                <a:cs typeface="Carlito"/>
              </a:rPr>
              <a:t>whose </a:t>
            </a:r>
            <a:r>
              <a:rPr sz="2400" spc="-15" dirty="0">
                <a:latin typeface="Carlito"/>
                <a:cs typeface="Carlito"/>
              </a:rPr>
              <a:t>content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5" dirty="0">
                <a:latin typeface="Carlito"/>
                <a:cs typeface="Carlito"/>
              </a:rPr>
              <a:t>need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35" dirty="0">
                <a:latin typeface="Carlito"/>
                <a:cs typeface="Carlito"/>
              </a:rPr>
              <a:t>view. </a:t>
            </a:r>
            <a:r>
              <a:rPr sz="2400" spc="-5" dirty="0">
                <a:latin typeface="Carlito"/>
                <a:cs typeface="Carlito"/>
              </a:rPr>
              <a:t>Double-  </a:t>
            </a:r>
            <a:r>
              <a:rPr sz="2400" dirty="0">
                <a:latin typeface="Carlito"/>
                <a:cs typeface="Carlito"/>
              </a:rPr>
              <a:t>click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name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view</a:t>
            </a:r>
            <a:endParaRPr sz="2400">
              <a:latin typeface="Carlito"/>
              <a:cs typeface="Carlito"/>
            </a:endParaRPr>
          </a:p>
          <a:p>
            <a:pPr marL="355600" marR="448309" indent="-342900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The application </a:t>
            </a:r>
            <a:r>
              <a:rPr sz="2400" spc="-15" dirty="0">
                <a:latin typeface="Carlito"/>
                <a:cs typeface="Carlito"/>
              </a:rPr>
              <a:t>program </a:t>
            </a:r>
            <a:r>
              <a:rPr sz="2400" spc="-10" dirty="0">
                <a:latin typeface="Carlito"/>
                <a:cs typeface="Carlito"/>
              </a:rPr>
              <a:t>that was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create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 </a:t>
            </a: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20" dirty="0">
                <a:latin typeface="Carlito"/>
                <a:cs typeface="Carlito"/>
              </a:rPr>
              <a:t>first </a:t>
            </a:r>
            <a:r>
              <a:rPr sz="2400" dirty="0">
                <a:latin typeface="Carlito"/>
                <a:cs typeface="Carlito"/>
              </a:rPr>
              <a:t>run and then the </a:t>
            </a:r>
            <a:r>
              <a:rPr sz="2400" spc="-5" dirty="0">
                <a:latin typeface="Carlito"/>
                <a:cs typeface="Carlito"/>
              </a:rPr>
              <a:t>document/file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viewed </a:t>
            </a:r>
            <a:r>
              <a:rPr sz="2400" dirty="0">
                <a:latin typeface="Carlito"/>
                <a:cs typeface="Carlito"/>
              </a:rPr>
              <a:t>is  loaded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35" dirty="0">
                <a:latin typeface="Carlito"/>
                <a:cs typeface="Carlito"/>
              </a:rPr>
              <a:t>view.</a:t>
            </a:r>
            <a:endParaRPr sz="2400">
              <a:latin typeface="Carlito"/>
              <a:cs typeface="Carlito"/>
            </a:endParaRPr>
          </a:p>
          <a:p>
            <a:pPr marL="355600" marR="327660" indent="-3429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b="1" spc="-5" dirty="0">
                <a:latin typeface="Carlito"/>
                <a:cs typeface="Carlito"/>
              </a:rPr>
              <a:t>Right-click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name </a:t>
            </a:r>
            <a:r>
              <a:rPr sz="2400" spc="-10" dirty="0">
                <a:latin typeface="Carlito"/>
                <a:cs typeface="Carlito"/>
              </a:rPr>
              <a:t>after you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dirty="0">
                <a:latin typeface="Carlito"/>
                <a:cs typeface="Carlito"/>
              </a:rPr>
              <a:t>it  and click </a:t>
            </a:r>
            <a:r>
              <a:rPr sz="2400" spc="-5" dirty="0">
                <a:latin typeface="Carlito"/>
                <a:cs typeface="Carlito"/>
              </a:rPr>
              <a:t>on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Open</a:t>
            </a:r>
            <a:endParaRPr sz="24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Locate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file, </a:t>
            </a:r>
            <a:r>
              <a:rPr sz="2400" dirty="0">
                <a:latin typeface="Carlito"/>
                <a:cs typeface="Carlito"/>
              </a:rPr>
              <a:t>click the </a:t>
            </a:r>
            <a:r>
              <a:rPr sz="2400" spc="-5" dirty="0">
                <a:latin typeface="Carlito"/>
                <a:cs typeface="Carlito"/>
              </a:rPr>
              <a:t>name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once </a:t>
            </a:r>
            <a:r>
              <a:rPr sz="2400" dirty="0">
                <a:latin typeface="Carlito"/>
                <a:cs typeface="Carlito"/>
              </a:rPr>
              <a:t>and then  </a:t>
            </a:r>
            <a:r>
              <a:rPr sz="2400" spc="-5" dirty="0">
                <a:latin typeface="Carlito"/>
                <a:cs typeface="Carlito"/>
              </a:rPr>
              <a:t>hit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enter </a:t>
            </a:r>
            <a:r>
              <a:rPr sz="2400" spc="-25" dirty="0">
                <a:latin typeface="Carlito"/>
                <a:cs typeface="Carlito"/>
              </a:rPr>
              <a:t>key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open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it.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080642"/>
            <a:ext cx="388556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-25" dirty="0">
                <a:latin typeface="Carlito"/>
                <a:cs typeface="Carlito"/>
              </a:rPr>
              <a:t>Alternatively, </a:t>
            </a:r>
            <a:r>
              <a:rPr sz="3300" spc="-20" dirty="0"/>
              <a:t>you</a:t>
            </a:r>
            <a:r>
              <a:rPr sz="3300" spc="-15" dirty="0"/>
              <a:t> </a:t>
            </a:r>
            <a:r>
              <a:rPr sz="3300" spc="-20" dirty="0"/>
              <a:t>may</a:t>
            </a:r>
            <a:endParaRPr sz="33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589913"/>
            <a:ext cx="7374255" cy="29889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run the </a:t>
            </a:r>
            <a:r>
              <a:rPr sz="2700" spc="-5" dirty="0">
                <a:latin typeface="Carlito"/>
                <a:cs typeface="Carlito"/>
              </a:rPr>
              <a:t>application </a:t>
            </a:r>
            <a:r>
              <a:rPr sz="2700" spc="-20" dirty="0">
                <a:latin typeface="Carlito"/>
                <a:cs typeface="Carlito"/>
              </a:rPr>
              <a:t>program </a:t>
            </a:r>
            <a:r>
              <a:rPr sz="2700" spc="-5" dirty="0">
                <a:latin typeface="Carlito"/>
                <a:cs typeface="Carlito"/>
              </a:rPr>
              <a:t>used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20" dirty="0">
                <a:latin typeface="Carlito"/>
                <a:cs typeface="Carlito"/>
              </a:rPr>
              <a:t>create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12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file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rlito"/>
                <a:cs typeface="Carlito"/>
              </a:rPr>
              <a:t>go to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file</a:t>
            </a:r>
            <a:r>
              <a:rPr sz="2700" dirty="0">
                <a:latin typeface="Carlito"/>
                <a:cs typeface="Carlito"/>
              </a:rPr>
              <a:t> menu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select</a:t>
            </a:r>
            <a:r>
              <a:rPr sz="2700" spc="-4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open</a:t>
            </a:r>
            <a:endParaRPr sz="2700">
              <a:latin typeface="Carlito"/>
              <a:cs typeface="Carlito"/>
            </a:endParaRPr>
          </a:p>
          <a:p>
            <a:pPr marL="433070" indent="-42100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433070" algn="l"/>
                <a:tab pos="433705" algn="l"/>
              </a:tabLst>
            </a:pPr>
            <a:r>
              <a:rPr sz="2700" spc="-15" dirty="0">
                <a:latin typeface="Carlito"/>
                <a:cs typeface="Carlito"/>
              </a:rPr>
              <a:t>locate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file</a:t>
            </a:r>
            <a:endParaRPr sz="2700">
              <a:latin typeface="Carlito"/>
              <a:cs typeface="Carlito"/>
            </a:endParaRPr>
          </a:p>
          <a:p>
            <a:pPr marL="433070" indent="-421005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433070" algn="l"/>
                <a:tab pos="433705" algn="l"/>
              </a:tabLst>
            </a:pPr>
            <a:r>
              <a:rPr sz="2700" dirty="0">
                <a:latin typeface="Carlito"/>
                <a:cs typeface="Carlito"/>
              </a:rPr>
              <a:t>click the </a:t>
            </a:r>
            <a:r>
              <a:rPr sz="2700" spc="-5" dirty="0">
                <a:latin typeface="Carlito"/>
                <a:cs typeface="Carlito"/>
              </a:rPr>
              <a:t>file</a:t>
            </a:r>
            <a:r>
              <a:rPr sz="2700" spc="-10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name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and then </a:t>
            </a:r>
            <a:r>
              <a:rPr sz="2700" spc="-5" dirty="0">
                <a:latin typeface="Carlito"/>
                <a:cs typeface="Carlito"/>
              </a:rPr>
              <a:t>select</a:t>
            </a:r>
            <a:r>
              <a:rPr sz="2700" spc="-16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OK.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722" y="972298"/>
            <a:ext cx="7511415" cy="14160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565"/>
              </a:spcBef>
            </a:pPr>
            <a:r>
              <a:rPr sz="3300" b="1" spc="-5" dirty="0">
                <a:latin typeface="Carlito"/>
                <a:cs typeface="Carlito"/>
              </a:rPr>
              <a:t>Creating, Renaming, </a:t>
            </a:r>
            <a:r>
              <a:rPr sz="3300" b="1" dirty="0">
                <a:latin typeface="Carlito"/>
                <a:cs typeface="Carlito"/>
              </a:rPr>
              <a:t>and </a:t>
            </a:r>
            <a:r>
              <a:rPr sz="3300" b="1" spc="-10" dirty="0">
                <a:latin typeface="Carlito"/>
                <a:cs typeface="Carlito"/>
              </a:rPr>
              <a:t>Deleting Folders  </a:t>
            </a:r>
            <a:r>
              <a:rPr sz="2700" spc="-40" dirty="0"/>
              <a:t>At </a:t>
            </a:r>
            <a:r>
              <a:rPr sz="2700" dirty="0"/>
              <a:t>some </a:t>
            </a:r>
            <a:r>
              <a:rPr sz="2700" spc="-5" dirty="0"/>
              <a:t>point, </a:t>
            </a:r>
            <a:r>
              <a:rPr sz="2700" spc="-15" dirty="0"/>
              <a:t>you may want to create </a:t>
            </a:r>
            <a:r>
              <a:rPr sz="2700" dirty="0"/>
              <a:t>a </a:t>
            </a:r>
            <a:r>
              <a:rPr sz="2700" spc="-15" dirty="0"/>
              <a:t>folder </a:t>
            </a:r>
            <a:r>
              <a:rPr sz="2700" dirty="0"/>
              <a:t>within  a </a:t>
            </a:r>
            <a:r>
              <a:rPr sz="2700" spc="-15" dirty="0"/>
              <a:t>folder </a:t>
            </a:r>
            <a:r>
              <a:rPr sz="2700" spc="-5" dirty="0"/>
              <a:t>or </a:t>
            </a:r>
            <a:r>
              <a:rPr sz="2700" spc="-15" dirty="0"/>
              <a:t>create </a:t>
            </a:r>
            <a:r>
              <a:rPr sz="2700" dirty="0"/>
              <a:t>a </a:t>
            </a:r>
            <a:r>
              <a:rPr sz="2700" spc="-10" dirty="0"/>
              <a:t>folder </a:t>
            </a:r>
            <a:r>
              <a:rPr sz="2700" spc="-5" dirty="0"/>
              <a:t>on </a:t>
            </a:r>
            <a:r>
              <a:rPr sz="2700" dirty="0"/>
              <a:t>the</a:t>
            </a:r>
            <a:r>
              <a:rPr sz="2700" spc="-60" dirty="0"/>
              <a:t> </a:t>
            </a:r>
            <a:r>
              <a:rPr sz="2700" spc="-10" dirty="0"/>
              <a:t>desktop.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722" y="2403728"/>
            <a:ext cx="49288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20" dirty="0">
                <a:latin typeface="Carlito"/>
                <a:cs typeface="Carlito"/>
              </a:rPr>
              <a:t>To </a:t>
            </a:r>
            <a:r>
              <a:rPr sz="2700" spc="-20" dirty="0">
                <a:latin typeface="Carlito"/>
                <a:cs typeface="Carlito"/>
              </a:rPr>
              <a:t>create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new </a:t>
            </a:r>
            <a:r>
              <a:rPr sz="2700" spc="-15" dirty="0">
                <a:latin typeface="Carlito"/>
                <a:cs typeface="Carlito"/>
              </a:rPr>
              <a:t>folder </a:t>
            </a:r>
            <a:r>
              <a:rPr sz="2700" spc="-25" dirty="0">
                <a:latin typeface="Carlito"/>
                <a:cs typeface="Carlito"/>
              </a:rPr>
              <a:t>for</a:t>
            </a:r>
            <a:r>
              <a:rPr sz="2700" spc="90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example: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422" y="4585207"/>
            <a:ext cx="17081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rlito"/>
                <a:cs typeface="Carlito"/>
              </a:rPr>
              <a:t>•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722" y="2815589"/>
            <a:ext cx="7576184" cy="22066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927100" indent="-915035">
              <a:lnSpc>
                <a:spcPct val="100000"/>
              </a:lnSpc>
              <a:spcBef>
                <a:spcPts val="420"/>
              </a:spcBef>
              <a:buChar char="•"/>
              <a:tabLst>
                <a:tab pos="927100" algn="l"/>
                <a:tab pos="927735" algn="l"/>
              </a:tabLst>
            </a:pPr>
            <a:r>
              <a:rPr sz="2700" spc="-15" dirty="0">
                <a:latin typeface="Carlito"/>
                <a:cs typeface="Carlito"/>
              </a:rPr>
              <a:t>Locate </a:t>
            </a:r>
            <a:r>
              <a:rPr sz="2700" spc="-10" dirty="0">
                <a:latin typeface="Carlito"/>
                <a:cs typeface="Carlito"/>
              </a:rPr>
              <a:t>where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folder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be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created.</a:t>
            </a:r>
            <a:endParaRPr sz="2700">
              <a:latin typeface="Carlito"/>
              <a:cs typeface="Carlito"/>
            </a:endParaRPr>
          </a:p>
          <a:p>
            <a:pPr marL="927100" indent="-915035">
              <a:lnSpc>
                <a:spcPct val="100000"/>
              </a:lnSpc>
              <a:spcBef>
                <a:spcPts val="325"/>
              </a:spcBef>
              <a:buChar char="•"/>
              <a:tabLst>
                <a:tab pos="927100" algn="l"/>
                <a:tab pos="927735" algn="l"/>
              </a:tabLst>
            </a:pPr>
            <a:r>
              <a:rPr sz="2700" spc="-5" dirty="0">
                <a:latin typeface="Carlito"/>
                <a:cs typeface="Carlito"/>
              </a:rPr>
              <a:t>Choose File New</a:t>
            </a:r>
            <a:r>
              <a:rPr sz="2700" spc="-50" dirty="0">
                <a:latin typeface="Carlito"/>
                <a:cs typeface="Carlito"/>
              </a:rPr>
              <a:t> Folder.</a:t>
            </a:r>
            <a:endParaRPr sz="2700">
              <a:latin typeface="Carlito"/>
              <a:cs typeface="Carlito"/>
            </a:endParaRPr>
          </a:p>
          <a:p>
            <a:pPr marL="927100" marR="5080" indent="-915035">
              <a:lnSpc>
                <a:spcPts val="2920"/>
              </a:lnSpc>
              <a:spcBef>
                <a:spcPts val="690"/>
              </a:spcBef>
              <a:buChar char="•"/>
              <a:tabLst>
                <a:tab pos="927100" algn="l"/>
                <a:tab pos="927735" algn="l"/>
              </a:tabLst>
            </a:pP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new </a:t>
            </a:r>
            <a:r>
              <a:rPr sz="2700" spc="-15" dirty="0">
                <a:latin typeface="Carlito"/>
                <a:cs typeface="Carlito"/>
              </a:rPr>
              <a:t>folder </a:t>
            </a:r>
            <a:r>
              <a:rPr sz="2700" spc="-10" dirty="0">
                <a:latin typeface="Carlito"/>
                <a:cs typeface="Carlito"/>
              </a:rPr>
              <a:t>icon appears </a:t>
            </a:r>
            <a:r>
              <a:rPr sz="2700" dirty="0">
                <a:latin typeface="Carlito"/>
                <a:cs typeface="Carlito"/>
              </a:rPr>
              <a:t>with its </a:t>
            </a:r>
            <a:r>
              <a:rPr sz="2700" spc="-15" dirty="0">
                <a:latin typeface="Carlito"/>
                <a:cs typeface="Carlito"/>
              </a:rPr>
              <a:t>default </a:t>
            </a:r>
            <a:r>
              <a:rPr sz="2700" spc="-5" dirty="0">
                <a:latin typeface="Carlito"/>
                <a:cs typeface="Carlito"/>
              </a:rPr>
              <a:t>name  ‘New </a:t>
            </a:r>
            <a:r>
              <a:rPr sz="2700" spc="5" dirty="0">
                <a:latin typeface="Carlito"/>
                <a:cs typeface="Carlito"/>
              </a:rPr>
              <a:t>Folder’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highlighted.</a:t>
            </a:r>
            <a:endParaRPr sz="27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275"/>
              </a:spcBef>
            </a:pPr>
            <a:r>
              <a:rPr sz="2700" spc="-30" dirty="0">
                <a:latin typeface="Carlito"/>
                <a:cs typeface="Carlito"/>
              </a:rPr>
              <a:t>Type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new more </a:t>
            </a:r>
            <a:r>
              <a:rPr sz="2700" dirty="0">
                <a:latin typeface="Carlito"/>
                <a:cs typeface="Carlito"/>
              </a:rPr>
              <a:t>meaningful </a:t>
            </a:r>
            <a:r>
              <a:rPr sz="2700" spc="-5" dirty="0">
                <a:latin typeface="Carlito"/>
                <a:cs typeface="Carlito"/>
              </a:rPr>
              <a:t>name </a:t>
            </a:r>
            <a:r>
              <a:rPr sz="2700" dirty="0">
                <a:latin typeface="Carlito"/>
                <a:cs typeface="Carlito"/>
              </a:rPr>
              <a:t>and</a:t>
            </a:r>
            <a:r>
              <a:rPr sz="2700" spc="-9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click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422" y="4955540"/>
            <a:ext cx="7975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rlito"/>
                <a:cs typeface="Carlito"/>
              </a:rPr>
              <a:t>E</a:t>
            </a:r>
            <a:r>
              <a:rPr sz="2700" spc="-20" dirty="0">
                <a:latin typeface="Carlito"/>
                <a:cs typeface="Carlito"/>
              </a:rPr>
              <a:t>n</a:t>
            </a:r>
            <a:r>
              <a:rPr sz="2700" spc="-30" dirty="0">
                <a:latin typeface="Carlito"/>
                <a:cs typeface="Carlito"/>
              </a:rPr>
              <a:t>t</a:t>
            </a:r>
            <a:r>
              <a:rPr sz="2700" dirty="0">
                <a:latin typeface="Carlito"/>
                <a:cs typeface="Carlito"/>
              </a:rPr>
              <a:t>e</a:t>
            </a:r>
            <a:r>
              <a:rPr sz="2700" spc="-280" dirty="0">
                <a:latin typeface="Carlito"/>
                <a:cs typeface="Carlito"/>
              </a:rPr>
              <a:t>r</a:t>
            </a:r>
            <a:r>
              <a:rPr sz="2700" dirty="0">
                <a:latin typeface="Carlito"/>
                <a:cs typeface="Carlito"/>
              </a:rPr>
              <a:t>.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083690"/>
            <a:ext cx="2057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Al</a:t>
            </a:r>
            <a:r>
              <a:rPr sz="3000" spc="-35" dirty="0"/>
              <a:t>t</a:t>
            </a:r>
            <a:r>
              <a:rPr sz="3000" dirty="0"/>
              <a:t>e</a:t>
            </a:r>
            <a:r>
              <a:rPr sz="3000" spc="-10" dirty="0"/>
              <a:t>r</a:t>
            </a:r>
            <a:r>
              <a:rPr sz="3000" spc="-5" dirty="0"/>
              <a:t>n</a:t>
            </a:r>
            <a:r>
              <a:rPr sz="3000" spc="-30" dirty="0"/>
              <a:t>a</a:t>
            </a:r>
            <a:r>
              <a:rPr sz="3000" dirty="0"/>
              <a:t>ti</a:t>
            </a:r>
            <a:r>
              <a:rPr sz="3000" spc="-30" dirty="0"/>
              <a:t>v</a:t>
            </a:r>
            <a:r>
              <a:rPr sz="3000" dirty="0"/>
              <a:t>e</a:t>
            </a:r>
            <a:r>
              <a:rPr sz="3000" spc="-15" dirty="0"/>
              <a:t>l</a:t>
            </a:r>
            <a:r>
              <a:rPr sz="3000" spc="-220" dirty="0"/>
              <a:t>y</a:t>
            </a:r>
            <a:r>
              <a:rPr sz="3000" dirty="0"/>
              <a:t>,</a:t>
            </a:r>
            <a:endParaRPr sz="30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602105"/>
            <a:ext cx="7573645" cy="203453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926465" indent="-914400">
              <a:lnSpc>
                <a:spcPct val="100000"/>
              </a:lnSpc>
              <a:spcBef>
                <a:spcPts val="880"/>
              </a:spcBef>
              <a:buSzPct val="118518"/>
              <a:buChar char="•"/>
              <a:tabLst>
                <a:tab pos="926465" algn="l"/>
                <a:tab pos="927100" algn="l"/>
              </a:tabLst>
            </a:pPr>
            <a:r>
              <a:rPr sz="2700" spc="-15" dirty="0">
                <a:latin typeface="Carlito"/>
                <a:cs typeface="Carlito"/>
              </a:rPr>
              <a:t>Locate </a:t>
            </a:r>
            <a:r>
              <a:rPr sz="2700" spc="-10" dirty="0">
                <a:latin typeface="Carlito"/>
                <a:cs typeface="Carlito"/>
              </a:rPr>
              <a:t>where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folder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be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created.</a:t>
            </a:r>
            <a:endParaRPr sz="2700">
              <a:latin typeface="Carlito"/>
              <a:cs typeface="Carlito"/>
            </a:endParaRPr>
          </a:p>
          <a:p>
            <a:pPr marL="926465" indent="-914400">
              <a:lnSpc>
                <a:spcPct val="100000"/>
              </a:lnSpc>
              <a:spcBef>
                <a:spcPts val="780"/>
              </a:spcBef>
              <a:buChar char="•"/>
              <a:tabLst>
                <a:tab pos="926465" algn="l"/>
                <a:tab pos="927100" algn="l"/>
              </a:tabLst>
            </a:pPr>
            <a:r>
              <a:rPr sz="2700" spc="-5" dirty="0">
                <a:latin typeface="Carlito"/>
                <a:cs typeface="Carlito"/>
              </a:rPr>
              <a:t>On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5" dirty="0">
                <a:latin typeface="Carlito"/>
                <a:cs typeface="Carlito"/>
              </a:rPr>
              <a:t>blank </a:t>
            </a:r>
            <a:r>
              <a:rPr sz="2700" spc="-15" dirty="0">
                <a:latin typeface="Carlito"/>
                <a:cs typeface="Carlito"/>
              </a:rPr>
              <a:t>area </a:t>
            </a:r>
            <a:r>
              <a:rPr sz="2700" spc="-10" dirty="0">
                <a:latin typeface="Carlito"/>
                <a:cs typeface="Carlito"/>
              </a:rPr>
              <a:t>right </a:t>
            </a:r>
            <a:r>
              <a:rPr sz="2700" dirty="0">
                <a:latin typeface="Carlito"/>
                <a:cs typeface="Carlito"/>
              </a:rPr>
              <a:t>click </a:t>
            </a:r>
            <a:r>
              <a:rPr sz="2700" spc="-5" dirty="0">
                <a:latin typeface="Carlito"/>
                <a:cs typeface="Carlito"/>
              </a:rPr>
              <a:t>the</a:t>
            </a:r>
            <a:r>
              <a:rPr sz="2700" spc="-5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mouse</a:t>
            </a:r>
            <a:endParaRPr sz="2700">
              <a:latin typeface="Carlito"/>
              <a:cs typeface="Carlito"/>
            </a:endParaRPr>
          </a:p>
          <a:p>
            <a:pPr marL="926465" indent="-914400">
              <a:lnSpc>
                <a:spcPct val="100000"/>
              </a:lnSpc>
              <a:spcBef>
                <a:spcPts val="645"/>
              </a:spcBef>
              <a:buChar char="•"/>
              <a:tabLst>
                <a:tab pos="926465" algn="l"/>
                <a:tab pos="927100" algn="l"/>
                <a:tab pos="2627630" algn="l"/>
              </a:tabLst>
            </a:pPr>
            <a:r>
              <a:rPr sz="2700" spc="-5" dirty="0">
                <a:latin typeface="Carlito"/>
                <a:cs typeface="Carlito"/>
              </a:rPr>
              <a:t>Select</a:t>
            </a:r>
            <a:r>
              <a:rPr sz="2700" spc="-10" dirty="0">
                <a:latin typeface="Carlito"/>
                <a:cs typeface="Carlito"/>
              </a:rPr>
              <a:t> New	Folder</a:t>
            </a:r>
            <a:endParaRPr sz="2700">
              <a:latin typeface="Carlito"/>
              <a:cs typeface="Carlito"/>
            </a:endParaRPr>
          </a:p>
          <a:p>
            <a:pPr marL="926465" indent="-914400">
              <a:lnSpc>
                <a:spcPct val="100000"/>
              </a:lnSpc>
              <a:spcBef>
                <a:spcPts val="650"/>
              </a:spcBef>
              <a:buChar char="•"/>
              <a:tabLst>
                <a:tab pos="926465" algn="l"/>
                <a:tab pos="927100" algn="l"/>
              </a:tabLst>
            </a:pP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new </a:t>
            </a:r>
            <a:r>
              <a:rPr sz="2700" spc="-15" dirty="0">
                <a:latin typeface="Carlito"/>
                <a:cs typeface="Carlito"/>
              </a:rPr>
              <a:t>folder </a:t>
            </a:r>
            <a:r>
              <a:rPr sz="2700" spc="-10" dirty="0">
                <a:latin typeface="Carlito"/>
                <a:cs typeface="Carlito"/>
              </a:rPr>
              <a:t>icon </a:t>
            </a:r>
            <a:r>
              <a:rPr sz="2700" spc="-15" dirty="0">
                <a:latin typeface="Carlito"/>
                <a:cs typeface="Carlito"/>
              </a:rPr>
              <a:t>appears </a:t>
            </a:r>
            <a:r>
              <a:rPr sz="2700" dirty="0">
                <a:latin typeface="Carlito"/>
                <a:cs typeface="Carlito"/>
              </a:rPr>
              <a:t>with its </a:t>
            </a:r>
            <a:r>
              <a:rPr sz="2700" spc="-15" dirty="0">
                <a:latin typeface="Carlito"/>
                <a:cs typeface="Carlito"/>
              </a:rPr>
              <a:t>default</a:t>
            </a:r>
            <a:r>
              <a:rPr sz="2700" spc="-10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name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1916" y="3670554"/>
            <a:ext cx="18046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rlito"/>
                <a:cs typeface="Carlito"/>
              </a:rPr>
              <a:t>‘New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spc="5" dirty="0">
                <a:latin typeface="Carlito"/>
                <a:cs typeface="Carlito"/>
              </a:rPr>
              <a:t>Folder’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5752" y="3606241"/>
            <a:ext cx="128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rlito"/>
                <a:cs typeface="Carlito"/>
              </a:rPr>
              <a:t>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30350"/>
            <a:ext cx="7575550" cy="3982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b="1" spc="-90" dirty="0">
                <a:latin typeface="Carlito"/>
                <a:cs typeface="Carlito"/>
              </a:rPr>
              <a:t>To </a:t>
            </a:r>
            <a:r>
              <a:rPr sz="2100" b="1" spc="-10" dirty="0">
                <a:latin typeface="Carlito"/>
                <a:cs typeface="Carlito"/>
              </a:rPr>
              <a:t>rename </a:t>
            </a:r>
            <a:r>
              <a:rPr sz="2100" b="1" dirty="0">
                <a:latin typeface="Carlito"/>
                <a:cs typeface="Carlito"/>
              </a:rPr>
              <a:t>a</a:t>
            </a:r>
            <a:r>
              <a:rPr sz="2100" b="1" spc="110" dirty="0">
                <a:latin typeface="Carlito"/>
                <a:cs typeface="Carlito"/>
              </a:rPr>
              <a:t> </a:t>
            </a:r>
            <a:r>
              <a:rPr sz="2100" b="1" spc="-10" dirty="0">
                <a:latin typeface="Carlito"/>
                <a:cs typeface="Carlito"/>
              </a:rPr>
              <a:t>folder</a:t>
            </a:r>
            <a:r>
              <a:rPr sz="2200" b="1" spc="-10" dirty="0">
                <a:latin typeface="Carlito"/>
                <a:cs typeface="Carlito"/>
              </a:rPr>
              <a:t>: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20" dirty="0">
                <a:latin typeface="Carlito"/>
                <a:cs typeface="Carlito"/>
              </a:rPr>
              <a:t>Locate </a:t>
            </a:r>
            <a:r>
              <a:rPr sz="2200" spc="-10" dirty="0">
                <a:latin typeface="Carlito"/>
                <a:cs typeface="Carlito"/>
              </a:rPr>
              <a:t>your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45" dirty="0">
                <a:latin typeface="Carlito"/>
                <a:cs typeface="Carlito"/>
              </a:rPr>
              <a:t>folder.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10" dirty="0">
                <a:latin typeface="Carlito"/>
                <a:cs typeface="Carlito"/>
              </a:rPr>
              <a:t>Right-click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folder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icon.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Choose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b="1" spc="-15" dirty="0">
                <a:latin typeface="Carlito"/>
                <a:cs typeface="Carlito"/>
              </a:rPr>
              <a:t>Rename</a:t>
            </a:r>
            <a:r>
              <a:rPr sz="2200" spc="-15" dirty="0">
                <a:latin typeface="Carlito"/>
                <a:cs typeface="Carlito"/>
              </a:rPr>
              <a:t>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The folder </a:t>
            </a:r>
            <a:r>
              <a:rPr sz="2200" spc="-5" dirty="0">
                <a:latin typeface="Carlito"/>
                <a:cs typeface="Carlito"/>
              </a:rPr>
              <a:t>name is </a:t>
            </a:r>
            <a:r>
              <a:rPr sz="2200" b="1" spc="-10" dirty="0">
                <a:latin typeface="Carlito"/>
                <a:cs typeface="Carlito"/>
              </a:rPr>
              <a:t>highlighted </a:t>
            </a:r>
            <a:r>
              <a:rPr sz="2200" b="1" spc="-5" dirty="0">
                <a:latin typeface="Carlito"/>
                <a:cs typeface="Carlito"/>
              </a:rPr>
              <a:t>in blue</a:t>
            </a:r>
            <a:r>
              <a:rPr sz="2200" spc="-5" dirty="0">
                <a:latin typeface="Carlito"/>
                <a:cs typeface="Carlito"/>
              </a:rPr>
              <a:t>, </a:t>
            </a:r>
            <a:r>
              <a:rPr sz="2200" spc="-10" dirty="0">
                <a:latin typeface="Carlito"/>
                <a:cs typeface="Carlito"/>
              </a:rPr>
              <a:t>ready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be</a:t>
            </a:r>
            <a:r>
              <a:rPr sz="2200" spc="11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retyped.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20" dirty="0">
                <a:latin typeface="Carlito"/>
                <a:cs typeface="Carlito"/>
              </a:rPr>
              <a:t>Type </a:t>
            </a:r>
            <a:r>
              <a:rPr sz="2200" b="1" spc="-5" dirty="0">
                <a:latin typeface="Carlito"/>
                <a:cs typeface="Carlito"/>
              </a:rPr>
              <a:t>a </a:t>
            </a:r>
            <a:r>
              <a:rPr sz="2200" b="1" spc="-10" dirty="0">
                <a:latin typeface="Carlito"/>
                <a:cs typeface="Carlito"/>
              </a:rPr>
              <a:t>new name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press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50" dirty="0">
                <a:latin typeface="Carlito"/>
                <a:cs typeface="Carlito"/>
              </a:rPr>
              <a:t>Enter.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spc="-5" dirty="0">
                <a:latin typeface="Carlito"/>
                <a:cs typeface="Carlito"/>
              </a:rPr>
              <a:t>OR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20" dirty="0">
                <a:latin typeface="Carlito"/>
                <a:cs typeface="Carlito"/>
              </a:rPr>
              <a:t>Locate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4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folder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Click </a:t>
            </a:r>
            <a:r>
              <a:rPr sz="2200" spc="-15" dirty="0">
                <a:latin typeface="Carlito"/>
                <a:cs typeface="Carlito"/>
              </a:rPr>
              <a:t>at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folder</a:t>
            </a:r>
            <a:r>
              <a:rPr sz="2200" spc="1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once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ts val="237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Click </a:t>
            </a:r>
            <a:r>
              <a:rPr sz="2200" spc="-20" dirty="0">
                <a:latin typeface="Carlito"/>
                <a:cs typeface="Carlito"/>
              </a:rPr>
              <a:t>at </a:t>
            </a:r>
            <a:r>
              <a:rPr sz="2200" spc="-5" dirty="0">
                <a:latin typeface="Carlito"/>
                <a:cs typeface="Carlito"/>
              </a:rPr>
              <a:t>the name of the </a:t>
            </a:r>
            <a:r>
              <a:rPr sz="2200" spc="-40" dirty="0">
                <a:latin typeface="Carlito"/>
                <a:cs typeface="Carlito"/>
              </a:rPr>
              <a:t>folder, </a:t>
            </a:r>
            <a:r>
              <a:rPr sz="2200" spc="-5" dirty="0">
                <a:latin typeface="Carlito"/>
                <a:cs typeface="Carlito"/>
              </a:rPr>
              <a:t>this will select the </a:t>
            </a:r>
            <a:r>
              <a:rPr sz="2200" spc="-10" dirty="0">
                <a:latin typeface="Carlito"/>
                <a:cs typeface="Carlito"/>
              </a:rPr>
              <a:t>current</a:t>
            </a:r>
            <a:r>
              <a:rPr sz="2200" spc="9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folder</a:t>
            </a:r>
            <a:endParaRPr sz="2200">
              <a:latin typeface="Carlito"/>
              <a:cs typeface="Carlito"/>
            </a:endParaRPr>
          </a:p>
          <a:p>
            <a:pPr marL="355600">
              <a:lnSpc>
                <a:spcPts val="2375"/>
              </a:lnSpc>
            </a:pPr>
            <a:r>
              <a:rPr sz="2200" spc="-10" dirty="0">
                <a:latin typeface="Carlito"/>
                <a:cs typeface="Carlito"/>
              </a:rPr>
              <a:t>name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enable </a:t>
            </a:r>
            <a:r>
              <a:rPr sz="2200" spc="-10" dirty="0">
                <a:latin typeface="Carlito"/>
                <a:cs typeface="Carlito"/>
              </a:rPr>
              <a:t>you </a:t>
            </a:r>
            <a:r>
              <a:rPr sz="2200" spc="-5" dirty="0">
                <a:latin typeface="Carlito"/>
                <a:cs typeface="Carlito"/>
              </a:rPr>
              <a:t>type in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new</a:t>
            </a:r>
            <a:r>
              <a:rPr sz="2200" spc="10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name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30" dirty="0">
                <a:latin typeface="Carlito"/>
                <a:cs typeface="Carlito"/>
              </a:rPr>
              <a:t>Type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5" dirty="0">
                <a:latin typeface="Carlito"/>
                <a:cs typeface="Carlito"/>
              </a:rPr>
              <a:t>new </a:t>
            </a:r>
            <a:r>
              <a:rPr sz="2200" spc="-5" dirty="0">
                <a:latin typeface="Carlito"/>
                <a:cs typeface="Carlito"/>
              </a:rPr>
              <a:t>meaningful</a:t>
            </a:r>
            <a:r>
              <a:rPr sz="2200" spc="7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name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44066"/>
            <a:ext cx="7545070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5"/>
              </a:lnSpc>
              <a:spcBef>
                <a:spcPts val="100"/>
              </a:spcBef>
            </a:pPr>
            <a:r>
              <a:rPr sz="1800" b="1" spc="-80" dirty="0">
                <a:latin typeface="Carlito"/>
                <a:cs typeface="Carlito"/>
              </a:rPr>
              <a:t>To </a:t>
            </a:r>
            <a:r>
              <a:rPr sz="1800" b="1" spc="-10" dirty="0">
                <a:latin typeface="Carlito"/>
                <a:cs typeface="Carlito"/>
              </a:rPr>
              <a:t>delete </a:t>
            </a:r>
            <a:r>
              <a:rPr sz="1800" b="1" dirty="0">
                <a:latin typeface="Carlito"/>
                <a:cs typeface="Carlito"/>
              </a:rPr>
              <a:t>a</a:t>
            </a:r>
            <a:r>
              <a:rPr sz="1800" b="1" spc="50" dirty="0">
                <a:latin typeface="Carlito"/>
                <a:cs typeface="Carlito"/>
              </a:rPr>
              <a:t> </a:t>
            </a:r>
            <a:r>
              <a:rPr sz="1800" b="1" spc="-5" dirty="0">
                <a:latin typeface="Carlito"/>
                <a:cs typeface="Carlito"/>
              </a:rPr>
              <a:t>folder:</a:t>
            </a: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ts val="239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15" dirty="0">
                <a:latin typeface="Carlito"/>
                <a:cs typeface="Carlito"/>
              </a:rPr>
              <a:t>Locate </a:t>
            </a:r>
            <a:r>
              <a:rPr sz="2000" spc="-10" dirty="0">
                <a:latin typeface="Carlito"/>
                <a:cs typeface="Carlito"/>
              </a:rPr>
              <a:t>your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40" dirty="0">
                <a:latin typeface="Carlito"/>
                <a:cs typeface="Carlito"/>
              </a:rPr>
              <a:t>folder.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arlito"/>
                <a:cs typeface="Carlito"/>
              </a:rPr>
              <a:t>Right-click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folder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icon.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Choose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b="1" spc="-10" dirty="0">
                <a:latin typeface="Carlito"/>
                <a:cs typeface="Carlito"/>
              </a:rPr>
              <a:t>Delete</a:t>
            </a:r>
            <a:r>
              <a:rPr sz="2000" spc="-10" dirty="0">
                <a:latin typeface="Carlito"/>
                <a:cs typeface="Carlito"/>
              </a:rPr>
              <a:t>.</a:t>
            </a:r>
            <a:endParaRPr sz="2000">
              <a:latin typeface="Carlito"/>
              <a:cs typeface="Carlito"/>
            </a:endParaRPr>
          </a:p>
          <a:p>
            <a:pPr marL="355600" marR="5080" indent="-342900">
              <a:lnSpc>
                <a:spcPts val="1920"/>
              </a:lnSpc>
              <a:spcBef>
                <a:spcPts val="4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b="1" spc="-5" dirty="0">
                <a:latin typeface="Carlito"/>
                <a:cs typeface="Carlito"/>
              </a:rPr>
              <a:t>Confirm Folder </a:t>
            </a:r>
            <a:r>
              <a:rPr sz="2000" b="1" spc="-10" dirty="0">
                <a:latin typeface="Carlito"/>
                <a:cs typeface="Carlito"/>
              </a:rPr>
              <a:t>Delete </a:t>
            </a:r>
            <a:r>
              <a:rPr sz="2000" spc="-5" dirty="0">
                <a:latin typeface="Carlito"/>
                <a:cs typeface="Carlito"/>
              </a:rPr>
              <a:t>dialog </a:t>
            </a:r>
            <a:r>
              <a:rPr sz="2000" spc="-15" dirty="0">
                <a:latin typeface="Carlito"/>
                <a:cs typeface="Carlito"/>
              </a:rPr>
              <a:t>box </a:t>
            </a:r>
            <a:r>
              <a:rPr sz="2000" spc="-5" dirty="0">
                <a:latin typeface="Carlito"/>
                <a:cs typeface="Carlito"/>
              </a:rPr>
              <a:t>appears asking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dirty="0">
                <a:latin typeface="Carlito"/>
                <a:cs typeface="Carlito"/>
              </a:rPr>
              <a:t>if </a:t>
            </a:r>
            <a:r>
              <a:rPr sz="2000" spc="-10" dirty="0">
                <a:latin typeface="Carlito"/>
                <a:cs typeface="Carlito"/>
              </a:rPr>
              <a:t>you are sure  you </a:t>
            </a:r>
            <a:r>
              <a:rPr sz="2000" spc="-15" dirty="0">
                <a:latin typeface="Carlito"/>
                <a:cs typeface="Carlito"/>
              </a:rPr>
              <a:t>want to </a:t>
            </a:r>
            <a:r>
              <a:rPr sz="2000" spc="-5" dirty="0">
                <a:latin typeface="Carlito"/>
                <a:cs typeface="Carlito"/>
              </a:rPr>
              <a:t>send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file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Recycle</a:t>
            </a:r>
            <a:r>
              <a:rPr sz="2000" spc="1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Bin.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Choose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b="1" spc="-40" dirty="0">
                <a:latin typeface="Carlito"/>
                <a:cs typeface="Carlito"/>
              </a:rPr>
              <a:t>Yes</a:t>
            </a:r>
            <a:r>
              <a:rPr sz="2000" spc="-40" dirty="0">
                <a:latin typeface="Carlito"/>
                <a:cs typeface="Carlito"/>
              </a:rPr>
              <a:t>.</a:t>
            </a:r>
            <a:endParaRPr sz="20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folder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10" dirty="0">
                <a:latin typeface="Carlito"/>
                <a:cs typeface="Carlito"/>
              </a:rPr>
              <a:t>moved to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b="1" spc="-10" dirty="0">
                <a:latin typeface="Carlito"/>
                <a:cs typeface="Carlito"/>
              </a:rPr>
              <a:t>Recycle</a:t>
            </a:r>
            <a:r>
              <a:rPr sz="2000" b="1" spc="-20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Bin</a:t>
            </a:r>
            <a:r>
              <a:rPr sz="2000" dirty="0">
                <a:latin typeface="Carlito"/>
                <a:cs typeface="Carlito"/>
              </a:rPr>
              <a:t>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5" dirty="0">
                <a:latin typeface="Carlito"/>
                <a:cs typeface="Carlito"/>
              </a:rPr>
              <a:t>OR</a:t>
            </a:r>
            <a:endParaRPr sz="2000">
              <a:latin typeface="Carlito"/>
              <a:cs typeface="Carlito"/>
            </a:endParaRPr>
          </a:p>
          <a:p>
            <a:pPr marL="35560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10" dirty="0">
                <a:latin typeface="Carlito"/>
                <a:cs typeface="Carlito"/>
              </a:rPr>
              <a:t>Locate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folder</a:t>
            </a:r>
            <a:endParaRPr sz="2000">
              <a:latin typeface="Carlito"/>
              <a:cs typeface="Carlito"/>
            </a:endParaRPr>
          </a:p>
          <a:p>
            <a:pPr marL="35560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Click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folder </a:t>
            </a:r>
            <a:r>
              <a:rPr sz="2000" spc="-5" dirty="0">
                <a:latin typeface="Carlito"/>
                <a:cs typeface="Carlito"/>
              </a:rPr>
              <a:t>icon.</a:t>
            </a:r>
            <a:endParaRPr sz="2000">
              <a:latin typeface="Carlito"/>
              <a:cs typeface="Carlito"/>
            </a:endParaRPr>
          </a:p>
          <a:p>
            <a:pPr marL="355600" marR="441959" indent="-342900" algn="just">
              <a:lnSpc>
                <a:spcPts val="1920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 dirty="0">
                <a:latin typeface="Carlito"/>
                <a:cs typeface="Carlito"/>
              </a:rPr>
              <a:t>Press </a:t>
            </a:r>
            <a:r>
              <a:rPr sz="2000" b="1" spc="-10" dirty="0">
                <a:latin typeface="Carlito"/>
                <a:cs typeface="Carlito"/>
              </a:rPr>
              <a:t>Delete </a:t>
            </a:r>
            <a:r>
              <a:rPr sz="2000" b="1" dirty="0">
                <a:latin typeface="Carlito"/>
                <a:cs typeface="Carlito"/>
              </a:rPr>
              <a:t>(Del) </a:t>
            </a:r>
            <a:r>
              <a:rPr sz="2000" spc="-5" dirty="0">
                <a:latin typeface="Carlito"/>
                <a:cs typeface="Carlito"/>
              </a:rPr>
              <a:t>on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5" dirty="0">
                <a:latin typeface="Carlito"/>
                <a:cs typeface="Carlito"/>
              </a:rPr>
              <a:t>keyboard to </a:t>
            </a:r>
            <a:r>
              <a:rPr sz="2000" spc="-10" dirty="0">
                <a:latin typeface="Carlito"/>
                <a:cs typeface="Carlito"/>
              </a:rPr>
              <a:t>delete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40" dirty="0">
                <a:latin typeface="Carlito"/>
                <a:cs typeface="Carlito"/>
              </a:rPr>
              <a:t>folder. </a:t>
            </a:r>
            <a:r>
              <a:rPr sz="2000" spc="-5" dirty="0">
                <a:latin typeface="Carlito"/>
                <a:cs typeface="Carlito"/>
              </a:rPr>
              <a:t>Note that  </a:t>
            </a:r>
            <a:r>
              <a:rPr sz="2000" dirty="0">
                <a:latin typeface="Carlito"/>
                <a:cs typeface="Carlito"/>
              </a:rPr>
              <a:t>when a </a:t>
            </a:r>
            <a:r>
              <a:rPr sz="2000" spc="-10" dirty="0">
                <a:latin typeface="Carlito"/>
                <a:cs typeface="Carlito"/>
              </a:rPr>
              <a:t>folder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10" dirty="0">
                <a:latin typeface="Carlito"/>
                <a:cs typeface="Carlito"/>
              </a:rPr>
              <a:t>deleted </a:t>
            </a:r>
            <a:r>
              <a:rPr sz="2000" dirty="0">
                <a:latin typeface="Carlito"/>
                <a:cs typeface="Carlito"/>
              </a:rPr>
              <a:t>its </a:t>
            </a:r>
            <a:r>
              <a:rPr sz="2000" spc="-10" dirty="0">
                <a:latin typeface="Carlito"/>
                <a:cs typeface="Carlito"/>
              </a:rPr>
              <a:t>content; </a:t>
            </a:r>
            <a:r>
              <a:rPr sz="2000" spc="-5" dirty="0">
                <a:latin typeface="Carlito"/>
                <a:cs typeface="Carlito"/>
              </a:rPr>
              <a:t>files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5" dirty="0">
                <a:latin typeface="Carlito"/>
                <a:cs typeface="Carlito"/>
              </a:rPr>
              <a:t>sub </a:t>
            </a:r>
            <a:r>
              <a:rPr sz="2000" spc="-15" dirty="0">
                <a:latin typeface="Carlito"/>
                <a:cs typeface="Carlito"/>
              </a:rPr>
              <a:t>folders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also  </a:t>
            </a:r>
            <a:r>
              <a:rPr sz="2000" spc="-10" dirty="0">
                <a:latin typeface="Carlito"/>
                <a:cs typeface="Carlito"/>
              </a:rPr>
              <a:t>deleted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11795"/>
            <a:ext cx="7645400" cy="45980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500" b="1" spc="-15" dirty="0">
                <a:latin typeface="Carlito"/>
                <a:cs typeface="Carlito"/>
              </a:rPr>
              <a:t>Drives</a:t>
            </a:r>
            <a:endParaRPr sz="2500">
              <a:latin typeface="Carlito"/>
              <a:cs typeface="Carlito"/>
            </a:endParaRPr>
          </a:p>
          <a:p>
            <a:pPr marL="355600" marR="5080" indent="-342900">
              <a:lnSpc>
                <a:spcPct val="9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Carlito"/>
                <a:cs typeface="Carlito"/>
              </a:rPr>
              <a:t>A </a:t>
            </a:r>
            <a:r>
              <a:rPr sz="2500" b="1" spc="-10" dirty="0">
                <a:latin typeface="Carlito"/>
                <a:cs typeface="Carlito"/>
              </a:rPr>
              <a:t>drive, </a:t>
            </a:r>
            <a:r>
              <a:rPr sz="2500" b="1" spc="-5" dirty="0">
                <a:latin typeface="Carlito"/>
                <a:cs typeface="Carlito"/>
              </a:rPr>
              <a:t>or disk </a:t>
            </a:r>
            <a:r>
              <a:rPr sz="2500" b="1" spc="-10" dirty="0">
                <a:latin typeface="Carlito"/>
                <a:cs typeface="Carlito"/>
              </a:rPr>
              <a:t>drive</a:t>
            </a:r>
            <a:r>
              <a:rPr sz="2500" spc="-10" dirty="0">
                <a:latin typeface="Carlito"/>
                <a:cs typeface="Carlito"/>
              </a:rPr>
              <a:t>, </a:t>
            </a:r>
            <a:r>
              <a:rPr sz="2500" spc="-5" dirty="0">
                <a:latin typeface="Carlito"/>
                <a:cs typeface="Carlito"/>
              </a:rPr>
              <a:t>is a </a:t>
            </a:r>
            <a:r>
              <a:rPr sz="2500" spc="-15" dirty="0">
                <a:latin typeface="Carlito"/>
                <a:cs typeface="Carlito"/>
              </a:rPr>
              <a:t>hardware </a:t>
            </a:r>
            <a:r>
              <a:rPr sz="2500" spc="-5" dirty="0">
                <a:latin typeface="Carlito"/>
                <a:cs typeface="Carlito"/>
              </a:rPr>
              <a:t>device on which </a:t>
            </a:r>
            <a:r>
              <a:rPr sz="2500" spc="-15" dirty="0">
                <a:latin typeface="Carlito"/>
                <a:cs typeface="Carlito"/>
              </a:rPr>
              <a:t>you  can </a:t>
            </a:r>
            <a:r>
              <a:rPr sz="2500" spc="-20" dirty="0">
                <a:latin typeface="Carlito"/>
                <a:cs typeface="Carlito"/>
              </a:rPr>
              <a:t>store </a:t>
            </a:r>
            <a:r>
              <a:rPr sz="2500" spc="-5" dirty="0">
                <a:latin typeface="Carlito"/>
                <a:cs typeface="Carlito"/>
              </a:rPr>
              <a:t>files and </a:t>
            </a:r>
            <a:r>
              <a:rPr sz="2500" spc="-20" dirty="0">
                <a:latin typeface="Carlito"/>
                <a:cs typeface="Carlito"/>
              </a:rPr>
              <a:t>folders. </a:t>
            </a:r>
            <a:r>
              <a:rPr sz="2500" spc="-10" dirty="0">
                <a:latin typeface="Carlito"/>
                <a:cs typeface="Carlito"/>
              </a:rPr>
              <a:t>Disk drives </a:t>
            </a:r>
            <a:r>
              <a:rPr sz="2500" spc="-15" dirty="0">
                <a:latin typeface="Carlito"/>
                <a:cs typeface="Carlito"/>
              </a:rPr>
              <a:t>are </a:t>
            </a:r>
            <a:r>
              <a:rPr sz="2500" spc="-5" dirty="0">
                <a:latin typeface="Carlito"/>
                <a:cs typeface="Carlito"/>
              </a:rPr>
              <a:t>assigned a  </a:t>
            </a:r>
            <a:r>
              <a:rPr sz="2500" b="1" spc="-15" dirty="0">
                <a:latin typeface="Carlito"/>
                <a:cs typeface="Carlito"/>
              </a:rPr>
              <a:t>letter</a:t>
            </a:r>
            <a:r>
              <a:rPr sz="2500" spc="-15" dirty="0">
                <a:latin typeface="Carlito"/>
                <a:cs typeface="Carlito"/>
              </a:rPr>
              <a:t>.</a:t>
            </a:r>
            <a:endParaRPr sz="2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5" dirty="0">
                <a:latin typeface="Carlito"/>
                <a:cs typeface="Carlito"/>
              </a:rPr>
              <a:t>Your </a:t>
            </a:r>
            <a:r>
              <a:rPr sz="2500" spc="-15" dirty="0">
                <a:latin typeface="Carlito"/>
                <a:cs typeface="Carlito"/>
              </a:rPr>
              <a:t>hard </a:t>
            </a:r>
            <a:r>
              <a:rPr sz="2500" spc="-10" dirty="0">
                <a:latin typeface="Carlito"/>
                <a:cs typeface="Carlito"/>
              </a:rPr>
              <a:t>drive </a:t>
            </a:r>
            <a:r>
              <a:rPr sz="2500" spc="-5" dirty="0">
                <a:latin typeface="Carlito"/>
                <a:cs typeface="Carlito"/>
              </a:rPr>
              <a:t>is known as the (C:)</a:t>
            </a:r>
            <a:r>
              <a:rPr sz="2500" spc="95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drive.</a:t>
            </a:r>
            <a:endParaRPr sz="2500">
              <a:latin typeface="Carlito"/>
              <a:cs typeface="Carlito"/>
            </a:endParaRPr>
          </a:p>
          <a:p>
            <a:pPr marL="355600" marR="284480" indent="-342900">
              <a:lnSpc>
                <a:spcPts val="27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  <a:tab pos="6921500" algn="l"/>
              </a:tabLst>
            </a:pPr>
            <a:r>
              <a:rPr sz="2500" spc="-204" dirty="0">
                <a:latin typeface="Carlito"/>
                <a:cs typeface="Carlito"/>
              </a:rPr>
              <a:t>Y</a:t>
            </a:r>
            <a:r>
              <a:rPr sz="2500" spc="-10" dirty="0">
                <a:latin typeface="Carlito"/>
                <a:cs typeface="Carlito"/>
              </a:rPr>
              <a:t>ou</a:t>
            </a:r>
            <a:r>
              <a:rPr sz="2500" spc="-5" dirty="0">
                <a:latin typeface="Carlito"/>
                <a:cs typeface="Carlito"/>
              </a:rPr>
              <a:t>r </a:t>
            </a:r>
            <a:r>
              <a:rPr sz="2500" spc="-10" dirty="0">
                <a:latin typeface="Carlito"/>
                <a:cs typeface="Carlito"/>
              </a:rPr>
              <a:t>fl</a:t>
            </a:r>
            <a:r>
              <a:rPr sz="2500" spc="-5" dirty="0">
                <a:latin typeface="Carlito"/>
                <a:cs typeface="Carlito"/>
              </a:rPr>
              <a:t>o</a:t>
            </a:r>
            <a:r>
              <a:rPr sz="2500" spc="-10" dirty="0">
                <a:latin typeface="Carlito"/>
                <a:cs typeface="Carlito"/>
              </a:rPr>
              <a:t>p</a:t>
            </a:r>
            <a:r>
              <a:rPr sz="2500" spc="-25" dirty="0">
                <a:latin typeface="Carlito"/>
                <a:cs typeface="Carlito"/>
              </a:rPr>
              <a:t>p</a:t>
            </a:r>
            <a:r>
              <a:rPr sz="2500" spc="-5" dirty="0">
                <a:latin typeface="Carlito"/>
                <a:cs typeface="Carlito"/>
              </a:rPr>
              <a:t>y</a:t>
            </a:r>
            <a:r>
              <a:rPr sz="2500" spc="5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dis</a:t>
            </a:r>
            <a:r>
              <a:rPr sz="2500" spc="-5" dirty="0">
                <a:latin typeface="Carlito"/>
                <a:cs typeface="Carlito"/>
              </a:rPr>
              <a:t>k </a:t>
            </a:r>
            <a:r>
              <a:rPr sz="2500" spc="-10" dirty="0">
                <a:latin typeface="Carlito"/>
                <a:cs typeface="Carlito"/>
              </a:rPr>
              <a:t>dri</a:t>
            </a:r>
            <a:r>
              <a:rPr sz="2500" spc="-30" dirty="0">
                <a:latin typeface="Carlito"/>
                <a:cs typeface="Carlito"/>
              </a:rPr>
              <a:t>v</a:t>
            </a:r>
            <a:r>
              <a:rPr sz="2500" spc="-5" dirty="0">
                <a:latin typeface="Carlito"/>
                <a:cs typeface="Carlito"/>
              </a:rPr>
              <a:t>e</a:t>
            </a:r>
            <a:r>
              <a:rPr sz="2500" dirty="0">
                <a:latin typeface="Carlito"/>
                <a:cs typeface="Carlito"/>
              </a:rPr>
              <a:t> </a:t>
            </a:r>
            <a:r>
              <a:rPr sz="2500" spc="-5" dirty="0">
                <a:latin typeface="Carlito"/>
                <a:cs typeface="Carlito"/>
              </a:rPr>
              <a:t>is</a:t>
            </a:r>
            <a:r>
              <a:rPr sz="2500" dirty="0">
                <a:latin typeface="Carlito"/>
                <a:cs typeface="Carlito"/>
              </a:rPr>
              <a:t> </a:t>
            </a:r>
            <a:r>
              <a:rPr sz="2500" spc="-5" dirty="0">
                <a:latin typeface="Carlito"/>
                <a:cs typeface="Carlito"/>
              </a:rPr>
              <a:t>known</a:t>
            </a:r>
            <a:r>
              <a:rPr sz="2500" dirty="0">
                <a:latin typeface="Carlito"/>
                <a:cs typeface="Carlito"/>
              </a:rPr>
              <a:t> </a:t>
            </a:r>
            <a:r>
              <a:rPr sz="2500" spc="-5" dirty="0">
                <a:latin typeface="Carlito"/>
                <a:cs typeface="Carlito"/>
              </a:rPr>
              <a:t>as</a:t>
            </a:r>
            <a:r>
              <a:rPr sz="2500" spc="5" dirty="0">
                <a:latin typeface="Carlito"/>
                <a:cs typeface="Carlito"/>
              </a:rPr>
              <a:t>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spc="-10" dirty="0">
                <a:latin typeface="Carlito"/>
                <a:cs typeface="Carlito"/>
              </a:rPr>
              <a:t>(A:</a:t>
            </a:r>
            <a:r>
              <a:rPr sz="2500" spc="-5" dirty="0">
                <a:latin typeface="Carlito"/>
                <a:cs typeface="Carlito"/>
              </a:rPr>
              <a:t>)</a:t>
            </a:r>
            <a:r>
              <a:rPr sz="2500" spc="2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dri</a:t>
            </a:r>
            <a:r>
              <a:rPr sz="2500" spc="-30" dirty="0">
                <a:latin typeface="Carlito"/>
                <a:cs typeface="Carlito"/>
              </a:rPr>
              <a:t>v</a:t>
            </a:r>
            <a:r>
              <a:rPr sz="2500" spc="-5" dirty="0">
                <a:latin typeface="Carlito"/>
                <a:cs typeface="Carlito"/>
              </a:rPr>
              <a:t>e</a:t>
            </a:r>
            <a:r>
              <a:rPr sz="2500" dirty="0">
                <a:latin typeface="Carlito"/>
                <a:cs typeface="Carlito"/>
              </a:rPr>
              <a:t> o</a:t>
            </a:r>
            <a:r>
              <a:rPr sz="2500" spc="-5" dirty="0">
                <a:latin typeface="Carlito"/>
                <a:cs typeface="Carlito"/>
              </a:rPr>
              <a:t>r</a:t>
            </a:r>
            <a:r>
              <a:rPr sz="2500" dirty="0">
                <a:latin typeface="Carlito"/>
                <a:cs typeface="Carlito"/>
              </a:rPr>
              <a:t>	</a:t>
            </a:r>
            <a:r>
              <a:rPr sz="2500" spc="-5" dirty="0">
                <a:latin typeface="Carlito"/>
                <a:cs typeface="Carlito"/>
              </a:rPr>
              <a:t>the  </a:t>
            </a:r>
            <a:r>
              <a:rPr sz="2500" spc="-20" dirty="0">
                <a:latin typeface="Carlito"/>
                <a:cs typeface="Carlito"/>
              </a:rPr>
              <a:t>letters </a:t>
            </a:r>
            <a:r>
              <a:rPr sz="2500" spc="-10" dirty="0">
                <a:latin typeface="Carlito"/>
                <a:cs typeface="Carlito"/>
              </a:rPr>
              <a:t>A: </a:t>
            </a:r>
            <a:r>
              <a:rPr sz="2500" spc="-5" dirty="0">
                <a:latin typeface="Carlito"/>
                <a:cs typeface="Carlito"/>
              </a:rPr>
              <a:t>and B if </a:t>
            </a:r>
            <a:r>
              <a:rPr sz="2500" spc="-10" dirty="0">
                <a:latin typeface="Carlito"/>
                <a:cs typeface="Carlito"/>
              </a:rPr>
              <a:t>there </a:t>
            </a:r>
            <a:r>
              <a:rPr sz="2500" spc="-15" dirty="0">
                <a:latin typeface="Carlito"/>
                <a:cs typeface="Carlito"/>
              </a:rPr>
              <a:t>are</a:t>
            </a:r>
            <a:r>
              <a:rPr sz="2500" spc="7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two.</a:t>
            </a:r>
            <a:endParaRPr sz="2500">
              <a:latin typeface="Carlito"/>
              <a:cs typeface="Carlito"/>
            </a:endParaRPr>
          </a:p>
          <a:p>
            <a:pPr marL="355600" marR="109855" indent="-342900">
              <a:lnSpc>
                <a:spcPts val="27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Carlito"/>
                <a:cs typeface="Carlito"/>
              </a:rPr>
              <a:t>If </a:t>
            </a:r>
            <a:r>
              <a:rPr sz="2500" spc="-15" dirty="0">
                <a:latin typeface="Carlito"/>
                <a:cs typeface="Carlito"/>
              </a:rPr>
              <a:t>your computer </a:t>
            </a:r>
            <a:r>
              <a:rPr sz="2500" spc="-10" dirty="0">
                <a:latin typeface="Carlito"/>
                <a:cs typeface="Carlito"/>
              </a:rPr>
              <a:t>has </a:t>
            </a:r>
            <a:r>
              <a:rPr sz="2500" spc="-5" dirty="0">
                <a:latin typeface="Carlito"/>
                <a:cs typeface="Carlito"/>
              </a:rPr>
              <a:t>a CD </a:t>
            </a:r>
            <a:r>
              <a:rPr sz="2500" spc="-15" dirty="0">
                <a:latin typeface="Carlito"/>
                <a:cs typeface="Carlito"/>
              </a:rPr>
              <a:t>ROM </a:t>
            </a:r>
            <a:r>
              <a:rPr sz="2500" spc="-10" dirty="0">
                <a:latin typeface="Carlito"/>
                <a:cs typeface="Carlito"/>
              </a:rPr>
              <a:t>drive, </a:t>
            </a:r>
            <a:r>
              <a:rPr sz="2500" spc="-5" dirty="0">
                <a:latin typeface="Carlito"/>
                <a:cs typeface="Carlito"/>
              </a:rPr>
              <a:t>it is </a:t>
            </a:r>
            <a:r>
              <a:rPr sz="2500" spc="-10" dirty="0">
                <a:latin typeface="Carlito"/>
                <a:cs typeface="Carlito"/>
              </a:rPr>
              <a:t>usually </a:t>
            </a:r>
            <a:r>
              <a:rPr sz="2500" spc="-5" dirty="0">
                <a:latin typeface="Carlito"/>
                <a:cs typeface="Carlito"/>
              </a:rPr>
              <a:t>called  </a:t>
            </a:r>
            <a:r>
              <a:rPr sz="2500" spc="-10" dirty="0">
                <a:latin typeface="Carlito"/>
                <a:cs typeface="Carlito"/>
              </a:rPr>
              <a:t>(D:)</a:t>
            </a:r>
            <a:endParaRPr sz="2500">
              <a:latin typeface="Carlito"/>
              <a:cs typeface="Carlito"/>
            </a:endParaRPr>
          </a:p>
          <a:p>
            <a:pPr marL="355600" marR="513080" indent="-342900">
              <a:lnSpc>
                <a:spcPts val="27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Carlito"/>
                <a:cs typeface="Carlito"/>
              </a:rPr>
              <a:t>If </a:t>
            </a:r>
            <a:r>
              <a:rPr sz="2500" spc="-15" dirty="0">
                <a:latin typeface="Carlito"/>
                <a:cs typeface="Carlito"/>
              </a:rPr>
              <a:t>you </a:t>
            </a:r>
            <a:r>
              <a:rPr sz="2500" spc="-5" dirty="0">
                <a:latin typeface="Carlito"/>
                <a:cs typeface="Carlito"/>
              </a:rPr>
              <a:t>insert a </a:t>
            </a:r>
            <a:r>
              <a:rPr sz="2500" spc="-10" dirty="0">
                <a:latin typeface="Carlito"/>
                <a:cs typeface="Carlito"/>
              </a:rPr>
              <a:t>pen drive </a:t>
            </a:r>
            <a:r>
              <a:rPr sz="2500" spc="-15" dirty="0">
                <a:latin typeface="Carlito"/>
                <a:cs typeface="Carlito"/>
              </a:rPr>
              <a:t>into your </a:t>
            </a:r>
            <a:r>
              <a:rPr sz="2500" spc="-5" dirty="0">
                <a:latin typeface="Carlito"/>
                <a:cs typeface="Carlito"/>
              </a:rPr>
              <a:t>USB port, it will  normally be </a:t>
            </a:r>
            <a:r>
              <a:rPr sz="2500" spc="-10" dirty="0">
                <a:latin typeface="Carlito"/>
                <a:cs typeface="Carlito"/>
              </a:rPr>
              <a:t>given </a:t>
            </a:r>
            <a:r>
              <a:rPr sz="2500" spc="-5" dirty="0">
                <a:latin typeface="Carlito"/>
                <a:cs typeface="Carlito"/>
              </a:rPr>
              <a:t>a </a:t>
            </a:r>
            <a:r>
              <a:rPr sz="2500" spc="-10" dirty="0">
                <a:latin typeface="Carlito"/>
                <a:cs typeface="Carlito"/>
              </a:rPr>
              <a:t>drive </a:t>
            </a:r>
            <a:r>
              <a:rPr sz="2500" spc="-15" dirty="0">
                <a:latin typeface="Carlito"/>
                <a:cs typeface="Carlito"/>
              </a:rPr>
              <a:t>letter </a:t>
            </a:r>
            <a:r>
              <a:rPr sz="2500" spc="-10" dirty="0">
                <a:latin typeface="Carlito"/>
                <a:cs typeface="Carlito"/>
              </a:rPr>
              <a:t>higher </a:t>
            </a:r>
            <a:r>
              <a:rPr sz="2500" spc="-5" dirty="0">
                <a:latin typeface="Carlito"/>
                <a:cs typeface="Carlito"/>
              </a:rPr>
              <a:t>than </a:t>
            </a:r>
            <a:r>
              <a:rPr sz="2500" spc="-15" dirty="0">
                <a:latin typeface="Carlito"/>
                <a:cs typeface="Carlito"/>
              </a:rPr>
              <a:t>your </a:t>
            </a:r>
            <a:r>
              <a:rPr sz="2500" spc="5" dirty="0">
                <a:latin typeface="Carlito"/>
                <a:cs typeface="Carlito"/>
              </a:rPr>
              <a:t>CD-  </a:t>
            </a:r>
            <a:r>
              <a:rPr sz="2500" spc="-15" dirty="0">
                <a:latin typeface="Carlito"/>
                <a:cs typeface="Carlito"/>
              </a:rPr>
              <a:t>ROM </a:t>
            </a:r>
            <a:r>
              <a:rPr sz="2500" spc="-10" dirty="0">
                <a:latin typeface="Carlito"/>
                <a:cs typeface="Carlito"/>
              </a:rPr>
              <a:t>drive</a:t>
            </a:r>
            <a:r>
              <a:rPr sz="2500" spc="5" dirty="0">
                <a:latin typeface="Carlito"/>
                <a:cs typeface="Carlito"/>
              </a:rPr>
              <a:t> </a:t>
            </a:r>
            <a:r>
              <a:rPr sz="2500" spc="-45" dirty="0">
                <a:latin typeface="Carlito"/>
                <a:cs typeface="Carlito"/>
              </a:rPr>
              <a:t>letter.</a:t>
            </a:r>
            <a:endParaRPr sz="2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199" y="2907410"/>
            <a:ext cx="120332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10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open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M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96327" y="4517009"/>
            <a:ext cx="30162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200" spc="-10" dirty="0">
                <a:latin typeface="Carlito"/>
                <a:cs typeface="Carlito"/>
              </a:rPr>
              <a:t>p).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0499" y="4434585"/>
            <a:ext cx="1644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950" y="4434585"/>
            <a:ext cx="55035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rlito"/>
                <a:cs typeface="Carlito"/>
              </a:rPr>
              <a:t>Right-click </a:t>
            </a:r>
            <a:r>
              <a:rPr sz="2200" spc="-5" dirty="0">
                <a:latin typeface="Carlito"/>
                <a:cs typeface="Carlito"/>
              </a:rPr>
              <a:t>the My Computer </a:t>
            </a:r>
            <a:r>
              <a:rPr sz="2200" spc="-10" dirty="0">
                <a:latin typeface="Carlito"/>
                <a:cs typeface="Carlito"/>
              </a:rPr>
              <a:t>icon (on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deskto  </a:t>
            </a:r>
            <a:r>
              <a:rPr sz="2200" spc="-5" dirty="0">
                <a:latin typeface="Carlito"/>
                <a:cs typeface="Carlito"/>
              </a:rPr>
              <a:t>Choose </a:t>
            </a:r>
            <a:r>
              <a:rPr sz="2200" spc="-10" dirty="0">
                <a:latin typeface="Carlito"/>
                <a:cs typeface="Carlito"/>
              </a:rPr>
              <a:t>Open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Or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499" y="5105527"/>
            <a:ext cx="55010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rlito"/>
                <a:cs typeface="Carlito"/>
              </a:rPr>
              <a:t>Open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Start </a:t>
            </a:r>
            <a:r>
              <a:rPr sz="2200" spc="-5" dirty="0">
                <a:latin typeface="Carlito"/>
                <a:cs typeface="Carlito"/>
              </a:rPr>
              <a:t>menu and choose </a:t>
            </a:r>
            <a:r>
              <a:rPr sz="2200" b="1" spc="-10" dirty="0">
                <a:latin typeface="Carlito"/>
                <a:cs typeface="Carlito"/>
              </a:rPr>
              <a:t>My</a:t>
            </a:r>
            <a:r>
              <a:rPr sz="2200" b="1" spc="40" dirty="0">
                <a:latin typeface="Carlito"/>
                <a:cs typeface="Carlito"/>
              </a:rPr>
              <a:t> </a:t>
            </a:r>
            <a:r>
              <a:rPr sz="2200" b="1" spc="-10" dirty="0">
                <a:latin typeface="Carlito"/>
                <a:cs typeface="Carlito"/>
              </a:rPr>
              <a:t>Computer</a:t>
            </a:r>
            <a:r>
              <a:rPr sz="2200" spc="-10" dirty="0">
                <a:latin typeface="Carlito"/>
                <a:cs typeface="Carlito"/>
              </a:rPr>
              <a:t>.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93635" y="3979164"/>
            <a:ext cx="2001012" cy="1807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9352" y="2993135"/>
            <a:ext cx="1671955" cy="116205"/>
          </a:xfrm>
          <a:custGeom>
            <a:avLst/>
            <a:gdLst/>
            <a:ahLst/>
            <a:cxnLst/>
            <a:rect l="l" t="t" r="r" b="b"/>
            <a:pathLst>
              <a:path w="1671955" h="116205">
                <a:moveTo>
                  <a:pt x="1671827" y="0"/>
                </a:moveTo>
                <a:lnTo>
                  <a:pt x="0" y="0"/>
                </a:lnTo>
                <a:lnTo>
                  <a:pt x="0" y="115824"/>
                </a:lnTo>
                <a:lnTo>
                  <a:pt x="1671827" y="115824"/>
                </a:lnTo>
                <a:lnTo>
                  <a:pt x="16718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6461" y="1029080"/>
            <a:ext cx="8153400" cy="3430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100"/>
              </a:spcBef>
            </a:pPr>
            <a:r>
              <a:rPr sz="2100" b="1" spc="-5" dirty="0">
                <a:latin typeface="Carlito"/>
                <a:cs typeface="Carlito"/>
              </a:rPr>
              <a:t>Exploring My</a:t>
            </a:r>
            <a:r>
              <a:rPr sz="2100" b="1" spc="5" dirty="0">
                <a:latin typeface="Carlito"/>
                <a:cs typeface="Carlito"/>
              </a:rPr>
              <a:t> </a:t>
            </a:r>
            <a:r>
              <a:rPr sz="2100" b="1" spc="-10" dirty="0">
                <a:latin typeface="Carlito"/>
                <a:cs typeface="Carlito"/>
              </a:rPr>
              <a:t>Computer</a:t>
            </a:r>
            <a:endParaRPr sz="2100">
              <a:latin typeface="Carlito"/>
              <a:cs typeface="Carlito"/>
            </a:endParaRPr>
          </a:p>
          <a:p>
            <a:pPr marL="516255" marR="836930">
              <a:lnSpc>
                <a:spcPct val="80000"/>
              </a:lnSpc>
              <a:spcBef>
                <a:spcPts val="525"/>
              </a:spcBef>
            </a:pPr>
            <a:r>
              <a:rPr sz="2200" b="1" spc="-10" dirty="0">
                <a:latin typeface="Carlito"/>
                <a:cs typeface="Carlito"/>
              </a:rPr>
              <a:t>My </a:t>
            </a:r>
            <a:r>
              <a:rPr sz="2200" b="1" spc="-15" dirty="0">
                <a:latin typeface="Carlito"/>
                <a:cs typeface="Carlito"/>
              </a:rPr>
              <a:t>Computer </a:t>
            </a:r>
            <a:r>
              <a:rPr sz="2200" b="1" spc="-5" dirty="0">
                <a:latin typeface="Carlito"/>
                <a:cs typeface="Carlito"/>
              </a:rPr>
              <a:t>or </a:t>
            </a:r>
            <a:r>
              <a:rPr sz="2200" b="1" spc="-10" dirty="0">
                <a:latin typeface="Carlito"/>
                <a:cs typeface="Carlito"/>
              </a:rPr>
              <a:t>file </a:t>
            </a:r>
            <a:r>
              <a:rPr sz="2200" b="1" spc="-15" dirty="0">
                <a:latin typeface="Carlito"/>
                <a:cs typeface="Carlito"/>
              </a:rPr>
              <a:t>explorer </a:t>
            </a:r>
            <a:r>
              <a:rPr sz="2200" spc="-5" dirty="0">
                <a:latin typeface="Carlito"/>
                <a:cs typeface="Carlito"/>
              </a:rPr>
              <a:t>is another </a:t>
            </a:r>
            <a:r>
              <a:rPr sz="2200" spc="-10" dirty="0">
                <a:latin typeface="Carlito"/>
                <a:cs typeface="Carlito"/>
              </a:rPr>
              <a:t>tool </a:t>
            </a:r>
            <a:r>
              <a:rPr sz="2200" spc="-15" dirty="0">
                <a:latin typeface="Carlito"/>
                <a:cs typeface="Carlito"/>
              </a:rPr>
              <a:t>you can </a:t>
            </a:r>
            <a:r>
              <a:rPr sz="2200" spc="-10" dirty="0">
                <a:latin typeface="Carlito"/>
                <a:cs typeface="Carlito"/>
              </a:rPr>
              <a:t>use </a:t>
            </a:r>
            <a:r>
              <a:rPr sz="2200" spc="-20" dirty="0">
                <a:latin typeface="Carlito"/>
                <a:cs typeface="Carlito"/>
              </a:rPr>
              <a:t>to  </a:t>
            </a:r>
            <a:r>
              <a:rPr sz="2200" spc="-10" dirty="0">
                <a:latin typeface="Carlito"/>
                <a:cs typeface="Carlito"/>
              </a:rPr>
              <a:t>manage files </a:t>
            </a:r>
            <a:r>
              <a:rPr sz="2200" spc="-5" dirty="0">
                <a:latin typeface="Carlito"/>
                <a:cs typeface="Carlito"/>
              </a:rPr>
              <a:t>and</a:t>
            </a:r>
            <a:r>
              <a:rPr sz="2200" spc="3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folders.</a:t>
            </a:r>
            <a:endParaRPr sz="2200">
              <a:latin typeface="Carlito"/>
              <a:cs typeface="Carlito"/>
            </a:endParaRPr>
          </a:p>
          <a:p>
            <a:pPr marL="516255" marR="55880">
              <a:lnSpc>
                <a:spcPts val="2110"/>
              </a:lnSpc>
              <a:spcBef>
                <a:spcPts val="509"/>
              </a:spcBef>
            </a:pPr>
            <a:r>
              <a:rPr sz="2200" spc="-5" dirty="0">
                <a:latin typeface="Carlito"/>
                <a:cs typeface="Carlito"/>
              </a:rPr>
              <a:t>With thes </a:t>
            </a:r>
            <a:r>
              <a:rPr sz="2200" spc="-10" dirty="0">
                <a:latin typeface="Carlito"/>
                <a:cs typeface="Carlito"/>
              </a:rPr>
              <a:t>tool, </a:t>
            </a:r>
            <a:r>
              <a:rPr sz="2200" spc="-15" dirty="0">
                <a:latin typeface="Carlito"/>
                <a:cs typeface="Carlito"/>
              </a:rPr>
              <a:t>you can create, </a:t>
            </a:r>
            <a:r>
              <a:rPr sz="2200" spc="-10" dirty="0">
                <a:latin typeface="Carlito"/>
                <a:cs typeface="Carlito"/>
              </a:rPr>
              <a:t>rename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move folders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45" dirty="0">
                <a:latin typeface="Carlito"/>
                <a:cs typeface="Carlito"/>
              </a:rPr>
              <a:t>copy,  </a:t>
            </a:r>
            <a:r>
              <a:rPr sz="2200" spc="-10" dirty="0">
                <a:latin typeface="Carlito"/>
                <a:cs typeface="Carlito"/>
              </a:rPr>
              <a:t>print, </a:t>
            </a:r>
            <a:r>
              <a:rPr sz="2200" spc="-15" dirty="0">
                <a:latin typeface="Carlito"/>
                <a:cs typeface="Carlito"/>
              </a:rPr>
              <a:t>move, delete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rename files. </a:t>
            </a:r>
            <a:r>
              <a:rPr sz="2200" spc="-5" dirty="0">
                <a:latin typeface="Carlito"/>
                <a:cs typeface="Carlito"/>
              </a:rPr>
              <a:t>It also </a:t>
            </a:r>
            <a:r>
              <a:rPr sz="2200" spc="-10" dirty="0">
                <a:latin typeface="Carlito"/>
                <a:cs typeface="Carlito"/>
              </a:rPr>
              <a:t>allows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gain  </a:t>
            </a:r>
            <a:r>
              <a:rPr sz="2200" spc="-5" dirty="0">
                <a:latin typeface="Carlito"/>
                <a:cs typeface="Carlito"/>
              </a:rPr>
              <a:t>access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other </a:t>
            </a:r>
            <a:r>
              <a:rPr sz="2200" spc="-20" dirty="0">
                <a:latin typeface="Carlito"/>
                <a:cs typeface="Carlito"/>
              </a:rPr>
              <a:t>system</a:t>
            </a:r>
            <a:r>
              <a:rPr sz="2200" spc="5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tools.</a:t>
            </a:r>
            <a:endParaRPr sz="2200">
              <a:latin typeface="Carlito"/>
              <a:cs typeface="Carlito"/>
            </a:endParaRPr>
          </a:p>
          <a:p>
            <a:pPr marL="63500">
              <a:lnSpc>
                <a:spcPts val="2430"/>
              </a:lnSpc>
            </a:pPr>
            <a:r>
              <a:rPr sz="750" b="1" spc="-10" dirty="0">
                <a:latin typeface="Arial"/>
                <a:cs typeface="Arial"/>
              </a:rPr>
              <a:t>F</a:t>
            </a:r>
            <a:r>
              <a:rPr sz="750" b="1" spc="5" dirty="0">
                <a:latin typeface="Arial"/>
                <a:cs typeface="Arial"/>
              </a:rPr>
              <a:t>i</a:t>
            </a:r>
            <a:r>
              <a:rPr sz="750" b="1" spc="-10" dirty="0">
                <a:latin typeface="Arial"/>
                <a:cs typeface="Arial"/>
              </a:rPr>
              <a:t>gu</a:t>
            </a:r>
            <a:r>
              <a:rPr sz="750" b="1" spc="5" dirty="0">
                <a:latin typeface="Arial"/>
                <a:cs typeface="Arial"/>
              </a:rPr>
              <a:t>r</a:t>
            </a:r>
            <a:r>
              <a:rPr sz="750" b="1" dirty="0">
                <a:latin typeface="Arial"/>
                <a:cs typeface="Arial"/>
              </a:rPr>
              <a:t>e</a:t>
            </a:r>
            <a:r>
              <a:rPr sz="750" b="1" spc="-5" dirty="0">
                <a:latin typeface="Arial"/>
                <a:cs typeface="Arial"/>
              </a:rPr>
              <a:t> </a:t>
            </a:r>
            <a:r>
              <a:rPr sz="750" b="1" dirty="0">
                <a:latin typeface="Arial"/>
                <a:cs typeface="Arial"/>
              </a:rPr>
              <a:t>9.3</a:t>
            </a:r>
            <a:r>
              <a:rPr sz="750" b="1" spc="-5" dirty="0">
                <a:latin typeface="Arial"/>
                <a:cs typeface="Arial"/>
              </a:rPr>
              <a:t> </a:t>
            </a:r>
            <a:r>
              <a:rPr sz="750" b="1" spc="-10" dirty="0">
                <a:latin typeface="Arial"/>
                <a:cs typeface="Arial"/>
              </a:rPr>
              <a:t>Th</a:t>
            </a:r>
            <a:r>
              <a:rPr sz="750" b="1" dirty="0">
                <a:latin typeface="Arial"/>
                <a:cs typeface="Arial"/>
              </a:rPr>
              <a:t>e</a:t>
            </a:r>
            <a:r>
              <a:rPr sz="750" b="1" spc="5" dirty="0">
                <a:latin typeface="Arial"/>
                <a:cs typeface="Arial"/>
              </a:rPr>
              <a:t> </a:t>
            </a:r>
            <a:r>
              <a:rPr sz="750" b="1" spc="10" dirty="0">
                <a:latin typeface="Arial"/>
                <a:cs typeface="Arial"/>
              </a:rPr>
              <a:t>M</a:t>
            </a:r>
            <a:r>
              <a:rPr sz="750" b="1" dirty="0">
                <a:latin typeface="Arial"/>
                <a:cs typeface="Arial"/>
              </a:rPr>
              <a:t>y</a:t>
            </a:r>
            <a:r>
              <a:rPr sz="750" b="1" spc="-20" dirty="0">
                <a:latin typeface="Arial"/>
                <a:cs typeface="Arial"/>
              </a:rPr>
              <a:t> </a:t>
            </a:r>
            <a:r>
              <a:rPr sz="750" b="1" spc="-10" dirty="0">
                <a:latin typeface="Arial"/>
                <a:cs typeface="Arial"/>
              </a:rPr>
              <a:t>Co</a:t>
            </a:r>
            <a:r>
              <a:rPr sz="750" b="1" spc="5" dirty="0">
                <a:latin typeface="Arial"/>
                <a:cs typeface="Arial"/>
              </a:rPr>
              <a:t>m</a:t>
            </a:r>
            <a:r>
              <a:rPr sz="750" b="1" spc="-10" dirty="0">
                <a:latin typeface="Arial"/>
                <a:cs typeface="Arial"/>
              </a:rPr>
              <a:t>pu</a:t>
            </a:r>
            <a:r>
              <a:rPr sz="750" b="1" dirty="0">
                <a:latin typeface="Arial"/>
                <a:cs typeface="Arial"/>
              </a:rPr>
              <a:t>ter</a:t>
            </a:r>
            <a:r>
              <a:rPr sz="750" b="1" spc="-15" dirty="0">
                <a:latin typeface="Arial"/>
                <a:cs typeface="Arial"/>
              </a:rPr>
              <a:t> </a:t>
            </a:r>
            <a:r>
              <a:rPr sz="750" b="1" dirty="0">
                <a:latin typeface="Arial"/>
                <a:cs typeface="Arial"/>
              </a:rPr>
              <a:t>wi</a:t>
            </a:r>
            <a:r>
              <a:rPr sz="750" b="1" spc="-10" dirty="0">
                <a:latin typeface="Arial"/>
                <a:cs typeface="Arial"/>
              </a:rPr>
              <a:t>ndo</a:t>
            </a:r>
            <a:r>
              <a:rPr sz="750" b="1" spc="-25" dirty="0">
                <a:latin typeface="Arial"/>
                <a:cs typeface="Arial"/>
              </a:rPr>
              <a:t>w</a:t>
            </a:r>
            <a:r>
              <a:rPr sz="3300" spc="-7" baseline="-6313" dirty="0">
                <a:latin typeface="Carlito"/>
                <a:cs typeface="Carlito"/>
              </a:rPr>
              <a:t>y</a:t>
            </a:r>
            <a:r>
              <a:rPr sz="3300" baseline="-6313" dirty="0">
                <a:latin typeface="Carlito"/>
                <a:cs typeface="Carlito"/>
              </a:rPr>
              <a:t> </a:t>
            </a:r>
            <a:r>
              <a:rPr sz="3300" spc="-15" baseline="-6313" dirty="0">
                <a:latin typeface="Carlito"/>
                <a:cs typeface="Carlito"/>
              </a:rPr>
              <a:t>C</a:t>
            </a:r>
            <a:r>
              <a:rPr sz="3300" spc="7" baseline="-6313" dirty="0">
                <a:latin typeface="Carlito"/>
                <a:cs typeface="Carlito"/>
              </a:rPr>
              <a:t>o</a:t>
            </a:r>
            <a:r>
              <a:rPr sz="3300" spc="-7" baseline="-6313" dirty="0">
                <a:latin typeface="Carlito"/>
                <a:cs typeface="Carlito"/>
              </a:rPr>
              <a:t>mpu</a:t>
            </a:r>
            <a:r>
              <a:rPr sz="3300" spc="-60" baseline="-6313" dirty="0">
                <a:latin typeface="Carlito"/>
                <a:cs typeface="Carlito"/>
              </a:rPr>
              <a:t>t</a:t>
            </a:r>
            <a:r>
              <a:rPr sz="3300" spc="-7" baseline="-6313" dirty="0">
                <a:latin typeface="Carlito"/>
                <a:cs typeface="Carlito"/>
              </a:rPr>
              <a:t>er:</a:t>
            </a:r>
            <a:endParaRPr sz="3300" baseline="-6313">
              <a:latin typeface="Carlito"/>
              <a:cs typeface="Carlito"/>
            </a:endParaRPr>
          </a:p>
          <a:p>
            <a:pPr marL="516255" marR="84455">
              <a:lnSpc>
                <a:spcPts val="2110"/>
              </a:lnSpc>
              <a:spcBef>
                <a:spcPts val="745"/>
              </a:spcBef>
              <a:buChar char="•"/>
              <a:tabLst>
                <a:tab pos="1430655" algn="l"/>
                <a:tab pos="1431290" algn="l"/>
              </a:tabLst>
            </a:pPr>
            <a:r>
              <a:rPr sz="2200" spc="-5" dirty="0">
                <a:latin typeface="Carlito"/>
                <a:cs typeface="Carlito"/>
              </a:rPr>
              <a:t>Double-click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5" dirty="0">
                <a:latin typeface="Carlito"/>
                <a:cs typeface="Carlito"/>
              </a:rPr>
              <a:t>My </a:t>
            </a:r>
            <a:r>
              <a:rPr sz="2200" spc="-10" dirty="0">
                <a:latin typeface="Carlito"/>
                <a:cs typeface="Carlito"/>
              </a:rPr>
              <a:t>Computer icon </a:t>
            </a:r>
            <a:r>
              <a:rPr sz="2200" spc="-5" dirty="0">
                <a:latin typeface="Carlito"/>
                <a:cs typeface="Carlito"/>
              </a:rPr>
              <a:t>on the </a:t>
            </a:r>
            <a:r>
              <a:rPr sz="2200" spc="-15" dirty="0">
                <a:latin typeface="Carlito"/>
                <a:cs typeface="Carlito"/>
              </a:rPr>
              <a:t>desktop </a:t>
            </a: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click  </a:t>
            </a:r>
            <a:r>
              <a:rPr sz="2200" spc="-5" dirty="0">
                <a:latin typeface="Carlito"/>
                <a:cs typeface="Carlito"/>
              </a:rPr>
              <a:t>on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5" dirty="0">
                <a:latin typeface="Carlito"/>
                <a:cs typeface="Carlito"/>
              </a:rPr>
              <a:t>file </a:t>
            </a:r>
            <a:r>
              <a:rPr sz="2200" spc="-15" dirty="0">
                <a:latin typeface="Carlito"/>
                <a:cs typeface="Carlito"/>
              </a:rPr>
              <a:t>explorer </a:t>
            </a:r>
            <a:r>
              <a:rPr sz="2200" spc="-20" dirty="0">
                <a:latin typeface="Carlito"/>
                <a:cs typeface="Carlito"/>
              </a:rPr>
              <a:t>button </a:t>
            </a:r>
            <a:r>
              <a:rPr sz="2200" spc="-5" dirty="0">
                <a:latin typeface="Carlito"/>
                <a:cs typeface="Carlito"/>
              </a:rPr>
              <a:t>on </a:t>
            </a:r>
            <a:r>
              <a:rPr sz="2200" spc="-10" dirty="0">
                <a:latin typeface="Carlito"/>
                <a:cs typeface="Carlito"/>
              </a:rPr>
              <a:t>the task</a:t>
            </a:r>
            <a:r>
              <a:rPr sz="2200" spc="8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bar</a:t>
            </a:r>
            <a:endParaRPr sz="2200">
              <a:latin typeface="Carlito"/>
              <a:cs typeface="Carlito"/>
            </a:endParaRPr>
          </a:p>
          <a:p>
            <a:pPr marL="516255">
              <a:lnSpc>
                <a:spcPct val="100000"/>
              </a:lnSpc>
              <a:spcBef>
                <a:spcPts val="20"/>
              </a:spcBef>
            </a:pPr>
            <a:r>
              <a:rPr sz="2200" spc="-10" dirty="0">
                <a:latin typeface="Carlito"/>
                <a:cs typeface="Carlito"/>
              </a:rPr>
              <a:t>My Computer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opens.</a:t>
            </a:r>
            <a:endParaRPr sz="2200">
              <a:latin typeface="Carlito"/>
              <a:cs typeface="Carlito"/>
            </a:endParaRPr>
          </a:p>
          <a:p>
            <a:pPr marL="516255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latin typeface="Carlito"/>
                <a:cs typeface="Carlito"/>
              </a:rPr>
              <a:t>Alternatively</a:t>
            </a:r>
            <a:r>
              <a:rPr sz="2200" spc="-10" dirty="0">
                <a:latin typeface="Carlito"/>
                <a:cs typeface="Carlito"/>
              </a:rPr>
              <a:t>,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43425" y="944626"/>
            <a:ext cx="57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Arial"/>
                <a:cs typeface="Arial"/>
              </a:rPr>
              <a:t>,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086739"/>
            <a:ext cx="36036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latin typeface="Carlito"/>
                <a:cs typeface="Carlito"/>
              </a:rPr>
              <a:t>Copying Files </a:t>
            </a:r>
            <a:r>
              <a:rPr sz="2700" b="1" dirty="0">
                <a:latin typeface="Carlito"/>
                <a:cs typeface="Carlito"/>
              </a:rPr>
              <a:t>and</a:t>
            </a:r>
            <a:r>
              <a:rPr sz="2700" b="1" spc="-60" dirty="0">
                <a:latin typeface="Carlito"/>
                <a:cs typeface="Carlito"/>
              </a:rPr>
              <a:t> </a:t>
            </a:r>
            <a:r>
              <a:rPr sz="2700" b="1" spc="-15" dirty="0">
                <a:latin typeface="Carlito"/>
                <a:cs typeface="Carlito"/>
              </a:rPr>
              <a:t>Folders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499172"/>
            <a:ext cx="7147559" cy="20751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114" dirty="0">
                <a:latin typeface="Carlito"/>
                <a:cs typeface="Carlito"/>
              </a:rPr>
              <a:t>To </a:t>
            </a:r>
            <a:r>
              <a:rPr sz="2400" spc="-15" dirty="0">
                <a:latin typeface="Carlito"/>
                <a:cs typeface="Carlito"/>
              </a:rPr>
              <a:t>copy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file or</a:t>
            </a:r>
            <a:r>
              <a:rPr sz="2400" spc="105" dirty="0">
                <a:latin typeface="Carlito"/>
                <a:cs typeface="Carlito"/>
              </a:rPr>
              <a:t> </a:t>
            </a:r>
            <a:r>
              <a:rPr sz="2400" spc="-40" dirty="0">
                <a:latin typeface="Carlito"/>
                <a:cs typeface="Carlito"/>
              </a:rPr>
              <a:t>folder,</a:t>
            </a:r>
            <a:endParaRPr sz="2400">
              <a:latin typeface="Carlito"/>
              <a:cs typeface="Carlito"/>
            </a:endParaRPr>
          </a:p>
          <a:p>
            <a:pPr marL="12700" marR="358140">
              <a:lnSpc>
                <a:spcPct val="100000"/>
              </a:lnSpc>
              <a:spcBef>
                <a:spcPts val="575"/>
              </a:spcBef>
              <a:buChar char="•"/>
              <a:tabLst>
                <a:tab pos="926465" algn="l"/>
                <a:tab pos="927100" algn="l"/>
                <a:tab pos="1841500" algn="l"/>
              </a:tabLst>
            </a:pPr>
            <a:r>
              <a:rPr sz="2400" spc="-15" dirty="0">
                <a:latin typeface="Carlito"/>
                <a:cs typeface="Carlito"/>
              </a:rPr>
              <a:t>Locate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or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15" dirty="0">
                <a:latin typeface="Carlito"/>
                <a:cs typeface="Carlito"/>
              </a:rPr>
              <a:t>want to copy </a:t>
            </a:r>
            <a:r>
              <a:rPr sz="2400" dirty="0">
                <a:latin typeface="Carlito"/>
                <a:cs typeface="Carlito"/>
              </a:rPr>
              <a:t>in the  </a:t>
            </a:r>
            <a:r>
              <a:rPr sz="2400" spc="-10" dirty="0">
                <a:latin typeface="Carlito"/>
                <a:cs typeface="Carlito"/>
              </a:rPr>
              <a:t>required	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its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subfolders.</a:t>
            </a:r>
            <a:endParaRPr sz="2400">
              <a:latin typeface="Carlito"/>
              <a:cs typeface="Carlito"/>
            </a:endParaRPr>
          </a:p>
          <a:p>
            <a:pPr marL="926465" indent="-914400">
              <a:lnSpc>
                <a:spcPct val="100000"/>
              </a:lnSpc>
              <a:spcBef>
                <a:spcPts val="580"/>
              </a:spcBef>
              <a:buChar char="•"/>
              <a:tabLst>
                <a:tab pos="926465" algn="l"/>
                <a:tab pos="927100" algn="l"/>
              </a:tabLst>
            </a:pPr>
            <a:r>
              <a:rPr sz="2400" spc="-5" dirty="0">
                <a:latin typeface="Carlito"/>
                <a:cs typeface="Carlito"/>
              </a:rPr>
              <a:t>Click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or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15" dirty="0">
                <a:latin typeface="Carlito"/>
                <a:cs typeface="Carlito"/>
              </a:rPr>
              <a:t>want to </a:t>
            </a:r>
            <a:r>
              <a:rPr sz="2400" spc="-40" dirty="0">
                <a:latin typeface="Carlito"/>
                <a:cs typeface="Carlito"/>
              </a:rPr>
              <a:t>copy. </a:t>
            </a:r>
            <a:r>
              <a:rPr sz="2400" spc="-5" dirty="0">
                <a:latin typeface="Carlito"/>
                <a:cs typeface="Carlito"/>
              </a:rPr>
              <a:t>The file or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spc="-15" dirty="0">
                <a:latin typeface="Carlito"/>
                <a:cs typeface="Carlito"/>
              </a:rPr>
              <a:t>folder	darkens </a:t>
            </a: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5" dirty="0">
                <a:latin typeface="Carlito"/>
                <a:cs typeface="Carlito"/>
              </a:rPr>
              <a:t>select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it.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242" y="4426711"/>
            <a:ext cx="15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•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0242" y="5231079"/>
            <a:ext cx="152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•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542" y="3621785"/>
            <a:ext cx="7676515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5080" indent="-914400">
              <a:lnSpc>
                <a:spcPct val="100000"/>
              </a:lnSpc>
              <a:spcBef>
                <a:spcPts val="100"/>
              </a:spcBef>
              <a:buChar char="•"/>
              <a:tabLst>
                <a:tab pos="926465" algn="l"/>
                <a:tab pos="927100" algn="l"/>
              </a:tabLst>
            </a:pPr>
            <a:r>
              <a:rPr sz="2400" dirty="0">
                <a:latin typeface="Carlito"/>
                <a:cs typeface="Carlito"/>
              </a:rPr>
              <a:t>Under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Folder </a:t>
            </a:r>
            <a:r>
              <a:rPr sz="2400" spc="-40" dirty="0">
                <a:latin typeface="Carlito"/>
                <a:cs typeface="Carlito"/>
              </a:rPr>
              <a:t>Tasks, </a:t>
            </a:r>
            <a:r>
              <a:rPr sz="2400" dirty="0">
                <a:latin typeface="Carlito"/>
                <a:cs typeface="Carlito"/>
              </a:rPr>
              <a:t>click </a:t>
            </a:r>
            <a:r>
              <a:rPr sz="2400" spc="-10" dirty="0">
                <a:latin typeface="Carlito"/>
                <a:cs typeface="Carlito"/>
              </a:rPr>
              <a:t>Copy </a:t>
            </a:r>
            <a:r>
              <a:rPr sz="2400" dirty="0">
                <a:latin typeface="Carlito"/>
                <a:cs typeface="Carlito"/>
              </a:rPr>
              <a:t>this </a:t>
            </a:r>
            <a:r>
              <a:rPr sz="2400" spc="-5" dirty="0">
                <a:latin typeface="Carlito"/>
                <a:cs typeface="Carlito"/>
              </a:rPr>
              <a:t>file or </a:t>
            </a:r>
            <a:r>
              <a:rPr sz="2400" spc="-10" dirty="0">
                <a:latin typeface="Carlito"/>
                <a:cs typeface="Carlito"/>
              </a:rPr>
              <a:t>Copy  </a:t>
            </a:r>
            <a:r>
              <a:rPr sz="2400" dirty="0">
                <a:latin typeface="Carlito"/>
                <a:cs typeface="Carlito"/>
              </a:rPr>
              <a:t>this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45" dirty="0">
                <a:latin typeface="Carlito"/>
                <a:cs typeface="Carlito"/>
              </a:rPr>
              <a:t>folder.</a:t>
            </a:r>
            <a:endParaRPr sz="2400">
              <a:latin typeface="Carlito"/>
              <a:cs typeface="Carlito"/>
            </a:endParaRPr>
          </a:p>
          <a:p>
            <a:pPr marL="12700" marR="318770" indent="913765">
              <a:lnSpc>
                <a:spcPct val="100000"/>
              </a:lnSpc>
              <a:spcBef>
                <a:spcPts val="575"/>
              </a:spcBef>
              <a:tabLst>
                <a:tab pos="926465" algn="l"/>
              </a:tabLst>
            </a:pP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10" dirty="0">
                <a:latin typeface="Carlito"/>
                <a:cs typeface="Carlito"/>
              </a:rPr>
              <a:t>Copy Items </a:t>
            </a:r>
            <a:r>
              <a:rPr sz="2400" spc="-5" dirty="0">
                <a:latin typeface="Carlito"/>
                <a:cs typeface="Carlito"/>
              </a:rPr>
              <a:t>dialog </a:t>
            </a:r>
            <a:r>
              <a:rPr sz="2400" spc="-20" dirty="0">
                <a:latin typeface="Carlito"/>
                <a:cs typeface="Carlito"/>
              </a:rPr>
              <a:t>box, </a:t>
            </a:r>
            <a:r>
              <a:rPr sz="2400" spc="-5" dirty="0">
                <a:latin typeface="Carlito"/>
                <a:cs typeface="Carlito"/>
              </a:rPr>
              <a:t>select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place </a:t>
            </a:r>
            <a:r>
              <a:rPr sz="2400" spc="-10" dirty="0">
                <a:latin typeface="Carlito"/>
                <a:cs typeface="Carlito"/>
              </a:rPr>
              <a:t>where  you	</a:t>
            </a:r>
            <a:r>
              <a:rPr sz="2400" spc="-15" dirty="0">
                <a:latin typeface="Carlito"/>
                <a:cs typeface="Carlito"/>
              </a:rPr>
              <a:t>want to copy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or </a:t>
            </a:r>
            <a:r>
              <a:rPr sz="2400" spc="-15" dirty="0">
                <a:latin typeface="Carlito"/>
                <a:cs typeface="Carlito"/>
              </a:rPr>
              <a:t>folder</a:t>
            </a:r>
            <a:r>
              <a:rPr sz="2400" spc="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from.</a:t>
            </a:r>
            <a:endParaRPr sz="2400">
              <a:latin typeface="Carlito"/>
              <a:cs typeface="Carlito"/>
            </a:endParaRPr>
          </a:p>
          <a:p>
            <a:pPr marL="926465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Carlito"/>
                <a:cs typeface="Carlito"/>
              </a:rPr>
              <a:t>Click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Copy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button.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242" y="1082166"/>
            <a:ext cx="4914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OR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670685"/>
            <a:ext cx="7497445" cy="307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15640">
              <a:lnSpc>
                <a:spcPct val="127099"/>
              </a:lnSpc>
              <a:spcBef>
                <a:spcPts val="100"/>
              </a:spcBef>
              <a:buSzPct val="133333"/>
              <a:buChar char="•"/>
              <a:tabLst>
                <a:tab pos="926465" algn="l"/>
                <a:tab pos="927100" algn="l"/>
              </a:tabLst>
            </a:pPr>
            <a:r>
              <a:rPr sz="2400" spc="-5" dirty="0">
                <a:latin typeface="Carlito"/>
                <a:cs typeface="Carlito"/>
              </a:rPr>
              <a:t>Choose </a:t>
            </a:r>
            <a:r>
              <a:rPr sz="2400" spc="-10" dirty="0">
                <a:latin typeface="Carlito"/>
                <a:cs typeface="Carlito"/>
              </a:rPr>
              <a:t>Edit </a:t>
            </a:r>
            <a:r>
              <a:rPr sz="2400" spc="-40" dirty="0">
                <a:latin typeface="Carlito"/>
                <a:cs typeface="Carlito"/>
              </a:rPr>
              <a:t>Copy. </a:t>
            </a:r>
            <a:r>
              <a:rPr sz="2400" dirty="0">
                <a:latin typeface="Carlito"/>
                <a:cs typeface="Carlito"/>
              </a:rPr>
              <a:t>(Ctrl +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C)  </a:t>
            </a:r>
            <a:r>
              <a:rPr sz="2400" spc="-20" dirty="0">
                <a:latin typeface="Carlito"/>
                <a:cs typeface="Carlito"/>
              </a:rPr>
              <a:t>Alternatively,</a:t>
            </a:r>
            <a:endParaRPr sz="2400">
              <a:latin typeface="Carlito"/>
              <a:cs typeface="Carlito"/>
            </a:endParaRPr>
          </a:p>
          <a:p>
            <a:pPr marL="926465" indent="-914400">
              <a:lnSpc>
                <a:spcPct val="100000"/>
              </a:lnSpc>
              <a:spcBef>
                <a:spcPts val="575"/>
              </a:spcBef>
              <a:buChar char="•"/>
              <a:tabLst>
                <a:tab pos="926465" algn="l"/>
                <a:tab pos="927100" algn="l"/>
              </a:tabLst>
            </a:pPr>
            <a:r>
              <a:rPr sz="2400" spc="-5" dirty="0">
                <a:latin typeface="Carlito"/>
                <a:cs typeface="Carlito"/>
              </a:rPr>
              <a:t>Right-click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spc="-10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choose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40" dirty="0">
                <a:latin typeface="Carlito"/>
                <a:cs typeface="Carlito"/>
              </a:rPr>
              <a:t>Copy.</a:t>
            </a:r>
            <a:endParaRPr sz="2400">
              <a:latin typeface="Carlito"/>
              <a:cs typeface="Carlito"/>
            </a:endParaRPr>
          </a:p>
          <a:p>
            <a:pPr marL="926465" marR="5080" indent="-914400">
              <a:lnSpc>
                <a:spcPct val="100000"/>
              </a:lnSpc>
              <a:spcBef>
                <a:spcPts val="580"/>
              </a:spcBef>
              <a:buChar char="•"/>
              <a:tabLst>
                <a:tab pos="926465" algn="l"/>
                <a:tab pos="927100" algn="l"/>
              </a:tabLst>
            </a:pPr>
            <a:r>
              <a:rPr sz="2400" spc="-15" dirty="0">
                <a:latin typeface="Carlito"/>
                <a:cs typeface="Carlito"/>
              </a:rPr>
              <a:t>Locate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or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15" dirty="0">
                <a:latin typeface="Carlito"/>
                <a:cs typeface="Carlito"/>
              </a:rPr>
              <a:t>want to copy </a:t>
            </a:r>
            <a:r>
              <a:rPr sz="2400" dirty="0">
                <a:latin typeface="Carlito"/>
                <a:cs typeface="Carlito"/>
              </a:rPr>
              <a:t>and choose  </a:t>
            </a:r>
            <a:r>
              <a:rPr sz="2400" spc="-15" dirty="0">
                <a:latin typeface="Carlito"/>
                <a:cs typeface="Carlito"/>
              </a:rPr>
              <a:t>Edit </a:t>
            </a:r>
            <a:r>
              <a:rPr sz="2400" spc="-20" dirty="0">
                <a:latin typeface="Carlito"/>
                <a:cs typeface="Carlito"/>
              </a:rPr>
              <a:t>Paste. </a:t>
            </a:r>
            <a:r>
              <a:rPr sz="2400" dirty="0">
                <a:latin typeface="Carlito"/>
                <a:cs typeface="Carlito"/>
              </a:rPr>
              <a:t>(Ctrl +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V)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Carlito"/>
                <a:cs typeface="Carlito"/>
              </a:rPr>
              <a:t>OR</a:t>
            </a:r>
            <a:endParaRPr sz="2400">
              <a:latin typeface="Carlito"/>
              <a:cs typeface="Carlito"/>
            </a:endParaRPr>
          </a:p>
          <a:p>
            <a:pPr marL="926465" indent="-914400">
              <a:lnSpc>
                <a:spcPct val="100000"/>
              </a:lnSpc>
              <a:spcBef>
                <a:spcPts val="575"/>
              </a:spcBef>
              <a:buChar char="•"/>
              <a:tabLst>
                <a:tab pos="926465" algn="l"/>
                <a:tab pos="927100" algn="l"/>
              </a:tabLst>
            </a:pPr>
            <a:r>
              <a:rPr sz="2400" spc="-5" dirty="0">
                <a:latin typeface="Carlito"/>
                <a:cs typeface="Carlito"/>
              </a:rPr>
              <a:t>Right-click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or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dirty="0">
                <a:latin typeface="Carlito"/>
                <a:cs typeface="Carlito"/>
              </a:rPr>
              <a:t>and choose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Paste.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103503"/>
            <a:ext cx="7664450" cy="307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20" dirty="0">
                <a:latin typeface="Carlito"/>
                <a:cs typeface="Carlito"/>
              </a:rPr>
              <a:t>Alternatively,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10" dirty="0">
                <a:latin typeface="Carlito"/>
                <a:cs typeface="Carlito"/>
              </a:rPr>
              <a:t>copy </a:t>
            </a:r>
            <a:r>
              <a:rPr sz="2700" dirty="0">
                <a:latin typeface="Carlito"/>
                <a:cs typeface="Carlito"/>
              </a:rPr>
              <a:t>a file </a:t>
            </a:r>
            <a:r>
              <a:rPr sz="2700" spc="-20" dirty="0">
                <a:latin typeface="Carlito"/>
                <a:cs typeface="Carlito"/>
              </a:rPr>
              <a:t>from </a:t>
            </a:r>
            <a:r>
              <a:rPr sz="2700" spc="-5" dirty="0">
                <a:latin typeface="Carlito"/>
                <a:cs typeface="Carlito"/>
              </a:rPr>
              <a:t>one </a:t>
            </a:r>
            <a:r>
              <a:rPr sz="2700" spc="-15" dirty="0">
                <a:latin typeface="Carlito"/>
                <a:cs typeface="Carlito"/>
              </a:rPr>
              <a:t>folder </a:t>
            </a:r>
            <a:r>
              <a:rPr sz="2700" spc="-10" dirty="0">
                <a:latin typeface="Carlito"/>
                <a:cs typeface="Carlito"/>
              </a:rPr>
              <a:t>(source) 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dirty="0">
                <a:latin typeface="Carlito"/>
                <a:cs typeface="Carlito"/>
              </a:rPr>
              <a:t>another </a:t>
            </a:r>
            <a:r>
              <a:rPr sz="2700" spc="-10" dirty="0">
                <a:latin typeface="Carlito"/>
                <a:cs typeface="Carlito"/>
              </a:rPr>
              <a:t>(destination) </a:t>
            </a:r>
            <a:r>
              <a:rPr sz="2700" spc="-15" dirty="0">
                <a:latin typeface="Carlito"/>
                <a:cs typeface="Carlito"/>
              </a:rPr>
              <a:t>you </a:t>
            </a:r>
            <a:r>
              <a:rPr sz="2700" spc="-10" dirty="0">
                <a:latin typeface="Carlito"/>
                <a:cs typeface="Carlito"/>
              </a:rPr>
              <a:t>can </a:t>
            </a:r>
            <a:r>
              <a:rPr sz="2700" spc="-5" dirty="0">
                <a:latin typeface="Carlito"/>
                <a:cs typeface="Carlito"/>
              </a:rPr>
              <a:t>open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0" dirty="0">
                <a:latin typeface="Carlito"/>
                <a:cs typeface="Carlito"/>
              </a:rPr>
              <a:t>juxtapose 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two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folders.</a:t>
            </a:r>
            <a:endParaRPr sz="2700">
              <a:latin typeface="Carlito"/>
              <a:cs typeface="Carlito"/>
            </a:endParaRPr>
          </a:p>
          <a:p>
            <a:pPr marL="355600" marR="305435" indent="-3429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70" dirty="0">
                <a:latin typeface="Carlito"/>
                <a:cs typeface="Carlito"/>
              </a:rPr>
              <a:t>You </a:t>
            </a:r>
            <a:r>
              <a:rPr sz="2700" spc="-15" dirty="0">
                <a:latin typeface="Carlito"/>
                <a:cs typeface="Carlito"/>
              </a:rPr>
              <a:t>can </a:t>
            </a:r>
            <a:r>
              <a:rPr sz="2700" dirty="0">
                <a:latin typeface="Carlito"/>
                <a:cs typeface="Carlito"/>
              </a:rPr>
              <a:t>then click </a:t>
            </a:r>
            <a:r>
              <a:rPr sz="2700" spc="-15" dirty="0">
                <a:latin typeface="Carlito"/>
                <a:cs typeface="Carlito"/>
              </a:rPr>
              <a:t>at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file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be </a:t>
            </a:r>
            <a:r>
              <a:rPr sz="2700" spc="-10" dirty="0">
                <a:latin typeface="Carlito"/>
                <a:cs typeface="Carlito"/>
              </a:rPr>
              <a:t>moved </a:t>
            </a:r>
            <a:r>
              <a:rPr sz="2700" spc="-15" dirty="0">
                <a:latin typeface="Carlito"/>
                <a:cs typeface="Carlito"/>
              </a:rPr>
              <a:t>from </a:t>
            </a:r>
            <a:r>
              <a:rPr sz="2700" dirty="0">
                <a:latin typeface="Carlito"/>
                <a:cs typeface="Carlito"/>
              </a:rPr>
              <a:t>the  </a:t>
            </a:r>
            <a:r>
              <a:rPr sz="2700" spc="-10" dirty="0">
                <a:latin typeface="Carlito"/>
                <a:cs typeface="Carlito"/>
              </a:rPr>
              <a:t>source </a:t>
            </a:r>
            <a:r>
              <a:rPr sz="2700" spc="-45" dirty="0">
                <a:latin typeface="Carlito"/>
                <a:cs typeface="Carlito"/>
              </a:rPr>
              <a:t>folder, </a:t>
            </a:r>
            <a:r>
              <a:rPr sz="2700" spc="-5" dirty="0">
                <a:latin typeface="Carlito"/>
                <a:cs typeface="Carlito"/>
              </a:rPr>
              <a:t>hold down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left </a:t>
            </a:r>
            <a:r>
              <a:rPr sz="2700" spc="-15" dirty="0">
                <a:latin typeface="Carlito"/>
                <a:cs typeface="Carlito"/>
              </a:rPr>
              <a:t>button </a:t>
            </a:r>
            <a:r>
              <a:rPr sz="2700" spc="-5" dirty="0">
                <a:latin typeface="Carlito"/>
                <a:cs typeface="Carlito"/>
              </a:rPr>
              <a:t>of </a:t>
            </a:r>
            <a:r>
              <a:rPr sz="2700" dirty="0">
                <a:latin typeface="Carlito"/>
                <a:cs typeface="Carlito"/>
              </a:rPr>
              <a:t>the  mouse and </a:t>
            </a:r>
            <a:r>
              <a:rPr sz="2700" spc="-20" dirty="0">
                <a:latin typeface="Carlito"/>
                <a:cs typeface="Carlito"/>
              </a:rPr>
              <a:t>drag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file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10" dirty="0">
                <a:latin typeface="Carlito"/>
                <a:cs typeface="Carlito"/>
              </a:rPr>
              <a:t>the destination</a:t>
            </a:r>
            <a:r>
              <a:rPr sz="2700" spc="-55" dirty="0">
                <a:latin typeface="Carlito"/>
                <a:cs typeface="Carlito"/>
              </a:rPr>
              <a:t> folder.</a:t>
            </a:r>
            <a:endParaRPr sz="27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rlito"/>
                <a:cs typeface="Carlito"/>
              </a:rPr>
              <a:t>Then </a:t>
            </a:r>
            <a:r>
              <a:rPr sz="2700" spc="-10" dirty="0">
                <a:latin typeface="Carlito"/>
                <a:cs typeface="Carlito"/>
              </a:rPr>
              <a:t>release </a:t>
            </a:r>
            <a:r>
              <a:rPr sz="2700" dirty="0">
                <a:latin typeface="Carlito"/>
                <a:cs typeface="Carlito"/>
              </a:rPr>
              <a:t>the mouse </a:t>
            </a:r>
            <a:r>
              <a:rPr sz="2700" spc="-20" dirty="0">
                <a:latin typeface="Carlito"/>
                <a:cs typeface="Carlito"/>
              </a:rPr>
              <a:t>button </a:t>
            </a:r>
            <a:r>
              <a:rPr sz="2700" dirty="0">
                <a:latin typeface="Carlito"/>
                <a:cs typeface="Carlito"/>
              </a:rPr>
              <a:t>when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done.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036446"/>
            <a:ext cx="7377430" cy="1264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/>
              <a:t>Moving Files </a:t>
            </a:r>
            <a:r>
              <a:rPr sz="2000" dirty="0"/>
              <a:t>and</a:t>
            </a:r>
            <a:r>
              <a:rPr sz="2000" spc="-5" dirty="0"/>
              <a:t> </a:t>
            </a:r>
            <a:r>
              <a:rPr sz="2000" spc="-15" dirty="0"/>
              <a:t>Folders</a:t>
            </a:r>
            <a:endParaRPr sz="2000"/>
          </a:p>
          <a:p>
            <a:pPr marL="12700" marR="5080">
              <a:lnSpc>
                <a:spcPct val="80000"/>
              </a:lnSpc>
              <a:spcBef>
                <a:spcPts val="439"/>
              </a:spcBef>
            </a:pPr>
            <a:r>
              <a:rPr sz="1800" spc="-5" dirty="0"/>
              <a:t>The </a:t>
            </a:r>
            <a:r>
              <a:rPr sz="1800" spc="-15" dirty="0"/>
              <a:t>difference </a:t>
            </a:r>
            <a:r>
              <a:rPr sz="1800" spc="-5" dirty="0"/>
              <a:t>between </a:t>
            </a:r>
            <a:r>
              <a:rPr sz="1800" spc="-10" dirty="0"/>
              <a:t>copying </a:t>
            </a:r>
            <a:r>
              <a:rPr sz="1800" dirty="0"/>
              <a:t>a </a:t>
            </a:r>
            <a:r>
              <a:rPr sz="1800" spc="-5" dirty="0"/>
              <a:t>file </a:t>
            </a:r>
            <a:r>
              <a:rPr sz="1800" dirty="0"/>
              <a:t>and </a:t>
            </a:r>
            <a:r>
              <a:rPr sz="1800" spc="-5" dirty="0"/>
              <a:t>moving </a:t>
            </a:r>
            <a:r>
              <a:rPr sz="1800" dirty="0"/>
              <a:t>a </a:t>
            </a:r>
            <a:r>
              <a:rPr sz="1800" spc="-5" dirty="0"/>
              <a:t>file is that while </a:t>
            </a:r>
            <a:r>
              <a:rPr sz="1800" dirty="0"/>
              <a:t>the </a:t>
            </a:r>
            <a:r>
              <a:rPr sz="1800" spc="-10" dirty="0"/>
              <a:t>copy  </a:t>
            </a:r>
            <a:r>
              <a:rPr sz="1800" spc="-15" dirty="0"/>
              <a:t>makes </a:t>
            </a:r>
            <a:r>
              <a:rPr sz="1800" dirty="0"/>
              <a:t>a </a:t>
            </a:r>
            <a:r>
              <a:rPr sz="1800" spc="-10" dirty="0"/>
              <a:t>duplicate copy </a:t>
            </a:r>
            <a:r>
              <a:rPr sz="1800" spc="-5" dirty="0"/>
              <a:t>of </a:t>
            </a:r>
            <a:r>
              <a:rPr sz="1800" dirty="0"/>
              <a:t>the </a:t>
            </a:r>
            <a:r>
              <a:rPr sz="1800" spc="-5" dirty="0"/>
              <a:t>original </a:t>
            </a:r>
            <a:r>
              <a:rPr sz="1800" spc="-10" dirty="0"/>
              <a:t>file to </a:t>
            </a:r>
            <a:r>
              <a:rPr sz="1800" dirty="0"/>
              <a:t>the </a:t>
            </a:r>
            <a:r>
              <a:rPr sz="1800" spc="-5" dirty="0"/>
              <a:t>new </a:t>
            </a:r>
            <a:r>
              <a:rPr sz="1800" spc="-10" dirty="0"/>
              <a:t>location, </a:t>
            </a:r>
            <a:r>
              <a:rPr sz="1800" dirty="0"/>
              <a:t>the </a:t>
            </a:r>
            <a:r>
              <a:rPr sz="1800" spc="-10" dirty="0"/>
              <a:t>move </a:t>
            </a:r>
            <a:r>
              <a:rPr sz="1800" spc="-5" dirty="0"/>
              <a:t>on </a:t>
            </a:r>
            <a:r>
              <a:rPr sz="1800" dirty="0"/>
              <a:t>the  </a:t>
            </a:r>
            <a:r>
              <a:rPr sz="1800" spc="-5" dirty="0"/>
              <a:t>other hand </a:t>
            </a:r>
            <a:r>
              <a:rPr sz="1800" spc="-10" dirty="0"/>
              <a:t>remove </a:t>
            </a:r>
            <a:r>
              <a:rPr sz="1800" dirty="0"/>
              <a:t>the </a:t>
            </a:r>
            <a:r>
              <a:rPr sz="1800" spc="-5" dirty="0"/>
              <a:t>file </a:t>
            </a:r>
            <a:r>
              <a:rPr sz="1800" spc="-10" dirty="0"/>
              <a:t>from </a:t>
            </a:r>
            <a:r>
              <a:rPr sz="1800" spc="-5" dirty="0"/>
              <a:t>its present </a:t>
            </a:r>
            <a:r>
              <a:rPr sz="1800" spc="-10" dirty="0"/>
              <a:t>location </a:t>
            </a:r>
            <a:r>
              <a:rPr sz="1800" dirty="0"/>
              <a:t>and </a:t>
            </a:r>
            <a:r>
              <a:rPr sz="1800" spc="-5" dirty="0"/>
              <a:t>send </a:t>
            </a:r>
            <a:r>
              <a:rPr sz="1800" dirty="0"/>
              <a:t>it </a:t>
            </a:r>
            <a:r>
              <a:rPr sz="1800" spc="-10" dirty="0"/>
              <a:t>to </a:t>
            </a:r>
            <a:r>
              <a:rPr sz="1800" spc="-5" dirty="0"/>
              <a:t>its new  </a:t>
            </a:r>
            <a:r>
              <a:rPr sz="1800" spc="-10" dirty="0"/>
              <a:t>location.</a:t>
            </a:r>
            <a:endParaRPr sz="180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2609468"/>
            <a:ext cx="7443470" cy="964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move files </a:t>
            </a:r>
            <a:r>
              <a:rPr sz="2200" spc="-5" dirty="0">
                <a:latin typeface="Carlito"/>
                <a:cs typeface="Carlito"/>
              </a:rPr>
              <a:t>and</a:t>
            </a:r>
            <a:r>
              <a:rPr sz="2200" spc="12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folders:</a:t>
            </a:r>
            <a:endParaRPr sz="2200">
              <a:latin typeface="Carlito"/>
              <a:cs typeface="Carlito"/>
            </a:endParaRPr>
          </a:p>
          <a:p>
            <a:pPr marL="12700" marR="5080">
              <a:lnSpc>
                <a:spcPts val="2110"/>
              </a:lnSpc>
              <a:spcBef>
                <a:spcPts val="515"/>
              </a:spcBef>
              <a:buChar char="•"/>
              <a:tabLst>
                <a:tab pos="926465" algn="l"/>
                <a:tab pos="927100" algn="l"/>
                <a:tab pos="1841500" algn="l"/>
              </a:tabLst>
            </a:pPr>
            <a:r>
              <a:rPr sz="2200" spc="-20" dirty="0">
                <a:latin typeface="Carlito"/>
                <a:cs typeface="Carlito"/>
              </a:rPr>
              <a:t>Locate </a:t>
            </a:r>
            <a:r>
              <a:rPr sz="2200" spc="-5" dirty="0">
                <a:latin typeface="Carlito"/>
                <a:cs typeface="Carlito"/>
              </a:rPr>
              <a:t>the file </a:t>
            </a:r>
            <a:r>
              <a:rPr sz="2200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folder </a:t>
            </a:r>
            <a:r>
              <a:rPr sz="2200" spc="-15" dirty="0">
                <a:latin typeface="Carlito"/>
                <a:cs typeface="Carlito"/>
              </a:rPr>
              <a:t>you want to </a:t>
            </a:r>
            <a:r>
              <a:rPr sz="2200" spc="-10" dirty="0">
                <a:latin typeface="Carlito"/>
                <a:cs typeface="Carlito"/>
              </a:rPr>
              <a:t>move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the required  folder</a:t>
            </a:r>
            <a:r>
              <a:rPr sz="2200" dirty="0">
                <a:latin typeface="Carlito"/>
                <a:cs typeface="Carlito"/>
              </a:rPr>
              <a:t> or </a:t>
            </a:r>
            <a:r>
              <a:rPr sz="2200" spc="-5" dirty="0">
                <a:latin typeface="Carlito"/>
                <a:cs typeface="Carlito"/>
              </a:rPr>
              <a:t>its	</a:t>
            </a:r>
            <a:r>
              <a:rPr sz="2200" spc="-15" dirty="0">
                <a:latin typeface="Carlito"/>
                <a:cs typeface="Carlito"/>
              </a:rPr>
              <a:t>subfolders.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242" y="3548634"/>
            <a:ext cx="1390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0242" y="3816858"/>
            <a:ext cx="89026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rlito"/>
                <a:cs typeface="Carlito"/>
              </a:rPr>
              <a:t>dar</a:t>
            </a:r>
            <a:r>
              <a:rPr sz="2200" spc="-80" dirty="0">
                <a:latin typeface="Carlito"/>
                <a:cs typeface="Carlito"/>
              </a:rPr>
              <a:t>k</a:t>
            </a:r>
            <a:r>
              <a:rPr sz="2200" spc="-5" dirty="0">
                <a:latin typeface="Carlito"/>
                <a:cs typeface="Carlito"/>
              </a:rPr>
              <a:t>ens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1916" y="3548634"/>
            <a:ext cx="6574790" cy="6286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927100" marR="5080" indent="-915035">
              <a:lnSpc>
                <a:spcPct val="80000"/>
              </a:lnSpc>
              <a:spcBef>
                <a:spcPts val="620"/>
              </a:spcBef>
            </a:pPr>
            <a:r>
              <a:rPr sz="2200" spc="-10" dirty="0">
                <a:latin typeface="Carlito"/>
                <a:cs typeface="Carlito"/>
              </a:rPr>
              <a:t>Click </a:t>
            </a:r>
            <a:r>
              <a:rPr sz="2200" spc="-5" dirty="0">
                <a:latin typeface="Carlito"/>
                <a:cs typeface="Carlito"/>
              </a:rPr>
              <a:t>the file </a:t>
            </a:r>
            <a:r>
              <a:rPr sz="2200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folder you </a:t>
            </a:r>
            <a:r>
              <a:rPr sz="2200" spc="-15" dirty="0">
                <a:latin typeface="Carlito"/>
                <a:cs typeface="Carlito"/>
              </a:rPr>
              <a:t>want to </a:t>
            </a:r>
            <a:r>
              <a:rPr sz="2200" spc="-10" dirty="0">
                <a:latin typeface="Carlito"/>
                <a:cs typeface="Carlito"/>
              </a:rPr>
              <a:t>move. The </a:t>
            </a:r>
            <a:r>
              <a:rPr sz="2200" spc="-5" dirty="0">
                <a:latin typeface="Carlito"/>
                <a:cs typeface="Carlito"/>
              </a:rPr>
              <a:t>file </a:t>
            </a:r>
            <a:r>
              <a:rPr sz="2200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folder  </a:t>
            </a:r>
            <a:r>
              <a:rPr sz="2200" spc="-5" dirty="0">
                <a:latin typeface="Carlito"/>
                <a:cs typeface="Carlito"/>
              </a:rPr>
              <a:t>when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10" dirty="0">
                <a:latin typeface="Carlito"/>
                <a:cs typeface="Carlito"/>
              </a:rPr>
              <a:t>select</a:t>
            </a:r>
            <a:r>
              <a:rPr sz="2200" spc="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it.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542" y="4152391"/>
            <a:ext cx="7270750" cy="6286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625"/>
              </a:spcBef>
              <a:buChar char="•"/>
              <a:tabLst>
                <a:tab pos="926465" algn="l"/>
                <a:tab pos="927100" algn="l"/>
              </a:tabLst>
            </a:pPr>
            <a:r>
              <a:rPr sz="2200" spc="-10" dirty="0">
                <a:latin typeface="Carlito"/>
                <a:cs typeface="Carlito"/>
              </a:rPr>
              <a:t>Under File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Folder </a:t>
            </a:r>
            <a:r>
              <a:rPr sz="2200" spc="-40" dirty="0">
                <a:latin typeface="Carlito"/>
                <a:cs typeface="Carlito"/>
              </a:rPr>
              <a:t>Tasks, </a:t>
            </a:r>
            <a:r>
              <a:rPr sz="2200" spc="-5" dirty="0">
                <a:latin typeface="Carlito"/>
                <a:cs typeface="Carlito"/>
              </a:rPr>
              <a:t>click </a:t>
            </a:r>
            <a:r>
              <a:rPr sz="2200" spc="-15" dirty="0">
                <a:latin typeface="Carlito"/>
                <a:cs typeface="Carlito"/>
              </a:rPr>
              <a:t>Move </a:t>
            </a:r>
            <a:r>
              <a:rPr sz="2200" spc="-5" dirty="0">
                <a:latin typeface="Carlito"/>
                <a:cs typeface="Carlito"/>
              </a:rPr>
              <a:t>this file </a:t>
            </a:r>
            <a:r>
              <a:rPr sz="2200" dirty="0">
                <a:latin typeface="Carlito"/>
                <a:cs typeface="Carlito"/>
              </a:rPr>
              <a:t>or </a:t>
            </a:r>
            <a:r>
              <a:rPr sz="2200" spc="-15" dirty="0">
                <a:latin typeface="Carlito"/>
                <a:cs typeface="Carlito"/>
              </a:rPr>
              <a:t>Move  </a:t>
            </a:r>
            <a:r>
              <a:rPr sz="2200" spc="-5" dirty="0">
                <a:latin typeface="Carlito"/>
                <a:cs typeface="Carlito"/>
              </a:rPr>
              <a:t>this</a:t>
            </a:r>
            <a:r>
              <a:rPr sz="2200" spc="-10" dirty="0">
                <a:latin typeface="Carlito"/>
                <a:cs typeface="Carlito"/>
              </a:rPr>
              <a:t> </a:t>
            </a:r>
            <a:r>
              <a:rPr sz="2200" spc="-45" dirty="0">
                <a:latin typeface="Carlito"/>
                <a:cs typeface="Carlito"/>
              </a:rPr>
              <a:t>folder.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0242" y="4755896"/>
            <a:ext cx="1390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242" y="5024120"/>
            <a:ext cx="8686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latin typeface="Carlito"/>
                <a:cs typeface="Carlito"/>
              </a:rPr>
              <a:t>want</a:t>
            </a:r>
            <a:r>
              <a:rPr sz="2200" spc="-9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to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0242" y="5359704"/>
            <a:ext cx="1390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1916" y="4755896"/>
            <a:ext cx="6477000" cy="96393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927100" marR="5080" indent="-915035">
              <a:lnSpc>
                <a:spcPct val="80000"/>
              </a:lnSpc>
              <a:spcBef>
                <a:spcPts val="625"/>
              </a:spcBef>
            </a:pP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Move </a:t>
            </a:r>
            <a:r>
              <a:rPr sz="2200" spc="-10" dirty="0">
                <a:latin typeface="Carlito"/>
                <a:cs typeface="Carlito"/>
              </a:rPr>
              <a:t>Items </a:t>
            </a:r>
            <a:r>
              <a:rPr sz="2200" spc="-5" dirty="0">
                <a:latin typeface="Carlito"/>
                <a:cs typeface="Carlito"/>
              </a:rPr>
              <a:t>dialog </a:t>
            </a:r>
            <a:r>
              <a:rPr sz="2200" spc="-20" dirty="0">
                <a:latin typeface="Carlito"/>
                <a:cs typeface="Carlito"/>
              </a:rPr>
              <a:t>box, </a:t>
            </a:r>
            <a:r>
              <a:rPr sz="2200" spc="-10" dirty="0">
                <a:latin typeface="Carlito"/>
                <a:cs typeface="Carlito"/>
              </a:rPr>
              <a:t>select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place where you  move </a:t>
            </a:r>
            <a:r>
              <a:rPr sz="2200" spc="-5" dirty="0">
                <a:latin typeface="Carlito"/>
                <a:cs typeface="Carlito"/>
              </a:rPr>
              <a:t>the file or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45" dirty="0">
                <a:latin typeface="Carlito"/>
                <a:cs typeface="Carlito"/>
              </a:rPr>
              <a:t>folder.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Click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Move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button.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242" y="1082166"/>
            <a:ext cx="4914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OR</a:t>
            </a:r>
            <a:endParaRPr sz="32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0242" y="1670685"/>
            <a:ext cx="6323330" cy="13944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913765" indent="-914400">
              <a:lnSpc>
                <a:spcPct val="100000"/>
              </a:lnSpc>
              <a:spcBef>
                <a:spcPts val="880"/>
              </a:spcBef>
              <a:buSzPct val="133333"/>
              <a:buChar char="•"/>
              <a:tabLst>
                <a:tab pos="913765" algn="l"/>
                <a:tab pos="914400" algn="l"/>
              </a:tabLst>
            </a:pPr>
            <a:r>
              <a:rPr sz="2400" spc="-5" dirty="0">
                <a:latin typeface="Carlito"/>
                <a:cs typeface="Carlito"/>
              </a:rPr>
              <a:t>Choose </a:t>
            </a:r>
            <a:r>
              <a:rPr sz="2400" spc="-10" dirty="0">
                <a:latin typeface="Carlito"/>
                <a:cs typeface="Carlito"/>
              </a:rPr>
              <a:t>Edit </a:t>
            </a:r>
            <a:r>
              <a:rPr sz="2400" spc="-5" dirty="0">
                <a:latin typeface="Carlito"/>
                <a:cs typeface="Carlito"/>
              </a:rPr>
              <a:t>Cut. </a:t>
            </a:r>
            <a:r>
              <a:rPr sz="2400" dirty="0">
                <a:latin typeface="Carlito"/>
                <a:cs typeface="Carlito"/>
              </a:rPr>
              <a:t>(Ctrl +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X)</a:t>
            </a:r>
            <a:endParaRPr sz="2400">
              <a:latin typeface="Carlito"/>
              <a:cs typeface="Carlito"/>
            </a:endParaRPr>
          </a:p>
          <a:p>
            <a:pPr marR="5080">
              <a:lnSpc>
                <a:spcPct val="120000"/>
              </a:lnSpc>
              <a:spcBef>
                <a:spcPts val="204"/>
              </a:spcBef>
              <a:buChar char="•"/>
              <a:tabLst>
                <a:tab pos="913765" algn="l"/>
                <a:tab pos="914400" algn="l"/>
              </a:tabLst>
            </a:pPr>
            <a:r>
              <a:rPr sz="2400" spc="-5" dirty="0">
                <a:latin typeface="Carlito"/>
                <a:cs typeface="Carlito"/>
              </a:rPr>
              <a:t>Right-click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or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dirty="0">
                <a:latin typeface="Carlito"/>
                <a:cs typeface="Carlito"/>
              </a:rPr>
              <a:t>and choose </a:t>
            </a:r>
            <a:r>
              <a:rPr sz="2400" spc="-5" dirty="0">
                <a:latin typeface="Carlito"/>
                <a:cs typeface="Carlito"/>
              </a:rPr>
              <a:t>Cut.  THEN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242" y="3917137"/>
            <a:ext cx="3676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OR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0242" y="4356607"/>
            <a:ext cx="15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•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242" y="3112770"/>
            <a:ext cx="748474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3765" marR="5080" indent="-914400">
              <a:lnSpc>
                <a:spcPct val="100000"/>
              </a:lnSpc>
              <a:spcBef>
                <a:spcPts val="100"/>
              </a:spcBef>
              <a:buChar char="•"/>
              <a:tabLst>
                <a:tab pos="913765" algn="l"/>
                <a:tab pos="914400" algn="l"/>
                <a:tab pos="2743200" algn="l"/>
              </a:tabLst>
            </a:pPr>
            <a:r>
              <a:rPr sz="2400" spc="-15" dirty="0">
                <a:latin typeface="Carlito"/>
                <a:cs typeface="Carlito"/>
              </a:rPr>
              <a:t>Locate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or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15" dirty="0">
                <a:latin typeface="Carlito"/>
                <a:cs typeface="Carlito"/>
              </a:rPr>
              <a:t>want to copy </a:t>
            </a:r>
            <a:r>
              <a:rPr sz="2400" dirty="0">
                <a:latin typeface="Carlito"/>
                <a:cs typeface="Carlito"/>
              </a:rPr>
              <a:t>and choose  </a:t>
            </a:r>
            <a:r>
              <a:rPr sz="2400" spc="-15" dirty="0">
                <a:latin typeface="Carlito"/>
                <a:cs typeface="Carlito"/>
              </a:rPr>
              <a:t>Edit </a:t>
            </a:r>
            <a:r>
              <a:rPr sz="2400" spc="-20" dirty="0">
                <a:latin typeface="Carlito"/>
                <a:cs typeface="Carlito"/>
              </a:rPr>
              <a:t>Paste.	</a:t>
            </a:r>
            <a:r>
              <a:rPr sz="2400" dirty="0">
                <a:latin typeface="Carlito"/>
                <a:cs typeface="Carlito"/>
              </a:rPr>
              <a:t>(Ctrl +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V)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>
              <a:latin typeface="Carlito"/>
              <a:cs typeface="Carlito"/>
            </a:endParaRPr>
          </a:p>
          <a:p>
            <a:pPr marR="12700" algn="ctr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Right-click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file or </a:t>
            </a:r>
            <a:r>
              <a:rPr sz="2400" spc="-15" dirty="0">
                <a:latin typeface="Carlito"/>
                <a:cs typeface="Carlito"/>
              </a:rPr>
              <a:t>folder </a:t>
            </a:r>
            <a:r>
              <a:rPr sz="2400" dirty="0">
                <a:latin typeface="Carlito"/>
                <a:cs typeface="Carlito"/>
              </a:rPr>
              <a:t>and choose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Paste.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41018"/>
            <a:ext cx="7398384" cy="4270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2275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spc="-5" dirty="0">
                <a:latin typeface="Carlito"/>
                <a:cs typeface="Carlito"/>
              </a:rPr>
              <a:t>Selecting </a:t>
            </a:r>
            <a:r>
              <a:rPr sz="1900" b="1" spc="-10" dirty="0">
                <a:latin typeface="Carlito"/>
                <a:cs typeface="Carlito"/>
              </a:rPr>
              <a:t>More Than One </a:t>
            </a:r>
            <a:r>
              <a:rPr sz="1900" b="1" spc="-5" dirty="0">
                <a:latin typeface="Carlito"/>
                <a:cs typeface="Carlito"/>
              </a:rPr>
              <a:t>File or</a:t>
            </a:r>
            <a:r>
              <a:rPr sz="1900" b="1" spc="60" dirty="0">
                <a:latin typeface="Carlito"/>
                <a:cs typeface="Carlito"/>
              </a:rPr>
              <a:t> </a:t>
            </a:r>
            <a:r>
              <a:rPr sz="1900" b="1" spc="-5" dirty="0">
                <a:latin typeface="Carlito"/>
                <a:cs typeface="Carlito"/>
              </a:rPr>
              <a:t>Folder</a:t>
            </a:r>
            <a:endParaRPr sz="1900">
              <a:latin typeface="Carlito"/>
              <a:cs typeface="Carlito"/>
            </a:endParaRPr>
          </a:p>
          <a:p>
            <a:pPr marL="355600" indent="-342900">
              <a:lnSpc>
                <a:spcPts val="237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More often </a:t>
            </a:r>
            <a:r>
              <a:rPr sz="2200" spc="-5" dirty="0">
                <a:latin typeface="Carlito"/>
                <a:cs typeface="Carlito"/>
              </a:rPr>
              <a:t>than </a:t>
            </a:r>
            <a:r>
              <a:rPr sz="2200" spc="-10" dirty="0">
                <a:latin typeface="Carlito"/>
                <a:cs typeface="Carlito"/>
              </a:rPr>
              <a:t>not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20" dirty="0">
                <a:latin typeface="Carlito"/>
                <a:cs typeface="Carlito"/>
              </a:rPr>
              <a:t>may </a:t>
            </a:r>
            <a:r>
              <a:rPr sz="2200" spc="-10" dirty="0">
                <a:latin typeface="Carlito"/>
                <a:cs typeface="Carlito"/>
              </a:rPr>
              <a:t>need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copy </a:t>
            </a: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spc="-15" dirty="0">
                <a:latin typeface="Carlito"/>
                <a:cs typeface="Carlito"/>
              </a:rPr>
              <a:t>move</a:t>
            </a:r>
            <a:r>
              <a:rPr sz="2200" spc="215" dirty="0">
                <a:latin typeface="Carlito"/>
                <a:cs typeface="Carlito"/>
              </a:rPr>
              <a:t> </a:t>
            </a:r>
            <a:r>
              <a:rPr sz="2200" b="1" spc="-5" dirty="0">
                <a:latin typeface="Carlito"/>
                <a:cs typeface="Carlito"/>
              </a:rPr>
              <a:t>multiple</a:t>
            </a:r>
            <a:endParaRPr sz="2200">
              <a:latin typeface="Carlito"/>
              <a:cs typeface="Carlito"/>
            </a:endParaRPr>
          </a:p>
          <a:p>
            <a:pPr marL="355600">
              <a:lnSpc>
                <a:spcPts val="2375"/>
              </a:lnSpc>
            </a:pPr>
            <a:r>
              <a:rPr sz="2200" b="1" spc="-5" dirty="0">
                <a:latin typeface="Carlito"/>
                <a:cs typeface="Carlito"/>
              </a:rPr>
              <a:t>files and </a:t>
            </a:r>
            <a:r>
              <a:rPr sz="2200" b="1" spc="-15" dirty="0">
                <a:latin typeface="Carlito"/>
                <a:cs typeface="Carlito"/>
              </a:rPr>
              <a:t>folders </a:t>
            </a:r>
            <a:r>
              <a:rPr sz="2200" spc="-15" dirty="0">
                <a:latin typeface="Carlito"/>
                <a:cs typeface="Carlito"/>
              </a:rPr>
              <a:t>at </a:t>
            </a:r>
            <a:r>
              <a:rPr sz="2200" spc="-5" dirty="0">
                <a:latin typeface="Carlito"/>
                <a:cs typeface="Carlito"/>
              </a:rPr>
              <a:t>the same time. </a:t>
            </a:r>
            <a:r>
              <a:rPr sz="2200" spc="-105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do</a:t>
            </a:r>
            <a:r>
              <a:rPr sz="2200" spc="204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so,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Hold </a:t>
            </a:r>
            <a:r>
              <a:rPr sz="2200" spc="-10" dirty="0">
                <a:latin typeface="Carlito"/>
                <a:cs typeface="Carlito"/>
              </a:rPr>
              <a:t>down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b="1" spc="-10" dirty="0">
                <a:latin typeface="Carlito"/>
                <a:cs typeface="Carlito"/>
              </a:rPr>
              <a:t>Ctrl </a:t>
            </a:r>
            <a:r>
              <a:rPr sz="2200" b="1" spc="-35" dirty="0">
                <a:latin typeface="Carlito"/>
                <a:cs typeface="Carlito"/>
              </a:rPr>
              <a:t>key </a:t>
            </a:r>
            <a:r>
              <a:rPr sz="2200" spc="-5" dirty="0">
                <a:latin typeface="Carlito"/>
                <a:cs typeface="Carlito"/>
              </a:rPr>
              <a:t>(if the files and the </a:t>
            </a:r>
            <a:r>
              <a:rPr sz="2200" spc="-15" dirty="0">
                <a:latin typeface="Carlito"/>
                <a:cs typeface="Carlito"/>
              </a:rPr>
              <a:t>folders </a:t>
            </a:r>
            <a:r>
              <a:rPr sz="2200" spc="-10" dirty="0">
                <a:latin typeface="Carlito"/>
                <a:cs typeface="Carlito"/>
              </a:rPr>
              <a:t>are</a:t>
            </a:r>
            <a:r>
              <a:rPr sz="2200" spc="110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scattered)</a:t>
            </a:r>
            <a:endParaRPr sz="2200">
              <a:latin typeface="Carlito"/>
              <a:cs typeface="Carlito"/>
            </a:endParaRPr>
          </a:p>
          <a:p>
            <a:pPr marL="355600" marR="46355" indent="-342900">
              <a:lnSpc>
                <a:spcPct val="80100"/>
              </a:lnSpc>
              <a:spcBef>
                <a:spcPts val="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b="1" spc="-5" dirty="0">
                <a:latin typeface="Carlito"/>
                <a:cs typeface="Carlito"/>
              </a:rPr>
              <a:t>shift </a:t>
            </a:r>
            <a:r>
              <a:rPr sz="2200" b="1" spc="-35" dirty="0">
                <a:latin typeface="Carlito"/>
                <a:cs typeface="Carlito"/>
              </a:rPr>
              <a:t>key </a:t>
            </a:r>
            <a:r>
              <a:rPr sz="2200" b="1" spc="-5" dirty="0">
                <a:latin typeface="Carlito"/>
                <a:cs typeface="Carlito"/>
              </a:rPr>
              <a:t>(</a:t>
            </a:r>
            <a:r>
              <a:rPr sz="2200" spc="-5" dirty="0">
                <a:latin typeface="Carlito"/>
                <a:cs typeface="Carlito"/>
              </a:rPr>
              <a:t>if the </a:t>
            </a:r>
            <a:r>
              <a:rPr sz="2200" spc="-10" dirty="0">
                <a:latin typeface="Carlito"/>
                <a:cs typeface="Carlito"/>
              </a:rPr>
              <a:t>files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folders follow </a:t>
            </a:r>
            <a:r>
              <a:rPr sz="2200" spc="-5" dirty="0">
                <a:latin typeface="Carlito"/>
                <a:cs typeface="Carlito"/>
              </a:rPr>
              <a:t>one </a:t>
            </a:r>
            <a:r>
              <a:rPr sz="2200" spc="-30" dirty="0">
                <a:latin typeface="Carlito"/>
                <a:cs typeface="Carlito"/>
              </a:rPr>
              <a:t>another, </a:t>
            </a:r>
            <a:r>
              <a:rPr sz="2200" spc="-10" dirty="0">
                <a:latin typeface="Carlito"/>
                <a:cs typeface="Carlito"/>
              </a:rPr>
              <a:t>that </a:t>
            </a:r>
            <a:r>
              <a:rPr sz="2200" dirty="0">
                <a:latin typeface="Carlito"/>
                <a:cs typeface="Carlito"/>
              </a:rPr>
              <a:t>is,  </a:t>
            </a:r>
            <a:r>
              <a:rPr sz="2200" spc="-10" dirty="0">
                <a:latin typeface="Carlito"/>
                <a:cs typeface="Carlito"/>
              </a:rPr>
              <a:t>are </a:t>
            </a:r>
            <a:r>
              <a:rPr sz="2200" spc="-15" dirty="0">
                <a:latin typeface="Carlito"/>
                <a:cs typeface="Carlito"/>
              </a:rPr>
              <a:t>consecutive group </a:t>
            </a:r>
            <a:r>
              <a:rPr sz="2200" spc="-5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files)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click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select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files </a:t>
            </a:r>
            <a:r>
              <a:rPr sz="2200" spc="-5" dirty="0">
                <a:latin typeface="Carlito"/>
                <a:cs typeface="Carlito"/>
              </a:rPr>
              <a:t>or  </a:t>
            </a:r>
            <a:r>
              <a:rPr sz="2200" spc="-15" dirty="0">
                <a:latin typeface="Carlito"/>
                <a:cs typeface="Carlito"/>
              </a:rPr>
              <a:t>folders you want to </a:t>
            </a:r>
            <a:r>
              <a:rPr sz="2200" spc="-10" dirty="0">
                <a:latin typeface="Carlito"/>
                <a:cs typeface="Carlito"/>
              </a:rPr>
              <a:t>move </a:t>
            </a:r>
            <a:r>
              <a:rPr sz="2200" spc="-5" dirty="0">
                <a:latin typeface="Carlito"/>
                <a:cs typeface="Carlito"/>
              </a:rPr>
              <a:t>or</a:t>
            </a:r>
            <a:r>
              <a:rPr sz="2200" spc="75" dirty="0">
                <a:latin typeface="Carlito"/>
                <a:cs typeface="Carlito"/>
              </a:rPr>
              <a:t> </a:t>
            </a:r>
            <a:r>
              <a:rPr sz="2200" spc="-45" dirty="0">
                <a:latin typeface="Carlito"/>
                <a:cs typeface="Carlito"/>
              </a:rPr>
              <a:t>copy.</a:t>
            </a:r>
            <a:endParaRPr sz="2200">
              <a:latin typeface="Carlito"/>
              <a:cs typeface="Carlito"/>
            </a:endParaRPr>
          </a:p>
          <a:p>
            <a:pPr marL="355600" marR="5080" indent="-342900" algn="just">
              <a:lnSpc>
                <a:spcPts val="2110"/>
              </a:lnSpc>
              <a:spcBef>
                <a:spcPts val="515"/>
              </a:spcBef>
              <a:buFont typeface="Arial"/>
              <a:buChar char="•"/>
              <a:tabLst>
                <a:tab pos="355600" algn="l"/>
              </a:tabLst>
            </a:pPr>
            <a:r>
              <a:rPr sz="2200" spc="-15" dirty="0">
                <a:latin typeface="Carlito"/>
                <a:cs typeface="Carlito"/>
              </a:rPr>
              <a:t>For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shift </a:t>
            </a:r>
            <a:r>
              <a:rPr sz="2200" spc="-65" dirty="0">
                <a:latin typeface="Carlito"/>
                <a:cs typeface="Carlito"/>
              </a:rPr>
              <a:t>key, </a:t>
            </a:r>
            <a:r>
              <a:rPr sz="2200" spc="-10" dirty="0">
                <a:latin typeface="Carlito"/>
                <a:cs typeface="Carlito"/>
              </a:rPr>
              <a:t>just </a:t>
            </a:r>
            <a:r>
              <a:rPr sz="2200" spc="-5" dirty="0">
                <a:latin typeface="Carlito"/>
                <a:cs typeface="Carlito"/>
              </a:rPr>
              <a:t>click on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first </a:t>
            </a:r>
            <a:r>
              <a:rPr sz="2200" spc="-10" dirty="0">
                <a:latin typeface="Carlito"/>
                <a:cs typeface="Carlito"/>
              </a:rPr>
              <a:t>file, hold down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Shift  </a:t>
            </a:r>
            <a:r>
              <a:rPr sz="2200" spc="-35" dirty="0">
                <a:latin typeface="Carlito"/>
                <a:cs typeface="Carlito"/>
              </a:rPr>
              <a:t>key </a:t>
            </a:r>
            <a:r>
              <a:rPr sz="2200" spc="-5" dirty="0">
                <a:latin typeface="Carlito"/>
                <a:cs typeface="Carlito"/>
              </a:rPr>
              <a:t>and then click the </a:t>
            </a:r>
            <a:r>
              <a:rPr sz="2200" spc="-10" dirty="0">
                <a:latin typeface="Carlito"/>
                <a:cs typeface="Carlito"/>
              </a:rPr>
              <a:t>last </a:t>
            </a:r>
            <a:r>
              <a:rPr sz="2200" spc="-5" dirty="0">
                <a:latin typeface="Carlito"/>
                <a:cs typeface="Carlito"/>
              </a:rPr>
              <a:t>file and all those </a:t>
            </a:r>
            <a:r>
              <a:rPr sz="2200" spc="-10" dirty="0">
                <a:latin typeface="Carlito"/>
                <a:cs typeface="Carlito"/>
              </a:rPr>
              <a:t>between </a:t>
            </a:r>
            <a:r>
              <a:rPr sz="2200" spc="-5" dirty="0">
                <a:latin typeface="Carlito"/>
                <a:cs typeface="Carlito"/>
              </a:rPr>
              <a:t>them will  be </a:t>
            </a:r>
            <a:r>
              <a:rPr sz="2200" spc="-10" dirty="0">
                <a:latin typeface="Carlito"/>
                <a:cs typeface="Carlito"/>
              </a:rPr>
              <a:t>selected </a:t>
            </a:r>
            <a:r>
              <a:rPr sz="2200" spc="-5" dirty="0">
                <a:latin typeface="Carlito"/>
                <a:cs typeface="Carlito"/>
              </a:rPr>
              <a:t>as</a:t>
            </a:r>
            <a:r>
              <a:rPr sz="2200" spc="3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well.</a:t>
            </a:r>
            <a:endParaRPr sz="2200">
              <a:latin typeface="Carlito"/>
              <a:cs typeface="Carlito"/>
            </a:endParaRPr>
          </a:p>
          <a:p>
            <a:pPr marL="355600" indent="-342900" algn="just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The files </a:t>
            </a: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spc="-15" dirty="0">
                <a:latin typeface="Carlito"/>
                <a:cs typeface="Carlito"/>
              </a:rPr>
              <a:t>folders </a:t>
            </a:r>
            <a:r>
              <a:rPr sz="2200" spc="-20" dirty="0">
                <a:latin typeface="Carlito"/>
                <a:cs typeface="Carlito"/>
              </a:rPr>
              <a:t>darken </a:t>
            </a:r>
            <a:r>
              <a:rPr sz="2200" dirty="0">
                <a:latin typeface="Carlito"/>
                <a:cs typeface="Carlito"/>
              </a:rPr>
              <a:t>as </a:t>
            </a:r>
            <a:r>
              <a:rPr sz="2200" spc="-10" dirty="0">
                <a:latin typeface="Carlito"/>
                <a:cs typeface="Carlito"/>
              </a:rPr>
              <a:t>they are</a:t>
            </a:r>
            <a:r>
              <a:rPr sz="2200" spc="8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selected.</a:t>
            </a:r>
            <a:endParaRPr sz="2200">
              <a:latin typeface="Carlito"/>
              <a:cs typeface="Carlito"/>
            </a:endParaRPr>
          </a:p>
          <a:p>
            <a:pPr marL="355600" marR="596900" indent="-342900" algn="just">
              <a:lnSpc>
                <a:spcPts val="2110"/>
              </a:lnSpc>
              <a:spcBef>
                <a:spcPts val="509"/>
              </a:spcBef>
              <a:buFont typeface="Arial"/>
              <a:buChar char="•"/>
              <a:tabLst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Copy or </a:t>
            </a:r>
            <a:r>
              <a:rPr sz="2200" spc="-15" dirty="0">
                <a:latin typeface="Carlito"/>
                <a:cs typeface="Carlito"/>
              </a:rPr>
              <a:t>move </a:t>
            </a:r>
            <a:r>
              <a:rPr sz="2200" spc="-5" dirty="0">
                <a:latin typeface="Carlito"/>
                <a:cs typeface="Carlito"/>
              </a:rPr>
              <a:t>the file or </a:t>
            </a:r>
            <a:r>
              <a:rPr sz="2200" spc="-10" dirty="0">
                <a:latin typeface="Carlito"/>
                <a:cs typeface="Carlito"/>
              </a:rPr>
              <a:t>folder </a:t>
            </a:r>
            <a:r>
              <a:rPr sz="2200" spc="-5" dirty="0">
                <a:latin typeface="Carlito"/>
                <a:cs typeface="Carlito"/>
              </a:rPr>
              <a:t>using one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the methods  </a:t>
            </a:r>
            <a:r>
              <a:rPr sz="2200" spc="-15" dirty="0">
                <a:latin typeface="Carlito"/>
                <a:cs typeface="Carlito"/>
              </a:rPr>
              <a:t>explained </a:t>
            </a:r>
            <a:r>
              <a:rPr sz="2200" dirty="0">
                <a:latin typeface="Carlito"/>
                <a:cs typeface="Carlito"/>
              </a:rPr>
              <a:t>on </a:t>
            </a:r>
            <a:r>
              <a:rPr sz="2200" spc="-10" dirty="0">
                <a:latin typeface="Carlito"/>
                <a:cs typeface="Carlito"/>
              </a:rPr>
              <a:t>the previous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pages.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7542" y="1351610"/>
            <a:ext cx="7705090" cy="1397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indent="71120">
              <a:lnSpc>
                <a:spcPts val="2400"/>
              </a:lnSpc>
              <a:spcBef>
                <a:spcPts val="675"/>
              </a:spcBef>
            </a:pPr>
            <a:r>
              <a:rPr sz="2500" spc="-70" dirty="0"/>
              <a:t>You </a:t>
            </a:r>
            <a:r>
              <a:rPr sz="2500" spc="-10" dirty="0"/>
              <a:t>can </a:t>
            </a:r>
            <a:r>
              <a:rPr sz="2500" spc="-15" dirty="0"/>
              <a:t>display </a:t>
            </a:r>
            <a:r>
              <a:rPr sz="2500" spc="-5" dirty="0"/>
              <a:t>them as thumbnails, tiles, </a:t>
            </a:r>
            <a:r>
              <a:rPr sz="2500" spc="-15" dirty="0"/>
              <a:t>large </a:t>
            </a:r>
            <a:r>
              <a:rPr sz="2500" spc="-10" dirty="0"/>
              <a:t>icons, small  icons, </a:t>
            </a:r>
            <a:r>
              <a:rPr sz="2500" spc="-5" dirty="0"/>
              <a:t>as a </a:t>
            </a:r>
            <a:r>
              <a:rPr sz="2500" spc="-10" dirty="0"/>
              <a:t>list, </a:t>
            </a:r>
            <a:r>
              <a:rPr sz="2500" spc="-5" dirty="0"/>
              <a:t>or as a </a:t>
            </a:r>
            <a:r>
              <a:rPr sz="2500" spc="-10" dirty="0"/>
              <a:t>list (Details) </a:t>
            </a:r>
            <a:r>
              <a:rPr sz="2500" spc="-5" dirty="0"/>
              <a:t>with </a:t>
            </a:r>
            <a:r>
              <a:rPr sz="2500" spc="-10" dirty="0"/>
              <a:t>details </a:t>
            </a:r>
            <a:r>
              <a:rPr sz="2500" spc="-5" dirty="0"/>
              <a:t>including  </a:t>
            </a:r>
            <a:r>
              <a:rPr sz="2500" spc="-20" dirty="0"/>
              <a:t>size, </a:t>
            </a:r>
            <a:r>
              <a:rPr sz="2500" spc="-5" dirty="0"/>
              <a:t>type and </a:t>
            </a:r>
            <a:r>
              <a:rPr sz="2500" spc="-15" dirty="0"/>
              <a:t>date </a:t>
            </a:r>
            <a:r>
              <a:rPr sz="2500" spc="-10" dirty="0"/>
              <a:t>last</a:t>
            </a:r>
            <a:r>
              <a:rPr sz="2500" spc="60" dirty="0"/>
              <a:t> </a:t>
            </a:r>
            <a:r>
              <a:rPr sz="2500" spc="-5" dirty="0"/>
              <a:t>modified.</a:t>
            </a:r>
            <a:endParaRPr sz="250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500" spc="-114" dirty="0"/>
              <a:t>To </a:t>
            </a:r>
            <a:r>
              <a:rPr sz="2500" spc="-5" dirty="0"/>
              <a:t>choose the view </a:t>
            </a:r>
            <a:r>
              <a:rPr sz="2500" spc="-25" dirty="0"/>
              <a:t>for </a:t>
            </a:r>
            <a:r>
              <a:rPr sz="2500" spc="-15" dirty="0"/>
              <a:t>your </a:t>
            </a:r>
            <a:r>
              <a:rPr sz="2500" spc="-5" dirty="0"/>
              <a:t>files or</a:t>
            </a:r>
            <a:r>
              <a:rPr sz="2500" spc="130" dirty="0"/>
              <a:t> </a:t>
            </a:r>
            <a:r>
              <a:rPr sz="2500" spc="-20" dirty="0"/>
              <a:t>folders:</a:t>
            </a:r>
            <a:endParaRPr sz="25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33398"/>
            <a:ext cx="16516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" dirty="0">
                <a:latin typeface="Carlito"/>
                <a:cs typeface="Carlito"/>
              </a:rPr>
              <a:t>Choosing</a:t>
            </a:r>
            <a:r>
              <a:rPr sz="2100" b="1" spc="-75" dirty="0">
                <a:latin typeface="Carlito"/>
                <a:cs typeface="Carlito"/>
              </a:rPr>
              <a:t> </a:t>
            </a:r>
            <a:r>
              <a:rPr sz="2100" b="1" spc="-10" dirty="0">
                <a:latin typeface="Carlito"/>
                <a:cs typeface="Carlito"/>
              </a:rPr>
              <a:t>View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242" y="2723464"/>
            <a:ext cx="7280909" cy="2921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3765" indent="-914400">
              <a:lnSpc>
                <a:spcPct val="100000"/>
              </a:lnSpc>
              <a:spcBef>
                <a:spcPts val="95"/>
              </a:spcBef>
              <a:buChar char="•"/>
              <a:tabLst>
                <a:tab pos="913765" algn="l"/>
                <a:tab pos="914400" algn="l"/>
              </a:tabLst>
            </a:pPr>
            <a:r>
              <a:rPr sz="2500" spc="-5" dirty="0">
                <a:latin typeface="Carlito"/>
                <a:cs typeface="Carlito"/>
              </a:rPr>
              <a:t>Open the </a:t>
            </a:r>
            <a:r>
              <a:rPr sz="2500" spc="-10" dirty="0">
                <a:latin typeface="Carlito"/>
                <a:cs typeface="Carlito"/>
              </a:rPr>
              <a:t>required</a:t>
            </a:r>
            <a:r>
              <a:rPr sz="2500" spc="10" dirty="0">
                <a:latin typeface="Carlito"/>
                <a:cs typeface="Carlito"/>
              </a:rPr>
              <a:t> </a:t>
            </a:r>
            <a:r>
              <a:rPr sz="2500" spc="-15" dirty="0">
                <a:latin typeface="Carlito"/>
                <a:cs typeface="Carlito"/>
              </a:rPr>
              <a:t>folder</a:t>
            </a:r>
            <a:endParaRPr sz="2500">
              <a:latin typeface="Carlito"/>
              <a:cs typeface="Carlito"/>
            </a:endParaRPr>
          </a:p>
          <a:p>
            <a:pPr marL="913765" indent="-914400">
              <a:lnSpc>
                <a:spcPct val="100000"/>
              </a:lnSpc>
              <a:spcBef>
                <a:spcPts val="5"/>
              </a:spcBef>
              <a:buChar char="•"/>
              <a:tabLst>
                <a:tab pos="913765" algn="l"/>
                <a:tab pos="914400" algn="l"/>
              </a:tabLst>
            </a:pPr>
            <a:r>
              <a:rPr sz="2500" spc="-10" dirty="0">
                <a:latin typeface="Carlito"/>
                <a:cs typeface="Carlito"/>
              </a:rPr>
              <a:t>Click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spc="-15" dirty="0">
                <a:latin typeface="Carlito"/>
                <a:cs typeface="Carlito"/>
              </a:rPr>
              <a:t>Views</a:t>
            </a:r>
            <a:r>
              <a:rPr sz="2500" spc="20" dirty="0">
                <a:latin typeface="Carlito"/>
                <a:cs typeface="Carlito"/>
              </a:rPr>
              <a:t> </a:t>
            </a:r>
            <a:r>
              <a:rPr sz="2500" spc="-15" dirty="0">
                <a:latin typeface="Carlito"/>
                <a:cs typeface="Carlito"/>
              </a:rPr>
              <a:t>button.</a:t>
            </a:r>
            <a:endParaRPr sz="2500">
              <a:latin typeface="Carlito"/>
              <a:cs typeface="Carlito"/>
            </a:endParaRPr>
          </a:p>
          <a:p>
            <a:pPr marR="5080">
              <a:lnSpc>
                <a:spcPts val="2400"/>
              </a:lnSpc>
              <a:spcBef>
                <a:spcPts val="580"/>
              </a:spcBef>
              <a:buChar char="•"/>
              <a:tabLst>
                <a:tab pos="913765" algn="l"/>
                <a:tab pos="914400" algn="l"/>
              </a:tabLst>
            </a:pPr>
            <a:r>
              <a:rPr sz="2500" spc="-5" dirty="0">
                <a:latin typeface="Carlito"/>
                <a:cs typeface="Carlito"/>
              </a:rPr>
              <a:t>A </a:t>
            </a:r>
            <a:r>
              <a:rPr sz="2500" spc="-15" dirty="0">
                <a:latin typeface="Carlito"/>
                <a:cs typeface="Carlito"/>
              </a:rPr>
              <a:t>drop </a:t>
            </a:r>
            <a:r>
              <a:rPr sz="2500" spc="-10" dirty="0">
                <a:latin typeface="Carlito"/>
                <a:cs typeface="Carlito"/>
              </a:rPr>
              <a:t>down </a:t>
            </a:r>
            <a:r>
              <a:rPr sz="2500" spc="-5" dirty="0">
                <a:latin typeface="Carlito"/>
                <a:cs typeface="Carlito"/>
              </a:rPr>
              <a:t>menu </a:t>
            </a:r>
            <a:r>
              <a:rPr sz="2500" spc="-10" dirty="0">
                <a:latin typeface="Carlito"/>
                <a:cs typeface="Carlito"/>
              </a:rPr>
              <a:t>appears. </a:t>
            </a:r>
            <a:r>
              <a:rPr sz="2500" spc="-5" dirty="0">
                <a:latin typeface="Carlito"/>
                <a:cs typeface="Carlito"/>
              </a:rPr>
              <a:t>Choose the </a:t>
            </a:r>
            <a:r>
              <a:rPr sz="2500" spc="-10" dirty="0">
                <a:latin typeface="Carlito"/>
                <a:cs typeface="Carlito"/>
              </a:rPr>
              <a:t>required  </a:t>
            </a:r>
            <a:r>
              <a:rPr sz="2500" spc="-35" dirty="0">
                <a:latin typeface="Carlito"/>
                <a:cs typeface="Carlito"/>
              </a:rPr>
              <a:t>view.</a:t>
            </a:r>
            <a:endParaRPr sz="2500">
              <a:latin typeface="Carlito"/>
              <a:cs typeface="Carlito"/>
            </a:endParaRPr>
          </a:p>
          <a:p>
            <a:pPr marR="464184">
              <a:lnSpc>
                <a:spcPts val="2400"/>
              </a:lnSpc>
              <a:spcBef>
                <a:spcPts val="600"/>
              </a:spcBef>
              <a:buChar char="•"/>
              <a:tabLst>
                <a:tab pos="913765" algn="l"/>
                <a:tab pos="914400" algn="l"/>
              </a:tabLst>
            </a:pPr>
            <a:r>
              <a:rPr sz="2500" spc="-5" dirty="0">
                <a:latin typeface="Carlito"/>
                <a:cs typeface="Carlito"/>
              </a:rPr>
              <a:t>A </a:t>
            </a:r>
            <a:r>
              <a:rPr sz="2500" spc="-15" dirty="0">
                <a:latin typeface="Carlito"/>
                <a:cs typeface="Carlito"/>
              </a:rPr>
              <a:t>large </a:t>
            </a:r>
            <a:r>
              <a:rPr sz="2500" spc="-5" dirty="0">
                <a:latin typeface="Carlito"/>
                <a:cs typeface="Carlito"/>
              </a:rPr>
              <a:t>black </a:t>
            </a:r>
            <a:r>
              <a:rPr sz="2500" spc="-10" dirty="0">
                <a:latin typeface="Carlito"/>
                <a:cs typeface="Carlito"/>
              </a:rPr>
              <a:t>dot appears </a:t>
            </a:r>
            <a:r>
              <a:rPr sz="2500" spc="-15" dirty="0">
                <a:latin typeface="Carlito"/>
                <a:cs typeface="Carlito"/>
              </a:rPr>
              <a:t>next to your current  </a:t>
            </a:r>
            <a:r>
              <a:rPr sz="2500" spc="-5" dirty="0">
                <a:latin typeface="Carlito"/>
                <a:cs typeface="Carlito"/>
              </a:rPr>
              <a:t>choice.</a:t>
            </a: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2500" spc="-5" dirty="0">
                <a:latin typeface="Carlito"/>
                <a:cs typeface="Carlito"/>
              </a:rPr>
              <a:t>OR</a:t>
            </a:r>
            <a:endParaRPr sz="2500">
              <a:latin typeface="Carlito"/>
              <a:cs typeface="Carlito"/>
            </a:endParaRPr>
          </a:p>
          <a:p>
            <a:pPr marL="913765" indent="-914400">
              <a:lnSpc>
                <a:spcPct val="100000"/>
              </a:lnSpc>
              <a:buChar char="•"/>
              <a:tabLst>
                <a:tab pos="913765" algn="l"/>
                <a:tab pos="914400" algn="l"/>
              </a:tabLst>
            </a:pPr>
            <a:r>
              <a:rPr sz="2500" spc="-5" dirty="0">
                <a:latin typeface="Carlito"/>
                <a:cs typeface="Carlito"/>
              </a:rPr>
              <a:t>Open the View menu and choose </a:t>
            </a:r>
            <a:r>
              <a:rPr sz="2500" spc="-10" dirty="0">
                <a:latin typeface="Carlito"/>
                <a:cs typeface="Carlito"/>
              </a:rPr>
              <a:t>your </a:t>
            </a:r>
            <a:r>
              <a:rPr sz="2500" spc="-35" dirty="0">
                <a:latin typeface="Carlito"/>
                <a:cs typeface="Carlito"/>
              </a:rPr>
              <a:t>view.</a:t>
            </a:r>
            <a:endParaRPr sz="2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40207" y="1053211"/>
            <a:ext cx="7724775" cy="307467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16510">
              <a:lnSpc>
                <a:spcPts val="1920"/>
              </a:lnSpc>
              <a:spcBef>
                <a:spcPts val="565"/>
              </a:spcBef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shortcut </a:t>
            </a:r>
            <a:r>
              <a:rPr sz="2000" spc="-20" dirty="0">
                <a:latin typeface="Carlito"/>
                <a:cs typeface="Carlito"/>
              </a:rPr>
              <a:t>offers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best </a:t>
            </a:r>
            <a:r>
              <a:rPr sz="2000" spc="-25" dirty="0">
                <a:latin typeface="Carlito"/>
                <a:cs typeface="Carlito"/>
              </a:rPr>
              <a:t>way </a:t>
            </a:r>
            <a:r>
              <a:rPr sz="2000" spc="-5" dirty="0">
                <a:latin typeface="Carlito"/>
                <a:cs typeface="Carlito"/>
              </a:rPr>
              <a:t>of doing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task </a:t>
            </a:r>
            <a:r>
              <a:rPr sz="2000" spc="-10" dirty="0">
                <a:latin typeface="Carlito"/>
                <a:cs typeface="Carlito"/>
              </a:rPr>
              <a:t>more </a:t>
            </a:r>
            <a:r>
              <a:rPr sz="2000" dirty="0">
                <a:latin typeface="Carlito"/>
                <a:cs typeface="Carlito"/>
              </a:rPr>
              <a:t>quickly </a:t>
            </a:r>
            <a:r>
              <a:rPr sz="2000" spc="-5" dirty="0">
                <a:latin typeface="Carlito"/>
                <a:cs typeface="Carlito"/>
              </a:rPr>
              <a:t>such </a:t>
            </a:r>
            <a:r>
              <a:rPr sz="2000" dirty="0">
                <a:latin typeface="Carlito"/>
                <a:cs typeface="Carlito"/>
              </a:rPr>
              <a:t>as </a:t>
            </a:r>
            <a:r>
              <a:rPr sz="2000" spc="-10" dirty="0">
                <a:latin typeface="Carlito"/>
                <a:cs typeface="Carlito"/>
              </a:rPr>
              <a:t>starting 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5" dirty="0">
                <a:latin typeface="Carlito"/>
                <a:cs typeface="Carlito"/>
              </a:rPr>
              <a:t>program </a:t>
            </a:r>
            <a:r>
              <a:rPr sz="2000" spc="-5" dirty="0">
                <a:latin typeface="Carlito"/>
                <a:cs typeface="Carlito"/>
              </a:rPr>
              <a:t>or </a:t>
            </a:r>
            <a:r>
              <a:rPr sz="2000" dirty="0">
                <a:latin typeface="Carlito"/>
                <a:cs typeface="Carlito"/>
              </a:rPr>
              <a:t>accessing a </a:t>
            </a:r>
            <a:r>
              <a:rPr sz="2000" spc="-5" dirty="0">
                <a:latin typeface="Carlito"/>
                <a:cs typeface="Carlito"/>
              </a:rPr>
              <a:t>document. The shortcut icon has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small </a:t>
            </a:r>
            <a:r>
              <a:rPr sz="2000" spc="-15" dirty="0">
                <a:latin typeface="Carlito"/>
                <a:cs typeface="Carlito"/>
              </a:rPr>
              <a:t>arrow </a:t>
            </a:r>
            <a:r>
              <a:rPr sz="2000" spc="-5" dirty="0">
                <a:latin typeface="Carlito"/>
                <a:cs typeface="Carlito"/>
              </a:rPr>
              <a:t>in 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left corner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help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5" dirty="0">
                <a:latin typeface="Carlito"/>
                <a:cs typeface="Carlito"/>
              </a:rPr>
              <a:t>distinguish </a:t>
            </a:r>
            <a:r>
              <a:rPr sz="2000" dirty="0">
                <a:latin typeface="Carlito"/>
                <a:cs typeface="Carlito"/>
              </a:rPr>
              <a:t>it </a:t>
            </a:r>
            <a:r>
              <a:rPr sz="2000" spc="-15" dirty="0">
                <a:latin typeface="Carlito"/>
                <a:cs typeface="Carlito"/>
              </a:rPr>
              <a:t>from </a:t>
            </a:r>
            <a:r>
              <a:rPr sz="2000" dirty="0">
                <a:latin typeface="Carlito"/>
                <a:cs typeface="Carlito"/>
              </a:rPr>
              <a:t>the actual </a:t>
            </a:r>
            <a:r>
              <a:rPr sz="2000" spc="-5" dirty="0">
                <a:latin typeface="Carlito"/>
                <a:cs typeface="Carlito"/>
              </a:rPr>
              <a:t>icon that  </a:t>
            </a:r>
            <a:r>
              <a:rPr sz="2000" spc="-10" dirty="0">
                <a:latin typeface="Carlito"/>
                <a:cs typeface="Carlito"/>
              </a:rPr>
              <a:t>represents programs </a:t>
            </a:r>
            <a:r>
              <a:rPr sz="2000" dirty="0">
                <a:latin typeface="Carlito"/>
                <a:cs typeface="Carlito"/>
              </a:rPr>
              <a:t>and</a:t>
            </a:r>
            <a:r>
              <a:rPr sz="2000" spc="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files.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000" spc="-5" dirty="0">
                <a:latin typeface="Carlito"/>
                <a:cs typeface="Carlito"/>
              </a:rPr>
              <a:t>Deleting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shortcut does </a:t>
            </a:r>
            <a:r>
              <a:rPr sz="2000" dirty="0">
                <a:latin typeface="Carlito"/>
                <a:cs typeface="Carlito"/>
              </a:rPr>
              <a:t>not </a:t>
            </a:r>
            <a:r>
              <a:rPr sz="2000" spc="-15" dirty="0">
                <a:latin typeface="Carlito"/>
                <a:cs typeface="Carlito"/>
              </a:rPr>
              <a:t>affect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original </a:t>
            </a:r>
            <a:r>
              <a:rPr sz="2000" spc="-10" dirty="0">
                <a:latin typeface="Carlito"/>
                <a:cs typeface="Carlito"/>
              </a:rPr>
              <a:t>item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shortcut points</a:t>
            </a:r>
            <a:r>
              <a:rPr sz="2000" spc="6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to.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arlito"/>
                <a:cs typeface="Carlito"/>
              </a:rPr>
              <a:t>Creating </a:t>
            </a:r>
            <a:r>
              <a:rPr sz="2000" dirty="0">
                <a:latin typeface="Carlito"/>
                <a:cs typeface="Carlito"/>
              </a:rPr>
              <a:t>a</a:t>
            </a:r>
            <a:r>
              <a:rPr sz="2000" spc="-5" dirty="0">
                <a:latin typeface="Carlito"/>
                <a:cs typeface="Carlito"/>
              </a:rPr>
              <a:t> Shortcut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latin typeface="Carlito"/>
                <a:cs typeface="Carlito"/>
              </a:rPr>
              <a:t>There are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number </a:t>
            </a:r>
            <a:r>
              <a:rPr sz="2000" dirty="0">
                <a:latin typeface="Carlito"/>
                <a:cs typeface="Carlito"/>
              </a:rPr>
              <a:t>of </a:t>
            </a:r>
            <a:r>
              <a:rPr sz="2000" spc="-20" dirty="0">
                <a:latin typeface="Carlito"/>
                <a:cs typeface="Carlito"/>
              </a:rPr>
              <a:t>ways </a:t>
            </a:r>
            <a:r>
              <a:rPr sz="2000" spc="-5" dirty="0">
                <a:latin typeface="Carlito"/>
                <a:cs typeface="Carlito"/>
              </a:rPr>
              <a:t>by which </a:t>
            </a:r>
            <a:r>
              <a:rPr sz="2000" dirty="0">
                <a:latin typeface="Carlito"/>
                <a:cs typeface="Carlito"/>
              </a:rPr>
              <a:t>one </a:t>
            </a:r>
            <a:r>
              <a:rPr sz="2000" spc="-5" dirty="0">
                <a:latin typeface="Carlito"/>
                <a:cs typeface="Carlito"/>
              </a:rPr>
              <a:t>can </a:t>
            </a:r>
            <a:r>
              <a:rPr sz="2000" spc="-15" dirty="0">
                <a:latin typeface="Carlito"/>
                <a:cs typeface="Carlito"/>
              </a:rPr>
              <a:t>create </a:t>
            </a:r>
            <a:r>
              <a:rPr sz="2000" spc="-5" dirty="0">
                <a:latin typeface="Carlito"/>
                <a:cs typeface="Carlito"/>
              </a:rPr>
              <a:t>shortcuts </a:t>
            </a:r>
            <a:r>
              <a:rPr sz="2000" spc="-15" dirty="0">
                <a:latin typeface="Carlito"/>
                <a:cs typeface="Carlito"/>
              </a:rPr>
              <a:t>for</a:t>
            </a:r>
            <a:r>
              <a:rPr sz="2000" spc="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files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latin typeface="Carlito"/>
                <a:cs typeface="Carlito"/>
              </a:rPr>
              <a:t>and </a:t>
            </a:r>
            <a:r>
              <a:rPr sz="2000" spc="-10" dirty="0">
                <a:latin typeface="Carlito"/>
                <a:cs typeface="Carlito"/>
              </a:rPr>
              <a:t>programs. </a:t>
            </a:r>
            <a:r>
              <a:rPr sz="2000" spc="-5" dirty="0">
                <a:latin typeface="Carlito"/>
                <a:cs typeface="Carlito"/>
              </a:rPr>
              <a:t>Below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some 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commonly used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methods.</a:t>
            </a:r>
            <a:endParaRPr sz="2000">
              <a:latin typeface="Carlito"/>
              <a:cs typeface="Carlito"/>
            </a:endParaRPr>
          </a:p>
          <a:p>
            <a:pPr marL="12700" marR="974090">
              <a:lnSpc>
                <a:spcPct val="80000"/>
              </a:lnSpc>
              <a:spcBef>
                <a:spcPts val="480"/>
              </a:spcBef>
            </a:pPr>
            <a:r>
              <a:rPr sz="2000" spc="-10" dirty="0">
                <a:latin typeface="Carlito"/>
                <a:cs typeface="Carlito"/>
              </a:rPr>
              <a:t>Creating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shortcut </a:t>
            </a:r>
            <a:r>
              <a:rPr sz="2000" spc="-10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desktop using Windows </a:t>
            </a:r>
            <a:r>
              <a:rPr sz="2000" spc="-10" dirty="0">
                <a:latin typeface="Carlito"/>
                <a:cs typeface="Carlito"/>
              </a:rPr>
              <a:t>Explorer </a:t>
            </a:r>
            <a:r>
              <a:rPr sz="2000" spc="-5" dirty="0">
                <a:latin typeface="Carlito"/>
                <a:cs typeface="Carlito"/>
              </a:rPr>
              <a:t>or </a:t>
            </a:r>
            <a:r>
              <a:rPr sz="2000" dirty="0">
                <a:latin typeface="Carlito"/>
                <a:cs typeface="Carlito"/>
              </a:rPr>
              <a:t>My  </a:t>
            </a:r>
            <a:r>
              <a:rPr sz="2000" spc="-5" dirty="0">
                <a:latin typeface="Carlito"/>
                <a:cs typeface="Carlito"/>
              </a:rPr>
              <a:t>Computer: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0207" y="4101541"/>
            <a:ext cx="15240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rlito"/>
                <a:cs typeface="Carlito"/>
              </a:rPr>
              <a:t>•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•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•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4658" y="4101541"/>
            <a:ext cx="640397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rlito"/>
                <a:cs typeface="Carlito"/>
              </a:rPr>
              <a:t>Open </a:t>
            </a:r>
            <a:r>
              <a:rPr sz="2000" spc="-5" dirty="0">
                <a:latin typeface="Carlito"/>
                <a:cs typeface="Carlito"/>
              </a:rPr>
              <a:t>Windows Explorer </a:t>
            </a:r>
            <a:r>
              <a:rPr sz="2000" dirty="0">
                <a:latin typeface="Carlito"/>
                <a:cs typeface="Carlito"/>
              </a:rPr>
              <a:t>or My</a:t>
            </a:r>
            <a:r>
              <a:rPr sz="2000" spc="-90" dirty="0">
                <a:latin typeface="Carlito"/>
                <a:cs typeface="Carlito"/>
              </a:rPr>
              <a:t> </a:t>
            </a:r>
            <a:r>
              <a:rPr sz="2000" spc="-25" dirty="0">
                <a:latin typeface="Carlito"/>
                <a:cs typeface="Carlito"/>
              </a:rPr>
              <a:t>Computer.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Double-click a </a:t>
            </a:r>
            <a:r>
              <a:rPr sz="2000" spc="-10" dirty="0">
                <a:latin typeface="Carlito"/>
                <a:cs typeface="Carlito"/>
              </a:rPr>
              <a:t>drive </a:t>
            </a:r>
            <a:r>
              <a:rPr sz="2000" spc="-5" dirty="0">
                <a:latin typeface="Carlito"/>
                <a:cs typeface="Carlito"/>
              </a:rPr>
              <a:t>or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40" dirty="0">
                <a:latin typeface="Carlito"/>
                <a:cs typeface="Carlito"/>
              </a:rPr>
              <a:t>folder.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ts val="1920"/>
              </a:lnSpc>
              <a:spcBef>
                <a:spcPts val="465"/>
              </a:spcBef>
            </a:pPr>
            <a:r>
              <a:rPr sz="2000" spc="-5" dirty="0">
                <a:latin typeface="Carlito"/>
                <a:cs typeface="Carlito"/>
              </a:rPr>
              <a:t>Click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file, </a:t>
            </a:r>
            <a:r>
              <a:rPr sz="2000" spc="-10" dirty="0">
                <a:latin typeface="Carlito"/>
                <a:cs typeface="Carlito"/>
              </a:rPr>
              <a:t>program, </a:t>
            </a:r>
            <a:r>
              <a:rPr sz="2000" spc="-5" dirty="0">
                <a:latin typeface="Carlito"/>
                <a:cs typeface="Carlito"/>
              </a:rPr>
              <a:t>or </a:t>
            </a:r>
            <a:r>
              <a:rPr sz="2000" spc="-10" dirty="0">
                <a:latin typeface="Carlito"/>
                <a:cs typeface="Carlito"/>
              </a:rPr>
              <a:t>folder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dirty="0">
                <a:latin typeface="Carlito"/>
                <a:cs typeface="Carlito"/>
              </a:rPr>
              <a:t>which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15" dirty="0">
                <a:latin typeface="Carlito"/>
                <a:cs typeface="Carlito"/>
              </a:rPr>
              <a:t>want </a:t>
            </a:r>
            <a:r>
              <a:rPr sz="2000" spc="-10" dirty="0">
                <a:latin typeface="Carlito"/>
                <a:cs typeface="Carlito"/>
              </a:rPr>
              <a:t>to </a:t>
            </a:r>
            <a:r>
              <a:rPr sz="2000" spc="-15" dirty="0">
                <a:latin typeface="Carlito"/>
                <a:cs typeface="Carlito"/>
              </a:rPr>
              <a:t>make </a:t>
            </a:r>
            <a:r>
              <a:rPr sz="2000" dirty="0">
                <a:latin typeface="Carlito"/>
                <a:cs typeface="Carlito"/>
              </a:rPr>
              <a:t>a  </a:t>
            </a:r>
            <a:r>
              <a:rPr sz="2000" spc="-5" dirty="0">
                <a:latin typeface="Carlito"/>
                <a:cs typeface="Carlito"/>
              </a:rPr>
              <a:t>shortcut. The </a:t>
            </a:r>
            <a:r>
              <a:rPr sz="2000" spc="-10" dirty="0">
                <a:latin typeface="Carlito"/>
                <a:cs typeface="Carlito"/>
              </a:rPr>
              <a:t>item darkens </a:t>
            </a:r>
            <a:r>
              <a:rPr sz="2000" dirty="0">
                <a:latin typeface="Carlito"/>
                <a:cs typeface="Carlito"/>
              </a:rPr>
              <a:t>when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5" dirty="0">
                <a:latin typeface="Carlito"/>
                <a:cs typeface="Carlito"/>
              </a:rPr>
              <a:t>select </a:t>
            </a:r>
            <a:r>
              <a:rPr sz="2000" dirty="0">
                <a:latin typeface="Carlito"/>
                <a:cs typeface="Carlito"/>
              </a:rPr>
              <a:t>it.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spc="-5" dirty="0">
                <a:latin typeface="Carlito"/>
                <a:cs typeface="Carlito"/>
              </a:rPr>
              <a:t>Choose </a:t>
            </a:r>
            <a:r>
              <a:rPr sz="2000" b="1" dirty="0">
                <a:latin typeface="Carlito"/>
                <a:cs typeface="Carlito"/>
              </a:rPr>
              <a:t>File </a:t>
            </a:r>
            <a:r>
              <a:rPr sz="2000" dirty="0">
                <a:latin typeface="Carlito"/>
                <a:cs typeface="Carlito"/>
              </a:rPr>
              <a:t>- </a:t>
            </a:r>
            <a:r>
              <a:rPr sz="2000" b="1" spc="-20" dirty="0">
                <a:latin typeface="Carlito"/>
                <a:cs typeface="Carlito"/>
              </a:rPr>
              <a:t>Create</a:t>
            </a:r>
            <a:r>
              <a:rPr sz="2000" b="1" spc="-15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Shortcut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07" y="5260340"/>
            <a:ext cx="152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rlito"/>
                <a:cs typeface="Carlito"/>
              </a:rPr>
              <a:t>•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458290"/>
            <a:ext cx="759587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indent="-914400">
              <a:lnSpc>
                <a:spcPct val="100000"/>
              </a:lnSpc>
              <a:spcBef>
                <a:spcPts val="100"/>
              </a:spcBef>
              <a:buFont typeface="Carlito"/>
              <a:buChar char="•"/>
              <a:tabLst>
                <a:tab pos="926465" algn="l"/>
                <a:tab pos="927100" algn="l"/>
              </a:tabLst>
            </a:pPr>
            <a:r>
              <a:rPr sz="3000" b="1" spc="-25" dirty="0">
                <a:latin typeface="Carlito"/>
                <a:cs typeface="Carlito"/>
              </a:rPr>
              <a:t>Resize </a:t>
            </a:r>
            <a:r>
              <a:rPr sz="3000" b="1" dirty="0">
                <a:latin typeface="Carlito"/>
                <a:cs typeface="Carlito"/>
              </a:rPr>
              <a:t>the </a:t>
            </a:r>
            <a:r>
              <a:rPr sz="3000" b="1" spc="-5" dirty="0">
                <a:latin typeface="Carlito"/>
                <a:cs typeface="Carlito"/>
              </a:rPr>
              <a:t>window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see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desktop.</a:t>
            </a:r>
            <a:endParaRPr sz="3000">
              <a:latin typeface="Carlito"/>
              <a:cs typeface="Carlito"/>
            </a:endParaRPr>
          </a:p>
          <a:p>
            <a:pPr marL="12700" marR="5080">
              <a:lnSpc>
                <a:spcPts val="2880"/>
              </a:lnSpc>
              <a:spcBef>
                <a:spcPts val="700"/>
              </a:spcBef>
              <a:buFont typeface="Carlito"/>
              <a:buChar char="•"/>
              <a:tabLst>
                <a:tab pos="926465" algn="l"/>
                <a:tab pos="927100" algn="l"/>
                <a:tab pos="3670300" algn="l"/>
              </a:tabLst>
            </a:pPr>
            <a:r>
              <a:rPr sz="3000" b="1" spc="-10" dirty="0">
                <a:latin typeface="Carlito"/>
                <a:cs typeface="Carlito"/>
              </a:rPr>
              <a:t>Hover </a:t>
            </a:r>
            <a:r>
              <a:rPr sz="3000" dirty="0">
                <a:latin typeface="Carlito"/>
                <a:cs typeface="Carlito"/>
              </a:rPr>
              <a:t>the mouse </a:t>
            </a:r>
            <a:r>
              <a:rPr sz="3000" spc="-15" dirty="0">
                <a:latin typeface="Carlito"/>
                <a:cs typeface="Carlito"/>
              </a:rPr>
              <a:t>pointer </a:t>
            </a:r>
            <a:r>
              <a:rPr sz="3000" spc="-10" dirty="0">
                <a:latin typeface="Carlito"/>
                <a:cs typeface="Carlito"/>
              </a:rPr>
              <a:t>over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shortcut  icon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b="1" spc="-5" dirty="0">
                <a:latin typeface="Carlito"/>
                <a:cs typeface="Carlito"/>
              </a:rPr>
              <a:t>hold</a:t>
            </a:r>
            <a:r>
              <a:rPr sz="3000" b="1" spc="15" dirty="0">
                <a:latin typeface="Carlito"/>
                <a:cs typeface="Carlito"/>
              </a:rPr>
              <a:t> </a:t>
            </a:r>
            <a:r>
              <a:rPr sz="3000" b="1" spc="-5" dirty="0">
                <a:latin typeface="Carlito"/>
                <a:cs typeface="Carlito"/>
              </a:rPr>
              <a:t>down	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left </a:t>
            </a:r>
            <a:r>
              <a:rPr sz="3000" dirty="0">
                <a:latin typeface="Carlito"/>
                <a:cs typeface="Carlito"/>
              </a:rPr>
              <a:t>mouse </a:t>
            </a:r>
            <a:r>
              <a:rPr sz="3000" spc="-20" dirty="0">
                <a:latin typeface="Carlito"/>
                <a:cs typeface="Carlito"/>
              </a:rPr>
              <a:t>button 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b="1" spc="-20" dirty="0">
                <a:latin typeface="Carlito"/>
                <a:cs typeface="Carlito"/>
              </a:rPr>
              <a:t>drag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shortcut </a:t>
            </a:r>
            <a:r>
              <a:rPr sz="3000" spc="-15" dirty="0">
                <a:latin typeface="Carlito"/>
                <a:cs typeface="Carlito"/>
              </a:rPr>
              <a:t>onto </a:t>
            </a:r>
            <a:r>
              <a:rPr sz="3000" spc="-10" dirty="0">
                <a:latin typeface="Carlito"/>
                <a:cs typeface="Carlito"/>
              </a:rPr>
              <a:t>desktop </a:t>
            </a:r>
            <a:r>
              <a:rPr sz="3000" spc="-5" dirty="0">
                <a:latin typeface="Carlito"/>
                <a:cs typeface="Carlito"/>
              </a:rPr>
              <a:t>(in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the</a:t>
            </a:r>
            <a:endParaRPr sz="3000">
              <a:latin typeface="Carlito"/>
              <a:cs typeface="Carlito"/>
            </a:endParaRPr>
          </a:p>
          <a:p>
            <a:pPr marL="926465">
              <a:lnSpc>
                <a:spcPts val="2905"/>
              </a:lnSpc>
            </a:pPr>
            <a:r>
              <a:rPr sz="3000" spc="-10" dirty="0">
                <a:latin typeface="Carlito"/>
                <a:cs typeface="Carlito"/>
              </a:rPr>
              <a:t>left pane).</a:t>
            </a:r>
            <a:endParaRPr sz="3000">
              <a:latin typeface="Carlito"/>
              <a:cs typeface="Carlito"/>
            </a:endParaRPr>
          </a:p>
          <a:p>
            <a:pPr marL="12700" marR="1038860">
              <a:lnSpc>
                <a:spcPts val="2880"/>
              </a:lnSpc>
              <a:spcBef>
                <a:spcPts val="695"/>
              </a:spcBef>
              <a:buFont typeface="Carlito"/>
              <a:buChar char="•"/>
              <a:tabLst>
                <a:tab pos="926465" algn="l"/>
                <a:tab pos="927100" algn="l"/>
                <a:tab pos="4584700" algn="l"/>
              </a:tabLst>
            </a:pPr>
            <a:r>
              <a:rPr sz="3000" b="1" spc="-10" dirty="0">
                <a:latin typeface="Carlito"/>
                <a:cs typeface="Carlito"/>
              </a:rPr>
              <a:t>Release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left </a:t>
            </a:r>
            <a:r>
              <a:rPr sz="3000" dirty="0">
                <a:latin typeface="Carlito"/>
                <a:cs typeface="Carlito"/>
              </a:rPr>
              <a:t>mouse </a:t>
            </a:r>
            <a:r>
              <a:rPr sz="3000" spc="-15" dirty="0">
                <a:latin typeface="Carlito"/>
                <a:cs typeface="Carlito"/>
              </a:rPr>
              <a:t>button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-10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a  </a:t>
            </a:r>
            <a:r>
              <a:rPr sz="3000" spc="-10" dirty="0">
                <a:latin typeface="Carlito"/>
                <a:cs typeface="Carlito"/>
              </a:rPr>
              <a:t>shortcut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moved </a:t>
            </a:r>
            <a:r>
              <a:rPr sz="3000" spc="-15" dirty="0">
                <a:latin typeface="Carlito"/>
                <a:cs typeface="Carlito"/>
              </a:rPr>
              <a:t>to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the	</a:t>
            </a:r>
            <a:r>
              <a:rPr sz="3000" spc="-10" dirty="0">
                <a:latin typeface="Carlito"/>
                <a:cs typeface="Carlito"/>
              </a:rPr>
              <a:t>desktop.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0">
              <a:latin typeface="Carlito"/>
              <a:cs typeface="Carlito"/>
            </a:endParaRPr>
          </a:p>
          <a:p>
            <a:pPr marL="12700" marR="470534" indent="85090">
              <a:lnSpc>
                <a:spcPts val="2880"/>
              </a:lnSpc>
            </a:pPr>
            <a:r>
              <a:rPr sz="3000" spc="-25" dirty="0">
                <a:latin typeface="Carlito"/>
                <a:cs typeface="Carlito"/>
              </a:rPr>
              <a:t>Alternatively, </a:t>
            </a:r>
            <a:r>
              <a:rPr sz="3000" spc="-10" dirty="0">
                <a:latin typeface="Carlito"/>
                <a:cs typeface="Carlito"/>
              </a:rPr>
              <a:t>press </a:t>
            </a:r>
            <a:r>
              <a:rPr sz="3000" b="1" spc="-5" dirty="0">
                <a:latin typeface="Carlito"/>
                <a:cs typeface="Carlito"/>
              </a:rPr>
              <a:t>Ctrl </a:t>
            </a:r>
            <a:r>
              <a:rPr sz="3000" dirty="0">
                <a:latin typeface="Carlito"/>
                <a:cs typeface="Carlito"/>
              </a:rPr>
              <a:t>+ </a:t>
            </a:r>
            <a:r>
              <a:rPr sz="3000" b="1" spc="-5" dirty="0">
                <a:latin typeface="Carlito"/>
                <a:cs typeface="Carlito"/>
              </a:rPr>
              <a:t>Shift </a:t>
            </a:r>
            <a:r>
              <a:rPr sz="3000" spc="-5" dirty="0">
                <a:latin typeface="Carlito"/>
                <a:cs typeface="Carlito"/>
              </a:rPr>
              <a:t>while </a:t>
            </a:r>
            <a:r>
              <a:rPr sz="3000" spc="-10" dirty="0">
                <a:latin typeface="Carlito"/>
                <a:cs typeface="Carlito"/>
              </a:rPr>
              <a:t>dragging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file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desktop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20" dirty="0">
                <a:latin typeface="Carlito"/>
                <a:cs typeface="Carlito"/>
              </a:rPr>
              <a:t>create 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shortcut.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7542" y="1329054"/>
            <a:ext cx="768350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sz="2200" spc="-10" dirty="0"/>
              <a:t>The </a:t>
            </a:r>
            <a:r>
              <a:rPr sz="2200" spc="-20" dirty="0"/>
              <a:t>quickest </a:t>
            </a:r>
            <a:r>
              <a:rPr sz="2200" spc="-25" dirty="0"/>
              <a:t>way </a:t>
            </a:r>
            <a:r>
              <a:rPr sz="2200" spc="-5" dirty="0"/>
              <a:t>of </a:t>
            </a:r>
            <a:r>
              <a:rPr sz="2200" spc="-10" dirty="0"/>
              <a:t>creating </a:t>
            </a:r>
            <a:r>
              <a:rPr sz="2200" spc="-5" dirty="0"/>
              <a:t>a </a:t>
            </a:r>
            <a:r>
              <a:rPr sz="2200" spc="-10" dirty="0"/>
              <a:t>shortcut requires </a:t>
            </a:r>
            <a:r>
              <a:rPr sz="2200" spc="-5" dirty="0"/>
              <a:t>a </a:t>
            </a:r>
            <a:r>
              <a:rPr sz="2200" spc="-10" dirty="0"/>
              <a:t>right-click. </a:t>
            </a:r>
            <a:r>
              <a:rPr sz="2200" spc="-100" dirty="0"/>
              <a:t>To</a:t>
            </a:r>
            <a:r>
              <a:rPr sz="2200" spc="160" dirty="0"/>
              <a:t> </a:t>
            </a:r>
            <a:r>
              <a:rPr sz="2200" spc="-5" dirty="0"/>
              <a:t>add</a:t>
            </a:r>
            <a:endParaRPr sz="2200"/>
          </a:p>
          <a:p>
            <a:pPr marL="12700">
              <a:lnSpc>
                <a:spcPts val="2375"/>
              </a:lnSpc>
            </a:pPr>
            <a:r>
              <a:rPr sz="2200" spc="-5" dirty="0"/>
              <a:t>a </a:t>
            </a:r>
            <a:r>
              <a:rPr sz="2200" spc="-10" dirty="0"/>
              <a:t>shortcut by</a:t>
            </a:r>
            <a:r>
              <a:rPr sz="2200" dirty="0"/>
              <a:t> </a:t>
            </a:r>
            <a:r>
              <a:rPr sz="2200" spc="-10" dirty="0"/>
              <a:t>right-clicking:</a:t>
            </a:r>
            <a:endParaRPr sz="220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41018"/>
            <a:ext cx="31654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5" dirty="0">
                <a:latin typeface="Carlito"/>
                <a:cs typeface="Carlito"/>
              </a:rPr>
              <a:t>Right-clicking </a:t>
            </a:r>
            <a:r>
              <a:rPr sz="1900" b="1" spc="-15" dirty="0">
                <a:latin typeface="Carlito"/>
                <a:cs typeface="Carlito"/>
              </a:rPr>
              <a:t>to </a:t>
            </a:r>
            <a:r>
              <a:rPr sz="1900" b="1" spc="-5" dirty="0">
                <a:latin typeface="Carlito"/>
                <a:cs typeface="Carlito"/>
              </a:rPr>
              <a:t>Add a</a:t>
            </a:r>
            <a:r>
              <a:rPr sz="1900" b="1" spc="-10" dirty="0">
                <a:latin typeface="Carlito"/>
                <a:cs typeface="Carlito"/>
              </a:rPr>
              <a:t> Shortcut</a:t>
            </a:r>
            <a:endParaRPr sz="19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242" y="1932812"/>
            <a:ext cx="13906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0242" y="2871977"/>
            <a:ext cx="2374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35" dirty="0">
                <a:latin typeface="Carlito"/>
                <a:cs typeface="Carlito"/>
              </a:rPr>
              <a:t>t</a:t>
            </a:r>
            <a:r>
              <a:rPr sz="2200" spc="-5" dirty="0">
                <a:latin typeface="Carlito"/>
                <a:cs typeface="Carlito"/>
              </a:rPr>
              <a:t>o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242" y="3207257"/>
            <a:ext cx="13906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0242" y="4146296"/>
            <a:ext cx="734695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2375"/>
              </a:lnSpc>
              <a:spcBef>
                <a:spcPts val="95"/>
              </a:spcBef>
            </a:pPr>
            <a:r>
              <a:rPr sz="2200" b="1" spc="-10" dirty="0">
                <a:latin typeface="Carlito"/>
                <a:cs typeface="Carlito"/>
              </a:rPr>
              <a:t>down</a:t>
            </a:r>
            <a:endParaRPr sz="2200">
              <a:latin typeface="Carlito"/>
              <a:cs typeface="Carlito"/>
            </a:endParaRPr>
          </a:p>
          <a:p>
            <a:pPr>
              <a:lnSpc>
                <a:spcPts val="2375"/>
              </a:lnSpc>
            </a:pPr>
            <a:r>
              <a:rPr sz="2200" spc="-5" dirty="0">
                <a:latin typeface="Carlito"/>
                <a:cs typeface="Carlito"/>
              </a:rPr>
              <a:t>(in</a:t>
            </a:r>
            <a:r>
              <a:rPr sz="2200" spc="-10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the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0242" y="4749800"/>
            <a:ext cx="1390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242" y="5018023"/>
            <a:ext cx="379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the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1916" y="1932812"/>
            <a:ext cx="6587490" cy="3445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2466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rlito"/>
                <a:cs typeface="Carlito"/>
              </a:rPr>
              <a:t>Open </a:t>
            </a:r>
            <a:r>
              <a:rPr sz="2200" b="1" spc="-10" dirty="0">
                <a:latin typeface="Carlito"/>
                <a:cs typeface="Carlito"/>
              </a:rPr>
              <a:t>Windows Explorer </a:t>
            </a: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b="1" spc="-10" dirty="0">
                <a:latin typeface="Carlito"/>
                <a:cs typeface="Carlito"/>
              </a:rPr>
              <a:t>My Computer</a:t>
            </a:r>
            <a:r>
              <a:rPr sz="2200" spc="-10" dirty="0">
                <a:latin typeface="Carlito"/>
                <a:cs typeface="Carlito"/>
              </a:rPr>
              <a:t>.  </a:t>
            </a:r>
            <a:r>
              <a:rPr sz="2200" spc="-5" dirty="0">
                <a:latin typeface="Carlito"/>
                <a:cs typeface="Carlito"/>
              </a:rPr>
              <a:t>Double-click a </a:t>
            </a:r>
            <a:r>
              <a:rPr sz="2200" spc="-15" dirty="0">
                <a:latin typeface="Carlito"/>
                <a:cs typeface="Carlito"/>
              </a:rPr>
              <a:t>drive </a:t>
            </a:r>
            <a:r>
              <a:rPr sz="2200" spc="-5" dirty="0">
                <a:latin typeface="Carlito"/>
                <a:cs typeface="Carlito"/>
              </a:rPr>
              <a:t>or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45" dirty="0">
                <a:latin typeface="Carlito"/>
                <a:cs typeface="Carlito"/>
              </a:rPr>
              <a:t>folder.</a:t>
            </a:r>
            <a:endParaRPr sz="2200">
              <a:latin typeface="Carlito"/>
              <a:cs typeface="Carlito"/>
            </a:endParaRPr>
          </a:p>
          <a:p>
            <a:pPr marL="12700" marR="67945">
              <a:lnSpc>
                <a:spcPts val="2110"/>
              </a:lnSpc>
              <a:spcBef>
                <a:spcPts val="509"/>
              </a:spcBef>
            </a:pPr>
            <a:r>
              <a:rPr sz="2200" b="1" spc="-10" dirty="0">
                <a:latin typeface="Carlito"/>
                <a:cs typeface="Carlito"/>
              </a:rPr>
              <a:t>Right-click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file, </a:t>
            </a:r>
            <a:r>
              <a:rPr sz="2200" spc="-15" dirty="0">
                <a:latin typeface="Carlito"/>
                <a:cs typeface="Carlito"/>
              </a:rPr>
              <a:t>program, </a:t>
            </a: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folder </a:t>
            </a:r>
            <a:r>
              <a:rPr sz="2200" spc="-15" dirty="0">
                <a:latin typeface="Carlito"/>
                <a:cs typeface="Carlito"/>
              </a:rPr>
              <a:t>for </a:t>
            </a:r>
            <a:r>
              <a:rPr sz="2200" spc="-5" dirty="0">
                <a:latin typeface="Carlito"/>
                <a:cs typeface="Carlito"/>
              </a:rPr>
              <a:t>which </a:t>
            </a:r>
            <a:r>
              <a:rPr sz="2200" spc="-15" dirty="0">
                <a:latin typeface="Carlito"/>
                <a:cs typeface="Carlito"/>
              </a:rPr>
              <a:t>you want  </a:t>
            </a:r>
            <a:r>
              <a:rPr sz="2200" spc="-25" dirty="0">
                <a:latin typeface="Carlito"/>
                <a:cs typeface="Carlito"/>
              </a:rPr>
              <a:t>make 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3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shortcut.</a:t>
            </a:r>
            <a:endParaRPr sz="2200">
              <a:latin typeface="Carlito"/>
              <a:cs typeface="Carlito"/>
            </a:endParaRPr>
          </a:p>
          <a:p>
            <a:pPr marL="12700" marR="1084580">
              <a:lnSpc>
                <a:spcPct val="100000"/>
              </a:lnSpc>
              <a:spcBef>
                <a:spcPts val="25"/>
              </a:spcBef>
            </a:pPr>
            <a:r>
              <a:rPr sz="2200" spc="-5" dirty="0">
                <a:latin typeface="Carlito"/>
                <a:cs typeface="Carlito"/>
              </a:rPr>
              <a:t>A pop-up menu </a:t>
            </a:r>
            <a:r>
              <a:rPr sz="2200" spc="-10" dirty="0">
                <a:latin typeface="Carlito"/>
                <a:cs typeface="Carlito"/>
              </a:rPr>
              <a:t>appears. Select </a:t>
            </a:r>
            <a:r>
              <a:rPr sz="2200" b="1" spc="-20" dirty="0">
                <a:latin typeface="Carlito"/>
                <a:cs typeface="Carlito"/>
              </a:rPr>
              <a:t>Create </a:t>
            </a:r>
            <a:r>
              <a:rPr sz="2200" b="1" spc="-10" dirty="0">
                <a:latin typeface="Carlito"/>
                <a:cs typeface="Carlito"/>
              </a:rPr>
              <a:t>Shortcut</a:t>
            </a:r>
            <a:r>
              <a:rPr sz="2200" spc="-10" dirty="0">
                <a:latin typeface="Carlito"/>
                <a:cs typeface="Carlito"/>
              </a:rPr>
              <a:t>.  </a:t>
            </a:r>
            <a:r>
              <a:rPr sz="2200" spc="-20" dirty="0">
                <a:latin typeface="Carlito"/>
                <a:cs typeface="Carlito"/>
              </a:rPr>
              <a:t>Resize </a:t>
            </a:r>
            <a:r>
              <a:rPr sz="2200" spc="-5" dirty="0">
                <a:latin typeface="Carlito"/>
                <a:cs typeface="Carlito"/>
              </a:rPr>
              <a:t>the window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see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114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desktop.</a:t>
            </a:r>
            <a:endParaRPr sz="2200">
              <a:latin typeface="Carlito"/>
              <a:cs typeface="Carlito"/>
            </a:endParaRPr>
          </a:p>
          <a:p>
            <a:pPr marL="12700" marR="5080">
              <a:lnSpc>
                <a:spcPct val="80000"/>
              </a:lnSpc>
              <a:spcBef>
                <a:spcPts val="530"/>
              </a:spcBef>
            </a:pPr>
            <a:r>
              <a:rPr sz="2200" spc="-15" dirty="0">
                <a:latin typeface="Carlito"/>
                <a:cs typeface="Carlito"/>
              </a:rPr>
              <a:t>Move </a:t>
            </a:r>
            <a:r>
              <a:rPr sz="2200" spc="-5" dirty="0">
                <a:latin typeface="Carlito"/>
                <a:cs typeface="Carlito"/>
              </a:rPr>
              <a:t>the mouse </a:t>
            </a:r>
            <a:r>
              <a:rPr sz="2200" spc="-15" dirty="0">
                <a:latin typeface="Carlito"/>
                <a:cs typeface="Carlito"/>
              </a:rPr>
              <a:t>pointer </a:t>
            </a:r>
            <a:r>
              <a:rPr sz="2200" spc="-10" dirty="0">
                <a:latin typeface="Carlito"/>
                <a:cs typeface="Carlito"/>
              </a:rPr>
              <a:t>over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shortcut </a:t>
            </a:r>
            <a:r>
              <a:rPr sz="2200" spc="-15" dirty="0">
                <a:latin typeface="Carlito"/>
                <a:cs typeface="Carlito"/>
              </a:rPr>
              <a:t>icon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b="1" spc="-5" dirty="0">
                <a:latin typeface="Carlito"/>
                <a:cs typeface="Carlito"/>
              </a:rPr>
              <a:t>hold 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left </a:t>
            </a:r>
            <a:r>
              <a:rPr sz="2200" spc="-5" dirty="0">
                <a:latin typeface="Carlito"/>
                <a:cs typeface="Carlito"/>
              </a:rPr>
              <a:t>mouse </a:t>
            </a:r>
            <a:r>
              <a:rPr sz="2200" spc="-20" dirty="0">
                <a:latin typeface="Carlito"/>
                <a:cs typeface="Carlito"/>
              </a:rPr>
              <a:t>button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b="1" spc="-15" dirty="0">
                <a:latin typeface="Carlito"/>
                <a:cs typeface="Carlito"/>
              </a:rPr>
              <a:t>drag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shortcut </a:t>
            </a:r>
            <a:r>
              <a:rPr sz="2200" spc="-20" dirty="0">
                <a:latin typeface="Carlito"/>
                <a:cs typeface="Carlito"/>
              </a:rPr>
              <a:t>onto </a:t>
            </a:r>
            <a:r>
              <a:rPr sz="2200" spc="-15" dirty="0">
                <a:latin typeface="Carlito"/>
                <a:cs typeface="Carlito"/>
              </a:rPr>
              <a:t>desktop  left</a:t>
            </a:r>
            <a:r>
              <a:rPr sz="2200" spc="1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pane).</a:t>
            </a:r>
            <a:endParaRPr sz="2200">
              <a:latin typeface="Carlito"/>
              <a:cs typeface="Carlito"/>
            </a:endParaRPr>
          </a:p>
          <a:p>
            <a:pPr marL="12700" marR="70485">
              <a:lnSpc>
                <a:spcPct val="80000"/>
              </a:lnSpc>
              <a:spcBef>
                <a:spcPts val="525"/>
              </a:spcBef>
            </a:pPr>
            <a:r>
              <a:rPr sz="2200" spc="-10" dirty="0">
                <a:latin typeface="Carlito"/>
                <a:cs typeface="Carlito"/>
              </a:rPr>
              <a:t>Release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left </a:t>
            </a:r>
            <a:r>
              <a:rPr sz="2200" spc="-5" dirty="0">
                <a:latin typeface="Carlito"/>
                <a:cs typeface="Carlito"/>
              </a:rPr>
              <a:t>mouse </a:t>
            </a:r>
            <a:r>
              <a:rPr sz="2200" spc="-20" dirty="0">
                <a:latin typeface="Carlito"/>
                <a:cs typeface="Carlito"/>
              </a:rPr>
              <a:t>button </a:t>
            </a:r>
            <a:r>
              <a:rPr sz="2200" spc="-5" dirty="0">
                <a:latin typeface="Carlito"/>
                <a:cs typeface="Carlito"/>
              </a:rPr>
              <a:t>and a </a:t>
            </a:r>
            <a:r>
              <a:rPr sz="2200" spc="-10" dirty="0">
                <a:latin typeface="Carlito"/>
                <a:cs typeface="Carlito"/>
              </a:rPr>
              <a:t>shortcut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5" dirty="0">
                <a:latin typeface="Carlito"/>
                <a:cs typeface="Carlito"/>
              </a:rPr>
              <a:t>moved </a:t>
            </a:r>
            <a:r>
              <a:rPr sz="2200" spc="-20" dirty="0">
                <a:latin typeface="Carlito"/>
                <a:cs typeface="Carlito"/>
              </a:rPr>
              <a:t>to  </a:t>
            </a:r>
            <a:r>
              <a:rPr sz="2200" spc="-10" dirty="0">
                <a:latin typeface="Carlito"/>
                <a:cs typeface="Carlito"/>
              </a:rPr>
              <a:t>desktop.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088262"/>
            <a:ext cx="20669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0" dirty="0">
                <a:latin typeface="Carlito"/>
                <a:cs typeface="Carlito"/>
              </a:rPr>
              <a:t>The </a:t>
            </a:r>
            <a:r>
              <a:rPr sz="2500" b="1" spc="-15" dirty="0">
                <a:latin typeface="Carlito"/>
                <a:cs typeface="Carlito"/>
              </a:rPr>
              <a:t>Recycle</a:t>
            </a:r>
            <a:r>
              <a:rPr sz="2500" b="1" spc="-40" dirty="0">
                <a:latin typeface="Carlito"/>
                <a:cs typeface="Carlito"/>
              </a:rPr>
              <a:t> </a:t>
            </a:r>
            <a:r>
              <a:rPr sz="2500" b="1" spc="-5" dirty="0">
                <a:latin typeface="Carlito"/>
                <a:cs typeface="Carlito"/>
              </a:rPr>
              <a:t>Bin</a:t>
            </a:r>
            <a:endParaRPr sz="25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471129"/>
            <a:ext cx="7568565" cy="41173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When </a:t>
            </a:r>
            <a:r>
              <a:rPr sz="2200" spc="-15" dirty="0">
                <a:latin typeface="Carlito"/>
                <a:cs typeface="Carlito"/>
              </a:rPr>
              <a:t>you delete any </a:t>
            </a:r>
            <a:r>
              <a:rPr sz="2200" spc="-10" dirty="0">
                <a:latin typeface="Carlito"/>
                <a:cs typeface="Carlito"/>
              </a:rPr>
              <a:t>file, the </a:t>
            </a:r>
            <a:r>
              <a:rPr sz="2200" spc="-5" dirty="0">
                <a:latin typeface="Carlito"/>
                <a:cs typeface="Carlito"/>
              </a:rPr>
              <a:t>file is </a:t>
            </a:r>
            <a:r>
              <a:rPr sz="2200" spc="-25" dirty="0">
                <a:latin typeface="Carlito"/>
                <a:cs typeface="Carlito"/>
              </a:rPr>
              <a:t>kept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5" dirty="0">
                <a:latin typeface="Carlito"/>
                <a:cs typeface="Carlito"/>
              </a:rPr>
              <a:t>recycle</a:t>
            </a:r>
            <a:r>
              <a:rPr sz="2200" spc="18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bin.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A file in the </a:t>
            </a:r>
            <a:r>
              <a:rPr sz="2200" spc="-10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0" dirty="0">
                <a:latin typeface="Carlito"/>
                <a:cs typeface="Carlito"/>
              </a:rPr>
              <a:t>retrieved </a:t>
            </a:r>
            <a:r>
              <a:rPr sz="2200" spc="-5" dirty="0">
                <a:latin typeface="Carlito"/>
                <a:cs typeface="Carlito"/>
              </a:rPr>
              <a:t>if the </a:t>
            </a:r>
            <a:r>
              <a:rPr sz="2200" spc="-10" dirty="0">
                <a:latin typeface="Carlito"/>
                <a:cs typeface="Carlito"/>
              </a:rPr>
              <a:t>need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be.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 is the </a:t>
            </a:r>
            <a:r>
              <a:rPr sz="2200" spc="-15" dirty="0">
                <a:latin typeface="Carlito"/>
                <a:cs typeface="Carlito"/>
              </a:rPr>
              <a:t>desktop </a:t>
            </a:r>
            <a:r>
              <a:rPr sz="2200" spc="-10" dirty="0">
                <a:latin typeface="Carlito"/>
                <a:cs typeface="Carlito"/>
              </a:rPr>
              <a:t>icon that </a:t>
            </a:r>
            <a:r>
              <a:rPr sz="2200" spc="-5" dirty="0">
                <a:latin typeface="Carlito"/>
                <a:cs typeface="Carlito"/>
              </a:rPr>
              <a:t>resembles</a:t>
            </a:r>
            <a:r>
              <a:rPr sz="2200" spc="12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</a:t>
            </a:r>
            <a:endParaRPr sz="2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200" spc="-15" dirty="0">
                <a:latin typeface="Carlito"/>
                <a:cs typeface="Carlito"/>
              </a:rPr>
              <a:t>wastebasket.</a:t>
            </a:r>
            <a:endParaRPr sz="2200">
              <a:latin typeface="Carlito"/>
              <a:cs typeface="Carlito"/>
            </a:endParaRPr>
          </a:p>
          <a:p>
            <a:pPr marL="355600" marR="508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It is </a:t>
            </a:r>
            <a:r>
              <a:rPr sz="2200" spc="-10" dirty="0">
                <a:latin typeface="Carlito"/>
                <a:cs typeface="Carlito"/>
              </a:rPr>
              <a:t>possible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open the </a:t>
            </a:r>
            <a:r>
              <a:rPr sz="2200" spc="-15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 </a:t>
            </a:r>
            <a:r>
              <a:rPr sz="2200" spc="-10" dirty="0">
                <a:latin typeface="Carlito"/>
                <a:cs typeface="Carlito"/>
              </a:rPr>
              <a:t>folder anytime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see  what's </a:t>
            </a:r>
            <a:r>
              <a:rPr sz="2200" spc="-5" dirty="0">
                <a:latin typeface="Carlito"/>
                <a:cs typeface="Carlito"/>
              </a:rPr>
              <a:t>inside </a:t>
            </a:r>
            <a:r>
              <a:rPr sz="2200" spc="-10" dirty="0">
                <a:latin typeface="Carlito"/>
                <a:cs typeface="Carlito"/>
              </a:rPr>
              <a:t>by double-clicking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 </a:t>
            </a:r>
            <a:r>
              <a:rPr sz="2200" spc="-10" dirty="0">
                <a:latin typeface="Carlito"/>
                <a:cs typeface="Carlito"/>
              </a:rPr>
              <a:t>icon </a:t>
            </a:r>
            <a:r>
              <a:rPr sz="2200" spc="-15" dirty="0">
                <a:latin typeface="Carlito"/>
                <a:cs typeface="Carlito"/>
              </a:rPr>
              <a:t>located </a:t>
            </a:r>
            <a:r>
              <a:rPr sz="2200" dirty="0">
                <a:latin typeface="Carlito"/>
                <a:cs typeface="Carlito"/>
              </a:rPr>
              <a:t>on 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desktop </a:t>
            </a: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using Windows</a:t>
            </a:r>
            <a:r>
              <a:rPr sz="2200" spc="45" dirty="0">
                <a:latin typeface="Carlito"/>
                <a:cs typeface="Carlito"/>
              </a:rPr>
              <a:t> </a:t>
            </a:r>
            <a:r>
              <a:rPr sz="2200" spc="-30" dirty="0">
                <a:latin typeface="Carlito"/>
                <a:cs typeface="Carlito"/>
              </a:rPr>
              <a:t>Explorer.</a:t>
            </a:r>
            <a:endParaRPr sz="2200">
              <a:latin typeface="Carlito"/>
              <a:cs typeface="Carlito"/>
            </a:endParaRPr>
          </a:p>
          <a:p>
            <a:pPr marL="355600" marR="47498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419100" algn="l"/>
                <a:tab pos="419734" algn="l"/>
              </a:tabLst>
            </a:pPr>
            <a:r>
              <a:rPr dirty="0"/>
              <a:t>	</a:t>
            </a:r>
            <a:r>
              <a:rPr sz="2200" spc="-60" dirty="0">
                <a:latin typeface="Carlito"/>
                <a:cs typeface="Carlito"/>
              </a:rPr>
              <a:t>You </a:t>
            </a:r>
            <a:r>
              <a:rPr sz="2200" spc="-15" dirty="0">
                <a:latin typeface="Carlito"/>
                <a:cs typeface="Carlito"/>
              </a:rPr>
              <a:t>can delete </a:t>
            </a:r>
            <a:r>
              <a:rPr sz="2200" spc="-5" dirty="0">
                <a:latin typeface="Carlito"/>
                <a:cs typeface="Carlito"/>
              </a:rPr>
              <a:t>an </a:t>
            </a:r>
            <a:r>
              <a:rPr sz="2200" spc="-10" dirty="0">
                <a:latin typeface="Carlito"/>
                <a:cs typeface="Carlito"/>
              </a:rPr>
              <a:t>item by </a:t>
            </a:r>
            <a:r>
              <a:rPr sz="2200" spc="-5" dirty="0">
                <a:latin typeface="Carlito"/>
                <a:cs typeface="Carlito"/>
              </a:rPr>
              <a:t>moving it </a:t>
            </a:r>
            <a:r>
              <a:rPr sz="2200" spc="-15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Bin. </a:t>
            </a:r>
            <a:r>
              <a:rPr sz="2200" spc="-10" dirty="0">
                <a:latin typeface="Carlito"/>
                <a:cs typeface="Carlito"/>
              </a:rPr>
              <a:t>The  items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0" dirty="0">
                <a:latin typeface="Carlito"/>
                <a:cs typeface="Carlito"/>
              </a:rPr>
              <a:t>moved </a:t>
            </a:r>
            <a:r>
              <a:rPr sz="2200" spc="-15" dirty="0">
                <a:latin typeface="Carlito"/>
                <a:cs typeface="Carlito"/>
              </a:rPr>
              <a:t>from</a:t>
            </a:r>
            <a:r>
              <a:rPr sz="2200" spc="6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anywhere.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move </a:t>
            </a:r>
            <a:r>
              <a:rPr sz="2200" spc="-5" dirty="0">
                <a:latin typeface="Carlito"/>
                <a:cs typeface="Carlito"/>
              </a:rPr>
              <a:t>an </a:t>
            </a:r>
            <a:r>
              <a:rPr sz="2200" spc="-10" dirty="0">
                <a:latin typeface="Carlito"/>
                <a:cs typeface="Carlito"/>
              </a:rPr>
              <a:t>item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 </a:t>
            </a:r>
            <a:r>
              <a:rPr sz="2200" spc="-15" dirty="0">
                <a:latin typeface="Carlito"/>
                <a:cs typeface="Carlito"/>
              </a:rPr>
              <a:t>from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Desktop,</a:t>
            </a:r>
            <a:r>
              <a:rPr sz="2200" spc="26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Windows</a:t>
            </a:r>
            <a:endParaRPr sz="2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200" spc="-30" dirty="0">
                <a:latin typeface="Carlito"/>
                <a:cs typeface="Carlito"/>
              </a:rPr>
              <a:t>Explorer, </a:t>
            </a: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My </a:t>
            </a:r>
            <a:r>
              <a:rPr sz="2200" spc="-30" dirty="0">
                <a:latin typeface="Carlito"/>
                <a:cs typeface="Carlito"/>
              </a:rPr>
              <a:t>Computer,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steps </a:t>
            </a:r>
            <a:r>
              <a:rPr sz="2200" spc="-10" dirty="0">
                <a:latin typeface="Carlito"/>
                <a:cs typeface="Carlito"/>
              </a:rPr>
              <a:t>required are </a:t>
            </a:r>
            <a:r>
              <a:rPr sz="2200" spc="-5" dirty="0">
                <a:latin typeface="Carlito"/>
                <a:cs typeface="Carlito"/>
              </a:rPr>
              <a:t>as</a:t>
            </a:r>
            <a:r>
              <a:rPr sz="2200" spc="125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follows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19683"/>
            <a:ext cx="7569200" cy="4445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b="1" spc="-10" dirty="0">
                <a:latin typeface="Carlito"/>
                <a:cs typeface="Carlito"/>
              </a:rPr>
              <a:t>Click </a:t>
            </a:r>
            <a:r>
              <a:rPr sz="2500" b="1" spc="-5" dirty="0">
                <a:latin typeface="Carlito"/>
                <a:cs typeface="Carlito"/>
              </a:rPr>
              <a:t>and </a:t>
            </a:r>
            <a:r>
              <a:rPr sz="2500" b="1" spc="-20" dirty="0">
                <a:latin typeface="Carlito"/>
                <a:cs typeface="Carlito"/>
              </a:rPr>
              <a:t>drag </a:t>
            </a:r>
            <a:r>
              <a:rPr sz="2500" spc="-5" dirty="0">
                <a:latin typeface="Carlito"/>
                <a:cs typeface="Carlito"/>
              </a:rPr>
              <a:t>the file or </a:t>
            </a:r>
            <a:r>
              <a:rPr sz="2500" spc="-15" dirty="0">
                <a:latin typeface="Carlito"/>
                <a:cs typeface="Carlito"/>
              </a:rPr>
              <a:t>folder </a:t>
            </a:r>
            <a:r>
              <a:rPr sz="2500" spc="-10" dirty="0">
                <a:latin typeface="Carlito"/>
                <a:cs typeface="Carlito"/>
              </a:rPr>
              <a:t>to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b="1" spc="-15" dirty="0">
                <a:latin typeface="Carlito"/>
                <a:cs typeface="Carlito"/>
              </a:rPr>
              <a:t>Recycle</a:t>
            </a:r>
            <a:r>
              <a:rPr sz="2500" b="1" spc="114" dirty="0">
                <a:latin typeface="Carlito"/>
                <a:cs typeface="Carlito"/>
              </a:rPr>
              <a:t> </a:t>
            </a:r>
            <a:r>
              <a:rPr sz="2500" b="1" dirty="0">
                <a:latin typeface="Carlito"/>
                <a:cs typeface="Carlito"/>
              </a:rPr>
              <a:t>Bin</a:t>
            </a:r>
            <a:r>
              <a:rPr sz="2500" dirty="0">
                <a:latin typeface="Carlito"/>
                <a:cs typeface="Carlito"/>
              </a:rPr>
              <a:t>.</a:t>
            </a:r>
            <a:endParaRPr sz="2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Carlito"/>
                <a:cs typeface="Carlito"/>
              </a:rPr>
              <a:t>OR</a:t>
            </a:r>
            <a:endParaRPr sz="2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b="1" spc="-10" dirty="0">
                <a:latin typeface="Carlito"/>
                <a:cs typeface="Carlito"/>
              </a:rPr>
              <a:t>Right-click </a:t>
            </a:r>
            <a:r>
              <a:rPr sz="2500" spc="-5" dirty="0">
                <a:latin typeface="Carlito"/>
                <a:cs typeface="Carlito"/>
              </a:rPr>
              <a:t>the file or </a:t>
            </a:r>
            <a:r>
              <a:rPr sz="2500" spc="-15" dirty="0">
                <a:latin typeface="Carlito"/>
                <a:cs typeface="Carlito"/>
              </a:rPr>
              <a:t>folder you want to </a:t>
            </a:r>
            <a:r>
              <a:rPr sz="2500" spc="-10" dirty="0">
                <a:latin typeface="Carlito"/>
                <a:cs typeface="Carlito"/>
              </a:rPr>
              <a:t>delete.</a:t>
            </a:r>
            <a:r>
              <a:rPr sz="2500" spc="75" dirty="0">
                <a:latin typeface="Carlito"/>
                <a:cs typeface="Carlito"/>
              </a:rPr>
              <a:t> </a:t>
            </a:r>
            <a:r>
              <a:rPr sz="2500" spc="-5" dirty="0">
                <a:latin typeface="Carlito"/>
                <a:cs typeface="Carlito"/>
              </a:rPr>
              <a:t>.</a:t>
            </a:r>
            <a:endParaRPr sz="2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Carlito"/>
                <a:cs typeface="Carlito"/>
              </a:rPr>
              <a:t>When the pop-up menu </a:t>
            </a:r>
            <a:r>
              <a:rPr sz="2500" spc="-10" dirty="0">
                <a:latin typeface="Carlito"/>
                <a:cs typeface="Carlito"/>
              </a:rPr>
              <a:t>appears, </a:t>
            </a:r>
            <a:r>
              <a:rPr sz="2500" spc="-5" dirty="0">
                <a:latin typeface="Carlito"/>
                <a:cs typeface="Carlito"/>
              </a:rPr>
              <a:t>choose</a:t>
            </a:r>
            <a:r>
              <a:rPr sz="2500" spc="50" dirty="0">
                <a:latin typeface="Carlito"/>
                <a:cs typeface="Carlito"/>
              </a:rPr>
              <a:t> </a:t>
            </a:r>
            <a:r>
              <a:rPr sz="2500" b="1" spc="-15" dirty="0">
                <a:latin typeface="Carlito"/>
                <a:cs typeface="Carlito"/>
              </a:rPr>
              <a:t>Delete</a:t>
            </a:r>
            <a:r>
              <a:rPr sz="2500" spc="-15" dirty="0">
                <a:latin typeface="Carlito"/>
                <a:cs typeface="Carlito"/>
              </a:rPr>
              <a:t>.</a:t>
            </a:r>
            <a:endParaRPr sz="2500">
              <a:latin typeface="Carlito"/>
              <a:cs typeface="Carlito"/>
            </a:endParaRPr>
          </a:p>
          <a:p>
            <a:pPr marL="355600" marR="5080" indent="-342900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Carlito"/>
                <a:cs typeface="Carlito"/>
              </a:rPr>
              <a:t>A dialog </a:t>
            </a:r>
            <a:r>
              <a:rPr sz="2500" spc="-20" dirty="0">
                <a:latin typeface="Carlito"/>
                <a:cs typeface="Carlito"/>
              </a:rPr>
              <a:t>box </a:t>
            </a:r>
            <a:r>
              <a:rPr sz="2500" spc="-10" dirty="0">
                <a:latin typeface="Carlito"/>
                <a:cs typeface="Carlito"/>
              </a:rPr>
              <a:t>appears </a:t>
            </a:r>
            <a:r>
              <a:rPr sz="2500" dirty="0">
                <a:latin typeface="Carlito"/>
                <a:cs typeface="Carlito"/>
              </a:rPr>
              <a:t>asking, </a:t>
            </a:r>
            <a:r>
              <a:rPr sz="2500" spc="-15" dirty="0">
                <a:latin typeface="Carlito"/>
                <a:cs typeface="Carlito"/>
              </a:rPr>
              <a:t>"Are sure you want to </a:t>
            </a:r>
            <a:r>
              <a:rPr sz="2500" spc="-10" dirty="0">
                <a:latin typeface="Carlito"/>
                <a:cs typeface="Carlito"/>
              </a:rPr>
              <a:t>send  </a:t>
            </a:r>
            <a:r>
              <a:rPr sz="2500" spc="-5" dirty="0">
                <a:latin typeface="Carlito"/>
                <a:cs typeface="Carlito"/>
              </a:rPr>
              <a:t>the file or </a:t>
            </a:r>
            <a:r>
              <a:rPr sz="2500" spc="-15" dirty="0">
                <a:latin typeface="Carlito"/>
                <a:cs typeface="Carlito"/>
              </a:rPr>
              <a:t>folder </a:t>
            </a:r>
            <a:r>
              <a:rPr sz="2500" spc="-10" dirty="0">
                <a:latin typeface="Carlito"/>
                <a:cs typeface="Carlito"/>
              </a:rPr>
              <a:t>to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spc="-15" dirty="0">
                <a:latin typeface="Carlito"/>
                <a:cs typeface="Carlito"/>
              </a:rPr>
              <a:t>Recycle</a:t>
            </a:r>
            <a:r>
              <a:rPr sz="2500" spc="60" dirty="0">
                <a:latin typeface="Carlito"/>
                <a:cs typeface="Carlito"/>
              </a:rPr>
              <a:t> </a:t>
            </a:r>
            <a:r>
              <a:rPr sz="2500" spc="-5" dirty="0">
                <a:latin typeface="Carlito"/>
                <a:cs typeface="Carlito"/>
              </a:rPr>
              <a:t>Bin?"</a:t>
            </a:r>
            <a:endParaRPr sz="2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10" dirty="0">
                <a:latin typeface="Carlito"/>
                <a:cs typeface="Carlito"/>
              </a:rPr>
              <a:t>Click</a:t>
            </a:r>
            <a:r>
              <a:rPr sz="2500" spc="5" dirty="0">
                <a:latin typeface="Carlito"/>
                <a:cs typeface="Carlito"/>
              </a:rPr>
              <a:t> </a:t>
            </a:r>
            <a:r>
              <a:rPr sz="2500" b="1" spc="-55" dirty="0">
                <a:latin typeface="Carlito"/>
                <a:cs typeface="Carlito"/>
              </a:rPr>
              <a:t>Yes</a:t>
            </a:r>
            <a:r>
              <a:rPr sz="2500" spc="-55" dirty="0">
                <a:latin typeface="Carlito"/>
                <a:cs typeface="Carlito"/>
              </a:rPr>
              <a:t>.</a:t>
            </a:r>
            <a:endParaRPr sz="2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Carlito"/>
                <a:cs typeface="Carlito"/>
              </a:rPr>
              <a:t>OR</a:t>
            </a:r>
            <a:endParaRPr sz="2500">
              <a:latin typeface="Carlito"/>
              <a:cs typeface="Carlito"/>
            </a:endParaRPr>
          </a:p>
          <a:p>
            <a:pPr marL="426720" indent="-414655">
              <a:lnSpc>
                <a:spcPct val="100000"/>
              </a:lnSpc>
              <a:buFont typeface="Arial"/>
              <a:buChar char="•"/>
              <a:tabLst>
                <a:tab pos="426720" algn="l"/>
                <a:tab pos="427355" algn="l"/>
              </a:tabLst>
            </a:pPr>
            <a:r>
              <a:rPr sz="2500" spc="-5" dirty="0">
                <a:latin typeface="Carlito"/>
                <a:cs typeface="Carlito"/>
              </a:rPr>
              <a:t>Click the file or </a:t>
            </a:r>
            <a:r>
              <a:rPr sz="2500" spc="-15" dirty="0">
                <a:latin typeface="Carlito"/>
                <a:cs typeface="Carlito"/>
              </a:rPr>
              <a:t>folder you want to</a:t>
            </a:r>
            <a:r>
              <a:rPr sz="2500" spc="25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delete.</a:t>
            </a:r>
            <a:endParaRPr sz="25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10" dirty="0">
                <a:latin typeface="Carlito"/>
                <a:cs typeface="Carlito"/>
              </a:rPr>
              <a:t>The </a:t>
            </a:r>
            <a:r>
              <a:rPr sz="2500" spc="-5" dirty="0">
                <a:latin typeface="Carlito"/>
                <a:cs typeface="Carlito"/>
              </a:rPr>
              <a:t>file or </a:t>
            </a:r>
            <a:r>
              <a:rPr sz="2500" spc="-15" dirty="0">
                <a:latin typeface="Carlito"/>
                <a:cs typeface="Carlito"/>
              </a:rPr>
              <a:t>folder</a:t>
            </a:r>
            <a:r>
              <a:rPr sz="2500" spc="-35" dirty="0">
                <a:latin typeface="Carlito"/>
                <a:cs typeface="Carlito"/>
              </a:rPr>
              <a:t> </a:t>
            </a:r>
            <a:r>
              <a:rPr sz="2500" spc="-15" dirty="0">
                <a:latin typeface="Carlito"/>
                <a:cs typeface="Carlito"/>
              </a:rPr>
              <a:t>darkens.</a:t>
            </a:r>
            <a:endParaRPr sz="2500">
              <a:latin typeface="Carlito"/>
              <a:cs typeface="Carlito"/>
            </a:endParaRPr>
          </a:p>
          <a:p>
            <a:pPr marL="355600" marR="179070" indent="-342900">
              <a:lnSpc>
                <a:spcPct val="8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10" dirty="0">
                <a:latin typeface="Carlito"/>
                <a:cs typeface="Carlito"/>
              </a:rPr>
              <a:t>Choose </a:t>
            </a:r>
            <a:r>
              <a:rPr sz="2500" b="1" spc="-15" dirty="0">
                <a:latin typeface="Carlito"/>
                <a:cs typeface="Carlito"/>
              </a:rPr>
              <a:t>Delete </a:t>
            </a:r>
            <a:r>
              <a:rPr sz="2500" b="1" spc="-5" dirty="0">
                <a:latin typeface="Carlito"/>
                <a:cs typeface="Carlito"/>
              </a:rPr>
              <a:t>this </a:t>
            </a:r>
            <a:r>
              <a:rPr sz="2500" b="1" spc="-10" dirty="0">
                <a:latin typeface="Carlito"/>
                <a:cs typeface="Carlito"/>
              </a:rPr>
              <a:t>file </a:t>
            </a:r>
            <a:r>
              <a:rPr sz="2500" b="1" spc="-5" dirty="0">
                <a:latin typeface="Carlito"/>
                <a:cs typeface="Carlito"/>
              </a:rPr>
              <a:t>(or </a:t>
            </a:r>
            <a:r>
              <a:rPr sz="2500" b="1" spc="-15" dirty="0">
                <a:latin typeface="Carlito"/>
                <a:cs typeface="Carlito"/>
              </a:rPr>
              <a:t>Delete </a:t>
            </a:r>
            <a:r>
              <a:rPr sz="2500" b="1" spc="-5" dirty="0">
                <a:latin typeface="Carlito"/>
                <a:cs typeface="Carlito"/>
              </a:rPr>
              <a:t>this </a:t>
            </a:r>
            <a:r>
              <a:rPr sz="2500" b="1" spc="-10" dirty="0">
                <a:latin typeface="Carlito"/>
                <a:cs typeface="Carlito"/>
              </a:rPr>
              <a:t>folder) </a:t>
            </a:r>
            <a:r>
              <a:rPr sz="2500" spc="-15" dirty="0">
                <a:latin typeface="Carlito"/>
                <a:cs typeface="Carlito"/>
              </a:rPr>
              <a:t>from </a:t>
            </a:r>
            <a:r>
              <a:rPr sz="2500" spc="-5" dirty="0">
                <a:latin typeface="Carlito"/>
                <a:cs typeface="Carlito"/>
              </a:rPr>
              <a:t>the  File and </a:t>
            </a:r>
            <a:r>
              <a:rPr sz="2500" spc="-10" dirty="0">
                <a:latin typeface="Carlito"/>
                <a:cs typeface="Carlito"/>
              </a:rPr>
              <a:t>Folder </a:t>
            </a:r>
            <a:r>
              <a:rPr sz="2500" spc="-50" dirty="0">
                <a:latin typeface="Carlito"/>
                <a:cs typeface="Carlito"/>
              </a:rPr>
              <a:t>Tasks</a:t>
            </a:r>
            <a:r>
              <a:rPr sz="2500" spc="1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list.</a:t>
            </a:r>
            <a:endParaRPr sz="2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30350"/>
            <a:ext cx="7672705" cy="4652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Click </a:t>
            </a:r>
            <a:r>
              <a:rPr sz="2200" spc="-5" dirty="0">
                <a:latin typeface="Carlito"/>
                <a:cs typeface="Carlito"/>
              </a:rPr>
              <a:t>the file </a:t>
            </a:r>
            <a:r>
              <a:rPr sz="2200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folder you </a:t>
            </a:r>
            <a:r>
              <a:rPr sz="2200" spc="-15" dirty="0">
                <a:latin typeface="Carlito"/>
                <a:cs typeface="Carlito"/>
              </a:rPr>
              <a:t>want to</a:t>
            </a:r>
            <a:r>
              <a:rPr sz="2200" spc="3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delete.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5" dirty="0">
                <a:latin typeface="Carlito"/>
                <a:cs typeface="Carlito"/>
              </a:rPr>
              <a:t>file </a:t>
            </a:r>
            <a:r>
              <a:rPr sz="2200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folder</a:t>
            </a:r>
            <a:r>
              <a:rPr sz="2200" spc="1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darkens.</a:t>
            </a:r>
            <a:endParaRPr sz="2200">
              <a:latin typeface="Carlito"/>
              <a:cs typeface="Carlito"/>
            </a:endParaRPr>
          </a:p>
          <a:p>
            <a:pPr marL="355600" marR="164465" indent="-342900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Choose </a:t>
            </a:r>
            <a:r>
              <a:rPr sz="2200" b="1" spc="-15" dirty="0">
                <a:latin typeface="Carlito"/>
                <a:cs typeface="Carlito"/>
              </a:rPr>
              <a:t>Delete </a:t>
            </a:r>
            <a:r>
              <a:rPr sz="2200" b="1" spc="-5" dirty="0">
                <a:latin typeface="Carlito"/>
                <a:cs typeface="Carlito"/>
              </a:rPr>
              <a:t>this </a:t>
            </a:r>
            <a:r>
              <a:rPr sz="2200" b="1" spc="-10" dirty="0">
                <a:latin typeface="Carlito"/>
                <a:cs typeface="Carlito"/>
              </a:rPr>
              <a:t>file </a:t>
            </a:r>
            <a:r>
              <a:rPr sz="2200" b="1" spc="-5" dirty="0">
                <a:latin typeface="Carlito"/>
                <a:cs typeface="Carlito"/>
              </a:rPr>
              <a:t>(or </a:t>
            </a:r>
            <a:r>
              <a:rPr sz="2200" b="1" spc="-15" dirty="0">
                <a:latin typeface="Carlito"/>
                <a:cs typeface="Carlito"/>
              </a:rPr>
              <a:t>Delete </a:t>
            </a:r>
            <a:r>
              <a:rPr sz="2200" b="1" spc="-5" dirty="0">
                <a:latin typeface="Carlito"/>
                <a:cs typeface="Carlito"/>
              </a:rPr>
              <a:t>this </a:t>
            </a:r>
            <a:r>
              <a:rPr sz="2200" b="1" spc="-10" dirty="0">
                <a:latin typeface="Carlito"/>
                <a:cs typeface="Carlito"/>
              </a:rPr>
              <a:t>folder) </a:t>
            </a:r>
            <a:r>
              <a:rPr sz="2200" spc="-15" dirty="0">
                <a:latin typeface="Carlito"/>
                <a:cs typeface="Carlito"/>
              </a:rPr>
              <a:t>from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File </a:t>
            </a:r>
            <a:r>
              <a:rPr sz="2200" spc="-5" dirty="0">
                <a:latin typeface="Carlito"/>
                <a:cs typeface="Carlito"/>
              </a:rPr>
              <a:t>and  </a:t>
            </a:r>
            <a:r>
              <a:rPr sz="2200" spc="-10" dirty="0">
                <a:latin typeface="Carlito"/>
                <a:cs typeface="Carlito"/>
              </a:rPr>
              <a:t>Folder </a:t>
            </a:r>
            <a:r>
              <a:rPr sz="2200" spc="-45" dirty="0">
                <a:latin typeface="Carlito"/>
                <a:cs typeface="Carlito"/>
              </a:rPr>
              <a:t>Tasks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list.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20" dirty="0">
                <a:latin typeface="Carlito"/>
                <a:cs typeface="Carlito"/>
              </a:rPr>
              <a:t>Restoring </a:t>
            </a:r>
            <a:r>
              <a:rPr sz="2200" b="1" spc="-5" dirty="0">
                <a:latin typeface="Carlito"/>
                <a:cs typeface="Carlito"/>
              </a:rPr>
              <a:t>Files </a:t>
            </a:r>
            <a:r>
              <a:rPr sz="2200" b="1" spc="-10" dirty="0">
                <a:latin typeface="Carlito"/>
                <a:cs typeface="Carlito"/>
              </a:rPr>
              <a:t>From </a:t>
            </a:r>
            <a:r>
              <a:rPr sz="2200" b="1" spc="-5" dirty="0">
                <a:latin typeface="Carlito"/>
                <a:cs typeface="Carlito"/>
              </a:rPr>
              <a:t>the </a:t>
            </a:r>
            <a:r>
              <a:rPr sz="2200" b="1" spc="-15" dirty="0">
                <a:latin typeface="Carlito"/>
                <a:cs typeface="Carlito"/>
              </a:rPr>
              <a:t>Recycle</a:t>
            </a:r>
            <a:r>
              <a:rPr sz="2200" b="1" spc="85" dirty="0">
                <a:latin typeface="Carlito"/>
                <a:cs typeface="Carlito"/>
              </a:rPr>
              <a:t> </a:t>
            </a:r>
            <a:r>
              <a:rPr sz="2200" b="1" spc="-5" dirty="0">
                <a:latin typeface="Carlito"/>
                <a:cs typeface="Carlito"/>
              </a:rPr>
              <a:t>Bin</a:t>
            </a:r>
            <a:endParaRPr sz="2200">
              <a:latin typeface="Carlito"/>
              <a:cs typeface="Carlito"/>
            </a:endParaRPr>
          </a:p>
          <a:p>
            <a:pPr marL="355600" marR="5080" indent="-342900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Though items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5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 </a:t>
            </a:r>
            <a:r>
              <a:rPr sz="2200" spc="-10" dirty="0">
                <a:latin typeface="Carlito"/>
                <a:cs typeface="Carlito"/>
              </a:rPr>
              <a:t>are deleted items </a:t>
            </a:r>
            <a:r>
              <a:rPr sz="2200" spc="-15" dirty="0">
                <a:latin typeface="Carlito"/>
                <a:cs typeface="Carlito"/>
              </a:rPr>
              <a:t>you can </a:t>
            </a:r>
            <a:r>
              <a:rPr sz="2200" spc="-10" dirty="0">
                <a:latin typeface="Carlito"/>
                <a:cs typeface="Carlito"/>
              </a:rPr>
              <a:t>still  </a:t>
            </a:r>
            <a:r>
              <a:rPr sz="2200" spc="-15" dirty="0">
                <a:latin typeface="Carlito"/>
                <a:cs typeface="Carlito"/>
              </a:rPr>
              <a:t>retrieve </a:t>
            </a:r>
            <a:r>
              <a:rPr sz="2200" spc="-5" dirty="0">
                <a:latin typeface="Carlito"/>
                <a:cs typeface="Carlito"/>
              </a:rPr>
              <a:t>them </a:t>
            </a:r>
            <a:r>
              <a:rPr sz="2200" spc="-15" dirty="0">
                <a:latin typeface="Carlito"/>
                <a:cs typeface="Carlito"/>
              </a:rPr>
              <a:t>at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5" dirty="0">
                <a:latin typeface="Carlito"/>
                <a:cs typeface="Carlito"/>
              </a:rPr>
              <a:t>later date. </a:t>
            </a:r>
            <a:r>
              <a:rPr sz="2200" spc="-60" dirty="0">
                <a:latin typeface="Carlito"/>
                <a:cs typeface="Carlito"/>
              </a:rPr>
              <a:t>You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20" dirty="0">
                <a:latin typeface="Carlito"/>
                <a:cs typeface="Carlito"/>
              </a:rPr>
              <a:t>restore </a:t>
            </a:r>
            <a:r>
              <a:rPr sz="2200" spc="-5" dirty="0">
                <a:latin typeface="Carlito"/>
                <a:cs typeface="Carlito"/>
              </a:rPr>
              <a:t>either a </a:t>
            </a:r>
            <a:r>
              <a:rPr sz="2200" spc="-10" dirty="0">
                <a:latin typeface="Carlito"/>
                <a:cs typeface="Carlito"/>
              </a:rPr>
              <a:t>single </a:t>
            </a:r>
            <a:r>
              <a:rPr sz="2200" spc="-5" dirty="0">
                <a:latin typeface="Carlito"/>
                <a:cs typeface="Carlito"/>
              </a:rPr>
              <a:t>file,  </a:t>
            </a:r>
            <a:r>
              <a:rPr sz="2200" spc="-15" dirty="0">
                <a:latin typeface="Carlito"/>
                <a:cs typeface="Carlito"/>
              </a:rPr>
              <a:t>group </a:t>
            </a:r>
            <a:r>
              <a:rPr sz="2200" spc="-5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files </a:t>
            </a:r>
            <a:r>
              <a:rPr sz="2200" spc="-5" dirty="0">
                <a:latin typeface="Carlito"/>
                <a:cs typeface="Carlito"/>
              </a:rPr>
              <a:t>or all </a:t>
            </a:r>
            <a:r>
              <a:rPr sz="2200" spc="-10" dirty="0">
                <a:latin typeface="Carlito"/>
                <a:cs typeface="Carlito"/>
              </a:rPr>
              <a:t>files. </a:t>
            </a:r>
            <a:r>
              <a:rPr sz="2200" spc="-5" dirty="0">
                <a:latin typeface="Carlito"/>
                <a:cs typeface="Carlito"/>
              </a:rPr>
              <a:t>Using the </a:t>
            </a:r>
            <a:r>
              <a:rPr sz="2200" b="1" spc="-25" dirty="0">
                <a:latin typeface="Carlito"/>
                <a:cs typeface="Carlito"/>
              </a:rPr>
              <a:t>Restore </a:t>
            </a:r>
            <a:r>
              <a:rPr sz="2200" b="1" spc="-5" dirty="0">
                <a:latin typeface="Carlito"/>
                <a:cs typeface="Carlito"/>
              </a:rPr>
              <a:t>all </a:t>
            </a:r>
            <a:r>
              <a:rPr sz="2200" b="1" spc="-10" dirty="0">
                <a:latin typeface="Carlito"/>
                <a:cs typeface="Carlito"/>
              </a:rPr>
              <a:t>items </a:t>
            </a:r>
            <a:r>
              <a:rPr sz="2200" b="1" spc="-5" dirty="0">
                <a:latin typeface="Carlito"/>
                <a:cs typeface="Carlito"/>
              </a:rPr>
              <a:t>link </a:t>
            </a:r>
            <a:r>
              <a:rPr sz="2200" spc="-15" dirty="0">
                <a:latin typeface="Carlito"/>
                <a:cs typeface="Carlito"/>
              </a:rPr>
              <a:t>(located 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 </a:t>
            </a:r>
            <a:r>
              <a:rPr sz="2200" spc="-45" dirty="0">
                <a:latin typeface="Carlito"/>
                <a:cs typeface="Carlito"/>
              </a:rPr>
              <a:t>Tasks </a:t>
            </a:r>
            <a:r>
              <a:rPr sz="2200" spc="-10" dirty="0">
                <a:latin typeface="Carlito"/>
                <a:cs typeface="Carlito"/>
              </a:rPr>
              <a:t>list) </a:t>
            </a:r>
            <a:r>
              <a:rPr sz="2200" spc="-5" dirty="0">
                <a:latin typeface="Carlito"/>
                <a:cs typeface="Carlito"/>
              </a:rPr>
              <a:t>will </a:t>
            </a:r>
            <a:r>
              <a:rPr sz="2200" spc="-15" dirty="0">
                <a:latin typeface="Carlito"/>
                <a:cs typeface="Carlito"/>
              </a:rPr>
              <a:t>move </a:t>
            </a:r>
            <a:r>
              <a:rPr sz="2200" spc="-5" dirty="0">
                <a:latin typeface="Carlito"/>
                <a:cs typeface="Carlito"/>
              </a:rPr>
              <a:t>all </a:t>
            </a:r>
            <a:r>
              <a:rPr sz="2200" spc="-10" dirty="0">
                <a:latin typeface="Carlito"/>
                <a:cs typeface="Carlito"/>
              </a:rPr>
              <a:t>files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folders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the  </a:t>
            </a:r>
            <a:r>
              <a:rPr sz="2200" spc="-15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 back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its </a:t>
            </a:r>
            <a:r>
              <a:rPr sz="2200" b="1" spc="-10" dirty="0">
                <a:latin typeface="Carlito"/>
                <a:cs typeface="Carlito"/>
              </a:rPr>
              <a:t>original location </a:t>
            </a:r>
            <a:r>
              <a:rPr sz="2200" spc="-5" dirty="0">
                <a:latin typeface="Carlito"/>
                <a:cs typeface="Carlito"/>
              </a:rPr>
              <a:t>on </a:t>
            </a:r>
            <a:r>
              <a:rPr sz="2200" spc="-15" dirty="0">
                <a:latin typeface="Carlito"/>
                <a:cs typeface="Carlito"/>
              </a:rPr>
              <a:t>your</a:t>
            </a:r>
            <a:r>
              <a:rPr sz="2200" spc="145" dirty="0">
                <a:latin typeface="Carlito"/>
                <a:cs typeface="Carlito"/>
              </a:rPr>
              <a:t> </a:t>
            </a:r>
            <a:r>
              <a:rPr sz="2200" spc="-40" dirty="0">
                <a:latin typeface="Carlito"/>
                <a:cs typeface="Carlito"/>
              </a:rPr>
              <a:t>computer.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100" dirty="0">
                <a:latin typeface="Carlito"/>
                <a:cs typeface="Carlito"/>
              </a:rPr>
              <a:t>To </a:t>
            </a:r>
            <a:r>
              <a:rPr sz="2200" b="1" spc="-20" dirty="0">
                <a:latin typeface="Carlito"/>
                <a:cs typeface="Carlito"/>
              </a:rPr>
              <a:t>restore </a:t>
            </a:r>
            <a:r>
              <a:rPr sz="2200" b="1" spc="-5" dirty="0">
                <a:latin typeface="Carlito"/>
                <a:cs typeface="Carlito"/>
              </a:rPr>
              <a:t>all </a:t>
            </a:r>
            <a:r>
              <a:rPr sz="2200" b="1" spc="-10" dirty="0">
                <a:latin typeface="Carlito"/>
                <a:cs typeface="Carlito"/>
              </a:rPr>
              <a:t>items </a:t>
            </a:r>
            <a:r>
              <a:rPr sz="2200" b="1" spc="-5" dirty="0">
                <a:latin typeface="Carlito"/>
                <a:cs typeface="Carlito"/>
              </a:rPr>
              <a:t>in the </a:t>
            </a:r>
            <a:r>
              <a:rPr sz="2200" b="1" spc="-15" dirty="0">
                <a:latin typeface="Carlito"/>
                <a:cs typeface="Carlito"/>
              </a:rPr>
              <a:t>Recycle</a:t>
            </a:r>
            <a:r>
              <a:rPr sz="2200" b="1" spc="170" dirty="0">
                <a:latin typeface="Carlito"/>
                <a:cs typeface="Carlito"/>
              </a:rPr>
              <a:t> </a:t>
            </a:r>
            <a:r>
              <a:rPr sz="2200" b="1" spc="-5" dirty="0">
                <a:latin typeface="Carlito"/>
                <a:cs typeface="Carlito"/>
              </a:rPr>
              <a:t>Bin,</a:t>
            </a:r>
            <a:endParaRPr sz="2200">
              <a:latin typeface="Carlito"/>
              <a:cs typeface="Carlito"/>
            </a:endParaRPr>
          </a:p>
          <a:p>
            <a:pPr marL="355600" marR="262255" indent="-342900">
              <a:lnSpc>
                <a:spcPts val="211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rlito"/>
                <a:cs typeface="Carlito"/>
              </a:rPr>
              <a:t>Click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b="1" spc="-25" dirty="0">
                <a:latin typeface="Carlito"/>
                <a:cs typeface="Carlito"/>
              </a:rPr>
              <a:t>Restore </a:t>
            </a:r>
            <a:r>
              <a:rPr sz="2200" b="1" spc="-5" dirty="0">
                <a:latin typeface="Carlito"/>
                <a:cs typeface="Carlito"/>
              </a:rPr>
              <a:t>all </a:t>
            </a:r>
            <a:r>
              <a:rPr sz="2200" b="1" spc="-10" dirty="0">
                <a:latin typeface="Carlito"/>
                <a:cs typeface="Carlito"/>
              </a:rPr>
              <a:t>items </a:t>
            </a:r>
            <a:r>
              <a:rPr sz="2200" spc="-5" dirty="0">
                <a:latin typeface="Carlito"/>
                <a:cs typeface="Carlito"/>
              </a:rPr>
              <a:t>link in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Recycle </a:t>
            </a:r>
            <a:r>
              <a:rPr sz="2200" spc="-5" dirty="0">
                <a:latin typeface="Carlito"/>
                <a:cs typeface="Carlito"/>
              </a:rPr>
              <a:t>Bin </a:t>
            </a:r>
            <a:r>
              <a:rPr sz="2200" spc="-45" dirty="0">
                <a:latin typeface="Carlito"/>
                <a:cs typeface="Carlito"/>
              </a:rPr>
              <a:t>Tasks </a:t>
            </a:r>
            <a:r>
              <a:rPr sz="2200" spc="-10" dirty="0">
                <a:latin typeface="Carlito"/>
                <a:cs typeface="Carlito"/>
              </a:rPr>
              <a:t>list that  appears </a:t>
            </a:r>
            <a:r>
              <a:rPr sz="2200" spc="-5" dirty="0">
                <a:latin typeface="Carlito"/>
                <a:cs typeface="Carlito"/>
              </a:rPr>
              <a:t>on the </a:t>
            </a:r>
            <a:r>
              <a:rPr sz="2200" spc="-10" dirty="0">
                <a:latin typeface="Carlito"/>
                <a:cs typeface="Carlito"/>
              </a:rPr>
              <a:t>left side </a:t>
            </a:r>
            <a:r>
              <a:rPr sz="2200" spc="-5" dirty="0">
                <a:latin typeface="Carlito"/>
                <a:cs typeface="Carlito"/>
              </a:rPr>
              <a:t>of the</a:t>
            </a:r>
            <a:r>
              <a:rPr sz="2200" spc="7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screen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items are </a:t>
            </a:r>
            <a:r>
              <a:rPr sz="2200" spc="-15" dirty="0">
                <a:latin typeface="Carlito"/>
                <a:cs typeface="Carlito"/>
              </a:rPr>
              <a:t>restored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their </a:t>
            </a:r>
            <a:r>
              <a:rPr sz="2200" b="1" spc="-10" dirty="0">
                <a:latin typeface="Carlito"/>
                <a:cs typeface="Carlito"/>
              </a:rPr>
              <a:t>original</a:t>
            </a:r>
            <a:r>
              <a:rPr sz="2200" b="1" spc="90" dirty="0">
                <a:latin typeface="Carlito"/>
                <a:cs typeface="Carlito"/>
              </a:rPr>
              <a:t> </a:t>
            </a:r>
            <a:r>
              <a:rPr sz="2200" b="1" spc="-10" dirty="0">
                <a:latin typeface="Carlito"/>
                <a:cs typeface="Carlito"/>
              </a:rPr>
              <a:t>locations</a:t>
            </a:r>
            <a:r>
              <a:rPr sz="2200" spc="-10" dirty="0">
                <a:latin typeface="Carlito"/>
                <a:cs typeface="Carlito"/>
              </a:rPr>
              <a:t>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08184"/>
            <a:ext cx="7724140" cy="470662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b="1" spc="-120" dirty="0">
                <a:latin typeface="Carlito"/>
                <a:cs typeface="Carlito"/>
              </a:rPr>
              <a:t>To </a:t>
            </a:r>
            <a:r>
              <a:rPr sz="2700" b="1" spc="-5" dirty="0">
                <a:latin typeface="Carlito"/>
                <a:cs typeface="Carlito"/>
              </a:rPr>
              <a:t>empty </a:t>
            </a:r>
            <a:r>
              <a:rPr sz="2700" b="1" dirty="0">
                <a:latin typeface="Carlito"/>
                <a:cs typeface="Carlito"/>
              </a:rPr>
              <a:t>the </a:t>
            </a:r>
            <a:r>
              <a:rPr sz="2700" b="1" spc="-15" dirty="0">
                <a:latin typeface="Carlito"/>
                <a:cs typeface="Carlito"/>
              </a:rPr>
              <a:t>Recycle</a:t>
            </a:r>
            <a:r>
              <a:rPr sz="2700" b="1" spc="125" dirty="0">
                <a:latin typeface="Carlito"/>
                <a:cs typeface="Carlito"/>
              </a:rPr>
              <a:t> </a:t>
            </a:r>
            <a:r>
              <a:rPr sz="2700" b="1" spc="-5" dirty="0">
                <a:latin typeface="Carlito"/>
                <a:cs typeface="Carlito"/>
              </a:rPr>
              <a:t>Bin,</a:t>
            </a:r>
            <a:endParaRPr sz="2700">
              <a:latin typeface="Carlito"/>
              <a:cs typeface="Carlito"/>
            </a:endParaRPr>
          </a:p>
          <a:p>
            <a:pPr marL="355600" marR="417195" indent="-3429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Click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b="1" spc="-5" dirty="0">
                <a:latin typeface="Carlito"/>
                <a:cs typeface="Carlito"/>
              </a:rPr>
              <a:t>Empty </a:t>
            </a:r>
            <a:r>
              <a:rPr sz="3200" b="1" dirty="0">
                <a:latin typeface="Carlito"/>
                <a:cs typeface="Carlito"/>
              </a:rPr>
              <a:t>the </a:t>
            </a:r>
            <a:r>
              <a:rPr sz="3200" b="1" spc="-20" dirty="0">
                <a:latin typeface="Carlito"/>
                <a:cs typeface="Carlito"/>
              </a:rPr>
              <a:t>Recycle </a:t>
            </a:r>
            <a:r>
              <a:rPr sz="3200" b="1" dirty="0">
                <a:latin typeface="Carlito"/>
                <a:cs typeface="Carlito"/>
              </a:rPr>
              <a:t>Bin </a:t>
            </a:r>
            <a:r>
              <a:rPr sz="3200" spc="-5" dirty="0">
                <a:latin typeface="Carlito"/>
                <a:cs typeface="Carlito"/>
              </a:rPr>
              <a:t>link </a:t>
            </a:r>
            <a:r>
              <a:rPr sz="3200" dirty="0">
                <a:latin typeface="Carlito"/>
                <a:cs typeface="Carlito"/>
              </a:rPr>
              <a:t>in the  </a:t>
            </a:r>
            <a:r>
              <a:rPr sz="3200" spc="-15" dirty="0">
                <a:latin typeface="Carlito"/>
                <a:cs typeface="Carlito"/>
              </a:rPr>
              <a:t>Recycle </a:t>
            </a:r>
            <a:r>
              <a:rPr sz="3200" dirty="0">
                <a:latin typeface="Carlito"/>
                <a:cs typeface="Carlito"/>
              </a:rPr>
              <a:t>Bin </a:t>
            </a:r>
            <a:r>
              <a:rPr sz="3200" spc="-55" dirty="0">
                <a:latin typeface="Carlito"/>
                <a:cs typeface="Carlito"/>
              </a:rPr>
              <a:t>Tasks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list.</a:t>
            </a:r>
            <a:endParaRPr sz="3200">
              <a:latin typeface="Carlito"/>
              <a:cs typeface="Carlito"/>
            </a:endParaRPr>
          </a:p>
          <a:p>
            <a:pPr marL="355600" marR="14414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It is also </a:t>
            </a:r>
            <a:r>
              <a:rPr sz="3200" spc="-5" dirty="0">
                <a:latin typeface="Carlito"/>
                <a:cs typeface="Carlito"/>
              </a:rPr>
              <a:t>possible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delete </a:t>
            </a:r>
            <a:r>
              <a:rPr sz="3200" spc="-5" dirty="0">
                <a:latin typeface="Carlito"/>
                <a:cs typeface="Carlito"/>
              </a:rPr>
              <a:t>some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items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10" dirty="0">
                <a:latin typeface="Carlito"/>
                <a:cs typeface="Carlito"/>
              </a:rPr>
              <a:t>recycle </a:t>
            </a:r>
            <a:r>
              <a:rPr sz="3200" spc="-5" dirty="0">
                <a:latin typeface="Carlito"/>
                <a:cs typeface="Carlito"/>
              </a:rPr>
              <a:t>bin. </a:t>
            </a:r>
            <a:r>
              <a:rPr sz="3200" spc="-10" dirty="0">
                <a:latin typeface="Carlito"/>
                <a:cs typeface="Carlito"/>
              </a:rPr>
              <a:t>Note that </a:t>
            </a: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dirty="0">
                <a:latin typeface="Carlito"/>
                <a:cs typeface="Carlito"/>
              </a:rPr>
              <a:t>will  </a:t>
            </a:r>
            <a:r>
              <a:rPr sz="3200" spc="-15" dirty="0">
                <a:latin typeface="Carlito"/>
                <a:cs typeface="Carlito"/>
              </a:rPr>
              <a:t>delete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items </a:t>
            </a:r>
            <a:r>
              <a:rPr sz="3200" spc="-25" dirty="0">
                <a:latin typeface="Carlito"/>
                <a:cs typeface="Carlito"/>
              </a:rPr>
              <a:t>permanently. </a:t>
            </a:r>
            <a:r>
              <a:rPr sz="3200" spc="-14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do </a:t>
            </a:r>
            <a:r>
              <a:rPr sz="3200" spc="-25" dirty="0">
                <a:latin typeface="Carlito"/>
                <a:cs typeface="Carlito"/>
              </a:rPr>
              <a:t>so, </a:t>
            </a:r>
            <a:r>
              <a:rPr sz="3200" spc="-15" dirty="0">
                <a:latin typeface="Carlito"/>
                <a:cs typeface="Carlito"/>
              </a:rPr>
              <a:t>just  </a:t>
            </a:r>
            <a:r>
              <a:rPr sz="3200" spc="-5" dirty="0">
                <a:latin typeface="Carlito"/>
                <a:cs typeface="Carlito"/>
              </a:rPr>
              <a:t>select the item(s)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be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deleted.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rlito"/>
                <a:cs typeface="Carlito"/>
              </a:rPr>
              <a:t>Right </a:t>
            </a:r>
            <a:r>
              <a:rPr sz="3200" dirty="0">
                <a:latin typeface="Carlito"/>
                <a:cs typeface="Carlito"/>
              </a:rPr>
              <a:t>click the mouse </a:t>
            </a:r>
            <a:r>
              <a:rPr sz="3200" spc="-20" dirty="0">
                <a:latin typeface="Carlito"/>
                <a:cs typeface="Carlito"/>
              </a:rPr>
              <a:t>button </a:t>
            </a:r>
            <a:r>
              <a:rPr sz="3200" dirty="0">
                <a:latin typeface="Carlito"/>
                <a:cs typeface="Carlito"/>
              </a:rPr>
              <a:t>and then </a:t>
            </a:r>
            <a:r>
              <a:rPr sz="3200" spc="-5" dirty="0">
                <a:latin typeface="Carlito"/>
                <a:cs typeface="Carlito"/>
              </a:rPr>
              <a:t>select  </a:t>
            </a:r>
            <a:r>
              <a:rPr sz="3200" spc="-10" dirty="0">
                <a:latin typeface="Carlito"/>
                <a:cs typeface="Carlito"/>
              </a:rPr>
              <a:t>Delete.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7542" y="1269619"/>
            <a:ext cx="7548880" cy="11779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530"/>
              </a:spcBef>
            </a:pPr>
            <a:r>
              <a:rPr sz="1800" spc="-25" dirty="0"/>
              <a:t>At </a:t>
            </a:r>
            <a:r>
              <a:rPr sz="1800" spc="-5" dirty="0"/>
              <a:t>times, </a:t>
            </a:r>
            <a:r>
              <a:rPr sz="1800" dirty="0"/>
              <a:t>it </a:t>
            </a:r>
            <a:r>
              <a:rPr sz="1800" spc="-5" dirty="0"/>
              <a:t>is possible </a:t>
            </a:r>
            <a:r>
              <a:rPr sz="1800" spc="-15" dirty="0"/>
              <a:t>for </a:t>
            </a:r>
            <a:r>
              <a:rPr sz="1800" spc="-5" dirty="0"/>
              <a:t>one not </a:t>
            </a:r>
            <a:r>
              <a:rPr sz="1800" spc="-10" dirty="0"/>
              <a:t>to </a:t>
            </a:r>
            <a:r>
              <a:rPr sz="1800" spc="-5" dirty="0"/>
              <a:t>remember where </a:t>
            </a:r>
            <a:r>
              <a:rPr sz="1800" dirty="0"/>
              <a:t>an </a:t>
            </a:r>
            <a:r>
              <a:rPr sz="1800" spc="-10" dirty="0"/>
              <a:t>item </a:t>
            </a:r>
            <a:r>
              <a:rPr sz="1800" spc="-5" dirty="0"/>
              <a:t>on his/her  </a:t>
            </a:r>
            <a:r>
              <a:rPr sz="1800" spc="-10" dirty="0"/>
              <a:t>computer can </a:t>
            </a:r>
            <a:r>
              <a:rPr sz="1800" spc="-5" dirty="0"/>
              <a:t>be </a:t>
            </a:r>
            <a:r>
              <a:rPr sz="1800" spc="-10" dirty="0"/>
              <a:t>located. </a:t>
            </a:r>
            <a:r>
              <a:rPr sz="1800" spc="-5" dirty="0"/>
              <a:t>This is </a:t>
            </a:r>
            <a:r>
              <a:rPr sz="1800" spc="-10" dirty="0"/>
              <a:t>normally </a:t>
            </a:r>
            <a:r>
              <a:rPr sz="1800" dirty="0"/>
              <a:t>the </a:t>
            </a:r>
            <a:r>
              <a:rPr sz="1800" spc="-5" dirty="0"/>
              <a:t>case </a:t>
            </a:r>
            <a:r>
              <a:rPr sz="1800" dirty="0"/>
              <a:t>when </a:t>
            </a:r>
            <a:r>
              <a:rPr sz="1800" spc="-10" dirty="0"/>
              <a:t>you have too many  </a:t>
            </a:r>
            <a:r>
              <a:rPr sz="1800" spc="-15" dirty="0"/>
              <a:t>folders </a:t>
            </a:r>
            <a:r>
              <a:rPr sz="1800" dirty="0"/>
              <a:t>and </a:t>
            </a:r>
            <a:r>
              <a:rPr sz="1800" spc="-15" dirty="0"/>
              <a:t>folders </a:t>
            </a:r>
            <a:r>
              <a:rPr sz="1800" spc="-5" dirty="0"/>
              <a:t>within </a:t>
            </a:r>
            <a:r>
              <a:rPr sz="1800" spc="-15" dirty="0"/>
              <a:t>folders. </a:t>
            </a:r>
            <a:r>
              <a:rPr sz="1800" spc="-10" dirty="0"/>
              <a:t>Windows </a:t>
            </a:r>
            <a:r>
              <a:rPr sz="1800" dirty="0"/>
              <a:t>7 </a:t>
            </a:r>
            <a:r>
              <a:rPr sz="1800" spc="-5" dirty="0"/>
              <a:t>has </a:t>
            </a:r>
            <a:r>
              <a:rPr sz="1800" dirty="0"/>
              <a:t>a </a:t>
            </a:r>
            <a:r>
              <a:rPr sz="1800" spc="-5" dirty="0"/>
              <a:t>search </a:t>
            </a:r>
            <a:r>
              <a:rPr sz="1800" spc="-10" dirty="0"/>
              <a:t>facility </a:t>
            </a:r>
            <a:r>
              <a:rPr sz="1800" spc="-5" dirty="0"/>
              <a:t>that </a:t>
            </a:r>
            <a:r>
              <a:rPr sz="1800" spc="-15" dirty="0"/>
              <a:t>makes </a:t>
            </a:r>
            <a:r>
              <a:rPr sz="1800" spc="-5" dirty="0"/>
              <a:t>it  possible </a:t>
            </a:r>
            <a:r>
              <a:rPr sz="1800" spc="-10" dirty="0"/>
              <a:t>to </a:t>
            </a:r>
            <a:r>
              <a:rPr sz="1800" spc="-5" dirty="0"/>
              <a:t>look </a:t>
            </a:r>
            <a:r>
              <a:rPr sz="1800" spc="-15" dirty="0"/>
              <a:t>for </a:t>
            </a:r>
            <a:r>
              <a:rPr sz="1800" spc="-5" dirty="0"/>
              <a:t>files </a:t>
            </a:r>
            <a:r>
              <a:rPr sz="1800" dirty="0"/>
              <a:t>and </a:t>
            </a:r>
            <a:r>
              <a:rPr sz="1800" spc="-15" dirty="0"/>
              <a:t>folders </a:t>
            </a:r>
            <a:r>
              <a:rPr sz="1800" spc="-5" dirty="0"/>
              <a:t>whenever </a:t>
            </a:r>
            <a:r>
              <a:rPr sz="1800" spc="-10" dirty="0"/>
              <a:t>you are </a:t>
            </a:r>
            <a:r>
              <a:rPr sz="1800" spc="-5" dirty="0"/>
              <a:t>in </a:t>
            </a:r>
            <a:r>
              <a:rPr sz="1800" spc="-10" dirty="0"/>
              <a:t>trouble looking </a:t>
            </a:r>
            <a:r>
              <a:rPr sz="1800" spc="-15" dirty="0"/>
              <a:t>for </a:t>
            </a:r>
            <a:r>
              <a:rPr sz="1800" dirty="0"/>
              <a:t>a </a:t>
            </a:r>
            <a:r>
              <a:rPr sz="1800" spc="-5" dirty="0"/>
              <a:t>file  by using </a:t>
            </a:r>
            <a:r>
              <a:rPr sz="1800" dirty="0"/>
              <a:t>the </a:t>
            </a:r>
            <a:r>
              <a:rPr sz="1800" spc="-10" dirty="0"/>
              <a:t>Search</a:t>
            </a:r>
            <a:r>
              <a:rPr sz="1800" spc="50" dirty="0"/>
              <a:t> </a:t>
            </a:r>
            <a:r>
              <a:rPr sz="1800" spc="-5" dirty="0"/>
              <a:t>Companion.</a:t>
            </a:r>
            <a:endParaRPr sz="1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57782"/>
            <a:ext cx="23558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rlito"/>
                <a:cs typeface="Carlito"/>
              </a:rPr>
              <a:t>Opening </a:t>
            </a:r>
            <a:r>
              <a:rPr sz="1400" b="1" dirty="0">
                <a:latin typeface="Carlito"/>
                <a:cs typeface="Carlito"/>
              </a:rPr>
              <a:t>the </a:t>
            </a:r>
            <a:r>
              <a:rPr sz="1400" b="1" spc="-5" dirty="0">
                <a:latin typeface="Carlito"/>
                <a:cs typeface="Carlito"/>
              </a:rPr>
              <a:t>Search</a:t>
            </a:r>
            <a:r>
              <a:rPr sz="1400" b="1" spc="-80" dirty="0">
                <a:latin typeface="Carlito"/>
                <a:cs typeface="Carlito"/>
              </a:rPr>
              <a:t> </a:t>
            </a:r>
            <a:r>
              <a:rPr sz="1400" b="1" spc="-5" dirty="0">
                <a:latin typeface="Carlito"/>
                <a:cs typeface="Carlito"/>
              </a:rPr>
              <a:t>Companion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2696336"/>
            <a:ext cx="7392670" cy="244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Carlito"/>
                <a:cs typeface="Carlito"/>
              </a:rPr>
              <a:t>To </a:t>
            </a:r>
            <a:r>
              <a:rPr sz="1800" spc="-5" dirty="0">
                <a:latin typeface="Carlito"/>
                <a:cs typeface="Carlito"/>
              </a:rPr>
              <a:t>open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Search</a:t>
            </a:r>
            <a:r>
              <a:rPr sz="1800" spc="9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Companion:</a:t>
            </a:r>
            <a:endParaRPr sz="1800">
              <a:latin typeface="Carlito"/>
              <a:cs typeface="Carlito"/>
            </a:endParaRPr>
          </a:p>
          <a:p>
            <a:pPr marL="12700" marR="31623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10" dirty="0">
                <a:latin typeface="Carlito"/>
                <a:cs typeface="Carlito"/>
              </a:rPr>
              <a:t>Click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start button to obtain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Start </a:t>
            </a:r>
            <a:r>
              <a:rPr sz="1800" dirty="0">
                <a:latin typeface="Carlito"/>
                <a:cs typeface="Carlito"/>
              </a:rPr>
              <a:t>menu and choose </a:t>
            </a:r>
            <a:r>
              <a:rPr sz="1800" spc="-10" dirty="0">
                <a:latin typeface="Carlito"/>
                <a:cs typeface="Carlito"/>
              </a:rPr>
              <a:t>Search.  </a:t>
            </a:r>
            <a:r>
              <a:rPr sz="1800" spc="-5" dirty="0">
                <a:latin typeface="Carlito"/>
                <a:cs typeface="Carlito"/>
              </a:rPr>
              <a:t>OR</a:t>
            </a:r>
            <a:endParaRPr sz="1800">
              <a:latin typeface="Carlito"/>
              <a:cs typeface="Carlito"/>
            </a:endParaRPr>
          </a:p>
          <a:p>
            <a:pPr marL="12700" marR="1856739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5" dirty="0">
                <a:latin typeface="Carlito"/>
                <a:cs typeface="Carlito"/>
              </a:rPr>
              <a:t>Open </a:t>
            </a:r>
            <a:r>
              <a:rPr sz="1800" dirty="0">
                <a:latin typeface="Carlito"/>
                <a:cs typeface="Carlito"/>
              </a:rPr>
              <a:t>My </a:t>
            </a:r>
            <a:r>
              <a:rPr sz="1800" spc="-5" dirty="0">
                <a:latin typeface="Carlito"/>
                <a:cs typeface="Carlito"/>
              </a:rPr>
              <a:t>Documents </a:t>
            </a:r>
            <a:r>
              <a:rPr sz="1800" dirty="0">
                <a:latin typeface="Carlito"/>
                <a:cs typeface="Carlito"/>
              </a:rPr>
              <a:t>and </a:t>
            </a:r>
            <a:r>
              <a:rPr sz="1800" spc="-10" dirty="0">
                <a:latin typeface="Carlito"/>
                <a:cs typeface="Carlito"/>
              </a:rPr>
              <a:t>click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Search button.  </a:t>
            </a:r>
            <a:r>
              <a:rPr sz="1800" spc="-5" dirty="0">
                <a:latin typeface="Carlito"/>
                <a:cs typeface="Carlito"/>
              </a:rPr>
              <a:t>OR</a:t>
            </a:r>
            <a:endParaRPr sz="1800">
              <a:latin typeface="Carlito"/>
              <a:cs typeface="Carlito"/>
            </a:endParaRPr>
          </a:p>
          <a:p>
            <a:pPr marL="926465" indent="-9144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5" dirty="0">
                <a:latin typeface="Carlito"/>
                <a:cs typeface="Carlito"/>
              </a:rPr>
              <a:t>Open </a:t>
            </a:r>
            <a:r>
              <a:rPr sz="1800" dirty="0">
                <a:latin typeface="Carlito"/>
                <a:cs typeface="Carlito"/>
              </a:rPr>
              <a:t>My </a:t>
            </a:r>
            <a:r>
              <a:rPr sz="1800" spc="-10" dirty="0">
                <a:latin typeface="Carlito"/>
                <a:cs typeface="Carlito"/>
              </a:rPr>
              <a:t>Computer </a:t>
            </a:r>
            <a:r>
              <a:rPr sz="1800" dirty="0">
                <a:latin typeface="Carlito"/>
                <a:cs typeface="Carlito"/>
              </a:rPr>
              <a:t>and </a:t>
            </a:r>
            <a:r>
              <a:rPr sz="1800" spc="-10" dirty="0">
                <a:latin typeface="Carlito"/>
                <a:cs typeface="Carlito"/>
              </a:rPr>
              <a:t>click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Search</a:t>
            </a:r>
            <a:r>
              <a:rPr sz="1800" spc="7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button.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>
              <a:latin typeface="Carlito"/>
              <a:cs typeface="Carlito"/>
            </a:endParaRPr>
          </a:p>
          <a:p>
            <a:pPr marL="12700" marR="5080">
              <a:lnSpc>
                <a:spcPct val="80000"/>
              </a:lnSpc>
            </a:pPr>
            <a:r>
              <a:rPr sz="1800" spc="-10" dirty="0">
                <a:latin typeface="Carlito"/>
                <a:cs typeface="Carlito"/>
              </a:rPr>
              <a:t>Any </a:t>
            </a:r>
            <a:r>
              <a:rPr sz="1800" spc="-5" dirty="0">
                <a:latin typeface="Carlito"/>
                <a:cs typeface="Carlito"/>
              </a:rPr>
              <a:t>of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three </a:t>
            </a:r>
            <a:r>
              <a:rPr sz="1800" spc="-5" dirty="0">
                <a:latin typeface="Carlito"/>
                <a:cs typeface="Carlito"/>
              </a:rPr>
              <a:t>methods opens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search companion. </a:t>
            </a:r>
            <a:r>
              <a:rPr sz="1800" spc="-5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Search </a:t>
            </a:r>
            <a:r>
              <a:rPr sz="1800" spc="-5" dirty="0">
                <a:latin typeface="Carlito"/>
                <a:cs typeface="Carlito"/>
              </a:rPr>
              <a:t>Companion  opens </a:t>
            </a:r>
            <a:r>
              <a:rPr sz="1800" dirty="0">
                <a:latin typeface="Carlito"/>
                <a:cs typeface="Carlito"/>
              </a:rPr>
              <a:t>in the </a:t>
            </a:r>
            <a:r>
              <a:rPr sz="1800" spc="-5" dirty="0">
                <a:latin typeface="Carlito"/>
                <a:cs typeface="Carlito"/>
              </a:rPr>
              <a:t>left pane </a:t>
            </a:r>
            <a:r>
              <a:rPr sz="1800" dirty="0">
                <a:latin typeface="Carlito"/>
                <a:cs typeface="Carlito"/>
              </a:rPr>
              <a:t>and </a:t>
            </a:r>
            <a:r>
              <a:rPr sz="1800" spc="-5" dirty="0">
                <a:latin typeface="Carlito"/>
                <a:cs typeface="Carlito"/>
              </a:rPr>
              <a:t>presents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following list </a:t>
            </a:r>
            <a:r>
              <a:rPr sz="1800" spc="-5" dirty="0">
                <a:latin typeface="Carlito"/>
                <a:cs typeface="Carlito"/>
              </a:rPr>
              <a:t>of</a:t>
            </a:r>
            <a:r>
              <a:rPr sz="1800" spc="8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options: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1002614"/>
            <a:ext cx="475170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5" dirty="0">
                <a:latin typeface="Carlito"/>
                <a:cs typeface="Carlito"/>
              </a:rPr>
              <a:t>To </a:t>
            </a:r>
            <a:r>
              <a:rPr sz="2300" b="1" spc="-5" dirty="0">
                <a:latin typeface="Carlito"/>
                <a:cs typeface="Carlito"/>
              </a:rPr>
              <a:t>search </a:t>
            </a:r>
            <a:r>
              <a:rPr sz="2300" b="1" dirty="0">
                <a:latin typeface="Carlito"/>
                <a:cs typeface="Carlito"/>
              </a:rPr>
              <a:t>using the </a:t>
            </a:r>
            <a:r>
              <a:rPr sz="2300" b="1" spc="-5" dirty="0">
                <a:latin typeface="Carlito"/>
                <a:cs typeface="Carlito"/>
              </a:rPr>
              <a:t>Search</a:t>
            </a:r>
            <a:r>
              <a:rPr sz="2300" b="1" spc="50" dirty="0">
                <a:latin typeface="Carlito"/>
                <a:cs typeface="Carlito"/>
              </a:rPr>
              <a:t> </a:t>
            </a:r>
            <a:r>
              <a:rPr sz="2300" b="1" spc="-5" dirty="0">
                <a:latin typeface="Carlito"/>
                <a:cs typeface="Carlito"/>
              </a:rPr>
              <a:t>Companion:</a:t>
            </a:r>
            <a:endParaRPr sz="2300">
              <a:latin typeface="Carlito"/>
              <a:cs typeface="Carli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457324"/>
            <a:ext cx="7450455" cy="23221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just">
              <a:lnSpc>
                <a:spcPct val="92500"/>
              </a:lnSpc>
              <a:spcBef>
                <a:spcPts val="290"/>
              </a:spcBef>
              <a:buSzPct val="122727"/>
              <a:buChar char="•"/>
              <a:tabLst>
                <a:tab pos="927100" algn="l"/>
              </a:tabLst>
            </a:pPr>
            <a:r>
              <a:rPr sz="2200" spc="-15" dirty="0">
                <a:latin typeface="Carlito"/>
                <a:cs typeface="Carlito"/>
              </a:rPr>
              <a:t>Enter </a:t>
            </a:r>
            <a:r>
              <a:rPr sz="2200" spc="-5" dirty="0">
                <a:latin typeface="Carlito"/>
                <a:cs typeface="Carlito"/>
              </a:rPr>
              <a:t>as </a:t>
            </a:r>
            <a:r>
              <a:rPr sz="2200" spc="-10" dirty="0">
                <a:latin typeface="Carlito"/>
                <a:cs typeface="Carlito"/>
              </a:rPr>
              <a:t>much information </a:t>
            </a:r>
            <a:r>
              <a:rPr sz="2200" spc="-5" dirty="0">
                <a:latin typeface="Carlito"/>
                <a:cs typeface="Carlito"/>
              </a:rPr>
              <a:t>as </a:t>
            </a:r>
            <a:r>
              <a:rPr sz="2200" spc="-15" dirty="0">
                <a:latin typeface="Carlito"/>
                <a:cs typeface="Carlito"/>
              </a:rPr>
              <a:t>you can </a:t>
            </a:r>
            <a:r>
              <a:rPr sz="2200" spc="-10" dirty="0">
                <a:latin typeface="Carlito"/>
                <a:cs typeface="Carlito"/>
              </a:rPr>
              <a:t>remember </a:t>
            </a:r>
            <a:r>
              <a:rPr sz="2200" spc="-20" dirty="0">
                <a:latin typeface="Carlito"/>
                <a:cs typeface="Carlito"/>
              </a:rPr>
              <a:t>into </a:t>
            </a:r>
            <a:r>
              <a:rPr sz="2200" spc="-5" dirty="0">
                <a:latin typeface="Carlito"/>
                <a:cs typeface="Carlito"/>
              </a:rPr>
              <a:t>the  </a:t>
            </a:r>
            <a:r>
              <a:rPr sz="2200" spc="-15" dirty="0">
                <a:latin typeface="Carlito"/>
                <a:cs typeface="Carlito"/>
              </a:rPr>
              <a:t>Search </a:t>
            </a:r>
            <a:r>
              <a:rPr sz="2200" spc="-5" dirty="0">
                <a:latin typeface="Carlito"/>
                <a:cs typeface="Carlito"/>
              </a:rPr>
              <a:t>Companion. </a:t>
            </a:r>
            <a:r>
              <a:rPr sz="2200" spc="-15" dirty="0">
                <a:latin typeface="Carlito"/>
                <a:cs typeface="Carlito"/>
              </a:rPr>
              <a:t>For example </a:t>
            </a:r>
            <a:r>
              <a:rPr sz="2200" spc="-10" dirty="0">
                <a:latin typeface="Carlito"/>
                <a:cs typeface="Carlito"/>
              </a:rPr>
              <a:t>by providing </a:t>
            </a:r>
            <a:r>
              <a:rPr sz="2200" spc="-5" dirty="0">
                <a:latin typeface="Carlito"/>
                <a:cs typeface="Carlito"/>
              </a:rPr>
              <a:t>all or </a:t>
            </a:r>
            <a:r>
              <a:rPr sz="2200" spc="-10" dirty="0">
                <a:latin typeface="Carlito"/>
                <a:cs typeface="Carlito"/>
              </a:rPr>
              <a:t>part </a:t>
            </a:r>
            <a:r>
              <a:rPr sz="2200" spc="-5" dirty="0">
                <a:latin typeface="Carlito"/>
                <a:cs typeface="Carlito"/>
              </a:rPr>
              <a:t>of the </a:t>
            </a:r>
            <a:r>
              <a:rPr sz="2200" spc="-10" dirty="0">
                <a:latin typeface="Carlito"/>
                <a:cs typeface="Carlito"/>
              </a:rPr>
              <a:t>file  name,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5" dirty="0">
                <a:latin typeface="Carlito"/>
                <a:cs typeface="Carlito"/>
              </a:rPr>
              <a:t>word </a:t>
            </a: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spc="-15" dirty="0">
                <a:latin typeface="Carlito"/>
                <a:cs typeface="Carlito"/>
              </a:rPr>
              <a:t>phrase </a:t>
            </a:r>
            <a:r>
              <a:rPr sz="2200" spc="-10" dirty="0">
                <a:latin typeface="Carlito"/>
                <a:cs typeface="Carlito"/>
              </a:rPr>
              <a:t>in the file, </a:t>
            </a:r>
            <a:r>
              <a:rPr sz="2200" spc="-5" dirty="0">
                <a:latin typeface="Carlito"/>
                <a:cs typeface="Carlito"/>
              </a:rPr>
              <a:t>which </a:t>
            </a:r>
            <a:r>
              <a:rPr sz="2200" spc="-10" dirty="0">
                <a:latin typeface="Carlito"/>
                <a:cs typeface="Carlito"/>
              </a:rPr>
              <a:t>drive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dirty="0">
                <a:latin typeface="Carlito"/>
                <a:cs typeface="Carlito"/>
              </a:rPr>
              <a:t>look </a:t>
            </a:r>
            <a:r>
              <a:rPr sz="2200" spc="-5" dirty="0">
                <a:latin typeface="Carlito"/>
                <a:cs typeface="Carlito"/>
              </a:rPr>
              <a:t>in,</a:t>
            </a:r>
            <a:r>
              <a:rPr sz="2200" spc="155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etc</a:t>
            </a:r>
            <a:endParaRPr sz="2200">
              <a:latin typeface="Carlito"/>
              <a:cs typeface="Carlito"/>
            </a:endParaRPr>
          </a:p>
          <a:p>
            <a:pPr marL="926465" marR="542925" indent="-914400">
              <a:lnSpc>
                <a:spcPts val="2380"/>
              </a:lnSpc>
              <a:spcBef>
                <a:spcPts val="565"/>
              </a:spcBef>
              <a:buChar char="•"/>
              <a:tabLst>
                <a:tab pos="926465" algn="l"/>
                <a:tab pos="927100" algn="l"/>
                <a:tab pos="2755900" algn="l"/>
              </a:tabLst>
            </a:pPr>
            <a:r>
              <a:rPr sz="2200" spc="-60" dirty="0">
                <a:latin typeface="Carlito"/>
                <a:cs typeface="Carlito"/>
              </a:rPr>
              <a:t>You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also click the </a:t>
            </a:r>
            <a:r>
              <a:rPr sz="2200" spc="-15" dirty="0">
                <a:latin typeface="Carlito"/>
                <a:cs typeface="Carlito"/>
              </a:rPr>
              <a:t>drop </a:t>
            </a:r>
            <a:r>
              <a:rPr sz="2200" spc="-10" dirty="0">
                <a:latin typeface="Carlito"/>
                <a:cs typeface="Carlito"/>
              </a:rPr>
              <a:t>down </a:t>
            </a:r>
            <a:r>
              <a:rPr sz="2200" spc="-15" dirty="0">
                <a:latin typeface="Carlito"/>
                <a:cs typeface="Carlito"/>
              </a:rPr>
              <a:t>arrows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add </a:t>
            </a:r>
            <a:r>
              <a:rPr sz="2200" spc="-10" dirty="0">
                <a:latin typeface="Carlito"/>
                <a:cs typeface="Carlito"/>
              </a:rPr>
              <a:t>more  criteria</a:t>
            </a:r>
            <a:r>
              <a:rPr sz="2200" spc="3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if	</a:t>
            </a:r>
            <a:r>
              <a:rPr sz="2200" spc="-20" dirty="0">
                <a:latin typeface="Carlito"/>
                <a:cs typeface="Carlito"/>
              </a:rPr>
              <a:t>necessary.</a:t>
            </a:r>
            <a:endParaRPr sz="2200">
              <a:latin typeface="Carlito"/>
              <a:cs typeface="Carlito"/>
            </a:endParaRPr>
          </a:p>
          <a:p>
            <a:pPr marL="926465" marR="335915" indent="-914400">
              <a:lnSpc>
                <a:spcPts val="2380"/>
              </a:lnSpc>
              <a:spcBef>
                <a:spcPts val="520"/>
              </a:spcBef>
              <a:buChar char="•"/>
              <a:tabLst>
                <a:tab pos="926465" algn="l"/>
                <a:tab pos="927100" algn="l"/>
                <a:tab pos="1841500" algn="l"/>
              </a:tabLst>
            </a:pPr>
            <a:r>
              <a:rPr sz="2200" spc="-5" dirty="0">
                <a:latin typeface="Carlito"/>
                <a:cs typeface="Carlito"/>
              </a:rPr>
              <a:t>Use the Back </a:t>
            </a:r>
            <a:r>
              <a:rPr sz="2200" spc="-20" dirty="0">
                <a:latin typeface="Carlito"/>
                <a:cs typeface="Carlito"/>
              </a:rPr>
              <a:t>button </a:t>
            </a:r>
            <a:r>
              <a:rPr sz="2200" spc="-5" dirty="0">
                <a:latin typeface="Carlito"/>
                <a:cs typeface="Carlito"/>
              </a:rPr>
              <a:t>if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20" dirty="0">
                <a:latin typeface="Carlito"/>
                <a:cs typeface="Carlito"/>
              </a:rPr>
              <a:t>have to </a:t>
            </a:r>
            <a:r>
              <a:rPr sz="2200" spc="-10" dirty="0">
                <a:latin typeface="Carlito"/>
                <a:cs typeface="Carlito"/>
              </a:rPr>
              <a:t>go back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change  </a:t>
            </a:r>
            <a:r>
              <a:rPr sz="2200" spc="-10" dirty="0">
                <a:latin typeface="Carlito"/>
                <a:cs typeface="Carlito"/>
              </a:rPr>
              <a:t>your	</a:t>
            </a:r>
            <a:r>
              <a:rPr sz="2200" spc="-5" dirty="0">
                <a:latin typeface="Carlito"/>
                <a:cs typeface="Carlito"/>
              </a:rPr>
              <a:t>option.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3754018"/>
            <a:ext cx="164465" cy="7632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200" spc="-5" dirty="0">
                <a:latin typeface="Carlito"/>
                <a:cs typeface="Carlito"/>
              </a:rPr>
              <a:t>•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1916" y="3754018"/>
            <a:ext cx="6181090" cy="7632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200" spc="-10" dirty="0">
                <a:latin typeface="Carlito"/>
                <a:cs typeface="Carlito"/>
              </a:rPr>
              <a:t>Click</a:t>
            </a:r>
            <a:r>
              <a:rPr sz="2200" spc="-2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Search.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200" spc="-10" dirty="0">
                <a:latin typeface="Carlito"/>
                <a:cs typeface="Carlito"/>
              </a:rPr>
              <a:t>Once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5" dirty="0">
                <a:latin typeface="Carlito"/>
                <a:cs typeface="Carlito"/>
              </a:rPr>
              <a:t>click </a:t>
            </a:r>
            <a:r>
              <a:rPr sz="2200" spc="-10" dirty="0">
                <a:latin typeface="Carlito"/>
                <a:cs typeface="Carlito"/>
              </a:rPr>
              <a:t>Search,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Search </a:t>
            </a:r>
            <a:r>
              <a:rPr sz="2200" spc="-5" dirty="0">
                <a:latin typeface="Carlito"/>
                <a:cs typeface="Carlito"/>
              </a:rPr>
              <a:t>Companion </a:t>
            </a:r>
            <a:r>
              <a:rPr sz="2200" spc="-10" dirty="0">
                <a:latin typeface="Carlito"/>
                <a:cs typeface="Carlito"/>
              </a:rPr>
              <a:t>tells</a:t>
            </a:r>
            <a:r>
              <a:rPr sz="2200" spc="9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you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3986" y="4156964"/>
            <a:ext cx="3530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it</a:t>
            </a:r>
            <a:r>
              <a:rPr sz="2200" spc="-15" dirty="0">
                <a:latin typeface="Carlito"/>
                <a:cs typeface="Carlito"/>
              </a:rPr>
              <a:t>'</a:t>
            </a:r>
            <a:r>
              <a:rPr sz="2200" spc="-5" dirty="0">
                <a:latin typeface="Carlito"/>
                <a:cs typeface="Carlito"/>
              </a:rPr>
              <a:t>s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542" y="4424919"/>
            <a:ext cx="6113145" cy="12122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200" spc="-10" dirty="0">
                <a:latin typeface="Carlito"/>
                <a:cs typeface="Carlito"/>
              </a:rPr>
              <a:t>searching.</a:t>
            </a:r>
            <a:endParaRPr sz="2200">
              <a:latin typeface="Carlito"/>
              <a:cs typeface="Carlito"/>
            </a:endParaRPr>
          </a:p>
          <a:p>
            <a:pPr marL="926465" indent="-914400">
              <a:lnSpc>
                <a:spcPct val="100000"/>
              </a:lnSpc>
              <a:spcBef>
                <a:spcPts val="265"/>
              </a:spcBef>
              <a:buChar char="•"/>
              <a:tabLst>
                <a:tab pos="926465" algn="l"/>
                <a:tab pos="927100" algn="l"/>
              </a:tabLst>
            </a:pPr>
            <a:r>
              <a:rPr sz="2200" spc="-50" dirty="0">
                <a:latin typeface="Carlito"/>
                <a:cs typeface="Carlito"/>
              </a:rPr>
              <a:t>Your </a:t>
            </a:r>
            <a:r>
              <a:rPr sz="2200" spc="-10" dirty="0">
                <a:latin typeface="Carlito"/>
                <a:cs typeface="Carlito"/>
              </a:rPr>
              <a:t>search results display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0" dirty="0">
                <a:latin typeface="Carlito"/>
                <a:cs typeface="Carlito"/>
              </a:rPr>
              <a:t>white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space.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700" dirty="0">
                <a:latin typeface="Carlito"/>
                <a:cs typeface="Carlito"/>
              </a:rPr>
              <a:t>•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Department </a:t>
            </a:r>
            <a:r>
              <a:rPr spc="-5" dirty="0"/>
              <a:t>of Computer Science,</a:t>
            </a:r>
            <a:r>
              <a:rPr spc="-100" dirty="0"/>
              <a:t> </a:t>
            </a:r>
            <a:r>
              <a:rPr dirty="0"/>
              <a:t>KNUST-</a:t>
            </a:r>
          </a:p>
          <a:p>
            <a:pPr algn="ctr">
              <a:lnSpc>
                <a:spcPct val="100000"/>
              </a:lnSpc>
            </a:pPr>
            <a:r>
              <a:rPr spc="-5" dirty="0"/>
              <a:t>Kumasi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07542" y="1045590"/>
            <a:ext cx="7503795" cy="8077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2920"/>
              </a:lnSpc>
              <a:spcBef>
                <a:spcPts val="459"/>
              </a:spcBef>
            </a:pPr>
            <a:r>
              <a:rPr sz="2700" spc="-5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Search </a:t>
            </a:r>
            <a:r>
              <a:rPr sz="2700" spc="-5" dirty="0">
                <a:latin typeface="Carlito"/>
                <a:cs typeface="Carlito"/>
              </a:rPr>
              <a:t>Companion </a:t>
            </a:r>
            <a:r>
              <a:rPr sz="2700" spc="-10" dirty="0">
                <a:latin typeface="Carlito"/>
                <a:cs typeface="Carlito"/>
              </a:rPr>
              <a:t>tells </a:t>
            </a:r>
            <a:r>
              <a:rPr sz="2700" spc="-15" dirty="0">
                <a:latin typeface="Carlito"/>
                <a:cs typeface="Carlito"/>
              </a:rPr>
              <a:t>you </a:t>
            </a:r>
            <a:r>
              <a:rPr sz="2700" dirty="0">
                <a:latin typeface="Carlito"/>
                <a:cs typeface="Carlito"/>
              </a:rPr>
              <a:t>when the </a:t>
            </a:r>
            <a:r>
              <a:rPr sz="2700" spc="-10" dirty="0">
                <a:latin typeface="Carlito"/>
                <a:cs typeface="Carlito"/>
              </a:rPr>
              <a:t>search </a:t>
            </a:r>
            <a:r>
              <a:rPr sz="2700" dirty="0">
                <a:latin typeface="Carlito"/>
                <a:cs typeface="Carlito"/>
              </a:rPr>
              <a:t>is  </a:t>
            </a:r>
            <a:r>
              <a:rPr sz="2700" spc="-15" dirty="0">
                <a:latin typeface="Carlito"/>
                <a:cs typeface="Carlito"/>
              </a:rPr>
              <a:t>complete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5" dirty="0">
                <a:latin typeface="Carlito"/>
                <a:cs typeface="Carlito"/>
              </a:rPr>
              <a:t>prompts you </a:t>
            </a:r>
            <a:r>
              <a:rPr sz="2700" dirty="0">
                <a:latin typeface="Carlito"/>
                <a:cs typeface="Carlito"/>
              </a:rPr>
              <a:t>with </a:t>
            </a:r>
            <a:r>
              <a:rPr sz="2700" spc="-10" dirty="0">
                <a:latin typeface="Carlito"/>
                <a:cs typeface="Carlito"/>
              </a:rPr>
              <a:t>more Search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options.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0242" y="2691460"/>
            <a:ext cx="1714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rlito"/>
                <a:cs typeface="Carlito"/>
              </a:rPr>
              <a:t>•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242" y="3062478"/>
            <a:ext cx="4337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rlito"/>
                <a:cs typeface="Carlito"/>
              </a:rPr>
              <a:t>fi</a:t>
            </a:r>
            <a:r>
              <a:rPr sz="2700" spc="5" dirty="0">
                <a:latin typeface="Carlito"/>
                <a:cs typeface="Carlito"/>
              </a:rPr>
              <a:t>l</a:t>
            </a:r>
            <a:r>
              <a:rPr sz="2700" dirty="0">
                <a:latin typeface="Carlito"/>
                <a:cs typeface="Carlito"/>
              </a:rPr>
              <a:t>e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42" y="1868804"/>
            <a:ext cx="7367270" cy="16306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926465" marR="317500" indent="-914400">
              <a:lnSpc>
                <a:spcPts val="2920"/>
              </a:lnSpc>
              <a:spcBef>
                <a:spcPts val="459"/>
              </a:spcBef>
              <a:buChar char="•"/>
              <a:tabLst>
                <a:tab pos="926465" algn="l"/>
                <a:tab pos="927100" algn="l"/>
              </a:tabLst>
            </a:pPr>
            <a:r>
              <a:rPr sz="2700" dirty="0">
                <a:latin typeface="Carlito"/>
                <a:cs typeface="Carlito"/>
              </a:rPr>
              <a:t>If </a:t>
            </a:r>
            <a:r>
              <a:rPr sz="2700" spc="-15" dirty="0">
                <a:latin typeface="Carlito"/>
                <a:cs typeface="Carlito"/>
              </a:rPr>
              <a:t>your </a:t>
            </a:r>
            <a:r>
              <a:rPr sz="2700" spc="-10" dirty="0">
                <a:latin typeface="Carlito"/>
                <a:cs typeface="Carlito"/>
              </a:rPr>
              <a:t>search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complete, </a:t>
            </a:r>
            <a:r>
              <a:rPr sz="2700" dirty="0">
                <a:latin typeface="Carlito"/>
                <a:cs typeface="Carlito"/>
              </a:rPr>
              <a:t>click </a:t>
            </a:r>
            <a:r>
              <a:rPr sz="2700" spc="-50" dirty="0">
                <a:latin typeface="Carlito"/>
                <a:cs typeface="Carlito"/>
              </a:rPr>
              <a:t>Yes, </a:t>
            </a:r>
            <a:r>
              <a:rPr sz="2700" spc="-5" dirty="0">
                <a:latin typeface="Carlito"/>
                <a:cs typeface="Carlito"/>
              </a:rPr>
              <a:t>finished  </a:t>
            </a:r>
            <a:r>
              <a:rPr sz="2700" spc="-10" dirty="0">
                <a:latin typeface="Carlito"/>
                <a:cs typeface="Carlito"/>
              </a:rPr>
              <a:t>searching.</a:t>
            </a:r>
            <a:endParaRPr sz="2700">
              <a:latin typeface="Carlito"/>
              <a:cs typeface="Carlito"/>
            </a:endParaRPr>
          </a:p>
          <a:p>
            <a:pPr marL="926465" marR="5080">
              <a:lnSpc>
                <a:spcPts val="2920"/>
              </a:lnSpc>
              <a:spcBef>
                <a:spcPts val="645"/>
              </a:spcBef>
            </a:pPr>
            <a:r>
              <a:rPr sz="2700" dirty="0">
                <a:latin typeface="Carlito"/>
                <a:cs typeface="Carlito"/>
              </a:rPr>
              <a:t>If </a:t>
            </a:r>
            <a:r>
              <a:rPr sz="2700" spc="-5" dirty="0">
                <a:latin typeface="Carlito"/>
                <a:cs typeface="Carlito"/>
              </a:rPr>
              <a:t>the file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found </a:t>
            </a:r>
            <a:r>
              <a:rPr sz="2700" spc="-5" dirty="0">
                <a:latin typeface="Carlito"/>
                <a:cs typeface="Carlito"/>
              </a:rPr>
              <a:t>then simply </a:t>
            </a:r>
            <a:r>
              <a:rPr sz="2700" dirty="0">
                <a:latin typeface="Carlito"/>
                <a:cs typeface="Carlito"/>
              </a:rPr>
              <a:t>double-click the 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open </a:t>
            </a:r>
            <a:r>
              <a:rPr sz="2700" dirty="0">
                <a:latin typeface="Carlito"/>
                <a:cs typeface="Carlito"/>
              </a:rPr>
              <a:t>it.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542" y="3515105"/>
            <a:ext cx="7639050" cy="19189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25"/>
              </a:spcBef>
            </a:pPr>
            <a:r>
              <a:rPr sz="2700" dirty="0">
                <a:latin typeface="Carlito"/>
                <a:cs typeface="Carlito"/>
              </a:rPr>
              <a:t>No </a:t>
            </a:r>
            <a:r>
              <a:rPr sz="2700" spc="-20" dirty="0">
                <a:latin typeface="Carlito"/>
                <a:cs typeface="Carlito"/>
              </a:rPr>
              <a:t>matter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number of files on </a:t>
            </a:r>
            <a:r>
              <a:rPr sz="2700" spc="-15" dirty="0">
                <a:latin typeface="Carlito"/>
                <a:cs typeface="Carlito"/>
              </a:rPr>
              <a:t>your </a:t>
            </a:r>
            <a:r>
              <a:rPr sz="2700" spc="-35" dirty="0">
                <a:latin typeface="Carlito"/>
                <a:cs typeface="Carlito"/>
              </a:rPr>
              <a:t>computer,  </a:t>
            </a:r>
            <a:r>
              <a:rPr sz="2700" spc="-5" dirty="0">
                <a:latin typeface="Carlito"/>
                <a:cs typeface="Carlito"/>
              </a:rPr>
              <a:t>finding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5" dirty="0">
                <a:latin typeface="Carlito"/>
                <a:cs typeface="Carlito"/>
              </a:rPr>
              <a:t>file </a:t>
            </a:r>
            <a:r>
              <a:rPr sz="2700" spc="-10" dirty="0">
                <a:latin typeface="Carlito"/>
                <a:cs typeface="Carlito"/>
              </a:rPr>
              <a:t>can </a:t>
            </a:r>
            <a:r>
              <a:rPr sz="2700" spc="-35" dirty="0">
                <a:latin typeface="Carlito"/>
                <a:cs typeface="Carlito"/>
              </a:rPr>
              <a:t>take </a:t>
            </a:r>
            <a:r>
              <a:rPr sz="2700" spc="-10" dirty="0">
                <a:latin typeface="Carlito"/>
                <a:cs typeface="Carlito"/>
              </a:rPr>
              <a:t>seconds, </a:t>
            </a:r>
            <a:r>
              <a:rPr sz="2700" spc="-5" dirty="0">
                <a:latin typeface="Carlito"/>
                <a:cs typeface="Carlito"/>
              </a:rPr>
              <a:t>minutes or much, </a:t>
            </a:r>
            <a:r>
              <a:rPr sz="2700" dirty="0">
                <a:latin typeface="Carlito"/>
                <a:cs typeface="Carlito"/>
              </a:rPr>
              <a:t>much  </a:t>
            </a:r>
            <a:r>
              <a:rPr sz="2700" spc="-5" dirty="0">
                <a:latin typeface="Carlito"/>
                <a:cs typeface="Carlito"/>
              </a:rPr>
              <a:t>longer depending on </a:t>
            </a:r>
            <a:r>
              <a:rPr sz="2700" dirty="0">
                <a:latin typeface="Carlito"/>
                <a:cs typeface="Carlito"/>
              </a:rPr>
              <a:t>the type </a:t>
            </a:r>
            <a:r>
              <a:rPr sz="2700" spc="-5" dirty="0">
                <a:latin typeface="Carlito"/>
                <a:cs typeface="Carlito"/>
              </a:rPr>
              <a:t>of </a:t>
            </a:r>
            <a:r>
              <a:rPr sz="2700" spc="-10" dirty="0">
                <a:latin typeface="Carlito"/>
                <a:cs typeface="Carlito"/>
              </a:rPr>
              <a:t>search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0" dirty="0">
                <a:latin typeface="Carlito"/>
                <a:cs typeface="Carlito"/>
              </a:rPr>
              <a:t>where</a:t>
            </a:r>
            <a:r>
              <a:rPr sz="2700" spc="-160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you  are </a:t>
            </a:r>
            <a:r>
              <a:rPr sz="2700" spc="-5" dirty="0">
                <a:latin typeface="Carlito"/>
                <a:cs typeface="Carlito"/>
              </a:rPr>
              <a:t>looking. </a:t>
            </a:r>
            <a:r>
              <a:rPr sz="2700" dirty="0">
                <a:latin typeface="Carlito"/>
                <a:cs typeface="Carlito"/>
              </a:rPr>
              <a:t>If </a:t>
            </a:r>
            <a:r>
              <a:rPr sz="2700" spc="-10" dirty="0">
                <a:latin typeface="Carlito"/>
                <a:cs typeface="Carlito"/>
              </a:rPr>
              <a:t>the search fails </a:t>
            </a:r>
            <a:r>
              <a:rPr sz="2700" spc="-15" dirty="0">
                <a:latin typeface="Carlito"/>
                <a:cs typeface="Carlito"/>
              </a:rPr>
              <a:t>to locate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5" dirty="0">
                <a:latin typeface="Carlito"/>
                <a:cs typeface="Carlito"/>
              </a:rPr>
              <a:t>file on </a:t>
            </a:r>
            <a:r>
              <a:rPr sz="2700" spc="-15" dirty="0">
                <a:latin typeface="Carlito"/>
                <a:cs typeface="Carlito"/>
              </a:rPr>
              <a:t>your  </a:t>
            </a:r>
            <a:r>
              <a:rPr sz="2700" spc="-20" dirty="0">
                <a:latin typeface="Carlito"/>
                <a:cs typeface="Carlito"/>
              </a:rPr>
              <a:t>first </a:t>
            </a:r>
            <a:r>
              <a:rPr sz="2700" spc="-50" dirty="0">
                <a:latin typeface="Carlito"/>
                <a:cs typeface="Carlito"/>
              </a:rPr>
              <a:t>try, </a:t>
            </a:r>
            <a:r>
              <a:rPr sz="2700" spc="-5" dirty="0">
                <a:latin typeface="Carlito"/>
                <a:cs typeface="Carlito"/>
              </a:rPr>
              <a:t>type </a:t>
            </a:r>
            <a:r>
              <a:rPr sz="2700" dirty="0">
                <a:latin typeface="Carlito"/>
                <a:cs typeface="Carlito"/>
              </a:rPr>
              <a:t>in a </a:t>
            </a:r>
            <a:r>
              <a:rPr sz="2700" spc="-20" dirty="0">
                <a:latin typeface="Carlito"/>
                <a:cs typeface="Carlito"/>
              </a:rPr>
              <a:t>different </a:t>
            </a:r>
            <a:r>
              <a:rPr sz="2700" spc="-5" dirty="0">
                <a:latin typeface="Carlito"/>
                <a:cs typeface="Carlito"/>
              </a:rPr>
              <a:t>name </a:t>
            </a:r>
            <a:r>
              <a:rPr sz="2700" spc="-10" dirty="0">
                <a:latin typeface="Carlito"/>
                <a:cs typeface="Carlito"/>
              </a:rPr>
              <a:t>and/or</a:t>
            </a:r>
            <a:r>
              <a:rPr sz="2700" spc="-1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location.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</TotalTime>
  <Words>14414</Words>
  <Application>Microsoft Office PowerPoint</Application>
  <PresentationFormat>On-screen Show (4:3)</PresentationFormat>
  <Paragraphs>1373</Paragraphs>
  <Slides>202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202</vt:i4>
      </vt:variant>
    </vt:vector>
  </HeadingPairs>
  <TitlesOfParts>
    <vt:vector size="209" baseType="lpstr">
      <vt:lpstr>Arial</vt:lpstr>
      <vt:lpstr>Calibri</vt:lpstr>
      <vt:lpstr>Calibri Light</vt:lpstr>
      <vt:lpstr>Carlito</vt:lpstr>
      <vt:lpstr>Times New Roman</vt:lpstr>
      <vt:lpstr>Wingdings</vt:lpstr>
      <vt:lpstr>Office Theme</vt:lpstr>
      <vt:lpstr>SOFTWARE</vt:lpstr>
      <vt:lpstr>SOFTWARE</vt:lpstr>
      <vt:lpstr>SYSTEM SOFTWARE</vt:lpstr>
      <vt:lpstr>SYSTEM SOFTWARE</vt:lpstr>
      <vt:lpstr>SYSTEM SOFTWARE</vt:lpstr>
      <vt:lpstr>SYSTEM SOFTWARE</vt:lpstr>
      <vt:lpstr>SYSTEM SOFTWARE</vt:lpstr>
      <vt:lpstr>Operating System</vt:lpstr>
      <vt:lpstr>Major functions of the OS</vt:lpstr>
      <vt:lpstr>Operating System</vt:lpstr>
      <vt:lpstr>Operating System</vt:lpstr>
      <vt:lpstr>Operating System</vt:lpstr>
      <vt:lpstr>Operating System</vt:lpstr>
      <vt:lpstr>Operating System</vt:lpstr>
      <vt:lpstr>Operating System</vt:lpstr>
      <vt:lpstr>Operating System</vt:lpstr>
      <vt:lpstr>Common Operating Systems:  Platforms</vt:lpstr>
      <vt:lpstr>PowerPoint Presentation</vt:lpstr>
      <vt:lpstr>PowerPoint Presentation</vt:lpstr>
      <vt:lpstr>Common Operating Systems:  Platforms</vt:lpstr>
      <vt:lpstr>Device Drivers</vt:lpstr>
      <vt:lpstr>PowerPoint Presentation</vt:lpstr>
      <vt:lpstr>PowerPoint Presentation</vt:lpstr>
      <vt:lpstr>Utility Programs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Language Translators</vt:lpstr>
      <vt:lpstr>PowerPoint Presentation</vt:lpstr>
      <vt:lpstr>INTERPRETER</vt:lpstr>
      <vt:lpstr>ASSEMBLER</vt:lpstr>
      <vt:lpstr>PowerPoint Presentation</vt:lpstr>
      <vt:lpstr>COMPILER</vt:lpstr>
      <vt:lpstr>APPLICATION SOFTWARE</vt:lpstr>
      <vt:lpstr>PowerPoint Presentation</vt:lpstr>
      <vt:lpstr>Common Features of Application  Software</vt:lpstr>
      <vt:lpstr>PowerPoint Presentation</vt:lpstr>
      <vt:lpstr>PowerPoint Presentation</vt:lpstr>
      <vt:lpstr>Window of a Program</vt:lpstr>
      <vt:lpstr>PowerPoint Presentation</vt:lpstr>
      <vt:lpstr>Menu</vt:lpstr>
      <vt:lpstr>PowerPoint Presentation</vt:lpstr>
      <vt:lpstr>ICON</vt:lpstr>
      <vt:lpstr>PowerPoint Presentation</vt:lpstr>
      <vt:lpstr>Toolbars and Tool Buttons</vt:lpstr>
      <vt:lpstr>PowerPoint Presentation</vt:lpstr>
      <vt:lpstr>Cursors</vt:lpstr>
      <vt:lpstr>PowerPoint Presentation</vt:lpstr>
      <vt:lpstr>PowerPoint Presentation</vt:lpstr>
      <vt:lpstr>Scroll Bar</vt:lpstr>
      <vt:lpstr>PowerPoint Presentation</vt:lpstr>
      <vt:lpstr>Dialog Box</vt:lpstr>
      <vt:lpstr>PowerPoint Presentation</vt:lpstr>
      <vt:lpstr>PowerPoint Presentation</vt:lpstr>
      <vt:lpstr>Link to a file in word</vt:lpstr>
      <vt:lpstr>PowerPoint Presentation</vt:lpstr>
      <vt:lpstr>Clipboard</vt:lpstr>
      <vt:lpstr>PowerPoint Presentation</vt:lpstr>
      <vt:lpstr>PowerPoint Presentation</vt:lpstr>
      <vt:lpstr>PowerPoint Presentation</vt:lpstr>
      <vt:lpstr>Help Menu</vt:lpstr>
      <vt:lpstr>Word Processing Software:</vt:lpstr>
      <vt:lpstr>PowerPoint Presentation</vt:lpstr>
      <vt:lpstr>PowerPoint Presentation</vt:lpstr>
      <vt:lpstr>Spreadsheet Software:</vt:lpstr>
      <vt:lpstr>PowerPoint Presentation</vt:lpstr>
      <vt:lpstr>PowerPoint Presentation</vt:lpstr>
      <vt:lpstr>Presentation Software:</vt:lpstr>
      <vt:lpstr>PowerPoint Presentation</vt:lpstr>
      <vt:lpstr>PowerPoint Presentation</vt:lpstr>
      <vt:lpstr>PowerPoint Presentation</vt:lpstr>
      <vt:lpstr>Database Management System Software: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Statistical Packages:</vt:lpstr>
      <vt:lpstr>Accounting Packages:</vt:lpstr>
      <vt:lpstr>Communication Packages:</vt:lpstr>
      <vt:lpstr>PowerPoint Presentation</vt:lpstr>
      <vt:lpstr>COMPUTER NETWORKS</vt:lpstr>
      <vt:lpstr>COMPUTER NETWORKS</vt:lpstr>
      <vt:lpstr>COMPUTER NETWORKS</vt:lpstr>
      <vt:lpstr>TYPES OF COMPUTER NETWORKS</vt:lpstr>
      <vt:lpstr>COMPUTER NETWORKS</vt:lpstr>
      <vt:lpstr>NETWORK TOPOLOGY</vt:lpstr>
      <vt:lpstr>MESH TOPOLOGY</vt:lpstr>
      <vt:lpstr>MESH TOPOLOGY</vt:lpstr>
      <vt:lpstr>STAR TOPOLOGY</vt:lpstr>
      <vt:lpstr>STAR TOPOLOGY</vt:lpstr>
      <vt:lpstr>BUS TOPOLOGY</vt:lpstr>
      <vt:lpstr>BUS TOPOLOGY</vt:lpstr>
      <vt:lpstr>PowerPoint Presentation</vt:lpstr>
      <vt:lpstr>PowerPoint Presentation</vt:lpstr>
      <vt:lpstr>PowerPoint Presentation</vt:lpstr>
      <vt:lpstr>THE WINDOWS OPERATING SYSTEM</vt:lpstr>
      <vt:lpstr>Windows as an Operating System</vt:lpstr>
      <vt:lpstr>Windows as an Operating System</vt:lpstr>
      <vt:lpstr>The Windows 7 Desktop</vt:lpstr>
      <vt:lpstr>The Windows 7 Desktop</vt:lpstr>
      <vt:lpstr>The Windows 7 Desktop</vt:lpstr>
      <vt:lpstr>The Windows 7 Desktop</vt:lpstr>
      <vt:lpstr>The Windows 7 Desktop</vt:lpstr>
      <vt:lpstr>The Start Menu</vt:lpstr>
      <vt:lpstr>The Start Menu</vt:lpstr>
      <vt:lpstr>The Start Menu</vt:lpstr>
      <vt:lpstr>The Icons</vt:lpstr>
      <vt:lpstr>Opening a program using an icon</vt:lpstr>
      <vt:lpstr>The Taskbar</vt:lpstr>
      <vt:lpstr>The Taskbar</vt:lpstr>
      <vt:lpstr>The Taskbar</vt:lpstr>
      <vt:lpstr>Log On/Off and Switch Users</vt:lpstr>
      <vt:lpstr>Log On/Off and Switch Users</vt:lpstr>
      <vt:lpstr>Log On/Off and Switch Users</vt:lpstr>
      <vt:lpstr>Log On/Off ,Switch Users or Restart</vt:lpstr>
      <vt:lpstr>Log On/Off and Switch Users</vt:lpstr>
      <vt:lpstr>Turning Off and Restarting the  Computer</vt:lpstr>
      <vt:lpstr>Turning Off and Restarting the  Computer</vt:lpstr>
      <vt:lpstr>Running Programs</vt:lpstr>
      <vt:lpstr>Running Programs</vt:lpstr>
      <vt:lpstr>Launching Microsoft Word from the  Start menu</vt:lpstr>
      <vt:lpstr>Launching Microsoft Word from the  Start menu</vt:lpstr>
      <vt:lpstr>Windows 7 Bars and Buttons</vt:lpstr>
      <vt:lpstr>Windows 7 Bars and Buttons</vt:lpstr>
      <vt:lpstr>Windows 7 Bars and Buttons</vt:lpstr>
      <vt:lpstr>Windows 7 Bars and Buttons</vt:lpstr>
      <vt:lpstr>Minimizing, Maximizing, and Restoring Windows</vt:lpstr>
      <vt:lpstr>PowerPoint Presentation</vt:lpstr>
      <vt:lpstr>PowerPoint Presentation</vt:lpstr>
      <vt:lpstr>Sizing Windows</vt:lpstr>
      <vt:lpstr>Sizing Windows</vt:lpstr>
      <vt:lpstr>Sizing Windows</vt:lpstr>
      <vt:lpstr>Sizing Windows</vt:lpstr>
      <vt:lpstr>Sizing Windows</vt:lpstr>
      <vt:lpstr>Moving a Window</vt:lpstr>
      <vt:lpstr>Moving a Window</vt:lpstr>
      <vt:lpstr>Moving a Window</vt:lpstr>
      <vt:lpstr>Moving a Window</vt:lpstr>
      <vt:lpstr>Moving a Window</vt:lpstr>
      <vt:lpstr>Switching Between Windows</vt:lpstr>
      <vt:lpstr>Switching Between Windows</vt:lpstr>
      <vt:lpstr>Switching Between Windows</vt:lpstr>
      <vt:lpstr>PowerPoint Presentation</vt:lpstr>
      <vt:lpstr>Switching Between Windows</vt:lpstr>
      <vt:lpstr>Switching Using the Keyboard Method</vt:lpstr>
      <vt:lpstr>Switching Using the Keyboard Method</vt:lpstr>
      <vt:lpstr>More Windows 7 Bars and Buttons</vt:lpstr>
      <vt:lpstr>More Windows 7 Bars and Buttons</vt:lpstr>
      <vt:lpstr>More Windows 7 Bars and Buttons</vt:lpstr>
      <vt:lpstr>Scrolling</vt:lpstr>
      <vt:lpstr>Scrolling</vt:lpstr>
      <vt:lpstr>Scrolling</vt:lpstr>
      <vt:lpstr>The Control Panel</vt:lpstr>
      <vt:lpstr>To do any of the functions mentioned above, you will have 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Changing the Wallpaper</vt:lpstr>
      <vt:lpstr>PowerPoint Presentation</vt:lpstr>
      <vt:lpstr>PowerPoint Presentation</vt:lpstr>
      <vt:lpstr>To set your screen saver properties,</vt:lpstr>
      <vt:lpstr>Click the arrow to open a</vt:lpstr>
      <vt:lpstr>The taskbar has a default settings or  appearance; however, you can  customize the taskbar to appear the  way you want. To do so simply,</vt:lpstr>
      <vt:lpstr>PowerPoint Presentation</vt:lpstr>
      <vt:lpstr>File Management</vt:lpstr>
      <vt:lpstr>PowerPoint Presentation</vt:lpstr>
      <vt:lpstr>Name your document  “new document.”</vt:lpstr>
      <vt:lpstr>To rename a file,</vt:lpstr>
      <vt:lpstr>PowerPoint Presentation</vt:lpstr>
      <vt:lpstr>PowerPoint Presentation</vt:lpstr>
      <vt:lpstr>Folders</vt:lpstr>
      <vt:lpstr>To open and view the contents of a file:</vt:lpstr>
      <vt:lpstr>Alternatively, you may</vt:lpstr>
      <vt:lpstr>Creating, Renaming, and Deleting Folders  At some point, you may want to create a folder within  a folder or create a folder on the desktop.</vt:lpstr>
      <vt:lpstr>Alternatively,</vt:lpstr>
      <vt:lpstr>PowerPoint Presentation</vt:lpstr>
      <vt:lpstr>PowerPoint Presentation</vt:lpstr>
      <vt:lpstr>PowerPoint Presentation</vt:lpstr>
      <vt:lpstr>PowerPoint Presentation</vt:lpstr>
      <vt:lpstr>Copying Files and Folders</vt:lpstr>
      <vt:lpstr>OR</vt:lpstr>
      <vt:lpstr>PowerPoint Presentation</vt:lpstr>
      <vt:lpstr>Moving Files and Folders The difference between copying a file and moving a file is that while the copy  makes a duplicate copy of the original file to the new location, the move on the  other hand remove the file from its present location and send it to its new  location.</vt:lpstr>
      <vt:lpstr>OR</vt:lpstr>
      <vt:lpstr>PowerPoint Presentation</vt:lpstr>
      <vt:lpstr>You can display them as thumbnails, tiles, large icons, small  icons, as a list, or as a list (Details) with details including  size, type and date last modified. To choose the view for your files or folders:</vt:lpstr>
      <vt:lpstr>PowerPoint Presentation</vt:lpstr>
      <vt:lpstr>PowerPoint Presentation</vt:lpstr>
      <vt:lpstr>The quickest way of creating a shortcut requires a right-click. To add a shortcut by right-clicking:</vt:lpstr>
      <vt:lpstr>The Recycle Bin</vt:lpstr>
      <vt:lpstr>PowerPoint Presentation</vt:lpstr>
      <vt:lpstr>PowerPoint Presentation</vt:lpstr>
      <vt:lpstr>PowerPoint Presentation</vt:lpstr>
      <vt:lpstr>At times, it is possible for one not to remember where an item on his/her  computer can be located. This is normally the case when you have too many  folders and folders within folders. Windows 7 has a search facility that makes it  possible to look for files and folders whenever you are in trouble looking for a file  by using the Search Companion.</vt:lpstr>
      <vt:lpstr>To search using the Search Companion: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</dc:title>
  <dc:creator>Kwaku Agyepong Pabbi</dc:creator>
  <cp:lastModifiedBy>CS</cp:lastModifiedBy>
  <cp:revision>21</cp:revision>
  <dcterms:created xsi:type="dcterms:W3CDTF">2021-01-17T20:38:00Z</dcterms:created>
  <dcterms:modified xsi:type="dcterms:W3CDTF">2021-03-12T19:08:47Z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2021-01-17T00:00:00Z</vt:filetime>
  </property>
</Properties>
</file>