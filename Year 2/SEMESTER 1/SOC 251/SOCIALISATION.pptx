
<file path=[Content_Types].xml><?xml version="1.0" encoding="utf-8"?>
<Types xmlns="http://schemas.openxmlformats.org/package/2006/content-types">
  <Override PartName="/ppt/slides/slide6.xml" ContentType="application/vnd.openxmlformats-officedocument.presentationml.slide+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slides/slide1.xml" ContentType="application/vnd.openxmlformats-officedocument.presentationml.slide+xml"/>
  <Override PartName="/ppt/slides/slide2.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Override PartName="/ppt/slides/slide5.xml" ContentType="application/vnd.openxmlformats-officedocument.presentationml.slide+xml"/>
  <Override PartName="/ppt/slides/slide19.xml" ContentType="application/vnd.openxmlformats-officedocument.presentationml.slide+xml"/>
  <Override PartName="/ppt/slideLayouts/slideLayout7.xml" ContentType="application/vnd.openxmlformats-officedocument.presentationml.slideLayout+xml"/>
  <Default Extension="png" ContentType="image/png"/>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9"/>
  </p:notesMasterIdLst>
  <p:sldIdLst>
    <p:sldId id="288" r:id="rId2"/>
    <p:sldId id="257" r:id="rId3"/>
    <p:sldId id="258" r:id="rId4"/>
    <p:sldId id="259" r:id="rId5"/>
    <p:sldId id="261" r:id="rId6"/>
    <p:sldId id="262" r:id="rId7"/>
    <p:sldId id="272" r:id="rId8"/>
    <p:sldId id="293" r:id="rId9"/>
    <p:sldId id="273" r:id="rId10"/>
    <p:sldId id="291" r:id="rId11"/>
    <p:sldId id="274" r:id="rId12"/>
    <p:sldId id="275" r:id="rId13"/>
    <p:sldId id="276" r:id="rId14"/>
    <p:sldId id="277" r:id="rId15"/>
    <p:sldId id="278" r:id="rId16"/>
    <p:sldId id="279" r:id="rId17"/>
    <p:sldId id="280" r:id="rId18"/>
    <p:sldId id="292" r:id="rId19"/>
    <p:sldId id="296" r:id="rId20"/>
    <p:sldId id="281" r:id="rId21"/>
    <p:sldId id="282" r:id="rId22"/>
    <p:sldId id="283" r:id="rId23"/>
    <p:sldId id="284" r:id="rId24"/>
    <p:sldId id="285" r:id="rId25"/>
    <p:sldId id="290" r:id="rId26"/>
    <p:sldId id="287" r:id="rId27"/>
    <p:sldId id="294" r:id="rId28"/>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xmlns="" val="0"/>
    </p:ext>
    <p:ext uri="{D31A062A-798A-4329-ABDD-BBA856620510}">
      <p14:defaultImageDpi xmlns:p14="http://schemas.microsoft.com/office/powerpoint/2010/main" xmlns=""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68" d="100"/>
          <a:sy n="68" d="100"/>
        </p:scale>
        <p:origin x="-1446" y="-96"/>
      </p:cViewPr>
      <p:guideLst>
        <p:guide orient="horz" pos="2160"/>
        <p:guide pos="2880"/>
      </p:guideLst>
    </p:cSldViewPr>
  </p:slideViewPr>
  <p:notesTextViewPr>
    <p:cViewPr>
      <p:scale>
        <a:sx n="1" d="1"/>
        <a:sy n="1" d="1"/>
      </p:scale>
      <p:origin x="0" y="0"/>
    </p:cViewPr>
  </p:notesTextViewPr>
  <p:gridSpacing cx="78028800" cy="780288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EAF96A95-E44E-49C5-8E74-519BCA2C6A8D}" type="datetimeFigureOut">
              <a:rPr lang="en-US" smtClean="0"/>
              <a:t>10-Oct-19</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1A6C53A2-3E43-4FBD-B57A-F6BE9D736E2E}" type="slidenum">
              <a:rPr lang="en-US" smtClean="0"/>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A1C608D9-419E-41A0-A5DF-8CAF627B9496}" type="datetimeFigureOut">
              <a:rPr lang="en-US" smtClean="0"/>
              <a:pPr/>
              <a:t>10-Oct-19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E43A97F-A46B-4418-BCBF-AB3CEFA85EF0}" type="slidenum">
              <a:rPr lang="en-US" smtClean="0"/>
              <a:pPr/>
              <a:t>‹#›</a:t>
            </a:fld>
            <a:endParaRPr lang="en-US"/>
          </a:p>
        </p:txBody>
      </p:sp>
    </p:spTree>
    <p:extLst>
      <p:ext uri="{BB962C8B-B14F-4D97-AF65-F5344CB8AC3E}">
        <p14:creationId xmlns:p14="http://schemas.microsoft.com/office/powerpoint/2010/main" xmlns="" val="130982443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A1C608D9-419E-41A0-A5DF-8CAF627B9496}" type="datetimeFigureOut">
              <a:rPr lang="en-US" smtClean="0"/>
              <a:pPr/>
              <a:t>10-Oct-19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E43A97F-A46B-4418-BCBF-AB3CEFA85EF0}" type="slidenum">
              <a:rPr lang="en-US" smtClean="0"/>
              <a:pPr/>
              <a:t>‹#›</a:t>
            </a:fld>
            <a:endParaRPr lang="en-US"/>
          </a:p>
        </p:txBody>
      </p:sp>
    </p:spTree>
    <p:extLst>
      <p:ext uri="{BB962C8B-B14F-4D97-AF65-F5344CB8AC3E}">
        <p14:creationId xmlns:p14="http://schemas.microsoft.com/office/powerpoint/2010/main" xmlns="" val="115892710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A1C608D9-419E-41A0-A5DF-8CAF627B9496}" type="datetimeFigureOut">
              <a:rPr lang="en-US" smtClean="0"/>
              <a:pPr/>
              <a:t>10-Oct-19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E43A97F-A46B-4418-BCBF-AB3CEFA85EF0}" type="slidenum">
              <a:rPr lang="en-US" smtClean="0"/>
              <a:pPr/>
              <a:t>‹#›</a:t>
            </a:fld>
            <a:endParaRPr lang="en-US"/>
          </a:p>
        </p:txBody>
      </p:sp>
    </p:spTree>
    <p:extLst>
      <p:ext uri="{BB962C8B-B14F-4D97-AF65-F5344CB8AC3E}">
        <p14:creationId xmlns:p14="http://schemas.microsoft.com/office/powerpoint/2010/main" xmlns="" val="368867563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A1C608D9-419E-41A0-A5DF-8CAF627B9496}" type="datetimeFigureOut">
              <a:rPr lang="en-US" smtClean="0"/>
              <a:pPr/>
              <a:t>10-Oct-19</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E43A97F-A46B-4418-BCBF-AB3CEFA85EF0}" type="slidenum">
              <a:rPr lang="en-US" smtClean="0"/>
              <a:pPr/>
              <a:t>‹#›</a:t>
            </a:fld>
            <a:endParaRPr lang="en-US"/>
          </a:p>
        </p:txBody>
      </p:sp>
    </p:spTree>
    <p:extLst>
      <p:ext uri="{BB962C8B-B14F-4D97-AF65-F5344CB8AC3E}">
        <p14:creationId xmlns:p14="http://schemas.microsoft.com/office/powerpoint/2010/main" xmlns="" val="274968660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A1C608D9-419E-41A0-A5DF-8CAF627B9496}" type="datetimeFigureOut">
              <a:rPr lang="en-US" smtClean="0"/>
              <a:pPr/>
              <a:t>10-Oct-19</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7E43A97F-A46B-4418-BCBF-AB3CEFA85EF0}" type="slidenum">
              <a:rPr lang="en-US" smtClean="0"/>
              <a:pPr/>
              <a:t>‹#›</a:t>
            </a:fld>
            <a:endParaRPr lang="en-US"/>
          </a:p>
        </p:txBody>
      </p:sp>
    </p:spTree>
    <p:extLst>
      <p:ext uri="{BB962C8B-B14F-4D97-AF65-F5344CB8AC3E}">
        <p14:creationId xmlns:p14="http://schemas.microsoft.com/office/powerpoint/2010/main" xmlns="" val="391188486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A1C608D9-419E-41A0-A5DF-8CAF627B9496}" type="datetimeFigureOut">
              <a:rPr lang="en-US" smtClean="0"/>
              <a:pPr/>
              <a:t>10-Oct-19</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7E43A97F-A46B-4418-BCBF-AB3CEFA85EF0}" type="slidenum">
              <a:rPr lang="en-US" smtClean="0"/>
              <a:pPr/>
              <a:t>‹#›</a:t>
            </a:fld>
            <a:endParaRPr lang="en-US"/>
          </a:p>
        </p:txBody>
      </p:sp>
    </p:spTree>
    <p:extLst>
      <p:ext uri="{BB962C8B-B14F-4D97-AF65-F5344CB8AC3E}">
        <p14:creationId xmlns:p14="http://schemas.microsoft.com/office/powerpoint/2010/main" xmlns="" val="109508850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1C608D9-419E-41A0-A5DF-8CAF627B9496}" type="datetimeFigureOut">
              <a:rPr lang="en-US" smtClean="0"/>
              <a:pPr/>
              <a:t>10-Oct-19</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7E43A97F-A46B-4418-BCBF-AB3CEFA85EF0}" type="slidenum">
              <a:rPr lang="en-US" smtClean="0"/>
              <a:pPr/>
              <a:t>‹#›</a:t>
            </a:fld>
            <a:endParaRPr lang="en-US"/>
          </a:p>
        </p:txBody>
      </p:sp>
    </p:spTree>
    <p:extLst>
      <p:ext uri="{BB962C8B-B14F-4D97-AF65-F5344CB8AC3E}">
        <p14:creationId xmlns:p14="http://schemas.microsoft.com/office/powerpoint/2010/main" xmlns="" val="40335121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A1C608D9-419E-41A0-A5DF-8CAF627B9496}" type="datetimeFigureOut">
              <a:rPr lang="en-US" smtClean="0"/>
              <a:pPr/>
              <a:t>10-Oct-19</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E43A97F-A46B-4418-BCBF-AB3CEFA85EF0}" type="slidenum">
              <a:rPr lang="en-US" smtClean="0"/>
              <a:pPr/>
              <a:t>‹#›</a:t>
            </a:fld>
            <a:endParaRPr lang="en-US"/>
          </a:p>
        </p:txBody>
      </p:sp>
    </p:spTree>
    <p:extLst>
      <p:ext uri="{BB962C8B-B14F-4D97-AF65-F5344CB8AC3E}">
        <p14:creationId xmlns:p14="http://schemas.microsoft.com/office/powerpoint/2010/main" xmlns="" val="24740338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A1C608D9-419E-41A0-A5DF-8CAF627B9496}" type="datetimeFigureOut">
              <a:rPr lang="en-US" smtClean="0"/>
              <a:pPr/>
              <a:t>10-Oct-19</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E43A97F-A46B-4418-BCBF-AB3CEFA85EF0}" type="slidenum">
              <a:rPr lang="en-US" smtClean="0"/>
              <a:pPr/>
              <a:t>‹#›</a:t>
            </a:fld>
            <a:endParaRPr lang="en-US"/>
          </a:p>
        </p:txBody>
      </p:sp>
    </p:spTree>
    <p:extLst>
      <p:ext uri="{BB962C8B-B14F-4D97-AF65-F5344CB8AC3E}">
        <p14:creationId xmlns:p14="http://schemas.microsoft.com/office/powerpoint/2010/main" xmlns="" val="333245334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A1C608D9-419E-41A0-A5DF-8CAF627B9496}" type="datetimeFigureOut">
              <a:rPr lang="en-US" smtClean="0"/>
              <a:pPr/>
              <a:t>10-Oct-19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E43A97F-A46B-4418-BCBF-AB3CEFA85EF0}" type="slidenum">
              <a:rPr lang="en-US" smtClean="0"/>
              <a:pPr/>
              <a:t>‹#›</a:t>
            </a:fld>
            <a:endParaRPr lang="en-US"/>
          </a:p>
        </p:txBody>
      </p:sp>
    </p:spTree>
    <p:extLst>
      <p:ext uri="{BB962C8B-B14F-4D97-AF65-F5344CB8AC3E}">
        <p14:creationId xmlns:p14="http://schemas.microsoft.com/office/powerpoint/2010/main" xmlns="" val="172614699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A1C608D9-419E-41A0-A5DF-8CAF627B9496}" type="datetimeFigureOut">
              <a:rPr lang="en-US" smtClean="0"/>
              <a:pPr/>
              <a:t>10-Oct-19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E43A97F-A46B-4418-BCBF-AB3CEFA85EF0}" type="slidenum">
              <a:rPr lang="en-US" smtClean="0"/>
              <a:pPr/>
              <a:t>‹#›</a:t>
            </a:fld>
            <a:endParaRPr lang="en-US"/>
          </a:p>
        </p:txBody>
      </p:sp>
    </p:spTree>
    <p:extLst>
      <p:ext uri="{BB962C8B-B14F-4D97-AF65-F5344CB8AC3E}">
        <p14:creationId xmlns:p14="http://schemas.microsoft.com/office/powerpoint/2010/main" xmlns="" val="372038979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1C608D9-419E-41A0-A5DF-8CAF627B9496}" type="datetimeFigureOut">
              <a:rPr lang="en-US" smtClean="0"/>
              <a:pPr/>
              <a:t>10-Oct-19</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E43A97F-A46B-4418-BCBF-AB3CEFA85EF0}" type="slidenum">
              <a:rPr lang="en-US" smtClean="0"/>
              <a:pPr/>
              <a:t>‹#›</a:t>
            </a:fld>
            <a:endParaRPr lang="en-US"/>
          </a:p>
        </p:txBody>
      </p:sp>
    </p:spTree>
    <p:extLst>
      <p:ext uri="{BB962C8B-B14F-4D97-AF65-F5344CB8AC3E}">
        <p14:creationId xmlns:p14="http://schemas.microsoft.com/office/powerpoint/2010/main" xmlns="" val="294519859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8" Type="http://schemas.openxmlformats.org/officeDocument/2006/relationships/hyperlink" Target="http://www.google.co.nz/url?sa=i&amp;source=images&amp;cd=&amp;cad=rja&amp;uact=8&amp;docid=1tQC-37Ko0kIrM&amp;tbnid=5Vzd5aYFG_yEQM:&amp;ved=0CAgQjRw4JA&amp;url=http://sumagazine.syr.edu/2011summer/alumnijournal/covertocover.html&amp;ei=fBb0U9zpPJahugSdoYLQBQ&amp;psig=AFQjCNG97uXjVdfg4rJaElEFVzb_fD4lwQ&amp;ust=1408591869170621" TargetMode="External"/><Relationship Id="rId3" Type="http://schemas.openxmlformats.org/officeDocument/2006/relationships/image" Target="../media/image2.jpeg"/><Relationship Id="rId7" Type="http://schemas.openxmlformats.org/officeDocument/2006/relationships/image" Target="../media/image4.jpeg"/><Relationship Id="rId2" Type="http://schemas.openxmlformats.org/officeDocument/2006/relationships/hyperlink" Target="http://www.google.co.nz/url?sa=i&amp;source=images&amp;cd=&amp;cad=rja&amp;uact=8&amp;docid=-ES74fdVWWnsmM&amp;tbnid=yNq-0psQfBiQAM:&amp;ved=0CAgQjRw&amp;url=http://aloftyexistence.wordpress.com/2011/04/25/the-looking-glass-self-believing-is-becoming/&amp;ei=Whb0U536HdGdugTS-oCIDQ&amp;psig=AFQjCNFzjxh8cl4hj-SQ515a5bLgvwpAgw&amp;ust=1408591834766517" TargetMode="External"/><Relationship Id="rId1" Type="http://schemas.openxmlformats.org/officeDocument/2006/relationships/slideLayout" Target="../slideLayouts/slideLayout2.xml"/><Relationship Id="rId6" Type="http://schemas.openxmlformats.org/officeDocument/2006/relationships/hyperlink" Target="http://www.google.co.nz/url?sa=i&amp;source=images&amp;cd=&amp;cad=rja&amp;uact=8&amp;docid=MowbIFnfrj_fTM&amp;tbnid=argk2bFkxNQ60M:&amp;ved=0CAgQjRw4JA&amp;url=http://home.roadrunner.com/~nineboxes/other/lookingglass.html&amp;ei=dhb0U4GhJteJuATG_ILwCQ&amp;psig=AFQjCNHcWIdwp-359gVc2wUa_ItM7MuAxQ&amp;ust=1408591862793956" TargetMode="External"/><Relationship Id="rId5" Type="http://schemas.openxmlformats.org/officeDocument/2006/relationships/image" Target="../media/image3.jpeg"/><Relationship Id="rId4" Type="http://schemas.openxmlformats.org/officeDocument/2006/relationships/hyperlink" Target="http://www.google.co.nz/url?sa=i&amp;source=images&amp;cd=&amp;cad=rja&amp;uact=8&amp;docid=5zOJN3nN8OPmKM&amp;tbnid=et9N2LB3tsAwsM:&amp;ved=0CAgQjRw&amp;url=http://www.calldrmatt.com/LookingGlassSelf.htm&amp;ei=ZBb0U8uJGI6SuASFt4GwAg&amp;psig=AFQjCNEyaMHLW2PCgkjxvnhFwhW281kfOQ&amp;ust=1408591844570269" TargetMode="External"/><Relationship Id="rId9" Type="http://schemas.openxmlformats.org/officeDocument/2006/relationships/image" Target="../media/image5.jpe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latin typeface="Times New Roman" panose="02020603050405020304" pitchFamily="18" charset="0"/>
                <a:cs typeface="Times New Roman" panose="02020603050405020304" pitchFamily="18" charset="0"/>
              </a:rPr>
              <a:t>SOCIALISATION</a:t>
            </a:r>
            <a:endParaRPr lang="en-US" b="1" dirty="0"/>
          </a:p>
        </p:txBody>
      </p:sp>
      <p:sp>
        <p:nvSpPr>
          <p:cNvPr id="3" name="Content Placeholder 2"/>
          <p:cNvSpPr>
            <a:spLocks noGrp="1"/>
          </p:cNvSpPr>
          <p:nvPr>
            <p:ph idx="1"/>
          </p:nvPr>
        </p:nvSpPr>
        <p:spPr/>
        <p:txBody>
          <a:bodyPr>
            <a:normAutofit fontScale="92500" lnSpcReduction="10000"/>
          </a:bodyPr>
          <a:lstStyle/>
          <a:p>
            <a:r>
              <a:rPr lang="en-NZ" b="1" dirty="0" smtClean="0">
                <a:latin typeface="Times New Roman" panose="02020603050405020304" pitchFamily="18" charset="0"/>
                <a:cs typeface="Times New Roman" panose="02020603050405020304" pitchFamily="18" charset="0"/>
              </a:rPr>
              <a:t>Objectives:</a:t>
            </a:r>
          </a:p>
          <a:p>
            <a:pPr lvl="1"/>
            <a:r>
              <a:rPr lang="en-NZ" dirty="0">
                <a:latin typeface="Times New Roman" panose="02020603050405020304" pitchFamily="18" charset="0"/>
                <a:cs typeface="Times New Roman" panose="02020603050405020304" pitchFamily="18" charset="0"/>
              </a:rPr>
              <a:t>Understand the importance of socialization both for individuals and society</a:t>
            </a:r>
          </a:p>
          <a:p>
            <a:pPr lvl="1"/>
            <a:r>
              <a:rPr lang="en-NZ" dirty="0" smtClean="0">
                <a:latin typeface="Times New Roman" panose="02020603050405020304" pitchFamily="18" charset="0"/>
                <a:cs typeface="Times New Roman" panose="02020603050405020304" pitchFamily="18" charset="0"/>
              </a:rPr>
              <a:t>Explain the nature versus nurture debate</a:t>
            </a:r>
          </a:p>
          <a:p>
            <a:pPr lvl="1"/>
            <a:r>
              <a:rPr lang="en-NZ" dirty="0" smtClean="0">
                <a:latin typeface="Times New Roman" panose="02020603050405020304" pitchFamily="18" charset="0"/>
                <a:cs typeface="Times New Roman" panose="02020603050405020304" pitchFamily="18" charset="0"/>
              </a:rPr>
              <a:t>Learn </a:t>
            </a:r>
            <a:r>
              <a:rPr lang="en-NZ" dirty="0">
                <a:latin typeface="Times New Roman" panose="02020603050405020304" pitchFamily="18" charset="0"/>
                <a:cs typeface="Times New Roman" panose="02020603050405020304" pitchFamily="18" charset="0"/>
              </a:rPr>
              <a:t>the roles of families and peer groups in socialization</a:t>
            </a:r>
          </a:p>
          <a:p>
            <a:pPr lvl="1"/>
            <a:r>
              <a:rPr lang="en-NZ" dirty="0">
                <a:latin typeface="Times New Roman" panose="02020603050405020304" pitchFamily="18" charset="0"/>
                <a:cs typeface="Times New Roman" panose="02020603050405020304" pitchFamily="18" charset="0"/>
              </a:rPr>
              <a:t>Understand how we are socialized through formal institutions like schools, workplaces, and the government</a:t>
            </a:r>
          </a:p>
          <a:p>
            <a:pPr lvl="1"/>
            <a:r>
              <a:rPr lang="en-NZ" dirty="0">
                <a:latin typeface="Times New Roman" panose="02020603050405020304" pitchFamily="18" charset="0"/>
                <a:cs typeface="Times New Roman" panose="02020603050405020304" pitchFamily="18" charset="0"/>
              </a:rPr>
              <a:t>Explain how socialization occurs and recurs throughout </a:t>
            </a:r>
            <a:r>
              <a:rPr lang="en-NZ" dirty="0" smtClean="0">
                <a:latin typeface="Times New Roman" panose="02020603050405020304" pitchFamily="18" charset="0"/>
                <a:cs typeface="Times New Roman" panose="02020603050405020304" pitchFamily="18" charset="0"/>
              </a:rPr>
              <a:t>life</a:t>
            </a: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xmlns="" val="2740624079"/>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A6928155-DF22-46F5-BC36-D6115BCFF404}"/>
              </a:ext>
            </a:extLst>
          </p:cNvPr>
          <p:cNvSpPr>
            <a:spLocks noGrp="1"/>
          </p:cNvSpPr>
          <p:nvPr>
            <p:ph type="title"/>
          </p:nvPr>
        </p:nvSpPr>
        <p:spPr/>
        <p:txBody>
          <a:bodyPr/>
          <a:lstStyle/>
          <a:p>
            <a:pPr algn="ctr"/>
            <a:r>
              <a:rPr lang="en-US" b="1" dirty="0" smtClean="0">
                <a:latin typeface="Times New Roman" panose="02020603050405020304" pitchFamily="18" charset="0"/>
                <a:cs typeface="Times New Roman" panose="02020603050405020304" pitchFamily="18" charset="0"/>
              </a:rPr>
              <a:t>Intro: Socialisation</a:t>
            </a:r>
            <a:endParaRPr lang="en-US"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 xmlns:a16="http://schemas.microsoft.com/office/drawing/2014/main" id="{BD12197C-0FE6-4D49-9DB1-F0AC0F5876AA}"/>
              </a:ext>
            </a:extLst>
          </p:cNvPr>
          <p:cNvSpPr>
            <a:spLocks noGrp="1"/>
          </p:cNvSpPr>
          <p:nvPr>
            <p:ph idx="1"/>
          </p:nvPr>
        </p:nvSpPr>
        <p:spPr>
          <a:xfrm>
            <a:off x="457200" y="1600200"/>
            <a:ext cx="8229600" cy="4952999"/>
          </a:xfrm>
        </p:spPr>
        <p:txBody>
          <a:bodyPr>
            <a:normAutofit/>
          </a:bodyPr>
          <a:lstStyle/>
          <a:p>
            <a:pPr algn="just"/>
            <a:r>
              <a:rPr lang="en-NZ" dirty="0">
                <a:latin typeface="Times New Roman" panose="02020603050405020304" pitchFamily="18" charset="0"/>
                <a:cs typeface="Times New Roman" panose="02020603050405020304" pitchFamily="18" charset="0"/>
              </a:rPr>
              <a:t>W</a:t>
            </a:r>
            <a:r>
              <a:rPr lang="en-NZ" dirty="0" smtClean="0">
                <a:latin typeface="Times New Roman" panose="02020603050405020304" pitchFamily="18" charset="0"/>
                <a:cs typeface="Times New Roman" panose="02020603050405020304" pitchFamily="18" charset="0"/>
              </a:rPr>
              <a:t>e </a:t>
            </a:r>
            <a:r>
              <a:rPr lang="en-NZ" dirty="0">
                <a:latin typeface="Times New Roman" panose="02020603050405020304" pitchFamily="18" charset="0"/>
                <a:cs typeface="Times New Roman" panose="02020603050405020304" pitchFamily="18" charset="0"/>
              </a:rPr>
              <a:t>depend on social interaction to provide the information and skills that we need to be part of </a:t>
            </a:r>
            <a:r>
              <a:rPr lang="en-NZ" dirty="0" smtClean="0">
                <a:latin typeface="Times New Roman" panose="02020603050405020304" pitchFamily="18" charset="0"/>
                <a:cs typeface="Times New Roman" panose="02020603050405020304" pitchFamily="18" charset="0"/>
              </a:rPr>
              <a:t>society </a:t>
            </a:r>
            <a:r>
              <a:rPr lang="en-NZ" dirty="0">
                <a:latin typeface="Times New Roman" panose="02020603050405020304" pitchFamily="18" charset="0"/>
                <a:cs typeface="Times New Roman" panose="02020603050405020304" pitchFamily="18" charset="0"/>
              </a:rPr>
              <a:t>or even to develop a “self</a:t>
            </a:r>
            <a:r>
              <a:rPr lang="en-NZ" dirty="0" smtClean="0">
                <a:latin typeface="Times New Roman" panose="02020603050405020304" pitchFamily="18" charset="0"/>
                <a:cs typeface="Times New Roman" panose="02020603050405020304" pitchFamily="18" charset="0"/>
              </a:rPr>
              <a:t>.”</a:t>
            </a:r>
          </a:p>
        </p:txBody>
      </p:sp>
      <p:pic>
        <p:nvPicPr>
          <p:cNvPr id="1026" name="Picture 2"/>
          <p:cNvPicPr>
            <a:picLocks noChangeAspect="1" noChangeArrowheads="1"/>
          </p:cNvPicPr>
          <p:nvPr/>
        </p:nvPicPr>
        <p:blipFill>
          <a:blip r:embed="rId2" cstate="print">
            <a:extLst>
              <a:ext uri="{28A0092B-C50C-407E-A947-70E740481C1C}">
                <a14:useLocalDpi xmlns:a14="http://schemas.microsoft.com/office/drawing/2010/main" xmlns="" val="0"/>
              </a:ext>
            </a:extLst>
          </a:blip>
          <a:srcRect/>
          <a:stretch>
            <a:fillRect/>
          </a:stretch>
        </p:blipFill>
        <p:spPr bwMode="auto">
          <a:xfrm>
            <a:off x="1447800" y="3124200"/>
            <a:ext cx="6019800" cy="3429000"/>
          </a:xfrm>
          <a:prstGeom prst="rect">
            <a:avLst/>
          </a:prstGeom>
          <a:noFill/>
          <a:ln>
            <a:noFill/>
          </a:ln>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Lst>
        </p:spPr>
      </p:pic>
    </p:spTree>
    <p:extLst>
      <p:ext uri="{BB962C8B-B14F-4D97-AF65-F5344CB8AC3E}">
        <p14:creationId xmlns:p14="http://schemas.microsoft.com/office/powerpoint/2010/main" xmlns="" val="50843124"/>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3C29C7FB-1FB6-4F54-B9EB-0224158D40AF}"/>
              </a:ext>
            </a:extLst>
          </p:cNvPr>
          <p:cNvSpPr>
            <a:spLocks noGrp="1"/>
          </p:cNvSpPr>
          <p:nvPr>
            <p:ph type="title"/>
          </p:nvPr>
        </p:nvSpPr>
        <p:spPr/>
        <p:txBody>
          <a:bodyPr/>
          <a:lstStyle/>
          <a:p>
            <a:r>
              <a:rPr lang="en-US" b="1" dirty="0" smtClean="0">
                <a:latin typeface="Times New Roman" panose="02020603050405020304" pitchFamily="18" charset="0"/>
                <a:cs typeface="Times New Roman" panose="02020603050405020304" pitchFamily="18" charset="0"/>
              </a:rPr>
              <a:t>Socialization: Definition</a:t>
            </a:r>
            <a:endParaRPr lang="en-US"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 xmlns:a16="http://schemas.microsoft.com/office/drawing/2014/main" id="{0249B0A1-E39B-444A-ABAE-FC4F1B1FF034}"/>
              </a:ext>
            </a:extLst>
          </p:cNvPr>
          <p:cNvSpPr>
            <a:spLocks noGrp="1"/>
          </p:cNvSpPr>
          <p:nvPr>
            <p:ph idx="1"/>
          </p:nvPr>
        </p:nvSpPr>
        <p:spPr/>
        <p:txBody>
          <a:bodyPr>
            <a:normAutofit fontScale="92500"/>
          </a:bodyPr>
          <a:lstStyle/>
          <a:p>
            <a:pPr algn="just"/>
            <a:r>
              <a:rPr lang="en-NZ" dirty="0">
                <a:latin typeface="Times New Roman" panose="02020603050405020304" pitchFamily="18" charset="0"/>
                <a:cs typeface="Times New Roman" panose="02020603050405020304" pitchFamily="18" charset="0"/>
              </a:rPr>
              <a:t>It describes the ways that people come to understand societal norms and expectations, to accept society’s beliefs, and to be aware of societal values. </a:t>
            </a:r>
            <a:endParaRPr lang="en-NZ" dirty="0" smtClean="0">
              <a:latin typeface="Times New Roman" panose="02020603050405020304" pitchFamily="18" charset="0"/>
              <a:cs typeface="Times New Roman" panose="02020603050405020304" pitchFamily="18" charset="0"/>
            </a:endParaRPr>
          </a:p>
          <a:p>
            <a:pPr algn="just"/>
            <a:r>
              <a:rPr lang="en-US" dirty="0" smtClean="0">
                <a:latin typeface="Times New Roman" panose="02020603050405020304" pitchFamily="18" charset="0"/>
                <a:cs typeface="Times New Roman" panose="02020603050405020304" pitchFamily="18" charset="0"/>
              </a:rPr>
              <a:t>The </a:t>
            </a:r>
            <a:r>
              <a:rPr lang="en-US" dirty="0">
                <a:latin typeface="Times New Roman" panose="02020603050405020304" pitchFamily="18" charset="0"/>
                <a:cs typeface="Times New Roman" panose="02020603050405020304" pitchFamily="18" charset="0"/>
              </a:rPr>
              <a:t>process by which an individual develops into functioning member of the group according to its standards, conforming to its modes, observing its traditions and adjusting himself to the social situations (</a:t>
            </a:r>
            <a:r>
              <a:rPr lang="en-US" dirty="0" err="1">
                <a:latin typeface="Times New Roman" panose="02020603050405020304" pitchFamily="18" charset="0"/>
                <a:cs typeface="Times New Roman" panose="02020603050405020304" pitchFamily="18" charset="0"/>
              </a:rPr>
              <a:t>Gillin</a:t>
            </a:r>
            <a:r>
              <a:rPr lang="en-US" dirty="0">
                <a:latin typeface="Times New Roman" panose="02020603050405020304" pitchFamily="18" charset="0"/>
                <a:cs typeface="Times New Roman" panose="02020603050405020304" pitchFamily="18" charset="0"/>
              </a:rPr>
              <a:t> &amp; </a:t>
            </a:r>
            <a:r>
              <a:rPr lang="en-US" dirty="0" err="1">
                <a:latin typeface="Times New Roman" panose="02020603050405020304" pitchFamily="18" charset="0"/>
                <a:cs typeface="Times New Roman" panose="02020603050405020304" pitchFamily="18" charset="0"/>
              </a:rPr>
              <a:t>Gillin</a:t>
            </a:r>
            <a:r>
              <a:rPr lang="en-US" dirty="0">
                <a:latin typeface="Times New Roman" panose="02020603050405020304" pitchFamily="18" charset="0"/>
                <a:cs typeface="Times New Roman" panose="02020603050405020304" pitchFamily="18" charset="0"/>
              </a:rPr>
              <a:t>, 1968). </a:t>
            </a:r>
          </a:p>
        </p:txBody>
      </p:sp>
    </p:spTree>
    <p:extLst>
      <p:ext uri="{BB962C8B-B14F-4D97-AF65-F5344CB8AC3E}">
        <p14:creationId xmlns:p14="http://schemas.microsoft.com/office/powerpoint/2010/main" xmlns="" val="1124420381"/>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3ABDDC04-2689-4D03-9A10-B0089DFE2F04}"/>
              </a:ext>
            </a:extLst>
          </p:cNvPr>
          <p:cNvSpPr>
            <a:spLocks noGrp="1"/>
          </p:cNvSpPr>
          <p:nvPr>
            <p:ph type="title"/>
          </p:nvPr>
        </p:nvSpPr>
        <p:spPr/>
        <p:txBody>
          <a:bodyPr/>
          <a:lstStyle/>
          <a:p>
            <a:pPr algn="ctr"/>
            <a:r>
              <a:rPr lang="en-US" b="1" dirty="0">
                <a:latin typeface="Times New Roman" panose="02020603050405020304" pitchFamily="18" charset="0"/>
                <a:cs typeface="Times New Roman" panose="02020603050405020304" pitchFamily="18" charset="0"/>
              </a:rPr>
              <a:t>Socialisation as a Process</a:t>
            </a:r>
          </a:p>
        </p:txBody>
      </p:sp>
      <p:sp>
        <p:nvSpPr>
          <p:cNvPr id="3" name="Content Placeholder 2">
            <a:extLst>
              <a:ext uri="{FF2B5EF4-FFF2-40B4-BE49-F238E27FC236}">
                <a16:creationId xmlns="" xmlns:a16="http://schemas.microsoft.com/office/drawing/2014/main" id="{254D0959-5259-4E2B-A70A-DEC07520B618}"/>
              </a:ext>
            </a:extLst>
          </p:cNvPr>
          <p:cNvSpPr>
            <a:spLocks noGrp="1"/>
          </p:cNvSpPr>
          <p:nvPr>
            <p:ph idx="1"/>
          </p:nvPr>
        </p:nvSpPr>
        <p:spPr/>
        <p:txBody>
          <a:bodyPr>
            <a:normAutofit lnSpcReduction="10000"/>
          </a:bodyPr>
          <a:lstStyle/>
          <a:p>
            <a:pPr marL="0" indent="0">
              <a:buNone/>
            </a:pPr>
            <a:r>
              <a:rPr lang="en-US" sz="3600" dirty="0">
                <a:latin typeface="Times New Roman" panose="02020603050405020304" pitchFamily="18" charset="0"/>
                <a:cs typeface="Times New Roman" panose="02020603050405020304" pitchFamily="18" charset="0"/>
              </a:rPr>
              <a:t>Conceptualized in </a:t>
            </a:r>
            <a:r>
              <a:rPr lang="en-US" sz="3600" dirty="0" smtClean="0">
                <a:latin typeface="Times New Roman" panose="02020603050405020304" pitchFamily="18" charset="0"/>
                <a:cs typeface="Times New Roman" panose="02020603050405020304" pitchFamily="18" charset="0"/>
              </a:rPr>
              <a:t>three </a:t>
            </a:r>
            <a:r>
              <a:rPr lang="en-US" sz="3600" dirty="0">
                <a:latin typeface="Times New Roman" panose="02020603050405020304" pitchFamily="18" charset="0"/>
                <a:cs typeface="Times New Roman" panose="02020603050405020304" pitchFamily="18" charset="0"/>
              </a:rPr>
              <a:t>ways: </a:t>
            </a:r>
          </a:p>
          <a:p>
            <a:pPr marL="514350" indent="-514350">
              <a:buFont typeface="+mj-lt"/>
              <a:buAutoNum type="arabicPeriod"/>
            </a:pPr>
            <a:r>
              <a:rPr lang="en-US" sz="3600" dirty="0">
                <a:latin typeface="Times New Roman" panose="02020603050405020304" pitchFamily="18" charset="0"/>
                <a:cs typeface="Times New Roman" panose="02020603050405020304" pitchFamily="18" charset="0"/>
              </a:rPr>
              <a:t>It is a process of learning (formal and informal both). </a:t>
            </a:r>
          </a:p>
          <a:p>
            <a:pPr marL="514350" indent="-514350">
              <a:buFont typeface="+mj-lt"/>
              <a:buAutoNum type="arabicPeriod"/>
            </a:pPr>
            <a:r>
              <a:rPr lang="en-US" sz="3600" dirty="0">
                <a:latin typeface="Times New Roman" panose="02020603050405020304" pitchFamily="18" charset="0"/>
                <a:cs typeface="Times New Roman" panose="02020603050405020304" pitchFamily="18" charset="0"/>
              </a:rPr>
              <a:t>It is a process of personality formation and the development of self. </a:t>
            </a:r>
          </a:p>
          <a:p>
            <a:pPr marL="514350" indent="-514350">
              <a:buFont typeface="+mj-lt"/>
              <a:buAutoNum type="arabicPeriod"/>
            </a:pPr>
            <a:r>
              <a:rPr lang="en-US" sz="3600" dirty="0">
                <a:latin typeface="Times New Roman" panose="02020603050405020304" pitchFamily="18" charset="0"/>
                <a:cs typeface="Times New Roman" panose="02020603050405020304" pitchFamily="18" charset="0"/>
              </a:rPr>
              <a:t>It is a process of internalization of social norms (expectations), values, moral codes and ideals of society.</a:t>
            </a:r>
          </a:p>
        </p:txBody>
      </p:sp>
    </p:spTree>
    <p:extLst>
      <p:ext uri="{BB962C8B-B14F-4D97-AF65-F5344CB8AC3E}">
        <p14:creationId xmlns:p14="http://schemas.microsoft.com/office/powerpoint/2010/main" xmlns="" val="1096942934"/>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F0D69939-D76C-43E9-A357-728AD101CFC8}"/>
              </a:ext>
            </a:extLst>
          </p:cNvPr>
          <p:cNvSpPr>
            <a:spLocks noGrp="1"/>
          </p:cNvSpPr>
          <p:nvPr>
            <p:ph type="title"/>
          </p:nvPr>
        </p:nvSpPr>
        <p:spPr/>
        <p:txBody>
          <a:bodyPr/>
          <a:lstStyle/>
          <a:p>
            <a:pPr algn="ctr"/>
            <a:r>
              <a:rPr lang="en-US" b="1" dirty="0">
                <a:latin typeface="Times New Roman" panose="02020603050405020304" pitchFamily="18" charset="0"/>
                <a:cs typeface="Times New Roman" panose="02020603050405020304" pitchFamily="18" charset="0"/>
              </a:rPr>
              <a:t>Aims of Socialisation</a:t>
            </a:r>
          </a:p>
        </p:txBody>
      </p:sp>
      <p:sp>
        <p:nvSpPr>
          <p:cNvPr id="3" name="Content Placeholder 2">
            <a:extLst>
              <a:ext uri="{FF2B5EF4-FFF2-40B4-BE49-F238E27FC236}">
                <a16:creationId xmlns="" xmlns:a16="http://schemas.microsoft.com/office/drawing/2014/main" id="{7BA61191-7F45-489F-AE9B-504EBBE74F52}"/>
              </a:ext>
            </a:extLst>
          </p:cNvPr>
          <p:cNvSpPr>
            <a:spLocks noGrp="1"/>
          </p:cNvSpPr>
          <p:nvPr>
            <p:ph idx="1"/>
          </p:nvPr>
        </p:nvSpPr>
        <p:spPr/>
        <p:txBody>
          <a:bodyPr>
            <a:normAutofit fontScale="77500" lnSpcReduction="20000"/>
          </a:bodyPr>
          <a:lstStyle/>
          <a:p>
            <a:pPr marL="514350" indent="-514350" algn="just">
              <a:buFont typeface="+mj-lt"/>
              <a:buAutoNum type="arabicPeriod"/>
            </a:pPr>
            <a:r>
              <a:rPr lang="en-US" dirty="0">
                <a:latin typeface="Times New Roman" panose="02020603050405020304" pitchFamily="18" charset="0"/>
                <a:cs typeface="Times New Roman" panose="02020603050405020304" pitchFamily="18" charset="0"/>
              </a:rPr>
              <a:t>Inculcates basic disciplines ranging from toilet habits to the methods of science. </a:t>
            </a:r>
          </a:p>
          <a:p>
            <a:pPr marL="514350" indent="-514350" algn="just">
              <a:buFont typeface="+mj-lt"/>
              <a:buAutoNum type="arabicPeriod"/>
            </a:pPr>
            <a:r>
              <a:rPr lang="en-US" dirty="0">
                <a:latin typeface="Times New Roman" panose="02020603050405020304" pitchFamily="18" charset="0"/>
                <a:cs typeface="Times New Roman" panose="02020603050405020304" pitchFamily="18" charset="0"/>
              </a:rPr>
              <a:t>Develops skills and capacities needed to fit into the society. </a:t>
            </a:r>
          </a:p>
          <a:p>
            <a:pPr marL="514350" indent="-514350" algn="just">
              <a:buFont typeface="+mj-lt"/>
              <a:buAutoNum type="arabicPeriod"/>
            </a:pPr>
            <a:r>
              <a:rPr lang="en-US" dirty="0">
                <a:latin typeface="Times New Roman" panose="02020603050405020304" pitchFamily="18" charset="0"/>
                <a:cs typeface="Times New Roman" panose="02020603050405020304" pitchFamily="18" charset="0"/>
              </a:rPr>
              <a:t>Teaches social roles (responsibilities) and their supporting attitudes. </a:t>
            </a:r>
          </a:p>
          <a:p>
            <a:pPr marL="514350" indent="-514350" algn="just">
              <a:buFont typeface="+mj-lt"/>
              <a:buAutoNum type="arabicPeriod"/>
            </a:pPr>
            <a:r>
              <a:rPr lang="en-US" dirty="0">
                <a:latin typeface="Times New Roman" panose="02020603050405020304" pitchFamily="18" charset="0"/>
                <a:cs typeface="Times New Roman" panose="02020603050405020304" pitchFamily="18" charset="0"/>
              </a:rPr>
              <a:t>Instills aspirations and satisfies needs of the individual. </a:t>
            </a:r>
          </a:p>
          <a:p>
            <a:pPr marL="514350" indent="-514350" algn="just">
              <a:buFont typeface="+mj-lt"/>
              <a:buAutoNum type="arabicPeriod"/>
            </a:pPr>
            <a:r>
              <a:rPr lang="en-US" dirty="0">
                <a:latin typeface="Times New Roman" panose="02020603050405020304" pitchFamily="18" charset="0"/>
                <a:cs typeface="Times New Roman" panose="02020603050405020304" pitchFamily="18" charset="0"/>
              </a:rPr>
              <a:t>Helps the transmission of culture from generation to generation. </a:t>
            </a:r>
          </a:p>
          <a:p>
            <a:pPr marL="514350" indent="-514350" algn="just">
              <a:buFont typeface="+mj-lt"/>
              <a:buAutoNum type="arabicPeriod"/>
            </a:pPr>
            <a:r>
              <a:rPr lang="en-US" dirty="0">
                <a:latin typeface="Times New Roman" panose="02020603050405020304" pitchFamily="18" charset="0"/>
                <a:cs typeface="Times New Roman" panose="02020603050405020304" pitchFamily="18" charset="0"/>
              </a:rPr>
              <a:t>Develops a sense of identity and the capacity of independent thought and </a:t>
            </a:r>
            <a:r>
              <a:rPr lang="en-US" dirty="0" smtClean="0">
                <a:latin typeface="Times New Roman" panose="02020603050405020304" pitchFamily="18" charset="0"/>
                <a:cs typeface="Times New Roman" panose="02020603050405020304" pitchFamily="18" charset="0"/>
              </a:rPr>
              <a:t>actions</a:t>
            </a:r>
            <a:r>
              <a:rPr lang="en-US" dirty="0">
                <a:latin typeface="Times New Roman" panose="02020603050405020304" pitchFamily="18" charset="0"/>
                <a:cs typeface="Times New Roman" panose="02020603050405020304" pitchFamily="18" charset="0"/>
              </a:rPr>
              <a:t>.</a:t>
            </a:r>
          </a:p>
          <a:p>
            <a:pPr marL="514350" indent="-514350" algn="just">
              <a:buFont typeface="+mj-lt"/>
              <a:buAutoNum type="arabicPeriod"/>
            </a:pPr>
            <a:r>
              <a:rPr lang="en-US" dirty="0">
                <a:latin typeface="Times New Roman" panose="02020603050405020304" pitchFamily="18" charset="0"/>
                <a:cs typeface="Times New Roman" panose="02020603050405020304" pitchFamily="18" charset="0"/>
              </a:rPr>
              <a:t>Develops conscience. </a:t>
            </a:r>
          </a:p>
        </p:txBody>
      </p:sp>
    </p:spTree>
    <p:extLst>
      <p:ext uri="{BB962C8B-B14F-4D97-AF65-F5344CB8AC3E}">
        <p14:creationId xmlns:p14="http://schemas.microsoft.com/office/powerpoint/2010/main" xmlns="" val="3937014346"/>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C5FF37D6-8EC7-47EC-B750-7F29FDCDDE3D}"/>
              </a:ext>
            </a:extLst>
          </p:cNvPr>
          <p:cNvSpPr>
            <a:spLocks noGrp="1"/>
          </p:cNvSpPr>
          <p:nvPr>
            <p:ph type="title"/>
          </p:nvPr>
        </p:nvSpPr>
        <p:spPr/>
        <p:txBody>
          <a:bodyPr>
            <a:normAutofit fontScale="90000"/>
          </a:bodyPr>
          <a:lstStyle/>
          <a:p>
            <a:pPr algn="ctr"/>
            <a:r>
              <a:rPr lang="en-US" b="1" dirty="0"/>
              <a:t/>
            </a:r>
            <a:br>
              <a:rPr lang="en-US" b="1" dirty="0"/>
            </a:br>
            <a:r>
              <a:rPr lang="en-US" b="1" dirty="0">
                <a:latin typeface="Times New Roman" panose="02020603050405020304" pitchFamily="18" charset="0"/>
                <a:cs typeface="Times New Roman" panose="02020603050405020304" pitchFamily="18" charset="0"/>
              </a:rPr>
              <a:t>Forms (Types) of Socialisation </a:t>
            </a:r>
            <a:r>
              <a:rPr lang="en-US" dirty="0">
                <a:latin typeface="Times New Roman" panose="02020603050405020304" pitchFamily="18" charset="0"/>
                <a:cs typeface="Times New Roman" panose="02020603050405020304" pitchFamily="18" charset="0"/>
              </a:rPr>
              <a:t/>
            </a:r>
            <a:br>
              <a:rPr lang="en-US" dirty="0">
                <a:latin typeface="Times New Roman" panose="02020603050405020304" pitchFamily="18" charset="0"/>
                <a:cs typeface="Times New Roman" panose="02020603050405020304" pitchFamily="18" charset="0"/>
              </a:rPr>
            </a:br>
            <a:endParaRPr lang="en-US"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 xmlns:a16="http://schemas.microsoft.com/office/drawing/2014/main" id="{EB91F7DE-93FD-4DBD-B8BE-77CE9EB2BE14}"/>
              </a:ext>
            </a:extLst>
          </p:cNvPr>
          <p:cNvSpPr>
            <a:spLocks noGrp="1"/>
          </p:cNvSpPr>
          <p:nvPr>
            <p:ph idx="1"/>
          </p:nvPr>
        </p:nvSpPr>
        <p:spPr/>
        <p:txBody>
          <a:bodyPr>
            <a:normAutofit/>
          </a:bodyPr>
          <a:lstStyle/>
          <a:p>
            <a:pPr algn="just"/>
            <a:r>
              <a:rPr lang="en-US" sz="3200" dirty="0" smtClean="0">
                <a:latin typeface="Times New Roman" panose="02020603050405020304" pitchFamily="18" charset="0"/>
                <a:cs typeface="Times New Roman" panose="02020603050405020304" pitchFamily="18" charset="0"/>
              </a:rPr>
              <a:t>Primary </a:t>
            </a:r>
            <a:r>
              <a:rPr lang="en-US" sz="3200" dirty="0">
                <a:latin typeface="Times New Roman" panose="02020603050405020304" pitchFamily="18" charset="0"/>
                <a:cs typeface="Times New Roman" panose="02020603050405020304" pitchFamily="18" charset="0"/>
              </a:rPr>
              <a:t>socialization</a:t>
            </a:r>
            <a:r>
              <a:rPr lang="en-US" sz="3200" dirty="0" smtClean="0">
                <a:latin typeface="Times New Roman" panose="02020603050405020304" pitchFamily="18" charset="0"/>
                <a:cs typeface="Times New Roman" panose="02020603050405020304" pitchFamily="18" charset="0"/>
              </a:rPr>
              <a:t>. The family is an important agency. </a:t>
            </a:r>
          </a:p>
          <a:p>
            <a:pPr algn="just"/>
            <a:r>
              <a:rPr lang="en-US" sz="3200" dirty="0" smtClean="0">
                <a:latin typeface="Times New Roman" panose="02020603050405020304" pitchFamily="18" charset="0"/>
                <a:cs typeface="Times New Roman" panose="02020603050405020304" pitchFamily="18" charset="0"/>
              </a:rPr>
              <a:t>Secondary </a:t>
            </a:r>
            <a:r>
              <a:rPr lang="en-US" sz="3200" dirty="0">
                <a:latin typeface="Times New Roman" panose="02020603050405020304" pitchFamily="18" charset="0"/>
                <a:cs typeface="Times New Roman" panose="02020603050405020304" pitchFamily="18" charset="0"/>
              </a:rPr>
              <a:t>socialization occurs during the last years. </a:t>
            </a:r>
            <a:r>
              <a:rPr lang="en-US" sz="3200" dirty="0" smtClean="0">
                <a:latin typeface="Times New Roman" panose="02020603050405020304" pitchFamily="18" charset="0"/>
                <a:cs typeface="Times New Roman" panose="02020603050405020304" pitchFamily="18" charset="0"/>
              </a:rPr>
              <a:t>The </a:t>
            </a:r>
            <a:r>
              <a:rPr lang="en-US" sz="3200" dirty="0">
                <a:latin typeface="Times New Roman" panose="02020603050405020304" pitchFamily="18" charset="0"/>
                <a:cs typeface="Times New Roman" panose="02020603050405020304" pitchFamily="18" charset="0"/>
              </a:rPr>
              <a:t>school is an important </a:t>
            </a:r>
            <a:r>
              <a:rPr lang="en-US" sz="3200" dirty="0" smtClean="0">
                <a:latin typeface="Times New Roman" panose="02020603050405020304" pitchFamily="18" charset="0"/>
                <a:cs typeface="Times New Roman" panose="02020603050405020304" pitchFamily="18" charset="0"/>
              </a:rPr>
              <a:t>agency.</a:t>
            </a:r>
          </a:p>
          <a:p>
            <a:pPr algn="just"/>
            <a:r>
              <a:rPr lang="en-US" dirty="0" smtClean="0">
                <a:latin typeface="Times New Roman" panose="02020603050405020304" pitchFamily="18" charset="0"/>
                <a:cs typeface="Times New Roman" panose="02020603050405020304" pitchFamily="18" charset="0"/>
              </a:rPr>
              <a:t>Informal </a:t>
            </a:r>
            <a:r>
              <a:rPr lang="en-US" dirty="0">
                <a:latin typeface="Times New Roman" panose="02020603050405020304" pitchFamily="18" charset="0"/>
                <a:cs typeface="Times New Roman" panose="02020603050405020304" pitchFamily="18" charset="0"/>
              </a:rPr>
              <a:t>socialization: Takes place as a part of everyday </a:t>
            </a:r>
            <a:r>
              <a:rPr lang="en-US" dirty="0" smtClean="0">
                <a:latin typeface="Times New Roman" panose="02020603050405020304" pitchFamily="18" charset="0"/>
                <a:cs typeface="Times New Roman" panose="02020603050405020304" pitchFamily="18" charset="0"/>
              </a:rPr>
              <a:t>activity.</a:t>
            </a:r>
          </a:p>
          <a:p>
            <a:pPr algn="just"/>
            <a:r>
              <a:rPr lang="en-US" dirty="0" smtClean="0">
                <a:latin typeface="Times New Roman" panose="02020603050405020304" pitchFamily="18" charset="0"/>
                <a:cs typeface="Times New Roman" panose="02020603050405020304" pitchFamily="18" charset="0"/>
              </a:rPr>
              <a:t>Formal </a:t>
            </a:r>
            <a:r>
              <a:rPr lang="en-US" dirty="0">
                <a:latin typeface="Times New Roman" panose="02020603050405020304" pitchFamily="18" charset="0"/>
                <a:cs typeface="Times New Roman" panose="02020603050405020304" pitchFamily="18" charset="0"/>
              </a:rPr>
              <a:t>socialization: Acquisition of specific skills such as reading and writing</a:t>
            </a:r>
            <a:r>
              <a:rPr lang="en-US" dirty="0" smtClean="0">
                <a:latin typeface="Times New Roman" panose="02020603050405020304" pitchFamily="18" charset="0"/>
                <a:cs typeface="Times New Roman" panose="02020603050405020304" pitchFamily="18" charset="0"/>
              </a:rPr>
              <a:t>.</a:t>
            </a:r>
            <a:endParaRPr lang="en-US" sz="3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xmlns="" val="3691150461"/>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51839FB3-7ECA-4CCE-B4AE-CA62B200A46E}"/>
              </a:ext>
            </a:extLst>
          </p:cNvPr>
          <p:cNvSpPr>
            <a:spLocks noGrp="1"/>
          </p:cNvSpPr>
          <p:nvPr>
            <p:ph type="title"/>
          </p:nvPr>
        </p:nvSpPr>
        <p:spPr/>
        <p:txBody>
          <a:bodyPr>
            <a:normAutofit/>
          </a:bodyPr>
          <a:lstStyle/>
          <a:p>
            <a:pPr algn="ctr"/>
            <a:r>
              <a:rPr lang="en-US" b="1" dirty="0" smtClean="0">
                <a:latin typeface="Times New Roman" panose="02020603050405020304" pitchFamily="18" charset="0"/>
                <a:cs typeface="Times New Roman" panose="02020603050405020304" pitchFamily="18" charset="0"/>
              </a:rPr>
              <a:t>Theories </a:t>
            </a:r>
            <a:r>
              <a:rPr lang="en-US" b="1" dirty="0">
                <a:latin typeface="Times New Roman" panose="02020603050405020304" pitchFamily="18" charset="0"/>
                <a:cs typeface="Times New Roman" panose="02020603050405020304" pitchFamily="18" charset="0"/>
              </a:rPr>
              <a:t>of </a:t>
            </a:r>
            <a:r>
              <a:rPr lang="en-US" b="1" dirty="0" smtClean="0">
                <a:latin typeface="Times New Roman" panose="02020603050405020304" pitchFamily="18" charset="0"/>
                <a:cs typeface="Times New Roman" panose="02020603050405020304" pitchFamily="18" charset="0"/>
              </a:rPr>
              <a:t>Socialization</a:t>
            </a:r>
            <a:endParaRPr lang="en-US"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 xmlns:a16="http://schemas.microsoft.com/office/drawing/2014/main" id="{EED4BAFB-4465-4072-B708-376330CEC7EA}"/>
              </a:ext>
            </a:extLst>
          </p:cNvPr>
          <p:cNvSpPr>
            <a:spLocks noGrp="1"/>
          </p:cNvSpPr>
          <p:nvPr>
            <p:ph idx="1"/>
          </p:nvPr>
        </p:nvSpPr>
        <p:spPr/>
        <p:txBody>
          <a:bodyPr>
            <a:normAutofit/>
          </a:bodyPr>
          <a:lstStyle/>
          <a:p>
            <a:pPr marL="514350" indent="-514350">
              <a:buFont typeface="+mj-lt"/>
              <a:buAutoNum type="arabicPeriod"/>
            </a:pPr>
            <a:r>
              <a:rPr lang="en-US" sz="3200" dirty="0" smtClean="0">
                <a:latin typeface="Times New Roman" panose="02020603050405020304" pitchFamily="18" charset="0"/>
                <a:cs typeface="Times New Roman" panose="02020603050405020304" pitchFamily="18" charset="0"/>
              </a:rPr>
              <a:t>Sigmund </a:t>
            </a:r>
            <a:r>
              <a:rPr lang="en-US" sz="3200" dirty="0">
                <a:latin typeface="Times New Roman" panose="02020603050405020304" pitchFamily="18" charset="0"/>
                <a:cs typeface="Times New Roman" panose="02020603050405020304" pitchFamily="18" charset="0"/>
              </a:rPr>
              <a:t>Freud's </a:t>
            </a:r>
            <a:r>
              <a:rPr lang="en-US" sz="3200" b="1" i="1" dirty="0">
                <a:latin typeface="Times New Roman" panose="02020603050405020304" pitchFamily="18" charset="0"/>
                <a:cs typeface="Times New Roman" panose="02020603050405020304" pitchFamily="18" charset="0"/>
              </a:rPr>
              <a:t>Stages of Psychosexual </a:t>
            </a:r>
            <a:r>
              <a:rPr lang="en-US" sz="3200" b="1" i="1" dirty="0" smtClean="0">
                <a:latin typeface="Times New Roman" panose="02020603050405020304" pitchFamily="18" charset="0"/>
                <a:cs typeface="Times New Roman" panose="02020603050405020304" pitchFamily="18" charset="0"/>
              </a:rPr>
              <a:t>Development</a:t>
            </a:r>
          </a:p>
          <a:p>
            <a:pPr marL="514350" indent="-514350">
              <a:buFont typeface="+mj-lt"/>
              <a:buAutoNum type="arabicPeriod"/>
            </a:pPr>
            <a:endParaRPr lang="en-US" b="1" i="1" dirty="0">
              <a:latin typeface="Times New Roman" panose="02020603050405020304" pitchFamily="18" charset="0"/>
              <a:cs typeface="Times New Roman" panose="02020603050405020304" pitchFamily="18" charset="0"/>
            </a:endParaRPr>
          </a:p>
          <a:p>
            <a:pPr marL="514350" indent="-514350">
              <a:buFont typeface="+mj-lt"/>
              <a:buAutoNum type="arabicPeriod"/>
            </a:pPr>
            <a:r>
              <a:rPr lang="en-US" sz="3200" dirty="0" smtClean="0">
                <a:latin typeface="Times New Roman" panose="02020603050405020304" pitchFamily="18" charset="0"/>
                <a:cs typeface="Times New Roman" panose="02020603050405020304" pitchFamily="18" charset="0"/>
              </a:rPr>
              <a:t>Charles </a:t>
            </a:r>
            <a:r>
              <a:rPr lang="en-US" sz="3200" dirty="0">
                <a:latin typeface="Times New Roman" panose="02020603050405020304" pitchFamily="18" charset="0"/>
                <a:cs typeface="Times New Roman" panose="02020603050405020304" pitchFamily="18" charset="0"/>
              </a:rPr>
              <a:t>Horton Cooley’s </a:t>
            </a:r>
            <a:r>
              <a:rPr lang="en-US" sz="3200" b="1" i="1" dirty="0">
                <a:latin typeface="Times New Roman" panose="02020603050405020304" pitchFamily="18" charset="0"/>
                <a:cs typeface="Times New Roman" panose="02020603050405020304" pitchFamily="18" charset="0"/>
              </a:rPr>
              <a:t>Theory of Looking Glass Self</a:t>
            </a:r>
            <a:r>
              <a:rPr lang="en-US" sz="3200" dirty="0">
                <a:latin typeface="Times New Roman" panose="02020603050405020304" pitchFamily="18" charset="0"/>
                <a:cs typeface="Times New Roman" panose="02020603050405020304" pitchFamily="18" charset="0"/>
              </a:rPr>
              <a:t>. </a:t>
            </a:r>
          </a:p>
        </p:txBody>
      </p:sp>
    </p:spTree>
    <p:extLst>
      <p:ext uri="{BB962C8B-B14F-4D97-AF65-F5344CB8AC3E}">
        <p14:creationId xmlns:p14="http://schemas.microsoft.com/office/powerpoint/2010/main" xmlns="" val="3286345432"/>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b="1" dirty="0" smtClean="0">
                <a:latin typeface="Times New Roman" panose="02020603050405020304" pitchFamily="18" charset="0"/>
                <a:cs typeface="Times New Roman" panose="02020603050405020304" pitchFamily="18" charset="0"/>
              </a:rPr>
              <a:t>Psychological Perspectives on </a:t>
            </a:r>
            <a:r>
              <a:rPr lang="en-US" b="1" dirty="0">
                <a:latin typeface="Times New Roman" panose="02020603050405020304" pitchFamily="18" charset="0"/>
                <a:cs typeface="Times New Roman" panose="02020603050405020304" pitchFamily="18" charset="0"/>
              </a:rPr>
              <a:t>Self </a:t>
            </a:r>
            <a:r>
              <a:rPr lang="en-US" b="1" dirty="0" smtClean="0">
                <a:latin typeface="Times New Roman" panose="02020603050405020304" pitchFamily="18" charset="0"/>
                <a:cs typeface="Times New Roman" panose="02020603050405020304" pitchFamily="18" charset="0"/>
              </a:rPr>
              <a:t>Development</a:t>
            </a:r>
            <a:endParaRPr lang="en-US" b="1"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lstStyle/>
          <a:p>
            <a:r>
              <a:rPr lang="en-NZ" dirty="0">
                <a:latin typeface="Times New Roman" panose="02020603050405020304" pitchFamily="18" charset="0"/>
                <a:cs typeface="Times New Roman" panose="02020603050405020304" pitchFamily="18" charset="0"/>
              </a:rPr>
              <a:t>Psychoanalyst Sigmund Freud (1856–1939) was one of the most influential modern scientists to put forth a theory about how people develop a sense of </a:t>
            </a:r>
            <a:r>
              <a:rPr lang="en-NZ" b="1" dirty="0">
                <a:latin typeface="Times New Roman" panose="02020603050405020304" pitchFamily="18" charset="0"/>
                <a:cs typeface="Times New Roman" panose="02020603050405020304" pitchFamily="18" charset="0"/>
              </a:rPr>
              <a:t>self</a:t>
            </a:r>
            <a:r>
              <a:rPr lang="en-NZ" dirty="0">
                <a:latin typeface="Times New Roman" panose="02020603050405020304" pitchFamily="18" charset="0"/>
                <a:cs typeface="Times New Roman" panose="02020603050405020304" pitchFamily="18" charset="0"/>
              </a:rPr>
              <a:t>. </a:t>
            </a: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xmlns="" val="2037207837"/>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76D4440F-9144-4A82-A78E-29A5E09B1596}"/>
              </a:ext>
            </a:extLst>
          </p:cNvPr>
          <p:cNvSpPr>
            <a:spLocks noGrp="1"/>
          </p:cNvSpPr>
          <p:nvPr>
            <p:ph type="title"/>
          </p:nvPr>
        </p:nvSpPr>
        <p:spPr/>
        <p:txBody>
          <a:bodyPr/>
          <a:lstStyle/>
          <a:p>
            <a:r>
              <a:rPr lang="en-US" b="1" dirty="0">
                <a:latin typeface="Times New Roman" panose="02020603050405020304" pitchFamily="18" charset="0"/>
                <a:cs typeface="Times New Roman" panose="02020603050405020304" pitchFamily="18" charset="0"/>
              </a:rPr>
              <a:t>Freud’s Theory of Psychoanalysis </a:t>
            </a:r>
            <a:endParaRPr lang="en-US"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 xmlns:a16="http://schemas.microsoft.com/office/drawing/2014/main" id="{6CAAE677-664B-4A90-A2CC-90C400D13C8D}"/>
              </a:ext>
            </a:extLst>
          </p:cNvPr>
          <p:cNvSpPr>
            <a:spLocks noGrp="1"/>
          </p:cNvSpPr>
          <p:nvPr>
            <p:ph idx="1"/>
          </p:nvPr>
        </p:nvSpPr>
        <p:spPr/>
        <p:txBody>
          <a:bodyPr>
            <a:normAutofit fontScale="92500"/>
          </a:bodyPr>
          <a:lstStyle/>
          <a:p>
            <a:r>
              <a:rPr lang="en-NZ" dirty="0"/>
              <a:t>Key to Freud’s approach to child development is to trace the formations of desire and pleasure in the child’s life</a:t>
            </a:r>
            <a:r>
              <a:rPr lang="en-NZ" dirty="0" smtClean="0"/>
              <a:t>.</a:t>
            </a:r>
          </a:p>
          <a:p>
            <a:r>
              <a:rPr lang="en-NZ" dirty="0"/>
              <a:t>The child is seen to be at the centre of a tricky negotiation between internal, instinctual drives for gratification (the pleasure principle) and external, social demands to repress those drives in order to conform to the rules and regulations of civilization (the reality principle</a:t>
            </a:r>
            <a:r>
              <a:rPr lang="en-NZ" dirty="0" smtClean="0"/>
              <a:t>).</a:t>
            </a:r>
          </a:p>
        </p:txBody>
      </p:sp>
    </p:spTree>
    <p:extLst>
      <p:ext uri="{BB962C8B-B14F-4D97-AF65-F5344CB8AC3E}">
        <p14:creationId xmlns:p14="http://schemas.microsoft.com/office/powerpoint/2010/main" xmlns="" val="1131696322"/>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latin typeface="Times New Roman" panose="02020603050405020304" pitchFamily="18" charset="0"/>
                <a:cs typeface="Times New Roman" panose="02020603050405020304" pitchFamily="18" charset="0"/>
              </a:rPr>
              <a:t>Freud’s Theory of </a:t>
            </a:r>
            <a:r>
              <a:rPr lang="en-US" b="1" dirty="0" smtClean="0">
                <a:latin typeface="Times New Roman" panose="02020603050405020304" pitchFamily="18" charset="0"/>
                <a:cs typeface="Times New Roman" panose="02020603050405020304" pitchFamily="18" charset="0"/>
              </a:rPr>
              <a:t>Psychoanalysis</a:t>
            </a:r>
            <a:endParaRPr lang="en-US" dirty="0"/>
          </a:p>
        </p:txBody>
      </p:sp>
      <p:sp>
        <p:nvSpPr>
          <p:cNvPr id="3" name="Content Placeholder 2"/>
          <p:cNvSpPr>
            <a:spLocks noGrp="1"/>
          </p:cNvSpPr>
          <p:nvPr>
            <p:ph idx="1"/>
          </p:nvPr>
        </p:nvSpPr>
        <p:spPr/>
        <p:txBody>
          <a:bodyPr/>
          <a:lstStyle/>
          <a:p>
            <a:r>
              <a:rPr lang="en-US" dirty="0">
                <a:latin typeface="Times New Roman" panose="02020603050405020304" pitchFamily="18" charset="0"/>
                <a:cs typeface="Times New Roman" panose="02020603050405020304" pitchFamily="18" charset="0"/>
              </a:rPr>
              <a:t>Divided the self (human mind) into three parts: </a:t>
            </a:r>
          </a:p>
          <a:p>
            <a:pPr marL="514350" indent="-514350">
              <a:buFont typeface="+mj-lt"/>
              <a:buAutoNum type="arabicPeriod"/>
            </a:pPr>
            <a:r>
              <a:rPr lang="en-US" dirty="0">
                <a:latin typeface="Times New Roman" panose="02020603050405020304" pitchFamily="18" charset="0"/>
                <a:cs typeface="Times New Roman" panose="02020603050405020304" pitchFamily="18" charset="0"/>
              </a:rPr>
              <a:t> id </a:t>
            </a:r>
          </a:p>
          <a:p>
            <a:pPr marL="514350" indent="-514350">
              <a:buFont typeface="+mj-lt"/>
              <a:buAutoNum type="arabicPeriod"/>
            </a:pPr>
            <a:r>
              <a:rPr lang="en-US" dirty="0">
                <a:latin typeface="Times New Roman" panose="02020603050405020304" pitchFamily="18" charset="0"/>
                <a:cs typeface="Times New Roman" panose="02020603050405020304" pitchFamily="18" charset="0"/>
              </a:rPr>
              <a:t>ego </a:t>
            </a:r>
          </a:p>
          <a:p>
            <a:pPr marL="514350" indent="-514350">
              <a:buFont typeface="+mj-lt"/>
              <a:buAutoNum type="arabicPeriod"/>
            </a:pPr>
            <a:r>
              <a:rPr lang="en-US" dirty="0">
                <a:latin typeface="Times New Roman" panose="02020603050405020304" pitchFamily="18" charset="0"/>
                <a:cs typeface="Times New Roman" panose="02020603050405020304" pitchFamily="18" charset="0"/>
              </a:rPr>
              <a:t>superego. </a:t>
            </a:r>
          </a:p>
          <a:p>
            <a:endParaRPr lang="en-US" dirty="0"/>
          </a:p>
        </p:txBody>
      </p:sp>
    </p:spTree>
    <p:extLst>
      <p:ext uri="{BB962C8B-B14F-4D97-AF65-F5344CB8AC3E}">
        <p14:creationId xmlns:p14="http://schemas.microsoft.com/office/powerpoint/2010/main" xmlns="" val="1958817040"/>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4DA2C293-A638-45FA-B8E7-4556FBD7F924}"/>
              </a:ext>
            </a:extLst>
          </p:cNvPr>
          <p:cNvSpPr>
            <a:spLocks noGrp="1"/>
          </p:cNvSpPr>
          <p:nvPr>
            <p:ph type="title"/>
          </p:nvPr>
        </p:nvSpPr>
        <p:spPr/>
        <p:txBody>
          <a:bodyPr/>
          <a:lstStyle/>
          <a:p>
            <a:r>
              <a:rPr lang="en-US" b="1" dirty="0">
                <a:latin typeface="Times New Roman" panose="02020603050405020304" pitchFamily="18" charset="0"/>
                <a:cs typeface="Times New Roman" panose="02020603050405020304" pitchFamily="18" charset="0"/>
              </a:rPr>
              <a:t>Psychoanalysis Cont. </a:t>
            </a:r>
            <a:endParaRPr lang="en-US" dirty="0"/>
          </a:p>
        </p:txBody>
      </p:sp>
      <p:sp>
        <p:nvSpPr>
          <p:cNvPr id="3" name="Content Placeholder 2">
            <a:extLst>
              <a:ext uri="{FF2B5EF4-FFF2-40B4-BE49-F238E27FC236}">
                <a16:creationId xmlns="" xmlns:a16="http://schemas.microsoft.com/office/drawing/2014/main" id="{7DFABBF1-2A9D-47D7-8AEB-053AFB8D684C}"/>
              </a:ext>
            </a:extLst>
          </p:cNvPr>
          <p:cNvSpPr>
            <a:spLocks noGrp="1"/>
          </p:cNvSpPr>
          <p:nvPr>
            <p:ph idx="1"/>
          </p:nvPr>
        </p:nvSpPr>
        <p:spPr>
          <a:xfrm>
            <a:off x="457200" y="1600200"/>
            <a:ext cx="8229600" cy="4876799"/>
          </a:xfrm>
        </p:spPr>
        <p:txBody>
          <a:bodyPr>
            <a:normAutofit fontScale="85000" lnSpcReduction="20000"/>
          </a:bodyPr>
          <a:lstStyle/>
          <a:p>
            <a:r>
              <a:rPr lang="en-US" b="1" dirty="0">
                <a:latin typeface="Times New Roman" panose="02020603050405020304" pitchFamily="18" charset="0"/>
                <a:cs typeface="Times New Roman" panose="02020603050405020304" pitchFamily="18" charset="0"/>
              </a:rPr>
              <a:t>I</a:t>
            </a:r>
            <a:r>
              <a:rPr lang="en-US" b="1" dirty="0" smtClean="0">
                <a:latin typeface="Times New Roman" panose="02020603050405020304" pitchFamily="18" charset="0"/>
                <a:cs typeface="Times New Roman" panose="02020603050405020304" pitchFamily="18" charset="0"/>
              </a:rPr>
              <a:t>d</a:t>
            </a:r>
            <a:r>
              <a:rPr lang="en-US" b="1" dirty="0">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Instinctive desire, unsocialized, natural. Obscure, inaccessible personality. Source of drives (animal impulse of man –hunger, aggression and libido) demanding immediate satisfaction. </a:t>
            </a:r>
            <a:r>
              <a:rPr lang="en-US" dirty="0" smtClean="0">
                <a:latin typeface="Times New Roman" panose="02020603050405020304" pitchFamily="18" charset="0"/>
                <a:cs typeface="Times New Roman" panose="02020603050405020304" pitchFamily="18" charset="0"/>
              </a:rPr>
              <a:t>These </a:t>
            </a:r>
            <a:r>
              <a:rPr lang="en-US" dirty="0">
                <a:latin typeface="Times New Roman" panose="02020603050405020304" pitchFamily="18" charset="0"/>
                <a:cs typeface="Times New Roman" panose="02020603050405020304" pitchFamily="18" charset="0"/>
              </a:rPr>
              <a:t>impulses are controlled and partially repressed into the unconscious, while a reality-oriented conscious self or ego appears</a:t>
            </a:r>
            <a:r>
              <a:rPr lang="en-US" dirty="0" smtClean="0">
                <a:latin typeface="Times New Roman" panose="02020603050405020304" pitchFamily="18" charset="0"/>
                <a:cs typeface="Times New Roman" panose="02020603050405020304" pitchFamily="18" charset="0"/>
              </a:rPr>
              <a:t>.</a:t>
            </a:r>
          </a:p>
          <a:p>
            <a:pPr marL="0" indent="0">
              <a:buNone/>
            </a:pPr>
            <a:r>
              <a:rPr lang="en-US" dirty="0" smtClean="0">
                <a:latin typeface="Times New Roman" panose="02020603050405020304" pitchFamily="18" charset="0"/>
                <a:cs typeface="Times New Roman" panose="02020603050405020304" pitchFamily="18" charset="0"/>
              </a:rPr>
              <a:t> </a:t>
            </a:r>
            <a:endParaRPr lang="en-US" dirty="0">
              <a:latin typeface="Times New Roman" panose="02020603050405020304" pitchFamily="18" charset="0"/>
              <a:cs typeface="Times New Roman" panose="02020603050405020304" pitchFamily="18" charset="0"/>
            </a:endParaRPr>
          </a:p>
          <a:p>
            <a:r>
              <a:rPr lang="en-US" b="1" dirty="0">
                <a:latin typeface="Times New Roman" panose="02020603050405020304" pitchFamily="18" charset="0"/>
                <a:cs typeface="Times New Roman" panose="02020603050405020304" pitchFamily="18" charset="0"/>
              </a:rPr>
              <a:t>Ego:</a:t>
            </a:r>
            <a:r>
              <a:rPr lang="en-US" dirty="0">
                <a:latin typeface="Times New Roman" panose="02020603050405020304" pitchFamily="18" charset="0"/>
                <a:cs typeface="Times New Roman" panose="02020603050405020304" pitchFamily="18" charset="0"/>
              </a:rPr>
              <a:t> Acting individual. Mediator between desires and action. Socialized self. </a:t>
            </a:r>
            <a:endParaRPr lang="en-US" dirty="0" smtClean="0">
              <a:latin typeface="Times New Roman" panose="02020603050405020304" pitchFamily="18" charset="0"/>
              <a:cs typeface="Times New Roman" panose="02020603050405020304" pitchFamily="18" charset="0"/>
            </a:endParaRPr>
          </a:p>
          <a:p>
            <a:pPr marL="0" indent="0">
              <a:buNone/>
            </a:pPr>
            <a:endParaRPr lang="en-US" dirty="0" smtClean="0">
              <a:latin typeface="Times New Roman" panose="02020603050405020304" pitchFamily="18" charset="0"/>
              <a:cs typeface="Times New Roman" panose="02020603050405020304" pitchFamily="18" charset="0"/>
            </a:endParaRPr>
          </a:p>
          <a:p>
            <a:r>
              <a:rPr lang="en-US" b="1" dirty="0" smtClean="0">
                <a:latin typeface="Times New Roman" panose="02020603050405020304" pitchFamily="18" charset="0"/>
                <a:cs typeface="Times New Roman" panose="02020603050405020304" pitchFamily="18" charset="0"/>
              </a:rPr>
              <a:t>Superego</a:t>
            </a:r>
            <a:r>
              <a:rPr lang="en-US" dirty="0" smtClean="0">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(the conscience): Represents the social ideals (norms, values, traditions, and the idea of moral and immoral). </a:t>
            </a:r>
          </a:p>
        </p:txBody>
      </p:sp>
    </p:spTree>
    <p:extLst>
      <p:ext uri="{BB962C8B-B14F-4D97-AF65-F5344CB8AC3E}">
        <p14:creationId xmlns:p14="http://schemas.microsoft.com/office/powerpoint/2010/main" xmlns="" val="557005708"/>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32FC0852-20E6-41F8-972F-9A84705B8660}"/>
              </a:ext>
            </a:extLst>
          </p:cNvPr>
          <p:cNvSpPr>
            <a:spLocks noGrp="1"/>
          </p:cNvSpPr>
          <p:nvPr>
            <p:ph type="title"/>
          </p:nvPr>
        </p:nvSpPr>
        <p:spPr/>
        <p:txBody>
          <a:bodyPr>
            <a:normAutofit fontScale="90000"/>
          </a:bodyPr>
          <a:lstStyle/>
          <a:p>
            <a:r>
              <a:rPr lang="en-US" b="1" dirty="0">
                <a:latin typeface="Times New Roman" panose="02020603050405020304" pitchFamily="18" charset="0"/>
                <a:cs typeface="Times New Roman" panose="02020603050405020304" pitchFamily="18" charset="0"/>
              </a:rPr>
              <a:t>Theory of Psychosexual Development </a:t>
            </a:r>
          </a:p>
        </p:txBody>
      </p:sp>
      <p:sp>
        <p:nvSpPr>
          <p:cNvPr id="3" name="Content Placeholder 2">
            <a:extLst>
              <a:ext uri="{FF2B5EF4-FFF2-40B4-BE49-F238E27FC236}">
                <a16:creationId xmlns="" xmlns:a16="http://schemas.microsoft.com/office/drawing/2014/main" id="{072A5E8F-535B-4677-9A28-A8D5CC1EF863}"/>
              </a:ext>
            </a:extLst>
          </p:cNvPr>
          <p:cNvSpPr>
            <a:spLocks noGrp="1"/>
          </p:cNvSpPr>
          <p:nvPr>
            <p:ph idx="1"/>
          </p:nvPr>
        </p:nvSpPr>
        <p:spPr/>
        <p:txBody>
          <a:bodyPr>
            <a:normAutofit fontScale="92500" lnSpcReduction="10000"/>
          </a:bodyPr>
          <a:lstStyle/>
          <a:p>
            <a:r>
              <a:rPr lang="en-US" sz="3200" dirty="0">
                <a:latin typeface="Times New Roman" panose="02020603050405020304" pitchFamily="18" charset="0"/>
                <a:cs typeface="Times New Roman" panose="02020603050405020304" pitchFamily="18" charset="0"/>
              </a:rPr>
              <a:t>The core of human personality is developed </a:t>
            </a:r>
            <a:r>
              <a:rPr lang="en-US" sz="3200" dirty="0" smtClean="0">
                <a:latin typeface="Times New Roman" panose="02020603050405020304" pitchFamily="18" charset="0"/>
                <a:cs typeface="Times New Roman" panose="02020603050405020304" pitchFamily="18" charset="0"/>
              </a:rPr>
              <a:t>in </a:t>
            </a:r>
            <a:r>
              <a:rPr lang="en-US" sz="3200" dirty="0">
                <a:latin typeface="Times New Roman" panose="02020603050405020304" pitchFamily="18" charset="0"/>
                <a:cs typeface="Times New Roman" panose="02020603050405020304" pitchFamily="18" charset="0"/>
              </a:rPr>
              <a:t>phases of five namely; </a:t>
            </a:r>
            <a:r>
              <a:rPr lang="en-US" sz="3200" b="1" i="1" dirty="0" err="1">
                <a:latin typeface="Times New Roman" panose="02020603050405020304" pitchFamily="18" charset="0"/>
                <a:cs typeface="Times New Roman" panose="02020603050405020304" pitchFamily="18" charset="0"/>
              </a:rPr>
              <a:t>oapl&amp;g</a:t>
            </a:r>
            <a:r>
              <a:rPr lang="en-US" sz="3200" dirty="0">
                <a:latin typeface="Times New Roman" panose="02020603050405020304" pitchFamily="18" charset="0"/>
                <a:cs typeface="Times New Roman" panose="02020603050405020304" pitchFamily="18" charset="0"/>
              </a:rPr>
              <a:t>. </a:t>
            </a:r>
          </a:p>
          <a:p>
            <a:r>
              <a:rPr lang="en-US" sz="3200" dirty="0">
                <a:latin typeface="Times New Roman" panose="02020603050405020304" pitchFamily="18" charset="0"/>
                <a:cs typeface="Times New Roman" panose="02020603050405020304" pitchFamily="18" charset="0"/>
              </a:rPr>
              <a:t>At each stage, the child derives pleasure from a part of the body called erogenous zone. </a:t>
            </a:r>
          </a:p>
          <a:p>
            <a:r>
              <a:rPr lang="en-US" sz="3200" dirty="0">
                <a:latin typeface="Times New Roman" panose="02020603050405020304" pitchFamily="18" charset="0"/>
                <a:cs typeface="Times New Roman" panose="02020603050405020304" pitchFamily="18" charset="0"/>
              </a:rPr>
              <a:t>Over-indulgence in pleasure or frustration leads to fixation</a:t>
            </a:r>
          </a:p>
          <a:p>
            <a:r>
              <a:rPr lang="en-US" sz="3200" dirty="0">
                <a:latin typeface="Times New Roman" panose="02020603050405020304" pitchFamily="18" charset="0"/>
                <a:cs typeface="Times New Roman" panose="02020603050405020304" pitchFamily="18" charset="0"/>
              </a:rPr>
              <a:t>Fixation: Unresolved conflict, psychic energy remained attached.</a:t>
            </a:r>
          </a:p>
          <a:p>
            <a:r>
              <a:rPr lang="en-US" sz="3200" dirty="0">
                <a:latin typeface="Times New Roman" panose="02020603050405020304" pitchFamily="18" charset="0"/>
                <a:cs typeface="Times New Roman" panose="02020603050405020304" pitchFamily="18" charset="0"/>
              </a:rPr>
              <a:t>Call for moderation to prevent fixation. </a:t>
            </a:r>
          </a:p>
        </p:txBody>
      </p:sp>
    </p:spTree>
    <p:extLst>
      <p:ext uri="{BB962C8B-B14F-4D97-AF65-F5344CB8AC3E}">
        <p14:creationId xmlns:p14="http://schemas.microsoft.com/office/powerpoint/2010/main" xmlns="" val="2141545677"/>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82BFB5D8-89EE-4BA6-AA03-B5F6D1E1AF1F}"/>
              </a:ext>
            </a:extLst>
          </p:cNvPr>
          <p:cNvSpPr>
            <a:spLocks noGrp="1"/>
          </p:cNvSpPr>
          <p:nvPr>
            <p:ph type="title"/>
          </p:nvPr>
        </p:nvSpPr>
        <p:spPr/>
        <p:txBody>
          <a:bodyPr>
            <a:normAutofit/>
          </a:bodyPr>
          <a:lstStyle/>
          <a:p>
            <a:r>
              <a:rPr lang="en-US" b="1" dirty="0" smtClean="0">
                <a:latin typeface="Times New Roman" panose="02020603050405020304" pitchFamily="18" charset="0"/>
                <a:cs typeface="Times New Roman" panose="02020603050405020304" pitchFamily="18" charset="0"/>
              </a:rPr>
              <a:t>Oral Stage </a:t>
            </a:r>
            <a:r>
              <a:rPr lang="en-US" b="1" dirty="0">
                <a:latin typeface="Times New Roman" panose="02020603050405020304" pitchFamily="18" charset="0"/>
                <a:cs typeface="Times New Roman" panose="02020603050405020304" pitchFamily="18" charset="0"/>
              </a:rPr>
              <a:t>(from birth to age 1</a:t>
            </a:r>
            <a:r>
              <a:rPr lang="en-US" b="1" dirty="0" smtClean="0">
                <a:latin typeface="Times New Roman" panose="02020603050405020304" pitchFamily="18" charset="0"/>
                <a:cs typeface="Times New Roman" panose="02020603050405020304" pitchFamily="18" charset="0"/>
              </a:rPr>
              <a:t>)</a:t>
            </a:r>
            <a:endParaRPr lang="en-US"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 xmlns:a16="http://schemas.microsoft.com/office/drawing/2014/main" id="{607AF2A6-10FB-42A5-9A44-167A8428625A}"/>
              </a:ext>
            </a:extLst>
          </p:cNvPr>
          <p:cNvSpPr>
            <a:spLocks noGrp="1"/>
          </p:cNvSpPr>
          <p:nvPr>
            <p:ph idx="1"/>
          </p:nvPr>
        </p:nvSpPr>
        <p:spPr/>
        <p:txBody>
          <a:bodyPr>
            <a:normAutofit fontScale="92500" lnSpcReduction="20000"/>
          </a:bodyPr>
          <a:lstStyle/>
          <a:p>
            <a:r>
              <a:rPr lang="en-US" sz="3600" dirty="0">
                <a:latin typeface="Times New Roman" panose="02020603050405020304" pitchFamily="18" charset="0"/>
                <a:cs typeface="Times New Roman" panose="02020603050405020304" pitchFamily="18" charset="0"/>
              </a:rPr>
              <a:t>Pleasure from the mouth. Sucking and swallowing. </a:t>
            </a:r>
          </a:p>
          <a:p>
            <a:r>
              <a:rPr lang="en-US" sz="3600" dirty="0">
                <a:latin typeface="Times New Roman" panose="02020603050405020304" pitchFamily="18" charset="0"/>
                <a:cs typeface="Times New Roman" panose="02020603050405020304" pitchFamily="18" charset="0"/>
              </a:rPr>
              <a:t>Too much sucking or swallowing - oral receptive person . </a:t>
            </a:r>
          </a:p>
          <a:p>
            <a:r>
              <a:rPr lang="en-US" sz="3600" dirty="0">
                <a:latin typeface="Times New Roman" panose="02020603050405020304" pitchFamily="18" charset="0"/>
                <a:cs typeface="Times New Roman" panose="02020603050405020304" pitchFamily="18" charset="0"/>
              </a:rPr>
              <a:t>Oral receptive person: Overeating, gum chewing, alcoholism, smoking and kissing in </a:t>
            </a:r>
            <a:r>
              <a:rPr lang="en-US" sz="3600" dirty="0" smtClean="0">
                <a:latin typeface="Times New Roman" panose="02020603050405020304" pitchFamily="18" charset="0"/>
                <a:cs typeface="Times New Roman" panose="02020603050405020304" pitchFamily="18" charset="0"/>
              </a:rPr>
              <a:t>adulthood. </a:t>
            </a:r>
            <a:endParaRPr lang="en-US" sz="3600" dirty="0">
              <a:latin typeface="Times New Roman" panose="02020603050405020304" pitchFamily="18" charset="0"/>
              <a:cs typeface="Times New Roman" panose="02020603050405020304" pitchFamily="18" charset="0"/>
            </a:endParaRPr>
          </a:p>
          <a:p>
            <a:r>
              <a:rPr lang="en-US" sz="3600" dirty="0">
                <a:latin typeface="Times New Roman" panose="02020603050405020304" pitchFamily="18" charset="0"/>
                <a:cs typeface="Times New Roman" panose="02020603050405020304" pitchFamily="18" charset="0"/>
              </a:rPr>
              <a:t>Frustration - oral aggressive person. </a:t>
            </a:r>
          </a:p>
          <a:p>
            <a:r>
              <a:rPr lang="en-US" sz="3600" dirty="0">
                <a:latin typeface="Times New Roman" panose="02020603050405020304" pitchFamily="18" charset="0"/>
                <a:cs typeface="Times New Roman" panose="02020603050405020304" pitchFamily="18" charset="0"/>
              </a:rPr>
              <a:t>Oral aggressive person: Argumentative, cynical and exploitative of others. </a:t>
            </a:r>
          </a:p>
        </p:txBody>
      </p:sp>
    </p:spTree>
    <p:extLst>
      <p:ext uri="{BB962C8B-B14F-4D97-AF65-F5344CB8AC3E}">
        <p14:creationId xmlns:p14="http://schemas.microsoft.com/office/powerpoint/2010/main" xmlns="" val="2104606043"/>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72E065FD-6E2D-42D6-9658-7293AEE2D428}"/>
              </a:ext>
            </a:extLst>
          </p:cNvPr>
          <p:cNvSpPr>
            <a:spLocks noGrp="1"/>
          </p:cNvSpPr>
          <p:nvPr>
            <p:ph type="title"/>
          </p:nvPr>
        </p:nvSpPr>
        <p:spPr/>
        <p:txBody>
          <a:bodyPr>
            <a:normAutofit/>
          </a:bodyPr>
          <a:lstStyle/>
          <a:p>
            <a:r>
              <a:rPr lang="en-US" b="1" dirty="0" smtClean="0">
                <a:latin typeface="Times New Roman" panose="02020603050405020304" pitchFamily="18" charset="0"/>
                <a:cs typeface="Times New Roman" panose="02020603050405020304" pitchFamily="18" charset="0"/>
              </a:rPr>
              <a:t>Anal </a:t>
            </a:r>
            <a:r>
              <a:rPr lang="en-US" b="1" dirty="0">
                <a:latin typeface="Times New Roman" panose="02020603050405020304" pitchFamily="18" charset="0"/>
                <a:cs typeface="Times New Roman" panose="02020603050405020304" pitchFamily="18" charset="0"/>
              </a:rPr>
              <a:t>stage (1-3 years</a:t>
            </a:r>
            <a:r>
              <a:rPr lang="en-US" b="1" dirty="0" smtClean="0">
                <a:latin typeface="Times New Roman" panose="02020603050405020304" pitchFamily="18" charset="0"/>
                <a:cs typeface="Times New Roman" panose="02020603050405020304" pitchFamily="18" charset="0"/>
              </a:rPr>
              <a:t>)</a:t>
            </a:r>
            <a:endParaRPr lang="en-US"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 xmlns:a16="http://schemas.microsoft.com/office/drawing/2014/main" id="{98CAF9CF-D3AE-441C-9FA2-D27EE82600D5}"/>
              </a:ext>
            </a:extLst>
          </p:cNvPr>
          <p:cNvSpPr>
            <a:spLocks noGrp="1"/>
          </p:cNvSpPr>
          <p:nvPr>
            <p:ph idx="1"/>
          </p:nvPr>
        </p:nvSpPr>
        <p:spPr/>
        <p:txBody>
          <a:bodyPr>
            <a:normAutofit fontScale="77500" lnSpcReduction="20000"/>
          </a:bodyPr>
          <a:lstStyle/>
          <a:p>
            <a:r>
              <a:rPr lang="en-US" sz="3600" dirty="0">
                <a:latin typeface="Times New Roman" panose="02020603050405020304" pitchFamily="18" charset="0"/>
                <a:cs typeface="Times New Roman" panose="02020603050405020304" pitchFamily="18" charset="0"/>
              </a:rPr>
              <a:t>Attention shifts to the process of elimination. </a:t>
            </a:r>
          </a:p>
          <a:p>
            <a:r>
              <a:rPr lang="en-US" sz="3600" dirty="0">
                <a:latin typeface="Times New Roman" panose="02020603050405020304" pitchFamily="18" charset="0"/>
                <a:cs typeface="Times New Roman" panose="02020603050405020304" pitchFamily="18" charset="0"/>
              </a:rPr>
              <a:t>The child responds to toilet training with approval or disapproval.</a:t>
            </a:r>
          </a:p>
          <a:p>
            <a:r>
              <a:rPr lang="en-US" sz="3600" dirty="0">
                <a:latin typeface="Times New Roman" panose="02020603050405020304" pitchFamily="18" charset="0"/>
                <a:cs typeface="Times New Roman" panose="02020603050405020304" pitchFamily="18" charset="0"/>
              </a:rPr>
              <a:t>Expresses approval or disapproval by letting go or holding up.</a:t>
            </a:r>
          </a:p>
          <a:p>
            <a:r>
              <a:rPr lang="en-US" sz="3600" dirty="0">
                <a:latin typeface="Times New Roman" panose="02020603050405020304" pitchFamily="18" charset="0"/>
                <a:cs typeface="Times New Roman" panose="02020603050405020304" pitchFamily="18" charset="0"/>
              </a:rPr>
              <a:t>Letting go - anal expulsive, holding up - anal retentive. </a:t>
            </a:r>
          </a:p>
          <a:p>
            <a:r>
              <a:rPr lang="en-US" sz="3600" dirty="0">
                <a:latin typeface="Times New Roman" panose="02020603050405020304" pitchFamily="18" charset="0"/>
                <a:cs typeface="Times New Roman" panose="02020603050405020304" pitchFamily="18" charset="0"/>
              </a:rPr>
              <a:t>Anal expulsive person: Messy, disorderly, destructive, cruel but generous. </a:t>
            </a:r>
          </a:p>
          <a:p>
            <a:r>
              <a:rPr lang="en-US" sz="3600" dirty="0">
                <a:latin typeface="Times New Roman" panose="02020603050405020304" pitchFamily="18" charset="0"/>
                <a:cs typeface="Times New Roman" panose="02020603050405020304" pitchFamily="18" charset="0"/>
              </a:rPr>
              <a:t>Anal retentive person: Neat, orderly but obstinate and stingy. </a:t>
            </a:r>
          </a:p>
        </p:txBody>
      </p:sp>
    </p:spTree>
    <p:extLst>
      <p:ext uri="{BB962C8B-B14F-4D97-AF65-F5344CB8AC3E}">
        <p14:creationId xmlns:p14="http://schemas.microsoft.com/office/powerpoint/2010/main" xmlns="" val="1096121276"/>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1E469C92-1AB7-4FBA-B6D9-9554D436A41B}"/>
              </a:ext>
            </a:extLst>
          </p:cNvPr>
          <p:cNvSpPr>
            <a:spLocks noGrp="1"/>
          </p:cNvSpPr>
          <p:nvPr>
            <p:ph type="title"/>
          </p:nvPr>
        </p:nvSpPr>
        <p:spPr/>
        <p:txBody>
          <a:bodyPr>
            <a:normAutofit/>
          </a:bodyPr>
          <a:lstStyle/>
          <a:p>
            <a:r>
              <a:rPr lang="en-US" b="1" dirty="0" smtClean="0">
                <a:latin typeface="Times New Roman" panose="02020603050405020304" pitchFamily="18" charset="0"/>
                <a:cs typeface="Times New Roman" panose="02020603050405020304" pitchFamily="18" charset="0"/>
              </a:rPr>
              <a:t>Phallic </a:t>
            </a:r>
            <a:r>
              <a:rPr lang="en-US" b="1" dirty="0">
                <a:latin typeface="Times New Roman" panose="02020603050405020304" pitchFamily="18" charset="0"/>
                <a:cs typeface="Times New Roman" panose="02020603050405020304" pitchFamily="18" charset="0"/>
              </a:rPr>
              <a:t>stage (3-6 years</a:t>
            </a:r>
            <a:r>
              <a:rPr lang="en-US" b="1" dirty="0" smtClean="0">
                <a:latin typeface="Times New Roman" panose="02020603050405020304" pitchFamily="18" charset="0"/>
                <a:cs typeface="Times New Roman" panose="02020603050405020304" pitchFamily="18" charset="0"/>
              </a:rPr>
              <a:t>)</a:t>
            </a:r>
            <a:endParaRPr lang="en-US"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 xmlns:a16="http://schemas.microsoft.com/office/drawing/2014/main" id="{44B79DA4-0682-4E83-9FAC-EBA7509D287B}"/>
              </a:ext>
            </a:extLst>
          </p:cNvPr>
          <p:cNvSpPr>
            <a:spLocks noGrp="1"/>
          </p:cNvSpPr>
          <p:nvPr>
            <p:ph idx="1"/>
          </p:nvPr>
        </p:nvSpPr>
        <p:spPr/>
        <p:txBody>
          <a:bodyPr>
            <a:normAutofit fontScale="92500"/>
          </a:bodyPr>
          <a:lstStyle/>
          <a:p>
            <a:r>
              <a:rPr lang="en-US" dirty="0">
                <a:latin typeface="Times New Roman" panose="02020603050405020304" pitchFamily="18" charset="0"/>
                <a:cs typeface="Times New Roman" panose="02020603050405020304" pitchFamily="18" charset="0"/>
              </a:rPr>
              <a:t>The genitals become the source of pleasure. Increased sexual interest in the unconscious mind. </a:t>
            </a:r>
          </a:p>
          <a:p>
            <a:r>
              <a:rPr lang="en-US" dirty="0">
                <a:latin typeface="Times New Roman" panose="02020603050405020304" pitchFamily="18" charset="0"/>
                <a:cs typeface="Times New Roman" panose="02020603050405020304" pitchFamily="18" charset="0"/>
              </a:rPr>
              <a:t>Attraction to the parent of the opposite sex with aggression for attention. </a:t>
            </a:r>
          </a:p>
          <a:p>
            <a:r>
              <a:rPr lang="en-US" dirty="0">
                <a:latin typeface="Times New Roman" panose="02020603050405020304" pitchFamily="18" charset="0"/>
                <a:cs typeface="Times New Roman" panose="02020603050405020304" pitchFamily="18" charset="0"/>
              </a:rPr>
              <a:t>Freud calls this attraction </a:t>
            </a:r>
            <a:r>
              <a:rPr lang="en-US" b="1" i="1" dirty="0">
                <a:latin typeface="Times New Roman" panose="02020603050405020304" pitchFamily="18" charset="0"/>
                <a:cs typeface="Times New Roman" panose="02020603050405020304" pitchFamily="18" charset="0"/>
              </a:rPr>
              <a:t>Oedipus complex </a:t>
            </a:r>
            <a:r>
              <a:rPr lang="en-US" dirty="0">
                <a:latin typeface="Times New Roman" panose="02020603050405020304" pitchFamily="18" charset="0"/>
                <a:cs typeface="Times New Roman" panose="02020603050405020304" pitchFamily="18" charset="0"/>
              </a:rPr>
              <a:t>for males and </a:t>
            </a:r>
            <a:r>
              <a:rPr lang="en-US" b="1" i="1" dirty="0">
                <a:latin typeface="Times New Roman" panose="02020603050405020304" pitchFamily="18" charset="0"/>
                <a:cs typeface="Times New Roman" panose="02020603050405020304" pitchFamily="18" charset="0"/>
              </a:rPr>
              <a:t>Electra complex</a:t>
            </a:r>
            <a:r>
              <a:rPr lang="en-US" dirty="0">
                <a:latin typeface="Times New Roman" panose="02020603050405020304" pitchFamily="18" charset="0"/>
                <a:cs typeface="Times New Roman" panose="02020603050405020304" pitchFamily="18" charset="0"/>
              </a:rPr>
              <a:t> for females.</a:t>
            </a:r>
          </a:p>
          <a:p>
            <a:r>
              <a:rPr lang="en-US" dirty="0">
                <a:latin typeface="Times New Roman" panose="02020603050405020304" pitchFamily="18" charset="0"/>
                <a:cs typeface="Times New Roman" panose="02020603050405020304" pitchFamily="18" charset="0"/>
              </a:rPr>
              <a:t>Adult traits of the phallic personality are sensitive pride, abnormal and excessive self-admiration and exhibitionism. </a:t>
            </a:r>
          </a:p>
        </p:txBody>
      </p:sp>
    </p:spTree>
    <p:extLst>
      <p:ext uri="{BB962C8B-B14F-4D97-AF65-F5344CB8AC3E}">
        <p14:creationId xmlns:p14="http://schemas.microsoft.com/office/powerpoint/2010/main" xmlns="" val="785951484"/>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B92F8C8E-BA3B-4EFC-9F13-28185E8A2729}"/>
              </a:ext>
            </a:extLst>
          </p:cNvPr>
          <p:cNvSpPr>
            <a:spLocks noGrp="1"/>
          </p:cNvSpPr>
          <p:nvPr>
            <p:ph type="title"/>
          </p:nvPr>
        </p:nvSpPr>
        <p:spPr/>
        <p:txBody>
          <a:bodyPr>
            <a:normAutofit/>
          </a:bodyPr>
          <a:lstStyle/>
          <a:p>
            <a:r>
              <a:rPr lang="en-US" b="1" dirty="0" smtClean="0">
                <a:latin typeface="Times New Roman" panose="02020603050405020304" pitchFamily="18" charset="0"/>
                <a:cs typeface="Times New Roman" panose="02020603050405020304" pitchFamily="18" charset="0"/>
              </a:rPr>
              <a:t>Latency </a:t>
            </a:r>
            <a:r>
              <a:rPr lang="en-US" b="1" dirty="0">
                <a:latin typeface="Times New Roman" panose="02020603050405020304" pitchFamily="18" charset="0"/>
                <a:cs typeface="Times New Roman" panose="02020603050405020304" pitchFamily="18" charset="0"/>
              </a:rPr>
              <a:t>(6 years to puberty</a:t>
            </a:r>
            <a:r>
              <a:rPr lang="en-US" b="1" dirty="0" smtClean="0">
                <a:latin typeface="Times New Roman" panose="02020603050405020304" pitchFamily="18" charset="0"/>
                <a:cs typeface="Times New Roman" panose="02020603050405020304" pitchFamily="18" charset="0"/>
              </a:rPr>
              <a:t>)</a:t>
            </a:r>
            <a:endParaRPr lang="en-US"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 xmlns:a16="http://schemas.microsoft.com/office/drawing/2014/main" id="{F488AC37-E1DD-45C9-8F34-49DCCE356FCF}"/>
              </a:ext>
            </a:extLst>
          </p:cNvPr>
          <p:cNvSpPr>
            <a:spLocks noGrp="1"/>
          </p:cNvSpPr>
          <p:nvPr>
            <p:ph idx="1"/>
          </p:nvPr>
        </p:nvSpPr>
        <p:spPr/>
        <p:txBody>
          <a:bodyPr>
            <a:normAutofit fontScale="92500"/>
          </a:bodyPr>
          <a:lstStyle/>
          <a:p>
            <a:r>
              <a:rPr lang="en-US" sz="4000" dirty="0">
                <a:latin typeface="Times New Roman" panose="02020603050405020304" pitchFamily="18" charset="0"/>
                <a:cs typeface="Times New Roman" panose="02020603050405020304" pitchFamily="18" charset="0"/>
              </a:rPr>
              <a:t>Attention is on the acquisition of skills. </a:t>
            </a:r>
          </a:p>
          <a:p>
            <a:r>
              <a:rPr lang="en-US" sz="4000" dirty="0">
                <a:latin typeface="Times New Roman" panose="02020603050405020304" pitchFamily="18" charset="0"/>
                <a:cs typeface="Times New Roman" panose="02020603050405020304" pitchFamily="18" charset="0"/>
              </a:rPr>
              <a:t>Sexual feelings subside. Development of self-confidence as one acquires skills</a:t>
            </a:r>
          </a:p>
          <a:p>
            <a:r>
              <a:rPr lang="en-US" sz="4000" dirty="0">
                <a:latin typeface="Times New Roman" panose="02020603050405020304" pitchFamily="18" charset="0"/>
                <a:cs typeface="Times New Roman" panose="02020603050405020304" pitchFamily="18" charset="0"/>
              </a:rPr>
              <a:t>Internalization of sex specific social rules and behaviour. Status and role relationship.</a:t>
            </a:r>
          </a:p>
          <a:p>
            <a:r>
              <a:rPr lang="en-US" sz="4000" dirty="0">
                <a:latin typeface="Times New Roman" panose="02020603050405020304" pitchFamily="18" charset="0"/>
                <a:cs typeface="Times New Roman" panose="02020603050405020304" pitchFamily="18" charset="0"/>
              </a:rPr>
              <a:t>Same sex friendship becomes strong. </a:t>
            </a:r>
          </a:p>
        </p:txBody>
      </p:sp>
    </p:spTree>
    <p:extLst>
      <p:ext uri="{BB962C8B-B14F-4D97-AF65-F5344CB8AC3E}">
        <p14:creationId xmlns:p14="http://schemas.microsoft.com/office/powerpoint/2010/main" xmlns="" val="1677368403"/>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B46AE1E3-FB01-4623-A255-F9A201DC9623}"/>
              </a:ext>
            </a:extLst>
          </p:cNvPr>
          <p:cNvSpPr>
            <a:spLocks noGrp="1"/>
          </p:cNvSpPr>
          <p:nvPr>
            <p:ph type="title"/>
          </p:nvPr>
        </p:nvSpPr>
        <p:spPr/>
        <p:txBody>
          <a:bodyPr>
            <a:normAutofit fontScale="90000"/>
          </a:bodyPr>
          <a:lstStyle/>
          <a:p>
            <a:r>
              <a:rPr lang="en-US" b="1" dirty="0" smtClean="0">
                <a:latin typeface="Times New Roman" panose="02020603050405020304" pitchFamily="18" charset="0"/>
                <a:cs typeface="Times New Roman" panose="02020603050405020304" pitchFamily="18" charset="0"/>
              </a:rPr>
              <a:t>Genital </a:t>
            </a:r>
            <a:r>
              <a:rPr lang="en-US" b="1" dirty="0">
                <a:latin typeface="Times New Roman" panose="02020603050405020304" pitchFamily="18" charset="0"/>
                <a:cs typeface="Times New Roman" panose="02020603050405020304" pitchFamily="18" charset="0"/>
              </a:rPr>
              <a:t>stage (11 years and above</a:t>
            </a:r>
            <a:r>
              <a:rPr lang="en-US" b="1" dirty="0" smtClean="0">
                <a:latin typeface="Times New Roman" panose="02020603050405020304" pitchFamily="18" charset="0"/>
                <a:cs typeface="Times New Roman" panose="02020603050405020304" pitchFamily="18" charset="0"/>
              </a:rPr>
              <a:t>)</a:t>
            </a:r>
            <a:endParaRPr lang="en-US"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 xmlns:a16="http://schemas.microsoft.com/office/drawing/2014/main" id="{E7F2D4E4-2EF8-4522-B184-11576EF6C07F}"/>
              </a:ext>
            </a:extLst>
          </p:cNvPr>
          <p:cNvSpPr>
            <a:spLocks noGrp="1"/>
          </p:cNvSpPr>
          <p:nvPr>
            <p:ph idx="1"/>
          </p:nvPr>
        </p:nvSpPr>
        <p:spPr/>
        <p:txBody>
          <a:bodyPr>
            <a:normAutofit fontScale="77500" lnSpcReduction="20000"/>
          </a:bodyPr>
          <a:lstStyle/>
          <a:p>
            <a:r>
              <a:rPr lang="en-US" dirty="0">
                <a:latin typeface="Times New Roman" panose="02020603050405020304" pitchFamily="18" charset="0"/>
                <a:cs typeface="Times New Roman" panose="02020603050405020304" pitchFamily="18" charset="0"/>
              </a:rPr>
              <a:t>Begins from puberty through adolescence. </a:t>
            </a:r>
          </a:p>
          <a:p>
            <a:r>
              <a:rPr lang="en-US" dirty="0">
                <a:latin typeface="Times New Roman" panose="02020603050405020304" pitchFamily="18" charset="0"/>
                <a:cs typeface="Times New Roman" panose="02020603050405020304" pitchFamily="18" charset="0"/>
              </a:rPr>
              <a:t>Ends with heterosexual love and attainment of full adult sexuality. </a:t>
            </a:r>
          </a:p>
          <a:p>
            <a:r>
              <a:rPr lang="en-US" dirty="0">
                <a:latin typeface="Times New Roman" panose="02020603050405020304" pitchFamily="18" charset="0"/>
                <a:cs typeface="Times New Roman" panose="02020603050405020304" pitchFamily="18" charset="0"/>
              </a:rPr>
              <a:t>Masturbation is frequent. The focus is on moving towards sexual and emotional attainments outside the family. </a:t>
            </a:r>
          </a:p>
          <a:p>
            <a:r>
              <a:rPr lang="en-US" dirty="0">
                <a:latin typeface="Times New Roman" panose="02020603050405020304" pitchFamily="18" charset="0"/>
                <a:cs typeface="Times New Roman" panose="02020603050405020304" pitchFamily="18" charset="0"/>
              </a:rPr>
              <a:t>The sexual energies are all reactivated. There is growing capacity for mature and responsible social and sexual relationships. </a:t>
            </a:r>
          </a:p>
          <a:p>
            <a:r>
              <a:rPr lang="en-US" dirty="0">
                <a:latin typeface="Times New Roman" panose="02020603050405020304" pitchFamily="18" charset="0"/>
                <a:cs typeface="Times New Roman" panose="02020603050405020304" pitchFamily="18" charset="0"/>
              </a:rPr>
              <a:t>All unresolved conflicts of earlier stages are now activated and this resurgence is the reason why adolescence is such a trying period of human personality development. </a:t>
            </a:r>
          </a:p>
        </p:txBody>
      </p:sp>
    </p:spTree>
    <p:extLst>
      <p:ext uri="{BB962C8B-B14F-4D97-AF65-F5344CB8AC3E}">
        <p14:creationId xmlns:p14="http://schemas.microsoft.com/office/powerpoint/2010/main" xmlns="" val="823944708"/>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F8E5246F-4331-4E21-AFD8-115920A210A6}"/>
              </a:ext>
            </a:extLst>
          </p:cNvPr>
          <p:cNvSpPr>
            <a:spLocks noGrp="1"/>
          </p:cNvSpPr>
          <p:nvPr>
            <p:ph type="title"/>
          </p:nvPr>
        </p:nvSpPr>
        <p:spPr/>
        <p:txBody>
          <a:bodyPr>
            <a:normAutofit fontScale="90000"/>
          </a:bodyPr>
          <a:lstStyle/>
          <a:p>
            <a:r>
              <a:rPr lang="en-NZ" b="1" dirty="0"/>
              <a:t>Sociological Theories of Self Development</a:t>
            </a:r>
          </a:p>
        </p:txBody>
      </p:sp>
      <p:sp>
        <p:nvSpPr>
          <p:cNvPr id="3" name="Content Placeholder 2">
            <a:extLst>
              <a:ext uri="{FF2B5EF4-FFF2-40B4-BE49-F238E27FC236}">
                <a16:creationId xmlns="" xmlns:a16="http://schemas.microsoft.com/office/drawing/2014/main" id="{DA934F22-4C02-4B69-B056-64128929E78A}"/>
              </a:ext>
            </a:extLst>
          </p:cNvPr>
          <p:cNvSpPr>
            <a:spLocks noGrp="1"/>
          </p:cNvSpPr>
          <p:nvPr>
            <p:ph idx="1"/>
          </p:nvPr>
        </p:nvSpPr>
        <p:spPr/>
        <p:txBody>
          <a:bodyPr>
            <a:normAutofit lnSpcReduction="10000"/>
          </a:bodyPr>
          <a:lstStyle/>
          <a:p>
            <a:pPr algn="just"/>
            <a:r>
              <a:rPr lang="en-US" sz="3600" dirty="0">
                <a:latin typeface="Times New Roman" panose="02020603050405020304" pitchFamily="18" charset="0"/>
                <a:cs typeface="Times New Roman" panose="02020603050405020304" pitchFamily="18" charset="0"/>
              </a:rPr>
              <a:t>Sociologists conceive of development as both biological and social. Without interaction, humans do not develop from stage to stage.</a:t>
            </a:r>
          </a:p>
          <a:p>
            <a:pPr algn="just"/>
            <a:r>
              <a:rPr lang="en-US" sz="3600" dirty="0">
                <a:latin typeface="Times New Roman" panose="02020603050405020304" pitchFamily="18" charset="0"/>
                <a:cs typeface="Times New Roman" panose="02020603050405020304" pitchFamily="18" charset="0"/>
              </a:rPr>
              <a:t>Prove: Study of feral children. </a:t>
            </a:r>
          </a:p>
          <a:p>
            <a:pPr algn="just"/>
            <a:r>
              <a:rPr lang="en-US" sz="3600" dirty="0">
                <a:latin typeface="Times New Roman" panose="02020603050405020304" pitchFamily="18" charset="0"/>
                <a:cs typeface="Times New Roman" panose="02020603050405020304" pitchFamily="18" charset="0"/>
              </a:rPr>
              <a:t>Man’s biological nature, however, makes socialization both POSSIBLE  and NECESSARY.</a:t>
            </a:r>
          </a:p>
        </p:txBody>
      </p:sp>
    </p:spTree>
    <p:extLst>
      <p:ext uri="{BB962C8B-B14F-4D97-AF65-F5344CB8AC3E}">
        <p14:creationId xmlns:p14="http://schemas.microsoft.com/office/powerpoint/2010/main" xmlns="" val="411335712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NZ" b="1" dirty="0" smtClean="0"/>
              <a:t>Charles Horton Cooley</a:t>
            </a:r>
            <a:br>
              <a:rPr lang="en-NZ" b="1" dirty="0" smtClean="0"/>
            </a:br>
            <a:r>
              <a:rPr lang="en-NZ" b="1" dirty="0" smtClean="0"/>
              <a:t>(1864-1929)</a:t>
            </a:r>
            <a:endParaRPr lang="en-NZ" b="1" dirty="0"/>
          </a:p>
        </p:txBody>
      </p:sp>
      <p:pic>
        <p:nvPicPr>
          <p:cNvPr id="4" name="Content Placeholder 3" descr="http://aloftyexistence.files.wordpress.com/2011/04/cat-mirror-lion.jpg">
            <a:hlinkClick r:id="rId2"/>
          </p:cNvPr>
          <p:cNvPicPr>
            <a:picLocks noGrp="1"/>
          </p:cNvPicPr>
          <p:nvPr>
            <p:ph idx="1"/>
          </p:nvPr>
        </p:nvPicPr>
        <p:blipFill>
          <a:blip r:embed="rId3" cstate="print">
            <a:extLst>
              <a:ext uri="{28A0092B-C50C-407E-A947-70E740481C1C}">
                <a14:useLocalDpi xmlns:a14="http://schemas.microsoft.com/office/drawing/2010/main" xmlns="" val="0"/>
              </a:ext>
            </a:extLst>
          </a:blip>
          <a:srcRect/>
          <a:stretch>
            <a:fillRect/>
          </a:stretch>
        </p:blipFill>
        <p:spPr bwMode="auto">
          <a:xfrm>
            <a:off x="1385646" y="1628800"/>
            <a:ext cx="2214246" cy="3676650"/>
          </a:xfrm>
          <a:prstGeom prst="rect">
            <a:avLst/>
          </a:prstGeom>
          <a:noFill/>
          <a:ln>
            <a:noFill/>
          </a:ln>
        </p:spPr>
      </p:pic>
      <p:pic>
        <p:nvPicPr>
          <p:cNvPr id="5" name="Picture 4" descr="http://www.calldrmatt.com/mirror_homer.jpg">
            <a:hlinkClick r:id="rId4"/>
          </p:cNvPr>
          <p:cNvPicPr/>
          <p:nvPr/>
        </p:nvPicPr>
        <p:blipFill>
          <a:blip r:embed="rId5" cstate="print">
            <a:extLst>
              <a:ext uri="{28A0092B-C50C-407E-A947-70E740481C1C}">
                <a14:useLocalDpi xmlns:a14="http://schemas.microsoft.com/office/drawing/2010/main" xmlns="" val="0"/>
              </a:ext>
            </a:extLst>
          </a:blip>
          <a:srcRect/>
          <a:stretch>
            <a:fillRect/>
          </a:stretch>
        </p:blipFill>
        <p:spPr bwMode="auto">
          <a:xfrm>
            <a:off x="5220073" y="1484786"/>
            <a:ext cx="2396966" cy="2496185"/>
          </a:xfrm>
          <a:prstGeom prst="rect">
            <a:avLst/>
          </a:prstGeom>
          <a:noFill/>
          <a:ln>
            <a:noFill/>
          </a:ln>
        </p:spPr>
      </p:pic>
      <p:pic>
        <p:nvPicPr>
          <p:cNvPr id="6" name="Picture 5" descr="http://home.roadrunner.com/~nineboxes/images/other/lookingglass.jpg">
            <a:hlinkClick r:id="rId6"/>
          </p:cNvPr>
          <p:cNvPicPr/>
          <p:nvPr/>
        </p:nvPicPr>
        <p:blipFill>
          <a:blip r:embed="rId7" cstate="print">
            <a:extLst>
              <a:ext uri="{28A0092B-C50C-407E-A947-70E740481C1C}">
                <a14:useLocalDpi xmlns:a14="http://schemas.microsoft.com/office/drawing/2010/main" xmlns="" val="0"/>
              </a:ext>
            </a:extLst>
          </a:blip>
          <a:srcRect/>
          <a:stretch>
            <a:fillRect/>
          </a:stretch>
        </p:blipFill>
        <p:spPr bwMode="auto">
          <a:xfrm>
            <a:off x="3537348" y="2021840"/>
            <a:ext cx="2069306" cy="2814320"/>
          </a:xfrm>
          <a:prstGeom prst="rect">
            <a:avLst/>
          </a:prstGeom>
          <a:noFill/>
          <a:ln>
            <a:noFill/>
          </a:ln>
        </p:spPr>
      </p:pic>
      <p:pic>
        <p:nvPicPr>
          <p:cNvPr id="7" name="Picture 6" descr="http://sumagazine.syr.edu/2011summer/images/AJ_sum2011/Cover2Cover.Sum11/Glazer.jpg">
            <a:hlinkClick r:id="rId8"/>
          </p:cNvPr>
          <p:cNvPicPr/>
          <p:nvPr/>
        </p:nvPicPr>
        <p:blipFill>
          <a:blip r:embed="rId9" cstate="print">
            <a:extLst>
              <a:ext uri="{28A0092B-C50C-407E-A947-70E740481C1C}">
                <a14:useLocalDpi xmlns:a14="http://schemas.microsoft.com/office/drawing/2010/main" xmlns="" val="0"/>
              </a:ext>
            </a:extLst>
          </a:blip>
          <a:srcRect/>
          <a:stretch>
            <a:fillRect/>
          </a:stretch>
        </p:blipFill>
        <p:spPr bwMode="auto">
          <a:xfrm>
            <a:off x="2897815" y="4437112"/>
            <a:ext cx="4242796" cy="2304256"/>
          </a:xfrm>
          <a:prstGeom prst="rect">
            <a:avLst/>
          </a:prstGeom>
          <a:noFill/>
          <a:ln>
            <a:noFill/>
          </a:ln>
        </p:spPr>
      </p:pic>
    </p:spTree>
    <p:extLst>
      <p:ext uri="{BB962C8B-B14F-4D97-AF65-F5344CB8AC3E}">
        <p14:creationId xmlns:p14="http://schemas.microsoft.com/office/powerpoint/2010/main" xmlns="" val="2961806744"/>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i="1" dirty="0">
                <a:latin typeface="Times New Roman" panose="02020603050405020304" pitchFamily="18" charset="0"/>
                <a:cs typeface="Times New Roman" panose="02020603050405020304" pitchFamily="18" charset="0"/>
              </a:rPr>
              <a:t>C.H. COOLEY </a:t>
            </a:r>
            <a:r>
              <a:rPr lang="en-US" dirty="0"/>
              <a:t>(1864–1929</a:t>
            </a:r>
            <a:r>
              <a:rPr lang="en-US" dirty="0" smtClean="0"/>
              <a:t>)</a:t>
            </a:r>
            <a:r>
              <a:rPr lang="en-US" dirty="0" smtClean="0">
                <a:latin typeface="Times New Roman" panose="02020603050405020304" pitchFamily="18" charset="0"/>
                <a:cs typeface="Times New Roman" panose="02020603050405020304" pitchFamily="18" charset="0"/>
              </a:rPr>
              <a:t>: </a:t>
            </a:r>
            <a:r>
              <a:rPr lang="en-US" b="1" i="1" dirty="0" smtClean="0">
                <a:latin typeface="Times New Roman" panose="02020603050405020304" pitchFamily="18" charset="0"/>
                <a:cs typeface="Times New Roman" panose="02020603050405020304" pitchFamily="18" charset="0"/>
              </a:rPr>
              <a:t>Looking-Glass Self</a:t>
            </a:r>
            <a:endParaRPr lang="en-US"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normAutofit lnSpcReduction="10000"/>
          </a:bodyPr>
          <a:lstStyle/>
          <a:p>
            <a:r>
              <a:rPr lang="en-US" sz="3600" dirty="0">
                <a:latin typeface="Times New Roman" panose="02020603050405020304" pitchFamily="18" charset="0"/>
                <a:cs typeface="Times New Roman" panose="02020603050405020304" pitchFamily="18" charset="0"/>
              </a:rPr>
              <a:t>How does a person arrive at a notion of the kind of person he is? </a:t>
            </a:r>
          </a:p>
          <a:p>
            <a:r>
              <a:rPr lang="en-US" sz="3600" i="1" dirty="0">
                <a:latin typeface="Times New Roman" panose="02020603050405020304" pitchFamily="18" charset="0"/>
                <a:cs typeface="Times New Roman" panose="02020603050405020304" pitchFamily="18" charset="0"/>
              </a:rPr>
              <a:t>Looking glass self</a:t>
            </a:r>
            <a:r>
              <a:rPr lang="en-US" sz="3600" dirty="0">
                <a:latin typeface="Times New Roman" panose="02020603050405020304" pitchFamily="18" charset="0"/>
                <a:cs typeface="Times New Roman" panose="02020603050405020304" pitchFamily="18" charset="0"/>
              </a:rPr>
              <a:t> simply means how we see ourselves through the eyes of other people. </a:t>
            </a:r>
          </a:p>
          <a:p>
            <a:r>
              <a:rPr lang="en-US" sz="3600" dirty="0">
                <a:latin typeface="Times New Roman" panose="02020603050405020304" pitchFamily="18" charset="0"/>
                <a:cs typeface="Times New Roman" panose="02020603050405020304" pitchFamily="18" charset="0"/>
              </a:rPr>
              <a:t>According to Cooley, there are three steps (stages) in the process of formation of looking-glass self</a:t>
            </a:r>
          </a:p>
        </p:txBody>
      </p:sp>
    </p:spTree>
    <p:extLst>
      <p:ext uri="{BB962C8B-B14F-4D97-AF65-F5344CB8AC3E}">
        <p14:creationId xmlns:p14="http://schemas.microsoft.com/office/powerpoint/2010/main" xmlns="" val="371869305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latin typeface="Times New Roman" panose="02020603050405020304" pitchFamily="18" charset="0"/>
                <a:cs typeface="Times New Roman" panose="02020603050405020304" pitchFamily="18" charset="0"/>
              </a:rPr>
              <a:t>Steps/assumptions/statements/stages</a:t>
            </a:r>
          </a:p>
        </p:txBody>
      </p:sp>
      <p:sp>
        <p:nvSpPr>
          <p:cNvPr id="3" name="Content Placeholder 2"/>
          <p:cNvSpPr>
            <a:spLocks noGrp="1"/>
          </p:cNvSpPr>
          <p:nvPr>
            <p:ph idx="1"/>
          </p:nvPr>
        </p:nvSpPr>
        <p:spPr/>
        <p:txBody>
          <a:bodyPr>
            <a:normAutofit fontScale="92500" lnSpcReduction="10000"/>
          </a:bodyPr>
          <a:lstStyle/>
          <a:p>
            <a:pPr marL="514350" indent="-514350">
              <a:buFont typeface="+mj-lt"/>
              <a:buAutoNum type="arabicPeriod"/>
            </a:pPr>
            <a:r>
              <a:rPr lang="en-US" sz="3200" dirty="0">
                <a:latin typeface="Times New Roman" panose="02020603050405020304" pitchFamily="18" charset="0"/>
                <a:cs typeface="Times New Roman" panose="02020603050405020304" pitchFamily="18" charset="0"/>
              </a:rPr>
              <a:t>The imagination of our appearance to others. How we imagine we look like to others.</a:t>
            </a:r>
          </a:p>
          <a:p>
            <a:pPr marL="514350" indent="-514350">
              <a:buFont typeface="+mj-lt"/>
              <a:buAutoNum type="arabicPeriod"/>
            </a:pPr>
            <a:r>
              <a:rPr lang="en-US" sz="3200" dirty="0">
                <a:latin typeface="Times New Roman" panose="02020603050405020304" pitchFamily="18" charset="0"/>
                <a:cs typeface="Times New Roman" panose="02020603050405020304" pitchFamily="18" charset="0"/>
              </a:rPr>
              <a:t>The imagination of their judgment of our appearance. How we imagine others’ judge our behaviour or looks.</a:t>
            </a:r>
          </a:p>
          <a:p>
            <a:pPr marL="514350" indent="-514350">
              <a:buFont typeface="+mj-lt"/>
              <a:buAutoNum type="arabicPeriod"/>
            </a:pPr>
            <a:r>
              <a:rPr lang="en-US" sz="3200" dirty="0">
                <a:latin typeface="Times New Roman" panose="02020603050405020304" pitchFamily="18" charset="0"/>
                <a:cs typeface="Times New Roman" panose="02020603050405020304" pitchFamily="18" charset="0"/>
              </a:rPr>
              <a:t>How we feel about their judgment i.e. our feelings (self- feeling) about their judgment</a:t>
            </a:r>
          </a:p>
          <a:p>
            <a:r>
              <a:rPr lang="en-US" sz="3200" dirty="0">
                <a:latin typeface="Times New Roman" panose="02020603050405020304" pitchFamily="18" charset="0"/>
                <a:cs typeface="Times New Roman" panose="02020603050405020304" pitchFamily="18" charset="0"/>
              </a:rPr>
              <a:t>We often respond to these imagined evaluations with some feelings: pride, embarrassment, humiliation, pity, humility, ... </a:t>
            </a:r>
          </a:p>
        </p:txBody>
      </p:sp>
    </p:spTree>
    <p:extLst>
      <p:ext uri="{BB962C8B-B14F-4D97-AF65-F5344CB8AC3E}">
        <p14:creationId xmlns:p14="http://schemas.microsoft.com/office/powerpoint/2010/main" xmlns="" val="384426991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latin typeface="Times New Roman" panose="02020603050405020304" pitchFamily="18" charset="0"/>
                <a:cs typeface="Times New Roman" panose="02020603050405020304" pitchFamily="18" charset="0"/>
              </a:rPr>
              <a:t/>
            </a:r>
            <a:br>
              <a:rPr lang="en-US" b="1" dirty="0">
                <a:latin typeface="Times New Roman" panose="02020603050405020304" pitchFamily="18" charset="0"/>
                <a:cs typeface="Times New Roman" panose="02020603050405020304" pitchFamily="18" charset="0"/>
              </a:rPr>
            </a:br>
            <a:r>
              <a:rPr lang="en-US" b="1" dirty="0">
                <a:latin typeface="Times New Roman" panose="02020603050405020304" pitchFamily="18" charset="0"/>
                <a:cs typeface="Times New Roman" panose="02020603050405020304" pitchFamily="18" charset="0"/>
              </a:rPr>
              <a:t>Important Concepts (Socialisation)</a:t>
            </a:r>
            <a:r>
              <a:rPr lang="en-US" dirty="0">
                <a:latin typeface="Times New Roman" panose="02020603050405020304" pitchFamily="18" charset="0"/>
                <a:cs typeface="Times New Roman" panose="02020603050405020304" pitchFamily="18" charset="0"/>
              </a:rPr>
              <a:t/>
            </a:r>
            <a:br>
              <a:rPr lang="en-US" dirty="0">
                <a:latin typeface="Times New Roman" panose="02020603050405020304" pitchFamily="18" charset="0"/>
                <a:cs typeface="Times New Roman" panose="02020603050405020304" pitchFamily="18" charset="0"/>
              </a:rPr>
            </a:br>
            <a:endParaRPr lang="en-US"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normAutofit fontScale="92500" lnSpcReduction="20000"/>
          </a:bodyPr>
          <a:lstStyle/>
          <a:p>
            <a:r>
              <a:rPr lang="en-US" b="1" i="1" dirty="0">
                <a:latin typeface="Times New Roman" panose="02020603050405020304" pitchFamily="18" charset="0"/>
                <a:cs typeface="Times New Roman" panose="02020603050405020304" pitchFamily="18" charset="0"/>
              </a:rPr>
              <a:t>Anticipatory </a:t>
            </a:r>
            <a:r>
              <a:rPr lang="en-US" b="1" i="1" dirty="0" err="1">
                <a:latin typeface="Times New Roman" panose="02020603050405020304" pitchFamily="18" charset="0"/>
                <a:cs typeface="Times New Roman" panose="02020603050405020304" pitchFamily="18" charset="0"/>
              </a:rPr>
              <a:t>socialisation</a:t>
            </a:r>
            <a:r>
              <a:rPr lang="en-US" b="1" i="1" dirty="0">
                <a:latin typeface="Times New Roman" panose="02020603050405020304" pitchFamily="18" charset="0"/>
                <a:cs typeface="Times New Roman" panose="02020603050405020304" pitchFamily="18" charset="0"/>
              </a:rPr>
              <a:t>: </a:t>
            </a:r>
          </a:p>
          <a:p>
            <a:r>
              <a:rPr lang="en-US" b="1" i="1" dirty="0">
                <a:latin typeface="Times New Roman" panose="02020603050405020304" pitchFamily="18" charset="0"/>
                <a:cs typeface="Times New Roman" panose="02020603050405020304" pitchFamily="18" charset="0"/>
              </a:rPr>
              <a:t>A</a:t>
            </a:r>
            <a:r>
              <a:rPr lang="en-US" dirty="0">
                <a:latin typeface="Times New Roman" panose="02020603050405020304" pitchFamily="18" charset="0"/>
                <a:cs typeface="Times New Roman" panose="02020603050405020304" pitchFamily="18" charset="0"/>
              </a:rPr>
              <a:t> person rehearses for future positions, occupation and social relationship. E.g. ?</a:t>
            </a:r>
          </a:p>
          <a:p>
            <a:r>
              <a:rPr lang="en-US" b="1" i="1" dirty="0">
                <a:latin typeface="Times New Roman" panose="02020603050405020304" pitchFamily="18" charset="0"/>
                <a:cs typeface="Times New Roman" panose="02020603050405020304" pitchFamily="18" charset="0"/>
              </a:rPr>
              <a:t>Re-</a:t>
            </a:r>
            <a:r>
              <a:rPr lang="en-US" b="1" i="1" dirty="0" err="1">
                <a:latin typeface="Times New Roman" panose="02020603050405020304" pitchFamily="18" charset="0"/>
                <a:cs typeface="Times New Roman" panose="02020603050405020304" pitchFamily="18" charset="0"/>
              </a:rPr>
              <a:t>socialisation</a:t>
            </a:r>
            <a:r>
              <a:rPr lang="en-US" b="1" i="1" dirty="0">
                <a:latin typeface="Times New Roman" panose="02020603050405020304" pitchFamily="18" charset="0"/>
                <a:cs typeface="Times New Roman" panose="02020603050405020304" pitchFamily="18" charset="0"/>
              </a:rPr>
              <a:t>: </a:t>
            </a:r>
          </a:p>
          <a:p>
            <a:r>
              <a:rPr lang="en-US" dirty="0">
                <a:latin typeface="Times New Roman" panose="02020603050405020304" pitchFamily="18" charset="0"/>
                <a:cs typeface="Times New Roman" panose="02020603050405020304" pitchFamily="18" charset="0"/>
              </a:rPr>
              <a:t>Socialisation to a new role or position in life which requires a dramatic shift in attitudes, values, behaviours and expectation learned in the past</a:t>
            </a:r>
            <a:r>
              <a:rPr lang="en-US" dirty="0" smtClean="0">
                <a:latin typeface="Times New Roman" panose="02020603050405020304" pitchFamily="18" charset="0"/>
                <a:cs typeface="Times New Roman" panose="02020603050405020304" pitchFamily="18" charset="0"/>
              </a:rPr>
              <a:t>.</a:t>
            </a:r>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Re-socialization occurs throughout the human life cycle. Occupation, marriage and retirement, etc. </a:t>
            </a:r>
          </a:p>
        </p:txBody>
      </p:sp>
    </p:spTree>
    <p:extLst>
      <p:ext uri="{BB962C8B-B14F-4D97-AF65-F5344CB8AC3E}">
        <p14:creationId xmlns:p14="http://schemas.microsoft.com/office/powerpoint/2010/main" xmlns="" val="175174412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87CB11B2-E1A1-4C46-A6BD-ABDE43C610BE}"/>
              </a:ext>
            </a:extLst>
          </p:cNvPr>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Important Concepts Cont. </a:t>
            </a:r>
          </a:p>
        </p:txBody>
      </p:sp>
      <p:sp>
        <p:nvSpPr>
          <p:cNvPr id="3" name="Content Placeholder 2">
            <a:extLst>
              <a:ext uri="{FF2B5EF4-FFF2-40B4-BE49-F238E27FC236}">
                <a16:creationId xmlns="" xmlns:a16="http://schemas.microsoft.com/office/drawing/2014/main" id="{DBC5E703-CCC5-43DA-8AAF-E4B422258313}"/>
              </a:ext>
            </a:extLst>
          </p:cNvPr>
          <p:cNvSpPr>
            <a:spLocks noGrp="1"/>
          </p:cNvSpPr>
          <p:nvPr>
            <p:ph idx="1"/>
          </p:nvPr>
        </p:nvSpPr>
        <p:spPr/>
        <p:txBody>
          <a:bodyPr>
            <a:normAutofit fontScale="92500" lnSpcReduction="20000"/>
          </a:bodyPr>
          <a:lstStyle/>
          <a:p>
            <a:r>
              <a:rPr lang="en-US" dirty="0" err="1">
                <a:latin typeface="Times New Roman" panose="02020603050405020304" pitchFamily="18" charset="0"/>
                <a:cs typeface="Times New Roman" panose="02020603050405020304" pitchFamily="18" charset="0"/>
              </a:rPr>
              <a:t>Resocialisation</a:t>
            </a:r>
            <a:r>
              <a:rPr lang="en-US" dirty="0">
                <a:latin typeface="Times New Roman" panose="02020603050405020304" pitchFamily="18" charset="0"/>
                <a:cs typeface="Times New Roman" panose="02020603050405020304" pitchFamily="18" charset="0"/>
              </a:rPr>
              <a:t> is most dramatic in institutions like the armed forces, prisons, convents and mental hospitals. </a:t>
            </a:r>
          </a:p>
          <a:p>
            <a:r>
              <a:rPr lang="en-US" dirty="0">
                <a:latin typeface="Times New Roman" panose="02020603050405020304" pitchFamily="18" charset="0"/>
                <a:cs typeface="Times New Roman" panose="02020603050405020304" pitchFamily="18" charset="0"/>
              </a:rPr>
              <a:t>Goffman (1961) has termed this situation as </a:t>
            </a:r>
            <a:r>
              <a:rPr lang="en-US" b="1" i="1" dirty="0">
                <a:latin typeface="Times New Roman" panose="02020603050405020304" pitchFamily="18" charset="0"/>
                <a:cs typeface="Times New Roman" panose="02020603050405020304" pitchFamily="18" charset="0"/>
              </a:rPr>
              <a:t>mortification of self</a:t>
            </a:r>
            <a:r>
              <a:rPr lang="en-US" i="1" dirty="0">
                <a:latin typeface="Times New Roman" panose="02020603050405020304" pitchFamily="18" charset="0"/>
                <a:cs typeface="Times New Roman" panose="02020603050405020304" pitchFamily="18" charset="0"/>
              </a:rPr>
              <a:t>.</a:t>
            </a:r>
          </a:p>
          <a:p>
            <a:r>
              <a:rPr lang="en-US" b="1" dirty="0">
                <a:latin typeface="Times New Roman" panose="02020603050405020304" pitchFamily="18" charset="0"/>
                <a:cs typeface="Times New Roman" panose="02020603050405020304" pitchFamily="18" charset="0"/>
              </a:rPr>
              <a:t>Reverse Socialisation: </a:t>
            </a:r>
          </a:p>
          <a:p>
            <a:r>
              <a:rPr lang="en-US" dirty="0">
                <a:latin typeface="Times New Roman" panose="02020603050405020304" pitchFamily="18" charset="0"/>
                <a:cs typeface="Times New Roman" panose="02020603050405020304" pitchFamily="18" charset="0"/>
              </a:rPr>
              <a:t>People being socialized are at the same time socializing their </a:t>
            </a:r>
            <a:r>
              <a:rPr lang="en-US" dirty="0" err="1">
                <a:latin typeface="Times New Roman" panose="02020603050405020304" pitchFamily="18" charset="0"/>
                <a:cs typeface="Times New Roman" panose="02020603050405020304" pitchFamily="18" charset="0"/>
              </a:rPr>
              <a:t>socialisers</a:t>
            </a:r>
            <a:r>
              <a:rPr lang="en-US" dirty="0">
                <a:latin typeface="Times New Roman" panose="02020603050405020304" pitchFamily="18" charset="0"/>
                <a:cs typeface="Times New Roman" panose="02020603050405020304" pitchFamily="18" charset="0"/>
              </a:rPr>
              <a:t>. Young people may affect the way parents dress, eat and even think. Students may modify the way lecturers teach, set exams, apply university rules, dress, talk, etc. </a:t>
            </a:r>
          </a:p>
          <a:p>
            <a:endParaRPr lang="en-US"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xmlns="" val="81934505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Important Concepts Cont.</a:t>
            </a:r>
          </a:p>
        </p:txBody>
      </p:sp>
      <p:sp>
        <p:nvSpPr>
          <p:cNvPr id="3" name="Content Placeholder 2"/>
          <p:cNvSpPr>
            <a:spLocks noGrp="1"/>
          </p:cNvSpPr>
          <p:nvPr>
            <p:ph idx="1"/>
          </p:nvPr>
        </p:nvSpPr>
        <p:spPr/>
        <p:txBody>
          <a:bodyPr>
            <a:normAutofit fontScale="85000" lnSpcReduction="10000"/>
          </a:bodyPr>
          <a:lstStyle/>
          <a:p>
            <a:r>
              <a:rPr lang="en-US" b="1" dirty="0">
                <a:latin typeface="Times New Roman" panose="02020603050405020304" pitchFamily="18" charset="0"/>
                <a:cs typeface="Times New Roman" panose="02020603050405020304" pitchFamily="18" charset="0"/>
              </a:rPr>
              <a:t>Significant others:</a:t>
            </a:r>
            <a:r>
              <a:rPr lang="en-US" dirty="0">
                <a:latin typeface="Times New Roman" panose="02020603050405020304" pitchFamily="18" charset="0"/>
                <a:cs typeface="Times New Roman" panose="02020603050405020304" pitchFamily="18" charset="0"/>
              </a:rPr>
              <a:t> </a:t>
            </a:r>
          </a:p>
          <a:p>
            <a:r>
              <a:rPr lang="en-US" dirty="0">
                <a:latin typeface="Times New Roman" panose="02020603050405020304" pitchFamily="18" charset="0"/>
                <a:cs typeface="Times New Roman" panose="02020603050405020304" pitchFamily="18" charset="0"/>
              </a:rPr>
              <a:t>Any person or persons with a strong influence on an individual's self-concept. E.g. father, mother, nurse, teacher or generally people with whom we have some form of intimate or primary association on daily basis. </a:t>
            </a:r>
          </a:p>
          <a:p>
            <a:r>
              <a:rPr lang="en-US" b="1" dirty="0">
                <a:latin typeface="Times New Roman" panose="02020603050405020304" pitchFamily="18" charset="0"/>
                <a:cs typeface="Times New Roman" panose="02020603050405020304" pitchFamily="18" charset="0"/>
              </a:rPr>
              <a:t>Generalized others:</a:t>
            </a:r>
            <a:r>
              <a:rPr lang="en-US" dirty="0">
                <a:latin typeface="Times New Roman" panose="02020603050405020304" pitchFamily="18" charset="0"/>
                <a:cs typeface="Times New Roman" panose="02020603050405020304" pitchFamily="18" charset="0"/>
              </a:rPr>
              <a:t> </a:t>
            </a:r>
          </a:p>
          <a:p>
            <a:r>
              <a:rPr lang="en-US" dirty="0">
                <a:latin typeface="Times New Roman" panose="02020603050405020304" pitchFamily="18" charset="0"/>
                <a:cs typeface="Times New Roman" panose="02020603050405020304" pitchFamily="18" charset="0"/>
              </a:rPr>
              <a:t>This is the general notion that a person has of the common expectations of society and its structures. Any time that an actor tries to imagine what is expected of them, they are taking on the perspective of the generalized other.</a:t>
            </a:r>
          </a:p>
          <a:p>
            <a:pPr marL="0" indent="0">
              <a:buNone/>
            </a:pP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xmlns="" val="407025509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7AE757B4-4EAE-4AD0-9DF6-CB02599EC69F}"/>
              </a:ext>
            </a:extLst>
          </p:cNvPr>
          <p:cNvSpPr>
            <a:spLocks noGrp="1"/>
          </p:cNvSpPr>
          <p:nvPr>
            <p:ph type="title"/>
          </p:nvPr>
        </p:nvSpPr>
        <p:spPr/>
        <p:txBody>
          <a:bodyPr>
            <a:normAutofit fontScale="90000"/>
          </a:bodyPr>
          <a:lstStyle/>
          <a:p>
            <a:pPr algn="ctr"/>
            <a:r>
              <a:rPr lang="en-US" b="1" dirty="0">
                <a:latin typeface="Times New Roman" panose="02020603050405020304" pitchFamily="18" charset="0"/>
                <a:cs typeface="Times New Roman" panose="02020603050405020304" pitchFamily="18" charset="0"/>
              </a:rPr>
              <a:t/>
            </a:r>
            <a:br>
              <a:rPr lang="en-US" b="1" dirty="0">
                <a:latin typeface="Times New Roman" panose="02020603050405020304" pitchFamily="18" charset="0"/>
                <a:cs typeface="Times New Roman" panose="02020603050405020304" pitchFamily="18" charset="0"/>
              </a:rPr>
            </a:br>
            <a:r>
              <a:rPr lang="en-US" b="1" dirty="0">
                <a:latin typeface="Times New Roman" panose="02020603050405020304" pitchFamily="18" charset="0"/>
                <a:cs typeface="Times New Roman" panose="02020603050405020304" pitchFamily="18" charset="0"/>
              </a:rPr>
              <a:t>Agencies of </a:t>
            </a:r>
            <a:r>
              <a:rPr lang="en-US" b="1" dirty="0" err="1">
                <a:latin typeface="Times New Roman" panose="02020603050405020304" pitchFamily="18" charset="0"/>
                <a:cs typeface="Times New Roman" panose="02020603050405020304" pitchFamily="18" charset="0"/>
              </a:rPr>
              <a:t>socialisation</a:t>
            </a:r>
            <a:r>
              <a:rPr lang="en-US" b="1" dirty="0">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
            </a:r>
            <a:br>
              <a:rPr lang="en-US" dirty="0">
                <a:latin typeface="Times New Roman" panose="02020603050405020304" pitchFamily="18" charset="0"/>
                <a:cs typeface="Times New Roman" panose="02020603050405020304" pitchFamily="18" charset="0"/>
              </a:rPr>
            </a:br>
            <a:endParaRPr lang="en-US"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 xmlns:a16="http://schemas.microsoft.com/office/drawing/2014/main" id="{0AC6A237-B5FE-4738-9F10-F0611D1DDC09}"/>
              </a:ext>
            </a:extLst>
          </p:cNvPr>
          <p:cNvSpPr>
            <a:spLocks noGrp="1"/>
          </p:cNvSpPr>
          <p:nvPr>
            <p:ph idx="1"/>
          </p:nvPr>
        </p:nvSpPr>
        <p:spPr>
          <a:xfrm>
            <a:off x="457200" y="1600200"/>
            <a:ext cx="8229600" cy="4724400"/>
          </a:xfrm>
        </p:spPr>
        <p:txBody>
          <a:bodyPr>
            <a:normAutofit/>
          </a:bodyPr>
          <a:lstStyle/>
          <a:p>
            <a:r>
              <a:rPr lang="en-US" sz="3200" dirty="0" smtClean="0">
                <a:latin typeface="Times New Roman" panose="02020603050405020304" pitchFamily="18" charset="0"/>
                <a:cs typeface="Times New Roman" panose="02020603050405020304" pitchFamily="18" charset="0"/>
              </a:rPr>
              <a:t>Most </a:t>
            </a:r>
            <a:r>
              <a:rPr lang="en-US" sz="3200" dirty="0">
                <a:latin typeface="Times New Roman" panose="02020603050405020304" pitchFamily="18" charset="0"/>
                <a:cs typeface="Times New Roman" panose="02020603050405020304" pitchFamily="18" charset="0"/>
              </a:rPr>
              <a:t>influential occurs particular groups called agencies.</a:t>
            </a:r>
          </a:p>
          <a:p>
            <a:pPr marL="514350" indent="-514350">
              <a:buFont typeface="+mj-lt"/>
              <a:buAutoNum type="arabicPeriod"/>
            </a:pPr>
            <a:r>
              <a:rPr lang="en-US" sz="3200" dirty="0">
                <a:latin typeface="Times New Roman" panose="02020603050405020304" pitchFamily="18" charset="0"/>
                <a:cs typeface="Times New Roman" panose="02020603050405020304" pitchFamily="18" charset="0"/>
              </a:rPr>
              <a:t>Family  </a:t>
            </a:r>
          </a:p>
          <a:p>
            <a:pPr marL="514350" indent="-514350">
              <a:buFont typeface="+mj-lt"/>
              <a:buAutoNum type="arabicPeriod"/>
            </a:pPr>
            <a:r>
              <a:rPr lang="en-US" sz="3200" dirty="0">
                <a:latin typeface="Times New Roman" panose="02020603050405020304" pitchFamily="18" charset="0"/>
                <a:cs typeface="Times New Roman" panose="02020603050405020304" pitchFamily="18" charset="0"/>
              </a:rPr>
              <a:t>School  </a:t>
            </a:r>
          </a:p>
          <a:p>
            <a:pPr marL="514350" indent="-514350">
              <a:buFont typeface="+mj-lt"/>
              <a:buAutoNum type="arabicPeriod"/>
            </a:pPr>
            <a:r>
              <a:rPr lang="en-US" sz="3200" dirty="0">
                <a:latin typeface="Times New Roman" panose="02020603050405020304" pitchFamily="18" charset="0"/>
                <a:cs typeface="Times New Roman" panose="02020603050405020304" pitchFamily="18" charset="0"/>
              </a:rPr>
              <a:t>Peer groups</a:t>
            </a:r>
          </a:p>
          <a:p>
            <a:pPr marL="514350" indent="-514350">
              <a:buFont typeface="+mj-lt"/>
              <a:buAutoNum type="arabicPeriod"/>
            </a:pPr>
            <a:r>
              <a:rPr lang="en-US" sz="3200" dirty="0">
                <a:latin typeface="Times New Roman" panose="02020603050405020304" pitchFamily="18" charset="0"/>
                <a:cs typeface="Times New Roman" panose="02020603050405020304" pitchFamily="18" charset="0"/>
              </a:rPr>
              <a:t>Mass media. </a:t>
            </a:r>
          </a:p>
          <a:p>
            <a:pPr marL="514350" indent="-514350">
              <a:buFont typeface="+mj-lt"/>
              <a:buAutoNum type="arabicPeriod"/>
            </a:pPr>
            <a:r>
              <a:rPr lang="en-NZ" dirty="0" smtClean="0">
                <a:latin typeface="Times New Roman" panose="02020603050405020304" pitchFamily="18" charset="0"/>
                <a:cs typeface="Times New Roman" panose="02020603050405020304" pitchFamily="18" charset="0"/>
              </a:rPr>
              <a:t>Workplace</a:t>
            </a:r>
          </a:p>
          <a:p>
            <a:pPr marL="514350" indent="-514350">
              <a:buFont typeface="+mj-lt"/>
              <a:buAutoNum type="arabicPeriod"/>
            </a:pPr>
            <a:r>
              <a:rPr lang="en-NZ" dirty="0" smtClean="0">
                <a:latin typeface="Times New Roman" panose="02020603050405020304" pitchFamily="18" charset="0"/>
                <a:cs typeface="Times New Roman" panose="02020603050405020304" pitchFamily="18" charset="0"/>
              </a:rPr>
              <a:t>R</a:t>
            </a:r>
            <a:r>
              <a:rPr lang="en-NZ" sz="3200" dirty="0" smtClean="0">
                <a:latin typeface="Times New Roman" panose="02020603050405020304" pitchFamily="18" charset="0"/>
                <a:cs typeface="Times New Roman" panose="02020603050405020304" pitchFamily="18" charset="0"/>
              </a:rPr>
              <a:t>eligion</a:t>
            </a:r>
            <a:endParaRPr lang="en-US" sz="3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xmlns="" val="336021768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8D5DD242-835B-4469-80D4-F052A66C9341}"/>
              </a:ext>
            </a:extLst>
          </p:cNvPr>
          <p:cNvSpPr>
            <a:spLocks noGrp="1"/>
          </p:cNvSpPr>
          <p:nvPr>
            <p:ph type="title"/>
          </p:nvPr>
        </p:nvSpPr>
        <p:spPr/>
        <p:txBody>
          <a:bodyPr>
            <a:normAutofit/>
          </a:bodyPr>
          <a:lstStyle/>
          <a:p>
            <a:r>
              <a:rPr lang="en-US" b="1" dirty="0">
                <a:latin typeface="Times New Roman" panose="02020603050405020304" pitchFamily="18" charset="0"/>
                <a:cs typeface="Times New Roman" panose="02020603050405020304" pitchFamily="18" charset="0"/>
              </a:rPr>
              <a:t>Socialization and Deviation</a:t>
            </a:r>
            <a:endParaRPr lang="en-US" dirty="0"/>
          </a:p>
        </p:txBody>
      </p:sp>
      <p:sp>
        <p:nvSpPr>
          <p:cNvPr id="3" name="Content Placeholder 2">
            <a:extLst>
              <a:ext uri="{FF2B5EF4-FFF2-40B4-BE49-F238E27FC236}">
                <a16:creationId xmlns="" xmlns:a16="http://schemas.microsoft.com/office/drawing/2014/main" id="{C1506E1D-C1BA-434F-9796-A0BCABAF5553}"/>
              </a:ext>
            </a:extLst>
          </p:cNvPr>
          <p:cNvSpPr>
            <a:spLocks noGrp="1"/>
          </p:cNvSpPr>
          <p:nvPr>
            <p:ph idx="1"/>
          </p:nvPr>
        </p:nvSpPr>
        <p:spPr/>
        <p:txBody>
          <a:bodyPr>
            <a:normAutofit fontScale="77500" lnSpcReduction="20000"/>
          </a:bodyPr>
          <a:lstStyle/>
          <a:p>
            <a:r>
              <a:rPr lang="en-US" dirty="0">
                <a:latin typeface="Times New Roman" panose="02020603050405020304" pitchFamily="18" charset="0"/>
                <a:cs typeface="Times New Roman" panose="02020603050405020304" pitchFamily="18" charset="0"/>
              </a:rPr>
              <a:t>Every member of a society is frustrated by the clash of his biological drives (such as sex) with the taboos of his culture. </a:t>
            </a:r>
          </a:p>
          <a:p>
            <a:r>
              <a:rPr lang="en-US" dirty="0">
                <a:latin typeface="Times New Roman" panose="02020603050405020304" pitchFamily="18" charset="0"/>
                <a:cs typeface="Times New Roman" panose="02020603050405020304" pitchFamily="18" charset="0"/>
              </a:rPr>
              <a:t>Even though most persons conform to the norms of society, others deviate. Why? </a:t>
            </a:r>
          </a:p>
          <a:p>
            <a:pPr marL="514350" indent="-514350">
              <a:buFont typeface="+mj-lt"/>
              <a:buAutoNum type="arabicPeriod"/>
            </a:pPr>
            <a:r>
              <a:rPr lang="en-US" dirty="0">
                <a:latin typeface="Times New Roman" panose="02020603050405020304" pitchFamily="18" charset="0"/>
                <a:cs typeface="Times New Roman" panose="02020603050405020304" pitchFamily="18" charset="0"/>
              </a:rPr>
              <a:t>Socialization is too rigid</a:t>
            </a:r>
          </a:p>
          <a:p>
            <a:pPr marL="514350" indent="-514350">
              <a:buFont typeface="+mj-lt"/>
              <a:buAutoNum type="arabicPeriod"/>
            </a:pPr>
            <a:r>
              <a:rPr lang="en-US" dirty="0">
                <a:latin typeface="Times New Roman" panose="02020603050405020304" pitchFamily="18" charset="0"/>
                <a:cs typeface="Times New Roman" panose="02020603050405020304" pitchFamily="18" charset="0"/>
              </a:rPr>
              <a:t>All </a:t>
            </a:r>
            <a:r>
              <a:rPr lang="en-US" dirty="0" err="1">
                <a:latin typeface="Times New Roman" panose="02020603050405020304" pitchFamily="18" charset="0"/>
                <a:cs typeface="Times New Roman" panose="02020603050405020304" pitchFamily="18" charset="0"/>
              </a:rPr>
              <a:t>socialisation</a:t>
            </a:r>
            <a:r>
              <a:rPr lang="en-US" dirty="0">
                <a:latin typeface="Times New Roman" panose="02020603050405020304" pitchFamily="18" charset="0"/>
                <a:cs typeface="Times New Roman" panose="02020603050405020304" pitchFamily="18" charset="0"/>
              </a:rPr>
              <a:t> makes conflicting demands and, therefore, produces some antagonism to </a:t>
            </a:r>
            <a:r>
              <a:rPr lang="en-US" dirty="0" err="1">
                <a:latin typeface="Times New Roman" panose="02020603050405020304" pitchFamily="18" charset="0"/>
                <a:cs typeface="Times New Roman" panose="02020603050405020304" pitchFamily="18" charset="0"/>
              </a:rPr>
              <a:t>socialising</a:t>
            </a:r>
            <a:r>
              <a:rPr lang="en-US" dirty="0">
                <a:latin typeface="Times New Roman" panose="02020603050405020304" pitchFamily="18" charset="0"/>
                <a:cs typeface="Times New Roman" panose="02020603050405020304" pitchFamily="18" charset="0"/>
              </a:rPr>
              <a:t> agents.</a:t>
            </a:r>
          </a:p>
          <a:p>
            <a:pPr marL="514350" indent="-514350">
              <a:buFont typeface="+mj-lt"/>
              <a:buAutoNum type="arabicPeriod"/>
            </a:pPr>
            <a:r>
              <a:rPr lang="en-US" dirty="0">
                <a:latin typeface="Times New Roman" panose="02020603050405020304" pitchFamily="18" charset="0"/>
                <a:cs typeface="Times New Roman" panose="02020603050405020304" pitchFamily="18" charset="0"/>
              </a:rPr>
              <a:t>Defects in socialization process. E.g. personality disposition of mental incapacity, through interruption of social learning and through incoherence or contradictions in the social environment. </a:t>
            </a:r>
          </a:p>
        </p:txBody>
      </p:sp>
    </p:spTree>
    <p:extLst>
      <p:ext uri="{BB962C8B-B14F-4D97-AF65-F5344CB8AC3E}">
        <p14:creationId xmlns:p14="http://schemas.microsoft.com/office/powerpoint/2010/main" xmlns="" val="207597543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NZ" b="1" dirty="0" smtClean="0">
                <a:latin typeface="Times New Roman" pitchFamily="18" charset="0"/>
                <a:cs typeface="Times New Roman" pitchFamily="18" charset="0"/>
              </a:rPr>
              <a:t>NEXT WEEK</a:t>
            </a:r>
            <a:endParaRPr lang="en-US" b="1" dirty="0">
              <a:latin typeface="Times New Roman" pitchFamily="18" charset="0"/>
              <a:cs typeface="Times New Roman" pitchFamily="18" charset="0"/>
            </a:endParaRPr>
          </a:p>
        </p:txBody>
      </p:sp>
      <p:sp>
        <p:nvSpPr>
          <p:cNvPr id="3" name="Content Placeholder 2"/>
          <p:cNvSpPr>
            <a:spLocks noGrp="1"/>
          </p:cNvSpPr>
          <p:nvPr>
            <p:ph idx="1"/>
          </p:nvPr>
        </p:nvSpPr>
        <p:spPr/>
        <p:txBody>
          <a:bodyPr/>
          <a:lstStyle/>
          <a:p>
            <a:pPr lvl="0"/>
            <a:r>
              <a:rPr lang="en-US" dirty="0" smtClean="0">
                <a:latin typeface="Times New Roman" panose="02020603050405020304" pitchFamily="18" charset="0"/>
                <a:cs typeface="Times New Roman" panose="02020603050405020304" pitchFamily="18" charset="0"/>
              </a:rPr>
              <a:t>Individual and Society</a:t>
            </a: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xmlns="" val="1574697989"/>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267</TotalTime>
  <Words>1475</Words>
  <Application>Microsoft Office PowerPoint</Application>
  <PresentationFormat>On-screen Show (4:3)</PresentationFormat>
  <Paragraphs>132</Paragraphs>
  <Slides>27</Slides>
  <Notes>0</Notes>
  <HiddenSlides>0</HiddenSlides>
  <MMClips>0</MMClips>
  <ScaleCrop>false</ScaleCrop>
  <HeadingPairs>
    <vt:vector size="4" baseType="variant">
      <vt:variant>
        <vt:lpstr>Theme</vt:lpstr>
      </vt:variant>
      <vt:variant>
        <vt:i4>1</vt:i4>
      </vt:variant>
      <vt:variant>
        <vt:lpstr>Slide Titles</vt:lpstr>
      </vt:variant>
      <vt:variant>
        <vt:i4>27</vt:i4>
      </vt:variant>
    </vt:vector>
  </HeadingPairs>
  <TitlesOfParts>
    <vt:vector size="28" baseType="lpstr">
      <vt:lpstr>Office Theme</vt:lpstr>
      <vt:lpstr>SOCIALISATION</vt:lpstr>
      <vt:lpstr>Intro: Socialisation</vt:lpstr>
      <vt:lpstr>Socialization: Definition</vt:lpstr>
      <vt:lpstr>Socialisation as a Process</vt:lpstr>
      <vt:lpstr>Aims of Socialisation</vt:lpstr>
      <vt:lpstr> Forms (Types) of Socialisation  </vt:lpstr>
      <vt:lpstr>Theories of Socialization</vt:lpstr>
      <vt:lpstr>Psychological Perspectives on Self Development</vt:lpstr>
      <vt:lpstr>Freud’s Theory of Psychoanalysis </vt:lpstr>
      <vt:lpstr>Freud’s Theory of Psychoanalysis</vt:lpstr>
      <vt:lpstr>Psychoanalysis Cont. </vt:lpstr>
      <vt:lpstr>Theory of Psychosexual Development </vt:lpstr>
      <vt:lpstr>Oral Stage (from birth to age 1)</vt:lpstr>
      <vt:lpstr>Anal stage (1-3 years)</vt:lpstr>
      <vt:lpstr>Phallic stage (3-6 years)</vt:lpstr>
      <vt:lpstr>Latency (6 years to puberty)</vt:lpstr>
      <vt:lpstr>Genital stage (11 years and above)</vt:lpstr>
      <vt:lpstr>Sociological Theories of Self Development</vt:lpstr>
      <vt:lpstr>Charles Horton Cooley (1864-1929)</vt:lpstr>
      <vt:lpstr>C.H. COOLEY (1864–1929): Looking-Glass Self</vt:lpstr>
      <vt:lpstr>Steps/assumptions/statements/stages</vt:lpstr>
      <vt:lpstr> Important Concepts (Socialisation) </vt:lpstr>
      <vt:lpstr>Important Concepts Cont. </vt:lpstr>
      <vt:lpstr>Important Concepts Cont.</vt:lpstr>
      <vt:lpstr> Agencies of socialisation  </vt:lpstr>
      <vt:lpstr>Socialization and Deviation</vt:lpstr>
      <vt:lpstr>NEXT WEEK</vt:lpstr>
    </vt:vector>
  </TitlesOfParts>
  <Company>Microsoft</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Microsoft</dc:creator>
  <cp:lastModifiedBy>Slow</cp:lastModifiedBy>
  <cp:revision>50</cp:revision>
  <dcterms:created xsi:type="dcterms:W3CDTF">2019-10-09T15:05:50Z</dcterms:created>
  <dcterms:modified xsi:type="dcterms:W3CDTF">2019-10-10T06:29:45Z</dcterms:modified>
</cp:coreProperties>
</file>