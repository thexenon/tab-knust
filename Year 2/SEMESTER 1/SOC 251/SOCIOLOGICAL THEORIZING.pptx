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9" r:id="rId4"/>
    <p:sldId id="261" r:id="rId5"/>
    <p:sldId id="258" r:id="rId6"/>
    <p:sldId id="262" r:id="rId7"/>
    <p:sldId id="263" r:id="rId8"/>
    <p:sldId id="264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0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B273C-B914-4157-900A-5D1CA3285166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EC97-27FD-4C16-B22D-BE13725E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7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B273C-B914-4157-900A-5D1CA3285166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EC97-27FD-4C16-B22D-BE13725E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31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B273C-B914-4157-900A-5D1CA3285166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EC97-27FD-4C16-B22D-BE13725E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7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B273C-B914-4157-900A-5D1CA3285166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EC97-27FD-4C16-B22D-BE13725E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80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B273C-B914-4157-900A-5D1CA3285166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EC97-27FD-4C16-B22D-BE13725E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930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B273C-B914-4157-900A-5D1CA3285166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EC97-27FD-4C16-B22D-BE13725E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2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B273C-B914-4157-900A-5D1CA3285166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EC97-27FD-4C16-B22D-BE13725E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460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B273C-B914-4157-900A-5D1CA3285166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EC97-27FD-4C16-B22D-BE13725E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75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B273C-B914-4157-900A-5D1CA3285166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EC97-27FD-4C16-B22D-BE13725E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16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B273C-B914-4157-900A-5D1CA3285166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EC97-27FD-4C16-B22D-BE13725E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0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B273C-B914-4157-900A-5D1CA3285166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0EC97-27FD-4C16-B22D-BE13725E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248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B273C-B914-4157-900A-5D1CA3285166}" type="datetimeFigureOut">
              <a:rPr lang="en-US" smtClean="0"/>
              <a:t>10/3/2019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0EC97-27FD-4C16-B22D-BE13725EA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27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SOCIOLOGICAL THEORIZING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b="1" dirty="0" smtClean="0">
                <a:latin typeface="Times New Roman" pitchFamily="18" charset="0"/>
                <a:cs typeface="Times New Roman" pitchFamily="18" charset="0"/>
              </a:rPr>
              <a:t>Learning Objectives:</a:t>
            </a:r>
          </a:p>
          <a:p>
            <a:pPr lvl="1"/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Explain sociological theory and it’s characteristics.</a:t>
            </a:r>
          </a:p>
          <a:p>
            <a:pPr lvl="1"/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Describe </a:t>
            </a:r>
            <a:r>
              <a:rPr lang="en-NZ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micro-level </a:t>
            </a:r>
            <a:r>
              <a:rPr lang="en-NZ" dirty="0">
                <a:latin typeface="Times New Roman" pitchFamily="18" charset="0"/>
                <a:cs typeface="Times New Roman" pitchFamily="18" charset="0"/>
              </a:rPr>
              <a:t>approach to research, and provide an example of a </a:t>
            </a: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micro-level study.</a:t>
            </a:r>
          </a:p>
          <a:p>
            <a:pPr lvl="1"/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Describe </a:t>
            </a:r>
            <a:r>
              <a:rPr lang="en-NZ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NZ" dirty="0" err="1" smtClean="0">
                <a:latin typeface="Times New Roman" pitchFamily="18" charset="0"/>
                <a:cs typeface="Times New Roman" pitchFamily="18" charset="0"/>
              </a:rPr>
              <a:t>meso</a:t>
            </a: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-level </a:t>
            </a:r>
            <a:r>
              <a:rPr lang="en-NZ" dirty="0">
                <a:latin typeface="Times New Roman" pitchFamily="18" charset="0"/>
                <a:cs typeface="Times New Roman" pitchFamily="18" charset="0"/>
              </a:rPr>
              <a:t>approach to research, and provide an example of a </a:t>
            </a:r>
            <a:r>
              <a:rPr lang="en-NZ" dirty="0" err="1" smtClean="0">
                <a:latin typeface="Times New Roman" pitchFamily="18" charset="0"/>
                <a:cs typeface="Times New Roman" pitchFamily="18" charset="0"/>
              </a:rPr>
              <a:t>meso</a:t>
            </a: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-level study.</a:t>
            </a:r>
          </a:p>
          <a:p>
            <a:pPr lvl="1"/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Describe </a:t>
            </a:r>
            <a:r>
              <a:rPr lang="en-NZ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macro-level </a:t>
            </a:r>
            <a:r>
              <a:rPr lang="en-NZ" dirty="0">
                <a:latin typeface="Times New Roman" pitchFamily="18" charset="0"/>
                <a:cs typeface="Times New Roman" pitchFamily="18" charset="0"/>
              </a:rPr>
              <a:t>approach to research, and provide an example of a </a:t>
            </a: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macro-level </a:t>
            </a:r>
            <a:r>
              <a:rPr lang="en-NZ" dirty="0">
                <a:latin typeface="Times New Roman" pitchFamily="18" charset="0"/>
                <a:cs typeface="Times New Roman" pitchFamily="18" charset="0"/>
              </a:rPr>
              <a:t>study</a:t>
            </a: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/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Explain key sociological theories.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372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D8137E-B872-4A2E-9234-1D4E68D9F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Sociological Theorizing: Introduction 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861AC5-388D-4A39-B12D-6889CB152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Sociology adopts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different theoretical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perspectives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as analytical frames for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explanation of social phenomena.</a:t>
            </a:r>
          </a:p>
          <a:p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No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single perspective in sociology. Why? Human behaviour is complex and dynamic.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50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C164E4-0460-44A5-9BD7-971337418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Micro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Perspectives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45077D-9F29-4D68-848F-06A43ECB6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lnSpcReduction="10000"/>
          </a:bodyPr>
          <a:lstStyle/>
          <a:p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Examine </a:t>
            </a:r>
            <a:r>
              <a:rPr lang="en-NZ" dirty="0">
                <a:latin typeface="Times New Roman" pitchFamily="18" charset="0"/>
                <a:cs typeface="Times New Roman" pitchFamily="18" charset="0"/>
              </a:rPr>
              <a:t>the smallest levels of </a:t>
            </a: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interaction.</a:t>
            </a:r>
          </a:p>
          <a:p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Interested </a:t>
            </a:r>
            <a:r>
              <a:rPr lang="en-NZ" dirty="0">
                <a:latin typeface="Times New Roman" pitchFamily="18" charset="0"/>
                <a:cs typeface="Times New Roman" pitchFamily="18" charset="0"/>
              </a:rPr>
              <a:t>in how a person’s perception of self is influenced by his or her social context.</a:t>
            </a:r>
          </a:p>
          <a:p>
            <a:pPr marL="0" indent="0">
              <a:buNone/>
            </a:pPr>
            <a:endParaRPr lang="en-NZ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Basic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assumptions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Man (human behaviour) makes society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Man is active participant </a:t>
            </a:r>
          </a:p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Human beings have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consciousness and so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their actions are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meaningful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91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E746B4-B989-4450-A1C8-36D1A365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Meso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Perspective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43244E-529B-46CE-B18B-31E6A0107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NZ" dirty="0">
                <a:latin typeface="Times New Roman" pitchFamily="18" charset="0"/>
                <a:cs typeface="Times New Roman" pitchFamily="18" charset="0"/>
              </a:rPr>
              <a:t>sociologists investigate groups, their inquiry is at the </a:t>
            </a:r>
            <a:r>
              <a:rPr lang="en-NZ" dirty="0" err="1" smtClean="0">
                <a:latin typeface="Times New Roman" pitchFamily="18" charset="0"/>
                <a:cs typeface="Times New Roman" pitchFamily="18" charset="0"/>
              </a:rPr>
              <a:t>meso</a:t>
            </a: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-level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Both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Man/individual and society influence each other.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Human behaviour results both from consciousness and societal rules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NZ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 how </a:t>
            </a:r>
            <a:r>
              <a:rPr lang="en-NZ" dirty="0">
                <a:latin typeface="Times New Roman" pitchFamily="18" charset="0"/>
                <a:cs typeface="Times New Roman" pitchFamily="18" charset="0"/>
              </a:rPr>
              <a:t>norms of workplace </a:t>
            </a: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behaviour </a:t>
            </a:r>
            <a:r>
              <a:rPr lang="en-NZ" dirty="0">
                <a:latin typeface="Times New Roman" pitchFamily="18" charset="0"/>
                <a:cs typeface="Times New Roman" pitchFamily="18" charset="0"/>
              </a:rPr>
              <a:t>vary across </a:t>
            </a: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professions.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755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FC3E255-BED4-4D37-8494-3A5F6777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Macro Perspectives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3855D0-F8DC-4948-917F-F1AF1A3A8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Examine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social structures and institutions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ctr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Basic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assumptions</a:t>
            </a:r>
          </a:p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Society makes man (human behaviour)</a:t>
            </a:r>
          </a:p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Man is passive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participant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264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6E6D3F-51AC-4FA9-88DD-5D5521581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What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hen is Sociological Theory?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0F2D0ED-61AA-448D-A7AB-1A629C784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sociological theory is a theory that attempts a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systematic explanation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and prediction relating to the nature, patterns, and dynamics of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human interaction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GB" dirty="0" err="1">
                <a:latin typeface="Times New Roman" pitchFamily="18" charset="0"/>
                <a:cs typeface="Times New Roman" pitchFamily="18" charset="0"/>
              </a:rPr>
              <a:t>Theordorson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and Theordorson,1970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Theories in sociology provide us with different perspectives with which to view our social world.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351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2285BE-E558-45F2-A0CD-E394CA4E2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Features of Sociological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7204563-E4E6-44A0-82D0-F84ECBBF4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lnSpc>
                <a:spcPct val="110000"/>
              </a:lnSpc>
              <a:buFont typeface="+mj-lt"/>
              <a:buAutoNum type="arabicPeriod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Some level of abstraction</a:t>
            </a:r>
          </a:p>
          <a:p>
            <a:pPr marL="742950" indent="-742950">
              <a:lnSpc>
                <a:spcPct val="110000"/>
              </a:lnSpc>
              <a:buFont typeface="+mj-lt"/>
              <a:buAutoNum type="arabicPeriod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Generality of assertion</a:t>
            </a:r>
          </a:p>
          <a:p>
            <a:pPr marL="742950" indent="-742950">
              <a:lnSpc>
                <a:spcPct val="110000"/>
              </a:lnSpc>
              <a:buFont typeface="+mj-lt"/>
              <a:buAutoNum type="arabicPeriod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Logicality of postulation</a:t>
            </a:r>
          </a:p>
          <a:p>
            <a:pPr marL="742950" indent="-742950">
              <a:lnSpc>
                <a:spcPct val="110000"/>
              </a:lnSpc>
              <a:buFont typeface="+mj-lt"/>
              <a:buAutoNum type="arabicPeriod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Predictive capacity</a:t>
            </a:r>
          </a:p>
          <a:p>
            <a:pPr marL="742950" indent="-742950">
              <a:lnSpc>
                <a:spcPct val="110000"/>
              </a:lnSpc>
              <a:buFont typeface="+mj-lt"/>
              <a:buAutoNum type="arabicPeriod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Empirical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verifiability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01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118796-2C66-4160-9660-12A84AB95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Sociological Theory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53647FF-FA86-4D07-AB46-D107C88F7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Wonder: To be curious about the phenomenon. E.g. prostitution, ‘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streetism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’, poverty,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Conceptualize: Words, names, ideas, used to classify phenomena 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behaviours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E.g. stratification, social mobility, social structure, etc. Operationalization (measurement) ends the process of conceptualization.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Theorize: Stating why and how concepts are related in explaining the social phenomenon. Attempting cause effect relationship between concepts. </a:t>
            </a:r>
          </a:p>
        </p:txBody>
      </p:sp>
    </p:spTree>
    <p:extLst>
      <p:ext uri="{BB962C8B-B14F-4D97-AF65-F5344CB8AC3E}">
        <p14:creationId xmlns:p14="http://schemas.microsoft.com/office/powerpoint/2010/main" val="4070136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312838-7967-44BF-8342-B7BE62D3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Why study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Sociological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heory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4F96B52-30B7-4DB4-8860-3D4A9A8F9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Development of a Critical mind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Ascertaining the causes of social problems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Predicting the effects of social phenomena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Evaluating policies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programmes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Finding solutions to social problems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Foundation for social research </a:t>
            </a:r>
          </a:p>
        </p:txBody>
      </p:sp>
    </p:spTree>
    <p:extLst>
      <p:ext uri="{BB962C8B-B14F-4D97-AF65-F5344CB8AC3E}">
        <p14:creationId xmlns:p14="http://schemas.microsoft.com/office/powerpoint/2010/main" val="3055740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b="1" dirty="0" smtClean="0">
                <a:latin typeface="Times New Roman" pitchFamily="18" charset="0"/>
                <a:cs typeface="Times New Roman" pitchFamily="18" charset="0"/>
              </a:rPr>
              <a:t>Key Sociological Theories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Three major theoretical perspectives: </a:t>
            </a:r>
          </a:p>
          <a:p>
            <a:pPr marL="857250" lvl="1" indent="-457200">
              <a:buFont typeface="Arial" pitchFamily="34" charset="0"/>
              <a:buChar char="•"/>
            </a:pP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the functionalist perspective </a:t>
            </a:r>
          </a:p>
          <a:p>
            <a:pPr marL="857250" lvl="1" indent="-457200">
              <a:buFont typeface="Arial" pitchFamily="34" charset="0"/>
              <a:buChar char="•"/>
            </a:pP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the conflict perspective</a:t>
            </a:r>
          </a:p>
          <a:p>
            <a:pPr marL="857250" lvl="1" indent="-457200">
              <a:buFont typeface="Arial" pitchFamily="34" charset="0"/>
              <a:buChar char="•"/>
            </a:pP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the symbolic interactionist perspective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3874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en-NZ" sz="4400" b="1" dirty="0" smtClean="0">
                <a:latin typeface="Times New Roman" pitchFamily="18" charset="0"/>
                <a:cs typeface="Times New Roman" pitchFamily="18" charset="0"/>
              </a:rPr>
              <a:t>The Functionalist Perspective </a:t>
            </a:r>
            <a:endParaRPr lang="en-US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According to functionalism, society is a system of interconnected parts that work together in harmony to maintain a state of balance and social equilibrium for the whole. </a:t>
            </a:r>
          </a:p>
          <a:p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The functionalist perspective emphasizes the interconnectedness of society by focusing on how each part influences and is influenced by other parts.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119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b="1" dirty="0">
                <a:latin typeface="Times New Roman" pitchFamily="18" charset="0"/>
                <a:cs typeface="Times New Roman" pitchFamily="18" charset="0"/>
              </a:rPr>
              <a:t>The Functionalist Perspective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Two terms to </a:t>
            </a: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describe the effects of social elements on society</a:t>
            </a:r>
          </a:p>
          <a:p>
            <a:pPr marL="857250" lvl="1" indent="-457200">
              <a:buFont typeface="Arial" pitchFamily="34" charset="0"/>
              <a:buChar char="•"/>
            </a:pPr>
            <a:r>
              <a:rPr lang="en-NZ" b="1" dirty="0" smtClean="0">
                <a:latin typeface="Times New Roman" pitchFamily="18" charset="0"/>
                <a:cs typeface="Times New Roman" pitchFamily="18" charset="0"/>
              </a:rPr>
              <a:t>Functional: </a:t>
            </a: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contribute to social stability</a:t>
            </a:r>
          </a:p>
          <a:p>
            <a:pPr marL="857250" lvl="1" indent="-457200">
              <a:buFont typeface="Arial" pitchFamily="34" charset="0"/>
              <a:buChar char="•"/>
            </a:pPr>
            <a:r>
              <a:rPr lang="en-NZ" b="1" dirty="0" smtClean="0">
                <a:latin typeface="Times New Roman" pitchFamily="18" charset="0"/>
                <a:cs typeface="Times New Roman" pitchFamily="18" charset="0"/>
              </a:rPr>
              <a:t>Dysfunctional:</a:t>
            </a: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disrupt social stability.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68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b="1" dirty="0">
                <a:latin typeface="Times New Roman" pitchFamily="18" charset="0"/>
                <a:cs typeface="Times New Roman" pitchFamily="18" charset="0"/>
              </a:rPr>
              <a:t>The Functionalist Perspective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Two types of functions: According to Merton (1968) there are two types of functions:</a:t>
            </a:r>
          </a:p>
          <a:p>
            <a:pPr marL="857250" lvl="1" indent="-457200"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Manifest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consequences that are intended and commonly recognized.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857250" lvl="1" indent="-457200"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Latent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consequences that are unintended and often hidden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851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b="1" dirty="0">
                <a:latin typeface="Times New Roman" pitchFamily="18" charset="0"/>
                <a:cs typeface="Times New Roman" pitchFamily="18" charset="0"/>
              </a:rPr>
              <a:t>The Functionalist Perspective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Some proponents are Herbert Spencer, Emile Durkheim, Talcott Parsons, and Robert Merton.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123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Conflict Perspective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It views society as composed of different groups and interest competing for power and resources.</a:t>
            </a:r>
          </a:p>
          <a:p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The origins of the conflict perspective can be traced to the classic works of Karl Marx.</a:t>
            </a:r>
          </a:p>
          <a:p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According to him, society is divided into two broad classes of people:</a:t>
            </a:r>
          </a:p>
          <a:p>
            <a:pPr lvl="1"/>
            <a:r>
              <a:rPr lang="en-NZ" b="1" dirty="0" smtClean="0">
                <a:latin typeface="Times New Roman" pitchFamily="18" charset="0"/>
                <a:cs typeface="Times New Roman" pitchFamily="18" charset="0"/>
              </a:rPr>
              <a:t>Haves</a:t>
            </a:r>
          </a:p>
          <a:p>
            <a:pPr lvl="1"/>
            <a:r>
              <a:rPr lang="en-NZ" b="1" dirty="0" smtClean="0">
                <a:latin typeface="Times New Roman" pitchFamily="18" charset="0"/>
                <a:cs typeface="Times New Roman" pitchFamily="18" charset="0"/>
              </a:rPr>
              <a:t>Have </a:t>
            </a:r>
            <a:r>
              <a:rPr lang="en-NZ" b="1" dirty="0" err="1" smtClean="0">
                <a:latin typeface="Times New Roman" pitchFamily="18" charset="0"/>
                <a:cs typeface="Times New Roman" pitchFamily="18" charset="0"/>
              </a:rPr>
              <a:t>nots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226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Symbolic Interactionist Perspective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It emphasizes that human behaviour is influenced by definitions and meanings that are created and maintained through symbolic interaction with others.</a:t>
            </a:r>
          </a:p>
          <a:p>
            <a:r>
              <a:rPr lang="en-NZ" dirty="0" smtClean="0">
                <a:latin typeface="Times New Roman" pitchFamily="18" charset="0"/>
                <a:cs typeface="Times New Roman" pitchFamily="18" charset="0"/>
              </a:rPr>
              <a:t>It also suggests that our identity or sense of self is shaped by social interaction (“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looking glass self” by C. Cooley)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479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b="1" dirty="0" smtClean="0">
                <a:latin typeface="Times New Roman" pitchFamily="18" charset="0"/>
                <a:cs typeface="Times New Roman" pitchFamily="18" charset="0"/>
              </a:rPr>
              <a:t>NEXT WEEK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b="1" dirty="0" smtClean="0"/>
              <a:t>Socialisation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68379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659</Words>
  <Application>Microsoft Office PowerPoint</Application>
  <PresentationFormat>On-screen Show (4:3)</PresentationFormat>
  <Paragraphs>79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SOCIOLOGICAL THEORIZING </vt:lpstr>
      <vt:lpstr>Sociological Theorizing: Introduction </vt:lpstr>
      <vt:lpstr>Micro Perspectives</vt:lpstr>
      <vt:lpstr>Meso Perspective</vt:lpstr>
      <vt:lpstr>Macro Perspectives</vt:lpstr>
      <vt:lpstr>What then is Sociological Theory?</vt:lpstr>
      <vt:lpstr>Features of Sociological Theory</vt:lpstr>
      <vt:lpstr>Sociological Theory Construction</vt:lpstr>
      <vt:lpstr>Why study Sociological Theory? </vt:lpstr>
      <vt:lpstr>Key Sociological Theories</vt:lpstr>
      <vt:lpstr>The Functionalist Perspective </vt:lpstr>
      <vt:lpstr>The Functionalist Perspective </vt:lpstr>
      <vt:lpstr>The Functionalist Perspective </vt:lpstr>
      <vt:lpstr>The Functionalist Perspective </vt:lpstr>
      <vt:lpstr>Conflict Perspective</vt:lpstr>
      <vt:lpstr>Symbolic Interactionist Perspective</vt:lpstr>
      <vt:lpstr>NEXT WEEK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SOCIOLOGICAL THEORIZING </dc:title>
  <dc:creator>Microsoft</dc:creator>
  <cp:lastModifiedBy>Microsoft</cp:lastModifiedBy>
  <cp:revision>56</cp:revision>
  <dcterms:created xsi:type="dcterms:W3CDTF">2019-10-03T13:01:03Z</dcterms:created>
  <dcterms:modified xsi:type="dcterms:W3CDTF">2019-10-03T14:51:36Z</dcterms:modified>
</cp:coreProperties>
</file>