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  <p:sldId id="262" r:id="rId10"/>
    <p:sldId id="263" r:id="rId11"/>
    <p:sldId id="273" r:id="rId12"/>
    <p:sldId id="268" r:id="rId13"/>
    <p:sldId id="270" r:id="rId14"/>
    <p:sldId id="274" r:id="rId15"/>
    <p:sldId id="264" r:id="rId16"/>
    <p:sldId id="265" r:id="rId17"/>
    <p:sldId id="275" r:id="rId18"/>
    <p:sldId id="266" r:id="rId19"/>
    <p:sldId id="267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5B41-EC0A-4A30-A751-AC9F95ABA4F1}" type="datetimeFigureOut">
              <a:rPr lang="en-GB" smtClean="0"/>
              <a:pPr/>
              <a:t>25/11/2013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CA29-A8D4-4DEC-A20F-972DC9F2D1D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5B41-EC0A-4A30-A751-AC9F95ABA4F1}" type="datetimeFigureOut">
              <a:rPr lang="en-GB" smtClean="0"/>
              <a:pPr/>
              <a:t>25/11/2013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CA29-A8D4-4DEC-A20F-972DC9F2D1D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5B41-EC0A-4A30-A751-AC9F95ABA4F1}" type="datetimeFigureOut">
              <a:rPr lang="en-GB" smtClean="0"/>
              <a:pPr/>
              <a:t>25/11/2013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CA29-A8D4-4DEC-A20F-972DC9F2D1D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5B41-EC0A-4A30-A751-AC9F95ABA4F1}" type="datetimeFigureOut">
              <a:rPr lang="en-GB" smtClean="0"/>
              <a:pPr/>
              <a:t>25/11/2013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CA29-A8D4-4DEC-A20F-972DC9F2D1D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5B41-EC0A-4A30-A751-AC9F95ABA4F1}" type="datetimeFigureOut">
              <a:rPr lang="en-GB" smtClean="0"/>
              <a:pPr/>
              <a:t>25/11/2013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CA29-A8D4-4DEC-A20F-972DC9F2D1D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5B41-EC0A-4A30-A751-AC9F95ABA4F1}" type="datetimeFigureOut">
              <a:rPr lang="en-GB" smtClean="0"/>
              <a:pPr/>
              <a:t>25/11/2013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CA29-A8D4-4DEC-A20F-972DC9F2D1D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5B41-EC0A-4A30-A751-AC9F95ABA4F1}" type="datetimeFigureOut">
              <a:rPr lang="en-GB" smtClean="0"/>
              <a:pPr/>
              <a:t>25/11/2013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CA29-A8D4-4DEC-A20F-972DC9F2D1D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5B41-EC0A-4A30-A751-AC9F95ABA4F1}" type="datetimeFigureOut">
              <a:rPr lang="en-GB" smtClean="0"/>
              <a:pPr/>
              <a:t>25/11/2013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CA29-A8D4-4DEC-A20F-972DC9F2D1D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5B41-EC0A-4A30-A751-AC9F95ABA4F1}" type="datetimeFigureOut">
              <a:rPr lang="en-GB" smtClean="0"/>
              <a:pPr/>
              <a:t>25/11/2013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CA29-A8D4-4DEC-A20F-972DC9F2D1D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5B41-EC0A-4A30-A751-AC9F95ABA4F1}" type="datetimeFigureOut">
              <a:rPr lang="en-GB" smtClean="0"/>
              <a:pPr/>
              <a:t>25/11/2013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CA29-A8D4-4DEC-A20F-972DC9F2D1D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5B41-EC0A-4A30-A751-AC9F95ABA4F1}" type="datetimeFigureOut">
              <a:rPr lang="en-GB" smtClean="0"/>
              <a:pPr/>
              <a:t>25/11/2013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CA29-A8D4-4DEC-A20F-972DC9F2D1D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85B41-EC0A-4A30-A751-AC9F95ABA4F1}" type="datetimeFigureOut">
              <a:rPr lang="en-GB" smtClean="0"/>
              <a:pPr/>
              <a:t>25/11/2013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CCA29-A8D4-4DEC-A20F-972DC9F2D1D6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 smtClean="0"/>
              <a:t>THE PARTITIVE ARTICLE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FF0000"/>
                </a:solidFill>
              </a:rPr>
              <a:t>DE    D’    DU    DE LA    DE L’   DES</a:t>
            </a:r>
            <a:endParaRPr lang="en-GB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WHAT DOES IT MEAN?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GB" b="1" dirty="0" smtClean="0"/>
              <a:t>THERE ARE </a:t>
            </a:r>
            <a:r>
              <a:rPr lang="en-GB" b="1" dirty="0" smtClean="0">
                <a:solidFill>
                  <a:srgbClr val="FF0000"/>
                </a:solidFill>
              </a:rPr>
              <a:t>FOUR</a:t>
            </a:r>
            <a:r>
              <a:rPr lang="en-GB" b="1" dirty="0" smtClean="0"/>
              <a:t> MEANINGS:</a:t>
            </a:r>
          </a:p>
          <a:p>
            <a:pPr>
              <a:buNone/>
            </a:pPr>
            <a:r>
              <a:rPr lang="en-GB" sz="8000" b="1" dirty="0" smtClean="0">
                <a:solidFill>
                  <a:srgbClr val="FF0000"/>
                </a:solidFill>
              </a:rPr>
              <a:t>OF</a:t>
            </a:r>
          </a:p>
          <a:p>
            <a:pPr>
              <a:buNone/>
            </a:pPr>
            <a:r>
              <a:rPr lang="en-GB" sz="8000" b="1" dirty="0" smtClean="0">
                <a:solidFill>
                  <a:srgbClr val="FF0000"/>
                </a:solidFill>
              </a:rPr>
              <a:t>FROM</a:t>
            </a:r>
          </a:p>
          <a:p>
            <a:pPr>
              <a:buNone/>
            </a:pPr>
            <a:r>
              <a:rPr lang="en-GB" sz="8000" b="1" dirty="0" smtClean="0">
                <a:solidFill>
                  <a:srgbClr val="FF0000"/>
                </a:solidFill>
              </a:rPr>
              <a:t>FROM</a:t>
            </a:r>
            <a:r>
              <a:rPr lang="en-GB" sz="8000" dirty="0" smtClean="0">
                <a:solidFill>
                  <a:srgbClr val="FF0000"/>
                </a:solidFill>
              </a:rPr>
              <a:t>/</a:t>
            </a:r>
            <a:r>
              <a:rPr lang="en-GB" sz="8000" b="1" dirty="0" smtClean="0">
                <a:solidFill>
                  <a:srgbClr val="FF0000"/>
                </a:solidFill>
              </a:rPr>
              <a:t>OF THE</a:t>
            </a:r>
          </a:p>
          <a:p>
            <a:pPr>
              <a:buNone/>
            </a:pPr>
            <a:r>
              <a:rPr lang="en-GB" sz="8000" b="1" dirty="0" smtClean="0">
                <a:solidFill>
                  <a:srgbClr val="FF0000"/>
                </a:solidFill>
              </a:rPr>
              <a:t>SOME</a:t>
            </a:r>
            <a:r>
              <a:rPr lang="en-GB" sz="8000" dirty="0" smtClean="0">
                <a:solidFill>
                  <a:srgbClr val="FF0000"/>
                </a:solidFill>
              </a:rPr>
              <a:t>/</a:t>
            </a:r>
            <a:r>
              <a:rPr lang="en-GB" sz="8000" b="1" dirty="0" smtClean="0">
                <a:solidFill>
                  <a:srgbClr val="FF0000"/>
                </a:solidFill>
              </a:rPr>
              <a:t>ANY</a:t>
            </a:r>
          </a:p>
          <a:p>
            <a:pPr>
              <a:buNone/>
            </a:pP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79912" y="2780928"/>
            <a:ext cx="1336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OF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GB" dirty="0" smtClean="0"/>
              <a:t>THERE ARE </a:t>
            </a:r>
            <a:r>
              <a:rPr lang="en-GB" b="1" dirty="0" smtClean="0">
                <a:solidFill>
                  <a:srgbClr val="FF0000"/>
                </a:solidFill>
              </a:rPr>
              <a:t>2</a:t>
            </a:r>
            <a:r>
              <a:rPr lang="en-GB" dirty="0" smtClean="0"/>
              <a:t> FORMS ONLY:</a:t>
            </a:r>
          </a:p>
          <a:p>
            <a:pPr>
              <a:buNone/>
            </a:pPr>
            <a:endParaRPr lang="en-GB" dirty="0"/>
          </a:p>
          <a:p>
            <a:pPr algn="ctr">
              <a:buNone/>
            </a:pPr>
            <a:r>
              <a:rPr lang="en-GB" sz="6600" b="1" dirty="0" smtClean="0">
                <a:solidFill>
                  <a:srgbClr val="FF0000"/>
                </a:solidFill>
              </a:rPr>
              <a:t>DE</a:t>
            </a:r>
            <a:r>
              <a:rPr lang="en-GB" sz="6600" dirty="0" smtClean="0"/>
              <a:t>  &amp;  </a:t>
            </a:r>
            <a:r>
              <a:rPr lang="en-GB" sz="6600" b="1" dirty="0" smtClean="0">
                <a:solidFill>
                  <a:srgbClr val="FF0000"/>
                </a:solidFill>
              </a:rPr>
              <a:t>D’</a:t>
            </a:r>
          </a:p>
          <a:p>
            <a:pPr algn="ctr">
              <a:buNone/>
            </a:pPr>
            <a:endParaRPr lang="en-GB" sz="4000" b="1" dirty="0" smtClean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en-GB" sz="4000" b="1" dirty="0" smtClean="0">
                <a:solidFill>
                  <a:srgbClr val="FF0000"/>
                </a:solidFill>
              </a:rPr>
              <a:t>                       with vowels</a:t>
            </a:r>
          </a:p>
          <a:p>
            <a:pPr>
              <a:buNone/>
            </a:pPr>
            <a:r>
              <a:rPr lang="en-GB" sz="4000" b="1" dirty="0" smtClean="0"/>
              <a:t>THERE IS </a:t>
            </a:r>
            <a:r>
              <a:rPr lang="en-GB" sz="4000" b="1" dirty="0" smtClean="0">
                <a:solidFill>
                  <a:srgbClr val="FF0000"/>
                </a:solidFill>
              </a:rPr>
              <a:t>NO PLURAL </a:t>
            </a:r>
            <a:r>
              <a:rPr lang="en-GB" sz="4000" b="1" dirty="0" smtClean="0"/>
              <a:t>SO</a:t>
            </a:r>
            <a:r>
              <a:rPr lang="en-GB" sz="4000" b="1" dirty="0" smtClean="0">
                <a:solidFill>
                  <a:srgbClr val="FF0000"/>
                </a:solidFill>
              </a:rPr>
              <a:t> NEVER </a:t>
            </a:r>
            <a:r>
              <a:rPr lang="en-GB" sz="4000" b="1" dirty="0" smtClean="0"/>
              <a:t>DES</a:t>
            </a:r>
            <a:r>
              <a:rPr lang="en-GB" sz="4000" b="1" dirty="0" smtClean="0">
                <a:solidFill>
                  <a:srgbClr val="FF0000"/>
                </a:solidFill>
              </a:rPr>
              <a:t>!</a:t>
            </a:r>
            <a:endParaRPr lang="en-GB" sz="4000" b="1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652120" y="3573016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GB" sz="4400" b="1" dirty="0" smtClean="0"/>
              <a:t>BEAUCOUP </a:t>
            </a:r>
            <a:r>
              <a:rPr lang="en-GB" sz="4400" b="1" dirty="0" smtClean="0">
                <a:solidFill>
                  <a:srgbClr val="FF0000"/>
                </a:solidFill>
              </a:rPr>
              <a:t>DE</a:t>
            </a:r>
            <a:r>
              <a:rPr lang="en-GB" sz="4400" b="1" dirty="0" smtClean="0"/>
              <a:t> GENS  </a:t>
            </a:r>
            <a:r>
              <a:rPr lang="en-GB" sz="4400" dirty="0" smtClean="0"/>
              <a:t>     (</a:t>
            </a:r>
            <a:r>
              <a:rPr lang="en-GB" sz="4400" b="1" dirty="0" smtClean="0">
                <a:solidFill>
                  <a:srgbClr val="FF0000"/>
                </a:solidFill>
              </a:rPr>
              <a:t>NEVER</a:t>
            </a:r>
            <a:r>
              <a:rPr lang="en-GB" sz="4400" b="1" dirty="0" smtClean="0"/>
              <a:t> DES</a:t>
            </a:r>
            <a:r>
              <a:rPr lang="en-GB" sz="4400" dirty="0" smtClean="0"/>
              <a:t>)</a:t>
            </a:r>
          </a:p>
          <a:p>
            <a:pPr>
              <a:buNone/>
            </a:pPr>
            <a:r>
              <a:rPr lang="en-GB" sz="4400" b="1" dirty="0" smtClean="0"/>
              <a:t>LA BANQUE </a:t>
            </a:r>
            <a:r>
              <a:rPr lang="en-GB" sz="4400" b="1" dirty="0" smtClean="0">
                <a:solidFill>
                  <a:srgbClr val="FF0000"/>
                </a:solidFill>
              </a:rPr>
              <a:t>DE</a:t>
            </a:r>
            <a:r>
              <a:rPr lang="en-GB" sz="4400" b="1" dirty="0" smtClean="0"/>
              <a:t> FRANCE</a:t>
            </a:r>
          </a:p>
          <a:p>
            <a:pPr>
              <a:buNone/>
            </a:pPr>
            <a:r>
              <a:rPr lang="en-GB" sz="4400" b="1" dirty="0" smtClean="0"/>
              <a:t>UNE CARTE </a:t>
            </a:r>
            <a:r>
              <a:rPr lang="en-GB" sz="4400" b="1" dirty="0" smtClean="0">
                <a:solidFill>
                  <a:srgbClr val="FF0000"/>
                </a:solidFill>
              </a:rPr>
              <a:t>DE</a:t>
            </a:r>
            <a:r>
              <a:rPr lang="en-GB" sz="4400" b="1" dirty="0" smtClean="0"/>
              <a:t> CRÉDIT</a:t>
            </a:r>
          </a:p>
          <a:p>
            <a:pPr>
              <a:buNone/>
            </a:pPr>
            <a:r>
              <a:rPr lang="en-GB" sz="4400" b="1" dirty="0" smtClean="0"/>
              <a:t>UN KILO </a:t>
            </a:r>
            <a:r>
              <a:rPr lang="en-GB" sz="4400" b="1" dirty="0" smtClean="0">
                <a:solidFill>
                  <a:srgbClr val="FF0000"/>
                </a:solidFill>
              </a:rPr>
              <a:t>DE</a:t>
            </a:r>
            <a:r>
              <a:rPr lang="en-GB" sz="4400" b="1" dirty="0" smtClean="0"/>
              <a:t> POMMES</a:t>
            </a:r>
          </a:p>
          <a:p>
            <a:pPr>
              <a:buNone/>
            </a:pPr>
            <a:r>
              <a:rPr lang="en-GB" sz="4400" b="1" dirty="0" smtClean="0"/>
              <a:t>BEAUCOUP </a:t>
            </a:r>
            <a:r>
              <a:rPr lang="en-GB" sz="4400" b="1" dirty="0" smtClean="0">
                <a:solidFill>
                  <a:srgbClr val="FF0000"/>
                </a:solidFill>
              </a:rPr>
              <a:t>D’</a:t>
            </a:r>
            <a:r>
              <a:rPr lang="en-GB" sz="4400" b="1" dirty="0" smtClean="0"/>
              <a:t>AMIS</a:t>
            </a:r>
          </a:p>
          <a:p>
            <a:pPr>
              <a:buNone/>
            </a:pPr>
            <a:r>
              <a:rPr lang="en-GB" sz="4400" b="1" dirty="0" smtClean="0"/>
              <a:t>UN JUS </a:t>
            </a:r>
            <a:r>
              <a:rPr lang="en-GB" sz="4400" b="1" dirty="0" smtClean="0">
                <a:solidFill>
                  <a:srgbClr val="FF0000"/>
                </a:solidFill>
              </a:rPr>
              <a:t>D’</a:t>
            </a:r>
            <a:r>
              <a:rPr lang="en-GB" sz="4400" b="1" dirty="0" smtClean="0"/>
              <a:t>ANANAS		 + </a:t>
            </a:r>
            <a:r>
              <a:rPr lang="en-GB" sz="4400" b="1" dirty="0" smtClean="0">
                <a:solidFill>
                  <a:srgbClr val="FF0000"/>
                </a:solidFill>
              </a:rPr>
              <a:t>VOWELS</a:t>
            </a:r>
          </a:p>
          <a:p>
            <a:pPr>
              <a:buNone/>
            </a:pPr>
            <a:r>
              <a:rPr lang="en-GB" sz="4400" b="1" dirty="0" smtClean="0"/>
              <a:t>J’AI BESOIN </a:t>
            </a:r>
            <a:r>
              <a:rPr lang="en-GB" sz="4400" b="1" dirty="0" smtClean="0">
                <a:solidFill>
                  <a:srgbClr val="FF0000"/>
                </a:solidFill>
              </a:rPr>
              <a:t>D’</a:t>
            </a:r>
            <a:r>
              <a:rPr lang="en-GB" sz="4400" b="1" dirty="0" smtClean="0"/>
              <a:t>ARGENT</a:t>
            </a:r>
          </a:p>
          <a:p>
            <a:pPr>
              <a:buNone/>
            </a:pPr>
            <a:endParaRPr lang="en-GB" sz="4400" b="1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076056" y="1844824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220072" y="2132856"/>
            <a:ext cx="864096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4788024" y="2132856"/>
            <a:ext cx="2304256" cy="22322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ight Brace 20"/>
          <p:cNvSpPr/>
          <p:nvPr/>
        </p:nvSpPr>
        <p:spPr>
          <a:xfrm>
            <a:off x="5796136" y="4365104"/>
            <a:ext cx="216024" cy="11521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sz="4100" b="1" dirty="0" smtClean="0"/>
              <a:t>LA TOUR </a:t>
            </a:r>
            <a:r>
              <a:rPr lang="en-GB" sz="4100" b="1" dirty="0" smtClean="0">
                <a:solidFill>
                  <a:srgbClr val="FF0000"/>
                </a:solidFill>
              </a:rPr>
              <a:t>DE</a:t>
            </a:r>
            <a:r>
              <a:rPr lang="en-GB" sz="4100" b="1" dirty="0" smtClean="0"/>
              <a:t> FRANCE</a:t>
            </a:r>
          </a:p>
          <a:p>
            <a:pPr>
              <a:buNone/>
            </a:pPr>
            <a:r>
              <a:rPr lang="en-GB" sz="4100" b="1" dirty="0" smtClean="0"/>
              <a:t>UNE BOUTEILLE </a:t>
            </a:r>
            <a:r>
              <a:rPr lang="en-GB" sz="4100" b="1" dirty="0" smtClean="0">
                <a:solidFill>
                  <a:srgbClr val="FF0000"/>
                </a:solidFill>
              </a:rPr>
              <a:t>DE</a:t>
            </a:r>
            <a:r>
              <a:rPr lang="en-GB" sz="4100" b="1" dirty="0" smtClean="0"/>
              <a:t> VIN</a:t>
            </a:r>
          </a:p>
          <a:p>
            <a:pPr>
              <a:buNone/>
            </a:pPr>
            <a:r>
              <a:rPr lang="en-GB" sz="4100" b="1" dirty="0" smtClean="0"/>
              <a:t>UN VERRE </a:t>
            </a:r>
            <a:r>
              <a:rPr lang="en-GB" sz="4100" b="1" dirty="0" smtClean="0">
                <a:solidFill>
                  <a:srgbClr val="FF0000"/>
                </a:solidFill>
              </a:rPr>
              <a:t>D’</a:t>
            </a:r>
            <a:r>
              <a:rPr lang="en-GB" sz="4100" b="1" dirty="0" smtClean="0"/>
              <a:t>EAU</a:t>
            </a:r>
          </a:p>
          <a:p>
            <a:pPr>
              <a:buNone/>
            </a:pPr>
            <a:r>
              <a:rPr lang="en-GB" sz="4100" b="1" dirty="0" smtClean="0"/>
              <a:t>PLEIN </a:t>
            </a:r>
            <a:r>
              <a:rPr lang="en-GB" sz="4100" b="1" dirty="0" smtClean="0">
                <a:solidFill>
                  <a:srgbClr val="FF0000"/>
                </a:solidFill>
              </a:rPr>
              <a:t>D’</a:t>
            </a:r>
            <a:r>
              <a:rPr lang="en-GB" sz="4100" b="1" dirty="0" smtClean="0"/>
              <a:t>ARGENT</a:t>
            </a:r>
          </a:p>
          <a:p>
            <a:pPr>
              <a:buNone/>
            </a:pPr>
            <a:r>
              <a:rPr lang="en-GB" sz="4100" b="1" dirty="0" smtClean="0"/>
              <a:t>TROP </a:t>
            </a:r>
            <a:r>
              <a:rPr lang="en-GB" sz="4100" b="1" dirty="0" smtClean="0">
                <a:solidFill>
                  <a:srgbClr val="FF0000"/>
                </a:solidFill>
              </a:rPr>
              <a:t>DE</a:t>
            </a:r>
            <a:r>
              <a:rPr lang="en-GB" sz="4100" b="1" dirty="0" smtClean="0"/>
              <a:t> DEVOIRS</a:t>
            </a:r>
          </a:p>
          <a:p>
            <a:pPr>
              <a:buNone/>
            </a:pPr>
            <a:r>
              <a:rPr lang="en-GB" sz="4100" b="1" dirty="0" smtClean="0"/>
              <a:t>CERTAINS </a:t>
            </a:r>
            <a:r>
              <a:rPr lang="en-GB" sz="4100" b="1" dirty="0" smtClean="0">
                <a:solidFill>
                  <a:srgbClr val="FF0000"/>
                </a:solidFill>
              </a:rPr>
              <a:t>DE</a:t>
            </a:r>
            <a:r>
              <a:rPr lang="en-GB" sz="4100" b="1" dirty="0" smtClean="0"/>
              <a:t> MES AMIS</a:t>
            </a:r>
          </a:p>
          <a:p>
            <a:pPr>
              <a:buNone/>
            </a:pPr>
            <a:endParaRPr lang="en-GB" b="1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BUT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4000" b="1" dirty="0" smtClean="0"/>
              <a:t>LE NORD </a:t>
            </a:r>
            <a:r>
              <a:rPr lang="en-GB" sz="4000" b="1" dirty="0" smtClean="0">
                <a:solidFill>
                  <a:srgbClr val="FF0000"/>
                </a:solidFill>
              </a:rPr>
              <a:t>DE LA </a:t>
            </a:r>
            <a:r>
              <a:rPr lang="en-GB" sz="4000" b="1" dirty="0" smtClean="0"/>
              <a:t>FRANCE</a:t>
            </a:r>
          </a:p>
          <a:p>
            <a:pPr>
              <a:buNone/>
            </a:pPr>
            <a:r>
              <a:rPr lang="en-GB" sz="4000" b="1" dirty="0" smtClean="0"/>
              <a:t>DE SUD </a:t>
            </a:r>
            <a:r>
              <a:rPr lang="en-GB" sz="4000" b="1" dirty="0" smtClean="0">
                <a:solidFill>
                  <a:srgbClr val="FF0000"/>
                </a:solidFill>
              </a:rPr>
              <a:t>DE L’</a:t>
            </a:r>
            <a:r>
              <a:rPr lang="en-GB" sz="4000" b="1" dirty="0" smtClean="0"/>
              <a:t>ANGLETERRE</a:t>
            </a:r>
          </a:p>
          <a:p>
            <a:pPr>
              <a:buNone/>
            </a:pPr>
            <a:r>
              <a:rPr lang="en-GB" sz="4000" b="1" dirty="0" smtClean="0"/>
              <a:t>L’OUEST </a:t>
            </a:r>
            <a:r>
              <a:rPr lang="en-GB" sz="4000" b="1" dirty="0" smtClean="0">
                <a:solidFill>
                  <a:srgbClr val="FF0000"/>
                </a:solidFill>
              </a:rPr>
              <a:t>DES</a:t>
            </a:r>
            <a:r>
              <a:rPr lang="en-GB" sz="4000" b="1" dirty="0" smtClean="0"/>
              <a:t> ETATS-UNIS</a:t>
            </a:r>
          </a:p>
          <a:p>
            <a:pPr>
              <a:buNone/>
            </a:pPr>
            <a:r>
              <a:rPr lang="en-GB" sz="4000" b="1" dirty="0" smtClean="0"/>
              <a:t>L’EST </a:t>
            </a:r>
            <a:r>
              <a:rPr lang="en-GB" sz="4000" b="1" dirty="0" smtClean="0">
                <a:solidFill>
                  <a:srgbClr val="FF0000"/>
                </a:solidFill>
              </a:rPr>
              <a:t>DU</a:t>
            </a:r>
            <a:r>
              <a:rPr lang="en-GB" sz="4000" b="1" dirty="0" smtClean="0"/>
              <a:t> JAPON</a:t>
            </a:r>
          </a:p>
          <a:p>
            <a:pPr>
              <a:buNone/>
            </a:pPr>
            <a:r>
              <a:rPr lang="en-GB" sz="4000" b="1" dirty="0" smtClean="0"/>
              <a:t>LE CENTRE </a:t>
            </a:r>
            <a:r>
              <a:rPr lang="en-GB" sz="4000" b="1" dirty="0" smtClean="0">
                <a:solidFill>
                  <a:srgbClr val="FF0000"/>
                </a:solidFill>
              </a:rPr>
              <a:t>DE L’</a:t>
            </a:r>
            <a:r>
              <a:rPr lang="en-GB" sz="4000" b="1" dirty="0" smtClean="0"/>
              <a:t>EUROPE</a:t>
            </a:r>
          </a:p>
          <a:p>
            <a:pPr>
              <a:buNone/>
            </a:pPr>
            <a:r>
              <a:rPr lang="en-GB" sz="4000" b="1" dirty="0" smtClean="0"/>
              <a:t>LA PLUPART </a:t>
            </a:r>
            <a:r>
              <a:rPr lang="en-GB" sz="4000" b="1" dirty="0" smtClean="0">
                <a:solidFill>
                  <a:srgbClr val="FF0000"/>
                </a:solidFill>
              </a:rPr>
              <a:t>DES</a:t>
            </a:r>
            <a:r>
              <a:rPr lang="en-GB" sz="4000" b="1" dirty="0" smtClean="0"/>
              <a:t> GENS/</a:t>
            </a:r>
            <a:r>
              <a:rPr lang="en-GB" sz="4000" b="1" dirty="0" smtClean="0">
                <a:solidFill>
                  <a:srgbClr val="FF0000"/>
                </a:solidFill>
              </a:rPr>
              <a:t>DE</a:t>
            </a:r>
            <a:r>
              <a:rPr lang="en-GB" sz="4000" b="1" dirty="0" smtClean="0"/>
              <a:t> </a:t>
            </a:r>
            <a:r>
              <a:rPr lang="en-GB" sz="4000" b="1" dirty="0" smtClean="0">
                <a:solidFill>
                  <a:srgbClr val="0070C0"/>
                </a:solidFill>
              </a:rPr>
              <a:t>MES</a:t>
            </a:r>
            <a:r>
              <a:rPr lang="en-GB" sz="4000" b="1" dirty="0" smtClean="0"/>
              <a:t> AMIS</a:t>
            </a:r>
          </a:p>
          <a:p>
            <a:pPr>
              <a:buNone/>
            </a:pPr>
            <a:r>
              <a:rPr lang="en-GB" sz="4000" b="1" dirty="0" smtClean="0"/>
              <a:t>LA MAJORIT</a:t>
            </a:r>
            <a:r>
              <a:rPr lang="en-GB" sz="4000" b="1" dirty="0" smtClean="0">
                <a:latin typeface="Calibri"/>
              </a:rPr>
              <a:t>É </a:t>
            </a:r>
            <a:r>
              <a:rPr lang="en-GB" sz="4000" b="1" dirty="0" smtClean="0">
                <a:solidFill>
                  <a:srgbClr val="FF0000"/>
                </a:solidFill>
                <a:latin typeface="Calibri"/>
              </a:rPr>
              <a:t>DES</a:t>
            </a:r>
            <a:r>
              <a:rPr lang="en-GB" sz="4000" b="1" dirty="0" smtClean="0">
                <a:latin typeface="Calibri"/>
              </a:rPr>
              <a:t> GENS/</a:t>
            </a:r>
            <a:r>
              <a:rPr lang="en-GB" sz="4000" b="1" dirty="0" smtClean="0">
                <a:solidFill>
                  <a:srgbClr val="FF0000"/>
                </a:solidFill>
                <a:latin typeface="Calibri"/>
              </a:rPr>
              <a:t>DE</a:t>
            </a:r>
            <a:r>
              <a:rPr lang="en-GB" sz="4000" b="1" dirty="0" smtClean="0">
                <a:latin typeface="Calibri"/>
              </a:rPr>
              <a:t> </a:t>
            </a:r>
            <a:r>
              <a:rPr lang="en-GB" sz="4000" b="1" dirty="0" smtClean="0">
                <a:solidFill>
                  <a:srgbClr val="0070C0"/>
                </a:solidFill>
                <a:latin typeface="Calibri"/>
              </a:rPr>
              <a:t>CES</a:t>
            </a:r>
            <a:r>
              <a:rPr lang="en-GB" sz="4000" b="1" dirty="0" smtClean="0">
                <a:latin typeface="Calibri"/>
              </a:rPr>
              <a:t> GENS</a:t>
            </a:r>
            <a:endParaRPr lang="en-GB" sz="4000" b="1" dirty="0" smtClean="0"/>
          </a:p>
          <a:p>
            <a:pPr>
              <a:buNone/>
            </a:pPr>
            <a:endParaRPr lang="en-GB" sz="4000" b="1" dirty="0" smtClean="0"/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DE LA PRATIQUE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GB" dirty="0" smtClean="0"/>
              <a:t>A PACKET OF BISCUITS</a:t>
            </a:r>
          </a:p>
          <a:p>
            <a:pPr>
              <a:buNone/>
            </a:pPr>
            <a:r>
              <a:rPr lang="en-GB" dirty="0" smtClean="0"/>
              <a:t>UN PAQUET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dirty="0" smtClean="0"/>
              <a:t> BISCUITS</a:t>
            </a:r>
          </a:p>
          <a:p>
            <a:pPr>
              <a:buNone/>
            </a:pPr>
            <a:r>
              <a:rPr lang="en-GB" dirty="0" smtClean="0"/>
              <a:t>A GLASS OF WATER</a:t>
            </a:r>
          </a:p>
          <a:p>
            <a:pPr>
              <a:buNone/>
            </a:pPr>
            <a:r>
              <a:rPr lang="en-GB" dirty="0" smtClean="0"/>
              <a:t>UN VERRE </a:t>
            </a:r>
            <a:r>
              <a:rPr lang="en-GB" b="1" dirty="0" smtClean="0">
                <a:solidFill>
                  <a:srgbClr val="FF0000"/>
                </a:solidFill>
              </a:rPr>
              <a:t>D’</a:t>
            </a:r>
            <a:r>
              <a:rPr lang="en-GB" dirty="0" smtClean="0"/>
              <a:t>EAU</a:t>
            </a:r>
          </a:p>
          <a:p>
            <a:pPr>
              <a:buNone/>
            </a:pPr>
            <a:r>
              <a:rPr lang="en-GB" dirty="0" smtClean="0"/>
              <a:t>THE BANK OF ENGLAND</a:t>
            </a:r>
          </a:p>
          <a:p>
            <a:pPr>
              <a:buNone/>
            </a:pPr>
            <a:r>
              <a:rPr lang="en-GB" dirty="0" smtClean="0"/>
              <a:t>LA BANQUE </a:t>
            </a:r>
            <a:r>
              <a:rPr lang="en-GB" b="1" dirty="0" smtClean="0">
                <a:solidFill>
                  <a:srgbClr val="FF0000"/>
                </a:solidFill>
              </a:rPr>
              <a:t>D’</a:t>
            </a:r>
            <a:r>
              <a:rPr lang="en-GB" dirty="0" smtClean="0"/>
              <a:t>ANGLETERRE</a:t>
            </a:r>
          </a:p>
          <a:p>
            <a:pPr>
              <a:buNone/>
            </a:pPr>
            <a:r>
              <a:rPr lang="en-GB" dirty="0" smtClean="0"/>
              <a:t>THE SOUTH OF ITALY</a:t>
            </a:r>
          </a:p>
          <a:p>
            <a:pPr>
              <a:buNone/>
            </a:pPr>
            <a:r>
              <a:rPr lang="en-GB" dirty="0" smtClean="0"/>
              <a:t>LE SUD </a:t>
            </a:r>
            <a:r>
              <a:rPr lang="en-GB" b="1" dirty="0" smtClean="0">
                <a:solidFill>
                  <a:srgbClr val="FF0000"/>
                </a:solidFill>
              </a:rPr>
              <a:t>DE L’</a:t>
            </a:r>
            <a:r>
              <a:rPr lang="en-GB" dirty="0" smtClean="0"/>
              <a:t>ITALIE</a:t>
            </a:r>
            <a:endParaRPr lang="en-GB" dirty="0" smtClean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DE LA PRATIQUE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GB" dirty="0" smtClean="0"/>
              <a:t>A SLICE OF BREAD</a:t>
            </a:r>
          </a:p>
          <a:p>
            <a:pPr>
              <a:buNone/>
            </a:pPr>
            <a:r>
              <a:rPr lang="en-GB" dirty="0" smtClean="0"/>
              <a:t>UNE TRANCHE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dirty="0" smtClean="0"/>
              <a:t> PAIN</a:t>
            </a:r>
          </a:p>
          <a:p>
            <a:pPr>
              <a:buNone/>
            </a:pPr>
            <a:r>
              <a:rPr lang="en-GB" dirty="0" smtClean="0"/>
              <a:t>A BOTTLE OF COKE</a:t>
            </a:r>
          </a:p>
          <a:p>
            <a:pPr>
              <a:buNone/>
            </a:pPr>
            <a:r>
              <a:rPr lang="en-GB" dirty="0" smtClean="0"/>
              <a:t>UNE BOUTEILLE </a:t>
            </a:r>
            <a:r>
              <a:rPr lang="en-GB" b="1" dirty="0" smtClean="0">
                <a:solidFill>
                  <a:srgbClr val="FF0000"/>
                </a:solidFill>
              </a:rPr>
              <a:t>DE </a:t>
            </a:r>
            <a:r>
              <a:rPr lang="en-GB" dirty="0" smtClean="0"/>
              <a:t>COCA</a:t>
            </a:r>
          </a:p>
          <a:p>
            <a:pPr>
              <a:buNone/>
            </a:pPr>
            <a:r>
              <a:rPr lang="en-GB" dirty="0" smtClean="0"/>
              <a:t>THE MAJORITY OF MY FRIENDS</a:t>
            </a:r>
          </a:p>
          <a:p>
            <a:pPr>
              <a:buNone/>
            </a:pPr>
            <a:r>
              <a:rPr lang="en-GB" dirty="0" smtClean="0"/>
              <a:t>LA MAJORITÉ </a:t>
            </a:r>
            <a:r>
              <a:rPr lang="en-GB" b="1" dirty="0" smtClean="0">
                <a:solidFill>
                  <a:srgbClr val="FF0000"/>
                </a:solidFill>
              </a:rPr>
              <a:t>DE </a:t>
            </a:r>
            <a:r>
              <a:rPr lang="en-GB" dirty="0" smtClean="0"/>
              <a:t>MES AMIS</a:t>
            </a:r>
          </a:p>
          <a:p>
            <a:pPr>
              <a:buNone/>
            </a:pPr>
            <a:r>
              <a:rPr lang="en-GB" dirty="0" smtClean="0"/>
              <a:t>MOST STUDENTS</a:t>
            </a:r>
          </a:p>
          <a:p>
            <a:pPr>
              <a:buNone/>
            </a:pPr>
            <a:r>
              <a:rPr lang="en-GB" dirty="0" smtClean="0"/>
              <a:t>LA PLUPART </a:t>
            </a:r>
            <a:r>
              <a:rPr lang="en-GB" b="1" dirty="0" smtClean="0">
                <a:solidFill>
                  <a:srgbClr val="FF0000"/>
                </a:solidFill>
              </a:rPr>
              <a:t>DES </a:t>
            </a:r>
            <a:r>
              <a:rPr lang="en-GB" dirty="0" smtClean="0"/>
              <a:t>ÉTUDIANTS</a:t>
            </a:r>
            <a:endParaRPr lang="en-GB" dirty="0" smtClean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FROM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/>
              <a:t>THERE ARE </a:t>
            </a:r>
            <a:r>
              <a:rPr lang="en-GB" b="1" dirty="0" smtClean="0">
                <a:solidFill>
                  <a:srgbClr val="FF0000"/>
                </a:solidFill>
              </a:rPr>
              <a:t>3</a:t>
            </a:r>
            <a:r>
              <a:rPr lang="en-GB" dirty="0" smtClean="0"/>
              <a:t> FORMS:</a:t>
            </a:r>
          </a:p>
          <a:p>
            <a:pPr>
              <a:buNone/>
            </a:pPr>
            <a:endParaRPr lang="en-GB" dirty="0"/>
          </a:p>
          <a:p>
            <a:pPr algn="ctr">
              <a:buNone/>
            </a:pPr>
            <a:r>
              <a:rPr lang="en-GB" sz="6600" b="1" dirty="0" smtClean="0">
                <a:solidFill>
                  <a:srgbClr val="FF0000"/>
                </a:solidFill>
              </a:rPr>
              <a:t>D’  DE </a:t>
            </a:r>
            <a:r>
              <a:rPr lang="en-GB" sz="6600" dirty="0" smtClean="0"/>
              <a:t>&amp;</a:t>
            </a:r>
            <a:r>
              <a:rPr lang="en-GB" sz="6600" b="1" dirty="0" smtClean="0"/>
              <a:t> </a:t>
            </a:r>
            <a:r>
              <a:rPr lang="en-GB" sz="6600" b="1" dirty="0" smtClean="0">
                <a:solidFill>
                  <a:srgbClr val="FF0000"/>
                </a:solidFill>
              </a:rPr>
              <a:t>DES</a:t>
            </a:r>
          </a:p>
          <a:p>
            <a:pPr algn="ctr">
              <a:buNone/>
            </a:pPr>
            <a:endParaRPr lang="en-GB" sz="4000" b="1" dirty="0" smtClean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en-GB" sz="4000" b="1" dirty="0" smtClean="0"/>
              <a:t>+VOWELS                PLURAL</a:t>
            </a:r>
          </a:p>
          <a:p>
            <a:pPr>
              <a:buNone/>
            </a:pPr>
            <a:endParaRPr lang="en-GB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699792" y="3789040"/>
            <a:ext cx="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6228184" y="3861048"/>
            <a:ext cx="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 smtClean="0"/>
              <a:t>JE VIENS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b="1" dirty="0" smtClean="0"/>
              <a:t> PARIS</a:t>
            </a:r>
          </a:p>
          <a:p>
            <a:pPr>
              <a:buNone/>
            </a:pPr>
            <a:r>
              <a:rPr lang="en-GB" b="1" dirty="0" smtClean="0"/>
              <a:t>JE LA VOIS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b="1" dirty="0" smtClean="0"/>
              <a:t> TEMPS EN TEMPS</a:t>
            </a:r>
          </a:p>
          <a:p>
            <a:pPr>
              <a:buNone/>
            </a:pPr>
            <a:r>
              <a:rPr lang="en-GB" b="1" dirty="0" smtClean="0"/>
              <a:t>JE RETOURNE </a:t>
            </a:r>
            <a:r>
              <a:rPr lang="en-GB" b="1" dirty="0" smtClean="0">
                <a:solidFill>
                  <a:srgbClr val="FF0000"/>
                </a:solidFill>
              </a:rPr>
              <a:t>DES</a:t>
            </a:r>
            <a:r>
              <a:rPr lang="en-GB" b="1" dirty="0" smtClean="0"/>
              <a:t> ANTILLES	  </a:t>
            </a:r>
            <a:r>
              <a:rPr lang="en-GB" b="1" dirty="0" smtClean="0">
                <a:solidFill>
                  <a:srgbClr val="FF0000"/>
                </a:solidFill>
              </a:rPr>
              <a:t>PLURAL</a:t>
            </a:r>
          </a:p>
          <a:p>
            <a:pPr>
              <a:buNone/>
            </a:pPr>
            <a:r>
              <a:rPr lang="en-GB" b="1" dirty="0" smtClean="0"/>
              <a:t>IL REVIENT </a:t>
            </a:r>
            <a:r>
              <a:rPr lang="en-GB" b="1" dirty="0" smtClean="0">
                <a:solidFill>
                  <a:srgbClr val="FF0000"/>
                </a:solidFill>
              </a:rPr>
              <a:t>D’</a:t>
            </a:r>
            <a:r>
              <a:rPr lang="en-GB" b="1" dirty="0" smtClean="0"/>
              <a:t>AM</a:t>
            </a:r>
            <a:r>
              <a:rPr lang="en-GB" b="1" dirty="0" smtClean="0">
                <a:latin typeface="Calibri"/>
              </a:rPr>
              <a:t>É</a:t>
            </a:r>
            <a:r>
              <a:rPr lang="en-GB" b="1" dirty="0" smtClean="0"/>
              <a:t>RIQUE		  </a:t>
            </a:r>
            <a:r>
              <a:rPr lang="en-GB" b="1" dirty="0" smtClean="0">
                <a:solidFill>
                  <a:srgbClr val="FF0000"/>
                </a:solidFill>
              </a:rPr>
              <a:t>+</a:t>
            </a:r>
            <a:r>
              <a:rPr lang="en-GB" b="1" dirty="0" smtClean="0">
                <a:solidFill>
                  <a:srgbClr val="FF0000"/>
                </a:solidFill>
              </a:rPr>
              <a:t>VOWEL</a:t>
            </a:r>
          </a:p>
          <a:p>
            <a:pPr algn="ctr">
              <a:buNone/>
            </a:pPr>
            <a:r>
              <a:rPr lang="en-GB" sz="4800" b="1" dirty="0" smtClean="0">
                <a:solidFill>
                  <a:srgbClr val="FF0000"/>
                </a:solidFill>
              </a:rPr>
              <a:t>BUT</a:t>
            </a:r>
          </a:p>
          <a:p>
            <a:pPr>
              <a:buNone/>
            </a:pPr>
            <a:r>
              <a:rPr lang="en-GB" b="1" dirty="0" smtClean="0"/>
              <a:t>J’AI REÇU €10 </a:t>
            </a:r>
            <a:r>
              <a:rPr lang="en-GB" b="1" dirty="0" smtClean="0">
                <a:solidFill>
                  <a:srgbClr val="FF0000"/>
                </a:solidFill>
              </a:rPr>
              <a:t>DE MES </a:t>
            </a:r>
            <a:r>
              <a:rPr lang="en-GB" b="1" dirty="0" smtClean="0"/>
              <a:t>PARENTS</a:t>
            </a:r>
          </a:p>
          <a:p>
            <a:pPr>
              <a:buNone/>
            </a:pPr>
            <a:r>
              <a:rPr lang="en-GB" b="1" dirty="0" smtClean="0"/>
              <a:t>J’AI REÇU </a:t>
            </a:r>
            <a:r>
              <a:rPr lang="en-GB" b="1" dirty="0" smtClean="0"/>
              <a:t>€20 </a:t>
            </a:r>
            <a:r>
              <a:rPr lang="en-GB" b="1" dirty="0" smtClean="0">
                <a:solidFill>
                  <a:srgbClr val="FF0000"/>
                </a:solidFill>
              </a:rPr>
              <a:t>D’</a:t>
            </a:r>
            <a:r>
              <a:rPr lang="en-GB" b="1" dirty="0" smtClean="0"/>
              <a:t>UN AMI</a:t>
            </a:r>
            <a:endParaRPr lang="en-GB" b="1" dirty="0" smtClean="0"/>
          </a:p>
          <a:p>
            <a:pPr algn="ctr">
              <a:buNone/>
            </a:pPr>
            <a:endParaRPr lang="en-GB" sz="4800" b="1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DE LA PRATIQUE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GB" dirty="0" smtClean="0"/>
              <a:t>FROM ONE MOMENT TO THE OTHER</a:t>
            </a:r>
          </a:p>
          <a:p>
            <a:pPr>
              <a:buNone/>
            </a:pPr>
            <a:r>
              <a:rPr lang="en-GB" b="1" dirty="0" smtClean="0">
                <a:solidFill>
                  <a:srgbClr val="FF0000"/>
                </a:solidFill>
              </a:rPr>
              <a:t>D’</a:t>
            </a:r>
            <a:r>
              <a:rPr lang="en-GB" dirty="0" smtClean="0"/>
              <a:t>UN MOMENT À UN AUTRE</a:t>
            </a:r>
          </a:p>
          <a:p>
            <a:pPr>
              <a:buNone/>
            </a:pPr>
            <a:r>
              <a:rPr lang="en-GB" dirty="0" smtClean="0"/>
              <a:t>FROM HERE, FROM THERE</a:t>
            </a:r>
          </a:p>
          <a:p>
            <a:pPr>
              <a:buNone/>
            </a:pPr>
            <a:r>
              <a:rPr lang="en-GB" b="1" dirty="0" smtClean="0">
                <a:solidFill>
                  <a:srgbClr val="FF0000"/>
                </a:solidFill>
              </a:rPr>
              <a:t>D’</a:t>
            </a:r>
            <a:r>
              <a:rPr lang="en-GB" dirty="0" smtClean="0"/>
              <a:t>ICI,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dirty="0" smtClean="0"/>
              <a:t> LÀ</a:t>
            </a:r>
          </a:p>
          <a:p>
            <a:pPr>
              <a:buNone/>
            </a:pPr>
            <a:r>
              <a:rPr lang="en-GB" dirty="0" smtClean="0"/>
              <a:t>HE COMES FROM THE UNITED STATES</a:t>
            </a:r>
          </a:p>
          <a:p>
            <a:pPr>
              <a:buNone/>
            </a:pPr>
            <a:r>
              <a:rPr lang="en-GB" dirty="0" smtClean="0"/>
              <a:t>IL VIENT </a:t>
            </a:r>
            <a:r>
              <a:rPr lang="en-GB" b="1" dirty="0" smtClean="0">
                <a:solidFill>
                  <a:srgbClr val="FF0000"/>
                </a:solidFill>
              </a:rPr>
              <a:t>DES </a:t>
            </a:r>
            <a:r>
              <a:rPr lang="en-GB" dirty="0" smtClean="0"/>
              <a:t>ÉTATS-UNIS</a:t>
            </a:r>
          </a:p>
          <a:p>
            <a:pPr>
              <a:buNone/>
            </a:pPr>
            <a:r>
              <a:rPr lang="en-GB" dirty="0" smtClean="0"/>
              <a:t>I GOT AN EMAIL FROM MY PARENTS</a:t>
            </a:r>
          </a:p>
          <a:p>
            <a:pPr>
              <a:buNone/>
            </a:pPr>
            <a:r>
              <a:rPr lang="en-GB" dirty="0" smtClean="0"/>
              <a:t>J’AI REÇU UN EMAIL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dirty="0" smtClean="0"/>
              <a:t> MES PARENTS</a:t>
            </a:r>
            <a:endParaRPr lang="en-GB" dirty="0" smtClean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FROM</a:t>
            </a:r>
            <a:r>
              <a:rPr lang="en-GB" dirty="0" smtClean="0"/>
              <a:t>/</a:t>
            </a:r>
            <a:r>
              <a:rPr lang="en-GB" b="1" dirty="0" smtClean="0"/>
              <a:t>OF THE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dirty="0" smtClean="0"/>
              <a:t>THERE ARE </a:t>
            </a:r>
            <a:r>
              <a:rPr lang="en-GB" b="1" dirty="0" smtClean="0">
                <a:solidFill>
                  <a:srgbClr val="FF0000"/>
                </a:solidFill>
              </a:rPr>
              <a:t>4</a:t>
            </a:r>
            <a:r>
              <a:rPr lang="en-GB" dirty="0" smtClean="0"/>
              <a:t> FORMS: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sz="6600" b="1" dirty="0" smtClean="0">
                <a:solidFill>
                  <a:srgbClr val="FF0000"/>
                </a:solidFill>
              </a:rPr>
              <a:t>DU  DE LA  DE L’ </a:t>
            </a:r>
            <a:r>
              <a:rPr lang="en-GB" sz="6600" dirty="0" smtClean="0"/>
              <a:t>&amp;</a:t>
            </a:r>
            <a:r>
              <a:rPr lang="en-GB" sz="6600" b="1" dirty="0" smtClean="0">
                <a:solidFill>
                  <a:srgbClr val="FF0000"/>
                </a:solidFill>
              </a:rPr>
              <a:t>  DES</a:t>
            </a:r>
          </a:p>
          <a:p>
            <a:pPr>
              <a:buNone/>
            </a:pPr>
            <a:endParaRPr lang="en-GB" sz="66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GB" b="1" dirty="0" smtClean="0"/>
              <a:t>MASCULINE    FEMININE    +VOWEL        PLURAL</a:t>
            </a:r>
            <a:endParaRPr lang="en-GB" b="1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259632" y="3789040"/>
            <a:ext cx="0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347864" y="3789040"/>
            <a:ext cx="0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436096" y="3789040"/>
            <a:ext cx="0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7812360" y="3861048"/>
            <a:ext cx="0" cy="13681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GB" b="1" dirty="0" smtClean="0"/>
              <a:t>JE RENTRE </a:t>
            </a:r>
            <a:r>
              <a:rPr lang="en-GB" b="1" dirty="0" smtClean="0">
                <a:solidFill>
                  <a:srgbClr val="FF0000"/>
                </a:solidFill>
              </a:rPr>
              <a:t>DU</a:t>
            </a:r>
            <a:r>
              <a:rPr lang="en-GB" b="1" dirty="0" smtClean="0"/>
              <a:t> TRAVAIL		</a:t>
            </a:r>
            <a:r>
              <a:rPr lang="en-GB" b="1" dirty="0" smtClean="0">
                <a:solidFill>
                  <a:srgbClr val="FF0000"/>
                </a:solidFill>
              </a:rPr>
              <a:t>MASCULINE</a:t>
            </a:r>
          </a:p>
          <a:p>
            <a:pPr>
              <a:buNone/>
            </a:pPr>
            <a:r>
              <a:rPr lang="en-GB" b="1" dirty="0" smtClean="0">
                <a:solidFill>
                  <a:srgbClr val="FF0000"/>
                </a:solidFill>
              </a:rPr>
              <a:t>DU </a:t>
            </a:r>
            <a:r>
              <a:rPr lang="en-GB" b="1" dirty="0" smtClean="0"/>
              <a:t>15</a:t>
            </a:r>
            <a:r>
              <a:rPr lang="en-GB" b="1" dirty="0" smtClean="0">
                <a:solidFill>
                  <a:srgbClr val="FF0000"/>
                </a:solidFill>
              </a:rPr>
              <a:t> </a:t>
            </a:r>
            <a:r>
              <a:rPr lang="en-GB" b="1" dirty="0" smtClean="0"/>
              <a:t>JUIN AU 10 AO</a:t>
            </a:r>
            <a:r>
              <a:rPr lang="en-GB" b="1" dirty="0" smtClean="0">
                <a:latin typeface="Calibri"/>
              </a:rPr>
              <a:t>ÛT</a:t>
            </a:r>
            <a:endParaRPr lang="en-GB" b="1" dirty="0" smtClean="0"/>
          </a:p>
          <a:p>
            <a:pPr>
              <a:buNone/>
            </a:pPr>
            <a:r>
              <a:rPr lang="en-GB" b="1" dirty="0" smtClean="0"/>
              <a:t>IL REVIENT </a:t>
            </a:r>
            <a:r>
              <a:rPr lang="en-GB" b="1" dirty="0" smtClean="0">
                <a:solidFill>
                  <a:srgbClr val="FF0000"/>
                </a:solidFill>
              </a:rPr>
              <a:t>DE LA </a:t>
            </a:r>
            <a:r>
              <a:rPr lang="en-GB" b="1" dirty="0" smtClean="0"/>
              <a:t>VILLE		</a:t>
            </a:r>
            <a:r>
              <a:rPr lang="en-GB" b="1" dirty="0" smtClean="0">
                <a:solidFill>
                  <a:srgbClr val="FF0000"/>
                </a:solidFill>
              </a:rPr>
              <a:t>FEMININE</a:t>
            </a:r>
          </a:p>
          <a:p>
            <a:pPr>
              <a:buNone/>
            </a:pPr>
            <a:r>
              <a:rPr lang="en-GB" b="1" dirty="0" smtClean="0"/>
              <a:t>UN AMI </a:t>
            </a:r>
            <a:r>
              <a:rPr lang="en-GB" b="1" dirty="0" smtClean="0">
                <a:solidFill>
                  <a:srgbClr val="FF0000"/>
                </a:solidFill>
              </a:rPr>
              <a:t>DE LA </a:t>
            </a:r>
            <a:r>
              <a:rPr lang="en-GB" b="1" dirty="0" smtClean="0"/>
              <a:t>FAMILLE</a:t>
            </a:r>
          </a:p>
          <a:p>
            <a:pPr>
              <a:buNone/>
            </a:pPr>
            <a:r>
              <a:rPr lang="en-GB" b="1" dirty="0" smtClean="0"/>
              <a:t>JE RETOURNE </a:t>
            </a:r>
            <a:r>
              <a:rPr lang="en-GB" b="1" dirty="0" smtClean="0">
                <a:solidFill>
                  <a:srgbClr val="FF0000"/>
                </a:solidFill>
              </a:rPr>
              <a:t>DE L’</a:t>
            </a:r>
            <a:r>
              <a:rPr lang="en-GB" b="1" dirty="0" smtClean="0">
                <a:latin typeface="Calibri"/>
              </a:rPr>
              <a:t>ÉPICERIE</a:t>
            </a:r>
            <a:r>
              <a:rPr lang="en-GB" b="1" dirty="0" smtClean="0"/>
              <a:t>	</a:t>
            </a:r>
            <a:r>
              <a:rPr lang="en-GB" b="1" dirty="0" smtClean="0">
                <a:solidFill>
                  <a:srgbClr val="FF0000"/>
                </a:solidFill>
              </a:rPr>
              <a:t>+VOWEL</a:t>
            </a:r>
          </a:p>
          <a:p>
            <a:pPr>
              <a:buNone/>
            </a:pPr>
            <a:r>
              <a:rPr lang="en-GB" b="1" dirty="0" smtClean="0"/>
              <a:t>LES MEILLEURES SOLDES </a:t>
            </a:r>
            <a:r>
              <a:rPr lang="en-GB" b="1" dirty="0" smtClean="0">
                <a:solidFill>
                  <a:srgbClr val="FF0000"/>
                </a:solidFill>
              </a:rPr>
              <a:t>DE L’</a:t>
            </a:r>
            <a:r>
              <a:rPr lang="en-GB" b="1" dirty="0" smtClean="0"/>
              <a:t>ANN</a:t>
            </a:r>
            <a:r>
              <a:rPr lang="en-GB" b="1" dirty="0" smtClean="0">
                <a:latin typeface="Calibri"/>
              </a:rPr>
              <a:t>ÉE</a:t>
            </a:r>
            <a:r>
              <a:rPr lang="en-GB" b="1" dirty="0" smtClean="0">
                <a:solidFill>
                  <a:srgbClr val="FF0000"/>
                </a:solidFill>
                <a:latin typeface="Calibri"/>
              </a:rPr>
              <a:t>	</a:t>
            </a:r>
            <a:endParaRPr lang="en-GB" b="1" dirty="0" smtClean="0"/>
          </a:p>
          <a:p>
            <a:pPr>
              <a:buNone/>
            </a:pPr>
            <a:r>
              <a:rPr lang="en-GB" b="1" dirty="0" smtClean="0"/>
              <a:t>JE RENTRE </a:t>
            </a:r>
            <a:r>
              <a:rPr lang="en-GB" b="1" dirty="0" smtClean="0">
                <a:solidFill>
                  <a:srgbClr val="FF0000"/>
                </a:solidFill>
              </a:rPr>
              <a:t>DES</a:t>
            </a:r>
            <a:r>
              <a:rPr lang="en-GB" b="1" dirty="0" smtClean="0"/>
              <a:t> VACANCES		</a:t>
            </a:r>
            <a:r>
              <a:rPr lang="en-GB" b="1" dirty="0" smtClean="0">
                <a:solidFill>
                  <a:srgbClr val="FF0000"/>
                </a:solidFill>
              </a:rPr>
              <a:t>PLURAL</a:t>
            </a:r>
          </a:p>
          <a:p>
            <a:pPr>
              <a:buNone/>
            </a:pPr>
            <a:r>
              <a:rPr lang="en-GB" b="1" dirty="0" smtClean="0"/>
              <a:t>ALBERT EST LE ROI </a:t>
            </a:r>
            <a:r>
              <a:rPr lang="en-GB" b="1" dirty="0" smtClean="0">
                <a:solidFill>
                  <a:srgbClr val="FF0000"/>
                </a:solidFill>
              </a:rPr>
              <a:t>DES </a:t>
            </a:r>
            <a:r>
              <a:rPr lang="en-GB" b="1" dirty="0" smtClean="0"/>
              <a:t>BELGES</a:t>
            </a:r>
          </a:p>
          <a:p>
            <a:pPr>
              <a:buNone/>
            </a:pPr>
            <a:endParaRPr lang="en-GB" b="1" dirty="0" smtClean="0"/>
          </a:p>
          <a:p>
            <a:pPr>
              <a:buNone/>
            </a:pPr>
            <a:endParaRPr lang="en-GB" b="1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DE LA PRATIQUE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GB" dirty="0" smtClean="0"/>
              <a:t>HE CAME BACK FROM THE SHOPS</a:t>
            </a:r>
          </a:p>
          <a:p>
            <a:pPr>
              <a:buNone/>
            </a:pPr>
            <a:r>
              <a:rPr lang="en-GB" dirty="0" smtClean="0"/>
              <a:t>IL EST RETOURNÉ/RENTRÉ </a:t>
            </a:r>
            <a:r>
              <a:rPr lang="en-GB" b="1" dirty="0" smtClean="0">
                <a:solidFill>
                  <a:srgbClr val="FF0000"/>
                </a:solidFill>
              </a:rPr>
              <a:t>DES </a:t>
            </a:r>
            <a:r>
              <a:rPr lang="en-GB" dirty="0" smtClean="0"/>
              <a:t>MAGASINS</a:t>
            </a:r>
          </a:p>
          <a:p>
            <a:pPr>
              <a:buNone/>
            </a:pPr>
            <a:r>
              <a:rPr lang="en-GB" dirty="0" smtClean="0"/>
              <a:t>YOU CAN SEE EVERYTHING FROM THE EIFFEL </a:t>
            </a:r>
            <a:r>
              <a:rPr lang="en-GB" sz="2600" dirty="0" smtClean="0"/>
              <a:t>TOWER</a:t>
            </a:r>
          </a:p>
          <a:p>
            <a:pPr>
              <a:buNone/>
            </a:pPr>
            <a:r>
              <a:rPr lang="en-GB" dirty="0" smtClean="0"/>
              <a:t>ON VOIT TOUT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dirty="0" smtClean="0"/>
              <a:t> </a:t>
            </a:r>
            <a:r>
              <a:rPr lang="en-GB" b="1" dirty="0" smtClean="0">
                <a:solidFill>
                  <a:srgbClr val="FF0000"/>
                </a:solidFill>
              </a:rPr>
              <a:t>LA</a:t>
            </a:r>
            <a:r>
              <a:rPr lang="en-GB" dirty="0" smtClean="0"/>
              <a:t> TOUR EIFFEL</a:t>
            </a:r>
          </a:p>
          <a:p>
            <a:pPr>
              <a:buNone/>
            </a:pPr>
            <a:r>
              <a:rPr lang="en-GB" dirty="0" smtClean="0"/>
              <a:t>SHE COMES FROM THE SOUTH</a:t>
            </a:r>
          </a:p>
          <a:p>
            <a:pPr>
              <a:buNone/>
            </a:pPr>
            <a:r>
              <a:rPr lang="en-GB" dirty="0" smtClean="0"/>
              <a:t>ELLE VIENT </a:t>
            </a:r>
            <a:r>
              <a:rPr lang="en-GB" b="1" dirty="0" smtClean="0">
                <a:solidFill>
                  <a:srgbClr val="FF0000"/>
                </a:solidFill>
              </a:rPr>
              <a:t>DU </a:t>
            </a:r>
            <a:r>
              <a:rPr lang="en-GB" dirty="0" smtClean="0"/>
              <a:t>SUD</a:t>
            </a:r>
          </a:p>
          <a:p>
            <a:pPr>
              <a:buNone/>
            </a:pPr>
            <a:r>
              <a:rPr lang="en-GB" dirty="0" smtClean="0"/>
              <a:t>IT’S THE END OF THE SALES</a:t>
            </a:r>
          </a:p>
          <a:p>
            <a:pPr>
              <a:buNone/>
            </a:pPr>
            <a:r>
              <a:rPr lang="en-GB" dirty="0" smtClean="0"/>
              <a:t>C’EST LA FIN </a:t>
            </a:r>
            <a:r>
              <a:rPr lang="en-GB" b="1" dirty="0" smtClean="0">
                <a:solidFill>
                  <a:srgbClr val="FF0000"/>
                </a:solidFill>
              </a:rPr>
              <a:t>DES</a:t>
            </a:r>
            <a:r>
              <a:rPr lang="en-GB" dirty="0" smtClean="0"/>
              <a:t> SOLDES</a:t>
            </a:r>
            <a:endParaRPr lang="en-GB" dirty="0" smtClean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SOME</a:t>
            </a:r>
            <a:r>
              <a:rPr lang="en-GB" dirty="0" smtClean="0"/>
              <a:t>/</a:t>
            </a:r>
            <a:r>
              <a:rPr lang="en-GB" b="1" dirty="0" smtClean="0"/>
              <a:t>ANY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dirty="0" smtClean="0"/>
              <a:t>THERE ARE </a:t>
            </a:r>
            <a:r>
              <a:rPr lang="en-GB" b="1" dirty="0" smtClean="0">
                <a:solidFill>
                  <a:srgbClr val="FF0000"/>
                </a:solidFill>
              </a:rPr>
              <a:t>4</a:t>
            </a:r>
            <a:r>
              <a:rPr lang="en-GB" dirty="0" smtClean="0"/>
              <a:t> FORMS: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sz="6600" b="1" dirty="0" smtClean="0">
                <a:solidFill>
                  <a:srgbClr val="FF0000"/>
                </a:solidFill>
              </a:rPr>
              <a:t>DU  DE LA  DE L’ </a:t>
            </a:r>
            <a:r>
              <a:rPr lang="en-GB" sz="6600" dirty="0" smtClean="0"/>
              <a:t>&amp;</a:t>
            </a:r>
            <a:r>
              <a:rPr lang="en-GB" sz="6600" b="1" dirty="0" smtClean="0">
                <a:solidFill>
                  <a:srgbClr val="FF0000"/>
                </a:solidFill>
              </a:rPr>
              <a:t>  DES</a:t>
            </a:r>
          </a:p>
          <a:p>
            <a:pPr>
              <a:buNone/>
            </a:pPr>
            <a:endParaRPr lang="en-GB" sz="66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GB" b="1" dirty="0" smtClean="0"/>
              <a:t>MASCULINE    FEMININE    +VOWEL        PLURAL</a:t>
            </a:r>
            <a:endParaRPr lang="en-GB" b="1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259632" y="3789040"/>
            <a:ext cx="0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347864" y="3789040"/>
            <a:ext cx="0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436096" y="3789040"/>
            <a:ext cx="0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7812360" y="3861048"/>
            <a:ext cx="0" cy="13681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GB" b="1" dirty="0" smtClean="0"/>
              <a:t>JE BOIS </a:t>
            </a:r>
            <a:r>
              <a:rPr lang="en-GB" b="1" dirty="0" smtClean="0">
                <a:solidFill>
                  <a:srgbClr val="FF0000"/>
                </a:solidFill>
              </a:rPr>
              <a:t>DU</a:t>
            </a:r>
            <a:r>
              <a:rPr lang="en-GB" b="1" dirty="0" smtClean="0"/>
              <a:t> LAIT				</a:t>
            </a:r>
            <a:r>
              <a:rPr lang="en-GB" b="1" dirty="0" smtClean="0">
                <a:solidFill>
                  <a:srgbClr val="FF0000"/>
                </a:solidFill>
              </a:rPr>
              <a:t>MASCULINE</a:t>
            </a:r>
          </a:p>
          <a:p>
            <a:pPr>
              <a:buNone/>
            </a:pPr>
            <a:r>
              <a:rPr lang="en-GB" b="1" dirty="0" smtClean="0"/>
              <a:t>JE PRENDS </a:t>
            </a:r>
            <a:r>
              <a:rPr lang="en-GB" b="1" dirty="0" smtClean="0">
                <a:solidFill>
                  <a:srgbClr val="FF0000"/>
                </a:solidFill>
              </a:rPr>
              <a:t>DU</a:t>
            </a:r>
            <a:r>
              <a:rPr lang="en-GB" b="1" dirty="0" smtClean="0"/>
              <a:t> CHOCOLAT</a:t>
            </a:r>
          </a:p>
          <a:p>
            <a:pPr>
              <a:buNone/>
            </a:pPr>
            <a:r>
              <a:rPr lang="en-GB" b="1" dirty="0" smtClean="0"/>
              <a:t>JE MANGE </a:t>
            </a:r>
            <a:r>
              <a:rPr lang="en-GB" b="1" dirty="0" smtClean="0">
                <a:solidFill>
                  <a:srgbClr val="FF0000"/>
                </a:solidFill>
              </a:rPr>
              <a:t>DE LA </a:t>
            </a:r>
            <a:r>
              <a:rPr lang="en-GB" b="1" dirty="0" smtClean="0"/>
              <a:t>VIANDE		</a:t>
            </a:r>
            <a:r>
              <a:rPr lang="en-GB" b="1" dirty="0" smtClean="0">
                <a:solidFill>
                  <a:srgbClr val="FF0000"/>
                </a:solidFill>
              </a:rPr>
              <a:t>FEMININE</a:t>
            </a:r>
          </a:p>
          <a:p>
            <a:pPr>
              <a:buNone/>
            </a:pPr>
            <a:r>
              <a:rPr lang="en-GB" b="1" dirty="0" smtClean="0"/>
              <a:t>JE T</a:t>
            </a:r>
            <a:r>
              <a:rPr lang="en-GB" b="1" dirty="0" smtClean="0">
                <a:latin typeface="Calibri"/>
              </a:rPr>
              <a:t>ÉLÉCHARGE</a:t>
            </a:r>
            <a:r>
              <a:rPr lang="en-GB" b="1" dirty="0" smtClean="0"/>
              <a:t> </a:t>
            </a:r>
            <a:r>
              <a:rPr lang="en-GB" b="1" dirty="0" smtClean="0">
                <a:solidFill>
                  <a:srgbClr val="FF0000"/>
                </a:solidFill>
              </a:rPr>
              <a:t>DE LA </a:t>
            </a:r>
            <a:r>
              <a:rPr lang="en-GB" b="1" dirty="0" smtClean="0"/>
              <a:t>MUSIQUE</a:t>
            </a:r>
          </a:p>
          <a:p>
            <a:pPr>
              <a:buNone/>
            </a:pPr>
            <a:r>
              <a:rPr lang="en-GB" b="1" dirty="0" smtClean="0"/>
              <a:t>JE VOUDRAIS </a:t>
            </a:r>
            <a:r>
              <a:rPr lang="en-GB" b="1" dirty="0" smtClean="0">
                <a:solidFill>
                  <a:srgbClr val="FF0000"/>
                </a:solidFill>
              </a:rPr>
              <a:t>DE L’</a:t>
            </a:r>
            <a:r>
              <a:rPr lang="en-GB" b="1" dirty="0" smtClean="0"/>
              <a:t>AIDE		</a:t>
            </a:r>
            <a:r>
              <a:rPr lang="en-GB" b="1" dirty="0" smtClean="0">
                <a:solidFill>
                  <a:srgbClr val="FF0000"/>
                </a:solidFill>
              </a:rPr>
              <a:t>+VOWEL</a:t>
            </a:r>
          </a:p>
          <a:p>
            <a:pPr>
              <a:buNone/>
            </a:pPr>
            <a:r>
              <a:rPr lang="en-GB" b="1" dirty="0" smtClean="0"/>
              <a:t>J’ACH</a:t>
            </a:r>
            <a:r>
              <a:rPr lang="en-GB" b="1" dirty="0" smtClean="0">
                <a:latin typeface="Calibri"/>
              </a:rPr>
              <a:t>ÈTE D</a:t>
            </a:r>
            <a:r>
              <a:rPr lang="en-GB" b="1" dirty="0" smtClean="0">
                <a:solidFill>
                  <a:srgbClr val="FF0000"/>
                </a:solidFill>
                <a:latin typeface="Calibri"/>
              </a:rPr>
              <a:t>E L’</a:t>
            </a:r>
            <a:r>
              <a:rPr lang="en-GB" b="1" dirty="0" smtClean="0">
                <a:latin typeface="Calibri"/>
              </a:rPr>
              <a:t>EAU</a:t>
            </a:r>
            <a:endParaRPr lang="en-GB" b="1" dirty="0" smtClean="0"/>
          </a:p>
          <a:p>
            <a:pPr>
              <a:buNone/>
            </a:pPr>
            <a:r>
              <a:rPr lang="en-GB" b="1" dirty="0" smtClean="0"/>
              <a:t>VOICI </a:t>
            </a:r>
            <a:r>
              <a:rPr lang="en-GB" b="1" dirty="0" smtClean="0">
                <a:solidFill>
                  <a:srgbClr val="FF0000"/>
                </a:solidFill>
              </a:rPr>
              <a:t>DES</a:t>
            </a:r>
            <a:r>
              <a:rPr lang="en-GB" b="1" dirty="0" smtClean="0"/>
              <a:t> EXEMPLES			</a:t>
            </a:r>
            <a:r>
              <a:rPr lang="en-GB" b="1" dirty="0" smtClean="0">
                <a:solidFill>
                  <a:srgbClr val="FF0000"/>
                </a:solidFill>
              </a:rPr>
              <a:t>PLURAL</a:t>
            </a:r>
          </a:p>
          <a:p>
            <a:pPr>
              <a:buNone/>
            </a:pPr>
            <a:r>
              <a:rPr lang="en-GB" b="1" dirty="0" smtClean="0">
                <a:solidFill>
                  <a:srgbClr val="FF0000"/>
                </a:solidFill>
              </a:rPr>
              <a:t>DES</a:t>
            </a:r>
            <a:r>
              <a:rPr lang="en-GB" b="1" dirty="0" smtClean="0"/>
              <a:t> FOIS JE REGARDE LA T</a:t>
            </a:r>
            <a:r>
              <a:rPr lang="en-GB" b="1" dirty="0" smtClean="0">
                <a:latin typeface="Calibri"/>
              </a:rPr>
              <a:t>É</a:t>
            </a:r>
            <a:r>
              <a:rPr lang="en-GB" b="1" dirty="0" smtClean="0"/>
              <a:t>L</a:t>
            </a:r>
            <a:r>
              <a:rPr lang="en-GB" b="1" dirty="0" smtClean="0">
                <a:latin typeface="Calibri"/>
              </a:rPr>
              <a:t>É</a:t>
            </a:r>
            <a:endParaRPr lang="en-GB" b="1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DE LA PRATIQUE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GB" dirty="0" smtClean="0"/>
              <a:t>DO YOU WANT SOME BREAD OR CROISSANTS?</a:t>
            </a:r>
          </a:p>
          <a:p>
            <a:pPr>
              <a:buNone/>
            </a:pPr>
            <a:r>
              <a:rPr lang="en-GB" dirty="0" smtClean="0"/>
              <a:t>TU VEUX </a:t>
            </a:r>
            <a:r>
              <a:rPr lang="en-GB" b="1" dirty="0" smtClean="0">
                <a:solidFill>
                  <a:srgbClr val="FF0000"/>
                </a:solidFill>
              </a:rPr>
              <a:t>DU</a:t>
            </a:r>
            <a:r>
              <a:rPr lang="en-GB" dirty="0" smtClean="0"/>
              <a:t> PAIN OU </a:t>
            </a:r>
            <a:r>
              <a:rPr lang="en-GB" b="1" dirty="0" smtClean="0">
                <a:solidFill>
                  <a:srgbClr val="FF0000"/>
                </a:solidFill>
              </a:rPr>
              <a:t>DES </a:t>
            </a:r>
            <a:r>
              <a:rPr lang="en-GB" dirty="0" smtClean="0"/>
              <a:t>CROISSANTS?</a:t>
            </a:r>
          </a:p>
          <a:p>
            <a:pPr>
              <a:buNone/>
            </a:pPr>
            <a:r>
              <a:rPr lang="en-GB" dirty="0" smtClean="0"/>
              <a:t>SHE ONLY DRINKS WATER OR JUICE</a:t>
            </a:r>
            <a:endParaRPr lang="en-GB" sz="2600" dirty="0" smtClean="0"/>
          </a:p>
          <a:p>
            <a:pPr>
              <a:buNone/>
            </a:pPr>
            <a:r>
              <a:rPr lang="en-GB" dirty="0" smtClean="0"/>
              <a:t>ELLE NE BOIT QUE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dirty="0" smtClean="0"/>
              <a:t> </a:t>
            </a:r>
            <a:r>
              <a:rPr lang="en-GB" b="1" dirty="0" smtClean="0">
                <a:solidFill>
                  <a:srgbClr val="FF0000"/>
                </a:solidFill>
              </a:rPr>
              <a:t>L’</a:t>
            </a:r>
            <a:r>
              <a:rPr lang="en-GB" dirty="0" smtClean="0"/>
              <a:t>EAU OU </a:t>
            </a:r>
            <a:r>
              <a:rPr lang="en-GB" b="1" dirty="0" smtClean="0">
                <a:solidFill>
                  <a:srgbClr val="FF0000"/>
                </a:solidFill>
              </a:rPr>
              <a:t>DU</a:t>
            </a:r>
            <a:r>
              <a:rPr lang="en-GB" dirty="0" smtClean="0"/>
              <a:t> JUS</a:t>
            </a:r>
          </a:p>
          <a:p>
            <a:pPr>
              <a:buNone/>
            </a:pPr>
            <a:r>
              <a:rPr lang="en-GB" dirty="0" smtClean="0"/>
              <a:t>YOU ARE LUCKY!  </a:t>
            </a:r>
            <a:r>
              <a:rPr lang="en-GB" sz="2800" dirty="0" smtClean="0"/>
              <a:t>(YOU HAVE SOME LUCK)</a:t>
            </a:r>
          </a:p>
          <a:p>
            <a:pPr>
              <a:buNone/>
            </a:pPr>
            <a:r>
              <a:rPr lang="en-GB" dirty="0" smtClean="0"/>
              <a:t>TU AS </a:t>
            </a:r>
            <a:r>
              <a:rPr lang="en-GB" b="1" dirty="0" smtClean="0">
                <a:solidFill>
                  <a:srgbClr val="FF0000"/>
                </a:solidFill>
              </a:rPr>
              <a:t>DE LA </a:t>
            </a:r>
            <a:r>
              <a:rPr lang="en-GB" dirty="0" smtClean="0"/>
              <a:t>C</a:t>
            </a:r>
            <a:r>
              <a:rPr lang="en-GB" dirty="0" smtClean="0"/>
              <a:t>HANCE!</a:t>
            </a:r>
          </a:p>
          <a:p>
            <a:pPr>
              <a:buNone/>
            </a:pPr>
            <a:r>
              <a:rPr lang="en-GB" dirty="0" smtClean="0"/>
              <a:t>I’D LIKE SOME SWEETS</a:t>
            </a:r>
          </a:p>
          <a:p>
            <a:pPr>
              <a:buNone/>
            </a:pPr>
            <a:r>
              <a:rPr lang="en-GB" dirty="0" smtClean="0"/>
              <a:t>JE VOUDRAIS </a:t>
            </a:r>
            <a:r>
              <a:rPr lang="en-GB" b="1" dirty="0" smtClean="0">
                <a:solidFill>
                  <a:srgbClr val="FF0000"/>
                </a:solidFill>
              </a:rPr>
              <a:t>DES</a:t>
            </a:r>
            <a:r>
              <a:rPr lang="en-GB" dirty="0" smtClean="0"/>
              <a:t> BONBONS</a:t>
            </a:r>
            <a:endParaRPr lang="en-GB" dirty="0" smtClean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BUT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 smtClean="0"/>
              <a:t>WHEN THERE IS A </a:t>
            </a:r>
            <a:r>
              <a:rPr lang="en-GB" b="1" dirty="0" smtClean="0">
                <a:solidFill>
                  <a:srgbClr val="FF0000"/>
                </a:solidFill>
              </a:rPr>
              <a:t>NEGATIVE</a:t>
            </a:r>
          </a:p>
          <a:p>
            <a:pPr>
              <a:buNone/>
            </a:pPr>
            <a:r>
              <a:rPr lang="en-GB" b="1" dirty="0" smtClean="0"/>
              <a:t>OR</a:t>
            </a:r>
          </a:p>
          <a:p>
            <a:pPr>
              <a:buNone/>
            </a:pPr>
            <a:r>
              <a:rPr lang="en-GB" b="1" dirty="0" smtClean="0"/>
              <a:t>AN </a:t>
            </a:r>
            <a:r>
              <a:rPr lang="en-GB" b="1" dirty="0" smtClean="0">
                <a:solidFill>
                  <a:srgbClr val="FF0000"/>
                </a:solidFill>
              </a:rPr>
              <a:t>ADJECTIVE</a:t>
            </a:r>
            <a:r>
              <a:rPr lang="en-GB" b="1" dirty="0" smtClean="0"/>
              <a:t> </a:t>
            </a:r>
            <a:r>
              <a:rPr lang="en-GB" b="1" u="sng" dirty="0" smtClean="0">
                <a:solidFill>
                  <a:srgbClr val="FF0000"/>
                </a:solidFill>
              </a:rPr>
              <a:t>BEFORE</a:t>
            </a:r>
            <a:r>
              <a:rPr lang="en-GB" b="1" dirty="0" smtClean="0"/>
              <a:t> THE NOUN IT’S</a:t>
            </a:r>
          </a:p>
          <a:p>
            <a:pPr>
              <a:buNone/>
            </a:pPr>
            <a:endParaRPr lang="en-GB" b="1" dirty="0"/>
          </a:p>
          <a:p>
            <a:pPr algn="ctr">
              <a:buNone/>
            </a:pPr>
            <a:r>
              <a:rPr lang="en-GB" sz="6600" b="1" dirty="0" smtClean="0">
                <a:solidFill>
                  <a:srgbClr val="FF0000"/>
                </a:solidFill>
              </a:rPr>
              <a:t>DE</a:t>
            </a:r>
            <a:r>
              <a:rPr lang="en-GB" sz="6600" b="1" dirty="0" smtClean="0"/>
              <a:t> or </a:t>
            </a:r>
            <a:r>
              <a:rPr lang="en-GB" sz="6600" b="1" dirty="0" smtClean="0">
                <a:solidFill>
                  <a:srgbClr val="FF0000"/>
                </a:solidFill>
              </a:rPr>
              <a:t>D’</a:t>
            </a:r>
          </a:p>
          <a:p>
            <a:pPr>
              <a:buNone/>
            </a:pPr>
            <a:endParaRPr lang="en-GB" b="1" dirty="0"/>
          </a:p>
          <a:p>
            <a:pPr>
              <a:buNone/>
            </a:pPr>
            <a:endParaRPr lang="en-GB" b="1" dirty="0" smtClean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 smtClean="0"/>
              <a:t>JE N’AI </a:t>
            </a:r>
            <a:r>
              <a:rPr lang="en-GB" b="1" u="sng" dirty="0" smtClean="0"/>
              <a:t>PAS</a:t>
            </a:r>
            <a:r>
              <a:rPr lang="en-GB" b="1" dirty="0" smtClean="0"/>
              <a:t>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b="1" dirty="0" smtClean="0"/>
              <a:t> DEVOIRS</a:t>
            </a:r>
          </a:p>
          <a:p>
            <a:pPr>
              <a:buNone/>
            </a:pPr>
            <a:r>
              <a:rPr lang="en-GB" b="1" dirty="0" smtClean="0"/>
              <a:t>MON MEILLEUR AMI N’A </a:t>
            </a:r>
            <a:r>
              <a:rPr lang="en-GB" b="1" u="sng" dirty="0" smtClean="0"/>
              <a:t>PAS</a:t>
            </a:r>
            <a:r>
              <a:rPr lang="en-GB" b="1" dirty="0" smtClean="0"/>
              <a:t>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b="1" dirty="0" smtClean="0"/>
              <a:t> FRÈRES</a:t>
            </a:r>
          </a:p>
          <a:p>
            <a:pPr>
              <a:buNone/>
            </a:pPr>
            <a:r>
              <a:rPr lang="en-GB" b="1" dirty="0" smtClean="0"/>
              <a:t>IL N’A </a:t>
            </a:r>
            <a:r>
              <a:rPr lang="en-GB" b="1" u="sng" dirty="0" smtClean="0"/>
              <a:t>PAS</a:t>
            </a:r>
            <a:r>
              <a:rPr lang="en-GB" b="1" dirty="0" smtClean="0"/>
              <a:t> </a:t>
            </a:r>
            <a:r>
              <a:rPr lang="en-GB" b="1" dirty="0" smtClean="0">
                <a:solidFill>
                  <a:srgbClr val="FF0000"/>
                </a:solidFill>
              </a:rPr>
              <a:t>D’</a:t>
            </a:r>
            <a:r>
              <a:rPr lang="en-GB" b="1" dirty="0" smtClean="0"/>
              <a:t>ARGENT</a:t>
            </a:r>
          </a:p>
          <a:p>
            <a:pPr>
              <a:buNone/>
            </a:pPr>
            <a:r>
              <a:rPr lang="en-GB" b="1" dirty="0" smtClean="0"/>
              <a:t>ELLE N’A </a:t>
            </a:r>
            <a:r>
              <a:rPr lang="en-GB" b="1" u="sng" dirty="0" smtClean="0"/>
              <a:t>PAS</a:t>
            </a:r>
            <a:r>
              <a:rPr lang="en-GB" b="1" dirty="0" smtClean="0"/>
              <a:t> </a:t>
            </a:r>
            <a:r>
              <a:rPr lang="en-GB" b="1" dirty="0" smtClean="0">
                <a:solidFill>
                  <a:srgbClr val="FF0000"/>
                </a:solidFill>
              </a:rPr>
              <a:t>D’</a:t>
            </a:r>
            <a:r>
              <a:rPr lang="en-GB" b="1" dirty="0" smtClean="0"/>
              <a:t>AMBITION</a:t>
            </a:r>
          </a:p>
          <a:p>
            <a:pPr>
              <a:buNone/>
            </a:pPr>
            <a:r>
              <a:rPr lang="en-GB" b="1" dirty="0" smtClean="0"/>
              <a:t>J’AI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b="1" dirty="0" smtClean="0"/>
              <a:t> </a:t>
            </a:r>
            <a:r>
              <a:rPr lang="en-GB" b="1" u="sng" dirty="0" smtClean="0"/>
              <a:t>BEAUX</a:t>
            </a:r>
            <a:r>
              <a:rPr lang="en-GB" b="1" dirty="0" smtClean="0"/>
              <a:t> </a:t>
            </a:r>
            <a:r>
              <a:rPr lang="en-GB" b="1" dirty="0" smtClean="0"/>
              <a:t>YEUX VERTS</a:t>
            </a:r>
            <a:endParaRPr lang="en-GB" b="1" dirty="0" smtClean="0"/>
          </a:p>
          <a:p>
            <a:pPr>
              <a:buNone/>
            </a:pPr>
            <a:r>
              <a:rPr lang="en-GB" b="1" dirty="0" smtClean="0"/>
              <a:t>IL A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b="1" dirty="0" smtClean="0"/>
              <a:t> </a:t>
            </a:r>
            <a:r>
              <a:rPr lang="en-GB" b="1" u="sng" dirty="0" smtClean="0"/>
              <a:t>GRANDES</a:t>
            </a:r>
            <a:r>
              <a:rPr lang="en-GB" b="1" dirty="0" smtClean="0"/>
              <a:t> </a:t>
            </a:r>
            <a:r>
              <a:rPr lang="en-GB" b="1" dirty="0" smtClean="0"/>
              <a:t>OREILLES</a:t>
            </a:r>
          </a:p>
          <a:p>
            <a:pPr>
              <a:buNone/>
            </a:pPr>
            <a:r>
              <a:rPr lang="en-GB" b="1" dirty="0" smtClean="0"/>
              <a:t>J’AI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b="1" dirty="0" smtClean="0"/>
              <a:t> </a:t>
            </a:r>
            <a:r>
              <a:rPr lang="en-GB" b="1" u="sng" dirty="0" smtClean="0"/>
              <a:t>BONS</a:t>
            </a:r>
            <a:r>
              <a:rPr lang="en-GB" b="1" dirty="0" smtClean="0"/>
              <a:t> AMIS</a:t>
            </a:r>
            <a:endParaRPr lang="en-GB" b="1" dirty="0" smtClean="0"/>
          </a:p>
          <a:p>
            <a:pPr>
              <a:buNone/>
            </a:pPr>
            <a:endParaRPr lang="en-GB" b="1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DE LA PRATIQUE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GB" dirty="0" smtClean="0"/>
              <a:t>SHE HAS NO FRIENDS IN PARIS</a:t>
            </a:r>
          </a:p>
          <a:p>
            <a:pPr>
              <a:buNone/>
            </a:pPr>
            <a:r>
              <a:rPr lang="en-GB" dirty="0" smtClean="0"/>
              <a:t>ELLE N’A </a:t>
            </a:r>
            <a:r>
              <a:rPr lang="en-GB" smtClean="0"/>
              <a:t>PAS </a:t>
            </a:r>
            <a:r>
              <a:rPr lang="en-GB" b="1" smtClean="0">
                <a:solidFill>
                  <a:srgbClr val="FF0000"/>
                </a:solidFill>
              </a:rPr>
              <a:t>D’</a:t>
            </a:r>
            <a:r>
              <a:rPr lang="en-GB" smtClean="0"/>
              <a:t>AMIS À PARIS</a:t>
            </a:r>
            <a:endParaRPr lang="en-GB" dirty="0" smtClean="0"/>
          </a:p>
          <a:p>
            <a:pPr>
              <a:buNone/>
            </a:pPr>
            <a:r>
              <a:rPr lang="en-GB" dirty="0" smtClean="0"/>
              <a:t>I’VE GOT BEAUTIFUL PLANTS IN MY GARDEN</a:t>
            </a:r>
            <a:endParaRPr lang="en-GB" sz="2600" dirty="0" smtClean="0"/>
          </a:p>
          <a:p>
            <a:pPr>
              <a:buNone/>
            </a:pPr>
            <a:r>
              <a:rPr lang="en-GB" dirty="0" smtClean="0"/>
              <a:t>J’AI </a:t>
            </a:r>
            <a:r>
              <a:rPr lang="en-GB" b="1" dirty="0" smtClean="0">
                <a:solidFill>
                  <a:srgbClr val="FF0000"/>
                </a:solidFill>
              </a:rPr>
              <a:t>DE</a:t>
            </a:r>
            <a:r>
              <a:rPr lang="en-GB" dirty="0" smtClean="0"/>
              <a:t> BELLES PLANTES DANS MON JARDIN</a:t>
            </a:r>
          </a:p>
          <a:p>
            <a:pPr>
              <a:buNone/>
            </a:pPr>
            <a:r>
              <a:rPr lang="en-GB" dirty="0" smtClean="0"/>
              <a:t>SHE HAS BIG, BLUE EYES</a:t>
            </a:r>
            <a:endParaRPr lang="en-GB" sz="2800" dirty="0" smtClean="0"/>
          </a:p>
          <a:p>
            <a:pPr>
              <a:buNone/>
            </a:pPr>
            <a:r>
              <a:rPr lang="en-GB" dirty="0" smtClean="0"/>
              <a:t>ELLE A </a:t>
            </a:r>
            <a:r>
              <a:rPr lang="en-GB" b="1" dirty="0" smtClean="0">
                <a:solidFill>
                  <a:srgbClr val="FF0000"/>
                </a:solidFill>
              </a:rPr>
              <a:t>DE </a:t>
            </a:r>
            <a:r>
              <a:rPr lang="en-GB" dirty="0" smtClean="0"/>
              <a:t>BEAUX YEUX BLEUS</a:t>
            </a:r>
          </a:p>
          <a:p>
            <a:pPr>
              <a:buNone/>
            </a:pPr>
            <a:r>
              <a:rPr lang="en-GB" dirty="0" smtClean="0"/>
              <a:t>I DON’T HAVE ANY MONEY. DO YOU HAVE MONEY?</a:t>
            </a:r>
          </a:p>
          <a:p>
            <a:pPr>
              <a:buNone/>
            </a:pPr>
            <a:r>
              <a:rPr lang="en-GB" dirty="0" smtClean="0"/>
              <a:t>JE N’AI PAS </a:t>
            </a:r>
            <a:r>
              <a:rPr lang="en-GB" b="1" dirty="0" smtClean="0">
                <a:solidFill>
                  <a:srgbClr val="FF0000"/>
                </a:solidFill>
              </a:rPr>
              <a:t>D’</a:t>
            </a:r>
            <a:r>
              <a:rPr lang="en-GB" dirty="0" smtClean="0"/>
              <a:t>ARGENT. TU AS DE L’ARGENT?</a:t>
            </a:r>
            <a:endParaRPr lang="en-GB" dirty="0" smtClean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544</Words>
  <Application>Microsoft Office PowerPoint</Application>
  <PresentationFormat>On-screen Show (4:3)</PresentationFormat>
  <Paragraphs>155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THE PARTITIVE ARTICLE DE</vt:lpstr>
      <vt:lpstr>WHAT DOES IT MEAN?</vt:lpstr>
      <vt:lpstr>OF</vt:lpstr>
      <vt:lpstr>EXAMPLES</vt:lpstr>
      <vt:lpstr>EXAMPLES</vt:lpstr>
      <vt:lpstr>BUT</vt:lpstr>
      <vt:lpstr>DE LA PRATIQUE</vt:lpstr>
      <vt:lpstr>DE LA PRATIQUE</vt:lpstr>
      <vt:lpstr>FROM</vt:lpstr>
      <vt:lpstr>EXAMPLES</vt:lpstr>
      <vt:lpstr>DE LA PRATIQUE</vt:lpstr>
      <vt:lpstr>FROM/OF THE</vt:lpstr>
      <vt:lpstr>EXAMPLES</vt:lpstr>
      <vt:lpstr>DE LA PRATIQUE</vt:lpstr>
      <vt:lpstr>SOME/ANY</vt:lpstr>
      <vt:lpstr>EXAMPLES</vt:lpstr>
      <vt:lpstr>DE LA PRATIQUE</vt:lpstr>
      <vt:lpstr>BUT</vt:lpstr>
      <vt:lpstr>EXAMPLES</vt:lpstr>
      <vt:lpstr>DE LA PRATIQUE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PARTATIVE ARTICLE DE</dc:title>
  <dc:creator>squid</dc:creator>
  <cp:lastModifiedBy>andy.holland</cp:lastModifiedBy>
  <cp:revision>81</cp:revision>
  <dcterms:created xsi:type="dcterms:W3CDTF">2013-11-22T22:23:41Z</dcterms:created>
  <dcterms:modified xsi:type="dcterms:W3CDTF">2013-11-25T09:02:36Z</dcterms:modified>
</cp:coreProperties>
</file>