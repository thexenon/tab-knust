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61" r:id="rId5"/>
    <p:sldId id="259" r:id="rId6"/>
    <p:sldId id="263" r:id="rId7"/>
    <p:sldId id="264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1"/>
            <a:ext cx="7772400" cy="1295399"/>
          </a:xfrm>
        </p:spPr>
        <p:txBody>
          <a:bodyPr/>
          <a:lstStyle/>
          <a:p>
            <a:pPr algn="ctr"/>
            <a:r>
              <a:rPr lang="en-GB" dirty="0" err="1" smtClean="0">
                <a:solidFill>
                  <a:schemeClr val="bg1"/>
                </a:solidFill>
              </a:rPr>
              <a:t>Verbes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95600"/>
            <a:ext cx="6629400" cy="1752600"/>
          </a:xfrm>
        </p:spPr>
        <p:txBody>
          <a:bodyPr>
            <a:normAutofit/>
          </a:bodyPr>
          <a:lstStyle/>
          <a:p>
            <a:pPr algn="ctr"/>
            <a:r>
              <a:rPr lang="en-GB" sz="66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Avoir</a:t>
            </a:r>
            <a:r>
              <a:rPr lang="en-GB" sz="6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et </a:t>
            </a:r>
            <a:r>
              <a:rPr lang="en-GB" sz="66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Être</a:t>
            </a:r>
            <a:endParaRPr lang="en-GB" sz="6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GB" dirty="0" err="1" smtClean="0"/>
              <a:t>Avoir</a:t>
            </a:r>
            <a:r>
              <a:rPr lang="en-GB" dirty="0" smtClean="0"/>
              <a:t> (to have)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7620000" cy="5135563"/>
          </a:xfrm>
        </p:spPr>
        <p:txBody>
          <a:bodyPr>
            <a:noAutofit/>
          </a:bodyPr>
          <a:lstStyle/>
          <a:p>
            <a:r>
              <a:rPr lang="fr-FR" sz="3600" dirty="0" smtClean="0"/>
              <a:t>J’</a:t>
            </a:r>
            <a:r>
              <a:rPr lang="fr-FR" sz="3600" dirty="0" smtClean="0">
                <a:solidFill>
                  <a:srgbClr val="FF0000"/>
                </a:solidFill>
              </a:rPr>
              <a:t>ai</a:t>
            </a:r>
            <a:r>
              <a:rPr lang="fr-FR" sz="3600" dirty="0" smtClean="0"/>
              <a:t> un stylo</a:t>
            </a:r>
          </a:p>
          <a:p>
            <a:r>
              <a:rPr lang="fr-FR" sz="3600" dirty="0" smtClean="0"/>
              <a:t>Tu </a:t>
            </a:r>
            <a:r>
              <a:rPr lang="fr-FR" sz="3600" dirty="0" smtClean="0">
                <a:solidFill>
                  <a:srgbClr val="FF0000"/>
                </a:solidFill>
              </a:rPr>
              <a:t>as</a:t>
            </a:r>
            <a:r>
              <a:rPr lang="fr-FR" sz="3600" dirty="0" smtClean="0"/>
              <a:t> une femme?</a:t>
            </a:r>
          </a:p>
          <a:p>
            <a:r>
              <a:rPr lang="fr-FR" sz="3600" dirty="0" smtClean="0"/>
              <a:t>Il </a:t>
            </a:r>
            <a:r>
              <a:rPr lang="fr-FR" sz="3600" dirty="0" smtClean="0">
                <a:solidFill>
                  <a:srgbClr val="FF0000"/>
                </a:solidFill>
              </a:rPr>
              <a:t>a</a:t>
            </a:r>
            <a:r>
              <a:rPr lang="fr-FR" sz="3600" dirty="0" smtClean="0"/>
              <a:t> 17 ans</a:t>
            </a:r>
          </a:p>
          <a:p>
            <a:r>
              <a:rPr lang="fr-FR" sz="3600" dirty="0" smtClean="0"/>
              <a:t>Elle </a:t>
            </a:r>
            <a:r>
              <a:rPr lang="fr-FR" sz="3600" dirty="0" smtClean="0">
                <a:solidFill>
                  <a:srgbClr val="FF0000"/>
                </a:solidFill>
              </a:rPr>
              <a:t>a</a:t>
            </a:r>
            <a:r>
              <a:rPr lang="fr-FR" sz="3600" dirty="0" smtClean="0"/>
              <a:t> 17 ans</a:t>
            </a:r>
          </a:p>
          <a:p>
            <a:r>
              <a:rPr lang="fr-FR" sz="3600" dirty="0" smtClean="0"/>
              <a:t>Nous </a:t>
            </a:r>
            <a:r>
              <a:rPr lang="fr-FR" sz="3600" dirty="0" smtClean="0">
                <a:solidFill>
                  <a:srgbClr val="FF0000"/>
                </a:solidFill>
              </a:rPr>
              <a:t>avons</a:t>
            </a:r>
            <a:r>
              <a:rPr lang="fr-FR" sz="3600" dirty="0" smtClean="0"/>
              <a:t> une réunion.</a:t>
            </a:r>
          </a:p>
          <a:p>
            <a:r>
              <a:rPr lang="fr-FR" sz="3600" dirty="0" smtClean="0"/>
              <a:t>Vous </a:t>
            </a:r>
            <a:r>
              <a:rPr lang="fr-FR" sz="3600" dirty="0" smtClean="0">
                <a:solidFill>
                  <a:srgbClr val="FF0000"/>
                </a:solidFill>
              </a:rPr>
              <a:t>avez</a:t>
            </a:r>
            <a:r>
              <a:rPr lang="fr-FR" sz="3600" dirty="0" smtClean="0"/>
              <a:t> des sœurs? </a:t>
            </a:r>
          </a:p>
          <a:p>
            <a:r>
              <a:rPr lang="fr-FR" sz="3600" dirty="0" smtClean="0"/>
              <a:t>Ils </a:t>
            </a:r>
            <a:r>
              <a:rPr lang="fr-FR" sz="3600" dirty="0" smtClean="0">
                <a:solidFill>
                  <a:srgbClr val="FF0000"/>
                </a:solidFill>
              </a:rPr>
              <a:t>ont</a:t>
            </a:r>
            <a:r>
              <a:rPr lang="fr-FR" sz="3600" dirty="0" smtClean="0"/>
              <a:t> une voiture.</a:t>
            </a:r>
          </a:p>
          <a:p>
            <a:r>
              <a:rPr lang="fr-FR" sz="3600" dirty="0" smtClean="0"/>
              <a:t>Elles </a:t>
            </a:r>
            <a:r>
              <a:rPr lang="fr-FR" sz="3600" dirty="0" smtClean="0">
                <a:solidFill>
                  <a:srgbClr val="FF0000"/>
                </a:solidFill>
              </a:rPr>
              <a:t>ont</a:t>
            </a:r>
            <a:r>
              <a:rPr lang="fr-FR" sz="3600" dirty="0" smtClean="0"/>
              <a:t> un rendez-vous.</a:t>
            </a:r>
            <a:endParaRPr lang="fr-FR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Être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(to be)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Autofit/>
          </a:bodyPr>
          <a:lstStyle/>
          <a:p>
            <a:r>
              <a:rPr lang="en-GB" sz="3600" dirty="0" smtClean="0"/>
              <a:t>Je </a:t>
            </a:r>
            <a:r>
              <a:rPr lang="en-GB" sz="3600" dirty="0" err="1" smtClean="0">
                <a:solidFill>
                  <a:srgbClr val="FF0000"/>
                </a:solidFill>
              </a:rPr>
              <a:t>suis</a:t>
            </a:r>
            <a:r>
              <a:rPr lang="en-GB" sz="3600" dirty="0" smtClean="0"/>
              <a:t> </a:t>
            </a:r>
            <a:r>
              <a:rPr lang="en-GB" sz="3600" dirty="0" err="1" smtClean="0"/>
              <a:t>une</a:t>
            </a:r>
            <a:r>
              <a:rPr lang="en-GB" sz="3600" dirty="0" smtClean="0"/>
              <a:t> </a:t>
            </a:r>
            <a:r>
              <a:rPr lang="en-GB" sz="3600" dirty="0" err="1" smtClean="0"/>
              <a:t>jeune</a:t>
            </a:r>
            <a:r>
              <a:rPr lang="en-GB" sz="3600" dirty="0" smtClean="0"/>
              <a:t> femme.</a:t>
            </a:r>
          </a:p>
          <a:p>
            <a:r>
              <a:rPr lang="en-GB" sz="3600" dirty="0" err="1" smtClean="0"/>
              <a:t>Tu</a:t>
            </a:r>
            <a:r>
              <a:rPr lang="en-GB" sz="3600" dirty="0" smtClean="0"/>
              <a:t> </a:t>
            </a:r>
            <a:r>
              <a:rPr lang="en-GB" sz="3600" dirty="0" err="1" smtClean="0">
                <a:solidFill>
                  <a:srgbClr val="FF0000"/>
                </a:solidFill>
              </a:rPr>
              <a:t>es</a:t>
            </a:r>
            <a:r>
              <a:rPr lang="en-GB" sz="3600" dirty="0" smtClean="0"/>
              <a:t> </a:t>
            </a:r>
            <a:r>
              <a:rPr lang="en-GB" sz="3600" dirty="0" err="1" smtClean="0"/>
              <a:t>ivoirien</a:t>
            </a:r>
            <a:r>
              <a:rPr lang="en-GB" sz="3600" dirty="0" smtClean="0"/>
              <a:t>?</a:t>
            </a:r>
          </a:p>
          <a:p>
            <a:r>
              <a:rPr lang="en-GB" sz="3600" dirty="0" smtClean="0"/>
              <a:t>Il </a:t>
            </a:r>
            <a:r>
              <a:rPr lang="en-GB" sz="3600" dirty="0" err="1" smtClean="0">
                <a:solidFill>
                  <a:srgbClr val="FF0000"/>
                </a:solidFill>
              </a:rPr>
              <a:t>est</a:t>
            </a:r>
            <a:r>
              <a:rPr lang="en-GB" sz="3600" dirty="0" smtClean="0"/>
              <a:t> en retard </a:t>
            </a:r>
            <a:r>
              <a:rPr lang="en-GB" sz="3600" dirty="0" err="1" smtClean="0"/>
              <a:t>aujourd’hui</a:t>
            </a:r>
            <a:r>
              <a:rPr lang="en-GB" sz="3600" dirty="0" smtClean="0"/>
              <a:t>.</a:t>
            </a:r>
          </a:p>
          <a:p>
            <a:r>
              <a:rPr lang="en-GB" sz="3600" dirty="0" smtClean="0"/>
              <a:t>Elle </a:t>
            </a:r>
            <a:r>
              <a:rPr lang="en-GB" sz="3600" dirty="0" err="1" smtClean="0">
                <a:solidFill>
                  <a:srgbClr val="FF0000"/>
                </a:solidFill>
              </a:rPr>
              <a:t>est</a:t>
            </a:r>
            <a:r>
              <a:rPr lang="en-GB" sz="3600" dirty="0" smtClean="0"/>
              <a:t> </a:t>
            </a:r>
            <a:r>
              <a:rPr lang="en-GB" sz="3600" dirty="0" err="1" smtClean="0"/>
              <a:t>française</a:t>
            </a:r>
            <a:endParaRPr lang="en-GB" sz="3600" dirty="0" smtClean="0"/>
          </a:p>
          <a:p>
            <a:r>
              <a:rPr lang="en-GB" sz="3600" dirty="0" smtClean="0"/>
              <a:t>Nous </a:t>
            </a:r>
            <a:r>
              <a:rPr lang="en-GB" sz="3600" dirty="0" err="1" smtClean="0">
                <a:solidFill>
                  <a:srgbClr val="FF0000"/>
                </a:solidFill>
              </a:rPr>
              <a:t>sommes</a:t>
            </a:r>
            <a:r>
              <a:rPr lang="en-GB" sz="3600" dirty="0" smtClean="0"/>
              <a:t> </a:t>
            </a:r>
            <a:r>
              <a:rPr lang="en-GB" sz="3600" dirty="0" err="1" smtClean="0"/>
              <a:t>étudiants</a:t>
            </a:r>
            <a:endParaRPr lang="en-GB" sz="3600" dirty="0" smtClean="0"/>
          </a:p>
          <a:p>
            <a:r>
              <a:rPr lang="en-GB" sz="3600" dirty="0" err="1" smtClean="0"/>
              <a:t>Vous</a:t>
            </a:r>
            <a:r>
              <a:rPr lang="en-GB" sz="3600" dirty="0" smtClean="0"/>
              <a:t> </a:t>
            </a:r>
            <a:r>
              <a:rPr lang="en-GB" sz="36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êtes</a:t>
            </a:r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600" dirty="0" err="1" smtClean="0">
                <a:latin typeface="Times New Roman" pitchFamily="18" charset="0"/>
                <a:cs typeface="Times New Roman" pitchFamily="18" charset="0"/>
              </a:rPr>
              <a:t>professeurs</a:t>
            </a:r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GB" sz="3600" dirty="0" err="1" smtClean="0">
                <a:latin typeface="Times New Roman" pitchFamily="18" charset="0"/>
                <a:cs typeface="Times New Roman" pitchFamily="18" charset="0"/>
              </a:rPr>
              <a:t>Ils</a:t>
            </a:r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6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sont</a:t>
            </a:r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600" dirty="0" err="1" smtClean="0">
                <a:latin typeface="Times New Roman" pitchFamily="18" charset="0"/>
                <a:cs typeface="Times New Roman" pitchFamily="18" charset="0"/>
              </a:rPr>
              <a:t>ingénieurs</a:t>
            </a:r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3600" dirty="0" err="1" smtClean="0">
                <a:latin typeface="Times New Roman" pitchFamily="18" charset="0"/>
                <a:cs typeface="Times New Roman" pitchFamily="18" charset="0"/>
              </a:rPr>
              <a:t>Elles</a:t>
            </a:r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6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sont</a:t>
            </a:r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600" dirty="0" err="1" smtClean="0">
                <a:latin typeface="Times New Roman" pitchFamily="18" charset="0"/>
                <a:cs typeface="Times New Roman" pitchFamily="18" charset="0"/>
              </a:rPr>
              <a:t>contentes</a:t>
            </a:r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609600"/>
          <a:ext cx="72390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/>
                <a:gridCol w="2413000"/>
                <a:gridCol w="2413000"/>
              </a:tblGrid>
              <a:tr h="584200">
                <a:tc>
                  <a:txBody>
                    <a:bodyPr/>
                    <a:lstStyle/>
                    <a:p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Avoir</a:t>
                      </a:r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Être</a:t>
                      </a:r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lang="en-GB" sz="2800" b="1" smtClean="0">
                          <a:solidFill>
                            <a:schemeClr val="tx1"/>
                          </a:solidFill>
                        </a:rPr>
                        <a:t>Je (</a:t>
                      </a:r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I)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ai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suis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Tu</a:t>
                      </a:r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(You) 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as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Il (He)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est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Elle (She)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est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Nous (We) 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avons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sommes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Vous</a:t>
                      </a:r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 (You)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avez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êtes</a:t>
                      </a:r>
                      <a:endParaRPr lang="en-GB" sz="28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Ils</a:t>
                      </a:r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 (They)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ont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sont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Elles</a:t>
                      </a:r>
                      <a:r>
                        <a:rPr lang="en-GB" sz="2800" b="1" dirty="0" smtClean="0">
                          <a:solidFill>
                            <a:schemeClr val="tx1"/>
                          </a:solidFill>
                        </a:rPr>
                        <a:t> (They)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ont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 err="1" smtClean="0">
                          <a:solidFill>
                            <a:schemeClr val="tx1"/>
                          </a:solidFill>
                        </a:rPr>
                        <a:t>sont</a:t>
                      </a:r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82296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Try the following questions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239000" cy="5084136"/>
          </a:xfrm>
        </p:spPr>
        <p:txBody>
          <a:bodyPr>
            <a:normAutofit/>
          </a:bodyPr>
          <a:lstStyle/>
          <a:p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Je .................... 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contente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suis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es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Ils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 .....................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professeurs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est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sont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Nous ................ 20 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ans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avons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avez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Kofi ................ absent. (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est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/a)</a:t>
            </a:r>
          </a:p>
          <a:p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Il ................. 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malade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. (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est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/a)</a:t>
            </a:r>
          </a:p>
          <a:p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Nous..........................un 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rendez-vous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. (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ont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avons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Vous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 ......................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français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? (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avons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GB" sz="3200" dirty="0" err="1" smtClean="0">
                <a:latin typeface="Times New Roman" pitchFamily="18" charset="0"/>
                <a:cs typeface="Times New Roman" pitchFamily="18" charset="0"/>
              </a:rPr>
              <a:t>êtes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899160"/>
          </a:xfrm>
        </p:spPr>
        <p:txBody>
          <a:bodyPr>
            <a:normAutofit/>
          </a:bodyPr>
          <a:lstStyle/>
          <a:p>
            <a:r>
              <a:rPr lang="fr-FR" sz="2400" dirty="0" smtClean="0">
                <a:solidFill>
                  <a:schemeClr val="tx1"/>
                </a:solidFill>
              </a:rPr>
              <a:t>Complétez les phrases avec “être” et les pronoms manquants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467600" cy="531273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 smtClean="0"/>
              <a:t>Ex: Marco </a:t>
            </a:r>
            <a:r>
              <a:rPr lang="fr-FR" i="1" dirty="0" smtClean="0"/>
              <a:t>est </a:t>
            </a:r>
            <a:r>
              <a:rPr lang="fr-FR" dirty="0" smtClean="0"/>
              <a:t>italien? –Oui, </a:t>
            </a:r>
            <a:r>
              <a:rPr lang="fr-FR" i="1" dirty="0" smtClean="0">
                <a:solidFill>
                  <a:srgbClr val="FF0000"/>
                </a:solidFill>
              </a:rPr>
              <a:t>il est </a:t>
            </a:r>
            <a:r>
              <a:rPr lang="fr-FR" dirty="0" smtClean="0"/>
              <a:t>de Florence.</a:t>
            </a:r>
            <a:endParaRPr lang="en-GB" dirty="0" smtClean="0"/>
          </a:p>
          <a:p>
            <a:r>
              <a:rPr lang="fr-FR" dirty="0" smtClean="0"/>
              <a:t>1. –Il est médecin? – Non, …… </a:t>
            </a:r>
            <a:r>
              <a:rPr lang="fr-FR" dirty="0" smtClean="0"/>
              <a:t>est </a:t>
            </a:r>
            <a:r>
              <a:rPr lang="fr-FR" dirty="0" smtClean="0"/>
              <a:t>architecte.</a:t>
            </a:r>
            <a:endParaRPr lang="en-GB" dirty="0" smtClean="0"/>
          </a:p>
          <a:p>
            <a:r>
              <a:rPr lang="fr-FR" dirty="0" smtClean="0"/>
              <a:t>2. – Paul et John, ils sont anglais? –Oui, ……    …….. de Liverpool.</a:t>
            </a:r>
            <a:endParaRPr lang="en-GB" dirty="0" smtClean="0"/>
          </a:p>
          <a:p>
            <a:r>
              <a:rPr lang="fr-FR" dirty="0" smtClean="0"/>
              <a:t>3. – Nous sommes à Cotonou? –Non, …………….        ………………à Lagos.</a:t>
            </a:r>
            <a:endParaRPr lang="en-GB" dirty="0" smtClean="0"/>
          </a:p>
          <a:p>
            <a:r>
              <a:rPr lang="fr-FR" dirty="0" smtClean="0"/>
              <a:t>4. – Anne et Julie, elles sont là? - Non, …………….. sont au lycée.</a:t>
            </a:r>
            <a:endParaRPr lang="en-GB" dirty="0" smtClean="0"/>
          </a:p>
          <a:p>
            <a:r>
              <a:rPr lang="fr-FR" dirty="0" smtClean="0"/>
              <a:t>5. – Le café, est-il chaud? - Oui, …………..    …………… chaud.</a:t>
            </a:r>
            <a:endParaRPr lang="en-GB" dirty="0" smtClean="0"/>
          </a:p>
          <a:p>
            <a:r>
              <a:rPr lang="fr-FR" dirty="0" smtClean="0"/>
              <a:t>6. – La banque, elle est ouverte? -Oui, ……….      …………ouverte.</a:t>
            </a:r>
            <a:endParaRPr lang="en-GB" dirty="0" smtClean="0"/>
          </a:p>
          <a:p>
            <a:r>
              <a:rPr lang="fr-FR" dirty="0" smtClean="0"/>
              <a:t>7. – Pierre, Sylvie et Nathalie ils sont en Côte d’Ivoire?  - Oui, ……….   ……… à Abidjan.</a:t>
            </a:r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70560"/>
          </a:xfrm>
        </p:spPr>
        <p:txBody>
          <a:bodyPr>
            <a:normAutofit/>
          </a:bodyPr>
          <a:lstStyle/>
          <a:p>
            <a:pPr algn="just"/>
            <a:r>
              <a:rPr lang="fr-FR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Répondez aux questions au choix.</a:t>
            </a:r>
            <a:endParaRPr lang="en-GB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 smtClean="0"/>
              <a:t>Ex : - Vous avez un appartement ou une maison? – </a:t>
            </a:r>
            <a:r>
              <a:rPr lang="fr-FR" i="1" dirty="0" smtClean="0">
                <a:solidFill>
                  <a:srgbClr val="FF0000"/>
                </a:solidFill>
              </a:rPr>
              <a:t>J’ai un appartement.</a:t>
            </a:r>
            <a:endParaRPr lang="en-GB" dirty="0" smtClean="0">
              <a:solidFill>
                <a:srgbClr val="FF0000"/>
              </a:solidFill>
            </a:endParaRPr>
          </a:p>
          <a:p>
            <a:r>
              <a:rPr lang="fr-FR" dirty="0" smtClean="0"/>
              <a:t>1. – Vous avez une, deux ou trois chambres? ……………………………….</a:t>
            </a:r>
            <a:endParaRPr lang="en-GB" dirty="0" smtClean="0"/>
          </a:p>
          <a:p>
            <a:r>
              <a:rPr lang="fr-FR" dirty="0" smtClean="0"/>
              <a:t>2. – Vous avez des meubles anciens ou modernes?- ……………………………….</a:t>
            </a:r>
            <a:endParaRPr lang="en-GB" dirty="0" smtClean="0"/>
          </a:p>
          <a:p>
            <a:r>
              <a:rPr lang="fr-FR" dirty="0" smtClean="0"/>
              <a:t>3. – Vous avez un grand ou un petit salon? -……………………………….</a:t>
            </a:r>
            <a:endParaRPr lang="en-GB" dirty="0" smtClean="0"/>
          </a:p>
          <a:p>
            <a:r>
              <a:rPr lang="fr-FR" dirty="0" smtClean="0"/>
              <a:t>4. – Vous avez un chauffage électrique ou à gaz? -……………………………….</a:t>
            </a:r>
            <a:endParaRPr lang="en-GB" dirty="0" smtClean="0"/>
          </a:p>
          <a:p>
            <a:r>
              <a:rPr lang="fr-FR" dirty="0" smtClean="0"/>
              <a:t>5. – Vous avez des voisins calmes ou bruyants? -……………………………….</a:t>
            </a:r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7056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Les expressions avec « </a:t>
            </a:r>
            <a:r>
              <a:rPr lang="en-GB" dirty="0" err="1" smtClean="0"/>
              <a:t>avoir</a:t>
            </a:r>
            <a:r>
              <a:rPr lang="en-GB" dirty="0" smtClean="0"/>
              <a:t> »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219200"/>
          <a:ext cx="72390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0"/>
                <a:gridCol w="36195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Français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Anglais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avoir</a:t>
                      </a:r>
                      <a:r>
                        <a:rPr lang="en-GB" sz="32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de la chance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 be lucky</a:t>
                      </a:r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avoir</a:t>
                      </a:r>
                      <a:r>
                        <a:rPr lang="en-GB" sz="32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32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faim</a:t>
                      </a:r>
                      <a:r>
                        <a:rPr lang="en-GB" sz="32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 be </a:t>
                      </a:r>
                      <a:r>
                        <a:rPr lang="en-GB" sz="3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hungry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b="1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avoir</a:t>
                      </a:r>
                      <a:r>
                        <a:rPr lang="en-GB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3200" b="1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soif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 be thirsty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avoir</a:t>
                      </a:r>
                      <a:r>
                        <a:rPr lang="en-GB" sz="32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raison 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 be </a:t>
                      </a:r>
                      <a:r>
                        <a:rPr lang="en-GB" sz="3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right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b="1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avoir</a:t>
                      </a:r>
                      <a:r>
                        <a:rPr lang="en-GB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tort</a:t>
                      </a:r>
                      <a:endParaRPr lang="en-GB" sz="32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 be wrong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avoir</a:t>
                      </a:r>
                      <a:r>
                        <a:rPr lang="en-GB" sz="32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32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sommeil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 be sleepy</a:t>
                      </a:r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avoir</a:t>
                      </a:r>
                      <a:r>
                        <a:rPr lang="en-GB" sz="32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32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besoin</a:t>
                      </a:r>
                      <a:r>
                        <a:rPr lang="en-GB" sz="32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de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 need</a:t>
                      </a:r>
                    </a:p>
                  </a:txBody>
                  <a:tcPr marL="19050" marR="19050" marT="19050" marB="1905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avoir</a:t>
                      </a:r>
                      <a:r>
                        <a:rPr lang="en-GB" sz="32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GB" sz="32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chaud</a:t>
                      </a:r>
                      <a:r>
                        <a:rPr lang="en-GB" sz="32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lang="en-GB" sz="32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froid</a:t>
                      </a:r>
                      <a:endParaRPr lang="en-GB" sz="3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 be hot / cold</a:t>
                      </a:r>
                    </a:p>
                  </a:txBody>
                  <a:tcPr marL="19050" marR="19050" marT="19050" marB="190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313</TotalTime>
  <Words>393</Words>
  <Application>Microsoft Office PowerPoint</Application>
  <PresentationFormat>On-screen Show (4:3)</PresentationFormat>
  <Paragraphs>89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Opulent</vt:lpstr>
      <vt:lpstr>Verbes </vt:lpstr>
      <vt:lpstr>Avoir (to have)</vt:lpstr>
      <vt:lpstr>Être (to be)</vt:lpstr>
      <vt:lpstr>Slide 4</vt:lpstr>
      <vt:lpstr>Try the following questions</vt:lpstr>
      <vt:lpstr>Complétez les phrases avec “être” et les pronoms manquants</vt:lpstr>
      <vt:lpstr>Répondez aux questions au choix.</vt:lpstr>
      <vt:lpstr>Les expressions avec « avoir »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Verbes </dc:title>
  <dc:creator>Makafui</dc:creator>
  <cp:lastModifiedBy>Makafui</cp:lastModifiedBy>
  <cp:revision>5</cp:revision>
  <dcterms:created xsi:type="dcterms:W3CDTF">2006-08-16T00:00:00Z</dcterms:created>
  <dcterms:modified xsi:type="dcterms:W3CDTF">2015-09-22T14:13:20Z</dcterms:modified>
</cp:coreProperties>
</file>