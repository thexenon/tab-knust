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667" autoAdjust="0"/>
  </p:normalViewPr>
  <p:slideViewPr>
    <p:cSldViewPr>
      <p:cViewPr varScale="1">
        <p:scale>
          <a:sx n="48" d="100"/>
          <a:sy n="48" d="100"/>
        </p:scale>
        <p:origin x="-11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2" y="625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13ED414-4546-47E9-B32A-1B9388B5198D}" type="datetimeFigureOut">
              <a:rPr lang="en-US" smtClean="0"/>
              <a:pPr/>
              <a:t>11/27/2014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38023FB4-F9C5-449C-8E71-EBC2455611A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143000"/>
            <a:ext cx="7772400" cy="1470025"/>
          </a:xfrm>
        </p:spPr>
        <p:txBody>
          <a:bodyPr/>
          <a:lstStyle/>
          <a:p>
            <a:r>
              <a:rPr lang="en-US" dirty="0" smtClean="0"/>
              <a:t>OVULE FORMATION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Mr. J.L. </a:t>
            </a:r>
            <a:r>
              <a:rPr lang="en-US" dirty="0" err="1" smtClean="0"/>
              <a:t>Terlabie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</a:t>
            </a:r>
            <a:r>
              <a:rPr lang="en-US" b="1" i="1" dirty="0" smtClean="0"/>
              <a:t>ovule</a:t>
            </a:r>
            <a:r>
              <a:rPr lang="en-US" dirty="0" smtClean="0"/>
              <a:t> consists of a central </a:t>
            </a:r>
            <a:r>
              <a:rPr lang="en-US" dirty="0" err="1" smtClean="0"/>
              <a:t>parenchymatous</a:t>
            </a:r>
            <a:r>
              <a:rPr lang="en-US" dirty="0" smtClean="0"/>
              <a:t> core (nucellus) surrounded by a </a:t>
            </a:r>
            <a:r>
              <a:rPr lang="en-US" dirty="0" smtClean="0"/>
              <a:t>varying </a:t>
            </a:r>
            <a:r>
              <a:rPr lang="en-US" dirty="0" smtClean="0"/>
              <a:t>number of rather massive </a:t>
            </a:r>
            <a:r>
              <a:rPr lang="en-US" dirty="0" err="1" smtClean="0"/>
              <a:t>parenchymatous</a:t>
            </a:r>
            <a:r>
              <a:rPr lang="en-US" dirty="0" smtClean="0"/>
              <a:t> covering  or integument.</a:t>
            </a:r>
          </a:p>
          <a:p>
            <a:endParaRPr lang="en-US" dirty="0" smtClean="0"/>
          </a:p>
          <a:p>
            <a:r>
              <a:rPr lang="en-US" dirty="0" smtClean="0"/>
              <a:t>Each integument begins as collar around the base of the nucellus and grows upwards to form a close fitting slit.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i="1" dirty="0" err="1" smtClean="0"/>
              <a:t>micropyle</a:t>
            </a:r>
            <a:r>
              <a:rPr lang="en-US" dirty="0" smtClean="0"/>
              <a:t> is the pore where the two (2) leaves of the integuments sometimes meet or fail to meet.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Majority of ovules have two (2) integuments;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nner integument and </a:t>
            </a:r>
          </a:p>
          <a:p>
            <a:pPr lvl="1"/>
            <a:r>
              <a:rPr lang="en-US" dirty="0" smtClean="0"/>
              <a:t>Outer integument</a:t>
            </a:r>
            <a:endParaRPr lang="en-US" dirty="0"/>
          </a:p>
          <a:p>
            <a:endParaRPr lang="en-US" dirty="0" smtClean="0"/>
          </a:p>
          <a:p>
            <a:r>
              <a:rPr lang="en-US" dirty="0" smtClean="0"/>
              <a:t>Most of them have a stalk called </a:t>
            </a:r>
            <a:r>
              <a:rPr lang="en-US" b="1" i="1" dirty="0" err="1" smtClean="0"/>
              <a:t>funiculus</a:t>
            </a:r>
            <a:r>
              <a:rPr lang="en-US" dirty="0" smtClean="0"/>
              <a:t>.</a:t>
            </a:r>
          </a:p>
          <a:p>
            <a:endParaRPr lang="en-US" b="1" i="1" dirty="0" smtClean="0"/>
          </a:p>
          <a:p>
            <a:r>
              <a:rPr lang="en-US" b="1" i="1" dirty="0" smtClean="0"/>
              <a:t>Nucellus</a:t>
            </a:r>
            <a:r>
              <a:rPr lang="en-US" dirty="0" smtClean="0"/>
              <a:t> is the </a:t>
            </a:r>
            <a:r>
              <a:rPr lang="en-US" i="1" dirty="0" smtClean="0"/>
              <a:t>macrosporangium</a:t>
            </a:r>
            <a:r>
              <a:rPr lang="en-US" dirty="0" smtClean="0"/>
              <a:t> just as the pollen sac is the </a:t>
            </a:r>
            <a:r>
              <a:rPr lang="en-US" i="1" dirty="0" smtClean="0"/>
              <a:t>microsporangium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ovule when matured transforms into the seed and the integuments at maturity transforms into the seed coat or </a:t>
            </a:r>
            <a:r>
              <a:rPr lang="en-US" dirty="0" err="1" smtClean="0"/>
              <a:t>testa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life or the emergence of the ovule appears as a hemispherical projection of cells from the placenta.</a:t>
            </a:r>
          </a:p>
          <a:p>
            <a:endParaRPr lang="en-US" dirty="0" smtClean="0"/>
          </a:p>
          <a:p>
            <a:r>
              <a:rPr lang="en-US" dirty="0" smtClean="0"/>
              <a:t>Very early in the developmental stages of the ovule, a cell with a prominent nucleus and a dense cytoplasm appear just below the apex of the nucellus, the </a:t>
            </a:r>
            <a:r>
              <a:rPr lang="en-US" dirty="0" err="1" smtClean="0"/>
              <a:t>nucellar</a:t>
            </a:r>
            <a:r>
              <a:rPr lang="en-US" dirty="0" smtClean="0"/>
              <a:t> apex.</a:t>
            </a:r>
          </a:p>
          <a:p>
            <a:endParaRPr lang="en-US" dirty="0" smtClean="0"/>
          </a:p>
          <a:p>
            <a:r>
              <a:rPr lang="en-US" dirty="0" smtClean="0"/>
              <a:t>This cell divides </a:t>
            </a:r>
            <a:r>
              <a:rPr lang="en-US" dirty="0" err="1" smtClean="0"/>
              <a:t>mitotically</a:t>
            </a:r>
            <a:r>
              <a:rPr lang="en-US" dirty="0" smtClean="0"/>
              <a:t>  into two (2);</a:t>
            </a:r>
          </a:p>
          <a:p>
            <a:pPr lvl="1"/>
            <a:r>
              <a:rPr lang="en-US" dirty="0" smtClean="0"/>
              <a:t>Outer </a:t>
            </a:r>
            <a:r>
              <a:rPr lang="en-US" dirty="0" err="1" smtClean="0"/>
              <a:t>tapetal</a:t>
            </a:r>
            <a:r>
              <a:rPr lang="en-US" dirty="0" smtClean="0"/>
              <a:t> and </a:t>
            </a:r>
          </a:p>
          <a:p>
            <a:pPr lvl="1"/>
            <a:r>
              <a:rPr lang="en-US" dirty="0" smtClean="0"/>
              <a:t>Inner megaspore mother cell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megaspore mother cell divides mitotically and form a file of haploid </a:t>
            </a:r>
            <a:r>
              <a:rPr lang="en-US" dirty="0" smtClean="0"/>
              <a:t>megaspore </a:t>
            </a:r>
            <a:r>
              <a:rPr lang="en-US" dirty="0" smtClean="0"/>
              <a:t>which are arranged in a linear tetrad of </a:t>
            </a:r>
            <a:r>
              <a:rPr lang="en-US" dirty="0" smtClean="0"/>
              <a:t>four </a:t>
            </a:r>
            <a:r>
              <a:rPr lang="en-US" dirty="0" smtClean="0"/>
              <a:t>megaspore.</a:t>
            </a:r>
          </a:p>
          <a:p>
            <a:endParaRPr lang="en-US" dirty="0" smtClean="0"/>
          </a:p>
          <a:p>
            <a:r>
              <a:rPr lang="en-US" dirty="0" smtClean="0"/>
              <a:t>Three (3) of the cells usually disintegrates and the one (1) further form the </a:t>
            </a:r>
            <a:r>
              <a:rPr lang="en-US" dirty="0" err="1" smtClean="0"/>
              <a:t>micropyler</a:t>
            </a:r>
            <a:r>
              <a:rPr lang="en-US" dirty="0" smtClean="0"/>
              <a:t> end survives.</a:t>
            </a:r>
          </a:p>
          <a:p>
            <a:endParaRPr lang="en-US" dirty="0" smtClean="0"/>
          </a:p>
          <a:p>
            <a:r>
              <a:rPr lang="en-US" dirty="0" smtClean="0"/>
              <a:t>The functional megaspore begins to enlarge at the expense of the </a:t>
            </a:r>
            <a:r>
              <a:rPr lang="en-US" dirty="0" err="1" smtClean="0"/>
              <a:t>nucellus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rapid increase in size is due to the protoplasm and partly due to vacuolation (formation of vacuoles)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nucleus of the </a:t>
            </a:r>
            <a:r>
              <a:rPr lang="en-US" dirty="0" err="1" smtClean="0"/>
              <a:t>magaspore</a:t>
            </a:r>
            <a:r>
              <a:rPr lang="en-US" dirty="0" smtClean="0"/>
              <a:t> divides </a:t>
            </a:r>
            <a:r>
              <a:rPr lang="en-US" dirty="0" err="1" smtClean="0"/>
              <a:t>mitotically</a:t>
            </a:r>
            <a:r>
              <a:rPr lang="en-US" dirty="0" smtClean="0"/>
              <a:t>, each of the resulting nuclei also divide </a:t>
            </a:r>
            <a:r>
              <a:rPr lang="en-US" dirty="0" err="1" smtClean="0"/>
              <a:t>mitotically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four nuclei that are formed at this stage divides </a:t>
            </a:r>
            <a:r>
              <a:rPr lang="en-US" dirty="0" err="1" smtClean="0"/>
              <a:t>mitotically</a:t>
            </a:r>
            <a:r>
              <a:rPr lang="en-US" dirty="0" smtClean="0"/>
              <a:t> forming eight (8).</a:t>
            </a:r>
          </a:p>
          <a:p>
            <a:endParaRPr lang="en-US" dirty="0" smtClean="0"/>
          </a:p>
          <a:p>
            <a:r>
              <a:rPr lang="en-US" dirty="0" smtClean="0"/>
              <a:t>At the end of the 3</a:t>
            </a:r>
            <a:r>
              <a:rPr lang="en-US" baseline="30000" dirty="0" smtClean="0"/>
              <a:t>rd</a:t>
            </a:r>
            <a:r>
              <a:rPr lang="en-US" dirty="0" smtClean="0"/>
              <a:t> division, the eight (8) are arranged into two (2)groups of four;</a:t>
            </a:r>
          </a:p>
          <a:p>
            <a:pPr lvl="1"/>
            <a:r>
              <a:rPr lang="en-US" dirty="0" smtClean="0"/>
              <a:t>One group near the </a:t>
            </a:r>
            <a:r>
              <a:rPr lang="en-US" dirty="0" err="1" smtClean="0"/>
              <a:t>micropyler</a:t>
            </a:r>
            <a:r>
              <a:rPr lang="en-US" dirty="0" smtClean="0"/>
              <a:t> end and </a:t>
            </a:r>
          </a:p>
          <a:p>
            <a:pPr lvl="1"/>
            <a:r>
              <a:rPr lang="en-US" dirty="0" smtClean="0"/>
              <a:t>Other group close to the </a:t>
            </a:r>
            <a:r>
              <a:rPr lang="en-US" dirty="0" err="1" smtClean="0"/>
              <a:t>chalazal</a:t>
            </a:r>
            <a:r>
              <a:rPr lang="en-US" dirty="0" smtClean="0"/>
              <a:t> end.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One nucleus from each end migrates to the center of the eight (8) nucleated cell. </a:t>
            </a:r>
          </a:p>
          <a:p>
            <a:endParaRPr lang="en-US" dirty="0" smtClean="0"/>
          </a:p>
          <a:p>
            <a:r>
              <a:rPr lang="en-US" dirty="0" smtClean="0"/>
              <a:t>These two nuclei are known as polar nuclei.</a:t>
            </a:r>
          </a:p>
          <a:p>
            <a:endParaRPr lang="en-US" dirty="0" smtClean="0"/>
          </a:p>
          <a:p>
            <a:r>
              <a:rPr lang="en-US" dirty="0" smtClean="0"/>
              <a:t>The three (3) remaining at the </a:t>
            </a:r>
            <a:r>
              <a:rPr lang="en-US" dirty="0" err="1" smtClean="0"/>
              <a:t>micropyler</a:t>
            </a:r>
            <a:r>
              <a:rPr lang="en-US" dirty="0" smtClean="0"/>
              <a:t> end become organized as the egg apparatus consisting of the egg cell and the two (2) cellular </a:t>
            </a:r>
            <a:r>
              <a:rPr lang="en-US" dirty="0" err="1" smtClean="0"/>
              <a:t>synergids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three (3) left at the </a:t>
            </a:r>
            <a:r>
              <a:rPr lang="en-US" dirty="0" err="1" smtClean="0"/>
              <a:t>chalazal</a:t>
            </a:r>
            <a:r>
              <a:rPr lang="en-US" dirty="0" smtClean="0"/>
              <a:t> end develops into </a:t>
            </a:r>
            <a:r>
              <a:rPr lang="en-US" dirty="0" err="1" smtClean="0"/>
              <a:t>antipodals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Cell walls are formed around all the nuclei.</a:t>
            </a:r>
          </a:p>
          <a:p>
            <a:endParaRPr lang="en-US" dirty="0" smtClean="0"/>
          </a:p>
          <a:p>
            <a:r>
              <a:rPr lang="en-US" dirty="0" smtClean="0"/>
              <a:t>The cell  containing the polar nuclei remain </a:t>
            </a:r>
            <a:r>
              <a:rPr lang="en-US" dirty="0" err="1" smtClean="0"/>
              <a:t>binucleate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eight (8) nuclei, the seven (7) cell structure is the female matured gametophyte (the embryo sac).</a:t>
            </a:r>
          </a:p>
          <a:p>
            <a:endParaRPr lang="en-US" dirty="0" smtClean="0"/>
          </a:p>
          <a:p>
            <a:r>
              <a:rPr lang="en-US" dirty="0" smtClean="0"/>
              <a:t>The life of flowering plant begins with a double fertilization; which is peculiar or unique to  the angiosperms (flowering plants)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pollen tube grows around the ovule and gets into the embryo sac through the </a:t>
            </a:r>
            <a:r>
              <a:rPr lang="en-US" dirty="0" err="1" smtClean="0"/>
              <a:t>micropyle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The pollen tube contains two nuclei, the generative and the vegetative.</a:t>
            </a:r>
          </a:p>
          <a:p>
            <a:r>
              <a:rPr lang="en-US" dirty="0" smtClean="0"/>
              <a:t>The generative nucleus divides into two (2) forming the two male gamete nuclei. </a:t>
            </a:r>
          </a:p>
          <a:p>
            <a:endParaRPr lang="en-US" dirty="0" smtClean="0"/>
          </a:p>
          <a:p>
            <a:r>
              <a:rPr lang="en-US" dirty="0" smtClean="0"/>
              <a:t>One of them effects fertilization by fusing with the haploid egg nucleus.</a:t>
            </a:r>
          </a:p>
          <a:p>
            <a:endParaRPr lang="en-US" dirty="0" smtClean="0"/>
          </a:p>
          <a:p>
            <a:r>
              <a:rPr lang="en-US" dirty="0" smtClean="0"/>
              <a:t>The fertilized ovum develops into the zygote which is diploid (2n) and this later develops into the embryo.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2</a:t>
            </a:r>
            <a:r>
              <a:rPr lang="en-US" baseline="30000" dirty="0" smtClean="0"/>
              <a:t>nd</a:t>
            </a:r>
            <a:r>
              <a:rPr lang="en-US" dirty="0" smtClean="0"/>
              <a:t> male gamete fuses with polar nuclei of the embryo sac to give rise to a triploid - Primary endosperm nucleus.</a:t>
            </a:r>
          </a:p>
          <a:p>
            <a:endParaRPr lang="en-US" dirty="0" smtClean="0"/>
          </a:p>
          <a:p>
            <a:r>
              <a:rPr lang="en-US" dirty="0" smtClean="0"/>
              <a:t>This later transforms into the endosperm of the developing seed.</a:t>
            </a:r>
          </a:p>
          <a:p>
            <a:endParaRPr lang="en-US" dirty="0" smtClean="0"/>
          </a:p>
          <a:p>
            <a:r>
              <a:rPr lang="en-US" dirty="0" smtClean="0"/>
              <a:t>After fertilization , the zygote remains inactive whiles the primary endosperm nucleus undergoes rapid mitotic division until an extensive material, the endosperm is developed.</a:t>
            </a:r>
          </a:p>
          <a:p>
            <a:pPr>
              <a:buNone/>
            </a:pPr>
            <a:r>
              <a:rPr lang="en-US" dirty="0" smtClean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time at which the endosperm may be formed before the zygote commences its activity differs greatly among plants.</a:t>
            </a:r>
          </a:p>
          <a:p>
            <a:endParaRPr lang="en-US" dirty="0" smtClean="0"/>
          </a:p>
          <a:p>
            <a:r>
              <a:rPr lang="en-US" dirty="0" smtClean="0"/>
              <a:t>The early stages of the embryo development are essentially the same in the dicot and monocot.</a:t>
            </a:r>
          </a:p>
          <a:p>
            <a:endParaRPr lang="en-US" dirty="0" smtClean="0"/>
          </a:p>
          <a:p>
            <a:r>
              <a:rPr lang="en-US" dirty="0" smtClean="0"/>
              <a:t>Formation of the embryo begins with the division of the zygote. </a:t>
            </a:r>
          </a:p>
          <a:p>
            <a:r>
              <a:rPr lang="en-US" dirty="0" smtClean="0"/>
              <a:t>In most flowering plants, the first division of the zygote is transverse with regards to the long axis of the zygote.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first division establishes the polarity of the embryo; the upper </a:t>
            </a:r>
            <a:r>
              <a:rPr lang="en-US" dirty="0" err="1" smtClean="0"/>
              <a:t>chalazal</a:t>
            </a:r>
            <a:r>
              <a:rPr lang="en-US" dirty="0" smtClean="0"/>
              <a:t> pole and the lower </a:t>
            </a:r>
            <a:r>
              <a:rPr lang="en-US" dirty="0" err="1" smtClean="0"/>
              <a:t>micropyler</a:t>
            </a:r>
            <a:r>
              <a:rPr lang="en-US" dirty="0" smtClean="0"/>
              <a:t> pole. </a:t>
            </a:r>
          </a:p>
          <a:p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err="1" smtClean="0"/>
              <a:t>chalazal</a:t>
            </a:r>
            <a:r>
              <a:rPr lang="en-US" dirty="0" smtClean="0"/>
              <a:t> end is the main seat for the development  of the embryo.</a:t>
            </a:r>
          </a:p>
          <a:p>
            <a:pPr>
              <a:buNone/>
            </a:pPr>
            <a:r>
              <a:rPr lang="en-US" dirty="0" smtClean="0"/>
              <a:t> </a:t>
            </a:r>
          </a:p>
          <a:p>
            <a:r>
              <a:rPr lang="en-US" dirty="0" smtClean="0"/>
              <a:t>The lower </a:t>
            </a:r>
            <a:r>
              <a:rPr lang="en-US" dirty="0" err="1" smtClean="0"/>
              <a:t>micropyler</a:t>
            </a:r>
            <a:r>
              <a:rPr lang="en-US" dirty="0" smtClean="0"/>
              <a:t> produces a stalk-like suspensor which anchors the embryo to the </a:t>
            </a:r>
            <a:r>
              <a:rPr lang="en-US" dirty="0" err="1" smtClean="0"/>
              <a:t>micropyler</a:t>
            </a:r>
            <a:r>
              <a:rPr lang="en-US" dirty="0" smtClean="0"/>
              <a:t> end.</a:t>
            </a:r>
          </a:p>
          <a:p>
            <a:endParaRPr lang="en-US" dirty="0" smtClean="0"/>
          </a:p>
          <a:p>
            <a:r>
              <a:rPr lang="en-US" dirty="0" smtClean="0"/>
              <a:t>From an orderly progression of division, the embryo eventually develops into a spherical structure  called the embryo proper and the suspensor.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Before this stage, the embryo is referred to as pro-embryo.</a:t>
            </a:r>
          </a:p>
          <a:p>
            <a:endParaRPr lang="en-US" dirty="0" smtClean="0"/>
          </a:p>
          <a:p>
            <a:r>
              <a:rPr lang="en-US" dirty="0" smtClean="0"/>
              <a:t>Until recently, the suspensor is believed to be the structure that only pushes the developing embryo into the nutritive tissue. </a:t>
            </a:r>
          </a:p>
          <a:p>
            <a:endParaRPr lang="en-US" dirty="0" smtClean="0"/>
          </a:p>
          <a:p>
            <a:r>
              <a:rPr lang="en-US" dirty="0" smtClean="0"/>
              <a:t>However, it is now known that, it absorbs nutrients and also protein is synthesized in the suspensor.</a:t>
            </a:r>
          </a:p>
          <a:p>
            <a:endParaRPr lang="en-US" dirty="0" smtClean="0"/>
          </a:p>
          <a:p>
            <a:r>
              <a:rPr lang="en-US" dirty="0" smtClean="0"/>
              <a:t>The proteins synthesized by the suspensor are utilized by the embryo proper during periods of rapid growth.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embryo proper in its initial formation consist of a mass of relatively undifferentiated cells.</a:t>
            </a:r>
          </a:p>
          <a:p>
            <a:endParaRPr lang="en-US" dirty="0" smtClean="0"/>
          </a:p>
          <a:p>
            <a:r>
              <a:rPr lang="en-US" dirty="0" smtClean="0"/>
              <a:t>However, changes in the internal structure of the embryo results in the initial development of the tissue system of the plant.</a:t>
            </a:r>
          </a:p>
          <a:p>
            <a:endParaRPr lang="en-US" dirty="0" smtClean="0"/>
          </a:p>
          <a:p>
            <a:r>
              <a:rPr lang="en-US" dirty="0" smtClean="0"/>
              <a:t>The future epidermis is formed from the </a:t>
            </a:r>
            <a:r>
              <a:rPr lang="en-US" dirty="0" err="1" smtClean="0"/>
              <a:t>protoderm</a:t>
            </a:r>
            <a:r>
              <a:rPr lang="en-US" dirty="0" smtClean="0"/>
              <a:t> by the </a:t>
            </a:r>
            <a:r>
              <a:rPr lang="en-US" dirty="0" err="1" smtClean="0"/>
              <a:t>periclinal</a:t>
            </a:r>
            <a:r>
              <a:rPr lang="en-US" dirty="0" smtClean="0"/>
              <a:t> division of the outermost cells of the embryo proper.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Anticlinal division?? Periclinal division??</a:t>
            </a:r>
          </a:p>
          <a:p>
            <a:endParaRPr lang="en-US" dirty="0" smtClean="0"/>
          </a:p>
          <a:p>
            <a:r>
              <a:rPr lang="en-US" dirty="0" smtClean="0"/>
              <a:t>The differences in the time of vacuolation and density of the cells within the embryo results in the initiation of the procambium and ground </a:t>
            </a:r>
            <a:r>
              <a:rPr lang="en-US" dirty="0" err="1" smtClean="0"/>
              <a:t>meristem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r>
              <a:rPr lang="en-US" dirty="0" smtClean="0"/>
              <a:t> The highly vacuolated , less dense ground meristem (cortex) gives rise to the ground tissues which surrounds the less vacuolated and denser procambium which is the precursor of the vascular tissue.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The development of the cotyledon may begin either during or after initiation of the primary </a:t>
            </a:r>
            <a:r>
              <a:rPr lang="en-US" dirty="0" err="1" smtClean="0"/>
              <a:t>meristem</a:t>
            </a:r>
            <a:r>
              <a:rPr lang="en-US" dirty="0" smtClean="0"/>
              <a:t>.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Before the cotyledon development, the monocots and the dicots cannot be distinguished. </a:t>
            </a:r>
          </a:p>
          <a:p>
            <a:endParaRPr lang="en-US" dirty="0" smtClean="0"/>
          </a:p>
          <a:p>
            <a:r>
              <a:rPr lang="en-US" dirty="0" smtClean="0"/>
              <a:t>The stage of the embryo development preceding the cotyledon development is known as the globular stage.</a:t>
            </a:r>
          </a:p>
          <a:p>
            <a:endParaRPr lang="en-US" dirty="0" smtClean="0"/>
          </a:p>
          <a:p>
            <a:r>
              <a:rPr lang="en-US" dirty="0" smtClean="0"/>
              <a:t>With the initiation of the cotyledons the globular stage in the dicots gradually assumes a two(2) lobed form.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This stage of the embryo development in the </a:t>
            </a:r>
            <a:r>
              <a:rPr lang="en-US" dirty="0" err="1" smtClean="0"/>
              <a:t>dicot</a:t>
            </a:r>
            <a:r>
              <a:rPr lang="en-US" dirty="0" smtClean="0"/>
              <a:t> is referred to as the heart stage.</a:t>
            </a:r>
          </a:p>
          <a:p>
            <a:endParaRPr lang="en-US" dirty="0" smtClean="0"/>
          </a:p>
          <a:p>
            <a:r>
              <a:rPr lang="en-US" dirty="0" smtClean="0"/>
              <a:t>Because embryo in the monocot forms only one(1) cotyledon, they do not have the heart shape stage instead, the embryo becomes cylindrical in shape.</a:t>
            </a:r>
          </a:p>
          <a:p>
            <a:endParaRPr lang="en-US" dirty="0" smtClean="0"/>
          </a:p>
          <a:p>
            <a:r>
              <a:rPr lang="en-US" dirty="0" smtClean="0"/>
              <a:t>As the embryo develops, the cotyledon and the axis elongates and the primary </a:t>
            </a:r>
            <a:r>
              <a:rPr lang="en-US" dirty="0" err="1" smtClean="0"/>
              <a:t>meristem</a:t>
            </a:r>
            <a:r>
              <a:rPr lang="en-US" dirty="0" smtClean="0"/>
              <a:t> extends  along with them.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This stage is referred to as the ‘’torpedo stage’’. </a:t>
            </a:r>
          </a:p>
          <a:p>
            <a:endParaRPr lang="en-US" dirty="0" smtClean="0"/>
          </a:p>
          <a:p>
            <a:r>
              <a:rPr lang="en-US" dirty="0" smtClean="0"/>
              <a:t>The embryo during its elongation either remains straight or curved.</a:t>
            </a:r>
          </a:p>
          <a:p>
            <a:endParaRPr lang="en-US" dirty="0" smtClean="0"/>
          </a:p>
          <a:p>
            <a:r>
              <a:rPr lang="en-US" dirty="0" smtClean="0"/>
              <a:t> In the monocots the single cotyledon becomes so large in comparison  with the embryo.</a:t>
            </a:r>
          </a:p>
          <a:p>
            <a:endParaRPr lang="en-US" dirty="0" smtClean="0"/>
          </a:p>
          <a:p>
            <a:r>
              <a:rPr lang="en-US" dirty="0" smtClean="0"/>
              <a:t>It becomes the most dominating structure. </a:t>
            </a:r>
          </a:p>
          <a:p>
            <a:endParaRPr lang="en-US" dirty="0" smtClean="0"/>
          </a:p>
          <a:p>
            <a:r>
              <a:rPr lang="en-US" dirty="0" smtClean="0"/>
              <a:t>The suspensor is gradually crushed with the enlargement of the embryo.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87362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67400"/>
          </a:xfrm>
        </p:spPr>
        <p:txBody>
          <a:bodyPr>
            <a:normAutofit/>
          </a:bodyPr>
          <a:lstStyle/>
          <a:p>
            <a:r>
              <a:rPr lang="en-US" dirty="0" smtClean="0"/>
              <a:t>Cell division takes place throughout the young sporophyte as the embryo develops.</a:t>
            </a:r>
          </a:p>
          <a:p>
            <a:endParaRPr lang="en-US" dirty="0" smtClean="0"/>
          </a:p>
          <a:p>
            <a:r>
              <a:rPr lang="en-US" dirty="0" smtClean="0"/>
              <a:t>However, as the embryo develops, the addition of new cells gradually becomes restricted to the apical meristem of the root and the shoot.</a:t>
            </a:r>
          </a:p>
          <a:p>
            <a:endParaRPr lang="en-US" dirty="0" smtClean="0"/>
          </a:p>
          <a:p>
            <a:r>
              <a:rPr lang="en-US" dirty="0" smtClean="0"/>
              <a:t>In dicots, the apical meristem of the shoot emerges between the two(2) cotyledons.</a:t>
            </a:r>
          </a:p>
          <a:p>
            <a:endParaRPr lang="en-US" dirty="0" smtClean="0"/>
          </a:p>
          <a:p>
            <a:r>
              <a:rPr lang="en-US" dirty="0" smtClean="0"/>
              <a:t>In monocots ,it arises on either side of the cotyledon and is completely surrounded by a sheath-like extension from the base of the cotyledon.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The apical meristem of the shoot or the root are of great importance since these tissues are the source of virtually all the new cells responsible for the development </a:t>
            </a:r>
            <a:r>
              <a:rPr lang="en-US" dirty="0" smtClean="0"/>
              <a:t>of the </a:t>
            </a:r>
            <a:r>
              <a:rPr lang="en-US" dirty="0" smtClean="0"/>
              <a:t>seedling and the adult plant </a:t>
            </a:r>
            <a:r>
              <a:rPr lang="en-US" dirty="0" smtClean="0"/>
              <a:t>from </a:t>
            </a:r>
            <a:r>
              <a:rPr lang="en-US" dirty="0" smtClean="0"/>
              <a:t>the embryo.</a:t>
            </a:r>
          </a:p>
          <a:p>
            <a:endParaRPr lang="en-US" dirty="0" smtClean="0"/>
          </a:p>
          <a:p>
            <a:r>
              <a:rPr lang="en-US" dirty="0" smtClean="0"/>
              <a:t>Throughout the period of embryo formation, there is a continual flow of nutrients between the parent plant and the tissues of the ovule resulting in a massive buildup of food reserves within the endosperm, the perisperm and the cotyledon of the developing seed. 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90600"/>
          </a:xfrm>
        </p:spPr>
        <p:txBody>
          <a:bodyPr/>
          <a:lstStyle/>
          <a:p>
            <a:r>
              <a:rPr lang="en-US" dirty="0" smtClean="0"/>
              <a:t>Ovule Formation </a:t>
            </a:r>
            <a:r>
              <a:rPr lang="en-US" i="1" dirty="0" smtClean="0"/>
              <a:t>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876800"/>
          </a:xfrm>
        </p:spPr>
        <p:txBody>
          <a:bodyPr>
            <a:normAutofit/>
          </a:bodyPr>
          <a:lstStyle/>
          <a:p>
            <a:r>
              <a:rPr lang="en-US" dirty="0" smtClean="0"/>
              <a:t>Eventually, the stalk or the </a:t>
            </a:r>
            <a:r>
              <a:rPr lang="en-US" dirty="0" err="1" smtClean="0"/>
              <a:t>funiculus</a:t>
            </a:r>
            <a:r>
              <a:rPr lang="en-US" dirty="0" smtClean="0"/>
              <a:t> connecting the ovule and the ovary wall separates from the ovary and the ovule becomes a nutritionally closed system.</a:t>
            </a:r>
          </a:p>
          <a:p>
            <a:endParaRPr lang="en-US" dirty="0" smtClean="0"/>
          </a:p>
          <a:p>
            <a:r>
              <a:rPr lang="en-US" dirty="0" smtClean="0"/>
              <a:t>Finally, the seed becomes desiccated as it looses water to the surrounding environment.</a:t>
            </a:r>
          </a:p>
          <a:p>
            <a:endParaRPr lang="en-US" dirty="0" smtClean="0"/>
          </a:p>
          <a:p>
            <a:r>
              <a:rPr lang="en-US" dirty="0" smtClean="0"/>
              <a:t>The seed coat then becomes hardened encasing the embryo and the stored food in a protective armour. 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1296</TotalTime>
  <Words>1466</Words>
  <Application>Microsoft Office PowerPoint</Application>
  <PresentationFormat>On-screen Show (4:3)</PresentationFormat>
  <Paragraphs>164</Paragraphs>
  <Slides>21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Flow</vt:lpstr>
      <vt:lpstr>OVULE FORMATION</vt:lpstr>
      <vt:lpstr>OVULE FORMATION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  <vt:lpstr>Ovule Formation contd.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OVULE FORMATION</dc:title>
  <dc:creator>Lawer john terlabie</dc:creator>
  <cp:lastModifiedBy>ANDREWS BAAH ANTEPIM</cp:lastModifiedBy>
  <cp:revision>170</cp:revision>
  <dcterms:created xsi:type="dcterms:W3CDTF">2012-09-19T09:03:10Z</dcterms:created>
  <dcterms:modified xsi:type="dcterms:W3CDTF">2014-11-27T17:36:01Z</dcterms:modified>
</cp:coreProperties>
</file>