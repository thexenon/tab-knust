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5"/>
  </p:notesMasterIdLst>
  <p:sldIdLst>
    <p:sldId id="331" r:id="rId2"/>
    <p:sldId id="323" r:id="rId3"/>
    <p:sldId id="332" r:id="rId4"/>
    <p:sldId id="324" r:id="rId5"/>
    <p:sldId id="333" r:id="rId6"/>
    <p:sldId id="325" r:id="rId7"/>
    <p:sldId id="335" r:id="rId8"/>
    <p:sldId id="334" r:id="rId9"/>
    <p:sldId id="326" r:id="rId10"/>
    <p:sldId id="336" r:id="rId11"/>
    <p:sldId id="327" r:id="rId12"/>
    <p:sldId id="337" r:id="rId13"/>
    <p:sldId id="328" r:id="rId14"/>
    <p:sldId id="338" r:id="rId15"/>
    <p:sldId id="339" r:id="rId16"/>
    <p:sldId id="329" r:id="rId17"/>
    <p:sldId id="341" r:id="rId18"/>
    <p:sldId id="340" r:id="rId19"/>
    <p:sldId id="343" r:id="rId20"/>
    <p:sldId id="342" r:id="rId21"/>
    <p:sldId id="330" r:id="rId22"/>
    <p:sldId id="344" r:id="rId23"/>
    <p:sldId id="347" r:id="rId24"/>
    <p:sldId id="257" r:id="rId25"/>
    <p:sldId id="345" r:id="rId26"/>
    <p:sldId id="258" r:id="rId27"/>
    <p:sldId id="259" r:id="rId28"/>
    <p:sldId id="346" r:id="rId29"/>
    <p:sldId id="260" r:id="rId30"/>
    <p:sldId id="261" r:id="rId31"/>
    <p:sldId id="266" r:id="rId32"/>
    <p:sldId id="348" r:id="rId33"/>
    <p:sldId id="267" r:id="rId34"/>
    <p:sldId id="268" r:id="rId35"/>
    <p:sldId id="349" r:id="rId36"/>
    <p:sldId id="269" r:id="rId37"/>
    <p:sldId id="270" r:id="rId38"/>
    <p:sldId id="350" r:id="rId39"/>
    <p:sldId id="271" r:id="rId40"/>
    <p:sldId id="351" r:id="rId41"/>
    <p:sldId id="272" r:id="rId42"/>
    <p:sldId id="273" r:id="rId43"/>
    <p:sldId id="352" r:id="rId44"/>
    <p:sldId id="274" r:id="rId45"/>
    <p:sldId id="275" r:id="rId46"/>
    <p:sldId id="353" r:id="rId47"/>
    <p:sldId id="354" r:id="rId48"/>
    <p:sldId id="276" r:id="rId49"/>
    <p:sldId id="277" r:id="rId50"/>
    <p:sldId id="278" r:id="rId51"/>
    <p:sldId id="388" r:id="rId52"/>
    <p:sldId id="355" r:id="rId53"/>
    <p:sldId id="279" r:id="rId54"/>
    <p:sldId id="281" r:id="rId55"/>
    <p:sldId id="357" r:id="rId56"/>
    <p:sldId id="282" r:id="rId57"/>
    <p:sldId id="358" r:id="rId58"/>
    <p:sldId id="283" r:id="rId59"/>
    <p:sldId id="284" r:id="rId60"/>
    <p:sldId id="285" r:id="rId61"/>
    <p:sldId id="359" r:id="rId62"/>
    <p:sldId id="286" r:id="rId63"/>
    <p:sldId id="287" r:id="rId64"/>
    <p:sldId id="360" r:id="rId65"/>
    <p:sldId id="361" r:id="rId66"/>
    <p:sldId id="289" r:id="rId67"/>
    <p:sldId id="362" r:id="rId68"/>
    <p:sldId id="363" r:id="rId69"/>
    <p:sldId id="291" r:id="rId70"/>
    <p:sldId id="364" r:id="rId71"/>
    <p:sldId id="292" r:id="rId72"/>
    <p:sldId id="293" r:id="rId73"/>
    <p:sldId id="365" r:id="rId74"/>
    <p:sldId id="366" r:id="rId75"/>
    <p:sldId id="387" r:id="rId76"/>
    <p:sldId id="295" r:id="rId77"/>
    <p:sldId id="367" r:id="rId78"/>
    <p:sldId id="368" r:id="rId79"/>
    <p:sldId id="297" r:id="rId80"/>
    <p:sldId id="369" r:id="rId81"/>
    <p:sldId id="370" r:id="rId82"/>
    <p:sldId id="299" r:id="rId83"/>
    <p:sldId id="300" r:id="rId84"/>
    <p:sldId id="372" r:id="rId85"/>
    <p:sldId id="301" r:id="rId86"/>
    <p:sldId id="371" r:id="rId87"/>
    <p:sldId id="373" r:id="rId88"/>
    <p:sldId id="374" r:id="rId89"/>
    <p:sldId id="375" r:id="rId90"/>
    <p:sldId id="304" r:id="rId91"/>
    <p:sldId id="305" r:id="rId92"/>
    <p:sldId id="377" r:id="rId93"/>
    <p:sldId id="376" r:id="rId94"/>
    <p:sldId id="378" r:id="rId95"/>
    <p:sldId id="379" r:id="rId96"/>
    <p:sldId id="381" r:id="rId97"/>
    <p:sldId id="380" r:id="rId98"/>
    <p:sldId id="382" r:id="rId99"/>
    <p:sldId id="310" r:id="rId100"/>
    <p:sldId id="383" r:id="rId101"/>
    <p:sldId id="384" r:id="rId102"/>
    <p:sldId id="385" r:id="rId103"/>
    <p:sldId id="386" r:id="rId10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r Alfred Apetorgbor" initials="MAA" lastIdx="1" clrIdx="0">
    <p:extLst>
      <p:ext uri="{19B8F6BF-5375-455C-9EA6-DF929625EA0E}">
        <p15:presenceInfo xmlns:p15="http://schemas.microsoft.com/office/powerpoint/2012/main" userId="Mr Alfred Apetorgb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A3FBFA-D9CA-46F9-8AB7-9ADB1DDECD6E}" type="datetimeFigureOut">
              <a:rPr lang="en-US" smtClean="0"/>
              <a:pPr/>
              <a:t>25-Feb-21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37E7A-E483-4212-B818-BEDB6196CC3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1D37E7A-E483-4212-B818-BEDB6196CC38}" type="slidenum">
              <a:rPr lang="en-US" smtClean="0"/>
              <a:pPr/>
              <a:t>24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1D37E7A-E483-4212-B818-BEDB6196CC38}" type="slidenum">
              <a:rPr lang="en-US" smtClean="0"/>
              <a:pPr/>
              <a:t>33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D37E7A-E483-4212-B818-BEDB6196CC38}" type="slidenum">
              <a:rPr lang="en-US" smtClean="0"/>
              <a:pPr/>
              <a:t>57</a:t>
            </a:fld>
            <a:endParaRPr lang="en-US"/>
          </a:p>
        </p:txBody>
      </p:sp>
    </p:spTree>
    <p:extLst>
      <p:ext uri="{BB962C8B-B14F-4D97-AF65-F5344CB8AC3E}">
        <p14:creationId xmlns:p14="http://schemas.microsoft.com/office/powerpoint/2010/main" val="3821711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AE043D7-820C-47C6-B7C2-B585AAF6D7BA}" type="slidenum">
              <a:rPr lang="en-GB" smtClean="0"/>
              <a:pPr/>
              <a:t>‹#›</a:t>
            </a:fld>
            <a:endParaRPr lang="en-GB"/>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9" name="Slide Number Placeholder 8"/>
          <p:cNvSpPr>
            <a:spLocks noGrp="1"/>
          </p:cNvSpPr>
          <p:nvPr>
            <p:ph type="sldNum" sz="quarter" idx="11"/>
          </p:nvPr>
        </p:nvSpPr>
        <p:spPr/>
        <p:txBody>
          <a:bodyPr/>
          <a:lstStyle/>
          <a:p>
            <a:fld id="{6AE043D7-820C-47C6-B7C2-B585AAF6D7BA}" type="slidenum">
              <a:rPr lang="en-GB" smtClean="0"/>
              <a:pPr/>
              <a:t>‹#›</a:t>
            </a:fld>
            <a:endParaRPr lang="en-GB"/>
          </a:p>
        </p:txBody>
      </p:sp>
      <p:sp>
        <p:nvSpPr>
          <p:cNvPr id="10" name="Footer Placeholder 9"/>
          <p:cNvSpPr>
            <a:spLocks noGrp="1"/>
          </p:cNvSpPr>
          <p:nvPr>
            <p:ph type="ftr" sz="quarter" idx="12"/>
          </p:nvPr>
        </p:nvSpPr>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D169F6-AA23-48A9-AC1F-29D73EED846B}" type="datetimeFigureOut">
              <a:rPr lang="en-GB" smtClean="0"/>
              <a:pPr/>
              <a:t>25/02/2021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AE043D7-820C-47C6-B7C2-B585AAF6D7BA}"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AE043D7-820C-47C6-B7C2-B585AAF6D7BA}" type="slidenum">
              <a:rPr lang="en-GB" smtClean="0"/>
              <a:pPr/>
              <a:t>‹#›</a:t>
            </a:fld>
            <a:endParaRPr lang="en-GB"/>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GB"/>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F1D169F6-AA23-48A9-AC1F-29D73EED846B}" type="datetimeFigureOut">
              <a:rPr lang="en-GB" smtClean="0"/>
              <a:pPr/>
              <a:t>25/02/2021</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115616" y="2564904"/>
            <a:ext cx="6480720" cy="1323439"/>
          </a:xfrm>
          <a:prstGeom prst="rect">
            <a:avLst/>
          </a:prstGeom>
          <a:noFill/>
        </p:spPr>
        <p:txBody>
          <a:bodyPr wrap="square" rtlCol="0">
            <a:spAutoFit/>
          </a:bodyPr>
          <a:lstStyle/>
          <a:p>
            <a:pPr algn="ctr"/>
            <a:r>
              <a:rPr lang="en-US" sz="4000" b="1" dirty="0"/>
              <a:t>METABOLISM OF </a:t>
            </a:r>
          </a:p>
          <a:p>
            <a:pPr algn="ctr"/>
            <a:r>
              <a:rPr lang="en-US" sz="4000" b="1" dirty="0"/>
              <a:t>GERMINATING SEEDS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7620000" cy="638944"/>
          </a:xfrm>
        </p:spPr>
        <p:txBody>
          <a:bodyPr/>
          <a:lstStyle/>
          <a:p>
            <a:br>
              <a:rPr lang="en-US" sz="3600" b="1" u="sng" dirty="0"/>
            </a:br>
            <a:r>
              <a:rPr lang="en-US" sz="3200" b="1" dirty="0"/>
              <a:t>METABOLISM OF GERMINATING SEEDS </a:t>
            </a:r>
            <a:br>
              <a:rPr lang="en-US" dirty="0"/>
            </a:br>
            <a:endParaRPr lang="en-US" dirty="0"/>
          </a:p>
        </p:txBody>
      </p:sp>
      <p:sp>
        <p:nvSpPr>
          <p:cNvPr id="3" name="Content Placeholder 2"/>
          <p:cNvSpPr>
            <a:spLocks noGrp="1"/>
          </p:cNvSpPr>
          <p:nvPr>
            <p:ph idx="1"/>
          </p:nvPr>
        </p:nvSpPr>
        <p:spPr>
          <a:xfrm>
            <a:off x="457200" y="1412776"/>
            <a:ext cx="7620000" cy="4988024"/>
          </a:xfrm>
        </p:spPr>
        <p:txBody>
          <a:bodyPr>
            <a:normAutofit/>
          </a:bodyPr>
          <a:lstStyle/>
          <a:p>
            <a:r>
              <a:rPr lang="en-US" sz="3600" dirty="0"/>
              <a:t>Although there is a large volume of literature on metabolism of seed germination, it is not possible to delineate the order in which these metabolic reactions are initiated during imbibition.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74F4B0-96FD-44FC-98A8-2F33206E99C8}"/>
              </a:ext>
            </a:extLst>
          </p:cNvPr>
          <p:cNvSpPr txBox="1"/>
          <p:nvPr/>
        </p:nvSpPr>
        <p:spPr>
          <a:xfrm>
            <a:off x="683568" y="836712"/>
            <a:ext cx="7416824" cy="3970318"/>
          </a:xfrm>
          <a:prstGeom prst="rect">
            <a:avLst/>
          </a:prstGeom>
          <a:noFill/>
        </p:spPr>
        <p:txBody>
          <a:bodyPr wrap="square">
            <a:spAutoFit/>
          </a:bodyPr>
          <a:lstStyle/>
          <a:p>
            <a:pPr marL="457200" indent="-457200">
              <a:buFont typeface="Arial" panose="020B0604020202020204" pitchFamily="34" charset="0"/>
              <a:buChar char="•"/>
            </a:pPr>
            <a:r>
              <a:rPr lang="en-US" sz="3600" dirty="0"/>
              <a:t>Metabolism begins with imbibition and it involves the breakdown and transport of lipids, CHOs , proteins and other substances from their storage form to a form that they may be readily utilized by the actively dividing cells of the embryo</a:t>
            </a:r>
          </a:p>
        </p:txBody>
      </p:sp>
    </p:spTree>
    <p:extLst>
      <p:ext uri="{BB962C8B-B14F-4D97-AF65-F5344CB8AC3E}">
        <p14:creationId xmlns:p14="http://schemas.microsoft.com/office/powerpoint/2010/main" val="2391876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pPr algn="ctr"/>
            <a:br>
              <a:rPr lang="en-US" dirty="0"/>
            </a:br>
            <a:r>
              <a:rPr lang="en-US" b="1" dirty="0"/>
              <a:t> </a:t>
            </a:r>
            <a:r>
              <a:rPr lang="en-US" sz="3600" b="1" dirty="0"/>
              <a:t>CARBOHYDRATE METABOLISM</a:t>
            </a:r>
            <a:br>
              <a:rPr lang="en-US" sz="3600" dirty="0"/>
            </a:br>
            <a:endParaRPr lang="en-US" sz="3600" dirty="0"/>
          </a:p>
        </p:txBody>
      </p:sp>
      <p:sp>
        <p:nvSpPr>
          <p:cNvPr id="3" name="Content Placeholder 2"/>
          <p:cNvSpPr>
            <a:spLocks noGrp="1"/>
          </p:cNvSpPr>
          <p:nvPr>
            <p:ph idx="1"/>
          </p:nvPr>
        </p:nvSpPr>
        <p:spPr>
          <a:xfrm>
            <a:off x="457200" y="908720"/>
            <a:ext cx="7620000" cy="5492080"/>
          </a:xfrm>
        </p:spPr>
        <p:txBody>
          <a:bodyPr>
            <a:noAutofit/>
          </a:bodyPr>
          <a:lstStyle/>
          <a:p>
            <a:r>
              <a:rPr lang="en-US" sz="3600" dirty="0"/>
              <a:t>The metabolism   of CHO during germination involves the breakdown of disaccharides and polysaccharides, synthesis of simple sugars and the transport of sugars across certain membranes and tissues.</a:t>
            </a:r>
          </a:p>
          <a:p>
            <a:r>
              <a:rPr lang="en-US" sz="3600" dirty="0"/>
              <a:t>The breakdown products of CHO especially glucose are the principal sources of energy.</a:t>
            </a:r>
          </a:p>
          <a:p>
            <a:pPr marL="114300" indent="0">
              <a:buNone/>
            </a:pPr>
            <a:r>
              <a:rPr lang="en-US" sz="36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0668F1-989A-4108-A72B-B7394D97075B}"/>
              </a:ext>
            </a:extLst>
          </p:cNvPr>
          <p:cNvSpPr txBox="1"/>
          <p:nvPr/>
        </p:nvSpPr>
        <p:spPr>
          <a:xfrm>
            <a:off x="827584" y="908720"/>
            <a:ext cx="7272808" cy="3416320"/>
          </a:xfrm>
          <a:prstGeom prst="rect">
            <a:avLst/>
          </a:prstGeom>
          <a:noFill/>
        </p:spPr>
        <p:txBody>
          <a:bodyPr wrap="square">
            <a:spAutoFit/>
          </a:bodyPr>
          <a:lstStyle/>
          <a:p>
            <a:pPr marL="571500" indent="-571500">
              <a:buFont typeface="Arial" panose="020B0604020202020204" pitchFamily="34" charset="0"/>
              <a:buChar char="•"/>
            </a:pPr>
            <a:r>
              <a:rPr lang="en-US" sz="3600" dirty="0"/>
              <a:t>Several hydrolytic enzymes are produced during germination. </a:t>
            </a:r>
          </a:p>
          <a:p>
            <a:pPr marL="571500" indent="-571500">
              <a:buFont typeface="Arial" panose="020B0604020202020204" pitchFamily="34" charset="0"/>
              <a:buChar char="•"/>
            </a:pPr>
            <a:r>
              <a:rPr lang="en-US" sz="3600" dirty="0"/>
              <a:t>Among them are the </a:t>
            </a:r>
            <a:r>
              <a:rPr lang="en-US" sz="3600" i="1" dirty="0"/>
              <a:t>de novo </a:t>
            </a:r>
            <a:r>
              <a:rPr lang="en-US" sz="3600" dirty="0"/>
              <a:t>synthesis of α-amylase, ß-amylase, maltase, </a:t>
            </a:r>
            <a:r>
              <a:rPr lang="en-US" sz="3600" dirty="0" err="1"/>
              <a:t>phosporylase</a:t>
            </a:r>
            <a:r>
              <a:rPr lang="en-US" sz="3600" dirty="0"/>
              <a:t>, endo- ß- </a:t>
            </a:r>
            <a:r>
              <a:rPr lang="en-US" sz="3600" dirty="0" err="1"/>
              <a:t>glucanase</a:t>
            </a:r>
            <a:r>
              <a:rPr lang="en-US" sz="3600" dirty="0"/>
              <a:t> and 1,6- α-dextranase </a:t>
            </a:r>
          </a:p>
        </p:txBody>
      </p:sp>
    </p:spTree>
    <p:extLst>
      <p:ext uri="{BB962C8B-B14F-4D97-AF65-F5344CB8AC3E}">
        <p14:creationId xmlns:p14="http://schemas.microsoft.com/office/powerpoint/2010/main" val="3607317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8720"/>
            <a:ext cx="7620000" cy="720080"/>
          </a:xfrm>
        </p:spPr>
        <p:txBody>
          <a:bodyPr/>
          <a:lstStyle/>
          <a:p>
            <a:pPr algn="ctr"/>
            <a:r>
              <a:rPr lang="en-US" sz="3600" b="1" dirty="0"/>
              <a:t>Carbohydrate…. continued</a:t>
            </a:r>
            <a:endParaRPr lang="en-US" sz="3600" dirty="0"/>
          </a:p>
        </p:txBody>
      </p:sp>
      <p:sp>
        <p:nvSpPr>
          <p:cNvPr id="3" name="Content Placeholder 2"/>
          <p:cNvSpPr>
            <a:spLocks noGrp="1"/>
          </p:cNvSpPr>
          <p:nvPr>
            <p:ph idx="1"/>
          </p:nvPr>
        </p:nvSpPr>
        <p:spPr>
          <a:xfrm>
            <a:off x="457200" y="1700808"/>
            <a:ext cx="7620000" cy="4699992"/>
          </a:xfrm>
        </p:spPr>
        <p:txBody>
          <a:bodyPr>
            <a:normAutofit/>
          </a:bodyPr>
          <a:lstStyle/>
          <a:p>
            <a:r>
              <a:rPr lang="en-US" sz="3600" dirty="0"/>
              <a:t>These enzymes are responsible for the hydrolysis of the various stored CHOs in the endosperm, the cotyledon and other storage tissues of the seeds during germination. </a:t>
            </a:r>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8DC40E-D6A2-407D-9074-8123602C8ABF}"/>
              </a:ext>
            </a:extLst>
          </p:cNvPr>
          <p:cNvSpPr txBox="1"/>
          <p:nvPr/>
        </p:nvSpPr>
        <p:spPr>
          <a:xfrm>
            <a:off x="755576" y="692696"/>
            <a:ext cx="7416824" cy="3970318"/>
          </a:xfrm>
          <a:prstGeom prst="rect">
            <a:avLst/>
          </a:prstGeom>
          <a:noFill/>
        </p:spPr>
        <p:txBody>
          <a:bodyPr wrap="square">
            <a:spAutoFit/>
          </a:bodyPr>
          <a:lstStyle/>
          <a:p>
            <a:pPr marL="571500" indent="-571500">
              <a:buFont typeface="Arial" panose="020B0604020202020204" pitchFamily="34" charset="0"/>
              <a:buChar char="•"/>
            </a:pPr>
            <a:r>
              <a:rPr lang="en-US" sz="3600" dirty="0"/>
              <a:t>The type of soluble CHOs actively metabolized differ from the type of seeds </a:t>
            </a:r>
          </a:p>
          <a:p>
            <a:pPr marL="571500" indent="-571500">
              <a:buFont typeface="Wingdings" panose="05000000000000000000" pitchFamily="2" charset="2"/>
              <a:buChar char="ü"/>
            </a:pPr>
            <a:r>
              <a:rPr lang="en-US" sz="3600" dirty="0"/>
              <a:t>e.g. in germinating seeds of </a:t>
            </a:r>
            <a:r>
              <a:rPr lang="en-US" sz="3600" i="1" dirty="0"/>
              <a:t>Vigna </a:t>
            </a:r>
            <a:r>
              <a:rPr lang="en-US" sz="3600" i="1" dirty="0" err="1"/>
              <a:t>unguiculata</a:t>
            </a:r>
            <a:r>
              <a:rPr lang="en-US" sz="3600" dirty="0"/>
              <a:t>, the soluble CHOs that are actively metabolized are glucose and sucrose.</a:t>
            </a:r>
          </a:p>
        </p:txBody>
      </p:sp>
    </p:spTree>
    <p:extLst>
      <p:ext uri="{BB962C8B-B14F-4D97-AF65-F5344CB8AC3E}">
        <p14:creationId xmlns:p14="http://schemas.microsoft.com/office/powerpoint/2010/main" val="25403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C5794-E8FA-4B4B-A9A2-6E94DECD155B}"/>
              </a:ext>
            </a:extLst>
          </p:cNvPr>
          <p:cNvSpPr txBox="1"/>
          <p:nvPr/>
        </p:nvSpPr>
        <p:spPr>
          <a:xfrm>
            <a:off x="539552" y="692696"/>
            <a:ext cx="7560840" cy="3693319"/>
          </a:xfrm>
          <a:prstGeom prst="rect">
            <a:avLst/>
          </a:prstGeom>
          <a:noFill/>
        </p:spPr>
        <p:txBody>
          <a:bodyPr wrap="square">
            <a:spAutoFit/>
          </a:bodyPr>
          <a:lstStyle/>
          <a:p>
            <a:r>
              <a:rPr lang="en-US" dirty="0"/>
              <a:t> </a:t>
            </a:r>
          </a:p>
          <a:p>
            <a:pPr marL="285750" indent="-285750">
              <a:buFont typeface="Arial" panose="020B0604020202020204" pitchFamily="34" charset="0"/>
              <a:buChar char="•"/>
            </a:pPr>
            <a:r>
              <a:rPr lang="en-US" sz="3600" dirty="0"/>
              <a:t>   Maltose, though present, is not   </a:t>
            </a:r>
          </a:p>
          <a:p>
            <a:r>
              <a:rPr lang="en-US" sz="3600" dirty="0"/>
              <a:t>      actively involved in the metabolism</a:t>
            </a:r>
          </a:p>
          <a:p>
            <a:pPr marL="571500" indent="-571500">
              <a:buFont typeface="Arial" panose="020B0604020202020204" pitchFamily="34" charset="0"/>
              <a:buChar char="•"/>
            </a:pPr>
            <a:r>
              <a:rPr lang="en-US" sz="3600" dirty="0"/>
              <a:t>In Lettuce, sucrose is present in the seed and as germination proceeds, the sucrose is  broken down and glucose appears.</a:t>
            </a:r>
          </a:p>
        </p:txBody>
      </p:sp>
    </p:spTree>
    <p:extLst>
      <p:ext uri="{BB962C8B-B14F-4D97-AF65-F5344CB8AC3E}">
        <p14:creationId xmlns:p14="http://schemas.microsoft.com/office/powerpoint/2010/main" val="37079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82562"/>
          </a:xfrm>
        </p:spPr>
        <p:txBody>
          <a:bodyPr/>
          <a:lstStyle/>
          <a:p>
            <a:pPr algn="ctr"/>
            <a:endParaRPr lang="en-US" sz="3600" dirty="0"/>
          </a:p>
        </p:txBody>
      </p:sp>
      <p:sp>
        <p:nvSpPr>
          <p:cNvPr id="3" name="Content Placeholder 2"/>
          <p:cNvSpPr>
            <a:spLocks noGrp="1"/>
          </p:cNvSpPr>
          <p:nvPr>
            <p:ph idx="1"/>
          </p:nvPr>
        </p:nvSpPr>
        <p:spPr>
          <a:xfrm>
            <a:off x="457200" y="764704"/>
            <a:ext cx="7620000" cy="5636096"/>
          </a:xfrm>
        </p:spPr>
        <p:txBody>
          <a:bodyPr>
            <a:normAutofit/>
          </a:bodyPr>
          <a:lstStyle/>
          <a:p>
            <a:r>
              <a:rPr lang="en-US" sz="3600" dirty="0"/>
              <a:t> In </a:t>
            </a:r>
            <a:r>
              <a:rPr lang="en-US" sz="3600" i="1" dirty="0"/>
              <a:t>Vigna </a:t>
            </a:r>
            <a:r>
              <a:rPr lang="en-US" sz="3600" i="1" dirty="0" err="1"/>
              <a:t>sesquipedalis</a:t>
            </a:r>
            <a:r>
              <a:rPr lang="en-US" sz="3600" i="1" dirty="0"/>
              <a:t>, s</a:t>
            </a:r>
            <a:r>
              <a:rPr lang="en-US" sz="3600" dirty="0"/>
              <a:t>tarch and dextrans are broken down in the cotyledons and sucrose, glucose and fructosans appear </a:t>
            </a:r>
          </a:p>
          <a:p>
            <a:r>
              <a:rPr lang="en-US" sz="3600" dirty="0"/>
              <a:t>In cereals </a:t>
            </a:r>
            <a:r>
              <a:rPr lang="en-US" sz="3600" dirty="0" err="1"/>
              <a:t>ie</a:t>
            </a:r>
            <a:r>
              <a:rPr lang="en-US" sz="3600" dirty="0"/>
              <a:t>. barley and wheat, studies of inter-conversion and transportation of sugars from the endosperm to the embryo exist.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598B23-0624-4616-935D-769048CEC684}"/>
              </a:ext>
            </a:extLst>
          </p:cNvPr>
          <p:cNvSpPr txBox="1"/>
          <p:nvPr/>
        </p:nvSpPr>
        <p:spPr>
          <a:xfrm>
            <a:off x="827584" y="1268760"/>
            <a:ext cx="7128792" cy="3416320"/>
          </a:xfrm>
          <a:prstGeom prst="rect">
            <a:avLst/>
          </a:prstGeom>
          <a:noFill/>
        </p:spPr>
        <p:txBody>
          <a:bodyPr wrap="square">
            <a:spAutoFit/>
          </a:bodyPr>
          <a:lstStyle/>
          <a:p>
            <a:pPr marL="571500" indent="-571500">
              <a:buFont typeface="Arial" panose="020B0604020202020204" pitchFamily="34" charset="0"/>
              <a:buChar char="•"/>
            </a:pPr>
            <a:r>
              <a:rPr lang="en-US" sz="3600" dirty="0"/>
              <a:t>Studies have shown that the </a:t>
            </a:r>
            <a:r>
              <a:rPr lang="en-US" sz="3600" b="1" dirty="0"/>
              <a:t>scutellum</a:t>
            </a:r>
            <a:r>
              <a:rPr lang="en-US" sz="3600" dirty="0"/>
              <a:t> (a part of the cotyledon) absorbs glucose from the endosperm and converts it into sucrose which  is then transported to the embryo.</a:t>
            </a:r>
          </a:p>
        </p:txBody>
      </p:sp>
    </p:spTree>
    <p:extLst>
      <p:ext uri="{BB962C8B-B14F-4D97-AF65-F5344CB8AC3E}">
        <p14:creationId xmlns:p14="http://schemas.microsoft.com/office/powerpoint/2010/main" val="1986228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4704"/>
            <a:ext cx="7620000" cy="720080"/>
          </a:xfrm>
        </p:spPr>
        <p:txBody>
          <a:bodyPr/>
          <a:lstStyle/>
          <a:p>
            <a:pPr algn="ctr"/>
            <a:br>
              <a:rPr lang="en-US" b="1" dirty="0"/>
            </a:br>
            <a:r>
              <a:rPr lang="en-US" sz="3600" b="1" dirty="0"/>
              <a:t>PROTEIN METABOLISM</a:t>
            </a:r>
            <a:br>
              <a:rPr lang="en-US" dirty="0"/>
            </a:br>
            <a:endParaRPr lang="en-US" dirty="0"/>
          </a:p>
        </p:txBody>
      </p:sp>
      <p:sp>
        <p:nvSpPr>
          <p:cNvPr id="3" name="Content Placeholder 2"/>
          <p:cNvSpPr>
            <a:spLocks noGrp="1"/>
          </p:cNvSpPr>
          <p:nvPr>
            <p:ph idx="1"/>
          </p:nvPr>
        </p:nvSpPr>
        <p:spPr>
          <a:xfrm>
            <a:off x="457200" y="1484784"/>
            <a:ext cx="7620000" cy="4916016"/>
          </a:xfrm>
        </p:spPr>
        <p:txBody>
          <a:bodyPr>
            <a:normAutofit/>
          </a:bodyPr>
          <a:lstStyle/>
          <a:p>
            <a:r>
              <a:rPr lang="en-US" sz="3600" dirty="0"/>
              <a:t>During germination, seed proteins are hydrolyzed into peptides and amino acids and are translocated to the growing portions of the embryo.</a:t>
            </a:r>
          </a:p>
          <a:p>
            <a:r>
              <a:rPr lang="en-US" sz="3600" dirty="0"/>
              <a:t> Hydrolysis is carried out by proteolytic enzymes.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989144-49BF-4ECB-BB43-2C4CB61FF58A}"/>
              </a:ext>
            </a:extLst>
          </p:cNvPr>
          <p:cNvSpPr txBox="1"/>
          <p:nvPr/>
        </p:nvSpPr>
        <p:spPr>
          <a:xfrm>
            <a:off x="683568" y="476672"/>
            <a:ext cx="7488832" cy="5632311"/>
          </a:xfrm>
          <a:prstGeom prst="rect">
            <a:avLst/>
          </a:prstGeom>
          <a:noFill/>
        </p:spPr>
        <p:txBody>
          <a:bodyPr wrap="square">
            <a:spAutoFit/>
          </a:bodyPr>
          <a:lstStyle/>
          <a:p>
            <a:pPr marL="571500" indent="-571500">
              <a:buFont typeface="Arial" panose="020B0604020202020204" pitchFamily="34" charset="0"/>
              <a:buChar char="•"/>
            </a:pPr>
            <a:r>
              <a:rPr lang="en-US" sz="3600" dirty="0"/>
              <a:t>Various proteolytic enzymes have been found in germinating seeds but the onset of proteolysis seems to be different in different seeds </a:t>
            </a:r>
          </a:p>
          <a:p>
            <a:pPr marL="571500" indent="-571500">
              <a:buFont typeface="Arial" panose="020B0604020202020204" pitchFamily="34" charset="0"/>
              <a:buChar char="•"/>
            </a:pPr>
            <a:r>
              <a:rPr lang="en-US" sz="3600" dirty="0"/>
              <a:t>Example, in</a:t>
            </a:r>
            <a:r>
              <a:rPr lang="en-US" sz="3600" i="1" dirty="0"/>
              <a:t> Sinapis alba </a:t>
            </a:r>
            <a:r>
              <a:rPr lang="en-US" sz="3600" dirty="0"/>
              <a:t>protein is broken down very early during germination whereas in Sorghum, an acid proteinase becomes active quite late in germination. </a:t>
            </a:r>
          </a:p>
          <a:p>
            <a:endParaRPr lang="en-US" sz="3600" dirty="0"/>
          </a:p>
        </p:txBody>
      </p:sp>
    </p:spTree>
    <p:extLst>
      <p:ext uri="{BB962C8B-B14F-4D97-AF65-F5344CB8AC3E}">
        <p14:creationId xmlns:p14="http://schemas.microsoft.com/office/powerpoint/2010/main" val="3495262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912" y="476672"/>
            <a:ext cx="7620000" cy="216024"/>
          </a:xfrm>
        </p:spPr>
        <p:txBody>
          <a:bodyPr/>
          <a:lstStyle/>
          <a:p>
            <a:pPr algn="ctr"/>
            <a:endParaRPr lang="en-US" sz="3600" dirty="0"/>
          </a:p>
        </p:txBody>
      </p:sp>
      <p:sp>
        <p:nvSpPr>
          <p:cNvPr id="3" name="Content Placeholder 2"/>
          <p:cNvSpPr>
            <a:spLocks noGrp="1"/>
          </p:cNvSpPr>
          <p:nvPr>
            <p:ph idx="1"/>
          </p:nvPr>
        </p:nvSpPr>
        <p:spPr>
          <a:xfrm>
            <a:off x="457200" y="692696"/>
            <a:ext cx="7620000" cy="5376664"/>
          </a:xfrm>
        </p:spPr>
        <p:txBody>
          <a:bodyPr/>
          <a:lstStyle/>
          <a:p>
            <a:r>
              <a:rPr lang="en-US" sz="3600" dirty="0"/>
              <a:t>The onset of proteolytic activity seems to be controlled in some cases by hormonal action </a:t>
            </a:r>
          </a:p>
          <a:p>
            <a:pPr>
              <a:buFont typeface="Wingdings" panose="05000000000000000000" pitchFamily="2" charset="2"/>
              <a:buChar char="ü"/>
            </a:pPr>
            <a:r>
              <a:rPr lang="en-US" sz="3600" dirty="0" err="1"/>
              <a:t>eg</a:t>
            </a:r>
            <a:r>
              <a:rPr lang="en-US" sz="3600" dirty="0"/>
              <a:t> Cytokinins in the embryo in the case of </a:t>
            </a:r>
            <a:r>
              <a:rPr lang="en-US" sz="3600" i="1" dirty="0"/>
              <a:t>Cucurbita maximima </a:t>
            </a:r>
            <a:r>
              <a:rPr lang="en-US" sz="3600" dirty="0"/>
              <a:t>and by GA </a:t>
            </a:r>
            <a:r>
              <a:rPr lang="en-US" sz="3600" i="1" dirty="0"/>
              <a:t> </a:t>
            </a:r>
            <a:r>
              <a:rPr lang="en-US" sz="3600" dirty="0"/>
              <a:t>in the aleurone layer of barley.</a:t>
            </a:r>
          </a:p>
          <a:p>
            <a:r>
              <a:rPr lang="en-US" sz="3600" dirty="0"/>
              <a:t>In peas, no such control of hormones exists.</a:t>
            </a:r>
            <a:r>
              <a:rPr lang="en-US"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D297B-D40F-4955-A190-82DC29A99978}"/>
              </a:ext>
            </a:extLst>
          </p:cNvPr>
          <p:cNvSpPr txBox="1"/>
          <p:nvPr/>
        </p:nvSpPr>
        <p:spPr>
          <a:xfrm>
            <a:off x="827584" y="1268760"/>
            <a:ext cx="7200800" cy="3970318"/>
          </a:xfrm>
          <a:prstGeom prst="rect">
            <a:avLst/>
          </a:prstGeom>
          <a:noFill/>
        </p:spPr>
        <p:txBody>
          <a:bodyPr wrap="square">
            <a:spAutoFit/>
          </a:bodyPr>
          <a:lstStyle/>
          <a:p>
            <a:pPr marL="571500" indent="-571500">
              <a:buFont typeface="Arial" panose="020B0604020202020204" pitchFamily="34" charset="0"/>
              <a:buChar char="•"/>
            </a:pPr>
            <a:r>
              <a:rPr lang="en-US" sz="3600" dirty="0"/>
              <a:t>Amino acids may remain in the storage tissue but most are translocated to the developing tissues</a:t>
            </a:r>
          </a:p>
          <a:p>
            <a:pPr marL="571500" indent="-571500">
              <a:buFont typeface="Wingdings" panose="05000000000000000000" pitchFamily="2" charset="2"/>
              <a:buChar char="ü"/>
            </a:pPr>
            <a:r>
              <a:rPr lang="en-US" sz="3600" dirty="0"/>
              <a:t> where they are used for the synthesis of various enzymes and structural proteins. </a:t>
            </a:r>
          </a:p>
        </p:txBody>
      </p:sp>
    </p:spTree>
    <p:extLst>
      <p:ext uri="{BB962C8B-B14F-4D97-AF65-F5344CB8AC3E}">
        <p14:creationId xmlns:p14="http://schemas.microsoft.com/office/powerpoint/2010/main" val="2484416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52BEEF-B3B5-4245-8530-463406630A80}"/>
              </a:ext>
            </a:extLst>
          </p:cNvPr>
          <p:cNvSpPr txBox="1"/>
          <p:nvPr/>
        </p:nvSpPr>
        <p:spPr>
          <a:xfrm>
            <a:off x="683568" y="1628800"/>
            <a:ext cx="7344816" cy="3416320"/>
          </a:xfrm>
          <a:prstGeom prst="rect">
            <a:avLst/>
          </a:prstGeom>
          <a:noFill/>
        </p:spPr>
        <p:txBody>
          <a:bodyPr wrap="square">
            <a:spAutoFit/>
          </a:bodyPr>
          <a:lstStyle/>
          <a:p>
            <a:pPr marL="571500" indent="-571500">
              <a:buFont typeface="Arial" panose="020B0604020202020204" pitchFamily="34" charset="0"/>
              <a:buChar char="•"/>
            </a:pPr>
            <a:r>
              <a:rPr lang="en-US" sz="3600" dirty="0"/>
              <a:t>Some of the amino acids may also undergo </a:t>
            </a:r>
            <a:r>
              <a:rPr lang="en-US" sz="3600" b="1" dirty="0"/>
              <a:t>deamination</a:t>
            </a:r>
            <a:r>
              <a:rPr lang="en-US" sz="3600" dirty="0"/>
              <a:t> and the products used for the synthesis of non-nitrogenous containing compounds or further metabolized to yield energy</a:t>
            </a:r>
          </a:p>
        </p:txBody>
      </p:sp>
    </p:spTree>
    <p:extLst>
      <p:ext uri="{BB962C8B-B14F-4D97-AF65-F5344CB8AC3E}">
        <p14:creationId xmlns:p14="http://schemas.microsoft.com/office/powerpoint/2010/main" val="175453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7620000" cy="1080120"/>
          </a:xfrm>
        </p:spPr>
        <p:txBody>
          <a:bodyPr/>
          <a:lstStyle/>
          <a:p>
            <a:pPr algn="ctr"/>
            <a:br>
              <a:rPr lang="en-US" b="1" dirty="0"/>
            </a:br>
            <a:r>
              <a:rPr lang="en-US" sz="3600" b="1" dirty="0"/>
              <a:t>LIPID METABOLISM</a:t>
            </a:r>
            <a:br>
              <a:rPr lang="en-US" sz="3600" dirty="0"/>
            </a:br>
            <a:endParaRPr lang="en-US" sz="3600" dirty="0"/>
          </a:p>
        </p:txBody>
      </p:sp>
      <p:sp>
        <p:nvSpPr>
          <p:cNvPr id="3" name="Content Placeholder 2"/>
          <p:cNvSpPr>
            <a:spLocks noGrp="1"/>
          </p:cNvSpPr>
          <p:nvPr>
            <p:ph idx="1"/>
          </p:nvPr>
        </p:nvSpPr>
        <p:spPr>
          <a:xfrm>
            <a:off x="611560" y="1268760"/>
            <a:ext cx="7620000" cy="5708104"/>
          </a:xfrm>
        </p:spPr>
        <p:txBody>
          <a:bodyPr>
            <a:normAutofit/>
          </a:bodyPr>
          <a:lstStyle/>
          <a:p>
            <a:r>
              <a:rPr lang="en-US" sz="3600" dirty="0"/>
              <a:t>The metabolism of lipids during seed germination is usually a fairly late event in the overall series of steps in germination and this involves a variety of lipases.</a:t>
            </a:r>
          </a:p>
          <a:p>
            <a:r>
              <a:rPr lang="en-US" sz="3600" dirty="0"/>
              <a:t> Fats and oils are hydrolyzed to fatty acids and glycerol. </a:t>
            </a:r>
          </a:p>
          <a:p>
            <a:endParaRPr lang="en-US" sz="3600"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8AC5CF-5710-422B-A967-E012B74B25BD}"/>
              </a:ext>
            </a:extLst>
          </p:cNvPr>
          <p:cNvSpPr txBox="1"/>
          <p:nvPr/>
        </p:nvSpPr>
        <p:spPr>
          <a:xfrm>
            <a:off x="755576" y="1052736"/>
            <a:ext cx="7488832" cy="2308324"/>
          </a:xfrm>
          <a:prstGeom prst="rect">
            <a:avLst/>
          </a:prstGeom>
          <a:noFill/>
        </p:spPr>
        <p:txBody>
          <a:bodyPr wrap="square">
            <a:spAutoFit/>
          </a:bodyPr>
          <a:lstStyle/>
          <a:p>
            <a:pPr marL="571500" indent="-571500">
              <a:buFont typeface="Arial" panose="020B0604020202020204" pitchFamily="34" charset="0"/>
              <a:buChar char="•"/>
            </a:pPr>
            <a:r>
              <a:rPr lang="en-US" sz="3600" dirty="0"/>
              <a:t>The metabolism of the fatty acids during germination is probably by the normal breakdown through ß-oxidation to acetyl-CoA.</a:t>
            </a:r>
          </a:p>
        </p:txBody>
      </p:sp>
    </p:spTree>
    <p:extLst>
      <p:ext uri="{BB962C8B-B14F-4D97-AF65-F5344CB8AC3E}">
        <p14:creationId xmlns:p14="http://schemas.microsoft.com/office/powerpoint/2010/main" val="38268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7297FC-A05A-4373-90BF-364210F77E6D}"/>
              </a:ext>
            </a:extLst>
          </p:cNvPr>
          <p:cNvSpPr txBox="1"/>
          <p:nvPr/>
        </p:nvSpPr>
        <p:spPr>
          <a:xfrm>
            <a:off x="395536" y="260648"/>
            <a:ext cx="7920880" cy="6463308"/>
          </a:xfrm>
          <a:prstGeom prst="rect">
            <a:avLst/>
          </a:prstGeom>
          <a:noFill/>
        </p:spPr>
        <p:txBody>
          <a:bodyPr wrap="square">
            <a:spAutoFit/>
          </a:bodyPr>
          <a:lstStyle/>
          <a:p>
            <a:pPr marL="571500" indent="-571500">
              <a:buFont typeface="Arial" panose="020B0604020202020204" pitchFamily="34" charset="0"/>
              <a:buChar char="•"/>
            </a:pPr>
            <a:endParaRPr lang="en-US" sz="3600" dirty="0"/>
          </a:p>
          <a:p>
            <a:pPr marL="571500" indent="-571500">
              <a:buFont typeface="Arial" panose="020B0604020202020204" pitchFamily="34" charset="0"/>
              <a:buChar char="•"/>
            </a:pPr>
            <a:r>
              <a:rPr lang="en-US" sz="3600" dirty="0"/>
              <a:t>However </a:t>
            </a:r>
            <a:r>
              <a:rPr lang="en-US" sz="3600" b="1" dirty="0"/>
              <a:t>ß-oxidation activity </a:t>
            </a:r>
            <a:r>
              <a:rPr lang="en-US" sz="3600" dirty="0"/>
              <a:t>in castor bean endosperm is restricted to the </a:t>
            </a:r>
            <a:r>
              <a:rPr lang="en-US" sz="3600" b="1" dirty="0" err="1"/>
              <a:t>glyoxisomes</a:t>
            </a:r>
            <a:r>
              <a:rPr lang="en-US" sz="3600" dirty="0"/>
              <a:t> (specialized peroxisomes) - </a:t>
            </a:r>
            <a:r>
              <a:rPr lang="en-US" sz="3600" i="1" dirty="0"/>
              <a:t>(microbodies/organelles containing enzymes necessary for the conversion of fats  into carbohydrates, play important role during germination of seeds) </a:t>
            </a:r>
            <a:r>
              <a:rPr lang="en-US" sz="3600" dirty="0"/>
              <a:t>where this activity appears late during germination.</a:t>
            </a:r>
          </a:p>
          <a:p>
            <a:r>
              <a:rPr lang="en-US" sz="3600" dirty="0"/>
              <a:t> </a:t>
            </a:r>
          </a:p>
          <a:p>
            <a:endParaRPr lang="en-US" dirty="0"/>
          </a:p>
        </p:txBody>
      </p:sp>
    </p:spTree>
    <p:extLst>
      <p:ext uri="{BB962C8B-B14F-4D97-AF65-F5344CB8AC3E}">
        <p14:creationId xmlns:p14="http://schemas.microsoft.com/office/powerpoint/2010/main" val="3225989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6AC5EA-A0E1-485A-9281-53F9EF6D5499}"/>
              </a:ext>
            </a:extLst>
          </p:cNvPr>
          <p:cNvSpPr txBox="1"/>
          <p:nvPr/>
        </p:nvSpPr>
        <p:spPr>
          <a:xfrm>
            <a:off x="323528" y="548680"/>
            <a:ext cx="8064896" cy="5078313"/>
          </a:xfrm>
          <a:prstGeom prst="rect">
            <a:avLst/>
          </a:prstGeom>
          <a:noFill/>
        </p:spPr>
        <p:txBody>
          <a:bodyPr wrap="square">
            <a:spAutoFit/>
          </a:bodyPr>
          <a:lstStyle/>
          <a:p>
            <a:pPr marL="571500" indent="-571500">
              <a:buFont typeface="Arial" panose="020B0604020202020204" pitchFamily="34" charset="0"/>
              <a:buChar char="•"/>
            </a:pPr>
            <a:r>
              <a:rPr lang="en-US" sz="3600" dirty="0"/>
              <a:t>Inter conversions exist between the various food reserves especially between lipids and CHOs during germination.</a:t>
            </a:r>
          </a:p>
          <a:p>
            <a:pPr marL="571500" indent="-571500">
              <a:buFont typeface="Arial" panose="020B0604020202020204" pitchFamily="34" charset="0"/>
              <a:buChar char="•"/>
            </a:pPr>
            <a:r>
              <a:rPr lang="en-US" sz="3600" dirty="0"/>
              <a:t>The metabolism of the fatty acids during germination is probably by the normal breakdown through ß-oxidation to acetyl - CoA.</a:t>
            </a: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3263946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9CBAD-A761-470A-B907-DFE23125A6D8}"/>
              </a:ext>
            </a:extLst>
          </p:cNvPr>
          <p:cNvSpPr txBox="1"/>
          <p:nvPr/>
        </p:nvSpPr>
        <p:spPr>
          <a:xfrm>
            <a:off x="251520" y="1124744"/>
            <a:ext cx="8208912" cy="3970318"/>
          </a:xfrm>
          <a:prstGeom prst="rect">
            <a:avLst/>
          </a:prstGeom>
          <a:noFill/>
        </p:spPr>
        <p:txBody>
          <a:bodyPr wrap="square">
            <a:spAutoFit/>
          </a:bodyPr>
          <a:lstStyle/>
          <a:p>
            <a:pPr marL="571500" indent="-571500">
              <a:buFont typeface="Arial" panose="020B0604020202020204" pitchFamily="34" charset="0"/>
              <a:buChar char="•"/>
            </a:pPr>
            <a:r>
              <a:rPr lang="en-US" sz="3600" dirty="0"/>
              <a:t>In oil-containing seeds such as </a:t>
            </a:r>
            <a:r>
              <a:rPr lang="en-US" sz="3600" i="1" dirty="0"/>
              <a:t>Arachis hypogea</a:t>
            </a:r>
            <a:r>
              <a:rPr lang="en-US" sz="3600" dirty="0"/>
              <a:t> lipids disappear in the cotyledon  and endosperm during  germination whereas CHOs begin to appear in the endosperm as fats disappear. </a:t>
            </a: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3735914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620000" cy="91480"/>
          </a:xfrm>
        </p:spPr>
        <p:txBody>
          <a:bodyPr/>
          <a:lstStyle/>
          <a:p>
            <a:pPr algn="ctr"/>
            <a:endParaRPr lang="en-US" sz="3600" dirty="0"/>
          </a:p>
        </p:txBody>
      </p:sp>
      <p:sp>
        <p:nvSpPr>
          <p:cNvPr id="3" name="Content Placeholder 2"/>
          <p:cNvSpPr>
            <a:spLocks noGrp="1"/>
          </p:cNvSpPr>
          <p:nvPr>
            <p:ph idx="1"/>
          </p:nvPr>
        </p:nvSpPr>
        <p:spPr>
          <a:xfrm>
            <a:off x="457200" y="1196752"/>
            <a:ext cx="7620000" cy="5204048"/>
          </a:xfrm>
        </p:spPr>
        <p:txBody>
          <a:bodyPr>
            <a:normAutofit/>
          </a:bodyPr>
          <a:lstStyle/>
          <a:p>
            <a:r>
              <a:rPr lang="en-US" sz="3900" dirty="0"/>
              <a:t>It appears that fats are converted to sugars in the endosperm </a:t>
            </a:r>
            <a:r>
              <a:rPr lang="en-US" sz="3600" dirty="0"/>
              <a:t>itself</a:t>
            </a:r>
            <a:r>
              <a:rPr lang="en-US" sz="3900" dirty="0"/>
              <a:t> and later on the CHOs are transported to the embryo. </a:t>
            </a:r>
          </a:p>
          <a:p>
            <a:r>
              <a:rPr lang="en-US" sz="3900" dirty="0"/>
              <a:t>In many seeds, disappearance of fats is accompanied by the appearance of CHOs.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33E61A-3282-4FA3-8F6D-24C3A5B04EF7}"/>
              </a:ext>
            </a:extLst>
          </p:cNvPr>
          <p:cNvSpPr txBox="1"/>
          <p:nvPr/>
        </p:nvSpPr>
        <p:spPr>
          <a:xfrm>
            <a:off x="251520" y="764704"/>
            <a:ext cx="8280920" cy="5078313"/>
          </a:xfrm>
          <a:prstGeom prst="rect">
            <a:avLst/>
          </a:prstGeom>
          <a:noFill/>
        </p:spPr>
        <p:txBody>
          <a:bodyPr wrap="square">
            <a:spAutoFit/>
          </a:bodyPr>
          <a:lstStyle/>
          <a:p>
            <a:pPr marL="571500" indent="-571500">
              <a:buFont typeface="Arial" panose="020B0604020202020204" pitchFamily="34" charset="0"/>
              <a:buChar char="•"/>
            </a:pPr>
            <a:r>
              <a:rPr lang="en-US" sz="3600" dirty="0"/>
              <a:t>The reactions may occur in the following way:</a:t>
            </a:r>
          </a:p>
          <a:p>
            <a:pPr marL="571500" indent="-571500">
              <a:buFont typeface="Arial" panose="020B0604020202020204" pitchFamily="34" charset="0"/>
              <a:buChar char="•"/>
            </a:pPr>
            <a:r>
              <a:rPr lang="en-US" sz="3600" dirty="0"/>
              <a:t>The fatty acid undergoes ß -oxidation and the acetyl-CoA formed is converted to malate via the glyoxylate cycle.</a:t>
            </a:r>
          </a:p>
          <a:p>
            <a:pPr marL="457200" indent="-457200">
              <a:buFont typeface="Arial" panose="020B0604020202020204" pitchFamily="34" charset="0"/>
              <a:buChar char="•"/>
            </a:pPr>
            <a:r>
              <a:rPr lang="en-GB" sz="3600" dirty="0">
                <a:latin typeface="Times New Roman" pitchFamily="18" charset="0"/>
                <a:cs typeface="Times New Roman" pitchFamily="18" charset="0"/>
              </a:rPr>
              <a:t>Two enzymes that are unique to the glyoxylate cycle are </a:t>
            </a:r>
            <a:r>
              <a:rPr lang="en-GB" sz="3600" b="1" i="1" dirty="0">
                <a:latin typeface="Times New Roman" pitchFamily="18" charset="0"/>
                <a:cs typeface="Times New Roman" pitchFamily="18" charset="0"/>
              </a:rPr>
              <a:t>malate</a:t>
            </a:r>
            <a:r>
              <a:rPr lang="en-GB" sz="3600" b="1" dirty="0">
                <a:latin typeface="Times New Roman" pitchFamily="18" charset="0"/>
                <a:cs typeface="Times New Roman" pitchFamily="18" charset="0"/>
              </a:rPr>
              <a:t> </a:t>
            </a:r>
            <a:r>
              <a:rPr lang="en-GB" sz="3600" b="1" i="1" dirty="0">
                <a:latin typeface="Times New Roman" pitchFamily="18" charset="0"/>
                <a:cs typeface="Times New Roman" pitchFamily="18" charset="0"/>
              </a:rPr>
              <a:t>synthetase</a:t>
            </a:r>
            <a:r>
              <a:rPr lang="en-GB" sz="3600" dirty="0">
                <a:latin typeface="Times New Roman" pitchFamily="18" charset="0"/>
                <a:cs typeface="Times New Roman" pitchFamily="18" charset="0"/>
              </a:rPr>
              <a:t> and </a:t>
            </a:r>
            <a:r>
              <a:rPr lang="en-GB" sz="3600" b="1" i="1" dirty="0" err="1">
                <a:latin typeface="Times New Roman" pitchFamily="18" charset="0"/>
                <a:cs typeface="Times New Roman" pitchFamily="18" charset="0"/>
              </a:rPr>
              <a:t>isocitratase</a:t>
            </a:r>
            <a:r>
              <a:rPr lang="en-GB" sz="3600" dirty="0">
                <a:latin typeface="Times New Roman" pitchFamily="18" charset="0"/>
                <a:cs typeface="Times New Roman" pitchFamily="18" charset="0"/>
              </a:rPr>
              <a:t>.</a:t>
            </a:r>
            <a:endParaRPr lang="en-GB" sz="3600" b="1" i="1" dirty="0">
              <a:latin typeface="Times New Roman" pitchFamily="18" charset="0"/>
              <a:cs typeface="Times New Roman" pitchFamily="18" charset="0"/>
            </a:endParaRP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2665301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D36E05AF-0DC4-4ABA-8E63-C07A73995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15416"/>
            <a:ext cx="8424936" cy="7010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694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pPr algn="ctr"/>
            <a:r>
              <a:rPr lang="en-GB" sz="3200" b="1" dirty="0"/>
              <a:t>HORMONES</a:t>
            </a:r>
          </a:p>
        </p:txBody>
      </p:sp>
      <p:sp>
        <p:nvSpPr>
          <p:cNvPr id="3" name="Content Placeholder 2"/>
          <p:cNvSpPr>
            <a:spLocks noGrp="1"/>
          </p:cNvSpPr>
          <p:nvPr>
            <p:ph idx="1"/>
          </p:nvPr>
        </p:nvSpPr>
        <p:spPr>
          <a:xfrm>
            <a:off x="457200" y="908720"/>
            <a:ext cx="7620000" cy="5832648"/>
          </a:xfrm>
        </p:spPr>
        <p:txBody>
          <a:bodyPr>
            <a:noAutofit/>
          </a:bodyPr>
          <a:lstStyle/>
          <a:p>
            <a:r>
              <a:rPr lang="en-GB" sz="3600" dirty="0">
                <a:latin typeface="Times New Roman" pitchFamily="18" charset="0"/>
                <a:cs typeface="Times New Roman" pitchFamily="18" charset="0"/>
              </a:rPr>
              <a:t>During germination, certain plant hormones are produced and they play important functions in the whole germination process.</a:t>
            </a:r>
          </a:p>
          <a:p>
            <a:r>
              <a:rPr lang="en-GB" sz="3600" dirty="0">
                <a:latin typeface="Times New Roman" pitchFamily="18" charset="0"/>
                <a:cs typeface="Times New Roman" pitchFamily="18" charset="0"/>
              </a:rPr>
              <a:t>The well known of these hormones is </a:t>
            </a:r>
            <a:r>
              <a:rPr lang="en-GB" sz="3200" b="1" dirty="0">
                <a:latin typeface="Times New Roman" pitchFamily="18" charset="0"/>
                <a:cs typeface="Times New Roman" pitchFamily="18" charset="0"/>
              </a:rPr>
              <a:t>GA.</a:t>
            </a:r>
          </a:p>
          <a:p>
            <a:r>
              <a:rPr lang="en-GB" sz="3200" dirty="0">
                <a:latin typeface="Times New Roman" pitchFamily="18" charset="0"/>
                <a:cs typeface="Times New Roman" pitchFamily="18" charset="0"/>
              </a:rPr>
              <a:t>GA </a:t>
            </a:r>
            <a:r>
              <a:rPr lang="en-GB" sz="3600" dirty="0">
                <a:latin typeface="Times New Roman" pitchFamily="18" charset="0"/>
                <a:cs typeface="Times New Roman" pitchFamily="18" charset="0"/>
              </a:rPr>
              <a:t>influences metabolism in barley seeds by increasing the activities of both alpha and beta-amylase in the endosperm</a:t>
            </a:r>
          </a:p>
        </p:txBody>
      </p:sp>
    </p:spTree>
    <p:extLst>
      <p:ext uri="{BB962C8B-B14F-4D97-AF65-F5344CB8AC3E}">
        <p14:creationId xmlns:p14="http://schemas.microsoft.com/office/powerpoint/2010/main" val="754568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01C30A-9F5A-457F-8235-5477485D1B11}"/>
              </a:ext>
            </a:extLst>
          </p:cNvPr>
          <p:cNvSpPr txBox="1"/>
          <p:nvPr/>
        </p:nvSpPr>
        <p:spPr>
          <a:xfrm>
            <a:off x="683568" y="476672"/>
            <a:ext cx="7632848" cy="6186309"/>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 role of </a:t>
            </a:r>
            <a:r>
              <a:rPr lang="en-GB" sz="3200" dirty="0">
                <a:latin typeface="Times New Roman" pitchFamily="18" charset="0"/>
                <a:cs typeface="Times New Roman" pitchFamily="18" charset="0"/>
              </a:rPr>
              <a:t>GA</a:t>
            </a:r>
            <a:r>
              <a:rPr lang="en-GB" sz="3600" dirty="0">
                <a:latin typeface="Times New Roman" pitchFamily="18" charset="0"/>
                <a:cs typeface="Times New Roman" pitchFamily="18" charset="0"/>
              </a:rPr>
              <a:t> in the formation and secretion of a great number of enzymes is the most thoroughly documented case of endogenously produced hormones which control seed germination.</a:t>
            </a:r>
          </a:p>
          <a:p>
            <a:pPr marL="571500" indent="-571500">
              <a:buFont typeface="Arial" panose="020B0604020202020204" pitchFamily="34" charset="0"/>
              <a:buChar char="•"/>
            </a:pPr>
            <a:r>
              <a:rPr lang="en-GB" sz="3200" dirty="0">
                <a:latin typeface="Times New Roman" pitchFamily="18" charset="0"/>
                <a:cs typeface="Times New Roman" pitchFamily="18" charset="0"/>
              </a:rPr>
              <a:t>GA</a:t>
            </a:r>
            <a:r>
              <a:rPr lang="en-GB" sz="3600" dirty="0">
                <a:latin typeface="Times New Roman" pitchFamily="18" charset="0"/>
                <a:cs typeface="Times New Roman" pitchFamily="18" charset="0"/>
              </a:rPr>
              <a:t> also controls the appearance of  maltase in </a:t>
            </a:r>
            <a:r>
              <a:rPr lang="en-GB" sz="3600" b="1" i="1" dirty="0" err="1">
                <a:latin typeface="Times New Roman" pitchFamily="18" charset="0"/>
                <a:cs typeface="Times New Roman" pitchFamily="18" charset="0"/>
              </a:rPr>
              <a:t>Avena</a:t>
            </a:r>
            <a:r>
              <a:rPr lang="en-GB" sz="3600" dirty="0">
                <a:latin typeface="Times New Roman" pitchFamily="18" charset="0"/>
                <a:cs typeface="Times New Roman" pitchFamily="18" charset="0"/>
              </a:rPr>
              <a:t> </a:t>
            </a:r>
            <a:r>
              <a:rPr lang="en-GB" sz="3600" b="1" i="1" dirty="0" err="1">
                <a:latin typeface="Times New Roman" pitchFamily="18" charset="0"/>
                <a:cs typeface="Times New Roman" pitchFamily="18" charset="0"/>
              </a:rPr>
              <a:t>fatua</a:t>
            </a:r>
            <a:r>
              <a:rPr lang="en-GB" sz="3600" dirty="0">
                <a:latin typeface="Times New Roman" pitchFamily="18" charset="0"/>
                <a:cs typeface="Times New Roman" pitchFamily="18" charset="0"/>
              </a:rPr>
              <a:t>.</a:t>
            </a:r>
          </a:p>
          <a:p>
            <a:pPr marL="571500" indent="-571500">
              <a:buFont typeface="Arial" panose="020B0604020202020204" pitchFamily="34" charset="0"/>
              <a:buChar char="•"/>
            </a:pPr>
            <a:r>
              <a:rPr lang="en-GB" sz="3600" dirty="0">
                <a:latin typeface="Times New Roman" pitchFamily="18" charset="0"/>
                <a:cs typeface="Times New Roman" pitchFamily="18" charset="0"/>
              </a:rPr>
              <a:t>In many cases,</a:t>
            </a:r>
            <a:r>
              <a:rPr lang="en-GB" sz="3200" dirty="0">
                <a:latin typeface="Times New Roman" pitchFamily="18" charset="0"/>
                <a:cs typeface="Times New Roman" pitchFamily="18" charset="0"/>
              </a:rPr>
              <a:t> GA </a:t>
            </a:r>
            <a:r>
              <a:rPr lang="en-GB" sz="3600" dirty="0">
                <a:latin typeface="Times New Roman" pitchFamily="18" charset="0"/>
                <a:cs typeface="Times New Roman" pitchFamily="18" charset="0"/>
              </a:rPr>
              <a:t>is present either in a bound or conjugated form.</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4288335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202034"/>
          </a:xfrm>
        </p:spPr>
        <p:txBody>
          <a:bodyPr/>
          <a:lstStyle/>
          <a:p>
            <a:pPr algn="ctr"/>
            <a:endParaRPr lang="en-GB" dirty="0"/>
          </a:p>
        </p:txBody>
      </p:sp>
      <p:sp>
        <p:nvSpPr>
          <p:cNvPr id="3" name="Content Placeholder 2"/>
          <p:cNvSpPr>
            <a:spLocks noGrp="1"/>
          </p:cNvSpPr>
          <p:nvPr>
            <p:ph idx="1"/>
          </p:nvPr>
        </p:nvSpPr>
        <p:spPr>
          <a:xfrm>
            <a:off x="457200" y="764704"/>
            <a:ext cx="7620000" cy="5976664"/>
          </a:xfrm>
        </p:spPr>
        <p:txBody>
          <a:bodyPr>
            <a:normAutofit/>
          </a:bodyPr>
          <a:lstStyle/>
          <a:p>
            <a:r>
              <a:rPr lang="en-GB" sz="3600" dirty="0">
                <a:latin typeface="Times New Roman" pitchFamily="18" charset="0"/>
                <a:cs typeface="Times New Roman" pitchFamily="18" charset="0"/>
              </a:rPr>
              <a:t>During germination of Pea seeds, an increasing amount of the bound forms are converted into free forms which are then transported from the embryo to the cotyledons.</a:t>
            </a:r>
          </a:p>
          <a:p>
            <a:r>
              <a:rPr lang="en-GB" sz="3600" dirty="0">
                <a:latin typeface="Times New Roman" pitchFamily="18" charset="0"/>
                <a:cs typeface="Times New Roman" pitchFamily="18" charset="0"/>
              </a:rPr>
              <a:t>Germinating seeds produce </a:t>
            </a:r>
            <a:r>
              <a:rPr lang="en-GB" sz="3600" b="1" dirty="0">
                <a:latin typeface="Times New Roman" pitchFamily="18" charset="0"/>
                <a:cs typeface="Times New Roman" pitchFamily="18" charset="0"/>
              </a:rPr>
              <a:t>ethylene,</a:t>
            </a:r>
            <a:r>
              <a:rPr lang="en-GB" sz="3600" dirty="0">
                <a:latin typeface="Times New Roman" pitchFamily="18" charset="0"/>
                <a:cs typeface="Times New Roman" pitchFamily="18" charset="0"/>
              </a:rPr>
              <a:t> and </a:t>
            </a:r>
          </a:p>
          <a:p>
            <a:pPr>
              <a:buFont typeface="Wingdings" panose="05000000000000000000" pitchFamily="2" charset="2"/>
              <a:buChar char="ü"/>
            </a:pPr>
            <a:r>
              <a:rPr lang="en-GB" sz="3600" dirty="0">
                <a:latin typeface="Times New Roman" pitchFamily="18" charset="0"/>
                <a:cs typeface="Times New Roman" pitchFamily="18" charset="0"/>
              </a:rPr>
              <a:t>ethylene production starts shortly after imbibition and precedes radicle emergence.</a:t>
            </a:r>
          </a:p>
        </p:txBody>
      </p:sp>
    </p:spTree>
    <p:extLst>
      <p:ext uri="{BB962C8B-B14F-4D97-AF65-F5344CB8AC3E}">
        <p14:creationId xmlns:p14="http://schemas.microsoft.com/office/powerpoint/2010/main" val="3228527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30026"/>
          </a:xfrm>
        </p:spPr>
        <p:txBody>
          <a:bodyPr/>
          <a:lstStyle/>
          <a:p>
            <a:pPr algn="ctr"/>
            <a:endParaRPr lang="en-GB" dirty="0"/>
          </a:p>
        </p:txBody>
      </p:sp>
      <p:sp>
        <p:nvSpPr>
          <p:cNvPr id="3" name="Content Placeholder 2"/>
          <p:cNvSpPr>
            <a:spLocks noGrp="1"/>
          </p:cNvSpPr>
          <p:nvPr>
            <p:ph idx="1"/>
          </p:nvPr>
        </p:nvSpPr>
        <p:spPr>
          <a:xfrm>
            <a:off x="323528" y="476672"/>
            <a:ext cx="8136904" cy="6264696"/>
          </a:xfrm>
        </p:spPr>
        <p:txBody>
          <a:bodyPr>
            <a:normAutofit lnSpcReduction="10000"/>
          </a:bodyPr>
          <a:lstStyle/>
          <a:p>
            <a:r>
              <a:rPr lang="en-GB" sz="3900" dirty="0">
                <a:latin typeface="Times New Roman" pitchFamily="18" charset="0"/>
                <a:cs typeface="Times New Roman" pitchFamily="18" charset="0"/>
              </a:rPr>
              <a:t>The role of endogenous ethylene production is the breaking of dormancy </a:t>
            </a:r>
          </a:p>
          <a:p>
            <a:pPr>
              <a:buFont typeface="Wingdings" panose="05000000000000000000" pitchFamily="2" charset="2"/>
              <a:buChar char="ü"/>
            </a:pPr>
            <a:r>
              <a:rPr lang="en-GB" sz="3900" dirty="0">
                <a:latin typeface="Times New Roman" pitchFamily="18" charset="0"/>
                <a:cs typeface="Times New Roman" pitchFamily="18" charset="0"/>
              </a:rPr>
              <a:t>or it may play a role in the initial steps of germination.</a:t>
            </a:r>
          </a:p>
          <a:p>
            <a:r>
              <a:rPr lang="en-GB" sz="3900" b="1" dirty="0">
                <a:latin typeface="Times New Roman" pitchFamily="18" charset="0"/>
                <a:cs typeface="Times New Roman" pitchFamily="18" charset="0"/>
              </a:rPr>
              <a:t>Abscisic acid </a:t>
            </a:r>
            <a:r>
              <a:rPr lang="en-GB" sz="3900" dirty="0">
                <a:latin typeface="Times New Roman" pitchFamily="18" charset="0"/>
                <a:cs typeface="Times New Roman" pitchFamily="18" charset="0"/>
              </a:rPr>
              <a:t>exists in a large number of seeds and tissues surrounding the seeds.</a:t>
            </a:r>
          </a:p>
          <a:p>
            <a:r>
              <a:rPr lang="en-GB" sz="3900" dirty="0">
                <a:latin typeface="Times New Roman" pitchFamily="18" charset="0"/>
                <a:cs typeface="Times New Roman" pitchFamily="18" charset="0"/>
              </a:rPr>
              <a:t>It often acts as inhibitor of germination and induces dormancy </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3228527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6FB51B-75F5-4FFA-9A8E-E1874BF34B61}"/>
              </a:ext>
            </a:extLst>
          </p:cNvPr>
          <p:cNvSpPr txBox="1"/>
          <p:nvPr/>
        </p:nvSpPr>
        <p:spPr>
          <a:xfrm>
            <a:off x="539552" y="332656"/>
            <a:ext cx="7776864" cy="4524315"/>
          </a:xfrm>
          <a:prstGeom prst="rect">
            <a:avLst/>
          </a:prstGeom>
          <a:noFill/>
        </p:spPr>
        <p:txBody>
          <a:bodyPr wrap="square">
            <a:spAutoFit/>
          </a:bodyPr>
          <a:lstStyle/>
          <a:p>
            <a:pPr marL="571500" indent="-571500">
              <a:buFont typeface="Arial" panose="020B0604020202020204" pitchFamily="34" charset="0"/>
              <a:buChar char="•"/>
            </a:pPr>
            <a:endParaRPr lang="en-GB" sz="3600" dirty="0">
              <a:latin typeface="Times New Roman" pitchFamily="18" charset="0"/>
              <a:cs typeface="Times New Roman" pitchFamily="18" charset="0"/>
            </a:endParaRPr>
          </a:p>
          <a:p>
            <a:pPr marL="571500" indent="-571500">
              <a:buFont typeface="Wingdings" panose="05000000000000000000" pitchFamily="2" charset="2"/>
              <a:buChar char="ü"/>
            </a:pPr>
            <a:r>
              <a:rPr lang="en-GB" sz="3600" dirty="0">
                <a:latin typeface="Times New Roman" pitchFamily="18" charset="0"/>
                <a:cs typeface="Times New Roman" pitchFamily="18" charset="0"/>
              </a:rPr>
              <a:t>e.g. the dormancy of seeds of watermelon, </a:t>
            </a:r>
            <a:r>
              <a:rPr lang="en-GB" sz="3600" dirty="0" err="1">
                <a:latin typeface="Times New Roman" pitchFamily="18" charset="0"/>
                <a:cs typeface="Times New Roman" pitchFamily="18" charset="0"/>
              </a:rPr>
              <a:t>okro</a:t>
            </a:r>
            <a:r>
              <a:rPr lang="en-GB" sz="3600" dirty="0">
                <a:latin typeface="Times New Roman" pitchFamily="18" charset="0"/>
                <a:cs typeface="Times New Roman" pitchFamily="18" charset="0"/>
              </a:rPr>
              <a:t> and garden eggs are attributed to an </a:t>
            </a:r>
            <a:r>
              <a:rPr lang="en-GB" sz="3600" dirty="0" err="1">
                <a:latin typeface="Times New Roman" pitchFamily="18" charset="0"/>
                <a:cs typeface="Times New Roman" pitchFamily="18" charset="0"/>
              </a:rPr>
              <a:t>abscissic</a:t>
            </a:r>
            <a:r>
              <a:rPr lang="en-GB" sz="3600" dirty="0">
                <a:latin typeface="Times New Roman" pitchFamily="18" charset="0"/>
                <a:cs typeface="Times New Roman" pitchFamily="18" charset="0"/>
              </a:rPr>
              <a:t>-like substance extracted from the seeds.</a:t>
            </a:r>
          </a:p>
          <a:p>
            <a:pPr marL="571500" indent="-571500">
              <a:buFont typeface="Arial" panose="020B0604020202020204" pitchFamily="34" charset="0"/>
              <a:buChar char="•"/>
            </a:pPr>
            <a:r>
              <a:rPr lang="en-GB" sz="3600" b="1" dirty="0" err="1">
                <a:latin typeface="Times New Roman" pitchFamily="18" charset="0"/>
                <a:cs typeface="Times New Roman" pitchFamily="18" charset="0"/>
              </a:rPr>
              <a:t>Cytokinins</a:t>
            </a:r>
            <a:r>
              <a:rPr lang="en-GB" sz="3600" dirty="0">
                <a:latin typeface="Times New Roman" pitchFamily="18" charset="0"/>
                <a:cs typeface="Times New Roman" pitchFamily="18" charset="0"/>
              </a:rPr>
              <a:t> promote germination of seeds and are active metabolites in germinating seeds.</a:t>
            </a:r>
          </a:p>
        </p:txBody>
      </p:sp>
    </p:spTree>
    <p:extLst>
      <p:ext uri="{BB962C8B-B14F-4D97-AF65-F5344CB8AC3E}">
        <p14:creationId xmlns:p14="http://schemas.microsoft.com/office/powerpoint/2010/main" val="2462348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pPr algn="ctr"/>
            <a:r>
              <a:rPr lang="en-GB" sz="3600" b="1" dirty="0"/>
              <a:t>DNA and RNA</a:t>
            </a:r>
          </a:p>
        </p:txBody>
      </p:sp>
      <p:sp>
        <p:nvSpPr>
          <p:cNvPr id="3" name="Content Placeholder 2"/>
          <p:cNvSpPr>
            <a:spLocks noGrp="1"/>
          </p:cNvSpPr>
          <p:nvPr>
            <p:ph idx="1"/>
          </p:nvPr>
        </p:nvSpPr>
        <p:spPr>
          <a:xfrm>
            <a:off x="457200" y="980728"/>
            <a:ext cx="8003232" cy="5760640"/>
          </a:xfrm>
        </p:spPr>
        <p:txBody>
          <a:bodyPr>
            <a:normAutofit/>
          </a:bodyPr>
          <a:lstStyle/>
          <a:p>
            <a:r>
              <a:rPr lang="en-GB" sz="3600" dirty="0">
                <a:latin typeface="Times New Roman" pitchFamily="18" charset="0"/>
                <a:cs typeface="Times New Roman" pitchFamily="18" charset="0"/>
              </a:rPr>
              <a:t>During the early stages of germination, there is a net increase in </a:t>
            </a:r>
            <a:r>
              <a:rPr lang="en-GB" sz="3200" dirty="0">
                <a:latin typeface="Times New Roman" pitchFamily="18" charset="0"/>
                <a:cs typeface="Times New Roman" pitchFamily="18" charset="0"/>
              </a:rPr>
              <a:t>RNA.</a:t>
            </a:r>
          </a:p>
          <a:p>
            <a:r>
              <a:rPr lang="en-GB" sz="3600" dirty="0">
                <a:latin typeface="Times New Roman" pitchFamily="18" charset="0"/>
                <a:cs typeface="Times New Roman" pitchFamily="18" charset="0"/>
              </a:rPr>
              <a:t>Protein and </a:t>
            </a:r>
            <a:r>
              <a:rPr lang="en-GB" sz="3200" dirty="0">
                <a:latin typeface="Times New Roman" pitchFamily="18" charset="0"/>
                <a:cs typeface="Times New Roman" pitchFamily="18" charset="0"/>
              </a:rPr>
              <a:t>RNA</a:t>
            </a:r>
            <a:r>
              <a:rPr lang="en-GB" sz="3600" dirty="0">
                <a:latin typeface="Times New Roman" pitchFamily="18" charset="0"/>
                <a:cs typeface="Times New Roman" pitchFamily="18" charset="0"/>
              </a:rPr>
              <a:t> synthesis commences at closely similar times and within minutes after imbibition.</a:t>
            </a:r>
          </a:p>
          <a:p>
            <a:r>
              <a:rPr lang="en-GB" sz="3600" dirty="0">
                <a:latin typeface="Times New Roman" pitchFamily="18" charset="0"/>
                <a:cs typeface="Times New Roman" pitchFamily="18" charset="0"/>
              </a:rPr>
              <a:t>The replication of </a:t>
            </a:r>
            <a:r>
              <a:rPr lang="en-GB" sz="3200" dirty="0">
                <a:latin typeface="Times New Roman" pitchFamily="18" charset="0"/>
                <a:cs typeface="Times New Roman" pitchFamily="18" charset="0"/>
              </a:rPr>
              <a:t>DNA</a:t>
            </a:r>
            <a:r>
              <a:rPr lang="en-GB" sz="3600" dirty="0">
                <a:latin typeface="Times New Roman" pitchFamily="18" charset="0"/>
                <a:cs typeface="Times New Roman" pitchFamily="18" charset="0"/>
              </a:rPr>
              <a:t> is a relatively late event in germination and is initiated only after considerable protein synthesis has occurred</a:t>
            </a:r>
            <a:r>
              <a:rPr lang="en-GB" sz="2800" dirty="0">
                <a:latin typeface="Times New Roman" pitchFamily="18" charset="0"/>
                <a:cs typeface="Times New Roman" pitchFamily="18" charset="0"/>
              </a:rPr>
              <a:t>.</a:t>
            </a:r>
          </a:p>
        </p:txBody>
      </p:sp>
    </p:spTree>
    <p:extLst>
      <p:ext uri="{BB962C8B-B14F-4D97-AF65-F5344CB8AC3E}">
        <p14:creationId xmlns:p14="http://schemas.microsoft.com/office/powerpoint/2010/main" val="3228527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7620000" cy="720080"/>
          </a:xfrm>
        </p:spPr>
        <p:txBody>
          <a:bodyPr/>
          <a:lstStyle/>
          <a:p>
            <a:pPr algn="ctr"/>
            <a:r>
              <a:rPr lang="en-GB" sz="3200" b="1" dirty="0"/>
              <a:t>RESPIRATION</a:t>
            </a:r>
          </a:p>
        </p:txBody>
      </p:sp>
      <p:sp>
        <p:nvSpPr>
          <p:cNvPr id="3" name="Content Placeholder 2"/>
          <p:cNvSpPr>
            <a:spLocks noGrp="1"/>
          </p:cNvSpPr>
          <p:nvPr>
            <p:ph idx="1"/>
          </p:nvPr>
        </p:nvSpPr>
        <p:spPr>
          <a:xfrm>
            <a:off x="457200" y="1124744"/>
            <a:ext cx="7931224" cy="5616624"/>
          </a:xfrm>
        </p:spPr>
        <p:txBody>
          <a:bodyPr>
            <a:normAutofit/>
          </a:bodyPr>
          <a:lstStyle/>
          <a:p>
            <a:r>
              <a:rPr lang="en-GB" sz="3600" dirty="0">
                <a:latin typeface="Times New Roman" pitchFamily="18" charset="0"/>
                <a:cs typeface="Times New Roman" pitchFamily="18" charset="0"/>
              </a:rPr>
              <a:t>At the onset of imbibition, respiration of germinating seeds increases and presumably in parallel with cell division and growth of the embryo.</a:t>
            </a:r>
          </a:p>
          <a:p>
            <a:r>
              <a:rPr lang="en-GB" sz="3600" dirty="0">
                <a:latin typeface="Times New Roman" pitchFamily="18" charset="0"/>
                <a:cs typeface="Times New Roman" pitchFamily="18" charset="0"/>
              </a:rPr>
              <a:t>In barley endosperm, and maybe in all cereal endosperms, respiration reaches maximum a few hours after imbibition and then remains constant until the tissues begin to die.</a:t>
            </a:r>
          </a:p>
        </p:txBody>
      </p:sp>
    </p:spTree>
    <p:extLst>
      <p:ext uri="{BB962C8B-B14F-4D97-AF65-F5344CB8AC3E}">
        <p14:creationId xmlns:p14="http://schemas.microsoft.com/office/powerpoint/2010/main" val="263309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620000" cy="936104"/>
          </a:xfrm>
        </p:spPr>
        <p:txBody>
          <a:bodyPr/>
          <a:lstStyle/>
          <a:p>
            <a:pPr algn="ctr"/>
            <a:r>
              <a:rPr lang="en-GB" sz="3200" b="1" dirty="0"/>
              <a:t>PLANT HORMONES/GROWTH REGULATORS</a:t>
            </a:r>
          </a:p>
        </p:txBody>
      </p:sp>
      <p:sp>
        <p:nvSpPr>
          <p:cNvPr id="3" name="Content Placeholder 2"/>
          <p:cNvSpPr>
            <a:spLocks noGrp="1"/>
          </p:cNvSpPr>
          <p:nvPr>
            <p:ph idx="1"/>
          </p:nvPr>
        </p:nvSpPr>
        <p:spPr>
          <a:xfrm>
            <a:off x="457200" y="1196752"/>
            <a:ext cx="7620000" cy="5544616"/>
          </a:xfrm>
        </p:spPr>
        <p:txBody>
          <a:bodyPr>
            <a:normAutofit fontScale="92500"/>
          </a:bodyPr>
          <a:lstStyle/>
          <a:p>
            <a:r>
              <a:rPr lang="en-GB" sz="3600" dirty="0">
                <a:latin typeface="Times New Roman" pitchFamily="18" charset="0"/>
                <a:cs typeface="Times New Roman" pitchFamily="18" charset="0"/>
              </a:rPr>
              <a:t>A </a:t>
            </a:r>
            <a:r>
              <a:rPr lang="en-GB" sz="3600" b="1" i="1" dirty="0">
                <a:latin typeface="Times New Roman" pitchFamily="18" charset="0"/>
                <a:cs typeface="Times New Roman" pitchFamily="18" charset="0"/>
              </a:rPr>
              <a:t>Plant Hormone</a:t>
            </a:r>
            <a:r>
              <a:rPr lang="en-GB" sz="3600" dirty="0">
                <a:latin typeface="Times New Roman" pitchFamily="18" charset="0"/>
                <a:cs typeface="Times New Roman" pitchFamily="18" charset="0"/>
              </a:rPr>
              <a:t> is an organic compound synthesized in one part of the plant and translocated to another part where in minute concentrations, it causes/induces a physiological response.</a:t>
            </a:r>
          </a:p>
          <a:p>
            <a:r>
              <a:rPr lang="en-GB" sz="3600" dirty="0">
                <a:latin typeface="Times New Roman" pitchFamily="18" charset="0"/>
                <a:cs typeface="Times New Roman" pitchFamily="18" charset="0"/>
              </a:rPr>
              <a:t>The response in the target organ need not  be promotive because processes such as  growth and differentiation are inhibited by certain hormones especially abscisic acid</a:t>
            </a:r>
          </a:p>
        </p:txBody>
      </p:sp>
    </p:spTree>
    <p:extLst>
      <p:ext uri="{BB962C8B-B14F-4D97-AF65-F5344CB8AC3E}">
        <p14:creationId xmlns:p14="http://schemas.microsoft.com/office/powerpoint/2010/main" val="2754706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590972-03C4-47F5-BB9A-341BDE394F62}"/>
              </a:ext>
            </a:extLst>
          </p:cNvPr>
          <p:cNvSpPr txBox="1"/>
          <p:nvPr/>
        </p:nvSpPr>
        <p:spPr>
          <a:xfrm>
            <a:off x="395536" y="764704"/>
            <a:ext cx="7992888" cy="6186309"/>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Because hormones must be synthesized by a plant,  inorganic ions such as K</a:t>
            </a:r>
            <a:r>
              <a:rPr lang="en-GB" sz="3600" baseline="30000" dirty="0">
                <a:latin typeface="Times New Roman" pitchFamily="18" charset="0"/>
                <a:cs typeface="Times New Roman" pitchFamily="18" charset="0"/>
              </a:rPr>
              <a:t>+</a:t>
            </a:r>
            <a:r>
              <a:rPr lang="en-GB" sz="3600" dirty="0">
                <a:latin typeface="Times New Roman" pitchFamily="18" charset="0"/>
                <a:cs typeface="Times New Roman" pitchFamily="18" charset="0"/>
              </a:rPr>
              <a:t> and Ca</a:t>
            </a:r>
            <a:r>
              <a:rPr lang="en-GB" sz="3600" baseline="30000" dirty="0">
                <a:latin typeface="Times New Roman" pitchFamily="18" charset="0"/>
                <a:cs typeface="Times New Roman" pitchFamily="18" charset="0"/>
              </a:rPr>
              <a:t>2+ </a:t>
            </a:r>
            <a:r>
              <a:rPr lang="en-GB" sz="3600" dirty="0">
                <a:latin typeface="Times New Roman" pitchFamily="18" charset="0"/>
                <a:cs typeface="Times New Roman" pitchFamily="18" charset="0"/>
              </a:rPr>
              <a:t>that cause important responses are not hormones.</a:t>
            </a:r>
          </a:p>
          <a:p>
            <a:pPr marL="571500" indent="-571500">
              <a:buFont typeface="Arial" panose="020B0604020202020204" pitchFamily="34" charset="0"/>
              <a:buChar char="•"/>
            </a:pPr>
            <a:r>
              <a:rPr lang="en-GB" sz="3600" dirty="0">
                <a:latin typeface="Times New Roman" pitchFamily="18" charset="0"/>
                <a:cs typeface="Times New Roman" pitchFamily="18" charset="0"/>
              </a:rPr>
              <a:t>Again organic growth regulators synthesized by organic chemists e.g. 2,4-D (2,4-Dichlorophenoxy acetic acid) is also not considered as a hormone.</a:t>
            </a:r>
          </a:p>
          <a:p>
            <a:endParaRPr lang="en-GB" sz="3600" dirty="0">
              <a:latin typeface="Times New Roman" pitchFamily="18" charset="0"/>
              <a:cs typeface="Times New Roman" pitchFamily="18" charset="0"/>
            </a:endParaRP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3882266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7620000" cy="432048"/>
          </a:xfrm>
        </p:spPr>
        <p:txBody>
          <a:bodyPr/>
          <a:lstStyle/>
          <a:p>
            <a:pPr algn="ctr"/>
            <a:r>
              <a:rPr lang="en-GB" sz="3200" dirty="0"/>
              <a:t>PLANT</a:t>
            </a:r>
            <a:r>
              <a:rPr lang="en-GB" sz="3200" b="1" dirty="0"/>
              <a:t> </a:t>
            </a:r>
            <a:r>
              <a:rPr lang="en-GB" sz="3200" dirty="0"/>
              <a:t>HORMONES </a:t>
            </a:r>
            <a:r>
              <a:rPr lang="en-GB" sz="3200" i="1" dirty="0"/>
              <a:t>contd.</a:t>
            </a:r>
          </a:p>
        </p:txBody>
      </p:sp>
      <p:sp>
        <p:nvSpPr>
          <p:cNvPr id="3" name="Content Placeholder 2"/>
          <p:cNvSpPr>
            <a:spLocks noGrp="1"/>
          </p:cNvSpPr>
          <p:nvPr>
            <p:ph idx="1"/>
          </p:nvPr>
        </p:nvSpPr>
        <p:spPr>
          <a:xfrm>
            <a:off x="457200" y="764704"/>
            <a:ext cx="7620000" cy="5976664"/>
          </a:xfrm>
        </p:spPr>
        <p:txBody>
          <a:bodyPr>
            <a:normAutofit/>
          </a:bodyPr>
          <a:lstStyle/>
          <a:p>
            <a:r>
              <a:rPr lang="en-GB" sz="3600" dirty="0">
                <a:latin typeface="Times New Roman" pitchFamily="18" charset="0"/>
                <a:cs typeface="Times New Roman" pitchFamily="18" charset="0"/>
              </a:rPr>
              <a:t>Any other compound which also induces a response in plants but is not synthesized by the plants is not considered a hormone.</a:t>
            </a:r>
          </a:p>
          <a:p>
            <a:r>
              <a:rPr lang="en-GB" sz="3600" dirty="0">
                <a:latin typeface="Times New Roman" pitchFamily="18" charset="0"/>
                <a:cs typeface="Times New Roman" pitchFamily="18" charset="0"/>
              </a:rPr>
              <a:t>The definition also states that a hormone must be translocated in the plant.</a:t>
            </a:r>
          </a:p>
          <a:p>
            <a:r>
              <a:rPr lang="en-GB" sz="3600" dirty="0">
                <a:latin typeface="Times New Roman" pitchFamily="18" charset="0"/>
                <a:cs typeface="Times New Roman" pitchFamily="18" charset="0"/>
              </a:rPr>
              <a:t>However, nothing is said about how far it should be translocated.</a:t>
            </a:r>
          </a:p>
        </p:txBody>
      </p:sp>
    </p:spTree>
    <p:extLst>
      <p:ext uri="{BB962C8B-B14F-4D97-AF65-F5344CB8AC3E}">
        <p14:creationId xmlns:p14="http://schemas.microsoft.com/office/powerpoint/2010/main" val="2754706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346050"/>
          </a:xfrm>
        </p:spPr>
        <p:txBody>
          <a:bodyPr/>
          <a:lstStyle/>
          <a:p>
            <a:pPr algn="ctr"/>
            <a:r>
              <a:rPr lang="en-GB" sz="3200" dirty="0"/>
              <a:t>PLANT</a:t>
            </a:r>
            <a:r>
              <a:rPr lang="en-GB" sz="3200" b="1" dirty="0"/>
              <a:t> </a:t>
            </a:r>
            <a:r>
              <a:rPr lang="en-GB" sz="3200" dirty="0"/>
              <a:t>HORMONES </a:t>
            </a:r>
            <a:r>
              <a:rPr lang="en-GB" sz="3200" i="1" dirty="0"/>
              <a:t>contd.</a:t>
            </a:r>
            <a:endParaRPr lang="en-GB" sz="3200" dirty="0"/>
          </a:p>
        </p:txBody>
      </p:sp>
      <p:sp>
        <p:nvSpPr>
          <p:cNvPr id="3" name="Content Placeholder 2"/>
          <p:cNvSpPr>
            <a:spLocks noGrp="1"/>
          </p:cNvSpPr>
          <p:nvPr>
            <p:ph idx="1"/>
          </p:nvPr>
        </p:nvSpPr>
        <p:spPr>
          <a:xfrm>
            <a:off x="457200" y="620688"/>
            <a:ext cx="7620000" cy="6120680"/>
          </a:xfrm>
        </p:spPr>
        <p:txBody>
          <a:bodyPr>
            <a:normAutofit fontScale="92500"/>
          </a:bodyPr>
          <a:lstStyle/>
          <a:p>
            <a:r>
              <a:rPr lang="en-GB" sz="3600" dirty="0">
                <a:latin typeface="Times New Roman" pitchFamily="18" charset="0"/>
                <a:cs typeface="Times New Roman" pitchFamily="18" charset="0"/>
              </a:rPr>
              <a:t>Sucrose, even though synthesized by plants and induces response is not considered a hormone (because it induces response in very high concentrations)</a:t>
            </a:r>
          </a:p>
          <a:p>
            <a:r>
              <a:rPr lang="en-GB" sz="3600" dirty="0">
                <a:latin typeface="Times New Roman" pitchFamily="18" charset="0"/>
                <a:cs typeface="Times New Roman" pitchFamily="18" charset="0"/>
              </a:rPr>
              <a:t>Again hormones are usually effective at very minute internal concentrations whereas sugars, amino acids and other metabolites necessary for growth and development excluding enzymes and coenzymes are present usually in higher concentration.</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2754706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D7508-1146-4611-B4E5-5705DA0441D5}"/>
              </a:ext>
            </a:extLst>
          </p:cNvPr>
          <p:cNvSpPr txBox="1"/>
          <p:nvPr/>
        </p:nvSpPr>
        <p:spPr>
          <a:xfrm>
            <a:off x="539552" y="548680"/>
            <a:ext cx="7776864" cy="563231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It is not all cells that are exposed to hormones that can respond to the presence of hormones.</a:t>
            </a:r>
          </a:p>
          <a:p>
            <a:pPr marL="571500" indent="-571500">
              <a:buFont typeface="Arial" panose="020B0604020202020204" pitchFamily="34" charset="0"/>
              <a:buChar char="•"/>
            </a:pPr>
            <a:r>
              <a:rPr lang="en-GB" sz="3600" dirty="0">
                <a:latin typeface="Times New Roman" pitchFamily="18" charset="0"/>
                <a:cs typeface="Times New Roman" pitchFamily="18" charset="0"/>
              </a:rPr>
              <a:t>The response is done only by target cells which contain receptor proteins.</a:t>
            </a:r>
          </a:p>
          <a:p>
            <a:pPr marL="571500" indent="-571500">
              <a:buFont typeface="Arial" panose="020B0604020202020204" pitchFamily="34" charset="0"/>
              <a:buChar char="•"/>
            </a:pPr>
            <a:r>
              <a:rPr lang="en-GB" sz="3600" dirty="0">
                <a:latin typeface="Times New Roman" pitchFamily="18" charset="0"/>
                <a:cs typeface="Times New Roman" pitchFamily="18" charset="0"/>
              </a:rPr>
              <a:t>It is now known that many, but not all, plant hormones have effects at sites distance from their place of production.</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3298089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pPr algn="ctr"/>
            <a:r>
              <a:rPr lang="en-GB" sz="4000" dirty="0"/>
              <a:t>PLANT</a:t>
            </a:r>
            <a:r>
              <a:rPr lang="en-GB" sz="4000" b="1" dirty="0"/>
              <a:t> </a:t>
            </a:r>
            <a:r>
              <a:rPr lang="en-GB" sz="4000" dirty="0"/>
              <a:t>HORMONES </a:t>
            </a:r>
            <a:r>
              <a:rPr lang="en-GB" sz="4000" i="1" dirty="0"/>
              <a:t>contd.</a:t>
            </a:r>
            <a:endParaRPr lang="en-GB" sz="4000" dirty="0"/>
          </a:p>
        </p:txBody>
      </p:sp>
      <p:sp>
        <p:nvSpPr>
          <p:cNvPr id="3" name="Content Placeholder 2"/>
          <p:cNvSpPr>
            <a:spLocks noGrp="1"/>
          </p:cNvSpPr>
          <p:nvPr>
            <p:ph idx="1"/>
          </p:nvPr>
        </p:nvSpPr>
        <p:spPr>
          <a:xfrm>
            <a:off x="457200" y="908720"/>
            <a:ext cx="7846368" cy="5832648"/>
          </a:xfrm>
        </p:spPr>
        <p:txBody>
          <a:bodyPr>
            <a:normAutofit/>
          </a:bodyPr>
          <a:lstStyle/>
          <a:p>
            <a:r>
              <a:rPr lang="en-GB" sz="3600" dirty="0">
                <a:latin typeface="Times New Roman" pitchFamily="18" charset="0"/>
                <a:cs typeface="Times New Roman" pitchFamily="18" charset="0"/>
              </a:rPr>
              <a:t>It is not always easy to distinguish between the site of hormone synthesis and the place of action.</a:t>
            </a:r>
          </a:p>
          <a:p>
            <a:r>
              <a:rPr lang="en-GB" sz="3600" dirty="0">
                <a:latin typeface="Times New Roman" pitchFamily="18" charset="0"/>
                <a:cs typeface="Times New Roman" pitchFamily="18" charset="0"/>
              </a:rPr>
              <a:t>A number of organic compounds are known to induce effects which are similar and often identical with those induced by naturally occurring hormones e.g. NAA (Naphthalene Acetic Acid) to IAA (Indole Acetic Acid)</a:t>
            </a:r>
          </a:p>
        </p:txBody>
      </p:sp>
    </p:spTree>
    <p:extLst>
      <p:ext uri="{BB962C8B-B14F-4D97-AF65-F5344CB8AC3E}">
        <p14:creationId xmlns:p14="http://schemas.microsoft.com/office/powerpoint/2010/main" val="2754706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202034"/>
          </a:xfrm>
        </p:spPr>
        <p:txBody>
          <a:bodyPr/>
          <a:lstStyle/>
          <a:p>
            <a:pPr algn="ctr"/>
            <a:r>
              <a:rPr lang="en-GB" sz="3200" dirty="0"/>
              <a:t>PLANT</a:t>
            </a:r>
            <a:r>
              <a:rPr lang="en-GB" sz="3200" b="1" dirty="0"/>
              <a:t> </a:t>
            </a:r>
            <a:r>
              <a:rPr lang="en-GB" sz="3200" dirty="0"/>
              <a:t>HORMONES </a:t>
            </a:r>
            <a:r>
              <a:rPr lang="en-GB" sz="3200" i="1" dirty="0"/>
              <a:t>contd.</a:t>
            </a:r>
            <a:endParaRPr lang="en-GB" sz="3200" dirty="0"/>
          </a:p>
        </p:txBody>
      </p:sp>
      <p:sp>
        <p:nvSpPr>
          <p:cNvPr id="3" name="Content Placeholder 2"/>
          <p:cNvSpPr>
            <a:spLocks noGrp="1"/>
          </p:cNvSpPr>
          <p:nvPr>
            <p:ph idx="1"/>
          </p:nvPr>
        </p:nvSpPr>
        <p:spPr>
          <a:xfrm>
            <a:off x="457200" y="692696"/>
            <a:ext cx="7620000" cy="6048672"/>
          </a:xfrm>
        </p:spPr>
        <p:txBody>
          <a:bodyPr>
            <a:normAutofit lnSpcReduction="10000"/>
          </a:bodyPr>
          <a:lstStyle/>
          <a:p>
            <a:r>
              <a:rPr lang="en-GB" sz="3600" dirty="0">
                <a:latin typeface="Times New Roman" pitchFamily="18" charset="0"/>
                <a:cs typeface="Times New Roman" pitchFamily="18" charset="0"/>
              </a:rPr>
              <a:t>Presently, </a:t>
            </a:r>
            <a:r>
              <a:rPr lang="en-GB" sz="3600" b="1" dirty="0">
                <a:latin typeface="Times New Roman" pitchFamily="18" charset="0"/>
                <a:cs typeface="Times New Roman" pitchFamily="18" charset="0"/>
              </a:rPr>
              <a:t>a more inclusive definition </a:t>
            </a:r>
            <a:r>
              <a:rPr lang="en-GB" sz="3600" dirty="0">
                <a:latin typeface="Times New Roman" pitchFamily="18" charset="0"/>
                <a:cs typeface="Times New Roman" pitchFamily="18" charset="0"/>
              </a:rPr>
              <a:t>has been used.</a:t>
            </a:r>
          </a:p>
          <a:p>
            <a:r>
              <a:rPr lang="en-GB" sz="3600" dirty="0">
                <a:latin typeface="Times New Roman" pitchFamily="18" charset="0"/>
                <a:cs typeface="Times New Roman" pitchFamily="18" charset="0"/>
              </a:rPr>
              <a:t>This states that: hormones are organic compounds which regulate a plant’s physiological process regardless of whether they are naturally occurring, synthetic or whether they are stimulating, inhibiting or whether they cause a  response at a site of production or a distance away from the  site of production.</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2754706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C9B82E-5533-4F86-B645-5686E7F0298E}"/>
              </a:ext>
            </a:extLst>
          </p:cNvPr>
          <p:cNvSpPr txBox="1"/>
          <p:nvPr/>
        </p:nvSpPr>
        <p:spPr>
          <a:xfrm>
            <a:off x="395536" y="476672"/>
            <a:ext cx="7992888" cy="6186309"/>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There are five well known accepted plant hormones and these include GA, Auxins, </a:t>
            </a:r>
            <a:r>
              <a:rPr lang="en-GB" sz="3600" dirty="0" err="1">
                <a:latin typeface="Times New Roman" pitchFamily="18" charset="0"/>
                <a:cs typeface="Times New Roman" pitchFamily="18" charset="0"/>
              </a:rPr>
              <a:t>Cytokinins</a:t>
            </a:r>
            <a:r>
              <a:rPr lang="en-GB" sz="3600" dirty="0">
                <a:latin typeface="Times New Roman" pitchFamily="18" charset="0"/>
                <a:cs typeface="Times New Roman" pitchFamily="18" charset="0"/>
              </a:rPr>
              <a:t>, Ethylene and Abscisic acid.</a:t>
            </a:r>
          </a:p>
          <a:p>
            <a:pPr marL="571500" indent="-571500">
              <a:buFont typeface="Arial" panose="020B0604020202020204" pitchFamily="34" charset="0"/>
              <a:buChar char="•"/>
            </a:pPr>
            <a:r>
              <a:rPr lang="en-GB" sz="3600" dirty="0">
                <a:latin typeface="Times New Roman" pitchFamily="18" charset="0"/>
                <a:cs typeface="Times New Roman" pitchFamily="18" charset="0"/>
              </a:rPr>
              <a:t>The concentrations of plant hormones are invariably very low and this is responsible to a large extent in their late discovery </a:t>
            </a:r>
          </a:p>
          <a:p>
            <a:pPr marL="571500" indent="-571500">
              <a:buFont typeface="Wingdings" panose="05000000000000000000" pitchFamily="2" charset="2"/>
              <a:buChar char="ü"/>
            </a:pPr>
            <a:r>
              <a:rPr lang="en-GB" sz="3600" dirty="0">
                <a:latin typeface="Times New Roman" pitchFamily="18" charset="0"/>
                <a:cs typeface="Times New Roman" pitchFamily="18" charset="0"/>
              </a:rPr>
              <a:t>e.g. the first hormone IAA was discovered (1920-1930)</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2728417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418058"/>
          </a:xfrm>
        </p:spPr>
        <p:txBody>
          <a:bodyPr/>
          <a:lstStyle/>
          <a:p>
            <a:pPr algn="ctr"/>
            <a:r>
              <a:rPr lang="en-GB" sz="3200" dirty="0"/>
              <a:t>PLANT</a:t>
            </a:r>
            <a:r>
              <a:rPr lang="en-GB" sz="3200" b="1" dirty="0"/>
              <a:t> </a:t>
            </a:r>
            <a:r>
              <a:rPr lang="en-GB" sz="3200" dirty="0"/>
              <a:t>HORMONES </a:t>
            </a:r>
            <a:r>
              <a:rPr lang="en-GB" sz="3200" i="1" dirty="0"/>
              <a:t>contd.</a:t>
            </a:r>
            <a:endParaRPr lang="en-GB" sz="3200" dirty="0"/>
          </a:p>
        </p:txBody>
      </p:sp>
      <p:sp>
        <p:nvSpPr>
          <p:cNvPr id="3" name="Content Placeholder 2"/>
          <p:cNvSpPr>
            <a:spLocks noGrp="1"/>
          </p:cNvSpPr>
          <p:nvPr>
            <p:ph idx="1"/>
          </p:nvPr>
        </p:nvSpPr>
        <p:spPr>
          <a:xfrm>
            <a:off x="457200" y="692696"/>
            <a:ext cx="7620000" cy="6048672"/>
          </a:xfrm>
        </p:spPr>
        <p:txBody>
          <a:bodyPr>
            <a:normAutofit/>
          </a:bodyPr>
          <a:lstStyle/>
          <a:p>
            <a:r>
              <a:rPr lang="en-GB" sz="3600" dirty="0">
                <a:latin typeface="Times New Roman" pitchFamily="18" charset="0"/>
                <a:cs typeface="Times New Roman" pitchFamily="18" charset="0"/>
              </a:rPr>
              <a:t>IAA evokes many plant responses and so it is considered by many as the only plant hormone until the numerous effects of GA was discovered later.</a:t>
            </a:r>
          </a:p>
          <a:p>
            <a:r>
              <a:rPr lang="en-GB" sz="3600" dirty="0">
                <a:latin typeface="Times New Roman" pitchFamily="18" charset="0"/>
                <a:cs typeface="Times New Roman" pitchFamily="18" charset="0"/>
              </a:rPr>
              <a:t>As more hormones were identified and their effects and endogenous concentrations studied, it became clear that not only does each hormone affect the responses of many plant parts but</a:t>
            </a:r>
          </a:p>
        </p:txBody>
      </p:sp>
    </p:spTree>
    <p:extLst>
      <p:ext uri="{BB962C8B-B14F-4D97-AF65-F5344CB8AC3E}">
        <p14:creationId xmlns:p14="http://schemas.microsoft.com/office/powerpoint/2010/main" val="3323576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B9BFC-7A71-46B1-A6C7-551E54F17E27}"/>
              </a:ext>
            </a:extLst>
          </p:cNvPr>
          <p:cNvSpPr txBox="1"/>
          <p:nvPr/>
        </p:nvSpPr>
        <p:spPr>
          <a:xfrm>
            <a:off x="251520" y="1340768"/>
            <a:ext cx="8136904" cy="2862322"/>
          </a:xfrm>
          <a:prstGeom prst="rect">
            <a:avLst/>
          </a:prstGeom>
          <a:noFill/>
        </p:spPr>
        <p:txBody>
          <a:bodyPr wrap="square">
            <a:spAutoFit/>
          </a:bodyPr>
          <a:lstStyle/>
          <a:p>
            <a:pPr marL="571500" indent="-571500">
              <a:buFont typeface="Wingdings" panose="05000000000000000000" pitchFamily="2" charset="2"/>
              <a:buChar char="ü"/>
            </a:pPr>
            <a:r>
              <a:rPr lang="en-GB" sz="3600" dirty="0">
                <a:latin typeface="Times New Roman" pitchFamily="18" charset="0"/>
                <a:cs typeface="Times New Roman" pitchFamily="18" charset="0"/>
              </a:rPr>
              <a:t>these responses depend on the concentrations and interaction of various other known hormones and possibly unknown ones which are yet to be discovered.</a:t>
            </a:r>
          </a:p>
        </p:txBody>
      </p:sp>
    </p:spTree>
    <p:extLst>
      <p:ext uri="{BB962C8B-B14F-4D97-AF65-F5344CB8AC3E}">
        <p14:creationId xmlns:p14="http://schemas.microsoft.com/office/powerpoint/2010/main" val="2552039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202034"/>
          </a:xfrm>
        </p:spPr>
        <p:txBody>
          <a:bodyPr/>
          <a:lstStyle/>
          <a:p>
            <a:pPr algn="ctr"/>
            <a:r>
              <a:rPr lang="en-GB" sz="3200" dirty="0"/>
              <a:t>PLANT</a:t>
            </a:r>
            <a:r>
              <a:rPr lang="en-GB" sz="3200" b="1" dirty="0"/>
              <a:t> </a:t>
            </a:r>
            <a:r>
              <a:rPr lang="en-GB" sz="3200" dirty="0"/>
              <a:t>HORMONES </a:t>
            </a:r>
            <a:r>
              <a:rPr lang="en-GB" sz="3200" i="1" dirty="0"/>
              <a:t>contd</a:t>
            </a:r>
            <a:r>
              <a:rPr lang="en-GB" sz="4000" i="1" dirty="0"/>
              <a:t>.</a:t>
            </a:r>
            <a:endParaRPr lang="en-GB" sz="4000" dirty="0"/>
          </a:p>
        </p:txBody>
      </p:sp>
      <p:sp>
        <p:nvSpPr>
          <p:cNvPr id="3" name="Content Placeholder 2"/>
          <p:cNvSpPr>
            <a:spLocks noGrp="1"/>
          </p:cNvSpPr>
          <p:nvPr>
            <p:ph idx="1"/>
          </p:nvPr>
        </p:nvSpPr>
        <p:spPr>
          <a:xfrm>
            <a:off x="457200" y="620688"/>
            <a:ext cx="7620000" cy="6120680"/>
          </a:xfrm>
        </p:spPr>
        <p:txBody>
          <a:bodyPr>
            <a:noAutofit/>
          </a:bodyPr>
          <a:lstStyle/>
          <a:p>
            <a:pPr algn="ctr"/>
            <a:r>
              <a:rPr lang="en-GB" sz="3200" b="1" u="sng" dirty="0">
                <a:latin typeface="Times New Roman" pitchFamily="18" charset="0"/>
                <a:cs typeface="Times New Roman" pitchFamily="18" charset="0"/>
              </a:rPr>
              <a:t>AUXINS</a:t>
            </a:r>
          </a:p>
          <a:p>
            <a:r>
              <a:rPr lang="en-GB" sz="3600" dirty="0">
                <a:latin typeface="Times New Roman" pitchFamily="18" charset="0"/>
                <a:cs typeface="Times New Roman" pitchFamily="18" charset="0"/>
              </a:rPr>
              <a:t>They were the first hormones to be discovered.</a:t>
            </a:r>
          </a:p>
          <a:p>
            <a:r>
              <a:rPr lang="en-GB" sz="3600" dirty="0">
                <a:latin typeface="Times New Roman" pitchFamily="18" charset="0"/>
                <a:cs typeface="Times New Roman" pitchFamily="18" charset="0"/>
              </a:rPr>
              <a:t>The first person to use this term </a:t>
            </a:r>
            <a:r>
              <a:rPr lang="en-GB" sz="3600" b="1" dirty="0">
                <a:latin typeface="Times New Roman" pitchFamily="18" charset="0"/>
                <a:cs typeface="Times New Roman" pitchFamily="18" charset="0"/>
              </a:rPr>
              <a:t>auxin</a:t>
            </a:r>
            <a:r>
              <a:rPr lang="en-GB" sz="3600" dirty="0">
                <a:latin typeface="Times New Roman" pitchFamily="18" charset="0"/>
                <a:cs typeface="Times New Roman" pitchFamily="18" charset="0"/>
              </a:rPr>
              <a:t> was </a:t>
            </a:r>
            <a:r>
              <a:rPr lang="en-GB" sz="3600" b="1" dirty="0">
                <a:latin typeface="Times New Roman" pitchFamily="18" charset="0"/>
                <a:cs typeface="Times New Roman" pitchFamily="18" charset="0"/>
              </a:rPr>
              <a:t>Frits Went.</a:t>
            </a:r>
          </a:p>
          <a:p>
            <a:r>
              <a:rPr lang="en-GB" sz="3600" dirty="0">
                <a:latin typeface="Times New Roman" pitchFamily="18" charset="0"/>
                <a:cs typeface="Times New Roman" pitchFamily="18" charset="0"/>
              </a:rPr>
              <a:t>Frits </a:t>
            </a:r>
            <a:r>
              <a:rPr lang="en-GB" sz="3600" dirty="0" err="1">
                <a:latin typeface="Times New Roman" pitchFamily="18" charset="0"/>
                <a:cs typeface="Times New Roman" pitchFamily="18" charset="0"/>
              </a:rPr>
              <a:t>Went’s</a:t>
            </a:r>
            <a:r>
              <a:rPr lang="en-GB" sz="3600" dirty="0">
                <a:latin typeface="Times New Roman" pitchFamily="18" charset="0"/>
                <a:cs typeface="Times New Roman" pitchFamily="18" charset="0"/>
              </a:rPr>
              <a:t> auxin is now known to be </a:t>
            </a:r>
            <a:r>
              <a:rPr lang="en-GB" sz="3600" b="1" dirty="0">
                <a:latin typeface="Times New Roman" pitchFamily="18" charset="0"/>
                <a:cs typeface="Times New Roman" pitchFamily="18" charset="0"/>
              </a:rPr>
              <a:t>Indole-3-acetic acid</a:t>
            </a:r>
            <a:r>
              <a:rPr lang="en-GB" sz="3600" dirty="0">
                <a:latin typeface="Times New Roman" pitchFamily="18" charset="0"/>
                <a:cs typeface="Times New Roman" pitchFamily="18" charset="0"/>
              </a:rPr>
              <a:t> </a:t>
            </a:r>
            <a:r>
              <a:rPr lang="en-GB" sz="3200" dirty="0">
                <a:latin typeface="Times New Roman" pitchFamily="18" charset="0"/>
                <a:cs typeface="Times New Roman" pitchFamily="18" charset="0"/>
              </a:rPr>
              <a:t>(IAA) </a:t>
            </a:r>
            <a:r>
              <a:rPr lang="en-GB" sz="3600" dirty="0">
                <a:latin typeface="Times New Roman" pitchFamily="18" charset="0"/>
                <a:cs typeface="Times New Roman" pitchFamily="18" charset="0"/>
              </a:rPr>
              <a:t>and some experts believe that </a:t>
            </a:r>
            <a:r>
              <a:rPr lang="en-GB" sz="3200" dirty="0">
                <a:latin typeface="Times New Roman" pitchFamily="18" charset="0"/>
                <a:cs typeface="Times New Roman" pitchFamily="18" charset="0"/>
              </a:rPr>
              <a:t>IAA </a:t>
            </a:r>
            <a:r>
              <a:rPr lang="en-GB" sz="3600" dirty="0">
                <a:latin typeface="Times New Roman" pitchFamily="18" charset="0"/>
                <a:cs typeface="Times New Roman" pitchFamily="18" charset="0"/>
              </a:rPr>
              <a:t>represents the only true auxin hormone.</a:t>
            </a:r>
          </a:p>
        </p:txBody>
      </p:sp>
    </p:spTree>
    <p:extLst>
      <p:ext uri="{BB962C8B-B14F-4D97-AF65-F5344CB8AC3E}">
        <p14:creationId xmlns:p14="http://schemas.microsoft.com/office/powerpoint/2010/main" val="3323576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202034"/>
          </a:xfrm>
        </p:spPr>
        <p:txBody>
          <a:bodyPr/>
          <a:lstStyle/>
          <a:p>
            <a:pPr algn="ctr"/>
            <a:r>
              <a:rPr lang="en-GB" sz="3200" dirty="0"/>
              <a:t>AUXIN </a:t>
            </a:r>
            <a:r>
              <a:rPr lang="en-GB" sz="3200" i="1" dirty="0"/>
              <a:t>contd</a:t>
            </a:r>
            <a:r>
              <a:rPr lang="en-GB" sz="4000" i="1" dirty="0"/>
              <a:t>.</a:t>
            </a:r>
            <a:endParaRPr lang="en-GB" sz="4000" dirty="0"/>
          </a:p>
        </p:txBody>
      </p:sp>
      <p:sp>
        <p:nvSpPr>
          <p:cNvPr id="3" name="Content Placeholder 2"/>
          <p:cNvSpPr>
            <a:spLocks noGrp="1"/>
          </p:cNvSpPr>
          <p:nvPr>
            <p:ph idx="1"/>
          </p:nvPr>
        </p:nvSpPr>
        <p:spPr>
          <a:xfrm>
            <a:off x="457200" y="548680"/>
            <a:ext cx="7620000" cy="6213008"/>
          </a:xfrm>
        </p:spPr>
        <p:txBody>
          <a:bodyPr>
            <a:normAutofit/>
          </a:bodyPr>
          <a:lstStyle/>
          <a:p>
            <a:r>
              <a:rPr lang="en-GB" sz="3600" dirty="0">
                <a:latin typeface="Times New Roman" pitchFamily="18" charset="0"/>
                <a:cs typeface="Times New Roman" pitchFamily="18" charset="0"/>
              </a:rPr>
              <a:t>However, plants contains two other compounds that cause many of the responses as </a:t>
            </a:r>
            <a:r>
              <a:rPr lang="en-GB" sz="3200" dirty="0">
                <a:latin typeface="Times New Roman" pitchFamily="18" charset="0"/>
                <a:cs typeface="Times New Roman" pitchFamily="18" charset="0"/>
              </a:rPr>
              <a:t>IAA</a:t>
            </a:r>
            <a:r>
              <a:rPr lang="en-GB" sz="3600" dirty="0">
                <a:latin typeface="Times New Roman" pitchFamily="18" charset="0"/>
                <a:cs typeface="Times New Roman" pitchFamily="18" charset="0"/>
              </a:rPr>
              <a:t> and they are also considered to be auxins.</a:t>
            </a:r>
          </a:p>
          <a:p>
            <a:r>
              <a:rPr lang="en-GB" sz="3600" dirty="0">
                <a:latin typeface="Times New Roman" pitchFamily="18" charset="0"/>
                <a:cs typeface="Times New Roman" pitchFamily="18" charset="0"/>
              </a:rPr>
              <a:t>These compounds are </a:t>
            </a:r>
            <a:r>
              <a:rPr lang="en-GB" sz="3200" b="1" dirty="0">
                <a:latin typeface="Times New Roman" pitchFamily="18" charset="0"/>
                <a:cs typeface="Times New Roman" pitchFamily="18" charset="0"/>
              </a:rPr>
              <a:t>4-chloro IAA (4-Chloro Indole Acetic Acid).</a:t>
            </a:r>
          </a:p>
          <a:p>
            <a:r>
              <a:rPr lang="en-GB" sz="3600" dirty="0">
                <a:latin typeface="Times New Roman" pitchFamily="18" charset="0"/>
                <a:cs typeface="Times New Roman" pitchFamily="18" charset="0"/>
              </a:rPr>
              <a:t>4-chloro </a:t>
            </a:r>
            <a:r>
              <a:rPr lang="en-GB" sz="3200" dirty="0">
                <a:latin typeface="Times New Roman" pitchFamily="18" charset="0"/>
                <a:cs typeface="Times New Roman" pitchFamily="18" charset="0"/>
              </a:rPr>
              <a:t>IAA </a:t>
            </a:r>
            <a:r>
              <a:rPr lang="en-GB" sz="3600" dirty="0">
                <a:latin typeface="Times New Roman" pitchFamily="18" charset="0"/>
                <a:cs typeface="Times New Roman" pitchFamily="18" charset="0"/>
              </a:rPr>
              <a:t>is one of such compounds and is commonly found in young seeds of various plants.</a:t>
            </a:r>
          </a:p>
          <a:p>
            <a:r>
              <a:rPr lang="en-GB" sz="3600" dirty="0">
                <a:latin typeface="Times New Roman" pitchFamily="18" charset="0"/>
                <a:cs typeface="Times New Roman" pitchFamily="18" charset="0"/>
              </a:rPr>
              <a:t>The other is </a:t>
            </a:r>
            <a:r>
              <a:rPr lang="en-GB" sz="3200" b="1" dirty="0">
                <a:latin typeface="Times New Roman" pitchFamily="18" charset="0"/>
                <a:cs typeface="Times New Roman" pitchFamily="18" charset="0"/>
              </a:rPr>
              <a:t>PAA (Phenyl Acetic Acid).</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332357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60F08F-004E-4162-B64F-A40AD3FBE09F}"/>
              </a:ext>
            </a:extLst>
          </p:cNvPr>
          <p:cNvSpPr txBox="1"/>
          <p:nvPr/>
        </p:nvSpPr>
        <p:spPr>
          <a:xfrm>
            <a:off x="611560" y="1556792"/>
            <a:ext cx="7704856" cy="3693319"/>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These two are naturally occurring auxins.</a:t>
            </a:r>
          </a:p>
          <a:p>
            <a:pPr marL="571500" indent="-571500">
              <a:buFont typeface="Arial" panose="020B0604020202020204" pitchFamily="34" charset="0"/>
              <a:buChar char="•"/>
            </a:pPr>
            <a:r>
              <a:rPr lang="en-GB" sz="3200" dirty="0">
                <a:latin typeface="Times New Roman" pitchFamily="18" charset="0"/>
                <a:cs typeface="Times New Roman" pitchFamily="18" charset="0"/>
              </a:rPr>
              <a:t>PAA</a:t>
            </a:r>
            <a:r>
              <a:rPr lang="en-GB" sz="3600" dirty="0">
                <a:latin typeface="Times New Roman" pitchFamily="18" charset="0"/>
                <a:cs typeface="Times New Roman" pitchFamily="18" charset="0"/>
              </a:rPr>
              <a:t> is widespread among plants and is frequently more abundant than </a:t>
            </a:r>
            <a:r>
              <a:rPr lang="en-GB" sz="3200" dirty="0">
                <a:latin typeface="Times New Roman" pitchFamily="18" charset="0"/>
                <a:cs typeface="Times New Roman" pitchFamily="18" charset="0"/>
              </a:rPr>
              <a:t>IAA</a:t>
            </a:r>
            <a:r>
              <a:rPr lang="en-GB" sz="3600" dirty="0">
                <a:latin typeface="Times New Roman" pitchFamily="18" charset="0"/>
                <a:cs typeface="Times New Roman" pitchFamily="18" charset="0"/>
              </a:rPr>
              <a:t> although it is less active in causing the typical responses of </a:t>
            </a:r>
            <a:r>
              <a:rPr lang="en-GB" sz="3200" dirty="0">
                <a:latin typeface="Times New Roman" pitchFamily="18" charset="0"/>
                <a:cs typeface="Times New Roman" pitchFamily="18" charset="0"/>
              </a:rPr>
              <a:t>IAA</a:t>
            </a:r>
            <a:r>
              <a:rPr lang="en-GB" sz="3600" dirty="0">
                <a:latin typeface="Times New Roman" pitchFamily="18" charset="0"/>
                <a:cs typeface="Times New Roman" pitchFamily="18" charset="0"/>
              </a:rPr>
              <a:t>.</a:t>
            </a:r>
          </a:p>
          <a:p>
            <a:pPr marL="571500" indent="-571500">
              <a:buFont typeface="Arial" panose="020B0604020202020204" pitchFamily="34" charset="0"/>
              <a:buChar char="•"/>
            </a:pPr>
            <a:endParaRPr lang="en-GB" sz="1800" dirty="0">
              <a:latin typeface="Times New Roman" pitchFamily="18" charset="0"/>
              <a:cs typeface="Times New Roman" pitchFamily="18" charset="0"/>
            </a:endParaRPr>
          </a:p>
        </p:txBody>
      </p:sp>
    </p:spTree>
    <p:extLst>
      <p:ext uri="{BB962C8B-B14F-4D97-AF65-F5344CB8AC3E}">
        <p14:creationId xmlns:p14="http://schemas.microsoft.com/office/powerpoint/2010/main" val="1786888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7620000" cy="648072"/>
          </a:xfrm>
        </p:spPr>
        <p:txBody>
          <a:bodyPr/>
          <a:lstStyle/>
          <a:p>
            <a:pPr algn="ctr"/>
            <a:r>
              <a:rPr lang="en-GB" sz="3600" dirty="0"/>
              <a:t>AUXIN </a:t>
            </a:r>
            <a:r>
              <a:rPr lang="en-GB" sz="3600" i="1" dirty="0"/>
              <a:t>contd.</a:t>
            </a:r>
            <a:endParaRPr lang="en-GB" sz="3600" dirty="0"/>
          </a:p>
        </p:txBody>
      </p:sp>
      <p:sp>
        <p:nvSpPr>
          <p:cNvPr id="3" name="Content Placeholder 2"/>
          <p:cNvSpPr>
            <a:spLocks noGrp="1"/>
          </p:cNvSpPr>
          <p:nvPr>
            <p:ph idx="1"/>
          </p:nvPr>
        </p:nvSpPr>
        <p:spPr>
          <a:xfrm>
            <a:off x="683568" y="1268760"/>
            <a:ext cx="7393632" cy="5472608"/>
          </a:xfrm>
        </p:spPr>
        <p:txBody>
          <a:bodyPr>
            <a:noAutofit/>
          </a:bodyPr>
          <a:lstStyle/>
          <a:p>
            <a:r>
              <a:rPr lang="en-GB" sz="3600" dirty="0">
                <a:latin typeface="Times New Roman" pitchFamily="18" charset="0"/>
                <a:cs typeface="Times New Roman" pitchFamily="18" charset="0"/>
              </a:rPr>
              <a:t>Little is known, however, about the transport characteristics of 4-chloro IAA and PAA.</a:t>
            </a:r>
          </a:p>
          <a:p>
            <a:r>
              <a:rPr lang="en-GB" sz="3600" dirty="0">
                <a:latin typeface="Times New Roman" pitchFamily="18" charset="0"/>
                <a:cs typeface="Times New Roman" pitchFamily="18" charset="0"/>
              </a:rPr>
              <a:t>There are three (3) additional compounds found in plants which have considerable auxin activity.</a:t>
            </a:r>
          </a:p>
          <a:p>
            <a:r>
              <a:rPr lang="en-GB" sz="3600" dirty="0">
                <a:latin typeface="Times New Roman" pitchFamily="18" charset="0"/>
                <a:cs typeface="Times New Roman" pitchFamily="18" charset="0"/>
              </a:rPr>
              <a:t>They are readily oxidized to IAA </a:t>
            </a:r>
            <a:r>
              <a:rPr lang="en-GB" sz="3600" i="1" dirty="0">
                <a:latin typeface="Times New Roman" pitchFamily="18" charset="0"/>
                <a:cs typeface="Times New Roman" pitchFamily="18" charset="0"/>
              </a:rPr>
              <a:t>in vivo</a:t>
            </a:r>
            <a:r>
              <a:rPr lang="en-GB" sz="3600" dirty="0">
                <a:latin typeface="Times New Roman" pitchFamily="18" charset="0"/>
                <a:cs typeface="Times New Roman" pitchFamily="18" charset="0"/>
              </a:rPr>
              <a:t> and so they are probably active only after their conversion.</a:t>
            </a:r>
          </a:p>
        </p:txBody>
      </p:sp>
    </p:spTree>
    <p:extLst>
      <p:ext uri="{BB962C8B-B14F-4D97-AF65-F5344CB8AC3E}">
        <p14:creationId xmlns:p14="http://schemas.microsoft.com/office/powerpoint/2010/main" val="3323576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30026"/>
          </a:xfrm>
        </p:spPr>
        <p:txBody>
          <a:bodyPr/>
          <a:lstStyle/>
          <a:p>
            <a:pPr algn="ctr"/>
            <a:r>
              <a:rPr lang="en-GB" sz="3200" dirty="0"/>
              <a:t>AUXIN </a:t>
            </a:r>
            <a:r>
              <a:rPr lang="en-GB" sz="3200" i="1" dirty="0"/>
              <a:t>contd.</a:t>
            </a:r>
            <a:endParaRPr lang="en-GB" sz="3200" dirty="0"/>
          </a:p>
        </p:txBody>
      </p:sp>
      <p:sp>
        <p:nvSpPr>
          <p:cNvPr id="3" name="Content Placeholder 2"/>
          <p:cNvSpPr>
            <a:spLocks noGrp="1"/>
          </p:cNvSpPr>
          <p:nvPr>
            <p:ph idx="1"/>
          </p:nvPr>
        </p:nvSpPr>
        <p:spPr>
          <a:xfrm>
            <a:off x="251520" y="692696"/>
            <a:ext cx="8064896" cy="6048672"/>
          </a:xfrm>
        </p:spPr>
        <p:txBody>
          <a:bodyPr>
            <a:normAutofit lnSpcReduction="10000"/>
          </a:bodyPr>
          <a:lstStyle/>
          <a:p>
            <a:r>
              <a:rPr lang="en-GB" sz="3600" dirty="0">
                <a:latin typeface="Times New Roman" pitchFamily="18" charset="0"/>
                <a:cs typeface="Times New Roman" pitchFamily="18" charset="0"/>
              </a:rPr>
              <a:t>These three (3) compounds may be considered as auxin precursors and include:</a:t>
            </a:r>
          </a:p>
          <a:p>
            <a:pPr lvl="1">
              <a:buFont typeface="Wingdings" pitchFamily="2" charset="2"/>
              <a:buChar char="Ø"/>
            </a:pPr>
            <a:r>
              <a:rPr lang="en-GB" sz="3600" dirty="0">
                <a:latin typeface="Times New Roman" pitchFamily="18" charset="0"/>
                <a:cs typeface="Times New Roman" pitchFamily="18" charset="0"/>
              </a:rPr>
              <a:t>Indole ethanol</a:t>
            </a:r>
          </a:p>
          <a:p>
            <a:pPr lvl="1">
              <a:buFont typeface="Wingdings" pitchFamily="2" charset="2"/>
              <a:buChar char="Ø"/>
            </a:pPr>
            <a:r>
              <a:rPr lang="en-GB" sz="3600" dirty="0" err="1">
                <a:latin typeface="Times New Roman" pitchFamily="18" charset="0"/>
                <a:cs typeface="Times New Roman" pitchFamily="18" charset="0"/>
              </a:rPr>
              <a:t>Indole</a:t>
            </a:r>
            <a:r>
              <a:rPr lang="en-GB" sz="3600" dirty="0">
                <a:latin typeface="Times New Roman" pitchFamily="18" charset="0"/>
                <a:cs typeface="Times New Roman" pitchFamily="18" charset="0"/>
              </a:rPr>
              <a:t> </a:t>
            </a:r>
            <a:r>
              <a:rPr lang="en-GB" sz="3600" dirty="0" err="1">
                <a:latin typeface="Times New Roman" pitchFamily="18" charset="0"/>
                <a:cs typeface="Times New Roman" pitchFamily="18" charset="0"/>
              </a:rPr>
              <a:t>acetylaldehyde</a:t>
            </a:r>
            <a:endParaRPr lang="en-GB" sz="3600" dirty="0">
              <a:latin typeface="Times New Roman" pitchFamily="18" charset="0"/>
              <a:cs typeface="Times New Roman" pitchFamily="18" charset="0"/>
            </a:endParaRPr>
          </a:p>
          <a:p>
            <a:pPr lvl="1">
              <a:buFont typeface="Wingdings" pitchFamily="2" charset="2"/>
              <a:buChar char="Ø"/>
            </a:pPr>
            <a:r>
              <a:rPr lang="en-GB" sz="3600" dirty="0" err="1">
                <a:latin typeface="Times New Roman" pitchFamily="18" charset="0"/>
                <a:cs typeface="Times New Roman" pitchFamily="18" charset="0"/>
              </a:rPr>
              <a:t>Indoleacetonitrile</a:t>
            </a:r>
            <a:endParaRPr lang="en-GB" sz="3600" dirty="0">
              <a:latin typeface="Times New Roman" pitchFamily="18" charset="0"/>
              <a:cs typeface="Times New Roman" pitchFamily="18" charset="0"/>
            </a:endParaRPr>
          </a:p>
          <a:p>
            <a:r>
              <a:rPr lang="en-GB" sz="3600" dirty="0">
                <a:latin typeface="Times New Roman" pitchFamily="18" charset="0"/>
                <a:cs typeface="Times New Roman" pitchFamily="18" charset="0"/>
              </a:rPr>
              <a:t>Each has a structure similar to IAA but each of them lacks the carboxyl group.</a:t>
            </a:r>
          </a:p>
          <a:p>
            <a:r>
              <a:rPr lang="en-GB" sz="3600" dirty="0">
                <a:latin typeface="Times New Roman" pitchFamily="18" charset="0"/>
                <a:cs typeface="Times New Roman" pitchFamily="18" charset="0"/>
              </a:rPr>
              <a:t>They are readily oxidized to IAA by various enzymes present in plants</a:t>
            </a:r>
            <a:r>
              <a:rPr lang="en-GB" sz="2800" dirty="0">
                <a:latin typeface="Times New Roman" pitchFamily="18" charset="0"/>
                <a:cs typeface="Times New Roman" pitchFamily="18" charset="0"/>
              </a:rPr>
              <a:t>.</a:t>
            </a:r>
          </a:p>
        </p:txBody>
      </p:sp>
    </p:spTree>
    <p:extLst>
      <p:ext uri="{BB962C8B-B14F-4D97-AF65-F5344CB8AC3E}">
        <p14:creationId xmlns:p14="http://schemas.microsoft.com/office/powerpoint/2010/main" val="33235765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B03E82-8756-441D-B44C-8DB113F44C29}"/>
              </a:ext>
            </a:extLst>
          </p:cNvPr>
          <p:cNvSpPr txBox="1"/>
          <p:nvPr/>
        </p:nvSpPr>
        <p:spPr>
          <a:xfrm>
            <a:off x="683568" y="1484784"/>
            <a:ext cx="7776864" cy="3970318"/>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Similar compounds synthesized by chemists also cause many of the physiological responses common to IAA and are generally considered to be auxins.</a:t>
            </a:r>
          </a:p>
          <a:p>
            <a:pPr marL="571500" indent="-571500">
              <a:buFont typeface="Arial" panose="020B0604020202020204" pitchFamily="34" charset="0"/>
              <a:buChar char="•"/>
            </a:pPr>
            <a:r>
              <a:rPr lang="en-GB" sz="3600" dirty="0">
                <a:latin typeface="Times New Roman" pitchFamily="18" charset="0"/>
                <a:cs typeface="Times New Roman" pitchFamily="18" charset="0"/>
              </a:rPr>
              <a:t>These are </a:t>
            </a:r>
            <a:r>
              <a:rPr lang="en-GB" sz="3600" b="1" dirty="0">
                <a:latin typeface="Times New Roman" pitchFamily="18" charset="0"/>
                <a:cs typeface="Times New Roman" pitchFamily="18" charset="0"/>
              </a:rPr>
              <a:t>synthetic auxins</a:t>
            </a:r>
            <a:r>
              <a:rPr lang="en-GB" sz="3600" dirty="0">
                <a:latin typeface="Times New Roman" pitchFamily="18" charset="0"/>
                <a:cs typeface="Times New Roman" pitchFamily="18" charset="0"/>
              </a:rPr>
              <a:t>.</a:t>
            </a:r>
          </a:p>
          <a:p>
            <a:pPr marL="285750" indent="-28575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1276273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5E480E-21B3-4561-BDA0-825375928381}"/>
              </a:ext>
            </a:extLst>
          </p:cNvPr>
          <p:cNvSpPr txBox="1"/>
          <p:nvPr/>
        </p:nvSpPr>
        <p:spPr>
          <a:xfrm>
            <a:off x="683568" y="836712"/>
            <a:ext cx="7488832" cy="5632311"/>
          </a:xfrm>
          <a:prstGeom prst="rect">
            <a:avLst/>
          </a:prstGeom>
          <a:noFill/>
        </p:spPr>
        <p:txBody>
          <a:bodyPr wrap="square">
            <a:spAutoFit/>
          </a:bodyPr>
          <a:lstStyle/>
          <a:p>
            <a:pPr marL="457200" indent="-457200">
              <a:buFont typeface="Arial" panose="020B0604020202020204" pitchFamily="34" charset="0"/>
              <a:buChar char="•"/>
            </a:pPr>
            <a:r>
              <a:rPr lang="en-GB" sz="3600" dirty="0">
                <a:latin typeface="Times New Roman" pitchFamily="18" charset="0"/>
                <a:cs typeface="Times New Roman" pitchFamily="18" charset="0"/>
              </a:rPr>
              <a:t>The best known synthetic auxins include: </a:t>
            </a:r>
          </a:p>
          <a:p>
            <a:pPr marL="571500" indent="-571500">
              <a:buFont typeface="Wingdings" panose="05000000000000000000" pitchFamily="2" charset="2"/>
              <a:buChar char="Ø"/>
            </a:pPr>
            <a:r>
              <a:rPr lang="en-GB" sz="3600" dirty="0">
                <a:latin typeface="Times New Roman" pitchFamily="18" charset="0"/>
                <a:cs typeface="Times New Roman" pitchFamily="18" charset="0"/>
              </a:rPr>
              <a:t>Naphthaleneacetic acid </a:t>
            </a:r>
            <a:r>
              <a:rPr lang="en-GB" sz="3200" dirty="0">
                <a:latin typeface="Times New Roman" pitchFamily="18" charset="0"/>
                <a:cs typeface="Times New Roman" pitchFamily="18" charset="0"/>
              </a:rPr>
              <a:t>(NAA)</a:t>
            </a:r>
          </a:p>
          <a:p>
            <a:pPr lvl="1">
              <a:buFont typeface="Wingdings" pitchFamily="2" charset="2"/>
              <a:buChar char="Ø"/>
            </a:pPr>
            <a:r>
              <a:rPr lang="en-GB" sz="3600" dirty="0">
                <a:latin typeface="Times New Roman" pitchFamily="18" charset="0"/>
                <a:cs typeface="Times New Roman" pitchFamily="18" charset="0"/>
              </a:rPr>
              <a:t>Indole butyric acid </a:t>
            </a:r>
            <a:r>
              <a:rPr lang="en-GB" sz="3200" dirty="0">
                <a:latin typeface="Times New Roman" pitchFamily="18" charset="0"/>
                <a:cs typeface="Times New Roman" pitchFamily="18" charset="0"/>
              </a:rPr>
              <a:t>(IBA)</a:t>
            </a:r>
          </a:p>
          <a:p>
            <a:pPr lvl="1">
              <a:buFont typeface="Wingdings" pitchFamily="2" charset="2"/>
              <a:buChar char="Ø"/>
            </a:pPr>
            <a:r>
              <a:rPr lang="en-GB" sz="3600" dirty="0">
                <a:latin typeface="Times New Roman" pitchFamily="18" charset="0"/>
                <a:cs typeface="Times New Roman" pitchFamily="18" charset="0"/>
              </a:rPr>
              <a:t>2,4-dichlorophenoxy acetic acid   </a:t>
            </a:r>
          </a:p>
          <a:p>
            <a:pPr lvl="1"/>
            <a:r>
              <a:rPr lang="en-GB" sz="3600" dirty="0">
                <a:latin typeface="Times New Roman" pitchFamily="18" charset="0"/>
                <a:cs typeface="Times New Roman" pitchFamily="18" charset="0"/>
              </a:rPr>
              <a:t>    </a:t>
            </a:r>
            <a:r>
              <a:rPr lang="en-GB" sz="3200" dirty="0">
                <a:latin typeface="Times New Roman" pitchFamily="18" charset="0"/>
                <a:cs typeface="Times New Roman" pitchFamily="18" charset="0"/>
              </a:rPr>
              <a:t>(2,4-D)</a:t>
            </a:r>
          </a:p>
          <a:p>
            <a:pPr lvl="1">
              <a:buFont typeface="Wingdings" pitchFamily="2" charset="2"/>
              <a:buChar char="Ø"/>
            </a:pPr>
            <a:r>
              <a:rPr lang="en-GB" sz="3600" dirty="0">
                <a:latin typeface="Times New Roman" pitchFamily="18" charset="0"/>
                <a:cs typeface="Times New Roman" pitchFamily="18" charset="0"/>
              </a:rPr>
              <a:t>2,4,5-trichlorophenoxy acetic acid     </a:t>
            </a:r>
          </a:p>
          <a:p>
            <a:pPr lvl="1"/>
            <a:r>
              <a:rPr lang="en-GB" sz="3200" dirty="0">
                <a:latin typeface="Times New Roman" pitchFamily="18" charset="0"/>
                <a:cs typeface="Times New Roman" pitchFamily="18" charset="0"/>
              </a:rPr>
              <a:t>     </a:t>
            </a:r>
            <a:r>
              <a:rPr lang="en-GB" sz="3600" dirty="0">
                <a:latin typeface="Times New Roman" pitchFamily="18" charset="0"/>
                <a:cs typeface="Times New Roman" pitchFamily="18" charset="0"/>
              </a:rPr>
              <a:t>(2,4,5-T) and</a:t>
            </a:r>
          </a:p>
          <a:p>
            <a:pPr lvl="1">
              <a:buFont typeface="Wingdings" pitchFamily="2" charset="2"/>
              <a:buChar char="Ø"/>
            </a:pPr>
            <a:r>
              <a:rPr lang="en-GB" sz="3600" dirty="0">
                <a:latin typeface="Times New Roman" pitchFamily="18" charset="0"/>
                <a:cs typeface="Times New Roman" pitchFamily="18" charset="0"/>
              </a:rPr>
              <a:t>2-methyl-4-chlorophenoxy acetic  </a:t>
            </a:r>
          </a:p>
          <a:p>
            <a:pPr lvl="1"/>
            <a:r>
              <a:rPr lang="en-GB" sz="3600" dirty="0">
                <a:latin typeface="Times New Roman" pitchFamily="18" charset="0"/>
                <a:cs typeface="Times New Roman" pitchFamily="18" charset="0"/>
              </a:rPr>
              <a:t>    acid </a:t>
            </a:r>
            <a:r>
              <a:rPr lang="en-GB" sz="3200" dirty="0">
                <a:latin typeface="Times New Roman" pitchFamily="18" charset="0"/>
                <a:cs typeface="Times New Roman" pitchFamily="18" charset="0"/>
              </a:rPr>
              <a:t>(MCPA).</a:t>
            </a:r>
          </a:p>
        </p:txBody>
      </p:sp>
    </p:spTree>
    <p:extLst>
      <p:ext uri="{BB962C8B-B14F-4D97-AF65-F5344CB8AC3E}">
        <p14:creationId xmlns:p14="http://schemas.microsoft.com/office/powerpoint/2010/main" val="6942577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490066"/>
          </a:xfrm>
        </p:spPr>
        <p:txBody>
          <a:bodyPr/>
          <a:lstStyle/>
          <a:p>
            <a:pPr algn="ctr"/>
            <a:r>
              <a:rPr lang="en-GB" sz="3200" dirty="0"/>
              <a:t>AUXIN </a:t>
            </a:r>
            <a:r>
              <a:rPr lang="en-GB" sz="3200" i="1" dirty="0"/>
              <a:t>contd.</a:t>
            </a:r>
            <a:endParaRPr lang="en-GB" sz="3200" dirty="0"/>
          </a:p>
        </p:txBody>
      </p:sp>
      <p:sp>
        <p:nvSpPr>
          <p:cNvPr id="3" name="Content Placeholder 2"/>
          <p:cNvSpPr>
            <a:spLocks noGrp="1"/>
          </p:cNvSpPr>
          <p:nvPr>
            <p:ph idx="1"/>
          </p:nvPr>
        </p:nvSpPr>
        <p:spPr>
          <a:xfrm>
            <a:off x="457200" y="1052736"/>
            <a:ext cx="7859216" cy="5688632"/>
          </a:xfrm>
        </p:spPr>
        <p:txBody>
          <a:bodyPr>
            <a:normAutofit/>
          </a:bodyPr>
          <a:lstStyle/>
          <a:p>
            <a:r>
              <a:rPr lang="en-GB" sz="3600" dirty="0">
                <a:latin typeface="Times New Roman" pitchFamily="18" charset="0"/>
                <a:cs typeface="Times New Roman" pitchFamily="18" charset="0"/>
              </a:rPr>
              <a:t>These are</a:t>
            </a:r>
            <a:r>
              <a:rPr lang="en-GB" sz="3600" b="1" dirty="0">
                <a:latin typeface="Times New Roman" pitchFamily="18" charset="0"/>
                <a:cs typeface="Times New Roman" pitchFamily="18" charset="0"/>
              </a:rPr>
              <a:t> </a:t>
            </a:r>
            <a:r>
              <a:rPr lang="en-GB" sz="3600" dirty="0">
                <a:latin typeface="Times New Roman" pitchFamily="18" charset="0"/>
                <a:cs typeface="Times New Roman" pitchFamily="18" charset="0"/>
              </a:rPr>
              <a:t>usually classified as </a:t>
            </a:r>
            <a:r>
              <a:rPr lang="en-GB" sz="3600" b="1" dirty="0">
                <a:latin typeface="Times New Roman" pitchFamily="18" charset="0"/>
                <a:cs typeface="Times New Roman" pitchFamily="18" charset="0"/>
              </a:rPr>
              <a:t>plant regulators </a:t>
            </a:r>
            <a:r>
              <a:rPr lang="en-GB" sz="3600" dirty="0">
                <a:latin typeface="Times New Roman" pitchFamily="18" charset="0"/>
                <a:cs typeface="Times New Roman" pitchFamily="18" charset="0"/>
              </a:rPr>
              <a:t>but not hormones since they are not synthesized by plants.</a:t>
            </a:r>
          </a:p>
          <a:p>
            <a:r>
              <a:rPr lang="en-GB" sz="3600" dirty="0">
                <a:latin typeface="Times New Roman" pitchFamily="18" charset="0"/>
                <a:cs typeface="Times New Roman" pitchFamily="18" charset="0"/>
              </a:rPr>
              <a:t>Many other kinds of compounds fit into this category.</a:t>
            </a:r>
          </a:p>
        </p:txBody>
      </p:sp>
    </p:spTree>
    <p:extLst>
      <p:ext uri="{BB962C8B-B14F-4D97-AF65-F5344CB8AC3E}">
        <p14:creationId xmlns:p14="http://schemas.microsoft.com/office/powerpoint/2010/main" val="26055058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7620000" cy="720080"/>
          </a:xfrm>
        </p:spPr>
        <p:txBody>
          <a:bodyPr/>
          <a:lstStyle/>
          <a:p>
            <a:pPr algn="ctr"/>
            <a:r>
              <a:rPr lang="en-GB" sz="3200" dirty="0"/>
              <a:t>AUXIN </a:t>
            </a:r>
            <a:r>
              <a:rPr lang="en-GB" sz="3200" i="1" dirty="0"/>
              <a:t>contd.</a:t>
            </a:r>
            <a:endParaRPr lang="en-GB" sz="3200" dirty="0"/>
          </a:p>
        </p:txBody>
      </p:sp>
      <p:sp>
        <p:nvSpPr>
          <p:cNvPr id="3" name="Content Placeholder 2"/>
          <p:cNvSpPr>
            <a:spLocks noGrp="1"/>
          </p:cNvSpPr>
          <p:nvPr>
            <p:ph idx="1"/>
          </p:nvPr>
        </p:nvSpPr>
        <p:spPr>
          <a:xfrm>
            <a:off x="457200" y="1196752"/>
            <a:ext cx="7931224" cy="5544616"/>
          </a:xfrm>
        </p:spPr>
        <p:txBody>
          <a:bodyPr>
            <a:normAutofit lnSpcReduction="10000"/>
          </a:bodyPr>
          <a:lstStyle/>
          <a:p>
            <a:r>
              <a:rPr lang="en-GB" sz="3600" dirty="0">
                <a:latin typeface="Times New Roman" pitchFamily="18" charset="0"/>
                <a:cs typeface="Times New Roman" pitchFamily="18" charset="0"/>
              </a:rPr>
              <a:t>The term auxin has become more encompassing because many compounds are structurally similar to the </a:t>
            </a:r>
            <a:r>
              <a:rPr lang="en-GB" sz="3200" dirty="0">
                <a:latin typeface="Times New Roman" pitchFamily="18" charset="0"/>
                <a:cs typeface="Times New Roman" pitchFamily="18" charset="0"/>
              </a:rPr>
              <a:t>IAA</a:t>
            </a:r>
            <a:r>
              <a:rPr lang="en-GB" sz="3600" dirty="0">
                <a:latin typeface="Times New Roman" pitchFamily="18" charset="0"/>
                <a:cs typeface="Times New Roman" pitchFamily="18" charset="0"/>
              </a:rPr>
              <a:t> and can cause similar responses in plants.</a:t>
            </a:r>
          </a:p>
          <a:p>
            <a:r>
              <a:rPr lang="en-GB" sz="3600" dirty="0">
                <a:latin typeface="Times New Roman" pitchFamily="18" charset="0"/>
                <a:cs typeface="Times New Roman" pitchFamily="18" charset="0"/>
              </a:rPr>
              <a:t>Without defining an auxin, it can be emphasized that each auxin-like compound is similar to IAA in having a </a:t>
            </a:r>
            <a:r>
              <a:rPr lang="en-GB" sz="3200" b="1" dirty="0">
                <a:latin typeface="Times New Roman" pitchFamily="18" charset="0"/>
                <a:cs typeface="Times New Roman" pitchFamily="18" charset="0"/>
              </a:rPr>
              <a:t>carboxyl group </a:t>
            </a:r>
            <a:r>
              <a:rPr lang="en-GB" sz="3600" dirty="0">
                <a:latin typeface="Times New Roman" pitchFamily="18" charset="0"/>
                <a:cs typeface="Times New Roman" pitchFamily="18" charset="0"/>
              </a:rPr>
              <a:t>attached to an </a:t>
            </a:r>
            <a:r>
              <a:rPr lang="en-GB" sz="3200" b="1" dirty="0">
                <a:latin typeface="Times New Roman" pitchFamily="18" charset="0"/>
                <a:cs typeface="Times New Roman" pitchFamily="18" charset="0"/>
              </a:rPr>
              <a:t>aromatic ring.</a:t>
            </a:r>
          </a:p>
        </p:txBody>
      </p:sp>
    </p:spTree>
    <p:extLst>
      <p:ext uri="{BB962C8B-B14F-4D97-AF65-F5344CB8AC3E}">
        <p14:creationId xmlns:p14="http://schemas.microsoft.com/office/powerpoint/2010/main" val="26055058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7620000" cy="576064"/>
          </a:xfrm>
        </p:spPr>
        <p:txBody>
          <a:bodyPr/>
          <a:lstStyle/>
          <a:p>
            <a:pPr algn="ctr"/>
            <a:r>
              <a:rPr lang="en-GB" sz="3200" b="1" dirty="0"/>
              <a:t>SYNTHESIS &amp; DEGRADATION OF AUXIN</a:t>
            </a:r>
          </a:p>
        </p:txBody>
      </p:sp>
      <p:sp>
        <p:nvSpPr>
          <p:cNvPr id="3" name="Content Placeholder 2"/>
          <p:cNvSpPr>
            <a:spLocks noGrp="1"/>
          </p:cNvSpPr>
          <p:nvPr>
            <p:ph idx="1"/>
          </p:nvPr>
        </p:nvSpPr>
        <p:spPr>
          <a:xfrm>
            <a:off x="179512" y="1340768"/>
            <a:ext cx="8280920" cy="5400600"/>
          </a:xfrm>
        </p:spPr>
        <p:txBody>
          <a:bodyPr>
            <a:normAutofit/>
          </a:bodyPr>
          <a:lstStyle/>
          <a:p>
            <a:r>
              <a:rPr lang="en-GB" sz="3600" dirty="0">
                <a:latin typeface="Times New Roman" pitchFamily="18" charset="0"/>
                <a:cs typeface="Times New Roman" pitchFamily="18" charset="0"/>
              </a:rPr>
              <a:t>The </a:t>
            </a:r>
            <a:r>
              <a:rPr lang="en-GB" sz="3600" b="1" dirty="0">
                <a:latin typeface="Times New Roman" pitchFamily="18" charset="0"/>
                <a:cs typeface="Times New Roman" pitchFamily="18" charset="0"/>
              </a:rPr>
              <a:t>amino acid tryptophan </a:t>
            </a:r>
            <a:r>
              <a:rPr lang="en-GB" sz="3600" dirty="0">
                <a:latin typeface="Times New Roman" pitchFamily="18" charset="0"/>
                <a:cs typeface="Times New Roman" pitchFamily="18" charset="0"/>
              </a:rPr>
              <a:t>from which IAA is synthesized is chemically similar to IAA.</a:t>
            </a:r>
          </a:p>
          <a:p>
            <a:r>
              <a:rPr lang="en-GB" sz="3600" dirty="0">
                <a:latin typeface="Times New Roman" pitchFamily="18" charset="0"/>
                <a:cs typeface="Times New Roman" pitchFamily="18" charset="0"/>
              </a:rPr>
              <a:t>There are two (2) mechanisms available for the synthesis of IAA.</a:t>
            </a:r>
          </a:p>
          <a:p>
            <a:r>
              <a:rPr lang="en-GB" sz="3600" dirty="0">
                <a:latin typeface="Times New Roman" pitchFamily="18" charset="0"/>
                <a:cs typeface="Times New Roman" pitchFamily="18" charset="0"/>
              </a:rPr>
              <a:t>Both involve the </a:t>
            </a:r>
            <a:r>
              <a:rPr lang="en-GB" sz="3600" b="1" dirty="0">
                <a:latin typeface="Times New Roman" pitchFamily="18" charset="0"/>
                <a:cs typeface="Times New Roman" pitchFamily="18" charset="0"/>
              </a:rPr>
              <a:t>removal of the amino group</a:t>
            </a:r>
            <a:r>
              <a:rPr lang="en-GB" sz="3600" dirty="0">
                <a:latin typeface="Times New Roman" pitchFamily="18" charset="0"/>
                <a:cs typeface="Times New Roman" pitchFamily="18" charset="0"/>
              </a:rPr>
              <a:t> and the </a:t>
            </a:r>
            <a:r>
              <a:rPr lang="en-GB" sz="3600" b="1" dirty="0">
                <a:latin typeface="Times New Roman" pitchFamily="18" charset="0"/>
                <a:cs typeface="Times New Roman" pitchFamily="18" charset="0"/>
              </a:rPr>
              <a:t>terminal carboxyl group </a:t>
            </a:r>
            <a:r>
              <a:rPr lang="en-GB" sz="3600" dirty="0">
                <a:latin typeface="Times New Roman" pitchFamily="18" charset="0"/>
                <a:cs typeface="Times New Roman" pitchFamily="18" charset="0"/>
              </a:rPr>
              <a:t>from the side chain of the tryptophan.</a:t>
            </a:r>
          </a:p>
        </p:txBody>
      </p:sp>
    </p:spTree>
    <p:extLst>
      <p:ext uri="{BB962C8B-B14F-4D97-AF65-F5344CB8AC3E}">
        <p14:creationId xmlns:p14="http://schemas.microsoft.com/office/powerpoint/2010/main" val="2605505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7F6E96-1C6B-4133-B694-60D6BEC8195D}"/>
              </a:ext>
            </a:extLst>
          </p:cNvPr>
          <p:cNvSpPr txBox="1"/>
          <p:nvPr/>
        </p:nvSpPr>
        <p:spPr>
          <a:xfrm>
            <a:off x="467544" y="908720"/>
            <a:ext cx="7920880" cy="4524315"/>
          </a:xfrm>
          <a:prstGeom prst="rect">
            <a:avLst/>
          </a:prstGeom>
          <a:noFill/>
        </p:spPr>
        <p:txBody>
          <a:bodyPr wrap="square">
            <a:spAutoFit/>
          </a:bodyPr>
          <a:lstStyle/>
          <a:p>
            <a:pPr marL="571500" indent="-571500">
              <a:buFont typeface="Arial" panose="020B0604020202020204" pitchFamily="34" charset="0"/>
              <a:buChar char="•"/>
            </a:pPr>
            <a:r>
              <a:rPr lang="en-GB" sz="3600" b="1" dirty="0">
                <a:latin typeface="Times New Roman" pitchFamily="18" charset="0"/>
                <a:cs typeface="Times New Roman" pitchFamily="18" charset="0"/>
              </a:rPr>
              <a:t>Amino group</a:t>
            </a:r>
            <a:r>
              <a:rPr lang="en-GB" sz="3600" dirty="0">
                <a:latin typeface="Times New Roman" pitchFamily="18" charset="0"/>
                <a:cs typeface="Times New Roman" pitchFamily="18" charset="0"/>
              </a:rPr>
              <a:t>: compound of nitrogen atom linked to hydrogen atoms</a:t>
            </a:r>
          </a:p>
          <a:p>
            <a:pPr marL="571500" indent="-571500">
              <a:buFont typeface="Arial" panose="020B0604020202020204" pitchFamily="34" charset="0"/>
              <a:buChar char="•"/>
            </a:pPr>
            <a:r>
              <a:rPr lang="en-GB" sz="3600" b="1" dirty="0">
                <a:latin typeface="Times New Roman" pitchFamily="18" charset="0"/>
                <a:cs typeface="Times New Roman" pitchFamily="18" charset="0"/>
              </a:rPr>
              <a:t>Hydroxyl group</a:t>
            </a:r>
            <a:r>
              <a:rPr lang="en-GB" sz="3600" dirty="0">
                <a:latin typeface="Times New Roman" pitchFamily="18" charset="0"/>
                <a:cs typeface="Times New Roman" pitchFamily="18" charset="0"/>
              </a:rPr>
              <a:t>: consists of hydrogen atom covalently bonded to oxygen atom </a:t>
            </a:r>
          </a:p>
          <a:p>
            <a:pPr marL="571500" indent="-571500">
              <a:buFont typeface="Arial" panose="020B0604020202020204" pitchFamily="34" charset="0"/>
              <a:buChar char="•"/>
            </a:pPr>
            <a:r>
              <a:rPr lang="en-GB" sz="3600" b="1" dirty="0">
                <a:latin typeface="Times New Roman" pitchFamily="18" charset="0"/>
                <a:cs typeface="Times New Roman" pitchFamily="18" charset="0"/>
              </a:rPr>
              <a:t>Carboxyl group: </a:t>
            </a:r>
            <a:r>
              <a:rPr lang="en-GB" sz="3600" dirty="0">
                <a:latin typeface="Times New Roman" pitchFamily="18" charset="0"/>
                <a:cs typeface="Times New Roman" pitchFamily="18" charset="0"/>
              </a:rPr>
              <a:t>consists of a carbon bonded to both an oxygen and a carboxyl group</a:t>
            </a:r>
            <a:endParaRPr lang="en-US" sz="3600" dirty="0"/>
          </a:p>
        </p:txBody>
      </p:sp>
    </p:spTree>
    <p:extLst>
      <p:ext uri="{BB962C8B-B14F-4D97-AF65-F5344CB8AC3E}">
        <p14:creationId xmlns:p14="http://schemas.microsoft.com/office/powerpoint/2010/main" val="2873605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6E24B98-4847-48D9-8886-2B3BED50FB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087240"/>
            <a:ext cx="5832648" cy="442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7643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7620000" cy="576064"/>
          </a:xfrm>
        </p:spPr>
        <p:txBody>
          <a:bodyPr/>
          <a:lstStyle/>
          <a:p>
            <a:pPr algn="ctr"/>
            <a:r>
              <a:rPr lang="en-GB" sz="3200" dirty="0"/>
              <a:t>SYNTHESIS &amp; DEGRADATION </a:t>
            </a:r>
            <a:r>
              <a:rPr lang="en-GB" sz="3200" i="1" dirty="0"/>
              <a:t>contd.</a:t>
            </a:r>
            <a:endParaRPr lang="en-GB" sz="3200" dirty="0"/>
          </a:p>
        </p:txBody>
      </p:sp>
      <p:sp>
        <p:nvSpPr>
          <p:cNvPr id="3" name="Content Placeholder 2"/>
          <p:cNvSpPr>
            <a:spLocks noGrp="1"/>
          </p:cNvSpPr>
          <p:nvPr>
            <p:ph idx="1"/>
          </p:nvPr>
        </p:nvSpPr>
        <p:spPr>
          <a:xfrm>
            <a:off x="457200" y="1052736"/>
            <a:ext cx="7620000" cy="5688632"/>
          </a:xfrm>
        </p:spPr>
        <p:txBody>
          <a:bodyPr>
            <a:normAutofit/>
          </a:bodyPr>
          <a:lstStyle/>
          <a:p>
            <a:r>
              <a:rPr lang="en-GB" sz="3600" dirty="0">
                <a:latin typeface="Times New Roman" pitchFamily="18" charset="0"/>
                <a:cs typeface="Times New Roman" pitchFamily="18" charset="0"/>
              </a:rPr>
              <a:t>Finally, </a:t>
            </a:r>
            <a:r>
              <a:rPr lang="en-GB" sz="3600" b="1" dirty="0">
                <a:latin typeface="Times New Roman" pitchFamily="18" charset="0"/>
                <a:cs typeface="Times New Roman" pitchFamily="18" charset="0"/>
              </a:rPr>
              <a:t>indole acetyldehyde </a:t>
            </a:r>
            <a:r>
              <a:rPr lang="en-GB" sz="3600" dirty="0">
                <a:latin typeface="Times New Roman" pitchFamily="18" charset="0"/>
                <a:cs typeface="Times New Roman" pitchFamily="18" charset="0"/>
              </a:rPr>
              <a:t>is oxidized to </a:t>
            </a:r>
            <a:r>
              <a:rPr lang="en-GB" sz="3600" b="1" dirty="0">
                <a:latin typeface="Times New Roman" pitchFamily="18" charset="0"/>
                <a:cs typeface="Times New Roman" pitchFamily="18" charset="0"/>
              </a:rPr>
              <a:t>Indole Acetic Acid</a:t>
            </a:r>
            <a:r>
              <a:rPr lang="en-GB" sz="3600" dirty="0">
                <a:latin typeface="Times New Roman" pitchFamily="18" charset="0"/>
                <a:cs typeface="Times New Roman" pitchFamily="18" charset="0"/>
              </a:rPr>
              <a:t>.</a:t>
            </a:r>
          </a:p>
          <a:p>
            <a:r>
              <a:rPr lang="en-GB" sz="3600" dirty="0">
                <a:latin typeface="Times New Roman" pitchFamily="18" charset="0"/>
                <a:cs typeface="Times New Roman" pitchFamily="18" charset="0"/>
              </a:rPr>
              <a:t>The enzyme necessary for tryptophan conversion to IAA is most active in young tissues such as the shoot meristem, growing leaves and fruits.</a:t>
            </a:r>
          </a:p>
          <a:p>
            <a:r>
              <a:rPr lang="en-GB" sz="3600" dirty="0">
                <a:latin typeface="Times New Roman" pitchFamily="18" charset="0"/>
                <a:cs typeface="Times New Roman" pitchFamily="18" charset="0"/>
              </a:rPr>
              <a:t>In such tissues, the auxin contents are also highest to suggest that they are synthesized in these tissues.</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2605505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8720"/>
            <a:ext cx="7620000" cy="576064"/>
          </a:xfrm>
        </p:spPr>
        <p:txBody>
          <a:bodyPr/>
          <a:lstStyle/>
          <a:p>
            <a:pPr algn="ctr"/>
            <a:r>
              <a:rPr lang="en-GB" sz="3200" dirty="0"/>
              <a:t>SYNTHESIS &amp; DEGRADATION </a:t>
            </a:r>
            <a:r>
              <a:rPr lang="en-GB" sz="3200" i="1" dirty="0"/>
              <a:t>contd.</a:t>
            </a:r>
            <a:endParaRPr lang="en-GB" sz="3200" dirty="0"/>
          </a:p>
        </p:txBody>
      </p:sp>
      <p:sp>
        <p:nvSpPr>
          <p:cNvPr id="3" name="Content Placeholder 2"/>
          <p:cNvSpPr>
            <a:spLocks noGrp="1"/>
          </p:cNvSpPr>
          <p:nvPr>
            <p:ph idx="1"/>
          </p:nvPr>
        </p:nvSpPr>
        <p:spPr>
          <a:xfrm>
            <a:off x="457200" y="1484784"/>
            <a:ext cx="7620000" cy="5256584"/>
          </a:xfrm>
        </p:spPr>
        <p:txBody>
          <a:bodyPr>
            <a:normAutofit/>
          </a:bodyPr>
          <a:lstStyle/>
          <a:p>
            <a:r>
              <a:rPr lang="en-GB" sz="3600" dirty="0">
                <a:latin typeface="Times New Roman" pitchFamily="18" charset="0"/>
                <a:cs typeface="Times New Roman" pitchFamily="18" charset="0"/>
              </a:rPr>
              <a:t>IAA is very potent and it is only logic that plants should have mechanisms for controlling its concentrations at any time</a:t>
            </a:r>
          </a:p>
          <a:p>
            <a:r>
              <a:rPr lang="en-GB" sz="3600" dirty="0">
                <a:latin typeface="Times New Roman" pitchFamily="18" charset="0"/>
                <a:cs typeface="Times New Roman" pitchFamily="18" charset="0"/>
              </a:rPr>
              <a:t>This requirement is carried out by:</a:t>
            </a:r>
          </a:p>
          <a:p>
            <a:pPr lvl="1">
              <a:buFont typeface="Wingdings" panose="05000000000000000000" pitchFamily="2" charset="2"/>
              <a:buChar char="ü"/>
            </a:pPr>
            <a:r>
              <a:rPr lang="en-GB" sz="3600" dirty="0">
                <a:latin typeface="Times New Roman" pitchFamily="18" charset="0"/>
                <a:cs typeface="Times New Roman" pitchFamily="18" charset="0"/>
              </a:rPr>
              <a:t>Regulating the rate of synthesis, and </a:t>
            </a:r>
          </a:p>
          <a:p>
            <a:pPr lvl="1">
              <a:buFont typeface="Wingdings" panose="05000000000000000000" pitchFamily="2" charset="2"/>
              <a:buChar char="ü"/>
            </a:pPr>
            <a:r>
              <a:rPr lang="en-GB" sz="3600" dirty="0">
                <a:latin typeface="Times New Roman" pitchFamily="18" charset="0"/>
                <a:cs typeface="Times New Roman" pitchFamily="18" charset="0"/>
              </a:rPr>
              <a:t>Temporal inactivation of IAA</a:t>
            </a:r>
          </a:p>
        </p:txBody>
      </p:sp>
    </p:spTree>
    <p:extLst>
      <p:ext uri="{BB962C8B-B14F-4D97-AF65-F5344CB8AC3E}">
        <p14:creationId xmlns:p14="http://schemas.microsoft.com/office/powerpoint/2010/main" val="2152847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0B3452-3FE9-4C98-8555-504E9C1DC323}"/>
              </a:ext>
            </a:extLst>
          </p:cNvPr>
          <p:cNvSpPr txBox="1"/>
          <p:nvPr/>
        </p:nvSpPr>
        <p:spPr>
          <a:xfrm>
            <a:off x="467544" y="1196752"/>
            <a:ext cx="7704856" cy="4462760"/>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Under the 2</a:t>
            </a:r>
            <a:r>
              <a:rPr lang="en-GB" sz="3600" baseline="30000" dirty="0">
                <a:latin typeface="Times New Roman" pitchFamily="18" charset="0"/>
                <a:cs typeface="Times New Roman" pitchFamily="18" charset="0"/>
              </a:rPr>
              <a:t>nd</a:t>
            </a:r>
            <a:r>
              <a:rPr lang="en-GB" sz="3600" dirty="0">
                <a:latin typeface="Times New Roman" pitchFamily="18" charset="0"/>
                <a:cs typeface="Times New Roman" pitchFamily="18" charset="0"/>
              </a:rPr>
              <a:t> option, IAA is covalently combined with other molecules to form derivatives called </a:t>
            </a:r>
            <a:r>
              <a:rPr lang="en-GB" sz="3200" b="1" dirty="0">
                <a:latin typeface="Times New Roman" pitchFamily="18" charset="0"/>
                <a:cs typeface="Times New Roman" pitchFamily="18" charset="0"/>
              </a:rPr>
              <a:t>CONJUGATED AUXIN</a:t>
            </a:r>
          </a:p>
          <a:p>
            <a:pPr marL="571500" indent="-571500">
              <a:buFont typeface="Arial" panose="020B0604020202020204" pitchFamily="34" charset="0"/>
              <a:buChar char="•"/>
            </a:pPr>
            <a:r>
              <a:rPr lang="en-GB" sz="3600" dirty="0">
                <a:latin typeface="Times New Roman" pitchFamily="18" charset="0"/>
                <a:cs typeface="Times New Roman" pitchFamily="18" charset="0"/>
              </a:rPr>
              <a:t>An example of these conjugates are the </a:t>
            </a:r>
            <a:r>
              <a:rPr lang="en-GB" sz="3600" b="1" dirty="0">
                <a:latin typeface="Times New Roman" pitchFamily="18" charset="0"/>
                <a:cs typeface="Times New Roman" pitchFamily="18" charset="0"/>
              </a:rPr>
              <a:t>Peptides</a:t>
            </a:r>
            <a:r>
              <a:rPr lang="en-GB" sz="3600" dirty="0">
                <a:latin typeface="Times New Roman" pitchFamily="18" charset="0"/>
                <a:cs typeface="Times New Roman" pitchFamily="18" charset="0"/>
              </a:rPr>
              <a:t> (</a:t>
            </a:r>
            <a:r>
              <a:rPr lang="en-GB" sz="3600" dirty="0" err="1">
                <a:latin typeface="Times New Roman" pitchFamily="18" charset="0"/>
                <a:cs typeface="Times New Roman" pitchFamily="18" charset="0"/>
              </a:rPr>
              <a:t>eg.</a:t>
            </a:r>
            <a:r>
              <a:rPr lang="en-GB" sz="3600" dirty="0">
                <a:latin typeface="Times New Roman" pitchFamily="18" charset="0"/>
                <a:cs typeface="Times New Roman" pitchFamily="18" charset="0"/>
              </a:rPr>
              <a:t> </a:t>
            </a:r>
            <a:r>
              <a:rPr lang="en-GB" sz="3600" b="1" dirty="0">
                <a:latin typeface="Times New Roman" pitchFamily="18" charset="0"/>
                <a:cs typeface="Times New Roman" pitchFamily="18" charset="0"/>
              </a:rPr>
              <a:t>Indole Acetyl Aspartate Acid)</a:t>
            </a:r>
            <a:r>
              <a:rPr lang="en-GB" sz="3600" dirty="0">
                <a:latin typeface="Times New Roman" pitchFamily="18" charset="0"/>
                <a:cs typeface="Times New Roman" pitchFamily="18" charset="0"/>
              </a:rPr>
              <a:t> and the </a:t>
            </a:r>
            <a:r>
              <a:rPr lang="en-GB" sz="3600" b="1" dirty="0">
                <a:latin typeface="Times New Roman" pitchFamily="18" charset="0"/>
                <a:cs typeface="Times New Roman" pitchFamily="18" charset="0"/>
              </a:rPr>
              <a:t>esters</a:t>
            </a:r>
            <a:r>
              <a:rPr lang="en-GB" sz="3600" dirty="0">
                <a:latin typeface="Times New Roman" pitchFamily="18" charset="0"/>
                <a:cs typeface="Times New Roman" pitchFamily="18" charset="0"/>
              </a:rPr>
              <a:t> (</a:t>
            </a:r>
            <a:r>
              <a:rPr lang="en-GB" sz="3600" dirty="0" err="1">
                <a:latin typeface="Times New Roman" pitchFamily="18" charset="0"/>
                <a:cs typeface="Times New Roman" pitchFamily="18" charset="0"/>
              </a:rPr>
              <a:t>eg.</a:t>
            </a:r>
            <a:r>
              <a:rPr lang="en-GB" sz="3600" dirty="0">
                <a:latin typeface="Times New Roman" pitchFamily="18" charset="0"/>
                <a:cs typeface="Times New Roman" pitchFamily="18" charset="0"/>
              </a:rPr>
              <a:t> </a:t>
            </a:r>
            <a:r>
              <a:rPr lang="en-GB" sz="3600" b="1" dirty="0">
                <a:latin typeface="Times New Roman" pitchFamily="18" charset="0"/>
                <a:cs typeface="Times New Roman" pitchFamily="18" charset="0"/>
              </a:rPr>
              <a:t>IAA Inositol </a:t>
            </a:r>
            <a:r>
              <a:rPr lang="en-GB" sz="3600" dirty="0">
                <a:latin typeface="Times New Roman" pitchFamily="18" charset="0"/>
                <a:cs typeface="Times New Roman" pitchFamily="18" charset="0"/>
              </a:rPr>
              <a:t> and </a:t>
            </a:r>
            <a:r>
              <a:rPr lang="en-GB" sz="3600" b="1" dirty="0">
                <a:latin typeface="Times New Roman" pitchFamily="18" charset="0"/>
                <a:cs typeface="Times New Roman" pitchFamily="18" charset="0"/>
              </a:rPr>
              <a:t>IAA glucosides)</a:t>
            </a: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695671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728"/>
            <a:ext cx="7620000" cy="648072"/>
          </a:xfrm>
        </p:spPr>
        <p:txBody>
          <a:bodyPr/>
          <a:lstStyle/>
          <a:p>
            <a:pPr algn="ctr"/>
            <a:r>
              <a:rPr lang="en-GB" sz="3200" dirty="0"/>
              <a:t>SYNTHESIS &amp; DEGRADATION </a:t>
            </a:r>
            <a:r>
              <a:rPr lang="en-GB" sz="3200" i="1" dirty="0"/>
              <a:t>contd.</a:t>
            </a:r>
            <a:endParaRPr lang="en-GB" sz="3200" dirty="0"/>
          </a:p>
        </p:txBody>
      </p:sp>
      <p:sp>
        <p:nvSpPr>
          <p:cNvPr id="3" name="Content Placeholder 2"/>
          <p:cNvSpPr>
            <a:spLocks noGrp="1"/>
          </p:cNvSpPr>
          <p:nvPr>
            <p:ph idx="1"/>
          </p:nvPr>
        </p:nvSpPr>
        <p:spPr>
          <a:xfrm>
            <a:off x="457200" y="1628800"/>
            <a:ext cx="7931224" cy="5112568"/>
          </a:xfrm>
        </p:spPr>
        <p:txBody>
          <a:bodyPr>
            <a:noAutofit/>
          </a:bodyPr>
          <a:lstStyle/>
          <a:p>
            <a:r>
              <a:rPr lang="en-GB" sz="3600" dirty="0">
                <a:latin typeface="Times New Roman" pitchFamily="18" charset="0"/>
                <a:cs typeface="Times New Roman" pitchFamily="18" charset="0"/>
              </a:rPr>
              <a:t>In general, IAA can be released from these bound forms by </a:t>
            </a:r>
            <a:r>
              <a:rPr lang="en-GB" sz="3600" b="1" dirty="0">
                <a:latin typeface="Times New Roman" pitchFamily="18" charset="0"/>
                <a:cs typeface="Times New Roman" pitchFamily="18" charset="0"/>
              </a:rPr>
              <a:t>hydrolase enzymes.</a:t>
            </a:r>
          </a:p>
          <a:p>
            <a:r>
              <a:rPr lang="en-GB" sz="3600" dirty="0">
                <a:latin typeface="Times New Roman" pitchFamily="18" charset="0"/>
                <a:cs typeface="Times New Roman" pitchFamily="18" charset="0"/>
              </a:rPr>
              <a:t>They therefore act as important storage forms of IAA (</a:t>
            </a:r>
            <a:r>
              <a:rPr lang="en-GB" sz="3600" dirty="0" err="1">
                <a:latin typeface="Times New Roman" pitchFamily="18" charset="0"/>
                <a:cs typeface="Times New Roman" pitchFamily="18" charset="0"/>
              </a:rPr>
              <a:t>ie</a:t>
            </a:r>
            <a:r>
              <a:rPr lang="en-GB" sz="3600" dirty="0">
                <a:latin typeface="Times New Roman" pitchFamily="18" charset="0"/>
                <a:cs typeface="Times New Roman" pitchFamily="18" charset="0"/>
              </a:rPr>
              <a:t>. Conjugated Auxins).</a:t>
            </a:r>
          </a:p>
          <a:p>
            <a:r>
              <a:rPr lang="en-GB" sz="3600" dirty="0">
                <a:latin typeface="Times New Roman" pitchFamily="18" charset="0"/>
                <a:cs typeface="Times New Roman" pitchFamily="18" charset="0"/>
              </a:rPr>
              <a:t>In some plant forms, </a:t>
            </a:r>
            <a:r>
              <a:rPr lang="en-GB" sz="3600" dirty="0" err="1">
                <a:latin typeface="Times New Roman" pitchFamily="18" charset="0"/>
                <a:cs typeface="Times New Roman" pitchFamily="18" charset="0"/>
              </a:rPr>
              <a:t>eg.</a:t>
            </a:r>
            <a:r>
              <a:rPr lang="en-GB" sz="3600" dirty="0">
                <a:latin typeface="Times New Roman" pitchFamily="18" charset="0"/>
                <a:cs typeface="Times New Roman" pitchFamily="18" charset="0"/>
              </a:rPr>
              <a:t> seedlings, the IAA conjugates are important forms in which IAA can be transported.</a:t>
            </a:r>
          </a:p>
        </p:txBody>
      </p:sp>
    </p:spTree>
    <p:extLst>
      <p:ext uri="{BB962C8B-B14F-4D97-AF65-F5344CB8AC3E}">
        <p14:creationId xmlns:p14="http://schemas.microsoft.com/office/powerpoint/2010/main" val="21528474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C2DD8-53E4-495B-B333-F19B0926CD6D}"/>
              </a:ext>
            </a:extLst>
          </p:cNvPr>
          <p:cNvSpPr txBox="1"/>
          <p:nvPr/>
        </p:nvSpPr>
        <p:spPr>
          <a:xfrm>
            <a:off x="539552" y="620689"/>
            <a:ext cx="7704856" cy="563231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Another process of IAA removal involves oxidation by oxygen and the loss of carboxyl groups as CO</a:t>
            </a:r>
            <a:r>
              <a:rPr lang="en-GB" sz="3600" baseline="-25000" dirty="0">
                <a:latin typeface="Times New Roman" pitchFamily="18" charset="0"/>
                <a:cs typeface="Times New Roman" pitchFamily="18" charset="0"/>
              </a:rPr>
              <a:t>2</a:t>
            </a:r>
            <a:r>
              <a:rPr lang="en-GB" sz="3600" dirty="0">
                <a:latin typeface="Times New Roman" pitchFamily="18" charset="0"/>
                <a:cs typeface="Times New Roman" pitchFamily="18" charset="0"/>
              </a:rPr>
              <a:t>.</a:t>
            </a:r>
          </a:p>
          <a:p>
            <a:pPr marL="571500" indent="-571500">
              <a:buFont typeface="Arial" panose="020B0604020202020204" pitchFamily="34" charset="0"/>
              <a:buChar char="•"/>
            </a:pPr>
            <a:r>
              <a:rPr lang="en-GB" sz="3600" dirty="0">
                <a:latin typeface="Times New Roman" pitchFamily="18" charset="0"/>
                <a:cs typeface="Times New Roman" pitchFamily="18" charset="0"/>
              </a:rPr>
              <a:t>This one is </a:t>
            </a:r>
            <a:r>
              <a:rPr lang="en-GB" sz="3600" b="1" dirty="0">
                <a:latin typeface="Times New Roman" pitchFamily="18" charset="0"/>
                <a:cs typeface="Times New Roman" pitchFamily="18" charset="0"/>
              </a:rPr>
              <a:t>Degradative</a:t>
            </a:r>
            <a:endParaRPr lang="en-GB" sz="3600" dirty="0">
              <a:latin typeface="Times New Roman" pitchFamily="18" charset="0"/>
              <a:cs typeface="Times New Roman" pitchFamily="18" charset="0"/>
            </a:endParaRPr>
          </a:p>
          <a:p>
            <a:pPr marL="571500" indent="-571500">
              <a:buFont typeface="Arial" panose="020B0604020202020204" pitchFamily="34" charset="0"/>
              <a:buChar char="•"/>
            </a:pPr>
            <a:r>
              <a:rPr lang="en-GB" sz="3600" dirty="0">
                <a:latin typeface="Times New Roman" pitchFamily="18" charset="0"/>
                <a:cs typeface="Times New Roman" pitchFamily="18" charset="0"/>
              </a:rPr>
              <a:t>The products are variable but </a:t>
            </a:r>
            <a:r>
              <a:rPr lang="en-GB" sz="3600" b="1" dirty="0">
                <a:latin typeface="Times New Roman" pitchFamily="18" charset="0"/>
                <a:cs typeface="Times New Roman" pitchFamily="18" charset="0"/>
              </a:rPr>
              <a:t>3-methylene oxindole</a:t>
            </a:r>
            <a:r>
              <a:rPr lang="en-GB" sz="3600" dirty="0">
                <a:latin typeface="Times New Roman" pitchFamily="18" charset="0"/>
                <a:cs typeface="Times New Roman" pitchFamily="18" charset="0"/>
              </a:rPr>
              <a:t> is a principal one</a:t>
            </a:r>
          </a:p>
          <a:p>
            <a:pPr marL="571500" indent="-571500">
              <a:buFont typeface="Arial" panose="020B0604020202020204" pitchFamily="34" charset="0"/>
              <a:buChar char="•"/>
            </a:pPr>
            <a:r>
              <a:rPr lang="en-GB" sz="3600" dirty="0">
                <a:latin typeface="Times New Roman" pitchFamily="18" charset="0"/>
                <a:cs typeface="Times New Roman" pitchFamily="18" charset="0"/>
              </a:rPr>
              <a:t>The enzyme that catalyses the reaction is </a:t>
            </a:r>
            <a:r>
              <a:rPr lang="en-GB" sz="3600" b="1" dirty="0">
                <a:latin typeface="Times New Roman" pitchFamily="18" charset="0"/>
                <a:cs typeface="Times New Roman" pitchFamily="18" charset="0"/>
              </a:rPr>
              <a:t>IAA-oxidase</a:t>
            </a:r>
          </a:p>
          <a:p>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2846650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6712"/>
            <a:ext cx="7620000" cy="504056"/>
          </a:xfrm>
        </p:spPr>
        <p:txBody>
          <a:bodyPr/>
          <a:lstStyle/>
          <a:p>
            <a:pPr algn="ctr"/>
            <a:r>
              <a:rPr lang="en-GB" sz="3200" dirty="0"/>
              <a:t>SYNTHESIS &amp; DEGRADATION </a:t>
            </a:r>
            <a:r>
              <a:rPr lang="en-GB" sz="3200" i="1" dirty="0"/>
              <a:t>contd.</a:t>
            </a:r>
            <a:endParaRPr lang="en-GB" sz="3200" dirty="0"/>
          </a:p>
        </p:txBody>
      </p:sp>
      <p:sp>
        <p:nvSpPr>
          <p:cNvPr id="3" name="Content Placeholder 2"/>
          <p:cNvSpPr>
            <a:spLocks noGrp="1"/>
          </p:cNvSpPr>
          <p:nvPr>
            <p:ph idx="1"/>
          </p:nvPr>
        </p:nvSpPr>
        <p:spPr>
          <a:xfrm>
            <a:off x="457200" y="1340768"/>
            <a:ext cx="7931224" cy="5400600"/>
          </a:xfrm>
        </p:spPr>
        <p:txBody>
          <a:bodyPr>
            <a:noAutofit/>
          </a:bodyPr>
          <a:lstStyle/>
          <a:p>
            <a:r>
              <a:rPr lang="en-GB" sz="3600" dirty="0">
                <a:latin typeface="Times New Roman" pitchFamily="18" charset="0"/>
                <a:cs typeface="Times New Roman" pitchFamily="18" charset="0"/>
              </a:rPr>
              <a:t>Several IAA-oxidase isozymes exist and all or nearly all are identical to </a:t>
            </a:r>
            <a:r>
              <a:rPr lang="en-GB" sz="3600" b="1" i="1" dirty="0">
                <a:latin typeface="Times New Roman" pitchFamily="18" charset="0"/>
                <a:cs typeface="Times New Roman" pitchFamily="18" charset="0"/>
              </a:rPr>
              <a:t>peroxidase</a:t>
            </a:r>
            <a:r>
              <a:rPr lang="en-GB" sz="3600" dirty="0">
                <a:latin typeface="Times New Roman" pitchFamily="18" charset="0"/>
                <a:cs typeface="Times New Roman" pitchFamily="18" charset="0"/>
              </a:rPr>
              <a:t> involved in the early initial steps in the formation of lignin.</a:t>
            </a:r>
          </a:p>
          <a:p>
            <a:r>
              <a:rPr lang="en-GB" sz="3600" b="1" dirty="0">
                <a:latin typeface="Times New Roman" pitchFamily="18" charset="0"/>
                <a:cs typeface="Times New Roman" pitchFamily="18" charset="0"/>
              </a:rPr>
              <a:t>Isozymes</a:t>
            </a:r>
            <a:r>
              <a:rPr lang="en-GB" sz="3600" dirty="0">
                <a:latin typeface="Times New Roman" pitchFamily="18" charset="0"/>
                <a:cs typeface="Times New Roman" pitchFamily="18" charset="0"/>
              </a:rPr>
              <a:t> are variants of a given enzyme occurring within a single cell/organisms having the same specificity </a:t>
            </a:r>
          </a:p>
        </p:txBody>
      </p:sp>
    </p:spTree>
    <p:extLst>
      <p:ext uri="{BB962C8B-B14F-4D97-AF65-F5344CB8AC3E}">
        <p14:creationId xmlns:p14="http://schemas.microsoft.com/office/powerpoint/2010/main" val="21528474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7620000" cy="432048"/>
          </a:xfrm>
        </p:spPr>
        <p:txBody>
          <a:bodyPr/>
          <a:lstStyle/>
          <a:p>
            <a:pPr algn="ctr"/>
            <a:r>
              <a:rPr lang="en-GB" sz="3200" dirty="0"/>
              <a:t>SYNTHESIS &amp; DEGRADATION </a:t>
            </a:r>
            <a:r>
              <a:rPr lang="en-GB" sz="3200" i="1" dirty="0"/>
              <a:t>contd.</a:t>
            </a:r>
            <a:endParaRPr lang="en-GB" sz="3200" dirty="0"/>
          </a:p>
        </p:txBody>
      </p:sp>
      <p:sp>
        <p:nvSpPr>
          <p:cNvPr id="3" name="Content Placeholder 2"/>
          <p:cNvSpPr>
            <a:spLocks noGrp="1"/>
          </p:cNvSpPr>
          <p:nvPr>
            <p:ph idx="1"/>
          </p:nvPr>
        </p:nvSpPr>
        <p:spPr>
          <a:xfrm>
            <a:off x="457200" y="1124744"/>
            <a:ext cx="7620000" cy="5400600"/>
          </a:xfrm>
        </p:spPr>
        <p:txBody>
          <a:bodyPr>
            <a:noAutofit/>
          </a:bodyPr>
          <a:lstStyle/>
          <a:p>
            <a:r>
              <a:rPr lang="en-GB" sz="3600" dirty="0">
                <a:latin typeface="Times New Roman" pitchFamily="18" charset="0"/>
                <a:cs typeface="Times New Roman" pitchFamily="18" charset="0"/>
              </a:rPr>
              <a:t>Hence  they catalyse the same reactions but show slight differences in molecular structure which makes it possible to separate them.</a:t>
            </a:r>
          </a:p>
          <a:p>
            <a:r>
              <a:rPr lang="en-GB" sz="3600" dirty="0">
                <a:latin typeface="Times New Roman" pitchFamily="18" charset="0"/>
                <a:cs typeface="Times New Roman" pitchFamily="18" charset="0"/>
              </a:rPr>
              <a:t>Several isozymes of an enzyme may occur within a single cell.</a:t>
            </a:r>
          </a:p>
          <a:p>
            <a:r>
              <a:rPr lang="en-GB" sz="3600" b="1" dirty="0">
                <a:latin typeface="Times New Roman" pitchFamily="18" charset="0"/>
                <a:cs typeface="Times New Roman" pitchFamily="18" charset="0"/>
              </a:rPr>
              <a:t>Conjugated</a:t>
            </a:r>
            <a:r>
              <a:rPr lang="en-GB" sz="3600" dirty="0">
                <a:latin typeface="Times New Roman" pitchFamily="18" charset="0"/>
                <a:cs typeface="Times New Roman" pitchFamily="18" charset="0"/>
              </a:rPr>
              <a:t> or </a:t>
            </a:r>
            <a:r>
              <a:rPr lang="en-GB" sz="3600" b="1" dirty="0">
                <a:latin typeface="Times New Roman" pitchFamily="18" charset="0"/>
                <a:cs typeface="Times New Roman" pitchFamily="18" charset="0"/>
              </a:rPr>
              <a:t>bound auxins </a:t>
            </a:r>
            <a:r>
              <a:rPr lang="en-GB" sz="3600" dirty="0">
                <a:latin typeface="Times New Roman" pitchFamily="18" charset="0"/>
                <a:cs typeface="Times New Roman" pitchFamily="18" charset="0"/>
              </a:rPr>
              <a:t>are also resistant to IAA-oxidase.</a:t>
            </a:r>
          </a:p>
        </p:txBody>
      </p:sp>
    </p:spTree>
    <p:extLst>
      <p:ext uri="{BB962C8B-B14F-4D97-AF65-F5344CB8AC3E}">
        <p14:creationId xmlns:p14="http://schemas.microsoft.com/office/powerpoint/2010/main" val="2152847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6712"/>
            <a:ext cx="7620000" cy="576064"/>
          </a:xfrm>
        </p:spPr>
        <p:txBody>
          <a:bodyPr/>
          <a:lstStyle/>
          <a:p>
            <a:pPr algn="ctr"/>
            <a:r>
              <a:rPr lang="en-GB" sz="3600" dirty="0"/>
              <a:t>AUXIN TRANSPORT</a:t>
            </a:r>
          </a:p>
        </p:txBody>
      </p:sp>
      <p:sp>
        <p:nvSpPr>
          <p:cNvPr id="3" name="Content Placeholder 2"/>
          <p:cNvSpPr>
            <a:spLocks noGrp="1"/>
          </p:cNvSpPr>
          <p:nvPr>
            <p:ph idx="1"/>
          </p:nvPr>
        </p:nvSpPr>
        <p:spPr>
          <a:xfrm>
            <a:off x="539552" y="1412776"/>
            <a:ext cx="7537648" cy="5328592"/>
          </a:xfrm>
        </p:spPr>
        <p:txBody>
          <a:bodyPr>
            <a:normAutofit/>
          </a:bodyPr>
          <a:lstStyle/>
          <a:p>
            <a:r>
              <a:rPr lang="en-GB" sz="3600" dirty="0">
                <a:latin typeface="Times New Roman" pitchFamily="18" charset="0"/>
                <a:cs typeface="Times New Roman" pitchFamily="18" charset="0"/>
              </a:rPr>
              <a:t>Synthetic auxins are not destroyed by these oxidase enzymes and therefore persist in the plant much longer than IAA.</a:t>
            </a:r>
          </a:p>
          <a:p>
            <a:r>
              <a:rPr lang="en-GB" sz="3600" dirty="0">
                <a:latin typeface="Times New Roman" pitchFamily="18" charset="0"/>
                <a:cs typeface="Times New Roman" pitchFamily="18" charset="0"/>
              </a:rPr>
              <a:t>The movement of auxin through most tissues is strictly polar </a:t>
            </a:r>
            <a:r>
              <a:rPr lang="en-GB" sz="3600" dirty="0" err="1">
                <a:latin typeface="Times New Roman" pitchFamily="18" charset="0"/>
                <a:cs typeface="Times New Roman" pitchFamily="18" charset="0"/>
              </a:rPr>
              <a:t>ie</a:t>
            </a:r>
            <a:r>
              <a:rPr lang="en-GB" sz="3600" dirty="0">
                <a:latin typeface="Times New Roman" pitchFamily="18" charset="0"/>
                <a:cs typeface="Times New Roman" pitchFamily="18" charset="0"/>
              </a:rPr>
              <a:t>. it is unidirectional along a line from the apex to base.</a:t>
            </a:r>
          </a:p>
        </p:txBody>
      </p:sp>
    </p:spTree>
    <p:extLst>
      <p:ext uri="{BB962C8B-B14F-4D97-AF65-F5344CB8AC3E}">
        <p14:creationId xmlns:p14="http://schemas.microsoft.com/office/powerpoint/2010/main" val="2152847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B6DE08-74AF-47BB-938C-BD0C70317283}"/>
              </a:ext>
            </a:extLst>
          </p:cNvPr>
          <p:cNvSpPr txBox="1"/>
          <p:nvPr/>
        </p:nvSpPr>
        <p:spPr>
          <a:xfrm>
            <a:off x="683568" y="404664"/>
            <a:ext cx="7488832" cy="6186309"/>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The movement is polar in that the auxins flow away from their source usually downwards from the point of production.</a:t>
            </a:r>
          </a:p>
          <a:p>
            <a:pPr marL="285750" indent="-285750">
              <a:buFont typeface="Arial" panose="020B0604020202020204" pitchFamily="34" charset="0"/>
              <a:buChar char="•"/>
            </a:pPr>
            <a:r>
              <a:rPr lang="en-GB" sz="3600" dirty="0">
                <a:latin typeface="Times New Roman" pitchFamily="18" charset="0"/>
                <a:cs typeface="Times New Roman" pitchFamily="18" charset="0"/>
              </a:rPr>
              <a:t>In the stem, the movement is from the apex towards the base </a:t>
            </a:r>
            <a:r>
              <a:rPr lang="en-GB" sz="3200" b="1" dirty="0">
                <a:latin typeface="Times New Roman" pitchFamily="18" charset="0"/>
                <a:cs typeface="Times New Roman" pitchFamily="18" charset="0"/>
              </a:rPr>
              <a:t>(Basipetal Movement)</a:t>
            </a:r>
          </a:p>
          <a:p>
            <a:pPr marL="285750" indent="-285750">
              <a:buFont typeface="Arial" panose="020B0604020202020204" pitchFamily="34" charset="0"/>
              <a:buChar char="•"/>
            </a:pPr>
            <a:r>
              <a:rPr lang="en-GB" sz="3600" dirty="0">
                <a:latin typeface="Times New Roman" pitchFamily="18" charset="0"/>
                <a:cs typeface="Times New Roman" pitchFamily="18" charset="0"/>
              </a:rPr>
              <a:t>In the root, movement is from the base of the root to the tip and this movement is described as </a:t>
            </a:r>
            <a:r>
              <a:rPr lang="en-GB" sz="3200" b="1" dirty="0">
                <a:latin typeface="Times New Roman" pitchFamily="18" charset="0"/>
                <a:cs typeface="Times New Roman" pitchFamily="18" charset="0"/>
              </a:rPr>
              <a:t>Acropetal Movement</a:t>
            </a:r>
            <a:endParaRPr lang="en-GB" sz="3200" dirty="0">
              <a:latin typeface="Times New Roman" pitchFamily="18" charset="0"/>
              <a:cs typeface="Times New Roman" pitchFamily="18" charset="0"/>
            </a:endParaRPr>
          </a:p>
        </p:txBody>
      </p:sp>
    </p:spTree>
    <p:extLst>
      <p:ext uri="{BB962C8B-B14F-4D97-AF65-F5344CB8AC3E}">
        <p14:creationId xmlns:p14="http://schemas.microsoft.com/office/powerpoint/2010/main" val="528912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7620000" cy="504056"/>
          </a:xfrm>
        </p:spPr>
        <p:txBody>
          <a:bodyPr/>
          <a:lstStyle/>
          <a:p>
            <a:pPr algn="ctr"/>
            <a:r>
              <a:rPr lang="en-GB" sz="3200" dirty="0"/>
              <a:t>AUXIN TRANSPORT </a:t>
            </a:r>
            <a:r>
              <a:rPr lang="en-GB" sz="3200" i="1" dirty="0"/>
              <a:t>contd.</a:t>
            </a:r>
            <a:endParaRPr lang="en-GB" sz="3200" dirty="0"/>
          </a:p>
        </p:txBody>
      </p:sp>
      <p:sp>
        <p:nvSpPr>
          <p:cNvPr id="3" name="Content Placeholder 2"/>
          <p:cNvSpPr>
            <a:spLocks noGrp="1"/>
          </p:cNvSpPr>
          <p:nvPr>
            <p:ph idx="1"/>
          </p:nvPr>
        </p:nvSpPr>
        <p:spPr>
          <a:xfrm>
            <a:off x="457200" y="1340768"/>
            <a:ext cx="7620000" cy="5184576"/>
          </a:xfrm>
        </p:spPr>
        <p:txBody>
          <a:bodyPr>
            <a:noAutofit/>
          </a:bodyPr>
          <a:lstStyle/>
          <a:p>
            <a:r>
              <a:rPr lang="en-GB" sz="3600" dirty="0">
                <a:latin typeface="Times New Roman" pitchFamily="18" charset="0"/>
                <a:cs typeface="Times New Roman" pitchFamily="18" charset="0"/>
              </a:rPr>
              <a:t>The movement doesn’t depend on gravity</a:t>
            </a:r>
          </a:p>
          <a:p>
            <a:r>
              <a:rPr lang="en-GB" sz="3600" dirty="0">
                <a:latin typeface="Times New Roman" pitchFamily="18" charset="0"/>
                <a:cs typeface="Times New Roman" pitchFamily="18" charset="0"/>
              </a:rPr>
              <a:t>Auxins are ordinarily not carried through the sieve tube of the phloem nor the xylem</a:t>
            </a:r>
          </a:p>
          <a:p>
            <a:r>
              <a:rPr lang="en-GB" sz="3600" dirty="0">
                <a:latin typeface="Times New Roman" pitchFamily="18" charset="0"/>
                <a:cs typeface="Times New Roman" pitchFamily="18" charset="0"/>
              </a:rPr>
              <a:t>Auxins rather proceed from cell to cell particularly through the parenchyma cells surrounding the vascular bundles</a:t>
            </a:r>
          </a:p>
        </p:txBody>
      </p:sp>
    </p:spTree>
    <p:extLst>
      <p:ext uri="{BB962C8B-B14F-4D97-AF65-F5344CB8AC3E}">
        <p14:creationId xmlns:p14="http://schemas.microsoft.com/office/powerpoint/2010/main" val="18470613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7620000" cy="432048"/>
          </a:xfrm>
        </p:spPr>
        <p:txBody>
          <a:bodyPr/>
          <a:lstStyle/>
          <a:p>
            <a:pPr algn="ctr"/>
            <a:r>
              <a:rPr lang="en-GB" sz="3200" dirty="0"/>
              <a:t>AUXIN TRANSPORT </a:t>
            </a:r>
            <a:r>
              <a:rPr lang="en-GB" sz="3200" i="1" dirty="0"/>
              <a:t>contd.</a:t>
            </a:r>
            <a:endParaRPr lang="en-GB" sz="3200" dirty="0"/>
          </a:p>
        </p:txBody>
      </p:sp>
      <p:sp>
        <p:nvSpPr>
          <p:cNvPr id="3" name="Content Placeholder 2"/>
          <p:cNvSpPr>
            <a:spLocks noGrp="1"/>
          </p:cNvSpPr>
          <p:nvPr>
            <p:ph idx="1"/>
          </p:nvPr>
        </p:nvSpPr>
        <p:spPr>
          <a:xfrm>
            <a:off x="457200" y="1052736"/>
            <a:ext cx="7620000" cy="5688632"/>
          </a:xfrm>
        </p:spPr>
        <p:txBody>
          <a:bodyPr>
            <a:normAutofit/>
          </a:bodyPr>
          <a:lstStyle/>
          <a:p>
            <a:r>
              <a:rPr lang="en-GB" sz="3600" dirty="0">
                <a:latin typeface="Times New Roman" pitchFamily="18" charset="0"/>
                <a:cs typeface="Times New Roman" pitchFamily="18" charset="0"/>
              </a:rPr>
              <a:t>Synthetic auxins applied to plants also move as IAA does</a:t>
            </a:r>
          </a:p>
          <a:p>
            <a:r>
              <a:rPr lang="en-GB" sz="3600" dirty="0">
                <a:latin typeface="Times New Roman" pitchFamily="18" charset="0"/>
                <a:cs typeface="Times New Roman" pitchFamily="18" charset="0"/>
              </a:rPr>
              <a:t>Movement of auxins from the cells where they are produced require the expenditure of energy  as evident by the ability of ATP synthesis inhibitors or lack of oxygen to block it.</a:t>
            </a:r>
          </a:p>
          <a:p>
            <a:r>
              <a:rPr lang="en-GB" sz="3600" dirty="0">
                <a:latin typeface="Times New Roman" pitchFamily="18" charset="0"/>
                <a:cs typeface="Times New Roman" pitchFamily="18" charset="0"/>
              </a:rPr>
              <a:t>The migration is relatively slow, about 1cm per hour in both roots and stems</a:t>
            </a:r>
          </a:p>
        </p:txBody>
      </p:sp>
    </p:spTree>
    <p:extLst>
      <p:ext uri="{BB962C8B-B14F-4D97-AF65-F5344CB8AC3E}">
        <p14:creationId xmlns:p14="http://schemas.microsoft.com/office/powerpoint/2010/main" val="18470613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C8F719-4B20-4C59-ACB3-728936923F26}"/>
              </a:ext>
            </a:extLst>
          </p:cNvPr>
          <p:cNvSpPr txBox="1"/>
          <p:nvPr/>
        </p:nvSpPr>
        <p:spPr>
          <a:xfrm>
            <a:off x="611560" y="836712"/>
            <a:ext cx="7488832" cy="563231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Synthetic auxins, however, move slower</a:t>
            </a:r>
          </a:p>
          <a:p>
            <a:pPr marL="571500" indent="-571500">
              <a:buFont typeface="Arial" panose="020B0604020202020204" pitchFamily="34" charset="0"/>
              <a:buChar char="•"/>
            </a:pPr>
            <a:r>
              <a:rPr lang="en-GB" sz="3600" dirty="0">
                <a:latin typeface="Times New Roman" pitchFamily="18" charset="0"/>
                <a:cs typeface="Times New Roman" pitchFamily="18" charset="0"/>
              </a:rPr>
              <a:t>Other strong inhibitors of polar auxin transport are: 2,3,5-triiodobenzoic acid (TIBA) and </a:t>
            </a:r>
            <a:r>
              <a:rPr lang="en-GB" sz="3600" dirty="0" err="1">
                <a:latin typeface="Times New Roman" pitchFamily="18" charset="0"/>
                <a:cs typeface="Times New Roman" pitchFamily="18" charset="0"/>
              </a:rPr>
              <a:t>Naphthylthalamic</a:t>
            </a:r>
            <a:r>
              <a:rPr lang="en-GB" sz="3600" dirty="0">
                <a:latin typeface="Times New Roman" pitchFamily="18" charset="0"/>
                <a:cs typeface="Times New Roman" pitchFamily="18" charset="0"/>
              </a:rPr>
              <a:t> acid (NPA)</a:t>
            </a:r>
          </a:p>
          <a:p>
            <a:pPr marL="571500" indent="-571500">
              <a:buFont typeface="Arial" panose="020B0604020202020204" pitchFamily="34" charset="0"/>
              <a:buChar char="•"/>
            </a:pPr>
            <a:r>
              <a:rPr lang="en-GB" sz="3600" dirty="0">
                <a:latin typeface="Times New Roman" pitchFamily="18" charset="0"/>
                <a:cs typeface="Times New Roman" pitchFamily="18" charset="0"/>
              </a:rPr>
              <a:t>TIBA and NPA interfere specifically with auxin transport and not with the energy metabolism and are therefore called </a:t>
            </a:r>
            <a:r>
              <a:rPr lang="en-GB" sz="3600" b="1" dirty="0">
                <a:latin typeface="Times New Roman" pitchFamily="18" charset="0"/>
                <a:cs typeface="Times New Roman" pitchFamily="18" charset="0"/>
              </a:rPr>
              <a:t>Antiauxins</a:t>
            </a: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4269599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1FF80C-A616-48CC-8B04-B64833E49752}"/>
              </a:ext>
            </a:extLst>
          </p:cNvPr>
          <p:cNvSpPr txBox="1"/>
          <p:nvPr/>
        </p:nvSpPr>
        <p:spPr>
          <a:xfrm>
            <a:off x="467544" y="476672"/>
            <a:ext cx="7776864" cy="5940088"/>
          </a:xfrm>
          <a:prstGeom prst="rect">
            <a:avLst/>
          </a:prstGeom>
          <a:noFill/>
        </p:spPr>
        <p:txBody>
          <a:bodyPr wrap="square">
            <a:spAutoFit/>
          </a:bodyPr>
          <a:lstStyle/>
          <a:p>
            <a:pPr algn="ctr"/>
            <a:r>
              <a:rPr lang="en-GB" sz="2800" b="1" dirty="0">
                <a:latin typeface="Times New Roman" pitchFamily="18" charset="0"/>
                <a:cs typeface="Times New Roman" pitchFamily="18" charset="0"/>
              </a:rPr>
              <a:t>EFFECTS OF AUXINS ON THE GROWTH AND DEVELOPMENT OF PLANTS</a:t>
            </a:r>
          </a:p>
          <a:p>
            <a:pPr marL="571500" indent="-571500">
              <a:buFont typeface="Arial" panose="020B0604020202020204" pitchFamily="34" charset="0"/>
              <a:buChar char="•"/>
            </a:pPr>
            <a:r>
              <a:rPr lang="en-GB" sz="3600" dirty="0">
                <a:latin typeface="Times New Roman" pitchFamily="18" charset="0"/>
                <a:cs typeface="Times New Roman" pitchFamily="18" charset="0"/>
              </a:rPr>
              <a:t>The response of cells of plants to auxins vary according to the concentrations, location and other factors</a:t>
            </a:r>
          </a:p>
          <a:p>
            <a:pPr marL="571500" indent="-571500">
              <a:buFont typeface="Arial" panose="020B0604020202020204" pitchFamily="34" charset="0"/>
              <a:buChar char="•"/>
            </a:pPr>
            <a:r>
              <a:rPr lang="en-GB" sz="3600" dirty="0" err="1">
                <a:latin typeface="Times New Roman" pitchFamily="18" charset="0"/>
                <a:cs typeface="Times New Roman" pitchFamily="18" charset="0"/>
              </a:rPr>
              <a:t>Eg.</a:t>
            </a:r>
            <a:r>
              <a:rPr lang="en-GB" sz="3600" dirty="0">
                <a:latin typeface="Times New Roman" pitchFamily="18" charset="0"/>
                <a:cs typeface="Times New Roman" pitchFamily="18" charset="0"/>
              </a:rPr>
              <a:t> if an auxin of a specific concentration promotes shoot growth in a certain plant, the same auxin of identical concentration will usually inhibit its root growth.</a:t>
            </a:r>
          </a:p>
        </p:txBody>
      </p:sp>
    </p:spTree>
    <p:extLst>
      <p:ext uri="{BB962C8B-B14F-4D97-AF65-F5344CB8AC3E}">
        <p14:creationId xmlns:p14="http://schemas.microsoft.com/office/powerpoint/2010/main" val="13159130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7620000" cy="576064"/>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1052736"/>
            <a:ext cx="7620000" cy="5688632"/>
          </a:xfrm>
        </p:spPr>
        <p:txBody>
          <a:bodyPr>
            <a:noAutofit/>
          </a:bodyPr>
          <a:lstStyle/>
          <a:p>
            <a:r>
              <a:rPr lang="en-GB" sz="3600" dirty="0">
                <a:latin typeface="Times New Roman" pitchFamily="18" charset="0"/>
                <a:cs typeface="Times New Roman" pitchFamily="18" charset="0"/>
              </a:rPr>
              <a:t>Sensitivity to auxins is less in many monocots </a:t>
            </a:r>
            <a:r>
              <a:rPr lang="en-GB" sz="3600" dirty="0" err="1">
                <a:latin typeface="Times New Roman" pitchFamily="18" charset="0"/>
                <a:cs typeface="Times New Roman" pitchFamily="18" charset="0"/>
              </a:rPr>
              <a:t>ie</a:t>
            </a:r>
            <a:r>
              <a:rPr lang="en-GB" sz="3600" dirty="0">
                <a:latin typeface="Times New Roman" pitchFamily="18" charset="0"/>
                <a:cs typeface="Times New Roman" pitchFamily="18" charset="0"/>
              </a:rPr>
              <a:t>.  monocots and shoots are less sensitive; roots and dicots are more sensitive.</a:t>
            </a:r>
          </a:p>
          <a:p>
            <a:r>
              <a:rPr lang="en-GB" sz="3600" dirty="0">
                <a:latin typeface="Times New Roman" pitchFamily="18" charset="0"/>
                <a:cs typeface="Times New Roman" pitchFamily="18" charset="0"/>
              </a:rPr>
              <a:t>Very high concentration of auxins can kill almost any living plant tissue</a:t>
            </a:r>
          </a:p>
          <a:p>
            <a:r>
              <a:rPr lang="en-GB" sz="3600" dirty="0">
                <a:latin typeface="Times New Roman" pitchFamily="18" charset="0"/>
                <a:cs typeface="Times New Roman" pitchFamily="18" charset="0"/>
              </a:rPr>
              <a:t>Therefore, it has an application in the herbicide industry.</a:t>
            </a:r>
          </a:p>
        </p:txBody>
      </p:sp>
    </p:spTree>
    <p:extLst>
      <p:ext uri="{BB962C8B-B14F-4D97-AF65-F5344CB8AC3E}">
        <p14:creationId xmlns:p14="http://schemas.microsoft.com/office/powerpoint/2010/main" val="1847061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AC76C-B313-4BEC-A39A-81907536C80A}"/>
              </a:ext>
            </a:extLst>
          </p:cNvPr>
          <p:cNvSpPr txBox="1"/>
          <p:nvPr/>
        </p:nvSpPr>
        <p:spPr>
          <a:xfrm>
            <a:off x="395536" y="692696"/>
            <a:ext cx="7992888" cy="5078313"/>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These include: triggering the production of different growth regulators especially ethylene</a:t>
            </a:r>
          </a:p>
          <a:p>
            <a:pPr marL="571500" indent="-571500">
              <a:buFont typeface="Arial" panose="020B0604020202020204" pitchFamily="34" charset="0"/>
              <a:buChar char="•"/>
            </a:pPr>
            <a:r>
              <a:rPr lang="en-GB" sz="3600" dirty="0">
                <a:latin typeface="Times New Roman" pitchFamily="18" charset="0"/>
                <a:cs typeface="Times New Roman" pitchFamily="18" charset="0"/>
              </a:rPr>
              <a:t>Auxins have many effects on plant growth and development.</a:t>
            </a:r>
          </a:p>
          <a:p>
            <a:pPr marL="571500" indent="-571500">
              <a:buFont typeface="Arial" panose="020B0604020202020204" pitchFamily="34" charset="0"/>
              <a:buChar char="•"/>
            </a:pPr>
            <a:r>
              <a:rPr lang="en-GB" sz="3600" dirty="0">
                <a:latin typeface="Times New Roman" pitchFamily="18" charset="0"/>
                <a:cs typeface="Times New Roman" pitchFamily="18" charset="0"/>
              </a:rPr>
              <a:t>They cause the Golgi bodies to increase secretion and then play a role in some phase of respiration</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3452642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C070EC-C284-4B61-90A0-83EA0719F223}"/>
              </a:ext>
            </a:extLst>
          </p:cNvPr>
          <p:cNvSpPr txBox="1"/>
          <p:nvPr/>
        </p:nvSpPr>
        <p:spPr>
          <a:xfrm>
            <a:off x="611560" y="548680"/>
            <a:ext cx="7632848" cy="563231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They influence flower initiation, abscission (the dropping of leaves or other plant parts)</a:t>
            </a:r>
          </a:p>
          <a:p>
            <a:pPr marL="571500" indent="-571500">
              <a:buFont typeface="Arial" panose="020B0604020202020204" pitchFamily="34" charset="0"/>
              <a:buChar char="•"/>
            </a:pPr>
            <a:r>
              <a:rPr lang="en-GB" sz="3600" dirty="0">
                <a:latin typeface="Times New Roman" pitchFamily="18" charset="0"/>
                <a:cs typeface="Times New Roman" pitchFamily="18" charset="0"/>
              </a:rPr>
              <a:t>They also affect root development, aging, dormancy, apical dormancy, fruit development and growth.</a:t>
            </a:r>
          </a:p>
          <a:p>
            <a:pPr marL="571500" indent="-571500">
              <a:buFont typeface="Arial" panose="020B0604020202020204" pitchFamily="34" charset="0"/>
              <a:buChar char="•"/>
            </a:pPr>
            <a:r>
              <a:rPr lang="en-GB" sz="3600" dirty="0">
                <a:latin typeface="Times New Roman" pitchFamily="18" charset="0"/>
                <a:cs typeface="Times New Roman" pitchFamily="18" charset="0"/>
              </a:rPr>
              <a:t>The effects of auxins combine with some regulators to produce many of the growth and development phenomena!</a:t>
            </a:r>
          </a:p>
        </p:txBody>
      </p:sp>
    </p:spTree>
    <p:extLst>
      <p:ext uri="{BB962C8B-B14F-4D97-AF65-F5344CB8AC3E}">
        <p14:creationId xmlns:p14="http://schemas.microsoft.com/office/powerpoint/2010/main" val="2802815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7620000" cy="432048"/>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1052736"/>
            <a:ext cx="7620000" cy="5688632"/>
          </a:xfrm>
        </p:spPr>
        <p:txBody>
          <a:bodyPr>
            <a:normAutofit/>
          </a:bodyPr>
          <a:lstStyle/>
          <a:p>
            <a:pPr marL="628650" indent="-514350">
              <a:buFont typeface="+mj-lt"/>
              <a:buAutoNum type="arabicParenR"/>
            </a:pPr>
            <a:r>
              <a:rPr lang="en-GB" sz="3200" b="1" dirty="0">
                <a:latin typeface="Times New Roman" pitchFamily="18" charset="0"/>
                <a:cs typeface="Times New Roman" pitchFamily="18" charset="0"/>
              </a:rPr>
              <a:t>The Effects of Auxin On Root Development:</a:t>
            </a:r>
          </a:p>
          <a:p>
            <a:r>
              <a:rPr lang="en-GB" sz="3600" dirty="0">
                <a:latin typeface="Times New Roman" pitchFamily="18" charset="0"/>
                <a:cs typeface="Times New Roman" pitchFamily="18" charset="0"/>
              </a:rPr>
              <a:t>Segments of young apical regions of the root show growth responses to exogenous auxins.</a:t>
            </a:r>
          </a:p>
          <a:p>
            <a:r>
              <a:rPr lang="en-GB" sz="3600" dirty="0">
                <a:latin typeface="Times New Roman" pitchFamily="18" charset="0"/>
                <a:cs typeface="Times New Roman" pitchFamily="18" charset="0"/>
              </a:rPr>
              <a:t>This is basically similar to those of stems or coleoptile but the optimum concentration for root elongation is much smaller</a:t>
            </a:r>
          </a:p>
        </p:txBody>
      </p:sp>
    </p:spTree>
    <p:extLst>
      <p:ext uri="{BB962C8B-B14F-4D97-AF65-F5344CB8AC3E}">
        <p14:creationId xmlns:p14="http://schemas.microsoft.com/office/powerpoint/2010/main" val="10704331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695A1E-9ADE-4EF1-8AC4-028B0C0FF3D4}"/>
              </a:ext>
            </a:extLst>
          </p:cNvPr>
          <p:cNvSpPr txBox="1"/>
          <p:nvPr/>
        </p:nvSpPr>
        <p:spPr>
          <a:xfrm>
            <a:off x="1043608" y="908720"/>
            <a:ext cx="7200800" cy="5078313"/>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 concentration at which optimal growth is promoted varies with the plant organ</a:t>
            </a:r>
          </a:p>
          <a:p>
            <a:pPr marL="571500" indent="-571500">
              <a:buFont typeface="Arial" panose="020B0604020202020204" pitchFamily="34" charset="0"/>
              <a:buChar char="•"/>
            </a:pPr>
            <a:r>
              <a:rPr lang="en-GB" sz="3600" dirty="0">
                <a:latin typeface="Times New Roman" pitchFamily="18" charset="0"/>
                <a:cs typeface="Times New Roman" pitchFamily="18" charset="0"/>
              </a:rPr>
              <a:t>There is an optimal concentration for each tissue</a:t>
            </a:r>
          </a:p>
          <a:p>
            <a:pPr marL="571500" indent="-571500">
              <a:buFont typeface="Arial" panose="020B0604020202020204" pitchFamily="34" charset="0"/>
              <a:buChar char="•"/>
            </a:pPr>
            <a:r>
              <a:rPr lang="en-GB" sz="3600" dirty="0">
                <a:latin typeface="Times New Roman" pitchFamily="18" charset="0"/>
                <a:cs typeface="Times New Roman" pitchFamily="18" charset="0"/>
              </a:rPr>
              <a:t>Growth of roots and buds is stimulated by very small quantities of </a:t>
            </a:r>
            <a:r>
              <a:rPr lang="en-GB" sz="3200" dirty="0">
                <a:latin typeface="Times New Roman" pitchFamily="18" charset="0"/>
                <a:cs typeface="Times New Roman" pitchFamily="18" charset="0"/>
              </a:rPr>
              <a:t>IAA</a:t>
            </a:r>
            <a:r>
              <a:rPr lang="en-GB" sz="3600" dirty="0">
                <a:latin typeface="Times New Roman" pitchFamily="18" charset="0"/>
                <a:cs typeface="Times New Roman" pitchFamily="18" charset="0"/>
              </a:rPr>
              <a:t>.</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28350526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6712"/>
            <a:ext cx="7620000" cy="432048"/>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1340768"/>
            <a:ext cx="7620000" cy="5400600"/>
          </a:xfrm>
        </p:spPr>
        <p:txBody>
          <a:bodyPr>
            <a:normAutofit/>
          </a:bodyPr>
          <a:lstStyle/>
          <a:p>
            <a:r>
              <a:rPr lang="en-GB" sz="3600" dirty="0">
                <a:latin typeface="Times New Roman" pitchFamily="18" charset="0"/>
                <a:cs typeface="Times New Roman" pitchFamily="18" charset="0"/>
              </a:rPr>
              <a:t>At these concentrations, stem growth is not very significantly promoted</a:t>
            </a:r>
          </a:p>
          <a:p>
            <a:r>
              <a:rPr lang="en-GB" sz="3600" dirty="0">
                <a:latin typeface="Times New Roman" pitchFamily="18" charset="0"/>
                <a:cs typeface="Times New Roman" pitchFamily="18" charset="0"/>
              </a:rPr>
              <a:t>Higher concentrations which stimulate stem growth depress root growth</a:t>
            </a:r>
          </a:p>
          <a:p>
            <a:r>
              <a:rPr lang="en-GB" sz="3600" dirty="0">
                <a:latin typeface="Times New Roman" pitchFamily="18" charset="0"/>
                <a:cs typeface="Times New Roman" pitchFamily="18" charset="0"/>
              </a:rPr>
              <a:t>The first practical application of auxin involves its promotive effect on the formation of adventitious roots in cuttings</a:t>
            </a:r>
          </a:p>
        </p:txBody>
      </p:sp>
    </p:spTree>
    <p:extLst>
      <p:ext uri="{BB962C8B-B14F-4D97-AF65-F5344CB8AC3E}">
        <p14:creationId xmlns:p14="http://schemas.microsoft.com/office/powerpoint/2010/main" val="10704331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7620000" cy="432048"/>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r>
              <a:rPr lang="en-GB" sz="4000" i="1" dirty="0">
                <a:latin typeface="Times New Roman" pitchFamily="18" charset="0"/>
                <a:cs typeface="Times New Roman" pitchFamily="18" charset="0"/>
              </a:rPr>
              <a:t>.</a:t>
            </a:r>
            <a:endParaRPr lang="en-GB" sz="4000" dirty="0"/>
          </a:p>
        </p:txBody>
      </p:sp>
      <p:sp>
        <p:nvSpPr>
          <p:cNvPr id="3" name="Content Placeholder 2"/>
          <p:cNvSpPr>
            <a:spLocks noGrp="1"/>
          </p:cNvSpPr>
          <p:nvPr>
            <p:ph idx="1"/>
          </p:nvPr>
        </p:nvSpPr>
        <p:spPr>
          <a:xfrm>
            <a:off x="457200" y="908720"/>
            <a:ext cx="7620000" cy="5832648"/>
          </a:xfrm>
        </p:spPr>
        <p:txBody>
          <a:bodyPr>
            <a:normAutofit/>
          </a:bodyPr>
          <a:lstStyle/>
          <a:p>
            <a:r>
              <a:rPr lang="en-GB" sz="3600" dirty="0">
                <a:latin typeface="Times New Roman" pitchFamily="18" charset="0"/>
                <a:cs typeface="Times New Roman" pitchFamily="18" charset="0"/>
              </a:rPr>
              <a:t>At proper concentrations, IAA and other growth regulators stimulate the formation of roots on almost any plant tissue</a:t>
            </a:r>
          </a:p>
          <a:p>
            <a:r>
              <a:rPr lang="en-GB" sz="3600" dirty="0">
                <a:latin typeface="Times New Roman" pitchFamily="18" charset="0"/>
                <a:cs typeface="Times New Roman" pitchFamily="18" charset="0"/>
              </a:rPr>
              <a:t>The practice of dipping cuttings in auxin solution is commercially important especially for the cultivation of woody plants that are produced on large scale by vegetative propagation in nurseries</a:t>
            </a:r>
          </a:p>
        </p:txBody>
      </p:sp>
    </p:spTree>
    <p:extLst>
      <p:ext uri="{BB962C8B-B14F-4D97-AF65-F5344CB8AC3E}">
        <p14:creationId xmlns:p14="http://schemas.microsoft.com/office/powerpoint/2010/main" val="10704331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E8F96C-4074-4F0B-ADD9-C3E7BAD7C5A4}"/>
              </a:ext>
            </a:extLst>
          </p:cNvPr>
          <p:cNvSpPr txBox="1"/>
          <p:nvPr/>
        </p:nvSpPr>
        <p:spPr>
          <a:xfrm>
            <a:off x="755576" y="908720"/>
            <a:ext cx="7560840" cy="1754326"/>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Application of large quantities of auxins to already growing roots however usually inhibits their growth</a:t>
            </a:r>
          </a:p>
        </p:txBody>
      </p:sp>
    </p:spTree>
    <p:extLst>
      <p:ext uri="{BB962C8B-B14F-4D97-AF65-F5344CB8AC3E}">
        <p14:creationId xmlns:p14="http://schemas.microsoft.com/office/powerpoint/2010/main" val="2325034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BBBC22-D9B3-4E38-9F4E-21F608BF5F7B}"/>
              </a:ext>
            </a:extLst>
          </p:cNvPr>
          <p:cNvSpPr txBox="1"/>
          <p:nvPr/>
        </p:nvSpPr>
        <p:spPr>
          <a:xfrm>
            <a:off x="683568" y="1124744"/>
            <a:ext cx="7632848" cy="4462760"/>
          </a:xfrm>
          <a:prstGeom prst="rect">
            <a:avLst/>
          </a:prstGeom>
          <a:noFill/>
        </p:spPr>
        <p:txBody>
          <a:bodyPr wrap="square">
            <a:spAutoFit/>
          </a:bodyPr>
          <a:lstStyle/>
          <a:p>
            <a:pPr marL="628650" indent="-514350">
              <a:buAutoNum type="arabicParenR" startAt="2"/>
            </a:pPr>
            <a:endParaRPr lang="en-GB" sz="3200" b="1" dirty="0">
              <a:latin typeface="Times New Roman" pitchFamily="18" charset="0"/>
              <a:cs typeface="Times New Roman" pitchFamily="18" charset="0"/>
            </a:endParaRPr>
          </a:p>
          <a:p>
            <a:pPr marL="628650" indent="-514350">
              <a:buAutoNum type="arabicParenR" startAt="2"/>
            </a:pPr>
            <a:r>
              <a:rPr lang="en-GB" sz="3200" b="1" dirty="0">
                <a:latin typeface="Times New Roman" pitchFamily="18" charset="0"/>
                <a:cs typeface="Times New Roman" pitchFamily="18" charset="0"/>
              </a:rPr>
              <a:t>The Effect of Auxin On Cell Expansion/Cell Elongation:</a:t>
            </a:r>
          </a:p>
          <a:p>
            <a:pPr marL="571500" indent="-571500">
              <a:buFont typeface="Arial" panose="020B0604020202020204" pitchFamily="34" charset="0"/>
              <a:buChar char="•"/>
            </a:pPr>
            <a:r>
              <a:rPr lang="en-GB" sz="3600" dirty="0">
                <a:latin typeface="Times New Roman" pitchFamily="18" charset="0"/>
                <a:cs typeface="Times New Roman" pitchFamily="18" charset="0"/>
              </a:rPr>
              <a:t>Auxins primarily control cell enlargement</a:t>
            </a:r>
          </a:p>
          <a:p>
            <a:pPr marL="571500" indent="-571500">
              <a:buFont typeface="Arial" panose="020B0604020202020204" pitchFamily="34" charset="0"/>
              <a:buChar char="•"/>
            </a:pPr>
            <a:r>
              <a:rPr lang="en-GB" sz="3600" dirty="0">
                <a:latin typeface="Times New Roman" pitchFamily="18" charset="0"/>
                <a:cs typeface="Times New Roman" pitchFamily="18" charset="0"/>
              </a:rPr>
              <a:t>Stem segments show increased growth with increasing concentrations of up to about 10ml</a:t>
            </a:r>
          </a:p>
        </p:txBody>
      </p:sp>
    </p:spTree>
    <p:extLst>
      <p:ext uri="{BB962C8B-B14F-4D97-AF65-F5344CB8AC3E}">
        <p14:creationId xmlns:p14="http://schemas.microsoft.com/office/powerpoint/2010/main" val="8840204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FFF6F0-E743-4278-B7FB-B555466B590B}"/>
              </a:ext>
            </a:extLst>
          </p:cNvPr>
          <p:cNvSpPr txBox="1"/>
          <p:nvPr/>
        </p:nvSpPr>
        <p:spPr>
          <a:xfrm>
            <a:off x="395536" y="1628800"/>
            <a:ext cx="7920880" cy="2934330"/>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Concentrations above this threshold results in less growth until a concentration of 100ml is attained</a:t>
            </a:r>
          </a:p>
          <a:p>
            <a:pPr marL="571500" indent="-571500">
              <a:buFont typeface="Arial" panose="020B0604020202020204" pitchFamily="34" charset="0"/>
              <a:buChar char="•"/>
            </a:pPr>
            <a:r>
              <a:rPr lang="en-GB" sz="3600" dirty="0">
                <a:latin typeface="Times New Roman" pitchFamily="18" charset="0"/>
                <a:cs typeface="Times New Roman" pitchFamily="18" charset="0"/>
              </a:rPr>
              <a:t>Beyond this limit, there is inhibition of extension of growth.</a:t>
            </a:r>
          </a:p>
        </p:txBody>
      </p:sp>
    </p:spTree>
    <p:extLst>
      <p:ext uri="{BB962C8B-B14F-4D97-AF65-F5344CB8AC3E}">
        <p14:creationId xmlns:p14="http://schemas.microsoft.com/office/powerpoint/2010/main" val="10580007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7620000" cy="504056"/>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r>
              <a:rPr lang="en-GB" sz="4000" i="1" dirty="0">
                <a:latin typeface="Times New Roman" pitchFamily="18" charset="0"/>
                <a:cs typeface="Times New Roman" pitchFamily="18" charset="0"/>
              </a:rPr>
              <a:t>.</a:t>
            </a:r>
            <a:endParaRPr lang="en-GB" sz="4000" dirty="0"/>
          </a:p>
        </p:txBody>
      </p:sp>
      <p:sp>
        <p:nvSpPr>
          <p:cNvPr id="3" name="Content Placeholder 2"/>
          <p:cNvSpPr>
            <a:spLocks noGrp="1"/>
          </p:cNvSpPr>
          <p:nvPr>
            <p:ph idx="1"/>
          </p:nvPr>
        </p:nvSpPr>
        <p:spPr>
          <a:xfrm>
            <a:off x="457200" y="1124744"/>
            <a:ext cx="7859216" cy="5616624"/>
          </a:xfrm>
        </p:spPr>
        <p:txBody>
          <a:bodyPr>
            <a:normAutofit/>
          </a:bodyPr>
          <a:lstStyle/>
          <a:p>
            <a:r>
              <a:rPr lang="en-GB" sz="3600" dirty="0">
                <a:latin typeface="Times New Roman" pitchFamily="18" charset="0"/>
                <a:cs typeface="Times New Roman" pitchFamily="18" charset="0"/>
              </a:rPr>
              <a:t>Auxins increase the plasticity of plant cell wall.</a:t>
            </a:r>
          </a:p>
          <a:p>
            <a:r>
              <a:rPr lang="en-GB" sz="3600" dirty="0">
                <a:latin typeface="Times New Roman" pitchFamily="18" charset="0"/>
                <a:cs typeface="Times New Roman" pitchFamily="18" charset="0"/>
              </a:rPr>
              <a:t>Very low concentrations of auxin promote cell wall plasticity and so the hormone is broken down rapidly to prevent its rapid accumulation.</a:t>
            </a:r>
          </a:p>
          <a:p>
            <a:r>
              <a:rPr lang="en-GB" sz="3600" dirty="0">
                <a:latin typeface="Times New Roman" pitchFamily="18" charset="0"/>
                <a:cs typeface="Times New Roman" pitchFamily="18" charset="0"/>
              </a:rPr>
              <a:t>Plants do this to control their precise growth</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10704331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098417-103F-4E65-A0AE-4EADA61756E6}"/>
              </a:ext>
            </a:extLst>
          </p:cNvPr>
          <p:cNvSpPr txBox="1"/>
          <p:nvPr/>
        </p:nvSpPr>
        <p:spPr>
          <a:xfrm>
            <a:off x="611560" y="620688"/>
            <a:ext cx="7560840" cy="5078313"/>
          </a:xfrm>
          <a:prstGeom prst="rect">
            <a:avLst/>
          </a:prstGeom>
          <a:noFill/>
        </p:spPr>
        <p:txBody>
          <a:bodyPr wrap="square">
            <a:spAutoFit/>
          </a:bodyPr>
          <a:lstStyle/>
          <a:p>
            <a:pPr marL="628650" indent="-514350">
              <a:buAutoNum type="arabicParenR" startAt="3"/>
            </a:pPr>
            <a:r>
              <a:rPr lang="en-GB" sz="3600" b="1" dirty="0">
                <a:latin typeface="Times New Roman" pitchFamily="18" charset="0"/>
                <a:cs typeface="Times New Roman" pitchFamily="18" charset="0"/>
              </a:rPr>
              <a:t>Auxin and Fruit Development:</a:t>
            </a:r>
            <a:endParaRPr lang="en-GB" sz="3600" dirty="0">
              <a:latin typeface="Times New Roman" pitchFamily="18" charset="0"/>
              <a:cs typeface="Times New Roman" pitchFamily="18" charset="0"/>
            </a:endParaRPr>
          </a:p>
          <a:p>
            <a:pPr marL="571500" indent="-571500">
              <a:buFont typeface="Arial" panose="020B0604020202020204" pitchFamily="34" charset="0"/>
              <a:buChar char="•"/>
            </a:pPr>
            <a:r>
              <a:rPr lang="en-GB" sz="3600" dirty="0">
                <a:latin typeface="Times New Roman" pitchFamily="18" charset="0"/>
                <a:cs typeface="Times New Roman" pitchFamily="18" charset="0"/>
              </a:rPr>
              <a:t>Auxin promotes the growth of fruits.</a:t>
            </a:r>
          </a:p>
          <a:p>
            <a:pPr marL="571500" indent="-571500">
              <a:buFont typeface="Arial" panose="020B0604020202020204" pitchFamily="34" charset="0"/>
              <a:buChar char="•"/>
            </a:pPr>
            <a:r>
              <a:rPr lang="en-GB" sz="3600" dirty="0">
                <a:latin typeface="Times New Roman" pitchFamily="18" charset="0"/>
                <a:cs typeface="Times New Roman" pitchFamily="18" charset="0"/>
              </a:rPr>
              <a:t>Ordinarily, if the flower is non-pollinated and fertilization does not take place, the fruit will not develop.</a:t>
            </a:r>
          </a:p>
          <a:p>
            <a:pPr marL="571500" indent="-571500">
              <a:buFont typeface="Arial" panose="020B0604020202020204" pitchFamily="34" charset="0"/>
              <a:buChar char="•"/>
            </a:pPr>
            <a:r>
              <a:rPr lang="en-GB" sz="3600" dirty="0">
                <a:latin typeface="Times New Roman" pitchFamily="18" charset="0"/>
                <a:cs typeface="Times New Roman" pitchFamily="18" charset="0"/>
              </a:rPr>
              <a:t>In some plants, fertilization of one egg is sufficient for the normal fruit development but others like apples and melons require more</a:t>
            </a:r>
          </a:p>
        </p:txBody>
      </p:sp>
    </p:spTree>
    <p:extLst>
      <p:ext uri="{BB962C8B-B14F-4D97-AF65-F5344CB8AC3E}">
        <p14:creationId xmlns:p14="http://schemas.microsoft.com/office/powerpoint/2010/main" val="14908020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C25492-2B54-4ACF-B8F3-260C3DE5CCB0}"/>
              </a:ext>
            </a:extLst>
          </p:cNvPr>
          <p:cNvSpPr txBox="1"/>
          <p:nvPr/>
        </p:nvSpPr>
        <p:spPr>
          <a:xfrm>
            <a:off x="827584" y="764704"/>
            <a:ext cx="7200800" cy="563231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In melons which have many seeds, several eggs have to be fertilized for the ovary wall to mature and become fleshy.</a:t>
            </a:r>
          </a:p>
          <a:p>
            <a:pPr marL="571500" indent="-571500">
              <a:buFont typeface="Arial" panose="020B0604020202020204" pitchFamily="34" charset="0"/>
              <a:buChar char="•"/>
            </a:pPr>
            <a:r>
              <a:rPr lang="en-GB" sz="3600" dirty="0">
                <a:latin typeface="Times New Roman" pitchFamily="18" charset="0"/>
                <a:cs typeface="Times New Roman" pitchFamily="18" charset="0"/>
              </a:rPr>
              <a:t>By treating the female flower part of some plant spp. with  auxin, it is possible to produce </a:t>
            </a:r>
            <a:r>
              <a:rPr lang="en-GB" sz="3600" dirty="0" err="1">
                <a:latin typeface="Times New Roman" pitchFamily="18" charset="0"/>
                <a:cs typeface="Times New Roman" pitchFamily="18" charset="0"/>
              </a:rPr>
              <a:t>parthenocarpic</a:t>
            </a:r>
            <a:r>
              <a:rPr lang="en-GB" sz="3600" dirty="0">
                <a:latin typeface="Times New Roman" pitchFamily="18" charset="0"/>
                <a:cs typeface="Times New Roman" pitchFamily="18" charset="0"/>
              </a:rPr>
              <a:t> fruits (fruits which develop without fertilization)</a:t>
            </a:r>
          </a:p>
          <a:p>
            <a:pPr marL="285750" indent="-28575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663969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202034"/>
          </a:xfrm>
        </p:spPr>
        <p:txBody>
          <a:bodyPr/>
          <a:lstStyle/>
          <a:p>
            <a:pPr algn="ctr"/>
            <a:endParaRPr lang="en-GB" sz="4000" dirty="0"/>
          </a:p>
        </p:txBody>
      </p:sp>
      <p:sp>
        <p:nvSpPr>
          <p:cNvPr id="3" name="Content Placeholder 2"/>
          <p:cNvSpPr>
            <a:spLocks noGrp="1"/>
          </p:cNvSpPr>
          <p:nvPr>
            <p:ph idx="1"/>
          </p:nvPr>
        </p:nvSpPr>
        <p:spPr>
          <a:xfrm>
            <a:off x="457200" y="764704"/>
            <a:ext cx="7620000" cy="5544616"/>
          </a:xfrm>
        </p:spPr>
        <p:txBody>
          <a:bodyPr>
            <a:normAutofit/>
          </a:bodyPr>
          <a:lstStyle/>
          <a:p>
            <a:r>
              <a:rPr lang="en-GB" sz="3600" dirty="0">
                <a:latin typeface="Times New Roman" pitchFamily="18" charset="0"/>
                <a:cs typeface="Times New Roman" pitchFamily="18" charset="0"/>
              </a:rPr>
              <a:t>Among such fruits are seedless tomato, cucumber and egg plant</a:t>
            </a:r>
          </a:p>
          <a:p>
            <a:r>
              <a:rPr lang="en-GB" sz="3600" dirty="0">
                <a:latin typeface="Times New Roman" pitchFamily="18" charset="0"/>
                <a:cs typeface="Times New Roman" pitchFamily="18" charset="0"/>
              </a:rPr>
              <a:t>Apparently the developing seeds are a source of auxin</a:t>
            </a:r>
          </a:p>
          <a:p>
            <a:r>
              <a:rPr lang="en-GB" sz="3600" dirty="0">
                <a:latin typeface="Times New Roman" pitchFamily="18" charset="0"/>
                <a:cs typeface="Times New Roman" pitchFamily="18" charset="0"/>
              </a:rPr>
              <a:t>In the strawberry </a:t>
            </a:r>
            <a:r>
              <a:rPr lang="en-GB" sz="3600" b="1" i="1" dirty="0">
                <a:latin typeface="Times New Roman" pitchFamily="18" charset="0"/>
                <a:cs typeface="Times New Roman" pitchFamily="18" charset="0"/>
              </a:rPr>
              <a:t>Fragaria </a:t>
            </a:r>
            <a:r>
              <a:rPr lang="en-GB" sz="3600" b="1" i="1" dirty="0" err="1">
                <a:latin typeface="Times New Roman" pitchFamily="18" charset="0"/>
                <a:cs typeface="Times New Roman" pitchFamily="18" charset="0"/>
              </a:rPr>
              <a:t>ananassa</a:t>
            </a:r>
            <a:r>
              <a:rPr lang="en-GB" sz="3600" dirty="0">
                <a:latin typeface="Times New Roman" pitchFamily="18" charset="0"/>
                <a:cs typeface="Times New Roman" pitchFamily="18" charset="0"/>
              </a:rPr>
              <a:t>, if the seeds enclosed within  the fruit are surgically removed during development, the fruit stops growing all together</a:t>
            </a:r>
          </a:p>
        </p:txBody>
      </p:sp>
    </p:spTree>
    <p:extLst>
      <p:ext uri="{BB962C8B-B14F-4D97-AF65-F5344CB8AC3E}">
        <p14:creationId xmlns:p14="http://schemas.microsoft.com/office/powerpoint/2010/main" val="10872728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BFA607-5174-44E9-AFBF-68CC65D29CC3}"/>
              </a:ext>
            </a:extLst>
          </p:cNvPr>
          <p:cNvSpPr txBox="1"/>
          <p:nvPr/>
        </p:nvSpPr>
        <p:spPr>
          <a:xfrm>
            <a:off x="467544" y="620688"/>
            <a:ext cx="7776864" cy="4524315"/>
          </a:xfrm>
          <a:prstGeom prst="rect">
            <a:avLst/>
          </a:prstGeom>
          <a:noFill/>
        </p:spPr>
        <p:txBody>
          <a:bodyPr wrap="square">
            <a:spAutoFit/>
          </a:bodyPr>
          <a:lstStyle/>
          <a:p>
            <a:pPr marL="628650" indent="-514350">
              <a:buAutoNum type="arabicParenR" startAt="4"/>
            </a:pPr>
            <a:r>
              <a:rPr lang="en-GB" sz="3600" b="1" dirty="0">
                <a:latin typeface="Times New Roman" pitchFamily="18" charset="0"/>
                <a:cs typeface="Times New Roman" pitchFamily="18" charset="0"/>
              </a:rPr>
              <a:t>Auxin as Herbicide (as the control of weeds):</a:t>
            </a:r>
          </a:p>
          <a:p>
            <a:pPr marL="685800" indent="-571500">
              <a:buFont typeface="Arial" panose="020B0604020202020204" pitchFamily="34" charset="0"/>
              <a:buChar char="•"/>
            </a:pPr>
            <a:r>
              <a:rPr lang="en-GB" sz="3600" dirty="0">
                <a:latin typeface="Times New Roman" pitchFamily="18" charset="0"/>
                <a:cs typeface="Times New Roman" pitchFamily="18" charset="0"/>
              </a:rPr>
              <a:t>Synthetic auxins have been used extensively for the control of weeds in agricultural lands</a:t>
            </a:r>
          </a:p>
          <a:p>
            <a:pPr marL="571500" indent="-571500">
              <a:buFont typeface="Arial" panose="020B0604020202020204" pitchFamily="34" charset="0"/>
              <a:buChar char="•"/>
            </a:pPr>
            <a:r>
              <a:rPr lang="en-GB" sz="3600" dirty="0">
                <a:latin typeface="Times New Roman" pitchFamily="18" charset="0"/>
                <a:cs typeface="Times New Roman" pitchFamily="18" charset="0"/>
              </a:rPr>
              <a:t>In economic terms, this is the major practical use of plant growth regulators</a:t>
            </a:r>
          </a:p>
        </p:txBody>
      </p:sp>
    </p:spTree>
    <p:extLst>
      <p:ext uri="{BB962C8B-B14F-4D97-AF65-F5344CB8AC3E}">
        <p14:creationId xmlns:p14="http://schemas.microsoft.com/office/powerpoint/2010/main" val="3175158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0B1A0E-F9F9-40C4-9B72-1158BB674864}"/>
              </a:ext>
            </a:extLst>
          </p:cNvPr>
          <p:cNvSpPr txBox="1"/>
          <p:nvPr/>
        </p:nvSpPr>
        <p:spPr>
          <a:xfrm>
            <a:off x="323528" y="836712"/>
            <a:ext cx="7920880" cy="5078313"/>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Although a number of compounds can be employed, phenoxy auxins such as </a:t>
            </a:r>
            <a:r>
              <a:rPr lang="en-GB" sz="3200" dirty="0">
                <a:latin typeface="Times New Roman" pitchFamily="18" charset="0"/>
                <a:cs typeface="Times New Roman" pitchFamily="18" charset="0"/>
              </a:rPr>
              <a:t>2-4-D, 2-4-5-T, MCPA/NAA </a:t>
            </a:r>
            <a:r>
              <a:rPr lang="en-GB" sz="3600" dirty="0">
                <a:latin typeface="Times New Roman" pitchFamily="18" charset="0"/>
                <a:cs typeface="Times New Roman" pitchFamily="18" charset="0"/>
              </a:rPr>
              <a:t>are the most important weed control agents</a:t>
            </a:r>
          </a:p>
          <a:p>
            <a:pPr marL="571500" indent="-571500">
              <a:buFont typeface="Arial" panose="020B0604020202020204" pitchFamily="34" charset="0"/>
              <a:buChar char="•"/>
            </a:pPr>
            <a:r>
              <a:rPr lang="en-GB" sz="3600" dirty="0">
                <a:latin typeface="Times New Roman" pitchFamily="18" charset="0"/>
                <a:cs typeface="Times New Roman" pitchFamily="18" charset="0"/>
              </a:rPr>
              <a:t>They represent approximately 20% of the total weed control agents used</a:t>
            </a:r>
          </a:p>
          <a:p>
            <a:pPr marL="571500" indent="-571500">
              <a:buFont typeface="Arial" panose="020B0604020202020204" pitchFamily="34" charset="0"/>
              <a:buChar char="•"/>
            </a:pPr>
            <a:r>
              <a:rPr lang="en-GB" sz="3600" dirty="0">
                <a:latin typeface="Times New Roman" pitchFamily="18" charset="0"/>
                <a:cs typeface="Times New Roman" pitchFamily="18" charset="0"/>
              </a:rPr>
              <a:t>The concentration at which toxicity begins varies from tissue to tissue.</a:t>
            </a:r>
          </a:p>
          <a:p>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3042196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7620000" cy="504056"/>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980728"/>
            <a:ext cx="7859216" cy="5760640"/>
          </a:xfrm>
        </p:spPr>
        <p:txBody>
          <a:bodyPr>
            <a:normAutofit lnSpcReduction="10000"/>
          </a:bodyPr>
          <a:lstStyle/>
          <a:p>
            <a:r>
              <a:rPr lang="en-GB" sz="3600" dirty="0">
                <a:latin typeface="Times New Roman" pitchFamily="18" charset="0"/>
                <a:cs typeface="Times New Roman" pitchFamily="18" charset="0"/>
              </a:rPr>
              <a:t>Auxin concentration of about 100 times greater than normal physiological concentrations have toxic or lethal effects on plants.</a:t>
            </a:r>
          </a:p>
          <a:p>
            <a:r>
              <a:rPr lang="en-GB" sz="3600" dirty="0">
                <a:latin typeface="Times New Roman" pitchFamily="18" charset="0"/>
                <a:cs typeface="Times New Roman" pitchFamily="18" charset="0"/>
              </a:rPr>
              <a:t>This toxicity is selective and affects broad leaf dicot plants more than monocots.</a:t>
            </a:r>
          </a:p>
          <a:p>
            <a:r>
              <a:rPr lang="en-GB" sz="3600" dirty="0">
                <a:latin typeface="Times New Roman" pitchFamily="18" charset="0"/>
                <a:cs typeface="Times New Roman" pitchFamily="18" charset="0"/>
              </a:rPr>
              <a:t>Broad leaf plants such as dandelions (wild lettuce) for reasons that are clearly not understood are more sensitive.</a:t>
            </a:r>
          </a:p>
        </p:txBody>
      </p:sp>
    </p:spTree>
    <p:extLst>
      <p:ext uri="{BB962C8B-B14F-4D97-AF65-F5344CB8AC3E}">
        <p14:creationId xmlns:p14="http://schemas.microsoft.com/office/powerpoint/2010/main" val="10872728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764704"/>
            <a:ext cx="7620000" cy="5976664"/>
          </a:xfrm>
        </p:spPr>
        <p:txBody>
          <a:bodyPr>
            <a:noAutofit/>
          </a:bodyPr>
          <a:lstStyle/>
          <a:p>
            <a:pPr>
              <a:buNone/>
            </a:pPr>
            <a:r>
              <a:rPr lang="en-GB" sz="3600" dirty="0">
                <a:latin typeface="Times New Roman" pitchFamily="18" charset="0"/>
                <a:cs typeface="Times New Roman" pitchFamily="18" charset="0"/>
              </a:rPr>
              <a:t>A number factors are considered before their usage</a:t>
            </a:r>
          </a:p>
          <a:p>
            <a:r>
              <a:rPr lang="en-GB" sz="3600" dirty="0">
                <a:latin typeface="Times New Roman" pitchFamily="18" charset="0"/>
                <a:cs typeface="Times New Roman" pitchFamily="18" charset="0"/>
              </a:rPr>
              <a:t>The important factors include</a:t>
            </a:r>
          </a:p>
          <a:p>
            <a:pPr>
              <a:buFont typeface="Wingdings" panose="05000000000000000000" pitchFamily="2" charset="2"/>
              <a:buChar char="ü"/>
            </a:pPr>
            <a:r>
              <a:rPr lang="en-GB" sz="3600" dirty="0">
                <a:latin typeface="Times New Roman" pitchFamily="18" charset="0"/>
                <a:cs typeface="Times New Roman" pitchFamily="18" charset="0"/>
              </a:rPr>
              <a:t>Cost effectiveness</a:t>
            </a:r>
          </a:p>
          <a:p>
            <a:pPr lvl="1">
              <a:buFont typeface="Wingdings" panose="05000000000000000000" pitchFamily="2" charset="2"/>
              <a:buChar char="ü"/>
            </a:pPr>
            <a:r>
              <a:rPr lang="en-GB" sz="3600" dirty="0">
                <a:latin typeface="Times New Roman" pitchFamily="18" charset="0"/>
                <a:cs typeface="Times New Roman" pitchFamily="18" charset="0"/>
              </a:rPr>
              <a:t>Potential and </a:t>
            </a:r>
          </a:p>
          <a:p>
            <a:pPr lvl="1">
              <a:buFont typeface="Wingdings" panose="05000000000000000000" pitchFamily="2" charset="2"/>
              <a:buChar char="ü"/>
            </a:pPr>
            <a:r>
              <a:rPr lang="en-GB" sz="3600" dirty="0">
                <a:latin typeface="Times New Roman" pitchFamily="18" charset="0"/>
                <a:cs typeface="Times New Roman" pitchFamily="18" charset="0"/>
              </a:rPr>
              <a:t>Real hazards to human health.</a:t>
            </a:r>
          </a:p>
          <a:p>
            <a:r>
              <a:rPr lang="en-GB" sz="3600" dirty="0">
                <a:latin typeface="Times New Roman" pitchFamily="18" charset="0"/>
                <a:cs typeface="Times New Roman" pitchFamily="18" charset="0"/>
              </a:rPr>
              <a:t>So far there is little evidence that </a:t>
            </a:r>
            <a:r>
              <a:rPr lang="en-GB" sz="3200" dirty="0">
                <a:latin typeface="Times New Roman" pitchFamily="18" charset="0"/>
                <a:cs typeface="Times New Roman" pitchFamily="18" charset="0"/>
              </a:rPr>
              <a:t>2,4-D</a:t>
            </a:r>
            <a:r>
              <a:rPr lang="en-GB" sz="3600" dirty="0">
                <a:latin typeface="Times New Roman" pitchFamily="18" charset="0"/>
                <a:cs typeface="Times New Roman" pitchFamily="18" charset="0"/>
              </a:rPr>
              <a:t> has direct adverse effects on humans and other animal lives</a:t>
            </a:r>
          </a:p>
        </p:txBody>
      </p:sp>
    </p:spTree>
    <p:extLst>
      <p:ext uri="{BB962C8B-B14F-4D97-AF65-F5344CB8AC3E}">
        <p14:creationId xmlns:p14="http://schemas.microsoft.com/office/powerpoint/2010/main" val="10872728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D3E364-305E-4B77-BE4F-36F539D1EF6B}"/>
              </a:ext>
            </a:extLst>
          </p:cNvPr>
          <p:cNvSpPr txBox="1"/>
          <p:nvPr/>
        </p:nvSpPr>
        <p:spPr>
          <a:xfrm>
            <a:off x="683568" y="692696"/>
            <a:ext cx="7416824" cy="5632311"/>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But such is not the case of </a:t>
            </a:r>
            <a:r>
              <a:rPr lang="en-GB" sz="3200" dirty="0">
                <a:latin typeface="Times New Roman" pitchFamily="18" charset="0"/>
                <a:cs typeface="Times New Roman" pitchFamily="18" charset="0"/>
              </a:rPr>
              <a:t>2,4,5-T </a:t>
            </a:r>
            <a:r>
              <a:rPr lang="en-GB" sz="3600" dirty="0">
                <a:latin typeface="Times New Roman" pitchFamily="18" charset="0"/>
                <a:cs typeface="Times New Roman" pitchFamily="18" charset="0"/>
              </a:rPr>
              <a:t>which has been banned in the </a:t>
            </a:r>
            <a:r>
              <a:rPr lang="en-GB" sz="3200" dirty="0">
                <a:latin typeface="Times New Roman" pitchFamily="18" charset="0"/>
                <a:cs typeface="Times New Roman" pitchFamily="18" charset="0"/>
              </a:rPr>
              <a:t>US</a:t>
            </a:r>
            <a:r>
              <a:rPr lang="en-GB" sz="3600" dirty="0">
                <a:latin typeface="Times New Roman" pitchFamily="18" charset="0"/>
                <a:cs typeface="Times New Roman" pitchFamily="18" charset="0"/>
              </a:rPr>
              <a:t> by their </a:t>
            </a:r>
            <a:r>
              <a:rPr lang="en-GB" sz="3200" dirty="0">
                <a:latin typeface="Times New Roman" pitchFamily="18" charset="0"/>
                <a:cs typeface="Times New Roman" pitchFamily="18" charset="0"/>
              </a:rPr>
              <a:t>EPA.</a:t>
            </a:r>
          </a:p>
          <a:p>
            <a:pPr marL="285750" indent="-285750">
              <a:buFont typeface="Arial" panose="020B0604020202020204" pitchFamily="34" charset="0"/>
              <a:buChar char="•"/>
            </a:pPr>
            <a:r>
              <a:rPr lang="en-GB" sz="3600" dirty="0">
                <a:latin typeface="Times New Roman" pitchFamily="18" charset="0"/>
                <a:cs typeface="Times New Roman" pitchFamily="18" charset="0"/>
              </a:rPr>
              <a:t>The controversy over the use of 2,4,5-T started  during the Vietnam war when Agent Orange which is 1:1 ratio mixture of 2,4-D and 2,4,5-T was used to defoliate jungles in Vietnam.</a:t>
            </a:r>
          </a:p>
          <a:p>
            <a:pPr marL="285750" indent="-28575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19861691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7620000" cy="576064"/>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r>
              <a:rPr lang="en-GB" sz="3600" i="1" dirty="0">
                <a:latin typeface="Times New Roman" pitchFamily="18" charset="0"/>
                <a:cs typeface="Times New Roman" pitchFamily="18" charset="0"/>
              </a:rPr>
              <a:t>.</a:t>
            </a:r>
            <a:endParaRPr lang="en-GB" sz="3600" dirty="0"/>
          </a:p>
        </p:txBody>
      </p:sp>
      <p:sp>
        <p:nvSpPr>
          <p:cNvPr id="3" name="Content Placeholder 2"/>
          <p:cNvSpPr>
            <a:spLocks noGrp="1"/>
          </p:cNvSpPr>
          <p:nvPr>
            <p:ph idx="1"/>
          </p:nvPr>
        </p:nvSpPr>
        <p:spPr>
          <a:xfrm>
            <a:off x="457200" y="1196752"/>
            <a:ext cx="7620000" cy="5544616"/>
          </a:xfrm>
        </p:spPr>
        <p:txBody>
          <a:bodyPr>
            <a:normAutofit/>
          </a:bodyPr>
          <a:lstStyle/>
          <a:p>
            <a:r>
              <a:rPr lang="en-GB" sz="3600" dirty="0" err="1">
                <a:latin typeface="Times New Roman" pitchFamily="18" charset="0"/>
                <a:cs typeface="Times New Roman" pitchFamily="18" charset="0"/>
              </a:rPr>
              <a:t>Offsprings</a:t>
            </a:r>
            <a:r>
              <a:rPr lang="en-GB" sz="3600" dirty="0">
                <a:latin typeface="Times New Roman" pitchFamily="18" charset="0"/>
                <a:cs typeface="Times New Roman" pitchFamily="18" charset="0"/>
              </a:rPr>
              <a:t> of Vietnam vets that were exposed to Agent Orange were born with birth defects and subsequent tests with 2,4,5-T in experiments in lab animals have produced Leukaemia, miscarriage, liver and lung diseases.</a:t>
            </a:r>
          </a:p>
          <a:p>
            <a:r>
              <a:rPr lang="en-GB" sz="3600" dirty="0">
                <a:latin typeface="Times New Roman" pitchFamily="18" charset="0"/>
                <a:cs typeface="Times New Roman" pitchFamily="18" charset="0"/>
              </a:rPr>
              <a:t>The diseases and the defects were apparently caused by </a:t>
            </a:r>
            <a:r>
              <a:rPr lang="en-GB" sz="3200" dirty="0">
                <a:latin typeface="Times New Roman" pitchFamily="18" charset="0"/>
                <a:cs typeface="Times New Roman" pitchFamily="18" charset="0"/>
              </a:rPr>
              <a:t>TCDD</a:t>
            </a:r>
            <a:r>
              <a:rPr lang="en-GB" sz="3600" dirty="0">
                <a:latin typeface="Times New Roman" pitchFamily="18" charset="0"/>
                <a:cs typeface="Times New Roman" pitchFamily="18" charset="0"/>
              </a:rPr>
              <a:t> (</a:t>
            </a:r>
            <a:r>
              <a:rPr lang="en-GB" sz="3600" dirty="0" err="1">
                <a:latin typeface="Times New Roman" pitchFamily="18" charset="0"/>
                <a:cs typeface="Times New Roman" pitchFamily="18" charset="0"/>
              </a:rPr>
              <a:t>ie</a:t>
            </a:r>
            <a:r>
              <a:rPr lang="en-GB" sz="3600" dirty="0">
                <a:latin typeface="Times New Roman" pitchFamily="18" charset="0"/>
                <a:cs typeface="Times New Roman" pitchFamily="18" charset="0"/>
              </a:rPr>
              <a:t>. 2,3,7,8-tetrachlorodibenzoparadioxin).</a:t>
            </a:r>
          </a:p>
        </p:txBody>
      </p:sp>
    </p:spTree>
    <p:extLst>
      <p:ext uri="{BB962C8B-B14F-4D97-AF65-F5344CB8AC3E}">
        <p14:creationId xmlns:p14="http://schemas.microsoft.com/office/powerpoint/2010/main" val="26189542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D0543E-D393-40A1-A714-E4B7E8B2B896}"/>
              </a:ext>
            </a:extLst>
          </p:cNvPr>
          <p:cNvSpPr txBox="1"/>
          <p:nvPr/>
        </p:nvSpPr>
        <p:spPr>
          <a:xfrm>
            <a:off x="971600" y="836713"/>
            <a:ext cx="7128792" cy="4955203"/>
          </a:xfrm>
          <a:prstGeom prst="rect">
            <a:avLst/>
          </a:prstGeom>
          <a:noFill/>
        </p:spPr>
        <p:txBody>
          <a:bodyPr wrap="square">
            <a:spAutoFit/>
          </a:bodyPr>
          <a:lstStyle/>
          <a:p>
            <a:pPr marL="628650" indent="-514350">
              <a:buAutoNum type="arabicParenR" startAt="5"/>
            </a:pPr>
            <a:r>
              <a:rPr lang="en-GB" sz="3200" b="1" dirty="0">
                <a:latin typeface="Times New Roman" pitchFamily="18" charset="0"/>
                <a:cs typeface="Times New Roman" pitchFamily="18" charset="0"/>
              </a:rPr>
              <a:t>Formation of  Wound Tissue (effects of auxin):</a:t>
            </a:r>
          </a:p>
          <a:p>
            <a:pPr marL="571500" indent="-571500">
              <a:buFont typeface="Arial" panose="020B0604020202020204" pitchFamily="34" charset="0"/>
              <a:buChar char="•"/>
            </a:pPr>
            <a:r>
              <a:rPr lang="en-GB" sz="3600" dirty="0">
                <a:latin typeface="Times New Roman" pitchFamily="18" charset="0"/>
                <a:cs typeface="Times New Roman" pitchFamily="18" charset="0"/>
              </a:rPr>
              <a:t>When auxins are applied to cut surfaces of a stem, a large number of swellings/callus result from the meristematic activity of the cortex and the pith.</a:t>
            </a:r>
          </a:p>
          <a:p>
            <a:pPr marL="571500" indent="-571500">
              <a:buFont typeface="Arial" panose="020B0604020202020204" pitchFamily="34" charset="0"/>
              <a:buChar char="•"/>
            </a:pPr>
            <a:r>
              <a:rPr lang="en-GB" sz="3600" dirty="0">
                <a:latin typeface="Times New Roman" pitchFamily="18" charset="0"/>
                <a:cs typeface="Times New Roman" pitchFamily="18" charset="0"/>
              </a:rPr>
              <a:t>This has an important application in tissue culture.</a:t>
            </a:r>
          </a:p>
        </p:txBody>
      </p:sp>
    </p:spTree>
    <p:extLst>
      <p:ext uri="{BB962C8B-B14F-4D97-AF65-F5344CB8AC3E}">
        <p14:creationId xmlns:p14="http://schemas.microsoft.com/office/powerpoint/2010/main" val="31037911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20026C-365E-4A44-9D6E-C73D2BE8EE49}"/>
              </a:ext>
            </a:extLst>
          </p:cNvPr>
          <p:cNvSpPr txBox="1"/>
          <p:nvPr/>
        </p:nvSpPr>
        <p:spPr>
          <a:xfrm>
            <a:off x="467544" y="1052736"/>
            <a:ext cx="7920880" cy="2308324"/>
          </a:xfrm>
          <a:prstGeom prst="rect">
            <a:avLst/>
          </a:prstGeom>
          <a:noFill/>
        </p:spPr>
        <p:txBody>
          <a:bodyPr wrap="square">
            <a:spAutoFit/>
          </a:bodyPr>
          <a:lstStyle/>
          <a:p>
            <a:pPr marL="285750" indent="-285750">
              <a:buFont typeface="Arial" panose="020B0604020202020204" pitchFamily="34" charset="0"/>
              <a:buChar char="•"/>
            </a:pPr>
            <a:r>
              <a:rPr lang="en-GB" sz="3600" b="1" i="1" dirty="0">
                <a:latin typeface="Times New Roman" pitchFamily="18" charset="0"/>
                <a:cs typeface="Times New Roman" pitchFamily="18" charset="0"/>
              </a:rPr>
              <a:t>Callus </a:t>
            </a:r>
            <a:r>
              <a:rPr lang="en-GB" sz="3600" dirty="0">
                <a:latin typeface="Times New Roman" pitchFamily="18" charset="0"/>
                <a:cs typeface="Times New Roman" pitchFamily="18" charset="0"/>
              </a:rPr>
              <a:t>is a mass of undifferentiated cells and application of auxin to callus can result in differentiation into different cells</a:t>
            </a:r>
            <a:endParaRPr lang="en-GB" sz="3600" b="1" i="1" dirty="0">
              <a:latin typeface="Times New Roman" pitchFamily="18" charset="0"/>
              <a:cs typeface="Times New Roman" pitchFamily="18" charset="0"/>
            </a:endParaRPr>
          </a:p>
        </p:txBody>
      </p:sp>
    </p:spTree>
    <p:extLst>
      <p:ext uri="{BB962C8B-B14F-4D97-AF65-F5344CB8AC3E}">
        <p14:creationId xmlns:p14="http://schemas.microsoft.com/office/powerpoint/2010/main" val="30510554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99E815-D740-40C7-8095-CB388D42CC7F}"/>
              </a:ext>
            </a:extLst>
          </p:cNvPr>
          <p:cNvSpPr txBox="1"/>
          <p:nvPr/>
        </p:nvSpPr>
        <p:spPr>
          <a:xfrm>
            <a:off x="611560" y="692696"/>
            <a:ext cx="7776864" cy="5632311"/>
          </a:xfrm>
          <a:prstGeom prst="rect">
            <a:avLst/>
          </a:prstGeom>
          <a:noFill/>
        </p:spPr>
        <p:txBody>
          <a:bodyPr wrap="square">
            <a:spAutoFit/>
          </a:bodyPr>
          <a:lstStyle/>
          <a:p>
            <a:pPr marL="628650" indent="-514350">
              <a:buAutoNum type="arabicParenR" startAt="6"/>
            </a:pPr>
            <a:r>
              <a:rPr lang="en-GB" sz="3600" b="1" dirty="0">
                <a:latin typeface="Times New Roman" pitchFamily="18" charset="0"/>
                <a:cs typeface="Times New Roman" pitchFamily="18" charset="0"/>
              </a:rPr>
              <a:t>Apical Dominance:</a:t>
            </a:r>
          </a:p>
          <a:p>
            <a:pPr marL="685800" indent="-571500">
              <a:buFont typeface="Arial" panose="020B0604020202020204" pitchFamily="34" charset="0"/>
              <a:buChar char="•"/>
            </a:pPr>
            <a:r>
              <a:rPr lang="en-GB" sz="3600" dirty="0">
                <a:latin typeface="Times New Roman" pitchFamily="18" charset="0"/>
                <a:cs typeface="Times New Roman" pitchFamily="18" charset="0"/>
              </a:rPr>
              <a:t>Tendency of lateral buds to develop into branches is suppressed by the presence of terminal buds.</a:t>
            </a:r>
          </a:p>
          <a:p>
            <a:pPr marL="571500" indent="-571500">
              <a:buFont typeface="Arial" panose="020B0604020202020204" pitchFamily="34" charset="0"/>
              <a:buChar char="•"/>
            </a:pPr>
            <a:r>
              <a:rPr lang="en-GB" sz="3600" dirty="0">
                <a:latin typeface="Times New Roman" pitchFamily="18" charset="0"/>
                <a:cs typeface="Times New Roman" pitchFamily="18" charset="0"/>
              </a:rPr>
              <a:t>AD is the tendency of some plants to grow a single main stem (</a:t>
            </a:r>
            <a:r>
              <a:rPr lang="en-GB" sz="3600" dirty="0" err="1">
                <a:latin typeface="Times New Roman" pitchFamily="18" charset="0"/>
                <a:cs typeface="Times New Roman" pitchFamily="18" charset="0"/>
              </a:rPr>
              <a:t>eg.</a:t>
            </a:r>
            <a:r>
              <a:rPr lang="en-GB" sz="3600" dirty="0">
                <a:latin typeface="Times New Roman" pitchFamily="18" charset="0"/>
                <a:cs typeface="Times New Roman" pitchFamily="18" charset="0"/>
              </a:rPr>
              <a:t> sunflower) with minimal branching.</a:t>
            </a:r>
          </a:p>
          <a:p>
            <a:pPr marL="571500" indent="-571500">
              <a:buFont typeface="Arial" panose="020B0604020202020204" pitchFamily="34" charset="0"/>
              <a:buChar char="•"/>
            </a:pPr>
            <a:r>
              <a:rPr lang="en-GB" sz="3600" dirty="0">
                <a:latin typeface="Times New Roman" pitchFamily="18" charset="0"/>
                <a:cs typeface="Times New Roman" pitchFamily="18" charset="0"/>
              </a:rPr>
              <a:t>In many plants, the lateral buds remain dormant so long as the terminal bud continues to grow</a:t>
            </a:r>
          </a:p>
        </p:txBody>
      </p:sp>
    </p:spTree>
    <p:extLst>
      <p:ext uri="{BB962C8B-B14F-4D97-AF65-F5344CB8AC3E}">
        <p14:creationId xmlns:p14="http://schemas.microsoft.com/office/powerpoint/2010/main" val="252998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97B883-D3B5-4809-B437-4C3D1C1D0663}"/>
              </a:ext>
            </a:extLst>
          </p:cNvPr>
          <p:cNvSpPr txBox="1"/>
          <p:nvPr/>
        </p:nvSpPr>
        <p:spPr>
          <a:xfrm>
            <a:off x="539552" y="692696"/>
            <a:ext cx="7848872" cy="6186309"/>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The terminal bud is the least favourably placed in relation to the supply of organic and inorganic material.</a:t>
            </a:r>
          </a:p>
          <a:p>
            <a:pPr marL="571500" indent="-571500">
              <a:buFont typeface="Arial" panose="020B0604020202020204" pitchFamily="34" charset="0"/>
              <a:buChar char="•"/>
            </a:pPr>
            <a:r>
              <a:rPr lang="en-GB" sz="3600" dirty="0">
                <a:latin typeface="Times New Roman" pitchFamily="18" charset="0"/>
                <a:cs typeface="Times New Roman" pitchFamily="18" charset="0"/>
              </a:rPr>
              <a:t>If the terminal bud is destroyed/removed artificially, then  one or more lateral buds starts to develop</a:t>
            </a:r>
          </a:p>
          <a:p>
            <a:pPr marL="571500" indent="-571500">
              <a:buFont typeface="Arial" panose="020B0604020202020204" pitchFamily="34" charset="0"/>
              <a:buChar char="•"/>
            </a:pPr>
            <a:r>
              <a:rPr lang="en-GB" sz="3600" dirty="0">
                <a:latin typeface="Times New Roman" pitchFamily="18" charset="0"/>
                <a:cs typeface="Times New Roman" pitchFamily="18" charset="0"/>
              </a:rPr>
              <a:t>This phenomenon is called </a:t>
            </a:r>
            <a:r>
              <a:rPr lang="en-GB" sz="3600" b="1" dirty="0">
                <a:latin typeface="Times New Roman" pitchFamily="18" charset="0"/>
                <a:cs typeface="Times New Roman" pitchFamily="18" charset="0"/>
              </a:rPr>
              <a:t>Apical Dominance</a:t>
            </a:r>
          </a:p>
          <a:p>
            <a:pPr marL="571500" indent="-57150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5036473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7620000" cy="648072"/>
          </a:xfrm>
        </p:spPr>
        <p:txBody>
          <a:bodyPr/>
          <a:lstStyle/>
          <a:p>
            <a:pPr algn="ctr"/>
            <a:r>
              <a:rPr lang="en-GB" sz="3200" dirty="0">
                <a:latin typeface="Times New Roman" pitchFamily="18" charset="0"/>
                <a:cs typeface="Times New Roman" pitchFamily="18" charset="0"/>
              </a:rPr>
              <a:t>EFFECTS OF AUXINS…</a:t>
            </a:r>
            <a:r>
              <a:rPr lang="en-GB" sz="3200" i="1" dirty="0">
                <a:latin typeface="Times New Roman" pitchFamily="18" charset="0"/>
                <a:cs typeface="Times New Roman" pitchFamily="18" charset="0"/>
              </a:rPr>
              <a:t>contd.</a:t>
            </a:r>
            <a:endParaRPr lang="en-GB" sz="3200" dirty="0"/>
          </a:p>
        </p:txBody>
      </p:sp>
      <p:sp>
        <p:nvSpPr>
          <p:cNvPr id="3" name="Content Placeholder 2"/>
          <p:cNvSpPr>
            <a:spLocks noGrp="1"/>
          </p:cNvSpPr>
          <p:nvPr>
            <p:ph idx="1"/>
          </p:nvPr>
        </p:nvSpPr>
        <p:spPr>
          <a:xfrm>
            <a:off x="457200" y="1196752"/>
            <a:ext cx="7620000" cy="5544616"/>
          </a:xfrm>
        </p:spPr>
        <p:txBody>
          <a:bodyPr>
            <a:normAutofit/>
          </a:bodyPr>
          <a:lstStyle/>
          <a:p>
            <a:r>
              <a:rPr lang="en-GB" sz="3600" dirty="0">
                <a:latin typeface="Times New Roman" pitchFamily="18" charset="0"/>
                <a:cs typeface="Times New Roman" pitchFamily="18" charset="0"/>
              </a:rPr>
              <a:t>AD is more pronounced in some spp. than others.</a:t>
            </a:r>
          </a:p>
          <a:p>
            <a:r>
              <a:rPr lang="en-GB" sz="3600" dirty="0">
                <a:latin typeface="Times New Roman" pitchFamily="18" charset="0"/>
                <a:cs typeface="Times New Roman" pitchFamily="18" charset="0"/>
              </a:rPr>
              <a:t>It therefore appears to be dependent on genetic as well as on environmental factors </a:t>
            </a:r>
          </a:p>
          <a:p>
            <a:r>
              <a:rPr lang="en-GB" sz="3600" dirty="0">
                <a:latin typeface="Times New Roman" pitchFamily="18" charset="0"/>
                <a:cs typeface="Times New Roman" pitchFamily="18" charset="0"/>
              </a:rPr>
              <a:t>In the sunflower, AD is almost complete since there is only one stem</a:t>
            </a:r>
          </a:p>
          <a:p>
            <a:r>
              <a:rPr lang="en-GB" sz="3600" dirty="0">
                <a:latin typeface="Times New Roman" pitchFamily="18" charset="0"/>
                <a:cs typeface="Times New Roman" pitchFamily="18" charset="0"/>
              </a:rPr>
              <a:t>In tomatoes AD  is reduced.</a:t>
            </a:r>
          </a:p>
        </p:txBody>
      </p:sp>
    </p:spTree>
    <p:extLst>
      <p:ext uri="{BB962C8B-B14F-4D97-AF65-F5344CB8AC3E}">
        <p14:creationId xmlns:p14="http://schemas.microsoft.com/office/powerpoint/2010/main" val="26189542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728"/>
            <a:ext cx="7620000" cy="705832"/>
          </a:xfrm>
        </p:spPr>
        <p:txBody>
          <a:bodyPr/>
          <a:lstStyle/>
          <a:p>
            <a:pPr algn="ctr"/>
            <a:r>
              <a:rPr lang="en-GB" sz="3200" b="1" dirty="0">
                <a:latin typeface="Times New Roman" pitchFamily="18" charset="0"/>
                <a:cs typeface="Times New Roman" pitchFamily="18" charset="0"/>
              </a:rPr>
              <a:t>PHYSIOLOGICAL EXPLANATION</a:t>
            </a:r>
            <a:endParaRPr lang="en-GB" sz="3200" b="1" dirty="0"/>
          </a:p>
        </p:txBody>
      </p:sp>
      <p:sp>
        <p:nvSpPr>
          <p:cNvPr id="3" name="Content Placeholder 2"/>
          <p:cNvSpPr>
            <a:spLocks noGrp="1"/>
          </p:cNvSpPr>
          <p:nvPr>
            <p:ph idx="1"/>
          </p:nvPr>
        </p:nvSpPr>
        <p:spPr>
          <a:xfrm>
            <a:off x="457200" y="1772816"/>
            <a:ext cx="7620000" cy="4968552"/>
          </a:xfrm>
        </p:spPr>
        <p:txBody>
          <a:bodyPr>
            <a:noAutofit/>
          </a:bodyPr>
          <a:lstStyle/>
          <a:p>
            <a:r>
              <a:rPr lang="en-GB" sz="3600" dirty="0">
                <a:latin typeface="Times New Roman" pitchFamily="18" charset="0"/>
                <a:cs typeface="Times New Roman" pitchFamily="18" charset="0"/>
              </a:rPr>
              <a:t>In 1934, </a:t>
            </a:r>
            <a:r>
              <a:rPr lang="en-GB" sz="3600" dirty="0" err="1">
                <a:latin typeface="Times New Roman" pitchFamily="18" charset="0"/>
                <a:cs typeface="Times New Roman" pitchFamily="18" charset="0"/>
              </a:rPr>
              <a:t>Skoog</a:t>
            </a:r>
            <a:r>
              <a:rPr lang="en-GB" sz="3600" dirty="0">
                <a:latin typeface="Times New Roman" pitchFamily="18" charset="0"/>
                <a:cs typeface="Times New Roman" pitchFamily="18" charset="0"/>
              </a:rPr>
              <a:t> and </a:t>
            </a:r>
            <a:r>
              <a:rPr lang="en-GB" sz="3600" dirty="0" err="1">
                <a:latin typeface="Times New Roman" pitchFamily="18" charset="0"/>
                <a:cs typeface="Times New Roman" pitchFamily="18" charset="0"/>
              </a:rPr>
              <a:t>Thiamann</a:t>
            </a:r>
            <a:r>
              <a:rPr lang="en-GB" sz="3600" dirty="0">
                <a:latin typeface="Times New Roman" pitchFamily="18" charset="0"/>
                <a:cs typeface="Times New Roman" pitchFamily="18" charset="0"/>
              </a:rPr>
              <a:t> were using culture filtrate of </a:t>
            </a:r>
            <a:r>
              <a:rPr lang="en-GB" sz="3600" b="1" i="1" dirty="0" err="1">
                <a:latin typeface="Times New Roman" pitchFamily="18" charset="0"/>
                <a:cs typeface="Times New Roman" pitchFamily="18" charset="0"/>
              </a:rPr>
              <a:t>Rhizopus</a:t>
            </a:r>
            <a:r>
              <a:rPr lang="en-GB" sz="3600" b="1" i="1" dirty="0">
                <a:latin typeface="Times New Roman" pitchFamily="18" charset="0"/>
                <a:cs typeface="Times New Roman" pitchFamily="18" charset="0"/>
              </a:rPr>
              <a:t> </a:t>
            </a:r>
            <a:r>
              <a:rPr lang="en-GB" sz="3600" b="1" i="1" dirty="0" err="1">
                <a:latin typeface="Times New Roman" pitchFamily="18" charset="0"/>
                <a:cs typeface="Times New Roman" pitchFamily="18" charset="0"/>
              </a:rPr>
              <a:t>suinus</a:t>
            </a:r>
            <a:r>
              <a:rPr lang="en-GB" sz="3600" dirty="0">
                <a:latin typeface="Times New Roman" pitchFamily="18" charset="0"/>
                <a:cs typeface="Times New Roman" pitchFamily="18" charset="0"/>
              </a:rPr>
              <a:t> as the source of auxin.</a:t>
            </a:r>
          </a:p>
          <a:p>
            <a:r>
              <a:rPr lang="en-GB" sz="3600" dirty="0">
                <a:latin typeface="Times New Roman" pitchFamily="18" charset="0"/>
                <a:cs typeface="Times New Roman" pitchFamily="18" charset="0"/>
              </a:rPr>
              <a:t>They placed an agar block containing auxin on a cut stump on a broad bean </a:t>
            </a:r>
            <a:r>
              <a:rPr lang="en-GB" sz="3600" b="1" i="1" dirty="0">
                <a:latin typeface="Times New Roman" pitchFamily="18" charset="0"/>
                <a:cs typeface="Times New Roman" pitchFamily="18" charset="0"/>
              </a:rPr>
              <a:t>(</a:t>
            </a:r>
            <a:r>
              <a:rPr lang="en-GB" sz="3600" b="1" i="1" dirty="0" err="1">
                <a:latin typeface="Times New Roman" pitchFamily="18" charset="0"/>
                <a:cs typeface="Times New Roman" pitchFamily="18" charset="0"/>
              </a:rPr>
              <a:t>Vicia</a:t>
            </a:r>
            <a:r>
              <a:rPr lang="en-GB" sz="3600" b="1" i="1" dirty="0">
                <a:latin typeface="Times New Roman" pitchFamily="18" charset="0"/>
                <a:cs typeface="Times New Roman" pitchFamily="18" charset="0"/>
              </a:rPr>
              <a:t> </a:t>
            </a:r>
            <a:r>
              <a:rPr lang="en-GB" sz="3600" b="1" i="1" dirty="0" err="1">
                <a:latin typeface="Times New Roman" pitchFamily="18" charset="0"/>
                <a:cs typeface="Times New Roman" pitchFamily="18" charset="0"/>
              </a:rPr>
              <a:t>faba</a:t>
            </a:r>
            <a:r>
              <a:rPr lang="en-GB" sz="3600" b="1" i="1" dirty="0">
                <a:latin typeface="Times New Roman" pitchFamily="18" charset="0"/>
                <a:cs typeface="Times New Roman" pitchFamily="18" charset="0"/>
              </a:rPr>
              <a:t>)</a:t>
            </a:r>
            <a:r>
              <a:rPr lang="en-GB" sz="3600" dirty="0">
                <a:latin typeface="Times New Roman" pitchFamily="18" charset="0"/>
                <a:cs typeface="Times New Roman" pitchFamily="18" charset="0"/>
              </a:rPr>
              <a:t> and lateral bud growth were suppressed.</a:t>
            </a:r>
          </a:p>
        </p:txBody>
      </p:sp>
    </p:spTree>
    <p:extLst>
      <p:ext uri="{BB962C8B-B14F-4D97-AF65-F5344CB8AC3E}">
        <p14:creationId xmlns:p14="http://schemas.microsoft.com/office/powerpoint/2010/main" val="26189542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A13B89-55A4-40D6-A257-C6F0086273E3}"/>
              </a:ext>
            </a:extLst>
          </p:cNvPr>
          <p:cNvSpPr txBox="1"/>
          <p:nvPr/>
        </p:nvSpPr>
        <p:spPr>
          <a:xfrm>
            <a:off x="683568" y="980728"/>
            <a:ext cx="7488832" cy="3416320"/>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This led to the theory of </a:t>
            </a:r>
            <a:r>
              <a:rPr lang="en-GB" sz="3600" b="1" dirty="0">
                <a:latin typeface="Times New Roman" pitchFamily="18" charset="0"/>
                <a:cs typeface="Times New Roman" pitchFamily="18" charset="0"/>
              </a:rPr>
              <a:t>Direct Inhibition</a:t>
            </a:r>
            <a:r>
              <a:rPr lang="en-GB" sz="3600" dirty="0">
                <a:latin typeface="Times New Roman" pitchFamily="18" charset="0"/>
                <a:cs typeface="Times New Roman" pitchFamily="18" charset="0"/>
              </a:rPr>
              <a:t> i.e. auxin produced by the apical bud moved </a:t>
            </a:r>
            <a:r>
              <a:rPr lang="en-GB" sz="3600" dirty="0" err="1">
                <a:latin typeface="Times New Roman" pitchFamily="18" charset="0"/>
                <a:cs typeface="Times New Roman" pitchFamily="18" charset="0"/>
              </a:rPr>
              <a:t>basepeticaly</a:t>
            </a:r>
            <a:r>
              <a:rPr lang="en-GB" sz="3600" dirty="0">
                <a:latin typeface="Times New Roman" pitchFamily="18" charset="0"/>
                <a:cs typeface="Times New Roman" pitchFamily="18" charset="0"/>
              </a:rPr>
              <a:t> and exerted a direct retarding effect on the development of the lateral bud.</a:t>
            </a:r>
          </a:p>
        </p:txBody>
      </p:sp>
    </p:spTree>
    <p:extLst>
      <p:ext uri="{BB962C8B-B14F-4D97-AF65-F5344CB8AC3E}">
        <p14:creationId xmlns:p14="http://schemas.microsoft.com/office/powerpoint/2010/main" val="31344339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76FB1-B0BF-437D-89B9-2C8D932AF495}"/>
              </a:ext>
            </a:extLst>
          </p:cNvPr>
          <p:cNvSpPr txBox="1"/>
          <p:nvPr/>
        </p:nvSpPr>
        <p:spPr>
          <a:xfrm>
            <a:off x="467544" y="764704"/>
            <a:ext cx="7776864" cy="5632311"/>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The question was asked as to why the lateral bud should be inhibited at a level of auxin which promotes growth of the terminal bud  and also why auxin, a growth promoter should inhibit growth.</a:t>
            </a:r>
          </a:p>
          <a:p>
            <a:pPr marL="285750" indent="-285750">
              <a:buFont typeface="Arial" panose="020B0604020202020204" pitchFamily="34" charset="0"/>
              <a:buChar char="•"/>
            </a:pPr>
            <a:r>
              <a:rPr lang="en-GB" sz="3600" dirty="0" err="1">
                <a:latin typeface="Times New Roman" pitchFamily="18" charset="0"/>
                <a:cs typeface="Times New Roman" pitchFamily="18" charset="0"/>
              </a:rPr>
              <a:t>Thiamann</a:t>
            </a:r>
            <a:r>
              <a:rPr lang="en-GB" sz="3600" dirty="0">
                <a:latin typeface="Times New Roman" pitchFamily="18" charset="0"/>
                <a:cs typeface="Times New Roman" pitchFamily="18" charset="0"/>
              </a:rPr>
              <a:t> in 1937 suggested that the apical bud and the lateral bud have different levels of sensitivity to auxins.</a:t>
            </a:r>
          </a:p>
          <a:p>
            <a:pPr marL="285750" indent="-285750">
              <a:buFont typeface="Arial" panose="020B0604020202020204" pitchFamily="34" charset="0"/>
              <a:buChar char="•"/>
            </a:pPr>
            <a:endParaRPr lang="en-GB" sz="3600" dirty="0">
              <a:latin typeface="Times New Roman" pitchFamily="18" charset="0"/>
              <a:cs typeface="Times New Roman" pitchFamily="18" charset="0"/>
            </a:endParaRPr>
          </a:p>
        </p:txBody>
      </p:sp>
    </p:spTree>
    <p:extLst>
      <p:ext uri="{BB962C8B-B14F-4D97-AF65-F5344CB8AC3E}">
        <p14:creationId xmlns:p14="http://schemas.microsoft.com/office/powerpoint/2010/main" val="40235311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425DA4-D789-4655-A86C-31AD910B395A}"/>
              </a:ext>
            </a:extLst>
          </p:cNvPr>
          <p:cNvSpPr txBox="1"/>
          <p:nvPr/>
        </p:nvSpPr>
        <p:spPr>
          <a:xfrm>
            <a:off x="323528" y="404664"/>
            <a:ext cx="7848872" cy="5909310"/>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He suggested the concentration reaching the lateral buds from the top may be more than the optimum required.</a:t>
            </a:r>
          </a:p>
          <a:p>
            <a:pPr marL="571500" indent="-571500">
              <a:buFont typeface="Arial" panose="020B0604020202020204" pitchFamily="34" charset="0"/>
              <a:buChar char="•"/>
            </a:pPr>
            <a:r>
              <a:rPr lang="en-GB" sz="3600" dirty="0">
                <a:latin typeface="Times New Roman" pitchFamily="18" charset="0"/>
                <a:cs typeface="Times New Roman" pitchFamily="18" charset="0"/>
              </a:rPr>
              <a:t>Presently it is believed  that the cells around lateral buds in the nodal regions of the stem produce ethylene under the influence of auxin.</a:t>
            </a:r>
          </a:p>
          <a:p>
            <a:pPr marL="571500" indent="-571500">
              <a:buFont typeface="Arial" panose="020B0604020202020204" pitchFamily="34" charset="0"/>
              <a:buChar char="•"/>
            </a:pPr>
            <a:r>
              <a:rPr lang="en-GB" sz="3600" dirty="0">
                <a:latin typeface="Times New Roman" pitchFamily="18" charset="0"/>
                <a:cs typeface="Times New Roman" pitchFamily="18" charset="0"/>
              </a:rPr>
              <a:t>It is thus the ethylene produced that inhibit the growth of lateral buds.</a:t>
            </a:r>
          </a:p>
          <a:p>
            <a:endParaRPr lang="en-US" dirty="0"/>
          </a:p>
        </p:txBody>
      </p:sp>
    </p:spTree>
    <p:extLst>
      <p:ext uri="{BB962C8B-B14F-4D97-AF65-F5344CB8AC3E}">
        <p14:creationId xmlns:p14="http://schemas.microsoft.com/office/powerpoint/2010/main" val="3438298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B26A67-3051-459F-A11C-60136C555845}"/>
              </a:ext>
            </a:extLst>
          </p:cNvPr>
          <p:cNvSpPr txBox="1"/>
          <p:nvPr/>
        </p:nvSpPr>
        <p:spPr>
          <a:xfrm>
            <a:off x="539552" y="980728"/>
            <a:ext cx="7632848" cy="4524315"/>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Several observations were made against the these findings.</a:t>
            </a:r>
          </a:p>
          <a:p>
            <a:pPr marL="285750" indent="-285750">
              <a:buFont typeface="Arial" panose="020B0604020202020204" pitchFamily="34" charset="0"/>
              <a:buChar char="•"/>
            </a:pPr>
            <a:r>
              <a:rPr lang="en-GB" sz="3600" dirty="0">
                <a:latin typeface="Times New Roman" pitchFamily="18" charset="0"/>
                <a:cs typeface="Times New Roman" pitchFamily="18" charset="0"/>
              </a:rPr>
              <a:t>These include the determination of auxin concentration in the lateral bud.</a:t>
            </a:r>
          </a:p>
          <a:p>
            <a:pPr marL="285750" indent="-285750">
              <a:buFont typeface="Arial" panose="020B0604020202020204" pitchFamily="34" charset="0"/>
              <a:buChar char="•"/>
            </a:pPr>
            <a:r>
              <a:rPr lang="en-GB" sz="3600" dirty="0">
                <a:latin typeface="Times New Roman" pitchFamily="18" charset="0"/>
                <a:cs typeface="Times New Roman" pitchFamily="18" charset="0"/>
              </a:rPr>
              <a:t>They found that in </a:t>
            </a:r>
            <a:r>
              <a:rPr lang="en-GB" sz="3600" b="1" i="1" dirty="0">
                <a:latin typeface="Times New Roman" pitchFamily="18" charset="0"/>
                <a:cs typeface="Times New Roman" pitchFamily="18" charset="0"/>
              </a:rPr>
              <a:t>Pisum sativum</a:t>
            </a:r>
            <a:r>
              <a:rPr lang="en-GB" sz="3600" dirty="0">
                <a:latin typeface="Times New Roman" pitchFamily="18" charset="0"/>
                <a:cs typeface="Times New Roman" pitchFamily="18" charset="0"/>
              </a:rPr>
              <a:t> for e.g. the concentration of auxin was much lower than the optimum i.e. sub-optimal.</a:t>
            </a:r>
          </a:p>
        </p:txBody>
      </p:sp>
    </p:spTree>
    <p:extLst>
      <p:ext uri="{BB962C8B-B14F-4D97-AF65-F5344CB8AC3E}">
        <p14:creationId xmlns:p14="http://schemas.microsoft.com/office/powerpoint/2010/main" val="26965561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767149-5578-4E67-9BF3-47E36FACC5D1}"/>
              </a:ext>
            </a:extLst>
          </p:cNvPr>
          <p:cNvSpPr txBox="1"/>
          <p:nvPr/>
        </p:nvSpPr>
        <p:spPr>
          <a:xfrm>
            <a:off x="251520" y="1268760"/>
            <a:ext cx="7920880" cy="3416320"/>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Also in some species, </a:t>
            </a:r>
            <a:r>
              <a:rPr lang="en-GB" sz="3600" b="1" i="1" dirty="0">
                <a:latin typeface="Times New Roman" pitchFamily="18" charset="0"/>
                <a:cs typeface="Times New Roman" pitchFamily="18" charset="0"/>
              </a:rPr>
              <a:t>Xanthium</a:t>
            </a:r>
            <a:r>
              <a:rPr lang="en-GB" sz="3600" dirty="0">
                <a:latin typeface="Times New Roman" pitchFamily="18" charset="0"/>
                <a:cs typeface="Times New Roman" pitchFamily="18" charset="0"/>
              </a:rPr>
              <a:t> lateral bud growth is not influenced by the addition of auxin to decapitated which therefore meant that there are other factors involved in apical dominance other than auxin.</a:t>
            </a:r>
          </a:p>
        </p:txBody>
      </p:sp>
    </p:spTree>
    <p:extLst>
      <p:ext uri="{BB962C8B-B14F-4D97-AF65-F5344CB8AC3E}">
        <p14:creationId xmlns:p14="http://schemas.microsoft.com/office/powerpoint/2010/main" val="26052318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339578-1A70-41FD-8C86-537C78CC2277}"/>
              </a:ext>
            </a:extLst>
          </p:cNvPr>
          <p:cNvSpPr txBox="1"/>
          <p:nvPr/>
        </p:nvSpPr>
        <p:spPr>
          <a:xfrm>
            <a:off x="395536" y="764704"/>
            <a:ext cx="7920880" cy="4524315"/>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They proposed that there is hormonal interaction in apical dominance.</a:t>
            </a:r>
          </a:p>
          <a:p>
            <a:pPr marL="285750" indent="-285750">
              <a:buFont typeface="Arial" panose="020B0604020202020204" pitchFamily="34" charset="0"/>
              <a:buChar char="•"/>
            </a:pPr>
            <a:r>
              <a:rPr lang="en-GB" sz="3600" dirty="0">
                <a:latin typeface="Times New Roman" pitchFamily="18" charset="0"/>
                <a:cs typeface="Times New Roman" pitchFamily="18" charset="0"/>
              </a:rPr>
              <a:t>G. A acts in the same way as auxin to prevent the growth of lateral buds when applied to decapitated shoots of several species.</a:t>
            </a:r>
          </a:p>
          <a:p>
            <a:pPr marL="285750" indent="-285750">
              <a:buFont typeface="Arial" panose="020B0604020202020204" pitchFamily="34" charset="0"/>
              <a:buChar char="•"/>
            </a:pPr>
            <a:r>
              <a:rPr lang="en-GB" sz="3600" dirty="0">
                <a:latin typeface="Times New Roman" pitchFamily="18" charset="0"/>
                <a:cs typeface="Times New Roman" pitchFamily="18" charset="0"/>
              </a:rPr>
              <a:t>Application of cytokinin to an inhibited bud releases that bud from inhibition.</a:t>
            </a:r>
          </a:p>
        </p:txBody>
      </p:sp>
    </p:spTree>
    <p:extLst>
      <p:ext uri="{BB962C8B-B14F-4D97-AF65-F5344CB8AC3E}">
        <p14:creationId xmlns:p14="http://schemas.microsoft.com/office/powerpoint/2010/main" val="37572225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039CA9-30F9-42FC-A6C9-411684202D03}"/>
              </a:ext>
            </a:extLst>
          </p:cNvPr>
          <p:cNvSpPr txBox="1"/>
          <p:nvPr/>
        </p:nvSpPr>
        <p:spPr>
          <a:xfrm>
            <a:off x="395536" y="908720"/>
            <a:ext cx="7920880" cy="5078313"/>
          </a:xfrm>
          <a:prstGeom prst="rect">
            <a:avLst/>
          </a:prstGeom>
          <a:noFill/>
        </p:spPr>
        <p:txBody>
          <a:bodyPr wrap="square">
            <a:spAutoFit/>
          </a:bodyPr>
          <a:lstStyle/>
          <a:p>
            <a:pPr marL="571500" indent="-571500">
              <a:buFont typeface="Arial" panose="020B0604020202020204" pitchFamily="34" charset="0"/>
              <a:buChar char="•"/>
            </a:pPr>
            <a:r>
              <a:rPr lang="en-GB" sz="3600" dirty="0" err="1">
                <a:latin typeface="Times New Roman" pitchFamily="18" charset="0"/>
                <a:cs typeface="Times New Roman" pitchFamily="18" charset="0"/>
              </a:rPr>
              <a:t>Cytokinins</a:t>
            </a:r>
            <a:r>
              <a:rPr lang="en-GB" sz="3600" dirty="0">
                <a:latin typeface="Times New Roman" pitchFamily="18" charset="0"/>
                <a:cs typeface="Times New Roman" pitchFamily="18" charset="0"/>
              </a:rPr>
              <a:t> encourages cell division necessary to join the young vascular bundle of the bud to those of the stem.</a:t>
            </a:r>
          </a:p>
          <a:p>
            <a:pPr marL="571500" indent="-571500">
              <a:buFont typeface="Arial" panose="020B0604020202020204" pitchFamily="34" charset="0"/>
              <a:buChar char="•"/>
            </a:pPr>
            <a:r>
              <a:rPr lang="en-GB" sz="3600" dirty="0">
                <a:latin typeface="Times New Roman" pitchFamily="18" charset="0"/>
                <a:cs typeface="Times New Roman" pitchFamily="18" charset="0"/>
              </a:rPr>
              <a:t>This suggests that lateral branching is controlled by a delicate balance between auxin, GA and cytokinin.</a:t>
            </a:r>
          </a:p>
          <a:p>
            <a:pPr marL="571500" indent="-571500">
              <a:buFont typeface="Arial" panose="020B0604020202020204" pitchFamily="34" charset="0"/>
              <a:buChar char="•"/>
            </a:pPr>
            <a:r>
              <a:rPr lang="en-GB" sz="3600" dirty="0">
                <a:latin typeface="Times New Roman" pitchFamily="18" charset="0"/>
                <a:cs typeface="Times New Roman" pitchFamily="18" charset="0"/>
              </a:rPr>
              <a:t>Auxin and GA inhibit whereas </a:t>
            </a:r>
            <a:r>
              <a:rPr lang="en-GB" sz="3600" dirty="0" err="1">
                <a:latin typeface="Times New Roman" pitchFamily="18" charset="0"/>
                <a:cs typeface="Times New Roman" pitchFamily="18" charset="0"/>
              </a:rPr>
              <a:t>cytokinins</a:t>
            </a:r>
            <a:r>
              <a:rPr lang="en-GB" sz="3600" dirty="0">
                <a:latin typeface="Times New Roman" pitchFamily="18" charset="0"/>
                <a:cs typeface="Times New Roman" pitchFamily="18" charset="0"/>
              </a:rPr>
              <a:t> promote.</a:t>
            </a:r>
          </a:p>
          <a:p>
            <a:pPr marL="571500" indent="-571500">
              <a:buFont typeface="Arial" panose="020B0604020202020204" pitchFamily="34" charset="0"/>
              <a:buChar char="•"/>
            </a:pPr>
            <a:r>
              <a:rPr lang="en-GB" sz="3600" dirty="0">
                <a:solidFill>
                  <a:srgbClr val="FF0000"/>
                </a:solidFill>
                <a:latin typeface="Times New Roman" pitchFamily="18" charset="0"/>
                <a:cs typeface="Times New Roman" pitchFamily="18" charset="0"/>
              </a:rPr>
              <a:t>The </a:t>
            </a:r>
            <a:r>
              <a:rPr lang="en-GB" sz="3600" b="1" i="1" dirty="0">
                <a:solidFill>
                  <a:srgbClr val="FF0000"/>
                </a:solidFill>
                <a:latin typeface="Times New Roman" pitchFamily="18" charset="0"/>
                <a:cs typeface="Times New Roman" pitchFamily="18" charset="0"/>
              </a:rPr>
              <a:t>Corrective Inhibition.</a:t>
            </a:r>
            <a:endParaRPr lang="en-GB" sz="3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6305557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728"/>
            <a:ext cx="7620000" cy="1080120"/>
          </a:xfrm>
        </p:spPr>
        <p:txBody>
          <a:bodyPr/>
          <a:lstStyle/>
          <a:p>
            <a:pPr algn="ctr"/>
            <a:r>
              <a:rPr lang="en-GB" sz="3200" b="1" dirty="0"/>
              <a:t>THE EFFECTS OF AUXIN ON CAMBIAL ACTIVITY</a:t>
            </a:r>
          </a:p>
        </p:txBody>
      </p:sp>
      <p:sp>
        <p:nvSpPr>
          <p:cNvPr id="3" name="Content Placeholder 2"/>
          <p:cNvSpPr>
            <a:spLocks noGrp="1"/>
          </p:cNvSpPr>
          <p:nvPr>
            <p:ph idx="1"/>
          </p:nvPr>
        </p:nvSpPr>
        <p:spPr>
          <a:xfrm>
            <a:off x="457200" y="2060848"/>
            <a:ext cx="7620000" cy="4680520"/>
          </a:xfrm>
        </p:spPr>
        <p:txBody>
          <a:bodyPr>
            <a:normAutofit/>
          </a:bodyPr>
          <a:lstStyle/>
          <a:p>
            <a:r>
              <a:rPr lang="en-GB" sz="3600" dirty="0">
                <a:latin typeface="Times New Roman" pitchFamily="18" charset="0"/>
                <a:cs typeface="Times New Roman" pitchFamily="18" charset="0"/>
              </a:rPr>
              <a:t>In woody plants, auxin promotes the growth of cambium.</a:t>
            </a:r>
          </a:p>
          <a:p>
            <a:r>
              <a:rPr lang="en-GB" sz="3600" dirty="0">
                <a:latin typeface="Times New Roman" pitchFamily="18" charset="0"/>
                <a:cs typeface="Times New Roman" pitchFamily="18" charset="0"/>
              </a:rPr>
              <a:t>Auxin from the shoot tip stimulate cambial cells to divide forming 2</a:t>
            </a:r>
            <a:r>
              <a:rPr lang="en-GB" sz="3600" baseline="30000" dirty="0">
                <a:latin typeface="Times New Roman" pitchFamily="18" charset="0"/>
                <a:cs typeface="Times New Roman" pitchFamily="18" charset="0"/>
              </a:rPr>
              <a:t>0</a:t>
            </a:r>
            <a:r>
              <a:rPr lang="en-GB" sz="3600" dirty="0">
                <a:latin typeface="Times New Roman" pitchFamily="18" charset="0"/>
                <a:cs typeface="Times New Roman" pitchFamily="18" charset="0"/>
              </a:rPr>
              <a:t> xylem and phloem.</a:t>
            </a:r>
          </a:p>
          <a:p>
            <a:r>
              <a:rPr lang="en-GB" sz="3600" dirty="0">
                <a:latin typeface="Times New Roman" pitchFamily="18" charset="0"/>
                <a:cs typeface="Times New Roman" pitchFamily="18" charset="0"/>
              </a:rPr>
              <a:t>These effects are modulated by other growth regulators in the plant body.</a:t>
            </a:r>
          </a:p>
        </p:txBody>
      </p:sp>
    </p:spTree>
    <p:extLst>
      <p:ext uri="{BB962C8B-B14F-4D97-AF65-F5344CB8AC3E}">
        <p14:creationId xmlns:p14="http://schemas.microsoft.com/office/powerpoint/2010/main" val="26189542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541586-8D23-4E56-811D-BCD608F6CAA0}"/>
              </a:ext>
            </a:extLst>
          </p:cNvPr>
          <p:cNvSpPr txBox="1"/>
          <p:nvPr/>
        </p:nvSpPr>
        <p:spPr>
          <a:xfrm>
            <a:off x="611560" y="1124744"/>
            <a:ext cx="7488832" cy="5078313"/>
          </a:xfrm>
          <a:prstGeom prst="rect">
            <a:avLst/>
          </a:prstGeom>
          <a:noFill/>
        </p:spPr>
        <p:txBody>
          <a:bodyPr wrap="square">
            <a:spAutoFit/>
          </a:bodyPr>
          <a:lstStyle/>
          <a:p>
            <a:pPr marL="285750" indent="-285750">
              <a:buFont typeface="Arial" panose="020B0604020202020204" pitchFamily="34" charset="0"/>
              <a:buChar char="•"/>
            </a:pPr>
            <a:r>
              <a:rPr lang="en-GB" sz="3600" dirty="0">
                <a:latin typeface="Times New Roman" pitchFamily="18" charset="0"/>
                <a:cs typeface="Times New Roman" pitchFamily="18" charset="0"/>
              </a:rPr>
              <a:t>Experiments with externally applied IAA and G.A indicates that in the intact plant interactions between auxin and GA determines the relative rate of production of 2</a:t>
            </a:r>
            <a:r>
              <a:rPr lang="en-GB" sz="3600" baseline="30000" dirty="0">
                <a:latin typeface="Times New Roman" pitchFamily="18" charset="0"/>
                <a:cs typeface="Times New Roman" pitchFamily="18" charset="0"/>
              </a:rPr>
              <a:t>0</a:t>
            </a:r>
            <a:r>
              <a:rPr lang="en-GB" sz="3600" dirty="0">
                <a:latin typeface="Times New Roman" pitchFamily="18" charset="0"/>
                <a:cs typeface="Times New Roman" pitchFamily="18" charset="0"/>
              </a:rPr>
              <a:t> xylem and 2</a:t>
            </a:r>
            <a:r>
              <a:rPr lang="en-GB" sz="3600" baseline="30000" dirty="0">
                <a:latin typeface="Times New Roman" pitchFamily="18" charset="0"/>
                <a:cs typeface="Times New Roman" pitchFamily="18" charset="0"/>
              </a:rPr>
              <a:t>0</a:t>
            </a:r>
            <a:r>
              <a:rPr lang="en-GB" sz="3600" dirty="0">
                <a:latin typeface="Times New Roman" pitchFamily="18" charset="0"/>
                <a:cs typeface="Times New Roman" pitchFamily="18" charset="0"/>
              </a:rPr>
              <a:t> phloem.</a:t>
            </a:r>
          </a:p>
          <a:p>
            <a:pPr marL="285750" indent="-285750">
              <a:buFont typeface="Arial" panose="020B0604020202020204" pitchFamily="34" charset="0"/>
              <a:buChar char="•"/>
            </a:pPr>
            <a:r>
              <a:rPr lang="en-GB" sz="3600" dirty="0">
                <a:latin typeface="Times New Roman" pitchFamily="18" charset="0"/>
                <a:cs typeface="Times New Roman" pitchFamily="18" charset="0"/>
              </a:rPr>
              <a:t>IAA and GA individually stimulate cambial activity when applied to a variety of woody plants.</a:t>
            </a:r>
          </a:p>
        </p:txBody>
      </p:sp>
    </p:spTree>
    <p:extLst>
      <p:ext uri="{BB962C8B-B14F-4D97-AF65-F5344CB8AC3E}">
        <p14:creationId xmlns:p14="http://schemas.microsoft.com/office/powerpoint/2010/main" val="28793096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6F10E8-24A2-46FD-ACA7-E976E83F10BD}"/>
              </a:ext>
            </a:extLst>
          </p:cNvPr>
          <p:cNvSpPr txBox="1"/>
          <p:nvPr/>
        </p:nvSpPr>
        <p:spPr>
          <a:xfrm>
            <a:off x="467544" y="1124744"/>
            <a:ext cx="7848872" cy="3948251"/>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However, IAA in the absence of GA stimulate only xylem development, and phloem development also occur only with GA</a:t>
            </a:r>
          </a:p>
          <a:p>
            <a:pPr marL="571500" indent="-571500">
              <a:buFont typeface="Arial" panose="020B0604020202020204" pitchFamily="34" charset="0"/>
              <a:buChar char="•"/>
            </a:pPr>
            <a:r>
              <a:rPr lang="en-GB" sz="3600" dirty="0">
                <a:latin typeface="Times New Roman" pitchFamily="18" charset="0"/>
                <a:cs typeface="Times New Roman" pitchFamily="18" charset="0"/>
              </a:rPr>
              <a:t>Both phloem and xylem  development reaches a maximum only in the presence of both IAA and GA</a:t>
            </a:r>
          </a:p>
        </p:txBody>
      </p:sp>
    </p:spTree>
    <p:extLst>
      <p:ext uri="{BB962C8B-B14F-4D97-AF65-F5344CB8AC3E}">
        <p14:creationId xmlns:p14="http://schemas.microsoft.com/office/powerpoint/2010/main" val="30693222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A47C83-D9F9-4886-A369-04B778D2657D}"/>
              </a:ext>
            </a:extLst>
          </p:cNvPr>
          <p:cNvSpPr txBox="1"/>
          <p:nvPr/>
        </p:nvSpPr>
        <p:spPr>
          <a:xfrm>
            <a:off x="539552" y="692696"/>
            <a:ext cx="7560840" cy="6186309"/>
          </a:xfrm>
          <a:prstGeom prst="rect">
            <a:avLst/>
          </a:prstGeom>
          <a:noFill/>
        </p:spPr>
        <p:txBody>
          <a:bodyPr wrap="square">
            <a:spAutoFit/>
          </a:bodyPr>
          <a:lstStyle/>
          <a:p>
            <a:pPr algn="ctr"/>
            <a:endParaRPr lang="en-GB" sz="3600" b="1" dirty="0"/>
          </a:p>
          <a:p>
            <a:pPr algn="ctr"/>
            <a:r>
              <a:rPr lang="en-GB" sz="4000" b="1" dirty="0"/>
              <a:t>GIBBERELLIC ACID (GA)</a:t>
            </a:r>
          </a:p>
          <a:p>
            <a:pPr algn="ctr"/>
            <a:r>
              <a:rPr lang="en-GB" sz="3600" b="1" dirty="0">
                <a:latin typeface="Times New Roman" pitchFamily="18" charset="0"/>
                <a:cs typeface="Times New Roman" pitchFamily="18" charset="0"/>
              </a:rPr>
              <a:t>Effects of GA on Plant Development</a:t>
            </a:r>
          </a:p>
          <a:p>
            <a:pPr marL="571500" indent="-571500">
              <a:buFont typeface="Arial" panose="020B0604020202020204" pitchFamily="34" charset="0"/>
              <a:buChar char="•"/>
            </a:pPr>
            <a:r>
              <a:rPr lang="en-GB" sz="3600" dirty="0">
                <a:latin typeface="Times New Roman" pitchFamily="18" charset="0"/>
                <a:cs typeface="Times New Roman" pitchFamily="18" charset="0"/>
              </a:rPr>
              <a:t>They were first discovered in Japan in studies with diseased rice plant that grew excessively tall.</a:t>
            </a:r>
          </a:p>
          <a:p>
            <a:pPr marL="571500" indent="-571500">
              <a:buFont typeface="Arial" panose="020B0604020202020204" pitchFamily="34" charset="0"/>
              <a:buChar char="•"/>
            </a:pPr>
            <a:r>
              <a:rPr lang="en-GB" sz="3600" dirty="0">
                <a:latin typeface="Times New Roman" pitchFamily="18" charset="0"/>
                <a:cs typeface="Times New Roman" pitchFamily="18" charset="0"/>
              </a:rPr>
              <a:t>These plants could not often support themselves and eventually fall off from combined weakness and parasitic damage.</a:t>
            </a:r>
          </a:p>
          <a:p>
            <a:endParaRPr lang="en-US" sz="3200" dirty="0"/>
          </a:p>
        </p:txBody>
      </p:sp>
    </p:spTree>
    <p:extLst>
      <p:ext uri="{BB962C8B-B14F-4D97-AF65-F5344CB8AC3E}">
        <p14:creationId xmlns:p14="http://schemas.microsoft.com/office/powerpoint/2010/main" val="15210588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34AE59-F4E3-4100-8F63-824A15448390}"/>
              </a:ext>
            </a:extLst>
          </p:cNvPr>
          <p:cNvSpPr txBox="1"/>
          <p:nvPr/>
        </p:nvSpPr>
        <p:spPr>
          <a:xfrm>
            <a:off x="467544" y="980727"/>
            <a:ext cx="7776864" cy="2862322"/>
          </a:xfrm>
          <a:prstGeom prst="rect">
            <a:avLst/>
          </a:prstGeom>
          <a:noFill/>
        </p:spPr>
        <p:txBody>
          <a:bodyPr wrap="square">
            <a:spAutoFit/>
          </a:bodyPr>
          <a:lstStyle/>
          <a:p>
            <a:pPr marL="571500" indent="-571500">
              <a:buFont typeface="Arial" panose="020B0604020202020204" pitchFamily="34" charset="0"/>
              <a:buChar char="•"/>
            </a:pPr>
            <a:r>
              <a:rPr lang="en-GB" sz="3600" dirty="0">
                <a:latin typeface="Times New Roman" pitchFamily="18" charset="0"/>
                <a:cs typeface="Times New Roman" pitchFamily="18" charset="0"/>
              </a:rPr>
              <a:t>As early as in the 1890’s the Japanese called this </a:t>
            </a:r>
            <a:r>
              <a:rPr lang="en-GB" sz="3600" b="1" i="1" dirty="0" err="1">
                <a:latin typeface="Times New Roman" pitchFamily="18" charset="0"/>
                <a:cs typeface="Times New Roman" pitchFamily="18" charset="0"/>
              </a:rPr>
              <a:t>bakanae</a:t>
            </a:r>
            <a:r>
              <a:rPr lang="en-GB" sz="3600" dirty="0">
                <a:latin typeface="Times New Roman" pitchFamily="18" charset="0"/>
                <a:cs typeface="Times New Roman" pitchFamily="18" charset="0"/>
              </a:rPr>
              <a:t> (the foolish seedling disease).</a:t>
            </a:r>
          </a:p>
          <a:p>
            <a:pPr marL="571500" indent="-571500">
              <a:buFont typeface="Arial" panose="020B0604020202020204" pitchFamily="34" charset="0"/>
              <a:buChar char="•"/>
            </a:pPr>
            <a:r>
              <a:rPr lang="en-GB" sz="3600" dirty="0">
                <a:latin typeface="Times New Roman" pitchFamily="18" charset="0"/>
                <a:cs typeface="Times New Roman" pitchFamily="18" charset="0"/>
              </a:rPr>
              <a:t>It is caused by a fungus called </a:t>
            </a:r>
            <a:r>
              <a:rPr lang="en-GB" sz="3600" b="1" i="1" dirty="0" err="1">
                <a:latin typeface="Times New Roman" pitchFamily="18" charset="0"/>
                <a:cs typeface="Times New Roman" pitchFamily="18" charset="0"/>
              </a:rPr>
              <a:t>Gibberella</a:t>
            </a:r>
            <a:r>
              <a:rPr lang="en-GB" sz="3600" b="1" i="1" dirty="0">
                <a:latin typeface="Times New Roman" pitchFamily="18" charset="0"/>
                <a:cs typeface="Times New Roman" pitchFamily="18" charset="0"/>
              </a:rPr>
              <a:t> </a:t>
            </a:r>
            <a:r>
              <a:rPr lang="en-GB" sz="3600" b="1" i="1" dirty="0" err="1">
                <a:latin typeface="Times New Roman" pitchFamily="18" charset="0"/>
                <a:cs typeface="Times New Roman" pitchFamily="18" charset="0"/>
              </a:rPr>
              <a:t>fujikori</a:t>
            </a:r>
            <a:r>
              <a:rPr lang="en-GB" sz="3600" dirty="0">
                <a:latin typeface="Times New Roman" pitchFamily="18" charset="0"/>
                <a:cs typeface="Times New Roman" pitchFamily="18" charset="0"/>
              </a:rPr>
              <a:t>.</a:t>
            </a:r>
          </a:p>
        </p:txBody>
      </p:sp>
    </p:spTree>
    <p:extLst>
      <p:ext uri="{BB962C8B-B14F-4D97-AF65-F5344CB8AC3E}">
        <p14:creationId xmlns:p14="http://schemas.microsoft.com/office/powerpoint/2010/main" val="24590749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6616</TotalTime>
  <Words>4564</Words>
  <Application>Microsoft Office PowerPoint</Application>
  <PresentationFormat>On-screen Show (4:3)</PresentationFormat>
  <Paragraphs>313</Paragraphs>
  <Slides>103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Arial</vt:lpstr>
      <vt:lpstr>Calibri</vt:lpstr>
      <vt:lpstr>Cambria</vt:lpstr>
      <vt:lpstr>Times New Roman</vt:lpstr>
      <vt:lpstr>Wingdings</vt:lpstr>
      <vt:lpstr>Adjacency</vt:lpstr>
      <vt:lpstr>PowerPoint Presentation</vt:lpstr>
      <vt:lpstr> METABOLISM OF GERMINATING SEEDS  </vt:lpstr>
      <vt:lpstr>PowerPoint Presentation</vt:lpstr>
      <vt:lpstr>  CARBOHYDRATE METABOLISM </vt:lpstr>
      <vt:lpstr>PowerPoint Presentation</vt:lpstr>
      <vt:lpstr>Carbohydrate…. continued</vt:lpstr>
      <vt:lpstr>PowerPoint Presentation</vt:lpstr>
      <vt:lpstr>PowerPoint Presentation</vt:lpstr>
      <vt:lpstr>PowerPoint Presentation</vt:lpstr>
      <vt:lpstr>PowerPoint Presentation</vt:lpstr>
      <vt:lpstr> PROTEIN METABOLISM </vt:lpstr>
      <vt:lpstr>PowerPoint Presentation</vt:lpstr>
      <vt:lpstr>PowerPoint Presentation</vt:lpstr>
      <vt:lpstr>PowerPoint Presentation</vt:lpstr>
      <vt:lpstr>PowerPoint Presentation</vt:lpstr>
      <vt:lpstr> LIPID METABOLISM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HORMONES</vt:lpstr>
      <vt:lpstr>PowerPoint Presentation</vt:lpstr>
      <vt:lpstr>PowerPoint Presentation</vt:lpstr>
      <vt:lpstr>PowerPoint Presentation</vt:lpstr>
      <vt:lpstr>PowerPoint Presentation</vt:lpstr>
      <vt:lpstr>DNA and RNA</vt:lpstr>
      <vt:lpstr>RESPIRATION</vt:lpstr>
      <vt:lpstr>PLANT HORMONES/GROWTH REGULATORS</vt:lpstr>
      <vt:lpstr>PowerPoint Presentation</vt:lpstr>
      <vt:lpstr>PLANT HORMONES contd.</vt:lpstr>
      <vt:lpstr>PLANT HORMONES contd.</vt:lpstr>
      <vt:lpstr>PowerPoint Presentation</vt:lpstr>
      <vt:lpstr>PLANT HORMONES contd.</vt:lpstr>
      <vt:lpstr>PLANT HORMONES contd.</vt:lpstr>
      <vt:lpstr>PowerPoint Presentation</vt:lpstr>
      <vt:lpstr>PLANT HORMONES contd.</vt:lpstr>
      <vt:lpstr>PowerPoint Presentation</vt:lpstr>
      <vt:lpstr>PLANT HORMONES contd.</vt:lpstr>
      <vt:lpstr>AUXIN contd.</vt:lpstr>
      <vt:lpstr>PowerPoint Presentation</vt:lpstr>
      <vt:lpstr>AUXIN contd.</vt:lpstr>
      <vt:lpstr>AUXIN contd.</vt:lpstr>
      <vt:lpstr>PowerPoint Presentation</vt:lpstr>
      <vt:lpstr>PowerPoint Presentation</vt:lpstr>
      <vt:lpstr>AUXIN contd.</vt:lpstr>
      <vt:lpstr>AUXIN contd.</vt:lpstr>
      <vt:lpstr>SYNTHESIS &amp; DEGRADATION OF AUXIN</vt:lpstr>
      <vt:lpstr>PowerPoint Presentation</vt:lpstr>
      <vt:lpstr>PowerPoint Presentation</vt:lpstr>
      <vt:lpstr>SYNTHESIS &amp; DEGRADATION contd.</vt:lpstr>
      <vt:lpstr>SYNTHESIS &amp; DEGRADATION contd.</vt:lpstr>
      <vt:lpstr>PowerPoint Presentation</vt:lpstr>
      <vt:lpstr>SYNTHESIS &amp; DEGRADATION contd.</vt:lpstr>
      <vt:lpstr>PowerPoint Presentation</vt:lpstr>
      <vt:lpstr>SYNTHESIS &amp; DEGRADATION contd.</vt:lpstr>
      <vt:lpstr>SYNTHESIS &amp; DEGRADATION contd.</vt:lpstr>
      <vt:lpstr>AUXIN TRANSPORT</vt:lpstr>
      <vt:lpstr>PowerPoint Presentation</vt:lpstr>
      <vt:lpstr>AUXIN TRANSPORT contd.</vt:lpstr>
      <vt:lpstr>AUXIN TRANSPORT contd.</vt:lpstr>
      <vt:lpstr>PowerPoint Presentation</vt:lpstr>
      <vt:lpstr>PowerPoint Presentation</vt:lpstr>
      <vt:lpstr>EFFECTS OF AUXINS…contd.</vt:lpstr>
      <vt:lpstr>PowerPoint Presentation</vt:lpstr>
      <vt:lpstr>PowerPoint Presentation</vt:lpstr>
      <vt:lpstr>EFFECTS OF AUXINS…contd.</vt:lpstr>
      <vt:lpstr>PowerPoint Presentation</vt:lpstr>
      <vt:lpstr>EFFECTS OF AUXINS…contd.</vt:lpstr>
      <vt:lpstr>EFFECTS OF AUXINS…contd.</vt:lpstr>
      <vt:lpstr>PowerPoint Presentation</vt:lpstr>
      <vt:lpstr>PowerPoint Presentation</vt:lpstr>
      <vt:lpstr>PowerPoint Presentation</vt:lpstr>
      <vt:lpstr>EFFECTS OF AUXINS…contd.</vt:lpstr>
      <vt:lpstr>PowerPoint Presentation</vt:lpstr>
      <vt:lpstr>PowerPoint Presentation</vt:lpstr>
      <vt:lpstr>PowerPoint Presentation</vt:lpstr>
      <vt:lpstr>PowerPoint Presentation</vt:lpstr>
      <vt:lpstr>PowerPoint Presentation</vt:lpstr>
      <vt:lpstr>EFFECTS OF AUXINS…contd.</vt:lpstr>
      <vt:lpstr>EFFECTS OF AUXINS…contd.</vt:lpstr>
      <vt:lpstr>PowerPoint Presentation</vt:lpstr>
      <vt:lpstr>EFFECTS OF AUXINS…contd.</vt:lpstr>
      <vt:lpstr>PowerPoint Presentation</vt:lpstr>
      <vt:lpstr>PowerPoint Presentation</vt:lpstr>
      <vt:lpstr>PowerPoint Presentation</vt:lpstr>
      <vt:lpstr>PowerPoint Presentation</vt:lpstr>
      <vt:lpstr>EFFECTS OF AUXINS…contd.</vt:lpstr>
      <vt:lpstr>PHYSIOLOGICAL EXPLANATION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EFFECTS OF AUXIN ON CAMBIAL ACTIVITY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HORMONES</dc:title>
  <dc:creator>GODWIN</dc:creator>
  <cp:lastModifiedBy>Mr Alfred Apetorgbor</cp:lastModifiedBy>
  <cp:revision>466</cp:revision>
  <dcterms:created xsi:type="dcterms:W3CDTF">2011-10-10T13:35:48Z</dcterms:created>
  <dcterms:modified xsi:type="dcterms:W3CDTF">2021-02-25T09:59:01Z</dcterms:modified>
</cp:coreProperties>
</file>