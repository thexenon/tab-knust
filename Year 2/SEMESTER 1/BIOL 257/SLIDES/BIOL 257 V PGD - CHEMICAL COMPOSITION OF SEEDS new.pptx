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7449-5677-4444-9A8A-ADCD2204F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109D6-4D6E-4BF7-9AA3-CAA1F3DF4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4407F-C688-4D99-AA98-68EE80EA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B2EB-B7BD-41F3-B2D3-CE890EF0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34C0F-38E8-46A5-A848-D6F579FB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8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0582-01B8-4969-9169-E0D5CC5B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8C66-A710-4070-B75A-708A61BB9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4EC26-1B92-4D52-92F9-21E9F4A5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57EB9-C34E-410B-B7BC-AB963CD4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364FF-356A-4781-8B16-1F9E6086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83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66E1-DE60-4287-9469-D75D2958F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FB4AE-4783-4FFA-A213-EF7AE1477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96524-ECDC-4364-92FF-C2DF1515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C0F7C-6B9F-4F4C-8E08-17224250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74516-1DE9-4105-B854-9D47BB8D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01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D138-6549-4597-B8BC-CD0C2DA6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FEFDD-6F53-4087-9491-9CB215315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B04BE-5DE4-4310-8633-4C2E17B61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E9481-B48E-4D43-918F-B4D14E42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B3EB8-2C6F-4F70-8BF1-85B9F00E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A0042-79AC-43ED-870D-F8B251E8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5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04C5-E294-402F-AA91-8C0715F4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EEBE0-4938-4400-A39D-E8F6440C1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D5571-3D47-40AE-BE2B-F01BE4406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C6629-2218-4BC3-9F18-3446EBF55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C0434-A92C-4410-BA41-75B5E8E63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76985-33CA-4881-A4CC-A1F073E3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4BA17-D3E3-4A78-B276-57FAE4AD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DE434-554A-4C44-923C-23FFC413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8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EF09-D9DA-4620-9202-F80E48481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14E41A-27B2-462F-AAE3-CCD76902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DC409-A560-428A-87D9-7F1129114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36E42-F598-43B6-85FC-7074E001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3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D29C0-702B-4A3A-BC32-EAEF1B853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3D743-367C-4E3E-8BC2-79BD8F3C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7FAD8-1C8B-48CE-A48E-D782CC74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AEB0-2C00-4C84-A9D6-C1C549A09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58D1-49B3-44F2-BDFC-3316579F9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BEE57-0BCB-471F-8719-142C028BD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3BB2-1563-4354-B1C1-10D0B682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16EDB-F738-43BF-9BE1-DF5CB37A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D9539-D6FC-427C-B141-16B2CFC39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707CA-1422-42AA-BA9D-1287C68F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0FC17-6453-4F82-B6B2-5603A4A90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1657B-698F-48CA-905C-6C1EF1B40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9E422-C74E-413F-97DE-125B4659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12B09-286E-4D74-848A-2014FC93C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7670A-8EAB-43AB-9E07-0DA6FB4B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9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FA35-C2A8-4FA9-AED0-28A21A8C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98786-5B23-43F7-A776-2A82DBBE0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CCEF-7AB4-43C1-9414-44A1D43D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DF99-A55E-4511-8EFB-2553CA22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9D059-D3A2-4EDC-9FF7-68ACEFFB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9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C442B-D716-4013-952B-951DA2AFE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F97A2-D666-4DB2-B0B0-69ABC8D17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91FAF-2A42-4C67-B2A8-3A94934B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493C0-E447-4224-AC77-C6053868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ABF89-48A3-41C8-ABBE-A29F51EE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2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96DF27-AB0E-412F-8837-4A055200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769CA-F5DC-4720-B713-325D0E802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A5D08-C4E8-4BF8-B2CC-8CC514C57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EFCAD-B9FF-4B16-AAA8-BB56061341D7}" type="datetimeFigureOut">
              <a:rPr lang="en-US" smtClean="0"/>
              <a:t>18-Mar-21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6D4B-C348-4EA1-AE8F-7E7B5A7A1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04DF-B957-4FCF-8C80-D66D6587D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F0C6D-D95C-4016-98E9-2756C5DD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4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107F6C-C388-4D7A-BE8F-589991B6EB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1625" y="1047750"/>
            <a:ext cx="85534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7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6BBED-56ED-470A-895B-0DFD54D1922B}"/>
              </a:ext>
            </a:extLst>
          </p:cNvPr>
          <p:cNvSpPr txBox="1"/>
          <p:nvPr/>
        </p:nvSpPr>
        <p:spPr>
          <a:xfrm>
            <a:off x="1323974" y="638174"/>
            <a:ext cx="9858375" cy="498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Most seeds have high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LIPID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content. 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Except for certain fruits, the occurrence of high lipid concentration differentiates seeds from other plant organs.</a:t>
            </a: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Wingdings 2" panose="05020102010507070707" pitchFamily="18" charset="2"/>
                <a:cs typeface="Wingdings 2" panose="05020102010507070707" pitchFamily="18" charset="2"/>
              </a:rPr>
              <a:t>Lipids are commonly absent in the stem, leaf and root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14081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1C0026-D3FA-4CCF-9902-550491D11036}"/>
              </a:ext>
            </a:extLst>
          </p:cNvPr>
          <p:cNvSpPr txBox="1"/>
          <p:nvPr/>
        </p:nvSpPr>
        <p:spPr>
          <a:xfrm>
            <a:off x="828675" y="914400"/>
            <a:ext cx="10467975" cy="2496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They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are concentrated in the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endosperm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or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cotyledon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(storage tissues in Angiosperms).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 endosperm is generally solid.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1734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ACB571-61C8-407E-B677-81EB91AEC057}"/>
              </a:ext>
            </a:extLst>
          </p:cNvPr>
          <p:cNvSpPr txBox="1"/>
          <p:nvPr/>
        </p:nvSpPr>
        <p:spPr>
          <a:xfrm>
            <a:off x="333375" y="523875"/>
            <a:ext cx="10734675" cy="581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Lipids provide the highest amount of potential energy per unit weight 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 seed lipid reserve is generally hydrolyzed </a:t>
            </a:r>
            <a:r>
              <a:rPr lang="en-US" sz="36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in situ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to glycerol and fatty acids by lipases.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fatty acids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are utilized for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phospholipids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and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glycolipids.</a:t>
            </a:r>
            <a:endParaRPr lang="en-US" sz="3600" b="1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These are required as constituents of organelles.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9183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E6D0CA-323D-4F56-8584-2C54655D055C}"/>
              </a:ext>
            </a:extLst>
          </p:cNvPr>
          <p:cNvSpPr txBox="1"/>
          <p:nvPr/>
        </p:nvSpPr>
        <p:spPr>
          <a:xfrm>
            <a:off x="342899" y="581025"/>
            <a:ext cx="9115425" cy="581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However, most are converted to sugars and transported to the seedling </a:t>
            </a:r>
            <a:r>
              <a:rPr lang="en-US" sz="3600" b="1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(body)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for growth.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Lipids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dissolve in organic solvents </a:t>
            </a:r>
            <a:r>
              <a:rPr lang="en-US" sz="36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eg.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benzene,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Wingdings 2" panose="05020102010507070707" pitchFamily="18" charset="2"/>
                <a:ea typeface="Constantia" panose="02030602050306030303" pitchFamily="18" charset="0"/>
                <a:cs typeface="Wingdings 2" panose="05020102010507070707" pitchFamily="18" charset="2"/>
              </a:rPr>
              <a:t> </a:t>
            </a: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acetone, alcohol, ether but do not dissolve in H</a:t>
            </a:r>
            <a:r>
              <a:rPr lang="en-US" sz="36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2</a:t>
            </a: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O.</a:t>
            </a:r>
            <a:endParaRPr lang="en-US" sz="3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 value of seed-borne lipids for food and industrial uses is enormous.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6736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4A902-9807-40D6-9F52-FF2F318CAC22}"/>
              </a:ext>
            </a:extLst>
          </p:cNvPr>
          <p:cNvSpPr txBox="1"/>
          <p:nvPr/>
        </p:nvSpPr>
        <p:spPr>
          <a:xfrm>
            <a:off x="952500" y="457200"/>
            <a:ext cx="10048876" cy="581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In contrast to animal fats, the highly unsaturated chemical nature of lipids has caused increased interest in them for health purposes.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 high lipid content is usually associated with decreased protein content </a:t>
            </a:r>
            <a:r>
              <a:rPr lang="en-US" sz="36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eg.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soybean, rapeseed.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All the basic protoplasmic components are present in seeds.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19386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8B062C-B704-40BA-9B2A-0FB094D9C0D0}"/>
              </a:ext>
            </a:extLst>
          </p:cNvPr>
          <p:cNvSpPr txBox="1"/>
          <p:nvPr/>
        </p:nvSpPr>
        <p:spPr>
          <a:xfrm>
            <a:off x="971550" y="714375"/>
            <a:ext cx="10172700" cy="537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These include amino acids, vitamins, nucleic acids, co-enzymes and minerals.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Phosphorus content in most seeds is often very high. WHY?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This element occurs most commonly as </a:t>
            </a:r>
            <a:r>
              <a:rPr lang="en-US" sz="36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Phytin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salts</a:t>
            </a:r>
            <a:r>
              <a:rPr lang="en-US" sz="3600" b="1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of inositol </a:t>
            </a:r>
            <a:r>
              <a:rPr lang="en-US" sz="36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hexaphosphate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116205" marR="1524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7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4EE0C-9C5F-4BE3-A4FD-B14255622646}"/>
              </a:ext>
            </a:extLst>
          </p:cNvPr>
          <p:cNvSpPr txBox="1"/>
          <p:nvPr/>
        </p:nvSpPr>
        <p:spPr>
          <a:xfrm>
            <a:off x="600074" y="952500"/>
            <a:ext cx="10982325" cy="483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All seeds contain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PROTEIN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as the protoplasmic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onstantia" panose="02030602050306030303" pitchFamily="18" charset="0"/>
                <a:ea typeface="Constantia" panose="02030602050306030303" pitchFamily="18" charset="0"/>
                <a:cs typeface="Constantia" panose="02030602050306030303" pitchFamily="18" charset="0"/>
              </a:rPr>
              <a:t> component.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Proteins are huge N</a:t>
            </a:r>
            <a:r>
              <a:rPr lang="en-US" sz="3600" u="none" strike="noStrike" baseline="-25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2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containing molecules with huge structures, greater part of which yield amino acids upon hydrolysis of the peptide bonds.</a:t>
            </a:r>
          </a:p>
          <a:p>
            <a:pPr marR="0" lvl="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</a:pP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68081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E46324-2C58-4806-84CF-32D404E2E173}"/>
              </a:ext>
            </a:extLst>
          </p:cNvPr>
          <p:cNvSpPr txBox="1"/>
          <p:nvPr/>
        </p:nvSpPr>
        <p:spPr>
          <a:xfrm>
            <a:off x="238126" y="552450"/>
            <a:ext cx="10258424" cy="582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onstantia" panose="02030602050306030303" pitchFamily="18" charset="0"/>
              </a:rPr>
              <a:t> Proteins</a:t>
            </a: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 are so important to plant and animal life that all physiological reactions of living cells revolve around their physical and chemical properties and those of related compounds.</a:t>
            </a:r>
          </a:p>
          <a:p>
            <a:pPr marL="342900" indent="-342900" algn="just" fontAlgn="base">
              <a:lnSpc>
                <a:spcPct val="150000"/>
              </a:lnSpc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Aside H</a:t>
            </a:r>
            <a:r>
              <a:rPr lang="en-US" sz="3600" u="none" strike="noStrike" baseline="-25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2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O, proteins are the principal components of protoplasm of both plant and animal cells.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83276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5AA204-A454-49A7-B143-D0BA8AADAAD8}"/>
              </a:ext>
            </a:extLst>
          </p:cNvPr>
          <p:cNvSpPr txBox="1"/>
          <p:nvPr/>
        </p:nvSpPr>
        <p:spPr>
          <a:xfrm>
            <a:off x="847725" y="638175"/>
            <a:ext cx="10582275" cy="582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Seeds often contain unusual amino acids which are not constituents of proteins.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This may act as N</a:t>
            </a:r>
            <a:r>
              <a:rPr lang="en-US" sz="3600" u="none" strike="noStrike" baseline="-25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2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store and may be present to the extent of several percent of the seed’s dry weight.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In some cases, </a:t>
            </a:r>
            <a:r>
              <a:rPr lang="en-US" sz="36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eg.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legumes, large quantities of special reserved proteins with a distinctive chemical composition are also stored.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79807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6F29BA-56FA-470F-BAFC-184F42D3E46B}"/>
              </a:ext>
            </a:extLst>
          </p:cNvPr>
          <p:cNvSpPr txBox="1"/>
          <p:nvPr/>
        </p:nvSpPr>
        <p:spPr>
          <a:xfrm>
            <a:off x="361950" y="314326"/>
            <a:ext cx="11172825" cy="581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torage proteins occur as membrane enveloped protein bodies (</a:t>
            </a:r>
            <a:r>
              <a:rPr lang="en-US" sz="3600" b="1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Aleurone bodies</a:t>
            </a:r>
            <a:r>
              <a:rPr lang="en-US" sz="36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) 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They may occasionally occur as crystals.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 protein reserve in all cases is sufficient for growth before the plant becomes self-supporting.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Seed storage proteins are less complex than protoplasmic protein and less likely to be tied up with lipids.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58672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B26B5D-E016-4B50-814B-4DF0AFC5F30D}"/>
              </a:ext>
            </a:extLst>
          </p:cNvPr>
          <p:cNvSpPr txBox="1"/>
          <p:nvPr/>
        </p:nvSpPr>
        <p:spPr>
          <a:xfrm>
            <a:off x="733425" y="533401"/>
            <a:ext cx="10906124" cy="602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 great majority of seed proteins are metabolically inactive and serve merely as food reserve for use by the growing embryo during germination.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Active </a:t>
            </a:r>
            <a:r>
              <a:rPr lang="en-US" sz="3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proteins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are few but are extremely important to the developing and germinating seed.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As enzymes, proteins catalyze the metabolic processes in digestion, translocation and utilization of stored food reserves; no growth can occur without them.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2337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FA361-1E36-4353-A67D-30CBAA3D1520}"/>
              </a:ext>
            </a:extLst>
          </p:cNvPr>
          <p:cNvSpPr txBox="1"/>
          <p:nvPr/>
        </p:nvSpPr>
        <p:spPr>
          <a:xfrm>
            <a:off x="552451" y="485775"/>
            <a:ext cx="11439524" cy="581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CARBOHYDRATES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are the major storage substances in seeds.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Carbohydrates occur mainly as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starch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or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hemicellulose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Other carbohydrates that occur in non-storage forms are </a:t>
            </a:r>
            <a:r>
              <a:rPr lang="en-US" sz="36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peptin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and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mucilage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Starch is the principal and most widespread storage carbohydrate.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3834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98ED13-DC39-41DF-9287-B50AF3BC5221}"/>
              </a:ext>
            </a:extLst>
          </p:cNvPr>
          <p:cNvSpPr txBox="1"/>
          <p:nvPr/>
        </p:nvSpPr>
        <p:spPr>
          <a:xfrm>
            <a:off x="1038225" y="1238251"/>
            <a:ext cx="10439399" cy="3318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They are metabolically inactive reserves stored until needed during germination.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Starch is stored in two related forms: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amylose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and </a:t>
            </a:r>
            <a:r>
              <a:rPr lang="en-US" sz="36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amylopeptin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which are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two polymers of D-glucose</a:t>
            </a:r>
            <a:r>
              <a:rPr lang="en-US" sz="3600" b="1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94984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61003F-69F0-4237-A282-37759E866FD1}"/>
              </a:ext>
            </a:extLst>
          </p:cNvPr>
          <p:cNvSpPr txBox="1"/>
          <p:nvPr/>
        </p:nvSpPr>
        <p:spPr>
          <a:xfrm>
            <a:off x="781050" y="704849"/>
            <a:ext cx="11163300" cy="581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Amylose stains blue when exposed to iodine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and is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100% digestible by alpha amylase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Amylopeptin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on the other hand is only about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50% digestible by alpha amylas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e and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stains purplish-red when exposed to iodine.</a:t>
            </a:r>
            <a:endParaRPr lang="en-US" sz="3600" b="1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However, they are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both hydrolyzed by alpha and beta amylase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during normal metabolism and germination.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52107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67ED6B-6D20-44F0-989E-7394F5C2BC40}"/>
              </a:ext>
            </a:extLst>
          </p:cNvPr>
          <p:cNvSpPr txBox="1"/>
          <p:nvPr/>
        </p:nvSpPr>
        <p:spPr>
          <a:xfrm>
            <a:off x="1028699" y="1238250"/>
            <a:ext cx="1009650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Starch is stored as grains (up to 5µm in diameter) as formed in the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amyloplast (</a:t>
            </a:r>
            <a:r>
              <a:rPr lang="en-US" sz="3200" b="0" i="0" dirty="0">
                <a:solidFill>
                  <a:srgbClr val="444444"/>
                </a:solidFill>
                <a:effectLst/>
                <a:latin typeface="Roboto"/>
              </a:rPr>
              <a:t>a </a:t>
            </a:r>
            <a:r>
              <a:rPr lang="en-US" sz="3200" b="0" i="0" dirty="0" err="1">
                <a:solidFill>
                  <a:srgbClr val="444444"/>
                </a:solidFill>
                <a:effectLst/>
                <a:latin typeface="Roboto"/>
              </a:rPr>
              <a:t>colourless</a:t>
            </a:r>
            <a:r>
              <a:rPr lang="en-US" sz="3200" b="0" i="0" dirty="0">
                <a:solidFill>
                  <a:srgbClr val="444444"/>
                </a:solidFill>
                <a:effectLst/>
                <a:latin typeface="Roboto"/>
              </a:rPr>
              <a:t> plastid that forms and stores starch)</a:t>
            </a:r>
            <a:r>
              <a:rPr lang="en-US" sz="32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</a:t>
            </a:r>
            <a:endParaRPr lang="en-US" sz="32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Hemicelluloses are normal cell wall components in all tissues.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08219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B43C7B-14DF-464B-A9CA-3B57ED8275FD}"/>
              </a:ext>
            </a:extLst>
          </p:cNvPr>
          <p:cNvSpPr txBox="1"/>
          <p:nvPr/>
        </p:nvSpPr>
        <p:spPr>
          <a:xfrm>
            <a:off x="552450" y="1133475"/>
            <a:ext cx="105060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Hemicelluloses are usually found in the thickened tertiary layers of cell walls of the endosperm or cotyledon instead of the interior region of the endosperm.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They are composed principally of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mannans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with small amount of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glucose, galactose, arabinose 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as side chain on the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main linear polymers of mannose residues.</a:t>
            </a:r>
            <a:endParaRPr lang="en-US" sz="3600" b="1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66960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8006D9-97BB-4750-85E8-C0D39D88AB1B}"/>
              </a:ext>
            </a:extLst>
          </p:cNvPr>
          <p:cNvSpPr txBox="1"/>
          <p:nvPr/>
        </p:nvSpPr>
        <p:spPr>
          <a:xfrm>
            <a:off x="1200150" y="752475"/>
            <a:ext cx="104298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Where they form a major seed reserve, they are laid down as heavy cell wall thickening, which almost fill the lumen, as in seeds of the date palm, </a:t>
            </a:r>
            <a:r>
              <a:rPr lang="en-US" sz="3600" b="1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Phoenix </a:t>
            </a:r>
            <a:r>
              <a:rPr lang="en-US" sz="3600" b="1" i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dactylifera</a:t>
            </a:r>
            <a:r>
              <a:rPr lang="en-US" sz="36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Small amounts of soluble sugars are usually present.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These sugars are concentrated mainly in the growing parts of the embryo </a:t>
            </a:r>
            <a:r>
              <a:rPr lang="en-US" sz="36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ie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. shoot and root apices where meristematic activities are highest.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852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381910-6224-407C-AA5C-ED72150A48D8}"/>
              </a:ext>
            </a:extLst>
          </p:cNvPr>
          <p:cNvSpPr txBox="1"/>
          <p:nvPr/>
        </p:nvSpPr>
        <p:spPr>
          <a:xfrm>
            <a:off x="1228725" y="1238250"/>
            <a:ext cx="103060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WATER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content in seeds is often very low ranging between 5-20% on a fresh weight basis compared to 80-90% of most plants in an active state.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This largely accounts for the very low metabolic rate in </a:t>
            </a:r>
            <a:r>
              <a:rPr lang="en-US" sz="36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ungerminated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seeds.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74651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4C92F5-C1E5-4F8A-A8E3-079FB73CA8F9}"/>
              </a:ext>
            </a:extLst>
          </p:cNvPr>
          <p:cNvSpPr txBox="1"/>
          <p:nvPr/>
        </p:nvSpPr>
        <p:spPr>
          <a:xfrm>
            <a:off x="1104899" y="1047750"/>
            <a:ext cx="10391776" cy="3842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4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Most of the water in dry seeds are firmly bound to 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colloids</a:t>
            </a:r>
            <a:r>
              <a:rPr lang="en-US" sz="4000" i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</a:t>
            </a:r>
            <a:r>
              <a:rPr lang="en-US" sz="4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and inaccessible for hydrolytic reactions (not </a:t>
            </a:r>
            <a:r>
              <a:rPr lang="en-US" sz="40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unfreezable</a:t>
            </a:r>
            <a:r>
              <a:rPr lang="en-US" sz="4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).</a:t>
            </a:r>
            <a:endParaRPr lang="en-US" sz="4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4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This is only removable by temperatures approaching 100</a:t>
            </a:r>
            <a:r>
              <a:rPr lang="en-US" sz="4000" u="none" strike="noStrike" baseline="300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0</a:t>
            </a:r>
            <a:r>
              <a:rPr lang="en-US" sz="4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 or by storage in high vacuum.</a:t>
            </a:r>
            <a:endParaRPr lang="en-US" sz="4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74355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E7738B-4072-49F6-B389-F6032E1B696A}"/>
              </a:ext>
            </a:extLst>
          </p:cNvPr>
          <p:cNvSpPr txBox="1"/>
          <p:nvPr/>
        </p:nvSpPr>
        <p:spPr>
          <a:xfrm>
            <a:off x="685799" y="1343024"/>
            <a:ext cx="10801351" cy="3670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Ø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Due to this dehydration, the cells and the subcellular organelles in dry seeds are often shrunken.</a:t>
            </a:r>
          </a:p>
          <a:p>
            <a:pPr marL="571500" marR="0" lvl="0" indent="-5715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Ø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Seeds also </a:t>
            </a:r>
            <a:r>
              <a:rPr lang="en-US" sz="2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contain </a:t>
            </a:r>
            <a:r>
              <a:rPr lang="en-US" sz="28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GROWTH PROMOTERS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, such as </a:t>
            </a:r>
            <a:r>
              <a:rPr lang="en-US" sz="36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Cytokinins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, and Auxins. </a:t>
            </a:r>
          </a:p>
          <a:p>
            <a:pPr marL="571500" marR="0" lvl="0" indent="-5715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There is also the presence of 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GROWTH INHIBITORS</a:t>
            </a: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 and most of them are </a:t>
            </a:r>
            <a:r>
              <a:rPr lang="en-US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phenolic compounds</a:t>
            </a:r>
            <a:endParaRPr lang="en-US" sz="3600" b="1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Constantia" panose="02030602050306030303" pitchFamily="18" charset="0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endParaRPr lang="en-US" sz="11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61268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B3E724-595E-4C89-AF79-A5C88054443A}"/>
              </a:ext>
            </a:extLst>
          </p:cNvPr>
          <p:cNvSpPr txBox="1"/>
          <p:nvPr/>
        </p:nvSpPr>
        <p:spPr>
          <a:xfrm>
            <a:off x="1085850" y="1019174"/>
            <a:ext cx="10744200" cy="436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670" marR="0">
              <a:spcBef>
                <a:spcPts val="0"/>
              </a:spcBef>
              <a:spcAft>
                <a:spcPts val="3000"/>
              </a:spcAft>
            </a:pPr>
            <a:r>
              <a:rPr lang="en-US" sz="3200" b="1" u="sng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</a:rPr>
              <a:t>OTHER COMPOUNDS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onstantia" panose="02030602050306030303" pitchFamily="18" charset="0"/>
              </a:rPr>
              <a:t>:</a:t>
            </a:r>
            <a:endParaRPr lang="en-US" sz="3200" b="1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Tannins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: Used for tanning process as found in cocoa.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Tannins contain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phenolic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and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hydroxyl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compound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s.</a:t>
            </a: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Alkaloids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: Complex cyclic compounds containing </a:t>
            </a:r>
            <a:r>
              <a:rPr lang="en-US" sz="2800" u="non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N2</a:t>
            </a:r>
            <a:endParaRPr lang="en-US" sz="3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Most are white solids</a:t>
            </a:r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; however, </a:t>
            </a: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nicotine is a liquid at room temperature.</a:t>
            </a:r>
            <a:endParaRPr lang="en-US" sz="3600" b="1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endParaRPr lang="en-US" sz="11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79132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978903-EB06-4E90-871F-81C20D62B438}"/>
              </a:ext>
            </a:extLst>
          </p:cNvPr>
          <p:cNvSpPr txBox="1"/>
          <p:nvPr/>
        </p:nvSpPr>
        <p:spPr>
          <a:xfrm>
            <a:off x="1562100" y="1028701"/>
            <a:ext cx="8891588" cy="2487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Glucosides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Hormones 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300"/>
              <a:buFont typeface="Wingdings" panose="05000000000000000000" pitchFamily="2" charset="2"/>
              <a:buChar char=""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tantia" panose="02030602050306030303" pitchFamily="18" charset="0"/>
                <a:cs typeface="Wingdings 2" panose="05020102010507070707" pitchFamily="18" charset="2"/>
              </a:rPr>
              <a:t>Vitamins</a:t>
            </a:r>
            <a:endParaRPr lang="en-US" sz="36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Wingdings 2" panose="05020102010507070707" pitchFamily="18" charset="2"/>
              <a:ea typeface="Wingdings 2" panose="05020102010507070707" pitchFamily="18" charset="2"/>
              <a:cs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9010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950</Words>
  <Application>Microsoft Office PowerPoint</Application>
  <PresentationFormat>Widescreen</PresentationFormat>
  <Paragraphs>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Constantia</vt:lpstr>
      <vt:lpstr>Roboto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Alfred Apetorgbor</dc:creator>
  <cp:lastModifiedBy>Mr Alfred Apetorgbor</cp:lastModifiedBy>
  <cp:revision>18</cp:revision>
  <dcterms:created xsi:type="dcterms:W3CDTF">2021-03-18T10:57:21Z</dcterms:created>
  <dcterms:modified xsi:type="dcterms:W3CDTF">2021-03-18T14:14:10Z</dcterms:modified>
</cp:coreProperties>
</file>