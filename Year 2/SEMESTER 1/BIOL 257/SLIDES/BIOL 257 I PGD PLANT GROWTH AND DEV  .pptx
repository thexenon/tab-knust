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03" r:id="rId12"/>
    <p:sldId id="267" r:id="rId13"/>
    <p:sldId id="268" r:id="rId14"/>
    <p:sldId id="269" r:id="rId15"/>
    <p:sldId id="302" r:id="rId16"/>
    <p:sldId id="271" r:id="rId17"/>
    <p:sldId id="272" r:id="rId18"/>
    <p:sldId id="273" r:id="rId19"/>
    <p:sldId id="274" r:id="rId20"/>
    <p:sldId id="301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304" r:id="rId31"/>
    <p:sldId id="284" r:id="rId32"/>
    <p:sldId id="286" r:id="rId33"/>
    <p:sldId id="287" r:id="rId34"/>
    <p:sldId id="288" r:id="rId35"/>
    <p:sldId id="289" r:id="rId36"/>
    <p:sldId id="290" r:id="rId37"/>
    <p:sldId id="291" r:id="rId38"/>
    <p:sldId id="285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300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8E650-DB01-4C68-A648-41F3F437E036}" type="datetimeFigureOut">
              <a:rPr lang="en-US" smtClean="0"/>
              <a:t>28-Jan-21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DBDCC-F35F-48B9-95D7-67D97999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41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DBDCC-F35F-48B9-95D7-67D979993A9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70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D688-6D41-4451-B6DC-294CC2BC5528}" type="datetimeFigureOut">
              <a:rPr lang="en-US" smtClean="0"/>
              <a:pPr/>
              <a:t>28-Jan-21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F3B8-AEF8-42A0-BF14-47321F3AF2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D688-6D41-4451-B6DC-294CC2BC5528}" type="datetimeFigureOut">
              <a:rPr lang="en-US" smtClean="0"/>
              <a:pPr/>
              <a:t>28-Jan-21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F3B8-AEF8-42A0-BF14-47321F3AF2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D688-6D41-4451-B6DC-294CC2BC5528}" type="datetimeFigureOut">
              <a:rPr lang="en-US" smtClean="0"/>
              <a:pPr/>
              <a:t>28-Jan-21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F3B8-AEF8-42A0-BF14-47321F3AF2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D688-6D41-4451-B6DC-294CC2BC5528}" type="datetimeFigureOut">
              <a:rPr lang="en-US" smtClean="0"/>
              <a:pPr/>
              <a:t>28-Jan-21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F3B8-AEF8-42A0-BF14-47321F3AF2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D688-6D41-4451-B6DC-294CC2BC5528}" type="datetimeFigureOut">
              <a:rPr lang="en-US" smtClean="0"/>
              <a:pPr/>
              <a:t>28-Jan-21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F3B8-AEF8-42A0-BF14-47321F3AF2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D688-6D41-4451-B6DC-294CC2BC5528}" type="datetimeFigureOut">
              <a:rPr lang="en-US" smtClean="0"/>
              <a:pPr/>
              <a:t>28-Jan-21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F3B8-AEF8-42A0-BF14-47321F3AF2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D688-6D41-4451-B6DC-294CC2BC5528}" type="datetimeFigureOut">
              <a:rPr lang="en-US" smtClean="0"/>
              <a:pPr/>
              <a:t>28-Jan-21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F3B8-AEF8-42A0-BF14-47321F3AF2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D688-6D41-4451-B6DC-294CC2BC5528}" type="datetimeFigureOut">
              <a:rPr lang="en-US" smtClean="0"/>
              <a:pPr/>
              <a:t>28-Jan-21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F3B8-AEF8-42A0-BF14-47321F3AF2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D688-6D41-4451-B6DC-294CC2BC5528}" type="datetimeFigureOut">
              <a:rPr lang="en-US" smtClean="0"/>
              <a:pPr/>
              <a:t>28-Jan-21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F3B8-AEF8-42A0-BF14-47321F3AF2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D688-6D41-4451-B6DC-294CC2BC5528}" type="datetimeFigureOut">
              <a:rPr lang="en-US" smtClean="0"/>
              <a:pPr/>
              <a:t>28-Jan-21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F3B8-AEF8-42A0-BF14-47321F3AF2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D688-6D41-4451-B6DC-294CC2BC5528}" type="datetimeFigureOut">
              <a:rPr lang="en-US" smtClean="0"/>
              <a:pPr/>
              <a:t>28-Jan-21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F3B8-AEF8-42A0-BF14-47321F3AF2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DD688-6D41-4451-B6DC-294CC2BC5528}" type="datetimeFigureOut">
              <a:rPr lang="en-US" smtClean="0"/>
              <a:pPr/>
              <a:t>28-Jan-21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3F3B8-AEF8-42A0-BF14-47321F3AF29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917" y="1700808"/>
            <a:ext cx="7958166" cy="1008112"/>
          </a:xfrm>
        </p:spPr>
        <p:txBody>
          <a:bodyPr>
            <a:normAutofit fontScale="90000"/>
          </a:bodyPr>
          <a:lstStyle/>
          <a:p>
            <a:r>
              <a:rPr lang="en-GB" b="1" dirty="0" err="1"/>
              <a:t>BIOL</a:t>
            </a:r>
            <a:r>
              <a:rPr lang="en-GB" b="1" dirty="0"/>
              <a:t> 257 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143248"/>
            <a:ext cx="6986614" cy="2643206"/>
          </a:xfrm>
        </p:spPr>
        <p:txBody>
          <a:bodyPr>
            <a:normAutofit/>
          </a:bodyPr>
          <a:lstStyle/>
          <a:p>
            <a:r>
              <a:rPr lang="en-GB" sz="4000" b="1" dirty="0"/>
              <a:t>PLANT GROWTH AND DEVELOPMENT</a:t>
            </a:r>
            <a:endParaRPr lang="en-GB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1080120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/>
              <a:t>COURSE OUTLINE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329642" cy="4968552"/>
          </a:xfrm>
        </p:spPr>
        <p:txBody>
          <a:bodyPr>
            <a:normAutofit/>
          </a:bodyPr>
          <a:lstStyle/>
          <a:p>
            <a:r>
              <a:rPr lang="en-GB" sz="3600" dirty="0"/>
              <a:t>Definitions of growth, growth kinetics, cellular differentiation, morphogenesis, development and Phyllotaxis</a:t>
            </a:r>
          </a:p>
          <a:p>
            <a:r>
              <a:rPr lang="en-GB" sz="3600" dirty="0"/>
              <a:t>Some factors affecting growth and development: soil, light and gravity </a:t>
            </a:r>
          </a:p>
          <a:p>
            <a:r>
              <a:rPr lang="en-GB" sz="3600" dirty="0"/>
              <a:t>Regulation of growth and development by plant hormones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en-GB" sz="4000" b="1" dirty="0"/>
              <a:t>COURSE OUTLINE Cont’d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186766" cy="5328592"/>
          </a:xfrm>
        </p:spPr>
        <p:txBody>
          <a:bodyPr>
            <a:normAutofit fontScale="92500" lnSpcReduction="10000"/>
          </a:bodyPr>
          <a:lstStyle/>
          <a:p>
            <a:r>
              <a:rPr lang="en-GB" sz="3900" dirty="0"/>
              <a:t>Types of seeds and their structure, seed longevity, seed dormancy, seed germination and quiescence</a:t>
            </a:r>
          </a:p>
          <a:p>
            <a:r>
              <a:rPr lang="en-GB" sz="3900" dirty="0"/>
              <a:t>Phytochrome </a:t>
            </a:r>
          </a:p>
          <a:p>
            <a:r>
              <a:rPr lang="en-GB" sz="3900" dirty="0"/>
              <a:t>Tissue culture, apical dominance, abscission and root initiation </a:t>
            </a:r>
          </a:p>
          <a:p>
            <a:r>
              <a:rPr lang="en-GB" sz="3900" dirty="0"/>
              <a:t>Hormone herbicides and other herbicides </a:t>
            </a:r>
          </a:p>
          <a:p>
            <a:r>
              <a:rPr lang="en-GB" sz="3900" dirty="0"/>
              <a:t>Fruit formation, parthenocarpy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792088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/>
              <a:t>COURSE OBJECTIVES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14602"/>
          </a:xfrm>
        </p:spPr>
        <p:txBody>
          <a:bodyPr>
            <a:normAutofit/>
          </a:bodyPr>
          <a:lstStyle/>
          <a:p>
            <a:r>
              <a:rPr lang="en-GB" sz="3600" dirty="0"/>
              <a:t>Differentiate between growth and development</a:t>
            </a:r>
          </a:p>
          <a:p>
            <a:r>
              <a:rPr lang="en-GB" sz="3600" dirty="0"/>
              <a:t>Understand that plant growth and development take place at specific locations</a:t>
            </a:r>
          </a:p>
          <a:p>
            <a:r>
              <a:rPr lang="en-GB" sz="3600" dirty="0"/>
              <a:t>Know the role of hormones and environmental factors on the development of plant roots,  leaves and flowers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26170"/>
          </a:xfrm>
        </p:spPr>
        <p:txBody>
          <a:bodyPr>
            <a:normAutofit/>
          </a:bodyPr>
          <a:lstStyle/>
          <a:p>
            <a:r>
              <a:rPr lang="en-GB" sz="3600" b="1" dirty="0"/>
              <a:t>COURSE OBJECTIVES Cont’d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r>
              <a:rPr lang="en-GB" sz="3600" dirty="0"/>
              <a:t>Distinguish between the various types of movements – Geotropism, phototropism nastic movement, turgor, etc </a:t>
            </a:r>
          </a:p>
          <a:p>
            <a:r>
              <a:rPr lang="en-GB" sz="3600" dirty="0"/>
              <a:t>Differentiate between short-day plants, long-day plants and day-neutral plants</a:t>
            </a:r>
          </a:p>
          <a:p>
            <a:r>
              <a:rPr lang="en-GB" sz="3600" dirty="0"/>
              <a:t>Understand the terms: abscission and senescence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br>
              <a:rPr lang="en-GB" b="1" dirty="0"/>
            </a:br>
            <a:r>
              <a:rPr lang="en-GB" sz="4000" b="1" dirty="0"/>
              <a:t>SOME READING MATERIALS</a:t>
            </a:r>
            <a:br>
              <a:rPr lang="en-GB" sz="4000" dirty="0"/>
            </a:b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Frank B. Salisbury and Cleon W. Ross: Plant Physiology</a:t>
            </a:r>
          </a:p>
          <a:p>
            <a:r>
              <a:rPr lang="en-GB" sz="3600" dirty="0"/>
              <a:t>Lalit M. </a:t>
            </a:r>
            <a:r>
              <a:rPr lang="en-GB" sz="3600" dirty="0" err="1"/>
              <a:t>Srivastava</a:t>
            </a:r>
            <a:r>
              <a:rPr lang="en-GB" sz="3600" dirty="0"/>
              <a:t>: Plant Growth and Development – Hormones and Development</a:t>
            </a:r>
          </a:p>
          <a:p>
            <a:r>
              <a:rPr lang="en-GB" sz="3600" dirty="0"/>
              <a:t>Visit various websites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186766" cy="936104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/>
              <a:t>GROWTH AND DEVELOPMENT </a:t>
            </a:r>
            <a:r>
              <a:rPr lang="en-GB" sz="4000" b="1" dirty="0" err="1"/>
              <a:t>IN</a:t>
            </a:r>
            <a:r>
              <a:rPr lang="en-GB" sz="4000" b="1" dirty="0"/>
              <a:t> PLANTS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401080" cy="5231504"/>
          </a:xfrm>
        </p:spPr>
        <p:txBody>
          <a:bodyPr>
            <a:normAutofit/>
          </a:bodyPr>
          <a:lstStyle/>
          <a:p>
            <a:r>
              <a:rPr lang="en-GB" sz="3600" dirty="0"/>
              <a:t>If you sow a seed in your garden or in a pot, after a few days you would find a tiny seedling coming out from the seed</a:t>
            </a:r>
          </a:p>
          <a:p>
            <a:r>
              <a:rPr lang="en-GB" sz="3600" dirty="0"/>
              <a:t>As the days pass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3600" dirty="0"/>
              <a:t>the tiny seedling grows in size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3600" dirty="0"/>
              <a:t> the number of leaves increases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3600" dirty="0"/>
              <a:t>and later it grows into a mature plant and produces flowers and fruits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6"/>
            <a:ext cx="8229600" cy="685801"/>
          </a:xfrm>
        </p:spPr>
        <p:txBody>
          <a:bodyPr>
            <a:noAutofit/>
          </a:bodyPr>
          <a:lstStyle/>
          <a:p>
            <a:r>
              <a:rPr lang="en-GB" sz="3600" b="1" dirty="0"/>
              <a:t>GROWTH AND DEVELOPMENT </a:t>
            </a:r>
            <a:r>
              <a:rPr lang="en-GB" sz="3600" b="1" dirty="0" err="1"/>
              <a:t>IN</a:t>
            </a:r>
            <a:r>
              <a:rPr lang="en-GB" sz="3600" b="1" dirty="0"/>
              <a:t> PLANTS Cont’d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752528"/>
          </a:xfrm>
        </p:spPr>
        <p:txBody>
          <a:bodyPr>
            <a:noAutofit/>
          </a:bodyPr>
          <a:lstStyle/>
          <a:p>
            <a:r>
              <a:rPr lang="en-GB" sz="3600" dirty="0"/>
              <a:t>This is the process of </a:t>
            </a:r>
            <a:r>
              <a:rPr lang="en-GB" sz="3600" b="1" dirty="0"/>
              <a:t>growth </a:t>
            </a:r>
            <a:r>
              <a:rPr lang="en-GB" sz="3600" dirty="0"/>
              <a:t>and</a:t>
            </a:r>
            <a:r>
              <a:rPr lang="en-GB" sz="3600" b="1" dirty="0"/>
              <a:t> development </a:t>
            </a:r>
          </a:p>
          <a:p>
            <a:r>
              <a:rPr lang="en-GB" sz="3600" dirty="0"/>
              <a:t>Growth takes place due to cell division</a:t>
            </a:r>
          </a:p>
          <a:p>
            <a:pPr>
              <a:buNone/>
            </a:pPr>
            <a:r>
              <a:rPr lang="en-GB" sz="3600" dirty="0"/>
              <a:t>   which increases the number of cells in the body</a:t>
            </a:r>
          </a:p>
          <a:p>
            <a:r>
              <a:rPr lang="en-GB" sz="3600" dirty="0"/>
              <a:t>This process continues and we observe increase in weight, size and volume of all plants and animals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404664"/>
            <a:ext cx="7675844" cy="576064"/>
          </a:xfrm>
        </p:spPr>
        <p:txBody>
          <a:bodyPr>
            <a:noAutofit/>
          </a:bodyPr>
          <a:lstStyle/>
          <a:p>
            <a:br>
              <a:rPr lang="en-GB" sz="3600" b="1" dirty="0"/>
            </a:br>
            <a:r>
              <a:rPr lang="en-GB" sz="3600" b="1" dirty="0"/>
              <a:t>GROWTH AND DEVELOPMENT IN PLANTS Cont’d</a:t>
            </a:r>
            <a:br>
              <a:rPr lang="en-GB" sz="3600" b="1" dirty="0"/>
            </a:b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804" y="1268760"/>
            <a:ext cx="8229600" cy="5472608"/>
          </a:xfrm>
        </p:spPr>
        <p:txBody>
          <a:bodyPr>
            <a:normAutofit/>
          </a:bodyPr>
          <a:lstStyle/>
          <a:p>
            <a:pPr algn="just"/>
            <a:r>
              <a:rPr lang="en-GB" sz="3600" dirty="0"/>
              <a:t>This is called growth</a:t>
            </a:r>
          </a:p>
          <a:p>
            <a:pPr algn="just"/>
            <a:r>
              <a:rPr lang="en-GB" sz="3600" b="1" dirty="0"/>
              <a:t>Growth in living organisms may be defined as an irreversible increase in the number and size of a cell, organ or whole organism</a:t>
            </a:r>
          </a:p>
          <a:p>
            <a:r>
              <a:rPr lang="en-GB" sz="3600" dirty="0"/>
              <a:t>Growth in living organisms is not uniform throughout the life span</a:t>
            </a:r>
          </a:p>
          <a:p>
            <a:r>
              <a:rPr lang="en-GB" sz="3600" dirty="0"/>
              <a:t>Growth takes place at a faster rate till the plants or animals attain maturity</a:t>
            </a:r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GB" sz="3600" b="1" dirty="0"/>
            </a:br>
            <a:r>
              <a:rPr lang="en-GB" sz="3600" b="1" dirty="0"/>
              <a:t>GROWTH AND DEVELOPMENT </a:t>
            </a:r>
            <a:r>
              <a:rPr lang="en-GB" sz="3600" b="1" dirty="0" err="1"/>
              <a:t>IN</a:t>
            </a:r>
            <a:r>
              <a:rPr lang="en-GB" sz="3600" b="1" dirty="0"/>
              <a:t> PLANTS Cont’d 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r>
              <a:rPr lang="en-GB" sz="3600" dirty="0"/>
              <a:t> </a:t>
            </a:r>
            <a:r>
              <a:rPr lang="en-GB" sz="3900" dirty="0"/>
              <a:t>Then it slows down, and at a particular time it stops</a:t>
            </a:r>
          </a:p>
          <a:p>
            <a:r>
              <a:rPr lang="en-GB" sz="3900" dirty="0"/>
              <a:t>Later in life death occurs</a:t>
            </a:r>
          </a:p>
          <a:p>
            <a:r>
              <a:rPr lang="en-GB" sz="3900" b="1" dirty="0"/>
              <a:t>All these changes that occur in an organism starting from its beginning till its death may collectively be termed as development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DC196A-8CD4-4E59-9A3C-6C198348C3D8}"/>
              </a:ext>
            </a:extLst>
          </p:cNvPr>
          <p:cNvSpPr txBox="1"/>
          <p:nvPr/>
        </p:nvSpPr>
        <p:spPr>
          <a:xfrm>
            <a:off x="467544" y="692696"/>
            <a:ext cx="856895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/>
              <a:t>GROWTH AND DEVELOPMENT IN PLANTS Cont’d</a:t>
            </a:r>
            <a:endParaRPr lang="en-GB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Development is associated with </a:t>
            </a:r>
            <a:r>
              <a:rPr lang="en-GB" sz="3600" b="1" dirty="0"/>
              <a:t>morphogenesis </a:t>
            </a:r>
            <a:r>
              <a:rPr lang="en-GB" sz="3600" dirty="0"/>
              <a:t>and</a:t>
            </a:r>
            <a:r>
              <a:rPr lang="en-GB" sz="3600" b="1" dirty="0"/>
              <a:t> differentiation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b="1" dirty="0"/>
              <a:t>Morphogenesis</a:t>
            </a:r>
            <a:r>
              <a:rPr lang="en-GB" sz="3600" dirty="0"/>
              <a:t> is the process of development of </a:t>
            </a:r>
            <a:r>
              <a:rPr lang="en-GB" sz="3600" b="1" dirty="0"/>
              <a:t>shape </a:t>
            </a:r>
            <a:r>
              <a:rPr lang="en-GB" sz="3600" dirty="0"/>
              <a:t>and</a:t>
            </a:r>
            <a:r>
              <a:rPr lang="en-GB" sz="3600" b="1" dirty="0"/>
              <a:t> structure </a:t>
            </a:r>
            <a:r>
              <a:rPr lang="en-GB" sz="3600" dirty="0"/>
              <a:t>of an organism, and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b="1" dirty="0"/>
              <a:t>Differentiation</a:t>
            </a:r>
            <a:r>
              <a:rPr lang="en-GB" sz="3600" dirty="0"/>
              <a:t> is the process of change in </a:t>
            </a:r>
            <a:r>
              <a:rPr lang="en-GB" sz="3600" b="1" dirty="0"/>
              <a:t>cells</a:t>
            </a:r>
            <a:r>
              <a:rPr lang="en-GB" sz="3600" dirty="0"/>
              <a:t>, </a:t>
            </a:r>
            <a:r>
              <a:rPr lang="en-GB" sz="3600" b="1" dirty="0"/>
              <a:t>tissues</a:t>
            </a:r>
            <a:r>
              <a:rPr lang="en-GB" sz="3600" dirty="0"/>
              <a:t> or </a:t>
            </a:r>
            <a:r>
              <a:rPr lang="en-GB" sz="3600" b="1" dirty="0"/>
              <a:t>organs</a:t>
            </a:r>
            <a:r>
              <a:rPr lang="en-GB" sz="3600" dirty="0"/>
              <a:t> to carry out different functions</a:t>
            </a:r>
          </a:p>
        </p:txBody>
      </p:sp>
    </p:spTree>
    <p:extLst>
      <p:ext uri="{BB962C8B-B14F-4D97-AF65-F5344CB8AC3E}">
        <p14:creationId xmlns:p14="http://schemas.microsoft.com/office/powerpoint/2010/main" val="683711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br>
              <a:rPr lang="en-GB" b="1" dirty="0"/>
            </a:br>
            <a:r>
              <a:rPr lang="en-GB" b="1" dirty="0"/>
              <a:t>GROWTH AND DEVELOPMENT </a:t>
            </a:r>
            <a:r>
              <a:rPr lang="en-GB" b="1" dirty="0" err="1"/>
              <a:t>IN</a:t>
            </a:r>
            <a:r>
              <a:rPr lang="en-GB" b="1" dirty="0"/>
              <a:t> PLANTS Cont’d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sz="3600" dirty="0"/>
              <a:t> </a:t>
            </a:r>
            <a:r>
              <a:rPr lang="en-GB" sz="3600" b="1" dirty="0"/>
              <a:t>Development</a:t>
            </a:r>
            <a:r>
              <a:rPr lang="en-GB" sz="3600" dirty="0"/>
              <a:t> is the whole series of </a:t>
            </a:r>
            <a:r>
              <a:rPr lang="en-GB" sz="3600" b="1" dirty="0"/>
              <a:t>qualitative </a:t>
            </a:r>
            <a:r>
              <a:rPr lang="en-GB" sz="3600" dirty="0"/>
              <a:t>and</a:t>
            </a:r>
            <a:r>
              <a:rPr lang="en-GB" sz="3600" b="1" dirty="0"/>
              <a:t> quantitative </a:t>
            </a:r>
            <a:r>
              <a:rPr lang="en-GB" sz="3600" dirty="0"/>
              <a:t>changes such as growth, differentiation and maturation which an organism undergoes throughout its life cycle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STAGES OF CELLULAR GROWTH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14602"/>
          </a:xfrm>
        </p:spPr>
        <p:txBody>
          <a:bodyPr>
            <a:noAutofit/>
          </a:bodyPr>
          <a:lstStyle/>
          <a:p>
            <a:r>
              <a:rPr lang="en-GB" sz="3600" dirty="0"/>
              <a:t>Growth of an organism is always associated with growth in size and number of cells</a:t>
            </a:r>
          </a:p>
          <a:p>
            <a:r>
              <a:rPr lang="en-GB" sz="3600" dirty="0"/>
              <a:t>Growth of an organ or an organism occurs in three successive stages</a:t>
            </a:r>
          </a:p>
          <a:p>
            <a:r>
              <a:rPr lang="en-GB" sz="3600" dirty="0"/>
              <a:t>These are</a:t>
            </a:r>
          </a:p>
          <a:p>
            <a:pPr>
              <a:buFont typeface="Wingdings" pitchFamily="2" charset="2"/>
              <a:buChar char="ü"/>
            </a:pPr>
            <a:r>
              <a:rPr lang="en-GB" sz="3600" b="1" dirty="0"/>
              <a:t> Cell division:</a:t>
            </a:r>
            <a:r>
              <a:rPr lang="en-GB" sz="3600" dirty="0"/>
              <a:t> The number of cells increases due to mitosis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/>
              <a:t>STAGES OF CELLULAR GROWTH </a:t>
            </a:r>
            <a:r>
              <a:rPr lang="en-GB" b="1" dirty="0"/>
              <a:t>Cont’d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ü"/>
            </a:pPr>
            <a:r>
              <a:rPr lang="en-GB" sz="3600" b="1" dirty="0"/>
              <a:t>Cell enlargement:</a:t>
            </a:r>
            <a:r>
              <a:rPr lang="en-GB" sz="3600" dirty="0"/>
              <a:t> The size of individual cells increases after cell division due to increase in the volume of its protoplasm</a:t>
            </a:r>
          </a:p>
          <a:p>
            <a:pPr>
              <a:buFont typeface="Wingdings" pitchFamily="2" charset="2"/>
              <a:buChar char="ü"/>
            </a:pPr>
            <a:r>
              <a:rPr lang="en-GB" sz="3600" b="1" dirty="0"/>
              <a:t>Cell differentiation:</a:t>
            </a:r>
            <a:r>
              <a:rPr lang="en-GB" sz="3600" dirty="0"/>
              <a:t> In this stage, structure of the cells changes to perform specific functions</a:t>
            </a:r>
          </a:p>
          <a:p>
            <a:r>
              <a:rPr lang="en-GB" sz="3600" dirty="0"/>
              <a:t>Similar type of cells having same functions form a group, known as </a:t>
            </a:r>
            <a:r>
              <a:rPr lang="en-GB" sz="3600" b="1" dirty="0"/>
              <a:t>tissue</a:t>
            </a:r>
          </a:p>
          <a:p>
            <a:pPr>
              <a:buFont typeface="Wingdings" pitchFamily="2" charset="2"/>
              <a:buChar char="Ø"/>
            </a:pPr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785794"/>
            <a:ext cx="7786742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714480" y="6072206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Cell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57818" y="6072206"/>
            <a:ext cx="1994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Cell Differentiation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0026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br>
              <a:rPr lang="en-GB" b="1" dirty="0"/>
            </a:br>
            <a:r>
              <a:rPr lang="en-GB" sz="4000" b="1" dirty="0"/>
              <a:t>STAGES OF CELLULAR GROWTH Cont’d 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Autofit/>
          </a:bodyPr>
          <a:lstStyle/>
          <a:p>
            <a:r>
              <a:rPr lang="en-GB" sz="3600" dirty="0"/>
              <a:t>In lower organisms such as bacteria and algae the entire body grows</a:t>
            </a:r>
          </a:p>
          <a:p>
            <a:r>
              <a:rPr lang="en-GB" sz="3600" dirty="0"/>
              <a:t> But in higher organisms like ferns, pine and flowering plants growth is restricted to the cells present only in the growing regions 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like shoot apex and root tip and close to the lateral sides of the stem and root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r>
              <a:rPr lang="en-GB" sz="4000" b="1" dirty="0"/>
              <a:t>STAGES OF CELLULAR GROWTH </a:t>
            </a:r>
            <a:r>
              <a:rPr lang="en-GB" b="1" dirty="0"/>
              <a:t>Cont’d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686800" cy="4929411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sz="3600" dirty="0"/>
          </a:p>
          <a:p>
            <a:r>
              <a:rPr lang="en-GB" sz="3600" dirty="0"/>
              <a:t>Growth at the tips leads to elongation of body parts and lateral (sideways) growth leads to increase in the thickness of stem and root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r>
              <a:rPr lang="en-GB" sz="4000" b="1" dirty="0"/>
              <a:t>GROWTH CURVE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968552"/>
          </a:xfrm>
        </p:spPr>
        <p:txBody>
          <a:bodyPr>
            <a:normAutofit fontScale="92500" lnSpcReduction="10000"/>
          </a:bodyPr>
          <a:lstStyle/>
          <a:p>
            <a:r>
              <a:rPr lang="en-GB" sz="3900" dirty="0"/>
              <a:t>The rate of growth of a plant or plant part is not always the same during its life span</a:t>
            </a:r>
          </a:p>
          <a:p>
            <a:r>
              <a:rPr lang="en-GB" sz="3900" dirty="0"/>
              <a:t>Sometimes it is slow and at other times it is rapid</a:t>
            </a:r>
          </a:p>
          <a:p>
            <a:r>
              <a:rPr lang="en-GB" sz="3900" dirty="0"/>
              <a:t>If we plot the increase in cell number (growth rate) against time a typical </a:t>
            </a:r>
            <a:r>
              <a:rPr lang="en-GB" sz="3900" b="1" dirty="0"/>
              <a:t>S-shaped sigmoid growth curve</a:t>
            </a:r>
            <a:r>
              <a:rPr lang="en-GB" sz="3900" dirty="0"/>
              <a:t> is observed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15328" cy="868346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GROWTH CURVE Cont’d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401080" cy="5214974"/>
          </a:xfrm>
        </p:spPr>
        <p:txBody>
          <a:bodyPr>
            <a:normAutofit/>
          </a:bodyPr>
          <a:lstStyle/>
          <a:p>
            <a:r>
              <a:rPr lang="en-GB" dirty="0"/>
              <a:t>This curve has three phases of growth</a:t>
            </a:r>
            <a:endParaRPr lang="en-GB" b="1" dirty="0"/>
          </a:p>
          <a:p>
            <a:pPr>
              <a:buFont typeface="Wingdings" pitchFamily="2" charset="2"/>
              <a:buChar char="Ø"/>
            </a:pPr>
            <a:r>
              <a:rPr lang="en-GB" b="1" dirty="0"/>
              <a:t>Lag Phase:</a:t>
            </a:r>
            <a:r>
              <a:rPr lang="en-GB" dirty="0"/>
              <a:t> This is the initial phase of growth when the rate of growth is very slow</a:t>
            </a:r>
          </a:p>
          <a:p>
            <a:pPr>
              <a:buFont typeface="Wingdings" pitchFamily="2" charset="2"/>
              <a:buChar char="Ø"/>
            </a:pPr>
            <a:r>
              <a:rPr lang="en-GB" b="1" dirty="0"/>
              <a:t>Log Phase:</a:t>
            </a:r>
            <a:r>
              <a:rPr lang="en-GB" dirty="0"/>
              <a:t> It shows rapid growth and is maximum during the entire life span</a:t>
            </a:r>
          </a:p>
          <a:p>
            <a:pPr>
              <a:buFont typeface="Wingdings" pitchFamily="2" charset="2"/>
              <a:buChar char="Ø"/>
            </a:pPr>
            <a:r>
              <a:rPr lang="en-GB" b="1" dirty="0"/>
              <a:t>Stationary Phase:</a:t>
            </a:r>
            <a:r>
              <a:rPr lang="en-GB" dirty="0"/>
              <a:t> Here the rate of growth starts decreasing and finally it stops</a:t>
            </a:r>
          </a:p>
          <a:p>
            <a:r>
              <a:rPr lang="en-GB" dirty="0"/>
              <a:t> Generally plant growth is influenced by a number of factors: both external and internal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643044" y="1285860"/>
            <a:ext cx="5572162" cy="4513865"/>
            <a:chOff x="1643044" y="1285860"/>
            <a:chExt cx="5572162" cy="4513865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000232" y="1285860"/>
              <a:ext cx="4643470" cy="38695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TextBox 5"/>
            <p:cNvSpPr txBox="1"/>
            <p:nvPr/>
          </p:nvSpPr>
          <p:spPr>
            <a:xfrm rot="16200000">
              <a:off x="1205099" y="3009689"/>
              <a:ext cx="12144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/>
                <a:t>Dry weight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14546" y="3643314"/>
              <a:ext cx="107157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Seed germinating and losing weight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071670" y="4714884"/>
              <a:ext cx="7143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/>
                <a:t>LAG PHASE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00364" y="3357562"/>
              <a:ext cx="7143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Slow growth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00430" y="2857496"/>
              <a:ext cx="6429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Rapid growth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43306" y="4214818"/>
              <a:ext cx="6429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LOG PHASE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57818" y="2357430"/>
              <a:ext cx="6429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No growth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15008" y="1357298"/>
              <a:ext cx="7858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Fruit and leaf loss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15074" y="1928802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/>
                <a:t>STATIONARY PHASE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43636" y="2500306"/>
              <a:ext cx="6429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Death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0430" y="5214950"/>
              <a:ext cx="14287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/>
                <a:t>              Time</a:t>
              </a:r>
            </a:p>
            <a:p>
              <a:r>
                <a:rPr lang="en-GB" sz="1600" b="1" dirty="0"/>
                <a:t>Sigmoid Curve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/>
              <a:t>EXTERNAL GROWTH FACTORS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58204" cy="5544616"/>
          </a:xfrm>
        </p:spPr>
        <p:txBody>
          <a:bodyPr>
            <a:normAutofit/>
          </a:bodyPr>
          <a:lstStyle/>
          <a:p>
            <a:r>
              <a:rPr lang="en-GB" sz="3600" dirty="0"/>
              <a:t>External factors are those factors present in the environment that affect the plant directly or indirectly</a:t>
            </a:r>
          </a:p>
          <a:p>
            <a:r>
              <a:rPr lang="en-GB" sz="3600" dirty="0"/>
              <a:t>These factors are: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Light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Temperature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Water 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Mineral nutrients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/>
              <a:t>EXTERNAL GROWTH FACTORS Cont’d 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GB" sz="3600" dirty="0"/>
              <a:t>LIGHT: Besides photosynthesis, light is also essential for seed germination, growth of seedling, differentiation of various tissues and organs, and reproduction</a:t>
            </a:r>
          </a:p>
          <a:p>
            <a:r>
              <a:rPr lang="en-GB" sz="3600" dirty="0"/>
              <a:t>When plants grow in dark, they become tall, yellowish and weak, and the leaves are very small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/>
              <a:t>EXTERNAL GROWTH FACTORS Cont’d 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3062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GB" sz="3600" dirty="0"/>
              <a:t>TEMPERATURE: Some plants grow in cold climate and some in hot climate</a:t>
            </a:r>
          </a:p>
          <a:p>
            <a:r>
              <a:rPr lang="en-GB" sz="3600" dirty="0"/>
              <a:t>The optimum temperature required for growth of plants ranges between 28-30°C</a:t>
            </a:r>
          </a:p>
          <a:p>
            <a:pPr>
              <a:buNone/>
            </a:pPr>
            <a:r>
              <a:rPr lang="en-GB" sz="3600" dirty="0"/>
              <a:t>    but it may occur in the temperature range of 4-45°C</a:t>
            </a:r>
          </a:p>
          <a:p>
            <a:r>
              <a:rPr lang="en-GB" sz="3600" dirty="0"/>
              <a:t>All metabolic activities of plants are directly affected by variation of temperature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r>
              <a:rPr lang="en-GB" b="1" dirty="0"/>
              <a:t>EXTERNAL GROWTH FACTORS Cont’d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353347"/>
          </a:xfrm>
        </p:spPr>
        <p:txBody>
          <a:bodyPr>
            <a:normAutofit/>
          </a:bodyPr>
          <a:lstStyle/>
          <a:p>
            <a:r>
              <a:rPr lang="en-GB" sz="3600" dirty="0"/>
              <a:t>A very low temperature causes injuries to the plant due to chilling and freezing</a:t>
            </a:r>
          </a:p>
          <a:p>
            <a:r>
              <a:rPr lang="en-GB" sz="3600" dirty="0"/>
              <a:t>And very high temperature stops its growth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15205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/>
              <a:t>EXTERNAL GROWTH FACTORS Cont’d 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16624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GB" sz="3600" dirty="0"/>
              <a:t>WATER: A plant absorbs water by its roots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uses it in photosynthesis and other biochemical processes, and 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some of it is lost through transpiration</a:t>
            </a:r>
          </a:p>
          <a:p>
            <a:r>
              <a:rPr lang="en-GB" sz="3600" dirty="0"/>
              <a:t>For proper growth of plants a particular quantity of water is required</a:t>
            </a:r>
          </a:p>
          <a:p>
            <a:r>
              <a:rPr lang="en-GB" sz="3600" dirty="0"/>
              <a:t>Both deficiency and excess of water retards the growth of plants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/>
              <a:t>EXTERNAL GROWTH FACTORS Cont’d 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GB" sz="3600" dirty="0"/>
              <a:t>MINERAL NUTRIENTS: All metabolic processes in plants require inorganic nutrients</a:t>
            </a:r>
          </a:p>
          <a:p>
            <a:r>
              <a:rPr lang="en-GB" sz="3600" dirty="0"/>
              <a:t>Plant growth is adversely affected by the deficiency of nutrients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/>
              <a:t>INTERNAL GROWTH FACTORS</a:t>
            </a:r>
            <a:br>
              <a:rPr lang="en-GB" sz="4000" dirty="0"/>
            </a:b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556792"/>
            <a:ext cx="8358246" cy="4801166"/>
          </a:xfrm>
        </p:spPr>
        <p:txBody>
          <a:bodyPr>
            <a:normAutofit/>
          </a:bodyPr>
          <a:lstStyle/>
          <a:p>
            <a:r>
              <a:rPr lang="en-GB" sz="3600" dirty="0"/>
              <a:t>In addition to the external factors there are some substances produced in the plant body itself which affect growth of the plant</a:t>
            </a:r>
          </a:p>
          <a:p>
            <a:r>
              <a:rPr lang="en-GB" sz="3600" dirty="0"/>
              <a:t>These are called </a:t>
            </a:r>
            <a:r>
              <a:rPr lang="en-GB" sz="3600" b="1" dirty="0"/>
              <a:t>plant hormones </a:t>
            </a:r>
            <a:r>
              <a:rPr lang="en-GB" sz="3600" dirty="0"/>
              <a:t>or </a:t>
            </a:r>
            <a:r>
              <a:rPr lang="en-GB" sz="3600" b="1" dirty="0"/>
              <a:t>phytohormones</a:t>
            </a:r>
            <a:r>
              <a:rPr lang="en-GB" sz="3600" dirty="0"/>
              <a:t> or </a:t>
            </a:r>
            <a:r>
              <a:rPr lang="en-GB" sz="3600" b="1" dirty="0"/>
              <a:t>growth hormones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864096"/>
          </a:xfrm>
        </p:spPr>
        <p:txBody>
          <a:bodyPr>
            <a:normAutofit/>
          </a:bodyPr>
          <a:lstStyle/>
          <a:p>
            <a:r>
              <a:rPr lang="en-GB" sz="3600" b="1" dirty="0"/>
              <a:t>INTERNAL GROWTH FACTORS Cont’d 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363272" cy="5544616"/>
          </a:xfrm>
        </p:spPr>
        <p:txBody>
          <a:bodyPr>
            <a:normAutofit fontScale="85000" lnSpcReduction="10000"/>
          </a:bodyPr>
          <a:lstStyle/>
          <a:p>
            <a:r>
              <a:rPr lang="en-GB" sz="3900" b="1" dirty="0"/>
              <a:t>A plant hormone</a:t>
            </a:r>
            <a:r>
              <a:rPr lang="en-GB" sz="3900" dirty="0"/>
              <a:t> is an </a:t>
            </a:r>
            <a:r>
              <a:rPr lang="en-GB" sz="3900" b="1" dirty="0"/>
              <a:t>organic substance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3900" dirty="0"/>
              <a:t> produced in a small quantity in one part of the plant body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3900" dirty="0"/>
              <a:t>and capable of moving to other parts of the plant to influence growth of those parts</a:t>
            </a:r>
          </a:p>
          <a:p>
            <a:r>
              <a:rPr lang="en-GB" sz="3900" dirty="0"/>
              <a:t>Growth of plants can also be influenced by certain </a:t>
            </a:r>
            <a:r>
              <a:rPr lang="en-GB" sz="3900" b="1" dirty="0"/>
              <a:t>synthetic chemicals </a:t>
            </a:r>
            <a:r>
              <a:rPr lang="en-GB" sz="3900" dirty="0"/>
              <a:t>resembling plant hormones both in structure and functions</a:t>
            </a:r>
          </a:p>
          <a:p>
            <a:r>
              <a:rPr lang="en-GB" sz="3900" dirty="0"/>
              <a:t>These synthetic chemicals are called </a:t>
            </a:r>
            <a:r>
              <a:rPr lang="en-GB" sz="3900" b="1" dirty="0"/>
              <a:t>growth regulators</a:t>
            </a:r>
          </a:p>
          <a:p>
            <a:pPr marL="0" indent="0">
              <a:buNone/>
            </a:pPr>
            <a:r>
              <a:rPr lang="en-GB" b="1" dirty="0"/>
              <a:t> </a:t>
            </a:r>
            <a:endParaRPr lang="en-GB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792088"/>
          </a:xfrm>
        </p:spPr>
        <p:txBody>
          <a:bodyPr>
            <a:normAutofit/>
          </a:bodyPr>
          <a:lstStyle/>
          <a:p>
            <a:r>
              <a:rPr lang="en-GB" sz="3600" b="1" dirty="0"/>
              <a:t>INTERNAL GROWTH FACTORS Cont’d 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328592"/>
          </a:xfrm>
        </p:spPr>
        <p:txBody>
          <a:bodyPr>
            <a:normAutofit fontScale="92500" lnSpcReduction="10000"/>
          </a:bodyPr>
          <a:lstStyle/>
          <a:p>
            <a:r>
              <a:rPr lang="en-GB" sz="3900" b="1" dirty="0"/>
              <a:t>Growth regulators </a:t>
            </a:r>
            <a:r>
              <a:rPr lang="en-GB" sz="3900" dirty="0"/>
              <a:t>are not produced by plants naturally</a:t>
            </a:r>
            <a:endParaRPr lang="en-GB" sz="3900" b="1" dirty="0"/>
          </a:p>
          <a:p>
            <a:r>
              <a:rPr lang="en-GB" sz="3900" b="1" dirty="0"/>
              <a:t>Growth regulators</a:t>
            </a:r>
            <a:r>
              <a:rPr lang="en-GB" sz="3900" dirty="0"/>
              <a:t> are chemical substances, other than naturally produced hormones, which promote, inhibit or modify growth and development in plants</a:t>
            </a:r>
          </a:p>
          <a:p>
            <a:r>
              <a:rPr lang="en-GB" sz="3900" dirty="0"/>
              <a:t>The naturally produced growth hormones are broadly grouped under five major classes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3553A1-1CC3-4587-8058-4316B54E6671}"/>
              </a:ext>
            </a:extLst>
          </p:cNvPr>
          <p:cNvSpPr txBox="1"/>
          <p:nvPr/>
        </p:nvSpPr>
        <p:spPr>
          <a:xfrm>
            <a:off x="611560" y="620688"/>
            <a:ext cx="82089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GB" sz="3600" dirty="0"/>
          </a:p>
          <a:p>
            <a:pPr algn="ctr"/>
            <a:r>
              <a:rPr lang="en-GB" sz="3600" b="1" dirty="0"/>
              <a:t>INTERNAL GROWTH FACTORS Cont’d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They are</a:t>
            </a:r>
          </a:p>
          <a:p>
            <a:r>
              <a:rPr lang="en-GB" sz="3600" dirty="0"/>
              <a:t>      Auxins, Gibberellins/Gibberellic acid,   </a:t>
            </a:r>
          </a:p>
          <a:p>
            <a:r>
              <a:rPr lang="en-GB" sz="3600" dirty="0"/>
              <a:t>      </a:t>
            </a:r>
            <a:r>
              <a:rPr lang="en-GB" sz="3600" dirty="0" err="1"/>
              <a:t>Cytokinins</a:t>
            </a:r>
            <a:r>
              <a:rPr lang="en-GB" sz="3600" dirty="0"/>
              <a:t>,  Ethylene,  Abscisic acid</a:t>
            </a:r>
          </a:p>
        </p:txBody>
      </p:sp>
    </p:spTree>
    <p:extLst>
      <p:ext uri="{BB962C8B-B14F-4D97-AF65-F5344CB8AC3E}">
        <p14:creationId xmlns:p14="http://schemas.microsoft.com/office/powerpoint/2010/main" val="3835731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86766" cy="922114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 err="1"/>
              <a:t>AUXINS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2"/>
            <a:ext cx="8606760" cy="4944042"/>
          </a:xfrm>
        </p:spPr>
        <p:txBody>
          <a:bodyPr>
            <a:noAutofit/>
          </a:bodyPr>
          <a:lstStyle/>
          <a:p>
            <a:r>
              <a:rPr lang="en-GB" sz="3600" dirty="0"/>
              <a:t>Auxin is a growth promoter, generally produced by the growing apex of stem and roots of plants</a:t>
            </a:r>
          </a:p>
          <a:p>
            <a:r>
              <a:rPr lang="en-GB" sz="3600" dirty="0"/>
              <a:t>It helps in the elongation of shoot and root tips behind apical </a:t>
            </a:r>
            <a:r>
              <a:rPr lang="en-GB" sz="3600" dirty="0" err="1"/>
              <a:t>meristems</a:t>
            </a:r>
            <a:endParaRPr lang="en-GB" sz="3600" dirty="0"/>
          </a:p>
          <a:p>
            <a:r>
              <a:rPr lang="en-GB" sz="3600" dirty="0"/>
              <a:t>The naturally produced auxin is </a:t>
            </a:r>
            <a:r>
              <a:rPr lang="en-GB" sz="3600" b="1" dirty="0"/>
              <a:t>Indole-3-Acetic Acid (IAA)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en-GB" sz="3600" b="1" dirty="0"/>
              <a:t>AUXINS Cont’d 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256584"/>
          </a:xfrm>
        </p:spPr>
        <p:txBody>
          <a:bodyPr>
            <a:noAutofit/>
          </a:bodyPr>
          <a:lstStyle/>
          <a:p>
            <a:r>
              <a:rPr lang="en-GB" sz="3600" dirty="0"/>
              <a:t>Auxins are also produced by </a:t>
            </a:r>
            <a:r>
              <a:rPr lang="en-GB" sz="3600" b="1" dirty="0"/>
              <a:t>chemical synthesis</a:t>
            </a:r>
            <a:r>
              <a:rPr lang="en-GB" sz="3600" dirty="0"/>
              <a:t> and show the same physiological responses like Auxin</a:t>
            </a:r>
          </a:p>
          <a:p>
            <a:r>
              <a:rPr lang="en-GB" sz="3600" dirty="0"/>
              <a:t>Some of the </a:t>
            </a:r>
            <a:r>
              <a:rPr lang="en-GB" sz="3600" b="1" dirty="0"/>
              <a:t>synthetic auxins </a:t>
            </a:r>
            <a:r>
              <a:rPr lang="en-GB" sz="3600" dirty="0"/>
              <a:t>are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Indole-3-butyric acid (</a:t>
            </a:r>
            <a:r>
              <a:rPr lang="en-GB" sz="3600" dirty="0" err="1"/>
              <a:t>IBA</a:t>
            </a:r>
            <a:r>
              <a:rPr lang="en-GB" sz="3600" dirty="0"/>
              <a:t>)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2,4-Dichlorophenoxy acetic acid (2,4-D), and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  Naphthalene acetic acid (NAA)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GB" sz="3600" b="1" dirty="0"/>
              <a:t>AUXINS Cont’d 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832648"/>
          </a:xfrm>
        </p:spPr>
        <p:txBody>
          <a:bodyPr>
            <a:normAutofit fontScale="92500" lnSpcReduction="10000"/>
          </a:bodyPr>
          <a:lstStyle/>
          <a:p>
            <a:r>
              <a:rPr lang="en-GB" sz="3900" dirty="0"/>
              <a:t>The Greek word </a:t>
            </a:r>
            <a:r>
              <a:rPr lang="en-GB" sz="3900" dirty="0" err="1"/>
              <a:t>auxein</a:t>
            </a:r>
            <a:r>
              <a:rPr lang="en-GB" sz="3900" dirty="0"/>
              <a:t> means “to grow”</a:t>
            </a:r>
          </a:p>
          <a:p>
            <a:r>
              <a:rPr lang="en-GB" sz="3900" dirty="0"/>
              <a:t>It was first isolated from human urine</a:t>
            </a:r>
          </a:p>
          <a:p>
            <a:r>
              <a:rPr lang="en-GB" sz="3900" dirty="0"/>
              <a:t>An experiment was performed by Fritz Went on oat seedlings to see the effect of auxins</a:t>
            </a:r>
          </a:p>
          <a:p>
            <a:r>
              <a:rPr lang="en-GB" sz="3900" dirty="0"/>
              <a:t>When the tip of oat coleoptile (early shoot) is removed growth stops</a:t>
            </a:r>
          </a:p>
          <a:p>
            <a:r>
              <a:rPr lang="en-GB" sz="3900" dirty="0"/>
              <a:t>Then the removed tip is placed on a block of agar (gelatinous material from sea weeds) for about an hour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274638"/>
            <a:ext cx="7859216" cy="490066"/>
          </a:xfrm>
        </p:spPr>
        <p:txBody>
          <a:bodyPr>
            <a:normAutofit fontScale="90000"/>
          </a:bodyPr>
          <a:lstStyle/>
          <a:p>
            <a:r>
              <a:rPr lang="en-GB" sz="3600" b="1" dirty="0"/>
              <a:t>AUXINS Cont’d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688632"/>
          </a:xfrm>
        </p:spPr>
        <p:txBody>
          <a:bodyPr>
            <a:normAutofit/>
          </a:bodyPr>
          <a:lstStyle/>
          <a:p>
            <a:r>
              <a:rPr lang="en-GB" sz="3600" dirty="0"/>
              <a:t>This agar block is then placed on the cut end of the seedling</a:t>
            </a:r>
          </a:p>
          <a:p>
            <a:r>
              <a:rPr lang="en-GB" sz="3600" dirty="0"/>
              <a:t>It was observed that growth of the seedling started again</a:t>
            </a:r>
          </a:p>
          <a:p>
            <a:r>
              <a:rPr lang="en-GB" sz="3600" dirty="0"/>
              <a:t>It shows that there is something that has passed from the cut tip of the oak seedling into the agar block which helps to restart the growth</a:t>
            </a:r>
          </a:p>
          <a:p>
            <a:r>
              <a:rPr lang="en-GB" sz="3600" dirty="0"/>
              <a:t>This was named </a:t>
            </a:r>
            <a:r>
              <a:rPr lang="en-GB" sz="3600" b="1" dirty="0" err="1"/>
              <a:t>Auxin</a:t>
            </a:r>
            <a:r>
              <a:rPr lang="en-GB" sz="3600" dirty="0"/>
              <a:t>, a plant hormo</a:t>
            </a:r>
            <a:r>
              <a:rPr lang="en-GB" dirty="0"/>
              <a:t>ne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648072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Functions of Auxin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/>
          </a:bodyPr>
          <a:lstStyle/>
          <a:p>
            <a:r>
              <a:rPr lang="en-GB" sz="3600" dirty="0"/>
              <a:t>It promotes cell elongation</a:t>
            </a:r>
          </a:p>
          <a:p>
            <a:r>
              <a:rPr lang="en-GB" sz="3600" dirty="0"/>
              <a:t>It suppresses growth of lateral buds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3600" dirty="0"/>
              <a:t>If the tip of a plant is removed, the lateral branches begin to grow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3600" dirty="0"/>
              <a:t>In most plants apical bud suppresses the development of lateral buds</a:t>
            </a:r>
          </a:p>
          <a:p>
            <a:r>
              <a:rPr lang="en-GB" sz="3600" dirty="0"/>
              <a:t>This is called </a:t>
            </a:r>
            <a:r>
              <a:rPr lang="en-GB" sz="3600" b="1" dirty="0"/>
              <a:t>apical dominance</a:t>
            </a:r>
            <a:endParaRPr lang="en-GB" sz="3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/>
              <a:t>Functions of </a:t>
            </a:r>
            <a:r>
              <a:rPr lang="en-GB" sz="4000" b="1" dirty="0" err="1"/>
              <a:t>Auxin</a:t>
            </a:r>
            <a:r>
              <a:rPr lang="en-GB" sz="4000" b="1" dirty="0"/>
              <a:t> </a:t>
            </a:r>
            <a:r>
              <a:rPr lang="en-GB" sz="4000" b="1" i="1" dirty="0"/>
              <a:t>Cont’d</a:t>
            </a:r>
            <a:endParaRPr lang="en-GB" sz="40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571683"/>
          </a:xfrm>
        </p:spPr>
        <p:txBody>
          <a:bodyPr/>
          <a:lstStyle/>
          <a:p>
            <a:r>
              <a:rPr lang="en-GB" sz="3600" dirty="0"/>
              <a:t>It delays fall of leaves (leaf abscission)</a:t>
            </a:r>
          </a:p>
          <a:p>
            <a:r>
              <a:rPr lang="en-GB" sz="3600" dirty="0"/>
              <a:t> </a:t>
            </a:r>
            <a:r>
              <a:rPr lang="en-GB" sz="3600" dirty="0" err="1"/>
              <a:t>NAA</a:t>
            </a:r>
            <a:r>
              <a:rPr lang="en-GB" sz="3600" dirty="0"/>
              <a:t> (Naphthalene acetic acid) is used for preventing fruit drop in apples before they are ripe</a:t>
            </a:r>
          </a:p>
          <a:p>
            <a:r>
              <a:rPr lang="en-GB" sz="3600" dirty="0"/>
              <a:t>2, 4-D (2, 4-dichlorophenoxy acetic acid) acts as a dicot weedicide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GIBBERELLINS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Gibberellin</a:t>
            </a:r>
            <a:r>
              <a:rPr lang="en-GB" dirty="0"/>
              <a:t> or </a:t>
            </a:r>
            <a:r>
              <a:rPr lang="en-GB" dirty="0" err="1"/>
              <a:t>Gibberellic</a:t>
            </a:r>
            <a:r>
              <a:rPr lang="en-GB" dirty="0"/>
              <a:t> Acid (</a:t>
            </a:r>
            <a:r>
              <a:rPr lang="en-GB" dirty="0" err="1"/>
              <a:t>GA</a:t>
            </a:r>
            <a:r>
              <a:rPr lang="en-GB" dirty="0"/>
              <a:t>) was initially isolated from a fungus</a:t>
            </a:r>
            <a:r>
              <a:rPr lang="en-GB" b="1" dirty="0"/>
              <a:t>, </a:t>
            </a:r>
            <a:r>
              <a:rPr lang="en-GB" i="1" dirty="0" err="1"/>
              <a:t>Gibberella</a:t>
            </a:r>
            <a:r>
              <a:rPr lang="en-GB" b="1" i="1" dirty="0"/>
              <a:t> </a:t>
            </a:r>
            <a:r>
              <a:rPr lang="en-GB" i="1" dirty="0" err="1"/>
              <a:t>fujikuroi</a:t>
            </a:r>
            <a:endParaRPr lang="en-GB" i="1" dirty="0"/>
          </a:p>
          <a:p>
            <a:r>
              <a:rPr lang="en-GB" dirty="0"/>
              <a:t>In plants,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it is produced in the embryos, roots, and young leaves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and it</a:t>
            </a:r>
            <a:r>
              <a:rPr lang="en-GB" b="1" dirty="0"/>
              <a:t> </a:t>
            </a:r>
            <a:r>
              <a:rPr lang="en-GB" dirty="0"/>
              <a:t>enhances growth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en-GB" sz="3600" b="1" dirty="0"/>
              <a:t>Functions of Gibberellin</a:t>
            </a:r>
            <a:r>
              <a:rPr lang="en-GB" sz="3600" dirty="0"/>
              <a:t>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746650"/>
          </a:xfrm>
        </p:spPr>
        <p:txBody>
          <a:bodyPr>
            <a:noAutofit/>
          </a:bodyPr>
          <a:lstStyle/>
          <a:p>
            <a:r>
              <a:rPr lang="en-GB" sz="3600" dirty="0"/>
              <a:t>It helps in elongation of stems in genetically dwarf plants</a:t>
            </a:r>
          </a:p>
          <a:p>
            <a:r>
              <a:rPr lang="en-GB" sz="3600" dirty="0"/>
              <a:t>By using gibberellins the height of the dwarf plants can be increased</a:t>
            </a:r>
          </a:p>
          <a:p>
            <a:r>
              <a:rPr lang="en-GB" sz="3600" dirty="0"/>
              <a:t>It breaks dormancy of seeds and buds</a:t>
            </a:r>
          </a:p>
          <a:p>
            <a:r>
              <a:rPr lang="en-GB" sz="3600" dirty="0"/>
              <a:t>It induces parthenocarpy (formation of seedless fruits without fertilization)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3600" dirty="0"/>
              <a:t>or provides stimulus received by pollination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 err="1"/>
              <a:t>CYTOKININS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600" dirty="0"/>
              <a:t>They were extracted from coconut milk</a:t>
            </a:r>
          </a:p>
          <a:p>
            <a:r>
              <a:rPr lang="en-GB" sz="3600" dirty="0" err="1"/>
              <a:t>Cytokinins</a:t>
            </a:r>
            <a:r>
              <a:rPr lang="en-GB" sz="3600" dirty="0"/>
              <a:t> are synthesized in the root apex, endosperm of seeds and young fruits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3600" dirty="0"/>
              <a:t>where</a:t>
            </a:r>
            <a:r>
              <a:rPr lang="en-GB" sz="3600" b="1" dirty="0"/>
              <a:t> </a:t>
            </a:r>
            <a:r>
              <a:rPr lang="en-GB" sz="3600" dirty="0"/>
              <a:t>cell division takes place continuously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br>
              <a:rPr lang="en-GB" b="1" dirty="0"/>
            </a:br>
            <a:r>
              <a:rPr lang="en-GB" b="1" dirty="0"/>
              <a:t>Functions of </a:t>
            </a:r>
            <a:r>
              <a:rPr lang="en-GB" b="1" dirty="0" err="1"/>
              <a:t>Cytokinins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r>
              <a:rPr lang="en-GB" sz="3600" dirty="0"/>
              <a:t>They stimulate cell division, cell enlargement and cell differentiation</a:t>
            </a:r>
          </a:p>
          <a:p>
            <a:r>
              <a:rPr lang="en-GB" sz="3600" dirty="0"/>
              <a:t>They prevent aging of plant parts</a:t>
            </a:r>
          </a:p>
          <a:p>
            <a:r>
              <a:rPr lang="en-GB" sz="3600" dirty="0"/>
              <a:t>They inhibit apical dominance and help in growth of lateral buds into branches</a:t>
            </a:r>
          </a:p>
          <a:p>
            <a:pPr marL="0" indent="0">
              <a:buNone/>
            </a:pPr>
            <a:endParaRPr lang="en-GB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ETHYLENE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Ethylene is a gaseous hormone</a:t>
            </a:r>
          </a:p>
          <a:p>
            <a:r>
              <a:rPr lang="en-GB" sz="3600" dirty="0"/>
              <a:t>It is found in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 ripening fruits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young flowers</a:t>
            </a:r>
          </a:p>
          <a:p>
            <a:pPr>
              <a:buFont typeface="Wingdings" pitchFamily="2" charset="2"/>
              <a:buChar char="ü"/>
            </a:pPr>
            <a:r>
              <a:rPr lang="en-GB" sz="3600" dirty="0"/>
              <a:t>and</a:t>
            </a:r>
            <a:r>
              <a:rPr lang="en-GB" sz="3600" b="1" dirty="0"/>
              <a:t> </a:t>
            </a:r>
            <a:r>
              <a:rPr lang="en-GB" sz="3600" dirty="0"/>
              <a:t>young leaves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br>
              <a:rPr lang="en-GB" b="1" dirty="0"/>
            </a:br>
            <a:r>
              <a:rPr lang="en-GB" b="1" dirty="0"/>
              <a:t>Functions of Ethylene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600" dirty="0"/>
              <a:t>It induces ripening of fruits</a:t>
            </a:r>
          </a:p>
          <a:p>
            <a:r>
              <a:rPr lang="en-GB" sz="3600" dirty="0"/>
              <a:t>It promotes senescence and abscission of leaf, and flowers</a:t>
            </a:r>
          </a:p>
          <a:p>
            <a:r>
              <a:rPr lang="en-GB" sz="3600" dirty="0"/>
              <a:t>In cells it only increases the width and not the length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 err="1"/>
              <a:t>ABSCISSIC</a:t>
            </a:r>
            <a:r>
              <a:rPr lang="en-GB" b="1" dirty="0"/>
              <a:t> ACID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 err="1"/>
              <a:t>Abscissic</a:t>
            </a:r>
            <a:r>
              <a:rPr lang="en-GB" sz="3600" dirty="0"/>
              <a:t> acid, also known as </a:t>
            </a:r>
            <a:r>
              <a:rPr lang="en-GB" sz="3600" dirty="0" err="1"/>
              <a:t>Dormin,is</a:t>
            </a:r>
            <a:r>
              <a:rPr lang="en-GB" sz="3600" dirty="0"/>
              <a:t> a naturally occurring growth inhibitor found</a:t>
            </a:r>
            <a:r>
              <a:rPr lang="en-GB" sz="3600" b="1" dirty="0"/>
              <a:t> </a:t>
            </a:r>
            <a:r>
              <a:rPr lang="en-GB" sz="3600" dirty="0"/>
              <a:t>in a wide variety of plants</a:t>
            </a:r>
          </a:p>
          <a:p>
            <a:r>
              <a:rPr lang="en-GB" sz="3600" dirty="0"/>
              <a:t>It is synthesised in the leaves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979512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Functions of </a:t>
            </a:r>
            <a:r>
              <a:rPr lang="en-GB" b="1" dirty="0" err="1"/>
              <a:t>Abscissic</a:t>
            </a:r>
            <a:r>
              <a:rPr lang="en-GB" b="1" dirty="0"/>
              <a:t> acid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GB" sz="3600" dirty="0"/>
              <a:t>It induces dormancy of buds and seeds as opposed to </a:t>
            </a:r>
            <a:r>
              <a:rPr lang="en-GB" sz="3600" dirty="0" err="1"/>
              <a:t>Gibberellin</a:t>
            </a:r>
            <a:r>
              <a:rPr lang="en-GB" sz="3600" dirty="0"/>
              <a:t>, which breaks dormancy</a:t>
            </a:r>
          </a:p>
          <a:p>
            <a:r>
              <a:rPr lang="en-GB" sz="3600" dirty="0"/>
              <a:t>It promotes senescence of leaf, </a:t>
            </a:r>
            <a:r>
              <a:rPr lang="en-GB" sz="3600" dirty="0" err="1"/>
              <a:t>ie</a:t>
            </a:r>
            <a:r>
              <a:rPr lang="en-GB" sz="3600" dirty="0"/>
              <a:t> fall of leaves happen due to </a:t>
            </a:r>
            <a:r>
              <a:rPr lang="en-GB" sz="3600" dirty="0" err="1"/>
              <a:t>abscissic</a:t>
            </a:r>
            <a:r>
              <a:rPr lang="en-GB" sz="3600" dirty="0"/>
              <a:t> acid</a:t>
            </a:r>
          </a:p>
          <a:p>
            <a:r>
              <a:rPr lang="en-GB" sz="3600" dirty="0"/>
              <a:t>It inhibits seed germination and development</a:t>
            </a:r>
          </a:p>
          <a:p>
            <a:r>
              <a:rPr lang="en-GB" sz="3600" dirty="0"/>
              <a:t>It causes closing of stomata</a:t>
            </a:r>
          </a:p>
          <a:p>
            <a:pPr>
              <a:buNone/>
            </a:pPr>
            <a:endParaRPr lang="en-GB" sz="3600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186766" cy="631844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000" b="1" dirty="0"/>
              <a:t>PRACTICAL APPLICATION OF GROWTH REGULATORS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GB" sz="3600" dirty="0"/>
              <a:t>By using the various types of growth regulators: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3600" dirty="0"/>
              <a:t>we can promote, inhibit, modify growth and development in plants</a:t>
            </a:r>
          </a:p>
          <a:p>
            <a:r>
              <a:rPr lang="en-GB" sz="3600" dirty="0"/>
              <a:t>These are widely used by horticulturists to boost their production</a:t>
            </a:r>
          </a:p>
          <a:p>
            <a:r>
              <a:rPr lang="en-GB" sz="3600" dirty="0"/>
              <a:t>Some of the applications are: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r>
              <a:rPr lang="en-GB" sz="4000" b="1" dirty="0"/>
              <a:t>PRACTICAL APPLICATION OF GROWTH REGULATORS </a:t>
            </a:r>
            <a:r>
              <a:rPr lang="en-GB" sz="4000" b="1" i="1" dirty="0"/>
              <a:t>Cont’d</a:t>
            </a:r>
            <a:endParaRPr lang="en-GB" sz="40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420888"/>
            <a:ext cx="8229600" cy="3733875"/>
          </a:xfrm>
        </p:spPr>
        <p:txBody>
          <a:bodyPr/>
          <a:lstStyle/>
          <a:p>
            <a:r>
              <a:rPr lang="en-GB" sz="3600" dirty="0"/>
              <a:t>Germination in seeds can be possible by applying auxins</a:t>
            </a:r>
          </a:p>
          <a:p>
            <a:r>
              <a:rPr lang="en-GB" sz="3600" dirty="0"/>
              <a:t>Germination of potatoes and onions can be stopped in storage by application of growth inhibitors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1937</Words>
  <Application>Microsoft Office PowerPoint</Application>
  <PresentationFormat>On-screen Show (4:3)</PresentationFormat>
  <Paragraphs>215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Courier New</vt:lpstr>
      <vt:lpstr>Wingdings</vt:lpstr>
      <vt:lpstr>Office Theme</vt:lpstr>
      <vt:lpstr>BIOL 257  </vt:lpstr>
      <vt:lpstr> COURSE OUTLINE </vt:lpstr>
      <vt:lpstr>COURSE OUTLINE Cont’d</vt:lpstr>
      <vt:lpstr> COURSE OBJECTIVES </vt:lpstr>
      <vt:lpstr>COURSE OBJECTIVES Cont’d</vt:lpstr>
      <vt:lpstr>  SOME READING MATERIALS </vt:lpstr>
      <vt:lpstr> GROWTH AND DEVELOPMENT IN PLANTS </vt:lpstr>
      <vt:lpstr>GROWTH AND DEVELOPMENT IN PLANTS Cont’d</vt:lpstr>
      <vt:lpstr> GROWTH AND DEVELOPMENT IN PLANTS Cont’d </vt:lpstr>
      <vt:lpstr> GROWTH AND DEVELOPMENT IN PLANTS Cont’d </vt:lpstr>
      <vt:lpstr>PowerPoint Presentation</vt:lpstr>
      <vt:lpstr>  GROWTH AND DEVELOPMENT IN PLANTS Cont’d </vt:lpstr>
      <vt:lpstr> STAGES OF CELLULAR GROWTH </vt:lpstr>
      <vt:lpstr> STAGES OF CELLULAR GROWTH Cont’d </vt:lpstr>
      <vt:lpstr>PowerPoint Presentation</vt:lpstr>
      <vt:lpstr>  STAGES OF CELLULAR GROWTH Cont’d </vt:lpstr>
      <vt:lpstr>   STAGES OF CELLULAR GROWTH Cont’d </vt:lpstr>
      <vt:lpstr>   GROWTH CURVE </vt:lpstr>
      <vt:lpstr> GROWTH CURVE Cont’d</vt:lpstr>
      <vt:lpstr>PowerPoint Presentation</vt:lpstr>
      <vt:lpstr> EXTERNAL GROWTH FACTORS </vt:lpstr>
      <vt:lpstr> EXTERNAL GROWTH FACTORS Cont’d </vt:lpstr>
      <vt:lpstr> EXTERNAL GROWTH FACTORS Cont’d </vt:lpstr>
      <vt:lpstr>   EXTERNAL GROWTH FACTORS Cont’d </vt:lpstr>
      <vt:lpstr> EXTERNAL GROWTH FACTORS Cont’d </vt:lpstr>
      <vt:lpstr> EXTERNAL GROWTH FACTORS Cont’d </vt:lpstr>
      <vt:lpstr> INTERNAL GROWTH FACTORS </vt:lpstr>
      <vt:lpstr>INTERNAL GROWTH FACTORS Cont’d </vt:lpstr>
      <vt:lpstr>INTERNAL GROWTH FACTORS Cont’d </vt:lpstr>
      <vt:lpstr>PowerPoint Presentation</vt:lpstr>
      <vt:lpstr> AUXINS</vt:lpstr>
      <vt:lpstr>AUXINS Cont’d </vt:lpstr>
      <vt:lpstr>AUXINS Cont’d </vt:lpstr>
      <vt:lpstr>AUXINS Cont’d</vt:lpstr>
      <vt:lpstr> Functions of Auxin </vt:lpstr>
      <vt:lpstr> Functions of Auxin Cont’d</vt:lpstr>
      <vt:lpstr> GIBBERELLINS</vt:lpstr>
      <vt:lpstr>Functions of Gibberellins</vt:lpstr>
      <vt:lpstr> CYTOKININS</vt:lpstr>
      <vt:lpstr>  Functions of Cytokinins </vt:lpstr>
      <vt:lpstr> ETHYLENE</vt:lpstr>
      <vt:lpstr>  Functions of Ethylene </vt:lpstr>
      <vt:lpstr> ABSCISSIC ACID</vt:lpstr>
      <vt:lpstr> Functions of Abscissic acid </vt:lpstr>
      <vt:lpstr> PRACTICAL APPLICATION OF GROWTH REGULATORS </vt:lpstr>
      <vt:lpstr>   PRACTICAL APPLICATION OF GROWTH REGULATORS Cont’d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 257  </dc:title>
  <dc:creator>Mr. Apetorgbor</dc:creator>
  <cp:lastModifiedBy>Mr Alfred Apetorgbor</cp:lastModifiedBy>
  <cp:revision>108</cp:revision>
  <dcterms:created xsi:type="dcterms:W3CDTF">2017-09-06T11:25:36Z</dcterms:created>
  <dcterms:modified xsi:type="dcterms:W3CDTF">2021-01-28T12:59:44Z</dcterms:modified>
</cp:coreProperties>
</file>