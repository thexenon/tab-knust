
<file path=[Content_Types].xml><?xml version="1.0" encoding="utf-8"?>
<Types xmlns="http://schemas.openxmlformats.org/package/2006/content-types">
  <Default Extension="png" ContentType="image/png"/>
  <Default Extension="bin" ContentType="application/vnd.ms-office.activeX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notesSlides/notesSlide2.xml" ContentType="application/vnd.openxmlformats-officedocument.presentationml.notesSlide+xml"/>
  <Override PartName="/ppt/activeX/activeX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321" r:id="rId3"/>
    <p:sldId id="317" r:id="rId4"/>
    <p:sldId id="257" r:id="rId5"/>
    <p:sldId id="258" r:id="rId6"/>
    <p:sldId id="259" r:id="rId7"/>
    <p:sldId id="315" r:id="rId8"/>
    <p:sldId id="260" r:id="rId9"/>
    <p:sldId id="322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6" r:id="rId23"/>
    <p:sldId id="275" r:id="rId24"/>
    <p:sldId id="274" r:id="rId25"/>
    <p:sldId id="278" r:id="rId26"/>
    <p:sldId id="279" r:id="rId27"/>
    <p:sldId id="280" r:id="rId28"/>
    <p:sldId id="281" r:id="rId29"/>
    <p:sldId id="282" r:id="rId30"/>
    <p:sldId id="316" r:id="rId31"/>
    <p:sldId id="318" r:id="rId32"/>
    <p:sldId id="319" r:id="rId33"/>
    <p:sldId id="320" r:id="rId34"/>
    <p:sldId id="314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7" r:id="rId58"/>
    <p:sldId id="305" r:id="rId59"/>
    <p:sldId id="306" r:id="rId60"/>
    <p:sldId id="309" r:id="rId61"/>
    <p:sldId id="308" r:id="rId62"/>
    <p:sldId id="310" r:id="rId63"/>
    <p:sldId id="311" r:id="rId64"/>
    <p:sldId id="312" r:id="rId65"/>
    <p:sldId id="313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9322" autoAdjust="0"/>
  </p:normalViewPr>
  <p:slideViewPr>
    <p:cSldViewPr>
      <p:cViewPr varScale="1">
        <p:scale>
          <a:sx n="70" d="100"/>
          <a:sy n="70" d="100"/>
        </p:scale>
        <p:origin x="11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007D2-6C99-45D8-A438-AB164910A091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10954-9904-4384-A776-DB50753B5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9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82A799-2BDC-4127-B8F7-93AEB0E24141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Clarify the shapes of bacteria.</a:t>
            </a:r>
          </a:p>
        </p:txBody>
      </p:sp>
    </p:spTree>
    <p:extLst>
      <p:ext uri="{BB962C8B-B14F-4D97-AF65-F5344CB8AC3E}">
        <p14:creationId xmlns:p14="http://schemas.microsoft.com/office/powerpoint/2010/main" val="280290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50827905-F195-4FAC-9EC2-94230AF50098}" type="slidenum">
              <a:rPr lang="en-US" sz="1200">
                <a:latin typeface="Arial" charset="0"/>
              </a:rPr>
              <a:pPr algn="r" eaLnBrk="1" hangingPunct="1"/>
              <a:t>30</a:t>
            </a:fld>
            <a:endParaRPr lang="en-US" sz="1200">
              <a:latin typeface="Arial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Beta hemolysis seen with a positive strep culture.</a:t>
            </a:r>
          </a:p>
        </p:txBody>
      </p:sp>
    </p:spTree>
    <p:extLst>
      <p:ext uri="{BB962C8B-B14F-4D97-AF65-F5344CB8AC3E}">
        <p14:creationId xmlns:p14="http://schemas.microsoft.com/office/powerpoint/2010/main" val="30668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325BC-EB63-46BF-8673-CF70A3CFD688}" type="datetimeFigureOut">
              <a:rPr lang="en-US" smtClean="0"/>
              <a:pPr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94989-3D04-41DA-B3CD-48B3C0027E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Peptidoglycan" TargetMode="External"/><Relationship Id="rId3" Type="http://schemas.openxmlformats.org/officeDocument/2006/relationships/hyperlink" Target="http://en.wikipedia.org/wiki/Gram_staining" TargetMode="External"/><Relationship Id="rId7" Type="http://schemas.openxmlformats.org/officeDocument/2006/relationships/hyperlink" Target="http://en.wikipedia.org/wiki/Safranin" TargetMode="External"/><Relationship Id="rId2" Type="http://schemas.openxmlformats.org/officeDocument/2006/relationships/hyperlink" Target="http://en.wikipedia.org/wiki/Bacteria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n.wikipedia.org/wiki/Counterstain" TargetMode="External"/><Relationship Id="rId5" Type="http://schemas.openxmlformats.org/officeDocument/2006/relationships/hyperlink" Target="http://en.wikipedia.org/wiki/Crystal_violet" TargetMode="External"/><Relationship Id="rId4" Type="http://schemas.openxmlformats.org/officeDocument/2006/relationships/hyperlink" Target="http://en.wikipedia.org/wiki/Gram-negative_bacteri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://www.austincc.edu/rlewis3/reqbooks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slideLayout" Target="../slideLayouts/slideLayout7.xml"/><Relationship Id="rId7" Type="http://schemas.openxmlformats.org/officeDocument/2006/relationships/hyperlink" Target="http://static.wikidoc.org/c/cc/Streptococcal_hemolysis.jpg" TargetMode="Externa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hyperlink" Target="http://advertising-support.com/why.php?type=3&amp;zone=288182&amp;pid=1542&amp;ext=greatsaver" TargetMode="External"/><Relationship Id="rId5" Type="http://schemas.openxmlformats.org/officeDocument/2006/relationships/image" Target="../media/image11.jpeg"/><Relationship Id="rId4" Type="http://schemas.openxmlformats.org/officeDocument/2006/relationships/notesSlide" Target="../notesSlides/notesSlide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jpeg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2.vml"/><Relationship Id="rId6" Type="http://schemas.openxmlformats.org/officeDocument/2006/relationships/hyperlink" Target="http://iws.collin.edu/mweis/Microbiology/Lab/Lab%20Exercises/media_selective_differential/photos_media_selective_diff/micro_BAP_alpha_hemolysis.jpg" TargetMode="External"/><Relationship Id="rId5" Type="http://schemas.openxmlformats.org/officeDocument/2006/relationships/hyperlink" Target="http://advertising-support.com/why.php?type=3&amp;zone=288182&amp;pid=1542&amp;ext=greatsaver" TargetMode="External"/><Relationship Id="rId4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Gram pos </a:t>
            </a:r>
            <a:r>
              <a:rPr lang="en-US" dirty="0" err="1" smtClean="0"/>
              <a:t>cocci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Staphylococci and Streptococci </a:t>
            </a:r>
          </a:p>
          <a:p>
            <a:r>
              <a:rPr lang="en-US" dirty="0" smtClean="0"/>
              <a:t>And anaerobic </a:t>
            </a:r>
            <a:r>
              <a:rPr lang="en-US" dirty="0" err="1" smtClean="0"/>
              <a:t>cocci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763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Gram-positive </a:t>
            </a:r>
            <a:r>
              <a:rPr lang="en-US" sz="3200" b="1" dirty="0" smtClean="0">
                <a:hlinkClick r:id="rId2" action="ppaction://hlinkfile" tooltip="Bacteria"/>
              </a:rPr>
              <a:t>bacteria</a:t>
            </a:r>
            <a:r>
              <a:rPr lang="en-US" sz="3200" dirty="0" smtClean="0"/>
              <a:t> are those that are stained dark blue or violet by </a:t>
            </a:r>
            <a:r>
              <a:rPr lang="en-US" sz="3200" dirty="0" smtClean="0">
                <a:hlinkClick r:id="rId3" action="ppaction://hlinkfile" tooltip="Gram staining"/>
              </a:rPr>
              <a:t>Gram staining</a:t>
            </a:r>
            <a:r>
              <a:rPr lang="en-US" sz="3200" dirty="0" smtClean="0"/>
              <a:t>. This is in contrast to </a:t>
            </a:r>
            <a:r>
              <a:rPr lang="en-US" sz="3200" dirty="0" smtClean="0">
                <a:hlinkClick r:id="rId4" action="ppaction://hlinkfile" tooltip="Gram-negative bacteria"/>
              </a:rPr>
              <a:t>gram-negative bacteria</a:t>
            </a:r>
            <a:r>
              <a:rPr lang="en-US" sz="3200" dirty="0" smtClean="0"/>
              <a:t>, which appear red b/</a:t>
            </a:r>
            <a:r>
              <a:rPr lang="en-US" sz="3200" dirty="0" err="1" smtClean="0"/>
              <a:t>cs</a:t>
            </a:r>
            <a:r>
              <a:rPr lang="en-US" sz="3200" dirty="0" smtClean="0"/>
              <a:t> cannot retain the </a:t>
            </a:r>
            <a:r>
              <a:rPr lang="en-US" sz="3200" dirty="0" smtClean="0">
                <a:hlinkClick r:id="rId5" action="ppaction://hlinkfile" tooltip="Crystal violet"/>
              </a:rPr>
              <a:t>crystal violet</a:t>
            </a:r>
            <a:r>
              <a:rPr lang="en-US" sz="3200" dirty="0" smtClean="0"/>
              <a:t> stain, instead taking up the </a:t>
            </a:r>
            <a:r>
              <a:rPr lang="en-US" sz="3200" dirty="0" err="1" smtClean="0">
                <a:hlinkClick r:id="rId6" action="ppaction://hlinkfile" tooltip="Counterstain"/>
              </a:rPr>
              <a:t>counterstain</a:t>
            </a:r>
            <a:r>
              <a:rPr lang="en-US" sz="3200" dirty="0" smtClean="0"/>
              <a:t> (</a:t>
            </a:r>
            <a:r>
              <a:rPr lang="en-US" sz="3200" dirty="0" err="1" smtClean="0">
                <a:hlinkClick r:id="rId7" action="ppaction://hlinkfile" tooltip="Safranin"/>
              </a:rPr>
              <a:t>safranin</a:t>
            </a:r>
            <a:r>
              <a:rPr lang="en-US" sz="3200" dirty="0" smtClean="0"/>
              <a:t> or </a:t>
            </a:r>
            <a:r>
              <a:rPr lang="en-US" sz="3200" dirty="0" err="1" smtClean="0"/>
              <a:t>fuchsin</a:t>
            </a:r>
            <a:r>
              <a:rPr lang="en-US" sz="3200" dirty="0" smtClean="0"/>
              <a:t>) and appearing red or pink. Gram-positive organisms are able to retain the crystal violet stain because of the thick </a:t>
            </a:r>
            <a:r>
              <a:rPr lang="en-US" sz="3200" dirty="0" err="1" smtClean="0">
                <a:hlinkClick r:id="rId8" action="ppaction://hlinkfile" tooltip="Peptidoglycan"/>
              </a:rPr>
              <a:t>peptidoglycan</a:t>
            </a:r>
            <a:r>
              <a:rPr lang="en-US" sz="3200" dirty="0" smtClean="0"/>
              <a:t> layer. Gram-positive bacteria have a thick </a:t>
            </a:r>
            <a:r>
              <a:rPr lang="en-US" sz="3200" dirty="0" err="1" smtClean="0"/>
              <a:t>peptidoglycan</a:t>
            </a:r>
            <a:r>
              <a:rPr lang="en-US" sz="3200" dirty="0" smtClean="0"/>
              <a:t> layer, which is superficial to the cell membrane. This is in contrast to </a:t>
            </a:r>
            <a:r>
              <a:rPr lang="en-US" sz="3200" dirty="0" smtClean="0">
                <a:hlinkClick r:id="rId4" action="ppaction://hlinkfile" tooltip="Gram-negative bacteria"/>
              </a:rPr>
              <a:t>Gram-negative bacteria</a:t>
            </a:r>
            <a:r>
              <a:rPr lang="en-US" sz="3200" dirty="0" smtClean="0"/>
              <a:t>, which may </a:t>
            </a:r>
            <a:r>
              <a:rPr lang="en-US" sz="3200" smtClean="0"/>
              <a:t>have a </a:t>
            </a:r>
            <a:r>
              <a:rPr lang="en-US" sz="3200" dirty="0" smtClean="0"/>
              <a:t>thin </a:t>
            </a:r>
            <a:r>
              <a:rPr lang="en-US" sz="3200" dirty="0" err="1" smtClean="0"/>
              <a:t>peptidoglycan</a:t>
            </a:r>
            <a:r>
              <a:rPr lang="en-US" sz="3200" dirty="0" smtClean="0"/>
              <a:t> layer that is located between two cell membranes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 smtClean="0"/>
              <a:t>Bacterial Shapes</a:t>
            </a:r>
          </a:p>
        </p:txBody>
      </p:sp>
      <p:pic>
        <p:nvPicPr>
          <p:cNvPr id="19459" name="Picture 5" descr="f54-04-X24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5013" y="1600200"/>
            <a:ext cx="5073650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staphylococci are gram-positive spherical cells, usually arranged in grape-like irregular clusters.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genus </a:t>
            </a:r>
            <a:r>
              <a:rPr lang="en-US" i="1" dirty="0" smtClean="0"/>
              <a:t>Staphylococcus</a:t>
            </a:r>
            <a:r>
              <a:rPr lang="en-US" dirty="0" smtClean="0"/>
              <a:t> has at least 35 species. The three main species of clinical importance are </a:t>
            </a:r>
            <a:r>
              <a:rPr lang="en-US" i="1" dirty="0" smtClean="0"/>
              <a:t>Staphylococcus </a:t>
            </a:r>
            <a:r>
              <a:rPr lang="en-US" i="1" dirty="0" err="1" smtClean="0"/>
              <a:t>aureus</a:t>
            </a:r>
            <a:r>
              <a:rPr lang="en-US" i="1" dirty="0" smtClean="0"/>
              <a:t>, Staphylococcus </a:t>
            </a:r>
            <a:r>
              <a:rPr lang="en-US" i="1" dirty="0" err="1" smtClean="0"/>
              <a:t>epidermidis</a:t>
            </a:r>
            <a:r>
              <a:rPr lang="en-US" i="1" dirty="0" smtClean="0"/>
              <a:t>,</a:t>
            </a:r>
            <a:r>
              <a:rPr lang="en-US" dirty="0" smtClean="0"/>
              <a:t> and </a:t>
            </a:r>
            <a:r>
              <a:rPr lang="en-US" i="1" dirty="0" smtClean="0"/>
              <a:t>Staphylococcus </a:t>
            </a:r>
            <a:r>
              <a:rPr lang="en-US" i="1" dirty="0" err="1" smtClean="0"/>
              <a:t>saprophyticus</a:t>
            </a:r>
            <a:r>
              <a:rPr lang="en-US" i="1" dirty="0" smtClean="0"/>
              <a:t>.</a:t>
            </a:r>
          </a:p>
          <a:p>
            <a:r>
              <a:rPr lang="en-US" i="1" dirty="0" smtClean="0"/>
              <a:t> Staphylococcus </a:t>
            </a:r>
            <a:r>
              <a:rPr lang="en-US" i="1" dirty="0" err="1" smtClean="0"/>
              <a:t>aureus</a:t>
            </a:r>
            <a:r>
              <a:rPr lang="en-US" dirty="0" smtClean="0"/>
              <a:t> is </a:t>
            </a:r>
            <a:r>
              <a:rPr lang="en-US" b="1" dirty="0" err="1" smtClean="0"/>
              <a:t>coagulase</a:t>
            </a:r>
            <a:r>
              <a:rPr lang="en-US" b="1" dirty="0" smtClean="0"/>
              <a:t>-positive,</a:t>
            </a:r>
            <a:r>
              <a:rPr lang="en-US" dirty="0" smtClean="0"/>
              <a:t> which differentiates it from the other species. </a:t>
            </a:r>
          </a:p>
          <a:p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is a major pathogen for humans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Typical Organisms morphology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Staphylococci are spherical cells about 1 um in diameter arranged in irregular clusters </a:t>
            </a:r>
          </a:p>
          <a:p>
            <a:r>
              <a:rPr lang="en-US" dirty="0" smtClean="0"/>
              <a:t> Single </a:t>
            </a:r>
            <a:r>
              <a:rPr lang="en-US" dirty="0" err="1" smtClean="0"/>
              <a:t>cocci</a:t>
            </a:r>
            <a:r>
              <a:rPr lang="en-US" dirty="0" smtClean="0"/>
              <a:t>, pairs, tetrads, and chains are also seen in liquid cultures. </a:t>
            </a:r>
          </a:p>
          <a:p>
            <a:r>
              <a:rPr lang="en-US" dirty="0" smtClean="0"/>
              <a:t>Young </a:t>
            </a:r>
            <a:r>
              <a:rPr lang="en-US" dirty="0" err="1" smtClean="0"/>
              <a:t>cocci</a:t>
            </a:r>
            <a:r>
              <a:rPr lang="en-US" dirty="0" smtClean="0"/>
              <a:t> stain strongly gram-positive; on aging, many cells become gram-negative. Staphylococci are non-motile and do not form spores.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solidFill>
                  <a:schemeClr val="tx2">
                    <a:satMod val="200000"/>
                  </a:schemeClr>
                </a:solidFill>
              </a:rPr>
              <a:t>Gram positive </a:t>
            </a:r>
            <a:r>
              <a:rPr lang="en-GB" dirty="0" err="1" smtClean="0">
                <a:solidFill>
                  <a:schemeClr val="tx2">
                    <a:satMod val="200000"/>
                  </a:schemeClr>
                </a:solidFill>
              </a:rPr>
              <a:t>cocci</a:t>
            </a:r>
            <a:r>
              <a:rPr lang="en-GB" dirty="0" smtClean="0">
                <a:solidFill>
                  <a:schemeClr val="tx2">
                    <a:satMod val="200000"/>
                  </a:schemeClr>
                </a:solidFill>
              </a:rPr>
              <a:t> &amp; Gram negative rods compared</a:t>
            </a:r>
          </a:p>
        </p:txBody>
      </p:sp>
      <p:pic>
        <p:nvPicPr>
          <p:cNvPr id="46083" name="Picture 6" descr="ppp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92369" y="1828800"/>
            <a:ext cx="8229600" cy="4800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Clinical Findings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A localized staphylococcal infection appears as a "pimple," hair follicle infection, or abscess. </a:t>
            </a:r>
          </a:p>
          <a:p>
            <a:pPr>
              <a:buNone/>
            </a:pPr>
            <a:r>
              <a:rPr lang="en-US" dirty="0" smtClean="0"/>
              <a:t>Wound, </a:t>
            </a:r>
            <a:r>
              <a:rPr lang="en-US" dirty="0" err="1" smtClean="0"/>
              <a:t>eg</a:t>
            </a:r>
            <a:r>
              <a:rPr lang="en-US" dirty="0" smtClean="0"/>
              <a:t>, postoperative staphylococcal wound infection or infection following trauma.</a:t>
            </a:r>
          </a:p>
          <a:p>
            <a:pPr>
              <a:buNone/>
            </a:pP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disseminates and </a:t>
            </a:r>
            <a:r>
              <a:rPr lang="en-US" dirty="0" err="1" smtClean="0"/>
              <a:t>bacteremia</a:t>
            </a:r>
            <a:r>
              <a:rPr lang="en-US" dirty="0" smtClean="0"/>
              <a:t> ensues, </a:t>
            </a:r>
            <a:r>
              <a:rPr lang="en-US" dirty="0" err="1" smtClean="0"/>
              <a:t>endocarditis</a:t>
            </a:r>
            <a:r>
              <a:rPr lang="en-US" dirty="0" smtClean="0"/>
              <a:t>, acute </a:t>
            </a:r>
            <a:r>
              <a:rPr lang="en-US" dirty="0" err="1" smtClean="0"/>
              <a:t>hematogenous</a:t>
            </a:r>
            <a:r>
              <a:rPr lang="en-US" dirty="0" smtClean="0"/>
              <a:t> </a:t>
            </a:r>
            <a:r>
              <a:rPr lang="en-US" dirty="0" err="1" smtClean="0"/>
              <a:t>osteomyelitis</a:t>
            </a:r>
            <a:r>
              <a:rPr lang="en-US" dirty="0" smtClean="0"/>
              <a:t>, meningitis, or pulmonary infection can result.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i="1" dirty="0"/>
              <a:t>abscess</a:t>
            </a:r>
            <a:r>
              <a:rPr lang="en-US" dirty="0"/>
              <a:t> (Latin: </a:t>
            </a:r>
            <a:r>
              <a:rPr lang="en-US" dirty="0" err="1"/>
              <a:t>abscessus</a:t>
            </a:r>
            <a:r>
              <a:rPr lang="en-US" dirty="0"/>
              <a:t>) is a collection of pus that has built up within the tissue of the body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76600"/>
            <a:ext cx="428625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76600"/>
            <a:ext cx="2895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428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Food poisoning due to staphylococcal </a:t>
            </a:r>
            <a:r>
              <a:rPr lang="en-US" dirty="0" err="1" smtClean="0"/>
              <a:t>enterotoxin</a:t>
            </a:r>
            <a:r>
              <a:rPr lang="en-US" dirty="0" smtClean="0"/>
              <a:t> is characterized by a short incubation period (1–8 hours);</a:t>
            </a:r>
          </a:p>
          <a:p>
            <a:r>
              <a:rPr lang="en-US" dirty="0" smtClean="0"/>
              <a:t> violent nausea, vomiting, and diarrhea; and rapid convalescence.</a:t>
            </a:r>
          </a:p>
          <a:p>
            <a:r>
              <a:rPr lang="en-US" dirty="0" smtClean="0"/>
              <a:t>Toxic shock syndrome is manifested by an abrupt onset of high fever, vomiting, diarrhea, </a:t>
            </a:r>
            <a:r>
              <a:rPr lang="en-US" dirty="0" err="1" smtClean="0"/>
              <a:t>myalgias</a:t>
            </a:r>
            <a:r>
              <a:rPr lang="en-US" dirty="0" smtClean="0"/>
              <a:t>(muscle pain), a </a:t>
            </a:r>
            <a:r>
              <a:rPr lang="en-US" dirty="0" err="1" smtClean="0"/>
              <a:t>scarlatiniform</a:t>
            </a:r>
            <a:r>
              <a:rPr lang="en-US" dirty="0" smtClean="0"/>
              <a:t> rash, and hypotension with cardiac and renal failure in the most severe cases.</a:t>
            </a:r>
          </a:p>
          <a:p>
            <a:r>
              <a:rPr lang="en-US" dirty="0" smtClean="0"/>
              <a:t> It often occurs within 5 days after the onset of menses in young women who use tampons, but it also occurs in children or in men with staphylococcal wound infections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Enzymes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organisms produce enzymes and toxins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Catalase</a:t>
            </a:r>
            <a:r>
              <a:rPr lang="en-US" dirty="0" smtClean="0"/>
              <a:t>-Staphylococci produce </a:t>
            </a:r>
            <a:r>
              <a:rPr lang="en-US" dirty="0" err="1" smtClean="0"/>
              <a:t>catalase</a:t>
            </a:r>
            <a:endParaRPr lang="en-US" dirty="0" smtClean="0"/>
          </a:p>
          <a:p>
            <a:r>
              <a:rPr lang="en-US" dirty="0" err="1" smtClean="0">
                <a:solidFill>
                  <a:srgbClr val="FF0000"/>
                </a:solidFill>
              </a:rPr>
              <a:t>Coagulase</a:t>
            </a:r>
            <a:r>
              <a:rPr lang="en-US" dirty="0" smtClean="0"/>
              <a:t> and Clumping Factor-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produces </a:t>
            </a:r>
            <a:r>
              <a:rPr lang="en-US" dirty="0" err="1" smtClean="0"/>
              <a:t>coagulase</a:t>
            </a:r>
            <a:r>
              <a:rPr lang="en-US" dirty="0" smtClean="0"/>
              <a:t>, an enzyme-like protein that clots </a:t>
            </a:r>
            <a:r>
              <a:rPr lang="en-US" dirty="0" err="1" smtClean="0"/>
              <a:t>oxalated</a:t>
            </a:r>
            <a:r>
              <a:rPr lang="en-US" dirty="0" smtClean="0"/>
              <a:t> or citrated plasma.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Coagulase</a:t>
            </a:r>
            <a:r>
              <a:rPr lang="en-US" dirty="0" smtClean="0"/>
              <a:t> binds to </a:t>
            </a:r>
            <a:r>
              <a:rPr lang="en-US" dirty="0" err="1" smtClean="0"/>
              <a:t>prothrombin</a:t>
            </a:r>
            <a:r>
              <a:rPr lang="en-US" dirty="0" smtClean="0"/>
              <a:t>; initiate fibrin polymerization an invasive potential.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Clumping factor</a:t>
            </a:r>
            <a:r>
              <a:rPr lang="en-US" dirty="0" smtClean="0"/>
              <a:t> is a surface </a:t>
            </a:r>
            <a:r>
              <a:rPr lang="en-US" i="1" dirty="0" smtClean="0"/>
              <a:t>S. </a:t>
            </a:r>
            <a:r>
              <a:rPr lang="en-US" i="1" dirty="0" err="1" smtClean="0"/>
              <a:t>aureus</a:t>
            </a:r>
            <a:r>
              <a:rPr lang="en-US" dirty="0" smtClean="0"/>
              <a:t> compound that is responsible for adherence of the organisms to fibrinogen and fibrin.</a:t>
            </a:r>
          </a:p>
          <a:p>
            <a:endParaRPr lang="en-US" dirty="0"/>
          </a:p>
          <a:p>
            <a:r>
              <a:rPr lang="en-US" dirty="0" err="1" smtClean="0">
                <a:solidFill>
                  <a:srgbClr val="FF0000"/>
                </a:solidFill>
              </a:rPr>
              <a:t>Exotoxins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a-toxin. The a-toxin is a potent hemolysis</a:t>
            </a:r>
          </a:p>
          <a:p>
            <a:r>
              <a:rPr lang="en-US" dirty="0" smtClean="0"/>
              <a:t>The b-toxin degrades </a:t>
            </a:r>
            <a:r>
              <a:rPr lang="en-US" dirty="0" err="1" smtClean="0"/>
              <a:t>sphingomyelin</a:t>
            </a:r>
            <a:r>
              <a:rPr lang="en-US" dirty="0" smtClean="0"/>
              <a:t> of cells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Leukocidin</a:t>
            </a:r>
            <a:endParaRPr lang="en-US" dirty="0" smtClean="0"/>
          </a:p>
          <a:p>
            <a:r>
              <a:rPr lang="en-US" dirty="0" smtClean="0"/>
              <a:t>This toxin of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has two components. It can kill white blood cells of humans and rabbits</a:t>
            </a:r>
          </a:p>
          <a:p>
            <a:r>
              <a:rPr lang="en-US" dirty="0" err="1" smtClean="0"/>
              <a:t>Exfoliative</a:t>
            </a:r>
            <a:r>
              <a:rPr lang="en-US" dirty="0" smtClean="0"/>
              <a:t> Toxins </a:t>
            </a:r>
            <a:r>
              <a:rPr lang="en-US" baseline="-25000" dirty="0" smtClean="0"/>
              <a:t>+</a:t>
            </a:r>
            <a:r>
              <a:rPr lang="en-US" dirty="0" smtClean="0"/>
              <a:t>Toxic Shock Syndrome Toxin</a:t>
            </a:r>
          </a:p>
          <a:p>
            <a:r>
              <a:rPr lang="en-US" dirty="0" smtClean="0"/>
              <a:t>The 2 act synergistically.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Toxic Shock Syndrome Toxin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5410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Most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strains isolated from patients with toxic shock syndrome produce a toxin called </a:t>
            </a:r>
            <a:r>
              <a:rPr lang="en-US" b="1" dirty="0" smtClean="0"/>
              <a:t>toxic shock syndrome toxin-1</a:t>
            </a:r>
            <a:r>
              <a:rPr lang="en-US" dirty="0" smtClean="0"/>
              <a:t> (TSST-1), which is the same as </a:t>
            </a:r>
            <a:r>
              <a:rPr lang="en-US" dirty="0" err="1" smtClean="0"/>
              <a:t>enterotoxin</a:t>
            </a:r>
            <a:r>
              <a:rPr lang="en-US" dirty="0" smtClean="0"/>
              <a:t> F. TSST-1 is the prototypical </a:t>
            </a:r>
            <a:r>
              <a:rPr lang="en-US" b="1" dirty="0" err="1" smtClean="0"/>
              <a:t>superantigen</a:t>
            </a:r>
            <a:r>
              <a:rPr lang="en-US" dirty="0" smtClean="0"/>
              <a:t>. TSST-1 binds to MHC class II molecules, yielding T cell stimulation, which promotes the protean manifestations of the toxic shock syndrome. The toxin is associated with fever, shock, and multisystem involvement, including a </a:t>
            </a:r>
            <a:r>
              <a:rPr lang="en-US" dirty="0" err="1" smtClean="0"/>
              <a:t>desquamative</a:t>
            </a:r>
            <a:r>
              <a:rPr lang="en-US" dirty="0" smtClean="0"/>
              <a:t> skin rash. The gene for TSST-1 is found in about 20% of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isolates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Enterotoxins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multiple </a:t>
            </a:r>
            <a:r>
              <a:rPr lang="en-US" dirty="0" err="1" smtClean="0"/>
              <a:t>enterotoxins</a:t>
            </a:r>
            <a:r>
              <a:rPr lang="en-US" dirty="0" smtClean="0"/>
              <a:t> (A–E, G–I, K–M) . </a:t>
            </a:r>
          </a:p>
          <a:p>
            <a:r>
              <a:rPr lang="en-US" dirty="0" smtClean="0"/>
              <a:t>Like TSST-1, the </a:t>
            </a:r>
            <a:r>
              <a:rPr lang="en-US" dirty="0" err="1" smtClean="0"/>
              <a:t>enterotoxins</a:t>
            </a:r>
            <a:r>
              <a:rPr lang="en-US" dirty="0" smtClean="0"/>
              <a:t> are </a:t>
            </a:r>
            <a:r>
              <a:rPr lang="en-US" dirty="0" err="1" smtClean="0"/>
              <a:t>superantigens</a:t>
            </a:r>
            <a:r>
              <a:rPr lang="en-US" dirty="0" smtClean="0"/>
              <a:t>. The </a:t>
            </a:r>
            <a:r>
              <a:rPr lang="en-US" dirty="0" err="1" smtClean="0"/>
              <a:t>enterotoxins</a:t>
            </a:r>
            <a:r>
              <a:rPr lang="en-US" dirty="0" smtClean="0"/>
              <a:t> are heat-stable and resistant to the action of gut enzymes. </a:t>
            </a:r>
          </a:p>
          <a:p>
            <a:r>
              <a:rPr lang="en-US" dirty="0" smtClean="0"/>
              <a:t>Are important cause of food poisoning so are  </a:t>
            </a:r>
            <a:r>
              <a:rPr lang="en-US" dirty="0" err="1" smtClean="0"/>
              <a:t>enterotoxins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Diagnostic Laboratory Tests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Specimens</a:t>
            </a:r>
          </a:p>
          <a:p>
            <a:r>
              <a:rPr lang="en-US" dirty="0" smtClean="0"/>
              <a:t>Surface swab pus, blood, tracheal aspirate, or spinal fluid for culture, depending upon the localization of the process.</a:t>
            </a:r>
          </a:p>
          <a:p>
            <a:endParaRPr lang="en-US" dirty="0" smtClean="0"/>
          </a:p>
          <a:p>
            <a:r>
              <a:rPr lang="en-US" dirty="0" smtClean="0"/>
              <a:t>Smears</a:t>
            </a:r>
          </a:p>
          <a:p>
            <a:r>
              <a:rPr lang="en-US" dirty="0" smtClean="0"/>
              <a:t>Typical staphylococci appear as gram positive </a:t>
            </a:r>
            <a:r>
              <a:rPr lang="en-US" dirty="0" err="1" smtClean="0"/>
              <a:t>cocci</a:t>
            </a:r>
            <a:r>
              <a:rPr lang="en-US" dirty="0" smtClean="0"/>
              <a:t> in clusters in Gram-stained smears of pus or sputum. It is not possible to distinguish saprophytic </a:t>
            </a:r>
            <a:r>
              <a:rPr lang="en-US" i="1" dirty="0" smtClean="0"/>
              <a:t>(S </a:t>
            </a:r>
            <a:r>
              <a:rPr lang="en-US" i="1" dirty="0" err="1" smtClean="0"/>
              <a:t>epidermidis</a:t>
            </a:r>
            <a:r>
              <a:rPr lang="en-US" i="1" dirty="0" smtClean="0"/>
              <a:t>)</a:t>
            </a:r>
            <a:r>
              <a:rPr lang="en-US" dirty="0" smtClean="0"/>
              <a:t> from pathogenic </a:t>
            </a:r>
            <a:r>
              <a:rPr lang="en-US" i="1" dirty="0" smtClean="0"/>
              <a:t>(S </a:t>
            </a:r>
            <a:r>
              <a:rPr lang="en-US" i="1" dirty="0" err="1" smtClean="0"/>
              <a:t>aureus</a:t>
            </a:r>
            <a:r>
              <a:rPr lang="en-US" i="1" dirty="0" smtClean="0"/>
              <a:t>)</a:t>
            </a:r>
            <a:r>
              <a:rPr lang="en-US" dirty="0" smtClean="0"/>
              <a:t> organisms on smears.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Culture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Specimens inoculated (planted) on blood agar plates give rise to typical colonies in 18 hours at 37 °C, but </a:t>
            </a:r>
            <a:r>
              <a:rPr lang="en-US" dirty="0" err="1" smtClean="0"/>
              <a:t>haemolysis</a:t>
            </a:r>
            <a:r>
              <a:rPr lang="en-US" dirty="0" smtClean="0"/>
              <a:t> and pigment production may not occur until several days later and are optimal at room temperature.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but not other staphylococci ferment </a:t>
            </a:r>
            <a:r>
              <a:rPr lang="en-US" dirty="0" err="1" smtClean="0"/>
              <a:t>mannitol</a:t>
            </a:r>
            <a:r>
              <a:rPr lang="en-US" dirty="0" smtClean="0"/>
              <a:t>. </a:t>
            </a:r>
          </a:p>
          <a:p>
            <a:r>
              <a:rPr lang="en-US" dirty="0" smtClean="0"/>
              <a:t>Mixed flora can be cultured on media containing 7.5% </a:t>
            </a:r>
            <a:r>
              <a:rPr lang="en-US" dirty="0" err="1" smtClean="0"/>
              <a:t>NaCl</a:t>
            </a:r>
            <a:r>
              <a:rPr lang="en-US" dirty="0" smtClean="0"/>
              <a:t>; the salt inhibits most other normal flora but not </a:t>
            </a:r>
            <a:r>
              <a:rPr lang="en-US" i="1" dirty="0" smtClean="0"/>
              <a:t>S. </a:t>
            </a:r>
            <a:r>
              <a:rPr lang="en-US" i="1" dirty="0" err="1" smtClean="0"/>
              <a:t>aureus</a:t>
            </a:r>
            <a:r>
              <a:rPr lang="en-US" i="1" dirty="0" smtClean="0"/>
              <a:t>---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Mannitol</a:t>
            </a:r>
            <a:r>
              <a:rPr lang="en-US" dirty="0" smtClean="0">
                <a:solidFill>
                  <a:srgbClr val="FF0000"/>
                </a:solidFill>
              </a:rPr>
              <a:t> salt.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Culture</a:t>
            </a:r>
          </a:p>
          <a:p>
            <a:r>
              <a:rPr lang="en-US" dirty="0" smtClean="0"/>
              <a:t>Specimens contaminated with a mixed flora can be cultured on media containing 7.5% </a:t>
            </a:r>
            <a:r>
              <a:rPr lang="en-US" dirty="0" err="1" smtClean="0"/>
              <a:t>NaCl</a:t>
            </a:r>
            <a:r>
              <a:rPr lang="en-US" dirty="0" smtClean="0"/>
              <a:t>; the salt inhibits most other normal flora but not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. </a:t>
            </a:r>
            <a:r>
              <a:rPr lang="en-US" dirty="0" err="1" smtClean="0"/>
              <a:t>Mannitol</a:t>
            </a:r>
            <a:r>
              <a:rPr lang="en-US" dirty="0" smtClean="0"/>
              <a:t> salt agar or commercially available </a:t>
            </a:r>
            <a:r>
              <a:rPr lang="en-US" dirty="0" err="1" smtClean="0"/>
              <a:t>chromogenic</a:t>
            </a:r>
            <a:r>
              <a:rPr lang="en-US" dirty="0" smtClean="0"/>
              <a:t> media are used to screen for nasal carriers of </a:t>
            </a:r>
            <a:r>
              <a:rPr lang="en-US" i="1" dirty="0" smtClean="0"/>
              <a:t>S </a:t>
            </a:r>
            <a:r>
              <a:rPr lang="en-US" i="1" dirty="0" err="1" smtClean="0"/>
              <a:t>aureus</a:t>
            </a:r>
            <a:r>
              <a:rPr lang="en-US" dirty="0" smtClean="0"/>
              <a:t> and patients with cystic fibrosis.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Catalase</a:t>
            </a:r>
            <a:r>
              <a:rPr lang="en-US" dirty="0" smtClean="0"/>
              <a:t> Test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drop of 3% hydrogen peroxide solution is placed on a slide, and a small amount of the bacterial growth is placed in the solution. </a:t>
            </a:r>
          </a:p>
          <a:p>
            <a:r>
              <a:rPr lang="en-US" dirty="0" smtClean="0"/>
              <a:t>The formation of bubbles (the release of oxygen) indicates a positive test.</a:t>
            </a:r>
          </a:p>
          <a:p>
            <a:r>
              <a:rPr lang="en-US" dirty="0" err="1" smtClean="0"/>
              <a:t>Staphylocci</a:t>
            </a:r>
            <a:r>
              <a:rPr lang="en-US" dirty="0" smtClean="0"/>
              <a:t> are catalase positive and streptococci is negative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Coagulase</a:t>
            </a:r>
            <a:r>
              <a:rPr lang="en-US" dirty="0" smtClean="0"/>
              <a:t> Test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Citrated rabbit (or human) plasma diluted 1:4 is mixed with </a:t>
            </a:r>
            <a:r>
              <a:rPr lang="en-US" smtClean="0"/>
              <a:t>an e6gm ; qual</a:t>
            </a:r>
            <a:r>
              <a:rPr lang="en-US" dirty="0" smtClean="0"/>
              <a:t> volume of broth culture or growth from colonies on agar and incubated at 37 °C. </a:t>
            </a:r>
          </a:p>
          <a:p>
            <a:r>
              <a:rPr lang="en-US" dirty="0" smtClean="0"/>
              <a:t>A tube of plasma mixed with sterile broth is included as a control. If clots form in 1–4 hours, the test is positive. </a:t>
            </a:r>
          </a:p>
          <a:p>
            <a:r>
              <a:rPr lang="en-US" dirty="0" err="1" smtClean="0"/>
              <a:t>Coagulase</a:t>
            </a:r>
            <a:r>
              <a:rPr lang="en-US" dirty="0" smtClean="0"/>
              <a:t>-positive staphylococci are considered pathogenic for humans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409700" y="-1028700"/>
            <a:ext cx="6324600" cy="91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0" name="Rectangle 9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2769" name="Group 1"/>
          <p:cNvGrpSpPr>
            <a:grpSpLocks/>
          </p:cNvGrpSpPr>
          <p:nvPr/>
        </p:nvGrpSpPr>
        <p:grpSpPr bwMode="auto">
          <a:xfrm>
            <a:off x="-87313" y="609600"/>
            <a:ext cx="9002713" cy="6019800"/>
            <a:chOff x="284" y="336"/>
            <a:chExt cx="5239" cy="3600"/>
          </a:xfrm>
        </p:grpSpPr>
        <p:sp>
          <p:nvSpPr>
            <p:cNvPr id="32859" name="Text Box 91"/>
            <p:cNvSpPr txBox="1">
              <a:spLocks noChangeArrowheads="1"/>
            </p:cNvSpPr>
            <p:nvPr/>
          </p:nvSpPr>
          <p:spPr bwMode="auto">
            <a:xfrm>
              <a:off x="2146" y="336"/>
              <a:ext cx="733" cy="173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Gram (+) cocci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58" name="Text Box 90"/>
            <p:cNvSpPr txBox="1">
              <a:spLocks noChangeArrowheads="1"/>
            </p:cNvSpPr>
            <p:nvPr/>
          </p:nvSpPr>
          <p:spPr bwMode="auto">
            <a:xfrm>
              <a:off x="2281" y="672"/>
              <a:ext cx="53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Catalase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57" name="Text Box 89"/>
            <p:cNvSpPr txBox="1">
              <a:spLocks noChangeArrowheads="1"/>
            </p:cNvSpPr>
            <p:nvPr/>
          </p:nvSpPr>
          <p:spPr bwMode="auto">
            <a:xfrm>
              <a:off x="912" y="672"/>
              <a:ext cx="23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(+)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56" name="Rectangle 88"/>
            <p:cNvSpPr>
              <a:spLocks noChangeArrowheads="1"/>
            </p:cNvSpPr>
            <p:nvPr/>
          </p:nvSpPr>
          <p:spPr bwMode="auto">
            <a:xfrm>
              <a:off x="3840" y="672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(-)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55" name="Line 87"/>
            <p:cNvSpPr>
              <a:spLocks noChangeShapeType="1"/>
            </p:cNvSpPr>
            <p:nvPr/>
          </p:nvSpPr>
          <p:spPr bwMode="auto">
            <a:xfrm flipH="1">
              <a:off x="1104" y="768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54" name="Line 86"/>
            <p:cNvSpPr>
              <a:spLocks noChangeShapeType="1"/>
            </p:cNvSpPr>
            <p:nvPr/>
          </p:nvSpPr>
          <p:spPr bwMode="auto">
            <a:xfrm flipH="1">
              <a:off x="2688" y="768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53" name="Text Box 85"/>
            <p:cNvSpPr txBox="1">
              <a:spLocks noChangeArrowheads="1"/>
            </p:cNvSpPr>
            <p:nvPr/>
          </p:nvSpPr>
          <p:spPr bwMode="auto">
            <a:xfrm>
              <a:off x="2249" y="1296"/>
              <a:ext cx="36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Alpha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52" name="Line 84"/>
            <p:cNvSpPr>
              <a:spLocks noChangeShapeType="1"/>
            </p:cNvSpPr>
            <p:nvPr/>
          </p:nvSpPr>
          <p:spPr bwMode="auto">
            <a:xfrm flipH="1">
              <a:off x="2592" y="1392"/>
              <a:ext cx="11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2849" name="Group 81"/>
            <p:cNvGrpSpPr>
              <a:grpSpLocks/>
            </p:cNvGrpSpPr>
            <p:nvPr/>
          </p:nvGrpSpPr>
          <p:grpSpPr bwMode="auto">
            <a:xfrm>
              <a:off x="1931" y="1728"/>
              <a:ext cx="805" cy="672"/>
              <a:chOff x="1905" y="1872"/>
              <a:chExt cx="805" cy="672"/>
            </a:xfrm>
          </p:grpSpPr>
          <p:sp>
            <p:nvSpPr>
              <p:cNvPr id="32851" name="Text Box 83"/>
              <p:cNvSpPr txBox="1">
                <a:spLocks noChangeArrowheads="1"/>
              </p:cNvSpPr>
              <p:nvPr/>
            </p:nvSpPr>
            <p:spPr bwMode="auto">
              <a:xfrm>
                <a:off x="2064" y="1872"/>
                <a:ext cx="569" cy="28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Esculin (+)</a:t>
                </a:r>
                <a:endPara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NaCl     (-)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50" name="Text Box 82"/>
              <p:cNvSpPr txBox="1">
                <a:spLocks noChangeArrowheads="1"/>
              </p:cNvSpPr>
              <p:nvPr/>
            </p:nvSpPr>
            <p:spPr bwMode="auto">
              <a:xfrm>
                <a:off x="1905" y="2256"/>
                <a:ext cx="805" cy="288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Group D</a:t>
                </a:r>
                <a:endPara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Non-Enterococci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2848" name="Rectangle 80"/>
            <p:cNvSpPr>
              <a:spLocks noChangeArrowheads="1"/>
            </p:cNvSpPr>
            <p:nvPr/>
          </p:nvSpPr>
          <p:spPr bwMode="auto">
            <a:xfrm>
              <a:off x="432" y="1104"/>
              <a:ext cx="23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(+)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47" name="Rectangle 79"/>
            <p:cNvSpPr>
              <a:spLocks noChangeArrowheads="1"/>
            </p:cNvSpPr>
            <p:nvPr/>
          </p:nvSpPr>
          <p:spPr bwMode="auto">
            <a:xfrm>
              <a:off x="1296" y="1104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(-)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46" name="Text Box 78"/>
            <p:cNvSpPr txBox="1">
              <a:spLocks noChangeArrowheads="1"/>
            </p:cNvSpPr>
            <p:nvPr/>
          </p:nvSpPr>
          <p:spPr bwMode="auto">
            <a:xfrm>
              <a:off x="662" y="864"/>
              <a:ext cx="737" cy="192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Staphylococci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45" name="Text Box 77"/>
            <p:cNvSpPr txBox="1">
              <a:spLocks noChangeArrowheads="1"/>
            </p:cNvSpPr>
            <p:nvPr/>
          </p:nvSpPr>
          <p:spPr bwMode="auto">
            <a:xfrm>
              <a:off x="711" y="1104"/>
              <a:ext cx="5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Coagulase</a:t>
              </a: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MSA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44" name="Line 76"/>
            <p:cNvSpPr>
              <a:spLocks noChangeShapeType="1"/>
            </p:cNvSpPr>
            <p:nvPr/>
          </p:nvSpPr>
          <p:spPr bwMode="auto">
            <a:xfrm>
              <a:off x="960" y="10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43" name="Line 75"/>
            <p:cNvSpPr>
              <a:spLocks noChangeShapeType="1"/>
            </p:cNvSpPr>
            <p:nvPr/>
          </p:nvSpPr>
          <p:spPr bwMode="auto">
            <a:xfrm>
              <a:off x="120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42" name="Line 74"/>
            <p:cNvSpPr>
              <a:spLocks noChangeShapeType="1"/>
            </p:cNvSpPr>
            <p:nvPr/>
          </p:nvSpPr>
          <p:spPr bwMode="auto">
            <a:xfrm>
              <a:off x="624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41" name="Line 73"/>
            <p:cNvSpPr>
              <a:spLocks noChangeShapeType="1"/>
            </p:cNvSpPr>
            <p:nvPr/>
          </p:nvSpPr>
          <p:spPr bwMode="auto">
            <a:xfrm>
              <a:off x="576" y="1296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40" name="Line 72"/>
            <p:cNvSpPr>
              <a:spLocks noChangeShapeType="1"/>
            </p:cNvSpPr>
            <p:nvPr/>
          </p:nvSpPr>
          <p:spPr bwMode="auto">
            <a:xfrm>
              <a:off x="1440" y="1296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39" name="Text Box 71"/>
            <p:cNvSpPr txBox="1">
              <a:spLocks noChangeArrowheads="1"/>
            </p:cNvSpPr>
            <p:nvPr/>
          </p:nvSpPr>
          <p:spPr bwMode="auto">
            <a:xfrm>
              <a:off x="284" y="1392"/>
              <a:ext cx="583" cy="173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S. aureus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38" name="Text Box 70"/>
            <p:cNvSpPr txBox="1">
              <a:spLocks noChangeArrowheads="1"/>
            </p:cNvSpPr>
            <p:nvPr/>
          </p:nvSpPr>
          <p:spPr bwMode="auto">
            <a:xfrm>
              <a:off x="956" y="1392"/>
              <a:ext cx="772" cy="31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1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S. </a:t>
              </a:r>
              <a:r>
                <a:rPr kumimoji="0" lang="en-US" sz="1200" b="1" i="1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epidermidis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2833" name="Group 65"/>
            <p:cNvGrpSpPr>
              <a:grpSpLocks/>
            </p:cNvGrpSpPr>
            <p:nvPr/>
          </p:nvGrpSpPr>
          <p:grpSpPr bwMode="auto">
            <a:xfrm>
              <a:off x="1133" y="1728"/>
              <a:ext cx="860" cy="528"/>
              <a:chOff x="4041" y="2669"/>
              <a:chExt cx="860" cy="528"/>
            </a:xfrm>
          </p:grpSpPr>
          <p:sp>
            <p:nvSpPr>
              <p:cNvPr id="32837" name="Text Box 69"/>
              <p:cNvSpPr txBox="1">
                <a:spLocks noChangeArrowheads="1"/>
              </p:cNvSpPr>
              <p:nvPr/>
            </p:nvSpPr>
            <p:spPr bwMode="auto">
              <a:xfrm>
                <a:off x="4309" y="2669"/>
                <a:ext cx="5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Esculin (+)</a:t>
                </a:r>
                <a:endPara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NaCl     (+)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834" name="Group 66"/>
              <p:cNvGrpSpPr>
                <a:grpSpLocks/>
              </p:cNvGrpSpPr>
              <p:nvPr/>
            </p:nvGrpSpPr>
            <p:grpSpPr bwMode="auto">
              <a:xfrm>
                <a:off x="4041" y="2957"/>
                <a:ext cx="714" cy="240"/>
                <a:chOff x="1124" y="2160"/>
                <a:chExt cx="714" cy="240"/>
              </a:xfrm>
            </p:grpSpPr>
            <p:sp>
              <p:nvSpPr>
                <p:cNvPr id="32836" name="Line 68"/>
                <p:cNvSpPr>
                  <a:spLocks noChangeShapeType="1"/>
                </p:cNvSpPr>
                <p:nvPr/>
              </p:nvSpPr>
              <p:spPr bwMode="auto">
                <a:xfrm>
                  <a:off x="1536" y="21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835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124" y="2256"/>
                  <a:ext cx="714" cy="144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1" i="0" u="none" strike="noStrike" cap="none" normalizeH="0" baseline="0" dirty="0" err="1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Enterococci</a:t>
                  </a:r>
                  <a:endParaRPr kumimoji="0" 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32832" name="Line 64"/>
            <p:cNvSpPr>
              <a:spLocks noChangeShapeType="1"/>
            </p:cNvSpPr>
            <p:nvPr/>
          </p:nvSpPr>
          <p:spPr bwMode="auto">
            <a:xfrm flipH="1">
              <a:off x="1790" y="1392"/>
              <a:ext cx="4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31" name="Line 63"/>
            <p:cNvSpPr>
              <a:spLocks noChangeShapeType="1"/>
            </p:cNvSpPr>
            <p:nvPr/>
          </p:nvSpPr>
          <p:spPr bwMode="auto">
            <a:xfrm>
              <a:off x="1790" y="1392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30" name="Line 62"/>
            <p:cNvSpPr>
              <a:spLocks noChangeShapeType="1"/>
            </p:cNvSpPr>
            <p:nvPr/>
          </p:nvSpPr>
          <p:spPr bwMode="auto">
            <a:xfrm>
              <a:off x="2324" y="1469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2990" y="1699"/>
              <a:ext cx="802" cy="40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Esculin</a:t>
              </a: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 (-)</a:t>
              </a: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NaCl</a:t>
              </a: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  (-)</a:t>
              </a: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Taxo</a:t>
              </a: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 P sensitive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28" name="Line 60"/>
            <p:cNvSpPr>
              <a:spLocks noChangeShapeType="1"/>
            </p:cNvSpPr>
            <p:nvPr/>
          </p:nvSpPr>
          <p:spPr bwMode="auto">
            <a:xfrm>
              <a:off x="3230" y="2083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2829" y="2227"/>
              <a:ext cx="814" cy="173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S. pneumoniae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826" name="Line 58"/>
            <p:cNvSpPr>
              <a:spLocks noChangeShapeType="1"/>
            </p:cNvSpPr>
            <p:nvPr/>
          </p:nvSpPr>
          <p:spPr bwMode="auto">
            <a:xfrm>
              <a:off x="2496" y="52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25" name="Line 57"/>
            <p:cNvSpPr>
              <a:spLocks noChangeShapeType="1"/>
            </p:cNvSpPr>
            <p:nvPr/>
          </p:nvSpPr>
          <p:spPr bwMode="auto">
            <a:xfrm>
              <a:off x="2282" y="2016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2772" name="Group 4"/>
            <p:cNvGrpSpPr>
              <a:grpSpLocks/>
            </p:cNvGrpSpPr>
            <p:nvPr/>
          </p:nvGrpSpPr>
          <p:grpSpPr bwMode="auto">
            <a:xfrm>
              <a:off x="3305" y="835"/>
              <a:ext cx="2218" cy="3101"/>
              <a:chOff x="3305" y="960"/>
              <a:chExt cx="2218" cy="3101"/>
            </a:xfrm>
          </p:grpSpPr>
          <p:sp>
            <p:nvSpPr>
              <p:cNvPr id="32824" name="Text Box 56"/>
              <p:cNvSpPr txBox="1">
                <a:spLocks noChangeArrowheads="1"/>
              </p:cNvSpPr>
              <p:nvPr/>
            </p:nvSpPr>
            <p:spPr bwMode="auto">
              <a:xfrm>
                <a:off x="3731" y="960"/>
                <a:ext cx="728" cy="221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Streptococci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23" name="Line 55"/>
              <p:cNvSpPr>
                <a:spLocks noChangeShapeType="1"/>
              </p:cNvSpPr>
              <p:nvPr/>
            </p:nvSpPr>
            <p:spPr bwMode="auto">
              <a:xfrm>
                <a:off x="4032" y="11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22" name="Text Box 54"/>
              <p:cNvSpPr txBox="1">
                <a:spLocks noChangeArrowheads="1"/>
              </p:cNvSpPr>
              <p:nvPr/>
            </p:nvSpPr>
            <p:spPr bwMode="auto">
              <a:xfrm>
                <a:off x="3640" y="1248"/>
                <a:ext cx="81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Hemolysis (BAP)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21" name="Line 53"/>
              <p:cNvSpPr>
                <a:spLocks noChangeShapeType="1"/>
              </p:cNvSpPr>
              <p:nvPr/>
            </p:nvSpPr>
            <p:spPr bwMode="auto">
              <a:xfrm>
                <a:off x="3744" y="1392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20" name="Text Box 52"/>
              <p:cNvSpPr txBox="1">
                <a:spLocks noChangeArrowheads="1"/>
              </p:cNvSpPr>
              <p:nvPr/>
            </p:nvSpPr>
            <p:spPr bwMode="auto">
              <a:xfrm>
                <a:off x="3825" y="2179"/>
                <a:ext cx="303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Beta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9" name="Rectangle 51"/>
              <p:cNvSpPr>
                <a:spLocks noChangeArrowheads="1"/>
              </p:cNvSpPr>
              <p:nvPr/>
            </p:nvSpPr>
            <p:spPr bwMode="auto">
              <a:xfrm>
                <a:off x="3596" y="3120"/>
                <a:ext cx="23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(+)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8" name="Rectangle 50"/>
              <p:cNvSpPr>
                <a:spLocks noChangeArrowheads="1"/>
              </p:cNvSpPr>
              <p:nvPr/>
            </p:nvSpPr>
            <p:spPr bwMode="auto">
              <a:xfrm>
                <a:off x="4598" y="3120"/>
                <a:ext cx="21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(-)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7" name="Line 49"/>
              <p:cNvSpPr>
                <a:spLocks noChangeShapeType="1"/>
              </p:cNvSpPr>
              <p:nvPr/>
            </p:nvSpPr>
            <p:spPr bwMode="auto">
              <a:xfrm>
                <a:off x="3974" y="235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16" name="Text Box 48"/>
              <p:cNvSpPr txBox="1">
                <a:spLocks noChangeArrowheads="1"/>
              </p:cNvSpPr>
              <p:nvPr/>
            </p:nvSpPr>
            <p:spPr bwMode="auto">
              <a:xfrm>
                <a:off x="3825" y="2400"/>
                <a:ext cx="41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Taxo A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5" name="Line 47"/>
              <p:cNvSpPr>
                <a:spLocks noChangeShapeType="1"/>
              </p:cNvSpPr>
              <p:nvPr/>
            </p:nvSpPr>
            <p:spPr bwMode="auto">
              <a:xfrm flipH="1">
                <a:off x="3830" y="254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14" name="Line 46"/>
              <p:cNvSpPr>
                <a:spLocks noChangeShapeType="1"/>
              </p:cNvSpPr>
              <p:nvPr/>
            </p:nvSpPr>
            <p:spPr bwMode="auto">
              <a:xfrm rot="16380767" flipH="1">
                <a:off x="4070" y="254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13" name="Text Box 45"/>
              <p:cNvSpPr txBox="1">
                <a:spLocks noChangeArrowheads="1"/>
              </p:cNvSpPr>
              <p:nvPr/>
            </p:nvSpPr>
            <p:spPr bwMode="auto">
              <a:xfrm>
                <a:off x="3439" y="2592"/>
                <a:ext cx="57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Sensitive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2" name="Line 44"/>
              <p:cNvSpPr>
                <a:spLocks noChangeShapeType="1"/>
              </p:cNvSpPr>
              <p:nvPr/>
            </p:nvSpPr>
            <p:spPr bwMode="auto">
              <a:xfrm>
                <a:off x="3792" y="273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11" name="Text Box 43"/>
              <p:cNvSpPr txBox="1">
                <a:spLocks noChangeArrowheads="1"/>
              </p:cNvSpPr>
              <p:nvPr/>
            </p:nvSpPr>
            <p:spPr bwMode="auto">
              <a:xfrm>
                <a:off x="3393" y="2832"/>
                <a:ext cx="580" cy="288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Group A</a:t>
                </a:r>
                <a:endPara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1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S. pyogenes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0" name="Text Box 42"/>
              <p:cNvSpPr txBox="1">
                <a:spLocks noChangeArrowheads="1"/>
              </p:cNvSpPr>
              <p:nvPr/>
            </p:nvSpPr>
            <p:spPr bwMode="auto">
              <a:xfrm>
                <a:off x="4010" y="2592"/>
                <a:ext cx="715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Resistant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09" name="Line 41"/>
              <p:cNvSpPr>
                <a:spLocks noChangeShapeType="1"/>
              </p:cNvSpPr>
              <p:nvPr/>
            </p:nvSpPr>
            <p:spPr bwMode="auto">
              <a:xfrm>
                <a:off x="4214" y="2736"/>
                <a:ext cx="0" cy="3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08" name="Text Box 40"/>
              <p:cNvSpPr txBox="1">
                <a:spLocks noChangeArrowheads="1"/>
              </p:cNvSpPr>
              <p:nvPr/>
            </p:nvSpPr>
            <p:spPr bwMode="auto">
              <a:xfrm>
                <a:off x="3913" y="3120"/>
                <a:ext cx="60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CAMP Test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07" name="Line 39"/>
              <p:cNvSpPr>
                <a:spLocks noChangeShapeType="1"/>
              </p:cNvSpPr>
              <p:nvPr/>
            </p:nvSpPr>
            <p:spPr bwMode="auto">
              <a:xfrm flipH="1">
                <a:off x="3782" y="321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06" name="Line 38"/>
              <p:cNvSpPr>
                <a:spLocks noChangeShapeType="1"/>
              </p:cNvSpPr>
              <p:nvPr/>
            </p:nvSpPr>
            <p:spPr bwMode="auto">
              <a:xfrm flipH="1">
                <a:off x="4454" y="321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05" name="Line 37"/>
              <p:cNvSpPr>
                <a:spLocks noChangeShapeType="1"/>
              </p:cNvSpPr>
              <p:nvPr/>
            </p:nvSpPr>
            <p:spPr bwMode="auto">
              <a:xfrm>
                <a:off x="3728" y="3293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04" name="Text Box 36"/>
              <p:cNvSpPr txBox="1">
                <a:spLocks noChangeArrowheads="1"/>
              </p:cNvSpPr>
              <p:nvPr/>
            </p:nvSpPr>
            <p:spPr bwMode="auto">
              <a:xfrm>
                <a:off x="3305" y="3389"/>
                <a:ext cx="624" cy="288"/>
              </a:xfrm>
              <a:prstGeom prst="rect">
                <a:avLst/>
              </a:prstGeom>
              <a:solidFill>
                <a:srgbClr val="CCCC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Group B</a:t>
                </a:r>
                <a:endPara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1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S. agalactiae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791" name="Group 23"/>
              <p:cNvGrpSpPr>
                <a:grpSpLocks/>
              </p:cNvGrpSpPr>
              <p:nvPr/>
            </p:nvGrpSpPr>
            <p:grpSpPr bwMode="auto">
              <a:xfrm>
                <a:off x="3838" y="3293"/>
                <a:ext cx="1560" cy="768"/>
                <a:chOff x="3829" y="3293"/>
                <a:chExt cx="1560" cy="768"/>
              </a:xfrm>
            </p:grpSpPr>
            <p:sp>
              <p:nvSpPr>
                <p:cNvPr id="32803" name="Line 35"/>
                <p:cNvSpPr>
                  <a:spLocks noChangeShapeType="1"/>
                </p:cNvSpPr>
                <p:nvPr/>
              </p:nvSpPr>
              <p:spPr bwMode="auto">
                <a:xfrm rot="1334941">
                  <a:off x="4598" y="3293"/>
                  <a:ext cx="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802" name="Line 34"/>
                <p:cNvSpPr>
                  <a:spLocks noChangeShapeType="1"/>
                </p:cNvSpPr>
                <p:nvPr/>
              </p:nvSpPr>
              <p:spPr bwMode="auto">
                <a:xfrm rot="-877253">
                  <a:off x="4809" y="3293"/>
                  <a:ext cx="1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32797" name="Group 29"/>
                <p:cNvGrpSpPr>
                  <a:grpSpLocks/>
                </p:cNvGrpSpPr>
                <p:nvPr/>
              </p:nvGrpSpPr>
              <p:grpSpPr bwMode="auto">
                <a:xfrm>
                  <a:off x="4584" y="3389"/>
                  <a:ext cx="805" cy="672"/>
                  <a:chOff x="4738" y="2669"/>
                  <a:chExt cx="805" cy="672"/>
                </a:xfrm>
              </p:grpSpPr>
              <p:grpSp>
                <p:nvGrpSpPr>
                  <p:cNvPr id="32799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4738" y="2669"/>
                    <a:ext cx="805" cy="672"/>
                    <a:chOff x="1905" y="1872"/>
                    <a:chExt cx="805" cy="672"/>
                  </a:xfrm>
                </p:grpSpPr>
                <p:sp>
                  <p:nvSpPr>
                    <p:cNvPr id="32801" name="Text Box 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64" y="1872"/>
                      <a:ext cx="569" cy="28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Esculin (+)</a:t>
                      </a: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NaCl     (-)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800" name="Text Box 3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05" y="2256"/>
                      <a:ext cx="805" cy="288"/>
                    </a:xfrm>
                    <a:prstGeom prst="rect">
                      <a:avLst/>
                    </a:prstGeom>
                    <a:solidFill>
                      <a:srgbClr val="CCCC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Group D</a:t>
                      </a: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Non-Enterococci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sp>
                <p:nvSpPr>
                  <p:cNvPr id="32798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2957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2792" name="Group 24"/>
                <p:cNvGrpSpPr>
                  <a:grpSpLocks/>
                </p:cNvGrpSpPr>
                <p:nvPr/>
              </p:nvGrpSpPr>
              <p:grpSpPr bwMode="auto">
                <a:xfrm>
                  <a:off x="3829" y="3389"/>
                  <a:ext cx="866" cy="576"/>
                  <a:chOff x="4035" y="2669"/>
                  <a:chExt cx="866" cy="576"/>
                </a:xfrm>
              </p:grpSpPr>
              <p:sp>
                <p:nvSpPr>
                  <p:cNvPr id="32796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09" y="2669"/>
                    <a:ext cx="59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rPr>
                      <a:t>Esculin (+)</a:t>
                    </a:r>
                    <a:endParaRPr kumimoji="0" lang="en-US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rPr>
                      <a:t>NaCl     (+) 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32793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4035" y="2957"/>
                    <a:ext cx="720" cy="288"/>
                    <a:chOff x="1118" y="2160"/>
                    <a:chExt cx="720" cy="288"/>
                  </a:xfrm>
                </p:grpSpPr>
                <p:sp>
                  <p:nvSpPr>
                    <p:cNvPr id="3279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2160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794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18" y="2256"/>
                      <a:ext cx="720" cy="192"/>
                    </a:xfrm>
                    <a:prstGeom prst="rect">
                      <a:avLst/>
                    </a:prstGeom>
                    <a:solidFill>
                      <a:srgbClr val="CCCC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Enterococci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2790" name="Line 22"/>
              <p:cNvSpPr>
                <a:spLocks noChangeShapeType="1"/>
              </p:cNvSpPr>
              <p:nvPr/>
            </p:nvSpPr>
            <p:spPr bwMode="auto">
              <a:xfrm>
                <a:off x="3978" y="1398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2773" name="Group 5"/>
              <p:cNvGrpSpPr>
                <a:grpSpLocks/>
              </p:cNvGrpSpPr>
              <p:nvPr/>
            </p:nvGrpSpPr>
            <p:grpSpPr bwMode="auto">
              <a:xfrm>
                <a:off x="4080" y="1392"/>
                <a:ext cx="1443" cy="977"/>
                <a:chOff x="4205" y="1404"/>
                <a:chExt cx="1443" cy="977"/>
              </a:xfrm>
            </p:grpSpPr>
            <p:sp>
              <p:nvSpPr>
                <p:cNvPr id="3278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739" y="1459"/>
                  <a:ext cx="447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1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Gamma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788" name="Line 20"/>
                <p:cNvSpPr>
                  <a:spLocks noChangeShapeType="1"/>
                </p:cNvSpPr>
                <p:nvPr/>
              </p:nvSpPr>
              <p:spPr bwMode="auto">
                <a:xfrm>
                  <a:off x="4342" y="14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787" name="Line 19"/>
                <p:cNvSpPr>
                  <a:spLocks noChangeShapeType="1"/>
                </p:cNvSpPr>
                <p:nvPr/>
              </p:nvSpPr>
              <p:spPr bwMode="auto">
                <a:xfrm>
                  <a:off x="4342" y="1548"/>
                  <a:ext cx="4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32774" name="Group 6"/>
                <p:cNvGrpSpPr>
                  <a:grpSpLocks/>
                </p:cNvGrpSpPr>
                <p:nvPr/>
              </p:nvGrpSpPr>
              <p:grpSpPr bwMode="auto">
                <a:xfrm>
                  <a:off x="4205" y="1613"/>
                  <a:ext cx="1443" cy="768"/>
                  <a:chOff x="3946" y="3293"/>
                  <a:chExt cx="1443" cy="768"/>
                </a:xfrm>
              </p:grpSpPr>
              <p:sp>
                <p:nvSpPr>
                  <p:cNvPr id="32786" name="Line 18"/>
                  <p:cNvSpPr>
                    <a:spLocks noChangeShapeType="1"/>
                  </p:cNvSpPr>
                  <p:nvPr/>
                </p:nvSpPr>
                <p:spPr bwMode="auto">
                  <a:xfrm rot="1334941">
                    <a:off x="4598" y="3293"/>
                    <a:ext cx="1" cy="9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2785" name="Line 17"/>
                  <p:cNvSpPr>
                    <a:spLocks noChangeShapeType="1"/>
                  </p:cNvSpPr>
                  <p:nvPr/>
                </p:nvSpPr>
                <p:spPr bwMode="auto">
                  <a:xfrm rot="-877253">
                    <a:off x="4809" y="3293"/>
                    <a:ext cx="1" cy="9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32780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4584" y="3389"/>
                    <a:ext cx="805" cy="672"/>
                    <a:chOff x="4738" y="2669"/>
                    <a:chExt cx="805" cy="672"/>
                  </a:xfrm>
                </p:grpSpPr>
                <p:grpSp>
                  <p:nvGrpSpPr>
                    <p:cNvPr id="32782" name="Group 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8" y="2669"/>
                      <a:ext cx="805" cy="672"/>
                      <a:chOff x="1905" y="1872"/>
                      <a:chExt cx="805" cy="672"/>
                    </a:xfrm>
                  </p:grpSpPr>
                  <p:sp>
                    <p:nvSpPr>
                      <p:cNvPr id="32784" name="Text Box 1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64" y="1872"/>
                        <a:ext cx="569" cy="2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Arial" pitchFamily="34" charset="0"/>
                            <a:ea typeface="Times New Roman" pitchFamily="18" charset="0"/>
                            <a:cs typeface="Arial" pitchFamily="34" charset="0"/>
                          </a:rPr>
                          <a:t>Esculin (+)</a:t>
                        </a:r>
                        <a:endPara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Arial" pitchFamily="34" charset="0"/>
                            <a:ea typeface="Times New Roman" pitchFamily="18" charset="0"/>
                            <a:cs typeface="Arial" pitchFamily="34" charset="0"/>
                          </a:rPr>
                          <a:t>NaCl     (-) 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sp>
                    <p:nvSpPr>
                      <p:cNvPr id="32783" name="Text Box 1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905" y="2256"/>
                        <a:ext cx="805" cy="288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Arial" pitchFamily="34" charset="0"/>
                            <a:ea typeface="Times New Roman" pitchFamily="18" charset="0"/>
                            <a:cs typeface="Arial" pitchFamily="34" charset="0"/>
                          </a:rPr>
                          <a:t>Group D</a:t>
                        </a:r>
                        <a:endPara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Arial" pitchFamily="34" charset="0"/>
                            <a:ea typeface="Times New Roman" pitchFamily="18" charset="0"/>
                            <a:cs typeface="Arial" pitchFamily="34" charset="0"/>
                          </a:rPr>
                          <a:t>Non-Enterococci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</p:grpSp>
                <p:sp>
                  <p:nvSpPr>
                    <p:cNvPr id="32781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88" y="2957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2775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3946" y="3389"/>
                    <a:ext cx="749" cy="540"/>
                    <a:chOff x="4152" y="2669"/>
                    <a:chExt cx="749" cy="540"/>
                  </a:xfrm>
                </p:grpSpPr>
                <p:sp>
                  <p:nvSpPr>
                    <p:cNvPr id="32779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09" y="2669"/>
                      <a:ext cx="592" cy="28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Esculin (+)</a:t>
                      </a: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NaCl     (+)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grpSp>
                  <p:nvGrpSpPr>
                    <p:cNvPr id="32776" name="Group 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52" y="2957"/>
                      <a:ext cx="734" cy="252"/>
                      <a:chOff x="1235" y="2160"/>
                      <a:chExt cx="734" cy="252"/>
                    </a:xfrm>
                  </p:grpSpPr>
                  <p:sp>
                    <p:nvSpPr>
                      <p:cNvPr id="32778" name="Line 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2160"/>
                        <a:ext cx="0" cy="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2777" name="Text Box 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35" y="2256"/>
                        <a:ext cx="734" cy="156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1" i="0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Arial" pitchFamily="34" charset="0"/>
                            <a:ea typeface="Times New Roman" pitchFamily="18" charset="0"/>
                            <a:cs typeface="Arial" pitchFamily="34" charset="0"/>
                          </a:rPr>
                          <a:t>Enterococci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32771" name="Rectangle 3"/>
            <p:cNvSpPr>
              <a:spLocks noChangeArrowheads="1"/>
            </p:cNvSpPr>
            <p:nvPr/>
          </p:nvSpPr>
          <p:spPr bwMode="auto">
            <a:xfrm>
              <a:off x="284" y="336"/>
              <a:ext cx="5239" cy="36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70" name="Line 2"/>
            <p:cNvSpPr>
              <a:spLocks noChangeShapeType="1"/>
            </p:cNvSpPr>
            <p:nvPr/>
          </p:nvSpPr>
          <p:spPr bwMode="auto">
            <a:xfrm>
              <a:off x="3230" y="144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898" name="Rectangle 130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Flowchart 1:  </a:t>
            </a:r>
            <a:r>
              <a:rPr kumimoji="0" lang="en-US" sz="1400" b="1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Basic Biochemical Tests for Differentiating Gram-Positive Cocci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1200" y="220980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s.albus</a:t>
            </a:r>
            <a:endParaRPr lang="en-US" sz="1600" dirty="0"/>
          </a:p>
        </p:txBody>
      </p:sp>
      <p:sp>
        <p:nvSpPr>
          <p:cNvPr id="96" name="TextBox 95"/>
          <p:cNvSpPr txBox="1"/>
          <p:nvPr/>
        </p:nvSpPr>
        <p:spPr>
          <a:xfrm>
            <a:off x="1752600" y="2438400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Nov</a:t>
            </a:r>
            <a:r>
              <a:rPr lang="en-US" sz="1100" dirty="0" smtClean="0"/>
              <a:t>o +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6827510" cy="641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en-US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2"/>
              </a:rPr>
              <a:t>xt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2"/>
              </a:rPr>
              <a:t> Books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The </a:t>
            </a:r>
            <a:r>
              <a:rPr kumimoji="0" 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HELP_ME!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Gram positive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coccus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Flow Determination Chart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en-US" sz="30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Last update 7.2013</a:t>
            </a:r>
          </a:p>
        </p:txBody>
      </p:sp>
      <p:pic>
        <p:nvPicPr>
          <p:cNvPr id="1026" name="Picture 2" descr="Heliobacter pylori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5" y="-5191125"/>
            <a:ext cx="952500" cy="561975"/>
          </a:xfrm>
          <a:prstGeom prst="rect">
            <a:avLst/>
          </a:prstGeom>
          <a:noFill/>
        </p:spPr>
      </p:pic>
      <p:pic>
        <p:nvPicPr>
          <p:cNvPr id="1028" name="Picture 4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3009900"/>
            <a:ext cx="171450" cy="171450"/>
          </a:xfrm>
          <a:prstGeom prst="rect">
            <a:avLst/>
          </a:prstGeom>
          <a:noFill/>
        </p:spPr>
      </p:pic>
      <p:pic>
        <p:nvPicPr>
          <p:cNvPr id="1029" name="Picture 5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2735263"/>
            <a:ext cx="171450" cy="171450"/>
          </a:xfrm>
          <a:prstGeom prst="rect">
            <a:avLst/>
          </a:prstGeom>
          <a:noFill/>
        </p:spPr>
      </p:pic>
      <p:pic>
        <p:nvPicPr>
          <p:cNvPr id="1030" name="Picture 6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2460625"/>
            <a:ext cx="171450" cy="171450"/>
          </a:xfrm>
          <a:prstGeom prst="rect">
            <a:avLst/>
          </a:prstGeom>
          <a:noFill/>
        </p:spPr>
      </p:pic>
      <p:pic>
        <p:nvPicPr>
          <p:cNvPr id="1031" name="Picture 7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2185988"/>
            <a:ext cx="171450" cy="171450"/>
          </a:xfrm>
          <a:prstGeom prst="rect">
            <a:avLst/>
          </a:prstGeom>
          <a:noFill/>
        </p:spPr>
      </p:pic>
      <p:pic>
        <p:nvPicPr>
          <p:cNvPr id="1032" name="Picture 8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1362075"/>
            <a:ext cx="171450" cy="171450"/>
          </a:xfrm>
          <a:prstGeom prst="rect">
            <a:avLst/>
          </a:prstGeom>
          <a:noFill/>
        </p:spPr>
      </p:pic>
      <p:pic>
        <p:nvPicPr>
          <p:cNvPr id="1033" name="Picture 9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1087438"/>
            <a:ext cx="171450" cy="171450"/>
          </a:xfrm>
          <a:prstGeom prst="rect">
            <a:avLst/>
          </a:prstGeom>
          <a:noFill/>
        </p:spPr>
      </p:pic>
      <p:pic>
        <p:nvPicPr>
          <p:cNvPr id="1034" name="Picture 10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812800"/>
            <a:ext cx="171450" cy="171450"/>
          </a:xfrm>
          <a:prstGeom prst="rect">
            <a:avLst/>
          </a:prstGeom>
          <a:noFill/>
        </p:spPr>
      </p:pic>
      <p:pic>
        <p:nvPicPr>
          <p:cNvPr id="1035" name="Picture 11" descr="http://www.austincc.edu/rlewis3/graphics/GRENBULL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5" y="-538163"/>
            <a:ext cx="171450" cy="171450"/>
          </a:xfrm>
          <a:prstGeom prst="rect">
            <a:avLst/>
          </a:prstGeom>
          <a:noFill/>
        </p:spPr>
      </p:pic>
      <p:pic>
        <p:nvPicPr>
          <p:cNvPr id="1036" name="Picture 12" descr="http://www.austincc.edu/rlewis3/graphics/G-pos-flow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5575" y="285750"/>
            <a:ext cx="8743950" cy="6343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664px-Gram_Positive_Classification_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1" y="152400"/>
            <a:ext cx="9075659" cy="647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8229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The Streptococci: </a:t>
            </a:r>
          </a:p>
          <a:p>
            <a:r>
              <a:rPr lang="en-US" sz="3200" dirty="0" smtClean="0"/>
              <a:t>The streptococci are gram-positive spherical bacteria that characteristically form pairs or chains during growth. They are widely distributed in nature. Some are members of the normal human flora; others are associated with important human diseases attributable in part to infection by streptococci, in part to sensitization to them. </a:t>
            </a:r>
            <a:r>
              <a:rPr lang="en-US" sz="3200" b="1" dirty="0" smtClean="0"/>
              <a:t>Streptococci elaborate a variety of extracellular substances and enzymes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5344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u="sng" dirty="0" smtClean="0"/>
              <a:t>Classification of Streptococci</a:t>
            </a:r>
          </a:p>
          <a:p>
            <a:r>
              <a:rPr lang="en-US" sz="3200" dirty="0" smtClean="0"/>
              <a:t>The classification of streptococci into major categories has been based on: (1) colony morphology and hemolytic reactions on blood agar; (2) serologic specificity of the cell wall group-specific substance and other cell wall or capsular antigens; (3) biochemical reactions and resistance to physical and chemical factors; and (4) ecologic features. Molecular genetics have also been used to study the streptococci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09600"/>
            <a:ext cx="3657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pyogenes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565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agalactiae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381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dysgalactiae</a:t>
            </a:r>
            <a:r>
              <a:rPr lang="en-US" dirty="0" smtClean="0"/>
              <a:t> subspecies </a:t>
            </a:r>
            <a:r>
              <a:rPr lang="en-US" i="1" dirty="0" err="1" smtClean="0"/>
              <a:t>equisimilis</a:t>
            </a:r>
            <a:r>
              <a:rPr lang="en-US" i="1" dirty="0" smtClean="0"/>
              <a:t>;</a:t>
            </a:r>
            <a:r>
              <a:rPr lang="en-US" dirty="0" smtClean="0"/>
              <a:t> others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2362200"/>
            <a:ext cx="4352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 smtClean="0"/>
              <a:t>Enterococcus</a:t>
            </a:r>
            <a:r>
              <a:rPr lang="en-US" i="1" dirty="0" smtClean="0"/>
              <a:t> </a:t>
            </a:r>
            <a:r>
              <a:rPr lang="en-US" i="1" dirty="0" err="1" smtClean="0"/>
              <a:t>faecalis</a:t>
            </a:r>
            <a:r>
              <a:rPr lang="en-US" dirty="0" smtClean="0"/>
              <a:t> (and other </a:t>
            </a:r>
            <a:r>
              <a:rPr lang="en-US" dirty="0" err="1" smtClean="0"/>
              <a:t>enterococci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2743200"/>
            <a:ext cx="3889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bovis</a:t>
            </a:r>
            <a:r>
              <a:rPr lang="en-US" dirty="0" smtClean="0"/>
              <a:t> (non-</a:t>
            </a:r>
            <a:r>
              <a:rPr lang="en-US" dirty="0" err="1" smtClean="0"/>
              <a:t>enterococcus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4800" y="3200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anginosus</a:t>
            </a:r>
            <a:r>
              <a:rPr lang="en-US" dirty="0" smtClean="0"/>
              <a:t> group (</a:t>
            </a:r>
            <a:r>
              <a:rPr lang="en-US" i="1" dirty="0" smtClean="0"/>
              <a:t>S </a:t>
            </a:r>
            <a:r>
              <a:rPr lang="en-US" i="1" dirty="0" err="1" smtClean="0"/>
              <a:t>anginosus</a:t>
            </a:r>
            <a:r>
              <a:rPr lang="en-US" i="1" dirty="0" smtClean="0"/>
              <a:t>, S </a:t>
            </a:r>
            <a:r>
              <a:rPr lang="en-US" i="1" dirty="0" err="1" smtClean="0"/>
              <a:t>intermedius</a:t>
            </a:r>
            <a:r>
              <a:rPr lang="en-US" i="1" dirty="0" smtClean="0"/>
              <a:t>, S </a:t>
            </a:r>
            <a:r>
              <a:rPr lang="en-US" i="1" dirty="0" err="1" smtClean="0"/>
              <a:t>constellatus</a:t>
            </a:r>
            <a:r>
              <a:rPr lang="en-US" i="1" dirty="0" smtClean="0"/>
              <a:t>, S </a:t>
            </a:r>
            <a:r>
              <a:rPr lang="en-US" i="1" dirty="0" err="1" smtClean="0"/>
              <a:t>milleri</a:t>
            </a:r>
            <a:r>
              <a:rPr lang="en-US" dirty="0" smtClean="0"/>
              <a:t> group)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3515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Viridans</a:t>
            </a:r>
            <a:r>
              <a:rPr lang="en-US" dirty="0" smtClean="0"/>
              <a:t> streptococci (many species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4800" y="4648200"/>
            <a:ext cx="2751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pneumoniae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28600" y="5105400"/>
            <a:ext cx="3476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Peptostreptococcus</a:t>
            </a:r>
            <a:r>
              <a:rPr lang="en-US" dirty="0" smtClean="0"/>
              <a:t> (many species)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038600" y="6858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33800" y="12954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B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191000" y="17526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C, G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648200" y="2514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343400" y="28956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D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00600" y="33528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F, A, C, G, (</a:t>
            </a:r>
            <a:r>
              <a:rPr lang="en-US" dirty="0" err="1" smtClean="0"/>
              <a:t>untypable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38600" y="4038600"/>
            <a:ext cx="320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Usually not typed or </a:t>
            </a:r>
            <a:r>
              <a:rPr lang="en-US" dirty="0" err="1" smtClean="0"/>
              <a:t>untypable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52800" y="47244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none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733800" y="52578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None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09600" y="3048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895600" y="228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group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0" y="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Strept</a:t>
            </a:r>
            <a:r>
              <a:rPr lang="en-US" dirty="0" smtClean="0"/>
              <a:t> classification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Haemolysis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 smtClean="0"/>
              <a:t>Many streptococci are able to </a:t>
            </a:r>
            <a:r>
              <a:rPr lang="en-US" dirty="0" err="1" smtClean="0"/>
              <a:t>haemolyze</a:t>
            </a:r>
            <a:r>
              <a:rPr lang="en-US" dirty="0" smtClean="0"/>
              <a:t> red blood cells in-vitro in varying degrees.</a:t>
            </a:r>
          </a:p>
          <a:p>
            <a:pPr>
              <a:buNone/>
            </a:pPr>
            <a:r>
              <a:rPr lang="en-US" dirty="0" smtClean="0"/>
              <a:t>Complete disruption of erythrocytes with clearing of the blood around the bacterial growth is called </a:t>
            </a:r>
            <a:r>
              <a:rPr lang="el-GR" dirty="0" smtClean="0"/>
              <a:t>β</a:t>
            </a:r>
            <a:r>
              <a:rPr lang="en-US" dirty="0" smtClean="0"/>
              <a:t>-</a:t>
            </a:r>
            <a:r>
              <a:rPr lang="en-US" b="1" dirty="0" err="1" smtClean="0"/>
              <a:t>haemolysis</a:t>
            </a:r>
            <a:r>
              <a:rPr lang="en-US" b="1" dirty="0" smtClean="0"/>
              <a:t>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Incomplete </a:t>
            </a:r>
            <a:r>
              <a:rPr lang="en-US" dirty="0" err="1" smtClean="0"/>
              <a:t>lysis</a:t>
            </a:r>
            <a:r>
              <a:rPr lang="en-US" dirty="0" smtClean="0"/>
              <a:t> of erythrocytes with reduction of hemoglobin and the formation of green pigment is called </a:t>
            </a:r>
            <a:r>
              <a:rPr lang="el-GR" dirty="0" smtClean="0"/>
              <a:t>α</a:t>
            </a:r>
            <a:r>
              <a:rPr lang="en-US" dirty="0" smtClean="0"/>
              <a:t>-</a:t>
            </a:r>
            <a:r>
              <a:rPr lang="en-US" b="1" dirty="0" err="1" smtClean="0"/>
              <a:t>haemolysis</a:t>
            </a:r>
            <a:r>
              <a:rPr lang="en-US" b="1" dirty="0" smtClean="0"/>
              <a:t>. </a:t>
            </a:r>
          </a:p>
          <a:p>
            <a:pPr>
              <a:buNone/>
            </a:pPr>
            <a:r>
              <a:rPr lang="en-US" dirty="0" smtClean="0"/>
              <a:t>Other streptococci are non-hemolytic (sometimes called gamma </a:t>
            </a:r>
            <a:r>
              <a:rPr lang="en-US" dirty="0" err="1" smtClean="0"/>
              <a:t>hemolysis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>
            <a:normAutofit fontScale="90000"/>
          </a:bodyPr>
          <a:lstStyle/>
          <a:p>
            <a:pPr eaLnBrk="1" hangingPunct="1"/>
            <a:r>
              <a:rPr lang="en-US" smtClean="0"/>
              <a:t>Beta Hemolysis Around Strep Colonies</a:t>
            </a:r>
          </a:p>
        </p:txBody>
      </p:sp>
      <p:pic>
        <p:nvPicPr>
          <p:cNvPr id="35843" name="Picture 4" descr="f54-11-X24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36700" y="1466850"/>
            <a:ext cx="6032500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Box 3"/>
          <p:cNvSpPr txBox="1">
            <a:spLocks noChangeArrowheads="1"/>
          </p:cNvSpPr>
          <p:nvPr/>
        </p:nvSpPr>
        <p:spPr bwMode="auto">
          <a:xfrm>
            <a:off x="1524000" y="6172200"/>
            <a:ext cx="76200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From Stepp CA, Woods MA: </a:t>
            </a:r>
            <a:r>
              <a:rPr lang="en-US" sz="1000" i="1"/>
              <a:t>Laboratory procedures for medical office personnel</a:t>
            </a:r>
            <a:r>
              <a:rPr lang="en-US" sz="1000"/>
              <a:t>, Philadelphia, 1998, Saunders.</a:t>
            </a:r>
          </a:p>
        </p:txBody>
      </p:sp>
      <p:sp>
        <p:nvSpPr>
          <p:cNvPr id="5122" name="AutoShape 2" descr="https://encrypted-tbn2.gstatic.com/images?q=tbn:ANd9GcRiODcj7nGeJDiQGUp9_gx7Fd2x8kALQeID-jJDnsZgcLlS1tLN&amp;reload=on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4" name="AutoShape 4" descr="https://encrypted-tbn2.gstatic.com/images?q=tbn:ANd9GcRiODcj7nGeJDiQGUp9_gx7Fd2x8kALQeID-jJDnsZgcLlS1tLN&amp;reload=on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71415" tIns="-42849" rIns="71415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sz="30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6"/>
              </a:rPr>
              <a:t>Ad by greatsaver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 | 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7"/>
              </a:rPr>
              <a:t>Close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6"/>
              </a:rPr>
              <a:t>Ad by greatsaver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 | 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7"/>
              </a:rPr>
              <a:t>Close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131" name="ShockwaveFlash1" r:id="rId2" imgW="11160" imgH="11160"/>
        </mc:Choice>
        <mc:Fallback>
          <p:control name="ShockwaveFlash1" r:id="rId2" imgW="11160" imgH="11160">
            <p:pic>
              <p:nvPicPr>
                <p:cNvPr id="2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1113" cy="111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http://www.wikidoc.org/images/c/cc/Streptococcal_hemolysi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95400"/>
            <a:ext cx="7620000" cy="47625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http://www.wikidoc.org/images/c/cc/Streptococcal_hemolysi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-228600"/>
            <a:ext cx="7620000" cy="4762501"/>
          </a:xfrm>
          <a:prstGeom prst="rect">
            <a:avLst/>
          </a:prstGeom>
          <a:noFill/>
        </p:spPr>
      </p:pic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71415" tIns="-42849" rIns="71415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sz="30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5"/>
              </a:rPr>
              <a:t>Ad by greatsaver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 | 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6"/>
              </a:rPr>
              <a:t>Close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5"/>
              </a:rPr>
              <a:t>Ad by greatsaver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 | 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  <a:hlinkClick r:id="rId6"/>
              </a:rPr>
              <a:t>Close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8851" name="Picture 3" descr="http://iws.collin.edu/mweis/Microbiology/Lab/Lab%20Exercises/media_selective_differential/photos_media_selective_diff/micro_BAP_alpha_hemolysis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7200" y="0"/>
            <a:ext cx="6905625" cy="6324600"/>
          </a:xfrm>
          <a:prstGeom prst="rect">
            <a:avLst/>
          </a:prstGeom>
          <a:noFill/>
        </p:spPr>
      </p:pic>
    </p:spTree>
    <p:controls>
      <mc:AlternateContent xmlns:mc="http://schemas.openxmlformats.org/markup-compatibility/2006">
        <mc:Choice xmlns:v="urn:schemas-microsoft-com:vml" Requires="v">
          <p:control spid="78855" name="ShockwaveFlash1" r:id="rId2" imgW="11160" imgH="11160"/>
        </mc:Choice>
        <mc:Fallback>
          <p:control name="ShockwaveFlash1" r:id="rId2" imgW="11160" imgH="11160">
            <p:pic>
              <p:nvPicPr>
                <p:cNvPr id="3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11113" cy="111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>
                <a:solidFill>
                  <a:schemeClr val="tx2">
                    <a:satMod val="200000"/>
                  </a:schemeClr>
                </a:solidFill>
              </a:rPr>
              <a:t>Gram positive cocci in chains</a:t>
            </a:r>
          </a:p>
        </p:txBody>
      </p:sp>
      <p:pic>
        <p:nvPicPr>
          <p:cNvPr id="48131" name="Picture 4" descr="ppp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2031" y="1295400"/>
            <a:ext cx="8581292" cy="53340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Group-Specific Substance</a:t>
            </a:r>
            <a:br>
              <a:rPr lang="en-US" dirty="0" smtClean="0"/>
            </a:br>
            <a:r>
              <a:rPr lang="en-US" dirty="0" smtClean="0"/>
              <a:t> (Lancefield Classification)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Carbohydrates contained in the cell wall of many streptococci form the basis of serologic grouping into </a:t>
            </a:r>
            <a:r>
              <a:rPr lang="en-US" b="1" dirty="0" smtClean="0"/>
              <a:t>Lancefield groups A–H</a:t>
            </a:r>
            <a:r>
              <a:rPr lang="en-US" dirty="0" smtClean="0"/>
              <a:t> and </a:t>
            </a:r>
            <a:r>
              <a:rPr lang="en-US" b="1" dirty="0" smtClean="0"/>
              <a:t>K–U.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serologic specificity of the group-specific carbohydrate is determined by an amino sugar. </a:t>
            </a:r>
          </a:p>
          <a:p>
            <a:r>
              <a:rPr lang="en-US" dirty="0" smtClean="0"/>
              <a:t>For group A streptococci,---</a:t>
            </a:r>
            <a:r>
              <a:rPr lang="en-US" dirty="0" err="1" smtClean="0"/>
              <a:t>rhamnose</a:t>
            </a:r>
            <a:r>
              <a:rPr lang="en-US" dirty="0" smtClean="0"/>
              <a:t>-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dirty="0" err="1" smtClean="0"/>
              <a:t>acetylglucosamine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for group B, ---</a:t>
            </a:r>
            <a:r>
              <a:rPr lang="en-US" dirty="0" err="1" smtClean="0"/>
              <a:t>rhamnose</a:t>
            </a:r>
            <a:r>
              <a:rPr lang="en-US" dirty="0" smtClean="0"/>
              <a:t>-glucosamine polysaccharide; </a:t>
            </a:r>
          </a:p>
          <a:p>
            <a:r>
              <a:rPr lang="en-US" dirty="0" smtClean="0"/>
              <a:t>for group C, it is </a:t>
            </a:r>
            <a:r>
              <a:rPr lang="en-US" sz="2400" dirty="0" err="1" smtClean="0"/>
              <a:t>rhamnose</a:t>
            </a:r>
            <a:r>
              <a:rPr lang="en-US" sz="2400" dirty="0" smtClean="0"/>
              <a:t>-</a:t>
            </a:r>
            <a:r>
              <a:rPr lang="en-US" sz="2400" i="1" dirty="0" smtClean="0"/>
              <a:t>N</a:t>
            </a:r>
            <a:r>
              <a:rPr lang="en-US" sz="2400" dirty="0" smtClean="0"/>
              <a:t>-</a:t>
            </a:r>
            <a:r>
              <a:rPr lang="en-US" sz="2400" dirty="0" err="1" smtClean="0"/>
              <a:t>cetylgalactosamine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for group D, it is glycerol </a:t>
            </a:r>
            <a:r>
              <a:rPr lang="en-US" dirty="0" err="1" smtClean="0"/>
              <a:t>teichoic</a:t>
            </a:r>
            <a:r>
              <a:rPr lang="en-US" dirty="0" smtClean="0"/>
              <a:t> acid, D-</a:t>
            </a:r>
            <a:r>
              <a:rPr lang="en-US" dirty="0" err="1" smtClean="0"/>
              <a:t>alanine</a:t>
            </a:r>
            <a:r>
              <a:rPr lang="en-US" dirty="0" smtClean="0"/>
              <a:t> and glucose;</a:t>
            </a:r>
          </a:p>
          <a:p>
            <a:r>
              <a:rPr lang="en-US" dirty="0" smtClean="0"/>
              <a:t> and </a:t>
            </a:r>
          </a:p>
          <a:p>
            <a:r>
              <a:rPr lang="en-US" dirty="0" smtClean="0"/>
              <a:t>for group F, it is </a:t>
            </a:r>
            <a:r>
              <a:rPr lang="en-US" sz="2400" dirty="0" err="1" smtClean="0"/>
              <a:t>glucopyranosyl</a:t>
            </a:r>
            <a:r>
              <a:rPr lang="en-US" sz="2400" dirty="0" smtClean="0"/>
              <a:t>-</a:t>
            </a:r>
            <a:r>
              <a:rPr lang="en-US" sz="2400" i="1" dirty="0" smtClean="0"/>
              <a:t>N</a:t>
            </a:r>
            <a:r>
              <a:rPr lang="en-US" sz="2400" dirty="0" smtClean="0"/>
              <a:t>-</a:t>
            </a:r>
            <a:r>
              <a:rPr lang="en-US" sz="2400" dirty="0" err="1" smtClean="0"/>
              <a:t>acetylgalactosamine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Capsular Polysaccharides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antigenic specificity of the capsular polysaccharides is used to classify </a:t>
            </a:r>
            <a:r>
              <a:rPr lang="en-US" i="1" dirty="0" smtClean="0"/>
              <a:t>S </a:t>
            </a:r>
            <a:r>
              <a:rPr lang="en-US" i="1" dirty="0" err="1" smtClean="0"/>
              <a:t>pneumoniae</a:t>
            </a:r>
            <a:r>
              <a:rPr lang="en-US" dirty="0" smtClean="0"/>
              <a:t> into over 90 types and to type the group B streptococci (</a:t>
            </a:r>
            <a:r>
              <a:rPr lang="en-US" i="1" dirty="0" smtClean="0"/>
              <a:t>S. </a:t>
            </a:r>
            <a:r>
              <a:rPr lang="en-US" i="1" dirty="0" err="1" smtClean="0"/>
              <a:t>agalactiae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Biochemical Reactions</a:t>
            </a:r>
          </a:p>
          <a:p>
            <a:r>
              <a:rPr lang="en-US" sz="3200" dirty="0" smtClean="0"/>
              <a:t>Biochemical tests are most often used to classify streptococci after the colony growth and hemolytic characteristics have been observed. </a:t>
            </a:r>
          </a:p>
          <a:p>
            <a:endParaRPr lang="en-US" sz="3200" dirty="0" smtClean="0"/>
          </a:p>
          <a:p>
            <a:r>
              <a:rPr lang="en-US" sz="3200" dirty="0" smtClean="0"/>
              <a:t>Biochemical tests are used for species that typically do not react with the commonly used antibody preparations for the group-specific substances, groups A, B, C, F, and G.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Antigenic Structure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 Protein--This substance is a major virulence factor of group A (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i="1" dirty="0" smtClean="0"/>
              <a:t>)</a:t>
            </a:r>
          </a:p>
          <a:p>
            <a:r>
              <a:rPr lang="en-US" dirty="0" smtClean="0"/>
              <a:t>T Substance--This antigen has no relationship to virulence of streptococci.</a:t>
            </a:r>
          </a:p>
          <a:p>
            <a:r>
              <a:rPr lang="en-US" dirty="0" smtClean="0"/>
              <a:t>Nucleoproteins--</a:t>
            </a:r>
            <a:r>
              <a:rPr lang="en-US" b="1" dirty="0" smtClean="0"/>
              <a:t>P substances </a:t>
            </a:r>
            <a:r>
              <a:rPr lang="en-US" dirty="0" smtClean="0"/>
              <a:t>in </a:t>
            </a:r>
            <a:r>
              <a:rPr lang="en-US" dirty="0" err="1" smtClean="0"/>
              <a:t>cellwall</a:t>
            </a:r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Toxins &amp; Enzymes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than 20 extracellular </a:t>
            </a:r>
          </a:p>
          <a:p>
            <a:r>
              <a:rPr lang="en-US" dirty="0" smtClean="0"/>
              <a:t>Streptokinase (</a:t>
            </a:r>
            <a:r>
              <a:rPr lang="en-US" dirty="0" err="1" smtClean="0"/>
              <a:t>Fibrinolysin</a:t>
            </a:r>
            <a:r>
              <a:rPr lang="en-US" dirty="0" smtClean="0"/>
              <a:t>)--produced by many strains of group A -hemolytic streptococci</a:t>
            </a:r>
          </a:p>
          <a:p>
            <a:r>
              <a:rPr lang="en-US" dirty="0" err="1" smtClean="0"/>
              <a:t>Streptodornase</a:t>
            </a:r>
            <a:r>
              <a:rPr lang="en-US" dirty="0" smtClean="0"/>
              <a:t>--(streptococcal </a:t>
            </a:r>
            <a:r>
              <a:rPr lang="en-US" dirty="0" err="1" smtClean="0"/>
              <a:t>deoxyribonuclease</a:t>
            </a:r>
            <a:r>
              <a:rPr lang="en-US" dirty="0" smtClean="0"/>
              <a:t>) </a:t>
            </a:r>
            <a:r>
              <a:rPr lang="en-US" dirty="0" err="1" smtClean="0"/>
              <a:t>depolymerizes</a:t>
            </a:r>
            <a:r>
              <a:rPr lang="en-US" dirty="0" smtClean="0"/>
              <a:t> DNA.</a:t>
            </a:r>
          </a:p>
          <a:p>
            <a:r>
              <a:rPr lang="en-US" dirty="0" err="1" smtClean="0"/>
              <a:t>Hyaluronidase</a:t>
            </a:r>
            <a:r>
              <a:rPr lang="en-US" dirty="0" smtClean="0"/>
              <a:t>--splits </a:t>
            </a:r>
            <a:r>
              <a:rPr lang="en-US" dirty="0" err="1" smtClean="0"/>
              <a:t>hyaluronic</a:t>
            </a:r>
            <a:r>
              <a:rPr lang="en-US" dirty="0" smtClean="0"/>
              <a:t> acid, a ground substance of connective tissue.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Erythrogenic</a:t>
            </a:r>
            <a:r>
              <a:rPr lang="en-US" dirty="0" smtClean="0"/>
              <a:t> toxin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Pyrogenic</a:t>
            </a:r>
            <a:r>
              <a:rPr lang="en-US" dirty="0" smtClean="0"/>
              <a:t> </a:t>
            </a:r>
            <a:r>
              <a:rPr lang="en-US" dirty="0" err="1" smtClean="0"/>
              <a:t>Exotoxins</a:t>
            </a:r>
            <a:r>
              <a:rPr lang="en-US" dirty="0" smtClean="0"/>
              <a:t> (</a:t>
            </a:r>
            <a:r>
              <a:rPr lang="en-US" dirty="0" err="1" smtClean="0"/>
              <a:t>Erythrogenic</a:t>
            </a:r>
            <a:r>
              <a:rPr lang="en-US" dirty="0" smtClean="0"/>
              <a:t> Toxin)</a:t>
            </a:r>
          </a:p>
          <a:p>
            <a:r>
              <a:rPr lang="en-US" dirty="0" err="1" smtClean="0"/>
              <a:t>Pyrogenic</a:t>
            </a:r>
            <a:r>
              <a:rPr lang="en-US" dirty="0" smtClean="0"/>
              <a:t> </a:t>
            </a:r>
            <a:r>
              <a:rPr lang="en-US" dirty="0" err="1" smtClean="0"/>
              <a:t>exotoxins</a:t>
            </a:r>
            <a:r>
              <a:rPr lang="en-US" dirty="0" smtClean="0"/>
              <a:t> are elaborated by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There are three </a:t>
            </a:r>
            <a:r>
              <a:rPr lang="en-US" dirty="0" err="1" smtClean="0"/>
              <a:t>antigenically</a:t>
            </a:r>
            <a:r>
              <a:rPr lang="en-US" dirty="0" smtClean="0"/>
              <a:t> distinct </a:t>
            </a:r>
            <a:r>
              <a:rPr lang="en-US" b="1" dirty="0" smtClean="0"/>
              <a:t>streptococcal </a:t>
            </a:r>
            <a:r>
              <a:rPr lang="en-US" b="1" dirty="0" err="1" smtClean="0"/>
              <a:t>pyrogenic</a:t>
            </a:r>
            <a:r>
              <a:rPr lang="en-US" b="1" dirty="0" smtClean="0"/>
              <a:t> </a:t>
            </a:r>
            <a:r>
              <a:rPr lang="en-US" b="1" dirty="0" err="1" smtClean="0"/>
              <a:t>exotoxins</a:t>
            </a:r>
            <a:r>
              <a:rPr lang="en-US" b="1" dirty="0" smtClean="0"/>
              <a:t>: A, B, and C.</a:t>
            </a:r>
            <a:endParaRPr lang="en-US" dirty="0" smtClean="0"/>
          </a:p>
          <a:p>
            <a:r>
              <a:rPr lang="en-US" dirty="0" smtClean="0"/>
              <a:t>They are associated with </a:t>
            </a:r>
            <a:r>
              <a:rPr lang="en-US" b="1" dirty="0" smtClean="0"/>
              <a:t>streptococcal toxic shock syndrome</a:t>
            </a:r>
            <a:r>
              <a:rPr lang="en-US" dirty="0" smtClean="0"/>
              <a:t> and </a:t>
            </a:r>
            <a:r>
              <a:rPr lang="en-US" b="1" dirty="0" smtClean="0"/>
              <a:t>scarlet fever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Diphosphopyridine</a:t>
            </a:r>
            <a:r>
              <a:rPr lang="en-US" dirty="0" smtClean="0"/>
              <a:t> </a:t>
            </a:r>
            <a:r>
              <a:rPr lang="en-US" dirty="0" err="1" smtClean="0"/>
              <a:t>Nucleotidase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enzyme is elaborated into the environment by some streptococci, has ability to kill leukocytes.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Haemolysins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-hemolytic group A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 elaborates two </a:t>
            </a:r>
            <a:r>
              <a:rPr lang="en-US" dirty="0" err="1" smtClean="0"/>
              <a:t>haemolysins</a:t>
            </a:r>
            <a:r>
              <a:rPr lang="en-US" dirty="0" smtClean="0"/>
              <a:t> (</a:t>
            </a:r>
            <a:r>
              <a:rPr lang="en-US" dirty="0" err="1" smtClean="0"/>
              <a:t>streptolysins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b="1" dirty="0" err="1" smtClean="0"/>
              <a:t>Streptolysin</a:t>
            </a:r>
            <a:r>
              <a:rPr lang="en-US" b="1" dirty="0" smtClean="0"/>
              <a:t> O</a:t>
            </a:r>
            <a:r>
              <a:rPr lang="en-US" dirty="0" smtClean="0"/>
              <a:t> is a protein (MW 60,000) that is </a:t>
            </a:r>
            <a:r>
              <a:rPr lang="en-US" dirty="0" err="1" smtClean="0"/>
              <a:t>haemolytically</a:t>
            </a:r>
            <a:r>
              <a:rPr lang="en-US" dirty="0" smtClean="0"/>
              <a:t> active in the reduced state but rapidly inactivated in the presence of oxygen</a:t>
            </a:r>
          </a:p>
          <a:p>
            <a:r>
              <a:rPr lang="en-US" dirty="0" err="1" smtClean="0"/>
              <a:t>Streptolysin</a:t>
            </a:r>
            <a:r>
              <a:rPr lang="en-US" dirty="0" smtClean="0"/>
              <a:t> O is responsible for some of the </a:t>
            </a:r>
            <a:r>
              <a:rPr lang="en-US" dirty="0" err="1" smtClean="0"/>
              <a:t>haemolysis</a:t>
            </a:r>
            <a:r>
              <a:rPr lang="en-US" dirty="0" smtClean="0"/>
              <a:t> seen when grown on  BA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Diseases Attributable to Invasion by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 smtClean="0"/>
              <a:t>Β</a:t>
            </a:r>
            <a:r>
              <a:rPr lang="en-US" dirty="0" smtClean="0"/>
              <a:t>-</a:t>
            </a:r>
            <a:r>
              <a:rPr lang="en-US" dirty="0" err="1" smtClean="0"/>
              <a:t>Haemolytic</a:t>
            </a:r>
            <a:r>
              <a:rPr lang="en-US" dirty="0" smtClean="0"/>
              <a:t> Group A Streptococci</a:t>
            </a:r>
          </a:p>
          <a:p>
            <a:r>
              <a:rPr lang="en-US" dirty="0" smtClean="0"/>
              <a:t>The portal of entry determines the principal clinical picture.</a:t>
            </a:r>
          </a:p>
          <a:p>
            <a:r>
              <a:rPr lang="en-US" dirty="0" smtClean="0"/>
              <a:t>Erysipelas--</a:t>
            </a:r>
          </a:p>
          <a:p>
            <a:r>
              <a:rPr lang="en-US" dirty="0" smtClean="0"/>
              <a:t>If the portal of entry is the skin, erysipelas results, with massive brawny </a:t>
            </a:r>
            <a:r>
              <a:rPr lang="en-US" dirty="0" err="1" smtClean="0"/>
              <a:t>oedema</a:t>
            </a:r>
            <a:r>
              <a:rPr lang="en-US" dirty="0" smtClean="0"/>
              <a:t> and a rapidly advancing margin of infection.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Cellulitis</a:t>
            </a:r>
            <a:endParaRPr lang="en-US" dirty="0" smtClean="0"/>
          </a:p>
          <a:p>
            <a:r>
              <a:rPr lang="en-US" dirty="0" smtClean="0"/>
              <a:t>Streptococcal </a:t>
            </a:r>
            <a:r>
              <a:rPr lang="en-US" dirty="0" err="1" smtClean="0"/>
              <a:t>cellulitis</a:t>
            </a:r>
            <a:r>
              <a:rPr lang="en-US" dirty="0" smtClean="0"/>
              <a:t> is an acute, rapidly spreading infection of the skin and subcutaneous tissues. </a:t>
            </a:r>
          </a:p>
          <a:p>
            <a:r>
              <a:rPr lang="en-US" dirty="0" smtClean="0"/>
              <a:t>It follows infection associated with mild trauma, burns, wounds, or surgical incisions. Pain, tenderness, swelling, and </a:t>
            </a:r>
            <a:r>
              <a:rPr lang="en-US" dirty="0" err="1" smtClean="0"/>
              <a:t>erythema</a:t>
            </a:r>
            <a:r>
              <a:rPr lang="en-US" dirty="0" smtClean="0"/>
              <a:t> occur.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Necrotizing Fasciitis (Streptococcal Gangrene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is infection of the subcutaneous tissues and fascia. There is extensive and very rapidly spreading necrosis of the skin and subcutaneous tissues. </a:t>
            </a:r>
          </a:p>
          <a:p>
            <a:r>
              <a:rPr lang="en-US" dirty="0" smtClean="0"/>
              <a:t>Bacteria other than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 can also cause necrotizing fasciitis. The group A streptococci that cause necrotizing fasciitis have sometimes been termed "flesh-eating bacteria”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Puerperal Fever</a:t>
            </a:r>
          </a:p>
          <a:p>
            <a:r>
              <a:rPr lang="en-US" dirty="0" smtClean="0"/>
              <a:t>If the streptococci enter the uterus after delivery, puerperal fever develops, which is essentially a septicemia originating in the infected wound (</a:t>
            </a:r>
            <a:r>
              <a:rPr lang="en-US" dirty="0" err="1" smtClean="0"/>
              <a:t>endometritis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Bacteremia</a:t>
            </a:r>
            <a:r>
              <a:rPr lang="en-US" dirty="0" smtClean="0"/>
              <a:t>/Sepsis</a:t>
            </a:r>
          </a:p>
          <a:p>
            <a:r>
              <a:rPr lang="en-US" dirty="0" smtClean="0"/>
              <a:t>Infection of traumatic or surgical wounds with streptococci results in </a:t>
            </a:r>
            <a:r>
              <a:rPr lang="en-US" dirty="0" err="1" smtClean="0"/>
              <a:t>bacteremia</a:t>
            </a:r>
            <a:r>
              <a:rPr lang="en-US" dirty="0" smtClean="0"/>
              <a:t>, which rapidly can be fatal. </a:t>
            </a:r>
          </a:p>
          <a:p>
            <a:r>
              <a:rPr lang="en-US" i="1" dirty="0" smtClean="0"/>
              <a:t>S. </a:t>
            </a:r>
            <a:r>
              <a:rPr lang="en-US" i="1" dirty="0" err="1" smtClean="0"/>
              <a:t>pyogenes</a:t>
            </a:r>
            <a:r>
              <a:rPr lang="en-US" dirty="0" smtClean="0"/>
              <a:t> </a:t>
            </a:r>
            <a:r>
              <a:rPr lang="en-US" dirty="0" err="1" smtClean="0"/>
              <a:t>bacteremia</a:t>
            </a:r>
            <a:r>
              <a:rPr lang="en-US" dirty="0" smtClean="0"/>
              <a:t> can also follow skin infections, such as </a:t>
            </a:r>
            <a:r>
              <a:rPr lang="en-US" dirty="0" err="1" smtClean="0"/>
              <a:t>cellulitis</a:t>
            </a:r>
            <a:r>
              <a:rPr lang="en-US" dirty="0" smtClean="0"/>
              <a:t> and rarely </a:t>
            </a:r>
            <a:r>
              <a:rPr lang="en-US" dirty="0" err="1" smtClean="0"/>
              <a:t>pharyngitis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Streptococcal Sore Throat</a:t>
            </a:r>
          </a:p>
          <a:p>
            <a:r>
              <a:rPr lang="en-US" dirty="0" smtClean="0"/>
              <a:t>The most common infection due to </a:t>
            </a:r>
            <a:r>
              <a:rPr lang="el-GR" dirty="0" smtClean="0"/>
              <a:t>β</a:t>
            </a:r>
            <a:r>
              <a:rPr lang="en-US" dirty="0" smtClean="0"/>
              <a:t>-</a:t>
            </a:r>
            <a:r>
              <a:rPr lang="en-US" dirty="0" err="1" smtClean="0"/>
              <a:t>haemolytic</a:t>
            </a:r>
            <a:r>
              <a:rPr lang="en-US" dirty="0" smtClean="0"/>
              <a:t> </a:t>
            </a:r>
            <a:r>
              <a:rPr lang="en-US" i="1" dirty="0" smtClean="0"/>
              <a:t>S. </a:t>
            </a:r>
            <a:r>
              <a:rPr lang="en-US" i="1" dirty="0" err="1" smtClean="0"/>
              <a:t>pyogenes</a:t>
            </a:r>
            <a:r>
              <a:rPr lang="en-US" dirty="0" smtClean="0"/>
              <a:t> is streptococcal sore throat or </a:t>
            </a:r>
            <a:r>
              <a:rPr lang="en-US" dirty="0" err="1" smtClean="0"/>
              <a:t>pharyngitis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Streptococcal </a:t>
            </a:r>
            <a:r>
              <a:rPr lang="en-US" dirty="0" err="1" smtClean="0"/>
              <a:t>Pyoderma</a:t>
            </a:r>
            <a:endParaRPr lang="en-US" dirty="0" smtClean="0"/>
          </a:p>
          <a:p>
            <a:r>
              <a:rPr lang="en-US" dirty="0" smtClean="0"/>
              <a:t>Local infection of superficial layers of skin, especially in children, is also called </a:t>
            </a:r>
            <a:r>
              <a:rPr lang="en-US" b="1" dirty="0" smtClean="0"/>
              <a:t>impetigo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Fulminant</a:t>
            </a:r>
            <a:r>
              <a:rPr lang="en-US" dirty="0" smtClean="0"/>
              <a:t>, invasive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 infections with </a:t>
            </a:r>
            <a:r>
              <a:rPr lang="en-US" b="1" dirty="0" smtClean="0"/>
              <a:t>streptococcal toxic shock syndrome</a:t>
            </a:r>
            <a:r>
              <a:rPr lang="en-US" dirty="0" smtClean="0"/>
              <a:t> are characterized by shock, </a:t>
            </a:r>
            <a:r>
              <a:rPr lang="en-US" dirty="0" err="1" smtClean="0"/>
              <a:t>bacteremia</a:t>
            </a:r>
            <a:r>
              <a:rPr lang="en-US" dirty="0" smtClean="0"/>
              <a:t>, respiratory failure, and </a:t>
            </a:r>
            <a:r>
              <a:rPr lang="en-US" dirty="0" err="1" smtClean="0"/>
              <a:t>multiorgan</a:t>
            </a:r>
            <a:r>
              <a:rPr lang="en-US" dirty="0" smtClean="0"/>
              <a:t> failure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 </a:t>
            </a:r>
            <a:r>
              <a:rPr lang="en-US" dirty="0" err="1" smtClean="0"/>
              <a:t>sapurative</a:t>
            </a:r>
            <a:r>
              <a:rPr lang="en-US" dirty="0" smtClean="0"/>
              <a:t> infections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Acute </a:t>
            </a:r>
            <a:r>
              <a:rPr lang="en-US" dirty="0" err="1" smtClean="0"/>
              <a:t>Glomerulonephritis</a:t>
            </a:r>
            <a:endParaRPr lang="en-US" dirty="0" smtClean="0"/>
          </a:p>
          <a:p>
            <a:r>
              <a:rPr lang="en-US" dirty="0" smtClean="0"/>
              <a:t>This sometimes develops 3 weeks after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 skin infection (</a:t>
            </a:r>
            <a:r>
              <a:rPr lang="en-US" dirty="0" err="1" smtClean="0"/>
              <a:t>pyoderma</a:t>
            </a:r>
            <a:r>
              <a:rPr lang="en-US" dirty="0" smtClean="0"/>
              <a:t>, impetigo).</a:t>
            </a:r>
          </a:p>
          <a:p>
            <a:r>
              <a:rPr lang="en-US" dirty="0" err="1" smtClean="0"/>
              <a:t>Glomerulonephritis</a:t>
            </a:r>
            <a:r>
              <a:rPr lang="en-US" dirty="0" smtClean="0"/>
              <a:t> may be initiated by antigen-antibody complexes on the </a:t>
            </a:r>
            <a:r>
              <a:rPr lang="en-US" dirty="0" err="1" smtClean="0"/>
              <a:t>glomerular</a:t>
            </a:r>
            <a:r>
              <a:rPr lang="en-US" dirty="0" smtClean="0"/>
              <a:t> basement membrane.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Rheumatic Fever</a:t>
            </a:r>
          </a:p>
          <a:p>
            <a:r>
              <a:rPr lang="en-US" dirty="0" smtClean="0"/>
              <a:t>This is the most serious </a:t>
            </a:r>
            <a:r>
              <a:rPr lang="en-US" dirty="0" err="1" smtClean="0"/>
              <a:t>sequela</a:t>
            </a:r>
            <a:r>
              <a:rPr lang="en-US" dirty="0" smtClean="0"/>
              <a:t> of </a:t>
            </a:r>
            <a:r>
              <a:rPr lang="en-US" i="1" dirty="0" smtClean="0"/>
              <a:t>S </a:t>
            </a:r>
            <a:r>
              <a:rPr lang="en-US" i="1" dirty="0" err="1" smtClean="0"/>
              <a:t>pyogenes</a:t>
            </a:r>
            <a:r>
              <a:rPr lang="en-US" dirty="0" smtClean="0"/>
              <a:t> because it results in damage to heart muscle and valves. Certain strains of group A streptococci contain cell membrane antigens that cross-react with human heart tissue antigens.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Diagnostic Laboratory Tests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Specimens</a:t>
            </a:r>
          </a:p>
          <a:p>
            <a:r>
              <a:rPr lang="en-US" dirty="0" smtClean="0"/>
              <a:t>Specimens to be obtained depend upon the nature of the streptococcal infection. </a:t>
            </a:r>
            <a:r>
              <a:rPr lang="en-US" dirty="0" err="1" smtClean="0"/>
              <a:t>eg</a:t>
            </a:r>
            <a:endParaRPr lang="en-US" dirty="0" smtClean="0"/>
          </a:p>
          <a:p>
            <a:r>
              <a:rPr lang="en-US" dirty="0" smtClean="0"/>
              <a:t> throat swab,</a:t>
            </a:r>
          </a:p>
          <a:p>
            <a:r>
              <a:rPr lang="en-US" dirty="0" smtClean="0"/>
              <a:t> pus, </a:t>
            </a:r>
          </a:p>
          <a:p>
            <a:r>
              <a:rPr lang="en-US" dirty="0" smtClean="0"/>
              <a:t>or blood is obtained for culture. </a:t>
            </a:r>
          </a:p>
          <a:p>
            <a:r>
              <a:rPr lang="en-US" dirty="0" smtClean="0"/>
              <a:t>Serum is obtained for antibody determinations.</a:t>
            </a:r>
          </a:p>
          <a:p>
            <a:r>
              <a:rPr lang="en-US" dirty="0" smtClean="0"/>
              <a:t>Smears--Smears from pus often show single </a:t>
            </a:r>
            <a:r>
              <a:rPr lang="en-US" dirty="0" err="1" smtClean="0"/>
              <a:t>cocci</a:t>
            </a:r>
            <a:r>
              <a:rPr lang="en-US" dirty="0" smtClean="0"/>
              <a:t> or pairs rather than definite chains.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</a:p>
          <a:p>
            <a:r>
              <a:rPr lang="en-US" dirty="0" smtClean="0"/>
              <a:t>Specimens suspected of containing streptococci are cultured on blood agar plates in CO</a:t>
            </a:r>
            <a:r>
              <a:rPr lang="en-US" baseline="-25000" dirty="0" smtClean="0"/>
              <a:t>2</a:t>
            </a:r>
            <a:r>
              <a:rPr lang="en-US" dirty="0" smtClean="0"/>
              <a:t> jars</a:t>
            </a:r>
          </a:p>
          <a:p>
            <a:r>
              <a:rPr lang="en-US" dirty="0" smtClean="0"/>
              <a:t>Look for the type of </a:t>
            </a:r>
            <a:r>
              <a:rPr lang="en-US" dirty="0" err="1" smtClean="0"/>
              <a:t>haemolysis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Serologic Tests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rise in the titer of antibodies to many group A streptococcal antigens can be estimated. Such antibodies include </a:t>
            </a:r>
            <a:r>
              <a:rPr lang="en-US" b="1" dirty="0" err="1" smtClean="0"/>
              <a:t>antistreptolysin</a:t>
            </a:r>
            <a:r>
              <a:rPr lang="en-US" b="1" dirty="0" smtClean="0"/>
              <a:t> O (ASO), </a:t>
            </a:r>
            <a:r>
              <a:rPr lang="en-US" dirty="0" smtClean="0"/>
              <a:t>particularly in respiratory disease;</a:t>
            </a:r>
          </a:p>
          <a:p>
            <a:r>
              <a:rPr lang="en-US" dirty="0" smtClean="0"/>
              <a:t> anti-</a:t>
            </a:r>
            <a:r>
              <a:rPr lang="en-US" dirty="0" err="1" smtClean="0"/>
              <a:t>DNase</a:t>
            </a:r>
            <a:r>
              <a:rPr lang="en-US" dirty="0" smtClean="0"/>
              <a:t> and </a:t>
            </a:r>
            <a:r>
              <a:rPr lang="en-US" dirty="0" err="1" smtClean="0"/>
              <a:t>antihyaluronidase</a:t>
            </a:r>
            <a:r>
              <a:rPr lang="en-US" dirty="0" smtClean="0"/>
              <a:t>, particularly in skin infections; </a:t>
            </a:r>
            <a:r>
              <a:rPr lang="en-US" dirty="0" err="1" smtClean="0"/>
              <a:t>antistreptokinase</a:t>
            </a:r>
            <a:r>
              <a:rPr lang="en-US" dirty="0" smtClean="0"/>
              <a:t>; anti-M type-specific antibodies; and others. Of these</a:t>
            </a:r>
            <a:r>
              <a:rPr lang="en-US" b="1" dirty="0" smtClean="0"/>
              <a:t>, the anti-ASO titer is most widely used test.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agalactiae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These are the </a:t>
            </a:r>
            <a:r>
              <a:rPr lang="en-US" b="1" dirty="0" smtClean="0"/>
              <a:t>group B streptococci.</a:t>
            </a:r>
            <a:r>
              <a:rPr lang="en-US" dirty="0" smtClean="0"/>
              <a:t> They typically are </a:t>
            </a:r>
            <a:r>
              <a:rPr lang="el-GR" dirty="0" smtClean="0"/>
              <a:t>β</a:t>
            </a:r>
            <a:r>
              <a:rPr lang="en-US" dirty="0" smtClean="0"/>
              <a:t>-hemolytic. Group B streptococci are part of the normal vaginal flora in 5–25% of women. Group B streptococcal infection during the first month of life may present as fulminant sepsis(</a:t>
            </a:r>
            <a:r>
              <a:rPr lang="en-US" dirty="0" err="1" smtClean="0"/>
              <a:t>secer</a:t>
            </a:r>
            <a:r>
              <a:rPr lang="en-US" dirty="0" smtClean="0"/>
              <a:t> and sudden onset), meningitis, or respiratory distress syndrome. </a:t>
            </a:r>
            <a:r>
              <a:rPr lang="en-US" b="1" dirty="0" smtClean="0"/>
              <a:t>Intravenous ampicillin given to mothers, who carry group B streptococci and are in labor, prevents colonization of their infants </a:t>
            </a:r>
            <a:r>
              <a:rPr lang="en-US" dirty="0" smtClean="0"/>
              <a:t>and group B streptococcal disease.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Viridans</a:t>
            </a:r>
            <a:r>
              <a:rPr lang="en-US" dirty="0" smtClean="0"/>
              <a:t> Streptococci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viridans</a:t>
            </a:r>
            <a:r>
              <a:rPr lang="en-US" dirty="0" smtClean="0"/>
              <a:t> streptococci include </a:t>
            </a:r>
            <a:r>
              <a:rPr lang="en-US" i="1" dirty="0" smtClean="0"/>
              <a:t>S </a:t>
            </a:r>
            <a:r>
              <a:rPr lang="en-US" i="1" dirty="0" err="1" smtClean="0"/>
              <a:t>mitis</a:t>
            </a:r>
            <a:r>
              <a:rPr lang="en-US" i="1" dirty="0" smtClean="0"/>
              <a:t>, S </a:t>
            </a:r>
            <a:r>
              <a:rPr lang="en-US" i="1" dirty="0" err="1" smtClean="0"/>
              <a:t>mutans</a:t>
            </a:r>
            <a:r>
              <a:rPr lang="en-US" i="1" dirty="0" smtClean="0"/>
              <a:t>, S </a:t>
            </a:r>
            <a:r>
              <a:rPr lang="en-US" i="1" dirty="0" err="1" smtClean="0"/>
              <a:t>salivarius</a:t>
            </a:r>
            <a:r>
              <a:rPr lang="en-US" i="1" dirty="0" smtClean="0"/>
              <a:t>, S </a:t>
            </a:r>
            <a:r>
              <a:rPr lang="en-US" i="1" dirty="0" err="1" smtClean="0"/>
              <a:t>sanguis</a:t>
            </a:r>
            <a:r>
              <a:rPr lang="en-US" i="1" dirty="0" smtClean="0"/>
              <a:t>,</a:t>
            </a:r>
            <a:r>
              <a:rPr lang="en-US" dirty="0" smtClean="0"/>
              <a:t> and others. Typically they are </a:t>
            </a:r>
            <a:r>
              <a:rPr lang="el-GR" dirty="0" smtClean="0"/>
              <a:t>α</a:t>
            </a:r>
            <a:r>
              <a:rPr lang="en-US" dirty="0" smtClean="0"/>
              <a:t>-hemolytic, but they may be </a:t>
            </a:r>
            <a:r>
              <a:rPr lang="en-US" dirty="0" err="1" smtClean="0"/>
              <a:t>nonhemolytic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Their growth is not inhibited by </a:t>
            </a:r>
            <a:r>
              <a:rPr lang="en-US" dirty="0" err="1" smtClean="0"/>
              <a:t>Optochin</a:t>
            </a:r>
            <a:r>
              <a:rPr lang="en-US" dirty="0" smtClean="0"/>
              <a:t>, and colonies are not soluble in bile (</a:t>
            </a:r>
            <a:r>
              <a:rPr lang="en-US" dirty="0" err="1" smtClean="0"/>
              <a:t>deoxycholate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bacteremia</a:t>
            </a:r>
            <a:r>
              <a:rPr lang="en-US" dirty="0" smtClean="0"/>
              <a:t>, </a:t>
            </a:r>
            <a:r>
              <a:rPr lang="en-US" dirty="0" err="1" smtClean="0"/>
              <a:t>viridans</a:t>
            </a:r>
            <a:r>
              <a:rPr lang="en-US" dirty="0" smtClean="0"/>
              <a:t> streptococci, </a:t>
            </a:r>
            <a:r>
              <a:rPr lang="en-US" dirty="0" err="1" smtClean="0"/>
              <a:t>pneumococci</a:t>
            </a:r>
            <a:r>
              <a:rPr lang="en-US" dirty="0" smtClean="0"/>
              <a:t>, or </a:t>
            </a:r>
            <a:r>
              <a:rPr lang="en-US" dirty="0" err="1" smtClean="0"/>
              <a:t>enterococci</a:t>
            </a:r>
            <a:r>
              <a:rPr lang="en-US" dirty="0" smtClean="0"/>
              <a:t> may settle on normal or previously deformed heart valves, producing </a:t>
            </a:r>
            <a:r>
              <a:rPr lang="en-US" b="1" dirty="0" smtClean="0"/>
              <a:t>acute </a:t>
            </a:r>
            <a:r>
              <a:rPr lang="en-US" b="1" dirty="0" err="1" smtClean="0"/>
              <a:t>endocarditis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 Rapid destruction of the valves frequently leads to fatal cardiac failure in days or weeks unless a prosthesis is inserted.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763000" cy="6248400"/>
          </a:xfrm>
        </p:spPr>
        <p:txBody>
          <a:bodyPr>
            <a:normAutofit/>
          </a:bodyPr>
          <a:lstStyle/>
          <a:p>
            <a:r>
              <a:rPr lang="en-US" i="1" dirty="0" smtClean="0"/>
              <a:t>Streptococcus </a:t>
            </a:r>
            <a:r>
              <a:rPr lang="en-US" i="1" dirty="0" err="1" smtClean="0"/>
              <a:t>pneumoniae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pneumococci</a:t>
            </a:r>
            <a:r>
              <a:rPr lang="en-US" dirty="0" smtClean="0"/>
              <a:t> (</a:t>
            </a:r>
            <a:r>
              <a:rPr lang="en-US" i="1" dirty="0" smtClean="0"/>
              <a:t>S </a:t>
            </a:r>
            <a:r>
              <a:rPr lang="en-US" i="1" dirty="0" err="1" smtClean="0"/>
              <a:t>pneumoniae</a:t>
            </a:r>
            <a:r>
              <a:rPr lang="en-US" dirty="0" smtClean="0"/>
              <a:t>) are gram-positive </a:t>
            </a:r>
            <a:r>
              <a:rPr lang="en-US" dirty="0" err="1" smtClean="0"/>
              <a:t>diplococci</a:t>
            </a:r>
            <a:r>
              <a:rPr lang="en-US" dirty="0" smtClean="0"/>
              <a:t>, often lancet-shaped or arranged in chains, possessing a capsule of polysaccharide that permits typing with specific </a:t>
            </a:r>
            <a:r>
              <a:rPr lang="en-US" dirty="0" err="1" smtClean="0"/>
              <a:t>antisera</a:t>
            </a:r>
            <a:r>
              <a:rPr lang="en-US" dirty="0" smtClean="0"/>
              <a:t>. </a:t>
            </a:r>
          </a:p>
          <a:p>
            <a:r>
              <a:rPr lang="en-US" dirty="0" smtClean="0"/>
              <a:t>Pneumococci are normal inhabitants of the upper respiratory tract of 5–40% of humans and can cause pneumonia, sinusitis, otitis(ear), bronchitis, bacteremia, meningitis, and other infectious processes.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</a:p>
          <a:p>
            <a:r>
              <a:rPr lang="en-US" dirty="0" err="1" smtClean="0"/>
              <a:t>Pneumococci</a:t>
            </a:r>
            <a:r>
              <a:rPr lang="en-US" dirty="0" smtClean="0"/>
              <a:t> form small round colonies, at first dome-shaped and later developing a central plateau with an elevated rim. </a:t>
            </a:r>
            <a:r>
              <a:rPr lang="en-US" dirty="0" err="1" smtClean="0"/>
              <a:t>Pneumococci</a:t>
            </a:r>
            <a:r>
              <a:rPr lang="en-US" dirty="0" smtClean="0"/>
              <a:t> are </a:t>
            </a:r>
            <a:r>
              <a:rPr lang="el-GR" b="1" dirty="0" smtClean="0"/>
              <a:t>α</a:t>
            </a:r>
            <a:r>
              <a:rPr lang="en-US" b="1" dirty="0" smtClean="0"/>
              <a:t>-hemolytic </a:t>
            </a:r>
            <a:r>
              <a:rPr lang="en-US" dirty="0" smtClean="0"/>
              <a:t>on blood agar. Growth is enhanced by 5–10% CO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Clinical Findings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onset of pneumococcal pneumonia is usually sudden, with fever, chills, and sharp pleural pain.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324600"/>
          </a:xfrm>
        </p:spPr>
        <p:txBody>
          <a:bodyPr>
            <a:normAutofit lnSpcReduction="10000"/>
          </a:bodyPr>
          <a:lstStyle/>
          <a:p>
            <a:r>
              <a:rPr lang="en-US" b="1" u="sng" dirty="0" smtClean="0"/>
              <a:t>Diagnostic Laboratory Tests</a:t>
            </a:r>
          </a:p>
          <a:p>
            <a:r>
              <a:rPr lang="en-US" dirty="0" smtClean="0"/>
              <a:t>Blood, CSF and sputum are collected for demonstration of </a:t>
            </a:r>
            <a:r>
              <a:rPr lang="en-US" dirty="0" err="1" smtClean="0"/>
              <a:t>pneumococci</a:t>
            </a:r>
            <a:r>
              <a:rPr lang="en-US" dirty="0" smtClean="0"/>
              <a:t> by smear and culture. </a:t>
            </a:r>
          </a:p>
          <a:p>
            <a:r>
              <a:rPr lang="en-US" b="1" u="sng" dirty="0" smtClean="0"/>
              <a:t>Stained Smears</a:t>
            </a:r>
          </a:p>
          <a:p>
            <a:r>
              <a:rPr lang="en-US" dirty="0" smtClean="0"/>
              <a:t>A Gram-stained film of rusty-red sputum shows typical organisms, many </a:t>
            </a:r>
            <a:r>
              <a:rPr lang="en-US" dirty="0" err="1" smtClean="0"/>
              <a:t>polymorphonuclear</a:t>
            </a:r>
            <a:r>
              <a:rPr lang="en-US" dirty="0" smtClean="0"/>
              <a:t> </a:t>
            </a:r>
            <a:r>
              <a:rPr lang="en-US" dirty="0" err="1" smtClean="0"/>
              <a:t>neutrophils</a:t>
            </a:r>
            <a:r>
              <a:rPr lang="en-US" dirty="0" smtClean="0"/>
              <a:t>, and many red cells.</a:t>
            </a:r>
          </a:p>
          <a:p>
            <a:r>
              <a:rPr lang="en-US" b="1" u="sng" dirty="0" smtClean="0"/>
              <a:t>Capsule Swelling Tests(</a:t>
            </a:r>
            <a:r>
              <a:rPr lang="en-US" dirty="0" smtClean="0"/>
              <a:t>the </a:t>
            </a:r>
            <a:r>
              <a:rPr lang="en-US" dirty="0" err="1" smtClean="0"/>
              <a:t>quellung</a:t>
            </a:r>
            <a:r>
              <a:rPr lang="en-US" dirty="0" smtClean="0"/>
              <a:t> reaction)</a:t>
            </a:r>
            <a:endParaRPr lang="en-US" b="1" u="sng" dirty="0" smtClean="0"/>
          </a:p>
          <a:p>
            <a:r>
              <a:rPr lang="en-US" dirty="0" smtClean="0"/>
              <a:t>Fresh emulsified sputum mixed with antiserum causes capsule swelling (the </a:t>
            </a:r>
            <a:r>
              <a:rPr lang="en-US" dirty="0" err="1" smtClean="0"/>
              <a:t>quellung</a:t>
            </a:r>
            <a:r>
              <a:rPr lang="en-US" dirty="0" smtClean="0"/>
              <a:t> reaction) for identification of </a:t>
            </a:r>
            <a:r>
              <a:rPr lang="en-US" dirty="0" err="1" smtClean="0"/>
              <a:t>pneumococci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 smtClean="0"/>
              <a:t>Culture</a:t>
            </a:r>
          </a:p>
          <a:p>
            <a:r>
              <a:rPr lang="en-US" dirty="0" smtClean="0"/>
              <a:t>Culture Sputum or CSF or blood on Blood agar and incubated in CO</a:t>
            </a:r>
            <a:r>
              <a:rPr lang="en-US" baseline="-25000" dirty="0" smtClean="0"/>
              <a:t>2</a:t>
            </a:r>
            <a:r>
              <a:rPr lang="en-US" dirty="0" smtClean="0"/>
              <a:t> or a candle jar. </a:t>
            </a:r>
          </a:p>
          <a:p>
            <a:r>
              <a:rPr lang="en-US" dirty="0" smtClean="0"/>
              <a:t>After growth subculture on BA , place </a:t>
            </a:r>
            <a:r>
              <a:rPr lang="en-US" dirty="0" err="1" smtClean="0"/>
              <a:t>optochin</a:t>
            </a:r>
            <a:r>
              <a:rPr lang="en-US" dirty="0" smtClean="0"/>
              <a:t> on 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Enterococci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enterococci</a:t>
            </a:r>
            <a:r>
              <a:rPr lang="en-US" dirty="0" smtClean="0"/>
              <a:t> have the group D group-specific substance and were previously classified as group D streptococci.</a:t>
            </a:r>
          </a:p>
          <a:p>
            <a:r>
              <a:rPr lang="en-US" dirty="0" smtClean="0"/>
              <a:t>They are part of the normal enteric flora.</a:t>
            </a:r>
          </a:p>
          <a:p>
            <a:r>
              <a:rPr lang="en-US" dirty="0" smtClean="0"/>
              <a:t> They are usually non-</a:t>
            </a:r>
            <a:r>
              <a:rPr lang="en-US" dirty="0" err="1" smtClean="0"/>
              <a:t>haemolytic</a:t>
            </a:r>
            <a:r>
              <a:rPr lang="en-US" dirty="0" smtClean="0"/>
              <a:t>, but occasionally –</a:t>
            </a:r>
            <a:r>
              <a:rPr lang="en-US" dirty="0" err="1" smtClean="0"/>
              <a:t>haemolytic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Enterococci</a:t>
            </a:r>
            <a:r>
              <a:rPr lang="en-US" dirty="0" smtClean="0"/>
              <a:t> may cause meningitis and </a:t>
            </a:r>
            <a:r>
              <a:rPr lang="en-US" dirty="0" err="1" smtClean="0"/>
              <a:t>bacteremia</a:t>
            </a:r>
            <a:r>
              <a:rPr lang="en-US" dirty="0" smtClean="0"/>
              <a:t> in neonates. </a:t>
            </a:r>
          </a:p>
          <a:p>
            <a:r>
              <a:rPr lang="en-US" dirty="0" smtClean="0"/>
              <a:t>In adults, </a:t>
            </a:r>
            <a:r>
              <a:rPr lang="en-US" dirty="0" err="1" smtClean="0"/>
              <a:t>enterococci</a:t>
            </a:r>
            <a:r>
              <a:rPr lang="en-US" dirty="0" smtClean="0"/>
              <a:t> can cause </a:t>
            </a:r>
            <a:r>
              <a:rPr lang="en-US" dirty="0" err="1" smtClean="0"/>
              <a:t>endocarditis</a:t>
            </a:r>
            <a:r>
              <a:rPr lang="en-US" dirty="0" smtClean="0"/>
              <a:t>. In intra-abdominal, wound, urine, and other infections, </a:t>
            </a:r>
            <a:r>
              <a:rPr lang="en-US" dirty="0" err="1" smtClean="0"/>
              <a:t>enterococci</a:t>
            </a:r>
            <a:r>
              <a:rPr lang="en-US" dirty="0" smtClean="0"/>
              <a:t> are cultured along with other species of bacteria.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2787</Words>
  <Application>Microsoft Office PowerPoint</Application>
  <PresentationFormat>On-screen Show (4:3)</PresentationFormat>
  <Paragraphs>278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Calibri</vt:lpstr>
      <vt:lpstr>Times New Roman</vt:lpstr>
      <vt:lpstr>Office Theme</vt:lpstr>
      <vt:lpstr>Gram pos cocci</vt:lpstr>
      <vt:lpstr>PowerPoint Presentation</vt:lpstr>
      <vt:lpstr>Bacterial Shapes</vt:lpstr>
      <vt:lpstr>PowerPoint Presentation</vt:lpstr>
      <vt:lpstr>PowerPoint Presentation</vt:lpstr>
      <vt:lpstr>Typical Organisms morphology </vt:lpstr>
      <vt:lpstr>Gram positive cocci &amp; Gram negative rods compared</vt:lpstr>
      <vt:lpstr> Clinical Findings </vt:lpstr>
      <vt:lpstr>PowerPoint Presentation</vt:lpstr>
      <vt:lpstr>PowerPoint Presentation</vt:lpstr>
      <vt:lpstr>Enzymes</vt:lpstr>
      <vt:lpstr>PowerPoint Presentation</vt:lpstr>
      <vt:lpstr>PowerPoint Presentation</vt:lpstr>
      <vt:lpstr>PowerPoint Presentation</vt:lpstr>
      <vt:lpstr>Toxic Shock Syndrome Toxin</vt:lpstr>
      <vt:lpstr>Enterotoxins</vt:lpstr>
      <vt:lpstr>Diagnostic Laboratory Tests </vt:lpstr>
      <vt:lpstr>Culture </vt:lpstr>
      <vt:lpstr>PowerPoint Presentation</vt:lpstr>
      <vt:lpstr>Catalase Test </vt:lpstr>
      <vt:lpstr>Coagulase Test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Haemolysis </vt:lpstr>
      <vt:lpstr>Beta Hemolysis Around Strep Colonies</vt:lpstr>
      <vt:lpstr>PowerPoint Presentation</vt:lpstr>
      <vt:lpstr>PowerPoint Presentation</vt:lpstr>
      <vt:lpstr>PowerPoint Presentation</vt:lpstr>
      <vt:lpstr>Gram positive cocci in chains</vt:lpstr>
      <vt:lpstr> Group-Specific Substance  (Lancefield Classification) </vt:lpstr>
      <vt:lpstr>PowerPoint Presentation</vt:lpstr>
      <vt:lpstr>Capsular Polysaccharides </vt:lpstr>
      <vt:lpstr>PowerPoint Presentation</vt:lpstr>
      <vt:lpstr>Antigenic Structure </vt:lpstr>
      <vt:lpstr>Toxins &amp; Enzymes </vt:lpstr>
      <vt:lpstr>Erythrogenic toxin</vt:lpstr>
      <vt:lpstr>Diphosphopyridine Nucleotidase </vt:lpstr>
      <vt:lpstr>Haemolysins </vt:lpstr>
      <vt:lpstr>Diseases Attributable to Invasion by S pyogenes</vt:lpstr>
      <vt:lpstr>PowerPoint Presentation</vt:lpstr>
      <vt:lpstr>Necrotizing Fasciitis (Streptococcal Gangrene</vt:lpstr>
      <vt:lpstr>PowerPoint Presentation</vt:lpstr>
      <vt:lpstr>PowerPoint Presentation</vt:lpstr>
      <vt:lpstr>PowerPoint Presentation</vt:lpstr>
      <vt:lpstr>PowerPoint Presentation</vt:lpstr>
      <vt:lpstr>Non sapurative infections</vt:lpstr>
      <vt:lpstr>PowerPoint Presentation</vt:lpstr>
      <vt:lpstr>Diagnostic Laboratory Tests </vt:lpstr>
      <vt:lpstr>PowerPoint Presentation</vt:lpstr>
      <vt:lpstr>Serologic Tests </vt:lpstr>
      <vt:lpstr>Streptococcus agalactiae </vt:lpstr>
      <vt:lpstr>Viridans Streptococci </vt:lpstr>
      <vt:lpstr>PowerPoint Presentation</vt:lpstr>
      <vt:lpstr>PowerPoint Presentation</vt:lpstr>
      <vt:lpstr>PowerPoint Presentation</vt:lpstr>
      <vt:lpstr>Clinical Findings </vt:lpstr>
      <vt:lpstr>PowerPoint Presentation</vt:lpstr>
      <vt:lpstr>PowerPoint Presentation</vt:lpstr>
      <vt:lpstr>Enterococci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 pos cocci</dc:title>
  <dc:creator>Patrick</dc:creator>
  <cp:lastModifiedBy>Derek Donkor</cp:lastModifiedBy>
  <cp:revision>38</cp:revision>
  <dcterms:created xsi:type="dcterms:W3CDTF">2013-09-23T22:33:16Z</dcterms:created>
  <dcterms:modified xsi:type="dcterms:W3CDTF">2019-10-03T21:01:52Z</dcterms:modified>
</cp:coreProperties>
</file>