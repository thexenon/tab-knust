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314" r:id="rId2"/>
    <p:sldId id="315" r:id="rId3"/>
    <p:sldId id="316" r:id="rId4"/>
    <p:sldId id="267" r:id="rId5"/>
    <p:sldId id="300" r:id="rId6"/>
    <p:sldId id="260" r:id="rId7"/>
    <p:sldId id="261" r:id="rId8"/>
    <p:sldId id="262" r:id="rId9"/>
    <p:sldId id="298" r:id="rId10"/>
    <p:sldId id="263" r:id="rId11"/>
    <p:sldId id="264" r:id="rId12"/>
    <p:sldId id="265" r:id="rId13"/>
    <p:sldId id="302" r:id="rId14"/>
    <p:sldId id="303" r:id="rId15"/>
    <p:sldId id="304" r:id="rId16"/>
    <p:sldId id="305" r:id="rId17"/>
    <p:sldId id="306" r:id="rId18"/>
    <p:sldId id="307" r:id="rId19"/>
    <p:sldId id="308" r:id="rId20"/>
    <p:sldId id="309" r:id="rId21"/>
    <p:sldId id="266" r:id="rId22"/>
    <p:sldId id="331" r:id="rId23"/>
    <p:sldId id="332" r:id="rId24"/>
    <p:sldId id="333" r:id="rId25"/>
    <p:sldId id="335" r:id="rId26"/>
    <p:sldId id="336" r:id="rId27"/>
    <p:sldId id="278" r:id="rId28"/>
    <p:sldId id="313" r:id="rId29"/>
    <p:sldId id="279" r:id="rId30"/>
    <p:sldId id="280" r:id="rId31"/>
    <p:sldId id="338" r:id="rId32"/>
    <p:sldId id="339" r:id="rId33"/>
    <p:sldId id="340" r:id="rId34"/>
    <p:sldId id="341" r:id="rId35"/>
    <p:sldId id="285" r:id="rId36"/>
    <p:sldId id="351" r:id="rId37"/>
    <p:sldId id="286" r:id="rId38"/>
    <p:sldId id="287" r:id="rId39"/>
    <p:sldId id="290" r:id="rId40"/>
    <p:sldId id="342" r:id="rId41"/>
    <p:sldId id="293" r:id="rId42"/>
    <p:sldId id="294" r:id="rId43"/>
    <p:sldId id="295" r:id="rId44"/>
    <p:sldId id="297" r:id="rId45"/>
    <p:sldId id="322" r:id="rId46"/>
    <p:sldId id="317" r:id="rId47"/>
    <p:sldId id="318" r:id="rId48"/>
    <p:sldId id="319" r:id="rId49"/>
    <p:sldId id="323" r:id="rId50"/>
    <p:sldId id="324" r:id="rId51"/>
    <p:sldId id="325" r:id="rId52"/>
    <p:sldId id="326" r:id="rId53"/>
    <p:sldId id="327" r:id="rId54"/>
    <p:sldId id="328" r:id="rId55"/>
    <p:sldId id="329" r:id="rId56"/>
    <p:sldId id="349" r:id="rId57"/>
    <p:sldId id="320" r:id="rId58"/>
    <p:sldId id="346" r:id="rId59"/>
    <p:sldId id="347" r:id="rId60"/>
    <p:sldId id="348" r:id="rId61"/>
    <p:sldId id="350" r:id="rId6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9" d="100"/>
          <a:sy n="69" d="100"/>
        </p:scale>
        <p:origin x="-1416"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947E6D8-10D1-4C71-B76F-63E0814DCECE}" type="datetimeFigureOut">
              <a:rPr lang="en-US"/>
              <a:pPr>
                <a:defRPr/>
              </a:pPr>
              <a:t>12/12/2015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6B9E1EF-5D58-4091-A36F-3B0748D8B695}" type="slidenum">
              <a:rPr lang="en-US"/>
              <a:pPr>
                <a:defRPr/>
              </a:pPr>
              <a:t>‹#›</a:t>
            </a:fld>
            <a:endParaRPr lang="en-US"/>
          </a:p>
        </p:txBody>
      </p:sp>
    </p:spTree>
    <p:extLst>
      <p:ext uri="{BB962C8B-B14F-4D97-AF65-F5344CB8AC3E}">
        <p14:creationId xmlns:p14="http://schemas.microsoft.com/office/powerpoint/2010/main" val="20986826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p:spPr>
      </p:sp>
      <p:sp>
        <p:nvSpPr>
          <p:cNvPr id="645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645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B3A5870-4CDE-48F9-A54E-5B863BBE9510}" type="slidenum">
              <a:rPr lang="en-US" smtClean="0"/>
              <a:pPr/>
              <a:t>5</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26DED34-C066-419D-9DB5-97EBCEA3854C}" type="slidenum">
              <a:rPr lang="en-US" smtClean="0"/>
              <a:pPr/>
              <a:t>13</a:t>
            </a:fld>
            <a:endParaRPr lang="en-US" smtClean="0"/>
          </a:p>
        </p:txBody>
      </p:sp>
      <p:sp>
        <p:nvSpPr>
          <p:cNvPr id="65539"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65540"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65541"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88833BCD-3593-4C6C-B528-83BE1C8B6B87}" type="slidenum">
              <a:rPr lang="en-US" sz="1200">
                <a:ea typeface="ＭＳ Ｐゴシック" pitchFamily="84" charset="-128"/>
              </a:rPr>
              <a:pPr algn="r"/>
              <a:t>13</a:t>
            </a:fld>
            <a:endParaRPr lang="en-US" sz="1200">
              <a:ea typeface="ＭＳ Ｐゴシック" pitchFamily="8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868BD1D-1E11-4BF7-98CA-304ED79CA047}" type="slidenum">
              <a:rPr lang="en-US" smtClean="0"/>
              <a:pPr/>
              <a:t>15</a:t>
            </a:fld>
            <a:endParaRPr lang="en-US" smtClean="0"/>
          </a:p>
        </p:txBody>
      </p:sp>
      <p:sp>
        <p:nvSpPr>
          <p:cNvPr id="66563"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66564"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66565"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9C72C843-F012-45F7-9564-B7FE34C94942}" type="slidenum">
              <a:rPr lang="en-US" sz="1200">
                <a:ea typeface="ＭＳ Ｐゴシック" pitchFamily="84" charset="-128"/>
              </a:rPr>
              <a:pPr algn="r"/>
              <a:t>15</a:t>
            </a:fld>
            <a:endParaRPr lang="en-US" sz="1200">
              <a:ea typeface="ＭＳ Ｐゴシック" pitchFamily="8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9BA513DA-9FDB-4575-AD35-3C21AC7EC42F}" type="slidenum">
              <a:rPr lang="en-US" smtClean="0"/>
              <a:pPr/>
              <a:t>16</a:t>
            </a:fld>
            <a:endParaRPr lang="en-US" smtClean="0"/>
          </a:p>
        </p:txBody>
      </p:sp>
      <p:sp>
        <p:nvSpPr>
          <p:cNvPr id="67587"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67588"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67589"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07F2F21D-45D9-4B5C-972C-2EA383B56F98}" type="slidenum">
              <a:rPr lang="en-US" sz="1200">
                <a:ea typeface="ＭＳ Ｐゴシック" pitchFamily="84" charset="-128"/>
              </a:rPr>
              <a:pPr algn="r"/>
              <a:t>16</a:t>
            </a:fld>
            <a:endParaRPr lang="en-US" sz="1200">
              <a:ea typeface="ＭＳ Ｐゴシック" pitchFamily="8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56FEB16B-1CE9-439A-A4CF-F16D75944874}" type="slidenum">
              <a:rPr lang="en-US" smtClean="0"/>
              <a:pPr/>
              <a:t>17</a:t>
            </a:fld>
            <a:endParaRPr lang="en-US" smtClean="0"/>
          </a:p>
        </p:txBody>
      </p:sp>
      <p:sp>
        <p:nvSpPr>
          <p:cNvPr id="68611"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68612"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6861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5F5F872E-F0CF-4359-ABD8-F70411A4CB0F}" type="slidenum">
              <a:rPr lang="en-US" sz="1200">
                <a:ea typeface="ＭＳ Ｐゴシック" pitchFamily="84" charset="-128"/>
              </a:rPr>
              <a:pPr algn="r"/>
              <a:t>17</a:t>
            </a:fld>
            <a:endParaRPr lang="en-US" sz="1200">
              <a:ea typeface="ＭＳ Ｐゴシック" pitchFamily="8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9D07EC8-2080-429E-93D0-FE027C999800}" type="slidenum">
              <a:rPr lang="en-US" smtClean="0"/>
              <a:pPr/>
              <a:t>19</a:t>
            </a:fld>
            <a:endParaRPr lang="en-US" smtClean="0"/>
          </a:p>
        </p:txBody>
      </p:sp>
      <p:sp>
        <p:nvSpPr>
          <p:cNvPr id="69635"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69636"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69637"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1524CE78-6434-4E0E-8667-54C3C583DE21}" type="slidenum">
              <a:rPr lang="en-US" sz="1200">
                <a:ea typeface="ＭＳ Ｐゴシック" pitchFamily="84" charset="-128"/>
              </a:rPr>
              <a:pPr algn="r"/>
              <a:t>19</a:t>
            </a:fld>
            <a:endParaRPr lang="en-US" sz="1200">
              <a:ea typeface="ＭＳ Ｐゴシック" pitchFamily="8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34CA408E-AD80-427B-8AED-BD7EAEB84157}" type="slidenum">
              <a:rPr lang="en-US" smtClean="0"/>
              <a:pPr/>
              <a:t>22</a:t>
            </a:fld>
            <a:endParaRPr lang="en-US" smtClean="0"/>
          </a:p>
        </p:txBody>
      </p:sp>
      <p:sp>
        <p:nvSpPr>
          <p:cNvPr id="70659"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0660"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0661"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4E05CD06-9748-4E1C-A7E4-1BEFFB77B431}" type="slidenum">
              <a:rPr lang="en-US" sz="1200">
                <a:ea typeface="ＭＳ Ｐゴシック" pitchFamily="84" charset="-128"/>
              </a:rPr>
              <a:pPr algn="r"/>
              <a:t>22</a:t>
            </a:fld>
            <a:endParaRPr lang="en-US" sz="1200">
              <a:ea typeface="ＭＳ Ｐゴシック" pitchFamily="8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C99DE04-54BE-4D99-A12B-DB296406979E}" type="slidenum">
              <a:rPr lang="en-US" smtClean="0"/>
              <a:pPr/>
              <a:t>25</a:t>
            </a:fld>
            <a:endParaRPr lang="en-US" smtClean="0"/>
          </a:p>
        </p:txBody>
      </p:sp>
      <p:sp>
        <p:nvSpPr>
          <p:cNvPr id="71683"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1684"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1685"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1ACE3735-5787-43C6-AABE-61C70CB5A98A}" type="slidenum">
              <a:rPr lang="en-US" sz="1200">
                <a:ea typeface="ＭＳ Ｐゴシック" pitchFamily="84" charset="-128"/>
              </a:rPr>
              <a:pPr algn="r"/>
              <a:t>25</a:t>
            </a:fld>
            <a:endParaRPr lang="en-US" sz="1200">
              <a:ea typeface="ＭＳ Ｐゴシック" pitchFamily="8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21D2662-1569-4A37-AD96-24C550231558}" type="slidenum">
              <a:rPr lang="en-US" smtClean="0"/>
              <a:pPr/>
              <a:t>26</a:t>
            </a:fld>
            <a:endParaRPr lang="en-US" smtClean="0"/>
          </a:p>
        </p:txBody>
      </p:sp>
      <p:sp>
        <p:nvSpPr>
          <p:cNvPr id="72707"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2708"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2709"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9B8CC73D-8E2D-4FBE-AECE-0456849EB601}" type="slidenum">
              <a:rPr lang="en-US" sz="1200">
                <a:ea typeface="ＭＳ Ｐゴシック" pitchFamily="84" charset="-128"/>
              </a:rPr>
              <a:pPr algn="r"/>
              <a:t>26</a:t>
            </a:fld>
            <a:endParaRPr lang="en-US" sz="1200">
              <a:ea typeface="ＭＳ Ｐゴシック" pitchFamily="8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2E48717C-F1EA-40D7-A3BD-59308EF00C9B}" type="slidenum">
              <a:rPr lang="en-US" smtClean="0"/>
              <a:pPr/>
              <a:t>31</a:t>
            </a:fld>
            <a:endParaRPr lang="en-US" smtClean="0"/>
          </a:p>
        </p:txBody>
      </p:sp>
      <p:sp>
        <p:nvSpPr>
          <p:cNvPr id="73731"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3732"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373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C6A28D30-B6D0-4F38-B050-2F3694374ED5}" type="slidenum">
              <a:rPr lang="en-US" sz="1200">
                <a:ea typeface="ＭＳ Ｐゴシック" pitchFamily="84" charset="-128"/>
              </a:rPr>
              <a:pPr algn="r"/>
              <a:t>31</a:t>
            </a:fld>
            <a:endParaRPr lang="en-US" sz="1200">
              <a:ea typeface="ＭＳ Ｐゴシック" pitchFamily="8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9101846-11DA-44D6-A679-A4E3881B905A}" type="slidenum">
              <a:rPr lang="en-US" smtClean="0"/>
              <a:pPr/>
              <a:t>32</a:t>
            </a:fld>
            <a:endParaRPr lang="en-US" smtClean="0"/>
          </a:p>
        </p:txBody>
      </p:sp>
      <p:sp>
        <p:nvSpPr>
          <p:cNvPr id="74755"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4756"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4757"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BA37CC7B-0F64-4711-8C34-821811EAEC40}" type="slidenum">
              <a:rPr lang="en-US" sz="1200">
                <a:ea typeface="ＭＳ Ｐゴシック" pitchFamily="84" charset="-128"/>
              </a:rPr>
              <a:pPr algn="r"/>
              <a:t>32</a:t>
            </a:fld>
            <a:endParaRPr lang="en-US" sz="1200">
              <a:ea typeface="ＭＳ Ｐゴシック" pitchFamily="8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3BEAEB06-779D-4701-9FF9-4845EC60ED7D}" type="slidenum">
              <a:rPr lang="en-US" smtClean="0"/>
              <a:pPr/>
              <a:t>33</a:t>
            </a:fld>
            <a:endParaRPr lang="en-US" smtClean="0"/>
          </a:p>
        </p:txBody>
      </p:sp>
      <p:sp>
        <p:nvSpPr>
          <p:cNvPr id="75779"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5780"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5781"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13001514-117A-4B38-B3E7-0DA9303FA746}" type="slidenum">
              <a:rPr lang="en-US" sz="1200">
                <a:ea typeface="ＭＳ Ｐゴシック" pitchFamily="84" charset="-128"/>
              </a:rPr>
              <a:pPr algn="r"/>
              <a:t>33</a:t>
            </a:fld>
            <a:endParaRPr lang="en-US" sz="1200">
              <a:ea typeface="ＭＳ Ｐゴシック" pitchFamily="8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5D612943-247A-42B7-A63E-D3171629B102}" type="slidenum">
              <a:rPr lang="en-US" smtClean="0"/>
              <a:pPr/>
              <a:t>34</a:t>
            </a:fld>
            <a:endParaRPr lang="en-US" smtClean="0"/>
          </a:p>
        </p:txBody>
      </p:sp>
      <p:sp>
        <p:nvSpPr>
          <p:cNvPr id="76803"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6804"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6805"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73C417A1-F19F-414A-96F0-4A5DE152E46E}" type="slidenum">
              <a:rPr lang="en-US" sz="1200">
                <a:ea typeface="ＭＳ Ｐゴシック" pitchFamily="84" charset="-128"/>
              </a:rPr>
              <a:pPr algn="r"/>
              <a:t>34</a:t>
            </a:fld>
            <a:endParaRPr lang="en-US" sz="1200">
              <a:ea typeface="ＭＳ Ｐゴシック" pitchFamily="8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DFD33E1-D7F1-47D8-9B37-060AAE52427E}" type="slidenum">
              <a:rPr lang="en-US" smtClean="0"/>
              <a:pPr/>
              <a:t>40</a:t>
            </a:fld>
            <a:endParaRPr lang="en-US" smtClean="0"/>
          </a:p>
        </p:txBody>
      </p:sp>
      <p:sp>
        <p:nvSpPr>
          <p:cNvPr id="77827"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7828"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7829"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32C4FD6F-CFEC-4806-A78D-5128342506C0}" type="slidenum">
              <a:rPr lang="en-US" sz="1200">
                <a:ea typeface="ＭＳ Ｐゴシック" pitchFamily="84" charset="-128"/>
              </a:rPr>
              <a:pPr algn="r"/>
              <a:t>40</a:t>
            </a:fld>
            <a:endParaRPr lang="en-US" sz="1200">
              <a:ea typeface="ＭＳ Ｐゴシック" pitchFamily="8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AEE77F0A-5597-4B8B-AFDB-528CF62C3853}" type="slidenum">
              <a:rPr lang="en-US" smtClean="0"/>
              <a:pPr/>
              <a:t>56</a:t>
            </a:fld>
            <a:endParaRPr lang="en-US" smtClean="0"/>
          </a:p>
        </p:txBody>
      </p:sp>
      <p:sp>
        <p:nvSpPr>
          <p:cNvPr id="78851"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8852"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885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9870A33B-FE5E-458D-91F2-DF00C19C6D20}" type="slidenum">
              <a:rPr lang="en-US" sz="1200">
                <a:ea typeface="ＭＳ Ｐゴシック" pitchFamily="84" charset="-128"/>
              </a:rPr>
              <a:pPr algn="r"/>
              <a:t>56</a:t>
            </a:fld>
            <a:endParaRPr lang="en-US" sz="1200">
              <a:ea typeface="ＭＳ Ｐゴシック" pitchFamily="8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33C1C99-9586-435C-AF95-83B589DED834}" type="slidenum">
              <a:rPr lang="en-US" smtClean="0"/>
              <a:pPr/>
              <a:t>58</a:t>
            </a:fld>
            <a:endParaRPr lang="en-US" smtClean="0"/>
          </a:p>
        </p:txBody>
      </p:sp>
      <p:sp>
        <p:nvSpPr>
          <p:cNvPr id="79875"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79876"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79877"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662859C4-7A75-4C5C-893C-5584BC34790F}" type="slidenum">
              <a:rPr lang="en-US" sz="1200">
                <a:ea typeface="ＭＳ Ｐゴシック" pitchFamily="84" charset="-128"/>
              </a:rPr>
              <a:pPr algn="r"/>
              <a:t>58</a:t>
            </a:fld>
            <a:endParaRPr lang="en-US" sz="1200">
              <a:ea typeface="ＭＳ Ｐゴシック" pitchFamily="8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BDF4799-9773-4894-804D-26AEF4889595}" type="slidenum">
              <a:rPr lang="en-US" smtClean="0"/>
              <a:pPr/>
              <a:t>59</a:t>
            </a:fld>
            <a:endParaRPr lang="en-US" smtClean="0"/>
          </a:p>
        </p:txBody>
      </p:sp>
      <p:sp>
        <p:nvSpPr>
          <p:cNvPr id="80899"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80900"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80901"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2427405D-009D-4C3F-AAF3-3DB01CCA5516}" type="slidenum">
              <a:rPr lang="en-US" sz="1200">
                <a:ea typeface="ＭＳ Ｐゴシック" pitchFamily="84" charset="-128"/>
              </a:rPr>
              <a:pPr algn="r"/>
              <a:t>59</a:t>
            </a:fld>
            <a:endParaRPr lang="en-US" sz="1200">
              <a:ea typeface="ＭＳ Ｐゴシック" pitchFamily="8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31"/>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499A886-F736-40DB-9146-4104E542EC42}" type="slidenum">
              <a:rPr lang="en-US" smtClean="0"/>
              <a:pPr/>
              <a:t>60</a:t>
            </a:fld>
            <a:endParaRPr lang="en-US" smtClean="0"/>
          </a:p>
        </p:txBody>
      </p:sp>
      <p:sp>
        <p:nvSpPr>
          <p:cNvPr id="81923" name="Slide Image Placeholder 1"/>
          <p:cNvSpPr>
            <a:spLocks noGrp="1" noRot="1" noChangeAspect="1" noTextEdit="1"/>
          </p:cNvSpPr>
          <p:nvPr>
            <p:ph type="sldImg"/>
          </p:nvPr>
        </p:nvSpPr>
        <p:spPr bwMode="auto">
          <a:solidFill>
            <a:srgbClr val="FFFFFF"/>
          </a:solidFill>
          <a:ln>
            <a:solidFill>
              <a:srgbClr val="000000"/>
            </a:solidFill>
            <a:miter lim="800000"/>
            <a:headEnd/>
            <a:tailEnd/>
          </a:ln>
        </p:spPr>
      </p:sp>
      <p:sp>
        <p:nvSpPr>
          <p:cNvPr id="81924" name="Notes Placeholder 2"/>
          <p:cNvSpPr>
            <a:spLocks noGrp="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US" smtClean="0"/>
          </a:p>
        </p:txBody>
      </p:sp>
      <p:sp>
        <p:nvSpPr>
          <p:cNvPr id="81925"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F0E6DDC8-FE88-4CFC-AED1-D85F8949A70F}" type="slidenum">
              <a:rPr lang="en-US" sz="1200">
                <a:ea typeface="ＭＳ Ｐゴシック" pitchFamily="84" charset="-128"/>
              </a:rPr>
              <a:pPr algn="r"/>
              <a:t>60</a:t>
            </a:fld>
            <a:endParaRPr lang="en-US" sz="1200">
              <a:ea typeface="ＭＳ Ｐゴシック" pitchFamily="8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9FD4AA9-A3A7-438F-9736-A043C5DDC429}" type="datetimeFigureOut">
              <a:rPr lang="en-US"/>
              <a:pPr>
                <a:defRPr/>
              </a:pPr>
              <a:t>12/12/2015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9E49FD7-791F-496F-9C25-9FF29FC196A3}"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C351F5C-5C45-424E-BB2D-AA60B8EF51B2}" type="datetimeFigureOut">
              <a:rPr lang="en-US"/>
              <a:pPr>
                <a:defRPr/>
              </a:pPr>
              <a:t>12/12/2015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4174B6B-6B5B-44C1-814E-1B6413F625AC}"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7F35FC8-ACC8-42EF-9467-145817765C84}" type="datetimeFigureOut">
              <a:rPr lang="en-US"/>
              <a:pPr>
                <a:defRPr/>
              </a:pPr>
              <a:t>12/12/2015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36F3C9A-1A88-4150-9A61-11A165562509}"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EED55DAE-56A8-45E6-959C-A29F204E7E36}" type="datetimeFigureOut">
              <a:rPr lang="en-US"/>
              <a:pPr>
                <a:defRPr/>
              </a:pPr>
              <a:t>12/12/2015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BB14E62-C1AA-4A28-833E-C382986AABE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6F5F28B0-07FF-42CE-9CA6-AD831CB06136}" type="datetimeFigureOut">
              <a:rPr lang="en-US"/>
              <a:pPr>
                <a:defRPr/>
              </a:pPr>
              <a:t>12/12/2015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A9E3FF3-49FC-40F3-B90E-99244DD3CB0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2F369E12-F193-4BF3-9843-9CE653BF896E}" type="datetimeFigureOut">
              <a:rPr lang="en-US"/>
              <a:pPr>
                <a:defRPr/>
              </a:pPr>
              <a:t>12/12/2015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2BFB76B-67C0-4B88-96E2-1AB38EB440B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8FF9EC9-FBEB-405D-84AB-6F328559FF66}" type="datetimeFigureOut">
              <a:rPr lang="en-US"/>
              <a:pPr>
                <a:defRPr/>
              </a:pPr>
              <a:t>12/12/2015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C1313EE-4D43-413B-894A-73CEF60C143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59EBE60-6DAE-427D-9E03-9CDCC9D7E0A9}" type="datetimeFigureOut">
              <a:rPr lang="en-US"/>
              <a:pPr>
                <a:defRPr/>
              </a:pPr>
              <a:t>12/12/2015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0945E6-8E42-4565-B4CC-1AB440F7297A}"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0625DD5-F6E7-428F-A0D9-619FA8AF5FD6}" type="datetimeFigureOut">
              <a:rPr lang="en-US"/>
              <a:pPr>
                <a:defRPr/>
              </a:pPr>
              <a:t>12/12/2015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18F9859-90E3-4078-9A6F-AA6B97406F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9915232-713F-4661-8D50-6A9CD581052C}" type="datetimeFigureOut">
              <a:rPr lang="en-US"/>
              <a:pPr>
                <a:defRPr/>
              </a:pPr>
              <a:t>12/12/2015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A47B046-E2E0-4C0F-B95D-99A78864423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52DE78E-6606-401A-9C22-9067F38972C7}" type="datetimeFigureOut">
              <a:rPr lang="en-US"/>
              <a:pPr>
                <a:defRPr/>
              </a:pPr>
              <a:t>12/12/2015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8D40E0-0F0B-4E2C-B738-808EA7B52CF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75714AE5-2EFF-4B9E-A960-B669B78BD813}" type="datetimeFigureOut">
              <a:rPr lang="en-US"/>
              <a:pPr>
                <a:defRPr/>
              </a:pPr>
              <a:t>12/12/2015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936BECE1-3093-4740-8A53-92F6037DAD7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5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6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r>
              <a:rPr lang="en-US" smtClean="0"/>
              <a:t>Microbial Genetics</a:t>
            </a:r>
          </a:p>
        </p:txBody>
      </p:sp>
      <p:sp>
        <p:nvSpPr>
          <p:cNvPr id="3" name="Subtitle 2"/>
          <p:cNvSpPr>
            <a:spLocks noGrp="1"/>
          </p:cNvSpPr>
          <p:nvPr>
            <p:ph type="subTitle" idx="1"/>
          </p:nvPr>
        </p:nvSpPr>
        <p:spPr/>
        <p:txBody>
          <a:bodyPr/>
          <a:lstStyle/>
          <a:p>
            <a:pPr>
              <a:defRPr/>
            </a:pPr>
            <a:r>
              <a:rPr lang="en-US" dirty="0" smtClean="0"/>
              <a:t>Dr Alex </a:t>
            </a:r>
            <a:r>
              <a:rPr lang="en-US" dirty="0" err="1" smtClean="0"/>
              <a:t>Owusu-Ofori</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smtClean="0"/>
              <a:t>Lecture objectives</a:t>
            </a:r>
          </a:p>
        </p:txBody>
      </p:sp>
      <p:sp>
        <p:nvSpPr>
          <p:cNvPr id="3075" name="Content Placeholder 2"/>
          <p:cNvSpPr>
            <a:spLocks noGrp="1"/>
          </p:cNvSpPr>
          <p:nvPr>
            <p:ph idx="1"/>
          </p:nvPr>
        </p:nvSpPr>
        <p:spPr/>
        <p:txBody>
          <a:bodyPr/>
          <a:lstStyle/>
          <a:p>
            <a:r>
              <a:rPr lang="en-US" smtClean="0"/>
              <a:t>To understand the role of DNA in microorganisms</a:t>
            </a:r>
          </a:p>
          <a:p>
            <a:r>
              <a:rPr lang="en-US" smtClean="0"/>
              <a:t>To establish the genetic basis of microbial functions</a:t>
            </a:r>
          </a:p>
          <a:p>
            <a:r>
              <a:rPr lang="en-US" smtClean="0"/>
              <a:t>To appreciate some genetic mechanisms  including  transfer of DNA, mutation and gene rearrangement, genetic engineering and mutations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b="1" dirty="0" smtClean="0"/>
              <a:t>Microbial Genetics: Introduction</a:t>
            </a:r>
            <a:br>
              <a:rPr lang="en-US" b="1" dirty="0" smtClean="0"/>
            </a:br>
            <a:endParaRPr lang="en-US" dirty="0"/>
          </a:p>
        </p:txBody>
      </p:sp>
      <p:sp>
        <p:nvSpPr>
          <p:cNvPr id="3" name="Content Placeholder 2"/>
          <p:cNvSpPr>
            <a:spLocks noGrp="1"/>
          </p:cNvSpPr>
          <p:nvPr>
            <p:ph idx="1"/>
          </p:nvPr>
        </p:nvSpPr>
        <p:spPr>
          <a:xfrm>
            <a:off x="457200" y="1371600"/>
            <a:ext cx="8229600" cy="5029200"/>
          </a:xfrm>
        </p:spPr>
        <p:txBody>
          <a:bodyPr>
            <a:normAutofit fontScale="47500" lnSpcReduction="20000"/>
          </a:bodyPr>
          <a:lstStyle/>
          <a:p>
            <a:pPr>
              <a:buFont typeface="Arial" charset="0"/>
              <a:buNone/>
              <a:defRPr/>
            </a:pPr>
            <a:r>
              <a:rPr lang="en-US" sz="5100" dirty="0" smtClean="0"/>
              <a:t>Microbial Genetics (MG) forms the basis of  understanding most of the phenomena that causes problems in infectious diseases or that help us overcome infectious diseases. Development of antimicrobial resistance , disease re-emergence and the development of antimicrobials and vaccines.</a:t>
            </a:r>
          </a:p>
          <a:p>
            <a:pPr>
              <a:buFont typeface="Arial" charset="0"/>
              <a:buNone/>
              <a:defRPr/>
            </a:pPr>
            <a:endParaRPr lang="en-US" sz="5100" dirty="0"/>
          </a:p>
          <a:p>
            <a:pPr>
              <a:buFont typeface="Arial" charset="0"/>
              <a:buNone/>
              <a:defRPr/>
            </a:pPr>
            <a:r>
              <a:rPr lang="en-US" sz="5100" dirty="0" smtClean="0"/>
              <a:t>MG is the study of inheritance and the variability of the characteristics of microorganisms </a:t>
            </a:r>
          </a:p>
          <a:p>
            <a:pPr>
              <a:buFont typeface="Arial" charset="0"/>
              <a:buNone/>
              <a:defRPr/>
            </a:pPr>
            <a:endParaRPr lang="en-US" sz="5100" dirty="0"/>
          </a:p>
          <a:p>
            <a:pPr>
              <a:buFont typeface="Arial" charset="0"/>
              <a:buNone/>
              <a:defRPr/>
            </a:pPr>
            <a:r>
              <a:rPr lang="en-US" sz="5100" dirty="0" smtClean="0"/>
              <a:t>Inheritance concern the exact transmission of genetic information from parents to their progeny. Variability of the inheritance characteristics' can be accounted for either by a change in the genetic makeup of a cell or environmental conditions.</a:t>
            </a:r>
          </a:p>
          <a:p>
            <a:pPr>
              <a:buFont typeface="Arial" charset="0"/>
              <a:buNone/>
              <a:defRPr/>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title"/>
          </p:nvPr>
        </p:nvSpPr>
        <p:spPr/>
        <p:txBody>
          <a:bodyPr/>
          <a:lstStyle/>
          <a:p>
            <a:pPr eaLnBrk="1" hangingPunct="1"/>
            <a:r>
              <a:rPr lang="en-US" smtClean="0"/>
              <a:t>Terminologies in genetics</a:t>
            </a:r>
          </a:p>
        </p:txBody>
      </p:sp>
      <p:sp>
        <p:nvSpPr>
          <p:cNvPr id="11267" name="Rectangle 5"/>
          <p:cNvSpPr>
            <a:spLocks noGrp="1" noChangeArrowheads="1"/>
          </p:cNvSpPr>
          <p:nvPr>
            <p:ph type="body" idx="1"/>
          </p:nvPr>
        </p:nvSpPr>
        <p:spPr/>
        <p:txBody>
          <a:bodyPr rtlCol="0">
            <a:normAutofit fontScale="92500" lnSpcReduction="10000"/>
          </a:bodyPr>
          <a:lstStyle/>
          <a:p>
            <a:pPr eaLnBrk="1" fontAlgn="auto" hangingPunct="1">
              <a:spcAft>
                <a:spcPts val="0"/>
              </a:spcAft>
              <a:buFont typeface="Arial" pitchFamily="34" charset="0"/>
              <a:buChar char="•"/>
              <a:defRPr/>
            </a:pPr>
            <a:r>
              <a:rPr lang="en-US" dirty="0" smtClean="0"/>
              <a:t>Phenotype</a:t>
            </a:r>
          </a:p>
          <a:p>
            <a:pPr lvl="1" eaLnBrk="1" fontAlgn="auto" hangingPunct="1">
              <a:spcAft>
                <a:spcPts val="0"/>
              </a:spcAft>
              <a:buFont typeface="Arial" pitchFamily="34" charset="0"/>
              <a:buChar char="–"/>
              <a:defRPr/>
            </a:pPr>
            <a:r>
              <a:rPr lang="en-US" dirty="0" smtClean="0"/>
              <a:t>The appearance or discernible characteristics of a trait in an individual</a:t>
            </a:r>
          </a:p>
          <a:p>
            <a:pPr lvl="1" eaLnBrk="1" fontAlgn="auto" hangingPunct="1">
              <a:spcAft>
                <a:spcPts val="0"/>
              </a:spcAft>
              <a:buFont typeface="Arial" pitchFamily="34" charset="0"/>
              <a:buChar char="–"/>
              <a:defRPr/>
            </a:pPr>
            <a:r>
              <a:rPr lang="en-US" dirty="0" smtClean="0"/>
              <a:t>Mutation in a gene responsible for a phenotype may cause a change in the phenotype.</a:t>
            </a:r>
          </a:p>
          <a:p>
            <a:pPr lvl="1" eaLnBrk="1" fontAlgn="auto" hangingPunct="1">
              <a:spcAft>
                <a:spcPts val="0"/>
              </a:spcAft>
              <a:buFont typeface="Arial" pitchFamily="34" charset="0"/>
              <a:buChar char="–"/>
              <a:defRPr/>
            </a:pPr>
            <a:r>
              <a:rPr lang="en-US" dirty="0" smtClean="0"/>
              <a:t>Typically, more that one gene is responsible for a phenotype.</a:t>
            </a:r>
          </a:p>
          <a:p>
            <a:pPr eaLnBrk="1" fontAlgn="auto" hangingPunct="1">
              <a:spcAft>
                <a:spcPts val="0"/>
              </a:spcAft>
              <a:buFont typeface="Arial" pitchFamily="34" charset="0"/>
              <a:buChar char="•"/>
              <a:defRPr/>
            </a:pPr>
            <a:r>
              <a:rPr lang="en-US" dirty="0" smtClean="0"/>
              <a:t>Genotype</a:t>
            </a:r>
          </a:p>
          <a:p>
            <a:pPr lvl="1" eaLnBrk="1" fontAlgn="auto" hangingPunct="1">
              <a:spcAft>
                <a:spcPts val="0"/>
              </a:spcAft>
              <a:buFont typeface="Arial" pitchFamily="34" charset="0"/>
              <a:buChar char="–"/>
              <a:defRPr/>
            </a:pPr>
            <a:r>
              <a:rPr lang="en-US" dirty="0" smtClean="0"/>
              <a:t>The genetic makeup of an individual with reference to one or more specific genes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81000" y="0"/>
            <a:ext cx="8229600" cy="1143000"/>
          </a:xfrm>
        </p:spPr>
        <p:txBody>
          <a:bodyPr/>
          <a:lstStyle/>
          <a:p>
            <a:pPr eaLnBrk="1" hangingPunct="1"/>
            <a:r>
              <a:rPr lang="en-US" smtClean="0"/>
              <a:t>Terminologies in genetics</a:t>
            </a:r>
          </a:p>
        </p:txBody>
      </p:sp>
      <p:sp>
        <p:nvSpPr>
          <p:cNvPr id="6147" name="Rectangle 3"/>
          <p:cNvSpPr>
            <a:spLocks noGrp="1" noChangeArrowheads="1"/>
          </p:cNvSpPr>
          <p:nvPr>
            <p:ph type="body" idx="1"/>
          </p:nvPr>
        </p:nvSpPr>
        <p:spPr>
          <a:xfrm>
            <a:off x="304800" y="1219200"/>
            <a:ext cx="8229600" cy="5257800"/>
          </a:xfrm>
        </p:spPr>
        <p:txBody>
          <a:bodyPr/>
          <a:lstStyle/>
          <a:p>
            <a:pPr eaLnBrk="1" hangingPunct="1">
              <a:lnSpc>
                <a:spcPct val="90000"/>
              </a:lnSpc>
            </a:pPr>
            <a:endParaRPr lang="en-US" sz="1800" smtClean="0"/>
          </a:p>
          <a:p>
            <a:pPr eaLnBrk="1" hangingPunct="1">
              <a:lnSpc>
                <a:spcPct val="90000"/>
              </a:lnSpc>
            </a:pPr>
            <a:r>
              <a:rPr lang="en-US" sz="2400" smtClean="0"/>
              <a:t>Chromosome: The large DNA molecule of a bacterial cell that contains all the information/plans for the cell.</a:t>
            </a:r>
          </a:p>
          <a:p>
            <a:pPr eaLnBrk="1" hangingPunct="1">
              <a:lnSpc>
                <a:spcPct val="90000"/>
              </a:lnSpc>
            </a:pPr>
            <a:endParaRPr lang="en-US" sz="1200" smtClean="0"/>
          </a:p>
          <a:p>
            <a:pPr eaLnBrk="1" hangingPunct="1">
              <a:lnSpc>
                <a:spcPct val="90000"/>
              </a:lnSpc>
            </a:pPr>
            <a:r>
              <a:rPr lang="en-US" sz="2400" smtClean="0"/>
              <a:t>Gene: a segment of DNA and its sequence of nucleotides that codes for a functional product, usually but not always a protein.</a:t>
            </a:r>
          </a:p>
          <a:p>
            <a:pPr eaLnBrk="1" hangingPunct="1">
              <a:lnSpc>
                <a:spcPct val="90000"/>
              </a:lnSpc>
            </a:pPr>
            <a:endParaRPr lang="en-US" sz="1200" smtClean="0"/>
          </a:p>
          <a:p>
            <a:pPr eaLnBrk="1" hangingPunct="1">
              <a:lnSpc>
                <a:spcPct val="90000"/>
              </a:lnSpc>
            </a:pPr>
            <a:r>
              <a:rPr lang="en-US" sz="2400" smtClean="0"/>
              <a:t>Base pair:  In the double helix structure each rung of this twisted latter is made of 2 nucleotides either AT or GC, These complementary base pairs make the replication of DNA possible.  Each strand serves as a template for the other strand.</a:t>
            </a:r>
          </a:p>
          <a:p>
            <a:pPr eaLnBrk="1" hangingPunct="1">
              <a:lnSpc>
                <a:spcPct val="90000"/>
              </a:lnSpc>
            </a:pPr>
            <a:endParaRPr lang="en-US" sz="1200" smtClean="0"/>
          </a:p>
          <a:p>
            <a:pPr eaLnBrk="1" hangingPunct="1">
              <a:lnSpc>
                <a:spcPct val="90000"/>
              </a:lnSpc>
            </a:pPr>
            <a:r>
              <a:rPr lang="en-US" sz="2400" smtClean="0"/>
              <a:t>Genetic code:  the linear sequence of nucleotides that codes for specific RNA’s and proteins.  For proteins each set of 3 nucleotides codes for a specific amino acid within the protein.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8"/>
          <p:cNvSpPr>
            <a:spLocks noGrp="1" noChangeArrowheads="1"/>
          </p:cNvSpPr>
          <p:nvPr>
            <p:ph type="title"/>
          </p:nvPr>
        </p:nvSpPr>
        <p:spPr/>
        <p:txBody>
          <a:bodyPr/>
          <a:lstStyle/>
          <a:p>
            <a:pPr eaLnBrk="1" hangingPunct="1"/>
            <a:r>
              <a:rPr lang="en-US" smtClean="0"/>
              <a:t>Nucleic acids</a:t>
            </a:r>
          </a:p>
        </p:txBody>
      </p:sp>
      <p:sp>
        <p:nvSpPr>
          <p:cNvPr id="4099" name="Rectangle 9"/>
          <p:cNvSpPr>
            <a:spLocks noGrp="1" noChangeArrowheads="1"/>
          </p:cNvSpPr>
          <p:nvPr>
            <p:ph type="body" idx="1"/>
          </p:nvPr>
        </p:nvSpPr>
        <p:spPr/>
        <p:txBody>
          <a:bodyPr rtlCol="0">
            <a:normAutofit lnSpcReduction="10000"/>
          </a:bodyPr>
          <a:lstStyle/>
          <a:p>
            <a:pPr eaLnBrk="1" fontAlgn="auto" hangingPunct="1">
              <a:spcAft>
                <a:spcPts val="0"/>
              </a:spcAft>
              <a:buFont typeface="Arial" pitchFamily="34" charset="0"/>
              <a:buChar char="•"/>
              <a:defRPr/>
            </a:pPr>
            <a:r>
              <a:rPr lang="en-US" smtClean="0"/>
              <a:t>Nucleic Acids</a:t>
            </a:r>
          </a:p>
          <a:p>
            <a:pPr lvl="1" eaLnBrk="1" fontAlgn="auto" hangingPunct="1">
              <a:spcAft>
                <a:spcPts val="0"/>
              </a:spcAft>
              <a:buFont typeface="Arial" pitchFamily="34" charset="0"/>
              <a:buChar char="–"/>
              <a:defRPr/>
            </a:pPr>
            <a:r>
              <a:rPr lang="en-US" smtClean="0"/>
              <a:t>Composed of chains of nucleotides</a:t>
            </a:r>
          </a:p>
          <a:p>
            <a:pPr lvl="1" eaLnBrk="1" fontAlgn="auto" hangingPunct="1">
              <a:spcAft>
                <a:spcPts val="0"/>
              </a:spcAft>
              <a:buFont typeface="Arial" pitchFamily="34" charset="0"/>
              <a:buChar char="–"/>
              <a:defRPr/>
            </a:pPr>
            <a:r>
              <a:rPr lang="en-US" smtClean="0"/>
              <a:t>Nucleic acid molecules are usually composed of </a:t>
            </a:r>
            <a:br>
              <a:rPr lang="en-US" smtClean="0"/>
            </a:br>
            <a:r>
              <a:rPr lang="en-US" smtClean="0"/>
              <a:t>4 different nucleotides</a:t>
            </a:r>
          </a:p>
          <a:p>
            <a:pPr lvl="1" eaLnBrk="1" fontAlgn="auto" hangingPunct="1">
              <a:spcAft>
                <a:spcPts val="0"/>
              </a:spcAft>
              <a:buFont typeface="Arial" pitchFamily="34" charset="0"/>
              <a:buChar char="–"/>
              <a:defRPr/>
            </a:pPr>
            <a:r>
              <a:rPr lang="en-US" smtClean="0"/>
              <a:t>A nucleic acid molecule may contain several thousands or millions of nucleotides</a:t>
            </a:r>
          </a:p>
          <a:p>
            <a:pPr lvl="1" eaLnBrk="1" fontAlgn="auto" hangingPunct="1">
              <a:spcAft>
                <a:spcPts val="0"/>
              </a:spcAft>
              <a:buFont typeface="Arial" pitchFamily="34" charset="0"/>
              <a:buChar char="–"/>
              <a:defRPr/>
            </a:pPr>
            <a:r>
              <a:rPr lang="en-US" smtClean="0"/>
              <a:t>Each nucleic acid molecule has its own order, or “sequence,” of nucleotides</a:t>
            </a:r>
          </a:p>
          <a:p>
            <a:pPr lvl="1" eaLnBrk="1" fontAlgn="auto" hangingPunct="1">
              <a:spcAft>
                <a:spcPts val="0"/>
              </a:spcAft>
              <a:buFont typeface="Arial" pitchFamily="34" charset="0"/>
              <a:buChar char="–"/>
              <a:defRPr/>
            </a:pPr>
            <a:r>
              <a:rPr lang="en-US" smtClean="0"/>
              <a:t>The correct sequence of nucleotides is essential for the nucleic acid’s function</a:t>
            </a:r>
          </a:p>
          <a:p>
            <a:pPr eaLnBrk="1" fontAlgn="auto" hangingPunct="1">
              <a:spcAft>
                <a:spcPts val="0"/>
              </a:spcAft>
              <a:buFont typeface="Arial" pitchFamily="34" charset="0"/>
              <a:buChar char="•"/>
              <a:defRPr/>
            </a:pPr>
            <a:endParaRPr lang="en-US"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p:txBody>
          <a:bodyPr/>
          <a:lstStyle/>
          <a:p>
            <a:pPr eaLnBrk="1" hangingPunct="1"/>
            <a:r>
              <a:rPr lang="en-US" smtClean="0"/>
              <a:t>Nucleotide structure</a:t>
            </a:r>
          </a:p>
        </p:txBody>
      </p:sp>
      <p:sp>
        <p:nvSpPr>
          <p:cNvPr id="5123" name="Rectangle 5"/>
          <p:cNvSpPr>
            <a:spLocks noGrp="1" noChangeArrowheads="1"/>
          </p:cNvSpPr>
          <p:nvPr>
            <p:ph type="body" idx="1"/>
          </p:nvPr>
        </p:nvSpPr>
        <p:spPr/>
        <p:txBody>
          <a:bodyPr rtlCol="0">
            <a:normAutofit fontScale="92500"/>
          </a:bodyPr>
          <a:lstStyle/>
          <a:p>
            <a:pPr lvl="1" eaLnBrk="1" fontAlgn="auto" hangingPunct="1">
              <a:spcAft>
                <a:spcPts val="0"/>
              </a:spcAft>
              <a:buFont typeface="Arial" pitchFamily="34" charset="0"/>
              <a:buChar char="–"/>
              <a:defRPr/>
            </a:pPr>
            <a:r>
              <a:rPr lang="en-US" dirty="0" smtClean="0"/>
              <a:t>A nucleotide consists of:</a:t>
            </a:r>
          </a:p>
          <a:p>
            <a:pPr lvl="2" eaLnBrk="1" fontAlgn="auto" hangingPunct="1">
              <a:spcAft>
                <a:spcPts val="0"/>
              </a:spcAft>
              <a:buFont typeface="Arial" pitchFamily="34" charset="0"/>
              <a:buChar char="•"/>
              <a:defRPr/>
            </a:pPr>
            <a:r>
              <a:rPr lang="en-US" dirty="0" smtClean="0"/>
              <a:t>Nitrogenous base</a:t>
            </a:r>
          </a:p>
          <a:p>
            <a:pPr lvl="2" eaLnBrk="1" fontAlgn="auto" hangingPunct="1">
              <a:spcAft>
                <a:spcPts val="0"/>
              </a:spcAft>
              <a:buFont typeface="Arial" pitchFamily="34" charset="0"/>
              <a:buChar char="•"/>
              <a:defRPr/>
            </a:pPr>
            <a:r>
              <a:rPr lang="en-US" dirty="0" smtClean="0"/>
              <a:t>Pentose sugar</a:t>
            </a:r>
          </a:p>
          <a:p>
            <a:pPr lvl="2" eaLnBrk="1" fontAlgn="auto" hangingPunct="1">
              <a:spcAft>
                <a:spcPts val="0"/>
              </a:spcAft>
              <a:buFont typeface="Arial" pitchFamily="34" charset="0"/>
              <a:buChar char="•"/>
              <a:defRPr/>
            </a:pPr>
            <a:r>
              <a:rPr lang="en-US" dirty="0" smtClean="0"/>
              <a:t>Phosphate group</a:t>
            </a:r>
          </a:p>
          <a:p>
            <a:pPr lvl="1" eaLnBrk="1" fontAlgn="auto" hangingPunct="1">
              <a:spcAft>
                <a:spcPts val="0"/>
              </a:spcAft>
              <a:buFont typeface="Arial" pitchFamily="34" charset="0"/>
              <a:buChar char="–"/>
              <a:defRPr/>
            </a:pPr>
            <a:r>
              <a:rPr lang="en-US" dirty="0" smtClean="0"/>
              <a:t>Nitrogenous bases: </a:t>
            </a:r>
          </a:p>
          <a:p>
            <a:pPr lvl="2" eaLnBrk="1" fontAlgn="auto" hangingPunct="1">
              <a:spcAft>
                <a:spcPts val="0"/>
              </a:spcAft>
              <a:buFont typeface="Arial" pitchFamily="34" charset="0"/>
              <a:buChar char="•"/>
              <a:defRPr/>
            </a:pPr>
            <a:r>
              <a:rPr lang="en-US" dirty="0" err="1" smtClean="0"/>
              <a:t>Purines</a:t>
            </a:r>
            <a:r>
              <a:rPr lang="en-US" dirty="0" smtClean="0"/>
              <a:t>: adenine &amp; guanine</a:t>
            </a:r>
          </a:p>
          <a:p>
            <a:pPr lvl="2" eaLnBrk="1" fontAlgn="auto" hangingPunct="1">
              <a:spcAft>
                <a:spcPts val="0"/>
              </a:spcAft>
              <a:buFont typeface="Arial" pitchFamily="34" charset="0"/>
              <a:buChar char="•"/>
              <a:defRPr/>
            </a:pPr>
            <a:r>
              <a:rPr lang="en-US" dirty="0" err="1" smtClean="0"/>
              <a:t>Pyrimidines</a:t>
            </a:r>
            <a:r>
              <a:rPr lang="en-US" dirty="0" smtClean="0"/>
              <a:t>: cytosine, thymine (in DNA), &amp; </a:t>
            </a:r>
            <a:r>
              <a:rPr lang="en-US" dirty="0" err="1" smtClean="0"/>
              <a:t>uracil</a:t>
            </a:r>
            <a:r>
              <a:rPr lang="en-US" dirty="0" smtClean="0"/>
              <a:t> (in RNA)</a:t>
            </a:r>
          </a:p>
          <a:p>
            <a:pPr lvl="1" eaLnBrk="1" fontAlgn="auto" hangingPunct="1">
              <a:spcAft>
                <a:spcPts val="0"/>
              </a:spcAft>
              <a:buFont typeface="Arial" pitchFamily="34" charset="0"/>
              <a:buChar char="–"/>
              <a:defRPr/>
            </a:pPr>
            <a:r>
              <a:rPr lang="en-US" dirty="0" smtClean="0"/>
              <a:t>Pentose sugars:</a:t>
            </a:r>
          </a:p>
          <a:p>
            <a:pPr lvl="2" eaLnBrk="1" fontAlgn="auto" hangingPunct="1">
              <a:spcAft>
                <a:spcPts val="0"/>
              </a:spcAft>
              <a:buFont typeface="Arial" pitchFamily="34" charset="0"/>
              <a:buChar char="•"/>
              <a:defRPr/>
            </a:pPr>
            <a:r>
              <a:rPr lang="en-US" dirty="0" smtClean="0"/>
              <a:t>Ribose (found in RNA)</a:t>
            </a:r>
          </a:p>
          <a:p>
            <a:pPr lvl="2" eaLnBrk="1" fontAlgn="auto" hangingPunct="1">
              <a:spcAft>
                <a:spcPts val="0"/>
              </a:spcAft>
              <a:buFont typeface="Arial" pitchFamily="34" charset="0"/>
              <a:buChar char="•"/>
              <a:defRPr/>
            </a:pPr>
            <a:r>
              <a:rPr lang="en-US" dirty="0" err="1" smtClean="0"/>
              <a:t>Deoxyribose</a:t>
            </a:r>
            <a:r>
              <a:rPr lang="en-US" dirty="0" smtClean="0"/>
              <a:t> (found in DNA)</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Deoxyribonucleic acid (DNA)</a:t>
            </a:r>
          </a:p>
        </p:txBody>
      </p:sp>
      <p:sp>
        <p:nvSpPr>
          <p:cNvPr id="9219" name="Rectangle 3"/>
          <p:cNvSpPr>
            <a:spLocks noGrp="1" noChangeArrowheads="1"/>
          </p:cNvSpPr>
          <p:nvPr>
            <p:ph type="body" idx="1"/>
          </p:nvPr>
        </p:nvSpPr>
        <p:spPr/>
        <p:txBody>
          <a:bodyPr/>
          <a:lstStyle/>
          <a:p>
            <a:pPr eaLnBrk="1" hangingPunct="1"/>
            <a:r>
              <a:rPr lang="en-US" smtClean="0"/>
              <a:t>DNA</a:t>
            </a:r>
          </a:p>
          <a:p>
            <a:pPr lvl="1" eaLnBrk="1" hangingPunct="1"/>
            <a:r>
              <a:rPr lang="en-US" smtClean="0"/>
              <a:t>Pentose sugar: 2’-deoxyribose</a:t>
            </a:r>
          </a:p>
          <a:p>
            <a:pPr lvl="1" eaLnBrk="1" hangingPunct="1"/>
            <a:r>
              <a:rPr lang="en-US" smtClean="0"/>
              <a:t>Nitrogenous bases: </a:t>
            </a:r>
            <a:br>
              <a:rPr lang="en-US" smtClean="0"/>
            </a:br>
            <a:r>
              <a:rPr lang="en-US" smtClean="0"/>
              <a:t>Adenine and guanine (purines)</a:t>
            </a:r>
            <a:br>
              <a:rPr lang="en-US" smtClean="0"/>
            </a:br>
            <a:r>
              <a:rPr lang="en-US" smtClean="0"/>
              <a:t>Cytosine and thymine (pyrimidines)</a:t>
            </a:r>
          </a:p>
          <a:p>
            <a:pPr lvl="1" eaLnBrk="1" hangingPunct="1"/>
            <a:r>
              <a:rPr lang="en-US" smtClean="0"/>
              <a:t>Structure is typically a double-stranded helix</a:t>
            </a:r>
          </a:p>
          <a:p>
            <a:pPr lvl="1" eaLnBrk="1" hangingPunct="1"/>
            <a:r>
              <a:rPr lang="en-US" smtClean="0"/>
              <a:t>Nucleotide sequences of the strands are complementary to each other, A pairing with T and C pairing with G</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www.chemguide.co.uk/organicprops/aminoacids/doublehelix.gif"/>
          <p:cNvPicPr>
            <a:picLocks noChangeAspect="1" noChangeArrowheads="1"/>
          </p:cNvPicPr>
          <p:nvPr/>
        </p:nvPicPr>
        <p:blipFill>
          <a:blip r:embed="rId2"/>
          <a:srcRect/>
          <a:stretch>
            <a:fillRect/>
          </a:stretch>
        </p:blipFill>
        <p:spPr bwMode="auto">
          <a:xfrm>
            <a:off x="533400" y="990600"/>
            <a:ext cx="8077200" cy="5695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smtClean="0"/>
              <a:t>Ribonucleic acid (RNA)</a:t>
            </a:r>
          </a:p>
        </p:txBody>
      </p:sp>
      <p:sp>
        <p:nvSpPr>
          <p:cNvPr id="7171" name="Rectangle 3"/>
          <p:cNvSpPr>
            <a:spLocks noGrp="1" noChangeArrowheads="1"/>
          </p:cNvSpPr>
          <p:nvPr>
            <p:ph type="body" idx="1"/>
          </p:nvPr>
        </p:nvSpPr>
        <p:spPr/>
        <p:txBody>
          <a:bodyPr rtlCol="0">
            <a:normAutofit fontScale="77500" lnSpcReduction="20000"/>
          </a:bodyPr>
          <a:lstStyle/>
          <a:p>
            <a:pPr eaLnBrk="1" fontAlgn="auto" hangingPunct="1">
              <a:spcAft>
                <a:spcPts val="0"/>
              </a:spcAft>
              <a:buFont typeface="Arial" pitchFamily="34" charset="0"/>
              <a:buChar char="•"/>
              <a:defRPr/>
            </a:pPr>
            <a:r>
              <a:rPr lang="en-US" sz="3600" dirty="0" smtClean="0"/>
              <a:t>RNA:</a:t>
            </a:r>
          </a:p>
          <a:p>
            <a:pPr lvl="1" eaLnBrk="1" fontAlgn="auto" hangingPunct="1">
              <a:spcAft>
                <a:spcPts val="0"/>
              </a:spcAft>
              <a:buFont typeface="Arial" pitchFamily="34" charset="0"/>
              <a:buChar char="–"/>
              <a:defRPr/>
            </a:pPr>
            <a:r>
              <a:rPr lang="en-US" sz="3300" dirty="0" smtClean="0"/>
              <a:t>Pentose sugar: Ribose</a:t>
            </a:r>
          </a:p>
          <a:p>
            <a:pPr lvl="1" eaLnBrk="1" fontAlgn="auto" hangingPunct="1">
              <a:spcAft>
                <a:spcPts val="0"/>
              </a:spcAft>
              <a:buFont typeface="Arial" pitchFamily="34" charset="0"/>
              <a:buChar char="–"/>
              <a:defRPr/>
            </a:pPr>
            <a:r>
              <a:rPr lang="en-US" sz="3300" dirty="0" smtClean="0"/>
              <a:t>Nitrogenous bases: </a:t>
            </a:r>
            <a:br>
              <a:rPr lang="en-US" sz="3300" dirty="0" smtClean="0"/>
            </a:br>
            <a:r>
              <a:rPr lang="en-US" sz="3300" dirty="0" smtClean="0"/>
              <a:t>Adenine and guanine (</a:t>
            </a:r>
            <a:r>
              <a:rPr lang="en-US" sz="3300" dirty="0" err="1" smtClean="0"/>
              <a:t>purines</a:t>
            </a:r>
            <a:r>
              <a:rPr lang="en-US" sz="3300" dirty="0" smtClean="0"/>
              <a:t>)</a:t>
            </a:r>
            <a:br>
              <a:rPr lang="en-US" sz="3300" dirty="0" smtClean="0"/>
            </a:br>
            <a:r>
              <a:rPr lang="en-US" sz="3300" dirty="0" smtClean="0"/>
              <a:t>Cytosine and </a:t>
            </a:r>
            <a:r>
              <a:rPr lang="en-US" sz="3300" dirty="0" err="1" smtClean="0"/>
              <a:t>uracil</a:t>
            </a:r>
            <a:r>
              <a:rPr lang="en-US" sz="3300" dirty="0" smtClean="0"/>
              <a:t> (</a:t>
            </a:r>
            <a:r>
              <a:rPr lang="en-US" sz="3300" dirty="0" err="1" smtClean="0"/>
              <a:t>pyrimidines</a:t>
            </a:r>
            <a:r>
              <a:rPr lang="en-US" sz="3300" dirty="0" smtClean="0"/>
              <a:t>)</a:t>
            </a:r>
          </a:p>
          <a:p>
            <a:pPr lvl="1" eaLnBrk="1" fontAlgn="auto" hangingPunct="1">
              <a:spcAft>
                <a:spcPts val="0"/>
              </a:spcAft>
              <a:buFont typeface="Arial" pitchFamily="34" charset="0"/>
              <a:buChar char="–"/>
              <a:defRPr/>
            </a:pPr>
            <a:r>
              <a:rPr lang="en-US" sz="3300" dirty="0" smtClean="0"/>
              <a:t>Structure is typically single-stranded; however, there may be internal complementary regions within an RNA strand that can form double-stranded “hairpin loops” (C to G; A to U)</a:t>
            </a:r>
          </a:p>
          <a:p>
            <a:pPr lvl="1" eaLnBrk="1" fontAlgn="auto" hangingPunct="1">
              <a:spcAft>
                <a:spcPts val="0"/>
              </a:spcAft>
              <a:buFont typeface="Arial" pitchFamily="34" charset="0"/>
              <a:buChar char="–"/>
              <a:defRPr/>
            </a:pPr>
            <a:r>
              <a:rPr lang="en-US" sz="3300" dirty="0" smtClean="0"/>
              <a:t>An RNA strand can also form a double-stranded structure with a DNA strand; in this case, the U on the RNA will base-pair with the A on the DNA.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lstStyle/>
          <a:p>
            <a:pPr eaLnBrk="1" hangingPunct="1"/>
            <a:r>
              <a:rPr lang="en-US" smtClean="0"/>
              <a:t>Overall function</a:t>
            </a:r>
          </a:p>
        </p:txBody>
      </p:sp>
      <p:sp>
        <p:nvSpPr>
          <p:cNvPr id="8195" name="Rectangle 5"/>
          <p:cNvSpPr>
            <a:spLocks noGrp="1" noChangeArrowheads="1"/>
          </p:cNvSpPr>
          <p:nvPr>
            <p:ph type="body" idx="1"/>
          </p:nvPr>
        </p:nvSpPr>
        <p:spPr/>
        <p:txBody>
          <a:bodyPr rtlCol="0">
            <a:normAutofit fontScale="92500" lnSpcReduction="20000"/>
          </a:bodyPr>
          <a:lstStyle/>
          <a:p>
            <a:pPr lvl="1" eaLnBrk="1" fontAlgn="auto" hangingPunct="1">
              <a:spcAft>
                <a:spcPts val="0"/>
              </a:spcAft>
              <a:buFont typeface="Arial" pitchFamily="34" charset="0"/>
              <a:buChar char="–"/>
              <a:defRPr/>
            </a:pPr>
            <a:r>
              <a:rPr lang="en-US" dirty="0" smtClean="0"/>
              <a:t>The nucleotide sequence of a nucleic acid molecule encodes the amino acid sequence of a protein. </a:t>
            </a:r>
          </a:p>
          <a:p>
            <a:pPr lvl="1" eaLnBrk="1" fontAlgn="auto" hangingPunct="1">
              <a:spcAft>
                <a:spcPts val="0"/>
              </a:spcAft>
              <a:buFont typeface="Arial" pitchFamily="34" charset="0"/>
              <a:buChar char="–"/>
              <a:defRPr/>
            </a:pPr>
            <a:r>
              <a:rPr lang="en-US" dirty="0" smtClean="0"/>
              <a:t>Genome: The entire nucleotide sequence of an organism; transmitted to offspring during reproduction</a:t>
            </a:r>
          </a:p>
          <a:p>
            <a:pPr lvl="1" eaLnBrk="1" fontAlgn="auto" hangingPunct="1">
              <a:spcAft>
                <a:spcPts val="0"/>
              </a:spcAft>
              <a:buFont typeface="Arial" pitchFamily="34" charset="0"/>
              <a:buChar char="–"/>
              <a:defRPr/>
            </a:pPr>
            <a:r>
              <a:rPr lang="en-US" dirty="0" smtClean="0"/>
              <a:t>Deoxyribonucleic acid (DNA): DNA molecules serve as the genome for the proteins of all cellular organisms, both eukaryotic and prokaryotic. DNA also serves as the genome for certain viral groups.</a:t>
            </a:r>
          </a:p>
          <a:p>
            <a:pPr lvl="1" eaLnBrk="1" fontAlgn="auto" hangingPunct="1">
              <a:spcAft>
                <a:spcPts val="0"/>
              </a:spcAft>
              <a:buFont typeface="Arial" pitchFamily="34" charset="0"/>
              <a:buChar char="–"/>
              <a:defRPr/>
            </a:pPr>
            <a:r>
              <a:rPr lang="en-US" dirty="0" smtClean="0"/>
              <a:t>Ribonucleic acid (RNA): RNA molecules serve as an intermediate in gene expression in eukaryotic and prokaryotic organisms, as well as some viruses. RNA serves as the genome for certain viral groups.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lstStyle/>
          <a:p>
            <a:pPr eaLnBrk="1" hangingPunct="1"/>
            <a:r>
              <a:rPr lang="en-US" smtClean="0"/>
              <a:t>Important Processes in Genetics</a:t>
            </a:r>
          </a:p>
        </p:txBody>
      </p:sp>
      <p:sp>
        <p:nvSpPr>
          <p:cNvPr id="9219" name="Rectangle 5"/>
          <p:cNvSpPr>
            <a:spLocks noGrp="1" noChangeArrowheads="1"/>
          </p:cNvSpPr>
          <p:nvPr>
            <p:ph type="body" idx="1"/>
          </p:nvPr>
        </p:nvSpPr>
        <p:spPr/>
        <p:txBody>
          <a:bodyPr rtlCol="0">
            <a:normAutofit fontScale="92500" lnSpcReduction="10000"/>
          </a:bodyPr>
          <a:lstStyle/>
          <a:p>
            <a:pPr lvl="1" eaLnBrk="1" fontAlgn="auto" hangingPunct="1">
              <a:spcAft>
                <a:spcPts val="0"/>
              </a:spcAft>
              <a:buFont typeface="Arial" pitchFamily="34" charset="0"/>
              <a:buChar char="–"/>
              <a:defRPr/>
            </a:pPr>
            <a:r>
              <a:rPr lang="en-US" dirty="0" smtClean="0"/>
              <a:t>DNA Replication: The sequence of a nucleotide in a DNA molecule serves as a template to copy itself, so two identical copies of the DNA helix are formed.</a:t>
            </a:r>
          </a:p>
          <a:p>
            <a:pPr lvl="1" eaLnBrk="1" fontAlgn="auto" hangingPunct="1">
              <a:spcAft>
                <a:spcPts val="0"/>
              </a:spcAft>
              <a:buFont typeface="Arial" pitchFamily="34" charset="0"/>
              <a:buChar char="–"/>
              <a:defRPr/>
            </a:pPr>
            <a:r>
              <a:rPr lang="en-US" dirty="0" smtClean="0"/>
              <a:t>Transcription: The sequence of nucleotides in a DNA molecule serves as a template for the synthesis of an RNA molecule; typically, only a small segment of the DNA is copied. This is the first step in gene expression.</a:t>
            </a:r>
          </a:p>
          <a:p>
            <a:pPr lvl="1" eaLnBrk="1" fontAlgn="auto" hangingPunct="1">
              <a:spcAft>
                <a:spcPts val="0"/>
              </a:spcAft>
              <a:buFont typeface="Arial" pitchFamily="34" charset="0"/>
              <a:buChar char="–"/>
              <a:defRPr/>
            </a:pPr>
            <a:r>
              <a:rPr lang="en-US" dirty="0" smtClean="0"/>
              <a:t>Translation: The sequence of nucleotides in an RNA molecule serves to direct the assembly of amino acids into a protein chain on a ribosome. This is the second step in gene expression.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7" descr="figure_08_02_labeled"/>
          <p:cNvPicPr>
            <a:picLocks noChangeAspect="1" noChangeArrowheads="1"/>
          </p:cNvPicPr>
          <p:nvPr/>
        </p:nvPicPr>
        <p:blipFill>
          <a:blip r:embed="rId3"/>
          <a:srcRect b="3009"/>
          <a:stretch>
            <a:fillRect/>
          </a:stretch>
        </p:blipFill>
        <p:spPr bwMode="auto">
          <a:xfrm>
            <a:off x="304800" y="1258888"/>
            <a:ext cx="8547100" cy="4913312"/>
          </a:xfrm>
          <a:prstGeom prst="rect">
            <a:avLst/>
          </a:prstGeom>
          <a:noFill/>
          <a:ln w="9525">
            <a:noFill/>
            <a:miter lim="800000"/>
            <a:headEnd/>
            <a:tailEnd/>
          </a:ln>
        </p:spPr>
      </p:pic>
      <p:sp>
        <p:nvSpPr>
          <p:cNvPr id="14339" name="Rectangle 8"/>
          <p:cNvSpPr>
            <a:spLocks noGrp="1" noChangeArrowheads="1"/>
          </p:cNvSpPr>
          <p:nvPr>
            <p:ph type="title" idx="4294967295"/>
          </p:nvPr>
        </p:nvSpPr>
        <p:spPr/>
        <p:txBody>
          <a:bodyPr lIns="0" tIns="0" rIns="0" bIns="0" anchor="t"/>
          <a:lstStyle/>
          <a:p>
            <a:pPr eaLnBrk="1" hangingPunct="1"/>
            <a:r>
              <a:rPr lang="en-US" smtClean="0"/>
              <a:t>The Flow of Genetic Information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mtClean="0"/>
              <a:t>DNA Replication</a:t>
            </a:r>
          </a:p>
        </p:txBody>
      </p:sp>
      <p:sp>
        <p:nvSpPr>
          <p:cNvPr id="15363" name="Rectangle 3"/>
          <p:cNvSpPr>
            <a:spLocks noGrp="1" noChangeArrowheads="1"/>
          </p:cNvSpPr>
          <p:nvPr>
            <p:ph type="body" idx="1"/>
          </p:nvPr>
        </p:nvSpPr>
        <p:spPr/>
        <p:txBody>
          <a:bodyPr/>
          <a:lstStyle/>
          <a:p>
            <a:pPr eaLnBrk="1" hangingPunct="1"/>
            <a:r>
              <a:rPr lang="en-US" smtClean="0"/>
              <a:t>The double strand of DNA is separated.</a:t>
            </a:r>
          </a:p>
          <a:p>
            <a:pPr eaLnBrk="1" hangingPunct="1"/>
            <a:r>
              <a:rPr lang="en-US" smtClean="0"/>
              <a:t>DNA polymerase reads the DNA strand and creates another.</a:t>
            </a:r>
          </a:p>
          <a:p>
            <a:pPr eaLnBrk="1" hangingPunct="1"/>
            <a:r>
              <a:rPr lang="en-US" smtClean="0"/>
              <a:t>The newly synthesized DNA contains an old strand and a new strand.</a:t>
            </a:r>
          </a:p>
          <a:p>
            <a:pPr eaLnBrk="1" hangingPunct="1"/>
            <a:r>
              <a:rPr lang="en-US" smtClean="0"/>
              <a:t>The two new strands are then separated into the two new daughter cells.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7" descr="figure_08_03a_labeled"/>
          <p:cNvPicPr>
            <a:picLocks noChangeAspect="1" noChangeArrowheads="1"/>
          </p:cNvPicPr>
          <p:nvPr/>
        </p:nvPicPr>
        <p:blipFill>
          <a:blip r:embed="rId3"/>
          <a:srcRect b="2762"/>
          <a:stretch>
            <a:fillRect/>
          </a:stretch>
        </p:blipFill>
        <p:spPr bwMode="auto">
          <a:xfrm>
            <a:off x="1773238" y="885825"/>
            <a:ext cx="5618162" cy="5591175"/>
          </a:xfrm>
          <a:prstGeom prst="rect">
            <a:avLst/>
          </a:prstGeom>
          <a:noFill/>
          <a:ln w="9525">
            <a:noFill/>
            <a:miter lim="800000"/>
            <a:headEnd/>
            <a:tailEnd/>
          </a:ln>
        </p:spPr>
      </p:pic>
      <p:sp>
        <p:nvSpPr>
          <p:cNvPr id="16387" name="Rectangle 8"/>
          <p:cNvSpPr>
            <a:spLocks noGrp="1" noChangeArrowheads="1"/>
          </p:cNvSpPr>
          <p:nvPr>
            <p:ph type="title" idx="4294967295"/>
          </p:nvPr>
        </p:nvSpPr>
        <p:spPr/>
        <p:txBody>
          <a:bodyPr lIns="0" tIns="0" rIns="0" bIns="0" anchor="t"/>
          <a:lstStyle/>
          <a:p>
            <a:pPr eaLnBrk="1" hangingPunct="1"/>
            <a:r>
              <a:rPr lang="en-US" smtClean="0"/>
              <a:t>Semiconservative Replication</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7" descr="figure_08_04_labeled"/>
          <p:cNvPicPr>
            <a:picLocks noChangeAspect="1" noChangeArrowheads="1"/>
          </p:cNvPicPr>
          <p:nvPr/>
        </p:nvPicPr>
        <p:blipFill>
          <a:blip r:embed="rId3"/>
          <a:srcRect b="2556"/>
          <a:stretch>
            <a:fillRect/>
          </a:stretch>
        </p:blipFill>
        <p:spPr bwMode="auto">
          <a:xfrm>
            <a:off x="901700" y="1066800"/>
            <a:ext cx="7251700" cy="5237163"/>
          </a:xfrm>
          <a:prstGeom prst="rect">
            <a:avLst/>
          </a:prstGeom>
          <a:noFill/>
          <a:ln w="9525">
            <a:noFill/>
            <a:miter lim="800000"/>
            <a:headEnd/>
            <a:tailEnd/>
          </a:ln>
        </p:spPr>
      </p:pic>
      <p:sp>
        <p:nvSpPr>
          <p:cNvPr id="17411" name="Rectangle 8"/>
          <p:cNvSpPr>
            <a:spLocks noGrp="1" noChangeArrowheads="1"/>
          </p:cNvSpPr>
          <p:nvPr>
            <p:ph type="title" idx="4294967295"/>
          </p:nvPr>
        </p:nvSpPr>
        <p:spPr/>
        <p:txBody>
          <a:bodyPr lIns="0" tIns="0" rIns="0" bIns="0" anchor="t"/>
          <a:lstStyle/>
          <a:p>
            <a:pPr eaLnBrk="1" hangingPunct="1"/>
            <a:r>
              <a:rPr lang="en-US" smtClean="0"/>
              <a:t>DNA Synthesis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idx="4294967295"/>
          </p:nvPr>
        </p:nvSpPr>
        <p:spPr/>
        <p:txBody>
          <a:bodyPr lIns="0" tIns="0" rIns="0" bIns="0" anchor="t"/>
          <a:lstStyle/>
          <a:p>
            <a:pPr eaLnBrk="1" hangingPunct="1"/>
            <a:r>
              <a:rPr lang="en-US" smtClean="0"/>
              <a:t>DNA Synthesis</a:t>
            </a:r>
          </a:p>
        </p:txBody>
      </p:sp>
      <p:sp>
        <p:nvSpPr>
          <p:cNvPr id="18435" name="Rectangle 5"/>
          <p:cNvSpPr>
            <a:spLocks noGrp="1" noChangeArrowheads="1"/>
          </p:cNvSpPr>
          <p:nvPr>
            <p:ph type="body" idx="4294967295"/>
          </p:nvPr>
        </p:nvSpPr>
        <p:spPr>
          <a:xfrm>
            <a:off x="457200" y="1219200"/>
            <a:ext cx="8229600" cy="4525963"/>
          </a:xfrm>
        </p:spPr>
        <p:txBody>
          <a:bodyPr lIns="0" tIns="0" rIns="0" bIns="0"/>
          <a:lstStyle/>
          <a:p>
            <a:pPr eaLnBrk="1" hangingPunct="1"/>
            <a:r>
              <a:rPr lang="en-US" dirty="0" smtClean="0"/>
              <a:t>DNA is copied by DNA polymerase</a:t>
            </a:r>
          </a:p>
          <a:p>
            <a:pPr lvl="1" eaLnBrk="1" hangingPunct="1"/>
            <a:r>
              <a:rPr lang="en-US" dirty="0" smtClean="0"/>
              <a:t>In the 5</a:t>
            </a:r>
            <a:r>
              <a:rPr lang="en-US" dirty="0" smtClean="0">
                <a:sym typeface="Symbol" pitchFamily="48" charset="2"/>
              </a:rPr>
              <a:t>'</a:t>
            </a:r>
            <a:r>
              <a:rPr lang="en-US" dirty="0" smtClean="0"/>
              <a:t> </a:t>
            </a:r>
            <a:r>
              <a:rPr lang="en-US" dirty="0" smtClean="0">
                <a:sym typeface="Symbol" pitchFamily="48" charset="2"/>
              </a:rPr>
              <a:t></a:t>
            </a:r>
            <a:r>
              <a:rPr lang="en-US" dirty="0" smtClean="0"/>
              <a:t> 3</a:t>
            </a:r>
            <a:r>
              <a:rPr lang="en-US" dirty="0" smtClean="0">
                <a:sym typeface="Symbol" pitchFamily="48" charset="2"/>
              </a:rPr>
              <a:t>'</a:t>
            </a:r>
            <a:r>
              <a:rPr lang="en-US" dirty="0" smtClean="0"/>
              <a:t> direction</a:t>
            </a:r>
          </a:p>
          <a:p>
            <a:pPr lvl="1" eaLnBrk="1" hangingPunct="1"/>
            <a:r>
              <a:rPr lang="en-US" dirty="0" smtClean="0"/>
              <a:t>Initiated by an RNA primer</a:t>
            </a:r>
          </a:p>
          <a:p>
            <a:pPr lvl="1" eaLnBrk="1" hangingPunct="1"/>
            <a:r>
              <a:rPr lang="en-US" dirty="0" smtClean="0"/>
              <a:t>Leading strand is synthesized continuously</a:t>
            </a:r>
          </a:p>
          <a:p>
            <a:pPr lvl="1" eaLnBrk="1" hangingPunct="1"/>
            <a:r>
              <a:rPr lang="en-US" dirty="0" smtClean="0"/>
              <a:t>Lagging strand is synthesized discontinuously </a:t>
            </a:r>
          </a:p>
          <a:p>
            <a:pPr lvl="1" eaLnBrk="1" hangingPunct="1"/>
            <a:r>
              <a:rPr lang="en-US" dirty="0" smtClean="0"/>
              <a:t>Okazaki fragments </a:t>
            </a:r>
          </a:p>
          <a:p>
            <a:pPr lvl="1" eaLnBrk="1" hangingPunct="1"/>
            <a:r>
              <a:rPr lang="en-US" dirty="0" smtClean="0"/>
              <a:t>RNA primers are removed and Okazaki fragments joined by a DNA polymerase and DNA ligase </a:t>
            </a:r>
          </a:p>
          <a:p>
            <a:pPr lvl="1" eaLnBrk="1" hangingPunct="1"/>
            <a:r>
              <a:rPr lang="en-US" b="1" dirty="0"/>
              <a:t>Okazaki fragments</a:t>
            </a:r>
            <a:r>
              <a:rPr lang="en-US" dirty="0"/>
              <a:t> are short, newly synthesized DNA fragments that are formed on the lagging template strand during DNA replication</a:t>
            </a:r>
            <a:endParaRPr lang="en-US"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mtClean="0"/>
              <a:t>Transcription</a:t>
            </a:r>
          </a:p>
        </p:txBody>
      </p:sp>
      <p:sp>
        <p:nvSpPr>
          <p:cNvPr id="19459" name="Rectangle 3"/>
          <p:cNvSpPr>
            <a:spLocks noGrp="1" noChangeArrowheads="1"/>
          </p:cNvSpPr>
          <p:nvPr>
            <p:ph type="body" idx="1"/>
          </p:nvPr>
        </p:nvSpPr>
        <p:spPr/>
        <p:txBody>
          <a:bodyPr/>
          <a:lstStyle/>
          <a:p>
            <a:pPr eaLnBrk="1" hangingPunct="1">
              <a:buFont typeface="Arial" charset="0"/>
              <a:buNone/>
            </a:pPr>
            <a:r>
              <a:rPr lang="en-US" smtClean="0"/>
              <a:t>Transcription is the synthesis of RNA</a:t>
            </a:r>
          </a:p>
          <a:p>
            <a:pPr eaLnBrk="1" hangingPunct="1"/>
            <a:endParaRPr lang="en-US" smtClean="0"/>
          </a:p>
          <a:p>
            <a:pPr eaLnBrk="1" hangingPunct="1"/>
            <a:r>
              <a:rPr lang="en-US" smtClean="0"/>
              <a:t>A sequence of DNA is relaxed and opened up.</a:t>
            </a:r>
          </a:p>
          <a:p>
            <a:pPr eaLnBrk="1" hangingPunct="1"/>
            <a:r>
              <a:rPr lang="en-US" smtClean="0"/>
              <a:t>RNA polymerase synthesizes a strand of RNA</a:t>
            </a:r>
          </a:p>
          <a:p>
            <a:pPr eaLnBrk="1" hangingPunct="1"/>
            <a:r>
              <a:rPr lang="en-US" smtClean="0"/>
              <a:t>RNA uses ACGU</a:t>
            </a:r>
          </a:p>
          <a:p>
            <a:pPr eaLnBrk="1" hangingPunct="1"/>
            <a:r>
              <a:rPr lang="en-US" smtClean="0"/>
              <a:t>Starting point is a promoter</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17"/>
          <p:cNvGrpSpPr>
            <a:grpSpLocks/>
          </p:cNvGrpSpPr>
          <p:nvPr/>
        </p:nvGrpSpPr>
        <p:grpSpPr bwMode="auto">
          <a:xfrm>
            <a:off x="292100" y="1447800"/>
            <a:ext cx="8547100" cy="4572000"/>
            <a:chOff x="144" y="144"/>
            <a:chExt cx="5384" cy="2880"/>
          </a:xfrm>
        </p:grpSpPr>
        <p:pic>
          <p:nvPicPr>
            <p:cNvPr id="20484" name="Picture 13" descr="figure_08_07_2_labeled"/>
            <p:cNvPicPr>
              <a:picLocks noChangeAspect="1" noChangeArrowheads="1"/>
            </p:cNvPicPr>
            <p:nvPr/>
          </p:nvPicPr>
          <p:blipFill>
            <a:blip r:embed="rId3"/>
            <a:srcRect b="31709"/>
            <a:stretch>
              <a:fillRect/>
            </a:stretch>
          </p:blipFill>
          <p:spPr bwMode="auto">
            <a:xfrm>
              <a:off x="144" y="144"/>
              <a:ext cx="5384" cy="2832"/>
            </a:xfrm>
            <a:prstGeom prst="rect">
              <a:avLst/>
            </a:prstGeom>
            <a:noFill/>
            <a:ln w="9525">
              <a:noFill/>
              <a:miter lim="800000"/>
              <a:headEnd/>
              <a:tailEnd/>
            </a:ln>
          </p:spPr>
        </p:pic>
        <p:sp>
          <p:nvSpPr>
            <p:cNvPr id="20485" name="Rectangle 14"/>
            <p:cNvSpPr>
              <a:spLocks noChangeArrowheads="1"/>
            </p:cNvSpPr>
            <p:nvPr/>
          </p:nvSpPr>
          <p:spPr bwMode="auto">
            <a:xfrm>
              <a:off x="2880" y="2784"/>
              <a:ext cx="144" cy="192"/>
            </a:xfrm>
            <a:prstGeom prst="rect">
              <a:avLst/>
            </a:prstGeom>
            <a:solidFill>
              <a:schemeClr val="bg1"/>
            </a:solidFill>
            <a:ln w="9525">
              <a:noFill/>
              <a:miter lim="800000"/>
              <a:headEnd/>
              <a:tailEnd/>
            </a:ln>
          </p:spPr>
          <p:txBody>
            <a:bodyPr wrap="none" anchor="ctr"/>
            <a:lstStyle/>
            <a:p>
              <a:endParaRPr lang="en-US">
                <a:ea typeface="ＭＳ Ｐゴシック" pitchFamily="84" charset="-128"/>
              </a:endParaRPr>
            </a:p>
          </p:txBody>
        </p:sp>
        <p:sp>
          <p:nvSpPr>
            <p:cNvPr id="20486" name="Rectangle 16"/>
            <p:cNvSpPr>
              <a:spLocks noChangeArrowheads="1"/>
            </p:cNvSpPr>
            <p:nvPr/>
          </p:nvSpPr>
          <p:spPr bwMode="auto">
            <a:xfrm>
              <a:off x="3744" y="2880"/>
              <a:ext cx="336" cy="144"/>
            </a:xfrm>
            <a:prstGeom prst="rect">
              <a:avLst/>
            </a:prstGeom>
            <a:solidFill>
              <a:schemeClr val="bg1"/>
            </a:solidFill>
            <a:ln w="9525">
              <a:noFill/>
              <a:miter lim="800000"/>
              <a:headEnd/>
              <a:tailEnd/>
            </a:ln>
          </p:spPr>
          <p:txBody>
            <a:bodyPr wrap="none" anchor="ctr"/>
            <a:lstStyle/>
            <a:p>
              <a:endParaRPr lang="en-US">
                <a:ea typeface="ＭＳ Ｐゴシック" pitchFamily="84" charset="-128"/>
              </a:endParaRPr>
            </a:p>
          </p:txBody>
        </p:sp>
      </p:grpSp>
      <p:sp>
        <p:nvSpPr>
          <p:cNvPr id="20483" name="Rectangle 18"/>
          <p:cNvSpPr>
            <a:spLocks noGrp="1" noChangeArrowheads="1"/>
          </p:cNvSpPr>
          <p:nvPr>
            <p:ph type="title" idx="4294967295"/>
          </p:nvPr>
        </p:nvSpPr>
        <p:spPr/>
        <p:txBody>
          <a:bodyPr lIns="0" tIns="0" rIns="0" bIns="0" anchor="t"/>
          <a:lstStyle/>
          <a:p>
            <a:pPr eaLnBrk="1" hangingPunct="1"/>
            <a:r>
              <a:rPr lang="en-US" smtClean="0"/>
              <a:t>The Process of Transcription</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Translation</a:t>
            </a:r>
          </a:p>
        </p:txBody>
      </p:sp>
      <p:sp>
        <p:nvSpPr>
          <p:cNvPr id="21507" name="Rectangle 3"/>
          <p:cNvSpPr>
            <a:spLocks noGrp="1" noChangeArrowheads="1"/>
          </p:cNvSpPr>
          <p:nvPr>
            <p:ph type="body" idx="1"/>
          </p:nvPr>
        </p:nvSpPr>
        <p:spPr/>
        <p:txBody>
          <a:bodyPr/>
          <a:lstStyle/>
          <a:p>
            <a:pPr eaLnBrk="1" hangingPunct="1">
              <a:buFont typeface="Arial" charset="0"/>
              <a:buNone/>
            </a:pPr>
            <a:r>
              <a:rPr lang="en-US" smtClean="0"/>
              <a:t>Translation is the name given to protein synthesis</a:t>
            </a:r>
          </a:p>
          <a:p>
            <a:pPr eaLnBrk="1" hangingPunct="1"/>
            <a:endParaRPr lang="en-US" smtClean="0"/>
          </a:p>
          <a:p>
            <a:pPr eaLnBrk="1" hangingPunct="1"/>
            <a:r>
              <a:rPr lang="en-US" smtClean="0"/>
              <a:t>mRNA associates with ribosome's (rRNA and protein)</a:t>
            </a:r>
          </a:p>
          <a:p>
            <a:pPr eaLnBrk="1" hangingPunct="1"/>
            <a:r>
              <a:rPr lang="en-US" smtClean="0"/>
              <a:t>3-base segments of mRNA specify amino acids and are called codons.</a:t>
            </a:r>
          </a:p>
          <a:p>
            <a:pPr eaLnBrk="1" hangingPunct="1"/>
            <a:r>
              <a:rPr lang="en-US" smtClean="0"/>
              <a:t>Genetic code: relationship among nucleotide sequence  and corresponding DNA sequence.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Genes</a:t>
            </a:r>
          </a:p>
        </p:txBody>
      </p:sp>
      <p:sp>
        <p:nvSpPr>
          <p:cNvPr id="10243" name="Rectangle 4"/>
          <p:cNvSpPr>
            <a:spLocks noGrp="1" noChangeArrowheads="1"/>
          </p:cNvSpPr>
          <p:nvPr>
            <p:ph type="body" idx="1"/>
          </p:nvPr>
        </p:nvSpPr>
        <p:spPr/>
        <p:txBody>
          <a:bodyPr rtlCol="0">
            <a:normAutofit fontScale="85000" lnSpcReduction="10000"/>
          </a:bodyPr>
          <a:lstStyle/>
          <a:p>
            <a:pPr eaLnBrk="1" fontAlgn="auto" hangingPunct="1">
              <a:lnSpc>
                <a:spcPct val="90000"/>
              </a:lnSpc>
              <a:spcAft>
                <a:spcPts val="0"/>
              </a:spcAft>
              <a:buFont typeface="Arial" charset="0"/>
              <a:buNone/>
              <a:defRPr/>
            </a:pPr>
            <a:endParaRPr lang="en-US" dirty="0" smtClean="0"/>
          </a:p>
          <a:p>
            <a:pPr lvl="1" eaLnBrk="1" fontAlgn="auto" hangingPunct="1">
              <a:lnSpc>
                <a:spcPct val="90000"/>
              </a:lnSpc>
              <a:spcAft>
                <a:spcPts val="0"/>
              </a:spcAft>
              <a:buFont typeface="Arial" pitchFamily="34" charset="0"/>
              <a:buChar char="–"/>
              <a:defRPr/>
            </a:pPr>
            <a:r>
              <a:rPr lang="en-US" dirty="0" smtClean="0"/>
              <a:t>Contemporary understanding: </a:t>
            </a:r>
          </a:p>
          <a:p>
            <a:pPr lvl="2" eaLnBrk="1" fontAlgn="auto" hangingPunct="1">
              <a:lnSpc>
                <a:spcPct val="90000"/>
              </a:lnSpc>
              <a:spcAft>
                <a:spcPts val="0"/>
              </a:spcAft>
              <a:buFont typeface="Arial" pitchFamily="34" charset="0"/>
              <a:buChar char="•"/>
              <a:defRPr/>
            </a:pPr>
            <a:r>
              <a:rPr lang="en-US" dirty="0" smtClean="0"/>
              <a:t>A segment on a DNA molecule</a:t>
            </a:r>
          </a:p>
          <a:p>
            <a:pPr lvl="2" eaLnBrk="1" fontAlgn="auto" hangingPunct="1">
              <a:lnSpc>
                <a:spcPct val="90000"/>
              </a:lnSpc>
              <a:spcAft>
                <a:spcPts val="0"/>
              </a:spcAft>
              <a:buFont typeface="Arial" pitchFamily="34" charset="0"/>
              <a:buChar char="•"/>
              <a:defRPr/>
            </a:pPr>
            <a:r>
              <a:rPr lang="en-US" dirty="0" smtClean="0"/>
              <a:t>Usually at a specific location (locus) on a chromosome or plasmid</a:t>
            </a:r>
          </a:p>
          <a:p>
            <a:pPr lvl="2" eaLnBrk="1" fontAlgn="auto" hangingPunct="1">
              <a:lnSpc>
                <a:spcPct val="90000"/>
              </a:lnSpc>
              <a:spcAft>
                <a:spcPts val="0"/>
              </a:spcAft>
              <a:buFont typeface="Arial" pitchFamily="34" charset="0"/>
              <a:buChar char="•"/>
              <a:defRPr/>
            </a:pPr>
            <a:r>
              <a:rPr lang="en-US" dirty="0" smtClean="0"/>
              <a:t>Characterized by its nucleotide sequence</a:t>
            </a:r>
          </a:p>
          <a:p>
            <a:pPr lvl="1" eaLnBrk="1" fontAlgn="auto" hangingPunct="1">
              <a:spcAft>
                <a:spcPts val="0"/>
              </a:spcAft>
              <a:buFont typeface="Arial" pitchFamily="34" charset="0"/>
              <a:buChar char="–"/>
              <a:defRPr/>
            </a:pPr>
            <a:r>
              <a:rPr lang="en-US" dirty="0" smtClean="0"/>
              <a:t>Genes play three notable roles: </a:t>
            </a:r>
          </a:p>
          <a:p>
            <a:pPr lvl="2" eaLnBrk="1" fontAlgn="auto" hangingPunct="1">
              <a:spcAft>
                <a:spcPts val="0"/>
              </a:spcAft>
              <a:buFont typeface="Arial" pitchFamily="34" charset="0"/>
              <a:buChar char="•"/>
              <a:defRPr/>
            </a:pPr>
            <a:r>
              <a:rPr lang="en-US" dirty="0" smtClean="0"/>
              <a:t>To encode the nucleotide sequences of mRNA, which in turn encodes the amino acid sequences of proteins</a:t>
            </a:r>
          </a:p>
          <a:p>
            <a:pPr lvl="2" eaLnBrk="1" fontAlgn="auto" hangingPunct="1">
              <a:spcAft>
                <a:spcPts val="0"/>
              </a:spcAft>
              <a:buFont typeface="Arial" pitchFamily="34" charset="0"/>
              <a:buChar char="•"/>
              <a:defRPr/>
            </a:pPr>
            <a:r>
              <a:rPr lang="en-US" dirty="0" smtClean="0"/>
              <a:t>To encode the nucleotide sequences of </a:t>
            </a:r>
            <a:r>
              <a:rPr lang="en-US" dirty="0" err="1" smtClean="0"/>
              <a:t>tRNA</a:t>
            </a:r>
            <a:r>
              <a:rPr lang="en-US" dirty="0" smtClean="0"/>
              <a:t> or </a:t>
            </a:r>
            <a:r>
              <a:rPr lang="en-US" dirty="0" err="1" smtClean="0"/>
              <a:t>rRNA</a:t>
            </a:r>
            <a:endParaRPr lang="en-US" dirty="0" smtClean="0"/>
          </a:p>
          <a:p>
            <a:pPr lvl="2" eaLnBrk="1" fontAlgn="auto" hangingPunct="1">
              <a:spcAft>
                <a:spcPts val="0"/>
              </a:spcAft>
              <a:buFont typeface="Arial" pitchFamily="34" charset="0"/>
              <a:buChar char="•"/>
              <a:defRPr/>
            </a:pPr>
            <a:r>
              <a:rPr lang="en-US" dirty="0" smtClean="0"/>
              <a:t>To regulate the expression of other genes</a:t>
            </a:r>
          </a:p>
          <a:p>
            <a:pPr lvl="1" eaLnBrk="1" fontAlgn="auto" hangingPunct="1">
              <a:spcAft>
                <a:spcPts val="0"/>
              </a:spcAft>
              <a:buFont typeface="Arial" pitchFamily="34" charset="0"/>
              <a:buChar char="–"/>
              <a:defRPr/>
            </a:pPr>
            <a:r>
              <a:rPr lang="en-US" dirty="0" smtClean="0"/>
              <a:t>Mutation:</a:t>
            </a:r>
          </a:p>
          <a:p>
            <a:pPr lvl="2" eaLnBrk="1" fontAlgn="auto" hangingPunct="1">
              <a:spcAft>
                <a:spcPts val="0"/>
              </a:spcAft>
              <a:buFont typeface="Arial" pitchFamily="34" charset="0"/>
              <a:buChar char="•"/>
              <a:defRPr/>
            </a:pPr>
            <a:r>
              <a:rPr lang="en-US" dirty="0" smtClean="0"/>
              <a:t>Change in the nucleotide sequence of a gene, usually resulting from an error during DNA replication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idx="4294967295"/>
          </p:nvPr>
        </p:nvSpPr>
        <p:spPr/>
        <p:txBody>
          <a:bodyPr lIns="0" tIns="0" rIns="0" bIns="0" anchor="t"/>
          <a:lstStyle/>
          <a:p>
            <a:pPr eaLnBrk="1" hangingPunct="1"/>
            <a:r>
              <a:rPr lang="en-US" smtClean="0"/>
              <a:t>Gene Regulation</a:t>
            </a:r>
          </a:p>
        </p:txBody>
      </p:sp>
      <p:sp>
        <p:nvSpPr>
          <p:cNvPr id="23555" name="Rectangle 5"/>
          <p:cNvSpPr>
            <a:spLocks noGrp="1" noChangeArrowheads="1"/>
          </p:cNvSpPr>
          <p:nvPr>
            <p:ph type="body" idx="4294967295"/>
          </p:nvPr>
        </p:nvSpPr>
        <p:spPr>
          <a:xfrm>
            <a:off x="533400" y="1219200"/>
            <a:ext cx="8229600" cy="4525963"/>
          </a:xfrm>
        </p:spPr>
        <p:txBody>
          <a:bodyPr lIns="0" tIns="0" rIns="0" bIns="0"/>
          <a:lstStyle/>
          <a:p>
            <a:pPr eaLnBrk="1" hangingPunct="1"/>
            <a:r>
              <a:rPr lang="en-US" dirty="0" smtClean="0"/>
              <a:t>Some gene regulators are expressed only as needed</a:t>
            </a:r>
          </a:p>
          <a:p>
            <a:pPr lvl="1" eaLnBrk="1" hangingPunct="1"/>
            <a:r>
              <a:rPr lang="en-US" b="1" dirty="0" smtClean="0"/>
              <a:t>Repressible</a:t>
            </a:r>
            <a:r>
              <a:rPr lang="en-US" dirty="0" smtClean="0"/>
              <a:t> </a:t>
            </a:r>
            <a:r>
              <a:rPr lang="en-US" dirty="0" err="1" smtClean="0"/>
              <a:t>vrs</a:t>
            </a:r>
            <a:r>
              <a:rPr lang="en-US" dirty="0" smtClean="0"/>
              <a:t> </a:t>
            </a:r>
            <a:r>
              <a:rPr lang="en-US" b="1" dirty="0" smtClean="0"/>
              <a:t>Inducible</a:t>
            </a:r>
            <a:r>
              <a:rPr lang="en-US" dirty="0" smtClean="0"/>
              <a:t> genes</a:t>
            </a:r>
          </a:p>
          <a:p>
            <a:pPr lvl="1" eaLnBrk="1" hangingPunct="1"/>
            <a:r>
              <a:rPr lang="en-US" b="1" dirty="0" smtClean="0"/>
              <a:t>Up regulation </a:t>
            </a:r>
            <a:r>
              <a:rPr lang="en-US" dirty="0" smtClean="0"/>
              <a:t>and </a:t>
            </a:r>
            <a:r>
              <a:rPr lang="en-US" b="1" dirty="0" smtClean="0"/>
              <a:t>down regulation</a:t>
            </a:r>
          </a:p>
          <a:p>
            <a:pPr lvl="1" eaLnBrk="1" hangingPunct="1"/>
            <a:r>
              <a:rPr lang="en-US" b="1" dirty="0" err="1" smtClean="0"/>
              <a:t>Catabolite</a:t>
            </a:r>
            <a:r>
              <a:rPr lang="en-US" dirty="0" smtClean="0"/>
              <a:t> repression-</a:t>
            </a:r>
            <a:r>
              <a:rPr lang="en-US" dirty="0" err="1" smtClean="0"/>
              <a:t>eg</a:t>
            </a:r>
            <a:r>
              <a:rPr lang="en-US" dirty="0" smtClean="0"/>
              <a:t> in </a:t>
            </a:r>
            <a:r>
              <a:rPr lang="en-US" dirty="0" err="1" smtClean="0"/>
              <a:t>E.coli</a:t>
            </a:r>
            <a:r>
              <a:rPr lang="en-US" dirty="0" smtClean="0"/>
              <a:t>, synthesis of </a:t>
            </a:r>
            <a:r>
              <a:rPr lang="en-US" dirty="0" err="1" smtClean="0"/>
              <a:t>galactosidase</a:t>
            </a:r>
            <a:r>
              <a:rPr lang="en-US" dirty="0" smtClean="0"/>
              <a:t> is under repression in the presence of glucose and lactose due to the effect </a:t>
            </a:r>
            <a:r>
              <a:rPr lang="en-US" dirty="0" err="1" smtClean="0"/>
              <a:t>catabolite</a:t>
            </a:r>
            <a:r>
              <a:rPr lang="en-US" dirty="0" smtClean="0"/>
              <a:t> repression caused by glucose</a:t>
            </a:r>
          </a:p>
          <a:p>
            <a:pPr lvl="1" eaLnBrk="1" hangingPunct="1"/>
            <a:r>
              <a:rPr lang="en-US" b="1" dirty="0" err="1"/>
              <a:t>Catabolite</a:t>
            </a:r>
            <a:r>
              <a:rPr lang="en-US" b="1" dirty="0"/>
              <a:t> repression</a:t>
            </a:r>
            <a:r>
              <a:rPr lang="en-US" dirty="0"/>
              <a:t> is a type of positive control of transcription, since a regulatory protein affects an increase (</a:t>
            </a:r>
            <a:r>
              <a:rPr lang="en-US" dirty="0" err="1"/>
              <a:t>upregulation</a:t>
            </a:r>
            <a:r>
              <a:rPr lang="en-US" dirty="0"/>
              <a:t>) in the rate of transcription of an operon.</a:t>
            </a:r>
            <a:endParaRPr lang="en-US"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t>Genetic  Recombination</a:t>
            </a:r>
          </a:p>
        </p:txBody>
      </p:sp>
      <p:sp>
        <p:nvSpPr>
          <p:cNvPr id="24579" name="Rectangle 3"/>
          <p:cNvSpPr>
            <a:spLocks noGrp="1" noChangeArrowheads="1"/>
          </p:cNvSpPr>
          <p:nvPr>
            <p:ph type="body" idx="1"/>
          </p:nvPr>
        </p:nvSpPr>
        <p:spPr/>
        <p:txBody>
          <a:bodyPr/>
          <a:lstStyle/>
          <a:p>
            <a:pPr eaLnBrk="1" hangingPunct="1"/>
            <a:r>
              <a:rPr lang="en-US" smtClean="0"/>
              <a:t>The rearrangement of genes.</a:t>
            </a:r>
          </a:p>
          <a:p>
            <a:pPr eaLnBrk="1" hangingPunct="1"/>
            <a:r>
              <a:rPr lang="en-US" smtClean="0"/>
              <a:t>Crossing over is where genes are recombined within a chromosome.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p:cNvSpPr>
            <a:spLocks noGrp="1" noChangeArrowheads="1"/>
          </p:cNvSpPr>
          <p:nvPr>
            <p:ph type="title"/>
          </p:nvPr>
        </p:nvSpPr>
        <p:spPr/>
        <p:txBody>
          <a:bodyPr/>
          <a:lstStyle/>
          <a:p>
            <a:pPr eaLnBrk="1" hangingPunct="1"/>
            <a:endParaRPr lang="en-US" smtClean="0"/>
          </a:p>
        </p:txBody>
      </p:sp>
      <p:pic>
        <p:nvPicPr>
          <p:cNvPr id="25603" name="Picture 4" descr="genrecomb"/>
          <p:cNvPicPr>
            <a:picLocks noGrp="1" noChangeAspect="1" noChangeArrowheads="1"/>
          </p:cNvPicPr>
          <p:nvPr>
            <p:ph idx="1"/>
          </p:nvPr>
        </p:nvPicPr>
        <p:blipFill>
          <a:blip r:embed="rId2"/>
          <a:srcRect/>
          <a:stretch>
            <a:fillRect/>
          </a:stretch>
        </p:blipFill>
        <p:spPr>
          <a:xfrm>
            <a:off x="1066800" y="381000"/>
            <a:ext cx="6619875" cy="5980113"/>
          </a:xfr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5" descr="figure_08_25_labeled"/>
          <p:cNvPicPr>
            <a:picLocks noChangeAspect="1" noChangeArrowheads="1"/>
          </p:cNvPicPr>
          <p:nvPr/>
        </p:nvPicPr>
        <p:blipFill>
          <a:blip r:embed="rId3"/>
          <a:srcRect b="2701"/>
          <a:stretch>
            <a:fillRect/>
          </a:stretch>
        </p:blipFill>
        <p:spPr bwMode="auto">
          <a:xfrm>
            <a:off x="2647950" y="838200"/>
            <a:ext cx="4057650" cy="5791200"/>
          </a:xfrm>
          <a:prstGeom prst="rect">
            <a:avLst/>
          </a:prstGeom>
          <a:noFill/>
          <a:ln w="9525">
            <a:noFill/>
            <a:miter lim="800000"/>
            <a:headEnd/>
            <a:tailEnd/>
          </a:ln>
        </p:spPr>
      </p:pic>
      <p:sp>
        <p:nvSpPr>
          <p:cNvPr id="26627" name="Rectangle 7"/>
          <p:cNvSpPr>
            <a:spLocks noGrp="1" noChangeArrowheads="1"/>
          </p:cNvSpPr>
          <p:nvPr>
            <p:ph type="title" idx="4294967295"/>
          </p:nvPr>
        </p:nvSpPr>
        <p:spPr/>
        <p:txBody>
          <a:bodyPr lIns="0" tIns="0" rIns="0" bIns="0" anchor="t"/>
          <a:lstStyle/>
          <a:p>
            <a:pPr eaLnBrk="1" hangingPunct="1"/>
            <a:r>
              <a:rPr lang="en-US" smtClean="0"/>
              <a:t>Genetic Recombination</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6" descr="figure_08_24_labeled"/>
          <p:cNvPicPr>
            <a:picLocks noChangeAspect="1" noChangeArrowheads="1"/>
          </p:cNvPicPr>
          <p:nvPr/>
        </p:nvPicPr>
        <p:blipFill>
          <a:blip r:embed="rId3"/>
          <a:srcRect b="3136"/>
          <a:stretch>
            <a:fillRect/>
          </a:stretch>
        </p:blipFill>
        <p:spPr bwMode="auto">
          <a:xfrm>
            <a:off x="1219200" y="881063"/>
            <a:ext cx="6858000" cy="4927600"/>
          </a:xfrm>
          <a:prstGeom prst="rect">
            <a:avLst/>
          </a:prstGeom>
          <a:noFill/>
          <a:ln w="9525">
            <a:noFill/>
            <a:miter lim="800000"/>
            <a:headEnd/>
            <a:tailEnd/>
          </a:ln>
        </p:spPr>
      </p:pic>
      <p:sp>
        <p:nvSpPr>
          <p:cNvPr id="27651" name="Rectangle 10"/>
          <p:cNvSpPr>
            <a:spLocks noGrp="1" noChangeArrowheads="1"/>
          </p:cNvSpPr>
          <p:nvPr>
            <p:ph type="title" idx="4294967295"/>
          </p:nvPr>
        </p:nvSpPr>
        <p:spPr/>
        <p:txBody>
          <a:bodyPr lIns="0" tIns="0" rIns="0" bIns="0" anchor="t"/>
          <a:lstStyle/>
          <a:p>
            <a:pPr eaLnBrk="1" hangingPunct="1"/>
            <a:r>
              <a:rPr lang="en-US" smtClean="0"/>
              <a:t>Genetic Transformation</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smtClean="0"/>
              <a:t>Mechanisms of Gene transfer</a:t>
            </a:r>
            <a:br>
              <a:rPr lang="en-US" smtClean="0"/>
            </a:br>
            <a:endParaRPr lang="en-US" smtClean="0"/>
          </a:p>
        </p:txBody>
      </p:sp>
      <p:sp>
        <p:nvSpPr>
          <p:cNvPr id="22531" name="Rectangle 3"/>
          <p:cNvSpPr>
            <a:spLocks noGrp="1" noChangeArrowheads="1"/>
          </p:cNvSpPr>
          <p:nvPr>
            <p:ph type="body" idx="1"/>
          </p:nvPr>
        </p:nvSpPr>
        <p:spPr/>
        <p:txBody>
          <a:bodyPr rtlCol="0">
            <a:normAutofit/>
          </a:bodyPr>
          <a:lstStyle/>
          <a:p>
            <a:pPr lvl="1" eaLnBrk="1" fontAlgn="auto" hangingPunct="1">
              <a:spcAft>
                <a:spcPts val="0"/>
              </a:spcAft>
              <a:buFont typeface="Arial" charset="0"/>
              <a:buNone/>
              <a:defRPr/>
            </a:pPr>
            <a:r>
              <a:rPr lang="en-US" dirty="0" smtClean="0"/>
              <a:t>There are three (3) broad mechanisms that mediate the efficient movement of DNA between cells. </a:t>
            </a:r>
          </a:p>
          <a:p>
            <a:pPr lvl="1" eaLnBrk="1" fontAlgn="auto" hangingPunct="1">
              <a:spcAft>
                <a:spcPts val="0"/>
              </a:spcAft>
              <a:buFont typeface="Arial" charset="0"/>
              <a:buNone/>
              <a:defRPr/>
            </a:pPr>
            <a:endParaRPr lang="en-US" dirty="0" smtClean="0"/>
          </a:p>
          <a:p>
            <a:pPr lvl="1" eaLnBrk="1" fontAlgn="auto" hangingPunct="1">
              <a:spcAft>
                <a:spcPts val="0"/>
              </a:spcAft>
              <a:buFont typeface="Arial" charset="0"/>
              <a:buNone/>
              <a:defRPr/>
            </a:pPr>
            <a:r>
              <a:rPr lang="en-US" dirty="0" smtClean="0"/>
              <a:t>These are </a:t>
            </a:r>
          </a:p>
          <a:p>
            <a:pPr marL="971550" lvl="1" indent="-514350" eaLnBrk="1" fontAlgn="auto" hangingPunct="1">
              <a:spcAft>
                <a:spcPts val="0"/>
              </a:spcAft>
              <a:buFont typeface="+mj-lt"/>
              <a:buAutoNum type="arabicPeriod"/>
              <a:defRPr/>
            </a:pPr>
            <a:r>
              <a:rPr lang="en-US" dirty="0" smtClean="0"/>
              <a:t>Conjugation where there is direct contact;</a:t>
            </a:r>
          </a:p>
          <a:p>
            <a:pPr marL="971550" lvl="1" indent="-514350" eaLnBrk="1" fontAlgn="auto" hangingPunct="1">
              <a:spcAft>
                <a:spcPts val="0"/>
              </a:spcAft>
              <a:buFont typeface="+mj-lt"/>
              <a:buAutoNum type="arabicPeriod"/>
              <a:defRPr/>
            </a:pPr>
            <a:r>
              <a:rPr lang="en-US" dirty="0" smtClean="0"/>
              <a:t>Transduction, where DNA is introduced by way of an infecting </a:t>
            </a:r>
            <a:r>
              <a:rPr lang="en-US" dirty="0" err="1" smtClean="0"/>
              <a:t>bacteriophage</a:t>
            </a:r>
            <a:endParaRPr lang="en-US" dirty="0" smtClean="0"/>
          </a:p>
          <a:p>
            <a:pPr marL="971550" lvl="1" indent="-514350" eaLnBrk="1" fontAlgn="auto" hangingPunct="1">
              <a:spcAft>
                <a:spcPts val="0"/>
              </a:spcAft>
              <a:buFont typeface="+mj-lt"/>
              <a:buAutoNum type="arabicPeriod"/>
              <a:defRPr/>
            </a:pPr>
            <a:r>
              <a:rPr lang="en-US" dirty="0" smtClean="0"/>
              <a:t>Transformation where there is uptake of DNA that has been released into the cells </a:t>
            </a:r>
            <a:r>
              <a:rPr lang="en-US" dirty="0" err="1" smtClean="0"/>
              <a:t>enviroment</a:t>
            </a:r>
            <a:endParaRPr lang="en-US"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mtClean="0"/>
              <a:t>Conjugation</a:t>
            </a:r>
            <a:br>
              <a:rPr lang="en-US" smtClean="0"/>
            </a:br>
            <a:endParaRPr lang="en-US" smtClean="0"/>
          </a:p>
        </p:txBody>
      </p:sp>
      <p:sp>
        <p:nvSpPr>
          <p:cNvPr id="22531" name="Rectangle 3"/>
          <p:cNvSpPr>
            <a:spLocks noGrp="1" noChangeArrowheads="1"/>
          </p:cNvSpPr>
          <p:nvPr>
            <p:ph type="body" idx="1"/>
          </p:nvPr>
        </p:nvSpPr>
        <p:spPr/>
        <p:txBody>
          <a:bodyPr rtlCol="0">
            <a:normAutofit fontScale="92500" lnSpcReduction="20000"/>
          </a:bodyPr>
          <a:lstStyle/>
          <a:p>
            <a:pPr lvl="1" eaLnBrk="1" fontAlgn="auto" hangingPunct="1">
              <a:spcAft>
                <a:spcPts val="0"/>
              </a:spcAft>
              <a:buFont typeface="Arial" pitchFamily="34" charset="0"/>
              <a:buChar char="–"/>
              <a:defRPr/>
            </a:pPr>
            <a:r>
              <a:rPr lang="en-US" dirty="0" smtClean="0"/>
              <a:t>A process of gene transfer from a living donor cell to a living recipient cell</a:t>
            </a:r>
          </a:p>
          <a:p>
            <a:pPr lvl="1" eaLnBrk="1" fontAlgn="auto" hangingPunct="1">
              <a:spcAft>
                <a:spcPts val="0"/>
              </a:spcAft>
              <a:buFont typeface="Arial" pitchFamily="34" charset="0"/>
              <a:buChar char="–"/>
              <a:defRPr/>
            </a:pPr>
            <a:r>
              <a:rPr lang="en-US" dirty="0" smtClean="0"/>
              <a:t>Typically, the donor cell will possess conjugative structures on its surface that attach the donor cell to the recipient cell. The conjugative structures will also mediate the transfer of DNA from the donor to the recipient.</a:t>
            </a:r>
          </a:p>
          <a:p>
            <a:pPr lvl="1" eaLnBrk="1" fontAlgn="auto" hangingPunct="1">
              <a:spcAft>
                <a:spcPts val="0"/>
              </a:spcAft>
              <a:buFont typeface="Arial" pitchFamily="34" charset="0"/>
              <a:buChar char="–"/>
              <a:defRPr/>
            </a:pPr>
            <a:r>
              <a:rPr lang="en-US" dirty="0" smtClean="0"/>
              <a:t>The ability to conjugate is often encoded on a plasmid.</a:t>
            </a:r>
          </a:p>
          <a:p>
            <a:pPr lvl="1" eaLnBrk="1" fontAlgn="auto" hangingPunct="1">
              <a:spcAft>
                <a:spcPts val="0"/>
              </a:spcAft>
              <a:buFont typeface="Arial" pitchFamily="34" charset="0"/>
              <a:buChar char="–"/>
              <a:defRPr/>
            </a:pPr>
            <a:r>
              <a:rPr lang="en-US" dirty="0" smtClean="0"/>
              <a:t>For example: In </a:t>
            </a:r>
            <a:r>
              <a:rPr lang="en-US" i="1" dirty="0" smtClean="0"/>
              <a:t>Escherichia coli</a:t>
            </a:r>
            <a:r>
              <a:rPr lang="en-US" dirty="0" smtClean="0"/>
              <a:t>, conjugation is mediated by the F </a:t>
            </a:r>
            <a:r>
              <a:rPr lang="en-US" dirty="0" err="1" smtClean="0"/>
              <a:t>pili</a:t>
            </a:r>
            <a:r>
              <a:rPr lang="en-US" dirty="0" smtClean="0"/>
              <a:t> that are encoded for by genes on the F plasmid.</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smtClean="0"/>
              <a:t>Conjugation (cont.)</a:t>
            </a:r>
            <a:br>
              <a:rPr lang="en-US" smtClean="0"/>
            </a:br>
            <a:endParaRPr lang="en-US" smtClean="0"/>
          </a:p>
        </p:txBody>
      </p:sp>
      <p:sp>
        <p:nvSpPr>
          <p:cNvPr id="23555" name="Rectangle 3"/>
          <p:cNvSpPr>
            <a:spLocks noGrp="1" noChangeArrowheads="1"/>
          </p:cNvSpPr>
          <p:nvPr>
            <p:ph type="body" idx="1"/>
          </p:nvPr>
        </p:nvSpPr>
        <p:spPr/>
        <p:txBody>
          <a:bodyPr rtlCol="0">
            <a:normAutofit fontScale="92500" lnSpcReduction="10000"/>
          </a:bodyPr>
          <a:lstStyle/>
          <a:p>
            <a:pPr lvl="1" eaLnBrk="1" fontAlgn="auto" hangingPunct="1">
              <a:spcAft>
                <a:spcPts val="0"/>
              </a:spcAft>
              <a:buFont typeface="Arial" pitchFamily="34" charset="0"/>
              <a:buChar char="–"/>
              <a:defRPr/>
            </a:pPr>
            <a:r>
              <a:rPr lang="en-US" dirty="0" smtClean="0"/>
              <a:t>A strain of </a:t>
            </a:r>
            <a:r>
              <a:rPr lang="en-US" i="1" dirty="0" smtClean="0"/>
              <a:t>E. coli</a:t>
            </a:r>
            <a:r>
              <a:rPr lang="en-US" dirty="0" smtClean="0"/>
              <a:t> having F plasmids and </a:t>
            </a:r>
            <a:r>
              <a:rPr lang="en-US" dirty="0" err="1" smtClean="0"/>
              <a:t>pili</a:t>
            </a:r>
            <a:r>
              <a:rPr lang="en-US" dirty="0" smtClean="0"/>
              <a:t> is called an F</a:t>
            </a:r>
            <a:r>
              <a:rPr lang="en-US" baseline="30000" dirty="0" smtClean="0"/>
              <a:t>+</a:t>
            </a:r>
            <a:r>
              <a:rPr lang="en-US" dirty="0" smtClean="0"/>
              <a:t> strain; a strain lacking F plasmids or </a:t>
            </a:r>
            <a:r>
              <a:rPr lang="en-US" dirty="0" err="1" smtClean="0"/>
              <a:t>pili</a:t>
            </a:r>
            <a:r>
              <a:rPr lang="en-US" dirty="0" smtClean="0"/>
              <a:t> is F</a:t>
            </a:r>
            <a:r>
              <a:rPr lang="en-US" baseline="30000" dirty="0" smtClean="0"/>
              <a:t>–</a:t>
            </a:r>
            <a:r>
              <a:rPr lang="en-US" dirty="0" smtClean="0"/>
              <a:t>.</a:t>
            </a:r>
          </a:p>
          <a:p>
            <a:pPr lvl="1" eaLnBrk="1" fontAlgn="auto" hangingPunct="1">
              <a:spcAft>
                <a:spcPts val="0"/>
              </a:spcAft>
              <a:buFont typeface="Arial" pitchFamily="34" charset="0"/>
              <a:buChar char="–"/>
              <a:defRPr/>
            </a:pPr>
            <a:r>
              <a:rPr lang="en-US" dirty="0" smtClean="0"/>
              <a:t>When an F</a:t>
            </a:r>
            <a:r>
              <a:rPr lang="en-US" baseline="30000" dirty="0" smtClean="0"/>
              <a:t>+</a:t>
            </a:r>
            <a:r>
              <a:rPr lang="en-US" dirty="0" smtClean="0"/>
              <a:t> cell (the donor) is mated with an F</a:t>
            </a:r>
            <a:r>
              <a:rPr lang="en-US" baseline="30000" dirty="0" smtClean="0"/>
              <a:t>–</a:t>
            </a:r>
            <a:r>
              <a:rPr lang="en-US" dirty="0" smtClean="0"/>
              <a:t> cell (the recipient), a copy the F plasmid is transferred to the F</a:t>
            </a:r>
            <a:r>
              <a:rPr lang="en-US" baseline="30000" dirty="0" smtClean="0"/>
              <a:t>–</a:t>
            </a:r>
            <a:r>
              <a:rPr lang="en-US" dirty="0" smtClean="0"/>
              <a:t> cell, so that after the process is complete, both cells will be F</a:t>
            </a:r>
            <a:r>
              <a:rPr lang="en-US" baseline="30000" dirty="0" smtClean="0"/>
              <a:t>+</a:t>
            </a:r>
            <a:r>
              <a:rPr lang="en-US" dirty="0" smtClean="0"/>
              <a:t>.</a:t>
            </a:r>
          </a:p>
          <a:p>
            <a:pPr lvl="1" eaLnBrk="1" fontAlgn="auto" hangingPunct="1">
              <a:spcAft>
                <a:spcPts val="0"/>
              </a:spcAft>
              <a:buFont typeface="Arial" pitchFamily="34" charset="0"/>
              <a:buChar char="–"/>
              <a:defRPr/>
            </a:pPr>
            <a:r>
              <a:rPr lang="en-US" dirty="0" smtClean="0"/>
              <a:t>In a cross of F</a:t>
            </a:r>
            <a:r>
              <a:rPr lang="en-US" baseline="30000" dirty="0" smtClean="0"/>
              <a:t>+</a:t>
            </a:r>
            <a:r>
              <a:rPr lang="en-US" dirty="0" smtClean="0"/>
              <a:t> x F</a:t>
            </a:r>
            <a:r>
              <a:rPr lang="en-US" baseline="30000" dirty="0" smtClean="0"/>
              <a:t>–</a:t>
            </a:r>
            <a:r>
              <a:rPr lang="en-US" dirty="0" smtClean="0"/>
              <a:t>, only the plasmid is transferred. None of the chromosomal genes are transferred. Therefore, an F</a:t>
            </a:r>
            <a:r>
              <a:rPr lang="en-US" baseline="30000" dirty="0" smtClean="0"/>
              <a:t>+</a:t>
            </a:r>
            <a:r>
              <a:rPr lang="en-US" dirty="0" smtClean="0"/>
              <a:t> x F</a:t>
            </a:r>
            <a:r>
              <a:rPr lang="en-US" baseline="30000" dirty="0" smtClean="0"/>
              <a:t>–</a:t>
            </a:r>
            <a:r>
              <a:rPr lang="en-US" dirty="0" smtClean="0"/>
              <a:t> does not give us any information about the position of genes on the bacterial chromosome.</a:t>
            </a:r>
          </a:p>
          <a:p>
            <a:pPr lvl="1" eaLnBrk="1" fontAlgn="auto" hangingPunct="1">
              <a:spcAft>
                <a:spcPts val="0"/>
              </a:spcAft>
              <a:buFont typeface="Arial" charset="0"/>
              <a:buNone/>
              <a:defRPr/>
            </a:pPr>
            <a:endParaRPr lang="en-US"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mtClean="0"/>
              <a:t>Conjugation (cont.)</a:t>
            </a:r>
          </a:p>
        </p:txBody>
      </p:sp>
      <p:sp>
        <p:nvSpPr>
          <p:cNvPr id="24579" name="Rectangle 3"/>
          <p:cNvSpPr>
            <a:spLocks noGrp="1" noChangeArrowheads="1"/>
          </p:cNvSpPr>
          <p:nvPr>
            <p:ph type="body" idx="1"/>
          </p:nvPr>
        </p:nvSpPr>
        <p:spPr/>
        <p:txBody>
          <a:bodyPr rtlCol="0">
            <a:normAutofit fontScale="92500" lnSpcReduction="20000"/>
          </a:bodyPr>
          <a:lstStyle/>
          <a:p>
            <a:pPr lvl="1" eaLnBrk="1" fontAlgn="auto" hangingPunct="1">
              <a:spcAft>
                <a:spcPts val="0"/>
              </a:spcAft>
              <a:buFont typeface="Arial" pitchFamily="34" charset="0"/>
              <a:buChar char="–"/>
              <a:defRPr/>
            </a:pPr>
            <a:r>
              <a:rPr lang="en-US" dirty="0" smtClean="0"/>
              <a:t>In some strains of </a:t>
            </a:r>
            <a:r>
              <a:rPr lang="en-US" i="1" dirty="0" smtClean="0"/>
              <a:t>E. coli</a:t>
            </a:r>
            <a:r>
              <a:rPr lang="en-US" dirty="0" smtClean="0"/>
              <a:t>, an</a:t>
            </a:r>
            <a:r>
              <a:rPr lang="en-US" i="1" dirty="0" smtClean="0"/>
              <a:t> </a:t>
            </a:r>
            <a:r>
              <a:rPr lang="en-US" dirty="0" smtClean="0"/>
              <a:t>F plasmid DNA sequence has become inserted into the chromosome through genetic recombination. These are called </a:t>
            </a:r>
            <a:r>
              <a:rPr lang="en-US" dirty="0" err="1" smtClean="0"/>
              <a:t>Hfr</a:t>
            </a:r>
            <a:r>
              <a:rPr lang="en-US" dirty="0" smtClean="0"/>
              <a:t> strains. Different </a:t>
            </a:r>
            <a:r>
              <a:rPr lang="en-US" dirty="0" err="1" smtClean="0"/>
              <a:t>Hfr</a:t>
            </a:r>
            <a:r>
              <a:rPr lang="en-US" dirty="0" smtClean="0"/>
              <a:t> strains have the F sequence inserted at different locations on the chromosome.</a:t>
            </a:r>
          </a:p>
          <a:p>
            <a:pPr lvl="1" eaLnBrk="1" fontAlgn="auto" hangingPunct="1">
              <a:spcAft>
                <a:spcPts val="0"/>
              </a:spcAft>
              <a:buFont typeface="Arial" pitchFamily="34" charset="0"/>
              <a:buChar char="–"/>
              <a:defRPr/>
            </a:pPr>
            <a:r>
              <a:rPr lang="en-US" dirty="0" smtClean="0"/>
              <a:t>The cells of </a:t>
            </a:r>
            <a:r>
              <a:rPr lang="en-US" dirty="0" err="1" smtClean="0"/>
              <a:t>Hfr</a:t>
            </a:r>
            <a:r>
              <a:rPr lang="en-US" dirty="0" smtClean="0"/>
              <a:t> strains have F </a:t>
            </a:r>
            <a:r>
              <a:rPr lang="en-US" dirty="0" err="1" smtClean="0"/>
              <a:t>pili</a:t>
            </a:r>
            <a:r>
              <a:rPr lang="en-US" dirty="0" smtClean="0"/>
              <a:t>, and are capable of conjugating with F</a:t>
            </a:r>
            <a:r>
              <a:rPr lang="en-US" baseline="30000" dirty="0" smtClean="0"/>
              <a:t>–</a:t>
            </a:r>
            <a:r>
              <a:rPr lang="en-US" dirty="0" smtClean="0"/>
              <a:t> cells. In an </a:t>
            </a:r>
            <a:r>
              <a:rPr lang="en-US" dirty="0" err="1" smtClean="0"/>
              <a:t>Hfr</a:t>
            </a:r>
            <a:r>
              <a:rPr lang="en-US" dirty="0" smtClean="0"/>
              <a:t> x F</a:t>
            </a:r>
            <a:r>
              <a:rPr lang="en-US" baseline="30000" dirty="0" smtClean="0"/>
              <a:t>–</a:t>
            </a:r>
            <a:r>
              <a:rPr lang="en-US" dirty="0" smtClean="0"/>
              <a:t> mating, the F sequence is transferred first, followed by the chromosomal DNA.</a:t>
            </a:r>
          </a:p>
          <a:p>
            <a:pPr lvl="1" eaLnBrk="1" fontAlgn="auto" hangingPunct="1">
              <a:spcAft>
                <a:spcPts val="0"/>
              </a:spcAft>
              <a:buFont typeface="Arial" pitchFamily="34" charset="0"/>
              <a:buChar char="–"/>
              <a:defRPr/>
            </a:pPr>
            <a:r>
              <a:rPr lang="en-US" dirty="0" smtClean="0"/>
              <a:t>Genes from the </a:t>
            </a:r>
            <a:r>
              <a:rPr lang="en-US" dirty="0" err="1" smtClean="0"/>
              <a:t>Hfr</a:t>
            </a:r>
            <a:r>
              <a:rPr lang="en-US" dirty="0" smtClean="0"/>
              <a:t> (donor) chromosome can replace genes in the F</a:t>
            </a:r>
            <a:r>
              <a:rPr lang="en-US" baseline="30000" dirty="0" smtClean="0"/>
              <a:t>–</a:t>
            </a:r>
            <a:r>
              <a:rPr lang="en-US" dirty="0" smtClean="0"/>
              <a:t> chromosome by genetic recombination.</a:t>
            </a:r>
          </a:p>
          <a:p>
            <a:pPr lvl="1" eaLnBrk="1" fontAlgn="auto" hangingPunct="1">
              <a:spcAft>
                <a:spcPts val="0"/>
              </a:spcAft>
              <a:buFont typeface="Arial" charset="0"/>
              <a:buNone/>
              <a:defRPr/>
            </a:pPr>
            <a:endParaRPr lang="en-US"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5" descr="figure_08_26_labeled"/>
          <p:cNvPicPr>
            <a:picLocks noChangeAspect="1" noChangeArrowheads="1"/>
          </p:cNvPicPr>
          <p:nvPr/>
        </p:nvPicPr>
        <p:blipFill>
          <a:blip r:embed="rId3"/>
          <a:srcRect b="4709"/>
          <a:stretch>
            <a:fillRect/>
          </a:stretch>
        </p:blipFill>
        <p:spPr bwMode="auto">
          <a:xfrm>
            <a:off x="292100" y="1905000"/>
            <a:ext cx="8547100" cy="3276600"/>
          </a:xfrm>
          <a:prstGeom prst="rect">
            <a:avLst/>
          </a:prstGeom>
          <a:noFill/>
          <a:ln w="9525">
            <a:noFill/>
            <a:miter lim="800000"/>
            <a:headEnd/>
            <a:tailEnd/>
          </a:ln>
        </p:spPr>
      </p:pic>
      <p:sp>
        <p:nvSpPr>
          <p:cNvPr id="32771" name="Rectangle 6"/>
          <p:cNvSpPr>
            <a:spLocks noGrp="1" noChangeArrowheads="1"/>
          </p:cNvSpPr>
          <p:nvPr>
            <p:ph type="title" idx="4294967295"/>
          </p:nvPr>
        </p:nvSpPr>
        <p:spPr/>
        <p:txBody>
          <a:bodyPr lIns="0" tIns="0" rIns="0" bIns="0" anchor="t"/>
          <a:lstStyle/>
          <a:p>
            <a:pPr eaLnBrk="1" hangingPunct="1"/>
            <a:r>
              <a:rPr lang="en-US" smtClean="0"/>
              <a:t>Bacterial Conjugation</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5" descr="figure_08_27a_labeled"/>
          <p:cNvPicPr>
            <a:picLocks noChangeAspect="1" noChangeArrowheads="1"/>
          </p:cNvPicPr>
          <p:nvPr/>
        </p:nvPicPr>
        <p:blipFill>
          <a:blip r:embed="rId3"/>
          <a:srcRect b="12253"/>
          <a:stretch>
            <a:fillRect/>
          </a:stretch>
        </p:blipFill>
        <p:spPr bwMode="auto">
          <a:xfrm>
            <a:off x="347663" y="1828800"/>
            <a:ext cx="8491537" cy="2819400"/>
          </a:xfrm>
          <a:prstGeom prst="rect">
            <a:avLst/>
          </a:prstGeom>
          <a:noFill/>
          <a:ln w="9525">
            <a:noFill/>
            <a:miter lim="800000"/>
            <a:headEnd/>
            <a:tailEnd/>
          </a:ln>
        </p:spPr>
      </p:pic>
      <p:sp>
        <p:nvSpPr>
          <p:cNvPr id="33795" name="Rectangle 6"/>
          <p:cNvSpPr>
            <a:spLocks noGrp="1" noChangeArrowheads="1"/>
          </p:cNvSpPr>
          <p:nvPr>
            <p:ph type="title" idx="4294967295"/>
          </p:nvPr>
        </p:nvSpPr>
        <p:spPr/>
        <p:txBody>
          <a:bodyPr lIns="0" tIns="0" rIns="0" bIns="0" anchor="t"/>
          <a:lstStyle/>
          <a:p>
            <a:pPr eaLnBrk="1" hangingPunct="1"/>
            <a:r>
              <a:rPr lang="en-US" smtClean="0"/>
              <a:t>Conjugation in </a:t>
            </a:r>
            <a:r>
              <a:rPr lang="en-US" i="1" smtClean="0"/>
              <a:t>E. coli</a:t>
            </a:r>
            <a:endParaRPr lang="en-US"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5" descr="figure_08_27b_labeled"/>
          <p:cNvPicPr>
            <a:picLocks noChangeAspect="1" noChangeArrowheads="1"/>
          </p:cNvPicPr>
          <p:nvPr/>
        </p:nvPicPr>
        <p:blipFill>
          <a:blip r:embed="rId3"/>
          <a:srcRect l="8076" b="11905"/>
          <a:stretch>
            <a:fillRect/>
          </a:stretch>
        </p:blipFill>
        <p:spPr bwMode="auto">
          <a:xfrm>
            <a:off x="152400" y="1787525"/>
            <a:ext cx="8763000" cy="3165475"/>
          </a:xfrm>
          <a:prstGeom prst="rect">
            <a:avLst/>
          </a:prstGeom>
          <a:noFill/>
          <a:ln w="9525">
            <a:noFill/>
            <a:miter lim="800000"/>
            <a:headEnd/>
            <a:tailEnd/>
          </a:ln>
        </p:spPr>
      </p:pic>
      <p:sp>
        <p:nvSpPr>
          <p:cNvPr id="34819" name="Rectangle 6"/>
          <p:cNvSpPr>
            <a:spLocks noGrp="1" noChangeArrowheads="1"/>
          </p:cNvSpPr>
          <p:nvPr>
            <p:ph type="title" idx="4294967295"/>
          </p:nvPr>
        </p:nvSpPr>
        <p:spPr/>
        <p:txBody>
          <a:bodyPr lIns="0" tIns="0" rIns="0" bIns="0" anchor="t"/>
          <a:lstStyle/>
          <a:p>
            <a:pPr eaLnBrk="1" hangingPunct="1"/>
            <a:r>
              <a:rPr lang="en-US" smtClean="0"/>
              <a:t>Conjugation in </a:t>
            </a:r>
            <a:r>
              <a:rPr lang="en-US" i="1" smtClean="0"/>
              <a:t>E. coli</a:t>
            </a:r>
            <a:endParaRPr lang="en-US"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2"/>
          <p:cNvGrpSpPr>
            <a:grpSpLocks/>
          </p:cNvGrpSpPr>
          <p:nvPr/>
        </p:nvGrpSpPr>
        <p:grpSpPr bwMode="auto">
          <a:xfrm>
            <a:off x="152400" y="914400"/>
            <a:ext cx="8547100" cy="3352800"/>
            <a:chOff x="96" y="768"/>
            <a:chExt cx="5384" cy="2112"/>
          </a:xfrm>
        </p:grpSpPr>
        <p:pic>
          <p:nvPicPr>
            <p:cNvPr id="35844" name="Picture 6" descr="figure_08_27c_labeled"/>
            <p:cNvPicPr>
              <a:picLocks noChangeAspect="1" noChangeArrowheads="1"/>
            </p:cNvPicPr>
            <p:nvPr/>
          </p:nvPicPr>
          <p:blipFill>
            <a:blip r:embed="rId3"/>
            <a:srcRect b="7225"/>
            <a:stretch>
              <a:fillRect/>
            </a:stretch>
          </p:blipFill>
          <p:spPr bwMode="auto">
            <a:xfrm>
              <a:off x="96" y="768"/>
              <a:ext cx="5384" cy="2016"/>
            </a:xfrm>
            <a:prstGeom prst="rect">
              <a:avLst/>
            </a:prstGeom>
            <a:noFill/>
            <a:ln w="9525">
              <a:noFill/>
              <a:miter lim="800000"/>
              <a:headEnd/>
              <a:tailEnd/>
            </a:ln>
          </p:spPr>
        </p:pic>
        <p:sp>
          <p:nvSpPr>
            <p:cNvPr id="35845" name="Rectangle 19"/>
            <p:cNvSpPr>
              <a:spLocks noChangeArrowheads="1"/>
            </p:cNvSpPr>
            <p:nvPr/>
          </p:nvSpPr>
          <p:spPr bwMode="auto">
            <a:xfrm>
              <a:off x="96" y="2736"/>
              <a:ext cx="4128" cy="144"/>
            </a:xfrm>
            <a:prstGeom prst="rect">
              <a:avLst/>
            </a:prstGeom>
            <a:solidFill>
              <a:schemeClr val="bg1"/>
            </a:solidFill>
            <a:ln w="9525">
              <a:solidFill>
                <a:schemeClr val="bg1"/>
              </a:solidFill>
              <a:miter lim="800000"/>
              <a:headEnd/>
              <a:tailEnd/>
            </a:ln>
          </p:spPr>
          <p:txBody>
            <a:bodyPr wrap="none" anchor="ctr"/>
            <a:lstStyle/>
            <a:p>
              <a:endParaRPr lang="en-US">
                <a:ea typeface="ＭＳ Ｐゴシック" pitchFamily="84" charset="-128"/>
              </a:endParaRPr>
            </a:p>
          </p:txBody>
        </p:sp>
      </p:grpSp>
      <p:sp>
        <p:nvSpPr>
          <p:cNvPr id="35843" name="Rectangle 23"/>
          <p:cNvSpPr>
            <a:spLocks noGrp="1" noChangeArrowheads="1"/>
          </p:cNvSpPr>
          <p:nvPr>
            <p:ph type="title" idx="4294967295"/>
          </p:nvPr>
        </p:nvSpPr>
        <p:spPr/>
        <p:txBody>
          <a:bodyPr lIns="0" tIns="0" rIns="0" bIns="0" anchor="t"/>
          <a:lstStyle/>
          <a:p>
            <a:pPr eaLnBrk="1" hangingPunct="1"/>
            <a:r>
              <a:rPr lang="en-US" smtClean="0"/>
              <a:t>Conjugation in </a:t>
            </a:r>
            <a:r>
              <a:rPr lang="en-US" i="1" smtClean="0"/>
              <a:t>E. coli</a:t>
            </a:r>
            <a:endParaRPr lang="en-US"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mtClean="0"/>
              <a:t>Transduction</a:t>
            </a:r>
          </a:p>
        </p:txBody>
      </p:sp>
      <p:sp>
        <p:nvSpPr>
          <p:cNvPr id="30723" name="Rectangle 3"/>
          <p:cNvSpPr>
            <a:spLocks noGrp="1" noChangeArrowheads="1"/>
          </p:cNvSpPr>
          <p:nvPr>
            <p:ph type="body" idx="1"/>
          </p:nvPr>
        </p:nvSpPr>
        <p:spPr>
          <a:xfrm>
            <a:off x="457200" y="1219200"/>
            <a:ext cx="8229600" cy="4906963"/>
          </a:xfrm>
        </p:spPr>
        <p:txBody>
          <a:bodyPr rtlCol="0">
            <a:normAutofit fontScale="92500" lnSpcReduction="20000"/>
          </a:bodyPr>
          <a:lstStyle/>
          <a:p>
            <a:pPr lvl="1" eaLnBrk="1" fontAlgn="auto" hangingPunct="1">
              <a:spcAft>
                <a:spcPts val="0"/>
              </a:spcAft>
              <a:buFont typeface="Arial" pitchFamily="34" charset="0"/>
              <a:buChar char="–"/>
              <a:defRPr/>
            </a:pPr>
            <a:r>
              <a:rPr lang="en-US" dirty="0" smtClean="0"/>
              <a:t>Transfer of genes from a donor cell to a recipient cell through a </a:t>
            </a:r>
            <a:r>
              <a:rPr lang="en-US" dirty="0" err="1" smtClean="0"/>
              <a:t>bacteriophage</a:t>
            </a:r>
            <a:r>
              <a:rPr lang="en-US" dirty="0" smtClean="0"/>
              <a:t> intermediate.</a:t>
            </a:r>
          </a:p>
          <a:p>
            <a:pPr lvl="1" eaLnBrk="1" fontAlgn="auto" hangingPunct="1">
              <a:spcAft>
                <a:spcPts val="0"/>
              </a:spcAft>
              <a:buFont typeface="Arial" pitchFamily="34" charset="0"/>
              <a:buChar char="–"/>
              <a:defRPr/>
            </a:pPr>
            <a:r>
              <a:rPr lang="en-US" dirty="0" err="1" smtClean="0"/>
              <a:t>Bacteriophage</a:t>
            </a:r>
            <a:r>
              <a:rPr lang="en-US" dirty="0" smtClean="0"/>
              <a:t>: A bacterial virus. </a:t>
            </a:r>
            <a:r>
              <a:rPr lang="en-US" sz="2200" dirty="0" smtClean="0"/>
              <a:t>They may have a </a:t>
            </a:r>
            <a:r>
              <a:rPr lang="en-US" sz="2200" dirty="0" err="1" smtClean="0"/>
              <a:t>lytic</a:t>
            </a:r>
            <a:r>
              <a:rPr lang="en-US" sz="2200" dirty="0" smtClean="0"/>
              <a:t> and </a:t>
            </a:r>
            <a:r>
              <a:rPr lang="en-US" sz="2200" dirty="0" err="1" smtClean="0"/>
              <a:t>lysogenic</a:t>
            </a:r>
            <a:r>
              <a:rPr lang="en-US" sz="2200" dirty="0" smtClean="0"/>
              <a:t> cycles or only </a:t>
            </a:r>
            <a:r>
              <a:rPr lang="en-US" sz="2200" dirty="0" err="1" smtClean="0"/>
              <a:t>lytic</a:t>
            </a:r>
            <a:r>
              <a:rPr lang="en-US" sz="2200" dirty="0" smtClean="0"/>
              <a:t> cycle.</a:t>
            </a:r>
          </a:p>
          <a:p>
            <a:pPr lvl="1" eaLnBrk="1" fontAlgn="auto" hangingPunct="1">
              <a:spcAft>
                <a:spcPts val="0"/>
              </a:spcAft>
              <a:buFont typeface="Arial" pitchFamily="34" charset="0"/>
              <a:buChar char="–"/>
              <a:defRPr/>
            </a:pPr>
            <a:r>
              <a:rPr lang="en-US" dirty="0" smtClean="0"/>
              <a:t>Virulent </a:t>
            </a:r>
            <a:r>
              <a:rPr lang="en-US" dirty="0" err="1" smtClean="0"/>
              <a:t>bacteriophage</a:t>
            </a:r>
            <a:r>
              <a:rPr lang="en-US" dirty="0" smtClean="0"/>
              <a:t>: </a:t>
            </a:r>
          </a:p>
          <a:p>
            <a:pPr lvl="2" eaLnBrk="1" fontAlgn="auto" hangingPunct="1">
              <a:spcAft>
                <a:spcPts val="0"/>
              </a:spcAft>
              <a:buFont typeface="Arial" pitchFamily="34" charset="0"/>
              <a:buChar char="•"/>
              <a:defRPr/>
            </a:pPr>
            <a:r>
              <a:rPr lang="en-US" dirty="0" smtClean="0"/>
              <a:t>Has only a lytic stage in its developmental cycle</a:t>
            </a:r>
          </a:p>
          <a:p>
            <a:pPr lvl="2" eaLnBrk="1" fontAlgn="auto" hangingPunct="1">
              <a:spcAft>
                <a:spcPts val="0"/>
              </a:spcAft>
              <a:buFont typeface="Arial" pitchFamily="34" charset="0"/>
              <a:buChar char="•"/>
              <a:defRPr/>
            </a:pPr>
            <a:r>
              <a:rPr lang="en-US" dirty="0"/>
              <a:t>The </a:t>
            </a:r>
            <a:r>
              <a:rPr lang="en-US" b="1" dirty="0"/>
              <a:t>lytic</a:t>
            </a:r>
            <a:r>
              <a:rPr lang="en-US" dirty="0"/>
              <a:t> cycle results in the destruction of the infected cell and its membrane.</a:t>
            </a:r>
            <a:endParaRPr lang="en-US" dirty="0" smtClean="0"/>
          </a:p>
          <a:p>
            <a:pPr lvl="2" eaLnBrk="1" fontAlgn="auto" hangingPunct="1">
              <a:spcAft>
                <a:spcPts val="0"/>
              </a:spcAft>
              <a:buFont typeface="Arial" pitchFamily="34" charset="0"/>
              <a:buChar char="•"/>
              <a:defRPr/>
            </a:pPr>
            <a:r>
              <a:rPr lang="en-US" dirty="0" smtClean="0"/>
              <a:t>When a virulent </a:t>
            </a:r>
            <a:r>
              <a:rPr lang="en-US" dirty="0" err="1" smtClean="0"/>
              <a:t>bacteriophage</a:t>
            </a:r>
            <a:r>
              <a:rPr lang="en-US" dirty="0" smtClean="0"/>
              <a:t> infects its host bacterium, it does not integrate its DNA into the host </a:t>
            </a:r>
            <a:r>
              <a:rPr lang="en-US" dirty="0" err="1" smtClean="0"/>
              <a:t>chromsome</a:t>
            </a:r>
            <a:r>
              <a:rPr lang="en-US" dirty="0" smtClean="0"/>
              <a:t>. Instead, it replicates its own DNA and </a:t>
            </a:r>
            <a:r>
              <a:rPr lang="en-US" dirty="0" err="1" smtClean="0"/>
              <a:t>capsid</a:t>
            </a:r>
            <a:r>
              <a:rPr lang="en-US" dirty="0" smtClean="0"/>
              <a:t> protein within the infected host, reassembles thousands of new virus particles, and lyses the host cell to release the new viruses. </a:t>
            </a:r>
          </a:p>
          <a:p>
            <a:pPr lvl="2" eaLnBrk="1" fontAlgn="auto" hangingPunct="1">
              <a:spcAft>
                <a:spcPts val="0"/>
              </a:spcAft>
              <a:buFont typeface="Arial" pitchFamily="34" charset="0"/>
              <a:buChar char="•"/>
              <a:defRPr/>
            </a:pPr>
            <a:r>
              <a:rPr lang="en-US" dirty="0" smtClean="0"/>
              <a:t>Example: T4 phage of </a:t>
            </a:r>
            <a:r>
              <a:rPr lang="en-US" i="1" dirty="0" smtClean="0"/>
              <a:t>E. coli</a:t>
            </a:r>
            <a:endParaRPr lang="en-US"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 </a:t>
            </a:r>
            <a:r>
              <a:rPr lang="en-US" b="1" dirty="0" err="1"/>
              <a:t>lysogen</a:t>
            </a:r>
            <a:r>
              <a:rPr lang="en-US" dirty="0"/>
              <a:t> or </a:t>
            </a:r>
            <a:r>
              <a:rPr lang="en-US" b="1" dirty="0"/>
              <a:t>lysogenic</a:t>
            </a:r>
            <a:r>
              <a:rPr lang="en-US" dirty="0"/>
              <a:t> bacterium is a bacterial cell in which a phage exists as DNA in its dormant state (</a:t>
            </a:r>
            <a:r>
              <a:rPr lang="en-US" dirty="0" err="1"/>
              <a:t>prophage</a:t>
            </a:r>
            <a:r>
              <a:rPr lang="en-US" dirty="0"/>
              <a:t>). A </a:t>
            </a:r>
            <a:r>
              <a:rPr lang="en-US" dirty="0" err="1"/>
              <a:t>prophage</a:t>
            </a:r>
            <a:r>
              <a:rPr lang="en-US" dirty="0"/>
              <a:t> is either integrated into the host bacteria's chromosome or more rarely exists as a stable plasmid within the host cell.</a:t>
            </a:r>
          </a:p>
        </p:txBody>
      </p:sp>
    </p:spTree>
    <p:extLst>
      <p:ext uri="{BB962C8B-B14F-4D97-AF65-F5344CB8AC3E}">
        <p14:creationId xmlns:p14="http://schemas.microsoft.com/office/powerpoint/2010/main" val="41712683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smtClean="0"/>
              <a:t>Transduction </a:t>
            </a:r>
          </a:p>
        </p:txBody>
      </p:sp>
      <p:sp>
        <p:nvSpPr>
          <p:cNvPr id="31747" name="Rectangle 3"/>
          <p:cNvSpPr>
            <a:spLocks noGrp="1" noChangeArrowheads="1"/>
          </p:cNvSpPr>
          <p:nvPr>
            <p:ph type="body" idx="1"/>
          </p:nvPr>
        </p:nvSpPr>
        <p:spPr/>
        <p:txBody>
          <a:bodyPr rtlCol="0">
            <a:normAutofit fontScale="92500"/>
          </a:bodyPr>
          <a:lstStyle/>
          <a:p>
            <a:pPr lvl="1" eaLnBrk="1" fontAlgn="auto" hangingPunct="1">
              <a:spcAft>
                <a:spcPts val="0"/>
              </a:spcAft>
              <a:buFont typeface="Arial" pitchFamily="34" charset="0"/>
              <a:buChar char="–"/>
              <a:defRPr/>
            </a:pPr>
            <a:r>
              <a:rPr lang="en-US" dirty="0" smtClean="0"/>
              <a:t>Temperate </a:t>
            </a:r>
            <a:r>
              <a:rPr lang="en-US" dirty="0" err="1" smtClean="0"/>
              <a:t>bacteriophage</a:t>
            </a:r>
            <a:r>
              <a:rPr lang="en-US" dirty="0" smtClean="0"/>
              <a:t>:</a:t>
            </a:r>
          </a:p>
          <a:p>
            <a:pPr lvl="2" eaLnBrk="1" fontAlgn="auto" hangingPunct="1">
              <a:spcAft>
                <a:spcPts val="0"/>
              </a:spcAft>
              <a:buFont typeface="Arial" pitchFamily="34" charset="0"/>
              <a:buChar char="•"/>
              <a:defRPr/>
            </a:pPr>
            <a:r>
              <a:rPr lang="en-US" dirty="0" smtClean="0"/>
              <a:t>A </a:t>
            </a:r>
            <a:r>
              <a:rPr lang="en-US" dirty="0" err="1" smtClean="0"/>
              <a:t>bacteriophage</a:t>
            </a:r>
            <a:r>
              <a:rPr lang="en-US" dirty="0" smtClean="0"/>
              <a:t> that has both </a:t>
            </a:r>
            <a:r>
              <a:rPr lang="en-US" dirty="0" err="1" smtClean="0"/>
              <a:t>lytic</a:t>
            </a:r>
            <a:r>
              <a:rPr lang="en-US" dirty="0" smtClean="0"/>
              <a:t> and </a:t>
            </a:r>
            <a:r>
              <a:rPr lang="en-US" dirty="0" err="1" smtClean="0"/>
              <a:t>lysogenic</a:t>
            </a:r>
            <a:r>
              <a:rPr lang="en-US" dirty="0" smtClean="0"/>
              <a:t> stages in its replication cycle</a:t>
            </a:r>
          </a:p>
          <a:p>
            <a:pPr lvl="2" eaLnBrk="1" fontAlgn="auto" hangingPunct="1">
              <a:spcAft>
                <a:spcPts val="0"/>
              </a:spcAft>
              <a:buFont typeface="Arial" pitchFamily="34" charset="0"/>
              <a:buChar char="•"/>
              <a:defRPr/>
            </a:pPr>
            <a:r>
              <a:rPr lang="en-US" dirty="0" smtClean="0"/>
              <a:t>In the </a:t>
            </a:r>
            <a:r>
              <a:rPr lang="en-US" dirty="0" err="1" smtClean="0"/>
              <a:t>lysogenic</a:t>
            </a:r>
            <a:r>
              <a:rPr lang="en-US" dirty="0" smtClean="0"/>
              <a:t> stage, the DNA of a temperate phage is inserted into a specific region of the host chromosome, where it is replicated every time the bacterial cell replicates</a:t>
            </a:r>
          </a:p>
          <a:p>
            <a:pPr lvl="2" eaLnBrk="1" fontAlgn="auto" hangingPunct="1">
              <a:spcAft>
                <a:spcPts val="0"/>
              </a:spcAft>
              <a:buFont typeface="Arial" pitchFamily="34" charset="0"/>
              <a:buChar char="•"/>
              <a:defRPr/>
            </a:pPr>
            <a:r>
              <a:rPr lang="en-US" dirty="0" smtClean="0"/>
              <a:t>During adverse growth conditions, the phage DNA comes out of the chromosome and begins a </a:t>
            </a:r>
            <a:r>
              <a:rPr lang="en-US" dirty="0" err="1" smtClean="0"/>
              <a:t>lytic</a:t>
            </a:r>
            <a:r>
              <a:rPr lang="en-US" dirty="0" smtClean="0"/>
              <a:t> stage, similar to that of a virulent phage. The virus replicates its DNA and protein, thousands of new virus particles are assembled, and the cell lyses to release the viruses.</a:t>
            </a:r>
          </a:p>
          <a:p>
            <a:pPr lvl="2" eaLnBrk="1" fontAlgn="auto" hangingPunct="1">
              <a:spcAft>
                <a:spcPts val="0"/>
              </a:spcAft>
              <a:buFont typeface="Arial" pitchFamily="34" charset="0"/>
              <a:buChar char="•"/>
              <a:defRPr/>
            </a:pPr>
            <a:r>
              <a:rPr lang="en-US" dirty="0" smtClean="0"/>
              <a:t>Example: lambda (λ) phage of </a:t>
            </a:r>
            <a:r>
              <a:rPr lang="en-US" i="1" dirty="0" smtClean="0"/>
              <a:t>E. coli</a:t>
            </a:r>
            <a:endParaRPr lang="en-US"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smtClean="0"/>
              <a:t>Transduction</a:t>
            </a:r>
          </a:p>
        </p:txBody>
      </p:sp>
      <p:sp>
        <p:nvSpPr>
          <p:cNvPr id="32771" name="Rectangle 3"/>
          <p:cNvSpPr>
            <a:spLocks noGrp="1" noChangeArrowheads="1"/>
          </p:cNvSpPr>
          <p:nvPr>
            <p:ph type="body" idx="1"/>
          </p:nvPr>
        </p:nvSpPr>
        <p:spPr/>
        <p:txBody>
          <a:bodyPr rtlCol="0">
            <a:normAutofit fontScale="92500" lnSpcReduction="20000"/>
          </a:bodyPr>
          <a:lstStyle/>
          <a:p>
            <a:pPr lvl="1" eaLnBrk="1" fontAlgn="auto" hangingPunct="1">
              <a:spcAft>
                <a:spcPts val="0"/>
              </a:spcAft>
              <a:buFont typeface="Arial" pitchFamily="34" charset="0"/>
              <a:buChar char="–"/>
              <a:defRPr/>
            </a:pPr>
            <a:r>
              <a:rPr lang="en-US" dirty="0" smtClean="0"/>
              <a:t>Random Generalized Transduction</a:t>
            </a:r>
          </a:p>
          <a:p>
            <a:pPr lvl="2" eaLnBrk="1" fontAlgn="auto" hangingPunct="1">
              <a:spcAft>
                <a:spcPts val="0"/>
              </a:spcAft>
              <a:buFont typeface="Arial" pitchFamily="34" charset="0"/>
              <a:buChar char="•"/>
              <a:defRPr/>
            </a:pPr>
            <a:r>
              <a:rPr lang="en-US" dirty="0" smtClean="0"/>
              <a:t>In this process, any of the genes from the donor chromosome may be transferred to the recipient.</a:t>
            </a:r>
          </a:p>
          <a:p>
            <a:pPr lvl="2" eaLnBrk="1" fontAlgn="auto" hangingPunct="1">
              <a:spcAft>
                <a:spcPts val="0"/>
              </a:spcAft>
              <a:buFont typeface="Arial" pitchFamily="34" charset="0"/>
              <a:buChar char="•"/>
              <a:defRPr/>
            </a:pPr>
            <a:r>
              <a:rPr lang="en-US" dirty="0" smtClean="0"/>
              <a:t>Random generalized transduction can be mediated by either virulent phages or certain temperate phages during their </a:t>
            </a:r>
            <a:r>
              <a:rPr lang="en-US" dirty="0" err="1" smtClean="0"/>
              <a:t>lytic</a:t>
            </a:r>
            <a:r>
              <a:rPr lang="en-US" dirty="0" smtClean="0"/>
              <a:t> stage. The virus must break down the host chromosome into fragments as part of its replication.</a:t>
            </a:r>
          </a:p>
          <a:p>
            <a:pPr lvl="2" eaLnBrk="1" fontAlgn="auto" hangingPunct="1">
              <a:spcAft>
                <a:spcPts val="0"/>
              </a:spcAft>
              <a:buFont typeface="Arial" pitchFamily="34" charset="0"/>
              <a:buChar char="•"/>
              <a:defRPr/>
            </a:pPr>
            <a:r>
              <a:rPr lang="en-US" dirty="0" smtClean="0"/>
              <a:t>When the host chromosome is broken into fragments, a small number of host chromosome fragments become packaged into viral </a:t>
            </a:r>
            <a:r>
              <a:rPr lang="en-US" dirty="0" err="1" smtClean="0"/>
              <a:t>capsids</a:t>
            </a:r>
            <a:r>
              <a:rPr lang="en-US" dirty="0" smtClean="0"/>
              <a:t>. These are the </a:t>
            </a:r>
            <a:r>
              <a:rPr lang="en-US" dirty="0" err="1" smtClean="0"/>
              <a:t>transducing</a:t>
            </a:r>
            <a:r>
              <a:rPr lang="en-US" dirty="0" smtClean="0"/>
              <a:t> particles of random generalized transduction. Since the host chromosome has been randomly broken into fragments, any of the host genes can randomly packaged into the </a:t>
            </a:r>
            <a:r>
              <a:rPr lang="en-US" dirty="0" err="1" smtClean="0"/>
              <a:t>transducing</a:t>
            </a:r>
            <a:r>
              <a:rPr lang="en-US" dirty="0" smtClean="0"/>
              <a:t> particles.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smtClean="0"/>
              <a:t>Transduction</a:t>
            </a:r>
            <a:br>
              <a:rPr lang="en-US" smtClean="0"/>
            </a:br>
            <a:endParaRPr lang="en-US" smtClean="0"/>
          </a:p>
        </p:txBody>
      </p:sp>
      <p:sp>
        <p:nvSpPr>
          <p:cNvPr id="35843" name="Rectangle 3"/>
          <p:cNvSpPr>
            <a:spLocks noGrp="1" noChangeArrowheads="1"/>
          </p:cNvSpPr>
          <p:nvPr>
            <p:ph type="body" idx="1"/>
          </p:nvPr>
        </p:nvSpPr>
        <p:spPr/>
        <p:txBody>
          <a:bodyPr rtlCol="0">
            <a:normAutofit fontScale="92500" lnSpcReduction="10000"/>
          </a:bodyPr>
          <a:lstStyle/>
          <a:p>
            <a:pPr lvl="1" eaLnBrk="1" fontAlgn="auto" hangingPunct="1">
              <a:spcAft>
                <a:spcPts val="0"/>
              </a:spcAft>
              <a:buFont typeface="Arial" pitchFamily="34" charset="0"/>
              <a:buChar char="–"/>
              <a:defRPr/>
            </a:pPr>
            <a:r>
              <a:rPr lang="en-US" dirty="0" smtClean="0"/>
              <a:t>Specialized transduction</a:t>
            </a:r>
          </a:p>
          <a:p>
            <a:pPr lvl="2" eaLnBrk="1" fontAlgn="auto" hangingPunct="1">
              <a:spcAft>
                <a:spcPts val="0"/>
              </a:spcAft>
              <a:buFont typeface="Arial" pitchFamily="34" charset="0"/>
              <a:buChar char="•"/>
              <a:defRPr/>
            </a:pPr>
            <a:r>
              <a:rPr lang="en-US" dirty="0" smtClean="0"/>
              <a:t>This process can only be mediated by temperate phages.</a:t>
            </a:r>
          </a:p>
          <a:p>
            <a:pPr lvl="2" eaLnBrk="1" fontAlgn="auto" hangingPunct="1">
              <a:spcAft>
                <a:spcPts val="0"/>
              </a:spcAft>
              <a:buFont typeface="Arial" pitchFamily="34" charset="0"/>
              <a:buChar char="•"/>
              <a:defRPr/>
            </a:pPr>
            <a:r>
              <a:rPr lang="en-US" dirty="0" smtClean="0"/>
              <a:t>The only genes that can be transferred from the donor to the recipient are the genes that are immediately adjacent to the phage insertion site on the donor chromosome.</a:t>
            </a:r>
          </a:p>
          <a:p>
            <a:pPr lvl="2" eaLnBrk="1" fontAlgn="auto" hangingPunct="1">
              <a:spcAft>
                <a:spcPts val="0"/>
              </a:spcAft>
              <a:buFont typeface="Arial" pitchFamily="34" charset="0"/>
              <a:buChar char="•"/>
              <a:defRPr/>
            </a:pPr>
            <a:r>
              <a:rPr lang="en-US" dirty="0" smtClean="0"/>
              <a:t>When the phage DNA is excised from the chromosome as the virus enters its </a:t>
            </a:r>
            <a:r>
              <a:rPr lang="en-US" dirty="0" err="1" smtClean="0"/>
              <a:t>lytic</a:t>
            </a:r>
            <a:r>
              <a:rPr lang="en-US" dirty="0" smtClean="0"/>
              <a:t> cycle, occasionally there is a mistake and some of the chromosomal DNA becomes packaged into the phage </a:t>
            </a:r>
            <a:r>
              <a:rPr lang="en-US" dirty="0" err="1" smtClean="0"/>
              <a:t>capsid</a:t>
            </a:r>
            <a:r>
              <a:rPr lang="en-US" dirty="0" smtClean="0"/>
              <a:t> along with the viral DNA. These are the </a:t>
            </a:r>
            <a:r>
              <a:rPr lang="en-US" dirty="0" err="1" smtClean="0"/>
              <a:t>transducing</a:t>
            </a:r>
            <a:r>
              <a:rPr lang="en-US" dirty="0" smtClean="0"/>
              <a:t> particles of specialized transduction. The host chromosome is not broken up; instead, only the genes that are adjacent (next to) the phage insertion site can be packaged into the </a:t>
            </a:r>
            <a:r>
              <a:rPr lang="en-US" dirty="0" err="1" smtClean="0"/>
              <a:t>transducing</a:t>
            </a:r>
            <a:r>
              <a:rPr lang="en-US" dirty="0" smtClean="0"/>
              <a:t> particles.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6" descr="figure_08_28_labeled"/>
          <p:cNvPicPr>
            <a:picLocks noChangeAspect="1" noChangeArrowheads="1"/>
          </p:cNvPicPr>
          <p:nvPr/>
        </p:nvPicPr>
        <p:blipFill>
          <a:blip r:embed="rId3"/>
          <a:srcRect b="2773"/>
          <a:stretch>
            <a:fillRect/>
          </a:stretch>
        </p:blipFill>
        <p:spPr bwMode="auto">
          <a:xfrm>
            <a:off x="2438400" y="685800"/>
            <a:ext cx="5257800" cy="6172200"/>
          </a:xfrm>
          <a:prstGeom prst="rect">
            <a:avLst/>
          </a:prstGeom>
          <a:noFill/>
          <a:ln w="9525">
            <a:noFill/>
            <a:miter lim="800000"/>
            <a:headEnd/>
            <a:tailEnd/>
          </a:ln>
        </p:spPr>
      </p:pic>
      <p:sp>
        <p:nvSpPr>
          <p:cNvPr id="40963" name="Rectangle 17"/>
          <p:cNvSpPr>
            <a:spLocks noGrp="1" noChangeArrowheads="1"/>
          </p:cNvSpPr>
          <p:nvPr>
            <p:ph type="title" idx="4294967295"/>
          </p:nvPr>
        </p:nvSpPr>
        <p:spPr>
          <a:xfrm>
            <a:off x="381000" y="0"/>
            <a:ext cx="8229600" cy="1143000"/>
          </a:xfrm>
        </p:spPr>
        <p:txBody>
          <a:bodyPr lIns="0" tIns="0" rIns="0" bIns="0" anchor="t"/>
          <a:lstStyle/>
          <a:p>
            <a:pPr eaLnBrk="1" hangingPunct="1"/>
            <a:r>
              <a:rPr lang="en-US" smtClean="0"/>
              <a:t>Transduction by a Bacteriophage</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533400"/>
            <a:ext cx="8229600" cy="1143000"/>
          </a:xfrm>
        </p:spPr>
        <p:txBody>
          <a:bodyPr/>
          <a:lstStyle/>
          <a:p>
            <a:pPr eaLnBrk="1" hangingPunct="1"/>
            <a:r>
              <a:rPr lang="en-US" smtClean="0"/>
              <a:t>Transformation</a:t>
            </a:r>
            <a:br>
              <a:rPr lang="en-US" smtClean="0"/>
            </a:br>
            <a:endParaRPr lang="en-US" smtClean="0"/>
          </a:p>
        </p:txBody>
      </p:sp>
      <p:sp>
        <p:nvSpPr>
          <p:cNvPr id="41987" name="Rectangle 3"/>
          <p:cNvSpPr>
            <a:spLocks noGrp="1" noChangeArrowheads="1"/>
          </p:cNvSpPr>
          <p:nvPr>
            <p:ph type="body" idx="1"/>
          </p:nvPr>
        </p:nvSpPr>
        <p:spPr/>
        <p:txBody>
          <a:bodyPr/>
          <a:lstStyle/>
          <a:p>
            <a:pPr lvl="1" eaLnBrk="1" hangingPunct="1"/>
            <a:r>
              <a:rPr lang="en-US" smtClean="0"/>
              <a:t>Transfer of isolated donor DNA (either chromosomal DNA fragments or plasmid DNA) to a recipient cell.</a:t>
            </a:r>
          </a:p>
          <a:p>
            <a:pPr lvl="1" eaLnBrk="1" hangingPunct="1"/>
            <a:r>
              <a:rPr lang="en-US" smtClean="0"/>
              <a:t>Successful transformation depends on the presence of double-stranded donor DNA molecules that are large enough, as well as cells that are competent for transformation</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smtClean="0"/>
              <a:t>Transformation</a:t>
            </a:r>
            <a:br>
              <a:rPr lang="en-US" smtClean="0"/>
            </a:br>
            <a:endParaRPr lang="en-US" smtClean="0"/>
          </a:p>
        </p:txBody>
      </p:sp>
      <p:sp>
        <p:nvSpPr>
          <p:cNvPr id="39939" name="Rectangle 3"/>
          <p:cNvSpPr>
            <a:spLocks noGrp="1" noChangeArrowheads="1"/>
          </p:cNvSpPr>
          <p:nvPr>
            <p:ph type="body" idx="1"/>
          </p:nvPr>
        </p:nvSpPr>
        <p:spPr/>
        <p:txBody>
          <a:bodyPr rtlCol="0">
            <a:normAutofit fontScale="92500" lnSpcReduction="10000"/>
          </a:bodyPr>
          <a:lstStyle/>
          <a:p>
            <a:pPr lvl="1" eaLnBrk="1" fontAlgn="auto" hangingPunct="1">
              <a:spcAft>
                <a:spcPts val="0"/>
              </a:spcAft>
              <a:buFont typeface="Arial" charset="0"/>
              <a:buNone/>
              <a:defRPr/>
            </a:pPr>
            <a:r>
              <a:rPr lang="en-US" dirty="0" smtClean="0"/>
              <a:t>Competence</a:t>
            </a:r>
          </a:p>
          <a:p>
            <a:pPr lvl="2" eaLnBrk="1" fontAlgn="auto" hangingPunct="1">
              <a:spcAft>
                <a:spcPts val="0"/>
              </a:spcAft>
              <a:buFont typeface="Arial" pitchFamily="34" charset="0"/>
              <a:buChar char="•"/>
              <a:defRPr/>
            </a:pPr>
            <a:r>
              <a:rPr lang="en-US" dirty="0" smtClean="0"/>
              <a:t>Competence is the ability of a bacterial species or strain to take up DNA from its environment.</a:t>
            </a:r>
          </a:p>
          <a:p>
            <a:pPr lvl="2" eaLnBrk="1" fontAlgn="auto" hangingPunct="1">
              <a:spcAft>
                <a:spcPts val="0"/>
              </a:spcAft>
              <a:buFont typeface="Arial" pitchFamily="34" charset="0"/>
              <a:buChar char="•"/>
              <a:defRPr/>
            </a:pPr>
            <a:r>
              <a:rPr lang="en-US" dirty="0" smtClean="0"/>
              <a:t>Many species are naturally competent, such as </a:t>
            </a:r>
            <a:r>
              <a:rPr lang="en-US" i="1" dirty="0" smtClean="0"/>
              <a:t>Streptococcus </a:t>
            </a:r>
            <a:r>
              <a:rPr lang="en-US" i="1" dirty="0" err="1" smtClean="0"/>
              <a:t>pneumioniae</a:t>
            </a:r>
            <a:r>
              <a:rPr lang="en-US" dirty="0" smtClean="0"/>
              <a:t>, </a:t>
            </a:r>
            <a:r>
              <a:rPr lang="en-US" i="1" dirty="0" err="1" smtClean="0"/>
              <a:t>Acinetobacter</a:t>
            </a:r>
            <a:r>
              <a:rPr lang="en-US" i="1" dirty="0" smtClean="0"/>
              <a:t> </a:t>
            </a:r>
            <a:r>
              <a:rPr lang="en-US" i="1" dirty="0" err="1" smtClean="0"/>
              <a:t>calcoaceticus</a:t>
            </a:r>
            <a:r>
              <a:rPr lang="en-US" dirty="0" smtClean="0"/>
              <a:t>, </a:t>
            </a:r>
            <a:r>
              <a:rPr lang="en-US" i="1" dirty="0" err="1" smtClean="0"/>
              <a:t>Neiserria</a:t>
            </a:r>
            <a:r>
              <a:rPr lang="en-US" i="1" dirty="0" smtClean="0"/>
              <a:t> </a:t>
            </a:r>
            <a:r>
              <a:rPr lang="en-US" i="1" dirty="0" err="1" smtClean="0"/>
              <a:t>gonorrheae</a:t>
            </a:r>
            <a:r>
              <a:rPr lang="en-US" dirty="0" smtClean="0"/>
              <a:t>, and </a:t>
            </a:r>
            <a:r>
              <a:rPr lang="en-US" i="1" dirty="0" smtClean="0"/>
              <a:t>Bacillus </a:t>
            </a:r>
            <a:r>
              <a:rPr lang="en-US" i="1" dirty="0" err="1" smtClean="0"/>
              <a:t>subtilis</a:t>
            </a:r>
            <a:endParaRPr lang="en-US" dirty="0" smtClean="0"/>
          </a:p>
          <a:p>
            <a:pPr lvl="2" eaLnBrk="1" fontAlgn="auto" hangingPunct="1">
              <a:spcAft>
                <a:spcPts val="0"/>
              </a:spcAft>
              <a:buFont typeface="Arial" pitchFamily="34" charset="0"/>
              <a:buChar char="•"/>
              <a:defRPr/>
            </a:pPr>
            <a:r>
              <a:rPr lang="en-US" dirty="0" smtClean="0"/>
              <a:t>Naturally competent species  possess a nucleic acid transporter that spans their cell wall &amp; plasma membrane.</a:t>
            </a:r>
          </a:p>
          <a:p>
            <a:pPr lvl="3" eaLnBrk="1" fontAlgn="auto" hangingPunct="1">
              <a:spcAft>
                <a:spcPts val="0"/>
              </a:spcAft>
              <a:buFont typeface="Arial" pitchFamily="34" charset="0"/>
              <a:buChar char="–"/>
              <a:defRPr/>
            </a:pPr>
            <a:r>
              <a:rPr lang="en-US" dirty="0" smtClean="0"/>
              <a:t>The transporter binds to double-stranded DNA, hydrolyzes one of the strands, and pulls the other strand into the recipient cell.</a:t>
            </a:r>
          </a:p>
          <a:p>
            <a:pPr lvl="3" eaLnBrk="1" fontAlgn="auto" hangingPunct="1">
              <a:spcAft>
                <a:spcPts val="0"/>
              </a:spcAft>
              <a:buFont typeface="Arial" pitchFamily="34" charset="0"/>
              <a:buChar char="–"/>
              <a:defRPr/>
            </a:pPr>
            <a:r>
              <a:rPr lang="en-US" dirty="0" smtClean="0"/>
              <a:t>The donor DNA strand may then recombine with the recipient chromosome, possibly changing the phenotype of the recipient to the donor phenotype.</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smtClean="0"/>
              <a:t>Transformation</a:t>
            </a:r>
          </a:p>
        </p:txBody>
      </p:sp>
      <p:sp>
        <p:nvSpPr>
          <p:cNvPr id="44035" name="Rectangle 3"/>
          <p:cNvSpPr>
            <a:spLocks noGrp="1" noChangeArrowheads="1"/>
          </p:cNvSpPr>
          <p:nvPr>
            <p:ph type="body" idx="1"/>
          </p:nvPr>
        </p:nvSpPr>
        <p:spPr/>
        <p:txBody>
          <a:bodyPr/>
          <a:lstStyle/>
          <a:p>
            <a:pPr lvl="1" eaLnBrk="1" hangingPunct="1">
              <a:buFont typeface="Arial" charset="0"/>
              <a:buNone/>
            </a:pPr>
            <a:r>
              <a:rPr lang="en-US" smtClean="0"/>
              <a:t>Competence</a:t>
            </a:r>
          </a:p>
          <a:p>
            <a:pPr lvl="2" eaLnBrk="1" hangingPunct="1"/>
            <a:r>
              <a:rPr lang="en-US" smtClean="0"/>
              <a:t>Competence can be induced in some species that are not naturally competent</a:t>
            </a:r>
          </a:p>
          <a:p>
            <a:pPr lvl="3" eaLnBrk="1" hangingPunct="1"/>
            <a:r>
              <a:rPr lang="en-US" smtClean="0"/>
              <a:t>In certain noncompetent gram-negative species (for example, </a:t>
            </a:r>
            <a:r>
              <a:rPr lang="en-US" i="1" smtClean="0"/>
              <a:t>Escherichia coli</a:t>
            </a:r>
            <a:r>
              <a:rPr lang="en-US" smtClean="0"/>
              <a:t>), competence can be induced by treating the cells with divalent calcium ions (Ca</a:t>
            </a:r>
            <a:r>
              <a:rPr lang="en-US" baseline="30000" smtClean="0"/>
              <a:t>2+</a:t>
            </a:r>
            <a:r>
              <a:rPr lang="en-US" smtClean="0"/>
              <a:t>), usually as a solution of calcium chloride.</a:t>
            </a:r>
          </a:p>
          <a:p>
            <a:pPr lvl="3" eaLnBrk="1" hangingPunct="1"/>
            <a:r>
              <a:rPr lang="en-US" smtClean="0"/>
              <a:t>In certain noncompetent gram-positive species (for example, </a:t>
            </a:r>
            <a:r>
              <a:rPr lang="en-US" i="1" smtClean="0"/>
              <a:t>Geobacillus stearothermophilus</a:t>
            </a:r>
            <a:r>
              <a:rPr lang="en-US" smtClean="0"/>
              <a:t>), competence can be induced by removing the cell wall from the cells by lysozyme digestion.</a:t>
            </a:r>
          </a:p>
          <a:p>
            <a:pPr lvl="1" eaLnBrk="1" hangingPunct="1"/>
            <a:endParaRPr lang="en-US"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smtClean="0"/>
              <a:t>Transformation</a:t>
            </a:r>
          </a:p>
        </p:txBody>
      </p:sp>
      <p:sp>
        <p:nvSpPr>
          <p:cNvPr id="45059" name="Rectangle 3"/>
          <p:cNvSpPr>
            <a:spLocks noGrp="1" noChangeArrowheads="1"/>
          </p:cNvSpPr>
          <p:nvPr>
            <p:ph type="body" idx="1"/>
          </p:nvPr>
        </p:nvSpPr>
        <p:spPr>
          <a:xfrm>
            <a:off x="381000" y="2057400"/>
            <a:ext cx="8229600" cy="4525963"/>
          </a:xfrm>
        </p:spPr>
        <p:txBody>
          <a:bodyPr/>
          <a:lstStyle/>
          <a:p>
            <a:pPr lvl="1" eaLnBrk="1" hangingPunct="1">
              <a:buFont typeface="Arial" charset="0"/>
              <a:buNone/>
            </a:pPr>
            <a:r>
              <a:rPr lang="en-US" smtClean="0"/>
              <a:t>Transformation is also a major technique used to introduce recombinant DNA molecules into host cells. In this case, the DNA is usually recombinant plasmids.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smtClean="0"/>
              <a:t>Mutations</a:t>
            </a:r>
          </a:p>
        </p:txBody>
      </p:sp>
      <p:sp>
        <p:nvSpPr>
          <p:cNvPr id="14339" name="Rectangle 3"/>
          <p:cNvSpPr>
            <a:spLocks noGrp="1" noChangeArrowheads="1"/>
          </p:cNvSpPr>
          <p:nvPr>
            <p:ph type="body" idx="1"/>
          </p:nvPr>
        </p:nvSpPr>
        <p:spPr/>
        <p:txBody>
          <a:bodyPr rtlCol="0">
            <a:normAutofit fontScale="85000" lnSpcReduction="10000"/>
          </a:bodyPr>
          <a:lstStyle/>
          <a:p>
            <a:pPr eaLnBrk="1" fontAlgn="auto" hangingPunct="1">
              <a:spcAft>
                <a:spcPts val="0"/>
              </a:spcAft>
              <a:buFont typeface="Arial" pitchFamily="34" charset="0"/>
              <a:buChar char="•"/>
              <a:defRPr/>
            </a:pPr>
            <a:r>
              <a:rPr lang="en-US" dirty="0" smtClean="0"/>
              <a:t> Definitions</a:t>
            </a:r>
          </a:p>
          <a:p>
            <a:pPr lvl="1" eaLnBrk="1" fontAlgn="auto" hangingPunct="1">
              <a:spcAft>
                <a:spcPts val="0"/>
              </a:spcAft>
              <a:buFont typeface="Arial" pitchFamily="34" charset="0"/>
              <a:buChar char="–"/>
              <a:defRPr/>
            </a:pPr>
            <a:r>
              <a:rPr lang="en-US" dirty="0" smtClean="0"/>
              <a:t>Lethal mutation: results in death of the cell, and therefore cannot be propagated or studied</a:t>
            </a:r>
          </a:p>
          <a:p>
            <a:pPr lvl="1" eaLnBrk="1" fontAlgn="auto" hangingPunct="1">
              <a:spcAft>
                <a:spcPts val="0"/>
              </a:spcAft>
              <a:buFont typeface="Arial" pitchFamily="34" charset="0"/>
              <a:buChar char="–"/>
              <a:defRPr/>
            </a:pPr>
            <a:r>
              <a:rPr lang="en-US" dirty="0" smtClean="0"/>
              <a:t>Conditional mutation: One that is expressed only under certain environmental conditions; for example, a temperature-sensitive mutation</a:t>
            </a:r>
          </a:p>
          <a:p>
            <a:pPr lvl="1" eaLnBrk="1" fontAlgn="auto" hangingPunct="1">
              <a:spcAft>
                <a:spcPts val="0"/>
              </a:spcAft>
              <a:buFont typeface="Arial" pitchFamily="34" charset="0"/>
              <a:buChar char="–"/>
              <a:defRPr/>
            </a:pPr>
            <a:r>
              <a:rPr lang="en-US" dirty="0" smtClean="0"/>
              <a:t>Biochemical mutations: result in change in a biochemical pathway of the cell; for example, an </a:t>
            </a:r>
            <a:r>
              <a:rPr lang="en-US" dirty="0" err="1" smtClean="0"/>
              <a:t>auxotrophic</a:t>
            </a:r>
            <a:r>
              <a:rPr lang="en-US" dirty="0" smtClean="0"/>
              <a:t> mutation </a:t>
            </a:r>
          </a:p>
          <a:p>
            <a:pPr lvl="1" eaLnBrk="1" fontAlgn="auto" hangingPunct="1">
              <a:spcAft>
                <a:spcPts val="0"/>
              </a:spcAft>
              <a:buFont typeface="Arial" pitchFamily="34" charset="0"/>
              <a:buChar char="–"/>
              <a:defRPr/>
            </a:pPr>
            <a:r>
              <a:rPr lang="en-US" dirty="0" smtClean="0"/>
              <a:t>Spontaneous mutation: one that arises spontaneously due to error during DNA replication</a:t>
            </a:r>
          </a:p>
          <a:p>
            <a:pPr lvl="1" eaLnBrk="1" fontAlgn="auto" hangingPunct="1">
              <a:spcAft>
                <a:spcPts val="0"/>
              </a:spcAft>
              <a:buFont typeface="Arial" pitchFamily="34" charset="0"/>
              <a:buChar char="–"/>
              <a:defRPr/>
            </a:pPr>
            <a:r>
              <a:rPr lang="en-US" dirty="0" smtClean="0"/>
              <a:t>Induced mutation: one that has been caused by damage resulting from chemical or radiation treatment (mutagen)</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smtClean="0"/>
              <a:t>Mutations</a:t>
            </a:r>
          </a:p>
        </p:txBody>
      </p:sp>
      <p:sp>
        <p:nvSpPr>
          <p:cNvPr id="3" name="Content Placeholder 2"/>
          <p:cNvSpPr>
            <a:spLocks noGrp="1"/>
          </p:cNvSpPr>
          <p:nvPr>
            <p:ph idx="1"/>
          </p:nvPr>
        </p:nvSpPr>
        <p:spPr/>
        <p:txBody>
          <a:bodyPr>
            <a:normAutofit fontScale="92500" lnSpcReduction="20000"/>
          </a:bodyPr>
          <a:lstStyle/>
          <a:p>
            <a:pPr>
              <a:defRPr/>
            </a:pPr>
            <a:r>
              <a:rPr lang="en-US" dirty="0" smtClean="0"/>
              <a:t>Mutations are the heritable changes in the structure of genes or changes in the DNA sequence. </a:t>
            </a:r>
          </a:p>
          <a:p>
            <a:pPr>
              <a:defRPr/>
            </a:pPr>
            <a:r>
              <a:rPr lang="en-US" dirty="0" smtClean="0"/>
              <a:t>Spontaneous mutations occurs at different frequencies in different populations or species of organisms </a:t>
            </a:r>
          </a:p>
          <a:p>
            <a:pPr>
              <a:defRPr/>
            </a:pPr>
            <a:endParaRPr lang="en-US" dirty="0"/>
          </a:p>
          <a:p>
            <a:pPr>
              <a:defRPr/>
            </a:pPr>
            <a:r>
              <a:rPr lang="en-US" dirty="0" smtClean="0"/>
              <a:t>Wild –type alleles are the normal, usually active forms of a gene</a:t>
            </a:r>
          </a:p>
          <a:p>
            <a:pPr>
              <a:defRPr/>
            </a:pPr>
            <a:r>
              <a:rPr lang="en-US" dirty="0" smtClean="0"/>
              <a:t>Mutant alleles are the mutated, inactive form of the gene.</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mtClean="0"/>
              <a:t>Types of mutations</a:t>
            </a:r>
          </a:p>
        </p:txBody>
      </p:sp>
      <p:sp>
        <p:nvSpPr>
          <p:cNvPr id="3" name="Content Placeholder 2"/>
          <p:cNvSpPr>
            <a:spLocks noGrp="1"/>
          </p:cNvSpPr>
          <p:nvPr>
            <p:ph idx="1"/>
          </p:nvPr>
        </p:nvSpPr>
        <p:spPr>
          <a:xfrm>
            <a:off x="457200" y="1371600"/>
            <a:ext cx="8229600" cy="4754563"/>
          </a:xfrm>
        </p:spPr>
        <p:txBody>
          <a:bodyPr>
            <a:normAutofit fontScale="85000" lnSpcReduction="10000"/>
          </a:bodyPr>
          <a:lstStyle/>
          <a:p>
            <a:pPr>
              <a:buFont typeface="Arial" charset="0"/>
              <a:buNone/>
              <a:defRPr/>
            </a:pPr>
            <a:r>
              <a:rPr lang="en-US" dirty="0" smtClean="0"/>
              <a:t>Mutations can be in the form of base substitutions, deletions, insertions and rearrangements</a:t>
            </a:r>
          </a:p>
          <a:p>
            <a:pPr>
              <a:defRPr/>
            </a:pPr>
            <a:r>
              <a:rPr lang="en-US" dirty="0" smtClean="0"/>
              <a:t>Replacements: involves the substitution of one base for another</a:t>
            </a:r>
          </a:p>
          <a:p>
            <a:pPr>
              <a:defRPr/>
            </a:pPr>
            <a:r>
              <a:rPr lang="en-US" dirty="0" smtClean="0"/>
              <a:t>Deletions involve the removal of several base pairs  </a:t>
            </a:r>
          </a:p>
          <a:p>
            <a:pPr>
              <a:defRPr/>
            </a:pPr>
            <a:r>
              <a:rPr lang="en-US" dirty="0" err="1" smtClean="0"/>
              <a:t>Microdeletions</a:t>
            </a:r>
            <a:r>
              <a:rPr lang="en-US" dirty="0" smtClean="0"/>
              <a:t> involve the removal of a single nucleotide</a:t>
            </a:r>
          </a:p>
          <a:p>
            <a:pPr>
              <a:defRPr/>
            </a:pPr>
            <a:r>
              <a:rPr lang="en-US" dirty="0" smtClean="0"/>
              <a:t>Insertions involve the addition of many base pairs of nucleotides at a single site</a:t>
            </a:r>
          </a:p>
          <a:p>
            <a:pPr>
              <a:defRPr/>
            </a:pPr>
            <a:r>
              <a:rPr lang="en-US" dirty="0" smtClean="0"/>
              <a:t> </a:t>
            </a:r>
            <a:r>
              <a:rPr lang="en-US" dirty="0" err="1" smtClean="0"/>
              <a:t>Microinsertion</a:t>
            </a:r>
            <a:r>
              <a:rPr lang="en-US" dirty="0" smtClean="0"/>
              <a:t> involves the addition of a single nucleotide</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smtClean="0"/>
              <a:t>Types of mutations</a:t>
            </a:r>
          </a:p>
        </p:txBody>
      </p:sp>
      <p:sp>
        <p:nvSpPr>
          <p:cNvPr id="3" name="Content Placeholder 2"/>
          <p:cNvSpPr>
            <a:spLocks noGrp="1"/>
          </p:cNvSpPr>
          <p:nvPr>
            <p:ph idx="1"/>
          </p:nvPr>
        </p:nvSpPr>
        <p:spPr>
          <a:xfrm>
            <a:off x="457200" y="1371600"/>
            <a:ext cx="8229600" cy="4754563"/>
          </a:xfrm>
        </p:spPr>
        <p:txBody>
          <a:bodyPr>
            <a:normAutofit fontScale="85000" lnSpcReduction="20000"/>
          </a:bodyPr>
          <a:lstStyle/>
          <a:p>
            <a:pPr>
              <a:defRPr/>
            </a:pPr>
            <a:endParaRPr lang="en-US" dirty="0" smtClean="0"/>
          </a:p>
          <a:p>
            <a:pPr>
              <a:defRPr/>
            </a:pPr>
            <a:r>
              <a:rPr lang="en-US" dirty="0" smtClean="0"/>
              <a:t>Duplications are mutations that produce a redundant segment of DNA adjacent to the original. (THIS MAY BE REFERED TO AS TANDEM REPEATS). </a:t>
            </a:r>
          </a:p>
          <a:p>
            <a:pPr>
              <a:buFont typeface="Arial" charset="0"/>
              <a:buNone/>
              <a:defRPr/>
            </a:pPr>
            <a:r>
              <a:rPr lang="en-US" dirty="0" smtClean="0"/>
              <a:t> </a:t>
            </a:r>
            <a:r>
              <a:rPr lang="en-US" dirty="0" err="1" smtClean="0"/>
              <a:t>eg</a:t>
            </a:r>
            <a:r>
              <a:rPr lang="en-US" dirty="0" smtClean="0"/>
              <a:t>. C-T-A-A-G-C-T-A-A-G-C-T-A-A-G</a:t>
            </a:r>
          </a:p>
          <a:p>
            <a:pPr>
              <a:buFont typeface="Arial" charset="0"/>
              <a:buNone/>
              <a:defRPr/>
            </a:pPr>
            <a:r>
              <a:rPr lang="en-US" dirty="0" smtClean="0"/>
              <a:t>Tandem repeats are useful in resolving disputes in parenthood </a:t>
            </a:r>
            <a:r>
              <a:rPr lang="en-US" dirty="0" err="1" smtClean="0"/>
              <a:t>eg</a:t>
            </a:r>
            <a:r>
              <a:rPr lang="en-US" dirty="0" smtClean="0"/>
              <a:t> used in certain genealogical DNA </a:t>
            </a:r>
            <a:r>
              <a:rPr lang="en-US" dirty="0" smtClean="0"/>
              <a:t>tests(line of descent traced </a:t>
            </a:r>
            <a:r>
              <a:rPr lang="en-US" dirty="0" err="1" smtClean="0"/>
              <a:t>fron</a:t>
            </a:r>
            <a:r>
              <a:rPr lang="en-US" dirty="0" smtClean="0"/>
              <a:t> an ancestor).</a:t>
            </a:r>
            <a:endParaRPr lang="en-US" dirty="0" smtClean="0"/>
          </a:p>
          <a:p>
            <a:pPr>
              <a:defRPr/>
            </a:pPr>
            <a:endParaRPr lang="en-US" dirty="0" smtClean="0"/>
          </a:p>
          <a:p>
            <a:pPr>
              <a:defRPr/>
            </a:pPr>
            <a:r>
              <a:rPr lang="en-US" dirty="0" smtClean="0"/>
              <a:t>Inversions are mutations that change the direction of a segment by splicing each strand of the segment into the complimentary strand</a:t>
            </a:r>
          </a:p>
          <a:p>
            <a:pPr>
              <a:defRPr/>
            </a:pPr>
            <a:endParaRPr lang="en-US"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smtClean="0"/>
              <a:t>Mutations</a:t>
            </a:r>
          </a:p>
        </p:txBody>
      </p:sp>
      <p:sp>
        <p:nvSpPr>
          <p:cNvPr id="15363" name="Rectangle 3"/>
          <p:cNvSpPr>
            <a:spLocks noGrp="1" noChangeArrowheads="1"/>
          </p:cNvSpPr>
          <p:nvPr>
            <p:ph type="body" idx="1"/>
          </p:nvPr>
        </p:nvSpPr>
        <p:spPr/>
        <p:txBody>
          <a:bodyPr rtlCol="0">
            <a:normAutofit lnSpcReduction="10000"/>
          </a:bodyPr>
          <a:lstStyle/>
          <a:p>
            <a:pPr eaLnBrk="1" fontAlgn="auto" hangingPunct="1">
              <a:spcAft>
                <a:spcPts val="0"/>
              </a:spcAft>
              <a:buFont typeface="Arial" pitchFamily="34" charset="0"/>
              <a:buChar char="•"/>
              <a:defRPr/>
            </a:pPr>
            <a:r>
              <a:rPr lang="en-US" dirty="0" smtClean="0"/>
              <a:t>Mechanisms of Induced Mutation</a:t>
            </a:r>
          </a:p>
          <a:p>
            <a:pPr lvl="1" eaLnBrk="1" fontAlgn="auto" hangingPunct="1">
              <a:spcAft>
                <a:spcPts val="0"/>
              </a:spcAft>
              <a:buFont typeface="Arial" pitchFamily="34" charset="0"/>
              <a:buChar char="–"/>
              <a:defRPr/>
            </a:pPr>
            <a:r>
              <a:rPr lang="en-US" dirty="0" smtClean="0"/>
              <a:t>Base analogs</a:t>
            </a:r>
          </a:p>
          <a:p>
            <a:pPr lvl="2" eaLnBrk="1" fontAlgn="auto" hangingPunct="1">
              <a:spcAft>
                <a:spcPts val="0"/>
              </a:spcAft>
              <a:buFont typeface="Arial" pitchFamily="34" charset="0"/>
              <a:buChar char="•"/>
              <a:defRPr/>
            </a:pPr>
            <a:r>
              <a:rPr lang="en-US" dirty="0" smtClean="0"/>
              <a:t>A chemical similar in structure to one of the bases and can substitute for it but doesn’t base pair normally</a:t>
            </a:r>
          </a:p>
          <a:p>
            <a:pPr lvl="2" eaLnBrk="1" fontAlgn="auto" hangingPunct="1">
              <a:spcAft>
                <a:spcPts val="0"/>
              </a:spcAft>
              <a:buFont typeface="Arial" pitchFamily="34" charset="0"/>
              <a:buChar char="•"/>
              <a:defRPr/>
            </a:pPr>
            <a:r>
              <a:rPr lang="en-US" dirty="0" smtClean="0"/>
              <a:t>For example, 5-bromouracil substitutes for thymine, but it frequently pairs with a G instead of A</a:t>
            </a:r>
          </a:p>
          <a:p>
            <a:pPr lvl="1" eaLnBrk="1" fontAlgn="auto" hangingPunct="1">
              <a:spcAft>
                <a:spcPts val="0"/>
              </a:spcAft>
              <a:buFont typeface="Arial" pitchFamily="34" charset="0"/>
              <a:buChar char="–"/>
              <a:defRPr/>
            </a:pPr>
            <a:r>
              <a:rPr lang="en-US" dirty="0" smtClean="0"/>
              <a:t>Specific </a:t>
            </a:r>
            <a:r>
              <a:rPr lang="en-US" dirty="0" err="1" smtClean="0"/>
              <a:t>Mispairing</a:t>
            </a:r>
            <a:endParaRPr lang="en-US" dirty="0" smtClean="0"/>
          </a:p>
          <a:p>
            <a:pPr lvl="2" eaLnBrk="1" fontAlgn="auto" hangingPunct="1">
              <a:spcAft>
                <a:spcPts val="0"/>
              </a:spcAft>
              <a:buFont typeface="Arial" pitchFamily="34" charset="0"/>
              <a:buChar char="•"/>
              <a:defRPr/>
            </a:pPr>
            <a:r>
              <a:rPr lang="en-US" dirty="0" smtClean="0"/>
              <a:t>When a mutagen changes a base’s structure and thereby alters its base pairing</a:t>
            </a:r>
          </a:p>
          <a:p>
            <a:pPr lvl="2" eaLnBrk="1" fontAlgn="auto" hangingPunct="1">
              <a:spcAft>
                <a:spcPts val="0"/>
              </a:spcAft>
              <a:buFont typeface="Arial" pitchFamily="34" charset="0"/>
              <a:buChar char="•"/>
              <a:defRPr/>
            </a:pPr>
            <a:r>
              <a:rPr lang="en-US" dirty="0" smtClean="0"/>
              <a:t>For example: </a:t>
            </a:r>
            <a:r>
              <a:rPr lang="en-US" dirty="0" err="1" smtClean="0">
                <a:solidFill>
                  <a:srgbClr val="FF0000"/>
                </a:solidFill>
              </a:rPr>
              <a:t>nitrosoguanidine</a:t>
            </a:r>
            <a:r>
              <a:rPr lang="en-US" dirty="0" smtClean="0"/>
              <a:t> adds a methyl group to guanine, causing it to pair with T instead of C.</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smtClean="0"/>
              <a:t>Mutations</a:t>
            </a:r>
          </a:p>
        </p:txBody>
      </p:sp>
      <p:sp>
        <p:nvSpPr>
          <p:cNvPr id="51203" name="Rectangle 3"/>
          <p:cNvSpPr>
            <a:spLocks noGrp="1" noChangeArrowheads="1"/>
          </p:cNvSpPr>
          <p:nvPr>
            <p:ph type="body" idx="1"/>
          </p:nvPr>
        </p:nvSpPr>
        <p:spPr/>
        <p:txBody>
          <a:bodyPr/>
          <a:lstStyle/>
          <a:p>
            <a:pPr eaLnBrk="1" hangingPunct="1"/>
            <a:r>
              <a:rPr lang="en-US" smtClean="0"/>
              <a:t>Mechanisms of Induced Mutation (cont.)</a:t>
            </a:r>
          </a:p>
          <a:p>
            <a:pPr lvl="1" eaLnBrk="1" hangingPunct="1"/>
            <a:r>
              <a:rPr lang="en-US" smtClean="0"/>
              <a:t>Intercalating agents</a:t>
            </a:r>
          </a:p>
          <a:p>
            <a:pPr lvl="2" eaLnBrk="1" hangingPunct="1"/>
            <a:r>
              <a:rPr lang="en-US" smtClean="0"/>
              <a:t>Examples include acridine orange and ethidium bromide</a:t>
            </a:r>
          </a:p>
          <a:p>
            <a:pPr lvl="2" eaLnBrk="1" hangingPunct="1"/>
            <a:r>
              <a:rPr lang="en-US" smtClean="0"/>
              <a:t>Flat, planar, aromatic molecules that can fit between the stacked bases (intercalate) in the center of a DNA double helix and distort its geometry</a:t>
            </a:r>
          </a:p>
          <a:p>
            <a:pPr lvl="2" eaLnBrk="1" hangingPunct="1"/>
            <a:r>
              <a:rPr lang="en-US" smtClean="0"/>
              <a:t>The distortion somehow induces single nucleotide insertions or deletions</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smtClean="0"/>
              <a:t>Mutations</a:t>
            </a:r>
          </a:p>
        </p:txBody>
      </p:sp>
      <p:sp>
        <p:nvSpPr>
          <p:cNvPr id="17411" name="Rectangle 3"/>
          <p:cNvSpPr>
            <a:spLocks noGrp="1" noChangeArrowheads="1"/>
          </p:cNvSpPr>
          <p:nvPr>
            <p:ph type="body" idx="1"/>
          </p:nvPr>
        </p:nvSpPr>
        <p:spPr>
          <a:xfrm>
            <a:off x="457200" y="1600200"/>
            <a:ext cx="8229600" cy="5105400"/>
          </a:xfrm>
        </p:spPr>
        <p:txBody>
          <a:bodyPr rtlCol="0">
            <a:normAutofit fontScale="92500" lnSpcReduction="10000"/>
          </a:bodyPr>
          <a:lstStyle/>
          <a:p>
            <a:pPr eaLnBrk="1" fontAlgn="auto" hangingPunct="1">
              <a:spcAft>
                <a:spcPts val="0"/>
              </a:spcAft>
              <a:buFont typeface="Arial" pitchFamily="34" charset="0"/>
              <a:buChar char="•"/>
              <a:defRPr/>
            </a:pPr>
            <a:r>
              <a:rPr lang="en-US" dirty="0" smtClean="0"/>
              <a:t>Mechanisms of Induced Mutation (cont.)</a:t>
            </a:r>
          </a:p>
          <a:p>
            <a:pPr lvl="1" eaLnBrk="1" fontAlgn="auto" hangingPunct="1">
              <a:spcAft>
                <a:spcPts val="0"/>
              </a:spcAft>
              <a:buFont typeface="Arial" pitchFamily="34" charset="0"/>
              <a:buChar char="–"/>
              <a:defRPr/>
            </a:pPr>
            <a:r>
              <a:rPr lang="en-US" dirty="0" smtClean="0"/>
              <a:t>Bypass of replication</a:t>
            </a:r>
          </a:p>
          <a:p>
            <a:pPr lvl="2" eaLnBrk="1" fontAlgn="auto" hangingPunct="1">
              <a:spcAft>
                <a:spcPts val="0"/>
              </a:spcAft>
              <a:buFont typeface="Arial" pitchFamily="34" charset="0"/>
              <a:buChar char="•"/>
              <a:defRPr/>
            </a:pPr>
            <a:r>
              <a:rPr lang="en-US" dirty="0" smtClean="0"/>
              <a:t>Chemical change or damage to bases is so severe that the bases can no longer base pair at all, and cannot serve as a template</a:t>
            </a:r>
          </a:p>
          <a:p>
            <a:pPr lvl="2" eaLnBrk="1" fontAlgn="auto" hangingPunct="1">
              <a:spcAft>
                <a:spcPts val="0"/>
              </a:spcAft>
              <a:buFont typeface="Arial" pitchFamily="34" charset="0"/>
              <a:buChar char="•"/>
              <a:defRPr/>
            </a:pPr>
            <a:r>
              <a:rPr lang="en-US" dirty="0" smtClean="0"/>
              <a:t>Example: formation of thymine </a:t>
            </a:r>
            <a:r>
              <a:rPr lang="en-US" dirty="0" err="1" smtClean="0"/>
              <a:t>dimers</a:t>
            </a:r>
            <a:r>
              <a:rPr lang="en-US" dirty="0" smtClean="0"/>
              <a:t> by UV irradiation; these cannot hydrogen bond at all</a:t>
            </a:r>
          </a:p>
          <a:p>
            <a:pPr lvl="2" eaLnBrk="1" fontAlgn="auto" hangingPunct="1">
              <a:spcAft>
                <a:spcPts val="0"/>
              </a:spcAft>
              <a:buFont typeface="Arial" pitchFamily="34" charset="0"/>
              <a:buChar char="•"/>
              <a:defRPr/>
            </a:pPr>
            <a:r>
              <a:rPr lang="en-US" dirty="0" smtClean="0"/>
              <a:t>Normally this would be lethal, but there are repair mechanisms that can bypass the damaged template, although many of these repair mechanisms are error-prone so generate a high frequency of mutations</a:t>
            </a:r>
          </a:p>
          <a:p>
            <a:pPr lvl="2" eaLnBrk="1" fontAlgn="auto" hangingPunct="1">
              <a:spcAft>
                <a:spcPts val="0"/>
              </a:spcAft>
              <a:buFont typeface="Arial" pitchFamily="34" charset="0"/>
              <a:buChar char="•"/>
              <a:defRPr/>
            </a:pPr>
            <a:r>
              <a:rPr lang="en-US" dirty="0" smtClean="0"/>
              <a:t>Mutations can lead to </a:t>
            </a:r>
            <a:r>
              <a:rPr lang="en-US" dirty="0" err="1" smtClean="0"/>
              <a:t>auxotrophy</a:t>
            </a:r>
            <a:r>
              <a:rPr lang="en-US" dirty="0" smtClean="0"/>
              <a:t> (inability of an organism to synthesize a particular organic compound required for growth)</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smtClean="0"/>
              <a:t>Mutations</a:t>
            </a:r>
          </a:p>
        </p:txBody>
      </p:sp>
      <p:sp>
        <p:nvSpPr>
          <p:cNvPr id="18435" name="Rectangle 3"/>
          <p:cNvSpPr>
            <a:spLocks noGrp="1" noChangeArrowheads="1"/>
          </p:cNvSpPr>
          <p:nvPr>
            <p:ph type="body" idx="1"/>
          </p:nvPr>
        </p:nvSpPr>
        <p:spPr>
          <a:xfrm>
            <a:off x="457200" y="1219200"/>
            <a:ext cx="8229600" cy="4906963"/>
          </a:xfrm>
        </p:spPr>
        <p:txBody>
          <a:bodyPr rtlCol="0">
            <a:normAutofit fontScale="77500" lnSpcReduction="20000"/>
          </a:bodyPr>
          <a:lstStyle/>
          <a:p>
            <a:pPr eaLnBrk="1" fontAlgn="auto" hangingPunct="1">
              <a:spcAft>
                <a:spcPts val="0"/>
              </a:spcAft>
              <a:buFont typeface="Arial" pitchFamily="34" charset="0"/>
              <a:buChar char="•"/>
              <a:defRPr/>
            </a:pPr>
            <a:endParaRPr lang="en-US" dirty="0" smtClean="0"/>
          </a:p>
          <a:p>
            <a:pPr eaLnBrk="1" fontAlgn="auto" hangingPunct="1">
              <a:spcAft>
                <a:spcPts val="0"/>
              </a:spcAft>
              <a:buFont typeface="Arial" pitchFamily="34" charset="0"/>
              <a:buChar char="•"/>
              <a:defRPr/>
            </a:pPr>
            <a:r>
              <a:rPr lang="en-US" dirty="0" err="1" smtClean="0"/>
              <a:t>Auxotrophy</a:t>
            </a:r>
            <a:r>
              <a:rPr lang="en-US" dirty="0" smtClean="0"/>
              <a:t> is the inability of an organism to synthesize a particular organic compound required for growth.</a:t>
            </a:r>
          </a:p>
          <a:p>
            <a:pPr eaLnBrk="1" fontAlgn="auto" hangingPunct="1">
              <a:spcAft>
                <a:spcPts val="0"/>
              </a:spcAft>
              <a:buFont typeface="Arial" pitchFamily="34" charset="0"/>
              <a:buChar char="•"/>
              <a:defRPr/>
            </a:pPr>
            <a:r>
              <a:rPr lang="en-US" dirty="0" smtClean="0"/>
              <a:t>Screening for </a:t>
            </a:r>
            <a:r>
              <a:rPr lang="en-US" dirty="0" err="1" smtClean="0"/>
              <a:t>Auxotrophs</a:t>
            </a:r>
            <a:r>
              <a:rPr lang="en-US" dirty="0" smtClean="0"/>
              <a:t> by Replica Plating</a:t>
            </a:r>
          </a:p>
          <a:p>
            <a:pPr lvl="1" eaLnBrk="1" fontAlgn="auto" hangingPunct="1">
              <a:spcAft>
                <a:spcPts val="0"/>
              </a:spcAft>
              <a:buFont typeface="Arial" pitchFamily="34" charset="0"/>
              <a:buChar char="–"/>
              <a:defRPr/>
            </a:pPr>
            <a:r>
              <a:rPr lang="en-US" dirty="0" smtClean="0"/>
              <a:t>A </a:t>
            </a:r>
            <a:r>
              <a:rPr lang="en-US" dirty="0" err="1" smtClean="0"/>
              <a:t>prototrophic</a:t>
            </a:r>
            <a:r>
              <a:rPr lang="en-US" dirty="0" smtClean="0"/>
              <a:t> (able to synthesize compounds required for growth) strain of bacteria is treated with a mutagenic agent (for example, </a:t>
            </a:r>
            <a:r>
              <a:rPr lang="en-US" dirty="0" err="1" smtClean="0"/>
              <a:t>nitrosoguanidine</a:t>
            </a:r>
            <a:r>
              <a:rPr lang="en-US" dirty="0" smtClean="0"/>
              <a:t>, or ultraviolet radiation).</a:t>
            </a:r>
          </a:p>
          <a:p>
            <a:pPr lvl="1" eaLnBrk="1" fontAlgn="auto" hangingPunct="1">
              <a:spcAft>
                <a:spcPts val="0"/>
              </a:spcAft>
              <a:buFont typeface="Arial" pitchFamily="34" charset="0"/>
              <a:buChar char="–"/>
              <a:defRPr/>
            </a:pPr>
            <a:r>
              <a:rPr lang="en-US" dirty="0" smtClean="0"/>
              <a:t>Most of the cells in the culture will die. However, a few may survive the mutagenesis. There is a high frequency of mutants among the survivors, some of which may be </a:t>
            </a:r>
            <a:r>
              <a:rPr lang="en-US" dirty="0" err="1" smtClean="0"/>
              <a:t>auxotrophic</a:t>
            </a:r>
            <a:r>
              <a:rPr lang="en-US" dirty="0" smtClean="0"/>
              <a:t> mutants. </a:t>
            </a:r>
          </a:p>
          <a:p>
            <a:pPr lvl="1" eaLnBrk="1" fontAlgn="auto" hangingPunct="1">
              <a:spcAft>
                <a:spcPts val="0"/>
              </a:spcAft>
              <a:buFont typeface="Arial" pitchFamily="34" charset="0"/>
              <a:buChar char="–"/>
              <a:defRPr/>
            </a:pPr>
            <a:r>
              <a:rPr lang="en-US" dirty="0" smtClean="0"/>
              <a:t>A sample of the culture is spread on a complete medium (for example, </a:t>
            </a:r>
            <a:r>
              <a:rPr lang="en-US" dirty="0" err="1" smtClean="0"/>
              <a:t>tryptic</a:t>
            </a:r>
            <a:r>
              <a:rPr lang="en-US" dirty="0" smtClean="0"/>
              <a:t> soy agar). This is the “master plate.”</a:t>
            </a:r>
          </a:p>
          <a:p>
            <a:pPr lvl="1" eaLnBrk="1" fontAlgn="auto" hangingPunct="1">
              <a:spcAft>
                <a:spcPts val="0"/>
              </a:spcAft>
              <a:buFont typeface="Arial" pitchFamily="34" charset="0"/>
              <a:buChar char="–"/>
              <a:defRPr/>
            </a:pPr>
            <a:r>
              <a:rPr lang="en-US" dirty="0" smtClean="0"/>
              <a:t>The master plate is incubated so the survivors can form colonies.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smtClean="0"/>
              <a:t>Mutations</a:t>
            </a:r>
          </a:p>
        </p:txBody>
      </p:sp>
      <p:sp>
        <p:nvSpPr>
          <p:cNvPr id="19459" name="Rectangle 3"/>
          <p:cNvSpPr>
            <a:spLocks noGrp="1" noChangeArrowheads="1"/>
          </p:cNvSpPr>
          <p:nvPr>
            <p:ph type="body" idx="1"/>
          </p:nvPr>
        </p:nvSpPr>
        <p:spPr/>
        <p:txBody>
          <a:bodyPr rtlCol="0">
            <a:normAutofit fontScale="92500" lnSpcReduction="10000"/>
          </a:bodyPr>
          <a:lstStyle/>
          <a:p>
            <a:pPr eaLnBrk="1" fontAlgn="auto" hangingPunct="1">
              <a:spcAft>
                <a:spcPts val="0"/>
              </a:spcAft>
              <a:buFont typeface="Arial" pitchFamily="34" charset="0"/>
              <a:buChar char="•"/>
              <a:defRPr/>
            </a:pPr>
            <a:r>
              <a:rPr lang="en-US" dirty="0" smtClean="0"/>
              <a:t>Screening for </a:t>
            </a:r>
            <a:r>
              <a:rPr lang="en-US" dirty="0" err="1" smtClean="0"/>
              <a:t>Auxotrophs</a:t>
            </a:r>
            <a:r>
              <a:rPr lang="en-US" dirty="0" smtClean="0"/>
              <a:t> (cont.)</a:t>
            </a:r>
          </a:p>
          <a:p>
            <a:pPr lvl="1" eaLnBrk="1" fontAlgn="auto" hangingPunct="1">
              <a:spcAft>
                <a:spcPts val="0"/>
              </a:spcAft>
              <a:buFont typeface="Arial" pitchFamily="34" charset="0"/>
              <a:buChar char="–"/>
              <a:defRPr/>
            </a:pPr>
            <a:r>
              <a:rPr lang="en-US" dirty="0" smtClean="0"/>
              <a:t>Each colony from the master plate is transferred to a minimal medium plate (capable of only supporting the growth of </a:t>
            </a:r>
            <a:r>
              <a:rPr lang="en-US" dirty="0" err="1" smtClean="0"/>
              <a:t>prototrophic</a:t>
            </a:r>
            <a:r>
              <a:rPr lang="en-US" dirty="0" smtClean="0"/>
              <a:t> colonies) and a complete medium plate (capable of supporting both </a:t>
            </a:r>
            <a:r>
              <a:rPr lang="en-US" dirty="0" err="1" smtClean="0"/>
              <a:t>prototrophic</a:t>
            </a:r>
            <a:r>
              <a:rPr lang="en-US" dirty="0" smtClean="0"/>
              <a:t> and </a:t>
            </a:r>
            <a:r>
              <a:rPr lang="en-US" dirty="0" err="1" smtClean="0"/>
              <a:t>auxotrophic</a:t>
            </a:r>
            <a:r>
              <a:rPr lang="en-US" dirty="0" smtClean="0"/>
              <a:t> colonies).</a:t>
            </a:r>
          </a:p>
          <a:p>
            <a:pPr lvl="1" eaLnBrk="1" fontAlgn="auto" hangingPunct="1">
              <a:spcAft>
                <a:spcPts val="0"/>
              </a:spcAft>
              <a:buFont typeface="Arial" pitchFamily="34" charset="0"/>
              <a:buChar char="–"/>
              <a:defRPr/>
            </a:pPr>
            <a:r>
              <a:rPr lang="en-US" dirty="0" smtClean="0"/>
              <a:t>Colonies that grow on the complete medium but not on the minimal medium are </a:t>
            </a:r>
            <a:r>
              <a:rPr lang="en-US" dirty="0" err="1" smtClean="0"/>
              <a:t>auxotrophs</a:t>
            </a:r>
            <a:r>
              <a:rPr lang="en-US" dirty="0" smtClean="0"/>
              <a:t>. They are isolated onto fresh complete medium, and the cause of their </a:t>
            </a:r>
            <a:r>
              <a:rPr lang="en-US" dirty="0" err="1" smtClean="0"/>
              <a:t>auxotrophy</a:t>
            </a:r>
            <a:r>
              <a:rPr lang="en-US" dirty="0" smtClean="0"/>
              <a:t> (what supplement they need for growth) is determined.</a:t>
            </a:r>
          </a:p>
          <a:p>
            <a:pPr lvl="1" eaLnBrk="1" fontAlgn="auto" hangingPunct="1">
              <a:spcAft>
                <a:spcPts val="0"/>
              </a:spcAft>
              <a:buFont typeface="Arial" charset="0"/>
              <a:buNone/>
              <a:defRPr/>
            </a:pPr>
            <a:endParaRPr lang="en-US" dirty="0" smtClean="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smtClean="0"/>
              <a:t>Mutations</a:t>
            </a:r>
          </a:p>
        </p:txBody>
      </p:sp>
      <p:sp>
        <p:nvSpPr>
          <p:cNvPr id="20483" name="Rectangle 3"/>
          <p:cNvSpPr>
            <a:spLocks noGrp="1" noChangeArrowheads="1"/>
          </p:cNvSpPr>
          <p:nvPr>
            <p:ph type="body" idx="1"/>
          </p:nvPr>
        </p:nvSpPr>
        <p:spPr/>
        <p:txBody>
          <a:bodyPr rtlCol="0">
            <a:normAutofit fontScale="85000" lnSpcReduction="20000"/>
          </a:bodyPr>
          <a:lstStyle/>
          <a:p>
            <a:pPr eaLnBrk="1" fontAlgn="auto" hangingPunct="1">
              <a:spcAft>
                <a:spcPts val="0"/>
              </a:spcAft>
              <a:buFont typeface="Arial" pitchFamily="34" charset="0"/>
              <a:buChar char="•"/>
              <a:defRPr/>
            </a:pPr>
            <a:r>
              <a:rPr lang="en-US" dirty="0" smtClean="0"/>
              <a:t>Ames test</a:t>
            </a:r>
          </a:p>
          <a:p>
            <a:pPr lvl="1" eaLnBrk="1" fontAlgn="auto" hangingPunct="1">
              <a:spcAft>
                <a:spcPts val="0"/>
              </a:spcAft>
              <a:buFont typeface="Arial" pitchFamily="34" charset="0"/>
              <a:buChar char="–"/>
              <a:defRPr/>
            </a:pPr>
            <a:r>
              <a:rPr lang="en-US" dirty="0" smtClean="0"/>
              <a:t>Used to test chemicals for potential carcinogenic properties</a:t>
            </a:r>
          </a:p>
          <a:p>
            <a:pPr lvl="1" eaLnBrk="1" fontAlgn="auto" hangingPunct="1">
              <a:spcAft>
                <a:spcPts val="0"/>
              </a:spcAft>
              <a:buFont typeface="Arial" pitchFamily="34" charset="0"/>
              <a:buChar char="–"/>
              <a:defRPr/>
            </a:pPr>
            <a:r>
              <a:rPr lang="en-US" dirty="0" smtClean="0"/>
              <a:t>Based on the idea that most carcinogens are also mutagenic</a:t>
            </a:r>
          </a:p>
          <a:p>
            <a:pPr lvl="1" eaLnBrk="1" fontAlgn="auto" hangingPunct="1">
              <a:spcAft>
                <a:spcPts val="0"/>
              </a:spcAft>
              <a:buFont typeface="Arial" pitchFamily="34" charset="0"/>
              <a:buChar char="–"/>
              <a:defRPr/>
            </a:pPr>
            <a:r>
              <a:rPr lang="en-US" dirty="0" smtClean="0"/>
              <a:t>Utilizes histidine auxotrophic </a:t>
            </a:r>
            <a:r>
              <a:rPr lang="en-US" dirty="0" smtClean="0"/>
              <a:t>(a mutant strain that requires a particular nutrient that a normal strain does not)strains </a:t>
            </a:r>
            <a:r>
              <a:rPr lang="en-US" dirty="0" smtClean="0"/>
              <a:t>of </a:t>
            </a:r>
            <a:r>
              <a:rPr lang="en-US" i="1" dirty="0" smtClean="0"/>
              <a:t>Salmonella </a:t>
            </a:r>
            <a:r>
              <a:rPr lang="en-US" i="1" dirty="0" err="1" smtClean="0"/>
              <a:t>typhimurum</a:t>
            </a:r>
            <a:endParaRPr lang="en-US" dirty="0" smtClean="0"/>
          </a:p>
          <a:p>
            <a:pPr lvl="1" eaLnBrk="1" fontAlgn="auto" hangingPunct="1">
              <a:spcAft>
                <a:spcPts val="0"/>
              </a:spcAft>
              <a:buFont typeface="Arial" pitchFamily="34" charset="0"/>
              <a:buChar char="–"/>
              <a:defRPr/>
            </a:pPr>
            <a:r>
              <a:rPr lang="en-US" dirty="0" smtClean="0"/>
              <a:t>Cells are plated in medium with limited histidine, duplicate plates with and without the test mutagen.</a:t>
            </a:r>
          </a:p>
          <a:p>
            <a:pPr lvl="1" eaLnBrk="1" fontAlgn="auto" hangingPunct="1">
              <a:spcAft>
                <a:spcPts val="0"/>
              </a:spcAft>
              <a:buFont typeface="Arial" pitchFamily="34" charset="0"/>
              <a:buChar char="–"/>
              <a:defRPr/>
            </a:pPr>
            <a:r>
              <a:rPr lang="en-US" dirty="0" smtClean="0"/>
              <a:t>The number of histidine </a:t>
            </a:r>
            <a:r>
              <a:rPr lang="en-US" dirty="0" err="1" smtClean="0"/>
              <a:t>prototrophic</a:t>
            </a:r>
            <a:r>
              <a:rPr lang="en-US" dirty="0" smtClean="0"/>
              <a:t> </a:t>
            </a:r>
            <a:r>
              <a:rPr lang="en-US" dirty="0" err="1" smtClean="0"/>
              <a:t>revertants</a:t>
            </a:r>
            <a:r>
              <a:rPr lang="en-US" dirty="0" smtClean="0"/>
              <a:t> with and without the test mutagen are counted to determine the relative </a:t>
            </a:r>
            <a:r>
              <a:rPr lang="en-US" dirty="0" err="1" smtClean="0"/>
              <a:t>mutagenicity</a:t>
            </a:r>
            <a:r>
              <a:rPr lang="en-US" dirty="0" smtClean="0"/>
              <a:t> of the agent</a:t>
            </a:r>
          </a:p>
          <a:p>
            <a:pPr eaLnBrk="1" fontAlgn="auto" hangingPunct="1">
              <a:spcAft>
                <a:spcPts val="0"/>
              </a:spcAft>
              <a:buFont typeface="Arial" pitchFamily="34" charset="0"/>
              <a:buChar char="•"/>
              <a:defRPr/>
            </a:pPr>
            <a:endParaRPr lang="en-US" dirty="0" smtClean="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smtClean="0"/>
              <a:t>Mutations</a:t>
            </a:r>
          </a:p>
        </p:txBody>
      </p:sp>
      <p:sp>
        <p:nvSpPr>
          <p:cNvPr id="21507" name="Rectangle 3"/>
          <p:cNvSpPr>
            <a:spLocks noGrp="1" noChangeArrowheads="1"/>
          </p:cNvSpPr>
          <p:nvPr>
            <p:ph type="body" idx="1"/>
          </p:nvPr>
        </p:nvSpPr>
        <p:spPr/>
        <p:txBody>
          <a:bodyPr rtlCol="0">
            <a:normAutofit lnSpcReduction="10000"/>
          </a:bodyPr>
          <a:lstStyle/>
          <a:p>
            <a:pPr eaLnBrk="1" fontAlgn="auto" hangingPunct="1">
              <a:spcAft>
                <a:spcPts val="0"/>
              </a:spcAft>
              <a:buFont typeface="Arial" pitchFamily="34" charset="0"/>
              <a:buChar char="•"/>
              <a:defRPr/>
            </a:pPr>
            <a:r>
              <a:rPr lang="en-US" dirty="0" smtClean="0"/>
              <a:t>Ames test (cont)</a:t>
            </a:r>
          </a:p>
          <a:p>
            <a:pPr lvl="1" eaLnBrk="1" fontAlgn="auto" hangingPunct="1">
              <a:spcAft>
                <a:spcPts val="0"/>
              </a:spcAft>
              <a:buFont typeface="Arial" pitchFamily="34" charset="0"/>
              <a:buChar char="–"/>
              <a:defRPr/>
            </a:pPr>
            <a:r>
              <a:rPr lang="en-US" dirty="0" smtClean="0"/>
              <a:t>Mammalian liver extract may be added to the medium, because some substances may become mutagenic only after being metabolized by the liver.</a:t>
            </a:r>
          </a:p>
          <a:p>
            <a:pPr lvl="1" eaLnBrk="1" fontAlgn="auto" hangingPunct="1">
              <a:spcAft>
                <a:spcPts val="0"/>
              </a:spcAft>
              <a:buFont typeface="Arial" pitchFamily="34" charset="0"/>
              <a:buChar char="–"/>
              <a:defRPr/>
            </a:pPr>
            <a:r>
              <a:rPr lang="en-US" dirty="0" smtClean="0"/>
              <a:t>Not all carcinogens are detected by the Ames test; other tests modeled on the Ames strategy have employed either yeast cells, cultured mammalian cells, or even live mice injected with the test mutagen</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title" idx="4294967295"/>
          </p:nvPr>
        </p:nvSpPr>
        <p:spPr/>
        <p:txBody>
          <a:bodyPr lIns="0" tIns="0" rIns="0" bIns="0" anchor="t"/>
          <a:lstStyle/>
          <a:p>
            <a:pPr eaLnBrk="1" hangingPunct="1"/>
            <a:r>
              <a:rPr lang="en-US" smtClean="0"/>
              <a:t>Ames Test for Chemical Carcinogens</a:t>
            </a:r>
          </a:p>
        </p:txBody>
      </p:sp>
      <p:pic>
        <p:nvPicPr>
          <p:cNvPr id="57347" name="Picture 9" descr="figure_08_22_1"/>
          <p:cNvPicPr>
            <a:picLocks noChangeAspect="1" noChangeArrowheads="1"/>
          </p:cNvPicPr>
          <p:nvPr/>
        </p:nvPicPr>
        <p:blipFill>
          <a:blip r:embed="rId3"/>
          <a:srcRect/>
          <a:stretch>
            <a:fillRect/>
          </a:stretch>
        </p:blipFill>
        <p:spPr bwMode="auto">
          <a:xfrm>
            <a:off x="204788" y="1584325"/>
            <a:ext cx="8731250" cy="3686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smtClean="0"/>
              <a:t>Effects of mutations</a:t>
            </a:r>
          </a:p>
        </p:txBody>
      </p:sp>
      <p:sp>
        <p:nvSpPr>
          <p:cNvPr id="3" name="Content Placeholder 2"/>
          <p:cNvSpPr>
            <a:spLocks noGrp="1"/>
          </p:cNvSpPr>
          <p:nvPr>
            <p:ph idx="1"/>
          </p:nvPr>
        </p:nvSpPr>
        <p:spPr>
          <a:xfrm>
            <a:off x="533400" y="1371600"/>
            <a:ext cx="8229600" cy="5029200"/>
          </a:xfrm>
        </p:spPr>
        <p:txBody>
          <a:bodyPr>
            <a:normAutofit fontScale="92500" lnSpcReduction="20000"/>
          </a:bodyPr>
          <a:lstStyle/>
          <a:p>
            <a:pPr>
              <a:defRPr/>
            </a:pPr>
            <a:r>
              <a:rPr lang="en-US" dirty="0" err="1" smtClean="0"/>
              <a:t>Missense</a:t>
            </a:r>
            <a:r>
              <a:rPr lang="en-US" dirty="0" smtClean="0"/>
              <a:t> mutation: replacement mutation in a </a:t>
            </a:r>
            <a:r>
              <a:rPr lang="en-US" dirty="0" err="1" smtClean="0"/>
              <a:t>codon</a:t>
            </a:r>
            <a:r>
              <a:rPr lang="en-US" dirty="0" smtClean="0"/>
              <a:t> changing the mRNA transcript to a different amino acid </a:t>
            </a:r>
            <a:r>
              <a:rPr lang="en-US" dirty="0" err="1" smtClean="0"/>
              <a:t>eg</a:t>
            </a:r>
            <a:r>
              <a:rPr lang="en-US" dirty="0" smtClean="0"/>
              <a:t>. AAG (lysine) to GAG (glutamine).</a:t>
            </a:r>
          </a:p>
          <a:p>
            <a:pPr>
              <a:defRPr/>
            </a:pPr>
            <a:endParaRPr lang="en-US" dirty="0" smtClean="0"/>
          </a:p>
          <a:p>
            <a:pPr>
              <a:defRPr/>
            </a:pPr>
            <a:r>
              <a:rPr lang="en-US" dirty="0" smtClean="0"/>
              <a:t>Nonsense mutation: replacement mutation changes a </a:t>
            </a:r>
            <a:r>
              <a:rPr lang="en-US" dirty="0" err="1" smtClean="0"/>
              <a:t>codon</a:t>
            </a:r>
            <a:r>
              <a:rPr lang="en-US" dirty="0" smtClean="0"/>
              <a:t> specifying an amino acid to one specifying none </a:t>
            </a:r>
            <a:r>
              <a:rPr lang="en-US" dirty="0" err="1" smtClean="0"/>
              <a:t>eg</a:t>
            </a:r>
            <a:r>
              <a:rPr lang="en-US" dirty="0" smtClean="0"/>
              <a:t>. UAC (tyrosine) to a UAA (stop).</a:t>
            </a:r>
          </a:p>
          <a:p>
            <a:pPr>
              <a:defRPr/>
            </a:pPr>
            <a:endParaRPr lang="en-US" dirty="0"/>
          </a:p>
          <a:p>
            <a:pPr>
              <a:defRPr/>
            </a:pPr>
            <a:r>
              <a:rPr lang="en-US" dirty="0" smtClean="0"/>
              <a:t>Silent mutation: this mutation codes for a similar amino acid</a:t>
            </a:r>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body" idx="4294967295"/>
          </p:nvPr>
        </p:nvSpPr>
        <p:spPr>
          <a:xfrm>
            <a:off x="457200" y="1600200"/>
            <a:ext cx="3973513" cy="2046288"/>
          </a:xfrm>
        </p:spPr>
        <p:txBody>
          <a:bodyPr lIns="0" tIns="0" rIns="0" bIns="0">
            <a:spAutoFit/>
          </a:bodyPr>
          <a:lstStyle/>
          <a:p>
            <a:pPr eaLnBrk="1" hangingPunct="1"/>
            <a:r>
              <a:rPr lang="en-US" b="1" smtClean="0"/>
              <a:t>Base substitution</a:t>
            </a:r>
            <a:r>
              <a:rPr lang="en-US" smtClean="0"/>
              <a:t> (point mutation)	</a:t>
            </a:r>
          </a:p>
          <a:p>
            <a:pPr eaLnBrk="1" hangingPunct="1"/>
            <a:r>
              <a:rPr lang="en-US" b="1" smtClean="0"/>
              <a:t>Missense mutation</a:t>
            </a:r>
            <a:endParaRPr lang="en-US" smtClean="0"/>
          </a:p>
        </p:txBody>
      </p:sp>
      <p:sp>
        <p:nvSpPr>
          <p:cNvPr id="59395" name="Rectangle 3"/>
          <p:cNvSpPr>
            <a:spLocks noGrp="1" noChangeArrowheads="1"/>
          </p:cNvSpPr>
          <p:nvPr>
            <p:ph type="title" idx="4294967295"/>
          </p:nvPr>
        </p:nvSpPr>
        <p:spPr>
          <a:xfrm>
            <a:off x="457200" y="276225"/>
            <a:ext cx="8229600" cy="617538"/>
          </a:xfrm>
        </p:spPr>
        <p:txBody>
          <a:bodyPr lIns="0" tIns="0" rIns="0" bIns="0" anchor="t">
            <a:spAutoFit/>
          </a:bodyPr>
          <a:lstStyle/>
          <a:p>
            <a:pPr eaLnBrk="1" hangingPunct="1"/>
            <a:r>
              <a:rPr lang="en-US" smtClean="0"/>
              <a:t>Mutation</a:t>
            </a:r>
          </a:p>
        </p:txBody>
      </p:sp>
      <p:sp>
        <p:nvSpPr>
          <p:cNvPr id="59396" name="Rectangle 4"/>
          <p:cNvSpPr>
            <a:spLocks noGrp="1" noChangeArrowheads="1"/>
          </p:cNvSpPr>
          <p:nvPr>
            <p:ph type="body" sz="half" idx="4294967295"/>
          </p:nvPr>
        </p:nvSpPr>
        <p:spPr>
          <a:xfrm>
            <a:off x="4719638" y="1614488"/>
            <a:ext cx="3827462" cy="3109912"/>
          </a:xfrm>
        </p:spPr>
        <p:txBody>
          <a:bodyPr lIns="0" tIns="0" rIns="0" bIns="0"/>
          <a:lstStyle/>
          <a:p>
            <a:pPr eaLnBrk="1" hangingPunct="1"/>
            <a:r>
              <a:rPr lang="en-US" smtClean="0"/>
              <a:t>Change in one base</a:t>
            </a:r>
          </a:p>
          <a:p>
            <a:pPr eaLnBrk="1" hangingPunct="1"/>
            <a:r>
              <a:rPr lang="en-US" smtClean="0"/>
              <a:t>Result in change in amino acid</a:t>
            </a:r>
          </a:p>
        </p:txBody>
      </p:sp>
      <p:pic>
        <p:nvPicPr>
          <p:cNvPr id="59397" name="Picture 7" descr="figure_08_17a_labeled"/>
          <p:cNvPicPr>
            <a:picLocks noChangeAspect="1" noChangeArrowheads="1"/>
          </p:cNvPicPr>
          <p:nvPr/>
        </p:nvPicPr>
        <p:blipFill>
          <a:blip r:embed="rId3"/>
          <a:srcRect b="4926"/>
          <a:stretch>
            <a:fillRect/>
          </a:stretch>
        </p:blipFill>
        <p:spPr bwMode="auto">
          <a:xfrm>
            <a:off x="0" y="4191000"/>
            <a:ext cx="4495800" cy="2305050"/>
          </a:xfrm>
          <a:prstGeom prst="rect">
            <a:avLst/>
          </a:prstGeom>
          <a:noFill/>
          <a:ln w="9525">
            <a:noFill/>
            <a:miter lim="800000"/>
            <a:headEnd/>
            <a:tailEnd/>
          </a:ln>
        </p:spPr>
      </p:pic>
      <p:pic>
        <p:nvPicPr>
          <p:cNvPr id="59398" name="Picture 8" descr="figure_08_17b_labeled"/>
          <p:cNvPicPr>
            <a:picLocks noChangeAspect="1" noChangeArrowheads="1"/>
          </p:cNvPicPr>
          <p:nvPr/>
        </p:nvPicPr>
        <p:blipFill>
          <a:blip r:embed="rId4"/>
          <a:srcRect b="5431"/>
          <a:stretch>
            <a:fillRect/>
          </a:stretch>
        </p:blipFill>
        <p:spPr bwMode="auto">
          <a:xfrm>
            <a:off x="4724400" y="4114800"/>
            <a:ext cx="4419600" cy="1616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4294967295"/>
          </p:nvPr>
        </p:nvSpPr>
        <p:spPr>
          <a:xfrm>
            <a:off x="458788" y="1614488"/>
            <a:ext cx="4260850" cy="330200"/>
          </a:xfrm>
        </p:spPr>
        <p:txBody>
          <a:bodyPr lIns="0" tIns="0" rIns="0" bIns="0">
            <a:spAutoFit/>
          </a:bodyPr>
          <a:lstStyle/>
          <a:p>
            <a:pPr eaLnBrk="1" hangingPunct="1"/>
            <a:r>
              <a:rPr lang="en-US" b="1" smtClean="0"/>
              <a:t>Nonsense mutation</a:t>
            </a:r>
            <a:endParaRPr lang="en-US" smtClean="0"/>
          </a:p>
        </p:txBody>
      </p:sp>
      <p:sp>
        <p:nvSpPr>
          <p:cNvPr id="60419" name="Rectangle 3"/>
          <p:cNvSpPr>
            <a:spLocks noGrp="1" noChangeArrowheads="1"/>
          </p:cNvSpPr>
          <p:nvPr>
            <p:ph type="title" idx="4294967295"/>
          </p:nvPr>
        </p:nvSpPr>
        <p:spPr>
          <a:xfrm>
            <a:off x="457200" y="276225"/>
            <a:ext cx="8229600" cy="617538"/>
          </a:xfrm>
        </p:spPr>
        <p:txBody>
          <a:bodyPr lIns="0" tIns="0" rIns="0" bIns="0" anchor="t">
            <a:spAutoFit/>
          </a:bodyPr>
          <a:lstStyle/>
          <a:p>
            <a:pPr eaLnBrk="1" hangingPunct="1"/>
            <a:r>
              <a:rPr lang="en-US" smtClean="0"/>
              <a:t>Mutation</a:t>
            </a:r>
          </a:p>
        </p:txBody>
      </p:sp>
      <p:sp>
        <p:nvSpPr>
          <p:cNvPr id="60420" name="Rectangle 4"/>
          <p:cNvSpPr>
            <a:spLocks noGrp="1" noChangeArrowheads="1"/>
          </p:cNvSpPr>
          <p:nvPr>
            <p:ph type="body" sz="half" idx="4294967295"/>
          </p:nvPr>
        </p:nvSpPr>
        <p:spPr>
          <a:xfrm>
            <a:off x="4719638" y="1614488"/>
            <a:ext cx="3827462" cy="793750"/>
          </a:xfrm>
        </p:spPr>
        <p:txBody>
          <a:bodyPr lIns="0" tIns="0" rIns="0" bIns="0"/>
          <a:lstStyle/>
          <a:p>
            <a:pPr eaLnBrk="1" hangingPunct="1">
              <a:lnSpc>
                <a:spcPct val="90000"/>
              </a:lnSpc>
            </a:pPr>
            <a:r>
              <a:rPr lang="en-US" sz="2800" smtClean="0"/>
              <a:t>Results in a nonsense codon</a:t>
            </a:r>
          </a:p>
        </p:txBody>
      </p:sp>
      <p:pic>
        <p:nvPicPr>
          <p:cNvPr id="60421" name="Picture 7" descr="figure_08_17a_labeled"/>
          <p:cNvPicPr>
            <a:picLocks noChangeAspect="1" noChangeArrowheads="1"/>
          </p:cNvPicPr>
          <p:nvPr/>
        </p:nvPicPr>
        <p:blipFill>
          <a:blip r:embed="rId3"/>
          <a:srcRect b="4926"/>
          <a:stretch>
            <a:fillRect/>
          </a:stretch>
        </p:blipFill>
        <p:spPr bwMode="auto">
          <a:xfrm>
            <a:off x="76200" y="2987675"/>
            <a:ext cx="4724400" cy="2422525"/>
          </a:xfrm>
          <a:prstGeom prst="rect">
            <a:avLst/>
          </a:prstGeom>
          <a:noFill/>
          <a:ln w="9525">
            <a:noFill/>
            <a:miter lim="800000"/>
            <a:headEnd/>
            <a:tailEnd/>
          </a:ln>
        </p:spPr>
      </p:pic>
      <p:pic>
        <p:nvPicPr>
          <p:cNvPr id="60422" name="Picture 8" descr="figure_08_17c_labeled"/>
          <p:cNvPicPr>
            <a:picLocks noChangeAspect="1" noChangeArrowheads="1"/>
          </p:cNvPicPr>
          <p:nvPr/>
        </p:nvPicPr>
        <p:blipFill>
          <a:blip r:embed="rId4"/>
          <a:srcRect b="6897"/>
          <a:stretch>
            <a:fillRect/>
          </a:stretch>
        </p:blipFill>
        <p:spPr bwMode="auto">
          <a:xfrm>
            <a:off x="4953000" y="2971800"/>
            <a:ext cx="4038600"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8" descr="figure_08_17d_labeled"/>
          <p:cNvPicPr>
            <a:picLocks noChangeAspect="1" noChangeArrowheads="1"/>
          </p:cNvPicPr>
          <p:nvPr/>
        </p:nvPicPr>
        <p:blipFill>
          <a:blip r:embed="rId3"/>
          <a:srcRect b="4774"/>
          <a:stretch>
            <a:fillRect/>
          </a:stretch>
        </p:blipFill>
        <p:spPr bwMode="auto">
          <a:xfrm>
            <a:off x="5181600" y="2438400"/>
            <a:ext cx="3810000" cy="2881313"/>
          </a:xfrm>
          <a:prstGeom prst="rect">
            <a:avLst/>
          </a:prstGeom>
          <a:noFill/>
          <a:ln w="9525">
            <a:noFill/>
            <a:miter lim="800000"/>
            <a:headEnd/>
            <a:tailEnd/>
          </a:ln>
        </p:spPr>
      </p:pic>
      <p:sp>
        <p:nvSpPr>
          <p:cNvPr id="61443" name="Rectangle 2"/>
          <p:cNvSpPr>
            <a:spLocks noGrp="1" noChangeArrowheads="1"/>
          </p:cNvSpPr>
          <p:nvPr>
            <p:ph type="title" idx="4294967295"/>
          </p:nvPr>
        </p:nvSpPr>
        <p:spPr/>
        <p:txBody>
          <a:bodyPr lIns="0" tIns="0" rIns="0" bIns="0" anchor="t"/>
          <a:lstStyle/>
          <a:p>
            <a:pPr eaLnBrk="1" hangingPunct="1"/>
            <a:r>
              <a:rPr lang="en-US" smtClean="0"/>
              <a:t>Mutation</a:t>
            </a:r>
          </a:p>
        </p:txBody>
      </p:sp>
      <p:sp>
        <p:nvSpPr>
          <p:cNvPr id="61444" name="Rectangle 3"/>
          <p:cNvSpPr>
            <a:spLocks noGrp="1" noChangeArrowheads="1"/>
          </p:cNvSpPr>
          <p:nvPr>
            <p:ph type="body" idx="4294967295"/>
          </p:nvPr>
        </p:nvSpPr>
        <p:spPr>
          <a:xfrm>
            <a:off x="458788" y="1614488"/>
            <a:ext cx="4260850" cy="1654175"/>
          </a:xfrm>
        </p:spPr>
        <p:txBody>
          <a:bodyPr lIns="0" tIns="0" rIns="0" bIns="0"/>
          <a:lstStyle/>
          <a:p>
            <a:pPr eaLnBrk="1" hangingPunct="1"/>
            <a:r>
              <a:rPr lang="en-US" b="1" smtClean="0"/>
              <a:t>Frameshift mutation</a:t>
            </a:r>
            <a:endParaRPr lang="en-US" smtClean="0"/>
          </a:p>
        </p:txBody>
      </p:sp>
      <p:sp>
        <p:nvSpPr>
          <p:cNvPr id="61445" name="Rectangle 4"/>
          <p:cNvSpPr>
            <a:spLocks noGrp="1" noChangeArrowheads="1"/>
          </p:cNvSpPr>
          <p:nvPr>
            <p:ph type="body" sz="half" idx="4294967295"/>
          </p:nvPr>
        </p:nvSpPr>
        <p:spPr>
          <a:xfrm>
            <a:off x="4719638" y="1614488"/>
            <a:ext cx="3827462" cy="1257300"/>
          </a:xfrm>
        </p:spPr>
        <p:txBody>
          <a:bodyPr lIns="0" tIns="0" rIns="0" bIns="0"/>
          <a:lstStyle/>
          <a:p>
            <a:pPr eaLnBrk="1" hangingPunct="1">
              <a:lnSpc>
                <a:spcPct val="90000"/>
              </a:lnSpc>
            </a:pPr>
            <a:r>
              <a:rPr lang="en-US" sz="2800" smtClean="0"/>
              <a:t>Insertion or deletion of one or more nucleotide pairs</a:t>
            </a:r>
            <a:endParaRPr lang="en-US" sz="2400" smtClean="0"/>
          </a:p>
        </p:txBody>
      </p:sp>
      <p:pic>
        <p:nvPicPr>
          <p:cNvPr id="61446" name="Picture 7" descr="figure_08_17a_labeled"/>
          <p:cNvPicPr>
            <a:picLocks noChangeAspect="1" noChangeArrowheads="1"/>
          </p:cNvPicPr>
          <p:nvPr/>
        </p:nvPicPr>
        <p:blipFill>
          <a:blip r:embed="rId4"/>
          <a:srcRect b="4926"/>
          <a:stretch>
            <a:fillRect/>
          </a:stretch>
        </p:blipFill>
        <p:spPr bwMode="auto">
          <a:xfrm>
            <a:off x="76200" y="3251200"/>
            <a:ext cx="4953000" cy="254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r>
              <a:rPr lang="en-US" smtClean="0"/>
              <a:t>Applications</a:t>
            </a:r>
          </a:p>
        </p:txBody>
      </p:sp>
      <p:sp>
        <p:nvSpPr>
          <p:cNvPr id="3" name="Content Placeholder 2"/>
          <p:cNvSpPr>
            <a:spLocks noGrp="1"/>
          </p:cNvSpPr>
          <p:nvPr>
            <p:ph idx="1"/>
          </p:nvPr>
        </p:nvSpPr>
        <p:spPr>
          <a:xfrm>
            <a:off x="533400" y="1371600"/>
            <a:ext cx="8229600" cy="5029200"/>
          </a:xfrm>
        </p:spPr>
        <p:txBody>
          <a:bodyPr>
            <a:normAutofit fontScale="92500" lnSpcReduction="10000"/>
          </a:bodyPr>
          <a:lstStyle/>
          <a:p>
            <a:pPr>
              <a:defRPr/>
            </a:pPr>
            <a:r>
              <a:rPr lang="en-US" dirty="0" smtClean="0"/>
              <a:t>PCR based methods for diagnoses.</a:t>
            </a:r>
          </a:p>
          <a:p>
            <a:pPr>
              <a:defRPr/>
            </a:pPr>
            <a:endParaRPr lang="en-US" dirty="0" smtClean="0"/>
          </a:p>
          <a:p>
            <a:pPr>
              <a:defRPr/>
            </a:pPr>
            <a:r>
              <a:rPr lang="en-US" dirty="0" smtClean="0"/>
              <a:t>Recombinant DNA </a:t>
            </a:r>
            <a:r>
              <a:rPr lang="en-US" dirty="0" err="1" smtClean="0"/>
              <a:t>eg</a:t>
            </a:r>
            <a:r>
              <a:rPr lang="en-US" dirty="0" smtClean="0"/>
              <a:t> recently developed HPV vaccine. Hepatitis B vaccine was the first recombinant vaccine.</a:t>
            </a:r>
          </a:p>
          <a:p>
            <a:pPr>
              <a:defRPr/>
            </a:pPr>
            <a:endParaRPr lang="en-US" dirty="0" smtClean="0"/>
          </a:p>
          <a:p>
            <a:pPr>
              <a:defRPr/>
            </a:pPr>
            <a:r>
              <a:rPr lang="en-US" dirty="0" smtClean="0"/>
              <a:t>Genetically modified food</a:t>
            </a:r>
          </a:p>
          <a:p>
            <a:pPr>
              <a:defRPr/>
            </a:pPr>
            <a:endParaRPr lang="en-US" dirty="0" smtClean="0"/>
          </a:p>
          <a:p>
            <a:pPr>
              <a:defRPr/>
            </a:pPr>
            <a:r>
              <a:rPr lang="en-US" dirty="0" smtClean="0"/>
              <a:t>Recombinant proteins using genetic engineering to produce insulin, factor VIII for </a:t>
            </a:r>
            <a:r>
              <a:rPr lang="en-US" dirty="0" err="1" smtClean="0"/>
              <a:t>haemophilia</a:t>
            </a:r>
            <a:endParaRPr lang="en-US" dirty="0" smtClean="0"/>
          </a:p>
          <a:p>
            <a:pPr>
              <a:defRPr/>
            </a:pP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1447</TotalTime>
  <Words>3242</Words>
  <Application>Microsoft Office PowerPoint</Application>
  <PresentationFormat>On-screen Show (4:3)</PresentationFormat>
  <Paragraphs>320</Paragraphs>
  <Slides>61</Slides>
  <Notes>18</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Microbial Genetics</vt:lpstr>
      <vt:lpstr>Lecture objectives</vt:lpstr>
      <vt:lpstr>Microbial Genetics: Introduction </vt:lpstr>
      <vt:lpstr>Terminologies in genetics</vt:lpstr>
      <vt:lpstr>Terminologies in genetics</vt:lpstr>
      <vt:lpstr>Nucleic acids</vt:lpstr>
      <vt:lpstr>Nucleotide structure</vt:lpstr>
      <vt:lpstr>Deoxyribonucleic acid (DNA)</vt:lpstr>
      <vt:lpstr>PowerPoint Presentation</vt:lpstr>
      <vt:lpstr>Ribonucleic acid (RNA)</vt:lpstr>
      <vt:lpstr>Overall function</vt:lpstr>
      <vt:lpstr>Important Processes in Genetics</vt:lpstr>
      <vt:lpstr>The Flow of Genetic Information</vt:lpstr>
      <vt:lpstr>DNA Replication</vt:lpstr>
      <vt:lpstr>Semiconservative Replication</vt:lpstr>
      <vt:lpstr>DNA Synthesis</vt:lpstr>
      <vt:lpstr>DNA Synthesis</vt:lpstr>
      <vt:lpstr>Transcription</vt:lpstr>
      <vt:lpstr>The Process of Transcription</vt:lpstr>
      <vt:lpstr>Translation</vt:lpstr>
      <vt:lpstr>Genes</vt:lpstr>
      <vt:lpstr>Gene Regulation</vt:lpstr>
      <vt:lpstr>Genetic  Recombination</vt:lpstr>
      <vt:lpstr>PowerPoint Presentation</vt:lpstr>
      <vt:lpstr>Genetic Recombination</vt:lpstr>
      <vt:lpstr>Genetic Transformation</vt:lpstr>
      <vt:lpstr>Mechanisms of Gene transfer </vt:lpstr>
      <vt:lpstr>Conjugation </vt:lpstr>
      <vt:lpstr>Conjugation (cont.) </vt:lpstr>
      <vt:lpstr>Conjugation (cont.)</vt:lpstr>
      <vt:lpstr>Bacterial Conjugation</vt:lpstr>
      <vt:lpstr>Conjugation in E. coli</vt:lpstr>
      <vt:lpstr>Conjugation in E. coli</vt:lpstr>
      <vt:lpstr>Conjugation in E. coli</vt:lpstr>
      <vt:lpstr>Transduction</vt:lpstr>
      <vt:lpstr>PowerPoint Presentation</vt:lpstr>
      <vt:lpstr>Transduction </vt:lpstr>
      <vt:lpstr>Transduction</vt:lpstr>
      <vt:lpstr>Transduction </vt:lpstr>
      <vt:lpstr>Transduction by a Bacteriophage</vt:lpstr>
      <vt:lpstr>Transformation </vt:lpstr>
      <vt:lpstr>Transformation </vt:lpstr>
      <vt:lpstr>Transformation</vt:lpstr>
      <vt:lpstr>Transformation</vt:lpstr>
      <vt:lpstr>Mutations</vt:lpstr>
      <vt:lpstr>Mutations</vt:lpstr>
      <vt:lpstr>Types of mutations</vt:lpstr>
      <vt:lpstr>Types of mutations</vt:lpstr>
      <vt:lpstr>Mutations</vt:lpstr>
      <vt:lpstr>Mutations</vt:lpstr>
      <vt:lpstr>Mutations</vt:lpstr>
      <vt:lpstr>Mutations</vt:lpstr>
      <vt:lpstr>Mutations</vt:lpstr>
      <vt:lpstr>Mutations</vt:lpstr>
      <vt:lpstr>Mutations</vt:lpstr>
      <vt:lpstr>Ames Test for Chemical Carcinogens</vt:lpstr>
      <vt:lpstr>Effects of mutations</vt:lpstr>
      <vt:lpstr>Mutation</vt:lpstr>
      <vt:lpstr>Mutation</vt:lpstr>
      <vt:lpstr>Mutation</vt:lpstr>
      <vt:lpstr>Applications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RLG</cp:lastModifiedBy>
  <cp:revision>63</cp:revision>
  <dcterms:created xsi:type="dcterms:W3CDTF">2013-09-17T17:03:21Z</dcterms:created>
  <dcterms:modified xsi:type="dcterms:W3CDTF">2015-12-12T13:15:51Z</dcterms:modified>
</cp:coreProperties>
</file>