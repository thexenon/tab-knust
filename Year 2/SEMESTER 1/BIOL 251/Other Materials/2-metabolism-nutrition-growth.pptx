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79"/>
  </p:notesMasterIdLst>
  <p:handoutMasterIdLst>
    <p:handoutMasterId r:id="rId80"/>
  </p:handoutMasterIdLst>
  <p:sldIdLst>
    <p:sldId id="354" r:id="rId2"/>
    <p:sldId id="355" r:id="rId3"/>
    <p:sldId id="357" r:id="rId4"/>
    <p:sldId id="356" r:id="rId5"/>
    <p:sldId id="325" r:id="rId6"/>
    <p:sldId id="326" r:id="rId7"/>
    <p:sldId id="327" r:id="rId8"/>
    <p:sldId id="328" r:id="rId9"/>
    <p:sldId id="329" r:id="rId10"/>
    <p:sldId id="331" r:id="rId11"/>
    <p:sldId id="332" r:id="rId12"/>
    <p:sldId id="330" r:id="rId13"/>
    <p:sldId id="333" r:id="rId14"/>
    <p:sldId id="334" r:id="rId15"/>
    <p:sldId id="336" r:id="rId16"/>
    <p:sldId id="337" r:id="rId17"/>
    <p:sldId id="338" r:id="rId18"/>
    <p:sldId id="339" r:id="rId19"/>
    <p:sldId id="340" r:id="rId20"/>
    <p:sldId id="341" r:id="rId21"/>
    <p:sldId id="343" r:id="rId22"/>
    <p:sldId id="345" r:id="rId23"/>
    <p:sldId id="344" r:id="rId24"/>
    <p:sldId id="346" r:id="rId25"/>
    <p:sldId id="347" r:id="rId26"/>
    <p:sldId id="348" r:id="rId27"/>
    <p:sldId id="349" r:id="rId28"/>
    <p:sldId id="350" r:id="rId29"/>
    <p:sldId id="351" r:id="rId30"/>
    <p:sldId id="352" r:id="rId31"/>
    <p:sldId id="353" r:id="rId32"/>
    <p:sldId id="256" r:id="rId33"/>
    <p:sldId id="257" r:id="rId34"/>
    <p:sldId id="258" r:id="rId35"/>
    <p:sldId id="259" r:id="rId36"/>
    <p:sldId id="260" r:id="rId37"/>
    <p:sldId id="261" r:id="rId38"/>
    <p:sldId id="262" r:id="rId39"/>
    <p:sldId id="263" r:id="rId40"/>
    <p:sldId id="265" r:id="rId41"/>
    <p:sldId id="266" r:id="rId42"/>
    <p:sldId id="373" r:id="rId43"/>
    <p:sldId id="264" r:id="rId44"/>
    <p:sldId id="374" r:id="rId45"/>
    <p:sldId id="267" r:id="rId46"/>
    <p:sldId id="268" r:id="rId47"/>
    <p:sldId id="271" r:id="rId48"/>
    <p:sldId id="272" r:id="rId49"/>
    <p:sldId id="273" r:id="rId50"/>
    <p:sldId id="274" r:id="rId51"/>
    <p:sldId id="275" r:id="rId52"/>
    <p:sldId id="276" r:id="rId53"/>
    <p:sldId id="277" r:id="rId54"/>
    <p:sldId id="375" r:id="rId55"/>
    <p:sldId id="278" r:id="rId56"/>
    <p:sldId id="279" r:id="rId57"/>
    <p:sldId id="280" r:id="rId58"/>
    <p:sldId id="281" r:id="rId59"/>
    <p:sldId id="376" r:id="rId60"/>
    <p:sldId id="372" r:id="rId61"/>
    <p:sldId id="377" r:id="rId62"/>
    <p:sldId id="282" r:id="rId63"/>
    <p:sldId id="283" r:id="rId64"/>
    <p:sldId id="284" r:id="rId65"/>
    <p:sldId id="285" r:id="rId66"/>
    <p:sldId id="287" r:id="rId67"/>
    <p:sldId id="295" r:id="rId68"/>
    <p:sldId id="288" r:id="rId69"/>
    <p:sldId id="378" r:id="rId70"/>
    <p:sldId id="290" r:id="rId71"/>
    <p:sldId id="291" r:id="rId72"/>
    <p:sldId id="293" r:id="rId73"/>
    <p:sldId id="311" r:id="rId74"/>
    <p:sldId id="312" r:id="rId75"/>
    <p:sldId id="313" r:id="rId76"/>
    <p:sldId id="314" r:id="rId77"/>
    <p:sldId id="379" r:id="rId78"/>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1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638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7C9CDDA-6BFF-4DBB-A879-56FC7588E3F2}" type="datetimeFigureOut">
              <a:rPr lang="en-US" smtClean="0"/>
              <a:pPr/>
              <a:t>6/8/2016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800B56-7BF7-409F-A585-8821182E9016}" type="slidenum">
              <a:rPr lang="en-US" smtClean="0"/>
              <a:pPr/>
              <a:t>‹#›</a:t>
            </a:fld>
            <a:endParaRPr lang="en-US"/>
          </a:p>
        </p:txBody>
      </p:sp>
    </p:spTree>
    <p:extLst>
      <p:ext uri="{BB962C8B-B14F-4D97-AF65-F5344CB8AC3E}">
        <p14:creationId xmlns:p14="http://schemas.microsoft.com/office/powerpoint/2010/main" val="2723566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D668060-881E-4251-98E1-DC4AE9CA50A4}" type="datetimeFigureOut">
              <a:rPr lang="en-US"/>
              <a:pPr>
                <a:defRPr/>
              </a:pPr>
              <a:t>6/8/2016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8E9C95-5FF8-494C-B177-9CAD09BB6D60}" type="slidenum">
              <a:rPr lang="en-US"/>
              <a:pPr>
                <a:defRPr/>
              </a:pPr>
              <a:t>‹#›</a:t>
            </a:fld>
            <a:endParaRPr lang="en-US"/>
          </a:p>
        </p:txBody>
      </p:sp>
    </p:spTree>
    <p:extLst>
      <p:ext uri="{BB962C8B-B14F-4D97-AF65-F5344CB8AC3E}">
        <p14:creationId xmlns:p14="http://schemas.microsoft.com/office/powerpoint/2010/main" val="6704863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338E9C95-5FF8-494C-B177-9CAD09BB6D60}" type="slidenum">
              <a:rPr lang="en-US" smtClean="0"/>
              <a:pPr>
                <a:defRPr/>
              </a:pPr>
              <a:t>1</a:t>
            </a:fld>
            <a:endParaRPr lang="en-US"/>
          </a:p>
        </p:txBody>
      </p:sp>
    </p:spTree>
    <p:extLst>
      <p:ext uri="{BB962C8B-B14F-4D97-AF65-F5344CB8AC3E}">
        <p14:creationId xmlns:p14="http://schemas.microsoft.com/office/powerpoint/2010/main" val="1299646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7908A6E3-8FB9-4800-B708-E2DCB367A0F7}" type="slidenum">
              <a:rPr lang="en-GB" smtClean="0"/>
              <a:pPr>
                <a:defRPr/>
              </a:pPr>
              <a:t>‹#›</a:t>
            </a:fld>
            <a:endParaRPr lang="en-GB"/>
          </a:p>
        </p:txBody>
      </p:sp>
    </p:spTree>
    <p:extLst>
      <p:ext uri="{BB962C8B-B14F-4D97-AF65-F5344CB8AC3E}">
        <p14:creationId xmlns:p14="http://schemas.microsoft.com/office/powerpoint/2010/main" val="1658664799"/>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4288F346-1576-4E2F-AFF2-BA16F55CF8A6}" type="slidenum">
              <a:rPr lang="en-GB" smtClean="0"/>
              <a:pPr>
                <a:defRPr/>
              </a:pPr>
              <a:t>‹#›</a:t>
            </a:fld>
            <a:endParaRPr lang="en-GB"/>
          </a:p>
        </p:txBody>
      </p:sp>
    </p:spTree>
    <p:extLst>
      <p:ext uri="{BB962C8B-B14F-4D97-AF65-F5344CB8AC3E}">
        <p14:creationId xmlns:p14="http://schemas.microsoft.com/office/powerpoint/2010/main" val="3724929102"/>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70D0F29A-0593-424E-A661-697DD83BFA1D}" type="slidenum">
              <a:rPr lang="en-GB" smtClean="0"/>
              <a:pPr>
                <a:defRPr/>
              </a:pPr>
              <a:t>‹#›</a:t>
            </a:fld>
            <a:endParaRPr lang="en-GB"/>
          </a:p>
        </p:txBody>
      </p:sp>
    </p:spTree>
    <p:extLst>
      <p:ext uri="{BB962C8B-B14F-4D97-AF65-F5344CB8AC3E}">
        <p14:creationId xmlns:p14="http://schemas.microsoft.com/office/powerpoint/2010/main" val="635023352"/>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2E7547E7-9AF4-4963-8445-B7BD56FD4E2F}" type="slidenum">
              <a:rPr lang="en-GB" smtClean="0"/>
              <a:pPr>
                <a:defRPr/>
              </a:pPr>
              <a:t>‹#›</a:t>
            </a:fld>
            <a:endParaRPr lang="en-GB"/>
          </a:p>
        </p:txBody>
      </p:sp>
    </p:spTree>
    <p:extLst>
      <p:ext uri="{BB962C8B-B14F-4D97-AF65-F5344CB8AC3E}">
        <p14:creationId xmlns:p14="http://schemas.microsoft.com/office/powerpoint/2010/main" val="1863580266"/>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pPr>
              <a:defRPr/>
            </a:pPr>
            <a:fld id="{CFF94129-E344-45E0-9EC4-BFE5A2684629}" type="slidenum">
              <a:rPr lang="en-GB" smtClean="0"/>
              <a:pPr>
                <a:defRPr/>
              </a:pPr>
              <a:t>‹#›</a:t>
            </a:fld>
            <a:endParaRPr lang="en-GB"/>
          </a:p>
        </p:txBody>
      </p:sp>
    </p:spTree>
    <p:extLst>
      <p:ext uri="{BB962C8B-B14F-4D97-AF65-F5344CB8AC3E}">
        <p14:creationId xmlns:p14="http://schemas.microsoft.com/office/powerpoint/2010/main" val="2926557596"/>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pPr>
              <a:defRPr/>
            </a:pPr>
            <a:fld id="{095E4458-99C7-43DA-82F1-F85A200A1C25}" type="slidenum">
              <a:rPr lang="en-GB" smtClean="0"/>
              <a:pPr>
                <a:defRPr/>
              </a:pPr>
              <a:t>‹#›</a:t>
            </a:fld>
            <a:endParaRPr lang="en-GB"/>
          </a:p>
        </p:txBody>
      </p:sp>
    </p:spTree>
    <p:extLst>
      <p:ext uri="{BB962C8B-B14F-4D97-AF65-F5344CB8AC3E}">
        <p14:creationId xmlns:p14="http://schemas.microsoft.com/office/powerpoint/2010/main" val="372092119"/>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GB"/>
          </a:p>
        </p:txBody>
      </p:sp>
      <p:sp>
        <p:nvSpPr>
          <p:cNvPr id="3" name="Footer Placeholder 2"/>
          <p:cNvSpPr>
            <a:spLocks noGrp="1"/>
          </p:cNvSpPr>
          <p:nvPr>
            <p:ph type="ftr" sz="quarter" idx="11"/>
          </p:nvPr>
        </p:nvSpPr>
        <p:spPr/>
        <p:txBody>
          <a:bodyPr/>
          <a:lstStyle/>
          <a:p>
            <a:pPr>
              <a:defRPr/>
            </a:pPr>
            <a:endParaRPr lang="en-GB"/>
          </a:p>
        </p:txBody>
      </p:sp>
      <p:sp>
        <p:nvSpPr>
          <p:cNvPr id="4" name="Slide Number Placeholder 3"/>
          <p:cNvSpPr>
            <a:spLocks noGrp="1"/>
          </p:cNvSpPr>
          <p:nvPr>
            <p:ph type="sldNum" sz="quarter" idx="12"/>
          </p:nvPr>
        </p:nvSpPr>
        <p:spPr/>
        <p:txBody>
          <a:bodyPr/>
          <a:lstStyle/>
          <a:p>
            <a:pPr>
              <a:defRPr/>
            </a:pPr>
            <a:fld id="{11B66BED-8AD9-451A-8B3F-DE92447BEAA1}" type="slidenum">
              <a:rPr lang="en-GB" smtClean="0"/>
              <a:pPr>
                <a:defRPr/>
              </a:pPr>
              <a:t>‹#›</a:t>
            </a:fld>
            <a:endParaRPr lang="en-GB"/>
          </a:p>
        </p:txBody>
      </p:sp>
    </p:spTree>
    <p:extLst>
      <p:ext uri="{BB962C8B-B14F-4D97-AF65-F5344CB8AC3E}">
        <p14:creationId xmlns:p14="http://schemas.microsoft.com/office/powerpoint/2010/main" val="2168277964"/>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BB4D3479-1889-4672-BBB6-3CB7A63DA0FB}" type="slidenum">
              <a:rPr lang="en-GB" smtClean="0"/>
              <a:pPr>
                <a:defRPr/>
              </a:pPr>
              <a:t>‹#›</a:t>
            </a:fld>
            <a:endParaRPr lang="en-GB"/>
          </a:p>
        </p:txBody>
      </p:sp>
    </p:spTree>
    <p:extLst>
      <p:ext uri="{BB962C8B-B14F-4D97-AF65-F5344CB8AC3E}">
        <p14:creationId xmlns:p14="http://schemas.microsoft.com/office/powerpoint/2010/main" val="3568355274"/>
      </p:ext>
    </p:extLst>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8BD20F09-E7D0-4553-8951-9FE3A5755D0B}" type="slidenum">
              <a:rPr lang="en-GB" smtClean="0"/>
              <a:pPr>
                <a:defRPr/>
              </a:pPr>
              <a:t>‹#›</a:t>
            </a:fld>
            <a:endParaRPr lang="en-GB"/>
          </a:p>
        </p:txBody>
      </p:sp>
    </p:spTree>
    <p:extLst>
      <p:ext uri="{BB962C8B-B14F-4D97-AF65-F5344CB8AC3E}">
        <p14:creationId xmlns:p14="http://schemas.microsoft.com/office/powerpoint/2010/main" val="3260818096"/>
      </p:ext>
    </p:extLst>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A58CF604-4AB4-4EAC-9FEE-8A3205022A0E}" type="slidenum">
              <a:rPr lang="en-GB" smtClean="0"/>
              <a:pPr>
                <a:defRPr/>
              </a:pPr>
              <a:t>‹#›</a:t>
            </a:fld>
            <a:endParaRPr lang="en-GB"/>
          </a:p>
        </p:txBody>
      </p:sp>
    </p:spTree>
    <p:extLst>
      <p:ext uri="{BB962C8B-B14F-4D97-AF65-F5344CB8AC3E}">
        <p14:creationId xmlns:p14="http://schemas.microsoft.com/office/powerpoint/2010/main" val="3848651208"/>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A13B02C5-D693-4ED1-B268-C4771299CD44}" type="slidenum">
              <a:rPr lang="en-GB" smtClean="0"/>
              <a:pPr>
                <a:defRPr/>
              </a:pPr>
              <a:t>‹#›</a:t>
            </a:fld>
            <a:endParaRPr lang="en-GB"/>
          </a:p>
        </p:txBody>
      </p:sp>
    </p:spTree>
    <p:extLst>
      <p:ext uri="{BB962C8B-B14F-4D97-AF65-F5344CB8AC3E}">
        <p14:creationId xmlns:p14="http://schemas.microsoft.com/office/powerpoint/2010/main" val="2075279210"/>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8817F380-BC42-4BE1-9005-D120CDF527DB}" type="slidenum">
              <a:rPr lang="en-GB" smtClean="0"/>
              <a:pPr>
                <a:defRPr/>
              </a:pPr>
              <a:t>‹#›</a:t>
            </a:fld>
            <a:endParaRPr lang="en-GB"/>
          </a:p>
        </p:txBody>
      </p:sp>
    </p:spTree>
    <p:extLst>
      <p:ext uri="{BB962C8B-B14F-4D97-AF65-F5344CB8AC3E}">
        <p14:creationId xmlns:p14="http://schemas.microsoft.com/office/powerpoint/2010/main" val="202466134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05"/>
                                          </p:val>
                                        </p:tav>
                                        <p:tav tm="100000">
                                          <p:val>
                                            <p:strVal val="#ppt_y"/>
                                          </p:val>
                                        </p:tav>
                                      </p:tavLst>
                                    </p:anim>
                                  </p:childTnLst>
                                </p:cTn>
                              </p:par>
                              <p:par>
                                <p:cTn id="17" presetID="44"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anim calcmode="lin" valueType="num">
                                      <p:cBhvr>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1" end="1"/>
                                            </p:txEl>
                                          </p:spTgt>
                                        </p:tgtEl>
                                        <p:attrNameLst>
                                          <p:attrName>ppt_y</p:attrName>
                                        </p:attrNameLst>
                                      </p:cBhvr>
                                      <p:tavLst>
                                        <p:tav tm="0">
                                          <p:val>
                                            <p:strVal val="#ppt_y+.05"/>
                                          </p:val>
                                        </p:tav>
                                        <p:tav tm="100000">
                                          <p:val>
                                            <p:strVal val="#ppt_y"/>
                                          </p:val>
                                        </p:tav>
                                      </p:tavLst>
                                    </p:anim>
                                  </p:childTnLst>
                                </p:cTn>
                              </p:par>
                              <p:par>
                                <p:cTn id="22" presetID="44"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anim calcmode="lin" valueType="num">
                                      <p:cBhvr>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2" end="2"/>
                                            </p:txEl>
                                          </p:spTgt>
                                        </p:tgtEl>
                                        <p:attrNameLst>
                                          <p:attrName>ppt_y</p:attrName>
                                        </p:attrNameLst>
                                      </p:cBhvr>
                                      <p:tavLst>
                                        <p:tav tm="0">
                                          <p:val>
                                            <p:strVal val="#ppt_y+.05"/>
                                          </p:val>
                                        </p:tav>
                                        <p:tav tm="100000">
                                          <p:val>
                                            <p:strVal val="#ppt_y"/>
                                          </p:val>
                                        </p:tav>
                                      </p:tavLst>
                                    </p:anim>
                                  </p:childTnLst>
                                </p:cTn>
                              </p:par>
                              <p:par>
                                <p:cTn id="27" presetID="44"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anim calcmode="lin" valueType="num">
                                      <p:cBhvr>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3" end="3"/>
                                            </p:txEl>
                                          </p:spTgt>
                                        </p:tgtEl>
                                        <p:attrNameLst>
                                          <p:attrName>ppt_y</p:attrName>
                                        </p:attrNameLst>
                                      </p:cBhvr>
                                      <p:tavLst>
                                        <p:tav tm="0">
                                          <p:val>
                                            <p:strVal val="#ppt_y+.05"/>
                                          </p:val>
                                        </p:tav>
                                        <p:tav tm="100000">
                                          <p:val>
                                            <p:strVal val="#ppt_y"/>
                                          </p:val>
                                        </p:tav>
                                      </p:tavLst>
                                    </p:anim>
                                  </p:childTnLst>
                                </p:cTn>
                              </p:par>
                              <p:par>
                                <p:cTn id="32" presetID="44"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anim calcmode="lin" valueType="num">
                                      <p:cBhvr>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500" fill="hold"/>
                                        <p:tgtEl>
                                          <p:spTgt spid="3">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smtClean="0"/>
              <a:t>References</a:t>
            </a:r>
          </a:p>
        </p:txBody>
      </p:sp>
      <p:sp>
        <p:nvSpPr>
          <p:cNvPr id="3075" name="Rectangle 3"/>
          <p:cNvSpPr>
            <a:spLocks noGrp="1" noChangeArrowheads="1"/>
          </p:cNvSpPr>
          <p:nvPr>
            <p:ph idx="1"/>
          </p:nvPr>
        </p:nvSpPr>
        <p:spPr/>
        <p:txBody>
          <a:bodyPr/>
          <a:lstStyle/>
          <a:p>
            <a:pPr eaLnBrk="1" hangingPunct="1"/>
            <a:r>
              <a:rPr lang="en-US" dirty="0" smtClean="0"/>
              <a:t>1. </a:t>
            </a:r>
            <a:r>
              <a:rPr lang="en-US" dirty="0" smtClean="0">
                <a:solidFill>
                  <a:srgbClr val="FF0000"/>
                </a:solidFill>
              </a:rPr>
              <a:t>Medical microbiology by:</a:t>
            </a:r>
          </a:p>
          <a:p>
            <a:pPr eaLnBrk="1" hangingPunct="1"/>
            <a:r>
              <a:rPr lang="en-US" dirty="0" smtClean="0">
                <a:solidFill>
                  <a:srgbClr val="FF0000"/>
                </a:solidFill>
              </a:rPr>
              <a:t>Ernest </a:t>
            </a:r>
            <a:r>
              <a:rPr lang="en-US" dirty="0" err="1" smtClean="0">
                <a:solidFill>
                  <a:srgbClr val="FF0000"/>
                </a:solidFill>
              </a:rPr>
              <a:t>Jawetz</a:t>
            </a:r>
            <a:endParaRPr lang="en-US" dirty="0" smtClean="0">
              <a:solidFill>
                <a:srgbClr val="FF0000"/>
              </a:solidFill>
            </a:endParaRPr>
          </a:p>
          <a:p>
            <a:pPr eaLnBrk="1" hangingPunct="1"/>
            <a:r>
              <a:rPr lang="en-US" dirty="0" smtClean="0">
                <a:solidFill>
                  <a:srgbClr val="FF0000"/>
                </a:solidFill>
              </a:rPr>
              <a:t>Joseph </a:t>
            </a:r>
            <a:r>
              <a:rPr lang="en-US" dirty="0" err="1" smtClean="0">
                <a:solidFill>
                  <a:srgbClr val="FF0000"/>
                </a:solidFill>
              </a:rPr>
              <a:t>Melnick</a:t>
            </a:r>
            <a:endParaRPr lang="en-US" dirty="0" smtClean="0">
              <a:solidFill>
                <a:srgbClr val="FF0000"/>
              </a:solidFill>
            </a:endParaRPr>
          </a:p>
          <a:p>
            <a:pPr eaLnBrk="1" hangingPunct="1"/>
            <a:r>
              <a:rPr lang="en-US" dirty="0" smtClean="0">
                <a:solidFill>
                  <a:srgbClr val="FF0000"/>
                </a:solidFill>
              </a:rPr>
              <a:t>etc</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endParaRPr lang="en-US" smtClean="0"/>
          </a:p>
        </p:txBody>
      </p:sp>
      <p:sp>
        <p:nvSpPr>
          <p:cNvPr id="4099" name="Rectangle 3"/>
          <p:cNvSpPr>
            <a:spLocks noGrp="1" noChangeArrowheads="1"/>
          </p:cNvSpPr>
          <p:nvPr>
            <p:ph idx="1"/>
          </p:nvPr>
        </p:nvSpPr>
        <p:spPr>
          <a:ln>
            <a:solidFill>
              <a:schemeClr val="accent2"/>
            </a:solidFill>
          </a:ln>
        </p:spPr>
        <p:txBody>
          <a:bodyPr/>
          <a:lstStyle/>
          <a:p>
            <a:pPr eaLnBrk="1" hangingPunct="1"/>
            <a:r>
              <a:rPr lang="en-US" dirty="0" smtClean="0">
                <a:solidFill>
                  <a:schemeClr val="hlink"/>
                </a:solidFill>
              </a:rPr>
              <a:t>2. Microorganisms in our world by:</a:t>
            </a:r>
          </a:p>
          <a:p>
            <a:pPr eaLnBrk="1" hangingPunct="1">
              <a:buFontTx/>
              <a:buNone/>
            </a:pPr>
            <a:r>
              <a:rPr lang="en-US" dirty="0" smtClean="0">
                <a:solidFill>
                  <a:schemeClr val="hlink"/>
                </a:solidFill>
              </a:rPr>
              <a:t>	Ronald M. Atlas</a:t>
            </a:r>
          </a:p>
          <a:p>
            <a:pPr eaLnBrk="1" hangingPunct="1"/>
            <a:endParaRPr lang="en-US" dirty="0" smtClean="0"/>
          </a:p>
          <a:p>
            <a:pPr eaLnBrk="1" hangingPunct="1"/>
            <a:endParaRPr lang="en-US" dirty="0" smtClean="0"/>
          </a:p>
          <a:p>
            <a:pPr eaLnBrk="1" hangingPunct="1"/>
            <a:r>
              <a:rPr lang="en-US" dirty="0" smtClean="0"/>
              <a:t>3. </a:t>
            </a:r>
            <a:r>
              <a:rPr lang="en-US" dirty="0" smtClean="0">
                <a:solidFill>
                  <a:schemeClr val="accent2"/>
                </a:solidFill>
              </a:rPr>
              <a:t>Microbiology, an introduction by: </a:t>
            </a:r>
            <a:r>
              <a:rPr lang="en-US" dirty="0" err="1" smtClean="0">
                <a:solidFill>
                  <a:schemeClr val="accent2"/>
                </a:solidFill>
              </a:rPr>
              <a:t>Tortora</a:t>
            </a:r>
            <a:r>
              <a:rPr lang="en-US" dirty="0" smtClean="0">
                <a:solidFill>
                  <a:schemeClr val="accent2"/>
                </a:solidFill>
              </a:rPr>
              <a:t>, </a:t>
            </a:r>
            <a:r>
              <a:rPr lang="en-US" dirty="0" err="1" smtClean="0">
                <a:solidFill>
                  <a:schemeClr val="accent2"/>
                </a:solidFill>
              </a:rPr>
              <a:t>Funke</a:t>
            </a:r>
            <a:r>
              <a:rPr lang="en-US" dirty="0" smtClean="0">
                <a:solidFill>
                  <a:schemeClr val="accent2"/>
                </a:solidFill>
              </a:rPr>
              <a:t> and Case.</a:t>
            </a:r>
          </a:p>
          <a:p>
            <a:pPr eaLnBrk="1" hangingPunct="1"/>
            <a:endParaRPr lang="en-US" dirty="0" smtClean="0">
              <a:solidFill>
                <a:schemeClr val="accent2"/>
              </a:solidFill>
            </a:endParaRP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endParaRPr lang="en-US" smtClean="0"/>
          </a:p>
        </p:txBody>
      </p:sp>
      <p:sp>
        <p:nvSpPr>
          <p:cNvPr id="5123" name="Rectangle 3"/>
          <p:cNvSpPr>
            <a:spLocks noGrp="1" noChangeArrowheads="1"/>
          </p:cNvSpPr>
          <p:nvPr>
            <p:ph idx="1"/>
          </p:nvPr>
        </p:nvSpPr>
        <p:spPr/>
        <p:txBody>
          <a:bodyPr/>
          <a:lstStyle/>
          <a:p>
            <a:pPr eaLnBrk="1" hangingPunct="1"/>
            <a:r>
              <a:rPr lang="en-US" smtClean="0">
                <a:solidFill>
                  <a:srgbClr val="FF0066"/>
                </a:solidFill>
              </a:rPr>
              <a:t>Colour Atlas and Textbook of DIAGNOSTIC MICROBIOLOGY by:</a:t>
            </a:r>
          </a:p>
          <a:p>
            <a:pPr eaLnBrk="1" hangingPunct="1"/>
            <a:r>
              <a:rPr lang="en-US" smtClean="0">
                <a:solidFill>
                  <a:srgbClr val="FF0066"/>
                </a:solidFill>
              </a:rPr>
              <a:t>Elmer Koneman</a:t>
            </a:r>
          </a:p>
          <a:p>
            <a:pPr eaLnBrk="1" hangingPunct="1"/>
            <a:r>
              <a:rPr lang="en-US" smtClean="0">
                <a:solidFill>
                  <a:srgbClr val="FF0066"/>
                </a:solidFill>
              </a:rPr>
              <a:t>Stephen Allen</a:t>
            </a:r>
          </a:p>
          <a:p>
            <a:pPr eaLnBrk="1" hangingPunct="1"/>
            <a:r>
              <a:rPr lang="en-US" smtClean="0">
                <a:solidFill>
                  <a:srgbClr val="FF0066"/>
                </a:solidFill>
              </a:rPr>
              <a:t>William Janda</a:t>
            </a:r>
          </a:p>
          <a:p>
            <a:pPr eaLnBrk="1" hangingPunct="1"/>
            <a:r>
              <a:rPr lang="en-US" smtClean="0">
                <a:solidFill>
                  <a:srgbClr val="FF0066"/>
                </a:solidFill>
              </a:rPr>
              <a:t>et al. </a:t>
            </a: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smtClean="0"/>
              <a:t>Microbial metabolism</a:t>
            </a:r>
          </a:p>
        </p:txBody>
      </p:sp>
      <p:sp>
        <p:nvSpPr>
          <p:cNvPr id="6147" name="Rectangle 3"/>
          <p:cNvSpPr>
            <a:spLocks noGrp="1" noChangeArrowheads="1"/>
          </p:cNvSpPr>
          <p:nvPr>
            <p:ph idx="1"/>
          </p:nvPr>
        </p:nvSpPr>
        <p:spPr/>
        <p:txBody>
          <a:bodyPr/>
          <a:lstStyle/>
          <a:p>
            <a:pPr eaLnBrk="1" hangingPunct="1"/>
            <a:r>
              <a:rPr lang="en-US" smtClean="0"/>
              <a:t>Sum total of all chemical reactions taking place in a living cell is referred to as metabolism.</a:t>
            </a: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457200" y="304800"/>
            <a:ext cx="8229600" cy="5821363"/>
          </a:xfrm>
        </p:spPr>
        <p:txBody>
          <a:bodyPr/>
          <a:lstStyle/>
          <a:p>
            <a:pPr eaLnBrk="1" hangingPunct="1"/>
            <a:r>
              <a:rPr lang="en-US" smtClean="0"/>
              <a:t>METABOLISM is a life sustaining activity. </a:t>
            </a:r>
          </a:p>
          <a:p>
            <a:pPr eaLnBrk="1" hangingPunct="1"/>
            <a:endParaRPr lang="en-US" smtClean="0"/>
          </a:p>
          <a:p>
            <a:pPr eaLnBrk="1" hangingPunct="1"/>
            <a:r>
              <a:rPr lang="en-US" smtClean="0"/>
              <a:t>It is defined as ‘the ongoing interrelated series of chemical interactions  taking place in a living organism that provide the energy and nutrient needed to sustain life. </a:t>
            </a: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flipV="1">
            <a:off x="457200" y="0"/>
            <a:ext cx="8229600" cy="274638"/>
          </a:xfrm>
        </p:spPr>
        <p:txBody>
          <a:bodyPr>
            <a:normAutofit fontScale="90000"/>
          </a:bodyPr>
          <a:lstStyle/>
          <a:p>
            <a:pPr eaLnBrk="1" hangingPunct="1"/>
            <a:endParaRPr lang="en-US" sz="4000" smtClean="0"/>
          </a:p>
        </p:txBody>
      </p:sp>
      <p:sp>
        <p:nvSpPr>
          <p:cNvPr id="8195" name="Rectangle 3"/>
          <p:cNvSpPr>
            <a:spLocks noGrp="1" noChangeArrowheads="1"/>
          </p:cNvSpPr>
          <p:nvPr>
            <p:ph idx="1"/>
          </p:nvPr>
        </p:nvSpPr>
        <p:spPr>
          <a:xfrm>
            <a:off x="0" y="0"/>
            <a:ext cx="9296400" cy="6858000"/>
          </a:xfrm>
        </p:spPr>
        <p:txBody>
          <a:bodyPr/>
          <a:lstStyle/>
          <a:p>
            <a:pPr eaLnBrk="1" hangingPunct="1"/>
            <a:endParaRPr lang="en-US" smtClean="0"/>
          </a:p>
          <a:p>
            <a:pPr eaLnBrk="1" hangingPunct="1"/>
            <a:r>
              <a:rPr lang="en-US" smtClean="0"/>
              <a:t>Metabolism can be a chemical activity involving a particular substance:</a:t>
            </a:r>
          </a:p>
          <a:p>
            <a:pPr eaLnBrk="1" hangingPunct="1"/>
            <a:r>
              <a:rPr lang="en-US" smtClean="0"/>
              <a:t>Here it is defined as the chemical activity involving a particular substance in a living organism.</a:t>
            </a:r>
          </a:p>
          <a:p>
            <a:pPr eaLnBrk="1" hangingPunct="1"/>
            <a:r>
              <a:rPr lang="en-US" smtClean="0"/>
              <a:t>The by-product of that substance as a result of metabolism is called a metabolite.</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06362"/>
          </a:xfrm>
        </p:spPr>
        <p:txBody>
          <a:bodyPr>
            <a:normAutofit fontScale="90000"/>
          </a:bodyPr>
          <a:lstStyle/>
          <a:p>
            <a:pPr eaLnBrk="1" hangingPunct="1"/>
            <a:endParaRPr lang="en-US" sz="4000" smtClean="0"/>
          </a:p>
        </p:txBody>
      </p:sp>
      <p:sp>
        <p:nvSpPr>
          <p:cNvPr id="9219" name="Rectangle 3"/>
          <p:cNvSpPr>
            <a:spLocks noGrp="1" noChangeArrowheads="1"/>
          </p:cNvSpPr>
          <p:nvPr>
            <p:ph idx="1"/>
          </p:nvPr>
        </p:nvSpPr>
        <p:spPr>
          <a:xfrm>
            <a:off x="0" y="0"/>
            <a:ext cx="9144000" cy="6858000"/>
          </a:xfrm>
        </p:spPr>
        <p:txBody>
          <a:bodyPr/>
          <a:lstStyle/>
          <a:p>
            <a:pPr algn="ctr" eaLnBrk="1" hangingPunct="1"/>
            <a:endParaRPr lang="en-US" smtClean="0"/>
          </a:p>
          <a:p>
            <a:pPr algn="ctr" eaLnBrk="1" hangingPunct="1"/>
            <a:endParaRPr lang="en-US" smtClean="0"/>
          </a:p>
          <a:p>
            <a:pPr algn="ctr" eaLnBrk="1" hangingPunct="1"/>
            <a:endParaRPr lang="en-US" smtClean="0"/>
          </a:p>
          <a:p>
            <a:pPr eaLnBrk="1" hangingPunct="1"/>
            <a:r>
              <a:rPr lang="en-US" smtClean="0"/>
              <a:t>Metabolic chemical reactions either release or require energy. Metabolism can be viewed as energy balancing act.</a:t>
            </a: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flipV="1">
            <a:off x="457200" y="200025"/>
            <a:ext cx="8229600" cy="74613"/>
          </a:xfrm>
        </p:spPr>
        <p:txBody>
          <a:bodyPr>
            <a:normAutofit fontScale="90000"/>
          </a:bodyPr>
          <a:lstStyle/>
          <a:p>
            <a:pPr eaLnBrk="1" hangingPunct="1"/>
            <a:endParaRPr lang="en-US" sz="4000" smtClean="0"/>
          </a:p>
        </p:txBody>
      </p:sp>
      <p:sp>
        <p:nvSpPr>
          <p:cNvPr id="10243" name="Rectangle 3"/>
          <p:cNvSpPr>
            <a:spLocks noGrp="1" noChangeArrowheads="1"/>
          </p:cNvSpPr>
          <p:nvPr>
            <p:ph idx="1"/>
          </p:nvPr>
        </p:nvSpPr>
        <p:spPr>
          <a:xfrm>
            <a:off x="457200" y="304800"/>
            <a:ext cx="8229600" cy="5821363"/>
          </a:xfrm>
        </p:spPr>
        <p:txBody>
          <a:bodyPr/>
          <a:lstStyle/>
          <a:p>
            <a:pPr eaLnBrk="1" hangingPunct="1"/>
            <a:r>
              <a:rPr lang="en-US" smtClean="0"/>
              <a:t>In living cells the chemical reactions that release energy are called catabolism.</a:t>
            </a:r>
          </a:p>
          <a:p>
            <a:pPr eaLnBrk="1" hangingPunct="1"/>
            <a:r>
              <a:rPr lang="en-US" smtClean="0"/>
              <a:t>It involves the breakdown of complex organic compounds into simpler ones. </a:t>
            </a: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endParaRPr lang="en-US" smtClean="0"/>
          </a:p>
        </p:txBody>
      </p:sp>
      <p:sp>
        <p:nvSpPr>
          <p:cNvPr id="11267" name="Rectangle 3"/>
          <p:cNvSpPr>
            <a:spLocks noGrp="1" noChangeArrowheads="1"/>
          </p:cNvSpPr>
          <p:nvPr>
            <p:ph idx="1"/>
          </p:nvPr>
        </p:nvSpPr>
        <p:spPr/>
        <p:txBody>
          <a:bodyPr/>
          <a:lstStyle/>
          <a:p>
            <a:pPr eaLnBrk="1" hangingPunct="1"/>
            <a:r>
              <a:rPr lang="en-US" smtClean="0"/>
              <a:t>Catabolic reactions breakdown chemical bonds to release energy. This is hydrolytic (ie similar to adding water to a hot object) this occurs when cells breakdown sugar into CO</a:t>
            </a:r>
            <a:r>
              <a:rPr lang="en-US" baseline="-25000" smtClean="0"/>
              <a:t>2</a:t>
            </a:r>
            <a:r>
              <a:rPr lang="en-US" smtClean="0"/>
              <a:t> and H</a:t>
            </a:r>
            <a:r>
              <a:rPr lang="en-US" baseline="-25000" smtClean="0"/>
              <a:t>2</a:t>
            </a:r>
            <a:r>
              <a:rPr lang="en-US" smtClean="0"/>
              <a:t>0.</a:t>
            </a:r>
          </a:p>
          <a:p>
            <a:pPr eaLnBrk="1" hangingPunct="1"/>
            <a:endParaRPr lang="en-US" smtClean="0"/>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3"/>
          <p:cNvSpPr>
            <a:spLocks noGrp="1" noChangeArrowheads="1"/>
          </p:cNvSpPr>
          <p:nvPr>
            <p:ph type="body" idx="4294967295"/>
          </p:nvPr>
        </p:nvSpPr>
        <p:spPr>
          <a:xfrm>
            <a:off x="0" y="0"/>
            <a:ext cx="9144000" cy="6858000"/>
          </a:xfrm>
        </p:spPr>
        <p:txBody>
          <a:bodyPr/>
          <a:lstStyle/>
          <a:p>
            <a:pPr eaLnBrk="1" hangingPunct="1"/>
            <a:endParaRPr lang="en-US" smtClean="0"/>
          </a:p>
          <a:p>
            <a:pPr eaLnBrk="1" hangingPunct="1"/>
            <a:endParaRPr lang="en-US" smtClean="0"/>
          </a:p>
          <a:p>
            <a:pPr eaLnBrk="1" hangingPunct="1"/>
            <a:r>
              <a:rPr lang="en-US" smtClean="0"/>
              <a:t>Anabolism describes energy requiring reactions ie the building of complex organic molecules from simpler ones. These reactions are anabolic or biosynthetic reactions. Examples are :</a:t>
            </a:r>
          </a:p>
          <a:p>
            <a:pPr eaLnBrk="1" hangingPunct="1"/>
            <a:r>
              <a:rPr lang="en-US" smtClean="0"/>
              <a:t>-the formation of proteins from amino acids</a:t>
            </a:r>
          </a:p>
          <a:p>
            <a:pPr eaLnBrk="1" hangingPunct="1"/>
            <a:r>
              <a:rPr lang="en-US" smtClean="0"/>
              <a:t>-Nucleic acids from nucleotides </a:t>
            </a:r>
          </a:p>
          <a:p>
            <a:pPr eaLnBrk="1" hangingPunct="1"/>
            <a:r>
              <a:rPr lang="en-US" smtClean="0"/>
              <a:t>-Polysaccharides from simple sugars.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12290">
                                            <p:txEl>
                                              <p:pRg st="2" end="2"/>
                                            </p:txEl>
                                          </p:spTgt>
                                        </p:tgtEl>
                                        <p:attrNameLst>
                                          <p:attrName>style.visibility</p:attrName>
                                        </p:attrNameLst>
                                      </p:cBhvr>
                                      <p:to>
                                        <p:strVal val="visible"/>
                                      </p:to>
                                    </p:set>
                                    <p:animEffect transition="in" filter="fade">
                                      <p:cBhvr>
                                        <p:cTn id="7" dur="500"/>
                                        <p:tgtEl>
                                          <p:spTgt spid="12290">
                                            <p:txEl>
                                              <p:pRg st="2" end="2"/>
                                            </p:txEl>
                                          </p:spTgt>
                                        </p:tgtEl>
                                      </p:cBhvr>
                                    </p:animEffect>
                                    <p:anim calcmode="lin" valueType="num">
                                      <p:cBhvr>
                                        <p:cTn id="8" dur="500" fill="hold"/>
                                        <p:tgtEl>
                                          <p:spTgt spid="12290">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12290">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12290">
                                            <p:txEl>
                                              <p:pRg st="3" end="3"/>
                                            </p:txEl>
                                          </p:spTgt>
                                        </p:tgtEl>
                                        <p:attrNameLst>
                                          <p:attrName>style.visibility</p:attrName>
                                        </p:attrNameLst>
                                      </p:cBhvr>
                                      <p:to>
                                        <p:strVal val="visible"/>
                                      </p:to>
                                    </p:set>
                                    <p:animEffect transition="in" filter="fade">
                                      <p:cBhvr>
                                        <p:cTn id="14" dur="500"/>
                                        <p:tgtEl>
                                          <p:spTgt spid="12290">
                                            <p:txEl>
                                              <p:pRg st="3" end="3"/>
                                            </p:txEl>
                                          </p:spTgt>
                                        </p:tgtEl>
                                      </p:cBhvr>
                                    </p:animEffect>
                                    <p:anim calcmode="lin" valueType="num">
                                      <p:cBhvr>
                                        <p:cTn id="15" dur="500" fill="hold"/>
                                        <p:tgtEl>
                                          <p:spTgt spid="12290">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12290">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12290">
                                            <p:txEl>
                                              <p:pRg st="4" end="4"/>
                                            </p:txEl>
                                          </p:spTgt>
                                        </p:tgtEl>
                                        <p:attrNameLst>
                                          <p:attrName>style.visibility</p:attrName>
                                        </p:attrNameLst>
                                      </p:cBhvr>
                                      <p:to>
                                        <p:strVal val="visible"/>
                                      </p:to>
                                    </p:set>
                                    <p:animEffect transition="in" filter="fade">
                                      <p:cBhvr>
                                        <p:cTn id="21" dur="500"/>
                                        <p:tgtEl>
                                          <p:spTgt spid="12290">
                                            <p:txEl>
                                              <p:pRg st="4" end="4"/>
                                            </p:txEl>
                                          </p:spTgt>
                                        </p:tgtEl>
                                      </p:cBhvr>
                                    </p:animEffect>
                                    <p:anim calcmode="lin" valueType="num">
                                      <p:cBhvr>
                                        <p:cTn id="22" dur="500" fill="hold"/>
                                        <p:tgtEl>
                                          <p:spTgt spid="12290">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12290">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12290">
                                            <p:txEl>
                                              <p:pRg st="5" end="5"/>
                                            </p:txEl>
                                          </p:spTgt>
                                        </p:tgtEl>
                                        <p:attrNameLst>
                                          <p:attrName>style.visibility</p:attrName>
                                        </p:attrNameLst>
                                      </p:cBhvr>
                                      <p:to>
                                        <p:strVal val="visible"/>
                                      </p:to>
                                    </p:set>
                                    <p:animEffect transition="in" filter="fade">
                                      <p:cBhvr>
                                        <p:cTn id="28" dur="500"/>
                                        <p:tgtEl>
                                          <p:spTgt spid="12290">
                                            <p:txEl>
                                              <p:pRg st="5" end="5"/>
                                            </p:txEl>
                                          </p:spTgt>
                                        </p:tgtEl>
                                      </p:cBhvr>
                                    </p:animEffect>
                                    <p:anim calcmode="lin" valueType="num">
                                      <p:cBhvr>
                                        <p:cTn id="29" dur="500" fill="hold"/>
                                        <p:tgtEl>
                                          <p:spTgt spid="12290">
                                            <p:txEl>
                                              <p:pRg st="5" end="5"/>
                                            </p:txEl>
                                          </p:spTgt>
                                        </p:tgtEl>
                                        <p:attrNameLst>
                                          <p:attrName>ppt_x</p:attrName>
                                        </p:attrNameLst>
                                      </p:cBhvr>
                                      <p:tavLst>
                                        <p:tav tm="0">
                                          <p:val>
                                            <p:strVal val="#ppt_x"/>
                                          </p:val>
                                        </p:tav>
                                        <p:tav tm="100000">
                                          <p:val>
                                            <p:strVal val="#ppt_x"/>
                                          </p:val>
                                        </p:tav>
                                      </p:tavLst>
                                    </p:anim>
                                    <p:anim calcmode="lin" valueType="num">
                                      <p:cBhvr>
                                        <p:cTn id="30" dur="500" fill="hold"/>
                                        <p:tgtEl>
                                          <p:spTgt spid="12290">
                                            <p:txEl>
                                              <p:pRg st="5" end="5"/>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endParaRPr lang="en-US" smtClean="0"/>
          </a:p>
        </p:txBody>
      </p:sp>
      <p:sp>
        <p:nvSpPr>
          <p:cNvPr id="13315" name="Rectangle 3"/>
          <p:cNvSpPr>
            <a:spLocks noGrp="1" noChangeArrowheads="1"/>
          </p:cNvSpPr>
          <p:nvPr>
            <p:ph idx="1"/>
          </p:nvPr>
        </p:nvSpPr>
        <p:spPr/>
        <p:txBody>
          <a:bodyPr/>
          <a:lstStyle/>
          <a:p>
            <a:pPr eaLnBrk="1" hangingPunct="1"/>
            <a:r>
              <a:rPr lang="en-US" smtClean="0"/>
              <a:t>Catabolic reactions generate energy needed to drive anabolic reactions. This is made possible through the molecule </a:t>
            </a:r>
            <a:r>
              <a:rPr lang="en-US" b="1" smtClean="0"/>
              <a:t>A</a:t>
            </a:r>
            <a:r>
              <a:rPr lang="en-US" smtClean="0"/>
              <a:t>denosine </a:t>
            </a:r>
            <a:r>
              <a:rPr lang="en-US" b="1" smtClean="0"/>
              <a:t>T</a:t>
            </a:r>
            <a:r>
              <a:rPr lang="en-US" smtClean="0"/>
              <a:t>ri</a:t>
            </a:r>
            <a:r>
              <a:rPr lang="en-US" b="1" smtClean="0"/>
              <a:t>P</a:t>
            </a:r>
            <a:r>
              <a:rPr lang="en-US" smtClean="0"/>
              <a:t>hosphate (</a:t>
            </a:r>
            <a:r>
              <a:rPr lang="en-US" b="1" smtClean="0"/>
              <a:t>ATP</a:t>
            </a:r>
            <a:r>
              <a:rPr lang="en-US" smtClean="0"/>
              <a:t>). </a:t>
            </a: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endParaRPr lang="en-US" smtClean="0"/>
          </a:p>
        </p:txBody>
      </p:sp>
      <p:sp>
        <p:nvSpPr>
          <p:cNvPr id="14339" name="Rectangle 3"/>
          <p:cNvSpPr>
            <a:spLocks noGrp="1" noChangeArrowheads="1"/>
          </p:cNvSpPr>
          <p:nvPr>
            <p:ph idx="1"/>
          </p:nvPr>
        </p:nvSpPr>
        <p:spPr/>
        <p:txBody>
          <a:bodyPr/>
          <a:lstStyle/>
          <a:p>
            <a:pPr eaLnBrk="1" hangingPunct="1"/>
            <a:r>
              <a:rPr lang="en-US" smtClean="0"/>
              <a:t>ATP stores energy derived from catabolic reactions and releases it later to drive anabolic reactions and to perform other cellular functions. </a:t>
            </a:r>
          </a:p>
          <a:p>
            <a:pPr eaLnBrk="1" hangingPunct="1"/>
            <a:endParaRPr lang="en-US" smtClean="0"/>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76200"/>
            <a:ext cx="8229600" cy="76200"/>
          </a:xfrm>
        </p:spPr>
        <p:txBody>
          <a:bodyPr>
            <a:normAutofit fontScale="90000"/>
          </a:bodyPr>
          <a:lstStyle/>
          <a:p>
            <a:pPr eaLnBrk="1" hangingPunct="1"/>
            <a:endParaRPr lang="en-US" sz="4000" smtClean="0"/>
          </a:p>
        </p:txBody>
      </p:sp>
      <p:sp>
        <p:nvSpPr>
          <p:cNvPr id="15363" name="Rectangle 3"/>
          <p:cNvSpPr>
            <a:spLocks noGrp="1" noChangeArrowheads="1"/>
          </p:cNvSpPr>
          <p:nvPr>
            <p:ph idx="1"/>
          </p:nvPr>
        </p:nvSpPr>
        <p:spPr>
          <a:xfrm>
            <a:off x="457200" y="0"/>
            <a:ext cx="8229600" cy="6126163"/>
          </a:xfrm>
        </p:spPr>
        <p:txBody>
          <a:bodyPr/>
          <a:lstStyle/>
          <a:p>
            <a:pPr eaLnBrk="1" hangingPunct="1"/>
            <a:endParaRPr lang="en-US" smtClean="0"/>
          </a:p>
          <a:p>
            <a:pPr eaLnBrk="1" hangingPunct="1"/>
            <a:endParaRPr lang="en-US" smtClean="0"/>
          </a:p>
          <a:p>
            <a:pPr eaLnBrk="1" hangingPunct="1"/>
            <a:r>
              <a:rPr lang="en-US" smtClean="0"/>
              <a:t>ATP is made up of Adenine, a ribose and three Phosphate groups.</a:t>
            </a:r>
          </a:p>
          <a:p>
            <a:pPr eaLnBrk="1" hangingPunct="1"/>
            <a:r>
              <a:rPr lang="en-US" smtClean="0"/>
              <a:t>During catabolism the phosphate group (p) splits away from ATP, </a:t>
            </a:r>
            <a:r>
              <a:rPr lang="en-US" b="1" smtClean="0"/>
              <a:t>A</a:t>
            </a:r>
            <a:r>
              <a:rPr lang="en-US" smtClean="0"/>
              <a:t>denosine </a:t>
            </a:r>
            <a:r>
              <a:rPr lang="en-US" b="1" smtClean="0"/>
              <a:t>D</a:t>
            </a:r>
            <a:r>
              <a:rPr lang="en-US" smtClean="0"/>
              <a:t>i</a:t>
            </a:r>
            <a:r>
              <a:rPr lang="en-US" b="1" smtClean="0"/>
              <a:t>P</a:t>
            </a:r>
            <a:r>
              <a:rPr lang="en-US" smtClean="0"/>
              <a:t>hosphate (</a:t>
            </a:r>
            <a:r>
              <a:rPr lang="en-US" b="1" smtClean="0"/>
              <a:t>ADP</a:t>
            </a:r>
            <a:r>
              <a:rPr lang="en-US" smtClean="0"/>
              <a:t>) is formed and energy is released.</a:t>
            </a:r>
          </a:p>
          <a:p>
            <a:pPr eaLnBrk="1" hangingPunct="1"/>
            <a:r>
              <a:rPr lang="en-US" smtClean="0"/>
              <a:t>ATP   </a:t>
            </a:r>
            <a:r>
              <a:rPr lang="en-US" sz="1400" smtClean="0"/>
              <a:t>catabolism</a:t>
            </a:r>
            <a:r>
              <a:rPr lang="en-US" smtClean="0"/>
              <a:t>      ADP + energy .</a:t>
            </a:r>
          </a:p>
          <a:p>
            <a:pPr eaLnBrk="1" hangingPunct="1"/>
            <a:endParaRPr lang="en-US" smtClean="0"/>
          </a:p>
        </p:txBody>
      </p:sp>
      <p:sp>
        <p:nvSpPr>
          <p:cNvPr id="15364" name="Line 4"/>
          <p:cNvSpPr>
            <a:spLocks noChangeShapeType="1"/>
          </p:cNvSpPr>
          <p:nvPr/>
        </p:nvSpPr>
        <p:spPr bwMode="auto">
          <a:xfrm>
            <a:off x="1752600" y="4724400"/>
            <a:ext cx="13716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8229600" cy="182562"/>
          </a:xfrm>
          <a:ln>
            <a:solidFill>
              <a:schemeClr val="tx1"/>
            </a:solidFill>
          </a:ln>
        </p:spPr>
        <p:txBody>
          <a:bodyPr>
            <a:normAutofit fontScale="90000"/>
          </a:bodyPr>
          <a:lstStyle/>
          <a:p>
            <a:pPr eaLnBrk="1" hangingPunct="1"/>
            <a:endParaRPr lang="en-US" sz="4000" smtClean="0"/>
          </a:p>
        </p:txBody>
      </p:sp>
      <p:sp>
        <p:nvSpPr>
          <p:cNvPr id="16387" name="Rectangle 3"/>
          <p:cNvSpPr>
            <a:spLocks noGrp="1" noChangeArrowheads="1"/>
          </p:cNvSpPr>
          <p:nvPr>
            <p:ph idx="1"/>
          </p:nvPr>
        </p:nvSpPr>
        <p:spPr/>
        <p:txBody>
          <a:bodyPr/>
          <a:lstStyle/>
          <a:p>
            <a:pPr eaLnBrk="1" hangingPunct="1"/>
            <a:r>
              <a:rPr lang="en-US" smtClean="0"/>
              <a:t>The energy released is used to combine ADP and a (p) to synthesize ATP.</a:t>
            </a:r>
          </a:p>
          <a:p>
            <a:pPr eaLnBrk="1" hangingPunct="1"/>
            <a:r>
              <a:rPr lang="en-US" smtClean="0"/>
              <a:t>ADP + (p) + energy   </a:t>
            </a:r>
            <a:r>
              <a:rPr lang="en-US" sz="1400" smtClean="0"/>
              <a:t>anabolism</a:t>
            </a:r>
            <a:r>
              <a:rPr lang="en-US" smtClean="0"/>
              <a:t>	ATP</a:t>
            </a:r>
          </a:p>
        </p:txBody>
      </p:sp>
      <p:sp>
        <p:nvSpPr>
          <p:cNvPr id="16388" name="Line 4"/>
          <p:cNvSpPr>
            <a:spLocks noChangeShapeType="1"/>
          </p:cNvSpPr>
          <p:nvPr/>
        </p:nvSpPr>
        <p:spPr bwMode="auto">
          <a:xfrm>
            <a:off x="4495800" y="3124200"/>
            <a:ext cx="12192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106362"/>
          </a:xfrm>
        </p:spPr>
        <p:txBody>
          <a:bodyPr>
            <a:normAutofit fontScale="90000"/>
          </a:bodyPr>
          <a:lstStyle/>
          <a:p>
            <a:pPr eaLnBrk="1" hangingPunct="1"/>
            <a:r>
              <a:rPr lang="en-US" sz="4000" smtClean="0"/>
              <a:t> </a:t>
            </a:r>
          </a:p>
        </p:txBody>
      </p:sp>
      <p:sp>
        <p:nvSpPr>
          <p:cNvPr id="17419" name="Arc 3"/>
          <p:cNvSpPr>
            <a:spLocks noGrp="1"/>
          </p:cNvSpPr>
          <p:nvPr>
            <p:ph idx="1"/>
          </p:nvPr>
        </p:nvSpPr>
        <p:spPr>
          <a:xfrm>
            <a:off x="0" y="533400"/>
            <a:ext cx="9144000" cy="65532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p:spPr>
        <p:txBody>
          <a:bodyPr/>
          <a:lstStyle/>
          <a:p>
            <a:pPr lvl="1" eaLnBrk="1" hangingPunct="1">
              <a:buFontTx/>
              <a:buNone/>
            </a:pPr>
            <a:r>
              <a:rPr lang="en-US" sz="2400" smtClean="0"/>
              <a:t>                   Simple molecules eg </a:t>
            </a:r>
          </a:p>
          <a:p>
            <a:pPr eaLnBrk="1" hangingPunct="1"/>
            <a:r>
              <a:rPr lang="en-US" sz="2800" smtClean="0"/>
              <a:t>                 glucose, amino acids </a:t>
            </a:r>
          </a:p>
          <a:p>
            <a:pPr eaLnBrk="1" hangingPunct="1"/>
            <a:r>
              <a:rPr lang="en-US" sz="2800" smtClean="0"/>
              <a:t>                  glycerol, fatty acids.</a:t>
            </a:r>
          </a:p>
          <a:p>
            <a:pPr eaLnBrk="1" hangingPunct="1"/>
            <a:endParaRPr lang="en-US" sz="2800" smtClean="0"/>
          </a:p>
          <a:p>
            <a:pPr eaLnBrk="1" hangingPunct="1"/>
            <a:r>
              <a:rPr lang="en-US" sz="2800" smtClean="0"/>
              <a:t>Catabolic reactions		ATP	        Anabolic </a:t>
            </a:r>
          </a:p>
          <a:p>
            <a:pPr eaLnBrk="1" hangingPunct="1"/>
            <a:r>
              <a:rPr lang="en-US" sz="2800" smtClean="0"/>
              <a:t>Transfer energy from			reactions</a:t>
            </a:r>
          </a:p>
          <a:p>
            <a:pPr eaLnBrk="1" hangingPunct="1"/>
            <a:r>
              <a:rPr lang="en-US" sz="2800" smtClean="0"/>
              <a:t>Complex molecules 	    ADP+(P)         transfer </a:t>
            </a:r>
          </a:p>
          <a:p>
            <a:pPr eaLnBrk="1" hangingPunct="1"/>
            <a:r>
              <a:rPr lang="en-US" sz="2800" smtClean="0"/>
              <a:t>to ATP						energy from</a:t>
            </a:r>
          </a:p>
          <a:p>
            <a:pPr eaLnBrk="1" hangingPunct="1"/>
            <a:r>
              <a:rPr lang="en-US" sz="2800" smtClean="0"/>
              <a:t>                                                              ATP </a:t>
            </a:r>
          </a:p>
          <a:p>
            <a:pPr eaLnBrk="1" hangingPunct="1"/>
            <a:r>
              <a:rPr lang="en-US" sz="2800" smtClean="0"/>
              <a:t>               </a:t>
            </a:r>
          </a:p>
          <a:p>
            <a:pPr eaLnBrk="1" hangingPunct="1"/>
            <a:r>
              <a:rPr lang="en-US" sz="2800" smtClean="0"/>
              <a:t>              Complex molecules eg          energy released</a:t>
            </a:r>
          </a:p>
          <a:p>
            <a:pPr eaLnBrk="1" hangingPunct="1"/>
            <a:r>
              <a:rPr lang="en-US" sz="2800" smtClean="0"/>
              <a:t>                starch proteins and lipids</a:t>
            </a:r>
          </a:p>
        </p:txBody>
      </p:sp>
      <p:sp>
        <p:nvSpPr>
          <p:cNvPr id="17411" name="AutoShape 4"/>
          <p:cNvSpPr>
            <a:spLocks noChangeArrowheads="1"/>
          </p:cNvSpPr>
          <p:nvPr/>
        </p:nvSpPr>
        <p:spPr bwMode="auto">
          <a:xfrm>
            <a:off x="6553200" y="5105400"/>
            <a:ext cx="914400" cy="685800"/>
          </a:xfrm>
          <a:custGeom>
            <a:avLst/>
            <a:gdLst>
              <a:gd name="T0" fmla="*/ 819277381 w 21600"/>
              <a:gd name="T1" fmla="*/ 0 h 21600"/>
              <a:gd name="T2" fmla="*/ 204838311 w 21600"/>
              <a:gd name="T3" fmla="*/ 345664538 h 21600"/>
              <a:gd name="T4" fmla="*/ 819277381 w 21600"/>
              <a:gd name="T5" fmla="*/ 172832269 h 21600"/>
              <a:gd name="T6" fmla="*/ 1843544203 w 21600"/>
              <a:gd name="T7" fmla="*/ 345664538 h 21600"/>
              <a:gd name="T8" fmla="*/ 1433867412 w 21600"/>
              <a:gd name="T9" fmla="*/ 518496743 h 21600"/>
              <a:gd name="T10" fmla="*/ 1024190960 w 21600"/>
              <a:gd name="T11" fmla="*/ 345664538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7412" name="Arc 7"/>
          <p:cNvSpPr>
            <a:spLocks/>
          </p:cNvSpPr>
          <p:nvPr/>
        </p:nvSpPr>
        <p:spPr bwMode="auto">
          <a:xfrm>
            <a:off x="5715000" y="1524000"/>
            <a:ext cx="685800" cy="1066800"/>
          </a:xfrm>
          <a:custGeom>
            <a:avLst/>
            <a:gdLst>
              <a:gd name="T0" fmla="*/ 0 w 21600"/>
              <a:gd name="T1" fmla="*/ 0 h 21600"/>
              <a:gd name="T2" fmla="*/ 691329076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en-US"/>
          </a:p>
        </p:txBody>
      </p:sp>
      <p:sp>
        <p:nvSpPr>
          <p:cNvPr id="17413" name="Line 8"/>
          <p:cNvSpPr>
            <a:spLocks noChangeShapeType="1"/>
          </p:cNvSpPr>
          <p:nvPr/>
        </p:nvSpPr>
        <p:spPr bwMode="auto">
          <a:xfrm flipH="1">
            <a:off x="5562600" y="4800600"/>
            <a:ext cx="914400" cy="1066800"/>
          </a:xfrm>
          <a:prstGeom prst="line">
            <a:avLst/>
          </a:prstGeom>
          <a:noFill/>
          <a:ln w="9525">
            <a:solidFill>
              <a:schemeClr val="tx1"/>
            </a:solidFill>
            <a:round/>
            <a:headEnd/>
            <a:tailEnd type="triangle" w="med" len="med"/>
          </a:ln>
        </p:spPr>
        <p:txBody>
          <a:bodyPr/>
          <a:lstStyle/>
          <a:p>
            <a:endParaRPr lang="en-US"/>
          </a:p>
        </p:txBody>
      </p:sp>
      <p:sp>
        <p:nvSpPr>
          <p:cNvPr id="17414" name="Line 9"/>
          <p:cNvSpPr>
            <a:spLocks noChangeShapeType="1"/>
          </p:cNvSpPr>
          <p:nvPr/>
        </p:nvSpPr>
        <p:spPr bwMode="auto">
          <a:xfrm flipH="1" flipV="1">
            <a:off x="1066800" y="4648200"/>
            <a:ext cx="685800" cy="990600"/>
          </a:xfrm>
          <a:prstGeom prst="line">
            <a:avLst/>
          </a:prstGeom>
          <a:noFill/>
          <a:ln w="9525">
            <a:solidFill>
              <a:schemeClr val="tx1"/>
            </a:solidFill>
            <a:round/>
            <a:headEnd/>
            <a:tailEnd type="triangle" w="med" len="med"/>
          </a:ln>
        </p:spPr>
        <p:txBody>
          <a:bodyPr/>
          <a:lstStyle/>
          <a:p>
            <a:endParaRPr lang="en-US"/>
          </a:p>
        </p:txBody>
      </p:sp>
      <p:sp>
        <p:nvSpPr>
          <p:cNvPr id="17415" name="Line 11"/>
          <p:cNvSpPr>
            <a:spLocks noChangeShapeType="1"/>
          </p:cNvSpPr>
          <p:nvPr/>
        </p:nvSpPr>
        <p:spPr bwMode="auto">
          <a:xfrm flipV="1">
            <a:off x="533400" y="1600200"/>
            <a:ext cx="1676400" cy="762000"/>
          </a:xfrm>
          <a:prstGeom prst="line">
            <a:avLst/>
          </a:prstGeom>
          <a:noFill/>
          <a:ln w="9525">
            <a:solidFill>
              <a:schemeClr val="tx1"/>
            </a:solidFill>
            <a:round/>
            <a:headEnd/>
            <a:tailEnd type="triangle" w="med" len="med"/>
          </a:ln>
        </p:spPr>
        <p:txBody>
          <a:bodyPr/>
          <a:lstStyle/>
          <a:p>
            <a:endParaRPr lang="en-US"/>
          </a:p>
        </p:txBody>
      </p:sp>
      <p:sp>
        <p:nvSpPr>
          <p:cNvPr id="17416" name="Line 12"/>
          <p:cNvSpPr>
            <a:spLocks noChangeShapeType="1"/>
          </p:cNvSpPr>
          <p:nvPr/>
        </p:nvSpPr>
        <p:spPr bwMode="auto">
          <a:xfrm>
            <a:off x="6400800" y="2514600"/>
            <a:ext cx="0" cy="76200"/>
          </a:xfrm>
          <a:prstGeom prst="line">
            <a:avLst/>
          </a:prstGeom>
          <a:noFill/>
          <a:ln w="9525">
            <a:solidFill>
              <a:schemeClr val="tx1"/>
            </a:solidFill>
            <a:round/>
            <a:headEnd/>
            <a:tailEnd type="triangle" w="med" len="med"/>
          </a:ln>
        </p:spPr>
        <p:txBody>
          <a:bodyPr/>
          <a:lstStyle/>
          <a:p>
            <a:endParaRPr lang="en-US"/>
          </a:p>
        </p:txBody>
      </p:sp>
      <p:sp>
        <p:nvSpPr>
          <p:cNvPr id="17417" name="AutoShape 14"/>
          <p:cNvSpPr>
            <a:spLocks noChangeArrowheads="1"/>
          </p:cNvSpPr>
          <p:nvPr/>
        </p:nvSpPr>
        <p:spPr bwMode="auto">
          <a:xfrm>
            <a:off x="533400" y="1828800"/>
            <a:ext cx="76200" cy="76200"/>
          </a:xfrm>
          <a:custGeom>
            <a:avLst/>
            <a:gdLst>
              <a:gd name="T0" fmla="*/ 474112 w 21600"/>
              <a:gd name="T1" fmla="*/ 0 h 21600"/>
              <a:gd name="T2" fmla="*/ 118540 w 21600"/>
              <a:gd name="T3" fmla="*/ 474162 h 21600"/>
              <a:gd name="T4" fmla="*/ 474112 w 21600"/>
              <a:gd name="T5" fmla="*/ 237081 h 21600"/>
              <a:gd name="T6" fmla="*/ 1066867 w 21600"/>
              <a:gd name="T7" fmla="*/ 474162 h 21600"/>
              <a:gd name="T8" fmla="*/ 829786 w 21600"/>
              <a:gd name="T9" fmla="*/ 711242 h 21600"/>
              <a:gd name="T10" fmla="*/ 592702 w 21600"/>
              <a:gd name="T11" fmla="*/ 474162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7418" name="AutoShape 15"/>
          <p:cNvSpPr>
            <a:spLocks noChangeArrowheads="1"/>
          </p:cNvSpPr>
          <p:nvPr/>
        </p:nvSpPr>
        <p:spPr bwMode="auto">
          <a:xfrm>
            <a:off x="533400" y="1676400"/>
            <a:ext cx="1295400" cy="228600"/>
          </a:xfrm>
          <a:prstGeom prst="curvedUpArrow">
            <a:avLst>
              <a:gd name="adj1" fmla="val 113333"/>
              <a:gd name="adj2" fmla="val 226667"/>
              <a:gd name="adj3" fmla="val 33333"/>
            </a:avLst>
          </a:prstGeom>
          <a:solidFill>
            <a:schemeClr val="accent1"/>
          </a:solidFill>
          <a:ln w="9525">
            <a:solidFill>
              <a:schemeClr val="tx1"/>
            </a:solidFill>
            <a:miter lim="800000"/>
            <a:headEnd/>
            <a:tailEnd/>
          </a:ln>
        </p:spPr>
        <p:txBody>
          <a:bodyPr wrap="none" anchor="ctr"/>
          <a:lstStyle/>
          <a:p>
            <a:endParaRPr lang="en-US"/>
          </a:p>
        </p:txBody>
      </p:sp>
      <p:sp>
        <p:nvSpPr>
          <p:cNvPr id="17420" name="Arc 17"/>
          <p:cNvSpPr>
            <a:spLocks/>
          </p:cNvSpPr>
          <p:nvPr/>
        </p:nvSpPr>
        <p:spPr bwMode="auto">
          <a:xfrm>
            <a:off x="5486400" y="2743200"/>
            <a:ext cx="381000" cy="762000"/>
          </a:xfrm>
          <a:custGeom>
            <a:avLst/>
            <a:gdLst>
              <a:gd name="T0" fmla="*/ 0 w 21600"/>
              <a:gd name="T1" fmla="*/ 0 h 21600"/>
              <a:gd name="T2" fmla="*/ 118540664 w 21600"/>
              <a:gd name="T3" fmla="*/ 948325308 h 21600"/>
              <a:gd name="T4" fmla="*/ 0 w 21600"/>
              <a:gd name="T5" fmla="*/ 94832530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en-US"/>
          </a:p>
        </p:txBody>
      </p:sp>
      <p:sp>
        <p:nvSpPr>
          <p:cNvPr id="17421" name="Arc 18"/>
          <p:cNvSpPr>
            <a:spLocks/>
          </p:cNvSpPr>
          <p:nvPr/>
        </p:nvSpPr>
        <p:spPr bwMode="auto">
          <a:xfrm flipH="1" flipV="1">
            <a:off x="4495800" y="2895600"/>
            <a:ext cx="152400" cy="762000"/>
          </a:xfrm>
          <a:custGeom>
            <a:avLst/>
            <a:gdLst>
              <a:gd name="T0" fmla="*/ 0 w 21600"/>
              <a:gd name="T1" fmla="*/ 0 h 21600"/>
              <a:gd name="T2" fmla="*/ 7586607 w 21600"/>
              <a:gd name="T3" fmla="*/ 948325308 h 21600"/>
              <a:gd name="T4" fmla="*/ 0 w 21600"/>
              <a:gd name="T5" fmla="*/ 94832530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en-US"/>
          </a:p>
        </p:txBody>
      </p:sp>
      <p:sp>
        <p:nvSpPr>
          <p:cNvPr id="17422" name="Line 20"/>
          <p:cNvSpPr>
            <a:spLocks noChangeShapeType="1"/>
          </p:cNvSpPr>
          <p:nvPr/>
        </p:nvSpPr>
        <p:spPr bwMode="auto">
          <a:xfrm flipV="1">
            <a:off x="4495800" y="2819400"/>
            <a:ext cx="0" cy="76200"/>
          </a:xfrm>
          <a:prstGeom prst="line">
            <a:avLst/>
          </a:prstGeom>
          <a:noFill/>
          <a:ln w="9525">
            <a:solidFill>
              <a:schemeClr val="tx1"/>
            </a:solidFill>
            <a:round/>
            <a:headEnd/>
            <a:tailEnd type="triangle" w="med" len="med"/>
          </a:ln>
        </p:spPr>
        <p:txBody>
          <a:bodyPr/>
          <a:lstStyle/>
          <a:p>
            <a:endParaRPr lang="en-US"/>
          </a:p>
        </p:txBody>
      </p:sp>
      <p:sp>
        <p:nvSpPr>
          <p:cNvPr id="17423" name="Line 21"/>
          <p:cNvSpPr>
            <a:spLocks noChangeShapeType="1"/>
          </p:cNvSpPr>
          <p:nvPr/>
        </p:nvSpPr>
        <p:spPr bwMode="auto">
          <a:xfrm>
            <a:off x="5867400" y="3429000"/>
            <a:ext cx="0" cy="762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endParaRPr lang="en-US" smtClean="0"/>
          </a:p>
        </p:txBody>
      </p:sp>
      <p:sp>
        <p:nvSpPr>
          <p:cNvPr id="18435" name="Rectangle 3"/>
          <p:cNvSpPr>
            <a:spLocks noGrp="1" noChangeArrowheads="1"/>
          </p:cNvSpPr>
          <p:nvPr>
            <p:ph idx="1"/>
          </p:nvPr>
        </p:nvSpPr>
        <p:spPr/>
        <p:txBody>
          <a:bodyPr/>
          <a:lstStyle/>
          <a:p>
            <a:pPr eaLnBrk="1" hangingPunct="1"/>
            <a:r>
              <a:rPr lang="en-US" smtClean="0"/>
              <a:t>Chemicals reactions take place only when chemical bonds are formed or broken.</a:t>
            </a:r>
          </a:p>
          <a:p>
            <a:pPr eaLnBrk="1" hangingPunct="1"/>
            <a:r>
              <a:rPr lang="en-US" smtClean="0"/>
              <a:t>In order for reactions to take place atoms, ions, or molecules must collide.</a:t>
            </a:r>
          </a:p>
          <a:p>
            <a:pPr eaLnBrk="1" hangingPunct="1"/>
            <a:r>
              <a:rPr lang="en-US" smtClean="0"/>
              <a:t>The collision takes place due to energy acquired by the atoms, ions, etc.   </a:t>
            </a:r>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endParaRPr lang="en-US" smtClean="0"/>
          </a:p>
        </p:txBody>
      </p:sp>
      <p:sp>
        <p:nvSpPr>
          <p:cNvPr id="19459" name="Rectangle 3"/>
          <p:cNvSpPr>
            <a:spLocks noGrp="1" noChangeArrowheads="1"/>
          </p:cNvSpPr>
          <p:nvPr>
            <p:ph idx="1"/>
          </p:nvPr>
        </p:nvSpPr>
        <p:spPr/>
        <p:txBody>
          <a:bodyPr/>
          <a:lstStyle/>
          <a:p>
            <a:pPr eaLnBrk="1" hangingPunct="1"/>
            <a:r>
              <a:rPr lang="en-US" smtClean="0"/>
              <a:t>This energy which provides enough collision impact for a reaction to take place is called  activation energy.</a:t>
            </a:r>
          </a:p>
          <a:p>
            <a:pPr eaLnBrk="1" hangingPunct="1"/>
            <a:endParaRPr lang="en-US" smtClean="0"/>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endParaRPr lang="en-US" smtClean="0"/>
          </a:p>
        </p:txBody>
      </p:sp>
      <p:sp>
        <p:nvSpPr>
          <p:cNvPr id="20483" name="Rectangle 3"/>
          <p:cNvSpPr>
            <a:spLocks noGrp="1" noChangeArrowheads="1"/>
          </p:cNvSpPr>
          <p:nvPr>
            <p:ph idx="1"/>
          </p:nvPr>
        </p:nvSpPr>
        <p:spPr/>
        <p:txBody>
          <a:bodyPr/>
          <a:lstStyle/>
          <a:p>
            <a:pPr eaLnBrk="1" hangingPunct="1"/>
            <a:r>
              <a:rPr lang="en-US" smtClean="0"/>
              <a:t>Temperature and pressure are also required, and chemical reactions increase with increase in temperature and pressure.</a:t>
            </a:r>
          </a:p>
          <a:p>
            <a:pPr eaLnBrk="1" hangingPunct="1"/>
            <a:endParaRPr lang="en-US" smtClean="0"/>
          </a:p>
          <a:p>
            <a:pPr eaLnBrk="1" hangingPunct="1"/>
            <a:r>
              <a:rPr lang="en-US" smtClean="0"/>
              <a:t>Cells will die if temperature and pressure are increased high, so in living cells enzymes facilitate the chemical reactions.</a:t>
            </a:r>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endParaRPr lang="en-US" smtClean="0"/>
          </a:p>
        </p:txBody>
      </p:sp>
      <p:sp>
        <p:nvSpPr>
          <p:cNvPr id="21507" name="Rectangle 3"/>
          <p:cNvSpPr>
            <a:spLocks noGrp="1" noChangeArrowheads="1"/>
          </p:cNvSpPr>
          <p:nvPr>
            <p:ph idx="1"/>
          </p:nvPr>
        </p:nvSpPr>
        <p:spPr/>
        <p:txBody>
          <a:bodyPr/>
          <a:lstStyle/>
          <a:p>
            <a:pPr eaLnBrk="1" hangingPunct="1">
              <a:lnSpc>
                <a:spcPct val="90000"/>
              </a:lnSpc>
            </a:pPr>
            <a:r>
              <a:rPr lang="en-US" smtClean="0"/>
              <a:t>Enzymes therefore act as catalysts; because they are in cells and tissues, they are called biological catalysts. </a:t>
            </a:r>
          </a:p>
          <a:p>
            <a:pPr eaLnBrk="1" hangingPunct="1">
              <a:lnSpc>
                <a:spcPct val="90000"/>
              </a:lnSpc>
            </a:pPr>
            <a:endParaRPr lang="en-US" smtClean="0"/>
          </a:p>
          <a:p>
            <a:pPr eaLnBrk="1" hangingPunct="1">
              <a:lnSpc>
                <a:spcPct val="90000"/>
              </a:lnSpc>
            </a:pPr>
            <a:r>
              <a:rPr lang="en-US" smtClean="0"/>
              <a:t>Enzymes exhibit a high degree of substrate specificity.</a:t>
            </a:r>
          </a:p>
          <a:p>
            <a:pPr eaLnBrk="1" hangingPunct="1">
              <a:lnSpc>
                <a:spcPct val="90000"/>
              </a:lnSpc>
            </a:pPr>
            <a:r>
              <a:rPr lang="en-US" smtClean="0"/>
              <a:t>The enzymes a particular cell synthesizes determine which chemical reaction occurring in that cell. </a:t>
            </a:r>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endParaRPr lang="en-US" smtClean="0"/>
          </a:p>
        </p:txBody>
      </p:sp>
      <p:sp>
        <p:nvSpPr>
          <p:cNvPr id="22531" name="Rectangle 3"/>
          <p:cNvSpPr>
            <a:spLocks noGrp="1" noChangeArrowheads="1"/>
          </p:cNvSpPr>
          <p:nvPr>
            <p:ph idx="1"/>
          </p:nvPr>
        </p:nvSpPr>
        <p:spPr/>
        <p:txBody>
          <a:bodyPr/>
          <a:lstStyle/>
          <a:p>
            <a:pPr eaLnBrk="1" hangingPunct="1"/>
            <a:r>
              <a:rPr lang="en-US" smtClean="0"/>
              <a:t>During cellular metabolism coenzymes are involved to facilitate the reaction ie in the transfer of electrons and protons such as in redox-reaction.</a:t>
            </a:r>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endParaRPr lang="en-US" smtClean="0"/>
          </a:p>
        </p:txBody>
      </p:sp>
      <p:sp>
        <p:nvSpPr>
          <p:cNvPr id="24579" name="Rectangle 3"/>
          <p:cNvSpPr>
            <a:spLocks noGrp="1" noChangeArrowheads="1"/>
          </p:cNvSpPr>
          <p:nvPr>
            <p:ph idx="1"/>
          </p:nvPr>
        </p:nvSpPr>
        <p:spPr/>
        <p:txBody>
          <a:bodyPr/>
          <a:lstStyle/>
          <a:p>
            <a:pPr eaLnBrk="1" hangingPunct="1"/>
            <a:r>
              <a:rPr lang="en-US" smtClean="0"/>
              <a:t>The reduction of the oxidized coenzyme NAD</a:t>
            </a:r>
            <a:r>
              <a:rPr lang="en-US" baseline="30000" smtClean="0"/>
              <a:t>+</a:t>
            </a:r>
            <a:r>
              <a:rPr lang="en-US" smtClean="0"/>
              <a:t> to the reduced coenzyme NADH + H</a:t>
            </a:r>
            <a:r>
              <a:rPr lang="en-US" baseline="30000" smtClean="0"/>
              <a:t>+ </a:t>
            </a:r>
            <a:r>
              <a:rPr lang="en-US" smtClean="0"/>
              <a:t> often leads to oxidation of substrates within a cell.</a:t>
            </a:r>
          </a:p>
          <a:p>
            <a:pPr eaLnBrk="1" hangingPunct="1"/>
            <a:r>
              <a:rPr lang="en-US" smtClean="0"/>
              <a:t>NAD</a:t>
            </a:r>
            <a:r>
              <a:rPr lang="en-US" baseline="30000" smtClean="0"/>
              <a:t>+</a:t>
            </a:r>
            <a:r>
              <a:rPr lang="en-US" smtClean="0"/>
              <a:t> is called nicotinamide adenine dinucleotide and it is the common temporary holder of electrons and protons.</a:t>
            </a:r>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a:bodyPr>
          <a:lstStyle/>
          <a:p>
            <a:pPr eaLnBrk="1" hangingPunct="1"/>
            <a:r>
              <a:rPr lang="en-US" sz="4000" smtClean="0"/>
              <a:t>Role of metabolism in the biosynthesis &amp; growth</a:t>
            </a:r>
          </a:p>
        </p:txBody>
      </p:sp>
      <p:sp>
        <p:nvSpPr>
          <p:cNvPr id="25603" name="Rectangle 3"/>
          <p:cNvSpPr>
            <a:spLocks noGrp="1" noChangeArrowheads="1"/>
          </p:cNvSpPr>
          <p:nvPr>
            <p:ph idx="1"/>
          </p:nvPr>
        </p:nvSpPr>
        <p:spPr/>
        <p:txBody>
          <a:bodyPr/>
          <a:lstStyle/>
          <a:p>
            <a:pPr eaLnBrk="1" hangingPunct="1"/>
            <a:r>
              <a:rPr lang="en-US" smtClean="0"/>
              <a:t>Microbial growth requires the polymerization of biochemical building blocks into </a:t>
            </a:r>
          </a:p>
          <a:p>
            <a:pPr eaLnBrk="1" hangingPunct="1"/>
            <a:r>
              <a:rPr lang="en-US" smtClean="0"/>
              <a:t>proteins, </a:t>
            </a:r>
          </a:p>
          <a:p>
            <a:pPr eaLnBrk="1" hangingPunct="1"/>
            <a:r>
              <a:rPr lang="en-US" smtClean="0"/>
              <a:t>nucleic acids, </a:t>
            </a:r>
          </a:p>
          <a:p>
            <a:pPr eaLnBrk="1" hangingPunct="1"/>
            <a:r>
              <a:rPr lang="en-US" smtClean="0"/>
              <a:t>polysaccharides and </a:t>
            </a:r>
          </a:p>
          <a:p>
            <a:pPr eaLnBrk="1" hangingPunct="1"/>
            <a:r>
              <a:rPr lang="en-US" smtClean="0"/>
              <a:t>lipids.</a:t>
            </a:r>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endParaRPr lang="en-US" smtClean="0"/>
          </a:p>
        </p:txBody>
      </p:sp>
      <p:sp>
        <p:nvSpPr>
          <p:cNvPr id="26627" name="Rectangle 3"/>
          <p:cNvSpPr>
            <a:spLocks noGrp="1" noChangeArrowheads="1"/>
          </p:cNvSpPr>
          <p:nvPr>
            <p:ph idx="1"/>
          </p:nvPr>
        </p:nvSpPr>
        <p:spPr/>
        <p:txBody>
          <a:bodyPr/>
          <a:lstStyle/>
          <a:p>
            <a:pPr eaLnBrk="1" hangingPunct="1"/>
            <a:r>
              <a:rPr lang="en-US" smtClean="0"/>
              <a:t>The building blocks must come preformed in the growth medium. Or must be synthesized by the growing cells.</a:t>
            </a:r>
          </a:p>
          <a:p>
            <a:pPr eaLnBrk="1" hangingPunct="1"/>
            <a:r>
              <a:rPr lang="en-US" smtClean="0"/>
              <a:t>Coenzymes are required to catalyze the reactions. </a:t>
            </a:r>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endParaRPr lang="en-US" smtClean="0"/>
          </a:p>
        </p:txBody>
      </p:sp>
      <p:sp>
        <p:nvSpPr>
          <p:cNvPr id="27651" name="Rectangle 3"/>
          <p:cNvSpPr>
            <a:spLocks noGrp="1" noChangeArrowheads="1"/>
          </p:cNvSpPr>
          <p:nvPr>
            <p:ph idx="1"/>
          </p:nvPr>
        </p:nvSpPr>
        <p:spPr/>
        <p:txBody>
          <a:bodyPr/>
          <a:lstStyle/>
          <a:p>
            <a:pPr eaLnBrk="1" hangingPunct="1"/>
            <a:r>
              <a:rPr lang="en-US" smtClean="0"/>
              <a:t>The biosynthetic origins of building blocks and coenzymes can be traced to relatively few precursors called focal metabolites. Eg:</a:t>
            </a:r>
          </a:p>
          <a:p>
            <a:pPr eaLnBrk="1" hangingPunct="1"/>
            <a:r>
              <a:rPr lang="en-US" smtClean="0"/>
              <a:t>Glucose 6-phosphate</a:t>
            </a:r>
          </a:p>
          <a:p>
            <a:pPr eaLnBrk="1" hangingPunct="1"/>
            <a:r>
              <a:rPr lang="en-US" smtClean="0"/>
              <a:t>Phosphoenolpyruvate</a:t>
            </a:r>
          </a:p>
          <a:p>
            <a:pPr eaLnBrk="1" hangingPunct="1"/>
            <a:r>
              <a:rPr lang="en-US" smtClean="0"/>
              <a:t>Oxaloacetate</a:t>
            </a:r>
          </a:p>
          <a:p>
            <a:pPr eaLnBrk="1" hangingPunct="1"/>
            <a:r>
              <a:rPr lang="el-GR" smtClean="0"/>
              <a:t>α</a:t>
            </a:r>
            <a:r>
              <a:rPr lang="en-US" smtClean="0"/>
              <a:t>-ketoglutarate</a:t>
            </a:r>
          </a:p>
        </p:txBody>
      </p:sp>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eaLnBrk="1" hangingPunct="1"/>
            <a:r>
              <a:rPr lang="en-US" sz="4000" smtClean="0"/>
              <a:t>Products from Glucose 6-phosphate</a:t>
            </a:r>
          </a:p>
        </p:txBody>
      </p:sp>
      <p:sp>
        <p:nvSpPr>
          <p:cNvPr id="28675" name="Rectangle 3"/>
          <p:cNvSpPr>
            <a:spLocks noGrp="1" noChangeArrowheads="1"/>
          </p:cNvSpPr>
          <p:nvPr>
            <p:ph idx="1"/>
          </p:nvPr>
        </p:nvSpPr>
        <p:spPr/>
        <p:txBody>
          <a:bodyPr/>
          <a:lstStyle/>
          <a:p>
            <a:pPr eaLnBrk="1" hangingPunct="1"/>
            <a:endParaRPr lang="en-US" smtClean="0"/>
          </a:p>
        </p:txBody>
      </p:sp>
      <p:pic>
        <p:nvPicPr>
          <p:cNvPr id="28676" name="Picture 4" descr="p1"/>
          <p:cNvPicPr>
            <a:picLocks noChangeAspect="1" noChangeArrowheads="1"/>
          </p:cNvPicPr>
          <p:nvPr/>
        </p:nvPicPr>
        <p:blipFill>
          <a:blip r:embed="rId2"/>
          <a:srcRect/>
          <a:stretch>
            <a:fillRect/>
          </a:stretch>
        </p:blipFill>
        <p:spPr bwMode="auto">
          <a:xfrm>
            <a:off x="0" y="1719263"/>
            <a:ext cx="9144000" cy="5138737"/>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pPr eaLnBrk="1" hangingPunct="1"/>
            <a:r>
              <a:rPr lang="en-US" sz="4000" smtClean="0"/>
              <a:t>Biosynthetic end products formed from phosphoenolpyruvate.</a:t>
            </a:r>
          </a:p>
        </p:txBody>
      </p:sp>
      <p:sp>
        <p:nvSpPr>
          <p:cNvPr id="29699" name="Rectangle 3"/>
          <p:cNvSpPr>
            <a:spLocks noGrp="1" noChangeArrowheads="1"/>
          </p:cNvSpPr>
          <p:nvPr>
            <p:ph idx="1"/>
          </p:nvPr>
        </p:nvSpPr>
        <p:spPr/>
        <p:txBody>
          <a:bodyPr/>
          <a:lstStyle/>
          <a:p>
            <a:pPr eaLnBrk="1" hangingPunct="1"/>
            <a:endParaRPr lang="en-US" smtClean="0"/>
          </a:p>
        </p:txBody>
      </p:sp>
      <p:pic>
        <p:nvPicPr>
          <p:cNvPr id="29700" name="Picture 4" descr="p1"/>
          <p:cNvPicPr>
            <a:picLocks noChangeAspect="1" noChangeArrowheads="1"/>
          </p:cNvPicPr>
          <p:nvPr/>
        </p:nvPicPr>
        <p:blipFill>
          <a:blip r:embed="rId2"/>
          <a:srcRect/>
          <a:stretch>
            <a:fillRect/>
          </a:stretch>
        </p:blipFill>
        <p:spPr bwMode="auto">
          <a:xfrm>
            <a:off x="0" y="1524000"/>
            <a:ext cx="9144000" cy="5334000"/>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pPr eaLnBrk="1" hangingPunct="1"/>
            <a:r>
              <a:rPr lang="en-US" sz="4000" smtClean="0"/>
              <a:t>End products and intermediates from oxaloacetate</a:t>
            </a:r>
          </a:p>
        </p:txBody>
      </p:sp>
      <p:sp>
        <p:nvSpPr>
          <p:cNvPr id="30723" name="Rectangle 3"/>
          <p:cNvSpPr>
            <a:spLocks noGrp="1" noChangeArrowheads="1"/>
          </p:cNvSpPr>
          <p:nvPr>
            <p:ph idx="1"/>
          </p:nvPr>
        </p:nvSpPr>
        <p:spPr/>
        <p:txBody>
          <a:bodyPr/>
          <a:lstStyle/>
          <a:p>
            <a:pPr eaLnBrk="1" hangingPunct="1"/>
            <a:endParaRPr lang="en-US" smtClean="0"/>
          </a:p>
        </p:txBody>
      </p:sp>
      <p:pic>
        <p:nvPicPr>
          <p:cNvPr id="30724" name="Picture 4" descr="p1"/>
          <p:cNvPicPr>
            <a:picLocks noChangeAspect="1" noChangeArrowheads="1"/>
          </p:cNvPicPr>
          <p:nvPr/>
        </p:nvPicPr>
        <p:blipFill>
          <a:blip r:embed="rId2"/>
          <a:srcRect/>
          <a:stretch>
            <a:fillRect/>
          </a:stretch>
        </p:blipFill>
        <p:spPr bwMode="auto">
          <a:xfrm>
            <a:off x="0" y="1371600"/>
            <a:ext cx="9144000" cy="5486400"/>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pPr eaLnBrk="1" hangingPunct="1"/>
            <a:r>
              <a:rPr lang="en-US" sz="4000" smtClean="0"/>
              <a:t>End products formed from              </a:t>
            </a:r>
            <a:r>
              <a:rPr lang="el-GR" sz="4000" smtClean="0"/>
              <a:t>α</a:t>
            </a:r>
            <a:r>
              <a:rPr lang="en-US" sz="4000" smtClean="0"/>
              <a:t>-ketoglutarate</a:t>
            </a:r>
          </a:p>
        </p:txBody>
      </p:sp>
      <p:sp>
        <p:nvSpPr>
          <p:cNvPr id="31747" name="Rectangle 3"/>
          <p:cNvSpPr>
            <a:spLocks noGrp="1" noChangeArrowheads="1"/>
          </p:cNvSpPr>
          <p:nvPr>
            <p:ph idx="1"/>
          </p:nvPr>
        </p:nvSpPr>
        <p:spPr/>
        <p:txBody>
          <a:bodyPr/>
          <a:lstStyle/>
          <a:p>
            <a:pPr eaLnBrk="1" hangingPunct="1"/>
            <a:endParaRPr lang="en-US" smtClean="0"/>
          </a:p>
        </p:txBody>
      </p:sp>
      <p:pic>
        <p:nvPicPr>
          <p:cNvPr id="31748" name="Picture 4" descr="p1"/>
          <p:cNvPicPr>
            <a:picLocks noChangeAspect="1" noChangeArrowheads="1"/>
          </p:cNvPicPr>
          <p:nvPr/>
        </p:nvPicPr>
        <p:blipFill>
          <a:blip r:embed="rId2"/>
          <a:srcRect/>
          <a:stretch>
            <a:fillRect/>
          </a:stretch>
        </p:blipFill>
        <p:spPr bwMode="auto">
          <a:xfrm>
            <a:off x="0" y="1447800"/>
            <a:ext cx="9144000" cy="5410200"/>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eaLnBrk="1" hangingPunct="1"/>
            <a:r>
              <a:rPr lang="en-US" sz="4000" smtClean="0"/>
              <a:t>Microbial metabolism can be divided into 4 categories</a:t>
            </a:r>
          </a:p>
        </p:txBody>
      </p:sp>
      <p:sp>
        <p:nvSpPr>
          <p:cNvPr id="32771" name="Rectangle 3"/>
          <p:cNvSpPr>
            <a:spLocks noGrp="1" noChangeArrowheads="1"/>
          </p:cNvSpPr>
          <p:nvPr>
            <p:ph idx="1"/>
          </p:nvPr>
        </p:nvSpPr>
        <p:spPr/>
        <p:txBody>
          <a:bodyPr/>
          <a:lstStyle/>
          <a:p>
            <a:pPr eaLnBrk="1" hangingPunct="1">
              <a:lnSpc>
                <a:spcPct val="90000"/>
              </a:lnSpc>
            </a:pPr>
            <a:r>
              <a:rPr lang="en-US" smtClean="0"/>
              <a:t>1. pathways for the interconversion of focal metabolites</a:t>
            </a:r>
          </a:p>
          <a:p>
            <a:pPr eaLnBrk="1" hangingPunct="1">
              <a:lnSpc>
                <a:spcPct val="90000"/>
              </a:lnSpc>
            </a:pPr>
            <a:r>
              <a:rPr lang="en-US" smtClean="0"/>
              <a:t>2. assimilatory pathways for the formation of focal metabolites.</a:t>
            </a:r>
          </a:p>
          <a:p>
            <a:pPr eaLnBrk="1" hangingPunct="1">
              <a:lnSpc>
                <a:spcPct val="90000"/>
              </a:lnSpc>
            </a:pPr>
            <a:r>
              <a:rPr lang="en-US" smtClean="0"/>
              <a:t>3. biosynthetic sequences for the conversion of focal metabolites to end products</a:t>
            </a:r>
          </a:p>
          <a:p>
            <a:pPr eaLnBrk="1" hangingPunct="1">
              <a:lnSpc>
                <a:spcPct val="90000"/>
              </a:lnSpc>
            </a:pPr>
            <a:r>
              <a:rPr lang="en-US" smtClean="0"/>
              <a:t>4. pathways that yield metabolic energy for growth and maintenance.</a:t>
            </a:r>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endParaRPr lang="en-US" smtClean="0"/>
          </a:p>
        </p:txBody>
      </p:sp>
      <p:sp>
        <p:nvSpPr>
          <p:cNvPr id="33795" name="Rectangle 3"/>
          <p:cNvSpPr>
            <a:spLocks noGrp="1" noChangeArrowheads="1"/>
          </p:cNvSpPr>
          <p:nvPr>
            <p:ph idx="1"/>
          </p:nvPr>
        </p:nvSpPr>
        <p:spPr>
          <a:xfrm>
            <a:off x="457200" y="381000"/>
            <a:ext cx="8229600" cy="5745163"/>
          </a:xfrm>
        </p:spPr>
        <p:txBody>
          <a:bodyPr/>
          <a:lstStyle/>
          <a:p>
            <a:pPr eaLnBrk="1" hangingPunct="1">
              <a:lnSpc>
                <a:spcPct val="90000"/>
              </a:lnSpc>
            </a:pPr>
            <a:r>
              <a:rPr lang="en-US" dirty="0" smtClean="0"/>
              <a:t>When provided with building blocks and a source of metabolic energy a cell synthesizes macromolecules.</a:t>
            </a:r>
          </a:p>
          <a:p>
            <a:pPr eaLnBrk="1" hangingPunct="1">
              <a:lnSpc>
                <a:spcPct val="90000"/>
              </a:lnSpc>
            </a:pPr>
            <a:r>
              <a:rPr lang="en-US" dirty="0" smtClean="0"/>
              <a:t>The sequence of constructing building blocks within a macromolecule is done in 2 ways:</a:t>
            </a:r>
          </a:p>
          <a:p>
            <a:pPr eaLnBrk="1" hangingPunct="1">
              <a:lnSpc>
                <a:spcPct val="90000"/>
              </a:lnSpc>
            </a:pPr>
            <a:r>
              <a:rPr lang="en-US" dirty="0" smtClean="0"/>
              <a:t>1. nucleic acid and proteins are </a:t>
            </a:r>
            <a:r>
              <a:rPr lang="en-US" b="1" dirty="0" smtClean="0"/>
              <a:t>template directed</a:t>
            </a:r>
            <a:r>
              <a:rPr lang="en-US" dirty="0" smtClean="0"/>
              <a:t>. DNA serves as the template for the synthesis of itself and for the synthesis of various types of RNA; messenger RNA serves the template for the synthesis of proteins.   </a:t>
            </a:r>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endParaRPr lang="en-US" smtClean="0"/>
          </a:p>
        </p:txBody>
      </p:sp>
      <p:sp>
        <p:nvSpPr>
          <p:cNvPr id="34819" name="Rectangle 3"/>
          <p:cNvSpPr>
            <a:spLocks noGrp="1" noChangeArrowheads="1"/>
          </p:cNvSpPr>
          <p:nvPr>
            <p:ph idx="1"/>
          </p:nvPr>
        </p:nvSpPr>
        <p:spPr/>
        <p:txBody>
          <a:bodyPr/>
          <a:lstStyle/>
          <a:p>
            <a:pPr eaLnBrk="1" hangingPunct="1"/>
            <a:r>
              <a:rPr lang="en-US" smtClean="0"/>
              <a:t>2. in carbohydrates and lipids the arrangement of building blocks is determined entirely by enzymes.</a:t>
            </a:r>
          </a:p>
        </p:txBody>
      </p:sp>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smtClean="0"/>
              <a:t>Microbial nutrition</a:t>
            </a:r>
            <a:endParaRPr lang="en-US" smtClean="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 calcmode="lin" valueType="num">
                                      <p:cBhvr>
                                        <p:cTn id="7" dur="1000" fill="hold"/>
                                        <p:tgtEl>
                                          <p:spTgt spid="35842"/>
                                        </p:tgtEl>
                                        <p:attrNameLst>
                                          <p:attrName>ppt_x</p:attrName>
                                        </p:attrNameLst>
                                      </p:cBhvr>
                                      <p:tavLst>
                                        <p:tav tm="0">
                                          <p:val>
                                            <p:strVal val="#ppt_x-.2"/>
                                          </p:val>
                                        </p:tav>
                                        <p:tav tm="100000">
                                          <p:val>
                                            <p:strVal val="#ppt_x"/>
                                          </p:val>
                                        </p:tav>
                                      </p:tavLst>
                                    </p:anim>
                                    <p:anim calcmode="lin" valueType="num">
                                      <p:cBhvr>
                                        <p:cTn id="8" dur="1000" fill="hold"/>
                                        <p:tgtEl>
                                          <p:spTgt spid="35842"/>
                                        </p:tgtEl>
                                        <p:attrNameLst>
                                          <p:attrName>ppt_y</p:attrName>
                                        </p:attrNameLst>
                                      </p:cBhvr>
                                      <p:tavLst>
                                        <p:tav tm="0">
                                          <p:val>
                                            <p:strVal val="#ppt_y"/>
                                          </p:val>
                                        </p:tav>
                                        <p:tav tm="100000">
                                          <p:val>
                                            <p:strVal val="#ppt_y"/>
                                          </p:val>
                                        </p:tav>
                                      </p:tavLst>
                                    </p:anim>
                                    <p:animEffect transition="in" filter="wipe(right)" prLst="gradientSize: 0.1">
                                      <p:cBhvr>
                                        <p:cTn id="9" dur="10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GB" smtClean="0"/>
              <a:t>Nutrients</a:t>
            </a:r>
          </a:p>
        </p:txBody>
      </p:sp>
      <p:sp>
        <p:nvSpPr>
          <p:cNvPr id="36867" name="Rectangle 3"/>
          <p:cNvSpPr>
            <a:spLocks noGrp="1" noChangeArrowheads="1"/>
          </p:cNvSpPr>
          <p:nvPr>
            <p:ph idx="1"/>
          </p:nvPr>
        </p:nvSpPr>
        <p:spPr/>
        <p:txBody>
          <a:bodyPr/>
          <a:lstStyle/>
          <a:p>
            <a:pPr eaLnBrk="1" hangingPunct="1"/>
            <a:r>
              <a:rPr lang="en-GB" dirty="0" smtClean="0"/>
              <a:t>Nutrients in growth media must contain all elements necessary for biologic synthesis of new organisms</a:t>
            </a:r>
          </a:p>
          <a:p>
            <a:pPr eaLnBrk="1" hangingPunct="1"/>
            <a:r>
              <a:rPr lang="en-GB" dirty="0" smtClean="0"/>
              <a:t>The microorganisms have developed diff metabolic pathways to break down organic molecules into its constituents…NH</a:t>
            </a:r>
            <a:r>
              <a:rPr lang="en-GB" baseline="-25000" dirty="0" smtClean="0"/>
              <a:t>4</a:t>
            </a:r>
            <a:r>
              <a:rPr lang="en-GB" baseline="30000" dirty="0" smtClean="0"/>
              <a:t>+</a:t>
            </a:r>
            <a:r>
              <a:rPr lang="en-GB" dirty="0" smtClean="0"/>
              <a:t>, CO</a:t>
            </a:r>
            <a:r>
              <a:rPr lang="en-GB" baseline="-25000" dirty="0" smtClean="0"/>
              <a:t>2</a:t>
            </a:r>
            <a:r>
              <a:rPr lang="en-GB" dirty="0" smtClean="0"/>
              <a:t>, SO</a:t>
            </a:r>
            <a:r>
              <a:rPr lang="en-GB" baseline="-25000" dirty="0" smtClean="0"/>
              <a:t>4</a:t>
            </a:r>
            <a:r>
              <a:rPr lang="en-GB" baseline="30000" dirty="0" smtClean="0"/>
              <a:t>-</a:t>
            </a:r>
            <a:r>
              <a:rPr lang="en-GB" dirty="0" smtClean="0"/>
              <a:t>, PO</a:t>
            </a:r>
            <a:r>
              <a:rPr lang="en-GB" baseline="-25000" dirty="0" smtClean="0"/>
              <a:t>4</a:t>
            </a:r>
            <a:r>
              <a:rPr lang="en-GB" baseline="30000" dirty="0" smtClean="0"/>
              <a:t>-</a:t>
            </a:r>
            <a:r>
              <a:rPr lang="en-GB" dirty="0" smtClean="0"/>
              <a:t> etc. Some utilize inorganic materials to obtain energy.</a:t>
            </a:r>
          </a:p>
        </p:txBody>
      </p:sp>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GB" smtClean="0"/>
              <a:t>Carbon</a:t>
            </a:r>
          </a:p>
        </p:txBody>
      </p:sp>
      <p:sp>
        <p:nvSpPr>
          <p:cNvPr id="37891" name="Rectangle 3"/>
          <p:cNvSpPr>
            <a:spLocks noGrp="1" noChangeArrowheads="1"/>
          </p:cNvSpPr>
          <p:nvPr>
            <p:ph idx="1"/>
          </p:nvPr>
        </p:nvSpPr>
        <p:spPr/>
        <p:txBody>
          <a:bodyPr/>
          <a:lstStyle/>
          <a:p>
            <a:pPr eaLnBrk="1" hangingPunct="1"/>
            <a:r>
              <a:rPr lang="en-GB" dirty="0" smtClean="0"/>
              <a:t>Bacteria which are able to use CO</a:t>
            </a:r>
            <a:r>
              <a:rPr lang="en-GB" baseline="-25000" dirty="0" smtClean="0"/>
              <a:t>2</a:t>
            </a:r>
            <a:r>
              <a:rPr lang="en-GB" dirty="0" smtClean="0"/>
              <a:t> and H</a:t>
            </a:r>
            <a:r>
              <a:rPr lang="en-GB" baseline="-25000" dirty="0" smtClean="0"/>
              <a:t>2</a:t>
            </a:r>
            <a:r>
              <a:rPr lang="en-GB" dirty="0" smtClean="0"/>
              <a:t>O and light are called </a:t>
            </a:r>
            <a:r>
              <a:rPr lang="en-GB" dirty="0" err="1" smtClean="0"/>
              <a:t>autotrophs</a:t>
            </a:r>
            <a:r>
              <a:rPr lang="en-GB" dirty="0" smtClean="0"/>
              <a:t>. </a:t>
            </a:r>
            <a:r>
              <a:rPr lang="en-GB" dirty="0" err="1" smtClean="0"/>
              <a:t>Eg</a:t>
            </a:r>
            <a:r>
              <a:rPr lang="en-GB" dirty="0" smtClean="0"/>
              <a:t> in photosynthesis.</a:t>
            </a:r>
          </a:p>
          <a:p>
            <a:pPr eaLnBrk="1" hangingPunct="1"/>
            <a:endParaRPr lang="en-GB" dirty="0" smtClean="0"/>
          </a:p>
          <a:p>
            <a:pPr eaLnBrk="1" hangingPunct="1"/>
            <a:r>
              <a:rPr lang="en-GB" dirty="0" smtClean="0"/>
              <a:t>Those that use inorganic substances like Hydrogen, sulphur, carbon dioxide are called </a:t>
            </a:r>
            <a:r>
              <a:rPr lang="en-GB" dirty="0" err="1" smtClean="0"/>
              <a:t>chemolitotrophs</a:t>
            </a:r>
            <a:r>
              <a:rPr lang="en-GB" dirty="0" smtClean="0"/>
              <a:t>.</a:t>
            </a:r>
          </a:p>
        </p:txBody>
      </p:sp>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endParaRPr lang="en-GB" dirty="0" smtClean="0"/>
          </a:p>
        </p:txBody>
      </p:sp>
      <p:sp>
        <p:nvSpPr>
          <p:cNvPr id="38915" name="Rectangle 3"/>
          <p:cNvSpPr>
            <a:spLocks noGrp="1" noChangeArrowheads="1"/>
          </p:cNvSpPr>
          <p:nvPr>
            <p:ph idx="1"/>
          </p:nvPr>
        </p:nvSpPr>
        <p:spPr/>
        <p:txBody>
          <a:bodyPr/>
          <a:lstStyle/>
          <a:p>
            <a:pPr eaLnBrk="1" hangingPunct="1"/>
            <a:r>
              <a:rPr lang="en-GB" dirty="0" err="1" smtClean="0"/>
              <a:t>Heterotrouphs</a:t>
            </a:r>
            <a:r>
              <a:rPr lang="en-GB" dirty="0" smtClean="0"/>
              <a:t> are organisms which require organic carbon for growth.</a:t>
            </a:r>
          </a:p>
          <a:p>
            <a:pPr eaLnBrk="1" hangingPunct="1"/>
            <a:endParaRPr lang="en-GB" dirty="0" smtClean="0"/>
          </a:p>
          <a:p>
            <a:pPr eaLnBrk="1" hangingPunct="1"/>
            <a:r>
              <a:rPr lang="en-GB" dirty="0" smtClean="0"/>
              <a:t>Glucose can provide the carbon and energy needs for many types of bacteria but the level that will support the growth of one will inhibit the growth of others.</a:t>
            </a:r>
          </a:p>
        </p:txBody>
      </p:sp>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GB" smtClean="0"/>
              <a:t>Nitrogen</a:t>
            </a:r>
          </a:p>
        </p:txBody>
      </p:sp>
      <p:sp>
        <p:nvSpPr>
          <p:cNvPr id="39939" name="Rectangle 3"/>
          <p:cNvSpPr>
            <a:spLocks noGrp="1" noChangeArrowheads="1"/>
          </p:cNvSpPr>
          <p:nvPr>
            <p:ph idx="1"/>
          </p:nvPr>
        </p:nvSpPr>
        <p:spPr/>
        <p:txBody>
          <a:bodyPr/>
          <a:lstStyle/>
          <a:p>
            <a:pPr eaLnBrk="1" hangingPunct="1"/>
            <a:r>
              <a:rPr lang="en-GB" smtClean="0"/>
              <a:t>Nitrogen is a major component of proteins and nucleic acids.</a:t>
            </a:r>
          </a:p>
          <a:p>
            <a:pPr eaLnBrk="1" hangingPunct="1"/>
            <a:endParaRPr lang="en-GB" smtClean="0"/>
          </a:p>
          <a:p>
            <a:pPr eaLnBrk="1" hangingPunct="1"/>
            <a:r>
              <a:rPr lang="en-GB" smtClean="0"/>
              <a:t>Many organisms are able to assimilate nitrate (NO</a:t>
            </a:r>
            <a:r>
              <a:rPr lang="en-GB" baseline="-25000" smtClean="0"/>
              <a:t>3</a:t>
            </a:r>
            <a:r>
              <a:rPr lang="en-GB" smtClean="0"/>
              <a:t>) and Nitrite (NO</a:t>
            </a:r>
            <a:r>
              <a:rPr lang="en-GB" baseline="-25000" smtClean="0"/>
              <a:t>2</a:t>
            </a:r>
            <a:r>
              <a:rPr lang="en-GB" smtClean="0"/>
              <a:t>) by converting these ions into ammonia (NH</a:t>
            </a:r>
            <a:r>
              <a:rPr lang="en-GB" baseline="-25000" smtClean="0"/>
              <a:t>3</a:t>
            </a:r>
            <a:r>
              <a:rPr lang="en-GB" smtClean="0"/>
              <a:t>)</a:t>
            </a:r>
          </a:p>
        </p:txBody>
      </p:sp>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endParaRPr lang="en-US" smtClean="0"/>
          </a:p>
        </p:txBody>
      </p:sp>
      <p:sp>
        <p:nvSpPr>
          <p:cNvPr id="40963" name="Rectangle 3"/>
          <p:cNvSpPr>
            <a:spLocks noGrp="1" noChangeArrowheads="1"/>
          </p:cNvSpPr>
          <p:nvPr>
            <p:ph idx="1"/>
          </p:nvPr>
        </p:nvSpPr>
        <p:spPr/>
        <p:txBody>
          <a:bodyPr/>
          <a:lstStyle/>
          <a:p>
            <a:pPr eaLnBrk="1" hangingPunct="1"/>
            <a:r>
              <a:rPr lang="en-GB" smtClean="0"/>
              <a:t>The ability to assimilate N</a:t>
            </a:r>
            <a:r>
              <a:rPr lang="en-GB" baseline="-25000" smtClean="0"/>
              <a:t>2</a:t>
            </a:r>
            <a:r>
              <a:rPr lang="en-GB" smtClean="0"/>
              <a:t> via NH</a:t>
            </a:r>
            <a:r>
              <a:rPr lang="en-GB" baseline="-25000" smtClean="0"/>
              <a:t>3</a:t>
            </a:r>
            <a:r>
              <a:rPr lang="en-GB" smtClean="0"/>
              <a:t> is called nitrogen fixation. Some organisms can utilise ammonia as a sole nitrogen source.</a:t>
            </a:r>
          </a:p>
        </p:txBody>
      </p:sp>
    </p:spTree>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GB" smtClean="0"/>
              <a:t>Sulphur </a:t>
            </a:r>
          </a:p>
        </p:txBody>
      </p:sp>
      <p:sp>
        <p:nvSpPr>
          <p:cNvPr id="41987" name="Rectangle 3"/>
          <p:cNvSpPr>
            <a:spLocks noGrp="1" noChangeArrowheads="1"/>
          </p:cNvSpPr>
          <p:nvPr>
            <p:ph idx="1"/>
          </p:nvPr>
        </p:nvSpPr>
        <p:spPr/>
        <p:txBody>
          <a:bodyPr/>
          <a:lstStyle/>
          <a:p>
            <a:pPr eaLnBrk="1" hangingPunct="1"/>
            <a:r>
              <a:rPr lang="en-GB" smtClean="0"/>
              <a:t>It is a major component of many organic cells. It forms part of the structure of coenzymes and proteins. Many bacteria can use sulphate (SO</a:t>
            </a:r>
            <a:r>
              <a:rPr lang="en-GB" baseline="-25000" smtClean="0"/>
              <a:t>4</a:t>
            </a:r>
            <a:r>
              <a:rPr lang="en-GB" baseline="30000" smtClean="0"/>
              <a:t>2-</a:t>
            </a:r>
            <a:r>
              <a:rPr lang="en-GB" smtClean="0"/>
              <a:t> )as sulphur source reducing the sulphate to sulphite then to hydrogen sulphide (H</a:t>
            </a:r>
            <a:r>
              <a:rPr lang="en-GB" baseline="-25000" smtClean="0"/>
              <a:t>2</a:t>
            </a:r>
            <a:r>
              <a:rPr lang="en-GB" smtClean="0"/>
              <a:t>S). Some assimilate H</a:t>
            </a:r>
            <a:r>
              <a:rPr lang="en-GB" baseline="-25000" smtClean="0"/>
              <a:t>2</a:t>
            </a:r>
            <a:r>
              <a:rPr lang="en-GB" smtClean="0"/>
              <a:t>S directly from growth medium.</a:t>
            </a:r>
          </a:p>
        </p:txBody>
      </p:sp>
    </p:spTree>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GB" smtClean="0"/>
              <a:t>Phosphorus</a:t>
            </a:r>
          </a:p>
        </p:txBody>
      </p:sp>
      <p:sp>
        <p:nvSpPr>
          <p:cNvPr id="43011" name="Rectangle 3"/>
          <p:cNvSpPr>
            <a:spLocks noGrp="1" noChangeArrowheads="1"/>
          </p:cNvSpPr>
          <p:nvPr>
            <p:ph idx="1"/>
          </p:nvPr>
        </p:nvSpPr>
        <p:spPr/>
        <p:txBody>
          <a:bodyPr/>
          <a:lstStyle/>
          <a:p>
            <a:pPr eaLnBrk="1" hangingPunct="1"/>
            <a:r>
              <a:rPr lang="en-GB" smtClean="0"/>
              <a:t>Phosphate PO</a:t>
            </a:r>
            <a:r>
              <a:rPr lang="en-GB" baseline="-25000" smtClean="0"/>
              <a:t>4</a:t>
            </a:r>
            <a:r>
              <a:rPr lang="en-GB" baseline="30000" smtClean="0"/>
              <a:t>3-</a:t>
            </a:r>
            <a:r>
              <a:rPr lang="en-GB" smtClean="0"/>
              <a:t> is required as a component of ATP, nucleic acids and coenzymes such as NAD and NADP and flavins.</a:t>
            </a:r>
          </a:p>
          <a:p>
            <a:pPr eaLnBrk="1" hangingPunct="1"/>
            <a:endParaRPr lang="en-GB" smtClean="0"/>
          </a:p>
          <a:p>
            <a:pPr eaLnBrk="1" hangingPunct="1"/>
            <a:r>
              <a:rPr lang="en-GB" smtClean="0"/>
              <a:t>Phosphate is assimilated as free inorganic phosphate (Pi) </a:t>
            </a:r>
          </a:p>
          <a:p>
            <a:pPr eaLnBrk="1" hangingPunct="1"/>
            <a:endParaRPr lang="en-GB" smtClean="0"/>
          </a:p>
          <a:p>
            <a:pPr eaLnBrk="1" hangingPunct="1"/>
            <a:endParaRPr lang="en-GB" smtClean="0"/>
          </a:p>
        </p:txBody>
      </p:sp>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GB" smtClean="0"/>
              <a:t>Minerals ie  trace elements</a:t>
            </a:r>
          </a:p>
        </p:txBody>
      </p:sp>
      <p:sp>
        <p:nvSpPr>
          <p:cNvPr id="44035" name="Rectangle 3"/>
          <p:cNvSpPr>
            <a:spLocks noGrp="1" noChangeArrowheads="1"/>
          </p:cNvSpPr>
          <p:nvPr>
            <p:ph idx="1"/>
          </p:nvPr>
        </p:nvSpPr>
        <p:spPr/>
        <p:txBody>
          <a:bodyPr/>
          <a:lstStyle/>
          <a:p>
            <a:pPr eaLnBrk="1" hangingPunct="1"/>
            <a:r>
              <a:rPr lang="en-GB" sz="2800" smtClean="0"/>
              <a:t>Many minerals are required for enzyme function.</a:t>
            </a:r>
          </a:p>
          <a:p>
            <a:pPr eaLnBrk="1" hangingPunct="1"/>
            <a:r>
              <a:rPr lang="en-GB" sz="2800" smtClean="0"/>
              <a:t>Mg</a:t>
            </a:r>
            <a:r>
              <a:rPr lang="en-GB" sz="2800" baseline="30000" smtClean="0"/>
              <a:t>2</a:t>
            </a:r>
            <a:r>
              <a:rPr lang="en-GB" sz="2800" smtClean="0"/>
              <a:t>+ and Fe</a:t>
            </a:r>
            <a:r>
              <a:rPr lang="en-GB" sz="2800" baseline="30000" smtClean="0"/>
              <a:t>2</a:t>
            </a:r>
            <a:r>
              <a:rPr lang="en-GB" sz="2800" smtClean="0"/>
              <a:t>+ are required in porhyrin</a:t>
            </a:r>
          </a:p>
          <a:p>
            <a:pPr eaLnBrk="1" hangingPunct="1"/>
            <a:r>
              <a:rPr lang="en-GB" sz="2800" smtClean="0"/>
              <a:t>Mn2+ is required for chlorophyll</a:t>
            </a:r>
          </a:p>
          <a:p>
            <a:pPr eaLnBrk="1" hangingPunct="1"/>
            <a:r>
              <a:rPr lang="en-GB" sz="2800" smtClean="0"/>
              <a:t>Mg and K are required for ribosome function.</a:t>
            </a:r>
          </a:p>
          <a:p>
            <a:pPr eaLnBrk="1" hangingPunct="1"/>
            <a:r>
              <a:rPr lang="en-GB" sz="2800" smtClean="0"/>
              <a:t>Ca</a:t>
            </a:r>
            <a:r>
              <a:rPr lang="en-GB" sz="2800" baseline="30000" smtClean="0"/>
              <a:t>2+</a:t>
            </a:r>
            <a:r>
              <a:rPr lang="en-GB" sz="2800" smtClean="0"/>
              <a:t> for cell wall in gram positive organisms</a:t>
            </a:r>
          </a:p>
          <a:p>
            <a:pPr eaLnBrk="1" hangingPunct="1"/>
            <a:r>
              <a:rPr lang="en-GB" sz="2800" smtClean="0"/>
              <a:t>MN</a:t>
            </a:r>
            <a:r>
              <a:rPr lang="en-GB" sz="2800" baseline="30000" smtClean="0"/>
              <a:t>2+</a:t>
            </a:r>
            <a:r>
              <a:rPr lang="en-GB" sz="2800" smtClean="0"/>
              <a:t>, MO</a:t>
            </a:r>
            <a:r>
              <a:rPr lang="en-GB" sz="2800" baseline="30000" smtClean="0"/>
              <a:t>2+,</a:t>
            </a:r>
            <a:r>
              <a:rPr lang="en-GB" sz="2800" smtClean="0"/>
              <a:t> CO</a:t>
            </a:r>
            <a:r>
              <a:rPr lang="en-GB" sz="2800" baseline="30000" smtClean="0"/>
              <a:t>2+</a:t>
            </a:r>
            <a:r>
              <a:rPr lang="en-GB" sz="2800" smtClean="0"/>
              <a:t>, Cu</a:t>
            </a:r>
            <a:r>
              <a:rPr lang="en-GB" sz="2800" baseline="30000" smtClean="0"/>
              <a:t>2+</a:t>
            </a:r>
            <a:r>
              <a:rPr lang="en-GB" sz="2800" smtClean="0"/>
              <a:t>, Zn</a:t>
            </a:r>
            <a:r>
              <a:rPr lang="en-GB" sz="2800" baseline="30000" smtClean="0"/>
              <a:t>2+</a:t>
            </a:r>
            <a:r>
              <a:rPr lang="en-GB" sz="2800" smtClean="0"/>
              <a:t> are required for other metabolic functions. </a:t>
            </a:r>
          </a:p>
        </p:txBody>
      </p:sp>
    </p:spTree>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GB" smtClean="0"/>
              <a:t>Growth factors</a:t>
            </a:r>
          </a:p>
        </p:txBody>
      </p:sp>
      <p:sp>
        <p:nvSpPr>
          <p:cNvPr id="45059" name="Rectangle 3"/>
          <p:cNvSpPr>
            <a:spLocks noGrp="1" noChangeArrowheads="1"/>
          </p:cNvSpPr>
          <p:nvPr>
            <p:ph idx="1"/>
          </p:nvPr>
        </p:nvSpPr>
        <p:spPr/>
        <p:txBody>
          <a:bodyPr/>
          <a:lstStyle/>
          <a:p>
            <a:pPr eaLnBrk="1" hangingPunct="1"/>
            <a:r>
              <a:rPr lang="en-GB" smtClean="0"/>
              <a:t>A growth factor is an inorganic compound which a cell must contain in order to grow but which the cell is unable to synthesize.</a:t>
            </a:r>
          </a:p>
          <a:p>
            <a:pPr eaLnBrk="1" hangingPunct="1"/>
            <a:endParaRPr lang="en-GB" smtClean="0"/>
          </a:p>
          <a:p>
            <a:pPr eaLnBrk="1" hangingPunct="1"/>
            <a:r>
              <a:rPr lang="en-GB" smtClean="0"/>
              <a:t>When all nutrients are provided the cell must be able to synthesize amino acids, purines, pyrimidines, vitamins which serve as precursors for coenzymes.</a:t>
            </a:r>
          </a:p>
          <a:p>
            <a:pPr eaLnBrk="1" hangingPunct="1"/>
            <a:endParaRPr lang="en-GB" smtClean="0"/>
          </a:p>
        </p:txBody>
      </p:sp>
    </p:spTree>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vitamins and functions</a:t>
            </a:r>
            <a:endParaRPr lang="en-US" dirty="0"/>
          </a:p>
        </p:txBody>
      </p:sp>
      <p:sp>
        <p:nvSpPr>
          <p:cNvPr id="3" name="Content Placeholder 2"/>
          <p:cNvSpPr>
            <a:spLocks noGrp="1"/>
          </p:cNvSpPr>
          <p:nvPr>
            <p:ph idx="1"/>
          </p:nvPr>
        </p:nvSpPr>
        <p:spPr/>
        <p:txBody>
          <a:bodyPr/>
          <a:lstStyle/>
          <a:p>
            <a:r>
              <a:rPr lang="en-US" dirty="0" smtClean="0"/>
              <a:t>p-</a:t>
            </a:r>
            <a:r>
              <a:rPr lang="en-US" dirty="0" err="1" smtClean="0"/>
              <a:t>Aminobenzoic</a:t>
            </a:r>
            <a:r>
              <a:rPr lang="en-US" dirty="0" smtClean="0"/>
              <a:t> acid—precursor for folic acids and coenzymes.</a:t>
            </a:r>
          </a:p>
          <a:p>
            <a:r>
              <a:rPr lang="en-US" dirty="0" smtClean="0"/>
              <a:t>Folic acid– for carbon transfer</a:t>
            </a:r>
          </a:p>
          <a:p>
            <a:r>
              <a:rPr lang="en-US" dirty="0" smtClean="0"/>
              <a:t>Nicotinic acid—NAD and NADP </a:t>
            </a:r>
            <a:r>
              <a:rPr lang="en-US" sz="2800" dirty="0" smtClean="0"/>
              <a:t>precursors</a:t>
            </a:r>
            <a:r>
              <a:rPr lang="en-US" dirty="0" smtClean="0"/>
              <a:t> for hydrogen transfer.</a:t>
            </a:r>
          </a:p>
          <a:p>
            <a:r>
              <a:rPr lang="en-US" dirty="0" smtClean="0"/>
              <a:t>Vitamin B12 –for molecular rearrangement</a:t>
            </a:r>
          </a:p>
          <a:p>
            <a:r>
              <a:rPr lang="en-US" dirty="0" smtClean="0"/>
              <a:t>etc</a:t>
            </a:r>
            <a:endParaRPr lang="en-US" dirty="0"/>
          </a:p>
        </p:txBody>
      </p:sp>
    </p:spTree>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GB" smtClean="0"/>
              <a:t>Oxygen</a:t>
            </a:r>
          </a:p>
        </p:txBody>
      </p:sp>
      <p:sp>
        <p:nvSpPr>
          <p:cNvPr id="46083" name="Rectangle 3"/>
          <p:cNvSpPr>
            <a:spLocks noGrp="1" noChangeArrowheads="1"/>
          </p:cNvSpPr>
          <p:nvPr>
            <p:ph idx="1"/>
          </p:nvPr>
        </p:nvSpPr>
        <p:spPr/>
        <p:txBody>
          <a:bodyPr/>
          <a:lstStyle/>
          <a:p>
            <a:pPr eaLnBrk="1" hangingPunct="1"/>
            <a:r>
              <a:rPr lang="en-GB" dirty="0" smtClean="0"/>
              <a:t>Obligate aerobes ---require oxygen for growth </a:t>
            </a:r>
            <a:r>
              <a:rPr lang="en-GB" dirty="0" err="1" smtClean="0"/>
              <a:t>eg</a:t>
            </a:r>
            <a:r>
              <a:rPr lang="en-GB" dirty="0" smtClean="0"/>
              <a:t> pseudomonas.</a:t>
            </a:r>
          </a:p>
          <a:p>
            <a:pPr eaLnBrk="1" hangingPunct="1"/>
            <a:r>
              <a:rPr lang="en-GB" dirty="0" smtClean="0"/>
              <a:t>Facultative anaerobes---will grow whether there is oxygen or not </a:t>
            </a:r>
            <a:r>
              <a:rPr lang="en-GB" dirty="0" err="1" smtClean="0"/>
              <a:t>eg</a:t>
            </a:r>
            <a:r>
              <a:rPr lang="en-GB" dirty="0" smtClean="0"/>
              <a:t> </a:t>
            </a:r>
            <a:r>
              <a:rPr lang="en-GB" i="1" dirty="0" smtClean="0"/>
              <a:t>E. coli</a:t>
            </a:r>
            <a:r>
              <a:rPr lang="en-GB" dirty="0" smtClean="0"/>
              <a:t>.</a:t>
            </a:r>
          </a:p>
          <a:p>
            <a:pPr eaLnBrk="1" hangingPunct="1"/>
            <a:r>
              <a:rPr lang="en-GB" dirty="0" smtClean="0"/>
              <a:t>Obligate anaerobes ---require no oxygen </a:t>
            </a:r>
            <a:r>
              <a:rPr lang="en-GB" dirty="0" err="1" smtClean="0"/>
              <a:t>eg</a:t>
            </a:r>
            <a:r>
              <a:rPr lang="en-GB" dirty="0" smtClean="0"/>
              <a:t> the Clostridia.</a:t>
            </a:r>
          </a:p>
          <a:p>
            <a:pPr eaLnBrk="1" hangingPunct="1">
              <a:buNone/>
            </a:pPr>
            <a:r>
              <a:rPr lang="en-GB" dirty="0" err="1" smtClean="0"/>
              <a:t>Cf</a:t>
            </a:r>
            <a:r>
              <a:rPr lang="en-GB" dirty="0" smtClean="0"/>
              <a:t>…</a:t>
            </a:r>
          </a:p>
          <a:p>
            <a:pPr eaLnBrk="1" hangingPunct="1"/>
            <a:endParaRPr lang="en-GB" dirty="0" smtClean="0"/>
          </a:p>
          <a:p>
            <a:pPr eaLnBrk="1" hangingPunct="1"/>
            <a:endParaRPr lang="en-GB" dirty="0" smtClean="0"/>
          </a:p>
        </p:txBody>
      </p:sp>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Cf</a:t>
            </a:r>
            <a:r>
              <a:rPr lang="en-US" dirty="0" smtClean="0"/>
              <a:t>:</a:t>
            </a:r>
            <a:endParaRPr lang="en-US" dirty="0"/>
          </a:p>
        </p:txBody>
      </p:sp>
      <p:sp>
        <p:nvSpPr>
          <p:cNvPr id="3" name="Content Placeholder 2"/>
          <p:cNvSpPr>
            <a:spLocks noGrp="1"/>
          </p:cNvSpPr>
          <p:nvPr>
            <p:ph idx="1"/>
          </p:nvPr>
        </p:nvSpPr>
        <p:spPr/>
        <p:txBody>
          <a:bodyPr/>
          <a:lstStyle/>
          <a:p>
            <a:pPr eaLnBrk="1" hangingPunct="1"/>
            <a:r>
              <a:rPr lang="en-GB" u="sng" dirty="0" err="1" smtClean="0"/>
              <a:t>Aerotolerant</a:t>
            </a:r>
            <a:r>
              <a:rPr lang="en-GB" dirty="0" smtClean="0"/>
              <a:t> anaerobes… </a:t>
            </a:r>
          </a:p>
          <a:p>
            <a:pPr eaLnBrk="1" hangingPunct="1"/>
            <a:r>
              <a:rPr lang="en-GB" dirty="0" smtClean="0"/>
              <a:t>Cannot use oxygen for growth but tolerate it fairly well.</a:t>
            </a:r>
          </a:p>
          <a:p>
            <a:pPr eaLnBrk="1" hangingPunct="1"/>
            <a:r>
              <a:rPr lang="en-GB" dirty="0" smtClean="0"/>
              <a:t>They do not require special treatment for growth in the lab.</a:t>
            </a:r>
          </a:p>
          <a:p>
            <a:pPr eaLnBrk="1" hangingPunct="1"/>
            <a:r>
              <a:rPr lang="en-GB" u="sng" dirty="0" err="1" smtClean="0"/>
              <a:t>Microaerophils</a:t>
            </a:r>
            <a:endParaRPr lang="en-GB" u="sng" dirty="0" smtClean="0"/>
          </a:p>
          <a:p>
            <a:pPr eaLnBrk="1" hangingPunct="1"/>
            <a:r>
              <a:rPr lang="en-GB" dirty="0" smtClean="0"/>
              <a:t>Are aerobic . But require oxygen at lower concentration than air.</a:t>
            </a:r>
          </a:p>
          <a:p>
            <a:endParaRPr lang="en-US" dirty="0"/>
          </a:p>
        </p:txBody>
      </p:sp>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GB" smtClean="0"/>
              <a:t>Radical oxygen (O</a:t>
            </a:r>
            <a:r>
              <a:rPr lang="en-GB" baseline="30000" smtClean="0"/>
              <a:t>2- </a:t>
            </a:r>
            <a:r>
              <a:rPr lang="en-GB" smtClean="0"/>
              <a:t>) </a:t>
            </a:r>
          </a:p>
        </p:txBody>
      </p:sp>
      <p:sp>
        <p:nvSpPr>
          <p:cNvPr id="47107" name="Rectangle 3"/>
          <p:cNvSpPr>
            <a:spLocks noGrp="1" noChangeArrowheads="1"/>
          </p:cNvSpPr>
          <p:nvPr>
            <p:ph idx="1"/>
          </p:nvPr>
        </p:nvSpPr>
        <p:spPr/>
        <p:txBody>
          <a:bodyPr/>
          <a:lstStyle/>
          <a:p>
            <a:pPr eaLnBrk="1" hangingPunct="1">
              <a:lnSpc>
                <a:spcPct val="90000"/>
              </a:lnSpc>
              <a:buFontTx/>
              <a:buNone/>
            </a:pPr>
            <a:r>
              <a:rPr lang="en-GB" dirty="0" smtClean="0"/>
              <a:t>This is toxic to most microbes </a:t>
            </a:r>
          </a:p>
          <a:p>
            <a:pPr eaLnBrk="1" hangingPunct="1">
              <a:lnSpc>
                <a:spcPct val="90000"/>
              </a:lnSpc>
            </a:pPr>
            <a:endParaRPr lang="en-GB" dirty="0" smtClean="0"/>
          </a:p>
          <a:p>
            <a:pPr eaLnBrk="1" hangingPunct="1">
              <a:lnSpc>
                <a:spcPct val="90000"/>
              </a:lnSpc>
              <a:buFontTx/>
              <a:buNone/>
            </a:pPr>
            <a:r>
              <a:rPr lang="en-GB" dirty="0" smtClean="0"/>
              <a:t>In cells superoxide free radicals of oxygen are produced during respiration and it is toxic to microbes so must be neutralised.</a:t>
            </a:r>
          </a:p>
          <a:p>
            <a:pPr eaLnBrk="1" hangingPunct="1">
              <a:lnSpc>
                <a:spcPct val="90000"/>
              </a:lnSpc>
              <a:buFontTx/>
              <a:buNone/>
            </a:pPr>
            <a:r>
              <a:rPr lang="en-GB" dirty="0" smtClean="0"/>
              <a:t>So the microbe produces enzyme called superoxide dismutase to convert the oxygen radical O</a:t>
            </a:r>
            <a:r>
              <a:rPr lang="en-GB" baseline="30000" dirty="0" smtClean="0"/>
              <a:t>2-</a:t>
            </a:r>
            <a:r>
              <a:rPr lang="en-GB" dirty="0" smtClean="0"/>
              <a:t> to molecular oxygen O</a:t>
            </a:r>
            <a:r>
              <a:rPr lang="en-GB" baseline="-25000" dirty="0" smtClean="0"/>
              <a:t>2  </a:t>
            </a:r>
            <a:r>
              <a:rPr lang="en-GB" dirty="0" smtClean="0"/>
              <a:t>and</a:t>
            </a:r>
            <a:r>
              <a:rPr lang="en-GB" baseline="-25000" dirty="0" smtClean="0"/>
              <a:t> </a:t>
            </a:r>
            <a:r>
              <a:rPr lang="en-GB" dirty="0" smtClean="0"/>
              <a:t>hydrogen peroxide,( H</a:t>
            </a:r>
            <a:r>
              <a:rPr lang="en-GB" baseline="-25000" dirty="0" smtClean="0"/>
              <a:t>2</a:t>
            </a:r>
            <a:r>
              <a:rPr lang="en-GB" dirty="0" smtClean="0"/>
              <a:t>O</a:t>
            </a:r>
            <a:r>
              <a:rPr lang="en-GB" baseline="-25000" dirty="0" smtClean="0"/>
              <a:t>2 </a:t>
            </a:r>
            <a:r>
              <a:rPr lang="en-GB" dirty="0" smtClean="0"/>
              <a:t>). </a:t>
            </a:r>
            <a:endParaRPr lang="en-GB" baseline="-25000" dirty="0" smtClean="0"/>
          </a:p>
          <a:p>
            <a:pPr eaLnBrk="1" hangingPunct="1">
              <a:lnSpc>
                <a:spcPct val="90000"/>
              </a:lnSpc>
              <a:buFontTx/>
              <a:buNone/>
            </a:pPr>
            <a:endParaRPr lang="en-GB" dirty="0" smtClean="0"/>
          </a:p>
        </p:txBody>
      </p:sp>
    </p:spTree>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endParaRPr lang="en-US" smtClean="0"/>
          </a:p>
        </p:txBody>
      </p:sp>
      <p:sp>
        <p:nvSpPr>
          <p:cNvPr id="48131" name="Rectangle 3"/>
          <p:cNvSpPr>
            <a:spLocks noGrp="1" noChangeArrowheads="1"/>
          </p:cNvSpPr>
          <p:nvPr>
            <p:ph idx="1"/>
          </p:nvPr>
        </p:nvSpPr>
        <p:spPr/>
        <p:txBody>
          <a:bodyPr/>
          <a:lstStyle/>
          <a:p>
            <a:pPr eaLnBrk="1" hangingPunct="1">
              <a:lnSpc>
                <a:spcPct val="90000"/>
              </a:lnSpc>
            </a:pPr>
            <a:r>
              <a:rPr lang="en-GB" dirty="0" smtClean="0"/>
              <a:t>The hydrogen peroxide produced this way is also toxic because it exists as O</a:t>
            </a:r>
            <a:r>
              <a:rPr lang="en-GB" baseline="-25000" dirty="0" smtClean="0"/>
              <a:t>2</a:t>
            </a:r>
            <a:r>
              <a:rPr lang="en-GB" baseline="30000" dirty="0" smtClean="0"/>
              <a:t>2-</a:t>
            </a:r>
            <a:r>
              <a:rPr lang="en-GB" dirty="0" smtClean="0"/>
              <a:t> in water. Microbes have developed enzymes to neutralise this one too. So enzyme </a:t>
            </a:r>
            <a:r>
              <a:rPr lang="en-GB" dirty="0" err="1" smtClean="0"/>
              <a:t>catalase</a:t>
            </a:r>
            <a:r>
              <a:rPr lang="en-GB" dirty="0" smtClean="0"/>
              <a:t> is used to convert it to water and molecular oxygen.</a:t>
            </a:r>
          </a:p>
          <a:p>
            <a:pPr eaLnBrk="1" hangingPunct="1">
              <a:lnSpc>
                <a:spcPct val="90000"/>
              </a:lnSpc>
            </a:pPr>
            <a:r>
              <a:rPr lang="en-GB" dirty="0" smtClean="0"/>
              <a:t>Others produce </a:t>
            </a:r>
            <a:r>
              <a:rPr lang="en-GB" dirty="0" err="1" smtClean="0"/>
              <a:t>peroxidase</a:t>
            </a:r>
            <a:r>
              <a:rPr lang="en-GB" dirty="0" smtClean="0"/>
              <a:t> which convert it to hydroxyl radical (OH</a:t>
            </a:r>
            <a:r>
              <a:rPr lang="en-GB" baseline="30000" dirty="0" smtClean="0"/>
              <a:t>-</a:t>
            </a:r>
            <a:r>
              <a:rPr lang="en-GB" dirty="0" smtClean="0"/>
              <a:t>) which combines with oxygen to neutralise it.</a:t>
            </a:r>
          </a:p>
        </p:txBody>
      </p:sp>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GB" smtClean="0"/>
              <a:t>Culture media</a:t>
            </a:r>
          </a:p>
        </p:txBody>
      </p:sp>
      <p:sp>
        <p:nvSpPr>
          <p:cNvPr id="51203" name="Rectangle 3"/>
          <p:cNvSpPr>
            <a:spLocks noGrp="1" noChangeArrowheads="1"/>
          </p:cNvSpPr>
          <p:nvPr>
            <p:ph idx="1"/>
          </p:nvPr>
        </p:nvSpPr>
        <p:spPr/>
        <p:txBody>
          <a:bodyPr/>
          <a:lstStyle/>
          <a:p>
            <a:pPr eaLnBrk="1" hangingPunct="1"/>
            <a:r>
              <a:rPr lang="en-GB" dirty="0" smtClean="0"/>
              <a:t>A nutrient prepared for growth of microorganisms in the lab is called culture medium.</a:t>
            </a:r>
          </a:p>
          <a:p>
            <a:pPr eaLnBrk="1" hangingPunct="1"/>
            <a:r>
              <a:rPr lang="en-GB" dirty="0" smtClean="0"/>
              <a:t>It is composed of biological or chemically derived material for growth of microorganisms.</a:t>
            </a:r>
          </a:p>
          <a:p>
            <a:pPr eaLnBrk="1" hangingPunct="1"/>
            <a:endParaRPr lang="en-GB" dirty="0" smtClean="0"/>
          </a:p>
          <a:p>
            <a:pPr eaLnBrk="1" hangingPunct="1"/>
            <a:endParaRPr lang="en-GB" dirty="0" smtClean="0"/>
          </a:p>
        </p:txBody>
      </p:sp>
    </p:spTree>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endParaRPr lang="en-US" smtClean="0"/>
          </a:p>
        </p:txBody>
      </p:sp>
      <p:sp>
        <p:nvSpPr>
          <p:cNvPr id="52227" name="Rectangle 3"/>
          <p:cNvSpPr>
            <a:spLocks noGrp="1" noChangeArrowheads="1"/>
          </p:cNvSpPr>
          <p:nvPr>
            <p:ph idx="1"/>
          </p:nvPr>
        </p:nvSpPr>
        <p:spPr/>
        <p:txBody>
          <a:bodyPr/>
          <a:lstStyle/>
          <a:p>
            <a:pPr eaLnBrk="1" hangingPunct="1"/>
            <a:r>
              <a:rPr lang="en-GB" smtClean="0"/>
              <a:t>Some bacteria grow on any kind of culture medium. Others do not grow on artificial media but on living cells (animal inoculation).</a:t>
            </a:r>
          </a:p>
          <a:p>
            <a:pPr eaLnBrk="1" hangingPunct="1"/>
            <a:r>
              <a:rPr lang="en-GB" smtClean="0"/>
              <a:t>Others still cannot be grown at all in any medium yet developed.</a:t>
            </a:r>
          </a:p>
        </p:txBody>
      </p:sp>
    </p:spTree>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GB" smtClean="0"/>
              <a:t>Cultivation of microorganisms</a:t>
            </a:r>
          </a:p>
        </p:txBody>
      </p:sp>
      <p:sp>
        <p:nvSpPr>
          <p:cNvPr id="53251" name="Rectangle 3"/>
          <p:cNvSpPr>
            <a:spLocks noGrp="1" noChangeArrowheads="1"/>
          </p:cNvSpPr>
          <p:nvPr>
            <p:ph idx="1"/>
          </p:nvPr>
        </p:nvSpPr>
        <p:spPr/>
        <p:txBody>
          <a:bodyPr/>
          <a:lstStyle/>
          <a:p>
            <a:pPr eaLnBrk="1" hangingPunct="1"/>
            <a:r>
              <a:rPr lang="en-GB" smtClean="0"/>
              <a:t>For a particular organism to be cultivated in the lab, the medium must:</a:t>
            </a:r>
          </a:p>
          <a:p>
            <a:pPr eaLnBrk="1" hangingPunct="1"/>
            <a:r>
              <a:rPr lang="en-GB" smtClean="0"/>
              <a:t>1.have the right nutrients for the specific microorganism. </a:t>
            </a:r>
          </a:p>
          <a:p>
            <a:pPr eaLnBrk="1" hangingPunct="1"/>
            <a:r>
              <a:rPr lang="en-GB" smtClean="0"/>
              <a:t>2. contain sufficient moisture</a:t>
            </a:r>
          </a:p>
          <a:p>
            <a:pPr eaLnBrk="1" hangingPunct="1"/>
            <a:r>
              <a:rPr lang="en-GB" smtClean="0"/>
              <a:t>3. have properly adjusted pH</a:t>
            </a:r>
          </a:p>
          <a:p>
            <a:pPr eaLnBrk="1" hangingPunct="1"/>
            <a:r>
              <a:rPr lang="en-GB" smtClean="0"/>
              <a:t>4. have suitable level of oxygen, perhaps none at all.</a:t>
            </a:r>
          </a:p>
          <a:p>
            <a:pPr eaLnBrk="1" hangingPunct="1"/>
            <a:endParaRPr lang="en-GB" smtClean="0"/>
          </a:p>
        </p:txBody>
      </p:sp>
    </p:spTree>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endParaRPr lang="en-US" smtClean="0"/>
          </a:p>
        </p:txBody>
      </p:sp>
      <p:sp>
        <p:nvSpPr>
          <p:cNvPr id="54275" name="Rectangle 3"/>
          <p:cNvSpPr>
            <a:spLocks noGrp="1" noChangeArrowheads="1"/>
          </p:cNvSpPr>
          <p:nvPr>
            <p:ph idx="1"/>
          </p:nvPr>
        </p:nvSpPr>
        <p:spPr/>
        <p:txBody>
          <a:bodyPr/>
          <a:lstStyle/>
          <a:p>
            <a:pPr eaLnBrk="1" hangingPunct="1"/>
            <a:r>
              <a:rPr lang="en-GB" smtClean="0"/>
              <a:t>5. the medium must be sterile</a:t>
            </a:r>
          </a:p>
          <a:p>
            <a:pPr eaLnBrk="1" hangingPunct="1"/>
            <a:r>
              <a:rPr lang="en-GB" smtClean="0"/>
              <a:t>6. and incubated at the proper temperature.</a:t>
            </a:r>
          </a:p>
          <a:p>
            <a:pPr eaLnBrk="1" hangingPunct="1">
              <a:buFontTx/>
              <a:buNone/>
            </a:pPr>
            <a:endParaRPr lang="en-GB" smtClean="0"/>
          </a:p>
        </p:txBody>
      </p:sp>
    </p:spTree>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endParaRPr lang="en-US" smtClean="0"/>
          </a:p>
        </p:txBody>
      </p:sp>
      <p:sp>
        <p:nvSpPr>
          <p:cNvPr id="55299" name="Rectangle 3"/>
          <p:cNvSpPr>
            <a:spLocks noGrp="1" noChangeArrowheads="1"/>
          </p:cNvSpPr>
          <p:nvPr>
            <p:ph idx="1"/>
          </p:nvPr>
        </p:nvSpPr>
        <p:spPr/>
        <p:txBody>
          <a:bodyPr/>
          <a:lstStyle/>
          <a:p>
            <a:pPr eaLnBrk="1" hangingPunct="1"/>
            <a:r>
              <a:rPr lang="en-GB" smtClean="0"/>
              <a:t>Most of the media are commercially available in dry pre-mixed forms.</a:t>
            </a:r>
          </a:p>
          <a:p>
            <a:pPr eaLnBrk="1" hangingPunct="1"/>
            <a:r>
              <a:rPr lang="en-GB" smtClean="0"/>
              <a:t>When a solid medium is needed agar is added. </a:t>
            </a:r>
          </a:p>
        </p:txBody>
      </p:sp>
    </p:spTree>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GB" smtClean="0"/>
              <a:t>Agar</a:t>
            </a:r>
          </a:p>
        </p:txBody>
      </p:sp>
      <p:sp>
        <p:nvSpPr>
          <p:cNvPr id="56323" name="Rectangle 3"/>
          <p:cNvSpPr>
            <a:spLocks noGrp="1" noChangeArrowheads="1"/>
          </p:cNvSpPr>
          <p:nvPr>
            <p:ph idx="1"/>
          </p:nvPr>
        </p:nvSpPr>
        <p:spPr/>
        <p:txBody>
          <a:bodyPr/>
          <a:lstStyle/>
          <a:p>
            <a:pPr eaLnBrk="1" hangingPunct="1"/>
            <a:r>
              <a:rPr lang="en-GB" smtClean="0"/>
              <a:t>Agar is a complex polysaccharide derived from seaweeds. </a:t>
            </a:r>
          </a:p>
          <a:p>
            <a:pPr eaLnBrk="1" hangingPunct="1"/>
            <a:r>
              <a:rPr lang="en-GB" smtClean="0"/>
              <a:t>The liquid medium is called broth.</a:t>
            </a:r>
          </a:p>
          <a:p>
            <a:pPr eaLnBrk="1" hangingPunct="1"/>
            <a:endParaRPr lang="en-GB" smtClean="0"/>
          </a:p>
          <a:p>
            <a:pPr eaLnBrk="1" hangingPunct="1"/>
            <a:r>
              <a:rPr lang="en-GB" smtClean="0"/>
              <a:t>Different kinds of media are still being developed for isolation and identification of bacteria in fields such as food, water and clinical microbiology.</a:t>
            </a:r>
          </a:p>
          <a:p>
            <a:pPr eaLnBrk="1" hangingPunct="1"/>
            <a:endParaRPr lang="en-GB" smtClean="0"/>
          </a:p>
        </p:txBody>
      </p:sp>
    </p:spTree>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GB" smtClean="0"/>
              <a:t>Chemically defined media</a:t>
            </a:r>
          </a:p>
        </p:txBody>
      </p:sp>
      <p:sp>
        <p:nvSpPr>
          <p:cNvPr id="57347" name="Rectangle 3"/>
          <p:cNvSpPr>
            <a:spLocks noGrp="1" noChangeArrowheads="1"/>
          </p:cNvSpPr>
          <p:nvPr>
            <p:ph idx="1"/>
          </p:nvPr>
        </p:nvSpPr>
        <p:spPr/>
        <p:txBody>
          <a:bodyPr/>
          <a:lstStyle/>
          <a:p>
            <a:pPr eaLnBrk="1" hangingPunct="1"/>
            <a:r>
              <a:rPr lang="en-GB" dirty="0" smtClean="0"/>
              <a:t>These are those whose exact chemical composition is known. </a:t>
            </a:r>
            <a:r>
              <a:rPr lang="en-GB" dirty="0" err="1" smtClean="0"/>
              <a:t>eg</a:t>
            </a:r>
            <a:endParaRPr lang="en-GB" dirty="0" smtClean="0"/>
          </a:p>
          <a:p>
            <a:pPr eaLnBrk="1" hangingPunct="1"/>
            <a:endParaRPr lang="en-GB" dirty="0" smtClean="0"/>
          </a:p>
          <a:p>
            <a:pPr eaLnBrk="1" hangingPunct="1"/>
            <a:endParaRPr lang="en-GB" dirty="0" smtClean="0"/>
          </a:p>
        </p:txBody>
      </p:sp>
    </p:spTree>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ag.jpg"/>
          <p:cNvPicPr>
            <a:picLocks noGrp="1" noChangeAspect="1"/>
          </p:cNvPicPr>
          <p:nvPr>
            <p:ph idx="1"/>
          </p:nvPr>
        </p:nvPicPr>
        <p:blipFill>
          <a:blip r:embed="rId2"/>
          <a:stretch>
            <a:fillRect/>
          </a:stretch>
        </p:blipFill>
        <p:spPr>
          <a:xfrm>
            <a:off x="1066800" y="533400"/>
            <a:ext cx="6248400" cy="6096000"/>
          </a:xfrm>
        </p:spPr>
      </p:pic>
    </p:spTree>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GB" smtClean="0"/>
              <a:t>Complex media</a:t>
            </a:r>
          </a:p>
        </p:txBody>
      </p:sp>
      <p:sp>
        <p:nvSpPr>
          <p:cNvPr id="58371" name="Rectangle 3"/>
          <p:cNvSpPr>
            <a:spLocks noGrp="1" noChangeArrowheads="1"/>
          </p:cNvSpPr>
          <p:nvPr>
            <p:ph idx="1"/>
          </p:nvPr>
        </p:nvSpPr>
        <p:spPr/>
        <p:txBody>
          <a:bodyPr/>
          <a:lstStyle/>
          <a:p>
            <a:pPr eaLnBrk="1" hangingPunct="1"/>
            <a:r>
              <a:rPr lang="en-GB" dirty="0" smtClean="0"/>
              <a:t>The exact (or specific) nutrients are not defined. But substances like meat extract, beef heart or brain, whole blood, yeast extract, amino acids, peptones are included.</a:t>
            </a:r>
          </a:p>
          <a:p>
            <a:pPr eaLnBrk="1" hangingPunct="1"/>
            <a:r>
              <a:rPr lang="en-GB" dirty="0" smtClean="0"/>
              <a:t>These are to provide all the nutrients, vitamins and minerals needed for growth.   </a:t>
            </a:r>
          </a:p>
        </p:txBody>
      </p:sp>
    </p:spTree>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GB" smtClean="0"/>
              <a:t>Anaerobic growth media</a:t>
            </a:r>
          </a:p>
        </p:txBody>
      </p:sp>
      <p:sp>
        <p:nvSpPr>
          <p:cNvPr id="59395" name="Rectangle 3"/>
          <p:cNvSpPr>
            <a:spLocks noGrp="1" noChangeArrowheads="1"/>
          </p:cNvSpPr>
          <p:nvPr>
            <p:ph idx="1"/>
          </p:nvPr>
        </p:nvSpPr>
        <p:spPr/>
        <p:txBody>
          <a:bodyPr/>
          <a:lstStyle/>
          <a:p>
            <a:pPr eaLnBrk="1" hangingPunct="1"/>
            <a:r>
              <a:rPr lang="en-GB" smtClean="0"/>
              <a:t>Oxygen kills many bacteria, so special media and techniques are used.</a:t>
            </a:r>
          </a:p>
          <a:p>
            <a:pPr eaLnBrk="1" hangingPunct="1"/>
            <a:r>
              <a:rPr lang="en-GB" smtClean="0"/>
              <a:t>Otherwise they are grown in special jars from which oxygen is removed.</a:t>
            </a:r>
          </a:p>
        </p:txBody>
      </p:sp>
    </p:spTree>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GB" smtClean="0"/>
              <a:t>Selective and differential media</a:t>
            </a:r>
          </a:p>
        </p:txBody>
      </p:sp>
      <p:sp>
        <p:nvSpPr>
          <p:cNvPr id="60419" name="Rectangle 3"/>
          <p:cNvSpPr>
            <a:spLocks noGrp="1" noChangeArrowheads="1"/>
          </p:cNvSpPr>
          <p:nvPr>
            <p:ph idx="1"/>
          </p:nvPr>
        </p:nvSpPr>
        <p:spPr/>
        <p:txBody>
          <a:bodyPr/>
          <a:lstStyle/>
          <a:p>
            <a:pPr eaLnBrk="1" hangingPunct="1"/>
            <a:r>
              <a:rPr lang="en-GB" dirty="0" smtClean="0"/>
              <a:t>Selective media are used to suppress the growth of unwanted bacteria and encourage the growth of the desired microbes.eg Salmonella-</a:t>
            </a:r>
            <a:r>
              <a:rPr lang="en-GB" dirty="0" err="1" smtClean="0"/>
              <a:t>shigella</a:t>
            </a:r>
            <a:r>
              <a:rPr lang="en-GB" dirty="0" smtClean="0"/>
              <a:t>, </a:t>
            </a:r>
            <a:r>
              <a:rPr lang="en-GB" dirty="0" err="1" smtClean="0"/>
              <a:t>manitol</a:t>
            </a:r>
            <a:r>
              <a:rPr lang="en-GB" dirty="0" smtClean="0"/>
              <a:t> salt agar. </a:t>
            </a:r>
          </a:p>
          <a:p>
            <a:pPr eaLnBrk="1" hangingPunct="1"/>
            <a:endParaRPr lang="en-GB" dirty="0" smtClean="0"/>
          </a:p>
          <a:p>
            <a:pPr eaLnBrk="1" hangingPunct="1"/>
            <a:r>
              <a:rPr lang="en-GB" dirty="0" smtClean="0"/>
              <a:t>Differential medium distinguishes colonies of desired organism from other organisms growing on the same plate., Mac, </a:t>
            </a:r>
            <a:r>
              <a:rPr lang="en-GB" dirty="0" err="1" smtClean="0"/>
              <a:t>Cled</a:t>
            </a:r>
            <a:endParaRPr lang="en-GB" dirty="0" smtClean="0"/>
          </a:p>
        </p:txBody>
      </p:sp>
    </p:spTree>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GB" smtClean="0"/>
              <a:t>Enrichment medium</a:t>
            </a:r>
          </a:p>
        </p:txBody>
      </p:sp>
      <p:sp>
        <p:nvSpPr>
          <p:cNvPr id="61443" name="Rectangle 3"/>
          <p:cNvSpPr>
            <a:spLocks noGrp="1" noChangeArrowheads="1"/>
          </p:cNvSpPr>
          <p:nvPr>
            <p:ph idx="1"/>
          </p:nvPr>
        </p:nvSpPr>
        <p:spPr/>
        <p:txBody>
          <a:bodyPr/>
          <a:lstStyle/>
          <a:p>
            <a:pPr eaLnBrk="1" hangingPunct="1"/>
            <a:r>
              <a:rPr lang="en-GB" dirty="0" smtClean="0"/>
              <a:t>Bacteria in a sample can be in small numbers and can be missed. So  it is sometimes necessary to use an enrichment medium. The enrichment medium is designed to increase the small numbers of the desired organism to detectable levels.</a:t>
            </a:r>
          </a:p>
          <a:p>
            <a:pPr eaLnBrk="1" hangingPunct="1"/>
            <a:r>
              <a:rPr lang="en-GB" dirty="0" err="1" smtClean="0"/>
              <a:t>Eg</a:t>
            </a:r>
            <a:r>
              <a:rPr lang="en-GB" dirty="0" smtClean="0"/>
              <a:t> soil and faeces. </a:t>
            </a:r>
            <a:r>
              <a:rPr lang="en-GB" dirty="0" err="1" smtClean="0"/>
              <a:t>Selenite</a:t>
            </a:r>
            <a:r>
              <a:rPr lang="en-GB" dirty="0" smtClean="0"/>
              <a:t>-F Broth </a:t>
            </a:r>
          </a:p>
        </p:txBody>
      </p:sp>
    </p:spTree>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Enrichment procedure is often employed when one considers to isolate a particular bacterium from a natural source containing many other </a:t>
            </a:r>
            <a:r>
              <a:rPr lang="en-US" dirty="0" err="1" smtClean="0"/>
              <a:t>microoganisms</a:t>
            </a:r>
            <a:r>
              <a:rPr lang="en-US" dirty="0" smtClean="0"/>
              <a:t>.</a:t>
            </a:r>
          </a:p>
          <a:p>
            <a:endParaRPr lang="en-US" dirty="0"/>
          </a:p>
        </p:txBody>
      </p:sp>
    </p:spTree>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smtClean="0"/>
              <a:t>Transport medium</a:t>
            </a:r>
          </a:p>
        </p:txBody>
      </p:sp>
      <p:sp>
        <p:nvSpPr>
          <p:cNvPr id="63491" name="Content Placeholder 2"/>
          <p:cNvSpPr>
            <a:spLocks noGrp="1"/>
          </p:cNvSpPr>
          <p:nvPr>
            <p:ph idx="1"/>
          </p:nvPr>
        </p:nvSpPr>
        <p:spPr/>
        <p:txBody>
          <a:bodyPr/>
          <a:lstStyle/>
          <a:p>
            <a:r>
              <a:rPr lang="en-US" dirty="0" smtClean="0"/>
              <a:t>This is used to transport samples to the lab.</a:t>
            </a:r>
          </a:p>
          <a:p>
            <a:r>
              <a:rPr lang="en-US" dirty="0" smtClean="0"/>
              <a:t>They keep the organisms from death and further multiplication. </a:t>
            </a:r>
            <a:r>
              <a:rPr lang="en-US" dirty="0" err="1" smtClean="0"/>
              <a:t>Eg</a:t>
            </a:r>
            <a:r>
              <a:rPr lang="en-US" dirty="0" smtClean="0"/>
              <a:t> of transport media</a:t>
            </a:r>
          </a:p>
          <a:p>
            <a:r>
              <a:rPr lang="en-US" dirty="0" smtClean="0"/>
              <a:t>Carrey-Blair</a:t>
            </a:r>
          </a:p>
          <a:p>
            <a:r>
              <a:rPr lang="en-US" dirty="0" smtClean="0"/>
              <a:t>Stuart and </a:t>
            </a:r>
          </a:p>
          <a:p>
            <a:r>
              <a:rPr lang="en-US" dirty="0" err="1" smtClean="0"/>
              <a:t>Amies</a:t>
            </a:r>
            <a:r>
              <a:rPr lang="en-US" dirty="0" smtClean="0"/>
              <a:t>.</a:t>
            </a:r>
          </a:p>
        </p:txBody>
      </p:sp>
    </p:spTree>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Pure culture</a:t>
            </a:r>
            <a:endParaRPr lang="en-US" dirty="0"/>
          </a:p>
        </p:txBody>
      </p:sp>
      <p:sp>
        <p:nvSpPr>
          <p:cNvPr id="3" name="Content Placeholder 2"/>
          <p:cNvSpPr>
            <a:spLocks noGrp="1"/>
          </p:cNvSpPr>
          <p:nvPr>
            <p:ph idx="1"/>
          </p:nvPr>
        </p:nvSpPr>
        <p:spPr/>
        <p:txBody>
          <a:bodyPr/>
          <a:lstStyle/>
          <a:p>
            <a:r>
              <a:rPr lang="en-US" dirty="0" smtClean="0"/>
              <a:t>Pure culture is obtained if a single bacterial cell grows into a colony. The progeny from that cell is kept in a culture medium. It contains only one type species.</a:t>
            </a:r>
          </a:p>
          <a:p>
            <a:r>
              <a:rPr lang="en-US" dirty="0" smtClean="0"/>
              <a:t>Many ways of doing this:</a:t>
            </a:r>
          </a:p>
          <a:p>
            <a:r>
              <a:rPr lang="en-US" dirty="0" err="1" smtClean="0"/>
              <a:t>i</a:t>
            </a:r>
            <a:r>
              <a:rPr lang="en-US" dirty="0" smtClean="0"/>
              <a:t>. Pour-plate method</a:t>
            </a:r>
          </a:p>
          <a:p>
            <a:r>
              <a:rPr lang="en-US" dirty="0" smtClean="0"/>
              <a:t>ii. Streak method</a:t>
            </a:r>
          </a:p>
          <a:p>
            <a:endParaRPr lang="en-US" dirty="0"/>
          </a:p>
        </p:txBody>
      </p:sp>
    </p:spTree>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GB" smtClean="0"/>
              <a:t>Growth of bacteria</a:t>
            </a:r>
          </a:p>
        </p:txBody>
      </p:sp>
      <p:sp>
        <p:nvSpPr>
          <p:cNvPr id="64515" name="Rectangle 3"/>
          <p:cNvSpPr>
            <a:spLocks noGrp="1" noChangeArrowheads="1"/>
          </p:cNvSpPr>
          <p:nvPr>
            <p:ph idx="1"/>
          </p:nvPr>
        </p:nvSpPr>
        <p:spPr/>
        <p:txBody>
          <a:bodyPr/>
          <a:lstStyle/>
          <a:p>
            <a:pPr eaLnBrk="1" hangingPunct="1"/>
            <a:r>
              <a:rPr lang="en-GB" dirty="0" smtClean="0"/>
              <a:t>Growth in microbiology is the increase in bacterial numbers not an increase in size of the individual cells.</a:t>
            </a:r>
          </a:p>
          <a:p>
            <a:pPr eaLnBrk="1" hangingPunct="1"/>
            <a:endParaRPr lang="en-GB" dirty="0" smtClean="0"/>
          </a:p>
        </p:txBody>
      </p:sp>
    </p:spTree>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GB" smtClean="0"/>
              <a:t>Binary fission</a:t>
            </a:r>
          </a:p>
        </p:txBody>
      </p:sp>
      <p:sp>
        <p:nvSpPr>
          <p:cNvPr id="65539" name="Rectangle 3"/>
          <p:cNvSpPr>
            <a:spLocks noGrp="1" noChangeArrowheads="1"/>
          </p:cNvSpPr>
          <p:nvPr>
            <p:ph idx="1"/>
          </p:nvPr>
        </p:nvSpPr>
        <p:spPr/>
        <p:txBody>
          <a:bodyPr/>
          <a:lstStyle/>
          <a:p>
            <a:pPr eaLnBrk="1" hangingPunct="1"/>
            <a:r>
              <a:rPr lang="en-GB" smtClean="0"/>
              <a:t>This is the cell division process:</a:t>
            </a:r>
          </a:p>
          <a:p>
            <a:pPr eaLnBrk="1" hangingPunct="1"/>
            <a:r>
              <a:rPr lang="en-GB" smtClean="0"/>
              <a:t>1. cell elongation and xsomal replication</a:t>
            </a:r>
          </a:p>
          <a:p>
            <a:pPr eaLnBrk="1" hangingPunct="1"/>
            <a:r>
              <a:rPr lang="en-GB" smtClean="0"/>
              <a:t>2. cell wall and membrane grow inwards</a:t>
            </a:r>
          </a:p>
          <a:p>
            <a:pPr eaLnBrk="1" hangingPunct="1"/>
            <a:r>
              <a:rPr lang="en-GB" smtClean="0"/>
              <a:t>3. in-growing walls meet forming a cross 	wall.</a:t>
            </a:r>
          </a:p>
          <a:p>
            <a:pPr eaLnBrk="1" hangingPunct="1"/>
            <a:r>
              <a:rPr lang="en-GB" smtClean="0"/>
              <a:t>4. two individual cells are formed</a:t>
            </a:r>
          </a:p>
          <a:p>
            <a:pPr eaLnBrk="1" hangingPunct="1"/>
            <a:r>
              <a:rPr lang="en-GB" smtClean="0"/>
              <a:t>A few produce by budding. Others form spores. Filamentous form fragment.</a:t>
            </a:r>
          </a:p>
        </p:txBody>
      </p:sp>
    </p:spTree>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GB" smtClean="0"/>
              <a:t>Generation time</a:t>
            </a:r>
          </a:p>
        </p:txBody>
      </p:sp>
      <p:sp>
        <p:nvSpPr>
          <p:cNvPr id="66563" name="Rectangle 3"/>
          <p:cNvSpPr>
            <a:spLocks noGrp="1" noChangeArrowheads="1"/>
          </p:cNvSpPr>
          <p:nvPr>
            <p:ph idx="1"/>
          </p:nvPr>
        </p:nvSpPr>
        <p:spPr/>
        <p:txBody>
          <a:bodyPr/>
          <a:lstStyle/>
          <a:p>
            <a:pPr eaLnBrk="1" hangingPunct="1"/>
            <a:r>
              <a:rPr lang="en-GB" dirty="0" smtClean="0"/>
              <a:t>This is the time required for a cell to divide into 2 - </a:t>
            </a:r>
            <a:r>
              <a:rPr lang="en-GB" dirty="0" err="1" smtClean="0"/>
              <a:t>ie</a:t>
            </a:r>
            <a:r>
              <a:rPr lang="en-GB" dirty="0" smtClean="0"/>
              <a:t> its population to double.</a:t>
            </a:r>
          </a:p>
          <a:p>
            <a:pPr eaLnBrk="1" hangingPunct="1"/>
            <a:r>
              <a:rPr lang="en-GB" dirty="0" smtClean="0"/>
              <a:t>Most bacteria have generation time of 1-3h. Others require more than 24h.</a:t>
            </a:r>
          </a:p>
          <a:p>
            <a:pPr eaLnBrk="1" hangingPunct="1"/>
            <a:r>
              <a:rPr lang="en-GB" dirty="0" smtClean="0"/>
              <a:t>E. coli has generation time of about 20m.</a:t>
            </a:r>
          </a:p>
          <a:p>
            <a:pPr eaLnBrk="1" hangingPunct="1"/>
            <a:r>
              <a:rPr lang="en-GB" dirty="0" smtClean="0"/>
              <a:t>Mycobacterium has 24h. </a:t>
            </a:r>
          </a:p>
        </p:txBody>
      </p:sp>
    </p:spTree>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GB" smtClean="0"/>
              <a:t>Exponential growth</a:t>
            </a:r>
          </a:p>
        </p:txBody>
      </p:sp>
      <p:sp>
        <p:nvSpPr>
          <p:cNvPr id="67587" name="Rectangle 3"/>
          <p:cNvSpPr>
            <a:spLocks noGrp="1" noChangeArrowheads="1"/>
          </p:cNvSpPr>
          <p:nvPr>
            <p:ph idx="1"/>
          </p:nvPr>
        </p:nvSpPr>
        <p:spPr/>
        <p:txBody>
          <a:bodyPr/>
          <a:lstStyle/>
          <a:p>
            <a:pPr eaLnBrk="1" hangingPunct="1"/>
            <a:r>
              <a:rPr lang="en-GB" smtClean="0"/>
              <a:t>When all nutrients are available in moderate quantities and environmental conditions are favourable biomass will increase exponentially with time.</a:t>
            </a:r>
          </a:p>
          <a:p>
            <a:pPr eaLnBrk="1" hangingPunct="1">
              <a:buFontTx/>
              <a:buNone/>
            </a:pPr>
            <a:endParaRPr lang="en-GB" smtClean="0"/>
          </a:p>
        </p:txBody>
      </p:sp>
    </p:spTree>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GB" smtClean="0"/>
              <a:t>The growth curve</a:t>
            </a:r>
          </a:p>
        </p:txBody>
      </p:sp>
      <p:sp>
        <p:nvSpPr>
          <p:cNvPr id="68611" name="Rectangle 3"/>
          <p:cNvSpPr>
            <a:spLocks noGrp="1" noChangeArrowheads="1"/>
          </p:cNvSpPr>
          <p:nvPr>
            <p:ph idx="1"/>
          </p:nvPr>
        </p:nvSpPr>
        <p:spPr/>
        <p:txBody>
          <a:bodyPr/>
          <a:lstStyle/>
          <a:p>
            <a:pPr eaLnBrk="1" hangingPunct="1"/>
            <a:r>
              <a:rPr lang="en-GB" smtClean="0"/>
              <a:t>If a liquid medium is inoculated with microbial cells of a previous culture the curve below is obtained</a:t>
            </a:r>
          </a:p>
        </p:txBody>
      </p:sp>
    </p:spTree>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GB" smtClean="0"/>
              <a:t>GROWTH CURVE</a:t>
            </a:r>
          </a:p>
        </p:txBody>
      </p:sp>
      <p:sp>
        <p:nvSpPr>
          <p:cNvPr id="25" name="Content Placeholder 24"/>
          <p:cNvSpPr>
            <a:spLocks noGrp="1"/>
          </p:cNvSpPr>
          <p:nvPr>
            <p:ph idx="1"/>
          </p:nvPr>
        </p:nvSpPr>
        <p:spPr/>
        <p:txBody>
          <a:bodyPr/>
          <a:lstStyle/>
          <a:p>
            <a:endParaRPr lang="en-US" dirty="0"/>
          </a:p>
        </p:txBody>
      </p:sp>
      <p:grpSp>
        <p:nvGrpSpPr>
          <p:cNvPr id="1028" name="Group 50" descr="A"/>
          <p:cNvGrpSpPr>
            <a:grpSpLocks noChangeAspect="1"/>
          </p:cNvGrpSpPr>
          <p:nvPr/>
        </p:nvGrpSpPr>
        <p:grpSpPr bwMode="auto">
          <a:xfrm>
            <a:off x="1676400" y="2362200"/>
            <a:ext cx="5029200" cy="2906713"/>
            <a:chOff x="2813" y="1325"/>
            <a:chExt cx="6600" cy="3922"/>
          </a:xfrm>
        </p:grpSpPr>
        <p:sp>
          <p:nvSpPr>
            <p:cNvPr id="1039" name="AutoShape 51"/>
            <p:cNvSpPr>
              <a:spLocks noChangeAspect="1" noChangeArrowheads="1"/>
            </p:cNvSpPr>
            <p:nvPr/>
          </p:nvSpPr>
          <p:spPr bwMode="auto">
            <a:xfrm>
              <a:off x="2813" y="1325"/>
              <a:ext cx="6600" cy="3922"/>
            </a:xfrm>
            <a:prstGeom prst="rect">
              <a:avLst/>
            </a:prstGeom>
            <a:noFill/>
            <a:ln w="9525">
              <a:noFill/>
              <a:miter lim="800000"/>
              <a:headEnd/>
              <a:tailEnd/>
            </a:ln>
          </p:spPr>
          <p:txBody>
            <a:bodyPr/>
            <a:lstStyle/>
            <a:p>
              <a:endParaRPr lang="en-US"/>
            </a:p>
          </p:txBody>
        </p:sp>
        <p:sp>
          <p:nvSpPr>
            <p:cNvPr id="1040" name="Line 52"/>
            <p:cNvSpPr>
              <a:spLocks noChangeShapeType="1"/>
            </p:cNvSpPr>
            <p:nvPr/>
          </p:nvSpPr>
          <p:spPr bwMode="auto">
            <a:xfrm>
              <a:off x="2970" y="5034"/>
              <a:ext cx="0" cy="0"/>
            </a:xfrm>
            <a:prstGeom prst="line">
              <a:avLst/>
            </a:prstGeom>
            <a:noFill/>
            <a:ln w="9525">
              <a:solidFill>
                <a:srgbClr val="000000"/>
              </a:solidFill>
              <a:round/>
              <a:headEnd/>
              <a:tailEnd type="triangle" w="med" len="med"/>
            </a:ln>
          </p:spPr>
          <p:txBody>
            <a:bodyPr/>
            <a:lstStyle/>
            <a:p>
              <a:endParaRPr lang="en-US"/>
            </a:p>
          </p:txBody>
        </p:sp>
        <p:sp>
          <p:nvSpPr>
            <p:cNvPr id="1041" name="Line 53"/>
            <p:cNvSpPr>
              <a:spLocks noChangeShapeType="1"/>
            </p:cNvSpPr>
            <p:nvPr/>
          </p:nvSpPr>
          <p:spPr bwMode="auto">
            <a:xfrm flipV="1">
              <a:off x="3720" y="1486"/>
              <a:ext cx="0" cy="3548"/>
            </a:xfrm>
            <a:prstGeom prst="line">
              <a:avLst/>
            </a:prstGeom>
            <a:noFill/>
            <a:ln w="9525">
              <a:solidFill>
                <a:srgbClr val="000000"/>
              </a:solidFill>
              <a:round/>
              <a:headEnd/>
              <a:tailEnd type="triangle" w="med" len="med"/>
            </a:ln>
          </p:spPr>
          <p:txBody>
            <a:bodyPr/>
            <a:lstStyle/>
            <a:p>
              <a:endParaRPr lang="en-US"/>
            </a:p>
          </p:txBody>
        </p:sp>
        <p:sp>
          <p:nvSpPr>
            <p:cNvPr id="1042" name="Line 54"/>
            <p:cNvSpPr>
              <a:spLocks noChangeShapeType="1"/>
            </p:cNvSpPr>
            <p:nvPr/>
          </p:nvSpPr>
          <p:spPr bwMode="auto">
            <a:xfrm>
              <a:off x="3720" y="5034"/>
              <a:ext cx="5400" cy="0"/>
            </a:xfrm>
            <a:prstGeom prst="line">
              <a:avLst/>
            </a:prstGeom>
            <a:noFill/>
            <a:ln w="9525">
              <a:solidFill>
                <a:srgbClr val="000000"/>
              </a:solidFill>
              <a:round/>
              <a:headEnd/>
              <a:tailEnd type="triangle" w="med" len="med"/>
            </a:ln>
          </p:spPr>
          <p:txBody>
            <a:bodyPr/>
            <a:lstStyle/>
            <a:p>
              <a:endParaRPr lang="en-US"/>
            </a:p>
          </p:txBody>
        </p:sp>
        <p:sp>
          <p:nvSpPr>
            <p:cNvPr id="1043" name="Freeform 55"/>
            <p:cNvSpPr>
              <a:spLocks/>
            </p:cNvSpPr>
            <p:nvPr/>
          </p:nvSpPr>
          <p:spPr bwMode="auto">
            <a:xfrm>
              <a:off x="3713" y="2405"/>
              <a:ext cx="4700" cy="2113"/>
            </a:xfrm>
            <a:custGeom>
              <a:avLst/>
              <a:gdLst>
                <a:gd name="T0" fmla="*/ 0 w 5640"/>
                <a:gd name="T1" fmla="*/ 1788 h 2465"/>
                <a:gd name="T2" fmla="*/ 604 w 5640"/>
                <a:gd name="T3" fmla="*/ 1788 h 2465"/>
                <a:gd name="T4" fmla="*/ 833 w 5640"/>
                <a:gd name="T5" fmla="*/ 1711 h 2465"/>
                <a:gd name="T6" fmla="*/ 896 w 5640"/>
                <a:gd name="T7" fmla="*/ 1666 h 2465"/>
                <a:gd name="T8" fmla="*/ 917 w 5640"/>
                <a:gd name="T9" fmla="*/ 1634 h 2465"/>
                <a:gd name="T10" fmla="*/ 948 w 5640"/>
                <a:gd name="T11" fmla="*/ 1623 h 2465"/>
                <a:gd name="T12" fmla="*/ 1021 w 5640"/>
                <a:gd name="T13" fmla="*/ 1534 h 2465"/>
                <a:gd name="T14" fmla="*/ 1104 w 5640"/>
                <a:gd name="T15" fmla="*/ 1413 h 2465"/>
                <a:gd name="T16" fmla="*/ 1135 w 5640"/>
                <a:gd name="T17" fmla="*/ 1347 h 2465"/>
                <a:gd name="T18" fmla="*/ 1208 w 5640"/>
                <a:gd name="T19" fmla="*/ 1237 h 2465"/>
                <a:gd name="T20" fmla="*/ 1239 w 5640"/>
                <a:gd name="T21" fmla="*/ 1204 h 2465"/>
                <a:gd name="T22" fmla="*/ 1302 w 5640"/>
                <a:gd name="T23" fmla="*/ 994 h 2465"/>
                <a:gd name="T24" fmla="*/ 1333 w 5640"/>
                <a:gd name="T25" fmla="*/ 983 h 2465"/>
                <a:gd name="T26" fmla="*/ 1385 w 5640"/>
                <a:gd name="T27" fmla="*/ 917 h 2465"/>
                <a:gd name="T28" fmla="*/ 1406 w 5640"/>
                <a:gd name="T29" fmla="*/ 851 h 2465"/>
                <a:gd name="T30" fmla="*/ 1427 w 5640"/>
                <a:gd name="T31" fmla="*/ 818 h 2465"/>
                <a:gd name="T32" fmla="*/ 1615 w 5640"/>
                <a:gd name="T33" fmla="*/ 609 h 2465"/>
                <a:gd name="T34" fmla="*/ 1677 w 5640"/>
                <a:gd name="T35" fmla="*/ 531 h 2465"/>
                <a:gd name="T36" fmla="*/ 1708 w 5640"/>
                <a:gd name="T37" fmla="*/ 465 h 2465"/>
                <a:gd name="T38" fmla="*/ 1813 w 5640"/>
                <a:gd name="T39" fmla="*/ 289 h 2465"/>
                <a:gd name="T40" fmla="*/ 1886 w 5640"/>
                <a:gd name="T41" fmla="*/ 212 h 2465"/>
                <a:gd name="T42" fmla="*/ 1938 w 5640"/>
                <a:gd name="T43" fmla="*/ 112 h 2465"/>
                <a:gd name="T44" fmla="*/ 2177 w 5640"/>
                <a:gd name="T45" fmla="*/ 13 h 2465"/>
                <a:gd name="T46" fmla="*/ 2458 w 5640"/>
                <a:gd name="T47" fmla="*/ 46 h 2465"/>
                <a:gd name="T48" fmla="*/ 2656 w 5640"/>
                <a:gd name="T49" fmla="*/ 57 h 2465"/>
                <a:gd name="T50" fmla="*/ 2907 w 5640"/>
                <a:gd name="T51" fmla="*/ 69 h 2465"/>
                <a:gd name="T52" fmla="*/ 3708 w 5640"/>
                <a:gd name="T53" fmla="*/ 57 h 2465"/>
                <a:gd name="T54" fmla="*/ 3771 w 5640"/>
                <a:gd name="T55" fmla="*/ 101 h 2465"/>
                <a:gd name="T56" fmla="*/ 3782 w 5640"/>
                <a:gd name="T57" fmla="*/ 135 h 2465"/>
                <a:gd name="T58" fmla="*/ 3813 w 5640"/>
                <a:gd name="T59" fmla="*/ 157 h 2465"/>
                <a:gd name="T60" fmla="*/ 3854 w 5640"/>
                <a:gd name="T61" fmla="*/ 321 h 2465"/>
                <a:gd name="T62" fmla="*/ 3886 w 5640"/>
                <a:gd name="T63" fmla="*/ 388 h 2465"/>
                <a:gd name="T64" fmla="*/ 3896 w 5640"/>
                <a:gd name="T65" fmla="*/ 1005 h 2465"/>
                <a:gd name="T66" fmla="*/ 3917 w 5640"/>
                <a:gd name="T67" fmla="*/ 1270 h 24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40"/>
                <a:gd name="T103" fmla="*/ 0 h 2465"/>
                <a:gd name="T104" fmla="*/ 5640 w 5640"/>
                <a:gd name="T105" fmla="*/ 2465 h 24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40" h="2465">
                  <a:moveTo>
                    <a:pt x="0" y="2433"/>
                  </a:moveTo>
                  <a:cubicBezTo>
                    <a:pt x="381" y="2465"/>
                    <a:pt x="227" y="2458"/>
                    <a:pt x="870" y="2433"/>
                  </a:cubicBezTo>
                  <a:cubicBezTo>
                    <a:pt x="985" y="2428"/>
                    <a:pt x="1094" y="2363"/>
                    <a:pt x="1200" y="2328"/>
                  </a:cubicBezTo>
                  <a:cubicBezTo>
                    <a:pt x="1234" y="2317"/>
                    <a:pt x="1290" y="2268"/>
                    <a:pt x="1290" y="2268"/>
                  </a:cubicBezTo>
                  <a:cubicBezTo>
                    <a:pt x="1300" y="2253"/>
                    <a:pt x="1306" y="2234"/>
                    <a:pt x="1320" y="2223"/>
                  </a:cubicBezTo>
                  <a:cubicBezTo>
                    <a:pt x="1332" y="2213"/>
                    <a:pt x="1354" y="2219"/>
                    <a:pt x="1365" y="2208"/>
                  </a:cubicBezTo>
                  <a:cubicBezTo>
                    <a:pt x="1540" y="2033"/>
                    <a:pt x="1343" y="2173"/>
                    <a:pt x="1470" y="2088"/>
                  </a:cubicBezTo>
                  <a:cubicBezTo>
                    <a:pt x="1494" y="2015"/>
                    <a:pt x="1528" y="1965"/>
                    <a:pt x="1590" y="1923"/>
                  </a:cubicBezTo>
                  <a:cubicBezTo>
                    <a:pt x="1645" y="1759"/>
                    <a:pt x="1557" y="2007"/>
                    <a:pt x="1635" y="1833"/>
                  </a:cubicBezTo>
                  <a:cubicBezTo>
                    <a:pt x="1671" y="1751"/>
                    <a:pt x="1648" y="1714"/>
                    <a:pt x="1740" y="1683"/>
                  </a:cubicBezTo>
                  <a:cubicBezTo>
                    <a:pt x="1755" y="1668"/>
                    <a:pt x="1775" y="1657"/>
                    <a:pt x="1785" y="1638"/>
                  </a:cubicBezTo>
                  <a:cubicBezTo>
                    <a:pt x="1830" y="1558"/>
                    <a:pt x="1817" y="1422"/>
                    <a:pt x="1875" y="1353"/>
                  </a:cubicBezTo>
                  <a:cubicBezTo>
                    <a:pt x="1885" y="1341"/>
                    <a:pt x="1905" y="1343"/>
                    <a:pt x="1920" y="1338"/>
                  </a:cubicBezTo>
                  <a:cubicBezTo>
                    <a:pt x="1942" y="1306"/>
                    <a:pt x="1976" y="1282"/>
                    <a:pt x="1995" y="1248"/>
                  </a:cubicBezTo>
                  <a:cubicBezTo>
                    <a:pt x="2010" y="1220"/>
                    <a:pt x="2015" y="1188"/>
                    <a:pt x="2025" y="1158"/>
                  </a:cubicBezTo>
                  <a:cubicBezTo>
                    <a:pt x="2031" y="1141"/>
                    <a:pt x="2047" y="1129"/>
                    <a:pt x="2055" y="1113"/>
                  </a:cubicBezTo>
                  <a:cubicBezTo>
                    <a:pt x="2116" y="991"/>
                    <a:pt x="2183" y="863"/>
                    <a:pt x="2325" y="828"/>
                  </a:cubicBezTo>
                  <a:cubicBezTo>
                    <a:pt x="2347" y="763"/>
                    <a:pt x="2348" y="745"/>
                    <a:pt x="2415" y="723"/>
                  </a:cubicBezTo>
                  <a:cubicBezTo>
                    <a:pt x="2453" y="610"/>
                    <a:pt x="2402" y="749"/>
                    <a:pt x="2460" y="633"/>
                  </a:cubicBezTo>
                  <a:cubicBezTo>
                    <a:pt x="2504" y="544"/>
                    <a:pt x="2538" y="465"/>
                    <a:pt x="2610" y="393"/>
                  </a:cubicBezTo>
                  <a:cubicBezTo>
                    <a:pt x="2638" y="310"/>
                    <a:pt x="2656" y="359"/>
                    <a:pt x="2715" y="288"/>
                  </a:cubicBezTo>
                  <a:cubicBezTo>
                    <a:pt x="2749" y="248"/>
                    <a:pt x="2750" y="187"/>
                    <a:pt x="2790" y="153"/>
                  </a:cubicBezTo>
                  <a:cubicBezTo>
                    <a:pt x="2889" y="68"/>
                    <a:pt x="3016" y="58"/>
                    <a:pt x="3135" y="18"/>
                  </a:cubicBezTo>
                  <a:cubicBezTo>
                    <a:pt x="3482" y="35"/>
                    <a:pt x="3350" y="0"/>
                    <a:pt x="3540" y="63"/>
                  </a:cubicBezTo>
                  <a:cubicBezTo>
                    <a:pt x="3630" y="93"/>
                    <a:pt x="3730" y="74"/>
                    <a:pt x="3825" y="78"/>
                  </a:cubicBezTo>
                  <a:cubicBezTo>
                    <a:pt x="3945" y="84"/>
                    <a:pt x="4065" y="88"/>
                    <a:pt x="4185" y="93"/>
                  </a:cubicBezTo>
                  <a:cubicBezTo>
                    <a:pt x="4706" y="74"/>
                    <a:pt x="4736" y="65"/>
                    <a:pt x="5340" y="78"/>
                  </a:cubicBezTo>
                  <a:cubicBezTo>
                    <a:pt x="5387" y="94"/>
                    <a:pt x="5398" y="90"/>
                    <a:pt x="5430" y="138"/>
                  </a:cubicBezTo>
                  <a:cubicBezTo>
                    <a:pt x="5439" y="151"/>
                    <a:pt x="5435" y="171"/>
                    <a:pt x="5445" y="183"/>
                  </a:cubicBezTo>
                  <a:cubicBezTo>
                    <a:pt x="5456" y="197"/>
                    <a:pt x="5475" y="203"/>
                    <a:pt x="5490" y="213"/>
                  </a:cubicBezTo>
                  <a:cubicBezTo>
                    <a:pt x="5501" y="291"/>
                    <a:pt x="5514" y="367"/>
                    <a:pt x="5550" y="438"/>
                  </a:cubicBezTo>
                  <a:cubicBezTo>
                    <a:pt x="5608" y="554"/>
                    <a:pt x="5557" y="415"/>
                    <a:pt x="5595" y="528"/>
                  </a:cubicBezTo>
                  <a:cubicBezTo>
                    <a:pt x="5600" y="808"/>
                    <a:pt x="5601" y="1088"/>
                    <a:pt x="5610" y="1368"/>
                  </a:cubicBezTo>
                  <a:cubicBezTo>
                    <a:pt x="5614" y="1506"/>
                    <a:pt x="5640" y="1580"/>
                    <a:pt x="5640" y="1728"/>
                  </a:cubicBezTo>
                </a:path>
              </a:pathLst>
            </a:custGeom>
            <a:noFill/>
            <a:ln w="9525">
              <a:solidFill>
                <a:srgbClr val="000000"/>
              </a:solidFill>
              <a:round/>
              <a:headEnd/>
              <a:tailEnd/>
            </a:ln>
          </p:spPr>
          <p:txBody>
            <a:bodyPr/>
            <a:lstStyle/>
            <a:p>
              <a:endParaRPr lang="en-US"/>
            </a:p>
          </p:txBody>
        </p:sp>
        <p:sp>
          <p:nvSpPr>
            <p:cNvPr id="1044" name="Line 56"/>
            <p:cNvSpPr>
              <a:spLocks noChangeShapeType="1"/>
            </p:cNvSpPr>
            <p:nvPr/>
          </p:nvSpPr>
          <p:spPr bwMode="auto">
            <a:xfrm>
              <a:off x="4463" y="4410"/>
              <a:ext cx="150" cy="154"/>
            </a:xfrm>
            <a:prstGeom prst="line">
              <a:avLst/>
            </a:prstGeom>
            <a:noFill/>
            <a:ln w="9525">
              <a:solidFill>
                <a:srgbClr val="000000"/>
              </a:solidFill>
              <a:round/>
              <a:headEnd/>
              <a:tailEnd/>
            </a:ln>
          </p:spPr>
          <p:txBody>
            <a:bodyPr/>
            <a:lstStyle/>
            <a:p>
              <a:endParaRPr lang="en-US"/>
            </a:p>
          </p:txBody>
        </p:sp>
        <p:sp>
          <p:nvSpPr>
            <p:cNvPr id="1045" name="Line 57"/>
            <p:cNvSpPr>
              <a:spLocks noChangeShapeType="1"/>
            </p:cNvSpPr>
            <p:nvPr/>
          </p:nvSpPr>
          <p:spPr bwMode="auto">
            <a:xfrm>
              <a:off x="4763" y="4101"/>
              <a:ext cx="150" cy="155"/>
            </a:xfrm>
            <a:prstGeom prst="line">
              <a:avLst/>
            </a:prstGeom>
            <a:noFill/>
            <a:ln w="9525">
              <a:solidFill>
                <a:srgbClr val="000000"/>
              </a:solidFill>
              <a:round/>
              <a:headEnd/>
              <a:tailEnd/>
            </a:ln>
          </p:spPr>
          <p:txBody>
            <a:bodyPr/>
            <a:lstStyle/>
            <a:p>
              <a:endParaRPr lang="en-US"/>
            </a:p>
          </p:txBody>
        </p:sp>
        <p:sp>
          <p:nvSpPr>
            <p:cNvPr id="1046" name="Line 58"/>
            <p:cNvSpPr>
              <a:spLocks noChangeShapeType="1"/>
            </p:cNvSpPr>
            <p:nvPr/>
          </p:nvSpPr>
          <p:spPr bwMode="auto">
            <a:xfrm>
              <a:off x="5963" y="2405"/>
              <a:ext cx="150" cy="308"/>
            </a:xfrm>
            <a:prstGeom prst="line">
              <a:avLst/>
            </a:prstGeom>
            <a:noFill/>
            <a:ln w="9525">
              <a:solidFill>
                <a:srgbClr val="000000"/>
              </a:solidFill>
              <a:round/>
              <a:headEnd/>
              <a:tailEnd/>
            </a:ln>
          </p:spPr>
          <p:txBody>
            <a:bodyPr/>
            <a:lstStyle/>
            <a:p>
              <a:endParaRPr lang="en-US"/>
            </a:p>
          </p:txBody>
        </p:sp>
        <p:sp>
          <p:nvSpPr>
            <p:cNvPr id="1047" name="Line 59"/>
            <p:cNvSpPr>
              <a:spLocks noChangeShapeType="1"/>
            </p:cNvSpPr>
            <p:nvPr/>
          </p:nvSpPr>
          <p:spPr bwMode="auto">
            <a:xfrm>
              <a:off x="6263" y="2250"/>
              <a:ext cx="150" cy="309"/>
            </a:xfrm>
            <a:prstGeom prst="line">
              <a:avLst/>
            </a:prstGeom>
            <a:noFill/>
            <a:ln w="9525">
              <a:solidFill>
                <a:srgbClr val="000000"/>
              </a:solidFill>
              <a:round/>
              <a:headEnd/>
              <a:tailEnd/>
            </a:ln>
          </p:spPr>
          <p:txBody>
            <a:bodyPr/>
            <a:lstStyle/>
            <a:p>
              <a:endParaRPr lang="en-US"/>
            </a:p>
          </p:txBody>
        </p:sp>
        <p:sp>
          <p:nvSpPr>
            <p:cNvPr id="1048" name="Line 60"/>
            <p:cNvSpPr>
              <a:spLocks noChangeShapeType="1"/>
            </p:cNvSpPr>
            <p:nvPr/>
          </p:nvSpPr>
          <p:spPr bwMode="auto">
            <a:xfrm>
              <a:off x="8213" y="2250"/>
              <a:ext cx="0" cy="309"/>
            </a:xfrm>
            <a:prstGeom prst="line">
              <a:avLst/>
            </a:prstGeom>
            <a:noFill/>
            <a:ln w="9525">
              <a:solidFill>
                <a:srgbClr val="000000"/>
              </a:solidFill>
              <a:round/>
              <a:headEnd/>
              <a:tailEnd/>
            </a:ln>
          </p:spPr>
          <p:txBody>
            <a:bodyPr/>
            <a:lstStyle/>
            <a:p>
              <a:endParaRPr lang="en-US"/>
            </a:p>
          </p:txBody>
        </p:sp>
      </p:grpSp>
      <p:sp>
        <p:nvSpPr>
          <p:cNvPr id="1029" name="Rectangle 61"/>
          <p:cNvSpPr>
            <a:spLocks noChangeArrowheads="1"/>
          </p:cNvSpPr>
          <p:nvPr/>
        </p:nvSpPr>
        <p:spPr bwMode="auto">
          <a:xfrm>
            <a:off x="2514600" y="4572000"/>
            <a:ext cx="304800" cy="152400"/>
          </a:xfrm>
          <a:prstGeom prst="rect">
            <a:avLst/>
          </a:prstGeom>
          <a:solidFill>
            <a:schemeClr val="accent1"/>
          </a:solidFill>
          <a:ln w="9525">
            <a:solidFill>
              <a:schemeClr val="tx1"/>
            </a:solidFill>
            <a:miter lim="800000"/>
            <a:headEnd/>
            <a:tailEnd/>
          </a:ln>
        </p:spPr>
        <p:txBody>
          <a:bodyPr wrap="none" anchor="ctr"/>
          <a:lstStyle/>
          <a:p>
            <a:pPr algn="ctr"/>
            <a:endParaRPr lang="en-US"/>
          </a:p>
        </p:txBody>
      </p:sp>
      <p:sp>
        <p:nvSpPr>
          <p:cNvPr id="1030" name="Oval 63"/>
          <p:cNvSpPr>
            <a:spLocks noChangeArrowheads="1"/>
          </p:cNvSpPr>
          <p:nvPr/>
        </p:nvSpPr>
        <p:spPr bwMode="auto">
          <a:xfrm>
            <a:off x="2971800" y="4419600"/>
            <a:ext cx="152400" cy="228600"/>
          </a:xfrm>
          <a:prstGeom prst="ellipse">
            <a:avLst/>
          </a:prstGeom>
          <a:solidFill>
            <a:schemeClr val="accent1"/>
          </a:solidFill>
          <a:ln w="9525">
            <a:solidFill>
              <a:schemeClr val="tx1"/>
            </a:solidFill>
            <a:round/>
            <a:headEnd/>
            <a:tailEnd/>
          </a:ln>
        </p:spPr>
        <p:txBody>
          <a:bodyPr wrap="none" anchor="ctr"/>
          <a:lstStyle/>
          <a:p>
            <a:pPr algn="ctr"/>
            <a:r>
              <a:rPr lang="en-US"/>
              <a:t>B</a:t>
            </a:r>
          </a:p>
        </p:txBody>
      </p:sp>
      <p:sp>
        <p:nvSpPr>
          <p:cNvPr id="1031" name="Oval 64"/>
          <p:cNvSpPr>
            <a:spLocks noChangeArrowheads="1"/>
          </p:cNvSpPr>
          <p:nvPr/>
        </p:nvSpPr>
        <p:spPr bwMode="auto">
          <a:xfrm>
            <a:off x="3352800" y="3810000"/>
            <a:ext cx="228600" cy="228600"/>
          </a:xfrm>
          <a:prstGeom prst="ellipse">
            <a:avLst/>
          </a:prstGeom>
          <a:solidFill>
            <a:schemeClr val="accent1"/>
          </a:solidFill>
          <a:ln w="9525">
            <a:solidFill>
              <a:schemeClr val="tx1"/>
            </a:solidFill>
            <a:round/>
            <a:headEnd/>
            <a:tailEnd/>
          </a:ln>
        </p:spPr>
        <p:txBody>
          <a:bodyPr wrap="none" anchor="ctr"/>
          <a:lstStyle/>
          <a:p>
            <a:pPr algn="ctr"/>
            <a:r>
              <a:rPr lang="en-US"/>
              <a:t>c</a:t>
            </a:r>
          </a:p>
        </p:txBody>
      </p:sp>
      <p:sp>
        <p:nvSpPr>
          <p:cNvPr id="1032" name="Oval 65"/>
          <p:cNvSpPr>
            <a:spLocks noChangeArrowheads="1"/>
          </p:cNvSpPr>
          <p:nvPr/>
        </p:nvSpPr>
        <p:spPr bwMode="auto">
          <a:xfrm>
            <a:off x="4114800" y="2895600"/>
            <a:ext cx="228600" cy="228600"/>
          </a:xfrm>
          <a:prstGeom prst="ellipse">
            <a:avLst/>
          </a:prstGeom>
          <a:solidFill>
            <a:schemeClr val="accent1"/>
          </a:solidFill>
          <a:ln w="9525">
            <a:solidFill>
              <a:schemeClr val="tx1"/>
            </a:solidFill>
            <a:round/>
            <a:headEnd/>
            <a:tailEnd/>
          </a:ln>
        </p:spPr>
        <p:txBody>
          <a:bodyPr wrap="none" anchor="ctr"/>
          <a:lstStyle/>
          <a:p>
            <a:pPr algn="ctr"/>
            <a:r>
              <a:rPr lang="en-US"/>
              <a:t>D</a:t>
            </a:r>
          </a:p>
        </p:txBody>
      </p:sp>
      <p:sp>
        <p:nvSpPr>
          <p:cNvPr id="1033" name="Oval 66"/>
          <p:cNvSpPr>
            <a:spLocks noChangeArrowheads="1"/>
          </p:cNvSpPr>
          <p:nvPr/>
        </p:nvSpPr>
        <p:spPr bwMode="auto">
          <a:xfrm>
            <a:off x="4953000" y="2971800"/>
            <a:ext cx="304800" cy="228600"/>
          </a:xfrm>
          <a:prstGeom prst="ellipse">
            <a:avLst/>
          </a:prstGeom>
          <a:solidFill>
            <a:schemeClr val="accent1"/>
          </a:solidFill>
          <a:ln w="9525">
            <a:solidFill>
              <a:schemeClr val="tx1"/>
            </a:solidFill>
            <a:round/>
            <a:headEnd/>
            <a:tailEnd/>
          </a:ln>
        </p:spPr>
        <p:txBody>
          <a:bodyPr wrap="none" anchor="ctr"/>
          <a:lstStyle/>
          <a:p>
            <a:pPr algn="ctr"/>
            <a:r>
              <a:rPr lang="en-US"/>
              <a:t>e</a:t>
            </a:r>
          </a:p>
        </p:txBody>
      </p:sp>
      <p:sp>
        <p:nvSpPr>
          <p:cNvPr id="1034" name="Oval 67"/>
          <p:cNvSpPr>
            <a:spLocks noChangeArrowheads="1"/>
          </p:cNvSpPr>
          <p:nvPr/>
        </p:nvSpPr>
        <p:spPr bwMode="auto">
          <a:xfrm>
            <a:off x="6019800" y="3429000"/>
            <a:ext cx="304800" cy="381000"/>
          </a:xfrm>
          <a:prstGeom prst="ellipse">
            <a:avLst/>
          </a:prstGeom>
          <a:solidFill>
            <a:schemeClr val="accent1"/>
          </a:solidFill>
          <a:ln w="9525">
            <a:solidFill>
              <a:schemeClr val="tx1"/>
            </a:solidFill>
            <a:round/>
            <a:headEnd/>
            <a:tailEnd/>
          </a:ln>
        </p:spPr>
        <p:txBody>
          <a:bodyPr wrap="none" anchor="ctr"/>
          <a:lstStyle/>
          <a:p>
            <a:pPr algn="ctr"/>
            <a:r>
              <a:rPr lang="en-US"/>
              <a:t>F</a:t>
            </a:r>
          </a:p>
        </p:txBody>
      </p:sp>
      <p:sp>
        <p:nvSpPr>
          <p:cNvPr id="1035" name="Oval 68"/>
          <p:cNvSpPr>
            <a:spLocks noChangeArrowheads="1"/>
          </p:cNvSpPr>
          <p:nvPr/>
        </p:nvSpPr>
        <p:spPr bwMode="auto">
          <a:xfrm>
            <a:off x="4800600" y="5257800"/>
            <a:ext cx="1295400" cy="228600"/>
          </a:xfrm>
          <a:prstGeom prst="ellipse">
            <a:avLst/>
          </a:prstGeom>
          <a:solidFill>
            <a:schemeClr val="accent1"/>
          </a:solidFill>
          <a:ln w="9525">
            <a:solidFill>
              <a:schemeClr val="tx1"/>
            </a:solidFill>
            <a:round/>
            <a:headEnd/>
            <a:tailEnd/>
          </a:ln>
        </p:spPr>
        <p:txBody>
          <a:bodyPr wrap="none" anchor="ctr"/>
          <a:lstStyle/>
          <a:p>
            <a:pPr algn="ctr"/>
            <a:r>
              <a:rPr lang="en-US"/>
              <a:t>Time</a:t>
            </a:r>
          </a:p>
        </p:txBody>
      </p:sp>
      <p:sp>
        <p:nvSpPr>
          <p:cNvPr id="1036" name="Oval 69"/>
          <p:cNvSpPr>
            <a:spLocks noChangeArrowheads="1"/>
          </p:cNvSpPr>
          <p:nvPr/>
        </p:nvSpPr>
        <p:spPr bwMode="auto">
          <a:xfrm rot="-5400000">
            <a:off x="1143000" y="3276600"/>
            <a:ext cx="914400" cy="914400"/>
          </a:xfrm>
          <a:prstGeom prst="ellipse">
            <a:avLst/>
          </a:prstGeom>
          <a:solidFill>
            <a:schemeClr val="accent1"/>
          </a:solidFill>
          <a:ln w="9525">
            <a:solidFill>
              <a:schemeClr val="tx1"/>
            </a:solidFill>
            <a:round/>
            <a:headEnd/>
            <a:tailEnd/>
          </a:ln>
        </p:spPr>
        <p:txBody>
          <a:bodyPr wrap="none" anchor="ctr"/>
          <a:lstStyle/>
          <a:p>
            <a:pPr algn="ctr"/>
            <a:r>
              <a:rPr lang="en-US"/>
              <a:t>Biomass</a:t>
            </a:r>
          </a:p>
        </p:txBody>
      </p:sp>
      <p:sp>
        <p:nvSpPr>
          <p:cNvPr id="1037" name="Text Box 70"/>
          <p:cNvSpPr txBox="1">
            <a:spLocks noChangeArrowheads="1"/>
          </p:cNvSpPr>
          <p:nvPr/>
        </p:nvSpPr>
        <p:spPr bwMode="auto">
          <a:xfrm>
            <a:off x="1965325" y="6324600"/>
            <a:ext cx="184150" cy="366713"/>
          </a:xfrm>
          <a:prstGeom prst="rect">
            <a:avLst/>
          </a:prstGeom>
          <a:noFill/>
          <a:ln w="9525">
            <a:noFill/>
            <a:miter lim="800000"/>
            <a:headEnd/>
            <a:tailEnd/>
          </a:ln>
        </p:spPr>
        <p:txBody>
          <a:bodyPr>
            <a:spAutoFit/>
          </a:bodyPr>
          <a:lstStyle/>
          <a:p>
            <a:pPr>
              <a:spcBef>
                <a:spcPct val="50000"/>
              </a:spcBef>
            </a:pPr>
            <a:r>
              <a:rPr lang="en-US"/>
              <a:t>a</a:t>
            </a:r>
          </a:p>
        </p:txBody>
      </p:sp>
      <p:sp>
        <p:nvSpPr>
          <p:cNvPr id="1038" name="Text Box 71"/>
          <p:cNvSpPr txBox="1">
            <a:spLocks noChangeArrowheads="1"/>
          </p:cNvSpPr>
          <p:nvPr/>
        </p:nvSpPr>
        <p:spPr bwMode="auto">
          <a:xfrm>
            <a:off x="2514600" y="4495800"/>
            <a:ext cx="304800" cy="366713"/>
          </a:xfrm>
          <a:prstGeom prst="rect">
            <a:avLst/>
          </a:prstGeom>
          <a:noFill/>
          <a:ln w="9525">
            <a:noFill/>
            <a:miter lim="800000"/>
            <a:headEnd/>
            <a:tailEnd/>
          </a:ln>
        </p:spPr>
        <p:txBody>
          <a:bodyPr>
            <a:spAutoFit/>
          </a:bodyPr>
          <a:lstStyle/>
          <a:p>
            <a:pPr>
              <a:spcBef>
                <a:spcPct val="50000"/>
              </a:spcBef>
            </a:pPr>
            <a:r>
              <a:rPr lang="en-US"/>
              <a:t>A</a:t>
            </a:r>
          </a:p>
        </p:txBody>
      </p:sp>
    </p:spTree>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GB" sz="3600" smtClean="0"/>
              <a:t>Section</a:t>
            </a:r>
            <a:r>
              <a:rPr lang="en-GB" sz="4000" smtClean="0"/>
              <a:t> of curve: Phase: growth rate</a:t>
            </a:r>
          </a:p>
        </p:txBody>
      </p:sp>
      <p:sp>
        <p:nvSpPr>
          <p:cNvPr id="69635" name="Rectangle 3"/>
          <p:cNvSpPr>
            <a:spLocks noGrp="1" noChangeArrowheads="1"/>
          </p:cNvSpPr>
          <p:nvPr>
            <p:ph idx="1"/>
          </p:nvPr>
        </p:nvSpPr>
        <p:spPr/>
        <p:txBody>
          <a:bodyPr/>
          <a:lstStyle/>
          <a:p>
            <a:pPr eaLnBrk="1" hangingPunct="1"/>
            <a:r>
              <a:rPr lang="en-GB" smtClean="0"/>
              <a:t>A                    lag           	zero</a:t>
            </a:r>
          </a:p>
          <a:p>
            <a:pPr eaLnBrk="1" hangingPunct="1"/>
            <a:r>
              <a:rPr lang="en-GB" smtClean="0"/>
              <a:t>B                    acceration      increasing</a:t>
            </a:r>
          </a:p>
          <a:p>
            <a:pPr eaLnBrk="1" hangingPunct="1"/>
            <a:r>
              <a:rPr lang="en-GB" smtClean="0"/>
              <a:t>C			exponential	constant</a:t>
            </a:r>
          </a:p>
          <a:p>
            <a:pPr eaLnBrk="1" hangingPunct="1"/>
            <a:r>
              <a:rPr lang="en-GB" smtClean="0"/>
              <a:t>D			Retardation	decreasing</a:t>
            </a:r>
          </a:p>
          <a:p>
            <a:pPr eaLnBrk="1" hangingPunct="1"/>
            <a:r>
              <a:rPr lang="en-GB" smtClean="0"/>
              <a:t>E		</a:t>
            </a:r>
            <a:r>
              <a:rPr lang="en-GB" sz="2800" smtClean="0"/>
              <a:t>maximum</a:t>
            </a:r>
            <a:r>
              <a:rPr lang="en-GB" smtClean="0"/>
              <a:t> </a:t>
            </a:r>
            <a:r>
              <a:rPr lang="en-GB" sz="2800" smtClean="0"/>
              <a:t>stationary</a:t>
            </a:r>
            <a:r>
              <a:rPr lang="en-GB" smtClean="0"/>
              <a:t>	zero</a:t>
            </a:r>
          </a:p>
          <a:p>
            <a:pPr eaLnBrk="1" hangingPunct="1"/>
            <a:r>
              <a:rPr lang="en-GB" smtClean="0"/>
              <a:t>F		decline			negative (</a:t>
            </a:r>
            <a:r>
              <a:rPr lang="en-GB" sz="2000" smtClean="0"/>
              <a:t>death</a:t>
            </a:r>
            <a:r>
              <a:rPr lang="en-GB" smtClean="0"/>
              <a:t>)</a:t>
            </a:r>
          </a:p>
        </p:txBody>
      </p:sp>
    </p:spTree>
  </p:cSld>
  <p:clrMapOvr>
    <a:masterClrMapping/>
  </p:clrMapOvr>
  <p:transition>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Lag phase</a:t>
            </a:r>
            <a:endParaRPr lang="en-US" dirty="0"/>
          </a:p>
        </p:txBody>
      </p:sp>
      <p:sp>
        <p:nvSpPr>
          <p:cNvPr id="3" name="Content Placeholder 2"/>
          <p:cNvSpPr>
            <a:spLocks noGrp="1"/>
          </p:cNvSpPr>
          <p:nvPr>
            <p:ph idx="1"/>
          </p:nvPr>
        </p:nvSpPr>
        <p:spPr/>
        <p:txBody>
          <a:bodyPr/>
          <a:lstStyle/>
          <a:p>
            <a:r>
              <a:rPr lang="en-GB" dirty="0" smtClean="0"/>
              <a:t>Bacteria adjust to the new medium. Undergo intense metabolic activities involving DNA and enzyme synthesis.</a:t>
            </a:r>
          </a:p>
          <a:p>
            <a:endParaRPr lang="en-US" dirty="0"/>
          </a:p>
        </p:txBody>
      </p:sp>
    </p:spTree>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GB" dirty="0" smtClean="0"/>
              <a:t>The exponential (Log) phase</a:t>
            </a:r>
          </a:p>
        </p:txBody>
      </p:sp>
      <p:sp>
        <p:nvSpPr>
          <p:cNvPr id="71683" name="Rectangle 3"/>
          <p:cNvSpPr>
            <a:spLocks noGrp="1" noChangeArrowheads="1"/>
          </p:cNvSpPr>
          <p:nvPr>
            <p:ph idx="1"/>
          </p:nvPr>
        </p:nvSpPr>
        <p:spPr/>
        <p:txBody>
          <a:bodyPr/>
          <a:lstStyle/>
          <a:p>
            <a:pPr eaLnBrk="1" hangingPunct="1">
              <a:lnSpc>
                <a:spcPct val="90000"/>
              </a:lnSpc>
            </a:pPr>
            <a:r>
              <a:rPr lang="en-GB" dirty="0" smtClean="0"/>
              <a:t>B is the beginning of time for cells to divide.</a:t>
            </a:r>
          </a:p>
          <a:p>
            <a:pPr eaLnBrk="1" hangingPunct="1">
              <a:lnSpc>
                <a:spcPct val="90000"/>
              </a:lnSpc>
            </a:pPr>
            <a:r>
              <a:rPr lang="en-GB" dirty="0" smtClean="0"/>
              <a:t>Then the real exponential phase is reached. At the exponential (log)phase cellular division is most active and doubling time is constant. At this time microorganisms are most sensitive to adverse conditions such as drugs, </a:t>
            </a:r>
            <a:r>
              <a:rPr lang="en-GB" dirty="0" err="1" smtClean="0"/>
              <a:t>eg</a:t>
            </a:r>
            <a:r>
              <a:rPr lang="en-GB" dirty="0" smtClean="0"/>
              <a:t> penicillin and radiation which interfere with growth processes.</a:t>
            </a:r>
          </a:p>
        </p:txBody>
      </p:sp>
    </p:spTree>
  </p:cSld>
  <p:clrMapOvr>
    <a:masterClrMapping/>
  </p:clrMapOvr>
  <p:transition>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GB" smtClean="0"/>
              <a:t>The stationary phase: E</a:t>
            </a:r>
          </a:p>
        </p:txBody>
      </p:sp>
      <p:sp>
        <p:nvSpPr>
          <p:cNvPr id="72707" name="Rectangle 3"/>
          <p:cNvSpPr>
            <a:spLocks noGrp="1" noChangeArrowheads="1"/>
          </p:cNvSpPr>
          <p:nvPr>
            <p:ph idx="1"/>
          </p:nvPr>
        </p:nvSpPr>
        <p:spPr/>
        <p:txBody>
          <a:bodyPr/>
          <a:lstStyle/>
          <a:p>
            <a:pPr eaLnBrk="1" hangingPunct="1"/>
            <a:r>
              <a:rPr lang="en-GB" smtClean="0"/>
              <a:t>Phase D is the point where cell division is beginning to slow down. Then the stationary phase is reached where cells begin to die and some divide to balance the deaths. </a:t>
            </a:r>
          </a:p>
          <a:p>
            <a:pPr eaLnBrk="1" hangingPunct="1"/>
            <a:r>
              <a:rPr lang="en-GB" smtClean="0"/>
              <a:t>Here there is slow death of cells which is just balanced by the formation of new cells leading to the period of equilibrium. </a:t>
            </a:r>
          </a:p>
        </p:txBody>
      </p:sp>
    </p:spTree>
  </p:cSld>
  <p:clrMapOvr>
    <a:masterClrMapping/>
  </p:clrMapOvr>
  <p:transition>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GB" smtClean="0"/>
              <a:t>Death phase or decline</a:t>
            </a:r>
          </a:p>
        </p:txBody>
      </p:sp>
      <p:sp>
        <p:nvSpPr>
          <p:cNvPr id="73731" name="Rectangle 3"/>
          <p:cNvSpPr>
            <a:spLocks noGrp="1" noChangeArrowheads="1"/>
          </p:cNvSpPr>
          <p:nvPr>
            <p:ph idx="1"/>
          </p:nvPr>
        </p:nvSpPr>
        <p:spPr/>
        <p:txBody>
          <a:bodyPr/>
          <a:lstStyle/>
          <a:p>
            <a:pPr eaLnBrk="1" hangingPunct="1"/>
            <a:r>
              <a:rPr lang="en-GB" smtClean="0"/>
              <a:t>Either exhaustion of nutrients or accumulation of waste products harmful changes in pH play a role to halt cell division. The number of dead cell increase until all cells die completely. This takes a few days. Some retain surviving cells almost indefinitely. </a:t>
            </a:r>
          </a:p>
        </p:txBody>
      </p:sp>
    </p:spTree>
  </p:cSld>
  <p:clrMapOvr>
    <a:masterClrMapping/>
  </p:clrMapOvr>
  <p:transition>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GB" smtClean="0"/>
              <a:t>Requirements for growth</a:t>
            </a:r>
          </a:p>
        </p:txBody>
      </p:sp>
      <p:sp>
        <p:nvSpPr>
          <p:cNvPr id="74755" name="Rectangle 3"/>
          <p:cNvSpPr>
            <a:spLocks noGrp="1" noChangeArrowheads="1"/>
          </p:cNvSpPr>
          <p:nvPr>
            <p:ph idx="1"/>
          </p:nvPr>
        </p:nvSpPr>
        <p:spPr/>
        <p:txBody>
          <a:bodyPr/>
          <a:lstStyle/>
          <a:p>
            <a:pPr eaLnBrk="1" hangingPunct="1"/>
            <a:r>
              <a:rPr lang="en-GB" smtClean="0"/>
              <a:t>Divided into 2:</a:t>
            </a:r>
          </a:p>
          <a:p>
            <a:pPr eaLnBrk="1" hangingPunct="1"/>
            <a:endParaRPr lang="en-GB" smtClean="0"/>
          </a:p>
          <a:p>
            <a:pPr eaLnBrk="1" hangingPunct="1"/>
            <a:r>
              <a:rPr lang="en-GB" smtClean="0"/>
              <a:t>A:- Physical—Tempt, pH and osmotic pressure</a:t>
            </a:r>
          </a:p>
          <a:p>
            <a:pPr eaLnBrk="1" hangingPunct="1"/>
            <a:endParaRPr lang="en-GB" smtClean="0"/>
          </a:p>
          <a:p>
            <a:pPr eaLnBrk="1" hangingPunct="1"/>
            <a:r>
              <a:rPr lang="en-GB" smtClean="0"/>
              <a:t>B:- Chemical –water, source of carbon, N, O, organic growth factors.</a:t>
            </a:r>
          </a:p>
        </p:txBody>
      </p:sp>
    </p:spTree>
  </p:cSld>
  <p:clrMapOvr>
    <a:masterClrMapping/>
  </p:clrMapOvr>
  <p:transition>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endParaRPr lang="en-US" smtClean="0"/>
          </a:p>
        </p:txBody>
      </p:sp>
      <p:sp>
        <p:nvSpPr>
          <p:cNvPr id="75779" name="Rectangle 3"/>
          <p:cNvSpPr>
            <a:spLocks noGrp="1" noChangeArrowheads="1"/>
          </p:cNvSpPr>
          <p:nvPr>
            <p:ph idx="1"/>
          </p:nvPr>
        </p:nvSpPr>
        <p:spPr/>
        <p:txBody>
          <a:bodyPr/>
          <a:lstStyle/>
          <a:p>
            <a:pPr eaLnBrk="1" hangingPunct="1">
              <a:lnSpc>
                <a:spcPct val="90000"/>
              </a:lnSpc>
            </a:pPr>
            <a:endParaRPr lang="en-GB" smtClean="0"/>
          </a:p>
          <a:p>
            <a:pPr eaLnBrk="1" hangingPunct="1">
              <a:lnSpc>
                <a:spcPct val="90000"/>
              </a:lnSpc>
            </a:pPr>
            <a:r>
              <a:rPr lang="en-GB" smtClean="0"/>
              <a:t>Psychrophiles:- cold loving microbes</a:t>
            </a:r>
          </a:p>
          <a:p>
            <a:pPr eaLnBrk="1" hangingPunct="1">
              <a:lnSpc>
                <a:spcPct val="90000"/>
              </a:lnSpc>
            </a:pPr>
            <a:endParaRPr lang="en-GB" smtClean="0"/>
          </a:p>
          <a:p>
            <a:pPr eaLnBrk="1" hangingPunct="1">
              <a:lnSpc>
                <a:spcPct val="90000"/>
              </a:lnSpc>
            </a:pPr>
            <a:endParaRPr lang="en-GB" smtClean="0"/>
          </a:p>
          <a:p>
            <a:pPr eaLnBrk="1" hangingPunct="1">
              <a:lnSpc>
                <a:spcPct val="90000"/>
              </a:lnSpc>
            </a:pPr>
            <a:r>
              <a:rPr lang="en-GB" smtClean="0"/>
              <a:t>Mesophiles:-moderate temperature 				microbes</a:t>
            </a:r>
          </a:p>
          <a:p>
            <a:pPr eaLnBrk="1" hangingPunct="1">
              <a:lnSpc>
                <a:spcPct val="90000"/>
              </a:lnSpc>
            </a:pPr>
            <a:endParaRPr lang="en-GB" smtClean="0"/>
          </a:p>
          <a:p>
            <a:pPr eaLnBrk="1" hangingPunct="1">
              <a:lnSpc>
                <a:spcPct val="90000"/>
              </a:lnSpc>
            </a:pPr>
            <a:r>
              <a:rPr lang="en-GB" smtClean="0"/>
              <a:t>Thermophiles:- Heat loving microbes</a:t>
            </a:r>
          </a:p>
          <a:p>
            <a:pPr eaLnBrk="1" hangingPunct="1">
              <a:lnSpc>
                <a:spcPct val="90000"/>
              </a:lnSpc>
            </a:pPr>
            <a:endParaRPr lang="en-GB" smtClean="0"/>
          </a:p>
          <a:p>
            <a:pPr eaLnBrk="1" hangingPunct="1">
              <a:lnSpc>
                <a:spcPct val="90000"/>
              </a:lnSpc>
            </a:pPr>
            <a:endParaRPr lang="en-GB" smtClean="0"/>
          </a:p>
        </p:txBody>
      </p:sp>
    </p:spTree>
  </p:cSld>
  <p:clrMapOvr>
    <a:masterClrMapping/>
  </p:clrMapOvr>
  <p:transition>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endParaRPr lang="en-US" smtClean="0"/>
          </a:p>
        </p:txBody>
      </p:sp>
      <p:sp>
        <p:nvSpPr>
          <p:cNvPr id="76803" name="Rectangle 3"/>
          <p:cNvSpPr>
            <a:spLocks noGrp="1" noChangeArrowheads="1"/>
          </p:cNvSpPr>
          <p:nvPr>
            <p:ph idx="1"/>
          </p:nvPr>
        </p:nvSpPr>
        <p:spPr/>
        <p:txBody>
          <a:bodyPr/>
          <a:lstStyle/>
          <a:p>
            <a:pPr eaLnBrk="1" hangingPunct="1"/>
            <a:r>
              <a:rPr lang="en-GB" smtClean="0"/>
              <a:t>Most microbes thrive in temperature ranges.</a:t>
            </a:r>
          </a:p>
          <a:p>
            <a:pPr eaLnBrk="1" hangingPunct="1"/>
            <a:r>
              <a:rPr lang="en-GB" smtClean="0"/>
              <a:t>But grow best at the optimum temperature</a:t>
            </a:r>
          </a:p>
        </p:txBody>
      </p:sp>
    </p:spTree>
  </p:cSld>
  <p:clrMapOvr>
    <a:masterClrMapping/>
  </p:clrMapOvr>
  <p:transition>
    <p:fad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endParaRPr lang="en-US" smtClean="0"/>
          </a:p>
        </p:txBody>
      </p:sp>
      <p:sp>
        <p:nvSpPr>
          <p:cNvPr id="77827" name="Rectangle 3"/>
          <p:cNvSpPr>
            <a:spLocks noGrp="1" noChangeArrowheads="1"/>
          </p:cNvSpPr>
          <p:nvPr>
            <p:ph idx="1"/>
          </p:nvPr>
        </p:nvSpPr>
        <p:spPr/>
        <p:txBody>
          <a:bodyPr/>
          <a:lstStyle/>
          <a:p>
            <a:pPr eaLnBrk="1" hangingPunct="1"/>
            <a:r>
              <a:rPr lang="en-GB" smtClean="0"/>
              <a:t>pH :-  Most bacteria grow in a narrow pH range.</a:t>
            </a:r>
          </a:p>
          <a:p>
            <a:pPr eaLnBrk="1" hangingPunct="1"/>
            <a:r>
              <a:rPr lang="en-GB" smtClean="0"/>
              <a:t>Most pathogenic bacteria grow in a pH range of 6.5-7.5</a:t>
            </a:r>
          </a:p>
          <a:p>
            <a:pPr eaLnBrk="1" hangingPunct="1"/>
            <a:r>
              <a:rPr lang="en-GB" smtClean="0"/>
              <a:t>Most microbes are cultivated in a solution whose osmotic pressure balances that of the microbial cell to avoid plasmolysis.</a:t>
            </a:r>
          </a:p>
          <a:p>
            <a:pPr eaLnBrk="1" hangingPunct="1"/>
            <a:r>
              <a:rPr lang="en-GB" smtClean="0"/>
              <a:t>Halophiles tolerate high salt concentration.</a:t>
            </a:r>
          </a:p>
        </p:txBody>
      </p:sp>
    </p:spTree>
  </p:cSld>
  <p:clrMapOvr>
    <a:masterClrMapping/>
  </p:clrMapOvr>
  <p:transition>
    <p:fad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Death </a:t>
            </a:r>
            <a:endParaRPr lang="en-US" dirty="0"/>
          </a:p>
        </p:txBody>
      </p:sp>
      <p:sp>
        <p:nvSpPr>
          <p:cNvPr id="3" name="Content Placeholder 2"/>
          <p:cNvSpPr>
            <a:spLocks noGrp="1"/>
          </p:cNvSpPr>
          <p:nvPr>
            <p:ph idx="1"/>
          </p:nvPr>
        </p:nvSpPr>
        <p:spPr/>
        <p:txBody>
          <a:bodyPr/>
          <a:lstStyle/>
          <a:p>
            <a:r>
              <a:rPr lang="en-US" dirty="0" smtClean="0"/>
              <a:t>Cell  death means irreversible loss of ability to reproduce (divide). Death test is performed by culture of cells on solid media. Death is achieved if it fails to form a colony on the </a:t>
            </a:r>
            <a:r>
              <a:rPr lang="en-US" smtClean="0"/>
              <a:t>agar plate.</a:t>
            </a:r>
            <a:endParaRPr lang="en-US"/>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2580</TotalTime>
  <Words>2475</Words>
  <Application>Microsoft Office PowerPoint</Application>
  <PresentationFormat>On-screen Show (4:3)</PresentationFormat>
  <Paragraphs>270</Paragraphs>
  <Slides>77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Arial</vt:lpstr>
      <vt:lpstr>Calibri</vt:lpstr>
      <vt:lpstr>Calibri Light</vt:lpstr>
      <vt:lpstr>Office Theme</vt:lpstr>
      <vt:lpstr>References</vt:lpstr>
      <vt:lpstr>PowerPoint Presentation</vt:lpstr>
      <vt:lpstr>PowerPoint Presentation</vt:lpstr>
      <vt:lpstr>Microbial metabolism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Role of metabolism in the biosynthesis &amp; growth</vt:lpstr>
      <vt:lpstr>PowerPoint Presentation</vt:lpstr>
      <vt:lpstr>PowerPoint Presentation</vt:lpstr>
      <vt:lpstr>Products from Glucose 6-phosphate</vt:lpstr>
      <vt:lpstr>Biosynthetic end products formed from phosphoenolpyruvate.</vt:lpstr>
      <vt:lpstr>End products and intermediates from oxaloacetate</vt:lpstr>
      <vt:lpstr>End products formed from              α-ketoglutarate</vt:lpstr>
      <vt:lpstr>Microbial metabolism can be divided into 4 categories</vt:lpstr>
      <vt:lpstr>PowerPoint Presentation</vt:lpstr>
      <vt:lpstr>PowerPoint Presentation</vt:lpstr>
      <vt:lpstr>Microbial nutrition</vt:lpstr>
      <vt:lpstr>Nutrients</vt:lpstr>
      <vt:lpstr>Carbon</vt:lpstr>
      <vt:lpstr>PowerPoint Presentation</vt:lpstr>
      <vt:lpstr>Nitrogen</vt:lpstr>
      <vt:lpstr>PowerPoint Presentation</vt:lpstr>
      <vt:lpstr>Sulphur </vt:lpstr>
      <vt:lpstr>Phosphorus</vt:lpstr>
      <vt:lpstr>Minerals ie  trace elements</vt:lpstr>
      <vt:lpstr>Growth factors</vt:lpstr>
      <vt:lpstr>Some vitamins and functions</vt:lpstr>
      <vt:lpstr>Oxygen</vt:lpstr>
      <vt:lpstr>Cf:</vt:lpstr>
      <vt:lpstr>Radical oxygen (O2- ) </vt:lpstr>
      <vt:lpstr>PowerPoint Presentation</vt:lpstr>
      <vt:lpstr>Culture media</vt:lpstr>
      <vt:lpstr>PowerPoint Presentation</vt:lpstr>
      <vt:lpstr>Cultivation of microorganisms</vt:lpstr>
      <vt:lpstr>PowerPoint Presentation</vt:lpstr>
      <vt:lpstr>PowerPoint Presentation</vt:lpstr>
      <vt:lpstr>Agar</vt:lpstr>
      <vt:lpstr>Chemically defined media</vt:lpstr>
      <vt:lpstr>PowerPoint Presentation</vt:lpstr>
      <vt:lpstr>Complex media</vt:lpstr>
      <vt:lpstr>Anaerobic growth media</vt:lpstr>
      <vt:lpstr>Selective and differential media</vt:lpstr>
      <vt:lpstr>Enrichment medium</vt:lpstr>
      <vt:lpstr>PowerPoint Presentation</vt:lpstr>
      <vt:lpstr>Transport medium</vt:lpstr>
      <vt:lpstr>Pure culture</vt:lpstr>
      <vt:lpstr>Growth of bacteria</vt:lpstr>
      <vt:lpstr>Binary fission</vt:lpstr>
      <vt:lpstr>Generation time</vt:lpstr>
      <vt:lpstr>Exponential growth</vt:lpstr>
      <vt:lpstr>The growth curve</vt:lpstr>
      <vt:lpstr>GROWTH CURVE</vt:lpstr>
      <vt:lpstr>Section of curve: Phase: growth rate</vt:lpstr>
      <vt:lpstr>Lag phase</vt:lpstr>
      <vt:lpstr>The exponential (Log) phase</vt:lpstr>
      <vt:lpstr>The stationary phase: E</vt:lpstr>
      <vt:lpstr>Death phase or decline</vt:lpstr>
      <vt:lpstr>Requirements for growth</vt:lpstr>
      <vt:lpstr>PowerPoint Presentation</vt:lpstr>
      <vt:lpstr>PowerPoint Presentation</vt:lpstr>
      <vt:lpstr>PowerPoint Presentation</vt:lpstr>
      <vt:lpstr>Death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Nursing 1</dc:title>
  <dc:creator>Patrick</dc:creator>
  <cp:lastModifiedBy>WATSON</cp:lastModifiedBy>
  <cp:revision>99</cp:revision>
  <dcterms:created xsi:type="dcterms:W3CDTF">2005-02-09T18:35:44Z</dcterms:created>
  <dcterms:modified xsi:type="dcterms:W3CDTF">2016-06-08T12:23:31Z</dcterms:modified>
</cp:coreProperties>
</file>