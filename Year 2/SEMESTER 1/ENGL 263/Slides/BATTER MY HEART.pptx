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7" r:id="rId8"/>
    <p:sldId id="268" r:id="rId9"/>
    <p:sldId id="269" r:id="rId10"/>
    <p:sldId id="260" r:id="rId11"/>
    <p:sldId id="261" r:id="rId12"/>
    <p:sldId id="262" r:id="rId13"/>
    <p:sldId id="263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586B-B72D-4C26-920F-DACD6017ADD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02C92-4BF8-436B-A9A9-AD4737B219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4789B-4965-448E-B4F4-90FD758C44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1321F3-9A1B-48B1-BFCF-E9E7F5283422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9CCC5-5C44-4796-A3FA-96D2A174B7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60B7C-626A-4725-B892-62C1ECBFE34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7D0D8F-3C00-4AE6-A02B-4DDB4A406654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873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39B1-5095-423D-830C-333673F028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6A32-14C8-479A-AC65-844406761A9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4312-CD16-4618-88B7-9673210393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D8F22E8-24CF-432A-A4D4-BDB5599DBF98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71706-2A40-4B71-90FC-B1010D5A620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6F08C-4AE2-4DD9-BC06-B5686F4B45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4BB2ED-D2F3-4528-B889-15167D1606E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7760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BA679-E9B1-4363-870A-BBB1384092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A3390-9F19-463E-9B94-48489DB760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B607C-3052-49A8-922D-E0EC2E6EC72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64C53D-8B51-4461-A594-6BDCDF781405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A4606-6D6A-4D5C-B050-32B85024E6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22972-4DFC-4AF7-BB3A-D773D3D1FB4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9F7F1C-8097-4B22-9B50-004DCD5C043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45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FA18-AE10-4738-B69C-87C9ECCAFC6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2223B-D265-45D3-BDA4-1FDC5649B8C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E58AC-F16D-4DCD-A374-C22483005C9F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D57EB-3C13-4FE7-8AE1-D3D873A811A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666FB5-D502-44B9-9E04-234E8A4C2C11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FCA10-1F43-4D12-B681-A35C210414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1E835-1EF9-4BE7-B005-90E9E36B98E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00815B-B1E1-448F-8F4E-F06DFFA0B1D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269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C516-6B47-46CE-B6CA-D1F5D95DB4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636BD-6318-4A3D-A63B-E2CDBE893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877E9-B20B-4EF1-9416-7772F917B63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B01AB7-4169-4EDE-9676-60EC8F3DC9F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E2E091-610F-4CE4-AC89-BC45BE442836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148C79-11FD-4BBE-82FC-663520777C5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71B44D-15C7-47CC-BE35-F10D89567728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BB32A6-E880-455F-982D-09EEE891A1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400247-6A05-4A21-BBB9-42BFCD47ED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97CB3C9-3359-4508-BD1A-B6774A54849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159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CC909-C768-4715-825D-2EFD39FC69E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93766A-9791-4682-8F57-40F339D6D45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26BC86-3F53-400C-9012-79207F119900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031A3-C281-49F8-8927-FD3BE680C0B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F0D62-BC1D-4257-83A2-B80D3D13339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C83E64-4CD6-45FD-9257-1E71DE7E829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41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78AEA-8919-4456-93A8-DCAB21916D7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8B70567-9E7E-4F50-85D5-A87F2F86865C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F5D79-1AFB-443C-9D9C-BAFCD418941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642E4-56B8-4D1A-AF7D-17C20F38414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D1DE33-2414-4125-BADC-332EB0E0CC6F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8277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25377-90F9-464A-A8E8-A45C06E2A9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83B3B-CE35-4774-92F3-5D12C3FC5C1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B5A95-60A8-43EE-BD2E-C8EF0ED89CE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36680-9B2A-4DBE-BD89-12ECF60B68B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8BE82A9-A6EE-4899-AD06-7FDB070B2FC1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89980-0C07-4E20-8ECF-B54BAE131D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DD403-F0FF-417E-A3F3-966B0EE9D3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1B6B9B-F66C-48E2-AF80-0F0850F9B1F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533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E80D4-53C5-4EB8-A34B-4E97519AC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B56F0-E951-4D81-8160-5EC80D75A93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6511F-CF85-48FB-83E3-3F4DED01EF2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DF6D5-E38F-474B-8CEF-82352191D1D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C0487BB-E4B0-47F8-98B4-74BCF38FD695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525FA0-9FC9-41C9-A483-26E44D0D844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788CB-4676-4C09-BB84-28BAFE939FD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570BD4-129B-4420-8003-13EB6195BAD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3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F7541-0B3B-4301-BFB1-4C9E533079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76B2B-1579-4E7D-9A96-FA86C66424E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EAC65-8C3E-4B78-93D1-4DDF73E9C4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BBDA58-6096-4E21-9501-3DCF41699526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1FE3E-525B-4A42-BB46-47ABE7831D1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4892A-05C1-4017-BC59-80F972A831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1B3CF95-F92F-4ABD-BE56-9CAF5FB0780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613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23C962-63D7-4917-BCBF-8231DDD4DFD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A6157-689F-4933-822E-42972841993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3BFDC-017E-4634-B8AB-E002B323DD2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E7DAF7-E304-4504-85EE-C4E32139EBF7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75C38-29E7-4DE6-883E-6D2DFB0A42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36F1C-B950-48AC-AC9F-8C308A94E4C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3793E5-5E8B-45DB-99EA-66CED1EBEDE9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928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7B0311-ECB1-4425-92B2-576F07D18C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7EF28-0D02-4D48-A8A0-D46A8A033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CD46-5417-429C-90CF-5DEA614D0E4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BAA44E7-340C-4EF4-BBAB-E95408E9A680}" type="datetime1">
              <a:rPr lang="en-GB"/>
              <a:pPr lvl="0"/>
              <a:t>15/03/2021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00DC3-566C-4167-BBCB-8905AEB1777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D04EC-9B69-4076-A535-2D96A6A681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6CB2A97B-5036-4BDE-B66A-CF363AC495C1}" type="slidenum"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2FE0-B992-409F-A449-2EF9C4CDA398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b="1">
                <a:latin typeface="Arial" pitchFamily="34"/>
                <a:cs typeface="Arial" pitchFamily="34"/>
              </a:rPr>
              <a:t>BATTER MY HEART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6ACD3B-A3B1-4557-9AC8-FA127E0E349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 b="1"/>
              <a:t>JOHN DONNE’S HOLY SONNET XIV</a:t>
            </a:r>
            <a:endParaRPr lang="en-GB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E3A5-0F81-4902-AC3B-2E9220D22FF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>
                <a:latin typeface="Arial" pitchFamily="34"/>
                <a:cs typeface="Arial" pitchFamily="34"/>
              </a:rPr>
              <a:t>JOHN DONNE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BE6C4-B79F-42D6-B40A-1A54EFD924B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70000"/>
              </a:lnSpc>
            </a:pPr>
            <a:r>
              <a:rPr lang="en-GB" sz="2400">
                <a:latin typeface="Arial" pitchFamily="34"/>
                <a:cs typeface="Arial" pitchFamily="34"/>
              </a:rPr>
              <a:t>This poem was written by John Donne, a metaphysical poet and a minister of the Church of England.</a:t>
            </a:r>
          </a:p>
          <a:p>
            <a:pPr lvl="0">
              <a:lnSpc>
                <a:spcPct val="70000"/>
              </a:lnSpc>
            </a:pPr>
            <a:r>
              <a:rPr lang="en-GB" sz="2400">
                <a:latin typeface="Arial" pitchFamily="34"/>
                <a:cs typeface="Arial" pitchFamily="34"/>
              </a:rPr>
              <a:t>He is well-known for his sonnets, love poems and sermons.</a:t>
            </a:r>
          </a:p>
          <a:p>
            <a:pPr lvl="0">
              <a:lnSpc>
                <a:spcPct val="70000"/>
              </a:lnSpc>
            </a:pPr>
            <a:r>
              <a:rPr lang="en-GB" sz="2400">
                <a:latin typeface="Arial" pitchFamily="34"/>
                <a:cs typeface="Arial" pitchFamily="34"/>
              </a:rPr>
              <a:t>Most of his poem are critical self-examination of his relationship to God: In “A Hymn to God the Father” he writes:</a:t>
            </a:r>
          </a:p>
          <a:p>
            <a:pPr marL="0" lvl="0" indent="0" algn="ctr">
              <a:lnSpc>
                <a:spcPct val="70000"/>
              </a:lnSpc>
              <a:buNone/>
            </a:pPr>
            <a:r>
              <a:rPr lang="en-GB" sz="2400">
                <a:latin typeface="Arial" pitchFamily="34"/>
                <a:cs typeface="Arial" pitchFamily="34"/>
              </a:rPr>
              <a:t>When thou hast done thou hast not done</a:t>
            </a:r>
          </a:p>
          <a:p>
            <a:pPr marL="0" lvl="0" indent="0" algn="ctr">
              <a:lnSpc>
                <a:spcPct val="70000"/>
              </a:lnSpc>
              <a:buNone/>
            </a:pPr>
            <a:r>
              <a:rPr lang="en-GB" sz="2400">
                <a:latin typeface="Arial" pitchFamily="34"/>
                <a:cs typeface="Arial" pitchFamily="34"/>
              </a:rPr>
              <a:t>For I have more</a:t>
            </a:r>
          </a:p>
          <a:p>
            <a:pPr lvl="0" algn="just">
              <a:lnSpc>
                <a:spcPct val="70000"/>
              </a:lnSpc>
            </a:pPr>
            <a:r>
              <a:rPr lang="en-GB" sz="2400">
                <a:latin typeface="Arial" pitchFamily="34"/>
                <a:cs typeface="Arial" pitchFamily="34"/>
              </a:rPr>
              <a:t>"No man is an island, entire of itself; every man is a piece of the continent, a part of the main. If a clod be washed away by the sea, Europe is the less, as well as if a promontory were, as well as if a manor of thy friend's or of thine own were: any man's death diminishes me, because I am involved in mankind, and therefore never send to know for whom the bells tolls; it tolls for thee." (John Donne – Meditations) </a:t>
            </a:r>
          </a:p>
          <a:p>
            <a:pPr lvl="0">
              <a:lnSpc>
                <a:spcPct val="70000"/>
              </a:lnSpc>
            </a:pPr>
            <a:endParaRPr lang="en-GB" sz="2400"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63BE7-5110-4B82-9B5F-5FE090A26FA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>
                <a:latin typeface="Arial" pitchFamily="34"/>
                <a:cs typeface="Arial" pitchFamily="34"/>
              </a:rPr>
              <a:t>SUMMARY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69E27-E254-456C-9BE9-1F2E00D1D5C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The poem can be read as either a Petrarchan sonnet or a Shakespearean one.</a:t>
            </a:r>
          </a:p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In the Petrarchan reading we have the first eight lines referred to as the octave and the last six lines called the sestet.</a:t>
            </a:r>
          </a:p>
          <a:p>
            <a:pPr lvl="0" algn="just"/>
            <a:r>
              <a:rPr lang="en-GB" dirty="0">
                <a:latin typeface="Arial" pitchFamily="34"/>
                <a:cs typeface="Arial" pitchFamily="34"/>
              </a:rPr>
              <a:t>The poem is the intense self-examination of the persona who could easily be taken for the poet. He is a Christian who has strayed very far into the camp of the enemy – Satan. The octave expresses his alienation from </a:t>
            </a:r>
            <a:r>
              <a:rPr lang="en-GB" dirty="0" err="1">
                <a:latin typeface="Arial" pitchFamily="34"/>
                <a:cs typeface="Arial" pitchFamily="34"/>
              </a:rPr>
              <a:t>hia</a:t>
            </a:r>
            <a:r>
              <a:rPr lang="en-GB" dirty="0">
                <a:latin typeface="Arial" pitchFamily="34"/>
                <a:cs typeface="Arial" pitchFamily="34"/>
              </a:rPr>
              <a:t> Maker.</a:t>
            </a:r>
          </a:p>
          <a:p>
            <a:pPr lvl="0" algn="just"/>
            <a:r>
              <a:rPr lang="en-GB" dirty="0">
                <a:latin typeface="Arial" pitchFamily="34"/>
                <a:cs typeface="Arial" pitchFamily="34"/>
              </a:rPr>
              <a:t>The sestet outlines his love for God and what God should do to bring the erring Christian back to Him.</a:t>
            </a:r>
            <a:r>
              <a:rPr lang="en-GB" dirty="0"/>
              <a:t> </a:t>
            </a:r>
            <a:endParaRPr lang="en-GB" dirty="0">
              <a:latin typeface="Arial" pitchFamily="34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58592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FBF78-7D1C-42F0-8747-0B45664B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OCTAVE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2721-A7CD-4846-A360-C98B72E4A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BATTER</a:t>
            </a: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my heart, three </a:t>
            </a:r>
            <a:r>
              <a:rPr lang="en-GB" sz="1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person’d</a:t>
            </a: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God; for, you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yet but knock, breathe, shine, and seek to mend,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That I may rise, and stand, </a:t>
            </a:r>
            <a:r>
              <a:rPr lang="en-GB" sz="1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o’erthrow</a:t>
            </a: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me, and bend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 force, to break, blow, burn and make me new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I, like an </a:t>
            </a:r>
            <a:r>
              <a:rPr lang="en-GB" sz="1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usurpt</a:t>
            </a: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town, to another due,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Labour to admit you, but Oh, to no end,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Reason your viceroy in me, me should defend,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But is </a:t>
            </a:r>
            <a:r>
              <a:rPr lang="en-GB" sz="11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captiv’d</a:t>
            </a: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and proves weak or untrue.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endParaRPr lang="en-GB" sz="1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11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3655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B80-5E1E-450C-BB00-8FECD51AC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SESTET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49E25-B3AA-4EB5-983D-687068022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Yet dearly I love you, and would be loved fain,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But am </a:t>
            </a:r>
            <a:r>
              <a:rPr lang="en-GB" sz="9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bethroth’d</a:t>
            </a: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unto your enemy: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Divorce me, untie or break that knot again,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Take me to you, imprison me, for I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Except you enthral me, never shall be free,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9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Nor ever chaste, except you ravish mee.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182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F825A-F970-4B65-B5E0-BF4837D9D2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>
                <a:latin typeface="Arial" pitchFamily="34"/>
                <a:cs typeface="Arial" pitchFamily="34"/>
              </a:rPr>
              <a:t>SUMMARY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76060-ADC3-483B-9288-29CD4D79C6C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80000"/>
              </a:lnSpc>
            </a:pPr>
            <a:r>
              <a:rPr lang="en-US" sz="2600" dirty="0">
                <a:latin typeface="Arial" pitchFamily="34"/>
                <a:cs typeface="Arial" pitchFamily="34"/>
              </a:rPr>
              <a:t>The Shakespearean reading would break the sonnet into three quatrains and the couplet or the last two lines.</a:t>
            </a:r>
          </a:p>
          <a:p>
            <a:pPr lvl="0" algn="just">
              <a:lnSpc>
                <a:spcPct val="80000"/>
              </a:lnSpc>
            </a:pPr>
            <a:r>
              <a:rPr lang="en-US" sz="2600" dirty="0">
                <a:latin typeface="Arial" pitchFamily="34"/>
                <a:cs typeface="Arial" pitchFamily="34"/>
              </a:rPr>
              <a:t>In the first four lines the persona states that God is too gentle with him. He only knocks, breathes, shines and seeks. He wants God to be more severe: batter, break, blow, burn and overthrow him.</a:t>
            </a:r>
          </a:p>
          <a:p>
            <a:pPr lvl="0" algn="just">
              <a:lnSpc>
                <a:spcPct val="80000"/>
              </a:lnSpc>
            </a:pPr>
            <a:r>
              <a:rPr lang="en-US" sz="2600" dirty="0">
                <a:latin typeface="Arial" pitchFamily="34"/>
                <a:cs typeface="Arial" pitchFamily="34"/>
              </a:rPr>
              <a:t>The second quatrain indicates that he has been captured by the enemy and is now defenseless.</a:t>
            </a:r>
          </a:p>
          <a:p>
            <a:pPr lvl="0" algn="just">
              <a:lnSpc>
                <a:spcPct val="80000"/>
              </a:lnSpc>
            </a:pPr>
            <a:r>
              <a:rPr lang="en-US" sz="2600" dirty="0">
                <a:latin typeface="Arial" pitchFamily="34"/>
                <a:cs typeface="Arial" pitchFamily="34"/>
              </a:rPr>
              <a:t>In the third quatrain, the persona wants to be forcibly taken away from the devil.</a:t>
            </a:r>
          </a:p>
          <a:p>
            <a:pPr lvl="0" algn="just">
              <a:lnSpc>
                <a:spcPct val="80000"/>
              </a:lnSpc>
            </a:pPr>
            <a:r>
              <a:rPr lang="en-US" sz="2600" dirty="0">
                <a:latin typeface="Arial" pitchFamily="34"/>
                <a:cs typeface="Arial" pitchFamily="34"/>
              </a:rPr>
              <a:t>The couplet clinches or </a:t>
            </a:r>
            <a:r>
              <a:rPr lang="en-US" sz="2600" dirty="0" err="1">
                <a:latin typeface="Arial" pitchFamily="34"/>
                <a:cs typeface="Arial" pitchFamily="34"/>
              </a:rPr>
              <a:t>summarises</a:t>
            </a:r>
            <a:r>
              <a:rPr lang="en-US" sz="2600" dirty="0">
                <a:latin typeface="Arial" pitchFamily="34"/>
                <a:cs typeface="Arial" pitchFamily="34"/>
              </a:rPr>
              <a:t> the argument with two paradoxes.</a:t>
            </a:r>
          </a:p>
          <a:p>
            <a:pPr lvl="0">
              <a:lnSpc>
                <a:spcPct val="80000"/>
              </a:lnSpc>
            </a:pPr>
            <a:endParaRPr lang="en-GB" sz="2600" dirty="0"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9D69-6D48-4BF5-81A4-37A1F0C73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FIRST QUATRAIN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44DB-6470-4C81-8CD6-E27958B00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8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BATTER my heart, three </a:t>
            </a:r>
            <a:r>
              <a:rPr lang="en-GB" sz="8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person’d</a:t>
            </a:r>
            <a:r>
              <a:rPr lang="en-GB" sz="8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God; for, you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8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yet but knock, breathe, shine, and seek to mend,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8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That I may rise, and stand, </a:t>
            </a:r>
            <a:r>
              <a:rPr lang="en-GB" sz="80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o’erthrow</a:t>
            </a:r>
            <a:r>
              <a:rPr lang="en-GB" sz="8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me, and bend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8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Your force, to break, blow, burn and make me new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6975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4E5EF-E644-4763-9AFA-EFA6E317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SECOND QUATRAIN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E9FFA-DBE6-4E1D-B44C-DE1C69BFD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I, like an </a:t>
            </a:r>
            <a:r>
              <a:rPr lang="en-GB" sz="3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usurpt</a:t>
            </a: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town, to another due,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Labour to admit you, but Oh, to no end,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Reason your viceroy in me, me should defend,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But is </a:t>
            </a:r>
            <a:r>
              <a:rPr lang="en-GB" sz="36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captiv’d</a:t>
            </a:r>
            <a:r>
              <a:rPr lang="en-GB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and proves weak or untrue.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710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647A6-E0BB-4C7D-BFD1-F29789C22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THIRD QUATRAIN AND THE COUPLET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D586B-89FF-4EFD-AE1E-B69EA1514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Yet dearly I love you, and would be loved fain,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But am </a:t>
            </a:r>
            <a:r>
              <a:rPr lang="en-GB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bethroth’d</a:t>
            </a: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unto your enemy: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Divorce me, untie or break that knot again,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Take me to you, imprison me, for I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endParaRPr lang="en-GB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Except you enthral me, never shall be free,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Nor ever chaste, except you ravish mee.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endParaRPr lang="en-GB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42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6598-FD04-46ED-A264-1C8B2E1DCE7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>
                <a:latin typeface="Arial" pitchFamily="34"/>
                <a:cs typeface="Arial" pitchFamily="34"/>
              </a:rPr>
              <a:t>POETIC TECHNIQUES - CONCEITS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39038-52AF-44A0-9EA4-3C7DBD5652D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conceit is a comparison whose ingenuity is more striking than its justness. A comparison becomes a conceit when we are made to concede likeness while being strongly conscious of unlikeness.</a:t>
            </a:r>
          </a:p>
          <a:p>
            <a:pPr lvl="0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conceit is associated with metaphysical poetry and Donne has some of the most memorable conceits. In one poem, he compares marriage to a compass.</a:t>
            </a:r>
          </a:p>
          <a:p>
            <a:pPr lvl="0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poem there are two conceits: the military comparison and that of marriage. He compares himself to a town besieged by the enemy. He also compares himself to a woman given in marriage to God’s enemy.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36C97-AB54-4972-B747-582176F2BFA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 dirty="0">
                <a:latin typeface="Arial" pitchFamily="34"/>
                <a:cs typeface="Arial" pitchFamily="34"/>
              </a:rPr>
              <a:t>DICTION </a:t>
            </a:r>
            <a:endParaRPr lang="en-GB" b="1" dirty="0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8AA5-A88E-4530-A723-1D947A34115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In the second line, the persona indicates God’s gentleness with the choice of verbs: knock, breathe, shine and seek. These are Biblical words used with respect with God’s dealing with sinners</a:t>
            </a:r>
          </a:p>
          <a:p>
            <a:pPr lvl="0"/>
            <a:r>
              <a:rPr lang="en-US" dirty="0">
                <a:latin typeface="Arial" pitchFamily="34"/>
                <a:cs typeface="Arial" pitchFamily="34"/>
              </a:rPr>
              <a:t>Rev. 3:20 I stand at the door and </a:t>
            </a:r>
            <a:r>
              <a:rPr lang="en-US" b="1" dirty="0">
                <a:latin typeface="Arial" pitchFamily="34"/>
                <a:cs typeface="Arial" pitchFamily="34"/>
              </a:rPr>
              <a:t>knock.</a:t>
            </a:r>
          </a:p>
          <a:p>
            <a:pPr lvl="0"/>
            <a:r>
              <a:rPr lang="en-US" dirty="0">
                <a:latin typeface="Arial" pitchFamily="34"/>
                <a:cs typeface="Arial" pitchFamily="34"/>
              </a:rPr>
              <a:t>John 20:22 He </a:t>
            </a:r>
            <a:r>
              <a:rPr lang="en-US" b="1" dirty="0">
                <a:latin typeface="Arial" pitchFamily="34"/>
                <a:cs typeface="Arial" pitchFamily="34"/>
              </a:rPr>
              <a:t>breathed</a:t>
            </a:r>
            <a:r>
              <a:rPr lang="en-US" dirty="0">
                <a:latin typeface="Arial" pitchFamily="34"/>
                <a:cs typeface="Arial" pitchFamily="34"/>
              </a:rPr>
              <a:t> on them and saith unto them, ‘Receive ye the Holy Ghost.’</a:t>
            </a:r>
          </a:p>
          <a:p>
            <a:pPr lvl="0"/>
            <a:r>
              <a:rPr lang="en-US" dirty="0">
                <a:latin typeface="Arial" pitchFamily="34"/>
                <a:cs typeface="Arial" pitchFamily="34"/>
              </a:rPr>
              <a:t>2Cor 4:4 The gospel of Christ should </a:t>
            </a:r>
            <a:r>
              <a:rPr lang="en-US" b="1" dirty="0">
                <a:latin typeface="Arial" pitchFamily="34"/>
                <a:cs typeface="Arial" pitchFamily="34"/>
              </a:rPr>
              <a:t>shine</a:t>
            </a:r>
            <a:r>
              <a:rPr lang="en-US" dirty="0">
                <a:latin typeface="Arial" pitchFamily="34"/>
                <a:cs typeface="Arial" pitchFamily="34"/>
              </a:rPr>
              <a:t> unto them.</a:t>
            </a:r>
          </a:p>
          <a:p>
            <a:pPr lvl="0"/>
            <a:r>
              <a:rPr lang="en-US" dirty="0">
                <a:latin typeface="Arial" pitchFamily="34"/>
                <a:cs typeface="Arial" pitchFamily="34"/>
              </a:rPr>
              <a:t>Luke 19:10 The son of man is come to </a:t>
            </a:r>
            <a:r>
              <a:rPr lang="en-US" b="1" dirty="0">
                <a:latin typeface="Arial" pitchFamily="34"/>
                <a:cs typeface="Arial" pitchFamily="34"/>
              </a:rPr>
              <a:t>seek</a:t>
            </a:r>
            <a:r>
              <a:rPr lang="en-US" dirty="0">
                <a:latin typeface="Arial" pitchFamily="34"/>
                <a:cs typeface="Arial" pitchFamily="34"/>
              </a:rPr>
              <a:t> and to save …</a:t>
            </a:r>
            <a:endParaRPr lang="en-GB" dirty="0"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B938-E4A5-41A4-9AE1-487B468454C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>
                <a:latin typeface="Arial" pitchFamily="34"/>
                <a:cs typeface="Arial" pitchFamily="34"/>
              </a:rPr>
              <a:t>DICTION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6C1F3-39ED-4B26-A65F-07D1B47D5AD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These verbs contrast sharply with the violent verbs which the persona suggests God should use in dealing with him: batter, (using a battering ram to break down an iron gate), overthrow, (take over with force) bend your force (Use all the force you have), break, blow, burn.</a:t>
            </a:r>
          </a:p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There are also many words connected with marriage: betrothed to the enemy, divorce, untie, break the knot, imprison me. These are words that are used in a sense opposite to what the Bible teaches.</a:t>
            </a:r>
            <a:endParaRPr lang="en-GB" dirty="0"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388D7-A8D4-4FA0-9EEE-EEDF9D568C4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>
                <a:latin typeface="Arial" pitchFamily="34"/>
                <a:cs typeface="Arial" pitchFamily="34"/>
              </a:rPr>
              <a:t>PARADOX</a:t>
            </a:r>
            <a:endParaRPr lang="en-GB" b="1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CFCE-285D-45F4-B787-65206A94EE4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In the couplet – the last two lines – are two paradoxical statements. The persona says unless God imprisons him, he shall never be free.</a:t>
            </a:r>
          </a:p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He also indicates that he would never be holy until God rapes or takes him by force.</a:t>
            </a:r>
          </a:p>
          <a:p>
            <a:pPr lvl="0" algn="just"/>
            <a:r>
              <a:rPr lang="en-US" dirty="0">
                <a:latin typeface="Arial" pitchFamily="34"/>
                <a:cs typeface="Arial" pitchFamily="34"/>
              </a:rPr>
              <a:t>The Bible talks a lot about freedom not imprisonment. The Bible is also against rape but the persona suggests these are methods which will free him and make him holy.</a:t>
            </a:r>
            <a:endParaRPr lang="en-GB" dirty="0">
              <a:latin typeface="Arial" pitchFamily="34"/>
              <a:cs typeface="Arial" pitchFamily="3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4C90C-CB89-4D7E-98FE-FE0E62EDCA7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US" b="1" dirty="0">
                <a:latin typeface="Arial" pitchFamily="34"/>
                <a:cs typeface="Arial" pitchFamily="34"/>
              </a:rPr>
              <a:t>COMPARISONS</a:t>
            </a:r>
            <a:endParaRPr lang="en-GB" b="1" dirty="0">
              <a:latin typeface="Arial" pitchFamily="34"/>
              <a:cs typeface="Arial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DA41C-2710-4863-9CA4-E9DC5B53C34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‘I, like an </a:t>
            </a:r>
            <a:r>
              <a:rPr lang="en-GB" sz="28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usurpt</a:t>
            </a: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town…’ </a:t>
            </a:r>
            <a:r>
              <a:rPr lang="en-US" dirty="0">
                <a:latin typeface="Arial" pitchFamily="34"/>
                <a:cs typeface="Arial" pitchFamily="34"/>
              </a:rPr>
              <a:t>The persona compares himself to a town besieged by enemy troops.</a:t>
            </a:r>
          </a:p>
          <a:p>
            <a:pPr lvl="0" algn="just"/>
            <a:r>
              <a:rPr lang="en-GB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‘</a:t>
            </a:r>
            <a:r>
              <a:rPr lang="en-GB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Reason your viceroy in me …’ </a:t>
            </a:r>
            <a:r>
              <a:rPr lang="en-US" dirty="0">
                <a:latin typeface="Arial" pitchFamily="34"/>
                <a:cs typeface="Arial" pitchFamily="34"/>
              </a:rPr>
              <a:t>Reason is compared to a viceroy, a very powerful metaphor.</a:t>
            </a:r>
            <a:r>
              <a:rPr lang="en-GB" dirty="0">
                <a:latin typeface="Arial" pitchFamily="34"/>
                <a:cs typeface="Arial" pitchFamily="34"/>
              </a:rPr>
              <a:t> A viceroy was the representative of a king in a colonised state. The metaphor helps to explain how totally the devil has control of him.</a:t>
            </a:r>
          </a:p>
          <a:p>
            <a:pPr lvl="0" algn="just"/>
            <a:r>
              <a:rPr lang="en-GB" dirty="0">
                <a:latin typeface="Arial" pitchFamily="34"/>
                <a:cs typeface="Arial" pitchFamily="34"/>
              </a:rPr>
              <a:t>Then there is the marriage metaphor in the third quatrain.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9AFBB-0909-49B3-AEC5-666FFC17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OTHER DEVICES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606EA-63B5-47BA-846D-2124E1240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GB" dirty="0">
                <a:latin typeface="Arial" pitchFamily="34"/>
                <a:cs typeface="Arial" pitchFamily="34"/>
              </a:rPr>
              <a:t>There are a few run-on lines: the first expresses the contrast in the first two lines. The contrast in lines three and four are connected by run-on lines. The last joins the idea of freedom and slavery, rape and holiness.</a:t>
            </a:r>
          </a:p>
          <a:p>
            <a:pPr lvl="0" algn="just"/>
            <a:r>
              <a:rPr lang="en-GB" dirty="0">
                <a:latin typeface="Arial" pitchFamily="34"/>
                <a:cs typeface="Arial" pitchFamily="34"/>
              </a:rPr>
              <a:t>The rhyme scheme abba </a:t>
            </a:r>
            <a:r>
              <a:rPr lang="en-GB" dirty="0" err="1">
                <a:latin typeface="Arial" pitchFamily="34"/>
                <a:cs typeface="Arial" pitchFamily="34"/>
              </a:rPr>
              <a:t>abba</a:t>
            </a:r>
            <a:r>
              <a:rPr lang="en-GB" dirty="0">
                <a:latin typeface="Arial" pitchFamily="34"/>
                <a:cs typeface="Arial" pitchFamily="34"/>
              </a:rPr>
              <a:t> </a:t>
            </a:r>
            <a:r>
              <a:rPr lang="en-GB" dirty="0" err="1">
                <a:latin typeface="Arial" pitchFamily="34"/>
                <a:cs typeface="Arial" pitchFamily="34"/>
              </a:rPr>
              <a:t>cdce</a:t>
            </a:r>
            <a:r>
              <a:rPr lang="en-GB" dirty="0">
                <a:latin typeface="Arial" pitchFamily="34"/>
                <a:cs typeface="Arial" pitchFamily="34"/>
              </a:rPr>
              <a:t> ff defies any known sonnet type.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780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1226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BATTER MY HEART</vt:lpstr>
      <vt:lpstr>JOHN DONNE</vt:lpstr>
      <vt:lpstr>SUMMARY</vt:lpstr>
      <vt:lpstr>OCTAVE</vt:lpstr>
      <vt:lpstr>SESTET</vt:lpstr>
      <vt:lpstr>SUMMARY</vt:lpstr>
      <vt:lpstr>FIRST QUATRAIN</vt:lpstr>
      <vt:lpstr>SECOND QUATRAIN</vt:lpstr>
      <vt:lpstr>THIRD QUATRAIN AND THE COUPLET</vt:lpstr>
      <vt:lpstr>POETIC TECHNIQUES - CONCEITS</vt:lpstr>
      <vt:lpstr>DICTION </vt:lpstr>
      <vt:lpstr>DICTION</vt:lpstr>
      <vt:lpstr>PARADOX</vt:lpstr>
      <vt:lpstr>COMPARISONS</vt:lpstr>
      <vt:lpstr>OTHER DEVICES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 MY HEART</dc:title>
  <dc:creator>johnaning53@outlook.com</dc:creator>
  <cp:lastModifiedBy>johnaning53@outlook.com</cp:lastModifiedBy>
  <cp:revision>22</cp:revision>
  <dcterms:created xsi:type="dcterms:W3CDTF">2020-10-20T08:21:51Z</dcterms:created>
  <dcterms:modified xsi:type="dcterms:W3CDTF">2021-03-15T15:00:36Z</dcterms:modified>
</cp:coreProperties>
</file>