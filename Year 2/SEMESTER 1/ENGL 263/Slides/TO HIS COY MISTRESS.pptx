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07" d="100"/>
          <a:sy n="107" d="100"/>
        </p:scale>
        <p:origin x="138"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6F68FE4-1BD1-4C8B-8E56-3FBBA094827F}" type="datetimeFigureOut">
              <a:rPr lang="en-US" smtClean="0"/>
              <a:t>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77BEE0-2EA7-4833-B007-F1A02DB7411B}" type="slidenum">
              <a:rPr lang="en-US" smtClean="0"/>
              <a:t>‹#›</a:t>
            </a:fld>
            <a:endParaRPr lang="en-US"/>
          </a:p>
        </p:txBody>
      </p:sp>
    </p:spTree>
    <p:extLst>
      <p:ext uri="{BB962C8B-B14F-4D97-AF65-F5344CB8AC3E}">
        <p14:creationId xmlns:p14="http://schemas.microsoft.com/office/powerpoint/2010/main" val="160965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6F68FE4-1BD1-4C8B-8E56-3FBBA094827F}" type="datetimeFigureOut">
              <a:rPr lang="en-US" smtClean="0"/>
              <a:t>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77BEE0-2EA7-4833-B007-F1A02DB7411B}" type="slidenum">
              <a:rPr lang="en-US" smtClean="0"/>
              <a:t>‹#›</a:t>
            </a:fld>
            <a:endParaRPr lang="en-US"/>
          </a:p>
        </p:txBody>
      </p:sp>
    </p:spTree>
    <p:extLst>
      <p:ext uri="{BB962C8B-B14F-4D97-AF65-F5344CB8AC3E}">
        <p14:creationId xmlns:p14="http://schemas.microsoft.com/office/powerpoint/2010/main" val="251574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6F68FE4-1BD1-4C8B-8E56-3FBBA094827F}" type="datetimeFigureOut">
              <a:rPr lang="en-US" smtClean="0"/>
              <a:t>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77BEE0-2EA7-4833-B007-F1A02DB7411B}" type="slidenum">
              <a:rPr lang="en-US" smtClean="0"/>
              <a:t>‹#›</a:t>
            </a:fld>
            <a:endParaRPr lang="en-US"/>
          </a:p>
        </p:txBody>
      </p:sp>
    </p:spTree>
    <p:extLst>
      <p:ext uri="{BB962C8B-B14F-4D97-AF65-F5344CB8AC3E}">
        <p14:creationId xmlns:p14="http://schemas.microsoft.com/office/powerpoint/2010/main" val="2964246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6F68FE4-1BD1-4C8B-8E56-3FBBA094827F}" type="datetimeFigureOut">
              <a:rPr lang="en-US" smtClean="0"/>
              <a:t>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77BEE0-2EA7-4833-B007-F1A02DB7411B}" type="slidenum">
              <a:rPr lang="en-US" smtClean="0"/>
              <a:t>‹#›</a:t>
            </a:fld>
            <a:endParaRPr lang="en-US"/>
          </a:p>
        </p:txBody>
      </p:sp>
    </p:spTree>
    <p:extLst>
      <p:ext uri="{BB962C8B-B14F-4D97-AF65-F5344CB8AC3E}">
        <p14:creationId xmlns:p14="http://schemas.microsoft.com/office/powerpoint/2010/main" val="1110466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6F68FE4-1BD1-4C8B-8E56-3FBBA094827F}" type="datetimeFigureOut">
              <a:rPr lang="en-US" smtClean="0"/>
              <a:t>2/7/2021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77BEE0-2EA7-4833-B007-F1A02DB7411B}" type="slidenum">
              <a:rPr lang="en-US" smtClean="0"/>
              <a:t>‹#›</a:t>
            </a:fld>
            <a:endParaRPr lang="en-US"/>
          </a:p>
        </p:txBody>
      </p:sp>
    </p:spTree>
    <p:extLst>
      <p:ext uri="{BB962C8B-B14F-4D97-AF65-F5344CB8AC3E}">
        <p14:creationId xmlns:p14="http://schemas.microsoft.com/office/powerpoint/2010/main" val="3437659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6F68FE4-1BD1-4C8B-8E56-3FBBA094827F}" type="datetimeFigureOut">
              <a:rPr lang="en-US" smtClean="0"/>
              <a:t>2/7/2021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77BEE0-2EA7-4833-B007-F1A02DB7411B}" type="slidenum">
              <a:rPr lang="en-US" smtClean="0"/>
              <a:t>‹#›</a:t>
            </a:fld>
            <a:endParaRPr lang="en-US"/>
          </a:p>
        </p:txBody>
      </p:sp>
    </p:spTree>
    <p:extLst>
      <p:ext uri="{BB962C8B-B14F-4D97-AF65-F5344CB8AC3E}">
        <p14:creationId xmlns:p14="http://schemas.microsoft.com/office/powerpoint/2010/main" val="1893219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68FE4-1BD1-4C8B-8E56-3FBBA094827F}" type="datetimeFigureOut">
              <a:rPr lang="en-US" smtClean="0"/>
              <a:t>2/7/2021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77BEE0-2EA7-4833-B007-F1A02DB7411B}" type="slidenum">
              <a:rPr lang="en-US" smtClean="0"/>
              <a:t>‹#›</a:t>
            </a:fld>
            <a:endParaRPr lang="en-US"/>
          </a:p>
        </p:txBody>
      </p:sp>
    </p:spTree>
    <p:extLst>
      <p:ext uri="{BB962C8B-B14F-4D97-AF65-F5344CB8AC3E}">
        <p14:creationId xmlns:p14="http://schemas.microsoft.com/office/powerpoint/2010/main" val="3752842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6F68FE4-1BD1-4C8B-8E56-3FBBA094827F}" type="datetimeFigureOut">
              <a:rPr lang="en-US" smtClean="0"/>
              <a:t>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77BEE0-2EA7-4833-B007-F1A02DB7411B}" type="slidenum">
              <a:rPr lang="en-US" smtClean="0"/>
              <a:t>‹#›</a:t>
            </a:fld>
            <a:endParaRPr lang="en-US"/>
          </a:p>
        </p:txBody>
      </p:sp>
    </p:spTree>
    <p:extLst>
      <p:ext uri="{BB962C8B-B14F-4D97-AF65-F5344CB8AC3E}">
        <p14:creationId xmlns:p14="http://schemas.microsoft.com/office/powerpoint/2010/main" val="1734219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6F68FE4-1BD1-4C8B-8E56-3FBBA094827F}" type="datetimeFigureOut">
              <a:rPr lang="en-US" smtClean="0"/>
              <a:t>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77BEE0-2EA7-4833-B007-F1A02DB7411B}" type="slidenum">
              <a:rPr lang="en-US" smtClean="0"/>
              <a:t>‹#›</a:t>
            </a:fld>
            <a:endParaRPr lang="en-US"/>
          </a:p>
        </p:txBody>
      </p:sp>
    </p:spTree>
    <p:extLst>
      <p:ext uri="{BB962C8B-B14F-4D97-AF65-F5344CB8AC3E}">
        <p14:creationId xmlns:p14="http://schemas.microsoft.com/office/powerpoint/2010/main" val="2758946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6F68FE4-1BD1-4C8B-8E56-3FBBA094827F}" type="datetimeFigureOut">
              <a:rPr lang="en-US" smtClean="0"/>
              <a:t>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77BEE0-2EA7-4833-B007-F1A02DB7411B}" type="slidenum">
              <a:rPr lang="en-US" smtClean="0"/>
              <a:t>‹#›</a:t>
            </a:fld>
            <a:endParaRPr lang="en-US"/>
          </a:p>
        </p:txBody>
      </p:sp>
    </p:spTree>
    <p:extLst>
      <p:ext uri="{BB962C8B-B14F-4D97-AF65-F5344CB8AC3E}">
        <p14:creationId xmlns:p14="http://schemas.microsoft.com/office/powerpoint/2010/main" val="2175081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6F68FE4-1BD1-4C8B-8E56-3FBBA094827F}" type="datetimeFigureOut">
              <a:rPr lang="en-US" smtClean="0"/>
              <a:t>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77BEE0-2EA7-4833-B007-F1A02DB7411B}" type="slidenum">
              <a:rPr lang="en-US" smtClean="0"/>
              <a:t>‹#›</a:t>
            </a:fld>
            <a:endParaRPr lang="en-US"/>
          </a:p>
        </p:txBody>
      </p:sp>
    </p:spTree>
    <p:extLst>
      <p:ext uri="{BB962C8B-B14F-4D97-AF65-F5344CB8AC3E}">
        <p14:creationId xmlns:p14="http://schemas.microsoft.com/office/powerpoint/2010/main" val="3202068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F68FE4-1BD1-4C8B-8E56-3FBBA094827F}" type="datetimeFigureOut">
              <a:rPr lang="en-US" smtClean="0"/>
              <a:t>2/7/2021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77BEE0-2EA7-4833-B007-F1A02DB7411B}" type="slidenum">
              <a:rPr lang="en-US" smtClean="0"/>
              <a:t>‹#›</a:t>
            </a:fld>
            <a:endParaRPr lang="en-US"/>
          </a:p>
        </p:txBody>
      </p:sp>
    </p:spTree>
    <p:extLst>
      <p:ext uri="{BB962C8B-B14F-4D97-AF65-F5344CB8AC3E}">
        <p14:creationId xmlns:p14="http://schemas.microsoft.com/office/powerpoint/2010/main" val="873007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latin typeface="Arial" panose="020B0604020202020204" pitchFamily="34" charset="0"/>
                <a:cs typeface="Arial" panose="020B0604020202020204" pitchFamily="34" charset="0"/>
              </a:rPr>
              <a:t>TO HIS COY MISTRESS</a:t>
            </a:r>
          </a:p>
        </p:txBody>
      </p:sp>
      <p:sp>
        <p:nvSpPr>
          <p:cNvPr id="3" name="Subtitle 2"/>
          <p:cNvSpPr>
            <a:spLocks noGrp="1"/>
          </p:cNvSpPr>
          <p:nvPr>
            <p:ph type="subTitle" idx="1"/>
          </p:nvPr>
        </p:nvSpPr>
        <p:spPr/>
        <p:txBody>
          <a:bodyPr/>
          <a:lstStyle/>
          <a:p>
            <a:r>
              <a:rPr lang="en-US" b="1" dirty="0">
                <a:latin typeface="Arial" panose="020B0604020202020204" pitchFamily="34" charset="0"/>
                <a:cs typeface="Arial" panose="020B0604020202020204" pitchFamily="34" charset="0"/>
              </a:rPr>
              <a:t>ANDREW MARVELL</a:t>
            </a:r>
          </a:p>
        </p:txBody>
      </p:sp>
    </p:spTree>
    <p:extLst>
      <p:ext uri="{BB962C8B-B14F-4D97-AF65-F5344CB8AC3E}">
        <p14:creationId xmlns:p14="http://schemas.microsoft.com/office/powerpoint/2010/main" val="18654803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BIOGRAPHY</a:t>
            </a:r>
          </a:p>
        </p:txBody>
      </p:sp>
      <p:sp>
        <p:nvSpPr>
          <p:cNvPr id="3" name="Content Placeholder 2"/>
          <p:cNvSpPr>
            <a:spLocks noGrp="1"/>
          </p:cNvSpPr>
          <p:nvPr>
            <p:ph idx="1"/>
          </p:nvPr>
        </p:nvSpPr>
        <p:spPr/>
        <p:txBody>
          <a:bodyPr/>
          <a:lstStyle/>
          <a:p>
            <a:pPr algn="just"/>
            <a:r>
              <a:rPr lang="en-US" dirty="0">
                <a:latin typeface="Arial" panose="020B0604020202020204" pitchFamily="34" charset="0"/>
                <a:cs typeface="Arial" panose="020B0604020202020204" pitchFamily="34" charset="0"/>
              </a:rPr>
              <a:t>He lived between March 1621 and August, 1678. </a:t>
            </a:r>
          </a:p>
          <a:p>
            <a:pPr algn="just"/>
            <a:r>
              <a:rPr lang="en-US" dirty="0">
                <a:latin typeface="Arial" panose="020B0604020202020204" pitchFamily="34" charset="0"/>
                <a:cs typeface="Arial" panose="020B0604020202020204" pitchFamily="34" charset="0"/>
              </a:rPr>
              <a:t>He was a metaphysical poet, a satirist and a politician. He was a member of the British House of Commons at a point in time.</a:t>
            </a:r>
          </a:p>
          <a:p>
            <a:pPr algn="just"/>
            <a:r>
              <a:rPr lang="en-US" dirty="0">
                <a:latin typeface="Arial" panose="020B0604020202020204" pitchFamily="34" charset="0"/>
                <a:cs typeface="Arial" panose="020B0604020202020204" pitchFamily="34" charset="0"/>
              </a:rPr>
              <a:t>He wrote both poetry and prose. His notable works include </a:t>
            </a:r>
            <a:r>
              <a:rPr lang="en-US" i="1" dirty="0">
                <a:latin typeface="Arial" panose="020B0604020202020204" pitchFamily="34" charset="0"/>
                <a:cs typeface="Arial" panose="020B0604020202020204" pitchFamily="34" charset="0"/>
              </a:rPr>
              <a:t>To His Coy Mistress</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The Garden</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An Horatian Ode</a:t>
            </a:r>
            <a:r>
              <a:rPr lang="en-US" dirty="0">
                <a:latin typeface="Arial" panose="020B0604020202020204" pitchFamily="34" charset="0"/>
                <a:cs typeface="Arial" panose="020B0604020202020204" pitchFamily="34" charset="0"/>
              </a:rPr>
              <a:t>, and </a:t>
            </a:r>
            <a:r>
              <a:rPr lang="en-US" i="1" dirty="0">
                <a:latin typeface="Arial" panose="020B0604020202020204" pitchFamily="34" charset="0"/>
                <a:cs typeface="Arial" panose="020B0604020202020204" pitchFamily="34" charset="0"/>
              </a:rPr>
              <a:t>The Rehearsal </a:t>
            </a:r>
            <a:r>
              <a:rPr lang="en-US" i="1" dirty="0" err="1">
                <a:latin typeface="Arial" panose="020B0604020202020204" pitchFamily="34" charset="0"/>
                <a:cs typeface="Arial" panose="020B0604020202020204" pitchFamily="34" charset="0"/>
              </a:rPr>
              <a:t>Transpos’d</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 prose work).  </a:t>
            </a:r>
          </a:p>
          <a:p>
            <a:pPr algn="just"/>
            <a:r>
              <a:rPr lang="en-US" dirty="0">
                <a:latin typeface="Arial" panose="020B0604020202020204" pitchFamily="34" charset="0"/>
                <a:cs typeface="Arial" panose="020B0604020202020204" pitchFamily="34" charset="0"/>
              </a:rPr>
              <a:t>His contemporaries were John Donne, John Milton, John Cleveland, George Hebert  and Richard Crashaw.</a:t>
            </a:r>
          </a:p>
        </p:txBody>
      </p:sp>
    </p:spTree>
    <p:extLst>
      <p:ext uri="{BB962C8B-B14F-4D97-AF65-F5344CB8AC3E}">
        <p14:creationId xmlns:p14="http://schemas.microsoft.com/office/powerpoint/2010/main" val="3700855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p:txBody>
          <a:bodyPr>
            <a:normAutofit/>
          </a:bodyPr>
          <a:lstStyle/>
          <a:p>
            <a:pPr algn="just"/>
            <a:r>
              <a:rPr lang="en-US" dirty="0">
                <a:latin typeface="Arial" panose="020B0604020202020204" pitchFamily="34" charset="0"/>
                <a:cs typeface="Arial" panose="020B0604020202020204" pitchFamily="34" charset="0"/>
              </a:rPr>
              <a:t>The persona tries to persuade his coy mistress so they consummate their love before death separates them in three stages, each stage representing a section of the poem. </a:t>
            </a:r>
          </a:p>
          <a:p>
            <a:pPr algn="just"/>
            <a:r>
              <a:rPr lang="en-US" dirty="0">
                <a:latin typeface="Arial" panose="020B0604020202020204" pitchFamily="34" charset="0"/>
                <a:cs typeface="Arial" panose="020B0604020202020204" pitchFamily="34" charset="0"/>
              </a:rPr>
              <a:t>If they had enough time, the persona would not put pressure on the lady to allow him to deflower her. The lady would be allowed to take her time to agree with the lover’s proposal.</a:t>
            </a:r>
          </a:p>
          <a:p>
            <a:pPr algn="just"/>
            <a:r>
              <a:rPr lang="en-US" dirty="0">
                <a:latin typeface="Arial" panose="020B0604020202020204" pitchFamily="34" charset="0"/>
                <a:cs typeface="Arial" panose="020B0604020202020204" pitchFamily="34" charset="0"/>
              </a:rPr>
              <a:t>The persona would spend this time praising various parts of the body: the eyes, the breasts and the other parts of the body. </a:t>
            </a:r>
          </a:p>
        </p:txBody>
      </p:sp>
    </p:spTree>
    <p:extLst>
      <p:ext uri="{BB962C8B-B14F-4D97-AF65-F5344CB8AC3E}">
        <p14:creationId xmlns:p14="http://schemas.microsoft.com/office/powerpoint/2010/main" val="4215272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SUMMARY</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latin typeface="Arial" panose="020B0604020202020204" pitchFamily="34" charset="0"/>
                <a:cs typeface="Arial" panose="020B0604020202020204" pitchFamily="34" charset="0"/>
              </a:rPr>
              <a:t>In the second part of the poem, the persona states that time, unfortunately,  is not on their side. </a:t>
            </a:r>
          </a:p>
          <a:p>
            <a:pPr algn="just"/>
            <a:r>
              <a:rPr lang="en-US" dirty="0">
                <a:latin typeface="Arial" panose="020B0604020202020204" pitchFamily="34" charset="0"/>
                <a:cs typeface="Arial" panose="020B0604020202020204" pitchFamily="34" charset="0"/>
              </a:rPr>
              <a:t>Several writers during the  seventeenth century proposed ways for dealing with man’s helplessness before the constant ticking of the clock: giving birth, the refuge of Christian resignation, Platonic ecstasy and immortalizing their loved ones in poetic compositions.</a:t>
            </a:r>
          </a:p>
          <a:p>
            <a:pPr algn="just"/>
            <a:r>
              <a:rPr lang="en-US" dirty="0">
                <a:latin typeface="Arial" panose="020B0604020202020204" pitchFamily="34" charset="0"/>
                <a:cs typeface="Arial" panose="020B0604020202020204" pitchFamily="34" charset="0"/>
              </a:rPr>
              <a:t>He gives reasons why they should consummate their love: </a:t>
            </a:r>
          </a:p>
          <a:p>
            <a:pPr algn="just"/>
            <a:r>
              <a:rPr lang="en-US" dirty="0">
                <a:latin typeface="Arial" panose="020B0604020202020204" pitchFamily="34" charset="0"/>
                <a:cs typeface="Arial" panose="020B0604020202020204" pitchFamily="34" charset="0"/>
              </a:rPr>
              <a:t>her beauty will pass away </a:t>
            </a:r>
          </a:p>
          <a:p>
            <a:pPr algn="just"/>
            <a:r>
              <a:rPr lang="en-US" dirty="0">
                <a:latin typeface="Arial" panose="020B0604020202020204" pitchFamily="34" charset="0"/>
                <a:cs typeface="Arial" panose="020B0604020202020204" pitchFamily="34" charset="0"/>
              </a:rPr>
              <a:t>worms will feed on her virginity </a:t>
            </a:r>
          </a:p>
          <a:p>
            <a:pPr algn="just"/>
            <a:r>
              <a:rPr lang="en-US" dirty="0">
                <a:latin typeface="Arial" panose="020B0604020202020204" pitchFamily="34" charset="0"/>
                <a:cs typeface="Arial" panose="020B0604020202020204" pitchFamily="34" charset="0"/>
              </a:rPr>
              <a:t>in the grave you cannot hear my praises </a:t>
            </a:r>
          </a:p>
          <a:p>
            <a:pPr algn="just"/>
            <a:r>
              <a:rPr lang="en-US" dirty="0">
                <a:latin typeface="Arial" panose="020B0604020202020204" pitchFamily="34" charset="0"/>
                <a:cs typeface="Arial" panose="020B0604020202020204" pitchFamily="34" charset="0"/>
              </a:rPr>
              <a:t>nobody loves in the grave.</a:t>
            </a:r>
          </a:p>
        </p:txBody>
      </p:sp>
    </p:spTree>
    <p:extLst>
      <p:ext uri="{BB962C8B-B14F-4D97-AF65-F5344CB8AC3E}">
        <p14:creationId xmlns:p14="http://schemas.microsoft.com/office/powerpoint/2010/main" val="316692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SUMMARY</a:t>
            </a:r>
            <a:endParaRPr lang="en-US" dirty="0"/>
          </a:p>
        </p:txBody>
      </p:sp>
      <p:sp>
        <p:nvSpPr>
          <p:cNvPr id="3" name="Content Placeholder 2"/>
          <p:cNvSpPr>
            <a:spLocks noGrp="1"/>
          </p:cNvSpPr>
          <p:nvPr>
            <p:ph idx="1"/>
          </p:nvPr>
        </p:nvSpPr>
        <p:spPr/>
        <p:txBody>
          <a:bodyPr>
            <a:noAutofit/>
          </a:bodyPr>
          <a:lstStyle/>
          <a:p>
            <a:pPr indent="-152400">
              <a:lnSpc>
                <a:spcPct val="102000"/>
              </a:lnSpc>
              <a:spcAft>
                <a:spcPts val="800"/>
              </a:spcAft>
            </a:pPr>
            <a:r>
              <a:rPr lang="en-US" sz="2400" dirty="0">
                <a:latin typeface="Arial" panose="020B0604020202020204" pitchFamily="34" charset="0"/>
                <a:cs typeface="Arial" panose="020B0604020202020204" pitchFamily="34" charset="0"/>
              </a:rPr>
              <a:t>In the last part of the poem, the persona continues to give reasons why they should enjoy themselves immediately: </a:t>
            </a:r>
          </a:p>
          <a:p>
            <a:pPr indent="-152400">
              <a:lnSpc>
                <a:spcPct val="102000"/>
              </a:lnSpc>
              <a:spcAft>
                <a:spcPts val="800"/>
              </a:spcAft>
            </a:pPr>
            <a:r>
              <a:rPr lang="en-GB" sz="2400" dirty="0">
                <a:solidFill>
                  <a:srgbClr val="000000"/>
                </a:solidFill>
                <a:effectLst/>
                <a:latin typeface="Arial" panose="020B0604020202020204" pitchFamily="34" charset="0"/>
                <a:ea typeface="Calibri" panose="020F0502020204030204" pitchFamily="34" charset="0"/>
                <a:cs typeface="Arial" panose="020B0604020202020204" pitchFamily="34" charset="0"/>
              </a:rPr>
              <a:t>the youthful hue sits on thy skin like morning dew. </a:t>
            </a:r>
          </a:p>
          <a:p>
            <a:pPr indent="-152400">
              <a:lnSpc>
                <a:spcPct val="102000"/>
              </a:lnSpc>
              <a:spcAft>
                <a:spcPts val="800"/>
              </a:spcAft>
            </a:pPr>
            <a:r>
              <a:rPr lang="en-GB" sz="2400" dirty="0">
                <a:solidFill>
                  <a:srgbClr val="000000"/>
                </a:solidFill>
                <a:effectLst/>
                <a:latin typeface="Arial" panose="020B0604020202020204" pitchFamily="34" charset="0"/>
                <a:ea typeface="Calibri" panose="020F0502020204030204" pitchFamily="34" charset="0"/>
                <a:cs typeface="Arial" panose="020B0604020202020204" pitchFamily="34" charset="0"/>
              </a:rPr>
              <a:t>thy willing soul transpires at every pore with instant fires.</a:t>
            </a:r>
            <a:endParaRPr lang="en-GB" sz="2400" dirty="0">
              <a:effectLst/>
              <a:latin typeface="Arial" panose="020B0604020202020204" pitchFamily="34" charset="0"/>
              <a:ea typeface="Calibri" panose="020F050202020403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It would be better for the lovers to forget about her coyness or modesty and let them devour time before it devours them. </a:t>
            </a:r>
          </a:p>
        </p:txBody>
      </p:sp>
    </p:spTree>
    <p:extLst>
      <p:ext uri="{BB962C8B-B14F-4D97-AF65-F5344CB8AC3E}">
        <p14:creationId xmlns:p14="http://schemas.microsoft.com/office/powerpoint/2010/main" val="2184767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THEMES</a:t>
            </a:r>
          </a:p>
        </p:txBody>
      </p:sp>
      <p:sp>
        <p:nvSpPr>
          <p:cNvPr id="3" name="Content Placeholder 2"/>
          <p:cNvSpPr>
            <a:spLocks noGrp="1"/>
          </p:cNvSpPr>
          <p:nvPr>
            <p:ph idx="1"/>
          </p:nvPr>
        </p:nvSpPr>
        <p:spPr/>
        <p:txBody>
          <a:bodyPr/>
          <a:lstStyle/>
          <a:p>
            <a:r>
              <a:rPr lang="en-US" dirty="0">
                <a:latin typeface="Arial" panose="020B0604020202020204" pitchFamily="34" charset="0"/>
                <a:cs typeface="Arial" panose="020B0604020202020204" pitchFamily="34" charset="0"/>
              </a:rPr>
              <a:t>The fleeting nature of time</a:t>
            </a:r>
          </a:p>
          <a:p>
            <a:r>
              <a:rPr lang="en-US" dirty="0">
                <a:latin typeface="Arial" panose="020B0604020202020204" pitchFamily="34" charset="0"/>
                <a:cs typeface="Arial" panose="020B0604020202020204" pitchFamily="34" charset="0"/>
              </a:rPr>
              <a:t>The inevitability of death. </a:t>
            </a:r>
          </a:p>
          <a:p>
            <a:r>
              <a:rPr lang="en-US" dirty="0">
                <a:latin typeface="Arial" panose="020B0604020202020204" pitchFamily="34" charset="0"/>
                <a:cs typeface="Arial" panose="020B0604020202020204" pitchFamily="34" charset="0"/>
              </a:rPr>
              <a:t>The transient nature of life</a:t>
            </a:r>
          </a:p>
          <a:p>
            <a:r>
              <a:rPr lang="en-US" dirty="0">
                <a:latin typeface="Arial" panose="020B0604020202020204" pitchFamily="34" charset="0"/>
                <a:cs typeface="Arial" panose="020B0604020202020204" pitchFamily="34" charset="0"/>
              </a:rPr>
              <a:t>The dangers of procrastination in life</a:t>
            </a:r>
          </a:p>
          <a:p>
            <a:r>
              <a:rPr lang="en-US" dirty="0">
                <a:latin typeface="Arial" panose="020B0604020202020204" pitchFamily="34" charset="0"/>
                <a:cs typeface="Arial" panose="020B0604020202020204" pitchFamily="34" charset="0"/>
              </a:rPr>
              <a:t>We should attach seriousness to all our </a:t>
            </a:r>
            <a:r>
              <a:rPr lang="en-US" dirty="0" err="1">
                <a:latin typeface="Arial" panose="020B0604020202020204" pitchFamily="34" charset="0"/>
                <a:cs typeface="Arial" panose="020B0604020202020204" pitchFamily="34" charset="0"/>
              </a:rPr>
              <a:t>endeavours</a:t>
            </a:r>
            <a:r>
              <a:rPr lang="en-US" dirty="0">
                <a:latin typeface="Arial" panose="020B0604020202020204" pitchFamily="34" charset="0"/>
                <a:cs typeface="Arial" panose="020B0604020202020204" pitchFamily="34" charset="0"/>
              </a:rPr>
              <a:t> in life.</a:t>
            </a:r>
          </a:p>
        </p:txBody>
      </p:sp>
    </p:spTree>
    <p:extLst>
      <p:ext uri="{BB962C8B-B14F-4D97-AF65-F5344CB8AC3E}">
        <p14:creationId xmlns:p14="http://schemas.microsoft.com/office/powerpoint/2010/main" val="3929897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TECHNICAL DEVICES</a:t>
            </a:r>
          </a:p>
        </p:txBody>
      </p:sp>
      <p:sp>
        <p:nvSpPr>
          <p:cNvPr id="3" name="Content Placeholder 2"/>
          <p:cNvSpPr>
            <a:spLocks noGrp="1"/>
          </p:cNvSpPr>
          <p:nvPr>
            <p:ph idx="1"/>
          </p:nvPr>
        </p:nvSpPr>
        <p:spPr/>
        <p:txBody>
          <a:bodyPr>
            <a:normAutofit/>
          </a:bodyPr>
          <a:lstStyle/>
          <a:p>
            <a:pPr algn="just"/>
            <a:r>
              <a:rPr lang="en-US" dirty="0">
                <a:latin typeface="Arial" panose="020B0604020202020204" pitchFamily="34" charset="0"/>
                <a:cs typeface="Arial" panose="020B0604020202020204" pitchFamily="34" charset="0"/>
              </a:rPr>
              <a:t>The poem is a dramatic monologue because the  persona seems to be engaged in a conversation with another person in the poem but in actually fact, he is the only person just expressing his thoughts. </a:t>
            </a:r>
          </a:p>
          <a:p>
            <a:pPr algn="just"/>
            <a:r>
              <a:rPr lang="en-US" dirty="0">
                <a:latin typeface="Arial" panose="020B0604020202020204" pitchFamily="34" charset="0"/>
                <a:cs typeface="Arial" panose="020B0604020202020204" pitchFamily="34" charset="0"/>
              </a:rPr>
              <a:t>The poem is a </a:t>
            </a:r>
            <a:r>
              <a:rPr lang="en-US" i="1" dirty="0">
                <a:latin typeface="Arial" panose="020B0604020202020204" pitchFamily="34" charset="0"/>
                <a:cs typeface="Arial" panose="020B0604020202020204" pitchFamily="34" charset="0"/>
              </a:rPr>
              <a:t>carpe diem </a:t>
            </a:r>
            <a:r>
              <a:rPr lang="en-US" dirty="0">
                <a:latin typeface="Arial" panose="020B0604020202020204" pitchFamily="34" charset="0"/>
                <a:cs typeface="Arial" panose="020B0604020202020204" pitchFamily="34" charset="0"/>
              </a:rPr>
              <a:t>which means ‘seize the day.’ The phrase was first used by the Roman poet, Horace, to express the idea that one should enjoy life while he can. </a:t>
            </a:r>
          </a:p>
          <a:p>
            <a:pPr algn="just"/>
            <a:r>
              <a:rPr lang="en-US" dirty="0">
                <a:latin typeface="Arial" panose="020B0604020202020204" pitchFamily="34" charset="0"/>
                <a:cs typeface="Arial" panose="020B0604020202020204" pitchFamily="34" charset="0"/>
              </a:rPr>
              <a:t>It also has a regular rhyme scheme (</a:t>
            </a:r>
            <a:r>
              <a:rPr lang="en-US" dirty="0" err="1">
                <a:latin typeface="Arial" panose="020B0604020202020204" pitchFamily="34" charset="0"/>
                <a:cs typeface="Arial" panose="020B0604020202020204" pitchFamily="34" charset="0"/>
              </a:rPr>
              <a:t>aabb</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161792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LANGUAGE</a:t>
            </a:r>
          </a:p>
        </p:txBody>
      </p:sp>
      <p:sp>
        <p:nvSpPr>
          <p:cNvPr id="3" name="Content Placeholder 2"/>
          <p:cNvSpPr>
            <a:spLocks noGrp="1"/>
          </p:cNvSpPr>
          <p:nvPr>
            <p:ph idx="1"/>
          </p:nvPr>
        </p:nvSpPr>
        <p:spPr/>
        <p:txBody>
          <a:bodyPr>
            <a:normAutofit/>
          </a:bodyPr>
          <a:lstStyle/>
          <a:p>
            <a:pPr algn="just"/>
            <a:r>
              <a:rPr lang="en-US" dirty="0">
                <a:latin typeface="Arial" panose="020B0604020202020204" pitchFamily="34" charset="0"/>
                <a:cs typeface="Arial" panose="020B0604020202020204" pitchFamily="34" charset="0"/>
              </a:rPr>
              <a:t>The poem uses many figures of speech:</a:t>
            </a:r>
          </a:p>
          <a:p>
            <a:pPr algn="just"/>
            <a:r>
              <a:rPr lang="en-US" dirty="0">
                <a:latin typeface="Arial" panose="020B0604020202020204" pitchFamily="34" charset="0"/>
                <a:cs typeface="Arial" panose="020B0604020202020204" pitchFamily="34" charset="0"/>
              </a:rPr>
              <a:t>Simile: The youthful hue sits on thy skin like morning dew.</a:t>
            </a:r>
          </a:p>
          <a:p>
            <a:pPr algn="just"/>
            <a:r>
              <a:rPr lang="en-US" dirty="0">
                <a:latin typeface="Arial" panose="020B0604020202020204" pitchFamily="34" charset="0"/>
                <a:cs typeface="Arial" panose="020B0604020202020204" pitchFamily="34" charset="0"/>
              </a:rPr>
              <a:t>Metaphor: My vegetable love.</a:t>
            </a:r>
          </a:p>
          <a:p>
            <a:pPr algn="just"/>
            <a:r>
              <a:rPr lang="en-US" dirty="0">
                <a:latin typeface="Arial" panose="020B0604020202020204" pitchFamily="34" charset="0"/>
                <a:cs typeface="Arial" panose="020B0604020202020204" pitchFamily="34" charset="0"/>
              </a:rPr>
              <a:t>Personification: Time’s winged chariot.</a:t>
            </a:r>
          </a:p>
          <a:p>
            <a:pPr algn="just"/>
            <a:r>
              <a:rPr lang="en-US" dirty="0">
                <a:latin typeface="Arial" panose="020B0604020202020204" pitchFamily="34" charset="0"/>
                <a:cs typeface="Arial" panose="020B0604020202020204" pitchFamily="34" charset="0"/>
              </a:rPr>
              <a:t>Euphemism: Turn to dust</a:t>
            </a:r>
          </a:p>
          <a:p>
            <a:pPr algn="just"/>
            <a:r>
              <a:rPr lang="en-US" dirty="0">
                <a:latin typeface="Arial" panose="020B0604020202020204" pitchFamily="34" charset="0"/>
                <a:cs typeface="Arial" panose="020B0604020202020204" pitchFamily="34" charset="0"/>
              </a:rPr>
              <a:t>Historical and Biblical Allusions: The growth of empires. The flood. The conversion of the Jews.</a:t>
            </a:r>
          </a:p>
          <a:p>
            <a:pPr algn="just"/>
            <a:r>
              <a:rPr lang="en-US" dirty="0">
                <a:latin typeface="Arial" panose="020B0604020202020204" pitchFamily="34" charset="0"/>
                <a:cs typeface="Arial" panose="020B0604020202020204" pitchFamily="34" charset="0"/>
              </a:rPr>
              <a:t>Hyperbole: Hundred years to praise your eyes.</a:t>
            </a:r>
          </a:p>
        </p:txBody>
      </p:sp>
    </p:spTree>
    <p:extLst>
      <p:ext uri="{BB962C8B-B14F-4D97-AF65-F5344CB8AC3E}">
        <p14:creationId xmlns:p14="http://schemas.microsoft.com/office/powerpoint/2010/main" val="476868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SETTING</a:t>
            </a:r>
          </a:p>
        </p:txBody>
      </p:sp>
      <p:sp>
        <p:nvSpPr>
          <p:cNvPr id="3" name="Content Placeholder 2"/>
          <p:cNvSpPr>
            <a:spLocks noGrp="1"/>
          </p:cNvSpPr>
          <p:nvPr>
            <p:ph idx="1"/>
          </p:nvPr>
        </p:nvSpPr>
        <p:spPr/>
        <p:txBody>
          <a:bodyPr/>
          <a:lstStyle/>
          <a:p>
            <a:pPr algn="just"/>
            <a:r>
              <a:rPr lang="en-US" dirty="0">
                <a:latin typeface="Arial" panose="020B0604020202020204" pitchFamily="34" charset="0"/>
                <a:cs typeface="Arial" panose="020B0604020202020204" pitchFamily="34" charset="0"/>
              </a:rPr>
              <a:t>The poem is set in seventeenth century England with thematic concerns that remain universal and timeless. </a:t>
            </a:r>
          </a:p>
          <a:p>
            <a:pPr algn="just"/>
            <a:r>
              <a:rPr lang="en-US" dirty="0">
                <a:latin typeface="Arial" panose="020B0604020202020204" pitchFamily="34" charset="0"/>
                <a:cs typeface="Arial" panose="020B0604020202020204" pitchFamily="34" charset="0"/>
              </a:rPr>
              <a:t>Man has still not been able to stop the clock from ticking and neither have we been able to conquer death. </a:t>
            </a:r>
          </a:p>
          <a:p>
            <a:pPr algn="just"/>
            <a:r>
              <a:rPr lang="en-US" dirty="0">
                <a:latin typeface="Arial" panose="020B0604020202020204" pitchFamily="34" charset="0"/>
                <a:cs typeface="Arial" panose="020B0604020202020204" pitchFamily="34" charset="0"/>
              </a:rPr>
              <a:t>Modesty and coyness still remain the characteristics of many women and so is procrastination. </a:t>
            </a:r>
          </a:p>
        </p:txBody>
      </p:sp>
    </p:spTree>
    <p:extLst>
      <p:ext uri="{BB962C8B-B14F-4D97-AF65-F5344CB8AC3E}">
        <p14:creationId xmlns:p14="http://schemas.microsoft.com/office/powerpoint/2010/main" val="5424572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TotalTime>
  <Words>599</Words>
  <Application>Microsoft Office PowerPoint</Application>
  <PresentationFormat>Widescreen</PresentationFormat>
  <Paragraphs>46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TO HIS COY MISTRESS</vt:lpstr>
      <vt:lpstr>BIOGRAPHY</vt:lpstr>
      <vt:lpstr>SUMMARY</vt:lpstr>
      <vt:lpstr>SUMMARY</vt:lpstr>
      <vt:lpstr>SUMMARY</vt:lpstr>
      <vt:lpstr>THEMES</vt:lpstr>
      <vt:lpstr>TECHNICAL DEVICES</vt:lpstr>
      <vt:lpstr>LANGUAGE</vt:lpstr>
      <vt:lpstr>SETTING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ENGL 263</dc:title>
  <dc:creator>Windows User</dc:creator>
  <cp:lastModifiedBy>johnaning53@outlook.com</cp:lastModifiedBy>
  <cp:revision>34</cp:revision>
  <dcterms:created xsi:type="dcterms:W3CDTF">2020-11-11T02:19:23Z</dcterms:created>
  <dcterms:modified xsi:type="dcterms:W3CDTF">2021-02-07T10:34:50Z</dcterms:modified>
</cp:coreProperties>
</file>