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59" r:id="rId4"/>
    <p:sldId id="257" r:id="rId5"/>
    <p:sldId id="258" r:id="rId6"/>
    <p:sldId id="261" r:id="rId7"/>
    <p:sldId id="262" r:id="rId8"/>
    <p:sldId id="263" r:id="rId9"/>
    <p:sldId id="264" r:id="rId10"/>
    <p:sldId id="265" r:id="rId11"/>
    <p:sldId id="267"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5" autoAdjust="0"/>
    <p:restoredTop sz="94660"/>
  </p:normalViewPr>
  <p:slideViewPr>
    <p:cSldViewPr snapToGrid="0">
      <p:cViewPr varScale="1">
        <p:scale>
          <a:sx n="105" d="100"/>
          <a:sy n="105" d="100"/>
        </p:scale>
        <p:origin x="120" y="2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94242-25F0-4C0C-91DA-2757E396851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0E231CA-9503-428A-B141-9E79C8CA85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ED0E52C-CA96-4919-8E44-04AFD691E347}"/>
              </a:ext>
            </a:extLst>
          </p:cNvPr>
          <p:cNvSpPr>
            <a:spLocks noGrp="1"/>
          </p:cNvSpPr>
          <p:nvPr>
            <p:ph type="dt" sz="half" idx="10"/>
          </p:nvPr>
        </p:nvSpPr>
        <p:spPr/>
        <p:txBody>
          <a:bodyPr/>
          <a:lstStyle/>
          <a:p>
            <a:fld id="{76F952DE-D344-466A-97A5-7D57655012E6}" type="datetimeFigureOut">
              <a:rPr lang="en-GB" smtClean="0"/>
              <a:t>22/03/2021</a:t>
            </a:fld>
            <a:endParaRPr lang="en-GB"/>
          </a:p>
        </p:txBody>
      </p:sp>
      <p:sp>
        <p:nvSpPr>
          <p:cNvPr id="5" name="Footer Placeholder 4">
            <a:extLst>
              <a:ext uri="{FF2B5EF4-FFF2-40B4-BE49-F238E27FC236}">
                <a16:creationId xmlns:a16="http://schemas.microsoft.com/office/drawing/2014/main" id="{927ABBE9-B704-416C-81B6-FDFC1D6206B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BC49883-B973-4BB5-9C7E-CA4369B61E29}"/>
              </a:ext>
            </a:extLst>
          </p:cNvPr>
          <p:cNvSpPr>
            <a:spLocks noGrp="1"/>
          </p:cNvSpPr>
          <p:nvPr>
            <p:ph type="sldNum" sz="quarter" idx="12"/>
          </p:nvPr>
        </p:nvSpPr>
        <p:spPr/>
        <p:txBody>
          <a:bodyPr/>
          <a:lstStyle/>
          <a:p>
            <a:fld id="{B8EC8E57-B5A7-46E2-B6D4-27A2D59152CA}" type="slidenum">
              <a:rPr lang="en-GB" smtClean="0"/>
              <a:t>‹#›</a:t>
            </a:fld>
            <a:endParaRPr lang="en-GB"/>
          </a:p>
        </p:txBody>
      </p:sp>
    </p:spTree>
    <p:extLst>
      <p:ext uri="{BB962C8B-B14F-4D97-AF65-F5344CB8AC3E}">
        <p14:creationId xmlns:p14="http://schemas.microsoft.com/office/powerpoint/2010/main" val="647100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F8E15-5BE9-4131-BF6F-073FD2AB027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0BF58D3-A255-45C8-9E7B-490CC9C5E5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13044FC-B964-4E8B-A5C7-BE984F02DDAB}"/>
              </a:ext>
            </a:extLst>
          </p:cNvPr>
          <p:cNvSpPr>
            <a:spLocks noGrp="1"/>
          </p:cNvSpPr>
          <p:nvPr>
            <p:ph type="dt" sz="half" idx="10"/>
          </p:nvPr>
        </p:nvSpPr>
        <p:spPr/>
        <p:txBody>
          <a:bodyPr/>
          <a:lstStyle/>
          <a:p>
            <a:fld id="{76F952DE-D344-466A-97A5-7D57655012E6}" type="datetimeFigureOut">
              <a:rPr lang="en-GB" smtClean="0"/>
              <a:t>22/03/2021</a:t>
            </a:fld>
            <a:endParaRPr lang="en-GB"/>
          </a:p>
        </p:txBody>
      </p:sp>
      <p:sp>
        <p:nvSpPr>
          <p:cNvPr id="5" name="Footer Placeholder 4">
            <a:extLst>
              <a:ext uri="{FF2B5EF4-FFF2-40B4-BE49-F238E27FC236}">
                <a16:creationId xmlns:a16="http://schemas.microsoft.com/office/drawing/2014/main" id="{74E3B69A-4EA3-47DC-BF53-44CF13E593F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813E5A7-D3A4-4358-88AF-0C5173DDB8A1}"/>
              </a:ext>
            </a:extLst>
          </p:cNvPr>
          <p:cNvSpPr>
            <a:spLocks noGrp="1"/>
          </p:cNvSpPr>
          <p:nvPr>
            <p:ph type="sldNum" sz="quarter" idx="12"/>
          </p:nvPr>
        </p:nvSpPr>
        <p:spPr/>
        <p:txBody>
          <a:bodyPr/>
          <a:lstStyle/>
          <a:p>
            <a:fld id="{B8EC8E57-B5A7-46E2-B6D4-27A2D59152CA}" type="slidenum">
              <a:rPr lang="en-GB" smtClean="0"/>
              <a:t>‹#›</a:t>
            </a:fld>
            <a:endParaRPr lang="en-GB"/>
          </a:p>
        </p:txBody>
      </p:sp>
    </p:spTree>
    <p:extLst>
      <p:ext uri="{BB962C8B-B14F-4D97-AF65-F5344CB8AC3E}">
        <p14:creationId xmlns:p14="http://schemas.microsoft.com/office/powerpoint/2010/main" val="2666709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DFEA6-F71D-4435-8BDB-92F7CC1E28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D8A28A5-1749-47B1-BD37-1C1B455FF1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8B296E-6F2F-4E8B-B2E5-A2E65A76E58A}"/>
              </a:ext>
            </a:extLst>
          </p:cNvPr>
          <p:cNvSpPr>
            <a:spLocks noGrp="1"/>
          </p:cNvSpPr>
          <p:nvPr>
            <p:ph type="dt" sz="half" idx="10"/>
          </p:nvPr>
        </p:nvSpPr>
        <p:spPr/>
        <p:txBody>
          <a:bodyPr/>
          <a:lstStyle/>
          <a:p>
            <a:fld id="{76F952DE-D344-466A-97A5-7D57655012E6}" type="datetimeFigureOut">
              <a:rPr lang="en-GB" smtClean="0"/>
              <a:t>22/03/2021</a:t>
            </a:fld>
            <a:endParaRPr lang="en-GB"/>
          </a:p>
        </p:txBody>
      </p:sp>
      <p:sp>
        <p:nvSpPr>
          <p:cNvPr id="5" name="Footer Placeholder 4">
            <a:extLst>
              <a:ext uri="{FF2B5EF4-FFF2-40B4-BE49-F238E27FC236}">
                <a16:creationId xmlns:a16="http://schemas.microsoft.com/office/drawing/2014/main" id="{CC97B79F-9BA6-49DF-96AD-89B66906335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228167C-EBCA-4216-A12A-830872CB04FC}"/>
              </a:ext>
            </a:extLst>
          </p:cNvPr>
          <p:cNvSpPr>
            <a:spLocks noGrp="1"/>
          </p:cNvSpPr>
          <p:nvPr>
            <p:ph type="sldNum" sz="quarter" idx="12"/>
          </p:nvPr>
        </p:nvSpPr>
        <p:spPr/>
        <p:txBody>
          <a:bodyPr/>
          <a:lstStyle/>
          <a:p>
            <a:fld id="{B8EC8E57-B5A7-46E2-B6D4-27A2D59152CA}" type="slidenum">
              <a:rPr lang="en-GB" smtClean="0"/>
              <a:t>‹#›</a:t>
            </a:fld>
            <a:endParaRPr lang="en-GB"/>
          </a:p>
        </p:txBody>
      </p:sp>
    </p:spTree>
    <p:extLst>
      <p:ext uri="{BB962C8B-B14F-4D97-AF65-F5344CB8AC3E}">
        <p14:creationId xmlns:p14="http://schemas.microsoft.com/office/powerpoint/2010/main" val="587398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55714-9BA7-4C7E-BCAF-A8382750F48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367D972-AE15-4A2F-A1FA-ED11492FFC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8387910-C260-45CC-918C-D9C752C052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17BD341-BFAB-44A1-A967-4A0F3C5A72C4}"/>
              </a:ext>
            </a:extLst>
          </p:cNvPr>
          <p:cNvSpPr>
            <a:spLocks noGrp="1"/>
          </p:cNvSpPr>
          <p:nvPr>
            <p:ph type="dt" sz="half" idx="10"/>
          </p:nvPr>
        </p:nvSpPr>
        <p:spPr/>
        <p:txBody>
          <a:bodyPr/>
          <a:lstStyle/>
          <a:p>
            <a:fld id="{76F952DE-D344-466A-97A5-7D57655012E6}" type="datetimeFigureOut">
              <a:rPr lang="en-GB" smtClean="0"/>
              <a:t>22/03/2021</a:t>
            </a:fld>
            <a:endParaRPr lang="en-GB"/>
          </a:p>
        </p:txBody>
      </p:sp>
      <p:sp>
        <p:nvSpPr>
          <p:cNvPr id="6" name="Footer Placeholder 5">
            <a:extLst>
              <a:ext uri="{FF2B5EF4-FFF2-40B4-BE49-F238E27FC236}">
                <a16:creationId xmlns:a16="http://schemas.microsoft.com/office/drawing/2014/main" id="{32B0D63F-2656-4310-9D70-9F1F3CC41DE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48515F2-EBC6-4B21-87BC-C761CFCC6472}"/>
              </a:ext>
            </a:extLst>
          </p:cNvPr>
          <p:cNvSpPr>
            <a:spLocks noGrp="1"/>
          </p:cNvSpPr>
          <p:nvPr>
            <p:ph type="sldNum" sz="quarter" idx="12"/>
          </p:nvPr>
        </p:nvSpPr>
        <p:spPr/>
        <p:txBody>
          <a:bodyPr/>
          <a:lstStyle/>
          <a:p>
            <a:fld id="{B8EC8E57-B5A7-46E2-B6D4-27A2D59152CA}" type="slidenum">
              <a:rPr lang="en-GB" smtClean="0"/>
              <a:t>‹#›</a:t>
            </a:fld>
            <a:endParaRPr lang="en-GB"/>
          </a:p>
        </p:txBody>
      </p:sp>
    </p:spTree>
    <p:extLst>
      <p:ext uri="{BB962C8B-B14F-4D97-AF65-F5344CB8AC3E}">
        <p14:creationId xmlns:p14="http://schemas.microsoft.com/office/powerpoint/2010/main" val="3845314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A4B42-1E02-46D5-8CC8-BA1914D5FA8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16B9EF0-7CB6-4A4A-AF8E-FECBABFFCD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10BE68-0970-494C-AFD5-730CBD12EE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19837D1-AAF3-4487-813A-AFE7070D29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5055B0-2871-4D7D-B92B-D73C06D7E6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A0D29097-3A9B-430B-9494-AAEB7626818C}"/>
              </a:ext>
            </a:extLst>
          </p:cNvPr>
          <p:cNvSpPr>
            <a:spLocks noGrp="1"/>
          </p:cNvSpPr>
          <p:nvPr>
            <p:ph type="dt" sz="half" idx="10"/>
          </p:nvPr>
        </p:nvSpPr>
        <p:spPr/>
        <p:txBody>
          <a:bodyPr/>
          <a:lstStyle/>
          <a:p>
            <a:fld id="{76F952DE-D344-466A-97A5-7D57655012E6}" type="datetimeFigureOut">
              <a:rPr lang="en-GB" smtClean="0"/>
              <a:t>22/03/2021</a:t>
            </a:fld>
            <a:endParaRPr lang="en-GB"/>
          </a:p>
        </p:txBody>
      </p:sp>
      <p:sp>
        <p:nvSpPr>
          <p:cNvPr id="8" name="Footer Placeholder 7">
            <a:extLst>
              <a:ext uri="{FF2B5EF4-FFF2-40B4-BE49-F238E27FC236}">
                <a16:creationId xmlns:a16="http://schemas.microsoft.com/office/drawing/2014/main" id="{3A8D4B2A-38A0-45F9-BB59-1CDB7E8293B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E1364D0D-87A1-431A-8ABC-547D0EBD8EE9}"/>
              </a:ext>
            </a:extLst>
          </p:cNvPr>
          <p:cNvSpPr>
            <a:spLocks noGrp="1"/>
          </p:cNvSpPr>
          <p:nvPr>
            <p:ph type="sldNum" sz="quarter" idx="12"/>
          </p:nvPr>
        </p:nvSpPr>
        <p:spPr/>
        <p:txBody>
          <a:bodyPr/>
          <a:lstStyle/>
          <a:p>
            <a:fld id="{B8EC8E57-B5A7-46E2-B6D4-27A2D59152CA}" type="slidenum">
              <a:rPr lang="en-GB" smtClean="0"/>
              <a:t>‹#›</a:t>
            </a:fld>
            <a:endParaRPr lang="en-GB"/>
          </a:p>
        </p:txBody>
      </p:sp>
    </p:spTree>
    <p:extLst>
      <p:ext uri="{BB962C8B-B14F-4D97-AF65-F5344CB8AC3E}">
        <p14:creationId xmlns:p14="http://schemas.microsoft.com/office/powerpoint/2010/main" val="2177043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92647-1BE0-43A5-B8F4-09423A5F560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DA229F4-C183-4878-8ED2-07C2814E61D5}"/>
              </a:ext>
            </a:extLst>
          </p:cNvPr>
          <p:cNvSpPr>
            <a:spLocks noGrp="1"/>
          </p:cNvSpPr>
          <p:nvPr>
            <p:ph type="dt" sz="half" idx="10"/>
          </p:nvPr>
        </p:nvSpPr>
        <p:spPr/>
        <p:txBody>
          <a:bodyPr/>
          <a:lstStyle/>
          <a:p>
            <a:fld id="{76F952DE-D344-466A-97A5-7D57655012E6}" type="datetimeFigureOut">
              <a:rPr lang="en-GB" smtClean="0"/>
              <a:t>22/03/2021</a:t>
            </a:fld>
            <a:endParaRPr lang="en-GB"/>
          </a:p>
        </p:txBody>
      </p:sp>
      <p:sp>
        <p:nvSpPr>
          <p:cNvPr id="4" name="Footer Placeholder 3">
            <a:extLst>
              <a:ext uri="{FF2B5EF4-FFF2-40B4-BE49-F238E27FC236}">
                <a16:creationId xmlns:a16="http://schemas.microsoft.com/office/drawing/2014/main" id="{35A9A00A-BCAB-4D34-92B2-5D4A328D655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518DD29-97BF-4DCC-B353-700972956AC4}"/>
              </a:ext>
            </a:extLst>
          </p:cNvPr>
          <p:cNvSpPr>
            <a:spLocks noGrp="1"/>
          </p:cNvSpPr>
          <p:nvPr>
            <p:ph type="sldNum" sz="quarter" idx="12"/>
          </p:nvPr>
        </p:nvSpPr>
        <p:spPr/>
        <p:txBody>
          <a:bodyPr/>
          <a:lstStyle/>
          <a:p>
            <a:fld id="{B8EC8E57-B5A7-46E2-B6D4-27A2D59152CA}" type="slidenum">
              <a:rPr lang="en-GB" smtClean="0"/>
              <a:t>‹#›</a:t>
            </a:fld>
            <a:endParaRPr lang="en-GB"/>
          </a:p>
        </p:txBody>
      </p:sp>
    </p:spTree>
    <p:extLst>
      <p:ext uri="{BB962C8B-B14F-4D97-AF65-F5344CB8AC3E}">
        <p14:creationId xmlns:p14="http://schemas.microsoft.com/office/powerpoint/2010/main" val="2467974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6069FB-8B18-45F7-A26E-BBE081D4677F}"/>
              </a:ext>
            </a:extLst>
          </p:cNvPr>
          <p:cNvSpPr>
            <a:spLocks noGrp="1"/>
          </p:cNvSpPr>
          <p:nvPr>
            <p:ph type="dt" sz="half" idx="10"/>
          </p:nvPr>
        </p:nvSpPr>
        <p:spPr/>
        <p:txBody>
          <a:bodyPr/>
          <a:lstStyle/>
          <a:p>
            <a:fld id="{76F952DE-D344-466A-97A5-7D57655012E6}" type="datetimeFigureOut">
              <a:rPr lang="en-GB" smtClean="0"/>
              <a:t>22/03/2021</a:t>
            </a:fld>
            <a:endParaRPr lang="en-GB"/>
          </a:p>
        </p:txBody>
      </p:sp>
      <p:sp>
        <p:nvSpPr>
          <p:cNvPr id="3" name="Footer Placeholder 2">
            <a:extLst>
              <a:ext uri="{FF2B5EF4-FFF2-40B4-BE49-F238E27FC236}">
                <a16:creationId xmlns:a16="http://schemas.microsoft.com/office/drawing/2014/main" id="{5ACD2693-68BD-44D6-969B-494C2948AA4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B3438AF-A52D-40C4-9E23-E8E8941F31F7}"/>
              </a:ext>
            </a:extLst>
          </p:cNvPr>
          <p:cNvSpPr>
            <a:spLocks noGrp="1"/>
          </p:cNvSpPr>
          <p:nvPr>
            <p:ph type="sldNum" sz="quarter" idx="12"/>
          </p:nvPr>
        </p:nvSpPr>
        <p:spPr/>
        <p:txBody>
          <a:bodyPr/>
          <a:lstStyle/>
          <a:p>
            <a:fld id="{B8EC8E57-B5A7-46E2-B6D4-27A2D59152CA}" type="slidenum">
              <a:rPr lang="en-GB" smtClean="0"/>
              <a:t>‹#›</a:t>
            </a:fld>
            <a:endParaRPr lang="en-GB"/>
          </a:p>
        </p:txBody>
      </p:sp>
    </p:spTree>
    <p:extLst>
      <p:ext uri="{BB962C8B-B14F-4D97-AF65-F5344CB8AC3E}">
        <p14:creationId xmlns:p14="http://schemas.microsoft.com/office/powerpoint/2010/main" val="544101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D89DB-CFCB-439B-848B-283503B2E2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20186F2-FAAE-495C-B892-0ECA614CAE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72443E9-D0FC-4370-B391-BCC8AD514C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37D3B8-8E70-4815-AB13-0EA93B80E7BB}"/>
              </a:ext>
            </a:extLst>
          </p:cNvPr>
          <p:cNvSpPr>
            <a:spLocks noGrp="1"/>
          </p:cNvSpPr>
          <p:nvPr>
            <p:ph type="dt" sz="half" idx="10"/>
          </p:nvPr>
        </p:nvSpPr>
        <p:spPr/>
        <p:txBody>
          <a:bodyPr/>
          <a:lstStyle/>
          <a:p>
            <a:fld id="{76F952DE-D344-466A-97A5-7D57655012E6}" type="datetimeFigureOut">
              <a:rPr lang="en-GB" smtClean="0"/>
              <a:t>22/03/2021</a:t>
            </a:fld>
            <a:endParaRPr lang="en-GB"/>
          </a:p>
        </p:txBody>
      </p:sp>
      <p:sp>
        <p:nvSpPr>
          <p:cNvPr id="6" name="Footer Placeholder 5">
            <a:extLst>
              <a:ext uri="{FF2B5EF4-FFF2-40B4-BE49-F238E27FC236}">
                <a16:creationId xmlns:a16="http://schemas.microsoft.com/office/drawing/2014/main" id="{D7D6544A-6EE1-430F-BF8B-42FCBD2E825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47A00B3-E70D-4277-9D1E-7C694901954F}"/>
              </a:ext>
            </a:extLst>
          </p:cNvPr>
          <p:cNvSpPr>
            <a:spLocks noGrp="1"/>
          </p:cNvSpPr>
          <p:nvPr>
            <p:ph type="sldNum" sz="quarter" idx="12"/>
          </p:nvPr>
        </p:nvSpPr>
        <p:spPr/>
        <p:txBody>
          <a:bodyPr/>
          <a:lstStyle/>
          <a:p>
            <a:fld id="{B8EC8E57-B5A7-46E2-B6D4-27A2D59152CA}" type="slidenum">
              <a:rPr lang="en-GB" smtClean="0"/>
              <a:t>‹#›</a:t>
            </a:fld>
            <a:endParaRPr lang="en-GB"/>
          </a:p>
        </p:txBody>
      </p:sp>
    </p:spTree>
    <p:extLst>
      <p:ext uri="{BB962C8B-B14F-4D97-AF65-F5344CB8AC3E}">
        <p14:creationId xmlns:p14="http://schemas.microsoft.com/office/powerpoint/2010/main" val="3642173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C077D-5235-4F2B-9F29-5557D7FB63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EFDE3F8-AD26-4721-95EF-323E800831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E45302D-DBBD-46A8-8FB3-6581BF8840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B03BCC-6407-4EE0-8BEC-D8F55D3E802B}"/>
              </a:ext>
            </a:extLst>
          </p:cNvPr>
          <p:cNvSpPr>
            <a:spLocks noGrp="1"/>
          </p:cNvSpPr>
          <p:nvPr>
            <p:ph type="dt" sz="half" idx="10"/>
          </p:nvPr>
        </p:nvSpPr>
        <p:spPr/>
        <p:txBody>
          <a:bodyPr/>
          <a:lstStyle/>
          <a:p>
            <a:fld id="{76F952DE-D344-466A-97A5-7D57655012E6}" type="datetimeFigureOut">
              <a:rPr lang="en-GB" smtClean="0"/>
              <a:t>22/03/2021</a:t>
            </a:fld>
            <a:endParaRPr lang="en-GB"/>
          </a:p>
        </p:txBody>
      </p:sp>
      <p:sp>
        <p:nvSpPr>
          <p:cNvPr id="6" name="Footer Placeholder 5">
            <a:extLst>
              <a:ext uri="{FF2B5EF4-FFF2-40B4-BE49-F238E27FC236}">
                <a16:creationId xmlns:a16="http://schemas.microsoft.com/office/drawing/2014/main" id="{B8AC545F-26DF-4642-A5D5-19E20FF956A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3F49E1F-23F9-4B81-B324-B9A0EC9939F6}"/>
              </a:ext>
            </a:extLst>
          </p:cNvPr>
          <p:cNvSpPr>
            <a:spLocks noGrp="1"/>
          </p:cNvSpPr>
          <p:nvPr>
            <p:ph type="sldNum" sz="quarter" idx="12"/>
          </p:nvPr>
        </p:nvSpPr>
        <p:spPr/>
        <p:txBody>
          <a:bodyPr/>
          <a:lstStyle/>
          <a:p>
            <a:fld id="{B8EC8E57-B5A7-46E2-B6D4-27A2D59152CA}" type="slidenum">
              <a:rPr lang="en-GB" smtClean="0"/>
              <a:t>‹#›</a:t>
            </a:fld>
            <a:endParaRPr lang="en-GB"/>
          </a:p>
        </p:txBody>
      </p:sp>
    </p:spTree>
    <p:extLst>
      <p:ext uri="{BB962C8B-B14F-4D97-AF65-F5344CB8AC3E}">
        <p14:creationId xmlns:p14="http://schemas.microsoft.com/office/powerpoint/2010/main" val="2430509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A3C9E-5CB8-4748-A0D7-769B6A0FD3A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BB1BF27-C2D9-435B-8331-24FAA51EF9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8CA39B1-5BD9-4999-AE30-11F535B7CADA}"/>
              </a:ext>
            </a:extLst>
          </p:cNvPr>
          <p:cNvSpPr>
            <a:spLocks noGrp="1"/>
          </p:cNvSpPr>
          <p:nvPr>
            <p:ph type="dt" sz="half" idx="10"/>
          </p:nvPr>
        </p:nvSpPr>
        <p:spPr/>
        <p:txBody>
          <a:bodyPr/>
          <a:lstStyle/>
          <a:p>
            <a:fld id="{76F952DE-D344-466A-97A5-7D57655012E6}" type="datetimeFigureOut">
              <a:rPr lang="en-GB" smtClean="0"/>
              <a:t>22/03/2021</a:t>
            </a:fld>
            <a:endParaRPr lang="en-GB"/>
          </a:p>
        </p:txBody>
      </p:sp>
      <p:sp>
        <p:nvSpPr>
          <p:cNvPr id="5" name="Footer Placeholder 4">
            <a:extLst>
              <a:ext uri="{FF2B5EF4-FFF2-40B4-BE49-F238E27FC236}">
                <a16:creationId xmlns:a16="http://schemas.microsoft.com/office/drawing/2014/main" id="{FC3B442B-8FC9-46EB-B38C-82C25AB8B53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F1B736F-8ED8-4DDB-BCB8-18CAAA1EE4EB}"/>
              </a:ext>
            </a:extLst>
          </p:cNvPr>
          <p:cNvSpPr>
            <a:spLocks noGrp="1"/>
          </p:cNvSpPr>
          <p:nvPr>
            <p:ph type="sldNum" sz="quarter" idx="12"/>
          </p:nvPr>
        </p:nvSpPr>
        <p:spPr/>
        <p:txBody>
          <a:bodyPr/>
          <a:lstStyle/>
          <a:p>
            <a:fld id="{B8EC8E57-B5A7-46E2-B6D4-27A2D59152CA}" type="slidenum">
              <a:rPr lang="en-GB" smtClean="0"/>
              <a:t>‹#›</a:t>
            </a:fld>
            <a:endParaRPr lang="en-GB"/>
          </a:p>
        </p:txBody>
      </p:sp>
    </p:spTree>
    <p:extLst>
      <p:ext uri="{BB962C8B-B14F-4D97-AF65-F5344CB8AC3E}">
        <p14:creationId xmlns:p14="http://schemas.microsoft.com/office/powerpoint/2010/main" val="20493983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5A9F73-D58E-4339-B3FA-F257E516B65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D377BDF-4778-43EB-AD21-E304E400D6C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5B5B619-856E-4B54-9B63-59F652C84A68}"/>
              </a:ext>
            </a:extLst>
          </p:cNvPr>
          <p:cNvSpPr>
            <a:spLocks noGrp="1"/>
          </p:cNvSpPr>
          <p:nvPr>
            <p:ph type="dt" sz="half" idx="10"/>
          </p:nvPr>
        </p:nvSpPr>
        <p:spPr/>
        <p:txBody>
          <a:bodyPr/>
          <a:lstStyle/>
          <a:p>
            <a:fld id="{76F952DE-D344-466A-97A5-7D57655012E6}" type="datetimeFigureOut">
              <a:rPr lang="en-GB" smtClean="0"/>
              <a:t>22/03/2021</a:t>
            </a:fld>
            <a:endParaRPr lang="en-GB"/>
          </a:p>
        </p:txBody>
      </p:sp>
      <p:sp>
        <p:nvSpPr>
          <p:cNvPr id="5" name="Footer Placeholder 4">
            <a:extLst>
              <a:ext uri="{FF2B5EF4-FFF2-40B4-BE49-F238E27FC236}">
                <a16:creationId xmlns:a16="http://schemas.microsoft.com/office/drawing/2014/main" id="{67D6636E-C489-4FCA-B538-E34692B61D6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FC6A808-2D7E-45C8-A413-D964B941A91E}"/>
              </a:ext>
            </a:extLst>
          </p:cNvPr>
          <p:cNvSpPr>
            <a:spLocks noGrp="1"/>
          </p:cNvSpPr>
          <p:nvPr>
            <p:ph type="sldNum" sz="quarter" idx="12"/>
          </p:nvPr>
        </p:nvSpPr>
        <p:spPr/>
        <p:txBody>
          <a:bodyPr/>
          <a:lstStyle/>
          <a:p>
            <a:fld id="{B8EC8E57-B5A7-46E2-B6D4-27A2D59152CA}" type="slidenum">
              <a:rPr lang="en-GB" smtClean="0"/>
              <a:t>‹#›</a:t>
            </a:fld>
            <a:endParaRPr lang="en-GB"/>
          </a:p>
        </p:txBody>
      </p:sp>
    </p:spTree>
    <p:extLst>
      <p:ext uri="{BB962C8B-B14F-4D97-AF65-F5344CB8AC3E}">
        <p14:creationId xmlns:p14="http://schemas.microsoft.com/office/powerpoint/2010/main" val="371129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420000-8EE8-4247-81E7-76228E4FA0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F1B311C-5432-478F-890E-0C2F4A9161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996FF0D-8645-47D5-848C-F94C6424E4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F952DE-D344-466A-97A5-7D57655012E6}" type="datetimeFigureOut">
              <a:rPr lang="en-GB" smtClean="0"/>
              <a:t>22/03/2021</a:t>
            </a:fld>
            <a:endParaRPr lang="en-GB"/>
          </a:p>
        </p:txBody>
      </p:sp>
      <p:sp>
        <p:nvSpPr>
          <p:cNvPr id="5" name="Footer Placeholder 4">
            <a:extLst>
              <a:ext uri="{FF2B5EF4-FFF2-40B4-BE49-F238E27FC236}">
                <a16:creationId xmlns:a16="http://schemas.microsoft.com/office/drawing/2014/main" id="{290689C5-51A2-40E9-BD5D-F0838D901C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4AF3F33-C240-4D1B-A9C2-0538362207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EC8E57-B5A7-46E2-B6D4-27A2D59152CA}" type="slidenum">
              <a:rPr lang="en-GB" smtClean="0"/>
              <a:t>‹#›</a:t>
            </a:fld>
            <a:endParaRPr lang="en-GB"/>
          </a:p>
        </p:txBody>
      </p:sp>
    </p:spTree>
    <p:extLst>
      <p:ext uri="{BB962C8B-B14F-4D97-AF65-F5344CB8AC3E}">
        <p14:creationId xmlns:p14="http://schemas.microsoft.com/office/powerpoint/2010/main" val="3147572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A228C-07E5-41E7-8B57-776011316AA5}"/>
              </a:ext>
            </a:extLst>
          </p:cNvPr>
          <p:cNvSpPr>
            <a:spLocks noGrp="1"/>
          </p:cNvSpPr>
          <p:nvPr>
            <p:ph type="ctrTitle"/>
          </p:nvPr>
        </p:nvSpPr>
        <p:spPr/>
        <p:txBody>
          <a:bodyPr/>
          <a:lstStyle/>
          <a:p>
            <a:r>
              <a:rPr lang="en-US" b="1" i="1" dirty="0">
                <a:latin typeface="Arial" panose="020B0604020202020204" pitchFamily="34" charset="0"/>
                <a:cs typeface="Arial" panose="020B0604020202020204" pitchFamily="34" charset="0"/>
              </a:rPr>
              <a:t>ANANSE IN THE LAND OF IDIOTS</a:t>
            </a:r>
            <a:endParaRPr lang="en-GB" b="1" i="1"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02E94ECF-326E-4635-859C-8D7B5808101E}"/>
              </a:ext>
            </a:extLst>
          </p:cNvPr>
          <p:cNvSpPr>
            <a:spLocks noGrp="1"/>
          </p:cNvSpPr>
          <p:nvPr>
            <p:ph type="subTitle" idx="1"/>
          </p:nvPr>
        </p:nvSpPr>
        <p:spPr/>
        <p:txBody>
          <a:bodyPr/>
          <a:lstStyle/>
          <a:p>
            <a:r>
              <a:rPr lang="en-US" b="1" dirty="0">
                <a:latin typeface="Arial" panose="020B0604020202020204" pitchFamily="34" charset="0"/>
                <a:cs typeface="Arial" panose="020B0604020202020204" pitchFamily="34" charset="0"/>
              </a:rPr>
              <a:t>YAW ASARE</a:t>
            </a:r>
            <a:endParaRPr lang="en-GB"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186550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0B1DD-BB71-4414-85C1-0BC8B0116EE5}"/>
              </a:ext>
            </a:extLst>
          </p:cNvPr>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SYNOPSIS</a:t>
            </a:r>
            <a:endParaRPr lang="en-GB"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43743C02-C378-4151-BC39-F6AE5AA8F9AA}"/>
              </a:ext>
            </a:extLst>
          </p:cNvPr>
          <p:cNvSpPr>
            <a:spLocks noGrp="1"/>
          </p:cNvSpPr>
          <p:nvPr>
            <p:ph idx="1"/>
          </p:nvPr>
        </p:nvSpPr>
        <p:spPr/>
        <p:txBody>
          <a:bodyPr>
            <a:normAutofit fontScale="92500" lnSpcReduction="20000"/>
          </a:bodyPr>
          <a:lstStyle/>
          <a:p>
            <a:pPr algn="just"/>
            <a:r>
              <a:rPr lang="en-US" dirty="0" err="1">
                <a:latin typeface="Arial" panose="020B0604020202020204" pitchFamily="34" charset="0"/>
                <a:cs typeface="Arial" panose="020B0604020202020204" pitchFamily="34" charset="0"/>
              </a:rPr>
              <a:t>Ananse</a:t>
            </a:r>
            <a:r>
              <a:rPr lang="en-US" dirty="0">
                <a:latin typeface="Arial" panose="020B0604020202020204" pitchFamily="34" charset="0"/>
                <a:cs typeface="Arial" panose="020B0604020202020204" pitchFamily="34" charset="0"/>
              </a:rPr>
              <a:t> gets himself into trouble by eating mashed yam meant as a sacrifice to the gods.</a:t>
            </a:r>
          </a:p>
          <a:p>
            <a:pPr algn="just"/>
            <a:r>
              <a:rPr lang="en-US" dirty="0">
                <a:latin typeface="Arial" panose="020B0604020202020204" pitchFamily="34" charset="0"/>
                <a:cs typeface="Arial" panose="020B0604020202020204" pitchFamily="34" charset="0"/>
              </a:rPr>
              <a:t>He extricates himself by playing on the materialistic bent of the king and secures for himself a </a:t>
            </a:r>
            <a:r>
              <a:rPr lang="en-US" dirty="0" err="1">
                <a:latin typeface="Arial" panose="020B0604020202020204" pitchFamily="34" charset="0"/>
                <a:cs typeface="Arial" panose="020B0604020202020204" pitchFamily="34" charset="0"/>
              </a:rPr>
              <a:t>favoured</a:t>
            </a:r>
            <a:r>
              <a:rPr lang="en-US" dirty="0">
                <a:latin typeface="Arial" panose="020B0604020202020204" pitchFamily="34" charset="0"/>
                <a:cs typeface="Arial" panose="020B0604020202020204" pitchFamily="34" charset="0"/>
              </a:rPr>
              <a:t> place in the kingdom.</a:t>
            </a:r>
          </a:p>
          <a:p>
            <a:pPr algn="just"/>
            <a:r>
              <a:rPr lang="en-US" dirty="0">
                <a:latin typeface="Arial" panose="020B0604020202020204" pitchFamily="34" charset="0"/>
                <a:cs typeface="Arial" panose="020B0604020202020204" pitchFamily="34" charset="0"/>
              </a:rPr>
              <a:t>Eventually, through subterfuge, disguise, murder and the elimination of the man who assists him along his devious path, he secures the hand of the princess.</a:t>
            </a:r>
          </a:p>
          <a:p>
            <a:pPr algn="just"/>
            <a:r>
              <a:rPr lang="en-US" dirty="0">
                <a:latin typeface="Arial" panose="020B0604020202020204" pitchFamily="34" charset="0"/>
                <a:cs typeface="Arial" panose="020B0604020202020204" pitchFamily="34" charset="0"/>
              </a:rPr>
              <a:t>He departs with his bride and numerous gifts to an island to enjoy life.</a:t>
            </a:r>
          </a:p>
          <a:p>
            <a:pPr algn="just"/>
            <a:r>
              <a:rPr lang="en-US" dirty="0">
                <a:latin typeface="Arial" panose="020B0604020202020204" pitchFamily="34" charset="0"/>
                <a:cs typeface="Arial" panose="020B0604020202020204" pitchFamily="34" charset="0"/>
              </a:rPr>
              <a:t>The ending may not be the happily-ever-after ending for the king realizing how he had been deceived had mobilized his troops to attack him.</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07674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51ED0-3F90-4AD2-A4BB-670E01BBA03E}"/>
              </a:ext>
            </a:extLst>
          </p:cNvPr>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THE AUTHOR</a:t>
            </a:r>
            <a:endParaRPr lang="en-GB"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D019BB7E-68F1-4BD9-8D6D-5FADD52ED3DE}"/>
              </a:ext>
            </a:extLst>
          </p:cNvPr>
          <p:cNvSpPr>
            <a:spLocks noGrp="1"/>
          </p:cNvSpPr>
          <p:nvPr>
            <p:ph idx="1"/>
          </p:nvPr>
        </p:nvSpPr>
        <p:spPr/>
        <p:txBody>
          <a:bodyPr>
            <a:normAutofit fontScale="92500" lnSpcReduction="20000"/>
          </a:bodyPr>
          <a:lstStyle/>
          <a:p>
            <a:r>
              <a:rPr lang="en-US" dirty="0">
                <a:latin typeface="Arial" panose="020B0604020202020204" pitchFamily="34" charset="0"/>
                <a:cs typeface="Arial" panose="020B0604020202020204" pitchFamily="34" charset="0"/>
              </a:rPr>
              <a:t>He was born at </a:t>
            </a:r>
            <a:r>
              <a:rPr lang="en-US" dirty="0" err="1">
                <a:latin typeface="Arial" panose="020B0604020202020204" pitchFamily="34" charset="0"/>
                <a:cs typeface="Arial" panose="020B0604020202020204" pitchFamily="34" charset="0"/>
              </a:rPr>
              <a:t>Nkonya-Tayi</a:t>
            </a:r>
            <a:r>
              <a:rPr lang="en-US" dirty="0">
                <a:latin typeface="Arial" panose="020B0604020202020204" pitchFamily="34" charset="0"/>
                <a:cs typeface="Arial" panose="020B0604020202020204" pitchFamily="34" charset="0"/>
              </a:rPr>
              <a:t> in the Volta Region in 1953.</a:t>
            </a:r>
          </a:p>
          <a:p>
            <a:pPr algn="just"/>
            <a:r>
              <a:rPr lang="en-US" dirty="0">
                <a:latin typeface="Arial" panose="020B0604020202020204" pitchFamily="34" charset="0"/>
                <a:cs typeface="Arial" panose="020B0604020202020204" pitchFamily="34" charset="0"/>
              </a:rPr>
              <a:t>He trained as a teacher and taught in several schools before entering the University of Ghana, Legon where he earned a diploma in Theatre Studies in 1979 and a Bachelor of Arts in English and Theatre Studies in 1986. He had his MPhil in African Studies in 1993.</a:t>
            </a:r>
          </a:p>
          <a:p>
            <a:pPr algn="just"/>
            <a:r>
              <a:rPr lang="en-US" dirty="0">
                <a:latin typeface="Arial" panose="020B0604020202020204" pitchFamily="34" charset="0"/>
                <a:cs typeface="Arial" panose="020B0604020202020204" pitchFamily="34" charset="0"/>
              </a:rPr>
              <a:t>In 1994 he was appointed the artistic director of the resident drama company at the National Theatre, known as </a:t>
            </a:r>
            <a:r>
              <a:rPr lang="en-US" dirty="0" err="1">
                <a:latin typeface="Arial" panose="020B0604020202020204" pitchFamily="34" charset="0"/>
                <a:cs typeface="Arial" panose="020B0604020202020204" pitchFamily="34" charset="0"/>
              </a:rPr>
              <a:t>Abibigromma</a:t>
            </a:r>
            <a:r>
              <a:rPr lang="en-US"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His works include </a:t>
            </a:r>
            <a:r>
              <a:rPr lang="en-US" i="1" dirty="0" err="1">
                <a:latin typeface="Arial" panose="020B0604020202020204" pitchFamily="34" charset="0"/>
                <a:cs typeface="Arial" panose="020B0604020202020204" pitchFamily="34" charset="0"/>
              </a:rPr>
              <a:t>Ananse</a:t>
            </a:r>
            <a:r>
              <a:rPr lang="en-US" i="1" dirty="0">
                <a:latin typeface="Arial" panose="020B0604020202020204" pitchFamily="34" charset="0"/>
                <a:cs typeface="Arial" panose="020B0604020202020204" pitchFamily="34" charset="0"/>
              </a:rPr>
              <a:t> in the Land of Idiots, Leopard’s Choice (1993), Secrets of an Ancient Well (1998), King </a:t>
            </a:r>
            <a:r>
              <a:rPr lang="en-US" i="1" dirty="0" err="1">
                <a:latin typeface="Arial" panose="020B0604020202020204" pitchFamily="34" charset="0"/>
                <a:cs typeface="Arial" panose="020B0604020202020204" pitchFamily="34" charset="0"/>
              </a:rPr>
              <a:t>Kokroko</a:t>
            </a:r>
            <a:r>
              <a:rPr lang="en-US" i="1" dirty="0">
                <a:latin typeface="Arial" panose="020B0604020202020204" pitchFamily="34" charset="0"/>
                <a:cs typeface="Arial" panose="020B0604020202020204" pitchFamily="34" charset="0"/>
              </a:rPr>
              <a:t> (1994), Bride of the Gods (1996), The Choice (1996) and </a:t>
            </a:r>
            <a:r>
              <a:rPr lang="en-US" i="1" dirty="0" err="1">
                <a:latin typeface="Arial" panose="020B0604020202020204" pitchFamily="34" charset="0"/>
                <a:cs typeface="Arial" panose="020B0604020202020204" pitchFamily="34" charset="0"/>
              </a:rPr>
              <a:t>Ananse</a:t>
            </a:r>
            <a:r>
              <a:rPr lang="en-US" i="1" dirty="0">
                <a:latin typeface="Arial" panose="020B0604020202020204" pitchFamily="34" charset="0"/>
                <a:cs typeface="Arial" panose="020B0604020202020204" pitchFamily="34" charset="0"/>
              </a:rPr>
              <a:t> and the Price of Greed (TV 1996).</a:t>
            </a:r>
          </a:p>
          <a:p>
            <a:pPr algn="just"/>
            <a:r>
              <a:rPr lang="en-GB" dirty="0">
                <a:latin typeface="Arial" panose="020B0604020202020204" pitchFamily="34" charset="0"/>
                <a:cs typeface="Arial" panose="020B0604020202020204" pitchFamily="34" charset="0"/>
              </a:rPr>
              <a:t>He died on 1</a:t>
            </a:r>
            <a:r>
              <a:rPr lang="en-GB" baseline="30000" dirty="0">
                <a:latin typeface="Arial" panose="020B0604020202020204" pitchFamily="34" charset="0"/>
                <a:cs typeface="Arial" panose="020B0604020202020204" pitchFamily="34" charset="0"/>
              </a:rPr>
              <a:t>st</a:t>
            </a:r>
            <a:r>
              <a:rPr lang="en-GB" dirty="0">
                <a:latin typeface="Arial" panose="020B0604020202020204" pitchFamily="34" charset="0"/>
                <a:cs typeface="Arial" panose="020B0604020202020204" pitchFamily="34" charset="0"/>
              </a:rPr>
              <a:t> August 2002 at the age of 48.</a:t>
            </a:r>
          </a:p>
        </p:txBody>
      </p:sp>
    </p:spTree>
    <p:extLst>
      <p:ext uri="{BB962C8B-B14F-4D97-AF65-F5344CB8AC3E}">
        <p14:creationId xmlns:p14="http://schemas.microsoft.com/office/powerpoint/2010/main" val="26188499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FD7E8-68FE-41FF-B6FB-9A73602B68E3}"/>
              </a:ext>
            </a:extLst>
          </p:cNvPr>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THEMES</a:t>
            </a:r>
            <a:endParaRPr lang="en-GB"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BEFE112D-71F4-4536-9846-42C8CE092B5D}"/>
              </a:ext>
            </a:extLst>
          </p:cNvPr>
          <p:cNvSpPr>
            <a:spLocks noGrp="1"/>
          </p:cNvSpPr>
          <p:nvPr>
            <p:ph idx="1"/>
          </p:nvPr>
        </p:nvSpPr>
        <p:spPr/>
        <p:txBody>
          <a:bodyPr>
            <a:normAutofit/>
          </a:bodyPr>
          <a:lstStyle/>
          <a:p>
            <a:pPr algn="just"/>
            <a:r>
              <a:rPr lang="en-US" dirty="0">
                <a:latin typeface="Arial" panose="020B0604020202020204" pitchFamily="34" charset="0"/>
                <a:cs typeface="Arial" panose="020B0604020202020204" pitchFamily="34" charset="0"/>
              </a:rPr>
              <a:t>The play tries to reveal the basic causes of alien domination in all forms: egoistic materialism, idiocy, disloyalty and the lack of eternal vigilance on the part of the victims.</a:t>
            </a:r>
          </a:p>
          <a:p>
            <a:pPr algn="just"/>
            <a:r>
              <a:rPr lang="en-US" dirty="0">
                <a:latin typeface="Arial" panose="020B0604020202020204" pitchFamily="34" charset="0"/>
                <a:cs typeface="Arial" panose="020B0604020202020204" pitchFamily="34" charset="0"/>
              </a:rPr>
              <a:t>The play is a savage ridicule of our ludicrous love for titles. In the play examples include </a:t>
            </a:r>
            <a:r>
              <a:rPr lang="en-US" dirty="0" err="1">
                <a:latin typeface="Arial" panose="020B0604020202020204" pitchFamily="34" charset="0"/>
                <a:cs typeface="Arial" panose="020B0604020202020204" pitchFamily="34" charset="0"/>
              </a:rPr>
              <a:t>Ananse</a:t>
            </a:r>
            <a:r>
              <a:rPr lang="en-US" dirty="0">
                <a:latin typeface="Arial" panose="020B0604020202020204" pitchFamily="34" charset="0"/>
                <a:cs typeface="Arial" panose="020B0604020202020204" pitchFamily="34" charset="0"/>
              </a:rPr>
              <a:t>, the king and </a:t>
            </a:r>
            <a:r>
              <a:rPr lang="en-US" dirty="0" err="1">
                <a:latin typeface="Arial" panose="020B0604020202020204" pitchFamily="34" charset="0"/>
                <a:cs typeface="Arial" panose="020B0604020202020204" pitchFamily="34" charset="0"/>
              </a:rPr>
              <a:t>Pootagyiri</a:t>
            </a:r>
            <a:r>
              <a:rPr lang="en-US"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The play attacks our national amnesia, our forgetfulness and or our ignorance of our history. One elder has ‘misty memories’ of how ‘a mysterious Kweku </a:t>
            </a:r>
            <a:r>
              <a:rPr lang="en-US" dirty="0" err="1">
                <a:latin typeface="Arial" panose="020B0604020202020204" pitchFamily="34" charset="0"/>
                <a:cs typeface="Arial" panose="020B0604020202020204" pitchFamily="34" charset="0"/>
              </a:rPr>
              <a:t>Ananse</a:t>
            </a:r>
            <a:r>
              <a:rPr lang="en-US" dirty="0">
                <a:latin typeface="Arial" panose="020B0604020202020204" pitchFamily="34" charset="0"/>
                <a:cs typeface="Arial" panose="020B0604020202020204" pitchFamily="34" charset="0"/>
              </a:rPr>
              <a:t> … passed through the land.’ He thus missed the chance to warn his society about this trickster. </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93778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7B5A2-146A-46EC-AFCE-C402BD3BE665}"/>
              </a:ext>
            </a:extLst>
          </p:cNvPr>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THEMES</a:t>
            </a:r>
            <a:endParaRPr lang="en-GB"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3C8F0C02-CD08-4801-8A9C-804C6D0C9B75}"/>
              </a:ext>
            </a:extLst>
          </p:cNvPr>
          <p:cNvSpPr>
            <a:spLocks noGrp="1"/>
          </p:cNvSpPr>
          <p:nvPr>
            <p:ph idx="1"/>
          </p:nvPr>
        </p:nvSpPr>
        <p:spPr/>
        <p:txBody>
          <a:bodyPr>
            <a:normAutofit fontScale="92500" lnSpcReduction="10000"/>
          </a:bodyPr>
          <a:lstStyle/>
          <a:p>
            <a:pPr algn="just"/>
            <a:r>
              <a:rPr lang="en-US" dirty="0">
                <a:latin typeface="Arial" panose="020B0604020202020204" pitchFamily="34" charset="0"/>
                <a:cs typeface="Arial" panose="020B0604020202020204" pitchFamily="34" charset="0"/>
              </a:rPr>
              <a:t>The play mocks the moral equivocation that enables Ghanaians to admire and lionize the successful rogue, one who has gained his wealth through ‘the logic of existential imperatives’ most of the time at the expense of the whole society.</a:t>
            </a:r>
          </a:p>
          <a:p>
            <a:pPr algn="just"/>
            <a:r>
              <a:rPr lang="en-US" dirty="0">
                <a:latin typeface="Arial" panose="020B0604020202020204" pitchFamily="34" charset="0"/>
                <a:cs typeface="Arial" panose="020B0604020202020204" pitchFamily="34" charset="0"/>
              </a:rPr>
              <a:t>Also ridiculed is our flexibility or our lack of principle especially on the receipt of a little inducement. The King and the Queen are enthralled by </a:t>
            </a:r>
            <a:r>
              <a:rPr lang="en-US" dirty="0" err="1">
                <a:latin typeface="Arial" panose="020B0604020202020204" pitchFamily="34" charset="0"/>
                <a:cs typeface="Arial" panose="020B0604020202020204" pitchFamily="34" charset="0"/>
              </a:rPr>
              <a:t>Ananse’s</a:t>
            </a:r>
            <a:r>
              <a:rPr lang="en-US" dirty="0">
                <a:latin typeface="Arial" panose="020B0604020202020204" pitchFamily="34" charset="0"/>
                <a:cs typeface="Arial" panose="020B0604020202020204" pitchFamily="34" charset="0"/>
              </a:rPr>
              <a:t> handiwork; for </a:t>
            </a:r>
            <a:r>
              <a:rPr lang="en-US" dirty="0" err="1">
                <a:latin typeface="Arial" panose="020B0604020202020204" pitchFamily="34" charset="0"/>
                <a:cs typeface="Arial" panose="020B0604020202020204" pitchFamily="34" charset="0"/>
              </a:rPr>
              <a:t>Akpala</a:t>
            </a:r>
            <a:r>
              <a:rPr lang="en-US" dirty="0">
                <a:latin typeface="Arial" panose="020B0604020202020204" pitchFamily="34" charset="0"/>
                <a:cs typeface="Arial" panose="020B0604020202020204" pitchFamily="34" charset="0"/>
              </a:rPr>
              <a:t> it is a bit of honey and many promises.</a:t>
            </a:r>
          </a:p>
          <a:p>
            <a:pPr algn="just"/>
            <a:r>
              <a:rPr lang="en-US" dirty="0">
                <a:latin typeface="Arial" panose="020B0604020202020204" pitchFamily="34" charset="0"/>
                <a:cs typeface="Arial" panose="020B0604020202020204" pitchFamily="34" charset="0"/>
              </a:rPr>
              <a:t>The play attacks a catalogue of moral lapses in the society: greed, sexual immorality, envy, dishonesty and arrogance.</a:t>
            </a:r>
          </a:p>
          <a:p>
            <a:pPr algn="just"/>
            <a:r>
              <a:rPr lang="en-US" dirty="0">
                <a:latin typeface="Arial" panose="020B0604020202020204" pitchFamily="34" charset="0"/>
                <a:cs typeface="Arial" panose="020B0604020202020204" pitchFamily="34" charset="0"/>
              </a:rPr>
              <a:t>One notable absentee on the roll call of idiots is the priestess indicating that there are shining examples in the general decay.</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65859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09249-9E3D-4FCC-B517-4F275B48E952}"/>
              </a:ext>
            </a:extLst>
          </p:cNvPr>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DRAMATIC TECHNIQUES – THE STAGE</a:t>
            </a:r>
            <a:endParaRPr lang="en-GB"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6322E3E4-3460-4C2D-8CB8-69C057ED75EE}"/>
              </a:ext>
            </a:extLst>
          </p:cNvPr>
          <p:cNvSpPr>
            <a:spLocks noGrp="1"/>
          </p:cNvSpPr>
          <p:nvPr>
            <p:ph idx="1"/>
          </p:nvPr>
        </p:nvSpPr>
        <p:spPr/>
        <p:txBody>
          <a:bodyPr/>
          <a:lstStyle/>
          <a:p>
            <a:pPr algn="just"/>
            <a:r>
              <a:rPr lang="en-US" dirty="0">
                <a:latin typeface="Arial" panose="020B0604020202020204" pitchFamily="34" charset="0"/>
                <a:cs typeface="Arial" panose="020B0604020202020204" pitchFamily="34" charset="0"/>
              </a:rPr>
              <a:t>The stage is a composite one made up of four main parts. Up right is the king’s court. From Up left to down left is a grove where off-town rituals take place and where we have </a:t>
            </a:r>
            <a:r>
              <a:rPr lang="en-US" dirty="0" err="1">
                <a:latin typeface="Arial" panose="020B0604020202020204" pitchFamily="34" charset="0"/>
                <a:cs typeface="Arial" panose="020B0604020202020204" pitchFamily="34" charset="0"/>
              </a:rPr>
              <a:t>Ananse’s</a:t>
            </a:r>
            <a:r>
              <a:rPr lang="en-US" dirty="0">
                <a:latin typeface="Arial" panose="020B0604020202020204" pitchFamily="34" charset="0"/>
                <a:cs typeface="Arial" panose="020B0604020202020204" pitchFamily="34" charset="0"/>
              </a:rPr>
              <a:t> secret craft shop. The </a:t>
            </a:r>
            <a:r>
              <a:rPr lang="en-US" dirty="0" err="1">
                <a:latin typeface="Arial" panose="020B0604020202020204" pitchFamily="34" charset="0"/>
                <a:cs typeface="Arial" panose="020B0604020202020204" pitchFamily="34" charset="0"/>
              </a:rPr>
              <a:t>centre</a:t>
            </a:r>
            <a:r>
              <a:rPr lang="en-US" dirty="0">
                <a:latin typeface="Arial" panose="020B0604020202020204" pitchFamily="34" charset="0"/>
                <a:cs typeface="Arial" panose="020B0604020202020204" pitchFamily="34" charset="0"/>
              </a:rPr>
              <a:t> stage is the neutral playing area where rituals and dance takes place.</a:t>
            </a:r>
          </a:p>
          <a:p>
            <a:pPr algn="just"/>
            <a:r>
              <a:rPr lang="en-US" dirty="0">
                <a:latin typeface="Arial" panose="020B0604020202020204" pitchFamily="34" charset="0"/>
                <a:cs typeface="Arial" panose="020B0604020202020204" pitchFamily="34" charset="0"/>
              </a:rPr>
              <a:t>The nature of the performance makes where the audience are seated a part of the stage from where actors makes comments.</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12388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B8D7A-DFB0-430E-8C0C-D9B8AAB26A48}"/>
              </a:ext>
            </a:extLst>
          </p:cNvPr>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ANANSEGORO</a:t>
            </a:r>
            <a:endParaRPr lang="en-GB"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C78B9C69-B731-41EF-A6A6-86B926F82DA8}"/>
              </a:ext>
            </a:extLst>
          </p:cNvPr>
          <p:cNvSpPr>
            <a:spLocks noGrp="1"/>
          </p:cNvSpPr>
          <p:nvPr>
            <p:ph idx="1"/>
          </p:nvPr>
        </p:nvSpPr>
        <p:spPr/>
        <p:txBody>
          <a:bodyPr>
            <a:normAutofit lnSpcReduction="10000"/>
          </a:bodyPr>
          <a:lstStyle/>
          <a:p>
            <a:pPr algn="just"/>
            <a:r>
              <a:rPr lang="en-US" dirty="0" err="1">
                <a:latin typeface="Arial" panose="020B0604020202020204" pitchFamily="34" charset="0"/>
                <a:cs typeface="Arial" panose="020B0604020202020204" pitchFamily="34" charset="0"/>
              </a:rPr>
              <a:t>Anansegoro</a:t>
            </a:r>
            <a:r>
              <a:rPr lang="en-US" dirty="0">
                <a:latin typeface="Arial" panose="020B0604020202020204" pitchFamily="34" charset="0"/>
                <a:cs typeface="Arial" panose="020B0604020202020204" pitchFamily="34" charset="0"/>
              </a:rPr>
              <a:t> is a modernization of the traditional theatre of storytelling especially of folktales which the </a:t>
            </a:r>
            <a:r>
              <a:rPr lang="en-US" dirty="0" err="1">
                <a:latin typeface="Arial" panose="020B0604020202020204" pitchFamily="34" charset="0"/>
                <a:cs typeface="Arial" panose="020B0604020202020204" pitchFamily="34" charset="0"/>
              </a:rPr>
              <a:t>Akans</a:t>
            </a:r>
            <a:r>
              <a:rPr lang="en-US" dirty="0">
                <a:latin typeface="Arial" panose="020B0604020202020204" pitchFamily="34" charset="0"/>
                <a:cs typeface="Arial" panose="020B0604020202020204" pitchFamily="34" charset="0"/>
              </a:rPr>
              <a:t> call </a:t>
            </a:r>
            <a:r>
              <a:rPr lang="en-US" dirty="0" err="1">
                <a:latin typeface="Arial" panose="020B0604020202020204" pitchFamily="34" charset="0"/>
                <a:cs typeface="Arial" panose="020B0604020202020204" pitchFamily="34" charset="0"/>
              </a:rPr>
              <a:t>Anansesem</a:t>
            </a:r>
            <a:r>
              <a:rPr lang="en-US" dirty="0">
                <a:latin typeface="Arial" panose="020B0604020202020204" pitchFamily="34" charset="0"/>
                <a:cs typeface="Arial" panose="020B0604020202020204" pitchFamily="34" charset="0"/>
              </a:rPr>
              <a:t>.</a:t>
            </a:r>
          </a:p>
          <a:p>
            <a:pPr algn="just"/>
            <a:r>
              <a:rPr lang="en-US" dirty="0" err="1">
                <a:latin typeface="Arial" panose="020B0604020202020204" pitchFamily="34" charset="0"/>
                <a:cs typeface="Arial" panose="020B0604020202020204" pitchFamily="34" charset="0"/>
              </a:rPr>
              <a:t>Ananse</a:t>
            </a:r>
            <a:r>
              <a:rPr lang="en-US" dirty="0">
                <a:latin typeface="Arial" panose="020B0604020202020204" pitchFamily="34" charset="0"/>
                <a:cs typeface="Arial" panose="020B0604020202020204" pitchFamily="34" charset="0"/>
              </a:rPr>
              <a:t> represents a kind of Everyman artistically exaggerated and distorted to serve society as a medium for self-examination.</a:t>
            </a:r>
          </a:p>
          <a:p>
            <a:pPr algn="just"/>
            <a:r>
              <a:rPr lang="en-US" dirty="0">
                <a:latin typeface="Arial" panose="020B0604020202020204" pitchFamily="34" charset="0"/>
                <a:cs typeface="Arial" panose="020B0604020202020204" pitchFamily="34" charset="0"/>
              </a:rPr>
              <a:t>There is normally a storyteller who owns and tells the story. He refreshes and updates the story by spontaneous improvisation. This play is one of the modern adaptations of </a:t>
            </a:r>
            <a:r>
              <a:rPr lang="en-US" dirty="0" err="1">
                <a:latin typeface="Arial" panose="020B0604020202020204" pitchFamily="34" charset="0"/>
                <a:cs typeface="Arial" panose="020B0604020202020204" pitchFamily="34" charset="0"/>
              </a:rPr>
              <a:t>Anansesem</a:t>
            </a:r>
            <a:r>
              <a:rPr lang="en-US" dirty="0">
                <a:latin typeface="Arial" panose="020B0604020202020204" pitchFamily="34" charset="0"/>
                <a:cs typeface="Arial" panose="020B0604020202020204" pitchFamily="34" charset="0"/>
              </a:rPr>
              <a:t>.</a:t>
            </a:r>
          </a:p>
          <a:p>
            <a:pPr algn="just"/>
            <a:r>
              <a:rPr lang="en-US" dirty="0" err="1">
                <a:latin typeface="Arial" panose="020B0604020202020204" pitchFamily="34" charset="0"/>
                <a:cs typeface="Arial" panose="020B0604020202020204" pitchFamily="34" charset="0"/>
              </a:rPr>
              <a:t>Anansegoro</a:t>
            </a:r>
            <a:r>
              <a:rPr lang="en-US" dirty="0">
                <a:latin typeface="Arial" panose="020B0604020202020204" pitchFamily="34" charset="0"/>
                <a:cs typeface="Arial" panose="020B0604020202020204" pitchFamily="34" charset="0"/>
              </a:rPr>
              <a:t> uses all the conventions of </a:t>
            </a:r>
            <a:r>
              <a:rPr lang="en-US" dirty="0" err="1">
                <a:latin typeface="Arial" panose="020B0604020202020204" pitchFamily="34" charset="0"/>
                <a:cs typeface="Arial" panose="020B0604020202020204" pitchFamily="34" charset="0"/>
              </a:rPr>
              <a:t>Anansesem</a:t>
            </a:r>
            <a:r>
              <a:rPr lang="en-US" dirty="0">
                <a:latin typeface="Arial" panose="020B0604020202020204" pitchFamily="34" charset="0"/>
                <a:cs typeface="Arial" panose="020B0604020202020204" pitchFamily="34" charset="0"/>
              </a:rPr>
              <a:t> on the stage and this includes the singing of </a:t>
            </a:r>
            <a:r>
              <a:rPr lang="en-US" dirty="0" err="1">
                <a:latin typeface="Arial" panose="020B0604020202020204" pitchFamily="34" charset="0"/>
                <a:cs typeface="Arial" panose="020B0604020202020204" pitchFamily="34" charset="0"/>
              </a:rPr>
              <a:t>mboguo</a:t>
            </a:r>
            <a:r>
              <a:rPr lang="en-US" dirty="0">
                <a:latin typeface="Arial" panose="020B0604020202020204" pitchFamily="34" charset="0"/>
                <a:cs typeface="Arial" panose="020B0604020202020204" pitchFamily="34" charset="0"/>
              </a:rPr>
              <a:t> and audience participation.</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99241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B4860-8F82-45A4-AA25-45ED78165B8A}"/>
              </a:ext>
            </a:extLst>
          </p:cNvPr>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MOVEMENTS</a:t>
            </a:r>
            <a:endParaRPr lang="en-GB"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32BA25ED-83E3-40A3-8983-B4049219AEA5}"/>
              </a:ext>
            </a:extLst>
          </p:cNvPr>
          <p:cNvSpPr>
            <a:spLocks noGrp="1"/>
          </p:cNvSpPr>
          <p:nvPr>
            <p:ph idx="1"/>
          </p:nvPr>
        </p:nvSpPr>
        <p:spPr/>
        <p:txBody>
          <a:bodyPr/>
          <a:lstStyle/>
          <a:p>
            <a:r>
              <a:rPr lang="en-US" dirty="0">
                <a:latin typeface="Arial" panose="020B0604020202020204" pitchFamily="34" charset="0"/>
                <a:cs typeface="Arial" panose="020B0604020202020204" pitchFamily="34" charset="0"/>
              </a:rPr>
              <a:t>The play is divided into four movements:</a:t>
            </a:r>
          </a:p>
          <a:p>
            <a:pPr algn="just"/>
            <a:r>
              <a:rPr lang="en-US" dirty="0">
                <a:latin typeface="Arial" panose="020B0604020202020204" pitchFamily="34" charset="0"/>
                <a:cs typeface="Arial" panose="020B0604020202020204" pitchFamily="34" charset="0"/>
              </a:rPr>
              <a:t>In the first movement, </a:t>
            </a:r>
            <a:r>
              <a:rPr lang="en-US" dirty="0" err="1">
                <a:latin typeface="Arial" panose="020B0604020202020204" pitchFamily="34" charset="0"/>
                <a:cs typeface="Arial" panose="020B0604020202020204" pitchFamily="34" charset="0"/>
              </a:rPr>
              <a:t>Ananse</a:t>
            </a:r>
            <a:r>
              <a:rPr lang="en-US">
                <a:latin typeface="Arial" panose="020B0604020202020204" pitchFamily="34" charset="0"/>
                <a:cs typeface="Arial" panose="020B0604020202020204" pitchFamily="34" charset="0"/>
              </a:rPr>
              <a:t> defiles </a:t>
            </a:r>
            <a:r>
              <a:rPr lang="en-US" dirty="0">
                <a:latin typeface="Arial" panose="020B0604020202020204" pitchFamily="34" charset="0"/>
                <a:cs typeface="Arial" panose="020B0604020202020204" pitchFamily="34" charset="0"/>
              </a:rPr>
              <a:t>the land by eating a sacrifice meant for the gods. He is caught in the act by </a:t>
            </a:r>
            <a:r>
              <a:rPr lang="en-US" dirty="0" err="1">
                <a:latin typeface="Arial" panose="020B0604020202020204" pitchFamily="34" charset="0"/>
                <a:cs typeface="Arial" panose="020B0604020202020204" pitchFamily="34" charset="0"/>
              </a:rPr>
              <a:t>Akpala</a:t>
            </a:r>
            <a:r>
              <a:rPr lang="en-US" dirty="0">
                <a:latin typeface="Arial" panose="020B0604020202020204" pitchFamily="34" charset="0"/>
                <a:cs typeface="Arial" panose="020B0604020202020204" pitchFamily="34" charset="0"/>
              </a:rPr>
              <a:t> who takes him to the king. The priestess pronounces the death sentence on him but Kwaku is able to buy himself some time after showing the king his craftsmanship.</a:t>
            </a:r>
          </a:p>
          <a:p>
            <a:pPr algn="just"/>
            <a:r>
              <a:rPr lang="en-US" dirty="0">
                <a:latin typeface="Arial" panose="020B0604020202020204" pitchFamily="34" charset="0"/>
                <a:cs typeface="Arial" panose="020B0604020202020204" pitchFamily="34" charset="0"/>
              </a:rPr>
              <a:t>In the second movement, </a:t>
            </a:r>
            <a:r>
              <a:rPr lang="en-US" dirty="0" err="1">
                <a:latin typeface="Arial" panose="020B0604020202020204" pitchFamily="34" charset="0"/>
                <a:cs typeface="Arial" panose="020B0604020202020204" pitchFamily="34" charset="0"/>
              </a:rPr>
              <a:t>Ananse</a:t>
            </a:r>
            <a:r>
              <a:rPr lang="en-US" dirty="0">
                <a:latin typeface="Arial" panose="020B0604020202020204" pitchFamily="34" charset="0"/>
                <a:cs typeface="Arial" panose="020B0604020202020204" pitchFamily="34" charset="0"/>
              </a:rPr>
              <a:t> succeeds in seducing </a:t>
            </a:r>
            <a:r>
              <a:rPr lang="en-US" dirty="0" err="1">
                <a:latin typeface="Arial" panose="020B0604020202020204" pitchFamily="34" charset="0"/>
                <a:cs typeface="Arial" panose="020B0604020202020204" pitchFamily="34" charset="0"/>
              </a:rPr>
              <a:t>Sodziisa</a:t>
            </a:r>
            <a:r>
              <a:rPr lang="en-US" dirty="0">
                <a:latin typeface="Arial" panose="020B0604020202020204" pitchFamily="34" charset="0"/>
                <a:cs typeface="Arial" panose="020B0604020202020204" pitchFamily="34" charset="0"/>
              </a:rPr>
              <a:t> the princess. He then elicits the support of </a:t>
            </a:r>
            <a:r>
              <a:rPr lang="en-US" dirty="0" err="1">
                <a:latin typeface="Arial" panose="020B0604020202020204" pitchFamily="34" charset="0"/>
                <a:cs typeface="Arial" panose="020B0604020202020204" pitchFamily="34" charset="0"/>
              </a:rPr>
              <a:t>Akpala</a:t>
            </a:r>
            <a:r>
              <a:rPr lang="en-US" dirty="0">
                <a:latin typeface="Arial" panose="020B0604020202020204" pitchFamily="34" charset="0"/>
                <a:cs typeface="Arial" panose="020B0604020202020204" pitchFamily="34" charset="0"/>
              </a:rPr>
              <a:t> in his plan to marry the princess in place of </a:t>
            </a:r>
            <a:r>
              <a:rPr lang="en-US" dirty="0" err="1">
                <a:latin typeface="Arial" panose="020B0604020202020204" pitchFamily="34" charset="0"/>
                <a:cs typeface="Arial" panose="020B0604020202020204" pitchFamily="34" charset="0"/>
              </a:rPr>
              <a:t>Pootagyiri</a:t>
            </a:r>
            <a:r>
              <a:rPr lang="en-US" dirty="0">
                <a:latin typeface="Arial" panose="020B0604020202020204" pitchFamily="34" charset="0"/>
                <a:cs typeface="Arial" panose="020B0604020202020204" pitchFamily="34" charset="0"/>
              </a:rPr>
              <a:t>. With the inducement of some honey and promises, </a:t>
            </a:r>
            <a:r>
              <a:rPr lang="en-US" dirty="0" err="1">
                <a:latin typeface="Arial" panose="020B0604020202020204" pitchFamily="34" charset="0"/>
                <a:cs typeface="Arial" panose="020B0604020202020204" pitchFamily="34" charset="0"/>
              </a:rPr>
              <a:t>Akpala</a:t>
            </a:r>
            <a:r>
              <a:rPr lang="en-US" dirty="0">
                <a:latin typeface="Arial" panose="020B0604020202020204" pitchFamily="34" charset="0"/>
                <a:cs typeface="Arial" panose="020B0604020202020204" pitchFamily="34" charset="0"/>
              </a:rPr>
              <a:t> agrees.</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16185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62117-9B18-44D7-87F3-6282ED06AE17}"/>
              </a:ext>
            </a:extLst>
          </p:cNvPr>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MOVEMENTS</a:t>
            </a:r>
            <a:endParaRPr lang="en-GB" dirty="0"/>
          </a:p>
        </p:txBody>
      </p:sp>
      <p:sp>
        <p:nvSpPr>
          <p:cNvPr id="3" name="Content Placeholder 2">
            <a:extLst>
              <a:ext uri="{FF2B5EF4-FFF2-40B4-BE49-F238E27FC236}">
                <a16:creationId xmlns:a16="http://schemas.microsoft.com/office/drawing/2014/main" id="{9FDCC3DF-C98F-4058-A93A-427F1557411F}"/>
              </a:ext>
            </a:extLst>
          </p:cNvPr>
          <p:cNvSpPr>
            <a:spLocks noGrp="1"/>
          </p:cNvSpPr>
          <p:nvPr>
            <p:ph idx="1"/>
          </p:nvPr>
        </p:nvSpPr>
        <p:spPr/>
        <p:txBody>
          <a:bodyPr>
            <a:normAutofit lnSpcReduction="10000"/>
          </a:bodyPr>
          <a:lstStyle/>
          <a:p>
            <a:pPr algn="just"/>
            <a:r>
              <a:rPr lang="en-US" dirty="0">
                <a:latin typeface="Arial" panose="020B0604020202020204" pitchFamily="34" charset="0"/>
                <a:cs typeface="Arial" panose="020B0604020202020204" pitchFamily="34" charset="0"/>
              </a:rPr>
              <a:t>In the third movement, </a:t>
            </a:r>
            <a:r>
              <a:rPr lang="en-US" dirty="0" err="1">
                <a:latin typeface="Arial" panose="020B0604020202020204" pitchFamily="34" charset="0"/>
                <a:cs typeface="Arial" panose="020B0604020202020204" pitchFamily="34" charset="0"/>
              </a:rPr>
              <a:t>Pootagyiri</a:t>
            </a:r>
            <a:r>
              <a:rPr lang="en-US" dirty="0">
                <a:latin typeface="Arial" panose="020B0604020202020204" pitchFamily="34" charset="0"/>
                <a:cs typeface="Arial" panose="020B0604020202020204" pitchFamily="34" charset="0"/>
              </a:rPr>
              <a:t>, the prince, comes to the workshop of </a:t>
            </a:r>
            <a:r>
              <a:rPr lang="en-US" dirty="0" err="1">
                <a:latin typeface="Arial" panose="020B0604020202020204" pitchFamily="34" charset="0"/>
                <a:cs typeface="Arial" panose="020B0604020202020204" pitchFamily="34" charset="0"/>
              </a:rPr>
              <a:t>Ananse</a:t>
            </a:r>
            <a:r>
              <a:rPr lang="en-US" dirty="0">
                <a:latin typeface="Arial" panose="020B0604020202020204" pitchFamily="34" charset="0"/>
                <a:cs typeface="Arial" panose="020B0604020202020204" pitchFamily="34" charset="0"/>
              </a:rPr>
              <a:t> to inspect the cloth the craftsman is weaving for him. As prearranged, </a:t>
            </a:r>
            <a:r>
              <a:rPr lang="en-US" dirty="0" err="1">
                <a:latin typeface="Arial" panose="020B0604020202020204" pitchFamily="34" charset="0"/>
                <a:cs typeface="Arial" panose="020B0604020202020204" pitchFamily="34" charset="0"/>
              </a:rPr>
              <a:t>Akpala</a:t>
            </a:r>
            <a:r>
              <a:rPr lang="en-US" dirty="0">
                <a:latin typeface="Arial" panose="020B0604020202020204" pitchFamily="34" charset="0"/>
                <a:cs typeface="Arial" panose="020B0604020202020204" pitchFamily="34" charset="0"/>
              </a:rPr>
              <a:t> shoots the prince with a poisoned arrow and he dies.</a:t>
            </a:r>
          </a:p>
          <a:p>
            <a:pPr algn="just"/>
            <a:r>
              <a:rPr lang="en-US" dirty="0">
                <a:latin typeface="Arial" panose="020B0604020202020204" pitchFamily="34" charset="0"/>
                <a:cs typeface="Arial" panose="020B0604020202020204" pitchFamily="34" charset="0"/>
              </a:rPr>
              <a:t>In the fourth and final movement, </a:t>
            </a:r>
            <a:r>
              <a:rPr lang="en-US" dirty="0" err="1">
                <a:latin typeface="Arial" panose="020B0604020202020204" pitchFamily="34" charset="0"/>
                <a:cs typeface="Arial" panose="020B0604020202020204" pitchFamily="34" charset="0"/>
              </a:rPr>
              <a:t>Ananse</a:t>
            </a:r>
            <a:r>
              <a:rPr lang="en-US" dirty="0">
                <a:latin typeface="Arial" panose="020B0604020202020204" pitchFamily="34" charset="0"/>
                <a:cs typeface="Arial" panose="020B0604020202020204" pitchFamily="34" charset="0"/>
              </a:rPr>
              <a:t> disguised as </a:t>
            </a:r>
            <a:r>
              <a:rPr lang="en-US" dirty="0" err="1">
                <a:latin typeface="Arial" panose="020B0604020202020204" pitchFamily="34" charset="0"/>
                <a:cs typeface="Arial" panose="020B0604020202020204" pitchFamily="34" charset="0"/>
              </a:rPr>
              <a:t>Pootagyiri</a:t>
            </a:r>
            <a:r>
              <a:rPr lang="en-US" dirty="0">
                <a:latin typeface="Arial" panose="020B0604020202020204" pitchFamily="34" charset="0"/>
                <a:cs typeface="Arial" panose="020B0604020202020204" pitchFamily="34" charset="0"/>
              </a:rPr>
              <a:t> goes through the marriage rites with the princess successfully. </a:t>
            </a:r>
            <a:r>
              <a:rPr lang="en-US" dirty="0" err="1">
                <a:latin typeface="Arial" panose="020B0604020202020204" pitchFamily="34" charset="0"/>
                <a:cs typeface="Arial" panose="020B0604020202020204" pitchFamily="34" charset="0"/>
              </a:rPr>
              <a:t>Akpala</a:t>
            </a:r>
            <a:r>
              <a:rPr lang="en-US" dirty="0">
                <a:latin typeface="Arial" panose="020B0604020202020204" pitchFamily="34" charset="0"/>
                <a:cs typeface="Arial" panose="020B0604020202020204" pitchFamily="34" charset="0"/>
              </a:rPr>
              <a:t> comes in to demand his reward for helping </a:t>
            </a:r>
            <a:r>
              <a:rPr lang="en-US" dirty="0" err="1">
                <a:latin typeface="Arial" panose="020B0604020202020204" pitchFamily="34" charset="0"/>
                <a:cs typeface="Arial" panose="020B0604020202020204" pitchFamily="34" charset="0"/>
              </a:rPr>
              <a:t>Ananse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Ananse</a:t>
            </a:r>
            <a:r>
              <a:rPr lang="en-US" dirty="0">
                <a:latin typeface="Arial" panose="020B0604020202020204" pitchFamily="34" charset="0"/>
                <a:cs typeface="Arial" panose="020B0604020202020204" pitchFamily="34" charset="0"/>
              </a:rPr>
              <a:t> uses gum to seal his mouth and tells the king to kill him so that the madness that had infected him would not spread. After he is killed, </a:t>
            </a:r>
            <a:r>
              <a:rPr lang="en-US" dirty="0" err="1">
                <a:latin typeface="Arial" panose="020B0604020202020204" pitchFamily="34" charset="0"/>
                <a:cs typeface="Arial" panose="020B0604020202020204" pitchFamily="34" charset="0"/>
              </a:rPr>
              <a:t>Odudu</a:t>
            </a:r>
            <a:r>
              <a:rPr lang="en-US" dirty="0">
                <a:latin typeface="Arial" panose="020B0604020202020204" pitchFamily="34" charset="0"/>
                <a:cs typeface="Arial" panose="020B0604020202020204" pitchFamily="34" charset="0"/>
              </a:rPr>
              <a:t> the fool comes in to inform the king that it was </a:t>
            </a:r>
            <a:r>
              <a:rPr lang="en-US" dirty="0" err="1">
                <a:latin typeface="Arial" panose="020B0604020202020204" pitchFamily="34" charset="0"/>
                <a:cs typeface="Arial" panose="020B0604020202020204" pitchFamily="34" charset="0"/>
              </a:rPr>
              <a:t>Pootagyiri</a:t>
            </a:r>
            <a:r>
              <a:rPr lang="en-US" dirty="0">
                <a:latin typeface="Arial" panose="020B0604020202020204" pitchFamily="34" charset="0"/>
                <a:cs typeface="Arial" panose="020B0604020202020204" pitchFamily="34" charset="0"/>
              </a:rPr>
              <a:t> who was killed. The king </a:t>
            </a:r>
            <a:r>
              <a:rPr lang="en-US" dirty="0" err="1">
                <a:latin typeface="Arial" panose="020B0604020202020204" pitchFamily="34" charset="0"/>
                <a:cs typeface="Arial" panose="020B0604020202020204" pitchFamily="34" charset="0"/>
              </a:rPr>
              <a:t>mobilises</a:t>
            </a:r>
            <a:r>
              <a:rPr lang="en-US" dirty="0">
                <a:latin typeface="Arial" panose="020B0604020202020204" pitchFamily="34" charset="0"/>
                <a:cs typeface="Arial" panose="020B0604020202020204" pitchFamily="34" charset="0"/>
              </a:rPr>
              <a:t> his army for an attack on </a:t>
            </a:r>
            <a:r>
              <a:rPr lang="en-US" dirty="0" err="1">
                <a:latin typeface="Arial" panose="020B0604020202020204" pitchFamily="34" charset="0"/>
                <a:cs typeface="Arial" panose="020B0604020202020204" pitchFamily="34" charset="0"/>
              </a:rPr>
              <a:t>Ananse</a:t>
            </a:r>
            <a:r>
              <a:rPr lang="en-US" dirty="0">
                <a:latin typeface="Arial" panose="020B0604020202020204" pitchFamily="34" charset="0"/>
                <a:cs typeface="Arial" panose="020B0604020202020204" pitchFamily="34" charset="0"/>
              </a:rPr>
              <a:t>. </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36649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0B188-AB28-48D3-B079-D233FC7AC6C2}"/>
              </a:ext>
            </a:extLst>
          </p:cNvPr>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DISGUISE</a:t>
            </a:r>
            <a:endParaRPr lang="en-GB"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1536DC19-A03F-44A8-8800-B06866A9545F}"/>
              </a:ext>
            </a:extLst>
          </p:cNvPr>
          <p:cNvSpPr>
            <a:spLocks noGrp="1"/>
          </p:cNvSpPr>
          <p:nvPr>
            <p:ph idx="1"/>
          </p:nvPr>
        </p:nvSpPr>
        <p:spPr/>
        <p:txBody>
          <a:bodyPr/>
          <a:lstStyle/>
          <a:p>
            <a:pPr algn="just"/>
            <a:r>
              <a:rPr lang="en-US" dirty="0" err="1">
                <a:latin typeface="Arial" panose="020B0604020202020204" pitchFamily="34" charset="0"/>
                <a:cs typeface="Arial" panose="020B0604020202020204" pitchFamily="34" charset="0"/>
              </a:rPr>
              <a:t>Ananse</a:t>
            </a:r>
            <a:r>
              <a:rPr lang="en-US" dirty="0">
                <a:latin typeface="Arial" panose="020B0604020202020204" pitchFamily="34" charset="0"/>
                <a:cs typeface="Arial" panose="020B0604020202020204" pitchFamily="34" charset="0"/>
              </a:rPr>
              <a:t> disguises himself as </a:t>
            </a:r>
            <a:r>
              <a:rPr lang="en-US" dirty="0" err="1">
                <a:latin typeface="Arial" panose="020B0604020202020204" pitchFamily="34" charset="0"/>
                <a:cs typeface="Arial" panose="020B0604020202020204" pitchFamily="34" charset="0"/>
              </a:rPr>
              <a:t>Pootagyiri</a:t>
            </a:r>
            <a:r>
              <a:rPr lang="en-US" dirty="0">
                <a:latin typeface="Arial" panose="020B0604020202020204" pitchFamily="34" charset="0"/>
                <a:cs typeface="Arial" panose="020B0604020202020204" pitchFamily="34" charset="0"/>
              </a:rPr>
              <a:t> and succeeds in marrying the king’s daughter.</a:t>
            </a:r>
          </a:p>
          <a:p>
            <a:pPr algn="just"/>
            <a:r>
              <a:rPr lang="en-US" dirty="0" err="1">
                <a:latin typeface="Arial" panose="020B0604020202020204" pitchFamily="34" charset="0"/>
                <a:cs typeface="Arial" panose="020B0604020202020204" pitchFamily="34" charset="0"/>
              </a:rPr>
              <a:t>Akpala</a:t>
            </a:r>
            <a:r>
              <a:rPr lang="en-US" dirty="0">
                <a:latin typeface="Arial" panose="020B0604020202020204" pitchFamily="34" charset="0"/>
                <a:cs typeface="Arial" panose="020B0604020202020204" pitchFamily="34" charset="0"/>
              </a:rPr>
              <a:t> who could have given him away had his mouth sealed with gum and later killed on the suggestion of </a:t>
            </a:r>
            <a:r>
              <a:rPr lang="en-US" dirty="0" err="1">
                <a:latin typeface="Arial" panose="020B0604020202020204" pitchFamily="34" charset="0"/>
                <a:cs typeface="Arial" panose="020B0604020202020204" pitchFamily="34" charset="0"/>
              </a:rPr>
              <a:t>Ananse</a:t>
            </a:r>
            <a:r>
              <a:rPr lang="en-US" dirty="0">
                <a:latin typeface="Arial" panose="020B0604020202020204" pitchFamily="34" charset="0"/>
                <a:cs typeface="Arial" panose="020B0604020202020204" pitchFamily="34" charset="0"/>
              </a:rPr>
              <a:t> dressed as </a:t>
            </a:r>
            <a:r>
              <a:rPr lang="en-US" dirty="0" err="1">
                <a:latin typeface="Arial" panose="020B0604020202020204" pitchFamily="34" charset="0"/>
                <a:cs typeface="Arial" panose="020B0604020202020204" pitchFamily="34" charset="0"/>
              </a:rPr>
              <a:t>Pootagyiri</a:t>
            </a:r>
            <a:r>
              <a:rPr lang="en-US" dirty="0">
                <a:latin typeface="Arial" panose="020B0604020202020204" pitchFamily="34" charset="0"/>
                <a:cs typeface="Arial" panose="020B0604020202020204" pitchFamily="34" charset="0"/>
              </a:rPr>
              <a:t>.</a:t>
            </a:r>
          </a:p>
          <a:p>
            <a:pPr algn="just"/>
            <a:r>
              <a:rPr lang="en-US" dirty="0" err="1">
                <a:latin typeface="Arial" panose="020B0604020202020204" pitchFamily="34" charset="0"/>
                <a:cs typeface="Arial" panose="020B0604020202020204" pitchFamily="34" charset="0"/>
              </a:rPr>
              <a:t>Odudu</a:t>
            </a:r>
            <a:r>
              <a:rPr lang="en-US" dirty="0">
                <a:latin typeface="Arial" panose="020B0604020202020204" pitchFamily="34" charset="0"/>
                <a:cs typeface="Arial" panose="020B0604020202020204" pitchFamily="34" charset="0"/>
              </a:rPr>
              <a:t> the fool is the one whose arrival finally leads to the discovery that it was </a:t>
            </a:r>
            <a:r>
              <a:rPr lang="en-US" dirty="0" err="1">
                <a:latin typeface="Arial" panose="020B0604020202020204" pitchFamily="34" charset="0"/>
                <a:cs typeface="Arial" panose="020B0604020202020204" pitchFamily="34" charset="0"/>
              </a:rPr>
              <a:t>Ananse</a:t>
            </a:r>
            <a:r>
              <a:rPr lang="en-US" dirty="0">
                <a:latin typeface="Arial" panose="020B0604020202020204" pitchFamily="34" charset="0"/>
                <a:cs typeface="Arial" panose="020B0604020202020204" pitchFamily="34" charset="0"/>
              </a:rPr>
              <a:t> who had married the princess.</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17654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43F3A-6A08-4AB3-95D8-3F833CB689C0}"/>
              </a:ext>
            </a:extLst>
          </p:cNvPr>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TRICKSTER TALE</a:t>
            </a:r>
            <a:endParaRPr lang="en-GB"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04EB2D2B-A4C7-4583-98EA-35999B89B053}"/>
              </a:ext>
            </a:extLst>
          </p:cNvPr>
          <p:cNvSpPr>
            <a:spLocks noGrp="1"/>
          </p:cNvSpPr>
          <p:nvPr>
            <p:ph idx="1"/>
          </p:nvPr>
        </p:nvSpPr>
        <p:spPr/>
        <p:txBody>
          <a:bodyPr/>
          <a:lstStyle/>
          <a:p>
            <a:pPr algn="just"/>
            <a:r>
              <a:rPr lang="en-US" dirty="0">
                <a:latin typeface="Arial" panose="020B0604020202020204" pitchFamily="34" charset="0"/>
                <a:cs typeface="Arial" panose="020B0604020202020204" pitchFamily="34" charset="0"/>
              </a:rPr>
              <a:t>The play is in the trickster-tale tradition where small creatures like </a:t>
            </a:r>
            <a:r>
              <a:rPr lang="en-US" dirty="0" err="1">
                <a:latin typeface="Arial" panose="020B0604020202020204" pitchFamily="34" charset="0"/>
                <a:cs typeface="Arial" panose="020B0604020202020204" pitchFamily="34" charset="0"/>
              </a:rPr>
              <a:t>Ananse</a:t>
            </a:r>
            <a:r>
              <a:rPr lang="en-US" dirty="0">
                <a:latin typeface="Arial" panose="020B0604020202020204" pitchFamily="34" charset="0"/>
                <a:cs typeface="Arial" panose="020B0604020202020204" pitchFamily="34" charset="0"/>
              </a:rPr>
              <a:t>, the spider, and the rabbit play tricks on bigger animals. Finally the trickster is found out and punished or disgraced.</a:t>
            </a:r>
          </a:p>
          <a:p>
            <a:pPr algn="just"/>
            <a:r>
              <a:rPr lang="en-US" dirty="0">
                <a:latin typeface="Arial" panose="020B0604020202020204" pitchFamily="34" charset="0"/>
                <a:cs typeface="Arial" panose="020B0604020202020204" pitchFamily="34" charset="0"/>
              </a:rPr>
              <a:t>In this play </a:t>
            </a:r>
            <a:r>
              <a:rPr lang="en-US" dirty="0" err="1">
                <a:latin typeface="Arial" panose="020B0604020202020204" pitchFamily="34" charset="0"/>
                <a:cs typeface="Arial" panose="020B0604020202020204" pitchFamily="34" charset="0"/>
              </a:rPr>
              <a:t>Ananse</a:t>
            </a:r>
            <a:r>
              <a:rPr lang="en-US" dirty="0">
                <a:latin typeface="Arial" panose="020B0604020202020204" pitchFamily="34" charset="0"/>
                <a:cs typeface="Arial" panose="020B0604020202020204" pitchFamily="34" charset="0"/>
              </a:rPr>
              <a:t> plays his tricks on the king, his elders, the princess and succeeds in running away with many gifts and the princess as a wife.</a:t>
            </a:r>
          </a:p>
          <a:p>
            <a:pPr algn="just"/>
            <a:r>
              <a:rPr lang="en-US" dirty="0">
                <a:latin typeface="Arial" panose="020B0604020202020204" pitchFamily="34" charset="0"/>
                <a:cs typeface="Arial" panose="020B0604020202020204" pitchFamily="34" charset="0"/>
              </a:rPr>
              <a:t>The ending is just like all trickster tales. </a:t>
            </a:r>
            <a:r>
              <a:rPr lang="en-US" dirty="0" err="1">
                <a:latin typeface="Arial" panose="020B0604020202020204" pitchFamily="34" charset="0"/>
                <a:cs typeface="Arial" panose="020B0604020202020204" pitchFamily="34" charset="0"/>
              </a:rPr>
              <a:t>Ananse</a:t>
            </a:r>
            <a:r>
              <a:rPr lang="en-US" dirty="0">
                <a:latin typeface="Arial" panose="020B0604020202020204" pitchFamily="34" charset="0"/>
                <a:cs typeface="Arial" panose="020B0604020202020204" pitchFamily="34" charset="0"/>
              </a:rPr>
              <a:t> is not going to get away with his tricks. The military expedition will make sure of that. </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13554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E3E76-3A60-481F-A3D2-B04364B6EEAE}"/>
              </a:ext>
            </a:extLst>
          </p:cNvPr>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CHARACTERIZATION</a:t>
            </a:r>
            <a:endParaRPr lang="en-GB"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DDDDC6C-03FD-400A-9027-C29B08690EE1}"/>
              </a:ext>
            </a:extLst>
          </p:cNvPr>
          <p:cNvSpPr>
            <a:spLocks noGrp="1"/>
          </p:cNvSpPr>
          <p:nvPr>
            <p:ph idx="1"/>
          </p:nvPr>
        </p:nvSpPr>
        <p:spPr/>
        <p:txBody>
          <a:bodyPr/>
          <a:lstStyle/>
          <a:p>
            <a:r>
              <a:rPr lang="en-US" dirty="0">
                <a:latin typeface="Arial" panose="020B0604020202020204" pitchFamily="34" charset="0"/>
                <a:cs typeface="Arial" panose="020B0604020202020204" pitchFamily="34" charset="0"/>
              </a:rPr>
              <a:t>The main characters in the play are </a:t>
            </a:r>
            <a:r>
              <a:rPr lang="en-US" dirty="0" err="1">
                <a:latin typeface="Arial" panose="020B0604020202020204" pitchFamily="34" charset="0"/>
                <a:cs typeface="Arial" panose="020B0604020202020204" pitchFamily="34" charset="0"/>
              </a:rPr>
              <a:t>Ananse</a:t>
            </a:r>
            <a:r>
              <a:rPr lang="en-US" dirty="0">
                <a:latin typeface="Arial" panose="020B0604020202020204" pitchFamily="34" charset="0"/>
                <a:cs typeface="Arial" panose="020B0604020202020204" pitchFamily="34" charset="0"/>
              </a:rPr>
              <a:t>, the King, </a:t>
            </a:r>
            <a:r>
              <a:rPr lang="en-US" dirty="0" err="1">
                <a:latin typeface="Arial" panose="020B0604020202020204" pitchFamily="34" charset="0"/>
                <a:cs typeface="Arial" panose="020B0604020202020204" pitchFamily="34" charset="0"/>
              </a:rPr>
              <a:t>Akpala</a:t>
            </a:r>
            <a:r>
              <a:rPr lang="en-US" dirty="0">
                <a:latin typeface="Arial" panose="020B0604020202020204" pitchFamily="34" charset="0"/>
                <a:cs typeface="Arial" panose="020B0604020202020204" pitchFamily="34" charset="0"/>
              </a:rPr>
              <a:t>, the Priestess, </a:t>
            </a:r>
            <a:r>
              <a:rPr lang="en-US" dirty="0" err="1">
                <a:latin typeface="Arial" panose="020B0604020202020204" pitchFamily="34" charset="0"/>
                <a:cs typeface="Arial" panose="020B0604020202020204" pitchFamily="34" charset="0"/>
              </a:rPr>
              <a:t>Sodziisa</a:t>
            </a:r>
            <a:r>
              <a:rPr lang="en-US" dirty="0">
                <a:latin typeface="Arial" panose="020B0604020202020204" pitchFamily="34" charset="0"/>
                <a:cs typeface="Arial" panose="020B0604020202020204" pitchFamily="34" charset="0"/>
              </a:rPr>
              <a:t> (the princess) and </a:t>
            </a:r>
            <a:r>
              <a:rPr lang="en-US" dirty="0" err="1">
                <a:latin typeface="Arial" panose="020B0604020202020204" pitchFamily="34" charset="0"/>
                <a:cs typeface="Arial" panose="020B0604020202020204" pitchFamily="34" charset="0"/>
              </a:rPr>
              <a:t>Pootagyiri</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The minor characters include </a:t>
            </a:r>
            <a:r>
              <a:rPr lang="en-US" dirty="0" err="1">
                <a:latin typeface="Arial" panose="020B0604020202020204" pitchFamily="34" charset="0"/>
                <a:cs typeface="Arial" panose="020B0604020202020204" pitchFamily="34" charset="0"/>
              </a:rPr>
              <a:t>Odudu</a:t>
            </a:r>
            <a:r>
              <a:rPr lang="en-US" dirty="0">
                <a:latin typeface="Arial" panose="020B0604020202020204" pitchFamily="34" charset="0"/>
                <a:cs typeface="Arial" panose="020B0604020202020204" pitchFamily="34" charset="0"/>
              </a:rPr>
              <a:t>, the Queen, the Elders.</a:t>
            </a:r>
          </a:p>
          <a:p>
            <a:pPr algn="just"/>
            <a:r>
              <a:rPr lang="en-US" dirty="0">
                <a:latin typeface="Arial" panose="020B0604020202020204" pitchFamily="34" charset="0"/>
                <a:cs typeface="Arial" panose="020B0604020202020204" pitchFamily="34" charset="0"/>
              </a:rPr>
              <a:t>The play has two sets of characters: the wise comprising the Priestess and Kwaku </a:t>
            </a:r>
            <a:r>
              <a:rPr lang="en-US" dirty="0" err="1">
                <a:latin typeface="Arial" panose="020B0604020202020204" pitchFamily="34" charset="0"/>
                <a:cs typeface="Arial" panose="020B0604020202020204" pitchFamily="34" charset="0"/>
              </a:rPr>
              <a:t>Ananse</a:t>
            </a:r>
            <a:r>
              <a:rPr lang="en-US" dirty="0">
                <a:latin typeface="Arial" panose="020B0604020202020204" pitchFamily="34" charset="0"/>
                <a:cs typeface="Arial" panose="020B0604020202020204" pitchFamily="34" charset="0"/>
              </a:rPr>
              <a:t> and the idiots consisting of all </a:t>
            </a:r>
            <a:r>
              <a:rPr lang="en-US">
                <a:latin typeface="Arial" panose="020B0604020202020204" pitchFamily="34" charset="0"/>
                <a:cs typeface="Arial" panose="020B0604020202020204" pitchFamily="34" charset="0"/>
              </a:rPr>
              <a:t>the other characters </a:t>
            </a:r>
            <a:r>
              <a:rPr lang="en-US" dirty="0">
                <a:latin typeface="Arial" panose="020B0604020202020204" pitchFamily="34" charset="0"/>
                <a:cs typeface="Arial" panose="020B0604020202020204" pitchFamily="34" charset="0"/>
              </a:rPr>
              <a:t>in the story including the king.</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144669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TotalTime>
  <Words>1163</Words>
  <Application>Microsoft Office PowerPoint</Application>
  <PresentationFormat>Widescreen</PresentationFormat>
  <Paragraphs>50</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ANANSE IN THE LAND OF IDIOTS</vt:lpstr>
      <vt:lpstr>SYNOPSIS</vt:lpstr>
      <vt:lpstr>THE AUTHOR</vt:lpstr>
      <vt:lpstr>THEMES</vt:lpstr>
      <vt:lpstr>THEMES</vt:lpstr>
      <vt:lpstr>DRAMATIC TECHNIQUES – THE STAGE</vt:lpstr>
      <vt:lpstr>ANANSEGORO</vt:lpstr>
      <vt:lpstr>MOVEMENTS</vt:lpstr>
      <vt:lpstr>MOVEMENTS</vt:lpstr>
      <vt:lpstr>DISGUISE</vt:lpstr>
      <vt:lpstr>TRICKSTER TALE</vt:lpstr>
      <vt:lpstr>CHARACTERIZATION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ANANSE IN THE LAND OF IDIOTS</dc:title>
  <dc:creator>johnaning53@outlook.com</dc:creator>
  <cp:lastModifiedBy>johnaning53@outlook.com</cp:lastModifiedBy>
  <cp:revision>35</cp:revision>
  <dcterms:created xsi:type="dcterms:W3CDTF">2020-10-20T15:51:30Z</dcterms:created>
  <dcterms:modified xsi:type="dcterms:W3CDTF">2021-03-22T19:25:33Z</dcterms:modified>
</cp:coreProperties>
</file>