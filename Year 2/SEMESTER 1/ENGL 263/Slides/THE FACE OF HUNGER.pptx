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4" r:id="rId5"/>
    <p:sldId id="260" r:id="rId6"/>
    <p:sldId id="261" r:id="rId7"/>
    <p:sldId id="265" r:id="rId8"/>
    <p:sldId id="262" r:id="rId9"/>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107" d="100"/>
          <a:sy n="107" d="100"/>
        </p:scale>
        <p:origin x="138" y="1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AED4FD1-4A04-4212-9077-A168A2F9CFC1}" type="datetimeFigureOut">
              <a:rPr lang="en-US" smtClean="0"/>
              <a:t>3/15/2021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A24FA4-9BE5-4194-8466-76C486167163}" type="slidenum">
              <a:rPr lang="en-US" smtClean="0"/>
              <a:t>‹#›</a:t>
            </a:fld>
            <a:endParaRPr lang="en-US"/>
          </a:p>
        </p:txBody>
      </p:sp>
    </p:spTree>
    <p:extLst>
      <p:ext uri="{BB962C8B-B14F-4D97-AF65-F5344CB8AC3E}">
        <p14:creationId xmlns:p14="http://schemas.microsoft.com/office/powerpoint/2010/main" val="15814808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AED4FD1-4A04-4212-9077-A168A2F9CFC1}" type="datetimeFigureOut">
              <a:rPr lang="en-US" smtClean="0"/>
              <a:t>3/15/2021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A24FA4-9BE5-4194-8466-76C486167163}" type="slidenum">
              <a:rPr lang="en-US" smtClean="0"/>
              <a:t>‹#›</a:t>
            </a:fld>
            <a:endParaRPr lang="en-US"/>
          </a:p>
        </p:txBody>
      </p:sp>
    </p:spTree>
    <p:extLst>
      <p:ext uri="{BB962C8B-B14F-4D97-AF65-F5344CB8AC3E}">
        <p14:creationId xmlns:p14="http://schemas.microsoft.com/office/powerpoint/2010/main" val="2859714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AED4FD1-4A04-4212-9077-A168A2F9CFC1}" type="datetimeFigureOut">
              <a:rPr lang="en-US" smtClean="0"/>
              <a:t>3/15/2021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A24FA4-9BE5-4194-8466-76C486167163}" type="slidenum">
              <a:rPr lang="en-US" smtClean="0"/>
              <a:t>‹#›</a:t>
            </a:fld>
            <a:endParaRPr lang="en-US"/>
          </a:p>
        </p:txBody>
      </p:sp>
    </p:spTree>
    <p:extLst>
      <p:ext uri="{BB962C8B-B14F-4D97-AF65-F5344CB8AC3E}">
        <p14:creationId xmlns:p14="http://schemas.microsoft.com/office/powerpoint/2010/main" val="8050205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AED4FD1-4A04-4212-9077-A168A2F9CFC1}" type="datetimeFigureOut">
              <a:rPr lang="en-US" smtClean="0"/>
              <a:t>3/15/2021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A24FA4-9BE5-4194-8466-76C486167163}" type="slidenum">
              <a:rPr lang="en-US" smtClean="0"/>
              <a:t>‹#›</a:t>
            </a:fld>
            <a:endParaRPr lang="en-US"/>
          </a:p>
        </p:txBody>
      </p:sp>
    </p:spTree>
    <p:extLst>
      <p:ext uri="{BB962C8B-B14F-4D97-AF65-F5344CB8AC3E}">
        <p14:creationId xmlns:p14="http://schemas.microsoft.com/office/powerpoint/2010/main" val="14922755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AED4FD1-4A04-4212-9077-A168A2F9CFC1}" type="datetimeFigureOut">
              <a:rPr lang="en-US" smtClean="0"/>
              <a:t>3/15/2021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AA24FA4-9BE5-4194-8466-76C486167163}" type="slidenum">
              <a:rPr lang="en-US" smtClean="0"/>
              <a:t>‹#›</a:t>
            </a:fld>
            <a:endParaRPr lang="en-US"/>
          </a:p>
        </p:txBody>
      </p:sp>
    </p:spTree>
    <p:extLst>
      <p:ext uri="{BB962C8B-B14F-4D97-AF65-F5344CB8AC3E}">
        <p14:creationId xmlns:p14="http://schemas.microsoft.com/office/powerpoint/2010/main" val="11980373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AED4FD1-4A04-4212-9077-A168A2F9CFC1}" type="datetimeFigureOut">
              <a:rPr lang="en-US" smtClean="0"/>
              <a:t>3/15/2021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AA24FA4-9BE5-4194-8466-76C486167163}" type="slidenum">
              <a:rPr lang="en-US" smtClean="0"/>
              <a:t>‹#›</a:t>
            </a:fld>
            <a:endParaRPr lang="en-US"/>
          </a:p>
        </p:txBody>
      </p:sp>
    </p:spTree>
    <p:extLst>
      <p:ext uri="{BB962C8B-B14F-4D97-AF65-F5344CB8AC3E}">
        <p14:creationId xmlns:p14="http://schemas.microsoft.com/office/powerpoint/2010/main" val="33930259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ED4FD1-4A04-4212-9077-A168A2F9CFC1}" type="datetimeFigureOut">
              <a:rPr lang="en-US" smtClean="0"/>
              <a:t>3/15/2021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AA24FA4-9BE5-4194-8466-76C486167163}" type="slidenum">
              <a:rPr lang="en-US" smtClean="0"/>
              <a:t>‹#›</a:t>
            </a:fld>
            <a:endParaRPr lang="en-US"/>
          </a:p>
        </p:txBody>
      </p:sp>
    </p:spTree>
    <p:extLst>
      <p:ext uri="{BB962C8B-B14F-4D97-AF65-F5344CB8AC3E}">
        <p14:creationId xmlns:p14="http://schemas.microsoft.com/office/powerpoint/2010/main" val="4351035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AED4FD1-4A04-4212-9077-A168A2F9CFC1}" type="datetimeFigureOut">
              <a:rPr lang="en-US" smtClean="0"/>
              <a:t>3/15/2021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A24FA4-9BE5-4194-8466-76C486167163}" type="slidenum">
              <a:rPr lang="en-US" smtClean="0"/>
              <a:t>‹#›</a:t>
            </a:fld>
            <a:endParaRPr lang="en-US"/>
          </a:p>
        </p:txBody>
      </p:sp>
    </p:spTree>
    <p:extLst>
      <p:ext uri="{BB962C8B-B14F-4D97-AF65-F5344CB8AC3E}">
        <p14:creationId xmlns:p14="http://schemas.microsoft.com/office/powerpoint/2010/main" val="18754498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AED4FD1-4A04-4212-9077-A168A2F9CFC1}" type="datetimeFigureOut">
              <a:rPr lang="en-US" smtClean="0"/>
              <a:t>3/15/2021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A24FA4-9BE5-4194-8466-76C486167163}" type="slidenum">
              <a:rPr lang="en-US" smtClean="0"/>
              <a:t>‹#›</a:t>
            </a:fld>
            <a:endParaRPr lang="en-US"/>
          </a:p>
        </p:txBody>
      </p:sp>
    </p:spTree>
    <p:extLst>
      <p:ext uri="{BB962C8B-B14F-4D97-AF65-F5344CB8AC3E}">
        <p14:creationId xmlns:p14="http://schemas.microsoft.com/office/powerpoint/2010/main" val="16624660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AED4FD1-4A04-4212-9077-A168A2F9CFC1}" type="datetimeFigureOut">
              <a:rPr lang="en-US" smtClean="0"/>
              <a:t>3/15/2021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A24FA4-9BE5-4194-8466-76C486167163}" type="slidenum">
              <a:rPr lang="en-US" smtClean="0"/>
              <a:t>‹#›</a:t>
            </a:fld>
            <a:endParaRPr lang="en-US"/>
          </a:p>
        </p:txBody>
      </p:sp>
    </p:spTree>
    <p:extLst>
      <p:ext uri="{BB962C8B-B14F-4D97-AF65-F5344CB8AC3E}">
        <p14:creationId xmlns:p14="http://schemas.microsoft.com/office/powerpoint/2010/main" val="706604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AED4FD1-4A04-4212-9077-A168A2F9CFC1}" type="datetimeFigureOut">
              <a:rPr lang="en-US" smtClean="0"/>
              <a:t>3/15/2021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A24FA4-9BE5-4194-8466-76C486167163}" type="slidenum">
              <a:rPr lang="en-US" smtClean="0"/>
              <a:t>‹#›</a:t>
            </a:fld>
            <a:endParaRPr lang="en-US"/>
          </a:p>
        </p:txBody>
      </p:sp>
    </p:spTree>
    <p:extLst>
      <p:ext uri="{BB962C8B-B14F-4D97-AF65-F5344CB8AC3E}">
        <p14:creationId xmlns:p14="http://schemas.microsoft.com/office/powerpoint/2010/main" val="3700827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ED4FD1-4A04-4212-9077-A168A2F9CFC1}" type="datetimeFigureOut">
              <a:rPr lang="en-US" smtClean="0"/>
              <a:t>3/15/2021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A24FA4-9BE5-4194-8466-76C486167163}" type="slidenum">
              <a:rPr lang="en-US" smtClean="0"/>
              <a:t>‹#›</a:t>
            </a:fld>
            <a:endParaRPr lang="en-US"/>
          </a:p>
        </p:txBody>
      </p:sp>
    </p:spTree>
    <p:extLst>
      <p:ext uri="{BB962C8B-B14F-4D97-AF65-F5344CB8AC3E}">
        <p14:creationId xmlns:p14="http://schemas.microsoft.com/office/powerpoint/2010/main" val="7647995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latin typeface="Arial" panose="020B0604020202020204" pitchFamily="34" charset="0"/>
                <a:cs typeface="Arial" panose="020B0604020202020204" pitchFamily="34" charset="0"/>
              </a:rPr>
              <a:t>THE FACE OF HUNGER</a:t>
            </a:r>
          </a:p>
        </p:txBody>
      </p:sp>
      <p:sp>
        <p:nvSpPr>
          <p:cNvPr id="3" name="Subtitle 2"/>
          <p:cNvSpPr>
            <a:spLocks noGrp="1"/>
          </p:cNvSpPr>
          <p:nvPr>
            <p:ph type="subTitle" idx="1"/>
          </p:nvPr>
        </p:nvSpPr>
        <p:spPr/>
        <p:txBody>
          <a:bodyPr/>
          <a:lstStyle/>
          <a:p>
            <a:r>
              <a:rPr lang="en-US" b="1" dirty="0">
                <a:latin typeface="Arial" panose="020B0604020202020204" pitchFamily="34" charset="0"/>
                <a:cs typeface="Arial" panose="020B0604020202020204" pitchFamily="34" charset="0"/>
              </a:rPr>
              <a:t>OSWALD MTSHALI</a:t>
            </a:r>
          </a:p>
        </p:txBody>
      </p:sp>
    </p:spTree>
    <p:extLst>
      <p:ext uri="{BB962C8B-B14F-4D97-AF65-F5344CB8AC3E}">
        <p14:creationId xmlns:p14="http://schemas.microsoft.com/office/powerpoint/2010/main" val="15334748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OSWALD MBUYISENI MTSHALI</a:t>
            </a:r>
            <a:endParaRPr lang="en-US" dirty="0"/>
          </a:p>
        </p:txBody>
      </p:sp>
      <p:sp>
        <p:nvSpPr>
          <p:cNvPr id="3" name="Content Placeholder 2"/>
          <p:cNvSpPr>
            <a:spLocks noGrp="1"/>
          </p:cNvSpPr>
          <p:nvPr>
            <p:ph idx="1"/>
          </p:nvPr>
        </p:nvSpPr>
        <p:spPr/>
        <p:txBody>
          <a:bodyPr>
            <a:normAutofit fontScale="85000" lnSpcReduction="10000"/>
          </a:bodyPr>
          <a:lstStyle/>
          <a:p>
            <a:pPr algn="just"/>
            <a:r>
              <a:rPr lang="en-US" dirty="0">
                <a:latin typeface="Arial" panose="020B0604020202020204" pitchFamily="34" charset="0"/>
                <a:cs typeface="Arial" panose="020B0604020202020204" pitchFamily="34" charset="0"/>
              </a:rPr>
              <a:t>He is a South African and was born in 1940 in Vryheid, Natal, South Africa. </a:t>
            </a:r>
          </a:p>
          <a:p>
            <a:pPr algn="just"/>
            <a:r>
              <a:rPr lang="en-US" dirty="0">
                <a:latin typeface="Arial" panose="020B0604020202020204" pitchFamily="34" charset="0"/>
                <a:cs typeface="Arial" panose="020B0604020202020204" pitchFamily="34" charset="0"/>
              </a:rPr>
              <a:t>He writes in English, Zulu and Afrikaans. </a:t>
            </a:r>
          </a:p>
          <a:p>
            <a:pPr algn="just"/>
            <a:r>
              <a:rPr lang="en-US" dirty="0">
                <a:latin typeface="Arial" panose="020B0604020202020204" pitchFamily="34" charset="0"/>
                <a:cs typeface="Arial" panose="020B0604020202020204" pitchFamily="34" charset="0"/>
              </a:rPr>
              <a:t>He draws inspiration for his works from the immediate experience of life in the Johannesburg township of Soweto. </a:t>
            </a:r>
          </a:p>
          <a:p>
            <a:pPr algn="just"/>
            <a:r>
              <a:rPr lang="en-US" dirty="0">
                <a:latin typeface="Arial" panose="020B0604020202020204" pitchFamily="34" charset="0"/>
                <a:cs typeface="Arial" panose="020B0604020202020204" pitchFamily="34" charset="0"/>
              </a:rPr>
              <a:t>He has published two collections of poems (</a:t>
            </a:r>
            <a:r>
              <a:rPr lang="en-US" i="1" dirty="0">
                <a:latin typeface="Arial" panose="020B0604020202020204" pitchFamily="34" charset="0"/>
                <a:cs typeface="Arial" panose="020B0604020202020204" pitchFamily="34" charset="0"/>
              </a:rPr>
              <a:t>Sounds of a Cowhide Drum</a:t>
            </a:r>
            <a:r>
              <a:rPr lang="en-US" dirty="0">
                <a:latin typeface="Arial" panose="020B0604020202020204" pitchFamily="34" charset="0"/>
                <a:cs typeface="Arial" panose="020B0604020202020204" pitchFamily="34" charset="0"/>
              </a:rPr>
              <a:t>, 1971; and </a:t>
            </a:r>
            <a:r>
              <a:rPr lang="en-US" i="1" dirty="0" err="1">
                <a:latin typeface="Arial" panose="020B0604020202020204" pitchFamily="34" charset="0"/>
                <a:cs typeface="Arial" panose="020B0604020202020204" pitchFamily="34" charset="0"/>
              </a:rPr>
              <a:t>Fireflames</a:t>
            </a:r>
            <a:r>
              <a:rPr lang="en-US" dirty="0">
                <a:latin typeface="Arial" panose="020B0604020202020204" pitchFamily="34" charset="0"/>
                <a:cs typeface="Arial" panose="020B0604020202020204" pitchFamily="34" charset="0"/>
              </a:rPr>
              <a:t>, 1980) and also edited a biographical work entitled </a:t>
            </a:r>
            <a:r>
              <a:rPr lang="en-US" i="1" dirty="0">
                <a:latin typeface="Arial" panose="020B0604020202020204" pitchFamily="34" charset="0"/>
                <a:cs typeface="Arial" panose="020B0604020202020204" pitchFamily="34" charset="0"/>
              </a:rPr>
              <a:t>Give Us a Break: Diaries of a Group of Soweto Children</a:t>
            </a:r>
            <a:r>
              <a:rPr lang="en-US" dirty="0">
                <a:latin typeface="Arial" panose="020B0604020202020204" pitchFamily="34" charset="0"/>
                <a:cs typeface="Arial" panose="020B0604020202020204" pitchFamily="34" charset="0"/>
              </a:rPr>
              <a:t> in 1988. </a:t>
            </a:r>
          </a:p>
          <a:p>
            <a:pPr algn="just"/>
            <a:r>
              <a:rPr lang="en-US" dirty="0">
                <a:latin typeface="Arial" panose="020B0604020202020204" pitchFamily="34" charset="0"/>
                <a:cs typeface="Arial" panose="020B0604020202020204" pitchFamily="34" charset="0"/>
              </a:rPr>
              <a:t>His second anthology of poems was banned by the South African government because it was dedicated to the school children of Soweto, an obvious reference to the uprising there in 1976. </a:t>
            </a:r>
          </a:p>
          <a:p>
            <a:pPr algn="just"/>
            <a:r>
              <a:rPr lang="en-US" dirty="0">
                <a:latin typeface="Arial" panose="020B0604020202020204" pitchFamily="34" charset="0"/>
                <a:cs typeface="Arial" panose="020B0604020202020204" pitchFamily="34" charset="0"/>
              </a:rPr>
              <a:t>The harsh experiences of the apartheid regime is also a fertile ground for  the imagery usually encountered in his poems.</a:t>
            </a:r>
          </a:p>
        </p:txBody>
      </p:sp>
    </p:spTree>
    <p:extLst>
      <p:ext uri="{BB962C8B-B14F-4D97-AF65-F5344CB8AC3E}">
        <p14:creationId xmlns:p14="http://schemas.microsoft.com/office/powerpoint/2010/main" val="13436243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THEMES</a:t>
            </a:r>
          </a:p>
        </p:txBody>
      </p:sp>
      <p:sp>
        <p:nvSpPr>
          <p:cNvPr id="3" name="Content Placeholder 2"/>
          <p:cNvSpPr>
            <a:spLocks noGrp="1"/>
          </p:cNvSpPr>
          <p:nvPr>
            <p:ph idx="1"/>
          </p:nvPr>
        </p:nvSpPr>
        <p:spPr/>
        <p:txBody>
          <a:bodyPr/>
          <a:lstStyle/>
          <a:p>
            <a:r>
              <a:rPr lang="en-US" dirty="0"/>
              <a:t>Hunger</a:t>
            </a:r>
          </a:p>
          <a:p>
            <a:r>
              <a:rPr lang="en-US" dirty="0"/>
              <a:t>Poverty</a:t>
            </a:r>
          </a:p>
          <a:p>
            <a:r>
              <a:rPr lang="en-US" dirty="0"/>
              <a:t>suffering</a:t>
            </a:r>
          </a:p>
        </p:txBody>
      </p:sp>
    </p:spTree>
    <p:extLst>
      <p:ext uri="{BB962C8B-B14F-4D97-AF65-F5344CB8AC3E}">
        <p14:creationId xmlns:p14="http://schemas.microsoft.com/office/powerpoint/2010/main" val="595493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8976B-27C5-4191-9362-DBCE71C5F59A}"/>
              </a:ext>
            </a:extLst>
          </p:cNvPr>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SUMMARY</a:t>
            </a:r>
            <a:endParaRPr lang="en-GB"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B9E1E583-37E1-4C6D-89C2-BD9C1532AC32}"/>
              </a:ext>
            </a:extLst>
          </p:cNvPr>
          <p:cNvSpPr>
            <a:spLocks noGrp="1"/>
          </p:cNvSpPr>
          <p:nvPr>
            <p:ph idx="1"/>
          </p:nvPr>
        </p:nvSpPr>
        <p:spPr/>
        <p:txBody>
          <a:bodyPr>
            <a:normAutofit fontScale="92500" lnSpcReduction="10000"/>
          </a:bodyPr>
          <a:lstStyle/>
          <a:p>
            <a:pPr algn="just"/>
            <a:r>
              <a:rPr lang="en-US" i="1" dirty="0">
                <a:latin typeface="Arial" panose="020B0604020202020204" pitchFamily="34" charset="0"/>
                <a:cs typeface="Arial" panose="020B0604020202020204" pitchFamily="34" charset="0"/>
              </a:rPr>
              <a:t>The Face of Hunger </a:t>
            </a:r>
            <a:r>
              <a:rPr lang="en-US" dirty="0">
                <a:latin typeface="Arial" panose="020B0604020202020204" pitchFamily="34" charset="0"/>
                <a:cs typeface="Arial" panose="020B0604020202020204" pitchFamily="34" charset="0"/>
              </a:rPr>
              <a:t>is a short poem that brings to light  the poverty- stricken black children of South Africa, suffering in the claws of hunger. </a:t>
            </a:r>
          </a:p>
          <a:p>
            <a:pPr algn="just"/>
            <a:r>
              <a:rPr lang="en-US" dirty="0">
                <a:latin typeface="Arial" panose="020B0604020202020204" pitchFamily="34" charset="0"/>
                <a:cs typeface="Arial" panose="020B0604020202020204" pitchFamily="34" charset="0"/>
              </a:rPr>
              <a:t>In the poem, the persona who initially seems unconcerned, describes in stark and macabre terms, the features of a hungry child.  </a:t>
            </a:r>
          </a:p>
          <a:p>
            <a:pPr algn="just"/>
            <a:r>
              <a:rPr lang="en-US" dirty="0">
                <a:latin typeface="Arial" panose="020B0604020202020204" pitchFamily="34" charset="0"/>
                <a:cs typeface="Arial" panose="020B0604020202020204" pitchFamily="34" charset="0"/>
              </a:rPr>
              <a:t>The bones protruding from the body of the child, the glazed pupils that can only see a bun on a sky-high shelf, the pale </a:t>
            </a:r>
            <a:r>
              <a:rPr lang="en-US" dirty="0" err="1">
                <a:latin typeface="Arial" panose="020B0604020202020204" pitchFamily="34" charset="0"/>
                <a:cs typeface="Arial" panose="020B0604020202020204" pitchFamily="34" charset="0"/>
              </a:rPr>
              <a:t>colour</a:t>
            </a:r>
            <a:r>
              <a:rPr lang="en-US" dirty="0">
                <a:latin typeface="Arial" panose="020B0604020202020204" pitchFamily="34" charset="0"/>
                <a:cs typeface="Arial" panose="020B0604020202020204" pitchFamily="34" charset="0"/>
              </a:rPr>
              <a:t> of the skin and the constant darting in and out of the child’s tongue are all caused by hunger. </a:t>
            </a:r>
          </a:p>
          <a:p>
            <a:pPr algn="just"/>
            <a:r>
              <a:rPr lang="en-US" dirty="0">
                <a:latin typeface="Arial" panose="020B0604020202020204" pitchFamily="34" charset="0"/>
                <a:cs typeface="Arial" panose="020B0604020202020204" pitchFamily="34" charset="0"/>
              </a:rPr>
              <a:t>In the last three lines, the persona expresses his involvement with the exclamation “O! Child” The child’s stomach is now a den of lions as one can now see and hear hunger express itself in this child </a:t>
            </a:r>
          </a:p>
          <a:p>
            <a:endParaRPr lang="en-GB" dirty="0"/>
          </a:p>
        </p:txBody>
      </p:sp>
    </p:spTree>
    <p:extLst>
      <p:ext uri="{BB962C8B-B14F-4D97-AF65-F5344CB8AC3E}">
        <p14:creationId xmlns:p14="http://schemas.microsoft.com/office/powerpoint/2010/main" val="39753987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MOOD</a:t>
            </a:r>
          </a:p>
        </p:txBody>
      </p:sp>
      <p:sp>
        <p:nvSpPr>
          <p:cNvPr id="3" name="Content Placeholder 2"/>
          <p:cNvSpPr>
            <a:spLocks noGrp="1"/>
          </p:cNvSpPr>
          <p:nvPr>
            <p:ph idx="1"/>
          </p:nvPr>
        </p:nvSpPr>
        <p:spPr/>
        <p:txBody>
          <a:bodyPr/>
          <a:lstStyle/>
          <a:p>
            <a:r>
              <a:rPr lang="en-US" dirty="0"/>
              <a:t>The situation of the child is painted in melancholic terms. </a:t>
            </a:r>
          </a:p>
          <a:p>
            <a:r>
              <a:rPr lang="en-US" dirty="0"/>
              <a:t>This demands the use of run-on lines to describe the nasty situation in the shortest possible time.</a:t>
            </a:r>
          </a:p>
          <a:p>
            <a:r>
              <a:rPr lang="en-US" dirty="0"/>
              <a:t>The poem uses  few but well-chosen words because the situation is a sad one that requires sober reflection and short descriptive sentences but  not a hilarious conversation or description with many words. </a:t>
            </a:r>
          </a:p>
          <a:p>
            <a:r>
              <a:rPr lang="en-US" dirty="0"/>
              <a:t>The persona is sympathetic but the tone of the poem is harsh and poignant.</a:t>
            </a:r>
          </a:p>
        </p:txBody>
      </p:sp>
    </p:spTree>
    <p:extLst>
      <p:ext uri="{BB962C8B-B14F-4D97-AF65-F5344CB8AC3E}">
        <p14:creationId xmlns:p14="http://schemas.microsoft.com/office/powerpoint/2010/main" val="866303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LANGUAGE</a:t>
            </a:r>
          </a:p>
        </p:txBody>
      </p:sp>
      <p:sp>
        <p:nvSpPr>
          <p:cNvPr id="3" name="Content Placeholder 2"/>
          <p:cNvSpPr>
            <a:spLocks noGrp="1"/>
          </p:cNvSpPr>
          <p:nvPr>
            <p:ph idx="1"/>
          </p:nvPr>
        </p:nvSpPr>
        <p:spPr/>
        <p:txBody>
          <a:bodyPr>
            <a:normAutofit/>
          </a:bodyPr>
          <a:lstStyle/>
          <a:p>
            <a:pPr algn="just"/>
            <a:r>
              <a:rPr lang="en-US" dirty="0"/>
              <a:t>The diction is simple and can easily be understood by a wide range  of readers. </a:t>
            </a:r>
          </a:p>
          <a:p>
            <a:pPr algn="just"/>
            <a:r>
              <a:rPr lang="en-US" dirty="0"/>
              <a:t>Many senses have been used in the poem. The auditory sense (den of lions), the sense of sight (concertina chest), the sense of taste (tongue darting in and out), the sense of touch (skin as tight as glove on a doctor’s hand) are all evoked to portray the complete nature of the hunger that is being talked about in the poem.</a:t>
            </a:r>
          </a:p>
        </p:txBody>
      </p:sp>
    </p:spTree>
    <p:extLst>
      <p:ext uri="{BB962C8B-B14F-4D97-AF65-F5344CB8AC3E}">
        <p14:creationId xmlns:p14="http://schemas.microsoft.com/office/powerpoint/2010/main" val="25441054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4E58F-0F3D-4B55-91B9-476946523555}"/>
              </a:ext>
            </a:extLst>
          </p:cNvPr>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FIGURES OF SPEECH</a:t>
            </a:r>
            <a:endParaRPr lang="en-GB"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C39A6CF0-B154-48D6-A6BE-6BEA80DE6CF7}"/>
              </a:ext>
            </a:extLst>
          </p:cNvPr>
          <p:cNvSpPr>
            <a:spLocks noGrp="1"/>
          </p:cNvSpPr>
          <p:nvPr>
            <p:ph idx="1"/>
          </p:nvPr>
        </p:nvSpPr>
        <p:spPr/>
        <p:txBody>
          <a:bodyPr>
            <a:normAutofit fontScale="92500" lnSpcReduction="20000"/>
          </a:bodyPr>
          <a:lstStyle/>
          <a:p>
            <a:r>
              <a:rPr lang="en-US" dirty="0"/>
              <a:t>The poet uses the following figures of speech:</a:t>
            </a:r>
          </a:p>
          <a:p>
            <a:r>
              <a:rPr lang="en-US" dirty="0"/>
              <a:t>Personification: The face of hunger and the hand of famine.</a:t>
            </a:r>
          </a:p>
          <a:p>
            <a:pPr fontAlgn="base"/>
            <a:r>
              <a:rPr lang="en-US" dirty="0"/>
              <a:t>Simile: </a:t>
            </a:r>
            <a:r>
              <a:rPr lang="en-GB" dirty="0"/>
              <a:t>The skin was pale and taut</a:t>
            </a:r>
          </a:p>
          <a:p>
            <a:pPr marL="0" indent="0" fontAlgn="base">
              <a:buNone/>
            </a:pPr>
            <a:r>
              <a:rPr lang="en-GB" dirty="0"/>
              <a:t>                like a glove on a doctor’s hand.</a:t>
            </a:r>
          </a:p>
          <a:p>
            <a:r>
              <a:rPr lang="en-US" dirty="0"/>
              <a:t>Hyperbole: S</a:t>
            </a:r>
            <a:r>
              <a:rPr lang="en-GB" dirty="0" err="1"/>
              <a:t>eeing</a:t>
            </a:r>
            <a:r>
              <a:rPr lang="en-GB" dirty="0"/>
              <a:t> only a bun on some sky-high shelf, your stomach is a den of lions, roaring day and night.</a:t>
            </a:r>
          </a:p>
          <a:p>
            <a:r>
              <a:rPr lang="en-US" dirty="0"/>
              <a:t>Metaphor: Concertina chest, den of lions. </a:t>
            </a:r>
          </a:p>
          <a:p>
            <a:r>
              <a:rPr lang="en-US" dirty="0"/>
              <a:t>Apostrophe: O! Child</a:t>
            </a:r>
          </a:p>
          <a:p>
            <a:r>
              <a:rPr lang="en-US" dirty="0"/>
              <a:t>Onomatopoeia: Roaring.</a:t>
            </a:r>
          </a:p>
          <a:p>
            <a:r>
              <a:rPr lang="en-US" dirty="0"/>
              <a:t>These have all been used to depict the reality and the severity of the child’s hunger. </a:t>
            </a:r>
          </a:p>
          <a:p>
            <a:endParaRPr lang="en-GB" dirty="0"/>
          </a:p>
        </p:txBody>
      </p:sp>
    </p:spTree>
    <p:extLst>
      <p:ext uri="{BB962C8B-B14F-4D97-AF65-F5344CB8AC3E}">
        <p14:creationId xmlns:p14="http://schemas.microsoft.com/office/powerpoint/2010/main" val="6543837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SETTING</a:t>
            </a:r>
          </a:p>
        </p:txBody>
      </p:sp>
      <p:sp>
        <p:nvSpPr>
          <p:cNvPr id="3" name="Content Placeholder 2"/>
          <p:cNvSpPr>
            <a:spLocks noGrp="1"/>
          </p:cNvSpPr>
          <p:nvPr>
            <p:ph idx="1"/>
          </p:nvPr>
        </p:nvSpPr>
        <p:spPr/>
        <p:txBody>
          <a:bodyPr>
            <a:normAutofit fontScale="92500" lnSpcReduction="10000"/>
          </a:bodyPr>
          <a:lstStyle/>
          <a:p>
            <a:r>
              <a:rPr lang="en-US" dirty="0"/>
              <a:t>The poem is set in modern-day South Africa before apartheid was abolished in 1994. </a:t>
            </a:r>
          </a:p>
          <a:p>
            <a:pPr algn="just"/>
            <a:r>
              <a:rPr lang="en-US" dirty="0" err="1"/>
              <a:t>Mtshali’s</a:t>
            </a:r>
            <a:r>
              <a:rPr lang="en-US" dirty="0"/>
              <a:t> poems are normally set in the black sections of South Africa. “Nightfall in Soweto” is set in Soweto, the part of Johannesburg where blacks live. “The Abandoned Bundle” happens in White City </a:t>
            </a:r>
            <a:r>
              <a:rPr lang="en-US" dirty="0" err="1"/>
              <a:t>Jabavu</a:t>
            </a:r>
            <a:r>
              <a:rPr lang="en-US" dirty="0"/>
              <a:t> in Soweto, South Africa.</a:t>
            </a:r>
          </a:p>
          <a:p>
            <a:pPr algn="just"/>
            <a:r>
              <a:rPr lang="en-US" dirty="0"/>
              <a:t>It is therefore certain that this poem is set in the black sections of South Africa.</a:t>
            </a:r>
          </a:p>
          <a:p>
            <a:pPr algn="just"/>
            <a:r>
              <a:rPr lang="en-US" dirty="0"/>
              <a:t>The title refers to hunger by personifying and describing the face of this monster through the feature of the child in the poem. </a:t>
            </a:r>
            <a:r>
              <a:rPr lang="en-US" dirty="0" err="1"/>
              <a:t>Apparenly</a:t>
            </a:r>
            <a:r>
              <a:rPr lang="en-US" dirty="0"/>
              <a:t>, one becomes familiar with what is called hunger by looking at the features of this child</a:t>
            </a:r>
          </a:p>
        </p:txBody>
      </p:sp>
    </p:spTree>
    <p:extLst>
      <p:ext uri="{BB962C8B-B14F-4D97-AF65-F5344CB8AC3E}">
        <p14:creationId xmlns:p14="http://schemas.microsoft.com/office/powerpoint/2010/main" val="36940803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167</TotalTime>
  <Words>687</Words>
  <Application>Microsoft Office PowerPoint</Application>
  <PresentationFormat>Widescreen</PresentationFormat>
  <Paragraphs>41</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THE FACE OF HUNGER</vt:lpstr>
      <vt:lpstr>OSWALD MBUYISENI MTSHALI</vt:lpstr>
      <vt:lpstr>THEMES</vt:lpstr>
      <vt:lpstr>SUMMARY</vt:lpstr>
      <vt:lpstr>MOOD</vt:lpstr>
      <vt:lpstr>LANGUAGE</vt:lpstr>
      <vt:lpstr>FIGURES OF SPEECH</vt:lpstr>
      <vt:lpstr>SETTING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FACE OF HUNGER</dc:title>
  <dc:creator>Windows User</dc:creator>
  <cp:lastModifiedBy>johnaning53@outlook.com</cp:lastModifiedBy>
  <cp:revision>28</cp:revision>
  <cp:lastPrinted>2021-03-15T20:07:59Z</cp:lastPrinted>
  <dcterms:created xsi:type="dcterms:W3CDTF">2020-11-11T04:18:07Z</dcterms:created>
  <dcterms:modified xsi:type="dcterms:W3CDTF">2021-03-15T20:08:28Z</dcterms:modified>
</cp:coreProperties>
</file>