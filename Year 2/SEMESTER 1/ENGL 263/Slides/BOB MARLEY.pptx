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6" r:id="rId3"/>
    <p:sldId id="262" r:id="rId4"/>
    <p:sldId id="264" r:id="rId5"/>
    <p:sldId id="263" r:id="rId6"/>
    <p:sldId id="258" r:id="rId7"/>
    <p:sldId id="265" r:id="rId8"/>
    <p:sldId id="259" r:id="rId9"/>
    <p:sldId id="260" r:id="rId10"/>
    <p:sldId id="26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p:cViewPr varScale="1">
        <p:scale>
          <a:sx n="105" d="100"/>
          <a:sy n="105" d="100"/>
        </p:scale>
        <p:origin x="120"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A44E7-73B6-40F4-A60D-2F01020E01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66464D4-AF02-4442-A846-AE50562413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A927E0D-1E20-43CF-A0AC-B67A9D2C9B7E}"/>
              </a:ext>
            </a:extLst>
          </p:cNvPr>
          <p:cNvSpPr>
            <a:spLocks noGrp="1"/>
          </p:cNvSpPr>
          <p:nvPr>
            <p:ph type="dt" sz="half" idx="10"/>
          </p:nvPr>
        </p:nvSpPr>
        <p:spPr/>
        <p:txBody>
          <a:bodyPr/>
          <a:lstStyle/>
          <a:p>
            <a:fld id="{0EB85003-2861-430B-8BC5-F7B5B54E4196}" type="datetimeFigureOut">
              <a:rPr lang="en-GB" smtClean="0"/>
              <a:t>24/02/2021</a:t>
            </a:fld>
            <a:endParaRPr lang="en-GB"/>
          </a:p>
        </p:txBody>
      </p:sp>
      <p:sp>
        <p:nvSpPr>
          <p:cNvPr id="5" name="Footer Placeholder 4">
            <a:extLst>
              <a:ext uri="{FF2B5EF4-FFF2-40B4-BE49-F238E27FC236}">
                <a16:creationId xmlns:a16="http://schemas.microsoft.com/office/drawing/2014/main" id="{92D11A96-8797-4826-A6E7-2B3CDDCF002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E5B903-9F8B-48B0-BEF4-C54F6C1D9159}"/>
              </a:ext>
            </a:extLst>
          </p:cNvPr>
          <p:cNvSpPr>
            <a:spLocks noGrp="1"/>
          </p:cNvSpPr>
          <p:nvPr>
            <p:ph type="sldNum" sz="quarter" idx="12"/>
          </p:nvPr>
        </p:nvSpPr>
        <p:spPr/>
        <p:txBody>
          <a:bodyPr/>
          <a:lstStyle/>
          <a:p>
            <a:fld id="{379DBF77-AB3D-4A19-8C7E-F7560A3F459C}" type="slidenum">
              <a:rPr lang="en-GB" smtClean="0"/>
              <a:t>‹#›</a:t>
            </a:fld>
            <a:endParaRPr lang="en-GB"/>
          </a:p>
        </p:txBody>
      </p:sp>
    </p:spTree>
    <p:extLst>
      <p:ext uri="{BB962C8B-B14F-4D97-AF65-F5344CB8AC3E}">
        <p14:creationId xmlns:p14="http://schemas.microsoft.com/office/powerpoint/2010/main" val="1833204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B5FCD-EF2D-4D34-B5EE-75DC3553E2B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5B7F6AB-C7E5-40A0-B6D7-4901588CF9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352C442-0828-4C2E-8E19-017B68E04788}"/>
              </a:ext>
            </a:extLst>
          </p:cNvPr>
          <p:cNvSpPr>
            <a:spLocks noGrp="1"/>
          </p:cNvSpPr>
          <p:nvPr>
            <p:ph type="dt" sz="half" idx="10"/>
          </p:nvPr>
        </p:nvSpPr>
        <p:spPr/>
        <p:txBody>
          <a:bodyPr/>
          <a:lstStyle/>
          <a:p>
            <a:fld id="{0EB85003-2861-430B-8BC5-F7B5B54E4196}" type="datetimeFigureOut">
              <a:rPr lang="en-GB" smtClean="0"/>
              <a:t>24/02/2021</a:t>
            </a:fld>
            <a:endParaRPr lang="en-GB"/>
          </a:p>
        </p:txBody>
      </p:sp>
      <p:sp>
        <p:nvSpPr>
          <p:cNvPr id="5" name="Footer Placeholder 4">
            <a:extLst>
              <a:ext uri="{FF2B5EF4-FFF2-40B4-BE49-F238E27FC236}">
                <a16:creationId xmlns:a16="http://schemas.microsoft.com/office/drawing/2014/main" id="{B80F8FAA-609C-4462-AD17-53CA9B9F42B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879561-69E4-4C1C-B80F-6CF8C597019C}"/>
              </a:ext>
            </a:extLst>
          </p:cNvPr>
          <p:cNvSpPr>
            <a:spLocks noGrp="1"/>
          </p:cNvSpPr>
          <p:nvPr>
            <p:ph type="sldNum" sz="quarter" idx="12"/>
          </p:nvPr>
        </p:nvSpPr>
        <p:spPr/>
        <p:txBody>
          <a:bodyPr/>
          <a:lstStyle/>
          <a:p>
            <a:fld id="{379DBF77-AB3D-4A19-8C7E-F7560A3F459C}" type="slidenum">
              <a:rPr lang="en-GB" smtClean="0"/>
              <a:t>‹#›</a:t>
            </a:fld>
            <a:endParaRPr lang="en-GB"/>
          </a:p>
        </p:txBody>
      </p:sp>
    </p:spTree>
    <p:extLst>
      <p:ext uri="{BB962C8B-B14F-4D97-AF65-F5344CB8AC3E}">
        <p14:creationId xmlns:p14="http://schemas.microsoft.com/office/powerpoint/2010/main" val="1523257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D4876-8A82-42F1-92F7-7B7B0BF866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FBFEC1C-F544-44AC-8F36-1FF9491C55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413BC7-BE84-407A-B409-43E60CF1F355}"/>
              </a:ext>
            </a:extLst>
          </p:cNvPr>
          <p:cNvSpPr>
            <a:spLocks noGrp="1"/>
          </p:cNvSpPr>
          <p:nvPr>
            <p:ph type="dt" sz="half" idx="10"/>
          </p:nvPr>
        </p:nvSpPr>
        <p:spPr/>
        <p:txBody>
          <a:bodyPr/>
          <a:lstStyle/>
          <a:p>
            <a:fld id="{0EB85003-2861-430B-8BC5-F7B5B54E4196}" type="datetimeFigureOut">
              <a:rPr lang="en-GB" smtClean="0"/>
              <a:t>24/02/2021</a:t>
            </a:fld>
            <a:endParaRPr lang="en-GB"/>
          </a:p>
        </p:txBody>
      </p:sp>
      <p:sp>
        <p:nvSpPr>
          <p:cNvPr id="5" name="Footer Placeholder 4">
            <a:extLst>
              <a:ext uri="{FF2B5EF4-FFF2-40B4-BE49-F238E27FC236}">
                <a16:creationId xmlns:a16="http://schemas.microsoft.com/office/drawing/2014/main" id="{67F2EEE8-8FBC-40E1-B4E7-F3F3539B20C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F52956B-763B-4D83-84D4-D063B8BBA403}"/>
              </a:ext>
            </a:extLst>
          </p:cNvPr>
          <p:cNvSpPr>
            <a:spLocks noGrp="1"/>
          </p:cNvSpPr>
          <p:nvPr>
            <p:ph type="sldNum" sz="quarter" idx="12"/>
          </p:nvPr>
        </p:nvSpPr>
        <p:spPr/>
        <p:txBody>
          <a:bodyPr/>
          <a:lstStyle/>
          <a:p>
            <a:fld id="{379DBF77-AB3D-4A19-8C7E-F7560A3F459C}" type="slidenum">
              <a:rPr lang="en-GB" smtClean="0"/>
              <a:t>‹#›</a:t>
            </a:fld>
            <a:endParaRPr lang="en-GB"/>
          </a:p>
        </p:txBody>
      </p:sp>
    </p:spTree>
    <p:extLst>
      <p:ext uri="{BB962C8B-B14F-4D97-AF65-F5344CB8AC3E}">
        <p14:creationId xmlns:p14="http://schemas.microsoft.com/office/powerpoint/2010/main" val="859786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71273-E42F-471E-9A0C-E094F16A119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0404ADE-9B5D-4691-972C-C535E43889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4F5796B-ADD6-4980-A9E9-0C23518667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5E9D573-5D03-4522-A1C5-F1B2F20E3889}"/>
              </a:ext>
            </a:extLst>
          </p:cNvPr>
          <p:cNvSpPr>
            <a:spLocks noGrp="1"/>
          </p:cNvSpPr>
          <p:nvPr>
            <p:ph type="dt" sz="half" idx="10"/>
          </p:nvPr>
        </p:nvSpPr>
        <p:spPr/>
        <p:txBody>
          <a:bodyPr/>
          <a:lstStyle/>
          <a:p>
            <a:fld id="{0EB85003-2861-430B-8BC5-F7B5B54E4196}" type="datetimeFigureOut">
              <a:rPr lang="en-GB" smtClean="0"/>
              <a:t>24/02/2021</a:t>
            </a:fld>
            <a:endParaRPr lang="en-GB"/>
          </a:p>
        </p:txBody>
      </p:sp>
      <p:sp>
        <p:nvSpPr>
          <p:cNvPr id="6" name="Footer Placeholder 5">
            <a:extLst>
              <a:ext uri="{FF2B5EF4-FFF2-40B4-BE49-F238E27FC236}">
                <a16:creationId xmlns:a16="http://schemas.microsoft.com/office/drawing/2014/main" id="{D14B03D8-D531-4D41-9061-5B93A791A8B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910B354-64EC-47B6-AB38-EACCE961D60F}"/>
              </a:ext>
            </a:extLst>
          </p:cNvPr>
          <p:cNvSpPr>
            <a:spLocks noGrp="1"/>
          </p:cNvSpPr>
          <p:nvPr>
            <p:ph type="sldNum" sz="quarter" idx="12"/>
          </p:nvPr>
        </p:nvSpPr>
        <p:spPr/>
        <p:txBody>
          <a:bodyPr/>
          <a:lstStyle/>
          <a:p>
            <a:fld id="{379DBF77-AB3D-4A19-8C7E-F7560A3F459C}" type="slidenum">
              <a:rPr lang="en-GB" smtClean="0"/>
              <a:t>‹#›</a:t>
            </a:fld>
            <a:endParaRPr lang="en-GB"/>
          </a:p>
        </p:txBody>
      </p:sp>
    </p:spTree>
    <p:extLst>
      <p:ext uri="{BB962C8B-B14F-4D97-AF65-F5344CB8AC3E}">
        <p14:creationId xmlns:p14="http://schemas.microsoft.com/office/powerpoint/2010/main" val="2575204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0F6D-2794-4C48-A49A-2BCD42F6915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F8037F4-8272-4B24-B88C-A98B01F316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4BFB4A-ED98-4574-952C-625FEAEA9F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7D7839E-82CD-4B08-845A-FAFDBFC2B0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2E2F26-B949-4F3B-99DE-6A4F43BF1D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2EEFB93-4345-4ABE-85F4-97E3D9EE7AF0}"/>
              </a:ext>
            </a:extLst>
          </p:cNvPr>
          <p:cNvSpPr>
            <a:spLocks noGrp="1"/>
          </p:cNvSpPr>
          <p:nvPr>
            <p:ph type="dt" sz="half" idx="10"/>
          </p:nvPr>
        </p:nvSpPr>
        <p:spPr/>
        <p:txBody>
          <a:bodyPr/>
          <a:lstStyle/>
          <a:p>
            <a:fld id="{0EB85003-2861-430B-8BC5-F7B5B54E4196}" type="datetimeFigureOut">
              <a:rPr lang="en-GB" smtClean="0"/>
              <a:t>24/02/2021</a:t>
            </a:fld>
            <a:endParaRPr lang="en-GB"/>
          </a:p>
        </p:txBody>
      </p:sp>
      <p:sp>
        <p:nvSpPr>
          <p:cNvPr id="8" name="Footer Placeholder 7">
            <a:extLst>
              <a:ext uri="{FF2B5EF4-FFF2-40B4-BE49-F238E27FC236}">
                <a16:creationId xmlns:a16="http://schemas.microsoft.com/office/drawing/2014/main" id="{FD0DD6CF-830A-4F56-89C8-C4B0AA6B366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5CAC651-B8D5-4C51-9895-E5792F5AF54B}"/>
              </a:ext>
            </a:extLst>
          </p:cNvPr>
          <p:cNvSpPr>
            <a:spLocks noGrp="1"/>
          </p:cNvSpPr>
          <p:nvPr>
            <p:ph type="sldNum" sz="quarter" idx="12"/>
          </p:nvPr>
        </p:nvSpPr>
        <p:spPr/>
        <p:txBody>
          <a:bodyPr/>
          <a:lstStyle/>
          <a:p>
            <a:fld id="{379DBF77-AB3D-4A19-8C7E-F7560A3F459C}" type="slidenum">
              <a:rPr lang="en-GB" smtClean="0"/>
              <a:t>‹#›</a:t>
            </a:fld>
            <a:endParaRPr lang="en-GB"/>
          </a:p>
        </p:txBody>
      </p:sp>
    </p:spTree>
    <p:extLst>
      <p:ext uri="{BB962C8B-B14F-4D97-AF65-F5344CB8AC3E}">
        <p14:creationId xmlns:p14="http://schemas.microsoft.com/office/powerpoint/2010/main" val="2154556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D0CE2-C10E-4917-97C5-A8AB49DC844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BA6C350-8CBF-4CBE-8968-1BD1FAAC395D}"/>
              </a:ext>
            </a:extLst>
          </p:cNvPr>
          <p:cNvSpPr>
            <a:spLocks noGrp="1"/>
          </p:cNvSpPr>
          <p:nvPr>
            <p:ph type="dt" sz="half" idx="10"/>
          </p:nvPr>
        </p:nvSpPr>
        <p:spPr/>
        <p:txBody>
          <a:bodyPr/>
          <a:lstStyle/>
          <a:p>
            <a:fld id="{0EB85003-2861-430B-8BC5-F7B5B54E4196}" type="datetimeFigureOut">
              <a:rPr lang="en-GB" smtClean="0"/>
              <a:t>24/02/2021</a:t>
            </a:fld>
            <a:endParaRPr lang="en-GB"/>
          </a:p>
        </p:txBody>
      </p:sp>
      <p:sp>
        <p:nvSpPr>
          <p:cNvPr id="4" name="Footer Placeholder 3">
            <a:extLst>
              <a:ext uri="{FF2B5EF4-FFF2-40B4-BE49-F238E27FC236}">
                <a16:creationId xmlns:a16="http://schemas.microsoft.com/office/drawing/2014/main" id="{7169C643-FBF8-4487-AFC4-EB3EC89A6CD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813A08E-40A5-4BB5-AD88-07E9D1FCE951}"/>
              </a:ext>
            </a:extLst>
          </p:cNvPr>
          <p:cNvSpPr>
            <a:spLocks noGrp="1"/>
          </p:cNvSpPr>
          <p:nvPr>
            <p:ph type="sldNum" sz="quarter" idx="12"/>
          </p:nvPr>
        </p:nvSpPr>
        <p:spPr/>
        <p:txBody>
          <a:bodyPr/>
          <a:lstStyle/>
          <a:p>
            <a:fld id="{379DBF77-AB3D-4A19-8C7E-F7560A3F459C}" type="slidenum">
              <a:rPr lang="en-GB" smtClean="0"/>
              <a:t>‹#›</a:t>
            </a:fld>
            <a:endParaRPr lang="en-GB"/>
          </a:p>
        </p:txBody>
      </p:sp>
    </p:spTree>
    <p:extLst>
      <p:ext uri="{BB962C8B-B14F-4D97-AF65-F5344CB8AC3E}">
        <p14:creationId xmlns:p14="http://schemas.microsoft.com/office/powerpoint/2010/main" val="88096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83FAC3-AA7D-497F-8C61-57C9943AF53A}"/>
              </a:ext>
            </a:extLst>
          </p:cNvPr>
          <p:cNvSpPr>
            <a:spLocks noGrp="1"/>
          </p:cNvSpPr>
          <p:nvPr>
            <p:ph type="dt" sz="half" idx="10"/>
          </p:nvPr>
        </p:nvSpPr>
        <p:spPr/>
        <p:txBody>
          <a:bodyPr/>
          <a:lstStyle/>
          <a:p>
            <a:fld id="{0EB85003-2861-430B-8BC5-F7B5B54E4196}" type="datetimeFigureOut">
              <a:rPr lang="en-GB" smtClean="0"/>
              <a:t>24/02/2021</a:t>
            </a:fld>
            <a:endParaRPr lang="en-GB"/>
          </a:p>
        </p:txBody>
      </p:sp>
      <p:sp>
        <p:nvSpPr>
          <p:cNvPr id="3" name="Footer Placeholder 2">
            <a:extLst>
              <a:ext uri="{FF2B5EF4-FFF2-40B4-BE49-F238E27FC236}">
                <a16:creationId xmlns:a16="http://schemas.microsoft.com/office/drawing/2014/main" id="{2FDF88CC-D9DC-4B2F-9655-1B94327AC01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9FC097-DF5F-45E8-B889-1B74006161A1}"/>
              </a:ext>
            </a:extLst>
          </p:cNvPr>
          <p:cNvSpPr>
            <a:spLocks noGrp="1"/>
          </p:cNvSpPr>
          <p:nvPr>
            <p:ph type="sldNum" sz="quarter" idx="12"/>
          </p:nvPr>
        </p:nvSpPr>
        <p:spPr/>
        <p:txBody>
          <a:bodyPr/>
          <a:lstStyle/>
          <a:p>
            <a:fld id="{379DBF77-AB3D-4A19-8C7E-F7560A3F459C}" type="slidenum">
              <a:rPr lang="en-GB" smtClean="0"/>
              <a:t>‹#›</a:t>
            </a:fld>
            <a:endParaRPr lang="en-GB"/>
          </a:p>
        </p:txBody>
      </p:sp>
    </p:spTree>
    <p:extLst>
      <p:ext uri="{BB962C8B-B14F-4D97-AF65-F5344CB8AC3E}">
        <p14:creationId xmlns:p14="http://schemas.microsoft.com/office/powerpoint/2010/main" val="119472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11818-064D-4D3D-B5B7-11CED217FC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7EA27C3-CDFD-4A1F-9E55-222F3EADFC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4868A0F-8E08-4A20-A98C-1054AC29D1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58619B-C4B2-44DD-BEDD-57BB1877FFF5}"/>
              </a:ext>
            </a:extLst>
          </p:cNvPr>
          <p:cNvSpPr>
            <a:spLocks noGrp="1"/>
          </p:cNvSpPr>
          <p:nvPr>
            <p:ph type="dt" sz="half" idx="10"/>
          </p:nvPr>
        </p:nvSpPr>
        <p:spPr/>
        <p:txBody>
          <a:bodyPr/>
          <a:lstStyle/>
          <a:p>
            <a:fld id="{0EB85003-2861-430B-8BC5-F7B5B54E4196}" type="datetimeFigureOut">
              <a:rPr lang="en-GB" smtClean="0"/>
              <a:t>24/02/2021</a:t>
            </a:fld>
            <a:endParaRPr lang="en-GB"/>
          </a:p>
        </p:txBody>
      </p:sp>
      <p:sp>
        <p:nvSpPr>
          <p:cNvPr id="6" name="Footer Placeholder 5">
            <a:extLst>
              <a:ext uri="{FF2B5EF4-FFF2-40B4-BE49-F238E27FC236}">
                <a16:creationId xmlns:a16="http://schemas.microsoft.com/office/drawing/2014/main" id="{B878E222-13A8-412B-B335-3F57D7B548C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B0A5103-C571-4661-B593-A0F8F530CBD5}"/>
              </a:ext>
            </a:extLst>
          </p:cNvPr>
          <p:cNvSpPr>
            <a:spLocks noGrp="1"/>
          </p:cNvSpPr>
          <p:nvPr>
            <p:ph type="sldNum" sz="quarter" idx="12"/>
          </p:nvPr>
        </p:nvSpPr>
        <p:spPr/>
        <p:txBody>
          <a:bodyPr/>
          <a:lstStyle/>
          <a:p>
            <a:fld id="{379DBF77-AB3D-4A19-8C7E-F7560A3F459C}" type="slidenum">
              <a:rPr lang="en-GB" smtClean="0"/>
              <a:t>‹#›</a:t>
            </a:fld>
            <a:endParaRPr lang="en-GB"/>
          </a:p>
        </p:txBody>
      </p:sp>
    </p:spTree>
    <p:extLst>
      <p:ext uri="{BB962C8B-B14F-4D97-AF65-F5344CB8AC3E}">
        <p14:creationId xmlns:p14="http://schemas.microsoft.com/office/powerpoint/2010/main" val="1765043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E096F-A190-4754-90C9-C46CCB74C7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14A09CB-3107-4979-865F-141C3AD372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F6AB698-BD58-4A09-98BE-88BB4EA8AC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AC68B6-AD11-4B6B-A43D-B0A73BAC80C9}"/>
              </a:ext>
            </a:extLst>
          </p:cNvPr>
          <p:cNvSpPr>
            <a:spLocks noGrp="1"/>
          </p:cNvSpPr>
          <p:nvPr>
            <p:ph type="dt" sz="half" idx="10"/>
          </p:nvPr>
        </p:nvSpPr>
        <p:spPr/>
        <p:txBody>
          <a:bodyPr/>
          <a:lstStyle/>
          <a:p>
            <a:fld id="{0EB85003-2861-430B-8BC5-F7B5B54E4196}" type="datetimeFigureOut">
              <a:rPr lang="en-GB" smtClean="0"/>
              <a:t>24/02/2021</a:t>
            </a:fld>
            <a:endParaRPr lang="en-GB"/>
          </a:p>
        </p:txBody>
      </p:sp>
      <p:sp>
        <p:nvSpPr>
          <p:cNvPr id="6" name="Footer Placeholder 5">
            <a:extLst>
              <a:ext uri="{FF2B5EF4-FFF2-40B4-BE49-F238E27FC236}">
                <a16:creationId xmlns:a16="http://schemas.microsoft.com/office/drawing/2014/main" id="{050BA100-726B-44A5-92BB-2290CAD65C5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381EC9C-743E-4B8A-AE1C-C284D3B4EADF}"/>
              </a:ext>
            </a:extLst>
          </p:cNvPr>
          <p:cNvSpPr>
            <a:spLocks noGrp="1"/>
          </p:cNvSpPr>
          <p:nvPr>
            <p:ph type="sldNum" sz="quarter" idx="12"/>
          </p:nvPr>
        </p:nvSpPr>
        <p:spPr/>
        <p:txBody>
          <a:bodyPr/>
          <a:lstStyle/>
          <a:p>
            <a:fld id="{379DBF77-AB3D-4A19-8C7E-F7560A3F459C}" type="slidenum">
              <a:rPr lang="en-GB" smtClean="0"/>
              <a:t>‹#›</a:t>
            </a:fld>
            <a:endParaRPr lang="en-GB"/>
          </a:p>
        </p:txBody>
      </p:sp>
    </p:spTree>
    <p:extLst>
      <p:ext uri="{BB962C8B-B14F-4D97-AF65-F5344CB8AC3E}">
        <p14:creationId xmlns:p14="http://schemas.microsoft.com/office/powerpoint/2010/main" val="321895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4F600-9168-410A-8181-B1E6C2D6059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7516B67-D405-4968-9120-A9D0C48165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9DCDA40-C00A-45C2-83E1-3ACC49F18B5D}"/>
              </a:ext>
            </a:extLst>
          </p:cNvPr>
          <p:cNvSpPr>
            <a:spLocks noGrp="1"/>
          </p:cNvSpPr>
          <p:nvPr>
            <p:ph type="dt" sz="half" idx="10"/>
          </p:nvPr>
        </p:nvSpPr>
        <p:spPr/>
        <p:txBody>
          <a:bodyPr/>
          <a:lstStyle/>
          <a:p>
            <a:fld id="{0EB85003-2861-430B-8BC5-F7B5B54E4196}" type="datetimeFigureOut">
              <a:rPr lang="en-GB" smtClean="0"/>
              <a:t>24/02/2021</a:t>
            </a:fld>
            <a:endParaRPr lang="en-GB"/>
          </a:p>
        </p:txBody>
      </p:sp>
      <p:sp>
        <p:nvSpPr>
          <p:cNvPr id="5" name="Footer Placeholder 4">
            <a:extLst>
              <a:ext uri="{FF2B5EF4-FFF2-40B4-BE49-F238E27FC236}">
                <a16:creationId xmlns:a16="http://schemas.microsoft.com/office/drawing/2014/main" id="{BC283B49-5B4B-4189-AA17-7A4AF6502F4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E52E670-12C3-454B-ABE1-DD54F43B3A41}"/>
              </a:ext>
            </a:extLst>
          </p:cNvPr>
          <p:cNvSpPr>
            <a:spLocks noGrp="1"/>
          </p:cNvSpPr>
          <p:nvPr>
            <p:ph type="sldNum" sz="quarter" idx="12"/>
          </p:nvPr>
        </p:nvSpPr>
        <p:spPr/>
        <p:txBody>
          <a:bodyPr/>
          <a:lstStyle/>
          <a:p>
            <a:fld id="{379DBF77-AB3D-4A19-8C7E-F7560A3F459C}" type="slidenum">
              <a:rPr lang="en-GB" smtClean="0"/>
              <a:t>‹#›</a:t>
            </a:fld>
            <a:endParaRPr lang="en-GB"/>
          </a:p>
        </p:txBody>
      </p:sp>
    </p:spTree>
    <p:extLst>
      <p:ext uri="{BB962C8B-B14F-4D97-AF65-F5344CB8AC3E}">
        <p14:creationId xmlns:p14="http://schemas.microsoft.com/office/powerpoint/2010/main" val="2871850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E5EAE8-6717-4B38-9EDB-06B65E403F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897A52B-614F-40F5-8C31-A778F1FF1A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15AC512-F50F-4807-8FAA-B7A20F633CCA}"/>
              </a:ext>
            </a:extLst>
          </p:cNvPr>
          <p:cNvSpPr>
            <a:spLocks noGrp="1"/>
          </p:cNvSpPr>
          <p:nvPr>
            <p:ph type="dt" sz="half" idx="10"/>
          </p:nvPr>
        </p:nvSpPr>
        <p:spPr/>
        <p:txBody>
          <a:bodyPr/>
          <a:lstStyle/>
          <a:p>
            <a:fld id="{0EB85003-2861-430B-8BC5-F7B5B54E4196}" type="datetimeFigureOut">
              <a:rPr lang="en-GB" smtClean="0"/>
              <a:t>24/02/2021</a:t>
            </a:fld>
            <a:endParaRPr lang="en-GB"/>
          </a:p>
        </p:txBody>
      </p:sp>
      <p:sp>
        <p:nvSpPr>
          <p:cNvPr id="5" name="Footer Placeholder 4">
            <a:extLst>
              <a:ext uri="{FF2B5EF4-FFF2-40B4-BE49-F238E27FC236}">
                <a16:creationId xmlns:a16="http://schemas.microsoft.com/office/drawing/2014/main" id="{7C2E269C-E7D9-48EA-9587-A355366DF2A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D0793EF-8235-439F-A6FE-BFE6C63FDF7F}"/>
              </a:ext>
            </a:extLst>
          </p:cNvPr>
          <p:cNvSpPr>
            <a:spLocks noGrp="1"/>
          </p:cNvSpPr>
          <p:nvPr>
            <p:ph type="sldNum" sz="quarter" idx="12"/>
          </p:nvPr>
        </p:nvSpPr>
        <p:spPr/>
        <p:txBody>
          <a:bodyPr/>
          <a:lstStyle/>
          <a:p>
            <a:fld id="{379DBF77-AB3D-4A19-8C7E-F7560A3F459C}" type="slidenum">
              <a:rPr lang="en-GB" smtClean="0"/>
              <a:t>‹#›</a:t>
            </a:fld>
            <a:endParaRPr lang="en-GB"/>
          </a:p>
        </p:txBody>
      </p:sp>
    </p:spTree>
    <p:extLst>
      <p:ext uri="{BB962C8B-B14F-4D97-AF65-F5344CB8AC3E}">
        <p14:creationId xmlns:p14="http://schemas.microsoft.com/office/powerpoint/2010/main" val="1561969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E14667-672A-4394-BAD4-BBAB055A5C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29DCC13-31EA-4225-9C82-38C7A2A8F4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CCC69C3-2786-463F-B156-5B21AEC6FC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B85003-2861-430B-8BC5-F7B5B54E4196}" type="datetimeFigureOut">
              <a:rPr lang="en-GB" smtClean="0"/>
              <a:t>24/02/2021</a:t>
            </a:fld>
            <a:endParaRPr lang="en-GB"/>
          </a:p>
        </p:txBody>
      </p:sp>
      <p:sp>
        <p:nvSpPr>
          <p:cNvPr id="5" name="Footer Placeholder 4">
            <a:extLst>
              <a:ext uri="{FF2B5EF4-FFF2-40B4-BE49-F238E27FC236}">
                <a16:creationId xmlns:a16="http://schemas.microsoft.com/office/drawing/2014/main" id="{0DEA81BE-80EF-4E14-A0F4-6236A308F6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7D659C7E-B4E3-4288-B927-BC2C7B81EF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9DBF77-AB3D-4A19-8C7E-F7560A3F459C}" type="slidenum">
              <a:rPr lang="en-GB" smtClean="0"/>
              <a:t>‹#›</a:t>
            </a:fld>
            <a:endParaRPr lang="en-GB"/>
          </a:p>
        </p:txBody>
      </p:sp>
    </p:spTree>
    <p:extLst>
      <p:ext uri="{BB962C8B-B14F-4D97-AF65-F5344CB8AC3E}">
        <p14:creationId xmlns:p14="http://schemas.microsoft.com/office/powerpoint/2010/main" val="1191950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b="1" dirty="0">
                <a:latin typeface="Arial" panose="020B0604020202020204" pitchFamily="34" charset="0"/>
                <a:cs typeface="Arial" panose="020B0604020202020204" pitchFamily="34" charset="0"/>
              </a:rPr>
              <a:t>REDEMPTION SONG</a:t>
            </a:r>
          </a:p>
        </p:txBody>
      </p:sp>
      <p:sp>
        <p:nvSpPr>
          <p:cNvPr id="3" name="Subtitle 2"/>
          <p:cNvSpPr>
            <a:spLocks noGrp="1"/>
          </p:cNvSpPr>
          <p:nvPr>
            <p:ph type="subTitle" idx="1"/>
          </p:nvPr>
        </p:nvSpPr>
        <p:spPr/>
        <p:txBody>
          <a:bodyPr/>
          <a:lstStyle/>
          <a:p>
            <a:r>
              <a:rPr lang="en-GB" b="1" dirty="0">
                <a:latin typeface="Arial" panose="020B0604020202020204" pitchFamily="34" charset="0"/>
                <a:cs typeface="Arial" panose="020B0604020202020204" pitchFamily="34" charset="0"/>
              </a:rPr>
              <a:t>ROBERT NESTA MARLEY</a:t>
            </a:r>
          </a:p>
        </p:txBody>
      </p:sp>
    </p:spTree>
    <p:extLst>
      <p:ext uri="{BB962C8B-B14F-4D97-AF65-F5344CB8AC3E}">
        <p14:creationId xmlns:p14="http://schemas.microsoft.com/office/powerpoint/2010/main" val="1678359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CCC6F-B603-4AAD-976F-5C4094C6101E}"/>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POETRY AND SONGS</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D5E20F5-2019-4320-BE73-A864257BBCDC}"/>
              </a:ext>
            </a:extLst>
          </p:cNvPr>
          <p:cNvSpPr>
            <a:spLocks noGrp="1"/>
          </p:cNvSpPr>
          <p:nvPr>
            <p:ph idx="1"/>
          </p:nvPr>
        </p:nvSpPr>
        <p:spPr/>
        <p:txBody>
          <a:bodyPr/>
          <a:lstStyle/>
          <a:p>
            <a:r>
              <a:rPr lang="en-US" dirty="0"/>
              <a:t>In 2016, Bob Dylan, a songwriter, was awarded the Nobel Prize in Literature. It was the first time a songwriter got the Nobel Prize in Literature.</a:t>
            </a:r>
          </a:p>
          <a:p>
            <a:r>
              <a:rPr lang="en-US" dirty="0"/>
              <a:t>He was applauded ‘for having created new poetic expressions within the great American song tradition’.</a:t>
            </a:r>
          </a:p>
          <a:p>
            <a:r>
              <a:rPr lang="en-US" dirty="0"/>
              <a:t>Anytime you listen to a song think of the lyrics as poetry. This is the reason why we are studying Bob Marley’s song as poetry and a song of protest </a:t>
            </a:r>
            <a:r>
              <a:rPr lang="en-US"/>
              <a:t>and activism. </a:t>
            </a:r>
            <a:endParaRPr lang="en-GB" dirty="0"/>
          </a:p>
        </p:txBody>
      </p:sp>
    </p:spTree>
    <p:extLst>
      <p:ext uri="{BB962C8B-B14F-4D97-AF65-F5344CB8AC3E}">
        <p14:creationId xmlns:p14="http://schemas.microsoft.com/office/powerpoint/2010/main" val="2615385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09AB6-9F62-41DE-9218-AC81B73049DC}"/>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THE LYRICS</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5DD9CAC-1913-4EC2-9051-35A96B724F6B}"/>
              </a:ext>
            </a:extLst>
          </p:cNvPr>
          <p:cNvSpPr>
            <a:spLocks noGrp="1"/>
          </p:cNvSpPr>
          <p:nvPr>
            <p:ph idx="1"/>
          </p:nvPr>
        </p:nvSpPr>
        <p:spPr/>
        <p:txBody>
          <a:bodyPr/>
          <a:lstStyle/>
          <a:p>
            <a:pPr algn="just"/>
            <a:r>
              <a:rPr lang="en-GB" dirty="0">
                <a:solidFill>
                  <a:srgbClr val="202122"/>
                </a:solidFill>
                <a:effectLst/>
                <a:latin typeface="Arial" panose="020B0604020202020204" pitchFamily="34" charset="0"/>
                <a:ea typeface="Calibri" panose="020F0502020204030204" pitchFamily="34" charset="0"/>
                <a:cs typeface="Arial" panose="020B0604020202020204" pitchFamily="34" charset="0"/>
              </a:rPr>
              <a:t>Some key lyrics </a:t>
            </a:r>
            <a:r>
              <a:rPr lang="en-GB" dirty="0">
                <a:solidFill>
                  <a:srgbClr val="202122"/>
                </a:solidFill>
                <a:latin typeface="Arial" panose="020B0604020202020204" pitchFamily="34" charset="0"/>
                <a:ea typeface="Calibri" panose="020F0502020204030204" pitchFamily="34" charset="0"/>
                <a:cs typeface="Arial" panose="020B0604020202020204" pitchFamily="34" charset="0"/>
              </a:rPr>
              <a:t>of the song were </a:t>
            </a:r>
            <a:r>
              <a:rPr lang="en-GB" dirty="0">
                <a:solidFill>
                  <a:srgbClr val="202122"/>
                </a:solidFill>
                <a:effectLst/>
                <a:latin typeface="Arial" panose="020B0604020202020204" pitchFamily="34" charset="0"/>
                <a:ea typeface="Calibri" panose="020F0502020204030204" pitchFamily="34" charset="0"/>
                <a:cs typeface="Arial" panose="020B0604020202020204" pitchFamily="34" charset="0"/>
              </a:rPr>
              <a:t>derived from a speech given by the Pan-Africanist orator Marcus Garvey at Menelik Hall in Sydney, Nova Scotia in October 1937 entitled "The Work That Has Been Done".</a:t>
            </a:r>
          </a:p>
          <a:p>
            <a:pPr algn="just"/>
            <a:r>
              <a:rPr lang="en-GB" dirty="0">
                <a:solidFill>
                  <a:srgbClr val="202122"/>
                </a:solidFill>
                <a:effectLst/>
                <a:latin typeface="Arial" panose="020B0604020202020204" pitchFamily="34" charset="0"/>
                <a:ea typeface="Calibri" panose="020F0502020204030204" pitchFamily="34" charset="0"/>
                <a:cs typeface="Arial" panose="020B0604020202020204" pitchFamily="34" charset="0"/>
              </a:rPr>
              <a:t>“We are going to emancipate ourselves from mental slavery because whilst others might free the body, none but ourselves can free the mind. Mind is your only ruler, sovereign. The man who is not able to develop and use his mind is bound to be the slave of the other man who uses his mind ...” </a:t>
            </a:r>
          </a:p>
          <a:p>
            <a:pPr marL="0" indent="0" algn="just">
              <a:buNone/>
            </a:pPr>
            <a:r>
              <a:rPr lang="en-GB" dirty="0">
                <a:solidFill>
                  <a:srgbClr val="202122"/>
                </a:solidFill>
                <a:effectLst/>
                <a:latin typeface="Arial" panose="020B0604020202020204" pitchFamily="34" charset="0"/>
                <a:ea typeface="Calibri" panose="020F0502020204030204" pitchFamily="34" charset="0"/>
                <a:cs typeface="Arial" panose="020B0604020202020204" pitchFamily="34" charset="0"/>
              </a:rPr>
              <a:t> </a:t>
            </a:r>
            <a:endParaRPr lang="en-GB" dirty="0">
              <a:effectLst/>
              <a:latin typeface="Arial" panose="020B0604020202020204" pitchFamily="34" charset="0"/>
              <a:ea typeface="Calibri" panose="020F050202020403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1527119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8D463-813B-4248-886A-804925FD3734}"/>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THE LYRICS</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CF5FA2BA-E800-4253-A386-7B50FA33F83C}"/>
              </a:ext>
            </a:extLst>
          </p:cNvPr>
          <p:cNvSpPr>
            <a:spLocks noGrp="1"/>
          </p:cNvSpPr>
          <p:nvPr>
            <p:ph idx="1"/>
          </p:nvPr>
        </p:nvSpPr>
        <p:spPr/>
        <p:txBody>
          <a:bodyPr>
            <a:normAutofit lnSpcReduction="10000"/>
          </a:bodyPr>
          <a:lstStyle/>
          <a:p>
            <a:pPr algn="just"/>
            <a:r>
              <a:rPr lang="en-US" dirty="0">
                <a:latin typeface="Arial" panose="020B0604020202020204" pitchFamily="34" charset="0"/>
                <a:cs typeface="Arial" panose="020B0604020202020204" pitchFamily="34" charset="0"/>
              </a:rPr>
              <a:t>When you control a man’s thinking you do not have to worry about his actions. You do not have to tell him not to stand here or go yonder. He will find his ‘proper place’ and will stay in it. You do not need to send him to the back door. He will go without being told. In fact, if there is no back door, he will cut one for his special benefit. His education makes it necessary.</a:t>
            </a:r>
          </a:p>
          <a:p>
            <a:pPr marL="0" indent="0" algn="just">
              <a:buNone/>
            </a:pPr>
            <a:r>
              <a:rPr lang="en-US" dirty="0">
                <a:latin typeface="Arial" panose="020B0604020202020204" pitchFamily="34" charset="0"/>
                <a:cs typeface="Arial" panose="020B0604020202020204" pitchFamily="34" charset="0"/>
              </a:rPr>
              <a:t>       (Dr. Carter G. Woodson: </a:t>
            </a:r>
            <a:r>
              <a:rPr lang="en-US" i="1" dirty="0">
                <a:latin typeface="Arial" panose="020B0604020202020204" pitchFamily="34" charset="0"/>
                <a:cs typeface="Arial" panose="020B0604020202020204" pitchFamily="34" charset="0"/>
              </a:rPr>
              <a:t>The Miseducation of the Negro)</a:t>
            </a:r>
          </a:p>
          <a:p>
            <a:pPr algn="just"/>
            <a:r>
              <a:rPr lang="en-US" dirty="0">
                <a:latin typeface="Arial" panose="020B0604020202020204" pitchFamily="34" charset="0"/>
                <a:cs typeface="Arial" panose="020B0604020202020204" pitchFamily="34" charset="0"/>
              </a:rPr>
              <a:t>Garvey and Woodson define ‘mental slavery’ clearly: ‘</a:t>
            </a:r>
            <a:r>
              <a:rPr lang="en-GB" dirty="0">
                <a:solidFill>
                  <a:srgbClr val="202122"/>
                </a:solidFill>
                <a:effectLst/>
                <a:latin typeface="Arial" panose="020B0604020202020204" pitchFamily="34" charset="0"/>
                <a:ea typeface="Calibri" panose="020F0502020204030204" pitchFamily="34" charset="0"/>
                <a:cs typeface="Arial" panose="020B0604020202020204" pitchFamily="34" charset="0"/>
              </a:rPr>
              <a:t>The man who is not able to develop and use his mind.’ Garvey</a:t>
            </a:r>
          </a:p>
          <a:p>
            <a:pPr algn="just"/>
            <a:r>
              <a:rPr lang="en-GB" dirty="0">
                <a:solidFill>
                  <a:srgbClr val="202122"/>
                </a:solidFill>
                <a:latin typeface="Arial" panose="020B0604020202020204" pitchFamily="34" charset="0"/>
                <a:cs typeface="Arial" panose="020B0604020202020204" pitchFamily="34" charset="0"/>
              </a:rPr>
              <a:t>‘A</a:t>
            </a:r>
            <a:r>
              <a:rPr lang="en-US" dirty="0">
                <a:latin typeface="Arial" panose="020B0604020202020204" pitchFamily="34" charset="0"/>
                <a:cs typeface="Arial" panose="020B0604020202020204" pitchFamily="34" charset="0"/>
              </a:rPr>
              <a:t> man whose thinking is controlled.’ Woodson. (A man who has been brainwashed to think in a particular way.)</a:t>
            </a:r>
            <a:endParaRPr lang="en-GB"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7546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5E74C-9F35-4401-B96C-76EED044C1A9}"/>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THE SONG</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673F7C8-54D4-44B3-A250-C3F54C23E091}"/>
              </a:ext>
            </a:extLst>
          </p:cNvPr>
          <p:cNvSpPr>
            <a:spLocks noGrp="1"/>
          </p:cNvSpPr>
          <p:nvPr>
            <p:ph idx="1"/>
          </p:nvPr>
        </p:nvSpPr>
        <p:spPr/>
        <p:txBody>
          <a:bodyPr>
            <a:normAutofit fontScale="85000" lnSpcReduction="20000"/>
          </a:bodyPr>
          <a:lstStyle/>
          <a:p>
            <a:pPr algn="just">
              <a:spcBef>
                <a:spcPts val="600"/>
              </a:spcBef>
              <a:spcAft>
                <a:spcPts val="600"/>
              </a:spcAft>
            </a:pPr>
            <a:r>
              <a:rPr lang="en-GB" dirty="0">
                <a:solidFill>
                  <a:srgbClr val="202122"/>
                </a:solidFill>
                <a:effectLst/>
                <a:latin typeface="Arial" panose="020B0604020202020204" pitchFamily="34" charset="0"/>
                <a:ea typeface="Times New Roman" panose="02020603050405020304" pitchFamily="18" charset="0"/>
                <a:cs typeface="Arial" panose="020B0604020202020204" pitchFamily="34" charset="0"/>
              </a:rPr>
              <a:t>At the time he wrote the song, around 1979, Bob Marley had been diagnosed with the cancer in his toe that took his life a couple of years later. According to Rita Marley, "he was already secretly in a lot of pain and dealt with his own mortality, a feature that is clearly apparent in the album, particularly in this song".</a:t>
            </a:r>
            <a:endParaRPr lang="en-GB" dirty="0">
              <a:effectLst/>
              <a:latin typeface="Arial" panose="020B0604020202020204" pitchFamily="34" charset="0"/>
              <a:ea typeface="Times New Roman" panose="02020603050405020304" pitchFamily="18" charset="0"/>
              <a:cs typeface="Arial" panose="020B0604020202020204" pitchFamily="34" charset="0"/>
            </a:endParaRPr>
          </a:p>
          <a:p>
            <a:pPr algn="just">
              <a:spcBef>
                <a:spcPts val="600"/>
              </a:spcBef>
              <a:spcAft>
                <a:spcPts val="600"/>
              </a:spcAft>
            </a:pPr>
            <a:r>
              <a:rPr lang="en-GB" dirty="0">
                <a:solidFill>
                  <a:srgbClr val="202122"/>
                </a:solidFill>
                <a:effectLst/>
                <a:latin typeface="Arial" panose="020B0604020202020204" pitchFamily="34" charset="0"/>
                <a:ea typeface="Times New Roman" panose="02020603050405020304" pitchFamily="18" charset="0"/>
                <a:cs typeface="Arial" panose="020B0604020202020204" pitchFamily="34" charset="0"/>
              </a:rPr>
              <a:t>Unlike most of Bob Marley's other tracks, it is strictly a solo acoustic </a:t>
            </a:r>
            <a:r>
              <a:rPr lang="en-GB" dirty="0" err="1">
                <a:solidFill>
                  <a:srgbClr val="202122"/>
                </a:solidFill>
                <a:effectLst/>
                <a:latin typeface="Arial" panose="020B0604020202020204" pitchFamily="34" charset="0"/>
                <a:ea typeface="Times New Roman" panose="02020603050405020304" pitchFamily="18" charset="0"/>
                <a:cs typeface="Arial" panose="020B0604020202020204" pitchFamily="34" charset="0"/>
              </a:rPr>
              <a:t>acoustic</a:t>
            </a:r>
            <a:r>
              <a:rPr lang="en-GB" dirty="0">
                <a:solidFill>
                  <a:srgbClr val="202122"/>
                </a:solidFill>
                <a:effectLst/>
                <a:latin typeface="Arial" panose="020B0604020202020204" pitchFamily="34" charset="0"/>
                <a:ea typeface="Times New Roman" panose="02020603050405020304" pitchFamily="18" charset="0"/>
                <a:cs typeface="Arial" panose="020B0604020202020204" pitchFamily="34" charset="0"/>
              </a:rPr>
              <a:t> recording, consisting of his singing and playing an acoustic guitar, without accompaniment. </a:t>
            </a:r>
            <a:endParaRPr lang="en-GB" dirty="0">
              <a:effectLst/>
              <a:latin typeface="Arial" panose="020B0604020202020204" pitchFamily="34" charset="0"/>
              <a:ea typeface="Times New Roman" panose="02020603050405020304" pitchFamily="18" charset="0"/>
              <a:cs typeface="Arial" panose="020B0604020202020204" pitchFamily="34" charset="0"/>
            </a:endParaRPr>
          </a:p>
          <a:p>
            <a:pPr algn="just">
              <a:lnSpc>
                <a:spcPct val="106000"/>
              </a:lnSpc>
              <a:spcBef>
                <a:spcPts val="500"/>
              </a:spcBef>
              <a:spcAft>
                <a:spcPts val="800"/>
              </a:spcAft>
            </a:pPr>
            <a:r>
              <a:rPr lang="en-GB" dirty="0">
                <a:solidFill>
                  <a:srgbClr val="202122"/>
                </a:solidFill>
                <a:effectLst/>
                <a:latin typeface="Arial" panose="020B0604020202020204" pitchFamily="34" charset="0"/>
                <a:ea typeface="Calibri" panose="020F0502020204030204" pitchFamily="34" charset="0"/>
                <a:cs typeface="Arial" panose="020B0604020202020204" pitchFamily="34" charset="0"/>
              </a:rPr>
              <a:t>With Bob accompanying himself on guitar, "Redemption Song" was unlike anything he had ever recorded: an acoustic ballad, without any hint of reggae rhythm. Biographer Timothy White called it an 'acoustic spiritual' and another biographer, Stephen Davis, pointed out the song was a 'total departure', a deeply personal verse sung to the strumming of Bob's guitar.</a:t>
            </a:r>
            <a:endParaRPr lang="en-GB" dirty="0">
              <a:effectLst/>
              <a:latin typeface="Arial" panose="020B0604020202020204" pitchFamily="34" charset="0"/>
              <a:ea typeface="Calibri" panose="020F050202020403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1664979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THE MESSAGE</a:t>
            </a:r>
          </a:p>
        </p:txBody>
      </p:sp>
      <p:sp>
        <p:nvSpPr>
          <p:cNvPr id="3" name="Content Placeholder 2"/>
          <p:cNvSpPr>
            <a:spLocks noGrp="1"/>
          </p:cNvSpPr>
          <p:nvPr>
            <p:ph idx="1"/>
          </p:nvPr>
        </p:nvSpPr>
        <p:spPr/>
        <p:txBody>
          <a:bodyPr/>
          <a:lstStyle/>
          <a:p>
            <a:pPr algn="just"/>
            <a:r>
              <a:rPr lang="en-GB" dirty="0"/>
              <a:t>The song/poem is about the persona who was captured and sold as a slave.</a:t>
            </a:r>
          </a:p>
          <a:p>
            <a:pPr algn="just"/>
            <a:r>
              <a:rPr lang="en-GB" dirty="0"/>
              <a:t>He went through great suffering and oppression but the Almighty strengthened and encouraged him.</a:t>
            </a:r>
          </a:p>
          <a:p>
            <a:pPr algn="just"/>
            <a:r>
              <a:rPr lang="en-GB" dirty="0"/>
              <a:t>He is now not only singing a song of freedom but is triumphantly fighting for it.</a:t>
            </a:r>
          </a:p>
          <a:p>
            <a:pPr algn="just"/>
            <a:r>
              <a:rPr lang="en-GB" dirty="0"/>
              <a:t>He appeals to his brothers and sisters to free themselves from ‘mental slavery’. He also invites them to join him in singing and fighting for freedom.</a:t>
            </a:r>
          </a:p>
        </p:txBody>
      </p:sp>
    </p:spTree>
    <p:extLst>
      <p:ext uri="{BB962C8B-B14F-4D97-AF65-F5344CB8AC3E}">
        <p14:creationId xmlns:p14="http://schemas.microsoft.com/office/powerpoint/2010/main" val="1558095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009E2-FAE9-4DDD-AE1D-43C513B90833}"/>
              </a:ext>
            </a:extLst>
          </p:cNvPr>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THEMES</a:t>
            </a:r>
            <a:endParaRPr lang="en-GB"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6C35507-4C15-4900-8084-AB2F6E74C3E9}"/>
              </a:ext>
            </a:extLst>
          </p:cNvPr>
          <p:cNvSpPr>
            <a:spLocks noGrp="1"/>
          </p:cNvSpPr>
          <p:nvPr>
            <p:ph idx="1"/>
          </p:nvPr>
        </p:nvSpPr>
        <p:spPr/>
        <p:txBody>
          <a:bodyPr/>
          <a:lstStyle/>
          <a:p>
            <a:r>
              <a:rPr lang="en-US" dirty="0"/>
              <a:t>The song urges the Black race to fight for freedom from oppression.</a:t>
            </a:r>
          </a:p>
          <a:p>
            <a:pPr algn="just"/>
            <a:r>
              <a:rPr lang="en-US" dirty="0"/>
              <a:t>One important theme of the song is for the enslaved Black race to free itself from mental slavery.</a:t>
            </a:r>
          </a:p>
          <a:p>
            <a:pPr algn="just"/>
            <a:r>
              <a:rPr lang="en-US" dirty="0"/>
              <a:t>The song emphasizes that there are some things that can be done collectively, some can be done on behalf of the Black race but some things can only be done by individuals.</a:t>
            </a:r>
          </a:p>
          <a:p>
            <a:r>
              <a:rPr lang="en-US" dirty="0"/>
              <a:t>The song also urges us not to allow them to kill out prophets.</a:t>
            </a:r>
            <a:endParaRPr lang="en-GB" dirty="0"/>
          </a:p>
        </p:txBody>
      </p:sp>
    </p:spTree>
    <p:extLst>
      <p:ext uri="{BB962C8B-B14F-4D97-AF65-F5344CB8AC3E}">
        <p14:creationId xmlns:p14="http://schemas.microsoft.com/office/powerpoint/2010/main" val="1370527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REDEMPTION SONG</a:t>
            </a:r>
            <a:endParaRPr lang="en-GB"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algn="just"/>
            <a:r>
              <a:rPr lang="en-GB" dirty="0"/>
              <a:t>The persona obviously disagrees with those who think that the murder of the prophets of the oppressed is ordained by God. He asks his brothers and sisters not to sit down idly while their prophets are being killed.</a:t>
            </a:r>
          </a:p>
          <a:p>
            <a:pPr algn="just"/>
            <a:r>
              <a:rPr lang="en-GB" dirty="0"/>
              <a:t>The poem is presented as a song with guitar accompaniment which makes the message pleasing to listen to.</a:t>
            </a:r>
          </a:p>
          <a:p>
            <a:pPr algn="just"/>
            <a:r>
              <a:rPr lang="en-GB" dirty="0"/>
              <a:t>The song has three stanzas. The third stanza is a repetition of the second to indicate the importance of liberation from mental slavery.</a:t>
            </a:r>
          </a:p>
        </p:txBody>
      </p:sp>
    </p:spTree>
    <p:extLst>
      <p:ext uri="{BB962C8B-B14F-4D97-AF65-F5344CB8AC3E}">
        <p14:creationId xmlns:p14="http://schemas.microsoft.com/office/powerpoint/2010/main" val="1318196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rial" panose="020B0604020202020204" pitchFamily="34" charset="0"/>
                <a:cs typeface="Arial" panose="020B0604020202020204" pitchFamily="34" charset="0"/>
              </a:rPr>
              <a:t>REDEMPTION SONG</a:t>
            </a:r>
            <a:endParaRPr lang="en-GB"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lstStyle/>
          <a:p>
            <a:pPr algn="just"/>
            <a:r>
              <a:rPr lang="en-GB" dirty="0"/>
              <a:t>The chorus is repeated after every stanza. It is a call to his brothers and sisters to join him in singing the song of freedom. It is also a call to activism or a fight for freedom.</a:t>
            </a:r>
          </a:p>
          <a:p>
            <a:pPr algn="just"/>
            <a:r>
              <a:rPr lang="en-GB" dirty="0"/>
              <a:t>The poem is also a contrast between ‘they’ and ‘we’. They are described in negative terms. They are pirates, murderers, slave traders and oppressors. We are the oppressed, the victims singing songs of freedom having the sympathy and support of the Almighty.</a:t>
            </a:r>
          </a:p>
          <a:p>
            <a:pPr algn="just"/>
            <a:r>
              <a:rPr lang="en-GB" dirty="0"/>
              <a:t>There are some references or allusions to the Bible: the bottomless pit, the hand of the Almighty, fulfilling the book.</a:t>
            </a:r>
          </a:p>
        </p:txBody>
      </p:sp>
    </p:spTree>
    <p:extLst>
      <p:ext uri="{BB962C8B-B14F-4D97-AF65-F5344CB8AC3E}">
        <p14:creationId xmlns:p14="http://schemas.microsoft.com/office/powerpoint/2010/main" val="3939246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latin typeface="Arial" panose="020B0604020202020204" pitchFamily="34" charset="0"/>
                <a:cs typeface="Arial" panose="020B0604020202020204" pitchFamily="34" charset="0"/>
              </a:rPr>
              <a:t>FIGURES OF SPEECH</a:t>
            </a:r>
          </a:p>
        </p:txBody>
      </p:sp>
      <p:sp>
        <p:nvSpPr>
          <p:cNvPr id="3" name="Content Placeholder 2"/>
          <p:cNvSpPr>
            <a:spLocks noGrp="1"/>
          </p:cNvSpPr>
          <p:nvPr>
            <p:ph idx="1"/>
          </p:nvPr>
        </p:nvSpPr>
        <p:spPr/>
        <p:txBody>
          <a:bodyPr/>
          <a:lstStyle/>
          <a:p>
            <a:r>
              <a:rPr lang="en-GB" dirty="0"/>
              <a:t>Metaphor – pirates</a:t>
            </a:r>
          </a:p>
          <a:p>
            <a:r>
              <a:rPr lang="en-GB" dirty="0"/>
              <a:t>Hyperbole – bottomless pit</a:t>
            </a:r>
          </a:p>
          <a:p>
            <a:r>
              <a:rPr lang="en-GB" dirty="0"/>
              <a:t>Synecdoche – hand</a:t>
            </a:r>
          </a:p>
          <a:p>
            <a:r>
              <a:rPr lang="en-GB" dirty="0"/>
              <a:t>Contrast – We and They</a:t>
            </a:r>
          </a:p>
          <a:p>
            <a:r>
              <a:rPr lang="en-GB" dirty="0"/>
              <a:t>Rhetorical Questions – How long shall ….? Won’t you help me …</a:t>
            </a:r>
          </a:p>
        </p:txBody>
      </p:sp>
    </p:spTree>
    <p:extLst>
      <p:ext uri="{BB962C8B-B14F-4D97-AF65-F5344CB8AC3E}">
        <p14:creationId xmlns:p14="http://schemas.microsoft.com/office/powerpoint/2010/main" val="2321551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910</Words>
  <Application>Microsoft Office PowerPoint</Application>
  <PresentationFormat>Widescreen</PresentationFormat>
  <Paragraphs>43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REDEMPTION SONG</vt:lpstr>
      <vt:lpstr>POETRY AND SONGS</vt:lpstr>
      <vt:lpstr>THE LYRICS</vt:lpstr>
      <vt:lpstr>THE LYRICS</vt:lpstr>
      <vt:lpstr>THE SONG</vt:lpstr>
      <vt:lpstr>THE MESSAGE</vt:lpstr>
      <vt:lpstr>THEMES</vt:lpstr>
      <vt:lpstr>REDEMPTION SONG</vt:lpstr>
      <vt:lpstr>REDEMPTION SONG</vt:lpstr>
      <vt:lpstr>FIGURES OF SPEECH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REDEMPTION SONG</dc:title>
  <dc:creator>johnaning53@outlook.com</dc:creator>
  <cp:lastModifiedBy>johnaning53@outlook.com</cp:lastModifiedBy>
  <cp:revision>17</cp:revision>
  <dcterms:created xsi:type="dcterms:W3CDTF">2021-01-30T09:22:56Z</dcterms:created>
  <dcterms:modified xsi:type="dcterms:W3CDTF">2021-02-24T08:33:32Z</dcterms:modified>
</cp:coreProperties>
</file>